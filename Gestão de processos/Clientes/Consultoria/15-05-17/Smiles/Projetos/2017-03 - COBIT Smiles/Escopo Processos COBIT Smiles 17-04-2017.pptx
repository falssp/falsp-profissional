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80" r:id="rId3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 autoAdjust="0"/>
    <p:restoredTop sz="94280" autoAdjust="0"/>
  </p:normalViewPr>
  <p:slideViewPr>
    <p:cSldViewPr>
      <p:cViewPr varScale="1">
        <p:scale>
          <a:sx n="104" d="100"/>
          <a:sy n="104" d="100"/>
        </p:scale>
        <p:origin x="1190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32578-ECD4-4743-8701-DC01EA1C043C}" type="datetimeFigureOut">
              <a:rPr lang="pt-BR" smtClean="0"/>
              <a:t>17/04/2017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D90639-6999-4C89-9048-178018A166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0031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D90639-6999-4C89-9048-178018A166C4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3844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 de Gestão de Demandas e Desenvolvimento de Sistemas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AI1 – Identificar Soluções Automatizadas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AI2 - Adquirir e manter aplicações de software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AI3 - Adquirir e manter infraestrutura tecnológica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AI4 - Desenvolver e manter manuais de Sistemas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 de Gestão da Segurança de Sistemas (política de senhas, segregação de funções em sistemas, práticas de desenvolvimento seguro)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DS5.5 - Assegurar Segurança de Sistemas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SPO4 - Segregação de Função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 de Gestão de Infraestrutura para Segurança da Informação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DS5.8 - Gestão de chaves criptográficas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DS5.10 - Administração de Firewall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DS5.11 - Gestão de Certificados Digitais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DS11 - Gerenciar Copias de Segurança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 de Gestão de Instalações Físicas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DS12 - Gerenciar Instalações Físicas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D90639-6999-4C89-9048-178018A166C4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4440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17/04/2017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817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17/04/2017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6558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17/04/2017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3730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17/04/2017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4685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17/04/2017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2947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17/04/2017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7122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17/04/2017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1022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17/04/2017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180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17/04/2017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8298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17/04/2017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0669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17/04/2017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848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07B8A-66F7-46B2-AE17-BEC38B2EE158}" type="datetimeFigureOut">
              <a:rPr lang="pt-BR" smtClean="0"/>
              <a:t>17/04/2017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3545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hutterstock_392439580.jpg"/>
          <p:cNvPicPr>
            <a:picLocks noChangeAspect="1"/>
          </p:cNvPicPr>
          <p:nvPr/>
        </p:nvPicPr>
        <p:blipFill>
          <a:blip r:embed="rId3">
            <a:extLst/>
          </a:blip>
          <a:srcRect l="29914" t="32232" r="29308" b="32233"/>
          <a:stretch>
            <a:fillRect/>
          </a:stretch>
        </p:blipFill>
        <p:spPr>
          <a:xfrm rot="127485">
            <a:off x="-616922" y="-188765"/>
            <a:ext cx="10493402" cy="60925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352"/>
                </a:moveTo>
                <a:lnTo>
                  <a:pt x="436" y="21600"/>
                </a:lnTo>
                <a:lnTo>
                  <a:pt x="21600" y="20248"/>
                </a:lnTo>
                <a:lnTo>
                  <a:pt x="21164" y="0"/>
                </a:lnTo>
                <a:lnTo>
                  <a:pt x="0" y="1352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91" t="6110" r="19124" b="1945"/>
          <a:stretch/>
        </p:blipFill>
        <p:spPr>
          <a:xfrm rot="16200000">
            <a:off x="2513814" y="-282078"/>
            <a:ext cx="4116373" cy="4680519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69" t="31011" r="59843" b="28084"/>
          <a:stretch/>
        </p:blipFill>
        <p:spPr>
          <a:xfrm>
            <a:off x="3043175" y="1942232"/>
            <a:ext cx="3057654" cy="1259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850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nodeType="withEffect" p14:presetBounceEnd="75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1" dur="1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2" dur="1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52"/>
          <p:cNvSpPr txBox="1"/>
          <p:nvPr/>
        </p:nvSpPr>
        <p:spPr>
          <a:xfrm>
            <a:off x="161764" y="195486"/>
            <a:ext cx="8820472" cy="39604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Clr>
                <a:srgbClr val="595959"/>
              </a:buClr>
              <a:buSzPct val="25000"/>
            </a:pPr>
            <a:r>
              <a:rPr lang="en-US" b="1" dirty="0">
                <a:solidFill>
                  <a:srgbClr val="FF6600"/>
                </a:solidFill>
                <a:latin typeface="Nunito"/>
                <a:ea typeface="Calibri"/>
                <a:cs typeface="Calibri"/>
                <a:sym typeface="Calibri"/>
              </a:rPr>
              <a:t>Processos COBIT Smiles</a:t>
            </a:r>
            <a:endParaRPr lang="en-US" sz="1600" b="1" dirty="0">
              <a:solidFill>
                <a:srgbClr val="FF6600"/>
              </a:solidFill>
              <a:latin typeface="Nunito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37585" y="4798273"/>
            <a:ext cx="48245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* Falta apenas validação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161764" y="771550"/>
            <a:ext cx="8514692" cy="37322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bg1">
                    <a:lumMod val="50000"/>
                  </a:schemeClr>
                </a:solidFill>
              </a:rPr>
              <a:t>AI6/AI7 - Gerenciamento de Mudança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bg1">
                    <a:lumMod val="50000"/>
                  </a:schemeClr>
                </a:solidFill>
              </a:rPr>
              <a:t>DS1/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</a:rPr>
              <a:t>DS2*</a:t>
            </a:r>
            <a:r>
              <a:rPr lang="pt-BR" sz="1600" dirty="0">
                <a:solidFill>
                  <a:schemeClr val="bg1">
                    <a:lumMod val="50000"/>
                  </a:schemeClr>
                </a:solidFill>
              </a:rPr>
              <a:t> - Gerenciamento de Fornecedores Críticos de TI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bg1">
                    <a:lumMod val="50000"/>
                  </a:schemeClr>
                </a:solidFill>
              </a:rPr>
              <a:t>DS5/ DS5.9.A/ DS5.9.B/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</a:rPr>
              <a:t> DS5.8/DS5.10/DS5.11/DS5.5</a:t>
            </a:r>
            <a:r>
              <a:rPr lang="pt-BR" sz="1600" dirty="0">
                <a:solidFill>
                  <a:schemeClr val="bg1">
                    <a:lumMod val="50000"/>
                  </a:schemeClr>
                </a:solidFill>
              </a:rPr>
              <a:t> – Assegurar a segurança do sistema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bg1">
                    <a:lumMod val="65000"/>
                  </a:schemeClr>
                </a:solidFill>
              </a:rPr>
              <a:t>DS5.3 /DS5.4 – Gestão de Acessos e Identidades</a:t>
            </a:r>
          </a:p>
          <a:p>
            <a:pPr>
              <a:buFont typeface="Wingdings" panose="05000000000000000000" pitchFamily="2" charset="2"/>
              <a:buChar char="q"/>
            </a:pPr>
            <a:endParaRPr lang="pt-BR" sz="16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bg1">
                    <a:lumMod val="65000"/>
                  </a:schemeClr>
                </a:solidFill>
              </a:rPr>
              <a:t>DS3 – Gerenciamento de Desempenho e Capacidade *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bg1">
                    <a:lumMod val="65000"/>
                  </a:schemeClr>
                </a:solidFill>
              </a:rPr>
              <a:t>ME1 – Monitorar Processos *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bg1">
                    <a:lumMod val="65000"/>
                  </a:schemeClr>
                </a:solidFill>
              </a:rPr>
              <a:t>PO2 – Definir Arquitetura da Informação *</a:t>
            </a:r>
          </a:p>
          <a:p>
            <a:pPr>
              <a:buFont typeface="Wingdings" panose="05000000000000000000" pitchFamily="2" charset="2"/>
              <a:buChar char="q"/>
            </a:pPr>
            <a:endParaRPr lang="pt-BR" sz="1600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</a:rPr>
              <a:t>AI1/AI2/AI3/AI4 - Gestão de Demandas e Desenvolvimento de Sistemas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</a:rPr>
              <a:t>P04.11 – Segregação de Funções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</a:rPr>
              <a:t>DS11 - Gestão de Infraestrutura para Segurança da Informação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</a:rPr>
              <a:t>DS12 - Gestão de Instalações Físicas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5523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3766</TotalTime>
  <Words>114</Words>
  <Application>Microsoft Office PowerPoint</Application>
  <PresentationFormat>Apresentação na tela (16:9)</PresentationFormat>
  <Paragraphs>36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Arial</vt:lpstr>
      <vt:lpstr>Calibri</vt:lpstr>
      <vt:lpstr>Nunito</vt:lpstr>
      <vt:lpstr>Wingdings</vt:lpstr>
      <vt:lpstr>Tema do Office</vt:lpstr>
      <vt:lpstr>Apresentação do PowerPoint</vt:lpstr>
      <vt:lpstr>Apresentação do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Karina Bernardo</dc:creator>
  <cp:lastModifiedBy>Chacon</cp:lastModifiedBy>
  <cp:revision>49</cp:revision>
  <dcterms:created xsi:type="dcterms:W3CDTF">2016-08-09T16:16:53Z</dcterms:created>
  <dcterms:modified xsi:type="dcterms:W3CDTF">2017-04-17T19:52:38Z</dcterms:modified>
</cp:coreProperties>
</file>