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341" r:id="rId2"/>
    <p:sldId id="338" r:id="rId3"/>
    <p:sldId id="340" r:id="rId4"/>
    <p:sldId id="342" r:id="rId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68E1E"/>
    <a:srgbClr val="99CCFF"/>
    <a:srgbClr val="FF9900"/>
    <a:srgbClr val="000000"/>
    <a:srgbClr val="FF6600"/>
    <a:srgbClr val="EE6829"/>
    <a:srgbClr val="E28734"/>
    <a:srgbClr val="F4BC71"/>
    <a:srgbClr val="D04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504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29/01/2016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1174537"/>
            <a:ext cx="5688627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Reciclagem </a:t>
            </a:r>
            <a:endParaRPr lang="pt-BR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Central de </a:t>
            </a:r>
          </a:p>
          <a:p>
            <a:r>
              <a:rPr lang="pt-BR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Serviços de TI</a:t>
            </a:r>
          </a:p>
          <a:p>
            <a:endParaRPr lang="pt-BR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 novo modelo </a:t>
            </a:r>
          </a:p>
          <a:p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de suporte de TI </a:t>
            </a:r>
          </a:p>
          <a:p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aos colaboradores e </a:t>
            </a:r>
          </a:p>
          <a:p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Central de Atendimento</a:t>
            </a:r>
          </a:p>
          <a:p>
            <a:endParaRPr lang="en-US" sz="11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en-US" sz="11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Janeiro-2016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161" y="719704"/>
            <a:ext cx="1080000" cy="10800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523" y="4186130"/>
            <a:ext cx="1080000" cy="1080000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248" y="2882276"/>
            <a:ext cx="1080000" cy="108000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885" y="1913615"/>
            <a:ext cx="1080000" cy="108000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799" y="5214388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695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1869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Reciclagem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Central 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de </a:t>
            </a:r>
            <a:r>
              <a:rPr lang="en-US" sz="24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Serviços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de TI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4" name="Pentágono 13"/>
          <p:cNvSpPr/>
          <p:nvPr/>
        </p:nvSpPr>
        <p:spPr>
          <a:xfrm>
            <a:off x="-529928" y="852731"/>
            <a:ext cx="10440000" cy="540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Central de Serviços de TI  x  Central de Atendimento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Pentágono 11"/>
          <p:cNvSpPr/>
          <p:nvPr/>
        </p:nvSpPr>
        <p:spPr>
          <a:xfrm>
            <a:off x="-529928" y="1577721"/>
            <a:ext cx="10440000" cy="540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importância de resolver os chamados</a:t>
            </a: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Pentágono 12"/>
          <p:cNvSpPr/>
          <p:nvPr/>
        </p:nvSpPr>
        <p:spPr>
          <a:xfrm>
            <a:off x="-529928" y="2302710"/>
            <a:ext cx="10440000" cy="540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SLAs</a:t>
            </a:r>
            <a:r>
              <a:rPr lang="pt-BR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período experimental porém há necessidade de justificar!</a:t>
            </a: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Pentágono 14"/>
          <p:cNvSpPr/>
          <p:nvPr/>
        </p:nvSpPr>
        <p:spPr>
          <a:xfrm>
            <a:off x="-529928" y="6090941"/>
            <a:ext cx="10440000" cy="540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Dúvidas, Sugestões, Melhorias de vocês</a:t>
            </a: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53" y="3071587"/>
            <a:ext cx="5019048" cy="27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583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13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58044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 smtClean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Processo – Atuação dos Agentes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1013332"/>
            <a:ext cx="647920" cy="613752"/>
          </a:xfrm>
          <a:prstGeom prst="rect">
            <a:avLst/>
          </a:prstGeom>
          <a:effectLst/>
        </p:spPr>
      </p:pic>
      <p:sp>
        <p:nvSpPr>
          <p:cNvPr id="13" name="Fluxograma: Processo 12"/>
          <p:cNvSpPr/>
          <p:nvPr/>
        </p:nvSpPr>
        <p:spPr>
          <a:xfrm>
            <a:off x="8285507" y="3355898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Usuário Recebe notificação de resolução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4" name="Conector de Seta Reta 13"/>
          <p:cNvCxnSpPr>
            <a:stCxn id="54" idx="3"/>
            <a:endCxn id="13" idx="1"/>
          </p:cNvCxnSpPr>
          <p:nvPr/>
        </p:nvCxnSpPr>
        <p:spPr>
          <a:xfrm>
            <a:off x="7649802" y="3730548"/>
            <a:ext cx="635705" cy="635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luxograma: Processo 18"/>
          <p:cNvSpPr/>
          <p:nvPr/>
        </p:nvSpPr>
        <p:spPr>
          <a:xfrm>
            <a:off x="2286742" y="3355898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Assume Chamado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stCxn id="23" idx="3"/>
            <a:endCxn id="19" idx="1"/>
          </p:cNvCxnSpPr>
          <p:nvPr/>
        </p:nvCxnSpPr>
        <p:spPr>
          <a:xfrm>
            <a:off x="1651037" y="3736898"/>
            <a:ext cx="635705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Agrupar 21"/>
          <p:cNvGrpSpPr>
            <a:grpSpLocks noChangeAspect="1"/>
          </p:cNvGrpSpPr>
          <p:nvPr/>
        </p:nvGrpSpPr>
        <p:grpSpPr>
          <a:xfrm>
            <a:off x="264292" y="2166685"/>
            <a:ext cx="1250437" cy="1401798"/>
            <a:chOff x="4594253" y="1118010"/>
            <a:chExt cx="4816926" cy="5400000"/>
          </a:xfrm>
        </p:grpSpPr>
        <p:pic>
          <p:nvPicPr>
            <p:cNvPr id="24" name="Imagem 23"/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0797"/>
            <a:stretch/>
          </p:blipFill>
          <p:spPr>
            <a:xfrm>
              <a:off x="4594253" y="1118010"/>
              <a:ext cx="4816926" cy="5400000"/>
            </a:xfrm>
            <a:prstGeom prst="rect">
              <a:avLst/>
            </a:prstGeom>
            <a:solidFill>
              <a:schemeClr val="bg1"/>
            </a:solidFill>
          </p:spPr>
        </p:pic>
        <p:grpSp>
          <p:nvGrpSpPr>
            <p:cNvPr id="25" name="Agrupar 24"/>
            <p:cNvGrpSpPr>
              <a:grpSpLocks noChangeAspect="1"/>
            </p:cNvGrpSpPr>
            <p:nvPr/>
          </p:nvGrpSpPr>
          <p:grpSpPr>
            <a:xfrm>
              <a:off x="5819414" y="2854684"/>
              <a:ext cx="2952000" cy="1383435"/>
              <a:chOff x="424455" y="1247950"/>
              <a:chExt cx="3132000" cy="1467790"/>
            </a:xfrm>
          </p:grpSpPr>
          <p:pic>
            <p:nvPicPr>
              <p:cNvPr id="26" name="Picture 2" descr="https://www.atlassian.com/wac/software/jira/service-desk/sectionWrap/0/column/0/imageBinary/jsd-logo_88h.png"/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320"/>
              <a:stretch/>
            </p:blipFill>
            <p:spPr bwMode="auto">
              <a:xfrm>
                <a:off x="878900" y="1247950"/>
                <a:ext cx="2223110" cy="838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Picture 2" descr="https://www.atlassian.com/wac/software/jira/service-desk/sectionWrap/0/column/0/imageBinary/jsd-logo_88h.png"/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52"/>
              <a:stretch/>
            </p:blipFill>
            <p:spPr bwMode="auto">
              <a:xfrm>
                <a:off x="424455" y="2086164"/>
                <a:ext cx="3132000" cy="6295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23" name="Fluxograma: Processo 22"/>
          <p:cNvSpPr/>
          <p:nvPr/>
        </p:nvSpPr>
        <p:spPr>
          <a:xfrm>
            <a:off x="279437" y="3355898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de  Chamados e realiza triagem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9" name="Conector de Seta Reta 69"/>
          <p:cNvCxnSpPr>
            <a:stCxn id="13" idx="0"/>
            <a:endCxn id="30" idx="3"/>
          </p:cNvCxnSpPr>
          <p:nvPr/>
        </p:nvCxnSpPr>
        <p:spPr>
          <a:xfrm rot="16200000" flipV="1">
            <a:off x="7850840" y="2235430"/>
            <a:ext cx="936942" cy="1303993"/>
          </a:xfrm>
          <a:prstGeom prst="bentConnector2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luxograma: Processo 29"/>
          <p:cNvSpPr/>
          <p:nvPr/>
        </p:nvSpPr>
        <p:spPr>
          <a:xfrm>
            <a:off x="6295714" y="2037956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Usuário solicita reabertura do Chamado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1" name="Conector de Seta Reta 69"/>
          <p:cNvCxnSpPr>
            <a:stCxn id="62" idx="2"/>
            <a:endCxn id="46" idx="0"/>
          </p:cNvCxnSpPr>
          <p:nvPr/>
        </p:nvCxnSpPr>
        <p:spPr>
          <a:xfrm rot="5400000">
            <a:off x="4700748" y="3073268"/>
            <a:ext cx="549592" cy="2968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tângulo 31"/>
          <p:cNvSpPr/>
          <p:nvPr/>
        </p:nvSpPr>
        <p:spPr>
          <a:xfrm>
            <a:off x="8978138" y="2543799"/>
            <a:ext cx="99546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Solução </a:t>
            </a:r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não</a:t>
            </a:r>
            <a:r>
              <a:rPr lang="pt-BR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atende</a:t>
            </a:r>
          </a:p>
        </p:txBody>
      </p:sp>
      <p:grpSp>
        <p:nvGrpSpPr>
          <p:cNvPr id="33" name="Agrupar 32"/>
          <p:cNvGrpSpPr/>
          <p:nvPr/>
        </p:nvGrpSpPr>
        <p:grpSpPr>
          <a:xfrm>
            <a:off x="8285508" y="4170150"/>
            <a:ext cx="1567544" cy="1427951"/>
            <a:chOff x="7658490" y="4089957"/>
            <a:chExt cx="1567544" cy="1427951"/>
          </a:xfrm>
        </p:grpSpPr>
        <p:sp>
          <p:nvSpPr>
            <p:cNvPr id="35" name="Fluxograma: Processo 34"/>
            <p:cNvSpPr/>
            <p:nvPr/>
          </p:nvSpPr>
          <p:spPr>
            <a:xfrm>
              <a:off x="7658490" y="4755908"/>
              <a:ext cx="1371600" cy="762000"/>
            </a:xfrm>
            <a:prstGeom prst="flowChartProcess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200" b="1" dirty="0" smtClean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Usuário Responde Pesq. de Satisfação</a:t>
              </a:r>
              <a:endParaRPr lang="en-US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37" name="Conector de Seta Reta 36"/>
            <p:cNvCxnSpPr>
              <a:stCxn id="13" idx="2"/>
              <a:endCxn id="35" idx="0"/>
            </p:cNvCxnSpPr>
            <p:nvPr/>
          </p:nvCxnSpPr>
          <p:spPr>
            <a:xfrm>
              <a:off x="8344289" y="4089957"/>
              <a:ext cx="1" cy="665951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tângulo 38"/>
            <p:cNvSpPr/>
            <p:nvPr/>
          </p:nvSpPr>
          <p:spPr>
            <a:xfrm>
              <a:off x="8359278" y="4163571"/>
              <a:ext cx="866756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pt-BR" sz="1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Solução atende</a:t>
              </a:r>
            </a:p>
          </p:txBody>
        </p:sp>
      </p:grpSp>
      <p:sp>
        <p:nvSpPr>
          <p:cNvPr id="44" name="Retângulo 43"/>
          <p:cNvSpPr/>
          <p:nvPr/>
        </p:nvSpPr>
        <p:spPr>
          <a:xfrm>
            <a:off x="264292" y="5610378"/>
            <a:ext cx="227085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SLA de Resposta</a:t>
            </a:r>
            <a:r>
              <a: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(da abertura até o primeiro analista </a:t>
            </a:r>
            <a:r>
              <a:rPr lang="pt-B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assumir).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4294047" y="3349548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do Chamado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stCxn id="19" idx="3"/>
            <a:endCxn id="46" idx="1"/>
          </p:cNvCxnSpPr>
          <p:nvPr/>
        </p:nvCxnSpPr>
        <p:spPr>
          <a:xfrm flipV="1">
            <a:off x="3658342" y="3730548"/>
            <a:ext cx="635705" cy="635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have Esquerda 50"/>
          <p:cNvSpPr/>
          <p:nvPr/>
        </p:nvSpPr>
        <p:spPr>
          <a:xfrm rot="16200000">
            <a:off x="1229160" y="4407230"/>
            <a:ext cx="175465" cy="2074911"/>
          </a:xfrm>
          <a:prstGeom prst="leftBrace">
            <a:avLst>
              <a:gd name="adj1" fmla="val 55804"/>
              <a:gd name="adj2" fmla="val 50000"/>
            </a:avLst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tângulo 51"/>
          <p:cNvSpPr/>
          <p:nvPr/>
        </p:nvSpPr>
        <p:spPr>
          <a:xfrm>
            <a:off x="2535150" y="5610378"/>
            <a:ext cx="484632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SLA de Resolução </a:t>
            </a:r>
            <a:r>
              <a: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(chamado assumido até a resolução</a:t>
            </a:r>
            <a:r>
              <a:rPr lang="pt-B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).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Chave Esquerda 52"/>
          <p:cNvSpPr/>
          <p:nvPr/>
        </p:nvSpPr>
        <p:spPr>
          <a:xfrm rot="16200000">
            <a:off x="4906851" y="2852685"/>
            <a:ext cx="175465" cy="5184000"/>
          </a:xfrm>
          <a:prstGeom prst="leftBrace">
            <a:avLst>
              <a:gd name="adj1" fmla="val 55804"/>
              <a:gd name="adj2" fmla="val 50000"/>
            </a:avLst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uxograma: Processo 53"/>
          <p:cNvSpPr/>
          <p:nvPr/>
        </p:nvSpPr>
        <p:spPr>
          <a:xfrm>
            <a:off x="6289777" y="3349548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5654072" y="3730548"/>
            <a:ext cx="635705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4291228" y="2037956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Reabrir o Chamado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1" name="Texto Explicativo 2 (Borda e Ênfase) 70"/>
          <p:cNvSpPr/>
          <p:nvPr/>
        </p:nvSpPr>
        <p:spPr>
          <a:xfrm rot="5400000" flipV="1">
            <a:off x="3913161" y="4056852"/>
            <a:ext cx="594242" cy="4772929"/>
          </a:xfrm>
          <a:prstGeom prst="accentBorderCallout2">
            <a:avLst>
              <a:gd name="adj1" fmla="val 17001"/>
              <a:gd name="adj2" fmla="val -15518"/>
              <a:gd name="adj3" fmla="val 21962"/>
              <a:gd name="adj4" fmla="val -99129"/>
              <a:gd name="adj5" fmla="val 51195"/>
              <a:gd name="adj6" fmla="val -22777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vert" rtlCol="0" anchor="t"/>
          <a:lstStyle/>
          <a:p>
            <a:pPr>
              <a:spcAft>
                <a:spcPts val="600"/>
              </a:spcAft>
            </a:pPr>
            <a:r>
              <a:rPr lang="pt-B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Pend</a:t>
            </a: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Desenvolvimento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 abrir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Issue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em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BUGs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linkar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as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issues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lang="pt-B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Operação Assistida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 abrir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Issue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no Projeto de Melhoria e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linkar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as </a:t>
            </a:r>
            <a:r>
              <a:rPr lang="pt-B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Issues</a:t>
            </a:r>
            <a:r>
              <a:rPr lang="pt-BR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cxnSp>
        <p:nvCxnSpPr>
          <p:cNvPr id="64" name="Conector de Seta Reta 69"/>
          <p:cNvCxnSpPr>
            <a:stCxn id="30" idx="1"/>
            <a:endCxn id="62" idx="3"/>
          </p:cNvCxnSpPr>
          <p:nvPr/>
        </p:nvCxnSpPr>
        <p:spPr>
          <a:xfrm flipH="1">
            <a:off x="5662828" y="2418956"/>
            <a:ext cx="63288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tângulo 72"/>
          <p:cNvSpPr/>
          <p:nvPr/>
        </p:nvSpPr>
        <p:spPr>
          <a:xfrm>
            <a:off x="2254382" y="4196136"/>
            <a:ext cx="1414187" cy="447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Clicar em “Atender Chamado”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4" name="Retângulo 73"/>
          <p:cNvSpPr/>
          <p:nvPr/>
        </p:nvSpPr>
        <p:spPr>
          <a:xfrm>
            <a:off x="6295714" y="4204575"/>
            <a:ext cx="141418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Clicar em “Resolver Chamado”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5" name="Retângulo 74"/>
          <p:cNvSpPr/>
          <p:nvPr/>
        </p:nvSpPr>
        <p:spPr>
          <a:xfrm>
            <a:off x="4298358" y="1772626"/>
            <a:ext cx="141418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Clicar em “Reabrir”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6" name="Retângulo 75"/>
          <p:cNvSpPr/>
          <p:nvPr/>
        </p:nvSpPr>
        <p:spPr>
          <a:xfrm>
            <a:off x="4237119" y="4135172"/>
            <a:ext cx="1889360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Pendente Usuário</a:t>
            </a:r>
          </a:p>
          <a:p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Pendente Desenvolvimento</a:t>
            </a:r>
          </a:p>
          <a:p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Pendente Fornecedor</a:t>
            </a:r>
          </a:p>
          <a:p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Operação Assistida</a:t>
            </a:r>
          </a:p>
          <a:p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Pendente Compras (</a:t>
            </a:r>
            <a:r>
              <a:rPr lang="pt-BR" sz="11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Solicit</a:t>
            </a:r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.)</a:t>
            </a:r>
          </a:p>
          <a:p>
            <a:r>
              <a:rPr lang="pt-B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Pendente GMUD</a:t>
            </a:r>
          </a:p>
          <a:p>
            <a:r>
              <a:rPr lang="pt-B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PROGRAMADA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795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Triagem de Chamados</a:t>
            </a:r>
            <a:endParaRPr lang="pt-BR" sz="2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2" name="Imagem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90" y="592445"/>
            <a:ext cx="9509557" cy="617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6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2884</TotalTime>
  <Words>193</Words>
  <Application>Microsoft Office PowerPoint</Application>
  <PresentationFormat>Personalizar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234</cp:revision>
  <dcterms:created xsi:type="dcterms:W3CDTF">2014-01-24T21:35:00Z</dcterms:created>
  <dcterms:modified xsi:type="dcterms:W3CDTF">2016-01-29T16:08:14Z</dcterms:modified>
</cp:coreProperties>
</file>