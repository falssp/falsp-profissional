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44" r:id="rId2"/>
  </p:sldIdLst>
  <p:sldSz cx="9601200" cy="16200438"/>
  <p:notesSz cx="6858000" cy="9144000"/>
  <p:defaultTextStyle>
    <a:defPPr>
      <a:defRPr lang="en-US"/>
    </a:defPPr>
    <a:lvl1pPr marL="0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610845" rtl="0" eaLnBrk="1" latinLnBrk="0" hangingPunct="1">
      <a:defRPr sz="2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5103" userDrawn="1">
          <p15:clr>
            <a:srgbClr val="A4A3A4"/>
          </p15:clr>
        </p15:guide>
        <p15:guide id="2" pos="30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20000"/>
    <a:srgbClr val="FF6600"/>
    <a:srgbClr val="F57124"/>
    <a:srgbClr val="FF9900"/>
    <a:srgbClr val="FF8E2D"/>
    <a:srgbClr val="F68E1E"/>
    <a:srgbClr val="99CCFF"/>
    <a:srgbClr val="000000"/>
    <a:srgbClr val="EE6829"/>
    <a:srgbClr val="E287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 snapToObjects="1">
      <p:cViewPr>
        <p:scale>
          <a:sx n="90" d="100"/>
          <a:sy n="90" d="100"/>
        </p:scale>
        <p:origin x="-2046" y="1854"/>
      </p:cViewPr>
      <p:guideLst>
        <p:guide orient="horz" pos="5103"/>
        <p:guide pos="30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12/02/2016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413000" y="685800"/>
            <a:ext cx="203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1221692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1" y="5032646"/>
            <a:ext cx="8161020" cy="347259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181" y="9180248"/>
            <a:ext cx="6720840" cy="414011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603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207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9811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6414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30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9622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6225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2829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8429" y="10410290"/>
            <a:ext cx="8161020" cy="3217587"/>
          </a:xfrm>
        </p:spPr>
        <p:txBody>
          <a:bodyPr anchor="t"/>
          <a:lstStyle>
            <a:lvl1pPr algn="l">
              <a:defRPr sz="5778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429" y="6866441"/>
            <a:ext cx="8161020" cy="3543845"/>
          </a:xfrm>
        </p:spPr>
        <p:txBody>
          <a:bodyPr anchor="b"/>
          <a:lstStyle>
            <a:lvl1pPr marL="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1pPr>
            <a:lvl2pPr marL="660368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2pPr>
            <a:lvl3pPr marL="1320735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3pPr>
            <a:lvl4pPr marL="1981103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4pPr>
            <a:lvl5pPr marL="2641471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5pPr>
            <a:lvl6pPr marL="330183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6pPr>
            <a:lvl7pPr marL="3962206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7pPr>
            <a:lvl8pPr marL="4622574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8pPr>
            <a:lvl9pPr marL="5282941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0061" y="3780111"/>
            <a:ext cx="4240530" cy="10691540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0610" y="3780111"/>
            <a:ext cx="4240530" cy="10691540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3" y="3626352"/>
            <a:ext cx="4242197" cy="1511290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68" indent="0">
              <a:buNone/>
              <a:defRPr sz="2889" b="1"/>
            </a:lvl2pPr>
            <a:lvl3pPr marL="1320735" indent="0">
              <a:buNone/>
              <a:defRPr sz="2600" b="1"/>
            </a:lvl3pPr>
            <a:lvl4pPr marL="1981103" indent="0">
              <a:buNone/>
              <a:defRPr sz="2311" b="1"/>
            </a:lvl4pPr>
            <a:lvl5pPr marL="2641471" indent="0">
              <a:buNone/>
              <a:defRPr sz="2311" b="1"/>
            </a:lvl5pPr>
            <a:lvl6pPr marL="3301838" indent="0">
              <a:buNone/>
              <a:defRPr sz="2311" b="1"/>
            </a:lvl6pPr>
            <a:lvl7pPr marL="3962206" indent="0">
              <a:buNone/>
              <a:defRPr sz="2311" b="1"/>
            </a:lvl7pPr>
            <a:lvl8pPr marL="4622574" indent="0">
              <a:buNone/>
              <a:defRPr sz="2311" b="1"/>
            </a:lvl8pPr>
            <a:lvl9pPr marL="5282941" indent="0">
              <a:buNone/>
              <a:defRPr sz="2311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3" y="5137638"/>
            <a:ext cx="4242197" cy="9334004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77279" y="3626352"/>
            <a:ext cx="4243865" cy="1511290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68" indent="0">
              <a:buNone/>
              <a:defRPr sz="2889" b="1"/>
            </a:lvl2pPr>
            <a:lvl3pPr marL="1320735" indent="0">
              <a:buNone/>
              <a:defRPr sz="2600" b="1"/>
            </a:lvl3pPr>
            <a:lvl4pPr marL="1981103" indent="0">
              <a:buNone/>
              <a:defRPr sz="2311" b="1"/>
            </a:lvl4pPr>
            <a:lvl5pPr marL="2641471" indent="0">
              <a:buNone/>
              <a:defRPr sz="2311" b="1"/>
            </a:lvl5pPr>
            <a:lvl6pPr marL="3301838" indent="0">
              <a:buNone/>
              <a:defRPr sz="2311" b="1"/>
            </a:lvl6pPr>
            <a:lvl7pPr marL="3962206" indent="0">
              <a:buNone/>
              <a:defRPr sz="2311" b="1"/>
            </a:lvl7pPr>
            <a:lvl8pPr marL="4622574" indent="0">
              <a:buNone/>
              <a:defRPr sz="2311" b="1"/>
            </a:lvl8pPr>
            <a:lvl9pPr marL="5282941" indent="0">
              <a:buNone/>
              <a:defRPr sz="2311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77279" y="5137638"/>
            <a:ext cx="4243865" cy="9334004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2" y="645017"/>
            <a:ext cx="3158729" cy="2745074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53807" y="645025"/>
            <a:ext cx="5367337" cy="13826626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62" y="3390102"/>
            <a:ext cx="3158729" cy="11081551"/>
          </a:xfrm>
        </p:spPr>
        <p:txBody>
          <a:bodyPr/>
          <a:lstStyle>
            <a:lvl1pPr marL="0" indent="0">
              <a:buNone/>
              <a:defRPr sz="2022"/>
            </a:lvl1pPr>
            <a:lvl2pPr marL="660368" indent="0">
              <a:buNone/>
              <a:defRPr sz="1733"/>
            </a:lvl2pPr>
            <a:lvl3pPr marL="1320735" indent="0">
              <a:buNone/>
              <a:defRPr sz="1444"/>
            </a:lvl3pPr>
            <a:lvl4pPr marL="1981103" indent="0">
              <a:buNone/>
              <a:defRPr sz="1300"/>
            </a:lvl4pPr>
            <a:lvl5pPr marL="2641471" indent="0">
              <a:buNone/>
              <a:defRPr sz="1300"/>
            </a:lvl5pPr>
            <a:lvl6pPr marL="3301838" indent="0">
              <a:buNone/>
              <a:defRPr sz="1300"/>
            </a:lvl6pPr>
            <a:lvl7pPr marL="3962206" indent="0">
              <a:buNone/>
              <a:defRPr sz="1300"/>
            </a:lvl7pPr>
            <a:lvl8pPr marL="4622574" indent="0">
              <a:buNone/>
              <a:defRPr sz="1300"/>
            </a:lvl8pPr>
            <a:lvl9pPr marL="5282941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1904" y="11340306"/>
            <a:ext cx="5760720" cy="1338789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81904" y="1447538"/>
            <a:ext cx="5760720" cy="9720263"/>
          </a:xfrm>
        </p:spPr>
        <p:txBody>
          <a:bodyPr/>
          <a:lstStyle>
            <a:lvl1pPr marL="0" indent="0">
              <a:buNone/>
              <a:defRPr sz="4622"/>
            </a:lvl1pPr>
            <a:lvl2pPr marL="660368" indent="0">
              <a:buNone/>
              <a:defRPr sz="4044"/>
            </a:lvl2pPr>
            <a:lvl3pPr marL="1320735" indent="0">
              <a:buNone/>
              <a:defRPr sz="3467"/>
            </a:lvl3pPr>
            <a:lvl4pPr marL="1981103" indent="0">
              <a:buNone/>
              <a:defRPr sz="2889"/>
            </a:lvl4pPr>
            <a:lvl5pPr marL="2641471" indent="0">
              <a:buNone/>
              <a:defRPr sz="2889"/>
            </a:lvl5pPr>
            <a:lvl6pPr marL="3301838" indent="0">
              <a:buNone/>
              <a:defRPr sz="2889"/>
            </a:lvl6pPr>
            <a:lvl7pPr marL="3962206" indent="0">
              <a:buNone/>
              <a:defRPr sz="2889"/>
            </a:lvl7pPr>
            <a:lvl8pPr marL="4622574" indent="0">
              <a:buNone/>
              <a:defRPr sz="2889"/>
            </a:lvl8pPr>
            <a:lvl9pPr marL="5282941" indent="0">
              <a:buNone/>
              <a:defRPr sz="2889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1904" y="12679095"/>
            <a:ext cx="5760720" cy="1901299"/>
          </a:xfrm>
        </p:spPr>
        <p:txBody>
          <a:bodyPr/>
          <a:lstStyle>
            <a:lvl1pPr marL="0" indent="0">
              <a:buNone/>
              <a:defRPr sz="2022"/>
            </a:lvl1pPr>
            <a:lvl2pPr marL="660368" indent="0">
              <a:buNone/>
              <a:defRPr sz="1733"/>
            </a:lvl2pPr>
            <a:lvl3pPr marL="1320735" indent="0">
              <a:buNone/>
              <a:defRPr sz="1444"/>
            </a:lvl3pPr>
            <a:lvl4pPr marL="1981103" indent="0">
              <a:buNone/>
              <a:defRPr sz="1300"/>
            </a:lvl4pPr>
            <a:lvl5pPr marL="2641471" indent="0">
              <a:buNone/>
              <a:defRPr sz="1300"/>
            </a:lvl5pPr>
            <a:lvl6pPr marL="3301838" indent="0">
              <a:buNone/>
              <a:defRPr sz="1300"/>
            </a:lvl6pPr>
            <a:lvl7pPr marL="3962206" indent="0">
              <a:buNone/>
              <a:defRPr sz="1300"/>
            </a:lvl7pPr>
            <a:lvl8pPr marL="4622574" indent="0">
              <a:buNone/>
              <a:defRPr sz="1300"/>
            </a:lvl8pPr>
            <a:lvl9pPr marL="5282941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60870" y="648780"/>
            <a:ext cx="2160270" cy="1382287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0060" y="648780"/>
            <a:ext cx="6320790" cy="1382287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60" y="648768"/>
            <a:ext cx="8641080" cy="27000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0" y="3780111"/>
            <a:ext cx="8641080" cy="10691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0060" y="15015416"/>
            <a:ext cx="2240280" cy="8625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2/12/2016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0410" y="15015416"/>
            <a:ext cx="3040380" cy="8625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0860" y="15015416"/>
            <a:ext cx="2240280" cy="8625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60368" rtl="0" eaLnBrk="1" latinLnBrk="0" hangingPunct="1"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5276" indent="-495276" algn="l" defTabSz="660368" rtl="0" eaLnBrk="1" latinLnBrk="0" hangingPunct="1">
        <a:spcBef>
          <a:spcPct val="20000"/>
        </a:spcBef>
        <a:buFont typeface="Arial"/>
        <a:buChar char="•"/>
        <a:defRPr sz="4622" kern="1200">
          <a:solidFill>
            <a:schemeClr val="tx1"/>
          </a:solidFill>
          <a:latin typeface="+mn-lt"/>
          <a:ea typeface="+mn-ea"/>
          <a:cs typeface="+mn-cs"/>
        </a:defRPr>
      </a:lvl1pPr>
      <a:lvl2pPr marL="1073097" indent="-412729" algn="l" defTabSz="660368" rtl="0" eaLnBrk="1" latinLnBrk="0" hangingPunct="1">
        <a:spcBef>
          <a:spcPct val="20000"/>
        </a:spcBef>
        <a:buFont typeface="Arial"/>
        <a:buChar char="–"/>
        <a:defRPr sz="4044" kern="1200">
          <a:solidFill>
            <a:schemeClr val="tx1"/>
          </a:solidFill>
          <a:latin typeface="+mn-lt"/>
          <a:ea typeface="+mn-ea"/>
          <a:cs typeface="+mn-cs"/>
        </a:defRPr>
      </a:lvl2pPr>
      <a:lvl3pPr marL="1650919" indent="-330184" algn="l" defTabSz="660368" rtl="0" eaLnBrk="1" latinLnBrk="0" hangingPunct="1">
        <a:spcBef>
          <a:spcPct val="20000"/>
        </a:spcBef>
        <a:buFont typeface="Arial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311286" indent="-330184" algn="l" defTabSz="660368" rtl="0" eaLnBrk="1" latinLnBrk="0" hangingPunct="1">
        <a:spcBef>
          <a:spcPct val="20000"/>
        </a:spcBef>
        <a:buFont typeface="Arial"/>
        <a:buChar char="–"/>
        <a:defRPr sz="2889" kern="1200">
          <a:solidFill>
            <a:schemeClr val="tx1"/>
          </a:solidFill>
          <a:latin typeface="+mn-lt"/>
          <a:ea typeface="+mn-ea"/>
          <a:cs typeface="+mn-cs"/>
        </a:defRPr>
      </a:lvl4pPr>
      <a:lvl5pPr marL="2971655" indent="-330184" algn="l" defTabSz="660368" rtl="0" eaLnBrk="1" latinLnBrk="0" hangingPunct="1">
        <a:spcBef>
          <a:spcPct val="20000"/>
        </a:spcBef>
        <a:buFont typeface="Arial"/>
        <a:buChar char="»"/>
        <a:defRPr sz="2889" kern="1200">
          <a:solidFill>
            <a:schemeClr val="tx1"/>
          </a:solidFill>
          <a:latin typeface="+mn-lt"/>
          <a:ea typeface="+mn-ea"/>
          <a:cs typeface="+mn-cs"/>
        </a:defRPr>
      </a:lvl5pPr>
      <a:lvl6pPr marL="3632021" indent="-330184" algn="l" defTabSz="660368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6pPr>
      <a:lvl7pPr marL="4292389" indent="-330184" algn="l" defTabSz="660368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7pPr>
      <a:lvl8pPr marL="4952757" indent="-330184" algn="l" defTabSz="660368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8pPr>
      <a:lvl9pPr marL="5613124" indent="-330184" algn="l" defTabSz="660368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68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35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03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471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38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6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574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2941" algn="l" defTabSz="660368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/>
          <p:cNvGrpSpPr/>
          <p:nvPr/>
        </p:nvGrpSpPr>
        <p:grpSpPr>
          <a:xfrm>
            <a:off x="170793" y="232239"/>
            <a:ext cx="9287180" cy="1581150"/>
            <a:chOff x="139262" y="109370"/>
            <a:chExt cx="9287180" cy="1581150"/>
          </a:xfrm>
        </p:grpSpPr>
        <p:pic>
          <p:nvPicPr>
            <p:cNvPr id="26" name="Imagem 2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262" y="109370"/>
              <a:ext cx="9287180" cy="1581150"/>
            </a:xfrm>
            <a:prstGeom prst="rect">
              <a:avLst/>
            </a:prstGeom>
          </p:spPr>
        </p:pic>
        <p:pic>
          <p:nvPicPr>
            <p:cNvPr id="27" name="Imagem 26"/>
            <p:cNvPicPr>
              <a:picLocks noChangeAspect="1"/>
            </p:cNvPicPr>
            <p:nvPr/>
          </p:nvPicPr>
          <p:blipFill rotWithShape="1">
            <a:blip r:embed="rId2"/>
            <a:srcRect l="28752" t="13835" r="28782" b="16159"/>
            <a:stretch/>
          </p:blipFill>
          <p:spPr>
            <a:xfrm>
              <a:off x="3074418" y="251945"/>
              <a:ext cx="3416868" cy="1332000"/>
            </a:xfrm>
            <a:prstGeom prst="rect">
              <a:avLst/>
            </a:prstGeom>
          </p:spPr>
        </p:pic>
      </p:grpSp>
      <p:sp>
        <p:nvSpPr>
          <p:cNvPr id="16" name="Retângulo 15"/>
          <p:cNvSpPr/>
          <p:nvPr/>
        </p:nvSpPr>
        <p:spPr>
          <a:xfrm>
            <a:off x="170793" y="232239"/>
            <a:ext cx="9287180" cy="15732000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5" dirty="0"/>
          </a:p>
        </p:txBody>
      </p:sp>
      <p:sp>
        <p:nvSpPr>
          <p:cNvPr id="18" name="CaixaDeTexto 17"/>
          <p:cNvSpPr txBox="1"/>
          <p:nvPr/>
        </p:nvSpPr>
        <p:spPr>
          <a:xfrm>
            <a:off x="369311" y="2020800"/>
            <a:ext cx="882843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Comunicado de Implantação</a:t>
            </a:r>
          </a:p>
          <a:p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pt-BR" sz="1800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t-BR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Informamos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abaixo os itens contemplados na implantação, ocorrida com sucesso.</a:t>
            </a:r>
            <a:endParaRPr lang="en-US" sz="18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CaixaDeTexto 33"/>
          <p:cNvSpPr txBox="1"/>
          <p:nvPr/>
        </p:nvSpPr>
        <p:spPr>
          <a:xfrm>
            <a:off x="3540600" y="15248506"/>
            <a:ext cx="25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sz="2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Diretoria de TI</a:t>
            </a:r>
            <a:endParaRPr lang="pt-BR" sz="20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8103477" y="362816"/>
            <a:ext cx="1260076" cy="462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sz="2405" b="1" dirty="0" smtClean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03.Fev</a:t>
            </a:r>
            <a:endParaRPr lang="pt-BR" sz="2405" b="1" dirty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19756" y="1628128"/>
            <a:ext cx="2160000" cy="2160000"/>
          </a:xfrm>
          <a:prstGeom prst="rect">
            <a:avLst/>
          </a:prstGeom>
          <a:effectLst>
            <a:glow rad="101600">
              <a:schemeClr val="bg1">
                <a:alpha val="60000"/>
              </a:schemeClr>
            </a:glow>
          </a:effectLst>
        </p:spPr>
      </p:pic>
      <p:graphicFrame>
        <p:nvGraphicFramePr>
          <p:cNvPr id="19" name="Tabel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71949"/>
              </p:ext>
            </p:extLst>
          </p:nvPr>
        </p:nvGraphicFramePr>
        <p:xfrm>
          <a:off x="451321" y="2904151"/>
          <a:ext cx="6507976" cy="731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891829">
                  <a:extLst>
                    <a:ext uri="{9D8B030D-6E8A-4147-A177-3AD203B41FA5}">
                      <a16:colId xmlns:a16="http://schemas.microsoft.com/office/drawing/2014/main" xmlns="" val="12600644"/>
                    </a:ext>
                  </a:extLst>
                </a:gridCol>
                <a:gridCol w="1171575">
                  <a:extLst>
                    <a:ext uri="{9D8B030D-6E8A-4147-A177-3AD203B41FA5}">
                      <a16:colId xmlns:a16="http://schemas.microsoft.com/office/drawing/2014/main" xmlns="" val="3081711037"/>
                    </a:ext>
                  </a:extLst>
                </a:gridCol>
                <a:gridCol w="3444572">
                  <a:extLst>
                    <a:ext uri="{9D8B030D-6E8A-4147-A177-3AD203B41FA5}">
                      <a16:colId xmlns:a16="http://schemas.microsoft.com/office/drawing/2014/main" xmlns="" val="35265852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Build</a:t>
                      </a:r>
                      <a:endParaRPr lang="pt-BR" sz="18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Data</a:t>
                      </a:r>
                      <a:endParaRPr lang="pt-BR" sz="18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Sistemas Afetados</a:t>
                      </a:r>
                      <a:endParaRPr lang="pt-BR" sz="18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1145575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/>
                        <a:t>Melhorias + Bugs</a:t>
                      </a:r>
                      <a:endParaRPr lang="pt-BR" sz="18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/>
                        <a:t>03.02.16</a:t>
                      </a:r>
                      <a:endParaRPr lang="pt-BR" sz="18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dirty="0" smtClean="0"/>
                        <a:t>Portal</a:t>
                      </a:r>
                      <a:r>
                        <a:rPr lang="pt-BR" sz="1800" baseline="0" dirty="0" smtClean="0"/>
                        <a:t>, Mobile e Liferay</a:t>
                      </a:r>
                      <a:endParaRPr lang="pt-BR" sz="18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48040599"/>
                  </a:ext>
                </a:extLst>
              </a:tr>
            </a:tbl>
          </a:graphicData>
        </a:graphic>
      </p:graphicFrame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15024"/>
              </p:ext>
            </p:extLst>
          </p:nvPr>
        </p:nvGraphicFramePr>
        <p:xfrm>
          <a:off x="1649839" y="4622830"/>
          <a:ext cx="7547906" cy="20800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914003">
                  <a:extLst>
                    <a:ext uri="{9D8B030D-6E8A-4147-A177-3AD203B41FA5}">
                      <a16:colId xmlns:a16="http://schemas.microsoft.com/office/drawing/2014/main" xmlns="" val="1649539305"/>
                    </a:ext>
                  </a:extLst>
                </a:gridCol>
                <a:gridCol w="2315460">
                  <a:extLst>
                    <a:ext uri="{9D8B030D-6E8A-4147-A177-3AD203B41FA5}">
                      <a16:colId xmlns:a16="http://schemas.microsoft.com/office/drawing/2014/main" xmlns="" val="954512111"/>
                    </a:ext>
                  </a:extLst>
                </a:gridCol>
                <a:gridCol w="4318443">
                  <a:extLst>
                    <a:ext uri="{9D8B030D-6E8A-4147-A177-3AD203B41FA5}">
                      <a16:colId xmlns:a16="http://schemas.microsoft.com/office/drawing/2014/main" xmlns="" val="163373932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/>
                        <a:t>JIRA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/>
                        <a:t>Melhoria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/>
                        <a:t>Descrição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1145575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MLS-165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Hotel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Fase II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Segunda fase do projeto hotel fase II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147386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MLS-192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Criação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de páginas de funil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Permitir medição de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navegação do cliente pelo Google Analytics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MLS-246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Parcelamento do S&amp;M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Habilitar o pagamento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parcelado do Smiles&amp;Money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79612629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MLS-251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Quando a Navitaire não retornar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voos, chamar automaticamente o Amadeus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Inteligência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criada para redirecionar automaticamente o cliente para voos Amadeus quando não há disponibilidade G3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MLS-364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Shopping não logado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Permitir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entrada no Shopping Smiles sem realizar login Smiles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11" name="Agrupar 10"/>
          <p:cNvGrpSpPr/>
          <p:nvPr/>
        </p:nvGrpSpPr>
        <p:grpSpPr>
          <a:xfrm>
            <a:off x="247124" y="5084475"/>
            <a:ext cx="1260000" cy="1667198"/>
            <a:chOff x="11679747" y="3327136"/>
            <a:chExt cx="1260000" cy="1667198"/>
          </a:xfrm>
        </p:grpSpPr>
        <p:pic>
          <p:nvPicPr>
            <p:cNvPr id="6" name="Imagem 5"/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1679747" y="3327136"/>
              <a:ext cx="1260000" cy="1260000"/>
            </a:xfrm>
            <a:prstGeom prst="rect">
              <a:avLst/>
            </a:prstGeom>
          </p:spPr>
        </p:pic>
        <p:sp>
          <p:nvSpPr>
            <p:cNvPr id="24" name="Retângulo 23"/>
            <p:cNvSpPr/>
            <p:nvPr/>
          </p:nvSpPr>
          <p:spPr>
            <a:xfrm>
              <a:off x="11746131" y="4625002"/>
              <a:ext cx="112723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800" dirty="0">
                  <a:solidFill>
                    <a:schemeClr val="accent3">
                      <a:lumMod val="50000"/>
                    </a:schemeClr>
                  </a:solidFill>
                  <a:latin typeface="+mj-lt"/>
                  <a:ea typeface="Tahoma" panose="020B0604030504040204" pitchFamily="34" charset="0"/>
                  <a:cs typeface="Tahoma" panose="020B0604030504040204" pitchFamily="34" charset="0"/>
                </a:rPr>
                <a:t>Melhorias</a:t>
              </a:r>
            </a:p>
          </p:txBody>
        </p:sp>
      </p:grpSp>
      <p:grpSp>
        <p:nvGrpSpPr>
          <p:cNvPr id="15" name="Agrupar 19"/>
          <p:cNvGrpSpPr/>
          <p:nvPr/>
        </p:nvGrpSpPr>
        <p:grpSpPr>
          <a:xfrm>
            <a:off x="470396" y="9928123"/>
            <a:ext cx="1074333" cy="1425677"/>
            <a:chOff x="5312744" y="4489523"/>
            <a:chExt cx="1125643" cy="1504172"/>
          </a:xfrm>
        </p:grpSpPr>
        <p:pic>
          <p:nvPicPr>
            <p:cNvPr id="20" name="Imagem 19"/>
            <p:cNvPicPr>
              <a:picLocks noChangeAspect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328405" y="4489523"/>
              <a:ext cx="1109982" cy="1088301"/>
            </a:xfrm>
            <a:prstGeom prst="rect">
              <a:avLst/>
            </a:prstGeom>
          </p:spPr>
        </p:pic>
        <p:sp>
          <p:nvSpPr>
            <p:cNvPr id="21" name="Retângulo 20"/>
            <p:cNvSpPr/>
            <p:nvPr/>
          </p:nvSpPr>
          <p:spPr>
            <a:xfrm>
              <a:off x="5312744" y="5604028"/>
              <a:ext cx="892183" cy="38966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800" dirty="0">
                  <a:solidFill>
                    <a:srgbClr val="A20000"/>
                  </a:solidFill>
                  <a:latin typeface="+mj-lt"/>
                  <a:ea typeface="Tahoma" panose="020B0604030504040204" pitchFamily="34" charset="0"/>
                  <a:cs typeface="Tahoma" panose="020B0604030504040204" pitchFamily="34" charset="0"/>
                </a:rPr>
                <a:t>Bug Fix</a:t>
              </a:r>
            </a:p>
          </p:txBody>
        </p:sp>
      </p:grpSp>
      <p:graphicFrame>
        <p:nvGraphicFramePr>
          <p:cNvPr id="22" name="Tabela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5084121"/>
              </p:ext>
            </p:extLst>
          </p:nvPr>
        </p:nvGraphicFramePr>
        <p:xfrm>
          <a:off x="1649840" y="6909750"/>
          <a:ext cx="7547906" cy="812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14003">
                  <a:extLst>
                    <a:ext uri="{9D8B030D-6E8A-4147-A177-3AD203B41FA5}">
                      <a16:colId xmlns:a16="http://schemas.microsoft.com/office/drawing/2014/main" xmlns="" val="1649539305"/>
                    </a:ext>
                  </a:extLst>
                </a:gridCol>
                <a:gridCol w="2315460">
                  <a:extLst>
                    <a:ext uri="{9D8B030D-6E8A-4147-A177-3AD203B41FA5}">
                      <a16:colId xmlns:a16="http://schemas.microsoft.com/office/drawing/2014/main" xmlns="" val="954512111"/>
                    </a:ext>
                  </a:extLst>
                </a:gridCol>
                <a:gridCol w="4318443">
                  <a:extLst>
                    <a:ext uri="{9D8B030D-6E8A-4147-A177-3AD203B41FA5}">
                      <a16:colId xmlns:a16="http://schemas.microsoft.com/office/drawing/2014/main" xmlns="" val="1633739320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/>
                        <a:t>JIRA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/>
                        <a:t>Bug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/>
                        <a:t>Descrição</a:t>
                      </a:r>
                      <a:endParaRPr lang="pt-BR" sz="1200" dirty="0"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1145575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MLS-142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Corrigir texto com caracteres especiais e acentuação no Portal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Correção dos caracteres especiais na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tela de marcação de assentos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4804059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MLS-253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bug (iphone) Selecionar assento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pt-BR" sz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Assento no </a:t>
                      </a:r>
                      <a:r>
                        <a:rPr lang="pt-BR" sz="1200" dirty="0" err="1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Iphone</a:t>
                      </a:r>
                      <a:r>
                        <a:rPr lang="pt-BR" sz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cs typeface="Segoe UI" panose="020B0502040204020203" pitchFamily="34" charset="0"/>
                        </a:rPr>
                        <a:t> não era selecionado corretamente</a:t>
                      </a:r>
                      <a:endParaRPr lang="pt-BR" sz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cs typeface="Segoe UI" panose="020B0502040204020203" pitchFamily="34" charset="0"/>
                      </a:endParaRPr>
                    </a:p>
                  </a:txBody>
                  <a:tcPr anchor="ctr"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MLS-277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Expiração de reservas isentas do clube com data errada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Data da primeira reserva C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lube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S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miles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era gravada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campo errado.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911692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MLS-280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Passageiros Favoritos - Data Nascimento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Data de nascimento no cadastro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dos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assageiros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F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avoritos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não respeitava a data informada na tela, alterando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 hora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de acordo com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timezone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MLS-282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Erro ao buscar números de reservas com Cutoff no Início do Horário de Verão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Correção das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reservas realizadas no primeiro dia do ano em horário de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verão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MLS-324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Venda G3 para moeda U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ruguaia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Corrigida emissão G3 para U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ruguaios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pagarem em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USD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MLS-325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Erro no /login quando não tem o parâmetro urlCallback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Correção do link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que redirecionava o cliente para tela de login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MLS-327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Erro na tela de Dados dos Passageiros quando o cliente tem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apostrofo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no nome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Tela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dados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do passageiro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não permitia prosseguir caso o cliente possui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 apóstrofo no nome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MLS-328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60368" rtl="0" eaLnBrk="1" latinLnBrk="0" hangingPunct="1"/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Valor original da transação - reembolso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O campo com o valor original da transação estava sendo preenchido com o valor a ser reembolsado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MLS-329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60368" rtl="0" eaLnBrk="1" latinLnBrk="0" hangingPunct="1"/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DE/PARA de cartões ELO e HIPERCARD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Quando o cliente selecionava o cartão Elo ou Hipercard para realizar o pagamento,</a:t>
                      </a:r>
                      <a:r>
                        <a:rPr lang="pt-BR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o Portal encaminhada o código errado para o Amadeus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MLS-330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Erro ao Visualizar Comprovante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Portal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não exibia popup de detalhes do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comprovante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MLS-333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Solicitação de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Crédito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Retroativo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Portal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não exibia tela de acompanhamento de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solicitações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MLS-338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G3 - Horario da partida errada de Voo Gol com parada após escolher o assento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Após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 escolha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de um assento, o Portal apresentava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horário do último trecho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ao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invés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do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horário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primeiro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trecho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MLS-339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Diminuição do nível do Log para "Excedeu limite milhas"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Segoe UI" panose="020B0502040204020203" pitchFamily="34" charset="0"/>
                        </a:rPr>
                        <a:t>Amadeus gerava log indevido em produção ocasionando perda de históricos importantes no Dynatrace</a:t>
                      </a:r>
                      <a:endParaRPr lang="pt-BR"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MLS-372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Retirar implementação *.js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Quebra de javascript na funcionalidade de S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orteios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impedindo funcionamento correto da funcionalidade.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MLS-378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Erro no parcelamento com estrangeiros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Correção</a:t>
                      </a:r>
                      <a:r>
                        <a:rPr lang="en-US" sz="1200" kern="1200" baseline="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 na quantidade de parecelamento para estrangeiros para voos congênere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25381016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MLS-389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Geração de log smiles-hook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Configuração </a:t>
                      </a:r>
                      <a:r>
                        <a:rPr lang="en-US" sz="12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errada no </a:t>
                      </a:r>
                      <a:r>
                        <a:rPr lang="en-US" sz="1200" kern="1200" dirty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j-lt"/>
                          <a:ea typeface="+mn-ea"/>
                          <a:cs typeface="Segoe UI" panose="020B0502040204020203" pitchFamily="34" charset="0"/>
                        </a:rPr>
                        <a:t>smiles-hook.</a:t>
                      </a:r>
                      <a:endParaRPr sz="12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j-lt"/>
                        <a:ea typeface="+mn-ea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50477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109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3626</TotalTime>
  <Words>482</Words>
  <Application>Microsoft Office PowerPoint</Application>
  <PresentationFormat>Personalizar</PresentationFormat>
  <Paragraphs>89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Nelton Lima</cp:lastModifiedBy>
  <cp:revision>302</cp:revision>
  <dcterms:created xsi:type="dcterms:W3CDTF">2014-01-24T21:35:00Z</dcterms:created>
  <dcterms:modified xsi:type="dcterms:W3CDTF">2016-02-12T12:48:32Z</dcterms:modified>
</cp:coreProperties>
</file>