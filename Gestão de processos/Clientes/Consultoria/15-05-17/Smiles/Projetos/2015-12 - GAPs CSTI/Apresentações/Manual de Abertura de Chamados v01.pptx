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339" r:id="rId3"/>
    <p:sldId id="338" r:id="rId4"/>
    <p:sldId id="344" r:id="rId5"/>
    <p:sldId id="345" r:id="rId6"/>
    <p:sldId id="346" r:id="rId7"/>
    <p:sldId id="347" r:id="rId8"/>
    <p:sldId id="349" r:id="rId9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D0462D"/>
    <a:srgbClr val="F57124"/>
    <a:srgbClr val="F68E1E"/>
    <a:srgbClr val="99CCFF"/>
    <a:srgbClr val="FF9900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42" y="78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17/12/2015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26D4-BB22-405D-8A03-AF2F8CBC4919}" type="datetime1">
              <a:rPr lang="en-US" smtClean="0"/>
              <a:t>12/17/2015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68D0-CE47-4877-9BD0-C46BE2BB9CD5}" type="datetime1">
              <a:rPr lang="en-US" smtClean="0"/>
              <a:t>12/17/2015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497E-30E6-4C08-9D14-E070002978BF}" type="datetime1">
              <a:rPr lang="en-US" smtClean="0"/>
              <a:t>12/17/2015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7FF6-005E-4BA2-9305-A7C647913EA8}" type="datetime1">
              <a:rPr lang="en-US" smtClean="0"/>
              <a:t>12/17/2015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8140B-6EC9-48F1-A41F-43DC9AE4C8DD}" type="datetime1">
              <a:rPr lang="en-US" smtClean="0"/>
              <a:t>12/17/2015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E8AD-DEA3-4297-ADE0-9CC2DDD1F23C}" type="datetime1">
              <a:rPr lang="en-US" smtClean="0"/>
              <a:t>12/17/2015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87650-0C5D-40AD-AA5D-CFE5562FEFB0}" type="datetime1">
              <a:rPr lang="en-US" smtClean="0"/>
              <a:t>12/17/2015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5CB6-874E-4B63-BC1B-0A4BE32AD0E9}" type="datetime1">
              <a:rPr lang="en-US" smtClean="0"/>
              <a:t>12/17/2015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BBB69-9F2C-4EC9-881E-974CA77666E8}" type="datetime1">
              <a:rPr lang="en-US" smtClean="0"/>
              <a:t>12/17/2015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A57-9F36-4D1E-9409-51BB29037D99}" type="datetime1">
              <a:rPr lang="en-US" smtClean="0"/>
              <a:t>12/17/2015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ACA03-ADFA-416A-94F6-0D8DF22E4FC0}" type="datetime1">
              <a:rPr lang="en-US" smtClean="0"/>
              <a:t>12/17/2015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6757D-D130-4BC6-B1D1-6E22D1418CA3}" type="datetime1">
              <a:rPr lang="en-US" smtClean="0"/>
              <a:t>12/17/2015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hyperlink" Target="https://smiles.atlassian.net/servicedesk/customer/portal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1174537"/>
            <a:ext cx="568862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Central de Serviços de TI</a:t>
            </a:r>
          </a:p>
          <a:p>
            <a:endParaRPr lang="pt-BR" sz="3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Guia de Uso do </a:t>
            </a:r>
            <a:endParaRPr lang="pt-BR" sz="44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JIRA Service Desk</a:t>
            </a:r>
          </a:p>
          <a:p>
            <a:endParaRPr lang="pt-BR" sz="3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en-US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en-US" sz="16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Dezembro</a:t>
            </a:r>
            <a:r>
              <a:rPr 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/2015 - </a:t>
            </a:r>
            <a:r>
              <a:rPr lang="pt-BR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v01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49" y="4063876"/>
            <a:ext cx="1618467" cy="1618467"/>
          </a:xfrm>
          <a:prstGeom prst="rect">
            <a:avLst/>
          </a:prstGeom>
        </p:spPr>
      </p:pic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pic>
        <p:nvPicPr>
          <p:cNvPr id="1026" name="Picture 2" descr="http://www.umkc.edu/hr/images/how-do-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06" y="1008834"/>
            <a:ext cx="4783232" cy="292308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tângulo 19"/>
          <p:cNvSpPr/>
          <p:nvPr/>
        </p:nvSpPr>
        <p:spPr>
          <a:xfrm>
            <a:off x="348457" y="1675610"/>
            <a:ext cx="9210823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b="1" dirty="0" smtClean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acessar o JIRA Service Desk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b="1" dirty="0" smtClean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solicitar seu usuário no JIRA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b="1" dirty="0" smtClean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abrir um chamado no JIRA Service Desk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acompanhar e interagir em um chamado?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solicitar a reabertura de um chamado?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preencher a avaliação de satisfação após a resolução de um chamado?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Não encontrei a opção adequada para abertura de meu chamado. O que faço</a:t>
            </a:r>
            <a:r>
              <a:rPr lang="pt-B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solicitar prioridade em meu chamado?</a:t>
            </a:r>
            <a:endParaRPr lang="pt-BR" b="1" dirty="0" smtClean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69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acessar o JIRA Service </a:t>
              </a:r>
              <a:r>
                <a:rPr lang="pt-BR" sz="2000" b="1" dirty="0" smtClean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Desk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7" y="2040437"/>
            <a:ext cx="942006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Acesse o link </a:t>
            </a:r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https://smiles.atlassian.net/servicedesk/customer/portals</a:t>
            </a:r>
            <a:endParaRPr lang="pt-BR" b="1" dirty="0" smtClean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Entre com seu </a:t>
            </a:r>
            <a:r>
              <a:rPr lang="pt-B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usuário e senha 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pt-BR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mesmo que você já utilizava para acessar o JIRA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  <a:endParaRPr lang="pt-BR" dirty="0" smtClean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Navegue e localize a opção mais adequada para abertura de seu 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chamado.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pt-BR" sz="16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Obs</a:t>
            </a:r>
            <a:r>
              <a:rPr lang="pt-BR" sz="16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.: se você já estiver </a:t>
            </a:r>
            <a:r>
              <a:rPr lang="pt-BR" sz="1600" b="1" i="1" dirty="0" err="1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logado</a:t>
            </a:r>
            <a:r>
              <a:rPr lang="pt-BR" sz="16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no JIRA, utilize o atalho abaixo (no menu superior esquerdo).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5056" y="4596453"/>
            <a:ext cx="6619875" cy="1743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Seta Dobrada 11"/>
          <p:cNvSpPr/>
          <p:nvPr/>
        </p:nvSpPr>
        <p:spPr>
          <a:xfrm rot="10800000" flipH="1">
            <a:off x="1426018" y="4350737"/>
            <a:ext cx="807150" cy="1721523"/>
          </a:xfrm>
          <a:prstGeom prst="bentArrow">
            <a:avLst>
              <a:gd name="adj1" fmla="val 25000"/>
              <a:gd name="adj2" fmla="val 23640"/>
              <a:gd name="adj3" fmla="val 25000"/>
              <a:gd name="adj4" fmla="val 43750"/>
            </a:avLst>
          </a:prstGeom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80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</a:t>
              </a:r>
              <a:r>
                <a:rPr lang="pt-BR" sz="2000" b="1" dirty="0" smtClean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solicitar seu usuário no JIRA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7" y="2040437"/>
            <a:ext cx="3465897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Peça para seu gestor abrir um chamado </a:t>
            </a:r>
            <a:r>
              <a:rPr lang="pt-B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através do próprio JIRA Service Desk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solicitando a criação de seu usuário.</a:t>
            </a: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categoria em que o chamado deverá ser aberto 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é 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</a:t>
            </a:r>
            <a:r>
              <a:rPr lang="pt-B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Conceder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Acesso ao Siebel ou Outras </a:t>
            </a:r>
            <a:r>
              <a:rPr lang="pt-B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Ferramentas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em Gestão de Acessos &gt; Concessão de Acesso.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3221" y="2301694"/>
            <a:ext cx="5296059" cy="2799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tângulo Arredondado 10"/>
          <p:cNvSpPr/>
          <p:nvPr/>
        </p:nvSpPr>
        <p:spPr>
          <a:xfrm>
            <a:off x="6008914" y="4545874"/>
            <a:ext cx="3461658" cy="444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47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</a:t>
              </a:r>
              <a:r>
                <a:rPr lang="pt-BR" sz="2000" b="1" dirty="0" smtClean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abrir um chamado no JIRA Service Desk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7" y="2040437"/>
            <a:ext cx="9420063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Há duas formas de encontrar a categoria mais adequada para abrir seu chamado. </a:t>
            </a:r>
          </a:p>
          <a:p>
            <a:pPr lvl="1">
              <a:spcBef>
                <a:spcPts val="600"/>
              </a:spcBef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pt-BR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primeira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é navegando pela estrutura de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GRUPOS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SUBGRUPOS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CATEGORIAS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Ao encontrar a categoria adequada, você deve clicar sobre a mesma 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ir para a tela de abertura 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chamado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spcBef>
                <a:spcPts val="600"/>
              </a:spcBef>
              <a:spcAft>
                <a:spcPts val="1800"/>
              </a:spcAft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pt-BR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segunda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é pelo campo de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QUISA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onde você deve digitar palavras-chave relacionadas à sua necessidade (ex.; promoção, EDI, impressora, etc.). 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Ao encontrar a categoria adequada nos resultados da pesquisa, você deve clicar sobre a mesma para ir para a tela de abertura do chamado.</a:t>
            </a:r>
            <a:endParaRPr lang="pt-BR" dirty="0" smtClean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algn="just">
              <a:spcBef>
                <a:spcPts val="600"/>
              </a:spcBef>
              <a:spcAft>
                <a:spcPts val="1800"/>
              </a:spcAft>
            </a:pPr>
            <a:r>
              <a:rPr lang="pt-BR" sz="16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Nas próximas páginas apresentaremos a estrutura de navegação pelo portal da Central de Serviços de TI no JIRA Service Desk.</a:t>
            </a:r>
            <a:endParaRPr lang="pt-B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946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</a:t>
              </a:r>
              <a:r>
                <a:rPr lang="pt-BR" sz="2000" b="1" dirty="0" smtClean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abrir um chamado no JIRA Service Desk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7" y="2040437"/>
            <a:ext cx="94200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Abaixo as telas de navegação no Portal da Central de Serviços de TI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4"/>
          <a:srcRect l="21261" t="19921" r="21278" b="12390"/>
          <a:stretch/>
        </p:blipFill>
        <p:spPr>
          <a:xfrm>
            <a:off x="360000" y="2648862"/>
            <a:ext cx="6210300" cy="3898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CaixaDeTexto 11"/>
          <p:cNvSpPr txBox="1"/>
          <p:nvPr/>
        </p:nvSpPr>
        <p:spPr>
          <a:xfrm>
            <a:off x="603112" y="3351012"/>
            <a:ext cx="5524500" cy="491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 smtClean="0">
                <a:solidFill>
                  <a:srgbClr val="FF0000"/>
                </a:solidFill>
              </a:rPr>
              <a:t>                                                                     PESQUISA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603112" y="4294424"/>
            <a:ext cx="1370978" cy="21517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b">
            <a:noAutofit/>
          </a:bodyPr>
          <a:lstStyle/>
          <a:p>
            <a:pPr algn="ctr"/>
            <a:r>
              <a:rPr lang="pt-BR" b="1" dirty="0" smtClean="0">
                <a:solidFill>
                  <a:srgbClr val="FF0000"/>
                </a:solidFill>
              </a:rPr>
              <a:t>GRUPOS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6813412" y="2701114"/>
            <a:ext cx="3155782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Detalhamento dos Grupos atuais:</a:t>
            </a:r>
            <a:endParaRPr lang="pt-BR" sz="12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Cliente </a:t>
            </a: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falhas ou solicitações relacionadas aos participantes Smiles (clientes finais)</a:t>
            </a:r>
          </a:p>
          <a:p>
            <a:pPr>
              <a:spcAft>
                <a:spcPts val="600"/>
              </a:spcAft>
            </a:pP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Escritório / Informática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falhas ou solicitações relacionadas a facilidades de TI (laptops, 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impressora, rede, etc.).</a:t>
            </a:r>
          </a:p>
          <a:p>
            <a:pPr>
              <a:spcAft>
                <a:spcPts val="600"/>
              </a:spcAft>
            </a:pP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Gestão </a:t>
            </a: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Acessos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solicitações de acesso (responsabilidade Qualidade / 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Segurança da Informação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</a:p>
          <a:p>
            <a:pPr>
              <a:spcAft>
                <a:spcPts val="600"/>
              </a:spcAft>
            </a:pP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 para TI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solicitações internas em TI (ex.: desenvolvedores para time de operação).</a:t>
            </a:r>
          </a:p>
          <a:p>
            <a:pPr>
              <a:spcAft>
                <a:spcPts val="600"/>
              </a:spcAft>
            </a:pP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Áreas de Negócio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falhas ou solicitações relacionadas a temas das áreas de negócio / áreas internas da Smiles.</a:t>
            </a:r>
          </a:p>
          <a:p>
            <a:pPr>
              <a:spcAft>
                <a:spcPts val="600"/>
              </a:spcAft>
            </a:pPr>
            <a:r>
              <a:rPr lang="pt-BR" sz="12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Obs.: você terá acesso apenas aos Grupos que estiverem no contexto de suas atividades profissionais</a:t>
            </a:r>
            <a:r>
              <a:rPr lang="pt-BR" sz="12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  <a:endParaRPr lang="pt-B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761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</a:t>
              </a:r>
              <a:r>
                <a:rPr lang="pt-BR" sz="2000" b="1" dirty="0" smtClean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abrir um chamado no JIRA Service Desk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7" y="2040437"/>
            <a:ext cx="94200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Abaixo as telas de navegação no Portal da Central de Serviços de TI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 rotWithShape="1">
          <a:blip r:embed="rId4"/>
          <a:srcRect l="21370" t="21587" r="23774" b="21428"/>
          <a:stretch/>
        </p:blipFill>
        <p:spPr>
          <a:xfrm>
            <a:off x="360000" y="2592996"/>
            <a:ext cx="7137400" cy="39514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CaixaDeTexto 14"/>
          <p:cNvSpPr txBox="1"/>
          <p:nvPr/>
        </p:nvSpPr>
        <p:spPr>
          <a:xfrm>
            <a:off x="2750095" y="4664027"/>
            <a:ext cx="4445000" cy="9530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b">
            <a:noAutofit/>
          </a:bodyPr>
          <a:lstStyle/>
          <a:p>
            <a:pPr algn="r"/>
            <a:r>
              <a:rPr lang="pt-BR" b="1" dirty="0" smtClean="0">
                <a:solidFill>
                  <a:srgbClr val="FF0000"/>
                </a:solidFill>
              </a:rPr>
              <a:t>CATEGORIA </a:t>
            </a:r>
            <a:r>
              <a:rPr lang="pt-BR" b="1" dirty="0" smtClean="0">
                <a:solidFill>
                  <a:srgbClr val="FF0000"/>
                </a:solidFill>
              </a:rPr>
              <a:t>DO </a:t>
            </a:r>
            <a:r>
              <a:rPr lang="pt-BR" b="1" dirty="0" smtClean="0">
                <a:solidFill>
                  <a:srgbClr val="FF0000"/>
                </a:solidFill>
              </a:rPr>
              <a:t>CHAMADO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02195" y="3872977"/>
            <a:ext cx="1777378" cy="26270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b">
            <a:noAutofit/>
          </a:bodyPr>
          <a:lstStyle/>
          <a:p>
            <a:pPr algn="r"/>
            <a:r>
              <a:rPr lang="pt-BR" b="1" dirty="0" smtClean="0">
                <a:solidFill>
                  <a:srgbClr val="FF0000"/>
                </a:solidFill>
              </a:rPr>
              <a:t>SUBGRUPOS</a:t>
            </a: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sz="2800" b="1" dirty="0" smtClean="0">
              <a:solidFill>
                <a:srgbClr val="FF0000"/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7688202" y="2802371"/>
            <a:ext cx="2180075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Ao encontrar a categoria adequada à sua necessidade, </a:t>
            </a:r>
            <a:r>
              <a:rPr lang="pt-BR" sz="1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clique sobre a mesma</a:t>
            </a: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Você será direcionado para a tela de abertura do chamado</a:t>
            </a:r>
            <a:r>
              <a:rPr lang="pt-BR" sz="1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pt-B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eta Dobrada 2"/>
          <p:cNvSpPr/>
          <p:nvPr/>
        </p:nvSpPr>
        <p:spPr>
          <a:xfrm rot="10800000">
            <a:off x="5418339" y="4276954"/>
            <a:ext cx="3359899" cy="784961"/>
          </a:xfrm>
          <a:prstGeom prst="bentArrow">
            <a:avLst>
              <a:gd name="adj1" fmla="val 25000"/>
              <a:gd name="adj2" fmla="val 23640"/>
              <a:gd name="adj3" fmla="val 25000"/>
              <a:gd name="adj4" fmla="val 43750"/>
            </a:avLst>
          </a:prstGeom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435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</a:t>
              </a:r>
              <a:r>
                <a:rPr lang="pt-BR" sz="2000" b="1" dirty="0" smtClean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abrir um chamado no JIRA Service Desk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7" y="2040437"/>
            <a:ext cx="276050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3"/>
            </a:pP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 tela de abertura do chamado, preencha os campos, anexe os documentos necessários (se aplicável) e clique em </a:t>
            </a:r>
            <a:r>
              <a:rPr lang="pt-B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CREATE</a:t>
            </a:r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Pronto, seu chamado está aberto! </a:t>
            </a:r>
          </a:p>
        </p:txBody>
      </p:sp>
      <p:grpSp>
        <p:nvGrpSpPr>
          <p:cNvPr id="12" name="Agrupar 11"/>
          <p:cNvGrpSpPr/>
          <p:nvPr/>
        </p:nvGrpSpPr>
        <p:grpSpPr>
          <a:xfrm>
            <a:off x="3341050" y="1938746"/>
            <a:ext cx="6153150" cy="4762500"/>
            <a:chOff x="3341050" y="1938746"/>
            <a:chExt cx="6153150" cy="4762500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41050" y="1938746"/>
              <a:ext cx="3457575" cy="5619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1" name="Imagem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41050" y="2500721"/>
              <a:ext cx="6153150" cy="420052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19" name="CaixaDeTexto 18"/>
          <p:cNvSpPr txBox="1"/>
          <p:nvPr/>
        </p:nvSpPr>
        <p:spPr>
          <a:xfrm>
            <a:off x="3363615" y="2525160"/>
            <a:ext cx="3107648" cy="37711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r"/>
            <a:endParaRPr lang="pt-BR" b="1" dirty="0" smtClean="0">
              <a:solidFill>
                <a:srgbClr val="FF0000"/>
              </a:solidFill>
            </a:endParaRPr>
          </a:p>
          <a:p>
            <a:pPr algn="r"/>
            <a:endParaRPr lang="pt-BR" b="1" dirty="0">
              <a:solidFill>
                <a:srgbClr val="FF0000"/>
              </a:solidFill>
            </a:endParaRPr>
          </a:p>
          <a:p>
            <a:pPr algn="r"/>
            <a:endParaRPr lang="pt-BR" sz="1400" b="1" dirty="0" smtClean="0">
              <a:solidFill>
                <a:srgbClr val="FF0000"/>
              </a:solidFill>
            </a:endParaRPr>
          </a:p>
          <a:p>
            <a:pPr algn="r"/>
            <a:r>
              <a:rPr lang="pt-BR" b="1" dirty="0" smtClean="0">
                <a:solidFill>
                  <a:srgbClr val="FF0000"/>
                </a:solidFill>
              </a:rPr>
              <a:t>PREENCHER</a:t>
            </a:r>
          </a:p>
          <a:p>
            <a:pPr algn="r"/>
            <a:endParaRPr lang="pt-BR" b="1" dirty="0">
              <a:solidFill>
                <a:srgbClr val="FF0000"/>
              </a:solidFill>
            </a:endParaRPr>
          </a:p>
          <a:p>
            <a:pPr algn="r"/>
            <a:endParaRPr lang="pt-BR" b="1" dirty="0" smtClean="0">
              <a:solidFill>
                <a:srgbClr val="FF0000"/>
              </a:solidFill>
            </a:endParaRPr>
          </a:p>
          <a:p>
            <a:pPr algn="r"/>
            <a:endParaRPr lang="pt-BR" b="1" dirty="0" smtClean="0">
              <a:solidFill>
                <a:srgbClr val="FF0000"/>
              </a:solidFill>
            </a:endParaRPr>
          </a:p>
          <a:p>
            <a:pPr algn="r"/>
            <a:endParaRPr lang="pt-BR" b="1" dirty="0" smtClean="0">
              <a:solidFill>
                <a:srgbClr val="FF0000"/>
              </a:solidFill>
            </a:endParaRPr>
          </a:p>
          <a:p>
            <a:pPr algn="r"/>
            <a:r>
              <a:rPr lang="pt-BR" b="1" dirty="0" smtClean="0">
                <a:solidFill>
                  <a:srgbClr val="FF0000"/>
                </a:solidFill>
              </a:rPr>
              <a:t>PREENCHER</a:t>
            </a:r>
            <a:endParaRPr lang="pt-BR" b="1" dirty="0">
              <a:solidFill>
                <a:srgbClr val="FF0000"/>
              </a:solidFill>
            </a:endParaRPr>
          </a:p>
          <a:p>
            <a:pPr algn="r"/>
            <a:endParaRPr lang="pt-BR" b="1" dirty="0" smtClean="0">
              <a:solidFill>
                <a:srgbClr val="FF0000"/>
              </a:solidFill>
            </a:endParaRPr>
          </a:p>
          <a:p>
            <a:pPr algn="r"/>
            <a:endParaRPr lang="pt-BR" b="1" dirty="0">
              <a:solidFill>
                <a:srgbClr val="FF0000"/>
              </a:solidFill>
            </a:endParaRPr>
          </a:p>
          <a:p>
            <a:pPr algn="r"/>
            <a:endParaRPr lang="pt-BR" b="1" dirty="0" smtClean="0">
              <a:solidFill>
                <a:srgbClr val="FF0000"/>
              </a:solidFill>
            </a:endParaRPr>
          </a:p>
          <a:p>
            <a:pPr algn="r"/>
            <a:r>
              <a:rPr lang="pt-BR" b="1" dirty="0" smtClean="0">
                <a:solidFill>
                  <a:srgbClr val="FF0000"/>
                </a:solidFill>
              </a:rPr>
              <a:t>       ANEXAR</a:t>
            </a:r>
          </a:p>
          <a:p>
            <a:pPr algn="r"/>
            <a:endParaRPr lang="pt-BR" b="1" dirty="0">
              <a:solidFill>
                <a:srgbClr val="FF0000"/>
              </a:solidFill>
            </a:endParaRPr>
          </a:p>
          <a:p>
            <a:pPr algn="r"/>
            <a:endParaRPr lang="pt-BR" b="1" dirty="0" smtClean="0">
              <a:solidFill>
                <a:srgbClr val="FF0000"/>
              </a:solidFill>
            </a:endParaRPr>
          </a:p>
          <a:p>
            <a:pPr algn="r"/>
            <a:endParaRPr lang="pt-BR" b="1" dirty="0">
              <a:solidFill>
                <a:srgbClr val="FF0000"/>
              </a:solidFill>
            </a:endParaRPr>
          </a:p>
          <a:p>
            <a:pPr algn="r"/>
            <a:endParaRPr lang="pt-BR" b="1" dirty="0" smtClean="0">
              <a:solidFill>
                <a:srgbClr val="FF0000"/>
              </a:solidFill>
            </a:endParaRPr>
          </a:p>
          <a:p>
            <a:pPr algn="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0" name="Seta Dobrada 19"/>
          <p:cNvSpPr/>
          <p:nvPr/>
        </p:nvSpPr>
        <p:spPr>
          <a:xfrm rot="10800000" flipH="1">
            <a:off x="849086" y="4348760"/>
            <a:ext cx="2514529" cy="2424718"/>
          </a:xfrm>
          <a:prstGeom prst="bentArrow">
            <a:avLst>
              <a:gd name="adj1" fmla="val 9416"/>
              <a:gd name="adj2" fmla="val 10133"/>
              <a:gd name="adj3" fmla="val 14091"/>
              <a:gd name="adj4" fmla="val 20373"/>
            </a:avLst>
          </a:prstGeom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6703353" y="2701897"/>
            <a:ext cx="2741093" cy="27061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 smtClean="0">
                <a:solidFill>
                  <a:srgbClr val="FF0000"/>
                </a:solidFill>
              </a:rPr>
              <a:t>                                                                </a:t>
            </a:r>
          </a:p>
          <a:p>
            <a:pPr algn="ctr"/>
            <a:endParaRPr lang="pt-BR" sz="600" b="1" dirty="0" smtClean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r"/>
            <a:r>
              <a:rPr lang="pt-BR" b="1" dirty="0" smtClean="0">
                <a:solidFill>
                  <a:srgbClr val="FF0000"/>
                </a:solidFill>
              </a:rPr>
              <a:t>INSTRUÇÕES</a:t>
            </a: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10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3594</TotalTime>
  <Words>608</Words>
  <Application>Microsoft Office PowerPoint</Application>
  <PresentationFormat>Personalizar</PresentationFormat>
  <Paragraphs>107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283</cp:revision>
  <dcterms:created xsi:type="dcterms:W3CDTF">2014-01-24T21:35:00Z</dcterms:created>
  <dcterms:modified xsi:type="dcterms:W3CDTF">2015-12-17T21:01:35Z</dcterms:modified>
</cp:coreProperties>
</file>