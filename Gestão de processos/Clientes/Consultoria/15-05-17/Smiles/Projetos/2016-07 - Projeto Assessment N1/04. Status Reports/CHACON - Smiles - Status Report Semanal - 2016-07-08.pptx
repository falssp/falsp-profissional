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60" r:id="rId4"/>
    <p:sldId id="264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9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05/09/2016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Status </a:t>
            </a:r>
            <a:r>
              <a:rPr lang="pt-BR" b="1" dirty="0" err="1"/>
              <a:t>Report</a:t>
            </a:r>
            <a:r>
              <a:rPr lang="pt-BR" b="1" dirty="0"/>
              <a:t> Semanal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Projeto </a:t>
            </a:r>
            <a:r>
              <a:rPr lang="pt-BR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Assessment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N1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08/07/2016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Luis</a:t>
            </a: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Savioli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Nei </a:t>
            </a: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Henckes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605" y="5126499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/>
              <a:t>Período 04 a 08 de Julho de 2016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125736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Reunião de Kick-Off realizada.</a:t>
            </a:r>
          </a:p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Planejamento de entrevistas elaborado.</a:t>
            </a:r>
          </a:p>
          <a:p>
            <a:pPr marL="180000" marR="0" lvl="0" indent="-1800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Entrevistas realizadas: 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SIEBEL: Savioli, Serperloni, André. 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EDI: Serpeloni.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SITE: Jonathas e Adolfo.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INFRA: Daniel Borges e Marcelo Caio.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Levantamento de chamados no JIRA para análise das possíveis categorias “N1”.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Listagem preliminar das atividades (N1 e N2).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Acompanhamento de rotina de trabalho: Savioli, Serpeloni e André.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125736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Resultados da Semana</a:t>
            </a: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gray">
          <a:xfrm>
            <a:off x="8064008" y="1572209"/>
            <a:ext cx="720000" cy="720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</p:spPr>
        <p:txBody>
          <a:bodyPr lIns="108000" tIns="108000" rIns="144000" bIns="72000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400" b="0" i="0" u="none" strike="noStrike" kern="0" cap="none" spc="0" normalizeH="0" baseline="0" noProof="1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gray">
          <a:xfrm>
            <a:off x="2361739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Cancelamentos de agenda da entrevista com o Cláudio Cunha (Infra e Microinformática).</a:t>
            </a: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gray">
          <a:xfrm>
            <a:off x="4597742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Realização da entrevista com Cláudio Cunha até a próxima terça-feira (no limite).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gray">
          <a:xfrm>
            <a:off x="6833744" y="1772816"/>
            <a:ext cx="2160000" cy="496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/>
          <a:lstStyle/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Entrevistas: 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RIGHT NOW: Savioli e Serpeloni</a:t>
            </a:r>
          </a:p>
          <a:p>
            <a:pPr marL="637200" lvl="1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INFRA: Cláudio Cunha.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Validação da lista de atividades N1 e N2.</a:t>
            </a:r>
          </a:p>
          <a:p>
            <a:pPr marL="180000" lvl="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  <a:defRPr/>
            </a:pPr>
            <a:r>
              <a:rPr lang="pt-BR" altLang="pt-BR" sz="1050" kern="0" noProof="1">
                <a:solidFill>
                  <a:srgbClr val="080808"/>
                </a:solidFill>
                <a:latin typeface="Arial" charset="0"/>
                <a:cs typeface="Arial" charset="0"/>
              </a:rPr>
              <a:t>Início de elaboração dos procedimentos operacionais (instruções de trabalho). Obs.: atividade dependente da conclusão das anteriores.</a:t>
            </a:r>
          </a:p>
          <a:p>
            <a:pPr marL="180000" indent="-180000" fontAlgn="base">
              <a:spcBef>
                <a:spcPct val="0"/>
              </a:spcBef>
              <a:spcAft>
                <a:spcPct val="40000"/>
              </a:spcAft>
              <a:buFont typeface="Wingdings" panose="05000000000000000000" pitchFamily="2" charset="2"/>
              <a:buChar char="q"/>
            </a:pPr>
            <a:endParaRPr lang="pt-BR" altLang="pt-BR" sz="1050" kern="0" noProof="1">
              <a:solidFill>
                <a:srgbClr val="080808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gray">
          <a:xfrm>
            <a:off x="2361739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Riscos / Pontos de Atenção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gray">
          <a:xfrm>
            <a:off x="4597742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Mitigações Necessárias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gray">
          <a:xfrm>
            <a:off x="6833744" y="1427115"/>
            <a:ext cx="2160000" cy="273634"/>
          </a:xfrm>
          <a:prstGeom prst="rect">
            <a:avLst/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2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cs typeface="Arial" charset="0"/>
              </a:rPr>
              <a:t>Prioridades Próx. Semana</a:t>
            </a:r>
          </a:p>
        </p:txBody>
      </p:sp>
      <p:pic>
        <p:nvPicPr>
          <p:cNvPr id="16" name="Picture 6" descr="C:\Users\ifc.freddy.yimo\Downloads\bouclier-jaune-icone-7797-12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4619" y="801497"/>
            <a:ext cx="476749" cy="57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C:\Users\ifc.freddy.yimo\Downloads\bleu-broches-icone-8679-12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1230" y="814955"/>
            <a:ext cx="545027" cy="579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C:\Users\ifc.freddy.yimo\Downloads\danger-nucleaire-icone-8323-128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74963" y="845571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ifc.freddy.yimo\Downloads\assignees-materiel-tache-icone-5408-128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3278" y="792080"/>
            <a:ext cx="585924" cy="58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Timeline</a:t>
            </a:r>
            <a:r>
              <a:rPr lang="pt-BR" dirty="0"/>
              <a:t> do Projeto</a:t>
            </a:r>
          </a:p>
        </p:txBody>
      </p:sp>
      <p:graphicFrame>
        <p:nvGraphicFramePr>
          <p:cNvPr id="9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69676"/>
              </p:ext>
            </p:extLst>
          </p:nvPr>
        </p:nvGraphicFramePr>
        <p:xfrm>
          <a:off x="135640" y="794508"/>
          <a:ext cx="8873748" cy="5226780"/>
        </p:xfrm>
        <a:graphic>
          <a:graphicData uri="http://schemas.openxmlformats.org/drawingml/2006/table">
            <a:tbl>
              <a:tblPr firstRow="1" bandRow="1"/>
              <a:tblGrid>
                <a:gridCol w="1478958">
                  <a:extLst>
                    <a:ext uri="{9D8B030D-6E8A-4147-A177-3AD203B41FA5}">
                      <a16:colId xmlns:a16="http://schemas.microsoft.com/office/drawing/2014/main" xmlns="" val="1989880496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789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80619">
                <a:tc gridSpan="6">
                  <a:txBody>
                    <a:bodyPr/>
                    <a:lstStyle/>
                    <a:p>
                      <a:pPr algn="ctr"/>
                      <a:r>
                        <a:rPr lang="pt-BR" sz="1600" b="1" i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Projeto </a:t>
                      </a:r>
                      <a:r>
                        <a:rPr lang="pt-BR" sz="1600" b="1" i="1" dirty="0" err="1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Assessment</a:t>
                      </a:r>
                      <a:r>
                        <a:rPr lang="pt-BR" sz="1600" b="1" i="1" baseline="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</a:rPr>
                        <a:t> N1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601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Junho-16</a:t>
                      </a: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Julho-16</a:t>
                      </a: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2">
                            <a:lumMod val="50000"/>
                          </a:schemeClr>
                        </a:solidFill>
                        <a:latin typeface="+mn-lt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Agosto-16</a:t>
                      </a: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1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29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a 02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04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08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11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15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18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22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25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29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01 a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</a:rPr>
                        <a:t> 3</a:t>
                      </a:r>
                      <a:endParaRPr lang="en-US" sz="12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78999">
                <a:tc>
                  <a:txBody>
                    <a:bodyPr/>
                    <a:lstStyle/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8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4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96" name="Conector de seta reta 3"/>
          <p:cNvCxnSpPr/>
          <p:nvPr/>
        </p:nvCxnSpPr>
        <p:spPr>
          <a:xfrm>
            <a:off x="3058164" y="1840052"/>
            <a:ext cx="0" cy="4176000"/>
          </a:xfrm>
          <a:prstGeom prst="straightConnector1">
            <a:avLst/>
          </a:prstGeom>
          <a:noFill/>
          <a:ln w="38100" cap="flat" cmpd="sng" algn="ctr">
            <a:solidFill>
              <a:srgbClr val="C00000"/>
            </a:solidFill>
            <a:prstDash val="sysDot"/>
            <a:headEnd type="diamond" w="lg" len="lg"/>
            <a:tailEnd type="diamond" w="lg" len="lg"/>
          </a:ln>
          <a:effectLst/>
        </p:spPr>
      </p:cxnSp>
      <p:sp>
        <p:nvSpPr>
          <p:cNvPr id="99" name="Rectangle 30"/>
          <p:cNvSpPr>
            <a:spLocks noChangeArrowheads="1"/>
          </p:cNvSpPr>
          <p:nvPr/>
        </p:nvSpPr>
        <p:spPr bwMode="auto">
          <a:xfrm>
            <a:off x="409489" y="2534823"/>
            <a:ext cx="11743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Mobilização da Equipe</a:t>
            </a: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 </a:t>
            </a:r>
            <a:r>
              <a:rPr kumimoji="0" lang="pt-BR" sz="1200" b="1" i="0" u="none" strike="noStrike" kern="0" cap="none" spc="0" normalizeH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e </a:t>
            </a:r>
            <a:r>
              <a:rPr kumimoji="0" lang="pt-BR" sz="1200" b="1" i="0" u="none" strike="noStrike" kern="0" cap="none" spc="0" normalizeH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Templates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00" name="Rectangle 107"/>
          <p:cNvSpPr>
            <a:spLocks/>
          </p:cNvSpPr>
          <p:nvPr/>
        </p:nvSpPr>
        <p:spPr bwMode="auto">
          <a:xfrm>
            <a:off x="467831" y="2246823"/>
            <a:ext cx="11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4 dias</a:t>
            </a:r>
          </a:p>
        </p:txBody>
      </p:sp>
      <p:sp>
        <p:nvSpPr>
          <p:cNvPr id="101" name="Rectangle 30"/>
          <p:cNvSpPr>
            <a:spLocks noChangeArrowheads="1"/>
          </p:cNvSpPr>
          <p:nvPr/>
        </p:nvSpPr>
        <p:spPr bwMode="auto">
          <a:xfrm>
            <a:off x="1301896" y="1833655"/>
            <a:ext cx="8340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</a:p>
        </p:txBody>
      </p:sp>
      <p:sp>
        <p:nvSpPr>
          <p:cNvPr id="109" name="Rectangle 30"/>
          <p:cNvSpPr>
            <a:spLocks noChangeArrowheads="1"/>
          </p:cNvSpPr>
          <p:nvPr/>
        </p:nvSpPr>
        <p:spPr bwMode="auto">
          <a:xfrm>
            <a:off x="9684568" y="1021303"/>
            <a:ext cx="42642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3ª Etapa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Elaboração do Relatório</a:t>
            </a:r>
          </a:p>
        </p:txBody>
      </p:sp>
      <p:sp>
        <p:nvSpPr>
          <p:cNvPr id="112" name="Rectangle 30"/>
          <p:cNvSpPr>
            <a:spLocks noChangeArrowheads="1"/>
          </p:cNvSpPr>
          <p:nvPr/>
        </p:nvSpPr>
        <p:spPr bwMode="auto">
          <a:xfrm>
            <a:off x="9866204" y="1631098"/>
            <a:ext cx="1695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4ª Etapa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Apresentação dos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Resultados</a:t>
            </a:r>
          </a:p>
        </p:txBody>
      </p:sp>
      <p:sp>
        <p:nvSpPr>
          <p:cNvPr id="114" name="Rectangle 30"/>
          <p:cNvSpPr>
            <a:spLocks noChangeArrowheads="1"/>
          </p:cNvSpPr>
          <p:nvPr/>
        </p:nvSpPr>
        <p:spPr bwMode="auto">
          <a:xfrm>
            <a:off x="6255806" y="5703923"/>
            <a:ext cx="27492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Apresentação Executiva Final</a:t>
            </a:r>
          </a:p>
        </p:txBody>
      </p:sp>
      <p:sp>
        <p:nvSpPr>
          <p:cNvPr id="120" name="Rectangle 107"/>
          <p:cNvSpPr>
            <a:spLocks/>
          </p:cNvSpPr>
          <p:nvPr/>
        </p:nvSpPr>
        <p:spPr bwMode="auto">
          <a:xfrm>
            <a:off x="1613280" y="2760860"/>
            <a:ext cx="29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10 dias</a:t>
            </a:r>
          </a:p>
        </p:txBody>
      </p:sp>
      <p:sp>
        <p:nvSpPr>
          <p:cNvPr id="121" name="Rectangle 30"/>
          <p:cNvSpPr>
            <a:spLocks noChangeArrowheads="1"/>
          </p:cNvSpPr>
          <p:nvPr/>
        </p:nvSpPr>
        <p:spPr bwMode="auto">
          <a:xfrm>
            <a:off x="4529280" y="2766361"/>
            <a:ext cx="4264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Mapeamento de Atividades</a:t>
            </a:r>
          </a:p>
        </p:txBody>
      </p:sp>
      <p:sp>
        <p:nvSpPr>
          <p:cNvPr id="122" name="Isosceles Triangle 41"/>
          <p:cNvSpPr/>
          <p:nvPr/>
        </p:nvSpPr>
        <p:spPr>
          <a:xfrm>
            <a:off x="1635932" y="2169643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23" name="Rectangle 107"/>
          <p:cNvSpPr>
            <a:spLocks/>
          </p:cNvSpPr>
          <p:nvPr/>
        </p:nvSpPr>
        <p:spPr bwMode="auto">
          <a:xfrm>
            <a:off x="1624750" y="3274897"/>
            <a:ext cx="72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24" name="Rectangle 107"/>
          <p:cNvSpPr>
            <a:spLocks/>
          </p:cNvSpPr>
          <p:nvPr/>
        </p:nvSpPr>
        <p:spPr bwMode="auto">
          <a:xfrm>
            <a:off x="3124274" y="3788934"/>
            <a:ext cx="72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25" name="Rectangle 107"/>
          <p:cNvSpPr>
            <a:spLocks/>
          </p:cNvSpPr>
          <p:nvPr/>
        </p:nvSpPr>
        <p:spPr bwMode="auto">
          <a:xfrm>
            <a:off x="4572514" y="4302971"/>
            <a:ext cx="72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</a:t>
            </a: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dias</a:t>
            </a:r>
          </a:p>
        </p:txBody>
      </p:sp>
      <p:sp>
        <p:nvSpPr>
          <p:cNvPr id="126" name="Rectangle 107"/>
          <p:cNvSpPr>
            <a:spLocks/>
          </p:cNvSpPr>
          <p:nvPr/>
        </p:nvSpPr>
        <p:spPr bwMode="auto">
          <a:xfrm>
            <a:off x="4576564" y="4817008"/>
            <a:ext cx="2916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10 dias</a:t>
            </a:r>
          </a:p>
        </p:txBody>
      </p:sp>
      <p:sp>
        <p:nvSpPr>
          <p:cNvPr id="127" name="Rectangle 107"/>
          <p:cNvSpPr>
            <a:spLocks/>
          </p:cNvSpPr>
          <p:nvPr/>
        </p:nvSpPr>
        <p:spPr bwMode="auto">
          <a:xfrm>
            <a:off x="6062647" y="5319510"/>
            <a:ext cx="2160000" cy="288000"/>
          </a:xfrm>
          <a:prstGeom prst="homePlate">
            <a:avLst/>
          </a:prstGeom>
          <a:solidFill>
            <a:srgbClr val="2D2D8A">
              <a:lumMod val="60000"/>
              <a:lumOff val="40000"/>
            </a:srgbClr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6 dias</a:t>
            </a:r>
          </a:p>
        </p:txBody>
      </p:sp>
      <p:sp>
        <p:nvSpPr>
          <p:cNvPr id="128" name="Rectangle 30"/>
          <p:cNvSpPr>
            <a:spLocks noChangeArrowheads="1"/>
          </p:cNvSpPr>
          <p:nvPr/>
        </p:nvSpPr>
        <p:spPr bwMode="auto">
          <a:xfrm>
            <a:off x="2344750" y="3269396"/>
            <a:ext cx="2988000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 err="1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Macro-Fluxo</a:t>
            </a: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 de Ger. De Incidentes (N1)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29" name="Rectangle 30"/>
          <p:cNvSpPr>
            <a:spLocks noChangeArrowheads="1"/>
          </p:cNvSpPr>
          <p:nvPr/>
        </p:nvSpPr>
        <p:spPr bwMode="auto">
          <a:xfrm>
            <a:off x="3827826" y="3770797"/>
            <a:ext cx="42642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Definição</a:t>
            </a:r>
            <a:r>
              <a:rPr kumimoji="0" lang="pt-BR" sz="1200" b="1" i="0" u="none" strike="noStrike" kern="0" cap="none" spc="0" normalizeH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 de Critérios (N1 x N2)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0" name="Rectangle 30"/>
          <p:cNvSpPr>
            <a:spLocks noChangeArrowheads="1"/>
          </p:cNvSpPr>
          <p:nvPr/>
        </p:nvSpPr>
        <p:spPr bwMode="auto">
          <a:xfrm>
            <a:off x="5328032" y="4288491"/>
            <a:ext cx="3168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Classificação</a:t>
            </a:r>
            <a:r>
              <a:rPr kumimoji="0" lang="pt-BR" sz="1200" b="1" i="0" u="none" strike="noStrike" kern="0" cap="none" spc="0" normalizeH="0" noProof="0" dirty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 das Atividades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1" name="Rectangle 30"/>
          <p:cNvSpPr>
            <a:spLocks noChangeArrowheads="1"/>
          </p:cNvSpPr>
          <p:nvPr/>
        </p:nvSpPr>
        <p:spPr bwMode="auto">
          <a:xfrm>
            <a:off x="2015992" y="4821705"/>
            <a:ext cx="2484000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Elaboração dos Procedimentos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2" name="Rectangle 30"/>
          <p:cNvSpPr>
            <a:spLocks noChangeArrowheads="1"/>
          </p:cNvSpPr>
          <p:nvPr/>
        </p:nvSpPr>
        <p:spPr bwMode="auto">
          <a:xfrm>
            <a:off x="2398092" y="5338828"/>
            <a:ext cx="3600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kern="0" dirty="0">
                <a:solidFill>
                  <a:srgbClr val="EEECE1">
                    <a:lumMod val="10000"/>
                  </a:srgbClr>
                </a:solidFill>
                <a:latin typeface="Cambria" panose="02040503050406030204" pitchFamily="18" charset="0"/>
              </a:rPr>
              <a:t>Validação dos Procedimentos</a:t>
            </a:r>
            <a:endParaRPr kumimoji="0" lang="pt-BR" sz="1200" b="1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33" name="Isosceles Triangle 41"/>
          <p:cNvSpPr/>
          <p:nvPr/>
        </p:nvSpPr>
        <p:spPr>
          <a:xfrm>
            <a:off x="8223412" y="5236042"/>
            <a:ext cx="169671" cy="454936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44016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Tânia Ferro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Apresentação na tela (4:3)</PresentationFormat>
  <Paragraphs>66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Arial</vt:lpstr>
      <vt:lpstr>Calibri</vt:lpstr>
      <vt:lpstr>Cambria</vt:lpstr>
      <vt:lpstr>Gill Sans</vt:lpstr>
      <vt:lpstr>Helvetica</vt:lpstr>
      <vt:lpstr>Segoe UI</vt:lpstr>
      <vt:lpstr>Wingdings</vt:lpstr>
      <vt:lpstr>ヒラギノ角ゴ ProN W3</vt:lpstr>
      <vt:lpstr>Tema do Office</vt:lpstr>
      <vt:lpstr>Status Report Semanal</vt:lpstr>
      <vt:lpstr>Período 04 a 08 de Julho de 2016</vt:lpstr>
      <vt:lpstr>Timeline do Projeto</vt:lpstr>
      <vt:lpstr>Obrigado!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2016-09-05T19:03:19Z</dcterms:modified>
</cp:coreProperties>
</file>