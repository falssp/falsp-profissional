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39" r:id="rId3"/>
    <p:sldId id="340" r:id="rId4"/>
    <p:sldId id="343" r:id="rId5"/>
    <p:sldId id="344" r:id="rId6"/>
    <p:sldId id="341" r:id="rId7"/>
    <p:sldId id="338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6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7F7C8-D24C-4B7F-878A-2BA8E51A4FAE}" type="doc">
      <dgm:prSet loTypeId="urn:microsoft.com/office/officeart/2005/8/layout/hProcess9" loCatId="process" qsTypeId="urn:microsoft.com/office/officeart/2005/8/quickstyle/3d1" qsCatId="3D" csTypeId="urn:microsoft.com/office/officeart/2005/8/colors/accent6_3" csCatId="accent6" phldr="1"/>
      <dgm:spPr/>
    </dgm:pt>
    <dgm:pt modelId="{CA5B2AE2-C141-495D-9956-F696EFFAB54E}">
      <dgm:prSet phldrT="[Texto]" custT="1"/>
      <dgm:spPr/>
      <dgm:t>
        <a:bodyPr/>
        <a:lstStyle/>
        <a:p>
          <a:pPr algn="ctr"/>
          <a:r>
            <a:rPr lang="pt-BR" sz="1600" b="1" dirty="0">
              <a:solidFill>
                <a:schemeClr val="tx1"/>
              </a:solidFill>
              <a:effectLst/>
            </a:rPr>
            <a:t>Agenda de entrevista inicial</a:t>
          </a:r>
        </a:p>
      </dgm:t>
    </dgm:pt>
    <dgm:pt modelId="{29C5DBDA-F1A0-478B-812B-77C8A31DB9F8}" type="parTrans" cxnId="{7E31BFDB-6CCB-43C8-B1A5-CAA0FB5B6CF0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F81A5B6E-86A4-4FF0-B0FB-E3558A8EBCA2}" type="sibTrans" cxnId="{7E31BFDB-6CCB-43C8-B1A5-CAA0FB5B6CF0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3D64DCA7-FFEA-497C-8093-303CFED1A83F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Elaboração de Procedimentos</a:t>
          </a:r>
        </a:p>
      </dgm:t>
    </dgm:pt>
    <dgm:pt modelId="{76EDA620-CDF4-40CE-A838-CC05FA088DFB}" type="parTrans" cxnId="{AF0A2B16-63F4-45FA-9FE5-1BB9D8116296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15628551-F484-4B94-8F47-328147F84F66}" type="sibTrans" cxnId="{AF0A2B16-63F4-45FA-9FE5-1BB9D8116296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E76BD08A-AA04-444E-91B2-7748898FDB96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Listagem das atividades do N1</a:t>
          </a:r>
        </a:p>
      </dgm:t>
    </dgm:pt>
    <dgm:pt modelId="{EB426A12-B8BC-4CD6-A534-7D2499CF750F}" type="parTrans" cxnId="{BBA72AA5-370F-46F7-BB35-EA21DFF672B9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20A428BE-9CD9-460F-84B4-BB1CAC8B61C3}" type="sibTrans" cxnId="{BBA72AA5-370F-46F7-BB35-EA21DFF672B9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BA54B757-812C-41C4-BB7F-2BDA4E18F5C5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Validação dos procedimentos</a:t>
          </a:r>
          <a:endParaRPr lang="pt-BR" sz="16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gm:t>
    </dgm:pt>
    <dgm:pt modelId="{1E92333E-C7F3-42CD-8CC4-9043F45FC825}" type="parTrans" cxnId="{39478248-8333-41BC-BBC7-0C7A5D93308C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0F7B31E0-D2EA-442E-BC76-DE24CCE2ABB2}" type="sibTrans" cxnId="{39478248-8333-41BC-BBC7-0C7A5D93308C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068B94D6-DFEB-4274-A958-6ECF8959A820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Critérios N1 x N2</a:t>
          </a:r>
        </a:p>
      </dgm:t>
    </dgm:pt>
    <dgm:pt modelId="{F747C636-B6D5-412D-BECD-E1C473C25CD0}" type="parTrans" cxnId="{70094070-2B0D-45D4-939B-8AE470B35D43}">
      <dgm:prSet/>
      <dgm:spPr/>
      <dgm:t>
        <a:bodyPr/>
        <a:lstStyle/>
        <a:p>
          <a:endParaRPr lang="pt-BR"/>
        </a:p>
      </dgm:t>
    </dgm:pt>
    <dgm:pt modelId="{4E4899AC-9380-4237-8259-E648431E54A2}" type="sibTrans" cxnId="{70094070-2B0D-45D4-939B-8AE470B35D43}">
      <dgm:prSet/>
      <dgm:spPr/>
      <dgm:t>
        <a:bodyPr/>
        <a:lstStyle/>
        <a:p>
          <a:endParaRPr lang="pt-BR"/>
        </a:p>
      </dgm:t>
    </dgm:pt>
    <dgm:pt modelId="{D689C638-0AC0-48DE-AAE6-EA918B133C73}" type="pres">
      <dgm:prSet presAssocID="{67A7F7C8-D24C-4B7F-878A-2BA8E51A4FAE}" presName="CompostProcess" presStyleCnt="0">
        <dgm:presLayoutVars>
          <dgm:dir/>
          <dgm:resizeHandles val="exact"/>
        </dgm:presLayoutVars>
      </dgm:prSet>
      <dgm:spPr/>
    </dgm:pt>
    <dgm:pt modelId="{27CFC22B-03F1-4AD0-9811-184DDF5812CD}" type="pres">
      <dgm:prSet presAssocID="{67A7F7C8-D24C-4B7F-878A-2BA8E51A4FAE}" presName="arrow" presStyleLbl="bgShp" presStyleIdx="0" presStyleCnt="1" custLinFactNeighborX="1690"/>
      <dgm:spPr/>
    </dgm:pt>
    <dgm:pt modelId="{A7EC4B33-AC65-4C34-8B64-C6744A0147D2}" type="pres">
      <dgm:prSet presAssocID="{67A7F7C8-D24C-4B7F-878A-2BA8E51A4FAE}" presName="linearProcess" presStyleCnt="0"/>
      <dgm:spPr/>
    </dgm:pt>
    <dgm:pt modelId="{6815F125-869F-44BB-B108-D00BF717A51C}" type="pres">
      <dgm:prSet presAssocID="{CA5B2AE2-C141-495D-9956-F696EFFAB54E}" presName="textNode" presStyleLbl="node1" presStyleIdx="0" presStyleCnt="5" custLinFactNeighborX="79836">
        <dgm:presLayoutVars>
          <dgm:bulletEnabled val="1"/>
        </dgm:presLayoutVars>
      </dgm:prSet>
      <dgm:spPr/>
    </dgm:pt>
    <dgm:pt modelId="{9FFF2D63-7AF7-4A73-9F38-49AD124D688D}" type="pres">
      <dgm:prSet presAssocID="{F81A5B6E-86A4-4FF0-B0FB-E3558A8EBCA2}" presName="sibTrans" presStyleCnt="0"/>
      <dgm:spPr/>
    </dgm:pt>
    <dgm:pt modelId="{5B31E837-BB2F-4832-BEE8-56E78D2FBF24}" type="pres">
      <dgm:prSet presAssocID="{E76BD08A-AA04-444E-91B2-7748898FDB96}" presName="textNode" presStyleLbl="node1" presStyleIdx="1" presStyleCnt="5" custLinFactNeighborX="58820">
        <dgm:presLayoutVars>
          <dgm:bulletEnabled val="1"/>
        </dgm:presLayoutVars>
      </dgm:prSet>
      <dgm:spPr/>
    </dgm:pt>
    <dgm:pt modelId="{CC7E0E20-3ED8-4199-9162-266EE4AD7DB2}" type="pres">
      <dgm:prSet presAssocID="{20A428BE-9CD9-460F-84B4-BB1CAC8B61C3}" presName="sibTrans" presStyleCnt="0"/>
      <dgm:spPr/>
    </dgm:pt>
    <dgm:pt modelId="{D481F1BF-612D-4901-B6E3-8AE82A543B3D}" type="pres">
      <dgm:prSet presAssocID="{068B94D6-DFEB-4274-A958-6ECF8959A820}" presName="textNode" presStyleLbl="node1" presStyleIdx="2" presStyleCnt="5" custLinFactNeighborX="58820">
        <dgm:presLayoutVars>
          <dgm:bulletEnabled val="1"/>
        </dgm:presLayoutVars>
      </dgm:prSet>
      <dgm:spPr/>
    </dgm:pt>
    <dgm:pt modelId="{0EEC3437-7C59-41C5-88BC-8D704FEBAD6D}" type="pres">
      <dgm:prSet presAssocID="{4E4899AC-9380-4237-8259-E648431E54A2}" presName="sibTrans" presStyleCnt="0"/>
      <dgm:spPr/>
    </dgm:pt>
    <dgm:pt modelId="{948B9AC7-87D8-4F05-9F72-A6EEE3AFB3E5}" type="pres">
      <dgm:prSet presAssocID="{3D64DCA7-FFEA-497C-8093-303CFED1A83F}" presName="textNode" presStyleLbl="node1" presStyleIdx="3" presStyleCnt="5" custLinFactNeighborX="58820">
        <dgm:presLayoutVars>
          <dgm:bulletEnabled val="1"/>
        </dgm:presLayoutVars>
      </dgm:prSet>
      <dgm:spPr/>
    </dgm:pt>
    <dgm:pt modelId="{B8FEBB4D-E8AE-4835-AFE4-4533FA7E3717}" type="pres">
      <dgm:prSet presAssocID="{15628551-F484-4B94-8F47-328147F84F66}" presName="sibTrans" presStyleCnt="0"/>
      <dgm:spPr/>
    </dgm:pt>
    <dgm:pt modelId="{460245C9-E188-460A-81EE-9D62C7E93D36}" type="pres">
      <dgm:prSet presAssocID="{BA54B757-812C-41C4-BB7F-2BDA4E18F5C5}" presName="textNode" presStyleLbl="node1" presStyleIdx="4" presStyleCnt="5" custLinFactNeighborX="-11714">
        <dgm:presLayoutVars>
          <dgm:bulletEnabled val="1"/>
        </dgm:presLayoutVars>
      </dgm:prSet>
      <dgm:spPr/>
    </dgm:pt>
  </dgm:ptLst>
  <dgm:cxnLst>
    <dgm:cxn modelId="{68566F6E-1DEA-4DF8-8114-6B299FD60A64}" type="presOf" srcId="{67A7F7C8-D24C-4B7F-878A-2BA8E51A4FAE}" destId="{D689C638-0AC0-48DE-AAE6-EA918B133C73}" srcOrd="0" destOrd="0" presId="urn:microsoft.com/office/officeart/2005/8/layout/hProcess9"/>
    <dgm:cxn modelId="{0AEE9F8A-DD41-4129-A25C-E8972EA0F79F}" type="presOf" srcId="{CA5B2AE2-C141-495D-9956-F696EFFAB54E}" destId="{6815F125-869F-44BB-B108-D00BF717A51C}" srcOrd="0" destOrd="0" presId="urn:microsoft.com/office/officeart/2005/8/layout/hProcess9"/>
    <dgm:cxn modelId="{7E31BFDB-6CCB-43C8-B1A5-CAA0FB5B6CF0}" srcId="{67A7F7C8-D24C-4B7F-878A-2BA8E51A4FAE}" destId="{CA5B2AE2-C141-495D-9956-F696EFFAB54E}" srcOrd="0" destOrd="0" parTransId="{29C5DBDA-F1A0-478B-812B-77C8A31DB9F8}" sibTransId="{F81A5B6E-86A4-4FF0-B0FB-E3558A8EBCA2}"/>
    <dgm:cxn modelId="{8E258D27-DB99-497E-984D-BF4E1478F6AB}" type="presOf" srcId="{3D64DCA7-FFEA-497C-8093-303CFED1A83F}" destId="{948B9AC7-87D8-4F05-9F72-A6EEE3AFB3E5}" srcOrd="0" destOrd="0" presId="urn:microsoft.com/office/officeart/2005/8/layout/hProcess9"/>
    <dgm:cxn modelId="{BBA72AA5-370F-46F7-BB35-EA21DFF672B9}" srcId="{67A7F7C8-D24C-4B7F-878A-2BA8E51A4FAE}" destId="{E76BD08A-AA04-444E-91B2-7748898FDB96}" srcOrd="1" destOrd="0" parTransId="{EB426A12-B8BC-4CD6-A534-7D2499CF750F}" sibTransId="{20A428BE-9CD9-460F-84B4-BB1CAC8B61C3}"/>
    <dgm:cxn modelId="{70094070-2B0D-45D4-939B-8AE470B35D43}" srcId="{67A7F7C8-D24C-4B7F-878A-2BA8E51A4FAE}" destId="{068B94D6-DFEB-4274-A958-6ECF8959A820}" srcOrd="2" destOrd="0" parTransId="{F747C636-B6D5-412D-BECD-E1C473C25CD0}" sibTransId="{4E4899AC-9380-4237-8259-E648431E54A2}"/>
    <dgm:cxn modelId="{39478248-8333-41BC-BBC7-0C7A5D93308C}" srcId="{67A7F7C8-D24C-4B7F-878A-2BA8E51A4FAE}" destId="{BA54B757-812C-41C4-BB7F-2BDA4E18F5C5}" srcOrd="4" destOrd="0" parTransId="{1E92333E-C7F3-42CD-8CC4-9043F45FC825}" sibTransId="{0F7B31E0-D2EA-442E-BC76-DE24CCE2ABB2}"/>
    <dgm:cxn modelId="{8BE54315-2D52-4B0B-AC20-4378D1974D26}" type="presOf" srcId="{BA54B757-812C-41C4-BB7F-2BDA4E18F5C5}" destId="{460245C9-E188-460A-81EE-9D62C7E93D36}" srcOrd="0" destOrd="0" presId="urn:microsoft.com/office/officeart/2005/8/layout/hProcess9"/>
    <dgm:cxn modelId="{CB3D1E65-F350-430F-8DAC-15F1A8E7957E}" type="presOf" srcId="{E76BD08A-AA04-444E-91B2-7748898FDB96}" destId="{5B31E837-BB2F-4832-BEE8-56E78D2FBF24}" srcOrd="0" destOrd="0" presId="urn:microsoft.com/office/officeart/2005/8/layout/hProcess9"/>
    <dgm:cxn modelId="{AF0A2B16-63F4-45FA-9FE5-1BB9D8116296}" srcId="{67A7F7C8-D24C-4B7F-878A-2BA8E51A4FAE}" destId="{3D64DCA7-FFEA-497C-8093-303CFED1A83F}" srcOrd="3" destOrd="0" parTransId="{76EDA620-CDF4-40CE-A838-CC05FA088DFB}" sibTransId="{15628551-F484-4B94-8F47-328147F84F66}"/>
    <dgm:cxn modelId="{8641BBC4-6580-4BCC-A242-97264E915756}" type="presOf" srcId="{068B94D6-DFEB-4274-A958-6ECF8959A820}" destId="{D481F1BF-612D-4901-B6E3-8AE82A543B3D}" srcOrd="0" destOrd="0" presId="urn:microsoft.com/office/officeart/2005/8/layout/hProcess9"/>
    <dgm:cxn modelId="{2D6E07E4-2945-4110-A742-22F5578B90B7}" type="presParOf" srcId="{D689C638-0AC0-48DE-AAE6-EA918B133C73}" destId="{27CFC22B-03F1-4AD0-9811-184DDF5812CD}" srcOrd="0" destOrd="0" presId="urn:microsoft.com/office/officeart/2005/8/layout/hProcess9"/>
    <dgm:cxn modelId="{27C2FD91-647D-4E7B-8541-FDC30D01EA08}" type="presParOf" srcId="{D689C638-0AC0-48DE-AAE6-EA918B133C73}" destId="{A7EC4B33-AC65-4C34-8B64-C6744A0147D2}" srcOrd="1" destOrd="0" presId="urn:microsoft.com/office/officeart/2005/8/layout/hProcess9"/>
    <dgm:cxn modelId="{7A3BAF40-770C-4DAF-B19C-6B8435A4FD4D}" type="presParOf" srcId="{A7EC4B33-AC65-4C34-8B64-C6744A0147D2}" destId="{6815F125-869F-44BB-B108-D00BF717A51C}" srcOrd="0" destOrd="0" presId="urn:microsoft.com/office/officeart/2005/8/layout/hProcess9"/>
    <dgm:cxn modelId="{44039D5C-A33F-4149-AF62-322537688BBB}" type="presParOf" srcId="{A7EC4B33-AC65-4C34-8B64-C6744A0147D2}" destId="{9FFF2D63-7AF7-4A73-9F38-49AD124D688D}" srcOrd="1" destOrd="0" presId="urn:microsoft.com/office/officeart/2005/8/layout/hProcess9"/>
    <dgm:cxn modelId="{EC9D7464-39E7-45A6-A38C-1CF7700CABFC}" type="presParOf" srcId="{A7EC4B33-AC65-4C34-8B64-C6744A0147D2}" destId="{5B31E837-BB2F-4832-BEE8-56E78D2FBF24}" srcOrd="2" destOrd="0" presId="urn:microsoft.com/office/officeart/2005/8/layout/hProcess9"/>
    <dgm:cxn modelId="{97F3891D-65C5-406F-9F64-84BB59776A80}" type="presParOf" srcId="{A7EC4B33-AC65-4C34-8B64-C6744A0147D2}" destId="{CC7E0E20-3ED8-4199-9162-266EE4AD7DB2}" srcOrd="3" destOrd="0" presId="urn:microsoft.com/office/officeart/2005/8/layout/hProcess9"/>
    <dgm:cxn modelId="{FD3AFFB9-9002-41CA-ADD5-9B986E08624B}" type="presParOf" srcId="{A7EC4B33-AC65-4C34-8B64-C6744A0147D2}" destId="{D481F1BF-612D-4901-B6E3-8AE82A543B3D}" srcOrd="4" destOrd="0" presId="urn:microsoft.com/office/officeart/2005/8/layout/hProcess9"/>
    <dgm:cxn modelId="{924F9BBC-F432-45F6-9BC9-121A733BF819}" type="presParOf" srcId="{A7EC4B33-AC65-4C34-8B64-C6744A0147D2}" destId="{0EEC3437-7C59-41C5-88BC-8D704FEBAD6D}" srcOrd="5" destOrd="0" presId="urn:microsoft.com/office/officeart/2005/8/layout/hProcess9"/>
    <dgm:cxn modelId="{9C3697AE-101E-4117-8B3E-0E016B8A4997}" type="presParOf" srcId="{A7EC4B33-AC65-4C34-8B64-C6744A0147D2}" destId="{948B9AC7-87D8-4F05-9F72-A6EEE3AFB3E5}" srcOrd="6" destOrd="0" presId="urn:microsoft.com/office/officeart/2005/8/layout/hProcess9"/>
    <dgm:cxn modelId="{62818501-FF93-48CF-909E-0F249E5F824F}" type="presParOf" srcId="{A7EC4B33-AC65-4C34-8B64-C6744A0147D2}" destId="{B8FEBB4D-E8AE-4835-AFE4-4533FA7E3717}" srcOrd="7" destOrd="0" presId="urn:microsoft.com/office/officeart/2005/8/layout/hProcess9"/>
    <dgm:cxn modelId="{347D29B9-B240-418F-82A7-EF10E9A0B2F7}" type="presParOf" srcId="{A7EC4B33-AC65-4C34-8B64-C6744A0147D2}" destId="{460245C9-E188-460A-81EE-9D62C7E93D36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C22B-03F1-4AD0-9811-184DDF5812CD}">
      <dsp:nvSpPr>
        <dsp:cNvPr id="0" name=""/>
        <dsp:cNvSpPr/>
      </dsp:nvSpPr>
      <dsp:spPr>
        <a:xfrm>
          <a:off x="891874" y="0"/>
          <a:ext cx="8483116" cy="4769292"/>
        </a:xfrm>
        <a:prstGeom prst="rightArrow">
          <a:avLst/>
        </a:prstGeom>
        <a:gradFill rotWithShape="0">
          <a:gsLst>
            <a:gs pos="0">
              <a:schemeClr val="accent6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815F125-869F-44BB-B108-D00BF717A51C}">
      <dsp:nvSpPr>
        <dsp:cNvPr id="0" name=""/>
        <dsp:cNvSpPr/>
      </dsp:nvSpPr>
      <dsp:spPr>
        <a:xfrm>
          <a:off x="237131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tx1"/>
              </a:solidFill>
              <a:effectLst/>
            </a:rPr>
            <a:t>Agenda de entrevista inicial</a:t>
          </a:r>
        </a:p>
      </dsp:txBody>
      <dsp:txXfrm>
        <a:off x="323055" y="1516711"/>
        <a:ext cx="1588320" cy="1735868"/>
      </dsp:txXfrm>
    </dsp:sp>
    <dsp:sp modelId="{5B31E837-BB2F-4832-BEE8-56E78D2FBF24}">
      <dsp:nvSpPr>
        <dsp:cNvPr id="0" name=""/>
        <dsp:cNvSpPr/>
      </dsp:nvSpPr>
      <dsp:spPr>
        <a:xfrm>
          <a:off x="2229009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95423"/>
                <a:satOff val="4252"/>
                <a:lumOff val="594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95423"/>
                <a:satOff val="4252"/>
                <a:lumOff val="594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Listagem das atividades do N1</a:t>
          </a:r>
        </a:p>
      </dsp:txBody>
      <dsp:txXfrm>
        <a:off x="2314933" y="1516711"/>
        <a:ext cx="1588320" cy="1735868"/>
      </dsp:txXfrm>
    </dsp:sp>
    <dsp:sp modelId="{D481F1BF-612D-4901-B6E3-8AE82A543B3D}">
      <dsp:nvSpPr>
        <dsp:cNvPr id="0" name=""/>
        <dsp:cNvSpPr/>
      </dsp:nvSpPr>
      <dsp:spPr>
        <a:xfrm>
          <a:off x="4282539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190846"/>
                <a:satOff val="8505"/>
                <a:lumOff val="1188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190846"/>
                <a:satOff val="8505"/>
                <a:lumOff val="1188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Critérios N1 x N2</a:t>
          </a:r>
        </a:p>
      </dsp:txBody>
      <dsp:txXfrm>
        <a:off x="4368463" y="1516711"/>
        <a:ext cx="1588320" cy="1735868"/>
      </dsp:txXfrm>
    </dsp:sp>
    <dsp:sp modelId="{948B9AC7-87D8-4F05-9F72-A6EEE3AFB3E5}">
      <dsp:nvSpPr>
        <dsp:cNvPr id="0" name=""/>
        <dsp:cNvSpPr/>
      </dsp:nvSpPr>
      <dsp:spPr>
        <a:xfrm>
          <a:off x="6336069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286269"/>
                <a:satOff val="12757"/>
                <a:lumOff val="1783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286269"/>
                <a:satOff val="12757"/>
                <a:lumOff val="1783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Elaboração de Procedimentos</a:t>
          </a:r>
        </a:p>
      </dsp:txBody>
      <dsp:txXfrm>
        <a:off x="6421993" y="1516711"/>
        <a:ext cx="1588320" cy="1735868"/>
      </dsp:txXfrm>
    </dsp:sp>
    <dsp:sp modelId="{460245C9-E188-460A-81EE-9D62C7E93D36}">
      <dsp:nvSpPr>
        <dsp:cNvPr id="0" name=""/>
        <dsp:cNvSpPr/>
      </dsp:nvSpPr>
      <dsp:spPr>
        <a:xfrm>
          <a:off x="8182680" y="1430787"/>
          <a:ext cx="1760168" cy="1907716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381692"/>
                <a:satOff val="17009"/>
                <a:lumOff val="2377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381692"/>
                <a:satOff val="17009"/>
                <a:lumOff val="2377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Validação dos procedimentos</a:t>
          </a:r>
          <a:endParaRPr lang="pt-BR" sz="16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sp:txBody>
      <dsp:txXfrm>
        <a:off x="8268604" y="1516711"/>
        <a:ext cx="1588320" cy="17358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79" y="5769975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695350"/>
            <a:ext cx="5688627" cy="5039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Assessment</a:t>
            </a:r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N1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Procedimentos de Suporte N1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Infraestrutura e Operações de TI</a:t>
            </a: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Julho</a:t>
            </a:r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/2016</a:t>
            </a: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757" y="3975096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25" y="4029096"/>
            <a:ext cx="1080000" cy="1080000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SUMÁRIO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Equipe do Projeto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Próximos 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Passos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Levantamento e mapeamento detalhado de todos os procedimentos N1 na equipe de operações de TI </a:t>
            </a:r>
            <a:r>
              <a:rPr lang="pt-BR" dirty="0" err="1">
                <a:solidFill>
                  <a:schemeClr val="tx1"/>
                </a:solidFill>
              </a:rPr>
              <a:t>Smiles</a:t>
            </a:r>
            <a:r>
              <a:rPr lang="pt-BR" dirty="0">
                <a:solidFill>
                  <a:schemeClr val="tx1"/>
                </a:solidFill>
              </a:rPr>
              <a:t> (Infraestrutura, Suporte Siebel, Suporte </a:t>
            </a:r>
            <a:r>
              <a:rPr lang="pt-BR" dirty="0" err="1">
                <a:solidFill>
                  <a:schemeClr val="tx1"/>
                </a:solidFill>
              </a:rPr>
              <a:t>Right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Now</a:t>
            </a:r>
            <a:r>
              <a:rPr lang="pt-BR" dirty="0">
                <a:solidFill>
                  <a:schemeClr val="tx1"/>
                </a:solidFill>
              </a:rPr>
              <a:t>, Suporte Site, e monitoramento de arquivos EDI);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Identificação de procedimentos elegíveis ao N1;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Criação de procedimentos N1;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Validação de procedimentos junto à área de TI </a:t>
            </a:r>
            <a:r>
              <a:rPr lang="pt-BR" dirty="0" err="1">
                <a:solidFill>
                  <a:schemeClr val="tx1"/>
                </a:solidFill>
              </a:rPr>
              <a:t>Smiles</a:t>
            </a:r>
            <a:r>
              <a:rPr lang="pt-BR" dirty="0">
                <a:solidFill>
                  <a:schemeClr val="tx1"/>
                </a:solidFill>
              </a:rPr>
              <a:t> (teste de mesa);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Ajustes de procedimentos.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09182" y="1032431"/>
            <a:ext cx="9916672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Equipe do Projeto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1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613956"/>
              </p:ext>
            </p:extLst>
          </p:nvPr>
        </p:nvGraphicFramePr>
        <p:xfrm>
          <a:off x="304099" y="1841678"/>
          <a:ext cx="9599756" cy="417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9878">
                  <a:extLst>
                    <a:ext uri="{9D8B030D-6E8A-4147-A177-3AD203B41FA5}">
                      <a16:colId xmlns:a16="http://schemas.microsoft.com/office/drawing/2014/main" val="3070608209"/>
                    </a:ext>
                  </a:extLst>
                </a:gridCol>
                <a:gridCol w="4799878">
                  <a:extLst>
                    <a:ext uri="{9D8B030D-6E8A-4147-A177-3AD203B41FA5}">
                      <a16:colId xmlns:a16="http://schemas.microsoft.com/office/drawing/2014/main" val="1654572530"/>
                    </a:ext>
                  </a:extLst>
                </a:gridCol>
              </a:tblGrid>
              <a:tr h="3631843">
                <a:tc>
                  <a:txBody>
                    <a:bodyPr/>
                    <a:lstStyle/>
                    <a:p>
                      <a:pPr algn="ctr"/>
                      <a:r>
                        <a:rPr lang="pt-BR" sz="2800" b="1" baseline="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Chacon</a:t>
                      </a:r>
                      <a:r>
                        <a:rPr lang="pt-BR" sz="2800" b="1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| Ilimitada</a:t>
                      </a:r>
                    </a:p>
                    <a:p>
                      <a:pPr algn="l"/>
                      <a:endParaRPr lang="pt-BR" sz="2000" baseline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baseline="0" dirty="0">
                          <a:solidFill>
                            <a:schemeClr val="tx1"/>
                          </a:solidFill>
                          <a:effectLst/>
                        </a:rPr>
                        <a:t>Adolpho </a:t>
                      </a:r>
                      <a:r>
                        <a:rPr lang="pt-BR" sz="2000" b="0" i="0" baseline="0" dirty="0" err="1">
                          <a:solidFill>
                            <a:schemeClr val="tx1"/>
                          </a:solidFill>
                          <a:effectLst/>
                        </a:rPr>
                        <a:t>Chacon</a:t>
                      </a:r>
                      <a:r>
                        <a:rPr lang="pt-BR" sz="2000" b="0" i="0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baseline="0" dirty="0">
                          <a:solidFill>
                            <a:schemeClr val="tx1"/>
                          </a:solidFill>
                          <a:effectLst/>
                        </a:rPr>
                        <a:t>Jorge  Maluf </a:t>
                      </a: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baseline="0" dirty="0">
                          <a:solidFill>
                            <a:schemeClr val="tx1"/>
                          </a:solidFill>
                          <a:effectLst/>
                        </a:rPr>
                        <a:t>Tânia Ferro </a:t>
                      </a: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baseline="0" dirty="0">
                          <a:solidFill>
                            <a:schemeClr val="tx1"/>
                          </a:solidFill>
                          <a:effectLst/>
                        </a:rPr>
                        <a:t>André Santos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>
                            <a:outerShdw blurRad="50800" dist="38100" dir="5400000" algn="t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pt-BR" sz="28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>
                            <a:outerShdw blurRad="50800" dist="38100" dir="5400000" algn="t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</a:rPr>
                        <a:t>Smiles</a:t>
                      </a:r>
                      <a:endParaRPr lang="pt-BR" sz="2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>
                          <a:outerShdw blurRad="50800" dist="38100" dir="5400000" algn="t" rotWithShape="0">
                            <a:schemeClr val="bg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pPr algn="ctr"/>
                      <a:endParaRPr lang="pt-BR" sz="20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>
                          <a:outerShdw blurRad="50800" dist="38100" dir="5400000" algn="t" rotWithShape="0">
                            <a:schemeClr val="bg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Sponsor</a:t>
                      </a: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Adriano Barbosa</a:t>
                      </a: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Responsáveis</a:t>
                      </a: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Nei / Savioli</a:t>
                      </a: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endParaRPr lang="pt-BR" sz="20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:</a:t>
                      </a: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Luis</a:t>
                      </a: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Savioli – Siebel / </a:t>
                      </a:r>
                      <a:r>
                        <a:rPr lang="pt-BR" sz="2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Rightnow</a:t>
                      </a:r>
                      <a:endParaRPr lang="pt-BR" sz="20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Jonathas Souza – </a:t>
                      </a:r>
                      <a:r>
                        <a:rPr lang="pt-BR" sz="2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Rightnow</a:t>
                      </a: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 Site 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Adolfo Nunes – Site</a:t>
                      </a: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Cláudio Cunha – Infraestrutura </a:t>
                      </a: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Borges – Infraestrutura</a:t>
                      </a: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Bruno </a:t>
                      </a:r>
                      <a:r>
                        <a:rPr lang="pt-BR" sz="2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Serpeloni</a:t>
                      </a: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EDI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Raul Souza – EDI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01638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21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0" y="1100671"/>
            <a:ext cx="1002585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806000"/>
              </p:ext>
            </p:extLst>
          </p:nvPr>
        </p:nvGraphicFramePr>
        <p:xfrm>
          <a:off x="95535" y="1986819"/>
          <a:ext cx="9935570" cy="4302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831217">
                  <a:extLst>
                    <a:ext uri="{9D8B030D-6E8A-4147-A177-3AD203B41FA5}">
                      <a16:colId xmlns:a16="http://schemas.microsoft.com/office/drawing/2014/main" val="4209339343"/>
                    </a:ext>
                  </a:extLst>
                </a:gridCol>
                <a:gridCol w="1515571">
                  <a:extLst>
                    <a:ext uri="{9D8B030D-6E8A-4147-A177-3AD203B41FA5}">
                      <a16:colId xmlns:a16="http://schemas.microsoft.com/office/drawing/2014/main" val="2360409619"/>
                    </a:ext>
                  </a:extLst>
                </a:gridCol>
                <a:gridCol w="1515571">
                  <a:extLst>
                    <a:ext uri="{9D8B030D-6E8A-4147-A177-3AD203B41FA5}">
                      <a16:colId xmlns:a16="http://schemas.microsoft.com/office/drawing/2014/main" val="1020117848"/>
                    </a:ext>
                  </a:extLst>
                </a:gridCol>
                <a:gridCol w="1515571">
                  <a:extLst>
                    <a:ext uri="{9D8B030D-6E8A-4147-A177-3AD203B41FA5}">
                      <a16:colId xmlns:a16="http://schemas.microsoft.com/office/drawing/2014/main" val="2124752583"/>
                    </a:ext>
                  </a:extLst>
                </a:gridCol>
                <a:gridCol w="1515571">
                  <a:extLst>
                    <a:ext uri="{9D8B030D-6E8A-4147-A177-3AD203B41FA5}">
                      <a16:colId xmlns:a16="http://schemas.microsoft.com/office/drawing/2014/main" val="2442698188"/>
                    </a:ext>
                  </a:extLst>
                </a:gridCol>
                <a:gridCol w="2042069">
                  <a:extLst>
                    <a:ext uri="{9D8B030D-6E8A-4147-A177-3AD203B41FA5}">
                      <a16:colId xmlns:a16="http://schemas.microsoft.com/office/drawing/2014/main" val="832855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  <a:r>
                        <a:rPr lang="pt-BR" baseline="0" dirty="0"/>
                        <a:t> - 02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 –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25 - 29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r>
                        <a:rPr lang="pt-BR" baseline="0" dirty="0"/>
                        <a:t> - 2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16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824416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893558"/>
              </p:ext>
            </p:extLst>
          </p:nvPr>
        </p:nvGraphicFramePr>
        <p:xfrm>
          <a:off x="95535" y="1628917"/>
          <a:ext cx="9930319" cy="36576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274183">
                  <a:extLst>
                    <a:ext uri="{9D8B030D-6E8A-4147-A177-3AD203B41FA5}">
                      <a16:colId xmlns:a16="http://schemas.microsoft.com/office/drawing/2014/main" val="3400583051"/>
                    </a:ext>
                  </a:extLst>
                </a:gridCol>
                <a:gridCol w="6711819">
                  <a:extLst>
                    <a:ext uri="{9D8B030D-6E8A-4147-A177-3AD203B41FA5}">
                      <a16:colId xmlns:a16="http://schemas.microsoft.com/office/drawing/2014/main" val="3871079426"/>
                    </a:ext>
                  </a:extLst>
                </a:gridCol>
                <a:gridCol w="1944317">
                  <a:extLst>
                    <a:ext uri="{9D8B030D-6E8A-4147-A177-3AD203B41FA5}">
                      <a16:colId xmlns:a16="http://schemas.microsoft.com/office/drawing/2014/main" val="578795643"/>
                    </a:ext>
                  </a:extLst>
                </a:gridCol>
              </a:tblGrid>
              <a:tr h="33890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47156"/>
                  </a:ext>
                </a:extLst>
              </a:tr>
            </a:tbl>
          </a:graphicData>
        </a:graphic>
      </p:graphicFrame>
      <p:sp>
        <p:nvSpPr>
          <p:cNvPr id="11" name="Pentágono 10"/>
          <p:cNvSpPr/>
          <p:nvPr/>
        </p:nvSpPr>
        <p:spPr>
          <a:xfrm>
            <a:off x="413942" y="2513761"/>
            <a:ext cx="1826982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4 dias</a:t>
            </a:r>
          </a:p>
        </p:txBody>
      </p:sp>
      <p:sp>
        <p:nvSpPr>
          <p:cNvPr id="13" name="Pentágono 12"/>
          <p:cNvSpPr/>
          <p:nvPr/>
        </p:nvSpPr>
        <p:spPr>
          <a:xfrm>
            <a:off x="1906073" y="3031898"/>
            <a:ext cx="3026534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10 dias</a:t>
            </a:r>
          </a:p>
        </p:txBody>
      </p:sp>
      <p:sp>
        <p:nvSpPr>
          <p:cNvPr id="14" name="Pentágono 13"/>
          <p:cNvSpPr/>
          <p:nvPr/>
        </p:nvSpPr>
        <p:spPr>
          <a:xfrm>
            <a:off x="1951144" y="3511400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2 dias</a:t>
            </a:r>
          </a:p>
        </p:txBody>
      </p:sp>
      <p:sp>
        <p:nvSpPr>
          <p:cNvPr id="15" name="Pentágono 14"/>
          <p:cNvSpPr/>
          <p:nvPr/>
        </p:nvSpPr>
        <p:spPr>
          <a:xfrm>
            <a:off x="2910621" y="3937531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2 dias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Pentágono 15"/>
          <p:cNvSpPr/>
          <p:nvPr/>
        </p:nvSpPr>
        <p:spPr>
          <a:xfrm>
            <a:off x="4933207" y="4782858"/>
            <a:ext cx="3178334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10 dias</a:t>
            </a:r>
          </a:p>
        </p:txBody>
      </p:sp>
      <p:sp>
        <p:nvSpPr>
          <p:cNvPr id="17" name="Pentágono 16"/>
          <p:cNvSpPr/>
          <p:nvPr/>
        </p:nvSpPr>
        <p:spPr>
          <a:xfrm>
            <a:off x="6478072" y="5321622"/>
            <a:ext cx="2614635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6 dias</a:t>
            </a:r>
          </a:p>
        </p:txBody>
      </p:sp>
      <p:sp>
        <p:nvSpPr>
          <p:cNvPr id="18" name="Pentágono 17"/>
          <p:cNvSpPr/>
          <p:nvPr/>
        </p:nvSpPr>
        <p:spPr>
          <a:xfrm>
            <a:off x="4579037" y="4315391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2 dias</a:t>
            </a:r>
          </a:p>
        </p:txBody>
      </p:sp>
      <p:sp>
        <p:nvSpPr>
          <p:cNvPr id="12" name="Octógono 11"/>
          <p:cNvSpPr/>
          <p:nvPr/>
        </p:nvSpPr>
        <p:spPr>
          <a:xfrm>
            <a:off x="9092707" y="5898525"/>
            <a:ext cx="411899" cy="321972"/>
          </a:xfrm>
          <a:prstGeom prst="octagon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2189178" y="2526231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Mobilização</a:t>
            </a:r>
            <a:r>
              <a:rPr lang="en-US" sz="1400" dirty="0">
                <a:cs typeface="Gotham Rounded Book"/>
              </a:rPr>
              <a:t> da </a:t>
            </a:r>
            <a:r>
              <a:rPr lang="en-US" sz="1400" dirty="0" err="1">
                <a:cs typeface="Gotham Rounded Book"/>
              </a:rPr>
              <a:t>equipe</a:t>
            </a:r>
            <a:r>
              <a:rPr lang="en-US" sz="1400" dirty="0">
                <a:cs typeface="Gotham Rounded Book"/>
              </a:rPr>
              <a:t>, Kick-off e Templates</a:t>
            </a:r>
          </a:p>
        </p:txBody>
      </p:sp>
      <p:sp>
        <p:nvSpPr>
          <p:cNvPr id="22" name="TextBox 8"/>
          <p:cNvSpPr txBox="1"/>
          <p:nvPr/>
        </p:nvSpPr>
        <p:spPr>
          <a:xfrm>
            <a:off x="4893499" y="3039806"/>
            <a:ext cx="4443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Mapeamento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atividades</a:t>
            </a:r>
            <a:endParaRPr lang="en-US" sz="1400" dirty="0">
              <a:cs typeface="Gotham Rounded Book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2856735" y="3541517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Gotham Rounded Book"/>
              </a:rPr>
              <a:t>Macro </a:t>
            </a:r>
            <a:r>
              <a:rPr lang="en-US" sz="1400" dirty="0" err="1">
                <a:cs typeface="Gotham Rounded Book"/>
              </a:rPr>
              <a:t>fluxo</a:t>
            </a:r>
            <a:r>
              <a:rPr lang="en-US" sz="1400" dirty="0">
                <a:cs typeface="Gotham Rounded Book"/>
              </a:rPr>
              <a:t> de Ger. de </a:t>
            </a:r>
            <a:r>
              <a:rPr lang="en-US" sz="1400" dirty="0" err="1">
                <a:cs typeface="Gotham Rounded Book"/>
              </a:rPr>
              <a:t>Incidentes</a:t>
            </a:r>
            <a:endParaRPr lang="en-US" sz="1400" dirty="0">
              <a:cs typeface="Gotham Rounded Book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3796888" y="3966519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Definição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critérios</a:t>
            </a:r>
            <a:r>
              <a:rPr lang="en-US" sz="1400" dirty="0">
                <a:cs typeface="Gotham Rounded Book"/>
              </a:rPr>
              <a:t> de N1 e N2</a:t>
            </a:r>
          </a:p>
        </p:txBody>
      </p:sp>
      <p:sp>
        <p:nvSpPr>
          <p:cNvPr id="26" name="TextBox 8"/>
          <p:cNvSpPr txBox="1"/>
          <p:nvPr/>
        </p:nvSpPr>
        <p:spPr>
          <a:xfrm>
            <a:off x="5507632" y="4337862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Classificação</a:t>
            </a:r>
            <a:r>
              <a:rPr lang="en-US" sz="1400" dirty="0">
                <a:cs typeface="Gotham Rounded Book"/>
              </a:rPr>
              <a:t> as </a:t>
            </a:r>
            <a:r>
              <a:rPr lang="en-US" sz="1400" dirty="0" err="1">
                <a:cs typeface="Gotham Rounded Book"/>
              </a:rPr>
              <a:t>atividades</a:t>
            </a:r>
            <a:r>
              <a:rPr lang="en-US" sz="1400" dirty="0">
                <a:cs typeface="Gotham Rounded Book"/>
              </a:rPr>
              <a:t> de N1 e N2</a:t>
            </a:r>
          </a:p>
        </p:txBody>
      </p:sp>
      <p:sp>
        <p:nvSpPr>
          <p:cNvPr id="28" name="TextBox 8"/>
          <p:cNvSpPr txBox="1"/>
          <p:nvPr/>
        </p:nvSpPr>
        <p:spPr>
          <a:xfrm>
            <a:off x="4096513" y="5376744"/>
            <a:ext cx="238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Validação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29" name="TextBox 8"/>
          <p:cNvSpPr txBox="1"/>
          <p:nvPr/>
        </p:nvSpPr>
        <p:spPr>
          <a:xfrm>
            <a:off x="5722831" y="5915511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final e </a:t>
            </a:r>
            <a:r>
              <a:rPr lang="en-US" sz="1400" dirty="0" err="1">
                <a:cs typeface="Gotham Rounded Book"/>
              </a:rPr>
              <a:t>termo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encerramento</a:t>
            </a:r>
            <a:endParaRPr lang="en-US" sz="1400" dirty="0">
              <a:cs typeface="Gotham Rounded Book"/>
            </a:endParaRPr>
          </a:p>
        </p:txBody>
      </p:sp>
      <p:sp>
        <p:nvSpPr>
          <p:cNvPr id="30" name="TextBox 8"/>
          <p:cNvSpPr txBox="1"/>
          <p:nvPr/>
        </p:nvSpPr>
        <p:spPr>
          <a:xfrm>
            <a:off x="2487168" y="4841826"/>
            <a:ext cx="2446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Elaboração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27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</p:spTree>
    <p:extLst>
      <p:ext uri="{BB962C8B-B14F-4D97-AF65-F5344CB8AC3E}">
        <p14:creationId xmlns:p14="http://schemas.microsoft.com/office/powerpoint/2010/main" val="103361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228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PREMISSAS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 </a:t>
            </a:r>
            <a:r>
              <a:rPr lang="pt-BR" sz="1600" b="1" dirty="0">
                <a:solidFill>
                  <a:schemeClr val="tx1"/>
                </a:solidFill>
              </a:rPr>
              <a:t>SMILES </a:t>
            </a:r>
            <a:r>
              <a:rPr lang="pt-BR" sz="1600" dirty="0">
                <a:solidFill>
                  <a:schemeClr val="tx1"/>
                </a:solidFill>
              </a:rPr>
              <a:t>deve designar um responsável pelo projeto, com responsabilidade e autoridade adequadas para validação das entregas </a:t>
            </a:r>
            <a:r>
              <a:rPr lang="pt-BR" sz="1600" b="1" dirty="0">
                <a:solidFill>
                  <a:schemeClr val="tx1"/>
                </a:solidFill>
              </a:rPr>
              <a:t>(validação técnica e aceite)</a:t>
            </a:r>
            <a:r>
              <a:rPr lang="pt-BR" sz="1600" dirty="0">
                <a:solidFill>
                  <a:schemeClr val="tx1"/>
                </a:solidFill>
              </a:rPr>
              <a:t>e intermediação de eventuais barreiras para a execução dos trabalhos;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Os consultores devem possuir acesso ilimitado às informações, resguardando-se todos os requisitos de confidencialidade através </a:t>
            </a:r>
            <a:r>
              <a:rPr lang="pt-BR" sz="1600">
                <a:solidFill>
                  <a:schemeClr val="tx1"/>
                </a:solidFill>
              </a:rPr>
              <a:t>da assinatura de um NDA;</a:t>
            </a: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Todo o consumo de horas trabalhadas será demonstrado em “</a:t>
            </a:r>
            <a:r>
              <a:rPr lang="pt-BR" sz="1600" i="1" dirty="0">
                <a:solidFill>
                  <a:schemeClr val="tx1"/>
                </a:solidFill>
              </a:rPr>
              <a:t>Status </a:t>
            </a:r>
            <a:r>
              <a:rPr lang="pt-BR" sz="1600" i="1" dirty="0" err="1">
                <a:solidFill>
                  <a:schemeClr val="tx1"/>
                </a:solidFill>
              </a:rPr>
              <a:t>Reports</a:t>
            </a:r>
            <a:r>
              <a:rPr lang="pt-BR" sz="1600" i="1" dirty="0">
                <a:solidFill>
                  <a:schemeClr val="tx1"/>
                </a:solidFill>
              </a:rPr>
              <a:t>” </a:t>
            </a:r>
            <a:r>
              <a:rPr lang="pt-BR" sz="1600" dirty="0">
                <a:solidFill>
                  <a:schemeClr val="tx1"/>
                </a:solidFill>
              </a:rPr>
              <a:t>semanais, enviados ao Responsável pelo projeto da </a:t>
            </a:r>
            <a:r>
              <a:rPr lang="pt-BR" sz="1600" b="1" dirty="0">
                <a:solidFill>
                  <a:schemeClr val="tx1"/>
                </a:solidFill>
              </a:rPr>
              <a:t>SMILES</a:t>
            </a:r>
            <a:r>
              <a:rPr lang="pt-BR" sz="1600" dirty="0">
                <a:solidFill>
                  <a:schemeClr val="tx1"/>
                </a:solidFill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Fica estabelecido e acordado que a </a:t>
            </a:r>
            <a:r>
              <a:rPr lang="pt-BR" sz="1600" b="1" dirty="0">
                <a:solidFill>
                  <a:schemeClr val="tx1"/>
                </a:solidFill>
              </a:rPr>
              <a:t>SMILES </a:t>
            </a:r>
            <a:r>
              <a:rPr lang="pt-BR" sz="1600" dirty="0">
                <a:solidFill>
                  <a:schemeClr val="tx1"/>
                </a:solidFill>
              </a:rPr>
              <a:t>não poderá contratar direta ou indiretamente os profissionais alocados pela CHACON | Consultoria Ilimitada, sem autorização prévia e por escrito do sócio administrador da consultoria;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 CHACON | Consultoria Ilimitada se resguarda ao direito de substituir os profissionais alocados por outros que possuam competências equivalentes, mediante situações alheias à sua vontade tais como enfermidades ou licenças, sem prejuízo à </a:t>
            </a:r>
            <a:r>
              <a:rPr lang="pt-BR" sz="1600" b="1" dirty="0">
                <a:solidFill>
                  <a:schemeClr val="tx1"/>
                </a:solidFill>
              </a:rPr>
              <a:t>SMILES </a:t>
            </a:r>
            <a:r>
              <a:rPr lang="pt-BR" sz="1600" dirty="0">
                <a:solidFill>
                  <a:schemeClr val="tx1"/>
                </a:solidFill>
              </a:rPr>
              <a:t>sobre a continuidade dos trabalhos.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</p:spTree>
    <p:extLst>
      <p:ext uri="{BB962C8B-B14F-4D97-AF65-F5344CB8AC3E}">
        <p14:creationId xmlns:p14="http://schemas.microsoft.com/office/powerpoint/2010/main" val="146587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2" name="Retângulo 21"/>
          <p:cNvSpPr/>
          <p:nvPr/>
        </p:nvSpPr>
        <p:spPr>
          <a:xfrm>
            <a:off x="45716" y="1100671"/>
            <a:ext cx="9980138" cy="52228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PRÓXIMOS PASSOS</a:t>
            </a:r>
            <a:endParaRPr lang="pt-BR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200" dirty="0">
              <a:solidFill>
                <a:schemeClr val="tx1"/>
              </a:solidFill>
            </a:endParaRP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</a:rPr>
              <a:t>Entrevistas Iniciais – 04/07/2016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</a:rPr>
              <a:t>Claudio – 14:00 – 16:00</a:t>
            </a:r>
          </a:p>
          <a:p>
            <a:pPr marL="800100" lvl="1" indent="-342900" algn="just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</a:rPr>
              <a:t>Daniel – 16:00 – 17:00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3854686257"/>
              </p:ext>
            </p:extLst>
          </p:nvPr>
        </p:nvGraphicFramePr>
        <p:xfrm>
          <a:off x="45716" y="1327453"/>
          <a:ext cx="9980137" cy="4769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Espaço Reservado para Número de Slid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3161</TotalTime>
  <Words>444</Words>
  <Application>Microsoft Office PowerPoint</Application>
  <PresentationFormat>Personalizar</PresentationFormat>
  <Paragraphs>140</Paragraphs>
  <Slides>7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300</cp:revision>
  <dcterms:created xsi:type="dcterms:W3CDTF">2014-01-24T21:35:00Z</dcterms:created>
  <dcterms:modified xsi:type="dcterms:W3CDTF">2016-07-04T14:02:40Z</dcterms:modified>
</cp:coreProperties>
</file>