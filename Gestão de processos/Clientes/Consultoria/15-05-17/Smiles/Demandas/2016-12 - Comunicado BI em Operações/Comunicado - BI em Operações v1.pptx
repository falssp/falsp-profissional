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6858000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5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218" y="72"/>
      </p:cViewPr>
      <p:guideLst>
        <p:guide orient="horz" pos="3856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14/12/2016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68563" y="685800"/>
            <a:ext cx="19208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802226"/>
            <a:ext cx="5829300" cy="26235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6935789"/>
            <a:ext cx="4800600" cy="312790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2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2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8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7865099"/>
            <a:ext cx="5829300" cy="2430926"/>
          </a:xfrm>
        </p:spPr>
        <p:txBody>
          <a:bodyPr anchor="t"/>
          <a:lstStyle>
            <a:lvl1pPr algn="l">
              <a:defRPr sz="57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5187677"/>
            <a:ext cx="5829300" cy="2677418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4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820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23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64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205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46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873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282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855919"/>
            <a:ext cx="3028950" cy="8077586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739752"/>
            <a:ext cx="3030141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881549"/>
            <a:ext cx="3030141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739752"/>
            <a:ext cx="3031332" cy="1141797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410" indent="0">
              <a:buNone/>
              <a:defRPr sz="2889" b="1"/>
            </a:lvl2pPr>
            <a:lvl3pPr marL="1320820" indent="0">
              <a:buNone/>
              <a:defRPr sz="2600" b="1"/>
            </a:lvl3pPr>
            <a:lvl4pPr marL="1981231" indent="0">
              <a:buNone/>
              <a:defRPr sz="2311" b="1"/>
            </a:lvl4pPr>
            <a:lvl5pPr marL="2641641" indent="0">
              <a:buNone/>
              <a:defRPr sz="2311" b="1"/>
            </a:lvl5pPr>
            <a:lvl6pPr marL="3302051" indent="0">
              <a:buNone/>
              <a:defRPr sz="2311" b="1"/>
            </a:lvl6pPr>
            <a:lvl7pPr marL="3962462" indent="0">
              <a:buNone/>
              <a:defRPr sz="2311" b="1"/>
            </a:lvl7pPr>
            <a:lvl8pPr marL="4622873" indent="0">
              <a:buNone/>
              <a:defRPr sz="2311" b="1"/>
            </a:lvl8pPr>
            <a:lvl9pPr marL="5283282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881549"/>
            <a:ext cx="3031332" cy="7051951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487319"/>
            <a:ext cx="2256235" cy="207393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487326"/>
            <a:ext cx="3833812" cy="104461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561262"/>
            <a:ext cx="2256235" cy="837224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8567737"/>
            <a:ext cx="4114800" cy="1011471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1093633"/>
            <a:ext cx="4114800" cy="7343775"/>
          </a:xfrm>
        </p:spPr>
        <p:txBody>
          <a:bodyPr/>
          <a:lstStyle>
            <a:lvl1pPr marL="0" indent="0">
              <a:buNone/>
              <a:defRPr sz="4622"/>
            </a:lvl1pPr>
            <a:lvl2pPr marL="660410" indent="0">
              <a:buNone/>
              <a:defRPr sz="4044"/>
            </a:lvl2pPr>
            <a:lvl3pPr marL="1320820" indent="0">
              <a:buNone/>
              <a:defRPr sz="3467"/>
            </a:lvl3pPr>
            <a:lvl4pPr marL="1981231" indent="0">
              <a:buNone/>
              <a:defRPr sz="2889"/>
            </a:lvl4pPr>
            <a:lvl5pPr marL="2641641" indent="0">
              <a:buNone/>
              <a:defRPr sz="2889"/>
            </a:lvl5pPr>
            <a:lvl6pPr marL="3302051" indent="0">
              <a:buNone/>
              <a:defRPr sz="2889"/>
            </a:lvl6pPr>
            <a:lvl7pPr marL="3962462" indent="0">
              <a:buNone/>
              <a:defRPr sz="2889"/>
            </a:lvl7pPr>
            <a:lvl8pPr marL="4622873" indent="0">
              <a:buNone/>
              <a:defRPr sz="2889"/>
            </a:lvl8pPr>
            <a:lvl9pPr marL="5283282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9579209"/>
            <a:ext cx="4114800" cy="1436455"/>
          </a:xfrm>
        </p:spPr>
        <p:txBody>
          <a:bodyPr/>
          <a:lstStyle>
            <a:lvl1pPr marL="0" indent="0">
              <a:buNone/>
              <a:defRPr sz="2022"/>
            </a:lvl1pPr>
            <a:lvl2pPr marL="660410" indent="0">
              <a:buNone/>
              <a:defRPr sz="1733"/>
            </a:lvl2pPr>
            <a:lvl3pPr marL="1320820" indent="0">
              <a:buNone/>
              <a:defRPr sz="1444"/>
            </a:lvl3pPr>
            <a:lvl4pPr marL="1981231" indent="0">
              <a:buNone/>
              <a:defRPr sz="1300"/>
            </a:lvl4pPr>
            <a:lvl5pPr marL="2641641" indent="0">
              <a:buNone/>
              <a:defRPr sz="1300"/>
            </a:lvl5pPr>
            <a:lvl6pPr marL="3302051" indent="0">
              <a:buNone/>
              <a:defRPr sz="1300"/>
            </a:lvl6pPr>
            <a:lvl7pPr marL="3962462" indent="0">
              <a:buNone/>
              <a:defRPr sz="1300"/>
            </a:lvl7pPr>
            <a:lvl8pPr marL="4622873" indent="0">
              <a:buNone/>
              <a:defRPr sz="1300"/>
            </a:lvl8pPr>
            <a:lvl9pPr marL="52832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490160"/>
            <a:ext cx="1543050" cy="104433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90160"/>
            <a:ext cx="4514850" cy="104433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90153"/>
            <a:ext cx="6172200" cy="203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855919"/>
            <a:ext cx="6172200" cy="8077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11344327"/>
            <a:ext cx="21717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11344327"/>
            <a:ext cx="1600200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410" rtl="0" eaLnBrk="1" latinLnBrk="0" hangingPunct="1">
        <a:spcBef>
          <a:spcPct val="0"/>
        </a:spcBef>
        <a:buNone/>
        <a:defRPr sz="63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308" indent="-495308" algn="l" defTabSz="66041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67" indent="-412756" algn="l" defTabSz="66041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1026" indent="-330206" algn="l" defTabSz="66041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436" indent="-330206" algn="l" defTabSz="66041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847" indent="-330206" algn="l" defTabSz="66041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25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667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307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488" indent="-330206" algn="l" defTabSz="66041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41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820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23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64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2051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6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873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282" algn="l" defTabSz="6604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100012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100011"/>
            <a:ext cx="6685200" cy="12044364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04939" y="1860705"/>
            <a:ext cx="43480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Operações de TI assume a sustentação do BI</a:t>
            </a:r>
            <a:endParaRPr lang="pt-BR" sz="2800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629000" y="11805178"/>
            <a:ext cx="360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Atenciosamente | Diretoria de TI</a:t>
            </a:r>
            <a:endParaRPr lang="pt-BR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8" y="156039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15.Dez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85888" y="2790176"/>
            <a:ext cx="3871762" cy="954360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3000"/>
              </a:spcAft>
            </a:pPr>
            <a:r>
              <a:rPr lang="pt-BR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Suporte ao sistema de BI passa a ser responsabilidade da área de Operações de TI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210810" y="4118656"/>
            <a:ext cx="6436380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Informamos que o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suporte ao sistema de BI da Smiles passa a ser responsabilidade da área de Operações de TI </a:t>
            </a:r>
            <a:r>
              <a:rPr lang="pt-BR" sz="14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partir de 15 de dezembro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(quinta-feira).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equipe de Operações de TI foi capacitada 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forma a absorver o conhecimento necessário para realizar a sustentação desta solução (correções de falhas e atendimento à solicitações). 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 isso garantimos que mais este sistema esteja submetido aos controles de gestão e </a:t>
            </a:r>
            <a:r>
              <a:rPr lang="pt-B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estabelecidos, permitindo que o suporte seja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mais robusto e com melhores níveis de suporte.</a:t>
            </a:r>
          </a:p>
          <a:p>
            <a:pPr algn="just">
              <a:lnSpc>
                <a:spcPts val="2000"/>
              </a:lnSpc>
            </a:pPr>
            <a:endParaRPr lang="pt-BR" sz="14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Assim sendo, 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todos os chamados referentes ao BI devem ser abertos através do portal do JIRA Service Desk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 opção “Áreas de Negócio”.</a:t>
            </a: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endParaRPr lang="pt-BR" sz="14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ts val="2000"/>
              </a:lnSpc>
            </a:pP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caso de dúvidas ou esclarecimentos, procurar Nei </a:t>
            </a:r>
            <a:r>
              <a:rPr lang="pt-B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Henckes</a:t>
            </a:r>
            <a:r>
              <a:rPr lang="pt-B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coordenador da área de Operações de TI.</a:t>
            </a:r>
          </a:p>
        </p:txBody>
      </p:sp>
      <p:pic>
        <p:nvPicPr>
          <p:cNvPr id="1026" name="Picture 2" descr="http://www.4tc.co.uk/wp-content/uploads/2013/04/it-suppor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33989" y="2582601"/>
            <a:ext cx="2347026" cy="1314335"/>
          </a:xfrm>
          <a:prstGeom prst="roundRect">
            <a:avLst>
              <a:gd name="adj" fmla="val 1656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73" y="7959072"/>
            <a:ext cx="6450217" cy="2877492"/>
          </a:xfrm>
          <a:prstGeom prst="roundRect">
            <a:avLst>
              <a:gd name="adj" fmla="val 10580"/>
            </a:avLst>
          </a:prstGeom>
          <a:solidFill>
            <a:srgbClr val="FFFFFF">
              <a:shade val="85000"/>
            </a:srgbClr>
          </a:solidFill>
          <a:ln>
            <a:solidFill>
              <a:schemeClr val="bg1">
                <a:lumMod val="85000"/>
              </a:schemeClr>
            </a:solidFill>
          </a:ln>
          <a:effectLst/>
        </p:spPr>
      </p:pic>
      <p:sp>
        <p:nvSpPr>
          <p:cNvPr id="6" name="Retângulo: Cantos Arredondados 5"/>
          <p:cNvSpPr/>
          <p:nvPr/>
        </p:nvSpPr>
        <p:spPr>
          <a:xfrm>
            <a:off x="4972051" y="10144125"/>
            <a:ext cx="971550" cy="2160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3561</TotalTime>
  <Words>166</Words>
  <Application>Microsoft Office PowerPoint</Application>
  <PresentationFormat>Personalizar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Maluf</dc:creator>
  <cp:lastModifiedBy>Jorge Filho</cp:lastModifiedBy>
  <cp:revision>26</cp:revision>
  <dcterms:created xsi:type="dcterms:W3CDTF">2014-01-24T21:35:00Z</dcterms:created>
  <dcterms:modified xsi:type="dcterms:W3CDTF">2016-12-14T17:32:17Z</dcterms:modified>
</cp:coreProperties>
</file>