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338" r:id="rId3"/>
    <p:sldId id="344" r:id="rId4"/>
    <p:sldId id="345" r:id="rId5"/>
    <p:sldId id="340" r:id="rId6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00CC00"/>
    <a:srgbClr val="D0462D"/>
    <a:srgbClr val="F57124"/>
    <a:srgbClr val="F68E1E"/>
    <a:srgbClr val="99CCFF"/>
    <a:srgbClr val="FF9900"/>
    <a:srgbClr val="000000"/>
    <a:srgbClr val="EE6829"/>
    <a:srgbClr val="E287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116" y="90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30/03/2016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8784" y="1256786"/>
            <a:ext cx="5688627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Gestão de Ideias e Arquitetura </a:t>
            </a:r>
            <a:r>
              <a:rPr lang="pt-BR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Corp</a:t>
            </a:r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. de TI</a:t>
            </a:r>
          </a:p>
          <a:p>
            <a:endParaRPr lang="pt-B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Novo Fluxo e </a:t>
            </a:r>
            <a:r>
              <a:rPr lang="pt-BR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SLAs</a:t>
            </a:r>
            <a:endParaRPr lang="pt-BR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3 </a:t>
            </a:r>
          </a:p>
          <a:p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(pós reunião de alinhamento com Luiz Borrego)</a:t>
            </a:r>
          </a:p>
          <a:p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Março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/2016</a:t>
            </a:r>
          </a:p>
        </p:txBody>
      </p:sp>
      <p:pic>
        <p:nvPicPr>
          <p:cNvPr id="1026" name="Picture 2" descr="http://live.icmgworld.com/architectureworld2013/images/Keynotes_01.pn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0EFE7"/>
              </a:clrFrom>
              <a:clrTo>
                <a:srgbClr val="F0EF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448" y="4437517"/>
            <a:ext cx="3510485" cy="2267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Premissas</a:t>
            </a:r>
          </a:p>
        </p:txBody>
      </p:sp>
      <p:sp>
        <p:nvSpPr>
          <p:cNvPr id="144" name="Fluxograma: Processo 143"/>
          <p:cNvSpPr/>
          <p:nvPr/>
        </p:nvSpPr>
        <p:spPr>
          <a:xfrm>
            <a:off x="1365739" y="2610678"/>
            <a:ext cx="7385659" cy="2425148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PMO não deve possuir “</a:t>
            </a:r>
            <a:r>
              <a:rPr lang="pt-BR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Backlog</a:t>
            </a: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”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Arquitetura precisa de SLA para estimativas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Fluxo de Gestão de Ideias precisa de melhorias (ex.: novos status como Pendente Usuário, Cancelado, etc.)</a:t>
            </a:r>
          </a:p>
        </p:txBody>
      </p:sp>
    </p:spTree>
    <p:extLst>
      <p:ext uri="{BB962C8B-B14F-4D97-AF65-F5344CB8AC3E}">
        <p14:creationId xmlns:p14="http://schemas.microsoft.com/office/powerpoint/2010/main" val="408005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tângulo 142"/>
          <p:cNvSpPr/>
          <p:nvPr/>
        </p:nvSpPr>
        <p:spPr>
          <a:xfrm>
            <a:off x="842617" y="2357839"/>
            <a:ext cx="68905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42" name="Retângulo 141"/>
          <p:cNvSpPr/>
          <p:nvPr/>
        </p:nvSpPr>
        <p:spPr>
          <a:xfrm>
            <a:off x="9175625" y="2378434"/>
            <a:ext cx="100566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Analista de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Negócios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Fluxo Gestão de Ideias</a:t>
            </a:r>
          </a:p>
        </p:txBody>
      </p:sp>
      <p:grpSp>
        <p:nvGrpSpPr>
          <p:cNvPr id="130" name="Agrupar 129"/>
          <p:cNvGrpSpPr/>
          <p:nvPr/>
        </p:nvGrpSpPr>
        <p:grpSpPr>
          <a:xfrm>
            <a:off x="63474" y="2246388"/>
            <a:ext cx="716274" cy="682180"/>
            <a:chOff x="256478" y="2393574"/>
            <a:chExt cx="716274" cy="682180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20569596">
              <a:off x="256478" y="2393574"/>
              <a:ext cx="396997" cy="504000"/>
            </a:xfrm>
            <a:prstGeom prst="rect">
              <a:avLst/>
            </a:prstGeom>
          </p:spPr>
        </p:pic>
        <p:sp>
          <p:nvSpPr>
            <p:cNvPr id="5" name="Retângulo 4"/>
            <p:cNvSpPr/>
            <p:nvPr/>
          </p:nvSpPr>
          <p:spPr>
            <a:xfrm rot="20569596">
              <a:off x="297933" y="2814144"/>
              <a:ext cx="67481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05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Ideia</a:t>
              </a:r>
              <a:endParaRPr lang="pt-BR" sz="1200" dirty="0">
                <a:solidFill>
                  <a:srgbClr val="7030A0"/>
                </a:solidFill>
              </a:endParaRPr>
            </a:p>
          </p:txBody>
        </p:sp>
      </p:grpSp>
      <p:cxnSp>
        <p:nvCxnSpPr>
          <p:cNvPr id="57" name="Conector de Seta Reta 56"/>
          <p:cNvCxnSpPr>
            <a:stCxn id="126" idx="3"/>
            <a:endCxn id="113" idx="1"/>
          </p:cNvCxnSpPr>
          <p:nvPr/>
        </p:nvCxnSpPr>
        <p:spPr>
          <a:xfrm>
            <a:off x="7372092" y="1100594"/>
            <a:ext cx="353623" cy="1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/>
          <p:cNvCxnSpPr>
            <a:stCxn id="62" idx="3"/>
            <a:endCxn id="55" idx="1"/>
          </p:cNvCxnSpPr>
          <p:nvPr/>
        </p:nvCxnSpPr>
        <p:spPr>
          <a:xfrm>
            <a:off x="1430919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2" idx="0"/>
            <a:endCxn id="68" idx="0"/>
          </p:cNvCxnSpPr>
          <p:nvPr/>
        </p:nvCxnSpPr>
        <p:spPr>
          <a:xfrm rot="5400000" flipH="1" flipV="1">
            <a:off x="2426974" y="393613"/>
            <a:ext cx="1019318" cy="4163428"/>
          </a:xfrm>
          <a:prstGeom prst="bentConnector3">
            <a:avLst>
              <a:gd name="adj1" fmla="val 122427"/>
            </a:avLst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>
            <a:stCxn id="59" idx="1"/>
            <a:endCxn id="60" idx="3"/>
          </p:cNvCxnSpPr>
          <p:nvPr/>
        </p:nvCxnSpPr>
        <p:spPr>
          <a:xfrm flipH="1">
            <a:off x="3512633" y="4666917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68"/>
          <p:cNvCxnSpPr>
            <a:stCxn id="55" idx="0"/>
            <a:endCxn id="68" idx="1"/>
          </p:cNvCxnSpPr>
          <p:nvPr/>
        </p:nvCxnSpPr>
        <p:spPr>
          <a:xfrm rot="5400000" flipH="1" flipV="1">
            <a:off x="3314430" y="1857069"/>
            <a:ext cx="750120" cy="1505714"/>
          </a:xfrm>
          <a:prstGeom prst="bentConnector2">
            <a:avLst/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68"/>
          <p:cNvCxnSpPr>
            <a:stCxn id="61" idx="0"/>
            <a:endCxn id="68" idx="0"/>
          </p:cNvCxnSpPr>
          <p:nvPr/>
        </p:nvCxnSpPr>
        <p:spPr>
          <a:xfrm rot="16200000" flipV="1">
            <a:off x="6590402" y="393613"/>
            <a:ext cx="1019318" cy="4163428"/>
          </a:xfrm>
          <a:prstGeom prst="bentConnector3">
            <a:avLst>
              <a:gd name="adj1" fmla="val 122427"/>
            </a:avLst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55" idx="3"/>
            <a:endCxn id="58" idx="1"/>
          </p:cNvCxnSpPr>
          <p:nvPr/>
        </p:nvCxnSpPr>
        <p:spPr>
          <a:xfrm>
            <a:off x="3512633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56" idx="2"/>
            <a:endCxn id="59" idx="3"/>
          </p:cNvCxnSpPr>
          <p:nvPr/>
        </p:nvCxnSpPr>
        <p:spPr>
          <a:xfrm rot="5400000">
            <a:off x="5775436" y="3342292"/>
            <a:ext cx="1143536" cy="1505714"/>
          </a:xfrm>
          <a:prstGeom prst="bentConnector2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>
            <a:stCxn id="58" idx="0"/>
            <a:endCxn id="68" idx="2"/>
          </p:cNvCxnSpPr>
          <p:nvPr/>
        </p:nvCxnSpPr>
        <p:spPr>
          <a:xfrm flipV="1">
            <a:off x="5018347" y="2504063"/>
            <a:ext cx="0" cy="480923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de Seta Reta 88"/>
          <p:cNvCxnSpPr>
            <a:stCxn id="63" idx="2"/>
            <a:endCxn id="93" idx="0"/>
          </p:cNvCxnSpPr>
          <p:nvPr/>
        </p:nvCxnSpPr>
        <p:spPr>
          <a:xfrm flipH="1">
            <a:off x="9169476" y="4936114"/>
            <a:ext cx="12299" cy="874337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de Seta Reta 102"/>
          <p:cNvCxnSpPr>
            <a:stCxn id="64" idx="1"/>
            <a:endCxn id="67" idx="3"/>
          </p:cNvCxnSpPr>
          <p:nvPr/>
        </p:nvCxnSpPr>
        <p:spPr>
          <a:xfrm flipH="1">
            <a:off x="1434085" y="6079649"/>
            <a:ext cx="926548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de Seta Reta 108"/>
          <p:cNvCxnSpPr>
            <a:stCxn id="67" idx="0"/>
            <a:endCxn id="60" idx="1"/>
          </p:cNvCxnSpPr>
          <p:nvPr/>
        </p:nvCxnSpPr>
        <p:spPr>
          <a:xfrm rot="5400000" flipH="1" flipV="1">
            <a:off x="1037592" y="4487410"/>
            <a:ext cx="1143534" cy="1502548"/>
          </a:xfrm>
          <a:prstGeom prst="bentConnector2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xograma: Processo 61"/>
          <p:cNvSpPr/>
          <p:nvPr/>
        </p:nvSpPr>
        <p:spPr>
          <a:xfrm>
            <a:off x="278919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ABERTA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Fluxograma: Processo 54"/>
          <p:cNvSpPr/>
          <p:nvPr/>
        </p:nvSpPr>
        <p:spPr>
          <a:xfrm>
            <a:off x="2360633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ESTIMATIVA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Fluxograma: Processo 57"/>
          <p:cNvSpPr/>
          <p:nvPr/>
        </p:nvSpPr>
        <p:spPr>
          <a:xfrm>
            <a:off x="4442347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Fluxograma: Processo 59"/>
          <p:cNvSpPr/>
          <p:nvPr/>
        </p:nvSpPr>
        <p:spPr>
          <a:xfrm>
            <a:off x="2360633" y="4397719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Fluxograma: Processo 60"/>
          <p:cNvSpPr/>
          <p:nvPr/>
        </p:nvSpPr>
        <p:spPr>
          <a:xfrm>
            <a:off x="8605775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ELABORAÇÃO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Fluxograma: Processo 62"/>
          <p:cNvSpPr/>
          <p:nvPr/>
        </p:nvSpPr>
        <p:spPr>
          <a:xfrm>
            <a:off x="8605775" y="4397719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NEGÓCIO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Fluxograma: Processo 63"/>
          <p:cNvSpPr/>
          <p:nvPr/>
        </p:nvSpPr>
        <p:spPr>
          <a:xfrm>
            <a:off x="2360633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AGUARDANDO COMEX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Fluxograma: Processo 66"/>
          <p:cNvSpPr/>
          <p:nvPr/>
        </p:nvSpPr>
        <p:spPr>
          <a:xfrm>
            <a:off x="282085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PROJETO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Fluxograma: Processo 67"/>
          <p:cNvSpPr/>
          <p:nvPr/>
        </p:nvSpPr>
        <p:spPr>
          <a:xfrm>
            <a:off x="4442347" y="1965668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PENDENTE USUÁRIO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Fluxograma: Processo 58"/>
          <p:cNvSpPr/>
          <p:nvPr/>
        </p:nvSpPr>
        <p:spPr>
          <a:xfrm>
            <a:off x="4442347" y="4397719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MELHORIA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2" name="Conector de Seta Reta 111"/>
          <p:cNvCxnSpPr>
            <a:stCxn id="64" idx="0"/>
            <a:endCxn id="60" idx="2"/>
          </p:cNvCxnSpPr>
          <p:nvPr/>
        </p:nvCxnSpPr>
        <p:spPr>
          <a:xfrm flipV="1">
            <a:off x="2936633" y="4936114"/>
            <a:ext cx="0" cy="874337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luxograma: Processo 112"/>
          <p:cNvSpPr/>
          <p:nvPr/>
        </p:nvSpPr>
        <p:spPr>
          <a:xfrm>
            <a:off x="7725715" y="831397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6613551" y="823595"/>
            <a:ext cx="75854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de </a:t>
            </a:r>
          </a:p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qualquer </a:t>
            </a:r>
          </a:p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</a:t>
            </a:r>
            <a:endParaRPr lang="pt-BR" sz="1000" i="1" dirty="0">
              <a:solidFill>
                <a:srgbClr val="7030A0"/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9215654" y="900539"/>
            <a:ext cx="7729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Vai para </a:t>
            </a:r>
          </a:p>
          <a:p>
            <a:r>
              <a:rPr lang="pt-BR" sz="10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pt-BR" sz="1000" b="1" dirty="0">
              <a:solidFill>
                <a:srgbClr val="7030A0"/>
              </a:solidFill>
            </a:endParaRPr>
          </a:p>
        </p:txBody>
      </p:sp>
      <p:cxnSp>
        <p:nvCxnSpPr>
          <p:cNvPr id="128" name="Conector de Seta Reta 127"/>
          <p:cNvCxnSpPr>
            <a:stCxn id="113" idx="3"/>
            <a:endCxn id="127" idx="1"/>
          </p:cNvCxnSpPr>
          <p:nvPr/>
        </p:nvCxnSpPr>
        <p:spPr>
          <a:xfrm flipV="1">
            <a:off x="8877715" y="1100594"/>
            <a:ext cx="337939" cy="1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tângulo 130"/>
          <p:cNvSpPr/>
          <p:nvPr/>
        </p:nvSpPr>
        <p:spPr>
          <a:xfrm>
            <a:off x="1306995" y="3270144"/>
            <a:ext cx="98616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 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Arquitetura</a:t>
            </a:r>
            <a:endParaRPr lang="pt-BR" sz="900" b="1" dirty="0"/>
          </a:p>
        </p:txBody>
      </p:sp>
      <p:sp>
        <p:nvSpPr>
          <p:cNvPr id="132" name="Retângulo 131"/>
          <p:cNvSpPr/>
          <p:nvPr/>
        </p:nvSpPr>
        <p:spPr>
          <a:xfrm>
            <a:off x="3622103" y="3270144"/>
            <a:ext cx="74411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33" name="Retângulo 132"/>
          <p:cNvSpPr/>
          <p:nvPr/>
        </p:nvSpPr>
        <p:spPr>
          <a:xfrm>
            <a:off x="7703367" y="3270144"/>
            <a:ext cx="8562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EF do Projeto</a:t>
            </a:r>
          </a:p>
        </p:txBody>
      </p:sp>
      <p:sp>
        <p:nvSpPr>
          <p:cNvPr id="134" name="Retângulo 133"/>
          <p:cNvSpPr/>
          <p:nvPr/>
        </p:nvSpPr>
        <p:spPr>
          <a:xfrm>
            <a:off x="7935211" y="3976725"/>
            <a:ext cx="12488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Negócio</a:t>
            </a:r>
          </a:p>
        </p:txBody>
      </p:sp>
      <p:sp>
        <p:nvSpPr>
          <p:cNvPr id="135" name="Retângulo 134"/>
          <p:cNvSpPr/>
          <p:nvPr/>
        </p:nvSpPr>
        <p:spPr>
          <a:xfrm>
            <a:off x="9158093" y="5246645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 Arquitetura</a:t>
            </a:r>
          </a:p>
        </p:txBody>
      </p:sp>
      <p:sp>
        <p:nvSpPr>
          <p:cNvPr id="136" name="Retângulo 135"/>
          <p:cNvSpPr/>
          <p:nvPr/>
        </p:nvSpPr>
        <p:spPr>
          <a:xfrm>
            <a:off x="1509847" y="6094873"/>
            <a:ext cx="111993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Aprovado COMEX</a:t>
            </a:r>
          </a:p>
        </p:txBody>
      </p:sp>
      <p:sp>
        <p:nvSpPr>
          <p:cNvPr id="137" name="Retângulo 136"/>
          <p:cNvSpPr/>
          <p:nvPr/>
        </p:nvSpPr>
        <p:spPr>
          <a:xfrm>
            <a:off x="2948017" y="5033424"/>
            <a:ext cx="93411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Reprovado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</a:p>
        </p:txBody>
      </p:sp>
      <p:sp>
        <p:nvSpPr>
          <p:cNvPr id="138" name="Retângulo 137"/>
          <p:cNvSpPr/>
          <p:nvPr/>
        </p:nvSpPr>
        <p:spPr>
          <a:xfrm>
            <a:off x="6126539" y="4143803"/>
            <a:ext cx="9789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 de Melhorias</a:t>
            </a:r>
          </a:p>
        </p:txBody>
      </p:sp>
      <p:sp>
        <p:nvSpPr>
          <p:cNvPr id="139" name="Retângulo 138"/>
          <p:cNvSpPr/>
          <p:nvPr/>
        </p:nvSpPr>
        <p:spPr>
          <a:xfrm>
            <a:off x="3555717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1" name="Retângulo 140"/>
          <p:cNvSpPr/>
          <p:nvPr/>
        </p:nvSpPr>
        <p:spPr>
          <a:xfrm>
            <a:off x="2910221" y="2516933"/>
            <a:ext cx="9561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Arquitetura</a:t>
            </a:r>
          </a:p>
        </p:txBody>
      </p:sp>
      <p:sp>
        <p:nvSpPr>
          <p:cNvPr id="56" name="Fluxograma: Processo 55"/>
          <p:cNvSpPr/>
          <p:nvPr/>
        </p:nvSpPr>
        <p:spPr>
          <a:xfrm>
            <a:off x="6524061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ESTIMATIVA ACEITA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4" name="Conector de Seta Reta 73"/>
          <p:cNvCxnSpPr>
            <a:stCxn id="56" idx="3"/>
            <a:endCxn id="61" idx="1"/>
          </p:cNvCxnSpPr>
          <p:nvPr/>
        </p:nvCxnSpPr>
        <p:spPr>
          <a:xfrm>
            <a:off x="7676061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Fluxograma: Processo 92"/>
          <p:cNvSpPr/>
          <p:nvPr/>
        </p:nvSpPr>
        <p:spPr>
          <a:xfrm>
            <a:off x="859347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ARQUITETURA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4" name="Fluxograma: Processo 93"/>
          <p:cNvSpPr/>
          <p:nvPr/>
        </p:nvSpPr>
        <p:spPr>
          <a:xfrm>
            <a:off x="6524061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DESENHO DA SOLUÇÃO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5" name="Fluxograma: Processo 94"/>
          <p:cNvSpPr/>
          <p:nvPr/>
        </p:nvSpPr>
        <p:spPr>
          <a:xfrm>
            <a:off x="442739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ESTIMATIVA REFINADA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0" name="Conector de Seta Reta 109"/>
          <p:cNvCxnSpPr>
            <a:stCxn id="93" idx="1"/>
            <a:endCxn id="94" idx="3"/>
          </p:cNvCxnSpPr>
          <p:nvPr/>
        </p:nvCxnSpPr>
        <p:spPr>
          <a:xfrm flipH="1">
            <a:off x="7676061" y="6079649"/>
            <a:ext cx="91741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de Seta Reta 113"/>
          <p:cNvCxnSpPr>
            <a:stCxn id="94" idx="1"/>
            <a:endCxn id="95" idx="3"/>
          </p:cNvCxnSpPr>
          <p:nvPr/>
        </p:nvCxnSpPr>
        <p:spPr>
          <a:xfrm flipH="1">
            <a:off x="5579396" y="6079649"/>
            <a:ext cx="94466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de Seta Reta 114"/>
          <p:cNvCxnSpPr>
            <a:stCxn id="95" idx="1"/>
            <a:endCxn id="64" idx="3"/>
          </p:cNvCxnSpPr>
          <p:nvPr/>
        </p:nvCxnSpPr>
        <p:spPr>
          <a:xfrm flipH="1">
            <a:off x="3512633" y="6079649"/>
            <a:ext cx="914763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tângulo 148"/>
          <p:cNvSpPr/>
          <p:nvPr/>
        </p:nvSpPr>
        <p:spPr>
          <a:xfrm>
            <a:off x="4998750" y="2620343"/>
            <a:ext cx="11072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Aceite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 Usuário</a:t>
            </a:r>
          </a:p>
        </p:txBody>
      </p:sp>
      <p:cxnSp>
        <p:nvCxnSpPr>
          <p:cNvPr id="150" name="Conector de Seta Reta 68"/>
          <p:cNvCxnSpPr>
            <a:stCxn id="56" idx="0"/>
            <a:endCxn id="68" idx="3"/>
          </p:cNvCxnSpPr>
          <p:nvPr/>
        </p:nvCxnSpPr>
        <p:spPr>
          <a:xfrm rot="16200000" flipV="1">
            <a:off x="5972144" y="1857069"/>
            <a:ext cx="750120" cy="1505714"/>
          </a:xfrm>
          <a:prstGeom prst="bentConnector2">
            <a:avLst/>
          </a:prstGeom>
          <a:ln>
            <a:solidFill>
              <a:srgbClr val="FF6600"/>
            </a:solidFill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etângulo 158"/>
          <p:cNvSpPr/>
          <p:nvPr/>
        </p:nvSpPr>
        <p:spPr>
          <a:xfrm>
            <a:off x="7105500" y="2517327"/>
            <a:ext cx="7802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Aceitar Estimativa</a:t>
            </a:r>
          </a:p>
        </p:txBody>
      </p:sp>
      <p:sp>
        <p:nvSpPr>
          <p:cNvPr id="160" name="Fluxograma: Processo 159"/>
          <p:cNvSpPr/>
          <p:nvPr/>
        </p:nvSpPr>
        <p:spPr>
          <a:xfrm>
            <a:off x="278919" y="3452081"/>
            <a:ext cx="612000" cy="216000"/>
          </a:xfrm>
          <a:prstGeom prst="flowChartProcess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INÍCIO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1" name="Fluxograma: Processo 160"/>
          <p:cNvSpPr/>
          <p:nvPr/>
        </p:nvSpPr>
        <p:spPr>
          <a:xfrm>
            <a:off x="2360633" y="4854712"/>
            <a:ext cx="432000" cy="216000"/>
          </a:xfrm>
          <a:prstGeom prst="flowChartProcess">
            <a:avLst/>
          </a:prstGeom>
          <a:solidFill>
            <a:srgbClr val="C0000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FIM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2" name="Retângulo 161"/>
          <p:cNvSpPr/>
          <p:nvPr/>
        </p:nvSpPr>
        <p:spPr>
          <a:xfrm>
            <a:off x="983828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cxnSp>
        <p:nvCxnSpPr>
          <p:cNvPr id="163" name="Conector de Seta Reta 68"/>
          <p:cNvCxnSpPr>
            <a:stCxn id="63" idx="0"/>
            <a:endCxn id="61" idx="2"/>
          </p:cNvCxnSpPr>
          <p:nvPr/>
        </p:nvCxnSpPr>
        <p:spPr>
          <a:xfrm flipV="1">
            <a:off x="9181775" y="3523381"/>
            <a:ext cx="0" cy="874338"/>
          </a:xfrm>
          <a:prstGeom prst="straightConnector1">
            <a:avLst/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tângulo 165"/>
          <p:cNvSpPr/>
          <p:nvPr/>
        </p:nvSpPr>
        <p:spPr>
          <a:xfrm>
            <a:off x="9222193" y="3575043"/>
            <a:ext cx="8036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Elaboração</a:t>
            </a:r>
          </a:p>
        </p:txBody>
      </p:sp>
      <p:sp>
        <p:nvSpPr>
          <p:cNvPr id="167" name="Retângulo 166"/>
          <p:cNvSpPr/>
          <p:nvPr/>
        </p:nvSpPr>
        <p:spPr>
          <a:xfrm>
            <a:off x="3544543" y="6112929"/>
            <a:ext cx="9341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Aguardar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</a:p>
        </p:txBody>
      </p:sp>
      <p:sp>
        <p:nvSpPr>
          <p:cNvPr id="168" name="Retângulo 167"/>
          <p:cNvSpPr/>
          <p:nvPr/>
        </p:nvSpPr>
        <p:spPr>
          <a:xfrm>
            <a:off x="7725715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Desenho de Solução</a:t>
            </a:r>
          </a:p>
        </p:txBody>
      </p:sp>
      <p:sp>
        <p:nvSpPr>
          <p:cNvPr id="169" name="Retângulo 168"/>
          <p:cNvSpPr/>
          <p:nvPr/>
        </p:nvSpPr>
        <p:spPr>
          <a:xfrm>
            <a:off x="5668965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Revisão da Estimativa</a:t>
            </a:r>
          </a:p>
        </p:txBody>
      </p:sp>
      <p:sp>
        <p:nvSpPr>
          <p:cNvPr id="71" name="Retângulo 70"/>
          <p:cNvSpPr/>
          <p:nvPr/>
        </p:nvSpPr>
        <p:spPr>
          <a:xfrm>
            <a:off x="3402455" y="1503089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  <p:sp>
        <p:nvSpPr>
          <p:cNvPr id="75" name="Retângulo 74"/>
          <p:cNvSpPr/>
          <p:nvPr/>
        </p:nvSpPr>
        <p:spPr>
          <a:xfrm>
            <a:off x="4766419" y="1503089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  <p:sp>
        <p:nvSpPr>
          <p:cNvPr id="77" name="Retângulo 76"/>
          <p:cNvSpPr/>
          <p:nvPr/>
        </p:nvSpPr>
        <p:spPr>
          <a:xfrm>
            <a:off x="2829874" y="1988338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</p:spTree>
    <p:extLst>
      <p:ext uri="{BB962C8B-B14F-4D97-AF65-F5344CB8AC3E}">
        <p14:creationId xmlns:p14="http://schemas.microsoft.com/office/powerpoint/2010/main" val="2295862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Agrupar 83"/>
          <p:cNvGrpSpPr/>
          <p:nvPr/>
        </p:nvGrpSpPr>
        <p:grpSpPr>
          <a:xfrm>
            <a:off x="4326072" y="5361882"/>
            <a:ext cx="3412844" cy="1296638"/>
            <a:chOff x="2259518" y="2881012"/>
            <a:chExt cx="3412844" cy="1296638"/>
          </a:xfrm>
        </p:grpSpPr>
        <p:sp>
          <p:nvSpPr>
            <p:cNvPr id="85" name="Retângulo Arredondado 84"/>
            <p:cNvSpPr/>
            <p:nvPr/>
          </p:nvSpPr>
          <p:spPr>
            <a:xfrm>
              <a:off x="2271895" y="2881012"/>
              <a:ext cx="3400467" cy="1296638"/>
            </a:xfrm>
            <a:prstGeom prst="roundRect">
              <a:avLst>
                <a:gd name="adj" fmla="val 5688"/>
              </a:avLst>
            </a:prstGeom>
            <a:ln>
              <a:solidFill>
                <a:srgbClr val="7030A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6" name="Retângulo 85"/>
            <p:cNvSpPr/>
            <p:nvPr/>
          </p:nvSpPr>
          <p:spPr>
            <a:xfrm>
              <a:off x="2259518" y="2933076"/>
              <a:ext cx="336735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9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SLA: Tempo de Elaboração Desenho da Solução </a:t>
              </a:r>
            </a:p>
            <a:p>
              <a:r>
                <a:rPr lang="pt-BR" sz="9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(10 dias úteis)</a:t>
              </a:r>
            </a:p>
          </p:txBody>
        </p:sp>
      </p:grpSp>
      <p:grpSp>
        <p:nvGrpSpPr>
          <p:cNvPr id="87" name="Agrupar 86"/>
          <p:cNvGrpSpPr/>
          <p:nvPr/>
        </p:nvGrpSpPr>
        <p:grpSpPr>
          <a:xfrm>
            <a:off x="6400187" y="5713045"/>
            <a:ext cx="3445178" cy="1080000"/>
            <a:chOff x="2227184" y="2881012"/>
            <a:chExt cx="3445178" cy="1142538"/>
          </a:xfrm>
        </p:grpSpPr>
        <p:sp>
          <p:nvSpPr>
            <p:cNvPr id="88" name="Retângulo Arredondado 87"/>
            <p:cNvSpPr/>
            <p:nvPr/>
          </p:nvSpPr>
          <p:spPr>
            <a:xfrm>
              <a:off x="2271895" y="2881012"/>
              <a:ext cx="3400467" cy="1129667"/>
            </a:xfrm>
            <a:prstGeom prst="roundRect">
              <a:avLst>
                <a:gd name="adj" fmla="val 5688"/>
              </a:avLst>
            </a:prstGeom>
            <a:ln>
              <a:solidFill>
                <a:srgbClr val="7030A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0" name="Retângulo 89"/>
            <p:cNvSpPr/>
            <p:nvPr/>
          </p:nvSpPr>
          <p:spPr>
            <a:xfrm>
              <a:off x="2227184" y="3792718"/>
              <a:ext cx="336735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9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SLA: Tempo de Validação EF da Arquitetura (10 dias úteis)</a:t>
              </a:r>
            </a:p>
          </p:txBody>
        </p:sp>
      </p:grpSp>
      <p:grpSp>
        <p:nvGrpSpPr>
          <p:cNvPr id="78" name="Agrupar 77"/>
          <p:cNvGrpSpPr/>
          <p:nvPr/>
        </p:nvGrpSpPr>
        <p:grpSpPr>
          <a:xfrm>
            <a:off x="2259083" y="2934177"/>
            <a:ext cx="3413279" cy="1057388"/>
            <a:chOff x="2259083" y="2881012"/>
            <a:chExt cx="3413279" cy="1129667"/>
          </a:xfrm>
        </p:grpSpPr>
        <p:sp>
          <p:nvSpPr>
            <p:cNvPr id="79" name="Retângulo Arredondado 78"/>
            <p:cNvSpPr/>
            <p:nvPr/>
          </p:nvSpPr>
          <p:spPr>
            <a:xfrm>
              <a:off x="2271895" y="2881012"/>
              <a:ext cx="3400467" cy="1129667"/>
            </a:xfrm>
            <a:prstGeom prst="roundRect">
              <a:avLst>
                <a:gd name="adj" fmla="val 5688"/>
              </a:avLst>
            </a:prstGeom>
            <a:ln>
              <a:solidFill>
                <a:srgbClr val="7030A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1" name="Retângulo 80"/>
            <p:cNvSpPr/>
            <p:nvPr/>
          </p:nvSpPr>
          <p:spPr>
            <a:xfrm>
              <a:off x="2259083" y="3759365"/>
              <a:ext cx="336735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9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SLA: Tempo de Estimativa da Arquitetura (10 dias úteis)</a:t>
              </a:r>
            </a:p>
          </p:txBody>
        </p:sp>
      </p:grpSp>
      <p:sp>
        <p:nvSpPr>
          <p:cNvPr id="143" name="Retângulo 142"/>
          <p:cNvSpPr/>
          <p:nvPr/>
        </p:nvSpPr>
        <p:spPr>
          <a:xfrm>
            <a:off x="842617" y="2357839"/>
            <a:ext cx="68905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42" name="Retângulo 141"/>
          <p:cNvSpPr/>
          <p:nvPr/>
        </p:nvSpPr>
        <p:spPr>
          <a:xfrm>
            <a:off x="9175625" y="2378434"/>
            <a:ext cx="100566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Analista de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Negócios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da Arquitetura Corporativa de TI</a:t>
            </a:r>
          </a:p>
        </p:txBody>
      </p:sp>
      <p:grpSp>
        <p:nvGrpSpPr>
          <p:cNvPr id="130" name="Agrupar 129"/>
          <p:cNvGrpSpPr/>
          <p:nvPr/>
        </p:nvGrpSpPr>
        <p:grpSpPr>
          <a:xfrm>
            <a:off x="63474" y="2246388"/>
            <a:ext cx="716274" cy="682180"/>
            <a:chOff x="256478" y="2393574"/>
            <a:chExt cx="716274" cy="682180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>
              <a:lum bright="70000" contrast="-70000"/>
            </a:blip>
            <a:stretch>
              <a:fillRect/>
            </a:stretch>
          </p:blipFill>
          <p:spPr>
            <a:xfrm rot="20569596">
              <a:off x="256478" y="2393574"/>
              <a:ext cx="396997" cy="504000"/>
            </a:xfrm>
            <a:prstGeom prst="rect">
              <a:avLst/>
            </a:prstGeom>
          </p:spPr>
        </p:pic>
        <p:sp>
          <p:nvSpPr>
            <p:cNvPr id="5" name="Retângulo 4"/>
            <p:cNvSpPr/>
            <p:nvPr/>
          </p:nvSpPr>
          <p:spPr>
            <a:xfrm rot="20569596">
              <a:off x="297933" y="2814144"/>
              <a:ext cx="67481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050" b="1" dirty="0">
                  <a:solidFill>
                    <a:schemeClr val="bg1">
                      <a:lumMod val="7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Ideia</a:t>
              </a:r>
              <a:endParaRPr lang="pt-BR" sz="12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cxnSp>
        <p:nvCxnSpPr>
          <p:cNvPr id="57" name="Conector de Seta Reta 56"/>
          <p:cNvCxnSpPr>
            <a:stCxn id="126" idx="3"/>
            <a:endCxn id="113" idx="1"/>
          </p:cNvCxnSpPr>
          <p:nvPr/>
        </p:nvCxnSpPr>
        <p:spPr>
          <a:xfrm>
            <a:off x="7372092" y="1100594"/>
            <a:ext cx="353623" cy="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/>
          <p:cNvCxnSpPr>
            <a:stCxn id="62" idx="3"/>
            <a:endCxn id="55" idx="1"/>
          </p:cNvCxnSpPr>
          <p:nvPr/>
        </p:nvCxnSpPr>
        <p:spPr>
          <a:xfrm>
            <a:off x="1430919" y="3254184"/>
            <a:ext cx="929714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2" idx="0"/>
            <a:endCxn id="68" idx="0"/>
          </p:cNvCxnSpPr>
          <p:nvPr/>
        </p:nvCxnSpPr>
        <p:spPr>
          <a:xfrm rot="5400000" flipH="1" flipV="1">
            <a:off x="2426974" y="393613"/>
            <a:ext cx="1019318" cy="4163428"/>
          </a:xfrm>
          <a:prstGeom prst="bentConnector3">
            <a:avLst>
              <a:gd name="adj1" fmla="val 122427"/>
            </a:avLst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>
            <a:stCxn id="59" idx="1"/>
            <a:endCxn id="60" idx="3"/>
          </p:cNvCxnSpPr>
          <p:nvPr/>
        </p:nvCxnSpPr>
        <p:spPr>
          <a:xfrm flipH="1">
            <a:off x="3512633" y="4666917"/>
            <a:ext cx="929714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68"/>
          <p:cNvCxnSpPr>
            <a:stCxn id="55" idx="0"/>
            <a:endCxn id="68" idx="1"/>
          </p:cNvCxnSpPr>
          <p:nvPr/>
        </p:nvCxnSpPr>
        <p:spPr>
          <a:xfrm rot="5400000" flipH="1" flipV="1">
            <a:off x="3314430" y="1857069"/>
            <a:ext cx="750120" cy="1505714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68"/>
          <p:cNvCxnSpPr>
            <a:stCxn id="61" idx="0"/>
            <a:endCxn id="68" idx="0"/>
          </p:cNvCxnSpPr>
          <p:nvPr/>
        </p:nvCxnSpPr>
        <p:spPr>
          <a:xfrm rot="16200000" flipV="1">
            <a:off x="6590402" y="393613"/>
            <a:ext cx="1019318" cy="4163428"/>
          </a:xfrm>
          <a:prstGeom prst="bentConnector3">
            <a:avLst>
              <a:gd name="adj1" fmla="val 122427"/>
            </a:avLst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55" idx="3"/>
            <a:endCxn id="58" idx="1"/>
          </p:cNvCxnSpPr>
          <p:nvPr/>
        </p:nvCxnSpPr>
        <p:spPr>
          <a:xfrm>
            <a:off x="3512633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56" idx="2"/>
            <a:endCxn id="59" idx="3"/>
          </p:cNvCxnSpPr>
          <p:nvPr/>
        </p:nvCxnSpPr>
        <p:spPr>
          <a:xfrm rot="5400000">
            <a:off x="5775436" y="3342292"/>
            <a:ext cx="1143536" cy="1505714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>
            <a:stCxn id="58" idx="0"/>
            <a:endCxn id="68" idx="2"/>
          </p:cNvCxnSpPr>
          <p:nvPr/>
        </p:nvCxnSpPr>
        <p:spPr>
          <a:xfrm flipV="1">
            <a:off x="5018347" y="2504063"/>
            <a:ext cx="0" cy="480923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de Seta Reta 88"/>
          <p:cNvCxnSpPr>
            <a:stCxn id="63" idx="2"/>
            <a:endCxn id="93" idx="0"/>
          </p:cNvCxnSpPr>
          <p:nvPr/>
        </p:nvCxnSpPr>
        <p:spPr>
          <a:xfrm flipH="1">
            <a:off x="9169476" y="4936114"/>
            <a:ext cx="12299" cy="87433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de Seta Reta 102"/>
          <p:cNvCxnSpPr>
            <a:stCxn id="64" idx="1"/>
            <a:endCxn id="67" idx="3"/>
          </p:cNvCxnSpPr>
          <p:nvPr/>
        </p:nvCxnSpPr>
        <p:spPr>
          <a:xfrm flipH="1">
            <a:off x="1434085" y="6079649"/>
            <a:ext cx="926548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de Seta Reta 108"/>
          <p:cNvCxnSpPr>
            <a:stCxn id="67" idx="0"/>
            <a:endCxn id="60" idx="1"/>
          </p:cNvCxnSpPr>
          <p:nvPr/>
        </p:nvCxnSpPr>
        <p:spPr>
          <a:xfrm rot="5400000" flipH="1" flipV="1">
            <a:off x="1037592" y="4487410"/>
            <a:ext cx="1143534" cy="1502548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xograma: Processo 61"/>
          <p:cNvSpPr/>
          <p:nvPr/>
        </p:nvSpPr>
        <p:spPr>
          <a:xfrm>
            <a:off x="278919" y="2984986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ABERTA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Fluxograma: Processo 54"/>
          <p:cNvSpPr/>
          <p:nvPr/>
        </p:nvSpPr>
        <p:spPr>
          <a:xfrm>
            <a:off x="2360633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ESTIMATIVA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Fluxograma: Processo 57"/>
          <p:cNvSpPr/>
          <p:nvPr/>
        </p:nvSpPr>
        <p:spPr>
          <a:xfrm>
            <a:off x="4442347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Fluxograma: Processo 59"/>
          <p:cNvSpPr/>
          <p:nvPr/>
        </p:nvSpPr>
        <p:spPr>
          <a:xfrm>
            <a:off x="2360633" y="4397719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Fluxograma: Processo 60"/>
          <p:cNvSpPr/>
          <p:nvPr/>
        </p:nvSpPr>
        <p:spPr>
          <a:xfrm>
            <a:off x="8605775" y="2984986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ELABORAÇÃO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Fluxograma: Processo 62"/>
          <p:cNvSpPr/>
          <p:nvPr/>
        </p:nvSpPr>
        <p:spPr>
          <a:xfrm>
            <a:off x="8605775" y="4397719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NEGÓCIO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Fluxograma: Processo 63"/>
          <p:cNvSpPr/>
          <p:nvPr/>
        </p:nvSpPr>
        <p:spPr>
          <a:xfrm>
            <a:off x="2360633" y="581045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AGUARDANDO COMEX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Fluxograma: Processo 66"/>
          <p:cNvSpPr/>
          <p:nvPr/>
        </p:nvSpPr>
        <p:spPr>
          <a:xfrm>
            <a:off x="282085" y="581045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PROJETO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Fluxograma: Processo 67"/>
          <p:cNvSpPr/>
          <p:nvPr/>
        </p:nvSpPr>
        <p:spPr>
          <a:xfrm>
            <a:off x="4442347" y="1965668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PENDENTE USUÁRIO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Fluxograma: Processo 58"/>
          <p:cNvSpPr/>
          <p:nvPr/>
        </p:nvSpPr>
        <p:spPr>
          <a:xfrm>
            <a:off x="4442347" y="4397719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MELHORIA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2" name="Conector de Seta Reta 111"/>
          <p:cNvCxnSpPr>
            <a:stCxn id="64" idx="0"/>
            <a:endCxn id="60" idx="2"/>
          </p:cNvCxnSpPr>
          <p:nvPr/>
        </p:nvCxnSpPr>
        <p:spPr>
          <a:xfrm flipV="1">
            <a:off x="2936633" y="4936114"/>
            <a:ext cx="0" cy="87433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luxograma: Processo 112"/>
          <p:cNvSpPr/>
          <p:nvPr/>
        </p:nvSpPr>
        <p:spPr>
          <a:xfrm>
            <a:off x="7725715" y="831397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6613551" y="823595"/>
            <a:ext cx="75854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de </a:t>
            </a:r>
          </a:p>
          <a:p>
            <a:pPr algn="r"/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qualquer </a:t>
            </a:r>
          </a:p>
          <a:p>
            <a:pPr algn="r"/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</a:t>
            </a:r>
            <a:endParaRPr lang="pt-BR" sz="1000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9215654" y="900539"/>
            <a:ext cx="7729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Vai para </a:t>
            </a:r>
          </a:p>
          <a:p>
            <a:r>
              <a:rPr lang="pt-BR" sz="10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pt-BR" sz="1000" b="1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28" name="Conector de Seta Reta 127"/>
          <p:cNvCxnSpPr>
            <a:stCxn id="113" idx="3"/>
            <a:endCxn id="127" idx="1"/>
          </p:cNvCxnSpPr>
          <p:nvPr/>
        </p:nvCxnSpPr>
        <p:spPr>
          <a:xfrm flipV="1">
            <a:off x="8877715" y="1100594"/>
            <a:ext cx="337939" cy="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tângulo 130"/>
          <p:cNvSpPr/>
          <p:nvPr/>
        </p:nvSpPr>
        <p:spPr>
          <a:xfrm>
            <a:off x="1306995" y="3270144"/>
            <a:ext cx="98616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Arquitetura</a:t>
            </a:r>
            <a:endParaRPr lang="pt-BR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2" name="Retângulo 131"/>
          <p:cNvSpPr/>
          <p:nvPr/>
        </p:nvSpPr>
        <p:spPr>
          <a:xfrm>
            <a:off x="3622103" y="3270144"/>
            <a:ext cx="74411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33" name="Retângulo 132"/>
          <p:cNvSpPr/>
          <p:nvPr/>
        </p:nvSpPr>
        <p:spPr>
          <a:xfrm>
            <a:off x="7703367" y="3270144"/>
            <a:ext cx="8562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EF do Projeto</a:t>
            </a:r>
          </a:p>
        </p:txBody>
      </p:sp>
      <p:sp>
        <p:nvSpPr>
          <p:cNvPr id="134" name="Retângulo 133"/>
          <p:cNvSpPr/>
          <p:nvPr/>
        </p:nvSpPr>
        <p:spPr>
          <a:xfrm>
            <a:off x="7935211" y="3976725"/>
            <a:ext cx="12488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Negócio</a:t>
            </a:r>
          </a:p>
        </p:txBody>
      </p:sp>
      <p:sp>
        <p:nvSpPr>
          <p:cNvPr id="135" name="Retângulo 134"/>
          <p:cNvSpPr/>
          <p:nvPr/>
        </p:nvSpPr>
        <p:spPr>
          <a:xfrm>
            <a:off x="9158093" y="5246645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 Arquitetura</a:t>
            </a:r>
          </a:p>
        </p:txBody>
      </p:sp>
      <p:sp>
        <p:nvSpPr>
          <p:cNvPr id="136" name="Retângulo 135"/>
          <p:cNvSpPr/>
          <p:nvPr/>
        </p:nvSpPr>
        <p:spPr>
          <a:xfrm>
            <a:off x="1509847" y="6094873"/>
            <a:ext cx="111993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Aprovado COMEX</a:t>
            </a:r>
          </a:p>
        </p:txBody>
      </p:sp>
      <p:sp>
        <p:nvSpPr>
          <p:cNvPr id="137" name="Retângulo 136"/>
          <p:cNvSpPr/>
          <p:nvPr/>
        </p:nvSpPr>
        <p:spPr>
          <a:xfrm>
            <a:off x="2948017" y="5033424"/>
            <a:ext cx="93411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Reprovado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</a:p>
        </p:txBody>
      </p:sp>
      <p:sp>
        <p:nvSpPr>
          <p:cNvPr id="138" name="Retângulo 137"/>
          <p:cNvSpPr/>
          <p:nvPr/>
        </p:nvSpPr>
        <p:spPr>
          <a:xfrm>
            <a:off x="6126539" y="4143803"/>
            <a:ext cx="9789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 de Melhorias</a:t>
            </a:r>
          </a:p>
        </p:txBody>
      </p:sp>
      <p:sp>
        <p:nvSpPr>
          <p:cNvPr id="139" name="Retângulo 138"/>
          <p:cNvSpPr/>
          <p:nvPr/>
        </p:nvSpPr>
        <p:spPr>
          <a:xfrm>
            <a:off x="3555717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1" name="Retângulo 140"/>
          <p:cNvSpPr/>
          <p:nvPr/>
        </p:nvSpPr>
        <p:spPr>
          <a:xfrm>
            <a:off x="2910221" y="2516933"/>
            <a:ext cx="9561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Arquitetura</a:t>
            </a:r>
          </a:p>
        </p:txBody>
      </p:sp>
      <p:sp>
        <p:nvSpPr>
          <p:cNvPr id="56" name="Fluxograma: Processo 55"/>
          <p:cNvSpPr/>
          <p:nvPr/>
        </p:nvSpPr>
        <p:spPr>
          <a:xfrm>
            <a:off x="6524061" y="2984986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ESTIMATIVA ACEITA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4" name="Conector de Seta Reta 73"/>
          <p:cNvCxnSpPr>
            <a:stCxn id="56" idx="3"/>
            <a:endCxn id="61" idx="1"/>
          </p:cNvCxnSpPr>
          <p:nvPr/>
        </p:nvCxnSpPr>
        <p:spPr>
          <a:xfrm>
            <a:off x="7676061" y="3254184"/>
            <a:ext cx="929714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Fluxograma: Processo 92"/>
          <p:cNvSpPr/>
          <p:nvPr/>
        </p:nvSpPr>
        <p:spPr>
          <a:xfrm>
            <a:off x="859347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ARQUITETURA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4" name="Fluxograma: Processo 93"/>
          <p:cNvSpPr/>
          <p:nvPr/>
        </p:nvSpPr>
        <p:spPr>
          <a:xfrm>
            <a:off x="6524061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DESENHO DA SOLUÇÃO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5" name="Fluxograma: Processo 94"/>
          <p:cNvSpPr/>
          <p:nvPr/>
        </p:nvSpPr>
        <p:spPr>
          <a:xfrm>
            <a:off x="442739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ESTIMATIVA REFINADA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0" name="Conector de Seta Reta 109"/>
          <p:cNvCxnSpPr>
            <a:stCxn id="93" idx="1"/>
            <a:endCxn id="94" idx="3"/>
          </p:cNvCxnSpPr>
          <p:nvPr/>
        </p:nvCxnSpPr>
        <p:spPr>
          <a:xfrm flipH="1">
            <a:off x="7676061" y="6079649"/>
            <a:ext cx="91741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de Seta Reta 113"/>
          <p:cNvCxnSpPr>
            <a:stCxn id="94" idx="1"/>
            <a:endCxn id="95" idx="3"/>
          </p:cNvCxnSpPr>
          <p:nvPr/>
        </p:nvCxnSpPr>
        <p:spPr>
          <a:xfrm flipH="1">
            <a:off x="5579396" y="6079649"/>
            <a:ext cx="94466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de Seta Reta 114"/>
          <p:cNvCxnSpPr>
            <a:stCxn id="95" idx="1"/>
            <a:endCxn id="64" idx="3"/>
          </p:cNvCxnSpPr>
          <p:nvPr/>
        </p:nvCxnSpPr>
        <p:spPr>
          <a:xfrm flipH="1">
            <a:off x="3512633" y="6079649"/>
            <a:ext cx="914763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tângulo 148"/>
          <p:cNvSpPr/>
          <p:nvPr/>
        </p:nvSpPr>
        <p:spPr>
          <a:xfrm>
            <a:off x="4998750" y="2620343"/>
            <a:ext cx="11072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Aceite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 Usuário</a:t>
            </a:r>
          </a:p>
        </p:txBody>
      </p:sp>
      <p:cxnSp>
        <p:nvCxnSpPr>
          <p:cNvPr id="150" name="Conector de Seta Reta 68"/>
          <p:cNvCxnSpPr>
            <a:stCxn id="56" idx="0"/>
            <a:endCxn id="68" idx="3"/>
          </p:cNvCxnSpPr>
          <p:nvPr/>
        </p:nvCxnSpPr>
        <p:spPr>
          <a:xfrm rot="16200000" flipV="1">
            <a:off x="5972144" y="1857069"/>
            <a:ext cx="750120" cy="1505714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etângulo 158"/>
          <p:cNvSpPr/>
          <p:nvPr/>
        </p:nvSpPr>
        <p:spPr>
          <a:xfrm>
            <a:off x="7105500" y="2517327"/>
            <a:ext cx="7802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Aceitar Estimativa</a:t>
            </a:r>
          </a:p>
        </p:txBody>
      </p:sp>
      <p:sp>
        <p:nvSpPr>
          <p:cNvPr id="160" name="Fluxograma: Processo 159"/>
          <p:cNvSpPr/>
          <p:nvPr/>
        </p:nvSpPr>
        <p:spPr>
          <a:xfrm>
            <a:off x="278919" y="3452081"/>
            <a:ext cx="612000" cy="216000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INÍCIO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1" name="Fluxograma: Processo 160"/>
          <p:cNvSpPr/>
          <p:nvPr/>
        </p:nvSpPr>
        <p:spPr>
          <a:xfrm>
            <a:off x="2360633" y="4854712"/>
            <a:ext cx="432000" cy="216000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FIM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2" name="Retângulo 161"/>
          <p:cNvSpPr/>
          <p:nvPr/>
        </p:nvSpPr>
        <p:spPr>
          <a:xfrm>
            <a:off x="983828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cxnSp>
        <p:nvCxnSpPr>
          <p:cNvPr id="163" name="Conector de Seta Reta 68"/>
          <p:cNvCxnSpPr>
            <a:stCxn id="63" idx="0"/>
            <a:endCxn id="61" idx="2"/>
          </p:cNvCxnSpPr>
          <p:nvPr/>
        </p:nvCxnSpPr>
        <p:spPr>
          <a:xfrm flipV="1">
            <a:off x="9181775" y="3523381"/>
            <a:ext cx="0" cy="874338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tângulo 165"/>
          <p:cNvSpPr/>
          <p:nvPr/>
        </p:nvSpPr>
        <p:spPr>
          <a:xfrm>
            <a:off x="9222193" y="3575043"/>
            <a:ext cx="8036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Elaboração</a:t>
            </a:r>
          </a:p>
        </p:txBody>
      </p:sp>
      <p:sp>
        <p:nvSpPr>
          <p:cNvPr id="167" name="Retângulo 166"/>
          <p:cNvSpPr/>
          <p:nvPr/>
        </p:nvSpPr>
        <p:spPr>
          <a:xfrm>
            <a:off x="3544543" y="6112929"/>
            <a:ext cx="9341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Aguardar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</a:p>
        </p:txBody>
      </p:sp>
      <p:sp>
        <p:nvSpPr>
          <p:cNvPr id="168" name="Retângulo 167"/>
          <p:cNvSpPr/>
          <p:nvPr/>
        </p:nvSpPr>
        <p:spPr>
          <a:xfrm>
            <a:off x="7725715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Desenho de Solução</a:t>
            </a:r>
          </a:p>
        </p:txBody>
      </p:sp>
      <p:sp>
        <p:nvSpPr>
          <p:cNvPr id="169" name="Retângulo 168"/>
          <p:cNvSpPr/>
          <p:nvPr/>
        </p:nvSpPr>
        <p:spPr>
          <a:xfrm>
            <a:off x="5668965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Revisão da Estimativa</a:t>
            </a:r>
          </a:p>
        </p:txBody>
      </p:sp>
      <p:sp>
        <p:nvSpPr>
          <p:cNvPr id="71" name="Retângulo 70"/>
          <p:cNvSpPr/>
          <p:nvPr/>
        </p:nvSpPr>
        <p:spPr>
          <a:xfrm>
            <a:off x="3402455" y="1503089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  <p:sp>
        <p:nvSpPr>
          <p:cNvPr id="75" name="Retângulo 74"/>
          <p:cNvSpPr/>
          <p:nvPr/>
        </p:nvSpPr>
        <p:spPr>
          <a:xfrm>
            <a:off x="4766419" y="1503089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  <p:sp>
        <p:nvSpPr>
          <p:cNvPr id="77" name="Retângulo 76"/>
          <p:cNvSpPr/>
          <p:nvPr/>
        </p:nvSpPr>
        <p:spPr>
          <a:xfrm>
            <a:off x="2829874" y="1988338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</p:spTree>
    <p:extLst>
      <p:ext uri="{BB962C8B-B14F-4D97-AF65-F5344CB8AC3E}">
        <p14:creationId xmlns:p14="http://schemas.microsoft.com/office/powerpoint/2010/main" val="2164532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Próximos Passos</a:t>
            </a:r>
          </a:p>
        </p:txBody>
      </p:sp>
      <p:sp>
        <p:nvSpPr>
          <p:cNvPr id="144" name="Fluxograma: Processo 143"/>
          <p:cNvSpPr/>
          <p:nvPr/>
        </p:nvSpPr>
        <p:spPr>
          <a:xfrm>
            <a:off x="437323" y="1113183"/>
            <a:ext cx="9369286" cy="5446643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Realizar alinhamento com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Nelton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e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Luis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para avaliar a inclusão no Fluxo de Gestão de Melhorias dos seguintes itens:</a:t>
            </a:r>
          </a:p>
          <a:p>
            <a:pPr lvl="1">
              <a:spcAft>
                <a:spcPts val="1800"/>
              </a:spcAft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1) Priorização das Melhorias</a:t>
            </a:r>
          </a:p>
          <a:p>
            <a:pPr lvl="1">
              <a:spcAft>
                <a:spcPts val="1800"/>
              </a:spcAft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2) Execução do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Kick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-Off Técnico de Melhorias (alinhamento entre Arquitetura e Analistas de Sistemas/Desenvolvedor)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Para as Ideias já estimadas e “em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Backlog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” alinhar com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Nelton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e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Luis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e já tombar para as filas de Melhorias / Projetos.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Rever Fluxos de </a:t>
            </a:r>
            <a:r>
              <a:rPr lang="pt-BR" i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Exceptions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e </a:t>
            </a:r>
            <a:r>
              <a:rPr lang="pt-BR" i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Solution</a:t>
            </a:r>
            <a:r>
              <a:rPr lang="pt-BR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Design 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 Arquitetura</a:t>
            </a:r>
            <a:endParaRPr lang="pt-BR" i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Documentar em forma de Política as regras da Arquitetura referentes a </a:t>
            </a:r>
            <a:r>
              <a:rPr lang="pt-BR" i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Exceptions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pt-BR" i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Solution</a:t>
            </a:r>
            <a:r>
              <a:rPr lang="pt-BR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Desig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n,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Alinhamento com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E-core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(Rodolfo) para alterar o fluxo de Gestão de Ideias após aprovação dos envolvidos.</a:t>
            </a:r>
          </a:p>
        </p:txBody>
      </p:sp>
    </p:spTree>
    <p:extLst>
      <p:ext uri="{BB962C8B-B14F-4D97-AF65-F5344CB8AC3E}">
        <p14:creationId xmlns:p14="http://schemas.microsoft.com/office/powerpoint/2010/main" val="3675371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5259</TotalTime>
  <Words>461</Words>
  <Application>Microsoft Office PowerPoint</Application>
  <PresentationFormat>Personalizar</PresentationFormat>
  <Paragraphs>157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Arial</vt:lpstr>
      <vt:lpstr>Calibri</vt:lpstr>
      <vt:lpstr>Gotham Rounded Book</vt:lpstr>
      <vt:lpstr>Segoe UI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310</cp:revision>
  <dcterms:created xsi:type="dcterms:W3CDTF">2014-01-24T21:35:00Z</dcterms:created>
  <dcterms:modified xsi:type="dcterms:W3CDTF">2016-03-30T18:28:01Z</dcterms:modified>
</cp:coreProperties>
</file>