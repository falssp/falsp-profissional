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7" r:id="rId2"/>
    <p:sldId id="376" r:id="rId3"/>
    <p:sldId id="381" r:id="rId4"/>
    <p:sldId id="382" r:id="rId5"/>
    <p:sldId id="392" r:id="rId6"/>
    <p:sldId id="393" r:id="rId7"/>
    <p:sldId id="394" r:id="rId8"/>
    <p:sldId id="395" r:id="rId9"/>
    <p:sldId id="396" r:id="rId10"/>
    <p:sldId id="397" r:id="rId11"/>
    <p:sldId id="380" r:id="rId12"/>
    <p:sldId id="377" r:id="rId13"/>
    <p:sldId id="383" r:id="rId14"/>
    <p:sldId id="384" r:id="rId15"/>
    <p:sldId id="387" r:id="rId16"/>
    <p:sldId id="388" r:id="rId17"/>
    <p:sldId id="390" r:id="rId18"/>
  </p:sldIdLst>
  <p:sldSz cx="10117138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187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68E1E"/>
    <a:srgbClr val="FFFF99"/>
    <a:srgbClr val="DEDEDE"/>
    <a:srgbClr val="99CCFF"/>
    <a:srgbClr val="8064A2"/>
    <a:srgbClr val="990000"/>
    <a:srgbClr val="D0462D"/>
    <a:srgbClr val="FFFF66"/>
    <a:srgbClr val="00CC00"/>
    <a:srgbClr val="FF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912C8C85-51F0-491E-9774-3900AFEF0FD7}" styleName="Estilo Claro 2 - Ênfase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F2DE63D5-997A-4646-A377-4702673A728D}" styleName="Estilo Claro 2 - Ênfase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5940675A-B579-460E-94D1-54222C63F5DA}" styleName="Nenhum Estilo, Grade de Tabela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9" autoAdjust="0"/>
    <p:restoredTop sz="94660"/>
  </p:normalViewPr>
  <p:slideViewPr>
    <p:cSldViewPr snapToGrid="0" snapToObjects="1">
      <p:cViewPr varScale="1">
        <p:scale>
          <a:sx n="72" d="100"/>
          <a:sy n="72" d="100"/>
        </p:scale>
        <p:origin x="534" y="72"/>
      </p:cViewPr>
      <p:guideLst>
        <p:guide orient="horz" pos="2160"/>
        <p:guide pos="318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2CD1B9-1777-43A0-8DF4-B945C46147BD}" type="datetimeFigureOut">
              <a:rPr lang="pt-BR" smtClean="0"/>
              <a:t>05/04/2017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900113" y="685800"/>
            <a:ext cx="5057775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245040-EFBE-493F-96A2-B5DCAE3ADE4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66815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8786" y="2130428"/>
            <a:ext cx="8599567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7571" y="3886200"/>
            <a:ext cx="7081997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1989970"/>
      </p:ext>
    </p:extLst>
  </p:cSld>
  <p:clrMapOvr>
    <a:masterClrMapping/>
  </p:clrMapOvr>
  <p:transition spd="slow"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3307934"/>
      </p:ext>
    </p:extLst>
  </p:cSld>
  <p:clrMapOvr>
    <a:masterClrMapping/>
  </p:clrMapOvr>
  <p:transition spd="slow"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184" y="4406903"/>
            <a:ext cx="8599567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9184" y="2906713"/>
            <a:ext cx="8599567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574767"/>
      </p:ext>
    </p:extLst>
  </p:cSld>
  <p:clrMapOvr>
    <a:masterClrMapping/>
  </p:clrMapOvr>
  <p:transition spd="slow"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05857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42878" y="1600203"/>
            <a:ext cx="4468403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154841"/>
      </p:ext>
    </p:extLst>
  </p:cSld>
  <p:clrMapOvr>
    <a:masterClrMapping/>
  </p:clrMapOvr>
  <p:transition spd="slow"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535113"/>
            <a:ext cx="447016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5857" y="2174875"/>
            <a:ext cx="447016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39367" y="1535113"/>
            <a:ext cx="4471916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39367" y="2174875"/>
            <a:ext cx="4471916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974183"/>
      </p:ext>
    </p:extLst>
  </p:cSld>
  <p:clrMapOvr>
    <a:masterClrMapping/>
  </p:clrMapOvr>
  <p:transition spd="slow"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801401"/>
      </p:ext>
    </p:extLst>
  </p:cSld>
  <p:clrMapOvr>
    <a:masterClrMapping/>
  </p:clrMapOvr>
  <p:transition spd="slow"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3948944"/>
      </p:ext>
    </p:extLst>
  </p:cSld>
  <p:clrMapOvr>
    <a:masterClrMapping/>
  </p:clrMapOvr>
  <p:transition spd="slow"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5857" y="273050"/>
            <a:ext cx="3328469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55521" y="273053"/>
            <a:ext cx="565576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5857" y="1435103"/>
            <a:ext cx="3328469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8056668"/>
      </p:ext>
    </p:extLst>
  </p:cSld>
  <p:clrMapOvr>
    <a:masterClrMapping/>
  </p:clrMapOvr>
  <p:transition spd="slow"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3030" y="4800600"/>
            <a:ext cx="6070283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83030" y="612775"/>
            <a:ext cx="6070283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83030" y="5367338"/>
            <a:ext cx="6070283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7010150"/>
      </p:ext>
    </p:extLst>
  </p:cSld>
  <p:clrMapOvr>
    <a:masterClrMapping/>
  </p:clrMapOvr>
  <p:transition spd="slow"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33005980"/>
      </p:ext>
    </p:extLst>
  </p:cSld>
  <p:clrMapOvr>
    <a:masterClrMapping/>
  </p:clrMapOvr>
  <p:transition spd="slow"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334925" y="274641"/>
            <a:ext cx="2276356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05857" y="274641"/>
            <a:ext cx="6660449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8642135"/>
      </p:ext>
    </p:extLst>
  </p:cSld>
  <p:clrMapOvr>
    <a:masterClrMapping/>
  </p:clrMapOvr>
  <p:transition spd="slow"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05857" y="274638"/>
            <a:ext cx="9105424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5857" y="1600203"/>
            <a:ext cx="9105424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5857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04C65E-0501-3244-B235-0438CC858404}" type="datetimeFigureOut">
              <a:rPr lang="en-US" smtClean="0"/>
              <a:pPr/>
              <a:t>4/5/2017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56689" y="6356353"/>
            <a:ext cx="32037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50615" y="6356353"/>
            <a:ext cx="236066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FCF5E2-CCF2-BF49-B901-1F681CA77025}" type="slidenum">
              <a:rPr lang="en-US" smtClean="0"/>
              <a:pPr/>
              <a:t>‹nº›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55292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fade/>
  </p:transition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jpeg"/><Relationship Id="rId3" Type="http://schemas.openxmlformats.org/officeDocument/2006/relationships/image" Target="../media/image11.png"/><Relationship Id="rId7" Type="http://schemas.openxmlformats.org/officeDocument/2006/relationships/image" Target="../media/image15.jpeg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19.svg"/><Relationship Id="rId5" Type="http://schemas.openxmlformats.org/officeDocument/2006/relationships/image" Target="../media/image13.jpeg"/><Relationship Id="rId10" Type="http://schemas.openxmlformats.org/officeDocument/2006/relationships/image" Target="../media/image18.png"/><Relationship Id="rId4" Type="http://schemas.openxmlformats.org/officeDocument/2006/relationships/image" Target="../media/image12.jpeg"/><Relationship Id="rId9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2"/>
          <p:cNvSpPr/>
          <p:nvPr/>
        </p:nvSpPr>
        <p:spPr>
          <a:xfrm>
            <a:off x="-1393" y="3"/>
            <a:ext cx="6375313" cy="6857999"/>
          </a:xfrm>
          <a:custGeom>
            <a:avLst/>
            <a:gdLst/>
            <a:ahLst/>
            <a:cxnLst/>
            <a:rect l="l" t="t" r="r" b="b"/>
            <a:pathLst>
              <a:path w="5762090" h="6857999">
                <a:moveTo>
                  <a:pt x="0" y="0"/>
                </a:moveTo>
                <a:lnTo>
                  <a:pt x="1920697" y="0"/>
                </a:lnTo>
                <a:lnTo>
                  <a:pt x="3279881" y="0"/>
                </a:lnTo>
                <a:lnTo>
                  <a:pt x="5200578" y="0"/>
                </a:lnTo>
                <a:lnTo>
                  <a:pt x="5255041" y="148787"/>
                </a:lnTo>
                <a:cubicBezTo>
                  <a:pt x="5571805" y="1057108"/>
                  <a:pt x="5762090" y="2221597"/>
                  <a:pt x="5762090" y="3491260"/>
                </a:cubicBezTo>
                <a:cubicBezTo>
                  <a:pt x="5762090" y="4760923"/>
                  <a:pt x="5571805" y="5925412"/>
                  <a:pt x="5255041" y="6833733"/>
                </a:cubicBezTo>
                <a:lnTo>
                  <a:pt x="5246158" y="6857999"/>
                </a:lnTo>
                <a:lnTo>
                  <a:pt x="3325461" y="6857999"/>
                </a:lnTo>
                <a:lnTo>
                  <a:pt x="1920697" y="6857999"/>
                </a:lnTo>
                <a:lnTo>
                  <a:pt x="0" y="6857999"/>
                </a:lnTo>
                <a:close/>
              </a:path>
            </a:pathLst>
          </a:custGeom>
          <a:solidFill>
            <a:srgbClr val="FF8E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11303" y="3276362"/>
            <a:ext cx="2206288" cy="78751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341949" y="2596764"/>
            <a:ext cx="5688627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Operação N1</a:t>
            </a:r>
          </a:p>
          <a:p>
            <a:endParaRPr lang="pt-BR" sz="36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28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Road-Map para estabilização</a:t>
            </a:r>
          </a:p>
          <a:p>
            <a:endParaRPr lang="pt-BR" sz="2800" b="1" i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endParaRPr lang="pt-BR" sz="14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rebuchet MS" panose="020B0603020202020204" pitchFamily="34" charset="0"/>
              <a:cs typeface="Gotham Rounded Book"/>
            </a:endParaRPr>
          </a:p>
          <a:p>
            <a:r>
              <a:rPr lang="pt-BR" sz="160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Versão 3 </a:t>
            </a:r>
            <a:r>
              <a:rPr lang="pt-BR" sz="16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rebuchet MS" panose="020B0603020202020204" pitchFamily="34" charset="0"/>
                <a:cs typeface="Gotham Rounded Book"/>
              </a:rPr>
              <a:t>– 05-04-2017</a:t>
            </a:r>
          </a:p>
        </p:txBody>
      </p:sp>
      <p:pic>
        <p:nvPicPr>
          <p:cNvPr id="2" name="Picture 2" descr="https://media.licdn.com/mpr/mpr/shrink_200_200/AAEAAQAAAAAAAAeqAAAAJDEzY2JjMzVhLTM3MTItNDg5OC1iZmQzLWRlNGRhOWFhNWY0Nw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1044" y="4371194"/>
            <a:ext cx="2486806" cy="248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75359936"/>
      </p:ext>
    </p:extLst>
  </p:cSld>
  <p:clrMapOvr>
    <a:masterClrMapping/>
  </p:clrMapOvr>
  <p:transition spd="slow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Operação N1</a:t>
            </a:r>
          </a:p>
        </p:txBody>
      </p:sp>
      <p:sp>
        <p:nvSpPr>
          <p:cNvPr id="79" name="Retângulo de cantos arredondados 6"/>
          <p:cNvSpPr/>
          <p:nvPr/>
        </p:nvSpPr>
        <p:spPr>
          <a:xfrm>
            <a:off x="4494807" y="1090913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Visão e Missão da Iniciativa</a:t>
            </a:r>
            <a:endParaRPr lang="pt-BR" sz="24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</a:endParaRPr>
          </a:p>
        </p:txBody>
      </p:sp>
      <p:sp>
        <p:nvSpPr>
          <p:cNvPr id="14" name="Retângulo de cantos arredondados 6"/>
          <p:cNvSpPr/>
          <p:nvPr/>
        </p:nvSpPr>
        <p:spPr>
          <a:xfrm>
            <a:off x="4494807" y="2972369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Principais Problemas Identificados</a:t>
            </a:r>
          </a:p>
        </p:txBody>
      </p:sp>
      <p:sp>
        <p:nvSpPr>
          <p:cNvPr id="15" name="Retângulo de cantos arredondados 6"/>
          <p:cNvSpPr/>
          <p:nvPr/>
        </p:nvSpPr>
        <p:spPr>
          <a:xfrm>
            <a:off x="4494807" y="3913097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Princípios de 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DevOps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Smiles</a:t>
            </a:r>
          </a:p>
        </p:txBody>
      </p:sp>
      <p:sp>
        <p:nvSpPr>
          <p:cNvPr id="16" name="Retângulo de cantos arredondados 6"/>
          <p:cNvSpPr/>
          <p:nvPr/>
        </p:nvSpPr>
        <p:spPr>
          <a:xfrm>
            <a:off x="4494807" y="4853825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Roadmap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 2017-2018 (Ênfase Q1 e Q2)</a:t>
            </a:r>
          </a:p>
        </p:txBody>
      </p:sp>
      <p:sp>
        <p:nvSpPr>
          <p:cNvPr id="12" name="Retângulo de cantos arredondados 6"/>
          <p:cNvSpPr/>
          <p:nvPr/>
        </p:nvSpPr>
        <p:spPr>
          <a:xfrm>
            <a:off x="4494807" y="2031641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Dinâmica Atual de DEV</a:t>
            </a:r>
          </a:p>
        </p:txBody>
      </p:sp>
      <p:pic>
        <p:nvPicPr>
          <p:cNvPr id="2050" name="Picture 2" descr="https://t3.ftcdn.net/jpg/01/36/54/24/240_F_136542440_JOPFSUpwIY7fyE14ri7Dv2ab5dEupVwy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09504" y="1090913"/>
            <a:ext cx="3429000" cy="2286000"/>
          </a:xfrm>
          <a:prstGeom prst="roundRect">
            <a:avLst>
              <a:gd name="adj" fmla="val 0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/>
          <a:extLst/>
        </p:spPr>
      </p:pic>
      <p:sp>
        <p:nvSpPr>
          <p:cNvPr id="13" name="Retângulo de cantos arredondados 6"/>
          <p:cNvSpPr/>
          <p:nvPr/>
        </p:nvSpPr>
        <p:spPr>
          <a:xfrm>
            <a:off x="4494807" y="5794554"/>
            <a:ext cx="5622331" cy="720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180000"/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Macro Processo </a:t>
            </a:r>
            <a:r>
              <a:rPr lang="pt-BR" sz="2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To</a:t>
            </a:r>
            <a:r>
              <a:rPr lang="pt-B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</a:rPr>
              <a:t>-Be para Q1</a:t>
            </a:r>
          </a:p>
        </p:txBody>
      </p:sp>
    </p:spTree>
    <p:extLst>
      <p:ext uri="{BB962C8B-B14F-4D97-AF65-F5344CB8AC3E}">
        <p14:creationId xmlns:p14="http://schemas.microsoft.com/office/powerpoint/2010/main" val="2413853271"/>
      </p:ext>
    </p:extLst>
  </p:cSld>
  <p:clrMapOvr>
    <a:masterClrMapping/>
  </p:clrMapOvr>
  <p:transition spd="slow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2" descr="https://media.licdn.com/mpr/mpr/shrink_200_200/AAEAAQAAAAAAAAeqAAAAJDEzY2JjMzVhLTM3MTItNDg5OC1iZmQzLWRlNGRhOWFhNWY0Nw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915" y="799986"/>
            <a:ext cx="2486806" cy="24868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Implantação N1 – Ações Realizadas</a:t>
            </a:r>
          </a:p>
        </p:txBody>
      </p:sp>
      <p:sp>
        <p:nvSpPr>
          <p:cNvPr id="8" name="Retângulo 7"/>
          <p:cNvSpPr/>
          <p:nvPr/>
        </p:nvSpPr>
        <p:spPr>
          <a:xfrm>
            <a:off x="4225844" y="1217967"/>
            <a:ext cx="5497275" cy="5220000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Revisões/Atualizações dos Procedimentos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Workshop sobre JIRA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Dashboard no JIRA (acompanhamento)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Revisões/Ajustes nas Monitorações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Visita à Cluster2Go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Concessão de Chaves e Acessos AWS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Concessão de Acessos a Ferramentas e Sistemas (JIRA, Siebel, outros)</a:t>
            </a: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Presença da Cluster2Go On-site (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shadow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)</a:t>
            </a:r>
          </a:p>
        </p:txBody>
      </p:sp>
      <p:sp>
        <p:nvSpPr>
          <p:cNvPr id="3" name="AutoShape 2" descr="https://agsft.com/wp-content/uploads/2016/09/Application-Help-Desk-Support.png"/>
          <p:cNvSpPr>
            <a:spLocks noChangeAspect="1" noChangeArrowheads="1"/>
          </p:cNvSpPr>
          <p:nvPr/>
        </p:nvSpPr>
        <p:spPr bwMode="auto">
          <a:xfrm>
            <a:off x="490537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5" name="AutoShape 4" descr="https://agsft.com/wp-content/uploads/2016/09/Application-Help-Desk-Support.png"/>
          <p:cNvSpPr>
            <a:spLocks noChangeAspect="1" noChangeArrowheads="1"/>
          </p:cNvSpPr>
          <p:nvPr/>
        </p:nvSpPr>
        <p:spPr bwMode="auto">
          <a:xfrm>
            <a:off x="5057775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http://www.arcitsolutions.co.uk/wp-content/uploads/2014/10/24-hours.jp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4831" y="2482744"/>
            <a:ext cx="3228975" cy="3362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737880"/>
      </p:ext>
    </p:extLst>
  </p:cSld>
  <p:clrMapOvr>
    <a:masterClrMapping/>
  </p:clrMapOvr>
  <p:transition spd="slow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GO Live – Ações na Semana 1</a:t>
            </a:r>
          </a:p>
        </p:txBody>
      </p:sp>
      <p:pic>
        <p:nvPicPr>
          <p:cNvPr id="2050" name="Picture 2" descr="https://marketing.enterprisestudy.com/wp-content/uploads/2016/05/go-live.jp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5F5F5"/>
              </a:clrFrom>
              <a:clrTo>
                <a:srgbClr val="F5F5F5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5890" y="592445"/>
            <a:ext cx="5771248" cy="36126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tângulo 9"/>
          <p:cNvSpPr/>
          <p:nvPr/>
        </p:nvSpPr>
        <p:spPr>
          <a:xfrm>
            <a:off x="318052" y="2690191"/>
            <a:ext cx="7805531" cy="3747775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t"/>
          <a:lstStyle/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4149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endParaRPr lang="pt-BR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Report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Diário do Serviço via Dashboard no JIRA</a:t>
            </a: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Daily </a:t>
            </a: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Call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(participação no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Quality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Check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)</a:t>
            </a: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Luis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Savioli e Raul Souza on-site na Cluster2Go</a:t>
            </a: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Divulgação do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Escalation</a:t>
            </a:r>
            <a:r>
              <a:rPr lang="pt-BR" i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List</a:t>
            </a:r>
            <a:endParaRPr lang="pt-BR" i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orgia" panose="02040502050405020303" pitchFamily="18" charset="0"/>
            </a:endParaRPr>
          </a:p>
          <a:p>
            <a:pPr marL="504000" indent="-342900">
              <a:lnSpc>
                <a:spcPts val="2400"/>
              </a:lnSpc>
              <a:spcBef>
                <a:spcPts val="800"/>
              </a:spcBef>
              <a:spcAft>
                <a:spcPts val="8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orgia" panose="02040502050405020303" pitchFamily="18" charset="0"/>
              </a:rPr>
              <a:t>Reunião Executiva</a:t>
            </a:r>
          </a:p>
        </p:txBody>
      </p:sp>
      <p:sp>
        <p:nvSpPr>
          <p:cNvPr id="12" name="CaixaDeTexto 11"/>
          <p:cNvSpPr txBox="1"/>
          <p:nvPr/>
        </p:nvSpPr>
        <p:spPr>
          <a:xfrm>
            <a:off x="318052" y="2798235"/>
            <a:ext cx="1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Segoe UI" panose="020B0502040204020203" pitchFamily="34" charset="0"/>
              </a:rPr>
              <a:t>03 de Abril</a:t>
            </a:r>
            <a:endParaRPr lang="pt-BR" sz="105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Segoe UI" panose="020B0502040204020203" pitchFamily="34" charset="0"/>
            </a:endParaRPr>
          </a:p>
        </p:txBody>
      </p:sp>
      <p:sp>
        <p:nvSpPr>
          <p:cNvPr id="13" name="CaixaDeTexto 12"/>
          <p:cNvSpPr txBox="1"/>
          <p:nvPr/>
        </p:nvSpPr>
        <p:spPr>
          <a:xfrm>
            <a:off x="6323583" y="2798234"/>
            <a:ext cx="18000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800" b="1" dirty="0">
                <a:solidFill>
                  <a:schemeClr val="bg1">
                    <a:lumMod val="8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gency FB" panose="020B0503020202020204" pitchFamily="34" charset="0"/>
                <a:cs typeface="Segoe UI" panose="020B0502040204020203" pitchFamily="34" charset="0"/>
              </a:rPr>
              <a:t>07 de Abril</a:t>
            </a:r>
            <a:endParaRPr lang="pt-BR" sz="1050" b="1" dirty="0">
              <a:solidFill>
                <a:schemeClr val="bg1">
                  <a:lumMod val="8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gency FB" panose="020B0503020202020204" pitchFamily="34" charset="0"/>
              <a:cs typeface="Segoe UI" panose="020B0502040204020203" pitchFamily="34" charset="0"/>
            </a:endParaRPr>
          </a:p>
        </p:txBody>
      </p:sp>
      <p:cxnSp>
        <p:nvCxnSpPr>
          <p:cNvPr id="14" name="Conector de Seta Reta 13"/>
          <p:cNvCxnSpPr>
            <a:cxnSpLocks/>
            <a:stCxn id="12" idx="3"/>
            <a:endCxn id="13" idx="1"/>
          </p:cNvCxnSpPr>
          <p:nvPr/>
        </p:nvCxnSpPr>
        <p:spPr>
          <a:xfrm flipV="1">
            <a:off x="2118052" y="3059844"/>
            <a:ext cx="4205531" cy="1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8359751"/>
      </p:ext>
    </p:extLst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/>
              <a:t>N2 – Smiles</a:t>
            </a:r>
            <a:endParaRPr lang="pt-BR" sz="900" b="1" dirty="0"/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/>
              <a:t>N1 – Cluster2Go</a:t>
            </a:r>
            <a:endParaRPr lang="pt-BR" sz="900" b="1" dirty="0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Processo N1 – N2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Processo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" name="Agrupar 89"/>
          <p:cNvGrpSpPr/>
          <p:nvPr/>
        </p:nvGrpSpPr>
        <p:grpSpPr>
          <a:xfrm>
            <a:off x="1136987" y="5331300"/>
            <a:ext cx="2448000" cy="419500"/>
            <a:chOff x="1136987" y="5331300"/>
            <a:chExt cx="2448000" cy="419500"/>
          </a:xfrm>
        </p:grpSpPr>
        <p:sp>
          <p:nvSpPr>
            <p:cNvPr id="44" name="Retângulo 43"/>
            <p:cNvSpPr/>
            <p:nvPr/>
          </p:nvSpPr>
          <p:spPr>
            <a:xfrm>
              <a:off x="1225558" y="5489190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N1 (24x7)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Chave Esquerda 50"/>
            <p:cNvSpPr/>
            <p:nvPr/>
          </p:nvSpPr>
          <p:spPr>
            <a:xfrm rot="16200000">
              <a:off x="2273254" y="4195033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Não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Não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Sim</a:t>
            </a:r>
            <a:endParaRPr lang="pt-BR" sz="11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grpSp>
        <p:nvGrpSpPr>
          <p:cNvPr id="89" name="Agrupar 88"/>
          <p:cNvGrpSpPr/>
          <p:nvPr/>
        </p:nvGrpSpPr>
        <p:grpSpPr>
          <a:xfrm>
            <a:off x="2986018" y="5849794"/>
            <a:ext cx="2448000" cy="424752"/>
            <a:chOff x="2986018" y="5986274"/>
            <a:chExt cx="2448000" cy="424752"/>
          </a:xfrm>
        </p:grpSpPr>
        <p:sp>
          <p:nvSpPr>
            <p:cNvPr id="87" name="Chave Esquerda 86"/>
            <p:cNvSpPr/>
            <p:nvPr/>
          </p:nvSpPr>
          <p:spPr>
            <a:xfrm rot="16200000">
              <a:off x="4122285" y="4850007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Retângulo 87"/>
            <p:cNvSpPr/>
            <p:nvPr/>
          </p:nvSpPr>
          <p:spPr>
            <a:xfrm>
              <a:off x="3081553" y="6149416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N2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  <p:grpSp>
        <p:nvGrpSpPr>
          <p:cNvPr id="91" name="Agrupar 90"/>
          <p:cNvGrpSpPr/>
          <p:nvPr/>
        </p:nvGrpSpPr>
        <p:grpSpPr>
          <a:xfrm>
            <a:off x="1136988" y="6368630"/>
            <a:ext cx="7920000" cy="430850"/>
            <a:chOff x="1136988" y="6423222"/>
            <a:chExt cx="5184000" cy="430850"/>
          </a:xfrm>
        </p:grpSpPr>
        <p:sp>
          <p:nvSpPr>
            <p:cNvPr id="52" name="Retângulo 51"/>
            <p:cNvSpPr/>
            <p:nvPr/>
          </p:nvSpPr>
          <p:spPr>
            <a:xfrm>
              <a:off x="1304838" y="6592462"/>
              <a:ext cx="4846324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Resolução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3" name="Chave Esquerda 52"/>
            <p:cNvSpPr/>
            <p:nvPr/>
          </p:nvSpPr>
          <p:spPr>
            <a:xfrm rot="16200000">
              <a:off x="3641255" y="3918955"/>
              <a:ext cx="175465" cy="5184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133979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 de Resposta do N1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90" name="Agrupar 89"/>
          <p:cNvGrpSpPr/>
          <p:nvPr/>
        </p:nvGrpSpPr>
        <p:grpSpPr>
          <a:xfrm>
            <a:off x="1136987" y="5331300"/>
            <a:ext cx="2448000" cy="419500"/>
            <a:chOff x="1136987" y="5331300"/>
            <a:chExt cx="2448000" cy="419500"/>
          </a:xfrm>
        </p:grpSpPr>
        <p:sp>
          <p:nvSpPr>
            <p:cNvPr id="44" name="Retângulo 43"/>
            <p:cNvSpPr/>
            <p:nvPr/>
          </p:nvSpPr>
          <p:spPr>
            <a:xfrm>
              <a:off x="1225558" y="5489190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N1 (24x7)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51" name="Chave Esquerda 50"/>
            <p:cNvSpPr/>
            <p:nvPr/>
          </p:nvSpPr>
          <p:spPr>
            <a:xfrm rot="16200000">
              <a:off x="2273254" y="4195033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25598103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 de Resposta do N2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grpSp>
        <p:nvGrpSpPr>
          <p:cNvPr id="33" name="Agrupar 32"/>
          <p:cNvGrpSpPr/>
          <p:nvPr/>
        </p:nvGrpSpPr>
        <p:grpSpPr>
          <a:xfrm>
            <a:off x="2986018" y="5849794"/>
            <a:ext cx="2448000" cy="424752"/>
            <a:chOff x="2986018" y="5986274"/>
            <a:chExt cx="2448000" cy="424752"/>
          </a:xfrm>
        </p:grpSpPr>
        <p:sp>
          <p:nvSpPr>
            <p:cNvPr id="34" name="Chave Esquerda 33"/>
            <p:cNvSpPr/>
            <p:nvPr/>
          </p:nvSpPr>
          <p:spPr>
            <a:xfrm rot="16200000">
              <a:off x="4122285" y="4850007"/>
              <a:ext cx="175465" cy="2448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5" name="Retângulo 34"/>
            <p:cNvSpPr/>
            <p:nvPr/>
          </p:nvSpPr>
          <p:spPr>
            <a:xfrm>
              <a:off x="3081553" y="6149416"/>
              <a:ext cx="2270857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Resposta N2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1361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Tempo de Resolução do Chamado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  <a:endParaRPr lang="pt-BR" sz="11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grpSp>
        <p:nvGrpSpPr>
          <p:cNvPr id="36" name="Agrupar 35"/>
          <p:cNvGrpSpPr/>
          <p:nvPr/>
        </p:nvGrpSpPr>
        <p:grpSpPr>
          <a:xfrm>
            <a:off x="1136988" y="6368630"/>
            <a:ext cx="7920000" cy="430850"/>
            <a:chOff x="1136988" y="6423222"/>
            <a:chExt cx="5184000" cy="430850"/>
          </a:xfrm>
        </p:grpSpPr>
        <p:sp>
          <p:nvSpPr>
            <p:cNvPr id="37" name="Retângulo 36"/>
            <p:cNvSpPr/>
            <p:nvPr/>
          </p:nvSpPr>
          <p:spPr>
            <a:xfrm>
              <a:off x="1304838" y="6592462"/>
              <a:ext cx="4846324" cy="2616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spcAft>
                  <a:spcPts val="600"/>
                </a:spcAft>
              </a:pPr>
              <a:r>
                <a:rPr lang="pt-BR" sz="1100" b="1" dirty="0">
                  <a:solidFill>
                    <a:schemeClr val="tx1">
                      <a:lumMod val="75000"/>
                      <a:lumOff val="25000"/>
                    </a:schemeClr>
                  </a:solidFill>
                </a:rPr>
                <a:t>SLA de Resolução (8x5)</a:t>
              </a:r>
              <a:endParaRPr lang="pt-BR" sz="1100" dirty="0">
                <a:solidFill>
                  <a:schemeClr val="tx1">
                    <a:lumMod val="75000"/>
                    <a:lumOff val="25000"/>
                  </a:schemeClr>
                </a:solidFill>
              </a:endParaRPr>
            </a:p>
          </p:txBody>
        </p:sp>
        <p:sp>
          <p:nvSpPr>
            <p:cNvPr id="38" name="Chave Esquerda 37"/>
            <p:cNvSpPr/>
            <p:nvPr/>
          </p:nvSpPr>
          <p:spPr>
            <a:xfrm rot="16200000">
              <a:off x="3641255" y="3918955"/>
              <a:ext cx="175465" cy="5184000"/>
            </a:xfrm>
            <a:prstGeom prst="leftBrace">
              <a:avLst>
                <a:gd name="adj1" fmla="val 55804"/>
                <a:gd name="adj2" fmla="val 50000"/>
              </a:avLst>
            </a:prstGeom>
          </p:spPr>
          <p:style>
            <a:lnRef idx="2">
              <a:schemeClr val="accent4"/>
            </a:lnRef>
            <a:fillRef idx="0">
              <a:schemeClr val="accent4"/>
            </a:fillRef>
            <a:effectRef idx="1">
              <a:schemeClr val="accent4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" name="Retângulo: Canto Dobrado 2"/>
          <p:cNvSpPr/>
          <p:nvPr/>
        </p:nvSpPr>
        <p:spPr>
          <a:xfrm>
            <a:off x="6995139" y="5326944"/>
            <a:ext cx="2685194" cy="910596"/>
          </a:xfrm>
          <a:prstGeom prst="foldedCorner">
            <a:avLst/>
          </a:prstGeom>
          <a:solidFill>
            <a:srgbClr val="FFFF99"/>
          </a:solidFill>
          <a:ln>
            <a:solidFill>
              <a:srgbClr val="FFFF00"/>
            </a:solidFill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pt-BR" sz="1200" b="1" dirty="0"/>
              <a:t>Nota</a:t>
            </a:r>
            <a:r>
              <a:rPr lang="pt-BR" sz="1200" dirty="0"/>
              <a:t>:</a:t>
            </a:r>
          </a:p>
          <a:p>
            <a:pPr marL="72000" algn="just"/>
            <a:r>
              <a:rPr lang="pt-BR" sz="1200" dirty="0"/>
              <a:t>Há distinção no contador de chamados para apontar os  Resolvidos por N1 e Resolvidos por N2.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9628201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Direcionamento para N2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/>
              <a:t>Não</a:t>
            </a:r>
            <a:endParaRPr lang="pt-BR" sz="1100" dirty="0"/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2502851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tângulo 65"/>
          <p:cNvSpPr/>
          <p:nvPr/>
        </p:nvSpPr>
        <p:spPr>
          <a:xfrm>
            <a:off x="294251" y="3582650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N2 – Smiles</a:t>
            </a:r>
            <a:endParaRPr lang="pt-BR" sz="900" b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65" name="Retângulo 64"/>
          <p:cNvSpPr/>
          <p:nvPr/>
        </p:nvSpPr>
        <p:spPr>
          <a:xfrm>
            <a:off x="297363" y="1792764"/>
            <a:ext cx="9495799" cy="1620000"/>
          </a:xfrm>
          <a:prstGeom prst="rect">
            <a:avLst/>
          </a:prstGeom>
          <a:solidFill>
            <a:srgbClr val="DEDEDE"/>
          </a:solidFill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pt-BR" sz="1400" b="1" dirty="0">
                <a:solidFill>
                  <a:schemeClr val="bg1">
                    <a:lumMod val="75000"/>
                  </a:schemeClr>
                </a:solidFill>
              </a:rPr>
              <a:t>N1 – Cluster2Go</a:t>
            </a:r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2328020" y="130780"/>
            <a:ext cx="546109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Indicadores e Métricas</a:t>
            </a:r>
          </a:p>
        </p:txBody>
      </p:sp>
      <p:sp>
        <p:nvSpPr>
          <p:cNvPr id="10" name="Retângulo de cantos arredondados 17"/>
          <p:cNvSpPr/>
          <p:nvPr/>
        </p:nvSpPr>
        <p:spPr>
          <a:xfrm>
            <a:off x="297364" y="903452"/>
            <a:ext cx="9495799" cy="720000"/>
          </a:xfrm>
          <a:prstGeom prst="roundRect">
            <a:avLst>
              <a:gd name="adj" fmla="val 7081"/>
            </a:avLst>
          </a:prstGeom>
          <a:solidFill>
            <a:srgbClr val="7030A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900000"/>
            <a:r>
              <a:rPr lang="pt-BR" sz="2000" b="1" dirty="0">
                <a:solidFill>
                  <a:schemeClr val="bg1">
                    <a:lumMod val="9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rPr>
              <a:t>Direcionamento Incorreto para N2</a:t>
            </a:r>
            <a:endParaRPr lang="pt-BR" sz="2400" b="1" dirty="0">
              <a:solidFill>
                <a:schemeClr val="bg1">
                  <a:lumMod val="95000"/>
                </a:schemeClr>
              </a:solidFill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359" y="958740"/>
            <a:ext cx="647920" cy="613752"/>
          </a:xfrm>
          <a:prstGeom prst="rect">
            <a:avLst/>
          </a:prstGeom>
          <a:effectLst/>
        </p:spPr>
      </p:pic>
      <p:sp>
        <p:nvSpPr>
          <p:cNvPr id="19" name="Losango 18"/>
          <p:cNvSpPr/>
          <p:nvPr/>
        </p:nvSpPr>
        <p:spPr>
          <a:xfrm>
            <a:off x="2605490" y="2221764"/>
            <a:ext cx="1371600" cy="762000"/>
          </a:xfrm>
          <a:prstGeom prst="diamond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N1?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20" name="Conector de Seta Reta 19"/>
          <p:cNvCxnSpPr>
            <a:cxnSpLocks/>
            <a:stCxn id="23" idx="3"/>
            <a:endCxn id="19" idx="1"/>
          </p:cNvCxnSpPr>
          <p:nvPr/>
        </p:nvCxnSpPr>
        <p:spPr>
          <a:xfrm>
            <a:off x="2116484" y="2602764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Fluxograma: Processo 22"/>
          <p:cNvSpPr/>
          <p:nvPr/>
        </p:nvSpPr>
        <p:spPr>
          <a:xfrm>
            <a:off x="744884" y="2221764"/>
            <a:ext cx="1371600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N1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6" name="Fluxograma: Processo 45"/>
          <p:cNvSpPr/>
          <p:nvPr/>
        </p:nvSpPr>
        <p:spPr>
          <a:xfrm>
            <a:off x="6315127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7" name="Conector de Seta Reta 46"/>
          <p:cNvCxnSpPr>
            <a:cxnSpLocks/>
            <a:stCxn id="19" idx="3"/>
            <a:endCxn id="46" idx="1"/>
          </p:cNvCxnSpPr>
          <p:nvPr/>
        </p:nvCxnSpPr>
        <p:spPr>
          <a:xfrm>
            <a:off x="3977090" y="2602764"/>
            <a:ext cx="233803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Fluxograma: Processo 53"/>
          <p:cNvSpPr/>
          <p:nvPr/>
        </p:nvSpPr>
        <p:spPr>
          <a:xfrm>
            <a:off x="8164159" y="2221764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em N1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5" name="Conector de Seta Reta 54"/>
          <p:cNvCxnSpPr>
            <a:stCxn id="46" idx="3"/>
            <a:endCxn id="54" idx="1"/>
          </p:cNvCxnSpPr>
          <p:nvPr/>
        </p:nvCxnSpPr>
        <p:spPr>
          <a:xfrm>
            <a:off x="7675152" y="2602764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tângulo 40"/>
          <p:cNvSpPr/>
          <p:nvPr/>
        </p:nvSpPr>
        <p:spPr>
          <a:xfrm>
            <a:off x="3768944" y="2317154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  <p:sp>
        <p:nvSpPr>
          <p:cNvPr id="45" name="Fluxograma: Processo 44"/>
          <p:cNvSpPr/>
          <p:nvPr/>
        </p:nvSpPr>
        <p:spPr>
          <a:xfrm>
            <a:off x="2605490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Monitora Fila N2 e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avalia chamados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19" idx="2"/>
            <a:endCxn id="45" idx="0"/>
          </p:cNvCxnSpPr>
          <p:nvPr/>
        </p:nvCxnSpPr>
        <p:spPr>
          <a:xfrm flipH="1">
            <a:off x="3285503" y="2983764"/>
            <a:ext cx="5787" cy="1027886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etângulo 55"/>
          <p:cNvSpPr/>
          <p:nvPr/>
        </p:nvSpPr>
        <p:spPr>
          <a:xfrm>
            <a:off x="3141594" y="2964296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Não</a:t>
            </a:r>
          </a:p>
        </p:txBody>
      </p:sp>
      <p:sp>
        <p:nvSpPr>
          <p:cNvPr id="57" name="Fluxograma: Processo 56"/>
          <p:cNvSpPr/>
          <p:nvPr/>
        </p:nvSpPr>
        <p:spPr>
          <a:xfrm>
            <a:off x="6315127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Realiza atendimento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58" name="Losango 57"/>
          <p:cNvSpPr/>
          <p:nvPr/>
        </p:nvSpPr>
        <p:spPr>
          <a:xfrm>
            <a:off x="4454521" y="4011650"/>
            <a:ext cx="1371600" cy="762000"/>
          </a:xfrm>
          <a:prstGeom prst="diamond">
            <a:avLst/>
          </a:prstGeom>
          <a:solidFill>
            <a:srgbClr val="FF6600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Escopo </a:t>
            </a:r>
            <a:r>
              <a:rPr lang="pt-BR" sz="11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N2?</a:t>
            </a:r>
            <a:endParaRPr lang="en-US" sz="11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58" idx="2"/>
            <a:endCxn id="23" idx="2"/>
          </p:cNvCxnSpPr>
          <p:nvPr/>
        </p:nvCxnSpPr>
        <p:spPr>
          <a:xfrm rot="5400000" flipH="1">
            <a:off x="2390560" y="2023889"/>
            <a:ext cx="1789886" cy="3709637"/>
          </a:xfrm>
          <a:prstGeom prst="bentConnector3">
            <a:avLst>
              <a:gd name="adj1" fmla="val -12772"/>
            </a:avLst>
          </a:prstGeom>
          <a:ln>
            <a:solidFill>
              <a:srgbClr val="7030A0"/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/>
          <p:cNvCxnSpPr>
            <a:cxnSpLocks/>
            <a:stCxn id="45" idx="3"/>
            <a:endCxn id="58" idx="1"/>
          </p:cNvCxnSpPr>
          <p:nvPr/>
        </p:nvCxnSpPr>
        <p:spPr>
          <a:xfrm>
            <a:off x="3965515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1" name="Retângulo 60"/>
          <p:cNvSpPr/>
          <p:nvPr/>
        </p:nvSpPr>
        <p:spPr>
          <a:xfrm>
            <a:off x="4420321" y="4705582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/>
              <a:t>Não</a:t>
            </a:r>
          </a:p>
        </p:txBody>
      </p:sp>
      <p:cxnSp>
        <p:nvCxnSpPr>
          <p:cNvPr id="63" name="Conector de Seta Reta 62"/>
          <p:cNvCxnSpPr>
            <a:cxnSpLocks/>
            <a:stCxn id="58" idx="3"/>
            <a:endCxn id="57" idx="1"/>
          </p:cNvCxnSpPr>
          <p:nvPr/>
        </p:nvCxnSpPr>
        <p:spPr>
          <a:xfrm>
            <a:off x="5826121" y="4392650"/>
            <a:ext cx="489006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Fluxograma: Processo 66"/>
          <p:cNvSpPr/>
          <p:nvPr/>
        </p:nvSpPr>
        <p:spPr>
          <a:xfrm>
            <a:off x="8164159" y="4011650"/>
            <a:ext cx="1360025" cy="762000"/>
          </a:xfrm>
          <a:prstGeom prst="flowChartProcess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2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Resolve o Chamado </a:t>
            </a:r>
            <a:r>
              <a:rPr lang="pt-BR" sz="1200" b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em N2</a:t>
            </a:r>
            <a:endParaRPr lang="en-US" sz="1200" b="1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cxnSp>
        <p:nvCxnSpPr>
          <p:cNvPr id="68" name="Conector de Seta Reta 67"/>
          <p:cNvCxnSpPr>
            <a:cxnSpLocks/>
            <a:stCxn id="57" idx="3"/>
            <a:endCxn id="67" idx="1"/>
          </p:cNvCxnSpPr>
          <p:nvPr/>
        </p:nvCxnSpPr>
        <p:spPr>
          <a:xfrm>
            <a:off x="7675152" y="4392650"/>
            <a:ext cx="489007" cy="0"/>
          </a:xfrm>
          <a:prstGeom prst="straightConnector1">
            <a:avLst/>
          </a:prstGeom>
          <a:ln>
            <a:solidFill>
              <a:schemeClr val="bg1">
                <a:lumMod val="75000"/>
              </a:schemeClr>
            </a:solidFill>
            <a:tailEnd type="triangl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tângulo 71"/>
          <p:cNvSpPr/>
          <p:nvPr/>
        </p:nvSpPr>
        <p:spPr>
          <a:xfrm>
            <a:off x="5599054" y="4111548"/>
            <a:ext cx="720000" cy="2616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lang="pt-BR" sz="1100" b="1" dirty="0">
                <a:solidFill>
                  <a:schemeClr val="bg1">
                    <a:lumMod val="75000"/>
                  </a:schemeClr>
                </a:solidFill>
              </a:rPr>
              <a:t>Sim</a:t>
            </a:r>
          </a:p>
        </p:txBody>
      </p:sp>
    </p:spTree>
    <p:extLst>
      <p:ext uri="{BB962C8B-B14F-4D97-AF65-F5344CB8AC3E}">
        <p14:creationId xmlns:p14="http://schemas.microsoft.com/office/powerpoint/2010/main" val="8304714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 7"/>
          <p:cNvSpPr>
            <a:spLocks noChangeAspect="1"/>
          </p:cNvSpPr>
          <p:nvPr/>
        </p:nvSpPr>
        <p:spPr>
          <a:xfrm flipH="1">
            <a:off x="0" y="-1"/>
            <a:ext cx="10117138" cy="6858001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grpSp>
        <p:nvGrpSpPr>
          <p:cNvPr id="3" name="Agrupar 2"/>
          <p:cNvGrpSpPr/>
          <p:nvPr/>
        </p:nvGrpSpPr>
        <p:grpSpPr>
          <a:xfrm>
            <a:off x="262189" y="773160"/>
            <a:ext cx="4428000" cy="5082564"/>
            <a:chOff x="262189" y="773160"/>
            <a:chExt cx="4428000" cy="5082564"/>
          </a:xfrm>
        </p:grpSpPr>
        <p:sp>
          <p:nvSpPr>
            <p:cNvPr id="9" name="TextBox 8"/>
            <p:cNvSpPr txBox="1"/>
            <p:nvPr/>
          </p:nvSpPr>
          <p:spPr>
            <a:xfrm>
              <a:off x="607117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Missão</a:t>
              </a:r>
            </a:p>
          </p:txBody>
        </p:sp>
        <p:sp>
          <p:nvSpPr>
            <p:cNvPr id="10" name="CaixaDeTexto 9"/>
            <p:cNvSpPr txBox="1"/>
            <p:nvPr/>
          </p:nvSpPr>
          <p:spPr>
            <a:xfrm>
              <a:off x="262189" y="1427724"/>
              <a:ext cx="4428000" cy="4428000"/>
            </a:xfrm>
            <a:prstGeom prst="rect">
              <a:avLst/>
            </a:prstGeom>
            <a:solidFill>
              <a:schemeClr val="accent4">
                <a:lumMod val="50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“Habilitar os desenvolvedores 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entregar </a:t>
              </a:r>
              <a:r>
                <a:rPr lang="pt-BR" sz="2400" b="1" i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software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com qualidade e funcionando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no primeiro dia de trabalho na Smiles.”</a:t>
              </a:r>
            </a:p>
          </p:txBody>
        </p:sp>
      </p:grpSp>
      <p:pic>
        <p:nvPicPr>
          <p:cNvPr id="12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355" y="227799"/>
            <a:ext cx="933147" cy="334448"/>
          </a:xfrm>
          <a:prstGeom prst="rect">
            <a:avLst/>
          </a:prstGeom>
        </p:spPr>
      </p:pic>
      <p:grpSp>
        <p:nvGrpSpPr>
          <p:cNvPr id="4" name="Agrupar 3"/>
          <p:cNvGrpSpPr/>
          <p:nvPr/>
        </p:nvGrpSpPr>
        <p:grpSpPr>
          <a:xfrm>
            <a:off x="5471017" y="773160"/>
            <a:ext cx="4428000" cy="5082564"/>
            <a:chOff x="5471017" y="773160"/>
            <a:chExt cx="4428000" cy="5082564"/>
          </a:xfrm>
        </p:grpSpPr>
        <p:sp>
          <p:nvSpPr>
            <p:cNvPr id="6" name="CaixaDeTexto 5"/>
            <p:cNvSpPr txBox="1"/>
            <p:nvPr/>
          </p:nvSpPr>
          <p:spPr>
            <a:xfrm>
              <a:off x="5471017" y="1427724"/>
              <a:ext cx="4428000" cy="4428000"/>
            </a:xfrm>
            <a:prstGeom prst="rect">
              <a:avLst/>
            </a:prstGeom>
            <a:solidFill>
              <a:schemeClr val="accent4">
                <a:lumMod val="50000"/>
                <a:alpha val="88000"/>
              </a:schemeClr>
            </a:solidFill>
          </p:spPr>
          <p:txBody>
            <a:bodyPr wrap="square" rtlCol="0" anchor="ctr">
              <a:noAutofit/>
            </a:bodyPr>
            <a:lstStyle/>
            <a:p>
              <a:pPr marL="36000">
                <a:lnSpc>
                  <a:spcPts val="3500"/>
                </a:lnSpc>
                <a:spcBef>
                  <a:spcPts val="600"/>
                </a:spcBef>
                <a:spcAft>
                  <a:spcPts val="600"/>
                </a:spcAft>
              </a:pP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“Promover um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ambiente de inovação constante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 onde a Tecnologia seja de fato um habilitador que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impulsiona os negócios da Smiles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, através de uma </a:t>
              </a:r>
              <a:r>
                <a:rPr lang="pt-BR" sz="2400" b="1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cultura de desenvolvimento </a:t>
              </a:r>
              <a:r>
                <a:rPr lang="pt-BR" sz="2400" dirty="0">
                  <a:solidFill>
                    <a:schemeClr val="bg1"/>
                  </a:solidFill>
                  <a:effectLst>
                    <a:outerShdw blurRad="50800" dist="63500" dir="2700000" algn="tl" rotWithShape="0">
                      <a:schemeClr val="tx1">
                        <a:alpha val="85000"/>
                      </a:schemeClr>
                    </a:outerShdw>
                  </a:effectLst>
                  <a:latin typeface="Segoe UI Light" panose="020B0502040204020203" pitchFamily="34" charset="0"/>
                  <a:cs typeface="Segoe UI Light" panose="020B0502040204020203" pitchFamily="34" charset="0"/>
                </a:rPr>
                <a:t>que permita evoluções rápidas, contínuas e com alta resiliência.”</a:t>
              </a:r>
            </a:p>
          </p:txBody>
        </p:sp>
        <p:sp>
          <p:nvSpPr>
            <p:cNvPr id="7" name="TextBox 8"/>
            <p:cNvSpPr txBox="1"/>
            <p:nvPr/>
          </p:nvSpPr>
          <p:spPr>
            <a:xfrm>
              <a:off x="5815945" y="773160"/>
              <a:ext cx="3738144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dirty="0">
                  <a:solidFill>
                    <a:schemeClr val="bg1"/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" panose="020B0502040204020203" pitchFamily="34" charset="0"/>
                  <a:cs typeface="Segoe UI" panose="020B0502040204020203" pitchFamily="34" charset="0"/>
                </a:rPr>
                <a:t>Visão</a:t>
              </a:r>
            </a:p>
          </p:txBody>
        </p:sp>
      </p:grpSp>
      <p:sp>
        <p:nvSpPr>
          <p:cNvPr id="2" name="Retângulo 1"/>
          <p:cNvSpPr/>
          <p:nvPr/>
        </p:nvSpPr>
        <p:spPr>
          <a:xfrm>
            <a:off x="4448487" y="6434914"/>
            <a:ext cx="454483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“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Think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big,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Act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small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Fail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fast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,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Learn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 </a:t>
            </a:r>
            <a:r>
              <a:rPr lang="pt-BR" sz="1600" i="1" dirty="0" err="1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rapidly</a:t>
            </a:r>
            <a:r>
              <a:rPr lang="pt-BR" sz="1600" i="1" dirty="0">
                <a:solidFill>
                  <a:schemeClr val="bg1"/>
                </a:solidFill>
                <a:latin typeface="Georgia" panose="02040502050405020303" pitchFamily="18" charset="0"/>
                <a:cs typeface="Times New Roman" panose="02020603050405020304" pitchFamily="18" charset="0"/>
              </a:rPr>
              <a:t>.”</a:t>
            </a:r>
            <a:r>
              <a:rPr lang="pt-BR" sz="1600" i="1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468468118"/>
      </p:ext>
    </p:extLst>
  </p:cSld>
  <p:clrMapOvr>
    <a:masterClrMapping/>
  </p:clrMapOvr>
  <p:transition spd="slow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000"/>
                            </p:stCondLst>
                            <p:childTnLst>
                              <p:par>
                                <p:cTn id="12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Dinâmica Atual de DEV</a:t>
            </a:r>
          </a:p>
        </p:txBody>
      </p:sp>
      <p:grpSp>
        <p:nvGrpSpPr>
          <p:cNvPr id="18" name="Agrupar 17"/>
          <p:cNvGrpSpPr/>
          <p:nvPr/>
        </p:nvGrpSpPr>
        <p:grpSpPr>
          <a:xfrm>
            <a:off x="90350" y="1455128"/>
            <a:ext cx="1800000" cy="4672175"/>
            <a:chOff x="90350" y="1507880"/>
            <a:chExt cx="1800000" cy="4672175"/>
          </a:xfrm>
        </p:grpSpPr>
        <p:sp>
          <p:nvSpPr>
            <p:cNvPr id="3" name="Seta: Pentágono 2"/>
            <p:cNvSpPr/>
            <p:nvPr/>
          </p:nvSpPr>
          <p:spPr>
            <a:xfrm>
              <a:off x="90350" y="1507880"/>
              <a:ext cx="1800000" cy="606670"/>
            </a:xfrm>
            <a:prstGeom prst="homePlate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Entendimento e Preparação</a:t>
              </a:r>
            </a:p>
          </p:txBody>
        </p:sp>
        <p:sp>
          <p:nvSpPr>
            <p:cNvPr id="5" name="Retângulo 4"/>
            <p:cNvSpPr/>
            <p:nvPr/>
          </p:nvSpPr>
          <p:spPr>
            <a:xfrm>
              <a:off x="9035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entende Desenho de Solução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Verifica qual é a Tecnologia a ser usada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Busca acessos necessários para trabalhar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Desenvolvedor “monta” seu ambiente de DEV e Teste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Realiza definição de apontamentos (ambientes)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/>
              </a:pPr>
              <a:r>
                <a:rPr lang="pt-BR" sz="900" dirty="0"/>
                <a:t>Pede para criar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19" name="Agrupar 18"/>
          <p:cNvGrpSpPr/>
          <p:nvPr/>
        </p:nvGrpSpPr>
        <p:grpSpPr>
          <a:xfrm>
            <a:off x="1724765" y="1455128"/>
            <a:ext cx="1800000" cy="4672175"/>
            <a:chOff x="1724765" y="1507880"/>
            <a:chExt cx="1800000" cy="4672175"/>
          </a:xfrm>
        </p:grpSpPr>
        <p:sp>
          <p:nvSpPr>
            <p:cNvPr id="4" name="Seta: Divisa 3"/>
            <p:cNvSpPr/>
            <p:nvPr/>
          </p:nvSpPr>
          <p:spPr>
            <a:xfrm>
              <a:off x="172476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Codificação e Teste Local</a:t>
              </a:r>
            </a:p>
          </p:txBody>
        </p:sp>
        <p:sp>
          <p:nvSpPr>
            <p:cNvPr id="12" name="Retângulo 11"/>
            <p:cNvSpPr/>
            <p:nvPr/>
          </p:nvSpPr>
          <p:spPr>
            <a:xfrm>
              <a:off x="1724765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checkout</a:t>
              </a:r>
              <a:r>
                <a:rPr lang="pt-BR" sz="900" dirty="0"/>
                <a:t> e roda código AS-IS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Começa o desenvolvimento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Funcionalidade / Correção desenvolvida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Realiza teste mínimo local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7"/>
              </a:pPr>
              <a:r>
                <a:rPr lang="pt-BR" sz="900" dirty="0"/>
                <a:t>Faz </a:t>
              </a:r>
              <a:r>
                <a:rPr lang="pt-BR" sz="900" dirty="0" err="1"/>
                <a:t>Commit</a:t>
              </a:r>
              <a:r>
                <a:rPr lang="pt-BR" sz="900" dirty="0"/>
                <a:t> na </a:t>
              </a:r>
              <a:r>
                <a:rPr lang="pt-BR" sz="900" dirty="0" err="1"/>
                <a:t>Branch</a:t>
              </a:r>
              <a:endParaRPr lang="pt-BR" sz="900" dirty="0"/>
            </a:p>
          </p:txBody>
        </p:sp>
      </p:grpSp>
      <p:grpSp>
        <p:nvGrpSpPr>
          <p:cNvPr id="20" name="Agrupar 19"/>
          <p:cNvGrpSpPr/>
          <p:nvPr/>
        </p:nvGrpSpPr>
        <p:grpSpPr>
          <a:xfrm>
            <a:off x="3359180" y="1455128"/>
            <a:ext cx="1800000" cy="4672175"/>
            <a:chOff x="3359180" y="1507880"/>
            <a:chExt cx="1800000" cy="4672175"/>
          </a:xfrm>
        </p:grpSpPr>
        <p:sp>
          <p:nvSpPr>
            <p:cNvPr id="8" name="Seta: Divisa 7"/>
            <p:cNvSpPr/>
            <p:nvPr/>
          </p:nvSpPr>
          <p:spPr>
            <a:xfrm>
              <a:off x="335918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endParaRPr lang="pt-BR" sz="13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endParaRPr>
            </a:p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(Pré-Teste)</a:t>
              </a:r>
            </a:p>
          </p:txBody>
        </p:sp>
        <p:sp>
          <p:nvSpPr>
            <p:cNvPr id="13" name="Retângulo 12"/>
            <p:cNvSpPr/>
            <p:nvPr/>
          </p:nvSpPr>
          <p:spPr>
            <a:xfrm>
              <a:off x="335918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Faz Build do Pacote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em UAT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Libera para QA (Pré-Teste)</a:t>
              </a:r>
            </a:p>
            <a:p>
              <a:pPr marL="22860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2"/>
              </a:pPr>
              <a:r>
                <a:rPr lang="pt-BR" sz="900" dirty="0"/>
                <a:t>Pré-Teste OK, segue. Pré-Teste NOK, volta p/ passo 9</a:t>
              </a:r>
            </a:p>
          </p:txBody>
        </p:sp>
      </p:grpSp>
      <p:grpSp>
        <p:nvGrpSpPr>
          <p:cNvPr id="21" name="Agrupar 20"/>
          <p:cNvGrpSpPr/>
          <p:nvPr/>
        </p:nvGrpSpPr>
        <p:grpSpPr>
          <a:xfrm>
            <a:off x="4993595" y="1455128"/>
            <a:ext cx="1800000" cy="4697085"/>
            <a:chOff x="4993595" y="1507880"/>
            <a:chExt cx="1800000" cy="4697085"/>
          </a:xfrm>
        </p:grpSpPr>
        <p:sp>
          <p:nvSpPr>
            <p:cNvPr id="11" name="Seta: Divisa 10"/>
            <p:cNvSpPr/>
            <p:nvPr/>
          </p:nvSpPr>
          <p:spPr>
            <a:xfrm>
              <a:off x="499359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Build/</a:t>
              </a:r>
              <a:r>
                <a:rPr lang="pt-BR" sz="1300" dirty="0" err="1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Deploy</a:t>
              </a:r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 em UAT (QA)</a:t>
              </a:r>
            </a:p>
          </p:txBody>
        </p:sp>
        <p:sp>
          <p:nvSpPr>
            <p:cNvPr id="14" name="Retângulo 13"/>
            <p:cNvSpPr/>
            <p:nvPr/>
          </p:nvSpPr>
          <p:spPr>
            <a:xfrm>
              <a:off x="4993595" y="224496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 ordem de entradas do </a:t>
              </a:r>
              <a:r>
                <a:rPr lang="pt-BR" sz="900" dirty="0" err="1"/>
                <a:t>Quarter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Definição das Merges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 e Definição da Merge Master das </a:t>
              </a:r>
              <a:r>
                <a:rPr lang="pt-BR" sz="900" dirty="0" err="1"/>
                <a:t>Branchs</a:t>
              </a:r>
              <a:r>
                <a:rPr lang="pt-BR" sz="900" dirty="0"/>
                <a:t> que entram juntas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Faz Build de todos os pacotes em produção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Solicita </a:t>
              </a:r>
              <a:r>
                <a:rPr lang="pt-BR" sz="900" dirty="0" err="1"/>
                <a:t>Deploy</a:t>
              </a:r>
              <a:r>
                <a:rPr lang="pt-BR" sz="900" dirty="0"/>
                <a:t> em UAT + Arquivos </a:t>
              </a:r>
              <a:r>
                <a:rPr lang="pt-BR" sz="900" dirty="0" err="1"/>
                <a:t>Properties</a:t>
              </a:r>
              <a:r>
                <a:rPr lang="pt-BR" sz="900" dirty="0"/>
                <a:t> (Apontamentos)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Aguarda </a:t>
              </a:r>
              <a:r>
                <a:rPr lang="pt-BR" sz="900" dirty="0" err="1"/>
                <a:t>Deploy</a:t>
              </a:r>
              <a:r>
                <a:rPr lang="pt-BR" sz="900" dirty="0"/>
                <a:t>  em UAT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 err="1"/>
                <a:t>Deploy</a:t>
              </a:r>
              <a:r>
                <a:rPr lang="pt-BR" sz="900" dirty="0"/>
                <a:t> OK, segue. </a:t>
              </a:r>
              <a:r>
                <a:rPr lang="pt-BR" sz="900" dirty="0" err="1"/>
                <a:t>Deploy</a:t>
              </a:r>
              <a:r>
                <a:rPr lang="pt-BR" sz="900" dirty="0"/>
                <a:t> NOK, volta p/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Libera </a:t>
              </a:r>
              <a:r>
                <a:rPr lang="pt-BR" sz="900" dirty="0" err="1"/>
                <a:t>Deploy</a:t>
              </a:r>
              <a:r>
                <a:rPr lang="pt-BR" sz="900" dirty="0"/>
                <a:t> para QA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QA faz Regressivo FULL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18"/>
              </a:pPr>
              <a:r>
                <a:rPr lang="pt-BR" sz="900" dirty="0"/>
                <a:t>Regressivo OK, segue. Regressivo NOK, volta p/  passo 9</a:t>
              </a:r>
            </a:p>
          </p:txBody>
        </p:sp>
      </p:grpSp>
      <p:grpSp>
        <p:nvGrpSpPr>
          <p:cNvPr id="22" name="Agrupar 21"/>
          <p:cNvGrpSpPr/>
          <p:nvPr/>
        </p:nvGrpSpPr>
        <p:grpSpPr>
          <a:xfrm>
            <a:off x="6628010" y="1455128"/>
            <a:ext cx="1800000" cy="4672175"/>
            <a:chOff x="6628010" y="1507880"/>
            <a:chExt cx="1800000" cy="4672175"/>
          </a:xfrm>
        </p:grpSpPr>
        <p:sp>
          <p:nvSpPr>
            <p:cNvPr id="10" name="Seta: Divisa 9"/>
            <p:cNvSpPr/>
            <p:nvPr/>
          </p:nvSpPr>
          <p:spPr>
            <a:xfrm>
              <a:off x="6628010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GMUD e Implantação</a:t>
              </a:r>
            </a:p>
          </p:txBody>
        </p:sp>
        <p:sp>
          <p:nvSpPr>
            <p:cNvPr id="15" name="Retângulo 14"/>
            <p:cNvSpPr/>
            <p:nvPr/>
          </p:nvSpPr>
          <p:spPr>
            <a:xfrm>
              <a:off x="6628010" y="2220055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Abre GMUD e estabelece Blue/Green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Implantação GMUD na data acordada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Deploy</a:t>
              </a:r>
              <a:r>
                <a:rPr lang="pt-BR" sz="900" dirty="0"/>
                <a:t> em  Ambiente de Produção </a:t>
              </a:r>
              <a:r>
                <a:rPr lang="pt-BR" sz="900" dirty="0" err="1"/>
                <a:t>Standby</a:t>
              </a:r>
              <a:r>
                <a:rPr lang="pt-BR" sz="900" dirty="0"/>
                <a:t>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Configurar Máquinas locais para enxergar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ajustes na  monitoração (</a:t>
              </a:r>
              <a:r>
                <a:rPr lang="pt-BR" sz="900" dirty="0" err="1"/>
                <a:t>Dynatrace</a:t>
              </a:r>
              <a:r>
                <a:rPr lang="pt-BR" sz="900" dirty="0"/>
                <a:t>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/>
                <a:t>Realiza </a:t>
              </a:r>
              <a:r>
                <a:rPr lang="pt-BR" sz="900" dirty="0" err="1"/>
                <a:t>Smoke</a:t>
              </a:r>
              <a:r>
                <a:rPr lang="pt-BR" sz="900" dirty="0"/>
                <a:t> Test no Ambiente de Produção </a:t>
              </a:r>
              <a:r>
                <a:rPr lang="pt-BR" sz="900" dirty="0" err="1"/>
                <a:t>Standby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r>
                <a:rPr lang="pt-BR" sz="900" dirty="0" err="1"/>
                <a:t>Smoke</a:t>
              </a:r>
              <a:r>
                <a:rPr lang="pt-BR" sz="900" dirty="0"/>
                <a:t> Test OK, segue. </a:t>
              </a:r>
              <a:r>
                <a:rPr lang="pt-BR" sz="900" dirty="0" err="1"/>
                <a:t>Smoke</a:t>
              </a:r>
              <a:r>
                <a:rPr lang="pt-BR" sz="900" dirty="0"/>
                <a:t> Test NOK, volta para passo 9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27"/>
              </a:pPr>
              <a:endParaRPr lang="pt-BR" sz="900" dirty="0"/>
            </a:p>
          </p:txBody>
        </p:sp>
      </p:grpSp>
      <p:grpSp>
        <p:nvGrpSpPr>
          <p:cNvPr id="23" name="Agrupar 22"/>
          <p:cNvGrpSpPr/>
          <p:nvPr/>
        </p:nvGrpSpPr>
        <p:grpSpPr>
          <a:xfrm>
            <a:off x="8262425" y="1455128"/>
            <a:ext cx="1800000" cy="4672174"/>
            <a:chOff x="8262425" y="1507880"/>
            <a:chExt cx="1800000" cy="4672174"/>
          </a:xfrm>
        </p:grpSpPr>
        <p:sp>
          <p:nvSpPr>
            <p:cNvPr id="16" name="Seta: Divisa 15"/>
            <p:cNvSpPr/>
            <p:nvPr/>
          </p:nvSpPr>
          <p:spPr>
            <a:xfrm>
              <a:off x="8262425" y="1507880"/>
              <a:ext cx="1800000" cy="606670"/>
            </a:xfrm>
            <a:prstGeom prst="chevron">
              <a:avLst/>
            </a:prstGeom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pt-BR" sz="13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Candara" panose="020E0502030303020204" pitchFamily="34" charset="0"/>
                  <a:cs typeface="Arial" panose="020B0604020202020204" pitchFamily="34" charset="0"/>
                </a:rPr>
                <a:t>Chaveamento e Produção FULL</a:t>
              </a:r>
            </a:p>
          </p:txBody>
        </p:sp>
        <p:sp>
          <p:nvSpPr>
            <p:cNvPr id="17" name="Retângulo 16"/>
            <p:cNvSpPr/>
            <p:nvPr/>
          </p:nvSpPr>
          <p:spPr>
            <a:xfrm>
              <a:off x="8262425" y="2220054"/>
              <a:ext cx="1527441" cy="3960000"/>
            </a:xfrm>
            <a:prstGeom prst="rect">
              <a:avLst/>
            </a:prstGeom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Parcial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Acompanhamento do chaveamento parcial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Chaveamento Total 100% (Blue/Green)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KT para Operações (opcional)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Merge do </a:t>
              </a:r>
              <a:r>
                <a:rPr lang="pt-BR" sz="900" dirty="0" err="1"/>
                <a:t>Branch</a:t>
              </a:r>
              <a:r>
                <a:rPr lang="pt-BR" sz="900" dirty="0"/>
                <a:t> na </a:t>
              </a:r>
              <a:r>
                <a:rPr lang="pt-BR" sz="900" dirty="0" err="1"/>
                <a:t>master</a:t>
              </a:r>
              <a:endParaRPr lang="pt-BR" sz="900" dirty="0"/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Release do próximo projeto do </a:t>
              </a:r>
              <a:r>
                <a:rPr lang="pt-BR" sz="900" dirty="0" err="1"/>
                <a:t>Quarter</a:t>
              </a:r>
              <a:r>
                <a:rPr lang="pt-BR" sz="900" dirty="0"/>
                <a:t> (volta para passo 19)</a:t>
              </a:r>
            </a:p>
            <a:p>
              <a:pPr marL="228600" lvl="0" indent="-228600">
                <a:spcBef>
                  <a:spcPts val="300"/>
                </a:spcBef>
                <a:spcAft>
                  <a:spcPts val="300"/>
                </a:spcAft>
                <a:buFont typeface="+mj-lt"/>
                <a:buAutoNum type="arabicPeriod" startAt="34"/>
              </a:pPr>
              <a:r>
                <a:rPr lang="pt-BR" sz="900" dirty="0"/>
                <a:t>Operação Assistida em Produção</a:t>
              </a:r>
            </a:p>
          </p:txBody>
        </p:sp>
      </p:grpSp>
      <p:sp>
        <p:nvSpPr>
          <p:cNvPr id="24" name="Retângulo: Cantos Arredondados 23"/>
          <p:cNvSpPr/>
          <p:nvPr/>
        </p:nvSpPr>
        <p:spPr>
          <a:xfrm>
            <a:off x="9035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5" name="Retângulo: Cantos Arredondados 24"/>
          <p:cNvSpPr/>
          <p:nvPr/>
        </p:nvSpPr>
        <p:spPr>
          <a:xfrm>
            <a:off x="8262425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5 dias </a:t>
            </a:r>
          </a:p>
        </p:txBody>
      </p:sp>
      <p:sp>
        <p:nvSpPr>
          <p:cNvPr id="26" name="Retângulo: Cantos Arredondados 25"/>
          <p:cNvSpPr/>
          <p:nvPr/>
        </p:nvSpPr>
        <p:spPr>
          <a:xfrm>
            <a:off x="172476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10 dias </a:t>
            </a:r>
          </a:p>
        </p:txBody>
      </p:sp>
      <p:sp>
        <p:nvSpPr>
          <p:cNvPr id="27" name="Retângulo: Cantos Arredondados 26"/>
          <p:cNvSpPr/>
          <p:nvPr/>
        </p:nvSpPr>
        <p:spPr>
          <a:xfrm>
            <a:off x="335918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2 dias </a:t>
            </a:r>
          </a:p>
        </p:txBody>
      </p:sp>
      <p:sp>
        <p:nvSpPr>
          <p:cNvPr id="28" name="Retângulo: Cantos Arredondados 27"/>
          <p:cNvSpPr/>
          <p:nvPr/>
        </p:nvSpPr>
        <p:spPr>
          <a:xfrm>
            <a:off x="4993596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7 dias </a:t>
            </a:r>
          </a:p>
        </p:txBody>
      </p:sp>
      <p:sp>
        <p:nvSpPr>
          <p:cNvPr id="29" name="Retângulo: Cantos Arredondados 28"/>
          <p:cNvSpPr/>
          <p:nvPr/>
        </p:nvSpPr>
        <p:spPr>
          <a:xfrm>
            <a:off x="6628011" y="1107826"/>
            <a:ext cx="1237288" cy="252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200" dirty="0">
                <a:latin typeface="Candara" panose="020E0502030303020204" pitchFamily="34" charset="0"/>
                <a:cs typeface="Arial" panose="020B0604020202020204" pitchFamily="34" charset="0"/>
              </a:rPr>
              <a:t>6 dias </a:t>
            </a:r>
          </a:p>
        </p:txBody>
      </p:sp>
      <p:sp>
        <p:nvSpPr>
          <p:cNvPr id="30" name="Retângulo: Cantos Arredondados 29"/>
          <p:cNvSpPr/>
          <p:nvPr/>
        </p:nvSpPr>
        <p:spPr>
          <a:xfrm>
            <a:off x="90350" y="819553"/>
            <a:ext cx="1923088" cy="180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ndara" panose="020E0502030303020204" pitchFamily="34" charset="0"/>
                <a:cs typeface="Arial" panose="020B0604020202020204" pitchFamily="34" charset="0"/>
              </a:rPr>
              <a:t>Tempos médios estimados</a:t>
            </a:r>
            <a:endParaRPr lang="pt-BR" sz="1300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31" name="CaixaDeTexto 30"/>
          <p:cNvSpPr txBox="1"/>
          <p:nvPr/>
        </p:nvSpPr>
        <p:spPr>
          <a:xfrm>
            <a:off x="743949" y="4986285"/>
            <a:ext cx="3515231" cy="5847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rgbClr val="C00000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pt-BR" sz="1600" b="1" dirty="0">
                <a:solidFill>
                  <a:srgbClr val="C00000"/>
                </a:solidFill>
                <a:latin typeface="Candara" panose="020E0502030303020204" pitchFamily="34" charset="0"/>
              </a:rPr>
              <a:t>Importante: poucos desenvolvedores conhecem o processo todo!</a:t>
            </a:r>
          </a:p>
        </p:txBody>
      </p:sp>
      <p:sp>
        <p:nvSpPr>
          <p:cNvPr id="33" name="CaixaDeTexto 32"/>
          <p:cNvSpPr txBox="1"/>
          <p:nvPr/>
        </p:nvSpPr>
        <p:spPr>
          <a:xfrm>
            <a:off x="90350" y="6327003"/>
            <a:ext cx="9972075" cy="324000"/>
          </a:xfrm>
          <a:prstGeom prst="homePlate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300">
                <a:solidFill>
                  <a:schemeClr val="lt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ndara" panose="020E0502030303020204" pitchFamily="34" charset="0"/>
                <a:cs typeface="Arial" panose="020B0604020202020204" pitchFamily="34" charset="0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360000" algn="l"/>
            <a:r>
              <a:rPr lang="pt-BR" dirty="0"/>
              <a:t>Considerando o “caminho feliz”, sem a ocorrência de falhas (incidentes) ou crises!</a:t>
            </a:r>
          </a:p>
        </p:txBody>
      </p:sp>
      <p:pic>
        <p:nvPicPr>
          <p:cNvPr id="32" name="Gráfico 31" descr="Rosto Sorridente sem Preenchimento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8347" y="6363003"/>
            <a:ext cx="252000" cy="252000"/>
          </a:xfrm>
          <a:prstGeom prst="rect">
            <a:avLst/>
          </a:prstGeom>
        </p:spPr>
      </p:pic>
      <p:sp>
        <p:nvSpPr>
          <p:cNvPr id="34" name="Retângulo: Cantos Arredondados 33"/>
          <p:cNvSpPr/>
          <p:nvPr/>
        </p:nvSpPr>
        <p:spPr>
          <a:xfrm>
            <a:off x="7123713" y="819553"/>
            <a:ext cx="2376000" cy="180000"/>
          </a:xfrm>
          <a:prstGeom prst="roundRect">
            <a:avLst>
              <a:gd name="adj" fmla="val 7971"/>
            </a:avLst>
          </a:prstGeom>
          <a:ln>
            <a:solidFill>
              <a:schemeClr val="accent4">
                <a:lumMod val="60000"/>
                <a:lumOff val="4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dirty="0">
                <a:latin typeface="Candara" panose="020E0502030303020204" pitchFamily="34" charset="0"/>
                <a:cs typeface="Arial" panose="020B0604020202020204" pitchFamily="34" charset="0"/>
              </a:rPr>
              <a:t>Tempo total estimado: 40 dias úteis</a:t>
            </a:r>
          </a:p>
        </p:txBody>
      </p:sp>
    </p:spTree>
    <p:extLst>
      <p:ext uri="{BB962C8B-B14F-4D97-AF65-F5344CB8AC3E}">
        <p14:creationId xmlns:p14="http://schemas.microsoft.com/office/powerpoint/2010/main" val="2435075221"/>
      </p:ext>
    </p:extLst>
  </p:cSld>
  <p:clrMapOvr>
    <a:masterClrMapping/>
  </p:clrMapOvr>
  <p:transition spd="slow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Roadmap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2017-2018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/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3" name="Seta: Pentágono 42"/>
          <p:cNvSpPr/>
          <p:nvPr/>
        </p:nvSpPr>
        <p:spPr>
          <a:xfrm>
            <a:off x="1659953" y="2369843"/>
            <a:ext cx="162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Unitários</a:t>
            </a:r>
          </a:p>
        </p:txBody>
      </p:sp>
      <p:sp>
        <p:nvSpPr>
          <p:cNvPr id="44" name="Seta: Pentágono 43"/>
          <p:cNvSpPr/>
          <p:nvPr/>
        </p:nvSpPr>
        <p:spPr>
          <a:xfrm>
            <a:off x="1659953" y="3053016"/>
            <a:ext cx="4888118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Infrastructure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As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Code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5" name="Seta: Pentágono 44"/>
          <p:cNvSpPr/>
          <p:nvPr/>
        </p:nvSpPr>
        <p:spPr>
          <a:xfrm>
            <a:off x="1659953" y="3736189"/>
            <a:ext cx="48888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Containers</a:t>
            </a:r>
          </a:p>
        </p:txBody>
      </p:sp>
      <p:sp>
        <p:nvSpPr>
          <p:cNvPr id="46" name="Seta: Pentágono 45"/>
          <p:cNvSpPr/>
          <p:nvPr/>
        </p:nvSpPr>
        <p:spPr>
          <a:xfrm>
            <a:off x="3307044" y="5102535"/>
            <a:ext cx="486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7" name="Seta: Pentágono 46"/>
          <p:cNvSpPr/>
          <p:nvPr/>
        </p:nvSpPr>
        <p:spPr>
          <a:xfrm>
            <a:off x="3300450" y="2369843"/>
            <a:ext cx="6725403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Automatizados (Completos)</a:t>
            </a:r>
          </a:p>
        </p:txBody>
      </p:sp>
      <p:sp>
        <p:nvSpPr>
          <p:cNvPr id="48" name="Seta: Pentágono 47"/>
          <p:cNvSpPr/>
          <p:nvPr/>
        </p:nvSpPr>
        <p:spPr>
          <a:xfrm>
            <a:off x="6575129" y="5785708"/>
            <a:ext cx="3450724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Delivery</a:t>
            </a:r>
          </a:p>
        </p:txBody>
      </p:sp>
      <p:sp>
        <p:nvSpPr>
          <p:cNvPr id="49" name="Seta: Pentágono 48"/>
          <p:cNvSpPr/>
          <p:nvPr/>
        </p:nvSpPr>
        <p:spPr>
          <a:xfrm>
            <a:off x="1659953" y="4419362"/>
            <a:ext cx="324762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Feature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Toggle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</p:spTree>
    <p:extLst>
      <p:ext uri="{BB962C8B-B14F-4D97-AF65-F5344CB8AC3E}">
        <p14:creationId xmlns:p14="http://schemas.microsoft.com/office/powerpoint/2010/main" val="4213180206"/>
      </p:ext>
    </p:extLst>
  </p:cSld>
  <p:clrMapOvr>
    <a:masterClrMapping/>
  </p:clrMapOvr>
  <p:transition spd="slow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Q1 – Ganhos e Benefícios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  <a:solidFill>
              <a:srgbClr val="8064A2"/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1724766" y="2369843"/>
            <a:ext cx="8219334" cy="37690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Ganhos e Benefícios após Q1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repetitividade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confiabilidade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Aumentar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rastreabilidade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processo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Controle de versão completo e eficiente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Base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para TODOS os trabalhos futuros (alicerce)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Resolução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problema de “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merge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</a:t>
            </a:r>
            <a:r>
              <a:rPr lang="pt-BR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perdido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” (perda de correções e funcionalidades)</a:t>
            </a:r>
          </a:p>
        </p:txBody>
      </p:sp>
    </p:spTree>
    <p:extLst>
      <p:ext uri="{BB962C8B-B14F-4D97-AF65-F5344CB8AC3E}">
        <p14:creationId xmlns:p14="http://schemas.microsoft.com/office/powerpoint/2010/main" val="2973856791"/>
      </p:ext>
    </p:extLst>
  </p:cSld>
  <p:clrMapOvr>
    <a:masterClrMapping/>
  </p:clrMapOvr>
  <p:transition spd="slow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Q2 – Ganhos e Benefícios</a:t>
            </a:r>
          </a:p>
        </p:txBody>
      </p:sp>
      <p:grpSp>
        <p:nvGrpSpPr>
          <p:cNvPr id="42" name="Agrupar 41"/>
          <p:cNvGrpSpPr/>
          <p:nvPr/>
        </p:nvGrpSpPr>
        <p:grpSpPr>
          <a:xfrm>
            <a:off x="1" y="1213341"/>
            <a:ext cx="10117137" cy="5102516"/>
            <a:chOff x="1" y="1213341"/>
            <a:chExt cx="10117137" cy="5102516"/>
          </a:xfrm>
        </p:grpSpPr>
        <p:sp>
          <p:nvSpPr>
            <p:cNvPr id="34" name="Retângulo 33"/>
            <p:cNvSpPr/>
            <p:nvPr/>
          </p:nvSpPr>
          <p:spPr>
            <a:xfrm>
              <a:off x="1" y="1213341"/>
              <a:ext cx="10117137" cy="5102515"/>
            </a:xfrm>
            <a:prstGeom prst="rect">
              <a:avLst/>
            </a:prstGeom>
            <a:solidFill>
              <a:schemeClr val="accent4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lvl="0">
                <a:spcBef>
                  <a:spcPts val="300"/>
                </a:spcBef>
                <a:spcAft>
                  <a:spcPts val="300"/>
                </a:spcAft>
              </a:pPr>
              <a:endParaRPr lang="pt-BR" sz="900" dirty="0"/>
            </a:p>
          </p:txBody>
        </p:sp>
        <p:sp>
          <p:nvSpPr>
            <p:cNvPr id="3" name="Seta: Pentágono 2"/>
            <p:cNvSpPr/>
            <p:nvPr/>
          </p:nvSpPr>
          <p:spPr>
            <a:xfrm>
              <a:off x="90350" y="1314454"/>
              <a:ext cx="1800000" cy="606670"/>
            </a:xfrm>
            <a:prstGeom prst="homePlate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 2017</a:t>
              </a:r>
            </a:p>
          </p:txBody>
        </p:sp>
        <p:sp>
          <p:nvSpPr>
            <p:cNvPr id="4" name="Seta: Divisa 3"/>
            <p:cNvSpPr/>
            <p:nvPr/>
          </p:nvSpPr>
          <p:spPr>
            <a:xfrm>
              <a:off x="1724765" y="1314454"/>
              <a:ext cx="1800000" cy="606670"/>
            </a:xfrm>
            <a:prstGeom prst="chevron">
              <a:avLst/>
            </a:prstGeom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Q2 2017</a:t>
              </a:r>
            </a:p>
          </p:txBody>
        </p:sp>
        <p:sp>
          <p:nvSpPr>
            <p:cNvPr id="8" name="Seta: Divisa 7"/>
            <p:cNvSpPr/>
            <p:nvPr/>
          </p:nvSpPr>
          <p:spPr>
            <a:xfrm>
              <a:off x="335918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 2017</a:t>
              </a:r>
            </a:p>
          </p:txBody>
        </p:sp>
        <p:sp>
          <p:nvSpPr>
            <p:cNvPr id="11" name="Seta: Divisa 10"/>
            <p:cNvSpPr/>
            <p:nvPr/>
          </p:nvSpPr>
          <p:spPr>
            <a:xfrm>
              <a:off x="499359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Q4 2017</a:t>
              </a:r>
            </a:p>
          </p:txBody>
        </p:sp>
        <p:sp>
          <p:nvSpPr>
            <p:cNvPr id="10" name="Seta: Divisa 9"/>
            <p:cNvSpPr/>
            <p:nvPr/>
          </p:nvSpPr>
          <p:spPr>
            <a:xfrm>
              <a:off x="6628010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Q1-Q2 2018</a:t>
              </a:r>
            </a:p>
          </p:txBody>
        </p:sp>
        <p:sp>
          <p:nvSpPr>
            <p:cNvPr id="16" name="Seta: Divisa 15"/>
            <p:cNvSpPr/>
            <p:nvPr/>
          </p:nvSpPr>
          <p:spPr>
            <a:xfrm>
              <a:off x="8262425" y="1314454"/>
              <a:ext cx="1800000" cy="606670"/>
            </a:xfrm>
            <a:prstGeom prst="chevron">
              <a:avLst/>
            </a:prstGeom>
            <a:solidFill>
              <a:schemeClr val="bg1">
                <a:lumMod val="50000"/>
              </a:schemeClr>
            </a:solidFill>
          </p:spPr>
          <p:style>
            <a:lnRef idx="3">
              <a:schemeClr val="lt1"/>
            </a:lnRef>
            <a:fillRef idx="1">
              <a:schemeClr val="accent4"/>
            </a:fillRef>
            <a:effectRef idx="1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bg1">
                      <a:lumMod val="65000"/>
                    </a:schemeClr>
                  </a:solidFill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  <a:latin typeface="Segoe UI Semibold" panose="020B0702040204020203" pitchFamily="34" charset="0"/>
                  <a:cs typeface="Segoe UI Semibold" panose="020B0702040204020203" pitchFamily="34" charset="0"/>
                </a:rPr>
                <a:t>Q3-Q4 2018</a:t>
              </a:r>
            </a:p>
          </p:txBody>
        </p:sp>
        <p:cxnSp>
          <p:nvCxnSpPr>
            <p:cNvPr id="36" name="Conector reto 35"/>
            <p:cNvCxnSpPr>
              <a:cxnSpLocks/>
            </p:cNvCxnSpPr>
            <p:nvPr/>
          </p:nvCxnSpPr>
          <p:spPr>
            <a:xfrm>
              <a:off x="1626577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8" name="Conector reto 37"/>
            <p:cNvCxnSpPr>
              <a:cxnSpLocks/>
            </p:cNvCxnSpPr>
            <p:nvPr/>
          </p:nvCxnSpPr>
          <p:spPr>
            <a:xfrm>
              <a:off x="8188570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39" name="Conector reto 38"/>
            <p:cNvCxnSpPr>
              <a:cxnSpLocks/>
            </p:cNvCxnSpPr>
            <p:nvPr/>
          </p:nvCxnSpPr>
          <p:spPr>
            <a:xfrm>
              <a:off x="3267075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0" name="Conector reto 39"/>
            <p:cNvCxnSpPr>
              <a:cxnSpLocks/>
            </p:cNvCxnSpPr>
            <p:nvPr/>
          </p:nvCxnSpPr>
          <p:spPr>
            <a:xfrm>
              <a:off x="4907573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  <p:cxnSp>
          <p:nvCxnSpPr>
            <p:cNvPr id="41" name="Conector reto 40"/>
            <p:cNvCxnSpPr>
              <a:cxnSpLocks/>
            </p:cNvCxnSpPr>
            <p:nvPr/>
          </p:nvCxnSpPr>
          <p:spPr>
            <a:xfrm>
              <a:off x="6548071" y="1995857"/>
              <a:ext cx="0" cy="432000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4"/>
            </a:lnRef>
            <a:fillRef idx="0">
              <a:schemeClr val="accent4"/>
            </a:fillRef>
            <a:effectRef idx="0">
              <a:schemeClr val="accent4"/>
            </a:effectRef>
            <a:fontRef idx="minor">
              <a:schemeClr val="tx1"/>
            </a:fontRef>
          </p:style>
        </p:cxnSp>
      </p:grpSp>
      <p:sp>
        <p:nvSpPr>
          <p:cNvPr id="43" name="Seta: Pentágono 42"/>
          <p:cNvSpPr/>
          <p:nvPr/>
        </p:nvSpPr>
        <p:spPr>
          <a:xfrm>
            <a:off x="1659953" y="2369843"/>
            <a:ext cx="16200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Testes Unitários</a:t>
            </a:r>
          </a:p>
        </p:txBody>
      </p:sp>
      <p:sp>
        <p:nvSpPr>
          <p:cNvPr id="44" name="Seta: Pentágono 43"/>
          <p:cNvSpPr/>
          <p:nvPr/>
        </p:nvSpPr>
        <p:spPr>
          <a:xfrm>
            <a:off x="1659953" y="3053016"/>
            <a:ext cx="4888118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Infrastructure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As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Code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5" name="Seta: Pentágono 44"/>
          <p:cNvSpPr/>
          <p:nvPr/>
        </p:nvSpPr>
        <p:spPr>
          <a:xfrm>
            <a:off x="1659953" y="3736189"/>
            <a:ext cx="488880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Containers</a:t>
            </a:r>
          </a:p>
        </p:txBody>
      </p:sp>
      <p:sp>
        <p:nvSpPr>
          <p:cNvPr id="49" name="Seta: Pentágono 48"/>
          <p:cNvSpPr/>
          <p:nvPr/>
        </p:nvSpPr>
        <p:spPr>
          <a:xfrm>
            <a:off x="1659953" y="4419362"/>
            <a:ext cx="3247620" cy="353154"/>
          </a:xfrm>
          <a:prstGeom prst="homePlate">
            <a:avLst/>
          </a:prstGeom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Feature</a:t>
            </a:r>
            <a:r>
              <a:rPr lang="pt-BR" sz="1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0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Toggle</a:t>
            </a:r>
            <a:endParaRPr lang="pt-BR" sz="1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0" name="Seta: Pentágono 49"/>
          <p:cNvSpPr/>
          <p:nvPr/>
        </p:nvSpPr>
        <p:spPr>
          <a:xfrm>
            <a:off x="90811" y="2369843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Roadmap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 2017-2018</a:t>
            </a:r>
          </a:p>
        </p:txBody>
      </p:sp>
      <p:sp>
        <p:nvSpPr>
          <p:cNvPr id="51" name="Seta: Pentágono 50"/>
          <p:cNvSpPr/>
          <p:nvPr/>
        </p:nvSpPr>
        <p:spPr>
          <a:xfrm>
            <a:off x="90811" y="3053016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Migração SVN - GIT</a:t>
            </a:r>
          </a:p>
        </p:txBody>
      </p:sp>
      <p:sp>
        <p:nvSpPr>
          <p:cNvPr id="52" name="Seta: Pentágono 51"/>
          <p:cNvSpPr/>
          <p:nvPr/>
        </p:nvSpPr>
        <p:spPr>
          <a:xfrm>
            <a:off x="90811" y="3736189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Processos Técnicos </a:t>
            </a:r>
            <a:r>
              <a:rPr lang="pt-BR" sz="8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(estabelecer, automatizar)</a:t>
            </a:r>
            <a:endParaRPr lang="pt-BR" sz="1100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Seta: Pentágono 52"/>
          <p:cNvSpPr/>
          <p:nvPr/>
        </p:nvSpPr>
        <p:spPr>
          <a:xfrm>
            <a:off x="90811" y="4419362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Processo de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Desenv</a:t>
            </a:r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. (esteira)</a:t>
            </a:r>
          </a:p>
        </p:txBody>
      </p:sp>
      <p:sp>
        <p:nvSpPr>
          <p:cNvPr id="54" name="Seta: Pentágono 53"/>
          <p:cNvSpPr/>
          <p:nvPr/>
        </p:nvSpPr>
        <p:spPr>
          <a:xfrm>
            <a:off x="90811" y="5102535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Fundamentos para Cont. </a:t>
            </a:r>
            <a:r>
              <a:rPr lang="pt-BR" sz="1000" dirty="0" err="1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000" dirty="0">
              <a:solidFill>
                <a:schemeClr val="bg1">
                  <a:lumMod val="6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5" name="Seta: Pentágono 54"/>
          <p:cNvSpPr/>
          <p:nvPr/>
        </p:nvSpPr>
        <p:spPr>
          <a:xfrm>
            <a:off x="90811" y="5785708"/>
            <a:ext cx="1548000" cy="353154"/>
          </a:xfrm>
          <a:prstGeom prst="homePlate">
            <a:avLst/>
          </a:prstGeom>
          <a:solidFill>
            <a:schemeClr val="bg1">
              <a:lumMod val="50000"/>
            </a:schemeClr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000" dirty="0">
                <a:solidFill>
                  <a:schemeClr val="bg1">
                    <a:lumMod val="6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Treinamentos</a:t>
            </a:r>
          </a:p>
        </p:txBody>
      </p:sp>
      <p:sp>
        <p:nvSpPr>
          <p:cNvPr id="32" name="Retângulo 31"/>
          <p:cNvSpPr/>
          <p:nvPr/>
        </p:nvSpPr>
        <p:spPr>
          <a:xfrm>
            <a:off x="3359180" y="2369843"/>
            <a:ext cx="6584920" cy="3769019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marL="18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Ganhos e Benefícios após Q2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Antecipação de problemas através de testes unitários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Entregar código com melhor qualidade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FT: aumentar a frequência dos </a:t>
            </a:r>
            <a:r>
              <a:rPr lang="pt-BR" i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deploys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sem expor de imediato as funcionalidades para o cliente</a:t>
            </a:r>
          </a:p>
          <a:p>
            <a:pPr marL="900000" indent="-360000">
              <a:lnSpc>
                <a:spcPts val="24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q"/>
            </a:pPr>
            <a:r>
              <a:rPr lang="pt-BR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IaC</a:t>
            </a:r>
            <a:r>
              <a:rPr lang="pt-BR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– reduzir problemas de configuração de ambientes (apontamentos)</a:t>
            </a:r>
          </a:p>
        </p:txBody>
      </p:sp>
    </p:spTree>
    <p:extLst>
      <p:ext uri="{BB962C8B-B14F-4D97-AF65-F5344CB8AC3E}">
        <p14:creationId xmlns:p14="http://schemas.microsoft.com/office/powerpoint/2010/main" val="3346223621"/>
      </p:ext>
    </p:extLst>
  </p:cSld>
  <p:clrMapOvr>
    <a:masterClrMapping/>
  </p:clrMapOvr>
  <p:transition spd="slow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tângulo 39"/>
          <p:cNvSpPr/>
          <p:nvPr/>
        </p:nvSpPr>
        <p:spPr>
          <a:xfrm>
            <a:off x="3452237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Retorna para Desenvolvedor em caso de Build quebrado</a:t>
            </a:r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Em caso de Build OK, o pacote  vai para o </a:t>
            </a:r>
            <a:r>
              <a:rPr lang="pt-BR" sz="900" dirty="0" err="1"/>
              <a:t>Nexus</a:t>
            </a: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  <a:p>
            <a:pPr lvl="0" algn="ctr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</p:txBody>
      </p:sp>
      <p:sp>
        <p:nvSpPr>
          <p:cNvPr id="41" name="Retângulo 40"/>
          <p:cNvSpPr/>
          <p:nvPr/>
        </p:nvSpPr>
        <p:spPr>
          <a:xfrm>
            <a:off x="6712121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b="1" dirty="0"/>
              <a:t>Analista de Operação </a:t>
            </a:r>
            <a:r>
              <a:rPr lang="pt-BR" sz="900" dirty="0"/>
              <a:t>executa o </a:t>
            </a:r>
            <a:r>
              <a:rPr lang="pt-BR" sz="900" dirty="0" err="1"/>
              <a:t>Deploy</a:t>
            </a:r>
            <a:r>
              <a:rPr lang="pt-BR" sz="900" dirty="0"/>
              <a:t> através do </a:t>
            </a:r>
            <a:r>
              <a:rPr lang="pt-BR" sz="900" dirty="0" err="1"/>
              <a:t>Rundeck</a:t>
            </a:r>
            <a:r>
              <a:rPr lang="pt-BR" sz="900" dirty="0"/>
              <a:t>. </a:t>
            </a:r>
            <a:r>
              <a:rPr lang="pt-BR" sz="900" dirty="0" err="1"/>
              <a:t>Rundeck</a:t>
            </a:r>
            <a:r>
              <a:rPr lang="pt-BR" sz="900" dirty="0"/>
              <a:t> busca o pacote no </a:t>
            </a:r>
            <a:r>
              <a:rPr lang="pt-BR" sz="900" dirty="0" err="1"/>
              <a:t>Nexus</a:t>
            </a:r>
            <a:r>
              <a:rPr lang="pt-BR" sz="900" dirty="0"/>
              <a:t> para poder fazer o </a:t>
            </a:r>
            <a:r>
              <a:rPr lang="pt-BR" sz="900" dirty="0" err="1"/>
              <a:t>Deploy</a:t>
            </a:r>
            <a:r>
              <a:rPr lang="pt-BR" sz="900" dirty="0"/>
              <a:t>.</a:t>
            </a:r>
          </a:p>
        </p:txBody>
      </p:sp>
      <p:sp>
        <p:nvSpPr>
          <p:cNvPr id="42" name="Retângulo 41"/>
          <p:cNvSpPr/>
          <p:nvPr/>
        </p:nvSpPr>
        <p:spPr>
          <a:xfrm>
            <a:off x="8342063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</p:txBody>
      </p:sp>
      <p:sp>
        <p:nvSpPr>
          <p:cNvPr id="46" name="Retângulo 45"/>
          <p:cNvSpPr/>
          <p:nvPr/>
        </p:nvSpPr>
        <p:spPr>
          <a:xfrm>
            <a:off x="1818609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b="1" dirty="0"/>
              <a:t>Desenvolvedor</a:t>
            </a:r>
            <a:r>
              <a:rPr lang="pt-BR" sz="900" dirty="0"/>
              <a:t> codifica e faz “</a:t>
            </a:r>
            <a:r>
              <a:rPr lang="pt-BR" sz="900" dirty="0" err="1"/>
              <a:t>commit</a:t>
            </a:r>
            <a:r>
              <a:rPr lang="pt-BR" sz="900" dirty="0"/>
              <a:t>” no GitHub</a:t>
            </a:r>
          </a:p>
        </p:txBody>
      </p:sp>
      <p:sp>
        <p:nvSpPr>
          <p:cNvPr id="47" name="Retângulo 46"/>
          <p:cNvSpPr/>
          <p:nvPr/>
        </p:nvSpPr>
        <p:spPr>
          <a:xfrm>
            <a:off x="192353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 algn="ctr">
              <a:spcBef>
                <a:spcPts val="300"/>
              </a:spcBef>
              <a:spcAft>
                <a:spcPts val="300"/>
              </a:spcAft>
            </a:pPr>
            <a:r>
              <a:rPr lang="pt-BR" sz="900" dirty="0"/>
              <a:t>Planejamento das tarefas e  atividades no JIRA</a:t>
            </a:r>
          </a:p>
        </p:txBody>
      </p:sp>
      <p:sp>
        <p:nvSpPr>
          <p:cNvPr id="48" name="Retângulo 47"/>
          <p:cNvSpPr/>
          <p:nvPr/>
        </p:nvSpPr>
        <p:spPr>
          <a:xfrm>
            <a:off x="5082179" y="2585636"/>
            <a:ext cx="1527441" cy="3929461"/>
          </a:xfrm>
          <a:prstGeom prst="rect">
            <a:avLst/>
          </a:prstGeom>
          <a:ln>
            <a:noFill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t"/>
          <a:lstStyle/>
          <a:p>
            <a:pPr lvl="0">
              <a:spcBef>
                <a:spcPts val="300"/>
              </a:spcBef>
              <a:spcAft>
                <a:spcPts val="300"/>
              </a:spcAft>
            </a:pPr>
            <a:endParaRPr lang="pt-BR" sz="900" dirty="0"/>
          </a:p>
        </p:txBody>
      </p: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Macro Processo </a:t>
            </a:r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To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-Be para Q1</a:t>
            </a:r>
          </a:p>
        </p:txBody>
      </p:sp>
      <p:sp>
        <p:nvSpPr>
          <p:cNvPr id="26" name="Divisa 11"/>
          <p:cNvSpPr/>
          <p:nvPr/>
        </p:nvSpPr>
        <p:spPr>
          <a:xfrm>
            <a:off x="51465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PLAN</a:t>
            </a:r>
          </a:p>
        </p:txBody>
      </p:sp>
      <p:sp>
        <p:nvSpPr>
          <p:cNvPr id="27" name="Divisa 16"/>
          <p:cNvSpPr/>
          <p:nvPr/>
        </p:nvSpPr>
        <p:spPr>
          <a:xfrm>
            <a:off x="1682329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DEVELOP</a:t>
            </a:r>
          </a:p>
        </p:txBody>
      </p:sp>
      <p:sp>
        <p:nvSpPr>
          <p:cNvPr id="28" name="Divisa 17"/>
          <p:cNvSpPr/>
          <p:nvPr/>
        </p:nvSpPr>
        <p:spPr>
          <a:xfrm>
            <a:off x="3313193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BUILD</a:t>
            </a:r>
          </a:p>
        </p:txBody>
      </p:sp>
      <p:sp>
        <p:nvSpPr>
          <p:cNvPr id="29" name="Divisa 18"/>
          <p:cNvSpPr/>
          <p:nvPr/>
        </p:nvSpPr>
        <p:spPr>
          <a:xfrm>
            <a:off x="4944057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TEST</a:t>
            </a:r>
          </a:p>
        </p:txBody>
      </p:sp>
      <p:sp>
        <p:nvSpPr>
          <p:cNvPr id="30" name="Divisa 19"/>
          <p:cNvSpPr/>
          <p:nvPr/>
        </p:nvSpPr>
        <p:spPr>
          <a:xfrm>
            <a:off x="6574921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DEPLOY</a:t>
            </a:r>
          </a:p>
        </p:txBody>
      </p:sp>
      <p:sp>
        <p:nvSpPr>
          <p:cNvPr id="31" name="Divisa 21"/>
          <p:cNvSpPr/>
          <p:nvPr/>
        </p:nvSpPr>
        <p:spPr>
          <a:xfrm>
            <a:off x="8205783" y="2086331"/>
            <a:ext cx="1800000" cy="429768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 Semibold" panose="020B0702040204020203" pitchFamily="34" charset="0"/>
                <a:cs typeface="Segoe UI Semibold" panose="020B0702040204020203" pitchFamily="34" charset="0"/>
              </a:rPr>
              <a:t>RELEASE</a:t>
            </a:r>
          </a:p>
        </p:txBody>
      </p:sp>
      <p:sp>
        <p:nvSpPr>
          <p:cNvPr id="33" name="Divisa 25"/>
          <p:cNvSpPr/>
          <p:nvPr/>
        </p:nvSpPr>
        <p:spPr>
          <a:xfrm>
            <a:off x="58953" y="1360923"/>
            <a:ext cx="3427739" cy="676627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Development</a:t>
            </a:r>
            <a:endParaRPr lang="pt-BR" sz="1600" b="1" i="1" dirty="0">
              <a:solidFill>
                <a:schemeClr val="bg1">
                  <a:lumMod val="9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5" name="Divisa 26"/>
          <p:cNvSpPr/>
          <p:nvPr/>
        </p:nvSpPr>
        <p:spPr>
          <a:xfrm>
            <a:off x="3204222" y="1360923"/>
            <a:ext cx="6850777" cy="676627"/>
          </a:xfrm>
          <a:prstGeom prst="chevron">
            <a:avLst/>
          </a:prstGeom>
          <a:solidFill>
            <a:srgbClr val="8064A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600" b="1" i="1" dirty="0" err="1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bg1">
                    <a:lumMod val="9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Delivery</a:t>
            </a:r>
          </a:p>
        </p:txBody>
      </p:sp>
      <p:sp>
        <p:nvSpPr>
          <p:cNvPr id="37" name="Divisa 27"/>
          <p:cNvSpPr/>
          <p:nvPr/>
        </p:nvSpPr>
        <p:spPr>
          <a:xfrm>
            <a:off x="3576838" y="1723776"/>
            <a:ext cx="3190229" cy="274018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Integration</a:t>
            </a:r>
            <a:endParaRPr lang="pt-BR" sz="1600" b="1" i="1" dirty="0">
              <a:solidFill>
                <a:schemeClr val="accent4">
                  <a:lumMod val="75000"/>
                </a:schemeClr>
              </a:solidFill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43" name="Divisa 28"/>
          <p:cNvSpPr/>
          <p:nvPr/>
        </p:nvSpPr>
        <p:spPr>
          <a:xfrm>
            <a:off x="6709319" y="1723776"/>
            <a:ext cx="3069305" cy="274018"/>
          </a:xfrm>
          <a:prstGeom prst="chevron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Continuous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Deployment</a:t>
            </a:r>
          </a:p>
        </p:txBody>
      </p:sp>
      <p:sp>
        <p:nvSpPr>
          <p:cNvPr id="44" name="Retângulo Arredondado 39"/>
          <p:cNvSpPr/>
          <p:nvPr/>
        </p:nvSpPr>
        <p:spPr>
          <a:xfrm>
            <a:off x="58953" y="972802"/>
            <a:ext cx="9946830" cy="322876"/>
          </a:xfrm>
          <a:prstGeom prst="roundRect">
            <a:avLst/>
          </a:prstGeom>
          <a:ln/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ALM -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Aplication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  <a:r>
              <a:rPr lang="pt-BR" sz="1600" b="1" i="1" dirty="0" err="1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Lifecycle</a:t>
            </a:r>
            <a:r>
              <a:rPr lang="pt-BR" sz="1600" b="1" i="1" dirty="0">
                <a:solidFill>
                  <a:schemeClr val="accent4">
                    <a:lumMod val="75000"/>
                  </a:schemeClr>
                </a:solidFill>
                <a:latin typeface="Segoe UI Semibold" panose="020B0702040204020203" pitchFamily="34" charset="0"/>
                <a:cs typeface="Segoe UI Semibold" panose="020B0702040204020203" pitchFamily="34" charset="0"/>
              </a:rPr>
              <a:t> Management</a:t>
            </a:r>
          </a:p>
        </p:txBody>
      </p:sp>
      <p:sp>
        <p:nvSpPr>
          <p:cNvPr id="5" name="AutoShape 4" descr="https://www.shareicon.net/data/128x128/2015/09/02/94531_logo_512x512.png"/>
          <p:cNvSpPr>
            <a:spLocks noChangeAspect="1" noChangeArrowheads="1"/>
          </p:cNvSpPr>
          <p:nvPr/>
        </p:nvSpPr>
        <p:spPr bwMode="auto">
          <a:xfrm>
            <a:off x="4905375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1030" name="Picture 6" descr="https://www.shareicon.net/data/128x128/2015/09/02/94531_logo_512x512.png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5658" b="32274"/>
          <a:stretch/>
        </p:blipFill>
        <p:spPr bwMode="auto">
          <a:xfrm>
            <a:off x="1976415" y="3952286"/>
            <a:ext cx="1219200" cy="5128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http://i.forbesimg.com/media/lists/companies/slack_416x416.jpg"/>
          <p:cNvPicPr>
            <a:picLocks noChangeAspect="1" noChangeArrowheads="1"/>
          </p:cNvPicPr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777936" y="3419899"/>
            <a:ext cx="870514" cy="3260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https://cdn.xebialabs.com/assets/files/plugins/rundeck.jpg"/>
          <p:cNvPicPr>
            <a:picLocks noChangeAspect="1" noChangeArrowheads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6744057" y="4583875"/>
            <a:ext cx="1474093" cy="2806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https://design.atlassian.com/images/brand/logo-25.png"/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5770" t="20923" r="25308" b="25539"/>
          <a:stretch/>
        </p:blipFill>
        <p:spPr bwMode="auto">
          <a:xfrm>
            <a:off x="307318" y="2962777"/>
            <a:ext cx="1306390" cy="5718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6" name="Picture 2" descr="http://www.sonatype.org/nexus/content/uploads/2015/12/Jenkins-and-Nexus-Featured-Image.jpg"/>
          <p:cNvPicPr>
            <a:picLocks noChangeAspect="1" noChangeArrowheads="1"/>
          </p:cNvPicPr>
          <p:nvPr/>
        </p:nvPicPr>
        <p:blipFill rotWithShape="1"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492621" y="5674590"/>
            <a:ext cx="1446672" cy="3551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5" name="Picture 2" descr="http://www.sonatype.org/nexus/content/uploads/2015/12/Jenkins-and-Nexus-Featured-Image.jpg"/>
          <p:cNvPicPr>
            <a:picLocks noChangeAspect="1" noChangeArrowheads="1"/>
          </p:cNvPicPr>
          <p:nvPr/>
        </p:nvPicPr>
        <p:blipFill rotWithShape="1"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3500616" y="4847017"/>
            <a:ext cx="1425154" cy="4484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2" descr="https://i0.wp.com/www.naturalborncoder.com/wp-content/uploads/2015/05/sonarqube_logo_720.png?fit=720%2C200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595993" y="4125052"/>
            <a:ext cx="1234401" cy="3428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2" name="Gráfico 11" descr="Usuári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239470" y="2902159"/>
            <a:ext cx="693090" cy="693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49" name="Conector de Seta Reta 9"/>
          <p:cNvCxnSpPr>
            <a:cxnSpLocks/>
            <a:stCxn id="12" idx="2"/>
            <a:endCxn id="1030" idx="0"/>
          </p:cNvCxnSpPr>
          <p:nvPr/>
        </p:nvCxnSpPr>
        <p:spPr>
          <a:xfrm>
            <a:off x="2586015" y="3595249"/>
            <a:ext cx="0" cy="35703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Sinal de Adição 18"/>
          <p:cNvSpPr/>
          <p:nvPr/>
        </p:nvSpPr>
        <p:spPr>
          <a:xfrm>
            <a:off x="4033193" y="3755515"/>
            <a:ext cx="360000" cy="360000"/>
          </a:xfrm>
          <a:prstGeom prst="mathPl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1" name="Sinal de Adição 50"/>
          <p:cNvSpPr/>
          <p:nvPr/>
        </p:nvSpPr>
        <p:spPr>
          <a:xfrm>
            <a:off x="4033193" y="4477478"/>
            <a:ext cx="360000" cy="360000"/>
          </a:xfrm>
          <a:prstGeom prst="mathPlus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52" name="Conector de Seta Reta 9"/>
          <p:cNvCxnSpPr>
            <a:cxnSpLocks/>
            <a:stCxn id="1030" idx="2"/>
            <a:endCxn id="45" idx="1"/>
          </p:cNvCxnSpPr>
          <p:nvPr/>
        </p:nvCxnSpPr>
        <p:spPr>
          <a:xfrm rot="16200000" flipH="1">
            <a:off x="2740268" y="4310917"/>
            <a:ext cx="606095" cy="914601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9"/>
          <p:cNvCxnSpPr>
            <a:cxnSpLocks/>
            <a:stCxn id="1032" idx="0"/>
            <a:endCxn id="12" idx="3"/>
          </p:cNvCxnSpPr>
          <p:nvPr/>
        </p:nvCxnSpPr>
        <p:spPr>
          <a:xfrm rot="16200000" flipV="1">
            <a:off x="3487280" y="2693985"/>
            <a:ext cx="171195" cy="1280633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9"/>
          <p:cNvCxnSpPr>
            <a:cxnSpLocks/>
            <a:stCxn id="45" idx="2"/>
            <a:endCxn id="36" idx="0"/>
          </p:cNvCxnSpPr>
          <p:nvPr/>
        </p:nvCxnSpPr>
        <p:spPr>
          <a:xfrm>
            <a:off x="4213193" y="5295514"/>
            <a:ext cx="2764" cy="379076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9"/>
          <p:cNvCxnSpPr>
            <a:cxnSpLocks/>
            <a:stCxn id="3" idx="2"/>
            <a:endCxn id="36" idx="3"/>
          </p:cNvCxnSpPr>
          <p:nvPr/>
        </p:nvCxnSpPr>
        <p:spPr>
          <a:xfrm rot="5400000">
            <a:off x="5716376" y="4087452"/>
            <a:ext cx="987646" cy="2541811"/>
          </a:xfrm>
          <a:prstGeom prst="bentConnector2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5" name="Gráfico 64" descr="Usuário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28376" y="3464868"/>
            <a:ext cx="693090" cy="693090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cxnSp>
        <p:nvCxnSpPr>
          <p:cNvPr id="66" name="Conector de Seta Reta 9"/>
          <p:cNvCxnSpPr>
            <a:cxnSpLocks/>
            <a:stCxn id="65" idx="2"/>
            <a:endCxn id="3" idx="0"/>
          </p:cNvCxnSpPr>
          <p:nvPr/>
        </p:nvCxnSpPr>
        <p:spPr>
          <a:xfrm>
            <a:off x="7474921" y="4157958"/>
            <a:ext cx="6183" cy="425917"/>
          </a:xfrm>
          <a:prstGeom prst="straightConnector1">
            <a:avLst/>
          </a:prstGeom>
          <a:ln>
            <a:solidFill>
              <a:srgbClr val="7030A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15754044"/>
      </p:ext>
    </p:extLst>
  </p:cSld>
  <p:clrMapOvr>
    <a:masterClrMapping/>
  </p:clrMapOvr>
  <p:transition spd="slow"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1" name="Conector de Seta Reta 90"/>
          <p:cNvCxnSpPr>
            <a:cxnSpLocks/>
            <a:stCxn id="16" idx="6"/>
            <a:endCxn id="60" idx="1"/>
          </p:cNvCxnSpPr>
          <p:nvPr/>
        </p:nvCxnSpPr>
        <p:spPr>
          <a:xfrm>
            <a:off x="5252820" y="1909200"/>
            <a:ext cx="2735820" cy="356448"/>
          </a:xfrm>
          <a:prstGeom prst="straightConnector1">
            <a:avLst/>
          </a:prstGeom>
          <a:ln w="9525"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grpSp>
        <p:nvGrpSpPr>
          <p:cNvPr id="2" name="Grupo 1"/>
          <p:cNvGrpSpPr/>
          <p:nvPr/>
        </p:nvGrpSpPr>
        <p:grpSpPr>
          <a:xfrm>
            <a:off x="2" y="-3"/>
            <a:ext cx="10117136" cy="750629"/>
            <a:chOff x="2" y="-3"/>
            <a:chExt cx="9143998" cy="750629"/>
          </a:xfrm>
        </p:grpSpPr>
        <p:sp>
          <p:nvSpPr>
            <p:cNvPr id="7" name="Rectangle 2"/>
            <p:cNvSpPr/>
            <p:nvPr/>
          </p:nvSpPr>
          <p:spPr>
            <a:xfrm rot="5400000">
              <a:off x="4196686" y="-4196687"/>
              <a:ext cx="750629" cy="9143998"/>
            </a:xfrm>
            <a:custGeom>
              <a:avLst/>
              <a:gdLst/>
              <a:ahLst/>
              <a:cxnLst/>
              <a:rect l="l" t="t" r="r" b="b"/>
              <a:pathLst>
                <a:path w="1045586" h="9143998">
                  <a:moveTo>
                    <a:pt x="0" y="9143998"/>
                  </a:moveTo>
                  <a:lnTo>
                    <a:pt x="0" y="0"/>
                  </a:lnTo>
                  <a:lnTo>
                    <a:pt x="725309" y="0"/>
                  </a:lnTo>
                  <a:lnTo>
                    <a:pt x="756374" y="198383"/>
                  </a:lnTo>
                  <a:cubicBezTo>
                    <a:pt x="937051" y="1409478"/>
                    <a:pt x="1045586" y="2962131"/>
                    <a:pt x="1045586" y="4655015"/>
                  </a:cubicBezTo>
                  <a:cubicBezTo>
                    <a:pt x="1045586" y="6347900"/>
                    <a:pt x="937051" y="7900553"/>
                    <a:pt x="756374" y="9111648"/>
                  </a:cubicBezTo>
                  <a:lnTo>
                    <a:pt x="751308" y="9143998"/>
                  </a:lnTo>
                  <a:close/>
                </a:path>
              </a:pathLst>
            </a:custGeom>
            <a:solidFill>
              <a:srgbClr val="FF8E2D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pic>
          <p:nvPicPr>
            <p:cNvPr id="6" name="Picture 5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8218106" y="129598"/>
              <a:ext cx="843390" cy="334448"/>
            </a:xfrm>
            <a:prstGeom prst="rect">
              <a:avLst/>
            </a:prstGeom>
          </p:spPr>
        </p:pic>
      </p:grpSp>
      <p:sp>
        <p:nvSpPr>
          <p:cNvPr id="9" name="TextBox 8"/>
          <p:cNvSpPr txBox="1"/>
          <p:nvPr/>
        </p:nvSpPr>
        <p:spPr>
          <a:xfrm>
            <a:off x="860233" y="130780"/>
            <a:ext cx="83966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Flow</a:t>
            </a:r>
            <a:r>
              <a:rPr lang="pt-BR" sz="24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Segoe UI" panose="020B0502040204020203" pitchFamily="34" charset="0"/>
                <a:cs typeface="Segoe UI" panose="020B0502040204020203" pitchFamily="34" charset="0"/>
              </a:rPr>
              <a:t> do GitHub</a:t>
            </a:r>
          </a:p>
        </p:txBody>
      </p:sp>
      <p:cxnSp>
        <p:nvCxnSpPr>
          <p:cNvPr id="4" name="Conector de Seta Reta 3"/>
          <p:cNvCxnSpPr/>
          <p:nvPr/>
        </p:nvCxnSpPr>
        <p:spPr>
          <a:xfrm>
            <a:off x="5018532" y="1328928"/>
            <a:ext cx="36576" cy="5292000"/>
          </a:xfrm>
          <a:prstGeom prst="straightConnector1">
            <a:avLst/>
          </a:prstGeom>
          <a:ln w="7620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1" name="Conector de Seta Reta 10"/>
          <p:cNvCxnSpPr>
            <a:cxnSpLocks/>
          </p:cNvCxnSpPr>
          <p:nvPr/>
        </p:nvCxnSpPr>
        <p:spPr>
          <a:xfrm flipH="1">
            <a:off x="3405287" y="2097024"/>
            <a:ext cx="5425" cy="183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2" name="Conector de Seta Reta 11"/>
          <p:cNvCxnSpPr>
            <a:cxnSpLocks/>
            <a:stCxn id="18" idx="0"/>
            <a:endCxn id="26" idx="4"/>
          </p:cNvCxnSpPr>
          <p:nvPr/>
        </p:nvCxnSpPr>
        <p:spPr>
          <a:xfrm>
            <a:off x="6644640" y="2079552"/>
            <a:ext cx="0" cy="3781344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3" name="Retângulo: Cantos Arredondados 12"/>
          <p:cNvSpPr/>
          <p:nvPr/>
        </p:nvSpPr>
        <p:spPr>
          <a:xfrm>
            <a:off x="2870712" y="987339"/>
            <a:ext cx="1080000" cy="252000"/>
          </a:xfrm>
          <a:prstGeom prst="roundRect">
            <a:avLst>
              <a:gd name="adj" fmla="val 7971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ndara" panose="020E0502030303020204" pitchFamily="34" charset="0"/>
                <a:cs typeface="Arial" panose="020B0604020202020204" pitchFamily="34" charset="0"/>
              </a:rPr>
              <a:t>Hot </a:t>
            </a:r>
            <a:r>
              <a:rPr lang="pt-BR" sz="1100" b="1" dirty="0" err="1">
                <a:latin typeface="Candara" panose="020E0502030303020204" pitchFamily="34" charset="0"/>
                <a:cs typeface="Arial" panose="020B0604020202020204" pitchFamily="34" charset="0"/>
              </a:rPr>
              <a:t>Fix</a:t>
            </a:r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Retângulo: Cantos Arredondados 13"/>
          <p:cNvSpPr/>
          <p:nvPr/>
        </p:nvSpPr>
        <p:spPr>
          <a:xfrm>
            <a:off x="4496820" y="987339"/>
            <a:ext cx="1080000" cy="252000"/>
          </a:xfrm>
          <a:prstGeom prst="roundRect">
            <a:avLst>
              <a:gd name="adj" fmla="val 7971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ndara" panose="020E0502030303020204" pitchFamily="34" charset="0"/>
                <a:cs typeface="Arial" panose="020B0604020202020204" pitchFamily="34" charset="0"/>
              </a:rPr>
              <a:t>Master</a:t>
            </a:r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Retângulo: Cantos Arredondados 14"/>
          <p:cNvSpPr/>
          <p:nvPr/>
        </p:nvSpPr>
        <p:spPr>
          <a:xfrm>
            <a:off x="6104640" y="959739"/>
            <a:ext cx="1080000" cy="252000"/>
          </a:xfrm>
          <a:prstGeom prst="roundRect">
            <a:avLst>
              <a:gd name="adj" fmla="val 7971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ndara" panose="020E0502030303020204" pitchFamily="34" charset="0"/>
                <a:cs typeface="Arial" panose="020B0604020202020204" pitchFamily="34" charset="0"/>
              </a:rPr>
              <a:t>Release 1</a:t>
            </a:r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Retângulo 4"/>
          <p:cNvSpPr/>
          <p:nvPr/>
        </p:nvSpPr>
        <p:spPr>
          <a:xfrm>
            <a:off x="3225480" y="2079552"/>
            <a:ext cx="360000" cy="360000"/>
          </a:xfrm>
          <a:prstGeom prst="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16" name="Elipse 15"/>
          <p:cNvSpPr/>
          <p:nvPr/>
        </p:nvSpPr>
        <p:spPr>
          <a:xfrm>
            <a:off x="4820820" y="1693200"/>
            <a:ext cx="432000" cy="432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Retângulo: Cantos Arredondados 16"/>
          <p:cNvSpPr/>
          <p:nvPr/>
        </p:nvSpPr>
        <p:spPr>
          <a:xfrm>
            <a:off x="4590635" y="1779593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V1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6464640" y="2079552"/>
            <a:ext cx="360000" cy="360000"/>
          </a:xfrm>
          <a:prstGeom prst="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19" name="Conector de Seta Reta 18"/>
          <p:cNvCxnSpPr>
            <a:cxnSpLocks/>
            <a:stCxn id="16" idx="6"/>
            <a:endCxn id="18" idx="1"/>
          </p:cNvCxnSpPr>
          <p:nvPr/>
        </p:nvCxnSpPr>
        <p:spPr>
          <a:xfrm>
            <a:off x="5252820" y="1909200"/>
            <a:ext cx="1211820" cy="350352"/>
          </a:xfrm>
          <a:prstGeom prst="straightConnector1">
            <a:avLst/>
          </a:prstGeom>
          <a:ln w="9525"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2" name="Retângulo: Cantos Arredondados 21"/>
          <p:cNvSpPr/>
          <p:nvPr/>
        </p:nvSpPr>
        <p:spPr>
          <a:xfrm>
            <a:off x="5305797" y="2108384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Branch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23" name="Elipse 22"/>
          <p:cNvSpPr/>
          <p:nvPr/>
        </p:nvSpPr>
        <p:spPr>
          <a:xfrm>
            <a:off x="6464640" y="2825160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4" name="Elipse 23"/>
          <p:cNvSpPr/>
          <p:nvPr/>
        </p:nvSpPr>
        <p:spPr>
          <a:xfrm>
            <a:off x="6464640" y="3570768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5" name="Elipse 24"/>
          <p:cNvSpPr/>
          <p:nvPr/>
        </p:nvSpPr>
        <p:spPr>
          <a:xfrm>
            <a:off x="6464640" y="4755288"/>
            <a:ext cx="360000" cy="360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26" name="Elipse 25"/>
          <p:cNvSpPr/>
          <p:nvPr/>
        </p:nvSpPr>
        <p:spPr>
          <a:xfrm>
            <a:off x="6464640" y="5500896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29" name="Retângulo: Cantos Arredondados 28"/>
          <p:cNvSpPr/>
          <p:nvPr/>
        </p:nvSpPr>
        <p:spPr>
          <a:xfrm>
            <a:off x="650495" y="5102405"/>
            <a:ext cx="1080000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Start </a:t>
            </a:r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Branch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0" name="Retângulo: Cantos Arredondados 29"/>
          <p:cNvSpPr/>
          <p:nvPr/>
        </p:nvSpPr>
        <p:spPr>
          <a:xfrm>
            <a:off x="650495" y="5649056"/>
            <a:ext cx="1080000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Commit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31" name="Elipse 30"/>
          <p:cNvSpPr/>
          <p:nvPr/>
        </p:nvSpPr>
        <p:spPr>
          <a:xfrm>
            <a:off x="3225480" y="2825160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2" name="Elipse 31"/>
          <p:cNvSpPr/>
          <p:nvPr/>
        </p:nvSpPr>
        <p:spPr>
          <a:xfrm>
            <a:off x="3225480" y="3668181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33" name="Conector de Seta Reta 32"/>
          <p:cNvCxnSpPr>
            <a:cxnSpLocks/>
            <a:stCxn id="16" idx="2"/>
            <a:endCxn id="5" idx="3"/>
          </p:cNvCxnSpPr>
          <p:nvPr/>
        </p:nvCxnSpPr>
        <p:spPr>
          <a:xfrm flipH="1">
            <a:off x="3585480" y="1909200"/>
            <a:ext cx="1235340" cy="350352"/>
          </a:xfrm>
          <a:prstGeom prst="straightConnector1">
            <a:avLst/>
          </a:prstGeom>
          <a:ln w="9525">
            <a:prstDash val="lgDash"/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7" name="Retângulo: Cantos Arredondados 36"/>
          <p:cNvSpPr/>
          <p:nvPr/>
        </p:nvSpPr>
        <p:spPr>
          <a:xfrm>
            <a:off x="3668693" y="1745352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Branch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38" name="Conector de Seta Reta 37"/>
          <p:cNvCxnSpPr>
            <a:cxnSpLocks/>
            <a:stCxn id="32" idx="6"/>
            <a:endCxn id="39" idx="2"/>
          </p:cNvCxnSpPr>
          <p:nvPr/>
        </p:nvCxnSpPr>
        <p:spPr>
          <a:xfrm>
            <a:off x="3585480" y="3848181"/>
            <a:ext cx="1235340" cy="684195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9" name="Elipse 38"/>
          <p:cNvSpPr/>
          <p:nvPr/>
        </p:nvSpPr>
        <p:spPr>
          <a:xfrm>
            <a:off x="4820820" y="4316376"/>
            <a:ext cx="432000" cy="432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2" name="Retângulo: Cantos Arredondados 41"/>
          <p:cNvSpPr/>
          <p:nvPr/>
        </p:nvSpPr>
        <p:spPr>
          <a:xfrm>
            <a:off x="3504431" y="4168392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Pull</a:t>
            </a:r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Request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3" name="Conector de Seta Reta 42"/>
          <p:cNvCxnSpPr>
            <a:cxnSpLocks/>
            <a:stCxn id="26" idx="2"/>
            <a:endCxn id="44" idx="6"/>
          </p:cNvCxnSpPr>
          <p:nvPr/>
        </p:nvCxnSpPr>
        <p:spPr>
          <a:xfrm flipH="1">
            <a:off x="5252820" y="5680896"/>
            <a:ext cx="1211820" cy="421200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4" name="Elipse 43"/>
          <p:cNvSpPr/>
          <p:nvPr/>
        </p:nvSpPr>
        <p:spPr>
          <a:xfrm>
            <a:off x="4820820" y="5886096"/>
            <a:ext cx="432000" cy="432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Retângulo: Cantos Arredondados 46"/>
          <p:cNvSpPr/>
          <p:nvPr/>
        </p:nvSpPr>
        <p:spPr>
          <a:xfrm>
            <a:off x="5295033" y="5490705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Pull</a:t>
            </a:r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 </a:t>
            </a:r>
          </a:p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Request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48" name="Conector de Seta Reta 47"/>
          <p:cNvCxnSpPr>
            <a:cxnSpLocks/>
            <a:stCxn id="39" idx="6"/>
            <a:endCxn id="25" idx="2"/>
          </p:cNvCxnSpPr>
          <p:nvPr/>
        </p:nvCxnSpPr>
        <p:spPr>
          <a:xfrm>
            <a:off x="5252820" y="4532376"/>
            <a:ext cx="1211820" cy="402912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2" name="Retângulo: Cantos Arredondados 51"/>
          <p:cNvSpPr/>
          <p:nvPr/>
        </p:nvSpPr>
        <p:spPr>
          <a:xfrm>
            <a:off x="5269816" y="4783805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Merge Back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3" name="Retângulo: Cantos Arredondados 52"/>
          <p:cNvSpPr/>
          <p:nvPr/>
        </p:nvSpPr>
        <p:spPr>
          <a:xfrm>
            <a:off x="4589538" y="4390812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V1.1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54" name="Retângulo: Cantos Arredondados 53"/>
          <p:cNvSpPr/>
          <p:nvPr/>
        </p:nvSpPr>
        <p:spPr>
          <a:xfrm>
            <a:off x="4589859" y="5967168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40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V2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59" name="Conector de Seta Reta 58"/>
          <p:cNvCxnSpPr>
            <a:cxnSpLocks/>
            <a:stCxn id="60" idx="0"/>
            <a:endCxn id="64" idx="4"/>
          </p:cNvCxnSpPr>
          <p:nvPr/>
        </p:nvCxnSpPr>
        <p:spPr>
          <a:xfrm>
            <a:off x="8168640" y="2085648"/>
            <a:ext cx="0" cy="453600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0" name="Retângulo 59"/>
          <p:cNvSpPr/>
          <p:nvPr/>
        </p:nvSpPr>
        <p:spPr>
          <a:xfrm>
            <a:off x="7988640" y="2085648"/>
            <a:ext cx="360000" cy="360000"/>
          </a:xfrm>
          <a:prstGeom prst="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1" name="Elipse 60"/>
          <p:cNvSpPr/>
          <p:nvPr/>
        </p:nvSpPr>
        <p:spPr>
          <a:xfrm>
            <a:off x="7988640" y="2873458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2" name="Elipse 61"/>
          <p:cNvSpPr/>
          <p:nvPr/>
        </p:nvSpPr>
        <p:spPr>
          <a:xfrm>
            <a:off x="7988640" y="3661268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3" name="Elipse 62"/>
          <p:cNvSpPr/>
          <p:nvPr/>
        </p:nvSpPr>
        <p:spPr>
          <a:xfrm>
            <a:off x="7988640" y="4449078"/>
            <a:ext cx="360000" cy="360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64" name="Elipse 63"/>
          <p:cNvSpPr/>
          <p:nvPr/>
        </p:nvSpPr>
        <p:spPr>
          <a:xfrm>
            <a:off x="7988640" y="5236888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/>
          </a:p>
        </p:txBody>
      </p:sp>
      <p:sp>
        <p:nvSpPr>
          <p:cNvPr id="65" name="Retângulo: Cantos Arredondados 64"/>
          <p:cNvSpPr/>
          <p:nvPr/>
        </p:nvSpPr>
        <p:spPr>
          <a:xfrm>
            <a:off x="7628640" y="957342"/>
            <a:ext cx="1080000" cy="252000"/>
          </a:xfrm>
          <a:prstGeom prst="roundRect">
            <a:avLst>
              <a:gd name="adj" fmla="val 7971"/>
            </a:avLst>
          </a:prstGeom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100" b="1" dirty="0">
                <a:latin typeface="Candara" panose="020E0502030303020204" pitchFamily="34" charset="0"/>
                <a:cs typeface="Arial" panose="020B0604020202020204" pitchFamily="34" charset="0"/>
              </a:rPr>
              <a:t>Release 2</a:t>
            </a:r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cxnSp>
        <p:nvCxnSpPr>
          <p:cNvPr id="66" name="Conector de Seta Reta 65"/>
          <p:cNvCxnSpPr>
            <a:cxnSpLocks/>
            <a:endCxn id="63" idx="2"/>
          </p:cNvCxnSpPr>
          <p:nvPr/>
        </p:nvCxnSpPr>
        <p:spPr>
          <a:xfrm>
            <a:off x="5223225" y="4496376"/>
            <a:ext cx="2765415" cy="132702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0" name="Retângulo: Cantos Arredondados 69"/>
          <p:cNvSpPr/>
          <p:nvPr/>
        </p:nvSpPr>
        <p:spPr>
          <a:xfrm>
            <a:off x="6916755" y="4665695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Merge Back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cxnSp>
        <p:nvCxnSpPr>
          <p:cNvPr id="73" name="Conector de Seta Reta 72"/>
          <p:cNvCxnSpPr>
            <a:cxnSpLocks/>
            <a:stCxn id="44" idx="6"/>
            <a:endCxn id="78" idx="2"/>
          </p:cNvCxnSpPr>
          <p:nvPr/>
        </p:nvCxnSpPr>
        <p:spPr>
          <a:xfrm>
            <a:off x="5252820" y="6102096"/>
            <a:ext cx="2731248" cy="102600"/>
          </a:xfrm>
          <a:prstGeom prst="straightConnector1">
            <a:avLst/>
          </a:prstGeom>
          <a:ln w="9525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8" name="Elipse 77"/>
          <p:cNvSpPr/>
          <p:nvPr/>
        </p:nvSpPr>
        <p:spPr>
          <a:xfrm>
            <a:off x="7984068" y="6024696"/>
            <a:ext cx="360000" cy="360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>
              <a:solidFill>
                <a:schemeClr val="dk1"/>
              </a:solidFill>
            </a:endParaRPr>
          </a:p>
        </p:txBody>
      </p:sp>
      <p:sp>
        <p:nvSpPr>
          <p:cNvPr id="81" name="Retângulo: Cantos Arredondados 80"/>
          <p:cNvSpPr/>
          <p:nvPr/>
        </p:nvSpPr>
        <p:spPr>
          <a:xfrm>
            <a:off x="6685787" y="6243079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Merge Back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4" name="Retângulo 83"/>
          <p:cNvSpPr/>
          <p:nvPr/>
        </p:nvSpPr>
        <p:spPr>
          <a:xfrm>
            <a:off x="248282" y="5061005"/>
            <a:ext cx="360000" cy="360000"/>
          </a:xfrm>
          <a:prstGeom prst="rect">
            <a:avLst/>
          </a:prstGeom>
          <a:solidFill>
            <a:srgbClr val="00B050"/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pt-BR" dirty="0"/>
          </a:p>
        </p:txBody>
      </p:sp>
      <p:sp>
        <p:nvSpPr>
          <p:cNvPr id="85" name="Elipse 84"/>
          <p:cNvSpPr/>
          <p:nvPr/>
        </p:nvSpPr>
        <p:spPr>
          <a:xfrm>
            <a:off x="248282" y="5607656"/>
            <a:ext cx="360000" cy="360000"/>
          </a:xfrm>
          <a:prstGeom prst="ellipse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6" name="Elipse 85"/>
          <p:cNvSpPr/>
          <p:nvPr/>
        </p:nvSpPr>
        <p:spPr>
          <a:xfrm>
            <a:off x="248282" y="6154307"/>
            <a:ext cx="360000" cy="360000"/>
          </a:xfrm>
          <a:prstGeom prst="ellipse">
            <a:avLst/>
          </a:prstGeom>
          <a:solidFill>
            <a:srgbClr val="F68E1E"/>
          </a:solidFill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7" name="Retângulo: Cantos Arredondados 86"/>
          <p:cNvSpPr/>
          <p:nvPr/>
        </p:nvSpPr>
        <p:spPr>
          <a:xfrm>
            <a:off x="642579" y="6195707"/>
            <a:ext cx="1080000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Merge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88" name="Retângulo: Cantos Arredondados 87"/>
          <p:cNvSpPr/>
          <p:nvPr/>
        </p:nvSpPr>
        <p:spPr>
          <a:xfrm>
            <a:off x="148068" y="4926180"/>
            <a:ext cx="1559220" cy="1695468"/>
          </a:xfrm>
          <a:prstGeom prst="roundRect">
            <a:avLst>
              <a:gd name="adj" fmla="val 7971"/>
            </a:avLst>
          </a:prstGeom>
          <a:noFill/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 sz="1300" b="1" dirty="0">
              <a:latin typeface="Candara" panose="020E0502030303020204" pitchFamily="34" charset="0"/>
              <a:cs typeface="Arial" panose="020B0604020202020204" pitchFamily="34" charset="0"/>
            </a:endParaRPr>
          </a:p>
        </p:txBody>
      </p:sp>
      <p:sp>
        <p:nvSpPr>
          <p:cNvPr id="89" name="Retângulo: Cantos Arredondados 88"/>
          <p:cNvSpPr/>
          <p:nvPr/>
        </p:nvSpPr>
        <p:spPr>
          <a:xfrm>
            <a:off x="136515" y="4652954"/>
            <a:ext cx="1080000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pt-BR" sz="1050" b="1" dirty="0">
                <a:latin typeface="Segoe UI Semibold" panose="020B0702040204020203" pitchFamily="34" charset="0"/>
                <a:cs typeface="Segoe UI Semibold" panose="020B0702040204020203" pitchFamily="34" charset="0"/>
              </a:rPr>
              <a:t>Legenda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  <p:sp>
        <p:nvSpPr>
          <p:cNvPr id="94" name="Retângulo: Cantos Arredondados 93"/>
          <p:cNvSpPr/>
          <p:nvPr/>
        </p:nvSpPr>
        <p:spPr>
          <a:xfrm>
            <a:off x="6860640" y="1856124"/>
            <a:ext cx="892562" cy="277200"/>
          </a:xfrm>
          <a:prstGeom prst="roundRect">
            <a:avLst>
              <a:gd name="adj" fmla="val 7971"/>
            </a:avLst>
          </a:prstGeom>
          <a:noFill/>
          <a:ln>
            <a:noFill/>
          </a:ln>
          <a:effectLst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sz="1050" b="1" dirty="0" err="1">
                <a:latin typeface="Segoe UI Semibold" panose="020B0702040204020203" pitchFamily="34" charset="0"/>
                <a:cs typeface="Segoe UI Semibold" panose="020B0702040204020203" pitchFamily="34" charset="0"/>
              </a:rPr>
              <a:t>Branch</a:t>
            </a:r>
            <a:endParaRPr lang="pt-BR" sz="1600" b="1" dirty="0">
              <a:latin typeface="Segoe UI Semibold" panose="020B0702040204020203" pitchFamily="34" charset="0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9882416"/>
      </p:ext>
    </p:extLst>
  </p:cSld>
  <p:clrMapOvr>
    <a:masterClrMapping/>
  </p:clrMapOvr>
  <p:transition spd="slow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9284</TotalTime>
  <Words>1317</Words>
  <Application>Microsoft Office PowerPoint</Application>
  <PresentationFormat>Personalizar</PresentationFormat>
  <Paragraphs>321</Paragraphs>
  <Slides>17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30" baseType="lpstr">
      <vt:lpstr>Agency FB</vt:lpstr>
      <vt:lpstr>Arial</vt:lpstr>
      <vt:lpstr>Calibri</vt:lpstr>
      <vt:lpstr>Candara</vt:lpstr>
      <vt:lpstr>Georgia</vt:lpstr>
      <vt:lpstr>Gotham Rounded Book</vt:lpstr>
      <vt:lpstr>Segoe UI</vt:lpstr>
      <vt:lpstr>Segoe UI Light</vt:lpstr>
      <vt:lpstr>Segoe UI Semibold</vt:lpstr>
      <vt:lpstr>Times New Roman</vt:lpstr>
      <vt:lpstr>Trebuchet MS</vt:lpstr>
      <vt:lpstr>Wingdings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Plano de Ação</dc:title>
  <dc:subject>Operações de TI</dc:subject>
  <dc:creator>Nei Henckes</dc:creator>
  <cp:lastModifiedBy>Jorge Filho</cp:lastModifiedBy>
  <cp:revision>161</cp:revision>
  <dcterms:created xsi:type="dcterms:W3CDTF">2014-01-24T21:35:00Z</dcterms:created>
  <dcterms:modified xsi:type="dcterms:W3CDTF">2017-04-05T11:56:06Z</dcterms:modified>
</cp:coreProperties>
</file>