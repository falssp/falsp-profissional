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402" r:id="rId2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F68E1E"/>
    <a:srgbClr val="FFFF99"/>
    <a:srgbClr val="DEDEDE"/>
    <a:srgbClr val="99CCFF"/>
    <a:srgbClr val="8064A2"/>
    <a:srgbClr val="D0462D"/>
    <a:srgbClr val="FFFF66"/>
    <a:srgbClr val="00CC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Estilo Médio 4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929F9F4-4A8F-4326-A1B4-22849713DDAB}" styleName="Estilo Escuro 1 - Ênfase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051" y="6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18/04/2017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4/18/2017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4/18/2017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4/18/2017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4/18/2017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4/18/2017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4/18/2017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4/18/2017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544645"/>
              </p:ext>
            </p:extLst>
          </p:nvPr>
        </p:nvGraphicFramePr>
        <p:xfrm>
          <a:off x="198569" y="2039815"/>
          <a:ext cx="9720000" cy="4633545"/>
        </p:xfrm>
        <a:graphic>
          <a:graphicData uri="http://schemas.openxmlformats.org/drawingml/2006/table">
            <a:tbl>
              <a:tblPr/>
              <a:tblGrid>
                <a:gridCol w="3060000">
                  <a:extLst>
                    <a:ext uri="{9D8B030D-6E8A-4147-A177-3AD203B41FA5}">
                      <a16:colId xmlns:a16="http://schemas.microsoft.com/office/drawing/2014/main" val="332820895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295163240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394798492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17385318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67119602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884338432"/>
                    </a:ext>
                  </a:extLst>
                </a:gridCol>
              </a:tblGrid>
              <a:tr h="364238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GAP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Sistema </a:t>
                      </a:r>
                    </a:p>
                    <a:p>
                      <a:pPr algn="ctr" fontAlgn="b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ou Serviço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Nova Função / Atribuição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Recurso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FTE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Horas/Mês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491137"/>
                  </a:ext>
                </a:extLst>
              </a:tr>
              <a:tr h="1395525">
                <a:tc>
                  <a:txBody>
                    <a:bodyPr/>
                    <a:lstStyle/>
                    <a:p>
                      <a:pPr marL="279450" indent="-171450" algn="l" fontAlgn="ctr">
                        <a:spcBef>
                          <a:spcPts val="600"/>
                        </a:spcBef>
                        <a:buFont typeface="Wingdings" panose="05000000000000000000" pitchFamily="2" charset="2"/>
                        <a:buChar char="q"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Falta de Gestão sobre os ambientes DEV e TEST da Oracle (atualmente são "administrados" pelos Desenvolvedores)</a:t>
                      </a:r>
                    </a:p>
                    <a:p>
                      <a:pPr marL="279450" indent="-171450" algn="l" fontAlgn="ctr">
                        <a:spcBef>
                          <a:spcPts val="600"/>
                        </a:spcBef>
                        <a:buFont typeface="Wingdings" panose="05000000000000000000" pitchFamily="2" charset="2"/>
                        <a:buChar char="q"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Novo ambiente de TEST (TGLL42) já disponibilizado, mas ainda sem uso</a:t>
                      </a:r>
                    </a:p>
                    <a:p>
                      <a:pPr marL="279450" indent="-171450" algn="l" fontAlgn="ctr">
                        <a:spcBef>
                          <a:spcPts val="600"/>
                        </a:spcBef>
                        <a:buFont typeface="Wingdings" panose="05000000000000000000" pitchFamily="2" charset="2"/>
                        <a:buChar char="q"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Ambientes de UAT estão sujeitos a indisponibilidades por uso indevido/incorreto dos Desenvolvedores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Siebel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8000" algn="l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Estabelecer a função de um Administrador Siebel (SADMIN), o qual realizará a gestão de todos os ambientes ORACLE e fará com o que o novo ambiente de testes se torne funcional com todas as integrações necessárias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RAUL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0,5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84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955336"/>
                  </a:ext>
                </a:extLst>
              </a:tr>
              <a:tr h="627386">
                <a:tc>
                  <a:txBody>
                    <a:bodyPr/>
                    <a:lstStyle/>
                    <a:p>
                      <a:pPr marL="279450" indent="-171450" algn="l" fontAlgn="ctr">
                        <a:buFont typeface="Wingdings" panose="05000000000000000000" pitchFamily="2" charset="2"/>
                        <a:buChar char="q"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Baixa interação da Equipe de Operação com os Projetos em Desenvolvimento (atividade de KT prejudicada)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Todos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8000" algn="l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Estabelecer acompanhamento dos analistas de Operações nos principais rituais de Projetos (</a:t>
                      </a: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Plannings</a:t>
                      </a: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/Reviews/KT)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Todos </a:t>
                      </a:r>
                    </a:p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(7 recursos)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0,1 (*7)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117,6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6217863"/>
                  </a:ext>
                </a:extLst>
              </a:tr>
              <a:tr h="627386">
                <a:tc>
                  <a:txBody>
                    <a:bodyPr/>
                    <a:lstStyle/>
                    <a:p>
                      <a:pPr marL="279450" indent="-171450" algn="l" fontAlgn="ctr">
                        <a:buFont typeface="Wingdings" panose="05000000000000000000" pitchFamily="2" charset="2"/>
                        <a:buChar char="q"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Potencial prejuízo financeiro por falhas/problemas no sistema de acúmulo batch síncrono (processamento duplicado, falta de </a:t>
                      </a: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handback</a:t>
                      </a: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, envio incorreto para os parceiros). 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EDI / Siebel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8000" algn="l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Estabelecer novo processo de acúmulo batch (EDI) assíncrono para mitigar os problemas existentes.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SERPELONI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0,3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50,4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09676"/>
                  </a:ext>
                </a:extLst>
              </a:tr>
              <a:tr h="627386">
                <a:tc>
                  <a:txBody>
                    <a:bodyPr/>
                    <a:lstStyle/>
                    <a:p>
                      <a:pPr marL="279450" indent="-171450" algn="l" fontAlgn="ctr">
                        <a:buFont typeface="Wingdings" panose="05000000000000000000" pitchFamily="2" charset="2"/>
                        <a:buChar char="q"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Falta de foco na Gestão de Problemas de TI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Todos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8000" algn="l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Designar responsáveis pelo processo e realização das atividades principais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JONATHAS </a:t>
                      </a:r>
                    </a:p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 SAVIOLI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0,1 (*2)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33,6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184380"/>
                  </a:ext>
                </a:extLst>
              </a:tr>
              <a:tr h="627386">
                <a:tc>
                  <a:txBody>
                    <a:bodyPr/>
                    <a:lstStyle/>
                    <a:p>
                      <a:pPr marL="279450" indent="-171450" algn="l" fontAlgn="ctr">
                        <a:buFont typeface="Wingdings" panose="05000000000000000000" pitchFamily="2" charset="2"/>
                        <a:buChar char="q"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Atitude reativa frente a erros sistêmicos (Bugs)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Todos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8000" algn="l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Estabelecer processo proativo de análise de logs sistêmicos, antecipando a identificação de Bugs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JONATHAS </a:t>
                      </a:r>
                    </a:p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 SAVIOLI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0,1 (*2)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33,6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174035"/>
                  </a:ext>
                </a:extLst>
              </a:tr>
              <a:tr h="364238">
                <a:tc>
                  <a:txBody>
                    <a:bodyPr/>
                    <a:lstStyle/>
                    <a:p>
                      <a:pPr algn="l" fontAlgn="ctr"/>
                      <a:endParaRPr lang="pt-BR" sz="105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05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05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05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1,9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319,2</a:t>
                      </a:r>
                    </a:p>
                  </a:txBody>
                  <a:tcPr marL="6152" marR="6152" marT="615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209656"/>
                  </a:ext>
                </a:extLst>
              </a:tr>
            </a:tbl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560093"/>
              </p:ext>
            </p:extLst>
          </p:nvPr>
        </p:nvGraphicFramePr>
        <p:xfrm>
          <a:off x="198569" y="1047228"/>
          <a:ext cx="6000007" cy="770874"/>
        </p:xfrm>
        <a:graphic>
          <a:graphicData uri="http://schemas.openxmlformats.org/drawingml/2006/table">
            <a:tbl>
              <a:tblPr/>
              <a:tblGrid>
                <a:gridCol w="3907439">
                  <a:extLst>
                    <a:ext uri="{9D8B030D-6E8A-4147-A177-3AD203B41FA5}">
                      <a16:colId xmlns:a16="http://schemas.microsoft.com/office/drawing/2014/main" val="2348513390"/>
                    </a:ext>
                  </a:extLst>
                </a:gridCol>
                <a:gridCol w="1046284">
                  <a:extLst>
                    <a:ext uri="{9D8B030D-6E8A-4147-A177-3AD203B41FA5}">
                      <a16:colId xmlns:a16="http://schemas.microsoft.com/office/drawing/2014/main" val="3544460785"/>
                    </a:ext>
                  </a:extLst>
                </a:gridCol>
                <a:gridCol w="1046284">
                  <a:extLst>
                    <a:ext uri="{9D8B030D-6E8A-4147-A177-3AD203B41FA5}">
                      <a16:colId xmlns:a16="http://schemas.microsoft.com/office/drawing/2014/main" val="2565563619"/>
                    </a:ext>
                  </a:extLst>
                </a:gridCol>
              </a:tblGrid>
              <a:tr h="256958">
                <a:tc>
                  <a:txBody>
                    <a:bodyPr/>
                    <a:lstStyle/>
                    <a:p>
                      <a:pPr algn="ctr" fontAlgn="t"/>
                      <a:r>
                        <a:rPr lang="pt-B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Equipe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Horas para N1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FTEs</a:t>
                      </a:r>
                      <a:r>
                        <a:rPr lang="pt-B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“liberados"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0168299"/>
                  </a:ext>
                </a:extLst>
              </a:tr>
              <a:tr h="256958">
                <a:tc>
                  <a:txBody>
                    <a:bodyPr/>
                    <a:lstStyle/>
                    <a:p>
                      <a:pPr marL="108000" algn="l" fontAlgn="t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TOTAL TI (Operações + Infra + Microinformática + Gestão de Acessos)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521,0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3,1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785982"/>
                  </a:ext>
                </a:extLst>
              </a:tr>
              <a:tr h="256958">
                <a:tc>
                  <a:txBody>
                    <a:bodyPr/>
                    <a:lstStyle/>
                    <a:p>
                      <a:pPr marL="108000" algn="l" fontAlgn="t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OPERAÇÕES TI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321,5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1,9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27518"/>
                  </a:ext>
                </a:extLst>
              </a:tr>
            </a:tbl>
          </a:graphicData>
        </a:graphic>
      </p:graphicFrame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1" name="TextBox 8"/>
          <p:cNvSpPr txBox="1"/>
          <p:nvPr/>
        </p:nvSpPr>
        <p:spPr>
          <a:xfrm>
            <a:off x="1668297" y="92680"/>
            <a:ext cx="6780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Proposta de Utilização dos Recursos N2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0" name="Retângulo: Cantos Arredondados 9"/>
          <p:cNvSpPr/>
          <p:nvPr/>
        </p:nvSpPr>
        <p:spPr>
          <a:xfrm>
            <a:off x="145817" y="781762"/>
            <a:ext cx="3042139" cy="261455"/>
          </a:xfrm>
          <a:prstGeom prst="roundRect">
            <a:avLst>
              <a:gd name="adj" fmla="val 15987"/>
            </a:avLst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Resultado do Assessment N1</a:t>
            </a:r>
          </a:p>
        </p:txBody>
      </p:sp>
    </p:spTree>
    <p:extLst>
      <p:ext uri="{BB962C8B-B14F-4D97-AF65-F5344CB8AC3E}">
        <p14:creationId xmlns:p14="http://schemas.microsoft.com/office/powerpoint/2010/main" val="2797131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9428</TotalTime>
  <Words>296</Words>
  <Application>Microsoft Office PowerPoint</Application>
  <PresentationFormat>Personalizar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Gotham Rounded Book</vt:lpstr>
      <vt:lpstr>Segoe UI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Jorge Filho</cp:lastModifiedBy>
  <cp:revision>181</cp:revision>
  <dcterms:created xsi:type="dcterms:W3CDTF">2014-01-24T21:35:00Z</dcterms:created>
  <dcterms:modified xsi:type="dcterms:W3CDTF">2017-04-18T13:46:23Z</dcterms:modified>
</cp:coreProperties>
</file>