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339" r:id="rId3"/>
    <p:sldId id="448" r:id="rId4"/>
    <p:sldId id="449" r:id="rId5"/>
    <p:sldId id="450" r:id="rId6"/>
    <p:sldId id="452" r:id="rId7"/>
    <p:sldId id="453" r:id="rId8"/>
    <p:sldId id="454" r:id="rId9"/>
    <p:sldId id="455" r:id="rId10"/>
    <p:sldId id="457" r:id="rId11"/>
    <p:sldId id="456" r:id="rId12"/>
    <p:sldId id="451" r:id="rId13"/>
    <p:sldId id="458" r:id="rId14"/>
    <p:sldId id="459" r:id="rId1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F9AD"/>
    <a:srgbClr val="EBF67E"/>
    <a:srgbClr val="F57124"/>
    <a:srgbClr val="99CCFF"/>
    <a:srgbClr val="00FF00"/>
    <a:srgbClr val="D0462D"/>
    <a:srgbClr val="EE6829"/>
    <a:srgbClr val="000000"/>
    <a:srgbClr val="F68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36" y="72"/>
      </p:cViewPr>
      <p:guideLst>
        <p:guide orient="horz" pos="2092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26/01/2017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42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6743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914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394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998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937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952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6659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205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638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507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894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990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Box 8"/>
          <p:cNvSpPr txBox="1"/>
          <p:nvPr userDrawn="1"/>
        </p:nvSpPr>
        <p:spPr>
          <a:xfrm>
            <a:off x="-339635" y="6536938"/>
            <a:ext cx="3783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0" cap="none" spc="0" dirty="0">
                <a:ln w="0">
                  <a:noFill/>
                </a:ln>
                <a:solidFill>
                  <a:schemeClr val="tx1"/>
                </a:solidFill>
                <a:effectLst/>
                <a:cs typeface="Gotham Rounded Book"/>
              </a:rPr>
              <a:t>Workshop Office 365 - OneDrive e SharePoint</a:t>
            </a:r>
            <a:endParaRPr lang="en-US" sz="1200" b="0" i="1" cap="none" spc="0" dirty="0">
              <a:ln w="0">
                <a:noFill/>
              </a:ln>
              <a:solidFill>
                <a:schemeClr val="tx1"/>
              </a:solidFill>
              <a:effectLst/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7629438" y="6448812"/>
            <a:ext cx="236066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hyperlink" Target="https://support.office.com/pt-br/article/Centro-de-Treinamento-do-Office-b8f02f81-ec85-4493-a39b-4c48e6bc4bfb?ui=pt-BR&amp;rs=pt-BR&amp;ad=BR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525" y="3035243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3343" y="2543866"/>
            <a:ext cx="5688627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 Office 365</a:t>
            </a:r>
          </a:p>
          <a:p>
            <a:r>
              <a:rPr lang="pt-BR" sz="40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OneDrive e SharePoint</a:t>
            </a:r>
            <a:endParaRPr lang="en-US" sz="40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endParaRPr lang="pt-BR" sz="20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r>
              <a:rPr lang="pt-BR" sz="2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Gerência de Infraestrutura e Operações de TI</a:t>
            </a:r>
          </a:p>
          <a:p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r>
              <a:rPr lang="en-US" sz="16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Jan/2017</a:t>
            </a:r>
          </a:p>
          <a:p>
            <a:r>
              <a:rPr lang="en-US" sz="1050" b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2.0</a:t>
            </a:r>
          </a:p>
        </p:txBody>
      </p:sp>
      <p:pic>
        <p:nvPicPr>
          <p:cNvPr id="10" name="Picture 2" descr="http://www.schudio.com/wp-content/uploads/2015/01/one-drive.png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37073" y="5064369"/>
            <a:ext cx="1410636" cy="1172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ultado de imagem para sharepoi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09468" y="4752235"/>
            <a:ext cx="1652673" cy="165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3" name="CaixaDeTexto 2"/>
          <p:cNvSpPr txBox="1"/>
          <p:nvPr/>
        </p:nvSpPr>
        <p:spPr>
          <a:xfrm>
            <a:off x="361071" y="1071801"/>
            <a:ext cx="6729046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Enquete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OneDrive e SharePoint, o que são?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OneDrive – Principais Aspectos 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SharePoint – Principais Aspectos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Dicas de Uso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 Importante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Como iniciar o uso das ferramentas? Hands-On</a:t>
            </a:r>
          </a:p>
          <a:p>
            <a:pPr marL="285750" indent="-28575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endParaRPr lang="pt-BR" sz="20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Agenda do Workshop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026" name="Picture 2" descr="http://static.efetividade.net/archive/img/agendamento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4253" y="1061746"/>
            <a:ext cx="2849527" cy="235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Para começar... uma enquete rápida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8" name="Agrupar 7"/>
          <p:cNvGrpSpPr/>
          <p:nvPr/>
        </p:nvGrpSpPr>
        <p:grpSpPr>
          <a:xfrm>
            <a:off x="1178631" y="865980"/>
            <a:ext cx="7840101" cy="3918115"/>
            <a:chOff x="1192529" y="1578481"/>
            <a:chExt cx="7840101" cy="3918115"/>
          </a:xfrm>
        </p:grpSpPr>
        <p:grpSp>
          <p:nvGrpSpPr>
            <p:cNvPr id="4" name="Agrupar 3"/>
            <p:cNvGrpSpPr/>
            <p:nvPr/>
          </p:nvGrpSpPr>
          <p:grpSpPr>
            <a:xfrm>
              <a:off x="1192529" y="1578481"/>
              <a:ext cx="4407877" cy="3918115"/>
              <a:chOff x="515815" y="990110"/>
              <a:chExt cx="5524500" cy="5203251"/>
            </a:xfrm>
          </p:grpSpPr>
          <p:pic>
            <p:nvPicPr>
              <p:cNvPr id="2050" name="Picture 2" descr="http://i0.wp.com/cdn.ttgtmedia.com/rms/onlineImages/120320_000018876064.jp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5815" y="990110"/>
                <a:ext cx="5524500" cy="52032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laces folder blue icon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6282" y="2701583"/>
                <a:ext cx="983566" cy="983566"/>
              </a:xfrm>
              <a:prstGeom prst="rect">
                <a:avLst/>
              </a:prstGeom>
              <a:noFill/>
              <a:effectLst>
                <a:glow rad="101600">
                  <a:schemeClr val="bg1">
                    <a:alpha val="6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" name="Agrupar 4"/>
            <p:cNvGrpSpPr/>
            <p:nvPr/>
          </p:nvGrpSpPr>
          <p:grpSpPr>
            <a:xfrm>
              <a:off x="5600406" y="1578481"/>
              <a:ext cx="3432224" cy="3918115"/>
              <a:chOff x="5440972" y="876872"/>
              <a:chExt cx="3432224" cy="3918115"/>
            </a:xfrm>
          </p:grpSpPr>
          <p:sp>
            <p:nvSpPr>
              <p:cNvPr id="3" name="CaixaDeTexto 2"/>
              <p:cNvSpPr txBox="1"/>
              <p:nvPr/>
            </p:nvSpPr>
            <p:spPr>
              <a:xfrm>
                <a:off x="5440972" y="876872"/>
                <a:ext cx="3432224" cy="2977738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80000" lvl="1">
                  <a:lnSpc>
                    <a:spcPts val="2500"/>
                  </a:lnSpc>
                </a:pPr>
                <a:r>
                  <a:rPr lang="pt-BR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Alguém utiliza ou já utilizou alguma ferramenta de armazenamento online de arquivos? Porque usa?</a:t>
                </a:r>
              </a:p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80000" lvl="1">
                  <a:lnSpc>
                    <a:spcPts val="2500"/>
                  </a:lnSpc>
                </a:pPr>
                <a:r>
                  <a:rPr lang="pt-BR" i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Ex.: Box, </a:t>
                </a:r>
                <a:r>
                  <a:rPr lang="pt-BR" i="1" dirty="0" err="1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Dropbox</a:t>
                </a:r>
                <a:r>
                  <a:rPr lang="pt-BR" i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OneDrive, Google Drive.</a:t>
                </a:r>
              </a:p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2054" name="Picture 6" descr="http://www.windowsclub.com.br/wp-content/uploads/2015/11/box-dropbox-onedrive-googledrive.jpg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26695" b="31995"/>
              <a:stretch/>
            </p:blipFill>
            <p:spPr bwMode="auto">
              <a:xfrm>
                <a:off x="5440972" y="3855951"/>
                <a:ext cx="3432224" cy="9390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4" name="CaixaDeTexto 13"/>
          <p:cNvSpPr txBox="1"/>
          <p:nvPr/>
        </p:nvSpPr>
        <p:spPr>
          <a:xfrm>
            <a:off x="1178630" y="4784095"/>
            <a:ext cx="7840101" cy="169533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Sabia que já estão disponíveis para clientes corporativos? A área de TI está trazendo os mesmos benefícios de uso para todos os colaboradores da Smiles!</a:t>
            </a: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911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OneDrive e SharePoint – O que são?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5" name="Picture 2" descr="http://www.schudio.com/wp-content/uploads/2015/01/one-drive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163" y="1172370"/>
            <a:ext cx="2241557" cy="186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m para sharepoin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6910" y="3654343"/>
            <a:ext cx="2536062" cy="253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ixaDeTexto 16"/>
          <p:cNvSpPr txBox="1"/>
          <p:nvPr/>
        </p:nvSpPr>
        <p:spPr>
          <a:xfrm>
            <a:off x="3162300" y="1416315"/>
            <a:ext cx="6578600" cy="137473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Ferramenta de armazenamento de arquivos online na “nuvem” da Microsoft. </a:t>
            </a: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3162300" y="4074706"/>
            <a:ext cx="6578600" cy="169533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Ferramenta colaborativa para equipes corporativas que permite, como funcionalidade principal, o compartilhamento de arquivos departamentais.</a:t>
            </a: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82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OneDrive – Principais Aspectos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5" name="Picture 2" descr="http://www.schudio.com/wp-content/uploads/2015/01/one-drive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2968" y="689232"/>
            <a:ext cx="964989" cy="801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21263"/>
              </p:ext>
            </p:extLst>
          </p:nvPr>
        </p:nvGraphicFramePr>
        <p:xfrm>
          <a:off x="116696" y="1561288"/>
          <a:ext cx="9883746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912">
                  <a:extLst>
                    <a:ext uri="{9D8B030D-6E8A-4147-A177-3AD203B41FA5}">
                      <a16:colId xmlns:a16="http://schemas.microsoft.com/office/drawing/2014/main" val="40438425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327700081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105357827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Aspectos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Anterior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Atual (com OneDrive)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86597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Armazenamento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Apenas localmente em seu computador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Localmente em seu computador e também online na nuvem da Microsoft (sincronização)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4731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Backup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Não há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Sempre armazenados/sincronizados online mas </a:t>
                      </a:r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APENAS 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se você salvar no OneDrive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24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Recuperação de Arquivos Deletados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Arquivos deletados ficam na “Lixeira” local do seu computador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“Lixeira” local do seu computador e também na “Lixeira” Online por até 30 dias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1862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Garantia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Não há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Da própria TI mas </a:t>
                      </a:r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APENAS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se você salvar no OneDrive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58801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Que tipo de Arquivos salvar?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Arquivos pessoais e Arquivos de trabalho, mas de uso pessoal do colaborador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Sugere-se </a:t>
                      </a:r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APENAS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Arquivos de trabalho, mas de uso pessoal do colaborador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4373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Local de Armazenamento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Área de Trabalho (Desktop), Meus Documentos, outras pastas locais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Todos os arquivos na pasta do OneDrive (única que sincroniza e garante backup)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0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Limite de Uso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Restrito ao tamanho do HD do seu computador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1 TB por usuário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27991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Procedimento de Uso e Suporte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Chamado na Central de Serviços de TI (Escritório/Informática ou Gestão de Acessos)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822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82045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Resultado de imagem para sharepoi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696" y="510366"/>
            <a:ext cx="1050922" cy="105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SharePoint – Principais Aspectos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131190"/>
              </p:ext>
            </p:extLst>
          </p:nvPr>
        </p:nvGraphicFramePr>
        <p:xfrm>
          <a:off x="116696" y="1561288"/>
          <a:ext cx="9883746" cy="496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912">
                  <a:extLst>
                    <a:ext uri="{9D8B030D-6E8A-4147-A177-3AD203B41FA5}">
                      <a16:colId xmlns:a16="http://schemas.microsoft.com/office/drawing/2014/main" val="40438425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327700081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105357827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Aspectos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Anterior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Atual (com SharePoint)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86597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Armazenamento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Não há repositório oficial de arquivos departamentais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Cada área possuirá sua “Pasta” oficial no SharePoint, além da pasta “Pública”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4731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Backup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Backup garantido para todos os arquivos armazenados no SharePoint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24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Recuperação de Arquivos Deletados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Poderão ser recuperados na “Lixeira” Online do SharePoint por até 30 dias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1862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Garantia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Da própria TI para os arquivos armazenados no SharePoint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58801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Que tipo de Arquivos salvar?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Arquivos Departamentais de cada área da Smiles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4373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Local de Armazenamento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Algumas áreas da Smiles usam rede da GOL, outras compartilham arquivos de outras formas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“Pastas” departamentais no SharePoint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0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Limite de Uso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Cada pasta departamental possui um limite que pode ser aumentado, caso necessário, pelo responsável da área através de chamado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27991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Procedimento de Uso e Suporte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Chamado na Central de Serviços de TI (Escritório/Informática ou Gestão de Acessos)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822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9721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4"/>
          <a:srcRect l="703" t="1082" r="620" b="58367"/>
          <a:stretch/>
        </p:blipFill>
        <p:spPr>
          <a:xfrm>
            <a:off x="516194" y="1673942"/>
            <a:ext cx="9092380" cy="1969592"/>
          </a:xfrm>
          <a:prstGeom prst="rect">
            <a:avLst/>
          </a:prstGeom>
          <a:ln>
            <a:noFill/>
          </a:ln>
        </p:spPr>
      </p:pic>
      <p:sp>
        <p:nvSpPr>
          <p:cNvPr id="11" name="Rectangle 2"/>
          <p:cNvSpPr/>
          <p:nvPr/>
        </p:nvSpPr>
        <p:spPr>
          <a:xfrm>
            <a:off x="192032" y="956467"/>
            <a:ext cx="8846727" cy="353596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Como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reconhecer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o OneDrive e SharePoint no Explorer:</a:t>
            </a:r>
            <a:endParaRPr lang="en-US" b="1" dirty="0">
              <a:solidFill>
                <a:schemeClr val="accent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5"/>
          <a:srcRect l="705" t="2127" r="604" b="24282"/>
          <a:stretch/>
        </p:blipFill>
        <p:spPr>
          <a:xfrm>
            <a:off x="451399" y="4080750"/>
            <a:ext cx="9214339" cy="2165305"/>
          </a:xfrm>
          <a:prstGeom prst="rect">
            <a:avLst/>
          </a:prstGeom>
        </p:spPr>
      </p:pic>
      <p:sp>
        <p:nvSpPr>
          <p:cNvPr id="13" name="Retângulo: Cantos Arredondados 12"/>
          <p:cNvSpPr/>
          <p:nvPr/>
        </p:nvSpPr>
        <p:spPr>
          <a:xfrm>
            <a:off x="557508" y="2736071"/>
            <a:ext cx="1788816" cy="6130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/>
          <p:cNvGrpSpPr/>
          <p:nvPr/>
        </p:nvGrpSpPr>
        <p:grpSpPr>
          <a:xfrm>
            <a:off x="2484983" y="5247309"/>
            <a:ext cx="1152525" cy="271866"/>
            <a:chOff x="5230526" y="2865752"/>
            <a:chExt cx="1152525" cy="271866"/>
          </a:xfrm>
        </p:grpSpPr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0526" y="2865752"/>
              <a:ext cx="1152525" cy="266700"/>
            </a:xfrm>
            <a:prstGeom prst="rect">
              <a:avLst/>
            </a:prstGeom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6"/>
            <a:srcRect l="43094" t="-760"/>
            <a:stretch/>
          </p:blipFill>
          <p:spPr>
            <a:xfrm>
              <a:off x="5536644" y="2868893"/>
              <a:ext cx="655860" cy="268725"/>
            </a:xfrm>
            <a:prstGeom prst="rect">
              <a:avLst/>
            </a:prstGeom>
          </p:spPr>
        </p:pic>
      </p:grpSp>
      <p:sp>
        <p:nvSpPr>
          <p:cNvPr id="4" name="Balão de Fala: Retângulo 3"/>
          <p:cNvSpPr/>
          <p:nvPr/>
        </p:nvSpPr>
        <p:spPr>
          <a:xfrm>
            <a:off x="3446961" y="5444313"/>
            <a:ext cx="4337471" cy="866273"/>
          </a:xfrm>
          <a:prstGeom prst="wedgeRectCallout">
            <a:avLst>
              <a:gd name="adj1" fmla="val -54227"/>
              <a:gd name="adj2" fmla="val -5138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900"/>
              </a:lnSpc>
            </a:pP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Esta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pasta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deve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ser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utilizada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para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troca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temporária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de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entre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áreas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(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em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especial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grandes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).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Seu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conteúdo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será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excluído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a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cada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5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dias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e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não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será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possível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recuperá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-lo.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14" name="Retângulo: Cantos Arredondados 13"/>
          <p:cNvSpPr/>
          <p:nvPr/>
        </p:nvSpPr>
        <p:spPr>
          <a:xfrm>
            <a:off x="365672" y="5476106"/>
            <a:ext cx="2164468" cy="6743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81603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9721989" cy="5216465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Acesso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on-line via portal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em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b="1" i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http://portal.office365.com</a:t>
            </a: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algn="ctr" defTabSz="758379"/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Observação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: a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página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personalizada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para Smiles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só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aparecerá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depois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de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você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</a:p>
          <a:p>
            <a:pPr algn="ctr" defTabSz="758379"/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ter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digitado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seu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endereço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de e-mail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completo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.</a:t>
            </a:r>
          </a:p>
          <a:p>
            <a:pPr defTabSz="758379"/>
            <a:endParaRPr lang="en-US" b="1" i="1" dirty="0">
              <a:solidFill>
                <a:schemeClr val="accent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26" y="2057399"/>
            <a:ext cx="9087662" cy="301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5927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8846727" cy="353596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Acesso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on-line via portal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em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b="1" i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http://portal.office365.com</a:t>
            </a:r>
            <a:endParaRPr lang="en-US" b="1" i="1" dirty="0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 rotWithShape="1">
          <a:blip r:embed="rId4"/>
          <a:srcRect l="4728" t="18900" r="1971" b="21002"/>
          <a:stretch/>
        </p:blipFill>
        <p:spPr>
          <a:xfrm>
            <a:off x="338858" y="2142177"/>
            <a:ext cx="9439421" cy="3418450"/>
          </a:xfrm>
          <a:prstGeom prst="roundRect">
            <a:avLst>
              <a:gd name="adj" fmla="val 343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0" name="Retângulo: Cantos Arredondados 9"/>
          <p:cNvSpPr/>
          <p:nvPr/>
        </p:nvSpPr>
        <p:spPr>
          <a:xfrm>
            <a:off x="4732466" y="3012798"/>
            <a:ext cx="1788816" cy="897466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52071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30" y="1843913"/>
            <a:ext cx="7319877" cy="4008248"/>
          </a:xfrm>
          <a:prstGeom prst="roundRect">
            <a:avLst>
              <a:gd name="adj" fmla="val 439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8846727" cy="353596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Salvando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no OneDrive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ou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SharePoint</a:t>
            </a:r>
            <a:endParaRPr lang="en-US" b="1" dirty="0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tângulo: Cantos Arredondados 9"/>
          <p:cNvSpPr/>
          <p:nvPr/>
        </p:nvSpPr>
        <p:spPr>
          <a:xfrm>
            <a:off x="2456488" y="3337650"/>
            <a:ext cx="2089439" cy="4763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/>
          <p:cNvSpPr/>
          <p:nvPr/>
        </p:nvSpPr>
        <p:spPr>
          <a:xfrm>
            <a:off x="2456488" y="4272103"/>
            <a:ext cx="2089439" cy="4763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31988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8846727" cy="676761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Check-out e Check-in de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no SharePoint</a:t>
            </a:r>
          </a:p>
          <a:p>
            <a:pPr defTabSz="758379">
              <a:spcBef>
                <a:spcPts val="600"/>
              </a:spcBef>
            </a:pP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(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Será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enviado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um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procedimento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detalhado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para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todos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sobre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este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tópico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)</a:t>
            </a:r>
            <a:endParaRPr lang="en-US" dirty="0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8" name="Agrupar 7"/>
          <p:cNvGrpSpPr/>
          <p:nvPr/>
        </p:nvGrpSpPr>
        <p:grpSpPr>
          <a:xfrm>
            <a:off x="5562167" y="1875088"/>
            <a:ext cx="3453062" cy="4164667"/>
            <a:chOff x="5165128" y="1790864"/>
            <a:chExt cx="3453062" cy="4164667"/>
          </a:xfrm>
        </p:grpSpPr>
        <p:sp>
          <p:nvSpPr>
            <p:cNvPr id="15" name="CaixaDeTexto 14"/>
            <p:cNvSpPr txBox="1"/>
            <p:nvPr/>
          </p:nvSpPr>
          <p:spPr>
            <a:xfrm>
              <a:off x="5175153" y="1790864"/>
              <a:ext cx="3443037" cy="297773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80000" lvl="1">
                <a:lnSpc>
                  <a:spcPts val="2500"/>
                </a:lnSpc>
              </a:pPr>
              <a:endParaRPr lang="pt-BR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80000" lvl="1">
                <a:lnSpc>
                  <a:spcPts val="2500"/>
                </a:lnSpc>
              </a:pPr>
              <a:r>
                <a:rPr lang="pt-BR" b="1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 Check-In </a:t>
              </a:r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deve ser realizado pelo usuário que finalizou a edição do arquivo, para disponibilizá-lo novamente para edição por outros usuários dentro do SharePoint.</a:t>
              </a:r>
            </a:p>
            <a:p>
              <a:pPr marL="180000" lvl="1">
                <a:lnSpc>
                  <a:spcPts val="2500"/>
                </a:lnSpc>
              </a:pPr>
              <a:endPara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5128" y="4847141"/>
              <a:ext cx="3453062" cy="1108390"/>
            </a:xfrm>
            <a:prstGeom prst="rect">
              <a:avLst/>
            </a:prstGeom>
          </p:spPr>
        </p:pic>
        <p:sp>
          <p:nvSpPr>
            <p:cNvPr id="20" name="Retângulo: Cantos Arredondados 19"/>
            <p:cNvSpPr/>
            <p:nvPr/>
          </p:nvSpPr>
          <p:spPr>
            <a:xfrm>
              <a:off x="7381335" y="5353233"/>
              <a:ext cx="830250" cy="21652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" name="Agrupar 4"/>
          <p:cNvGrpSpPr/>
          <p:nvPr/>
        </p:nvGrpSpPr>
        <p:grpSpPr>
          <a:xfrm>
            <a:off x="1016391" y="1875088"/>
            <a:ext cx="3595979" cy="4349136"/>
            <a:chOff x="619352" y="1790864"/>
            <a:chExt cx="3595979" cy="4349136"/>
          </a:xfrm>
        </p:grpSpPr>
        <p:grpSp>
          <p:nvGrpSpPr>
            <p:cNvPr id="4" name="Agrupar 3"/>
            <p:cNvGrpSpPr/>
            <p:nvPr/>
          </p:nvGrpSpPr>
          <p:grpSpPr>
            <a:xfrm>
              <a:off x="619352" y="1790864"/>
              <a:ext cx="3595979" cy="4349136"/>
              <a:chOff x="619352" y="1790864"/>
              <a:chExt cx="3595979" cy="4349136"/>
            </a:xfrm>
          </p:grpSpPr>
          <p:sp>
            <p:nvSpPr>
              <p:cNvPr id="12" name="CaixaDeTexto 11"/>
              <p:cNvSpPr txBox="1"/>
              <p:nvPr/>
            </p:nvSpPr>
            <p:spPr>
              <a:xfrm>
                <a:off x="695823" y="1790864"/>
                <a:ext cx="3443037" cy="294882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180000" lvl="1">
                  <a:lnSpc>
                    <a:spcPts val="2500"/>
                  </a:lnSpc>
                </a:pPr>
                <a:endParaRPr lang="pt-BR" b="1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80000" lvl="1">
                  <a:lnSpc>
                    <a:spcPts val="2500"/>
                  </a:lnSpc>
                </a:pPr>
                <a:r>
                  <a:rPr lang="pt-BR" b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 </a:t>
                </a:r>
                <a:r>
                  <a:rPr lang="pt-BR" b="1" dirty="0" err="1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Check</a:t>
                </a:r>
                <a:r>
                  <a:rPr lang="pt-BR" b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-Out</a:t>
                </a:r>
                <a:r>
                  <a:rPr lang="pt-BR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ocorre sempre que um arquivo armazenado no SharePoint passa a ser editado por um usuário, ficando bloqueado para edição por outros usuários.</a:t>
                </a:r>
              </a:p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3" name="Imagem 1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352" y="4839882"/>
                <a:ext cx="3595979" cy="561454"/>
              </a:xfrm>
              <a:prstGeom prst="rect">
                <a:avLst/>
              </a:prstGeom>
            </p:spPr>
          </p:pic>
          <p:sp>
            <p:nvSpPr>
              <p:cNvPr id="3" name="Retângulo 2"/>
              <p:cNvSpPr/>
              <p:nvPr/>
            </p:nvSpPr>
            <p:spPr>
              <a:xfrm>
                <a:off x="848348" y="5401336"/>
                <a:ext cx="3137986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050" dirty="0">
                    <a:latin typeface="Century Gothic" panose="020B0502020202020204" pitchFamily="34" charset="0"/>
                  </a:rPr>
                  <a:t>Você consegue verificar se um arquivo está em uso (sendo editado por outro usuário)</a:t>
                </a:r>
                <a:r>
                  <a:rPr lang="pt-BR" sz="1050" b="1" dirty="0">
                    <a:latin typeface="Century Gothic" panose="020B0502020202020204" pitchFamily="34" charset="0"/>
                  </a:rPr>
                  <a:t> </a:t>
                </a:r>
                <a:r>
                  <a:rPr lang="pt-BR" sz="1050" dirty="0">
                    <a:latin typeface="Century Gothic" panose="020B0502020202020204" pitchFamily="34" charset="0"/>
                  </a:rPr>
                  <a:t>quando o mesmo estiver marcado com uma seta verde apontada para baixo.</a:t>
                </a:r>
              </a:p>
            </p:txBody>
          </p:sp>
        </p:grpSp>
        <p:sp>
          <p:nvSpPr>
            <p:cNvPr id="21" name="Retângulo: Cantos Arredondados 20"/>
            <p:cNvSpPr/>
            <p:nvPr/>
          </p:nvSpPr>
          <p:spPr>
            <a:xfrm>
              <a:off x="1132935" y="4930234"/>
              <a:ext cx="491328" cy="47110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8237595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Nota Importante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360985" y="1074169"/>
            <a:ext cx="5027144" cy="535018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30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OneDrive e SharePoint 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serviços de armazenamento de arquivos estritamente corporativos providos pela SMILES S.A. única e exclusivamente para uso de seus Colaboradores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tendo seu acesso controlado e devidamente monitorado em conformidade com a Política de Segurança da Informação da empresa. </a:t>
            </a:r>
          </a:p>
          <a:p>
            <a:pPr marL="180000" lvl="1">
              <a:lnSpc>
                <a:spcPts val="30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30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altamente recomendável não armazenar arquivos pessoais em nenhum destes serviços.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 descr="http://3.bp.blogspot.com/_b-qFyHvjctY/TD--SUbkVPI/AAAAAAAAACo/wp8T3wK1bJc/s1600/600px-Nuvola_apps_important_blue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8760" y="2229436"/>
            <a:ext cx="3243922" cy="270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59712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Obrigado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83661" y="4453040"/>
            <a:ext cx="9675757" cy="1323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4000" tIns="45712" rIns="91424" bIns="91428" numCol="1" rtlCol="0" anchor="ctr" anchorCtr="0" compatLnSpc="1">
            <a:prstTxWarp prst="textNoShape">
              <a:avLst/>
            </a:prstTxWarp>
          </a:bodyPr>
          <a:lstStyle/>
          <a:p>
            <a:pPr lvl="1" algn="ctr" defTabSz="758158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solidFill>
                  <a:schemeClr val="tx1"/>
                </a:solidFill>
                <a:latin typeface="Century Gothic" panose="020B0502020202020204" pitchFamily="34" charset="0"/>
                <a:ea typeface="Segoe UI" pitchFamily="34" charset="0"/>
                <a:cs typeface="Segoe UI" pitchFamily="34" charset="0"/>
              </a:rPr>
              <a:t>Para mais informações sobre o uso das soluções apresentadas, recomendamos que assistam os treinamentos gratuitos em </a:t>
            </a:r>
          </a:p>
          <a:p>
            <a:pPr lvl="1" algn="ctr" defTabSz="758158" fontAlgn="base">
              <a:spcBef>
                <a:spcPct val="0"/>
              </a:spcBef>
              <a:spcAft>
                <a:spcPct val="0"/>
              </a:spcAft>
            </a:pPr>
            <a:endParaRPr lang="pt-BR" dirty="0">
              <a:solidFill>
                <a:schemeClr val="tx1"/>
              </a:solidFill>
              <a:latin typeface="Century Gothic" panose="020B0502020202020204" pitchFamily="34" charset="0"/>
              <a:ea typeface="Segoe UI" pitchFamily="34" charset="0"/>
              <a:cs typeface="Segoe UI" pitchFamily="34" charset="0"/>
            </a:endParaRPr>
          </a:p>
          <a:p>
            <a:pPr lvl="1" algn="ctr" defTabSz="758158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solidFill>
                  <a:schemeClr val="tx1"/>
                </a:solidFill>
                <a:latin typeface="Century Gothic" panose="020B0502020202020204" pitchFamily="34" charset="0"/>
                <a:ea typeface="Segoe UI" pitchFamily="34" charset="0"/>
                <a:cs typeface="Segoe UI" pitchFamily="34" charset="0"/>
                <a:hlinkClick r:id="rId4"/>
              </a:rPr>
              <a:t>https://support.office.com/pt-br/article/Centro-de-Treinamento-do-Office</a:t>
            </a:r>
            <a:endParaRPr lang="pt-BR" dirty="0">
              <a:solidFill>
                <a:schemeClr val="tx1"/>
              </a:solidFill>
              <a:latin typeface="Century Gothic" panose="020B0502020202020204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1" name="Agrupar 10"/>
          <p:cNvGrpSpPr/>
          <p:nvPr/>
        </p:nvGrpSpPr>
        <p:grpSpPr>
          <a:xfrm>
            <a:off x="74913" y="1619969"/>
            <a:ext cx="9967313" cy="2311968"/>
            <a:chOff x="76556" y="1760337"/>
            <a:chExt cx="9967313" cy="2311968"/>
          </a:xfrm>
        </p:grpSpPr>
        <p:pic>
          <p:nvPicPr>
            <p:cNvPr id="12" name="Picture 7" descr="http://queconceito.com.br/wp-content/uploads/duvida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7757" y="1760337"/>
              <a:ext cx="2610853" cy="2311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58"/>
            <p:cNvSpPr/>
            <p:nvPr/>
          </p:nvSpPr>
          <p:spPr bwMode="auto">
            <a:xfrm>
              <a:off x="76556" y="1760337"/>
              <a:ext cx="3960000" cy="2311968"/>
            </a:xfrm>
            <a:prstGeom prst="rect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000" tIns="45712" rIns="91424" bIns="91428" numCol="1" rtlCol="0" anchor="t" anchorCtr="0" compatLnSpc="1">
              <a:prstTxWarp prst="textNoShape">
                <a:avLst/>
              </a:prstTxWarp>
            </a:bodyPr>
            <a:lstStyle/>
            <a:p>
              <a:pPr marL="180000" lvl="1" defTabSz="91400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marL="0" lvl="1" algn="ctr" defTabSz="91400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Suporte</a:t>
              </a: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</a:t>
              </a: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ou</a:t>
              </a: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</a:t>
              </a: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Dúvidas</a:t>
              </a:r>
              <a:endParaRPr lang="en-US" sz="2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algn="ctr" defTabSz="91400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Através da abertura de</a:t>
              </a: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chamado pela Central de Serviços do JIRA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6083869" y="1760337"/>
              <a:ext cx="3960000" cy="2311968"/>
            </a:xfrm>
            <a:prstGeom prst="rect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000" tIns="45712" rIns="91424" bIns="91428" numCol="1" rtlCol="0" anchor="t" anchorCtr="0" compatLnSpc="1">
              <a:prstTxWarp prst="textNoShape">
                <a:avLst/>
              </a:prstTxWarp>
            </a:bodyPr>
            <a:lstStyle/>
            <a:p>
              <a:pPr lvl="1" defTabSz="758158" fontAlgn="base">
                <a:spcBef>
                  <a:spcPct val="0"/>
                </a:spcBef>
                <a:spcAft>
                  <a:spcPct val="0"/>
                </a:spcAft>
              </a:pPr>
              <a:endParaRPr lang="en-US" sz="2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/>
                <a:ea typeface="Segoe UI" pitchFamily="34" charset="0"/>
                <a:cs typeface="Segoe UI" pitchFamily="34" charset="0"/>
              </a:endParaRP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Operação</a:t>
              </a: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</a:t>
              </a: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Assistida</a:t>
              </a:r>
              <a:endParaRPr lang="en-US" sz="2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endPara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De 24 de Janeiro a </a:t>
              </a: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03 de Fevereiro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555538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Como iniciar o uso das ferramentas? Hands-On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8" name="Picture 2" descr="http://www.schudio.com/wp-content/uploads/2015/01/one-drive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4184" y="1944482"/>
            <a:ext cx="3385732" cy="281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m para sharepoin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04368" y="1584912"/>
            <a:ext cx="3532520" cy="353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71135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857</Words>
  <Application>Microsoft Office PowerPoint</Application>
  <PresentationFormat>Personalizar</PresentationFormat>
  <Paragraphs>154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Century Gothic</vt:lpstr>
      <vt:lpstr>Gotham Rounded Book</vt:lpstr>
      <vt:lpstr>Segoe UI</vt:lpstr>
      <vt:lpstr>Segoe UI Light</vt:lpstr>
      <vt:lpstr>Tahoma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2016-08-19T13:34:39Z</dcterms:created>
  <dcterms:modified xsi:type="dcterms:W3CDTF">2017-01-26T18:44:53Z</dcterms:modified>
</cp:coreProperties>
</file>