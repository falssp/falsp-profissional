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44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57124"/>
    <a:srgbClr val="FF9900"/>
    <a:srgbClr val="FF8E2D"/>
    <a:srgbClr val="F68E1E"/>
    <a:srgbClr val="99CCFF"/>
    <a:srgbClr val="000000"/>
    <a:srgbClr val="EE6829"/>
    <a:srgbClr val="E28734"/>
    <a:srgbClr val="F4BC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>
        <p:scale>
          <a:sx n="120" d="100"/>
          <a:sy n="120" d="100"/>
        </p:scale>
        <p:origin x="792" y="84"/>
      </p:cViewPr>
      <p:guideLst>
        <p:guide orient="horz" pos="312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19/02/2016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241550" y="685800"/>
            <a:ext cx="23749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1" y="3077286"/>
            <a:ext cx="5829300" cy="212336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1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03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20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811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4151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01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622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226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830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6365527"/>
            <a:ext cx="5829300" cy="1967442"/>
          </a:xfrm>
        </p:spPr>
        <p:txBody>
          <a:bodyPr anchor="t"/>
          <a:lstStyle>
            <a:lvl1pPr algn="l">
              <a:defRPr sz="5778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889">
                <a:solidFill>
                  <a:schemeClr val="tx1">
                    <a:tint val="75000"/>
                  </a:schemeClr>
                </a:solidFill>
              </a:defRPr>
            </a:lvl1pPr>
            <a:lvl2pPr marL="66038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20759" indent="0">
              <a:buNone/>
              <a:defRPr sz="2311">
                <a:solidFill>
                  <a:schemeClr val="tx1">
                    <a:tint val="75000"/>
                  </a:schemeClr>
                </a:solidFill>
              </a:defRPr>
            </a:lvl3pPr>
            <a:lvl4pPr marL="198113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4pPr>
            <a:lvl5pPr marL="2641519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5pPr>
            <a:lvl6pPr marL="330189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6pPr>
            <a:lvl7pPr marL="396227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7pPr>
            <a:lvl8pPr marL="4622658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8pPr>
            <a:lvl9pPr marL="5283037" indent="0">
              <a:buNone/>
              <a:defRPr sz="202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1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311405"/>
            <a:ext cx="3028950" cy="6537502"/>
          </a:xfrm>
        </p:spPr>
        <p:txBody>
          <a:bodyPr/>
          <a:lstStyle>
            <a:lvl1pPr>
              <a:defRPr sz="4044"/>
            </a:lvl1pPr>
            <a:lvl2pPr>
              <a:defRPr sz="3467"/>
            </a:lvl2pPr>
            <a:lvl3pPr>
              <a:defRPr sz="2889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2" cy="924101"/>
          </a:xfrm>
        </p:spPr>
        <p:txBody>
          <a:bodyPr anchor="b"/>
          <a:lstStyle>
            <a:lvl1pPr marL="0" indent="0">
              <a:buNone/>
              <a:defRPr sz="3467" b="1"/>
            </a:lvl1pPr>
            <a:lvl2pPr marL="660380" indent="0">
              <a:buNone/>
              <a:defRPr sz="2889" b="1"/>
            </a:lvl2pPr>
            <a:lvl3pPr marL="1320759" indent="0">
              <a:buNone/>
              <a:defRPr sz="2600" b="1"/>
            </a:lvl3pPr>
            <a:lvl4pPr marL="1981139" indent="0">
              <a:buNone/>
              <a:defRPr sz="2311" b="1"/>
            </a:lvl4pPr>
            <a:lvl5pPr marL="2641519" indent="0">
              <a:buNone/>
              <a:defRPr sz="2311" b="1"/>
            </a:lvl5pPr>
            <a:lvl6pPr marL="3301898" indent="0">
              <a:buNone/>
              <a:defRPr sz="2311" b="1"/>
            </a:lvl6pPr>
            <a:lvl7pPr marL="3962278" indent="0">
              <a:buNone/>
              <a:defRPr sz="2311" b="1"/>
            </a:lvl7pPr>
            <a:lvl8pPr marL="4622658" indent="0">
              <a:buNone/>
              <a:defRPr sz="2311" b="1"/>
            </a:lvl8pPr>
            <a:lvl9pPr marL="5283037" indent="0">
              <a:buNone/>
              <a:defRPr sz="2311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2" cy="5707416"/>
          </a:xfrm>
        </p:spPr>
        <p:txBody>
          <a:bodyPr/>
          <a:lstStyle>
            <a:lvl1pPr>
              <a:defRPr sz="3467"/>
            </a:lvl1pPr>
            <a:lvl2pPr>
              <a:defRPr sz="2889"/>
            </a:lvl2pPr>
            <a:lvl3pPr>
              <a:defRPr sz="2600"/>
            </a:lvl3pPr>
            <a:lvl4pPr>
              <a:defRPr sz="2311"/>
            </a:lvl4pPr>
            <a:lvl5pPr>
              <a:defRPr sz="2311"/>
            </a:lvl5pPr>
            <a:lvl6pPr>
              <a:defRPr sz="2311"/>
            </a:lvl6pPr>
            <a:lvl7pPr>
              <a:defRPr sz="2311"/>
            </a:lvl7pPr>
            <a:lvl8pPr>
              <a:defRPr sz="2311"/>
            </a:lvl8pPr>
            <a:lvl9pPr>
              <a:defRPr sz="2311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9" y="394410"/>
            <a:ext cx="3833812" cy="8454497"/>
          </a:xfrm>
        </p:spPr>
        <p:txBody>
          <a:bodyPr/>
          <a:lstStyle>
            <a:lvl1pPr>
              <a:defRPr sz="4622"/>
            </a:lvl1pPr>
            <a:lvl2pPr>
              <a:defRPr sz="4044"/>
            </a:lvl2pPr>
            <a:lvl3pPr>
              <a:defRPr sz="3467"/>
            </a:lvl3pPr>
            <a:lvl4pPr>
              <a:defRPr sz="2889"/>
            </a:lvl4pPr>
            <a:lvl5pPr>
              <a:defRPr sz="2889"/>
            </a:lvl5pPr>
            <a:lvl6pPr>
              <a:defRPr sz="2889"/>
            </a:lvl6pPr>
            <a:lvl7pPr>
              <a:defRPr sz="2889"/>
            </a:lvl7pPr>
            <a:lvl8pPr>
              <a:defRPr sz="2889"/>
            </a:lvl8pPr>
            <a:lvl9pPr>
              <a:defRPr sz="2889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072927"/>
            <a:ext cx="2256235" cy="6775980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7" y="6934200"/>
            <a:ext cx="4114800" cy="818622"/>
          </a:xfrm>
        </p:spPr>
        <p:txBody>
          <a:bodyPr anchor="b"/>
          <a:lstStyle>
            <a:lvl1pPr algn="l">
              <a:defRPr sz="2889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7" y="885119"/>
            <a:ext cx="4114800" cy="5943600"/>
          </a:xfrm>
        </p:spPr>
        <p:txBody>
          <a:bodyPr/>
          <a:lstStyle>
            <a:lvl1pPr marL="0" indent="0">
              <a:buNone/>
              <a:defRPr sz="4622"/>
            </a:lvl1pPr>
            <a:lvl2pPr marL="660380" indent="0">
              <a:buNone/>
              <a:defRPr sz="4044"/>
            </a:lvl2pPr>
            <a:lvl3pPr marL="1320759" indent="0">
              <a:buNone/>
              <a:defRPr sz="3467"/>
            </a:lvl3pPr>
            <a:lvl4pPr marL="1981139" indent="0">
              <a:buNone/>
              <a:defRPr sz="2889"/>
            </a:lvl4pPr>
            <a:lvl5pPr marL="2641519" indent="0">
              <a:buNone/>
              <a:defRPr sz="2889"/>
            </a:lvl5pPr>
            <a:lvl6pPr marL="3301898" indent="0">
              <a:buNone/>
              <a:defRPr sz="2889"/>
            </a:lvl6pPr>
            <a:lvl7pPr marL="3962278" indent="0">
              <a:buNone/>
              <a:defRPr sz="2889"/>
            </a:lvl7pPr>
            <a:lvl8pPr marL="4622658" indent="0">
              <a:buNone/>
              <a:defRPr sz="2889"/>
            </a:lvl8pPr>
            <a:lvl9pPr marL="5283037" indent="0">
              <a:buNone/>
              <a:defRPr sz="2889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7" y="7752822"/>
            <a:ext cx="4114800" cy="1162578"/>
          </a:xfrm>
        </p:spPr>
        <p:txBody>
          <a:bodyPr/>
          <a:lstStyle>
            <a:lvl1pPr marL="0" indent="0">
              <a:buNone/>
              <a:defRPr sz="2022"/>
            </a:lvl1pPr>
            <a:lvl2pPr marL="660380" indent="0">
              <a:buNone/>
              <a:defRPr sz="1733"/>
            </a:lvl2pPr>
            <a:lvl3pPr marL="1320759" indent="0">
              <a:buNone/>
              <a:defRPr sz="1444"/>
            </a:lvl3pPr>
            <a:lvl4pPr marL="1981139" indent="0">
              <a:buNone/>
              <a:defRPr sz="1300"/>
            </a:lvl4pPr>
            <a:lvl5pPr marL="2641519" indent="0">
              <a:buNone/>
              <a:defRPr sz="1300"/>
            </a:lvl5pPr>
            <a:lvl6pPr marL="3301898" indent="0">
              <a:buNone/>
              <a:defRPr sz="1300"/>
            </a:lvl6pPr>
            <a:lvl7pPr marL="3962278" indent="0">
              <a:buNone/>
              <a:defRPr sz="1300"/>
            </a:lvl7pPr>
            <a:lvl8pPr marL="4622658" indent="0">
              <a:buNone/>
              <a:defRPr sz="1300"/>
            </a:lvl8pPr>
            <a:lvl9pPr marL="5283037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396704"/>
            <a:ext cx="1543050" cy="845220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396704"/>
            <a:ext cx="4514850" cy="845220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311405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2/19/2016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9181399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9181399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660380" rtl="0" eaLnBrk="1" latinLnBrk="0" hangingPunct="1">
        <a:spcBef>
          <a:spcPct val="0"/>
        </a:spcBef>
        <a:buNone/>
        <a:defRPr sz="63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95285" indent="-495285" algn="l" defTabSz="660380" rtl="0" eaLnBrk="1" latinLnBrk="0" hangingPunct="1">
        <a:spcBef>
          <a:spcPct val="20000"/>
        </a:spcBef>
        <a:buFont typeface="Arial"/>
        <a:buChar char="•"/>
        <a:defRPr sz="4622" kern="1200">
          <a:solidFill>
            <a:schemeClr val="tx1"/>
          </a:solidFill>
          <a:latin typeface="+mn-lt"/>
          <a:ea typeface="+mn-ea"/>
          <a:cs typeface="+mn-cs"/>
        </a:defRPr>
      </a:lvl1pPr>
      <a:lvl2pPr marL="1073117" indent="-412737" algn="l" defTabSz="660380" rtl="0" eaLnBrk="1" latinLnBrk="0" hangingPunct="1">
        <a:spcBef>
          <a:spcPct val="20000"/>
        </a:spcBef>
        <a:buFont typeface="Arial"/>
        <a:buChar char="–"/>
        <a:defRPr sz="4044" kern="1200">
          <a:solidFill>
            <a:schemeClr val="tx1"/>
          </a:solidFill>
          <a:latin typeface="+mn-lt"/>
          <a:ea typeface="+mn-ea"/>
          <a:cs typeface="+mn-cs"/>
        </a:defRPr>
      </a:lvl2pPr>
      <a:lvl3pPr marL="1650949" indent="-330190" algn="l" defTabSz="660380" rtl="0" eaLnBrk="1" latinLnBrk="0" hangingPunct="1">
        <a:spcBef>
          <a:spcPct val="20000"/>
        </a:spcBef>
        <a:buFont typeface="Arial"/>
        <a:buChar char="•"/>
        <a:defRPr sz="3467" kern="1200">
          <a:solidFill>
            <a:schemeClr val="tx1"/>
          </a:solidFill>
          <a:latin typeface="+mn-lt"/>
          <a:ea typeface="+mn-ea"/>
          <a:cs typeface="+mn-cs"/>
        </a:defRPr>
      </a:lvl3pPr>
      <a:lvl4pPr marL="2311329" indent="-330190" algn="l" defTabSz="660380" rtl="0" eaLnBrk="1" latinLnBrk="0" hangingPunct="1">
        <a:spcBef>
          <a:spcPct val="20000"/>
        </a:spcBef>
        <a:buFont typeface="Arial"/>
        <a:buChar char="–"/>
        <a:defRPr sz="2889" kern="1200">
          <a:solidFill>
            <a:schemeClr val="tx1"/>
          </a:solidFill>
          <a:latin typeface="+mn-lt"/>
          <a:ea typeface="+mn-ea"/>
          <a:cs typeface="+mn-cs"/>
        </a:defRPr>
      </a:lvl4pPr>
      <a:lvl5pPr marL="2971709" indent="-330190" algn="l" defTabSz="660380" rtl="0" eaLnBrk="1" latinLnBrk="0" hangingPunct="1">
        <a:spcBef>
          <a:spcPct val="20000"/>
        </a:spcBef>
        <a:buFont typeface="Arial"/>
        <a:buChar char="»"/>
        <a:defRPr sz="2889" kern="1200">
          <a:solidFill>
            <a:schemeClr val="tx1"/>
          </a:solidFill>
          <a:latin typeface="+mn-lt"/>
          <a:ea typeface="+mn-ea"/>
          <a:cs typeface="+mn-cs"/>
        </a:defRPr>
      </a:lvl5pPr>
      <a:lvl6pPr marL="363208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6pPr>
      <a:lvl7pPr marL="429246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7pPr>
      <a:lvl8pPr marL="4952848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8pPr>
      <a:lvl9pPr marL="5613227" indent="-330190" algn="l" defTabSz="660380" rtl="0" eaLnBrk="1" latinLnBrk="0" hangingPunct="1">
        <a:spcBef>
          <a:spcPct val="20000"/>
        </a:spcBef>
        <a:buFont typeface="Arial"/>
        <a:buChar char="•"/>
        <a:defRPr sz="288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60380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2075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8113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41519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30189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27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622658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83037" algn="l" defTabSz="66038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m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" y="66675"/>
            <a:ext cx="6686550" cy="1581150"/>
          </a:xfrm>
          <a:prstGeom prst="rect">
            <a:avLst/>
          </a:prstGeom>
        </p:spPr>
      </p:pic>
      <p:sp>
        <p:nvSpPr>
          <p:cNvPr id="16" name="Retângulo 15"/>
          <p:cNvSpPr/>
          <p:nvPr/>
        </p:nvSpPr>
        <p:spPr>
          <a:xfrm>
            <a:off x="85725" y="66674"/>
            <a:ext cx="6685200" cy="9756000"/>
          </a:xfrm>
          <a:prstGeom prst="rect">
            <a:avLst/>
          </a:prstGeom>
          <a:noFill/>
          <a:ln>
            <a:solidFill>
              <a:srgbClr val="FF8E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CaixaDeTexto 17"/>
          <p:cNvSpPr txBox="1"/>
          <p:nvPr/>
        </p:nvSpPr>
        <p:spPr>
          <a:xfrm>
            <a:off x="1891328" y="1895928"/>
            <a:ext cx="4769757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800"/>
              </a:spcAft>
            </a:pPr>
            <a:r>
              <a:rPr lang="pt-BR" sz="2200" b="1" dirty="0" smtClean="0">
                <a:solidFill>
                  <a:srgbClr val="F57124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Boletim - Central de Serviços de TI</a:t>
            </a:r>
          </a:p>
          <a:p>
            <a:pPr algn="ctr"/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Neste boletim esclarecemos o que são os chamados 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priorizados </a:t>
            </a:r>
            <a:r>
              <a:rPr lang="pt-BR" dirty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como “</a:t>
            </a:r>
            <a:r>
              <a:rPr lang="pt-BR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Blockers</a:t>
            </a:r>
            <a:r>
              <a:rPr lang="pt-BR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”.</a:t>
            </a:r>
            <a:endParaRPr lang="pt-BR" dirty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0" name="CaixaDeTexto 29"/>
          <p:cNvSpPr txBox="1"/>
          <p:nvPr/>
        </p:nvSpPr>
        <p:spPr>
          <a:xfrm>
            <a:off x="214592" y="3340695"/>
            <a:ext cx="4390065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Chamados “</a:t>
            </a:r>
            <a:r>
              <a:rPr lang="pt-BR" sz="2000" b="1" i="1" dirty="0" err="1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Blockers</a:t>
            </a:r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”.</a:t>
            </a:r>
          </a:p>
          <a:p>
            <a:endParaRPr lang="pt-BR" sz="9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r>
              <a:rPr lang="pt-BR" sz="20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Você sabe o que são?</a:t>
            </a:r>
          </a:p>
          <a:p>
            <a:endParaRPr lang="pt-BR" sz="1600" b="1" dirty="0" smtClean="0">
              <a:solidFill>
                <a:srgbClr val="7030A0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Chamados priorizados como “</a:t>
            </a:r>
            <a:r>
              <a:rPr lang="pt-B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Blockers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são aqueles que </a:t>
            </a:r>
            <a:r>
              <a:rPr lang="pt-BR" sz="1400" b="1" u="sng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representam os mais altos impactos às operações</a:t>
            </a: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 negócios da Smiles.</a:t>
            </a:r>
          </a:p>
        </p:txBody>
      </p:sp>
      <p:sp>
        <p:nvSpPr>
          <p:cNvPr id="34" name="CaixaDeTexto 33"/>
          <p:cNvSpPr txBox="1"/>
          <p:nvPr/>
        </p:nvSpPr>
        <p:spPr>
          <a:xfrm>
            <a:off x="1206800" y="9415433"/>
            <a:ext cx="44430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sz="1400" b="1" dirty="0" smtClean="0">
                <a:solidFill>
                  <a:srgbClr val="7030A0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Central de Serviços de TI  |  Diretoria de TI</a:t>
            </a:r>
            <a:endParaRPr lang="pt-BR" sz="12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5" name="CaixaDeTexto 34"/>
          <p:cNvSpPr txBox="1"/>
          <p:nvPr/>
        </p:nvSpPr>
        <p:spPr>
          <a:xfrm>
            <a:off x="5737286" y="122702"/>
            <a:ext cx="10336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pt-BR" b="1" dirty="0" smtClean="0">
                <a:solidFill>
                  <a:schemeClr val="bg1"/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19.Fev</a:t>
            </a:r>
            <a:endParaRPr lang="pt-BR" b="1" dirty="0" smtClean="0">
              <a:solidFill>
                <a:schemeClr val="bg1"/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567" y="1564715"/>
            <a:ext cx="1546930" cy="1546930"/>
          </a:xfrm>
          <a:prstGeom prst="rect">
            <a:avLst/>
          </a:prstGeom>
        </p:spPr>
      </p:pic>
      <p:pic>
        <p:nvPicPr>
          <p:cNvPr id="2" name="Picture 2" descr="http://publicdomainvectors.org/photos/red_signal_light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145" y="3184523"/>
            <a:ext cx="1947252" cy="19472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CaixaDeTexto 13"/>
          <p:cNvSpPr txBox="1"/>
          <p:nvPr/>
        </p:nvSpPr>
        <p:spPr>
          <a:xfrm>
            <a:off x="214592" y="5288496"/>
            <a:ext cx="6557683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Ao abrir um chamado pelo JIRA Service Desk, você identificará um “</a:t>
            </a:r>
            <a:r>
              <a:rPr lang="pt-B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através do seu ícone, conforme demonstrado abaixo: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pt-B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endParaRPr lang="pt-BR" sz="1400" dirty="0" smtClean="0">
              <a:solidFill>
                <a:schemeClr val="tx1">
                  <a:lumMod val="50000"/>
                  <a:lumOff val="50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 tratativa de um “</a:t>
            </a:r>
            <a:r>
              <a:rPr lang="pt-B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 é diferenciada pois: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Impacto ao negócio é maior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 seu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SLA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vale em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regime 24x7 </a:t>
            </a:r>
          </a:p>
          <a:p>
            <a:pPr marL="742950" lvl="1" indent="-285750"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Após a abertura, </a:t>
            </a:r>
            <a:r>
              <a:rPr lang="pt-BR" sz="1400" b="1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são notificados por SMS e também por ligação telefônica 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 plantonista de TI, o Coordenador de Operações de TI, o Gerente de Operações de TI e o Diretor de TI – </a:t>
            </a:r>
            <a:r>
              <a:rPr lang="pt-BR" sz="1400" u="sng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não importa o horário</a:t>
            </a:r>
            <a:r>
              <a:rPr lang="pt-BR" sz="1400" dirty="0" smtClean="0">
                <a:solidFill>
                  <a:srgbClr val="7030A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.</a:t>
            </a:r>
            <a:endParaRPr lang="pt-BR" sz="1400" dirty="0">
              <a:solidFill>
                <a:srgbClr val="7030A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1" indent="-285750">
              <a:spcAft>
                <a:spcPts val="1200"/>
              </a:spcAft>
              <a:buFont typeface="Wingdings" panose="05000000000000000000" pitchFamily="2" charset="2"/>
              <a:buChar char="q"/>
            </a:pP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Portanto, ao abrir um chamado “</a:t>
            </a:r>
            <a:r>
              <a:rPr lang="pt-BR" sz="1400" i="1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Blocker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”, esteja ciente que a situação </a:t>
            </a:r>
            <a:r>
              <a:rPr lang="pt-BR" sz="1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representa realmente alto impacto para os negócios e requer a ação emergencial do time de TI</a:t>
            </a:r>
            <a:r>
              <a:rPr lang="pt-BR" sz="14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evitando acionamentos indevidos ou chamados abertos incorretamente por não serem tão prioritários.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2118094" y="5929033"/>
            <a:ext cx="2747678" cy="591696"/>
            <a:chOff x="3692481" y="6093932"/>
            <a:chExt cx="2747678" cy="591696"/>
          </a:xfrm>
        </p:grpSpPr>
        <p:grpSp>
          <p:nvGrpSpPr>
            <p:cNvPr id="7" name="Agrupar 6"/>
            <p:cNvGrpSpPr/>
            <p:nvPr/>
          </p:nvGrpSpPr>
          <p:grpSpPr>
            <a:xfrm>
              <a:off x="3762058" y="6106103"/>
              <a:ext cx="2678101" cy="556364"/>
              <a:chOff x="3576004" y="6324860"/>
              <a:chExt cx="2678101" cy="556364"/>
            </a:xfrm>
          </p:grpSpPr>
          <p:pic>
            <p:nvPicPr>
              <p:cNvPr id="5" name="Imagem 4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76004" y="6324860"/>
                <a:ext cx="475439" cy="556364"/>
              </a:xfrm>
              <a:prstGeom prst="rect">
                <a:avLst/>
              </a:prstGeom>
            </p:spPr>
          </p:pic>
          <p:sp>
            <p:nvSpPr>
              <p:cNvPr id="17" name="CaixaDeTexto 16"/>
              <p:cNvSpPr txBox="1"/>
              <p:nvPr/>
            </p:nvSpPr>
            <p:spPr>
              <a:xfrm>
                <a:off x="4053795" y="6377134"/>
                <a:ext cx="220031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pt-BR" sz="1200" dirty="0" smtClean="0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Ícone que representa um </a:t>
                </a:r>
                <a:r>
                  <a:rPr lang="pt-BR" sz="1200" b="1" i="1" dirty="0" err="1" smtClean="0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Blocker</a:t>
                </a:r>
                <a:r>
                  <a:rPr lang="pt-BR" sz="1200" b="1" dirty="0" smtClean="0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pt-BR" sz="1200" dirty="0" smtClean="0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no </a:t>
                </a:r>
                <a:r>
                  <a:rPr lang="pt-BR" sz="1200" dirty="0" err="1" smtClean="0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Jira</a:t>
                </a:r>
                <a:r>
                  <a:rPr lang="pt-BR" sz="1200" dirty="0" smtClean="0">
                    <a:solidFill>
                      <a:srgbClr val="C00000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Service Desk</a:t>
                </a:r>
                <a:endParaRPr lang="pt-BR" sz="1100" b="1" dirty="0" smtClean="0">
                  <a:solidFill>
                    <a:srgbClr val="C00000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p:grpSp>
        <p:sp>
          <p:nvSpPr>
            <p:cNvPr id="8" name="Retângulo Arredondado 7"/>
            <p:cNvSpPr/>
            <p:nvPr/>
          </p:nvSpPr>
          <p:spPr>
            <a:xfrm>
              <a:off x="3692481" y="6093932"/>
              <a:ext cx="2628000" cy="591696"/>
            </a:xfrm>
            <a:prstGeom prst="round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481091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3388</TotalTime>
  <Words>94</Words>
  <Application>Microsoft Office PowerPoint</Application>
  <PresentationFormat>Papel A4 (210 x 297 mm)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Semibold</vt:lpstr>
      <vt:lpstr>Wingdings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</dc:creator>
  <cp:lastModifiedBy>Jorge Filho</cp:lastModifiedBy>
  <cp:revision>277</cp:revision>
  <dcterms:created xsi:type="dcterms:W3CDTF">2014-01-24T21:35:00Z</dcterms:created>
  <dcterms:modified xsi:type="dcterms:W3CDTF">2016-02-19T20:51:54Z</dcterms:modified>
</cp:coreProperties>
</file>