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357" r:id="rId3"/>
    <p:sldId id="356" r:id="rId4"/>
    <p:sldId id="358" r:id="rId5"/>
    <p:sldId id="354" r:id="rId6"/>
    <p:sldId id="362" r:id="rId7"/>
    <p:sldId id="359" r:id="rId8"/>
    <p:sldId id="360" r:id="rId9"/>
    <p:sldId id="364" r:id="rId10"/>
    <p:sldId id="363" r:id="rId11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FF99"/>
    <a:srgbClr val="FFFF66"/>
    <a:srgbClr val="F68E1E"/>
    <a:srgbClr val="FF6600"/>
    <a:srgbClr val="D0462D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03/11/2016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Plano de Ação Q4</a:t>
            </a:r>
          </a:p>
          <a:p>
            <a:endParaRPr lang="pt-BR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Nei Henckes</a:t>
            </a:r>
          </a:p>
          <a:p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Fechamento Out-2016</a:t>
            </a: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01-11-2016</a:t>
            </a:r>
          </a:p>
        </p:txBody>
      </p:sp>
      <p:pic>
        <p:nvPicPr>
          <p:cNvPr id="2" name="Picture 2" descr="http://www.dynamicbusiness.com.au/wp-content/uploads/2016/01/iStock_000029542540_Larg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438" y="4466208"/>
            <a:ext cx="4996017" cy="239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Contexto e Objetivo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45798" y="2081342"/>
            <a:ext cx="4112341" cy="37761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Após a implantação e consolidação da Central de Serviços de TI, o atingimento dos SLAs acordados passou a ser exigido com maior rigor, fato que motiva a ampliação das práticas de gestão dos chamados e dos controles relacionados aos mesmos.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Nesse contexto está considerado o foco da área no cumprimento de seus SLAs e melhoria contínua na prestação de serviços para as áreas de negócios da Smiles.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486164" y="1498436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Contexto</a:t>
            </a:r>
            <a:endParaRPr lang="pt-BR" sz="1600" i="1" dirty="0"/>
          </a:p>
        </p:txBody>
      </p:sp>
      <p:sp>
        <p:nvSpPr>
          <p:cNvPr id="16" name="Retângulo 15"/>
          <p:cNvSpPr/>
          <p:nvPr/>
        </p:nvSpPr>
        <p:spPr>
          <a:xfrm>
            <a:off x="5488858" y="2705620"/>
            <a:ext cx="4112341" cy="315184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Proposição de Indicadores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acompanhamento mais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focado na redução do Backlog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e, consequentemente,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nos SLAs da CSTI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Proposição de um Plano de Ação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eleve o patamar da prestação de serviços da CSTI, o qual resulte no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atingimento das metas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indicadores propostos.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5429224" y="2122714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871401" y="3876261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3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667440"/>
              </p:ext>
            </p:extLst>
          </p:nvPr>
        </p:nvGraphicFramePr>
        <p:xfrm>
          <a:off x="378569" y="1230902"/>
          <a:ext cx="9360000" cy="486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BUG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em Backlog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 (superou)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BUGs “A Fazer” </a:t>
                      </a: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(pendente de análise de causa-raiz)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- 3 bugs/mês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 BRUTO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 LÍQUIDO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2433363" y="799612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11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3659"/>
              </p:ext>
            </p:extLst>
          </p:nvPr>
        </p:nvGraphicFramePr>
        <p:xfrm>
          <a:off x="378569" y="1230902"/>
          <a:ext cx="9360000" cy="486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 de BLOCKERS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 (% YTD)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96,76%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96,90%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97,90%</a:t>
                      </a:r>
                      <a:r>
                        <a:rPr lang="pt-BR" sz="14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(superou)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95,74%</a:t>
                      </a:r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0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 de BLOCKERS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 (Mensal)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865488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0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0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42124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(% YTD)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88,65% YTD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89,41% YTD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90,04% YTD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80150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88,47%</a:t>
                      </a:r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18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4815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(Mensal)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96,00%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66540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0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95,83%</a:t>
                      </a:r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18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293400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2433363" y="799612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014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35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818500"/>
              </p:ext>
            </p:extLst>
          </p:nvPr>
        </p:nvGraphicFramePr>
        <p:xfrm>
          <a:off x="198569" y="982626"/>
          <a:ext cx="9757779" cy="5688000"/>
        </p:xfrm>
        <a:graphic>
          <a:graphicData uri="http://schemas.openxmlformats.org/drawingml/2006/table">
            <a:tbl>
              <a:tblPr/>
              <a:tblGrid>
                <a:gridCol w="3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Ação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Motivador/Necessidade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O Que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Quando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Status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o Backlog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chamados.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Implantar método de acompanhamento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diário do Backlog junto aos analistas (GEROT – Gestão da Rotina).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30/09/16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o Backlog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chamados.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Promover um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treinamento de reciclagem aos analistas (importância de usar corretamente o JIRA).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sng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04/10/16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10/11/16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o Backlog de chamados.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Documentar e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publicar uma regra de fechamento de chamados “Pendente Usuário” sem retorno há 5 dias úteis.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sng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07/10/16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10/11/16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Melhorar os SLAs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da CSTI (aumentar o atingimento mensal).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Analisar </a:t>
                      </a: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mensalmente 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todos os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chamados que violaram os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SLAs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do mês anterior, um a um, identificando o desvio / ofensor.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Raul Ferreira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04/11/16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a quantidade de BUGs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“A Fazer” (pendentes de análise de causa-raiz).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Promover </a:t>
                      </a: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semanalmente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sessões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análise de causa-raiz, com a finalidade de diminuir a quantidade de BUGs pendentes.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Jonathas Souza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Rotina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93972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Revisar a 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lista de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BUGs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“A Fazer”.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Realizar uma revisão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em toda a lista de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BUGs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“A Fazer” garantindo que todos realmente necessitem RCA (</a:t>
                      </a:r>
                      <a:r>
                        <a:rPr lang="pt-BR" sz="1300" b="0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Root Cause </a:t>
                      </a:r>
                      <a:r>
                        <a:rPr lang="pt-BR" sz="1300" b="0" i="1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Analysis</a:t>
                      </a:r>
                      <a:r>
                        <a:rPr lang="pt-BR" sz="1300" b="0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)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11/11/16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tângulo: Canto Dobrado 2"/>
          <p:cNvSpPr/>
          <p:nvPr/>
        </p:nvSpPr>
        <p:spPr>
          <a:xfrm>
            <a:off x="198570" y="214337"/>
            <a:ext cx="2306092" cy="861391"/>
          </a:xfrm>
          <a:prstGeom prst="foldedCorner">
            <a:avLst>
              <a:gd name="adj" fmla="val 15129"/>
            </a:avLst>
          </a:prstGeom>
          <a:solidFill>
            <a:srgbClr val="FFFF99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Obs.: O Plano de ação é “vivo”, novas ações serão incluídas no dia-a-dia conforme necessidade ou por influência dos resultados dos indicadores.</a:t>
            </a:r>
          </a:p>
        </p:txBody>
      </p:sp>
    </p:spTree>
    <p:extLst>
      <p:ext uri="{BB962C8B-B14F-4D97-AF65-F5344CB8AC3E}">
        <p14:creationId xmlns:p14="http://schemas.microsoft.com/office/powerpoint/2010/main" val="238540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950291"/>
              </p:ext>
            </p:extLst>
          </p:nvPr>
        </p:nvGraphicFramePr>
        <p:xfrm>
          <a:off x="198569" y="982626"/>
          <a:ext cx="9757779" cy="4860000"/>
        </p:xfrm>
        <a:graphic>
          <a:graphicData uri="http://schemas.openxmlformats.org/drawingml/2006/table">
            <a:tbl>
              <a:tblPr/>
              <a:tblGrid>
                <a:gridCol w="3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Ação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Motivador/Necessidade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O Que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Quando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Status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Disseminar a cultura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e ampliar importância do GEROT (Gerenciamento da Rotina) realizado para reduzir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Backlog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Convidar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Adriano (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Gerente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Operações de TI) para participar uma vez por semana do GEROT.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07/11/16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Publicação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do Catálogo de Serviços revisado/ampliado.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Necessário publicar no JIRA as novas categorias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chamados e readequações de níveis de prioridade (ex.: categoria Outros com SLA de Resolução de 40h úteis)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07/11/16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Liberar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acesso de todos os Analistas de Operações de TI aos </a:t>
                      </a:r>
                      <a:r>
                        <a:rPr lang="pt-BR" sz="1300" b="0" i="1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dashboards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Gestão.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Aumentar a conscientização sobre o direcionamento da área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 METAS.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31/10/16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Reforçar a importância (e obrigatoriedade) de preenchimento do campo “Justificativa do SLA Estourado”.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Conscientizar os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Analistas de Operações de TI sobre a importância desta informação para a gestão dos chamados.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07/11/16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Incluir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análise do Campo “Justificativa do SLA Estourado” na GEROT diária.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Conscientizar os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Analistas de Operações de TI sobre a importância desta informação para a gestão dos chamados.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 Henckes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07/11/16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939721"/>
                  </a:ext>
                </a:extLst>
              </a:tr>
            </a:tbl>
          </a:graphicData>
        </a:graphic>
      </p:graphicFrame>
      <p:sp>
        <p:nvSpPr>
          <p:cNvPr id="3" name="Retângulo: Canto Dobrado 2"/>
          <p:cNvSpPr/>
          <p:nvPr/>
        </p:nvSpPr>
        <p:spPr>
          <a:xfrm>
            <a:off x="198570" y="214337"/>
            <a:ext cx="2306092" cy="861391"/>
          </a:xfrm>
          <a:prstGeom prst="foldedCorner">
            <a:avLst>
              <a:gd name="adj" fmla="val 15129"/>
            </a:avLst>
          </a:prstGeom>
          <a:solidFill>
            <a:srgbClr val="FFFF99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Obs.: O Plano de ação é “vivo”, novas ações serão incluídas no dia-a-dia conforme necessidade ou por influência dos resultados dos indicadores.</a:t>
            </a:r>
          </a:p>
        </p:txBody>
      </p:sp>
    </p:spTree>
    <p:extLst>
      <p:ext uri="{BB962C8B-B14F-4D97-AF65-F5344CB8AC3E}">
        <p14:creationId xmlns:p14="http://schemas.microsoft.com/office/powerpoint/2010/main" val="184545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 – Indicadores (EXEMPLO)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128884"/>
              </p:ext>
            </p:extLst>
          </p:nvPr>
        </p:nvGraphicFramePr>
        <p:xfrm>
          <a:off x="350158" y="1482693"/>
          <a:ext cx="8090755" cy="486000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BUG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em Backlog</a:t>
                      </a:r>
                      <a:endParaRPr lang="pt-BR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 (superou)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BUGs “A Fazer” </a:t>
                      </a: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(pendente de análise de causa-raiz)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- 3 bugs/mês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 BRUTO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 LÍQUIDO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1770329" y="997688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6" name="Picture 2" descr="http://us.123rf.com/450wm/aquir/aquir1504/aquir150401107/39120040-exemplo-da-fita-do-grunge-selo-vermelho-retro-isolado.jpg?ver=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269" y="3127608"/>
            <a:ext cx="1564585" cy="123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853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7987</TotalTime>
  <Words>1021</Words>
  <Application>Microsoft Office PowerPoint</Application>
  <PresentationFormat>Personalizar</PresentationFormat>
  <Paragraphs>275</Paragraphs>
  <Slides>10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Nei Henckes</cp:lastModifiedBy>
  <cp:revision>44</cp:revision>
  <dcterms:created xsi:type="dcterms:W3CDTF">2014-01-24T21:35:00Z</dcterms:created>
  <dcterms:modified xsi:type="dcterms:W3CDTF">2016-11-03T10:55:16Z</dcterms:modified>
</cp:coreProperties>
</file>