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4" r:id="rId2"/>
  </p:sldIdLst>
  <p:sldSz cx="9601200" cy="16200438"/>
  <p:notesSz cx="6858000" cy="9144000"/>
  <p:defaultTextStyle>
    <a:defPPr>
      <a:defRPr lang="en-US"/>
    </a:defPPr>
    <a:lvl1pPr marL="0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1pPr>
    <a:lvl2pPr marL="610845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2pPr>
    <a:lvl3pPr marL="1221692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3pPr>
    <a:lvl4pPr marL="1832539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4pPr>
    <a:lvl5pPr marL="2443384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5pPr>
    <a:lvl6pPr marL="3054231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6pPr>
    <a:lvl7pPr marL="3665077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7pPr>
    <a:lvl8pPr marL="4275923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8pPr>
    <a:lvl9pPr marL="4886769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103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0000"/>
    <a:srgbClr val="FF6600"/>
    <a:srgbClr val="F57124"/>
    <a:srgbClr val="FF9900"/>
    <a:srgbClr val="FF8E2D"/>
    <a:srgbClr val="F68E1E"/>
    <a:srgbClr val="99CCFF"/>
    <a:srgbClr val="000000"/>
    <a:srgbClr val="EE6829"/>
    <a:srgbClr val="E28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 snapToObjects="1">
      <p:cViewPr varScale="1">
        <p:scale>
          <a:sx n="31" d="100"/>
          <a:sy n="31" d="100"/>
        </p:scale>
        <p:origin x="2418" y="84"/>
      </p:cViewPr>
      <p:guideLst>
        <p:guide orient="horz" pos="5103"/>
        <p:guide pos="30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30/08/2016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413000" y="685800"/>
            <a:ext cx="203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1pPr>
    <a:lvl2pPr marL="610845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2pPr>
    <a:lvl3pPr marL="1221692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3pPr>
    <a:lvl4pPr marL="1832539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4pPr>
    <a:lvl5pPr marL="2443384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5pPr>
    <a:lvl6pPr marL="3054231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6pPr>
    <a:lvl7pPr marL="3665077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7pPr>
    <a:lvl8pPr marL="4275923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8pPr>
    <a:lvl9pPr marL="4886769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1" y="5032646"/>
            <a:ext cx="8161020" cy="347259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181" y="9180248"/>
            <a:ext cx="6720840" cy="414011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5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29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429" y="10410290"/>
            <a:ext cx="8161020" cy="3217587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429" y="6866441"/>
            <a:ext cx="8161020" cy="3543845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68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35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03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471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3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06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574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2941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61" y="3780111"/>
            <a:ext cx="4240530" cy="10691540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0610" y="3780111"/>
            <a:ext cx="4240530" cy="10691540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8/30/2016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63" y="3626352"/>
            <a:ext cx="4242197" cy="1511290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68" indent="0">
              <a:buNone/>
              <a:defRPr sz="2889" b="1"/>
            </a:lvl2pPr>
            <a:lvl3pPr marL="1320735" indent="0">
              <a:buNone/>
              <a:defRPr sz="2600" b="1"/>
            </a:lvl3pPr>
            <a:lvl4pPr marL="1981103" indent="0">
              <a:buNone/>
              <a:defRPr sz="2311" b="1"/>
            </a:lvl4pPr>
            <a:lvl5pPr marL="2641471" indent="0">
              <a:buNone/>
              <a:defRPr sz="2311" b="1"/>
            </a:lvl5pPr>
            <a:lvl6pPr marL="3301838" indent="0">
              <a:buNone/>
              <a:defRPr sz="2311" b="1"/>
            </a:lvl6pPr>
            <a:lvl7pPr marL="3962206" indent="0">
              <a:buNone/>
              <a:defRPr sz="2311" b="1"/>
            </a:lvl7pPr>
            <a:lvl8pPr marL="4622574" indent="0">
              <a:buNone/>
              <a:defRPr sz="2311" b="1"/>
            </a:lvl8pPr>
            <a:lvl9pPr marL="5282941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3" y="5137638"/>
            <a:ext cx="4242197" cy="9334004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7279" y="3626352"/>
            <a:ext cx="4243865" cy="1511290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68" indent="0">
              <a:buNone/>
              <a:defRPr sz="2889" b="1"/>
            </a:lvl2pPr>
            <a:lvl3pPr marL="1320735" indent="0">
              <a:buNone/>
              <a:defRPr sz="2600" b="1"/>
            </a:lvl3pPr>
            <a:lvl4pPr marL="1981103" indent="0">
              <a:buNone/>
              <a:defRPr sz="2311" b="1"/>
            </a:lvl4pPr>
            <a:lvl5pPr marL="2641471" indent="0">
              <a:buNone/>
              <a:defRPr sz="2311" b="1"/>
            </a:lvl5pPr>
            <a:lvl6pPr marL="3301838" indent="0">
              <a:buNone/>
              <a:defRPr sz="2311" b="1"/>
            </a:lvl6pPr>
            <a:lvl7pPr marL="3962206" indent="0">
              <a:buNone/>
              <a:defRPr sz="2311" b="1"/>
            </a:lvl7pPr>
            <a:lvl8pPr marL="4622574" indent="0">
              <a:buNone/>
              <a:defRPr sz="2311" b="1"/>
            </a:lvl8pPr>
            <a:lvl9pPr marL="5282941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7279" y="5137638"/>
            <a:ext cx="4243865" cy="9334004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8/30/2016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8/30/2016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8/30/2016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2" y="645017"/>
            <a:ext cx="3158729" cy="2745074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3807" y="645025"/>
            <a:ext cx="5367337" cy="13826626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62" y="3390102"/>
            <a:ext cx="3158729" cy="11081551"/>
          </a:xfrm>
        </p:spPr>
        <p:txBody>
          <a:bodyPr/>
          <a:lstStyle>
            <a:lvl1pPr marL="0" indent="0">
              <a:buNone/>
              <a:defRPr sz="2022"/>
            </a:lvl1pPr>
            <a:lvl2pPr marL="660368" indent="0">
              <a:buNone/>
              <a:defRPr sz="1733"/>
            </a:lvl2pPr>
            <a:lvl3pPr marL="1320735" indent="0">
              <a:buNone/>
              <a:defRPr sz="1444"/>
            </a:lvl3pPr>
            <a:lvl4pPr marL="1981103" indent="0">
              <a:buNone/>
              <a:defRPr sz="1300"/>
            </a:lvl4pPr>
            <a:lvl5pPr marL="2641471" indent="0">
              <a:buNone/>
              <a:defRPr sz="1300"/>
            </a:lvl5pPr>
            <a:lvl6pPr marL="3301838" indent="0">
              <a:buNone/>
              <a:defRPr sz="1300"/>
            </a:lvl6pPr>
            <a:lvl7pPr marL="3962206" indent="0">
              <a:buNone/>
              <a:defRPr sz="1300"/>
            </a:lvl7pPr>
            <a:lvl8pPr marL="4622574" indent="0">
              <a:buNone/>
              <a:defRPr sz="1300"/>
            </a:lvl8pPr>
            <a:lvl9pPr marL="5282941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8/30/2016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1904" y="11340306"/>
            <a:ext cx="5760720" cy="1338789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81904" y="1447538"/>
            <a:ext cx="5760720" cy="9720263"/>
          </a:xfrm>
        </p:spPr>
        <p:txBody>
          <a:bodyPr/>
          <a:lstStyle>
            <a:lvl1pPr marL="0" indent="0">
              <a:buNone/>
              <a:defRPr sz="4622"/>
            </a:lvl1pPr>
            <a:lvl2pPr marL="660368" indent="0">
              <a:buNone/>
              <a:defRPr sz="4044"/>
            </a:lvl2pPr>
            <a:lvl3pPr marL="1320735" indent="0">
              <a:buNone/>
              <a:defRPr sz="3467"/>
            </a:lvl3pPr>
            <a:lvl4pPr marL="1981103" indent="0">
              <a:buNone/>
              <a:defRPr sz="2889"/>
            </a:lvl4pPr>
            <a:lvl5pPr marL="2641471" indent="0">
              <a:buNone/>
              <a:defRPr sz="2889"/>
            </a:lvl5pPr>
            <a:lvl6pPr marL="3301838" indent="0">
              <a:buNone/>
              <a:defRPr sz="2889"/>
            </a:lvl6pPr>
            <a:lvl7pPr marL="3962206" indent="0">
              <a:buNone/>
              <a:defRPr sz="2889"/>
            </a:lvl7pPr>
            <a:lvl8pPr marL="4622574" indent="0">
              <a:buNone/>
              <a:defRPr sz="2889"/>
            </a:lvl8pPr>
            <a:lvl9pPr marL="5282941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1904" y="12679095"/>
            <a:ext cx="5760720" cy="1901299"/>
          </a:xfrm>
        </p:spPr>
        <p:txBody>
          <a:bodyPr/>
          <a:lstStyle>
            <a:lvl1pPr marL="0" indent="0">
              <a:buNone/>
              <a:defRPr sz="2022"/>
            </a:lvl1pPr>
            <a:lvl2pPr marL="660368" indent="0">
              <a:buNone/>
              <a:defRPr sz="1733"/>
            </a:lvl2pPr>
            <a:lvl3pPr marL="1320735" indent="0">
              <a:buNone/>
              <a:defRPr sz="1444"/>
            </a:lvl3pPr>
            <a:lvl4pPr marL="1981103" indent="0">
              <a:buNone/>
              <a:defRPr sz="1300"/>
            </a:lvl4pPr>
            <a:lvl5pPr marL="2641471" indent="0">
              <a:buNone/>
              <a:defRPr sz="1300"/>
            </a:lvl5pPr>
            <a:lvl6pPr marL="3301838" indent="0">
              <a:buNone/>
              <a:defRPr sz="1300"/>
            </a:lvl6pPr>
            <a:lvl7pPr marL="3962206" indent="0">
              <a:buNone/>
              <a:defRPr sz="1300"/>
            </a:lvl7pPr>
            <a:lvl8pPr marL="4622574" indent="0">
              <a:buNone/>
              <a:defRPr sz="1300"/>
            </a:lvl8pPr>
            <a:lvl9pPr marL="5282941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8/30/2016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0870" y="648780"/>
            <a:ext cx="2160270" cy="1382287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0060" y="648780"/>
            <a:ext cx="6320790" cy="1382287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0060" y="648768"/>
            <a:ext cx="8641080" cy="27000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60" y="3780111"/>
            <a:ext cx="8641080" cy="106915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0060" y="15015416"/>
            <a:ext cx="2240280" cy="8625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8/30/2016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0410" y="15015416"/>
            <a:ext cx="3040380" cy="8625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0860" y="15015416"/>
            <a:ext cx="2240280" cy="8625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68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76" indent="-495276" algn="l" defTabSz="660368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097" indent="-412729" algn="l" defTabSz="660368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19" indent="-330184" algn="l" defTabSz="660368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286" indent="-330184" algn="l" defTabSz="660368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655" indent="-330184" algn="l" defTabSz="660368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21" indent="-330184" algn="l" defTabSz="660368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389" indent="-330184" algn="l" defTabSz="660368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757" indent="-330184" algn="l" defTabSz="660368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124" indent="-330184" algn="l" defTabSz="660368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68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35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03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471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38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6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574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2941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aixaDeTexto 40"/>
          <p:cNvSpPr txBox="1"/>
          <p:nvPr/>
        </p:nvSpPr>
        <p:spPr>
          <a:xfrm>
            <a:off x="3411716" y="7724770"/>
            <a:ext cx="2808000" cy="7761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600"/>
              </a:lnSpc>
              <a:spcAft>
                <a:spcPts val="1200"/>
              </a:spcAft>
            </a:pPr>
            <a:r>
              <a:rPr lang="pt-B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Também realiza diversas atividades além de manter os sistemas e serviços de TI “no ar”, tais como: </a:t>
            </a:r>
            <a:r>
              <a:rPr lang="pt-BR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transição dos projetos e melhorias implantados pelos times de desenvolvimento </a:t>
            </a:r>
            <a:r>
              <a:rPr lang="pt-B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a operação de TI; toda </a:t>
            </a:r>
            <a:r>
              <a:rPr lang="pt-BR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parametrização técnica das promoções </a:t>
            </a:r>
            <a:r>
              <a:rPr lang="pt-B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(cadastramento de novas promoções e manutenção de promoções existentes); </a:t>
            </a:r>
            <a:r>
              <a:rPr lang="pt-BR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monitoração diária do EDI </a:t>
            </a:r>
            <a:r>
              <a:rPr lang="pt-B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(transações de pontuação entre os parceiros e a Smiles); </a:t>
            </a:r>
            <a:r>
              <a:rPr lang="pt-BR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parametrizações diversas nos sistemas</a:t>
            </a:r>
            <a:r>
              <a:rPr lang="pt-B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; </a:t>
            </a:r>
            <a:r>
              <a:rPr lang="pt-BR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identificação da causa-raiz de Bugs</a:t>
            </a:r>
            <a:r>
              <a:rPr lang="pt-B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; entre outras.</a:t>
            </a: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" name="Agrupar 3"/>
          <p:cNvGrpSpPr/>
          <p:nvPr/>
        </p:nvGrpSpPr>
        <p:grpSpPr>
          <a:xfrm>
            <a:off x="170793" y="232239"/>
            <a:ext cx="9287180" cy="1581150"/>
            <a:chOff x="139262" y="109370"/>
            <a:chExt cx="9287180" cy="1581150"/>
          </a:xfrm>
        </p:grpSpPr>
        <p:pic>
          <p:nvPicPr>
            <p:cNvPr id="26" name="Imagem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262" y="109370"/>
              <a:ext cx="9287180" cy="1581150"/>
            </a:xfrm>
            <a:prstGeom prst="rect">
              <a:avLst/>
            </a:prstGeom>
          </p:spPr>
        </p:pic>
        <p:pic>
          <p:nvPicPr>
            <p:cNvPr id="27" name="Imagem 26"/>
            <p:cNvPicPr>
              <a:picLocks noChangeAspect="1"/>
            </p:cNvPicPr>
            <p:nvPr/>
          </p:nvPicPr>
          <p:blipFill rotWithShape="1">
            <a:blip r:embed="rId2"/>
            <a:srcRect l="28752" t="13835" r="28782" b="16159"/>
            <a:stretch/>
          </p:blipFill>
          <p:spPr>
            <a:xfrm>
              <a:off x="3074418" y="251945"/>
              <a:ext cx="3416868" cy="1332000"/>
            </a:xfrm>
            <a:prstGeom prst="rect">
              <a:avLst/>
            </a:prstGeom>
          </p:spPr>
        </p:pic>
      </p:grpSp>
      <p:sp>
        <p:nvSpPr>
          <p:cNvPr id="16" name="Retângulo 15"/>
          <p:cNvSpPr/>
          <p:nvPr/>
        </p:nvSpPr>
        <p:spPr>
          <a:xfrm>
            <a:off x="170793" y="232239"/>
            <a:ext cx="9287180" cy="15732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5"/>
          </a:p>
        </p:txBody>
      </p:sp>
      <p:sp>
        <p:nvSpPr>
          <p:cNvPr id="18" name="CaixaDeTexto 17"/>
          <p:cNvSpPr txBox="1"/>
          <p:nvPr/>
        </p:nvSpPr>
        <p:spPr>
          <a:xfrm>
            <a:off x="369311" y="2088056"/>
            <a:ext cx="882843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pt-BR" sz="28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Fique por Dentro da Smiles:</a:t>
            </a:r>
          </a:p>
          <a:p>
            <a:pPr>
              <a:spcAft>
                <a:spcPts val="1200"/>
              </a:spcAft>
            </a:pPr>
            <a:r>
              <a:rPr lang="pt-BR" sz="40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Operações de TI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8103477" y="362816"/>
            <a:ext cx="1260076" cy="462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2405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31.Ago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369311" y="3673992"/>
            <a:ext cx="42731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Nessa edição, falaremos sobre os desafios da área de </a:t>
            </a:r>
            <a:r>
              <a:rPr lang="pt-B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Operações de TI</a:t>
            </a:r>
            <a:r>
              <a:rPr lang="pt-B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coordenada pelo </a:t>
            </a:r>
            <a:r>
              <a:rPr lang="pt-B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Nei </a:t>
            </a:r>
            <a:r>
              <a:rPr lang="pt-BR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Henckes</a:t>
            </a:r>
            <a:r>
              <a:rPr lang="pt-B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3855" y="6465521"/>
            <a:ext cx="828000" cy="828000"/>
          </a:xfrm>
          <a:prstGeom prst="rect">
            <a:avLst/>
          </a:prstGeom>
        </p:spPr>
      </p:pic>
      <p:sp>
        <p:nvSpPr>
          <p:cNvPr id="31" name="Retângulo: Cantos Arredondados 30"/>
          <p:cNvSpPr>
            <a:spLocks/>
          </p:cNvSpPr>
          <p:nvPr/>
        </p:nvSpPr>
        <p:spPr>
          <a:xfrm>
            <a:off x="4768553" y="2999547"/>
            <a:ext cx="4387598" cy="1820103"/>
          </a:xfrm>
          <a:prstGeom prst="roundRect">
            <a:avLst>
              <a:gd name="adj" fmla="val 8294"/>
            </a:avLst>
          </a:prstGeom>
          <a:blipFill>
            <a:blip r:embed="rId4"/>
            <a:srcRect/>
            <a:stretch>
              <a:fillRect l="-21514" t="-1698" r="-11968" b="1698"/>
            </a:stretch>
          </a:blipFill>
          <a:ln>
            <a:solidFill>
              <a:srgbClr val="7030A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0" name="Agrupar 39"/>
          <p:cNvGrpSpPr/>
          <p:nvPr/>
        </p:nvGrpSpPr>
        <p:grpSpPr>
          <a:xfrm>
            <a:off x="889308" y="5353498"/>
            <a:ext cx="8260857" cy="1887696"/>
            <a:chOff x="1101705" y="5833586"/>
            <a:chExt cx="8260857" cy="1887696"/>
          </a:xfrm>
        </p:grpSpPr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101705" y="5877434"/>
              <a:ext cx="923699" cy="792000"/>
            </a:xfrm>
            <a:prstGeom prst="rect">
              <a:avLst/>
            </a:prstGeom>
          </p:spPr>
        </p:pic>
        <p:pic>
          <p:nvPicPr>
            <p:cNvPr id="13" name="Imagem 12"/>
            <p:cNvPicPr>
              <a:picLocks noChangeAspect="1"/>
            </p:cNvPicPr>
            <p:nvPr/>
          </p:nvPicPr>
          <p:blipFill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241253" y="5833586"/>
              <a:ext cx="801394" cy="828000"/>
            </a:xfrm>
            <a:prstGeom prst="rect">
              <a:avLst/>
            </a:prstGeom>
          </p:spPr>
        </p:pic>
        <p:pic>
          <p:nvPicPr>
            <p:cNvPr id="14" name="Imagem 13"/>
            <p:cNvPicPr>
              <a:picLocks noChangeAspect="1"/>
            </p:cNvPicPr>
            <p:nvPr/>
          </p:nvPicPr>
          <p:blipFill>
            <a:blip r:embed="rId7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955413" y="6806931"/>
              <a:ext cx="792000" cy="792000"/>
            </a:xfrm>
            <a:prstGeom prst="rect">
              <a:avLst/>
            </a:prstGeom>
          </p:spPr>
        </p:pic>
        <p:sp>
          <p:nvSpPr>
            <p:cNvPr id="36" name="CaixaDeTexto 35"/>
            <p:cNvSpPr txBox="1"/>
            <p:nvPr/>
          </p:nvSpPr>
          <p:spPr>
            <a:xfrm>
              <a:off x="3570169" y="5833586"/>
              <a:ext cx="5792393" cy="18876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800"/>
                </a:lnSpc>
                <a:spcAft>
                  <a:spcPts val="1200"/>
                </a:spcAft>
              </a:pPr>
              <a:r>
                <a:rPr lang="pt-BR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 área de Operações de TI é </a:t>
              </a:r>
              <a:r>
                <a:rPr lang="pt-BR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responsável pela sustentação dos sistemas e serviços de TI que suportam as operações de negócios </a:t>
              </a:r>
              <a:r>
                <a:rPr lang="pt-BR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da Smiles, tais como o Siebel, EDI, toda a plataforma web (site/portal, site mobile), entre outros.</a:t>
              </a:r>
              <a:endPara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37" name="Conector reto 36"/>
            <p:cNvCxnSpPr/>
            <p:nvPr/>
          </p:nvCxnSpPr>
          <p:spPr>
            <a:xfrm>
              <a:off x="3350455" y="5877434"/>
              <a:ext cx="0" cy="1800000"/>
            </a:xfrm>
            <a:prstGeom prst="line">
              <a:avLst/>
            </a:prstGeom>
            <a:ln w="57150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39" name="CaixaDeTexto 38"/>
          <p:cNvSpPr txBox="1"/>
          <p:nvPr/>
        </p:nvSpPr>
        <p:spPr>
          <a:xfrm>
            <a:off x="369311" y="7724770"/>
            <a:ext cx="2808000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600"/>
              </a:lnSpc>
              <a:spcAft>
                <a:spcPts val="1200"/>
              </a:spcAft>
            </a:pPr>
            <a:r>
              <a:rPr lang="pt-B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Muito embora atue em horário comercial, a área realiza um revezamento de seus colaboradores para atuação adicional em </a:t>
            </a:r>
            <a:r>
              <a:rPr lang="pt-BR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regime de Plantão 24x7x365 </a:t>
            </a:r>
            <a:r>
              <a:rPr lang="pt-B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(24 horas por dia, 7 dias por semana, 365 dias por ano), de forma </a:t>
            </a:r>
            <a:r>
              <a:rPr lang="pt-BR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garantir o suporte adequado ao negócio na eventualidade de ocorrer um incidente crítico</a:t>
            </a:r>
            <a:r>
              <a:rPr lang="pt-B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(“</a:t>
            </a:r>
            <a:r>
              <a:rPr lang="pt-BR" sz="1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blocker</a:t>
            </a:r>
            <a:r>
              <a:rPr lang="pt-B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”), como a indisponibilidade de algum sistema ou serviço de TI. Neste caso, o colaborador de plantão é acionado e passa a atuar na solução do incidente o mais rápido possível, não importando o dia ou horário da ocorrência.</a:t>
            </a:r>
            <a:endParaRPr lang="en-US" sz="18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" name="CaixaDeTexto 41"/>
          <p:cNvSpPr txBox="1"/>
          <p:nvPr/>
        </p:nvSpPr>
        <p:spPr>
          <a:xfrm>
            <a:off x="6454121" y="7724770"/>
            <a:ext cx="2808000" cy="6760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600"/>
              </a:lnSpc>
              <a:spcAft>
                <a:spcPts val="1200"/>
              </a:spcAft>
            </a:pPr>
            <a:r>
              <a:rPr lang="pt-B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área de Operações de TI </a:t>
            </a:r>
            <a:r>
              <a:rPr lang="pt-BR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atua exclusivamente orientada ao atendimento de chamados</a:t>
            </a:r>
            <a:r>
              <a:rPr lang="pt-B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abertos na ferramenta JIRA Service Desk, pela qual seu desempenho é constantemente acompanhado por sua gerência e diretoria. Já </a:t>
            </a:r>
            <a:r>
              <a:rPr lang="pt-BR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atuou em mais de 2.500 chamados desde janeiro </a:t>
            </a:r>
            <a:r>
              <a:rPr lang="pt-B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deste ano, atingindo aproximadamente 99% de seu "SLA de Resposta" e 88% de seu "SLA de Resolução", os quais foram estabelecidos no final do ano passado.</a:t>
            </a:r>
            <a:endParaRPr lang="en-US" sz="18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5" name="Agrupar 44"/>
          <p:cNvGrpSpPr/>
          <p:nvPr/>
        </p:nvGrpSpPr>
        <p:grpSpPr>
          <a:xfrm>
            <a:off x="7120743" y="14618144"/>
            <a:ext cx="2051603" cy="1021409"/>
            <a:chOff x="7120743" y="14712737"/>
            <a:chExt cx="2051603" cy="1021409"/>
          </a:xfrm>
        </p:grpSpPr>
        <p:sp>
          <p:nvSpPr>
            <p:cNvPr id="43" name="CaixaDeTexto 42"/>
            <p:cNvSpPr txBox="1"/>
            <p:nvPr/>
          </p:nvSpPr>
          <p:spPr>
            <a:xfrm>
              <a:off x="7120743" y="14712737"/>
              <a:ext cx="202209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t-BR" sz="16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Colaboração </a:t>
              </a:r>
            </a:p>
            <a:p>
              <a:pPr algn="r"/>
              <a:r>
                <a:rPr lang="pt-BR" sz="1600" b="1" dirty="0">
                  <a:solidFill>
                    <a:srgbClr val="7030A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Nei </a:t>
              </a:r>
              <a:r>
                <a:rPr lang="pt-BR" sz="1600" b="1" dirty="0" err="1">
                  <a:solidFill>
                    <a:srgbClr val="7030A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Henckes</a:t>
              </a:r>
              <a:endParaRPr lang="pt-BR" sz="16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  <a:p>
              <a:pPr algn="r"/>
              <a:r>
                <a:rPr lang="pt-BR" sz="1400" i="1" dirty="0">
                  <a:solidFill>
                    <a:srgbClr val="7030A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Coordenador de Operações de TI</a:t>
              </a:r>
              <a:endParaRPr lang="pt-BR" sz="2000" i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cxnSp>
          <p:nvCxnSpPr>
            <p:cNvPr id="44" name="Conector reto 43"/>
            <p:cNvCxnSpPr/>
            <p:nvPr/>
          </p:nvCxnSpPr>
          <p:spPr>
            <a:xfrm>
              <a:off x="9172346" y="14762146"/>
              <a:ext cx="0" cy="972000"/>
            </a:xfrm>
            <a:prstGeom prst="line">
              <a:avLst/>
            </a:prstGeom>
            <a:ln w="28575"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81091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3539</TotalTime>
  <Words>341</Words>
  <Application>Microsoft Office PowerPoint</Application>
  <PresentationFormat>Personalizar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Segoe UI</vt:lpstr>
      <vt:lpstr>Segoe UI Semibold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294</cp:revision>
  <dcterms:created xsi:type="dcterms:W3CDTF">2014-01-24T21:35:00Z</dcterms:created>
  <dcterms:modified xsi:type="dcterms:W3CDTF">2016-08-30T22:34:25Z</dcterms:modified>
</cp:coreProperties>
</file>