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317" r:id="rId3"/>
    <p:sldId id="319" r:id="rId4"/>
    <p:sldId id="320" r:id="rId5"/>
    <p:sldId id="279" r:id="rId6"/>
    <p:sldId id="283" r:id="rId7"/>
    <p:sldId id="316" r:id="rId8"/>
    <p:sldId id="321" r:id="rId9"/>
    <p:sldId id="298" r:id="rId10"/>
    <p:sldId id="322" r:id="rId11"/>
    <p:sldId id="312" r:id="rId12"/>
    <p:sldId id="297" r:id="rId13"/>
    <p:sldId id="323" r:id="rId14"/>
    <p:sldId id="314" r:id="rId15"/>
    <p:sldId id="305" r:id="rId16"/>
    <p:sldId id="306" r:id="rId17"/>
    <p:sldId id="307" r:id="rId18"/>
    <p:sldId id="308" r:id="rId19"/>
    <p:sldId id="309" r:id="rId20"/>
    <p:sldId id="310" r:id="rId21"/>
    <p:sldId id="311" r:id="rId22"/>
    <p:sldId id="324" r:id="rId23"/>
    <p:sldId id="325" r:id="rId24"/>
    <p:sldId id="301" r:id="rId25"/>
    <p:sldId id="300" r:id="rId26"/>
    <p:sldId id="315" r:id="rId27"/>
    <p:sldId id="270" r:id="rId28"/>
  </p:sldIdLst>
  <p:sldSz cx="1080135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83" userDrawn="1">
          <p15:clr>
            <a:srgbClr val="A4A3A4"/>
          </p15:clr>
        </p15:guide>
        <p15:guide id="2" pos="340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28734"/>
    <a:srgbClr val="F4BC71"/>
    <a:srgbClr val="FF9900"/>
    <a:srgbClr val="F57124"/>
    <a:srgbClr val="FF6600"/>
    <a:srgbClr val="EE6829"/>
    <a:srgbClr val="D0462D"/>
    <a:srgbClr val="C3432A"/>
    <a:srgbClr val="FFFFFF"/>
    <a:srgbClr val="7D1A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Estilo Claro 2 - Ênfas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Estilo Claro 2 - Ênfase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638B1855-1B75-4FBE-930C-398BA8C253C6}" styleName="Estilo com Tema 2 - Ênfase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8B1032C-EA38-4F05-BA0D-38AFFFC7BED3}" styleName="Estilo Claro 3 - Ênfase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6D9F66E-5EB9-4882-86FB-DCBF35E3C3E4}" styleName="Estilo Médio 4 - Ênfase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8D230F3-CF80-4859-8CE7-A43EE81993B5}" styleName="Estilo Claro 1 - Ênfas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937" autoAdjust="0"/>
    <p:restoredTop sz="50083" autoAdjust="0"/>
  </p:normalViewPr>
  <p:slideViewPr>
    <p:cSldViewPr snapToGrid="0" snapToObjects="1">
      <p:cViewPr>
        <p:scale>
          <a:sx n="110" d="100"/>
          <a:sy n="110" d="100"/>
        </p:scale>
        <p:origin x="-120" y="86"/>
      </p:cViewPr>
      <p:guideLst>
        <p:guide orient="horz" pos="2183"/>
        <p:guide pos="3403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103" y="2130442"/>
            <a:ext cx="9181148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0206" y="3886200"/>
            <a:ext cx="756094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2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5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7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8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9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1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2/17/2017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989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2/17/2017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07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236" y="4406924"/>
            <a:ext cx="9181148" cy="1362075"/>
          </a:xfrm>
        </p:spPr>
        <p:txBody>
          <a:bodyPr anchor="t"/>
          <a:lstStyle>
            <a:lvl1pPr algn="l">
              <a:defRPr sz="4001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236" y="2906722"/>
            <a:ext cx="9181148" cy="1500187"/>
          </a:xfrm>
        </p:spPr>
        <p:txBody>
          <a:bodyPr anchor="b"/>
          <a:lstStyle>
            <a:lvl1pPr marL="0" indent="0">
              <a:buNone/>
              <a:defRPr sz="1999">
                <a:solidFill>
                  <a:schemeClr val="tx1">
                    <a:tint val="75000"/>
                  </a:schemeClr>
                </a:solidFill>
              </a:defRPr>
            </a:lvl1pPr>
            <a:lvl2pPr marL="45714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28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42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56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70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84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98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12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2/17/2017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74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0068" y="1600206"/>
            <a:ext cx="4770596" cy="4525963"/>
          </a:xfrm>
        </p:spPr>
        <p:txBody>
          <a:bodyPr/>
          <a:lstStyle>
            <a:lvl1pPr>
              <a:defRPr sz="2799"/>
            </a:lvl1pPr>
            <a:lvl2pPr>
              <a:defRPr sz="2400"/>
            </a:lvl2pPr>
            <a:lvl3pPr>
              <a:defRPr sz="1999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90686" y="1600206"/>
            <a:ext cx="4770596" cy="4525963"/>
          </a:xfrm>
        </p:spPr>
        <p:txBody>
          <a:bodyPr/>
          <a:lstStyle>
            <a:lvl1pPr>
              <a:defRPr sz="2799"/>
            </a:lvl1pPr>
            <a:lvl2pPr>
              <a:defRPr sz="2400"/>
            </a:lvl2pPr>
            <a:lvl3pPr>
              <a:defRPr sz="1999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2/17/2017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154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0072" y="1535113"/>
            <a:ext cx="477247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40" indent="0">
              <a:buNone/>
              <a:defRPr sz="1999" b="1"/>
            </a:lvl2pPr>
            <a:lvl3pPr marL="914281" indent="0">
              <a:buNone/>
              <a:defRPr sz="1800" b="1"/>
            </a:lvl3pPr>
            <a:lvl4pPr marL="1371421" indent="0">
              <a:buNone/>
              <a:defRPr sz="1600" b="1"/>
            </a:lvl4pPr>
            <a:lvl5pPr marL="1828561" indent="0">
              <a:buNone/>
              <a:defRPr sz="1600" b="1"/>
            </a:lvl5pPr>
            <a:lvl6pPr marL="2285702" indent="0">
              <a:buNone/>
              <a:defRPr sz="1600" b="1"/>
            </a:lvl6pPr>
            <a:lvl7pPr marL="2742842" indent="0">
              <a:buNone/>
              <a:defRPr sz="1600" b="1"/>
            </a:lvl7pPr>
            <a:lvl8pPr marL="3199982" indent="0">
              <a:buNone/>
              <a:defRPr sz="1600" b="1"/>
            </a:lvl8pPr>
            <a:lvl9pPr marL="3657122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0072" y="2174876"/>
            <a:ext cx="4772472" cy="3951288"/>
          </a:xfrm>
        </p:spPr>
        <p:txBody>
          <a:bodyPr/>
          <a:lstStyle>
            <a:lvl1pPr>
              <a:defRPr sz="2400"/>
            </a:lvl1pPr>
            <a:lvl2pPr>
              <a:defRPr sz="1999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86937" y="1535113"/>
            <a:ext cx="477434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40" indent="0">
              <a:buNone/>
              <a:defRPr sz="1999" b="1"/>
            </a:lvl2pPr>
            <a:lvl3pPr marL="914281" indent="0">
              <a:buNone/>
              <a:defRPr sz="1800" b="1"/>
            </a:lvl3pPr>
            <a:lvl4pPr marL="1371421" indent="0">
              <a:buNone/>
              <a:defRPr sz="1600" b="1"/>
            </a:lvl4pPr>
            <a:lvl5pPr marL="1828561" indent="0">
              <a:buNone/>
              <a:defRPr sz="1600" b="1"/>
            </a:lvl5pPr>
            <a:lvl6pPr marL="2285702" indent="0">
              <a:buNone/>
              <a:defRPr sz="1600" b="1"/>
            </a:lvl6pPr>
            <a:lvl7pPr marL="2742842" indent="0">
              <a:buNone/>
              <a:defRPr sz="1600" b="1"/>
            </a:lvl7pPr>
            <a:lvl8pPr marL="3199982" indent="0">
              <a:buNone/>
              <a:defRPr sz="1600" b="1"/>
            </a:lvl8pPr>
            <a:lvl9pPr marL="3657122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86937" y="2174876"/>
            <a:ext cx="4774347" cy="3951288"/>
          </a:xfrm>
        </p:spPr>
        <p:txBody>
          <a:bodyPr/>
          <a:lstStyle>
            <a:lvl1pPr>
              <a:defRPr sz="2400"/>
            </a:lvl1pPr>
            <a:lvl2pPr>
              <a:defRPr sz="1999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2/17/2017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74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2/17/2017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2/17/2017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48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0072" y="273050"/>
            <a:ext cx="3553570" cy="1162050"/>
          </a:xfrm>
        </p:spPr>
        <p:txBody>
          <a:bodyPr anchor="b"/>
          <a:lstStyle>
            <a:lvl1pPr algn="l">
              <a:defRPr sz="199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23031" y="273074"/>
            <a:ext cx="6038256" cy="5853113"/>
          </a:xfrm>
        </p:spPr>
        <p:txBody>
          <a:bodyPr/>
          <a:lstStyle>
            <a:lvl1pPr>
              <a:defRPr sz="3201"/>
            </a:lvl1pPr>
            <a:lvl2pPr>
              <a:defRPr sz="2799"/>
            </a:lvl2pPr>
            <a:lvl3pPr>
              <a:defRPr sz="2400"/>
            </a:lvl3pPr>
            <a:lvl4pPr>
              <a:defRPr sz="1999"/>
            </a:lvl4pPr>
            <a:lvl5pPr>
              <a:defRPr sz="1999"/>
            </a:lvl5pPr>
            <a:lvl6pPr>
              <a:defRPr sz="1999"/>
            </a:lvl6pPr>
            <a:lvl7pPr>
              <a:defRPr sz="1999"/>
            </a:lvl7pPr>
            <a:lvl8pPr>
              <a:defRPr sz="1999"/>
            </a:lvl8pPr>
            <a:lvl9pPr>
              <a:defRPr sz="19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0072" y="1435113"/>
            <a:ext cx="3553570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40" indent="0">
              <a:buNone/>
              <a:defRPr sz="1200"/>
            </a:lvl2pPr>
            <a:lvl3pPr marL="914281" indent="0">
              <a:buNone/>
              <a:defRPr sz="1000"/>
            </a:lvl3pPr>
            <a:lvl4pPr marL="1371421" indent="0">
              <a:buNone/>
              <a:defRPr sz="900"/>
            </a:lvl4pPr>
            <a:lvl5pPr marL="1828561" indent="0">
              <a:buNone/>
              <a:defRPr sz="900"/>
            </a:lvl5pPr>
            <a:lvl6pPr marL="2285702" indent="0">
              <a:buNone/>
              <a:defRPr sz="900"/>
            </a:lvl6pPr>
            <a:lvl7pPr marL="2742842" indent="0">
              <a:buNone/>
              <a:defRPr sz="900"/>
            </a:lvl7pPr>
            <a:lvl8pPr marL="3199982" indent="0">
              <a:buNone/>
              <a:defRPr sz="900"/>
            </a:lvl8pPr>
            <a:lvl9pPr marL="3657122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2/17/2017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056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17142" y="4800606"/>
            <a:ext cx="6480810" cy="566738"/>
          </a:xfrm>
        </p:spPr>
        <p:txBody>
          <a:bodyPr anchor="b"/>
          <a:lstStyle>
            <a:lvl1pPr algn="l">
              <a:defRPr sz="199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117142" y="612775"/>
            <a:ext cx="6480810" cy="4114800"/>
          </a:xfrm>
        </p:spPr>
        <p:txBody>
          <a:bodyPr/>
          <a:lstStyle>
            <a:lvl1pPr marL="0" indent="0">
              <a:buNone/>
              <a:defRPr sz="3201"/>
            </a:lvl1pPr>
            <a:lvl2pPr marL="457140" indent="0">
              <a:buNone/>
              <a:defRPr sz="2799"/>
            </a:lvl2pPr>
            <a:lvl3pPr marL="914281" indent="0">
              <a:buNone/>
              <a:defRPr sz="2400"/>
            </a:lvl3pPr>
            <a:lvl4pPr marL="1371421" indent="0">
              <a:buNone/>
              <a:defRPr sz="1999"/>
            </a:lvl4pPr>
            <a:lvl5pPr marL="1828561" indent="0">
              <a:buNone/>
              <a:defRPr sz="1999"/>
            </a:lvl5pPr>
            <a:lvl6pPr marL="2285702" indent="0">
              <a:buNone/>
              <a:defRPr sz="1999"/>
            </a:lvl6pPr>
            <a:lvl7pPr marL="2742842" indent="0">
              <a:buNone/>
              <a:defRPr sz="1999"/>
            </a:lvl7pPr>
            <a:lvl8pPr marL="3199982" indent="0">
              <a:buNone/>
              <a:defRPr sz="1999"/>
            </a:lvl8pPr>
            <a:lvl9pPr marL="3657122" indent="0">
              <a:buNone/>
              <a:defRPr sz="1999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17142" y="5367345"/>
            <a:ext cx="648081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40" indent="0">
              <a:buNone/>
              <a:defRPr sz="1200"/>
            </a:lvl2pPr>
            <a:lvl3pPr marL="914281" indent="0">
              <a:buNone/>
              <a:defRPr sz="1000"/>
            </a:lvl3pPr>
            <a:lvl4pPr marL="1371421" indent="0">
              <a:buNone/>
              <a:defRPr sz="900"/>
            </a:lvl4pPr>
            <a:lvl5pPr marL="1828561" indent="0">
              <a:buNone/>
              <a:defRPr sz="900"/>
            </a:lvl5pPr>
            <a:lvl6pPr marL="2285702" indent="0">
              <a:buNone/>
              <a:defRPr sz="900"/>
            </a:lvl6pPr>
            <a:lvl7pPr marL="2742842" indent="0">
              <a:buNone/>
              <a:defRPr sz="900"/>
            </a:lvl7pPr>
            <a:lvl8pPr marL="3199982" indent="0">
              <a:buNone/>
              <a:defRPr sz="900"/>
            </a:lvl8pPr>
            <a:lvl9pPr marL="3657122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2/17/2017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1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2/17/2017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05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30987" y="274656"/>
            <a:ext cx="2430305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40076" y="274656"/>
            <a:ext cx="7110889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2/17/2017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642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0072" y="274644"/>
            <a:ext cx="9721217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0072" y="1600206"/>
            <a:ext cx="9721217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071" y="6356368"/>
            <a:ext cx="25203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04C65E-0501-3244-B235-0438CC858404}" type="datetimeFigureOut">
              <a:rPr lang="en-US" smtClean="0"/>
              <a:pPr/>
              <a:t>2/17/2017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90465" y="6356368"/>
            <a:ext cx="34204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40970" y="6356368"/>
            <a:ext cx="25203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9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140" rtl="0" eaLnBrk="1" latinLnBrk="0" hangingPunct="1">
        <a:spcBef>
          <a:spcPct val="0"/>
        </a:spcBef>
        <a:buNone/>
        <a:defRPr sz="439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55" indent="-342855" algn="l" defTabSz="457140" rtl="0" eaLnBrk="1" latinLnBrk="0" hangingPunct="1">
        <a:spcBef>
          <a:spcPct val="20000"/>
        </a:spcBef>
        <a:buFont typeface="Arial"/>
        <a:buChar char="•"/>
        <a:defRPr sz="3201" kern="1200">
          <a:solidFill>
            <a:schemeClr val="tx1"/>
          </a:solidFill>
          <a:latin typeface="+mn-lt"/>
          <a:ea typeface="+mn-ea"/>
          <a:cs typeface="+mn-cs"/>
        </a:defRPr>
      </a:lvl1pPr>
      <a:lvl2pPr marL="742853" indent="-285712" algn="l" defTabSz="457140" rtl="0" eaLnBrk="1" latinLnBrk="0" hangingPunct="1">
        <a:spcBef>
          <a:spcPct val="20000"/>
        </a:spcBef>
        <a:buFont typeface="Arial"/>
        <a:buChar char="–"/>
        <a:defRPr sz="27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850" indent="-228571" algn="l" defTabSz="45714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991" indent="-228571" algn="l" defTabSz="457140" rtl="0" eaLnBrk="1" latinLnBrk="0" hangingPunct="1">
        <a:spcBef>
          <a:spcPct val="20000"/>
        </a:spcBef>
        <a:buFont typeface="Arial"/>
        <a:buChar char="–"/>
        <a:defRPr sz="1999" kern="1200">
          <a:solidFill>
            <a:schemeClr val="tx1"/>
          </a:solidFill>
          <a:latin typeface="+mn-lt"/>
          <a:ea typeface="+mn-ea"/>
          <a:cs typeface="+mn-cs"/>
        </a:defRPr>
      </a:lvl4pPr>
      <a:lvl5pPr marL="2057131" indent="-228571" algn="l" defTabSz="457140" rtl="0" eaLnBrk="1" latinLnBrk="0" hangingPunct="1">
        <a:spcBef>
          <a:spcPct val="20000"/>
        </a:spcBef>
        <a:buFont typeface="Arial"/>
        <a:buChar char="»"/>
        <a:defRPr sz="1999" kern="1200">
          <a:solidFill>
            <a:schemeClr val="tx1"/>
          </a:solidFill>
          <a:latin typeface="+mn-lt"/>
          <a:ea typeface="+mn-ea"/>
          <a:cs typeface="+mn-cs"/>
        </a:defRPr>
      </a:lvl5pPr>
      <a:lvl6pPr marL="2514272" indent="-228571" algn="l" defTabSz="457140" rtl="0" eaLnBrk="1" latinLnBrk="0" hangingPunct="1">
        <a:spcBef>
          <a:spcPct val="20000"/>
        </a:spcBef>
        <a:buFont typeface="Arial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6pPr>
      <a:lvl7pPr marL="2971413" indent="-228571" algn="l" defTabSz="457140" rtl="0" eaLnBrk="1" latinLnBrk="0" hangingPunct="1">
        <a:spcBef>
          <a:spcPct val="20000"/>
        </a:spcBef>
        <a:buFont typeface="Arial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7pPr>
      <a:lvl8pPr marL="3428552" indent="-228571" algn="l" defTabSz="457140" rtl="0" eaLnBrk="1" latinLnBrk="0" hangingPunct="1">
        <a:spcBef>
          <a:spcPct val="20000"/>
        </a:spcBef>
        <a:buFont typeface="Arial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8pPr>
      <a:lvl9pPr marL="3885693" indent="-228571" algn="l" defTabSz="457140" rtl="0" eaLnBrk="1" latinLnBrk="0" hangingPunct="1">
        <a:spcBef>
          <a:spcPct val="20000"/>
        </a:spcBef>
        <a:buFont typeface="Arial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4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40" algn="l" defTabSz="45714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81" algn="l" defTabSz="45714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21" algn="l" defTabSz="45714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61" algn="l" defTabSz="45714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02" algn="l" defTabSz="45714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42" algn="l" defTabSz="45714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982" algn="l" defTabSz="45714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122" algn="l" defTabSz="45714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/>
          <p:nvPr/>
        </p:nvSpPr>
        <p:spPr>
          <a:xfrm>
            <a:off x="-1481" y="4"/>
            <a:ext cx="6806469" cy="6857999"/>
          </a:xfrm>
          <a:custGeom>
            <a:avLst/>
            <a:gdLst/>
            <a:ahLst/>
            <a:cxnLst/>
            <a:rect l="l" t="t" r="r" b="b"/>
            <a:pathLst>
              <a:path w="5762090" h="6857999">
                <a:moveTo>
                  <a:pt x="0" y="0"/>
                </a:moveTo>
                <a:lnTo>
                  <a:pt x="1920697" y="0"/>
                </a:lnTo>
                <a:lnTo>
                  <a:pt x="3279881" y="0"/>
                </a:lnTo>
                <a:lnTo>
                  <a:pt x="5200578" y="0"/>
                </a:lnTo>
                <a:lnTo>
                  <a:pt x="5255041" y="148787"/>
                </a:lnTo>
                <a:cubicBezTo>
                  <a:pt x="5571805" y="1057108"/>
                  <a:pt x="5762090" y="2221597"/>
                  <a:pt x="5762090" y="3491260"/>
                </a:cubicBezTo>
                <a:cubicBezTo>
                  <a:pt x="5762090" y="4760923"/>
                  <a:pt x="5571805" y="5925412"/>
                  <a:pt x="5255041" y="6833733"/>
                </a:cubicBezTo>
                <a:lnTo>
                  <a:pt x="5246158" y="6857999"/>
                </a:lnTo>
                <a:lnTo>
                  <a:pt x="3325461" y="6857999"/>
                </a:lnTo>
                <a:lnTo>
                  <a:pt x="1920697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FF8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2237" y="3276365"/>
            <a:ext cx="2355498" cy="78751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0" y="3012757"/>
            <a:ext cx="6804982" cy="15699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4001" b="1" dirty="0" smtClean="0">
                <a:solidFill>
                  <a:schemeClr val="bg1"/>
                </a:solidFill>
                <a:latin typeface="+mj-lt"/>
                <a:cs typeface="Gotham Rounded Book"/>
              </a:rPr>
              <a:t>Projeto Infraestrutura de Aplicações Ágeis</a:t>
            </a:r>
            <a:endParaRPr lang="en-US" sz="1999" b="1" dirty="0">
              <a:solidFill>
                <a:schemeClr val="bg1"/>
              </a:solidFill>
              <a:latin typeface="+mj-lt"/>
              <a:cs typeface="Gotham Rounded Book"/>
            </a:endParaRPr>
          </a:p>
          <a:p>
            <a:pPr algn="r"/>
            <a:r>
              <a:rPr lang="pt-BR" sz="1600" dirty="0" smtClean="0">
                <a:solidFill>
                  <a:schemeClr val="bg1"/>
                </a:solidFill>
                <a:latin typeface="Gotham Rounded Book"/>
                <a:cs typeface="Gotham Rounded Book"/>
              </a:rPr>
              <a:t>Fevereiro</a:t>
            </a:r>
            <a:r>
              <a:rPr lang="en-US" sz="1600" dirty="0" smtClean="0">
                <a:solidFill>
                  <a:schemeClr val="bg1"/>
                </a:solidFill>
                <a:latin typeface="Gotham Rounded Book"/>
                <a:cs typeface="Gotham Rounded Book"/>
              </a:rPr>
              <a:t>/2017</a:t>
            </a:r>
            <a:endParaRPr lang="en-US" sz="1600" dirty="0">
              <a:solidFill>
                <a:schemeClr val="bg1"/>
              </a:solidFill>
              <a:latin typeface="Gotham Rounded Book"/>
              <a:cs typeface="Gotham Rounded Book"/>
            </a:endParaRPr>
          </a:p>
        </p:txBody>
      </p:sp>
    </p:spTree>
    <p:extLst>
      <p:ext uri="{BB962C8B-B14F-4D97-AF65-F5344CB8AC3E}">
        <p14:creationId xmlns:p14="http://schemas.microsoft.com/office/powerpoint/2010/main" val="3375359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0065" y="1112526"/>
            <a:ext cx="9721217" cy="5125714"/>
          </a:xfrm>
        </p:spPr>
        <p:txBody>
          <a:bodyPr>
            <a:noAutofit/>
          </a:bodyPr>
          <a:lstStyle/>
          <a:p>
            <a:pPr>
              <a:buFont typeface="Wingdings" charset="2"/>
              <a:buChar char="§"/>
            </a:pPr>
            <a:r>
              <a:rPr lang="pt-BR" sz="2000" dirty="0" smtClean="0"/>
              <a:t>Público alvo</a:t>
            </a:r>
          </a:p>
          <a:p>
            <a:pPr>
              <a:buFont typeface="Wingdings" charset="2"/>
              <a:buChar char="§"/>
            </a:pPr>
            <a:r>
              <a:rPr lang="pt-BR" sz="2000" dirty="0"/>
              <a:t>Propósito dos papéis</a:t>
            </a:r>
          </a:p>
          <a:p>
            <a:pPr>
              <a:buFont typeface="Wingdings" charset="2"/>
              <a:buChar char="§"/>
            </a:pPr>
            <a:r>
              <a:rPr lang="pt-BR" sz="2000" dirty="0" smtClean="0"/>
              <a:t>Objetivo</a:t>
            </a:r>
          </a:p>
          <a:p>
            <a:pPr>
              <a:buFont typeface="Wingdings" charset="2"/>
              <a:buChar char="§"/>
            </a:pPr>
            <a:r>
              <a:rPr lang="pt-BR" sz="2000" dirty="0" smtClean="0"/>
              <a:t>Pipeline Devops</a:t>
            </a:r>
            <a:endParaRPr lang="pt-BR" sz="2000" dirty="0"/>
          </a:p>
          <a:p>
            <a:pPr>
              <a:buFont typeface="Wingdings" charset="2"/>
              <a:buChar char="§"/>
            </a:pPr>
            <a:r>
              <a:rPr lang="pt-BR" sz="2000" dirty="0"/>
              <a:t>Ferramentas e objetivos</a:t>
            </a:r>
          </a:p>
          <a:p>
            <a:pPr>
              <a:buFont typeface="Wingdings" charset="2"/>
              <a:buChar char="§"/>
            </a:pPr>
            <a:r>
              <a:rPr lang="pt-BR" sz="2000" dirty="0" smtClean="0"/>
              <a:t>Processos</a:t>
            </a:r>
          </a:p>
          <a:p>
            <a:pPr lvl="1">
              <a:buFont typeface="Wingdings" charset="2"/>
              <a:buChar char="§"/>
            </a:pPr>
            <a:r>
              <a:rPr lang="pt-BR" sz="1800" dirty="0" smtClean="0"/>
              <a:t>Fluxos</a:t>
            </a:r>
          </a:p>
          <a:p>
            <a:pPr>
              <a:buFont typeface="Wingdings" charset="2"/>
              <a:buChar char="§"/>
            </a:pPr>
            <a:r>
              <a:rPr lang="pt-BR" sz="2000" dirty="0" err="1" smtClean="0"/>
              <a:t>Git</a:t>
            </a:r>
            <a:r>
              <a:rPr lang="pt-BR" sz="2000" dirty="0" smtClean="0"/>
              <a:t> Hub</a:t>
            </a:r>
          </a:p>
          <a:p>
            <a:pPr lvl="1">
              <a:buFont typeface="Wingdings" charset="2"/>
              <a:buChar char="§"/>
            </a:pPr>
            <a:r>
              <a:rPr lang="pt-BR" sz="1800" dirty="0" smtClean="0"/>
              <a:t>Release</a:t>
            </a:r>
          </a:p>
          <a:p>
            <a:pPr lvl="1">
              <a:buFont typeface="Wingdings" charset="2"/>
              <a:buChar char="§"/>
            </a:pPr>
            <a:r>
              <a:rPr lang="pt-BR" sz="1800" dirty="0" smtClean="0"/>
              <a:t>Hot </a:t>
            </a:r>
            <a:r>
              <a:rPr lang="pt-BR" sz="1800" dirty="0" err="1" smtClean="0"/>
              <a:t>fix</a:t>
            </a:r>
            <a:endParaRPr lang="pt-BR" sz="1800" dirty="0" smtClean="0"/>
          </a:p>
          <a:p>
            <a:pPr lvl="1">
              <a:buFont typeface="Wingdings" charset="2"/>
              <a:buChar char="§"/>
            </a:pPr>
            <a:r>
              <a:rPr lang="pt-BR" sz="1800" dirty="0" smtClean="0"/>
              <a:t>Estrutura física</a:t>
            </a:r>
            <a:endParaRPr lang="pt-BR" sz="2000" dirty="0" smtClean="0"/>
          </a:p>
          <a:p>
            <a:pPr>
              <a:buFont typeface="Wingdings" charset="2"/>
              <a:buChar char="§"/>
            </a:pPr>
            <a:endParaRPr lang="pt-BR" sz="2000" dirty="0"/>
          </a:p>
        </p:txBody>
      </p:sp>
      <p:grpSp>
        <p:nvGrpSpPr>
          <p:cNvPr id="4" name="Grupo 1"/>
          <p:cNvGrpSpPr/>
          <p:nvPr/>
        </p:nvGrpSpPr>
        <p:grpSpPr>
          <a:xfrm>
            <a:off x="2" y="-3"/>
            <a:ext cx="10801348" cy="750629"/>
            <a:chOff x="2" y="-3"/>
            <a:chExt cx="9143998" cy="750629"/>
          </a:xfrm>
        </p:grpSpPr>
        <p:sp>
          <p:nvSpPr>
            <p:cNvPr id="5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391654" y="181114"/>
              <a:ext cx="843390" cy="334448"/>
            </a:xfrm>
            <a:prstGeom prst="rect">
              <a:avLst/>
            </a:prstGeom>
          </p:spPr>
        </p:pic>
      </p:grpSp>
      <p:sp>
        <p:nvSpPr>
          <p:cNvPr id="8" name="TextBox 7"/>
          <p:cNvSpPr txBox="1"/>
          <p:nvPr/>
        </p:nvSpPr>
        <p:spPr>
          <a:xfrm>
            <a:off x="180000" y="93600"/>
            <a:ext cx="5830428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pt-BR" sz="2000" b="1" dirty="0" smtClean="0">
                <a:solidFill>
                  <a:schemeClr val="bg1"/>
                </a:solidFill>
                <a:latin typeface="+mj-lt"/>
                <a:cs typeface="Gotham Rounded Book"/>
              </a:rPr>
              <a:t>Índice</a:t>
            </a:r>
            <a:endParaRPr lang="pt-BR" sz="2000" b="1" dirty="0">
              <a:solidFill>
                <a:schemeClr val="bg1"/>
              </a:solidFill>
              <a:latin typeface="+mj-lt"/>
              <a:cs typeface="Gotham Rounded Book"/>
            </a:endParaRPr>
          </a:p>
        </p:txBody>
      </p:sp>
      <p:sp>
        <p:nvSpPr>
          <p:cNvPr id="9" name="Double Bracket 8"/>
          <p:cNvSpPr/>
          <p:nvPr/>
        </p:nvSpPr>
        <p:spPr>
          <a:xfrm>
            <a:off x="7945016" y="6344920"/>
            <a:ext cx="2316266" cy="294640"/>
          </a:xfrm>
          <a:prstGeom prst="bracketPair">
            <a:avLst/>
          </a:prstGeom>
          <a:solidFill>
            <a:srgbClr val="FFFF00"/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APRESENTADO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887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o 1"/>
          <p:cNvGrpSpPr/>
          <p:nvPr/>
        </p:nvGrpSpPr>
        <p:grpSpPr>
          <a:xfrm>
            <a:off x="2" y="-3"/>
            <a:ext cx="10801348" cy="750629"/>
            <a:chOff x="2" y="-3"/>
            <a:chExt cx="9143998" cy="750629"/>
          </a:xfrm>
        </p:grpSpPr>
        <p:sp>
          <p:nvSpPr>
            <p:cNvPr id="5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391654" y="181114"/>
              <a:ext cx="843390" cy="334448"/>
            </a:xfrm>
            <a:prstGeom prst="rect">
              <a:avLst/>
            </a:prstGeom>
          </p:spPr>
        </p:pic>
      </p:grpSp>
      <p:sp>
        <p:nvSpPr>
          <p:cNvPr id="8" name="TextBox 7"/>
          <p:cNvSpPr txBox="1"/>
          <p:nvPr/>
        </p:nvSpPr>
        <p:spPr>
          <a:xfrm>
            <a:off x="180000" y="92680"/>
            <a:ext cx="58304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 smtClean="0">
                <a:solidFill>
                  <a:schemeClr val="bg1"/>
                </a:solidFill>
                <a:latin typeface="+mj-lt"/>
                <a:cs typeface="Gotham Rounded Book"/>
              </a:rPr>
              <a:t>Público alvo</a:t>
            </a:r>
            <a:endParaRPr lang="pt-BR" sz="2000" b="1" dirty="0">
              <a:solidFill>
                <a:schemeClr val="bg1"/>
              </a:solidFill>
              <a:latin typeface="+mj-lt"/>
              <a:cs typeface="Gotham Rounded Book"/>
            </a:endParaRPr>
          </a:p>
        </p:txBody>
      </p:sp>
      <p:sp>
        <p:nvSpPr>
          <p:cNvPr id="9" name="Double Bracket 8"/>
          <p:cNvSpPr/>
          <p:nvPr/>
        </p:nvSpPr>
        <p:spPr>
          <a:xfrm>
            <a:off x="7945016" y="6344920"/>
            <a:ext cx="2316266" cy="294640"/>
          </a:xfrm>
          <a:prstGeom prst="bracketPair">
            <a:avLst/>
          </a:prstGeom>
          <a:solidFill>
            <a:srgbClr val="FFFF00"/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VALIDAR</a:t>
            </a:r>
            <a:endParaRPr lang="en-US" dirty="0"/>
          </a:p>
        </p:txBody>
      </p:sp>
      <p:sp>
        <p:nvSpPr>
          <p:cNvPr id="10" name="CaixaDeTexto 12"/>
          <p:cNvSpPr txBox="1"/>
          <p:nvPr/>
        </p:nvSpPr>
        <p:spPr>
          <a:xfrm>
            <a:off x="576614" y="1676566"/>
            <a:ext cx="2575121" cy="5232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sz="1400" b="1" dirty="0" smtClean="0">
                <a:solidFill>
                  <a:srgbClr val="984807"/>
                </a:solidFill>
                <a:latin typeface="CA Milo Pro-Light" pitchFamily="34" charset="0"/>
              </a:rPr>
              <a:t>ARQUITETURA ENTERPRISE</a:t>
            </a:r>
          </a:p>
        </p:txBody>
      </p:sp>
      <p:sp>
        <p:nvSpPr>
          <p:cNvPr id="12" name="CaixaDeTexto 24"/>
          <p:cNvSpPr txBox="1"/>
          <p:nvPr/>
        </p:nvSpPr>
        <p:spPr>
          <a:xfrm>
            <a:off x="3966040" y="1679620"/>
            <a:ext cx="2575121" cy="5232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rgbClr val="984807"/>
                </a:solidFill>
                <a:latin typeface="CA Milo Pro-Light" pitchFamily="34" charset="0"/>
              </a:rPr>
              <a:t>ARQUITETURA </a:t>
            </a:r>
            <a:r>
              <a:rPr lang="pt-BR" sz="1400" b="1" dirty="0" smtClean="0">
                <a:solidFill>
                  <a:srgbClr val="984807"/>
                </a:solidFill>
                <a:latin typeface="CA Milo Pro-Light" pitchFamily="34" charset="0"/>
              </a:rPr>
              <a:t>DE PROJETO</a:t>
            </a:r>
            <a:endParaRPr lang="pt-BR" sz="1400" b="1" dirty="0">
              <a:solidFill>
                <a:srgbClr val="984807"/>
              </a:solidFill>
              <a:latin typeface="CA Milo Pro-Light" pitchFamily="34" charset="0"/>
            </a:endParaRPr>
          </a:p>
        </p:txBody>
      </p:sp>
      <p:sp>
        <p:nvSpPr>
          <p:cNvPr id="14" name="CaixaDeTexto 28"/>
          <p:cNvSpPr txBox="1"/>
          <p:nvPr/>
        </p:nvSpPr>
        <p:spPr>
          <a:xfrm>
            <a:off x="7400768" y="1679620"/>
            <a:ext cx="2575121" cy="5232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sz="1400" b="1" dirty="0" smtClean="0">
                <a:solidFill>
                  <a:schemeClr val="accent6">
                    <a:lumMod val="50000"/>
                  </a:schemeClr>
                </a:solidFill>
                <a:latin typeface="CA Milo Pro-Light" pitchFamily="34" charset="0"/>
              </a:rPr>
              <a:t>RELEASE </a:t>
            </a:r>
          </a:p>
          <a:p>
            <a:pPr algn="ctr"/>
            <a:r>
              <a:rPr lang="pt-BR" sz="1400" b="1" dirty="0" smtClean="0">
                <a:solidFill>
                  <a:schemeClr val="accent6">
                    <a:lumMod val="50000"/>
                  </a:schemeClr>
                </a:solidFill>
                <a:latin typeface="CA Milo Pro-Light" pitchFamily="34" charset="0"/>
              </a:rPr>
              <a:t>MANAGER</a:t>
            </a:r>
          </a:p>
        </p:txBody>
      </p:sp>
      <p:sp>
        <p:nvSpPr>
          <p:cNvPr id="16" name="CaixaDeTexto 12"/>
          <p:cNvSpPr txBox="1"/>
          <p:nvPr/>
        </p:nvSpPr>
        <p:spPr>
          <a:xfrm>
            <a:off x="1864174" y="3466718"/>
            <a:ext cx="2575121" cy="59728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pt-BR" sz="1400" b="1" dirty="0" smtClean="0">
                <a:solidFill>
                  <a:srgbClr val="984807"/>
                </a:solidFill>
                <a:latin typeface="CA Milo Pro-Light" pitchFamily="34" charset="0"/>
              </a:rPr>
              <a:t>LÍDER TÉCNICO</a:t>
            </a:r>
          </a:p>
        </p:txBody>
      </p:sp>
      <p:sp>
        <p:nvSpPr>
          <p:cNvPr id="18" name="CaixaDeTexto 24"/>
          <p:cNvSpPr txBox="1"/>
          <p:nvPr/>
        </p:nvSpPr>
        <p:spPr>
          <a:xfrm>
            <a:off x="5369895" y="3460874"/>
            <a:ext cx="2575121" cy="59728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pt-BR" sz="1400" b="1" dirty="0" smtClean="0">
                <a:solidFill>
                  <a:srgbClr val="984807"/>
                </a:solidFill>
                <a:latin typeface="CA Milo Pro-Light" pitchFamily="34" charset="0"/>
              </a:rPr>
              <a:t>DEV</a:t>
            </a:r>
            <a:endParaRPr lang="pt-BR" sz="1600" b="1" dirty="0" smtClean="0">
              <a:solidFill>
                <a:srgbClr val="984807"/>
              </a:solidFill>
              <a:latin typeface="CA Milo Pro-Ligh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4441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upo 1"/>
          <p:cNvGrpSpPr/>
          <p:nvPr/>
        </p:nvGrpSpPr>
        <p:grpSpPr>
          <a:xfrm>
            <a:off x="2" y="-3"/>
            <a:ext cx="10801348" cy="750629"/>
            <a:chOff x="2" y="-3"/>
            <a:chExt cx="9143998" cy="750629"/>
          </a:xfrm>
        </p:grpSpPr>
        <p:sp>
          <p:nvSpPr>
            <p:cNvPr id="20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1" name="Picture 2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391654" y="181114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180000" y="93600"/>
            <a:ext cx="41354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 smtClean="0">
                <a:solidFill>
                  <a:schemeClr val="bg1"/>
                </a:solidFill>
                <a:latin typeface="+mj-lt"/>
                <a:cs typeface="Gotham Rounded Book"/>
              </a:rPr>
              <a:t>Propósito dos papéis</a:t>
            </a:r>
            <a:endParaRPr lang="pt-BR" sz="2000" b="1" dirty="0">
              <a:solidFill>
                <a:schemeClr val="bg1"/>
              </a:solidFill>
              <a:latin typeface="+mj-lt"/>
              <a:cs typeface="Gotham Rounded Book"/>
            </a:endParaRPr>
          </a:p>
        </p:txBody>
      </p:sp>
      <p:sp>
        <p:nvSpPr>
          <p:cNvPr id="48" name="Canto dobrado 2"/>
          <p:cNvSpPr/>
          <p:nvPr/>
        </p:nvSpPr>
        <p:spPr>
          <a:xfrm>
            <a:off x="461011" y="1161687"/>
            <a:ext cx="2813360" cy="2302874"/>
          </a:xfrm>
          <a:prstGeom prst="foldedCorner">
            <a:avLst/>
          </a:prstGeom>
          <a:gradFill>
            <a:gsLst>
              <a:gs pos="0">
                <a:srgbClr val="FFA553"/>
              </a:gs>
              <a:gs pos="100000">
                <a:srgbClr val="FFBF85"/>
              </a:gs>
            </a:gsLst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pPr marL="285750" lvl="0" indent="-285750">
              <a:buClr>
                <a:srgbClr val="000000"/>
              </a:buClr>
              <a:buFont typeface="Wingdings" panose="05000000000000000000" pitchFamily="2" charset="2"/>
              <a:buChar char="ü"/>
            </a:pPr>
            <a:endParaRPr lang="pt-BR" sz="1200" dirty="0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lvl="0" indent="-285750">
              <a:buClr>
                <a:srgbClr val="000000"/>
              </a:buClr>
              <a:buFont typeface="Wingdings" panose="05000000000000000000" pitchFamily="2" charset="2"/>
              <a:buChar char="ü"/>
            </a:pPr>
            <a:endParaRPr lang="pt-BR" sz="12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lvl="0" indent="-285750">
              <a:buClr>
                <a:srgbClr val="000000"/>
              </a:buClr>
              <a:buFont typeface="Wingdings" panose="05000000000000000000" pitchFamily="2" charset="2"/>
              <a:buChar char="ü"/>
            </a:pPr>
            <a:endParaRPr lang="pt-BR" sz="1200" dirty="0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lvl="0" indent="-285750">
              <a:buClr>
                <a:srgbClr val="000000"/>
              </a:buClr>
              <a:buFont typeface="Wingdings" panose="05000000000000000000" pitchFamily="2" charset="2"/>
              <a:buChar char="ü"/>
            </a:pPr>
            <a:endParaRPr lang="pt-BR" sz="12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lvl="0" indent="-285750">
              <a:buClr>
                <a:srgbClr val="000000"/>
              </a:buClr>
              <a:buFont typeface="Wingdings" panose="05000000000000000000" pitchFamily="2" charset="2"/>
              <a:buChar char="ü"/>
            </a:pPr>
            <a:endParaRPr lang="pt-BR" sz="1200" dirty="0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lvl="0" indent="-285750">
              <a:buClr>
                <a:srgbClr val="000000"/>
              </a:buClr>
              <a:buFont typeface="Wingdings" panose="05000000000000000000" pitchFamily="2" charset="2"/>
              <a:buChar char="ü"/>
            </a:pPr>
            <a:endParaRPr lang="pt-BR" sz="12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lvl="0" indent="-285750">
              <a:buClr>
                <a:srgbClr val="000000"/>
              </a:buClr>
              <a:buFont typeface="Wingdings" panose="05000000000000000000" pitchFamily="2" charset="2"/>
              <a:buChar char="ü"/>
            </a:pPr>
            <a:endParaRPr lang="pt-BR" sz="1200" dirty="0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lvl="0" indent="-285750">
              <a:buClr>
                <a:srgbClr val="000000"/>
              </a:buClr>
              <a:buFont typeface="Wingdings" panose="05000000000000000000" pitchFamily="2" charset="2"/>
              <a:buChar char="ü"/>
            </a:pPr>
            <a:r>
              <a:rPr lang="pt-BR" sz="120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Análise, definição e acompanhamento da arquitetura na visão corporativa</a:t>
            </a:r>
          </a:p>
        </p:txBody>
      </p:sp>
      <p:sp>
        <p:nvSpPr>
          <p:cNvPr id="50" name="CaixaDeTexto 12"/>
          <p:cNvSpPr txBox="1"/>
          <p:nvPr/>
        </p:nvSpPr>
        <p:spPr>
          <a:xfrm>
            <a:off x="576614" y="1676566"/>
            <a:ext cx="2575121" cy="5232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sz="1400" b="1" dirty="0" smtClean="0">
                <a:solidFill>
                  <a:srgbClr val="984807"/>
                </a:solidFill>
                <a:latin typeface="CA Milo Pro-Light" pitchFamily="34" charset="0"/>
              </a:rPr>
              <a:t>ARQUITETURA ENTERPRISE</a:t>
            </a:r>
          </a:p>
        </p:txBody>
      </p:sp>
      <p:sp>
        <p:nvSpPr>
          <p:cNvPr id="54" name="Canto dobrado 35"/>
          <p:cNvSpPr/>
          <p:nvPr/>
        </p:nvSpPr>
        <p:spPr>
          <a:xfrm>
            <a:off x="3844096" y="1161686"/>
            <a:ext cx="2813360" cy="2302875"/>
          </a:xfrm>
          <a:prstGeom prst="foldedCorner">
            <a:avLst/>
          </a:prstGeom>
          <a:gradFill>
            <a:gsLst>
              <a:gs pos="0">
                <a:srgbClr val="FFA553"/>
              </a:gs>
              <a:gs pos="100000">
                <a:srgbClr val="FFBF85"/>
              </a:gs>
            </a:gsLst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pPr marL="285750" lvl="0" indent="-285750">
              <a:buClr>
                <a:srgbClr val="000000"/>
              </a:buClr>
              <a:buFont typeface="Wingdings" panose="05000000000000000000" pitchFamily="2" charset="2"/>
              <a:buChar char="ü"/>
            </a:pPr>
            <a:endParaRPr lang="pt-BR" sz="1200" dirty="0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lvl="0" indent="-285750">
              <a:buClr>
                <a:srgbClr val="000000"/>
              </a:buClr>
              <a:buFont typeface="Wingdings" panose="05000000000000000000" pitchFamily="2" charset="2"/>
              <a:buChar char="ü"/>
            </a:pPr>
            <a:endParaRPr lang="pt-BR" sz="12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lvl="0" indent="-285750">
              <a:buClr>
                <a:srgbClr val="000000"/>
              </a:buClr>
              <a:buFont typeface="Wingdings" panose="05000000000000000000" pitchFamily="2" charset="2"/>
              <a:buChar char="ü"/>
            </a:pPr>
            <a:endParaRPr lang="pt-BR" sz="1200" dirty="0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lvl="0" indent="-285750">
              <a:buClr>
                <a:srgbClr val="000000"/>
              </a:buClr>
              <a:buFont typeface="Wingdings" panose="05000000000000000000" pitchFamily="2" charset="2"/>
              <a:buChar char="ü"/>
            </a:pPr>
            <a:endParaRPr lang="pt-BR" sz="12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lvl="0" indent="-285750">
              <a:buClr>
                <a:srgbClr val="000000"/>
              </a:buClr>
              <a:buFont typeface="Wingdings" panose="05000000000000000000" pitchFamily="2" charset="2"/>
              <a:buChar char="ü"/>
            </a:pPr>
            <a:endParaRPr lang="pt-BR" sz="1200" dirty="0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lvl="0" indent="-285750">
              <a:buClr>
                <a:srgbClr val="000000"/>
              </a:buClr>
              <a:buFont typeface="Wingdings" panose="05000000000000000000" pitchFamily="2" charset="2"/>
              <a:buChar char="ü"/>
            </a:pPr>
            <a:endParaRPr lang="pt-BR" sz="12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lvl="0" indent="-285750">
              <a:buClr>
                <a:srgbClr val="000000"/>
              </a:buClr>
              <a:buFont typeface="Wingdings" panose="05000000000000000000" pitchFamily="2" charset="2"/>
              <a:buChar char="ü"/>
            </a:pPr>
            <a:endParaRPr lang="pt-BR" sz="1200" dirty="0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lvl="0" indent="-285750">
              <a:buClr>
                <a:srgbClr val="000000"/>
              </a:buClr>
              <a:buFont typeface="Wingdings" panose="05000000000000000000" pitchFamily="2" charset="2"/>
              <a:buChar char="ü"/>
            </a:pPr>
            <a:r>
              <a:rPr lang="pt-BR" sz="120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Aplicar a definição de arquitetura dentro do contexto do projeto</a:t>
            </a:r>
          </a:p>
          <a:p>
            <a:pPr marL="285750" lvl="0" indent="-285750">
              <a:buClr>
                <a:srgbClr val="000000"/>
              </a:buClr>
              <a:buFont typeface="Wingdings" panose="05000000000000000000" pitchFamily="2" charset="2"/>
              <a:buChar char="ü"/>
            </a:pPr>
            <a:endParaRPr lang="pt-BR" sz="1200" dirty="0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lvl="0" indent="-285750">
              <a:buClr>
                <a:srgbClr val="000000"/>
              </a:buClr>
              <a:buFont typeface="Wingdings" panose="05000000000000000000" pitchFamily="2" charset="2"/>
              <a:buChar char="ü"/>
            </a:pPr>
            <a:endParaRPr lang="pt-BR" sz="12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CaixaDeTexto 24"/>
          <p:cNvSpPr txBox="1"/>
          <p:nvPr/>
        </p:nvSpPr>
        <p:spPr>
          <a:xfrm>
            <a:off x="3966040" y="1679620"/>
            <a:ext cx="2575121" cy="5232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rgbClr val="984807"/>
                </a:solidFill>
                <a:latin typeface="CA Milo Pro-Light" pitchFamily="34" charset="0"/>
              </a:rPr>
              <a:t>ARQUITETURA </a:t>
            </a:r>
            <a:r>
              <a:rPr lang="pt-BR" sz="1400" b="1" dirty="0" smtClean="0">
                <a:solidFill>
                  <a:srgbClr val="984807"/>
                </a:solidFill>
                <a:latin typeface="CA Milo Pro-Light" pitchFamily="34" charset="0"/>
              </a:rPr>
              <a:t>DE PROJETO</a:t>
            </a:r>
            <a:endParaRPr lang="pt-BR" sz="1400" b="1" dirty="0">
              <a:solidFill>
                <a:srgbClr val="984807"/>
              </a:solidFill>
              <a:latin typeface="CA Milo Pro-Light" pitchFamily="34" charset="0"/>
            </a:endParaRPr>
          </a:p>
        </p:txBody>
      </p:sp>
      <p:sp>
        <p:nvSpPr>
          <p:cNvPr id="61" name="Canto dobrado 36"/>
          <p:cNvSpPr/>
          <p:nvPr/>
        </p:nvSpPr>
        <p:spPr>
          <a:xfrm>
            <a:off x="7252396" y="1161686"/>
            <a:ext cx="2813360" cy="2302875"/>
          </a:xfrm>
          <a:prstGeom prst="foldedCorner">
            <a:avLst/>
          </a:prstGeom>
          <a:gradFill>
            <a:gsLst>
              <a:gs pos="0">
                <a:srgbClr val="FFA553"/>
              </a:gs>
              <a:gs pos="100000">
                <a:srgbClr val="FFBF85"/>
              </a:gs>
            </a:gsLst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pPr marL="285750" lvl="0" indent="-285750">
              <a:buClr>
                <a:srgbClr val="000000"/>
              </a:buClr>
              <a:buFont typeface="Wingdings" panose="05000000000000000000" pitchFamily="2" charset="2"/>
              <a:buChar char="ü"/>
            </a:pPr>
            <a:endParaRPr lang="pt-BR" sz="1200" dirty="0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lvl="0" indent="-285750">
              <a:buClr>
                <a:srgbClr val="000000"/>
              </a:buClr>
              <a:buFont typeface="Wingdings" panose="05000000000000000000" pitchFamily="2" charset="2"/>
              <a:buChar char="ü"/>
            </a:pPr>
            <a:endParaRPr lang="pt-BR" sz="12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lvl="0" indent="-285750">
              <a:buClr>
                <a:srgbClr val="000000"/>
              </a:buClr>
              <a:buFont typeface="Wingdings" panose="05000000000000000000" pitchFamily="2" charset="2"/>
              <a:buChar char="ü"/>
            </a:pPr>
            <a:endParaRPr lang="pt-BR" sz="1200" dirty="0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lvl="0" indent="-285750">
              <a:buClr>
                <a:srgbClr val="000000"/>
              </a:buClr>
              <a:buFont typeface="Wingdings" panose="05000000000000000000" pitchFamily="2" charset="2"/>
              <a:buChar char="ü"/>
            </a:pPr>
            <a:endParaRPr lang="pt-BR" sz="12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lvl="0" indent="-285750">
              <a:buClr>
                <a:srgbClr val="000000"/>
              </a:buClr>
              <a:buFont typeface="Wingdings" panose="05000000000000000000" pitchFamily="2" charset="2"/>
              <a:buChar char="ü"/>
            </a:pPr>
            <a:endParaRPr lang="pt-BR" sz="1200" dirty="0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lvl="0" indent="-285750">
              <a:buClr>
                <a:srgbClr val="000000"/>
              </a:buClr>
              <a:buFont typeface="Wingdings" panose="05000000000000000000" pitchFamily="2" charset="2"/>
              <a:buChar char="ü"/>
            </a:pPr>
            <a:endParaRPr lang="pt-BR" sz="12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lvl="0" indent="-285750">
              <a:buClr>
                <a:srgbClr val="000000"/>
              </a:buClr>
              <a:buFont typeface="Wingdings" panose="05000000000000000000" pitchFamily="2" charset="2"/>
              <a:buChar char="ü"/>
            </a:pPr>
            <a:endParaRPr lang="pt-BR" sz="1200" dirty="0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lvl="0" indent="-285750">
              <a:buClr>
                <a:srgbClr val="000000"/>
              </a:buClr>
              <a:buFont typeface="Wingdings" panose="05000000000000000000" pitchFamily="2" charset="2"/>
              <a:buChar char="ü"/>
            </a:pPr>
            <a:r>
              <a:rPr lang="pt-BR" sz="120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Gestão da release referente à sua criação, conteúdo, análise de impacto e entrada em produção referente a todos os projetos</a:t>
            </a:r>
            <a:endParaRPr lang="pt-BR" sz="12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CaixaDeTexto 28"/>
          <p:cNvSpPr txBox="1"/>
          <p:nvPr/>
        </p:nvSpPr>
        <p:spPr>
          <a:xfrm>
            <a:off x="7400768" y="1679620"/>
            <a:ext cx="2575121" cy="5232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sz="1400" b="1" dirty="0" smtClean="0">
                <a:solidFill>
                  <a:schemeClr val="accent6">
                    <a:lumMod val="50000"/>
                  </a:schemeClr>
                </a:solidFill>
                <a:latin typeface="CA Milo Pro-Light" pitchFamily="34" charset="0"/>
              </a:rPr>
              <a:t>RELEASE </a:t>
            </a:r>
          </a:p>
          <a:p>
            <a:pPr algn="ctr"/>
            <a:r>
              <a:rPr lang="pt-BR" sz="1400" b="1" dirty="0" smtClean="0">
                <a:solidFill>
                  <a:schemeClr val="accent6">
                    <a:lumMod val="50000"/>
                  </a:schemeClr>
                </a:solidFill>
                <a:latin typeface="CA Milo Pro-Light" pitchFamily="34" charset="0"/>
              </a:rPr>
              <a:t>MANAGER</a:t>
            </a:r>
          </a:p>
        </p:txBody>
      </p:sp>
      <p:sp>
        <p:nvSpPr>
          <p:cNvPr id="14" name="Canto dobrado 2"/>
          <p:cNvSpPr/>
          <p:nvPr/>
        </p:nvSpPr>
        <p:spPr>
          <a:xfrm>
            <a:off x="1864866" y="4051064"/>
            <a:ext cx="2813360" cy="2075416"/>
          </a:xfrm>
          <a:prstGeom prst="foldedCorner">
            <a:avLst/>
          </a:prstGeom>
          <a:gradFill>
            <a:gsLst>
              <a:gs pos="0">
                <a:srgbClr val="FFA553"/>
              </a:gs>
              <a:gs pos="100000">
                <a:srgbClr val="FFBF85"/>
              </a:gs>
            </a:gsLst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pPr marL="285750" lvl="0" indent="-285750">
              <a:buClr>
                <a:srgbClr val="000000"/>
              </a:buClr>
              <a:buFont typeface="Wingdings" panose="05000000000000000000" pitchFamily="2" charset="2"/>
              <a:buChar char="ü"/>
            </a:pPr>
            <a:endParaRPr lang="pt-BR" sz="1200" dirty="0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lvl="0" indent="-285750">
              <a:buClr>
                <a:srgbClr val="000000"/>
              </a:buClr>
              <a:buFont typeface="Wingdings" panose="05000000000000000000" pitchFamily="2" charset="2"/>
              <a:buChar char="ü"/>
            </a:pPr>
            <a:endParaRPr lang="pt-BR" sz="12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lvl="0" indent="-285750">
              <a:buClr>
                <a:srgbClr val="000000"/>
              </a:buClr>
              <a:buFont typeface="Wingdings" panose="05000000000000000000" pitchFamily="2" charset="2"/>
              <a:buChar char="ü"/>
            </a:pPr>
            <a:endParaRPr lang="pt-BR" sz="1200" dirty="0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lvl="0" indent="-285750">
              <a:buClr>
                <a:srgbClr val="000000"/>
              </a:buClr>
              <a:buFont typeface="Wingdings" panose="05000000000000000000" pitchFamily="2" charset="2"/>
              <a:buChar char="ü"/>
            </a:pPr>
            <a:endParaRPr lang="pt-BR" sz="12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lvl="0" indent="-285750">
              <a:buClr>
                <a:srgbClr val="000000"/>
              </a:buClr>
              <a:buFont typeface="Wingdings" panose="05000000000000000000" pitchFamily="2" charset="2"/>
              <a:buChar char="ü"/>
            </a:pPr>
            <a:endParaRPr lang="pt-BR" sz="1200" dirty="0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lvl="0" indent="-285750">
              <a:buClr>
                <a:srgbClr val="000000"/>
              </a:buClr>
              <a:buFont typeface="Wingdings" panose="05000000000000000000" pitchFamily="2" charset="2"/>
              <a:buChar char="ü"/>
            </a:pPr>
            <a:endParaRPr lang="pt-BR" sz="12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lvl="0" indent="-285750">
              <a:buClr>
                <a:srgbClr val="000000"/>
              </a:buClr>
              <a:buFont typeface="Wingdings" panose="05000000000000000000" pitchFamily="2" charset="2"/>
              <a:buChar char="ü"/>
            </a:pPr>
            <a:endParaRPr lang="pt-BR" sz="1200" dirty="0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lvl="0" indent="-285750">
              <a:buClr>
                <a:srgbClr val="000000"/>
              </a:buClr>
              <a:buFont typeface="Wingdings" panose="05000000000000000000" pitchFamily="2" charset="2"/>
              <a:buChar char="ü"/>
            </a:pPr>
            <a:r>
              <a:rPr lang="pt-BR" sz="120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Garantir que o design de arquitetura será implementado no projeto</a:t>
            </a:r>
          </a:p>
        </p:txBody>
      </p:sp>
      <p:sp>
        <p:nvSpPr>
          <p:cNvPr id="15" name="CaixaDeTexto 12"/>
          <p:cNvSpPr txBox="1"/>
          <p:nvPr/>
        </p:nvSpPr>
        <p:spPr>
          <a:xfrm>
            <a:off x="1980469" y="4604638"/>
            <a:ext cx="2575121" cy="30777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sz="1400" b="1" dirty="0" smtClean="0">
                <a:solidFill>
                  <a:srgbClr val="984807"/>
                </a:solidFill>
                <a:latin typeface="CA Milo Pro-Light" pitchFamily="34" charset="0"/>
              </a:rPr>
              <a:t>LÍDER TÉCNICO</a:t>
            </a:r>
          </a:p>
        </p:txBody>
      </p:sp>
      <p:sp>
        <p:nvSpPr>
          <p:cNvPr id="16" name="Canto dobrado 35"/>
          <p:cNvSpPr/>
          <p:nvPr/>
        </p:nvSpPr>
        <p:spPr>
          <a:xfrm>
            <a:off x="5247951" y="4051064"/>
            <a:ext cx="2813360" cy="2075416"/>
          </a:xfrm>
          <a:prstGeom prst="foldedCorner">
            <a:avLst/>
          </a:prstGeom>
          <a:gradFill>
            <a:gsLst>
              <a:gs pos="0">
                <a:srgbClr val="FFA553"/>
              </a:gs>
              <a:gs pos="100000">
                <a:srgbClr val="FFBF85"/>
              </a:gs>
            </a:gsLst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pPr marL="285750" lvl="0" indent="-285750">
              <a:buClr>
                <a:srgbClr val="000000"/>
              </a:buClr>
              <a:buFont typeface="Wingdings" panose="05000000000000000000" pitchFamily="2" charset="2"/>
              <a:buChar char="ü"/>
            </a:pPr>
            <a:endParaRPr lang="pt-BR" sz="1200" dirty="0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lvl="0" indent="-285750">
              <a:buClr>
                <a:srgbClr val="000000"/>
              </a:buClr>
              <a:buFont typeface="Wingdings" panose="05000000000000000000" pitchFamily="2" charset="2"/>
              <a:buChar char="ü"/>
            </a:pPr>
            <a:endParaRPr lang="pt-BR" sz="12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lvl="0" indent="-285750">
              <a:buClr>
                <a:srgbClr val="000000"/>
              </a:buClr>
              <a:buFont typeface="Wingdings" panose="05000000000000000000" pitchFamily="2" charset="2"/>
              <a:buChar char="ü"/>
            </a:pPr>
            <a:endParaRPr lang="pt-BR" sz="1200" dirty="0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lvl="0" indent="-285750">
              <a:buClr>
                <a:srgbClr val="000000"/>
              </a:buClr>
              <a:buFont typeface="Wingdings" panose="05000000000000000000" pitchFamily="2" charset="2"/>
              <a:buChar char="ü"/>
            </a:pPr>
            <a:endParaRPr lang="pt-BR" sz="12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lvl="0" indent="-285750">
              <a:buClr>
                <a:srgbClr val="000000"/>
              </a:buClr>
              <a:buFont typeface="Wingdings" panose="05000000000000000000" pitchFamily="2" charset="2"/>
              <a:buChar char="ü"/>
            </a:pPr>
            <a:endParaRPr lang="pt-BR" sz="1200" dirty="0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lvl="0" indent="-285750">
              <a:buClr>
                <a:srgbClr val="000000"/>
              </a:buClr>
              <a:buFont typeface="Wingdings" panose="05000000000000000000" pitchFamily="2" charset="2"/>
              <a:buChar char="ü"/>
            </a:pPr>
            <a:endParaRPr lang="pt-BR" sz="12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lvl="0" indent="-285750">
              <a:buClr>
                <a:srgbClr val="000000"/>
              </a:buClr>
              <a:buFont typeface="Wingdings" panose="05000000000000000000" pitchFamily="2" charset="2"/>
              <a:buChar char="ü"/>
            </a:pPr>
            <a:endParaRPr lang="pt-BR" sz="1200" dirty="0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lvl="0" indent="-285750">
              <a:buClr>
                <a:srgbClr val="000000"/>
              </a:buClr>
              <a:buFont typeface="Wingdings" panose="05000000000000000000" pitchFamily="2" charset="2"/>
              <a:buChar char="ü"/>
            </a:pPr>
            <a:r>
              <a:rPr lang="pt-BR" sz="120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Desenvolvimento do produto aderente ao conceito de definido de pronto</a:t>
            </a:r>
          </a:p>
          <a:p>
            <a:pPr marL="285750" lvl="0" indent="-285750">
              <a:buClr>
                <a:srgbClr val="000000"/>
              </a:buClr>
              <a:buFont typeface="Wingdings" panose="05000000000000000000" pitchFamily="2" charset="2"/>
              <a:buChar char="ü"/>
            </a:pPr>
            <a:endParaRPr lang="pt-BR" sz="1200" dirty="0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lvl="0" indent="-285750">
              <a:buClr>
                <a:srgbClr val="000000"/>
              </a:buClr>
              <a:buFont typeface="Wingdings" panose="05000000000000000000" pitchFamily="2" charset="2"/>
              <a:buChar char="ü"/>
            </a:pPr>
            <a:endParaRPr lang="pt-BR" sz="12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CaixaDeTexto 24"/>
          <p:cNvSpPr txBox="1"/>
          <p:nvPr/>
        </p:nvSpPr>
        <p:spPr>
          <a:xfrm>
            <a:off x="5369895" y="4604638"/>
            <a:ext cx="2575121" cy="30777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sz="1400" b="1" dirty="0" smtClean="0">
                <a:solidFill>
                  <a:srgbClr val="984807"/>
                </a:solidFill>
                <a:latin typeface="CA Milo Pro-Light" pitchFamily="34" charset="0"/>
              </a:rPr>
              <a:t>DEV</a:t>
            </a:r>
            <a:endParaRPr lang="pt-BR" sz="1600" b="1" dirty="0" smtClean="0">
              <a:solidFill>
                <a:srgbClr val="984807"/>
              </a:solidFill>
              <a:latin typeface="CA Milo Pro-Light" pitchFamily="34" charset="0"/>
            </a:endParaRPr>
          </a:p>
        </p:txBody>
      </p:sp>
      <p:sp>
        <p:nvSpPr>
          <p:cNvPr id="18" name="Double Bracket 17"/>
          <p:cNvSpPr/>
          <p:nvPr/>
        </p:nvSpPr>
        <p:spPr>
          <a:xfrm>
            <a:off x="7945016" y="6344920"/>
            <a:ext cx="2316266" cy="294640"/>
          </a:xfrm>
          <a:prstGeom prst="bracketPair">
            <a:avLst/>
          </a:prstGeom>
          <a:solidFill>
            <a:srgbClr val="FFFF00"/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APRESENTADO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866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801348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391654" y="181114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180000" y="92680"/>
            <a:ext cx="58304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solidFill>
                  <a:schemeClr val="bg1"/>
                </a:solidFill>
                <a:latin typeface="+mj-lt"/>
                <a:cs typeface="Gotham Rounded Book"/>
              </a:rPr>
              <a:t>Objetivo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213361" y="929650"/>
            <a:ext cx="9921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/>
              <a:t>Otimizar o processo de desenvolvimento de software da empresa,  através de entregas mais ágeis e contínuas com a garantia da qualidade do padrão determinado pela companhia .</a:t>
            </a:r>
            <a:endParaRPr lang="pt-BR" b="1" dirty="0"/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906" y="1836428"/>
            <a:ext cx="6444722" cy="4375385"/>
          </a:xfrm>
          <a:prstGeom prst="rect">
            <a:avLst/>
          </a:prstGeom>
        </p:spPr>
      </p:pic>
      <p:sp>
        <p:nvSpPr>
          <p:cNvPr id="10" name="Double Bracket 9"/>
          <p:cNvSpPr/>
          <p:nvPr/>
        </p:nvSpPr>
        <p:spPr>
          <a:xfrm>
            <a:off x="7945016" y="6344920"/>
            <a:ext cx="2316266" cy="294640"/>
          </a:xfrm>
          <a:prstGeom prst="bracketPair">
            <a:avLst/>
          </a:prstGeom>
          <a:solidFill>
            <a:srgbClr val="FFFF00"/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APRESENTADO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2075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801348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391654" y="181114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180000" y="92680"/>
            <a:ext cx="76920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 smtClean="0">
                <a:solidFill>
                  <a:schemeClr val="bg1"/>
                </a:solidFill>
                <a:latin typeface="+mj-lt"/>
                <a:cs typeface="Gotham Rounded Book"/>
              </a:rPr>
              <a:t>Pipeline Devops</a:t>
            </a:r>
            <a:endParaRPr lang="pt-BR" sz="2000" b="1" dirty="0">
              <a:solidFill>
                <a:schemeClr val="bg1"/>
              </a:solidFill>
              <a:latin typeface="+mj-lt"/>
              <a:cs typeface="Gotham Rounded Book"/>
            </a:endParaRPr>
          </a:p>
        </p:txBody>
      </p:sp>
      <p:pic>
        <p:nvPicPr>
          <p:cNvPr id="18" name="Imagem 1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895" y="815342"/>
            <a:ext cx="10058400" cy="5713291"/>
          </a:xfrm>
          <a:prstGeom prst="rect">
            <a:avLst/>
          </a:prstGeom>
        </p:spPr>
      </p:pic>
      <p:sp>
        <p:nvSpPr>
          <p:cNvPr id="8" name="Double Bracket 7"/>
          <p:cNvSpPr/>
          <p:nvPr/>
        </p:nvSpPr>
        <p:spPr>
          <a:xfrm>
            <a:off x="7945016" y="6344920"/>
            <a:ext cx="2316266" cy="294640"/>
          </a:xfrm>
          <a:prstGeom prst="bracketPair">
            <a:avLst/>
          </a:prstGeom>
          <a:solidFill>
            <a:srgbClr val="FFFF00"/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APRESENTADO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5308342" y="3244334"/>
            <a:ext cx="1846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8342" y="3244334"/>
            <a:ext cx="1846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8342" y="3244334"/>
            <a:ext cx="1846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05525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o 1"/>
          <p:cNvGrpSpPr/>
          <p:nvPr/>
        </p:nvGrpSpPr>
        <p:grpSpPr>
          <a:xfrm>
            <a:off x="2" y="-3"/>
            <a:ext cx="10801348" cy="750629"/>
            <a:chOff x="2" y="-3"/>
            <a:chExt cx="9143998" cy="750629"/>
          </a:xfrm>
        </p:grpSpPr>
        <p:sp>
          <p:nvSpPr>
            <p:cNvPr id="9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391654" y="181114"/>
              <a:ext cx="843390" cy="334448"/>
            </a:xfrm>
            <a:prstGeom prst="rect">
              <a:avLst/>
            </a:prstGeom>
          </p:spPr>
        </p:pic>
      </p:grpSp>
      <p:sp>
        <p:nvSpPr>
          <p:cNvPr id="21" name="TextBox 20"/>
          <p:cNvSpPr txBox="1"/>
          <p:nvPr/>
        </p:nvSpPr>
        <p:spPr>
          <a:xfrm>
            <a:off x="180000" y="93600"/>
            <a:ext cx="41354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 smtClean="0">
                <a:solidFill>
                  <a:schemeClr val="bg1"/>
                </a:solidFill>
                <a:latin typeface="+mj-lt"/>
                <a:cs typeface="Gotham Rounded Book"/>
              </a:rPr>
              <a:t>Ferramentas </a:t>
            </a:r>
            <a:r>
              <a:rPr lang="pt-BR" sz="2000" b="1" dirty="0">
                <a:solidFill>
                  <a:schemeClr val="bg1"/>
                </a:solidFill>
                <a:latin typeface="+mj-lt"/>
                <a:cs typeface="Gotham Rounded Book"/>
              </a:rPr>
              <a:t>e</a:t>
            </a:r>
            <a:r>
              <a:rPr lang="pt-BR" sz="2000" b="1" dirty="0" smtClean="0">
                <a:solidFill>
                  <a:schemeClr val="bg1"/>
                </a:solidFill>
                <a:latin typeface="+mj-lt"/>
                <a:cs typeface="Gotham Rounded Book"/>
              </a:rPr>
              <a:t> </a:t>
            </a:r>
            <a:r>
              <a:rPr lang="pt-BR" sz="2000" b="1" dirty="0">
                <a:solidFill>
                  <a:schemeClr val="bg1"/>
                </a:solidFill>
                <a:latin typeface="+mj-lt"/>
                <a:cs typeface="Gotham Rounded Book"/>
              </a:rPr>
              <a:t>o</a:t>
            </a:r>
            <a:r>
              <a:rPr lang="pt-BR" sz="2000" b="1" dirty="0" smtClean="0">
                <a:solidFill>
                  <a:schemeClr val="bg1"/>
                </a:solidFill>
                <a:latin typeface="+mj-lt"/>
                <a:cs typeface="Gotham Rounded Book"/>
              </a:rPr>
              <a:t>bjetivos</a:t>
            </a:r>
            <a:endParaRPr lang="pt-BR" sz="2000" b="1" dirty="0">
              <a:solidFill>
                <a:schemeClr val="bg1"/>
              </a:solidFill>
              <a:latin typeface="+mj-lt"/>
              <a:cs typeface="Gotham Rounded Book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4329479"/>
              </p:ext>
            </p:extLst>
          </p:nvPr>
        </p:nvGraphicFramePr>
        <p:xfrm>
          <a:off x="286385" y="1231900"/>
          <a:ext cx="10167220" cy="4830441"/>
        </p:xfrm>
        <a:graphic>
          <a:graphicData uri="http://schemas.openxmlformats.org/drawingml/2006/table">
            <a:tbl>
              <a:tblPr bandRow="1">
                <a:tableStyleId>{10A1B5D5-9B99-4C35-A422-299274C87663}</a:tableStyleId>
              </a:tblPr>
              <a:tblGrid>
                <a:gridCol w="1654175"/>
                <a:gridCol w="8513045"/>
              </a:tblGrid>
              <a:tr h="523603">
                <a:tc>
                  <a:txBody>
                    <a:bodyPr/>
                    <a:lstStyle/>
                    <a:p>
                      <a:r>
                        <a:rPr lang="en-US" sz="2000" dirty="0" err="1" smtClean="0"/>
                        <a:t>Jira</a:t>
                      </a:r>
                      <a:endParaRPr lang="en-US" sz="2000" dirty="0"/>
                    </a:p>
                  </a:txBody>
                  <a:tcPr marL="129108" marR="129108" marT="64554" marB="64554"/>
                </a:tc>
                <a:tc>
                  <a:txBody>
                    <a:bodyPr/>
                    <a:lstStyle/>
                    <a:p>
                      <a:r>
                        <a:rPr lang="pt-BR" sz="2000" b="1" dirty="0" smtClean="0"/>
                        <a:t>Criar solicitações que dependem de aprovação, criar projetos e </a:t>
                      </a:r>
                      <a:r>
                        <a:rPr lang="pt-BR" sz="2000" b="1" dirty="0" err="1" smtClean="0"/>
                        <a:t>branchs</a:t>
                      </a:r>
                      <a:r>
                        <a:rPr lang="pt-BR" sz="2000" b="1" dirty="0" smtClean="0"/>
                        <a:t> e solicitações de acessos a repositórios</a:t>
                      </a:r>
                      <a:endParaRPr lang="en-US" sz="2000" dirty="0"/>
                    </a:p>
                  </a:txBody>
                  <a:tcPr marL="129108" marR="129108" marT="64554" marB="64554"/>
                </a:tc>
              </a:tr>
              <a:tr h="523603">
                <a:tc>
                  <a:txBody>
                    <a:bodyPr/>
                    <a:lstStyle/>
                    <a:p>
                      <a:r>
                        <a:rPr lang="en-US" sz="2000" dirty="0" err="1" smtClean="0"/>
                        <a:t>Git</a:t>
                      </a:r>
                      <a:r>
                        <a:rPr lang="en-US" sz="2000" dirty="0" smtClean="0"/>
                        <a:t> Hub</a:t>
                      </a:r>
                      <a:endParaRPr lang="en-US" sz="2000" dirty="0"/>
                    </a:p>
                  </a:txBody>
                  <a:tcPr marL="129108" marR="129108" marT="64554" marB="64554"/>
                </a:tc>
                <a:tc>
                  <a:txBody>
                    <a:bodyPr/>
                    <a:lstStyle/>
                    <a:p>
                      <a:r>
                        <a:rPr lang="pt-BR" sz="2000" b="1" dirty="0" smtClean="0"/>
                        <a:t>Realizar o controle, merge e versionamento de código fonte</a:t>
                      </a:r>
                      <a:endParaRPr lang="en-US" sz="2000" dirty="0"/>
                    </a:p>
                  </a:txBody>
                  <a:tcPr marL="129108" marR="129108" marT="64554" marB="64554"/>
                </a:tc>
              </a:tr>
              <a:tr h="523603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Nexus</a:t>
                      </a:r>
                      <a:endParaRPr lang="en-US" sz="2000" dirty="0"/>
                    </a:p>
                  </a:txBody>
                  <a:tcPr marL="129108" marR="129108" marT="64554" marB="64554"/>
                </a:tc>
                <a:tc>
                  <a:txBody>
                    <a:bodyPr/>
                    <a:lstStyle/>
                    <a:p>
                      <a:r>
                        <a:rPr lang="pt-BR" sz="2000" b="1" dirty="0" smtClean="0"/>
                        <a:t>Realizar o controle e versionamento dos artefatos, imagens e demais documentos que façam parte dos projetos</a:t>
                      </a:r>
                      <a:endParaRPr lang="en-US" sz="2000" dirty="0"/>
                    </a:p>
                  </a:txBody>
                  <a:tcPr marL="129108" marR="129108" marT="64554" marB="64554"/>
                </a:tc>
              </a:tr>
              <a:tr h="523603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Jenkins</a:t>
                      </a:r>
                      <a:endParaRPr lang="en-US" sz="2000" dirty="0"/>
                    </a:p>
                  </a:txBody>
                  <a:tcPr marL="129108" marR="129108" marT="64554" marB="64554"/>
                </a:tc>
                <a:tc>
                  <a:txBody>
                    <a:bodyPr/>
                    <a:lstStyle/>
                    <a:p>
                      <a:r>
                        <a:rPr lang="pt-BR" sz="2000" b="1" dirty="0" smtClean="0"/>
                        <a:t>Automatizar builds, </a:t>
                      </a:r>
                      <a:r>
                        <a:rPr lang="pt-BR" sz="2000" b="1" dirty="0" err="1" smtClean="0"/>
                        <a:t>code</a:t>
                      </a:r>
                      <a:r>
                        <a:rPr lang="pt-BR" sz="2000" b="1" dirty="0" smtClean="0"/>
                        <a:t> </a:t>
                      </a:r>
                      <a:r>
                        <a:rPr lang="pt-BR" sz="2000" b="1" dirty="0" err="1" smtClean="0"/>
                        <a:t>review</a:t>
                      </a:r>
                      <a:r>
                        <a:rPr lang="pt-BR" sz="2000" b="1" dirty="0" smtClean="0"/>
                        <a:t> e </a:t>
                      </a:r>
                      <a:r>
                        <a:rPr lang="pt-BR" sz="2000" b="1" dirty="0" err="1" smtClean="0"/>
                        <a:t>continuos</a:t>
                      </a:r>
                      <a:r>
                        <a:rPr lang="pt-BR" sz="2000" b="1" dirty="0" smtClean="0"/>
                        <a:t> </a:t>
                      </a:r>
                      <a:r>
                        <a:rPr lang="pt-BR" sz="2000" b="1" dirty="0" err="1" smtClean="0"/>
                        <a:t>integration</a:t>
                      </a:r>
                      <a:r>
                        <a:rPr lang="pt-BR" sz="2000" b="1" dirty="0" smtClean="0"/>
                        <a:t>.</a:t>
                      </a:r>
                      <a:endParaRPr lang="en-US" sz="2000" dirty="0"/>
                    </a:p>
                  </a:txBody>
                  <a:tcPr marL="129108" marR="129108" marT="64554" marB="64554"/>
                </a:tc>
              </a:tr>
              <a:tr h="523603">
                <a:tc>
                  <a:txBody>
                    <a:bodyPr/>
                    <a:lstStyle/>
                    <a:p>
                      <a:r>
                        <a:rPr lang="en-US" sz="2000" dirty="0" err="1" smtClean="0"/>
                        <a:t>Rundeck</a:t>
                      </a:r>
                      <a:endParaRPr lang="en-US" sz="2000" dirty="0"/>
                    </a:p>
                  </a:txBody>
                  <a:tcPr marL="129108" marR="129108" marT="64554" marB="64554"/>
                </a:tc>
                <a:tc>
                  <a:txBody>
                    <a:bodyPr/>
                    <a:lstStyle/>
                    <a:p>
                      <a:r>
                        <a:rPr lang="pt-BR" sz="2000" b="1" dirty="0" smtClean="0"/>
                        <a:t>Automatizar criação de projetos, </a:t>
                      </a:r>
                      <a:r>
                        <a:rPr lang="pt-BR" sz="2000" b="1" dirty="0" err="1" smtClean="0"/>
                        <a:t>branchs</a:t>
                      </a:r>
                      <a:r>
                        <a:rPr lang="pt-BR" sz="2000" b="1" dirty="0" smtClean="0"/>
                        <a:t>, </a:t>
                      </a:r>
                      <a:r>
                        <a:rPr lang="pt-BR" sz="2000" b="1" dirty="0" err="1" smtClean="0"/>
                        <a:t>deploys</a:t>
                      </a:r>
                      <a:r>
                        <a:rPr lang="pt-BR" sz="2000" b="1" dirty="0" smtClean="0"/>
                        <a:t> e schedule de </a:t>
                      </a:r>
                      <a:r>
                        <a:rPr lang="pt-BR" sz="2000" b="1" dirty="0" err="1" smtClean="0"/>
                        <a:t>jobs</a:t>
                      </a:r>
                      <a:r>
                        <a:rPr lang="pt-BR" sz="2000" b="1" dirty="0" smtClean="0"/>
                        <a:t>, verificações de status de </a:t>
                      </a:r>
                      <a:r>
                        <a:rPr lang="pt-BR" sz="2000" b="1" dirty="0" err="1" smtClean="0"/>
                        <a:t>branchs</a:t>
                      </a:r>
                      <a:r>
                        <a:rPr lang="pt-BR" sz="2000" b="1" dirty="0" smtClean="0"/>
                        <a:t> e notificações relacionadas ao fluxo de desenvolvimento</a:t>
                      </a:r>
                      <a:endParaRPr lang="en-US" sz="2000" dirty="0"/>
                    </a:p>
                  </a:txBody>
                  <a:tcPr marL="129108" marR="129108" marT="64554" marB="64554"/>
                </a:tc>
              </a:tr>
              <a:tr h="523603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Sonar</a:t>
                      </a:r>
                      <a:endParaRPr lang="en-US" sz="2000" dirty="0"/>
                    </a:p>
                  </a:txBody>
                  <a:tcPr marL="129108" marR="129108" marT="64554" marB="64554"/>
                </a:tc>
                <a:tc>
                  <a:txBody>
                    <a:bodyPr/>
                    <a:lstStyle/>
                    <a:p>
                      <a:r>
                        <a:rPr lang="pt-BR" sz="2000" b="1" dirty="0" smtClean="0"/>
                        <a:t>Repositório com estatísticas e métricas dos resultados dos testes unitários, testes de componentes relacionados ao fluxo de desenvolvimento </a:t>
                      </a:r>
                      <a:endParaRPr lang="en-US" sz="2000" dirty="0"/>
                    </a:p>
                  </a:txBody>
                  <a:tcPr marL="129108" marR="129108" marT="64554" marB="64554"/>
                </a:tc>
              </a:tr>
              <a:tr h="523603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Slack</a:t>
                      </a:r>
                      <a:endParaRPr lang="en-US" sz="2000" dirty="0"/>
                    </a:p>
                  </a:txBody>
                  <a:tcPr marL="129108" marR="129108" marT="64554" marB="64554"/>
                </a:tc>
                <a:tc>
                  <a:txBody>
                    <a:bodyPr/>
                    <a:lstStyle/>
                    <a:p>
                      <a:r>
                        <a:rPr lang="pt-BR" sz="2000" b="1" dirty="0" smtClean="0"/>
                        <a:t>Facilitar a comunicação e integração das equipes, sejam elas remotas ou não</a:t>
                      </a:r>
                      <a:endParaRPr lang="en-US" sz="2000" dirty="0"/>
                    </a:p>
                  </a:txBody>
                  <a:tcPr marL="129108" marR="129108" marT="64554" marB="64554"/>
                </a:tc>
              </a:tr>
            </a:tbl>
          </a:graphicData>
        </a:graphic>
      </p:graphicFrame>
      <p:sp>
        <p:nvSpPr>
          <p:cNvPr id="13" name="Double Bracket 12"/>
          <p:cNvSpPr/>
          <p:nvPr/>
        </p:nvSpPr>
        <p:spPr>
          <a:xfrm>
            <a:off x="7945016" y="6344920"/>
            <a:ext cx="2316266" cy="294640"/>
          </a:xfrm>
          <a:prstGeom prst="bracketPair">
            <a:avLst/>
          </a:prstGeom>
          <a:solidFill>
            <a:srgbClr val="FFFF00"/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APRESENTADO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668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upo 1"/>
          <p:cNvGrpSpPr/>
          <p:nvPr/>
        </p:nvGrpSpPr>
        <p:grpSpPr>
          <a:xfrm>
            <a:off x="2" y="-3"/>
            <a:ext cx="10801348" cy="750629"/>
            <a:chOff x="2" y="-3"/>
            <a:chExt cx="9143998" cy="750629"/>
          </a:xfrm>
        </p:grpSpPr>
        <p:sp>
          <p:nvSpPr>
            <p:cNvPr id="10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391654" y="181114"/>
              <a:ext cx="843390" cy="334448"/>
            </a:xfrm>
            <a:prstGeom prst="rect">
              <a:avLst/>
            </a:prstGeom>
          </p:spPr>
        </p:pic>
      </p:grp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1244481"/>
              </p:ext>
            </p:extLst>
          </p:nvPr>
        </p:nvGraphicFramePr>
        <p:xfrm>
          <a:off x="164205" y="1378871"/>
          <a:ext cx="10345298" cy="4679999"/>
        </p:xfrm>
        <a:graphic>
          <a:graphicData uri="http://schemas.openxmlformats.org/drawingml/2006/table">
            <a:tbl>
              <a:tblPr firstRow="1" firstCol="1" bandRow="1">
                <a:tableStyleId>{93296810-A885-4BE3-A3E7-6D5BEEA58F35}</a:tableStyleId>
              </a:tblPr>
              <a:tblGrid>
                <a:gridCol w="4143635"/>
                <a:gridCol w="1127760"/>
                <a:gridCol w="457200"/>
                <a:gridCol w="853440"/>
                <a:gridCol w="1178560"/>
                <a:gridCol w="2584703"/>
              </a:tblGrid>
              <a:tr h="899999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smtClean="0"/>
                        <a:t>R</a:t>
                      </a:r>
                      <a:r>
                        <a:rPr lang="pt-BR" sz="1600" baseline="0" dirty="0" smtClean="0"/>
                        <a:t> - Obrigatório / O – Opcional / </a:t>
                      </a:r>
                      <a:r>
                        <a:rPr lang="pt-BR" sz="1600" baseline="0" dirty="0" err="1" smtClean="0"/>
                        <a:t>S</a:t>
                      </a:r>
                      <a:r>
                        <a:rPr lang="pt-BR" sz="1600" baseline="0" dirty="0" smtClean="0"/>
                        <a:t> - Solicitante</a:t>
                      </a:r>
                      <a:endParaRPr lang="pt-BR" sz="1600" dirty="0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 marL="48812" marR="48812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smtClean="0"/>
                        <a:t>ARQUITETURA</a:t>
                      </a:r>
                      <a:endParaRPr lang="pt-BR" sz="1200" dirty="0"/>
                    </a:p>
                  </a:txBody>
                  <a:tcPr marL="48812" marR="4881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smtClean="0"/>
                        <a:t>DEV</a:t>
                      </a:r>
                      <a:endParaRPr lang="pt-BR" sz="1200" dirty="0"/>
                    </a:p>
                  </a:txBody>
                  <a:tcPr marL="48812" marR="4881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smtClean="0"/>
                        <a:t>RELEASE</a:t>
                      </a:r>
                    </a:p>
                    <a:p>
                      <a:pPr algn="ctr"/>
                      <a:r>
                        <a:rPr lang="pt-BR" sz="1200" dirty="0" smtClean="0"/>
                        <a:t>MANAGER</a:t>
                      </a:r>
                      <a:endParaRPr lang="pt-BR" sz="1200" dirty="0"/>
                    </a:p>
                  </a:txBody>
                  <a:tcPr marL="48812" marR="4881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smtClean="0"/>
                        <a:t>AUTOMATIZADO</a:t>
                      </a:r>
                      <a:endParaRPr lang="pt-BR" sz="1200" dirty="0"/>
                    </a:p>
                  </a:txBody>
                  <a:tcPr marL="48812" marR="4881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smtClean="0"/>
                        <a:t>FERRAMENTAS</a:t>
                      </a:r>
                      <a:endParaRPr lang="pt-BR" sz="1200" dirty="0"/>
                    </a:p>
                  </a:txBody>
                  <a:tcPr marL="48812" marR="48812" anchor="ctr"/>
                </a:tc>
              </a:tr>
              <a:tr h="540000">
                <a:tc>
                  <a:txBody>
                    <a:bodyPr/>
                    <a:lstStyle/>
                    <a:p>
                      <a:r>
                        <a:rPr lang="pt-BR" sz="1800" noProof="0" smtClean="0"/>
                        <a:t>Criação de projeto</a:t>
                      </a:r>
                      <a:endParaRPr lang="pt-BR" sz="1800" noProof="0"/>
                    </a:p>
                  </a:txBody>
                  <a:tcPr marL="180000" marR="4881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smtClean="0"/>
                        <a:t>R</a:t>
                      </a:r>
                      <a:endParaRPr lang="pt-BR" sz="1200" dirty="0"/>
                    </a:p>
                  </a:txBody>
                  <a:tcPr marL="48812" marR="4881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smtClean="0"/>
                        <a:t>S</a:t>
                      </a:r>
                      <a:endParaRPr lang="pt-BR" sz="1200" dirty="0"/>
                    </a:p>
                  </a:txBody>
                  <a:tcPr marL="48812" marR="4881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smtClean="0"/>
                        <a:t>R</a:t>
                      </a:r>
                      <a:endParaRPr lang="pt-BR" sz="1200" dirty="0"/>
                    </a:p>
                  </a:txBody>
                  <a:tcPr marL="48812" marR="4881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smtClean="0"/>
                        <a:t>SIM</a:t>
                      </a:r>
                      <a:endParaRPr lang="pt-BR" sz="1200" dirty="0"/>
                    </a:p>
                  </a:txBody>
                  <a:tcPr marL="48812" marR="4881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noProof="0" smtClean="0"/>
                        <a:t>Todas</a:t>
                      </a:r>
                      <a:endParaRPr lang="pt-BR" sz="1200" noProof="0"/>
                    </a:p>
                  </a:txBody>
                  <a:tcPr marL="48812" marR="48812" anchor="ctr"/>
                </a:tc>
              </a:tr>
              <a:tr h="540000">
                <a:tc>
                  <a:txBody>
                    <a:bodyPr/>
                    <a:lstStyle/>
                    <a:p>
                      <a:r>
                        <a:rPr lang="pt-BR" sz="1800" noProof="0" smtClean="0"/>
                        <a:t>Criação de branch</a:t>
                      </a:r>
                      <a:endParaRPr lang="pt-BR" sz="1800" noProof="0"/>
                    </a:p>
                  </a:txBody>
                  <a:tcPr marL="180000" marR="4881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smtClean="0"/>
                        <a:t>R</a:t>
                      </a:r>
                      <a:endParaRPr lang="pt-BR" sz="1200" dirty="0"/>
                    </a:p>
                  </a:txBody>
                  <a:tcPr marL="48812" marR="4881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smtClean="0"/>
                        <a:t>S</a:t>
                      </a:r>
                      <a:endParaRPr lang="pt-BR" sz="1200" dirty="0"/>
                    </a:p>
                  </a:txBody>
                  <a:tcPr marL="48812" marR="4881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smtClean="0"/>
                        <a:t>O</a:t>
                      </a:r>
                      <a:endParaRPr lang="pt-BR" sz="1200" dirty="0"/>
                    </a:p>
                  </a:txBody>
                  <a:tcPr marL="48812" marR="4881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smtClean="0"/>
                        <a:t>SIM</a:t>
                      </a:r>
                    </a:p>
                  </a:txBody>
                  <a:tcPr marL="48812" marR="4881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noProof="0" dirty="0" smtClean="0"/>
                        <a:t>Rundeck/GitHub</a:t>
                      </a:r>
                    </a:p>
                  </a:txBody>
                  <a:tcPr marL="48812" marR="48812" anchor="ctr"/>
                </a:tc>
              </a:tr>
              <a:tr h="540000">
                <a:tc>
                  <a:txBody>
                    <a:bodyPr/>
                    <a:lstStyle/>
                    <a:p>
                      <a:r>
                        <a:rPr lang="pt-BR" sz="1800" noProof="0" dirty="0" smtClean="0"/>
                        <a:t>Fluxo</a:t>
                      </a:r>
                      <a:r>
                        <a:rPr lang="pt-BR" sz="1800" baseline="0" noProof="0" dirty="0" smtClean="0"/>
                        <a:t> de commit</a:t>
                      </a:r>
                      <a:endParaRPr lang="pt-BR" sz="1800" noProof="0" dirty="0"/>
                    </a:p>
                  </a:txBody>
                  <a:tcPr marL="180000" marR="4881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smtClean="0"/>
                        <a:t>O</a:t>
                      </a:r>
                      <a:endParaRPr lang="pt-BR" sz="1200" dirty="0"/>
                    </a:p>
                  </a:txBody>
                  <a:tcPr marL="48812" marR="4881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smtClean="0"/>
                        <a:t>R</a:t>
                      </a:r>
                      <a:endParaRPr lang="pt-BR" sz="1200" dirty="0"/>
                    </a:p>
                  </a:txBody>
                  <a:tcPr marL="48812" marR="4881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smtClean="0"/>
                        <a:t>O</a:t>
                      </a:r>
                      <a:endParaRPr lang="pt-BR" sz="1200" dirty="0"/>
                    </a:p>
                  </a:txBody>
                  <a:tcPr marL="48812" marR="4881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SIM</a:t>
                      </a:r>
                      <a:endParaRPr lang="pt-BR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8812" marR="48812" anchor="ctr"/>
                </a:tc>
                <a:tc>
                  <a:txBody>
                    <a:bodyPr/>
                    <a:lstStyle/>
                    <a:p>
                      <a:pPr marL="0" marR="0" indent="0" algn="ctr" defTabSz="4571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noProof="0" dirty="0" smtClean="0"/>
                        <a:t>GitHub/Jenkins/Nexus/Sonar</a:t>
                      </a:r>
                      <a:endParaRPr lang="pt-BR" sz="1200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8812" marR="48812" anchor="ctr"/>
                </a:tc>
              </a:tr>
              <a:tr h="540000">
                <a:tc>
                  <a:txBody>
                    <a:bodyPr/>
                    <a:lstStyle/>
                    <a:p>
                      <a:r>
                        <a:rPr lang="pt-BR" sz="1800" noProof="0" dirty="0" smtClean="0"/>
                        <a:t>Fluxo</a:t>
                      </a:r>
                      <a:r>
                        <a:rPr lang="pt-BR" sz="1800" baseline="0" noProof="0" dirty="0" smtClean="0"/>
                        <a:t> de pull request</a:t>
                      </a:r>
                      <a:endParaRPr lang="pt-BR" sz="1800" noProof="0" dirty="0"/>
                    </a:p>
                  </a:txBody>
                  <a:tcPr marL="180000" marR="4881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smtClean="0"/>
                        <a:t>R</a:t>
                      </a:r>
                      <a:endParaRPr lang="pt-BR" sz="1200" dirty="0"/>
                    </a:p>
                  </a:txBody>
                  <a:tcPr marL="48812" marR="4881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smtClean="0"/>
                        <a:t>R</a:t>
                      </a:r>
                      <a:endParaRPr lang="pt-BR" sz="1200" dirty="0"/>
                    </a:p>
                  </a:txBody>
                  <a:tcPr marL="48812" marR="4881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smtClean="0"/>
                        <a:t>R</a:t>
                      </a:r>
                      <a:endParaRPr lang="pt-BR" sz="1200" dirty="0"/>
                    </a:p>
                  </a:txBody>
                  <a:tcPr marL="48812" marR="4881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smtClean="0"/>
                        <a:t>SIM</a:t>
                      </a:r>
                      <a:endParaRPr lang="pt-BR" sz="1200" dirty="0"/>
                    </a:p>
                  </a:txBody>
                  <a:tcPr marL="48812" marR="4881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noProof="0" dirty="0" smtClean="0"/>
                        <a:t>GitHub/Jenkins/Rundeck/Nexus/Sonar</a:t>
                      </a:r>
                      <a:endParaRPr lang="pt-BR" sz="1200" noProof="0" dirty="0"/>
                    </a:p>
                  </a:txBody>
                  <a:tcPr marL="48812" marR="48812" anchor="ctr"/>
                </a:tc>
              </a:tr>
              <a:tr h="540000">
                <a:tc>
                  <a:txBody>
                    <a:bodyPr/>
                    <a:lstStyle/>
                    <a:p>
                      <a:r>
                        <a:rPr lang="pt-BR" sz="1800" noProof="0" dirty="0" smtClean="0"/>
                        <a:t>Fluxos de merge (</a:t>
                      </a:r>
                      <a:r>
                        <a:rPr lang="pt-BR" sz="1800" noProof="0" dirty="0" err="1" smtClean="0"/>
                        <a:t>back</a:t>
                      </a:r>
                      <a:r>
                        <a:rPr lang="pt-BR" sz="1800" noProof="0" dirty="0" smtClean="0"/>
                        <a:t>/</a:t>
                      </a:r>
                      <a:r>
                        <a:rPr lang="pt-BR" sz="1800" noProof="0" dirty="0" err="1" smtClean="0"/>
                        <a:t>master</a:t>
                      </a:r>
                      <a:r>
                        <a:rPr lang="pt-BR" sz="1800" noProof="0" dirty="0" smtClean="0"/>
                        <a:t>)</a:t>
                      </a:r>
                      <a:endParaRPr lang="pt-BR" sz="1800" noProof="0" dirty="0"/>
                    </a:p>
                  </a:txBody>
                  <a:tcPr marL="180000" marR="4881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smtClean="0"/>
                        <a:t>O</a:t>
                      </a:r>
                      <a:endParaRPr lang="pt-BR" sz="1200" dirty="0"/>
                    </a:p>
                  </a:txBody>
                  <a:tcPr marL="48812" marR="4881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smtClean="0"/>
                        <a:t>R</a:t>
                      </a:r>
                      <a:endParaRPr lang="pt-BR" sz="1200" dirty="0"/>
                    </a:p>
                  </a:txBody>
                  <a:tcPr marL="48812" marR="4881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smtClean="0"/>
                        <a:t>O</a:t>
                      </a:r>
                      <a:endParaRPr lang="pt-BR" sz="1200" dirty="0"/>
                    </a:p>
                  </a:txBody>
                  <a:tcPr marL="48812" marR="4881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smtClean="0"/>
                        <a:t>PARCIAL</a:t>
                      </a:r>
                      <a:endParaRPr lang="pt-BR" sz="1200" dirty="0"/>
                    </a:p>
                  </a:txBody>
                  <a:tcPr marL="48812" marR="4881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noProof="0" dirty="0" smtClean="0"/>
                        <a:t>Rundeck/GitHub</a:t>
                      </a:r>
                      <a:endParaRPr lang="pt-BR" sz="1200" noProof="0" dirty="0"/>
                    </a:p>
                  </a:txBody>
                  <a:tcPr marL="48812" marR="48812" anchor="ctr"/>
                </a:tc>
              </a:tr>
              <a:tr h="540000">
                <a:tc>
                  <a:txBody>
                    <a:bodyPr/>
                    <a:lstStyle/>
                    <a:p>
                      <a:r>
                        <a:rPr lang="pt-BR" sz="1800" noProof="0" dirty="0" smtClean="0"/>
                        <a:t>Fluxo</a:t>
                      </a:r>
                      <a:r>
                        <a:rPr lang="pt-BR" sz="1800" baseline="0" noProof="0" dirty="0" smtClean="0"/>
                        <a:t> de deploy não produtivo</a:t>
                      </a:r>
                      <a:endParaRPr lang="pt-BR" sz="1800" noProof="0" dirty="0"/>
                    </a:p>
                  </a:txBody>
                  <a:tcPr marL="180000" marR="4881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smtClean="0"/>
                        <a:t>O</a:t>
                      </a:r>
                      <a:endParaRPr lang="pt-BR" sz="1200" dirty="0"/>
                    </a:p>
                  </a:txBody>
                  <a:tcPr marL="48812" marR="4881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smtClean="0"/>
                        <a:t>R</a:t>
                      </a:r>
                      <a:endParaRPr lang="pt-BR" sz="1200" dirty="0"/>
                    </a:p>
                  </a:txBody>
                  <a:tcPr marL="48812" marR="4881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smtClean="0"/>
                        <a:t>O</a:t>
                      </a:r>
                      <a:endParaRPr lang="pt-BR" sz="1200" dirty="0"/>
                    </a:p>
                  </a:txBody>
                  <a:tcPr marL="48812" marR="4881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smtClean="0"/>
                        <a:t>SIM</a:t>
                      </a:r>
                      <a:endParaRPr lang="pt-BR" sz="1200" dirty="0"/>
                    </a:p>
                  </a:txBody>
                  <a:tcPr marL="48812" marR="4881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noProof="0" dirty="0" smtClean="0"/>
                        <a:t>Rundeck/Nexus</a:t>
                      </a:r>
                      <a:endParaRPr lang="pt-BR" sz="1200" noProof="0" dirty="0"/>
                    </a:p>
                  </a:txBody>
                  <a:tcPr marL="48812" marR="48812" anchor="ctr"/>
                </a:tc>
              </a:tr>
              <a:tr h="540000">
                <a:tc>
                  <a:txBody>
                    <a:bodyPr/>
                    <a:lstStyle/>
                    <a:p>
                      <a:r>
                        <a:rPr lang="pt-BR" sz="1800" noProof="0" dirty="0" smtClean="0"/>
                        <a:t>Fluxo de deploy produtivo</a:t>
                      </a:r>
                      <a:endParaRPr lang="pt-BR" sz="1800" noProof="0" dirty="0"/>
                    </a:p>
                  </a:txBody>
                  <a:tcPr marL="180000" marR="4881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smtClean="0"/>
                        <a:t>R</a:t>
                      </a:r>
                      <a:endParaRPr lang="pt-BR" sz="1200" dirty="0"/>
                    </a:p>
                  </a:txBody>
                  <a:tcPr marL="48812" marR="4881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smtClean="0"/>
                        <a:t>R</a:t>
                      </a:r>
                      <a:endParaRPr lang="pt-BR" sz="1200" dirty="0"/>
                    </a:p>
                  </a:txBody>
                  <a:tcPr marL="48812" marR="4881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smtClean="0"/>
                        <a:t>R</a:t>
                      </a:r>
                      <a:endParaRPr lang="pt-BR" sz="1200" dirty="0"/>
                    </a:p>
                  </a:txBody>
                  <a:tcPr marL="48812" marR="4881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smtClean="0"/>
                        <a:t>SIM</a:t>
                      </a:r>
                      <a:endParaRPr lang="pt-BR" sz="1200" dirty="0"/>
                    </a:p>
                  </a:txBody>
                  <a:tcPr marL="48812" marR="4881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noProof="0" dirty="0" smtClean="0"/>
                        <a:t>Rundeck/Nexus</a:t>
                      </a:r>
                      <a:endParaRPr lang="pt-BR" sz="1200" noProof="0" dirty="0"/>
                    </a:p>
                  </a:txBody>
                  <a:tcPr marL="48812" marR="48812" anchor="ctr"/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180000" y="93600"/>
            <a:ext cx="41354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 smtClean="0">
                <a:solidFill>
                  <a:schemeClr val="bg1"/>
                </a:solidFill>
                <a:latin typeface="+mj-lt"/>
                <a:cs typeface="Gotham Rounded Book"/>
              </a:rPr>
              <a:t>Processos</a:t>
            </a:r>
            <a:endParaRPr lang="pt-BR" sz="2000" b="1" dirty="0">
              <a:solidFill>
                <a:schemeClr val="bg1"/>
              </a:solidFill>
              <a:latin typeface="+mj-lt"/>
              <a:cs typeface="Gotham Rounded Book"/>
            </a:endParaRPr>
          </a:p>
        </p:txBody>
      </p:sp>
      <p:sp>
        <p:nvSpPr>
          <p:cNvPr id="8" name="Double Bracket 7"/>
          <p:cNvSpPr/>
          <p:nvPr/>
        </p:nvSpPr>
        <p:spPr>
          <a:xfrm>
            <a:off x="7945016" y="6344920"/>
            <a:ext cx="2316266" cy="294640"/>
          </a:xfrm>
          <a:prstGeom prst="bracketPair">
            <a:avLst/>
          </a:prstGeom>
          <a:solidFill>
            <a:srgbClr val="FFFF00"/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APRESENTADO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777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801348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391654" y="181114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180000" y="92690"/>
            <a:ext cx="58304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 smtClean="0">
                <a:solidFill>
                  <a:schemeClr val="bg1"/>
                </a:solidFill>
                <a:latin typeface="+mj-lt"/>
                <a:cs typeface="Gotham Rounded Book"/>
              </a:rPr>
              <a:t>Criação de </a:t>
            </a:r>
            <a:r>
              <a:rPr lang="pt-BR" sz="2000" b="1" dirty="0">
                <a:solidFill>
                  <a:schemeClr val="bg1"/>
                </a:solidFill>
                <a:latin typeface="+mj-lt"/>
                <a:cs typeface="Gotham Rounded Book"/>
              </a:rPr>
              <a:t>p</a:t>
            </a:r>
            <a:r>
              <a:rPr lang="pt-BR" sz="2000" b="1" dirty="0" smtClean="0">
                <a:solidFill>
                  <a:schemeClr val="bg1"/>
                </a:solidFill>
                <a:latin typeface="+mj-lt"/>
                <a:cs typeface="Gotham Rounded Book"/>
              </a:rPr>
              <a:t>rojeto</a:t>
            </a:r>
            <a:endParaRPr lang="pt-BR" sz="2000" b="1" dirty="0">
              <a:solidFill>
                <a:schemeClr val="bg1"/>
              </a:solidFill>
              <a:latin typeface="+mj-lt"/>
              <a:cs typeface="Gotham Rounded Book"/>
            </a:endParaRPr>
          </a:p>
        </p:txBody>
      </p:sp>
      <p:sp>
        <p:nvSpPr>
          <p:cNvPr id="8" name="Double Bracket 7"/>
          <p:cNvSpPr/>
          <p:nvPr/>
        </p:nvSpPr>
        <p:spPr>
          <a:xfrm>
            <a:off x="7945016" y="6344920"/>
            <a:ext cx="2316266" cy="294640"/>
          </a:xfrm>
          <a:prstGeom prst="bracketPair">
            <a:avLst/>
          </a:prstGeom>
          <a:solidFill>
            <a:srgbClr val="FFFF00"/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NÃO INICIADO</a:t>
            </a:r>
            <a:endParaRPr lang="en-US" dirty="0"/>
          </a:p>
        </p:txBody>
      </p:sp>
      <p:pic>
        <p:nvPicPr>
          <p:cNvPr id="3" name="Picture 2" descr="unnamed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960" y="1839862"/>
            <a:ext cx="10344150" cy="2889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2812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801348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391654" y="181114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180000" y="92690"/>
            <a:ext cx="58304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 smtClean="0">
                <a:solidFill>
                  <a:schemeClr val="bg1"/>
                </a:solidFill>
                <a:latin typeface="+mj-lt"/>
                <a:cs typeface="Gotham Rounded Book"/>
              </a:rPr>
              <a:t>Criação de </a:t>
            </a:r>
            <a:r>
              <a:rPr lang="pt-BR" sz="2000" b="1" dirty="0" err="1" smtClean="0">
                <a:solidFill>
                  <a:schemeClr val="bg1"/>
                </a:solidFill>
                <a:latin typeface="+mj-lt"/>
                <a:cs typeface="Gotham Rounded Book"/>
              </a:rPr>
              <a:t>branch</a:t>
            </a:r>
            <a:endParaRPr lang="pt-BR" sz="2000" b="1" dirty="0">
              <a:solidFill>
                <a:schemeClr val="bg1"/>
              </a:solidFill>
              <a:latin typeface="+mj-lt"/>
              <a:cs typeface="Gotham Rounded Book"/>
            </a:endParaRPr>
          </a:p>
        </p:txBody>
      </p:sp>
      <p:sp>
        <p:nvSpPr>
          <p:cNvPr id="8" name="Double Bracket 7"/>
          <p:cNvSpPr/>
          <p:nvPr/>
        </p:nvSpPr>
        <p:spPr>
          <a:xfrm>
            <a:off x="7945016" y="6344920"/>
            <a:ext cx="2316266" cy="294640"/>
          </a:xfrm>
          <a:prstGeom prst="bracketPair">
            <a:avLst/>
          </a:prstGeom>
          <a:solidFill>
            <a:srgbClr val="FFFF00"/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VALIDAR</a:t>
            </a:r>
            <a:endParaRPr lang="en-US" dirty="0"/>
          </a:p>
        </p:txBody>
      </p:sp>
      <p:pic>
        <p:nvPicPr>
          <p:cNvPr id="12" name="Picture 11" descr="unnamed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440" y="1768001"/>
            <a:ext cx="10007600" cy="2140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5967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801348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391654" y="181114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180000" y="92680"/>
            <a:ext cx="79857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 smtClean="0">
                <a:solidFill>
                  <a:schemeClr val="bg1"/>
                </a:solidFill>
                <a:latin typeface="+mj-lt"/>
                <a:cs typeface="Gotham Rounded Book"/>
              </a:rPr>
              <a:t>Fluxo de commit</a:t>
            </a:r>
            <a:endParaRPr lang="pt-BR" sz="2000" b="1" dirty="0">
              <a:solidFill>
                <a:schemeClr val="bg1"/>
              </a:solidFill>
              <a:latin typeface="+mj-lt"/>
              <a:cs typeface="Gotham Rounded Book"/>
            </a:endParaRPr>
          </a:p>
        </p:txBody>
      </p:sp>
      <p:sp>
        <p:nvSpPr>
          <p:cNvPr id="8" name="Double Bracket 7"/>
          <p:cNvSpPr/>
          <p:nvPr/>
        </p:nvSpPr>
        <p:spPr>
          <a:xfrm>
            <a:off x="8321040" y="6344920"/>
            <a:ext cx="2316266" cy="294640"/>
          </a:xfrm>
          <a:prstGeom prst="bracketPair">
            <a:avLst/>
          </a:prstGeom>
          <a:solidFill>
            <a:srgbClr val="FFFF00"/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VALIDAR</a:t>
            </a:r>
            <a:endParaRPr lang="en-US" dirty="0"/>
          </a:p>
        </p:txBody>
      </p:sp>
      <p:pic>
        <p:nvPicPr>
          <p:cNvPr id="5" name="Picture 4" descr="unnamed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0160" y="922574"/>
            <a:ext cx="7762240" cy="5458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9343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unnamed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7238" y="808352"/>
            <a:ext cx="6472941" cy="5928919"/>
          </a:xfrm>
          <a:prstGeom prst="rect">
            <a:avLst/>
          </a:prstGeom>
        </p:spPr>
      </p:pic>
      <p:grpSp>
        <p:nvGrpSpPr>
          <p:cNvPr id="2" name="Grupo 1"/>
          <p:cNvGrpSpPr/>
          <p:nvPr/>
        </p:nvGrpSpPr>
        <p:grpSpPr>
          <a:xfrm>
            <a:off x="2" y="-3"/>
            <a:ext cx="10801348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91654" y="181114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180000" y="92680"/>
            <a:ext cx="58304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 smtClean="0">
                <a:solidFill>
                  <a:schemeClr val="bg1"/>
                </a:solidFill>
                <a:latin typeface="+mj-lt"/>
                <a:cs typeface="Gotham Rounded Book"/>
              </a:rPr>
              <a:t>Fluxos de </a:t>
            </a:r>
            <a:r>
              <a:rPr lang="pt-BR" sz="2000" b="1" dirty="0">
                <a:solidFill>
                  <a:schemeClr val="bg1"/>
                </a:solidFill>
                <a:latin typeface="+mj-lt"/>
                <a:cs typeface="Gotham Rounded Book"/>
              </a:rPr>
              <a:t>p</a:t>
            </a:r>
            <a:r>
              <a:rPr lang="pt-BR" sz="2000" b="1" dirty="0" smtClean="0">
                <a:solidFill>
                  <a:schemeClr val="bg1"/>
                </a:solidFill>
                <a:latin typeface="+mj-lt"/>
                <a:cs typeface="Gotham Rounded Book"/>
              </a:rPr>
              <a:t>ull request</a:t>
            </a:r>
            <a:endParaRPr lang="pt-BR" sz="2000" b="1" dirty="0">
              <a:solidFill>
                <a:schemeClr val="bg1"/>
              </a:solidFill>
              <a:latin typeface="+mj-lt"/>
              <a:cs typeface="Gotham Rounded Book"/>
            </a:endParaRPr>
          </a:p>
        </p:txBody>
      </p:sp>
      <p:sp>
        <p:nvSpPr>
          <p:cNvPr id="8" name="Double Bracket 7"/>
          <p:cNvSpPr/>
          <p:nvPr/>
        </p:nvSpPr>
        <p:spPr>
          <a:xfrm>
            <a:off x="7945016" y="6344920"/>
            <a:ext cx="2316266" cy="294640"/>
          </a:xfrm>
          <a:prstGeom prst="bracketPair">
            <a:avLst/>
          </a:prstGeom>
          <a:solidFill>
            <a:srgbClr val="FFFF00"/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VALIDAR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1249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801348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391654" y="181114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180000" y="92680"/>
            <a:ext cx="58304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solidFill>
                  <a:schemeClr val="bg1"/>
                </a:solidFill>
                <a:latin typeface="+mj-lt"/>
              </a:rPr>
              <a:t>Fluxos de </a:t>
            </a:r>
            <a:r>
              <a:rPr lang="pt-BR" sz="2000" b="1" dirty="0" smtClean="0">
                <a:solidFill>
                  <a:schemeClr val="bg1"/>
                </a:solidFill>
                <a:latin typeface="+mj-lt"/>
              </a:rPr>
              <a:t>merge (</a:t>
            </a:r>
            <a:r>
              <a:rPr lang="pt-BR" sz="2000" b="1" dirty="0" err="1" smtClean="0">
                <a:solidFill>
                  <a:schemeClr val="bg1"/>
                </a:solidFill>
                <a:latin typeface="+mj-lt"/>
              </a:rPr>
              <a:t>back</a:t>
            </a:r>
            <a:r>
              <a:rPr lang="pt-BR" sz="2000" b="1" dirty="0" smtClean="0">
                <a:solidFill>
                  <a:schemeClr val="bg1"/>
                </a:solidFill>
                <a:latin typeface="+mj-lt"/>
              </a:rPr>
              <a:t>/</a:t>
            </a:r>
            <a:r>
              <a:rPr lang="pt-BR" sz="2000" b="1" dirty="0" err="1" smtClean="0">
                <a:solidFill>
                  <a:schemeClr val="bg1"/>
                </a:solidFill>
                <a:latin typeface="+mj-lt"/>
              </a:rPr>
              <a:t>master</a:t>
            </a:r>
            <a:r>
              <a:rPr lang="pt-BR" sz="2000" b="1" dirty="0">
                <a:solidFill>
                  <a:schemeClr val="bg1"/>
                </a:solidFill>
                <a:latin typeface="+mj-lt"/>
              </a:rPr>
              <a:t>)</a:t>
            </a:r>
          </a:p>
        </p:txBody>
      </p:sp>
      <p:sp>
        <p:nvSpPr>
          <p:cNvPr id="8" name="Double Bracket 7"/>
          <p:cNvSpPr/>
          <p:nvPr/>
        </p:nvSpPr>
        <p:spPr>
          <a:xfrm>
            <a:off x="7945016" y="6344920"/>
            <a:ext cx="2316266" cy="294640"/>
          </a:xfrm>
          <a:prstGeom prst="bracketPair">
            <a:avLst/>
          </a:prstGeom>
          <a:solidFill>
            <a:srgbClr val="FFFF00"/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VALIDAR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554211" y="1235364"/>
            <a:ext cx="9707071" cy="462972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pt-BR" sz="2400" dirty="0" smtClean="0">
                <a:latin typeface="+mj-lt"/>
              </a:rPr>
              <a:t>Deploy de scripts existentes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pt-BR" sz="2400" dirty="0" smtClean="0">
                <a:latin typeface="+mj-lt"/>
              </a:rPr>
              <a:t>Criação de repositório no </a:t>
            </a:r>
            <a:r>
              <a:rPr lang="pt-BR" sz="2400" dirty="0" err="1" smtClean="0">
                <a:latin typeface="+mj-lt"/>
              </a:rPr>
              <a:t>Git</a:t>
            </a:r>
            <a:endParaRPr lang="pt-BR" sz="2400" dirty="0" smtClean="0">
              <a:latin typeface="+mj-lt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pt-BR" sz="2400" dirty="0" smtClean="0">
                <a:latin typeface="+mj-lt"/>
              </a:rPr>
              <a:t>Criação de </a:t>
            </a:r>
            <a:r>
              <a:rPr lang="pt-BR" sz="2400" dirty="0" err="1" smtClean="0">
                <a:latin typeface="+mj-lt"/>
              </a:rPr>
              <a:t>branch</a:t>
            </a:r>
            <a:r>
              <a:rPr lang="pt-BR" sz="2400" dirty="0" smtClean="0">
                <a:latin typeface="+mj-lt"/>
              </a:rPr>
              <a:t> no </a:t>
            </a:r>
            <a:r>
              <a:rPr lang="pt-BR" sz="2400" dirty="0" err="1" smtClean="0">
                <a:latin typeface="+mj-lt"/>
              </a:rPr>
              <a:t>Git</a:t>
            </a:r>
            <a:endParaRPr lang="pt-BR" sz="2400" dirty="0" smtClean="0">
              <a:latin typeface="+mj-lt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pt-BR" sz="2400" dirty="0" smtClean="0">
                <a:latin typeface="+mj-lt"/>
              </a:rPr>
              <a:t>Criação de pull request no </a:t>
            </a:r>
            <a:r>
              <a:rPr lang="pt-BR" sz="2400" dirty="0" err="1" smtClean="0">
                <a:latin typeface="+mj-lt"/>
              </a:rPr>
              <a:t>Git</a:t>
            </a:r>
            <a:endParaRPr lang="pt-BR" sz="2400" dirty="0" smtClean="0">
              <a:latin typeface="+mj-lt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pt-BR" sz="2400" dirty="0" smtClean="0">
                <a:latin typeface="+mj-lt"/>
              </a:rPr>
              <a:t>Aprovação de pull request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pt-BR" sz="2400" dirty="0">
                <a:latin typeface="+mj-lt"/>
                <a:cs typeface="Gotham Rounded Book"/>
              </a:rPr>
              <a:t>Criação de pull request de merge </a:t>
            </a:r>
            <a:r>
              <a:rPr lang="pt-BR" sz="2400" dirty="0" err="1">
                <a:latin typeface="+mj-lt"/>
                <a:cs typeface="Gotham Rounded Book"/>
              </a:rPr>
              <a:t>back</a:t>
            </a:r>
            <a:r>
              <a:rPr lang="pt-BR" sz="2400" dirty="0">
                <a:latin typeface="+mj-lt"/>
                <a:cs typeface="Gotham Rounded Book"/>
              </a:rPr>
              <a:t> após commit na </a:t>
            </a:r>
            <a:r>
              <a:rPr lang="pt-BR" sz="2400" dirty="0" err="1" smtClean="0">
                <a:latin typeface="+mj-lt"/>
                <a:cs typeface="Gotham Rounded Book"/>
              </a:rPr>
              <a:t>master</a:t>
            </a:r>
            <a:endParaRPr lang="pt-BR" sz="2400" dirty="0" smtClean="0">
              <a:latin typeface="+mj-lt"/>
              <a:cs typeface="Gotham Rounded Book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pt-BR" sz="2400" dirty="0">
                <a:solidFill>
                  <a:srgbClr val="000000"/>
                </a:solidFill>
                <a:latin typeface="+mj-lt"/>
                <a:cs typeface="Gotham Rounded Book"/>
              </a:rPr>
              <a:t>Aprovação de pull request de merge </a:t>
            </a:r>
            <a:r>
              <a:rPr lang="pt-BR" sz="2400" dirty="0" err="1">
                <a:solidFill>
                  <a:srgbClr val="000000"/>
                </a:solidFill>
                <a:latin typeface="+mj-lt"/>
                <a:cs typeface="Gotham Rounded Book"/>
              </a:rPr>
              <a:t>back</a:t>
            </a:r>
            <a:r>
              <a:rPr lang="pt-BR" sz="2400" dirty="0">
                <a:solidFill>
                  <a:srgbClr val="000000"/>
                </a:solidFill>
                <a:latin typeface="+mj-lt"/>
                <a:cs typeface="Gotham Rounded Book"/>
              </a:rPr>
              <a:t> após commit na </a:t>
            </a:r>
            <a:r>
              <a:rPr lang="pt-BR" sz="2400" dirty="0" err="1" smtClean="0">
                <a:solidFill>
                  <a:srgbClr val="000000"/>
                </a:solidFill>
                <a:latin typeface="+mj-lt"/>
                <a:cs typeface="Gotham Rounded Book"/>
              </a:rPr>
              <a:t>master</a:t>
            </a:r>
            <a:endParaRPr lang="pt-BR" sz="2400" dirty="0" smtClean="0">
              <a:solidFill>
                <a:srgbClr val="00000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251972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801348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391654" y="181114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180000" y="92680"/>
            <a:ext cx="80200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 smtClean="0">
                <a:solidFill>
                  <a:schemeClr val="bg1"/>
                </a:solidFill>
                <a:latin typeface="+mj-lt"/>
                <a:cs typeface="Gotham Rounded Book"/>
              </a:rPr>
              <a:t>1. Deploy de scripts existentes</a:t>
            </a:r>
          </a:p>
        </p:txBody>
      </p:sp>
      <p:sp>
        <p:nvSpPr>
          <p:cNvPr id="8" name="Double Bracket 7"/>
          <p:cNvSpPr/>
          <p:nvPr/>
        </p:nvSpPr>
        <p:spPr>
          <a:xfrm>
            <a:off x="7945016" y="6344920"/>
            <a:ext cx="2316266" cy="294640"/>
          </a:xfrm>
          <a:prstGeom prst="bracketPair">
            <a:avLst/>
          </a:prstGeom>
          <a:solidFill>
            <a:srgbClr val="FFFF00"/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VALIDAR</a:t>
            </a:r>
            <a:endParaRPr lang="en-US" dirty="0"/>
          </a:p>
        </p:txBody>
      </p:sp>
      <p:pic>
        <p:nvPicPr>
          <p:cNvPr id="3" name="Picture 2" descr="unnamed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00" y="2604451"/>
            <a:ext cx="10537190" cy="837793"/>
          </a:xfrm>
          <a:prstGeom prst="rect">
            <a:avLst/>
          </a:prstGeom>
        </p:spPr>
      </p:pic>
      <p:sp>
        <p:nvSpPr>
          <p:cNvPr id="4" name="Folded Corner 3"/>
          <p:cNvSpPr/>
          <p:nvPr/>
        </p:nvSpPr>
        <p:spPr>
          <a:xfrm>
            <a:off x="180000" y="5529254"/>
            <a:ext cx="2048961" cy="1110306"/>
          </a:xfrm>
          <a:prstGeom prst="foldedCorne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pt-BR" sz="1200" dirty="0" smtClean="0">
                <a:solidFill>
                  <a:schemeClr val="accent6">
                    <a:lumMod val="50000"/>
                  </a:schemeClr>
                </a:solidFill>
              </a:rPr>
              <a:t>LEGENDA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0018665"/>
              </p:ext>
            </p:extLst>
          </p:nvPr>
        </p:nvGraphicFramePr>
        <p:xfrm>
          <a:off x="288401" y="5850727"/>
          <a:ext cx="1834576" cy="563880"/>
        </p:xfrm>
        <a:graphic>
          <a:graphicData uri="http://schemas.openxmlformats.org/drawingml/2006/table">
            <a:tbl>
              <a:tblPr>
                <a:effectLst/>
                <a:tableStyleId>{638B1855-1B75-4FBE-930C-398BA8C253C6}</a:tableStyleId>
              </a:tblPr>
              <a:tblGrid>
                <a:gridCol w="917288"/>
                <a:gridCol w="917288"/>
              </a:tblGrid>
              <a:tr h="281940">
                <a:tc>
                  <a:txBody>
                    <a:bodyPr/>
                    <a:lstStyle/>
                    <a:p>
                      <a:r>
                        <a:rPr lang="pt-BR" sz="1200" dirty="0" smtClean="0"/>
                        <a:t>automação</a:t>
                      </a:r>
                      <a:endParaRPr lang="pt-BR" sz="1200" dirty="0"/>
                    </a:p>
                  </a:txBody>
                  <a:tcPr>
                    <a:lnL w="3175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dirty="0" smtClean="0"/>
                        <a:t>ferramenta</a:t>
                      </a:r>
                      <a:endParaRPr lang="pt-BR" sz="1200" dirty="0"/>
                    </a:p>
                  </a:txBody>
                  <a:tcPr>
                    <a:lnL w="3175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</a:tr>
              <a:tr h="281940">
                <a:tc gridSpan="2">
                  <a:txBody>
                    <a:bodyPr/>
                    <a:lstStyle/>
                    <a:p>
                      <a:pPr algn="ctr"/>
                      <a:r>
                        <a:rPr lang="pt-BR" sz="1200" dirty="0" smtClean="0"/>
                        <a:t>ação</a:t>
                      </a:r>
                      <a:endParaRPr lang="pt-BR" sz="1200" dirty="0"/>
                    </a:p>
                  </a:txBody>
                  <a:tcPr>
                    <a:lnL w="3175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1457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801348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391654" y="181114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180000" y="92680"/>
            <a:ext cx="79857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 smtClean="0">
                <a:solidFill>
                  <a:schemeClr val="bg1"/>
                </a:solidFill>
                <a:latin typeface="+mj-lt"/>
                <a:cs typeface="Gotham Rounded Book"/>
              </a:rPr>
              <a:t>2. Criação de repositório no </a:t>
            </a:r>
            <a:r>
              <a:rPr lang="pt-BR" sz="2000" b="1" dirty="0" err="1" smtClean="0">
                <a:solidFill>
                  <a:schemeClr val="bg1"/>
                </a:solidFill>
                <a:latin typeface="+mj-lt"/>
                <a:cs typeface="Gotham Rounded Book"/>
              </a:rPr>
              <a:t>Git</a:t>
            </a:r>
            <a:endParaRPr lang="pt-BR" sz="2000" b="1" dirty="0">
              <a:solidFill>
                <a:schemeClr val="bg1"/>
              </a:solidFill>
              <a:latin typeface="+mj-lt"/>
              <a:cs typeface="Gotham Rounded Book"/>
            </a:endParaRPr>
          </a:p>
        </p:txBody>
      </p:sp>
      <p:sp>
        <p:nvSpPr>
          <p:cNvPr id="8" name="Double Bracket 7"/>
          <p:cNvSpPr/>
          <p:nvPr/>
        </p:nvSpPr>
        <p:spPr>
          <a:xfrm>
            <a:off x="7945016" y="6344920"/>
            <a:ext cx="2316266" cy="294640"/>
          </a:xfrm>
          <a:prstGeom prst="bracketPair">
            <a:avLst/>
          </a:prstGeom>
          <a:solidFill>
            <a:srgbClr val="FFFF00"/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VALIDAR</a:t>
            </a:r>
            <a:endParaRPr lang="en-US" dirty="0"/>
          </a:p>
        </p:txBody>
      </p:sp>
      <p:pic>
        <p:nvPicPr>
          <p:cNvPr id="3" name="Picture 2" descr="unnamed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00" y="1304276"/>
            <a:ext cx="10466070" cy="4043709"/>
          </a:xfrm>
          <a:prstGeom prst="rect">
            <a:avLst/>
          </a:prstGeom>
        </p:spPr>
      </p:pic>
      <p:sp>
        <p:nvSpPr>
          <p:cNvPr id="10" name="Folded Corner 9"/>
          <p:cNvSpPr/>
          <p:nvPr/>
        </p:nvSpPr>
        <p:spPr>
          <a:xfrm>
            <a:off x="180000" y="5529254"/>
            <a:ext cx="2048961" cy="1110306"/>
          </a:xfrm>
          <a:prstGeom prst="foldedCorne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pt-BR" sz="1200" dirty="0" smtClean="0">
                <a:solidFill>
                  <a:schemeClr val="accent6">
                    <a:lumMod val="50000"/>
                  </a:schemeClr>
                </a:solidFill>
              </a:rPr>
              <a:t>LEGENDA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2557303"/>
              </p:ext>
            </p:extLst>
          </p:nvPr>
        </p:nvGraphicFramePr>
        <p:xfrm>
          <a:off x="288401" y="5850727"/>
          <a:ext cx="1834576" cy="563880"/>
        </p:xfrm>
        <a:graphic>
          <a:graphicData uri="http://schemas.openxmlformats.org/drawingml/2006/table">
            <a:tbl>
              <a:tblPr>
                <a:effectLst/>
                <a:tableStyleId>{638B1855-1B75-4FBE-930C-398BA8C253C6}</a:tableStyleId>
              </a:tblPr>
              <a:tblGrid>
                <a:gridCol w="917288"/>
                <a:gridCol w="917288"/>
              </a:tblGrid>
              <a:tr h="281940">
                <a:tc>
                  <a:txBody>
                    <a:bodyPr/>
                    <a:lstStyle/>
                    <a:p>
                      <a:r>
                        <a:rPr lang="pt-BR" sz="1200" dirty="0" smtClean="0"/>
                        <a:t>automação</a:t>
                      </a:r>
                      <a:endParaRPr lang="pt-BR" sz="1200" dirty="0"/>
                    </a:p>
                  </a:txBody>
                  <a:tcPr>
                    <a:lnL w="3175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dirty="0" smtClean="0"/>
                        <a:t>ferramenta</a:t>
                      </a:r>
                      <a:endParaRPr lang="pt-BR" sz="1200" dirty="0"/>
                    </a:p>
                  </a:txBody>
                  <a:tcPr>
                    <a:lnL w="3175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</a:tr>
              <a:tr h="281940">
                <a:tc gridSpan="2">
                  <a:txBody>
                    <a:bodyPr/>
                    <a:lstStyle/>
                    <a:p>
                      <a:pPr algn="ctr"/>
                      <a:r>
                        <a:rPr lang="pt-BR" sz="1200" dirty="0" smtClean="0"/>
                        <a:t>ação</a:t>
                      </a:r>
                      <a:endParaRPr lang="pt-BR" sz="1200" dirty="0"/>
                    </a:p>
                  </a:txBody>
                  <a:tcPr>
                    <a:lnL w="3175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5046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801348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391654" y="181114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180000" y="92680"/>
            <a:ext cx="83515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 smtClean="0">
                <a:solidFill>
                  <a:schemeClr val="bg1"/>
                </a:solidFill>
                <a:latin typeface="+mj-lt"/>
                <a:cs typeface="Gotham Rounded Book"/>
              </a:rPr>
              <a:t>3. Criação de </a:t>
            </a:r>
            <a:r>
              <a:rPr lang="pt-BR" sz="2000" b="1" dirty="0" err="1" smtClean="0">
                <a:solidFill>
                  <a:schemeClr val="bg1"/>
                </a:solidFill>
                <a:latin typeface="+mj-lt"/>
                <a:cs typeface="Gotham Rounded Book"/>
              </a:rPr>
              <a:t>branch</a:t>
            </a:r>
            <a:r>
              <a:rPr lang="pt-BR" sz="2000" b="1" dirty="0" smtClean="0">
                <a:solidFill>
                  <a:schemeClr val="bg1"/>
                </a:solidFill>
                <a:latin typeface="+mj-lt"/>
                <a:cs typeface="Gotham Rounded Book"/>
              </a:rPr>
              <a:t> no </a:t>
            </a:r>
            <a:r>
              <a:rPr lang="pt-BR" sz="2000" b="1" dirty="0" err="1" smtClean="0">
                <a:solidFill>
                  <a:schemeClr val="bg1"/>
                </a:solidFill>
                <a:latin typeface="+mj-lt"/>
                <a:cs typeface="Gotham Rounded Book"/>
              </a:rPr>
              <a:t>Git</a:t>
            </a:r>
            <a:endParaRPr lang="pt-BR" sz="2000" b="1" dirty="0">
              <a:solidFill>
                <a:schemeClr val="bg1"/>
              </a:solidFill>
              <a:latin typeface="+mj-lt"/>
              <a:cs typeface="Gotham Rounded Book"/>
            </a:endParaRPr>
          </a:p>
        </p:txBody>
      </p:sp>
      <p:sp>
        <p:nvSpPr>
          <p:cNvPr id="8" name="Double Bracket 7"/>
          <p:cNvSpPr/>
          <p:nvPr/>
        </p:nvSpPr>
        <p:spPr>
          <a:xfrm>
            <a:off x="7945016" y="6344920"/>
            <a:ext cx="2316266" cy="294640"/>
          </a:xfrm>
          <a:prstGeom prst="bracketPair">
            <a:avLst/>
          </a:prstGeom>
          <a:solidFill>
            <a:srgbClr val="FFFF00"/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VALIDAR</a:t>
            </a:r>
            <a:endParaRPr lang="en-US" dirty="0"/>
          </a:p>
        </p:txBody>
      </p:sp>
      <p:pic>
        <p:nvPicPr>
          <p:cNvPr id="3" name="Picture 2" descr="unnamed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40" y="2973967"/>
            <a:ext cx="10621350" cy="860241"/>
          </a:xfrm>
          <a:prstGeom prst="rect">
            <a:avLst/>
          </a:prstGeom>
        </p:spPr>
      </p:pic>
      <p:sp>
        <p:nvSpPr>
          <p:cNvPr id="10" name="Folded Corner 9"/>
          <p:cNvSpPr/>
          <p:nvPr/>
        </p:nvSpPr>
        <p:spPr>
          <a:xfrm>
            <a:off x="180000" y="5529254"/>
            <a:ext cx="2048961" cy="1110306"/>
          </a:xfrm>
          <a:prstGeom prst="foldedCorne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pt-BR" sz="1200" dirty="0" smtClean="0">
                <a:solidFill>
                  <a:schemeClr val="accent6">
                    <a:lumMod val="50000"/>
                  </a:schemeClr>
                </a:solidFill>
              </a:rPr>
              <a:t>LEGENDA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1844769"/>
              </p:ext>
            </p:extLst>
          </p:nvPr>
        </p:nvGraphicFramePr>
        <p:xfrm>
          <a:off x="288401" y="5850727"/>
          <a:ext cx="1834576" cy="563880"/>
        </p:xfrm>
        <a:graphic>
          <a:graphicData uri="http://schemas.openxmlformats.org/drawingml/2006/table">
            <a:tbl>
              <a:tblPr>
                <a:effectLst/>
                <a:tableStyleId>{638B1855-1B75-4FBE-930C-398BA8C253C6}</a:tableStyleId>
              </a:tblPr>
              <a:tblGrid>
                <a:gridCol w="917288"/>
                <a:gridCol w="917288"/>
              </a:tblGrid>
              <a:tr h="281940">
                <a:tc>
                  <a:txBody>
                    <a:bodyPr/>
                    <a:lstStyle/>
                    <a:p>
                      <a:r>
                        <a:rPr lang="pt-BR" sz="1200" dirty="0" smtClean="0"/>
                        <a:t>automação</a:t>
                      </a:r>
                      <a:endParaRPr lang="pt-BR" sz="1200" dirty="0"/>
                    </a:p>
                  </a:txBody>
                  <a:tcPr>
                    <a:lnL w="3175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dirty="0" smtClean="0"/>
                        <a:t>ferramenta</a:t>
                      </a:r>
                      <a:endParaRPr lang="pt-BR" sz="1200" dirty="0"/>
                    </a:p>
                  </a:txBody>
                  <a:tcPr>
                    <a:lnL w="3175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</a:tr>
              <a:tr h="281940">
                <a:tc gridSpan="2">
                  <a:txBody>
                    <a:bodyPr/>
                    <a:lstStyle/>
                    <a:p>
                      <a:pPr algn="ctr"/>
                      <a:r>
                        <a:rPr lang="pt-BR" sz="1200" dirty="0" smtClean="0"/>
                        <a:t>ação</a:t>
                      </a:r>
                      <a:endParaRPr lang="pt-BR" sz="1200" dirty="0"/>
                    </a:p>
                  </a:txBody>
                  <a:tcPr>
                    <a:lnL w="3175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5046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801348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391654" y="181114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180000" y="92680"/>
            <a:ext cx="7670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 smtClean="0">
                <a:solidFill>
                  <a:schemeClr val="bg1"/>
                </a:solidFill>
                <a:latin typeface="+mj-lt"/>
                <a:cs typeface="Gotham Rounded Book"/>
              </a:rPr>
              <a:t>4. Criação de pull request no </a:t>
            </a:r>
            <a:r>
              <a:rPr lang="pt-BR" sz="2000" b="1" dirty="0" err="1" smtClean="0">
                <a:solidFill>
                  <a:schemeClr val="bg1"/>
                </a:solidFill>
                <a:latin typeface="+mj-lt"/>
                <a:cs typeface="Gotham Rounded Book"/>
              </a:rPr>
              <a:t>git</a:t>
            </a:r>
            <a:endParaRPr lang="pt-BR" sz="2000" b="1" dirty="0">
              <a:solidFill>
                <a:schemeClr val="bg1"/>
              </a:solidFill>
              <a:latin typeface="+mj-lt"/>
              <a:cs typeface="Gotham Rounded Book"/>
            </a:endParaRPr>
          </a:p>
        </p:txBody>
      </p:sp>
      <p:sp>
        <p:nvSpPr>
          <p:cNvPr id="8" name="Double Bracket 7"/>
          <p:cNvSpPr/>
          <p:nvPr/>
        </p:nvSpPr>
        <p:spPr>
          <a:xfrm>
            <a:off x="7945016" y="6344920"/>
            <a:ext cx="2316266" cy="294640"/>
          </a:xfrm>
          <a:prstGeom prst="bracketPair">
            <a:avLst/>
          </a:prstGeom>
          <a:solidFill>
            <a:srgbClr val="FFFF00"/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VALIDAR</a:t>
            </a:r>
            <a:endParaRPr lang="en-US" dirty="0"/>
          </a:p>
        </p:txBody>
      </p:sp>
      <p:pic>
        <p:nvPicPr>
          <p:cNvPr id="3" name="Picture 2" descr="unnamed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00" y="2973600"/>
            <a:ext cx="10556240" cy="854968"/>
          </a:xfrm>
          <a:prstGeom prst="rect">
            <a:avLst/>
          </a:prstGeom>
        </p:spPr>
      </p:pic>
      <p:sp>
        <p:nvSpPr>
          <p:cNvPr id="10" name="Folded Corner 9"/>
          <p:cNvSpPr/>
          <p:nvPr/>
        </p:nvSpPr>
        <p:spPr>
          <a:xfrm>
            <a:off x="180000" y="5529254"/>
            <a:ext cx="2048961" cy="1110306"/>
          </a:xfrm>
          <a:prstGeom prst="foldedCorne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pt-BR" sz="1200" dirty="0" smtClean="0">
                <a:solidFill>
                  <a:schemeClr val="accent6">
                    <a:lumMod val="50000"/>
                  </a:schemeClr>
                </a:solidFill>
              </a:rPr>
              <a:t>LEGENDA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1844769"/>
              </p:ext>
            </p:extLst>
          </p:nvPr>
        </p:nvGraphicFramePr>
        <p:xfrm>
          <a:off x="288401" y="5850727"/>
          <a:ext cx="1834576" cy="563880"/>
        </p:xfrm>
        <a:graphic>
          <a:graphicData uri="http://schemas.openxmlformats.org/drawingml/2006/table">
            <a:tbl>
              <a:tblPr>
                <a:effectLst/>
                <a:tableStyleId>{638B1855-1B75-4FBE-930C-398BA8C253C6}</a:tableStyleId>
              </a:tblPr>
              <a:tblGrid>
                <a:gridCol w="917288"/>
                <a:gridCol w="917288"/>
              </a:tblGrid>
              <a:tr h="281940">
                <a:tc>
                  <a:txBody>
                    <a:bodyPr/>
                    <a:lstStyle/>
                    <a:p>
                      <a:r>
                        <a:rPr lang="pt-BR" sz="1200" dirty="0" smtClean="0"/>
                        <a:t>automação</a:t>
                      </a:r>
                      <a:endParaRPr lang="pt-BR" sz="1200" dirty="0"/>
                    </a:p>
                  </a:txBody>
                  <a:tcPr>
                    <a:lnL w="3175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dirty="0" smtClean="0"/>
                        <a:t>ferramenta</a:t>
                      </a:r>
                      <a:endParaRPr lang="pt-BR" sz="1200" dirty="0"/>
                    </a:p>
                  </a:txBody>
                  <a:tcPr>
                    <a:lnL w="3175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</a:tr>
              <a:tr h="281940">
                <a:tc gridSpan="2">
                  <a:txBody>
                    <a:bodyPr/>
                    <a:lstStyle/>
                    <a:p>
                      <a:pPr algn="ctr"/>
                      <a:r>
                        <a:rPr lang="pt-BR" sz="1200" dirty="0" smtClean="0"/>
                        <a:t>ação</a:t>
                      </a:r>
                      <a:endParaRPr lang="pt-BR" sz="1200" dirty="0"/>
                    </a:p>
                  </a:txBody>
                  <a:tcPr>
                    <a:lnL w="3175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5046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801348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391654" y="181114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180000" y="92680"/>
            <a:ext cx="81178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 smtClean="0">
                <a:solidFill>
                  <a:schemeClr val="bg1"/>
                </a:solidFill>
                <a:latin typeface="+mj-lt"/>
                <a:cs typeface="Gotham Rounded Book"/>
              </a:rPr>
              <a:t>5. Rundeck – </a:t>
            </a:r>
            <a:r>
              <a:rPr lang="pt-BR" sz="2000" b="1" dirty="0" err="1" smtClean="0">
                <a:solidFill>
                  <a:schemeClr val="bg1"/>
                </a:solidFill>
                <a:latin typeface="+mj-lt"/>
                <a:cs typeface="Gotham Rounded Book"/>
              </a:rPr>
              <a:t>Checklist</a:t>
            </a:r>
            <a:r>
              <a:rPr lang="pt-BR" sz="2000" b="1" dirty="0" smtClean="0">
                <a:solidFill>
                  <a:schemeClr val="bg1"/>
                </a:solidFill>
                <a:latin typeface="+mj-lt"/>
                <a:cs typeface="Gotham Rounded Book"/>
              </a:rPr>
              <a:t> do pull request</a:t>
            </a:r>
            <a:endParaRPr lang="pt-BR" sz="2000" b="1" dirty="0">
              <a:solidFill>
                <a:schemeClr val="bg1"/>
              </a:solidFill>
              <a:latin typeface="+mj-lt"/>
              <a:cs typeface="Gotham Rounded Book"/>
            </a:endParaRPr>
          </a:p>
        </p:txBody>
      </p:sp>
      <p:sp>
        <p:nvSpPr>
          <p:cNvPr id="8" name="Double Bracket 7"/>
          <p:cNvSpPr/>
          <p:nvPr/>
        </p:nvSpPr>
        <p:spPr>
          <a:xfrm>
            <a:off x="7945016" y="6344920"/>
            <a:ext cx="2316266" cy="294640"/>
          </a:xfrm>
          <a:prstGeom prst="bracketPair">
            <a:avLst/>
          </a:prstGeom>
          <a:solidFill>
            <a:srgbClr val="FFFF00"/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NÃO DEFINIDO</a:t>
            </a:r>
            <a:endParaRPr lang="en-US" dirty="0"/>
          </a:p>
        </p:txBody>
      </p:sp>
      <p:sp>
        <p:nvSpPr>
          <p:cNvPr id="10" name="Folded Corner 9"/>
          <p:cNvSpPr/>
          <p:nvPr/>
        </p:nvSpPr>
        <p:spPr>
          <a:xfrm>
            <a:off x="180000" y="5529254"/>
            <a:ext cx="2048961" cy="1110306"/>
          </a:xfrm>
          <a:prstGeom prst="foldedCorne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pt-BR" sz="1200" dirty="0" smtClean="0">
                <a:solidFill>
                  <a:schemeClr val="accent6">
                    <a:lumMod val="50000"/>
                  </a:schemeClr>
                </a:solidFill>
              </a:rPr>
              <a:t>LEGENDA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1844769"/>
              </p:ext>
            </p:extLst>
          </p:nvPr>
        </p:nvGraphicFramePr>
        <p:xfrm>
          <a:off x="288401" y="5850727"/>
          <a:ext cx="1834576" cy="563880"/>
        </p:xfrm>
        <a:graphic>
          <a:graphicData uri="http://schemas.openxmlformats.org/drawingml/2006/table">
            <a:tbl>
              <a:tblPr>
                <a:effectLst/>
                <a:tableStyleId>{638B1855-1B75-4FBE-930C-398BA8C253C6}</a:tableStyleId>
              </a:tblPr>
              <a:tblGrid>
                <a:gridCol w="917288"/>
                <a:gridCol w="917288"/>
              </a:tblGrid>
              <a:tr h="281940">
                <a:tc>
                  <a:txBody>
                    <a:bodyPr/>
                    <a:lstStyle/>
                    <a:p>
                      <a:r>
                        <a:rPr lang="pt-BR" sz="1200" dirty="0" smtClean="0"/>
                        <a:t>automação</a:t>
                      </a:r>
                      <a:endParaRPr lang="pt-BR" sz="1200" dirty="0"/>
                    </a:p>
                  </a:txBody>
                  <a:tcPr>
                    <a:lnL w="3175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dirty="0" smtClean="0"/>
                        <a:t>ferramenta</a:t>
                      </a:r>
                      <a:endParaRPr lang="pt-BR" sz="1200" dirty="0"/>
                    </a:p>
                  </a:txBody>
                  <a:tcPr>
                    <a:lnL w="3175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</a:tr>
              <a:tr h="281940">
                <a:tc gridSpan="2">
                  <a:txBody>
                    <a:bodyPr/>
                    <a:lstStyle/>
                    <a:p>
                      <a:pPr algn="ctr"/>
                      <a:r>
                        <a:rPr lang="pt-BR" sz="1200" dirty="0" smtClean="0"/>
                        <a:t>ação</a:t>
                      </a:r>
                      <a:endParaRPr lang="pt-BR" sz="1200" dirty="0"/>
                    </a:p>
                  </a:txBody>
                  <a:tcPr>
                    <a:lnL w="3175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CaixaDeTexto 2"/>
          <p:cNvSpPr txBox="1"/>
          <p:nvPr/>
        </p:nvSpPr>
        <p:spPr>
          <a:xfrm>
            <a:off x="1059873" y="1863436"/>
            <a:ext cx="92014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Este fluxo não foi construído nesta etapa do projeto conforme alinhamento entre </a:t>
            </a:r>
            <a:r>
              <a:rPr lang="pt-BR" dirty="0" err="1" smtClean="0"/>
              <a:t>Isnard,Gustavo</a:t>
            </a:r>
            <a:r>
              <a:rPr lang="pt-BR" dirty="0" smtClean="0"/>
              <a:t>, Davi e </a:t>
            </a:r>
            <a:r>
              <a:rPr lang="pt-BR" dirty="0" err="1" smtClean="0"/>
              <a:t>Nícolas</a:t>
            </a:r>
            <a:r>
              <a:rPr lang="pt-BR" dirty="0" smtClean="0"/>
              <a:t> </a:t>
            </a:r>
            <a:r>
              <a:rPr lang="pt-BR" smtClean="0"/>
              <a:t>em 17/02/2017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25046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801348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391654" y="181114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180000" y="92680"/>
            <a:ext cx="81787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 smtClean="0">
                <a:solidFill>
                  <a:schemeClr val="bg1"/>
                </a:solidFill>
                <a:latin typeface="+mj-lt"/>
                <a:cs typeface="Gotham Rounded Book"/>
              </a:rPr>
              <a:t>5. Aprovação do pull request</a:t>
            </a:r>
            <a:endParaRPr lang="pt-BR" sz="2000" b="1" dirty="0">
              <a:solidFill>
                <a:schemeClr val="bg1"/>
              </a:solidFill>
              <a:latin typeface="+mj-lt"/>
              <a:cs typeface="Gotham Rounded Book"/>
            </a:endParaRPr>
          </a:p>
        </p:txBody>
      </p:sp>
      <p:sp>
        <p:nvSpPr>
          <p:cNvPr id="8" name="Double Bracket 7"/>
          <p:cNvSpPr/>
          <p:nvPr/>
        </p:nvSpPr>
        <p:spPr>
          <a:xfrm>
            <a:off x="7945016" y="6344920"/>
            <a:ext cx="2316266" cy="294640"/>
          </a:xfrm>
          <a:prstGeom prst="bracketPair">
            <a:avLst/>
          </a:prstGeom>
          <a:solidFill>
            <a:srgbClr val="FFFF00"/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NÃO INICIADO</a:t>
            </a:r>
            <a:endParaRPr lang="en-US" dirty="0"/>
          </a:p>
        </p:txBody>
      </p:sp>
      <p:sp>
        <p:nvSpPr>
          <p:cNvPr id="10" name="Folded Corner 9"/>
          <p:cNvSpPr/>
          <p:nvPr/>
        </p:nvSpPr>
        <p:spPr>
          <a:xfrm>
            <a:off x="180000" y="5529254"/>
            <a:ext cx="2048961" cy="1110306"/>
          </a:xfrm>
          <a:prstGeom prst="foldedCorne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pt-BR" sz="1200" dirty="0" smtClean="0">
                <a:solidFill>
                  <a:schemeClr val="accent6">
                    <a:lumMod val="50000"/>
                  </a:schemeClr>
                </a:solidFill>
              </a:rPr>
              <a:t>LEGENDA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1844769"/>
              </p:ext>
            </p:extLst>
          </p:nvPr>
        </p:nvGraphicFramePr>
        <p:xfrm>
          <a:off x="288401" y="5850727"/>
          <a:ext cx="1834576" cy="563880"/>
        </p:xfrm>
        <a:graphic>
          <a:graphicData uri="http://schemas.openxmlformats.org/drawingml/2006/table">
            <a:tbl>
              <a:tblPr>
                <a:effectLst/>
                <a:tableStyleId>{638B1855-1B75-4FBE-930C-398BA8C253C6}</a:tableStyleId>
              </a:tblPr>
              <a:tblGrid>
                <a:gridCol w="917288"/>
                <a:gridCol w="917288"/>
              </a:tblGrid>
              <a:tr h="281940">
                <a:tc>
                  <a:txBody>
                    <a:bodyPr/>
                    <a:lstStyle/>
                    <a:p>
                      <a:r>
                        <a:rPr lang="pt-BR" sz="1200" dirty="0" smtClean="0"/>
                        <a:t>automação</a:t>
                      </a:r>
                      <a:endParaRPr lang="pt-BR" sz="1200" dirty="0"/>
                    </a:p>
                  </a:txBody>
                  <a:tcPr>
                    <a:lnL w="3175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dirty="0" smtClean="0"/>
                        <a:t>ferramenta</a:t>
                      </a:r>
                      <a:endParaRPr lang="pt-BR" sz="1200" dirty="0"/>
                    </a:p>
                  </a:txBody>
                  <a:tcPr>
                    <a:lnL w="3175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</a:tr>
              <a:tr h="281940">
                <a:tc gridSpan="2">
                  <a:txBody>
                    <a:bodyPr/>
                    <a:lstStyle/>
                    <a:p>
                      <a:pPr algn="ctr"/>
                      <a:r>
                        <a:rPr lang="pt-BR" sz="1200" dirty="0" smtClean="0"/>
                        <a:t>ação</a:t>
                      </a:r>
                      <a:endParaRPr lang="pt-BR" sz="1200" dirty="0"/>
                    </a:p>
                  </a:txBody>
                  <a:tcPr>
                    <a:lnL w="3175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2" name="Picture 11" descr="unnamed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00" y="3088110"/>
            <a:ext cx="10621350" cy="860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5046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801348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391654" y="181114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180000" y="92680"/>
            <a:ext cx="84023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 smtClean="0">
                <a:solidFill>
                  <a:schemeClr val="bg1"/>
                </a:solidFill>
                <a:latin typeface="+mj-lt"/>
                <a:cs typeface="Gotham Rounded Book"/>
              </a:rPr>
              <a:t>6. Criação de pull request de merge </a:t>
            </a:r>
            <a:r>
              <a:rPr lang="pt-BR" sz="2000" b="1" dirty="0" err="1" smtClean="0">
                <a:solidFill>
                  <a:schemeClr val="bg1"/>
                </a:solidFill>
                <a:latin typeface="+mj-lt"/>
                <a:cs typeface="Gotham Rounded Book"/>
              </a:rPr>
              <a:t>back</a:t>
            </a:r>
            <a:r>
              <a:rPr lang="pt-BR" sz="2000" b="1" dirty="0" smtClean="0">
                <a:solidFill>
                  <a:schemeClr val="bg1"/>
                </a:solidFill>
                <a:latin typeface="+mj-lt"/>
                <a:cs typeface="Gotham Rounded Book"/>
              </a:rPr>
              <a:t> após commit na </a:t>
            </a:r>
            <a:r>
              <a:rPr lang="pt-BR" sz="2000" b="1" dirty="0" err="1" smtClean="0">
                <a:solidFill>
                  <a:schemeClr val="bg1"/>
                </a:solidFill>
                <a:latin typeface="+mj-lt"/>
                <a:cs typeface="Gotham Rounded Book"/>
              </a:rPr>
              <a:t>master</a:t>
            </a:r>
            <a:endParaRPr lang="pt-BR" sz="1400" b="1" dirty="0">
              <a:solidFill>
                <a:schemeClr val="bg1"/>
              </a:solidFill>
              <a:latin typeface="+mj-lt"/>
              <a:cs typeface="Gotham Rounded Book"/>
            </a:endParaRPr>
          </a:p>
        </p:txBody>
      </p:sp>
      <p:sp>
        <p:nvSpPr>
          <p:cNvPr id="8" name="Double Bracket 7"/>
          <p:cNvSpPr/>
          <p:nvPr/>
        </p:nvSpPr>
        <p:spPr>
          <a:xfrm>
            <a:off x="7945016" y="6344920"/>
            <a:ext cx="2316266" cy="294640"/>
          </a:xfrm>
          <a:prstGeom prst="bracketPair">
            <a:avLst/>
          </a:prstGeom>
          <a:solidFill>
            <a:srgbClr val="FFFF00"/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NÃO INICIADO</a:t>
            </a:r>
            <a:endParaRPr lang="en-US" dirty="0"/>
          </a:p>
        </p:txBody>
      </p:sp>
      <p:sp>
        <p:nvSpPr>
          <p:cNvPr id="10" name="Folded Corner 9"/>
          <p:cNvSpPr/>
          <p:nvPr/>
        </p:nvSpPr>
        <p:spPr>
          <a:xfrm>
            <a:off x="180000" y="5529254"/>
            <a:ext cx="2048961" cy="1110306"/>
          </a:xfrm>
          <a:prstGeom prst="foldedCorne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pt-BR" sz="1200" dirty="0" smtClean="0">
                <a:solidFill>
                  <a:schemeClr val="accent6">
                    <a:lumMod val="50000"/>
                  </a:schemeClr>
                </a:solidFill>
              </a:rPr>
              <a:t>LEGENDA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1844769"/>
              </p:ext>
            </p:extLst>
          </p:nvPr>
        </p:nvGraphicFramePr>
        <p:xfrm>
          <a:off x="288401" y="5850727"/>
          <a:ext cx="1834576" cy="563880"/>
        </p:xfrm>
        <a:graphic>
          <a:graphicData uri="http://schemas.openxmlformats.org/drawingml/2006/table">
            <a:tbl>
              <a:tblPr>
                <a:effectLst/>
                <a:tableStyleId>{638B1855-1B75-4FBE-930C-398BA8C253C6}</a:tableStyleId>
              </a:tblPr>
              <a:tblGrid>
                <a:gridCol w="917288"/>
                <a:gridCol w="917288"/>
              </a:tblGrid>
              <a:tr h="281940">
                <a:tc>
                  <a:txBody>
                    <a:bodyPr/>
                    <a:lstStyle/>
                    <a:p>
                      <a:r>
                        <a:rPr lang="pt-BR" sz="1200" dirty="0" smtClean="0"/>
                        <a:t>automação</a:t>
                      </a:r>
                      <a:endParaRPr lang="pt-BR" sz="1200" dirty="0"/>
                    </a:p>
                  </a:txBody>
                  <a:tcPr>
                    <a:lnL w="3175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dirty="0" smtClean="0"/>
                        <a:t>ferramenta</a:t>
                      </a:r>
                      <a:endParaRPr lang="pt-BR" sz="1200" dirty="0"/>
                    </a:p>
                  </a:txBody>
                  <a:tcPr>
                    <a:lnL w="3175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</a:tr>
              <a:tr h="281940">
                <a:tc gridSpan="2">
                  <a:txBody>
                    <a:bodyPr/>
                    <a:lstStyle/>
                    <a:p>
                      <a:pPr algn="ctr"/>
                      <a:r>
                        <a:rPr lang="pt-BR" sz="1200" dirty="0" smtClean="0"/>
                        <a:t>ação</a:t>
                      </a:r>
                      <a:endParaRPr lang="pt-BR" sz="1200" dirty="0"/>
                    </a:p>
                  </a:txBody>
                  <a:tcPr>
                    <a:lnL w="3175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3" name="Picture 2" descr="unnamed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60" y="2838528"/>
            <a:ext cx="10621350" cy="860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5046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unnamed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600" y="1011140"/>
            <a:ext cx="10130790" cy="4952429"/>
          </a:xfrm>
          <a:prstGeom prst="rect">
            <a:avLst/>
          </a:prstGeom>
        </p:spPr>
      </p:pic>
      <p:grpSp>
        <p:nvGrpSpPr>
          <p:cNvPr id="2" name="Grupo 1"/>
          <p:cNvGrpSpPr/>
          <p:nvPr/>
        </p:nvGrpSpPr>
        <p:grpSpPr>
          <a:xfrm>
            <a:off x="2" y="-3"/>
            <a:ext cx="10801348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91654" y="181114"/>
              <a:ext cx="843390" cy="334448"/>
            </a:xfrm>
            <a:prstGeom prst="rect">
              <a:avLst/>
            </a:prstGeom>
          </p:spPr>
        </p:pic>
      </p:grpSp>
      <p:sp>
        <p:nvSpPr>
          <p:cNvPr id="8" name="TextBox 7"/>
          <p:cNvSpPr txBox="1"/>
          <p:nvPr/>
        </p:nvSpPr>
        <p:spPr>
          <a:xfrm>
            <a:off x="180000" y="90000"/>
            <a:ext cx="85485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solidFill>
                  <a:schemeClr val="bg1"/>
                </a:solidFill>
                <a:latin typeface="+mj-lt"/>
                <a:cs typeface="Gotham Rounded Book"/>
              </a:rPr>
              <a:t>7</a:t>
            </a:r>
            <a:r>
              <a:rPr lang="pt-BR" sz="2000" b="1" dirty="0" smtClean="0">
                <a:solidFill>
                  <a:schemeClr val="bg1"/>
                </a:solidFill>
                <a:latin typeface="+mj-lt"/>
                <a:cs typeface="Gotham Rounded Book"/>
              </a:rPr>
              <a:t>. Aprovação de pull request de merge </a:t>
            </a:r>
            <a:r>
              <a:rPr lang="pt-BR" sz="2000" b="1" dirty="0" err="1" smtClean="0">
                <a:solidFill>
                  <a:schemeClr val="bg1"/>
                </a:solidFill>
                <a:latin typeface="+mj-lt"/>
                <a:cs typeface="Gotham Rounded Book"/>
              </a:rPr>
              <a:t>back</a:t>
            </a:r>
            <a:r>
              <a:rPr lang="pt-BR" sz="2000" b="1" dirty="0" smtClean="0">
                <a:solidFill>
                  <a:schemeClr val="bg1"/>
                </a:solidFill>
                <a:latin typeface="+mj-lt"/>
                <a:cs typeface="Gotham Rounded Book"/>
              </a:rPr>
              <a:t> após commit na </a:t>
            </a:r>
            <a:r>
              <a:rPr lang="pt-BR" sz="2000" b="1" dirty="0" err="1" smtClean="0">
                <a:solidFill>
                  <a:schemeClr val="bg1"/>
                </a:solidFill>
                <a:latin typeface="+mj-lt"/>
                <a:cs typeface="Gotham Rounded Book"/>
              </a:rPr>
              <a:t>master</a:t>
            </a:r>
            <a:endParaRPr lang="pt-BR" sz="1400" b="1" dirty="0">
              <a:solidFill>
                <a:schemeClr val="bg1"/>
              </a:solidFill>
              <a:latin typeface="+mj-lt"/>
              <a:cs typeface="Gotham Rounded Book"/>
            </a:endParaRPr>
          </a:p>
        </p:txBody>
      </p:sp>
      <p:sp>
        <p:nvSpPr>
          <p:cNvPr id="10" name="Double Bracket 9"/>
          <p:cNvSpPr/>
          <p:nvPr/>
        </p:nvSpPr>
        <p:spPr>
          <a:xfrm>
            <a:off x="7924800" y="6344920"/>
            <a:ext cx="2336482" cy="294640"/>
          </a:xfrm>
          <a:prstGeom prst="bracketPair">
            <a:avLst/>
          </a:prstGeom>
          <a:solidFill>
            <a:srgbClr val="FFFF00"/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DESENVOVLIMENTO</a:t>
            </a:r>
            <a:endParaRPr lang="en-US" dirty="0"/>
          </a:p>
        </p:txBody>
      </p:sp>
      <p:sp>
        <p:nvSpPr>
          <p:cNvPr id="11" name="Double Bracket 10"/>
          <p:cNvSpPr/>
          <p:nvPr/>
        </p:nvSpPr>
        <p:spPr>
          <a:xfrm>
            <a:off x="7945016" y="6344920"/>
            <a:ext cx="2316266" cy="294640"/>
          </a:xfrm>
          <a:prstGeom prst="bracketPair">
            <a:avLst/>
          </a:prstGeom>
          <a:solidFill>
            <a:srgbClr val="FFFF00"/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NÃO INICIADO</a:t>
            </a:r>
            <a:endParaRPr lang="en-US" dirty="0"/>
          </a:p>
        </p:txBody>
      </p:sp>
      <p:sp>
        <p:nvSpPr>
          <p:cNvPr id="9" name="Folded Corner 8"/>
          <p:cNvSpPr/>
          <p:nvPr/>
        </p:nvSpPr>
        <p:spPr>
          <a:xfrm>
            <a:off x="180000" y="5529254"/>
            <a:ext cx="2048961" cy="1110306"/>
          </a:xfrm>
          <a:prstGeom prst="foldedCorne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pt-BR" sz="1200" dirty="0" smtClean="0">
                <a:solidFill>
                  <a:schemeClr val="accent6">
                    <a:lumMod val="50000"/>
                  </a:schemeClr>
                </a:solidFill>
              </a:rPr>
              <a:t>LEGENDA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1844769"/>
              </p:ext>
            </p:extLst>
          </p:nvPr>
        </p:nvGraphicFramePr>
        <p:xfrm>
          <a:off x="288401" y="5850727"/>
          <a:ext cx="1834576" cy="563880"/>
        </p:xfrm>
        <a:graphic>
          <a:graphicData uri="http://schemas.openxmlformats.org/drawingml/2006/table">
            <a:tbl>
              <a:tblPr>
                <a:effectLst/>
                <a:tableStyleId>{638B1855-1B75-4FBE-930C-398BA8C253C6}</a:tableStyleId>
              </a:tblPr>
              <a:tblGrid>
                <a:gridCol w="917288"/>
                <a:gridCol w="917288"/>
              </a:tblGrid>
              <a:tr h="281940">
                <a:tc>
                  <a:txBody>
                    <a:bodyPr/>
                    <a:lstStyle/>
                    <a:p>
                      <a:r>
                        <a:rPr lang="pt-BR" sz="1200" dirty="0" smtClean="0"/>
                        <a:t>automação</a:t>
                      </a:r>
                      <a:endParaRPr lang="pt-BR" sz="1200" dirty="0"/>
                    </a:p>
                  </a:txBody>
                  <a:tcPr>
                    <a:lnL w="3175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dirty="0" smtClean="0"/>
                        <a:t>ferramenta</a:t>
                      </a:r>
                      <a:endParaRPr lang="pt-BR" sz="1200" dirty="0"/>
                    </a:p>
                  </a:txBody>
                  <a:tcPr>
                    <a:lnL w="3175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</a:tr>
              <a:tr h="281940">
                <a:tc gridSpan="2">
                  <a:txBody>
                    <a:bodyPr/>
                    <a:lstStyle/>
                    <a:p>
                      <a:pPr algn="ctr"/>
                      <a:r>
                        <a:rPr lang="pt-BR" sz="1200" dirty="0" smtClean="0"/>
                        <a:t>ação</a:t>
                      </a:r>
                      <a:endParaRPr lang="pt-BR" sz="1200" dirty="0"/>
                    </a:p>
                  </a:txBody>
                  <a:tcPr>
                    <a:lnL w="3175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5046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801348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391654" y="181114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180000" y="92680"/>
            <a:ext cx="58304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solidFill>
                  <a:srgbClr val="FFFFFF"/>
                </a:solidFill>
                <a:latin typeface="+mj-lt"/>
              </a:rPr>
              <a:t>Fluxos de </a:t>
            </a:r>
            <a:r>
              <a:rPr lang="pt-BR" sz="2000" b="1" dirty="0" smtClean="0">
                <a:solidFill>
                  <a:srgbClr val="FFFFFF"/>
                </a:solidFill>
                <a:latin typeface="+mj-lt"/>
              </a:rPr>
              <a:t>deploy não produtivo</a:t>
            </a:r>
            <a:endParaRPr lang="pt-BR" sz="2000" b="1" dirty="0">
              <a:solidFill>
                <a:srgbClr val="FFFFFF"/>
              </a:solidFill>
              <a:latin typeface="+mj-lt"/>
            </a:endParaRPr>
          </a:p>
        </p:txBody>
      </p:sp>
      <p:sp>
        <p:nvSpPr>
          <p:cNvPr id="8" name="Double Bracket 7"/>
          <p:cNvSpPr/>
          <p:nvPr/>
        </p:nvSpPr>
        <p:spPr>
          <a:xfrm>
            <a:off x="7945016" y="6344920"/>
            <a:ext cx="2316266" cy="294640"/>
          </a:xfrm>
          <a:prstGeom prst="bracketPair">
            <a:avLst/>
          </a:prstGeom>
          <a:solidFill>
            <a:srgbClr val="FFFF00"/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VALIDAR</a:t>
            </a:r>
            <a:endParaRPr lang="en-US" dirty="0"/>
          </a:p>
        </p:txBody>
      </p:sp>
      <p:pic>
        <p:nvPicPr>
          <p:cNvPr id="10" name="Picture 9" descr="Deploy em HML V2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469" y="1832610"/>
            <a:ext cx="10131279" cy="3257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753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801348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391654" y="181114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180000" y="92680"/>
            <a:ext cx="58304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solidFill>
                  <a:srgbClr val="FFFFFF"/>
                </a:solidFill>
                <a:latin typeface="+mj-lt"/>
              </a:rPr>
              <a:t>Fluxos de </a:t>
            </a:r>
            <a:r>
              <a:rPr lang="pt-BR" sz="2000" b="1" dirty="0" smtClean="0">
                <a:solidFill>
                  <a:srgbClr val="FFFFFF"/>
                </a:solidFill>
                <a:latin typeface="+mj-lt"/>
              </a:rPr>
              <a:t>deploy produtivo</a:t>
            </a:r>
            <a:endParaRPr lang="pt-BR" sz="2000" b="1" dirty="0">
              <a:solidFill>
                <a:srgbClr val="FFFFFF"/>
              </a:solidFill>
              <a:latin typeface="+mj-lt"/>
            </a:endParaRPr>
          </a:p>
        </p:txBody>
      </p:sp>
      <p:sp>
        <p:nvSpPr>
          <p:cNvPr id="8" name="Double Bracket 7"/>
          <p:cNvSpPr/>
          <p:nvPr/>
        </p:nvSpPr>
        <p:spPr>
          <a:xfrm>
            <a:off x="7945016" y="6344920"/>
            <a:ext cx="2316266" cy="294640"/>
          </a:xfrm>
          <a:prstGeom prst="bracketPair">
            <a:avLst/>
          </a:prstGeom>
          <a:solidFill>
            <a:srgbClr val="FFFF00"/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NÃO DEFINIDO</a:t>
            </a:r>
            <a:endParaRPr lang="en-US" dirty="0"/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372" y="2071256"/>
            <a:ext cx="9826605" cy="2241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5470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creen Shot 2017-02-16 at 19.45.19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2101" y="889779"/>
            <a:ext cx="6254886" cy="5570591"/>
          </a:xfrm>
          <a:prstGeom prst="rect">
            <a:avLst/>
          </a:prstGeom>
        </p:spPr>
      </p:pic>
      <p:grpSp>
        <p:nvGrpSpPr>
          <p:cNvPr id="2" name="Grupo 1"/>
          <p:cNvGrpSpPr/>
          <p:nvPr/>
        </p:nvGrpSpPr>
        <p:grpSpPr>
          <a:xfrm>
            <a:off x="2" y="-3"/>
            <a:ext cx="10801348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91654" y="181114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180000" y="92680"/>
            <a:ext cx="58304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 err="1" smtClean="0">
                <a:solidFill>
                  <a:schemeClr val="bg1"/>
                </a:solidFill>
                <a:latin typeface="+mj-lt"/>
                <a:cs typeface="Gotham Rounded Book"/>
              </a:rPr>
              <a:t>Git</a:t>
            </a:r>
            <a:r>
              <a:rPr lang="pt-BR" sz="2000" b="1" dirty="0" smtClean="0">
                <a:solidFill>
                  <a:schemeClr val="bg1"/>
                </a:solidFill>
                <a:latin typeface="+mj-lt"/>
                <a:cs typeface="Gotham Rounded Book"/>
              </a:rPr>
              <a:t> Hub – Release</a:t>
            </a:r>
            <a:endParaRPr lang="pt-BR" sz="2000" b="1" dirty="0">
              <a:solidFill>
                <a:schemeClr val="bg1"/>
              </a:solidFill>
              <a:latin typeface="+mj-lt"/>
              <a:cs typeface="Gotham Rounded Book"/>
            </a:endParaRPr>
          </a:p>
        </p:txBody>
      </p:sp>
      <p:sp>
        <p:nvSpPr>
          <p:cNvPr id="10" name="Double Bracket 9"/>
          <p:cNvSpPr/>
          <p:nvPr/>
        </p:nvSpPr>
        <p:spPr>
          <a:xfrm>
            <a:off x="7945016" y="6344920"/>
            <a:ext cx="2316266" cy="294640"/>
          </a:xfrm>
          <a:prstGeom prst="bracketPair">
            <a:avLst/>
          </a:prstGeom>
          <a:solidFill>
            <a:srgbClr val="FFFF00"/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APRESENTADO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1148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801348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391654" y="181114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180000" y="92680"/>
            <a:ext cx="58304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 err="1" smtClean="0">
                <a:solidFill>
                  <a:schemeClr val="bg1"/>
                </a:solidFill>
                <a:latin typeface="+mj-lt"/>
                <a:cs typeface="Gotham Rounded Book"/>
              </a:rPr>
              <a:t>Git</a:t>
            </a:r>
            <a:r>
              <a:rPr lang="pt-BR" sz="2000" b="1" dirty="0" smtClean="0">
                <a:solidFill>
                  <a:schemeClr val="bg1"/>
                </a:solidFill>
                <a:latin typeface="+mj-lt"/>
                <a:cs typeface="Gotham Rounded Book"/>
              </a:rPr>
              <a:t> Hub – Release/</a:t>
            </a:r>
            <a:r>
              <a:rPr lang="pt-BR" sz="2000" b="1" dirty="0" err="1" smtClean="0">
                <a:solidFill>
                  <a:schemeClr val="bg1"/>
                </a:solidFill>
                <a:latin typeface="+mj-lt"/>
                <a:cs typeface="Gotham Rounded Book"/>
              </a:rPr>
              <a:t>HotFix</a:t>
            </a:r>
            <a:endParaRPr lang="pt-BR" sz="2000" b="1" dirty="0">
              <a:solidFill>
                <a:schemeClr val="bg1"/>
              </a:solidFill>
              <a:latin typeface="+mj-lt"/>
              <a:cs typeface="Gotham Rounded Book"/>
            </a:endParaRPr>
          </a:p>
        </p:txBody>
      </p:sp>
      <p:pic>
        <p:nvPicPr>
          <p:cNvPr id="8" name="Imagem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5941" y="838203"/>
            <a:ext cx="5846480" cy="5898855"/>
          </a:xfrm>
          <a:prstGeom prst="rect">
            <a:avLst/>
          </a:prstGeom>
        </p:spPr>
      </p:pic>
      <p:sp>
        <p:nvSpPr>
          <p:cNvPr id="10" name="Double Bracket 9"/>
          <p:cNvSpPr/>
          <p:nvPr/>
        </p:nvSpPr>
        <p:spPr>
          <a:xfrm>
            <a:off x="7945016" y="6344920"/>
            <a:ext cx="2316266" cy="294640"/>
          </a:xfrm>
          <a:prstGeom prst="bracketPair">
            <a:avLst/>
          </a:prstGeom>
          <a:solidFill>
            <a:srgbClr val="FFFF00"/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APRESENTADO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2673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801348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391654" y="181114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180000" y="92680"/>
            <a:ext cx="58304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 err="1" smtClean="0">
                <a:solidFill>
                  <a:schemeClr val="bg1"/>
                </a:solidFill>
                <a:latin typeface="+mj-lt"/>
                <a:cs typeface="Gotham Rounded Book"/>
              </a:rPr>
              <a:t>Git</a:t>
            </a:r>
            <a:r>
              <a:rPr lang="pt-BR" sz="2000" b="1" dirty="0" smtClean="0">
                <a:solidFill>
                  <a:schemeClr val="bg1"/>
                </a:solidFill>
                <a:latin typeface="+mj-lt"/>
                <a:cs typeface="Gotham Rounded Book"/>
              </a:rPr>
              <a:t> Hub – Estrutura física</a:t>
            </a:r>
            <a:endParaRPr lang="pt-BR" sz="2000" b="1" dirty="0">
              <a:solidFill>
                <a:schemeClr val="bg1"/>
              </a:solidFill>
              <a:latin typeface="+mj-lt"/>
              <a:cs typeface="Gotham Rounded Book"/>
            </a:endParaRPr>
          </a:p>
        </p:txBody>
      </p:sp>
      <p:pic>
        <p:nvPicPr>
          <p:cNvPr id="3" name="Picture 2" descr="unnamed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462" y="1223818"/>
            <a:ext cx="10443306" cy="4444999"/>
          </a:xfrm>
          <a:prstGeom prst="rect">
            <a:avLst/>
          </a:prstGeom>
        </p:spPr>
      </p:pic>
      <p:sp>
        <p:nvSpPr>
          <p:cNvPr id="10" name="Double Bracket 9"/>
          <p:cNvSpPr/>
          <p:nvPr/>
        </p:nvSpPr>
        <p:spPr>
          <a:xfrm>
            <a:off x="7945016" y="6344920"/>
            <a:ext cx="2316266" cy="294640"/>
          </a:xfrm>
          <a:prstGeom prst="bracketPair">
            <a:avLst/>
          </a:prstGeom>
          <a:solidFill>
            <a:srgbClr val="FFFF00"/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VALIDAR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696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/>
          <p:nvPr/>
        </p:nvSpPr>
        <p:spPr>
          <a:xfrm>
            <a:off x="-1481" y="4"/>
            <a:ext cx="6806469" cy="6857999"/>
          </a:xfrm>
          <a:custGeom>
            <a:avLst/>
            <a:gdLst/>
            <a:ahLst/>
            <a:cxnLst/>
            <a:rect l="l" t="t" r="r" b="b"/>
            <a:pathLst>
              <a:path w="5762090" h="6857999">
                <a:moveTo>
                  <a:pt x="0" y="0"/>
                </a:moveTo>
                <a:lnTo>
                  <a:pt x="1920697" y="0"/>
                </a:lnTo>
                <a:lnTo>
                  <a:pt x="3279881" y="0"/>
                </a:lnTo>
                <a:lnTo>
                  <a:pt x="5200578" y="0"/>
                </a:lnTo>
                <a:lnTo>
                  <a:pt x="5255041" y="148787"/>
                </a:lnTo>
                <a:cubicBezTo>
                  <a:pt x="5571805" y="1057108"/>
                  <a:pt x="5762090" y="2221597"/>
                  <a:pt x="5762090" y="3491260"/>
                </a:cubicBezTo>
                <a:cubicBezTo>
                  <a:pt x="5762090" y="4760923"/>
                  <a:pt x="5571805" y="5925412"/>
                  <a:pt x="5255041" y="6833733"/>
                </a:cubicBezTo>
                <a:lnTo>
                  <a:pt x="5246158" y="6857999"/>
                </a:lnTo>
                <a:lnTo>
                  <a:pt x="3325461" y="6857999"/>
                </a:lnTo>
                <a:lnTo>
                  <a:pt x="1920697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FF8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2237" y="3276365"/>
            <a:ext cx="2355498" cy="78751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0" y="3012752"/>
            <a:ext cx="6073344" cy="5849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3201" b="1" dirty="0">
                <a:solidFill>
                  <a:schemeClr val="bg1"/>
                </a:solidFill>
                <a:latin typeface="Gotham Rounded Book"/>
                <a:cs typeface="Gotham Rounded Book"/>
              </a:rPr>
              <a:t>Obrigado!!!</a:t>
            </a:r>
            <a:endParaRPr lang="en-US" sz="1600" b="1" dirty="0">
              <a:solidFill>
                <a:schemeClr val="bg1"/>
              </a:solidFill>
              <a:latin typeface="Gotham Rounded Book"/>
              <a:cs typeface="Gotham Rounded Book"/>
            </a:endParaRPr>
          </a:p>
        </p:txBody>
      </p:sp>
    </p:spTree>
    <p:extLst>
      <p:ext uri="{BB962C8B-B14F-4D97-AF65-F5344CB8AC3E}">
        <p14:creationId xmlns:p14="http://schemas.microsoft.com/office/powerpoint/2010/main" val="23604713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20684</TotalTime>
  <Words>591</Words>
  <Application>Microsoft Office PowerPoint</Application>
  <PresentationFormat>Personalizar</PresentationFormat>
  <Paragraphs>224</Paragraphs>
  <Slides>27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27</vt:i4>
      </vt:variant>
    </vt:vector>
  </HeadingPairs>
  <TitlesOfParts>
    <vt:vector size="28" baseType="lpstr"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fred</dc:creator>
  <cp:lastModifiedBy>nicolasgutierrez</cp:lastModifiedBy>
  <cp:revision>674</cp:revision>
  <dcterms:created xsi:type="dcterms:W3CDTF">2014-01-24T21:35:00Z</dcterms:created>
  <dcterms:modified xsi:type="dcterms:W3CDTF">2017-02-17T18:15:06Z</dcterms:modified>
</cp:coreProperties>
</file>