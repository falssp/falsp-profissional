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375" r:id="rId3"/>
    <p:sldId id="376" r:id="rId4"/>
    <p:sldId id="380" r:id="rId5"/>
    <p:sldId id="377" r:id="rId6"/>
    <p:sldId id="382" r:id="rId7"/>
    <p:sldId id="381" r:id="rId8"/>
    <p:sldId id="383" r:id="rId9"/>
    <p:sldId id="384" r:id="rId10"/>
    <p:sldId id="387" r:id="rId11"/>
    <p:sldId id="388" r:id="rId1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4A2"/>
    <a:srgbClr val="F68E1E"/>
    <a:srgbClr val="990000"/>
    <a:srgbClr val="FFFF99"/>
    <a:srgbClr val="D0462D"/>
    <a:srgbClr val="FFFF66"/>
    <a:srgbClr val="00CC00"/>
    <a:srgbClr val="FF6600"/>
    <a:srgbClr val="F57124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051" y="6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jpeg"/><Relationship Id="rId10" Type="http://schemas.openxmlformats.org/officeDocument/2006/relationships/image" Target="../media/image17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688550"/>
            <a:ext cx="568862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Projeto </a:t>
            </a: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Infra &amp;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Apps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Ágeis</a:t>
            </a:r>
          </a:p>
          <a:p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Visão, Princípios e Road-</a:t>
            </a:r>
            <a:r>
              <a:rPr lang="pt-BR" sz="28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Map</a:t>
            </a:r>
            <a:endParaRPr lang="pt-BR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21-02-2017</a:t>
            </a:r>
          </a:p>
        </p:txBody>
      </p:sp>
      <p:pic>
        <p:nvPicPr>
          <p:cNvPr id="1026" name="Picture 2" descr="https://media.licdn.com/mpr/mpr/shrinknp_800_800/AAEAAQAAAAAAAAaSAAAAJGM1OGMzMzA5LTkxYWItNDcyZi04MWI2LTA5ZmIzY2ZkNzFhO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992"/>
          <a:stretch/>
        </p:blipFill>
        <p:spPr bwMode="auto">
          <a:xfrm>
            <a:off x="972346" y="3429002"/>
            <a:ext cx="4427832" cy="214462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0" y="0"/>
            <a:ext cx="10181492" cy="69283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707" y="129598"/>
            <a:ext cx="933147" cy="334448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097316" y="2010439"/>
            <a:ext cx="7922507" cy="2837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“In software,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something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painful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way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it more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frequently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.” 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pt-BR" sz="2400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David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Farley</a:t>
            </a:r>
            <a:r>
              <a:rPr lang="pt-BR" sz="14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Delivery: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Reliable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Software Releases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through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Build, Test,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Deployment Automation</a:t>
            </a:r>
            <a:endParaRPr lang="pt-BR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Projeto Infra &amp;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Apps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Ágeis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4494807" y="1365233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e Missão da Iniciativa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4" name="Retângulo de cantos arredondados 6"/>
          <p:cNvSpPr/>
          <p:nvPr/>
        </p:nvSpPr>
        <p:spPr>
          <a:xfrm>
            <a:off x="4494807" y="3402187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Principais Problemas Identificados</a:t>
            </a:r>
          </a:p>
        </p:txBody>
      </p:sp>
      <p:sp>
        <p:nvSpPr>
          <p:cNvPr id="15" name="Retângulo de cantos arredondados 6"/>
          <p:cNvSpPr/>
          <p:nvPr/>
        </p:nvSpPr>
        <p:spPr>
          <a:xfrm>
            <a:off x="4494807" y="4420664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Princípios Smiles</a:t>
            </a:r>
          </a:p>
        </p:txBody>
      </p:sp>
      <p:sp>
        <p:nvSpPr>
          <p:cNvPr id="16" name="Retângulo de cantos arredondados 6"/>
          <p:cNvSpPr/>
          <p:nvPr/>
        </p:nvSpPr>
        <p:spPr>
          <a:xfrm>
            <a:off x="4494807" y="5439141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Roadmap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2017-2018 (Ênfase Q1 e Q2)</a:t>
            </a:r>
          </a:p>
        </p:txBody>
      </p:sp>
      <p:sp>
        <p:nvSpPr>
          <p:cNvPr id="12" name="Retângulo de cantos arredondados 6"/>
          <p:cNvSpPr/>
          <p:nvPr/>
        </p:nvSpPr>
        <p:spPr>
          <a:xfrm>
            <a:off x="4494807" y="2383710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Atual de DEV</a:t>
            </a:r>
          </a:p>
        </p:txBody>
      </p:sp>
      <p:pic>
        <p:nvPicPr>
          <p:cNvPr id="2050" name="Picture 2" descr="https://t3.ftcdn.net/jpg/01/36/54/24/240_F_136542440_JOPFSUpwIY7fyE14ri7Dv2ab5dEupVw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82" y="2619187"/>
            <a:ext cx="3429000" cy="2286000"/>
          </a:xfrm>
          <a:prstGeom prst="roundRect">
            <a:avLst>
              <a:gd name="adj" fmla="val 1705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</p:spTree>
    <p:extLst>
      <p:ext uri="{BB962C8B-B14F-4D97-AF65-F5344CB8AC3E}">
        <p14:creationId xmlns:p14="http://schemas.microsoft.com/office/powerpoint/2010/main" val="241385327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 flipH="1">
            <a:off x="0" y="-1"/>
            <a:ext cx="10117138" cy="685800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" name="Agrupar 2"/>
          <p:cNvGrpSpPr/>
          <p:nvPr/>
        </p:nvGrpSpPr>
        <p:grpSpPr>
          <a:xfrm>
            <a:off x="262189" y="773160"/>
            <a:ext cx="4428000" cy="5082564"/>
            <a:chOff x="262189" y="773160"/>
            <a:chExt cx="4428000" cy="5082564"/>
          </a:xfrm>
        </p:grpSpPr>
        <p:sp>
          <p:nvSpPr>
            <p:cNvPr id="9" name="TextBox 8"/>
            <p:cNvSpPr txBox="1"/>
            <p:nvPr/>
          </p:nvSpPr>
          <p:spPr>
            <a:xfrm>
              <a:off x="607117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Missão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262189" y="1427724"/>
              <a:ext cx="4428000" cy="4428000"/>
            </a:xfrm>
            <a:prstGeom prst="rect">
              <a:avLst/>
            </a:prstGeom>
            <a:solidFill>
              <a:schemeClr val="accent4">
                <a:lumMod val="50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“Habilitar os desenvolvedores 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entregar </a:t>
              </a:r>
              <a:r>
                <a:rPr lang="pt-BR" sz="2400" b="1" i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software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com qualidade e funcionando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no primeiro dia de trabalho na Smiles.”</a:t>
              </a:r>
            </a:p>
          </p:txBody>
        </p:sp>
      </p:grpSp>
      <p:pic>
        <p:nvPicPr>
          <p:cNvPr id="1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5" y="227799"/>
            <a:ext cx="933147" cy="334448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471017" y="773160"/>
            <a:ext cx="4428000" cy="5082564"/>
            <a:chOff x="5471017" y="773160"/>
            <a:chExt cx="4428000" cy="5082564"/>
          </a:xfrm>
        </p:grpSpPr>
        <p:sp>
          <p:nvSpPr>
            <p:cNvPr id="6" name="CaixaDeTexto 5"/>
            <p:cNvSpPr txBox="1"/>
            <p:nvPr/>
          </p:nvSpPr>
          <p:spPr>
            <a:xfrm>
              <a:off x="5471017" y="1427724"/>
              <a:ext cx="4428000" cy="4428000"/>
            </a:xfrm>
            <a:prstGeom prst="rect">
              <a:avLst/>
            </a:prstGeom>
            <a:solidFill>
              <a:schemeClr val="accent4">
                <a:lumMod val="50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“Promover um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ambiente de inovação constante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onde a Tecnologia seja de fato um habilitador que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impulsiona os negócios da Smiles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, através de uma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cultura de desenvolvimento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que permita evoluções rápidas, contínuas e com alta resiliência.”</a:t>
              </a:r>
            </a:p>
          </p:txBody>
        </p:sp>
        <p:sp>
          <p:nvSpPr>
            <p:cNvPr id="7" name="TextBox 8"/>
            <p:cNvSpPr txBox="1"/>
            <p:nvPr/>
          </p:nvSpPr>
          <p:spPr>
            <a:xfrm>
              <a:off x="5815945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Visão</a:t>
              </a:r>
            </a:p>
          </p:txBody>
        </p:sp>
      </p:grpSp>
      <p:sp>
        <p:nvSpPr>
          <p:cNvPr id="2" name="Retângulo 1"/>
          <p:cNvSpPr/>
          <p:nvPr/>
        </p:nvSpPr>
        <p:spPr>
          <a:xfrm>
            <a:off x="4448487" y="6434914"/>
            <a:ext cx="45448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“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Think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big,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Act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small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Fail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fast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Learn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rapidly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.”</a:t>
            </a:r>
            <a:r>
              <a:rPr lang="pt-BR" sz="16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84681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Atual de DEV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90350" y="1455128"/>
            <a:ext cx="1800000" cy="4672175"/>
            <a:chOff x="90350" y="1507880"/>
            <a:chExt cx="1800000" cy="4672175"/>
          </a:xfrm>
        </p:grpSpPr>
        <p:sp>
          <p:nvSpPr>
            <p:cNvPr id="3" name="Seta: Pentágono 2"/>
            <p:cNvSpPr/>
            <p:nvPr/>
          </p:nvSpPr>
          <p:spPr>
            <a:xfrm>
              <a:off x="90350" y="1507880"/>
              <a:ext cx="1800000" cy="606670"/>
            </a:xfrm>
            <a:prstGeom prst="homePlat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Entendimento e Preparação</a:t>
              </a:r>
            </a:p>
          </p:txBody>
        </p:sp>
        <p:sp>
          <p:nvSpPr>
            <p:cNvPr id="5" name="Retângulo 4"/>
            <p:cNvSpPr/>
            <p:nvPr/>
          </p:nvSpPr>
          <p:spPr>
            <a:xfrm>
              <a:off x="9035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entende Desenho de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qual é a Tecnologia a ser usada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necessários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“monta” seu ambiente de DEV e Teste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Realiza definição de apontamentos (ambientes)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1724765" y="1455128"/>
            <a:ext cx="1800000" cy="4672175"/>
            <a:chOff x="1724765" y="1507880"/>
            <a:chExt cx="1800000" cy="4672175"/>
          </a:xfrm>
        </p:grpSpPr>
        <p:sp>
          <p:nvSpPr>
            <p:cNvPr id="4" name="Seta: Divisa 3"/>
            <p:cNvSpPr/>
            <p:nvPr/>
          </p:nvSpPr>
          <p:spPr>
            <a:xfrm>
              <a:off x="172476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Codificação e Teste Local</a:t>
              </a: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1724765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checkout</a:t>
              </a:r>
              <a:r>
                <a:rPr lang="pt-BR" sz="900" dirty="0"/>
                <a:t> e roda código AS-IS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Começa o desenvolvimento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Funcionalidade / Correção desenvolvida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Realiza teste mínimo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Commit</a:t>
              </a:r>
              <a:r>
                <a:rPr lang="pt-BR" sz="900" dirty="0"/>
                <a:t> na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0" name="Agrupar 19"/>
          <p:cNvGrpSpPr/>
          <p:nvPr/>
        </p:nvGrpSpPr>
        <p:grpSpPr>
          <a:xfrm>
            <a:off x="3359180" y="1455128"/>
            <a:ext cx="1800000" cy="4672175"/>
            <a:chOff x="3359180" y="1507880"/>
            <a:chExt cx="1800000" cy="4672175"/>
          </a:xfrm>
        </p:grpSpPr>
        <p:sp>
          <p:nvSpPr>
            <p:cNvPr id="8" name="Seta: Divisa 7"/>
            <p:cNvSpPr/>
            <p:nvPr/>
          </p:nvSpPr>
          <p:spPr>
            <a:xfrm>
              <a:off x="335918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(Pré-Teste)</a:t>
              </a:r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335918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Faz Build do Pacote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Libera para QA (Pré-Teste)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Pré-Teste OK, segue. Pré-Teste NOK, volta p/ passo 9</a:t>
              </a:r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4993595" y="1455128"/>
            <a:ext cx="1800000" cy="4697085"/>
            <a:chOff x="4993595" y="1507880"/>
            <a:chExt cx="1800000" cy="4697085"/>
          </a:xfrm>
        </p:grpSpPr>
        <p:sp>
          <p:nvSpPr>
            <p:cNvPr id="11" name="Seta: Divisa 10"/>
            <p:cNvSpPr/>
            <p:nvPr/>
          </p:nvSpPr>
          <p:spPr>
            <a:xfrm>
              <a:off x="499359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 em UAT (QA)</a:t>
              </a: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4993595" y="224496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 ordem de entradas do </a:t>
              </a:r>
              <a:r>
                <a:rPr lang="pt-BR" sz="900" dirty="0" err="1"/>
                <a:t>Quarter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das Merges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 e Definição da Merge Master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Faz Build de todos os pacotes em produção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 + Arquivos </a:t>
              </a:r>
              <a:r>
                <a:rPr lang="pt-BR" sz="900" dirty="0" err="1"/>
                <a:t>Properties</a:t>
              </a:r>
              <a:r>
                <a:rPr lang="pt-BR" sz="900" dirty="0"/>
                <a:t> (Apontamentos)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Libera </a:t>
              </a:r>
              <a:r>
                <a:rPr lang="pt-BR" sz="900" dirty="0" err="1"/>
                <a:t>Deploy</a:t>
              </a:r>
              <a:r>
                <a:rPr lang="pt-BR" sz="900" dirty="0"/>
                <a:t> para QA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QA faz Regressivo FULL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Regressivo OK, segue. Regressivo NOK, volta p/  passo 9</a:t>
              </a:r>
            </a:p>
          </p:txBody>
        </p:sp>
      </p:grpSp>
      <p:grpSp>
        <p:nvGrpSpPr>
          <p:cNvPr id="22" name="Agrupar 21"/>
          <p:cNvGrpSpPr/>
          <p:nvPr/>
        </p:nvGrpSpPr>
        <p:grpSpPr>
          <a:xfrm>
            <a:off x="6628010" y="1455128"/>
            <a:ext cx="1800000" cy="4672175"/>
            <a:chOff x="6628010" y="1507880"/>
            <a:chExt cx="1800000" cy="4672175"/>
          </a:xfrm>
        </p:grpSpPr>
        <p:sp>
          <p:nvSpPr>
            <p:cNvPr id="10" name="Seta: Divisa 9"/>
            <p:cNvSpPr/>
            <p:nvPr/>
          </p:nvSpPr>
          <p:spPr>
            <a:xfrm>
              <a:off x="662801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GMUD e Implantação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662801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Abre GMUD e estabelece Blue/Green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Implantação GMUD na data acordada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Deploy</a:t>
              </a:r>
              <a:r>
                <a:rPr lang="pt-BR" sz="900" dirty="0"/>
                <a:t> em  Ambiente de Produção </a:t>
              </a:r>
              <a:r>
                <a:rPr lang="pt-BR" sz="900" dirty="0" err="1"/>
                <a:t>Standby</a:t>
              </a:r>
              <a:r>
                <a:rPr lang="pt-BR" sz="900" dirty="0"/>
                <a:t>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Configurar Máquinas locais para enxergar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ajustes na  monitoração (</a:t>
              </a:r>
              <a:r>
                <a:rPr lang="pt-BR" sz="900" dirty="0" err="1"/>
                <a:t>Dynatrace</a:t>
              </a:r>
              <a:r>
                <a:rPr lang="pt-BR" sz="900" dirty="0"/>
                <a:t>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Smoke</a:t>
              </a:r>
              <a:r>
                <a:rPr lang="pt-BR" sz="900" dirty="0"/>
                <a:t> Test no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 err="1"/>
                <a:t>Smoke</a:t>
              </a:r>
              <a:r>
                <a:rPr lang="pt-BR" sz="900" dirty="0"/>
                <a:t> Test OK, segue. </a:t>
              </a:r>
              <a:r>
                <a:rPr lang="pt-BR" sz="900" dirty="0" err="1"/>
                <a:t>Smoke</a:t>
              </a:r>
              <a:r>
                <a:rPr lang="pt-BR" sz="900" dirty="0"/>
                <a:t> Test NOK, volta para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endParaRPr lang="pt-BR" sz="900" dirty="0"/>
            </a:p>
          </p:txBody>
        </p:sp>
      </p:grpSp>
      <p:grpSp>
        <p:nvGrpSpPr>
          <p:cNvPr id="23" name="Agrupar 22"/>
          <p:cNvGrpSpPr/>
          <p:nvPr/>
        </p:nvGrpSpPr>
        <p:grpSpPr>
          <a:xfrm>
            <a:off x="8262425" y="1455128"/>
            <a:ext cx="1800000" cy="4672174"/>
            <a:chOff x="8262425" y="1507880"/>
            <a:chExt cx="1800000" cy="4672174"/>
          </a:xfrm>
        </p:grpSpPr>
        <p:sp>
          <p:nvSpPr>
            <p:cNvPr id="16" name="Seta: Divisa 15"/>
            <p:cNvSpPr/>
            <p:nvPr/>
          </p:nvSpPr>
          <p:spPr>
            <a:xfrm>
              <a:off x="826242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Chaveamento e Produção FULL</a:t>
              </a: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8262425" y="2220054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Parcial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Acompanhamento do chaveamento parcial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Total 100%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KT para Operações (opcional)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Merge do </a:t>
              </a:r>
              <a:r>
                <a:rPr lang="pt-BR" sz="900" dirty="0" err="1"/>
                <a:t>Branch</a:t>
              </a:r>
              <a:r>
                <a:rPr lang="pt-BR" sz="900" dirty="0"/>
                <a:t> na </a:t>
              </a:r>
              <a:r>
                <a:rPr lang="pt-BR" sz="900" dirty="0" err="1"/>
                <a:t>master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Release do próximo projeto do </a:t>
              </a:r>
              <a:r>
                <a:rPr lang="pt-BR" sz="900" dirty="0" err="1"/>
                <a:t>Quarter</a:t>
              </a:r>
              <a:r>
                <a:rPr lang="pt-BR" sz="900" dirty="0"/>
                <a:t> (volta para passo 19)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Operação Assistida em Produção</a:t>
              </a:r>
            </a:p>
          </p:txBody>
        </p:sp>
      </p:grpSp>
      <p:sp>
        <p:nvSpPr>
          <p:cNvPr id="24" name="Retângulo: Cantos Arredondados 23"/>
          <p:cNvSpPr/>
          <p:nvPr/>
        </p:nvSpPr>
        <p:spPr>
          <a:xfrm>
            <a:off x="9035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5" name="Retângulo: Cantos Arredondados 24"/>
          <p:cNvSpPr/>
          <p:nvPr/>
        </p:nvSpPr>
        <p:spPr>
          <a:xfrm>
            <a:off x="8262425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5 dias </a:t>
            </a:r>
          </a:p>
        </p:txBody>
      </p:sp>
      <p:sp>
        <p:nvSpPr>
          <p:cNvPr id="26" name="Retângulo: Cantos Arredondados 25"/>
          <p:cNvSpPr/>
          <p:nvPr/>
        </p:nvSpPr>
        <p:spPr>
          <a:xfrm>
            <a:off x="172476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7" name="Retângulo: Cantos Arredondados 26"/>
          <p:cNvSpPr/>
          <p:nvPr/>
        </p:nvSpPr>
        <p:spPr>
          <a:xfrm>
            <a:off x="335918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2 dias </a:t>
            </a:r>
          </a:p>
        </p:txBody>
      </p:sp>
      <p:sp>
        <p:nvSpPr>
          <p:cNvPr id="28" name="Retângulo: Cantos Arredondados 27"/>
          <p:cNvSpPr/>
          <p:nvPr/>
        </p:nvSpPr>
        <p:spPr>
          <a:xfrm>
            <a:off x="499359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7 dias </a:t>
            </a:r>
          </a:p>
        </p:txBody>
      </p:sp>
      <p:sp>
        <p:nvSpPr>
          <p:cNvPr id="29" name="Retângulo: Cantos Arredondados 28"/>
          <p:cNvSpPr/>
          <p:nvPr/>
        </p:nvSpPr>
        <p:spPr>
          <a:xfrm>
            <a:off x="662801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6 dias </a:t>
            </a:r>
          </a:p>
        </p:txBody>
      </p:sp>
      <p:sp>
        <p:nvSpPr>
          <p:cNvPr id="30" name="Retângulo: Cantos Arredondados 29"/>
          <p:cNvSpPr/>
          <p:nvPr/>
        </p:nvSpPr>
        <p:spPr>
          <a:xfrm>
            <a:off x="90350" y="819553"/>
            <a:ext cx="1923088" cy="180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ndara" panose="020E0502030303020204" pitchFamily="34" charset="0"/>
                <a:cs typeface="Arial" panose="020B0604020202020204" pitchFamily="34" charset="0"/>
              </a:rPr>
              <a:t>Tempos médios estimados</a:t>
            </a:r>
            <a:endParaRPr lang="pt-BR" sz="1300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743949" y="4986285"/>
            <a:ext cx="3515231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C00000"/>
                </a:solidFill>
                <a:latin typeface="Candara" panose="020E0502030303020204" pitchFamily="34" charset="0"/>
              </a:rPr>
              <a:t>Importante: poucos desenvolvedores conhecem o processo todo!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90350" y="6327003"/>
            <a:ext cx="9972075" cy="324000"/>
          </a:xfrm>
          <a:prstGeom prst="homePlat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3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360000" algn="l"/>
            <a:r>
              <a:rPr lang="pt-BR" dirty="0"/>
              <a:t>Considerando o “caminho feliz”, sem a ocorrência de falhas (incidentes) ou crises!</a:t>
            </a:r>
          </a:p>
        </p:txBody>
      </p:sp>
      <p:pic>
        <p:nvPicPr>
          <p:cNvPr id="32" name="Gráfico 31" descr="Rosto Sorridente sem Preenchimento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347" y="6363003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7522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spect="1"/>
          </p:cNvSpPr>
          <p:nvPr/>
        </p:nvSpPr>
        <p:spPr>
          <a:xfrm flipH="1">
            <a:off x="415269" y="1217967"/>
            <a:ext cx="3437794" cy="522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Principais Problemas Identificados</a:t>
            </a:r>
          </a:p>
        </p:txBody>
      </p:sp>
      <p:sp>
        <p:nvSpPr>
          <p:cNvPr id="10" name="Retângulo 9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Baixa Qualidade de Entrega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Alto Esforço Operacional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Baixo 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Time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to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Market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(velocidade de entrada de novas funcionalidades)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muito espaçados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Testes manuais e precários (há poucos testes automatizados)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Controle de versão pouco eficiente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Falta de Padronização (versionamento, documentação, rastreabilidade)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Merge “perdido” (</a:t>
            </a:r>
            <a:r>
              <a: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funcionalidades e/ou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correções “somem” após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/release)</a:t>
            </a:r>
          </a:p>
        </p:txBody>
      </p:sp>
    </p:spTree>
    <p:extLst>
      <p:ext uri="{BB962C8B-B14F-4D97-AF65-F5344CB8AC3E}">
        <p14:creationId xmlns:p14="http://schemas.microsoft.com/office/powerpoint/2010/main" val="285835975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spect="1"/>
          </p:cNvSpPr>
          <p:nvPr/>
        </p:nvSpPr>
        <p:spPr>
          <a:xfrm flipH="1">
            <a:off x="415269" y="1217967"/>
            <a:ext cx="3437794" cy="5220000"/>
          </a:xfrm>
          <a:prstGeom prst="rect">
            <a:avLst/>
          </a:prstGeom>
          <a:blipFill dpi="0" rotWithShape="1">
            <a:blip r:embed="rId2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Princípios Smiles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Simplicidade em toda a cadeia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Jornada com mudanças constantes - não tem fim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Teste faz parte do desenvolvimento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Entregas menores e mais frequentes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não é release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Tudo é versionável e rastreável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Pipeline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quebrado equivale a “produção parada”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Done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significa em Produção</a:t>
            </a:r>
          </a:p>
        </p:txBody>
      </p:sp>
    </p:spTree>
    <p:extLst>
      <p:ext uri="{BB962C8B-B14F-4D97-AF65-F5344CB8AC3E}">
        <p14:creationId xmlns:p14="http://schemas.microsoft.com/office/powerpoint/2010/main" val="24773788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Roadmap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2017-2018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3" name="Seta: Pentágono 42"/>
          <p:cNvSpPr/>
          <p:nvPr/>
        </p:nvSpPr>
        <p:spPr>
          <a:xfrm>
            <a:off x="1659953" y="2369843"/>
            <a:ext cx="162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Unitários</a:t>
            </a:r>
          </a:p>
        </p:txBody>
      </p:sp>
      <p:sp>
        <p:nvSpPr>
          <p:cNvPr id="44" name="Seta: Pentágono 43"/>
          <p:cNvSpPr/>
          <p:nvPr/>
        </p:nvSpPr>
        <p:spPr>
          <a:xfrm>
            <a:off x="1659953" y="3053016"/>
            <a:ext cx="4888118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Infrastructure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As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Code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5" name="Seta: Pentágono 44"/>
          <p:cNvSpPr/>
          <p:nvPr/>
        </p:nvSpPr>
        <p:spPr>
          <a:xfrm>
            <a:off x="1659953" y="3736189"/>
            <a:ext cx="48888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Containers</a:t>
            </a:r>
          </a:p>
        </p:txBody>
      </p:sp>
      <p:sp>
        <p:nvSpPr>
          <p:cNvPr id="46" name="Seta: Pentágono 45"/>
          <p:cNvSpPr/>
          <p:nvPr/>
        </p:nvSpPr>
        <p:spPr>
          <a:xfrm>
            <a:off x="3307044" y="5102535"/>
            <a:ext cx="486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7" name="Seta: Pentágono 46"/>
          <p:cNvSpPr/>
          <p:nvPr/>
        </p:nvSpPr>
        <p:spPr>
          <a:xfrm>
            <a:off x="3300450" y="2369843"/>
            <a:ext cx="6725403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Automatizados (Completos)</a:t>
            </a:r>
          </a:p>
        </p:txBody>
      </p:sp>
      <p:sp>
        <p:nvSpPr>
          <p:cNvPr id="48" name="Seta: Pentágono 47"/>
          <p:cNvSpPr/>
          <p:nvPr/>
        </p:nvSpPr>
        <p:spPr>
          <a:xfrm>
            <a:off x="6575129" y="5785708"/>
            <a:ext cx="3450724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Delivery</a:t>
            </a:r>
          </a:p>
        </p:txBody>
      </p:sp>
      <p:sp>
        <p:nvSpPr>
          <p:cNvPr id="49" name="Seta: Pentágono 48"/>
          <p:cNvSpPr/>
          <p:nvPr/>
        </p:nvSpPr>
        <p:spPr>
          <a:xfrm>
            <a:off x="1659953" y="4419362"/>
            <a:ext cx="324762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Feature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Toggle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</p:spTree>
    <p:extLst>
      <p:ext uri="{BB962C8B-B14F-4D97-AF65-F5344CB8AC3E}">
        <p14:creationId xmlns:p14="http://schemas.microsoft.com/office/powerpoint/2010/main" val="421318020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Q1 – Ganhos e Benefícios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  <a:solidFill>
              <a:srgbClr val="8064A2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1724766" y="2369843"/>
            <a:ext cx="8219334" cy="37690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Ganhos e Benefícios após Q1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repetitividade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confiabilidade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rastreabilidade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Controle de versão completo e eficiente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Base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TODOS os trabalhos futuros (alicerce)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Resolução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problema de “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merge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perdido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(perda de correções e funcionalidades)</a:t>
            </a:r>
          </a:p>
        </p:txBody>
      </p:sp>
    </p:spTree>
    <p:extLst>
      <p:ext uri="{BB962C8B-B14F-4D97-AF65-F5344CB8AC3E}">
        <p14:creationId xmlns:p14="http://schemas.microsoft.com/office/powerpoint/2010/main" val="2973856791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Q2 – Ganhos e Benefícios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3" name="Seta: Pentágono 42"/>
          <p:cNvSpPr/>
          <p:nvPr/>
        </p:nvSpPr>
        <p:spPr>
          <a:xfrm>
            <a:off x="1659953" y="2369843"/>
            <a:ext cx="162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Unitários</a:t>
            </a:r>
          </a:p>
        </p:txBody>
      </p:sp>
      <p:sp>
        <p:nvSpPr>
          <p:cNvPr id="44" name="Seta: Pentágono 43"/>
          <p:cNvSpPr/>
          <p:nvPr/>
        </p:nvSpPr>
        <p:spPr>
          <a:xfrm>
            <a:off x="1659953" y="3053016"/>
            <a:ext cx="4888118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Infrastructure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As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Code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5" name="Seta: Pentágono 44"/>
          <p:cNvSpPr/>
          <p:nvPr/>
        </p:nvSpPr>
        <p:spPr>
          <a:xfrm>
            <a:off x="1659953" y="3736189"/>
            <a:ext cx="48888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Containers</a:t>
            </a:r>
          </a:p>
        </p:txBody>
      </p:sp>
      <p:sp>
        <p:nvSpPr>
          <p:cNvPr id="49" name="Seta: Pentágono 48"/>
          <p:cNvSpPr/>
          <p:nvPr/>
        </p:nvSpPr>
        <p:spPr>
          <a:xfrm>
            <a:off x="1659953" y="4419362"/>
            <a:ext cx="324762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Feature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Toggle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3359180" y="2369843"/>
            <a:ext cx="6584920" cy="37690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Ganhos e Benefícios após Q2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Antecipação de problemas através de testes unitários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Entregar código com melhor qualidade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FT: aumentar a frequência dos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deploys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sem expor de imediato as funcionalidades para o cliente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IaC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reduzir problemas de configuração de ambientes (apontamentos)</a:t>
            </a:r>
          </a:p>
        </p:txBody>
      </p:sp>
    </p:spTree>
    <p:extLst>
      <p:ext uri="{BB962C8B-B14F-4D97-AF65-F5344CB8AC3E}">
        <p14:creationId xmlns:p14="http://schemas.microsoft.com/office/powerpoint/2010/main" val="3346223621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/>
          <p:cNvSpPr/>
          <p:nvPr/>
        </p:nvSpPr>
        <p:spPr>
          <a:xfrm>
            <a:off x="3452237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Retorna para Desenvolvedor em caso de Build quebrado</a:t>
            </a:r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Em caso de Build OK, o pacote  vai para o </a:t>
            </a:r>
            <a:r>
              <a:rPr lang="pt-BR" sz="900" dirty="0" err="1"/>
              <a:t>Nexus</a:t>
            </a: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</p:txBody>
      </p:sp>
      <p:sp>
        <p:nvSpPr>
          <p:cNvPr id="41" name="Retângulo 40"/>
          <p:cNvSpPr/>
          <p:nvPr/>
        </p:nvSpPr>
        <p:spPr>
          <a:xfrm>
            <a:off x="6712121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Analista de Operação executa o </a:t>
            </a:r>
            <a:r>
              <a:rPr lang="pt-BR" sz="900" dirty="0" err="1"/>
              <a:t>Deploy</a:t>
            </a:r>
            <a:r>
              <a:rPr lang="pt-BR" sz="900" dirty="0"/>
              <a:t> através do </a:t>
            </a:r>
            <a:r>
              <a:rPr lang="pt-BR" sz="900" dirty="0" err="1"/>
              <a:t>Rundeck</a:t>
            </a:r>
            <a:r>
              <a:rPr lang="pt-BR" sz="900" dirty="0"/>
              <a:t>. </a:t>
            </a:r>
            <a:r>
              <a:rPr lang="pt-BR" sz="900" dirty="0" err="1"/>
              <a:t>Rundeck</a:t>
            </a:r>
            <a:r>
              <a:rPr lang="pt-BR" sz="900" dirty="0"/>
              <a:t> busca o pacote no </a:t>
            </a:r>
            <a:r>
              <a:rPr lang="pt-BR" sz="900" dirty="0" err="1"/>
              <a:t>Nexus</a:t>
            </a:r>
            <a:r>
              <a:rPr lang="pt-BR" sz="900" dirty="0"/>
              <a:t> para poder fazer o </a:t>
            </a:r>
            <a:r>
              <a:rPr lang="pt-BR" sz="900" dirty="0" err="1"/>
              <a:t>Deploy</a:t>
            </a:r>
            <a:r>
              <a:rPr lang="pt-BR" sz="900" dirty="0"/>
              <a:t>.</a:t>
            </a:r>
          </a:p>
        </p:txBody>
      </p:sp>
      <p:sp>
        <p:nvSpPr>
          <p:cNvPr id="42" name="Retângulo 41"/>
          <p:cNvSpPr/>
          <p:nvPr/>
        </p:nvSpPr>
        <p:spPr>
          <a:xfrm>
            <a:off x="8342063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</p:txBody>
      </p:sp>
      <p:sp>
        <p:nvSpPr>
          <p:cNvPr id="46" name="Retângulo 45"/>
          <p:cNvSpPr/>
          <p:nvPr/>
        </p:nvSpPr>
        <p:spPr>
          <a:xfrm>
            <a:off x="1818609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Desenvolvedor codifica e faz “</a:t>
            </a:r>
            <a:r>
              <a:rPr lang="pt-BR" sz="900" dirty="0" err="1"/>
              <a:t>commit</a:t>
            </a:r>
            <a:r>
              <a:rPr lang="pt-BR" sz="900" dirty="0"/>
              <a:t>” no GitHub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192353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Planejamento das tarefas e  atividades no JIRA</a:t>
            </a:r>
          </a:p>
        </p:txBody>
      </p:sp>
      <p:sp>
        <p:nvSpPr>
          <p:cNvPr id="48" name="Retângulo 47"/>
          <p:cNvSpPr/>
          <p:nvPr/>
        </p:nvSpPr>
        <p:spPr>
          <a:xfrm>
            <a:off x="5082179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Processo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-Be</a:t>
            </a:r>
          </a:p>
        </p:txBody>
      </p:sp>
      <p:sp>
        <p:nvSpPr>
          <p:cNvPr id="26" name="Divisa 11"/>
          <p:cNvSpPr/>
          <p:nvPr/>
        </p:nvSpPr>
        <p:spPr>
          <a:xfrm>
            <a:off x="51465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PLAN</a:t>
            </a:r>
          </a:p>
        </p:txBody>
      </p:sp>
      <p:sp>
        <p:nvSpPr>
          <p:cNvPr id="27" name="Divisa 16"/>
          <p:cNvSpPr/>
          <p:nvPr/>
        </p:nvSpPr>
        <p:spPr>
          <a:xfrm>
            <a:off x="1682329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DEVELOP</a:t>
            </a:r>
          </a:p>
        </p:txBody>
      </p:sp>
      <p:sp>
        <p:nvSpPr>
          <p:cNvPr id="28" name="Divisa 17"/>
          <p:cNvSpPr/>
          <p:nvPr/>
        </p:nvSpPr>
        <p:spPr>
          <a:xfrm>
            <a:off x="3313193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BUILD</a:t>
            </a:r>
          </a:p>
        </p:txBody>
      </p:sp>
      <p:sp>
        <p:nvSpPr>
          <p:cNvPr id="29" name="Divisa 18"/>
          <p:cNvSpPr/>
          <p:nvPr/>
        </p:nvSpPr>
        <p:spPr>
          <a:xfrm>
            <a:off x="4944057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</a:t>
            </a:r>
          </a:p>
        </p:txBody>
      </p:sp>
      <p:sp>
        <p:nvSpPr>
          <p:cNvPr id="30" name="Divisa 19"/>
          <p:cNvSpPr/>
          <p:nvPr/>
        </p:nvSpPr>
        <p:spPr>
          <a:xfrm>
            <a:off x="6574921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DEPLOY</a:t>
            </a:r>
          </a:p>
        </p:txBody>
      </p:sp>
      <p:sp>
        <p:nvSpPr>
          <p:cNvPr id="31" name="Divisa 21"/>
          <p:cNvSpPr/>
          <p:nvPr/>
        </p:nvSpPr>
        <p:spPr>
          <a:xfrm>
            <a:off x="8205783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RELEASE</a:t>
            </a:r>
          </a:p>
        </p:txBody>
      </p:sp>
      <p:sp>
        <p:nvSpPr>
          <p:cNvPr id="33" name="Divisa 25"/>
          <p:cNvSpPr/>
          <p:nvPr/>
        </p:nvSpPr>
        <p:spPr>
          <a:xfrm>
            <a:off x="58953" y="1360923"/>
            <a:ext cx="3427739" cy="676627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Development</a:t>
            </a:r>
            <a:endParaRPr lang="pt-BR" sz="1600" b="1" i="1" dirty="0">
              <a:solidFill>
                <a:schemeClr val="bg1">
                  <a:lumMod val="9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5" name="Divisa 26"/>
          <p:cNvSpPr/>
          <p:nvPr/>
        </p:nvSpPr>
        <p:spPr>
          <a:xfrm>
            <a:off x="3204222" y="1360923"/>
            <a:ext cx="6850777" cy="676627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600" b="1" i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Delivery</a:t>
            </a:r>
          </a:p>
        </p:txBody>
      </p:sp>
      <p:sp>
        <p:nvSpPr>
          <p:cNvPr id="37" name="Divisa 27"/>
          <p:cNvSpPr/>
          <p:nvPr/>
        </p:nvSpPr>
        <p:spPr>
          <a:xfrm>
            <a:off x="3576838" y="1723776"/>
            <a:ext cx="3190229" cy="274018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600" b="1" i="1" dirty="0">
              <a:solidFill>
                <a:schemeClr val="accent4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3" name="Divisa 28"/>
          <p:cNvSpPr/>
          <p:nvPr/>
        </p:nvSpPr>
        <p:spPr>
          <a:xfrm>
            <a:off x="6709319" y="1723776"/>
            <a:ext cx="3069305" cy="274018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Deployment</a:t>
            </a:r>
          </a:p>
        </p:txBody>
      </p:sp>
      <p:sp>
        <p:nvSpPr>
          <p:cNvPr id="44" name="Retângulo Arredondado 39"/>
          <p:cNvSpPr/>
          <p:nvPr/>
        </p:nvSpPr>
        <p:spPr>
          <a:xfrm>
            <a:off x="58953" y="972802"/>
            <a:ext cx="9946830" cy="322876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ALM -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Aplication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Lifecycle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Management</a:t>
            </a:r>
          </a:p>
        </p:txBody>
      </p:sp>
      <p:sp>
        <p:nvSpPr>
          <p:cNvPr id="5" name="AutoShape 4" descr="https://www.shareicon.net/data/128x128/2015/09/02/94531_logo_512x512.png"/>
          <p:cNvSpPr>
            <a:spLocks noChangeAspect="1" noChangeArrowheads="1"/>
          </p:cNvSpPr>
          <p:nvPr/>
        </p:nvSpPr>
        <p:spPr bwMode="auto">
          <a:xfrm>
            <a:off x="490537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https://www.shareicon.net/data/128x128/2015/09/02/94531_logo_512x512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658" b="32274"/>
          <a:stretch/>
        </p:blipFill>
        <p:spPr bwMode="auto">
          <a:xfrm>
            <a:off x="1976415" y="3952286"/>
            <a:ext cx="1219200" cy="51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i.forbesimg.com/media/lists/companies/slack_416x416.jp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777936" y="3419899"/>
            <a:ext cx="870514" cy="32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cdn.xebialabs.com/assets/files/plugins/rundeck.jpg"/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2" t="38718" r="5115" b="38513"/>
          <a:stretch/>
        </p:blipFill>
        <p:spPr bwMode="auto">
          <a:xfrm>
            <a:off x="6744057" y="4583875"/>
            <a:ext cx="1474093" cy="28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design.atlassian.com/images/brand/logo-25.png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70" t="20923" r="25308" b="25539"/>
          <a:stretch/>
        </p:blipFill>
        <p:spPr bwMode="auto">
          <a:xfrm>
            <a:off x="307318" y="3143044"/>
            <a:ext cx="1306390" cy="571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http://www.sonatype.org/nexus/content/uploads/2015/12/Jenkins-and-Nexus-Featured-Image.jpg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492621" y="5674590"/>
            <a:ext cx="1446672" cy="355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sonatype.org/nexus/content/uploads/2015/12/Jenkins-and-Nexus-Featured-Image.jpg"/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00616" y="4847017"/>
            <a:ext cx="1425154" cy="44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s://i0.wp.com/www.naturalborncoder.com/wp-content/uploads/2015/05/sonarqube_logo_720.png?fit=720%2C20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993" y="4125052"/>
            <a:ext cx="1234401" cy="34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Usuári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39470" y="2902159"/>
            <a:ext cx="693090" cy="693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9" name="Conector de Seta Reta 9"/>
          <p:cNvCxnSpPr>
            <a:cxnSpLocks/>
            <a:stCxn id="12" idx="2"/>
            <a:endCxn id="1030" idx="0"/>
          </p:cNvCxnSpPr>
          <p:nvPr/>
        </p:nvCxnSpPr>
        <p:spPr>
          <a:xfrm>
            <a:off x="2586015" y="3595249"/>
            <a:ext cx="0" cy="35703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inal de Adição 18"/>
          <p:cNvSpPr/>
          <p:nvPr/>
        </p:nvSpPr>
        <p:spPr>
          <a:xfrm>
            <a:off x="4033193" y="3755515"/>
            <a:ext cx="360000" cy="360000"/>
          </a:xfrm>
          <a:prstGeom prst="mathPl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1" name="Sinal de Adição 50"/>
          <p:cNvSpPr/>
          <p:nvPr/>
        </p:nvSpPr>
        <p:spPr>
          <a:xfrm>
            <a:off x="4033193" y="4477478"/>
            <a:ext cx="360000" cy="360000"/>
          </a:xfrm>
          <a:prstGeom prst="mathPl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2" name="Conector de Seta Reta 9"/>
          <p:cNvCxnSpPr>
            <a:cxnSpLocks/>
            <a:stCxn id="1030" idx="2"/>
            <a:endCxn id="45" idx="1"/>
          </p:cNvCxnSpPr>
          <p:nvPr/>
        </p:nvCxnSpPr>
        <p:spPr>
          <a:xfrm rot="16200000" flipH="1">
            <a:off x="2740268" y="4310917"/>
            <a:ext cx="606095" cy="914601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9"/>
          <p:cNvCxnSpPr>
            <a:cxnSpLocks/>
            <a:stCxn id="1032" idx="0"/>
            <a:endCxn id="12" idx="3"/>
          </p:cNvCxnSpPr>
          <p:nvPr/>
        </p:nvCxnSpPr>
        <p:spPr>
          <a:xfrm rot="16200000" flipV="1">
            <a:off x="3487280" y="2693985"/>
            <a:ext cx="171195" cy="1280633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9"/>
          <p:cNvCxnSpPr>
            <a:cxnSpLocks/>
            <a:stCxn id="45" idx="2"/>
            <a:endCxn id="36" idx="0"/>
          </p:cNvCxnSpPr>
          <p:nvPr/>
        </p:nvCxnSpPr>
        <p:spPr>
          <a:xfrm>
            <a:off x="4213193" y="5295514"/>
            <a:ext cx="2764" cy="37907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9"/>
          <p:cNvCxnSpPr>
            <a:cxnSpLocks/>
            <a:stCxn id="3" idx="1"/>
            <a:endCxn id="36" idx="3"/>
          </p:cNvCxnSpPr>
          <p:nvPr/>
        </p:nvCxnSpPr>
        <p:spPr>
          <a:xfrm rot="10800000" flipV="1">
            <a:off x="4939293" y="4724204"/>
            <a:ext cx="1804764" cy="1127975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Gráfico 64" descr="Usuári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28376" y="3464868"/>
            <a:ext cx="693090" cy="693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6" name="Conector de Seta Reta 9"/>
          <p:cNvCxnSpPr>
            <a:cxnSpLocks/>
            <a:stCxn id="65" idx="2"/>
            <a:endCxn id="3" idx="0"/>
          </p:cNvCxnSpPr>
          <p:nvPr/>
        </p:nvCxnSpPr>
        <p:spPr>
          <a:xfrm>
            <a:off x="7474921" y="4157958"/>
            <a:ext cx="6183" cy="4259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75404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8842</TotalTime>
  <Words>942</Words>
  <Application>Microsoft Office PowerPoint</Application>
  <PresentationFormat>Personalizar</PresentationFormat>
  <Paragraphs>202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4" baseType="lpstr">
      <vt:lpstr>Arial</vt:lpstr>
      <vt:lpstr>Calibri</vt:lpstr>
      <vt:lpstr>Candara</vt:lpstr>
      <vt:lpstr>Georgia</vt:lpstr>
      <vt:lpstr>Gotham Rounded Book</vt:lpstr>
      <vt:lpstr>Helvetica</vt:lpstr>
      <vt:lpstr>Segoe UI</vt:lpstr>
      <vt:lpstr>Segoe UI Light</vt:lpstr>
      <vt:lpstr>Segoe UI Semibold</vt:lpstr>
      <vt:lpstr>Times New Roman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134</cp:revision>
  <dcterms:created xsi:type="dcterms:W3CDTF">2014-01-24T21:35:00Z</dcterms:created>
  <dcterms:modified xsi:type="dcterms:W3CDTF">2017-02-21T17:48:44Z</dcterms:modified>
</cp:coreProperties>
</file>