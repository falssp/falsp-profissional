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7" r:id="rId2"/>
    <p:sldId id="375" r:id="rId3"/>
    <p:sldId id="376" r:id="rId4"/>
    <p:sldId id="380" r:id="rId5"/>
    <p:sldId id="377" r:id="rId6"/>
    <p:sldId id="382" r:id="rId7"/>
    <p:sldId id="381" r:id="rId8"/>
    <p:sldId id="383" r:id="rId9"/>
    <p:sldId id="384" r:id="rId10"/>
    <p:sldId id="387" r:id="rId11"/>
    <p:sldId id="388" r:id="rId12"/>
    <p:sldId id="390" r:id="rId13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8E1E"/>
    <a:srgbClr val="99CCFF"/>
    <a:srgbClr val="8064A2"/>
    <a:srgbClr val="990000"/>
    <a:srgbClr val="FFFF99"/>
    <a:srgbClr val="D0462D"/>
    <a:srgbClr val="FFFF66"/>
    <a:srgbClr val="00CC00"/>
    <a:srgbClr val="FF6600"/>
    <a:srgbClr val="F571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118" y="86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21/02/2017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fade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png"/><Relationship Id="rId7" Type="http://schemas.openxmlformats.org/officeDocument/2006/relationships/image" Target="../media/image1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jpeg"/><Relationship Id="rId10" Type="http://schemas.openxmlformats.org/officeDocument/2006/relationships/image" Target="../media/image17.png"/><Relationship Id="rId4" Type="http://schemas.openxmlformats.org/officeDocument/2006/relationships/image" Target="../media/image11.jpeg"/><Relationship Id="rId9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1949" y="688550"/>
            <a:ext cx="5688627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Projeto </a:t>
            </a:r>
          </a:p>
          <a:p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Infra &amp; </a:t>
            </a:r>
            <a:r>
              <a:rPr lang="pt-BR" sz="3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Apps</a:t>
            </a:r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 Ágeis (</a:t>
            </a:r>
            <a:r>
              <a:rPr lang="pt-BR" sz="3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DevOps</a:t>
            </a:r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)</a:t>
            </a:r>
          </a:p>
          <a:p>
            <a:endParaRPr lang="pt-BR" sz="36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Visão, Princípios e Road-</a:t>
            </a:r>
            <a:r>
              <a:rPr lang="pt-BR" sz="28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Map</a:t>
            </a:r>
            <a:endParaRPr lang="pt-BR" sz="28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Versão 1 – 21-02-2017</a:t>
            </a:r>
          </a:p>
        </p:txBody>
      </p:sp>
      <p:pic>
        <p:nvPicPr>
          <p:cNvPr id="1026" name="Picture 2" descr="https://media.licdn.com/mpr/mpr/shrinknp_800_800/AAEAAQAAAAAAAAaSAAAAJGM1OGMzMzA5LTkxYWItNDcyZi04MWI2LTA5ZmIzY2ZkNzFhOQ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5992"/>
          <a:stretch/>
        </p:blipFill>
        <p:spPr bwMode="auto">
          <a:xfrm>
            <a:off x="972346" y="3803906"/>
            <a:ext cx="4427832" cy="214462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0" y="0"/>
            <a:ext cx="10181492" cy="69283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2707" y="129598"/>
            <a:ext cx="933147" cy="334448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1097316" y="2010439"/>
            <a:ext cx="7922507" cy="28371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“In software,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when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something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painful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way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reduce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pain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b="1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 it more </a:t>
            </a:r>
            <a:r>
              <a:rPr lang="pt-BR" sz="3200" b="1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frequently</a:t>
            </a:r>
            <a:r>
              <a:rPr lang="pt-BR" sz="3200" b="1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3200" b="1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pt-BR" sz="3200" b="1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b="1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less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.” </a:t>
            </a:r>
          </a:p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endParaRPr lang="pt-BR" sz="2400" dirty="0">
              <a:solidFill>
                <a:schemeClr val="bg1"/>
              </a:solidFill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1400" b="1" dirty="0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David </a:t>
            </a:r>
            <a:r>
              <a:rPr lang="pt-BR" sz="1400" b="1" dirty="0" err="1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Farley</a:t>
            </a:r>
            <a:r>
              <a:rPr lang="pt-BR" sz="14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 </a:t>
            </a:r>
            <a:r>
              <a:rPr lang="pt-BR" sz="1400" b="1" dirty="0" err="1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Continuous</a:t>
            </a:r>
            <a:r>
              <a:rPr lang="pt-BR" sz="1400" b="1" dirty="0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Delivery: </a:t>
            </a:r>
            <a:r>
              <a:rPr lang="pt-BR" sz="1400" b="1" dirty="0" err="1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Reliable</a:t>
            </a:r>
            <a:r>
              <a:rPr lang="pt-BR" sz="1400" b="1" dirty="0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Software Releases </a:t>
            </a:r>
            <a:r>
              <a:rPr lang="pt-BR" sz="1400" b="1" dirty="0" err="1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through</a:t>
            </a:r>
            <a:r>
              <a:rPr lang="pt-BR" sz="1400" b="1" dirty="0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Build, Test, </a:t>
            </a:r>
            <a:r>
              <a:rPr lang="pt-BR" sz="1400" b="1" dirty="0" err="1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pt-BR" sz="1400" b="1" dirty="0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Deployment Automation</a:t>
            </a:r>
            <a:endParaRPr lang="pt-BR" sz="20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96188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Projeto Infra &amp;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Apps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Ágeis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4494807" y="1090913"/>
            <a:ext cx="6480000" cy="720000"/>
          </a:xfrm>
          <a:prstGeom prst="roundRect">
            <a:avLst>
              <a:gd name="adj" fmla="val 21097"/>
            </a:avLst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Visão e Missão da Iniciativa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4" name="Retângulo de cantos arredondados 6"/>
          <p:cNvSpPr/>
          <p:nvPr/>
        </p:nvSpPr>
        <p:spPr>
          <a:xfrm>
            <a:off x="4494807" y="2972369"/>
            <a:ext cx="6480000" cy="720000"/>
          </a:xfrm>
          <a:prstGeom prst="roundRect">
            <a:avLst>
              <a:gd name="adj" fmla="val 21097"/>
            </a:avLst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Principais Problemas Identificados</a:t>
            </a:r>
          </a:p>
        </p:txBody>
      </p:sp>
      <p:sp>
        <p:nvSpPr>
          <p:cNvPr id="15" name="Retângulo de cantos arredondados 6"/>
          <p:cNvSpPr/>
          <p:nvPr/>
        </p:nvSpPr>
        <p:spPr>
          <a:xfrm>
            <a:off x="4494807" y="3913097"/>
            <a:ext cx="6480000" cy="720000"/>
          </a:xfrm>
          <a:prstGeom prst="roundRect">
            <a:avLst>
              <a:gd name="adj" fmla="val 21097"/>
            </a:avLst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Princípios de </a:t>
            </a:r>
            <a:r>
              <a:rPr lang="pt-BR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DevOps</a:t>
            </a:r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 Smiles</a:t>
            </a:r>
          </a:p>
        </p:txBody>
      </p:sp>
      <p:sp>
        <p:nvSpPr>
          <p:cNvPr id="16" name="Retângulo de cantos arredondados 6"/>
          <p:cNvSpPr/>
          <p:nvPr/>
        </p:nvSpPr>
        <p:spPr>
          <a:xfrm>
            <a:off x="4494807" y="4853825"/>
            <a:ext cx="6480000" cy="720000"/>
          </a:xfrm>
          <a:prstGeom prst="roundRect">
            <a:avLst>
              <a:gd name="adj" fmla="val 21097"/>
            </a:avLst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pt-BR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Roadmap</a:t>
            </a:r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 2017-2018 (Ênfase Q1 e Q2)</a:t>
            </a:r>
          </a:p>
        </p:txBody>
      </p:sp>
      <p:sp>
        <p:nvSpPr>
          <p:cNvPr id="12" name="Retângulo de cantos arredondados 6"/>
          <p:cNvSpPr/>
          <p:nvPr/>
        </p:nvSpPr>
        <p:spPr>
          <a:xfrm>
            <a:off x="4494807" y="2031641"/>
            <a:ext cx="6480000" cy="720000"/>
          </a:xfrm>
          <a:prstGeom prst="roundRect">
            <a:avLst>
              <a:gd name="adj" fmla="val 21097"/>
            </a:avLst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Dinâmica Atual de DEV</a:t>
            </a:r>
          </a:p>
        </p:txBody>
      </p:sp>
      <p:pic>
        <p:nvPicPr>
          <p:cNvPr id="2050" name="Picture 2" descr="https://t3.ftcdn.net/jpg/01/36/54/24/240_F_136542440_JOPFSUpwIY7fyE14ri7Dv2ab5dEupVwy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6982" y="2619187"/>
            <a:ext cx="3429000" cy="2286000"/>
          </a:xfrm>
          <a:prstGeom prst="roundRect">
            <a:avLst>
              <a:gd name="adj" fmla="val 17056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sp>
        <p:nvSpPr>
          <p:cNvPr id="13" name="Retângulo de cantos arredondados 6"/>
          <p:cNvSpPr/>
          <p:nvPr/>
        </p:nvSpPr>
        <p:spPr>
          <a:xfrm>
            <a:off x="4494807" y="5794554"/>
            <a:ext cx="6480000" cy="720000"/>
          </a:xfrm>
          <a:prstGeom prst="roundRect">
            <a:avLst>
              <a:gd name="adj" fmla="val 21097"/>
            </a:avLst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Macro Processo </a:t>
            </a:r>
            <a:r>
              <a:rPr lang="pt-BR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To</a:t>
            </a:r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-Be para Q1</a:t>
            </a:r>
          </a:p>
        </p:txBody>
      </p:sp>
    </p:spTree>
    <p:extLst>
      <p:ext uri="{BB962C8B-B14F-4D97-AF65-F5344CB8AC3E}">
        <p14:creationId xmlns:p14="http://schemas.microsoft.com/office/powerpoint/2010/main" val="2413853271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 flipH="1">
            <a:off x="0" y="-1"/>
            <a:ext cx="10117138" cy="6858001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3" name="Agrupar 2"/>
          <p:cNvGrpSpPr/>
          <p:nvPr/>
        </p:nvGrpSpPr>
        <p:grpSpPr>
          <a:xfrm>
            <a:off x="262189" y="773160"/>
            <a:ext cx="4428000" cy="5082564"/>
            <a:chOff x="262189" y="773160"/>
            <a:chExt cx="4428000" cy="5082564"/>
          </a:xfrm>
        </p:grpSpPr>
        <p:sp>
          <p:nvSpPr>
            <p:cNvPr id="9" name="TextBox 8"/>
            <p:cNvSpPr txBox="1"/>
            <p:nvPr/>
          </p:nvSpPr>
          <p:spPr>
            <a:xfrm>
              <a:off x="607117" y="773160"/>
              <a:ext cx="37381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Missão</a:t>
              </a:r>
            </a:p>
          </p:txBody>
        </p:sp>
        <p:sp>
          <p:nvSpPr>
            <p:cNvPr id="10" name="CaixaDeTexto 9"/>
            <p:cNvSpPr txBox="1"/>
            <p:nvPr/>
          </p:nvSpPr>
          <p:spPr>
            <a:xfrm>
              <a:off x="262189" y="1427724"/>
              <a:ext cx="4428000" cy="4428000"/>
            </a:xfrm>
            <a:prstGeom prst="rect">
              <a:avLst/>
            </a:prstGeom>
            <a:solidFill>
              <a:schemeClr val="accent4">
                <a:lumMod val="50000"/>
                <a:alpha val="88000"/>
              </a:schemeClr>
            </a:solidFill>
          </p:spPr>
          <p:txBody>
            <a:bodyPr wrap="square" rtlCol="0" anchor="ctr">
              <a:noAutofit/>
            </a:bodyPr>
            <a:lstStyle/>
            <a:p>
              <a:pPr marL="36000">
                <a:lnSpc>
                  <a:spcPts val="35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pt-BR" sz="2400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“Habilitar os desenvolvedores a </a:t>
              </a:r>
              <a:r>
                <a:rPr lang="pt-BR" sz="2400" b="1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entregar </a:t>
              </a:r>
              <a:r>
                <a:rPr lang="pt-BR" sz="2400" b="1" i="1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software</a:t>
              </a:r>
              <a:r>
                <a:rPr lang="pt-BR" sz="2400" b="1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 com qualidade e funcionando </a:t>
              </a:r>
              <a:r>
                <a:rPr lang="pt-BR" sz="2400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no primeiro dia de trabalho na Smiles.”</a:t>
              </a:r>
            </a:p>
          </p:txBody>
        </p:sp>
      </p:grpSp>
      <p:pic>
        <p:nvPicPr>
          <p:cNvPr id="12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355" y="227799"/>
            <a:ext cx="933147" cy="334448"/>
          </a:xfrm>
          <a:prstGeom prst="rect">
            <a:avLst/>
          </a:prstGeom>
        </p:spPr>
      </p:pic>
      <p:grpSp>
        <p:nvGrpSpPr>
          <p:cNvPr id="4" name="Agrupar 3"/>
          <p:cNvGrpSpPr/>
          <p:nvPr/>
        </p:nvGrpSpPr>
        <p:grpSpPr>
          <a:xfrm>
            <a:off x="5471017" y="773160"/>
            <a:ext cx="4428000" cy="5082564"/>
            <a:chOff x="5471017" y="773160"/>
            <a:chExt cx="4428000" cy="5082564"/>
          </a:xfrm>
        </p:grpSpPr>
        <p:sp>
          <p:nvSpPr>
            <p:cNvPr id="6" name="CaixaDeTexto 5"/>
            <p:cNvSpPr txBox="1"/>
            <p:nvPr/>
          </p:nvSpPr>
          <p:spPr>
            <a:xfrm>
              <a:off x="5471017" y="1427724"/>
              <a:ext cx="4428000" cy="4428000"/>
            </a:xfrm>
            <a:prstGeom prst="rect">
              <a:avLst/>
            </a:prstGeom>
            <a:solidFill>
              <a:schemeClr val="accent4">
                <a:lumMod val="50000"/>
                <a:alpha val="88000"/>
              </a:schemeClr>
            </a:solidFill>
          </p:spPr>
          <p:txBody>
            <a:bodyPr wrap="square" rtlCol="0" anchor="ctr">
              <a:noAutofit/>
            </a:bodyPr>
            <a:lstStyle/>
            <a:p>
              <a:pPr marL="36000">
                <a:lnSpc>
                  <a:spcPts val="35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pt-BR" sz="2400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“Promover um </a:t>
              </a:r>
              <a:r>
                <a:rPr lang="pt-BR" sz="2400" b="1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ambiente de inovação constante</a:t>
              </a:r>
              <a:r>
                <a:rPr lang="pt-BR" sz="2400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 onde a Tecnologia seja de fato um habilitador que </a:t>
              </a:r>
              <a:r>
                <a:rPr lang="pt-BR" sz="2400" b="1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impulsiona os negócios da Smiles</a:t>
              </a:r>
              <a:r>
                <a:rPr lang="pt-BR" sz="2400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, através de uma </a:t>
              </a:r>
              <a:r>
                <a:rPr lang="pt-BR" sz="2400" b="1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cultura de desenvolvimento </a:t>
              </a:r>
              <a:r>
                <a:rPr lang="pt-BR" sz="2400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que permita evoluções rápidas, contínuas e com alta resiliência.”</a:t>
              </a:r>
            </a:p>
          </p:txBody>
        </p:sp>
        <p:sp>
          <p:nvSpPr>
            <p:cNvPr id="7" name="TextBox 8"/>
            <p:cNvSpPr txBox="1"/>
            <p:nvPr/>
          </p:nvSpPr>
          <p:spPr>
            <a:xfrm>
              <a:off x="5815945" y="773160"/>
              <a:ext cx="37381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Visão</a:t>
              </a:r>
            </a:p>
          </p:txBody>
        </p:sp>
      </p:grpSp>
      <p:sp>
        <p:nvSpPr>
          <p:cNvPr id="2" name="Retângulo 1"/>
          <p:cNvSpPr/>
          <p:nvPr/>
        </p:nvSpPr>
        <p:spPr>
          <a:xfrm>
            <a:off x="4448487" y="6434914"/>
            <a:ext cx="454483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“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Think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 big,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Act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small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,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Fail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fast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,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Learn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rapidly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.”</a:t>
            </a:r>
            <a:r>
              <a:rPr lang="pt-BR" sz="1600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846811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Dinâmica Atual de DEV</a:t>
            </a:r>
          </a:p>
        </p:txBody>
      </p:sp>
      <p:grpSp>
        <p:nvGrpSpPr>
          <p:cNvPr id="18" name="Agrupar 17"/>
          <p:cNvGrpSpPr/>
          <p:nvPr/>
        </p:nvGrpSpPr>
        <p:grpSpPr>
          <a:xfrm>
            <a:off x="90350" y="1455128"/>
            <a:ext cx="1800000" cy="4672175"/>
            <a:chOff x="90350" y="1507880"/>
            <a:chExt cx="1800000" cy="4672175"/>
          </a:xfrm>
        </p:grpSpPr>
        <p:sp>
          <p:nvSpPr>
            <p:cNvPr id="3" name="Seta: Pentágono 2"/>
            <p:cNvSpPr/>
            <p:nvPr/>
          </p:nvSpPr>
          <p:spPr>
            <a:xfrm>
              <a:off x="90350" y="1507880"/>
              <a:ext cx="1800000" cy="606670"/>
            </a:xfrm>
            <a:prstGeom prst="homePlat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Entendimento e Preparação</a:t>
              </a:r>
            </a:p>
          </p:txBody>
        </p:sp>
        <p:sp>
          <p:nvSpPr>
            <p:cNvPr id="5" name="Retângulo 4"/>
            <p:cNvSpPr/>
            <p:nvPr/>
          </p:nvSpPr>
          <p:spPr>
            <a:xfrm>
              <a:off x="90350" y="2220055"/>
              <a:ext cx="1527441" cy="396000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Desenvolvedor entende Desenho de Solução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Verifica qual é a Tecnologia a ser usada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Busca acessos necessários para trabalhar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Desenvolvedor “monta” seu ambiente de DEV e Teste local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Realiza definição de apontamentos (ambientes)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Pede para criar </a:t>
              </a:r>
              <a:r>
                <a:rPr lang="pt-BR" sz="900" dirty="0" err="1"/>
                <a:t>Branch</a:t>
              </a:r>
              <a:endParaRPr lang="pt-BR" sz="900" dirty="0"/>
            </a:p>
          </p:txBody>
        </p:sp>
      </p:grpSp>
      <p:grpSp>
        <p:nvGrpSpPr>
          <p:cNvPr id="19" name="Agrupar 18"/>
          <p:cNvGrpSpPr/>
          <p:nvPr/>
        </p:nvGrpSpPr>
        <p:grpSpPr>
          <a:xfrm>
            <a:off x="1724765" y="1455128"/>
            <a:ext cx="1800000" cy="4672175"/>
            <a:chOff x="1724765" y="1507880"/>
            <a:chExt cx="1800000" cy="4672175"/>
          </a:xfrm>
        </p:grpSpPr>
        <p:sp>
          <p:nvSpPr>
            <p:cNvPr id="4" name="Seta: Divisa 3"/>
            <p:cNvSpPr/>
            <p:nvPr/>
          </p:nvSpPr>
          <p:spPr>
            <a:xfrm>
              <a:off x="1724765" y="1507880"/>
              <a:ext cx="1800000" cy="606670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Codificação e Teste Local</a:t>
              </a:r>
            </a:p>
          </p:txBody>
        </p:sp>
        <p:sp>
          <p:nvSpPr>
            <p:cNvPr id="12" name="Retângulo 11"/>
            <p:cNvSpPr/>
            <p:nvPr/>
          </p:nvSpPr>
          <p:spPr>
            <a:xfrm>
              <a:off x="1724765" y="2220055"/>
              <a:ext cx="1527441" cy="396000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Faz </a:t>
              </a:r>
              <a:r>
                <a:rPr lang="pt-BR" sz="900" dirty="0" err="1"/>
                <a:t>checkout</a:t>
              </a:r>
              <a:r>
                <a:rPr lang="pt-BR" sz="900" dirty="0"/>
                <a:t> e roda código AS-IS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Começa o desenvolvimento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Funcionalidade / Correção desenvolvida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Realiza teste mínimo local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Faz </a:t>
              </a:r>
              <a:r>
                <a:rPr lang="pt-BR" sz="900" dirty="0" err="1"/>
                <a:t>Commit</a:t>
              </a:r>
              <a:r>
                <a:rPr lang="pt-BR" sz="900" dirty="0"/>
                <a:t> na </a:t>
              </a:r>
              <a:r>
                <a:rPr lang="pt-BR" sz="900" dirty="0" err="1"/>
                <a:t>Branch</a:t>
              </a:r>
              <a:endParaRPr lang="pt-BR" sz="900" dirty="0"/>
            </a:p>
          </p:txBody>
        </p:sp>
      </p:grpSp>
      <p:grpSp>
        <p:nvGrpSpPr>
          <p:cNvPr id="20" name="Agrupar 19"/>
          <p:cNvGrpSpPr/>
          <p:nvPr/>
        </p:nvGrpSpPr>
        <p:grpSpPr>
          <a:xfrm>
            <a:off x="3359180" y="1455128"/>
            <a:ext cx="1800000" cy="4672175"/>
            <a:chOff x="3359180" y="1507880"/>
            <a:chExt cx="1800000" cy="4672175"/>
          </a:xfrm>
        </p:grpSpPr>
        <p:sp>
          <p:nvSpPr>
            <p:cNvPr id="8" name="Seta: Divisa 7"/>
            <p:cNvSpPr/>
            <p:nvPr/>
          </p:nvSpPr>
          <p:spPr>
            <a:xfrm>
              <a:off x="3359180" y="1507880"/>
              <a:ext cx="1800000" cy="606670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Build/</a:t>
              </a:r>
              <a:r>
                <a:rPr lang="pt-BR" sz="1300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Deploy</a:t>
              </a:r>
              <a:endParaRPr lang="pt-BR" sz="1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(Pré-Teste)</a:t>
              </a:r>
            </a:p>
          </p:txBody>
        </p:sp>
        <p:sp>
          <p:nvSpPr>
            <p:cNvPr id="13" name="Retângulo 12"/>
            <p:cNvSpPr/>
            <p:nvPr/>
          </p:nvSpPr>
          <p:spPr>
            <a:xfrm>
              <a:off x="3359180" y="2220055"/>
              <a:ext cx="1527441" cy="396000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2"/>
              </a:pPr>
              <a:r>
                <a:rPr lang="pt-BR" sz="900" dirty="0"/>
                <a:t>Faz Build do Pacote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2"/>
              </a:pPr>
              <a:r>
                <a:rPr lang="pt-BR" sz="900" dirty="0"/>
                <a:t>Solicita </a:t>
              </a:r>
              <a:r>
                <a:rPr lang="pt-BR" sz="900" dirty="0" err="1"/>
                <a:t>Deploy</a:t>
              </a:r>
              <a:r>
                <a:rPr lang="pt-BR" sz="900" dirty="0"/>
                <a:t> em UAT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2"/>
              </a:pPr>
              <a:r>
                <a:rPr lang="pt-BR" sz="900" dirty="0"/>
                <a:t>Aguarda </a:t>
              </a:r>
              <a:r>
                <a:rPr lang="pt-BR" sz="900" dirty="0" err="1"/>
                <a:t>Deploy</a:t>
              </a:r>
              <a:r>
                <a:rPr lang="pt-BR" sz="900" dirty="0"/>
                <a:t> em UAT</a:t>
              </a:r>
            </a:p>
            <a:p>
              <a:pPr marL="22860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2"/>
              </a:pPr>
              <a:r>
                <a:rPr lang="pt-BR" sz="900" dirty="0" err="1"/>
                <a:t>Deploy</a:t>
              </a:r>
              <a:r>
                <a:rPr lang="pt-BR" sz="900" dirty="0"/>
                <a:t> OK, segue. </a:t>
              </a:r>
              <a:r>
                <a:rPr lang="pt-BR" sz="900" dirty="0" err="1"/>
                <a:t>Deploy</a:t>
              </a:r>
              <a:r>
                <a:rPr lang="pt-BR" sz="900" dirty="0"/>
                <a:t> NOK, volta p/ passo 9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2"/>
              </a:pPr>
              <a:r>
                <a:rPr lang="pt-BR" sz="900" dirty="0"/>
                <a:t>Libera para QA (Pré-Teste)</a:t>
              </a:r>
            </a:p>
            <a:p>
              <a:pPr marL="22860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2"/>
              </a:pPr>
              <a:r>
                <a:rPr lang="pt-BR" sz="900" dirty="0"/>
                <a:t>Pré-Teste OK, segue. Pré-Teste NOK, volta p/ passo 9</a:t>
              </a:r>
            </a:p>
          </p:txBody>
        </p:sp>
      </p:grpSp>
      <p:grpSp>
        <p:nvGrpSpPr>
          <p:cNvPr id="21" name="Agrupar 20"/>
          <p:cNvGrpSpPr/>
          <p:nvPr/>
        </p:nvGrpSpPr>
        <p:grpSpPr>
          <a:xfrm>
            <a:off x="4993595" y="1455128"/>
            <a:ext cx="1800000" cy="4697085"/>
            <a:chOff x="4993595" y="1507880"/>
            <a:chExt cx="1800000" cy="4697085"/>
          </a:xfrm>
        </p:grpSpPr>
        <p:sp>
          <p:nvSpPr>
            <p:cNvPr id="11" name="Seta: Divisa 10"/>
            <p:cNvSpPr/>
            <p:nvPr/>
          </p:nvSpPr>
          <p:spPr>
            <a:xfrm>
              <a:off x="4993595" y="1507880"/>
              <a:ext cx="1800000" cy="606670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Build/</a:t>
              </a:r>
              <a:r>
                <a:rPr lang="pt-BR" sz="1300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Deploy</a:t>
              </a:r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 em UAT (QA)</a:t>
              </a:r>
            </a:p>
          </p:txBody>
        </p:sp>
        <p:sp>
          <p:nvSpPr>
            <p:cNvPr id="14" name="Retângulo 13"/>
            <p:cNvSpPr/>
            <p:nvPr/>
          </p:nvSpPr>
          <p:spPr>
            <a:xfrm>
              <a:off x="4993595" y="2244965"/>
              <a:ext cx="1527441" cy="396000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Definição da ordem de entradas do </a:t>
              </a:r>
              <a:r>
                <a:rPr lang="pt-BR" sz="900" dirty="0" err="1"/>
                <a:t>Quarter</a:t>
              </a:r>
              <a:endParaRPr lang="pt-BR" sz="900" dirty="0"/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Definição das Merges das </a:t>
              </a:r>
              <a:r>
                <a:rPr lang="pt-BR" sz="900" dirty="0" err="1"/>
                <a:t>Branchs</a:t>
              </a:r>
              <a:r>
                <a:rPr lang="pt-BR" sz="900" dirty="0"/>
                <a:t> que entram juntas e Definição da Merge Master das </a:t>
              </a:r>
              <a:r>
                <a:rPr lang="pt-BR" sz="900" dirty="0" err="1"/>
                <a:t>Branchs</a:t>
              </a:r>
              <a:r>
                <a:rPr lang="pt-BR" sz="900" dirty="0"/>
                <a:t> que entram juntas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Faz Build de todos os pacotes em produção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Solicita </a:t>
              </a:r>
              <a:r>
                <a:rPr lang="pt-BR" sz="900" dirty="0" err="1"/>
                <a:t>Deploy</a:t>
              </a:r>
              <a:r>
                <a:rPr lang="pt-BR" sz="900" dirty="0"/>
                <a:t> em UAT + Arquivos </a:t>
              </a:r>
              <a:r>
                <a:rPr lang="pt-BR" sz="900" dirty="0" err="1"/>
                <a:t>Properties</a:t>
              </a:r>
              <a:r>
                <a:rPr lang="pt-BR" sz="900" dirty="0"/>
                <a:t> (Apontamentos)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Aguarda </a:t>
              </a:r>
              <a:r>
                <a:rPr lang="pt-BR" sz="900" dirty="0" err="1"/>
                <a:t>Deploy</a:t>
              </a:r>
              <a:r>
                <a:rPr lang="pt-BR" sz="900" dirty="0"/>
                <a:t>  em UAT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 err="1"/>
                <a:t>Deploy</a:t>
              </a:r>
              <a:r>
                <a:rPr lang="pt-BR" sz="900" dirty="0"/>
                <a:t> OK, segue. </a:t>
              </a:r>
              <a:r>
                <a:rPr lang="pt-BR" sz="900" dirty="0" err="1"/>
                <a:t>Deploy</a:t>
              </a:r>
              <a:r>
                <a:rPr lang="pt-BR" sz="900" dirty="0"/>
                <a:t> NOK, volta p/ passo 9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Libera </a:t>
              </a:r>
              <a:r>
                <a:rPr lang="pt-BR" sz="900" dirty="0" err="1"/>
                <a:t>Deploy</a:t>
              </a:r>
              <a:r>
                <a:rPr lang="pt-BR" sz="900" dirty="0"/>
                <a:t> para QA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QA faz Regressivo FULL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Regressivo OK, segue. Regressivo NOK, volta p/  passo 9</a:t>
              </a:r>
            </a:p>
          </p:txBody>
        </p:sp>
      </p:grpSp>
      <p:grpSp>
        <p:nvGrpSpPr>
          <p:cNvPr id="22" name="Agrupar 21"/>
          <p:cNvGrpSpPr/>
          <p:nvPr/>
        </p:nvGrpSpPr>
        <p:grpSpPr>
          <a:xfrm>
            <a:off x="6628010" y="1455128"/>
            <a:ext cx="1800000" cy="4672175"/>
            <a:chOff x="6628010" y="1507880"/>
            <a:chExt cx="1800000" cy="4672175"/>
          </a:xfrm>
        </p:grpSpPr>
        <p:sp>
          <p:nvSpPr>
            <p:cNvPr id="10" name="Seta: Divisa 9"/>
            <p:cNvSpPr/>
            <p:nvPr/>
          </p:nvSpPr>
          <p:spPr>
            <a:xfrm>
              <a:off x="6628010" y="1507880"/>
              <a:ext cx="1800000" cy="606670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GMUD e Implantação</a:t>
              </a:r>
            </a:p>
          </p:txBody>
        </p:sp>
        <p:sp>
          <p:nvSpPr>
            <p:cNvPr id="15" name="Retângulo 14"/>
            <p:cNvSpPr/>
            <p:nvPr/>
          </p:nvSpPr>
          <p:spPr>
            <a:xfrm>
              <a:off x="6628010" y="2220055"/>
              <a:ext cx="1527441" cy="396000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/>
                <a:t>Abre GMUD e estabelece Blue/Green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/>
                <a:t>Implantação GMUD na data acordada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/>
                <a:t>Realiza </a:t>
              </a:r>
              <a:r>
                <a:rPr lang="pt-BR" sz="900" dirty="0" err="1"/>
                <a:t>Deploy</a:t>
              </a:r>
              <a:r>
                <a:rPr lang="pt-BR" sz="900" dirty="0"/>
                <a:t> em  Ambiente de Produção </a:t>
              </a:r>
              <a:r>
                <a:rPr lang="pt-BR" sz="900" dirty="0" err="1"/>
                <a:t>Standby</a:t>
              </a:r>
              <a:r>
                <a:rPr lang="pt-BR" sz="900" dirty="0"/>
                <a:t> (Blue/Green)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/>
                <a:t>Configurar Máquinas locais para enxergar ambiente de Produção </a:t>
              </a:r>
              <a:r>
                <a:rPr lang="pt-BR" sz="900" dirty="0" err="1"/>
                <a:t>Standby</a:t>
              </a:r>
              <a:endParaRPr lang="pt-BR" sz="900" dirty="0"/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/>
                <a:t>Realiza ajustes na  monitoração (</a:t>
              </a:r>
              <a:r>
                <a:rPr lang="pt-BR" sz="900" dirty="0" err="1"/>
                <a:t>Dynatrace</a:t>
              </a:r>
              <a:r>
                <a:rPr lang="pt-BR" sz="900" dirty="0"/>
                <a:t>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/>
                <a:t>Realiza </a:t>
              </a:r>
              <a:r>
                <a:rPr lang="pt-BR" sz="900" dirty="0" err="1"/>
                <a:t>Smoke</a:t>
              </a:r>
              <a:r>
                <a:rPr lang="pt-BR" sz="900" dirty="0"/>
                <a:t> Test no Ambiente de Produção </a:t>
              </a:r>
              <a:r>
                <a:rPr lang="pt-BR" sz="900" dirty="0" err="1"/>
                <a:t>Standby</a:t>
              </a:r>
              <a:endParaRPr lang="pt-BR" sz="900" dirty="0"/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 err="1"/>
                <a:t>Smoke</a:t>
              </a:r>
              <a:r>
                <a:rPr lang="pt-BR" sz="900" dirty="0"/>
                <a:t> Test OK, segue. </a:t>
              </a:r>
              <a:r>
                <a:rPr lang="pt-BR" sz="900" dirty="0" err="1"/>
                <a:t>Smoke</a:t>
              </a:r>
              <a:r>
                <a:rPr lang="pt-BR" sz="900" dirty="0"/>
                <a:t> Test NOK, volta para passo 9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endParaRPr lang="pt-BR" sz="900" dirty="0"/>
            </a:p>
          </p:txBody>
        </p:sp>
      </p:grpSp>
      <p:grpSp>
        <p:nvGrpSpPr>
          <p:cNvPr id="23" name="Agrupar 22"/>
          <p:cNvGrpSpPr/>
          <p:nvPr/>
        </p:nvGrpSpPr>
        <p:grpSpPr>
          <a:xfrm>
            <a:off x="8262425" y="1455128"/>
            <a:ext cx="1800000" cy="4672174"/>
            <a:chOff x="8262425" y="1507880"/>
            <a:chExt cx="1800000" cy="4672174"/>
          </a:xfrm>
        </p:grpSpPr>
        <p:sp>
          <p:nvSpPr>
            <p:cNvPr id="16" name="Seta: Divisa 15"/>
            <p:cNvSpPr/>
            <p:nvPr/>
          </p:nvSpPr>
          <p:spPr>
            <a:xfrm>
              <a:off x="8262425" y="1507880"/>
              <a:ext cx="1800000" cy="606670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Chaveamento e Produção FULL</a:t>
              </a:r>
            </a:p>
          </p:txBody>
        </p:sp>
        <p:sp>
          <p:nvSpPr>
            <p:cNvPr id="17" name="Retângulo 16"/>
            <p:cNvSpPr/>
            <p:nvPr/>
          </p:nvSpPr>
          <p:spPr>
            <a:xfrm>
              <a:off x="8262425" y="2220054"/>
              <a:ext cx="1527441" cy="396000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Chaveamento Parcial (Blue/Green)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Acompanhamento do chaveamento parcial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Chaveamento Total 100% (Blue/Green)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KT para Operações (opcional)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Merge do </a:t>
              </a:r>
              <a:r>
                <a:rPr lang="pt-BR" sz="900" dirty="0" err="1"/>
                <a:t>Branch</a:t>
              </a:r>
              <a:r>
                <a:rPr lang="pt-BR" sz="900" dirty="0"/>
                <a:t> na </a:t>
              </a:r>
              <a:r>
                <a:rPr lang="pt-BR" sz="900" dirty="0" err="1"/>
                <a:t>master</a:t>
              </a:r>
              <a:endParaRPr lang="pt-BR" sz="900" dirty="0"/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Release do próximo projeto do </a:t>
              </a:r>
              <a:r>
                <a:rPr lang="pt-BR" sz="900" dirty="0" err="1"/>
                <a:t>Quarter</a:t>
              </a:r>
              <a:r>
                <a:rPr lang="pt-BR" sz="900" dirty="0"/>
                <a:t> (volta para passo 19)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Operação Assistida em Produção</a:t>
              </a:r>
            </a:p>
          </p:txBody>
        </p:sp>
      </p:grpSp>
      <p:sp>
        <p:nvSpPr>
          <p:cNvPr id="24" name="Retângulo: Cantos Arredondados 23"/>
          <p:cNvSpPr/>
          <p:nvPr/>
        </p:nvSpPr>
        <p:spPr>
          <a:xfrm>
            <a:off x="90351" y="1107826"/>
            <a:ext cx="1237288" cy="252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>
                <a:latin typeface="Candara" panose="020E0502030303020204" pitchFamily="34" charset="0"/>
                <a:cs typeface="Arial" panose="020B0604020202020204" pitchFamily="34" charset="0"/>
              </a:rPr>
              <a:t>10 dias </a:t>
            </a:r>
          </a:p>
        </p:txBody>
      </p:sp>
      <p:sp>
        <p:nvSpPr>
          <p:cNvPr id="25" name="Retângulo: Cantos Arredondados 24"/>
          <p:cNvSpPr/>
          <p:nvPr/>
        </p:nvSpPr>
        <p:spPr>
          <a:xfrm>
            <a:off x="8262425" y="1107826"/>
            <a:ext cx="1237288" cy="252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>
                <a:latin typeface="Candara" panose="020E0502030303020204" pitchFamily="34" charset="0"/>
                <a:cs typeface="Arial" panose="020B0604020202020204" pitchFamily="34" charset="0"/>
              </a:rPr>
              <a:t>5 dias </a:t>
            </a:r>
          </a:p>
        </p:txBody>
      </p:sp>
      <p:sp>
        <p:nvSpPr>
          <p:cNvPr id="26" name="Retângulo: Cantos Arredondados 25"/>
          <p:cNvSpPr/>
          <p:nvPr/>
        </p:nvSpPr>
        <p:spPr>
          <a:xfrm>
            <a:off x="1724766" y="1107826"/>
            <a:ext cx="1237288" cy="252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>
                <a:latin typeface="Candara" panose="020E0502030303020204" pitchFamily="34" charset="0"/>
                <a:cs typeface="Arial" panose="020B0604020202020204" pitchFamily="34" charset="0"/>
              </a:rPr>
              <a:t>10 dias </a:t>
            </a:r>
          </a:p>
        </p:txBody>
      </p:sp>
      <p:sp>
        <p:nvSpPr>
          <p:cNvPr id="27" name="Retângulo: Cantos Arredondados 26"/>
          <p:cNvSpPr/>
          <p:nvPr/>
        </p:nvSpPr>
        <p:spPr>
          <a:xfrm>
            <a:off x="3359181" y="1107826"/>
            <a:ext cx="1237288" cy="252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>
                <a:latin typeface="Candara" panose="020E0502030303020204" pitchFamily="34" charset="0"/>
                <a:cs typeface="Arial" panose="020B0604020202020204" pitchFamily="34" charset="0"/>
              </a:rPr>
              <a:t>2 dias </a:t>
            </a:r>
          </a:p>
        </p:txBody>
      </p:sp>
      <p:sp>
        <p:nvSpPr>
          <p:cNvPr id="28" name="Retângulo: Cantos Arredondados 27"/>
          <p:cNvSpPr/>
          <p:nvPr/>
        </p:nvSpPr>
        <p:spPr>
          <a:xfrm>
            <a:off x="4993596" y="1107826"/>
            <a:ext cx="1237288" cy="252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>
                <a:latin typeface="Candara" panose="020E0502030303020204" pitchFamily="34" charset="0"/>
                <a:cs typeface="Arial" panose="020B0604020202020204" pitchFamily="34" charset="0"/>
              </a:rPr>
              <a:t>7 dias </a:t>
            </a:r>
          </a:p>
        </p:txBody>
      </p:sp>
      <p:sp>
        <p:nvSpPr>
          <p:cNvPr id="29" name="Retângulo: Cantos Arredondados 28"/>
          <p:cNvSpPr/>
          <p:nvPr/>
        </p:nvSpPr>
        <p:spPr>
          <a:xfrm>
            <a:off x="6628011" y="1107826"/>
            <a:ext cx="1237288" cy="252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>
                <a:latin typeface="Candara" panose="020E0502030303020204" pitchFamily="34" charset="0"/>
                <a:cs typeface="Arial" panose="020B0604020202020204" pitchFamily="34" charset="0"/>
              </a:rPr>
              <a:t>6 dias </a:t>
            </a:r>
          </a:p>
        </p:txBody>
      </p:sp>
      <p:sp>
        <p:nvSpPr>
          <p:cNvPr id="30" name="Retângulo: Cantos Arredondados 29"/>
          <p:cNvSpPr/>
          <p:nvPr/>
        </p:nvSpPr>
        <p:spPr>
          <a:xfrm>
            <a:off x="90350" y="819553"/>
            <a:ext cx="1923088" cy="180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100" dirty="0">
                <a:latin typeface="Candara" panose="020E0502030303020204" pitchFamily="34" charset="0"/>
                <a:cs typeface="Arial" panose="020B0604020202020204" pitchFamily="34" charset="0"/>
              </a:rPr>
              <a:t>Tempos médios estimados</a:t>
            </a:r>
            <a:endParaRPr lang="pt-BR" sz="1300" dirty="0"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CaixaDeTexto 30"/>
          <p:cNvSpPr txBox="1"/>
          <p:nvPr/>
        </p:nvSpPr>
        <p:spPr>
          <a:xfrm>
            <a:off x="743949" y="4986285"/>
            <a:ext cx="3515231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rgbClr val="C00000"/>
                </a:solidFill>
                <a:latin typeface="Candara" panose="020E0502030303020204" pitchFamily="34" charset="0"/>
              </a:rPr>
              <a:t>Importante: poucos desenvolvedores conhecem o processo todo!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90350" y="6327003"/>
            <a:ext cx="9972075" cy="324000"/>
          </a:xfrm>
          <a:prstGeom prst="homePlat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3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360000" algn="l"/>
            <a:r>
              <a:rPr lang="pt-BR" dirty="0"/>
              <a:t>Considerando o “caminho feliz”, sem a ocorrência de falhas (incidentes) ou crises!</a:t>
            </a:r>
          </a:p>
        </p:txBody>
      </p:sp>
      <p:pic>
        <p:nvPicPr>
          <p:cNvPr id="32" name="Gráfico 31" descr="Rosto Sorridente sem Preenchimento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8347" y="6363003"/>
            <a:ext cx="252000" cy="252000"/>
          </a:xfrm>
          <a:prstGeom prst="rect">
            <a:avLst/>
          </a:prstGeom>
        </p:spPr>
      </p:pic>
      <p:sp>
        <p:nvSpPr>
          <p:cNvPr id="34" name="Retângulo: Cantos Arredondados 33"/>
          <p:cNvSpPr/>
          <p:nvPr/>
        </p:nvSpPr>
        <p:spPr>
          <a:xfrm>
            <a:off x="7123713" y="819553"/>
            <a:ext cx="2376000" cy="180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100" dirty="0">
                <a:latin typeface="Candara" panose="020E0502030303020204" pitchFamily="34" charset="0"/>
                <a:cs typeface="Arial" panose="020B0604020202020204" pitchFamily="34" charset="0"/>
              </a:rPr>
              <a:t>Tempo total estimado: 40 dias úteis</a:t>
            </a:r>
          </a:p>
        </p:txBody>
      </p:sp>
    </p:spTree>
    <p:extLst>
      <p:ext uri="{BB962C8B-B14F-4D97-AF65-F5344CB8AC3E}">
        <p14:creationId xmlns:p14="http://schemas.microsoft.com/office/powerpoint/2010/main" val="2435075221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>
            <a:spLocks noChangeAspect="1"/>
          </p:cNvSpPr>
          <p:nvPr/>
        </p:nvSpPr>
        <p:spPr>
          <a:xfrm flipH="1">
            <a:off x="415269" y="1217967"/>
            <a:ext cx="3437794" cy="5220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Principais Problemas Identificados</a:t>
            </a:r>
          </a:p>
        </p:txBody>
      </p:sp>
      <p:sp>
        <p:nvSpPr>
          <p:cNvPr id="10" name="Retângulo 9"/>
          <p:cNvSpPr/>
          <p:nvPr/>
        </p:nvSpPr>
        <p:spPr>
          <a:xfrm>
            <a:off x="4225844" y="1217967"/>
            <a:ext cx="5497275" cy="5220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Baixa Qualidade de Entrega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Alto Esforço Operacional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Alto </a:t>
            </a:r>
            <a:r>
              <a:rPr lang="pt-BR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Time </a:t>
            </a:r>
            <a:r>
              <a:rPr lang="pt-BR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to</a:t>
            </a:r>
            <a:r>
              <a:rPr lang="pt-BR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Market 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(velocidade de entrada de novas funcionalidades)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Deploys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muito espaçados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Testes manuais (poucos testes automatizados)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Controle de versão pouco eficiente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Falta de Padronização (versionamento, documentação, rastreabilidade)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Merge “perdido” (funcionalidades e/ou correções “somem” após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deploy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/release)</a:t>
            </a:r>
          </a:p>
        </p:txBody>
      </p:sp>
    </p:spTree>
    <p:extLst>
      <p:ext uri="{BB962C8B-B14F-4D97-AF65-F5344CB8AC3E}">
        <p14:creationId xmlns:p14="http://schemas.microsoft.com/office/powerpoint/2010/main" val="2858359751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>
            <a:spLocks noChangeAspect="1"/>
          </p:cNvSpPr>
          <p:nvPr/>
        </p:nvSpPr>
        <p:spPr>
          <a:xfrm flipH="1">
            <a:off x="415269" y="1217967"/>
            <a:ext cx="3437794" cy="5220000"/>
          </a:xfrm>
          <a:prstGeom prst="rect">
            <a:avLst/>
          </a:prstGeom>
          <a:blipFill dpi="0" rotWithShape="1">
            <a:blip r:embed="rId2">
              <a:duotone>
                <a:prstClr val="black"/>
                <a:schemeClr val="accent4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Princípios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DevOps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Smiles</a:t>
            </a:r>
          </a:p>
        </p:txBody>
      </p:sp>
      <p:sp>
        <p:nvSpPr>
          <p:cNvPr id="8" name="Retângulo 7"/>
          <p:cNvSpPr/>
          <p:nvPr/>
        </p:nvSpPr>
        <p:spPr>
          <a:xfrm>
            <a:off x="4225844" y="1217967"/>
            <a:ext cx="5497275" cy="5220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Simplicidade em toda a cadeia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Jornada com mudanças constantes - não tem fim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Teste faz parte do desenvolvimento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Entregas menores e mais frequentes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pt-BR" sz="20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Deploy</a:t>
            </a: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não é </a:t>
            </a:r>
            <a:r>
              <a:rPr lang="pt-BR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Release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Tudo é versionável e rastreável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pt-BR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Pipeline</a:t>
            </a: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quebrado equivale a “produção parada”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pt-BR" sz="20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Done</a:t>
            </a: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significa em Produção</a:t>
            </a:r>
          </a:p>
        </p:txBody>
      </p:sp>
    </p:spTree>
    <p:extLst>
      <p:ext uri="{BB962C8B-B14F-4D97-AF65-F5344CB8AC3E}">
        <p14:creationId xmlns:p14="http://schemas.microsoft.com/office/powerpoint/2010/main" val="247737880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Roadmap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2017-2018</a:t>
            </a:r>
          </a:p>
        </p:txBody>
      </p:sp>
      <p:grpSp>
        <p:nvGrpSpPr>
          <p:cNvPr id="42" name="Agrupar 41"/>
          <p:cNvGrpSpPr/>
          <p:nvPr/>
        </p:nvGrpSpPr>
        <p:grpSpPr>
          <a:xfrm>
            <a:off x="1" y="1213341"/>
            <a:ext cx="10117137" cy="5102516"/>
            <a:chOff x="1" y="1213341"/>
            <a:chExt cx="10117137" cy="5102516"/>
          </a:xfrm>
        </p:grpSpPr>
        <p:sp>
          <p:nvSpPr>
            <p:cNvPr id="34" name="Retângulo 33"/>
            <p:cNvSpPr/>
            <p:nvPr/>
          </p:nvSpPr>
          <p:spPr>
            <a:xfrm>
              <a:off x="1" y="1213341"/>
              <a:ext cx="10117137" cy="510251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endParaRPr lang="pt-BR" sz="900" dirty="0"/>
            </a:p>
          </p:txBody>
        </p:sp>
        <p:sp>
          <p:nvSpPr>
            <p:cNvPr id="3" name="Seta: Pentágono 2"/>
            <p:cNvSpPr/>
            <p:nvPr/>
          </p:nvSpPr>
          <p:spPr>
            <a:xfrm>
              <a:off x="90350" y="1314454"/>
              <a:ext cx="1800000" cy="606670"/>
            </a:xfrm>
            <a:prstGeom prst="homePlate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Q1 2017</a:t>
              </a:r>
            </a:p>
          </p:txBody>
        </p:sp>
        <p:sp>
          <p:nvSpPr>
            <p:cNvPr id="4" name="Seta: Divisa 3"/>
            <p:cNvSpPr/>
            <p:nvPr/>
          </p:nvSpPr>
          <p:spPr>
            <a:xfrm>
              <a:off x="1724765" y="1314454"/>
              <a:ext cx="1800000" cy="606670"/>
            </a:xfrm>
            <a:prstGeom prst="chevron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Q2 2017</a:t>
              </a:r>
            </a:p>
          </p:txBody>
        </p:sp>
        <p:sp>
          <p:nvSpPr>
            <p:cNvPr id="8" name="Seta: Divisa 7"/>
            <p:cNvSpPr/>
            <p:nvPr/>
          </p:nvSpPr>
          <p:spPr>
            <a:xfrm>
              <a:off x="3359180" y="1314454"/>
              <a:ext cx="1800000" cy="606670"/>
            </a:xfrm>
            <a:prstGeom prst="chevron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Q3 2017</a:t>
              </a:r>
            </a:p>
          </p:txBody>
        </p:sp>
        <p:sp>
          <p:nvSpPr>
            <p:cNvPr id="11" name="Seta: Divisa 10"/>
            <p:cNvSpPr/>
            <p:nvPr/>
          </p:nvSpPr>
          <p:spPr>
            <a:xfrm>
              <a:off x="4993595" y="1314454"/>
              <a:ext cx="1800000" cy="606670"/>
            </a:xfrm>
            <a:prstGeom prst="chevron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Q4 2017</a:t>
              </a:r>
            </a:p>
          </p:txBody>
        </p:sp>
        <p:sp>
          <p:nvSpPr>
            <p:cNvPr id="10" name="Seta: Divisa 9"/>
            <p:cNvSpPr/>
            <p:nvPr/>
          </p:nvSpPr>
          <p:spPr>
            <a:xfrm>
              <a:off x="6628010" y="1314454"/>
              <a:ext cx="1800000" cy="606670"/>
            </a:xfrm>
            <a:prstGeom prst="chevron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Q1-Q2 2018</a:t>
              </a:r>
            </a:p>
          </p:txBody>
        </p:sp>
        <p:sp>
          <p:nvSpPr>
            <p:cNvPr id="16" name="Seta: Divisa 15"/>
            <p:cNvSpPr/>
            <p:nvPr/>
          </p:nvSpPr>
          <p:spPr>
            <a:xfrm>
              <a:off x="8262425" y="1314454"/>
              <a:ext cx="1800000" cy="606670"/>
            </a:xfrm>
            <a:prstGeom prst="chevron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Q3-Q4 2018</a:t>
              </a:r>
            </a:p>
          </p:txBody>
        </p:sp>
        <p:cxnSp>
          <p:nvCxnSpPr>
            <p:cNvPr id="36" name="Conector reto 35"/>
            <p:cNvCxnSpPr>
              <a:cxnSpLocks/>
            </p:cNvCxnSpPr>
            <p:nvPr/>
          </p:nvCxnSpPr>
          <p:spPr>
            <a:xfrm>
              <a:off x="1626577" y="1995857"/>
              <a:ext cx="0" cy="432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8" name="Conector reto 37"/>
            <p:cNvCxnSpPr>
              <a:cxnSpLocks/>
            </p:cNvCxnSpPr>
            <p:nvPr/>
          </p:nvCxnSpPr>
          <p:spPr>
            <a:xfrm>
              <a:off x="8188570" y="1995857"/>
              <a:ext cx="0" cy="432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9" name="Conector reto 38"/>
            <p:cNvCxnSpPr>
              <a:cxnSpLocks/>
            </p:cNvCxnSpPr>
            <p:nvPr/>
          </p:nvCxnSpPr>
          <p:spPr>
            <a:xfrm>
              <a:off x="3267075" y="1995857"/>
              <a:ext cx="0" cy="432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0" name="Conector reto 39"/>
            <p:cNvCxnSpPr>
              <a:cxnSpLocks/>
            </p:cNvCxnSpPr>
            <p:nvPr/>
          </p:nvCxnSpPr>
          <p:spPr>
            <a:xfrm>
              <a:off x="4907573" y="1995857"/>
              <a:ext cx="0" cy="432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1" name="Conector reto 40"/>
            <p:cNvCxnSpPr>
              <a:cxnSpLocks/>
            </p:cNvCxnSpPr>
            <p:nvPr/>
          </p:nvCxnSpPr>
          <p:spPr>
            <a:xfrm>
              <a:off x="6548071" y="1995857"/>
              <a:ext cx="0" cy="432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43" name="Seta: Pentágono 42"/>
          <p:cNvSpPr/>
          <p:nvPr/>
        </p:nvSpPr>
        <p:spPr>
          <a:xfrm>
            <a:off x="1659953" y="2369843"/>
            <a:ext cx="1620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Testes Unitários</a:t>
            </a:r>
          </a:p>
        </p:txBody>
      </p:sp>
      <p:sp>
        <p:nvSpPr>
          <p:cNvPr id="44" name="Seta: Pentágono 43"/>
          <p:cNvSpPr/>
          <p:nvPr/>
        </p:nvSpPr>
        <p:spPr>
          <a:xfrm>
            <a:off x="1659953" y="3053016"/>
            <a:ext cx="4888118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Infrastructure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As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Code</a:t>
            </a:r>
            <a:endParaRPr lang="pt-BR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5" name="Seta: Pentágono 44"/>
          <p:cNvSpPr/>
          <p:nvPr/>
        </p:nvSpPr>
        <p:spPr>
          <a:xfrm>
            <a:off x="1659953" y="3736189"/>
            <a:ext cx="48888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Containers</a:t>
            </a:r>
          </a:p>
        </p:txBody>
      </p:sp>
      <p:sp>
        <p:nvSpPr>
          <p:cNvPr id="46" name="Seta: Pentágono 45"/>
          <p:cNvSpPr/>
          <p:nvPr/>
        </p:nvSpPr>
        <p:spPr>
          <a:xfrm>
            <a:off x="3307044" y="5102535"/>
            <a:ext cx="4860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Continuous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Integration</a:t>
            </a:r>
            <a:endParaRPr lang="pt-BR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7" name="Seta: Pentágono 46"/>
          <p:cNvSpPr/>
          <p:nvPr/>
        </p:nvSpPr>
        <p:spPr>
          <a:xfrm>
            <a:off x="3300450" y="2369843"/>
            <a:ext cx="6725403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Testes Automatizados (Completos)</a:t>
            </a:r>
          </a:p>
        </p:txBody>
      </p:sp>
      <p:sp>
        <p:nvSpPr>
          <p:cNvPr id="48" name="Seta: Pentágono 47"/>
          <p:cNvSpPr/>
          <p:nvPr/>
        </p:nvSpPr>
        <p:spPr>
          <a:xfrm>
            <a:off x="6575129" y="5785708"/>
            <a:ext cx="3450724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Continuous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Delivery</a:t>
            </a:r>
          </a:p>
        </p:txBody>
      </p:sp>
      <p:sp>
        <p:nvSpPr>
          <p:cNvPr id="49" name="Seta: Pentágono 48"/>
          <p:cNvSpPr/>
          <p:nvPr/>
        </p:nvSpPr>
        <p:spPr>
          <a:xfrm>
            <a:off x="1659953" y="4419362"/>
            <a:ext cx="324762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Feature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Toggle</a:t>
            </a:r>
            <a:endParaRPr lang="pt-BR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0" name="Seta: Pentágono 49"/>
          <p:cNvSpPr/>
          <p:nvPr/>
        </p:nvSpPr>
        <p:spPr>
          <a:xfrm>
            <a:off x="90811" y="2369843"/>
            <a:ext cx="1548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Roadmap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2017-2018</a:t>
            </a:r>
          </a:p>
        </p:txBody>
      </p:sp>
      <p:sp>
        <p:nvSpPr>
          <p:cNvPr id="51" name="Seta: Pentágono 50"/>
          <p:cNvSpPr/>
          <p:nvPr/>
        </p:nvSpPr>
        <p:spPr>
          <a:xfrm>
            <a:off x="90811" y="3053016"/>
            <a:ext cx="1548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Migração SVN - GIT</a:t>
            </a:r>
          </a:p>
        </p:txBody>
      </p:sp>
      <p:sp>
        <p:nvSpPr>
          <p:cNvPr id="52" name="Seta: Pentágono 51"/>
          <p:cNvSpPr/>
          <p:nvPr/>
        </p:nvSpPr>
        <p:spPr>
          <a:xfrm>
            <a:off x="90811" y="3736189"/>
            <a:ext cx="1548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Processos Técnicos </a:t>
            </a:r>
            <a:r>
              <a:rPr lang="pt-BR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(estabelecer, automatizar)</a:t>
            </a:r>
            <a:endParaRPr lang="pt-BR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3" name="Seta: Pentágono 52"/>
          <p:cNvSpPr/>
          <p:nvPr/>
        </p:nvSpPr>
        <p:spPr>
          <a:xfrm>
            <a:off x="90811" y="4419362"/>
            <a:ext cx="1548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Desenv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. (esteira)</a:t>
            </a:r>
          </a:p>
        </p:txBody>
      </p:sp>
      <p:sp>
        <p:nvSpPr>
          <p:cNvPr id="54" name="Seta: Pentágono 53"/>
          <p:cNvSpPr/>
          <p:nvPr/>
        </p:nvSpPr>
        <p:spPr>
          <a:xfrm>
            <a:off x="90811" y="5102535"/>
            <a:ext cx="1548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Fundamentos para Cont.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Integration</a:t>
            </a:r>
            <a:endParaRPr lang="pt-BR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5" name="Seta: Pentágono 54"/>
          <p:cNvSpPr/>
          <p:nvPr/>
        </p:nvSpPr>
        <p:spPr>
          <a:xfrm>
            <a:off x="90811" y="5785708"/>
            <a:ext cx="1548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Treinamentos</a:t>
            </a:r>
          </a:p>
        </p:txBody>
      </p:sp>
    </p:spTree>
    <p:extLst>
      <p:ext uri="{BB962C8B-B14F-4D97-AF65-F5344CB8AC3E}">
        <p14:creationId xmlns:p14="http://schemas.microsoft.com/office/powerpoint/2010/main" val="4213180206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Q1 – Ganhos e Benefícios</a:t>
            </a:r>
          </a:p>
        </p:txBody>
      </p:sp>
      <p:grpSp>
        <p:nvGrpSpPr>
          <p:cNvPr id="42" name="Agrupar 41"/>
          <p:cNvGrpSpPr/>
          <p:nvPr/>
        </p:nvGrpSpPr>
        <p:grpSpPr>
          <a:xfrm>
            <a:off x="1" y="1213341"/>
            <a:ext cx="10117137" cy="5102516"/>
            <a:chOff x="1" y="1213341"/>
            <a:chExt cx="10117137" cy="5102516"/>
          </a:xfrm>
        </p:grpSpPr>
        <p:sp>
          <p:nvSpPr>
            <p:cNvPr id="34" name="Retângulo 33"/>
            <p:cNvSpPr/>
            <p:nvPr/>
          </p:nvSpPr>
          <p:spPr>
            <a:xfrm>
              <a:off x="1" y="1213341"/>
              <a:ext cx="10117137" cy="510251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endParaRPr lang="pt-BR" sz="900" dirty="0"/>
            </a:p>
          </p:txBody>
        </p:sp>
        <p:sp>
          <p:nvSpPr>
            <p:cNvPr id="3" name="Seta: Pentágono 2"/>
            <p:cNvSpPr/>
            <p:nvPr/>
          </p:nvSpPr>
          <p:spPr>
            <a:xfrm>
              <a:off x="90350" y="1314454"/>
              <a:ext cx="1800000" cy="606670"/>
            </a:xfrm>
            <a:prstGeom prst="homePlate">
              <a:avLst/>
            </a:prstGeom>
            <a:solidFill>
              <a:srgbClr val="8064A2"/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Q1 2017</a:t>
              </a:r>
            </a:p>
          </p:txBody>
        </p:sp>
        <p:sp>
          <p:nvSpPr>
            <p:cNvPr id="4" name="Seta: Divisa 3"/>
            <p:cNvSpPr/>
            <p:nvPr/>
          </p:nvSpPr>
          <p:spPr>
            <a:xfrm>
              <a:off x="1724765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Q2 2017</a:t>
              </a:r>
            </a:p>
          </p:txBody>
        </p:sp>
        <p:sp>
          <p:nvSpPr>
            <p:cNvPr id="8" name="Seta: Divisa 7"/>
            <p:cNvSpPr/>
            <p:nvPr/>
          </p:nvSpPr>
          <p:spPr>
            <a:xfrm>
              <a:off x="3359180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Q3 2017</a:t>
              </a:r>
            </a:p>
          </p:txBody>
        </p:sp>
        <p:sp>
          <p:nvSpPr>
            <p:cNvPr id="11" name="Seta: Divisa 10"/>
            <p:cNvSpPr/>
            <p:nvPr/>
          </p:nvSpPr>
          <p:spPr>
            <a:xfrm>
              <a:off x="4993595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Q4 2017</a:t>
              </a:r>
            </a:p>
          </p:txBody>
        </p:sp>
        <p:sp>
          <p:nvSpPr>
            <p:cNvPr id="10" name="Seta: Divisa 9"/>
            <p:cNvSpPr/>
            <p:nvPr/>
          </p:nvSpPr>
          <p:spPr>
            <a:xfrm>
              <a:off x="6628010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Q1-Q2 2018</a:t>
              </a:r>
            </a:p>
          </p:txBody>
        </p:sp>
        <p:sp>
          <p:nvSpPr>
            <p:cNvPr id="16" name="Seta: Divisa 15"/>
            <p:cNvSpPr/>
            <p:nvPr/>
          </p:nvSpPr>
          <p:spPr>
            <a:xfrm>
              <a:off x="8262425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Q3-Q4 2018</a:t>
              </a:r>
            </a:p>
          </p:txBody>
        </p:sp>
        <p:cxnSp>
          <p:nvCxnSpPr>
            <p:cNvPr id="36" name="Conector reto 35"/>
            <p:cNvCxnSpPr>
              <a:cxnSpLocks/>
            </p:cNvCxnSpPr>
            <p:nvPr/>
          </p:nvCxnSpPr>
          <p:spPr>
            <a:xfrm>
              <a:off x="1626577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8" name="Conector reto 37"/>
            <p:cNvCxnSpPr>
              <a:cxnSpLocks/>
            </p:cNvCxnSpPr>
            <p:nvPr/>
          </p:nvCxnSpPr>
          <p:spPr>
            <a:xfrm>
              <a:off x="8188570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9" name="Conector reto 38"/>
            <p:cNvCxnSpPr>
              <a:cxnSpLocks/>
            </p:cNvCxnSpPr>
            <p:nvPr/>
          </p:nvCxnSpPr>
          <p:spPr>
            <a:xfrm>
              <a:off x="3267075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0" name="Conector reto 39"/>
            <p:cNvCxnSpPr>
              <a:cxnSpLocks/>
            </p:cNvCxnSpPr>
            <p:nvPr/>
          </p:nvCxnSpPr>
          <p:spPr>
            <a:xfrm>
              <a:off x="4907573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1" name="Conector reto 40"/>
            <p:cNvCxnSpPr>
              <a:cxnSpLocks/>
            </p:cNvCxnSpPr>
            <p:nvPr/>
          </p:nvCxnSpPr>
          <p:spPr>
            <a:xfrm>
              <a:off x="6548071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50" name="Seta: Pentágono 49"/>
          <p:cNvSpPr/>
          <p:nvPr/>
        </p:nvSpPr>
        <p:spPr>
          <a:xfrm>
            <a:off x="90811" y="2369843"/>
            <a:ext cx="1548000" cy="353154"/>
          </a:xfrm>
          <a:prstGeom prst="homePlate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Roadmap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2017-2018</a:t>
            </a:r>
          </a:p>
        </p:txBody>
      </p:sp>
      <p:sp>
        <p:nvSpPr>
          <p:cNvPr id="51" name="Seta: Pentágono 50"/>
          <p:cNvSpPr/>
          <p:nvPr/>
        </p:nvSpPr>
        <p:spPr>
          <a:xfrm>
            <a:off x="90811" y="3053016"/>
            <a:ext cx="1548000" cy="353154"/>
          </a:xfrm>
          <a:prstGeom prst="homePlate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Migração SVN - GIT</a:t>
            </a:r>
          </a:p>
        </p:txBody>
      </p:sp>
      <p:sp>
        <p:nvSpPr>
          <p:cNvPr id="52" name="Seta: Pentágono 51"/>
          <p:cNvSpPr/>
          <p:nvPr/>
        </p:nvSpPr>
        <p:spPr>
          <a:xfrm>
            <a:off x="90811" y="3736189"/>
            <a:ext cx="1548000" cy="353154"/>
          </a:xfrm>
          <a:prstGeom prst="homePlate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Processos Técnicos </a:t>
            </a:r>
            <a:r>
              <a:rPr lang="pt-BR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(estabelecer, automatizar)</a:t>
            </a:r>
            <a:endParaRPr lang="pt-BR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3" name="Seta: Pentágono 52"/>
          <p:cNvSpPr/>
          <p:nvPr/>
        </p:nvSpPr>
        <p:spPr>
          <a:xfrm>
            <a:off x="90811" y="4419362"/>
            <a:ext cx="1548000" cy="353154"/>
          </a:xfrm>
          <a:prstGeom prst="homePlate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Desenv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. (esteira)</a:t>
            </a:r>
          </a:p>
        </p:txBody>
      </p:sp>
      <p:sp>
        <p:nvSpPr>
          <p:cNvPr id="54" name="Seta: Pentágono 53"/>
          <p:cNvSpPr/>
          <p:nvPr/>
        </p:nvSpPr>
        <p:spPr>
          <a:xfrm>
            <a:off x="90811" y="5102535"/>
            <a:ext cx="1548000" cy="353154"/>
          </a:xfrm>
          <a:prstGeom prst="homePlate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Fundamentos para Cont.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Integration</a:t>
            </a:r>
            <a:endParaRPr lang="pt-BR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5" name="Seta: Pentágono 54"/>
          <p:cNvSpPr/>
          <p:nvPr/>
        </p:nvSpPr>
        <p:spPr>
          <a:xfrm>
            <a:off x="90811" y="5785708"/>
            <a:ext cx="1548000" cy="353154"/>
          </a:xfrm>
          <a:prstGeom prst="homePlate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Treinamentos</a:t>
            </a:r>
          </a:p>
        </p:txBody>
      </p:sp>
      <p:sp>
        <p:nvSpPr>
          <p:cNvPr id="32" name="Retângulo 31"/>
          <p:cNvSpPr/>
          <p:nvPr/>
        </p:nvSpPr>
        <p:spPr>
          <a:xfrm>
            <a:off x="1724766" y="2369843"/>
            <a:ext cx="8219334" cy="376901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marL="18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Ganhos e Benefícios após Q1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Aumentar </a:t>
            </a: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repetitividade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do processo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Aumentar </a:t>
            </a: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confiabilidade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do processo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Aumentar </a:t>
            </a: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rastreabilidade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do processo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Controle de versão completo e eficiente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Base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para TODOS os trabalhos futuros (alicerce)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Resolução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do problema de “</a:t>
            </a: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merge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perdido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” (perda de correções e funcionalidades)</a:t>
            </a:r>
          </a:p>
        </p:txBody>
      </p:sp>
    </p:spTree>
    <p:extLst>
      <p:ext uri="{BB962C8B-B14F-4D97-AF65-F5344CB8AC3E}">
        <p14:creationId xmlns:p14="http://schemas.microsoft.com/office/powerpoint/2010/main" val="2973856791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Q2 – Ganhos e Benefícios</a:t>
            </a:r>
          </a:p>
        </p:txBody>
      </p:sp>
      <p:grpSp>
        <p:nvGrpSpPr>
          <p:cNvPr id="42" name="Agrupar 41"/>
          <p:cNvGrpSpPr/>
          <p:nvPr/>
        </p:nvGrpSpPr>
        <p:grpSpPr>
          <a:xfrm>
            <a:off x="1" y="1213341"/>
            <a:ext cx="10117137" cy="5102516"/>
            <a:chOff x="1" y="1213341"/>
            <a:chExt cx="10117137" cy="5102516"/>
          </a:xfrm>
        </p:grpSpPr>
        <p:sp>
          <p:nvSpPr>
            <p:cNvPr id="34" name="Retângulo 33"/>
            <p:cNvSpPr/>
            <p:nvPr/>
          </p:nvSpPr>
          <p:spPr>
            <a:xfrm>
              <a:off x="1" y="1213341"/>
              <a:ext cx="10117137" cy="510251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endParaRPr lang="pt-BR" sz="900" dirty="0"/>
            </a:p>
          </p:txBody>
        </p:sp>
        <p:sp>
          <p:nvSpPr>
            <p:cNvPr id="3" name="Seta: Pentágono 2"/>
            <p:cNvSpPr/>
            <p:nvPr/>
          </p:nvSpPr>
          <p:spPr>
            <a:xfrm>
              <a:off x="90350" y="1314454"/>
              <a:ext cx="1800000" cy="606670"/>
            </a:xfrm>
            <a:prstGeom prst="homePlate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Q1 2017</a:t>
              </a:r>
            </a:p>
          </p:txBody>
        </p:sp>
        <p:sp>
          <p:nvSpPr>
            <p:cNvPr id="4" name="Seta: Divisa 3"/>
            <p:cNvSpPr/>
            <p:nvPr/>
          </p:nvSpPr>
          <p:spPr>
            <a:xfrm>
              <a:off x="1724765" y="1314454"/>
              <a:ext cx="1800000" cy="606670"/>
            </a:xfrm>
            <a:prstGeom prst="chevron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Q2 2017</a:t>
              </a:r>
            </a:p>
          </p:txBody>
        </p:sp>
        <p:sp>
          <p:nvSpPr>
            <p:cNvPr id="8" name="Seta: Divisa 7"/>
            <p:cNvSpPr/>
            <p:nvPr/>
          </p:nvSpPr>
          <p:spPr>
            <a:xfrm>
              <a:off x="3359180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Q3 2017</a:t>
              </a:r>
            </a:p>
          </p:txBody>
        </p:sp>
        <p:sp>
          <p:nvSpPr>
            <p:cNvPr id="11" name="Seta: Divisa 10"/>
            <p:cNvSpPr/>
            <p:nvPr/>
          </p:nvSpPr>
          <p:spPr>
            <a:xfrm>
              <a:off x="4993595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Q4 2017</a:t>
              </a:r>
            </a:p>
          </p:txBody>
        </p:sp>
        <p:sp>
          <p:nvSpPr>
            <p:cNvPr id="10" name="Seta: Divisa 9"/>
            <p:cNvSpPr/>
            <p:nvPr/>
          </p:nvSpPr>
          <p:spPr>
            <a:xfrm>
              <a:off x="6628010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Q1-Q2 2018</a:t>
              </a:r>
            </a:p>
          </p:txBody>
        </p:sp>
        <p:sp>
          <p:nvSpPr>
            <p:cNvPr id="16" name="Seta: Divisa 15"/>
            <p:cNvSpPr/>
            <p:nvPr/>
          </p:nvSpPr>
          <p:spPr>
            <a:xfrm>
              <a:off x="8262425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Q3-Q4 2018</a:t>
              </a:r>
            </a:p>
          </p:txBody>
        </p:sp>
        <p:cxnSp>
          <p:nvCxnSpPr>
            <p:cNvPr id="36" name="Conector reto 35"/>
            <p:cNvCxnSpPr>
              <a:cxnSpLocks/>
            </p:cNvCxnSpPr>
            <p:nvPr/>
          </p:nvCxnSpPr>
          <p:spPr>
            <a:xfrm>
              <a:off x="1626577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8" name="Conector reto 37"/>
            <p:cNvCxnSpPr>
              <a:cxnSpLocks/>
            </p:cNvCxnSpPr>
            <p:nvPr/>
          </p:nvCxnSpPr>
          <p:spPr>
            <a:xfrm>
              <a:off x="8188570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9" name="Conector reto 38"/>
            <p:cNvCxnSpPr>
              <a:cxnSpLocks/>
            </p:cNvCxnSpPr>
            <p:nvPr/>
          </p:nvCxnSpPr>
          <p:spPr>
            <a:xfrm>
              <a:off x="3267075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0" name="Conector reto 39"/>
            <p:cNvCxnSpPr>
              <a:cxnSpLocks/>
            </p:cNvCxnSpPr>
            <p:nvPr/>
          </p:nvCxnSpPr>
          <p:spPr>
            <a:xfrm>
              <a:off x="4907573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1" name="Conector reto 40"/>
            <p:cNvCxnSpPr>
              <a:cxnSpLocks/>
            </p:cNvCxnSpPr>
            <p:nvPr/>
          </p:nvCxnSpPr>
          <p:spPr>
            <a:xfrm>
              <a:off x="6548071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43" name="Seta: Pentágono 42"/>
          <p:cNvSpPr/>
          <p:nvPr/>
        </p:nvSpPr>
        <p:spPr>
          <a:xfrm>
            <a:off x="1659953" y="2369843"/>
            <a:ext cx="1620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Testes Unitários</a:t>
            </a:r>
          </a:p>
        </p:txBody>
      </p:sp>
      <p:sp>
        <p:nvSpPr>
          <p:cNvPr id="44" name="Seta: Pentágono 43"/>
          <p:cNvSpPr/>
          <p:nvPr/>
        </p:nvSpPr>
        <p:spPr>
          <a:xfrm>
            <a:off x="1659953" y="3053016"/>
            <a:ext cx="4888118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Infrastructure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As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Code</a:t>
            </a:r>
            <a:endParaRPr lang="pt-BR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5" name="Seta: Pentágono 44"/>
          <p:cNvSpPr/>
          <p:nvPr/>
        </p:nvSpPr>
        <p:spPr>
          <a:xfrm>
            <a:off x="1659953" y="3736189"/>
            <a:ext cx="48888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Containers</a:t>
            </a:r>
          </a:p>
        </p:txBody>
      </p:sp>
      <p:sp>
        <p:nvSpPr>
          <p:cNvPr id="49" name="Seta: Pentágono 48"/>
          <p:cNvSpPr/>
          <p:nvPr/>
        </p:nvSpPr>
        <p:spPr>
          <a:xfrm>
            <a:off x="1659953" y="4419362"/>
            <a:ext cx="324762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Feature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Toggle</a:t>
            </a:r>
            <a:endParaRPr lang="pt-BR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0" name="Seta: Pentágono 49"/>
          <p:cNvSpPr/>
          <p:nvPr/>
        </p:nvSpPr>
        <p:spPr>
          <a:xfrm>
            <a:off x="90811" y="2369843"/>
            <a:ext cx="1548000" cy="353154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Roadmap</a:t>
            </a:r>
            <a:r>
              <a:rPr lang="pt-BR" sz="10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2017-2018</a:t>
            </a:r>
          </a:p>
        </p:txBody>
      </p:sp>
      <p:sp>
        <p:nvSpPr>
          <p:cNvPr id="51" name="Seta: Pentágono 50"/>
          <p:cNvSpPr/>
          <p:nvPr/>
        </p:nvSpPr>
        <p:spPr>
          <a:xfrm>
            <a:off x="90811" y="3053016"/>
            <a:ext cx="1548000" cy="353154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Migração SVN - GIT</a:t>
            </a:r>
          </a:p>
        </p:txBody>
      </p:sp>
      <p:sp>
        <p:nvSpPr>
          <p:cNvPr id="52" name="Seta: Pentágono 51"/>
          <p:cNvSpPr/>
          <p:nvPr/>
        </p:nvSpPr>
        <p:spPr>
          <a:xfrm>
            <a:off x="90811" y="3736189"/>
            <a:ext cx="1548000" cy="353154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Processos Técnicos </a:t>
            </a:r>
            <a:r>
              <a:rPr lang="pt-BR" sz="8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(estabelecer, automatizar)</a:t>
            </a:r>
            <a:endParaRPr lang="pt-BR" sz="1100" dirty="0">
              <a:solidFill>
                <a:schemeClr val="bg1">
                  <a:lumMod val="6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3" name="Seta: Pentágono 52"/>
          <p:cNvSpPr/>
          <p:nvPr/>
        </p:nvSpPr>
        <p:spPr>
          <a:xfrm>
            <a:off x="90811" y="4419362"/>
            <a:ext cx="1548000" cy="353154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</a:t>
            </a:r>
            <a:r>
              <a:rPr lang="pt-BR" sz="1000" dirty="0" err="1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Desenv</a:t>
            </a:r>
            <a:r>
              <a:rPr lang="pt-BR" sz="10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. (esteira)</a:t>
            </a:r>
          </a:p>
        </p:txBody>
      </p:sp>
      <p:sp>
        <p:nvSpPr>
          <p:cNvPr id="54" name="Seta: Pentágono 53"/>
          <p:cNvSpPr/>
          <p:nvPr/>
        </p:nvSpPr>
        <p:spPr>
          <a:xfrm>
            <a:off x="90811" y="5102535"/>
            <a:ext cx="1548000" cy="353154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Fundamentos para Cont. </a:t>
            </a:r>
            <a:r>
              <a:rPr lang="pt-BR" sz="1000" dirty="0" err="1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Integration</a:t>
            </a:r>
            <a:endParaRPr lang="pt-BR" sz="1000" dirty="0">
              <a:solidFill>
                <a:schemeClr val="bg1">
                  <a:lumMod val="6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5" name="Seta: Pentágono 54"/>
          <p:cNvSpPr/>
          <p:nvPr/>
        </p:nvSpPr>
        <p:spPr>
          <a:xfrm>
            <a:off x="90811" y="5785708"/>
            <a:ext cx="1548000" cy="353154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Treinamentos</a:t>
            </a:r>
          </a:p>
        </p:txBody>
      </p:sp>
      <p:sp>
        <p:nvSpPr>
          <p:cNvPr id="32" name="Retângulo 31"/>
          <p:cNvSpPr/>
          <p:nvPr/>
        </p:nvSpPr>
        <p:spPr>
          <a:xfrm>
            <a:off x="3359180" y="2369843"/>
            <a:ext cx="6584920" cy="376901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marL="18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Ganhos e Benefícios após Q2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Antecipação de problemas através de testes unitários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Entregar código com melhor qualidade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FT: aumentar a frequência dos </a:t>
            </a:r>
            <a:r>
              <a:rPr lang="pt-BR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deploys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sem expor de imediato as funcionalidades para o cliente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IaC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– reduzir problemas de configuração de ambientes (apontamentos)</a:t>
            </a:r>
          </a:p>
        </p:txBody>
      </p:sp>
    </p:spTree>
    <p:extLst>
      <p:ext uri="{BB962C8B-B14F-4D97-AF65-F5344CB8AC3E}">
        <p14:creationId xmlns:p14="http://schemas.microsoft.com/office/powerpoint/2010/main" val="3346223621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tângulo 39"/>
          <p:cNvSpPr/>
          <p:nvPr/>
        </p:nvSpPr>
        <p:spPr>
          <a:xfrm>
            <a:off x="3452237" y="2585636"/>
            <a:ext cx="1527441" cy="3929461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pt-BR" sz="900" dirty="0"/>
              <a:t>Retorna para Desenvolvedor em caso de Build quebrado</a:t>
            </a:r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pt-BR" sz="900" dirty="0"/>
              <a:t>Em caso de Build OK, o pacote  vai para o </a:t>
            </a:r>
            <a:r>
              <a:rPr lang="pt-BR" sz="900" dirty="0" err="1"/>
              <a:t>Nexus</a:t>
            </a: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</p:txBody>
      </p:sp>
      <p:sp>
        <p:nvSpPr>
          <p:cNvPr id="41" name="Retângulo 40"/>
          <p:cNvSpPr/>
          <p:nvPr/>
        </p:nvSpPr>
        <p:spPr>
          <a:xfrm>
            <a:off x="6712121" y="2585636"/>
            <a:ext cx="1527441" cy="3929461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pt-BR" sz="900" b="1" dirty="0"/>
              <a:t>Analista de Operação </a:t>
            </a:r>
            <a:r>
              <a:rPr lang="pt-BR" sz="900" dirty="0"/>
              <a:t>executa o </a:t>
            </a:r>
            <a:r>
              <a:rPr lang="pt-BR" sz="900" dirty="0" err="1"/>
              <a:t>Deploy</a:t>
            </a:r>
            <a:r>
              <a:rPr lang="pt-BR" sz="900" dirty="0"/>
              <a:t> através do </a:t>
            </a:r>
            <a:r>
              <a:rPr lang="pt-BR" sz="900" dirty="0" err="1"/>
              <a:t>Rundeck</a:t>
            </a:r>
            <a:r>
              <a:rPr lang="pt-BR" sz="900" dirty="0"/>
              <a:t>. </a:t>
            </a:r>
            <a:r>
              <a:rPr lang="pt-BR" sz="900" dirty="0" err="1"/>
              <a:t>Rundeck</a:t>
            </a:r>
            <a:r>
              <a:rPr lang="pt-BR" sz="900" dirty="0"/>
              <a:t> busca o pacote no </a:t>
            </a:r>
            <a:r>
              <a:rPr lang="pt-BR" sz="900" dirty="0" err="1"/>
              <a:t>Nexus</a:t>
            </a:r>
            <a:r>
              <a:rPr lang="pt-BR" sz="900" dirty="0"/>
              <a:t> para poder fazer o </a:t>
            </a:r>
            <a:r>
              <a:rPr lang="pt-BR" sz="900" dirty="0" err="1"/>
              <a:t>Deploy</a:t>
            </a:r>
            <a:r>
              <a:rPr lang="pt-BR" sz="900" dirty="0"/>
              <a:t>.</a:t>
            </a:r>
          </a:p>
        </p:txBody>
      </p:sp>
      <p:sp>
        <p:nvSpPr>
          <p:cNvPr id="42" name="Retângulo 41"/>
          <p:cNvSpPr/>
          <p:nvPr/>
        </p:nvSpPr>
        <p:spPr>
          <a:xfrm>
            <a:off x="8342063" y="2585636"/>
            <a:ext cx="1527441" cy="3929461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</p:txBody>
      </p:sp>
      <p:sp>
        <p:nvSpPr>
          <p:cNvPr id="46" name="Retângulo 45"/>
          <p:cNvSpPr/>
          <p:nvPr/>
        </p:nvSpPr>
        <p:spPr>
          <a:xfrm>
            <a:off x="1818609" y="2585636"/>
            <a:ext cx="1527441" cy="3929461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pt-BR" sz="900" b="1" dirty="0"/>
              <a:t>Desenvolvedor</a:t>
            </a:r>
            <a:r>
              <a:rPr lang="pt-BR" sz="900" dirty="0"/>
              <a:t> codifica e faz “</a:t>
            </a:r>
            <a:r>
              <a:rPr lang="pt-BR" sz="900" dirty="0" err="1"/>
              <a:t>commit</a:t>
            </a:r>
            <a:r>
              <a:rPr lang="pt-BR" sz="900" dirty="0"/>
              <a:t>” no GitHub</a:t>
            </a:r>
          </a:p>
        </p:txBody>
      </p:sp>
      <p:sp>
        <p:nvSpPr>
          <p:cNvPr id="47" name="Retângulo 46"/>
          <p:cNvSpPr/>
          <p:nvPr/>
        </p:nvSpPr>
        <p:spPr>
          <a:xfrm>
            <a:off x="192353" y="2585636"/>
            <a:ext cx="1527441" cy="3929461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pt-BR" sz="900" dirty="0"/>
              <a:t>Planejamento das tarefas e  atividades no JIRA</a:t>
            </a:r>
          </a:p>
        </p:txBody>
      </p:sp>
      <p:sp>
        <p:nvSpPr>
          <p:cNvPr id="48" name="Retângulo 47"/>
          <p:cNvSpPr/>
          <p:nvPr/>
        </p:nvSpPr>
        <p:spPr>
          <a:xfrm>
            <a:off x="5082179" y="2585636"/>
            <a:ext cx="1527441" cy="3929461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Macro Processo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To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-Be para Q1</a:t>
            </a:r>
          </a:p>
        </p:txBody>
      </p:sp>
      <p:sp>
        <p:nvSpPr>
          <p:cNvPr id="26" name="Divisa 11"/>
          <p:cNvSpPr/>
          <p:nvPr/>
        </p:nvSpPr>
        <p:spPr>
          <a:xfrm>
            <a:off x="51465" y="2086331"/>
            <a:ext cx="1800000" cy="429768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PLAN</a:t>
            </a:r>
          </a:p>
        </p:txBody>
      </p:sp>
      <p:sp>
        <p:nvSpPr>
          <p:cNvPr id="27" name="Divisa 16"/>
          <p:cNvSpPr/>
          <p:nvPr/>
        </p:nvSpPr>
        <p:spPr>
          <a:xfrm>
            <a:off x="1682329" y="2086331"/>
            <a:ext cx="1800000" cy="429768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DEVELOP</a:t>
            </a:r>
          </a:p>
        </p:txBody>
      </p:sp>
      <p:sp>
        <p:nvSpPr>
          <p:cNvPr id="28" name="Divisa 17"/>
          <p:cNvSpPr/>
          <p:nvPr/>
        </p:nvSpPr>
        <p:spPr>
          <a:xfrm>
            <a:off x="3313193" y="2086331"/>
            <a:ext cx="1800000" cy="429768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BUILD</a:t>
            </a:r>
          </a:p>
        </p:txBody>
      </p:sp>
      <p:sp>
        <p:nvSpPr>
          <p:cNvPr id="29" name="Divisa 18"/>
          <p:cNvSpPr/>
          <p:nvPr/>
        </p:nvSpPr>
        <p:spPr>
          <a:xfrm>
            <a:off x="4944057" y="2086331"/>
            <a:ext cx="1800000" cy="429768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TEST</a:t>
            </a:r>
          </a:p>
        </p:txBody>
      </p:sp>
      <p:sp>
        <p:nvSpPr>
          <p:cNvPr id="30" name="Divisa 19"/>
          <p:cNvSpPr/>
          <p:nvPr/>
        </p:nvSpPr>
        <p:spPr>
          <a:xfrm>
            <a:off x="6574921" y="2086331"/>
            <a:ext cx="1800000" cy="429768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DEPLOY</a:t>
            </a:r>
          </a:p>
        </p:txBody>
      </p:sp>
      <p:sp>
        <p:nvSpPr>
          <p:cNvPr id="31" name="Divisa 21"/>
          <p:cNvSpPr/>
          <p:nvPr/>
        </p:nvSpPr>
        <p:spPr>
          <a:xfrm>
            <a:off x="8205783" y="2086331"/>
            <a:ext cx="1800000" cy="429768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RELEASE</a:t>
            </a:r>
          </a:p>
        </p:txBody>
      </p:sp>
      <p:sp>
        <p:nvSpPr>
          <p:cNvPr id="33" name="Divisa 25"/>
          <p:cNvSpPr/>
          <p:nvPr/>
        </p:nvSpPr>
        <p:spPr>
          <a:xfrm>
            <a:off x="58953" y="1360923"/>
            <a:ext cx="3427739" cy="676627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 err="1">
                <a:solidFill>
                  <a:schemeClr val="bg1">
                    <a:lumMod val="9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Development</a:t>
            </a:r>
            <a:endParaRPr lang="pt-BR" sz="1600" b="1" i="1" dirty="0">
              <a:solidFill>
                <a:schemeClr val="bg1">
                  <a:lumMod val="95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5" name="Divisa 26"/>
          <p:cNvSpPr/>
          <p:nvPr/>
        </p:nvSpPr>
        <p:spPr>
          <a:xfrm>
            <a:off x="3204222" y="1360923"/>
            <a:ext cx="6850777" cy="676627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sz="1600" b="1" i="1" dirty="0" err="1">
                <a:solidFill>
                  <a:schemeClr val="bg1">
                    <a:lumMod val="9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Continuous</a:t>
            </a:r>
            <a:r>
              <a:rPr lang="pt-BR" sz="1600" b="1" i="1" dirty="0">
                <a:solidFill>
                  <a:schemeClr val="bg1">
                    <a:lumMod val="9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Delivery</a:t>
            </a:r>
          </a:p>
        </p:txBody>
      </p:sp>
      <p:sp>
        <p:nvSpPr>
          <p:cNvPr id="37" name="Divisa 27"/>
          <p:cNvSpPr/>
          <p:nvPr/>
        </p:nvSpPr>
        <p:spPr>
          <a:xfrm>
            <a:off x="3576838" y="1723776"/>
            <a:ext cx="3190229" cy="274018"/>
          </a:xfrm>
          <a:prstGeom prst="chevron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 err="1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Continuous</a:t>
            </a:r>
            <a:r>
              <a:rPr lang="pt-BR" sz="1600" b="1" i="1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pt-BR" sz="1600" b="1" i="1" dirty="0" err="1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Integration</a:t>
            </a:r>
            <a:endParaRPr lang="pt-BR" sz="1600" b="1" i="1" dirty="0">
              <a:solidFill>
                <a:schemeClr val="accent4">
                  <a:lumMod val="75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3" name="Divisa 28"/>
          <p:cNvSpPr/>
          <p:nvPr/>
        </p:nvSpPr>
        <p:spPr>
          <a:xfrm>
            <a:off x="6709319" y="1723776"/>
            <a:ext cx="3069305" cy="274018"/>
          </a:xfrm>
          <a:prstGeom prst="chevron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 err="1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Continuous</a:t>
            </a:r>
            <a:r>
              <a:rPr lang="pt-BR" sz="1600" b="1" i="1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Deployment</a:t>
            </a:r>
          </a:p>
        </p:txBody>
      </p:sp>
      <p:sp>
        <p:nvSpPr>
          <p:cNvPr id="44" name="Retângulo Arredondado 39"/>
          <p:cNvSpPr/>
          <p:nvPr/>
        </p:nvSpPr>
        <p:spPr>
          <a:xfrm>
            <a:off x="58953" y="972802"/>
            <a:ext cx="9946830" cy="322876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ALM - </a:t>
            </a:r>
            <a:r>
              <a:rPr lang="pt-BR" sz="1600" b="1" i="1" dirty="0" err="1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Aplication</a:t>
            </a:r>
            <a:r>
              <a:rPr lang="pt-BR" sz="1600" b="1" i="1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pt-BR" sz="1600" b="1" i="1" dirty="0" err="1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Lifecycle</a:t>
            </a:r>
            <a:r>
              <a:rPr lang="pt-BR" sz="1600" b="1" i="1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Management</a:t>
            </a:r>
          </a:p>
        </p:txBody>
      </p:sp>
      <p:sp>
        <p:nvSpPr>
          <p:cNvPr id="5" name="AutoShape 4" descr="https://www.shareicon.net/data/128x128/2015/09/02/94531_logo_512x512.png"/>
          <p:cNvSpPr>
            <a:spLocks noChangeAspect="1" noChangeArrowheads="1"/>
          </p:cNvSpPr>
          <p:nvPr/>
        </p:nvSpPr>
        <p:spPr bwMode="auto">
          <a:xfrm>
            <a:off x="4905375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30" name="Picture 6" descr="https://www.shareicon.net/data/128x128/2015/09/02/94531_logo_512x512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658" b="32274"/>
          <a:stretch/>
        </p:blipFill>
        <p:spPr bwMode="auto">
          <a:xfrm>
            <a:off x="1976415" y="3952286"/>
            <a:ext cx="1219200" cy="512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://i.forbesimg.com/media/lists/companies/slack_416x416.jpg"/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777936" y="3419899"/>
            <a:ext cx="870514" cy="326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https://cdn.xebialabs.com/assets/files/plugins/rundeck.jpg"/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744057" y="4583875"/>
            <a:ext cx="1474093" cy="280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design.atlassian.com/images/brand/logo-25.png"/>
          <p:cNvPicPr>
            <a:picLocks noChangeAspect="1" noChangeArrowheads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5770" t="20923" r="25308" b="25539"/>
          <a:stretch/>
        </p:blipFill>
        <p:spPr bwMode="auto">
          <a:xfrm>
            <a:off x="307318" y="2962777"/>
            <a:ext cx="1306390" cy="571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 descr="http://www.sonatype.org/nexus/content/uploads/2015/12/Jenkins-and-Nexus-Featured-Image.jpg"/>
          <p:cNvPicPr>
            <a:picLocks noChangeAspect="1" noChangeArrowheads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492621" y="5674590"/>
            <a:ext cx="1446672" cy="355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http://www.sonatype.org/nexus/content/uploads/2015/12/Jenkins-and-Nexus-Featured-Image.jpg"/>
          <p:cNvPicPr>
            <a:picLocks noChangeAspect="1" noChangeArrowheads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500616" y="4847017"/>
            <a:ext cx="1425154" cy="448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https://i0.wp.com/www.naturalborncoder.com/wp-content/uploads/2015/05/sonarqube_logo_720.png?fit=720%2C200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95993" y="4125052"/>
            <a:ext cx="1234401" cy="342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Gráfico 11" descr="Usuário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239470" y="2902159"/>
            <a:ext cx="693090" cy="6930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9" name="Conector de Seta Reta 9"/>
          <p:cNvCxnSpPr>
            <a:cxnSpLocks/>
            <a:stCxn id="12" idx="2"/>
            <a:endCxn id="1030" idx="0"/>
          </p:cNvCxnSpPr>
          <p:nvPr/>
        </p:nvCxnSpPr>
        <p:spPr>
          <a:xfrm>
            <a:off x="2586015" y="3595249"/>
            <a:ext cx="0" cy="35703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inal de Adição 18"/>
          <p:cNvSpPr/>
          <p:nvPr/>
        </p:nvSpPr>
        <p:spPr>
          <a:xfrm>
            <a:off x="4033193" y="3755515"/>
            <a:ext cx="360000" cy="360000"/>
          </a:xfrm>
          <a:prstGeom prst="mathPlus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1" name="Sinal de Adição 50"/>
          <p:cNvSpPr/>
          <p:nvPr/>
        </p:nvSpPr>
        <p:spPr>
          <a:xfrm>
            <a:off x="4033193" y="4477478"/>
            <a:ext cx="360000" cy="360000"/>
          </a:xfrm>
          <a:prstGeom prst="mathPlus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2" name="Conector de Seta Reta 9"/>
          <p:cNvCxnSpPr>
            <a:cxnSpLocks/>
            <a:stCxn id="1030" idx="2"/>
            <a:endCxn id="45" idx="1"/>
          </p:cNvCxnSpPr>
          <p:nvPr/>
        </p:nvCxnSpPr>
        <p:spPr>
          <a:xfrm rot="16200000" flipH="1">
            <a:off x="2740268" y="4310917"/>
            <a:ext cx="606095" cy="914601"/>
          </a:xfrm>
          <a:prstGeom prst="bentConnector2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ector de Seta Reta 9"/>
          <p:cNvCxnSpPr>
            <a:cxnSpLocks/>
            <a:stCxn id="1032" idx="0"/>
            <a:endCxn id="12" idx="3"/>
          </p:cNvCxnSpPr>
          <p:nvPr/>
        </p:nvCxnSpPr>
        <p:spPr>
          <a:xfrm rot="16200000" flipV="1">
            <a:off x="3487280" y="2693985"/>
            <a:ext cx="171195" cy="1280633"/>
          </a:xfrm>
          <a:prstGeom prst="bentConnector2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9"/>
          <p:cNvCxnSpPr>
            <a:cxnSpLocks/>
            <a:stCxn id="45" idx="2"/>
            <a:endCxn id="36" idx="0"/>
          </p:cNvCxnSpPr>
          <p:nvPr/>
        </p:nvCxnSpPr>
        <p:spPr>
          <a:xfrm>
            <a:off x="4213193" y="5295514"/>
            <a:ext cx="2764" cy="37907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9"/>
          <p:cNvCxnSpPr>
            <a:cxnSpLocks/>
            <a:stCxn id="3" idx="2"/>
            <a:endCxn id="36" idx="3"/>
          </p:cNvCxnSpPr>
          <p:nvPr/>
        </p:nvCxnSpPr>
        <p:spPr>
          <a:xfrm rot="5400000">
            <a:off x="5716376" y="4087452"/>
            <a:ext cx="987646" cy="2541811"/>
          </a:xfrm>
          <a:prstGeom prst="bentConnector2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5" name="Gráfico 64" descr="Usuário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28376" y="3464868"/>
            <a:ext cx="693090" cy="6930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66" name="Conector de Seta Reta 9"/>
          <p:cNvCxnSpPr>
            <a:cxnSpLocks/>
            <a:stCxn id="65" idx="2"/>
            <a:endCxn id="3" idx="0"/>
          </p:cNvCxnSpPr>
          <p:nvPr/>
        </p:nvCxnSpPr>
        <p:spPr>
          <a:xfrm>
            <a:off x="7474921" y="4157958"/>
            <a:ext cx="6183" cy="42591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5754044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Conector de Seta Reta 90"/>
          <p:cNvCxnSpPr>
            <a:cxnSpLocks/>
            <a:stCxn id="16" idx="6"/>
            <a:endCxn id="60" idx="1"/>
          </p:cNvCxnSpPr>
          <p:nvPr/>
        </p:nvCxnSpPr>
        <p:spPr>
          <a:xfrm>
            <a:off x="5252820" y="1909200"/>
            <a:ext cx="2735820" cy="356448"/>
          </a:xfrm>
          <a:prstGeom prst="straightConnector1">
            <a:avLst/>
          </a:prstGeom>
          <a:ln w="9525">
            <a:prstDash val="lg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Flow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do GitHub</a:t>
            </a:r>
          </a:p>
        </p:txBody>
      </p:sp>
      <p:cxnSp>
        <p:nvCxnSpPr>
          <p:cNvPr id="4" name="Conector de Seta Reta 3"/>
          <p:cNvCxnSpPr/>
          <p:nvPr/>
        </p:nvCxnSpPr>
        <p:spPr>
          <a:xfrm>
            <a:off x="5018532" y="1328928"/>
            <a:ext cx="36576" cy="529200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cxnSpLocks/>
          </p:cNvCxnSpPr>
          <p:nvPr/>
        </p:nvCxnSpPr>
        <p:spPr>
          <a:xfrm flipH="1">
            <a:off x="3405287" y="2097024"/>
            <a:ext cx="5425" cy="1836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cxnSpLocks/>
            <a:stCxn id="18" idx="0"/>
            <a:endCxn id="26" idx="4"/>
          </p:cNvCxnSpPr>
          <p:nvPr/>
        </p:nvCxnSpPr>
        <p:spPr>
          <a:xfrm>
            <a:off x="6644640" y="2079552"/>
            <a:ext cx="0" cy="37813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Retângulo: Cantos Arredondados 12"/>
          <p:cNvSpPr/>
          <p:nvPr/>
        </p:nvSpPr>
        <p:spPr>
          <a:xfrm>
            <a:off x="2870712" y="987339"/>
            <a:ext cx="1080000" cy="252000"/>
          </a:xfrm>
          <a:prstGeom prst="roundRect">
            <a:avLst>
              <a:gd name="adj" fmla="val 7971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latin typeface="Candara" panose="020E0502030303020204" pitchFamily="34" charset="0"/>
                <a:cs typeface="Arial" panose="020B0604020202020204" pitchFamily="34" charset="0"/>
              </a:rPr>
              <a:t>Hot </a:t>
            </a:r>
            <a:r>
              <a:rPr lang="pt-BR" sz="1100" b="1" dirty="0" err="1">
                <a:latin typeface="Candara" panose="020E0502030303020204" pitchFamily="34" charset="0"/>
                <a:cs typeface="Arial" panose="020B0604020202020204" pitchFamily="34" charset="0"/>
              </a:rPr>
              <a:t>Fix</a:t>
            </a:r>
            <a:endParaRPr lang="pt-BR" sz="1300" b="1" dirty="0"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tângulo: Cantos Arredondados 13"/>
          <p:cNvSpPr/>
          <p:nvPr/>
        </p:nvSpPr>
        <p:spPr>
          <a:xfrm>
            <a:off x="4496820" y="987339"/>
            <a:ext cx="1080000" cy="252000"/>
          </a:xfrm>
          <a:prstGeom prst="roundRect">
            <a:avLst>
              <a:gd name="adj" fmla="val 7971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latin typeface="Candara" panose="020E0502030303020204" pitchFamily="34" charset="0"/>
                <a:cs typeface="Arial" panose="020B0604020202020204" pitchFamily="34" charset="0"/>
              </a:rPr>
              <a:t>Master</a:t>
            </a:r>
            <a:endParaRPr lang="pt-BR" sz="1300" b="1" dirty="0"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tângulo: Cantos Arredondados 14"/>
          <p:cNvSpPr/>
          <p:nvPr/>
        </p:nvSpPr>
        <p:spPr>
          <a:xfrm>
            <a:off x="6104640" y="959739"/>
            <a:ext cx="1080000" cy="252000"/>
          </a:xfrm>
          <a:prstGeom prst="roundRect">
            <a:avLst>
              <a:gd name="adj" fmla="val 7971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latin typeface="Candara" panose="020E0502030303020204" pitchFamily="34" charset="0"/>
                <a:cs typeface="Arial" panose="020B0604020202020204" pitchFamily="34" charset="0"/>
              </a:rPr>
              <a:t>Release 1</a:t>
            </a:r>
            <a:endParaRPr lang="pt-BR" sz="1300" b="1" dirty="0"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3225480" y="2079552"/>
            <a:ext cx="360000" cy="360000"/>
          </a:xfrm>
          <a:prstGeom prst="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dirty="0"/>
          </a:p>
        </p:txBody>
      </p:sp>
      <p:sp>
        <p:nvSpPr>
          <p:cNvPr id="16" name="Elipse 15"/>
          <p:cNvSpPr/>
          <p:nvPr/>
        </p:nvSpPr>
        <p:spPr>
          <a:xfrm>
            <a:off x="4820820" y="1693200"/>
            <a:ext cx="432000" cy="432000"/>
          </a:xfrm>
          <a:prstGeom prst="ellipse">
            <a:avLst/>
          </a:prstGeom>
          <a:solidFill>
            <a:srgbClr val="F68E1E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7" name="Retângulo: Cantos Arredondados 16"/>
          <p:cNvSpPr/>
          <p:nvPr/>
        </p:nvSpPr>
        <p:spPr>
          <a:xfrm>
            <a:off x="4590635" y="1779593"/>
            <a:ext cx="892562" cy="277200"/>
          </a:xfrm>
          <a:prstGeom prst="roundRect">
            <a:avLst>
              <a:gd name="adj" fmla="val 7971"/>
            </a:avLst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V1</a:t>
            </a:r>
            <a:endParaRPr lang="pt-BR" sz="1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8" name="Retângulo 17"/>
          <p:cNvSpPr/>
          <p:nvPr/>
        </p:nvSpPr>
        <p:spPr>
          <a:xfrm>
            <a:off x="6464640" y="2079552"/>
            <a:ext cx="360000" cy="360000"/>
          </a:xfrm>
          <a:prstGeom prst="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 de Seta Reta 18"/>
          <p:cNvCxnSpPr>
            <a:cxnSpLocks/>
            <a:stCxn id="16" idx="6"/>
            <a:endCxn id="18" idx="1"/>
          </p:cNvCxnSpPr>
          <p:nvPr/>
        </p:nvCxnSpPr>
        <p:spPr>
          <a:xfrm>
            <a:off x="5252820" y="1909200"/>
            <a:ext cx="1211820" cy="350352"/>
          </a:xfrm>
          <a:prstGeom prst="straightConnector1">
            <a:avLst/>
          </a:prstGeom>
          <a:ln w="9525">
            <a:prstDash val="lg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Retângulo: Cantos Arredondados 21"/>
          <p:cNvSpPr/>
          <p:nvPr/>
        </p:nvSpPr>
        <p:spPr>
          <a:xfrm>
            <a:off x="5305797" y="2108384"/>
            <a:ext cx="892562" cy="277200"/>
          </a:xfrm>
          <a:prstGeom prst="roundRect">
            <a:avLst>
              <a:gd name="adj" fmla="val 7971"/>
            </a:avLst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50" b="1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Branch</a:t>
            </a:r>
            <a:endParaRPr lang="pt-BR" sz="1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3" name="Elipse 22"/>
          <p:cNvSpPr/>
          <p:nvPr/>
        </p:nvSpPr>
        <p:spPr>
          <a:xfrm>
            <a:off x="6464640" y="2825160"/>
            <a:ext cx="360000" cy="36000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24" name="Elipse 23"/>
          <p:cNvSpPr/>
          <p:nvPr/>
        </p:nvSpPr>
        <p:spPr>
          <a:xfrm>
            <a:off x="6464640" y="3570768"/>
            <a:ext cx="360000" cy="36000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25" name="Elipse 24"/>
          <p:cNvSpPr/>
          <p:nvPr/>
        </p:nvSpPr>
        <p:spPr>
          <a:xfrm>
            <a:off x="6464640" y="4755288"/>
            <a:ext cx="360000" cy="360000"/>
          </a:xfrm>
          <a:prstGeom prst="ellipse">
            <a:avLst/>
          </a:prstGeom>
          <a:solidFill>
            <a:srgbClr val="F68E1E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>
              <a:solidFill>
                <a:schemeClr val="dk1"/>
              </a:solidFill>
            </a:endParaRPr>
          </a:p>
        </p:txBody>
      </p:sp>
      <p:sp>
        <p:nvSpPr>
          <p:cNvPr id="26" name="Elipse 25"/>
          <p:cNvSpPr/>
          <p:nvPr/>
        </p:nvSpPr>
        <p:spPr>
          <a:xfrm>
            <a:off x="6464640" y="5500896"/>
            <a:ext cx="360000" cy="36000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29" name="Retângulo: Cantos Arredondados 28"/>
          <p:cNvSpPr/>
          <p:nvPr/>
        </p:nvSpPr>
        <p:spPr>
          <a:xfrm>
            <a:off x="650495" y="5102405"/>
            <a:ext cx="1080000" cy="277200"/>
          </a:xfrm>
          <a:prstGeom prst="roundRect">
            <a:avLst>
              <a:gd name="adj" fmla="val 7971"/>
            </a:avLst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05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Start </a:t>
            </a:r>
            <a:r>
              <a:rPr lang="pt-BR" sz="1050" b="1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Branch</a:t>
            </a:r>
            <a:endParaRPr lang="pt-BR" sz="1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0" name="Retângulo: Cantos Arredondados 29"/>
          <p:cNvSpPr/>
          <p:nvPr/>
        </p:nvSpPr>
        <p:spPr>
          <a:xfrm>
            <a:off x="650495" y="5649056"/>
            <a:ext cx="1080000" cy="277200"/>
          </a:xfrm>
          <a:prstGeom prst="roundRect">
            <a:avLst>
              <a:gd name="adj" fmla="val 7971"/>
            </a:avLst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050" b="1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Commit</a:t>
            </a:r>
            <a:endParaRPr lang="pt-BR" sz="1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1" name="Elipse 30"/>
          <p:cNvSpPr/>
          <p:nvPr/>
        </p:nvSpPr>
        <p:spPr>
          <a:xfrm>
            <a:off x="3225480" y="2825160"/>
            <a:ext cx="360000" cy="36000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2" name="Elipse 31"/>
          <p:cNvSpPr/>
          <p:nvPr/>
        </p:nvSpPr>
        <p:spPr>
          <a:xfrm>
            <a:off x="3225480" y="3668181"/>
            <a:ext cx="360000" cy="36000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33" name="Conector de Seta Reta 32"/>
          <p:cNvCxnSpPr>
            <a:cxnSpLocks/>
            <a:stCxn id="16" idx="2"/>
            <a:endCxn id="5" idx="3"/>
          </p:cNvCxnSpPr>
          <p:nvPr/>
        </p:nvCxnSpPr>
        <p:spPr>
          <a:xfrm flipH="1">
            <a:off x="3585480" y="1909200"/>
            <a:ext cx="1235340" cy="350352"/>
          </a:xfrm>
          <a:prstGeom prst="straightConnector1">
            <a:avLst/>
          </a:prstGeom>
          <a:ln w="9525">
            <a:prstDash val="lg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Retângulo: Cantos Arredondados 36"/>
          <p:cNvSpPr/>
          <p:nvPr/>
        </p:nvSpPr>
        <p:spPr>
          <a:xfrm>
            <a:off x="3668693" y="1745352"/>
            <a:ext cx="892562" cy="277200"/>
          </a:xfrm>
          <a:prstGeom prst="roundRect">
            <a:avLst>
              <a:gd name="adj" fmla="val 7971"/>
            </a:avLst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50" b="1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Branch</a:t>
            </a:r>
            <a:endParaRPr lang="pt-BR" sz="1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38" name="Conector de Seta Reta 37"/>
          <p:cNvCxnSpPr>
            <a:cxnSpLocks/>
            <a:stCxn id="32" idx="6"/>
            <a:endCxn id="39" idx="2"/>
          </p:cNvCxnSpPr>
          <p:nvPr/>
        </p:nvCxnSpPr>
        <p:spPr>
          <a:xfrm>
            <a:off x="3585480" y="3848181"/>
            <a:ext cx="1235340" cy="684195"/>
          </a:xfrm>
          <a:prstGeom prst="straightConnector1">
            <a:avLst/>
          </a:prstGeom>
          <a:ln w="952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" name="Elipse 38"/>
          <p:cNvSpPr/>
          <p:nvPr/>
        </p:nvSpPr>
        <p:spPr>
          <a:xfrm>
            <a:off x="4820820" y="4316376"/>
            <a:ext cx="432000" cy="432000"/>
          </a:xfrm>
          <a:prstGeom prst="ellipse">
            <a:avLst/>
          </a:prstGeom>
          <a:solidFill>
            <a:srgbClr val="F68E1E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Retângulo: Cantos Arredondados 41"/>
          <p:cNvSpPr/>
          <p:nvPr/>
        </p:nvSpPr>
        <p:spPr>
          <a:xfrm>
            <a:off x="3504431" y="4168392"/>
            <a:ext cx="892562" cy="277200"/>
          </a:xfrm>
          <a:prstGeom prst="roundRect">
            <a:avLst>
              <a:gd name="adj" fmla="val 7971"/>
            </a:avLst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50" b="1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Pull</a:t>
            </a:r>
            <a:r>
              <a:rPr lang="pt-BR" sz="105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</a:p>
          <a:p>
            <a:pPr algn="ctr"/>
            <a:r>
              <a:rPr lang="pt-BR" sz="1050" b="1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Request</a:t>
            </a:r>
            <a:endParaRPr lang="pt-BR" sz="1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43" name="Conector de Seta Reta 42"/>
          <p:cNvCxnSpPr>
            <a:cxnSpLocks/>
            <a:stCxn id="26" idx="2"/>
            <a:endCxn id="44" idx="6"/>
          </p:cNvCxnSpPr>
          <p:nvPr/>
        </p:nvCxnSpPr>
        <p:spPr>
          <a:xfrm flipH="1">
            <a:off x="5252820" y="5680896"/>
            <a:ext cx="1211820" cy="421200"/>
          </a:xfrm>
          <a:prstGeom prst="straightConnector1">
            <a:avLst/>
          </a:prstGeom>
          <a:ln w="952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4" name="Elipse 43"/>
          <p:cNvSpPr/>
          <p:nvPr/>
        </p:nvSpPr>
        <p:spPr>
          <a:xfrm>
            <a:off x="4820820" y="5886096"/>
            <a:ext cx="432000" cy="432000"/>
          </a:xfrm>
          <a:prstGeom prst="ellipse">
            <a:avLst/>
          </a:prstGeom>
          <a:solidFill>
            <a:srgbClr val="F68E1E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Retângulo: Cantos Arredondados 46"/>
          <p:cNvSpPr/>
          <p:nvPr/>
        </p:nvSpPr>
        <p:spPr>
          <a:xfrm>
            <a:off x="5295033" y="5490705"/>
            <a:ext cx="892562" cy="277200"/>
          </a:xfrm>
          <a:prstGeom prst="roundRect">
            <a:avLst>
              <a:gd name="adj" fmla="val 7971"/>
            </a:avLst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50" b="1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Pull</a:t>
            </a:r>
            <a:r>
              <a:rPr lang="pt-BR" sz="105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</a:p>
          <a:p>
            <a:pPr algn="ctr"/>
            <a:r>
              <a:rPr lang="pt-BR" sz="1050" b="1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Request</a:t>
            </a:r>
            <a:endParaRPr lang="pt-BR" sz="1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48" name="Conector de Seta Reta 47"/>
          <p:cNvCxnSpPr>
            <a:cxnSpLocks/>
            <a:stCxn id="39" idx="6"/>
            <a:endCxn id="25" idx="2"/>
          </p:cNvCxnSpPr>
          <p:nvPr/>
        </p:nvCxnSpPr>
        <p:spPr>
          <a:xfrm>
            <a:off x="5252820" y="4532376"/>
            <a:ext cx="1211820" cy="402912"/>
          </a:xfrm>
          <a:prstGeom prst="straightConnector1">
            <a:avLst/>
          </a:prstGeom>
          <a:ln w="952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Retângulo: Cantos Arredondados 51"/>
          <p:cNvSpPr/>
          <p:nvPr/>
        </p:nvSpPr>
        <p:spPr>
          <a:xfrm>
            <a:off x="5269816" y="4783805"/>
            <a:ext cx="892562" cy="277200"/>
          </a:xfrm>
          <a:prstGeom prst="roundRect">
            <a:avLst>
              <a:gd name="adj" fmla="val 7971"/>
            </a:avLst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Merge Back</a:t>
            </a:r>
            <a:endParaRPr lang="pt-BR" sz="1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3" name="Retângulo: Cantos Arredondados 52"/>
          <p:cNvSpPr/>
          <p:nvPr/>
        </p:nvSpPr>
        <p:spPr>
          <a:xfrm>
            <a:off x="4589538" y="4390812"/>
            <a:ext cx="892562" cy="277200"/>
          </a:xfrm>
          <a:prstGeom prst="roundRect">
            <a:avLst>
              <a:gd name="adj" fmla="val 7971"/>
            </a:avLst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V1.1</a:t>
            </a:r>
            <a:endParaRPr lang="pt-BR" sz="1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4" name="Retângulo: Cantos Arredondados 53"/>
          <p:cNvSpPr/>
          <p:nvPr/>
        </p:nvSpPr>
        <p:spPr>
          <a:xfrm>
            <a:off x="4589859" y="5967168"/>
            <a:ext cx="892562" cy="277200"/>
          </a:xfrm>
          <a:prstGeom prst="roundRect">
            <a:avLst>
              <a:gd name="adj" fmla="val 7971"/>
            </a:avLst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V2</a:t>
            </a:r>
            <a:endParaRPr lang="pt-BR" sz="1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59" name="Conector de Seta Reta 58"/>
          <p:cNvCxnSpPr>
            <a:cxnSpLocks/>
            <a:stCxn id="60" idx="0"/>
            <a:endCxn id="64" idx="4"/>
          </p:cNvCxnSpPr>
          <p:nvPr/>
        </p:nvCxnSpPr>
        <p:spPr>
          <a:xfrm>
            <a:off x="8168640" y="2085648"/>
            <a:ext cx="0" cy="4536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Retângulo 59"/>
          <p:cNvSpPr/>
          <p:nvPr/>
        </p:nvSpPr>
        <p:spPr>
          <a:xfrm>
            <a:off x="7988640" y="2085648"/>
            <a:ext cx="360000" cy="360000"/>
          </a:xfrm>
          <a:prstGeom prst="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Elipse 60"/>
          <p:cNvSpPr/>
          <p:nvPr/>
        </p:nvSpPr>
        <p:spPr>
          <a:xfrm>
            <a:off x="7988640" y="2873458"/>
            <a:ext cx="360000" cy="36000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62" name="Elipse 61"/>
          <p:cNvSpPr/>
          <p:nvPr/>
        </p:nvSpPr>
        <p:spPr>
          <a:xfrm>
            <a:off x="7988640" y="3661268"/>
            <a:ext cx="360000" cy="36000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63" name="Elipse 62"/>
          <p:cNvSpPr/>
          <p:nvPr/>
        </p:nvSpPr>
        <p:spPr>
          <a:xfrm>
            <a:off x="7988640" y="4449078"/>
            <a:ext cx="360000" cy="360000"/>
          </a:xfrm>
          <a:prstGeom prst="ellipse">
            <a:avLst/>
          </a:prstGeom>
          <a:solidFill>
            <a:srgbClr val="F68E1E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>
              <a:solidFill>
                <a:schemeClr val="dk1"/>
              </a:solidFill>
            </a:endParaRPr>
          </a:p>
        </p:txBody>
      </p:sp>
      <p:sp>
        <p:nvSpPr>
          <p:cNvPr id="64" name="Elipse 63"/>
          <p:cNvSpPr/>
          <p:nvPr/>
        </p:nvSpPr>
        <p:spPr>
          <a:xfrm>
            <a:off x="7988640" y="5236888"/>
            <a:ext cx="360000" cy="36000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65" name="Retângulo: Cantos Arredondados 64"/>
          <p:cNvSpPr/>
          <p:nvPr/>
        </p:nvSpPr>
        <p:spPr>
          <a:xfrm>
            <a:off x="7628640" y="957342"/>
            <a:ext cx="1080000" cy="252000"/>
          </a:xfrm>
          <a:prstGeom prst="roundRect">
            <a:avLst>
              <a:gd name="adj" fmla="val 7971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latin typeface="Candara" panose="020E0502030303020204" pitchFamily="34" charset="0"/>
                <a:cs typeface="Arial" panose="020B0604020202020204" pitchFamily="34" charset="0"/>
              </a:rPr>
              <a:t>Release 2</a:t>
            </a:r>
            <a:endParaRPr lang="pt-BR" sz="1300" b="1" dirty="0"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cxnSp>
        <p:nvCxnSpPr>
          <p:cNvPr id="66" name="Conector de Seta Reta 65"/>
          <p:cNvCxnSpPr>
            <a:cxnSpLocks/>
            <a:endCxn id="63" idx="2"/>
          </p:cNvCxnSpPr>
          <p:nvPr/>
        </p:nvCxnSpPr>
        <p:spPr>
          <a:xfrm>
            <a:off x="5223225" y="4496376"/>
            <a:ext cx="2765415" cy="132702"/>
          </a:xfrm>
          <a:prstGeom prst="straightConnector1">
            <a:avLst/>
          </a:prstGeom>
          <a:ln w="952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Retângulo: Cantos Arredondados 69"/>
          <p:cNvSpPr/>
          <p:nvPr/>
        </p:nvSpPr>
        <p:spPr>
          <a:xfrm>
            <a:off x="6916755" y="4665695"/>
            <a:ext cx="892562" cy="277200"/>
          </a:xfrm>
          <a:prstGeom prst="roundRect">
            <a:avLst>
              <a:gd name="adj" fmla="val 7971"/>
            </a:avLst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Merge Back</a:t>
            </a:r>
            <a:endParaRPr lang="pt-BR" sz="1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73" name="Conector de Seta Reta 72"/>
          <p:cNvCxnSpPr>
            <a:cxnSpLocks/>
            <a:stCxn id="44" idx="6"/>
            <a:endCxn id="78" idx="2"/>
          </p:cNvCxnSpPr>
          <p:nvPr/>
        </p:nvCxnSpPr>
        <p:spPr>
          <a:xfrm>
            <a:off x="5252820" y="6102096"/>
            <a:ext cx="2731248" cy="102600"/>
          </a:xfrm>
          <a:prstGeom prst="straightConnector1">
            <a:avLst/>
          </a:prstGeom>
          <a:ln w="952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8" name="Elipse 77"/>
          <p:cNvSpPr/>
          <p:nvPr/>
        </p:nvSpPr>
        <p:spPr>
          <a:xfrm>
            <a:off x="7984068" y="6024696"/>
            <a:ext cx="360000" cy="360000"/>
          </a:xfrm>
          <a:prstGeom prst="ellipse">
            <a:avLst/>
          </a:prstGeom>
          <a:solidFill>
            <a:srgbClr val="F68E1E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>
              <a:solidFill>
                <a:schemeClr val="dk1"/>
              </a:solidFill>
            </a:endParaRPr>
          </a:p>
        </p:txBody>
      </p:sp>
      <p:sp>
        <p:nvSpPr>
          <p:cNvPr id="81" name="Retângulo: Cantos Arredondados 80"/>
          <p:cNvSpPr/>
          <p:nvPr/>
        </p:nvSpPr>
        <p:spPr>
          <a:xfrm>
            <a:off x="6685787" y="6243079"/>
            <a:ext cx="892562" cy="277200"/>
          </a:xfrm>
          <a:prstGeom prst="roundRect">
            <a:avLst>
              <a:gd name="adj" fmla="val 7971"/>
            </a:avLst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Merge Back</a:t>
            </a:r>
            <a:endParaRPr lang="pt-BR" sz="1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4" name="Retângulo 83"/>
          <p:cNvSpPr/>
          <p:nvPr/>
        </p:nvSpPr>
        <p:spPr>
          <a:xfrm>
            <a:off x="248282" y="5061005"/>
            <a:ext cx="360000" cy="360000"/>
          </a:xfrm>
          <a:prstGeom prst="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dirty="0"/>
          </a:p>
        </p:txBody>
      </p:sp>
      <p:sp>
        <p:nvSpPr>
          <p:cNvPr id="85" name="Elipse 84"/>
          <p:cNvSpPr/>
          <p:nvPr/>
        </p:nvSpPr>
        <p:spPr>
          <a:xfrm>
            <a:off x="248282" y="5607656"/>
            <a:ext cx="360000" cy="36000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6" name="Elipse 85"/>
          <p:cNvSpPr/>
          <p:nvPr/>
        </p:nvSpPr>
        <p:spPr>
          <a:xfrm>
            <a:off x="248282" y="6154307"/>
            <a:ext cx="360000" cy="360000"/>
          </a:xfrm>
          <a:prstGeom prst="ellipse">
            <a:avLst/>
          </a:prstGeom>
          <a:solidFill>
            <a:srgbClr val="F68E1E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7" name="Retângulo: Cantos Arredondados 86"/>
          <p:cNvSpPr/>
          <p:nvPr/>
        </p:nvSpPr>
        <p:spPr>
          <a:xfrm>
            <a:off x="642579" y="6195707"/>
            <a:ext cx="1080000" cy="277200"/>
          </a:xfrm>
          <a:prstGeom prst="roundRect">
            <a:avLst>
              <a:gd name="adj" fmla="val 7971"/>
            </a:avLst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05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Merge</a:t>
            </a:r>
            <a:endParaRPr lang="pt-BR" sz="1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8" name="Retângulo: Cantos Arredondados 87"/>
          <p:cNvSpPr/>
          <p:nvPr/>
        </p:nvSpPr>
        <p:spPr>
          <a:xfrm>
            <a:off x="148068" y="4926180"/>
            <a:ext cx="1559220" cy="1695468"/>
          </a:xfrm>
          <a:prstGeom prst="roundRect">
            <a:avLst>
              <a:gd name="adj" fmla="val 7971"/>
            </a:avLst>
          </a:prstGeom>
          <a:noFill/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1300" b="1" dirty="0"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Retângulo: Cantos Arredondados 88"/>
          <p:cNvSpPr/>
          <p:nvPr/>
        </p:nvSpPr>
        <p:spPr>
          <a:xfrm>
            <a:off x="136515" y="4652954"/>
            <a:ext cx="1080000" cy="277200"/>
          </a:xfrm>
          <a:prstGeom prst="roundRect">
            <a:avLst>
              <a:gd name="adj" fmla="val 7971"/>
            </a:avLst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05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Legenda</a:t>
            </a:r>
            <a:endParaRPr lang="pt-BR" sz="1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94" name="Retângulo: Cantos Arredondados 93"/>
          <p:cNvSpPr/>
          <p:nvPr/>
        </p:nvSpPr>
        <p:spPr>
          <a:xfrm>
            <a:off x="6860640" y="1856124"/>
            <a:ext cx="892562" cy="277200"/>
          </a:xfrm>
          <a:prstGeom prst="roundRect">
            <a:avLst>
              <a:gd name="adj" fmla="val 7971"/>
            </a:avLst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50" b="1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Branch</a:t>
            </a:r>
            <a:endParaRPr lang="pt-BR" sz="1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9882416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8930</TotalTime>
  <Words>990</Words>
  <Application>Microsoft Office PowerPoint</Application>
  <PresentationFormat>Personalizar</PresentationFormat>
  <Paragraphs>225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25" baseType="lpstr">
      <vt:lpstr>Arial</vt:lpstr>
      <vt:lpstr>Calibri</vt:lpstr>
      <vt:lpstr>Candara</vt:lpstr>
      <vt:lpstr>Georgia</vt:lpstr>
      <vt:lpstr>Gotham Rounded Book</vt:lpstr>
      <vt:lpstr>Helvetica</vt:lpstr>
      <vt:lpstr>Segoe UI</vt:lpstr>
      <vt:lpstr>Segoe UI Light</vt:lpstr>
      <vt:lpstr>Segoe UI Semibold</vt:lpstr>
      <vt:lpstr>Times New Roman</vt:lpstr>
      <vt:lpstr>Trebuchet MS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Plano de Ação</dc:title>
  <dc:subject>Operações de TI</dc:subject>
  <dc:creator>Nei Henckes</dc:creator>
  <cp:lastModifiedBy>Jorge Filho</cp:lastModifiedBy>
  <cp:revision>146</cp:revision>
  <dcterms:created xsi:type="dcterms:W3CDTF">2014-01-24T21:35:00Z</dcterms:created>
  <dcterms:modified xsi:type="dcterms:W3CDTF">2017-02-21T19:16:35Z</dcterms:modified>
</cp:coreProperties>
</file>