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3" r:id="rId3"/>
    <p:sldId id="270" r:id="rId4"/>
    <p:sldId id="271" r:id="rId5"/>
    <p:sldId id="262" r:id="rId6"/>
    <p:sldId id="268" r:id="rId7"/>
    <p:sldId id="272" r:id="rId8"/>
    <p:sldId id="274" r:id="rId9"/>
    <p:sldId id="275" r:id="rId10"/>
    <p:sldId id="267" r:id="rId11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8" autoAdjust="0"/>
    <p:restoredTop sz="94280" autoAdjust="0"/>
  </p:normalViewPr>
  <p:slideViewPr>
    <p:cSldViewPr>
      <p:cViewPr varScale="1">
        <p:scale>
          <a:sx n="85" d="100"/>
          <a:sy n="85" d="100"/>
        </p:scale>
        <p:origin x="1248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smilescorp-my.sharepoint.com/personal/rodrigo_rothstein_smiles_com_br/Documents/2017/Processos/Indicadores%20de%20Processos%20-%202017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smilescorp-my.sharepoint.com/personal/rodrigo_rothstein_smiles_com_br/Documents/2017/Processos/Indicadores%20de%20Processos%20-%202017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b="1"/>
              <a:t>Incidentes</a:t>
            </a:r>
            <a:r>
              <a:rPr lang="pt-BR" b="1" baseline="0"/>
              <a:t> de SI </a:t>
            </a:r>
          </a:p>
          <a:p>
            <a:pPr>
              <a:defRPr/>
            </a:pPr>
            <a:r>
              <a:rPr lang="pt-BR" sz="1100" baseline="0"/>
              <a:t>(Abertos x Fechados)</a:t>
            </a:r>
            <a:endParaRPr lang="pt-BR" sz="11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'Incidentes de SI'!$C$2</c:f>
              <c:strCache>
                <c:ptCount val="1"/>
                <c:pt idx="0">
                  <c:v>Qtde. Incidentes Abertos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'Incidentes de SI'!$B$3:$B$16</c:f>
              <c:numCache>
                <c:formatCode>mmm\-yy</c:formatCode>
                <c:ptCount val="14"/>
                <c:pt idx="0">
                  <c:v>42675</c:v>
                </c:pt>
                <c:pt idx="1">
                  <c:v>42705</c:v>
                </c:pt>
                <c:pt idx="2">
                  <c:v>42736</c:v>
                </c:pt>
                <c:pt idx="3">
                  <c:v>42767</c:v>
                </c:pt>
                <c:pt idx="4">
                  <c:v>42795</c:v>
                </c:pt>
                <c:pt idx="5">
                  <c:v>42826</c:v>
                </c:pt>
                <c:pt idx="6">
                  <c:v>42856</c:v>
                </c:pt>
                <c:pt idx="7">
                  <c:v>42887</c:v>
                </c:pt>
                <c:pt idx="8">
                  <c:v>42917</c:v>
                </c:pt>
                <c:pt idx="9">
                  <c:v>42948</c:v>
                </c:pt>
                <c:pt idx="10">
                  <c:v>42979</c:v>
                </c:pt>
                <c:pt idx="11">
                  <c:v>43009</c:v>
                </c:pt>
                <c:pt idx="12">
                  <c:v>43040</c:v>
                </c:pt>
                <c:pt idx="13">
                  <c:v>43070</c:v>
                </c:pt>
              </c:numCache>
            </c:numRef>
          </c:cat>
          <c:val>
            <c:numRef>
              <c:f>'Incidentes de SI'!$C$3:$C$16</c:f>
              <c:numCache>
                <c:formatCode>General</c:formatCode>
                <c:ptCount val="14"/>
                <c:pt idx="0">
                  <c:v>2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D3-4A18-80FB-981360E32D5F}"/>
            </c:ext>
          </c:extLst>
        </c:ser>
        <c:ser>
          <c:idx val="1"/>
          <c:order val="1"/>
          <c:tx>
            <c:strRef>
              <c:f>'Incidentes de SI'!$D$2</c:f>
              <c:strCache>
                <c:ptCount val="1"/>
                <c:pt idx="0">
                  <c:v>Qtde. Incidentes Fechados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'Incidentes de SI'!$B$3:$B$16</c:f>
              <c:numCache>
                <c:formatCode>mmm\-yy</c:formatCode>
                <c:ptCount val="14"/>
                <c:pt idx="0">
                  <c:v>42675</c:v>
                </c:pt>
                <c:pt idx="1">
                  <c:v>42705</c:v>
                </c:pt>
                <c:pt idx="2">
                  <c:v>42736</c:v>
                </c:pt>
                <c:pt idx="3">
                  <c:v>42767</c:v>
                </c:pt>
                <c:pt idx="4">
                  <c:v>42795</c:v>
                </c:pt>
                <c:pt idx="5">
                  <c:v>42826</c:v>
                </c:pt>
                <c:pt idx="6">
                  <c:v>42856</c:v>
                </c:pt>
                <c:pt idx="7">
                  <c:v>42887</c:v>
                </c:pt>
                <c:pt idx="8">
                  <c:v>42917</c:v>
                </c:pt>
                <c:pt idx="9">
                  <c:v>42948</c:v>
                </c:pt>
                <c:pt idx="10">
                  <c:v>42979</c:v>
                </c:pt>
                <c:pt idx="11">
                  <c:v>43009</c:v>
                </c:pt>
                <c:pt idx="12">
                  <c:v>43040</c:v>
                </c:pt>
                <c:pt idx="13">
                  <c:v>43070</c:v>
                </c:pt>
              </c:numCache>
            </c:numRef>
          </c:cat>
          <c:val>
            <c:numRef>
              <c:f>'Incidentes de SI'!$D$3:$D$16</c:f>
              <c:numCache>
                <c:formatCode>General</c:formatCode>
                <c:ptCount val="14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D3-4A18-80FB-981360E32D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6630320"/>
        <c:axId val="377955376"/>
      </c:barChart>
      <c:dateAx>
        <c:axId val="32663032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7955376"/>
        <c:crosses val="autoZero"/>
        <c:auto val="1"/>
        <c:lblOffset val="100"/>
        <c:baseTimeUnit val="months"/>
      </c:dateAx>
      <c:valAx>
        <c:axId val="377955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26630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b="1"/>
              <a:t>Incidentes</a:t>
            </a:r>
            <a:r>
              <a:rPr lang="pt-BR" b="1" baseline="0"/>
              <a:t> de SI </a:t>
            </a:r>
          </a:p>
          <a:p>
            <a:pPr>
              <a:defRPr/>
            </a:pPr>
            <a:r>
              <a:rPr lang="pt-BR" sz="1100" baseline="0"/>
              <a:t>(Tempo Médio de Resolução em hs)</a:t>
            </a:r>
            <a:endParaRPr lang="pt-BR" sz="11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'Incidentes de SI'!$E$2</c:f>
              <c:strCache>
                <c:ptCount val="1"/>
                <c:pt idx="0">
                  <c:v>Tempo Médio de Resolução (hs)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'Incidentes de SI'!$B$3:$B$16</c:f>
              <c:numCache>
                <c:formatCode>mmm\-yy</c:formatCode>
                <c:ptCount val="14"/>
                <c:pt idx="0">
                  <c:v>42675</c:v>
                </c:pt>
                <c:pt idx="1">
                  <c:v>42705</c:v>
                </c:pt>
                <c:pt idx="2">
                  <c:v>42736</c:v>
                </c:pt>
                <c:pt idx="3">
                  <c:v>42767</c:v>
                </c:pt>
                <c:pt idx="4">
                  <c:v>42795</c:v>
                </c:pt>
                <c:pt idx="5">
                  <c:v>42826</c:v>
                </c:pt>
                <c:pt idx="6">
                  <c:v>42856</c:v>
                </c:pt>
                <c:pt idx="7">
                  <c:v>42887</c:v>
                </c:pt>
                <c:pt idx="8">
                  <c:v>42917</c:v>
                </c:pt>
                <c:pt idx="9">
                  <c:v>42948</c:v>
                </c:pt>
                <c:pt idx="10">
                  <c:v>42979</c:v>
                </c:pt>
                <c:pt idx="11">
                  <c:v>43009</c:v>
                </c:pt>
                <c:pt idx="12">
                  <c:v>43040</c:v>
                </c:pt>
                <c:pt idx="13">
                  <c:v>43070</c:v>
                </c:pt>
              </c:numCache>
            </c:numRef>
          </c:cat>
          <c:val>
            <c:numRef>
              <c:f>'Incidentes de SI'!$E$3:$E$16</c:f>
              <c:numCache>
                <c:formatCode>General</c:formatCode>
                <c:ptCount val="14"/>
                <c:pt idx="0">
                  <c:v>0.71</c:v>
                </c:pt>
                <c:pt idx="1">
                  <c:v>0.83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F9-419B-AD92-7625012730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6630320"/>
        <c:axId val="377955376"/>
      </c:barChart>
      <c:dateAx>
        <c:axId val="32663032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7955376"/>
        <c:crosses val="autoZero"/>
        <c:auto val="1"/>
        <c:lblOffset val="100"/>
        <c:baseTimeUnit val="months"/>
      </c:dateAx>
      <c:valAx>
        <c:axId val="377955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26630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32578-ECD4-4743-8701-DC01EA1C043C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90639-6999-4C89-9048-178018A16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0031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90639-6999-4C89-9048-178018A166C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84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Demandas e Desenvolvimento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AI1 – Identificar Soluções Automatizadas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AI2 - Adquirir e manter aplicações de software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AI3 - Adquirir e manter infraestrutura tecnológica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AI4 - Desenvolver e manter manuais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da Segurança de Sistemas (política de senhas, segregação de funções em sistemas, práticas de desenvolvimento seguro)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DS5.5 - Assegurar Segurança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SPO4 - Segregação de Função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Infraestrutura para Segurança da Informação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DS5.8 - Gestão de chaves criptográficas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DS5.10 - Administração de Firewall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DS5.11 - Gestão de Certificados Digitais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DS11 - Gerenciar Copias de Segurança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Instalações Físicas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DS12 - Gerenciar Instalações Físicas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90639-6999-4C89-9048-178018A166C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6243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81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655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730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4685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94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7122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102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80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298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0669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848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07B8A-66F7-46B2-AE17-BEC38B2EE158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354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miles.atlassian.net/browse/INCSI-8" TargetMode="External"/><Relationship Id="rId3" Type="http://schemas.openxmlformats.org/officeDocument/2006/relationships/chart" Target="../charts/chart1.xml"/><Relationship Id="rId7" Type="http://schemas.openxmlformats.org/officeDocument/2006/relationships/hyperlink" Target="https://smiles.atlassian.net/browse/INCSI-7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miles.atlassian.net/browse/INCSI-6" TargetMode="External"/><Relationship Id="rId5" Type="http://schemas.openxmlformats.org/officeDocument/2006/relationships/hyperlink" Target="https://smiles.atlassian.net/browse/INCSI-5" TargetMode="Externa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utterstock_392439580.jpg"/>
          <p:cNvPicPr>
            <a:picLocks noChangeAspect="1"/>
          </p:cNvPicPr>
          <p:nvPr/>
        </p:nvPicPr>
        <p:blipFill>
          <a:blip r:embed="rId3">
            <a:extLst/>
          </a:blip>
          <a:srcRect l="29914" t="32232" r="29308" b="32233"/>
          <a:stretch>
            <a:fillRect/>
          </a:stretch>
        </p:blipFill>
        <p:spPr>
          <a:xfrm rot="127485">
            <a:off x="-616922" y="-188765"/>
            <a:ext cx="10493402" cy="60925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352"/>
                </a:moveTo>
                <a:lnTo>
                  <a:pt x="436" y="21600"/>
                </a:lnTo>
                <a:lnTo>
                  <a:pt x="21600" y="20248"/>
                </a:lnTo>
                <a:lnTo>
                  <a:pt x="21164" y="0"/>
                </a:lnTo>
                <a:lnTo>
                  <a:pt x="0" y="1352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1" t="6110" r="19124" b="1945"/>
          <a:stretch/>
        </p:blipFill>
        <p:spPr>
          <a:xfrm rot="16200000">
            <a:off x="2513814" y="-282078"/>
            <a:ext cx="4116373" cy="468051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9" t="31011" r="59843" b="28084"/>
          <a:stretch/>
        </p:blipFill>
        <p:spPr>
          <a:xfrm>
            <a:off x="3043175" y="1942232"/>
            <a:ext cx="3057654" cy="125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5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 p14:presetBounceEnd="75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en-US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Processos COBIT Smiles</a:t>
            </a:r>
            <a:endParaRPr lang="en-US" sz="1600" b="1" dirty="0">
              <a:solidFill>
                <a:srgbClr val="FF6600"/>
              </a:solidFill>
              <a:latin typeface="Nunito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sp>
        <p:nvSpPr>
          <p:cNvPr id="8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771550"/>
            <a:ext cx="8229600" cy="33944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AI6/AI7 - Gerenciamento de Mudança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DS1/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</a:rPr>
              <a:t>DS2*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 - Gerenciamento de Fornecedores Críticos de TI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DS5 - Gerenciamento de Incidentes de SI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DS5.9.A - Gerenciamento de Antivírus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DS5.9.B - Gerenciamento de Patches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</a:rPr>
              <a:t>DS3 – Gerenciamento de Desempenho e Capacidade *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</a:rPr>
              <a:t>ME1 – Monitorar Processos *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</a:rPr>
              <a:t>PO2 – Definir Arquitetura da Informação *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</a:rPr>
              <a:t>AI1/AI2/AI3/AI4 - Gestão de Demandas e Desenvolvimento de Sistemas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</a:rPr>
              <a:t>DS5.5/SP04.11 - Gestão da Segurança de Sistemas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</a:rPr>
              <a:t>DS5.8/DS5.10/DS5.11/DS11 - Gestão de Infraestrutura para Segurança da Informação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</a:rPr>
              <a:t>DS12 - Gestão de Instalações Físicas</a:t>
            </a:r>
          </a:p>
          <a:p>
            <a:pPr marL="0" indent="0">
              <a:buNone/>
            </a:pPr>
            <a:endParaRPr lang="pt-BR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37585" y="4798273"/>
            <a:ext cx="4824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* Falta apenas validação</a:t>
            </a:r>
          </a:p>
        </p:txBody>
      </p:sp>
    </p:spTree>
    <p:extLst>
      <p:ext uri="{BB962C8B-B14F-4D97-AF65-F5344CB8AC3E}">
        <p14:creationId xmlns:p14="http://schemas.microsoft.com/office/powerpoint/2010/main" val="376496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en-US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AI6/AI7 - Gerenciamento de Mudança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2" name="Imagem 1" descr="Recorte de Te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88" y="727771"/>
            <a:ext cx="4343412" cy="3707987"/>
          </a:xfrm>
          <a:prstGeom prst="rect">
            <a:avLst/>
          </a:prstGeom>
        </p:spPr>
      </p:pic>
      <p:pic>
        <p:nvPicPr>
          <p:cNvPr id="6" name="Imagem 5" descr="Recorte de Tela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219" y="727771"/>
            <a:ext cx="4328671" cy="370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5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en-US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AI6/AI7 - Gerenciamento de Mudança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4" name="Imagem 3" descr="Recorte de Te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83" y="625146"/>
            <a:ext cx="8748464" cy="372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68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pt-BR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DS1 - Gerenciamento de Fornecedores Críticos de TI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4" name="Imagem 3" descr="Recorte de Te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86" y="1131590"/>
            <a:ext cx="4405038" cy="3096344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39186" y="871670"/>
            <a:ext cx="4405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Setembro/2016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624325" y="880364"/>
            <a:ext cx="4256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Outubro/2016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469071"/>
              </p:ext>
            </p:extLst>
          </p:nvPr>
        </p:nvGraphicFramePr>
        <p:xfrm>
          <a:off x="4624325" y="1142303"/>
          <a:ext cx="4357910" cy="3050160"/>
        </p:xfrm>
        <a:graphic>
          <a:graphicData uri="http://schemas.openxmlformats.org/drawingml/2006/table">
            <a:tbl>
              <a:tblPr/>
              <a:tblGrid>
                <a:gridCol w="805964">
                  <a:extLst>
                    <a:ext uri="{9D8B030D-6E8A-4147-A177-3AD203B41FA5}">
                      <a16:colId xmlns:a16="http://schemas.microsoft.com/office/drawing/2014/main" val="654045636"/>
                    </a:ext>
                  </a:extLst>
                </a:gridCol>
                <a:gridCol w="591991">
                  <a:extLst>
                    <a:ext uri="{9D8B030D-6E8A-4147-A177-3AD203B41FA5}">
                      <a16:colId xmlns:a16="http://schemas.microsoft.com/office/drawing/2014/main" val="193877993"/>
                    </a:ext>
                  </a:extLst>
                </a:gridCol>
                <a:gridCol w="591991">
                  <a:extLst>
                    <a:ext uri="{9D8B030D-6E8A-4147-A177-3AD203B41FA5}">
                      <a16:colId xmlns:a16="http://schemas.microsoft.com/office/drawing/2014/main" val="3190376036"/>
                    </a:ext>
                  </a:extLst>
                </a:gridCol>
                <a:gridCol w="591991">
                  <a:extLst>
                    <a:ext uri="{9D8B030D-6E8A-4147-A177-3AD203B41FA5}">
                      <a16:colId xmlns:a16="http://schemas.microsoft.com/office/drawing/2014/main" val="3492091434"/>
                    </a:ext>
                  </a:extLst>
                </a:gridCol>
                <a:gridCol w="591991">
                  <a:extLst>
                    <a:ext uri="{9D8B030D-6E8A-4147-A177-3AD203B41FA5}">
                      <a16:colId xmlns:a16="http://schemas.microsoft.com/office/drawing/2014/main" val="2731739232"/>
                    </a:ext>
                  </a:extLst>
                </a:gridCol>
                <a:gridCol w="591991">
                  <a:extLst>
                    <a:ext uri="{9D8B030D-6E8A-4147-A177-3AD203B41FA5}">
                      <a16:colId xmlns:a16="http://schemas.microsoft.com/office/drawing/2014/main" val="3711035699"/>
                    </a:ext>
                  </a:extLst>
                </a:gridCol>
                <a:gridCol w="591991">
                  <a:extLst>
                    <a:ext uri="{9D8B030D-6E8A-4147-A177-3AD203B41FA5}">
                      <a16:colId xmlns:a16="http://schemas.microsoft.com/office/drawing/2014/main" val="2880311965"/>
                    </a:ext>
                  </a:extLst>
                </a:gridCol>
              </a:tblGrid>
              <a:tr h="381270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Fornecedor </a:t>
                      </a:r>
                      <a:b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 de TI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Serviço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Principal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Reunião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Realizada?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  <a:b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Atingido?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Elaborada?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Enviada?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Algum Ponto de Atenção?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037996"/>
                  </a:ext>
                </a:extLst>
              </a:tr>
              <a:tr h="44481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ALGAR TELECOM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 Internet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03640"/>
                  </a:ext>
                </a:extLst>
              </a:tr>
              <a:tr h="44481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ORACLE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Managed Cloud 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68869"/>
                  </a:ext>
                </a:extLst>
              </a:tr>
              <a:tr h="44481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LEVEL3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70375"/>
                  </a:ext>
                </a:extLst>
              </a:tr>
              <a:tr h="44481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VIVO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Revisão das Faturas</a:t>
                      </a:r>
                    </a:p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(Em andamento)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057867"/>
                  </a:ext>
                </a:extLst>
              </a:tr>
              <a:tr h="44481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CREDIBILIT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Suporte Ambiente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AWS Amazon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31474"/>
                  </a:ext>
                </a:extLst>
              </a:tr>
              <a:tr h="44481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</a:p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 de formalização contratual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Formalização Contratual </a:t>
                      </a:r>
                      <a:b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(Em Andamento)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54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236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pt-BR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DS1 - Gerenciamento de Fornecedores Críticos de TI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50475" y="871670"/>
            <a:ext cx="4405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Novembro/2016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635614" y="880364"/>
            <a:ext cx="4256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Dezembro/2016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45463"/>
              </p:ext>
            </p:extLst>
          </p:nvPr>
        </p:nvGraphicFramePr>
        <p:xfrm>
          <a:off x="150475" y="1131590"/>
          <a:ext cx="4336414" cy="3035102"/>
        </p:xfrm>
        <a:graphic>
          <a:graphicData uri="http://schemas.openxmlformats.org/drawingml/2006/table">
            <a:tbl>
              <a:tblPr/>
              <a:tblGrid>
                <a:gridCol w="801988">
                  <a:extLst>
                    <a:ext uri="{9D8B030D-6E8A-4147-A177-3AD203B41FA5}">
                      <a16:colId xmlns:a16="http://schemas.microsoft.com/office/drawing/2014/main" val="654045636"/>
                    </a:ext>
                  </a:extLst>
                </a:gridCol>
                <a:gridCol w="589071">
                  <a:extLst>
                    <a:ext uri="{9D8B030D-6E8A-4147-A177-3AD203B41FA5}">
                      <a16:colId xmlns:a16="http://schemas.microsoft.com/office/drawing/2014/main" val="193877993"/>
                    </a:ext>
                  </a:extLst>
                </a:gridCol>
                <a:gridCol w="589071">
                  <a:extLst>
                    <a:ext uri="{9D8B030D-6E8A-4147-A177-3AD203B41FA5}">
                      <a16:colId xmlns:a16="http://schemas.microsoft.com/office/drawing/2014/main" val="3190376036"/>
                    </a:ext>
                  </a:extLst>
                </a:gridCol>
                <a:gridCol w="589071">
                  <a:extLst>
                    <a:ext uri="{9D8B030D-6E8A-4147-A177-3AD203B41FA5}">
                      <a16:colId xmlns:a16="http://schemas.microsoft.com/office/drawing/2014/main" val="3492091434"/>
                    </a:ext>
                  </a:extLst>
                </a:gridCol>
                <a:gridCol w="589071">
                  <a:extLst>
                    <a:ext uri="{9D8B030D-6E8A-4147-A177-3AD203B41FA5}">
                      <a16:colId xmlns:a16="http://schemas.microsoft.com/office/drawing/2014/main" val="2731739232"/>
                    </a:ext>
                  </a:extLst>
                </a:gridCol>
                <a:gridCol w="589071">
                  <a:extLst>
                    <a:ext uri="{9D8B030D-6E8A-4147-A177-3AD203B41FA5}">
                      <a16:colId xmlns:a16="http://schemas.microsoft.com/office/drawing/2014/main" val="3711035699"/>
                    </a:ext>
                  </a:extLst>
                </a:gridCol>
                <a:gridCol w="589071">
                  <a:extLst>
                    <a:ext uri="{9D8B030D-6E8A-4147-A177-3AD203B41FA5}">
                      <a16:colId xmlns:a16="http://schemas.microsoft.com/office/drawing/2014/main" val="2880311965"/>
                    </a:ext>
                  </a:extLst>
                </a:gridCol>
              </a:tblGrid>
              <a:tr h="379388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Fornecedor </a:t>
                      </a:r>
                      <a:b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 de TI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Serviço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Principal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Reunião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Realizada?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  <a:b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Atingido?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Elaborada?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Enviada?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Algum Ponto de Atenção?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037996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ALGAR TELECOM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 Internet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03640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ORACLE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Managed Cloud 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68869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LEVEL3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 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70375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VIVO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057867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CREDIBILIT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Suporte Ambiente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AWS Amazon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31474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54491"/>
                  </a:ext>
                </a:extLst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492488"/>
              </p:ext>
            </p:extLst>
          </p:nvPr>
        </p:nvGraphicFramePr>
        <p:xfrm>
          <a:off x="4583289" y="1131590"/>
          <a:ext cx="4336400" cy="3035102"/>
        </p:xfrm>
        <a:graphic>
          <a:graphicData uri="http://schemas.openxmlformats.org/drawingml/2006/table">
            <a:tbl>
              <a:tblPr/>
              <a:tblGrid>
                <a:gridCol w="801986">
                  <a:extLst>
                    <a:ext uri="{9D8B030D-6E8A-4147-A177-3AD203B41FA5}">
                      <a16:colId xmlns:a16="http://schemas.microsoft.com/office/drawing/2014/main" val="654045636"/>
                    </a:ext>
                  </a:extLst>
                </a:gridCol>
                <a:gridCol w="589069">
                  <a:extLst>
                    <a:ext uri="{9D8B030D-6E8A-4147-A177-3AD203B41FA5}">
                      <a16:colId xmlns:a16="http://schemas.microsoft.com/office/drawing/2014/main" val="193877993"/>
                    </a:ext>
                  </a:extLst>
                </a:gridCol>
                <a:gridCol w="589069">
                  <a:extLst>
                    <a:ext uri="{9D8B030D-6E8A-4147-A177-3AD203B41FA5}">
                      <a16:colId xmlns:a16="http://schemas.microsoft.com/office/drawing/2014/main" val="3190376036"/>
                    </a:ext>
                  </a:extLst>
                </a:gridCol>
                <a:gridCol w="589069">
                  <a:extLst>
                    <a:ext uri="{9D8B030D-6E8A-4147-A177-3AD203B41FA5}">
                      <a16:colId xmlns:a16="http://schemas.microsoft.com/office/drawing/2014/main" val="3492091434"/>
                    </a:ext>
                  </a:extLst>
                </a:gridCol>
                <a:gridCol w="589069">
                  <a:extLst>
                    <a:ext uri="{9D8B030D-6E8A-4147-A177-3AD203B41FA5}">
                      <a16:colId xmlns:a16="http://schemas.microsoft.com/office/drawing/2014/main" val="2731739232"/>
                    </a:ext>
                  </a:extLst>
                </a:gridCol>
                <a:gridCol w="589069">
                  <a:extLst>
                    <a:ext uri="{9D8B030D-6E8A-4147-A177-3AD203B41FA5}">
                      <a16:colId xmlns:a16="http://schemas.microsoft.com/office/drawing/2014/main" val="3711035699"/>
                    </a:ext>
                  </a:extLst>
                </a:gridCol>
                <a:gridCol w="589069">
                  <a:extLst>
                    <a:ext uri="{9D8B030D-6E8A-4147-A177-3AD203B41FA5}">
                      <a16:colId xmlns:a16="http://schemas.microsoft.com/office/drawing/2014/main" val="2880311965"/>
                    </a:ext>
                  </a:extLst>
                </a:gridCol>
              </a:tblGrid>
              <a:tr h="379388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Fornecedor </a:t>
                      </a:r>
                      <a:b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 de TI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Serviço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Principal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Reunião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Realizada?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  <a:b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Atingido?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Elaborada?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Enviada?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Algum Ponto de Atenção?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037996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ALGAR TELECOM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 Internet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Novembro.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03640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ORACLE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Managed Cloud 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Novembro.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68869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LEVEL3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Novembro.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70375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VIVO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Novembro.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057867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CREDIBILIT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Suporte Ambiente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AWS Amazon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31474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Novembro.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54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645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en-US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DS5 - Gerenciamento de Incidentes de SI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706E2BF5-D02C-48ED-BD06-EE850494A8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6971431"/>
              </p:ext>
            </p:extLst>
          </p:nvPr>
        </p:nvGraphicFramePr>
        <p:xfrm>
          <a:off x="161764" y="591530"/>
          <a:ext cx="4260473" cy="2556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3E664586-0D54-4F79-8759-2EBDC576C4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1994744"/>
              </p:ext>
            </p:extLst>
          </p:nvPr>
        </p:nvGraphicFramePr>
        <p:xfrm>
          <a:off x="4572000" y="591530"/>
          <a:ext cx="4320480" cy="2484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21077"/>
              </p:ext>
            </p:extLst>
          </p:nvPr>
        </p:nvGraphicFramePr>
        <p:xfrm>
          <a:off x="971600" y="3303270"/>
          <a:ext cx="7200800" cy="12687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76742858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1188134647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1981842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pt-BR" sz="105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pt-BR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Responsável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016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INCSI-5</a:t>
                      </a:r>
                      <a:endParaRPr lang="pt-B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Compartilhamento de Senha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Claudio Cunha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123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INCSI-6</a:t>
                      </a:r>
                      <a:endParaRPr lang="pt-B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675" marR="66675" marT="47625" marB="47625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Perda de Celular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Daniel Braga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546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INCSI-7</a:t>
                      </a:r>
                      <a:endParaRPr lang="pt-B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675" marR="66675" marT="47625" marB="47625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Incidente - Chat.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Romulo Gimenes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044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INCSI-8</a:t>
                      </a:r>
                      <a:endParaRPr lang="pt-B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675" marR="66675" marT="47625" marB="47625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Mudança no Ambiente Green para o Blue - Sem GMUD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Nei Henckes (gerenciador da Crise)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78400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721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pt-BR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DS5.9.A - Gerenciamento de Antivírus</a:t>
            </a:r>
          </a:p>
        </p:txBody>
      </p:sp>
    </p:spTree>
    <p:extLst>
      <p:ext uri="{BB962C8B-B14F-4D97-AF65-F5344CB8AC3E}">
        <p14:creationId xmlns:p14="http://schemas.microsoft.com/office/powerpoint/2010/main" val="1925456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pt-BR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DS5.9.B - Gerenciamento de Patches</a:t>
            </a:r>
          </a:p>
        </p:txBody>
      </p:sp>
    </p:spTree>
    <p:extLst>
      <p:ext uri="{BB962C8B-B14F-4D97-AF65-F5344CB8AC3E}">
        <p14:creationId xmlns:p14="http://schemas.microsoft.com/office/powerpoint/2010/main" val="4214675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shutterstock_392439580.jpg"/>
          <p:cNvPicPr>
            <a:picLocks noChangeAspect="1"/>
          </p:cNvPicPr>
          <p:nvPr/>
        </p:nvPicPr>
        <p:blipFill>
          <a:blip r:embed="rId2">
            <a:extLst/>
          </a:blip>
          <a:srcRect l="29914" t="32232" r="29308" b="32233"/>
          <a:stretch>
            <a:fillRect/>
          </a:stretch>
        </p:blipFill>
        <p:spPr>
          <a:xfrm rot="127485">
            <a:off x="-616922" y="-188765"/>
            <a:ext cx="10493402" cy="60925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352"/>
                </a:moveTo>
                <a:lnTo>
                  <a:pt x="436" y="21600"/>
                </a:lnTo>
                <a:lnTo>
                  <a:pt x="21600" y="20248"/>
                </a:lnTo>
                <a:lnTo>
                  <a:pt x="21164" y="0"/>
                </a:lnTo>
                <a:lnTo>
                  <a:pt x="0" y="1352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1" t="6110" r="19124" b="1945"/>
          <a:stretch/>
        </p:blipFill>
        <p:spPr>
          <a:xfrm rot="16200000">
            <a:off x="2513814" y="-282078"/>
            <a:ext cx="4116373" cy="468051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3470647" y="1735015"/>
            <a:ext cx="2318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297955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3539</TotalTime>
  <Words>479</Words>
  <Application>Microsoft Office PowerPoint</Application>
  <PresentationFormat>Apresentação na tela (16:9)</PresentationFormat>
  <Paragraphs>221</Paragraphs>
  <Slides>10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Nunito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Karina Bernardo</dc:creator>
  <cp:lastModifiedBy>Rodrigo Possatto Rothstein</cp:lastModifiedBy>
  <cp:revision>43</cp:revision>
  <dcterms:created xsi:type="dcterms:W3CDTF">2016-08-09T16:16:53Z</dcterms:created>
  <dcterms:modified xsi:type="dcterms:W3CDTF">2017-02-06T12:39:49Z</dcterms:modified>
</cp:coreProperties>
</file>