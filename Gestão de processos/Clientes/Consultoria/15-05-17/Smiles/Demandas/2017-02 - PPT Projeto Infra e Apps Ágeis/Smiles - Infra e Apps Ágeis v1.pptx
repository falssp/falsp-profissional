
<file path=[Content_Types].xml><?xml version="1.0" encoding="utf-8"?>
<Types xmlns="http://schemas.openxmlformats.org/package/2006/content-types">
  <Default Extension="png" ContentType="image/png"/>
  <Default Extension="tmp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73" r:id="rId3"/>
    <p:sldId id="270" r:id="rId4"/>
    <p:sldId id="271" r:id="rId5"/>
    <p:sldId id="262" r:id="rId6"/>
    <p:sldId id="268" r:id="rId7"/>
    <p:sldId id="272" r:id="rId8"/>
    <p:sldId id="274" r:id="rId9"/>
    <p:sldId id="275" r:id="rId10"/>
    <p:sldId id="267" r:id="rId11"/>
  </p:sldIdLst>
  <p:sldSz cx="9144000" cy="5143500" type="screen16x9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C2FFA5D-87B4-456A-9821-1D502468CF0F}" styleName="Estilo com Tema 1 - Ênfas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88" autoAdjust="0"/>
    <p:restoredTop sz="94280" autoAdjust="0"/>
  </p:normalViewPr>
  <p:slideViewPr>
    <p:cSldViewPr>
      <p:cViewPr varScale="1">
        <p:scale>
          <a:sx n="108" d="100"/>
          <a:sy n="108" d="100"/>
        </p:scale>
        <p:origin x="1147" y="67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smilescorp-my.sharepoint.com/personal/rodrigo_rothstein_smiles_com_br/Documents/2017/Processos/Indicadores%20de%20Processos%20-%202017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smilescorp-my.sharepoint.com/personal/rodrigo_rothstein_smiles_com_br/Documents/2017/Processos/Indicadores%20de%20Processos%20-%202017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BR" b="1"/>
              <a:t>Incidentes</a:t>
            </a:r>
            <a:r>
              <a:rPr lang="pt-BR" b="1" baseline="0"/>
              <a:t> de SI </a:t>
            </a:r>
          </a:p>
          <a:p>
            <a:pPr>
              <a:defRPr/>
            </a:pPr>
            <a:r>
              <a:rPr lang="pt-BR" sz="1100" baseline="0"/>
              <a:t>(Abertos x Fechados)</a:t>
            </a:r>
            <a:endParaRPr lang="pt-BR" sz="110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'Incidentes de SI'!$C$2</c:f>
              <c:strCache>
                <c:ptCount val="1"/>
                <c:pt idx="0">
                  <c:v>Qtde. Incidentes Abertos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'Incidentes de SI'!$B$3:$B$16</c:f>
              <c:numCache>
                <c:formatCode>mmm\-yy</c:formatCode>
                <c:ptCount val="14"/>
                <c:pt idx="0">
                  <c:v>42675</c:v>
                </c:pt>
                <c:pt idx="1">
                  <c:v>42705</c:v>
                </c:pt>
                <c:pt idx="2">
                  <c:v>42736</c:v>
                </c:pt>
                <c:pt idx="3">
                  <c:v>42767</c:v>
                </c:pt>
                <c:pt idx="4">
                  <c:v>42795</c:v>
                </c:pt>
                <c:pt idx="5">
                  <c:v>42826</c:v>
                </c:pt>
                <c:pt idx="6">
                  <c:v>42856</c:v>
                </c:pt>
                <c:pt idx="7">
                  <c:v>42887</c:v>
                </c:pt>
                <c:pt idx="8">
                  <c:v>42917</c:v>
                </c:pt>
                <c:pt idx="9">
                  <c:v>42948</c:v>
                </c:pt>
                <c:pt idx="10">
                  <c:v>42979</c:v>
                </c:pt>
                <c:pt idx="11">
                  <c:v>43009</c:v>
                </c:pt>
                <c:pt idx="12">
                  <c:v>43040</c:v>
                </c:pt>
                <c:pt idx="13">
                  <c:v>43070</c:v>
                </c:pt>
              </c:numCache>
            </c:numRef>
          </c:cat>
          <c:val>
            <c:numRef>
              <c:f>'Incidentes de SI'!$C$3:$C$16</c:f>
              <c:numCache>
                <c:formatCode>General</c:formatCode>
                <c:ptCount val="14"/>
                <c:pt idx="0">
                  <c:v>2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CD3-4A18-80FB-981360E32D5F}"/>
            </c:ext>
          </c:extLst>
        </c:ser>
        <c:ser>
          <c:idx val="1"/>
          <c:order val="1"/>
          <c:tx>
            <c:strRef>
              <c:f>'Incidentes de SI'!$D$2</c:f>
              <c:strCache>
                <c:ptCount val="1"/>
                <c:pt idx="0">
                  <c:v>Qtde. Incidentes Fechados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'Incidentes de SI'!$B$3:$B$16</c:f>
              <c:numCache>
                <c:formatCode>mmm\-yy</c:formatCode>
                <c:ptCount val="14"/>
                <c:pt idx="0">
                  <c:v>42675</c:v>
                </c:pt>
                <c:pt idx="1">
                  <c:v>42705</c:v>
                </c:pt>
                <c:pt idx="2">
                  <c:v>42736</c:v>
                </c:pt>
                <c:pt idx="3">
                  <c:v>42767</c:v>
                </c:pt>
                <c:pt idx="4">
                  <c:v>42795</c:v>
                </c:pt>
                <c:pt idx="5">
                  <c:v>42826</c:v>
                </c:pt>
                <c:pt idx="6">
                  <c:v>42856</c:v>
                </c:pt>
                <c:pt idx="7">
                  <c:v>42887</c:v>
                </c:pt>
                <c:pt idx="8">
                  <c:v>42917</c:v>
                </c:pt>
                <c:pt idx="9">
                  <c:v>42948</c:v>
                </c:pt>
                <c:pt idx="10">
                  <c:v>42979</c:v>
                </c:pt>
                <c:pt idx="11">
                  <c:v>43009</c:v>
                </c:pt>
                <c:pt idx="12">
                  <c:v>43040</c:v>
                </c:pt>
                <c:pt idx="13">
                  <c:v>43070</c:v>
                </c:pt>
              </c:numCache>
            </c:numRef>
          </c:cat>
          <c:val>
            <c:numRef>
              <c:f>'Incidentes de SI'!$D$3:$D$16</c:f>
              <c:numCache>
                <c:formatCode>General</c:formatCode>
                <c:ptCount val="14"/>
                <c:pt idx="0">
                  <c:v>2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CD3-4A18-80FB-981360E32D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26630320"/>
        <c:axId val="377955376"/>
      </c:barChart>
      <c:dateAx>
        <c:axId val="326630320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377955376"/>
        <c:crosses val="autoZero"/>
        <c:auto val="1"/>
        <c:lblOffset val="100"/>
        <c:baseTimeUnit val="months"/>
      </c:dateAx>
      <c:valAx>
        <c:axId val="3779553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3266303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BR" b="1"/>
              <a:t>Incidentes</a:t>
            </a:r>
            <a:r>
              <a:rPr lang="pt-BR" b="1" baseline="0"/>
              <a:t> de SI </a:t>
            </a:r>
          </a:p>
          <a:p>
            <a:pPr>
              <a:defRPr/>
            </a:pPr>
            <a:r>
              <a:rPr lang="pt-BR" sz="1100" baseline="0"/>
              <a:t>(Tempo Médio de Resolução em hs)</a:t>
            </a:r>
            <a:endParaRPr lang="pt-BR" sz="110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'Incidentes de SI'!$E$2</c:f>
              <c:strCache>
                <c:ptCount val="1"/>
                <c:pt idx="0">
                  <c:v>Tempo Médio de Resolução (hs)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'Incidentes de SI'!$B$3:$B$16</c:f>
              <c:numCache>
                <c:formatCode>mmm\-yy</c:formatCode>
                <c:ptCount val="14"/>
                <c:pt idx="0">
                  <c:v>42675</c:v>
                </c:pt>
                <c:pt idx="1">
                  <c:v>42705</c:v>
                </c:pt>
                <c:pt idx="2">
                  <c:v>42736</c:v>
                </c:pt>
                <c:pt idx="3">
                  <c:v>42767</c:v>
                </c:pt>
                <c:pt idx="4">
                  <c:v>42795</c:v>
                </c:pt>
                <c:pt idx="5">
                  <c:v>42826</c:v>
                </c:pt>
                <c:pt idx="6">
                  <c:v>42856</c:v>
                </c:pt>
                <c:pt idx="7">
                  <c:v>42887</c:v>
                </c:pt>
                <c:pt idx="8">
                  <c:v>42917</c:v>
                </c:pt>
                <c:pt idx="9">
                  <c:v>42948</c:v>
                </c:pt>
                <c:pt idx="10">
                  <c:v>42979</c:v>
                </c:pt>
                <c:pt idx="11">
                  <c:v>43009</c:v>
                </c:pt>
                <c:pt idx="12">
                  <c:v>43040</c:v>
                </c:pt>
                <c:pt idx="13">
                  <c:v>43070</c:v>
                </c:pt>
              </c:numCache>
            </c:numRef>
          </c:cat>
          <c:val>
            <c:numRef>
              <c:f>'Incidentes de SI'!$E$3:$E$16</c:f>
              <c:numCache>
                <c:formatCode>General</c:formatCode>
                <c:ptCount val="14"/>
                <c:pt idx="0">
                  <c:v>0.71</c:v>
                </c:pt>
                <c:pt idx="1">
                  <c:v>0.83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F9-419B-AD92-7625012730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26630320"/>
        <c:axId val="377955376"/>
      </c:barChart>
      <c:dateAx>
        <c:axId val="326630320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377955376"/>
        <c:crosses val="autoZero"/>
        <c:auto val="1"/>
        <c:lblOffset val="100"/>
        <c:baseTimeUnit val="months"/>
      </c:dateAx>
      <c:valAx>
        <c:axId val="3779553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3266303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432578-ECD4-4743-8701-DC01EA1C043C}" type="datetimeFigureOut">
              <a:rPr lang="pt-BR" smtClean="0"/>
              <a:t>17/02/2017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D90639-6999-4C89-9048-178018A166C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0031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D90639-6999-4C89-9048-178018A166C4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3844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Processo de Gestão de Demandas e Desenvolvimento de Sistemas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AI1 – Identificar Soluções Automatizadas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AI2 - Adquirir e manter aplicações de software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AI3 - Adquirir e manter infraestrutura tecnológica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AI4 - Desenvolver e manter manuais de Sistemas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Processo de Gestão da Segurança de Sistemas (política de senhas, segregação de funções em sistemas, práticas de desenvolvimento seguro)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DS5.5 - Assegurar Segurança de Sistemas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SPO4 - Segregação de Função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Processo de Gestão de Infraestrutura para Segurança da Informação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DS5.8 - Gestão de chaves criptográficas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DS5.10 - Administração de Firewall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DS5.11 - Gestão de Certificados Digitais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DS11 - Gerenciar Copias de Segurança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Processo de Gestão de Instalações Físicas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DS12 - Gerenciar Instalações Físicas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D90639-6999-4C89-9048-178018A166C4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6243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07B8A-66F7-46B2-AE17-BEC38B2EE158}" type="datetimeFigureOut">
              <a:rPr lang="pt-BR" smtClean="0"/>
              <a:t>17/02/2017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69C44-A1C2-4999-B939-351D3449F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817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07B8A-66F7-46B2-AE17-BEC38B2EE158}" type="datetimeFigureOut">
              <a:rPr lang="pt-BR" smtClean="0"/>
              <a:t>17/02/2017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69C44-A1C2-4999-B939-351D3449F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56558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07B8A-66F7-46B2-AE17-BEC38B2EE158}" type="datetimeFigureOut">
              <a:rPr lang="pt-BR" smtClean="0"/>
              <a:t>17/02/2017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69C44-A1C2-4999-B939-351D3449F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3730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07B8A-66F7-46B2-AE17-BEC38B2EE158}" type="datetimeFigureOut">
              <a:rPr lang="pt-BR" smtClean="0"/>
              <a:t>17/02/2017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69C44-A1C2-4999-B939-351D3449F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4685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07B8A-66F7-46B2-AE17-BEC38B2EE158}" type="datetimeFigureOut">
              <a:rPr lang="pt-BR" smtClean="0"/>
              <a:t>17/02/2017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69C44-A1C2-4999-B939-351D3449F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2947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07B8A-66F7-46B2-AE17-BEC38B2EE158}" type="datetimeFigureOut">
              <a:rPr lang="pt-BR" smtClean="0"/>
              <a:t>17/02/2017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69C44-A1C2-4999-B939-351D3449F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7122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07B8A-66F7-46B2-AE17-BEC38B2EE158}" type="datetimeFigureOut">
              <a:rPr lang="pt-BR" smtClean="0"/>
              <a:t>17/02/2017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69C44-A1C2-4999-B939-351D3449F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1022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07B8A-66F7-46B2-AE17-BEC38B2EE158}" type="datetimeFigureOut">
              <a:rPr lang="pt-BR" smtClean="0"/>
              <a:t>17/02/2017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69C44-A1C2-4999-B939-351D3449F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1805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07B8A-66F7-46B2-AE17-BEC38B2EE158}" type="datetimeFigureOut">
              <a:rPr lang="pt-BR" smtClean="0"/>
              <a:t>17/02/2017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69C44-A1C2-4999-B939-351D3449F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8298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07B8A-66F7-46B2-AE17-BEC38B2EE158}" type="datetimeFigureOut">
              <a:rPr lang="pt-BR" smtClean="0"/>
              <a:t>17/02/2017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69C44-A1C2-4999-B939-351D3449F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0669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07B8A-66F7-46B2-AE17-BEC38B2EE158}" type="datetimeFigureOut">
              <a:rPr lang="pt-BR" smtClean="0"/>
              <a:t>17/02/2017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69C44-A1C2-4999-B939-351D3449F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1848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307B8A-66F7-46B2-AE17-BEC38B2EE158}" type="datetimeFigureOut">
              <a:rPr lang="pt-BR" smtClean="0"/>
              <a:t>17/02/2017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D69C44-A1C2-4999-B939-351D3449F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354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m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tm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m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tm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smiles.atlassian.net/browse/INCSI-8" TargetMode="External"/><Relationship Id="rId3" Type="http://schemas.openxmlformats.org/officeDocument/2006/relationships/chart" Target="../charts/chart1.xml"/><Relationship Id="rId7" Type="http://schemas.openxmlformats.org/officeDocument/2006/relationships/hyperlink" Target="https://smiles.atlassian.net/browse/INCSI-7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miles.atlassian.net/browse/INCSI-6" TargetMode="External"/><Relationship Id="rId5" Type="http://schemas.openxmlformats.org/officeDocument/2006/relationships/hyperlink" Target="https://smiles.atlassian.net/browse/INCSI-5" TargetMode="Externa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hutterstock_392439580.jpg"/>
          <p:cNvPicPr>
            <a:picLocks noChangeAspect="1"/>
          </p:cNvPicPr>
          <p:nvPr/>
        </p:nvPicPr>
        <p:blipFill>
          <a:blip r:embed="rId3">
            <a:extLst/>
          </a:blip>
          <a:srcRect l="29914" t="32232" r="29308" b="32233"/>
          <a:stretch>
            <a:fillRect/>
          </a:stretch>
        </p:blipFill>
        <p:spPr>
          <a:xfrm rot="127485">
            <a:off x="-616922" y="-188765"/>
            <a:ext cx="10493402" cy="60925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352"/>
                </a:moveTo>
                <a:lnTo>
                  <a:pt x="436" y="21600"/>
                </a:lnTo>
                <a:lnTo>
                  <a:pt x="21600" y="20248"/>
                </a:lnTo>
                <a:lnTo>
                  <a:pt x="21164" y="0"/>
                </a:lnTo>
                <a:lnTo>
                  <a:pt x="0" y="1352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91" t="6110" r="19124" b="1945"/>
          <a:stretch/>
        </p:blipFill>
        <p:spPr>
          <a:xfrm rot="16200000">
            <a:off x="2513814" y="-282078"/>
            <a:ext cx="4116373" cy="4680519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69" t="31011" r="59843" b="28084"/>
          <a:stretch/>
        </p:blipFill>
        <p:spPr>
          <a:xfrm>
            <a:off x="3043175" y="1942232"/>
            <a:ext cx="3057654" cy="1259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850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decel="10000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nodeType="withEffect" p14:presetBounceEnd="75000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75000">
                                          <p:cBhvr additive="base">
                                            <p:cTn id="11" dur="15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75000">
                                          <p:cBhvr additive="base">
                                            <p:cTn id="12" dur="15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decel="10000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5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5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552"/>
          <p:cNvSpPr txBox="1"/>
          <p:nvPr/>
        </p:nvSpPr>
        <p:spPr>
          <a:xfrm>
            <a:off x="161764" y="195486"/>
            <a:ext cx="8820472" cy="396044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Clr>
                <a:srgbClr val="595959"/>
              </a:buClr>
              <a:buSzPct val="25000"/>
            </a:pPr>
            <a:r>
              <a:rPr lang="en-US" b="1" dirty="0">
                <a:solidFill>
                  <a:srgbClr val="FF6600"/>
                </a:solidFill>
                <a:latin typeface="Nunito"/>
                <a:ea typeface="Calibri"/>
                <a:cs typeface="Calibri"/>
                <a:sym typeface="Calibri"/>
              </a:rPr>
              <a:t>Processos COBIT Smiles</a:t>
            </a:r>
            <a:endParaRPr lang="en-US" sz="1600" b="1" dirty="0">
              <a:solidFill>
                <a:srgbClr val="FF6600"/>
              </a:solidFill>
              <a:latin typeface="Nunito"/>
              <a:ea typeface="Calibri"/>
              <a:cs typeface="Calibri"/>
              <a:sym typeface="Calibri"/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72000"/>
            <a:ext cx="9144000" cy="571500"/>
          </a:xfrm>
          <a:prstGeom prst="rect">
            <a:avLst/>
          </a:prstGeom>
        </p:spPr>
      </p:pic>
      <p:sp>
        <p:nvSpPr>
          <p:cNvPr id="8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771550"/>
            <a:ext cx="8229600" cy="339447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bg1">
                    <a:lumMod val="50000"/>
                  </a:schemeClr>
                </a:solidFill>
              </a:rPr>
              <a:t>AI6/AI7 - Gerenciamento de Mudança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bg1">
                    <a:lumMod val="50000"/>
                  </a:schemeClr>
                </a:solidFill>
              </a:rPr>
              <a:t>DS1/</a:t>
            </a:r>
            <a:r>
              <a:rPr lang="pt-BR" sz="1400" dirty="0">
                <a:solidFill>
                  <a:schemeClr val="bg1">
                    <a:lumMod val="75000"/>
                  </a:schemeClr>
                </a:solidFill>
              </a:rPr>
              <a:t>DS2*</a:t>
            </a:r>
            <a:r>
              <a:rPr lang="pt-BR" sz="1400" dirty="0">
                <a:solidFill>
                  <a:schemeClr val="bg1">
                    <a:lumMod val="50000"/>
                  </a:schemeClr>
                </a:solidFill>
              </a:rPr>
              <a:t> - Gerenciamento de Fornecedores Críticos de TI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bg1">
                    <a:lumMod val="50000"/>
                  </a:schemeClr>
                </a:solidFill>
              </a:rPr>
              <a:t>DS5 - Gerenciamento de Incidentes de SI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bg1">
                    <a:lumMod val="50000"/>
                  </a:schemeClr>
                </a:solidFill>
              </a:rPr>
              <a:t>DS5.9.A - Gerenciamento de Antivírus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bg1">
                    <a:lumMod val="50000"/>
                  </a:schemeClr>
                </a:solidFill>
              </a:rPr>
              <a:t>DS5.9.B - Gerenciamento de Patches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bg1">
                    <a:lumMod val="75000"/>
                  </a:schemeClr>
                </a:solidFill>
              </a:rPr>
              <a:t>DS3 – Gerenciamento de Desempenho e Capacidade *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bg1">
                    <a:lumMod val="75000"/>
                  </a:schemeClr>
                </a:solidFill>
              </a:rPr>
              <a:t>ME1 – Monitorar Processos *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bg1">
                    <a:lumMod val="75000"/>
                  </a:schemeClr>
                </a:solidFill>
              </a:rPr>
              <a:t>PO2 – Definir Arquitetura da Informação *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bg1">
                    <a:lumMod val="75000"/>
                  </a:schemeClr>
                </a:solidFill>
              </a:rPr>
              <a:t>AI1/AI2/AI3/AI4 - Gestão de Demandas e Desenvolvimento de Sistemas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bg1">
                    <a:lumMod val="75000"/>
                  </a:schemeClr>
                </a:solidFill>
              </a:rPr>
              <a:t>DS5.5/SP04.11 - Gestão da Segurança de Sistemas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bg1">
                    <a:lumMod val="75000"/>
                  </a:schemeClr>
                </a:solidFill>
              </a:rPr>
              <a:t>DS5.8/DS5.10/DS5.11/DS11 - Gestão de Infraestrutura para Segurança da Informação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bg1">
                    <a:lumMod val="75000"/>
                  </a:schemeClr>
                </a:solidFill>
              </a:rPr>
              <a:t>DS12 - Gestão de Instalações Físicas</a:t>
            </a:r>
          </a:p>
          <a:p>
            <a:pPr marL="0" indent="0">
              <a:buNone/>
            </a:pPr>
            <a:endParaRPr lang="pt-BR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37585" y="4798273"/>
            <a:ext cx="4824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* Falta apenas validação</a:t>
            </a:r>
          </a:p>
        </p:txBody>
      </p:sp>
    </p:spTree>
    <p:extLst>
      <p:ext uri="{BB962C8B-B14F-4D97-AF65-F5344CB8AC3E}">
        <p14:creationId xmlns:p14="http://schemas.microsoft.com/office/powerpoint/2010/main" val="3764960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552"/>
          <p:cNvSpPr txBox="1"/>
          <p:nvPr/>
        </p:nvSpPr>
        <p:spPr>
          <a:xfrm>
            <a:off x="161764" y="195486"/>
            <a:ext cx="8820472" cy="396044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Clr>
                <a:srgbClr val="595959"/>
              </a:buClr>
              <a:buSzPct val="25000"/>
            </a:pPr>
            <a:r>
              <a:rPr lang="en-US" b="1" dirty="0">
                <a:solidFill>
                  <a:srgbClr val="FF6600"/>
                </a:solidFill>
                <a:latin typeface="Nunito"/>
                <a:ea typeface="Calibri"/>
                <a:cs typeface="Calibri"/>
                <a:sym typeface="Calibri"/>
              </a:rPr>
              <a:t>AI6/AI7 - Gerenciamento de Mudança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72000"/>
            <a:ext cx="9144000" cy="571500"/>
          </a:xfrm>
          <a:prstGeom prst="rect">
            <a:avLst/>
          </a:prstGeom>
        </p:spPr>
      </p:pic>
      <p:pic>
        <p:nvPicPr>
          <p:cNvPr id="2" name="Imagem 1" descr="Recorte de Tela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88" y="727771"/>
            <a:ext cx="4343412" cy="3707987"/>
          </a:xfrm>
          <a:prstGeom prst="rect">
            <a:avLst/>
          </a:prstGeom>
        </p:spPr>
      </p:pic>
      <p:pic>
        <p:nvPicPr>
          <p:cNvPr id="6" name="Imagem 5" descr="Recorte de Tela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219" y="727771"/>
            <a:ext cx="4328671" cy="3707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950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552"/>
          <p:cNvSpPr txBox="1"/>
          <p:nvPr/>
        </p:nvSpPr>
        <p:spPr>
          <a:xfrm>
            <a:off x="161764" y="195486"/>
            <a:ext cx="8820472" cy="396044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Clr>
                <a:srgbClr val="595959"/>
              </a:buClr>
              <a:buSzPct val="25000"/>
            </a:pPr>
            <a:r>
              <a:rPr lang="en-US" b="1" dirty="0">
                <a:solidFill>
                  <a:srgbClr val="FF6600"/>
                </a:solidFill>
                <a:latin typeface="Nunito"/>
                <a:ea typeface="Calibri"/>
                <a:cs typeface="Calibri"/>
                <a:sym typeface="Calibri"/>
              </a:rPr>
              <a:t>AI6/AI7 - Gerenciamento de Mudança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72000"/>
            <a:ext cx="9144000" cy="571500"/>
          </a:xfrm>
          <a:prstGeom prst="rect">
            <a:avLst/>
          </a:prstGeom>
        </p:spPr>
      </p:pic>
      <p:pic>
        <p:nvPicPr>
          <p:cNvPr id="4" name="Imagem 3" descr="Recorte de Tela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83" y="625146"/>
            <a:ext cx="8748464" cy="372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768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552"/>
          <p:cNvSpPr txBox="1"/>
          <p:nvPr/>
        </p:nvSpPr>
        <p:spPr>
          <a:xfrm>
            <a:off x="161764" y="195486"/>
            <a:ext cx="8820472" cy="396044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Clr>
                <a:srgbClr val="595959"/>
              </a:buClr>
              <a:buSzPct val="25000"/>
            </a:pPr>
            <a:r>
              <a:rPr lang="pt-BR" b="1" dirty="0">
                <a:solidFill>
                  <a:srgbClr val="FF6600"/>
                </a:solidFill>
                <a:latin typeface="Nunito"/>
                <a:ea typeface="Calibri"/>
                <a:cs typeface="Calibri"/>
                <a:sym typeface="Calibri"/>
              </a:rPr>
              <a:t>DS1 - Gerenciamento de Fornecedores Críticos de TI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72000"/>
            <a:ext cx="9144000" cy="571500"/>
          </a:xfrm>
          <a:prstGeom prst="rect">
            <a:avLst/>
          </a:prstGeom>
        </p:spPr>
      </p:pic>
      <p:pic>
        <p:nvPicPr>
          <p:cNvPr id="4" name="Imagem 3" descr="Recorte de Tela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186" y="1131590"/>
            <a:ext cx="4405038" cy="3096344"/>
          </a:xfrm>
          <a:prstGeom prst="rect">
            <a:avLst/>
          </a:prstGeom>
        </p:spPr>
      </p:pic>
      <p:sp>
        <p:nvSpPr>
          <p:cNvPr id="7" name="CaixaDeTexto 6"/>
          <p:cNvSpPr txBox="1"/>
          <p:nvPr/>
        </p:nvSpPr>
        <p:spPr>
          <a:xfrm>
            <a:off x="139186" y="871670"/>
            <a:ext cx="44050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Setembro/2016</a:t>
            </a:r>
          </a:p>
        </p:txBody>
      </p:sp>
      <p:sp>
        <p:nvSpPr>
          <p:cNvPr id="9" name="CaixaDeTexto 8"/>
          <p:cNvSpPr txBox="1"/>
          <p:nvPr/>
        </p:nvSpPr>
        <p:spPr>
          <a:xfrm>
            <a:off x="4624325" y="880364"/>
            <a:ext cx="4256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Outubro/2016</a:t>
            </a:r>
          </a:p>
        </p:txBody>
      </p:sp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469071"/>
              </p:ext>
            </p:extLst>
          </p:nvPr>
        </p:nvGraphicFramePr>
        <p:xfrm>
          <a:off x="4624325" y="1142303"/>
          <a:ext cx="4357910" cy="3050160"/>
        </p:xfrm>
        <a:graphic>
          <a:graphicData uri="http://schemas.openxmlformats.org/drawingml/2006/table">
            <a:tbl>
              <a:tblPr/>
              <a:tblGrid>
                <a:gridCol w="805964">
                  <a:extLst>
                    <a:ext uri="{9D8B030D-6E8A-4147-A177-3AD203B41FA5}">
                      <a16:colId xmlns:a16="http://schemas.microsoft.com/office/drawing/2014/main" val="654045636"/>
                    </a:ext>
                  </a:extLst>
                </a:gridCol>
                <a:gridCol w="591991">
                  <a:extLst>
                    <a:ext uri="{9D8B030D-6E8A-4147-A177-3AD203B41FA5}">
                      <a16:colId xmlns:a16="http://schemas.microsoft.com/office/drawing/2014/main" val="193877993"/>
                    </a:ext>
                  </a:extLst>
                </a:gridCol>
                <a:gridCol w="591991">
                  <a:extLst>
                    <a:ext uri="{9D8B030D-6E8A-4147-A177-3AD203B41FA5}">
                      <a16:colId xmlns:a16="http://schemas.microsoft.com/office/drawing/2014/main" val="3190376036"/>
                    </a:ext>
                  </a:extLst>
                </a:gridCol>
                <a:gridCol w="591991">
                  <a:extLst>
                    <a:ext uri="{9D8B030D-6E8A-4147-A177-3AD203B41FA5}">
                      <a16:colId xmlns:a16="http://schemas.microsoft.com/office/drawing/2014/main" val="3492091434"/>
                    </a:ext>
                  </a:extLst>
                </a:gridCol>
                <a:gridCol w="591991">
                  <a:extLst>
                    <a:ext uri="{9D8B030D-6E8A-4147-A177-3AD203B41FA5}">
                      <a16:colId xmlns:a16="http://schemas.microsoft.com/office/drawing/2014/main" val="2731739232"/>
                    </a:ext>
                  </a:extLst>
                </a:gridCol>
                <a:gridCol w="591991">
                  <a:extLst>
                    <a:ext uri="{9D8B030D-6E8A-4147-A177-3AD203B41FA5}">
                      <a16:colId xmlns:a16="http://schemas.microsoft.com/office/drawing/2014/main" val="3711035699"/>
                    </a:ext>
                  </a:extLst>
                </a:gridCol>
                <a:gridCol w="591991">
                  <a:extLst>
                    <a:ext uri="{9D8B030D-6E8A-4147-A177-3AD203B41FA5}">
                      <a16:colId xmlns:a16="http://schemas.microsoft.com/office/drawing/2014/main" val="2880311965"/>
                    </a:ext>
                  </a:extLst>
                </a:gridCol>
              </a:tblGrid>
              <a:tr h="381270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Fornecedor </a:t>
                      </a:r>
                      <a:br>
                        <a:rPr lang="pt-BR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Crítico de TI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Serviço </a:t>
                      </a:r>
                      <a:b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Principal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Reunião </a:t>
                      </a:r>
                      <a:b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Realizada?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SLA </a:t>
                      </a:r>
                      <a:b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Atingido?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Ata </a:t>
                      </a:r>
                      <a:b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Elaborada?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Ata </a:t>
                      </a:r>
                      <a:b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Enviada?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Algum Ponto de Atenção?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3037996"/>
                  </a:ext>
                </a:extLst>
              </a:tr>
              <a:tr h="444815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ALGAR TELECOM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Link Internet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Pendente</a:t>
                      </a:r>
                    </a:p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Envio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5803640"/>
                  </a:ext>
                </a:extLst>
              </a:tr>
              <a:tr h="444815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ORACLE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Managed Cloud 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Pendente</a:t>
                      </a:r>
                    </a:p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Envio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6868869"/>
                  </a:ext>
                </a:extLst>
              </a:tr>
              <a:tr h="444815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LEVEL3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Links MPLS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Pendente</a:t>
                      </a:r>
                    </a:p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Envio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8770375"/>
                  </a:ext>
                </a:extLst>
              </a:tr>
              <a:tr h="444815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VIVO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Links MPLS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Pendente</a:t>
                      </a:r>
                    </a:p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Envio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Revisão das Faturas</a:t>
                      </a:r>
                    </a:p>
                    <a:p>
                      <a:pPr algn="ctr" fontAlgn="ctr"/>
                      <a:r>
                        <a:rPr lang="pt-BR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(Em andamento)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1057867"/>
                  </a:ext>
                </a:extLst>
              </a:tr>
              <a:tr h="444815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CREDIBILIT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Suporte Ambiente </a:t>
                      </a:r>
                      <a:b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AWS Amazon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Pendente</a:t>
                      </a:r>
                    </a:p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Envio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31474"/>
                  </a:ext>
                </a:extLst>
              </a:tr>
              <a:tr h="444815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TIVIT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EDI</a:t>
                      </a:r>
                    </a:p>
                  </a:txBody>
                  <a:tcPr marL="48144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SLA </a:t>
                      </a:r>
                    </a:p>
                    <a:p>
                      <a:pPr algn="ctr" fontAlgn="ctr"/>
                      <a:r>
                        <a:rPr lang="pt-BR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pendente de formalização contratual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Pendente</a:t>
                      </a:r>
                    </a:p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Envio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Formalização Contratual </a:t>
                      </a:r>
                      <a:br>
                        <a:rPr lang="pt-BR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(Em Andamento)</a:t>
                      </a:r>
                    </a:p>
                  </a:txBody>
                  <a:tcPr marL="5349" marR="5349" marT="534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1544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6236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552"/>
          <p:cNvSpPr txBox="1"/>
          <p:nvPr/>
        </p:nvSpPr>
        <p:spPr>
          <a:xfrm>
            <a:off x="161764" y="195486"/>
            <a:ext cx="8820472" cy="396044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Clr>
                <a:srgbClr val="595959"/>
              </a:buClr>
              <a:buSzPct val="25000"/>
            </a:pPr>
            <a:r>
              <a:rPr lang="pt-BR" b="1" dirty="0">
                <a:solidFill>
                  <a:srgbClr val="FF6600"/>
                </a:solidFill>
                <a:latin typeface="Nunito"/>
                <a:ea typeface="Calibri"/>
                <a:cs typeface="Calibri"/>
                <a:sym typeface="Calibri"/>
              </a:rPr>
              <a:t>DS1 - Gerenciamento de Fornecedores Críticos de TI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72000"/>
            <a:ext cx="9144000" cy="571500"/>
          </a:xfrm>
          <a:prstGeom prst="rect">
            <a:avLst/>
          </a:prstGeom>
        </p:spPr>
      </p:pic>
      <p:sp>
        <p:nvSpPr>
          <p:cNvPr id="7" name="CaixaDeTexto 6"/>
          <p:cNvSpPr txBox="1"/>
          <p:nvPr/>
        </p:nvSpPr>
        <p:spPr>
          <a:xfrm>
            <a:off x="150475" y="871670"/>
            <a:ext cx="44050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Novembro/2016</a:t>
            </a:r>
          </a:p>
        </p:txBody>
      </p:sp>
      <p:sp>
        <p:nvSpPr>
          <p:cNvPr id="9" name="CaixaDeTexto 8"/>
          <p:cNvSpPr txBox="1"/>
          <p:nvPr/>
        </p:nvSpPr>
        <p:spPr>
          <a:xfrm>
            <a:off x="4635614" y="880364"/>
            <a:ext cx="4256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Dezembro/2016</a:t>
            </a:r>
          </a:p>
        </p:txBody>
      </p:sp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45463"/>
              </p:ext>
            </p:extLst>
          </p:nvPr>
        </p:nvGraphicFramePr>
        <p:xfrm>
          <a:off x="150475" y="1131590"/>
          <a:ext cx="4336414" cy="3035102"/>
        </p:xfrm>
        <a:graphic>
          <a:graphicData uri="http://schemas.openxmlformats.org/drawingml/2006/table">
            <a:tbl>
              <a:tblPr/>
              <a:tblGrid>
                <a:gridCol w="801988">
                  <a:extLst>
                    <a:ext uri="{9D8B030D-6E8A-4147-A177-3AD203B41FA5}">
                      <a16:colId xmlns:a16="http://schemas.microsoft.com/office/drawing/2014/main" val="654045636"/>
                    </a:ext>
                  </a:extLst>
                </a:gridCol>
                <a:gridCol w="589071">
                  <a:extLst>
                    <a:ext uri="{9D8B030D-6E8A-4147-A177-3AD203B41FA5}">
                      <a16:colId xmlns:a16="http://schemas.microsoft.com/office/drawing/2014/main" val="193877993"/>
                    </a:ext>
                  </a:extLst>
                </a:gridCol>
                <a:gridCol w="589071">
                  <a:extLst>
                    <a:ext uri="{9D8B030D-6E8A-4147-A177-3AD203B41FA5}">
                      <a16:colId xmlns:a16="http://schemas.microsoft.com/office/drawing/2014/main" val="3190376036"/>
                    </a:ext>
                  </a:extLst>
                </a:gridCol>
                <a:gridCol w="589071">
                  <a:extLst>
                    <a:ext uri="{9D8B030D-6E8A-4147-A177-3AD203B41FA5}">
                      <a16:colId xmlns:a16="http://schemas.microsoft.com/office/drawing/2014/main" val="3492091434"/>
                    </a:ext>
                  </a:extLst>
                </a:gridCol>
                <a:gridCol w="589071">
                  <a:extLst>
                    <a:ext uri="{9D8B030D-6E8A-4147-A177-3AD203B41FA5}">
                      <a16:colId xmlns:a16="http://schemas.microsoft.com/office/drawing/2014/main" val="2731739232"/>
                    </a:ext>
                  </a:extLst>
                </a:gridCol>
                <a:gridCol w="589071">
                  <a:extLst>
                    <a:ext uri="{9D8B030D-6E8A-4147-A177-3AD203B41FA5}">
                      <a16:colId xmlns:a16="http://schemas.microsoft.com/office/drawing/2014/main" val="3711035699"/>
                    </a:ext>
                  </a:extLst>
                </a:gridCol>
                <a:gridCol w="589071">
                  <a:extLst>
                    <a:ext uri="{9D8B030D-6E8A-4147-A177-3AD203B41FA5}">
                      <a16:colId xmlns:a16="http://schemas.microsoft.com/office/drawing/2014/main" val="2880311965"/>
                    </a:ext>
                  </a:extLst>
                </a:gridCol>
              </a:tblGrid>
              <a:tr h="379388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Fornecedor </a:t>
                      </a:r>
                      <a:b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Crítico de TI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Serviço </a:t>
                      </a:r>
                      <a:b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Principal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Reunião </a:t>
                      </a:r>
                      <a:b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Realizada?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SLA </a:t>
                      </a:r>
                      <a:b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Atingido?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Ata </a:t>
                      </a:r>
                      <a:b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Elaborada?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Ata </a:t>
                      </a:r>
                      <a:b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Enviada?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Algum Ponto de Atenção?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3037996"/>
                  </a:ext>
                </a:extLst>
              </a:tr>
              <a:tr h="442619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ALGAR TELECOM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Link Internet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5803640"/>
                  </a:ext>
                </a:extLst>
              </a:tr>
              <a:tr h="442619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ORACLE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Managed Cloud 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6868869"/>
                  </a:ext>
                </a:extLst>
              </a:tr>
              <a:tr h="442619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LEVEL3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Links MPLS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 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8770375"/>
                  </a:ext>
                </a:extLst>
              </a:tr>
              <a:tr h="442619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VIVO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Links MPLS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1057867"/>
                  </a:ext>
                </a:extLst>
              </a:tr>
              <a:tr h="442619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CREDIBILIT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Suporte Ambiente </a:t>
                      </a:r>
                      <a:b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AWS Amazon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6038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6038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6038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6038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31474"/>
                  </a:ext>
                </a:extLst>
              </a:tr>
              <a:tr h="442619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TIVIT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EDI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6038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6038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6038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6038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154491"/>
                  </a:ext>
                </a:extLst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492488"/>
              </p:ext>
            </p:extLst>
          </p:nvPr>
        </p:nvGraphicFramePr>
        <p:xfrm>
          <a:off x="4583289" y="1131590"/>
          <a:ext cx="4336400" cy="3035102"/>
        </p:xfrm>
        <a:graphic>
          <a:graphicData uri="http://schemas.openxmlformats.org/drawingml/2006/table">
            <a:tbl>
              <a:tblPr/>
              <a:tblGrid>
                <a:gridCol w="801986">
                  <a:extLst>
                    <a:ext uri="{9D8B030D-6E8A-4147-A177-3AD203B41FA5}">
                      <a16:colId xmlns:a16="http://schemas.microsoft.com/office/drawing/2014/main" val="654045636"/>
                    </a:ext>
                  </a:extLst>
                </a:gridCol>
                <a:gridCol w="589069">
                  <a:extLst>
                    <a:ext uri="{9D8B030D-6E8A-4147-A177-3AD203B41FA5}">
                      <a16:colId xmlns:a16="http://schemas.microsoft.com/office/drawing/2014/main" val="193877993"/>
                    </a:ext>
                  </a:extLst>
                </a:gridCol>
                <a:gridCol w="589069">
                  <a:extLst>
                    <a:ext uri="{9D8B030D-6E8A-4147-A177-3AD203B41FA5}">
                      <a16:colId xmlns:a16="http://schemas.microsoft.com/office/drawing/2014/main" val="3190376036"/>
                    </a:ext>
                  </a:extLst>
                </a:gridCol>
                <a:gridCol w="589069">
                  <a:extLst>
                    <a:ext uri="{9D8B030D-6E8A-4147-A177-3AD203B41FA5}">
                      <a16:colId xmlns:a16="http://schemas.microsoft.com/office/drawing/2014/main" val="3492091434"/>
                    </a:ext>
                  </a:extLst>
                </a:gridCol>
                <a:gridCol w="589069">
                  <a:extLst>
                    <a:ext uri="{9D8B030D-6E8A-4147-A177-3AD203B41FA5}">
                      <a16:colId xmlns:a16="http://schemas.microsoft.com/office/drawing/2014/main" val="2731739232"/>
                    </a:ext>
                  </a:extLst>
                </a:gridCol>
                <a:gridCol w="589069">
                  <a:extLst>
                    <a:ext uri="{9D8B030D-6E8A-4147-A177-3AD203B41FA5}">
                      <a16:colId xmlns:a16="http://schemas.microsoft.com/office/drawing/2014/main" val="3711035699"/>
                    </a:ext>
                  </a:extLst>
                </a:gridCol>
                <a:gridCol w="589069">
                  <a:extLst>
                    <a:ext uri="{9D8B030D-6E8A-4147-A177-3AD203B41FA5}">
                      <a16:colId xmlns:a16="http://schemas.microsoft.com/office/drawing/2014/main" val="2880311965"/>
                    </a:ext>
                  </a:extLst>
                </a:gridCol>
              </a:tblGrid>
              <a:tr h="379388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Fornecedor </a:t>
                      </a:r>
                      <a:br>
                        <a:rPr lang="pt-BR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Crítico de TI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Serviço </a:t>
                      </a:r>
                      <a:b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Principal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Reunião </a:t>
                      </a:r>
                      <a:b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Realizada?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SLA </a:t>
                      </a:r>
                      <a:b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Atingido?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Ata </a:t>
                      </a:r>
                      <a:b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Elaborada?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Ata </a:t>
                      </a:r>
                      <a:b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Enviada?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Algum Ponto de Atenção?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3037996"/>
                  </a:ext>
                </a:extLst>
              </a:tr>
              <a:tr h="442619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ALGAR TELECOM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Link Internet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Foram elaboradas as atas retroativas a Novembro.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5803640"/>
                  </a:ext>
                </a:extLst>
              </a:tr>
              <a:tr h="442619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ORACLE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Managed Cloud 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Foram elaboradas as atas retroativas a Novembro.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6868869"/>
                  </a:ext>
                </a:extLst>
              </a:tr>
              <a:tr h="442619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LEVEL3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Links MPLS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Foram elaboradas as atas retroativas a Novembro.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8770375"/>
                  </a:ext>
                </a:extLst>
              </a:tr>
              <a:tr h="442619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VIVO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Links MPLS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Foram elaboradas as atas retroativas a Novembro.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1057867"/>
                  </a:ext>
                </a:extLst>
              </a:tr>
              <a:tr h="442619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CREDIBILIT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Suporte Ambiente </a:t>
                      </a:r>
                      <a:b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7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AWS Amazon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6038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6038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6038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6038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Não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252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31474"/>
                  </a:ext>
                </a:extLst>
              </a:tr>
              <a:tr h="442619"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TIVIT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7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EDI</a:t>
                      </a:r>
                    </a:p>
                  </a:txBody>
                  <a:tcPr marL="47906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FB4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Foram elaboradas as atas retroativas a Novembro.</a:t>
                      </a:r>
                    </a:p>
                  </a:txBody>
                  <a:tcPr marL="5323" marR="5323" marT="5323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1544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6451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552"/>
          <p:cNvSpPr txBox="1"/>
          <p:nvPr/>
        </p:nvSpPr>
        <p:spPr>
          <a:xfrm>
            <a:off x="161764" y="195486"/>
            <a:ext cx="8820472" cy="396044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Clr>
                <a:srgbClr val="595959"/>
              </a:buClr>
              <a:buSzPct val="25000"/>
            </a:pPr>
            <a:r>
              <a:rPr lang="en-US" b="1" dirty="0">
                <a:solidFill>
                  <a:srgbClr val="FF6600"/>
                </a:solidFill>
                <a:latin typeface="Nunito"/>
                <a:ea typeface="Calibri"/>
                <a:cs typeface="Calibri"/>
                <a:sym typeface="Calibri"/>
              </a:rPr>
              <a:t>DS5 - Gerenciamento de Incidentes de SI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72000"/>
            <a:ext cx="9144000" cy="571500"/>
          </a:xfrm>
          <a:prstGeom prst="rect">
            <a:avLst/>
          </a:prstGeom>
        </p:spPr>
      </p:pic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706E2BF5-D02C-48ED-BD06-EE850494A88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56971431"/>
              </p:ext>
            </p:extLst>
          </p:nvPr>
        </p:nvGraphicFramePr>
        <p:xfrm>
          <a:off x="161764" y="591530"/>
          <a:ext cx="4260473" cy="25562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Gráfico 6">
            <a:extLst>
              <a:ext uri="{FF2B5EF4-FFF2-40B4-BE49-F238E27FC236}">
                <a16:creationId xmlns:a16="http://schemas.microsoft.com/office/drawing/2014/main" id="{3E664586-0D54-4F79-8759-2EBDC576C42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81994744"/>
              </p:ext>
            </p:extLst>
          </p:nvPr>
        </p:nvGraphicFramePr>
        <p:xfrm>
          <a:off x="4572000" y="591530"/>
          <a:ext cx="4320480" cy="24842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" name="Tabe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6821077"/>
              </p:ext>
            </p:extLst>
          </p:nvPr>
        </p:nvGraphicFramePr>
        <p:xfrm>
          <a:off x="971600" y="3303270"/>
          <a:ext cx="7200800" cy="126873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767428580"/>
                    </a:ext>
                  </a:extLst>
                </a:gridCol>
                <a:gridCol w="3528392">
                  <a:extLst>
                    <a:ext uri="{9D8B030D-6E8A-4147-A177-3AD203B41FA5}">
                      <a16:colId xmlns:a16="http://schemas.microsoft.com/office/drawing/2014/main" val="1188134647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1981842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fontAlgn="t" latinLnBrk="0" hangingPunct="1"/>
                      <a:r>
                        <a:rPr lang="pt-BR" sz="1050" b="1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/>
                      <a:r>
                        <a:rPr lang="pt-BR" sz="105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Descrição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t" latinLnBrk="0" hangingPunct="1"/>
                      <a:r>
                        <a:rPr lang="pt-BR" sz="105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Responsável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016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fontAlgn="t" latinLnBrk="0" hangingPunct="1"/>
                      <a:r>
                        <a:rPr lang="pt-BR" sz="105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5"/>
                        </a:rPr>
                        <a:t>INCSI-5</a:t>
                      </a:r>
                      <a:endParaRPr lang="pt-BR" sz="105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t" latinLnBrk="0" hangingPunct="1"/>
                      <a:r>
                        <a:rPr lang="pt-BR" sz="105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Compartilhamento de Senha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t" latinLnBrk="0" hangingPunct="1"/>
                      <a:r>
                        <a:rPr lang="pt-BR" sz="105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Claudio Cunha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4123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fontAlgn="t" latinLnBrk="0" hangingPunct="1"/>
                      <a:r>
                        <a:rPr lang="pt-BR" sz="105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6"/>
                        </a:rPr>
                        <a:t>INCSI-6</a:t>
                      </a:r>
                      <a:endParaRPr lang="pt-BR" sz="105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6675" marR="66675" marT="47625" marB="47625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t" latinLnBrk="0" hangingPunct="1"/>
                      <a:r>
                        <a:rPr lang="pt-BR" sz="105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Perda de Celular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t" latinLnBrk="0" hangingPunct="1"/>
                      <a:r>
                        <a:rPr lang="pt-BR" sz="105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Daniel Braga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65467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fontAlgn="t" latinLnBrk="0" hangingPunct="1"/>
                      <a:r>
                        <a:rPr lang="pt-BR" sz="105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7"/>
                        </a:rPr>
                        <a:t>INCSI-7</a:t>
                      </a:r>
                      <a:endParaRPr lang="pt-BR" sz="105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6675" marR="66675" marT="47625" marB="47625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t" latinLnBrk="0" hangingPunct="1"/>
                      <a:r>
                        <a:rPr lang="pt-BR" sz="105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Incidente - Chat.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Romulo Gimenes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6044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fontAlgn="t" latinLnBrk="0" hangingPunct="1"/>
                      <a:r>
                        <a:rPr lang="pt-BR" sz="105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8"/>
                        </a:rPr>
                        <a:t>INCSI-8</a:t>
                      </a:r>
                      <a:endParaRPr lang="pt-BR" sz="105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6675" marR="66675" marT="47625" marB="47625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t" latinLnBrk="0" hangingPunct="1"/>
                      <a:r>
                        <a:rPr lang="pt-BR" sz="105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Mudança no Ambiente Green para o Blue - Sem GMUD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t" latinLnBrk="0" hangingPunct="1"/>
                      <a:r>
                        <a:rPr lang="pt-BR" sz="105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Nei Henckes (gerenciador da Crise)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6784002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1721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552"/>
          <p:cNvSpPr txBox="1"/>
          <p:nvPr/>
        </p:nvSpPr>
        <p:spPr>
          <a:xfrm>
            <a:off x="161764" y="195486"/>
            <a:ext cx="8820472" cy="396044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Clr>
                <a:srgbClr val="595959"/>
              </a:buClr>
              <a:buSzPct val="25000"/>
            </a:pPr>
            <a:r>
              <a:rPr lang="pt-BR" b="1" dirty="0">
                <a:solidFill>
                  <a:srgbClr val="FF6600"/>
                </a:solidFill>
                <a:latin typeface="Nunito"/>
                <a:ea typeface="Calibri"/>
                <a:cs typeface="Calibri"/>
                <a:sym typeface="Calibri"/>
              </a:rPr>
              <a:t>DS5.9.A - Gerenciamento de Antivírus</a:t>
            </a:r>
          </a:p>
        </p:txBody>
      </p:sp>
    </p:spTree>
    <p:extLst>
      <p:ext uri="{BB962C8B-B14F-4D97-AF65-F5344CB8AC3E}">
        <p14:creationId xmlns:p14="http://schemas.microsoft.com/office/powerpoint/2010/main" val="1925456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552"/>
          <p:cNvSpPr txBox="1"/>
          <p:nvPr/>
        </p:nvSpPr>
        <p:spPr>
          <a:xfrm>
            <a:off x="161764" y="195486"/>
            <a:ext cx="8820472" cy="396044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Clr>
                <a:srgbClr val="595959"/>
              </a:buClr>
              <a:buSzPct val="25000"/>
            </a:pPr>
            <a:r>
              <a:rPr lang="pt-BR" b="1" dirty="0">
                <a:solidFill>
                  <a:srgbClr val="FF6600"/>
                </a:solidFill>
                <a:latin typeface="Nunito"/>
                <a:ea typeface="Calibri"/>
                <a:cs typeface="Calibri"/>
                <a:sym typeface="Calibri"/>
              </a:rPr>
              <a:t>DS5.9.B - Gerenciamento de Patches</a:t>
            </a:r>
          </a:p>
        </p:txBody>
      </p:sp>
    </p:spTree>
    <p:extLst>
      <p:ext uri="{BB962C8B-B14F-4D97-AF65-F5344CB8AC3E}">
        <p14:creationId xmlns:p14="http://schemas.microsoft.com/office/powerpoint/2010/main" val="4214675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shutterstock_392439580.jpg"/>
          <p:cNvPicPr>
            <a:picLocks noChangeAspect="1"/>
          </p:cNvPicPr>
          <p:nvPr/>
        </p:nvPicPr>
        <p:blipFill>
          <a:blip r:embed="rId2">
            <a:extLst/>
          </a:blip>
          <a:srcRect l="29914" t="32232" r="29308" b="32233"/>
          <a:stretch>
            <a:fillRect/>
          </a:stretch>
        </p:blipFill>
        <p:spPr>
          <a:xfrm rot="127485">
            <a:off x="-616922" y="-188765"/>
            <a:ext cx="10493402" cy="60925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352"/>
                </a:moveTo>
                <a:lnTo>
                  <a:pt x="436" y="21600"/>
                </a:lnTo>
                <a:lnTo>
                  <a:pt x="21600" y="20248"/>
                </a:lnTo>
                <a:lnTo>
                  <a:pt x="21164" y="0"/>
                </a:lnTo>
                <a:lnTo>
                  <a:pt x="0" y="1352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91" t="6110" r="19124" b="1945"/>
          <a:stretch/>
        </p:blipFill>
        <p:spPr>
          <a:xfrm rot="16200000">
            <a:off x="2513814" y="-282078"/>
            <a:ext cx="4116373" cy="4680519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3470647" y="1735015"/>
            <a:ext cx="23182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>
                <a:solidFill>
                  <a:schemeClr val="bg1"/>
                </a:solidFill>
              </a:rPr>
              <a:t>OBRIGADO</a:t>
            </a:r>
          </a:p>
        </p:txBody>
      </p:sp>
    </p:spTree>
    <p:extLst>
      <p:ext uri="{BB962C8B-B14F-4D97-AF65-F5344CB8AC3E}">
        <p14:creationId xmlns:p14="http://schemas.microsoft.com/office/powerpoint/2010/main" val="2979553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3539</TotalTime>
  <Words>479</Words>
  <Application>Microsoft Office PowerPoint</Application>
  <PresentationFormat>Apresentação na tela (16:9)</PresentationFormat>
  <Paragraphs>221</Paragraphs>
  <Slides>10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Arial</vt:lpstr>
      <vt:lpstr>Calibri</vt:lpstr>
      <vt:lpstr>Nunito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Karina Bernardo</dc:creator>
  <cp:lastModifiedBy>Jorge Filho</cp:lastModifiedBy>
  <cp:revision>43</cp:revision>
  <dcterms:created xsi:type="dcterms:W3CDTF">2016-08-09T16:16:53Z</dcterms:created>
  <dcterms:modified xsi:type="dcterms:W3CDTF">2017-02-17T18:52:09Z</dcterms:modified>
</cp:coreProperties>
</file>