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339" r:id="rId3"/>
    <p:sldId id="359" r:id="rId4"/>
    <p:sldId id="345" r:id="rId5"/>
    <p:sldId id="355" r:id="rId6"/>
    <p:sldId id="356" r:id="rId7"/>
    <p:sldId id="358" r:id="rId8"/>
    <p:sldId id="360" r:id="rId9"/>
    <p:sldId id="362" r:id="rId10"/>
  </p:sldIdLst>
  <p:sldSz cx="101171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8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D0462D"/>
    <a:srgbClr val="F57124"/>
    <a:srgbClr val="F68E1E"/>
    <a:srgbClr val="99CCFF"/>
    <a:srgbClr val="FF9900"/>
    <a:srgbClr val="000000"/>
    <a:srgbClr val="EE6829"/>
    <a:srgbClr val="E28734"/>
    <a:srgbClr val="F4BC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29" autoAdjust="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942" y="66"/>
      </p:cViewPr>
      <p:guideLst>
        <p:guide orient="horz" pos="2160"/>
        <p:guide pos="318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16/03/2017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900113" y="685800"/>
            <a:ext cx="505777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8786" y="2130428"/>
            <a:ext cx="8599567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17571" y="3886200"/>
            <a:ext cx="708199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026D4-BB22-405D-8A03-AF2F8CBC4919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68D0-CE47-4877-9BD0-C46BE2BB9CD5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184" y="4406903"/>
            <a:ext cx="8599567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9184" y="2906713"/>
            <a:ext cx="8599567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8497E-30E6-4C08-9D14-E070002978BF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5857" y="1600203"/>
            <a:ext cx="446840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2878" y="1600203"/>
            <a:ext cx="446840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97FF6-005E-4BA2-9305-A7C647913EA8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5857" y="1535113"/>
            <a:ext cx="447016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5857" y="2174875"/>
            <a:ext cx="44701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39367" y="1535113"/>
            <a:ext cx="447191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39367" y="2174875"/>
            <a:ext cx="447191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78140B-6EC9-48F1-A41F-43DC9AE4C8DD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7E8AD-DEA3-4297-ADE0-9CC2DDD1F23C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7650-0C5D-40AD-AA5D-CFE5562FEFB0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5857" y="273050"/>
            <a:ext cx="332846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521" y="273053"/>
            <a:ext cx="565576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5857" y="1435103"/>
            <a:ext cx="332846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45CB6-874E-4B63-BC1B-0A4BE32AD0E9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030" y="4800600"/>
            <a:ext cx="6070283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83030" y="612775"/>
            <a:ext cx="6070283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030" y="5367338"/>
            <a:ext cx="6070283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BBB69-9F2C-4EC9-881E-974CA77666E8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ADA57-9F36-4D1E-9409-51BB29037D99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34925" y="274641"/>
            <a:ext cx="227635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5857" y="274641"/>
            <a:ext cx="6660449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ACA03-ADFA-416A-94F6-0D8DF22E4FC0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5857" y="274638"/>
            <a:ext cx="910542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5857" y="1600203"/>
            <a:ext cx="910542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5857" y="6356353"/>
            <a:ext cx="2360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06757D-D130-4BC6-B1D1-6E22D1418CA3}" type="datetime1">
              <a:rPr lang="en-US" smtClean="0"/>
              <a:t>3/16/2017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6689" y="6356353"/>
            <a:ext cx="32037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50615" y="6356353"/>
            <a:ext cx="2360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6.png"/><Relationship Id="rId4" Type="http://schemas.openxmlformats.org/officeDocument/2006/relationships/hyperlink" Target="https://telefones.smiles.corp/ucmuser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microsoft.com/office/2007/relationships/hdphoto" Target="../media/hdphoto4.wdp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microsoft.com/office/2007/relationships/hdphoto" Target="../media/hdphoto3.wdp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5" Type="http://schemas.microsoft.com/office/2007/relationships/hdphoto" Target="../media/hdphoto4.wdp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5" Type="http://schemas.microsoft.com/office/2007/relationships/hdphoto" Target="../media/hdphoto5.wdp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/>
          <p:nvPr/>
        </p:nvSpPr>
        <p:spPr>
          <a:xfrm>
            <a:off x="-1393" y="3"/>
            <a:ext cx="6375313" cy="6857999"/>
          </a:xfrm>
          <a:custGeom>
            <a:avLst/>
            <a:gdLst/>
            <a:ahLst/>
            <a:cxnLst/>
            <a:rect l="l" t="t" r="r" b="b"/>
            <a:pathLst>
              <a:path w="5762090" h="6857999">
                <a:moveTo>
                  <a:pt x="0" y="0"/>
                </a:moveTo>
                <a:lnTo>
                  <a:pt x="1920697" y="0"/>
                </a:lnTo>
                <a:lnTo>
                  <a:pt x="3279881" y="0"/>
                </a:lnTo>
                <a:lnTo>
                  <a:pt x="5200578" y="0"/>
                </a:lnTo>
                <a:lnTo>
                  <a:pt x="5255041" y="148787"/>
                </a:lnTo>
                <a:cubicBezTo>
                  <a:pt x="5571805" y="1057108"/>
                  <a:pt x="5762090" y="2221597"/>
                  <a:pt x="5762090" y="3491260"/>
                </a:cubicBezTo>
                <a:cubicBezTo>
                  <a:pt x="5762090" y="4760923"/>
                  <a:pt x="5571805" y="5925412"/>
                  <a:pt x="5255041" y="6833733"/>
                </a:cubicBezTo>
                <a:lnTo>
                  <a:pt x="5246158" y="6857999"/>
                </a:lnTo>
                <a:lnTo>
                  <a:pt x="3325461" y="6857999"/>
                </a:lnTo>
                <a:lnTo>
                  <a:pt x="1920697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FF8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303" y="3276362"/>
            <a:ext cx="2206288" cy="7875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1949" y="1174537"/>
            <a:ext cx="603197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Central de Serviços de TI</a:t>
            </a:r>
          </a:p>
          <a:p>
            <a:endParaRPr lang="pt-BR" sz="3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pt-BR" sz="4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Guia de Uso do </a:t>
            </a:r>
          </a:p>
          <a:p>
            <a:r>
              <a:rPr lang="pt-BR" sz="4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Portal Self </a:t>
            </a:r>
            <a:r>
              <a:rPr lang="pt-BR" sz="44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Care</a:t>
            </a:r>
            <a:r>
              <a:rPr lang="pt-BR" sz="4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 Cisco </a:t>
            </a:r>
          </a:p>
          <a:p>
            <a:endParaRPr lang="pt-BR" sz="3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pt-BR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  <a:p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Março</a:t>
            </a: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/2017 - </a:t>
            </a:r>
            <a:r>
              <a:rPr lang="pt-BR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  <a:cs typeface="Gotham Rounded Book"/>
              </a:rPr>
              <a:t>v01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rebuchet MS" panose="020B0603020202020204" pitchFamily="34" charset="0"/>
              <a:cs typeface="Gotham Rounded Book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949" y="4063876"/>
            <a:ext cx="1618467" cy="1618467"/>
          </a:xfrm>
          <a:prstGeom prst="rect">
            <a:avLst/>
          </a:prstGeom>
        </p:spPr>
      </p:pic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359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</a:p>
        </p:txBody>
      </p:sp>
      <p:pic>
        <p:nvPicPr>
          <p:cNvPr id="1026" name="Picture 2" descr="http://www.umkc.edu/hr/images/how-do-i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1635" y="678567"/>
            <a:ext cx="4538534" cy="2923086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Retângulo 19"/>
          <p:cNvSpPr/>
          <p:nvPr/>
        </p:nvSpPr>
        <p:spPr>
          <a:xfrm>
            <a:off x="453951" y="1662661"/>
            <a:ext cx="9210823" cy="39857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pt-BR" sz="19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Como acessar o Portal Self </a:t>
            </a:r>
            <a:r>
              <a:rPr lang="pt-BR" sz="1900" b="1" dirty="0" err="1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Care</a:t>
            </a:r>
            <a:r>
              <a:rPr lang="pt-BR" sz="19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Cisco </a:t>
            </a: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/>
            </a:pPr>
            <a:endParaRPr lang="pt-BR" sz="1900" b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ts val="600"/>
              </a:spcBef>
              <a:spcAft>
                <a:spcPts val="1800"/>
              </a:spcAft>
            </a:pPr>
            <a:r>
              <a:rPr lang="pt-BR" sz="19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2. Como criar uma sala de Conferência no Portal Self </a:t>
            </a:r>
            <a:r>
              <a:rPr lang="pt-BR" sz="1900" b="1" dirty="0" err="1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Care</a:t>
            </a:r>
            <a:r>
              <a:rPr lang="pt-BR" sz="19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>
              <a:spcBef>
                <a:spcPts val="600"/>
              </a:spcBef>
              <a:spcAft>
                <a:spcPts val="1800"/>
              </a:spcAft>
            </a:pPr>
            <a:endParaRPr lang="pt-BR" sz="1900" b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ts val="600"/>
              </a:spcBef>
              <a:spcAft>
                <a:spcPts val="1800"/>
              </a:spcAft>
            </a:pPr>
            <a:r>
              <a:rPr lang="pt-BR" sz="19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3. Acessando uma Sala de Conferência</a:t>
            </a:r>
          </a:p>
          <a:p>
            <a:pPr>
              <a:spcBef>
                <a:spcPts val="600"/>
              </a:spcBef>
              <a:spcAft>
                <a:spcPts val="1800"/>
              </a:spcAft>
            </a:pPr>
            <a:endParaRPr lang="pt-BR" sz="1900" b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ts val="600"/>
              </a:spcBef>
              <a:spcAft>
                <a:spcPts val="1800"/>
              </a:spcAft>
            </a:pPr>
            <a:r>
              <a:rPr lang="pt-BR" sz="19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4. Utilizando a Função Desvio de Chamada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691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3</a:t>
            </a:fld>
            <a:endParaRPr lang="en-US" dirty="0"/>
          </a:p>
        </p:txBody>
      </p:sp>
      <p:grpSp>
        <p:nvGrpSpPr>
          <p:cNvPr id="10" name="Agrupar 9"/>
          <p:cNvGrpSpPr/>
          <p:nvPr/>
        </p:nvGrpSpPr>
        <p:grpSpPr>
          <a:xfrm>
            <a:off x="348619" y="1035532"/>
            <a:ext cx="9419901" cy="720000"/>
            <a:chOff x="351116" y="1061658"/>
            <a:chExt cx="9419901" cy="720000"/>
          </a:xfrm>
        </p:grpSpPr>
        <p:sp>
          <p:nvSpPr>
            <p:cNvPr id="48" name="Retângulo de cantos arredondados 17"/>
            <p:cNvSpPr/>
            <p:nvPr/>
          </p:nvSpPr>
          <p:spPr>
            <a:xfrm>
              <a:off x="351116" y="1061658"/>
              <a:ext cx="9419901" cy="720000"/>
            </a:xfrm>
            <a:prstGeom prst="roundRect">
              <a:avLst>
                <a:gd name="adj" fmla="val 7081"/>
              </a:avLst>
            </a:prstGeom>
            <a:solidFill>
              <a:srgbClr val="7030A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0"/>
              <a:r>
                <a:rPr lang="pt-BR" sz="2000" b="1" dirty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Como Acessar o Portal Self </a:t>
              </a:r>
              <a:r>
                <a:rPr lang="pt-BR" sz="2000" b="1" dirty="0" err="1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Care</a:t>
              </a:r>
              <a:r>
                <a:rPr lang="pt-BR" sz="2000" b="1" dirty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CISCO</a:t>
              </a:r>
            </a:p>
          </p:txBody>
        </p:sp>
        <p:pic>
          <p:nvPicPr>
            <p:cNvPr id="8" name="Imagem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009" y="1169658"/>
              <a:ext cx="504000" cy="504000"/>
            </a:xfrm>
            <a:prstGeom prst="rect">
              <a:avLst/>
            </a:prstGeom>
          </p:spPr>
        </p:pic>
      </p:grpSp>
      <p:sp>
        <p:nvSpPr>
          <p:cNvPr id="44" name="Retângulo 43"/>
          <p:cNvSpPr/>
          <p:nvPr/>
        </p:nvSpPr>
        <p:spPr>
          <a:xfrm>
            <a:off x="348457" y="2040437"/>
            <a:ext cx="9420063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Acesse o link: </a:t>
            </a:r>
            <a:r>
              <a:rPr lang="pt-BR" altLang="pt-BR" sz="1500" dirty="0">
                <a:solidFill>
                  <a:srgbClr val="1155CC"/>
                </a:solidFill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https://telefones.smiles.corp/ucmuser/</a:t>
            </a:r>
            <a:endParaRPr lang="pt-BR" sz="15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Entre com seu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usuário e senha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lang="pt-BR" sz="15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 mesmo que você utiliza para acessar seu AD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).</a:t>
            </a:r>
          </a:p>
          <a:p>
            <a:pPr>
              <a:spcBef>
                <a:spcPts val="600"/>
              </a:spcBef>
              <a:spcAft>
                <a:spcPts val="1800"/>
              </a:spcAft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eta Dobrada 11"/>
          <p:cNvSpPr/>
          <p:nvPr/>
        </p:nvSpPr>
        <p:spPr>
          <a:xfrm rot="10800000" flipH="1">
            <a:off x="2479525" y="2831168"/>
            <a:ext cx="858516" cy="1542779"/>
          </a:xfrm>
          <a:prstGeom prst="bentArrow">
            <a:avLst>
              <a:gd name="adj1" fmla="val 25000"/>
              <a:gd name="adj2" fmla="val 23640"/>
              <a:gd name="adj3" fmla="val 25000"/>
              <a:gd name="adj4" fmla="val 43750"/>
            </a:avLst>
          </a:prstGeom>
          <a:ln>
            <a:solidFill>
              <a:schemeClr val="bg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7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86816" y="2940948"/>
            <a:ext cx="3505303" cy="3780530"/>
          </a:xfrm>
          <a:prstGeom prst="rect">
            <a:avLst/>
          </a:prstGeom>
        </p:spPr>
      </p:pic>
      <p:sp>
        <p:nvSpPr>
          <p:cNvPr id="13" name="Retângulo 12"/>
          <p:cNvSpPr/>
          <p:nvPr/>
        </p:nvSpPr>
        <p:spPr>
          <a:xfrm>
            <a:off x="3386815" y="2940948"/>
            <a:ext cx="3505303" cy="3780530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7126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10" name="Agrupar 9"/>
          <p:cNvGrpSpPr/>
          <p:nvPr/>
        </p:nvGrpSpPr>
        <p:grpSpPr>
          <a:xfrm>
            <a:off x="348619" y="1035532"/>
            <a:ext cx="9419901" cy="720000"/>
            <a:chOff x="351116" y="1061658"/>
            <a:chExt cx="9419901" cy="720000"/>
          </a:xfrm>
        </p:grpSpPr>
        <p:sp>
          <p:nvSpPr>
            <p:cNvPr id="48" name="Retângulo de cantos arredondados 17"/>
            <p:cNvSpPr/>
            <p:nvPr/>
          </p:nvSpPr>
          <p:spPr>
            <a:xfrm>
              <a:off x="351116" y="1061658"/>
              <a:ext cx="9419901" cy="720000"/>
            </a:xfrm>
            <a:prstGeom prst="roundRect">
              <a:avLst>
                <a:gd name="adj" fmla="val 7081"/>
              </a:avLst>
            </a:prstGeom>
            <a:solidFill>
              <a:srgbClr val="7030A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0"/>
              <a:r>
                <a:rPr lang="pt-BR" sz="2000" b="1" dirty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Como Criar uma Sala de Conferência no Portal Self </a:t>
              </a:r>
              <a:r>
                <a:rPr lang="pt-BR" sz="2000" b="1" dirty="0" err="1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Care</a:t>
              </a:r>
              <a:r>
                <a:rPr lang="pt-BR" sz="2000" b="1" dirty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</a:p>
          </p:txBody>
        </p:sp>
        <p:pic>
          <p:nvPicPr>
            <p:cNvPr id="8" name="Imagem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009" y="1169658"/>
              <a:ext cx="504000" cy="504000"/>
            </a:xfrm>
            <a:prstGeom prst="rect">
              <a:avLst/>
            </a:prstGeom>
          </p:spPr>
        </p:pic>
      </p:grpSp>
      <p:sp>
        <p:nvSpPr>
          <p:cNvPr id="44" name="Retângulo 43"/>
          <p:cNvSpPr/>
          <p:nvPr/>
        </p:nvSpPr>
        <p:spPr>
          <a:xfrm>
            <a:off x="191218" y="2011008"/>
            <a:ext cx="942006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Após </a:t>
            </a:r>
            <a:r>
              <a:rPr lang="pt-BR" sz="15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logar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na tela principal, clique em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CONFIGURAÇÕES GERAIS</a:t>
            </a:r>
            <a:r>
              <a:rPr lang="pt-BR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7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5511" y="2498501"/>
            <a:ext cx="8926066" cy="3976307"/>
          </a:xfrm>
          <a:prstGeom prst="rect">
            <a:avLst/>
          </a:prstGeom>
        </p:spPr>
      </p:pic>
      <p:sp>
        <p:nvSpPr>
          <p:cNvPr id="11" name="Retângulo 10"/>
          <p:cNvSpPr/>
          <p:nvPr/>
        </p:nvSpPr>
        <p:spPr>
          <a:xfrm>
            <a:off x="475511" y="2511380"/>
            <a:ext cx="8926066" cy="3976307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/>
          <p:cNvSpPr txBox="1"/>
          <p:nvPr/>
        </p:nvSpPr>
        <p:spPr>
          <a:xfrm>
            <a:off x="2472744" y="2891850"/>
            <a:ext cx="1481070" cy="3407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pt-BR" b="1" dirty="0">
                <a:solidFill>
                  <a:srgbClr val="FF0000"/>
                </a:solidFill>
              </a:rPr>
              <a:t>                                                                     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9946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5</a:t>
            </a:fld>
            <a:endParaRPr lang="en-US" dirty="0"/>
          </a:p>
        </p:txBody>
      </p:sp>
      <p:grpSp>
        <p:nvGrpSpPr>
          <p:cNvPr id="10" name="Agrupar 9"/>
          <p:cNvGrpSpPr/>
          <p:nvPr/>
        </p:nvGrpSpPr>
        <p:grpSpPr>
          <a:xfrm>
            <a:off x="348618" y="1035532"/>
            <a:ext cx="9419901" cy="720000"/>
            <a:chOff x="351116" y="1061658"/>
            <a:chExt cx="9419901" cy="720000"/>
          </a:xfrm>
        </p:grpSpPr>
        <p:sp>
          <p:nvSpPr>
            <p:cNvPr id="48" name="Retângulo de cantos arredondados 17"/>
            <p:cNvSpPr/>
            <p:nvPr/>
          </p:nvSpPr>
          <p:spPr>
            <a:xfrm>
              <a:off x="351116" y="1061658"/>
              <a:ext cx="9419901" cy="720000"/>
            </a:xfrm>
            <a:prstGeom prst="roundRect">
              <a:avLst>
                <a:gd name="adj" fmla="val 7081"/>
              </a:avLst>
            </a:prstGeom>
            <a:solidFill>
              <a:srgbClr val="7030A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0"/>
              <a:r>
                <a:rPr lang="pt-BR" sz="2000" b="1" dirty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Como Criar uma Sala de Conferência no Portal Self </a:t>
              </a:r>
              <a:r>
                <a:rPr lang="pt-BR" sz="2000" b="1" dirty="0" err="1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Care</a:t>
              </a:r>
              <a:endParaRPr lang="pt-BR" sz="2000" b="1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" name="Imagem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009" y="1169658"/>
              <a:ext cx="504000" cy="504000"/>
            </a:xfrm>
            <a:prstGeom prst="rect">
              <a:avLst/>
            </a:prstGeom>
          </p:spPr>
        </p:pic>
      </p:grpSp>
      <p:sp>
        <p:nvSpPr>
          <p:cNvPr id="44" name="Retângulo 43"/>
          <p:cNvSpPr/>
          <p:nvPr/>
        </p:nvSpPr>
        <p:spPr>
          <a:xfrm>
            <a:off x="191218" y="2011008"/>
            <a:ext cx="9420063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 seguida a tela abaixo aparecerá. Crie um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número PIN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 confirme no campo de baixo</a:t>
            </a:r>
            <a:r>
              <a:rPr lang="pt-BR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Desça a barra de rolagem até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CONFERENCE NOW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tângulo 10"/>
          <p:cNvSpPr/>
          <p:nvPr/>
        </p:nvSpPr>
        <p:spPr>
          <a:xfrm>
            <a:off x="475513" y="2374770"/>
            <a:ext cx="6633626" cy="1858320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4" name="Imagem 13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7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5513" y="2374770"/>
            <a:ext cx="6633626" cy="1858320"/>
          </a:xfrm>
          <a:prstGeom prst="rect">
            <a:avLst/>
          </a:prstGeom>
        </p:spPr>
      </p:pic>
      <p:pic>
        <p:nvPicPr>
          <p:cNvPr id="17" name="Imagem 16"/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7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5512" y="4719442"/>
            <a:ext cx="5561481" cy="1835780"/>
          </a:xfrm>
          <a:prstGeom prst="rect">
            <a:avLst/>
          </a:prstGeom>
        </p:spPr>
      </p:pic>
      <p:sp>
        <p:nvSpPr>
          <p:cNvPr id="21" name="Retângulo 20"/>
          <p:cNvSpPr/>
          <p:nvPr/>
        </p:nvSpPr>
        <p:spPr>
          <a:xfrm>
            <a:off x="475513" y="4703134"/>
            <a:ext cx="5561480" cy="1835781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CaixaDeTexto 21"/>
          <p:cNvSpPr txBox="1"/>
          <p:nvPr/>
        </p:nvSpPr>
        <p:spPr>
          <a:xfrm>
            <a:off x="631065" y="3921984"/>
            <a:ext cx="1957589" cy="3111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pt-BR" b="1" dirty="0">
                <a:solidFill>
                  <a:srgbClr val="FF0000"/>
                </a:solidFill>
              </a:rPr>
              <a:t>                                                                     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6" name="CaixaDeTexto 15"/>
          <p:cNvSpPr txBox="1"/>
          <p:nvPr/>
        </p:nvSpPr>
        <p:spPr>
          <a:xfrm>
            <a:off x="721217" y="5357611"/>
            <a:ext cx="4842456" cy="11813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pt-BR" b="1" dirty="0">
                <a:solidFill>
                  <a:srgbClr val="FF0000"/>
                </a:solidFill>
              </a:rPr>
              <a:t>                                                                     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88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6</a:t>
            </a:fld>
            <a:endParaRPr lang="en-US" dirty="0"/>
          </a:p>
        </p:txBody>
      </p:sp>
      <p:grpSp>
        <p:nvGrpSpPr>
          <p:cNvPr id="10" name="Agrupar 9"/>
          <p:cNvGrpSpPr/>
          <p:nvPr/>
        </p:nvGrpSpPr>
        <p:grpSpPr>
          <a:xfrm>
            <a:off x="348619" y="1035532"/>
            <a:ext cx="9419901" cy="720000"/>
            <a:chOff x="351116" y="1061658"/>
            <a:chExt cx="9419901" cy="720000"/>
          </a:xfrm>
        </p:grpSpPr>
        <p:sp>
          <p:nvSpPr>
            <p:cNvPr id="48" name="Retângulo de cantos arredondados 17"/>
            <p:cNvSpPr/>
            <p:nvPr/>
          </p:nvSpPr>
          <p:spPr>
            <a:xfrm>
              <a:off x="351116" y="1061658"/>
              <a:ext cx="9419901" cy="720000"/>
            </a:xfrm>
            <a:prstGeom prst="roundRect">
              <a:avLst>
                <a:gd name="adj" fmla="val 7081"/>
              </a:avLst>
            </a:prstGeom>
            <a:solidFill>
              <a:srgbClr val="7030A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0"/>
              <a:r>
                <a:rPr lang="pt-BR" sz="2000" b="1" dirty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Como Criar uma Sala de Conferência no Portal Self </a:t>
              </a:r>
              <a:r>
                <a:rPr lang="pt-BR" sz="2000" b="1" dirty="0" err="1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Care</a:t>
              </a:r>
              <a:endParaRPr lang="pt-BR" sz="2000" b="1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" name="Imagem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009" y="1169658"/>
              <a:ext cx="504000" cy="504000"/>
            </a:xfrm>
            <a:prstGeom prst="rect">
              <a:avLst/>
            </a:prstGeom>
          </p:spPr>
        </p:pic>
      </p:grpSp>
      <p:sp>
        <p:nvSpPr>
          <p:cNvPr id="44" name="Retângulo 43"/>
          <p:cNvSpPr/>
          <p:nvPr/>
        </p:nvSpPr>
        <p:spPr>
          <a:xfrm>
            <a:off x="191218" y="2011008"/>
            <a:ext cx="9420063" cy="6494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4"/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 área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CONFERENCE NOW.</a:t>
            </a:r>
            <a:endParaRPr lang="pt-BR" sz="15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4"/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Coloque no campo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Número da reunião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os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quatro últimos números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seu ramal.</a:t>
            </a: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4"/>
            </a:pPr>
            <a:r>
              <a:rPr lang="pt-BR" sz="15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  <a:r>
              <a:rPr lang="pt-BR" sz="15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igite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uma senha no campo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Código de Acesso dos Participantes.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 opte por não digitar uma senha, o acesso após digitar o ramal será automático.</a:t>
            </a:r>
            <a:endParaRPr lang="pt-BR" sz="1500" b="1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4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4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4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4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ts val="600"/>
              </a:spcBef>
              <a:spcAft>
                <a:spcPts val="1800"/>
              </a:spcAft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7" name="Imagem 1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7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6458" y="3720051"/>
            <a:ext cx="7445898" cy="2548829"/>
          </a:xfrm>
          <a:prstGeom prst="rect">
            <a:avLst/>
          </a:prstGeom>
        </p:spPr>
      </p:pic>
      <p:sp>
        <p:nvSpPr>
          <p:cNvPr id="21" name="Retângulo 20"/>
          <p:cNvSpPr/>
          <p:nvPr/>
        </p:nvSpPr>
        <p:spPr>
          <a:xfrm>
            <a:off x="642989" y="3698760"/>
            <a:ext cx="7449020" cy="2591413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CaixaDeTexto 21"/>
          <p:cNvSpPr txBox="1"/>
          <p:nvPr/>
        </p:nvSpPr>
        <p:spPr>
          <a:xfrm>
            <a:off x="3193960" y="5258050"/>
            <a:ext cx="2112136" cy="83712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pt-BR" b="1" dirty="0">
                <a:solidFill>
                  <a:srgbClr val="FF0000"/>
                </a:solidFill>
              </a:rPr>
              <a:t>                                                                     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8128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7</a:t>
            </a:fld>
            <a:endParaRPr lang="en-US" dirty="0"/>
          </a:p>
        </p:txBody>
      </p:sp>
      <p:grpSp>
        <p:nvGrpSpPr>
          <p:cNvPr id="10" name="Agrupar 9"/>
          <p:cNvGrpSpPr/>
          <p:nvPr/>
        </p:nvGrpSpPr>
        <p:grpSpPr>
          <a:xfrm>
            <a:off x="348619" y="1035532"/>
            <a:ext cx="9419901" cy="720000"/>
            <a:chOff x="351116" y="1061658"/>
            <a:chExt cx="9419901" cy="720000"/>
          </a:xfrm>
        </p:grpSpPr>
        <p:sp>
          <p:nvSpPr>
            <p:cNvPr id="48" name="Retângulo de cantos arredondados 17"/>
            <p:cNvSpPr/>
            <p:nvPr/>
          </p:nvSpPr>
          <p:spPr>
            <a:xfrm>
              <a:off x="351116" y="1061658"/>
              <a:ext cx="9419901" cy="720000"/>
            </a:xfrm>
            <a:prstGeom prst="roundRect">
              <a:avLst>
                <a:gd name="adj" fmla="val 7081"/>
              </a:avLst>
            </a:prstGeom>
            <a:solidFill>
              <a:srgbClr val="7030A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0"/>
              <a:r>
                <a:rPr lang="pt-BR" sz="2000" b="1" dirty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Acessando uma sala de Conferência</a:t>
              </a:r>
            </a:p>
          </p:txBody>
        </p:sp>
        <p:pic>
          <p:nvPicPr>
            <p:cNvPr id="8" name="Imagem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009" y="1169658"/>
              <a:ext cx="504000" cy="504000"/>
            </a:xfrm>
            <a:prstGeom prst="rect">
              <a:avLst/>
            </a:prstGeom>
          </p:spPr>
        </p:pic>
      </p:grpSp>
      <p:sp>
        <p:nvSpPr>
          <p:cNvPr id="44" name="Retângulo 43"/>
          <p:cNvSpPr/>
          <p:nvPr/>
        </p:nvSpPr>
        <p:spPr>
          <a:xfrm>
            <a:off x="191218" y="2011008"/>
            <a:ext cx="9420063" cy="3939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1800"/>
              </a:spcAft>
            </a:pP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1.	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acessar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uma</a:t>
            </a:r>
            <a:r>
              <a:rPr lang="pt-BR" sz="1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sala de conferência disque o número: 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11-4871-2095</a:t>
            </a:r>
          </a:p>
          <a:p>
            <a:pPr>
              <a:spcBef>
                <a:spcPts val="600"/>
              </a:spcBef>
              <a:spcAft>
                <a:spcPts val="1800"/>
              </a:spcAft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2.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Caso seja o proprietário</a:t>
            </a: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aguarde a gravação solicitar o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Número de Reunião </a:t>
            </a: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(Composto dos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	últimos dígitos </a:t>
            </a: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do ramal do proprietário da sala), 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Digite o número seguido da tecla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#(Sustenido).</a:t>
            </a:r>
            <a:endParaRPr lang="pt-BR" sz="15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ts val="600"/>
              </a:spcBef>
              <a:spcAft>
                <a:spcPts val="1800"/>
              </a:spcAft>
            </a:pP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3.	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Após a gravação solicitar, digite o número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PIN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criado anteriormente, seguido da tecla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#(Sustenido).</a:t>
            </a:r>
            <a:endParaRPr lang="pt-BR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ts val="600"/>
              </a:spcBef>
              <a:spcAft>
                <a:spcPts val="1800"/>
              </a:spcAft>
            </a:pP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4.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Caso seja o participante,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aguarde a gravação solicitar o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Número de Reunião </a:t>
            </a: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(Composto dos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	últimos dígitos </a:t>
            </a: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do ramal do proprietário da sala), 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Digite </a:t>
            </a:r>
            <a:r>
              <a:rPr lang="pt-BR" sz="150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 número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seguido da tecla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#(Sustenido).</a:t>
            </a:r>
            <a:endParaRPr lang="pt-BR" sz="15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ts val="600"/>
              </a:spcBef>
              <a:spcAft>
                <a:spcPts val="1800"/>
              </a:spcAft>
            </a:pP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5.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Após a gravação perguntar se você é o Host(Proprietário), digite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#(Sustenido) 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continuar, na 	sequência a gravação irá solicitar o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Código de Participante </a:t>
            </a: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(Informado pelo proprietário da sala),  	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digite o código seguido da tecla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#(Sustenido).</a:t>
            </a:r>
          </a:p>
          <a:p>
            <a:pPr>
              <a:spcBef>
                <a:spcPts val="600"/>
              </a:spcBef>
              <a:spcAft>
                <a:spcPts val="1800"/>
              </a:spcAft>
            </a:pP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r>
              <a:rPr lang="pt-BR" sz="1500" b="1" dirty="0" err="1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Obs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Caso ainda não existam participantes na sala, o usuário ouvirá uma música de espera.</a:t>
            </a:r>
            <a:endParaRPr lang="pt-BR" sz="15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9055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8</a:t>
            </a:fld>
            <a:endParaRPr lang="en-US" dirty="0"/>
          </a:p>
        </p:txBody>
      </p:sp>
      <p:grpSp>
        <p:nvGrpSpPr>
          <p:cNvPr id="10" name="Agrupar 9"/>
          <p:cNvGrpSpPr/>
          <p:nvPr/>
        </p:nvGrpSpPr>
        <p:grpSpPr>
          <a:xfrm>
            <a:off x="348619" y="1035532"/>
            <a:ext cx="9419901" cy="720000"/>
            <a:chOff x="351116" y="1061658"/>
            <a:chExt cx="9419901" cy="720000"/>
          </a:xfrm>
        </p:grpSpPr>
        <p:sp>
          <p:nvSpPr>
            <p:cNvPr id="48" name="Retângulo de cantos arredondados 17"/>
            <p:cNvSpPr/>
            <p:nvPr/>
          </p:nvSpPr>
          <p:spPr>
            <a:xfrm>
              <a:off x="351116" y="1061658"/>
              <a:ext cx="9419901" cy="720000"/>
            </a:xfrm>
            <a:prstGeom prst="roundRect">
              <a:avLst>
                <a:gd name="adj" fmla="val 7081"/>
              </a:avLst>
            </a:prstGeom>
            <a:solidFill>
              <a:srgbClr val="7030A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0"/>
              <a:r>
                <a:rPr lang="pt-BR" sz="2000" b="1" dirty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Utilizando a Função Desvio de Chamada</a:t>
              </a:r>
            </a:p>
          </p:txBody>
        </p:sp>
        <p:pic>
          <p:nvPicPr>
            <p:cNvPr id="8" name="Imagem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009" y="1169658"/>
              <a:ext cx="504000" cy="504000"/>
            </a:xfrm>
            <a:prstGeom prst="rect">
              <a:avLst/>
            </a:prstGeom>
          </p:spPr>
        </p:pic>
      </p:grpSp>
      <p:sp>
        <p:nvSpPr>
          <p:cNvPr id="44" name="Retângulo 43"/>
          <p:cNvSpPr/>
          <p:nvPr/>
        </p:nvSpPr>
        <p:spPr>
          <a:xfrm>
            <a:off x="191218" y="2011008"/>
            <a:ext cx="942006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Após </a:t>
            </a:r>
            <a:r>
              <a:rPr lang="pt-BR" sz="15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logar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na tela principal, clique em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DESVIO DE CHAMADA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7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5511" y="2380192"/>
            <a:ext cx="8926066" cy="3976307"/>
          </a:xfrm>
          <a:prstGeom prst="rect">
            <a:avLst/>
          </a:prstGeom>
        </p:spPr>
      </p:pic>
      <p:sp>
        <p:nvSpPr>
          <p:cNvPr id="11" name="Retângulo 10"/>
          <p:cNvSpPr/>
          <p:nvPr/>
        </p:nvSpPr>
        <p:spPr>
          <a:xfrm>
            <a:off x="475510" y="2352743"/>
            <a:ext cx="8926066" cy="3976307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/>
          <p:cNvSpPr txBox="1"/>
          <p:nvPr/>
        </p:nvSpPr>
        <p:spPr>
          <a:xfrm>
            <a:off x="641446" y="3913927"/>
            <a:ext cx="1337482" cy="3407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pt-BR" b="1" dirty="0">
                <a:solidFill>
                  <a:srgbClr val="FF0000"/>
                </a:solidFill>
              </a:rPr>
              <a:t>                                                                     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626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2" y="-3"/>
            <a:ext cx="10117136" cy="750629"/>
            <a:chOff x="2" y="-3"/>
            <a:chExt cx="9143998" cy="750629"/>
          </a:xfrm>
        </p:grpSpPr>
        <p:sp>
          <p:nvSpPr>
            <p:cNvPr id="7" name="Rectangle 2"/>
            <p:cNvSpPr/>
            <p:nvPr/>
          </p:nvSpPr>
          <p:spPr>
            <a:xfrm rot="5400000">
              <a:off x="4196686" y="-4196687"/>
              <a:ext cx="750629" cy="9143998"/>
            </a:xfrm>
            <a:custGeom>
              <a:avLst/>
              <a:gdLst/>
              <a:ahLst/>
              <a:cxnLst/>
              <a:rect l="l" t="t" r="r" b="b"/>
              <a:pathLst>
                <a:path w="1045586" h="9143998">
                  <a:moveTo>
                    <a:pt x="0" y="9143998"/>
                  </a:moveTo>
                  <a:lnTo>
                    <a:pt x="0" y="0"/>
                  </a:lnTo>
                  <a:lnTo>
                    <a:pt x="725309" y="0"/>
                  </a:lnTo>
                  <a:lnTo>
                    <a:pt x="756374" y="198383"/>
                  </a:lnTo>
                  <a:cubicBezTo>
                    <a:pt x="937051" y="1409478"/>
                    <a:pt x="1045586" y="2962131"/>
                    <a:pt x="1045586" y="4655015"/>
                  </a:cubicBezTo>
                  <a:cubicBezTo>
                    <a:pt x="1045586" y="6347900"/>
                    <a:pt x="937051" y="7900553"/>
                    <a:pt x="756374" y="9111648"/>
                  </a:cubicBezTo>
                  <a:lnTo>
                    <a:pt x="751308" y="9143998"/>
                  </a:lnTo>
                  <a:close/>
                </a:path>
              </a:pathLst>
            </a:custGeom>
            <a:solidFill>
              <a:srgbClr val="FF8E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18106" y="129598"/>
              <a:ext cx="843390" cy="334448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2328020" y="130780"/>
            <a:ext cx="5461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Central de Serviços de TI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9</a:t>
            </a:fld>
            <a:endParaRPr lang="en-US" dirty="0"/>
          </a:p>
        </p:txBody>
      </p:sp>
      <p:grpSp>
        <p:nvGrpSpPr>
          <p:cNvPr id="10" name="Agrupar 9"/>
          <p:cNvGrpSpPr/>
          <p:nvPr/>
        </p:nvGrpSpPr>
        <p:grpSpPr>
          <a:xfrm>
            <a:off x="348619" y="1035532"/>
            <a:ext cx="9419901" cy="720000"/>
            <a:chOff x="351116" y="1061658"/>
            <a:chExt cx="9419901" cy="720000"/>
          </a:xfrm>
        </p:grpSpPr>
        <p:sp>
          <p:nvSpPr>
            <p:cNvPr id="48" name="Retângulo de cantos arredondados 17"/>
            <p:cNvSpPr/>
            <p:nvPr/>
          </p:nvSpPr>
          <p:spPr>
            <a:xfrm>
              <a:off x="351116" y="1061658"/>
              <a:ext cx="9419901" cy="720000"/>
            </a:xfrm>
            <a:prstGeom prst="roundRect">
              <a:avLst>
                <a:gd name="adj" fmla="val 7081"/>
              </a:avLst>
            </a:prstGeom>
            <a:solidFill>
              <a:srgbClr val="7030A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0"/>
              <a:r>
                <a:rPr lang="pt-BR" sz="2000" b="1" dirty="0">
                  <a:solidFill>
                    <a:schemeClr val="bg1">
                      <a:lumMod val="9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Utilizando a Função Desvio de Chamada</a:t>
              </a:r>
            </a:p>
          </p:txBody>
        </p:sp>
        <p:pic>
          <p:nvPicPr>
            <p:cNvPr id="8" name="Imagem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009" y="1169658"/>
              <a:ext cx="504000" cy="504000"/>
            </a:xfrm>
            <a:prstGeom prst="rect">
              <a:avLst/>
            </a:prstGeom>
          </p:spPr>
        </p:pic>
      </p:grpSp>
      <p:sp>
        <p:nvSpPr>
          <p:cNvPr id="44" name="Retângulo 43"/>
          <p:cNvSpPr/>
          <p:nvPr/>
        </p:nvSpPr>
        <p:spPr>
          <a:xfrm>
            <a:off x="191218" y="2011008"/>
            <a:ext cx="9420063" cy="59246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Selecione a opção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Desviar todas as chamadas para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 seguida, digite o número para aonde a ligação deve ser desviada e clique em 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Salvar</a:t>
            </a: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sz="15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sz="15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sz="15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r>
              <a:rPr lang="pt-BR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Vale ressaltar que os números serão digitados da mesma forma como fazemos no telefone, conforme mostram os exemplos abaixo.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Desviar para ramal interno: 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2100</a:t>
            </a:r>
            <a:endParaRPr lang="pt-BR" sz="1500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Telefone celular: 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0988770000</a:t>
            </a:r>
            <a:endParaRPr lang="pt-BR" sz="1500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Telefone fixo local (DDL): 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036830000</a:t>
            </a:r>
            <a:endParaRPr lang="pt-BR" sz="1500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sz="1500" dirty="0">
                <a:latin typeface="Segoe UI" panose="020B0502040204020203" pitchFamily="34" charset="0"/>
                <a:cs typeface="Segoe UI" panose="020B0502040204020203" pitchFamily="34" charset="0"/>
              </a:rPr>
              <a:t>Telefone fixo de outro estado (DDD): </a:t>
            </a:r>
            <a:r>
              <a:rPr lang="pt-BR" sz="15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002136830000</a:t>
            </a:r>
            <a:endParaRPr lang="pt-BR" sz="1500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ts val="600"/>
              </a:spcBef>
              <a:spcAft>
                <a:spcPts val="1800"/>
              </a:spcAft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Bef>
                <a:spcPts val="600"/>
              </a:spcBef>
              <a:spcAft>
                <a:spcPts val="1800"/>
              </a:spcAft>
              <a:buFont typeface="+mj-lt"/>
              <a:buAutoNum type="arabicPeriod" startAt="2"/>
            </a:pPr>
            <a:endParaRPr lang="pt-BR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tângulo 10"/>
          <p:cNvSpPr/>
          <p:nvPr/>
        </p:nvSpPr>
        <p:spPr>
          <a:xfrm>
            <a:off x="623340" y="2896763"/>
            <a:ext cx="8124876" cy="1772223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7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4290" y="2909619"/>
            <a:ext cx="8093926" cy="1759367"/>
          </a:xfrm>
          <a:prstGeom prst="rect">
            <a:avLst/>
          </a:prstGeom>
        </p:spPr>
      </p:pic>
      <p:sp>
        <p:nvSpPr>
          <p:cNvPr id="16" name="CaixaDeTexto 15"/>
          <p:cNvSpPr txBox="1"/>
          <p:nvPr/>
        </p:nvSpPr>
        <p:spPr>
          <a:xfrm>
            <a:off x="2328020" y="3856449"/>
            <a:ext cx="2830834" cy="8125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pt-BR" b="1" dirty="0">
                <a:solidFill>
                  <a:srgbClr val="FF0000"/>
                </a:solidFill>
              </a:rPr>
              <a:t>                                                                     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6446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5270</TotalTime>
  <Words>345</Words>
  <Application>Microsoft Office PowerPoint</Application>
  <PresentationFormat>Personalizar</PresentationFormat>
  <Paragraphs>88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Arial</vt:lpstr>
      <vt:lpstr>Calibri</vt:lpstr>
      <vt:lpstr>Gotham Rounded Book</vt:lpstr>
      <vt:lpstr>Segoe UI</vt:lpstr>
      <vt:lpstr>Trebuchet MS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fred</dc:creator>
  <cp:lastModifiedBy>Andre Santos</cp:lastModifiedBy>
  <cp:revision>342</cp:revision>
  <dcterms:created xsi:type="dcterms:W3CDTF">2014-01-24T21:35:00Z</dcterms:created>
  <dcterms:modified xsi:type="dcterms:W3CDTF">2017-03-16T13:58:11Z</dcterms:modified>
</cp:coreProperties>
</file>