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339" r:id="rId3"/>
    <p:sldId id="359" r:id="rId4"/>
    <p:sldId id="345" r:id="rId5"/>
    <p:sldId id="355" r:id="rId6"/>
    <p:sldId id="356" r:id="rId7"/>
    <p:sldId id="358" r:id="rId8"/>
    <p:sldId id="360" r:id="rId9"/>
    <p:sldId id="362" r:id="rId10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D0462D"/>
    <a:srgbClr val="F57124"/>
    <a:srgbClr val="F68E1E"/>
    <a:srgbClr val="99CCFF"/>
    <a:srgbClr val="FF9900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942" y="66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16/03/2017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026D4-BB22-405D-8A03-AF2F8CBC4919}" type="datetime1">
              <a:rPr lang="en-US" smtClean="0"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68D0-CE47-4877-9BD0-C46BE2BB9CD5}" type="datetime1">
              <a:rPr lang="en-US" smtClean="0"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8497E-30E6-4C08-9D14-E070002978BF}" type="datetime1">
              <a:rPr lang="en-US" smtClean="0"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97FF6-005E-4BA2-9305-A7C647913EA8}" type="datetime1">
              <a:rPr lang="en-US" smtClean="0"/>
              <a:t>3/16/2017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8140B-6EC9-48F1-A41F-43DC9AE4C8DD}" type="datetime1">
              <a:rPr lang="en-US" smtClean="0"/>
              <a:t>3/16/2017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7E8AD-DEA3-4297-ADE0-9CC2DDD1F23C}" type="datetime1">
              <a:rPr lang="en-US" smtClean="0"/>
              <a:t>3/16/2017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87650-0C5D-40AD-AA5D-CFE5562FEFB0}" type="datetime1">
              <a:rPr lang="en-US" smtClean="0"/>
              <a:t>3/16/2017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45CB6-874E-4B63-BC1B-0A4BE32AD0E9}" type="datetime1">
              <a:rPr lang="en-US" smtClean="0"/>
              <a:t>3/16/2017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BBB69-9F2C-4EC9-881E-974CA77666E8}" type="datetime1">
              <a:rPr lang="en-US" smtClean="0"/>
              <a:t>3/16/2017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ADA57-9F36-4D1E-9409-51BB29037D99}" type="datetime1">
              <a:rPr lang="en-US" smtClean="0"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ACA03-ADFA-416A-94F6-0D8DF22E4FC0}" type="datetime1">
              <a:rPr lang="en-US" smtClean="0"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6757D-D130-4BC6-B1D1-6E22D1418CA3}" type="datetime1">
              <a:rPr lang="en-US" smtClean="0"/>
              <a:t>3/16/2017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hyperlink" Target="https://telefones.smiles.corp/ucmuser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4.wdp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microsoft.com/office/2007/relationships/hdphoto" Target="../media/hdphoto3.wdp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microsoft.com/office/2007/relationships/hdphoto" Target="../media/hdphoto4.wdp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microsoft.com/office/2007/relationships/hdphoto" Target="../media/hdphoto5.wdp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1174537"/>
            <a:ext cx="6031971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Central de Serviços de TI</a:t>
            </a:r>
          </a:p>
          <a:p>
            <a:endParaRPr lang="pt-BR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Guia de Salas de Conferência e Redirecionamento de Chamadas</a:t>
            </a:r>
            <a:endParaRPr lang="pt-BR" sz="3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en-US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Março</a:t>
            </a:r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/2017 - </a:t>
            </a:r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v01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980" y="4373947"/>
            <a:ext cx="1618467" cy="1618467"/>
          </a:xfrm>
          <a:prstGeom prst="rect">
            <a:avLst/>
          </a:prstGeom>
        </p:spPr>
      </p:pic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pic>
        <p:nvPicPr>
          <p:cNvPr id="1026" name="Picture 2" descr="http://www.umkc.edu/hr/images/how-do-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635" y="678567"/>
            <a:ext cx="4538534" cy="292308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tângulo 19"/>
          <p:cNvSpPr/>
          <p:nvPr/>
        </p:nvSpPr>
        <p:spPr>
          <a:xfrm>
            <a:off x="453951" y="1662661"/>
            <a:ext cx="9210823" cy="398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9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acessar o Portal Self </a:t>
            </a:r>
            <a:r>
              <a:rPr lang="pt-BR" sz="1900" b="1" dirty="0" err="1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Care</a:t>
            </a:r>
            <a:r>
              <a:rPr lang="pt-BR" sz="19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Cisco 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endParaRPr lang="pt-BR" sz="19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lang="pt-BR" sz="19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 Como criar uma sala de Conferência no Portal Self </a:t>
            </a:r>
            <a:r>
              <a:rPr lang="pt-BR" sz="1900" b="1" dirty="0" err="1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Care</a:t>
            </a:r>
            <a:r>
              <a:rPr lang="pt-BR" sz="19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endParaRPr lang="pt-BR" sz="19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lang="pt-BR" sz="19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3. Acessando uma Sala de Conferência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endParaRPr lang="pt-BR" sz="19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lang="pt-BR" sz="19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4. Utilizando a Função Desvio de Chamada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69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Acessar o Portal Self </a:t>
              </a:r>
              <a:r>
                <a:rPr lang="pt-BR" sz="2000" b="1" dirty="0" err="1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Care</a:t>
              </a:r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CISCO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348457" y="2040437"/>
            <a:ext cx="942006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Acesse o link: </a:t>
            </a:r>
            <a:r>
              <a:rPr lang="pt-BR" altLang="pt-BR" sz="1500" dirty="0">
                <a:solidFill>
                  <a:srgbClr val="1155CC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https://telefones.smiles.corp/ucmuser/</a:t>
            </a:r>
            <a:endParaRPr lang="pt-BR" sz="15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Entre com seu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usuário e senha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pt-BR" sz="15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mesmo que você utiliza para acessar seu AD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Seta Dobrada 11"/>
          <p:cNvSpPr/>
          <p:nvPr/>
        </p:nvSpPr>
        <p:spPr>
          <a:xfrm rot="10800000" flipH="1">
            <a:off x="2479525" y="2831168"/>
            <a:ext cx="858516" cy="1542779"/>
          </a:xfrm>
          <a:prstGeom prst="bentArrow">
            <a:avLst>
              <a:gd name="adj1" fmla="val 25000"/>
              <a:gd name="adj2" fmla="val 23640"/>
              <a:gd name="adj3" fmla="val 25000"/>
              <a:gd name="adj4" fmla="val 43750"/>
            </a:avLst>
          </a:prstGeom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86816" y="2940948"/>
            <a:ext cx="3505303" cy="3780530"/>
          </a:xfrm>
          <a:prstGeom prst="rect">
            <a:avLst/>
          </a:prstGeom>
        </p:spPr>
      </p:pic>
      <p:sp>
        <p:nvSpPr>
          <p:cNvPr id="13" name="Retângulo 12"/>
          <p:cNvSpPr/>
          <p:nvPr/>
        </p:nvSpPr>
        <p:spPr>
          <a:xfrm>
            <a:off x="3386815" y="2940948"/>
            <a:ext cx="3505303" cy="378053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712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Criar uma Sala de Conferência no Portal Self </a:t>
              </a:r>
              <a:r>
                <a:rPr lang="pt-BR" sz="2000" b="1" dirty="0" err="1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Care</a:t>
              </a:r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191218" y="2011008"/>
            <a:ext cx="94200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Após </a:t>
            </a:r>
            <a:r>
              <a:rPr lang="pt-BR" sz="1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logar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 tela principal, clique em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CONFIGURAÇÕES GERAIS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5511" y="2498501"/>
            <a:ext cx="8926066" cy="3976307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475511" y="2511380"/>
            <a:ext cx="8926066" cy="397630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2472744" y="2891850"/>
            <a:ext cx="1481070" cy="3407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                                                                    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946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8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Criar uma Sala de Conferência no Portal Self </a:t>
              </a:r>
              <a:r>
                <a:rPr lang="pt-BR" sz="2000" b="1" dirty="0" err="1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Care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191218" y="2011008"/>
            <a:ext cx="942006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seguida a tela abaixo aparecerá. Crie um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número PIN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confirme no campo de baixo</a:t>
            </a: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Desça a barra de rolagem até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CONFERENCE NOW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475513" y="2374770"/>
            <a:ext cx="6633626" cy="185832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5513" y="2374770"/>
            <a:ext cx="6633626" cy="1858320"/>
          </a:xfrm>
          <a:prstGeom prst="rect">
            <a:avLst/>
          </a:prstGeom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5512" y="4719442"/>
            <a:ext cx="5561481" cy="1835780"/>
          </a:xfrm>
          <a:prstGeom prst="rect">
            <a:avLst/>
          </a:prstGeom>
        </p:spPr>
      </p:pic>
      <p:sp>
        <p:nvSpPr>
          <p:cNvPr id="21" name="Retângulo 20"/>
          <p:cNvSpPr/>
          <p:nvPr/>
        </p:nvSpPr>
        <p:spPr>
          <a:xfrm>
            <a:off x="475513" y="4703134"/>
            <a:ext cx="5561480" cy="183578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/>
          <p:cNvSpPr txBox="1"/>
          <p:nvPr/>
        </p:nvSpPr>
        <p:spPr>
          <a:xfrm>
            <a:off x="631065" y="3921984"/>
            <a:ext cx="1957589" cy="3111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                                                                    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721217" y="5357611"/>
            <a:ext cx="4842456" cy="11813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                                                                    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8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Como Criar uma Sala de Conferência no Portal Self </a:t>
              </a:r>
              <a:r>
                <a:rPr lang="pt-BR" sz="2000" b="1" dirty="0" err="1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Care</a:t>
              </a:r>
              <a:endPara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191218" y="2011008"/>
            <a:ext cx="9420063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4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 área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CONFERENCE NOW.</a:t>
            </a:r>
            <a:endParaRPr lang="pt-BR" sz="15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4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Coloque no campo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Número da reunião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quatro últimos números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seu ramal.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4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Digite uma senha no campo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Código de Acesso dos Participantes </a:t>
            </a:r>
            <a:r>
              <a:rPr lang="pt-BR" sz="1500" dirty="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clique em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Salvar.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Caso opte por não digitar uma senha, o acesso após digitar o ramal será automático.</a:t>
            </a:r>
            <a:endParaRPr lang="pt-BR" sz="1500" b="1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4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4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4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4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1800"/>
              </a:spcAft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6458" y="3720051"/>
            <a:ext cx="7445898" cy="2548829"/>
          </a:xfrm>
          <a:prstGeom prst="rect">
            <a:avLst/>
          </a:prstGeom>
        </p:spPr>
      </p:pic>
      <p:sp>
        <p:nvSpPr>
          <p:cNvPr id="21" name="Retângulo 20"/>
          <p:cNvSpPr/>
          <p:nvPr/>
        </p:nvSpPr>
        <p:spPr>
          <a:xfrm>
            <a:off x="642989" y="3698760"/>
            <a:ext cx="7449020" cy="259141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/>
          <p:cNvSpPr txBox="1"/>
          <p:nvPr/>
        </p:nvSpPr>
        <p:spPr>
          <a:xfrm>
            <a:off x="3193960" y="5258050"/>
            <a:ext cx="2112136" cy="8371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                                                                    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128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Acessando uma sala de Conferência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191218" y="2011008"/>
            <a:ext cx="9420063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800"/>
              </a:spcAft>
            </a:pP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1.	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acessar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uma</a:t>
            </a:r>
            <a:r>
              <a:rPr lang="pt-BR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sala de conferência disque o número: 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11-4871-2095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2.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Caso seja o proprietário</a:t>
            </a: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aguarde a gravação solicitar o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Número de Reunião </a:t>
            </a: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(Composto dos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 	últimos dígitos </a:t>
            </a: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do ramal do proprietário da sala), 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Digite o número seguido da tecla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#(Sustenido).</a:t>
            </a:r>
            <a:endParaRPr lang="pt-BR" sz="15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3.	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Após a gravação solicitar, digite o número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PIN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criado anteriormente, seguido da tecla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#(Sustenido).</a:t>
            </a:r>
            <a:endParaRPr lang="pt-BR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4.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Caso seja o participante,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aguarde a gravação solicitar o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Número de Reunião </a:t>
            </a: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(Composto dos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 	últimos dígitos </a:t>
            </a: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do ramal do proprietário da sala), 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Digite </a:t>
            </a:r>
            <a:r>
              <a:rPr lang="pt-BR" sz="150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número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seguido da tecla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#(Sustenido).</a:t>
            </a:r>
            <a:endParaRPr lang="pt-BR" sz="15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5.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Após a gravação perguntar se você é o Host(Proprietário), digite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#(Sustenido) 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continuar, na 	sequência a gravação irá solicitar o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Código de Participante </a:t>
            </a: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(Informado pelo proprietário da sala),  	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digite o código seguido da tecla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#(Sustenido).</a:t>
            </a:r>
          </a:p>
          <a:p>
            <a:pPr>
              <a:spcBef>
                <a:spcPts val="600"/>
              </a:spcBef>
              <a:spcAft>
                <a:spcPts val="1800"/>
              </a:spcAft>
            </a:pP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pt-BR" sz="1500" b="1" dirty="0" err="1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Obs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Caso ainda não existam participantes na sala, o usuário ouvirá uma música de espera.</a:t>
            </a:r>
            <a:endParaRPr lang="pt-BR" sz="15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055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Utilizando a Função Desvio de Chamada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191218" y="2011008"/>
            <a:ext cx="942006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Após </a:t>
            </a:r>
            <a:r>
              <a:rPr lang="pt-BR" sz="1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logar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na tela principal, clique em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DESVIO DE CHAMADA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5511" y="2380192"/>
            <a:ext cx="8926066" cy="3976307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475510" y="2352743"/>
            <a:ext cx="8926066" cy="397630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641446" y="3913927"/>
            <a:ext cx="1337482" cy="3407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                                                                    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62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Central de Serviços de TI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10" name="Agrupar 9"/>
          <p:cNvGrpSpPr/>
          <p:nvPr/>
        </p:nvGrpSpPr>
        <p:grpSpPr>
          <a:xfrm>
            <a:off x="348619" y="1035532"/>
            <a:ext cx="9419901" cy="720000"/>
            <a:chOff x="351116" y="1061658"/>
            <a:chExt cx="9419901" cy="720000"/>
          </a:xfrm>
        </p:grpSpPr>
        <p:sp>
          <p:nvSpPr>
            <p:cNvPr id="48" name="Retângulo de cantos arredondados 17"/>
            <p:cNvSpPr/>
            <p:nvPr/>
          </p:nvSpPr>
          <p:spPr>
            <a:xfrm>
              <a:off x="351116" y="1061658"/>
              <a:ext cx="9419901" cy="720000"/>
            </a:xfrm>
            <a:prstGeom prst="roundRect">
              <a:avLst>
                <a:gd name="adj" fmla="val 7081"/>
              </a:avLst>
            </a:prstGeom>
            <a:solidFill>
              <a:srgbClr val="7030A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720000"/>
              <a:r>
                <a:rPr lang="pt-BR" sz="2000" b="1" dirty="0">
                  <a:solidFill>
                    <a:schemeClr val="bg1">
                      <a:lumMod val="9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Utilizando a Função Desvio de Chamada</a:t>
              </a:r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009" y="1169658"/>
              <a:ext cx="504000" cy="504000"/>
            </a:xfrm>
            <a:prstGeom prst="rect">
              <a:avLst/>
            </a:prstGeom>
          </p:spPr>
        </p:pic>
      </p:grpSp>
      <p:sp>
        <p:nvSpPr>
          <p:cNvPr id="44" name="Retângulo 43"/>
          <p:cNvSpPr/>
          <p:nvPr/>
        </p:nvSpPr>
        <p:spPr>
          <a:xfrm>
            <a:off x="191218" y="2011008"/>
            <a:ext cx="9420063" cy="5924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Selecione a opção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Desviar todas as chamadas para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 seguida, digite o número para aonde a ligação deve ser desviada e clique em 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Salvar</a:t>
            </a: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sz="15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sz="15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sz="15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r>
              <a:rPr lang="pt-B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Vale ressaltar que os números serão digitados da mesma forma como fazemos no telefone, conforme mostram os exemplos abaixo.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Desviar para ramal interno: 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2100</a:t>
            </a:r>
            <a:endParaRPr lang="pt-BR" sz="1500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Telefone celular: 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0988770000</a:t>
            </a:r>
            <a:endParaRPr lang="pt-BR" sz="1500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Telefone fixo local (DDL): 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036830000</a:t>
            </a:r>
            <a:endParaRPr lang="pt-BR" sz="1500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500" dirty="0">
                <a:latin typeface="Segoe UI" panose="020B0502040204020203" pitchFamily="34" charset="0"/>
                <a:cs typeface="Segoe UI" panose="020B0502040204020203" pitchFamily="34" charset="0"/>
              </a:rPr>
              <a:t>Telefone fixo de outro estado (DDD): </a:t>
            </a:r>
            <a:r>
              <a:rPr lang="pt-BR" sz="15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002136830000</a:t>
            </a:r>
            <a:endParaRPr lang="pt-BR" sz="1500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600"/>
              </a:spcBef>
              <a:spcAft>
                <a:spcPts val="1800"/>
              </a:spcAft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spcBef>
                <a:spcPts val="600"/>
              </a:spcBef>
              <a:spcAft>
                <a:spcPts val="1800"/>
              </a:spcAft>
              <a:buFont typeface="+mj-lt"/>
              <a:buAutoNum type="arabicPeriod" startAt="2"/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623340" y="2896763"/>
            <a:ext cx="8124876" cy="177222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4290" y="2909619"/>
            <a:ext cx="8093926" cy="1759367"/>
          </a:xfrm>
          <a:prstGeom prst="rect">
            <a:avLst/>
          </a:prstGeom>
        </p:spPr>
      </p:pic>
      <p:sp>
        <p:nvSpPr>
          <p:cNvPr id="16" name="CaixaDeTexto 15"/>
          <p:cNvSpPr txBox="1"/>
          <p:nvPr/>
        </p:nvSpPr>
        <p:spPr>
          <a:xfrm>
            <a:off x="2328020" y="3856449"/>
            <a:ext cx="2830834" cy="8125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                                                                     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44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5294</TotalTime>
  <Words>348</Words>
  <Application>Microsoft Office PowerPoint</Application>
  <PresentationFormat>Personalizar</PresentationFormat>
  <Paragraphs>91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Andre Santos</cp:lastModifiedBy>
  <cp:revision>346</cp:revision>
  <dcterms:created xsi:type="dcterms:W3CDTF">2014-01-24T21:35:00Z</dcterms:created>
  <dcterms:modified xsi:type="dcterms:W3CDTF">2017-03-16T19:48:43Z</dcterms:modified>
</cp:coreProperties>
</file>