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396" r:id="rId3"/>
    <p:sldId id="399" r:id="rId4"/>
    <p:sldId id="363" r:id="rId5"/>
    <p:sldId id="400" r:id="rId6"/>
    <p:sldId id="418" r:id="rId7"/>
    <p:sldId id="414" r:id="rId8"/>
    <p:sldId id="402" r:id="rId9"/>
    <p:sldId id="415" r:id="rId10"/>
    <p:sldId id="420" r:id="rId11"/>
    <p:sldId id="419" r:id="rId12"/>
    <p:sldId id="406" r:id="rId13"/>
    <p:sldId id="417" r:id="rId14"/>
    <p:sldId id="408" r:id="rId15"/>
    <p:sldId id="409" r:id="rId16"/>
    <p:sldId id="416" r:id="rId17"/>
    <p:sldId id="326" r:id="rId18"/>
  </p:sldIdLst>
  <p:sldSz cx="9144000" cy="5143500" type="screen16x9"/>
  <p:notesSz cx="6888163" cy="100203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56" userDrawn="1">
          <p15:clr>
            <a:srgbClr val="A4A3A4"/>
          </p15:clr>
        </p15:guide>
        <p15:guide id="2" pos="217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FF"/>
    <a:srgbClr val="66CCFF"/>
    <a:srgbClr val="99CCFF"/>
    <a:srgbClr val="99CC33"/>
    <a:srgbClr val="FF9900"/>
    <a:srgbClr val="660099"/>
    <a:srgbClr val="0066CC"/>
    <a:srgbClr val="000000"/>
    <a:srgbClr val="4C236D"/>
    <a:srgbClr val="FFD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838" autoAdjust="0"/>
    <p:restoredTop sz="94434" autoAdjust="0"/>
  </p:normalViewPr>
  <p:slideViewPr>
    <p:cSldViewPr snapToGrid="0" snapToObjects="1">
      <p:cViewPr varScale="1">
        <p:scale>
          <a:sx n="90" d="100"/>
          <a:sy n="90" d="100"/>
        </p:scale>
        <p:origin x="354" y="84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54" d="100"/>
          <a:sy n="54" d="100"/>
        </p:scale>
        <p:origin x="2802" y="78"/>
      </p:cViewPr>
      <p:guideLst>
        <p:guide orient="horz" pos="3156"/>
        <p:guide pos="217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8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8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1698" y="0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r">
              <a:defRPr sz="1300"/>
            </a:lvl1pPr>
          </a:lstStyle>
          <a:p>
            <a:fld id="{AA2A9418-7C50-054C-98BB-BEDEBFF50EFD}" type="datetimeFigureOut">
              <a:rPr lang="en-US" smtClean="0"/>
              <a:pPr/>
              <a:t>10/31/2016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517546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01698" y="9517546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r">
              <a:defRPr sz="1300"/>
            </a:lvl1pPr>
          </a:lstStyle>
          <a:p>
            <a:fld id="{FE8CFE14-864B-3B44-BD9D-B5D297B03A68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535930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1698" y="0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r">
              <a:defRPr sz="1300"/>
            </a:lvl1pPr>
          </a:lstStyle>
          <a:p>
            <a:fld id="{41DD819D-C702-3D4F-B27E-806C28232B20}" type="datetimeFigureOut">
              <a:rPr lang="en-US" smtClean="0"/>
              <a:pPr/>
              <a:t>10/31/2016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4775" y="750888"/>
            <a:ext cx="6678613" cy="37576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16" tIns="48308" rIns="96616" bIns="48308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817" y="4759643"/>
            <a:ext cx="5510530" cy="4509135"/>
          </a:xfrm>
          <a:prstGeom prst="rect">
            <a:avLst/>
          </a:prstGeom>
        </p:spPr>
        <p:txBody>
          <a:bodyPr vert="horz" lIns="96616" tIns="48308" rIns="96616" bIns="48308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17546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1698" y="9517546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r">
              <a:defRPr sz="1300"/>
            </a:lvl1pPr>
          </a:lstStyle>
          <a:p>
            <a:fld id="{A7F3D865-86EF-5145-91F6-66B47DCAF96C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184939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904184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20951" y="4865304"/>
            <a:ext cx="423344" cy="273844"/>
          </a:xfrm>
          <a:prstGeom prst="rect">
            <a:avLst/>
          </a:prstGeom>
        </p:spPr>
        <p:txBody>
          <a:bodyPr/>
          <a:lstStyle/>
          <a:p>
            <a:fld id="{7FC679C5-80FF-E24F-BB84-8206EA1E246F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56163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904184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20951" y="4865304"/>
            <a:ext cx="423344" cy="273844"/>
          </a:xfrm>
          <a:prstGeom prst="rect">
            <a:avLst/>
          </a:prstGeom>
        </p:spPr>
        <p:txBody>
          <a:bodyPr/>
          <a:lstStyle/>
          <a:p>
            <a:fld id="{7FC679C5-80FF-E24F-BB84-8206EA1E246F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249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904184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20951" y="4865304"/>
            <a:ext cx="423344" cy="273844"/>
          </a:xfrm>
          <a:prstGeom prst="rect">
            <a:avLst/>
          </a:prstGeom>
        </p:spPr>
        <p:txBody>
          <a:bodyPr/>
          <a:lstStyle/>
          <a:p>
            <a:fld id="{7FC679C5-80FF-E24F-BB84-8206EA1E246F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9081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904184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20951" y="4865304"/>
            <a:ext cx="423344" cy="273844"/>
          </a:xfrm>
          <a:prstGeom prst="rect">
            <a:avLst/>
          </a:prstGeom>
        </p:spPr>
        <p:txBody>
          <a:bodyPr/>
          <a:lstStyle/>
          <a:p>
            <a:fld id="{7FC679C5-80FF-E24F-BB84-8206EA1E246F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4197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904184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20951" y="4865304"/>
            <a:ext cx="423344" cy="273844"/>
          </a:xfrm>
          <a:prstGeom prst="rect">
            <a:avLst/>
          </a:prstGeom>
        </p:spPr>
        <p:txBody>
          <a:bodyPr/>
          <a:lstStyle/>
          <a:p>
            <a:fld id="{7FC679C5-80FF-E24F-BB84-8206EA1E246F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240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904184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20951" y="4865304"/>
            <a:ext cx="423344" cy="273844"/>
          </a:xfrm>
          <a:prstGeom prst="rect">
            <a:avLst/>
          </a:prstGeom>
        </p:spPr>
        <p:txBody>
          <a:bodyPr/>
          <a:lstStyle/>
          <a:p>
            <a:fld id="{7FC679C5-80FF-E24F-BB84-8206EA1E246F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4263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904184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20951" y="4865304"/>
            <a:ext cx="423344" cy="273844"/>
          </a:xfrm>
          <a:prstGeom prst="rect">
            <a:avLst/>
          </a:prstGeom>
        </p:spPr>
        <p:txBody>
          <a:bodyPr/>
          <a:lstStyle/>
          <a:p>
            <a:fld id="{7FC679C5-80FF-E24F-BB84-8206EA1E246F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349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904184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20951" y="4865304"/>
            <a:ext cx="423344" cy="273844"/>
          </a:xfrm>
          <a:prstGeom prst="rect">
            <a:avLst/>
          </a:prstGeom>
        </p:spPr>
        <p:txBody>
          <a:bodyPr/>
          <a:lstStyle/>
          <a:p>
            <a:fld id="{7FC679C5-80FF-E24F-BB84-8206EA1E246F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8338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904184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20951" y="4865304"/>
            <a:ext cx="423344" cy="273844"/>
          </a:xfrm>
          <a:prstGeom prst="rect">
            <a:avLst/>
          </a:prstGeom>
        </p:spPr>
        <p:txBody>
          <a:bodyPr/>
          <a:lstStyle/>
          <a:p>
            <a:fld id="{7FC679C5-80FF-E24F-BB84-8206EA1E246F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505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904184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20951" y="4865304"/>
            <a:ext cx="423344" cy="273844"/>
          </a:xfrm>
          <a:prstGeom prst="rect">
            <a:avLst/>
          </a:prstGeom>
        </p:spPr>
        <p:txBody>
          <a:bodyPr/>
          <a:lstStyle/>
          <a:p>
            <a:fld id="{7FC679C5-80FF-E24F-BB84-8206EA1E246F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336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904184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20951" y="4865304"/>
            <a:ext cx="423344" cy="273844"/>
          </a:xfrm>
          <a:prstGeom prst="rect">
            <a:avLst/>
          </a:prstGeom>
        </p:spPr>
        <p:txBody>
          <a:bodyPr/>
          <a:lstStyle/>
          <a:p>
            <a:fld id="{7FC679C5-80FF-E24F-BB84-8206EA1E246F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99329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pt-BR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pt-BR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215992" y="4779822"/>
            <a:ext cx="8717417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 userDrawn="1"/>
        </p:nvSpPr>
        <p:spPr>
          <a:xfrm>
            <a:off x="0" y="4850140"/>
            <a:ext cx="6479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1FBC671E-67B5-5546-8EDD-863B5FB6B5ED}" type="slidenum">
              <a:rPr lang="pt-BR" sz="1000" smtClean="0"/>
              <a:pPr algn="ctr"/>
              <a:t>‹nº›</a:t>
            </a:fld>
            <a:endParaRPr lang="pt-BR" sz="1000" dirty="0"/>
          </a:p>
        </p:txBody>
      </p:sp>
      <p:pic>
        <p:nvPicPr>
          <p:cNvPr id="2050" name="Picture 2" descr="C:\Users\A0038802\Desktop\Elementos e processos Vivo\Lock up\Tfn_Vivo_Positivo_RGB.png"/>
          <p:cNvPicPr>
            <a:picLocks noChangeAspect="1" noChangeArrowheads="1"/>
          </p:cNvPicPr>
          <p:nvPr userDrawn="1"/>
        </p:nvPicPr>
        <p:blipFill>
          <a:blip r:embed="rId13"/>
          <a:srcRect/>
          <a:stretch>
            <a:fillRect/>
          </a:stretch>
        </p:blipFill>
        <p:spPr bwMode="auto">
          <a:xfrm>
            <a:off x="7258052" y="4766545"/>
            <a:ext cx="1675357" cy="37695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94019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Font typeface="Arial"/>
        <a:buNone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457200" rtl="0" eaLnBrk="1" latinLnBrk="0" hangingPunct="1">
        <a:spcBef>
          <a:spcPct val="20000"/>
        </a:spcBef>
        <a:buFont typeface="Arial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457200" rtl="0" eaLnBrk="1" latinLnBrk="0" hangingPunct="1">
        <a:spcBef>
          <a:spcPct val="20000"/>
        </a:spcBef>
        <a:buFont typeface="Arial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457200" rtl="0" eaLnBrk="1" latinLnBrk="0" hangingPunct="1">
        <a:spcBef>
          <a:spcPct val="20000"/>
        </a:spcBef>
        <a:buFont typeface="Arial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457200" rtl="0" eaLnBrk="1" latinLnBrk="0" hangingPunct="1">
        <a:spcBef>
          <a:spcPct val="20000"/>
        </a:spcBef>
        <a:buFont typeface="Arial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8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18.w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19.w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jpeg"/><Relationship Id="rId7" Type="http://schemas.openxmlformats.org/officeDocument/2006/relationships/image" Target="../media/image2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jpeg"/><Relationship Id="rId10" Type="http://schemas.openxmlformats.org/officeDocument/2006/relationships/image" Target="../media/image28.png"/><Relationship Id="rId4" Type="http://schemas.openxmlformats.org/officeDocument/2006/relationships/image" Target="../media/image22.jpeg"/><Relationship Id="rId9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 l="-1000" t="-1000" r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75736" y="3215280"/>
            <a:ext cx="4934974" cy="7817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pt-BR" sz="3200" b="1" dirty="0">
                <a:latin typeface="Arial" panose="020B0604020202020204" pitchFamily="34" charset="0"/>
                <a:cs typeface="Arial" panose="020B0604020202020204" pitchFamily="34" charset="0"/>
              </a:rPr>
              <a:t>Informativo Mensal </a:t>
            </a:r>
          </a:p>
          <a:p>
            <a:pPr>
              <a:lnSpc>
                <a:spcPct val="70000"/>
              </a:lnSpc>
            </a:pPr>
            <a:r>
              <a:rPr lang="pt-BR" sz="3200" b="1" dirty="0" err="1">
                <a:latin typeface="Arial" panose="020B0604020202020204" pitchFamily="34" charset="0"/>
                <a:cs typeface="Arial" panose="020B0604020202020204" pitchFamily="34" charset="0"/>
              </a:rPr>
              <a:t>Smiles</a:t>
            </a:r>
            <a:endParaRPr lang="pt-BR" sz="3200" b="1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Pentagon 11"/>
          <p:cNvSpPr/>
          <p:nvPr/>
        </p:nvSpPr>
        <p:spPr>
          <a:xfrm>
            <a:off x="637312" y="2847111"/>
            <a:ext cx="1207654" cy="244373"/>
          </a:xfrm>
          <a:prstGeom prst="homePlate">
            <a:avLst>
              <a:gd name="adj" fmla="val 28740"/>
            </a:avLst>
          </a:prstGeom>
          <a:solidFill>
            <a:srgbClr val="99C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13" name="TextBox 12"/>
          <p:cNvSpPr txBox="1"/>
          <p:nvPr/>
        </p:nvSpPr>
        <p:spPr>
          <a:xfrm>
            <a:off x="637313" y="2866291"/>
            <a:ext cx="1076805" cy="25282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70000"/>
              </a:lnSpc>
            </a:pPr>
            <a:r>
              <a:rPr lang="pt-BR" sz="1400" b="1" dirty="0"/>
              <a:t>19.10.2016</a:t>
            </a:r>
          </a:p>
        </p:txBody>
      </p:sp>
      <p:sp>
        <p:nvSpPr>
          <p:cNvPr id="17" name="Chevron 16"/>
          <p:cNvSpPr/>
          <p:nvPr/>
        </p:nvSpPr>
        <p:spPr>
          <a:xfrm>
            <a:off x="1844967" y="2847111"/>
            <a:ext cx="3090333" cy="244373"/>
          </a:xfrm>
          <a:prstGeom prst="chevron">
            <a:avLst>
              <a:gd name="adj" fmla="val 25904"/>
            </a:avLst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19" name="TextBox 18"/>
          <p:cNvSpPr txBox="1"/>
          <p:nvPr/>
        </p:nvSpPr>
        <p:spPr>
          <a:xfrm>
            <a:off x="1953493" y="2866291"/>
            <a:ext cx="2854807" cy="25282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70000"/>
              </a:lnSpc>
            </a:pPr>
            <a:r>
              <a:rPr lang="pt-BR" sz="1400" dirty="0">
                <a:solidFill>
                  <a:schemeClr val="bg1"/>
                </a:solidFill>
              </a:rPr>
              <a:t>Diretoria de Atenção ao Cliente</a:t>
            </a:r>
          </a:p>
        </p:txBody>
      </p:sp>
    </p:spTree>
    <p:extLst>
      <p:ext uri="{BB962C8B-B14F-4D97-AF65-F5344CB8AC3E}">
        <p14:creationId xmlns:p14="http://schemas.microsoft.com/office/powerpoint/2010/main" val="740123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66009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792318" y="145095"/>
            <a:ext cx="2288457" cy="4592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pt-BR" sz="3200" b="1" dirty="0">
                <a:solidFill>
                  <a:schemeClr val="bg1"/>
                </a:solidFill>
              </a:rPr>
              <a:t>ÍNDICE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318" y="602471"/>
            <a:ext cx="4844844" cy="303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3538" indent="-363538" fontAlgn="base">
              <a:lnSpc>
                <a:spcPct val="70000"/>
              </a:lnSpc>
              <a:spcBef>
                <a:spcPct val="0"/>
              </a:spcBef>
              <a:spcAft>
                <a:spcPts val="400"/>
              </a:spcAft>
            </a:pPr>
            <a:r>
              <a:rPr lang="pt-BR" sz="1400" b="1" dirty="0">
                <a:solidFill>
                  <a:schemeClr val="bg1"/>
                </a:solidFill>
                <a:ea typeface="ヒラギノ角ゴ Pro W3" pitchFamily="-84" charset="-128"/>
                <a:cs typeface="Calibri"/>
                <a:sym typeface="Gill Sans" charset="0"/>
              </a:rPr>
              <a:t>1	OBJETIVO  </a:t>
            </a:r>
          </a:p>
          <a:p>
            <a:pPr marL="360362">
              <a:lnSpc>
                <a:spcPct val="70000"/>
              </a:lnSpc>
              <a:spcAft>
                <a:spcPts val="400"/>
              </a:spcAft>
              <a:buSzPct val="50000"/>
            </a:pPr>
            <a:endParaRPr lang="pt-BR" sz="1400" dirty="0">
              <a:solidFill>
                <a:schemeClr val="bg1"/>
              </a:solidFill>
              <a:ea typeface="ヒラギノ角ゴ Pro W3" pitchFamily="-84" charset="-128"/>
              <a:cs typeface="Calibri"/>
              <a:sym typeface="Trebuchet MS" pitchFamily="-84" charset="0"/>
            </a:endParaRPr>
          </a:p>
          <a:p>
            <a:pPr marL="363538" indent="-363538" fontAlgn="base">
              <a:lnSpc>
                <a:spcPct val="70000"/>
              </a:lnSpc>
              <a:spcBef>
                <a:spcPct val="0"/>
              </a:spcBef>
              <a:spcAft>
                <a:spcPts val="400"/>
              </a:spcAft>
            </a:pPr>
            <a:r>
              <a:rPr lang="pt-BR" sz="1400" b="1" dirty="0">
                <a:solidFill>
                  <a:schemeClr val="bg1"/>
                </a:solidFill>
                <a:ea typeface="ヒラギノ角ゴ Pro W3" pitchFamily="-84" charset="-128"/>
                <a:cs typeface="Calibri"/>
                <a:sym typeface="Gill Sans" charset="0"/>
              </a:rPr>
              <a:t>2	SERVIÇOS ATIVOS  </a:t>
            </a:r>
          </a:p>
          <a:p>
            <a:pPr marL="360362">
              <a:lnSpc>
                <a:spcPct val="70000"/>
              </a:lnSpc>
              <a:spcAft>
                <a:spcPts val="400"/>
              </a:spcAft>
              <a:buSzPct val="50000"/>
            </a:pPr>
            <a:endParaRPr lang="pt-BR" sz="1400" dirty="0">
              <a:solidFill>
                <a:schemeClr val="bg1"/>
              </a:solidFill>
              <a:ea typeface="ヒラギノ角ゴ Pro W3" pitchFamily="-84" charset="-128"/>
              <a:cs typeface="Calibri"/>
              <a:sym typeface="Trebuchet MS" pitchFamily="-84" charset="0"/>
            </a:endParaRPr>
          </a:p>
          <a:p>
            <a:pPr marL="457200" indent="-457200" fontAlgn="base">
              <a:lnSpc>
                <a:spcPct val="70000"/>
              </a:lnSpc>
              <a:spcBef>
                <a:spcPct val="0"/>
              </a:spcBef>
              <a:spcAft>
                <a:spcPts val="400"/>
              </a:spcAft>
              <a:buAutoNum type="arabicPlain" startAt="3"/>
            </a:pPr>
            <a:r>
              <a:rPr lang="pt-BR" sz="1400" b="1" dirty="0">
                <a:solidFill>
                  <a:schemeClr val="bg1"/>
                </a:solidFill>
                <a:ea typeface="ヒラギノ角ゴ Pro W3" pitchFamily="-84" charset="-128"/>
                <a:cs typeface="Calibri"/>
                <a:sym typeface="Gill Sans" charset="0"/>
              </a:rPr>
              <a:t>QUALIDADE DE REDE  </a:t>
            </a:r>
          </a:p>
          <a:p>
            <a:pPr marL="363538" indent="-363538" fontAlgn="base">
              <a:lnSpc>
                <a:spcPct val="70000"/>
              </a:lnSpc>
              <a:spcBef>
                <a:spcPct val="0"/>
              </a:spcBef>
              <a:spcAft>
                <a:spcPts val="400"/>
              </a:spcAft>
            </a:pPr>
            <a:r>
              <a:rPr lang="pt-BR" sz="1200" dirty="0">
                <a:solidFill>
                  <a:schemeClr val="bg1"/>
                </a:solidFill>
                <a:ea typeface="ヒラギノ角ゴ Pro W3" pitchFamily="-84" charset="-128"/>
                <a:cs typeface="Calibri"/>
                <a:sym typeface="Gill Sans" charset="0"/>
              </a:rPr>
              <a:t>3.1        Disponibilidade de Rede</a:t>
            </a:r>
          </a:p>
          <a:p>
            <a:pPr marL="363538" indent="-363538" fontAlgn="base">
              <a:lnSpc>
                <a:spcPct val="70000"/>
              </a:lnSpc>
              <a:spcBef>
                <a:spcPct val="0"/>
              </a:spcBef>
              <a:spcAft>
                <a:spcPts val="400"/>
              </a:spcAft>
            </a:pPr>
            <a:r>
              <a:rPr lang="pt-BR" sz="1200" dirty="0">
                <a:solidFill>
                  <a:schemeClr val="bg1"/>
                </a:solidFill>
                <a:ea typeface="ヒラギノ角ゴ Pro W3" pitchFamily="-84" charset="-128"/>
                <a:cs typeface="Calibri"/>
                <a:sym typeface="Gill Sans" charset="0"/>
              </a:rPr>
              <a:t>3.2        Análise de </a:t>
            </a:r>
            <a:r>
              <a:rPr lang="pt-BR" sz="1000" dirty="0">
                <a:solidFill>
                  <a:schemeClr val="bg1"/>
                </a:solidFill>
                <a:latin typeface="Arial" panose="020B0604020202020204" pitchFamily="34" charset="0"/>
                <a:ea typeface="ヒラギノ角ゴ Pro W3" pitchFamily="-84" charset="-128"/>
                <a:cs typeface="Arial" panose="020B0604020202020204" pitchFamily="34" charset="0"/>
                <a:sym typeface="Gill Sans" charset="0"/>
              </a:rPr>
              <a:t>Afetação</a:t>
            </a:r>
            <a:r>
              <a:rPr lang="pt-BR" sz="1200" dirty="0">
                <a:solidFill>
                  <a:schemeClr val="bg1"/>
                </a:solidFill>
                <a:ea typeface="ヒラギノ角ゴ Pro W3" pitchFamily="-84" charset="-128"/>
                <a:cs typeface="Calibri"/>
                <a:sym typeface="Gill Sans" charset="0"/>
              </a:rPr>
              <a:t> </a:t>
            </a:r>
          </a:p>
          <a:p>
            <a:pPr marL="363538" indent="-363538" fontAlgn="base">
              <a:lnSpc>
                <a:spcPct val="70000"/>
              </a:lnSpc>
              <a:spcBef>
                <a:spcPct val="0"/>
              </a:spcBef>
              <a:spcAft>
                <a:spcPts val="400"/>
              </a:spcAft>
            </a:pPr>
            <a:r>
              <a:rPr lang="pt-BR" sz="1200" dirty="0">
                <a:solidFill>
                  <a:schemeClr val="bg1"/>
                </a:solidFill>
                <a:ea typeface="ヒラギノ角ゴ Pro W3" pitchFamily="-84" charset="-128"/>
                <a:cs typeface="Calibri"/>
                <a:sym typeface="Gill Sans" charset="0"/>
              </a:rPr>
              <a:t>3.3        Incidentes - Chamados </a:t>
            </a:r>
          </a:p>
          <a:p>
            <a:pPr marL="363538" indent="-363538" fontAlgn="base">
              <a:lnSpc>
                <a:spcPct val="70000"/>
              </a:lnSpc>
              <a:spcBef>
                <a:spcPct val="0"/>
              </a:spcBef>
              <a:spcAft>
                <a:spcPts val="400"/>
              </a:spcAft>
            </a:pPr>
            <a:r>
              <a:rPr lang="pt-BR" sz="1200" dirty="0">
                <a:solidFill>
                  <a:schemeClr val="bg1"/>
                </a:solidFill>
                <a:ea typeface="ヒラギノ角ゴ Pro W3" pitchFamily="-84" charset="-128"/>
                <a:cs typeface="Calibri"/>
                <a:sym typeface="Gill Sans" charset="0"/>
              </a:rPr>
              <a:t>3.4        Links - Meta de Disponibilidade</a:t>
            </a:r>
          </a:p>
          <a:p>
            <a:pPr marL="363538" indent="-363538" fontAlgn="base">
              <a:lnSpc>
                <a:spcPct val="70000"/>
              </a:lnSpc>
              <a:spcBef>
                <a:spcPct val="0"/>
              </a:spcBef>
              <a:spcAft>
                <a:spcPts val="400"/>
              </a:spcAft>
            </a:pPr>
            <a:r>
              <a:rPr lang="pt-BR" sz="1200" dirty="0">
                <a:solidFill>
                  <a:schemeClr val="bg1"/>
                </a:solidFill>
                <a:ea typeface="ヒラギノ角ゴ Pro W3" pitchFamily="-84" charset="-128"/>
                <a:cs typeface="Calibri"/>
                <a:sym typeface="Gill Sans" charset="0"/>
              </a:rPr>
              <a:t>3.5        Incidentes - Tempo - DSP</a:t>
            </a:r>
          </a:p>
          <a:p>
            <a:pPr marL="363538" indent="-363538" fontAlgn="base">
              <a:lnSpc>
                <a:spcPct val="70000"/>
              </a:lnSpc>
              <a:spcBef>
                <a:spcPct val="0"/>
              </a:spcBef>
              <a:spcAft>
                <a:spcPts val="400"/>
              </a:spcAft>
            </a:pPr>
            <a:r>
              <a:rPr lang="pt-BR" sz="1200" dirty="0">
                <a:solidFill>
                  <a:schemeClr val="bg1"/>
                </a:solidFill>
                <a:ea typeface="ヒラギノ角ゴ Pro W3" pitchFamily="-84" charset="-128"/>
                <a:cs typeface="Calibri"/>
                <a:sym typeface="Gill Sans" charset="0"/>
              </a:rPr>
              <a:t>3.6        Incidentes - Tempo - FSP</a:t>
            </a:r>
          </a:p>
          <a:p>
            <a:pPr marL="363538" indent="-363538" fontAlgn="base">
              <a:lnSpc>
                <a:spcPct val="70000"/>
              </a:lnSpc>
              <a:spcBef>
                <a:spcPct val="0"/>
              </a:spcBef>
              <a:spcAft>
                <a:spcPts val="400"/>
              </a:spcAft>
            </a:pPr>
            <a:r>
              <a:rPr lang="pt-BR" sz="1200" dirty="0">
                <a:solidFill>
                  <a:schemeClr val="bg1"/>
                </a:solidFill>
                <a:ea typeface="ヒラギノ角ゴ Pro W3" pitchFamily="-84" charset="-128"/>
                <a:cs typeface="Calibri"/>
                <a:sym typeface="Gill Sans" charset="0"/>
              </a:rPr>
              <a:t>3.7        Incidentes - Causas</a:t>
            </a:r>
          </a:p>
          <a:p>
            <a:pPr marL="363538" indent="-363538" fontAlgn="base">
              <a:lnSpc>
                <a:spcPct val="70000"/>
              </a:lnSpc>
              <a:spcBef>
                <a:spcPct val="0"/>
              </a:spcBef>
              <a:spcAft>
                <a:spcPts val="400"/>
              </a:spcAft>
            </a:pPr>
            <a:r>
              <a:rPr lang="pt-BR" sz="1200" dirty="0">
                <a:solidFill>
                  <a:schemeClr val="bg1"/>
                </a:solidFill>
                <a:ea typeface="ヒラギノ角ゴ Pro W3" pitchFamily="-84" charset="-128"/>
                <a:cs typeface="Calibri"/>
                <a:sym typeface="Gill Sans" charset="0"/>
              </a:rPr>
              <a:t>3.8        Cumprimento SLA</a:t>
            </a:r>
          </a:p>
          <a:p>
            <a:pPr marL="363538" indent="-363538" fontAlgn="base">
              <a:lnSpc>
                <a:spcPct val="70000"/>
              </a:lnSpc>
              <a:spcBef>
                <a:spcPct val="0"/>
              </a:spcBef>
              <a:spcAft>
                <a:spcPts val="400"/>
              </a:spcAft>
            </a:pPr>
            <a:r>
              <a:rPr lang="pt-BR" sz="1200" dirty="0">
                <a:solidFill>
                  <a:schemeClr val="bg1"/>
                </a:solidFill>
                <a:ea typeface="ヒラギノ角ゴ Pro W3" pitchFamily="-84" charset="-128"/>
                <a:cs typeface="Calibri"/>
                <a:sym typeface="Gill Sans" charset="0"/>
              </a:rPr>
              <a:t>3.9        SLA por Link</a:t>
            </a:r>
          </a:p>
          <a:p>
            <a:pPr marL="363538" indent="-363538" fontAlgn="base">
              <a:lnSpc>
                <a:spcPct val="70000"/>
              </a:lnSpc>
              <a:spcBef>
                <a:spcPct val="0"/>
              </a:spcBef>
              <a:spcAft>
                <a:spcPts val="400"/>
              </a:spcAft>
            </a:pPr>
            <a:r>
              <a:rPr lang="pt-BR" sz="1200" dirty="0">
                <a:solidFill>
                  <a:schemeClr val="bg1"/>
                </a:solidFill>
                <a:ea typeface="ヒラギノ角ゴ Pro W3" pitchFamily="-84" charset="-128"/>
                <a:cs typeface="Calibri"/>
                <a:sym typeface="Gill Sans" charset="0"/>
              </a:rPr>
              <a:t>3.10      Reincidências </a:t>
            </a:r>
          </a:p>
          <a:p>
            <a:pPr marL="363538" indent="-363538" fontAlgn="base">
              <a:lnSpc>
                <a:spcPct val="70000"/>
              </a:lnSpc>
              <a:spcBef>
                <a:spcPct val="0"/>
              </a:spcBef>
              <a:spcAft>
                <a:spcPts val="400"/>
              </a:spcAft>
            </a:pPr>
            <a:r>
              <a:rPr lang="pt-BR" sz="1200" dirty="0">
                <a:solidFill>
                  <a:schemeClr val="bg1"/>
                </a:solidFill>
                <a:ea typeface="ヒラギノ角ゴ Pro W3" pitchFamily="-84" charset="-128"/>
                <a:cs typeface="Calibri"/>
                <a:sym typeface="Gill Sans" charset="0"/>
              </a:rPr>
              <a:t>3.11		Causa Cliente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1303" y="485988"/>
            <a:ext cx="1569508" cy="34289"/>
          </a:xfrm>
          <a:prstGeom prst="rect">
            <a:avLst/>
          </a:prstGeom>
          <a:solidFill>
            <a:srgbClr val="99C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6519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aixaDeTexto 2"/>
          <p:cNvSpPr txBox="1">
            <a:spLocks noChangeArrowheads="1"/>
          </p:cNvSpPr>
          <p:nvPr/>
        </p:nvSpPr>
        <p:spPr bwMode="auto">
          <a:xfrm>
            <a:off x="156994" y="469253"/>
            <a:ext cx="2314344" cy="458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>
              <a:lnSpc>
                <a:spcPct val="85000"/>
              </a:lnSpc>
              <a:defRPr/>
            </a:pPr>
            <a:r>
              <a:rPr lang="pt-PT" altLang="pt-PT" sz="2800" b="1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OBJETIVO </a:t>
            </a:r>
          </a:p>
        </p:txBody>
      </p:sp>
      <p:sp>
        <p:nvSpPr>
          <p:cNvPr id="30" name="Retângulo 29"/>
          <p:cNvSpPr/>
          <p:nvPr/>
        </p:nvSpPr>
        <p:spPr>
          <a:xfrm>
            <a:off x="193358" y="879884"/>
            <a:ext cx="1960182" cy="12065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PT"/>
          </a:p>
        </p:txBody>
      </p:sp>
      <p:cxnSp>
        <p:nvCxnSpPr>
          <p:cNvPr id="31" name="Conexão reta 45"/>
          <p:cNvCxnSpPr/>
          <p:nvPr/>
        </p:nvCxnSpPr>
        <p:spPr>
          <a:xfrm>
            <a:off x="-33338" y="1002122"/>
            <a:ext cx="9177338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97" name="Picture 5"/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E6E6E6"/>
              </a:clrFrom>
              <a:clrTo>
                <a:srgbClr val="E6E6E6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0630" y="1308764"/>
            <a:ext cx="523474" cy="544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8" name="Picture 6"/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E6E6E6"/>
              </a:clrFrom>
              <a:clrTo>
                <a:srgbClr val="E6E6E6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521" y="4153258"/>
            <a:ext cx="364261" cy="5152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3" name="Picture 4" descr="http://br.com.ccsp.assets.s3-us-west-2.amazonaws.com/wp-content/uploads/2015/04/frame_campanha-vivo_pegabem_4-1024x576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9135" y="24518"/>
            <a:ext cx="4846113" cy="26255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193358" y="2473462"/>
            <a:ext cx="425535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pt-BR" altLang="pt-BR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cs typeface="Times New Roman" panose="02020603050405020304" pitchFamily="18" charset="0"/>
              </a:rPr>
              <a:t>Este documento tem como finalidade apresentar o desempenho dos serviços contratados, visando  garantir a qualidade de serviços prestados pela Telefônica | Vivo. 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pt-BR" altLang="pt-BR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pt-BR" altLang="pt-BR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cs typeface="Times New Roman" panose="02020603050405020304" pitchFamily="18" charset="0"/>
              </a:rPr>
              <a:t>Mês Referencia : Setembro/2016</a:t>
            </a:r>
          </a:p>
        </p:txBody>
      </p:sp>
    </p:spTree>
    <p:extLst>
      <p:ext uri="{BB962C8B-B14F-4D97-AF65-F5344CB8AC3E}">
        <p14:creationId xmlns:p14="http://schemas.microsoft.com/office/powerpoint/2010/main" val="857842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6" presetClass="entr" presetSubtype="37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 l="-1000" t="-1000" r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/>
          <p:cNvSpPr txBox="1"/>
          <p:nvPr/>
        </p:nvSpPr>
        <p:spPr>
          <a:xfrm>
            <a:off x="792318" y="1619424"/>
            <a:ext cx="51403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pt-BR" sz="6000" b="1" dirty="0">
                <a:solidFill>
                  <a:srgbClr val="99CC33"/>
                </a:solidFill>
              </a:rPr>
              <a:t>3 </a:t>
            </a:r>
            <a:r>
              <a:rPr lang="pt-BR" sz="4400" b="1" dirty="0">
                <a:solidFill>
                  <a:schemeClr val="bg1"/>
                </a:solidFill>
              </a:rPr>
              <a:t>Qualidade de Rede </a:t>
            </a:r>
          </a:p>
        </p:txBody>
      </p:sp>
    </p:spTree>
    <p:extLst>
      <p:ext uri="{BB962C8B-B14F-4D97-AF65-F5344CB8AC3E}">
        <p14:creationId xmlns:p14="http://schemas.microsoft.com/office/powerpoint/2010/main" val="3159371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581750" y="255615"/>
            <a:ext cx="4638836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pt-BR" sz="2800" b="1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Disponibilidade de Rede</a:t>
            </a:r>
          </a:p>
        </p:txBody>
      </p:sp>
      <p:sp>
        <p:nvSpPr>
          <p:cNvPr id="8" name="Pentagon 7"/>
          <p:cNvSpPr/>
          <p:nvPr/>
        </p:nvSpPr>
        <p:spPr>
          <a:xfrm>
            <a:off x="-7530" y="238879"/>
            <a:ext cx="497840" cy="328361"/>
          </a:xfrm>
          <a:prstGeom prst="homePlate">
            <a:avLst>
              <a:gd name="adj" fmla="val 38269"/>
            </a:avLst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632551" y="609595"/>
            <a:ext cx="423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panose="020B0502020202020204" pitchFamily="34" charset="0"/>
                <a:ea typeface="ヒラギノ角ゴ Pro W3" charset="-128"/>
                <a:sym typeface="Trebuchet MS" pitchFamily="34" charset="0"/>
              </a:rPr>
              <a:t>Disponibilidade de Rede (Conforme Contrato)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34620" y="495099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5" name="CaixaDeTexto 24"/>
          <p:cNvSpPr txBox="1"/>
          <p:nvPr/>
        </p:nvSpPr>
        <p:spPr>
          <a:xfrm>
            <a:off x="0" y="238879"/>
            <a:ext cx="490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</a:rPr>
              <a:t>3.1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155" y="1371742"/>
            <a:ext cx="4709111" cy="265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181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581750" y="255615"/>
            <a:ext cx="4638836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pt-BR" sz="2800" b="1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Disponibilidade de Rede</a:t>
            </a:r>
          </a:p>
        </p:txBody>
      </p:sp>
      <p:sp>
        <p:nvSpPr>
          <p:cNvPr id="8" name="Pentagon 7"/>
          <p:cNvSpPr/>
          <p:nvPr/>
        </p:nvSpPr>
        <p:spPr>
          <a:xfrm>
            <a:off x="-7530" y="238879"/>
            <a:ext cx="497840" cy="328361"/>
          </a:xfrm>
          <a:prstGeom prst="homePlate">
            <a:avLst>
              <a:gd name="adj" fmla="val 38269"/>
            </a:avLst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extBox 1"/>
          <p:cNvSpPr txBox="1"/>
          <p:nvPr/>
        </p:nvSpPr>
        <p:spPr>
          <a:xfrm>
            <a:off x="334620" y="495099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4" name="TextBox 10"/>
          <p:cNvSpPr txBox="1"/>
          <p:nvPr/>
        </p:nvSpPr>
        <p:spPr>
          <a:xfrm>
            <a:off x="634682" y="649569"/>
            <a:ext cx="423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200" ker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panose="020B0502020202020204" pitchFamily="34" charset="0"/>
                <a:ea typeface="ヒラギノ角ゴ Pro W3" charset="-128"/>
              </a:defRPr>
            </a:lvl1pPr>
          </a:lstStyle>
          <a:p>
            <a:r>
              <a:rPr lang="pt-BR" b="1" dirty="0">
                <a:sym typeface="Trebuchet MS" pitchFamily="34" charset="0"/>
              </a:rPr>
              <a:t>Evolutivo dos Chamados</a:t>
            </a:r>
          </a:p>
        </p:txBody>
      </p:sp>
      <p:sp>
        <p:nvSpPr>
          <p:cNvPr id="25" name="CaixaDeTexto 24"/>
          <p:cNvSpPr txBox="1"/>
          <p:nvPr/>
        </p:nvSpPr>
        <p:spPr>
          <a:xfrm>
            <a:off x="0" y="238879"/>
            <a:ext cx="490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</a:rPr>
              <a:t>3.1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68" y="1340251"/>
            <a:ext cx="5102794" cy="24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830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>
          <a:xfrm>
            <a:off x="237589" y="1040427"/>
            <a:ext cx="3747655" cy="325502"/>
          </a:xfrm>
          <a:prstGeom prst="rect">
            <a:avLst/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25" name="Rectangle 24"/>
          <p:cNvSpPr/>
          <p:nvPr/>
        </p:nvSpPr>
        <p:spPr>
          <a:xfrm>
            <a:off x="5211303" y="1040427"/>
            <a:ext cx="3060000" cy="325502"/>
          </a:xfrm>
          <a:prstGeom prst="rect">
            <a:avLst/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26" name="TextBox 25"/>
          <p:cNvSpPr txBox="1"/>
          <p:nvPr/>
        </p:nvSpPr>
        <p:spPr>
          <a:xfrm>
            <a:off x="5217916" y="1033901"/>
            <a:ext cx="30259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rgbClr val="FFFFFF"/>
                </a:solidFill>
              </a:rPr>
              <a:t>Incidentes com Degradação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750" y="255615"/>
            <a:ext cx="4133775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70000"/>
              </a:lnSpc>
              <a:defRPr sz="2800" b="1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pt-BR" dirty="0"/>
              <a:t>Análise de Afetação </a:t>
            </a:r>
          </a:p>
        </p:txBody>
      </p:sp>
      <p:sp>
        <p:nvSpPr>
          <p:cNvPr id="28" name="Pentagon 27"/>
          <p:cNvSpPr/>
          <p:nvPr/>
        </p:nvSpPr>
        <p:spPr>
          <a:xfrm>
            <a:off x="-7530" y="238879"/>
            <a:ext cx="497840" cy="328361"/>
          </a:xfrm>
          <a:prstGeom prst="homePlate">
            <a:avLst>
              <a:gd name="adj" fmla="val 38269"/>
            </a:avLst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TextBox 2"/>
          <p:cNvSpPr txBox="1"/>
          <p:nvPr/>
        </p:nvSpPr>
        <p:spPr>
          <a:xfrm>
            <a:off x="-703178" y="196429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33" name="CaixaDeTexto 32"/>
          <p:cNvSpPr txBox="1"/>
          <p:nvPr/>
        </p:nvSpPr>
        <p:spPr>
          <a:xfrm>
            <a:off x="0" y="238879"/>
            <a:ext cx="4903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</a:rPr>
              <a:t>3.2.3</a:t>
            </a:r>
          </a:p>
        </p:txBody>
      </p:sp>
      <p:sp>
        <p:nvSpPr>
          <p:cNvPr id="29" name="Rectangle 29"/>
          <p:cNvSpPr/>
          <p:nvPr/>
        </p:nvSpPr>
        <p:spPr>
          <a:xfrm rot="5400000">
            <a:off x="2505126" y="2867041"/>
            <a:ext cx="3712545" cy="45719"/>
          </a:xfrm>
          <a:prstGeom prst="rect">
            <a:avLst/>
          </a:prstGeom>
          <a:solidFill>
            <a:srgbClr val="845A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TextBox 25"/>
          <p:cNvSpPr txBox="1"/>
          <p:nvPr/>
        </p:nvSpPr>
        <p:spPr>
          <a:xfrm>
            <a:off x="-65833" y="1084664"/>
            <a:ext cx="43544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solidFill>
                  <a:srgbClr val="FFFFFF"/>
                </a:solidFill>
              </a:rPr>
              <a:t>Incidentes Interrompidos X Incidentes com Degradação</a:t>
            </a:r>
          </a:p>
          <a:p>
            <a:pPr algn="ctr"/>
            <a:endParaRPr lang="pt-BR" sz="1200" b="1" dirty="0">
              <a:solidFill>
                <a:srgbClr val="FFFFFF"/>
              </a:solidFill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99" y="1749988"/>
            <a:ext cx="4352921" cy="2651990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5881" y="1867237"/>
            <a:ext cx="4025579" cy="2417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473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581749" y="255600"/>
            <a:ext cx="8110188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70000"/>
              </a:lnSpc>
              <a:defRPr sz="2800" b="1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pt-BR" dirty="0"/>
              <a:t>Incidentes – Chamados </a:t>
            </a:r>
          </a:p>
        </p:txBody>
      </p:sp>
      <p:sp>
        <p:nvSpPr>
          <p:cNvPr id="35" name="Pentagon 34"/>
          <p:cNvSpPr/>
          <p:nvPr/>
        </p:nvSpPr>
        <p:spPr>
          <a:xfrm>
            <a:off x="-7530" y="238879"/>
            <a:ext cx="497840" cy="328361"/>
          </a:xfrm>
          <a:prstGeom prst="homePlate">
            <a:avLst>
              <a:gd name="adj" fmla="val 38269"/>
            </a:avLst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/>
          <p:cNvSpPr txBox="1"/>
          <p:nvPr/>
        </p:nvSpPr>
        <p:spPr>
          <a:xfrm>
            <a:off x="0" y="238879"/>
            <a:ext cx="4903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</a:rPr>
              <a:t>3.32.1</a:t>
            </a:r>
          </a:p>
        </p:txBody>
      </p:sp>
      <p:sp>
        <p:nvSpPr>
          <p:cNvPr id="7" name="Rectangle 22"/>
          <p:cNvSpPr/>
          <p:nvPr/>
        </p:nvSpPr>
        <p:spPr>
          <a:xfrm>
            <a:off x="695789" y="649554"/>
            <a:ext cx="3978949" cy="490877"/>
          </a:xfrm>
          <a:prstGeom prst="rect">
            <a:avLst/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pt-BR" sz="14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r>
              <a:rPr lang="pt-BR" sz="1400" b="1" dirty="0">
                <a:solidFill>
                  <a:schemeClr val="bg1"/>
                </a:solidFill>
                <a:latin typeface="Century Gothic" panose="020B0502020202020204" pitchFamily="34" charset="0"/>
              </a:rPr>
              <a:t>Incidentes - Causas Telefonica x Cliente</a:t>
            </a:r>
          </a:p>
          <a:p>
            <a:r>
              <a:rPr lang="pt-BR" sz="1400" b="1" dirty="0">
                <a:solidFill>
                  <a:schemeClr val="bg1"/>
                </a:solidFill>
                <a:latin typeface="Century Gothic" panose="020B0502020202020204" pitchFamily="34" charset="0"/>
              </a:rPr>
              <a:t>Incidentes - DSP e FSP  Telefonica</a:t>
            </a:r>
          </a:p>
          <a:p>
            <a:r>
              <a:rPr lang="pt-BR" sz="1400" b="1" dirty="0">
                <a:solidFill>
                  <a:schemeClr val="bg1"/>
                </a:solidFill>
                <a:latin typeface="Century Gothic" panose="020B0502020202020204" pitchFamily="34" charset="0"/>
              </a:rPr>
              <a:t> 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046" y="1196983"/>
            <a:ext cx="6309907" cy="2749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290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23"/>
          <p:cNvSpPr txBox="1"/>
          <p:nvPr/>
        </p:nvSpPr>
        <p:spPr>
          <a:xfrm>
            <a:off x="581749" y="255600"/>
            <a:ext cx="7411545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pt-BR" sz="2800" b="1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Links</a:t>
            </a:r>
            <a:r>
              <a:rPr lang="pt-BR" sz="2800" b="1" dirty="0">
                <a:solidFill>
                  <a:schemeClr val="accent1">
                    <a:lumMod val="75000"/>
                  </a:schemeClr>
                </a:solidFill>
              </a:rPr>
              <a:t> – Meta de Disponibilidade Telefonica</a:t>
            </a:r>
          </a:p>
        </p:txBody>
      </p:sp>
      <p:sp>
        <p:nvSpPr>
          <p:cNvPr id="7" name="Pentagon 34"/>
          <p:cNvSpPr/>
          <p:nvPr/>
        </p:nvSpPr>
        <p:spPr>
          <a:xfrm>
            <a:off x="0" y="237600"/>
            <a:ext cx="497840" cy="328361"/>
          </a:xfrm>
          <a:prstGeom prst="homePlate">
            <a:avLst>
              <a:gd name="adj" fmla="val 38269"/>
            </a:avLst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/>
          <p:cNvSpPr txBox="1"/>
          <p:nvPr/>
        </p:nvSpPr>
        <p:spPr>
          <a:xfrm>
            <a:off x="0" y="237600"/>
            <a:ext cx="490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</a:rPr>
              <a:t>3.4</a:t>
            </a:r>
          </a:p>
        </p:txBody>
      </p:sp>
      <p:sp>
        <p:nvSpPr>
          <p:cNvPr id="13" name="TextBox 25"/>
          <p:cNvSpPr txBox="1"/>
          <p:nvPr/>
        </p:nvSpPr>
        <p:spPr>
          <a:xfrm>
            <a:off x="581749" y="705621"/>
            <a:ext cx="3969469" cy="307777"/>
          </a:xfrm>
          <a:prstGeom prst="rect">
            <a:avLst/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defRPr sz="14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pt-BR" dirty="0"/>
              <a:t> DSP – Links x Meta de Disponibilidade  </a:t>
            </a:r>
          </a:p>
        </p:txBody>
      </p:sp>
      <p:sp>
        <p:nvSpPr>
          <p:cNvPr id="14" name="TextBox 25"/>
          <p:cNvSpPr txBox="1"/>
          <p:nvPr/>
        </p:nvSpPr>
        <p:spPr>
          <a:xfrm>
            <a:off x="497840" y="2927143"/>
            <a:ext cx="3969470" cy="307777"/>
          </a:xfrm>
          <a:prstGeom prst="rect">
            <a:avLst/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defRPr sz="14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pt-BR" dirty="0"/>
              <a:t> FSP – Links X Meta de Disponibilidade  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938" y="1040925"/>
            <a:ext cx="5340559" cy="373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9379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2992079" y="883888"/>
            <a:ext cx="3060000" cy="325502"/>
          </a:xfrm>
          <a:prstGeom prst="rect">
            <a:avLst/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26" name="TextBox 25"/>
          <p:cNvSpPr txBox="1"/>
          <p:nvPr/>
        </p:nvSpPr>
        <p:spPr>
          <a:xfrm>
            <a:off x="3026093" y="883888"/>
            <a:ext cx="3025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rgbClr val="FFFFFF"/>
                </a:solidFill>
              </a:rPr>
              <a:t>Evolutivo – Tempo de Reparo DSP </a:t>
            </a:r>
          </a:p>
          <a:p>
            <a:pPr algn="ctr"/>
            <a:endParaRPr lang="pt-BR" sz="1600" b="1" dirty="0">
              <a:solidFill>
                <a:srgbClr val="FFFFFF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81748" y="255615"/>
            <a:ext cx="8459509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70000"/>
              </a:lnSpc>
              <a:defRPr sz="2800" b="1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pt-BR" dirty="0"/>
              <a:t>Incidentes - Telefonica e Cliente - Tempo - DSP</a:t>
            </a:r>
          </a:p>
        </p:txBody>
      </p:sp>
      <p:sp>
        <p:nvSpPr>
          <p:cNvPr id="28" name="Pentagon 27"/>
          <p:cNvSpPr/>
          <p:nvPr/>
        </p:nvSpPr>
        <p:spPr>
          <a:xfrm>
            <a:off x="-7530" y="238879"/>
            <a:ext cx="497840" cy="328361"/>
          </a:xfrm>
          <a:prstGeom prst="homePlate">
            <a:avLst>
              <a:gd name="adj" fmla="val 38269"/>
            </a:avLst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/>
          <p:cNvSpPr txBox="1"/>
          <p:nvPr/>
        </p:nvSpPr>
        <p:spPr>
          <a:xfrm>
            <a:off x="1015686" y="2877351"/>
            <a:ext cx="5084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b="1" dirty="0">
                <a:solidFill>
                  <a:schemeClr val="bg1"/>
                </a:solidFill>
              </a:rPr>
              <a:t>32,8%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9012" y="2877351"/>
            <a:ext cx="5084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b="1" dirty="0">
                <a:solidFill>
                  <a:schemeClr val="bg1"/>
                </a:solidFill>
              </a:rPr>
              <a:t>34,6%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1047" y="2877351"/>
            <a:ext cx="5084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b="1" dirty="0">
                <a:solidFill>
                  <a:schemeClr val="bg1"/>
                </a:solidFill>
              </a:rPr>
              <a:t>37,1%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703178" y="196429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42" name="TextBox 39"/>
          <p:cNvSpPr txBox="1"/>
          <p:nvPr/>
        </p:nvSpPr>
        <p:spPr>
          <a:xfrm>
            <a:off x="7194413" y="1934836"/>
            <a:ext cx="14005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rgbClr val="FFFFFF"/>
                </a:solidFill>
              </a:rPr>
              <a:t>25% de</a:t>
            </a:r>
          </a:p>
          <a:p>
            <a:pPr algn="ctr"/>
            <a:r>
              <a:rPr lang="pt-BR" sz="1600" b="1" dirty="0">
                <a:solidFill>
                  <a:srgbClr val="FFFFFF"/>
                </a:solidFill>
              </a:rPr>
              <a:t>Crescimento</a:t>
            </a:r>
          </a:p>
        </p:txBody>
      </p:sp>
      <p:sp>
        <p:nvSpPr>
          <p:cNvPr id="33" name="CaixaDeTexto 32"/>
          <p:cNvSpPr txBox="1"/>
          <p:nvPr/>
        </p:nvSpPr>
        <p:spPr>
          <a:xfrm>
            <a:off x="0" y="238879"/>
            <a:ext cx="4903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</a:rPr>
              <a:t>3.52.3</a:t>
            </a: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515" y="1208845"/>
            <a:ext cx="7340220" cy="29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119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2992079" y="883888"/>
            <a:ext cx="3060000" cy="325502"/>
          </a:xfrm>
          <a:prstGeom prst="rect">
            <a:avLst/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26" name="TextBox 25"/>
          <p:cNvSpPr txBox="1"/>
          <p:nvPr/>
        </p:nvSpPr>
        <p:spPr>
          <a:xfrm>
            <a:off x="3026093" y="883888"/>
            <a:ext cx="3025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rgbClr val="FFFFFF"/>
                </a:solidFill>
              </a:rPr>
              <a:t>Evolutivo – Tempo de Reparo FSP </a:t>
            </a:r>
          </a:p>
          <a:p>
            <a:pPr algn="ctr"/>
            <a:endParaRPr lang="pt-BR" sz="1600" b="1" dirty="0">
              <a:solidFill>
                <a:srgbClr val="FFFFFF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81748" y="255615"/>
            <a:ext cx="8459509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70000"/>
              </a:lnSpc>
              <a:defRPr sz="2800" b="1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pt-BR" dirty="0"/>
              <a:t>Incidentes - Telefonica e Cliente - Tempo - FSP</a:t>
            </a:r>
          </a:p>
        </p:txBody>
      </p:sp>
      <p:sp>
        <p:nvSpPr>
          <p:cNvPr id="28" name="Pentagon 27"/>
          <p:cNvSpPr/>
          <p:nvPr/>
        </p:nvSpPr>
        <p:spPr>
          <a:xfrm>
            <a:off x="-7530" y="238879"/>
            <a:ext cx="497840" cy="328361"/>
          </a:xfrm>
          <a:prstGeom prst="homePlate">
            <a:avLst>
              <a:gd name="adj" fmla="val 38269"/>
            </a:avLst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/>
          <p:cNvSpPr txBox="1"/>
          <p:nvPr/>
        </p:nvSpPr>
        <p:spPr>
          <a:xfrm>
            <a:off x="1015686" y="2877351"/>
            <a:ext cx="5084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b="1" dirty="0">
                <a:solidFill>
                  <a:schemeClr val="bg1"/>
                </a:solidFill>
              </a:rPr>
              <a:t>32,8%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9012" y="2877351"/>
            <a:ext cx="5084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b="1" dirty="0">
                <a:solidFill>
                  <a:schemeClr val="bg1"/>
                </a:solidFill>
              </a:rPr>
              <a:t>34,6%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1047" y="2877351"/>
            <a:ext cx="5084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b="1" dirty="0">
                <a:solidFill>
                  <a:schemeClr val="bg1"/>
                </a:solidFill>
              </a:rPr>
              <a:t>37,1%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703178" y="196429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42" name="TextBox 39"/>
          <p:cNvSpPr txBox="1"/>
          <p:nvPr/>
        </p:nvSpPr>
        <p:spPr>
          <a:xfrm>
            <a:off x="7194413" y="1934836"/>
            <a:ext cx="14005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rgbClr val="FFFFFF"/>
                </a:solidFill>
              </a:rPr>
              <a:t>25% de</a:t>
            </a:r>
          </a:p>
          <a:p>
            <a:pPr algn="ctr"/>
            <a:r>
              <a:rPr lang="pt-BR" sz="1600" b="1" dirty="0">
                <a:solidFill>
                  <a:srgbClr val="FFFFFF"/>
                </a:solidFill>
              </a:rPr>
              <a:t>Crescimento</a:t>
            </a:r>
          </a:p>
        </p:txBody>
      </p:sp>
      <p:sp>
        <p:nvSpPr>
          <p:cNvPr id="33" name="CaixaDeTexto 32"/>
          <p:cNvSpPr txBox="1"/>
          <p:nvPr/>
        </p:nvSpPr>
        <p:spPr>
          <a:xfrm>
            <a:off x="0" y="238879"/>
            <a:ext cx="4903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</a:rPr>
              <a:t>3.62.3</a:t>
            </a: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903" y="1218472"/>
            <a:ext cx="7212193" cy="29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89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21"/>
          <p:cNvSpPr txBox="1"/>
          <p:nvPr/>
        </p:nvSpPr>
        <p:spPr>
          <a:xfrm>
            <a:off x="581750" y="255615"/>
            <a:ext cx="5149199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70000"/>
              </a:lnSpc>
              <a:defRPr sz="2800" b="1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pt-BR" dirty="0"/>
              <a:t>Incidentes - Causas </a:t>
            </a:r>
          </a:p>
        </p:txBody>
      </p:sp>
      <p:sp>
        <p:nvSpPr>
          <p:cNvPr id="8" name="Pentagon 27"/>
          <p:cNvSpPr/>
          <p:nvPr/>
        </p:nvSpPr>
        <p:spPr>
          <a:xfrm>
            <a:off x="-7530" y="238879"/>
            <a:ext cx="497840" cy="328361"/>
          </a:xfrm>
          <a:prstGeom prst="homePlate">
            <a:avLst>
              <a:gd name="adj" fmla="val 38269"/>
            </a:avLst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TextBox 39"/>
          <p:cNvSpPr txBox="1"/>
          <p:nvPr/>
        </p:nvSpPr>
        <p:spPr>
          <a:xfrm>
            <a:off x="7194413" y="1934836"/>
            <a:ext cx="14005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rgbClr val="FFFFFF"/>
                </a:solidFill>
              </a:rPr>
              <a:t>25% de</a:t>
            </a:r>
          </a:p>
          <a:p>
            <a:pPr algn="ctr"/>
            <a:r>
              <a:rPr lang="pt-BR" sz="1600" b="1" dirty="0">
                <a:solidFill>
                  <a:srgbClr val="FFFFFF"/>
                </a:solidFill>
              </a:rPr>
              <a:t>Crescimento</a:t>
            </a:r>
          </a:p>
        </p:txBody>
      </p:sp>
      <p:sp>
        <p:nvSpPr>
          <p:cNvPr id="19" name="Rectangle 22"/>
          <p:cNvSpPr/>
          <p:nvPr/>
        </p:nvSpPr>
        <p:spPr>
          <a:xfrm>
            <a:off x="664559" y="1040427"/>
            <a:ext cx="3060000" cy="325502"/>
          </a:xfrm>
          <a:prstGeom prst="rect">
            <a:avLst/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20" name="TextBox 23"/>
          <p:cNvSpPr txBox="1"/>
          <p:nvPr/>
        </p:nvSpPr>
        <p:spPr>
          <a:xfrm>
            <a:off x="691714" y="1033901"/>
            <a:ext cx="3025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rgbClr val="FFFFFF"/>
                </a:solidFill>
                <a:latin typeface="Century Gothic" panose="020B0502020202020204" pitchFamily="34" charset="0"/>
              </a:rPr>
              <a:t>% de Incidentes</a:t>
            </a:r>
          </a:p>
          <a:p>
            <a:pPr algn="ctr"/>
            <a:endParaRPr lang="pt-BR" sz="1600" b="1" dirty="0">
              <a:solidFill>
                <a:srgbClr val="FFFFFF"/>
              </a:solidFill>
              <a:latin typeface="Century Gothic" panose="020B0502020202020204" pitchFamily="34" charset="0"/>
            </a:endParaRPr>
          </a:p>
        </p:txBody>
      </p:sp>
      <p:sp>
        <p:nvSpPr>
          <p:cNvPr id="21" name="Rectangle 24"/>
          <p:cNvSpPr/>
          <p:nvPr/>
        </p:nvSpPr>
        <p:spPr>
          <a:xfrm>
            <a:off x="5074151" y="1040427"/>
            <a:ext cx="3060000" cy="325502"/>
          </a:xfrm>
          <a:prstGeom prst="rect">
            <a:avLst/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dirty="0">
              <a:latin typeface="Century Gothic" panose="020B0502020202020204" pitchFamily="34" charset="0"/>
            </a:endParaRPr>
          </a:p>
        </p:txBody>
      </p:sp>
      <p:sp>
        <p:nvSpPr>
          <p:cNvPr id="22" name="TextBox 25"/>
          <p:cNvSpPr txBox="1"/>
          <p:nvPr/>
        </p:nvSpPr>
        <p:spPr>
          <a:xfrm>
            <a:off x="5074151" y="1044514"/>
            <a:ext cx="30259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rgbClr val="FFFFFF"/>
                </a:solidFill>
                <a:latin typeface="Century Gothic" panose="020B0502020202020204" pitchFamily="34" charset="0"/>
              </a:rPr>
              <a:t> Principais Causas</a:t>
            </a:r>
          </a:p>
        </p:txBody>
      </p:sp>
      <p:sp>
        <p:nvSpPr>
          <p:cNvPr id="24" name="CaixaDeTexto 23"/>
          <p:cNvSpPr txBox="1"/>
          <p:nvPr/>
        </p:nvSpPr>
        <p:spPr>
          <a:xfrm>
            <a:off x="0" y="238879"/>
            <a:ext cx="4903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</a:rPr>
              <a:t>3.74.1</a:t>
            </a:r>
          </a:p>
        </p:txBody>
      </p:sp>
      <p:sp>
        <p:nvSpPr>
          <p:cNvPr id="23" name="Rectangle 29"/>
          <p:cNvSpPr/>
          <p:nvPr/>
        </p:nvSpPr>
        <p:spPr>
          <a:xfrm rot="5400000">
            <a:off x="2241196" y="2877927"/>
            <a:ext cx="3712545" cy="45719"/>
          </a:xfrm>
          <a:prstGeom prst="rect">
            <a:avLst/>
          </a:prstGeom>
          <a:solidFill>
            <a:srgbClr val="845A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71" y="1756787"/>
            <a:ext cx="3542083" cy="2280102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1601" y="1522071"/>
            <a:ext cx="3798137" cy="2749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820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21"/>
          <p:cNvSpPr txBox="1"/>
          <p:nvPr/>
        </p:nvSpPr>
        <p:spPr>
          <a:xfrm>
            <a:off x="581750" y="255615"/>
            <a:ext cx="5149199" cy="3562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70000"/>
              </a:lnSpc>
              <a:defRPr sz="2800" b="1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Cumprimento SLA</a:t>
            </a:r>
          </a:p>
        </p:txBody>
      </p:sp>
      <p:sp>
        <p:nvSpPr>
          <p:cNvPr id="8" name="Pentagon 27"/>
          <p:cNvSpPr/>
          <p:nvPr/>
        </p:nvSpPr>
        <p:spPr>
          <a:xfrm>
            <a:off x="-7530" y="238879"/>
            <a:ext cx="497840" cy="328361"/>
          </a:xfrm>
          <a:prstGeom prst="homePlate">
            <a:avLst>
              <a:gd name="adj" fmla="val 38269"/>
            </a:avLst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CaixaDeTexto 23"/>
          <p:cNvSpPr txBox="1"/>
          <p:nvPr/>
        </p:nvSpPr>
        <p:spPr>
          <a:xfrm>
            <a:off x="0" y="238879"/>
            <a:ext cx="490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</a:rPr>
              <a:t>3.8</a:t>
            </a: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659" y="1196983"/>
            <a:ext cx="5474682" cy="2749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905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3"/>
          <p:cNvSpPr txBox="1"/>
          <p:nvPr/>
        </p:nvSpPr>
        <p:spPr>
          <a:xfrm>
            <a:off x="583200" y="255600"/>
            <a:ext cx="6403841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70000"/>
              </a:lnSpc>
              <a:defRPr sz="2800" b="1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pt-BR" dirty="0"/>
              <a:t>SLA por Link</a:t>
            </a:r>
          </a:p>
        </p:txBody>
      </p:sp>
      <p:sp>
        <p:nvSpPr>
          <p:cNvPr id="4" name="Pentagon 34"/>
          <p:cNvSpPr/>
          <p:nvPr/>
        </p:nvSpPr>
        <p:spPr>
          <a:xfrm>
            <a:off x="-7530" y="238879"/>
            <a:ext cx="497840" cy="328361"/>
          </a:xfrm>
          <a:prstGeom prst="homePlate">
            <a:avLst>
              <a:gd name="adj" fmla="val 38269"/>
            </a:avLst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prstClr val="white"/>
              </a:solidFill>
            </a:endParaRPr>
          </a:p>
        </p:txBody>
      </p:sp>
      <p:sp>
        <p:nvSpPr>
          <p:cNvPr id="9" name="CaixaDeTexto 8"/>
          <p:cNvSpPr txBox="1"/>
          <p:nvPr/>
        </p:nvSpPr>
        <p:spPr>
          <a:xfrm>
            <a:off x="0" y="238879"/>
            <a:ext cx="4903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solidFill>
                  <a:prstClr val="white"/>
                </a:solidFill>
              </a:rPr>
              <a:t>3.95.1</a:t>
            </a:r>
          </a:p>
        </p:txBody>
      </p:sp>
      <p:graphicFrame>
        <p:nvGraphicFramePr>
          <p:cNvPr id="7177" name="Object 9">
            <a:hlinkClick r:id="" action="ppaction://ole?verb=1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58018950"/>
              </p:ext>
            </p:extLst>
          </p:nvPr>
        </p:nvGraphicFramePr>
        <p:xfrm>
          <a:off x="4114800" y="2185988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Worksheet" showAsIcon="1" r:id="rId3" imgW="914400" imgH="771480" progId="Excel.Sheet.12">
                  <p:embed/>
                </p:oleObj>
              </mc:Choice>
              <mc:Fallback>
                <p:oleObj name="Worksheet" showAsIcon="1" r:id="rId3" imgW="914400" imgH="771480" progId="Excel.Sheet.12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2185988"/>
                        <a:ext cx="914400" cy="7715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83745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3"/>
          <p:cNvSpPr txBox="1"/>
          <p:nvPr/>
        </p:nvSpPr>
        <p:spPr>
          <a:xfrm>
            <a:off x="581749" y="255615"/>
            <a:ext cx="6403841" cy="396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70000"/>
              </a:lnSpc>
              <a:defRPr sz="2800" b="1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pt-BR" dirty="0"/>
              <a:t>Reincidências e Repetidas</a:t>
            </a:r>
          </a:p>
        </p:txBody>
      </p:sp>
      <p:sp>
        <p:nvSpPr>
          <p:cNvPr id="4" name="Pentagon 34"/>
          <p:cNvSpPr/>
          <p:nvPr/>
        </p:nvSpPr>
        <p:spPr>
          <a:xfrm>
            <a:off x="-7530" y="238879"/>
            <a:ext cx="497840" cy="328361"/>
          </a:xfrm>
          <a:prstGeom prst="homePlate">
            <a:avLst>
              <a:gd name="adj" fmla="val 38269"/>
            </a:avLst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prstClr val="white"/>
              </a:solidFill>
            </a:endParaRPr>
          </a:p>
        </p:txBody>
      </p:sp>
      <p:sp>
        <p:nvSpPr>
          <p:cNvPr id="9" name="CaixaDeTexto 8"/>
          <p:cNvSpPr txBox="1"/>
          <p:nvPr/>
        </p:nvSpPr>
        <p:spPr>
          <a:xfrm>
            <a:off x="-49485" y="238879"/>
            <a:ext cx="5817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solidFill>
                  <a:prstClr val="white"/>
                </a:solidFill>
              </a:rPr>
              <a:t>3.105.2</a:t>
            </a:r>
          </a:p>
        </p:txBody>
      </p:sp>
      <p:graphicFrame>
        <p:nvGraphicFramePr>
          <p:cNvPr id="8201" name="Object 9">
            <a:hlinkClick r:id="" action="ppaction://ole?verb=1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04975412"/>
              </p:ext>
            </p:extLst>
          </p:nvPr>
        </p:nvGraphicFramePr>
        <p:xfrm>
          <a:off x="4114800" y="2185200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1" name="Worksheet" showAsIcon="1" r:id="rId3" imgW="914400" imgH="771480" progId="Excel.Sheet.12">
                  <p:embed/>
                </p:oleObj>
              </mc:Choice>
              <mc:Fallback>
                <p:oleObj name="Worksheet" showAsIcon="1" r:id="rId3" imgW="914400" imgH="771480" progId="Excel.Sheet.12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2185200"/>
                        <a:ext cx="914400" cy="7715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198266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entagon 34"/>
          <p:cNvSpPr/>
          <p:nvPr/>
        </p:nvSpPr>
        <p:spPr>
          <a:xfrm>
            <a:off x="-7530" y="238879"/>
            <a:ext cx="497840" cy="328361"/>
          </a:xfrm>
          <a:prstGeom prst="homePlate">
            <a:avLst>
              <a:gd name="adj" fmla="val 38269"/>
            </a:avLst>
          </a:prstGeom>
          <a:solidFill>
            <a:srgbClr val="66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prstClr val="white"/>
              </a:solidFill>
            </a:endParaRPr>
          </a:p>
        </p:txBody>
      </p:sp>
      <p:graphicFrame>
        <p:nvGraphicFramePr>
          <p:cNvPr id="3" name="Objeto 2">
            <a:hlinkClick r:id="" action="ppaction://ole?verb=1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37241489"/>
              </p:ext>
            </p:extLst>
          </p:nvPr>
        </p:nvGraphicFramePr>
        <p:xfrm>
          <a:off x="4114800" y="2185200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5" name="Worksheet" showAsIcon="1" r:id="rId3" imgW="914400" imgH="771480" progId="Excel.Sheet.8">
                  <p:embed/>
                </p:oleObj>
              </mc:Choice>
              <mc:Fallback>
                <p:oleObj name="Worksheet" showAsIcon="1" r:id="rId3" imgW="914400" imgH="771480" progId="Excel.Sheet.8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114800" y="2185200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23"/>
          <p:cNvSpPr txBox="1"/>
          <p:nvPr/>
        </p:nvSpPr>
        <p:spPr>
          <a:xfrm>
            <a:off x="835749" y="255615"/>
            <a:ext cx="6403841" cy="396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70000"/>
              </a:lnSpc>
              <a:defRPr sz="2800" b="1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pt-BR" dirty="0"/>
              <a:t>Causa Cliente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-55083" y="245341"/>
            <a:ext cx="708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solidFill>
                  <a:prstClr val="white"/>
                </a:solidFill>
              </a:rPr>
              <a:t>3.11</a:t>
            </a:r>
          </a:p>
        </p:txBody>
      </p:sp>
    </p:spTree>
    <p:extLst>
      <p:ext uri="{BB962C8B-B14F-4D97-AF65-F5344CB8AC3E}">
        <p14:creationId xmlns:p14="http://schemas.microsoft.com/office/powerpoint/2010/main" val="32282645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1655532" y="3098494"/>
            <a:ext cx="5720284" cy="6863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8" name="Picture 2"/>
          <p:cNvPicPr>
            <a:picLocks noChangeAspect="1" noChangeArrowheads="1"/>
          </p:cNvPicPr>
          <p:nvPr/>
        </p:nvPicPr>
        <p:blipFill>
          <a:blip r:embed="rId3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1655532" y="748233"/>
            <a:ext cx="1863505" cy="23502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4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3455732" y="748233"/>
            <a:ext cx="792088" cy="23502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3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4103804" y="748233"/>
            <a:ext cx="1863505" cy="23502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1" name="Picture 2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5831996" y="748233"/>
            <a:ext cx="1538736" cy="23502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2" name="Picture 7"/>
          <p:cNvPicPr>
            <a:picLocks noChangeAspect="1" noChangeArrowheads="1"/>
          </p:cNvPicPr>
          <p:nvPr/>
        </p:nvPicPr>
        <p:blipFill>
          <a:blip r:embed="rId6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1655532" y="1396305"/>
            <a:ext cx="1566450" cy="14952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3" name="Picture 2"/>
          <p:cNvPicPr>
            <a:picLocks noChangeAspect="1" noChangeArrowheads="1"/>
          </p:cNvPicPr>
          <p:nvPr/>
        </p:nvPicPr>
        <p:blipFill>
          <a:blip r:embed="rId7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3167700" y="1396305"/>
            <a:ext cx="1233611" cy="15121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4" name="Picture 2"/>
          <p:cNvPicPr>
            <a:picLocks noChangeAspect="1" noChangeArrowheads="1"/>
          </p:cNvPicPr>
          <p:nvPr/>
        </p:nvPicPr>
        <p:blipFill>
          <a:blip r:embed="rId8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5881112" y="1595408"/>
            <a:ext cx="1420774" cy="1296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5" name="Picture 3"/>
          <p:cNvPicPr>
            <a:picLocks noChangeAspect="1" noChangeArrowheads="1"/>
          </p:cNvPicPr>
          <p:nvPr/>
        </p:nvPicPr>
        <p:blipFill>
          <a:blip r:embed="rId9" cstate="screen"/>
          <a:srcRect/>
          <a:stretch>
            <a:fillRect/>
          </a:stretch>
        </p:blipFill>
        <p:spPr bwMode="auto">
          <a:xfrm>
            <a:off x="3887780" y="1396305"/>
            <a:ext cx="2286321" cy="17147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6" name="Picture 4" descr="C:\Users\A0038802\Desktop\Elementos e processos Vivo\Lock up\Tfn_Vivo_Positivo_RGB.png"/>
          <p:cNvPicPr>
            <a:picLocks noChangeAspect="1" noChangeArrowheads="1"/>
          </p:cNvPicPr>
          <p:nvPr/>
        </p:nvPicPr>
        <p:blipFill>
          <a:blip r:embed="rId10" cstate="screen"/>
          <a:srcRect/>
          <a:stretch>
            <a:fillRect/>
          </a:stretch>
        </p:blipFill>
        <p:spPr bwMode="auto">
          <a:xfrm>
            <a:off x="3977317" y="3908840"/>
            <a:ext cx="1261087" cy="51748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"/>
                            </p:stCondLst>
                            <p:childTnLst>
                              <p:par>
                                <p:cTn id="17" presetID="1" presetClass="exit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0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800"/>
                            </p:stCondLst>
                            <p:childTnLst>
                              <p:par>
                                <p:cTn id="23" presetID="1" presetClass="exit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0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" presetClass="exit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1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00"/>
                            </p:stCondLst>
                            <p:childTnLst>
                              <p:par>
                                <p:cTn id="35" presetID="1" presetClass="exit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0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4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45" presetID="1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Custom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660099"/>
      </a:accent1>
      <a:accent2>
        <a:srgbClr val="99CC33"/>
      </a:accent2>
      <a:accent3>
        <a:srgbClr val="9BBB59"/>
      </a:accent3>
      <a:accent4>
        <a:srgbClr val="0066CC"/>
      </a:accent4>
      <a:accent5>
        <a:srgbClr val="FF9900"/>
      </a:accent5>
      <a:accent6>
        <a:srgbClr val="FFFFFF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4293</TotalTime>
  <Words>195</Words>
  <Application>Microsoft Office PowerPoint</Application>
  <PresentationFormat>Apresentação na tela (16:9)</PresentationFormat>
  <Paragraphs>76</Paragraphs>
  <Slides>17</Slides>
  <Notes>0</Notes>
  <HiddenSlides>0</HiddenSlides>
  <MMClips>0</MMClips>
  <ScaleCrop>false</ScaleCrop>
  <HeadingPairs>
    <vt:vector size="8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2</vt:i4>
      </vt:variant>
      <vt:variant>
        <vt:lpstr>Títulos de slides</vt:lpstr>
      </vt:variant>
      <vt:variant>
        <vt:i4>17</vt:i4>
      </vt:variant>
    </vt:vector>
  </HeadingPairs>
  <TitlesOfParts>
    <vt:vector size="27" baseType="lpstr">
      <vt:lpstr>Arial</vt:lpstr>
      <vt:lpstr>Calibri</vt:lpstr>
      <vt:lpstr>Century Gothic</vt:lpstr>
      <vt:lpstr>Gill Sans</vt:lpstr>
      <vt:lpstr>Times New Roman</vt:lpstr>
      <vt:lpstr>Trebuchet MS</vt:lpstr>
      <vt:lpstr>ヒラギノ角ゴ Pro W3</vt:lpstr>
      <vt:lpstr>Office Theme</vt:lpstr>
      <vt:lpstr>Planilha do Microsoft Excel</vt:lpstr>
      <vt:lpstr>Planilha do Microsoft Excel 97-2003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Lambie-Nairn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</dc:title>
  <dc:creator>Conrado Sertorio</dc:creator>
  <cp:lastModifiedBy>Jorge Filho</cp:lastModifiedBy>
  <cp:revision>406</cp:revision>
  <cp:lastPrinted>2016-10-31T16:20:40Z</cp:lastPrinted>
  <dcterms:created xsi:type="dcterms:W3CDTF">2015-08-10T14:42:39Z</dcterms:created>
  <dcterms:modified xsi:type="dcterms:W3CDTF">2016-10-31T16:23:19Z</dcterms:modified>
</cp:coreProperties>
</file>