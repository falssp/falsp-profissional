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9" r:id="rId2"/>
    <p:sldId id="278" r:id="rId3"/>
    <p:sldId id="290" r:id="rId4"/>
    <p:sldId id="291" r:id="rId5"/>
    <p:sldId id="281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2" r:id="rId14"/>
    <p:sldId id="293" r:id="rId15"/>
    <p:sldId id="28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E28734"/>
    <a:srgbClr val="F4BC71"/>
    <a:srgbClr val="D0462D"/>
    <a:srgbClr val="C3432A"/>
    <a:srgbClr val="FFFFFF"/>
    <a:srgbClr val="7D1A1D"/>
    <a:srgbClr val="A33922"/>
    <a:srgbClr val="903D17"/>
    <a:srgbClr val="EE68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71" autoAdjust="0"/>
  </p:normalViewPr>
  <p:slideViewPr>
    <p:cSldViewPr snapToGrid="0" snapToObjects="1">
      <p:cViewPr varScale="1">
        <p:scale>
          <a:sx n="108" d="100"/>
          <a:sy n="108" d="100"/>
        </p:scale>
        <p:origin x="171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295DE-75AE-4726-9F6E-139FDEE712F1}" type="datetimeFigureOut">
              <a:rPr lang="pt-BR" smtClean="0"/>
              <a:t>07/11/2016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A573A-2955-4B78-88F6-99A7D4FDE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4348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324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2984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A573A-2955-4B78-88F6-99A7D4FDE2F2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285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/>
          <p:nvPr/>
        </p:nvSpPr>
        <p:spPr>
          <a:xfrm>
            <a:off x="-1259" y="-1"/>
            <a:ext cx="5762090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287" y="3276362"/>
            <a:ext cx="1994072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5845" y="3012751"/>
            <a:ext cx="3585610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en-US" sz="3200" cap="small" dirty="0">
                <a:solidFill>
                  <a:prstClr val="white"/>
                </a:solidFill>
                <a:latin typeface="+mj-lt"/>
                <a:cs typeface="Gotham Rounded Book"/>
              </a:rPr>
              <a:t>Plano de </a:t>
            </a:r>
            <a:r>
              <a:rPr lang="en-US" sz="3200" cap="small" dirty="0" err="1">
                <a:solidFill>
                  <a:prstClr val="white"/>
                </a:solidFill>
                <a:latin typeface="+mj-lt"/>
                <a:cs typeface="Gotham Rounded Book"/>
              </a:rPr>
              <a:t>Passagem</a:t>
            </a:r>
            <a:r>
              <a:rPr lang="en-US" sz="3200" cap="small" dirty="0">
                <a:solidFill>
                  <a:prstClr val="white"/>
                </a:solidFill>
                <a:latin typeface="+mj-lt"/>
                <a:cs typeface="Gotham Rounded Book"/>
              </a:rPr>
              <a:t> de </a:t>
            </a:r>
            <a:r>
              <a:rPr lang="en-US" sz="3200" cap="small" dirty="0" err="1">
                <a:solidFill>
                  <a:prstClr val="white"/>
                </a:solidFill>
                <a:latin typeface="+mj-lt"/>
                <a:cs typeface="Gotham Rounded Book"/>
              </a:rPr>
              <a:t>Conhecimento</a:t>
            </a:r>
            <a:r>
              <a:rPr lang="en-US" sz="3200" cap="small" dirty="0">
                <a:solidFill>
                  <a:prstClr val="white"/>
                </a:solidFill>
                <a:latin typeface="+mj-lt"/>
                <a:cs typeface="Gotham Rounded Book"/>
              </a:rPr>
              <a:t>    KT</a:t>
            </a:r>
          </a:p>
          <a:p>
            <a:pPr algn="r" defTabSz="457200"/>
            <a:endParaRPr lang="en-US" sz="1100" dirty="0">
              <a:solidFill>
                <a:prstClr val="white"/>
              </a:solidFill>
              <a:latin typeface="+mj-lt"/>
              <a:cs typeface="Gotham Rounded Book"/>
            </a:endParaRPr>
          </a:p>
          <a:p>
            <a:pPr algn="r" defTabSz="457200"/>
            <a:r>
              <a:rPr lang="en-US" sz="1600" dirty="0" err="1">
                <a:solidFill>
                  <a:prstClr val="white"/>
                </a:solidFill>
                <a:latin typeface="+mj-lt"/>
                <a:cs typeface="Gotham Rounded Book"/>
              </a:rPr>
              <a:t>Julho</a:t>
            </a:r>
            <a:r>
              <a:rPr lang="en-US" sz="1600" dirty="0">
                <a:solidFill>
                  <a:prstClr val="white"/>
                </a:solidFill>
                <a:latin typeface="+mj-lt"/>
                <a:cs typeface="Gotham Rounded Book"/>
              </a:rPr>
              <a:t>/2016</a:t>
            </a:r>
          </a:p>
        </p:txBody>
      </p:sp>
    </p:spTree>
    <p:extLst>
      <p:ext uri="{BB962C8B-B14F-4D97-AF65-F5344CB8AC3E}">
        <p14:creationId xmlns:p14="http://schemas.microsoft.com/office/powerpoint/2010/main" val="2991609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Premissas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8978" y="1182795"/>
            <a:ext cx="790604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O KT deve ser feito de todas as tecnologias que envolvem a solução.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Os dias são úteis, exceto quando esteja explícito outro intervalo.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pt-BR" sz="2000" dirty="0"/>
              <a:t>Exceções devem ser negociadas entre as equipes.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pt-BR" sz="2000" dirty="0"/>
              <a:t>Atraso nos prazos por Projetos impactam no início da Operações.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pt-BR" sz="2000" dirty="0"/>
              <a:t>Atraso pela Equipe de Operações ficam aceitos os estágios da KT.</a:t>
            </a:r>
          </a:p>
        </p:txBody>
      </p:sp>
    </p:spTree>
    <p:extLst>
      <p:ext uri="{BB962C8B-B14F-4D97-AF65-F5344CB8AC3E}">
        <p14:creationId xmlns:p14="http://schemas.microsoft.com/office/powerpoint/2010/main" val="1183183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Operação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Assistida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1025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sz="2000" u="sng" dirty="0">
              <a:solidFill>
                <a:srgbClr val="F57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u="sng" dirty="0">
              <a:solidFill>
                <a:srgbClr val="F57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u="sng" dirty="0">
                <a:solidFill>
                  <a:srgbClr val="F57124"/>
                </a:solidFill>
              </a:rPr>
              <a:t>Abertura de </a:t>
            </a:r>
            <a:r>
              <a:rPr lang="pt-BR" sz="2000" u="sng" dirty="0" err="1">
                <a:solidFill>
                  <a:srgbClr val="F57124"/>
                </a:solidFill>
              </a:rPr>
              <a:t>BUGs</a:t>
            </a:r>
            <a:r>
              <a:rPr lang="pt-BR" sz="2000" u="sng" dirty="0">
                <a:solidFill>
                  <a:srgbClr val="F57124"/>
                </a:solidFill>
              </a:rPr>
              <a:t> vindo de produção na fila do Demandas Front  (DFA)/ Demandas Siebel (DSBL)</a:t>
            </a:r>
            <a:endParaRPr lang="en-US" sz="2000" u="sng" dirty="0">
              <a:solidFill>
                <a:srgbClr val="F57124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u="sng" dirty="0">
              <a:solidFill>
                <a:srgbClr val="F57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u="sng" dirty="0">
              <a:solidFill>
                <a:srgbClr val="F57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u="sng" dirty="0">
                <a:solidFill>
                  <a:srgbClr val="F57124"/>
                </a:solidFill>
              </a:rPr>
              <a:t>Sem análise ou homologação dos </a:t>
            </a:r>
            <a:r>
              <a:rPr lang="pt-BR" sz="2000" u="sng" dirty="0" err="1">
                <a:solidFill>
                  <a:srgbClr val="F57124"/>
                </a:solidFill>
              </a:rPr>
              <a:t>BUGs</a:t>
            </a:r>
            <a:r>
              <a:rPr lang="pt-BR" sz="2000" u="sng" dirty="0">
                <a:solidFill>
                  <a:srgbClr val="F57124"/>
                </a:solidFill>
              </a:rPr>
              <a:t> pela Equipe de Operações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u="sng" dirty="0">
              <a:solidFill>
                <a:srgbClr val="F57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u="sng" dirty="0">
              <a:solidFill>
                <a:srgbClr val="F57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u="sng" dirty="0">
              <a:solidFill>
                <a:srgbClr val="F57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u="sng" dirty="0">
                <a:solidFill>
                  <a:srgbClr val="F57124"/>
                </a:solidFill>
              </a:rPr>
              <a:t>Acompanhamento lado a lado com projetos na correção de </a:t>
            </a:r>
            <a:r>
              <a:rPr lang="pt-BR" sz="2000" u="sng" dirty="0" err="1">
                <a:solidFill>
                  <a:srgbClr val="F57124"/>
                </a:solidFill>
              </a:rPr>
              <a:t>BUGs</a:t>
            </a:r>
            <a:endParaRPr lang="en-US" sz="2000" u="sng" dirty="0">
              <a:solidFill>
                <a:srgbClr val="F57124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828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Prazos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102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sz="2000" u="sng" dirty="0">
              <a:solidFill>
                <a:srgbClr val="F57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u="sng" dirty="0">
              <a:solidFill>
                <a:srgbClr val="F57124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" y="2290763"/>
            <a:ext cx="8999537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74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Prazos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1025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u="sng" dirty="0">
                <a:solidFill>
                  <a:srgbClr val="F57124"/>
                </a:solidFill>
              </a:rPr>
              <a:t>Projetos</a:t>
            </a:r>
            <a:endParaRPr lang="en-US" sz="2000" u="sng" dirty="0">
              <a:solidFill>
                <a:srgbClr val="F57124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Transferência do suporte para </a:t>
            </a:r>
            <a:r>
              <a:rPr lang="pt-BR" sz="1600" i="1" dirty="0">
                <a:ea typeface="Calibri"/>
                <a:cs typeface="Times New Roman"/>
              </a:rPr>
              <a:t>Operações</a:t>
            </a:r>
            <a:r>
              <a:rPr lang="pt-BR" sz="1600" dirty="0">
                <a:ea typeface="Calibri"/>
                <a:cs typeface="Times New Roman"/>
              </a:rPr>
              <a:t> no mesmo dia do mês seguinte da primeira execução em produção (aproximadamente 30 dias) .</a:t>
            </a:r>
            <a:br>
              <a:rPr lang="pt-BR" sz="1600" dirty="0">
                <a:ea typeface="Calibri"/>
                <a:cs typeface="Times New Roman"/>
              </a:rPr>
            </a:br>
            <a:endParaRPr lang="pt-BR" sz="1600" dirty="0">
              <a:ea typeface="Calibri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Exceções (execução não diárias):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Menos de 1 mês: mínimo de 30 dias e 6 vezes;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Mensal / Bimestral: 6 vezes;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Trimestral: 4 vezes;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Semestral: 2 vezes;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Anual: 1 vez.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Datas do KT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15 dias antes da Equipe de Operações assumir;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Convite da reunião de KT: 5 dias úteis de antecedência da reunião;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Os documentos devem ser disponibilizados junto com o convite;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Os documentos serão validados através do documento de Checklist de Operações;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A transferência somente será aceita se forem aceitos os documentos;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A recusa da documentação impactará na data que Operações assumirá o suporte;</a:t>
            </a:r>
          </a:p>
        </p:txBody>
      </p:sp>
    </p:spTree>
    <p:extLst>
      <p:ext uri="{BB962C8B-B14F-4D97-AF65-F5344CB8AC3E}">
        <p14:creationId xmlns:p14="http://schemas.microsoft.com/office/powerpoint/2010/main" val="1030480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Prazos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1025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u="sng" dirty="0">
                <a:solidFill>
                  <a:srgbClr val="F57124"/>
                </a:solidFill>
              </a:rPr>
              <a:t>Melhorias</a:t>
            </a:r>
            <a:endParaRPr lang="en-US" sz="2000" u="sng" dirty="0">
              <a:solidFill>
                <a:srgbClr val="F57124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Transferência do suporte para </a:t>
            </a:r>
            <a:r>
              <a:rPr lang="pt-BR" sz="1600" i="1" dirty="0">
                <a:ea typeface="Calibri"/>
                <a:cs typeface="Times New Roman"/>
              </a:rPr>
              <a:t>Operações</a:t>
            </a:r>
            <a:r>
              <a:rPr lang="pt-BR" sz="1600" dirty="0">
                <a:ea typeface="Calibri"/>
                <a:cs typeface="Times New Roman"/>
              </a:rPr>
              <a:t> 15 dias após a primeira execução em produção.</a:t>
            </a:r>
            <a:br>
              <a:rPr lang="pt-BR" sz="1600" dirty="0">
                <a:ea typeface="Calibri"/>
                <a:cs typeface="Times New Roman"/>
              </a:rPr>
            </a:br>
            <a:endParaRPr lang="pt-BR" sz="1600" dirty="0">
              <a:ea typeface="Calibri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Exceções (execuções não diárias):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Menos de 1 mês: mínimo de 15 dias e 3 vezes;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Mensal / Bimestral: 3 vezes;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Trimestral: 2 vezes;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Semestral: 1 vezes;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Anual: 1 vez.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Datas do KT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7 dias antes da Equipe de Operações assumir;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Convite da reunião de KT: 3 dias úteis de antecedência da reunião;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Os documentos devem ser disponibilizados junto com o convite;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Os documentos serão validados através do documento de Checklist de Operações;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A transferência somente será aceita se forem aceitos os documentos;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A recusa da documentação impactará na data que Operações assumirá o suporte;</a:t>
            </a:r>
          </a:p>
        </p:txBody>
      </p:sp>
    </p:spTree>
    <p:extLst>
      <p:ext uri="{BB962C8B-B14F-4D97-AF65-F5344CB8AC3E}">
        <p14:creationId xmlns:p14="http://schemas.microsoft.com/office/powerpoint/2010/main" val="129886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Prazos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1025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u="sng" dirty="0">
                <a:solidFill>
                  <a:srgbClr val="F57124"/>
                </a:solidFill>
              </a:rPr>
              <a:t>BUGs de Projetos / Melhorias</a:t>
            </a:r>
            <a:endParaRPr lang="en-US" sz="2000" u="sng" dirty="0">
              <a:solidFill>
                <a:srgbClr val="F57124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Times New Roman"/>
              </a:rPr>
              <a:t>Equipe de Operações recusará assumir o suporte até que todos os </a:t>
            </a:r>
            <a:r>
              <a:rPr lang="pt-BR" sz="1600" dirty="0" err="1">
                <a:ea typeface="Calibri"/>
                <a:cs typeface="Times New Roman"/>
              </a:rPr>
              <a:t>BUGs</a:t>
            </a:r>
            <a:r>
              <a:rPr lang="pt-BR" sz="1600" dirty="0">
                <a:ea typeface="Calibri"/>
                <a:cs typeface="Times New Roman"/>
              </a:rPr>
              <a:t> estejam corrigidos e disponíveis em Produção.</a:t>
            </a:r>
          </a:p>
        </p:txBody>
      </p:sp>
    </p:spTree>
    <p:extLst>
      <p:ext uri="{BB962C8B-B14F-4D97-AF65-F5344CB8AC3E}">
        <p14:creationId xmlns:p14="http://schemas.microsoft.com/office/powerpoint/2010/main" val="3140234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Documentos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1025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Objetivo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Solução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Benefícios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Impactos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Fluxo de Rollback / Estorno / Cancelamento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Documentações do projeto.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Guia técnico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Outros documentos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Contatos / Envolvidos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Catálogo de Serviços de Operações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Monitoramento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Outras Informações</a:t>
            </a:r>
          </a:p>
        </p:txBody>
      </p:sp>
    </p:spTree>
    <p:extLst>
      <p:ext uri="{BB962C8B-B14F-4D97-AF65-F5344CB8AC3E}">
        <p14:creationId xmlns:p14="http://schemas.microsoft.com/office/powerpoint/2010/main" val="3434519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Documentos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102599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Objetivo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Apresentar de forma resumida o objetivo do projeto / melhoria.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Solução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Transcrever a solução adotada e que possa ser verificado pela Equipe de Operações.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Quando houver várias tecnologias (Java, Siebel, SOA, </a:t>
            </a:r>
            <a:r>
              <a:rPr lang="pt-BR" sz="1600" dirty="0" err="1"/>
              <a:t>etc</a:t>
            </a:r>
            <a:r>
              <a:rPr lang="pt-BR" sz="1600" dirty="0"/>
              <a:t>) ou sistemas terceiros (B2E, Gateway de Pagamentos, ClearSale, </a:t>
            </a:r>
            <a:r>
              <a:rPr lang="pt-BR" sz="1600" dirty="0" err="1"/>
              <a:t>etc</a:t>
            </a:r>
            <a:r>
              <a:rPr lang="pt-BR" sz="1600" dirty="0"/>
              <a:t>), apresentar este item para cada tecnologia, e um item mostrando a solução de integração.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Fluxogramas devem vir abertos neste item.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Benefícios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Quais são os benefícios aos negócios.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pt-BR" sz="2000" u="sng" dirty="0">
                <a:solidFill>
                  <a:srgbClr val="F57124"/>
                </a:solidFill>
              </a:rPr>
              <a:t>Impactos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Impactos a outras atividades / processos.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Também devem constar itens que não sofreram impactos, mas que foram considerados ou podem gerar confusão</a:t>
            </a: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1456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Documentos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1025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pt-BR" sz="2000" u="sng" dirty="0">
                <a:solidFill>
                  <a:srgbClr val="F57124"/>
                </a:solidFill>
              </a:rPr>
              <a:t>Fluxo de </a:t>
            </a:r>
            <a:r>
              <a:rPr lang="pt-BR" sz="2000" u="sng" dirty="0" err="1">
                <a:solidFill>
                  <a:srgbClr val="F57124"/>
                </a:solidFill>
              </a:rPr>
              <a:t>Rollback</a:t>
            </a:r>
            <a:r>
              <a:rPr lang="pt-BR" sz="2000" u="sng" dirty="0">
                <a:solidFill>
                  <a:srgbClr val="F57124"/>
                </a:solidFill>
              </a:rPr>
              <a:t> / Estorno / Cancelamento / Execução manual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Fluxos de </a:t>
            </a:r>
            <a:r>
              <a:rPr lang="pt-BR" sz="1600" dirty="0" err="1"/>
              <a:t>Rollback</a:t>
            </a:r>
            <a:r>
              <a:rPr lang="pt-BR" sz="1600" dirty="0"/>
              <a:t> em caso de erro, estornos, cancelamentos e execução manual do processo.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pt-BR" sz="2000" u="sng" dirty="0">
                <a:solidFill>
                  <a:srgbClr val="F57124"/>
                </a:solidFill>
              </a:rPr>
              <a:t>Documentações do projeto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Referência aos documentos obrigatórios (EF, ET e TA) que estejam </a:t>
            </a:r>
            <a:r>
              <a:rPr lang="pt-BR" sz="1600" dirty="0" err="1"/>
              <a:t>versionados</a:t>
            </a:r>
            <a:r>
              <a:rPr lang="pt-BR" sz="1600" dirty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Listagem de </a:t>
            </a:r>
            <a:r>
              <a:rPr lang="pt-BR" sz="1600" dirty="0" err="1"/>
              <a:t>JIRAs</a:t>
            </a:r>
            <a:r>
              <a:rPr lang="pt-BR" sz="1600" dirty="0"/>
              <a:t> / </a:t>
            </a:r>
            <a:r>
              <a:rPr lang="pt-BR" sz="1600" dirty="0" err="1"/>
              <a:t>BUGs</a:t>
            </a:r>
            <a:r>
              <a:rPr lang="pt-BR" sz="1600" dirty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i="1" dirty="0"/>
              <a:t>JIRA não é versionamento de documentos.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pt-BR" sz="2000" u="sng" dirty="0">
                <a:solidFill>
                  <a:srgbClr val="F57124"/>
                </a:solidFill>
              </a:rPr>
              <a:t>Guia técnico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Documento de alterações do Siebel onde constam os itens modificados.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pt-BR" sz="2000" u="sng" dirty="0">
                <a:solidFill>
                  <a:srgbClr val="F57124"/>
                </a:solidFill>
              </a:rPr>
              <a:t>Outros documentos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Outros documentos que auxiliaram no desenvolvimento.</a:t>
            </a: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6594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Documentos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1025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pt-BR" sz="2000" u="sng" dirty="0">
                <a:solidFill>
                  <a:srgbClr val="F57124"/>
                </a:solidFill>
              </a:rPr>
              <a:t>Contatos / Envolvidos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Listagem de pessoas, empresa, função e e-mail dos envolvidos no projeto;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O fluxo de escalabilidade por terceiro.</a:t>
            </a:r>
            <a:endParaRPr lang="pt-BR" sz="1600" dirty="0">
              <a:ea typeface="Calibri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pt-BR" sz="2000" u="sng" dirty="0">
                <a:solidFill>
                  <a:srgbClr val="F57124"/>
                </a:solidFill>
              </a:rPr>
              <a:t>Catálogo de Serviços de Operações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Passo a passo e estimativa de tempo de resolução;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457200" lvl="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pt-BR" sz="2000" u="sng" dirty="0">
                <a:solidFill>
                  <a:srgbClr val="F57124"/>
                </a:solidFill>
              </a:rPr>
              <a:t>Monitoramento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O que monitorar?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Como capturar os dados para </a:t>
            </a:r>
            <a:r>
              <a:rPr lang="pt-BR" sz="1600"/>
              <a:t>serem monitorados?</a:t>
            </a: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457200" lvl="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pt-BR" sz="2000" u="sng" dirty="0">
                <a:solidFill>
                  <a:srgbClr val="F57124"/>
                </a:solidFill>
              </a:rPr>
              <a:t>Outras Informações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Informações que não foram contempladas nos itens anteriores.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Como serão abertos os chamados no JIRA para este projeto?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Há abertura automática de </a:t>
            </a:r>
            <a:r>
              <a:rPr lang="pt-BR" sz="1600" dirty="0" err="1"/>
              <a:t>JIRAs</a:t>
            </a:r>
            <a:r>
              <a:rPr lang="pt-BR" sz="1600" dirty="0"/>
              <a:t> pela funcionalidade?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0526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CheckList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10259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000" b="1" u="sng" dirty="0">
              <a:solidFill>
                <a:srgbClr val="F57124"/>
              </a:solidFill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000" b="1" u="sng" dirty="0">
              <a:solidFill>
                <a:srgbClr val="F57124"/>
              </a:solidFill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u="sng" dirty="0">
                <a:solidFill>
                  <a:srgbClr val="F57124"/>
                </a:solidFill>
              </a:rPr>
              <a:t>Avaliação dos documentos e prazos para aceite do KT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0279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Onde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devem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estar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os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Documentos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?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8" name="TextBox 18"/>
          <p:cNvSpPr txBox="1"/>
          <p:nvPr/>
        </p:nvSpPr>
        <p:spPr>
          <a:xfrm>
            <a:off x="571500" y="1035910"/>
            <a:ext cx="843933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pt-BR" sz="2000" u="sng" dirty="0">
                <a:solidFill>
                  <a:srgbClr val="F57124"/>
                </a:solidFill>
              </a:rPr>
              <a:t>O Documentos devem estar escritos no </a:t>
            </a:r>
            <a:r>
              <a:rPr lang="pt-BR" sz="2000" u="sng" dirty="0" err="1">
                <a:solidFill>
                  <a:srgbClr val="F57124"/>
                </a:solidFill>
              </a:rPr>
              <a:t>Confluence</a:t>
            </a:r>
            <a:r>
              <a:rPr lang="pt-BR" sz="2000" u="sng" dirty="0">
                <a:solidFill>
                  <a:srgbClr val="F57124"/>
                </a:solidFill>
              </a:rPr>
              <a:t> IT </a:t>
            </a:r>
            <a:r>
              <a:rPr lang="pt-BR" sz="2000" u="sng" dirty="0" err="1">
                <a:solidFill>
                  <a:srgbClr val="F57124"/>
                </a:solidFill>
              </a:rPr>
              <a:t>WIki</a:t>
            </a:r>
            <a:r>
              <a:rPr lang="pt-BR" sz="2000" u="sng" dirty="0">
                <a:solidFill>
                  <a:srgbClr val="F57124"/>
                </a:solidFill>
              </a:rPr>
              <a:t>, onde podem ser pesquisados com facilidade</a:t>
            </a:r>
          </a:p>
          <a:p>
            <a:pPr lvl="0">
              <a:lnSpc>
                <a:spcPct val="150000"/>
              </a:lnSpc>
            </a:pPr>
            <a:endParaRPr lang="pt-BR" sz="2000" u="sng" dirty="0">
              <a:solidFill>
                <a:srgbClr val="F57124"/>
              </a:solidFill>
            </a:endParaRPr>
          </a:p>
          <a:p>
            <a:pPr>
              <a:lnSpc>
                <a:spcPct val="150000"/>
              </a:lnSpc>
            </a:pPr>
            <a:r>
              <a:rPr lang="pt-BR" sz="2000" u="sng" dirty="0">
                <a:solidFill>
                  <a:srgbClr val="F57124"/>
                </a:solidFill>
              </a:rPr>
              <a:t>Devem estar na seguinte estrutura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/>
              <a:t>KT – Transferência de Conhecimento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/>
              <a:t>&lt;ano do projeto&gt; - Exemplo: 2016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/>
              <a:t>&lt;ano – </a:t>
            </a:r>
            <a:r>
              <a:rPr lang="pt-BR" sz="1600" dirty="0" err="1"/>
              <a:t>quarter</a:t>
            </a:r>
            <a:r>
              <a:rPr lang="pt-BR" sz="1600" dirty="0"/>
              <a:t> de entrega do projeto&gt;: Exemplo: 2016 – Q3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/>
              <a:t>&lt;projeto  - outra informação relevante&gt; - Amadeus F3 – Alteração Involuntária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000" u="sng" dirty="0">
              <a:solidFill>
                <a:srgbClr val="F57124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9375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079499" y="92677"/>
            <a:ext cx="631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Onde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devem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estar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os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otham Rounded Book"/>
                <a:cs typeface="Gotham Rounded Book"/>
              </a:rPr>
              <a:t>Documentos</a:t>
            </a:r>
            <a:r>
              <a:rPr lang="en-US" sz="2800" dirty="0">
                <a:solidFill>
                  <a:schemeClr val="bg1"/>
                </a:solidFill>
                <a:latin typeface="Gotham Rounded Book"/>
                <a:cs typeface="Gotham Rounded Book"/>
              </a:rPr>
              <a:t>?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98253"/>
            <a:ext cx="9144000" cy="509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45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9143998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654" y="181114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16275" y="92677"/>
            <a:ext cx="4935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Gotham Rounded Book"/>
                <a:cs typeface="Gotham Rounded Book"/>
              </a:rPr>
              <a:t>DSBL-142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978" y="2795695"/>
            <a:ext cx="7906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lang="pt-BR" sz="3600" dirty="0">
                <a:cs typeface="Times New Roman"/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3166641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2951</TotalTime>
  <Words>579</Words>
  <Application>Microsoft Office PowerPoint</Application>
  <PresentationFormat>Apresentação na tela (4:3)</PresentationFormat>
  <Paragraphs>161</Paragraphs>
  <Slides>15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Gotham Rounded Book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Jonathas Lopes de Souza</cp:lastModifiedBy>
  <cp:revision>166</cp:revision>
  <dcterms:created xsi:type="dcterms:W3CDTF">2014-01-24T21:35:00Z</dcterms:created>
  <dcterms:modified xsi:type="dcterms:W3CDTF">2016-11-07T11:35:10Z</dcterms:modified>
</cp:coreProperties>
</file>