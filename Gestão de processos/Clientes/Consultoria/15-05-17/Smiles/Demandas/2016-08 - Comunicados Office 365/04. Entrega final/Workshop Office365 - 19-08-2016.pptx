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6.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26"/>
  </p:notesMasterIdLst>
  <p:sldIdLst>
    <p:sldId id="257" r:id="rId2"/>
    <p:sldId id="339" r:id="rId3"/>
    <p:sldId id="384" r:id="rId4"/>
    <p:sldId id="382" r:id="rId5"/>
    <p:sldId id="383" r:id="rId6"/>
    <p:sldId id="388" r:id="rId7"/>
    <p:sldId id="385" r:id="rId8"/>
    <p:sldId id="389" r:id="rId9"/>
    <p:sldId id="408" r:id="rId10"/>
    <p:sldId id="410" r:id="rId11"/>
    <p:sldId id="409" r:id="rId12"/>
    <p:sldId id="391" r:id="rId13"/>
    <p:sldId id="394" r:id="rId14"/>
    <p:sldId id="395" r:id="rId15"/>
    <p:sldId id="396" r:id="rId16"/>
    <p:sldId id="397" r:id="rId17"/>
    <p:sldId id="398" r:id="rId18"/>
    <p:sldId id="401" r:id="rId19"/>
    <p:sldId id="399" r:id="rId20"/>
    <p:sldId id="405" r:id="rId21"/>
    <p:sldId id="400" r:id="rId22"/>
    <p:sldId id="404" r:id="rId23"/>
    <p:sldId id="403" r:id="rId24"/>
    <p:sldId id="406" r:id="rId25"/>
  </p:sldIdLst>
  <p:sldSz cx="1011713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18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00FF00"/>
    <a:srgbClr val="D0462D"/>
    <a:srgbClr val="EE6829"/>
    <a:srgbClr val="000000"/>
    <a:srgbClr val="F57124"/>
    <a:srgbClr val="F68E1E"/>
    <a:srgbClr val="FF9900"/>
    <a:srgbClr val="FF6600"/>
    <a:srgbClr val="E2873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Estilo Claro 2 - Ênfas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Estilo Claro 2 - Ênfas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Estilo com Tema 1 - Ênfas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38B1855-1B75-4FBE-930C-398BA8C253C6}" styleName="Estilo com Tema 2 - Ênfas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Estilo Médio 1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Estilo com Tema 1 - Ênfase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Estilo Claro 1 - Ênfas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Estilo Médio 3 - Ênfase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Estilo Médio 4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Estilo com Tema 1 - Ênfas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Estilo com Tema 1 - Ênfase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0"/>
  </p:normalViewPr>
  <p:slideViewPr>
    <p:cSldViewPr snapToGrid="0" snapToObjects="1">
      <p:cViewPr varScale="1">
        <p:scale>
          <a:sx n="66" d="100"/>
          <a:sy n="66" d="100"/>
        </p:scale>
        <p:origin x="1302" y="72"/>
      </p:cViewPr>
      <p:guideLst>
        <p:guide orient="horz" pos="2092"/>
        <p:guide pos="318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2CD1B9-1777-43A0-8DF4-B945C46147BD}" type="datetimeFigureOut">
              <a:rPr lang="pt-BR" smtClean="0"/>
              <a:t>19/08/2016</a:t>
            </a:fld>
            <a:endParaRPr lang="pt-BR"/>
          </a:p>
        </p:txBody>
      </p:sp>
      <p:sp>
        <p:nvSpPr>
          <p:cNvPr id="4" name="Espaço Reservado para Imagem de Slide 3"/>
          <p:cNvSpPr>
            <a:spLocks noGrp="1" noRot="1" noChangeAspect="1"/>
          </p:cNvSpPr>
          <p:nvPr>
            <p:ph type="sldImg" idx="2"/>
          </p:nvPr>
        </p:nvSpPr>
        <p:spPr>
          <a:xfrm>
            <a:off x="900113" y="685800"/>
            <a:ext cx="5057775"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245040-EFBE-493F-96A2-B5DCAE3ADE4E}" type="slidenum">
              <a:rPr lang="pt-BR" smtClean="0"/>
              <a:t>‹nº›</a:t>
            </a:fld>
            <a:endParaRPr lang="pt-BR"/>
          </a:p>
        </p:txBody>
      </p:sp>
    </p:spTree>
    <p:extLst>
      <p:ext uri="{BB962C8B-B14F-4D97-AF65-F5344CB8AC3E}">
        <p14:creationId xmlns:p14="http://schemas.microsoft.com/office/powerpoint/2010/main" val="218668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245040-EFBE-493F-96A2-B5DCAE3ADE4E}" type="slidenum">
              <a:rPr lang="pt-BR" smtClean="0"/>
              <a:t>2</a:t>
            </a:fld>
            <a:endParaRPr lang="pt-BR"/>
          </a:p>
        </p:txBody>
      </p:sp>
    </p:spTree>
    <p:extLst>
      <p:ext uri="{BB962C8B-B14F-4D97-AF65-F5344CB8AC3E}">
        <p14:creationId xmlns:p14="http://schemas.microsoft.com/office/powerpoint/2010/main" val="2314425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3</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852719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5</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026553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6</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252001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7</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493423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8</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717537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9</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810366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10</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93843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11</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880919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12</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408675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13</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055661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14</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84095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15</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737662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16</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574569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17</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800878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18</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718755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19</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052572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20</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2426436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21</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7923327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22</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167300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23</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0412940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685800"/>
            <a:ext cx="505777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8/19/2016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24</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62417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8786" y="2130428"/>
            <a:ext cx="8599567" cy="1470025"/>
          </a:xfrm>
        </p:spPr>
        <p:txBody>
          <a:bodyPr/>
          <a:lstStyle/>
          <a:p>
            <a:r>
              <a:rPr lang="en-US"/>
              <a:t>Click to edit Master title style</a:t>
            </a:r>
          </a:p>
        </p:txBody>
      </p:sp>
      <p:sp>
        <p:nvSpPr>
          <p:cNvPr id="3" name="Subtitle 2"/>
          <p:cNvSpPr>
            <a:spLocks noGrp="1"/>
          </p:cNvSpPr>
          <p:nvPr>
            <p:ph type="subTitle" idx="1"/>
          </p:nvPr>
        </p:nvSpPr>
        <p:spPr>
          <a:xfrm>
            <a:off x="1517571" y="3886200"/>
            <a:ext cx="708199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5F959D4-6A11-486D-B749-87BCA07FF591}" type="datetime1">
              <a:rPr lang="en-US" smtClean="0"/>
              <a:t>8/19/2016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241989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474088-60D5-4C27-8C26-4C55B0AE93BE}" type="datetime1">
              <a:rPr lang="en-US" smtClean="0"/>
              <a:t>8/19/2016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84330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9184" y="4406903"/>
            <a:ext cx="8599567"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9184" y="2906713"/>
            <a:ext cx="8599567"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5A53C5-BA6F-42EE-B848-F3D0057EDAD5}" type="datetime1">
              <a:rPr lang="en-US" smtClean="0"/>
              <a:t>8/19/2016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408574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5857"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2878"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958837-4952-4B11-B021-471393E3D5C6}" type="datetime1">
              <a:rPr lang="en-US" smtClean="0"/>
              <a:t>8/19/2016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753154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5857" y="1535113"/>
            <a:ext cx="447016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5857" y="2174875"/>
            <a:ext cx="44701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39367" y="1535113"/>
            <a:ext cx="44719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39367" y="2174875"/>
            <a:ext cx="44719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F5B09A-A573-467A-B71C-8123B5A168C3}" type="datetime1">
              <a:rPr lang="en-US" smtClean="0"/>
              <a:t>8/19/2016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974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956A762-4D7A-4A60-B361-0561C4BAA8C1}" type="datetime1">
              <a:rPr lang="en-US" smtClean="0"/>
              <a:t>8/19/2016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563801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4E7812-A9AF-4509-8267-EE36D97F6170}" type="datetime1">
              <a:rPr lang="en-US" smtClean="0"/>
              <a:t>8/19/2016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293948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5857" y="273050"/>
            <a:ext cx="332846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55521" y="273053"/>
            <a:ext cx="565576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5857" y="1435103"/>
            <a:ext cx="332846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C3899E-D0AF-4934-8DE7-BA875A98DCEA}" type="datetime1">
              <a:rPr lang="en-US" smtClean="0"/>
              <a:t>8/19/2016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88056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030" y="4800600"/>
            <a:ext cx="6070283"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83030" y="612775"/>
            <a:ext cx="607028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983030" y="5367338"/>
            <a:ext cx="607028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452944-44B7-41D7-AD1A-FD6903581FEF}" type="datetime1">
              <a:rPr lang="en-US" smtClean="0"/>
              <a:t>8/19/2016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6701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5AA64C-69FA-480F-B7E3-FE744768567F}" type="datetime1">
              <a:rPr lang="en-US" smtClean="0"/>
              <a:t>8/19/2016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833005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34925" y="274641"/>
            <a:ext cx="227635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5857" y="274641"/>
            <a:ext cx="6660449"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18FE86-EFE7-4175-8137-78DEB5E572A3}" type="datetime1">
              <a:rPr lang="en-US" smtClean="0"/>
              <a:t>8/19/2016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768642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0892" y="228608"/>
            <a:ext cx="9254058" cy="609399"/>
          </a:xfrm>
        </p:spPr>
        <p:txBody>
          <a:bodyPr/>
          <a:lstStyle>
            <a:lvl1pPr>
              <a:defRPr/>
            </a:lvl1pPr>
          </a:lstStyle>
          <a:p>
            <a:r>
              <a:rPr lang="en-US" smtClean="0"/>
              <a:t>Click to edit Master title style</a:t>
            </a:r>
            <a:endParaRPr lang="en-US" dirty="0"/>
          </a:p>
        </p:txBody>
      </p:sp>
      <p:sp>
        <p:nvSpPr>
          <p:cNvPr id="7" name="Text Placeholder 6"/>
          <p:cNvSpPr>
            <a:spLocks noGrp="1"/>
          </p:cNvSpPr>
          <p:nvPr>
            <p:ph type="body" sz="quarter" idx="10"/>
          </p:nvPr>
        </p:nvSpPr>
        <p:spPr>
          <a:xfrm>
            <a:off x="430883" y="1447802"/>
            <a:ext cx="9254058" cy="2283702"/>
          </a:xfrm>
        </p:spPr>
        <p:txBody>
          <a:bodyPr>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90514494"/>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5857" y="274638"/>
            <a:ext cx="910542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05857" y="1600203"/>
            <a:ext cx="910542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5857" y="6356353"/>
            <a:ext cx="236066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D29DC0-6BD0-4B46-B6AE-0379CA6F938C}" type="datetime1">
              <a:rPr lang="en-US" smtClean="0"/>
              <a:t>8/19/2016</a:t>
            </a:fld>
            <a:endParaRPr lang="en-US" dirty="0"/>
          </a:p>
        </p:txBody>
      </p:sp>
      <p:sp>
        <p:nvSpPr>
          <p:cNvPr id="5" name="Footer Placeholder 4"/>
          <p:cNvSpPr>
            <a:spLocks noGrp="1"/>
          </p:cNvSpPr>
          <p:nvPr>
            <p:ph type="ftr" sz="quarter" idx="3"/>
          </p:nvPr>
        </p:nvSpPr>
        <p:spPr>
          <a:xfrm>
            <a:off x="3456689" y="6356353"/>
            <a:ext cx="320376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50615" y="6356353"/>
            <a:ext cx="236066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529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slide" Target="slide4.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emf"/><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jpe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emf"/><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7.emf"/><Relationship Id="rId5" Type="http://schemas.openxmlformats.org/officeDocument/2006/relationships/image" Target="../media/image20.jpeg"/><Relationship Id="rId4" Type="http://schemas.openxmlformats.org/officeDocument/2006/relationships/image" Target="../media/image19.jpe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4.xml"/><Relationship Id="rId7" Type="http://schemas.microsoft.com/office/2007/relationships/hdphoto" Target="../media/hdphoto1.wdp"/><Relationship Id="rId2" Type="http://schemas.openxmlformats.org/officeDocument/2006/relationships/slideLayout" Target="../slideLayouts/slideLayout12.xml"/><Relationship Id="rId1" Type="http://schemas.openxmlformats.org/officeDocument/2006/relationships/tags" Target="../tags/tag2.xml"/><Relationship Id="rId6" Type="http://schemas.openxmlformats.org/officeDocument/2006/relationships/image" Target="../media/image21.jpeg"/><Relationship Id="rId5" Type="http://schemas.openxmlformats.org/officeDocument/2006/relationships/image" Target="../media/image7.emf"/><Relationship Id="rId4" Type="http://schemas.openxmlformats.org/officeDocument/2006/relationships/image" Target="../media/image19.jpeg"/><Relationship Id="rId9" Type="http://schemas.microsoft.com/office/2007/relationships/hdphoto" Target="../media/hdphoto2.wdp"/></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7.emf"/><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5.xml"/><Relationship Id="rId16"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6.xml"/><Relationship Id="rId7" Type="http://schemas.openxmlformats.org/officeDocument/2006/relationships/image" Target="../media/image22.png"/><Relationship Id="rId2" Type="http://schemas.openxmlformats.org/officeDocument/2006/relationships/slideLayout" Target="../slideLayouts/slideLayout12.xml"/><Relationship Id="rId1" Type="http://schemas.openxmlformats.org/officeDocument/2006/relationships/tags" Target="../tags/tag3.xml"/><Relationship Id="rId6" Type="http://schemas.openxmlformats.org/officeDocument/2006/relationships/image" Target="../media/image38.png"/><Relationship Id="rId5" Type="http://schemas.openxmlformats.org/officeDocument/2006/relationships/image" Target="../media/image7.emf"/><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microsoft.com/office/2007/relationships/hdphoto" Target="../media/hdphoto3.wdp"/><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10.xml"/><Relationship Id="rId7" Type="http://schemas.openxmlformats.org/officeDocument/2006/relationships/image" Target="../media/image22.png"/><Relationship Id="rId2" Type="http://schemas.openxmlformats.org/officeDocument/2006/relationships/slideLayout" Target="../slideLayouts/slideLayout12.xml"/><Relationship Id="rId1" Type="http://schemas.openxmlformats.org/officeDocument/2006/relationships/tags" Target="../tags/tag4.xml"/><Relationship Id="rId6" Type="http://schemas.openxmlformats.org/officeDocument/2006/relationships/image" Target="../media/image42.png"/><Relationship Id="rId5" Type="http://schemas.openxmlformats.org/officeDocument/2006/relationships/image" Target="../media/image7.emf"/><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15.xml"/><Relationship Id="rId7" Type="http://schemas.openxmlformats.org/officeDocument/2006/relationships/image" Target="../media/image22.png"/><Relationship Id="rId2" Type="http://schemas.openxmlformats.org/officeDocument/2006/relationships/slideLayout" Target="../slideLayouts/slideLayout12.xml"/><Relationship Id="rId1" Type="http://schemas.openxmlformats.org/officeDocument/2006/relationships/tags" Target="../tags/tag5.xml"/><Relationship Id="rId6" Type="http://schemas.openxmlformats.org/officeDocument/2006/relationships/image" Target="../media/image48.jpeg"/><Relationship Id="rId5" Type="http://schemas.openxmlformats.org/officeDocument/2006/relationships/image" Target="../media/image7.emf"/><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17.xml"/><Relationship Id="rId7" Type="http://schemas.openxmlformats.org/officeDocument/2006/relationships/image" Target="../media/image22.png"/><Relationship Id="rId2" Type="http://schemas.openxmlformats.org/officeDocument/2006/relationships/slideLayout" Target="../slideLayouts/slideLayout12.xml"/><Relationship Id="rId1" Type="http://schemas.openxmlformats.org/officeDocument/2006/relationships/tags" Target="../tags/tag6.xml"/><Relationship Id="rId6" Type="http://schemas.openxmlformats.org/officeDocument/2006/relationships/image" Target="../media/image50.jpeg"/><Relationship Id="rId5" Type="http://schemas.openxmlformats.org/officeDocument/2006/relationships/image" Target="../media/image7.emf"/><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19.xml"/><Relationship Id="rId7" Type="http://schemas.openxmlformats.org/officeDocument/2006/relationships/image" Target="../media/image22.png"/><Relationship Id="rId2" Type="http://schemas.openxmlformats.org/officeDocument/2006/relationships/slideLayout" Target="../slideLayouts/slideLayout12.xml"/><Relationship Id="rId1" Type="http://schemas.openxmlformats.org/officeDocument/2006/relationships/tags" Target="../tags/tag7.xml"/><Relationship Id="rId6" Type="http://schemas.openxmlformats.org/officeDocument/2006/relationships/image" Target="../media/image52.jpeg"/><Relationship Id="rId5" Type="http://schemas.openxmlformats.org/officeDocument/2006/relationships/image" Target="../media/image7.emf"/><Relationship Id="rId4" Type="http://schemas.openxmlformats.org/officeDocument/2006/relationships/image" Target="../media/image19.jpeg"/></Relationships>
</file>

<file path=ppt/slides/_rels/slide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microsoft.com/office/2007/relationships/hdphoto" Target="../media/hdphoto4.wdp"/><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hyperlink" Target="mailto:infra@smiles.com.br" TargetMode="External"/><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hyperlink" Target="http://aka.ms/office-2016-training" TargetMode="External"/><Relationship Id="rId5" Type="http://schemas.openxmlformats.org/officeDocument/2006/relationships/image" Target="../media/image55.jpeg"/><Relationship Id="rId4"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2"/>
          <p:cNvSpPr/>
          <p:nvPr/>
        </p:nvSpPr>
        <p:spPr>
          <a:xfrm>
            <a:off x="1" y="1"/>
            <a:ext cx="6375313" cy="6857999"/>
          </a:xfrm>
          <a:custGeom>
            <a:avLst/>
            <a:gdLst/>
            <a:ahLst/>
            <a:cxnLst/>
            <a:rect l="l" t="t" r="r" b="b"/>
            <a:pathLst>
              <a:path w="5762090" h="6857999">
                <a:moveTo>
                  <a:pt x="0" y="0"/>
                </a:moveTo>
                <a:lnTo>
                  <a:pt x="1920697" y="0"/>
                </a:lnTo>
                <a:lnTo>
                  <a:pt x="3279881" y="0"/>
                </a:lnTo>
                <a:lnTo>
                  <a:pt x="5200578" y="0"/>
                </a:lnTo>
                <a:lnTo>
                  <a:pt x="5255041" y="148787"/>
                </a:lnTo>
                <a:cubicBezTo>
                  <a:pt x="5571805" y="1057108"/>
                  <a:pt x="5762090" y="2221597"/>
                  <a:pt x="5762090" y="3491260"/>
                </a:cubicBezTo>
                <a:cubicBezTo>
                  <a:pt x="5762090" y="4760923"/>
                  <a:pt x="5571805" y="5925412"/>
                  <a:pt x="5255041" y="6833733"/>
                </a:cubicBezTo>
                <a:lnTo>
                  <a:pt x="5246158" y="6857999"/>
                </a:lnTo>
                <a:lnTo>
                  <a:pt x="3325461" y="6857999"/>
                </a:lnTo>
                <a:lnTo>
                  <a:pt x="1920697" y="6857999"/>
                </a:lnTo>
                <a:lnTo>
                  <a:pt x="0" y="6857999"/>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7111303" y="3057419"/>
            <a:ext cx="2206288" cy="787514"/>
          </a:xfrm>
          <a:prstGeom prst="rect">
            <a:avLst/>
          </a:prstGeom>
        </p:spPr>
      </p:pic>
      <p:sp>
        <p:nvSpPr>
          <p:cNvPr id="7" name="TextBox 6"/>
          <p:cNvSpPr txBox="1"/>
          <p:nvPr/>
        </p:nvSpPr>
        <p:spPr>
          <a:xfrm>
            <a:off x="1" y="1695350"/>
            <a:ext cx="5688627" cy="4439677"/>
          </a:xfrm>
          <a:prstGeom prst="rect">
            <a:avLst/>
          </a:prstGeom>
          <a:noFill/>
        </p:spPr>
        <p:txBody>
          <a:bodyPr wrap="square" rtlCol="0">
            <a:spAutoFit/>
          </a:bodyPr>
          <a:lstStyle/>
          <a:p>
            <a:pPr algn="r"/>
            <a:r>
              <a:rPr lang="pt-BR" sz="3200" b="1" dirty="0">
                <a:solidFill>
                  <a:schemeClr val="bg1"/>
                </a:solidFill>
                <a:effectLst>
                  <a:outerShdw blurRad="50800" dist="38100" dir="5400000" algn="t" rotWithShape="0">
                    <a:srgbClr val="C00000"/>
                  </a:outerShdw>
                </a:effectLst>
                <a:cs typeface="Gotham Rounded Book"/>
              </a:rPr>
              <a:t>Projeto </a:t>
            </a:r>
            <a:r>
              <a:rPr lang="en-US" sz="32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3200" dirty="0" err="1">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3200" dirty="0">
                <a:solidFill>
                  <a:schemeClr val="bg1"/>
                </a:solidFill>
                <a:effectLst>
                  <a:outerShdw blurRad="38100" dist="38100" dir="2700000" algn="tl">
                    <a:srgbClr val="000000">
                      <a:alpha val="43137"/>
                    </a:srgbClr>
                  </a:outerShdw>
                </a:effectLst>
                <a:latin typeface="Gotham Rounded Book"/>
                <a:cs typeface="Gotham Rounded Book"/>
              </a:rPr>
              <a:t> </a:t>
            </a:r>
            <a:endParaRPr lang="en-US" sz="3200" dirty="0" smtClean="0">
              <a:solidFill>
                <a:schemeClr val="bg1"/>
              </a:solidFill>
              <a:effectLst>
                <a:outerShdw blurRad="38100" dist="38100" dir="2700000" algn="tl">
                  <a:srgbClr val="000000">
                    <a:alpha val="43137"/>
                  </a:srgbClr>
                </a:outerShdw>
              </a:effectLst>
              <a:latin typeface="Gotham Rounded Book"/>
              <a:cs typeface="Gotham Rounded Book"/>
            </a:endParaRPr>
          </a:p>
          <a:p>
            <a:pPr algn="r"/>
            <a:r>
              <a:rPr lang="en-US" sz="3200" i="1" dirty="0" smtClean="0">
                <a:solidFill>
                  <a:schemeClr val="bg1"/>
                </a:solidFill>
                <a:effectLst>
                  <a:outerShdw blurRad="38100" dist="38100" dir="2700000" algn="tl">
                    <a:srgbClr val="000000">
                      <a:alpha val="43137"/>
                    </a:srgbClr>
                  </a:outerShdw>
                </a:effectLst>
                <a:latin typeface="Gotham Rounded Book"/>
                <a:cs typeface="Gotham Rounded Book"/>
              </a:rPr>
              <a:t>Active Directory </a:t>
            </a:r>
            <a:r>
              <a:rPr lang="en-US" sz="3200" i="1" dirty="0">
                <a:solidFill>
                  <a:schemeClr val="bg1"/>
                </a:solidFill>
                <a:effectLst>
                  <a:outerShdw blurRad="38100" dist="38100" dir="2700000" algn="tl">
                    <a:srgbClr val="000000">
                      <a:alpha val="43137"/>
                    </a:srgbClr>
                  </a:outerShdw>
                </a:effectLst>
                <a:latin typeface="Gotham Rounded Book"/>
                <a:cs typeface="Gotham Rounded Book"/>
              </a:rPr>
              <a:t>e Office 365</a:t>
            </a:r>
          </a:p>
          <a:p>
            <a:pPr algn="r"/>
            <a:endParaRPr lang="pt-BR" sz="2000" i="1" dirty="0" smtClean="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endParaRPr lang="pt-BR" sz="2000" dirty="0">
              <a:solidFill>
                <a:schemeClr val="bg1"/>
              </a:solidFill>
              <a:effectLst>
                <a:outerShdw blurRad="50800" dist="38100" dir="5400000" algn="t" rotWithShape="0">
                  <a:srgbClr val="C00000"/>
                </a:outerShdw>
              </a:effectLst>
              <a:cs typeface="Gotham Rounded Book"/>
            </a:endParaRPr>
          </a:p>
          <a:p>
            <a:pPr algn="r"/>
            <a:r>
              <a:rPr lang="pt-BR" sz="2000" dirty="0">
                <a:solidFill>
                  <a:schemeClr val="bg1"/>
                </a:solidFill>
                <a:effectLst>
                  <a:outerShdw blurRad="50800" dist="38100" dir="5400000" algn="t" rotWithShape="0">
                    <a:srgbClr val="C00000"/>
                  </a:outerShdw>
                </a:effectLst>
                <a:cs typeface="Gotham Rounded Book"/>
              </a:rPr>
              <a:t>Gerência de Infraestrutura </a:t>
            </a:r>
          </a:p>
          <a:p>
            <a:pPr algn="r"/>
            <a:r>
              <a:rPr lang="pt-BR" sz="2000" dirty="0">
                <a:solidFill>
                  <a:schemeClr val="bg1"/>
                </a:solidFill>
                <a:effectLst>
                  <a:outerShdw blurRad="50800" dist="38100" dir="5400000" algn="t" rotWithShape="0">
                    <a:srgbClr val="C00000"/>
                  </a:outerShdw>
                </a:effectLst>
                <a:cs typeface="Gotham Rounded Book"/>
              </a:rPr>
              <a:t>e Operações de TI</a:t>
            </a:r>
          </a:p>
          <a:p>
            <a:pPr algn="r"/>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algn="r"/>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algn="r"/>
            <a:r>
              <a:rPr lang="en-US" sz="1600" dirty="0">
                <a:solidFill>
                  <a:schemeClr val="bg1"/>
                </a:solidFill>
                <a:effectLst>
                  <a:outerShdw blurRad="50800" dist="38100" dir="5400000" algn="t" rotWithShape="0">
                    <a:srgbClr val="C00000"/>
                  </a:outerShdw>
                </a:effectLst>
                <a:latin typeface="Gotham Rounded Book"/>
                <a:cs typeface="Gotham Rounded Book"/>
              </a:rPr>
              <a:t>Agosto/2016</a:t>
            </a:r>
          </a:p>
          <a:p>
            <a:pPr algn="r"/>
            <a:r>
              <a:rPr lang="en-US" sz="1050" dirty="0" err="1">
                <a:solidFill>
                  <a:schemeClr val="bg1"/>
                </a:solidFill>
                <a:effectLst>
                  <a:outerShdw blurRad="50800" dist="38100" dir="5400000" algn="t" rotWithShape="0">
                    <a:srgbClr val="C00000"/>
                  </a:outerShdw>
                </a:effectLst>
                <a:latin typeface="Gotham Rounded Book"/>
                <a:cs typeface="Gotham Rounded Book"/>
              </a:rPr>
              <a:t>versão</a:t>
            </a:r>
            <a:r>
              <a:rPr lang="en-US" sz="1050" dirty="0">
                <a:solidFill>
                  <a:schemeClr val="bg1"/>
                </a:solidFill>
                <a:effectLst>
                  <a:outerShdw blurRad="50800" dist="38100" dir="5400000" algn="t" rotWithShape="0">
                    <a:srgbClr val="C00000"/>
                  </a:outerShdw>
                </a:effectLst>
                <a:latin typeface="Gotham Rounded Book"/>
                <a:cs typeface="Gotham Rounded Book"/>
              </a:rPr>
              <a:t> 1.0</a:t>
            </a:r>
          </a:p>
        </p:txBody>
      </p:sp>
      <p:pic>
        <p:nvPicPr>
          <p:cNvPr id="5" name="Imagem 4"/>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24585" y="4029095"/>
            <a:ext cx="1518363" cy="1518363"/>
          </a:xfrm>
          <a:prstGeom prst="rect">
            <a:avLst/>
          </a:prstGeom>
        </p:spPr>
      </p:pic>
      <p:sp>
        <p:nvSpPr>
          <p:cNvPr id="11" name="Espaço Reservado para Número de Slide 10"/>
          <p:cNvSpPr>
            <a:spLocks noGrp="1"/>
          </p:cNvSpPr>
          <p:nvPr>
            <p:ph type="sldNum" sz="quarter" idx="12"/>
          </p:nvPr>
        </p:nvSpPr>
        <p:spPr/>
        <p:txBody>
          <a:bodyPr/>
          <a:lstStyle/>
          <a:p>
            <a:fld id="{34FCF5E2-CCF2-BF49-B901-1F681CA77025}" type="slidenum">
              <a:rPr lang="en-US" smtClean="0"/>
              <a:pPr/>
              <a:t>1</a:t>
            </a:fld>
            <a:endParaRPr lang="en-US" dirty="0"/>
          </a:p>
        </p:txBody>
      </p:sp>
      <p:pic>
        <p:nvPicPr>
          <p:cNvPr id="8" name="Picture 2" descr="http://www.miami.edu/EE/images/uploads/it/logophotos/o365-logo.jpg"/>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68596" y="5317968"/>
            <a:ext cx="1491987" cy="149198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www.schudio.com/wp-content/uploads/2015/01/one-drive.png">
            <a:hlinkClick r:id="rId5" action="ppaction://hlinksldjump"/>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8885" y="4739611"/>
            <a:ext cx="823153" cy="68400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3" name="Picture 10" descr="http://www.buydata.me/uploads/1/2/7/5/12755838/2819640_orig.jpg"/>
          <p:cNvPicPr>
            <a:picLocks noChangeAspect="1" noChangeArrowheads="1"/>
          </p:cNvPicPr>
          <p:nvPr/>
        </p:nvPicPr>
        <p:blipFill>
          <a:blip r:embed="rId7">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8891678" y="4812721"/>
            <a:ext cx="955965" cy="684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2" descr="http://www.intycascade.com/media/medialibrary/2013/05/apps.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1791" y="5675474"/>
            <a:ext cx="1960494" cy="93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35993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3"/>
            <a:stretch>
              <a:fillRect/>
            </a:stretch>
          </p:blipFill>
          <p:spPr>
            <a:xfrm>
              <a:off x="8218106" y="129598"/>
              <a:ext cx="843390" cy="334448"/>
            </a:xfrm>
            <a:prstGeom prst="rect">
              <a:avLst/>
            </a:prstGeom>
          </p:spPr>
        </p:pic>
      </p:grpSp>
      <p:sp>
        <p:nvSpPr>
          <p:cNvPr id="23" name="Retângulo 22"/>
          <p:cNvSpPr/>
          <p:nvPr/>
        </p:nvSpPr>
        <p:spPr>
          <a:xfrm>
            <a:off x="186490" y="996287"/>
            <a:ext cx="5600161" cy="5262846"/>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t"/>
          <a:lstStyle/>
          <a:p>
            <a:pPr marL="180000" indent="360000" algn="just">
              <a:spcBef>
                <a:spcPts val="600"/>
              </a:spcBef>
              <a:spcAft>
                <a:spcPts val="1200"/>
              </a:spcAft>
              <a:buFont typeface="Wingdings" panose="05000000000000000000" pitchFamily="2" charset="2"/>
              <a:buChar char="q"/>
            </a:pPr>
            <a:endParaRPr lang="pt-BR" dirty="0" smtClean="0">
              <a:solidFill>
                <a:schemeClr val="tx1">
                  <a:lumMod val="95000"/>
                  <a:lumOff val="5000"/>
                </a:schemeClr>
              </a:solidFill>
            </a:endParaRPr>
          </a:p>
          <a:p>
            <a:pPr marL="180000" lvl="1" indent="360000" algn="just">
              <a:spcBef>
                <a:spcPts val="600"/>
              </a:spcBef>
              <a:spcAft>
                <a:spcPts val="600"/>
              </a:spcAft>
              <a:buFont typeface="Wingdings" panose="05000000000000000000" pitchFamily="2" charset="2"/>
              <a:buChar char="q"/>
            </a:pPr>
            <a:r>
              <a:rPr lang="pt-BR" dirty="0" smtClean="0">
                <a:solidFill>
                  <a:schemeClr val="tx1">
                    <a:lumMod val="95000"/>
                    <a:lumOff val="5000"/>
                  </a:schemeClr>
                </a:solidFill>
              </a:rPr>
              <a:t>Tendências </a:t>
            </a:r>
            <a:r>
              <a:rPr lang="pt-BR" dirty="0">
                <a:solidFill>
                  <a:schemeClr val="tx1">
                    <a:lumMod val="95000"/>
                    <a:lumOff val="5000"/>
                  </a:schemeClr>
                </a:solidFill>
              </a:rPr>
              <a:t>que impactam a nossa forma de trabalhar </a:t>
            </a:r>
            <a:endParaRPr lang="pt-BR" dirty="0" smtClean="0">
              <a:solidFill>
                <a:schemeClr val="tx1">
                  <a:lumMod val="95000"/>
                  <a:lumOff val="5000"/>
                </a:schemeClr>
              </a:solidFill>
            </a:endParaRPr>
          </a:p>
          <a:p>
            <a:pPr marL="180000" lvl="1" indent="360000" algn="just">
              <a:spcBef>
                <a:spcPts val="600"/>
              </a:spcBef>
              <a:spcAft>
                <a:spcPts val="600"/>
              </a:spcAft>
              <a:buFont typeface="Wingdings" panose="05000000000000000000" pitchFamily="2" charset="2"/>
              <a:buChar char="q"/>
            </a:pPr>
            <a:r>
              <a:rPr lang="pt-BR" i="1" dirty="0" err="1" smtClean="0">
                <a:solidFill>
                  <a:schemeClr val="tx1">
                    <a:lumMod val="95000"/>
                    <a:lumOff val="5000"/>
                  </a:schemeClr>
                </a:solidFill>
              </a:rPr>
              <a:t>RoadMap</a:t>
            </a:r>
            <a:endParaRPr lang="pt-BR" dirty="0">
              <a:solidFill>
                <a:schemeClr val="tx1">
                  <a:lumMod val="95000"/>
                  <a:lumOff val="5000"/>
                </a:schemeClr>
              </a:solidFill>
            </a:endParaRPr>
          </a:p>
          <a:p>
            <a:pPr marL="180000" lvl="1" indent="360000" algn="just">
              <a:spcBef>
                <a:spcPts val="600"/>
              </a:spcBef>
              <a:spcAft>
                <a:spcPts val="600"/>
              </a:spcAft>
              <a:buFont typeface="Wingdings" panose="05000000000000000000" pitchFamily="2" charset="2"/>
              <a:buChar char="q"/>
            </a:pPr>
            <a:r>
              <a:rPr lang="pt-BR" i="1" dirty="0" smtClean="0">
                <a:solidFill>
                  <a:schemeClr val="tx1">
                    <a:lumMod val="95000"/>
                    <a:lumOff val="5000"/>
                  </a:schemeClr>
                </a:solidFill>
              </a:rPr>
              <a:t>Visão Geral</a:t>
            </a:r>
          </a:p>
          <a:p>
            <a:pPr marL="637200" lvl="2" indent="360000" algn="just">
              <a:spcBef>
                <a:spcPts val="600"/>
              </a:spcBef>
              <a:spcAft>
                <a:spcPts val="600"/>
              </a:spcAft>
              <a:buFont typeface="Wingdings" panose="05000000000000000000" pitchFamily="2" charset="2"/>
              <a:buChar char="q"/>
            </a:pPr>
            <a:r>
              <a:rPr lang="pt-BR" sz="1600" dirty="0" smtClean="0">
                <a:solidFill>
                  <a:schemeClr val="tx1">
                    <a:lumMod val="95000"/>
                    <a:lumOff val="5000"/>
                  </a:schemeClr>
                </a:solidFill>
              </a:rPr>
              <a:t>OneDrive</a:t>
            </a:r>
          </a:p>
          <a:p>
            <a:pPr marL="637200" lvl="2" indent="360000" algn="just">
              <a:spcBef>
                <a:spcPts val="600"/>
              </a:spcBef>
              <a:spcAft>
                <a:spcPts val="600"/>
              </a:spcAft>
              <a:buFont typeface="Wingdings" panose="05000000000000000000" pitchFamily="2" charset="2"/>
              <a:buChar char="q"/>
            </a:pPr>
            <a:r>
              <a:rPr lang="pt-BR" sz="1600" dirty="0" smtClean="0">
                <a:solidFill>
                  <a:schemeClr val="tx1">
                    <a:lumMod val="95000"/>
                    <a:lumOff val="5000"/>
                  </a:schemeClr>
                </a:solidFill>
              </a:rPr>
              <a:t>SharePoint</a:t>
            </a:r>
          </a:p>
          <a:p>
            <a:pPr marL="637200" lvl="2" indent="360000" algn="just">
              <a:spcBef>
                <a:spcPts val="600"/>
              </a:spcBef>
              <a:spcAft>
                <a:spcPts val="600"/>
              </a:spcAft>
              <a:buFont typeface="Wingdings" panose="05000000000000000000" pitchFamily="2" charset="2"/>
              <a:buChar char="q"/>
            </a:pPr>
            <a:r>
              <a:rPr lang="pt-BR" sz="1600" dirty="0" smtClean="0">
                <a:solidFill>
                  <a:schemeClr val="tx1">
                    <a:lumMod val="95000"/>
                    <a:lumOff val="5000"/>
                  </a:schemeClr>
                </a:solidFill>
              </a:rPr>
              <a:t>Outlook</a:t>
            </a:r>
          </a:p>
          <a:p>
            <a:pPr marL="637200" lvl="2" indent="360000" algn="just">
              <a:spcBef>
                <a:spcPts val="600"/>
              </a:spcBef>
              <a:spcAft>
                <a:spcPts val="600"/>
              </a:spcAft>
              <a:buFont typeface="Wingdings" panose="05000000000000000000" pitchFamily="2" charset="2"/>
              <a:buChar char="q"/>
            </a:pPr>
            <a:r>
              <a:rPr lang="pt-BR" sz="1600" dirty="0" smtClean="0">
                <a:solidFill>
                  <a:schemeClr val="tx1">
                    <a:lumMod val="95000"/>
                    <a:lumOff val="5000"/>
                  </a:schemeClr>
                </a:solidFill>
              </a:rPr>
              <a:t>Word</a:t>
            </a:r>
          </a:p>
          <a:p>
            <a:pPr marL="637200" lvl="2" indent="360000" algn="just">
              <a:spcBef>
                <a:spcPts val="600"/>
              </a:spcBef>
              <a:spcAft>
                <a:spcPts val="600"/>
              </a:spcAft>
              <a:buFont typeface="Wingdings" panose="05000000000000000000" pitchFamily="2" charset="2"/>
              <a:buChar char="q"/>
            </a:pPr>
            <a:r>
              <a:rPr lang="pt-BR" sz="1600" dirty="0" smtClean="0">
                <a:solidFill>
                  <a:schemeClr val="tx1">
                    <a:lumMod val="95000"/>
                    <a:lumOff val="5000"/>
                  </a:schemeClr>
                </a:solidFill>
              </a:rPr>
              <a:t>Power Point</a:t>
            </a:r>
          </a:p>
          <a:p>
            <a:pPr marL="637200" lvl="2" indent="360000" algn="just">
              <a:spcBef>
                <a:spcPts val="600"/>
              </a:spcBef>
              <a:spcAft>
                <a:spcPts val="600"/>
              </a:spcAft>
              <a:buFont typeface="Wingdings" panose="05000000000000000000" pitchFamily="2" charset="2"/>
              <a:buChar char="q"/>
            </a:pPr>
            <a:r>
              <a:rPr lang="pt-BR" sz="1600" dirty="0" smtClean="0">
                <a:solidFill>
                  <a:schemeClr val="tx1">
                    <a:lumMod val="95000"/>
                    <a:lumOff val="5000"/>
                  </a:schemeClr>
                </a:solidFill>
              </a:rPr>
              <a:t>Excel</a:t>
            </a:r>
            <a:endParaRPr lang="pt-BR" sz="1600" dirty="0">
              <a:solidFill>
                <a:schemeClr val="tx1">
                  <a:lumMod val="95000"/>
                  <a:lumOff val="5000"/>
                </a:schemeClr>
              </a:solidFill>
            </a:endParaRPr>
          </a:p>
        </p:txBody>
      </p:sp>
      <p:sp>
        <p:nvSpPr>
          <p:cNvPr id="8" name="TextBox 8"/>
          <p:cNvSpPr txBox="1"/>
          <p:nvPr/>
        </p:nvSpPr>
        <p:spPr>
          <a:xfrm>
            <a:off x="2328020" y="92680"/>
            <a:ext cx="5461099"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Sumário</a:t>
            </a:r>
          </a:p>
        </p:txBody>
      </p:sp>
      <p:pic>
        <p:nvPicPr>
          <p:cNvPr id="1026" name="Picture 2" descr="http://www.camarasarapui.sp.gov.br/wp-content/uploads/2016/06/47ED4EBA-A80D-DBEE-DBAE-C2AE66C403E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2030" y="2028853"/>
            <a:ext cx="2945642" cy="2945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60205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6686" y="942986"/>
            <a:ext cx="8708571" cy="384373"/>
          </a:xfrm>
          <a:prstGeom prst="rect">
            <a:avLst/>
          </a:prstGeom>
        </p:spPr>
        <p:txBody>
          <a:bodyPr wrap="square" lIns="75848" tIns="37928" rIns="75848" bIns="37928">
            <a:spAutoFit/>
          </a:bodyPr>
          <a:lstStyle/>
          <a:p>
            <a:pPr defTabSz="758379"/>
            <a:r>
              <a:rPr lang="pt-BR" sz="2000" b="1" spc="-83" dirty="0">
                <a:ln w="3175">
                  <a:noFill/>
                </a:ln>
                <a:solidFill>
                  <a:schemeClr val="accent6"/>
                </a:solidFill>
                <a:cs typeface="Lucida Sans Unicode" panose="020B0602030504020204" pitchFamily="34" charset="0"/>
              </a:rPr>
              <a:t>Tendências que impactam a nossa forma de </a:t>
            </a:r>
            <a:r>
              <a:rPr lang="pt-BR" sz="2000" b="1" spc="-83" dirty="0" smtClean="0">
                <a:ln w="3175">
                  <a:noFill/>
                </a:ln>
                <a:solidFill>
                  <a:schemeClr val="accent6"/>
                </a:solidFill>
                <a:cs typeface="Lucida Sans Unicode" panose="020B0602030504020204" pitchFamily="34" charset="0"/>
              </a:rPr>
              <a:t>trabalhar !!!</a:t>
            </a:r>
            <a:endParaRPr lang="en-US" sz="2000" b="1" spc="-83" dirty="0">
              <a:ln w="3175">
                <a:noFill/>
              </a:ln>
              <a:solidFill>
                <a:schemeClr val="accent6"/>
              </a:solidFill>
              <a:cs typeface="Lucida Sans Unicode" panose="020B0602030504020204" pitchFamily="34" charset="0"/>
            </a:endParaRPr>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15" name="Picture 5"/>
          <p:cNvPicPr>
            <a:picLocks noChangeAspect="1"/>
          </p:cNvPicPr>
          <p:nvPr/>
        </p:nvPicPr>
        <p:blipFill>
          <a:blip r:embed="rId3"/>
          <a:stretch>
            <a:fillRect/>
          </a:stretch>
        </p:blipFill>
        <p:spPr>
          <a:xfrm>
            <a:off x="9092707" y="129598"/>
            <a:ext cx="933147" cy="334448"/>
          </a:xfrm>
          <a:prstGeom prst="rect">
            <a:avLst/>
          </a:prstGeom>
        </p:spPr>
      </p:pic>
      <p:grpSp>
        <p:nvGrpSpPr>
          <p:cNvPr id="14" name="Group 4"/>
          <p:cNvGrpSpPr/>
          <p:nvPr/>
        </p:nvGrpSpPr>
        <p:grpSpPr>
          <a:xfrm>
            <a:off x="136133" y="2135323"/>
            <a:ext cx="2880000" cy="4241791"/>
            <a:chOff x="435149" y="1516385"/>
            <a:chExt cx="3588433" cy="4242344"/>
          </a:xfrm>
        </p:grpSpPr>
        <p:sp>
          <p:nvSpPr>
            <p:cNvPr id="17" name="Rectangle 18"/>
            <p:cNvSpPr/>
            <p:nvPr/>
          </p:nvSpPr>
          <p:spPr>
            <a:xfrm>
              <a:off x="488938" y="1516385"/>
              <a:ext cx="3453088" cy="430943"/>
            </a:xfrm>
            <a:prstGeom prst="rect">
              <a:avLst/>
            </a:prstGeom>
          </p:spPr>
          <p:txBody>
            <a:bodyPr wrap="square" lIns="0" tIns="0" rIns="0" bIns="0">
              <a:spAutoFit/>
            </a:bodyPr>
            <a:lstStyle/>
            <a:p>
              <a:pPr algn="ctr" defTabSz="1218814"/>
              <a:r>
                <a:rPr lang="en-US" sz="2800" dirty="0" err="1">
                  <a:solidFill>
                    <a:srgbClr val="EB3C00">
                      <a:alpha val="99000"/>
                    </a:srgbClr>
                  </a:solidFill>
                </a:rPr>
                <a:t>Dispositivos</a:t>
              </a:r>
              <a:endParaRPr lang="en-US" sz="2800" dirty="0">
                <a:solidFill>
                  <a:srgbClr val="EB3C00">
                    <a:alpha val="99000"/>
                  </a:srgbClr>
                </a:solidFill>
              </a:endParaRPr>
            </a:p>
          </p:txBody>
        </p:sp>
        <p:sp>
          <p:nvSpPr>
            <p:cNvPr id="18" name="Rectangle 26"/>
            <p:cNvSpPr/>
            <p:nvPr/>
          </p:nvSpPr>
          <p:spPr>
            <a:xfrm>
              <a:off x="435149" y="3706190"/>
              <a:ext cx="3534644"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1</a:t>
              </a:r>
              <a:r>
                <a:rPr lang="en-US" sz="3600" spc="-200" dirty="0">
                  <a:ln w="3175">
                    <a:noFill/>
                  </a:ln>
                  <a:solidFill>
                    <a:srgbClr val="000000">
                      <a:lumMod val="65000"/>
                      <a:lumOff val="35000"/>
                    </a:srgbClr>
                  </a:solidFill>
                  <a:cs typeface="Arial" charset="0"/>
                </a:rPr>
                <a:t> </a:t>
              </a:r>
              <a:r>
                <a:rPr lang="en-US" sz="4000" spc="-200" dirty="0" err="1">
                  <a:ln w="3175">
                    <a:noFill/>
                  </a:ln>
                  <a:solidFill>
                    <a:srgbClr val="000000">
                      <a:lumMod val="65000"/>
                      <a:lumOff val="35000"/>
                    </a:srgbClr>
                  </a:solidFill>
                  <a:cs typeface="Arial" charset="0"/>
                </a:rPr>
                <a:t>bilhão</a:t>
              </a:r>
              <a:endParaRPr lang="en-US" sz="7200" spc="-200" dirty="0">
                <a:ln w="3175">
                  <a:noFill/>
                </a:ln>
                <a:solidFill>
                  <a:srgbClr val="000000">
                    <a:lumMod val="65000"/>
                    <a:lumOff val="35000"/>
                  </a:srgbClr>
                </a:solidFill>
                <a:cs typeface="Arial" charset="0"/>
              </a:endParaRPr>
            </a:p>
          </p:txBody>
        </p:sp>
        <p:grpSp>
          <p:nvGrpSpPr>
            <p:cNvPr id="20" name="Group 8"/>
            <p:cNvGrpSpPr/>
            <p:nvPr/>
          </p:nvGrpSpPr>
          <p:grpSpPr>
            <a:xfrm>
              <a:off x="488824" y="2113978"/>
              <a:ext cx="3534758" cy="1500589"/>
              <a:chOff x="366713" y="1585482"/>
              <a:chExt cx="2651760" cy="1125442"/>
            </a:xfrm>
          </p:grpSpPr>
          <p:sp>
            <p:nvSpPr>
              <p:cNvPr id="23" name="Rectangle 41"/>
              <p:cNvSpPr/>
              <p:nvPr/>
            </p:nvSpPr>
            <p:spPr>
              <a:xfrm>
                <a:off x="366713" y="1585482"/>
                <a:ext cx="2651760" cy="1125442"/>
              </a:xfrm>
              <a:prstGeom prst="rect">
                <a:avLst/>
              </a:prstGeom>
              <a:solidFill>
                <a:schemeClr val="bg1">
                  <a:lumMod val="95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defTabSz="1218814"/>
                <a:endParaRPr lang="en-US" sz="1400">
                  <a:solidFill>
                    <a:prstClr val="white"/>
                  </a:solidFill>
                </a:endParaRPr>
              </a:p>
            </p:txBody>
          </p:sp>
          <p:pic>
            <p:nvPicPr>
              <p:cNvPr id="24" name="Picture 3"/>
              <p:cNvPicPr>
                <a:picLocks noChangeAspect="1" noChangeArrowheads="1"/>
              </p:cNvPicPr>
              <p:nvPr/>
            </p:nvPicPr>
            <p:blipFill rotWithShape="1">
              <a:blip r:embed="rId4" cstate="email">
                <a:extLst>
                  <a:ext uri="{28A0092B-C50C-407E-A947-70E740481C1C}">
                    <a14:useLocalDpi xmlns:a14="http://schemas.microsoft.com/office/drawing/2010/main" val="0"/>
                  </a:ext>
                </a:extLst>
              </a:blip>
              <a:stretch/>
            </p:blipFill>
            <p:spPr bwMode="auto">
              <a:xfrm>
                <a:off x="1951451" y="1851117"/>
                <a:ext cx="1005840" cy="647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4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3546" y="1871449"/>
                <a:ext cx="365760" cy="578940"/>
              </a:xfrm>
              <a:prstGeom prst="rect">
                <a:avLst/>
              </a:prstGeom>
            </p:spPr>
          </p:pic>
          <p:grpSp>
            <p:nvGrpSpPr>
              <p:cNvPr id="26" name="Group 7"/>
              <p:cNvGrpSpPr/>
              <p:nvPr/>
            </p:nvGrpSpPr>
            <p:grpSpPr>
              <a:xfrm>
                <a:off x="945833" y="1787841"/>
                <a:ext cx="1234440" cy="720726"/>
                <a:chOff x="1010608" y="1787841"/>
                <a:chExt cx="1234440" cy="720726"/>
              </a:xfrm>
            </p:grpSpPr>
            <p:pic>
              <p:nvPicPr>
                <p:cNvPr id="27" name="Picture 51"/>
                <p:cNvPicPr>
                  <a:picLocks noChangeAspect="1"/>
                </p:cNvPicPr>
                <p:nvPr/>
              </p:nvPicPr>
              <p:blipFill rotWithShape="1">
                <a:blip r:embed="rId6" cstate="print">
                  <a:extLst>
                    <a:ext uri="{28A0092B-C50C-407E-A947-70E740481C1C}">
                      <a14:useLocalDpi xmlns:a14="http://schemas.microsoft.com/office/drawing/2010/main" val="0"/>
                    </a:ext>
                  </a:extLst>
                </a:blip>
                <a:srcRect t="7638" b="12231"/>
                <a:stretch/>
              </p:blipFill>
              <p:spPr>
                <a:xfrm>
                  <a:off x="1010608" y="1787841"/>
                  <a:ext cx="1234440" cy="720726"/>
                </a:xfrm>
                <a:prstGeom prst="rect">
                  <a:avLst/>
                </a:prstGeom>
                <a:noFill/>
                <a:ln>
                  <a:noFill/>
                </a:ln>
              </p:spPr>
            </p:pic>
            <p:pic>
              <p:nvPicPr>
                <p:cNvPr id="28" name="Picture 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2" b="1954"/>
                <a:stretch/>
              </p:blipFill>
              <p:spPr bwMode="auto">
                <a:xfrm>
                  <a:off x="1215923" y="1843900"/>
                  <a:ext cx="822960" cy="45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21" name="Rectangle 2"/>
            <p:cNvSpPr/>
            <p:nvPr/>
          </p:nvSpPr>
          <p:spPr>
            <a:xfrm>
              <a:off x="478066" y="4650589"/>
              <a:ext cx="3237787" cy="1108140"/>
            </a:xfrm>
            <a:prstGeom prst="rect">
              <a:avLst/>
            </a:prstGeom>
          </p:spPr>
          <p:txBody>
            <a:bodyPr wrap="square" lIns="182856" tIns="0" bIns="0">
              <a:spAutoFit/>
            </a:bodyPr>
            <a:lstStyle/>
            <a:p>
              <a:pPr algn="ctr" defTabSz="1949444" fontAlgn="base">
                <a:spcBef>
                  <a:spcPct val="0"/>
                </a:spcBef>
                <a:spcAft>
                  <a:spcPct val="0"/>
                </a:spcAft>
              </a:pPr>
              <a:r>
                <a:rPr lang="en-US" dirty="0">
                  <a:solidFill>
                    <a:prstClr val="black">
                      <a:lumMod val="65000"/>
                      <a:lumOff val="35000"/>
                    </a:prstClr>
                  </a:solidFill>
                </a:rPr>
                <a:t>de</a:t>
              </a:r>
              <a:r>
                <a:rPr lang="en-US" dirty="0">
                  <a:solidFill>
                    <a:prstClr val="black">
                      <a:lumMod val="65000"/>
                      <a:lumOff val="35000"/>
                    </a:prstClr>
                  </a:solidFill>
                  <a:cs typeface="Segoe UI Semibold" pitchFamily="34" charset="0"/>
                </a:rPr>
                <a:t> smartphones</a:t>
              </a:r>
              <a:r>
                <a:rPr lang="en-US" dirty="0">
                  <a:solidFill>
                    <a:prstClr val="black">
                      <a:lumMod val="65000"/>
                      <a:lumOff val="35000"/>
                    </a:prstClr>
                  </a:solidFill>
                </a:rPr>
                <a:t> </a:t>
              </a:r>
              <a:r>
                <a:rPr lang="pt-BR" dirty="0">
                  <a:solidFill>
                    <a:prstClr val="black">
                      <a:lumMod val="65000"/>
                      <a:lumOff val="35000"/>
                    </a:prstClr>
                  </a:solidFill>
                </a:rPr>
                <a:t>até 2016, 350 milhões de pessoas usando-os no trabalho</a:t>
              </a:r>
              <a:endParaRPr lang="en-US" dirty="0">
                <a:solidFill>
                  <a:prstClr val="black">
                    <a:lumMod val="65000"/>
                    <a:lumOff val="35000"/>
                  </a:prstClr>
                </a:solidFill>
                <a:ea typeface="Segoe UI" pitchFamily="34" charset="0"/>
                <a:cs typeface="Segoe UI" pitchFamily="34" charset="0"/>
              </a:endParaRPr>
            </a:p>
          </p:txBody>
        </p:sp>
      </p:grpSp>
      <p:grpSp>
        <p:nvGrpSpPr>
          <p:cNvPr id="30" name="Group 6"/>
          <p:cNvGrpSpPr/>
          <p:nvPr/>
        </p:nvGrpSpPr>
        <p:grpSpPr>
          <a:xfrm>
            <a:off x="3611707" y="2135318"/>
            <a:ext cx="2880000" cy="3687793"/>
            <a:chOff x="4172467" y="1516385"/>
            <a:chExt cx="3534876" cy="3688273"/>
          </a:xfrm>
        </p:grpSpPr>
        <p:pic>
          <p:nvPicPr>
            <p:cNvPr id="31" name="Picture 4" descr="C:\Users\v-junyo\Documents\Jun_Mesh\Microsoft Files\DesignTools\Brand Photos\Windows 7\Commercial\COMMERCIAL\WIN12_Claudia_04.png"/>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p:blipFill>
          <p:spPr bwMode="auto">
            <a:xfrm>
              <a:off x="4172467" y="2113980"/>
              <a:ext cx="3534757" cy="1500589"/>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19"/>
            <p:cNvSpPr/>
            <p:nvPr/>
          </p:nvSpPr>
          <p:spPr>
            <a:xfrm>
              <a:off x="4172584" y="1516385"/>
              <a:ext cx="3534640" cy="430943"/>
            </a:xfrm>
            <a:prstGeom prst="rect">
              <a:avLst/>
            </a:prstGeom>
          </p:spPr>
          <p:txBody>
            <a:bodyPr wrap="square" lIns="0" tIns="0" rIns="0" bIns="0">
              <a:spAutoFit/>
            </a:bodyPr>
            <a:lstStyle/>
            <a:p>
              <a:pPr algn="ctr" defTabSz="1218814"/>
              <a:r>
                <a:rPr lang="en-US" sz="2800" dirty="0" err="1">
                  <a:solidFill>
                    <a:srgbClr val="EB3C00">
                      <a:alpha val="99000"/>
                    </a:srgbClr>
                  </a:solidFill>
                </a:rPr>
                <a:t>Pessoas</a:t>
              </a:r>
              <a:endParaRPr lang="en-US" sz="2800" dirty="0">
                <a:solidFill>
                  <a:srgbClr val="EB3C00">
                    <a:alpha val="99000"/>
                  </a:srgbClr>
                </a:solidFill>
              </a:endParaRPr>
            </a:p>
          </p:txBody>
        </p:sp>
        <p:sp>
          <p:nvSpPr>
            <p:cNvPr id="33" name="Rectangle 28"/>
            <p:cNvSpPr/>
            <p:nvPr/>
          </p:nvSpPr>
          <p:spPr>
            <a:xfrm>
              <a:off x="4172467" y="3706190"/>
              <a:ext cx="3534757"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82</a:t>
              </a:r>
              <a:r>
                <a:rPr lang="en-US" sz="4000" spc="-200" dirty="0" smtClean="0">
                  <a:ln w="3175">
                    <a:noFill/>
                  </a:ln>
                  <a:solidFill>
                    <a:srgbClr val="000000">
                      <a:lumMod val="65000"/>
                      <a:lumOff val="35000"/>
                    </a:srgbClr>
                  </a:solidFill>
                  <a:cs typeface="Arial" charset="0"/>
                </a:rPr>
                <a:t>% </a:t>
              </a:r>
              <a:endParaRPr lang="en-US" sz="5400" spc="800" dirty="0">
                <a:ln w="3175">
                  <a:noFill/>
                </a:ln>
                <a:solidFill>
                  <a:srgbClr val="000000">
                    <a:lumMod val="65000"/>
                    <a:lumOff val="35000"/>
                  </a:srgbClr>
                </a:solidFill>
                <a:cs typeface="Arial" charset="0"/>
              </a:endParaRPr>
            </a:p>
          </p:txBody>
        </p:sp>
        <p:sp>
          <p:nvSpPr>
            <p:cNvPr id="34" name="Rectangle 5"/>
            <p:cNvSpPr/>
            <p:nvPr/>
          </p:nvSpPr>
          <p:spPr>
            <a:xfrm>
              <a:off x="4192924" y="4650588"/>
              <a:ext cx="3514419" cy="554070"/>
            </a:xfrm>
            <a:prstGeom prst="rect">
              <a:avLst/>
            </a:prstGeom>
          </p:spPr>
          <p:txBody>
            <a:bodyPr wrap="square" lIns="182856" tIns="0" rIns="0" bIns="0">
              <a:spAutoFit/>
            </a:bodyPr>
            <a:lstStyle/>
            <a:p>
              <a:pPr algn="ctr" defTabSz="1949444" fontAlgn="base">
                <a:spcBef>
                  <a:spcPct val="0"/>
                </a:spcBef>
                <a:spcAft>
                  <a:spcPct val="0"/>
                </a:spcAft>
              </a:pPr>
              <a:r>
                <a:rPr lang="pt-BR" dirty="0">
                  <a:solidFill>
                    <a:prstClr val="black">
                      <a:lumMod val="65000"/>
                      <a:lumOff val="35000"/>
                    </a:prstClr>
                  </a:solidFill>
                  <a:ea typeface="Segoe UI" pitchFamily="34" charset="0"/>
                  <a:cs typeface="Segoe UI" pitchFamily="34" charset="0"/>
                </a:rPr>
                <a:t>da população online do mundo usando </a:t>
              </a:r>
              <a:r>
                <a:rPr lang="en-US" dirty="0" err="1">
                  <a:solidFill>
                    <a:prstClr val="black">
                      <a:lumMod val="65000"/>
                      <a:lumOff val="35000"/>
                    </a:prstClr>
                  </a:solidFill>
                  <a:cs typeface="Segoe UI Semibold" pitchFamily="34" charset="0"/>
                </a:rPr>
                <a:t>redes</a:t>
              </a:r>
              <a:r>
                <a:rPr lang="en-US" dirty="0">
                  <a:solidFill>
                    <a:prstClr val="black">
                      <a:lumMod val="65000"/>
                      <a:lumOff val="35000"/>
                    </a:prstClr>
                  </a:solidFill>
                  <a:cs typeface="Segoe UI Semibold" pitchFamily="34" charset="0"/>
                </a:rPr>
                <a:t> </a:t>
              </a:r>
              <a:r>
                <a:rPr lang="en-US" dirty="0" err="1">
                  <a:solidFill>
                    <a:prstClr val="black">
                      <a:lumMod val="65000"/>
                      <a:lumOff val="35000"/>
                    </a:prstClr>
                  </a:solidFill>
                  <a:cs typeface="Segoe UI Semibold" pitchFamily="34" charset="0"/>
                </a:rPr>
                <a:t>sociais</a:t>
              </a:r>
              <a:endParaRPr lang="en-US" dirty="0">
                <a:solidFill>
                  <a:prstClr val="black">
                    <a:lumMod val="65000"/>
                    <a:lumOff val="35000"/>
                  </a:prstClr>
                </a:solidFill>
                <a:cs typeface="Segoe UI Semibold" pitchFamily="34" charset="0"/>
              </a:endParaRPr>
            </a:p>
          </p:txBody>
        </p:sp>
      </p:grpSp>
      <p:grpSp>
        <p:nvGrpSpPr>
          <p:cNvPr id="35" name="Group 1"/>
          <p:cNvGrpSpPr/>
          <p:nvPr/>
        </p:nvGrpSpPr>
        <p:grpSpPr>
          <a:xfrm>
            <a:off x="7033741" y="2135323"/>
            <a:ext cx="2880000" cy="3994479"/>
            <a:chOff x="7992708" y="1516385"/>
            <a:chExt cx="3534759" cy="3994999"/>
          </a:xfrm>
        </p:grpSpPr>
        <p:pic>
          <p:nvPicPr>
            <p:cNvPr id="36" name="Picture 2" descr="\\sfp\Public\Mitchell\iStock_000008114474Medium.jpg"/>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a:stretch/>
          </p:blipFill>
          <p:spPr bwMode="auto">
            <a:xfrm>
              <a:off x="7992708" y="2113979"/>
              <a:ext cx="3534759" cy="1500587"/>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Group 14"/>
            <p:cNvGrpSpPr/>
            <p:nvPr/>
          </p:nvGrpSpPr>
          <p:grpSpPr>
            <a:xfrm>
              <a:off x="7992708" y="1516385"/>
              <a:ext cx="3534759" cy="3994999"/>
              <a:chOff x="7856228" y="1516385"/>
              <a:chExt cx="3534759" cy="3994999"/>
            </a:xfrm>
          </p:grpSpPr>
          <p:sp>
            <p:nvSpPr>
              <p:cNvPr id="38" name="Rectangle 22"/>
              <p:cNvSpPr/>
              <p:nvPr/>
            </p:nvSpPr>
            <p:spPr>
              <a:xfrm>
                <a:off x="7856228" y="1516385"/>
                <a:ext cx="3534759" cy="430943"/>
              </a:xfrm>
              <a:prstGeom prst="rect">
                <a:avLst/>
              </a:prstGeom>
            </p:spPr>
            <p:txBody>
              <a:bodyPr wrap="square" lIns="0" tIns="0" rIns="0" bIns="0">
                <a:spAutoFit/>
              </a:bodyPr>
              <a:lstStyle/>
              <a:p>
                <a:pPr algn="ctr" defTabSz="1218814"/>
                <a:r>
                  <a:rPr lang="en-US" sz="2800" dirty="0" err="1">
                    <a:solidFill>
                      <a:srgbClr val="EB3C00">
                        <a:alpha val="99000"/>
                      </a:srgbClr>
                    </a:solidFill>
                  </a:rPr>
                  <a:t>Nuvem</a:t>
                </a:r>
                <a:endParaRPr lang="en-US" sz="2800" dirty="0">
                  <a:solidFill>
                    <a:srgbClr val="EB3C00">
                      <a:alpha val="99000"/>
                    </a:srgbClr>
                  </a:solidFill>
                </a:endParaRPr>
              </a:p>
            </p:txBody>
          </p:sp>
          <p:sp>
            <p:nvSpPr>
              <p:cNvPr id="39" name="Rectangle 31"/>
              <p:cNvSpPr/>
              <p:nvPr/>
            </p:nvSpPr>
            <p:spPr>
              <a:xfrm>
                <a:off x="7920417" y="3706190"/>
                <a:ext cx="2388241" cy="831105"/>
              </a:xfrm>
              <a:prstGeom prst="rect">
                <a:avLst/>
              </a:prstGeom>
            </p:spPr>
            <p:txBody>
              <a:bodyPr wrap="square" lIns="182856" tIns="0" rIns="0" bIns="0">
                <a:spAutoFit/>
              </a:bodyPr>
              <a:lstStyle/>
              <a:p>
                <a:pPr algn="ctr" defTabSz="1949444" fontAlgn="base">
                  <a:spcBef>
                    <a:spcPct val="0"/>
                  </a:spcBef>
                  <a:spcAft>
                    <a:spcPct val="0"/>
                  </a:spcAft>
                </a:pPr>
                <a:r>
                  <a:rPr lang="en-US" sz="5400" b="1" spc="-200" dirty="0">
                    <a:ln w="3175">
                      <a:noFill/>
                    </a:ln>
                    <a:solidFill>
                      <a:srgbClr val="000000">
                        <a:lumMod val="65000"/>
                        <a:lumOff val="35000"/>
                      </a:srgbClr>
                    </a:solidFill>
                    <a:cs typeface="Arial" charset="0"/>
                  </a:rPr>
                  <a:t>50</a:t>
                </a:r>
                <a:r>
                  <a:rPr lang="en-US" sz="4000" spc="-200" dirty="0">
                    <a:ln w="3175">
                      <a:noFill/>
                    </a:ln>
                    <a:solidFill>
                      <a:srgbClr val="000000">
                        <a:lumMod val="65000"/>
                        <a:lumOff val="35000"/>
                      </a:srgbClr>
                    </a:solidFill>
                    <a:cs typeface="Arial" charset="0"/>
                  </a:rPr>
                  <a:t>%</a:t>
                </a:r>
                <a:endParaRPr lang="en-US" sz="4400" spc="-400" dirty="0">
                  <a:ln w="3175">
                    <a:noFill/>
                  </a:ln>
                  <a:solidFill>
                    <a:srgbClr val="000000">
                      <a:lumMod val="65000"/>
                      <a:lumOff val="35000"/>
                    </a:srgbClr>
                  </a:solidFill>
                  <a:cs typeface="Arial" charset="0"/>
                </a:endParaRPr>
              </a:p>
            </p:txBody>
          </p:sp>
          <p:sp>
            <p:nvSpPr>
              <p:cNvPr id="40" name="Rectangle 13"/>
              <p:cNvSpPr/>
              <p:nvPr/>
            </p:nvSpPr>
            <p:spPr>
              <a:xfrm>
                <a:off x="7941359" y="4680279"/>
                <a:ext cx="3140494" cy="831105"/>
              </a:xfrm>
              <a:prstGeom prst="rect">
                <a:avLst/>
              </a:prstGeom>
            </p:spPr>
            <p:txBody>
              <a:bodyPr wrap="square" lIns="182856" tIns="0" rIns="0" bIns="0">
                <a:spAutoFit/>
              </a:bodyPr>
              <a:lstStyle/>
              <a:p>
                <a:pPr algn="ctr" defTabSz="1949444" fontAlgn="base">
                  <a:spcBef>
                    <a:spcPct val="0"/>
                  </a:spcBef>
                  <a:spcAft>
                    <a:spcPct val="0"/>
                  </a:spcAft>
                </a:pPr>
                <a:r>
                  <a:rPr lang="en-US" dirty="0">
                    <a:solidFill>
                      <a:prstClr val="black">
                        <a:lumMod val="65000"/>
                        <a:lumOff val="35000"/>
                      </a:prstClr>
                    </a:solidFill>
                    <a:ea typeface="Segoe UI" pitchFamily="34" charset="0"/>
                    <a:cs typeface="Segoe UI" pitchFamily="34" charset="0"/>
                  </a:rPr>
                  <a:t>de </a:t>
                </a:r>
                <a:r>
                  <a:rPr lang="en-US" dirty="0" err="1">
                    <a:solidFill>
                      <a:prstClr val="black">
                        <a:lumMod val="65000"/>
                        <a:lumOff val="35000"/>
                      </a:prstClr>
                    </a:solidFill>
                    <a:ea typeface="Segoe UI" pitchFamily="34" charset="0"/>
                    <a:cs typeface="Segoe UI" pitchFamily="34" charset="0"/>
                  </a:rPr>
                  <a:t>clientes</a:t>
                </a:r>
                <a:r>
                  <a:rPr lang="en-US" dirty="0">
                    <a:solidFill>
                      <a:prstClr val="black">
                        <a:lumMod val="65000"/>
                        <a:lumOff val="35000"/>
                      </a:prstClr>
                    </a:solidFill>
                    <a:ea typeface="Segoe UI" pitchFamily="34" charset="0"/>
                    <a:cs typeface="Segoe UI" pitchFamily="34" charset="0"/>
                  </a:rPr>
                  <a:t> </a:t>
                </a:r>
                <a:r>
                  <a:rPr lang="en-US" dirty="0" err="1">
                    <a:solidFill>
                      <a:prstClr val="black">
                        <a:lumMod val="65000"/>
                        <a:lumOff val="35000"/>
                      </a:prstClr>
                    </a:solidFill>
                    <a:ea typeface="Segoe UI" pitchFamily="34" charset="0"/>
                    <a:cs typeface="Segoe UI" pitchFamily="34" charset="0"/>
                  </a:rPr>
                  <a:t>corporativos</a:t>
                </a:r>
                <a:r>
                  <a:rPr lang="en-US" dirty="0">
                    <a:solidFill>
                      <a:prstClr val="black">
                        <a:lumMod val="65000"/>
                        <a:lumOff val="35000"/>
                      </a:prstClr>
                    </a:solidFill>
                    <a:ea typeface="Segoe UI" pitchFamily="34" charset="0"/>
                    <a:cs typeface="Segoe UI" pitchFamily="34" charset="0"/>
                  </a:rPr>
                  <a:t> </a:t>
                </a:r>
                <a:r>
                  <a:rPr lang="en-US" dirty="0" err="1">
                    <a:solidFill>
                      <a:prstClr val="black">
                        <a:lumMod val="65000"/>
                        <a:lumOff val="35000"/>
                      </a:prstClr>
                    </a:solidFill>
                    <a:ea typeface="Segoe UI" pitchFamily="34" charset="0"/>
                    <a:cs typeface="Segoe UI" pitchFamily="34" charset="0"/>
                  </a:rPr>
                  <a:t>estão</a:t>
                </a:r>
                <a:r>
                  <a:rPr lang="en-US" dirty="0">
                    <a:solidFill>
                      <a:prstClr val="black">
                        <a:lumMod val="65000"/>
                        <a:lumOff val="35000"/>
                      </a:prstClr>
                    </a:solidFill>
                    <a:ea typeface="Segoe UI" pitchFamily="34" charset="0"/>
                    <a:cs typeface="Segoe UI" pitchFamily="34" charset="0"/>
                  </a:rPr>
                  <a:t> </a:t>
                </a:r>
                <a:r>
                  <a:rPr lang="en-US" b="1" dirty="0">
                    <a:solidFill>
                      <a:prstClr val="black">
                        <a:lumMod val="65000"/>
                        <a:lumOff val="35000"/>
                      </a:prstClr>
                    </a:solidFill>
                    <a:ea typeface="Segoe UI" pitchFamily="34" charset="0"/>
                    <a:cs typeface="Segoe UI" pitchFamily="34" charset="0"/>
                  </a:rPr>
                  <a:t>“</a:t>
                </a:r>
                <a:r>
                  <a:rPr lang="en-US" dirty="0">
                    <a:solidFill>
                      <a:prstClr val="black">
                        <a:lumMod val="65000"/>
                        <a:lumOff val="35000"/>
                      </a:prstClr>
                    </a:solidFill>
                    <a:ea typeface="Segoe UI" pitchFamily="34" charset="0"/>
                    <a:cs typeface="Segoe UI" pitchFamily="34" charset="0"/>
                  </a:rPr>
                  <a:t>n</a:t>
                </a:r>
                <a:r>
                  <a:rPr lang="en-US" dirty="0">
                    <a:solidFill>
                      <a:prstClr val="black">
                        <a:lumMod val="65000"/>
                        <a:lumOff val="35000"/>
                      </a:prstClr>
                    </a:solidFill>
                    <a:ea typeface="Segoe UI" pitchFamily="34" charset="0"/>
                    <a:cs typeface="Segoe UI Semibold" pitchFamily="34" charset="0"/>
                  </a:rPr>
                  <a:t>o </a:t>
                </a:r>
                <a:r>
                  <a:rPr lang="en-US" dirty="0" err="1">
                    <a:solidFill>
                      <a:prstClr val="black">
                        <a:lumMod val="65000"/>
                        <a:lumOff val="35000"/>
                      </a:prstClr>
                    </a:solidFill>
                    <a:ea typeface="Segoe UI" pitchFamily="34" charset="0"/>
                    <a:cs typeface="Segoe UI Semibold" pitchFamily="34" charset="0"/>
                  </a:rPr>
                  <a:t>caminho</a:t>
                </a:r>
                <a:r>
                  <a:rPr lang="en-US" b="1" dirty="0">
                    <a:solidFill>
                      <a:prstClr val="black">
                        <a:lumMod val="65000"/>
                        <a:lumOff val="35000"/>
                      </a:prstClr>
                    </a:solidFill>
                    <a:ea typeface="Segoe UI" pitchFamily="34" charset="0"/>
                    <a:cs typeface="Segoe UI" pitchFamily="34" charset="0"/>
                  </a:rPr>
                  <a:t>” </a:t>
                </a:r>
                <a:r>
                  <a:rPr lang="en-US" dirty="0">
                    <a:solidFill>
                      <a:prstClr val="black">
                        <a:lumMod val="65000"/>
                        <a:lumOff val="35000"/>
                      </a:prstClr>
                    </a:solidFill>
                    <a:ea typeface="Segoe UI" pitchFamily="34" charset="0"/>
                    <a:cs typeface="Segoe UI" pitchFamily="34" charset="0"/>
                  </a:rPr>
                  <a:t>para a </a:t>
                </a:r>
                <a:r>
                  <a:rPr lang="en-US" dirty="0" err="1">
                    <a:solidFill>
                      <a:prstClr val="black">
                        <a:lumMod val="65000"/>
                        <a:lumOff val="35000"/>
                      </a:prstClr>
                    </a:solidFill>
                    <a:ea typeface="Segoe UI" pitchFamily="34" charset="0"/>
                    <a:cs typeface="Segoe UI" pitchFamily="34" charset="0"/>
                  </a:rPr>
                  <a:t>nuvem</a:t>
                </a:r>
                <a:endParaRPr lang="en-US" dirty="0">
                  <a:solidFill>
                    <a:prstClr val="black">
                      <a:lumMod val="65000"/>
                      <a:lumOff val="35000"/>
                    </a:prstClr>
                  </a:solidFill>
                  <a:ea typeface="Segoe UI" pitchFamily="34" charset="0"/>
                  <a:cs typeface="Segoe UI" pitchFamily="34" charset="0"/>
                </a:endParaRPr>
              </a:p>
            </p:txBody>
          </p:sp>
        </p:grpSp>
      </p:grpSp>
    </p:spTree>
    <p:extLst>
      <p:ext uri="{BB962C8B-B14F-4D97-AF65-F5344CB8AC3E}">
        <p14:creationId xmlns:p14="http://schemas.microsoft.com/office/powerpoint/2010/main" val="421718456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2" presetClass="entr" presetSubtype="2" decel="10000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750" fill="hold"/>
                                        <p:tgtEl>
                                          <p:spTgt spid="14"/>
                                        </p:tgtEl>
                                        <p:attrNameLst>
                                          <p:attrName>ppt_x</p:attrName>
                                        </p:attrNameLst>
                                      </p:cBhvr>
                                      <p:tavLst>
                                        <p:tav tm="0">
                                          <p:val>
                                            <p:strVal val="1+#ppt_w/2"/>
                                          </p:val>
                                        </p:tav>
                                        <p:tav tm="100000">
                                          <p:val>
                                            <p:strVal val="#ppt_x"/>
                                          </p:val>
                                        </p:tav>
                                      </p:tavLst>
                                    </p:anim>
                                    <p:anim calcmode="lin" valueType="num">
                                      <p:cBhvr additive="base">
                                        <p:cTn id="13" dur="750" fill="hold"/>
                                        <p:tgtEl>
                                          <p:spTgt spid="14"/>
                                        </p:tgtEl>
                                        <p:attrNameLst>
                                          <p:attrName>ppt_y</p:attrName>
                                        </p:attrNameLst>
                                      </p:cBhvr>
                                      <p:tavLst>
                                        <p:tav tm="0">
                                          <p:val>
                                            <p:strVal val="#ppt_y"/>
                                          </p:val>
                                        </p:tav>
                                        <p:tav tm="100000">
                                          <p:val>
                                            <p:strVal val="#ppt_y"/>
                                          </p:val>
                                        </p:tav>
                                      </p:tavLst>
                                    </p:anim>
                                  </p:childTnLst>
                                </p:cTn>
                              </p:par>
                              <p:par>
                                <p:cTn id="14" presetID="2" presetClass="entr" presetSubtype="2" decel="100000" fill="hold" nodeType="withEffect">
                                  <p:stCondLst>
                                    <p:cond delay="25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750" fill="hold"/>
                                        <p:tgtEl>
                                          <p:spTgt spid="30"/>
                                        </p:tgtEl>
                                        <p:attrNameLst>
                                          <p:attrName>ppt_x</p:attrName>
                                        </p:attrNameLst>
                                      </p:cBhvr>
                                      <p:tavLst>
                                        <p:tav tm="0">
                                          <p:val>
                                            <p:strVal val="1+#ppt_w/2"/>
                                          </p:val>
                                        </p:tav>
                                        <p:tav tm="100000">
                                          <p:val>
                                            <p:strVal val="#ppt_x"/>
                                          </p:val>
                                        </p:tav>
                                      </p:tavLst>
                                    </p:anim>
                                    <p:anim calcmode="lin" valueType="num">
                                      <p:cBhvr additive="base">
                                        <p:cTn id="17" dur="750" fill="hold"/>
                                        <p:tgtEl>
                                          <p:spTgt spid="30"/>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250"/>
                                  </p:stCondLst>
                                  <p:childTnLst>
                                    <p:set>
                                      <p:cBhvr>
                                        <p:cTn id="19" dur="1" fill="hold">
                                          <p:stCondLst>
                                            <p:cond delay="0"/>
                                          </p:stCondLst>
                                        </p:cTn>
                                        <p:tgtEl>
                                          <p:spTgt spid="35"/>
                                        </p:tgtEl>
                                        <p:attrNameLst>
                                          <p:attrName>style.visibility</p:attrName>
                                        </p:attrNameLst>
                                      </p:cBhvr>
                                      <p:to>
                                        <p:strVal val="visible"/>
                                      </p:to>
                                    </p:set>
                                    <p:anim calcmode="lin" valueType="num">
                                      <p:cBhvr additive="base">
                                        <p:cTn id="20" dur="750" fill="hold"/>
                                        <p:tgtEl>
                                          <p:spTgt spid="35"/>
                                        </p:tgtEl>
                                        <p:attrNameLst>
                                          <p:attrName>ppt_x</p:attrName>
                                        </p:attrNameLst>
                                      </p:cBhvr>
                                      <p:tavLst>
                                        <p:tav tm="0">
                                          <p:val>
                                            <p:strVal val="1+#ppt_w/2"/>
                                          </p:val>
                                        </p:tav>
                                        <p:tav tm="100000">
                                          <p:val>
                                            <p:strVal val="#ppt_x"/>
                                          </p:val>
                                        </p:tav>
                                      </p:tavLst>
                                    </p:anim>
                                    <p:anim calcmode="lin" valueType="num">
                                      <p:cBhvr additive="base">
                                        <p:cTn id="21" dur="75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grpSp>
        <p:nvGrpSpPr>
          <p:cNvPr id="8" name="Agrupar 7"/>
          <p:cNvGrpSpPr/>
          <p:nvPr/>
        </p:nvGrpSpPr>
        <p:grpSpPr>
          <a:xfrm>
            <a:off x="186489" y="1434670"/>
            <a:ext cx="2340001" cy="5218462"/>
            <a:chOff x="186489" y="880228"/>
            <a:chExt cx="2340001" cy="5218462"/>
          </a:xfrm>
        </p:grpSpPr>
        <p:sp>
          <p:nvSpPr>
            <p:cNvPr id="43" name="Retângulo 42"/>
            <p:cNvSpPr/>
            <p:nvPr/>
          </p:nvSpPr>
          <p:spPr>
            <a:xfrm>
              <a:off x="186490"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lgn="just">
                <a:spcBef>
                  <a:spcPts val="200"/>
                </a:spcBef>
                <a:spcAft>
                  <a:spcPts val="200"/>
                </a:spcAft>
                <a:buFont typeface="Wingdings" panose="05000000000000000000" pitchFamily="2" charset="2"/>
                <a:buChar char="q"/>
              </a:pPr>
              <a:endParaRPr lang="pt-BR" sz="1400" b="1" dirty="0">
                <a:solidFill>
                  <a:schemeClr val="tx1">
                    <a:lumMod val="95000"/>
                    <a:lumOff val="5000"/>
                  </a:schemeClr>
                </a:solidFill>
              </a:endParaRPr>
            </a:p>
            <a:p>
              <a:pPr marL="216000" indent="-216000" algn="just">
                <a:spcBef>
                  <a:spcPts val="200"/>
                </a:spcBef>
                <a:spcAft>
                  <a:spcPts val="200"/>
                </a:spcAft>
                <a:buFont typeface="Wingdings" panose="05000000000000000000" pitchFamily="2" charset="2"/>
                <a:buChar char="q"/>
              </a:pPr>
              <a:endParaRPr lang="pt-BR" sz="14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AD GOL</a:t>
              </a: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File Server GOL</a:t>
              </a: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Gestão de Acessos GOL</a:t>
              </a:r>
            </a:p>
            <a:p>
              <a:pPr marL="216000" indent="-216000">
                <a:spcBef>
                  <a:spcPts val="200"/>
                </a:spcBef>
                <a:spcAft>
                  <a:spcPts val="200"/>
                </a:spcAft>
                <a:buFont typeface="Wingdings" panose="05000000000000000000" pitchFamily="2" charset="2"/>
                <a:buChar char="q"/>
              </a:pPr>
              <a:r>
                <a:rPr lang="pt-BR" sz="1300" dirty="0">
                  <a:solidFill>
                    <a:schemeClr val="tx1">
                      <a:lumMod val="95000"/>
                      <a:lumOff val="5000"/>
                    </a:schemeClr>
                  </a:solidFill>
                </a:rPr>
                <a:t>Operação dos ambientes AD e FS GOL (Incidentes, Problemas, Mudanças)</a:t>
              </a:r>
            </a:p>
          </p:txBody>
        </p:sp>
        <p:sp>
          <p:nvSpPr>
            <p:cNvPr id="45" name="Retângulo de cantos arredondados 13"/>
            <p:cNvSpPr/>
            <p:nvPr/>
          </p:nvSpPr>
          <p:spPr>
            <a:xfrm>
              <a:off x="186489" y="880228"/>
              <a:ext cx="2340000" cy="900000"/>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Cenário </a:t>
              </a:r>
            </a:p>
            <a:p>
              <a:r>
                <a:rPr lang="pt-BR" sz="1600" b="1" dirty="0">
                  <a:effectLst>
                    <a:outerShdw blurRad="38100" dist="38100" dir="2700000" algn="tl">
                      <a:srgbClr val="000000">
                        <a:alpha val="43137"/>
                      </a:srgbClr>
                    </a:outerShdw>
                  </a:effectLst>
                </a:rPr>
                <a:t>Anterior</a:t>
              </a:r>
            </a:p>
          </p:txBody>
        </p:sp>
      </p:grpSp>
      <p:grpSp>
        <p:nvGrpSpPr>
          <p:cNvPr id="3" name="Agrupar 2"/>
          <p:cNvGrpSpPr/>
          <p:nvPr/>
        </p:nvGrpSpPr>
        <p:grpSpPr>
          <a:xfrm>
            <a:off x="2625978" y="1434670"/>
            <a:ext cx="2340000" cy="5218462"/>
            <a:chOff x="2991739" y="880228"/>
            <a:chExt cx="2340000" cy="5218462"/>
          </a:xfrm>
        </p:grpSpPr>
        <p:sp>
          <p:nvSpPr>
            <p:cNvPr id="47" name="Retângulo 46"/>
            <p:cNvSpPr/>
            <p:nvPr/>
          </p:nvSpPr>
          <p:spPr>
            <a:xfrm>
              <a:off x="299173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b="1" dirty="0" err="1">
                  <a:solidFill>
                    <a:schemeClr val="tx1">
                      <a:lumMod val="95000"/>
                      <a:lumOff val="5000"/>
                    </a:schemeClr>
                  </a:solidFill>
                </a:rPr>
                <a:t>Logon</a:t>
              </a:r>
              <a:r>
                <a:rPr lang="pt-BR" sz="1300" b="1" dirty="0">
                  <a:solidFill>
                    <a:schemeClr val="tx1">
                      <a:lumMod val="95000"/>
                      <a:lumOff val="5000"/>
                    </a:schemeClr>
                  </a:solidFill>
                </a:rPr>
                <a:t> lento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Pouca agilidade </a:t>
              </a:r>
              <a:r>
                <a:rPr lang="pt-BR" sz="1300" dirty="0">
                  <a:solidFill>
                    <a:schemeClr val="tx1">
                      <a:lumMod val="95000"/>
                      <a:lumOff val="5000"/>
                    </a:schemeClr>
                  </a:solidFill>
                </a:rPr>
                <a:t>na Gestão de Acessos </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Prazos estendidos e retrabalho</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Infraestrutura não adequada </a:t>
              </a:r>
              <a:r>
                <a:rPr lang="pt-BR" sz="1300" dirty="0">
                  <a:solidFill>
                    <a:schemeClr val="tx1">
                      <a:lumMod val="95000"/>
                      <a:lumOff val="5000"/>
                    </a:schemeClr>
                  </a:solidFill>
                </a:rPr>
                <a:t>às necessidades da </a:t>
              </a:r>
              <a:r>
                <a:rPr lang="pt-BR" sz="1300" dirty="0" err="1">
                  <a:solidFill>
                    <a:schemeClr val="tx1">
                      <a:lumMod val="95000"/>
                      <a:lumOff val="5000"/>
                    </a:schemeClr>
                  </a:solidFill>
                </a:rPr>
                <a:t>Smiles</a:t>
              </a:r>
              <a:endParaRPr lang="pt-BR" sz="1300"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Falta de padronização</a:t>
              </a:r>
              <a:r>
                <a:rPr lang="pt-BR" sz="1300" dirty="0">
                  <a:solidFill>
                    <a:schemeClr val="tx1">
                      <a:lumMod val="95000"/>
                      <a:lumOff val="5000"/>
                    </a:schemeClr>
                  </a:solidFill>
                </a:rPr>
                <a:t> na estrutura do File Server</a:t>
              </a:r>
            </a:p>
            <a:p>
              <a:pPr marL="216000" indent="-216000">
                <a:spcBef>
                  <a:spcPts val="200"/>
                </a:spcBef>
                <a:spcAft>
                  <a:spcPts val="200"/>
                </a:spcAft>
                <a:buFont typeface="Wingdings" panose="05000000000000000000" pitchFamily="2" charset="2"/>
                <a:buChar char="q"/>
              </a:pPr>
              <a:r>
                <a:rPr lang="pt-BR" sz="1300" b="1" dirty="0">
                  <a:solidFill>
                    <a:schemeClr val="tx1">
                      <a:lumMod val="95000"/>
                      <a:lumOff val="5000"/>
                    </a:schemeClr>
                  </a:solidFill>
                </a:rPr>
                <a:t>Inexistência de controle de quotas </a:t>
              </a:r>
              <a:r>
                <a:rPr lang="pt-BR" sz="1300" dirty="0">
                  <a:solidFill>
                    <a:schemeClr val="tx1">
                      <a:lumMod val="95000"/>
                      <a:lumOff val="5000"/>
                    </a:schemeClr>
                  </a:solidFill>
                </a:rPr>
                <a:t>por área e </a:t>
              </a:r>
              <a:r>
                <a:rPr lang="pt-BR" sz="1300" dirty="0" smtClean="0">
                  <a:solidFill>
                    <a:schemeClr val="tx1">
                      <a:lumMod val="95000"/>
                      <a:lumOff val="5000"/>
                    </a:schemeClr>
                  </a:solidFill>
                </a:rPr>
                <a:t>usuário</a:t>
              </a:r>
            </a:p>
            <a:p>
              <a:pPr marL="216000" indent="-216000">
                <a:spcBef>
                  <a:spcPts val="200"/>
                </a:spcBef>
                <a:spcAft>
                  <a:spcPts val="200"/>
                </a:spcAft>
                <a:buFont typeface="Wingdings" panose="05000000000000000000" pitchFamily="2" charset="2"/>
                <a:buChar char="q"/>
              </a:pPr>
              <a:r>
                <a:rPr lang="pt-BR" sz="1300" b="1" dirty="0" smtClean="0">
                  <a:solidFill>
                    <a:schemeClr val="tx1">
                      <a:lumMod val="95000"/>
                      <a:lumOff val="5000"/>
                    </a:schemeClr>
                  </a:solidFill>
                </a:rPr>
                <a:t>Pacote Office desatualizado</a:t>
              </a:r>
              <a:endParaRPr lang="pt-BR" sz="13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300" b="1" dirty="0">
                <a:solidFill>
                  <a:schemeClr val="tx1">
                    <a:lumMod val="95000"/>
                    <a:lumOff val="5000"/>
                  </a:schemeClr>
                </a:solidFill>
              </a:endParaRPr>
            </a:p>
          </p:txBody>
        </p:sp>
        <p:sp>
          <p:nvSpPr>
            <p:cNvPr id="52" name="Retângulo de cantos arredondados 16"/>
            <p:cNvSpPr/>
            <p:nvPr/>
          </p:nvSpPr>
          <p:spPr>
            <a:xfrm>
              <a:off x="2991739" y="880228"/>
              <a:ext cx="2340000" cy="900000"/>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Principais </a:t>
              </a:r>
            </a:p>
            <a:p>
              <a:r>
                <a:rPr lang="pt-BR" sz="1600" b="1" dirty="0">
                  <a:effectLst>
                    <a:outerShdw blurRad="38100" dist="38100" dir="2700000" algn="tl">
                      <a:srgbClr val="000000">
                        <a:alpha val="43137"/>
                      </a:srgbClr>
                    </a:outerShdw>
                  </a:effectLst>
                </a:rPr>
                <a:t>Dificuldades</a:t>
              </a:r>
            </a:p>
          </p:txBody>
        </p:sp>
      </p:grpSp>
      <p:grpSp>
        <p:nvGrpSpPr>
          <p:cNvPr id="4" name="Agrupar 3"/>
          <p:cNvGrpSpPr/>
          <p:nvPr/>
        </p:nvGrpSpPr>
        <p:grpSpPr>
          <a:xfrm>
            <a:off x="5065466" y="1434670"/>
            <a:ext cx="2340000" cy="5218462"/>
            <a:chOff x="5718609" y="880228"/>
            <a:chExt cx="2340000" cy="5218462"/>
          </a:xfrm>
        </p:grpSpPr>
        <p:sp>
          <p:nvSpPr>
            <p:cNvPr id="49" name="Retângulo 48"/>
            <p:cNvSpPr/>
            <p:nvPr/>
          </p:nvSpPr>
          <p:spPr>
            <a:xfrm>
              <a:off x="571860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300" dirty="0" smtClean="0">
                  <a:solidFill>
                    <a:schemeClr val="tx1">
                      <a:lumMod val="95000"/>
                      <a:lumOff val="5000"/>
                    </a:schemeClr>
                  </a:solidFill>
                </a:rPr>
                <a:t>Implementação </a:t>
              </a:r>
              <a:r>
                <a:rPr lang="pt-BR" sz="1300" dirty="0">
                  <a:solidFill>
                    <a:schemeClr val="tx1">
                      <a:lumMod val="95000"/>
                      <a:lumOff val="5000"/>
                    </a:schemeClr>
                  </a:solidFill>
                </a:rPr>
                <a:t>de um </a:t>
              </a:r>
              <a:r>
                <a:rPr lang="pt-BR" sz="1300" b="1" dirty="0">
                  <a:solidFill>
                    <a:schemeClr val="tx1">
                      <a:lumMod val="95000"/>
                      <a:lumOff val="5000"/>
                    </a:schemeClr>
                  </a:solidFill>
                </a:rPr>
                <a:t>AD específico para Smiles</a:t>
              </a:r>
            </a:p>
            <a:p>
              <a:pPr marL="216000" indent="-216000">
                <a:spcBef>
                  <a:spcPts val="200"/>
                </a:spcBef>
                <a:spcAft>
                  <a:spcPts val="200"/>
                </a:spcAft>
                <a:buFont typeface="Wingdings" panose="05000000000000000000" pitchFamily="2" charset="2"/>
                <a:buChar char="q"/>
              </a:pPr>
              <a:r>
                <a:rPr lang="pt-BR" sz="1300" dirty="0" smtClean="0">
                  <a:solidFill>
                    <a:schemeClr val="tx1">
                      <a:lumMod val="95000"/>
                      <a:lumOff val="5000"/>
                    </a:schemeClr>
                  </a:solidFill>
                </a:rPr>
                <a:t>Implementação </a:t>
              </a:r>
              <a:r>
                <a:rPr lang="pt-BR" sz="1300" dirty="0">
                  <a:solidFill>
                    <a:schemeClr val="tx1">
                      <a:lumMod val="95000"/>
                      <a:lumOff val="5000"/>
                    </a:schemeClr>
                  </a:solidFill>
                </a:rPr>
                <a:t>de uma </a:t>
              </a:r>
              <a:r>
                <a:rPr lang="pt-BR" sz="1300" b="1" dirty="0">
                  <a:solidFill>
                    <a:schemeClr val="tx1">
                      <a:lumMod val="95000"/>
                      <a:lumOff val="5000"/>
                    </a:schemeClr>
                  </a:solidFill>
                </a:rPr>
                <a:t>Solução de Colaboração e Produtividade para a Smiles (Office </a:t>
              </a:r>
              <a:r>
                <a:rPr lang="pt-BR" sz="1300" b="1" dirty="0" smtClean="0">
                  <a:solidFill>
                    <a:schemeClr val="tx1">
                      <a:lumMod val="95000"/>
                      <a:lumOff val="5000"/>
                    </a:schemeClr>
                  </a:solidFill>
                </a:rPr>
                <a:t>365, OneDrive e SharePoint)</a:t>
              </a:r>
              <a:endParaRPr lang="pt-BR" sz="1300" b="1" dirty="0">
                <a:solidFill>
                  <a:schemeClr val="tx1">
                    <a:lumMod val="95000"/>
                    <a:lumOff val="5000"/>
                  </a:schemeClr>
                </a:solidFill>
              </a:endParaRPr>
            </a:p>
          </p:txBody>
        </p:sp>
        <p:sp>
          <p:nvSpPr>
            <p:cNvPr id="53" name="Retângulo de cantos arredondados 17"/>
            <p:cNvSpPr/>
            <p:nvPr/>
          </p:nvSpPr>
          <p:spPr>
            <a:xfrm>
              <a:off x="5718609" y="880228"/>
              <a:ext cx="2340000" cy="900000"/>
            </a:xfrm>
            <a:prstGeom prst="round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Solução</a:t>
              </a:r>
            </a:p>
            <a:p>
              <a:r>
                <a:rPr lang="pt-BR" sz="1600" b="1" dirty="0">
                  <a:effectLst>
                    <a:outerShdw blurRad="38100" dist="38100" dir="2700000" algn="tl">
                      <a:srgbClr val="000000">
                        <a:alpha val="43137"/>
                      </a:srgbClr>
                    </a:outerShdw>
                  </a:effectLst>
                </a:rPr>
                <a:t>Definida </a:t>
              </a:r>
            </a:p>
          </p:txBody>
        </p:sp>
      </p:grpSp>
      <p:grpSp>
        <p:nvGrpSpPr>
          <p:cNvPr id="5" name="Agrupar 4"/>
          <p:cNvGrpSpPr/>
          <p:nvPr/>
        </p:nvGrpSpPr>
        <p:grpSpPr>
          <a:xfrm>
            <a:off x="7504954" y="1434670"/>
            <a:ext cx="2340001" cy="5218462"/>
            <a:chOff x="8445479" y="880228"/>
            <a:chExt cx="2340001" cy="5218462"/>
          </a:xfrm>
        </p:grpSpPr>
        <p:sp>
          <p:nvSpPr>
            <p:cNvPr id="56" name="Retângulo 55"/>
            <p:cNvSpPr/>
            <p:nvPr/>
          </p:nvSpPr>
          <p:spPr>
            <a:xfrm>
              <a:off x="8445479" y="1418690"/>
              <a:ext cx="2340000" cy="46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a:p>
              <a:pPr marL="216000" indent="-216000">
                <a:spcBef>
                  <a:spcPts val="200"/>
                </a:spcBef>
                <a:spcAft>
                  <a:spcPts val="200"/>
                </a:spcAft>
                <a:buFont typeface="Wingdings" panose="05000000000000000000" pitchFamily="2" charset="2"/>
                <a:buChar char="q"/>
              </a:pPr>
              <a:r>
                <a:rPr lang="pt-BR" sz="1200" b="1" dirty="0" err="1">
                  <a:solidFill>
                    <a:schemeClr val="tx1">
                      <a:lumMod val="95000"/>
                      <a:lumOff val="5000"/>
                    </a:schemeClr>
                  </a:solidFill>
                </a:rPr>
                <a:t>Logon</a:t>
              </a:r>
              <a:r>
                <a:rPr lang="pt-BR" sz="1200" b="1" dirty="0">
                  <a:solidFill>
                    <a:schemeClr val="tx1">
                      <a:lumMod val="95000"/>
                      <a:lumOff val="5000"/>
                    </a:schemeClr>
                  </a:solidFill>
                </a:rPr>
                <a:t> mais rápido</a:t>
              </a:r>
            </a:p>
            <a:p>
              <a:pPr marL="216000" indent="-216000">
                <a:spcBef>
                  <a:spcPts val="200"/>
                </a:spcBef>
                <a:spcAft>
                  <a:spcPts val="200"/>
                </a:spcAft>
                <a:buFont typeface="Wingdings" panose="05000000000000000000" pitchFamily="2" charset="2"/>
                <a:buChar char="q"/>
              </a:pPr>
              <a:r>
                <a:rPr lang="pt-BR" sz="1200" b="1" dirty="0">
                  <a:solidFill>
                    <a:schemeClr val="tx1">
                      <a:lumMod val="95000"/>
                      <a:lumOff val="5000"/>
                    </a:schemeClr>
                  </a:solidFill>
                </a:rPr>
                <a:t>Maior agilidade </a:t>
              </a:r>
              <a:r>
                <a:rPr lang="pt-BR" sz="1200" dirty="0">
                  <a:solidFill>
                    <a:schemeClr val="tx1">
                      <a:lumMod val="95000"/>
                      <a:lumOff val="5000"/>
                    </a:schemeClr>
                  </a:solidFill>
                </a:rPr>
                <a:t>na Gestão de Acessos</a:t>
              </a:r>
            </a:p>
            <a:p>
              <a:pPr marL="216000" indent="-216000">
                <a:spcBef>
                  <a:spcPts val="200"/>
                </a:spcBef>
                <a:spcAft>
                  <a:spcPts val="200"/>
                </a:spcAft>
                <a:buFont typeface="Wingdings" panose="05000000000000000000" pitchFamily="2" charset="2"/>
                <a:buChar char="q"/>
              </a:pPr>
              <a:r>
                <a:rPr lang="pt-BR" sz="1200" dirty="0">
                  <a:solidFill>
                    <a:schemeClr val="tx1">
                      <a:lumMod val="95000"/>
                      <a:lumOff val="5000"/>
                    </a:schemeClr>
                  </a:solidFill>
                </a:rPr>
                <a:t>Integração com AD GOL (permite </a:t>
              </a:r>
              <a:r>
                <a:rPr lang="pt-BR" sz="1200" b="1" dirty="0" err="1">
                  <a:solidFill>
                    <a:schemeClr val="tx1">
                      <a:lumMod val="95000"/>
                      <a:lumOff val="5000"/>
                    </a:schemeClr>
                  </a:solidFill>
                </a:rPr>
                <a:t>permissionamento</a:t>
              </a:r>
              <a:r>
                <a:rPr lang="pt-BR" sz="1200" b="1" dirty="0">
                  <a:solidFill>
                    <a:schemeClr val="tx1">
                      <a:lumMod val="95000"/>
                      <a:lumOff val="5000"/>
                    </a:schemeClr>
                  </a:solidFill>
                </a:rPr>
                <a:t> ida-e-volta entre </a:t>
              </a:r>
              <a:r>
                <a:rPr lang="pt-BR" sz="1200" b="1" dirty="0" err="1">
                  <a:solidFill>
                    <a:schemeClr val="tx1">
                      <a:lumMod val="95000"/>
                      <a:lumOff val="5000"/>
                    </a:schemeClr>
                  </a:solidFill>
                </a:rPr>
                <a:t>Smiles</a:t>
              </a:r>
              <a:r>
                <a:rPr lang="pt-BR" sz="1200" b="1" dirty="0">
                  <a:solidFill>
                    <a:schemeClr val="tx1">
                      <a:lumMod val="95000"/>
                      <a:lumOff val="5000"/>
                    </a:schemeClr>
                  </a:solidFill>
                </a:rPr>
                <a:t> e GOL</a:t>
              </a:r>
              <a:r>
                <a:rPr lang="pt-BR" sz="1200" dirty="0">
                  <a:solidFill>
                    <a:schemeClr val="tx1">
                      <a:lumMod val="95000"/>
                      <a:lumOff val="5000"/>
                    </a:schemeClr>
                  </a:solidFill>
                </a:rPr>
                <a:t>)</a:t>
              </a:r>
            </a:p>
            <a:p>
              <a:pPr marL="216000" indent="-216000">
                <a:spcBef>
                  <a:spcPts val="200"/>
                </a:spcBef>
                <a:spcAft>
                  <a:spcPts val="200"/>
                </a:spcAft>
                <a:buFont typeface="Wingdings" panose="05000000000000000000" pitchFamily="2" charset="2"/>
                <a:buChar char="q"/>
              </a:pPr>
              <a:r>
                <a:rPr lang="pt-BR" sz="1200" b="1" dirty="0">
                  <a:solidFill>
                    <a:schemeClr val="tx1">
                      <a:lumMod val="95000"/>
                      <a:lumOff val="5000"/>
                    </a:schemeClr>
                  </a:solidFill>
                </a:rPr>
                <a:t>Ambiente escalável e redundante </a:t>
              </a:r>
            </a:p>
            <a:p>
              <a:pPr marL="216000" indent="-216000">
                <a:spcBef>
                  <a:spcPts val="200"/>
                </a:spcBef>
                <a:spcAft>
                  <a:spcPts val="200"/>
                </a:spcAft>
                <a:buFont typeface="Wingdings" panose="05000000000000000000" pitchFamily="2" charset="2"/>
                <a:buChar char="q"/>
              </a:pPr>
              <a:r>
                <a:rPr lang="pt-BR" sz="1200" b="1" dirty="0">
                  <a:solidFill>
                    <a:schemeClr val="tx1">
                      <a:lumMod val="95000"/>
                      <a:lumOff val="5000"/>
                    </a:schemeClr>
                  </a:solidFill>
                </a:rPr>
                <a:t>Maior eficiência na Gestão </a:t>
              </a:r>
              <a:r>
                <a:rPr lang="pt-BR" sz="1200" dirty="0">
                  <a:solidFill>
                    <a:schemeClr val="tx1">
                      <a:lumMod val="95000"/>
                      <a:lumOff val="5000"/>
                    </a:schemeClr>
                  </a:solidFill>
                </a:rPr>
                <a:t>(gestão interna permite maior </a:t>
              </a:r>
              <a:r>
                <a:rPr lang="pt-BR" sz="1200" b="1" dirty="0">
                  <a:solidFill>
                    <a:schemeClr val="tx1">
                      <a:lumMod val="95000"/>
                      <a:lumOff val="5000"/>
                    </a:schemeClr>
                  </a:solidFill>
                </a:rPr>
                <a:t>rastreabilidade e visibilidade</a:t>
              </a:r>
              <a:r>
                <a:rPr lang="pt-BR" sz="1200" dirty="0">
                  <a:solidFill>
                    <a:schemeClr val="tx1">
                      <a:lumMod val="95000"/>
                      <a:lumOff val="5000"/>
                    </a:schemeClr>
                  </a:solidFill>
                </a:rPr>
                <a:t>)</a:t>
              </a:r>
            </a:p>
            <a:p>
              <a:pPr marL="216000" indent="-216000">
                <a:spcBef>
                  <a:spcPts val="200"/>
                </a:spcBef>
                <a:spcAft>
                  <a:spcPts val="200"/>
                </a:spcAft>
                <a:buFont typeface="Wingdings" panose="05000000000000000000" pitchFamily="2" charset="2"/>
                <a:buChar char="q"/>
              </a:pPr>
              <a:r>
                <a:rPr lang="pt-BR" sz="1200" b="1" dirty="0">
                  <a:solidFill>
                    <a:schemeClr val="tx1">
                      <a:lumMod val="95000"/>
                      <a:lumOff val="5000"/>
                    </a:schemeClr>
                  </a:solidFill>
                </a:rPr>
                <a:t>Padronização</a:t>
              </a:r>
              <a:r>
                <a:rPr lang="pt-BR" sz="1200" dirty="0">
                  <a:solidFill>
                    <a:schemeClr val="tx1">
                      <a:lumMod val="95000"/>
                      <a:lumOff val="5000"/>
                    </a:schemeClr>
                  </a:solidFill>
                </a:rPr>
                <a:t> de Diretórios e Pastas na rede com uso de quotas por área e usuário</a:t>
              </a:r>
            </a:p>
            <a:p>
              <a:pPr marL="216000" indent="-216000">
                <a:spcBef>
                  <a:spcPts val="200"/>
                </a:spcBef>
                <a:spcAft>
                  <a:spcPts val="200"/>
                </a:spcAft>
                <a:buFont typeface="Wingdings" panose="05000000000000000000" pitchFamily="2" charset="2"/>
                <a:buChar char="q"/>
              </a:pPr>
              <a:r>
                <a:rPr lang="pt-BR" sz="1200" b="1" dirty="0">
                  <a:solidFill>
                    <a:schemeClr val="tx1">
                      <a:lumMod val="95000"/>
                      <a:lumOff val="5000"/>
                    </a:schemeClr>
                  </a:solidFill>
                </a:rPr>
                <a:t>Independência da estrutura de TI da GOL</a:t>
              </a:r>
            </a:p>
            <a:p>
              <a:pPr marL="216000" indent="-216000">
                <a:spcBef>
                  <a:spcPts val="200"/>
                </a:spcBef>
                <a:spcAft>
                  <a:spcPts val="200"/>
                </a:spcAft>
                <a:buFont typeface="Wingdings" panose="05000000000000000000" pitchFamily="2" charset="2"/>
                <a:buChar char="q"/>
              </a:pPr>
              <a:endParaRPr lang="pt-BR" sz="1200" b="1" dirty="0">
                <a:solidFill>
                  <a:schemeClr val="tx1">
                    <a:lumMod val="95000"/>
                    <a:lumOff val="5000"/>
                  </a:schemeClr>
                </a:solidFill>
              </a:endParaRPr>
            </a:p>
          </p:txBody>
        </p:sp>
        <p:sp>
          <p:nvSpPr>
            <p:cNvPr id="57" name="Retângulo de cantos arredondados 17"/>
            <p:cNvSpPr/>
            <p:nvPr/>
          </p:nvSpPr>
          <p:spPr>
            <a:xfrm>
              <a:off x="8445480" y="880228"/>
              <a:ext cx="2340000" cy="900000"/>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600" b="1" dirty="0">
                  <a:effectLst>
                    <a:outerShdw blurRad="38100" dist="38100" dir="2700000" algn="tl">
                      <a:srgbClr val="000000">
                        <a:alpha val="43137"/>
                      </a:srgbClr>
                    </a:outerShdw>
                  </a:effectLst>
                </a:rPr>
                <a:t>Benefícios</a:t>
              </a:r>
            </a:p>
          </p:txBody>
        </p:sp>
      </p:grpSp>
      <p:pic>
        <p:nvPicPr>
          <p:cNvPr id="10" name="Imagem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0861" y="1542670"/>
            <a:ext cx="684000" cy="684000"/>
          </a:xfrm>
          <a:prstGeom prst="rect">
            <a:avLst/>
          </a:prstGeom>
          <a:effectLst>
            <a:glow rad="101600">
              <a:schemeClr val="bg1">
                <a:alpha val="60000"/>
              </a:schemeClr>
            </a:glow>
          </a:effectLst>
        </p:spPr>
      </p:pic>
      <p:pic>
        <p:nvPicPr>
          <p:cNvPr id="14" name="Imagem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1664" y="1474197"/>
            <a:ext cx="828000" cy="828000"/>
          </a:xfrm>
          <a:prstGeom prst="rect">
            <a:avLst/>
          </a:prstGeom>
          <a:effectLst>
            <a:glow rad="101600">
              <a:schemeClr val="bg1">
                <a:alpha val="60000"/>
              </a:schemeClr>
            </a:glow>
          </a:effectLst>
        </p:spPr>
      </p:pic>
      <p:pic>
        <p:nvPicPr>
          <p:cNvPr id="16" name="Imagem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05153" y="1556950"/>
            <a:ext cx="684000" cy="684000"/>
          </a:xfrm>
          <a:prstGeom prst="rect">
            <a:avLst/>
          </a:prstGeom>
          <a:effectLst>
            <a:glow rad="101600">
              <a:schemeClr val="bg1">
                <a:alpha val="60000"/>
              </a:schemeClr>
            </a:glow>
          </a:effectLst>
        </p:spPr>
      </p:pic>
      <p:pic>
        <p:nvPicPr>
          <p:cNvPr id="17" name="Imagem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86472" y="1547604"/>
            <a:ext cx="684000" cy="684000"/>
          </a:xfrm>
          <a:prstGeom prst="rect">
            <a:avLst/>
          </a:prstGeom>
          <a:effectLst>
            <a:glow rad="101600">
              <a:schemeClr val="bg1">
                <a:alpha val="40000"/>
              </a:schemeClr>
            </a:glow>
          </a:effectLst>
        </p:spPr>
      </p:pic>
      <p:sp>
        <p:nvSpPr>
          <p:cNvPr id="2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sp>
        <p:nvSpPr>
          <p:cNvPr id="23" name="Rectangle 2"/>
          <p:cNvSpPr/>
          <p:nvPr/>
        </p:nvSpPr>
        <p:spPr>
          <a:xfrm>
            <a:off x="711200" y="942986"/>
            <a:ext cx="8694057" cy="384373"/>
          </a:xfrm>
          <a:prstGeom prst="rect">
            <a:avLst/>
          </a:prstGeom>
        </p:spPr>
        <p:txBody>
          <a:bodyPr wrap="square" lIns="75848" tIns="37928" rIns="75848" bIns="37928">
            <a:spAutoFit/>
          </a:bodyPr>
          <a:lstStyle/>
          <a:p>
            <a:pPr defTabSz="758379"/>
            <a:r>
              <a:rPr lang="en-US" sz="2000" b="1" i="1" spc="-83" dirty="0" err="1" smtClean="0">
                <a:ln w="3175">
                  <a:noFill/>
                </a:ln>
                <a:solidFill>
                  <a:schemeClr val="accent6"/>
                </a:solidFill>
                <a:cs typeface="Arial" charset="0"/>
              </a:rPr>
              <a:t>RoadMap</a:t>
            </a:r>
            <a:endParaRPr lang="en-US" sz="2000" i="1" dirty="0">
              <a:solidFill>
                <a:schemeClr val="accent6"/>
              </a:solidFill>
            </a:endParaRPr>
          </a:p>
        </p:txBody>
      </p:sp>
    </p:spTree>
    <p:extLst>
      <p:ext uri="{BB962C8B-B14F-4D97-AF65-F5344CB8AC3E}">
        <p14:creationId xmlns:p14="http://schemas.microsoft.com/office/powerpoint/2010/main" val="248871321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0-#ppt_w/2"/>
                                          </p:val>
                                        </p:tav>
                                        <p:tav tm="100000">
                                          <p:val>
                                            <p:strVal val="#ppt_x"/>
                                          </p:val>
                                        </p:tav>
                                      </p:tavLst>
                                    </p:anim>
                                    <p:anim calcmode="lin" valueType="num">
                                      <p:cBhvr additive="base">
                                        <p:cTn id="17" dur="500" fill="hold"/>
                                        <p:tgtEl>
                                          <p:spTgt spid="3"/>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0-#ppt_w/2"/>
                                          </p:val>
                                        </p:tav>
                                        <p:tav tm="100000">
                                          <p:val>
                                            <p:strVal val="#ppt_x"/>
                                          </p:val>
                                        </p:tav>
                                      </p:tavLst>
                                    </p:anim>
                                    <p:anim calcmode="lin" valueType="num">
                                      <p:cBhvr additive="base">
                                        <p:cTn id="22" dur="500" fill="hold"/>
                                        <p:tgtEl>
                                          <p:spTgt spid="14"/>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2" presetClass="entr" presetSubtype="8"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0-#ppt_w/2"/>
                                          </p:val>
                                        </p:tav>
                                        <p:tav tm="100000">
                                          <p:val>
                                            <p:strVal val="#ppt_x"/>
                                          </p:val>
                                        </p:tav>
                                      </p:tavLst>
                                    </p:anim>
                                    <p:anim calcmode="lin" valueType="num">
                                      <p:cBhvr additive="base">
                                        <p:cTn id="27" dur="500" fill="hold"/>
                                        <p:tgtEl>
                                          <p:spTgt spid="4"/>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2" presetClass="entr" presetSubtype="8"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0-#ppt_w/2"/>
                                          </p:val>
                                        </p:tav>
                                        <p:tav tm="100000">
                                          <p:val>
                                            <p:strVal val="#ppt_x"/>
                                          </p:val>
                                        </p:tav>
                                      </p:tavLst>
                                    </p:anim>
                                    <p:anim calcmode="lin" valueType="num">
                                      <p:cBhvr additive="base">
                                        <p:cTn id="32" dur="500" fill="hold"/>
                                        <p:tgtEl>
                                          <p:spTgt spid="17"/>
                                        </p:tgtEl>
                                        <p:attrNameLst>
                                          <p:attrName>ppt_y</p:attrName>
                                        </p:attrNameLst>
                                      </p:cBhvr>
                                      <p:tavLst>
                                        <p:tav tm="0">
                                          <p:val>
                                            <p:strVal val="#ppt_y"/>
                                          </p:val>
                                        </p:tav>
                                        <p:tav tm="100000">
                                          <p:val>
                                            <p:strVal val="#ppt_y"/>
                                          </p:val>
                                        </p:tav>
                                      </p:tavLst>
                                    </p:anim>
                                  </p:childTnLst>
                                </p:cTn>
                              </p:par>
                            </p:childTnLst>
                          </p:cTn>
                        </p:par>
                        <p:par>
                          <p:cTn id="33" fill="hold">
                            <p:stCondLst>
                              <p:cond delay="2500"/>
                            </p:stCondLst>
                            <p:childTnLst>
                              <p:par>
                                <p:cTn id="34" presetID="2" presetClass="entr" presetSubtype="8" fill="hold" nodeType="after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0-#ppt_w/2"/>
                                          </p:val>
                                        </p:tav>
                                        <p:tav tm="100000">
                                          <p:val>
                                            <p:strVal val="#ppt_x"/>
                                          </p:val>
                                        </p:tav>
                                      </p:tavLst>
                                    </p:anim>
                                    <p:anim calcmode="lin" valueType="num">
                                      <p:cBhvr additive="base">
                                        <p:cTn id="37" dur="500" fill="hold"/>
                                        <p:tgtEl>
                                          <p:spTgt spid="5"/>
                                        </p:tgtEl>
                                        <p:attrNameLst>
                                          <p:attrName>ppt_y</p:attrName>
                                        </p:attrNameLst>
                                      </p:cBhvr>
                                      <p:tavLst>
                                        <p:tav tm="0">
                                          <p:val>
                                            <p:strVal val="#ppt_y"/>
                                          </p:val>
                                        </p:tav>
                                        <p:tav tm="100000">
                                          <p:val>
                                            <p:strVal val="#ppt_y"/>
                                          </p:val>
                                        </p:tav>
                                      </p:tavLst>
                                    </p:anim>
                                  </p:childTnLst>
                                </p:cTn>
                              </p:par>
                            </p:childTnLst>
                          </p:cTn>
                        </p:par>
                        <p:par>
                          <p:cTn id="38" fill="hold">
                            <p:stCondLst>
                              <p:cond delay="3000"/>
                            </p:stCondLst>
                            <p:childTnLst>
                              <p:par>
                                <p:cTn id="39" presetID="2" presetClass="entr" presetSubtype="8" fill="hold" nodeType="after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0-#ppt_w/2"/>
                                          </p:val>
                                        </p:tav>
                                        <p:tav tm="100000">
                                          <p:val>
                                            <p:strVal val="#ppt_x"/>
                                          </p:val>
                                        </p:tav>
                                      </p:tavLst>
                                    </p:anim>
                                    <p:anim calcmode="lin" valueType="num">
                                      <p:cBhvr additive="base">
                                        <p:cTn id="42"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6" descr="http://sharepoint/sites/gfspublic/Shared%20Documents/Chicago%20DC%20Photoshare/CH1-495.jpg"/>
          <p:cNvPicPr>
            <a:picLocks noChangeAspect="1" noChangeArrowheads="1"/>
          </p:cNvPicPr>
          <p:nvPr/>
        </p:nvPicPr>
        <p:blipFill rotWithShape="1">
          <a:blip r:embed="rId5">
            <a:extLst>
              <a:ext uri="{28A0092B-C50C-407E-A947-70E740481C1C}">
                <a14:useLocalDpi xmlns:a14="http://schemas.microsoft.com/office/drawing/2010/main" val="0"/>
              </a:ext>
            </a:extLst>
          </a:blip>
          <a:srcRect/>
          <a:stretch/>
        </p:blipFill>
        <p:spPr bwMode="auto">
          <a:xfrm>
            <a:off x="6428264" y="1994726"/>
            <a:ext cx="3543053" cy="3915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custDataLst>
              <p:tags r:id="rId1"/>
            </p:custDataLst>
          </p:nvPr>
        </p:nvSpPr>
        <p:spPr bwMode="auto">
          <a:xfrm>
            <a:off x="413388" y="1994727"/>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OneDrive </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45" name="Rectangle 44"/>
          <p:cNvSpPr/>
          <p:nvPr/>
        </p:nvSpPr>
        <p:spPr bwMode="auto">
          <a:xfrm>
            <a:off x="2418340" y="1994727"/>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SharePoint</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p:cNvSpPr/>
          <p:nvPr/>
        </p:nvSpPr>
        <p:spPr bwMode="auto">
          <a:xfrm>
            <a:off x="4423300" y="1994727"/>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Outlook</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19" name="Rectangle 18"/>
          <p:cNvSpPr/>
          <p:nvPr/>
        </p:nvSpPr>
        <p:spPr bwMode="auto">
          <a:xfrm>
            <a:off x="413388" y="4009960"/>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Word</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22" name="Rectangle 21"/>
          <p:cNvSpPr/>
          <p:nvPr/>
        </p:nvSpPr>
        <p:spPr bwMode="auto">
          <a:xfrm>
            <a:off x="2418340" y="4009960"/>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Power Point</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29" name="Rectangle 28"/>
          <p:cNvSpPr/>
          <p:nvPr/>
        </p:nvSpPr>
        <p:spPr bwMode="auto">
          <a:xfrm>
            <a:off x="4412964" y="4009960"/>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Excel</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3" name="Rectangle 2"/>
          <p:cNvSpPr/>
          <p:nvPr/>
        </p:nvSpPr>
        <p:spPr>
          <a:xfrm>
            <a:off x="558530" y="942986"/>
            <a:ext cx="8846727" cy="876816"/>
          </a:xfrm>
          <a:prstGeom prst="rect">
            <a:avLst/>
          </a:prstGeom>
        </p:spPr>
        <p:txBody>
          <a:bodyPr wrap="square" lIns="75848" tIns="37928" rIns="75848" bIns="37928">
            <a:spAutoFit/>
          </a:bodyPr>
          <a:lstStyle/>
          <a:p>
            <a:pPr defTabSz="758379"/>
            <a:r>
              <a:rPr lang="en-US" sz="2000" b="1" spc="-83" dirty="0" smtClean="0">
                <a:ln w="3175">
                  <a:noFill/>
                </a:ln>
                <a:cs typeface="Arial" charset="0"/>
              </a:rPr>
              <a:t>O que é o Office 365, OneDrive e SharePoint?</a:t>
            </a:r>
          </a:p>
          <a:p>
            <a:pPr defTabSz="758379"/>
            <a:endParaRPr lang="en-US" sz="1600" b="1" spc="-83" dirty="0" smtClean="0">
              <a:ln w="3175">
                <a:noFill/>
              </a:ln>
              <a:cs typeface="Arial" charset="0"/>
            </a:endParaRPr>
          </a:p>
          <a:p>
            <a:pPr defTabSz="758379"/>
            <a:r>
              <a:rPr lang="en-US" sz="1600" spc="-83" dirty="0" err="1" smtClean="0">
                <a:ln w="3175">
                  <a:noFill/>
                </a:ln>
                <a:cs typeface="Arial" charset="0"/>
              </a:rPr>
              <a:t>Serviços</a:t>
            </a:r>
            <a:r>
              <a:rPr lang="en-US" sz="1600" spc="-83" dirty="0" smtClean="0">
                <a:ln w="3175">
                  <a:noFill/>
                </a:ln>
                <a:cs typeface="Arial" charset="0"/>
              </a:rPr>
              <a:t> </a:t>
            </a:r>
            <a:r>
              <a:rPr lang="en-US" sz="1600" spc="-83" dirty="0">
                <a:ln w="3175">
                  <a:noFill/>
                </a:ln>
                <a:cs typeface="Arial" charset="0"/>
              </a:rPr>
              <a:t>da Microsoft para </a:t>
            </a:r>
            <a:r>
              <a:rPr lang="en-US" sz="1600" spc="-83" dirty="0" err="1">
                <a:ln w="3175">
                  <a:noFill/>
                </a:ln>
                <a:cs typeface="Arial" charset="0"/>
              </a:rPr>
              <a:t>nuvem</a:t>
            </a:r>
            <a:r>
              <a:rPr lang="en-US" sz="1600" spc="-83" dirty="0">
                <a:ln w="3175">
                  <a:noFill/>
                </a:ln>
                <a:cs typeface="Arial" charset="0"/>
              </a:rPr>
              <a:t> </a:t>
            </a:r>
            <a:r>
              <a:rPr lang="en-US" sz="1600" spc="-83" dirty="0" err="1">
                <a:ln w="3175">
                  <a:noFill/>
                </a:ln>
                <a:cs typeface="Arial" charset="0"/>
              </a:rPr>
              <a:t>pública</a:t>
            </a:r>
            <a:r>
              <a:rPr lang="en-US" sz="1600" spc="-83" dirty="0">
                <a:ln w="3175">
                  <a:noFill/>
                </a:ln>
                <a:cs typeface="Arial" charset="0"/>
              </a:rPr>
              <a:t>.</a:t>
            </a:r>
            <a:endParaRPr lang="en-US" sz="1600" dirty="0"/>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15" name="Picture 5"/>
          <p:cNvPicPr>
            <a:picLocks noChangeAspect="1"/>
          </p:cNvPicPr>
          <p:nvPr/>
        </p:nvPicPr>
        <p:blipFill>
          <a:blip r:embed="rId6"/>
          <a:stretch>
            <a:fillRect/>
          </a:stretch>
        </p:blipFill>
        <p:spPr>
          <a:xfrm>
            <a:off x="9092707" y="129598"/>
            <a:ext cx="933147" cy="334448"/>
          </a:xfrm>
          <a:prstGeom prst="rect">
            <a:avLst/>
          </a:prstGeom>
        </p:spPr>
      </p:pic>
      <p:sp>
        <p:nvSpPr>
          <p:cNvPr id="2" name="Retângulo 1"/>
          <p:cNvSpPr/>
          <p:nvPr/>
        </p:nvSpPr>
        <p:spPr>
          <a:xfrm>
            <a:off x="6428264" y="1994726"/>
            <a:ext cx="3543053" cy="3912197"/>
          </a:xfrm>
          <a:prstGeom prst="rect">
            <a:avLst/>
          </a:prstGeom>
          <a:no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8677337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p:cTn id="12" dur="500" fill="hold"/>
                                        <p:tgtEl>
                                          <p:spTgt spid="45"/>
                                        </p:tgtEl>
                                        <p:attrNameLst>
                                          <p:attrName>ppt_w</p:attrName>
                                        </p:attrNameLst>
                                      </p:cBhvr>
                                      <p:tavLst>
                                        <p:tav tm="0">
                                          <p:val>
                                            <p:fltVal val="0"/>
                                          </p:val>
                                        </p:tav>
                                        <p:tav tm="100000">
                                          <p:val>
                                            <p:strVal val="#ppt_w"/>
                                          </p:val>
                                        </p:tav>
                                      </p:tavLst>
                                    </p:anim>
                                    <p:anim calcmode="lin" valueType="num">
                                      <p:cBhvr>
                                        <p:cTn id="13" dur="500" fill="hold"/>
                                        <p:tgtEl>
                                          <p:spTgt spid="45"/>
                                        </p:tgtEl>
                                        <p:attrNameLst>
                                          <p:attrName>ppt_h</p:attrName>
                                        </p:attrNameLst>
                                      </p:cBhvr>
                                      <p:tavLst>
                                        <p:tav tm="0">
                                          <p:val>
                                            <p:fltVal val="0"/>
                                          </p:val>
                                        </p:tav>
                                        <p:tav tm="100000">
                                          <p:val>
                                            <p:strVal val="#ppt_h"/>
                                          </p:val>
                                        </p:tav>
                                      </p:tavLst>
                                    </p:anim>
                                    <p:animEffect transition="in" filter="fade">
                                      <p:cBhvr>
                                        <p:cTn id="14" dur="500"/>
                                        <p:tgtEl>
                                          <p:spTgt spid="4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p:cTn id="22" dur="500" fill="hold"/>
                                        <p:tgtEl>
                                          <p:spTgt spid="19"/>
                                        </p:tgtEl>
                                        <p:attrNameLst>
                                          <p:attrName>ppt_w</p:attrName>
                                        </p:attrNameLst>
                                      </p:cBhvr>
                                      <p:tavLst>
                                        <p:tav tm="0">
                                          <p:val>
                                            <p:fltVal val="0"/>
                                          </p:val>
                                        </p:tav>
                                        <p:tav tm="100000">
                                          <p:val>
                                            <p:strVal val="#ppt_w"/>
                                          </p:val>
                                        </p:tav>
                                      </p:tavLst>
                                    </p:anim>
                                    <p:anim calcmode="lin" valueType="num">
                                      <p:cBhvr>
                                        <p:cTn id="23" dur="500" fill="hold"/>
                                        <p:tgtEl>
                                          <p:spTgt spid="19"/>
                                        </p:tgtEl>
                                        <p:attrNameLst>
                                          <p:attrName>ppt_h</p:attrName>
                                        </p:attrNameLst>
                                      </p:cBhvr>
                                      <p:tavLst>
                                        <p:tav tm="0">
                                          <p:val>
                                            <p:fltVal val="0"/>
                                          </p:val>
                                        </p:tav>
                                        <p:tav tm="100000">
                                          <p:val>
                                            <p:strVal val="#ppt_h"/>
                                          </p:val>
                                        </p:tav>
                                      </p:tavLst>
                                    </p:anim>
                                    <p:animEffect transition="in" filter="fade">
                                      <p:cBhvr>
                                        <p:cTn id="24" dur="500"/>
                                        <p:tgtEl>
                                          <p:spTgt spid="19"/>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500" fill="hold"/>
                                        <p:tgtEl>
                                          <p:spTgt spid="22"/>
                                        </p:tgtEl>
                                        <p:attrNameLst>
                                          <p:attrName>ppt_w</p:attrName>
                                        </p:attrNameLst>
                                      </p:cBhvr>
                                      <p:tavLst>
                                        <p:tav tm="0">
                                          <p:val>
                                            <p:fltVal val="0"/>
                                          </p:val>
                                        </p:tav>
                                        <p:tav tm="100000">
                                          <p:val>
                                            <p:strVal val="#ppt_w"/>
                                          </p:val>
                                        </p:tav>
                                      </p:tavLst>
                                    </p:anim>
                                    <p:anim calcmode="lin" valueType="num">
                                      <p:cBhvr>
                                        <p:cTn id="28" dur="500" fill="hold"/>
                                        <p:tgtEl>
                                          <p:spTgt spid="22"/>
                                        </p:tgtEl>
                                        <p:attrNameLst>
                                          <p:attrName>ppt_h</p:attrName>
                                        </p:attrNameLst>
                                      </p:cBhvr>
                                      <p:tavLst>
                                        <p:tav tm="0">
                                          <p:val>
                                            <p:fltVal val="0"/>
                                          </p:val>
                                        </p:tav>
                                        <p:tav tm="100000">
                                          <p:val>
                                            <p:strVal val="#ppt_h"/>
                                          </p:val>
                                        </p:tav>
                                      </p:tavLst>
                                    </p:anim>
                                    <p:animEffect transition="in" filter="fade">
                                      <p:cBhvr>
                                        <p:cTn id="29" dur="500"/>
                                        <p:tgtEl>
                                          <p:spTgt spid="2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p:cTn id="32" dur="500" fill="hold"/>
                                        <p:tgtEl>
                                          <p:spTgt spid="29"/>
                                        </p:tgtEl>
                                        <p:attrNameLst>
                                          <p:attrName>ppt_w</p:attrName>
                                        </p:attrNameLst>
                                      </p:cBhvr>
                                      <p:tavLst>
                                        <p:tav tm="0">
                                          <p:val>
                                            <p:fltVal val="0"/>
                                          </p:val>
                                        </p:tav>
                                        <p:tav tm="100000">
                                          <p:val>
                                            <p:strVal val="#ppt_w"/>
                                          </p:val>
                                        </p:tav>
                                      </p:tavLst>
                                    </p:anim>
                                    <p:anim calcmode="lin" valueType="num">
                                      <p:cBhvr>
                                        <p:cTn id="33" dur="500" fill="hold"/>
                                        <p:tgtEl>
                                          <p:spTgt spid="29"/>
                                        </p:tgtEl>
                                        <p:attrNameLst>
                                          <p:attrName>ppt_h</p:attrName>
                                        </p:attrNameLst>
                                      </p:cBhvr>
                                      <p:tavLst>
                                        <p:tav tm="0">
                                          <p:val>
                                            <p:fltVal val="0"/>
                                          </p:val>
                                        </p:tav>
                                        <p:tav tm="100000">
                                          <p:val>
                                            <p:strVal val="#ppt_h"/>
                                          </p:val>
                                        </p:tav>
                                      </p:tavLst>
                                    </p:anim>
                                    <p:animEffect transition="in" filter="fade">
                                      <p:cBhvr>
                                        <p:cTn id="3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5" grpId="0" animBg="1"/>
      <p:bldP spid="16" grpId="0" animBg="1"/>
      <p:bldP spid="19" grpId="0" animBg="1"/>
      <p:bldP spid="22" grpId="0" animBg="1"/>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1"/>
            </p:custDataLst>
          </p:nvPr>
        </p:nvSpPr>
        <p:spPr bwMode="auto">
          <a:xfrm>
            <a:off x="413388" y="1994727"/>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OneDrive </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45" name="Rectangle 44"/>
          <p:cNvSpPr/>
          <p:nvPr/>
        </p:nvSpPr>
        <p:spPr bwMode="auto">
          <a:xfrm>
            <a:off x="2418340"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SharePoint</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p:cNvSpPr/>
          <p:nvPr/>
        </p:nvSpPr>
        <p:spPr bwMode="auto">
          <a:xfrm>
            <a:off x="4423300"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Outlook</a:t>
            </a:r>
          </a:p>
        </p:txBody>
      </p:sp>
      <p:sp>
        <p:nvSpPr>
          <p:cNvPr id="19" name="Rectangle 18"/>
          <p:cNvSpPr/>
          <p:nvPr/>
        </p:nvSpPr>
        <p:spPr bwMode="auto">
          <a:xfrm>
            <a:off x="413388"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Word</a:t>
            </a:r>
          </a:p>
        </p:txBody>
      </p:sp>
      <p:sp>
        <p:nvSpPr>
          <p:cNvPr id="22" name="Rectangle 21"/>
          <p:cNvSpPr/>
          <p:nvPr/>
        </p:nvSpPr>
        <p:spPr bwMode="auto">
          <a:xfrm>
            <a:off x="2418340"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Power Point</a:t>
            </a:r>
          </a:p>
        </p:txBody>
      </p:sp>
      <p:sp>
        <p:nvSpPr>
          <p:cNvPr id="29" name="Rectangle 28"/>
          <p:cNvSpPr/>
          <p:nvPr/>
        </p:nvSpPr>
        <p:spPr bwMode="auto">
          <a:xfrm>
            <a:off x="4412964"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Excel</a:t>
            </a:r>
          </a:p>
        </p:txBody>
      </p:sp>
      <p:sp>
        <p:nvSpPr>
          <p:cNvPr id="3" name="Rectangle 2"/>
          <p:cNvSpPr/>
          <p:nvPr/>
        </p:nvSpPr>
        <p:spPr>
          <a:xfrm>
            <a:off x="558530" y="942986"/>
            <a:ext cx="8846727" cy="876816"/>
          </a:xfrm>
          <a:prstGeom prst="rect">
            <a:avLst/>
          </a:prstGeom>
        </p:spPr>
        <p:txBody>
          <a:bodyPr wrap="square" lIns="75848" tIns="37928" rIns="75848" bIns="37928">
            <a:spAutoFit/>
          </a:bodyPr>
          <a:lstStyle/>
          <a:p>
            <a:pPr defTabSz="758379"/>
            <a:r>
              <a:rPr lang="en-US" sz="2000" b="1" spc="-83" dirty="0" smtClean="0">
                <a:ln w="3175">
                  <a:noFill/>
                </a:ln>
                <a:cs typeface="Arial" charset="0"/>
              </a:rPr>
              <a:t>O que é o Office 365, OneDrive e SharePoint?</a:t>
            </a:r>
          </a:p>
          <a:p>
            <a:pPr defTabSz="758379"/>
            <a:endParaRPr lang="en-US" sz="1600" b="1" spc="-83" dirty="0" smtClean="0">
              <a:ln w="3175">
                <a:noFill/>
              </a:ln>
              <a:cs typeface="Arial" charset="0"/>
            </a:endParaRPr>
          </a:p>
          <a:p>
            <a:pPr defTabSz="758379"/>
            <a:r>
              <a:rPr lang="en-US" sz="1600" spc="-83" dirty="0" err="1" smtClean="0">
                <a:ln w="3175">
                  <a:noFill/>
                </a:ln>
                <a:cs typeface="Arial" charset="0"/>
              </a:rPr>
              <a:t>Serviços</a:t>
            </a:r>
            <a:r>
              <a:rPr lang="en-US" sz="1600" spc="-83" dirty="0" smtClean="0">
                <a:ln w="3175">
                  <a:noFill/>
                </a:ln>
                <a:cs typeface="Arial" charset="0"/>
              </a:rPr>
              <a:t> </a:t>
            </a:r>
            <a:r>
              <a:rPr lang="en-US" sz="1600" spc="-83" dirty="0">
                <a:ln w="3175">
                  <a:noFill/>
                </a:ln>
                <a:cs typeface="Arial" charset="0"/>
              </a:rPr>
              <a:t>da Microsoft para </a:t>
            </a:r>
            <a:r>
              <a:rPr lang="en-US" sz="1600" spc="-83" dirty="0" err="1">
                <a:ln w="3175">
                  <a:noFill/>
                </a:ln>
                <a:cs typeface="Arial" charset="0"/>
              </a:rPr>
              <a:t>nuvem</a:t>
            </a:r>
            <a:r>
              <a:rPr lang="en-US" sz="1600" spc="-83" dirty="0">
                <a:ln w="3175">
                  <a:noFill/>
                </a:ln>
                <a:cs typeface="Arial" charset="0"/>
              </a:rPr>
              <a:t> </a:t>
            </a:r>
            <a:r>
              <a:rPr lang="en-US" sz="1600" spc="-83" dirty="0" err="1">
                <a:ln w="3175">
                  <a:noFill/>
                </a:ln>
                <a:cs typeface="Arial" charset="0"/>
              </a:rPr>
              <a:t>pública</a:t>
            </a:r>
            <a:r>
              <a:rPr lang="en-US" sz="1600" spc="-83" dirty="0">
                <a:ln w="3175">
                  <a:noFill/>
                </a:ln>
                <a:cs typeface="Arial" charset="0"/>
              </a:rPr>
              <a:t>.</a:t>
            </a:r>
            <a:endParaRPr lang="en-US" sz="1600" dirty="0"/>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grpSp>
        <p:nvGrpSpPr>
          <p:cNvPr id="24" name="Group 4"/>
          <p:cNvGrpSpPr/>
          <p:nvPr/>
        </p:nvGrpSpPr>
        <p:grpSpPr>
          <a:xfrm>
            <a:off x="6459526" y="1993529"/>
            <a:ext cx="3511791" cy="3913394"/>
            <a:chOff x="3365076" y="1232597"/>
            <a:chExt cx="2745941" cy="3568877"/>
          </a:xfrm>
        </p:grpSpPr>
        <p:pic>
          <p:nvPicPr>
            <p:cNvPr id="25" name="Picture 4" descr="http://farm7.staticflickr.com/6198/6149648253_a3f453cb9e_z.jpg"/>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val="0"/>
                </a:ext>
              </a:extLst>
            </a:blip>
            <a:srcRect l="1" t="5733" r="18331" b="39762"/>
            <a:stretch/>
          </p:blipFill>
          <p:spPr bwMode="auto">
            <a:xfrm>
              <a:off x="3365076" y="1232597"/>
              <a:ext cx="2745941" cy="2746738"/>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8"/>
            <p:cNvGrpSpPr/>
            <p:nvPr/>
          </p:nvGrpSpPr>
          <p:grpSpPr>
            <a:xfrm>
              <a:off x="3365076" y="3979336"/>
              <a:ext cx="2745941" cy="822138"/>
              <a:chOff x="3346615" y="4451875"/>
              <a:chExt cx="2745941" cy="822138"/>
            </a:xfrm>
          </p:grpSpPr>
          <p:sp>
            <p:nvSpPr>
              <p:cNvPr id="27" name="Rectangle 52"/>
              <p:cNvSpPr/>
              <p:nvPr/>
            </p:nvSpPr>
            <p:spPr bwMode="auto">
              <a:xfrm>
                <a:off x="3346615" y="4451875"/>
                <a:ext cx="2745941" cy="822138"/>
              </a:xfrm>
              <a:prstGeom prst="rect">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smtClean="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OneDrive</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p:txBody>
          </p:sp>
          <p:pic>
            <p:nvPicPr>
              <p:cNvPr id="28" name="Picture 71" descr="C:\Users\chrisw\Desktop\Cloud Services 3.png"/>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4936006" y="4538785"/>
                <a:ext cx="904219" cy="623474"/>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178244153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p:cTn id="12" dur="500" fill="hold"/>
                                        <p:tgtEl>
                                          <p:spTgt spid="24"/>
                                        </p:tgtEl>
                                        <p:attrNameLst>
                                          <p:attrName>ppt_w</p:attrName>
                                        </p:attrNameLst>
                                      </p:cBhvr>
                                      <p:tavLst>
                                        <p:tav tm="0">
                                          <p:val>
                                            <p:fltVal val="0"/>
                                          </p:val>
                                        </p:tav>
                                        <p:tav tm="100000">
                                          <p:val>
                                            <p:strVal val="#ppt_w"/>
                                          </p:val>
                                        </p:tav>
                                      </p:tavLst>
                                    </p:anim>
                                    <p:anim calcmode="lin" valueType="num">
                                      <p:cBhvr>
                                        <p:cTn id="13" dur="500" fill="hold"/>
                                        <p:tgtEl>
                                          <p:spTgt spid="24"/>
                                        </p:tgtEl>
                                        <p:attrNameLst>
                                          <p:attrName>ppt_h</p:attrName>
                                        </p:attrNameLst>
                                      </p:cBhvr>
                                      <p:tavLst>
                                        <p:tav tm="0">
                                          <p:val>
                                            <p:fltVal val="0"/>
                                          </p:val>
                                        </p:tav>
                                        <p:tav tm="100000">
                                          <p:val>
                                            <p:strVal val="#ppt_h"/>
                                          </p:val>
                                        </p:tav>
                                      </p:tavLst>
                                    </p:anim>
                                    <p:animEffect transition="in" filter="fade">
                                      <p:cBhvr>
                                        <p:cTn id="1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m 13"/>
          <p:cNvPicPr>
            <a:picLocks noChangeAspect="1"/>
          </p:cNvPicPr>
          <p:nvPr/>
        </p:nvPicPr>
        <p:blipFill>
          <a:blip r:embed="rId3"/>
          <a:stretch>
            <a:fillRect/>
          </a:stretch>
        </p:blipFill>
        <p:spPr>
          <a:xfrm>
            <a:off x="1996821" y="2904433"/>
            <a:ext cx="2696539" cy="2088964"/>
          </a:xfrm>
          <a:prstGeom prst="rect">
            <a:avLst/>
          </a:prstGeom>
        </p:spPr>
      </p:pic>
      <p:pic>
        <p:nvPicPr>
          <p:cNvPr id="17" name="Imagem 16"/>
          <p:cNvPicPr>
            <a:picLocks noChangeAspect="1"/>
          </p:cNvPicPr>
          <p:nvPr/>
        </p:nvPicPr>
        <p:blipFill>
          <a:blip r:embed="rId4"/>
          <a:stretch>
            <a:fillRect/>
          </a:stretch>
        </p:blipFill>
        <p:spPr>
          <a:xfrm>
            <a:off x="3037288" y="5087155"/>
            <a:ext cx="253849" cy="1007930"/>
          </a:xfrm>
          <a:prstGeom prst="rect">
            <a:avLst/>
          </a:prstGeom>
        </p:spPr>
      </p:pic>
      <p:pic>
        <p:nvPicPr>
          <p:cNvPr id="18" name="Imagem 17"/>
          <p:cNvPicPr>
            <a:picLocks noChangeAspect="1"/>
          </p:cNvPicPr>
          <p:nvPr/>
        </p:nvPicPr>
        <p:blipFill>
          <a:blip r:embed="rId4"/>
          <a:stretch>
            <a:fillRect/>
          </a:stretch>
        </p:blipFill>
        <p:spPr>
          <a:xfrm rot="10800000">
            <a:off x="2686816" y="5047361"/>
            <a:ext cx="253849" cy="1007930"/>
          </a:xfrm>
          <a:prstGeom prst="rect">
            <a:avLst/>
          </a:prstGeom>
        </p:spPr>
      </p:pic>
      <p:sp>
        <p:nvSpPr>
          <p:cNvPr id="20" name="CaixaDeTexto 19"/>
          <p:cNvSpPr txBox="1"/>
          <p:nvPr/>
        </p:nvSpPr>
        <p:spPr>
          <a:xfrm>
            <a:off x="2418322" y="3844092"/>
            <a:ext cx="1758955" cy="461665"/>
          </a:xfrm>
          <a:prstGeom prst="rect">
            <a:avLst/>
          </a:prstGeom>
          <a:noFill/>
        </p:spPr>
        <p:txBody>
          <a:bodyPr wrap="square" rtlCol="0">
            <a:spAutoFit/>
          </a:bodyPr>
          <a:lstStyle/>
          <a:p>
            <a:pPr algn="ctr"/>
            <a:r>
              <a:rPr lang="pt-BR" sz="1200" dirty="0" smtClean="0"/>
              <a:t>Como um </a:t>
            </a:r>
            <a:r>
              <a:rPr lang="pt-BR" sz="1200" i="1" dirty="0" err="1" smtClean="0"/>
              <a:t>Pendrive</a:t>
            </a:r>
            <a:r>
              <a:rPr lang="pt-BR" sz="1200" dirty="0" smtClean="0"/>
              <a:t> </a:t>
            </a:r>
          </a:p>
          <a:p>
            <a:pPr algn="ctr"/>
            <a:r>
              <a:rPr lang="pt-BR" sz="1200" dirty="0" smtClean="0"/>
              <a:t>Na nuvem</a:t>
            </a:r>
            <a:endParaRPr lang="en-US" sz="1200" dirty="0"/>
          </a:p>
        </p:txBody>
      </p:sp>
      <p:sp>
        <p:nvSpPr>
          <p:cNvPr id="21" name="CaixaDeTexto 20"/>
          <p:cNvSpPr txBox="1"/>
          <p:nvPr/>
        </p:nvSpPr>
        <p:spPr>
          <a:xfrm>
            <a:off x="327976" y="3481337"/>
            <a:ext cx="1692868" cy="461665"/>
          </a:xfrm>
          <a:prstGeom prst="rect">
            <a:avLst/>
          </a:prstGeom>
          <a:noFill/>
        </p:spPr>
        <p:txBody>
          <a:bodyPr wrap="square" rtlCol="0">
            <a:spAutoFit/>
          </a:bodyPr>
          <a:lstStyle/>
          <a:p>
            <a:pPr algn="ctr"/>
            <a:r>
              <a:rPr lang="pt-BR" sz="1200" dirty="0" smtClean="0"/>
              <a:t>Pode armazenar coisas</a:t>
            </a:r>
          </a:p>
          <a:p>
            <a:pPr algn="ctr"/>
            <a:r>
              <a:rPr lang="pt-BR" sz="1200" dirty="0" smtClean="0"/>
              <a:t>Como quiser...</a:t>
            </a:r>
            <a:endParaRPr lang="en-US" sz="1200" dirty="0"/>
          </a:p>
        </p:txBody>
      </p:sp>
      <p:pic>
        <p:nvPicPr>
          <p:cNvPr id="23" name="Imagem 22"/>
          <p:cNvPicPr>
            <a:picLocks noChangeAspect="1"/>
          </p:cNvPicPr>
          <p:nvPr/>
        </p:nvPicPr>
        <p:blipFill>
          <a:blip r:embed="rId5"/>
          <a:stretch>
            <a:fillRect/>
          </a:stretch>
        </p:blipFill>
        <p:spPr>
          <a:xfrm>
            <a:off x="786022" y="2295276"/>
            <a:ext cx="1078616" cy="771415"/>
          </a:xfrm>
          <a:prstGeom prst="rect">
            <a:avLst/>
          </a:prstGeom>
        </p:spPr>
      </p:pic>
      <p:pic>
        <p:nvPicPr>
          <p:cNvPr id="24" name="Imagem 23"/>
          <p:cNvPicPr>
            <a:picLocks noChangeAspect="1"/>
          </p:cNvPicPr>
          <p:nvPr/>
        </p:nvPicPr>
        <p:blipFill>
          <a:blip r:embed="rId6"/>
          <a:stretch>
            <a:fillRect/>
          </a:stretch>
        </p:blipFill>
        <p:spPr>
          <a:xfrm>
            <a:off x="2784002" y="1704694"/>
            <a:ext cx="716802" cy="839682"/>
          </a:xfrm>
          <a:prstGeom prst="rect">
            <a:avLst/>
          </a:prstGeom>
        </p:spPr>
      </p:pic>
      <p:pic>
        <p:nvPicPr>
          <p:cNvPr id="25" name="Imagem 24"/>
          <p:cNvPicPr>
            <a:picLocks noChangeAspect="1"/>
          </p:cNvPicPr>
          <p:nvPr/>
        </p:nvPicPr>
        <p:blipFill>
          <a:blip r:embed="rId7"/>
          <a:stretch>
            <a:fillRect/>
          </a:stretch>
        </p:blipFill>
        <p:spPr>
          <a:xfrm>
            <a:off x="4213922" y="2264683"/>
            <a:ext cx="662188" cy="689495"/>
          </a:xfrm>
          <a:prstGeom prst="rect">
            <a:avLst/>
          </a:prstGeom>
        </p:spPr>
      </p:pic>
      <p:pic>
        <p:nvPicPr>
          <p:cNvPr id="26" name="Imagem 25"/>
          <p:cNvPicPr>
            <a:picLocks noChangeAspect="1"/>
          </p:cNvPicPr>
          <p:nvPr/>
        </p:nvPicPr>
        <p:blipFill>
          <a:blip r:embed="rId8"/>
          <a:stretch>
            <a:fillRect/>
          </a:stretch>
        </p:blipFill>
        <p:spPr>
          <a:xfrm>
            <a:off x="1531736" y="2840411"/>
            <a:ext cx="525654" cy="505174"/>
          </a:xfrm>
          <a:prstGeom prst="rect">
            <a:avLst/>
          </a:prstGeom>
        </p:spPr>
      </p:pic>
      <p:pic>
        <p:nvPicPr>
          <p:cNvPr id="27" name="Imagem 26"/>
          <p:cNvPicPr>
            <a:picLocks noChangeAspect="1"/>
          </p:cNvPicPr>
          <p:nvPr/>
        </p:nvPicPr>
        <p:blipFill>
          <a:blip r:embed="rId9"/>
          <a:stretch>
            <a:fillRect/>
          </a:stretch>
        </p:blipFill>
        <p:spPr>
          <a:xfrm>
            <a:off x="2985118" y="2455188"/>
            <a:ext cx="279894" cy="587095"/>
          </a:xfrm>
          <a:prstGeom prst="rect">
            <a:avLst/>
          </a:prstGeom>
        </p:spPr>
      </p:pic>
      <p:pic>
        <p:nvPicPr>
          <p:cNvPr id="28" name="Imagem 27"/>
          <p:cNvPicPr>
            <a:picLocks noChangeAspect="1"/>
          </p:cNvPicPr>
          <p:nvPr/>
        </p:nvPicPr>
        <p:blipFill>
          <a:blip r:embed="rId10"/>
          <a:stretch>
            <a:fillRect/>
          </a:stretch>
        </p:blipFill>
        <p:spPr>
          <a:xfrm>
            <a:off x="4177278" y="2830578"/>
            <a:ext cx="416428" cy="539308"/>
          </a:xfrm>
          <a:prstGeom prst="rect">
            <a:avLst/>
          </a:prstGeom>
        </p:spPr>
      </p:pic>
      <p:sp>
        <p:nvSpPr>
          <p:cNvPr id="30" name="CaixaDeTexto 29"/>
          <p:cNvSpPr txBox="1"/>
          <p:nvPr/>
        </p:nvSpPr>
        <p:spPr>
          <a:xfrm rot="20388185">
            <a:off x="806199" y="2178377"/>
            <a:ext cx="699211" cy="246221"/>
          </a:xfrm>
          <a:prstGeom prst="rect">
            <a:avLst/>
          </a:prstGeom>
          <a:noFill/>
        </p:spPr>
        <p:txBody>
          <a:bodyPr wrap="square" rtlCol="0">
            <a:spAutoFit/>
          </a:bodyPr>
          <a:lstStyle/>
          <a:p>
            <a:pPr algn="ctr"/>
            <a:r>
              <a:rPr lang="pt-BR" sz="1000" dirty="0" smtClean="0"/>
              <a:t>PASTAS</a:t>
            </a:r>
            <a:endParaRPr lang="en-US" sz="1000" dirty="0"/>
          </a:p>
        </p:txBody>
      </p:sp>
      <p:sp>
        <p:nvSpPr>
          <p:cNvPr id="31" name="CaixaDeTexto 30"/>
          <p:cNvSpPr txBox="1"/>
          <p:nvPr/>
        </p:nvSpPr>
        <p:spPr>
          <a:xfrm rot="21079820">
            <a:off x="2583590" y="1467589"/>
            <a:ext cx="968871" cy="246221"/>
          </a:xfrm>
          <a:prstGeom prst="rect">
            <a:avLst/>
          </a:prstGeom>
          <a:noFill/>
        </p:spPr>
        <p:txBody>
          <a:bodyPr wrap="square" rtlCol="0">
            <a:spAutoFit/>
          </a:bodyPr>
          <a:lstStyle/>
          <a:p>
            <a:pPr algn="ctr"/>
            <a:r>
              <a:rPr lang="pt-BR" sz="1000" dirty="0" smtClean="0"/>
              <a:t>DOCUMENTOS</a:t>
            </a:r>
            <a:endParaRPr lang="en-US" sz="1000" dirty="0"/>
          </a:p>
        </p:txBody>
      </p:sp>
      <p:sp>
        <p:nvSpPr>
          <p:cNvPr id="32" name="CaixaDeTexto 31"/>
          <p:cNvSpPr txBox="1"/>
          <p:nvPr/>
        </p:nvSpPr>
        <p:spPr>
          <a:xfrm rot="801430">
            <a:off x="4386595" y="2165764"/>
            <a:ext cx="738615" cy="246221"/>
          </a:xfrm>
          <a:prstGeom prst="rect">
            <a:avLst/>
          </a:prstGeom>
          <a:noFill/>
        </p:spPr>
        <p:txBody>
          <a:bodyPr wrap="square" rtlCol="0">
            <a:spAutoFit/>
          </a:bodyPr>
          <a:lstStyle/>
          <a:p>
            <a:pPr algn="ctr"/>
            <a:r>
              <a:rPr lang="pt-BR" sz="1000" dirty="0" smtClean="0"/>
              <a:t>FOTOS</a:t>
            </a:r>
            <a:endParaRPr lang="en-US" sz="1000" dirty="0"/>
          </a:p>
        </p:txBody>
      </p:sp>
      <p:sp>
        <p:nvSpPr>
          <p:cNvPr id="33" name="CaixaDeTexto 32"/>
          <p:cNvSpPr txBox="1"/>
          <p:nvPr/>
        </p:nvSpPr>
        <p:spPr>
          <a:xfrm>
            <a:off x="3320088" y="5353987"/>
            <a:ext cx="824384" cy="246221"/>
          </a:xfrm>
          <a:prstGeom prst="rect">
            <a:avLst/>
          </a:prstGeom>
          <a:noFill/>
        </p:spPr>
        <p:txBody>
          <a:bodyPr wrap="square" rtlCol="0">
            <a:spAutoFit/>
          </a:bodyPr>
          <a:lstStyle/>
          <a:p>
            <a:pPr algn="ctr"/>
            <a:r>
              <a:rPr lang="pt-BR" sz="1000" dirty="0" smtClean="0"/>
              <a:t>COPIAR</a:t>
            </a:r>
            <a:endParaRPr lang="en-US" sz="1000" dirty="0"/>
          </a:p>
        </p:txBody>
      </p:sp>
      <p:pic>
        <p:nvPicPr>
          <p:cNvPr id="34" name="Imagem 33"/>
          <p:cNvPicPr>
            <a:picLocks noChangeAspect="1"/>
          </p:cNvPicPr>
          <p:nvPr/>
        </p:nvPicPr>
        <p:blipFill>
          <a:blip r:embed="rId5"/>
          <a:stretch>
            <a:fillRect/>
          </a:stretch>
        </p:blipFill>
        <p:spPr>
          <a:xfrm rot="1192862">
            <a:off x="2742675" y="6039658"/>
            <a:ext cx="712764" cy="509762"/>
          </a:xfrm>
          <a:prstGeom prst="rect">
            <a:avLst/>
          </a:prstGeom>
        </p:spPr>
      </p:pic>
      <p:sp>
        <p:nvSpPr>
          <p:cNvPr id="35" name="CaixaDeTexto 34"/>
          <p:cNvSpPr txBox="1"/>
          <p:nvPr/>
        </p:nvSpPr>
        <p:spPr>
          <a:xfrm>
            <a:off x="2951112" y="6140355"/>
            <a:ext cx="1329531" cy="400110"/>
          </a:xfrm>
          <a:prstGeom prst="rect">
            <a:avLst/>
          </a:prstGeom>
          <a:noFill/>
        </p:spPr>
        <p:txBody>
          <a:bodyPr wrap="square" rtlCol="0">
            <a:spAutoFit/>
          </a:bodyPr>
          <a:lstStyle/>
          <a:p>
            <a:pPr algn="ctr"/>
            <a:r>
              <a:rPr lang="pt-BR" sz="1000" dirty="0" smtClean="0"/>
              <a:t>PASTAS</a:t>
            </a:r>
          </a:p>
          <a:p>
            <a:pPr algn="ctr"/>
            <a:r>
              <a:rPr lang="pt-BR" sz="1000" dirty="0" smtClean="0"/>
              <a:t>LOCAIS</a:t>
            </a:r>
            <a:endParaRPr lang="en-US" sz="1000" dirty="0"/>
          </a:p>
        </p:txBody>
      </p:sp>
      <p:pic>
        <p:nvPicPr>
          <p:cNvPr id="36" name="Imagem 35"/>
          <p:cNvPicPr>
            <a:picLocks noChangeAspect="1"/>
          </p:cNvPicPr>
          <p:nvPr/>
        </p:nvPicPr>
        <p:blipFill>
          <a:blip r:embed="rId11"/>
          <a:stretch>
            <a:fillRect/>
          </a:stretch>
        </p:blipFill>
        <p:spPr>
          <a:xfrm>
            <a:off x="1654079" y="5831826"/>
            <a:ext cx="832855" cy="675841"/>
          </a:xfrm>
          <a:prstGeom prst="rect">
            <a:avLst/>
          </a:prstGeom>
        </p:spPr>
      </p:pic>
      <p:sp>
        <p:nvSpPr>
          <p:cNvPr id="37" name="CaixaDeTexto 36"/>
          <p:cNvSpPr txBox="1"/>
          <p:nvPr/>
        </p:nvSpPr>
        <p:spPr>
          <a:xfrm>
            <a:off x="842516" y="5942443"/>
            <a:ext cx="1051975" cy="400110"/>
          </a:xfrm>
          <a:prstGeom prst="rect">
            <a:avLst/>
          </a:prstGeom>
          <a:noFill/>
        </p:spPr>
        <p:txBody>
          <a:bodyPr wrap="square" rtlCol="0">
            <a:spAutoFit/>
          </a:bodyPr>
          <a:lstStyle/>
          <a:p>
            <a:pPr algn="ctr"/>
            <a:r>
              <a:rPr lang="pt-BR" sz="1000" dirty="0" err="1" smtClean="0"/>
              <a:t>Client</a:t>
            </a:r>
            <a:r>
              <a:rPr lang="pt-BR" sz="1000" dirty="0" smtClean="0"/>
              <a:t> do </a:t>
            </a:r>
          </a:p>
          <a:p>
            <a:pPr algn="ctr"/>
            <a:r>
              <a:rPr lang="pt-BR" sz="1000" dirty="0" smtClean="0"/>
              <a:t>ONEDRIVE</a:t>
            </a:r>
            <a:endParaRPr lang="en-US" sz="1000" dirty="0"/>
          </a:p>
        </p:txBody>
      </p:sp>
      <p:sp>
        <p:nvSpPr>
          <p:cNvPr id="38" name="CaixaDeTexto 37"/>
          <p:cNvSpPr txBox="1"/>
          <p:nvPr/>
        </p:nvSpPr>
        <p:spPr>
          <a:xfrm>
            <a:off x="2411589" y="4712188"/>
            <a:ext cx="1497490" cy="246221"/>
          </a:xfrm>
          <a:prstGeom prst="rect">
            <a:avLst/>
          </a:prstGeom>
          <a:noFill/>
        </p:spPr>
        <p:txBody>
          <a:bodyPr wrap="square" rtlCol="0">
            <a:spAutoFit/>
          </a:bodyPr>
          <a:lstStyle/>
          <a:p>
            <a:pPr algn="ctr"/>
            <a:r>
              <a:rPr lang="pt-BR" sz="1000" dirty="0" smtClean="0"/>
              <a:t>HTTP://ONEDRIVE.COM</a:t>
            </a:r>
            <a:endParaRPr lang="en-US" sz="1000" dirty="0"/>
          </a:p>
        </p:txBody>
      </p:sp>
      <p:sp>
        <p:nvSpPr>
          <p:cNvPr id="39" name="CaixaDeTexto 38"/>
          <p:cNvSpPr txBox="1"/>
          <p:nvPr/>
        </p:nvSpPr>
        <p:spPr>
          <a:xfrm>
            <a:off x="1426487" y="5119352"/>
            <a:ext cx="1214471" cy="553998"/>
          </a:xfrm>
          <a:prstGeom prst="rect">
            <a:avLst/>
          </a:prstGeom>
          <a:noFill/>
        </p:spPr>
        <p:txBody>
          <a:bodyPr wrap="square" rtlCol="0">
            <a:spAutoFit/>
          </a:bodyPr>
          <a:lstStyle/>
          <a:p>
            <a:pPr algn="ctr"/>
            <a:r>
              <a:rPr lang="pt-BR" sz="1000" dirty="0" smtClean="0"/>
              <a:t>Sincroniza as alterações</a:t>
            </a:r>
          </a:p>
          <a:p>
            <a:pPr algn="ctr"/>
            <a:r>
              <a:rPr lang="pt-BR" sz="1000" dirty="0" smtClean="0"/>
              <a:t>bidireccionalmente</a:t>
            </a:r>
            <a:endParaRPr lang="en-US" sz="1000" dirty="0"/>
          </a:p>
        </p:txBody>
      </p:sp>
      <p:pic>
        <p:nvPicPr>
          <p:cNvPr id="40" name="Imagem 39"/>
          <p:cNvPicPr>
            <a:picLocks noChangeAspect="1"/>
          </p:cNvPicPr>
          <p:nvPr/>
        </p:nvPicPr>
        <p:blipFill>
          <a:blip r:embed="rId12"/>
          <a:stretch>
            <a:fillRect/>
          </a:stretch>
        </p:blipFill>
        <p:spPr>
          <a:xfrm>
            <a:off x="4995665" y="3263688"/>
            <a:ext cx="1467737" cy="730455"/>
          </a:xfrm>
          <a:prstGeom prst="rect">
            <a:avLst/>
          </a:prstGeom>
        </p:spPr>
      </p:pic>
      <p:sp>
        <p:nvSpPr>
          <p:cNvPr id="41" name="CaixaDeTexto 40"/>
          <p:cNvSpPr txBox="1"/>
          <p:nvPr/>
        </p:nvSpPr>
        <p:spPr>
          <a:xfrm>
            <a:off x="5091783" y="4120374"/>
            <a:ext cx="1546101" cy="400110"/>
          </a:xfrm>
          <a:prstGeom prst="rect">
            <a:avLst/>
          </a:prstGeom>
          <a:noFill/>
        </p:spPr>
        <p:txBody>
          <a:bodyPr wrap="square" rtlCol="0">
            <a:spAutoFit/>
          </a:bodyPr>
          <a:lstStyle/>
          <a:p>
            <a:pPr algn="ctr"/>
            <a:r>
              <a:rPr lang="pt-BR" sz="1000" dirty="0" smtClean="0"/>
              <a:t>Mais sobre o</a:t>
            </a:r>
          </a:p>
          <a:p>
            <a:pPr algn="ctr"/>
            <a:r>
              <a:rPr lang="pt-BR" sz="1000" dirty="0" smtClean="0"/>
              <a:t>ONEDRIVE...</a:t>
            </a:r>
            <a:endParaRPr lang="en-US" sz="1000" dirty="0"/>
          </a:p>
        </p:txBody>
      </p:sp>
      <p:grpSp>
        <p:nvGrpSpPr>
          <p:cNvPr id="42" name="Grupo 41"/>
          <p:cNvGrpSpPr/>
          <p:nvPr/>
        </p:nvGrpSpPr>
        <p:grpSpPr>
          <a:xfrm>
            <a:off x="6292186" y="2370240"/>
            <a:ext cx="966931" cy="961400"/>
            <a:chOff x="7079630" y="309093"/>
            <a:chExt cx="1349121" cy="2191240"/>
          </a:xfrm>
        </p:grpSpPr>
        <p:pic>
          <p:nvPicPr>
            <p:cNvPr id="43" name="Imagem 42"/>
            <p:cNvPicPr>
              <a:picLocks noChangeAspect="1"/>
            </p:cNvPicPr>
            <p:nvPr/>
          </p:nvPicPr>
          <p:blipFill>
            <a:blip r:embed="rId13"/>
            <a:stretch>
              <a:fillRect/>
            </a:stretch>
          </p:blipFill>
          <p:spPr>
            <a:xfrm>
              <a:off x="7336865" y="309093"/>
              <a:ext cx="866775" cy="1371600"/>
            </a:xfrm>
            <a:prstGeom prst="rect">
              <a:avLst/>
            </a:prstGeom>
          </p:spPr>
        </p:pic>
        <p:sp>
          <p:nvSpPr>
            <p:cNvPr id="44" name="CaixaDeTexto 43"/>
            <p:cNvSpPr txBox="1"/>
            <p:nvPr/>
          </p:nvSpPr>
          <p:spPr>
            <a:xfrm>
              <a:off x="7079630" y="1588395"/>
              <a:ext cx="1349121" cy="911938"/>
            </a:xfrm>
            <a:prstGeom prst="rect">
              <a:avLst/>
            </a:prstGeom>
            <a:noFill/>
          </p:spPr>
          <p:txBody>
            <a:bodyPr wrap="none" rtlCol="0">
              <a:spAutoFit/>
            </a:bodyPr>
            <a:lstStyle/>
            <a:p>
              <a:pPr algn="ctr"/>
              <a:r>
                <a:rPr lang="pt-BR" sz="1000" dirty="0" smtClean="0"/>
                <a:t>Destinado aos </a:t>
              </a:r>
            </a:p>
            <a:p>
              <a:pPr algn="ctr"/>
              <a:r>
                <a:rPr lang="pt-BR" sz="1000" dirty="0" smtClean="0"/>
                <a:t>consumidores</a:t>
              </a:r>
              <a:endParaRPr lang="en-US" sz="1000" dirty="0"/>
            </a:p>
          </p:txBody>
        </p:sp>
      </p:grpSp>
      <p:grpSp>
        <p:nvGrpSpPr>
          <p:cNvPr id="46" name="Grupo 45"/>
          <p:cNvGrpSpPr/>
          <p:nvPr/>
        </p:nvGrpSpPr>
        <p:grpSpPr>
          <a:xfrm>
            <a:off x="7669473" y="2599911"/>
            <a:ext cx="1369286" cy="665187"/>
            <a:chOff x="8599834" y="917686"/>
            <a:chExt cx="1910513" cy="1516106"/>
          </a:xfrm>
        </p:grpSpPr>
        <p:pic>
          <p:nvPicPr>
            <p:cNvPr id="47" name="Imagem 46"/>
            <p:cNvPicPr>
              <a:picLocks noChangeAspect="1"/>
            </p:cNvPicPr>
            <p:nvPr/>
          </p:nvPicPr>
          <p:blipFill>
            <a:blip r:embed="rId14"/>
            <a:stretch>
              <a:fillRect/>
            </a:stretch>
          </p:blipFill>
          <p:spPr>
            <a:xfrm>
              <a:off x="8849731" y="917686"/>
              <a:ext cx="1266825" cy="695325"/>
            </a:xfrm>
            <a:prstGeom prst="rect">
              <a:avLst/>
            </a:prstGeom>
          </p:spPr>
        </p:pic>
        <p:sp>
          <p:nvSpPr>
            <p:cNvPr id="48" name="CaixaDeTexto 47"/>
            <p:cNvSpPr txBox="1"/>
            <p:nvPr/>
          </p:nvSpPr>
          <p:spPr>
            <a:xfrm>
              <a:off x="8599834" y="1521854"/>
              <a:ext cx="1910513" cy="911938"/>
            </a:xfrm>
            <a:prstGeom prst="rect">
              <a:avLst/>
            </a:prstGeom>
            <a:noFill/>
          </p:spPr>
          <p:txBody>
            <a:bodyPr wrap="none" rtlCol="0">
              <a:spAutoFit/>
            </a:bodyPr>
            <a:lstStyle/>
            <a:p>
              <a:pPr algn="ctr"/>
              <a:r>
                <a:rPr lang="pt-BR" sz="1000" dirty="0" smtClean="0"/>
                <a:t>Você pode armazenar </a:t>
              </a:r>
            </a:p>
            <a:p>
              <a:pPr algn="ctr"/>
              <a:r>
                <a:rPr lang="pt-BR" sz="1000" dirty="0" smtClean="0"/>
                <a:t>7 GB FREE</a:t>
              </a:r>
              <a:endParaRPr lang="en-US" sz="1000" dirty="0"/>
            </a:p>
          </p:txBody>
        </p:sp>
      </p:grpSp>
      <p:grpSp>
        <p:nvGrpSpPr>
          <p:cNvPr id="52" name="Grupo 51"/>
          <p:cNvGrpSpPr/>
          <p:nvPr/>
        </p:nvGrpSpPr>
        <p:grpSpPr>
          <a:xfrm>
            <a:off x="4794651" y="5237486"/>
            <a:ext cx="1374094" cy="786556"/>
            <a:chOff x="6767682" y="3603200"/>
            <a:chExt cx="1917219" cy="1792731"/>
          </a:xfrm>
        </p:grpSpPr>
        <p:pic>
          <p:nvPicPr>
            <p:cNvPr id="53" name="Imagem 52"/>
            <p:cNvPicPr>
              <a:picLocks noChangeAspect="1"/>
            </p:cNvPicPr>
            <p:nvPr/>
          </p:nvPicPr>
          <p:blipFill>
            <a:blip r:embed="rId15"/>
            <a:stretch>
              <a:fillRect/>
            </a:stretch>
          </p:blipFill>
          <p:spPr>
            <a:xfrm>
              <a:off x="7205797" y="3603200"/>
              <a:ext cx="1000125" cy="733425"/>
            </a:xfrm>
            <a:prstGeom prst="rect">
              <a:avLst/>
            </a:prstGeom>
          </p:spPr>
        </p:pic>
        <p:sp>
          <p:nvSpPr>
            <p:cNvPr id="54" name="CaixaDeTexto 53"/>
            <p:cNvSpPr txBox="1"/>
            <p:nvPr/>
          </p:nvSpPr>
          <p:spPr>
            <a:xfrm>
              <a:off x="6767682" y="4483994"/>
              <a:ext cx="1917219" cy="911937"/>
            </a:xfrm>
            <a:prstGeom prst="rect">
              <a:avLst/>
            </a:prstGeom>
            <a:noFill/>
          </p:spPr>
          <p:txBody>
            <a:bodyPr wrap="none" rtlCol="0">
              <a:spAutoFit/>
            </a:bodyPr>
            <a:lstStyle/>
            <a:p>
              <a:pPr algn="ctr"/>
              <a:r>
                <a:rPr lang="pt-BR" sz="1000" dirty="0" smtClean="0"/>
                <a:t>Pode facilmente</a:t>
              </a:r>
            </a:p>
            <a:p>
              <a:pPr algn="ctr"/>
              <a:r>
                <a:rPr lang="pt-BR" sz="1000" dirty="0" smtClean="0"/>
                <a:t>Compartilhar arquivos</a:t>
              </a:r>
              <a:endParaRPr lang="en-US" sz="1000" dirty="0"/>
            </a:p>
          </p:txBody>
        </p:sp>
      </p:grpSp>
      <p:grpSp>
        <p:nvGrpSpPr>
          <p:cNvPr id="55" name="Grupo 54"/>
          <p:cNvGrpSpPr/>
          <p:nvPr/>
        </p:nvGrpSpPr>
        <p:grpSpPr>
          <a:xfrm>
            <a:off x="6637884" y="5176105"/>
            <a:ext cx="1713932" cy="1051808"/>
            <a:chOff x="8486045" y="3295717"/>
            <a:chExt cx="2391382" cy="2397297"/>
          </a:xfrm>
        </p:grpSpPr>
        <p:pic>
          <p:nvPicPr>
            <p:cNvPr id="56" name="Imagem 55"/>
            <p:cNvPicPr>
              <a:picLocks noChangeAspect="1"/>
            </p:cNvPicPr>
            <p:nvPr/>
          </p:nvPicPr>
          <p:blipFill>
            <a:blip r:embed="rId16"/>
            <a:stretch>
              <a:fillRect/>
            </a:stretch>
          </p:blipFill>
          <p:spPr>
            <a:xfrm>
              <a:off x="9153323" y="3295717"/>
              <a:ext cx="942975" cy="962025"/>
            </a:xfrm>
            <a:prstGeom prst="rect">
              <a:avLst/>
            </a:prstGeom>
          </p:spPr>
        </p:pic>
        <p:sp>
          <p:nvSpPr>
            <p:cNvPr id="57" name="CaixaDeTexto 56"/>
            <p:cNvSpPr txBox="1"/>
            <p:nvPr/>
          </p:nvSpPr>
          <p:spPr>
            <a:xfrm>
              <a:off x="8486045" y="4430333"/>
              <a:ext cx="2391382" cy="1262681"/>
            </a:xfrm>
            <a:prstGeom prst="rect">
              <a:avLst/>
            </a:prstGeom>
            <a:noFill/>
          </p:spPr>
          <p:txBody>
            <a:bodyPr wrap="none" rtlCol="0">
              <a:spAutoFit/>
            </a:bodyPr>
            <a:lstStyle/>
            <a:p>
              <a:pPr algn="ctr"/>
              <a:r>
                <a:rPr lang="pt-BR" sz="1000" dirty="0" smtClean="0"/>
                <a:t>Pode usar o ONEDRIVE</a:t>
              </a:r>
            </a:p>
            <a:p>
              <a:pPr algn="ctr"/>
              <a:r>
                <a:rPr lang="pt-BR" sz="1000" dirty="0" smtClean="0"/>
                <a:t>APP em qualquer dispositivo</a:t>
              </a:r>
              <a:br>
                <a:rPr lang="pt-BR" sz="1000" dirty="0" smtClean="0"/>
              </a:br>
              <a:r>
                <a:rPr lang="pt-BR" sz="1000" dirty="0" smtClean="0"/>
                <a:t>móvel</a:t>
              </a:r>
              <a:endParaRPr lang="en-US" sz="1000" dirty="0"/>
            </a:p>
          </p:txBody>
        </p:sp>
      </p:grpSp>
      <p:grpSp>
        <p:nvGrpSpPr>
          <p:cNvPr id="58" name="Grupo 57"/>
          <p:cNvGrpSpPr/>
          <p:nvPr/>
        </p:nvGrpSpPr>
        <p:grpSpPr>
          <a:xfrm>
            <a:off x="8663426" y="5362767"/>
            <a:ext cx="1151277" cy="1094774"/>
            <a:chOff x="10719579" y="3520628"/>
            <a:chExt cx="1606330" cy="2495225"/>
          </a:xfrm>
        </p:grpSpPr>
        <p:pic>
          <p:nvPicPr>
            <p:cNvPr id="59" name="Imagem 58"/>
            <p:cNvPicPr>
              <a:picLocks noChangeAspect="1"/>
            </p:cNvPicPr>
            <p:nvPr/>
          </p:nvPicPr>
          <p:blipFill>
            <a:blip r:embed="rId17"/>
            <a:stretch>
              <a:fillRect/>
            </a:stretch>
          </p:blipFill>
          <p:spPr>
            <a:xfrm>
              <a:off x="11030286" y="3520628"/>
              <a:ext cx="923925" cy="666750"/>
            </a:xfrm>
            <a:prstGeom prst="rect">
              <a:avLst/>
            </a:prstGeom>
          </p:spPr>
        </p:pic>
        <p:sp>
          <p:nvSpPr>
            <p:cNvPr id="60" name="CaixaDeTexto 59"/>
            <p:cNvSpPr txBox="1"/>
            <p:nvPr/>
          </p:nvSpPr>
          <p:spPr>
            <a:xfrm>
              <a:off x="10719579" y="4402429"/>
              <a:ext cx="1606330" cy="1613424"/>
            </a:xfrm>
            <a:prstGeom prst="rect">
              <a:avLst/>
            </a:prstGeom>
            <a:noFill/>
          </p:spPr>
          <p:txBody>
            <a:bodyPr wrap="none" rtlCol="0">
              <a:spAutoFit/>
            </a:bodyPr>
            <a:lstStyle/>
            <a:p>
              <a:pPr algn="ctr"/>
              <a:r>
                <a:rPr lang="pt-BR" sz="1000" dirty="0" smtClean="0"/>
                <a:t>Pode escolher as</a:t>
              </a:r>
            </a:p>
            <a:p>
              <a:pPr algn="ctr"/>
              <a:r>
                <a:rPr lang="pt-BR" sz="1000" dirty="0" smtClean="0"/>
                <a:t>pastas para serem</a:t>
              </a:r>
            </a:p>
            <a:p>
              <a:pPr algn="ctr"/>
              <a:r>
                <a:rPr lang="pt-BR" sz="1000" dirty="0" smtClean="0"/>
                <a:t>Sincronizadas</a:t>
              </a:r>
            </a:p>
            <a:p>
              <a:pPr algn="ctr"/>
              <a:r>
                <a:rPr lang="pt-BR" sz="1000" dirty="0" smtClean="0"/>
                <a:t>localmente</a:t>
              </a:r>
              <a:endParaRPr lang="en-US" sz="1000" dirty="0"/>
            </a:p>
          </p:txBody>
        </p:sp>
      </p:grpSp>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18"/>
          <a:stretch>
            <a:fillRect/>
          </a:stretch>
        </p:blipFill>
        <p:spPr>
          <a:xfrm>
            <a:off x="9092707" y="129598"/>
            <a:ext cx="933147" cy="334448"/>
          </a:xfrm>
          <a:prstGeom prst="rect">
            <a:avLst/>
          </a:prstGeom>
        </p:spPr>
      </p:pic>
      <p:sp>
        <p:nvSpPr>
          <p:cNvPr id="64" name="Rectangle 2"/>
          <p:cNvSpPr/>
          <p:nvPr/>
        </p:nvSpPr>
        <p:spPr>
          <a:xfrm>
            <a:off x="558530" y="942986"/>
            <a:ext cx="8846727" cy="384373"/>
          </a:xfrm>
          <a:prstGeom prst="rect">
            <a:avLst/>
          </a:prstGeom>
        </p:spPr>
        <p:txBody>
          <a:bodyPr wrap="square" lIns="75848" tIns="37928" rIns="75848" bIns="37928">
            <a:spAutoFit/>
          </a:bodyPr>
          <a:lstStyle/>
          <a:p>
            <a:pPr defTabSz="758379"/>
            <a:r>
              <a:rPr lang="en-US" sz="2000" b="1" spc="-83" dirty="0" smtClean="0">
                <a:ln w="3175">
                  <a:noFill/>
                </a:ln>
                <a:solidFill>
                  <a:schemeClr val="accent6"/>
                </a:solidFill>
                <a:cs typeface="Arial" charset="0"/>
              </a:rPr>
              <a:t>O que é OneDrive?</a:t>
            </a:r>
            <a:endParaRPr lang="en-US" sz="2000" dirty="0">
              <a:solidFill>
                <a:schemeClr val="accent6"/>
              </a:solidFill>
            </a:endParaRPr>
          </a:p>
        </p:txBody>
      </p:sp>
    </p:spTree>
    <p:extLst>
      <p:ext uri="{BB962C8B-B14F-4D97-AF65-F5344CB8AC3E}">
        <p14:creationId xmlns:p14="http://schemas.microsoft.com/office/powerpoint/2010/main" val="151781337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30"/>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33"/>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nodeType="after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35"/>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nodeType="after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37"/>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grpId="0" nodeType="afterEffect">
                                  <p:stCondLst>
                                    <p:cond delay="0"/>
                                  </p:stCondLst>
                                  <p:childTnLst>
                                    <p:set>
                                      <p:cBhvr>
                                        <p:cTn id="63" dur="1" fill="hold">
                                          <p:stCondLst>
                                            <p:cond delay="0"/>
                                          </p:stCondLst>
                                        </p:cTn>
                                        <p:tgtEl>
                                          <p:spTgt spid="39"/>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par>
                          <p:cTn id="67" fill="hold">
                            <p:stCondLst>
                              <p:cond delay="0"/>
                            </p:stCondLst>
                            <p:childTnLst>
                              <p:par>
                                <p:cTn id="68" presetID="53" presetClass="entr" presetSubtype="16" fill="hold" nodeType="afterEffect">
                                  <p:stCondLst>
                                    <p:cond delay="0"/>
                                  </p:stCondLst>
                                  <p:childTnLst>
                                    <p:set>
                                      <p:cBhvr>
                                        <p:cTn id="69" dur="1" fill="hold">
                                          <p:stCondLst>
                                            <p:cond delay="0"/>
                                          </p:stCondLst>
                                        </p:cTn>
                                        <p:tgtEl>
                                          <p:spTgt spid="40"/>
                                        </p:tgtEl>
                                        <p:attrNameLst>
                                          <p:attrName>style.visibility</p:attrName>
                                        </p:attrNameLst>
                                      </p:cBhvr>
                                      <p:to>
                                        <p:strVal val="visible"/>
                                      </p:to>
                                    </p:set>
                                    <p:anim calcmode="lin" valueType="num">
                                      <p:cBhvr>
                                        <p:cTn id="70" dur="250" fill="hold"/>
                                        <p:tgtEl>
                                          <p:spTgt spid="40"/>
                                        </p:tgtEl>
                                        <p:attrNameLst>
                                          <p:attrName>ppt_w</p:attrName>
                                        </p:attrNameLst>
                                      </p:cBhvr>
                                      <p:tavLst>
                                        <p:tav tm="0">
                                          <p:val>
                                            <p:fltVal val="0"/>
                                          </p:val>
                                        </p:tav>
                                        <p:tav tm="100000">
                                          <p:val>
                                            <p:strVal val="#ppt_w"/>
                                          </p:val>
                                        </p:tav>
                                      </p:tavLst>
                                    </p:anim>
                                    <p:anim calcmode="lin" valueType="num">
                                      <p:cBhvr>
                                        <p:cTn id="71" dur="250" fill="hold"/>
                                        <p:tgtEl>
                                          <p:spTgt spid="40"/>
                                        </p:tgtEl>
                                        <p:attrNameLst>
                                          <p:attrName>ppt_h</p:attrName>
                                        </p:attrNameLst>
                                      </p:cBhvr>
                                      <p:tavLst>
                                        <p:tav tm="0">
                                          <p:val>
                                            <p:fltVal val="0"/>
                                          </p:val>
                                        </p:tav>
                                        <p:tav tm="100000">
                                          <p:val>
                                            <p:strVal val="#ppt_h"/>
                                          </p:val>
                                        </p:tav>
                                      </p:tavLst>
                                    </p:anim>
                                    <p:animEffect transition="in" filter="fade">
                                      <p:cBhvr>
                                        <p:cTn id="72" dur="250"/>
                                        <p:tgtEl>
                                          <p:spTgt spid="40"/>
                                        </p:tgtEl>
                                      </p:cBhvr>
                                    </p:animEffect>
                                  </p:childTnLst>
                                </p:cTn>
                              </p:par>
                            </p:childTnLst>
                          </p:cTn>
                        </p:par>
                        <p:par>
                          <p:cTn id="73" fill="hold">
                            <p:stCondLst>
                              <p:cond delay="250"/>
                            </p:stCondLst>
                            <p:childTnLst>
                              <p:par>
                                <p:cTn id="74" presetID="53" presetClass="entr" presetSubtype="16" fill="hold" grpId="0" nodeType="afterEffect">
                                  <p:stCondLst>
                                    <p:cond delay="0"/>
                                  </p:stCondLst>
                                  <p:childTnLst>
                                    <p:set>
                                      <p:cBhvr>
                                        <p:cTn id="75" dur="1" fill="hold">
                                          <p:stCondLst>
                                            <p:cond delay="0"/>
                                          </p:stCondLst>
                                        </p:cTn>
                                        <p:tgtEl>
                                          <p:spTgt spid="41"/>
                                        </p:tgtEl>
                                        <p:attrNameLst>
                                          <p:attrName>style.visibility</p:attrName>
                                        </p:attrNameLst>
                                      </p:cBhvr>
                                      <p:to>
                                        <p:strVal val="visible"/>
                                      </p:to>
                                    </p:set>
                                    <p:anim calcmode="lin" valueType="num">
                                      <p:cBhvr>
                                        <p:cTn id="76" dur="250" fill="hold"/>
                                        <p:tgtEl>
                                          <p:spTgt spid="41"/>
                                        </p:tgtEl>
                                        <p:attrNameLst>
                                          <p:attrName>ppt_w</p:attrName>
                                        </p:attrNameLst>
                                      </p:cBhvr>
                                      <p:tavLst>
                                        <p:tav tm="0">
                                          <p:val>
                                            <p:fltVal val="0"/>
                                          </p:val>
                                        </p:tav>
                                        <p:tav tm="100000">
                                          <p:val>
                                            <p:strVal val="#ppt_w"/>
                                          </p:val>
                                        </p:tav>
                                      </p:tavLst>
                                    </p:anim>
                                    <p:anim calcmode="lin" valueType="num">
                                      <p:cBhvr>
                                        <p:cTn id="77" dur="250" fill="hold"/>
                                        <p:tgtEl>
                                          <p:spTgt spid="41"/>
                                        </p:tgtEl>
                                        <p:attrNameLst>
                                          <p:attrName>ppt_h</p:attrName>
                                        </p:attrNameLst>
                                      </p:cBhvr>
                                      <p:tavLst>
                                        <p:tav tm="0">
                                          <p:val>
                                            <p:fltVal val="0"/>
                                          </p:val>
                                        </p:tav>
                                        <p:tav tm="100000">
                                          <p:val>
                                            <p:strVal val="#ppt_h"/>
                                          </p:val>
                                        </p:tav>
                                      </p:tavLst>
                                    </p:anim>
                                    <p:animEffect transition="in" filter="fade">
                                      <p:cBhvr>
                                        <p:cTn id="78" dur="250"/>
                                        <p:tgtEl>
                                          <p:spTgt spid="41"/>
                                        </p:tgtEl>
                                      </p:cBhvr>
                                    </p:animEffect>
                                  </p:childTnLst>
                                </p:cTn>
                              </p:par>
                            </p:childTnLst>
                          </p:cTn>
                        </p:par>
                        <p:par>
                          <p:cTn id="79" fill="hold">
                            <p:stCondLst>
                              <p:cond delay="500"/>
                            </p:stCondLst>
                            <p:childTnLst>
                              <p:par>
                                <p:cTn id="80" presetID="53" presetClass="entr" presetSubtype="16" fill="hold" nodeType="afterEffect">
                                  <p:stCondLst>
                                    <p:cond delay="0"/>
                                  </p:stCondLst>
                                  <p:childTnLst>
                                    <p:set>
                                      <p:cBhvr>
                                        <p:cTn id="81" dur="1" fill="hold">
                                          <p:stCondLst>
                                            <p:cond delay="0"/>
                                          </p:stCondLst>
                                        </p:cTn>
                                        <p:tgtEl>
                                          <p:spTgt spid="42"/>
                                        </p:tgtEl>
                                        <p:attrNameLst>
                                          <p:attrName>style.visibility</p:attrName>
                                        </p:attrNameLst>
                                      </p:cBhvr>
                                      <p:to>
                                        <p:strVal val="visible"/>
                                      </p:to>
                                    </p:set>
                                    <p:anim calcmode="lin" valueType="num">
                                      <p:cBhvr>
                                        <p:cTn id="82" dur="500" fill="hold"/>
                                        <p:tgtEl>
                                          <p:spTgt spid="42"/>
                                        </p:tgtEl>
                                        <p:attrNameLst>
                                          <p:attrName>ppt_w</p:attrName>
                                        </p:attrNameLst>
                                      </p:cBhvr>
                                      <p:tavLst>
                                        <p:tav tm="0">
                                          <p:val>
                                            <p:fltVal val="0"/>
                                          </p:val>
                                        </p:tav>
                                        <p:tav tm="100000">
                                          <p:val>
                                            <p:strVal val="#ppt_w"/>
                                          </p:val>
                                        </p:tav>
                                      </p:tavLst>
                                    </p:anim>
                                    <p:anim calcmode="lin" valueType="num">
                                      <p:cBhvr>
                                        <p:cTn id="83" dur="500" fill="hold"/>
                                        <p:tgtEl>
                                          <p:spTgt spid="42"/>
                                        </p:tgtEl>
                                        <p:attrNameLst>
                                          <p:attrName>ppt_h</p:attrName>
                                        </p:attrNameLst>
                                      </p:cBhvr>
                                      <p:tavLst>
                                        <p:tav tm="0">
                                          <p:val>
                                            <p:fltVal val="0"/>
                                          </p:val>
                                        </p:tav>
                                        <p:tav tm="100000">
                                          <p:val>
                                            <p:strVal val="#ppt_h"/>
                                          </p:val>
                                        </p:tav>
                                      </p:tavLst>
                                    </p:anim>
                                    <p:animEffect transition="in" filter="fade">
                                      <p:cBhvr>
                                        <p:cTn id="84" dur="500"/>
                                        <p:tgtEl>
                                          <p:spTgt spid="42"/>
                                        </p:tgtEl>
                                      </p:cBhvr>
                                    </p:animEffect>
                                  </p:childTnLst>
                                </p:cTn>
                              </p:par>
                            </p:childTnLst>
                          </p:cTn>
                        </p:par>
                        <p:par>
                          <p:cTn id="85" fill="hold">
                            <p:stCondLst>
                              <p:cond delay="1000"/>
                            </p:stCondLst>
                            <p:childTnLst>
                              <p:par>
                                <p:cTn id="86" presetID="53" presetClass="entr" presetSubtype="16" fill="hold" nodeType="afterEffect">
                                  <p:stCondLst>
                                    <p:cond delay="0"/>
                                  </p:stCondLst>
                                  <p:childTnLst>
                                    <p:set>
                                      <p:cBhvr>
                                        <p:cTn id="87" dur="1" fill="hold">
                                          <p:stCondLst>
                                            <p:cond delay="0"/>
                                          </p:stCondLst>
                                        </p:cTn>
                                        <p:tgtEl>
                                          <p:spTgt spid="46"/>
                                        </p:tgtEl>
                                        <p:attrNameLst>
                                          <p:attrName>style.visibility</p:attrName>
                                        </p:attrNameLst>
                                      </p:cBhvr>
                                      <p:to>
                                        <p:strVal val="visible"/>
                                      </p:to>
                                    </p:set>
                                    <p:anim calcmode="lin" valueType="num">
                                      <p:cBhvr>
                                        <p:cTn id="88" dur="500" fill="hold"/>
                                        <p:tgtEl>
                                          <p:spTgt spid="46"/>
                                        </p:tgtEl>
                                        <p:attrNameLst>
                                          <p:attrName>ppt_w</p:attrName>
                                        </p:attrNameLst>
                                      </p:cBhvr>
                                      <p:tavLst>
                                        <p:tav tm="0">
                                          <p:val>
                                            <p:fltVal val="0"/>
                                          </p:val>
                                        </p:tav>
                                        <p:tav tm="100000">
                                          <p:val>
                                            <p:strVal val="#ppt_w"/>
                                          </p:val>
                                        </p:tav>
                                      </p:tavLst>
                                    </p:anim>
                                    <p:anim calcmode="lin" valueType="num">
                                      <p:cBhvr>
                                        <p:cTn id="89" dur="500" fill="hold"/>
                                        <p:tgtEl>
                                          <p:spTgt spid="46"/>
                                        </p:tgtEl>
                                        <p:attrNameLst>
                                          <p:attrName>ppt_h</p:attrName>
                                        </p:attrNameLst>
                                      </p:cBhvr>
                                      <p:tavLst>
                                        <p:tav tm="0">
                                          <p:val>
                                            <p:fltVal val="0"/>
                                          </p:val>
                                        </p:tav>
                                        <p:tav tm="100000">
                                          <p:val>
                                            <p:strVal val="#ppt_h"/>
                                          </p:val>
                                        </p:tav>
                                      </p:tavLst>
                                    </p:anim>
                                    <p:animEffect transition="in" filter="fade">
                                      <p:cBhvr>
                                        <p:cTn id="90" dur="500"/>
                                        <p:tgtEl>
                                          <p:spTgt spid="46"/>
                                        </p:tgtEl>
                                      </p:cBhvr>
                                    </p:animEffect>
                                  </p:childTnLst>
                                </p:cTn>
                              </p:par>
                            </p:childTnLst>
                          </p:cTn>
                        </p:par>
                        <p:par>
                          <p:cTn id="91" fill="hold">
                            <p:stCondLst>
                              <p:cond delay="1500"/>
                            </p:stCondLst>
                            <p:childTnLst>
                              <p:par>
                                <p:cTn id="92" presetID="53" presetClass="entr" presetSubtype="16" fill="hold" nodeType="afterEffect">
                                  <p:stCondLst>
                                    <p:cond delay="0"/>
                                  </p:stCondLst>
                                  <p:childTnLst>
                                    <p:set>
                                      <p:cBhvr>
                                        <p:cTn id="93" dur="1" fill="hold">
                                          <p:stCondLst>
                                            <p:cond delay="0"/>
                                          </p:stCondLst>
                                        </p:cTn>
                                        <p:tgtEl>
                                          <p:spTgt spid="58"/>
                                        </p:tgtEl>
                                        <p:attrNameLst>
                                          <p:attrName>style.visibility</p:attrName>
                                        </p:attrNameLst>
                                      </p:cBhvr>
                                      <p:to>
                                        <p:strVal val="visible"/>
                                      </p:to>
                                    </p:set>
                                    <p:anim calcmode="lin" valueType="num">
                                      <p:cBhvr>
                                        <p:cTn id="94" dur="500" fill="hold"/>
                                        <p:tgtEl>
                                          <p:spTgt spid="58"/>
                                        </p:tgtEl>
                                        <p:attrNameLst>
                                          <p:attrName>ppt_w</p:attrName>
                                        </p:attrNameLst>
                                      </p:cBhvr>
                                      <p:tavLst>
                                        <p:tav tm="0">
                                          <p:val>
                                            <p:fltVal val="0"/>
                                          </p:val>
                                        </p:tav>
                                        <p:tav tm="100000">
                                          <p:val>
                                            <p:strVal val="#ppt_w"/>
                                          </p:val>
                                        </p:tav>
                                      </p:tavLst>
                                    </p:anim>
                                    <p:anim calcmode="lin" valueType="num">
                                      <p:cBhvr>
                                        <p:cTn id="95" dur="500" fill="hold"/>
                                        <p:tgtEl>
                                          <p:spTgt spid="58"/>
                                        </p:tgtEl>
                                        <p:attrNameLst>
                                          <p:attrName>ppt_h</p:attrName>
                                        </p:attrNameLst>
                                      </p:cBhvr>
                                      <p:tavLst>
                                        <p:tav tm="0">
                                          <p:val>
                                            <p:fltVal val="0"/>
                                          </p:val>
                                        </p:tav>
                                        <p:tav tm="100000">
                                          <p:val>
                                            <p:strVal val="#ppt_h"/>
                                          </p:val>
                                        </p:tav>
                                      </p:tavLst>
                                    </p:anim>
                                    <p:animEffect transition="in" filter="fade">
                                      <p:cBhvr>
                                        <p:cTn id="96" dur="500"/>
                                        <p:tgtEl>
                                          <p:spTgt spid="58"/>
                                        </p:tgtEl>
                                      </p:cBhvr>
                                    </p:animEffect>
                                  </p:childTnLst>
                                </p:cTn>
                              </p:par>
                            </p:childTnLst>
                          </p:cTn>
                        </p:par>
                        <p:par>
                          <p:cTn id="97" fill="hold">
                            <p:stCondLst>
                              <p:cond delay="2000"/>
                            </p:stCondLst>
                            <p:childTnLst>
                              <p:par>
                                <p:cTn id="98" presetID="53" presetClass="entr" presetSubtype="16" fill="hold" nodeType="afterEffect">
                                  <p:stCondLst>
                                    <p:cond delay="0"/>
                                  </p:stCondLst>
                                  <p:childTnLst>
                                    <p:set>
                                      <p:cBhvr>
                                        <p:cTn id="99" dur="1" fill="hold">
                                          <p:stCondLst>
                                            <p:cond delay="0"/>
                                          </p:stCondLst>
                                        </p:cTn>
                                        <p:tgtEl>
                                          <p:spTgt spid="55"/>
                                        </p:tgtEl>
                                        <p:attrNameLst>
                                          <p:attrName>style.visibility</p:attrName>
                                        </p:attrNameLst>
                                      </p:cBhvr>
                                      <p:to>
                                        <p:strVal val="visible"/>
                                      </p:to>
                                    </p:set>
                                    <p:anim calcmode="lin" valueType="num">
                                      <p:cBhvr>
                                        <p:cTn id="100" dur="500" fill="hold"/>
                                        <p:tgtEl>
                                          <p:spTgt spid="55"/>
                                        </p:tgtEl>
                                        <p:attrNameLst>
                                          <p:attrName>ppt_w</p:attrName>
                                        </p:attrNameLst>
                                      </p:cBhvr>
                                      <p:tavLst>
                                        <p:tav tm="0">
                                          <p:val>
                                            <p:fltVal val="0"/>
                                          </p:val>
                                        </p:tav>
                                        <p:tav tm="100000">
                                          <p:val>
                                            <p:strVal val="#ppt_w"/>
                                          </p:val>
                                        </p:tav>
                                      </p:tavLst>
                                    </p:anim>
                                    <p:anim calcmode="lin" valueType="num">
                                      <p:cBhvr>
                                        <p:cTn id="101" dur="500" fill="hold"/>
                                        <p:tgtEl>
                                          <p:spTgt spid="55"/>
                                        </p:tgtEl>
                                        <p:attrNameLst>
                                          <p:attrName>ppt_h</p:attrName>
                                        </p:attrNameLst>
                                      </p:cBhvr>
                                      <p:tavLst>
                                        <p:tav tm="0">
                                          <p:val>
                                            <p:fltVal val="0"/>
                                          </p:val>
                                        </p:tav>
                                        <p:tav tm="100000">
                                          <p:val>
                                            <p:strVal val="#ppt_h"/>
                                          </p:val>
                                        </p:tav>
                                      </p:tavLst>
                                    </p:anim>
                                    <p:animEffect transition="in" filter="fade">
                                      <p:cBhvr>
                                        <p:cTn id="102" dur="500"/>
                                        <p:tgtEl>
                                          <p:spTgt spid="55"/>
                                        </p:tgtEl>
                                      </p:cBhvr>
                                    </p:animEffect>
                                  </p:childTnLst>
                                </p:cTn>
                              </p:par>
                            </p:childTnLst>
                          </p:cTn>
                        </p:par>
                        <p:par>
                          <p:cTn id="103" fill="hold">
                            <p:stCondLst>
                              <p:cond delay="2500"/>
                            </p:stCondLst>
                            <p:childTnLst>
                              <p:par>
                                <p:cTn id="104" presetID="53" presetClass="entr" presetSubtype="16" fill="hold" nodeType="afterEffect">
                                  <p:stCondLst>
                                    <p:cond delay="0"/>
                                  </p:stCondLst>
                                  <p:childTnLst>
                                    <p:set>
                                      <p:cBhvr>
                                        <p:cTn id="105" dur="1" fill="hold">
                                          <p:stCondLst>
                                            <p:cond delay="0"/>
                                          </p:stCondLst>
                                        </p:cTn>
                                        <p:tgtEl>
                                          <p:spTgt spid="52"/>
                                        </p:tgtEl>
                                        <p:attrNameLst>
                                          <p:attrName>style.visibility</p:attrName>
                                        </p:attrNameLst>
                                      </p:cBhvr>
                                      <p:to>
                                        <p:strVal val="visible"/>
                                      </p:to>
                                    </p:set>
                                    <p:anim calcmode="lin" valueType="num">
                                      <p:cBhvr>
                                        <p:cTn id="106" dur="500" fill="hold"/>
                                        <p:tgtEl>
                                          <p:spTgt spid="52"/>
                                        </p:tgtEl>
                                        <p:attrNameLst>
                                          <p:attrName>ppt_w</p:attrName>
                                        </p:attrNameLst>
                                      </p:cBhvr>
                                      <p:tavLst>
                                        <p:tav tm="0">
                                          <p:val>
                                            <p:fltVal val="0"/>
                                          </p:val>
                                        </p:tav>
                                        <p:tav tm="100000">
                                          <p:val>
                                            <p:strVal val="#ppt_w"/>
                                          </p:val>
                                        </p:tav>
                                      </p:tavLst>
                                    </p:anim>
                                    <p:anim calcmode="lin" valueType="num">
                                      <p:cBhvr>
                                        <p:cTn id="107" dur="500" fill="hold"/>
                                        <p:tgtEl>
                                          <p:spTgt spid="52"/>
                                        </p:tgtEl>
                                        <p:attrNameLst>
                                          <p:attrName>ppt_h</p:attrName>
                                        </p:attrNameLst>
                                      </p:cBhvr>
                                      <p:tavLst>
                                        <p:tav tm="0">
                                          <p:val>
                                            <p:fltVal val="0"/>
                                          </p:val>
                                        </p:tav>
                                        <p:tav tm="100000">
                                          <p:val>
                                            <p:strVal val="#ppt_h"/>
                                          </p:val>
                                        </p:tav>
                                      </p:tavLst>
                                    </p:anim>
                                    <p:animEffect transition="in" filter="fade">
                                      <p:cBhvr>
                                        <p:cTn id="10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30" grpId="0"/>
      <p:bldP spid="31" grpId="0"/>
      <p:bldP spid="32" grpId="0"/>
      <p:bldP spid="33" grpId="0"/>
      <p:bldP spid="35" grpId="0"/>
      <p:bldP spid="37" grpId="0"/>
      <p:bldP spid="38" grpId="0"/>
      <p:bldP spid="39" grpId="0"/>
      <p:bldP spid="4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1"/>
            </p:custDataLst>
          </p:nvPr>
        </p:nvSpPr>
        <p:spPr bwMode="auto">
          <a:xfrm>
            <a:off x="413388"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45" name="Rectangle 44"/>
          <p:cNvSpPr/>
          <p:nvPr/>
        </p:nvSpPr>
        <p:spPr bwMode="auto">
          <a:xfrm>
            <a:off x="2418340" y="1994727"/>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SharePoint</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p:cNvSpPr/>
          <p:nvPr/>
        </p:nvSpPr>
        <p:spPr bwMode="auto">
          <a:xfrm>
            <a:off x="4423300"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Outlook</a:t>
            </a:r>
          </a:p>
        </p:txBody>
      </p:sp>
      <p:sp>
        <p:nvSpPr>
          <p:cNvPr id="19" name="Rectangle 18"/>
          <p:cNvSpPr/>
          <p:nvPr/>
        </p:nvSpPr>
        <p:spPr bwMode="auto">
          <a:xfrm>
            <a:off x="413388"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Word</a:t>
            </a:r>
          </a:p>
        </p:txBody>
      </p:sp>
      <p:sp>
        <p:nvSpPr>
          <p:cNvPr id="22" name="Rectangle 21"/>
          <p:cNvSpPr/>
          <p:nvPr/>
        </p:nvSpPr>
        <p:spPr bwMode="auto">
          <a:xfrm>
            <a:off x="2418340"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Power Point</a:t>
            </a:r>
          </a:p>
        </p:txBody>
      </p:sp>
      <p:sp>
        <p:nvSpPr>
          <p:cNvPr id="29" name="Rectangle 28"/>
          <p:cNvSpPr/>
          <p:nvPr/>
        </p:nvSpPr>
        <p:spPr bwMode="auto">
          <a:xfrm>
            <a:off x="4412964"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Excel</a:t>
            </a:r>
          </a:p>
        </p:txBody>
      </p:sp>
      <p:sp>
        <p:nvSpPr>
          <p:cNvPr id="3" name="Rectangle 2"/>
          <p:cNvSpPr/>
          <p:nvPr/>
        </p:nvSpPr>
        <p:spPr>
          <a:xfrm>
            <a:off x="558530" y="942986"/>
            <a:ext cx="8846727" cy="876816"/>
          </a:xfrm>
          <a:prstGeom prst="rect">
            <a:avLst/>
          </a:prstGeom>
        </p:spPr>
        <p:txBody>
          <a:bodyPr wrap="square" lIns="75848" tIns="37928" rIns="75848" bIns="37928">
            <a:spAutoFit/>
          </a:bodyPr>
          <a:lstStyle/>
          <a:p>
            <a:pPr defTabSz="758379"/>
            <a:r>
              <a:rPr lang="en-US" sz="2000" b="1" spc="-83" dirty="0" smtClean="0">
                <a:ln w="3175">
                  <a:noFill/>
                </a:ln>
                <a:cs typeface="Arial" charset="0"/>
              </a:rPr>
              <a:t>O que é o Office 365, OneDrive e SharePoint?</a:t>
            </a:r>
          </a:p>
          <a:p>
            <a:pPr defTabSz="758379"/>
            <a:endParaRPr lang="en-US" sz="1600" b="1" spc="-83" dirty="0" smtClean="0">
              <a:ln w="3175">
                <a:noFill/>
              </a:ln>
              <a:cs typeface="Arial" charset="0"/>
            </a:endParaRPr>
          </a:p>
          <a:p>
            <a:pPr defTabSz="758379"/>
            <a:r>
              <a:rPr lang="en-US" sz="1600" spc="-83" dirty="0" err="1" smtClean="0">
                <a:ln w="3175">
                  <a:noFill/>
                </a:ln>
                <a:cs typeface="Arial" charset="0"/>
              </a:rPr>
              <a:t>Serviços</a:t>
            </a:r>
            <a:r>
              <a:rPr lang="en-US" sz="1600" spc="-83" dirty="0" smtClean="0">
                <a:ln w="3175">
                  <a:noFill/>
                </a:ln>
                <a:cs typeface="Arial" charset="0"/>
              </a:rPr>
              <a:t> </a:t>
            </a:r>
            <a:r>
              <a:rPr lang="en-US" sz="1600" spc="-83" dirty="0">
                <a:ln w="3175">
                  <a:noFill/>
                </a:ln>
                <a:cs typeface="Arial" charset="0"/>
              </a:rPr>
              <a:t>da Microsoft para </a:t>
            </a:r>
            <a:r>
              <a:rPr lang="en-US" sz="1600" spc="-83" dirty="0" err="1">
                <a:ln w="3175">
                  <a:noFill/>
                </a:ln>
                <a:cs typeface="Arial" charset="0"/>
              </a:rPr>
              <a:t>nuvem</a:t>
            </a:r>
            <a:r>
              <a:rPr lang="en-US" sz="1600" spc="-83" dirty="0">
                <a:ln w="3175">
                  <a:noFill/>
                </a:ln>
                <a:cs typeface="Arial" charset="0"/>
              </a:rPr>
              <a:t> </a:t>
            </a:r>
            <a:r>
              <a:rPr lang="en-US" sz="1600" spc="-83" dirty="0" err="1">
                <a:ln w="3175">
                  <a:noFill/>
                </a:ln>
                <a:cs typeface="Arial" charset="0"/>
              </a:rPr>
              <a:t>pública</a:t>
            </a:r>
            <a:r>
              <a:rPr lang="en-US" sz="1600" spc="-83" dirty="0">
                <a:ln w="3175">
                  <a:noFill/>
                </a:ln>
                <a:cs typeface="Arial" charset="0"/>
              </a:rPr>
              <a:t>.</a:t>
            </a:r>
            <a:endParaRPr lang="en-US" sz="1600" dirty="0"/>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grpSp>
        <p:nvGrpSpPr>
          <p:cNvPr id="28" name="Group 7"/>
          <p:cNvGrpSpPr/>
          <p:nvPr/>
        </p:nvGrpSpPr>
        <p:grpSpPr>
          <a:xfrm>
            <a:off x="6438599" y="2021304"/>
            <a:ext cx="3532717" cy="3888138"/>
            <a:chOff x="6219568" y="1711216"/>
            <a:chExt cx="2745942" cy="3570259"/>
          </a:xfrm>
        </p:grpSpPr>
        <p:sp>
          <p:nvSpPr>
            <p:cNvPr id="30" name="Rectangle 58"/>
            <p:cNvSpPr/>
            <p:nvPr/>
          </p:nvSpPr>
          <p:spPr bwMode="auto">
            <a:xfrm>
              <a:off x="6219569" y="4451874"/>
              <a:ext cx="2745941" cy="829601"/>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smtClean="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SharePoint</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p:txBody>
        </p:sp>
        <p:pic>
          <p:nvPicPr>
            <p:cNvPr id="32" name="Picture 2" descr="C:\Users\v-junyo\Documents\Jun_Mesh\Microsoft Files\DesignTools\Brand Photos\Office Brand - No_exp\NEW\OFF12_Joi_01.png"/>
            <p:cNvPicPr>
              <a:picLocks noChangeAspect="1" noChangeArrowheads="1"/>
            </p:cNvPicPr>
            <p:nvPr/>
          </p:nvPicPr>
          <p:blipFill rotWithShape="1">
            <a:blip r:embed="rId6">
              <a:extLst>
                <a:ext uri="{28A0092B-C50C-407E-A947-70E740481C1C}">
                  <a14:useLocalDpi xmlns:a14="http://schemas.microsoft.com/office/drawing/2010/main" val="0"/>
                </a:ext>
              </a:extLst>
            </a:blip>
            <a:srcRect/>
            <a:stretch/>
          </p:blipFill>
          <p:spPr bwMode="auto">
            <a:xfrm>
              <a:off x="6219568" y="1711216"/>
              <a:ext cx="2745941" cy="2740658"/>
            </a:xfrm>
            <a:prstGeom prst="rect">
              <a:avLst/>
            </a:prstGeom>
            <a:noFill/>
            <a:extLst>
              <a:ext uri="{909E8E84-426E-40DD-AFC4-6F175D3DCCD1}">
                <a14:hiddenFill xmlns:a14="http://schemas.microsoft.com/office/drawing/2010/main">
                  <a:solidFill>
                    <a:srgbClr val="FFFFFF"/>
                  </a:solidFill>
                </a14:hiddenFill>
              </a:ext>
            </a:extLst>
          </p:spPr>
        </p:pic>
      </p:grpSp>
      <p:pic>
        <p:nvPicPr>
          <p:cNvPr id="17" name="Picture 71" descr="C:\Users\chrisw\Desktop\Cloud Services 3.png"/>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8492202" y="5100721"/>
            <a:ext cx="1156408" cy="683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40335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fltVal val="0"/>
                                          </p:val>
                                        </p:tav>
                                        <p:tav tm="100000">
                                          <p:val>
                                            <p:strVal val="#ppt_h"/>
                                          </p:val>
                                        </p:tav>
                                      </p:tavLst>
                                    </p:anim>
                                    <p:animEffect transition="in" filter="fade">
                                      <p:cBhvr>
                                        <p:cTn id="9" dur="500"/>
                                        <p:tgtEl>
                                          <p:spTgt spid="45"/>
                                        </p:tgtEl>
                                      </p:cBhvr>
                                    </p:animEffect>
                                  </p:childTnLst>
                                </p:cTn>
                              </p:par>
                              <p:par>
                                <p:cTn id="10" presetID="53" presetClass="entr" presetSubtype="16"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16"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sp>
        <p:nvSpPr>
          <p:cNvPr id="12" name="Text Placeholder 1"/>
          <p:cNvSpPr>
            <a:spLocks noGrp="1"/>
          </p:cNvSpPr>
          <p:nvPr>
            <p:ph type="body" idx="4294967295"/>
          </p:nvPr>
        </p:nvSpPr>
        <p:spPr>
          <a:xfrm>
            <a:off x="136478" y="1529818"/>
            <a:ext cx="2125061" cy="4761800"/>
          </a:xfrm>
          <a:prstGeom prst="rect">
            <a:avLst/>
          </a:prstGeom>
          <a:solidFill>
            <a:schemeClr val="accent6"/>
          </a:solidFill>
          <a:ln>
            <a:solidFill>
              <a:schemeClr val="accent6"/>
            </a:solidFill>
          </a:ln>
          <a:effectLst>
            <a:outerShdw blurRad="50800" dist="38100" dir="2700000" algn="tl" rotWithShape="0">
              <a:prstClr val="black">
                <a:alpha val="40000"/>
              </a:prstClr>
            </a:outerShdw>
          </a:effectLst>
        </p:spPr>
        <p:txBody>
          <a:bodyPr>
            <a:normAutofit/>
          </a:bodyPr>
          <a:lstStyle/>
          <a:p>
            <a:pPr marL="0" indent="0">
              <a:buNone/>
            </a:pPr>
            <a:r>
              <a:rPr lang="en-US" sz="2000" b="1" dirty="0" err="1" smtClean="0">
                <a:solidFill>
                  <a:schemeClr val="bg1"/>
                </a:solidFill>
              </a:rPr>
              <a:t>Seu</a:t>
            </a:r>
            <a:r>
              <a:rPr lang="en-US" sz="2000" b="1" dirty="0" smtClean="0">
                <a:solidFill>
                  <a:schemeClr val="bg1"/>
                </a:solidFill>
              </a:rPr>
              <a:t> </a:t>
            </a:r>
            <a:r>
              <a:rPr lang="en-US" sz="2000" b="1" dirty="0" err="1" smtClean="0">
                <a:solidFill>
                  <a:schemeClr val="bg1"/>
                </a:solidFill>
              </a:rPr>
              <a:t>escritório</a:t>
            </a:r>
            <a:r>
              <a:rPr lang="en-US" sz="2000" b="1" dirty="0" smtClean="0">
                <a:solidFill>
                  <a:schemeClr val="bg1"/>
                </a:solidFill>
              </a:rPr>
              <a:t> </a:t>
            </a:r>
            <a:r>
              <a:rPr lang="en-US" sz="2000" b="1" dirty="0" err="1" smtClean="0">
                <a:solidFill>
                  <a:schemeClr val="bg1"/>
                </a:solidFill>
              </a:rPr>
              <a:t>em</a:t>
            </a:r>
            <a:r>
              <a:rPr lang="en-US" sz="2000" b="1" dirty="0" smtClean="0">
                <a:solidFill>
                  <a:schemeClr val="bg1"/>
                </a:solidFill>
              </a:rPr>
              <a:t> </a:t>
            </a:r>
            <a:r>
              <a:rPr lang="en-US" sz="2000" b="1" dirty="0" err="1" smtClean="0">
                <a:solidFill>
                  <a:schemeClr val="bg1"/>
                </a:solidFill>
              </a:rPr>
              <a:t>todos</a:t>
            </a:r>
            <a:r>
              <a:rPr lang="en-US" sz="2000" b="1" dirty="0" smtClean="0">
                <a:solidFill>
                  <a:schemeClr val="bg1"/>
                </a:solidFill>
              </a:rPr>
              <a:t> </a:t>
            </a:r>
            <a:r>
              <a:rPr lang="en-US" sz="2000" b="1" dirty="0" err="1" smtClean="0">
                <a:solidFill>
                  <a:schemeClr val="bg1"/>
                </a:solidFill>
              </a:rPr>
              <a:t>os</a:t>
            </a:r>
            <a:r>
              <a:rPr lang="en-US" sz="2000" b="1" dirty="0" smtClean="0">
                <a:solidFill>
                  <a:schemeClr val="bg1"/>
                </a:solidFill>
              </a:rPr>
              <a:t> </a:t>
            </a:r>
            <a:r>
              <a:rPr lang="en-US" sz="2000" b="1" dirty="0" err="1" smtClean="0">
                <a:solidFill>
                  <a:schemeClr val="bg1"/>
                </a:solidFill>
              </a:rPr>
              <a:t>lugares</a:t>
            </a:r>
            <a:endParaRPr lang="en-US" sz="2000" b="1" dirty="0" smtClean="0">
              <a:solidFill>
                <a:schemeClr val="bg1"/>
              </a:solidFill>
            </a:endParaRPr>
          </a:p>
          <a:p>
            <a:pPr marL="0" indent="0">
              <a:buNone/>
            </a:pPr>
            <a:endParaRPr lang="en-US" sz="2000" b="1" dirty="0" smtClean="0">
              <a:solidFill>
                <a:schemeClr val="bg1"/>
              </a:solidFill>
            </a:endParaRPr>
          </a:p>
          <a:p>
            <a:pPr marL="0" indent="0">
              <a:buNone/>
            </a:pPr>
            <a:r>
              <a:rPr lang="pt-BR" sz="1600" dirty="0">
                <a:gradFill>
                  <a:gsLst>
                    <a:gs pos="100000">
                      <a:schemeClr val="bg1"/>
                    </a:gs>
                    <a:gs pos="0">
                      <a:schemeClr val="bg1"/>
                    </a:gs>
                  </a:gsLst>
                  <a:lin ang="5400000" scaled="0"/>
                </a:gradFill>
              </a:rPr>
              <a:t>Office agora está sempre conectado</a:t>
            </a:r>
          </a:p>
        </p:txBody>
      </p:sp>
      <p:sp>
        <p:nvSpPr>
          <p:cNvPr id="33" name="CaixaDeTexto 32"/>
          <p:cNvSpPr txBox="1"/>
          <p:nvPr/>
        </p:nvSpPr>
        <p:spPr>
          <a:xfrm>
            <a:off x="725715" y="895909"/>
            <a:ext cx="8679542" cy="400110"/>
          </a:xfrm>
          <a:prstGeom prst="rect">
            <a:avLst/>
          </a:prstGeom>
          <a:noFill/>
        </p:spPr>
        <p:txBody>
          <a:bodyPr wrap="square" rtlCol="0">
            <a:spAutoFit/>
          </a:bodyPr>
          <a:lstStyle/>
          <a:p>
            <a:r>
              <a:rPr lang="en-US" sz="2000" b="1" dirty="0" smtClean="0">
                <a:solidFill>
                  <a:schemeClr val="accent6"/>
                </a:solidFill>
              </a:rPr>
              <a:t>SharePoint</a:t>
            </a:r>
            <a:endParaRPr lang="en-US" sz="2000" b="1" dirty="0">
              <a:solidFill>
                <a:schemeClr val="accent6"/>
              </a:solidFill>
            </a:endParaRPr>
          </a:p>
        </p:txBody>
      </p:sp>
      <p:grpSp>
        <p:nvGrpSpPr>
          <p:cNvPr id="18" name="Group 32"/>
          <p:cNvGrpSpPr/>
          <p:nvPr/>
        </p:nvGrpSpPr>
        <p:grpSpPr>
          <a:xfrm>
            <a:off x="2663943" y="1631561"/>
            <a:ext cx="8602501" cy="4836544"/>
            <a:chOff x="3810934" y="946767"/>
            <a:chExt cx="8603622" cy="4799076"/>
          </a:xfrm>
        </p:grpSpPr>
        <p:pic>
          <p:nvPicPr>
            <p:cNvPr id="19" name="Picture 14"/>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3810934" y="946767"/>
              <a:ext cx="8603622" cy="4799076"/>
            </a:xfrm>
            <a:prstGeom prst="rect">
              <a:avLst/>
            </a:prstGeom>
            <a:ln>
              <a:solidFill>
                <a:schemeClr val="bg2"/>
              </a:solidFill>
            </a:ln>
          </p:spPr>
        </p:pic>
        <p:grpSp>
          <p:nvGrpSpPr>
            <p:cNvPr id="20" name="Group 19"/>
            <p:cNvGrpSpPr/>
            <p:nvPr/>
          </p:nvGrpSpPr>
          <p:grpSpPr>
            <a:xfrm>
              <a:off x="7145182" y="3771485"/>
              <a:ext cx="3337002" cy="545807"/>
              <a:chOff x="4193500" y="360800"/>
              <a:chExt cx="3337002" cy="545807"/>
            </a:xfrm>
          </p:grpSpPr>
          <p:cxnSp>
            <p:nvCxnSpPr>
              <p:cNvPr id="21" name="Straight Connector 20"/>
              <p:cNvCxnSpPr/>
              <p:nvPr/>
            </p:nvCxnSpPr>
            <p:spPr>
              <a:xfrm>
                <a:off x="5597492" y="633704"/>
                <a:ext cx="1933010" cy="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2" name="TextBox 4"/>
              <p:cNvSpPr txBox="1"/>
              <p:nvPr/>
            </p:nvSpPr>
            <p:spPr>
              <a:xfrm>
                <a:off x="4193500" y="360800"/>
                <a:ext cx="1935126" cy="545807"/>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600" dirty="0" err="1"/>
                  <a:t>Retome</a:t>
                </a:r>
                <a:r>
                  <a:rPr lang="en-US" sz="1600" dirty="0"/>
                  <a:t> o </a:t>
                </a:r>
                <a:r>
                  <a:rPr lang="en-US" sz="1600" dirty="0" err="1"/>
                  <a:t>trabalho</a:t>
                </a:r>
                <a:r>
                  <a:rPr lang="en-US" sz="1600" dirty="0"/>
                  <a:t> de </a:t>
                </a:r>
                <a:r>
                  <a:rPr lang="en-US" sz="1600" dirty="0" err="1"/>
                  <a:t>onde</a:t>
                </a:r>
                <a:r>
                  <a:rPr lang="en-US" sz="1600" dirty="0"/>
                  <a:t> </a:t>
                </a:r>
                <a:r>
                  <a:rPr lang="en-US" sz="1600" dirty="0" err="1"/>
                  <a:t>parou</a:t>
                </a:r>
                <a:endParaRPr lang="en-US" sz="1600" dirty="0"/>
              </a:p>
            </p:txBody>
          </p:sp>
        </p:grpSp>
      </p:grpSp>
    </p:spTree>
    <p:extLst>
      <p:ext uri="{BB962C8B-B14F-4D97-AF65-F5344CB8AC3E}">
        <p14:creationId xmlns:p14="http://schemas.microsoft.com/office/powerpoint/2010/main" val="408031942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sp>
        <p:nvSpPr>
          <p:cNvPr id="12" name="Text Placeholder 1"/>
          <p:cNvSpPr>
            <a:spLocks noGrp="1"/>
          </p:cNvSpPr>
          <p:nvPr>
            <p:ph type="body" idx="4294967295"/>
          </p:nvPr>
        </p:nvSpPr>
        <p:spPr>
          <a:xfrm>
            <a:off x="136478" y="1529818"/>
            <a:ext cx="2125061" cy="4761800"/>
          </a:xfrm>
          <a:prstGeom prst="rect">
            <a:avLst/>
          </a:prstGeom>
          <a:solidFill>
            <a:schemeClr val="accent6"/>
          </a:solidFill>
          <a:ln>
            <a:solidFill>
              <a:schemeClr val="accent6"/>
            </a:solidFill>
          </a:ln>
          <a:effectLst>
            <a:outerShdw blurRad="50800" dist="38100" dir="2700000" algn="tl" rotWithShape="0">
              <a:prstClr val="black">
                <a:alpha val="40000"/>
              </a:prstClr>
            </a:outerShdw>
          </a:effectLst>
        </p:spPr>
        <p:txBody>
          <a:bodyPr>
            <a:normAutofit/>
          </a:bodyPr>
          <a:lstStyle/>
          <a:p>
            <a:pPr marL="0" indent="0">
              <a:buNone/>
            </a:pPr>
            <a:r>
              <a:rPr lang="en-US" sz="2000" b="1" dirty="0" err="1" smtClean="0">
                <a:solidFill>
                  <a:schemeClr val="bg1"/>
                </a:solidFill>
              </a:rPr>
              <a:t>Seu</a:t>
            </a:r>
            <a:r>
              <a:rPr lang="en-US" sz="2000" b="1" dirty="0" smtClean="0">
                <a:solidFill>
                  <a:schemeClr val="bg1"/>
                </a:solidFill>
              </a:rPr>
              <a:t> </a:t>
            </a:r>
            <a:r>
              <a:rPr lang="en-US" sz="2000" b="1" dirty="0" err="1" smtClean="0">
                <a:solidFill>
                  <a:schemeClr val="bg1"/>
                </a:solidFill>
              </a:rPr>
              <a:t>escritório</a:t>
            </a:r>
            <a:r>
              <a:rPr lang="en-US" sz="2000" b="1" dirty="0" smtClean="0">
                <a:solidFill>
                  <a:schemeClr val="bg1"/>
                </a:solidFill>
              </a:rPr>
              <a:t> </a:t>
            </a:r>
            <a:r>
              <a:rPr lang="en-US" sz="2000" b="1" dirty="0" err="1" smtClean="0">
                <a:solidFill>
                  <a:schemeClr val="bg1"/>
                </a:solidFill>
              </a:rPr>
              <a:t>em</a:t>
            </a:r>
            <a:r>
              <a:rPr lang="en-US" sz="2000" b="1" dirty="0" smtClean="0">
                <a:solidFill>
                  <a:schemeClr val="bg1"/>
                </a:solidFill>
              </a:rPr>
              <a:t> </a:t>
            </a:r>
            <a:r>
              <a:rPr lang="en-US" sz="2000" b="1" dirty="0" err="1" smtClean="0">
                <a:solidFill>
                  <a:schemeClr val="bg1"/>
                </a:solidFill>
              </a:rPr>
              <a:t>todos</a:t>
            </a:r>
            <a:r>
              <a:rPr lang="en-US" sz="2000" b="1" dirty="0" smtClean="0">
                <a:solidFill>
                  <a:schemeClr val="bg1"/>
                </a:solidFill>
              </a:rPr>
              <a:t> </a:t>
            </a:r>
            <a:r>
              <a:rPr lang="en-US" sz="2000" b="1" dirty="0" err="1" smtClean="0">
                <a:solidFill>
                  <a:schemeClr val="bg1"/>
                </a:solidFill>
              </a:rPr>
              <a:t>os</a:t>
            </a:r>
            <a:r>
              <a:rPr lang="en-US" sz="2000" b="1" dirty="0" smtClean="0">
                <a:solidFill>
                  <a:schemeClr val="bg1"/>
                </a:solidFill>
              </a:rPr>
              <a:t> </a:t>
            </a:r>
            <a:r>
              <a:rPr lang="en-US" sz="2000" b="1" dirty="0" err="1" smtClean="0">
                <a:solidFill>
                  <a:schemeClr val="bg1"/>
                </a:solidFill>
              </a:rPr>
              <a:t>lugares</a:t>
            </a:r>
            <a:endParaRPr lang="en-US" sz="2000" b="1" dirty="0" smtClean="0">
              <a:solidFill>
                <a:schemeClr val="bg1"/>
              </a:solidFill>
            </a:endParaRPr>
          </a:p>
          <a:p>
            <a:pPr marL="0" indent="0">
              <a:buNone/>
            </a:pPr>
            <a:endParaRPr lang="en-US" sz="2000" b="1" dirty="0" smtClean="0">
              <a:solidFill>
                <a:schemeClr val="bg1"/>
              </a:solidFill>
            </a:endParaRPr>
          </a:p>
          <a:p>
            <a:pPr marL="0" indent="0">
              <a:buNone/>
            </a:pPr>
            <a:r>
              <a:rPr lang="pt-BR" sz="1600" dirty="0">
                <a:gradFill>
                  <a:gsLst>
                    <a:gs pos="100000">
                      <a:schemeClr val="bg1"/>
                    </a:gs>
                    <a:gs pos="0">
                      <a:schemeClr val="bg1"/>
                    </a:gs>
                  </a:gsLst>
                  <a:lin ang="5400000" scaled="0"/>
                </a:gradFill>
              </a:rPr>
              <a:t>Leve suas configurações e continue de onde você parou</a:t>
            </a:r>
          </a:p>
        </p:txBody>
      </p:sp>
      <p:sp>
        <p:nvSpPr>
          <p:cNvPr id="33" name="CaixaDeTexto 32"/>
          <p:cNvSpPr txBox="1"/>
          <p:nvPr/>
        </p:nvSpPr>
        <p:spPr>
          <a:xfrm>
            <a:off x="725715" y="895909"/>
            <a:ext cx="8679542" cy="400110"/>
          </a:xfrm>
          <a:prstGeom prst="rect">
            <a:avLst/>
          </a:prstGeom>
          <a:noFill/>
        </p:spPr>
        <p:txBody>
          <a:bodyPr wrap="square" rtlCol="0">
            <a:spAutoFit/>
          </a:bodyPr>
          <a:lstStyle/>
          <a:p>
            <a:r>
              <a:rPr lang="en-US" sz="2000" b="1" dirty="0" smtClean="0">
                <a:solidFill>
                  <a:schemeClr val="accent6"/>
                </a:solidFill>
              </a:rPr>
              <a:t>SharePoint</a:t>
            </a:r>
            <a:endParaRPr lang="en-US" sz="2000" b="1" dirty="0">
              <a:solidFill>
                <a:schemeClr val="accent6"/>
              </a:solidFill>
            </a:endParaRPr>
          </a:p>
        </p:txBody>
      </p:sp>
      <p:pic>
        <p:nvPicPr>
          <p:cNvPr id="14" name="Picture 2"/>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839055" y="1529818"/>
            <a:ext cx="7267471" cy="4836545"/>
          </a:xfrm>
          <a:prstGeom prst="rect">
            <a:avLst/>
          </a:prstGeom>
        </p:spPr>
      </p:pic>
      <p:grpSp>
        <p:nvGrpSpPr>
          <p:cNvPr id="15" name="Group 41"/>
          <p:cNvGrpSpPr/>
          <p:nvPr/>
        </p:nvGrpSpPr>
        <p:grpSpPr>
          <a:xfrm>
            <a:off x="3166843" y="2254582"/>
            <a:ext cx="3775175" cy="488521"/>
            <a:chOff x="3187417" y="675777"/>
            <a:chExt cx="3775667" cy="488585"/>
          </a:xfrm>
          <a:solidFill>
            <a:schemeClr val="accent5">
              <a:lumMod val="40000"/>
              <a:lumOff val="60000"/>
            </a:schemeClr>
          </a:solidFill>
        </p:grpSpPr>
        <p:cxnSp>
          <p:nvCxnSpPr>
            <p:cNvPr id="16" name="Straight Connector 42"/>
            <p:cNvCxnSpPr/>
            <p:nvPr/>
          </p:nvCxnSpPr>
          <p:spPr>
            <a:xfrm flipH="1" flipV="1">
              <a:off x="3187417" y="942221"/>
              <a:ext cx="873781" cy="1"/>
            </a:xfrm>
            <a:prstGeom prst="line">
              <a:avLst/>
            </a:prstGeom>
            <a:grpFill/>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7" name="TextBox 4"/>
            <p:cNvSpPr txBox="1"/>
            <p:nvPr/>
          </p:nvSpPr>
          <p:spPr>
            <a:xfrm>
              <a:off x="4061198" y="675777"/>
              <a:ext cx="2901886" cy="488585"/>
            </a:xfrm>
            <a:prstGeom prst="rect">
              <a:avLst/>
            </a:prstGeom>
            <a:grp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t>A </a:t>
              </a:r>
              <a:r>
                <a:rPr lang="en-US" sz="1400" dirty="0" err="1"/>
                <a:t>lista</a:t>
              </a:r>
              <a:r>
                <a:rPr lang="en-US" sz="1400" dirty="0"/>
                <a:t> de </a:t>
              </a:r>
              <a:r>
                <a:rPr lang="en-US" sz="1400" dirty="0" err="1"/>
                <a:t>documentos</a:t>
              </a:r>
              <a:r>
                <a:rPr lang="en-US" sz="1400" dirty="0"/>
                <a:t> </a:t>
              </a:r>
              <a:r>
                <a:rPr lang="en-US" sz="1400" dirty="0" err="1"/>
                <a:t>recentes</a:t>
              </a:r>
              <a:r>
                <a:rPr lang="en-US" sz="1400" dirty="0"/>
                <a:t> agora </a:t>
              </a:r>
              <a:r>
                <a:rPr lang="en-US" sz="1400" dirty="0" err="1"/>
                <a:t>vai</a:t>
              </a:r>
              <a:r>
                <a:rPr lang="en-US" sz="1400" dirty="0"/>
                <a:t> </a:t>
              </a:r>
              <a:r>
                <a:rPr lang="en-US" sz="1400" dirty="0" err="1"/>
                <a:t>junto</a:t>
              </a:r>
              <a:r>
                <a:rPr lang="en-US" sz="1400" dirty="0"/>
                <a:t> com </a:t>
              </a:r>
              <a:r>
                <a:rPr lang="en-US" sz="1400" dirty="0" err="1"/>
                <a:t>você</a:t>
              </a:r>
              <a:endParaRPr lang="en-US" sz="1400" dirty="0"/>
            </a:p>
          </p:txBody>
        </p:sp>
      </p:grpSp>
    </p:spTree>
    <p:extLst>
      <p:ext uri="{BB962C8B-B14F-4D97-AF65-F5344CB8AC3E}">
        <p14:creationId xmlns:p14="http://schemas.microsoft.com/office/powerpoint/2010/main" val="222700243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sp>
        <p:nvSpPr>
          <p:cNvPr id="12" name="Text Placeholder 1"/>
          <p:cNvSpPr>
            <a:spLocks noGrp="1"/>
          </p:cNvSpPr>
          <p:nvPr>
            <p:ph type="body" idx="4294967295"/>
          </p:nvPr>
        </p:nvSpPr>
        <p:spPr>
          <a:xfrm>
            <a:off x="136478" y="1529818"/>
            <a:ext cx="2125061" cy="4761800"/>
          </a:xfrm>
          <a:prstGeom prst="rect">
            <a:avLst/>
          </a:prstGeom>
          <a:solidFill>
            <a:schemeClr val="accent6"/>
          </a:solidFill>
          <a:ln>
            <a:solidFill>
              <a:schemeClr val="accent6"/>
            </a:solidFill>
          </a:ln>
          <a:effectLst>
            <a:outerShdw blurRad="50800" dist="38100" dir="2700000" algn="tl" rotWithShape="0">
              <a:prstClr val="black">
                <a:alpha val="40000"/>
              </a:prstClr>
            </a:outerShdw>
          </a:effectLst>
        </p:spPr>
        <p:txBody>
          <a:bodyPr>
            <a:normAutofit/>
          </a:bodyPr>
          <a:lstStyle/>
          <a:p>
            <a:pPr marL="0" indent="0">
              <a:buNone/>
            </a:pPr>
            <a:r>
              <a:rPr lang="en-US" sz="2000" b="1" dirty="0" err="1" smtClean="0">
                <a:solidFill>
                  <a:schemeClr val="bg1"/>
                </a:solidFill>
              </a:rPr>
              <a:t>Seu</a:t>
            </a:r>
            <a:r>
              <a:rPr lang="en-US" sz="2000" b="1" dirty="0" smtClean="0">
                <a:solidFill>
                  <a:schemeClr val="bg1"/>
                </a:solidFill>
              </a:rPr>
              <a:t> </a:t>
            </a:r>
            <a:r>
              <a:rPr lang="en-US" sz="2000" b="1" dirty="0" err="1" smtClean="0">
                <a:solidFill>
                  <a:schemeClr val="bg1"/>
                </a:solidFill>
              </a:rPr>
              <a:t>escritório</a:t>
            </a:r>
            <a:r>
              <a:rPr lang="en-US" sz="2000" b="1" dirty="0" smtClean="0">
                <a:solidFill>
                  <a:schemeClr val="bg1"/>
                </a:solidFill>
              </a:rPr>
              <a:t> </a:t>
            </a:r>
            <a:r>
              <a:rPr lang="en-US" sz="2000" b="1" dirty="0" err="1" smtClean="0">
                <a:solidFill>
                  <a:schemeClr val="bg1"/>
                </a:solidFill>
              </a:rPr>
              <a:t>em</a:t>
            </a:r>
            <a:r>
              <a:rPr lang="en-US" sz="2000" b="1" dirty="0" smtClean="0">
                <a:solidFill>
                  <a:schemeClr val="bg1"/>
                </a:solidFill>
              </a:rPr>
              <a:t> </a:t>
            </a:r>
            <a:r>
              <a:rPr lang="en-US" sz="2000" b="1" dirty="0" err="1" smtClean="0">
                <a:solidFill>
                  <a:schemeClr val="bg1"/>
                </a:solidFill>
              </a:rPr>
              <a:t>todos</a:t>
            </a:r>
            <a:r>
              <a:rPr lang="en-US" sz="2000" b="1" dirty="0" smtClean="0">
                <a:solidFill>
                  <a:schemeClr val="bg1"/>
                </a:solidFill>
              </a:rPr>
              <a:t> </a:t>
            </a:r>
            <a:r>
              <a:rPr lang="en-US" sz="2000" b="1" dirty="0" err="1" smtClean="0">
                <a:solidFill>
                  <a:schemeClr val="bg1"/>
                </a:solidFill>
              </a:rPr>
              <a:t>os</a:t>
            </a:r>
            <a:r>
              <a:rPr lang="en-US" sz="2000" b="1" dirty="0" smtClean="0">
                <a:solidFill>
                  <a:schemeClr val="bg1"/>
                </a:solidFill>
              </a:rPr>
              <a:t> </a:t>
            </a:r>
            <a:r>
              <a:rPr lang="en-US" sz="2000" b="1" dirty="0" err="1" smtClean="0">
                <a:solidFill>
                  <a:schemeClr val="bg1"/>
                </a:solidFill>
              </a:rPr>
              <a:t>lugares</a:t>
            </a:r>
            <a:endParaRPr lang="en-US" sz="2000" b="1" dirty="0" smtClean="0">
              <a:solidFill>
                <a:schemeClr val="bg1"/>
              </a:solidFill>
            </a:endParaRPr>
          </a:p>
          <a:p>
            <a:pPr marL="0" indent="0">
              <a:buNone/>
            </a:pPr>
            <a:endParaRPr lang="en-US" sz="2000" b="1" dirty="0" smtClean="0">
              <a:solidFill>
                <a:schemeClr val="bg1"/>
              </a:solidFill>
            </a:endParaRPr>
          </a:p>
          <a:p>
            <a:pPr marL="0" indent="0">
              <a:buNone/>
            </a:pPr>
            <a:r>
              <a:rPr lang="pt-BR" sz="1600" dirty="0">
                <a:gradFill>
                  <a:gsLst>
                    <a:gs pos="100000">
                      <a:schemeClr val="bg1"/>
                    </a:gs>
                    <a:gs pos="0">
                      <a:schemeClr val="bg1"/>
                    </a:gs>
                  </a:gsLst>
                  <a:lin ang="5400000" scaled="0"/>
                </a:gradFill>
              </a:rPr>
              <a:t>Salva na nuvem por padrão com o </a:t>
            </a:r>
            <a:r>
              <a:rPr lang="pt-BR" sz="1600" dirty="0" err="1">
                <a:gradFill>
                  <a:gsLst>
                    <a:gs pos="100000">
                      <a:schemeClr val="bg1"/>
                    </a:gs>
                    <a:gs pos="0">
                      <a:schemeClr val="bg1"/>
                    </a:gs>
                  </a:gsLst>
                  <a:lin ang="5400000" scaled="0"/>
                </a:gradFill>
              </a:rPr>
              <a:t>SkyDrive</a:t>
            </a:r>
            <a:r>
              <a:rPr lang="pt-BR" sz="1600" dirty="0">
                <a:gradFill>
                  <a:gsLst>
                    <a:gs pos="100000">
                      <a:schemeClr val="bg1"/>
                    </a:gs>
                    <a:gs pos="0">
                      <a:schemeClr val="bg1"/>
                    </a:gs>
                  </a:gsLst>
                  <a:lin ang="5400000" scaled="0"/>
                </a:gradFill>
              </a:rPr>
              <a:t> &amp; </a:t>
            </a:r>
            <a:r>
              <a:rPr lang="pt-BR" sz="1600" dirty="0" err="1">
                <a:gradFill>
                  <a:gsLst>
                    <a:gs pos="100000">
                      <a:schemeClr val="bg1"/>
                    </a:gs>
                    <a:gs pos="0">
                      <a:schemeClr val="bg1"/>
                    </a:gs>
                  </a:gsLst>
                  <a:lin ang="5400000" scaled="0"/>
                </a:gradFill>
              </a:rPr>
              <a:t>SkyDrive</a:t>
            </a:r>
            <a:r>
              <a:rPr lang="pt-BR" sz="1600" dirty="0">
                <a:gradFill>
                  <a:gsLst>
                    <a:gs pos="100000">
                      <a:schemeClr val="bg1"/>
                    </a:gs>
                    <a:gs pos="0">
                      <a:schemeClr val="bg1"/>
                    </a:gs>
                  </a:gsLst>
                  <a:lin ang="5400000" scaled="0"/>
                </a:gradFill>
              </a:rPr>
              <a:t> Pro</a:t>
            </a:r>
            <a:endParaRPr lang="en-US" sz="1600" dirty="0">
              <a:gradFill>
                <a:gsLst>
                  <a:gs pos="100000">
                    <a:schemeClr val="bg1"/>
                  </a:gs>
                  <a:gs pos="0">
                    <a:schemeClr val="bg1"/>
                  </a:gs>
                </a:gsLst>
                <a:lin ang="5400000" scaled="0"/>
              </a:gradFill>
            </a:endParaRPr>
          </a:p>
        </p:txBody>
      </p:sp>
      <p:sp>
        <p:nvSpPr>
          <p:cNvPr id="33" name="CaixaDeTexto 32"/>
          <p:cNvSpPr txBox="1"/>
          <p:nvPr/>
        </p:nvSpPr>
        <p:spPr>
          <a:xfrm>
            <a:off x="725715" y="895909"/>
            <a:ext cx="8679542" cy="400110"/>
          </a:xfrm>
          <a:prstGeom prst="rect">
            <a:avLst/>
          </a:prstGeom>
          <a:noFill/>
        </p:spPr>
        <p:txBody>
          <a:bodyPr wrap="square" rtlCol="0">
            <a:spAutoFit/>
          </a:bodyPr>
          <a:lstStyle/>
          <a:p>
            <a:r>
              <a:rPr lang="en-US" sz="2000" b="1" dirty="0" smtClean="0">
                <a:solidFill>
                  <a:schemeClr val="accent6"/>
                </a:solidFill>
              </a:rPr>
              <a:t>SharePoint</a:t>
            </a:r>
            <a:endParaRPr lang="en-US" sz="2000" b="1" dirty="0">
              <a:solidFill>
                <a:schemeClr val="accent6"/>
              </a:solidFill>
            </a:endParaRPr>
          </a:p>
        </p:txBody>
      </p:sp>
      <p:grpSp>
        <p:nvGrpSpPr>
          <p:cNvPr id="26" name="Grupo 25"/>
          <p:cNvGrpSpPr/>
          <p:nvPr/>
        </p:nvGrpSpPr>
        <p:grpSpPr>
          <a:xfrm>
            <a:off x="2340922" y="1124493"/>
            <a:ext cx="7797690" cy="5284306"/>
            <a:chOff x="2872738" y="582405"/>
            <a:chExt cx="7798706" cy="5284994"/>
          </a:xfrm>
        </p:grpSpPr>
        <p:pic>
          <p:nvPicPr>
            <p:cNvPr id="27" name="Imagem 26"/>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r="12843"/>
            <a:stretch/>
          </p:blipFill>
          <p:spPr>
            <a:xfrm>
              <a:off x="3697013" y="582405"/>
              <a:ext cx="6974431" cy="5284994"/>
            </a:xfrm>
            <a:prstGeom prst="rect">
              <a:avLst/>
            </a:prstGeom>
          </p:spPr>
        </p:pic>
        <p:cxnSp>
          <p:nvCxnSpPr>
            <p:cNvPr id="28" name="Straight Connector 17"/>
            <p:cNvCxnSpPr/>
            <p:nvPr/>
          </p:nvCxnSpPr>
          <p:spPr>
            <a:xfrm flipV="1">
              <a:off x="4756430" y="2626243"/>
              <a:ext cx="0" cy="2787157"/>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9" name="TextBox 4"/>
            <p:cNvSpPr txBox="1"/>
            <p:nvPr/>
          </p:nvSpPr>
          <p:spPr>
            <a:xfrm>
              <a:off x="2872738" y="5079809"/>
              <a:ext cx="3774005" cy="488585"/>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t>Integração do SharePoint com o Explorador de Arquivos do Windows</a:t>
              </a:r>
              <a:endParaRPr lang="en-US" sz="1400" dirty="0"/>
            </a:p>
          </p:txBody>
        </p:sp>
      </p:grpSp>
    </p:spTree>
    <p:extLst>
      <p:ext uri="{BB962C8B-B14F-4D97-AF65-F5344CB8AC3E}">
        <p14:creationId xmlns:p14="http://schemas.microsoft.com/office/powerpoint/2010/main" val="113516690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1"/>
            </p:custDataLst>
          </p:nvPr>
        </p:nvSpPr>
        <p:spPr bwMode="auto">
          <a:xfrm>
            <a:off x="413388"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45" name="Rectangle 44"/>
          <p:cNvSpPr/>
          <p:nvPr/>
        </p:nvSpPr>
        <p:spPr bwMode="auto">
          <a:xfrm>
            <a:off x="2418340"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SharePoint</a:t>
            </a:r>
          </a:p>
        </p:txBody>
      </p:sp>
      <p:sp>
        <p:nvSpPr>
          <p:cNvPr id="16" name="Rectangle 15"/>
          <p:cNvSpPr/>
          <p:nvPr/>
        </p:nvSpPr>
        <p:spPr bwMode="auto">
          <a:xfrm>
            <a:off x="4423300" y="1994727"/>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Outlook</a:t>
            </a:r>
          </a:p>
        </p:txBody>
      </p:sp>
      <p:sp>
        <p:nvSpPr>
          <p:cNvPr id="19" name="Rectangle 18"/>
          <p:cNvSpPr/>
          <p:nvPr/>
        </p:nvSpPr>
        <p:spPr bwMode="auto">
          <a:xfrm>
            <a:off x="413388"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Word</a:t>
            </a:r>
          </a:p>
        </p:txBody>
      </p:sp>
      <p:sp>
        <p:nvSpPr>
          <p:cNvPr id="22" name="Rectangle 21"/>
          <p:cNvSpPr/>
          <p:nvPr/>
        </p:nvSpPr>
        <p:spPr bwMode="auto">
          <a:xfrm>
            <a:off x="2418340"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Power Point</a:t>
            </a:r>
          </a:p>
        </p:txBody>
      </p:sp>
      <p:sp>
        <p:nvSpPr>
          <p:cNvPr id="29" name="Rectangle 28"/>
          <p:cNvSpPr/>
          <p:nvPr/>
        </p:nvSpPr>
        <p:spPr bwMode="auto">
          <a:xfrm>
            <a:off x="4412964"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Excel</a:t>
            </a:r>
          </a:p>
        </p:txBody>
      </p:sp>
      <p:sp>
        <p:nvSpPr>
          <p:cNvPr id="3" name="Rectangle 2"/>
          <p:cNvSpPr/>
          <p:nvPr/>
        </p:nvSpPr>
        <p:spPr>
          <a:xfrm>
            <a:off x="558530" y="942986"/>
            <a:ext cx="8846727" cy="876816"/>
          </a:xfrm>
          <a:prstGeom prst="rect">
            <a:avLst/>
          </a:prstGeom>
        </p:spPr>
        <p:txBody>
          <a:bodyPr wrap="square" lIns="75848" tIns="37928" rIns="75848" bIns="37928">
            <a:spAutoFit/>
          </a:bodyPr>
          <a:lstStyle/>
          <a:p>
            <a:pPr defTabSz="758379"/>
            <a:r>
              <a:rPr lang="en-US" sz="2000" b="1" spc="-83" dirty="0" smtClean="0">
                <a:ln w="3175">
                  <a:noFill/>
                </a:ln>
                <a:cs typeface="Arial" charset="0"/>
              </a:rPr>
              <a:t>O que é o Office 365, OneDrive e SharePoint?</a:t>
            </a:r>
          </a:p>
          <a:p>
            <a:pPr defTabSz="758379"/>
            <a:endParaRPr lang="en-US" sz="1600" b="1" spc="-83" dirty="0" smtClean="0">
              <a:ln w="3175">
                <a:noFill/>
              </a:ln>
              <a:cs typeface="Arial" charset="0"/>
            </a:endParaRPr>
          </a:p>
          <a:p>
            <a:pPr defTabSz="758379"/>
            <a:r>
              <a:rPr lang="en-US" sz="1600" spc="-83" dirty="0" err="1" smtClean="0">
                <a:ln w="3175">
                  <a:noFill/>
                </a:ln>
                <a:cs typeface="Arial" charset="0"/>
              </a:rPr>
              <a:t>Serviços</a:t>
            </a:r>
            <a:r>
              <a:rPr lang="en-US" sz="1600" spc="-83" dirty="0" smtClean="0">
                <a:ln w="3175">
                  <a:noFill/>
                </a:ln>
                <a:cs typeface="Arial" charset="0"/>
              </a:rPr>
              <a:t> </a:t>
            </a:r>
            <a:r>
              <a:rPr lang="en-US" sz="1600" spc="-83" dirty="0">
                <a:ln w="3175">
                  <a:noFill/>
                </a:ln>
                <a:cs typeface="Arial" charset="0"/>
              </a:rPr>
              <a:t>da Microsoft para </a:t>
            </a:r>
            <a:r>
              <a:rPr lang="en-US" sz="1600" spc="-83" dirty="0" err="1">
                <a:ln w="3175">
                  <a:noFill/>
                </a:ln>
                <a:cs typeface="Arial" charset="0"/>
              </a:rPr>
              <a:t>nuvem</a:t>
            </a:r>
            <a:r>
              <a:rPr lang="en-US" sz="1600" spc="-83" dirty="0">
                <a:ln w="3175">
                  <a:noFill/>
                </a:ln>
                <a:cs typeface="Arial" charset="0"/>
              </a:rPr>
              <a:t> </a:t>
            </a:r>
            <a:r>
              <a:rPr lang="en-US" sz="1600" spc="-83" dirty="0" err="1">
                <a:ln w="3175">
                  <a:noFill/>
                </a:ln>
                <a:cs typeface="Arial" charset="0"/>
              </a:rPr>
              <a:t>pública</a:t>
            </a:r>
            <a:r>
              <a:rPr lang="en-US" sz="1600" spc="-83" dirty="0">
                <a:ln w="3175">
                  <a:noFill/>
                </a:ln>
                <a:cs typeface="Arial" charset="0"/>
              </a:rPr>
              <a:t>.</a:t>
            </a:r>
            <a:endParaRPr lang="en-US" sz="1600" dirty="0"/>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pic>
        <p:nvPicPr>
          <p:cNvPr id="17" name="Picture 1"/>
          <p:cNvPicPr>
            <a:picLocks noChangeArrowheads="1"/>
          </p:cNvPicPr>
          <p:nvPr/>
        </p:nvPicPr>
        <p:blipFill rotWithShape="1">
          <a:blip r:embed="rId6">
            <a:extLst>
              <a:ext uri="{28A0092B-C50C-407E-A947-70E740481C1C}">
                <a14:useLocalDpi xmlns:a14="http://schemas.microsoft.com/office/drawing/2010/main" val="0"/>
              </a:ext>
            </a:extLst>
          </a:blip>
          <a:srcRect l="-54" r="484"/>
          <a:stretch/>
        </p:blipFill>
        <p:spPr bwMode="auto">
          <a:xfrm>
            <a:off x="6428260" y="2026664"/>
            <a:ext cx="3548253" cy="2979313"/>
          </a:xfrm>
          <a:prstGeom prst="rect">
            <a:avLst/>
          </a:prstGeom>
          <a:noFill/>
          <a:ln>
            <a:noFill/>
          </a:ln>
          <a:effectLst/>
          <a:extLst>
            <a:ext uri="{909E8E84-426E-40DD-AFC4-6F175D3DCCD1}">
              <a14:hiddenFill xmlns:a14="http://schemas.microsoft.com/office/drawing/2010/main">
                <a:solidFill>
                  <a:srgbClr val="FFFFFF"/>
                </a:solidFill>
              </a14:hiddenFill>
            </a:ext>
          </a:extLst>
        </p:spPr>
      </p:pic>
      <p:sp>
        <p:nvSpPr>
          <p:cNvPr id="18" name="Rectangle 58"/>
          <p:cNvSpPr/>
          <p:nvPr/>
        </p:nvSpPr>
        <p:spPr bwMode="auto">
          <a:xfrm>
            <a:off x="6438600" y="5005977"/>
            <a:ext cx="3532716" cy="903465"/>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smtClean="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Outlook</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p:txBody>
      </p:sp>
      <p:pic>
        <p:nvPicPr>
          <p:cNvPr id="20" name="Picture 71" descr="C:\Users\chrisw\Desktop\Cloud Services 3.png"/>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8492202" y="5100721"/>
            <a:ext cx="1156408" cy="683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22198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par>
                                <p:cTn id="10" presetID="53" presetClass="entr" presetSubtype="16"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p:cTn id="17" dur="500" fill="hold"/>
                                        <p:tgtEl>
                                          <p:spTgt spid="18"/>
                                        </p:tgtEl>
                                        <p:attrNameLst>
                                          <p:attrName>ppt_w</p:attrName>
                                        </p:attrNameLst>
                                      </p:cBhvr>
                                      <p:tavLst>
                                        <p:tav tm="0">
                                          <p:val>
                                            <p:fltVal val="0"/>
                                          </p:val>
                                        </p:tav>
                                        <p:tav tm="100000">
                                          <p:val>
                                            <p:strVal val="#ppt_w"/>
                                          </p:val>
                                        </p:tav>
                                      </p:tavLst>
                                    </p:anim>
                                    <p:anim calcmode="lin" valueType="num">
                                      <p:cBhvr>
                                        <p:cTn id="18" dur="500" fill="hold"/>
                                        <p:tgtEl>
                                          <p:spTgt spid="18"/>
                                        </p:tgtEl>
                                        <p:attrNameLst>
                                          <p:attrName>ppt_h</p:attrName>
                                        </p:attrNameLst>
                                      </p:cBhvr>
                                      <p:tavLst>
                                        <p:tav tm="0">
                                          <p:val>
                                            <p:fltVal val="0"/>
                                          </p:val>
                                        </p:tav>
                                        <p:tav tm="100000">
                                          <p:val>
                                            <p:strVal val="#ppt_h"/>
                                          </p:val>
                                        </p:tav>
                                      </p:tavLst>
                                    </p:anim>
                                    <p:animEffect transition="in" filter="fade">
                                      <p:cBhvr>
                                        <p:cTn id="19" dur="500"/>
                                        <p:tgtEl>
                                          <p:spTgt spid="18"/>
                                        </p:tgtEl>
                                      </p:cBhvr>
                                    </p:animEffect>
                                  </p:childTnLst>
                                </p:cTn>
                              </p:par>
                              <p:par>
                                <p:cTn id="20" presetID="53" presetClass="entr" presetSubtype="16"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500" fill="hold"/>
                                        <p:tgtEl>
                                          <p:spTgt spid="20"/>
                                        </p:tgtEl>
                                        <p:attrNameLst>
                                          <p:attrName>ppt_w</p:attrName>
                                        </p:attrNameLst>
                                      </p:cBhvr>
                                      <p:tavLst>
                                        <p:tav tm="0">
                                          <p:val>
                                            <p:fltVal val="0"/>
                                          </p:val>
                                        </p:tav>
                                        <p:tav tm="100000">
                                          <p:val>
                                            <p:strVal val="#ppt_w"/>
                                          </p:val>
                                        </p:tav>
                                      </p:tavLst>
                                    </p:anim>
                                    <p:anim calcmode="lin" valueType="num">
                                      <p:cBhvr>
                                        <p:cTn id="23" dur="500" fill="hold"/>
                                        <p:tgtEl>
                                          <p:spTgt spid="20"/>
                                        </p:tgtEl>
                                        <p:attrNameLst>
                                          <p:attrName>ppt_h</p:attrName>
                                        </p:attrNameLst>
                                      </p:cBhvr>
                                      <p:tavLst>
                                        <p:tav tm="0">
                                          <p:val>
                                            <p:fltVal val="0"/>
                                          </p:val>
                                        </p:tav>
                                        <p:tav tm="100000">
                                          <p:val>
                                            <p:strVal val="#ppt_h"/>
                                          </p:val>
                                        </p:tav>
                                      </p:tavLst>
                                    </p:anim>
                                    <p:animEffect transition="in" filter="fade">
                                      <p:cBhvr>
                                        <p:cTn id="2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pic>
        <p:nvPicPr>
          <p:cNvPr id="24" name="Picture 20"/>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81830" y="2012679"/>
            <a:ext cx="8601122" cy="4813822"/>
          </a:xfrm>
          <a:prstGeom prst="rect">
            <a:avLst/>
          </a:prstGeom>
          <a:ln>
            <a:solidFill>
              <a:schemeClr val="bg2"/>
            </a:solidFill>
          </a:ln>
        </p:spPr>
      </p:pic>
      <p:pic>
        <p:nvPicPr>
          <p:cNvPr id="25" name="Picture 29"/>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681830" y="2007949"/>
            <a:ext cx="8601122" cy="4815673"/>
          </a:xfrm>
          <a:prstGeom prst="rect">
            <a:avLst/>
          </a:prstGeom>
          <a:ln>
            <a:solidFill>
              <a:schemeClr val="bg2"/>
            </a:solidFill>
          </a:ln>
        </p:spPr>
      </p:pic>
      <p:grpSp>
        <p:nvGrpSpPr>
          <p:cNvPr id="26" name="Group 25"/>
          <p:cNvGrpSpPr/>
          <p:nvPr/>
        </p:nvGrpSpPr>
        <p:grpSpPr>
          <a:xfrm>
            <a:off x="4307493" y="3545104"/>
            <a:ext cx="2739377" cy="1012009"/>
            <a:chOff x="3560181" y="-58049"/>
            <a:chExt cx="2739734" cy="1012141"/>
          </a:xfrm>
        </p:grpSpPr>
        <p:cxnSp>
          <p:nvCxnSpPr>
            <p:cNvPr id="27" name="Straight Connector 26"/>
            <p:cNvCxnSpPr/>
            <p:nvPr/>
          </p:nvCxnSpPr>
          <p:spPr>
            <a:xfrm flipV="1">
              <a:off x="4917306" y="-58049"/>
              <a:ext cx="0" cy="433990"/>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8" name="TextBox 4"/>
            <p:cNvSpPr txBox="1"/>
            <p:nvPr/>
          </p:nvSpPr>
          <p:spPr>
            <a:xfrm>
              <a:off x="3560181" y="250063"/>
              <a:ext cx="2739734" cy="704029"/>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t>A Resposta Embutida permite compor enquanto se permanece no contexto</a:t>
              </a:r>
              <a:endParaRPr lang="en-US" sz="1400" dirty="0"/>
            </a:p>
          </p:txBody>
        </p:sp>
      </p:grpSp>
      <p:grpSp>
        <p:nvGrpSpPr>
          <p:cNvPr id="29" name="Group 30"/>
          <p:cNvGrpSpPr/>
          <p:nvPr/>
        </p:nvGrpSpPr>
        <p:grpSpPr>
          <a:xfrm>
            <a:off x="2231853" y="5247129"/>
            <a:ext cx="3994625" cy="704021"/>
            <a:chOff x="3887073" y="122425"/>
            <a:chExt cx="2648385" cy="704113"/>
          </a:xfrm>
        </p:grpSpPr>
        <p:cxnSp>
          <p:nvCxnSpPr>
            <p:cNvPr id="30" name="Straight Connector 31"/>
            <p:cNvCxnSpPr/>
            <p:nvPr/>
          </p:nvCxnSpPr>
          <p:spPr>
            <a:xfrm rot="16200000" flipV="1">
              <a:off x="4378938" y="3134"/>
              <a:ext cx="1" cy="983732"/>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1" name="TextBox 4"/>
            <p:cNvSpPr txBox="1"/>
            <p:nvPr/>
          </p:nvSpPr>
          <p:spPr>
            <a:xfrm>
              <a:off x="4378939" y="122425"/>
              <a:ext cx="2156519" cy="704113"/>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t>A </a:t>
              </a:r>
              <a:r>
                <a:rPr lang="en-US" sz="1400" dirty="0" err="1"/>
                <a:t>experiência</a:t>
              </a:r>
              <a:r>
                <a:rPr lang="en-US" sz="1400" dirty="0"/>
                <a:t> </a:t>
              </a:r>
              <a:r>
                <a:rPr lang="en-US" sz="1400" dirty="0" err="1"/>
                <a:t>fluída</a:t>
              </a:r>
              <a:r>
                <a:rPr lang="en-US" sz="1400" dirty="0"/>
                <a:t> com </a:t>
              </a:r>
              <a:r>
                <a:rPr lang="en-US" sz="1400" dirty="0" err="1"/>
                <a:t>os</a:t>
              </a:r>
              <a:r>
                <a:rPr lang="en-US" sz="1400" dirty="0"/>
                <a:t> Peeks </a:t>
              </a:r>
              <a:r>
                <a:rPr lang="en-US" sz="1400" dirty="0" err="1"/>
                <a:t>permitem</a:t>
              </a:r>
              <a:r>
                <a:rPr lang="en-US" sz="1400" dirty="0"/>
                <a:t> </a:t>
              </a:r>
              <a:r>
                <a:rPr lang="pt-BR" sz="1400" dirty="0"/>
                <a:t>acessar seu calendário, contatos e tarefas sem sair de sua caixa de entrada</a:t>
              </a:r>
              <a:endParaRPr lang="en-US" sz="1400" dirty="0"/>
            </a:p>
          </p:txBody>
        </p:sp>
      </p:grpSp>
      <p:grpSp>
        <p:nvGrpSpPr>
          <p:cNvPr id="32" name="Group 11"/>
          <p:cNvGrpSpPr/>
          <p:nvPr/>
        </p:nvGrpSpPr>
        <p:grpSpPr>
          <a:xfrm>
            <a:off x="1172511" y="1478806"/>
            <a:ext cx="1955433" cy="863102"/>
            <a:chOff x="3795823" y="101201"/>
            <a:chExt cx="1955688" cy="863214"/>
          </a:xfrm>
        </p:grpSpPr>
        <p:cxnSp>
          <p:nvCxnSpPr>
            <p:cNvPr id="33" name="Straight Connector 14"/>
            <p:cNvCxnSpPr/>
            <p:nvPr/>
          </p:nvCxnSpPr>
          <p:spPr>
            <a:xfrm>
              <a:off x="4783141" y="353370"/>
              <a:ext cx="0" cy="611045"/>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4" name="TextBox 4"/>
            <p:cNvSpPr txBox="1"/>
            <p:nvPr/>
          </p:nvSpPr>
          <p:spPr>
            <a:xfrm>
              <a:off x="3795823" y="101201"/>
              <a:ext cx="1955688" cy="704029"/>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t>Faixa</a:t>
              </a:r>
              <a:r>
                <a:rPr lang="en-US" sz="1400" dirty="0"/>
                <a:t> de </a:t>
              </a:r>
              <a:r>
                <a:rPr lang="en-US" sz="1400" dirty="0" err="1"/>
                <a:t>Opções</a:t>
              </a:r>
              <a:r>
                <a:rPr lang="en-US" sz="1400" dirty="0"/>
                <a:t> </a:t>
              </a:r>
              <a:r>
                <a:rPr lang="en-US" sz="1400" dirty="0" err="1"/>
                <a:t>minimizada</a:t>
              </a:r>
              <a:r>
                <a:rPr lang="en-US" sz="1400" dirty="0"/>
                <a:t> com </a:t>
              </a:r>
              <a:r>
                <a:rPr lang="en-US" sz="1400" dirty="0" err="1"/>
                <a:t>apenas</a:t>
              </a:r>
              <a:r>
                <a:rPr lang="en-US" sz="1400" dirty="0"/>
                <a:t> um toque</a:t>
              </a:r>
            </a:p>
          </p:txBody>
        </p:sp>
      </p:grpSp>
      <p:grpSp>
        <p:nvGrpSpPr>
          <p:cNvPr id="35" name="Group 5"/>
          <p:cNvGrpSpPr/>
          <p:nvPr/>
        </p:nvGrpSpPr>
        <p:grpSpPr>
          <a:xfrm>
            <a:off x="3647546" y="6178284"/>
            <a:ext cx="5206475" cy="488577"/>
            <a:chOff x="4612506" y="5169644"/>
            <a:chExt cx="5207154" cy="488641"/>
          </a:xfrm>
          <a:solidFill>
            <a:schemeClr val="accent5">
              <a:lumMod val="40000"/>
              <a:lumOff val="60000"/>
            </a:schemeClr>
          </a:solidFill>
        </p:grpSpPr>
        <p:cxnSp>
          <p:nvCxnSpPr>
            <p:cNvPr id="36" name="Straight Connector 18"/>
            <p:cNvCxnSpPr/>
            <p:nvPr/>
          </p:nvCxnSpPr>
          <p:spPr>
            <a:xfrm flipH="1">
              <a:off x="4612506" y="5545993"/>
              <a:ext cx="2192648" cy="1"/>
            </a:xfrm>
            <a:prstGeom prst="line">
              <a:avLst/>
            </a:prstGeom>
            <a:grpFill/>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8" name="TextBox 4"/>
            <p:cNvSpPr txBox="1"/>
            <p:nvPr/>
          </p:nvSpPr>
          <p:spPr>
            <a:xfrm>
              <a:off x="6805154" y="5169644"/>
              <a:ext cx="3014506" cy="488641"/>
            </a:xfrm>
            <a:prstGeom prst="rect">
              <a:avLst/>
            </a:prstGeom>
            <a:grp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t>Barra de navegação melhorada para acesso rápido ao tomar menos espaço</a:t>
              </a:r>
              <a:endParaRPr lang="en-US" sz="1400" dirty="0"/>
            </a:p>
          </p:txBody>
        </p:sp>
      </p:grpSp>
      <p:grpSp>
        <p:nvGrpSpPr>
          <p:cNvPr id="39" name="Group 9"/>
          <p:cNvGrpSpPr/>
          <p:nvPr/>
        </p:nvGrpSpPr>
        <p:grpSpPr>
          <a:xfrm>
            <a:off x="6226476" y="1278252"/>
            <a:ext cx="3056479" cy="2424452"/>
            <a:chOff x="8943033" y="318432"/>
            <a:chExt cx="3056877" cy="2424768"/>
          </a:xfrm>
          <a:solidFill>
            <a:schemeClr val="accent5">
              <a:lumMod val="40000"/>
              <a:lumOff val="60000"/>
            </a:schemeClr>
          </a:solidFill>
        </p:grpSpPr>
        <p:sp>
          <p:nvSpPr>
            <p:cNvPr id="40" name="TextBox 4"/>
            <p:cNvSpPr txBox="1"/>
            <p:nvPr/>
          </p:nvSpPr>
          <p:spPr>
            <a:xfrm>
              <a:off x="8943033" y="318432"/>
              <a:ext cx="3056877" cy="488585"/>
            </a:xfrm>
            <a:prstGeom prst="rect">
              <a:avLst/>
            </a:prstGeom>
            <a:grp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t>O </a:t>
              </a:r>
              <a:r>
                <a:rPr lang="en-US" sz="1400" dirty="0" err="1"/>
                <a:t>Modo</a:t>
              </a:r>
              <a:r>
                <a:rPr lang="en-US" sz="1400" dirty="0"/>
                <a:t> de Toque </a:t>
              </a:r>
              <a:r>
                <a:rPr lang="en-US" sz="1400" dirty="0" err="1"/>
                <a:t>dá</a:t>
              </a:r>
              <a:r>
                <a:rPr lang="en-US" sz="1400" dirty="0"/>
                <a:t> </a:t>
              </a:r>
              <a:r>
                <a:rPr lang="en-US" sz="1400" dirty="0" err="1"/>
                <a:t>mais</a:t>
              </a:r>
              <a:r>
                <a:rPr lang="en-US" sz="1400" dirty="0"/>
                <a:t> </a:t>
              </a:r>
              <a:r>
                <a:rPr lang="en-US" sz="1400" dirty="0" err="1"/>
                <a:t>espaço</a:t>
              </a:r>
              <a:r>
                <a:rPr lang="en-US" sz="1400" dirty="0"/>
                <a:t> e </a:t>
              </a:r>
              <a:r>
                <a:rPr lang="en-US" sz="1400" dirty="0" err="1"/>
                <a:t>torna</a:t>
              </a:r>
              <a:r>
                <a:rPr lang="en-US" sz="1400" dirty="0"/>
                <a:t> as </a:t>
              </a:r>
              <a:r>
                <a:rPr lang="en-US" sz="1400" dirty="0" err="1"/>
                <a:t>opções</a:t>
              </a:r>
              <a:r>
                <a:rPr lang="en-US" sz="1400" dirty="0"/>
                <a:t> </a:t>
              </a:r>
              <a:r>
                <a:rPr lang="en-US" sz="1400" dirty="0" err="1"/>
                <a:t>mais</a:t>
              </a:r>
              <a:r>
                <a:rPr lang="en-US" sz="1400" dirty="0"/>
                <a:t> </a:t>
              </a:r>
              <a:r>
                <a:rPr lang="en-US" sz="1400" dirty="0" err="1"/>
                <a:t>acessiveis</a:t>
              </a:r>
              <a:endParaRPr lang="en-US" sz="1400" dirty="0"/>
            </a:p>
          </p:txBody>
        </p:sp>
        <p:cxnSp>
          <p:nvCxnSpPr>
            <p:cNvPr id="41" name="Straight Connector 10"/>
            <p:cNvCxnSpPr/>
            <p:nvPr/>
          </p:nvCxnSpPr>
          <p:spPr>
            <a:xfrm>
              <a:off x="11761129" y="714684"/>
              <a:ext cx="0" cy="2028516"/>
            </a:xfrm>
            <a:prstGeom prst="line">
              <a:avLst/>
            </a:prstGeom>
            <a:grpFill/>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sp>
        <p:nvSpPr>
          <p:cNvPr id="43" name="CaixaDeTexto 42"/>
          <p:cNvSpPr txBox="1"/>
          <p:nvPr/>
        </p:nvSpPr>
        <p:spPr>
          <a:xfrm>
            <a:off x="725715" y="895909"/>
            <a:ext cx="8679542" cy="400110"/>
          </a:xfrm>
          <a:prstGeom prst="rect">
            <a:avLst/>
          </a:prstGeom>
          <a:noFill/>
        </p:spPr>
        <p:txBody>
          <a:bodyPr wrap="square" rtlCol="0">
            <a:spAutoFit/>
          </a:bodyPr>
          <a:lstStyle/>
          <a:p>
            <a:r>
              <a:rPr lang="pt-BR" sz="2000" b="1" dirty="0" smtClean="0">
                <a:solidFill>
                  <a:schemeClr val="accent6"/>
                </a:solidFill>
              </a:rPr>
              <a:t>Outlook</a:t>
            </a:r>
            <a:endParaRPr lang="en-US" sz="2000" b="1" dirty="0">
              <a:solidFill>
                <a:schemeClr val="accent6"/>
              </a:solidFill>
            </a:endParaRPr>
          </a:p>
        </p:txBody>
      </p:sp>
    </p:spTree>
    <p:extLst>
      <p:ext uri="{BB962C8B-B14F-4D97-AF65-F5344CB8AC3E}">
        <p14:creationId xmlns:p14="http://schemas.microsoft.com/office/powerpoint/2010/main" val="283564235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pic>
        <p:nvPicPr>
          <p:cNvPr id="7"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784" y="2366854"/>
            <a:ext cx="8601122" cy="4014808"/>
          </a:xfrm>
          <a:prstGeom prst="rect">
            <a:avLst/>
          </a:prstGeom>
          <a:ln>
            <a:solidFill>
              <a:schemeClr val="bg2"/>
            </a:solidFill>
          </a:ln>
        </p:spPr>
      </p:pic>
      <p:grpSp>
        <p:nvGrpSpPr>
          <p:cNvPr id="8" name="Group 25"/>
          <p:cNvGrpSpPr/>
          <p:nvPr/>
        </p:nvGrpSpPr>
        <p:grpSpPr>
          <a:xfrm>
            <a:off x="3388898" y="3412459"/>
            <a:ext cx="3418630" cy="488577"/>
            <a:chOff x="3560181" y="357757"/>
            <a:chExt cx="3419076" cy="488641"/>
          </a:xfrm>
          <a:solidFill>
            <a:schemeClr val="accent5">
              <a:lumMod val="40000"/>
              <a:lumOff val="60000"/>
            </a:schemeClr>
          </a:solidFill>
        </p:grpSpPr>
        <p:cxnSp>
          <p:nvCxnSpPr>
            <p:cNvPr id="9" name="Straight Connector 26"/>
            <p:cNvCxnSpPr>
              <a:stCxn id="10" idx="3"/>
            </p:cNvCxnSpPr>
            <p:nvPr/>
          </p:nvCxnSpPr>
          <p:spPr>
            <a:xfrm>
              <a:off x="6299915" y="602078"/>
              <a:ext cx="679342" cy="0"/>
            </a:xfrm>
            <a:prstGeom prst="line">
              <a:avLst/>
            </a:prstGeom>
            <a:grpFill/>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0" name="TextBox 4"/>
            <p:cNvSpPr txBox="1"/>
            <p:nvPr/>
          </p:nvSpPr>
          <p:spPr>
            <a:xfrm>
              <a:off x="3560181" y="357757"/>
              <a:ext cx="2739734" cy="488641"/>
            </a:xfrm>
            <a:prstGeom prst="rect">
              <a:avLst/>
            </a:prstGeom>
            <a:grp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smtClean="0"/>
                <a:t>Crie grupos de contatos para separa-los por categoria</a:t>
              </a:r>
              <a:endParaRPr lang="en-US" sz="1400" dirty="0"/>
            </a:p>
          </p:txBody>
        </p:sp>
      </p:grpSp>
      <p:grpSp>
        <p:nvGrpSpPr>
          <p:cNvPr id="11" name="Group 30"/>
          <p:cNvGrpSpPr/>
          <p:nvPr/>
        </p:nvGrpSpPr>
        <p:grpSpPr>
          <a:xfrm>
            <a:off x="3012918" y="5177083"/>
            <a:ext cx="3794609" cy="933400"/>
            <a:chOff x="4378939" y="230162"/>
            <a:chExt cx="2515777" cy="933522"/>
          </a:xfrm>
        </p:grpSpPr>
        <p:cxnSp>
          <p:nvCxnSpPr>
            <p:cNvPr id="12" name="Straight Connector 31"/>
            <p:cNvCxnSpPr/>
            <p:nvPr/>
          </p:nvCxnSpPr>
          <p:spPr>
            <a:xfrm>
              <a:off x="6535458" y="474482"/>
              <a:ext cx="359258" cy="689202"/>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3" name="TextBox 4"/>
            <p:cNvSpPr txBox="1"/>
            <p:nvPr/>
          </p:nvSpPr>
          <p:spPr>
            <a:xfrm>
              <a:off x="4378939" y="230162"/>
              <a:ext cx="2156519" cy="488641"/>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smtClean="0"/>
                <a:t>Compartilhe sua agenda e defina os acessos para cada compartilhamento</a:t>
              </a:r>
              <a:endParaRPr lang="en-US" sz="1400" dirty="0"/>
            </a:p>
          </p:txBody>
        </p:sp>
      </p:grpSp>
      <p:grpSp>
        <p:nvGrpSpPr>
          <p:cNvPr id="14" name="Group 11"/>
          <p:cNvGrpSpPr/>
          <p:nvPr/>
        </p:nvGrpSpPr>
        <p:grpSpPr>
          <a:xfrm>
            <a:off x="1433465" y="1433480"/>
            <a:ext cx="1955433" cy="863102"/>
            <a:chOff x="3795823" y="101201"/>
            <a:chExt cx="1955688" cy="863214"/>
          </a:xfrm>
        </p:grpSpPr>
        <p:cxnSp>
          <p:nvCxnSpPr>
            <p:cNvPr id="15" name="Straight Connector 14"/>
            <p:cNvCxnSpPr/>
            <p:nvPr/>
          </p:nvCxnSpPr>
          <p:spPr>
            <a:xfrm>
              <a:off x="4783141" y="353370"/>
              <a:ext cx="0" cy="611045"/>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6" name="TextBox 4"/>
            <p:cNvSpPr txBox="1"/>
            <p:nvPr/>
          </p:nvSpPr>
          <p:spPr>
            <a:xfrm>
              <a:off x="3795823" y="101201"/>
              <a:ext cx="1955688" cy="704029"/>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t>Faixa</a:t>
              </a:r>
              <a:r>
                <a:rPr lang="en-US" sz="1400" dirty="0"/>
                <a:t> de </a:t>
              </a:r>
              <a:r>
                <a:rPr lang="en-US" sz="1400" dirty="0" err="1"/>
                <a:t>Opções</a:t>
              </a:r>
              <a:r>
                <a:rPr lang="en-US" sz="1400" dirty="0"/>
                <a:t> </a:t>
              </a:r>
              <a:r>
                <a:rPr lang="en-US" sz="1400" dirty="0" err="1"/>
                <a:t>minimizada</a:t>
              </a:r>
              <a:r>
                <a:rPr lang="en-US" sz="1400" dirty="0"/>
                <a:t> com </a:t>
              </a:r>
              <a:r>
                <a:rPr lang="en-US" sz="1400" dirty="0" err="1"/>
                <a:t>apenas</a:t>
              </a:r>
              <a:r>
                <a:rPr lang="en-US" sz="1400" dirty="0"/>
                <a:t> um toque</a:t>
              </a:r>
            </a:p>
          </p:txBody>
        </p:sp>
      </p:grpSp>
      <p:grpSp>
        <p:nvGrpSpPr>
          <p:cNvPr id="17" name="Group 9"/>
          <p:cNvGrpSpPr/>
          <p:nvPr/>
        </p:nvGrpSpPr>
        <p:grpSpPr>
          <a:xfrm>
            <a:off x="4959193" y="1201603"/>
            <a:ext cx="3056479" cy="1301362"/>
            <a:chOff x="7414597" y="255016"/>
            <a:chExt cx="3056877" cy="1301533"/>
          </a:xfrm>
        </p:grpSpPr>
        <p:sp>
          <p:nvSpPr>
            <p:cNvPr id="18" name="TextBox 4"/>
            <p:cNvSpPr txBox="1"/>
            <p:nvPr/>
          </p:nvSpPr>
          <p:spPr>
            <a:xfrm>
              <a:off x="7414597" y="255016"/>
              <a:ext cx="3056877" cy="488641"/>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t>O </a:t>
              </a:r>
              <a:r>
                <a:rPr lang="en-US" sz="1400" dirty="0" err="1" smtClean="0"/>
                <a:t>Gerencie</a:t>
              </a:r>
              <a:r>
                <a:rPr lang="en-US" sz="1400" dirty="0" smtClean="0"/>
                <a:t> de </a:t>
              </a:r>
              <a:r>
                <a:rPr lang="en-US" sz="1400" dirty="0" err="1" smtClean="0"/>
                <a:t>maneira</a:t>
              </a:r>
              <a:r>
                <a:rPr lang="en-US" sz="1400" dirty="0" smtClean="0"/>
                <a:t> </a:t>
              </a:r>
              <a:r>
                <a:rPr lang="en-US" sz="1400" dirty="0" err="1" smtClean="0"/>
                <a:t>fácil</a:t>
              </a:r>
              <a:r>
                <a:rPr lang="en-US" sz="1400" dirty="0" smtClean="0"/>
                <a:t> </a:t>
              </a:r>
              <a:r>
                <a:rPr lang="en-US" sz="1400" dirty="0" err="1" smtClean="0"/>
                <a:t>seus</a:t>
              </a:r>
              <a:r>
                <a:rPr lang="en-US" sz="1400" dirty="0" smtClean="0"/>
                <a:t> </a:t>
              </a:r>
              <a:r>
                <a:rPr lang="en-US" sz="1400" dirty="0" err="1" smtClean="0"/>
                <a:t>contatos</a:t>
              </a:r>
              <a:r>
                <a:rPr lang="en-US" sz="1400" dirty="0" smtClean="0"/>
                <a:t> </a:t>
              </a:r>
              <a:r>
                <a:rPr lang="en-US" sz="1400" dirty="0" err="1" smtClean="0"/>
                <a:t>particulares</a:t>
              </a:r>
              <a:r>
                <a:rPr lang="en-US" sz="1400" dirty="0" smtClean="0"/>
                <a:t> e </a:t>
              </a:r>
              <a:r>
                <a:rPr lang="en-US" sz="1400" dirty="0" err="1" smtClean="0"/>
                <a:t>compartilhados</a:t>
              </a:r>
              <a:endParaRPr lang="en-US" sz="1400" dirty="0"/>
            </a:p>
          </p:txBody>
        </p:sp>
        <p:cxnSp>
          <p:nvCxnSpPr>
            <p:cNvPr id="19" name="Straight Connector 10"/>
            <p:cNvCxnSpPr/>
            <p:nvPr/>
          </p:nvCxnSpPr>
          <p:spPr>
            <a:xfrm>
              <a:off x="9911329" y="771182"/>
              <a:ext cx="0" cy="785367"/>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sp>
        <p:nvSpPr>
          <p:cNvPr id="21" name="CaixaDeTexto 20"/>
          <p:cNvSpPr txBox="1"/>
          <p:nvPr/>
        </p:nvSpPr>
        <p:spPr>
          <a:xfrm>
            <a:off x="725715" y="895909"/>
            <a:ext cx="8679542" cy="400110"/>
          </a:xfrm>
          <a:prstGeom prst="rect">
            <a:avLst/>
          </a:prstGeom>
          <a:noFill/>
        </p:spPr>
        <p:txBody>
          <a:bodyPr wrap="square" rtlCol="0">
            <a:spAutoFit/>
          </a:bodyPr>
          <a:lstStyle/>
          <a:p>
            <a:r>
              <a:rPr lang="pt-BR" sz="2000" b="1" dirty="0" smtClean="0">
                <a:solidFill>
                  <a:schemeClr val="accent6"/>
                </a:solidFill>
              </a:rPr>
              <a:t>Outlook</a:t>
            </a:r>
            <a:endParaRPr lang="en-US" sz="2000" b="1" dirty="0">
              <a:solidFill>
                <a:schemeClr val="accent6"/>
              </a:solidFill>
            </a:endParaRPr>
          </a:p>
        </p:txBody>
      </p:sp>
    </p:spTree>
    <p:extLst>
      <p:ext uri="{BB962C8B-B14F-4D97-AF65-F5344CB8AC3E}">
        <p14:creationId xmlns:p14="http://schemas.microsoft.com/office/powerpoint/2010/main" val="165466568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pic>
        <p:nvPicPr>
          <p:cNvPr id="21" name="Picture 29"/>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922556" y="960855"/>
            <a:ext cx="8127440" cy="5151188"/>
          </a:xfrm>
          <a:prstGeom prst="rect">
            <a:avLst/>
          </a:prstGeom>
          <a:ln>
            <a:solidFill>
              <a:schemeClr val="bg2"/>
            </a:solidFill>
          </a:ln>
        </p:spPr>
      </p:pic>
      <p:grpSp>
        <p:nvGrpSpPr>
          <p:cNvPr id="22" name="Group 25"/>
          <p:cNvGrpSpPr/>
          <p:nvPr/>
        </p:nvGrpSpPr>
        <p:grpSpPr>
          <a:xfrm>
            <a:off x="4390540" y="2376055"/>
            <a:ext cx="3955669" cy="488577"/>
            <a:chOff x="2343731" y="96285"/>
            <a:chExt cx="3956185" cy="488641"/>
          </a:xfrm>
        </p:grpSpPr>
        <p:cxnSp>
          <p:nvCxnSpPr>
            <p:cNvPr id="23" name="Straight Connector 26"/>
            <p:cNvCxnSpPr/>
            <p:nvPr/>
          </p:nvCxnSpPr>
          <p:spPr>
            <a:xfrm flipH="1">
              <a:off x="2343731" y="250063"/>
              <a:ext cx="1216450" cy="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4" name="TextBox 4"/>
            <p:cNvSpPr txBox="1"/>
            <p:nvPr/>
          </p:nvSpPr>
          <p:spPr>
            <a:xfrm>
              <a:off x="3560182" y="96285"/>
              <a:ext cx="2739734" cy="488641"/>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smtClean="0"/>
                <a:t>Classifica-los por categoria ajuda na visualização e nas tarefas</a:t>
              </a:r>
              <a:endParaRPr lang="en-US" sz="1400" dirty="0"/>
            </a:p>
          </p:txBody>
        </p:sp>
      </p:grpSp>
      <p:grpSp>
        <p:nvGrpSpPr>
          <p:cNvPr id="25" name="Group 30"/>
          <p:cNvGrpSpPr/>
          <p:nvPr/>
        </p:nvGrpSpPr>
        <p:grpSpPr>
          <a:xfrm>
            <a:off x="5580226" y="4660250"/>
            <a:ext cx="3994625" cy="919464"/>
            <a:chOff x="3887073" y="14690"/>
            <a:chExt cx="2648385" cy="919584"/>
          </a:xfrm>
        </p:grpSpPr>
        <p:cxnSp>
          <p:nvCxnSpPr>
            <p:cNvPr id="26" name="Straight Connector 31"/>
            <p:cNvCxnSpPr/>
            <p:nvPr/>
          </p:nvCxnSpPr>
          <p:spPr>
            <a:xfrm rot="16200000" flipV="1">
              <a:off x="4378938" y="3134"/>
              <a:ext cx="1" cy="983732"/>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7" name="TextBox 4"/>
            <p:cNvSpPr txBox="1"/>
            <p:nvPr/>
          </p:nvSpPr>
          <p:spPr>
            <a:xfrm>
              <a:off x="4378939" y="14690"/>
              <a:ext cx="2156519" cy="919584"/>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t>A </a:t>
              </a:r>
              <a:r>
                <a:rPr lang="en-US" sz="1400" dirty="0" err="1"/>
                <a:t>experiência</a:t>
              </a:r>
              <a:r>
                <a:rPr lang="en-US" sz="1400" dirty="0"/>
                <a:t> </a:t>
              </a:r>
              <a:r>
                <a:rPr lang="en-US" sz="1400" dirty="0" err="1"/>
                <a:t>fluída</a:t>
              </a:r>
              <a:r>
                <a:rPr lang="en-US" sz="1400" dirty="0"/>
                <a:t> com </a:t>
              </a:r>
              <a:r>
                <a:rPr lang="en-US" sz="1400" dirty="0" err="1"/>
                <a:t>os</a:t>
              </a:r>
              <a:r>
                <a:rPr lang="en-US" sz="1400" dirty="0"/>
                <a:t> </a:t>
              </a:r>
              <a:r>
                <a:rPr lang="en-US" sz="1400" dirty="0" smtClean="0"/>
                <a:t>e-mails </a:t>
              </a:r>
              <a:r>
                <a:rPr lang="en-US" sz="1400" dirty="0" err="1"/>
                <a:t>permitem</a:t>
              </a:r>
              <a:r>
                <a:rPr lang="en-US" sz="1400" dirty="0"/>
                <a:t> </a:t>
              </a:r>
              <a:r>
                <a:rPr lang="en-US" sz="1400" dirty="0" err="1" smtClean="0"/>
                <a:t>visualizar</a:t>
              </a:r>
              <a:r>
                <a:rPr lang="en-US" sz="1400" dirty="0" smtClean="0"/>
                <a:t> </a:t>
              </a:r>
              <a:r>
                <a:rPr lang="en-US" sz="1400" dirty="0" err="1" smtClean="0"/>
                <a:t>todos</a:t>
              </a:r>
              <a:r>
                <a:rPr lang="en-US" sz="1400" dirty="0" smtClean="0"/>
                <a:t> </a:t>
              </a:r>
              <a:r>
                <a:rPr lang="en-US" sz="1400" dirty="0" err="1" smtClean="0"/>
                <a:t>os</a:t>
              </a:r>
              <a:r>
                <a:rPr lang="en-US" sz="1400" dirty="0" smtClean="0"/>
                <a:t> </a:t>
              </a:r>
              <a:r>
                <a:rPr lang="en-US" sz="1400" dirty="0" err="1" smtClean="0"/>
                <a:t>compromissos</a:t>
              </a:r>
              <a:r>
                <a:rPr lang="en-US" sz="1400" dirty="0" smtClean="0"/>
                <a:t> e e-mails </a:t>
              </a:r>
              <a:r>
                <a:rPr lang="en-US" sz="1400" dirty="0" err="1" smtClean="0"/>
                <a:t>importantes</a:t>
              </a:r>
              <a:r>
                <a:rPr lang="en-US" sz="1400" dirty="0" smtClean="0"/>
                <a:t> </a:t>
              </a:r>
              <a:r>
                <a:rPr lang="en-US" sz="1400" dirty="0" err="1" smtClean="0"/>
                <a:t>sem</a:t>
              </a:r>
              <a:r>
                <a:rPr lang="en-US" sz="1400" dirty="0" smtClean="0"/>
                <a:t> </a:t>
              </a:r>
              <a:r>
                <a:rPr lang="en-US" sz="1400" dirty="0" err="1" smtClean="0"/>
                <a:t>sair</a:t>
              </a:r>
              <a:r>
                <a:rPr lang="en-US" sz="1400" dirty="0" smtClean="0"/>
                <a:t> da </a:t>
              </a:r>
              <a:r>
                <a:rPr lang="en-US" sz="1400" dirty="0" err="1" smtClean="0"/>
                <a:t>caixa</a:t>
              </a:r>
              <a:r>
                <a:rPr lang="en-US" sz="1400" dirty="0" smtClean="0"/>
                <a:t> de entrada</a:t>
              </a:r>
              <a:endParaRPr lang="en-US" sz="1400" dirty="0"/>
            </a:p>
          </p:txBody>
        </p:sp>
      </p:grpSp>
      <p:grpSp>
        <p:nvGrpSpPr>
          <p:cNvPr id="28" name="Group 11"/>
          <p:cNvGrpSpPr/>
          <p:nvPr/>
        </p:nvGrpSpPr>
        <p:grpSpPr>
          <a:xfrm>
            <a:off x="1523021" y="2864633"/>
            <a:ext cx="1955433" cy="1858530"/>
            <a:chOff x="3795823" y="-1053499"/>
            <a:chExt cx="1955688" cy="1858771"/>
          </a:xfrm>
        </p:grpSpPr>
        <p:cxnSp>
          <p:nvCxnSpPr>
            <p:cNvPr id="29" name="Straight Connector 14"/>
            <p:cNvCxnSpPr>
              <a:stCxn id="30" idx="0"/>
            </p:cNvCxnSpPr>
            <p:nvPr/>
          </p:nvCxnSpPr>
          <p:spPr>
            <a:xfrm flipV="1">
              <a:off x="4773668" y="-1053499"/>
              <a:ext cx="0" cy="1154659"/>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0" name="TextBox 4"/>
            <p:cNvSpPr txBox="1"/>
            <p:nvPr/>
          </p:nvSpPr>
          <p:spPr>
            <a:xfrm>
              <a:off x="3795823" y="101160"/>
              <a:ext cx="1955688" cy="704112"/>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smtClean="0"/>
                <a:t>Acabe</a:t>
              </a:r>
              <a:r>
                <a:rPr lang="en-US" sz="1400" dirty="0" smtClean="0"/>
                <a:t> com a </a:t>
              </a:r>
              <a:r>
                <a:rPr lang="en-US" sz="1400" dirty="0" err="1" smtClean="0"/>
                <a:t>infinidade</a:t>
              </a:r>
              <a:r>
                <a:rPr lang="en-US" sz="1400" dirty="0" smtClean="0"/>
                <a:t> de pastas e </a:t>
              </a:r>
              <a:r>
                <a:rPr lang="en-US" sz="1400" dirty="0" err="1" smtClean="0"/>
                <a:t>não</a:t>
              </a:r>
              <a:r>
                <a:rPr lang="en-US" sz="1400" dirty="0" smtClean="0"/>
                <a:t> </a:t>
              </a:r>
              <a:r>
                <a:rPr lang="en-US" sz="1400" dirty="0" err="1" smtClean="0"/>
                <a:t>perca</a:t>
              </a:r>
              <a:r>
                <a:rPr lang="en-US" sz="1400" dirty="0" smtClean="0"/>
                <a:t> </a:t>
              </a:r>
              <a:r>
                <a:rPr lang="en-US" sz="1400" dirty="0" err="1" smtClean="0"/>
                <a:t>seus</a:t>
              </a:r>
              <a:r>
                <a:rPr lang="en-US" sz="1400" dirty="0" smtClean="0"/>
                <a:t> e-mails</a:t>
              </a:r>
              <a:endParaRPr lang="en-US" sz="1400" dirty="0"/>
            </a:p>
          </p:txBody>
        </p:sp>
      </p:grpSp>
      <p:grpSp>
        <p:nvGrpSpPr>
          <p:cNvPr id="31" name="Group 5"/>
          <p:cNvGrpSpPr/>
          <p:nvPr/>
        </p:nvGrpSpPr>
        <p:grpSpPr>
          <a:xfrm>
            <a:off x="2900269" y="6087575"/>
            <a:ext cx="3014113" cy="696201"/>
            <a:chOff x="3114989" y="5545995"/>
            <a:chExt cx="3014506" cy="696294"/>
          </a:xfrm>
        </p:grpSpPr>
        <p:cxnSp>
          <p:nvCxnSpPr>
            <p:cNvPr id="32" name="Straight Connector 18"/>
            <p:cNvCxnSpPr/>
            <p:nvPr/>
          </p:nvCxnSpPr>
          <p:spPr>
            <a:xfrm flipV="1">
              <a:off x="4612506" y="5545995"/>
              <a:ext cx="0" cy="136772"/>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3" name="TextBox 4"/>
            <p:cNvSpPr txBox="1"/>
            <p:nvPr/>
          </p:nvSpPr>
          <p:spPr>
            <a:xfrm>
              <a:off x="3114989" y="5753648"/>
              <a:ext cx="3014506" cy="488641"/>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t>N</a:t>
              </a:r>
              <a:r>
                <a:rPr lang="pt-BR" sz="1400" dirty="0" smtClean="0"/>
                <a:t>avegação </a:t>
              </a:r>
              <a:r>
                <a:rPr lang="pt-BR" sz="1400" dirty="0"/>
                <a:t>melhorada para acesso rápido ao tomar menos espaço</a:t>
              </a:r>
              <a:endParaRPr lang="en-US" sz="1400" dirty="0"/>
            </a:p>
          </p:txBody>
        </p:sp>
      </p:grpSp>
      <p:grpSp>
        <p:nvGrpSpPr>
          <p:cNvPr id="34" name="Group 9"/>
          <p:cNvGrpSpPr/>
          <p:nvPr/>
        </p:nvGrpSpPr>
        <p:grpSpPr>
          <a:xfrm>
            <a:off x="6976521" y="843310"/>
            <a:ext cx="3056479" cy="2424480"/>
            <a:chOff x="8943033" y="318404"/>
            <a:chExt cx="3056877" cy="2424796"/>
          </a:xfrm>
        </p:grpSpPr>
        <p:sp>
          <p:nvSpPr>
            <p:cNvPr id="35" name="TextBox 4"/>
            <p:cNvSpPr txBox="1"/>
            <p:nvPr/>
          </p:nvSpPr>
          <p:spPr>
            <a:xfrm>
              <a:off x="8943033" y="318404"/>
              <a:ext cx="3056877" cy="488641"/>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smtClean="0"/>
                <a:t>Veja</a:t>
              </a:r>
              <a:r>
                <a:rPr lang="en-US" sz="1400" dirty="0" smtClean="0"/>
                <a:t> </a:t>
              </a:r>
              <a:r>
                <a:rPr lang="en-US" sz="1400" dirty="0" err="1" smtClean="0"/>
                <a:t>apenas</a:t>
              </a:r>
              <a:r>
                <a:rPr lang="en-US" sz="1400" dirty="0" smtClean="0"/>
                <a:t> as </a:t>
              </a:r>
              <a:r>
                <a:rPr lang="en-US" sz="1400" dirty="0" err="1" smtClean="0"/>
                <a:t>tarefas</a:t>
              </a:r>
              <a:r>
                <a:rPr lang="en-US" sz="1400" dirty="0" smtClean="0"/>
                <a:t> a </a:t>
              </a:r>
              <a:r>
                <a:rPr lang="en-US" sz="1400" dirty="0" err="1" smtClean="0"/>
                <a:t>serem</a:t>
              </a:r>
              <a:r>
                <a:rPr lang="en-US" sz="1400" dirty="0" smtClean="0"/>
                <a:t> </a:t>
              </a:r>
              <a:r>
                <a:rPr lang="en-US" sz="1400" dirty="0" err="1" smtClean="0"/>
                <a:t>realizadas</a:t>
              </a:r>
              <a:r>
                <a:rPr lang="en-US" sz="1400" dirty="0" smtClean="0"/>
                <a:t> </a:t>
              </a:r>
              <a:r>
                <a:rPr lang="en-US" sz="1400" dirty="0" err="1" smtClean="0"/>
                <a:t>urgentemente</a:t>
              </a:r>
              <a:endParaRPr lang="en-US" sz="1400" dirty="0"/>
            </a:p>
          </p:txBody>
        </p:sp>
        <p:cxnSp>
          <p:nvCxnSpPr>
            <p:cNvPr id="36" name="Straight Connector 10"/>
            <p:cNvCxnSpPr/>
            <p:nvPr/>
          </p:nvCxnSpPr>
          <p:spPr>
            <a:xfrm>
              <a:off x="11761129" y="714684"/>
              <a:ext cx="0" cy="2028516"/>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sp>
        <p:nvSpPr>
          <p:cNvPr id="40" name="CaixaDeTexto 39"/>
          <p:cNvSpPr txBox="1"/>
          <p:nvPr/>
        </p:nvSpPr>
        <p:spPr>
          <a:xfrm>
            <a:off x="725715" y="895909"/>
            <a:ext cx="8679542" cy="400110"/>
          </a:xfrm>
          <a:prstGeom prst="rect">
            <a:avLst/>
          </a:prstGeom>
          <a:noFill/>
        </p:spPr>
        <p:txBody>
          <a:bodyPr wrap="square" rtlCol="0">
            <a:spAutoFit/>
          </a:bodyPr>
          <a:lstStyle/>
          <a:p>
            <a:r>
              <a:rPr lang="pt-BR" sz="2000" b="1" dirty="0" smtClean="0">
                <a:solidFill>
                  <a:schemeClr val="accent6"/>
                </a:solidFill>
              </a:rPr>
              <a:t>Outlook</a:t>
            </a:r>
            <a:endParaRPr lang="en-US" sz="2000" b="1" dirty="0">
              <a:solidFill>
                <a:schemeClr val="accent6"/>
              </a:solidFill>
            </a:endParaRPr>
          </a:p>
        </p:txBody>
      </p:sp>
    </p:spTree>
    <p:extLst>
      <p:ext uri="{BB962C8B-B14F-4D97-AF65-F5344CB8AC3E}">
        <p14:creationId xmlns:p14="http://schemas.microsoft.com/office/powerpoint/2010/main" val="170493354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pic>
        <p:nvPicPr>
          <p:cNvPr id="37"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878" y="1279828"/>
            <a:ext cx="7794568" cy="5012640"/>
          </a:xfrm>
          <a:prstGeom prst="rect">
            <a:avLst/>
          </a:prstGeom>
          <a:ln>
            <a:solidFill>
              <a:schemeClr val="bg2"/>
            </a:solidFill>
          </a:ln>
        </p:spPr>
      </p:pic>
      <p:grpSp>
        <p:nvGrpSpPr>
          <p:cNvPr id="38" name="Group 5"/>
          <p:cNvGrpSpPr/>
          <p:nvPr/>
        </p:nvGrpSpPr>
        <p:grpSpPr>
          <a:xfrm>
            <a:off x="816838" y="5055450"/>
            <a:ext cx="3014113" cy="1129338"/>
            <a:chOff x="3114989" y="5545993"/>
            <a:chExt cx="3014506" cy="1129485"/>
          </a:xfrm>
        </p:grpSpPr>
        <p:cxnSp>
          <p:nvCxnSpPr>
            <p:cNvPr id="39" name="Straight Connector 18"/>
            <p:cNvCxnSpPr/>
            <p:nvPr/>
          </p:nvCxnSpPr>
          <p:spPr>
            <a:xfrm flipV="1">
              <a:off x="4612506" y="5545993"/>
              <a:ext cx="0" cy="75447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40" name="TextBox 4"/>
            <p:cNvSpPr txBox="1"/>
            <p:nvPr/>
          </p:nvSpPr>
          <p:spPr>
            <a:xfrm>
              <a:off x="3114989" y="6186837"/>
              <a:ext cx="3014506" cy="488641"/>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smtClean="0"/>
                <a:t>Grupos de calendário podem ser gerenciados por vários colaboradores</a:t>
              </a:r>
              <a:endParaRPr lang="en-US" sz="1400" dirty="0"/>
            </a:p>
          </p:txBody>
        </p:sp>
      </p:grpSp>
      <p:grpSp>
        <p:nvGrpSpPr>
          <p:cNvPr id="41" name="Group 9"/>
          <p:cNvGrpSpPr/>
          <p:nvPr/>
        </p:nvGrpSpPr>
        <p:grpSpPr>
          <a:xfrm>
            <a:off x="3183074" y="1279828"/>
            <a:ext cx="3056479" cy="1684165"/>
            <a:chOff x="8943033" y="1423087"/>
            <a:chExt cx="3056877" cy="1684384"/>
          </a:xfrm>
        </p:grpSpPr>
        <p:sp>
          <p:nvSpPr>
            <p:cNvPr id="42" name="TextBox 4"/>
            <p:cNvSpPr txBox="1"/>
            <p:nvPr/>
          </p:nvSpPr>
          <p:spPr>
            <a:xfrm>
              <a:off x="8943033" y="1423087"/>
              <a:ext cx="3056877" cy="488641"/>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smtClean="0"/>
                <a:t>Visualize </a:t>
              </a:r>
              <a:r>
                <a:rPr lang="en-US" sz="1400" dirty="0" err="1" smtClean="0"/>
                <a:t>seus</a:t>
              </a:r>
              <a:r>
                <a:rPr lang="en-US" sz="1400" dirty="0" smtClean="0"/>
                <a:t> </a:t>
              </a:r>
              <a:r>
                <a:rPr lang="en-US" sz="1400" dirty="0" err="1" smtClean="0"/>
                <a:t>calendários</a:t>
              </a:r>
              <a:r>
                <a:rPr lang="en-US" sz="1400" dirty="0" smtClean="0"/>
                <a:t> e </a:t>
              </a:r>
              <a:r>
                <a:rPr lang="en-US" sz="1400" dirty="0" err="1" smtClean="0"/>
                <a:t>os</a:t>
              </a:r>
              <a:r>
                <a:rPr lang="en-US" sz="1400" dirty="0" smtClean="0"/>
                <a:t> </a:t>
              </a:r>
              <a:r>
                <a:rPr lang="en-US" sz="1400" dirty="0" err="1" smtClean="0"/>
                <a:t>calendários</a:t>
              </a:r>
              <a:r>
                <a:rPr lang="en-US" sz="1400" dirty="0" smtClean="0"/>
                <a:t> </a:t>
              </a:r>
              <a:r>
                <a:rPr lang="en-US" sz="1400" dirty="0" err="1" smtClean="0"/>
                <a:t>compartilhados</a:t>
              </a:r>
              <a:endParaRPr lang="en-US" sz="1400" dirty="0"/>
            </a:p>
          </p:txBody>
        </p:sp>
        <p:cxnSp>
          <p:nvCxnSpPr>
            <p:cNvPr id="43" name="Straight Connector 10"/>
            <p:cNvCxnSpPr/>
            <p:nvPr/>
          </p:nvCxnSpPr>
          <p:spPr>
            <a:xfrm>
              <a:off x="9313149" y="1907954"/>
              <a:ext cx="0" cy="1199517"/>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sp>
        <p:nvSpPr>
          <p:cNvPr id="44" name="CaixaDeTexto 43"/>
          <p:cNvSpPr txBox="1"/>
          <p:nvPr/>
        </p:nvSpPr>
        <p:spPr>
          <a:xfrm>
            <a:off x="725715" y="895909"/>
            <a:ext cx="8679542" cy="400110"/>
          </a:xfrm>
          <a:prstGeom prst="rect">
            <a:avLst/>
          </a:prstGeom>
          <a:noFill/>
        </p:spPr>
        <p:txBody>
          <a:bodyPr wrap="square" rtlCol="0">
            <a:spAutoFit/>
          </a:bodyPr>
          <a:lstStyle/>
          <a:p>
            <a:r>
              <a:rPr lang="pt-BR" sz="2000" b="1" dirty="0" smtClean="0">
                <a:solidFill>
                  <a:schemeClr val="accent6"/>
                </a:solidFill>
              </a:rPr>
              <a:t>Outlook</a:t>
            </a:r>
            <a:endParaRPr lang="en-US" sz="2000" b="1" dirty="0">
              <a:solidFill>
                <a:schemeClr val="accent6"/>
              </a:solidFill>
            </a:endParaRPr>
          </a:p>
        </p:txBody>
      </p:sp>
    </p:spTree>
    <p:extLst>
      <p:ext uri="{BB962C8B-B14F-4D97-AF65-F5344CB8AC3E}">
        <p14:creationId xmlns:p14="http://schemas.microsoft.com/office/powerpoint/2010/main" val="369947909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1"/>
            </p:custDataLst>
          </p:nvPr>
        </p:nvSpPr>
        <p:spPr bwMode="auto">
          <a:xfrm>
            <a:off x="413388"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45" name="Rectangle 44"/>
          <p:cNvSpPr/>
          <p:nvPr/>
        </p:nvSpPr>
        <p:spPr bwMode="auto">
          <a:xfrm>
            <a:off x="2418340"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SharePoint</a:t>
            </a:r>
          </a:p>
        </p:txBody>
      </p:sp>
      <p:sp>
        <p:nvSpPr>
          <p:cNvPr id="16" name="Rectangle 15"/>
          <p:cNvSpPr/>
          <p:nvPr/>
        </p:nvSpPr>
        <p:spPr bwMode="auto">
          <a:xfrm>
            <a:off x="4423300"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Outlook</a:t>
            </a:r>
          </a:p>
        </p:txBody>
      </p:sp>
      <p:sp>
        <p:nvSpPr>
          <p:cNvPr id="19" name="Rectangle 18"/>
          <p:cNvSpPr/>
          <p:nvPr/>
        </p:nvSpPr>
        <p:spPr bwMode="auto">
          <a:xfrm>
            <a:off x="413388" y="4009960"/>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Word</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22" name="Rectangle 21"/>
          <p:cNvSpPr/>
          <p:nvPr/>
        </p:nvSpPr>
        <p:spPr bwMode="auto">
          <a:xfrm>
            <a:off x="2418340"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Power Point</a:t>
            </a:r>
          </a:p>
        </p:txBody>
      </p:sp>
      <p:sp>
        <p:nvSpPr>
          <p:cNvPr id="29" name="Rectangle 28"/>
          <p:cNvSpPr/>
          <p:nvPr/>
        </p:nvSpPr>
        <p:spPr bwMode="auto">
          <a:xfrm>
            <a:off x="4412964"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Excel</a:t>
            </a:r>
          </a:p>
        </p:txBody>
      </p:sp>
      <p:sp>
        <p:nvSpPr>
          <p:cNvPr id="3" name="Rectangle 2"/>
          <p:cNvSpPr/>
          <p:nvPr/>
        </p:nvSpPr>
        <p:spPr>
          <a:xfrm>
            <a:off x="558530" y="942986"/>
            <a:ext cx="8846727" cy="876816"/>
          </a:xfrm>
          <a:prstGeom prst="rect">
            <a:avLst/>
          </a:prstGeom>
        </p:spPr>
        <p:txBody>
          <a:bodyPr wrap="square" lIns="75848" tIns="37928" rIns="75848" bIns="37928">
            <a:spAutoFit/>
          </a:bodyPr>
          <a:lstStyle/>
          <a:p>
            <a:pPr defTabSz="758379"/>
            <a:r>
              <a:rPr lang="en-US" sz="2000" b="1" spc="-83" dirty="0" smtClean="0">
                <a:ln w="3175">
                  <a:noFill/>
                </a:ln>
                <a:cs typeface="Arial" charset="0"/>
              </a:rPr>
              <a:t>O que é o Office 365, OneDrive e SharePoint?</a:t>
            </a:r>
          </a:p>
          <a:p>
            <a:pPr defTabSz="758379"/>
            <a:endParaRPr lang="en-US" sz="1600" b="1" spc="-83" dirty="0" smtClean="0">
              <a:ln w="3175">
                <a:noFill/>
              </a:ln>
              <a:cs typeface="Arial" charset="0"/>
            </a:endParaRPr>
          </a:p>
          <a:p>
            <a:pPr defTabSz="758379"/>
            <a:r>
              <a:rPr lang="en-US" sz="1600" spc="-83" dirty="0" err="1" smtClean="0">
                <a:ln w="3175">
                  <a:noFill/>
                </a:ln>
                <a:cs typeface="Arial" charset="0"/>
              </a:rPr>
              <a:t>Serviços</a:t>
            </a:r>
            <a:r>
              <a:rPr lang="en-US" sz="1600" spc="-83" dirty="0" smtClean="0">
                <a:ln w="3175">
                  <a:noFill/>
                </a:ln>
                <a:cs typeface="Arial" charset="0"/>
              </a:rPr>
              <a:t> </a:t>
            </a:r>
            <a:r>
              <a:rPr lang="en-US" sz="1600" spc="-83" dirty="0">
                <a:ln w="3175">
                  <a:noFill/>
                </a:ln>
                <a:cs typeface="Arial" charset="0"/>
              </a:rPr>
              <a:t>da Microsoft para </a:t>
            </a:r>
            <a:r>
              <a:rPr lang="en-US" sz="1600" spc="-83" dirty="0" err="1">
                <a:ln w="3175">
                  <a:noFill/>
                </a:ln>
                <a:cs typeface="Arial" charset="0"/>
              </a:rPr>
              <a:t>nuvem</a:t>
            </a:r>
            <a:r>
              <a:rPr lang="en-US" sz="1600" spc="-83" dirty="0">
                <a:ln w="3175">
                  <a:noFill/>
                </a:ln>
                <a:cs typeface="Arial" charset="0"/>
              </a:rPr>
              <a:t> </a:t>
            </a:r>
            <a:r>
              <a:rPr lang="en-US" sz="1600" spc="-83" dirty="0" err="1">
                <a:ln w="3175">
                  <a:noFill/>
                </a:ln>
                <a:cs typeface="Arial" charset="0"/>
              </a:rPr>
              <a:t>pública</a:t>
            </a:r>
            <a:r>
              <a:rPr lang="en-US" sz="1600" spc="-83" dirty="0">
                <a:ln w="3175">
                  <a:noFill/>
                </a:ln>
                <a:cs typeface="Arial" charset="0"/>
              </a:rPr>
              <a:t>.</a:t>
            </a:r>
            <a:endParaRPr lang="en-US" sz="1600" dirty="0"/>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pic>
        <p:nvPicPr>
          <p:cNvPr id="1026" name="Picture 2" descr="http://noticias.universia.com.br/br/images/docentes/d/di/dic/dicas-simples-para-editar-seu-proprio-texto-noticias.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8596" y="1994727"/>
            <a:ext cx="3532720" cy="301125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58"/>
          <p:cNvSpPr/>
          <p:nvPr/>
        </p:nvSpPr>
        <p:spPr bwMode="auto">
          <a:xfrm>
            <a:off x="6438600" y="5005977"/>
            <a:ext cx="3532716" cy="903465"/>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smtClean="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Word</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p:txBody>
      </p:sp>
      <p:pic>
        <p:nvPicPr>
          <p:cNvPr id="17" name="Picture 71" descr="C:\Users\chrisw\Desktop\Cloud Services 3.png"/>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8492202" y="5100721"/>
            <a:ext cx="1156408" cy="683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68287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nodeType="withEffect">
                                  <p:stCondLst>
                                    <p:cond delay="0"/>
                                  </p:stCondLst>
                                  <p:childTnLst>
                                    <p:set>
                                      <p:cBhvr>
                                        <p:cTn id="11" dur="1" fill="hold">
                                          <p:stCondLst>
                                            <p:cond delay="0"/>
                                          </p:stCondLst>
                                        </p:cTn>
                                        <p:tgtEl>
                                          <p:spTgt spid="1026"/>
                                        </p:tgtEl>
                                        <p:attrNameLst>
                                          <p:attrName>style.visibility</p:attrName>
                                        </p:attrNameLst>
                                      </p:cBhvr>
                                      <p:to>
                                        <p:strVal val="visible"/>
                                      </p:to>
                                    </p:set>
                                    <p:anim calcmode="lin" valueType="num">
                                      <p:cBhvr>
                                        <p:cTn id="12" dur="500" fill="hold"/>
                                        <p:tgtEl>
                                          <p:spTgt spid="1026"/>
                                        </p:tgtEl>
                                        <p:attrNameLst>
                                          <p:attrName>ppt_w</p:attrName>
                                        </p:attrNameLst>
                                      </p:cBhvr>
                                      <p:tavLst>
                                        <p:tav tm="0">
                                          <p:val>
                                            <p:fltVal val="0"/>
                                          </p:val>
                                        </p:tav>
                                        <p:tav tm="100000">
                                          <p:val>
                                            <p:strVal val="#ppt_w"/>
                                          </p:val>
                                        </p:tav>
                                      </p:tavLst>
                                    </p:anim>
                                    <p:anim calcmode="lin" valueType="num">
                                      <p:cBhvr>
                                        <p:cTn id="13" dur="500" fill="hold"/>
                                        <p:tgtEl>
                                          <p:spTgt spid="1026"/>
                                        </p:tgtEl>
                                        <p:attrNameLst>
                                          <p:attrName>ppt_h</p:attrName>
                                        </p:attrNameLst>
                                      </p:cBhvr>
                                      <p:tavLst>
                                        <p:tav tm="0">
                                          <p:val>
                                            <p:fltVal val="0"/>
                                          </p:val>
                                        </p:tav>
                                        <p:tav tm="100000">
                                          <p:val>
                                            <p:strVal val="#ppt_h"/>
                                          </p:val>
                                        </p:tav>
                                      </p:tavLst>
                                    </p:anim>
                                    <p:animEffect transition="in" filter="fade">
                                      <p:cBhvr>
                                        <p:cTn id="14" dur="500"/>
                                        <p:tgtEl>
                                          <p:spTgt spid="102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p:cTn id="17" dur="500" fill="hold"/>
                                        <p:tgtEl>
                                          <p:spTgt spid="18"/>
                                        </p:tgtEl>
                                        <p:attrNameLst>
                                          <p:attrName>ppt_w</p:attrName>
                                        </p:attrNameLst>
                                      </p:cBhvr>
                                      <p:tavLst>
                                        <p:tav tm="0">
                                          <p:val>
                                            <p:fltVal val="0"/>
                                          </p:val>
                                        </p:tav>
                                        <p:tav tm="100000">
                                          <p:val>
                                            <p:strVal val="#ppt_w"/>
                                          </p:val>
                                        </p:tav>
                                      </p:tavLst>
                                    </p:anim>
                                    <p:anim calcmode="lin" valueType="num">
                                      <p:cBhvr>
                                        <p:cTn id="18" dur="500" fill="hold"/>
                                        <p:tgtEl>
                                          <p:spTgt spid="18"/>
                                        </p:tgtEl>
                                        <p:attrNameLst>
                                          <p:attrName>ppt_h</p:attrName>
                                        </p:attrNameLst>
                                      </p:cBhvr>
                                      <p:tavLst>
                                        <p:tav tm="0">
                                          <p:val>
                                            <p:fltVal val="0"/>
                                          </p:val>
                                        </p:tav>
                                        <p:tav tm="100000">
                                          <p:val>
                                            <p:strVal val="#ppt_h"/>
                                          </p:val>
                                        </p:tav>
                                      </p:tavLst>
                                    </p:anim>
                                    <p:animEffect transition="in" filter="fade">
                                      <p:cBhvr>
                                        <p:cTn id="19" dur="500"/>
                                        <p:tgtEl>
                                          <p:spTgt spid="18"/>
                                        </p:tgtEl>
                                      </p:cBhvr>
                                    </p:animEffect>
                                  </p:childTnLst>
                                </p:cTn>
                              </p:par>
                              <p:par>
                                <p:cTn id="20" presetID="53" presetClass="entr" presetSubtype="16"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sp>
        <p:nvSpPr>
          <p:cNvPr id="12" name="Text Placeholder 1"/>
          <p:cNvSpPr>
            <a:spLocks noGrp="1"/>
          </p:cNvSpPr>
          <p:nvPr>
            <p:ph type="body" idx="4294967295"/>
          </p:nvPr>
        </p:nvSpPr>
        <p:spPr>
          <a:xfrm>
            <a:off x="136478" y="1529818"/>
            <a:ext cx="2125061" cy="4761800"/>
          </a:xfrm>
          <a:prstGeom prst="rect">
            <a:avLst/>
          </a:prstGeom>
          <a:solidFill>
            <a:schemeClr val="accent6"/>
          </a:solidFill>
          <a:ln>
            <a:solidFill>
              <a:schemeClr val="accent6"/>
            </a:solidFill>
          </a:ln>
          <a:effectLst>
            <a:outerShdw blurRad="50800" dist="38100" dir="2700000" algn="tl" rotWithShape="0">
              <a:prstClr val="black">
                <a:alpha val="40000"/>
              </a:prstClr>
            </a:outerShdw>
          </a:effectLst>
        </p:spPr>
        <p:txBody>
          <a:bodyPr>
            <a:normAutofit/>
          </a:bodyPr>
          <a:lstStyle/>
          <a:p>
            <a:pPr marL="0" indent="0">
              <a:buNone/>
            </a:pPr>
            <a:r>
              <a:rPr lang="en-US" sz="2000" b="1" dirty="0" err="1" smtClean="0">
                <a:solidFill>
                  <a:schemeClr val="bg1"/>
                </a:solidFill>
              </a:rPr>
              <a:t>Edição</a:t>
            </a:r>
            <a:r>
              <a:rPr lang="en-US" sz="2000" b="1" dirty="0" smtClean="0">
                <a:solidFill>
                  <a:schemeClr val="bg1"/>
                </a:solidFill>
              </a:rPr>
              <a:t> de PDF</a:t>
            </a:r>
          </a:p>
          <a:p>
            <a:pPr marL="0" indent="0">
              <a:buNone/>
            </a:pPr>
            <a:endParaRPr lang="en-US" sz="2000" b="1" dirty="0" smtClean="0">
              <a:solidFill>
                <a:schemeClr val="bg1"/>
              </a:solidFill>
            </a:endParaRPr>
          </a:p>
          <a:p>
            <a:pPr marL="0" indent="0">
              <a:buNone/>
            </a:pPr>
            <a:r>
              <a:rPr lang="pt-BR" sz="1600" dirty="0">
                <a:solidFill>
                  <a:schemeClr val="bg1"/>
                </a:solidFill>
              </a:rPr>
              <a:t>Permita que os usuários do Word usem conteúdos diretamente de arquivos </a:t>
            </a:r>
            <a:r>
              <a:rPr lang="pt-BR" sz="1600" dirty="0" err="1" smtClean="0">
                <a:solidFill>
                  <a:schemeClr val="bg1"/>
                </a:solidFill>
              </a:rPr>
              <a:t>Adobe®PDF</a:t>
            </a:r>
            <a:endParaRPr lang="pt-BR" sz="1600" dirty="0" smtClean="0">
              <a:solidFill>
                <a:schemeClr val="bg1"/>
              </a:solidFill>
            </a:endParaRPr>
          </a:p>
          <a:p>
            <a:pPr marL="0" indent="0">
              <a:buNone/>
            </a:pPr>
            <a:endParaRPr lang="pt-BR" sz="1600" dirty="0">
              <a:solidFill>
                <a:schemeClr val="bg1"/>
              </a:solidFill>
            </a:endParaRPr>
          </a:p>
          <a:p>
            <a:pPr marL="0" indent="0">
              <a:buNone/>
            </a:pPr>
            <a:r>
              <a:rPr lang="pt-BR" sz="1600" dirty="0">
                <a:solidFill>
                  <a:schemeClr val="bg1"/>
                </a:solidFill>
              </a:rPr>
              <a:t>Torne o PDF dinâmico, tais como parágrafos, listas e </a:t>
            </a:r>
            <a:r>
              <a:rPr lang="pt-BR" sz="1600" dirty="0" smtClean="0">
                <a:solidFill>
                  <a:schemeClr val="bg1"/>
                </a:solidFill>
              </a:rPr>
              <a:t>tabelas</a:t>
            </a:r>
          </a:p>
          <a:p>
            <a:pPr marL="0" indent="0">
              <a:buNone/>
            </a:pPr>
            <a:endParaRPr lang="pt-BR" sz="1600" dirty="0">
              <a:solidFill>
                <a:schemeClr val="bg1"/>
              </a:solidFill>
            </a:endParaRPr>
          </a:p>
          <a:p>
            <a:pPr marL="0" indent="0">
              <a:buNone/>
            </a:pPr>
            <a:r>
              <a:rPr lang="pt-BR" sz="1600" dirty="0">
                <a:solidFill>
                  <a:schemeClr val="bg1"/>
                </a:solidFill>
              </a:rPr>
              <a:t>Atue como em documentos familiares do Word</a:t>
            </a:r>
          </a:p>
        </p:txBody>
      </p:sp>
      <p:pic>
        <p:nvPicPr>
          <p:cNvPr id="23" name="Picture 5"/>
          <p:cNvPicPr>
            <a:picLocks noChangeAspect="1"/>
          </p:cNvPicPr>
          <p:nvPr/>
        </p:nvPicPr>
        <p:blipFill rotWithShape="1">
          <a:blip r:embed="rId4">
            <a:extLst>
              <a:ext uri="{28A0092B-C50C-407E-A947-70E740481C1C}">
                <a14:useLocalDpi xmlns:a14="http://schemas.microsoft.com/office/drawing/2010/main" val="0"/>
              </a:ext>
            </a:extLst>
          </a:blip>
          <a:srcRect r="17490"/>
          <a:stretch/>
        </p:blipFill>
        <p:spPr>
          <a:xfrm>
            <a:off x="2506125" y="1529818"/>
            <a:ext cx="7600401" cy="5186546"/>
          </a:xfrm>
          <a:prstGeom prst="rect">
            <a:avLst/>
          </a:prstGeom>
          <a:ln>
            <a:solidFill>
              <a:schemeClr val="bg2"/>
            </a:solidFill>
          </a:ln>
        </p:spPr>
      </p:pic>
      <p:grpSp>
        <p:nvGrpSpPr>
          <p:cNvPr id="24" name="Group 7"/>
          <p:cNvGrpSpPr/>
          <p:nvPr/>
        </p:nvGrpSpPr>
        <p:grpSpPr>
          <a:xfrm>
            <a:off x="5140306" y="900799"/>
            <a:ext cx="1514438" cy="1046218"/>
            <a:chOff x="8617349" y="2107489"/>
            <a:chExt cx="2159233" cy="594789"/>
          </a:xfrm>
        </p:grpSpPr>
        <p:cxnSp>
          <p:nvCxnSpPr>
            <p:cNvPr id="25" name="Straight Connector 8"/>
            <p:cNvCxnSpPr/>
            <p:nvPr/>
          </p:nvCxnSpPr>
          <p:spPr>
            <a:xfrm>
              <a:off x="9718355" y="2254237"/>
              <a:ext cx="469" cy="44804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6" name="TextBox 4"/>
            <p:cNvSpPr txBox="1"/>
            <p:nvPr/>
          </p:nvSpPr>
          <p:spPr>
            <a:xfrm>
              <a:off x="8617349" y="2107489"/>
              <a:ext cx="2159233" cy="277731"/>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t>Documento</a:t>
              </a:r>
              <a:r>
                <a:rPr lang="en-US" sz="1400" dirty="0"/>
                <a:t> </a:t>
              </a:r>
              <a:r>
                <a:rPr lang="en-US" sz="1400" dirty="0" err="1"/>
                <a:t>fonte</a:t>
              </a:r>
              <a:r>
                <a:rPr lang="en-US" sz="1400" dirty="0"/>
                <a:t> em PDF</a:t>
              </a:r>
            </a:p>
          </p:txBody>
        </p:sp>
      </p:grpSp>
      <p:grpSp>
        <p:nvGrpSpPr>
          <p:cNvPr id="27" name="Group 10"/>
          <p:cNvGrpSpPr/>
          <p:nvPr/>
        </p:nvGrpSpPr>
        <p:grpSpPr>
          <a:xfrm>
            <a:off x="7993014" y="1890566"/>
            <a:ext cx="1964696" cy="952536"/>
            <a:chOff x="8322908" y="2107491"/>
            <a:chExt cx="2801196" cy="541531"/>
          </a:xfrm>
        </p:grpSpPr>
        <p:cxnSp>
          <p:nvCxnSpPr>
            <p:cNvPr id="28" name="Straight Connector 11"/>
            <p:cNvCxnSpPr/>
            <p:nvPr/>
          </p:nvCxnSpPr>
          <p:spPr>
            <a:xfrm>
              <a:off x="9718355" y="2200981"/>
              <a:ext cx="469" cy="44804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9" name="TextBox 4"/>
            <p:cNvSpPr txBox="1"/>
            <p:nvPr/>
          </p:nvSpPr>
          <p:spPr>
            <a:xfrm>
              <a:off x="8322908" y="2107491"/>
              <a:ext cx="2801196" cy="277732"/>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t>Arquivo</a:t>
              </a:r>
              <a:r>
                <a:rPr lang="en-US" sz="1400" dirty="0"/>
                <a:t> PDF </a:t>
              </a:r>
              <a:r>
                <a:rPr lang="en-US" sz="1400" dirty="0" err="1"/>
                <a:t>convertido</a:t>
              </a:r>
              <a:r>
                <a:rPr lang="en-US" sz="1400" dirty="0"/>
                <a:t> para .DOCX</a:t>
              </a:r>
            </a:p>
          </p:txBody>
        </p:sp>
      </p:grpSp>
      <p:grpSp>
        <p:nvGrpSpPr>
          <p:cNvPr id="30" name="Group 13"/>
          <p:cNvGrpSpPr/>
          <p:nvPr/>
        </p:nvGrpSpPr>
        <p:grpSpPr>
          <a:xfrm>
            <a:off x="6311045" y="4647355"/>
            <a:ext cx="1877972" cy="854898"/>
            <a:chOff x="8377529" y="1899197"/>
            <a:chExt cx="2677549" cy="486023"/>
          </a:xfrm>
        </p:grpSpPr>
        <p:cxnSp>
          <p:nvCxnSpPr>
            <p:cNvPr id="31" name="Straight Connector 14"/>
            <p:cNvCxnSpPr/>
            <p:nvPr/>
          </p:nvCxnSpPr>
          <p:spPr>
            <a:xfrm flipV="1">
              <a:off x="9718355" y="1899197"/>
              <a:ext cx="469" cy="44804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2" name="TextBox 4"/>
            <p:cNvSpPr txBox="1"/>
            <p:nvPr/>
          </p:nvSpPr>
          <p:spPr>
            <a:xfrm>
              <a:off x="8377529" y="2107488"/>
              <a:ext cx="2677549" cy="277732"/>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t>Abra</a:t>
              </a:r>
              <a:r>
                <a:rPr lang="en-US" sz="1400" dirty="0"/>
                <a:t> </a:t>
              </a:r>
              <a:r>
                <a:rPr lang="en-US" sz="1400" dirty="0" err="1"/>
                <a:t>arquivos</a:t>
              </a:r>
              <a:r>
                <a:rPr lang="en-US" sz="1400" dirty="0"/>
                <a:t> PDF </a:t>
              </a:r>
              <a:r>
                <a:rPr lang="en-US" sz="1400" dirty="0" err="1"/>
                <a:t>diretamente</a:t>
              </a:r>
              <a:r>
                <a:rPr lang="en-US" sz="1400" dirty="0"/>
                <a:t> do Word</a:t>
              </a:r>
            </a:p>
          </p:txBody>
        </p:sp>
      </p:grpSp>
      <p:sp>
        <p:nvSpPr>
          <p:cNvPr id="33" name="CaixaDeTexto 32"/>
          <p:cNvSpPr txBox="1"/>
          <p:nvPr/>
        </p:nvSpPr>
        <p:spPr>
          <a:xfrm>
            <a:off x="725715" y="895909"/>
            <a:ext cx="8679542" cy="400110"/>
          </a:xfrm>
          <a:prstGeom prst="rect">
            <a:avLst/>
          </a:prstGeom>
          <a:noFill/>
        </p:spPr>
        <p:txBody>
          <a:bodyPr wrap="square" rtlCol="0">
            <a:spAutoFit/>
          </a:bodyPr>
          <a:lstStyle/>
          <a:p>
            <a:r>
              <a:rPr lang="pt-BR" sz="2000" b="1" dirty="0" smtClean="0">
                <a:solidFill>
                  <a:schemeClr val="accent6"/>
                </a:solidFill>
              </a:rPr>
              <a:t>Word</a:t>
            </a:r>
            <a:endParaRPr lang="en-US" sz="2000" b="1" dirty="0">
              <a:solidFill>
                <a:schemeClr val="accent6"/>
              </a:solidFill>
            </a:endParaRPr>
          </a:p>
        </p:txBody>
      </p:sp>
    </p:spTree>
    <p:extLst>
      <p:ext uri="{BB962C8B-B14F-4D97-AF65-F5344CB8AC3E}">
        <p14:creationId xmlns:p14="http://schemas.microsoft.com/office/powerpoint/2010/main" val="10485327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1"/>
            </p:custDataLst>
          </p:nvPr>
        </p:nvSpPr>
        <p:spPr bwMode="auto">
          <a:xfrm>
            <a:off x="413388"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45" name="Rectangle 44"/>
          <p:cNvSpPr/>
          <p:nvPr/>
        </p:nvSpPr>
        <p:spPr bwMode="auto">
          <a:xfrm>
            <a:off x="2418340"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SharePoint</a:t>
            </a:r>
          </a:p>
        </p:txBody>
      </p:sp>
      <p:sp>
        <p:nvSpPr>
          <p:cNvPr id="16" name="Rectangle 15"/>
          <p:cNvSpPr/>
          <p:nvPr/>
        </p:nvSpPr>
        <p:spPr bwMode="auto">
          <a:xfrm>
            <a:off x="4423300"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Outlook</a:t>
            </a:r>
          </a:p>
        </p:txBody>
      </p:sp>
      <p:sp>
        <p:nvSpPr>
          <p:cNvPr id="19" name="Rectangle 18"/>
          <p:cNvSpPr/>
          <p:nvPr/>
        </p:nvSpPr>
        <p:spPr bwMode="auto">
          <a:xfrm>
            <a:off x="413388"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Word</a:t>
            </a:r>
          </a:p>
        </p:txBody>
      </p:sp>
      <p:sp>
        <p:nvSpPr>
          <p:cNvPr id="22" name="Rectangle 21"/>
          <p:cNvSpPr/>
          <p:nvPr/>
        </p:nvSpPr>
        <p:spPr bwMode="auto">
          <a:xfrm>
            <a:off x="2418340" y="4009960"/>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Power Point</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29" name="Rectangle 28"/>
          <p:cNvSpPr/>
          <p:nvPr/>
        </p:nvSpPr>
        <p:spPr bwMode="auto">
          <a:xfrm>
            <a:off x="4412964"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Excel</a:t>
            </a:r>
          </a:p>
        </p:txBody>
      </p:sp>
      <p:sp>
        <p:nvSpPr>
          <p:cNvPr id="3" name="Rectangle 2"/>
          <p:cNvSpPr/>
          <p:nvPr/>
        </p:nvSpPr>
        <p:spPr>
          <a:xfrm>
            <a:off x="558530" y="942986"/>
            <a:ext cx="8846727" cy="876816"/>
          </a:xfrm>
          <a:prstGeom prst="rect">
            <a:avLst/>
          </a:prstGeom>
        </p:spPr>
        <p:txBody>
          <a:bodyPr wrap="square" lIns="75848" tIns="37928" rIns="75848" bIns="37928">
            <a:spAutoFit/>
          </a:bodyPr>
          <a:lstStyle/>
          <a:p>
            <a:pPr defTabSz="758379"/>
            <a:r>
              <a:rPr lang="en-US" sz="2000" b="1" spc="-83" dirty="0" smtClean="0">
                <a:ln w="3175">
                  <a:noFill/>
                </a:ln>
                <a:cs typeface="Arial" charset="0"/>
              </a:rPr>
              <a:t>O que é o Office 365, OneDrive e SharePoint?</a:t>
            </a:r>
          </a:p>
          <a:p>
            <a:pPr defTabSz="758379"/>
            <a:endParaRPr lang="en-US" sz="1600" b="1" spc="-83" dirty="0" smtClean="0">
              <a:ln w="3175">
                <a:noFill/>
              </a:ln>
              <a:cs typeface="Arial" charset="0"/>
            </a:endParaRPr>
          </a:p>
          <a:p>
            <a:pPr defTabSz="758379"/>
            <a:r>
              <a:rPr lang="en-US" sz="1600" spc="-83" dirty="0" err="1" smtClean="0">
                <a:ln w="3175">
                  <a:noFill/>
                </a:ln>
                <a:cs typeface="Arial" charset="0"/>
              </a:rPr>
              <a:t>Serviços</a:t>
            </a:r>
            <a:r>
              <a:rPr lang="en-US" sz="1600" spc="-83" dirty="0" smtClean="0">
                <a:ln w="3175">
                  <a:noFill/>
                </a:ln>
                <a:cs typeface="Arial" charset="0"/>
              </a:rPr>
              <a:t> </a:t>
            </a:r>
            <a:r>
              <a:rPr lang="en-US" sz="1600" spc="-83" dirty="0">
                <a:ln w="3175">
                  <a:noFill/>
                </a:ln>
                <a:cs typeface="Arial" charset="0"/>
              </a:rPr>
              <a:t>da Microsoft para </a:t>
            </a:r>
            <a:r>
              <a:rPr lang="en-US" sz="1600" spc="-83" dirty="0" err="1">
                <a:ln w="3175">
                  <a:noFill/>
                </a:ln>
                <a:cs typeface="Arial" charset="0"/>
              </a:rPr>
              <a:t>nuvem</a:t>
            </a:r>
            <a:r>
              <a:rPr lang="en-US" sz="1600" spc="-83" dirty="0">
                <a:ln w="3175">
                  <a:noFill/>
                </a:ln>
                <a:cs typeface="Arial" charset="0"/>
              </a:rPr>
              <a:t> </a:t>
            </a:r>
            <a:r>
              <a:rPr lang="en-US" sz="1600" spc="-83" dirty="0" err="1">
                <a:ln w="3175">
                  <a:noFill/>
                </a:ln>
                <a:cs typeface="Arial" charset="0"/>
              </a:rPr>
              <a:t>pública</a:t>
            </a:r>
            <a:r>
              <a:rPr lang="en-US" sz="1600" spc="-83" dirty="0">
                <a:ln w="3175">
                  <a:noFill/>
                </a:ln>
                <a:cs typeface="Arial" charset="0"/>
              </a:rPr>
              <a:t>.</a:t>
            </a:r>
            <a:endParaRPr lang="en-US" sz="1600" dirty="0"/>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sp>
        <p:nvSpPr>
          <p:cNvPr id="18" name="Rectangle 58"/>
          <p:cNvSpPr/>
          <p:nvPr/>
        </p:nvSpPr>
        <p:spPr bwMode="auto">
          <a:xfrm>
            <a:off x="6438600" y="5005977"/>
            <a:ext cx="3532716" cy="903465"/>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smtClean="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Power Point</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p:txBody>
      </p:sp>
      <p:pic>
        <p:nvPicPr>
          <p:cNvPr id="2050" name="Picture 2" descr="https://infopt-br.examtime.com/files/2014/02/tecnicas-de-apresenta%C3%A7%C3%A3o.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8932" y="2012161"/>
            <a:ext cx="3522384" cy="299381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71" descr="C:\Users\chrisw\Desktop\Cloud Services 3.png"/>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8492202" y="5100721"/>
            <a:ext cx="1156408" cy="683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86258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par>
                                <p:cTn id="15" presetID="53" presetClass="entr" presetSubtype="16" fill="hold" nodeType="withEffect">
                                  <p:stCondLst>
                                    <p:cond delay="0"/>
                                  </p:stCondLst>
                                  <p:childTnLst>
                                    <p:set>
                                      <p:cBhvr>
                                        <p:cTn id="16" dur="1" fill="hold">
                                          <p:stCondLst>
                                            <p:cond delay="0"/>
                                          </p:stCondLst>
                                        </p:cTn>
                                        <p:tgtEl>
                                          <p:spTgt spid="2050"/>
                                        </p:tgtEl>
                                        <p:attrNameLst>
                                          <p:attrName>style.visibility</p:attrName>
                                        </p:attrNameLst>
                                      </p:cBhvr>
                                      <p:to>
                                        <p:strVal val="visible"/>
                                      </p:to>
                                    </p:set>
                                    <p:anim calcmode="lin" valueType="num">
                                      <p:cBhvr>
                                        <p:cTn id="17" dur="500" fill="hold"/>
                                        <p:tgtEl>
                                          <p:spTgt spid="2050"/>
                                        </p:tgtEl>
                                        <p:attrNameLst>
                                          <p:attrName>ppt_w</p:attrName>
                                        </p:attrNameLst>
                                      </p:cBhvr>
                                      <p:tavLst>
                                        <p:tav tm="0">
                                          <p:val>
                                            <p:fltVal val="0"/>
                                          </p:val>
                                        </p:tav>
                                        <p:tav tm="100000">
                                          <p:val>
                                            <p:strVal val="#ppt_w"/>
                                          </p:val>
                                        </p:tav>
                                      </p:tavLst>
                                    </p:anim>
                                    <p:anim calcmode="lin" valueType="num">
                                      <p:cBhvr>
                                        <p:cTn id="18" dur="500" fill="hold"/>
                                        <p:tgtEl>
                                          <p:spTgt spid="2050"/>
                                        </p:tgtEl>
                                        <p:attrNameLst>
                                          <p:attrName>ppt_h</p:attrName>
                                        </p:attrNameLst>
                                      </p:cBhvr>
                                      <p:tavLst>
                                        <p:tav tm="0">
                                          <p:val>
                                            <p:fltVal val="0"/>
                                          </p:val>
                                        </p:tav>
                                        <p:tav tm="100000">
                                          <p:val>
                                            <p:strVal val="#ppt_h"/>
                                          </p:val>
                                        </p:tav>
                                      </p:tavLst>
                                    </p:anim>
                                    <p:animEffect transition="in" filter="fade">
                                      <p:cBhvr>
                                        <p:cTn id="19" dur="500"/>
                                        <p:tgtEl>
                                          <p:spTgt spid="2050"/>
                                        </p:tgtEl>
                                      </p:cBhvr>
                                    </p:animEffect>
                                  </p:childTnLst>
                                </p:cTn>
                              </p:par>
                              <p:par>
                                <p:cTn id="20" presetID="53" presetClass="entr" presetSubtype="16"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sp>
        <p:nvSpPr>
          <p:cNvPr id="12" name="Text Placeholder 1"/>
          <p:cNvSpPr>
            <a:spLocks noGrp="1"/>
          </p:cNvSpPr>
          <p:nvPr>
            <p:ph type="body" idx="4294967295"/>
          </p:nvPr>
        </p:nvSpPr>
        <p:spPr>
          <a:xfrm>
            <a:off x="136478" y="1529818"/>
            <a:ext cx="2060812" cy="4748152"/>
          </a:xfrm>
          <a:prstGeom prst="rect">
            <a:avLst/>
          </a:prstGeom>
          <a:solidFill>
            <a:schemeClr val="accent6"/>
          </a:solidFill>
          <a:ln>
            <a:solidFill>
              <a:schemeClr val="accent6"/>
            </a:solidFill>
          </a:ln>
          <a:effectLst>
            <a:outerShdw blurRad="50800" dist="38100" dir="2700000" algn="tl" rotWithShape="0">
              <a:prstClr val="black">
                <a:alpha val="40000"/>
              </a:prstClr>
            </a:outerShdw>
          </a:effectLst>
        </p:spPr>
        <p:txBody>
          <a:bodyPr>
            <a:normAutofit/>
          </a:bodyPr>
          <a:lstStyle/>
          <a:p>
            <a:pPr marL="0" indent="0">
              <a:buNone/>
            </a:pPr>
            <a:r>
              <a:rPr lang="en-US" sz="2000" b="1" dirty="0" smtClean="0">
                <a:solidFill>
                  <a:schemeClr val="bg1"/>
                </a:solidFill>
              </a:rPr>
              <a:t>Power View</a:t>
            </a:r>
          </a:p>
          <a:p>
            <a:pPr marL="0" indent="0">
              <a:buNone/>
            </a:pPr>
            <a:endParaRPr lang="en-US" sz="2000" b="1" dirty="0" smtClean="0">
              <a:solidFill>
                <a:schemeClr val="bg1"/>
              </a:solidFill>
            </a:endParaRPr>
          </a:p>
          <a:p>
            <a:pPr marL="0" indent="0">
              <a:buNone/>
            </a:pPr>
            <a:r>
              <a:rPr lang="pt-BR" sz="1600" dirty="0">
                <a:solidFill>
                  <a:schemeClr val="bg1"/>
                </a:solidFill>
              </a:rPr>
              <a:t>Compile dados, tabelas e gráficos em uma única </a:t>
            </a:r>
            <a:r>
              <a:rPr lang="pt-BR" sz="1600" dirty="0" smtClean="0">
                <a:solidFill>
                  <a:schemeClr val="bg1"/>
                </a:solidFill>
              </a:rPr>
              <a:t>exibição</a:t>
            </a:r>
          </a:p>
          <a:p>
            <a:pPr marL="0" indent="0">
              <a:buNone/>
            </a:pPr>
            <a:endParaRPr lang="pt-BR" sz="1600" dirty="0">
              <a:solidFill>
                <a:schemeClr val="bg1"/>
              </a:solidFill>
            </a:endParaRPr>
          </a:p>
          <a:p>
            <a:pPr marL="0" indent="0">
              <a:buNone/>
            </a:pPr>
            <a:r>
              <a:rPr lang="pt-BR" sz="1600" dirty="0">
                <a:solidFill>
                  <a:schemeClr val="bg1"/>
                </a:solidFill>
              </a:rPr>
              <a:t>Apresentação, visualização e exploração de dados altamente </a:t>
            </a:r>
            <a:r>
              <a:rPr lang="pt-BR" sz="1600" dirty="0" smtClean="0">
                <a:solidFill>
                  <a:schemeClr val="bg1"/>
                </a:solidFill>
              </a:rPr>
              <a:t>interativos</a:t>
            </a:r>
          </a:p>
          <a:p>
            <a:pPr marL="0" indent="0">
              <a:buNone/>
            </a:pPr>
            <a:endParaRPr lang="pt-BR" sz="1600" dirty="0">
              <a:solidFill>
                <a:schemeClr val="bg1"/>
              </a:solidFill>
            </a:endParaRPr>
          </a:p>
          <a:p>
            <a:pPr marL="0" indent="0">
              <a:buNone/>
            </a:pPr>
            <a:r>
              <a:rPr lang="pt-BR" sz="1600" dirty="0">
                <a:solidFill>
                  <a:schemeClr val="bg1"/>
                </a:solidFill>
              </a:rPr>
              <a:t>Construído para todos os níveis de habilidades</a:t>
            </a:r>
            <a:endParaRPr lang="en-US" sz="1600" dirty="0">
              <a:solidFill>
                <a:schemeClr val="bg1"/>
              </a:solidFill>
            </a:endParaRPr>
          </a:p>
        </p:txBody>
      </p:sp>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472537" y="1153802"/>
            <a:ext cx="7633990" cy="5500184"/>
          </a:xfrm>
          <a:prstGeom prst="rect">
            <a:avLst/>
          </a:prstGeom>
        </p:spPr>
      </p:pic>
      <p:sp>
        <p:nvSpPr>
          <p:cNvPr id="7" name="CaixaDeTexto 6"/>
          <p:cNvSpPr txBox="1"/>
          <p:nvPr/>
        </p:nvSpPr>
        <p:spPr>
          <a:xfrm>
            <a:off x="725715" y="895909"/>
            <a:ext cx="8679542" cy="400110"/>
          </a:xfrm>
          <a:prstGeom prst="rect">
            <a:avLst/>
          </a:prstGeom>
          <a:noFill/>
        </p:spPr>
        <p:txBody>
          <a:bodyPr wrap="square" rtlCol="0">
            <a:spAutoFit/>
          </a:bodyPr>
          <a:lstStyle/>
          <a:p>
            <a:r>
              <a:rPr lang="pt-BR" sz="2000" b="1" dirty="0" smtClean="0">
                <a:solidFill>
                  <a:schemeClr val="accent6"/>
                </a:solidFill>
              </a:rPr>
              <a:t>Power Point</a:t>
            </a:r>
            <a:endParaRPr lang="en-US" sz="2000" b="1" dirty="0">
              <a:solidFill>
                <a:schemeClr val="accent6"/>
              </a:solidFill>
            </a:endParaRPr>
          </a:p>
        </p:txBody>
      </p:sp>
    </p:spTree>
    <p:extLst>
      <p:ext uri="{BB962C8B-B14F-4D97-AF65-F5344CB8AC3E}">
        <p14:creationId xmlns:p14="http://schemas.microsoft.com/office/powerpoint/2010/main" val="222166776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1"/>
            </p:custDataLst>
          </p:nvPr>
        </p:nvSpPr>
        <p:spPr bwMode="auto">
          <a:xfrm>
            <a:off x="413388"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OneDrive </a:t>
            </a:r>
          </a:p>
        </p:txBody>
      </p:sp>
      <p:sp>
        <p:nvSpPr>
          <p:cNvPr id="45" name="Rectangle 44"/>
          <p:cNvSpPr/>
          <p:nvPr/>
        </p:nvSpPr>
        <p:spPr bwMode="auto">
          <a:xfrm>
            <a:off x="2418340"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SharePoint</a:t>
            </a:r>
          </a:p>
        </p:txBody>
      </p:sp>
      <p:sp>
        <p:nvSpPr>
          <p:cNvPr id="16" name="Rectangle 15"/>
          <p:cNvSpPr/>
          <p:nvPr/>
        </p:nvSpPr>
        <p:spPr bwMode="auto">
          <a:xfrm>
            <a:off x="4423300" y="1994727"/>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Outlook</a:t>
            </a:r>
          </a:p>
        </p:txBody>
      </p:sp>
      <p:sp>
        <p:nvSpPr>
          <p:cNvPr id="19" name="Rectangle 18"/>
          <p:cNvSpPr/>
          <p:nvPr/>
        </p:nvSpPr>
        <p:spPr bwMode="auto">
          <a:xfrm>
            <a:off x="413388"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Word</a:t>
            </a:r>
          </a:p>
        </p:txBody>
      </p:sp>
      <p:sp>
        <p:nvSpPr>
          <p:cNvPr id="22" name="Rectangle 21"/>
          <p:cNvSpPr/>
          <p:nvPr/>
        </p:nvSpPr>
        <p:spPr bwMode="auto">
          <a:xfrm>
            <a:off x="2418340" y="4009960"/>
            <a:ext cx="1896963" cy="1896963"/>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a:gradFill>
                  <a:gsLst>
                    <a:gs pos="0">
                      <a:srgbClr val="FFFFFF"/>
                    </a:gs>
                    <a:gs pos="100000">
                      <a:srgbClr val="FFFFFF"/>
                    </a:gs>
                  </a:gsLst>
                  <a:lin ang="5400000" scaled="0"/>
                </a:gradFill>
                <a:ea typeface="Segoe UI" pitchFamily="34" charset="0"/>
                <a:cs typeface="Segoe UI" pitchFamily="34" charset="0"/>
              </a:rPr>
              <a:t>Power Point</a:t>
            </a:r>
          </a:p>
        </p:txBody>
      </p:sp>
      <p:sp>
        <p:nvSpPr>
          <p:cNvPr id="29" name="Rectangle 28"/>
          <p:cNvSpPr/>
          <p:nvPr/>
        </p:nvSpPr>
        <p:spPr bwMode="auto">
          <a:xfrm>
            <a:off x="4412964" y="4009960"/>
            <a:ext cx="1896963" cy="1896963"/>
          </a:xfrm>
          <a:prstGeom prst="rect">
            <a:avLst/>
          </a:prstGeom>
          <a:solidFill>
            <a:schemeClr val="accent6"/>
          </a:solidFill>
          <a:ln>
            <a:solidFill>
              <a:schemeClr val="accent6"/>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en-US" sz="2323" dirty="0" smtClean="0">
                <a:gradFill>
                  <a:gsLst>
                    <a:gs pos="0">
                      <a:srgbClr val="FFFFFF"/>
                    </a:gs>
                    <a:gs pos="100000">
                      <a:srgbClr val="FFFFFF"/>
                    </a:gs>
                  </a:gsLst>
                  <a:lin ang="5400000" scaled="0"/>
                </a:gradFill>
                <a:ea typeface="Segoe UI" pitchFamily="34" charset="0"/>
                <a:cs typeface="Segoe UI" pitchFamily="34" charset="0"/>
              </a:rPr>
              <a:t>Excel</a:t>
            </a:r>
            <a:endParaRPr lang="en-US" sz="2323" dirty="0">
              <a:gradFill>
                <a:gsLst>
                  <a:gs pos="0">
                    <a:srgbClr val="FFFFFF"/>
                  </a:gs>
                  <a:gs pos="100000">
                    <a:srgbClr val="FFFFFF"/>
                  </a:gs>
                </a:gsLst>
                <a:lin ang="5400000" scaled="0"/>
              </a:gradFill>
              <a:ea typeface="Segoe UI" pitchFamily="34" charset="0"/>
              <a:cs typeface="Segoe UI" pitchFamily="34" charset="0"/>
            </a:endParaRPr>
          </a:p>
        </p:txBody>
      </p:sp>
      <p:sp>
        <p:nvSpPr>
          <p:cNvPr id="3" name="Rectangle 2"/>
          <p:cNvSpPr/>
          <p:nvPr/>
        </p:nvSpPr>
        <p:spPr>
          <a:xfrm>
            <a:off x="558530" y="942986"/>
            <a:ext cx="8846727" cy="876816"/>
          </a:xfrm>
          <a:prstGeom prst="rect">
            <a:avLst/>
          </a:prstGeom>
        </p:spPr>
        <p:txBody>
          <a:bodyPr wrap="square" lIns="75848" tIns="37928" rIns="75848" bIns="37928">
            <a:spAutoFit/>
          </a:bodyPr>
          <a:lstStyle/>
          <a:p>
            <a:pPr defTabSz="758379"/>
            <a:r>
              <a:rPr lang="en-US" sz="2000" b="1" spc="-83" dirty="0" smtClean="0">
                <a:ln w="3175">
                  <a:noFill/>
                </a:ln>
                <a:cs typeface="Arial" charset="0"/>
              </a:rPr>
              <a:t>O que é o Office 365, OneDrive e SharePoint?</a:t>
            </a:r>
          </a:p>
          <a:p>
            <a:pPr defTabSz="758379"/>
            <a:endParaRPr lang="en-US" sz="1600" b="1" spc="-83" dirty="0" smtClean="0">
              <a:ln w="3175">
                <a:noFill/>
              </a:ln>
              <a:cs typeface="Arial" charset="0"/>
            </a:endParaRPr>
          </a:p>
          <a:p>
            <a:pPr defTabSz="758379"/>
            <a:r>
              <a:rPr lang="en-US" sz="1600" spc="-83" dirty="0" err="1" smtClean="0">
                <a:ln w="3175">
                  <a:noFill/>
                </a:ln>
                <a:cs typeface="Arial" charset="0"/>
              </a:rPr>
              <a:t>Serviços</a:t>
            </a:r>
            <a:r>
              <a:rPr lang="en-US" sz="1600" spc="-83" dirty="0" smtClean="0">
                <a:ln w="3175">
                  <a:noFill/>
                </a:ln>
                <a:cs typeface="Arial" charset="0"/>
              </a:rPr>
              <a:t> </a:t>
            </a:r>
            <a:r>
              <a:rPr lang="en-US" sz="1600" spc="-83" dirty="0">
                <a:ln w="3175">
                  <a:noFill/>
                </a:ln>
                <a:cs typeface="Arial" charset="0"/>
              </a:rPr>
              <a:t>da Microsoft para </a:t>
            </a:r>
            <a:r>
              <a:rPr lang="en-US" sz="1600" spc="-83" dirty="0" err="1">
                <a:ln w="3175">
                  <a:noFill/>
                </a:ln>
                <a:cs typeface="Arial" charset="0"/>
              </a:rPr>
              <a:t>nuvem</a:t>
            </a:r>
            <a:r>
              <a:rPr lang="en-US" sz="1600" spc="-83" dirty="0">
                <a:ln w="3175">
                  <a:noFill/>
                </a:ln>
                <a:cs typeface="Arial" charset="0"/>
              </a:rPr>
              <a:t> </a:t>
            </a:r>
            <a:r>
              <a:rPr lang="en-US" sz="1600" spc="-83" dirty="0" err="1">
                <a:ln w="3175">
                  <a:noFill/>
                </a:ln>
                <a:cs typeface="Arial" charset="0"/>
              </a:rPr>
              <a:t>pública</a:t>
            </a:r>
            <a:r>
              <a:rPr lang="en-US" sz="1600" spc="-83" dirty="0">
                <a:ln w="3175">
                  <a:noFill/>
                </a:ln>
                <a:cs typeface="Arial" charset="0"/>
              </a:rPr>
              <a:t>.</a:t>
            </a:r>
            <a:endParaRPr lang="en-US" sz="1600" dirty="0"/>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15" name="Picture 5"/>
          <p:cNvPicPr>
            <a:picLocks noChangeAspect="1"/>
          </p:cNvPicPr>
          <p:nvPr/>
        </p:nvPicPr>
        <p:blipFill>
          <a:blip r:embed="rId5"/>
          <a:stretch>
            <a:fillRect/>
          </a:stretch>
        </p:blipFill>
        <p:spPr>
          <a:xfrm>
            <a:off x="9092707" y="129598"/>
            <a:ext cx="933147" cy="334448"/>
          </a:xfrm>
          <a:prstGeom prst="rect">
            <a:avLst/>
          </a:prstGeom>
        </p:spPr>
      </p:pic>
      <p:sp>
        <p:nvSpPr>
          <p:cNvPr id="18" name="Rectangle 58"/>
          <p:cNvSpPr/>
          <p:nvPr/>
        </p:nvSpPr>
        <p:spPr bwMode="auto">
          <a:xfrm>
            <a:off x="6438600" y="5005977"/>
            <a:ext cx="3532716" cy="903465"/>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smtClean="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Excel</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p:txBody>
      </p:sp>
      <p:pic>
        <p:nvPicPr>
          <p:cNvPr id="3074" name="Picture 2" descr="https://catracalivre.com.br/wp-content/uploads/2013/08/mercado_financeiro_-_reproducao.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8601" y="2012161"/>
            <a:ext cx="3532716" cy="299009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71" descr="C:\Users\chrisw\Desktop\Cloud Services 3.png"/>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8492202" y="5100721"/>
            <a:ext cx="1156408" cy="683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74087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par>
                                <p:cTn id="15" presetID="53" presetClass="entr" presetSubtype="16" fill="hold" nodeType="withEffect">
                                  <p:stCondLst>
                                    <p:cond delay="0"/>
                                  </p:stCondLst>
                                  <p:childTnLst>
                                    <p:set>
                                      <p:cBhvr>
                                        <p:cTn id="16" dur="1" fill="hold">
                                          <p:stCondLst>
                                            <p:cond delay="0"/>
                                          </p:stCondLst>
                                        </p:cTn>
                                        <p:tgtEl>
                                          <p:spTgt spid="3074"/>
                                        </p:tgtEl>
                                        <p:attrNameLst>
                                          <p:attrName>style.visibility</p:attrName>
                                        </p:attrNameLst>
                                      </p:cBhvr>
                                      <p:to>
                                        <p:strVal val="visible"/>
                                      </p:to>
                                    </p:set>
                                    <p:anim calcmode="lin" valueType="num">
                                      <p:cBhvr>
                                        <p:cTn id="17" dur="500" fill="hold"/>
                                        <p:tgtEl>
                                          <p:spTgt spid="3074"/>
                                        </p:tgtEl>
                                        <p:attrNameLst>
                                          <p:attrName>ppt_w</p:attrName>
                                        </p:attrNameLst>
                                      </p:cBhvr>
                                      <p:tavLst>
                                        <p:tav tm="0">
                                          <p:val>
                                            <p:fltVal val="0"/>
                                          </p:val>
                                        </p:tav>
                                        <p:tav tm="100000">
                                          <p:val>
                                            <p:strVal val="#ppt_w"/>
                                          </p:val>
                                        </p:tav>
                                      </p:tavLst>
                                    </p:anim>
                                    <p:anim calcmode="lin" valueType="num">
                                      <p:cBhvr>
                                        <p:cTn id="18" dur="500" fill="hold"/>
                                        <p:tgtEl>
                                          <p:spTgt spid="3074"/>
                                        </p:tgtEl>
                                        <p:attrNameLst>
                                          <p:attrName>ppt_h</p:attrName>
                                        </p:attrNameLst>
                                      </p:cBhvr>
                                      <p:tavLst>
                                        <p:tav tm="0">
                                          <p:val>
                                            <p:fltVal val="0"/>
                                          </p:val>
                                        </p:tav>
                                        <p:tav tm="100000">
                                          <p:val>
                                            <p:strVal val="#ppt_h"/>
                                          </p:val>
                                        </p:tav>
                                      </p:tavLst>
                                    </p:anim>
                                    <p:animEffect transition="in" filter="fade">
                                      <p:cBhvr>
                                        <p:cTn id="19" dur="500"/>
                                        <p:tgtEl>
                                          <p:spTgt spid="3074"/>
                                        </p:tgtEl>
                                      </p:cBhvr>
                                    </p:animEffect>
                                  </p:childTnLst>
                                </p:cTn>
                              </p:par>
                              <p:par>
                                <p:cTn id="20" presetID="53" presetClass="entr" presetSubtype="16"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sp>
        <p:nvSpPr>
          <p:cNvPr id="5" name="Text Placeholder 1"/>
          <p:cNvSpPr>
            <a:spLocks noGrp="1"/>
          </p:cNvSpPr>
          <p:nvPr>
            <p:ph type="body" idx="4294967295"/>
          </p:nvPr>
        </p:nvSpPr>
        <p:spPr>
          <a:xfrm>
            <a:off x="136478" y="1529818"/>
            <a:ext cx="2074459" cy="4761800"/>
          </a:xfrm>
          <a:prstGeom prst="rect">
            <a:avLst/>
          </a:prstGeom>
          <a:solidFill>
            <a:schemeClr val="accent6"/>
          </a:solidFill>
          <a:ln>
            <a:solidFill>
              <a:schemeClr val="accent6"/>
            </a:solidFill>
          </a:ln>
          <a:effectLst>
            <a:outerShdw blurRad="50800" dist="38100" dir="2700000" algn="tl" rotWithShape="0">
              <a:prstClr val="black">
                <a:alpha val="40000"/>
              </a:prstClr>
            </a:outerShdw>
          </a:effectLst>
        </p:spPr>
        <p:txBody>
          <a:bodyPr>
            <a:normAutofit/>
          </a:bodyPr>
          <a:lstStyle/>
          <a:p>
            <a:pPr marL="0" indent="0">
              <a:buNone/>
            </a:pPr>
            <a:r>
              <a:rPr lang="en-US" sz="2000" b="1" dirty="0" err="1" smtClean="0">
                <a:solidFill>
                  <a:schemeClr val="bg1"/>
                </a:solidFill>
              </a:rPr>
              <a:t>Gráficos</a:t>
            </a:r>
            <a:r>
              <a:rPr lang="en-US" sz="2000" b="1" dirty="0" smtClean="0">
                <a:solidFill>
                  <a:schemeClr val="bg1"/>
                </a:solidFill>
              </a:rPr>
              <a:t> </a:t>
            </a:r>
            <a:r>
              <a:rPr lang="en-US" sz="2000" b="1" dirty="0" err="1" smtClean="0">
                <a:solidFill>
                  <a:schemeClr val="bg1"/>
                </a:solidFill>
              </a:rPr>
              <a:t>Recomendados</a:t>
            </a:r>
            <a:endParaRPr lang="en-US" sz="2000" b="1" dirty="0" smtClean="0">
              <a:solidFill>
                <a:schemeClr val="bg1"/>
              </a:solidFill>
            </a:endParaRPr>
          </a:p>
          <a:p>
            <a:pPr marL="0" indent="0">
              <a:buNone/>
            </a:pPr>
            <a:endParaRPr lang="en-US" sz="2000" b="1" dirty="0" smtClean="0">
              <a:solidFill>
                <a:schemeClr val="bg1"/>
              </a:solidFill>
            </a:endParaRPr>
          </a:p>
          <a:p>
            <a:pPr marL="0" indent="0">
              <a:buNone/>
            </a:pPr>
            <a:r>
              <a:rPr lang="pt-BR" sz="1600" dirty="0">
                <a:solidFill>
                  <a:schemeClr val="bg1"/>
                </a:solidFill>
              </a:rPr>
              <a:t>O Excel recomenda gráficos mais adequados com base em padrões em seus </a:t>
            </a:r>
            <a:r>
              <a:rPr lang="pt-BR" sz="1600" dirty="0" smtClean="0">
                <a:solidFill>
                  <a:schemeClr val="bg1"/>
                </a:solidFill>
              </a:rPr>
              <a:t>dados</a:t>
            </a:r>
          </a:p>
          <a:p>
            <a:pPr marL="0" indent="0">
              <a:buNone/>
            </a:pPr>
            <a:endParaRPr lang="pt-BR" sz="1600" dirty="0">
              <a:solidFill>
                <a:schemeClr val="bg1"/>
              </a:solidFill>
            </a:endParaRPr>
          </a:p>
          <a:p>
            <a:pPr marL="0" indent="0">
              <a:buNone/>
            </a:pPr>
            <a:r>
              <a:rPr lang="pt-BR" sz="1600" dirty="0">
                <a:solidFill>
                  <a:schemeClr val="bg1"/>
                </a:solidFill>
              </a:rPr>
              <a:t>Dê uma olhada nos diferentes gráficos recomendados e escolha aquele que funciona</a:t>
            </a:r>
          </a:p>
          <a:p>
            <a:pPr marL="0" indent="0">
              <a:buNone/>
            </a:pPr>
            <a:r>
              <a:rPr lang="en-US" sz="1600" dirty="0" err="1">
                <a:solidFill>
                  <a:schemeClr val="bg1"/>
                </a:solidFill>
              </a:rPr>
              <a:t>Verifique</a:t>
            </a:r>
            <a:r>
              <a:rPr lang="en-US" sz="1600" dirty="0">
                <a:solidFill>
                  <a:schemeClr val="bg1"/>
                </a:solidFill>
              </a:rPr>
              <a:t> </a:t>
            </a:r>
            <a:r>
              <a:rPr lang="en-US" sz="1600" dirty="0" err="1">
                <a:solidFill>
                  <a:schemeClr val="bg1"/>
                </a:solidFill>
              </a:rPr>
              <a:t>também</a:t>
            </a:r>
            <a:r>
              <a:rPr lang="en-US" sz="1600" dirty="0">
                <a:solidFill>
                  <a:schemeClr val="bg1"/>
                </a:solidFill>
              </a:rPr>
              <a:t> as </a:t>
            </a:r>
            <a:r>
              <a:rPr lang="en-US" sz="1600" dirty="0" err="1">
                <a:solidFill>
                  <a:schemeClr val="bg1"/>
                </a:solidFill>
              </a:rPr>
              <a:t>recomendações</a:t>
            </a:r>
            <a:r>
              <a:rPr lang="en-US" sz="1600" dirty="0">
                <a:solidFill>
                  <a:schemeClr val="bg1"/>
                </a:solidFill>
              </a:rPr>
              <a:t> de </a:t>
            </a:r>
            <a:r>
              <a:rPr lang="en-US" sz="1600" dirty="0" err="1">
                <a:solidFill>
                  <a:schemeClr val="bg1"/>
                </a:solidFill>
              </a:rPr>
              <a:t>tabelas</a:t>
            </a:r>
            <a:r>
              <a:rPr lang="en-US" sz="1600" dirty="0">
                <a:solidFill>
                  <a:schemeClr val="bg1"/>
                </a:solidFill>
              </a:rPr>
              <a:t> </a:t>
            </a:r>
            <a:r>
              <a:rPr lang="en-US" sz="1600" dirty="0" err="1">
                <a:solidFill>
                  <a:schemeClr val="bg1"/>
                </a:solidFill>
              </a:rPr>
              <a:t>dinâmicas</a:t>
            </a:r>
            <a:endParaRPr lang="en-US" sz="1600" dirty="0">
              <a:solidFill>
                <a:schemeClr val="bg1"/>
              </a:solidFill>
            </a:endParaRPr>
          </a:p>
        </p:txBody>
      </p:sp>
      <p:pic>
        <p:nvPicPr>
          <p:cNvPr id="6" name="Picture 4"/>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619041" y="980998"/>
            <a:ext cx="7493949" cy="5541859"/>
          </a:xfrm>
          <a:prstGeom prst="rect">
            <a:avLst/>
          </a:prstGeom>
        </p:spPr>
      </p:pic>
      <p:grpSp>
        <p:nvGrpSpPr>
          <p:cNvPr id="7" name="Group 6"/>
          <p:cNvGrpSpPr/>
          <p:nvPr/>
        </p:nvGrpSpPr>
        <p:grpSpPr>
          <a:xfrm>
            <a:off x="3211715" y="3889616"/>
            <a:ext cx="2273161" cy="1032379"/>
            <a:chOff x="8116093" y="1899197"/>
            <a:chExt cx="3240995" cy="586924"/>
          </a:xfrm>
        </p:grpSpPr>
        <p:cxnSp>
          <p:nvCxnSpPr>
            <p:cNvPr id="8" name="Straight Connector 7"/>
            <p:cNvCxnSpPr/>
            <p:nvPr/>
          </p:nvCxnSpPr>
          <p:spPr>
            <a:xfrm flipV="1">
              <a:off x="9718355" y="1899197"/>
              <a:ext cx="469" cy="44804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9" name="TextBox 4"/>
            <p:cNvSpPr txBox="1"/>
            <p:nvPr/>
          </p:nvSpPr>
          <p:spPr>
            <a:xfrm>
              <a:off x="8116093" y="2208357"/>
              <a:ext cx="3240995" cy="277764"/>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t>Gráficos</a:t>
              </a:r>
              <a:r>
                <a:rPr lang="en-US" sz="1400" dirty="0"/>
                <a:t> </a:t>
              </a:r>
              <a:r>
                <a:rPr lang="en-US" sz="1400" dirty="0" err="1"/>
                <a:t>r</a:t>
              </a:r>
              <a:r>
                <a:rPr lang="en-US" sz="1400" dirty="0" err="1" smtClean="0"/>
                <a:t>ecomendados</a:t>
              </a:r>
              <a:r>
                <a:rPr lang="en-US" sz="1400" dirty="0" smtClean="0"/>
                <a:t> </a:t>
              </a:r>
              <a:r>
                <a:rPr lang="pt-BR" sz="1400" dirty="0"/>
                <a:t>com base nos dados selecionados</a:t>
              </a:r>
            </a:p>
          </p:txBody>
        </p:sp>
      </p:grpSp>
      <p:sp>
        <p:nvSpPr>
          <p:cNvPr id="10" name="CaixaDeTexto 9"/>
          <p:cNvSpPr txBox="1"/>
          <p:nvPr/>
        </p:nvSpPr>
        <p:spPr>
          <a:xfrm>
            <a:off x="725715" y="895909"/>
            <a:ext cx="8679542" cy="400110"/>
          </a:xfrm>
          <a:prstGeom prst="rect">
            <a:avLst/>
          </a:prstGeom>
          <a:noFill/>
        </p:spPr>
        <p:txBody>
          <a:bodyPr wrap="square" rtlCol="0">
            <a:spAutoFit/>
          </a:bodyPr>
          <a:lstStyle/>
          <a:p>
            <a:r>
              <a:rPr lang="pt-BR" sz="2000" b="1" dirty="0" smtClean="0">
                <a:solidFill>
                  <a:schemeClr val="accent6"/>
                </a:solidFill>
              </a:rPr>
              <a:t>Excel</a:t>
            </a:r>
            <a:endParaRPr lang="en-US" sz="2000" b="1" dirty="0">
              <a:solidFill>
                <a:schemeClr val="accent6"/>
              </a:solidFill>
            </a:endParaRPr>
          </a:p>
        </p:txBody>
      </p:sp>
    </p:spTree>
    <p:extLst>
      <p:ext uri="{BB962C8B-B14F-4D97-AF65-F5344CB8AC3E}">
        <p14:creationId xmlns:p14="http://schemas.microsoft.com/office/powerpoint/2010/main" val="27121351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63" name="Picture 5"/>
          <p:cNvPicPr>
            <a:picLocks noChangeAspect="1"/>
          </p:cNvPicPr>
          <p:nvPr/>
        </p:nvPicPr>
        <p:blipFill>
          <a:blip r:embed="rId3"/>
          <a:stretch>
            <a:fillRect/>
          </a:stretch>
        </p:blipFill>
        <p:spPr>
          <a:xfrm>
            <a:off x="9092707" y="129598"/>
            <a:ext cx="933147" cy="334448"/>
          </a:xfrm>
          <a:prstGeom prst="rect">
            <a:avLst/>
          </a:prstGeom>
        </p:spPr>
      </p:pic>
      <p:pic>
        <p:nvPicPr>
          <p:cNvPr id="5" name="Picture 3"/>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p:blipFill>
        <p:spPr>
          <a:xfrm>
            <a:off x="2887546" y="1169017"/>
            <a:ext cx="6491763" cy="5688983"/>
          </a:xfrm>
          <a:prstGeom prst="rect">
            <a:avLst/>
          </a:prstGeom>
          <a:solidFill>
            <a:schemeClr val="accent5">
              <a:lumMod val="40000"/>
              <a:lumOff val="60000"/>
            </a:schemeClr>
          </a:solidFill>
        </p:spPr>
      </p:pic>
      <p:grpSp>
        <p:nvGrpSpPr>
          <p:cNvPr id="6" name="Group 6"/>
          <p:cNvGrpSpPr/>
          <p:nvPr/>
        </p:nvGrpSpPr>
        <p:grpSpPr>
          <a:xfrm>
            <a:off x="7452428" y="3135482"/>
            <a:ext cx="1846221" cy="704021"/>
            <a:chOff x="8450295" y="2106024"/>
            <a:chExt cx="3329733" cy="482430"/>
          </a:xfrm>
        </p:grpSpPr>
        <p:cxnSp>
          <p:nvCxnSpPr>
            <p:cNvPr id="7" name="Straight Connector 7"/>
            <p:cNvCxnSpPr/>
            <p:nvPr/>
          </p:nvCxnSpPr>
          <p:spPr>
            <a:xfrm flipH="1" flipV="1">
              <a:off x="8450295" y="2346203"/>
              <a:ext cx="1978214" cy="832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8" name="TextBox 4"/>
            <p:cNvSpPr txBox="1"/>
            <p:nvPr/>
          </p:nvSpPr>
          <p:spPr>
            <a:xfrm>
              <a:off x="8792353" y="2106024"/>
              <a:ext cx="2987675" cy="482430"/>
            </a:xfrm>
            <a:prstGeom prst="rect">
              <a:avLst/>
            </a:prstGeom>
            <a:solidFill>
              <a:schemeClr val="accent5">
                <a:lumMod val="40000"/>
                <a:lumOff val="60000"/>
              </a:schemeClr>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t>Padrão da lista reconhecido automaticamente</a:t>
              </a:r>
            </a:p>
          </p:txBody>
        </p:sp>
      </p:grpSp>
      <p:sp>
        <p:nvSpPr>
          <p:cNvPr id="9" name="Text Placeholder 1"/>
          <p:cNvSpPr>
            <a:spLocks noGrp="1"/>
          </p:cNvSpPr>
          <p:nvPr>
            <p:ph type="body" idx="4294967295"/>
          </p:nvPr>
        </p:nvSpPr>
        <p:spPr>
          <a:xfrm>
            <a:off x="136478" y="1529818"/>
            <a:ext cx="2101755" cy="4748152"/>
          </a:xfrm>
          <a:prstGeom prst="rect">
            <a:avLst/>
          </a:prstGeom>
          <a:solidFill>
            <a:schemeClr val="accent6"/>
          </a:solidFill>
          <a:ln>
            <a:solidFill>
              <a:schemeClr val="accent6"/>
            </a:solidFill>
          </a:ln>
          <a:effectLst>
            <a:outerShdw blurRad="50800" dist="38100" dir="2700000" algn="tl" rotWithShape="0">
              <a:prstClr val="black">
                <a:alpha val="40000"/>
              </a:prstClr>
            </a:outerShdw>
          </a:effectLst>
        </p:spPr>
        <p:txBody>
          <a:bodyPr/>
          <a:lstStyle/>
          <a:p>
            <a:pPr marL="0" indent="0">
              <a:buNone/>
            </a:pPr>
            <a:r>
              <a:rPr lang="en-US" sz="2000" b="1" dirty="0" smtClean="0">
                <a:solidFill>
                  <a:schemeClr val="bg1"/>
                </a:solidFill>
              </a:rPr>
              <a:t>Excel </a:t>
            </a:r>
            <a:r>
              <a:rPr lang="en-US" sz="2000" b="1" dirty="0">
                <a:solidFill>
                  <a:schemeClr val="bg1"/>
                </a:solidFill>
              </a:rPr>
              <a:t>f</a:t>
            </a:r>
            <a:r>
              <a:rPr lang="en-US" sz="2000" b="1" dirty="0" smtClean="0">
                <a:solidFill>
                  <a:schemeClr val="bg1"/>
                </a:solidFill>
              </a:rPr>
              <a:t>lash fill</a:t>
            </a:r>
          </a:p>
          <a:p>
            <a:pPr marL="0" indent="0">
              <a:buNone/>
            </a:pPr>
            <a:endParaRPr lang="en-US" sz="2000" b="1" dirty="0" smtClean="0">
              <a:solidFill>
                <a:schemeClr val="bg1"/>
              </a:solidFill>
            </a:endParaRPr>
          </a:p>
          <a:p>
            <a:pPr marL="0" indent="0">
              <a:buNone/>
            </a:pPr>
            <a:r>
              <a:rPr lang="pt-BR" sz="1600" dirty="0">
                <a:solidFill>
                  <a:schemeClr val="bg1"/>
                </a:solidFill>
              </a:rPr>
              <a:t>O Excel reconhece padrões de preenchimento </a:t>
            </a:r>
            <a:r>
              <a:rPr lang="pt-BR" sz="1600" dirty="0" smtClean="0">
                <a:solidFill>
                  <a:schemeClr val="bg1"/>
                </a:solidFill>
              </a:rPr>
              <a:t>automático</a:t>
            </a:r>
          </a:p>
          <a:p>
            <a:pPr marL="0" indent="0">
              <a:buNone/>
            </a:pPr>
            <a:endParaRPr lang="pt-BR" sz="1600" dirty="0">
              <a:solidFill>
                <a:schemeClr val="bg1"/>
              </a:solidFill>
            </a:endParaRPr>
          </a:p>
          <a:p>
            <a:pPr marL="0" indent="0">
              <a:buNone/>
            </a:pPr>
            <a:r>
              <a:rPr lang="pt-BR" sz="1600" dirty="0">
                <a:solidFill>
                  <a:schemeClr val="bg1"/>
                </a:solidFill>
              </a:rPr>
              <a:t>Não há necessidade de usar fórmulas ou </a:t>
            </a:r>
            <a:r>
              <a:rPr lang="pt-BR" sz="1600" dirty="0" smtClean="0">
                <a:solidFill>
                  <a:schemeClr val="bg1"/>
                </a:solidFill>
              </a:rPr>
              <a:t>macros</a:t>
            </a:r>
            <a:endParaRPr lang="pt-BR" sz="1600" dirty="0">
              <a:solidFill>
                <a:schemeClr val="bg1"/>
              </a:solidFill>
            </a:endParaRPr>
          </a:p>
        </p:txBody>
      </p:sp>
      <p:sp>
        <p:nvSpPr>
          <p:cNvPr id="10" name="CaixaDeTexto 9"/>
          <p:cNvSpPr txBox="1"/>
          <p:nvPr/>
        </p:nvSpPr>
        <p:spPr>
          <a:xfrm>
            <a:off x="725715" y="895909"/>
            <a:ext cx="8679542" cy="400110"/>
          </a:xfrm>
          <a:prstGeom prst="rect">
            <a:avLst/>
          </a:prstGeom>
          <a:noFill/>
        </p:spPr>
        <p:txBody>
          <a:bodyPr wrap="square" rtlCol="0">
            <a:spAutoFit/>
          </a:bodyPr>
          <a:lstStyle/>
          <a:p>
            <a:r>
              <a:rPr lang="pt-BR" sz="2000" b="1" dirty="0" smtClean="0">
                <a:solidFill>
                  <a:schemeClr val="accent6"/>
                </a:solidFill>
              </a:rPr>
              <a:t>Excel</a:t>
            </a:r>
            <a:endParaRPr lang="en-US" sz="2000" b="1" dirty="0">
              <a:solidFill>
                <a:schemeClr val="accent6"/>
              </a:solidFill>
            </a:endParaRPr>
          </a:p>
        </p:txBody>
      </p:sp>
    </p:spTree>
    <p:extLst>
      <p:ext uri="{BB962C8B-B14F-4D97-AF65-F5344CB8AC3E}">
        <p14:creationId xmlns:p14="http://schemas.microsoft.com/office/powerpoint/2010/main" val="78475835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sfp\Public\Mitchell\iStock_000008114474Medium.jpg"/>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5" y="-3"/>
            <a:ext cx="10117134" cy="685800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58530" y="942986"/>
            <a:ext cx="8846727" cy="661372"/>
          </a:xfrm>
          <a:prstGeom prst="rect">
            <a:avLst/>
          </a:prstGeom>
        </p:spPr>
        <p:txBody>
          <a:bodyPr wrap="square" lIns="75848" tIns="37928" rIns="75848" bIns="37928">
            <a:spAutoFit/>
          </a:bodyPr>
          <a:lstStyle/>
          <a:p>
            <a:pPr defTabSz="758379"/>
            <a:r>
              <a:rPr lang="en-US" sz="2800" b="1" spc="-83" dirty="0" err="1" smtClean="0">
                <a:ln w="3175">
                  <a:noFill/>
                </a:ln>
                <a:cs typeface="Arial" charset="0"/>
              </a:rPr>
              <a:t>Dúvidas</a:t>
            </a:r>
            <a:r>
              <a:rPr lang="en-US" sz="2800" b="1" spc="-83" dirty="0" smtClean="0">
                <a:ln w="3175">
                  <a:noFill/>
                </a:ln>
                <a:cs typeface="Arial" charset="0"/>
              </a:rPr>
              <a:t>? </a:t>
            </a:r>
          </a:p>
          <a:p>
            <a:pPr defTabSz="758379"/>
            <a:endParaRPr lang="en-US" sz="1000" b="1" spc="-83" dirty="0" smtClean="0">
              <a:ln w="3175">
                <a:noFill/>
              </a:ln>
              <a:cs typeface="Arial" charset="0"/>
            </a:endParaRPr>
          </a:p>
        </p:txBody>
      </p:sp>
      <p:sp>
        <p:nvSpPr>
          <p:cNvPr id="12" name="Rectangle 2"/>
          <p:cNvSpPr/>
          <p:nvPr/>
        </p:nvSpPr>
        <p:spPr>
          <a:xfrm rot="5400000">
            <a:off x="4683255" y="-4683256"/>
            <a:ext cx="750629" cy="10117136"/>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8"/>
          <p:cNvSpPr txBox="1"/>
          <p:nvPr/>
        </p:nvSpPr>
        <p:spPr>
          <a:xfrm>
            <a:off x="1" y="92680"/>
            <a:ext cx="10197362" cy="461665"/>
          </a:xfrm>
          <a:prstGeom prst="rect">
            <a:avLst/>
          </a:prstGeom>
          <a:noFill/>
        </p:spPr>
        <p:txBody>
          <a:bodyPr wrap="square" rtlCol="0">
            <a:spAutoFit/>
          </a:bodyPr>
          <a:lstStyle/>
          <a:p>
            <a:pPr algn="ctr"/>
            <a:r>
              <a:rPr lang="pt-BR" sz="2400" b="1" dirty="0">
                <a:solidFill>
                  <a:schemeClr val="bg1"/>
                </a:solidFill>
                <a:effectLst>
                  <a:outerShdw blurRad="50800" dist="38100" dir="5400000" algn="t" rotWithShape="0">
                    <a:srgbClr val="C00000"/>
                  </a:outerShdw>
                </a:effectLst>
                <a:cs typeface="Gotham Rounded Book"/>
              </a:rPr>
              <a:t>Projeto </a:t>
            </a:r>
            <a:r>
              <a:rPr lang="en-US" sz="2400" dirty="0">
                <a:solidFill>
                  <a:schemeClr val="bg1"/>
                </a:solidFill>
                <a:effectLst>
                  <a:outerShdw blurRad="38100" dist="38100" dir="2700000" algn="tl">
                    <a:srgbClr val="000000">
                      <a:alpha val="43137"/>
                    </a:srgbClr>
                  </a:outerShdw>
                </a:effectLst>
                <a:latin typeface="Gotham Rounded Book"/>
                <a:cs typeface="Gotham Rounded Book"/>
              </a:rPr>
              <a:t>de </a:t>
            </a:r>
            <a:r>
              <a:rPr lang="en-US" sz="2400" dirty="0" err="1" smtClean="0">
                <a:solidFill>
                  <a:schemeClr val="bg1"/>
                </a:solidFill>
                <a:effectLst>
                  <a:outerShdw blurRad="38100" dist="38100" dir="2700000" algn="tl">
                    <a:srgbClr val="000000">
                      <a:alpha val="43137"/>
                    </a:srgbClr>
                  </a:outerShdw>
                </a:effectLst>
                <a:latin typeface="Gotham Rounded Book"/>
                <a:cs typeface="Gotham Rounded Book"/>
              </a:rPr>
              <a:t>Implantação</a:t>
            </a:r>
            <a:r>
              <a:rPr lang="en-US" sz="2400" dirty="0" smtClean="0">
                <a:solidFill>
                  <a:schemeClr val="bg1"/>
                </a:solidFill>
                <a:effectLst>
                  <a:outerShdw blurRad="38100" dist="38100" dir="2700000" algn="tl">
                    <a:srgbClr val="000000">
                      <a:alpha val="43137"/>
                    </a:srgbClr>
                  </a:outerShdw>
                </a:effectLst>
                <a:latin typeface="Gotham Rounded Book"/>
                <a:cs typeface="Gotham Rounded Book"/>
              </a:rPr>
              <a:t> - </a:t>
            </a:r>
            <a:r>
              <a:rPr lang="en-US" sz="2400" i="1" dirty="0" smtClean="0">
                <a:solidFill>
                  <a:schemeClr val="bg1"/>
                </a:solidFill>
                <a:effectLst>
                  <a:outerShdw blurRad="38100" dist="38100" dir="2700000" algn="tl">
                    <a:srgbClr val="000000">
                      <a:alpha val="43137"/>
                    </a:srgbClr>
                  </a:outerShdw>
                </a:effectLst>
                <a:latin typeface="Gotham Rounded Book"/>
                <a:cs typeface="Gotham Rounded Book"/>
              </a:rPr>
              <a:t>Active </a:t>
            </a:r>
            <a:r>
              <a:rPr lang="en-US" sz="2400" i="1" dirty="0">
                <a:solidFill>
                  <a:schemeClr val="bg1"/>
                </a:solidFill>
                <a:effectLst>
                  <a:outerShdw blurRad="38100" dist="38100" dir="2700000" algn="tl">
                    <a:srgbClr val="000000">
                      <a:alpha val="43137"/>
                    </a:srgbClr>
                  </a:outerShdw>
                </a:effectLst>
                <a:latin typeface="Gotham Rounded Book"/>
                <a:cs typeface="Gotham Rounded Book"/>
              </a:rPr>
              <a:t>Directory e Office 365</a:t>
            </a:r>
          </a:p>
        </p:txBody>
      </p:sp>
      <p:pic>
        <p:nvPicPr>
          <p:cNvPr id="15" name="Picture 5"/>
          <p:cNvPicPr>
            <a:picLocks noChangeAspect="1"/>
          </p:cNvPicPr>
          <p:nvPr/>
        </p:nvPicPr>
        <p:blipFill>
          <a:blip r:embed="rId4"/>
          <a:stretch>
            <a:fillRect/>
          </a:stretch>
        </p:blipFill>
        <p:spPr>
          <a:xfrm>
            <a:off x="9092707" y="129598"/>
            <a:ext cx="933147" cy="334448"/>
          </a:xfrm>
          <a:prstGeom prst="rect">
            <a:avLst/>
          </a:prstGeom>
        </p:spPr>
      </p:pic>
      <p:pic>
        <p:nvPicPr>
          <p:cNvPr id="4103" name="Picture 7" descr="http://queconceito.com.br/wp-content/uploads/duvida.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0453" y="1994728"/>
            <a:ext cx="4680863" cy="301125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58"/>
          <p:cNvSpPr/>
          <p:nvPr/>
        </p:nvSpPr>
        <p:spPr bwMode="auto">
          <a:xfrm>
            <a:off x="5290453" y="5005977"/>
            <a:ext cx="4680863" cy="903465"/>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ctr" anchorCtr="0" compatLnSpc="1">
            <a:prstTxWarp prst="textNoShape">
              <a:avLst/>
            </a:prstTxWarp>
          </a:bodyPr>
          <a:lstStyle/>
          <a:p>
            <a:pPr defTabSz="914008" fontAlgn="base">
              <a:lnSpc>
                <a:spcPct val="90000"/>
              </a:lnSpc>
              <a:spcBef>
                <a:spcPct val="0"/>
              </a:spcBef>
              <a:spcAft>
                <a:spcPct val="0"/>
              </a:spcAft>
            </a:pPr>
            <a:r>
              <a:rPr lang="en-US" sz="2800" b="1" dirty="0" err="1" smtClean="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rPr>
              <a:t>Dúvidas</a:t>
            </a:r>
            <a:endParaRPr lang="en-US" sz="2800" b="1" dirty="0">
              <a:gradFill>
                <a:gsLst>
                  <a:gs pos="0">
                    <a:srgbClr val="FFFFFF"/>
                  </a:gs>
                  <a:gs pos="100000">
                    <a:srgbClr val="FFFFFF"/>
                  </a:gs>
                </a:gsLst>
                <a:lin ang="5400000" scaled="0"/>
              </a:gradFill>
              <a:effectLst>
                <a:outerShdw blurRad="38100" dist="38100" dir="2700000" algn="tl">
                  <a:srgbClr val="000000">
                    <a:alpha val="43137"/>
                  </a:srgbClr>
                </a:outerShdw>
              </a:effectLst>
              <a:latin typeface="Segoe UI Light"/>
              <a:ea typeface="Segoe UI" pitchFamily="34" charset="0"/>
              <a:cs typeface="Segoe UI" pitchFamily="34" charset="0"/>
            </a:endParaRPr>
          </a:p>
        </p:txBody>
      </p:sp>
      <p:sp>
        <p:nvSpPr>
          <p:cNvPr id="8" name="Retângulo 7">
            <a:hlinkClick r:id="rId6"/>
          </p:cNvPr>
          <p:cNvSpPr/>
          <p:nvPr/>
        </p:nvSpPr>
        <p:spPr>
          <a:xfrm>
            <a:off x="413389" y="1994729"/>
            <a:ext cx="4548310" cy="3914714"/>
          </a:xfrm>
          <a:prstGeom prst="rect">
            <a:avLst/>
          </a:prstGeom>
          <a:solidFill>
            <a:schemeClr val="bg1">
              <a:lumMod val="85000"/>
            </a:schemeClr>
          </a:solidFill>
          <a:ln>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928" tIns="37928" rIns="37928" bIns="37928" numCol="1" spcCol="0" rtlCol="0" fromWordArt="0" anchor="ctr" anchorCtr="0" forceAA="0" compatLnSpc="1">
            <a:prstTxWarp prst="textNoShape">
              <a:avLst/>
            </a:prstTxWarp>
            <a:noAutofit/>
          </a:bodyPr>
          <a:lstStyle/>
          <a:p>
            <a:pPr algn="ctr" defTabSz="758158" fontAlgn="base">
              <a:spcBef>
                <a:spcPct val="0"/>
              </a:spcBef>
              <a:spcAft>
                <a:spcPct val="0"/>
              </a:spcAft>
            </a:pPr>
            <a:r>
              <a:rPr lang="pt-BR" sz="1600" smtClean="0">
                <a:solidFill>
                  <a:schemeClr val="tx1"/>
                </a:solidFill>
                <a:ea typeface="Segoe UI" pitchFamily="34" charset="0"/>
                <a:cs typeface="Segoe UI" pitchFamily="34" charset="0"/>
              </a:rPr>
              <a:t>Entre </a:t>
            </a:r>
            <a:r>
              <a:rPr lang="pt-BR" sz="1600" dirty="0" smtClean="0">
                <a:solidFill>
                  <a:schemeClr val="tx1"/>
                </a:solidFill>
                <a:ea typeface="Segoe UI" pitchFamily="34" charset="0"/>
                <a:cs typeface="Segoe UI" pitchFamily="34" charset="0"/>
              </a:rPr>
              <a:t>em contato através do e-mail: </a:t>
            </a:r>
            <a:r>
              <a:rPr lang="pt-BR" sz="1600" dirty="0" smtClean="0">
                <a:solidFill>
                  <a:schemeClr val="tx1"/>
                </a:solidFill>
                <a:ea typeface="Segoe UI" pitchFamily="34" charset="0"/>
                <a:cs typeface="Segoe UI" pitchFamily="34" charset="0"/>
                <a:hlinkClick r:id="rId7"/>
              </a:rPr>
              <a:t>infra@smiles.com.br</a:t>
            </a:r>
            <a:endParaRPr lang="pt-BR" sz="1600" dirty="0" smtClean="0">
              <a:solidFill>
                <a:schemeClr val="tx1"/>
              </a:solidFill>
              <a:ea typeface="Segoe UI" pitchFamily="34" charset="0"/>
              <a:cs typeface="Segoe UI" pitchFamily="34" charset="0"/>
            </a:endParaRPr>
          </a:p>
          <a:p>
            <a:pPr algn="ctr" defTabSz="758158" fontAlgn="base">
              <a:spcBef>
                <a:spcPct val="0"/>
              </a:spcBef>
              <a:spcAft>
                <a:spcPct val="0"/>
              </a:spcAft>
            </a:pPr>
            <a:endParaRPr lang="pt-BR" sz="1600" dirty="0">
              <a:solidFill>
                <a:schemeClr val="tx1"/>
              </a:solidFill>
              <a:ea typeface="Segoe UI" pitchFamily="34" charset="0"/>
              <a:cs typeface="Segoe UI" pitchFamily="34" charset="0"/>
            </a:endParaRPr>
          </a:p>
          <a:p>
            <a:pPr algn="ctr" defTabSz="758158" fontAlgn="base">
              <a:spcBef>
                <a:spcPct val="0"/>
              </a:spcBef>
              <a:spcAft>
                <a:spcPct val="0"/>
              </a:spcAft>
            </a:pPr>
            <a:r>
              <a:rPr lang="pt-BR" sz="1600" dirty="0" smtClean="0">
                <a:solidFill>
                  <a:schemeClr val="tx1"/>
                </a:solidFill>
                <a:ea typeface="Segoe UI" pitchFamily="34" charset="0"/>
                <a:cs typeface="Segoe UI" pitchFamily="34" charset="0"/>
              </a:rPr>
              <a:t>ou</a:t>
            </a:r>
          </a:p>
          <a:p>
            <a:pPr algn="ctr" defTabSz="758158" fontAlgn="base">
              <a:spcBef>
                <a:spcPct val="0"/>
              </a:spcBef>
              <a:spcAft>
                <a:spcPct val="0"/>
              </a:spcAft>
            </a:pPr>
            <a:endParaRPr lang="pt-BR" sz="1600" dirty="0" smtClean="0">
              <a:solidFill>
                <a:schemeClr val="tx1"/>
              </a:solidFill>
              <a:ea typeface="Segoe UI" pitchFamily="34" charset="0"/>
              <a:cs typeface="Segoe UI" pitchFamily="34" charset="0"/>
            </a:endParaRPr>
          </a:p>
          <a:p>
            <a:pPr algn="ctr" defTabSz="758158" fontAlgn="base">
              <a:spcBef>
                <a:spcPct val="0"/>
              </a:spcBef>
              <a:spcAft>
                <a:spcPct val="0"/>
              </a:spcAft>
            </a:pPr>
            <a:r>
              <a:rPr lang="pt-BR" sz="1600" dirty="0" smtClean="0">
                <a:solidFill>
                  <a:schemeClr val="tx1"/>
                </a:solidFill>
                <a:ea typeface="Segoe UI" pitchFamily="34" charset="0"/>
                <a:cs typeface="Segoe UI" pitchFamily="34" charset="0"/>
              </a:rPr>
              <a:t>Acesse </a:t>
            </a:r>
            <a:r>
              <a:rPr lang="pt-BR" sz="1600" b="1" dirty="0">
                <a:solidFill>
                  <a:schemeClr val="tx1"/>
                </a:solidFill>
                <a:ea typeface="Segoe UI" pitchFamily="34" charset="0"/>
                <a:cs typeface="Segoe UI" pitchFamily="34" charset="0"/>
              </a:rPr>
              <a:t>http://aka.ms/office-2016-training </a:t>
            </a:r>
            <a:r>
              <a:rPr lang="pt-BR" sz="1600" dirty="0">
                <a:solidFill>
                  <a:schemeClr val="tx1"/>
                </a:solidFill>
                <a:ea typeface="Segoe UI" pitchFamily="34" charset="0"/>
                <a:cs typeface="Segoe UI" pitchFamily="34" charset="0"/>
              </a:rPr>
              <a:t>para explorar </a:t>
            </a:r>
            <a:r>
              <a:rPr lang="pt-BR" sz="1600" dirty="0" smtClean="0">
                <a:solidFill>
                  <a:schemeClr val="tx1"/>
                </a:solidFill>
                <a:ea typeface="Segoe UI" pitchFamily="34" charset="0"/>
                <a:cs typeface="Segoe UI" pitchFamily="34" charset="0"/>
              </a:rPr>
              <a:t>outras opções </a:t>
            </a:r>
            <a:r>
              <a:rPr lang="pt-BR" sz="1600" dirty="0">
                <a:solidFill>
                  <a:schemeClr val="tx1"/>
                </a:solidFill>
                <a:ea typeface="Segoe UI" pitchFamily="34" charset="0"/>
                <a:cs typeface="Segoe UI" pitchFamily="34" charset="0"/>
              </a:rPr>
              <a:t>de treinamento gratuitas.</a:t>
            </a:r>
          </a:p>
        </p:txBody>
      </p:sp>
    </p:spTree>
    <p:extLst>
      <p:ext uri="{BB962C8B-B14F-4D97-AF65-F5344CB8AC3E}">
        <p14:creationId xmlns:p14="http://schemas.microsoft.com/office/powerpoint/2010/main" val="169163032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103"/>
                                        </p:tgtEl>
                                        <p:attrNameLst>
                                          <p:attrName>style.visibility</p:attrName>
                                        </p:attrNameLst>
                                      </p:cBhvr>
                                      <p:to>
                                        <p:strVal val="visible"/>
                                      </p:to>
                                    </p:set>
                                    <p:anim calcmode="lin" valueType="num">
                                      <p:cBhvr>
                                        <p:cTn id="7" dur="500" fill="hold"/>
                                        <p:tgtEl>
                                          <p:spTgt spid="4103"/>
                                        </p:tgtEl>
                                        <p:attrNameLst>
                                          <p:attrName>ppt_w</p:attrName>
                                        </p:attrNameLst>
                                      </p:cBhvr>
                                      <p:tavLst>
                                        <p:tav tm="0">
                                          <p:val>
                                            <p:fltVal val="0"/>
                                          </p:val>
                                        </p:tav>
                                        <p:tav tm="100000">
                                          <p:val>
                                            <p:strVal val="#ppt_w"/>
                                          </p:val>
                                        </p:tav>
                                      </p:tavLst>
                                    </p:anim>
                                    <p:anim calcmode="lin" valueType="num">
                                      <p:cBhvr>
                                        <p:cTn id="8" dur="500" fill="hold"/>
                                        <p:tgtEl>
                                          <p:spTgt spid="4103"/>
                                        </p:tgtEl>
                                        <p:attrNameLst>
                                          <p:attrName>ppt_h</p:attrName>
                                        </p:attrNameLst>
                                      </p:cBhvr>
                                      <p:tavLst>
                                        <p:tav tm="0">
                                          <p:val>
                                            <p:fltVal val="0"/>
                                          </p:val>
                                        </p:tav>
                                        <p:tav tm="100000">
                                          <p:val>
                                            <p:strVal val="#ppt_h"/>
                                          </p:val>
                                        </p:tav>
                                      </p:tavLst>
                                    </p:anim>
                                    <p:animEffect transition="in" filter="fade">
                                      <p:cBhvr>
                                        <p:cTn id="9" dur="500"/>
                                        <p:tgtEl>
                                          <p:spTgt spid="410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T_TILE" val="YES"/>
</p:tagLst>
</file>

<file path=ppt/tags/tag2.xml><?xml version="1.0" encoding="utf-8"?>
<p:tagLst xmlns:a="http://schemas.openxmlformats.org/drawingml/2006/main" xmlns:r="http://schemas.openxmlformats.org/officeDocument/2006/relationships" xmlns:p="http://schemas.openxmlformats.org/presentationml/2006/main">
  <p:tag name="MT_TILE" val="YES"/>
</p:tagLst>
</file>

<file path=ppt/tags/tag3.xml><?xml version="1.0" encoding="utf-8"?>
<p:tagLst xmlns:a="http://schemas.openxmlformats.org/drawingml/2006/main" xmlns:r="http://schemas.openxmlformats.org/officeDocument/2006/relationships" xmlns:p="http://schemas.openxmlformats.org/presentationml/2006/main">
  <p:tag name="MT_TILE" val="YES"/>
</p:tagLst>
</file>

<file path=ppt/tags/tag4.xml><?xml version="1.0" encoding="utf-8"?>
<p:tagLst xmlns:a="http://schemas.openxmlformats.org/drawingml/2006/main" xmlns:r="http://schemas.openxmlformats.org/officeDocument/2006/relationships" xmlns:p="http://schemas.openxmlformats.org/presentationml/2006/main">
  <p:tag name="MT_TILE" val="YES"/>
</p:tagLst>
</file>

<file path=ppt/tags/tag5.xml><?xml version="1.0" encoding="utf-8"?>
<p:tagLst xmlns:a="http://schemas.openxmlformats.org/drawingml/2006/main" xmlns:r="http://schemas.openxmlformats.org/officeDocument/2006/relationships" xmlns:p="http://schemas.openxmlformats.org/presentationml/2006/main">
  <p:tag name="MT_TILE" val="YES"/>
</p:tagLst>
</file>

<file path=ppt/tags/tag6.xml><?xml version="1.0" encoding="utf-8"?>
<p:tagLst xmlns:a="http://schemas.openxmlformats.org/drawingml/2006/main" xmlns:r="http://schemas.openxmlformats.org/officeDocument/2006/relationships" xmlns:p="http://schemas.openxmlformats.org/presentationml/2006/main">
  <p:tag name="MT_TILE" val="YES"/>
</p:tagLst>
</file>

<file path=ppt/tags/tag7.xml><?xml version="1.0" encoding="utf-8"?>
<p:tagLst xmlns:a="http://schemas.openxmlformats.org/drawingml/2006/main" xmlns:r="http://schemas.openxmlformats.org/officeDocument/2006/relationships" xmlns:p="http://schemas.openxmlformats.org/presentationml/2006/main">
  <p:tag name="MT_TILE" val="YES"/>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TM04033917[[fn=Berlim]]</Template>
  <TotalTime>0</TotalTime>
  <Words>3651</Words>
  <Application>Microsoft Office PowerPoint</Application>
  <PresentationFormat>Personalizar</PresentationFormat>
  <Paragraphs>375</Paragraphs>
  <Slides>24</Slides>
  <Notes>22</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24</vt:i4>
      </vt:variant>
    </vt:vector>
  </HeadingPairs>
  <TitlesOfParts>
    <vt:vector size="33" baseType="lpstr">
      <vt:lpstr>Arial</vt:lpstr>
      <vt:lpstr>Calibri</vt:lpstr>
      <vt:lpstr>Gotham Rounded Book</vt:lpstr>
      <vt:lpstr>Lucida Sans Unicode</vt:lpstr>
      <vt:lpstr>Segoe UI</vt:lpstr>
      <vt:lpstr>Segoe UI Light</vt:lpstr>
      <vt:lpstr>Segoe UI Semibold</vt:lpstr>
      <vt:lpstr>Wingdings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2016-08-19T13:34:39Z</dcterms:created>
  <dcterms:modified xsi:type="dcterms:W3CDTF">2016-08-19T13:34:55Z</dcterms:modified>
</cp:coreProperties>
</file>