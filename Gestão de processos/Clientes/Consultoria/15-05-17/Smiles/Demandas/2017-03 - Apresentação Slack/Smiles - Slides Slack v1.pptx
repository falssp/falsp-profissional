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394" r:id="rId2"/>
    <p:sldId id="382" r:id="rId3"/>
  </p:sldIdLst>
  <p:sldSz cx="101171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8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EA4"/>
    <a:srgbClr val="008EC0"/>
    <a:srgbClr val="FF0000"/>
    <a:srgbClr val="664E82"/>
    <a:srgbClr val="00863D"/>
    <a:srgbClr val="8064A2"/>
    <a:srgbClr val="990000"/>
    <a:srgbClr val="D0462D"/>
    <a:srgbClr val="F68E1E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29" autoAdjust="0"/>
    <p:restoredTop sz="94660"/>
  </p:normalViewPr>
  <p:slideViewPr>
    <p:cSldViewPr snapToGrid="0" snapToObjects="1">
      <p:cViewPr>
        <p:scale>
          <a:sx n="85" d="100"/>
          <a:sy n="85" d="100"/>
        </p:scale>
        <p:origin x="384" y="96"/>
      </p:cViewPr>
      <p:guideLst>
        <p:guide orient="horz" pos="2160"/>
        <p:guide pos="318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16/03/2017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685800"/>
            <a:ext cx="50577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8786" y="2130428"/>
            <a:ext cx="8599567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7571" y="3886200"/>
            <a:ext cx="708199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3/16/2017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  <p:transition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3/16/2017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184" y="4406903"/>
            <a:ext cx="859956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9184" y="2906713"/>
            <a:ext cx="859956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3/16/2017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  <p:transition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5857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2878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3/16/2017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535113"/>
            <a:ext cx="447016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857" y="2174875"/>
            <a:ext cx="44701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39367" y="1535113"/>
            <a:ext cx="44719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39367" y="2174875"/>
            <a:ext cx="44719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3/16/2017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3/16/2017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3/16/2017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857" y="273050"/>
            <a:ext cx="332846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521" y="273053"/>
            <a:ext cx="565576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857" y="1435103"/>
            <a:ext cx="332846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3/16/2017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030" y="4800600"/>
            <a:ext cx="607028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3030" y="612775"/>
            <a:ext cx="607028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030" y="5367338"/>
            <a:ext cx="607028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3/16/2017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  <p:transition spd="slow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3/16/2017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34925" y="274641"/>
            <a:ext cx="227635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5857" y="274641"/>
            <a:ext cx="6660449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3/16/2017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5857" y="274638"/>
            <a:ext cx="91054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600203"/>
            <a:ext cx="910542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857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3/16/2017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6689" y="6356353"/>
            <a:ext cx="3203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fade/>
  </p:transition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image" Target="../media/image1.emf"/><Relationship Id="rId16" Type="http://schemas.openxmlformats.org/officeDocument/2006/relationships/image" Target="../media/image15.svg"/><Relationship Id="rId20" Type="http://schemas.openxmlformats.org/officeDocument/2006/relationships/image" Target="../media/image19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4" Type="http://schemas.openxmlformats.org/officeDocument/2006/relationships/image" Target="../media/image3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24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12" Type="http://schemas.openxmlformats.org/officeDocument/2006/relationships/image" Target="../media/image17.sv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svg"/><Relationship Id="rId11" Type="http://schemas.openxmlformats.org/officeDocument/2006/relationships/image" Target="../media/image16.png"/><Relationship Id="rId5" Type="http://schemas.openxmlformats.org/officeDocument/2006/relationships/image" Target="../media/image25.png"/><Relationship Id="rId10" Type="http://schemas.openxmlformats.org/officeDocument/2006/relationships/image" Target="../media/image7.svg"/><Relationship Id="rId4" Type="http://schemas.openxmlformats.org/officeDocument/2006/relationships/image" Target="../media/image3.svg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Slack na TI Smiles</a:t>
            </a:r>
          </a:p>
        </p:txBody>
      </p:sp>
      <p:grpSp>
        <p:nvGrpSpPr>
          <p:cNvPr id="54" name="Agrupar 53"/>
          <p:cNvGrpSpPr/>
          <p:nvPr/>
        </p:nvGrpSpPr>
        <p:grpSpPr>
          <a:xfrm>
            <a:off x="271148" y="4443413"/>
            <a:ext cx="3060000" cy="790123"/>
            <a:chOff x="271148" y="4443413"/>
            <a:chExt cx="3060000" cy="790123"/>
          </a:xfrm>
        </p:grpSpPr>
        <p:sp>
          <p:nvSpPr>
            <p:cNvPr id="11" name="CaixaDeTexto 10"/>
            <p:cNvSpPr txBox="1"/>
            <p:nvPr/>
          </p:nvSpPr>
          <p:spPr>
            <a:xfrm>
              <a:off x="271148" y="4443413"/>
              <a:ext cx="3060000" cy="790123"/>
            </a:xfrm>
            <a:prstGeom prst="roundRect">
              <a:avLst>
                <a:gd name="adj" fmla="val 6960"/>
              </a:avLst>
            </a:prstGeom>
            <a:solidFill>
              <a:schemeClr val="accent4">
                <a:lumMod val="50000"/>
                <a:alpha val="23000"/>
              </a:schemeClr>
            </a:solidFill>
          </p:spPr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900000">
                <a:defRPr sz="14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defRPr>
              </a:lvl1pPr>
            </a:lstStyle>
            <a:p>
              <a:r>
                <a:rPr lang="pt-BR" dirty="0"/>
                <a:t>Integrações com diversas ferramentas de mercado</a:t>
              </a:r>
            </a:p>
          </p:txBody>
        </p:sp>
        <p:pic>
          <p:nvPicPr>
            <p:cNvPr id="4" name="Gráfico 3" descr="Rede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98686" y="4478474"/>
              <a:ext cx="720000" cy="720000"/>
            </a:xfrm>
            <a:prstGeom prst="rect">
              <a:avLst/>
            </a:prstGeom>
          </p:spPr>
        </p:pic>
      </p:grpSp>
      <p:grpSp>
        <p:nvGrpSpPr>
          <p:cNvPr id="55" name="Agrupar 54"/>
          <p:cNvGrpSpPr/>
          <p:nvPr/>
        </p:nvGrpSpPr>
        <p:grpSpPr>
          <a:xfrm>
            <a:off x="271148" y="5514829"/>
            <a:ext cx="3060000" cy="790123"/>
            <a:chOff x="271148" y="5514829"/>
            <a:chExt cx="3060000" cy="790123"/>
          </a:xfrm>
        </p:grpSpPr>
        <p:sp>
          <p:nvSpPr>
            <p:cNvPr id="27" name="CaixaDeTexto 26"/>
            <p:cNvSpPr txBox="1"/>
            <p:nvPr/>
          </p:nvSpPr>
          <p:spPr>
            <a:xfrm>
              <a:off x="271148" y="5514829"/>
              <a:ext cx="3060000" cy="790123"/>
            </a:xfrm>
            <a:prstGeom prst="roundRect">
              <a:avLst>
                <a:gd name="adj" fmla="val 6960"/>
              </a:avLst>
            </a:prstGeom>
            <a:solidFill>
              <a:schemeClr val="accent4">
                <a:lumMod val="50000"/>
                <a:alpha val="23000"/>
              </a:schemeClr>
            </a:solidFill>
          </p:spPr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900000">
                <a:defRPr sz="14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defRPr>
              </a:lvl1pPr>
            </a:lstStyle>
            <a:p>
              <a:r>
                <a:rPr lang="pt-BR" dirty="0"/>
                <a:t>Compartilhamento de qualquer tipo de arquivo </a:t>
              </a:r>
            </a:p>
          </p:txBody>
        </p:sp>
        <p:pic>
          <p:nvPicPr>
            <p:cNvPr id="13" name="Gráfico 12" descr="Clipe de papel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34686" y="5585890"/>
              <a:ext cx="648000" cy="648000"/>
            </a:xfrm>
            <a:prstGeom prst="rect">
              <a:avLst/>
            </a:prstGeom>
          </p:spPr>
        </p:pic>
      </p:grpSp>
      <p:grpSp>
        <p:nvGrpSpPr>
          <p:cNvPr id="62" name="Agrupar 61"/>
          <p:cNvGrpSpPr/>
          <p:nvPr/>
        </p:nvGrpSpPr>
        <p:grpSpPr>
          <a:xfrm>
            <a:off x="6818897" y="4443413"/>
            <a:ext cx="3060000" cy="790123"/>
            <a:chOff x="6818897" y="4443413"/>
            <a:chExt cx="3060000" cy="790123"/>
          </a:xfrm>
        </p:grpSpPr>
        <p:sp>
          <p:nvSpPr>
            <p:cNvPr id="43" name="CaixaDeTexto 42"/>
            <p:cNvSpPr txBox="1"/>
            <p:nvPr/>
          </p:nvSpPr>
          <p:spPr>
            <a:xfrm>
              <a:off x="6818897" y="4443413"/>
              <a:ext cx="3060000" cy="790123"/>
            </a:xfrm>
            <a:prstGeom prst="roundRect">
              <a:avLst>
                <a:gd name="adj" fmla="val 6960"/>
              </a:avLst>
            </a:prstGeom>
            <a:solidFill>
              <a:schemeClr val="accent4">
                <a:lumMod val="50000"/>
                <a:alpha val="23000"/>
              </a:schemeClr>
            </a:solidFill>
          </p:spPr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900000">
                <a:defRPr sz="14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defRPr>
              </a:lvl1pPr>
            </a:lstStyle>
            <a:p>
              <a:r>
                <a:rPr lang="pt-BR" i="1" dirty="0" err="1"/>
                <a:t>Channels</a:t>
              </a:r>
              <a:r>
                <a:rPr lang="pt-BR" dirty="0"/>
                <a:t> ou grupos de trabalho internos e/ou externos (fornecedores)</a:t>
              </a:r>
            </a:p>
          </p:txBody>
        </p:sp>
        <p:pic>
          <p:nvPicPr>
            <p:cNvPr id="15" name="Gráfico 14" descr="Reunião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990823" y="4478474"/>
              <a:ext cx="720000" cy="720000"/>
            </a:xfrm>
            <a:prstGeom prst="rect">
              <a:avLst/>
            </a:prstGeom>
          </p:spPr>
        </p:pic>
      </p:grpSp>
      <p:grpSp>
        <p:nvGrpSpPr>
          <p:cNvPr id="61" name="Agrupar 60"/>
          <p:cNvGrpSpPr/>
          <p:nvPr/>
        </p:nvGrpSpPr>
        <p:grpSpPr>
          <a:xfrm>
            <a:off x="6818897" y="3371998"/>
            <a:ext cx="3060000" cy="790123"/>
            <a:chOff x="6818897" y="3371998"/>
            <a:chExt cx="3060000" cy="790123"/>
          </a:xfrm>
        </p:grpSpPr>
        <p:sp>
          <p:nvSpPr>
            <p:cNvPr id="42" name="CaixaDeTexto 41"/>
            <p:cNvSpPr txBox="1"/>
            <p:nvPr/>
          </p:nvSpPr>
          <p:spPr>
            <a:xfrm>
              <a:off x="6818897" y="3371998"/>
              <a:ext cx="3060000" cy="790123"/>
            </a:xfrm>
            <a:prstGeom prst="roundRect">
              <a:avLst>
                <a:gd name="adj" fmla="val 6960"/>
              </a:avLst>
            </a:prstGeom>
            <a:solidFill>
              <a:schemeClr val="accent4">
                <a:lumMod val="50000"/>
                <a:alpha val="23000"/>
              </a:schemeClr>
            </a:solidFill>
          </p:spPr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900000">
                <a:defRPr sz="14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defRPr>
              </a:lvl1pPr>
            </a:lstStyle>
            <a:p>
              <a:r>
                <a:rPr lang="pt-BR" dirty="0"/>
                <a:t>Adeus </a:t>
              </a:r>
              <a:r>
                <a:rPr lang="pt-BR" dirty="0" err="1"/>
                <a:t>Jabber</a:t>
              </a:r>
              <a:r>
                <a:rPr lang="pt-BR" dirty="0"/>
                <a:t>, Skype e WhatsApp em TI</a:t>
              </a:r>
            </a:p>
          </p:txBody>
        </p:sp>
        <p:pic>
          <p:nvPicPr>
            <p:cNvPr id="19" name="Gráfico 18" descr="Nenhum sinal"/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990825" y="3401209"/>
              <a:ext cx="720000" cy="720000"/>
            </a:xfrm>
            <a:prstGeom prst="rect">
              <a:avLst/>
            </a:prstGeom>
          </p:spPr>
        </p:pic>
      </p:grpSp>
      <p:grpSp>
        <p:nvGrpSpPr>
          <p:cNvPr id="53" name="Agrupar 52"/>
          <p:cNvGrpSpPr/>
          <p:nvPr/>
        </p:nvGrpSpPr>
        <p:grpSpPr>
          <a:xfrm>
            <a:off x="271148" y="3371998"/>
            <a:ext cx="3060000" cy="790123"/>
            <a:chOff x="271148" y="3371998"/>
            <a:chExt cx="3060000" cy="790123"/>
          </a:xfrm>
        </p:grpSpPr>
        <p:sp>
          <p:nvSpPr>
            <p:cNvPr id="26" name="CaixaDeTexto 25"/>
            <p:cNvSpPr txBox="1"/>
            <p:nvPr/>
          </p:nvSpPr>
          <p:spPr>
            <a:xfrm>
              <a:off x="271148" y="3371998"/>
              <a:ext cx="3060000" cy="790123"/>
            </a:xfrm>
            <a:prstGeom prst="roundRect">
              <a:avLst>
                <a:gd name="adj" fmla="val 6960"/>
              </a:avLst>
            </a:prstGeom>
            <a:solidFill>
              <a:schemeClr val="accent4">
                <a:lumMod val="50000"/>
                <a:alpha val="23000"/>
              </a:schemeClr>
            </a:solidFill>
          </p:spPr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900000">
                <a:defRPr sz="1400" b="1">
                  <a:solidFill>
                    <a:schemeClr val="accent4">
                      <a:lumMod val="75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defRPr>
              </a:lvl1pPr>
            </a:lstStyle>
            <a:p>
              <a:r>
                <a:rPr lang="pt-BR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Comunicação rápida e direta entre equipes</a:t>
              </a:r>
            </a:p>
          </p:txBody>
        </p:sp>
        <p:pic>
          <p:nvPicPr>
            <p:cNvPr id="10" name="Gráfico 9" descr="Chat"/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398686" y="3407059"/>
              <a:ext cx="720000" cy="720000"/>
            </a:xfrm>
            <a:prstGeom prst="rect">
              <a:avLst/>
            </a:prstGeom>
          </p:spPr>
        </p:pic>
      </p:grpSp>
      <p:grpSp>
        <p:nvGrpSpPr>
          <p:cNvPr id="63" name="Agrupar 62"/>
          <p:cNvGrpSpPr/>
          <p:nvPr/>
        </p:nvGrpSpPr>
        <p:grpSpPr>
          <a:xfrm>
            <a:off x="6818897" y="5514829"/>
            <a:ext cx="3060000" cy="790123"/>
            <a:chOff x="6818897" y="5514829"/>
            <a:chExt cx="3060000" cy="790123"/>
          </a:xfrm>
        </p:grpSpPr>
        <p:sp>
          <p:nvSpPr>
            <p:cNvPr id="44" name="CaixaDeTexto 43"/>
            <p:cNvSpPr txBox="1"/>
            <p:nvPr/>
          </p:nvSpPr>
          <p:spPr>
            <a:xfrm>
              <a:off x="6818897" y="5514829"/>
              <a:ext cx="3060000" cy="790123"/>
            </a:xfrm>
            <a:prstGeom prst="roundRect">
              <a:avLst>
                <a:gd name="adj" fmla="val 6960"/>
              </a:avLst>
            </a:prstGeom>
            <a:solidFill>
              <a:schemeClr val="accent4">
                <a:lumMod val="50000"/>
                <a:alpha val="23000"/>
              </a:schemeClr>
            </a:solidFill>
          </p:spPr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900000">
                <a:defRPr sz="14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defRPr>
              </a:lvl1pPr>
            </a:lstStyle>
            <a:p>
              <a:r>
                <a:rPr lang="pt-BR" dirty="0"/>
                <a:t>Aplicativos nativos rápidos e funcionais</a:t>
              </a:r>
            </a:p>
          </p:txBody>
        </p:sp>
        <p:pic>
          <p:nvPicPr>
            <p:cNvPr id="21" name="Gráfico 20" descr="Smartphone"/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6990825" y="5572822"/>
              <a:ext cx="720000" cy="674135"/>
            </a:xfrm>
            <a:prstGeom prst="rect">
              <a:avLst/>
            </a:prstGeom>
          </p:spPr>
        </p:pic>
      </p:grpSp>
      <p:grpSp>
        <p:nvGrpSpPr>
          <p:cNvPr id="56" name="Agrupar 55"/>
          <p:cNvGrpSpPr/>
          <p:nvPr/>
        </p:nvGrpSpPr>
        <p:grpSpPr>
          <a:xfrm>
            <a:off x="3545022" y="5514829"/>
            <a:ext cx="3060000" cy="790123"/>
            <a:chOff x="3545022" y="5514829"/>
            <a:chExt cx="3060000" cy="790123"/>
          </a:xfrm>
        </p:grpSpPr>
        <p:sp>
          <p:nvSpPr>
            <p:cNvPr id="31" name="CaixaDeTexto 30"/>
            <p:cNvSpPr txBox="1"/>
            <p:nvPr/>
          </p:nvSpPr>
          <p:spPr>
            <a:xfrm>
              <a:off x="3545022" y="5514829"/>
              <a:ext cx="3060000" cy="790123"/>
            </a:xfrm>
            <a:prstGeom prst="roundRect">
              <a:avLst>
                <a:gd name="adj" fmla="val 6960"/>
              </a:avLst>
            </a:prstGeom>
            <a:solidFill>
              <a:schemeClr val="accent4">
                <a:lumMod val="50000"/>
                <a:alpha val="23000"/>
              </a:schemeClr>
            </a:solidFill>
          </p:spPr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900000">
                <a:defRPr sz="14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defRPr>
              </a:lvl1pPr>
            </a:lstStyle>
            <a:p>
              <a:r>
                <a:rPr lang="pt-BR" dirty="0"/>
                <a:t>Motor de busca extremamente poderoso</a:t>
              </a:r>
            </a:p>
          </p:txBody>
        </p:sp>
        <p:pic>
          <p:nvPicPr>
            <p:cNvPr id="30" name="Gráfico 29" descr="Lupa"/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3673419" y="5549890"/>
              <a:ext cx="720000" cy="720000"/>
            </a:xfrm>
            <a:prstGeom prst="rect">
              <a:avLst/>
            </a:prstGeom>
          </p:spPr>
        </p:pic>
      </p:grpSp>
      <p:grpSp>
        <p:nvGrpSpPr>
          <p:cNvPr id="57" name="Agrupar 56"/>
          <p:cNvGrpSpPr/>
          <p:nvPr/>
        </p:nvGrpSpPr>
        <p:grpSpPr>
          <a:xfrm>
            <a:off x="3545022" y="4443413"/>
            <a:ext cx="3060000" cy="790123"/>
            <a:chOff x="3545022" y="4443413"/>
            <a:chExt cx="3060000" cy="790123"/>
          </a:xfrm>
        </p:grpSpPr>
        <p:sp>
          <p:nvSpPr>
            <p:cNvPr id="34" name="CaixaDeTexto 33"/>
            <p:cNvSpPr txBox="1"/>
            <p:nvPr/>
          </p:nvSpPr>
          <p:spPr>
            <a:xfrm>
              <a:off x="3545022" y="4443413"/>
              <a:ext cx="3060000" cy="790123"/>
            </a:xfrm>
            <a:prstGeom prst="roundRect">
              <a:avLst>
                <a:gd name="adj" fmla="val 6960"/>
              </a:avLst>
            </a:prstGeom>
            <a:solidFill>
              <a:schemeClr val="accent4">
                <a:lumMod val="50000"/>
                <a:alpha val="23000"/>
              </a:schemeClr>
            </a:solidFill>
          </p:spPr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900000">
                <a:defRPr sz="14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defRPr>
              </a:lvl1pPr>
            </a:lstStyle>
            <a:p>
              <a:r>
                <a:rPr lang="pt-BR" dirty="0"/>
                <a:t>BOT </a:t>
              </a:r>
              <a:r>
                <a:rPr lang="pt-BR" dirty="0" err="1"/>
                <a:t>Users</a:t>
              </a:r>
              <a:r>
                <a:rPr lang="pt-BR" dirty="0"/>
                <a:t> para interação com os colaboradores</a:t>
              </a:r>
            </a:p>
          </p:txBody>
        </p:sp>
        <p:pic>
          <p:nvPicPr>
            <p:cNvPr id="33" name="Gráfico 32" descr="Cabeça com Engrenagens"/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3673419" y="4500065"/>
              <a:ext cx="720000" cy="720000"/>
            </a:xfrm>
            <a:prstGeom prst="rect">
              <a:avLst/>
            </a:prstGeom>
          </p:spPr>
        </p:pic>
      </p:grpSp>
      <p:grpSp>
        <p:nvGrpSpPr>
          <p:cNvPr id="58" name="Agrupar 57"/>
          <p:cNvGrpSpPr/>
          <p:nvPr/>
        </p:nvGrpSpPr>
        <p:grpSpPr>
          <a:xfrm>
            <a:off x="3545023" y="3371998"/>
            <a:ext cx="3060000" cy="790123"/>
            <a:chOff x="3545023" y="3371998"/>
            <a:chExt cx="3060000" cy="790123"/>
          </a:xfrm>
        </p:grpSpPr>
        <p:sp>
          <p:nvSpPr>
            <p:cNvPr id="28" name="CaixaDeTexto 27"/>
            <p:cNvSpPr txBox="1"/>
            <p:nvPr/>
          </p:nvSpPr>
          <p:spPr>
            <a:xfrm>
              <a:off x="3545023" y="3371998"/>
              <a:ext cx="3060000" cy="790123"/>
            </a:xfrm>
            <a:prstGeom prst="roundRect">
              <a:avLst>
                <a:gd name="adj" fmla="val 6960"/>
              </a:avLst>
            </a:prstGeom>
            <a:solidFill>
              <a:schemeClr val="accent4">
                <a:lumMod val="50000"/>
                <a:alpha val="23000"/>
              </a:schemeClr>
            </a:solidFill>
          </p:spPr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900000">
                <a:defRPr sz="14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defRPr>
              </a:lvl1pPr>
            </a:lstStyle>
            <a:p>
              <a:r>
                <a:rPr lang="pt-BR" dirty="0"/>
                <a:t>Utilização multiplataforma desktop ou mobile</a:t>
              </a:r>
            </a:p>
          </p:txBody>
        </p:sp>
        <p:pic>
          <p:nvPicPr>
            <p:cNvPr id="46" name="Gráfico 45" descr="Laptop"/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3673419" y="3407059"/>
              <a:ext cx="720000" cy="720000"/>
            </a:xfrm>
            <a:prstGeom prst="rect">
              <a:avLst/>
            </a:prstGeom>
          </p:spPr>
        </p:pic>
      </p:grpSp>
      <p:grpSp>
        <p:nvGrpSpPr>
          <p:cNvPr id="60" name="Agrupar 59"/>
          <p:cNvGrpSpPr/>
          <p:nvPr/>
        </p:nvGrpSpPr>
        <p:grpSpPr>
          <a:xfrm>
            <a:off x="6818897" y="2300582"/>
            <a:ext cx="3060000" cy="790123"/>
            <a:chOff x="6818897" y="2300582"/>
            <a:chExt cx="3060000" cy="790123"/>
          </a:xfrm>
        </p:grpSpPr>
        <p:sp>
          <p:nvSpPr>
            <p:cNvPr id="49" name="CaixaDeTexto 48"/>
            <p:cNvSpPr txBox="1"/>
            <p:nvPr/>
          </p:nvSpPr>
          <p:spPr>
            <a:xfrm>
              <a:off x="6818897" y="2300582"/>
              <a:ext cx="3060000" cy="790123"/>
            </a:xfrm>
            <a:prstGeom prst="roundRect">
              <a:avLst>
                <a:gd name="adj" fmla="val 6960"/>
              </a:avLst>
            </a:prstGeom>
            <a:solidFill>
              <a:schemeClr val="accent4">
                <a:lumMod val="50000"/>
                <a:alpha val="23000"/>
              </a:schemeClr>
            </a:solidFill>
          </p:spPr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900000">
                <a:defRPr sz="14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defRPr>
              </a:lvl1pPr>
            </a:lstStyle>
            <a:p>
              <a:r>
                <a:rPr lang="pt-BR" dirty="0"/>
                <a:t>Histórico de mensagens ilimitado</a:t>
              </a:r>
            </a:p>
          </p:txBody>
        </p:sp>
        <p:pic>
          <p:nvPicPr>
            <p:cNvPr id="48" name="Gráfico 47" descr="Calendário mensal"/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6946435" y="2335643"/>
              <a:ext cx="720000" cy="720000"/>
            </a:xfrm>
            <a:prstGeom prst="rect">
              <a:avLst/>
            </a:prstGeom>
          </p:spPr>
        </p:pic>
      </p:grpSp>
      <p:grpSp>
        <p:nvGrpSpPr>
          <p:cNvPr id="59" name="Agrupar 58"/>
          <p:cNvGrpSpPr/>
          <p:nvPr/>
        </p:nvGrpSpPr>
        <p:grpSpPr>
          <a:xfrm>
            <a:off x="6818897" y="1223878"/>
            <a:ext cx="3060000" cy="790123"/>
            <a:chOff x="6818897" y="1223878"/>
            <a:chExt cx="3060000" cy="790123"/>
          </a:xfrm>
        </p:grpSpPr>
        <p:sp>
          <p:nvSpPr>
            <p:cNvPr id="50" name="CaixaDeTexto 49"/>
            <p:cNvSpPr txBox="1"/>
            <p:nvPr/>
          </p:nvSpPr>
          <p:spPr>
            <a:xfrm>
              <a:off x="6818897" y="1223878"/>
              <a:ext cx="3060000" cy="790123"/>
            </a:xfrm>
            <a:prstGeom prst="roundRect">
              <a:avLst>
                <a:gd name="adj" fmla="val 6960"/>
              </a:avLst>
            </a:prstGeom>
            <a:solidFill>
              <a:schemeClr val="accent4">
                <a:lumMod val="50000"/>
                <a:alpha val="23000"/>
              </a:schemeClr>
            </a:solidFill>
          </p:spPr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900000">
                <a:defRPr sz="14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defRPr>
              </a:lvl1pPr>
            </a:lstStyle>
            <a:p>
              <a:pPr marL="864000"/>
              <a:r>
                <a:rPr lang="pt-BR" dirty="0"/>
                <a:t>Nasceu para comunicação de equipes de trabalho</a:t>
              </a:r>
            </a:p>
          </p:txBody>
        </p:sp>
        <p:pic>
          <p:nvPicPr>
            <p:cNvPr id="52" name="Gráfico 51" descr="Espiral"/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6946435" y="1258939"/>
              <a:ext cx="720000" cy="720000"/>
            </a:xfrm>
            <a:prstGeom prst="rect">
              <a:avLst/>
            </a:prstGeom>
          </p:spPr>
        </p:pic>
      </p:grpSp>
      <p:pic>
        <p:nvPicPr>
          <p:cNvPr id="1026" name="Picture 2" descr="http://flippedlearning.org/wp-content/uploads/2016/10/slack-logo.png"/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888" y="943223"/>
            <a:ext cx="5804395" cy="2428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8515105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Funções e Usos mais relevantes</a:t>
            </a:r>
          </a:p>
        </p:txBody>
      </p:sp>
      <p:sp>
        <p:nvSpPr>
          <p:cNvPr id="11" name="CaixaDeTexto 10"/>
          <p:cNvSpPr txBox="1"/>
          <p:nvPr/>
        </p:nvSpPr>
        <p:spPr>
          <a:xfrm>
            <a:off x="341402" y="2519083"/>
            <a:ext cx="1874260" cy="3191435"/>
          </a:xfrm>
          <a:prstGeom prst="roundRect">
            <a:avLst>
              <a:gd name="adj" fmla="val 2278"/>
            </a:avLst>
          </a:prstGeom>
          <a:solidFill>
            <a:schemeClr val="bg1">
              <a:lumMod val="75000"/>
              <a:alpha val="88000"/>
            </a:schemeClr>
          </a:solidFill>
        </p:spPr>
        <p:txBody>
          <a:bodyPr wrap="square" rtlCol="0" anchor="t">
            <a:noAutofit/>
          </a:bodyPr>
          <a:lstStyle/>
          <a:p>
            <a:pPr marL="36000"/>
            <a:r>
              <a:rPr lang="pt-BR" sz="1100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Integrações</a:t>
            </a:r>
            <a:r>
              <a:rPr lang="pt-BR" sz="1100" dirty="0">
                <a:latin typeface="Segoe UI Light" panose="020B0502040204020203" pitchFamily="34" charset="0"/>
                <a:cs typeface="Segoe UI Light" panose="020B0502040204020203" pitchFamily="34" charset="0"/>
              </a:rPr>
              <a:t>: essa é uma das MAIS IMPORTANTES funcionalidades e vantagens do Slack. É possível integrá-lo com diversas ferramentas e centralizar todas as comunicações e interações com elas. Essas integrações facilitam a organização e a dinâmica de trabalho entre as equipes. Exemplos: integração com </a:t>
            </a:r>
            <a:r>
              <a:rPr lang="pt-BR" sz="11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Dynatrace</a:t>
            </a:r>
            <a:r>
              <a:rPr lang="pt-BR" sz="1100" dirty="0">
                <a:latin typeface="Segoe UI Light" panose="020B0502040204020203" pitchFamily="34" charset="0"/>
                <a:cs typeface="Segoe UI Light" panose="020B0502040204020203" pitchFamily="34" charset="0"/>
              </a:rPr>
              <a:t> para receber informações da monitoração; integração com Jenkins para receber resultados da criação das Builds.</a:t>
            </a:r>
          </a:p>
          <a:p>
            <a:pPr marL="36000"/>
            <a:endParaRPr lang="pt-BR" sz="11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2" name="CaixaDeTexto 11"/>
          <p:cNvSpPr txBox="1"/>
          <p:nvPr/>
        </p:nvSpPr>
        <p:spPr>
          <a:xfrm>
            <a:off x="2260332" y="3899648"/>
            <a:ext cx="1874260" cy="1810870"/>
          </a:xfrm>
          <a:prstGeom prst="roundRect">
            <a:avLst>
              <a:gd name="adj" fmla="val 2278"/>
            </a:avLst>
          </a:prstGeom>
          <a:solidFill>
            <a:schemeClr val="bg1">
              <a:lumMod val="75000"/>
              <a:alpha val="88000"/>
            </a:schemeClr>
          </a:solidFill>
        </p:spPr>
        <p:txBody>
          <a:bodyPr wrap="square" rtlCol="0" anchor="t">
            <a:noAutofit/>
          </a:bodyPr>
          <a:lstStyle/>
          <a:p>
            <a:pPr marL="36000"/>
            <a:r>
              <a:rPr lang="pt-BR" sz="1100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Compartilhamento de Arquivos</a:t>
            </a:r>
            <a:r>
              <a:rPr lang="pt-BR" sz="1100" dirty="0">
                <a:latin typeface="Segoe UI Light" panose="020B0502040204020203" pitchFamily="34" charset="0"/>
                <a:cs typeface="Segoe UI Light" panose="020B0502040204020203" pitchFamily="34" charset="0"/>
              </a:rPr>
              <a:t>: é possível compartilhar arquivos com um determinado "</a:t>
            </a:r>
            <a:r>
              <a:rPr lang="pt-BR" sz="11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channel</a:t>
            </a:r>
            <a:r>
              <a:rPr lang="pt-BR" sz="1100" dirty="0">
                <a:latin typeface="Segoe UI Light" panose="020B0502040204020203" pitchFamily="34" charset="0"/>
                <a:cs typeface="Segoe UI Light" panose="020B0502040204020203" pitchFamily="34" charset="0"/>
              </a:rPr>
              <a:t>" (grupo) ou pessoa. O compartilhamento pode ser feito de arquivos de TODOS os tipos (imagens, </a:t>
            </a:r>
            <a:r>
              <a:rPr lang="pt-BR" sz="11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PDFs</a:t>
            </a:r>
            <a:r>
              <a:rPr lang="pt-BR" sz="1100" dirty="0">
                <a:latin typeface="Segoe UI Light" panose="020B0502040204020203" pitchFamily="34" charset="0"/>
                <a:cs typeface="Segoe UI Light" panose="020B0502040204020203" pitchFamily="34" charset="0"/>
              </a:rPr>
              <a:t>, arquivos ZIP, vídeos, etc.).</a:t>
            </a:r>
            <a:endParaRPr lang="pt-BR" sz="11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4" name="CaixaDeTexto 13"/>
          <p:cNvSpPr txBox="1"/>
          <p:nvPr/>
        </p:nvSpPr>
        <p:spPr>
          <a:xfrm>
            <a:off x="4179262" y="3325907"/>
            <a:ext cx="1874260" cy="2384611"/>
          </a:xfrm>
          <a:prstGeom prst="roundRect">
            <a:avLst>
              <a:gd name="adj" fmla="val 2278"/>
            </a:avLst>
          </a:prstGeom>
          <a:solidFill>
            <a:schemeClr val="bg1">
              <a:lumMod val="75000"/>
              <a:alpha val="88000"/>
            </a:schemeClr>
          </a:solidFill>
        </p:spPr>
        <p:txBody>
          <a:bodyPr wrap="square" rtlCol="0" anchor="t">
            <a:noAutofit/>
          </a:bodyPr>
          <a:lstStyle/>
          <a:p>
            <a:pPr marL="36000"/>
            <a:r>
              <a:rPr lang="pt-BR" sz="1100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Busca extremamente poderosa</a:t>
            </a:r>
            <a:r>
              <a:rPr lang="pt-BR" sz="1100" dirty="0">
                <a:latin typeface="Segoe UI Light" panose="020B0502040204020203" pitchFamily="34" charset="0"/>
                <a:cs typeface="Segoe UI Light" panose="020B0502040204020203" pitchFamily="34" charset="0"/>
              </a:rPr>
              <a:t>: uma vez que TODO conteúdo é indexado e armazenado, desde mensagens até arquivos compartilhados, é possível realizar buscas de forma muito simples e fácil. Uma série de filtros/opções pode ser usada na busca, permitindo encontrar rapidamente o que se deseja.</a:t>
            </a:r>
            <a:endParaRPr lang="pt-BR" sz="11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5" name="CaixaDeTexto 14"/>
          <p:cNvSpPr txBox="1"/>
          <p:nvPr/>
        </p:nvSpPr>
        <p:spPr>
          <a:xfrm>
            <a:off x="6098192" y="2994212"/>
            <a:ext cx="1874260" cy="2716306"/>
          </a:xfrm>
          <a:prstGeom prst="roundRect">
            <a:avLst>
              <a:gd name="adj" fmla="val 2278"/>
            </a:avLst>
          </a:prstGeom>
          <a:solidFill>
            <a:schemeClr val="bg1">
              <a:lumMod val="75000"/>
              <a:alpha val="88000"/>
            </a:schemeClr>
          </a:solidFill>
        </p:spPr>
        <p:txBody>
          <a:bodyPr wrap="square" rtlCol="0" anchor="t">
            <a:noAutofit/>
          </a:bodyPr>
          <a:lstStyle/>
          <a:p>
            <a:pPr marL="36000"/>
            <a:r>
              <a:rPr lang="pt-BR" sz="1100" b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Channel</a:t>
            </a:r>
            <a:r>
              <a:rPr lang="pt-BR" sz="1100" dirty="0">
                <a:latin typeface="Segoe UI Light" panose="020B0502040204020203" pitchFamily="34" charset="0"/>
                <a:cs typeface="Segoe UI Light" panose="020B0502040204020203" pitchFamily="34" charset="0"/>
              </a:rPr>
              <a:t>: um "</a:t>
            </a:r>
            <a:r>
              <a:rPr lang="pt-BR" sz="11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channel</a:t>
            </a:r>
            <a:r>
              <a:rPr lang="pt-BR" sz="1100" dirty="0">
                <a:latin typeface="Segoe UI Light" panose="020B0502040204020203" pitchFamily="34" charset="0"/>
                <a:cs typeface="Segoe UI Light" panose="020B0502040204020203" pitchFamily="34" charset="0"/>
              </a:rPr>
              <a:t>" ou canal, funciona como um grupo que pode ser contextualizado como grupo da área, grupo de um projeto específico, grupo de notificação de uma determinada ferramenta integrada ao Slack (ex.: grupo para receber as notificações da monitoração do </a:t>
            </a:r>
            <a:r>
              <a:rPr lang="pt-BR" sz="11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Dynatrace</a:t>
            </a:r>
            <a:r>
              <a:rPr lang="pt-BR" sz="1100" dirty="0">
                <a:latin typeface="Segoe UI Light" panose="020B0502040204020203" pitchFamily="34" charset="0"/>
                <a:cs typeface="Segoe UI Light" panose="020B0502040204020203" pitchFamily="34" charset="0"/>
              </a:rPr>
              <a:t>, grupo para receber as notificações de resultado das Builds no Jenkins). </a:t>
            </a:r>
            <a:endParaRPr lang="pt-BR" sz="11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6" name="CaixaDeTexto 15"/>
          <p:cNvSpPr txBox="1"/>
          <p:nvPr/>
        </p:nvSpPr>
        <p:spPr>
          <a:xfrm>
            <a:off x="8017124" y="1532965"/>
            <a:ext cx="1874260" cy="4177553"/>
          </a:xfrm>
          <a:prstGeom prst="roundRect">
            <a:avLst>
              <a:gd name="adj" fmla="val 2278"/>
            </a:avLst>
          </a:prstGeom>
          <a:solidFill>
            <a:schemeClr val="bg1">
              <a:lumMod val="75000"/>
              <a:alpha val="88000"/>
            </a:schemeClr>
          </a:solidFill>
        </p:spPr>
        <p:txBody>
          <a:bodyPr wrap="square" rtlCol="0" anchor="t">
            <a:noAutofit/>
          </a:bodyPr>
          <a:lstStyle/>
          <a:p>
            <a:pPr marL="36000"/>
            <a:r>
              <a:rPr lang="pt-BR" sz="1100" b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BOTs</a:t>
            </a:r>
            <a:r>
              <a:rPr lang="pt-BR" sz="1100" dirty="0">
                <a:latin typeface="Segoe UI Light" panose="020B0502040204020203" pitchFamily="34" charset="0"/>
                <a:cs typeface="Segoe UI Light" panose="020B0502040204020203" pitchFamily="34" charset="0"/>
              </a:rPr>
              <a:t>: mais uma das MAIS IMPORTANTES funcionalidades e vantagens do Slack. Os BOT </a:t>
            </a:r>
            <a:r>
              <a:rPr lang="pt-BR" sz="11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Users</a:t>
            </a:r>
            <a:r>
              <a:rPr lang="pt-BR" sz="1100" dirty="0">
                <a:latin typeface="Segoe UI Light" panose="020B0502040204020203" pitchFamily="34" charset="0"/>
                <a:cs typeface="Segoe UI Light" panose="020B0502040204020203" pitchFamily="34" charset="0"/>
              </a:rPr>
              <a:t> são "robôs" desenvolvidos que permitem aos usuários interagirem em modo de conversação com serviços externos (integrações) e até designar comandos para execução direta de alguma tarefa sem precisar sair do Slack. Exemplos: para questionar ao "</a:t>
            </a:r>
            <a:r>
              <a:rPr lang="pt-BR" sz="11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Dynatrace</a:t>
            </a:r>
            <a:r>
              <a:rPr lang="pt-BR" sz="1100" dirty="0">
                <a:latin typeface="Segoe UI Light" panose="020B0502040204020203" pitchFamily="34" charset="0"/>
                <a:cs typeface="Segoe UI Light" panose="020B0502040204020203" pitchFamily="34" charset="0"/>
              </a:rPr>
              <a:t>" como estão as emissões basta usar o comando "@</a:t>
            </a:r>
            <a:r>
              <a:rPr lang="pt-BR" sz="11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Dynatrace</a:t>
            </a:r>
            <a:r>
              <a:rPr lang="pt-BR" sz="11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pt-BR" sz="11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emissoes</a:t>
            </a:r>
            <a:r>
              <a:rPr lang="pt-BR" sz="1100" dirty="0">
                <a:latin typeface="Segoe UI Light" panose="020B0502040204020203" pitchFamily="34" charset="0"/>
                <a:cs typeface="Segoe UI Light" panose="020B0502040204020203" pitchFamily="34" charset="0"/>
              </a:rPr>
              <a:t>" e ele retorna o status da monitoração de emissões. Para enviar um comando de </a:t>
            </a:r>
            <a:r>
              <a:rPr lang="pt-BR" sz="11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commit</a:t>
            </a:r>
            <a:r>
              <a:rPr lang="pt-BR" sz="1100" dirty="0">
                <a:latin typeface="Segoe UI Light" panose="020B0502040204020203" pitchFamily="34" charset="0"/>
                <a:cs typeface="Segoe UI Light" panose="020B0502040204020203" pitchFamily="34" charset="0"/>
              </a:rPr>
              <a:t> ao GitHub basta usar o comando "/GitHub </a:t>
            </a:r>
            <a:r>
              <a:rPr lang="pt-BR" sz="11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xpto</a:t>
            </a:r>
            <a:r>
              <a:rPr lang="pt-BR" sz="1100" dirty="0">
                <a:latin typeface="Segoe UI Light" panose="020B0502040204020203" pitchFamily="34" charset="0"/>
                <a:cs typeface="Segoe UI Light" panose="020B0502040204020203" pitchFamily="34" charset="0"/>
              </a:rPr>
              <a:t> &lt;</a:t>
            </a:r>
            <a:r>
              <a:rPr lang="pt-BR" sz="11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nome_repositório</a:t>
            </a:r>
            <a:r>
              <a:rPr lang="pt-BR" sz="1100" dirty="0">
                <a:latin typeface="Segoe UI Light" panose="020B0502040204020203" pitchFamily="34" charset="0"/>
                <a:cs typeface="Segoe UI Light" panose="020B0502040204020203" pitchFamily="34" charset="0"/>
              </a:rPr>
              <a:t>&gt;".</a:t>
            </a:r>
            <a:endParaRPr lang="pt-BR" sz="11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18" name="Gráfico 17" descr="Rede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2532" y="5791203"/>
            <a:ext cx="972000" cy="972000"/>
          </a:xfrm>
          <a:prstGeom prst="rect">
            <a:avLst/>
          </a:prstGeom>
        </p:spPr>
      </p:pic>
      <p:pic>
        <p:nvPicPr>
          <p:cNvPr id="19" name="Gráfico 18" descr="Clipe de papel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11462" y="5791203"/>
            <a:ext cx="972000" cy="972000"/>
          </a:xfrm>
          <a:prstGeom prst="rect">
            <a:avLst/>
          </a:prstGeom>
        </p:spPr>
      </p:pic>
      <p:pic>
        <p:nvPicPr>
          <p:cNvPr id="20" name="Gráfico 19" descr="Lupa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30392" y="5791203"/>
            <a:ext cx="972000" cy="972000"/>
          </a:xfrm>
          <a:prstGeom prst="rect">
            <a:avLst/>
          </a:prstGeom>
        </p:spPr>
      </p:pic>
      <p:pic>
        <p:nvPicPr>
          <p:cNvPr id="21" name="Gráfico 20" descr="Reunião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49322" y="5791203"/>
            <a:ext cx="972000" cy="972000"/>
          </a:xfrm>
          <a:prstGeom prst="rect">
            <a:avLst/>
          </a:prstGeom>
        </p:spPr>
      </p:pic>
      <p:pic>
        <p:nvPicPr>
          <p:cNvPr id="22" name="Gráfico 21" descr="Cabeça com Engrenagens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468254" y="5791203"/>
            <a:ext cx="972000" cy="972000"/>
          </a:xfrm>
          <a:prstGeom prst="rect">
            <a:avLst/>
          </a:prstGeom>
        </p:spPr>
      </p:pic>
      <p:pic>
        <p:nvPicPr>
          <p:cNvPr id="23" name="Picture 2" descr="http://flippedlearning.org/wp-content/uploads/2016/10/slack-logo.pn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6393" y="984060"/>
            <a:ext cx="5220000" cy="2183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8359751"/>
      </p:ext>
    </p:extLst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9091</TotalTime>
  <Words>406</Words>
  <Application>Microsoft Office PowerPoint</Application>
  <PresentationFormat>Personalizar</PresentationFormat>
  <Paragraphs>18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7" baseType="lpstr">
      <vt:lpstr>Arial</vt:lpstr>
      <vt:lpstr>Calibri</vt:lpstr>
      <vt:lpstr>Segoe UI</vt:lpstr>
      <vt:lpstr>Segoe UI Light</vt:lpstr>
      <vt:lpstr>Office Theme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Plano de Ação</dc:title>
  <dc:subject>Operações de TI</dc:subject>
  <dc:creator>Nei Henckes</dc:creator>
  <cp:lastModifiedBy>Jorge Filho</cp:lastModifiedBy>
  <cp:revision>160</cp:revision>
  <dcterms:created xsi:type="dcterms:W3CDTF">2014-01-24T21:35:00Z</dcterms:created>
  <dcterms:modified xsi:type="dcterms:W3CDTF">2017-03-16T15:03:20Z</dcterms:modified>
</cp:coreProperties>
</file>