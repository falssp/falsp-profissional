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373" r:id="rId3"/>
    <p:sldId id="374" r:id="rId4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D0462D"/>
    <a:srgbClr val="FFFF66"/>
    <a:srgbClr val="00CC00"/>
    <a:srgbClr val="F68E1E"/>
    <a:srgbClr val="FF6600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Pasta1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Pasta1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Pasta1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D:\Google%20Drive\Projetos\Smiles\Demandas\2016-12%20-%20Slide%20Executivo%20para%20T&#250;lio%20(Rodrigo)\Grafico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Planilha1!$A$1:$A$12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Planilha1!$B$1:$B$12</c:f>
              <c:numCache>
                <c:formatCode>General</c:formatCode>
                <c:ptCount val="12"/>
                <c:pt idx="0">
                  <c:v>464</c:v>
                </c:pt>
                <c:pt idx="1">
                  <c:v>911</c:v>
                </c:pt>
                <c:pt idx="2">
                  <c:v>1213</c:v>
                </c:pt>
                <c:pt idx="3">
                  <c:v>1520</c:v>
                </c:pt>
                <c:pt idx="4">
                  <c:v>1791</c:v>
                </c:pt>
                <c:pt idx="5">
                  <c:v>2073</c:v>
                </c:pt>
                <c:pt idx="6">
                  <c:v>2391</c:v>
                </c:pt>
                <c:pt idx="7">
                  <c:v>2651</c:v>
                </c:pt>
                <c:pt idx="8">
                  <c:v>2958</c:v>
                </c:pt>
                <c:pt idx="9">
                  <c:v>3261</c:v>
                </c:pt>
                <c:pt idx="10">
                  <c:v>3606</c:v>
                </c:pt>
                <c:pt idx="11">
                  <c:v>3836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3B-43FD-9760-D148B99F003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Planilha1!$A$15:$A$26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Planilha1!$B$15:$B$26</c:f>
              <c:numCache>
                <c:formatCode>0.00%</c:formatCode>
                <c:ptCount val="12"/>
                <c:pt idx="0">
                  <c:v>0.9012</c:v>
                </c:pt>
                <c:pt idx="1">
                  <c:v>0.85750000000000004</c:v>
                </c:pt>
                <c:pt idx="2">
                  <c:v>0.86119999999999997</c:v>
                </c:pt>
                <c:pt idx="3">
                  <c:v>0.86780000000000002</c:v>
                </c:pt>
                <c:pt idx="4">
                  <c:v>0.82950000000000002</c:v>
                </c:pt>
                <c:pt idx="5">
                  <c:v>0.92930000000000001</c:v>
                </c:pt>
                <c:pt idx="6">
                  <c:v>0.87460000000000004</c:v>
                </c:pt>
                <c:pt idx="7">
                  <c:v>0.89190000000000003</c:v>
                </c:pt>
                <c:pt idx="8">
                  <c:v>0.90549999999999997</c:v>
                </c:pt>
                <c:pt idx="9">
                  <c:v>0.95050000000000001</c:v>
                </c:pt>
                <c:pt idx="10">
                  <c:v>0.9597</c:v>
                </c:pt>
                <c:pt idx="11">
                  <c:v>0.95220000000000005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39-4C08-8902-274A0342BD6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  <c:min val="0.5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Planilha1!$A$30:$A$41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Planilha1!$B$30:$B$41</c:f>
              <c:numCache>
                <c:formatCode>General</c:formatCode>
                <c:ptCount val="12"/>
                <c:pt idx="0">
                  <c:v>85</c:v>
                </c:pt>
                <c:pt idx="1">
                  <c:v>72</c:v>
                </c:pt>
                <c:pt idx="2">
                  <c:v>54</c:v>
                </c:pt>
                <c:pt idx="3">
                  <c:v>55</c:v>
                </c:pt>
                <c:pt idx="4">
                  <c:v>59</c:v>
                </c:pt>
                <c:pt idx="5">
                  <c:v>64</c:v>
                </c:pt>
                <c:pt idx="6">
                  <c:v>75</c:v>
                </c:pt>
                <c:pt idx="7">
                  <c:v>56</c:v>
                </c:pt>
                <c:pt idx="8">
                  <c:v>64</c:v>
                </c:pt>
                <c:pt idx="9">
                  <c:v>56</c:v>
                </c:pt>
                <c:pt idx="10">
                  <c:v>35</c:v>
                </c:pt>
                <c:pt idx="11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28-4D35-9AB0-3EBC1A344B6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Planilha1!$A$59:$A$70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Planilha1!$B$59:$B$70</c:f>
              <c:numCache>
                <c:formatCode>General</c:formatCode>
                <c:ptCount val="12"/>
                <c:pt idx="0">
                  <c:v>46</c:v>
                </c:pt>
                <c:pt idx="1">
                  <c:v>77</c:v>
                </c:pt>
                <c:pt idx="2">
                  <c:v>97</c:v>
                </c:pt>
                <c:pt idx="3">
                  <c:v>134</c:v>
                </c:pt>
                <c:pt idx="4">
                  <c:v>151</c:v>
                </c:pt>
                <c:pt idx="5">
                  <c:v>197</c:v>
                </c:pt>
                <c:pt idx="6">
                  <c:v>221</c:v>
                </c:pt>
                <c:pt idx="7">
                  <c:v>254</c:v>
                </c:pt>
                <c:pt idx="8">
                  <c:v>290</c:v>
                </c:pt>
                <c:pt idx="9">
                  <c:v>308</c:v>
                </c:pt>
                <c:pt idx="10">
                  <c:v>339</c:v>
                </c:pt>
                <c:pt idx="11">
                  <c:v>367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2A-4AC8-B46C-F2D74D30777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Planilha1!$D$81:$D$84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Planilha1!$E$81:$E$84</c:f>
              <c:numCache>
                <c:formatCode>General</c:formatCode>
                <c:ptCount val="4"/>
                <c:pt idx="0">
                  <c:v>51</c:v>
                </c:pt>
                <c:pt idx="1">
                  <c:v>38</c:v>
                </c:pt>
                <c:pt idx="2">
                  <c:v>21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F9-4C77-951D-4EB105150A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56567992"/>
        <c:axId val="556565696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Planilha1!$D$81:$D$84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Planilha1!$F$81:$F$84</c:f>
              <c:numCache>
                <c:formatCode>General</c:formatCode>
                <c:ptCount val="4"/>
                <c:pt idx="0">
                  <c:v>16909</c:v>
                </c:pt>
                <c:pt idx="1">
                  <c:v>13990</c:v>
                </c:pt>
                <c:pt idx="2">
                  <c:v>12321</c:v>
                </c:pt>
                <c:pt idx="3">
                  <c:v>13893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F9-4C77-951D-4EB105150A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valAx>
        <c:axId val="556565696"/>
        <c:scaling>
          <c:orientation val="minMax"/>
          <c:max val="200"/>
          <c:min val="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56567992"/>
        <c:crosses val="max"/>
        <c:crossBetween val="between"/>
      </c:valAx>
      <c:catAx>
        <c:axId val="5565679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565656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2794037"/>
            <a:ext cx="568862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IT Tickets &amp; Bugs</a:t>
            </a:r>
          </a:p>
          <a:p>
            <a:r>
              <a:rPr lang="pt-BR" sz="36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Executive</a:t>
            </a:r>
            <a:r>
              <a:rPr lang="pt-BR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</a:t>
            </a:r>
            <a:r>
              <a:rPr lang="pt-BR" sz="36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Report</a:t>
            </a:r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21-12-2016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962" y="5114833"/>
            <a:ext cx="1554970" cy="161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IT Tickets &amp; Bugs–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Executive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283765" y="976731"/>
            <a:ext cx="9637674" cy="1800000"/>
            <a:chOff x="283765" y="976731"/>
            <a:chExt cx="9637674" cy="1800000"/>
          </a:xfrm>
        </p:grpSpPr>
        <p:graphicFrame>
          <p:nvGraphicFramePr>
            <p:cNvPr id="12" name="Gráfico 11">
              <a:extLst>
                <a:ext uri="{FF2B5EF4-FFF2-40B4-BE49-F238E27FC236}">
                  <a16:creationId xmlns:a16="http://schemas.microsoft.com/office/drawing/2014/main" id="{91741545-E543-407F-AD8F-E735DEDE942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45286105"/>
                </p:ext>
              </p:extLst>
            </p:nvPr>
          </p:nvGraphicFramePr>
          <p:xfrm>
            <a:off x="4701439" y="976731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5" name="Retângulo 14"/>
            <p:cNvSpPr/>
            <p:nvPr/>
          </p:nvSpPr>
          <p:spPr>
            <a:xfrm>
              <a:off x="283765" y="976731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 3.800 Chamados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resolvidos (Acumulado YTD)</a:t>
              </a:r>
            </a:p>
          </p:txBody>
        </p:sp>
      </p:grpSp>
      <p:grpSp>
        <p:nvGrpSpPr>
          <p:cNvPr id="8" name="Agrupar 7"/>
          <p:cNvGrpSpPr/>
          <p:nvPr/>
        </p:nvGrpSpPr>
        <p:grpSpPr>
          <a:xfrm>
            <a:off x="283765" y="2904723"/>
            <a:ext cx="9637674" cy="1800000"/>
            <a:chOff x="283765" y="2904723"/>
            <a:chExt cx="9637674" cy="1800000"/>
          </a:xfrm>
        </p:grpSpPr>
        <p:graphicFrame>
          <p:nvGraphicFramePr>
            <p:cNvPr id="13" name="Gráfico 12">
              <a:extLst>
                <a:ext uri="{FF2B5EF4-FFF2-40B4-BE49-F238E27FC236}">
                  <a16:creationId xmlns:a16="http://schemas.microsoft.com/office/drawing/2014/main" id="{877998FC-B484-4E65-BB07-C33CE15E4E9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87878447"/>
                </p:ext>
              </p:extLst>
            </p:nvPr>
          </p:nvGraphicFramePr>
          <p:xfrm>
            <a:off x="4701439" y="2904723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6" name="Retângulo 15"/>
            <p:cNvSpPr/>
            <p:nvPr/>
          </p:nvSpPr>
          <p:spPr>
            <a:xfrm>
              <a:off x="283765" y="2904723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~ 89,74% SLA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 resolução de chamados (Média YTD)</a:t>
              </a:r>
            </a:p>
          </p:txBody>
        </p:sp>
      </p:grpSp>
      <p:grpSp>
        <p:nvGrpSpPr>
          <p:cNvPr id="18" name="Agrupar 17"/>
          <p:cNvGrpSpPr/>
          <p:nvPr/>
        </p:nvGrpSpPr>
        <p:grpSpPr>
          <a:xfrm>
            <a:off x="283765" y="4832715"/>
            <a:ext cx="9637674" cy="1800000"/>
            <a:chOff x="283765" y="4832715"/>
            <a:chExt cx="9637674" cy="1800000"/>
          </a:xfrm>
        </p:grpSpPr>
        <p:graphicFrame>
          <p:nvGraphicFramePr>
            <p:cNvPr id="14" name="Gráfico 13">
              <a:extLst>
                <a:ext uri="{FF2B5EF4-FFF2-40B4-BE49-F238E27FC236}">
                  <a16:creationId xmlns:a16="http://schemas.microsoft.com/office/drawing/2014/main" id="{C7742862-A742-4B85-9B4C-DC0566D4782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72457147"/>
                </p:ext>
              </p:extLst>
            </p:nvPr>
          </p:nvGraphicFramePr>
          <p:xfrm>
            <a:off x="4701439" y="4832715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7" name="Retângulo 16"/>
            <p:cNvSpPr/>
            <p:nvPr/>
          </p:nvSpPr>
          <p:spPr>
            <a:xfrm>
              <a:off x="283765" y="4832715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~ 58 Chamados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em Backlog Líquido* (Média YTD)</a:t>
              </a:r>
            </a:p>
            <a:p>
              <a:pPr marL="180000" algn="r"/>
              <a:endPara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180000" algn="r"/>
              <a:r>
                <a:rPr lang="pt-BR" sz="14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*Backlog Líquido não depende de desenvolvimento</a:t>
              </a:r>
              <a:endPara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055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IT Tickets &amp; Bugs–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Executive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Agrupar 2"/>
          <p:cNvGrpSpPr/>
          <p:nvPr/>
        </p:nvGrpSpPr>
        <p:grpSpPr>
          <a:xfrm>
            <a:off x="303643" y="1054800"/>
            <a:ext cx="9707957" cy="1800235"/>
            <a:chOff x="303643" y="1054800"/>
            <a:chExt cx="9707957" cy="1800235"/>
          </a:xfrm>
        </p:grpSpPr>
        <p:sp>
          <p:nvSpPr>
            <p:cNvPr id="37" name="Retângulo 36"/>
            <p:cNvSpPr/>
            <p:nvPr/>
          </p:nvSpPr>
          <p:spPr>
            <a:xfrm>
              <a:off x="303643" y="1055035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 360 Bugs Resolvidos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resolvidos (Acumulado YTD)</a:t>
              </a:r>
            </a:p>
          </p:txBody>
        </p:sp>
        <p:graphicFrame>
          <p:nvGraphicFramePr>
            <p:cNvPr id="10" name="Gráfico 9">
              <a:extLst>
                <a:ext uri="{FF2B5EF4-FFF2-40B4-BE49-F238E27FC236}">
                  <a16:creationId xmlns:a16="http://schemas.microsoft.com/office/drawing/2014/main" id="{782C54F5-C066-4072-832D-6EC70C9DC1A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02314182"/>
                </p:ext>
              </p:extLst>
            </p:nvPr>
          </p:nvGraphicFramePr>
          <p:xfrm>
            <a:off x="4791600" y="1054800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4" name="CaixaDeTexto 3"/>
          <p:cNvSpPr txBox="1"/>
          <p:nvPr/>
        </p:nvSpPr>
        <p:spPr>
          <a:xfrm>
            <a:off x="303643" y="4996068"/>
            <a:ext cx="97079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Começamos o ano com 51 Bugs em </a:t>
            </a:r>
            <a:r>
              <a:rPr lang="pt-BR" sz="1600" dirty="0" err="1"/>
              <a:t>backlog</a:t>
            </a:r>
            <a:r>
              <a:rPr lang="pt-BR" sz="1600" dirty="0"/>
              <a:t> e terminaremos com 30 Bugs;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Foram realizadas 39 Builds de correção de Bugs em 2016;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Implementação do JIRA na Central de Atendimento;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Reunião semanal de qualidade para priorização e resolução dos Bugs com maior impacto;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Reunião semanal de staff para gestão de </a:t>
            </a:r>
            <a:r>
              <a:rPr lang="pt-BR" sz="1600" dirty="0" err="1"/>
              <a:t>backlog</a:t>
            </a:r>
            <a:r>
              <a:rPr lang="pt-BR" sz="1600" dirty="0"/>
              <a:t> de Bugs;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Meta de redução de Bugs no BSC nos Gerentes de TI;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Criação da meta de qualidade dos projetos.</a:t>
            </a:r>
          </a:p>
        </p:txBody>
      </p:sp>
      <p:grpSp>
        <p:nvGrpSpPr>
          <p:cNvPr id="13" name="Agrupar 12"/>
          <p:cNvGrpSpPr/>
          <p:nvPr/>
        </p:nvGrpSpPr>
        <p:grpSpPr>
          <a:xfrm>
            <a:off x="303643" y="3012300"/>
            <a:ext cx="9707957" cy="1800000"/>
            <a:chOff x="303643" y="3012300"/>
            <a:chExt cx="9707957" cy="1800000"/>
          </a:xfrm>
        </p:grpSpPr>
        <p:grpSp>
          <p:nvGrpSpPr>
            <p:cNvPr id="5" name="Agrupar 4"/>
            <p:cNvGrpSpPr/>
            <p:nvPr/>
          </p:nvGrpSpPr>
          <p:grpSpPr>
            <a:xfrm>
              <a:off x="303643" y="3012300"/>
              <a:ext cx="9707957" cy="1800000"/>
              <a:chOff x="303643" y="3012300"/>
              <a:chExt cx="9707957" cy="1800000"/>
            </a:xfrm>
          </p:grpSpPr>
          <p:graphicFrame>
            <p:nvGraphicFramePr>
              <p:cNvPr id="11" name="Gráfico 10">
                <a:extLst>
                  <a:ext uri="{FF2B5EF4-FFF2-40B4-BE49-F238E27FC236}">
                    <a16:creationId xmlns:a16="http://schemas.microsoft.com/office/drawing/2014/main" id="{4F9F905F-AACE-4BB8-9DD1-02415176DC5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05675541"/>
                  </p:ext>
                </p:extLst>
              </p:nvPr>
            </p:nvGraphicFramePr>
            <p:xfrm>
              <a:off x="4791600" y="3012300"/>
              <a:ext cx="5220000" cy="18000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2" name="Retângulo 11"/>
              <p:cNvSpPr/>
              <p:nvPr/>
            </p:nvSpPr>
            <p:spPr>
              <a:xfrm>
                <a:off x="303643" y="3012300"/>
                <a:ext cx="4241854" cy="1800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numCol="1" rtlCol="0" anchor="ctr"/>
              <a:lstStyle/>
              <a:p>
                <a:pPr marL="180000" algn="r"/>
                <a:r>
                  <a:rPr lang="pt-BR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Menos Bugs Pendentes,</a:t>
                </a:r>
                <a:endPara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80000" algn="r"/>
                <a:r>
                  <a:rPr lang="pt-B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menos reclamações de clientes </a:t>
                </a:r>
              </a:p>
            </p:txBody>
          </p:sp>
        </p:grpSp>
        <p:sp>
          <p:nvSpPr>
            <p:cNvPr id="8" name="CaixaDeTexto 7"/>
            <p:cNvSpPr txBox="1"/>
            <p:nvPr/>
          </p:nvSpPr>
          <p:spPr>
            <a:xfrm>
              <a:off x="7239292" y="3158973"/>
              <a:ext cx="8723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 b="1"/>
              </a:lvl1pPr>
            </a:lstStyle>
            <a:p>
              <a:r>
                <a:rPr lang="pt-BR" sz="1000" dirty="0"/>
                <a:t>Reclamações</a:t>
              </a:r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6004551" y="3802077"/>
              <a:ext cx="7489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b="1" dirty="0"/>
                <a:t>Bugs </a:t>
              </a:r>
            </a:p>
            <a:p>
              <a:r>
                <a:rPr lang="pt-BR" sz="1000" b="1" dirty="0"/>
                <a:t>Pendentes</a:t>
              </a:r>
              <a:endParaRPr lang="pt-BR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2824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8473</TotalTime>
  <Words>160</Words>
  <Application>Microsoft Office PowerPoint</Application>
  <PresentationFormat>Personalizar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85</cp:revision>
  <dcterms:created xsi:type="dcterms:W3CDTF">2014-01-24T21:35:00Z</dcterms:created>
  <dcterms:modified xsi:type="dcterms:W3CDTF">2016-12-21T19:14:57Z</dcterms:modified>
</cp:coreProperties>
</file>