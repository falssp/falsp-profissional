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sldIdLst>
    <p:sldId id="256" r:id="rId2"/>
    <p:sldId id="276" r:id="rId3"/>
    <p:sldId id="261" r:id="rId4"/>
    <p:sldId id="270" r:id="rId5"/>
    <p:sldId id="268" r:id="rId6"/>
    <p:sldId id="271" r:id="rId7"/>
    <p:sldId id="272" r:id="rId8"/>
    <p:sldId id="273" r:id="rId9"/>
    <p:sldId id="274" r:id="rId10"/>
    <p:sldId id="275" r:id="rId11"/>
    <p:sldId id="264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45719-834B-46E1-8BDC-6C3757BF1FA0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8DC57-8AFF-4350-8319-1BCDF9391E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500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4021" y="260648"/>
            <a:ext cx="2321753" cy="1080120"/>
          </a:xfrm>
          <a:prstGeom prst="rect">
            <a:avLst/>
          </a:prstGeom>
        </p:spPr>
      </p:pic>
      <p:grpSp>
        <p:nvGrpSpPr>
          <p:cNvPr id="9" name="Group 2"/>
          <p:cNvGrpSpPr>
            <a:grpSpLocks/>
          </p:cNvGrpSpPr>
          <p:nvPr userDrawn="1"/>
        </p:nvGrpSpPr>
        <p:grpSpPr bwMode="auto">
          <a:xfrm>
            <a:off x="2898" y="1556792"/>
            <a:ext cx="9144000" cy="1676400"/>
            <a:chOff x="0" y="2086"/>
            <a:chExt cx="5760" cy="1056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gray">
            <a:xfrm>
              <a:off x="0" y="2325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gray">
            <a:xfrm flipV="1">
              <a:off x="0" y="2086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0" hangingPunct="0"/>
              <a:endParaRPr lang="pt-BR" altLang="pt-BR"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68128" y="1796151"/>
            <a:ext cx="6807744" cy="912769"/>
          </a:xfrm>
        </p:spPr>
        <p:txBody>
          <a:bodyPr>
            <a:normAutofit/>
          </a:bodyPr>
          <a:lstStyle>
            <a:lvl1pPr algn="ctr">
              <a:defRPr sz="3600" b="0">
                <a:latin typeface="+mj-lt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/>
              <a:t>Título do Documento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95287" y="2996952"/>
            <a:ext cx="3816424" cy="1027165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b="1" i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Projeto</a:t>
            </a:r>
          </a:p>
        </p:txBody>
      </p:sp>
      <p:grpSp>
        <p:nvGrpSpPr>
          <p:cNvPr id="22" name="Grupo 21"/>
          <p:cNvGrpSpPr/>
          <p:nvPr userDrawn="1"/>
        </p:nvGrpSpPr>
        <p:grpSpPr>
          <a:xfrm>
            <a:off x="4435040" y="3475969"/>
            <a:ext cx="4745472" cy="3411538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26" name="Espaço Reservado para Imagem 25"/>
          <p:cNvSpPr>
            <a:spLocks noGrp="1"/>
          </p:cNvSpPr>
          <p:nvPr>
            <p:ph type="pic" sz="quarter" idx="12" hasCustomPrompt="1"/>
          </p:nvPr>
        </p:nvSpPr>
        <p:spPr>
          <a:xfrm>
            <a:off x="395536" y="5328308"/>
            <a:ext cx="2520280" cy="1181158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pt-BR" dirty="0"/>
              <a:t>Logo cliente</a:t>
            </a:r>
          </a:p>
        </p:txBody>
      </p:sp>
      <p:sp>
        <p:nvSpPr>
          <p:cNvPr id="28" name="Espaço Reservado para Conteúdo 27"/>
          <p:cNvSpPr>
            <a:spLocks noGrp="1"/>
          </p:cNvSpPr>
          <p:nvPr>
            <p:ph sz="quarter" idx="13" hasCustomPrompt="1"/>
          </p:nvPr>
        </p:nvSpPr>
        <p:spPr>
          <a:xfrm>
            <a:off x="395287" y="4170385"/>
            <a:ext cx="2880000" cy="433387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Data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14" hasCustomPrompt="1"/>
          </p:nvPr>
        </p:nvSpPr>
        <p:spPr>
          <a:xfrm>
            <a:off x="395287" y="4750040"/>
            <a:ext cx="2880000" cy="432000"/>
          </a:xfrm>
        </p:spPr>
        <p:txBody>
          <a:bodyPr vert="horz" lIns="91440" tIns="45720" rIns="91440" bIns="45720" rtlCol="0" anchor="ctr">
            <a:noAutofit/>
          </a:bodyPr>
          <a:lstStyle>
            <a:lvl1pPr marL="342900" indent="-342900">
              <a:buNone/>
              <a:defRPr lang="pt-BR" sz="2000" b="1" i="0" dirty="0" smtClean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pPr marL="0" lvl="0" indent="0"/>
            <a:r>
              <a:rPr lang="pt-BR" dirty="0"/>
              <a:t>Autor</a:t>
            </a:r>
          </a:p>
        </p:txBody>
      </p:sp>
    </p:spTree>
    <p:extLst>
      <p:ext uri="{BB962C8B-B14F-4D97-AF65-F5344CB8AC3E}">
        <p14:creationId xmlns:p14="http://schemas.microsoft.com/office/powerpoint/2010/main" val="343706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gray">
          <a:xfrm>
            <a:off x="1915" y="0"/>
            <a:ext cx="9140171" cy="1296988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90000" rIns="72000" bIns="90000" anchor="ctr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0" hangingPunct="0"/>
            <a:endParaRPr lang="pt-BR" altLang="pt-BR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96336" y="6093296"/>
            <a:ext cx="1301995" cy="60571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-14033" y="0"/>
            <a:ext cx="7312696" cy="648494"/>
          </a:xfrm>
        </p:spPr>
        <p:txBody>
          <a:bodyPr>
            <a:normAutofit/>
          </a:bodyPr>
          <a:lstStyle>
            <a:lvl1pPr marL="180000" algn="l">
              <a:defRPr sz="32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58824" y="908720"/>
            <a:ext cx="8805664" cy="50405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79512" y="6396151"/>
            <a:ext cx="720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F89EBDC-3F0A-4056-ADD3-FCD4D83FC868}" type="slidenum">
              <a:rPr lang="pt-BR" sz="1400" b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‹nº›</a:t>
            </a:fld>
            <a:endParaRPr lang="pt-BR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13830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51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87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857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8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341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7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10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8537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31A05-1C39-4897-91F5-2ABCACA9DBF1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3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31A05-1C39-4897-91F5-2ABCACA9DBF1}" type="datetimeFigureOut">
              <a:rPr lang="pt-BR" smtClean="0"/>
              <a:t>26/07/2016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E4C20-7C19-46A2-80B8-2712AD16B4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8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ri.smiles.com.br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3840" y="1796151"/>
            <a:ext cx="7436320" cy="912769"/>
          </a:xfrm>
        </p:spPr>
        <p:txBody>
          <a:bodyPr>
            <a:normAutofit/>
          </a:bodyPr>
          <a:lstStyle/>
          <a:p>
            <a:r>
              <a:rPr lang="pt-BR" b="1" dirty="0" smtClean="0"/>
              <a:t>Contextualização sobre Governança</a:t>
            </a:r>
            <a:endParaRPr lang="pt-BR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287" y="2996952"/>
            <a:ext cx="3816424" cy="1027165"/>
          </a:xfrm>
        </p:spPr>
        <p:txBody>
          <a:bodyPr>
            <a:normAutofit lnSpcReduction="10000"/>
          </a:bodyPr>
          <a:lstStyle/>
          <a:p>
            <a:r>
              <a:rPr lang="pt-BR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Pré</a:t>
            </a: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-Treinamento </a:t>
            </a:r>
          </a:p>
          <a:p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COBIT 5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13"/>
          </p:nvPr>
        </p:nvSpPr>
        <p:spPr>
          <a:xfrm>
            <a:off x="395287" y="5142949"/>
            <a:ext cx="2880000" cy="433387"/>
          </a:xfrm>
        </p:spPr>
        <p:txBody>
          <a:bodyPr/>
          <a:lstStyle/>
          <a:p>
            <a:pPr marL="0" indent="0">
              <a:buNone/>
            </a:pPr>
            <a:r>
              <a:rPr lang="pt-BR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26/07/2016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0605" y="4732228"/>
            <a:ext cx="1569364" cy="12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0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ço Reservado para Texto 5"/>
          <p:cNvSpPr txBox="1">
            <a:spLocks/>
          </p:cNvSpPr>
          <p:nvPr/>
        </p:nvSpPr>
        <p:spPr>
          <a:xfrm>
            <a:off x="251520" y="764704"/>
            <a:ext cx="8712968" cy="4536504"/>
          </a:xfrm>
          <a:prstGeom prst="rect">
            <a:avLst/>
          </a:prstGeom>
          <a:ln>
            <a:noFill/>
            <a:prstDash val="sysDash"/>
          </a:ln>
        </p:spPr>
        <p:txBody>
          <a:bodyPr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pt-BR" sz="4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279735" y="1340768"/>
            <a:ext cx="8656537" cy="37702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3900" b="1" cap="all" dirty="0"/>
              <a:t>SMLE3</a:t>
            </a:r>
            <a:endParaRPr lang="pt-BR" sz="23900" b="1" dirty="0"/>
          </a:p>
        </p:txBody>
      </p:sp>
    </p:spTree>
    <p:extLst>
      <p:ext uri="{BB962C8B-B14F-4D97-AF65-F5344CB8AC3E}">
        <p14:creationId xmlns:p14="http://schemas.microsoft.com/office/powerpoint/2010/main" val="397772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 smtClean="0"/>
              <a:t>Alinhamentos Iniciais</a:t>
            </a:r>
            <a:endParaRPr lang="pt-BR" dirty="0"/>
          </a:p>
        </p:txBody>
      </p:sp>
      <p:sp>
        <p:nvSpPr>
          <p:cNvPr id="20" name="Espaço Reservado para Texto 5"/>
          <p:cNvSpPr txBox="1">
            <a:spLocks/>
          </p:cNvSpPr>
          <p:nvPr/>
        </p:nvSpPr>
        <p:spPr>
          <a:xfrm>
            <a:off x="251520" y="764704"/>
            <a:ext cx="8712968" cy="4536504"/>
          </a:xfrm>
          <a:prstGeom prst="rect">
            <a:avLst/>
          </a:prstGeom>
          <a:ln>
            <a:noFill/>
            <a:prstDash val="sysDash"/>
          </a:ln>
        </p:spPr>
        <p:txBody>
          <a:bodyPr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4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Vamos falar sobre </a:t>
            </a:r>
            <a:r>
              <a:rPr lang="pt-BR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GOVERNANÇA</a:t>
            </a:r>
            <a:r>
              <a:rPr lang="pt-BR" sz="4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... mas o nome real do jogo é: </a:t>
            </a:r>
            <a:r>
              <a:rPr lang="pt-BR" sz="40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NEGÓCIOS</a:t>
            </a:r>
            <a:r>
              <a:rPr lang="pt-BR" sz="4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!</a:t>
            </a:r>
          </a:p>
          <a:p>
            <a:pPr marL="0" indent="0" algn="ctr">
              <a:spcBef>
                <a:spcPts val="1800"/>
              </a:spcBef>
              <a:spcAft>
                <a:spcPts val="2400"/>
              </a:spcAft>
              <a:buFont typeface="Arial" panose="020B0604020202020204" pitchFamily="34" charset="0"/>
              <a:buNone/>
            </a:pPr>
            <a:r>
              <a:rPr lang="pt-BR" sz="18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Lucros, Riscos, Rentabilidade, Mercado, Tendências, Market </a:t>
            </a:r>
            <a:r>
              <a:rPr lang="pt-BR" sz="1800" i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Share</a:t>
            </a:r>
            <a:r>
              <a:rPr lang="pt-BR" sz="1800" i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Inovação, Competição, Estratégia, Negociações, Resultados, Transparência, Processos, etc.</a:t>
            </a:r>
            <a:endParaRPr lang="pt-BR" sz="18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spcBef>
                <a:spcPts val="1800"/>
              </a:spcBef>
              <a:spcAft>
                <a:spcPts val="2400"/>
              </a:spcAft>
              <a:buFont typeface="Arial" panose="020B0604020202020204" pitchFamily="34" charset="0"/>
              <a:buNone/>
            </a:pPr>
            <a:endParaRPr lang="pt-BR" sz="4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8" name="Picture 4" descr="http://marketingemedia.com.br/wp-content/uploads/2013/05/plano-de-negocios.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176971"/>
            <a:ext cx="6096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2265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/>
          </a:bodyPr>
          <a:lstStyle/>
          <a:p>
            <a:r>
              <a:rPr lang="pt-BR" dirty="0" smtClean="0"/>
              <a:t>Alinhamentos Iniciais</a:t>
            </a:r>
            <a:endParaRPr lang="pt-BR" dirty="0"/>
          </a:p>
        </p:txBody>
      </p:sp>
      <p:sp>
        <p:nvSpPr>
          <p:cNvPr id="20" name="Espaço Reservado para Texto 5"/>
          <p:cNvSpPr txBox="1">
            <a:spLocks/>
          </p:cNvSpPr>
          <p:nvPr/>
        </p:nvSpPr>
        <p:spPr>
          <a:xfrm>
            <a:off x="251521" y="1052736"/>
            <a:ext cx="4320480" cy="4536504"/>
          </a:xfrm>
          <a:prstGeom prst="rect">
            <a:avLst/>
          </a:prstGeom>
          <a:ln>
            <a:noFill/>
            <a:prstDash val="sysDash"/>
          </a:ln>
        </p:spPr>
        <p:txBody>
          <a:bodyPr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800"/>
              </a:spcBef>
              <a:spcAft>
                <a:spcPts val="2400"/>
              </a:spcAft>
              <a:buFont typeface="Arial" panose="020B0604020202020204" pitchFamily="34" charset="0"/>
              <a:buNone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Alguém na turma...</a:t>
            </a:r>
          </a:p>
          <a:p>
            <a:pPr marL="540000" indent="-360000">
              <a:spcBef>
                <a:spcPts val="18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... já foi ou é </a:t>
            </a:r>
            <a:r>
              <a:rPr lang="pt-BR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DONO </a:t>
            </a: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de algum negócio/empresa?</a:t>
            </a:r>
          </a:p>
          <a:p>
            <a:pPr marL="540000" indent="-360000">
              <a:spcBef>
                <a:spcPts val="18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... já foi ou é </a:t>
            </a:r>
            <a:r>
              <a:rPr lang="pt-BR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INVESTIDOR</a:t>
            </a: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em algum negócio/empresa? Seja como Investidor simples ou qualificado</a:t>
            </a:r>
            <a:r>
              <a:rPr lang="pt-BR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  <p:pic>
        <p:nvPicPr>
          <p:cNvPr id="1026" name="Picture 2" descr="http://www.administradores.com.br/_assets/modules/noticias/noticia_92310.jpg?v=141026517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877" y="2348880"/>
            <a:ext cx="3744416" cy="265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06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8078041" cy="64849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Empresa de DONO x Empresa com INVESTIDOR</a:t>
            </a:r>
            <a:endParaRPr lang="pt-BR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400335"/>
              </p:ext>
            </p:extLst>
          </p:nvPr>
        </p:nvGraphicFramePr>
        <p:xfrm>
          <a:off x="615366" y="3645024"/>
          <a:ext cx="7992888" cy="2570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64296"/>
                <a:gridCol w="2664296"/>
                <a:gridCol w="266429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Perspectiva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DONO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INVESTIDOR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Poder de Decisão, Controle e Responsabilização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Imediato </a:t>
                      </a:r>
                    </a:p>
                    <a:p>
                      <a:pPr algn="ctr"/>
                      <a:r>
                        <a:rPr lang="pt-BR" dirty="0" smtClean="0"/>
                        <a:t>“Fala</a:t>
                      </a:r>
                      <a:r>
                        <a:rPr lang="pt-BR" baseline="0" dirty="0" smtClean="0"/>
                        <a:t> com o Fulano!”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Inexistente,</a:t>
                      </a:r>
                      <a:r>
                        <a:rPr lang="pt-BR" baseline="0" dirty="0" smtClean="0"/>
                        <a:t> exceto se majoritário.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Riscos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Próprio patrimônio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Capital Investido</a:t>
                      </a:r>
                      <a:endParaRPr lang="pt-BR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Acompanhamento da Empresa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Diário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Apenas</a:t>
                      </a:r>
                      <a:r>
                        <a:rPr lang="pt-BR" baseline="0" dirty="0" smtClean="0"/>
                        <a:t> por balanço ou assembleias de acionistas ou cotistas</a:t>
                      </a:r>
                      <a:endParaRPr lang="pt-BR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098" name="Picture 2" descr="http://www.softclass.com.br/informacoes/imagens-blobweb/informacoes/sistema-para-padaria-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1035886"/>
            <a:ext cx="2697334" cy="17964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www.euractiv.com/wp-content/uploads/sites/2/2013/11/board_room_filled_with_me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1032353"/>
            <a:ext cx="3199999" cy="1800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8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7" name="AutoShape 10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108" name="Picture 12" descr="http://www.moneychoice.org/wp-content/uploads/2014/11/stocks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754552"/>
            <a:ext cx="1564691" cy="11231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1"/>
            </a:solidFill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4016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9050530" cy="648494"/>
          </a:xfrm>
        </p:spPr>
        <p:txBody>
          <a:bodyPr>
            <a:normAutofit/>
          </a:bodyPr>
          <a:lstStyle/>
          <a:p>
            <a:r>
              <a:rPr lang="pt-BR" dirty="0" smtClean="0"/>
              <a:t>Como evoluir?</a:t>
            </a:r>
            <a:endParaRPr lang="pt-BR" dirty="0"/>
          </a:p>
        </p:txBody>
      </p:sp>
      <p:sp>
        <p:nvSpPr>
          <p:cNvPr id="5" name="AutoShape 6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8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Texto 5"/>
          <p:cNvSpPr txBox="1">
            <a:spLocks/>
          </p:cNvSpPr>
          <p:nvPr/>
        </p:nvSpPr>
        <p:spPr>
          <a:xfrm>
            <a:off x="251520" y="1052736"/>
            <a:ext cx="8064895" cy="4536504"/>
          </a:xfrm>
          <a:prstGeom prst="rect">
            <a:avLst/>
          </a:prstGeom>
          <a:ln>
            <a:noFill/>
            <a:prstDash val="sysDash"/>
          </a:ln>
        </p:spPr>
        <p:txBody>
          <a:bodyPr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Diante deste cenário, formas de uma empresa crescer são:</a:t>
            </a:r>
          </a:p>
          <a:p>
            <a:pPr marL="540000" indent="-3600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Colocar mais dinheiro do “bolso”</a:t>
            </a:r>
          </a:p>
          <a:p>
            <a:pPr marL="540000" indent="-3600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Entrada de um sócio investidor (tem que conquistar alguém disposto a...)</a:t>
            </a:r>
          </a:p>
          <a:p>
            <a:pPr marL="540000" indent="-3600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Abertura de capital na Bolsa de Valores (tem que conquistar pessoas dispostas a....)</a:t>
            </a:r>
          </a:p>
          <a:p>
            <a:pPr marL="540000" indent="-36000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Tirar os parentes? </a:t>
            </a:r>
            <a:r>
              <a:rPr lang="pt-BR" sz="24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rs</a:t>
            </a:r>
            <a:endParaRPr lang="pt-BR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80000" indent="0" algn="ctr">
              <a:spcBef>
                <a:spcPts val="1800"/>
              </a:spcBef>
              <a:spcAft>
                <a:spcPts val="2400"/>
              </a:spcAft>
              <a:buNone/>
            </a:pPr>
            <a:r>
              <a:rPr lang="pt-BR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ONDE VOCÊ INVESTIRIA </a:t>
            </a:r>
            <a:r>
              <a:rPr lang="pt-BR" sz="36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SEU</a:t>
            </a:r>
            <a:r>
              <a:rPr lang="pt-BR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DINHEIRO?</a:t>
            </a:r>
            <a:endParaRPr lang="pt-BR" sz="3600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0000" indent="-360000">
              <a:spcBef>
                <a:spcPts val="18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endParaRPr lang="pt-BR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462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9050530" cy="648494"/>
          </a:xfrm>
        </p:spPr>
        <p:txBody>
          <a:bodyPr>
            <a:normAutofit/>
          </a:bodyPr>
          <a:lstStyle/>
          <a:p>
            <a:r>
              <a:rPr lang="pt-BR" dirty="0" smtClean="0"/>
              <a:t>ADOTAR PRÁTICAS DE GOVERNANÇA!</a:t>
            </a:r>
            <a:endParaRPr lang="pt-BR" dirty="0"/>
          </a:p>
        </p:txBody>
      </p:sp>
      <p:sp>
        <p:nvSpPr>
          <p:cNvPr id="5" name="AutoShape 6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8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Texto 5"/>
          <p:cNvSpPr txBox="1">
            <a:spLocks/>
          </p:cNvSpPr>
          <p:nvPr/>
        </p:nvSpPr>
        <p:spPr>
          <a:xfrm>
            <a:off x="251520" y="1052736"/>
            <a:ext cx="8064895" cy="4536504"/>
          </a:xfrm>
          <a:prstGeom prst="rect">
            <a:avLst/>
          </a:prstGeom>
          <a:ln>
            <a:noFill/>
            <a:prstDash val="sysDash"/>
          </a:ln>
        </p:spPr>
        <p:txBody>
          <a:bodyPr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GOVERNANÇA CORPORATIVA</a:t>
            </a:r>
          </a:p>
          <a:p>
            <a:pPr marL="400050" lvl="1" indent="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Sistema pelo qual as sociedades são </a:t>
            </a:r>
            <a:r>
              <a:rPr lang="pt-BR" sz="20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dirigidas</a:t>
            </a:r>
            <a:r>
              <a:rPr lang="pt-B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 </a:t>
            </a:r>
            <a:r>
              <a:rPr lang="pt-BR" sz="20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monitoradas</a:t>
            </a:r>
            <a:r>
              <a:rPr lang="pt-B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envolvendo acionistas, conselho de administração, diretoria, auditoria independente e conselho fiscal.</a:t>
            </a:r>
          </a:p>
          <a:p>
            <a:pPr marL="400050" lvl="1" indent="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Objetiva criar e operacionalizar MECANISMOS de controle que visam fazer com que as empresas e as tomadas de decisões sejam realizadas de forma a OTIMIZAR o </a:t>
            </a:r>
            <a:r>
              <a:rPr lang="pt-BR" sz="20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desempenho</a:t>
            </a:r>
            <a:r>
              <a:rPr lang="pt-B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 a </a:t>
            </a:r>
            <a:r>
              <a:rPr lang="pt-BR" sz="2000" b="1" u="sng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longevidade</a:t>
            </a:r>
            <a:r>
              <a:rPr lang="pt-B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dos negócios.</a:t>
            </a:r>
            <a:endParaRPr lang="pt-BR" b="1" dirty="0">
              <a:solidFill>
                <a:schemeClr val="tx1">
                  <a:lumMod val="85000"/>
                  <a:lumOff val="1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0000" indent="-360000">
              <a:spcBef>
                <a:spcPts val="1800"/>
              </a:spcBef>
              <a:spcAft>
                <a:spcPts val="2400"/>
              </a:spcAft>
              <a:buFont typeface="Wingdings" panose="05000000000000000000" pitchFamily="2" charset="2"/>
              <a:buChar char="q"/>
            </a:pPr>
            <a:endParaRPr lang="pt-BR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9050530" cy="648494"/>
          </a:xfrm>
        </p:spPr>
        <p:txBody>
          <a:bodyPr>
            <a:normAutofit/>
          </a:bodyPr>
          <a:lstStyle/>
          <a:p>
            <a:r>
              <a:rPr lang="pt-BR" dirty="0" smtClean="0"/>
              <a:t>SMILES SA</a:t>
            </a:r>
            <a:endParaRPr lang="pt-BR" dirty="0"/>
          </a:p>
        </p:txBody>
      </p:sp>
      <p:sp>
        <p:nvSpPr>
          <p:cNvPr id="5" name="AutoShape 6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8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9" name="Espaço Reservado para Texto 5"/>
          <p:cNvSpPr txBox="1">
            <a:spLocks/>
          </p:cNvSpPr>
          <p:nvPr/>
        </p:nvSpPr>
        <p:spPr>
          <a:xfrm>
            <a:off x="251520" y="1052736"/>
            <a:ext cx="4104456" cy="4536504"/>
          </a:xfrm>
          <a:prstGeom prst="rect">
            <a:avLst/>
          </a:prstGeom>
          <a:ln>
            <a:noFill/>
            <a:prstDash val="sysDash"/>
          </a:ln>
        </p:spPr>
        <p:txBody>
          <a:bodyPr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RI – Relacionamento com os Investidores é uma prática de boa Governança!</a:t>
            </a: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Alguém já acessou? 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  <a:hlinkClick r:id="rId2"/>
              </a:rPr>
              <a:t>http://ri.smiles.com.br</a:t>
            </a:r>
            <a:r>
              <a:rPr lang="pt-BR" sz="2400" dirty="0" smtClean="0">
                <a:solidFill>
                  <a:schemeClr val="tx1">
                    <a:lumMod val="85000"/>
                    <a:lumOff val="15000"/>
                  </a:schemeClr>
                </a:solidFill>
                <a:hlinkClick r:id="rId2"/>
              </a:rPr>
              <a:t>/</a:t>
            </a:r>
            <a:endParaRPr lang="pt-BR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endParaRPr lang="pt-BR" sz="24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052736"/>
            <a:ext cx="4229100" cy="40100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444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9050530" cy="648494"/>
          </a:xfrm>
        </p:spPr>
        <p:txBody>
          <a:bodyPr>
            <a:normAutofit/>
          </a:bodyPr>
          <a:lstStyle/>
          <a:p>
            <a:r>
              <a:rPr lang="pt-BR" dirty="0" smtClean="0"/>
              <a:t>SMILES SA</a:t>
            </a:r>
            <a:endParaRPr lang="pt-BR" dirty="0"/>
          </a:p>
        </p:txBody>
      </p:sp>
      <p:sp>
        <p:nvSpPr>
          <p:cNvPr id="5" name="AutoShape 6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8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4" t="13925" r="13205" b="46331"/>
          <a:stretch/>
        </p:blipFill>
        <p:spPr bwMode="auto">
          <a:xfrm>
            <a:off x="151249" y="908720"/>
            <a:ext cx="8770965" cy="290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 descr="C:\Users\user\Downloads\WhatsApp-Image-20160726 (1)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471" y="4005064"/>
            <a:ext cx="4680520" cy="263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827584" y="5092687"/>
            <a:ext cx="10358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cap="all" dirty="0"/>
              <a:t>SMLE3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101480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14034" y="0"/>
            <a:ext cx="9050530" cy="648494"/>
          </a:xfrm>
        </p:spPr>
        <p:txBody>
          <a:bodyPr>
            <a:normAutofit/>
          </a:bodyPr>
          <a:lstStyle/>
          <a:p>
            <a:r>
              <a:rPr lang="pt-BR" dirty="0" smtClean="0"/>
              <a:t>SMILES SA</a:t>
            </a:r>
            <a:endParaRPr lang="pt-BR" dirty="0"/>
          </a:p>
        </p:txBody>
      </p:sp>
      <p:sp>
        <p:nvSpPr>
          <p:cNvPr id="5" name="AutoShape 6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8" descr="https://www.gazettetribune.com/files/uploads/2015/10/shutterstock_31696144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14" y="1340768"/>
            <a:ext cx="8343654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C:\Users\user\Downloads\WhatsApp-Image-20160726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582" y="3140968"/>
            <a:ext cx="4578350" cy="2579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7"/>
          <p:cNvSpPr/>
          <p:nvPr/>
        </p:nvSpPr>
        <p:spPr>
          <a:xfrm>
            <a:off x="2267744" y="4199811"/>
            <a:ext cx="10358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b="1" cap="all" dirty="0"/>
              <a:t>SMLE3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830274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88958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Apresentação na tela (4:3)</PresentationFormat>
  <Paragraphs>45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Tema do Office</vt:lpstr>
      <vt:lpstr>Contextualização sobre Governança</vt:lpstr>
      <vt:lpstr>Apresentação do PowerPoint</vt:lpstr>
      <vt:lpstr>Alinhamentos Iniciais</vt:lpstr>
      <vt:lpstr>Alinhamentos Iniciais</vt:lpstr>
      <vt:lpstr>Empresa de DONO x Empresa com INVESTIDOR</vt:lpstr>
      <vt:lpstr>Como evoluir?</vt:lpstr>
      <vt:lpstr>ADOTAR PRÁTICAS DE GOVERNANÇA!</vt:lpstr>
      <vt:lpstr>SMILES SA</vt:lpstr>
      <vt:lpstr>SMILES SA</vt:lpstr>
      <vt:lpstr>SMILES SA</vt:lpstr>
      <vt:lpstr>Obrigado!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Modelo</dc:title>
  <dc:subject>CHACON Consultoria</dc:subject>
  <dc:creator/>
  <cp:lastModifiedBy/>
  <cp:revision>49</cp:revision>
  <dcterms:created xsi:type="dcterms:W3CDTF">2015-07-21T09:22:26Z</dcterms:created>
  <dcterms:modified xsi:type="dcterms:W3CDTF">2016-07-26T18:55:32Z</dcterms:modified>
</cp:coreProperties>
</file>