
<file path=[Content_Types].xml><?xml version="1.0" encoding="utf-8"?>
<Types xmlns="http://schemas.openxmlformats.org/package/2006/content-types">
  <Default Extension="png" ContentType="image/png"/>
  <Default Extension="emf" ContentType="image/x-emf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6"/>
  </p:notesMasterIdLst>
  <p:sldIdLst>
    <p:sldId id="257" r:id="rId2"/>
    <p:sldId id="338" r:id="rId3"/>
    <p:sldId id="344" r:id="rId4"/>
    <p:sldId id="345" r:id="rId5"/>
  </p:sldIdLst>
  <p:sldSz cx="10117138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3187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6600"/>
    <a:srgbClr val="00CC00"/>
    <a:srgbClr val="D0462D"/>
    <a:srgbClr val="F57124"/>
    <a:srgbClr val="F68E1E"/>
    <a:srgbClr val="99CCFF"/>
    <a:srgbClr val="FF9900"/>
    <a:srgbClr val="000000"/>
    <a:srgbClr val="EE6829"/>
    <a:srgbClr val="E28734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Estilo Médio 2 - Ênfase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93296810-A885-4BE3-A3E7-6D5BEEA58F35}" styleName="Estilo Médio 2 - Ênfase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912C8C85-51F0-491E-9774-3900AFEF0FD7}" styleName="Estilo Claro 2 - Ênfase 6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</a:tcBdr>
      </a:tcStyle>
    </a:band1H>
    <a:band1V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</a:tcBdr>
      </a:tcStyle>
    </a:band1V>
    <a:band2V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6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6"/>
        </a:fillRef>
      </a:tcStyle>
    </a:firstRow>
  </a:tblStyle>
  <a:tblStyle styleId="{F2DE63D5-997A-4646-A377-4702673A728D}" styleName="Estilo Claro 2 - Ênfase 3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</a:tcBdr>
      </a:tcStyle>
    </a:band1H>
    <a:band1V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</a:tcBdr>
      </a:tcStyle>
    </a:band1V>
    <a:band2V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3"/>
        </a:fillRef>
      </a:tcStyle>
    </a:firstRow>
  </a:tblStyle>
  <a:tblStyle styleId="{5940675A-B579-460E-94D1-54222C63F5DA}" styleName="Nenhum Estilo, Grade de Tabela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929" autoAdjust="0"/>
    <p:restoredTop sz="95280" autoAdjust="0"/>
  </p:normalViewPr>
  <p:slideViewPr>
    <p:cSldViewPr snapToGrid="0" snapToObjects="1">
      <p:cViewPr varScale="1">
        <p:scale>
          <a:sx n="83" d="100"/>
          <a:sy n="83" d="100"/>
        </p:scale>
        <p:origin x="1109" y="77"/>
      </p:cViewPr>
      <p:guideLst>
        <p:guide orient="horz" pos="2160"/>
        <p:guide pos="3187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0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Cabeçalh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pt-BR"/>
          </a:p>
        </p:txBody>
      </p:sp>
      <p:sp>
        <p:nvSpPr>
          <p:cNvPr id="3" name="Espaço Reservado para Dat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B2CD1B9-1777-43A0-8DF4-B945C46147BD}" type="datetimeFigureOut">
              <a:rPr lang="pt-BR" smtClean="0"/>
              <a:t>17/02/2017</a:t>
            </a:fld>
            <a:endParaRPr lang="pt-BR"/>
          </a:p>
        </p:txBody>
      </p:sp>
      <p:sp>
        <p:nvSpPr>
          <p:cNvPr id="4" name="Espaço Reservado para Imagem de Slide 3"/>
          <p:cNvSpPr>
            <a:spLocks noGrp="1" noRot="1" noChangeAspect="1"/>
          </p:cNvSpPr>
          <p:nvPr>
            <p:ph type="sldImg" idx="2"/>
          </p:nvPr>
        </p:nvSpPr>
        <p:spPr>
          <a:xfrm>
            <a:off x="900113" y="685800"/>
            <a:ext cx="5057775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pt-BR"/>
          </a:p>
        </p:txBody>
      </p:sp>
      <p:sp>
        <p:nvSpPr>
          <p:cNvPr id="5" name="Espaço Reservado para Anotações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pt-BR"/>
              <a:t>Clique para editar o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pt-BR"/>
          </a:p>
        </p:txBody>
      </p:sp>
      <p:sp>
        <p:nvSpPr>
          <p:cNvPr id="7" name="Espaço Reservado para Número de Slid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D245040-EFBE-493F-96A2-B5DCAE3ADE4E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18668159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758786" y="2130428"/>
            <a:ext cx="8599567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17571" y="3886200"/>
            <a:ext cx="7081997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B04C65E-0501-3244-B235-0438CC858404}" type="datetimeFigureOut">
              <a:rPr lang="en-US" smtClean="0"/>
              <a:pPr/>
              <a:t>2/17/2017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FCF5E2-CCF2-BF49-B901-1F681CA77025}" type="slidenum">
              <a:rPr lang="en-US" smtClean="0"/>
              <a:pPr/>
              <a:t>‹nº›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4198997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B04C65E-0501-3244-B235-0438CC858404}" type="datetimeFigureOut">
              <a:rPr lang="en-US" smtClean="0"/>
              <a:pPr/>
              <a:t>2/17/2017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FCF5E2-CCF2-BF49-B901-1F681CA77025}" type="slidenum">
              <a:rPr lang="en-US" smtClean="0"/>
              <a:pPr/>
              <a:t>‹nº›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4330793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99184" y="4406903"/>
            <a:ext cx="8599567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99184" y="2906713"/>
            <a:ext cx="8599567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B04C65E-0501-3244-B235-0438CC858404}" type="datetimeFigureOut">
              <a:rPr lang="en-US" smtClean="0"/>
              <a:pPr/>
              <a:t>2/17/2017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FCF5E2-CCF2-BF49-B901-1F681CA77025}" type="slidenum">
              <a:rPr lang="en-US" smtClean="0"/>
              <a:pPr/>
              <a:t>‹nº›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857476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505857" y="1600203"/>
            <a:ext cx="4468403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142878" y="1600203"/>
            <a:ext cx="4468403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B04C65E-0501-3244-B235-0438CC858404}" type="datetimeFigureOut">
              <a:rPr lang="en-US" smtClean="0"/>
              <a:pPr/>
              <a:t>2/17/2017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FCF5E2-CCF2-BF49-B901-1F681CA77025}" type="slidenum">
              <a:rPr lang="en-US" smtClean="0"/>
              <a:pPr/>
              <a:t>‹nº›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5315484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05857" y="1535113"/>
            <a:ext cx="4470160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05857" y="2174875"/>
            <a:ext cx="4470160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139367" y="1535113"/>
            <a:ext cx="4471916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139367" y="2174875"/>
            <a:ext cx="4471916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B04C65E-0501-3244-B235-0438CC858404}" type="datetimeFigureOut">
              <a:rPr lang="en-US" smtClean="0"/>
              <a:pPr/>
              <a:t>2/17/2017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FCF5E2-CCF2-BF49-B901-1F681CA77025}" type="slidenum">
              <a:rPr lang="en-US" smtClean="0"/>
              <a:pPr/>
              <a:t>‹nº›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597418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B04C65E-0501-3244-B235-0438CC858404}" type="datetimeFigureOut">
              <a:rPr lang="en-US" smtClean="0"/>
              <a:pPr/>
              <a:t>2/17/2017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FCF5E2-CCF2-BF49-B901-1F681CA77025}" type="slidenum">
              <a:rPr lang="en-US" smtClean="0"/>
              <a:pPr/>
              <a:t>‹nº›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6380140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B04C65E-0501-3244-B235-0438CC858404}" type="datetimeFigureOut">
              <a:rPr lang="en-US" smtClean="0"/>
              <a:pPr/>
              <a:t>2/17/2017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FCF5E2-CCF2-BF49-B901-1F681CA77025}" type="slidenum">
              <a:rPr lang="en-US" smtClean="0"/>
              <a:pPr/>
              <a:t>‹nº›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9394894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5857" y="273050"/>
            <a:ext cx="3328469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955521" y="273053"/>
            <a:ext cx="5655761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05857" y="1435103"/>
            <a:ext cx="3328469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B04C65E-0501-3244-B235-0438CC858404}" type="datetimeFigureOut">
              <a:rPr lang="en-US" smtClean="0"/>
              <a:pPr/>
              <a:t>2/17/2017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FCF5E2-CCF2-BF49-B901-1F681CA77025}" type="slidenum">
              <a:rPr lang="en-US" smtClean="0"/>
              <a:pPr/>
              <a:t>‹nº›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8805666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983030" y="4800600"/>
            <a:ext cx="6070283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983030" y="612775"/>
            <a:ext cx="6070283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983030" y="5367338"/>
            <a:ext cx="6070283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B04C65E-0501-3244-B235-0438CC858404}" type="datetimeFigureOut">
              <a:rPr lang="en-US" smtClean="0"/>
              <a:pPr/>
              <a:t>2/17/2017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FCF5E2-CCF2-BF49-B901-1F681CA77025}" type="slidenum">
              <a:rPr lang="en-US" smtClean="0"/>
              <a:pPr/>
              <a:t>‹nº›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6701015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B04C65E-0501-3244-B235-0438CC858404}" type="datetimeFigureOut">
              <a:rPr lang="en-US" smtClean="0"/>
              <a:pPr/>
              <a:t>2/17/2017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FCF5E2-CCF2-BF49-B901-1F681CA77025}" type="slidenum">
              <a:rPr lang="en-US" smtClean="0"/>
              <a:pPr/>
              <a:t>‹nº›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3300598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7334925" y="274641"/>
            <a:ext cx="2276356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505857" y="274641"/>
            <a:ext cx="6660449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B04C65E-0501-3244-B235-0438CC858404}" type="datetimeFigureOut">
              <a:rPr lang="en-US" smtClean="0"/>
              <a:pPr/>
              <a:t>2/17/2017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FCF5E2-CCF2-BF49-B901-1F681CA77025}" type="slidenum">
              <a:rPr lang="en-US" smtClean="0"/>
              <a:pPr/>
              <a:t>‹nº›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6864213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505857" y="274638"/>
            <a:ext cx="9105424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05857" y="1600203"/>
            <a:ext cx="9105424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505857" y="6356353"/>
            <a:ext cx="2360666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B04C65E-0501-3244-B235-0438CC858404}" type="datetimeFigureOut">
              <a:rPr lang="en-US" smtClean="0"/>
              <a:pPr/>
              <a:t>2/17/2017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456689" y="6356353"/>
            <a:ext cx="320376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7250615" y="6356353"/>
            <a:ext cx="2360666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4FCF5E2-CCF2-BF49-B901-1F681CA77025}" type="slidenum">
              <a:rPr lang="en-US" smtClean="0"/>
              <a:pPr/>
              <a:t>‹nº›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5529271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emf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emf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emf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emf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2"/>
          <p:cNvSpPr/>
          <p:nvPr/>
        </p:nvSpPr>
        <p:spPr>
          <a:xfrm>
            <a:off x="-1393" y="3"/>
            <a:ext cx="6375313" cy="6857999"/>
          </a:xfrm>
          <a:custGeom>
            <a:avLst/>
            <a:gdLst/>
            <a:ahLst/>
            <a:cxnLst/>
            <a:rect l="l" t="t" r="r" b="b"/>
            <a:pathLst>
              <a:path w="5762090" h="6857999">
                <a:moveTo>
                  <a:pt x="0" y="0"/>
                </a:moveTo>
                <a:lnTo>
                  <a:pt x="1920697" y="0"/>
                </a:lnTo>
                <a:lnTo>
                  <a:pt x="3279881" y="0"/>
                </a:lnTo>
                <a:lnTo>
                  <a:pt x="5200578" y="0"/>
                </a:lnTo>
                <a:lnTo>
                  <a:pt x="5255041" y="148787"/>
                </a:lnTo>
                <a:cubicBezTo>
                  <a:pt x="5571805" y="1057108"/>
                  <a:pt x="5762090" y="2221597"/>
                  <a:pt x="5762090" y="3491260"/>
                </a:cubicBezTo>
                <a:cubicBezTo>
                  <a:pt x="5762090" y="4760923"/>
                  <a:pt x="5571805" y="5925412"/>
                  <a:pt x="5255041" y="6833733"/>
                </a:cubicBezTo>
                <a:lnTo>
                  <a:pt x="5246158" y="6857999"/>
                </a:lnTo>
                <a:lnTo>
                  <a:pt x="3325461" y="6857999"/>
                </a:lnTo>
                <a:lnTo>
                  <a:pt x="1920697" y="6857999"/>
                </a:lnTo>
                <a:lnTo>
                  <a:pt x="0" y="6857999"/>
                </a:lnTo>
                <a:close/>
              </a:path>
            </a:pathLst>
          </a:custGeom>
          <a:solidFill>
            <a:srgbClr val="FF8E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11303" y="3276362"/>
            <a:ext cx="2206288" cy="787514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288784" y="1256786"/>
            <a:ext cx="5688627" cy="526297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4800" b="1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Trebuchet MS" panose="020B0603020202020204" pitchFamily="34" charset="0"/>
                <a:cs typeface="Gotham Rounded Book"/>
              </a:rPr>
              <a:t>Gestão de Ideias</a:t>
            </a:r>
            <a:endParaRPr lang="pt-BR" sz="3600" b="1" dirty="0">
              <a:solidFill>
                <a:schemeClr val="bg1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Trebuchet MS" panose="020B0603020202020204" pitchFamily="34" charset="0"/>
              <a:cs typeface="Gotham Rounded Book"/>
            </a:endParaRPr>
          </a:p>
          <a:p>
            <a:endParaRPr lang="pt-BR" sz="3600" b="1" dirty="0">
              <a:solidFill>
                <a:schemeClr val="bg1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Trebuchet MS" panose="020B0603020202020204" pitchFamily="34" charset="0"/>
              <a:cs typeface="Gotham Rounded Book"/>
            </a:endParaRPr>
          </a:p>
          <a:p>
            <a:r>
              <a:rPr lang="pt-BR" sz="3200" b="1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Trebuchet MS" panose="020B0603020202020204" pitchFamily="34" charset="0"/>
                <a:cs typeface="Gotham Rounded Book"/>
              </a:rPr>
              <a:t>Novo Fluxo e </a:t>
            </a:r>
            <a:r>
              <a:rPr lang="pt-BR" sz="3200" b="1" dirty="0" err="1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Trebuchet MS" panose="020B0603020202020204" pitchFamily="34" charset="0"/>
                <a:cs typeface="Gotham Rounded Book"/>
              </a:rPr>
              <a:t>SLAs</a:t>
            </a:r>
            <a:r>
              <a:rPr lang="pt-BR" sz="3200" b="1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Trebuchet MS" panose="020B0603020202020204" pitchFamily="34" charset="0"/>
                <a:cs typeface="Gotham Rounded Book"/>
              </a:rPr>
              <a:t> da Arquitetura </a:t>
            </a:r>
            <a:r>
              <a:rPr lang="pt-BR" sz="3200" b="1" dirty="0" err="1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Trebuchet MS" panose="020B0603020202020204" pitchFamily="34" charset="0"/>
                <a:cs typeface="Gotham Rounded Book"/>
              </a:rPr>
              <a:t>Corp</a:t>
            </a:r>
            <a:r>
              <a:rPr lang="pt-BR" sz="3200" b="1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Trebuchet MS" panose="020B0603020202020204" pitchFamily="34" charset="0"/>
                <a:cs typeface="Gotham Rounded Book"/>
              </a:rPr>
              <a:t>. de TI</a:t>
            </a:r>
          </a:p>
          <a:p>
            <a:endParaRPr lang="pt-BR" sz="2800" dirty="0">
              <a:solidFill>
                <a:schemeClr val="bg1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Trebuchet MS" panose="020B0603020202020204" pitchFamily="34" charset="0"/>
              <a:cs typeface="Gotham Rounded Book"/>
            </a:endParaRPr>
          </a:p>
          <a:p>
            <a:endParaRPr lang="pt-BR" sz="2800" dirty="0">
              <a:solidFill>
                <a:schemeClr val="bg1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Trebuchet MS" panose="020B0603020202020204" pitchFamily="34" charset="0"/>
              <a:cs typeface="Gotham Rounded Book"/>
            </a:endParaRPr>
          </a:p>
          <a:p>
            <a:endParaRPr lang="pt-BR" sz="2800" dirty="0">
              <a:solidFill>
                <a:schemeClr val="bg1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Trebuchet MS" panose="020B0603020202020204" pitchFamily="34" charset="0"/>
              <a:cs typeface="Gotham Rounded Book"/>
            </a:endParaRPr>
          </a:p>
          <a:p>
            <a:endParaRPr lang="pt-BR" sz="2000" dirty="0">
              <a:solidFill>
                <a:schemeClr val="bg1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Trebuchet MS" panose="020B0603020202020204" pitchFamily="34" charset="0"/>
              <a:cs typeface="Gotham Rounded Book"/>
            </a:endParaRPr>
          </a:p>
          <a:p>
            <a:r>
              <a:rPr lang="pt-BR" sz="200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Trebuchet MS" panose="020B0603020202020204" pitchFamily="34" charset="0"/>
                <a:cs typeface="Gotham Rounded Book"/>
              </a:rPr>
              <a:t>Versão 5 </a:t>
            </a:r>
          </a:p>
          <a:p>
            <a:r>
              <a:rPr lang="pt-BR" sz="160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Trebuchet MS" panose="020B0603020202020204" pitchFamily="34" charset="0"/>
                <a:cs typeface="Gotham Rounded Book"/>
              </a:rPr>
              <a:t>(pós reunião de alinhamento com Luiz Borrego)</a:t>
            </a:r>
          </a:p>
          <a:p>
            <a:endParaRPr lang="en-US" sz="2400" dirty="0">
              <a:solidFill>
                <a:schemeClr val="bg1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Trebuchet MS" panose="020B0603020202020204" pitchFamily="34" charset="0"/>
              <a:cs typeface="Gotham Rounded Book"/>
            </a:endParaRPr>
          </a:p>
          <a:p>
            <a:r>
              <a:rPr lang="en-US" sz="2400" dirty="0" err="1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Trebuchet MS" panose="020B0603020202020204" pitchFamily="34" charset="0"/>
                <a:cs typeface="Gotham Rounded Book"/>
              </a:rPr>
              <a:t>Maio</a:t>
            </a:r>
            <a:r>
              <a:rPr lang="en-US" sz="240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Trebuchet MS" panose="020B0603020202020204" pitchFamily="34" charset="0"/>
                <a:cs typeface="Gotham Rounded Book"/>
              </a:rPr>
              <a:t>/2016</a:t>
            </a:r>
          </a:p>
        </p:txBody>
      </p:sp>
      <p:pic>
        <p:nvPicPr>
          <p:cNvPr id="1026" name="Picture 2" descr="http://live.icmgworld.com/architectureworld2013/images/Keynotes_01.png"/>
          <p:cNvPicPr>
            <a:picLocks noChangeAspect="1" noChangeArrowheads="1"/>
          </p:cNvPicPr>
          <p:nvPr/>
        </p:nvPicPr>
        <p:blipFill>
          <a:blip r:embed="rId3">
            <a:clrChange>
              <a:clrFrom>
                <a:srgbClr val="F0EFE7"/>
              </a:clrFrom>
              <a:clrTo>
                <a:srgbClr val="F0EFE7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419448" y="4437517"/>
            <a:ext cx="3510485" cy="226718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37535993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upo 1"/>
          <p:cNvGrpSpPr/>
          <p:nvPr/>
        </p:nvGrpSpPr>
        <p:grpSpPr>
          <a:xfrm>
            <a:off x="2" y="-3"/>
            <a:ext cx="10117136" cy="750629"/>
            <a:chOff x="2" y="-3"/>
            <a:chExt cx="9143998" cy="750629"/>
          </a:xfrm>
        </p:grpSpPr>
        <p:sp>
          <p:nvSpPr>
            <p:cNvPr id="7" name="Rectangle 2"/>
            <p:cNvSpPr/>
            <p:nvPr/>
          </p:nvSpPr>
          <p:spPr>
            <a:xfrm rot="5400000">
              <a:off x="4196686" y="-4196687"/>
              <a:ext cx="750629" cy="9143998"/>
            </a:xfrm>
            <a:custGeom>
              <a:avLst/>
              <a:gdLst/>
              <a:ahLst/>
              <a:cxnLst/>
              <a:rect l="l" t="t" r="r" b="b"/>
              <a:pathLst>
                <a:path w="1045586" h="9143998">
                  <a:moveTo>
                    <a:pt x="0" y="9143998"/>
                  </a:moveTo>
                  <a:lnTo>
                    <a:pt x="0" y="0"/>
                  </a:lnTo>
                  <a:lnTo>
                    <a:pt x="725309" y="0"/>
                  </a:lnTo>
                  <a:lnTo>
                    <a:pt x="756374" y="198383"/>
                  </a:lnTo>
                  <a:cubicBezTo>
                    <a:pt x="937051" y="1409478"/>
                    <a:pt x="1045586" y="2962131"/>
                    <a:pt x="1045586" y="4655015"/>
                  </a:cubicBezTo>
                  <a:cubicBezTo>
                    <a:pt x="1045586" y="6347900"/>
                    <a:pt x="937051" y="7900553"/>
                    <a:pt x="756374" y="9111648"/>
                  </a:cubicBezTo>
                  <a:lnTo>
                    <a:pt x="751308" y="9143998"/>
                  </a:lnTo>
                  <a:close/>
                </a:path>
              </a:pathLst>
            </a:custGeom>
            <a:solidFill>
              <a:srgbClr val="FF8E2D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6" name="Picture 5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8218106" y="129598"/>
              <a:ext cx="843390" cy="334448"/>
            </a:xfrm>
            <a:prstGeom prst="rect">
              <a:avLst/>
            </a:prstGeom>
          </p:spPr>
        </p:pic>
      </p:grpSp>
      <p:sp>
        <p:nvSpPr>
          <p:cNvPr id="9" name="TextBox 8"/>
          <p:cNvSpPr txBox="1"/>
          <p:nvPr/>
        </p:nvSpPr>
        <p:spPr>
          <a:xfrm>
            <a:off x="2328020" y="130780"/>
            <a:ext cx="5461099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240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Segoe UI" panose="020B0502040204020203" pitchFamily="34" charset="0"/>
                <a:cs typeface="Segoe UI" panose="020B0502040204020203" pitchFamily="34" charset="0"/>
              </a:rPr>
              <a:t>Premissas</a:t>
            </a:r>
          </a:p>
        </p:txBody>
      </p:sp>
      <p:sp>
        <p:nvSpPr>
          <p:cNvPr id="144" name="Fluxograma: Processo 143"/>
          <p:cNvSpPr/>
          <p:nvPr/>
        </p:nvSpPr>
        <p:spPr>
          <a:xfrm>
            <a:off x="1365739" y="2610678"/>
            <a:ext cx="7385659" cy="2425148"/>
          </a:xfrm>
          <a:prstGeom prst="flowChartProcess">
            <a:avLst/>
          </a:prstGeom>
          <a:solidFill>
            <a:srgbClr val="7030A0"/>
          </a:solidFill>
          <a:ln/>
        </p:spPr>
        <p:style>
          <a:lnRef idx="1">
            <a:schemeClr val="accent4"/>
          </a:lnRef>
          <a:fillRef idx="3">
            <a:schemeClr val="accent4"/>
          </a:fillRef>
          <a:effectRef idx="2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marL="285750" indent="-285750">
              <a:spcAft>
                <a:spcPts val="1800"/>
              </a:spcAft>
              <a:buFont typeface="Arial" panose="020B0604020202020204" pitchFamily="34" charset="0"/>
              <a:buChar char="•"/>
            </a:pPr>
            <a:r>
              <a:rPr lang="pt-BR" b="1" dirty="0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Segoe UI" panose="020B0502040204020203" pitchFamily="34" charset="0"/>
                <a:cs typeface="Segoe UI" panose="020B0502040204020203" pitchFamily="34" charset="0"/>
              </a:rPr>
              <a:t>PMO não deve possuir “</a:t>
            </a:r>
            <a:r>
              <a:rPr lang="pt-BR" b="1" dirty="0" err="1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Segoe UI" panose="020B0502040204020203" pitchFamily="34" charset="0"/>
                <a:cs typeface="Segoe UI" panose="020B0502040204020203" pitchFamily="34" charset="0"/>
              </a:rPr>
              <a:t>Backlog</a:t>
            </a:r>
            <a:r>
              <a:rPr lang="pt-BR" b="1" dirty="0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Segoe UI" panose="020B0502040204020203" pitchFamily="34" charset="0"/>
                <a:cs typeface="Segoe UI" panose="020B0502040204020203" pitchFamily="34" charset="0"/>
              </a:rPr>
              <a:t>”</a:t>
            </a:r>
          </a:p>
          <a:p>
            <a:pPr marL="285750" indent="-285750">
              <a:spcAft>
                <a:spcPts val="1800"/>
              </a:spcAft>
              <a:buFont typeface="Arial" panose="020B0604020202020204" pitchFamily="34" charset="0"/>
              <a:buChar char="•"/>
            </a:pPr>
            <a:r>
              <a:rPr lang="pt-BR" b="1" dirty="0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Segoe UI" panose="020B0502040204020203" pitchFamily="34" charset="0"/>
                <a:cs typeface="Segoe UI" panose="020B0502040204020203" pitchFamily="34" charset="0"/>
              </a:rPr>
              <a:t>Arquitetura precisa de SLA para estimativas</a:t>
            </a:r>
          </a:p>
          <a:p>
            <a:pPr marL="285750" indent="-285750">
              <a:spcAft>
                <a:spcPts val="1800"/>
              </a:spcAft>
              <a:buFont typeface="Arial" panose="020B0604020202020204" pitchFamily="34" charset="0"/>
              <a:buChar char="•"/>
            </a:pPr>
            <a:r>
              <a:rPr lang="pt-BR" b="1" dirty="0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Segoe UI" panose="020B0502040204020203" pitchFamily="34" charset="0"/>
                <a:cs typeface="Segoe UI" panose="020B0502040204020203" pitchFamily="34" charset="0"/>
              </a:rPr>
              <a:t>Fluxo de Gestão de Ideias precisa de melhorias (ex.: novos status como Pendente Usuário, Cancelado, etc.)</a:t>
            </a:r>
          </a:p>
        </p:txBody>
      </p:sp>
    </p:spTree>
    <p:extLst>
      <p:ext uri="{BB962C8B-B14F-4D97-AF65-F5344CB8AC3E}">
        <p14:creationId xmlns:p14="http://schemas.microsoft.com/office/powerpoint/2010/main" val="40800568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Retângulo 142"/>
          <p:cNvSpPr/>
          <p:nvPr/>
        </p:nvSpPr>
        <p:spPr>
          <a:xfrm>
            <a:off x="842617" y="2357839"/>
            <a:ext cx="689056" cy="50783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pt-BR" sz="9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Retornar </a:t>
            </a:r>
          </a:p>
          <a:p>
            <a:r>
              <a:rPr lang="pt-BR" sz="9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para PMO</a:t>
            </a:r>
          </a:p>
        </p:txBody>
      </p:sp>
      <p:sp>
        <p:nvSpPr>
          <p:cNvPr id="142" name="Retângulo 141"/>
          <p:cNvSpPr/>
          <p:nvPr/>
        </p:nvSpPr>
        <p:spPr>
          <a:xfrm>
            <a:off x="9175625" y="2378434"/>
            <a:ext cx="1005665" cy="50783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pt-BR" sz="9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Retornar para </a:t>
            </a:r>
          </a:p>
          <a:p>
            <a:r>
              <a:rPr lang="pt-BR" sz="9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Analista de </a:t>
            </a:r>
          </a:p>
          <a:p>
            <a:r>
              <a:rPr lang="pt-BR" sz="9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Negócios</a:t>
            </a:r>
          </a:p>
        </p:txBody>
      </p:sp>
      <p:grpSp>
        <p:nvGrpSpPr>
          <p:cNvPr id="2" name="Grupo 1"/>
          <p:cNvGrpSpPr/>
          <p:nvPr/>
        </p:nvGrpSpPr>
        <p:grpSpPr>
          <a:xfrm>
            <a:off x="2" y="-3"/>
            <a:ext cx="10117136" cy="750629"/>
            <a:chOff x="2" y="-3"/>
            <a:chExt cx="9143998" cy="750629"/>
          </a:xfrm>
        </p:grpSpPr>
        <p:sp>
          <p:nvSpPr>
            <p:cNvPr id="7" name="Rectangle 2"/>
            <p:cNvSpPr/>
            <p:nvPr/>
          </p:nvSpPr>
          <p:spPr>
            <a:xfrm rot="5400000">
              <a:off x="4196686" y="-4196687"/>
              <a:ext cx="750629" cy="9143998"/>
            </a:xfrm>
            <a:custGeom>
              <a:avLst/>
              <a:gdLst/>
              <a:ahLst/>
              <a:cxnLst/>
              <a:rect l="l" t="t" r="r" b="b"/>
              <a:pathLst>
                <a:path w="1045586" h="9143998">
                  <a:moveTo>
                    <a:pt x="0" y="9143998"/>
                  </a:moveTo>
                  <a:lnTo>
                    <a:pt x="0" y="0"/>
                  </a:lnTo>
                  <a:lnTo>
                    <a:pt x="725309" y="0"/>
                  </a:lnTo>
                  <a:lnTo>
                    <a:pt x="756374" y="198383"/>
                  </a:lnTo>
                  <a:cubicBezTo>
                    <a:pt x="937051" y="1409478"/>
                    <a:pt x="1045586" y="2962131"/>
                    <a:pt x="1045586" y="4655015"/>
                  </a:cubicBezTo>
                  <a:cubicBezTo>
                    <a:pt x="1045586" y="6347900"/>
                    <a:pt x="937051" y="7900553"/>
                    <a:pt x="756374" y="9111648"/>
                  </a:cubicBezTo>
                  <a:lnTo>
                    <a:pt x="751308" y="9143998"/>
                  </a:lnTo>
                  <a:close/>
                </a:path>
              </a:pathLst>
            </a:custGeom>
            <a:solidFill>
              <a:srgbClr val="FF8E2D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6" name="Picture 5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8218106" y="129598"/>
              <a:ext cx="843390" cy="334448"/>
            </a:xfrm>
            <a:prstGeom prst="rect">
              <a:avLst/>
            </a:prstGeom>
          </p:spPr>
        </p:pic>
      </p:grpSp>
      <p:sp>
        <p:nvSpPr>
          <p:cNvPr id="9" name="TextBox 8"/>
          <p:cNvSpPr txBox="1"/>
          <p:nvPr/>
        </p:nvSpPr>
        <p:spPr>
          <a:xfrm>
            <a:off x="2328020" y="130780"/>
            <a:ext cx="5461099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240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Segoe UI" panose="020B0502040204020203" pitchFamily="34" charset="0"/>
                <a:cs typeface="Segoe UI" panose="020B0502040204020203" pitchFamily="34" charset="0"/>
              </a:rPr>
              <a:t>Macro Fluxo Gestão de Ideias</a:t>
            </a:r>
          </a:p>
        </p:txBody>
      </p:sp>
      <p:grpSp>
        <p:nvGrpSpPr>
          <p:cNvPr id="130" name="Agrupar 129"/>
          <p:cNvGrpSpPr/>
          <p:nvPr/>
        </p:nvGrpSpPr>
        <p:grpSpPr>
          <a:xfrm>
            <a:off x="63474" y="2246388"/>
            <a:ext cx="716274" cy="682180"/>
            <a:chOff x="256478" y="2393574"/>
            <a:chExt cx="716274" cy="682180"/>
          </a:xfrm>
        </p:grpSpPr>
        <p:pic>
          <p:nvPicPr>
            <p:cNvPr id="4" name="Imagem 3"/>
            <p:cNvPicPr>
              <a:picLocks noChangeAspect="1"/>
            </p:cNvPicPr>
            <p:nvPr/>
          </p:nvPicPr>
          <p:blipFill>
            <a:blip r:embed="rId3">
              <a:duotone>
                <a:schemeClr val="accent4">
                  <a:shade val="45000"/>
                  <a:satMod val="135000"/>
                </a:schemeClr>
                <a:prstClr val="white"/>
              </a:duotone>
            </a:blip>
            <a:stretch>
              <a:fillRect/>
            </a:stretch>
          </p:blipFill>
          <p:spPr>
            <a:xfrm rot="20569596">
              <a:off x="256478" y="2393574"/>
              <a:ext cx="396997" cy="504000"/>
            </a:xfrm>
            <a:prstGeom prst="rect">
              <a:avLst/>
            </a:prstGeom>
          </p:spPr>
        </p:pic>
        <p:sp>
          <p:nvSpPr>
            <p:cNvPr id="5" name="Retângulo 4"/>
            <p:cNvSpPr/>
            <p:nvPr/>
          </p:nvSpPr>
          <p:spPr>
            <a:xfrm rot="20569596">
              <a:off x="297933" y="2814144"/>
              <a:ext cx="674819" cy="261610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r>
                <a:rPr lang="pt-BR" sz="1050" b="1" dirty="0">
                  <a:solidFill>
                    <a:srgbClr val="7030A0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Ideia</a:t>
              </a:r>
              <a:endParaRPr lang="pt-BR" sz="1200" dirty="0">
                <a:solidFill>
                  <a:srgbClr val="7030A0"/>
                </a:solidFill>
              </a:endParaRPr>
            </a:p>
          </p:txBody>
        </p:sp>
      </p:grpSp>
      <p:cxnSp>
        <p:nvCxnSpPr>
          <p:cNvPr id="57" name="Conector de Seta Reta 56"/>
          <p:cNvCxnSpPr>
            <a:stCxn id="126" idx="3"/>
            <a:endCxn id="113" idx="1"/>
          </p:cNvCxnSpPr>
          <p:nvPr/>
        </p:nvCxnSpPr>
        <p:spPr>
          <a:xfrm>
            <a:off x="7372092" y="1100594"/>
            <a:ext cx="353623" cy="1"/>
          </a:xfrm>
          <a:prstGeom prst="straightConnector1">
            <a:avLst/>
          </a:prstGeom>
          <a:ln>
            <a:solidFill>
              <a:srgbClr val="FF6600"/>
            </a:solidFill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3" name="Conector de Seta Reta 82"/>
          <p:cNvCxnSpPr>
            <a:stCxn id="62" idx="3"/>
            <a:endCxn id="55" idx="1"/>
          </p:cNvCxnSpPr>
          <p:nvPr/>
        </p:nvCxnSpPr>
        <p:spPr>
          <a:xfrm>
            <a:off x="1430919" y="3254184"/>
            <a:ext cx="929714" cy="0"/>
          </a:xfrm>
          <a:prstGeom prst="straightConnector1">
            <a:avLst/>
          </a:prstGeom>
          <a:ln>
            <a:solidFill>
              <a:srgbClr val="FF6600"/>
            </a:solidFill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9" name="Conector de Seta Reta 68"/>
          <p:cNvCxnSpPr>
            <a:stCxn id="62" idx="0"/>
            <a:endCxn id="68" idx="0"/>
          </p:cNvCxnSpPr>
          <p:nvPr/>
        </p:nvCxnSpPr>
        <p:spPr>
          <a:xfrm rot="5400000" flipH="1" flipV="1">
            <a:off x="2426974" y="393613"/>
            <a:ext cx="1019318" cy="4163428"/>
          </a:xfrm>
          <a:prstGeom prst="bentConnector3">
            <a:avLst>
              <a:gd name="adj1" fmla="val 122427"/>
            </a:avLst>
          </a:prstGeom>
          <a:ln>
            <a:solidFill>
              <a:srgbClr val="FF6600"/>
            </a:solidFill>
            <a:headEnd type="triangle" w="lg" len="lg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0" name="Conector de Seta Reta 69"/>
          <p:cNvCxnSpPr>
            <a:stCxn id="59" idx="1"/>
            <a:endCxn id="60" idx="3"/>
          </p:cNvCxnSpPr>
          <p:nvPr/>
        </p:nvCxnSpPr>
        <p:spPr>
          <a:xfrm flipH="1">
            <a:off x="3512633" y="4666917"/>
            <a:ext cx="929714" cy="0"/>
          </a:xfrm>
          <a:prstGeom prst="straightConnector1">
            <a:avLst/>
          </a:prstGeom>
          <a:ln>
            <a:solidFill>
              <a:srgbClr val="FF6600"/>
            </a:solidFill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2" name="Conector de Seta Reta 68"/>
          <p:cNvCxnSpPr>
            <a:stCxn id="55" idx="0"/>
            <a:endCxn id="68" idx="1"/>
          </p:cNvCxnSpPr>
          <p:nvPr/>
        </p:nvCxnSpPr>
        <p:spPr>
          <a:xfrm rot="5400000" flipH="1" flipV="1">
            <a:off x="3314430" y="1857069"/>
            <a:ext cx="750120" cy="1505714"/>
          </a:xfrm>
          <a:prstGeom prst="bentConnector2">
            <a:avLst/>
          </a:prstGeom>
          <a:ln>
            <a:solidFill>
              <a:srgbClr val="FF6600"/>
            </a:solidFill>
            <a:headEnd type="triangle" w="lg" len="lg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3" name="Conector de Seta Reta 68"/>
          <p:cNvCxnSpPr>
            <a:stCxn id="61" idx="0"/>
            <a:endCxn id="68" idx="0"/>
          </p:cNvCxnSpPr>
          <p:nvPr/>
        </p:nvCxnSpPr>
        <p:spPr>
          <a:xfrm rot="16200000" flipV="1">
            <a:off x="6590402" y="393613"/>
            <a:ext cx="1019318" cy="4163428"/>
          </a:xfrm>
          <a:prstGeom prst="bentConnector3">
            <a:avLst>
              <a:gd name="adj1" fmla="val 122427"/>
            </a:avLst>
          </a:prstGeom>
          <a:ln>
            <a:solidFill>
              <a:srgbClr val="FF6600"/>
            </a:solidFill>
            <a:headEnd type="triangle" w="lg" len="lg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6" name="Conector de Seta Reta 75"/>
          <p:cNvCxnSpPr>
            <a:stCxn id="55" idx="3"/>
            <a:endCxn id="58" idx="1"/>
          </p:cNvCxnSpPr>
          <p:nvPr/>
        </p:nvCxnSpPr>
        <p:spPr>
          <a:xfrm>
            <a:off x="3512633" y="3254184"/>
            <a:ext cx="929714" cy="0"/>
          </a:xfrm>
          <a:prstGeom prst="straightConnector1">
            <a:avLst/>
          </a:prstGeom>
          <a:ln>
            <a:solidFill>
              <a:srgbClr val="FF6600"/>
            </a:solidFill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0" name="Conector de Seta Reta 79"/>
          <p:cNvCxnSpPr>
            <a:stCxn id="56" idx="2"/>
            <a:endCxn id="59" idx="3"/>
          </p:cNvCxnSpPr>
          <p:nvPr/>
        </p:nvCxnSpPr>
        <p:spPr>
          <a:xfrm rot="5400000">
            <a:off x="5775436" y="3342292"/>
            <a:ext cx="1143536" cy="1505714"/>
          </a:xfrm>
          <a:prstGeom prst="bentConnector2">
            <a:avLst/>
          </a:prstGeom>
          <a:ln>
            <a:solidFill>
              <a:srgbClr val="FF6600"/>
            </a:solidFill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2" name="Conector de Seta Reta 81"/>
          <p:cNvCxnSpPr>
            <a:stCxn id="58" idx="0"/>
            <a:endCxn id="68" idx="2"/>
          </p:cNvCxnSpPr>
          <p:nvPr/>
        </p:nvCxnSpPr>
        <p:spPr>
          <a:xfrm flipV="1">
            <a:off x="5018347" y="2504063"/>
            <a:ext cx="0" cy="480923"/>
          </a:xfrm>
          <a:prstGeom prst="straightConnector1">
            <a:avLst/>
          </a:prstGeom>
          <a:ln>
            <a:solidFill>
              <a:srgbClr val="FF6600"/>
            </a:solidFill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9" name="Conector de Seta Reta 88"/>
          <p:cNvCxnSpPr>
            <a:stCxn id="63" idx="2"/>
            <a:endCxn id="93" idx="0"/>
          </p:cNvCxnSpPr>
          <p:nvPr/>
        </p:nvCxnSpPr>
        <p:spPr>
          <a:xfrm flipH="1">
            <a:off x="9169476" y="4936114"/>
            <a:ext cx="12299" cy="874337"/>
          </a:xfrm>
          <a:prstGeom prst="straightConnector1">
            <a:avLst/>
          </a:prstGeom>
          <a:ln>
            <a:solidFill>
              <a:srgbClr val="FF6600"/>
            </a:solidFill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3" name="Conector de Seta Reta 102"/>
          <p:cNvCxnSpPr>
            <a:stCxn id="64" idx="1"/>
            <a:endCxn id="67" idx="3"/>
          </p:cNvCxnSpPr>
          <p:nvPr/>
        </p:nvCxnSpPr>
        <p:spPr>
          <a:xfrm flipH="1">
            <a:off x="1434085" y="6079649"/>
            <a:ext cx="926548" cy="0"/>
          </a:xfrm>
          <a:prstGeom prst="straightConnector1">
            <a:avLst/>
          </a:prstGeom>
          <a:ln>
            <a:solidFill>
              <a:srgbClr val="FF6600"/>
            </a:solidFill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9" name="Conector de Seta Reta 108"/>
          <p:cNvCxnSpPr>
            <a:stCxn id="67" idx="0"/>
            <a:endCxn id="60" idx="1"/>
          </p:cNvCxnSpPr>
          <p:nvPr/>
        </p:nvCxnSpPr>
        <p:spPr>
          <a:xfrm rot="5400000" flipH="1" flipV="1">
            <a:off x="1037592" y="4487410"/>
            <a:ext cx="1143534" cy="1502548"/>
          </a:xfrm>
          <a:prstGeom prst="bentConnector2">
            <a:avLst/>
          </a:prstGeom>
          <a:ln>
            <a:solidFill>
              <a:srgbClr val="FF6600"/>
            </a:solidFill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2" name="Fluxograma: Processo 61"/>
          <p:cNvSpPr/>
          <p:nvPr/>
        </p:nvSpPr>
        <p:spPr>
          <a:xfrm>
            <a:off x="278919" y="2984986"/>
            <a:ext cx="1152000" cy="538395"/>
          </a:xfrm>
          <a:prstGeom prst="flowChartProcess">
            <a:avLst/>
          </a:prstGeom>
          <a:solidFill>
            <a:srgbClr val="7030A0"/>
          </a:solidFill>
          <a:ln/>
        </p:spPr>
        <p:style>
          <a:lnRef idx="1">
            <a:schemeClr val="accent4"/>
          </a:lnRef>
          <a:fillRef idx="3">
            <a:schemeClr val="accent4"/>
          </a:fillRef>
          <a:effectRef idx="2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1000" b="1" dirty="0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Segoe UI" panose="020B0502040204020203" pitchFamily="34" charset="0"/>
                <a:cs typeface="Segoe UI" panose="020B0502040204020203" pitchFamily="34" charset="0"/>
              </a:rPr>
              <a:t>ABERTA</a:t>
            </a:r>
            <a:endParaRPr lang="en-US" sz="1000" b="1" dirty="0">
              <a:solidFill>
                <a:schemeClr val="bg1">
                  <a:lumMod val="95000"/>
                </a:schemeClr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55" name="Fluxograma: Processo 54"/>
          <p:cNvSpPr/>
          <p:nvPr/>
        </p:nvSpPr>
        <p:spPr>
          <a:xfrm>
            <a:off x="2360633" y="2984986"/>
            <a:ext cx="1152000" cy="538395"/>
          </a:xfrm>
          <a:prstGeom prst="flowChartProcess">
            <a:avLst/>
          </a:prstGeom>
          <a:solidFill>
            <a:srgbClr val="7030A0"/>
          </a:solidFill>
          <a:ln/>
        </p:spPr>
        <p:style>
          <a:lnRef idx="1">
            <a:schemeClr val="accent4"/>
          </a:lnRef>
          <a:fillRef idx="3">
            <a:schemeClr val="accent4"/>
          </a:fillRef>
          <a:effectRef idx="2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1000" b="1" dirty="0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Segoe UI" panose="020B0502040204020203" pitchFamily="34" charset="0"/>
                <a:cs typeface="Segoe UI" panose="020B0502040204020203" pitchFamily="34" charset="0"/>
              </a:rPr>
              <a:t>EM ESTIMATIVA</a:t>
            </a:r>
            <a:endParaRPr lang="en-US" sz="1000" b="1" dirty="0">
              <a:solidFill>
                <a:schemeClr val="bg1">
                  <a:lumMod val="95000"/>
                </a:schemeClr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58" name="Fluxograma: Processo 57"/>
          <p:cNvSpPr/>
          <p:nvPr/>
        </p:nvSpPr>
        <p:spPr>
          <a:xfrm>
            <a:off x="4442347" y="2984986"/>
            <a:ext cx="1152000" cy="538395"/>
          </a:xfrm>
          <a:prstGeom prst="flowChartProcess">
            <a:avLst/>
          </a:prstGeom>
          <a:solidFill>
            <a:srgbClr val="7030A0"/>
          </a:solidFill>
          <a:ln/>
        </p:spPr>
        <p:style>
          <a:lnRef idx="1">
            <a:schemeClr val="accent4"/>
          </a:lnRef>
          <a:fillRef idx="3">
            <a:schemeClr val="accent4"/>
          </a:fillRef>
          <a:effectRef idx="2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1000" b="1" dirty="0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Segoe UI" panose="020B0502040204020203" pitchFamily="34" charset="0"/>
                <a:cs typeface="Segoe UI" panose="020B0502040204020203" pitchFamily="34" charset="0"/>
              </a:rPr>
              <a:t>ESTIMADA</a:t>
            </a:r>
            <a:endParaRPr lang="en-US" sz="1000" b="1" dirty="0">
              <a:solidFill>
                <a:schemeClr val="bg1">
                  <a:lumMod val="95000"/>
                </a:schemeClr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60" name="Fluxograma: Processo 59"/>
          <p:cNvSpPr/>
          <p:nvPr/>
        </p:nvSpPr>
        <p:spPr>
          <a:xfrm>
            <a:off x="2360633" y="4397719"/>
            <a:ext cx="1152000" cy="538395"/>
          </a:xfrm>
          <a:prstGeom prst="flowChartProcess">
            <a:avLst/>
          </a:prstGeom>
          <a:solidFill>
            <a:srgbClr val="7030A0"/>
          </a:solidFill>
          <a:ln/>
        </p:spPr>
        <p:style>
          <a:lnRef idx="1">
            <a:schemeClr val="accent4"/>
          </a:lnRef>
          <a:fillRef idx="3">
            <a:schemeClr val="accent4"/>
          </a:fillRef>
          <a:effectRef idx="2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1000" b="1" dirty="0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Segoe UI" panose="020B0502040204020203" pitchFamily="34" charset="0"/>
                <a:cs typeface="Segoe UI" panose="020B0502040204020203" pitchFamily="34" charset="0"/>
              </a:rPr>
              <a:t>FECHADA</a:t>
            </a:r>
            <a:endParaRPr lang="en-US" sz="1000" b="1" dirty="0">
              <a:solidFill>
                <a:schemeClr val="bg1">
                  <a:lumMod val="95000"/>
                </a:schemeClr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61" name="Fluxograma: Processo 60"/>
          <p:cNvSpPr/>
          <p:nvPr/>
        </p:nvSpPr>
        <p:spPr>
          <a:xfrm>
            <a:off x="8605775" y="2984986"/>
            <a:ext cx="1152000" cy="538395"/>
          </a:xfrm>
          <a:prstGeom prst="flowChartProcess">
            <a:avLst/>
          </a:prstGeom>
          <a:solidFill>
            <a:srgbClr val="7030A0"/>
          </a:solidFill>
          <a:ln/>
        </p:spPr>
        <p:style>
          <a:lnRef idx="1">
            <a:schemeClr val="accent4"/>
          </a:lnRef>
          <a:fillRef idx="3">
            <a:schemeClr val="accent4"/>
          </a:fillRef>
          <a:effectRef idx="2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1000" b="1" dirty="0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Segoe UI" panose="020B0502040204020203" pitchFamily="34" charset="0"/>
                <a:cs typeface="Segoe UI" panose="020B0502040204020203" pitchFamily="34" charset="0"/>
              </a:rPr>
              <a:t>EF EM ELABORAÇÃO</a:t>
            </a:r>
            <a:endParaRPr lang="en-US" sz="1000" b="1" dirty="0">
              <a:solidFill>
                <a:schemeClr val="bg1">
                  <a:lumMod val="95000"/>
                </a:schemeClr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63" name="Fluxograma: Processo 62"/>
          <p:cNvSpPr/>
          <p:nvPr/>
        </p:nvSpPr>
        <p:spPr>
          <a:xfrm>
            <a:off x="8605775" y="4397719"/>
            <a:ext cx="1152000" cy="538395"/>
          </a:xfrm>
          <a:prstGeom prst="flowChartProcess">
            <a:avLst/>
          </a:prstGeom>
          <a:solidFill>
            <a:srgbClr val="7030A0"/>
          </a:solidFill>
          <a:ln/>
        </p:spPr>
        <p:style>
          <a:lnRef idx="1">
            <a:schemeClr val="accent4"/>
          </a:lnRef>
          <a:fillRef idx="3">
            <a:schemeClr val="accent4"/>
          </a:fillRef>
          <a:effectRef idx="2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1000" b="1" dirty="0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Segoe UI" panose="020B0502040204020203" pitchFamily="34" charset="0"/>
                <a:cs typeface="Segoe UI" panose="020B0502040204020203" pitchFamily="34" charset="0"/>
              </a:rPr>
              <a:t>EF EM VALIDAÇÃO NEGÓCIO</a:t>
            </a:r>
            <a:endParaRPr lang="en-US" sz="1000" b="1" dirty="0">
              <a:solidFill>
                <a:schemeClr val="bg1">
                  <a:lumMod val="95000"/>
                </a:schemeClr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64" name="Fluxograma: Processo 63"/>
          <p:cNvSpPr/>
          <p:nvPr/>
        </p:nvSpPr>
        <p:spPr>
          <a:xfrm>
            <a:off x="2360633" y="5810451"/>
            <a:ext cx="1152000" cy="538395"/>
          </a:xfrm>
          <a:prstGeom prst="flowChartProcess">
            <a:avLst/>
          </a:prstGeom>
          <a:solidFill>
            <a:srgbClr val="7030A0"/>
          </a:solidFill>
          <a:ln/>
        </p:spPr>
        <p:style>
          <a:lnRef idx="1">
            <a:schemeClr val="accent4"/>
          </a:lnRef>
          <a:fillRef idx="3">
            <a:schemeClr val="accent4"/>
          </a:fillRef>
          <a:effectRef idx="2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1000" b="1" dirty="0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Segoe UI" panose="020B0502040204020203" pitchFamily="34" charset="0"/>
                <a:cs typeface="Segoe UI" panose="020B0502040204020203" pitchFamily="34" charset="0"/>
              </a:rPr>
              <a:t>AGUARDANDO COMEX</a:t>
            </a:r>
            <a:endParaRPr lang="en-US" sz="1000" b="1" dirty="0">
              <a:solidFill>
                <a:schemeClr val="bg1">
                  <a:lumMod val="95000"/>
                </a:schemeClr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67" name="Fluxograma: Processo 66"/>
          <p:cNvSpPr/>
          <p:nvPr/>
        </p:nvSpPr>
        <p:spPr>
          <a:xfrm>
            <a:off x="282085" y="5810451"/>
            <a:ext cx="1152000" cy="538395"/>
          </a:xfrm>
          <a:prstGeom prst="flowChartProcess">
            <a:avLst/>
          </a:prstGeom>
          <a:solidFill>
            <a:srgbClr val="7030A0"/>
          </a:solidFill>
          <a:ln/>
        </p:spPr>
        <p:style>
          <a:lnRef idx="1">
            <a:schemeClr val="accent4"/>
          </a:lnRef>
          <a:fillRef idx="3">
            <a:schemeClr val="accent4"/>
          </a:fillRef>
          <a:effectRef idx="2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1000" b="1" dirty="0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Segoe UI" panose="020B0502040204020203" pitchFamily="34" charset="0"/>
                <a:cs typeface="Segoe UI" panose="020B0502040204020203" pitchFamily="34" charset="0"/>
              </a:rPr>
              <a:t>ENVIADA COMO PROJETO</a:t>
            </a:r>
            <a:endParaRPr lang="en-US" sz="1000" b="1" dirty="0">
              <a:solidFill>
                <a:schemeClr val="bg1">
                  <a:lumMod val="95000"/>
                </a:schemeClr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68" name="Fluxograma: Processo 67"/>
          <p:cNvSpPr/>
          <p:nvPr/>
        </p:nvSpPr>
        <p:spPr>
          <a:xfrm>
            <a:off x="4442347" y="1965668"/>
            <a:ext cx="1152000" cy="538395"/>
          </a:xfrm>
          <a:prstGeom prst="flowChartProcess">
            <a:avLst/>
          </a:prstGeom>
          <a:solidFill>
            <a:srgbClr val="7030A0"/>
          </a:solidFill>
          <a:ln/>
        </p:spPr>
        <p:style>
          <a:lnRef idx="1">
            <a:schemeClr val="accent4"/>
          </a:lnRef>
          <a:fillRef idx="3">
            <a:schemeClr val="accent4"/>
          </a:fillRef>
          <a:effectRef idx="2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1000" b="1" dirty="0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Segoe UI" panose="020B0502040204020203" pitchFamily="34" charset="0"/>
                <a:cs typeface="Segoe UI" panose="020B0502040204020203" pitchFamily="34" charset="0"/>
              </a:rPr>
              <a:t>PENDENTE USUÁRIO</a:t>
            </a:r>
            <a:endParaRPr lang="en-US" sz="1000" b="1" dirty="0">
              <a:solidFill>
                <a:schemeClr val="bg1">
                  <a:lumMod val="95000"/>
                </a:schemeClr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59" name="Fluxograma: Processo 58"/>
          <p:cNvSpPr/>
          <p:nvPr/>
        </p:nvSpPr>
        <p:spPr>
          <a:xfrm>
            <a:off x="4442347" y="4397719"/>
            <a:ext cx="1152000" cy="538395"/>
          </a:xfrm>
          <a:prstGeom prst="flowChartProcess">
            <a:avLst/>
          </a:prstGeom>
          <a:solidFill>
            <a:srgbClr val="7030A0"/>
          </a:solidFill>
          <a:ln/>
        </p:spPr>
        <p:style>
          <a:lnRef idx="1">
            <a:schemeClr val="accent4"/>
          </a:lnRef>
          <a:fillRef idx="3">
            <a:schemeClr val="accent4"/>
          </a:fillRef>
          <a:effectRef idx="2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1000" b="1" dirty="0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Segoe UI" panose="020B0502040204020203" pitchFamily="34" charset="0"/>
                <a:cs typeface="Segoe UI" panose="020B0502040204020203" pitchFamily="34" charset="0"/>
              </a:rPr>
              <a:t>ENVIADA COMO MELHORIA</a:t>
            </a:r>
            <a:endParaRPr lang="en-US" sz="1000" b="1" dirty="0">
              <a:solidFill>
                <a:schemeClr val="bg1">
                  <a:lumMod val="95000"/>
                </a:schemeClr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cxnSp>
        <p:nvCxnSpPr>
          <p:cNvPr id="112" name="Conector de Seta Reta 111"/>
          <p:cNvCxnSpPr>
            <a:stCxn id="64" idx="0"/>
            <a:endCxn id="60" idx="2"/>
          </p:cNvCxnSpPr>
          <p:nvPr/>
        </p:nvCxnSpPr>
        <p:spPr>
          <a:xfrm flipV="1">
            <a:off x="2936633" y="4936114"/>
            <a:ext cx="0" cy="874337"/>
          </a:xfrm>
          <a:prstGeom prst="straightConnector1">
            <a:avLst/>
          </a:prstGeom>
          <a:ln>
            <a:solidFill>
              <a:srgbClr val="FF6600"/>
            </a:solidFill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3" name="Fluxograma: Processo 112"/>
          <p:cNvSpPr/>
          <p:nvPr/>
        </p:nvSpPr>
        <p:spPr>
          <a:xfrm>
            <a:off x="7725715" y="831397"/>
            <a:ext cx="1152000" cy="538395"/>
          </a:xfrm>
          <a:prstGeom prst="flowChartProcess">
            <a:avLst/>
          </a:prstGeom>
          <a:solidFill>
            <a:srgbClr val="7030A0"/>
          </a:solidFill>
          <a:ln/>
        </p:spPr>
        <p:style>
          <a:lnRef idx="1">
            <a:schemeClr val="accent4"/>
          </a:lnRef>
          <a:fillRef idx="3">
            <a:schemeClr val="accent4"/>
          </a:fillRef>
          <a:effectRef idx="2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1000" b="1" dirty="0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Segoe UI" panose="020B0502040204020203" pitchFamily="34" charset="0"/>
                <a:cs typeface="Segoe UI" panose="020B0502040204020203" pitchFamily="34" charset="0"/>
              </a:rPr>
              <a:t>CANCELADA</a:t>
            </a:r>
            <a:endParaRPr lang="en-US" sz="1000" b="1" dirty="0">
              <a:solidFill>
                <a:schemeClr val="bg1">
                  <a:lumMod val="95000"/>
                </a:schemeClr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126" name="Retângulo 125"/>
          <p:cNvSpPr/>
          <p:nvPr/>
        </p:nvSpPr>
        <p:spPr>
          <a:xfrm>
            <a:off x="6613551" y="823595"/>
            <a:ext cx="758541" cy="55399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r"/>
            <a:r>
              <a:rPr lang="pt-BR" sz="1000" b="1" i="1" dirty="0">
                <a:solidFill>
                  <a:srgbClr val="7030A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Vem de </a:t>
            </a:r>
          </a:p>
          <a:p>
            <a:pPr algn="r"/>
            <a:r>
              <a:rPr lang="pt-BR" sz="1000" b="1" i="1" dirty="0">
                <a:solidFill>
                  <a:srgbClr val="7030A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qualquer </a:t>
            </a:r>
          </a:p>
          <a:p>
            <a:pPr algn="r"/>
            <a:r>
              <a:rPr lang="pt-BR" sz="1000" b="1" i="1" dirty="0">
                <a:solidFill>
                  <a:srgbClr val="7030A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Status</a:t>
            </a:r>
            <a:endParaRPr lang="pt-BR" sz="1000" i="1" dirty="0">
              <a:solidFill>
                <a:srgbClr val="7030A0"/>
              </a:solidFill>
            </a:endParaRPr>
          </a:p>
        </p:txBody>
      </p:sp>
      <p:sp>
        <p:nvSpPr>
          <p:cNvPr id="127" name="Retângulo 126"/>
          <p:cNvSpPr/>
          <p:nvPr/>
        </p:nvSpPr>
        <p:spPr>
          <a:xfrm>
            <a:off x="9215654" y="900539"/>
            <a:ext cx="772969" cy="4001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pt-BR" sz="1000" b="1" i="1" dirty="0">
                <a:solidFill>
                  <a:srgbClr val="7030A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Vai para </a:t>
            </a:r>
          </a:p>
          <a:p>
            <a:r>
              <a:rPr lang="pt-BR" sz="1000" b="1" dirty="0">
                <a:solidFill>
                  <a:srgbClr val="7030A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FECHADA</a:t>
            </a:r>
            <a:endParaRPr lang="pt-BR" sz="1000" b="1" dirty="0">
              <a:solidFill>
                <a:srgbClr val="7030A0"/>
              </a:solidFill>
            </a:endParaRPr>
          </a:p>
        </p:txBody>
      </p:sp>
      <p:cxnSp>
        <p:nvCxnSpPr>
          <p:cNvPr id="128" name="Conector de Seta Reta 127"/>
          <p:cNvCxnSpPr>
            <a:stCxn id="113" idx="3"/>
            <a:endCxn id="127" idx="1"/>
          </p:cNvCxnSpPr>
          <p:nvPr/>
        </p:nvCxnSpPr>
        <p:spPr>
          <a:xfrm flipV="1">
            <a:off x="8877715" y="1100594"/>
            <a:ext cx="337939" cy="1"/>
          </a:xfrm>
          <a:prstGeom prst="straightConnector1">
            <a:avLst/>
          </a:prstGeom>
          <a:ln>
            <a:solidFill>
              <a:srgbClr val="FF6600"/>
            </a:solidFill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1" name="Retângulo 130"/>
          <p:cNvSpPr/>
          <p:nvPr/>
        </p:nvSpPr>
        <p:spPr>
          <a:xfrm>
            <a:off x="1306995" y="3270144"/>
            <a:ext cx="986167" cy="50783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r"/>
            <a:r>
              <a:rPr lang="pt-BR" sz="9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Solicitar</a:t>
            </a:r>
          </a:p>
          <a:p>
            <a:pPr algn="r"/>
            <a:r>
              <a:rPr lang="pt-BR" sz="9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Estimativa </a:t>
            </a:r>
          </a:p>
          <a:p>
            <a:pPr algn="r"/>
            <a:r>
              <a:rPr lang="pt-BR" sz="9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da Arquitetura</a:t>
            </a:r>
            <a:endParaRPr lang="pt-BR" sz="900" b="1" dirty="0"/>
          </a:p>
        </p:txBody>
      </p:sp>
      <p:sp>
        <p:nvSpPr>
          <p:cNvPr id="132" name="Retângulo 131"/>
          <p:cNvSpPr/>
          <p:nvPr/>
        </p:nvSpPr>
        <p:spPr>
          <a:xfrm>
            <a:off x="3622103" y="3270144"/>
            <a:ext cx="744114" cy="50783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r"/>
            <a:r>
              <a:rPr lang="pt-BR" sz="9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Enviar</a:t>
            </a:r>
          </a:p>
          <a:p>
            <a:pPr algn="r"/>
            <a:r>
              <a:rPr lang="pt-BR" sz="9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Estimativa</a:t>
            </a:r>
          </a:p>
          <a:p>
            <a:pPr algn="r"/>
            <a:r>
              <a:rPr lang="pt-BR" sz="9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para PMO</a:t>
            </a:r>
          </a:p>
        </p:txBody>
      </p:sp>
      <p:sp>
        <p:nvSpPr>
          <p:cNvPr id="133" name="Retângulo 132"/>
          <p:cNvSpPr/>
          <p:nvPr/>
        </p:nvSpPr>
        <p:spPr>
          <a:xfrm>
            <a:off x="7703367" y="3270144"/>
            <a:ext cx="856293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r"/>
            <a:r>
              <a:rPr lang="pt-BR" sz="9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Solicitar EF do Projeto</a:t>
            </a:r>
          </a:p>
        </p:txBody>
      </p:sp>
      <p:sp>
        <p:nvSpPr>
          <p:cNvPr id="134" name="Retângulo 133"/>
          <p:cNvSpPr/>
          <p:nvPr/>
        </p:nvSpPr>
        <p:spPr>
          <a:xfrm>
            <a:off x="7935211" y="3976725"/>
            <a:ext cx="1248898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r"/>
            <a:r>
              <a:rPr lang="pt-BR" sz="9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Solicitar Validação</a:t>
            </a:r>
          </a:p>
          <a:p>
            <a:pPr algn="r"/>
            <a:r>
              <a:rPr lang="pt-BR" sz="9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Negócio</a:t>
            </a:r>
          </a:p>
        </p:txBody>
      </p:sp>
      <p:sp>
        <p:nvSpPr>
          <p:cNvPr id="135" name="Retângulo 134"/>
          <p:cNvSpPr/>
          <p:nvPr/>
        </p:nvSpPr>
        <p:spPr>
          <a:xfrm>
            <a:off x="9158093" y="5246645"/>
            <a:ext cx="867761" cy="50783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pt-BR" sz="9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Solicitar Validação Arquitetura</a:t>
            </a:r>
          </a:p>
        </p:txBody>
      </p:sp>
      <p:sp>
        <p:nvSpPr>
          <p:cNvPr id="136" name="Retângulo 135"/>
          <p:cNvSpPr/>
          <p:nvPr/>
        </p:nvSpPr>
        <p:spPr>
          <a:xfrm>
            <a:off x="1509847" y="6094873"/>
            <a:ext cx="1119933" cy="50783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pt-BR" sz="9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Projeto Aprovado COMEX</a:t>
            </a:r>
          </a:p>
        </p:txBody>
      </p:sp>
      <p:sp>
        <p:nvSpPr>
          <p:cNvPr id="137" name="Retângulo 136"/>
          <p:cNvSpPr/>
          <p:nvPr/>
        </p:nvSpPr>
        <p:spPr>
          <a:xfrm>
            <a:off x="2948017" y="5033424"/>
            <a:ext cx="934110" cy="50783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pt-BR" sz="9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Projeto </a:t>
            </a:r>
          </a:p>
          <a:p>
            <a:r>
              <a:rPr lang="pt-BR" sz="9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Reprovado</a:t>
            </a:r>
          </a:p>
          <a:p>
            <a:r>
              <a:rPr lang="pt-BR" sz="9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COMEX</a:t>
            </a:r>
          </a:p>
        </p:txBody>
      </p:sp>
      <p:sp>
        <p:nvSpPr>
          <p:cNvPr id="138" name="Retângulo 137"/>
          <p:cNvSpPr/>
          <p:nvPr/>
        </p:nvSpPr>
        <p:spPr>
          <a:xfrm>
            <a:off x="6126539" y="4143803"/>
            <a:ext cx="978961" cy="50783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r"/>
            <a:r>
              <a:rPr lang="pt-BR" sz="9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Enviar para Fila de Melhorias</a:t>
            </a:r>
          </a:p>
        </p:txBody>
      </p:sp>
      <p:sp>
        <p:nvSpPr>
          <p:cNvPr id="139" name="Retângulo 138"/>
          <p:cNvSpPr/>
          <p:nvPr/>
        </p:nvSpPr>
        <p:spPr>
          <a:xfrm>
            <a:off x="3555717" y="4247518"/>
            <a:ext cx="1295336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pt-BR" sz="9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Fechar a </a:t>
            </a:r>
          </a:p>
          <a:p>
            <a:r>
              <a:rPr lang="pt-BR" sz="9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Ideia</a:t>
            </a:r>
          </a:p>
        </p:txBody>
      </p:sp>
      <p:sp>
        <p:nvSpPr>
          <p:cNvPr id="141" name="Retângulo 140"/>
          <p:cNvSpPr/>
          <p:nvPr/>
        </p:nvSpPr>
        <p:spPr>
          <a:xfrm>
            <a:off x="2910221" y="2516933"/>
            <a:ext cx="956126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pt-BR" sz="9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Retornar para  </a:t>
            </a:r>
          </a:p>
          <a:p>
            <a:r>
              <a:rPr lang="pt-BR" sz="9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Arquitetura</a:t>
            </a:r>
          </a:p>
        </p:txBody>
      </p:sp>
      <p:sp>
        <p:nvSpPr>
          <p:cNvPr id="56" name="Fluxograma: Processo 55"/>
          <p:cNvSpPr/>
          <p:nvPr/>
        </p:nvSpPr>
        <p:spPr>
          <a:xfrm>
            <a:off x="6524061" y="2984986"/>
            <a:ext cx="1152000" cy="538395"/>
          </a:xfrm>
          <a:prstGeom prst="flowChartProcess">
            <a:avLst/>
          </a:prstGeom>
          <a:solidFill>
            <a:srgbClr val="7030A0"/>
          </a:solidFill>
          <a:ln/>
        </p:spPr>
        <p:style>
          <a:lnRef idx="1">
            <a:schemeClr val="accent4"/>
          </a:lnRef>
          <a:fillRef idx="3">
            <a:schemeClr val="accent4"/>
          </a:fillRef>
          <a:effectRef idx="2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1000" b="1" dirty="0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Segoe UI" panose="020B0502040204020203" pitchFamily="34" charset="0"/>
                <a:cs typeface="Segoe UI" panose="020B0502040204020203" pitchFamily="34" charset="0"/>
              </a:rPr>
              <a:t>ESTIMATIVA ACEITA</a:t>
            </a:r>
            <a:endParaRPr lang="en-US" sz="1000" b="1" dirty="0">
              <a:solidFill>
                <a:schemeClr val="bg1">
                  <a:lumMod val="95000"/>
                </a:schemeClr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cxnSp>
        <p:nvCxnSpPr>
          <p:cNvPr id="74" name="Conector de Seta Reta 73"/>
          <p:cNvCxnSpPr>
            <a:stCxn id="56" idx="3"/>
            <a:endCxn id="61" idx="1"/>
          </p:cNvCxnSpPr>
          <p:nvPr/>
        </p:nvCxnSpPr>
        <p:spPr>
          <a:xfrm>
            <a:off x="7676061" y="3254184"/>
            <a:ext cx="929714" cy="0"/>
          </a:xfrm>
          <a:prstGeom prst="straightConnector1">
            <a:avLst/>
          </a:prstGeom>
          <a:ln>
            <a:solidFill>
              <a:srgbClr val="FF6600"/>
            </a:solidFill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3" name="Fluxograma: Processo 92"/>
          <p:cNvSpPr/>
          <p:nvPr/>
        </p:nvSpPr>
        <p:spPr>
          <a:xfrm>
            <a:off x="8593476" y="5810451"/>
            <a:ext cx="1152000" cy="538395"/>
          </a:xfrm>
          <a:prstGeom prst="flowChartProcess">
            <a:avLst/>
          </a:prstGeom>
          <a:solidFill>
            <a:srgbClr val="7030A0"/>
          </a:solidFill>
          <a:ln/>
        </p:spPr>
        <p:style>
          <a:lnRef idx="1">
            <a:schemeClr val="accent4"/>
          </a:lnRef>
          <a:fillRef idx="3">
            <a:schemeClr val="accent4"/>
          </a:fillRef>
          <a:effectRef idx="2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1000" b="1" dirty="0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Segoe UI" panose="020B0502040204020203" pitchFamily="34" charset="0"/>
                <a:cs typeface="Segoe UI" panose="020B0502040204020203" pitchFamily="34" charset="0"/>
              </a:rPr>
              <a:t>EF EM VALIDAÇÃO ARQUITETURA</a:t>
            </a:r>
            <a:endParaRPr lang="en-US" sz="1000" b="1" dirty="0">
              <a:solidFill>
                <a:schemeClr val="bg1">
                  <a:lumMod val="95000"/>
                </a:schemeClr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94" name="Fluxograma: Processo 93"/>
          <p:cNvSpPr/>
          <p:nvPr/>
        </p:nvSpPr>
        <p:spPr>
          <a:xfrm>
            <a:off x="6524061" y="5810451"/>
            <a:ext cx="1152000" cy="538395"/>
          </a:xfrm>
          <a:prstGeom prst="flowChartProcess">
            <a:avLst/>
          </a:prstGeom>
          <a:solidFill>
            <a:srgbClr val="7030A0"/>
          </a:solidFill>
          <a:ln/>
        </p:spPr>
        <p:style>
          <a:lnRef idx="1">
            <a:schemeClr val="accent4"/>
          </a:lnRef>
          <a:fillRef idx="3">
            <a:schemeClr val="accent4"/>
          </a:fillRef>
          <a:effectRef idx="2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1000" b="1" dirty="0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Segoe UI" panose="020B0502040204020203" pitchFamily="34" charset="0"/>
                <a:cs typeface="Segoe UI" panose="020B0502040204020203" pitchFamily="34" charset="0"/>
              </a:rPr>
              <a:t>DESENHO DA SOLUÇÃO</a:t>
            </a:r>
            <a:endParaRPr lang="en-US" sz="1000" b="1" dirty="0">
              <a:solidFill>
                <a:schemeClr val="bg1">
                  <a:lumMod val="95000"/>
                </a:schemeClr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95" name="Fluxograma: Processo 94"/>
          <p:cNvSpPr/>
          <p:nvPr/>
        </p:nvSpPr>
        <p:spPr>
          <a:xfrm>
            <a:off x="4427396" y="5810451"/>
            <a:ext cx="1152000" cy="538395"/>
          </a:xfrm>
          <a:prstGeom prst="flowChartProcess">
            <a:avLst/>
          </a:prstGeom>
          <a:solidFill>
            <a:srgbClr val="7030A0"/>
          </a:solidFill>
          <a:ln/>
        </p:spPr>
        <p:style>
          <a:lnRef idx="1">
            <a:schemeClr val="accent4"/>
          </a:lnRef>
          <a:fillRef idx="3">
            <a:schemeClr val="accent4"/>
          </a:fillRef>
          <a:effectRef idx="2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1000" b="1" dirty="0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Segoe UI" panose="020B0502040204020203" pitchFamily="34" charset="0"/>
                <a:cs typeface="Segoe UI" panose="020B0502040204020203" pitchFamily="34" charset="0"/>
              </a:rPr>
              <a:t>ESTIMATIVA REFINADA</a:t>
            </a:r>
            <a:endParaRPr lang="en-US" sz="1000" b="1" dirty="0">
              <a:solidFill>
                <a:schemeClr val="bg1">
                  <a:lumMod val="95000"/>
                </a:schemeClr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cxnSp>
        <p:nvCxnSpPr>
          <p:cNvPr id="110" name="Conector de Seta Reta 109"/>
          <p:cNvCxnSpPr>
            <a:stCxn id="93" idx="1"/>
            <a:endCxn id="94" idx="3"/>
          </p:cNvCxnSpPr>
          <p:nvPr/>
        </p:nvCxnSpPr>
        <p:spPr>
          <a:xfrm flipH="1">
            <a:off x="7676061" y="6079649"/>
            <a:ext cx="917415" cy="0"/>
          </a:xfrm>
          <a:prstGeom prst="straightConnector1">
            <a:avLst/>
          </a:prstGeom>
          <a:ln>
            <a:solidFill>
              <a:srgbClr val="FF6600"/>
            </a:solidFill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4" name="Conector de Seta Reta 113"/>
          <p:cNvCxnSpPr>
            <a:stCxn id="94" idx="1"/>
            <a:endCxn id="95" idx="3"/>
          </p:cNvCxnSpPr>
          <p:nvPr/>
        </p:nvCxnSpPr>
        <p:spPr>
          <a:xfrm flipH="1">
            <a:off x="5579396" y="6079649"/>
            <a:ext cx="944665" cy="0"/>
          </a:xfrm>
          <a:prstGeom prst="straightConnector1">
            <a:avLst/>
          </a:prstGeom>
          <a:ln>
            <a:solidFill>
              <a:srgbClr val="FF6600"/>
            </a:solidFill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5" name="Conector de Seta Reta 114"/>
          <p:cNvCxnSpPr>
            <a:stCxn id="95" idx="1"/>
            <a:endCxn id="64" idx="3"/>
          </p:cNvCxnSpPr>
          <p:nvPr/>
        </p:nvCxnSpPr>
        <p:spPr>
          <a:xfrm flipH="1">
            <a:off x="3512633" y="6079649"/>
            <a:ext cx="914763" cy="0"/>
          </a:xfrm>
          <a:prstGeom prst="straightConnector1">
            <a:avLst/>
          </a:prstGeom>
          <a:ln>
            <a:solidFill>
              <a:srgbClr val="FF6600"/>
            </a:solidFill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9" name="Retângulo 148"/>
          <p:cNvSpPr/>
          <p:nvPr/>
        </p:nvSpPr>
        <p:spPr>
          <a:xfrm>
            <a:off x="4998750" y="2620343"/>
            <a:ext cx="1107235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pt-BR" sz="9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Solicitar Aceite </a:t>
            </a:r>
          </a:p>
          <a:p>
            <a:r>
              <a:rPr lang="pt-BR" sz="9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do Usuário</a:t>
            </a:r>
          </a:p>
        </p:txBody>
      </p:sp>
      <p:cxnSp>
        <p:nvCxnSpPr>
          <p:cNvPr id="150" name="Conector de Seta Reta 68"/>
          <p:cNvCxnSpPr>
            <a:stCxn id="56" idx="0"/>
            <a:endCxn id="68" idx="3"/>
          </p:cNvCxnSpPr>
          <p:nvPr/>
        </p:nvCxnSpPr>
        <p:spPr>
          <a:xfrm rot="16200000" flipV="1">
            <a:off x="5972144" y="1857069"/>
            <a:ext cx="750120" cy="1505714"/>
          </a:xfrm>
          <a:prstGeom prst="bentConnector2">
            <a:avLst/>
          </a:prstGeom>
          <a:ln>
            <a:solidFill>
              <a:srgbClr val="FF6600"/>
            </a:solidFill>
            <a:headEnd type="triangle" w="lg" len="lg"/>
            <a:tailEnd type="non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9" name="Retângulo 158"/>
          <p:cNvSpPr/>
          <p:nvPr/>
        </p:nvSpPr>
        <p:spPr>
          <a:xfrm>
            <a:off x="7105500" y="2517327"/>
            <a:ext cx="780227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pt-BR" sz="9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Aceitar Estimativa</a:t>
            </a:r>
          </a:p>
        </p:txBody>
      </p:sp>
      <p:sp>
        <p:nvSpPr>
          <p:cNvPr id="160" name="Fluxograma: Processo 159"/>
          <p:cNvSpPr/>
          <p:nvPr/>
        </p:nvSpPr>
        <p:spPr>
          <a:xfrm>
            <a:off x="278919" y="3452081"/>
            <a:ext cx="612000" cy="216000"/>
          </a:xfrm>
          <a:prstGeom prst="flowChartProcess">
            <a:avLst/>
          </a:prstGeom>
          <a:solidFill>
            <a:srgbClr val="00B050"/>
          </a:solidFill>
          <a:ln>
            <a:solidFill>
              <a:schemeClr val="bg1"/>
            </a:solidFill>
          </a:ln>
          <a:effectLst/>
        </p:spPr>
        <p:style>
          <a:lnRef idx="1">
            <a:schemeClr val="accent4"/>
          </a:lnRef>
          <a:fillRef idx="3">
            <a:schemeClr val="accent4"/>
          </a:fillRef>
          <a:effectRef idx="2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1000" b="1" dirty="0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Segoe UI" panose="020B0502040204020203" pitchFamily="34" charset="0"/>
                <a:cs typeface="Segoe UI" panose="020B0502040204020203" pitchFamily="34" charset="0"/>
              </a:rPr>
              <a:t>INÍCIO</a:t>
            </a:r>
            <a:endParaRPr lang="en-US" sz="1000" b="1" dirty="0">
              <a:solidFill>
                <a:schemeClr val="bg1">
                  <a:lumMod val="95000"/>
                </a:schemeClr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161" name="Fluxograma: Processo 160"/>
          <p:cNvSpPr/>
          <p:nvPr/>
        </p:nvSpPr>
        <p:spPr>
          <a:xfrm>
            <a:off x="2360633" y="4854712"/>
            <a:ext cx="432000" cy="216000"/>
          </a:xfrm>
          <a:prstGeom prst="flowChartProcess">
            <a:avLst/>
          </a:prstGeom>
          <a:solidFill>
            <a:srgbClr val="C00000"/>
          </a:solidFill>
          <a:ln>
            <a:solidFill>
              <a:schemeClr val="bg1"/>
            </a:solidFill>
          </a:ln>
          <a:effectLst/>
        </p:spPr>
        <p:style>
          <a:lnRef idx="1">
            <a:schemeClr val="accent4"/>
          </a:lnRef>
          <a:fillRef idx="3">
            <a:schemeClr val="accent4"/>
          </a:fillRef>
          <a:effectRef idx="2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1000" b="1" dirty="0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Segoe UI" panose="020B0502040204020203" pitchFamily="34" charset="0"/>
                <a:cs typeface="Segoe UI" panose="020B0502040204020203" pitchFamily="34" charset="0"/>
              </a:rPr>
              <a:t>FIM</a:t>
            </a:r>
            <a:endParaRPr lang="en-US" sz="1000" b="1" dirty="0">
              <a:solidFill>
                <a:schemeClr val="bg1">
                  <a:lumMod val="95000"/>
                </a:schemeClr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162" name="Retângulo 161"/>
          <p:cNvSpPr/>
          <p:nvPr/>
        </p:nvSpPr>
        <p:spPr>
          <a:xfrm>
            <a:off x="983828" y="4247518"/>
            <a:ext cx="1295336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r"/>
            <a:r>
              <a:rPr lang="pt-BR" sz="9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Fechar a </a:t>
            </a:r>
          </a:p>
          <a:p>
            <a:pPr algn="r"/>
            <a:r>
              <a:rPr lang="pt-BR" sz="9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Ideia</a:t>
            </a:r>
          </a:p>
        </p:txBody>
      </p:sp>
      <p:cxnSp>
        <p:nvCxnSpPr>
          <p:cNvPr id="163" name="Conector de Seta Reta 68"/>
          <p:cNvCxnSpPr>
            <a:stCxn id="63" idx="0"/>
            <a:endCxn id="61" idx="2"/>
          </p:cNvCxnSpPr>
          <p:nvPr/>
        </p:nvCxnSpPr>
        <p:spPr>
          <a:xfrm flipV="1">
            <a:off x="9181775" y="3523381"/>
            <a:ext cx="0" cy="874338"/>
          </a:xfrm>
          <a:prstGeom prst="straightConnector1">
            <a:avLst/>
          </a:prstGeom>
          <a:ln>
            <a:solidFill>
              <a:srgbClr val="FF6600"/>
            </a:solidFill>
            <a:headEnd type="triangle" w="lg" len="lg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6" name="Retângulo 165"/>
          <p:cNvSpPr/>
          <p:nvPr/>
        </p:nvSpPr>
        <p:spPr>
          <a:xfrm>
            <a:off x="9222193" y="3575043"/>
            <a:ext cx="803661" cy="50783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pt-BR" sz="9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Retornar </a:t>
            </a:r>
          </a:p>
          <a:p>
            <a:r>
              <a:rPr lang="pt-BR" sz="9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para </a:t>
            </a:r>
          </a:p>
          <a:p>
            <a:r>
              <a:rPr lang="pt-BR" sz="9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Elaboração</a:t>
            </a:r>
          </a:p>
        </p:txBody>
      </p:sp>
      <p:sp>
        <p:nvSpPr>
          <p:cNvPr id="167" name="Retângulo 166"/>
          <p:cNvSpPr/>
          <p:nvPr/>
        </p:nvSpPr>
        <p:spPr>
          <a:xfrm>
            <a:off x="3544543" y="6112929"/>
            <a:ext cx="934110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pt-BR" sz="9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Aguardar</a:t>
            </a:r>
          </a:p>
          <a:p>
            <a:r>
              <a:rPr lang="pt-BR" sz="9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COMEX</a:t>
            </a:r>
          </a:p>
        </p:txBody>
      </p:sp>
      <p:sp>
        <p:nvSpPr>
          <p:cNvPr id="168" name="Retângulo 167"/>
          <p:cNvSpPr/>
          <p:nvPr/>
        </p:nvSpPr>
        <p:spPr>
          <a:xfrm>
            <a:off x="7725715" y="6121267"/>
            <a:ext cx="867761" cy="50783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pt-BR" sz="9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Elaborar</a:t>
            </a:r>
          </a:p>
          <a:p>
            <a:r>
              <a:rPr lang="pt-BR" sz="9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Desenho de Solução</a:t>
            </a:r>
          </a:p>
        </p:txBody>
      </p:sp>
      <p:sp>
        <p:nvSpPr>
          <p:cNvPr id="169" name="Retângulo 168"/>
          <p:cNvSpPr/>
          <p:nvPr/>
        </p:nvSpPr>
        <p:spPr>
          <a:xfrm>
            <a:off x="5668965" y="6121267"/>
            <a:ext cx="867761" cy="50783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pt-BR" sz="9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Solicitar</a:t>
            </a:r>
          </a:p>
          <a:p>
            <a:r>
              <a:rPr lang="pt-BR" sz="9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Revisão da Estimativa</a:t>
            </a:r>
          </a:p>
        </p:txBody>
      </p:sp>
      <p:sp>
        <p:nvSpPr>
          <p:cNvPr id="71" name="Retângulo 70"/>
          <p:cNvSpPr/>
          <p:nvPr/>
        </p:nvSpPr>
        <p:spPr>
          <a:xfrm>
            <a:off x="3402455" y="1503089"/>
            <a:ext cx="1536343" cy="2308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r"/>
            <a:r>
              <a:rPr lang="pt-BR" sz="9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Enviar para Usuário  </a:t>
            </a:r>
          </a:p>
        </p:txBody>
      </p:sp>
      <p:sp>
        <p:nvSpPr>
          <p:cNvPr id="75" name="Retângulo 74"/>
          <p:cNvSpPr/>
          <p:nvPr/>
        </p:nvSpPr>
        <p:spPr>
          <a:xfrm>
            <a:off x="4766419" y="1503089"/>
            <a:ext cx="1536343" cy="2308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r"/>
            <a:r>
              <a:rPr lang="pt-BR" sz="9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Enviar para Usuário  </a:t>
            </a:r>
          </a:p>
        </p:txBody>
      </p:sp>
      <p:sp>
        <p:nvSpPr>
          <p:cNvPr id="77" name="Retângulo 76"/>
          <p:cNvSpPr/>
          <p:nvPr/>
        </p:nvSpPr>
        <p:spPr>
          <a:xfrm>
            <a:off x="2829874" y="1988338"/>
            <a:ext cx="1536343" cy="2308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r"/>
            <a:r>
              <a:rPr lang="pt-BR" sz="9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Enviar para Usuário  </a:t>
            </a:r>
          </a:p>
        </p:txBody>
      </p:sp>
    </p:spTree>
    <p:extLst>
      <p:ext uri="{BB962C8B-B14F-4D97-AF65-F5344CB8AC3E}">
        <p14:creationId xmlns:p14="http://schemas.microsoft.com/office/powerpoint/2010/main" val="229586246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4" name="Agrupar 83"/>
          <p:cNvGrpSpPr/>
          <p:nvPr/>
        </p:nvGrpSpPr>
        <p:grpSpPr>
          <a:xfrm>
            <a:off x="4326072" y="5361882"/>
            <a:ext cx="3412844" cy="1296638"/>
            <a:chOff x="2259518" y="2881012"/>
            <a:chExt cx="3412844" cy="1296638"/>
          </a:xfrm>
        </p:grpSpPr>
        <p:sp>
          <p:nvSpPr>
            <p:cNvPr id="85" name="Retângulo Arredondado 84"/>
            <p:cNvSpPr/>
            <p:nvPr/>
          </p:nvSpPr>
          <p:spPr>
            <a:xfrm>
              <a:off x="2271895" y="2881012"/>
              <a:ext cx="3400467" cy="1296638"/>
            </a:xfrm>
            <a:prstGeom prst="roundRect">
              <a:avLst>
                <a:gd name="adj" fmla="val 5688"/>
              </a:avLst>
            </a:prstGeom>
            <a:ln>
              <a:solidFill>
                <a:srgbClr val="7030A0"/>
              </a:solidFill>
            </a:ln>
          </p:spPr>
          <p:style>
            <a:lnRef idx="1">
              <a:schemeClr val="accent6"/>
            </a:lnRef>
            <a:fillRef idx="2">
              <a:schemeClr val="accent6"/>
            </a:fillRef>
            <a:effectRef idx="1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86" name="Retângulo 85"/>
            <p:cNvSpPr/>
            <p:nvPr/>
          </p:nvSpPr>
          <p:spPr>
            <a:xfrm>
              <a:off x="2259518" y="2933076"/>
              <a:ext cx="3367350" cy="369332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r>
                <a:rPr lang="pt-BR" sz="900" b="1" dirty="0">
                  <a:solidFill>
                    <a:srgbClr val="7030A0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SLA: Tempo de Elaboração Desenho da Solução </a:t>
              </a:r>
            </a:p>
            <a:p>
              <a:r>
                <a:rPr lang="pt-BR" sz="900" b="1" dirty="0">
                  <a:solidFill>
                    <a:srgbClr val="7030A0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(10 dias úteis)</a:t>
              </a:r>
            </a:p>
          </p:txBody>
        </p:sp>
      </p:grpSp>
      <p:grpSp>
        <p:nvGrpSpPr>
          <p:cNvPr id="87" name="Agrupar 86"/>
          <p:cNvGrpSpPr/>
          <p:nvPr/>
        </p:nvGrpSpPr>
        <p:grpSpPr>
          <a:xfrm>
            <a:off x="6400187" y="5713045"/>
            <a:ext cx="3445178" cy="1080000"/>
            <a:chOff x="2227184" y="2881012"/>
            <a:chExt cx="3445178" cy="1142538"/>
          </a:xfrm>
        </p:grpSpPr>
        <p:sp>
          <p:nvSpPr>
            <p:cNvPr id="88" name="Retângulo Arredondado 87"/>
            <p:cNvSpPr/>
            <p:nvPr/>
          </p:nvSpPr>
          <p:spPr>
            <a:xfrm>
              <a:off x="2271895" y="2881012"/>
              <a:ext cx="3400467" cy="1129667"/>
            </a:xfrm>
            <a:prstGeom prst="roundRect">
              <a:avLst>
                <a:gd name="adj" fmla="val 5688"/>
              </a:avLst>
            </a:prstGeom>
            <a:ln>
              <a:solidFill>
                <a:srgbClr val="7030A0"/>
              </a:solidFill>
            </a:ln>
          </p:spPr>
          <p:style>
            <a:lnRef idx="1">
              <a:schemeClr val="accent6"/>
            </a:lnRef>
            <a:fillRef idx="2">
              <a:schemeClr val="accent6"/>
            </a:fillRef>
            <a:effectRef idx="1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90" name="Retângulo 89"/>
            <p:cNvSpPr/>
            <p:nvPr/>
          </p:nvSpPr>
          <p:spPr>
            <a:xfrm>
              <a:off x="2227184" y="3792718"/>
              <a:ext cx="3367350" cy="230832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algn="ctr"/>
              <a:r>
                <a:rPr lang="pt-BR" sz="900" b="1" dirty="0">
                  <a:solidFill>
                    <a:srgbClr val="7030A0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SLA: Tempo de Validação EF da Arquitetura (10 dias úteis)</a:t>
              </a:r>
            </a:p>
          </p:txBody>
        </p:sp>
      </p:grpSp>
      <p:grpSp>
        <p:nvGrpSpPr>
          <p:cNvPr id="78" name="Agrupar 77"/>
          <p:cNvGrpSpPr/>
          <p:nvPr/>
        </p:nvGrpSpPr>
        <p:grpSpPr>
          <a:xfrm>
            <a:off x="2259083" y="2934177"/>
            <a:ext cx="3413279" cy="1057388"/>
            <a:chOff x="2259083" y="2881012"/>
            <a:chExt cx="3413279" cy="1129667"/>
          </a:xfrm>
        </p:grpSpPr>
        <p:sp>
          <p:nvSpPr>
            <p:cNvPr id="79" name="Retângulo Arredondado 78"/>
            <p:cNvSpPr/>
            <p:nvPr/>
          </p:nvSpPr>
          <p:spPr>
            <a:xfrm>
              <a:off x="2271895" y="2881012"/>
              <a:ext cx="3400467" cy="1129667"/>
            </a:xfrm>
            <a:prstGeom prst="roundRect">
              <a:avLst>
                <a:gd name="adj" fmla="val 5688"/>
              </a:avLst>
            </a:prstGeom>
            <a:ln>
              <a:solidFill>
                <a:srgbClr val="7030A0"/>
              </a:solidFill>
            </a:ln>
          </p:spPr>
          <p:style>
            <a:lnRef idx="1">
              <a:schemeClr val="accent6"/>
            </a:lnRef>
            <a:fillRef idx="2">
              <a:schemeClr val="accent6"/>
            </a:fillRef>
            <a:effectRef idx="1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81" name="Retângulo 80"/>
            <p:cNvSpPr/>
            <p:nvPr/>
          </p:nvSpPr>
          <p:spPr>
            <a:xfrm>
              <a:off x="2259083" y="3759365"/>
              <a:ext cx="3367350" cy="230832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r>
                <a:rPr lang="pt-BR" sz="900" b="1" dirty="0">
                  <a:solidFill>
                    <a:srgbClr val="7030A0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SLA: Tempo de Estimativa da Arquitetura (10 dias úteis)</a:t>
              </a:r>
            </a:p>
          </p:txBody>
        </p:sp>
      </p:grpSp>
      <p:sp>
        <p:nvSpPr>
          <p:cNvPr id="143" name="Retângulo 142"/>
          <p:cNvSpPr/>
          <p:nvPr/>
        </p:nvSpPr>
        <p:spPr>
          <a:xfrm>
            <a:off x="842617" y="2357839"/>
            <a:ext cx="689056" cy="50783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pt-BR" sz="900" b="1" dirty="0">
                <a:solidFill>
                  <a:schemeClr val="bg1">
                    <a:lumMod val="75000"/>
                  </a:schemeClr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Retornar </a:t>
            </a:r>
          </a:p>
          <a:p>
            <a:r>
              <a:rPr lang="pt-BR" sz="900" b="1" dirty="0">
                <a:solidFill>
                  <a:schemeClr val="bg1">
                    <a:lumMod val="75000"/>
                  </a:schemeClr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para PMO</a:t>
            </a:r>
          </a:p>
        </p:txBody>
      </p:sp>
      <p:sp>
        <p:nvSpPr>
          <p:cNvPr id="142" name="Retângulo 141"/>
          <p:cNvSpPr/>
          <p:nvPr/>
        </p:nvSpPr>
        <p:spPr>
          <a:xfrm>
            <a:off x="9175625" y="2378434"/>
            <a:ext cx="1005665" cy="50783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pt-BR" sz="900" b="1" dirty="0">
                <a:solidFill>
                  <a:schemeClr val="bg1">
                    <a:lumMod val="75000"/>
                  </a:schemeClr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Retornar para </a:t>
            </a:r>
          </a:p>
          <a:p>
            <a:r>
              <a:rPr lang="pt-BR" sz="900" b="1" dirty="0">
                <a:solidFill>
                  <a:schemeClr val="bg1">
                    <a:lumMod val="75000"/>
                  </a:schemeClr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Analista de </a:t>
            </a:r>
          </a:p>
          <a:p>
            <a:r>
              <a:rPr lang="pt-BR" sz="900" b="1" dirty="0">
                <a:solidFill>
                  <a:schemeClr val="bg1">
                    <a:lumMod val="75000"/>
                  </a:schemeClr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Negócios</a:t>
            </a:r>
          </a:p>
        </p:txBody>
      </p:sp>
      <p:grpSp>
        <p:nvGrpSpPr>
          <p:cNvPr id="2" name="Grupo 1"/>
          <p:cNvGrpSpPr/>
          <p:nvPr/>
        </p:nvGrpSpPr>
        <p:grpSpPr>
          <a:xfrm>
            <a:off x="2" y="-3"/>
            <a:ext cx="10117136" cy="750629"/>
            <a:chOff x="2" y="-3"/>
            <a:chExt cx="9143998" cy="750629"/>
          </a:xfrm>
        </p:grpSpPr>
        <p:sp>
          <p:nvSpPr>
            <p:cNvPr id="7" name="Rectangle 2"/>
            <p:cNvSpPr/>
            <p:nvPr/>
          </p:nvSpPr>
          <p:spPr>
            <a:xfrm rot="5400000">
              <a:off x="4196686" y="-4196687"/>
              <a:ext cx="750629" cy="9143998"/>
            </a:xfrm>
            <a:custGeom>
              <a:avLst/>
              <a:gdLst/>
              <a:ahLst/>
              <a:cxnLst/>
              <a:rect l="l" t="t" r="r" b="b"/>
              <a:pathLst>
                <a:path w="1045586" h="9143998">
                  <a:moveTo>
                    <a:pt x="0" y="9143998"/>
                  </a:moveTo>
                  <a:lnTo>
                    <a:pt x="0" y="0"/>
                  </a:lnTo>
                  <a:lnTo>
                    <a:pt x="725309" y="0"/>
                  </a:lnTo>
                  <a:lnTo>
                    <a:pt x="756374" y="198383"/>
                  </a:lnTo>
                  <a:cubicBezTo>
                    <a:pt x="937051" y="1409478"/>
                    <a:pt x="1045586" y="2962131"/>
                    <a:pt x="1045586" y="4655015"/>
                  </a:cubicBezTo>
                  <a:cubicBezTo>
                    <a:pt x="1045586" y="6347900"/>
                    <a:pt x="937051" y="7900553"/>
                    <a:pt x="756374" y="9111648"/>
                  </a:cubicBezTo>
                  <a:lnTo>
                    <a:pt x="751308" y="9143998"/>
                  </a:lnTo>
                  <a:close/>
                </a:path>
              </a:pathLst>
            </a:custGeom>
            <a:solidFill>
              <a:srgbClr val="FF8E2D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6" name="Picture 5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8218106" y="129598"/>
              <a:ext cx="843390" cy="334448"/>
            </a:xfrm>
            <a:prstGeom prst="rect">
              <a:avLst/>
            </a:prstGeom>
          </p:spPr>
        </p:pic>
      </p:grpSp>
      <p:sp>
        <p:nvSpPr>
          <p:cNvPr id="9" name="TextBox 8"/>
          <p:cNvSpPr txBox="1"/>
          <p:nvPr/>
        </p:nvSpPr>
        <p:spPr>
          <a:xfrm>
            <a:off x="2328020" y="130780"/>
            <a:ext cx="5461099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2400" dirty="0" err="1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Segoe UI" panose="020B0502040204020203" pitchFamily="34" charset="0"/>
                <a:cs typeface="Segoe UI" panose="020B0502040204020203" pitchFamily="34" charset="0"/>
              </a:rPr>
              <a:t>SLAs</a:t>
            </a:r>
            <a:r>
              <a:rPr lang="pt-BR" sz="240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Segoe UI" panose="020B0502040204020203" pitchFamily="34" charset="0"/>
                <a:cs typeface="Segoe UI" panose="020B0502040204020203" pitchFamily="34" charset="0"/>
              </a:rPr>
              <a:t> da Arquitetura Corporativa de TI</a:t>
            </a:r>
          </a:p>
        </p:txBody>
      </p:sp>
      <p:grpSp>
        <p:nvGrpSpPr>
          <p:cNvPr id="130" name="Agrupar 129"/>
          <p:cNvGrpSpPr/>
          <p:nvPr/>
        </p:nvGrpSpPr>
        <p:grpSpPr>
          <a:xfrm>
            <a:off x="63474" y="2246388"/>
            <a:ext cx="716274" cy="682180"/>
            <a:chOff x="256478" y="2393574"/>
            <a:chExt cx="716274" cy="682180"/>
          </a:xfrm>
        </p:grpSpPr>
        <p:pic>
          <p:nvPicPr>
            <p:cNvPr id="4" name="Imagem 3"/>
            <p:cNvPicPr>
              <a:picLocks noChangeAspect="1"/>
            </p:cNvPicPr>
            <p:nvPr/>
          </p:nvPicPr>
          <p:blipFill>
            <a:blip r:embed="rId3">
              <a:lum bright="70000" contrast="-70000"/>
            </a:blip>
            <a:stretch>
              <a:fillRect/>
            </a:stretch>
          </p:blipFill>
          <p:spPr>
            <a:xfrm rot="20569596">
              <a:off x="256478" y="2393574"/>
              <a:ext cx="396997" cy="504000"/>
            </a:xfrm>
            <a:prstGeom prst="rect">
              <a:avLst/>
            </a:prstGeom>
          </p:spPr>
        </p:pic>
        <p:sp>
          <p:nvSpPr>
            <p:cNvPr id="5" name="Retângulo 4"/>
            <p:cNvSpPr/>
            <p:nvPr/>
          </p:nvSpPr>
          <p:spPr>
            <a:xfrm rot="20569596">
              <a:off x="297933" y="2814144"/>
              <a:ext cx="674819" cy="261610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r>
                <a:rPr lang="pt-BR" sz="1050" b="1" dirty="0">
                  <a:solidFill>
                    <a:schemeClr val="bg1">
                      <a:lumMod val="75000"/>
                    </a:schemeClr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Ideia</a:t>
              </a:r>
              <a:endParaRPr lang="pt-BR" sz="1200" dirty="0">
                <a:solidFill>
                  <a:schemeClr val="bg1">
                    <a:lumMod val="75000"/>
                  </a:schemeClr>
                </a:solidFill>
              </a:endParaRPr>
            </a:p>
          </p:txBody>
        </p:sp>
      </p:grpSp>
      <p:cxnSp>
        <p:nvCxnSpPr>
          <p:cNvPr id="57" name="Conector de Seta Reta 56"/>
          <p:cNvCxnSpPr>
            <a:stCxn id="126" idx="3"/>
            <a:endCxn id="113" idx="1"/>
          </p:cNvCxnSpPr>
          <p:nvPr/>
        </p:nvCxnSpPr>
        <p:spPr>
          <a:xfrm>
            <a:off x="7372092" y="1100594"/>
            <a:ext cx="353623" cy="1"/>
          </a:xfrm>
          <a:prstGeom prst="straightConnector1">
            <a:avLst/>
          </a:prstGeom>
          <a:ln>
            <a:solidFill>
              <a:schemeClr val="bg1">
                <a:lumMod val="85000"/>
              </a:schemeClr>
            </a:solidFill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3" name="Conector de Seta Reta 82"/>
          <p:cNvCxnSpPr>
            <a:stCxn id="62" idx="3"/>
            <a:endCxn id="55" idx="1"/>
          </p:cNvCxnSpPr>
          <p:nvPr/>
        </p:nvCxnSpPr>
        <p:spPr>
          <a:xfrm>
            <a:off x="1430919" y="3254184"/>
            <a:ext cx="929714" cy="0"/>
          </a:xfrm>
          <a:prstGeom prst="straightConnector1">
            <a:avLst/>
          </a:prstGeom>
          <a:ln>
            <a:solidFill>
              <a:schemeClr val="bg1">
                <a:lumMod val="85000"/>
              </a:schemeClr>
            </a:solidFill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9" name="Conector de Seta Reta 68"/>
          <p:cNvCxnSpPr>
            <a:stCxn id="62" idx="0"/>
            <a:endCxn id="68" idx="0"/>
          </p:cNvCxnSpPr>
          <p:nvPr/>
        </p:nvCxnSpPr>
        <p:spPr>
          <a:xfrm rot="5400000" flipH="1" flipV="1">
            <a:off x="2426974" y="393613"/>
            <a:ext cx="1019318" cy="4163428"/>
          </a:xfrm>
          <a:prstGeom prst="bentConnector3">
            <a:avLst>
              <a:gd name="adj1" fmla="val 122427"/>
            </a:avLst>
          </a:prstGeom>
          <a:ln>
            <a:solidFill>
              <a:schemeClr val="bg1">
                <a:lumMod val="85000"/>
              </a:schemeClr>
            </a:solidFill>
            <a:headEnd type="triangle" w="lg" len="lg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0" name="Conector de Seta Reta 69"/>
          <p:cNvCxnSpPr>
            <a:stCxn id="59" idx="1"/>
            <a:endCxn id="60" idx="3"/>
          </p:cNvCxnSpPr>
          <p:nvPr/>
        </p:nvCxnSpPr>
        <p:spPr>
          <a:xfrm flipH="1">
            <a:off x="3512633" y="4666917"/>
            <a:ext cx="929714" cy="0"/>
          </a:xfrm>
          <a:prstGeom prst="straightConnector1">
            <a:avLst/>
          </a:prstGeom>
          <a:ln>
            <a:solidFill>
              <a:schemeClr val="bg1">
                <a:lumMod val="85000"/>
              </a:schemeClr>
            </a:solidFill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2" name="Conector de Seta Reta 68"/>
          <p:cNvCxnSpPr>
            <a:stCxn id="55" idx="0"/>
            <a:endCxn id="68" idx="1"/>
          </p:cNvCxnSpPr>
          <p:nvPr/>
        </p:nvCxnSpPr>
        <p:spPr>
          <a:xfrm rot="5400000" flipH="1" flipV="1">
            <a:off x="3314430" y="1857069"/>
            <a:ext cx="750120" cy="1505714"/>
          </a:xfrm>
          <a:prstGeom prst="bentConnector2">
            <a:avLst/>
          </a:prstGeom>
          <a:ln>
            <a:solidFill>
              <a:schemeClr val="bg1">
                <a:lumMod val="85000"/>
              </a:schemeClr>
            </a:solidFill>
            <a:headEnd type="triangle" w="lg" len="lg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3" name="Conector de Seta Reta 68"/>
          <p:cNvCxnSpPr>
            <a:stCxn id="61" idx="0"/>
            <a:endCxn id="68" idx="0"/>
          </p:cNvCxnSpPr>
          <p:nvPr/>
        </p:nvCxnSpPr>
        <p:spPr>
          <a:xfrm rot="16200000" flipV="1">
            <a:off x="6590402" y="393613"/>
            <a:ext cx="1019318" cy="4163428"/>
          </a:xfrm>
          <a:prstGeom prst="bentConnector3">
            <a:avLst>
              <a:gd name="adj1" fmla="val 122427"/>
            </a:avLst>
          </a:prstGeom>
          <a:ln>
            <a:solidFill>
              <a:schemeClr val="bg1">
                <a:lumMod val="85000"/>
              </a:schemeClr>
            </a:solidFill>
            <a:headEnd type="triangle" w="lg" len="lg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6" name="Conector de Seta Reta 75"/>
          <p:cNvCxnSpPr>
            <a:stCxn id="55" idx="3"/>
            <a:endCxn id="58" idx="1"/>
          </p:cNvCxnSpPr>
          <p:nvPr/>
        </p:nvCxnSpPr>
        <p:spPr>
          <a:xfrm>
            <a:off x="3512633" y="3254184"/>
            <a:ext cx="929714" cy="0"/>
          </a:xfrm>
          <a:prstGeom prst="straightConnector1">
            <a:avLst/>
          </a:prstGeom>
          <a:ln>
            <a:solidFill>
              <a:srgbClr val="FF6600"/>
            </a:solidFill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0" name="Conector de Seta Reta 79"/>
          <p:cNvCxnSpPr>
            <a:stCxn id="56" idx="2"/>
            <a:endCxn id="59" idx="3"/>
          </p:cNvCxnSpPr>
          <p:nvPr/>
        </p:nvCxnSpPr>
        <p:spPr>
          <a:xfrm rot="5400000">
            <a:off x="5775436" y="3342292"/>
            <a:ext cx="1143536" cy="1505714"/>
          </a:xfrm>
          <a:prstGeom prst="bentConnector2">
            <a:avLst/>
          </a:prstGeom>
          <a:ln>
            <a:solidFill>
              <a:schemeClr val="bg1">
                <a:lumMod val="85000"/>
              </a:schemeClr>
            </a:solidFill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2" name="Conector de Seta Reta 81"/>
          <p:cNvCxnSpPr>
            <a:stCxn id="58" idx="0"/>
            <a:endCxn id="68" idx="2"/>
          </p:cNvCxnSpPr>
          <p:nvPr/>
        </p:nvCxnSpPr>
        <p:spPr>
          <a:xfrm flipV="1">
            <a:off x="5018347" y="2504063"/>
            <a:ext cx="0" cy="480923"/>
          </a:xfrm>
          <a:prstGeom prst="straightConnector1">
            <a:avLst/>
          </a:prstGeom>
          <a:ln>
            <a:solidFill>
              <a:schemeClr val="bg1">
                <a:lumMod val="85000"/>
              </a:schemeClr>
            </a:solidFill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9" name="Conector de Seta Reta 88"/>
          <p:cNvCxnSpPr>
            <a:stCxn id="63" idx="2"/>
            <a:endCxn id="93" idx="0"/>
          </p:cNvCxnSpPr>
          <p:nvPr/>
        </p:nvCxnSpPr>
        <p:spPr>
          <a:xfrm flipH="1">
            <a:off x="9169476" y="4936114"/>
            <a:ext cx="12299" cy="874337"/>
          </a:xfrm>
          <a:prstGeom prst="straightConnector1">
            <a:avLst/>
          </a:prstGeom>
          <a:ln>
            <a:solidFill>
              <a:schemeClr val="bg1">
                <a:lumMod val="85000"/>
              </a:schemeClr>
            </a:solidFill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3" name="Conector de Seta Reta 102"/>
          <p:cNvCxnSpPr>
            <a:stCxn id="64" idx="1"/>
            <a:endCxn id="67" idx="3"/>
          </p:cNvCxnSpPr>
          <p:nvPr/>
        </p:nvCxnSpPr>
        <p:spPr>
          <a:xfrm flipH="1">
            <a:off x="1434085" y="6079649"/>
            <a:ext cx="926548" cy="0"/>
          </a:xfrm>
          <a:prstGeom prst="straightConnector1">
            <a:avLst/>
          </a:prstGeom>
          <a:ln>
            <a:solidFill>
              <a:schemeClr val="bg1">
                <a:lumMod val="85000"/>
              </a:schemeClr>
            </a:solidFill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9" name="Conector de Seta Reta 108"/>
          <p:cNvCxnSpPr>
            <a:stCxn id="67" idx="0"/>
            <a:endCxn id="60" idx="1"/>
          </p:cNvCxnSpPr>
          <p:nvPr/>
        </p:nvCxnSpPr>
        <p:spPr>
          <a:xfrm rot="5400000" flipH="1" flipV="1">
            <a:off x="1037592" y="4487410"/>
            <a:ext cx="1143534" cy="1502548"/>
          </a:xfrm>
          <a:prstGeom prst="bentConnector2">
            <a:avLst/>
          </a:prstGeom>
          <a:ln>
            <a:solidFill>
              <a:schemeClr val="bg1">
                <a:lumMod val="85000"/>
              </a:schemeClr>
            </a:solidFill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2" name="Fluxograma: Processo 61"/>
          <p:cNvSpPr/>
          <p:nvPr/>
        </p:nvSpPr>
        <p:spPr>
          <a:xfrm>
            <a:off x="278919" y="2984986"/>
            <a:ext cx="1152000" cy="538395"/>
          </a:xfrm>
          <a:prstGeom prst="flowChartProcess">
            <a:avLst/>
          </a:prstGeom>
          <a:solidFill>
            <a:schemeClr val="bg1">
              <a:lumMod val="65000"/>
            </a:schemeClr>
          </a:solidFill>
          <a:ln>
            <a:solidFill>
              <a:schemeClr val="bg1">
                <a:lumMod val="85000"/>
              </a:schemeClr>
            </a:solidFill>
          </a:ln>
        </p:spPr>
        <p:style>
          <a:lnRef idx="1">
            <a:schemeClr val="accent4"/>
          </a:lnRef>
          <a:fillRef idx="3">
            <a:schemeClr val="accent4"/>
          </a:fillRef>
          <a:effectRef idx="2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1000" b="1" dirty="0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Segoe UI" panose="020B0502040204020203" pitchFamily="34" charset="0"/>
                <a:cs typeface="Segoe UI" panose="020B0502040204020203" pitchFamily="34" charset="0"/>
              </a:rPr>
              <a:t>ABERTA</a:t>
            </a:r>
            <a:endParaRPr lang="en-US" sz="1000" b="1" dirty="0">
              <a:solidFill>
                <a:schemeClr val="bg1">
                  <a:lumMod val="95000"/>
                </a:schemeClr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55" name="Fluxograma: Processo 54"/>
          <p:cNvSpPr/>
          <p:nvPr/>
        </p:nvSpPr>
        <p:spPr>
          <a:xfrm>
            <a:off x="2360633" y="2984986"/>
            <a:ext cx="1152000" cy="538395"/>
          </a:xfrm>
          <a:prstGeom prst="flowChartProcess">
            <a:avLst/>
          </a:prstGeom>
          <a:solidFill>
            <a:srgbClr val="7030A0"/>
          </a:solidFill>
          <a:ln/>
        </p:spPr>
        <p:style>
          <a:lnRef idx="1">
            <a:schemeClr val="accent4"/>
          </a:lnRef>
          <a:fillRef idx="3">
            <a:schemeClr val="accent4"/>
          </a:fillRef>
          <a:effectRef idx="2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1000" b="1" dirty="0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Segoe UI" panose="020B0502040204020203" pitchFamily="34" charset="0"/>
                <a:cs typeface="Segoe UI" panose="020B0502040204020203" pitchFamily="34" charset="0"/>
              </a:rPr>
              <a:t>EM ESTIMATIVA</a:t>
            </a:r>
            <a:endParaRPr lang="en-US" sz="1000" b="1" dirty="0">
              <a:solidFill>
                <a:schemeClr val="bg1">
                  <a:lumMod val="95000"/>
                </a:schemeClr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58" name="Fluxograma: Processo 57"/>
          <p:cNvSpPr/>
          <p:nvPr/>
        </p:nvSpPr>
        <p:spPr>
          <a:xfrm>
            <a:off x="4442347" y="2984986"/>
            <a:ext cx="1152000" cy="538395"/>
          </a:xfrm>
          <a:prstGeom prst="flowChartProcess">
            <a:avLst/>
          </a:prstGeom>
          <a:solidFill>
            <a:srgbClr val="7030A0"/>
          </a:solidFill>
          <a:ln/>
        </p:spPr>
        <p:style>
          <a:lnRef idx="1">
            <a:schemeClr val="accent4"/>
          </a:lnRef>
          <a:fillRef idx="3">
            <a:schemeClr val="accent4"/>
          </a:fillRef>
          <a:effectRef idx="2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1000" b="1" dirty="0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Segoe UI" panose="020B0502040204020203" pitchFamily="34" charset="0"/>
                <a:cs typeface="Segoe UI" panose="020B0502040204020203" pitchFamily="34" charset="0"/>
              </a:rPr>
              <a:t>ESTIMADA</a:t>
            </a:r>
            <a:endParaRPr lang="en-US" sz="1000" b="1" dirty="0">
              <a:solidFill>
                <a:schemeClr val="bg1">
                  <a:lumMod val="95000"/>
                </a:schemeClr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60" name="Fluxograma: Processo 59"/>
          <p:cNvSpPr/>
          <p:nvPr/>
        </p:nvSpPr>
        <p:spPr>
          <a:xfrm>
            <a:off x="2360633" y="4397719"/>
            <a:ext cx="1152000" cy="538395"/>
          </a:xfrm>
          <a:prstGeom prst="flowChartProcess">
            <a:avLst/>
          </a:prstGeom>
          <a:solidFill>
            <a:schemeClr val="bg1">
              <a:lumMod val="65000"/>
            </a:schemeClr>
          </a:solidFill>
          <a:ln>
            <a:solidFill>
              <a:schemeClr val="bg1">
                <a:lumMod val="85000"/>
              </a:schemeClr>
            </a:solidFill>
          </a:ln>
        </p:spPr>
        <p:style>
          <a:lnRef idx="1">
            <a:schemeClr val="accent4"/>
          </a:lnRef>
          <a:fillRef idx="3">
            <a:schemeClr val="accent4"/>
          </a:fillRef>
          <a:effectRef idx="2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1000" b="1" dirty="0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Segoe UI" panose="020B0502040204020203" pitchFamily="34" charset="0"/>
                <a:cs typeface="Segoe UI" panose="020B0502040204020203" pitchFamily="34" charset="0"/>
              </a:rPr>
              <a:t>FECHADA</a:t>
            </a:r>
            <a:endParaRPr lang="en-US" sz="1000" b="1" dirty="0">
              <a:solidFill>
                <a:schemeClr val="bg1">
                  <a:lumMod val="95000"/>
                </a:schemeClr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61" name="Fluxograma: Processo 60"/>
          <p:cNvSpPr/>
          <p:nvPr/>
        </p:nvSpPr>
        <p:spPr>
          <a:xfrm>
            <a:off x="8605775" y="2984986"/>
            <a:ext cx="1152000" cy="538395"/>
          </a:xfrm>
          <a:prstGeom prst="flowChartProcess">
            <a:avLst/>
          </a:prstGeom>
          <a:solidFill>
            <a:schemeClr val="bg1">
              <a:lumMod val="65000"/>
            </a:schemeClr>
          </a:solidFill>
          <a:ln>
            <a:solidFill>
              <a:schemeClr val="bg1">
                <a:lumMod val="85000"/>
              </a:schemeClr>
            </a:solidFill>
          </a:ln>
        </p:spPr>
        <p:style>
          <a:lnRef idx="1">
            <a:schemeClr val="accent4"/>
          </a:lnRef>
          <a:fillRef idx="3">
            <a:schemeClr val="accent4"/>
          </a:fillRef>
          <a:effectRef idx="2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1000" b="1" dirty="0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Segoe UI" panose="020B0502040204020203" pitchFamily="34" charset="0"/>
                <a:cs typeface="Segoe UI" panose="020B0502040204020203" pitchFamily="34" charset="0"/>
              </a:rPr>
              <a:t>EF EM ELABORAÇÃO</a:t>
            </a:r>
            <a:endParaRPr lang="en-US" sz="1000" b="1" dirty="0">
              <a:solidFill>
                <a:schemeClr val="bg1">
                  <a:lumMod val="95000"/>
                </a:schemeClr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63" name="Fluxograma: Processo 62"/>
          <p:cNvSpPr/>
          <p:nvPr/>
        </p:nvSpPr>
        <p:spPr>
          <a:xfrm>
            <a:off x="8605775" y="4397719"/>
            <a:ext cx="1152000" cy="538395"/>
          </a:xfrm>
          <a:prstGeom prst="flowChartProcess">
            <a:avLst/>
          </a:prstGeom>
          <a:solidFill>
            <a:schemeClr val="bg1">
              <a:lumMod val="65000"/>
            </a:schemeClr>
          </a:solidFill>
          <a:ln>
            <a:solidFill>
              <a:schemeClr val="bg1">
                <a:lumMod val="85000"/>
              </a:schemeClr>
            </a:solidFill>
          </a:ln>
        </p:spPr>
        <p:style>
          <a:lnRef idx="1">
            <a:schemeClr val="accent4"/>
          </a:lnRef>
          <a:fillRef idx="3">
            <a:schemeClr val="accent4"/>
          </a:fillRef>
          <a:effectRef idx="2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1000" b="1" dirty="0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Segoe UI" panose="020B0502040204020203" pitchFamily="34" charset="0"/>
                <a:cs typeface="Segoe UI" panose="020B0502040204020203" pitchFamily="34" charset="0"/>
              </a:rPr>
              <a:t>EF EM VALIDAÇÃO NEGÓCIO</a:t>
            </a:r>
            <a:endParaRPr lang="en-US" sz="1000" b="1" dirty="0">
              <a:solidFill>
                <a:schemeClr val="bg1">
                  <a:lumMod val="95000"/>
                </a:schemeClr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64" name="Fluxograma: Processo 63"/>
          <p:cNvSpPr/>
          <p:nvPr/>
        </p:nvSpPr>
        <p:spPr>
          <a:xfrm>
            <a:off x="2360633" y="5810451"/>
            <a:ext cx="1152000" cy="538395"/>
          </a:xfrm>
          <a:prstGeom prst="flowChartProcess">
            <a:avLst/>
          </a:prstGeom>
          <a:solidFill>
            <a:schemeClr val="bg1">
              <a:lumMod val="65000"/>
            </a:schemeClr>
          </a:solidFill>
          <a:ln>
            <a:solidFill>
              <a:schemeClr val="bg1">
                <a:lumMod val="85000"/>
              </a:schemeClr>
            </a:solidFill>
          </a:ln>
        </p:spPr>
        <p:style>
          <a:lnRef idx="1">
            <a:schemeClr val="accent4"/>
          </a:lnRef>
          <a:fillRef idx="3">
            <a:schemeClr val="accent4"/>
          </a:fillRef>
          <a:effectRef idx="2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1000" b="1" dirty="0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Segoe UI" panose="020B0502040204020203" pitchFamily="34" charset="0"/>
                <a:cs typeface="Segoe UI" panose="020B0502040204020203" pitchFamily="34" charset="0"/>
              </a:rPr>
              <a:t>AGUARDANDO COMEX</a:t>
            </a:r>
            <a:endParaRPr lang="en-US" sz="1000" b="1" dirty="0">
              <a:solidFill>
                <a:schemeClr val="bg1">
                  <a:lumMod val="95000"/>
                </a:schemeClr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67" name="Fluxograma: Processo 66"/>
          <p:cNvSpPr/>
          <p:nvPr/>
        </p:nvSpPr>
        <p:spPr>
          <a:xfrm>
            <a:off x="282085" y="5810451"/>
            <a:ext cx="1152000" cy="538395"/>
          </a:xfrm>
          <a:prstGeom prst="flowChartProcess">
            <a:avLst/>
          </a:prstGeom>
          <a:solidFill>
            <a:schemeClr val="bg1">
              <a:lumMod val="65000"/>
            </a:schemeClr>
          </a:solidFill>
          <a:ln>
            <a:solidFill>
              <a:schemeClr val="bg1">
                <a:lumMod val="85000"/>
              </a:schemeClr>
            </a:solidFill>
          </a:ln>
        </p:spPr>
        <p:style>
          <a:lnRef idx="1">
            <a:schemeClr val="accent4"/>
          </a:lnRef>
          <a:fillRef idx="3">
            <a:schemeClr val="accent4"/>
          </a:fillRef>
          <a:effectRef idx="2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1000" b="1" dirty="0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Segoe UI" panose="020B0502040204020203" pitchFamily="34" charset="0"/>
                <a:cs typeface="Segoe UI" panose="020B0502040204020203" pitchFamily="34" charset="0"/>
              </a:rPr>
              <a:t>ENVIADA COMO PROJETO</a:t>
            </a:r>
            <a:endParaRPr lang="en-US" sz="1000" b="1" dirty="0">
              <a:solidFill>
                <a:schemeClr val="bg1">
                  <a:lumMod val="95000"/>
                </a:schemeClr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68" name="Fluxograma: Processo 67"/>
          <p:cNvSpPr/>
          <p:nvPr/>
        </p:nvSpPr>
        <p:spPr>
          <a:xfrm>
            <a:off x="4442347" y="1965668"/>
            <a:ext cx="1152000" cy="538395"/>
          </a:xfrm>
          <a:prstGeom prst="flowChartProcess">
            <a:avLst/>
          </a:prstGeom>
          <a:solidFill>
            <a:schemeClr val="bg1">
              <a:lumMod val="65000"/>
            </a:schemeClr>
          </a:solidFill>
          <a:ln>
            <a:solidFill>
              <a:schemeClr val="bg1">
                <a:lumMod val="85000"/>
              </a:schemeClr>
            </a:solidFill>
          </a:ln>
        </p:spPr>
        <p:style>
          <a:lnRef idx="1">
            <a:schemeClr val="accent4"/>
          </a:lnRef>
          <a:fillRef idx="3">
            <a:schemeClr val="accent4"/>
          </a:fillRef>
          <a:effectRef idx="2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1000" b="1" dirty="0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Segoe UI" panose="020B0502040204020203" pitchFamily="34" charset="0"/>
                <a:cs typeface="Segoe UI" panose="020B0502040204020203" pitchFamily="34" charset="0"/>
              </a:rPr>
              <a:t>PENDENTE USUÁRIO</a:t>
            </a:r>
            <a:endParaRPr lang="en-US" sz="1000" b="1" dirty="0">
              <a:solidFill>
                <a:schemeClr val="bg1">
                  <a:lumMod val="95000"/>
                </a:schemeClr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59" name="Fluxograma: Processo 58"/>
          <p:cNvSpPr/>
          <p:nvPr/>
        </p:nvSpPr>
        <p:spPr>
          <a:xfrm>
            <a:off x="4442347" y="4397719"/>
            <a:ext cx="1152000" cy="538395"/>
          </a:xfrm>
          <a:prstGeom prst="flowChartProcess">
            <a:avLst/>
          </a:prstGeom>
          <a:solidFill>
            <a:schemeClr val="bg1">
              <a:lumMod val="65000"/>
            </a:schemeClr>
          </a:solidFill>
          <a:ln>
            <a:solidFill>
              <a:schemeClr val="bg1">
                <a:lumMod val="85000"/>
              </a:schemeClr>
            </a:solidFill>
          </a:ln>
        </p:spPr>
        <p:style>
          <a:lnRef idx="1">
            <a:schemeClr val="accent4"/>
          </a:lnRef>
          <a:fillRef idx="3">
            <a:schemeClr val="accent4"/>
          </a:fillRef>
          <a:effectRef idx="2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1000" b="1" dirty="0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Segoe UI" panose="020B0502040204020203" pitchFamily="34" charset="0"/>
                <a:cs typeface="Segoe UI" panose="020B0502040204020203" pitchFamily="34" charset="0"/>
              </a:rPr>
              <a:t>ENVIADA COMO MELHORIA</a:t>
            </a:r>
            <a:endParaRPr lang="en-US" sz="1000" b="1" dirty="0">
              <a:solidFill>
                <a:schemeClr val="bg1">
                  <a:lumMod val="95000"/>
                </a:schemeClr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cxnSp>
        <p:nvCxnSpPr>
          <p:cNvPr id="112" name="Conector de Seta Reta 111"/>
          <p:cNvCxnSpPr>
            <a:stCxn id="64" idx="0"/>
            <a:endCxn id="60" idx="2"/>
          </p:cNvCxnSpPr>
          <p:nvPr/>
        </p:nvCxnSpPr>
        <p:spPr>
          <a:xfrm flipV="1">
            <a:off x="2936633" y="4936114"/>
            <a:ext cx="0" cy="874337"/>
          </a:xfrm>
          <a:prstGeom prst="straightConnector1">
            <a:avLst/>
          </a:prstGeom>
          <a:ln>
            <a:solidFill>
              <a:schemeClr val="bg1">
                <a:lumMod val="85000"/>
              </a:schemeClr>
            </a:solidFill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3" name="Fluxograma: Processo 112"/>
          <p:cNvSpPr/>
          <p:nvPr/>
        </p:nvSpPr>
        <p:spPr>
          <a:xfrm>
            <a:off x="7725715" y="831397"/>
            <a:ext cx="1152000" cy="538395"/>
          </a:xfrm>
          <a:prstGeom prst="flowChartProcess">
            <a:avLst/>
          </a:prstGeom>
          <a:solidFill>
            <a:schemeClr val="bg1">
              <a:lumMod val="65000"/>
            </a:schemeClr>
          </a:solidFill>
          <a:ln>
            <a:solidFill>
              <a:schemeClr val="bg1">
                <a:lumMod val="85000"/>
              </a:schemeClr>
            </a:solidFill>
          </a:ln>
        </p:spPr>
        <p:style>
          <a:lnRef idx="1">
            <a:schemeClr val="accent4"/>
          </a:lnRef>
          <a:fillRef idx="3">
            <a:schemeClr val="accent4"/>
          </a:fillRef>
          <a:effectRef idx="2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1000" b="1" dirty="0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Segoe UI" panose="020B0502040204020203" pitchFamily="34" charset="0"/>
                <a:cs typeface="Segoe UI" panose="020B0502040204020203" pitchFamily="34" charset="0"/>
              </a:rPr>
              <a:t>CANCELADA</a:t>
            </a:r>
            <a:endParaRPr lang="en-US" sz="1000" b="1" dirty="0">
              <a:solidFill>
                <a:schemeClr val="bg1">
                  <a:lumMod val="95000"/>
                </a:schemeClr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126" name="Retângulo 125"/>
          <p:cNvSpPr/>
          <p:nvPr/>
        </p:nvSpPr>
        <p:spPr>
          <a:xfrm>
            <a:off x="6613551" y="823595"/>
            <a:ext cx="758541" cy="55399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r"/>
            <a:r>
              <a:rPr lang="pt-BR" sz="1000" b="1" i="1" dirty="0">
                <a:solidFill>
                  <a:schemeClr val="bg1">
                    <a:lumMod val="75000"/>
                  </a:schemeClr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Vem de </a:t>
            </a:r>
          </a:p>
          <a:p>
            <a:pPr algn="r"/>
            <a:r>
              <a:rPr lang="pt-BR" sz="1000" b="1" i="1" dirty="0">
                <a:solidFill>
                  <a:schemeClr val="bg1">
                    <a:lumMod val="75000"/>
                  </a:schemeClr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qualquer </a:t>
            </a:r>
          </a:p>
          <a:p>
            <a:pPr algn="r"/>
            <a:r>
              <a:rPr lang="pt-BR" sz="1000" b="1" i="1" dirty="0">
                <a:solidFill>
                  <a:schemeClr val="bg1">
                    <a:lumMod val="75000"/>
                  </a:schemeClr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Status</a:t>
            </a:r>
            <a:endParaRPr lang="pt-BR" sz="1000" i="1" dirty="0">
              <a:solidFill>
                <a:schemeClr val="bg1">
                  <a:lumMod val="75000"/>
                </a:schemeClr>
              </a:solidFill>
            </a:endParaRPr>
          </a:p>
        </p:txBody>
      </p:sp>
      <p:sp>
        <p:nvSpPr>
          <p:cNvPr id="127" name="Retângulo 126"/>
          <p:cNvSpPr/>
          <p:nvPr/>
        </p:nvSpPr>
        <p:spPr>
          <a:xfrm>
            <a:off x="9215654" y="900539"/>
            <a:ext cx="772969" cy="4001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pt-BR" sz="1000" b="1" i="1" dirty="0">
                <a:solidFill>
                  <a:schemeClr val="bg1">
                    <a:lumMod val="75000"/>
                  </a:schemeClr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Vai para </a:t>
            </a:r>
          </a:p>
          <a:p>
            <a:r>
              <a:rPr lang="pt-BR" sz="1000" b="1" dirty="0">
                <a:solidFill>
                  <a:schemeClr val="bg1">
                    <a:lumMod val="75000"/>
                  </a:schemeClr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FECHADA</a:t>
            </a:r>
            <a:endParaRPr lang="pt-BR" sz="1000" b="1" dirty="0">
              <a:solidFill>
                <a:schemeClr val="bg1">
                  <a:lumMod val="75000"/>
                </a:schemeClr>
              </a:solidFill>
            </a:endParaRPr>
          </a:p>
        </p:txBody>
      </p:sp>
      <p:cxnSp>
        <p:nvCxnSpPr>
          <p:cNvPr id="128" name="Conector de Seta Reta 127"/>
          <p:cNvCxnSpPr>
            <a:stCxn id="113" idx="3"/>
            <a:endCxn id="127" idx="1"/>
          </p:cNvCxnSpPr>
          <p:nvPr/>
        </p:nvCxnSpPr>
        <p:spPr>
          <a:xfrm flipV="1">
            <a:off x="8877715" y="1100594"/>
            <a:ext cx="337939" cy="1"/>
          </a:xfrm>
          <a:prstGeom prst="straightConnector1">
            <a:avLst/>
          </a:prstGeom>
          <a:ln>
            <a:solidFill>
              <a:schemeClr val="bg1">
                <a:lumMod val="85000"/>
              </a:schemeClr>
            </a:solidFill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1" name="Retângulo 130"/>
          <p:cNvSpPr/>
          <p:nvPr/>
        </p:nvSpPr>
        <p:spPr>
          <a:xfrm>
            <a:off x="1306995" y="3270144"/>
            <a:ext cx="986167" cy="50783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r"/>
            <a:r>
              <a:rPr lang="pt-BR" sz="900" b="1" dirty="0">
                <a:solidFill>
                  <a:schemeClr val="bg1">
                    <a:lumMod val="75000"/>
                  </a:schemeClr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Solicitar</a:t>
            </a:r>
          </a:p>
          <a:p>
            <a:pPr algn="r"/>
            <a:r>
              <a:rPr lang="pt-BR" sz="900" b="1" dirty="0">
                <a:solidFill>
                  <a:schemeClr val="bg1">
                    <a:lumMod val="75000"/>
                  </a:schemeClr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Estimativa </a:t>
            </a:r>
          </a:p>
          <a:p>
            <a:pPr algn="r"/>
            <a:r>
              <a:rPr lang="pt-BR" sz="900" b="1" dirty="0">
                <a:solidFill>
                  <a:schemeClr val="bg1">
                    <a:lumMod val="75000"/>
                  </a:schemeClr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da Arquitetura</a:t>
            </a:r>
            <a:endParaRPr lang="pt-BR" sz="900" b="1" dirty="0">
              <a:solidFill>
                <a:schemeClr val="bg1">
                  <a:lumMod val="75000"/>
                </a:schemeClr>
              </a:solidFill>
            </a:endParaRPr>
          </a:p>
        </p:txBody>
      </p:sp>
      <p:sp>
        <p:nvSpPr>
          <p:cNvPr id="132" name="Retângulo 131"/>
          <p:cNvSpPr/>
          <p:nvPr/>
        </p:nvSpPr>
        <p:spPr>
          <a:xfrm>
            <a:off x="3622103" y="3270144"/>
            <a:ext cx="744114" cy="50783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r"/>
            <a:r>
              <a:rPr lang="pt-BR" sz="9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Enviar</a:t>
            </a:r>
          </a:p>
          <a:p>
            <a:pPr algn="r"/>
            <a:r>
              <a:rPr lang="pt-BR" sz="9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Estimativa</a:t>
            </a:r>
          </a:p>
          <a:p>
            <a:pPr algn="r"/>
            <a:r>
              <a:rPr lang="pt-BR" sz="9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para PMO</a:t>
            </a:r>
          </a:p>
        </p:txBody>
      </p:sp>
      <p:sp>
        <p:nvSpPr>
          <p:cNvPr id="133" name="Retângulo 132"/>
          <p:cNvSpPr/>
          <p:nvPr/>
        </p:nvSpPr>
        <p:spPr>
          <a:xfrm>
            <a:off x="7703367" y="3270144"/>
            <a:ext cx="856293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r"/>
            <a:r>
              <a:rPr lang="pt-BR" sz="900" b="1" dirty="0">
                <a:solidFill>
                  <a:schemeClr val="bg1">
                    <a:lumMod val="75000"/>
                  </a:schemeClr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Solicitar EF do Projeto</a:t>
            </a:r>
          </a:p>
        </p:txBody>
      </p:sp>
      <p:sp>
        <p:nvSpPr>
          <p:cNvPr id="134" name="Retângulo 133"/>
          <p:cNvSpPr/>
          <p:nvPr/>
        </p:nvSpPr>
        <p:spPr>
          <a:xfrm>
            <a:off x="7935211" y="3976725"/>
            <a:ext cx="1248898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r"/>
            <a:r>
              <a:rPr lang="pt-BR" sz="900" b="1" dirty="0">
                <a:solidFill>
                  <a:schemeClr val="bg1">
                    <a:lumMod val="75000"/>
                  </a:schemeClr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Solicitar Validação</a:t>
            </a:r>
          </a:p>
          <a:p>
            <a:pPr algn="r"/>
            <a:r>
              <a:rPr lang="pt-BR" sz="900" b="1" dirty="0">
                <a:solidFill>
                  <a:schemeClr val="bg1">
                    <a:lumMod val="75000"/>
                  </a:schemeClr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Negócio</a:t>
            </a:r>
          </a:p>
        </p:txBody>
      </p:sp>
      <p:sp>
        <p:nvSpPr>
          <p:cNvPr id="135" name="Retângulo 134"/>
          <p:cNvSpPr/>
          <p:nvPr/>
        </p:nvSpPr>
        <p:spPr>
          <a:xfrm>
            <a:off x="9158093" y="5246645"/>
            <a:ext cx="867761" cy="50783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pt-BR" sz="900" b="1" dirty="0">
                <a:solidFill>
                  <a:schemeClr val="bg1">
                    <a:lumMod val="75000"/>
                  </a:schemeClr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Solicitar Validação Arquitetura</a:t>
            </a:r>
          </a:p>
        </p:txBody>
      </p:sp>
      <p:sp>
        <p:nvSpPr>
          <p:cNvPr id="136" name="Retângulo 135"/>
          <p:cNvSpPr/>
          <p:nvPr/>
        </p:nvSpPr>
        <p:spPr>
          <a:xfrm>
            <a:off x="1509847" y="6094873"/>
            <a:ext cx="1119933" cy="50783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pt-BR" sz="900" b="1" dirty="0">
                <a:solidFill>
                  <a:schemeClr val="bg1">
                    <a:lumMod val="75000"/>
                  </a:schemeClr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Projeto Aprovado COMEX</a:t>
            </a:r>
          </a:p>
        </p:txBody>
      </p:sp>
      <p:sp>
        <p:nvSpPr>
          <p:cNvPr id="137" name="Retângulo 136"/>
          <p:cNvSpPr/>
          <p:nvPr/>
        </p:nvSpPr>
        <p:spPr>
          <a:xfrm>
            <a:off x="2948017" y="5033424"/>
            <a:ext cx="934110" cy="50783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pt-BR" sz="900" b="1" dirty="0">
                <a:solidFill>
                  <a:schemeClr val="bg1">
                    <a:lumMod val="75000"/>
                  </a:schemeClr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Projeto </a:t>
            </a:r>
          </a:p>
          <a:p>
            <a:r>
              <a:rPr lang="pt-BR" sz="900" b="1" dirty="0">
                <a:solidFill>
                  <a:schemeClr val="bg1">
                    <a:lumMod val="75000"/>
                  </a:schemeClr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Reprovado</a:t>
            </a:r>
          </a:p>
          <a:p>
            <a:r>
              <a:rPr lang="pt-BR" sz="900" b="1" dirty="0">
                <a:solidFill>
                  <a:schemeClr val="bg1">
                    <a:lumMod val="75000"/>
                  </a:schemeClr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COMEX</a:t>
            </a:r>
          </a:p>
        </p:txBody>
      </p:sp>
      <p:sp>
        <p:nvSpPr>
          <p:cNvPr id="138" name="Retângulo 137"/>
          <p:cNvSpPr/>
          <p:nvPr/>
        </p:nvSpPr>
        <p:spPr>
          <a:xfrm>
            <a:off x="6126539" y="4143803"/>
            <a:ext cx="978961" cy="50783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r"/>
            <a:r>
              <a:rPr lang="pt-BR" sz="900" b="1" dirty="0">
                <a:solidFill>
                  <a:schemeClr val="bg1">
                    <a:lumMod val="75000"/>
                  </a:schemeClr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Enviar para Fila de Melhorias</a:t>
            </a:r>
          </a:p>
        </p:txBody>
      </p:sp>
      <p:sp>
        <p:nvSpPr>
          <p:cNvPr id="139" name="Retângulo 138"/>
          <p:cNvSpPr/>
          <p:nvPr/>
        </p:nvSpPr>
        <p:spPr>
          <a:xfrm>
            <a:off x="3555717" y="4247518"/>
            <a:ext cx="1295336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pt-BR" sz="900" b="1" dirty="0">
                <a:solidFill>
                  <a:schemeClr val="bg1">
                    <a:lumMod val="75000"/>
                  </a:schemeClr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Fechar a </a:t>
            </a:r>
          </a:p>
          <a:p>
            <a:r>
              <a:rPr lang="pt-BR" sz="900" b="1" dirty="0">
                <a:solidFill>
                  <a:schemeClr val="bg1">
                    <a:lumMod val="75000"/>
                  </a:schemeClr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Ideia</a:t>
            </a:r>
          </a:p>
        </p:txBody>
      </p:sp>
      <p:sp>
        <p:nvSpPr>
          <p:cNvPr id="141" name="Retângulo 140"/>
          <p:cNvSpPr/>
          <p:nvPr/>
        </p:nvSpPr>
        <p:spPr>
          <a:xfrm>
            <a:off x="2910221" y="2516933"/>
            <a:ext cx="956126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pt-BR" sz="900" b="1" dirty="0">
                <a:solidFill>
                  <a:schemeClr val="bg1">
                    <a:lumMod val="75000"/>
                  </a:schemeClr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Retornar para  </a:t>
            </a:r>
          </a:p>
          <a:p>
            <a:r>
              <a:rPr lang="pt-BR" sz="900" b="1" dirty="0">
                <a:solidFill>
                  <a:schemeClr val="bg1">
                    <a:lumMod val="75000"/>
                  </a:schemeClr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Arquitetura</a:t>
            </a:r>
          </a:p>
        </p:txBody>
      </p:sp>
      <p:sp>
        <p:nvSpPr>
          <p:cNvPr id="56" name="Fluxograma: Processo 55"/>
          <p:cNvSpPr/>
          <p:nvPr/>
        </p:nvSpPr>
        <p:spPr>
          <a:xfrm>
            <a:off x="6524061" y="2984986"/>
            <a:ext cx="1152000" cy="538395"/>
          </a:xfrm>
          <a:prstGeom prst="flowChartProcess">
            <a:avLst/>
          </a:prstGeom>
          <a:solidFill>
            <a:schemeClr val="bg1">
              <a:lumMod val="65000"/>
            </a:schemeClr>
          </a:solidFill>
          <a:ln>
            <a:solidFill>
              <a:schemeClr val="bg1">
                <a:lumMod val="85000"/>
              </a:schemeClr>
            </a:solidFill>
          </a:ln>
        </p:spPr>
        <p:style>
          <a:lnRef idx="1">
            <a:schemeClr val="accent4"/>
          </a:lnRef>
          <a:fillRef idx="3">
            <a:schemeClr val="accent4"/>
          </a:fillRef>
          <a:effectRef idx="2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1000" b="1" dirty="0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Segoe UI" panose="020B0502040204020203" pitchFamily="34" charset="0"/>
                <a:cs typeface="Segoe UI" panose="020B0502040204020203" pitchFamily="34" charset="0"/>
              </a:rPr>
              <a:t>ESTIMATIVA ACEITA</a:t>
            </a:r>
            <a:endParaRPr lang="en-US" sz="1000" b="1" dirty="0">
              <a:solidFill>
                <a:schemeClr val="bg1">
                  <a:lumMod val="95000"/>
                </a:schemeClr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cxnSp>
        <p:nvCxnSpPr>
          <p:cNvPr id="74" name="Conector de Seta Reta 73"/>
          <p:cNvCxnSpPr>
            <a:stCxn id="56" idx="3"/>
            <a:endCxn id="61" idx="1"/>
          </p:cNvCxnSpPr>
          <p:nvPr/>
        </p:nvCxnSpPr>
        <p:spPr>
          <a:xfrm>
            <a:off x="7676061" y="3254184"/>
            <a:ext cx="929714" cy="0"/>
          </a:xfrm>
          <a:prstGeom prst="straightConnector1">
            <a:avLst/>
          </a:prstGeom>
          <a:ln>
            <a:solidFill>
              <a:schemeClr val="bg1">
                <a:lumMod val="85000"/>
              </a:schemeClr>
            </a:solidFill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3" name="Fluxograma: Processo 92"/>
          <p:cNvSpPr/>
          <p:nvPr/>
        </p:nvSpPr>
        <p:spPr>
          <a:xfrm>
            <a:off x="8593476" y="5810451"/>
            <a:ext cx="1152000" cy="538395"/>
          </a:xfrm>
          <a:prstGeom prst="flowChartProcess">
            <a:avLst/>
          </a:prstGeom>
          <a:solidFill>
            <a:srgbClr val="7030A0"/>
          </a:solidFill>
          <a:ln/>
        </p:spPr>
        <p:style>
          <a:lnRef idx="1">
            <a:schemeClr val="accent4"/>
          </a:lnRef>
          <a:fillRef idx="3">
            <a:schemeClr val="accent4"/>
          </a:fillRef>
          <a:effectRef idx="2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1000" b="1" dirty="0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Segoe UI" panose="020B0502040204020203" pitchFamily="34" charset="0"/>
                <a:cs typeface="Segoe UI" panose="020B0502040204020203" pitchFamily="34" charset="0"/>
              </a:rPr>
              <a:t>EF EM VALIDAÇÃO ARQUITETURA</a:t>
            </a:r>
            <a:endParaRPr lang="en-US" sz="1000" b="1" dirty="0">
              <a:solidFill>
                <a:schemeClr val="bg1">
                  <a:lumMod val="95000"/>
                </a:schemeClr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94" name="Fluxograma: Processo 93"/>
          <p:cNvSpPr/>
          <p:nvPr/>
        </p:nvSpPr>
        <p:spPr>
          <a:xfrm>
            <a:off x="6524061" y="5810451"/>
            <a:ext cx="1152000" cy="538395"/>
          </a:xfrm>
          <a:prstGeom prst="flowChartProcess">
            <a:avLst/>
          </a:prstGeom>
          <a:solidFill>
            <a:srgbClr val="7030A0"/>
          </a:solidFill>
          <a:ln/>
        </p:spPr>
        <p:style>
          <a:lnRef idx="1">
            <a:schemeClr val="accent4"/>
          </a:lnRef>
          <a:fillRef idx="3">
            <a:schemeClr val="accent4"/>
          </a:fillRef>
          <a:effectRef idx="2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1000" b="1" dirty="0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Segoe UI" panose="020B0502040204020203" pitchFamily="34" charset="0"/>
                <a:cs typeface="Segoe UI" panose="020B0502040204020203" pitchFamily="34" charset="0"/>
              </a:rPr>
              <a:t>DESENHO DA SOLUÇÃO</a:t>
            </a:r>
            <a:endParaRPr lang="en-US" sz="1000" b="1" dirty="0">
              <a:solidFill>
                <a:schemeClr val="bg1">
                  <a:lumMod val="95000"/>
                </a:schemeClr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95" name="Fluxograma: Processo 94"/>
          <p:cNvSpPr/>
          <p:nvPr/>
        </p:nvSpPr>
        <p:spPr>
          <a:xfrm>
            <a:off x="4427396" y="5810451"/>
            <a:ext cx="1152000" cy="538395"/>
          </a:xfrm>
          <a:prstGeom prst="flowChartProcess">
            <a:avLst/>
          </a:prstGeom>
          <a:solidFill>
            <a:srgbClr val="7030A0"/>
          </a:solidFill>
          <a:ln/>
        </p:spPr>
        <p:style>
          <a:lnRef idx="1">
            <a:schemeClr val="accent4"/>
          </a:lnRef>
          <a:fillRef idx="3">
            <a:schemeClr val="accent4"/>
          </a:fillRef>
          <a:effectRef idx="2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1000" b="1" dirty="0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Segoe UI" panose="020B0502040204020203" pitchFamily="34" charset="0"/>
                <a:cs typeface="Segoe UI" panose="020B0502040204020203" pitchFamily="34" charset="0"/>
              </a:rPr>
              <a:t>ESTIMATIVA REFINADA</a:t>
            </a:r>
            <a:endParaRPr lang="en-US" sz="1000" b="1" dirty="0">
              <a:solidFill>
                <a:schemeClr val="bg1">
                  <a:lumMod val="95000"/>
                </a:schemeClr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cxnSp>
        <p:nvCxnSpPr>
          <p:cNvPr id="110" name="Conector de Seta Reta 109"/>
          <p:cNvCxnSpPr>
            <a:stCxn id="93" idx="1"/>
            <a:endCxn id="94" idx="3"/>
          </p:cNvCxnSpPr>
          <p:nvPr/>
        </p:nvCxnSpPr>
        <p:spPr>
          <a:xfrm flipH="1">
            <a:off x="7676061" y="6079649"/>
            <a:ext cx="917415" cy="0"/>
          </a:xfrm>
          <a:prstGeom prst="straightConnector1">
            <a:avLst/>
          </a:prstGeom>
          <a:ln>
            <a:solidFill>
              <a:srgbClr val="FF6600"/>
            </a:solidFill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4" name="Conector de Seta Reta 113"/>
          <p:cNvCxnSpPr>
            <a:stCxn id="94" idx="1"/>
            <a:endCxn id="95" idx="3"/>
          </p:cNvCxnSpPr>
          <p:nvPr/>
        </p:nvCxnSpPr>
        <p:spPr>
          <a:xfrm flipH="1">
            <a:off x="5579396" y="6079649"/>
            <a:ext cx="944665" cy="0"/>
          </a:xfrm>
          <a:prstGeom prst="straightConnector1">
            <a:avLst/>
          </a:prstGeom>
          <a:ln>
            <a:solidFill>
              <a:srgbClr val="FF6600"/>
            </a:solidFill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5" name="Conector de Seta Reta 114"/>
          <p:cNvCxnSpPr>
            <a:stCxn id="95" idx="1"/>
            <a:endCxn id="64" idx="3"/>
          </p:cNvCxnSpPr>
          <p:nvPr/>
        </p:nvCxnSpPr>
        <p:spPr>
          <a:xfrm flipH="1">
            <a:off x="3512633" y="6079649"/>
            <a:ext cx="914763" cy="0"/>
          </a:xfrm>
          <a:prstGeom prst="straightConnector1">
            <a:avLst/>
          </a:prstGeom>
          <a:ln>
            <a:solidFill>
              <a:schemeClr val="bg1">
                <a:lumMod val="85000"/>
              </a:schemeClr>
            </a:solidFill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9" name="Retângulo 148"/>
          <p:cNvSpPr/>
          <p:nvPr/>
        </p:nvSpPr>
        <p:spPr>
          <a:xfrm>
            <a:off x="4998750" y="2620343"/>
            <a:ext cx="1107235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pt-BR" sz="900" b="1" dirty="0">
                <a:solidFill>
                  <a:schemeClr val="bg1">
                    <a:lumMod val="75000"/>
                  </a:schemeClr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Solicitar Aceite </a:t>
            </a:r>
          </a:p>
          <a:p>
            <a:r>
              <a:rPr lang="pt-BR" sz="900" b="1" dirty="0">
                <a:solidFill>
                  <a:schemeClr val="bg1">
                    <a:lumMod val="75000"/>
                  </a:schemeClr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do Usuário</a:t>
            </a:r>
          </a:p>
        </p:txBody>
      </p:sp>
      <p:cxnSp>
        <p:nvCxnSpPr>
          <p:cNvPr id="150" name="Conector de Seta Reta 68"/>
          <p:cNvCxnSpPr>
            <a:stCxn id="56" idx="0"/>
            <a:endCxn id="68" idx="3"/>
          </p:cNvCxnSpPr>
          <p:nvPr/>
        </p:nvCxnSpPr>
        <p:spPr>
          <a:xfrm rot="16200000" flipV="1">
            <a:off x="5972144" y="1857069"/>
            <a:ext cx="750120" cy="1505714"/>
          </a:xfrm>
          <a:prstGeom prst="bentConnector2">
            <a:avLst/>
          </a:prstGeom>
          <a:ln>
            <a:solidFill>
              <a:schemeClr val="bg1">
                <a:lumMod val="85000"/>
              </a:schemeClr>
            </a:solidFill>
            <a:headEnd type="triangle" w="lg" len="lg"/>
            <a:tailEnd type="non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9" name="Retângulo 158"/>
          <p:cNvSpPr/>
          <p:nvPr/>
        </p:nvSpPr>
        <p:spPr>
          <a:xfrm>
            <a:off x="7105500" y="2517327"/>
            <a:ext cx="780227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pt-BR" sz="900" b="1" dirty="0">
                <a:solidFill>
                  <a:schemeClr val="bg1">
                    <a:lumMod val="75000"/>
                  </a:schemeClr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Aceitar Estimativa</a:t>
            </a:r>
          </a:p>
        </p:txBody>
      </p:sp>
      <p:sp>
        <p:nvSpPr>
          <p:cNvPr id="160" name="Fluxograma: Processo 159"/>
          <p:cNvSpPr/>
          <p:nvPr/>
        </p:nvSpPr>
        <p:spPr>
          <a:xfrm>
            <a:off x="278919" y="3452081"/>
            <a:ext cx="612000" cy="216000"/>
          </a:xfrm>
          <a:prstGeom prst="flowChartProcess">
            <a:avLst/>
          </a:prstGeom>
          <a:solidFill>
            <a:schemeClr val="bg1">
              <a:lumMod val="65000"/>
            </a:schemeClr>
          </a:solidFill>
          <a:ln>
            <a:solidFill>
              <a:schemeClr val="bg1">
                <a:lumMod val="85000"/>
              </a:schemeClr>
            </a:solidFill>
          </a:ln>
        </p:spPr>
        <p:style>
          <a:lnRef idx="1">
            <a:schemeClr val="accent4"/>
          </a:lnRef>
          <a:fillRef idx="3">
            <a:schemeClr val="accent4"/>
          </a:fillRef>
          <a:effectRef idx="2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1000" b="1" dirty="0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Segoe UI" panose="020B0502040204020203" pitchFamily="34" charset="0"/>
                <a:cs typeface="Segoe UI" panose="020B0502040204020203" pitchFamily="34" charset="0"/>
              </a:rPr>
              <a:t>INÍCIO</a:t>
            </a:r>
            <a:endParaRPr lang="en-US" sz="1000" b="1" dirty="0">
              <a:solidFill>
                <a:schemeClr val="bg1">
                  <a:lumMod val="95000"/>
                </a:schemeClr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161" name="Fluxograma: Processo 160"/>
          <p:cNvSpPr/>
          <p:nvPr/>
        </p:nvSpPr>
        <p:spPr>
          <a:xfrm>
            <a:off x="2360633" y="4854712"/>
            <a:ext cx="432000" cy="216000"/>
          </a:xfrm>
          <a:prstGeom prst="flowChartProcess">
            <a:avLst/>
          </a:prstGeom>
          <a:solidFill>
            <a:schemeClr val="bg1">
              <a:lumMod val="65000"/>
            </a:schemeClr>
          </a:solidFill>
          <a:ln>
            <a:solidFill>
              <a:schemeClr val="bg1">
                <a:lumMod val="85000"/>
              </a:schemeClr>
            </a:solidFill>
          </a:ln>
        </p:spPr>
        <p:style>
          <a:lnRef idx="1">
            <a:schemeClr val="accent4"/>
          </a:lnRef>
          <a:fillRef idx="3">
            <a:schemeClr val="accent4"/>
          </a:fillRef>
          <a:effectRef idx="2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1000" b="1" dirty="0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Segoe UI" panose="020B0502040204020203" pitchFamily="34" charset="0"/>
                <a:cs typeface="Segoe UI" panose="020B0502040204020203" pitchFamily="34" charset="0"/>
              </a:rPr>
              <a:t>FIM</a:t>
            </a:r>
            <a:endParaRPr lang="en-US" sz="1000" b="1" dirty="0">
              <a:solidFill>
                <a:schemeClr val="bg1">
                  <a:lumMod val="95000"/>
                </a:schemeClr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162" name="Retângulo 161"/>
          <p:cNvSpPr/>
          <p:nvPr/>
        </p:nvSpPr>
        <p:spPr>
          <a:xfrm>
            <a:off x="983828" y="4247518"/>
            <a:ext cx="1295336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r"/>
            <a:r>
              <a:rPr lang="pt-BR" sz="900" b="1" dirty="0">
                <a:solidFill>
                  <a:schemeClr val="bg1">
                    <a:lumMod val="75000"/>
                  </a:schemeClr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Fechar a </a:t>
            </a:r>
          </a:p>
          <a:p>
            <a:pPr algn="r"/>
            <a:r>
              <a:rPr lang="pt-BR" sz="900" b="1" dirty="0">
                <a:solidFill>
                  <a:schemeClr val="bg1">
                    <a:lumMod val="75000"/>
                  </a:schemeClr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Ideia</a:t>
            </a:r>
          </a:p>
        </p:txBody>
      </p:sp>
      <p:cxnSp>
        <p:nvCxnSpPr>
          <p:cNvPr id="163" name="Conector de Seta Reta 68"/>
          <p:cNvCxnSpPr>
            <a:stCxn id="63" idx="0"/>
            <a:endCxn id="61" idx="2"/>
          </p:cNvCxnSpPr>
          <p:nvPr/>
        </p:nvCxnSpPr>
        <p:spPr>
          <a:xfrm flipV="1">
            <a:off x="9181775" y="3523381"/>
            <a:ext cx="0" cy="874338"/>
          </a:xfrm>
          <a:prstGeom prst="straightConnector1">
            <a:avLst/>
          </a:prstGeom>
          <a:ln>
            <a:solidFill>
              <a:schemeClr val="bg1">
                <a:lumMod val="85000"/>
              </a:schemeClr>
            </a:solidFill>
            <a:headEnd type="triangle" w="lg" len="lg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6" name="Retângulo 165"/>
          <p:cNvSpPr/>
          <p:nvPr/>
        </p:nvSpPr>
        <p:spPr>
          <a:xfrm>
            <a:off x="9222193" y="3575043"/>
            <a:ext cx="803661" cy="50783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pt-BR" sz="900" b="1" dirty="0">
                <a:solidFill>
                  <a:schemeClr val="bg1">
                    <a:lumMod val="75000"/>
                  </a:schemeClr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Retornar </a:t>
            </a:r>
          </a:p>
          <a:p>
            <a:r>
              <a:rPr lang="pt-BR" sz="900" b="1" dirty="0">
                <a:solidFill>
                  <a:schemeClr val="bg1">
                    <a:lumMod val="75000"/>
                  </a:schemeClr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para </a:t>
            </a:r>
          </a:p>
          <a:p>
            <a:r>
              <a:rPr lang="pt-BR" sz="900" b="1" dirty="0">
                <a:solidFill>
                  <a:schemeClr val="bg1">
                    <a:lumMod val="75000"/>
                  </a:schemeClr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Elaboração</a:t>
            </a:r>
          </a:p>
        </p:txBody>
      </p:sp>
      <p:sp>
        <p:nvSpPr>
          <p:cNvPr id="167" name="Retângulo 166"/>
          <p:cNvSpPr/>
          <p:nvPr/>
        </p:nvSpPr>
        <p:spPr>
          <a:xfrm>
            <a:off x="3544543" y="6112929"/>
            <a:ext cx="934110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pt-BR" sz="900" b="1" dirty="0">
                <a:solidFill>
                  <a:schemeClr val="bg1">
                    <a:lumMod val="75000"/>
                  </a:schemeClr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Aguardar</a:t>
            </a:r>
          </a:p>
          <a:p>
            <a:r>
              <a:rPr lang="pt-BR" sz="900" b="1" dirty="0">
                <a:solidFill>
                  <a:schemeClr val="bg1">
                    <a:lumMod val="75000"/>
                  </a:schemeClr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COMEX</a:t>
            </a:r>
          </a:p>
        </p:txBody>
      </p:sp>
      <p:sp>
        <p:nvSpPr>
          <p:cNvPr id="168" name="Retângulo 167"/>
          <p:cNvSpPr/>
          <p:nvPr/>
        </p:nvSpPr>
        <p:spPr>
          <a:xfrm>
            <a:off x="7725715" y="6121267"/>
            <a:ext cx="867761" cy="50783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pt-BR" sz="9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Elaborar</a:t>
            </a:r>
          </a:p>
          <a:p>
            <a:r>
              <a:rPr lang="pt-BR" sz="9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Desenho de Solução</a:t>
            </a:r>
          </a:p>
        </p:txBody>
      </p:sp>
      <p:sp>
        <p:nvSpPr>
          <p:cNvPr id="169" name="Retângulo 168"/>
          <p:cNvSpPr/>
          <p:nvPr/>
        </p:nvSpPr>
        <p:spPr>
          <a:xfrm>
            <a:off x="5668965" y="6121267"/>
            <a:ext cx="867761" cy="50783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pt-BR" sz="9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Solicitar</a:t>
            </a:r>
          </a:p>
          <a:p>
            <a:r>
              <a:rPr lang="pt-BR" sz="9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Revisão da Estimativa</a:t>
            </a:r>
          </a:p>
        </p:txBody>
      </p:sp>
      <p:sp>
        <p:nvSpPr>
          <p:cNvPr id="71" name="Retângulo 70"/>
          <p:cNvSpPr/>
          <p:nvPr/>
        </p:nvSpPr>
        <p:spPr>
          <a:xfrm>
            <a:off x="3402455" y="1503089"/>
            <a:ext cx="1536343" cy="2308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r"/>
            <a:r>
              <a:rPr lang="pt-BR" sz="900" b="1" dirty="0">
                <a:solidFill>
                  <a:schemeClr val="bg1">
                    <a:lumMod val="75000"/>
                  </a:schemeClr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Enviar para Usuário  </a:t>
            </a:r>
          </a:p>
        </p:txBody>
      </p:sp>
      <p:sp>
        <p:nvSpPr>
          <p:cNvPr id="75" name="Retângulo 74"/>
          <p:cNvSpPr/>
          <p:nvPr/>
        </p:nvSpPr>
        <p:spPr>
          <a:xfrm>
            <a:off x="4766419" y="1503089"/>
            <a:ext cx="1536343" cy="2308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r"/>
            <a:r>
              <a:rPr lang="pt-BR" sz="900" b="1" dirty="0">
                <a:solidFill>
                  <a:schemeClr val="bg1">
                    <a:lumMod val="75000"/>
                  </a:schemeClr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Enviar para Usuário  </a:t>
            </a:r>
          </a:p>
        </p:txBody>
      </p:sp>
      <p:sp>
        <p:nvSpPr>
          <p:cNvPr id="77" name="Retângulo 76"/>
          <p:cNvSpPr/>
          <p:nvPr/>
        </p:nvSpPr>
        <p:spPr>
          <a:xfrm>
            <a:off x="2829874" y="1988338"/>
            <a:ext cx="1536343" cy="2308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r"/>
            <a:r>
              <a:rPr lang="pt-BR" sz="900" b="1" dirty="0">
                <a:solidFill>
                  <a:schemeClr val="bg1">
                    <a:lumMod val="75000"/>
                  </a:schemeClr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Enviar para Usuário  </a:t>
            </a:r>
          </a:p>
        </p:txBody>
      </p:sp>
    </p:spTree>
    <p:extLst>
      <p:ext uri="{BB962C8B-B14F-4D97-AF65-F5344CB8AC3E}">
        <p14:creationId xmlns:p14="http://schemas.microsoft.com/office/powerpoint/2010/main" val="216453218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Tema do Office">
  <a:themeElements>
    <a:clrScheme name="Escritório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Escritório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Escritório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5416</TotalTime>
  <Words>347</Words>
  <Application>Microsoft Office PowerPoint</Application>
  <PresentationFormat>Personalizar</PresentationFormat>
  <Paragraphs>149</Paragraphs>
  <Slides>4</Slides>
  <Notes>0</Notes>
  <HiddenSlides>0</HiddenSlides>
  <MMClips>0</MMClips>
  <ScaleCrop>false</ScaleCrop>
  <HeadingPairs>
    <vt:vector size="6" baseType="variant">
      <vt:variant>
        <vt:lpstr>Fontes usadas</vt:lpstr>
      </vt:variant>
      <vt:variant>
        <vt:i4>5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4</vt:i4>
      </vt:variant>
    </vt:vector>
  </HeadingPairs>
  <TitlesOfParts>
    <vt:vector size="10" baseType="lpstr">
      <vt:lpstr>Arial</vt:lpstr>
      <vt:lpstr>Calibri</vt:lpstr>
      <vt:lpstr>Gotham Rounded Book</vt:lpstr>
      <vt:lpstr>Segoe UI</vt:lpstr>
      <vt:lpstr>Trebuchet MS</vt:lpstr>
      <vt:lpstr>Office Theme</vt:lpstr>
      <vt:lpstr>Apresentação do PowerPoint</vt:lpstr>
      <vt:lpstr>Apresentação do PowerPoint</vt:lpstr>
      <vt:lpstr>Apresentação do PowerPoint</vt:lpstr>
      <vt:lpstr>Apresentação do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fred</dc:creator>
  <cp:lastModifiedBy>Chacon</cp:lastModifiedBy>
  <cp:revision>314</cp:revision>
  <dcterms:created xsi:type="dcterms:W3CDTF">2014-01-24T21:35:00Z</dcterms:created>
  <dcterms:modified xsi:type="dcterms:W3CDTF">2017-02-17T17:40:05Z</dcterms:modified>
</cp:coreProperties>
</file>