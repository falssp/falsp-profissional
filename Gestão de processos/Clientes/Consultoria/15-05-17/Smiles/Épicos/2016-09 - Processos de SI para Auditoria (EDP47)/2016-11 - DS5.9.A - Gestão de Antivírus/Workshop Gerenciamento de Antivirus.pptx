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403" r:id="rId3"/>
    <p:sldId id="340" r:id="rId4"/>
    <p:sldId id="370" r:id="rId5"/>
    <p:sldId id="402" r:id="rId6"/>
    <p:sldId id="375" r:id="rId7"/>
    <p:sldId id="399" r:id="rId8"/>
    <p:sldId id="401" r:id="rId9"/>
    <p:sldId id="400" r:id="rId10"/>
    <p:sldId id="373" r:id="rId11"/>
    <p:sldId id="371" r:id="rId12"/>
    <p:sldId id="380" r:id="rId13"/>
    <p:sldId id="351" r:id="rId14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5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40" y="78"/>
      </p:cViewPr>
      <p:guideLst>
        <p:guide orient="horz" pos="3725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B6C1BA-4DD5-4F5D-B649-1899D4898AB9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4773FD50-2EA5-4DC8-9C8C-B39895A952F9}">
      <dgm:prSet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% e </a:t>
          </a:r>
          <a:r>
            <a:rPr lang="pt-BR" sz="1600" dirty="0" err="1" smtClean="0">
              <a:solidFill>
                <a:schemeClr val="tx1"/>
              </a:solidFill>
            </a:rPr>
            <a:t>qtd</a:t>
          </a:r>
          <a:r>
            <a:rPr lang="pt-BR" sz="1600" dirty="0" smtClean="0">
              <a:solidFill>
                <a:schemeClr val="tx1"/>
              </a:solidFill>
            </a:rPr>
            <a:t>. de estações de trabalho e servidores elegíveis que foram atualizadas o .</a:t>
          </a:r>
          <a:r>
            <a:rPr lang="pt-BR" sz="1600" dirty="0" err="1" smtClean="0">
              <a:solidFill>
                <a:schemeClr val="tx1"/>
              </a:solidFill>
            </a:rPr>
            <a:t>dat</a:t>
          </a:r>
          <a:r>
            <a:rPr lang="pt-BR" sz="1600" dirty="0" smtClean="0">
              <a:solidFill>
                <a:schemeClr val="tx1"/>
              </a:solidFill>
            </a:rPr>
            <a:t> </a:t>
          </a:r>
          <a:endParaRPr lang="pt-BR" sz="1600" dirty="0">
            <a:solidFill>
              <a:schemeClr val="tx1"/>
            </a:solidFill>
          </a:endParaRPr>
        </a:p>
      </dgm:t>
    </dgm:pt>
    <dgm:pt modelId="{6BE5E559-EA7B-4B8D-94A6-8EB9FE5280CE}" type="parTrans" cxnId="{D15A3519-3005-43E0-9107-02F2916F43EC}">
      <dgm:prSet/>
      <dgm:spPr/>
      <dgm:t>
        <a:bodyPr/>
        <a:lstStyle/>
        <a:p>
          <a:endParaRPr lang="pt-BR" sz="1600">
            <a:solidFill>
              <a:schemeClr val="tx1"/>
            </a:solidFill>
          </a:endParaRPr>
        </a:p>
      </dgm:t>
    </dgm:pt>
    <dgm:pt modelId="{E3E18800-8D3C-480A-B072-87EF2E5916D8}" type="sibTrans" cxnId="{D15A3519-3005-43E0-9107-02F2916F43EC}">
      <dgm:prSet/>
      <dgm:spPr/>
      <dgm:t>
        <a:bodyPr/>
        <a:lstStyle/>
        <a:p>
          <a:endParaRPr lang="pt-BR" sz="1600">
            <a:solidFill>
              <a:schemeClr val="tx1"/>
            </a:solidFill>
          </a:endParaRPr>
        </a:p>
      </dgm:t>
    </dgm:pt>
    <dgm:pt modelId="{D2BDE7E9-80ED-4B2F-AD9A-E7D051FC922A}">
      <dgm:prSet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% e </a:t>
          </a:r>
          <a:r>
            <a:rPr lang="pt-BR" sz="1600" dirty="0" err="1" smtClean="0">
              <a:solidFill>
                <a:schemeClr val="tx1"/>
              </a:solidFill>
            </a:rPr>
            <a:t>qtd</a:t>
          </a:r>
          <a:r>
            <a:rPr lang="pt-BR" sz="1600" dirty="0" smtClean="0">
              <a:solidFill>
                <a:schemeClr val="tx1"/>
              </a:solidFill>
            </a:rPr>
            <a:t>. de estações de trabalho e servidores elegíveis que NÃO foram atualizadas o antivírus</a:t>
          </a:r>
          <a:endParaRPr lang="pt-BR" sz="1600" dirty="0">
            <a:solidFill>
              <a:schemeClr val="tx1"/>
            </a:solidFill>
          </a:endParaRPr>
        </a:p>
      </dgm:t>
    </dgm:pt>
    <dgm:pt modelId="{B091A7D3-EB08-405D-A25F-BD92E114AED7}" type="parTrans" cxnId="{47FC7FA6-6DF1-4F72-8BB1-FFBCACDEC960}">
      <dgm:prSet/>
      <dgm:spPr/>
      <dgm:t>
        <a:bodyPr/>
        <a:lstStyle/>
        <a:p>
          <a:endParaRPr lang="pt-BR" sz="1600">
            <a:solidFill>
              <a:schemeClr val="tx1"/>
            </a:solidFill>
          </a:endParaRPr>
        </a:p>
      </dgm:t>
    </dgm:pt>
    <dgm:pt modelId="{77CE2F0D-8E80-4ADE-871E-A8F37589D5B7}" type="sibTrans" cxnId="{47FC7FA6-6DF1-4F72-8BB1-FFBCACDEC960}">
      <dgm:prSet/>
      <dgm:spPr/>
      <dgm:t>
        <a:bodyPr/>
        <a:lstStyle/>
        <a:p>
          <a:endParaRPr lang="pt-BR" sz="1600">
            <a:solidFill>
              <a:schemeClr val="tx1"/>
            </a:solidFill>
          </a:endParaRPr>
        </a:p>
      </dgm:t>
    </dgm:pt>
    <dgm:pt modelId="{13739C7B-945F-4147-ADE3-2BC023314857}">
      <dgm:prSet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% e </a:t>
          </a:r>
          <a:r>
            <a:rPr lang="pt-BR" sz="1600" dirty="0" err="1" smtClean="0">
              <a:solidFill>
                <a:schemeClr val="tx1"/>
              </a:solidFill>
            </a:rPr>
            <a:t>qtd</a:t>
          </a:r>
          <a:r>
            <a:rPr lang="pt-BR" sz="1600" dirty="0" smtClean="0">
              <a:solidFill>
                <a:schemeClr val="tx1"/>
              </a:solidFill>
            </a:rPr>
            <a:t>. de estações de trabalho e servidores elegíveis que NÃO foram atualizadas o .</a:t>
          </a:r>
          <a:r>
            <a:rPr lang="pt-BR" sz="1600" dirty="0" err="1" smtClean="0">
              <a:solidFill>
                <a:schemeClr val="tx1"/>
              </a:solidFill>
            </a:rPr>
            <a:t>dat</a:t>
          </a:r>
          <a:r>
            <a:rPr lang="pt-BR" sz="1600" dirty="0" smtClean="0">
              <a:solidFill>
                <a:schemeClr val="tx1"/>
              </a:solidFill>
            </a:rPr>
            <a:t> </a:t>
          </a:r>
          <a:endParaRPr lang="pt-BR" sz="1600" dirty="0">
            <a:solidFill>
              <a:schemeClr val="tx1"/>
            </a:solidFill>
          </a:endParaRPr>
        </a:p>
      </dgm:t>
    </dgm:pt>
    <dgm:pt modelId="{2433F96C-C575-4FAE-8619-62DFEDBDFA29}" type="parTrans" cxnId="{BC25278D-B7A2-436C-8503-BD171F3D8B17}">
      <dgm:prSet/>
      <dgm:spPr/>
      <dgm:t>
        <a:bodyPr/>
        <a:lstStyle/>
        <a:p>
          <a:endParaRPr lang="pt-BR" sz="1600">
            <a:solidFill>
              <a:schemeClr val="tx1"/>
            </a:solidFill>
          </a:endParaRPr>
        </a:p>
      </dgm:t>
    </dgm:pt>
    <dgm:pt modelId="{4691E86F-C7D2-4E31-AFCA-D2AA794FD16C}" type="sibTrans" cxnId="{BC25278D-B7A2-436C-8503-BD171F3D8B17}">
      <dgm:prSet/>
      <dgm:spPr/>
      <dgm:t>
        <a:bodyPr/>
        <a:lstStyle/>
        <a:p>
          <a:endParaRPr lang="pt-BR" sz="1600">
            <a:solidFill>
              <a:schemeClr val="tx1"/>
            </a:solidFill>
          </a:endParaRPr>
        </a:p>
      </dgm:t>
    </dgm:pt>
    <dgm:pt modelId="{975FD2C6-71BF-444F-AF6C-9205EF85178C}">
      <dgm:prSet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% e </a:t>
          </a:r>
          <a:r>
            <a:rPr lang="pt-BR" sz="1600" dirty="0" err="1" smtClean="0">
              <a:solidFill>
                <a:schemeClr val="tx1"/>
              </a:solidFill>
            </a:rPr>
            <a:t>qtd</a:t>
          </a:r>
          <a:r>
            <a:rPr lang="pt-BR" sz="1600" dirty="0" smtClean="0">
              <a:solidFill>
                <a:schemeClr val="tx1"/>
              </a:solidFill>
            </a:rPr>
            <a:t>. de estações de trabalho e servidores elegíveis que foram atualizadas o antivírus</a:t>
          </a:r>
          <a:endParaRPr lang="pt-BR" sz="1600" dirty="0">
            <a:solidFill>
              <a:schemeClr val="tx1"/>
            </a:solidFill>
          </a:endParaRPr>
        </a:p>
      </dgm:t>
    </dgm:pt>
    <dgm:pt modelId="{12313256-0B0A-4CF2-A175-EB705674FB56}" type="parTrans" cxnId="{5A54C1DC-D3AC-465E-ABD7-DCEE68AD60B0}">
      <dgm:prSet/>
      <dgm:spPr/>
      <dgm:t>
        <a:bodyPr/>
        <a:lstStyle/>
        <a:p>
          <a:endParaRPr lang="pt-BR" sz="1600">
            <a:solidFill>
              <a:schemeClr val="tx1"/>
            </a:solidFill>
          </a:endParaRPr>
        </a:p>
      </dgm:t>
    </dgm:pt>
    <dgm:pt modelId="{D7F2B228-ECD1-44A9-981D-B507CA1881CC}" type="sibTrans" cxnId="{5A54C1DC-D3AC-465E-ABD7-DCEE68AD60B0}">
      <dgm:prSet/>
      <dgm:spPr/>
      <dgm:t>
        <a:bodyPr/>
        <a:lstStyle/>
        <a:p>
          <a:endParaRPr lang="pt-BR" sz="1600">
            <a:solidFill>
              <a:schemeClr val="tx1"/>
            </a:solidFill>
          </a:endParaRPr>
        </a:p>
      </dgm:t>
    </dgm:pt>
    <dgm:pt modelId="{2C6C4C29-BA2E-4CD0-A892-634CFB040E97}" type="pres">
      <dgm:prSet presAssocID="{48B6C1BA-4DD5-4F5D-B649-1899D4898AB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F2AC1F47-2EFA-4408-BAC1-BE456AEC649F}" type="pres">
      <dgm:prSet presAssocID="{975FD2C6-71BF-444F-AF6C-9205EF85178C}" presName="parentLin" presStyleCnt="0"/>
      <dgm:spPr/>
    </dgm:pt>
    <dgm:pt modelId="{1DD33CFF-2FAD-4B07-9BA9-466A9328E62D}" type="pres">
      <dgm:prSet presAssocID="{975FD2C6-71BF-444F-AF6C-9205EF85178C}" presName="parentLeftMargin" presStyleLbl="node1" presStyleIdx="0" presStyleCnt="4"/>
      <dgm:spPr/>
      <dgm:t>
        <a:bodyPr/>
        <a:lstStyle/>
        <a:p>
          <a:endParaRPr lang="pt-BR"/>
        </a:p>
      </dgm:t>
    </dgm:pt>
    <dgm:pt modelId="{6625052C-65FC-47C3-BCAE-145A4478D30C}" type="pres">
      <dgm:prSet presAssocID="{975FD2C6-71BF-444F-AF6C-9205EF85178C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C595BA2-47E3-456D-A19F-E90DE9B3D67F}" type="pres">
      <dgm:prSet presAssocID="{975FD2C6-71BF-444F-AF6C-9205EF85178C}" presName="negativeSpace" presStyleCnt="0"/>
      <dgm:spPr/>
    </dgm:pt>
    <dgm:pt modelId="{46A02022-9073-42F8-B125-C12484F8FA57}" type="pres">
      <dgm:prSet presAssocID="{975FD2C6-71BF-444F-AF6C-9205EF85178C}" presName="childText" presStyleLbl="conFgAcc1" presStyleIdx="0" presStyleCnt="4">
        <dgm:presLayoutVars>
          <dgm:bulletEnabled val="1"/>
        </dgm:presLayoutVars>
      </dgm:prSet>
      <dgm:spPr/>
    </dgm:pt>
    <dgm:pt modelId="{A913243F-7482-4DFA-881C-EAD5A051CE87}" type="pres">
      <dgm:prSet presAssocID="{D7F2B228-ECD1-44A9-981D-B507CA1881CC}" presName="spaceBetweenRectangles" presStyleCnt="0"/>
      <dgm:spPr/>
    </dgm:pt>
    <dgm:pt modelId="{49CF6ACD-8C1F-484A-B72C-47A40FACDBFB}" type="pres">
      <dgm:prSet presAssocID="{4773FD50-2EA5-4DC8-9C8C-B39895A952F9}" presName="parentLin" presStyleCnt="0"/>
      <dgm:spPr/>
    </dgm:pt>
    <dgm:pt modelId="{05C525FB-89D8-4A11-AB35-2633960F422E}" type="pres">
      <dgm:prSet presAssocID="{4773FD50-2EA5-4DC8-9C8C-B39895A952F9}" presName="parentLeftMargin" presStyleLbl="node1" presStyleIdx="0" presStyleCnt="4"/>
      <dgm:spPr/>
      <dgm:t>
        <a:bodyPr/>
        <a:lstStyle/>
        <a:p>
          <a:endParaRPr lang="pt-BR"/>
        </a:p>
      </dgm:t>
    </dgm:pt>
    <dgm:pt modelId="{A1C60C33-E079-4C7A-B98D-25662984A66D}" type="pres">
      <dgm:prSet presAssocID="{4773FD50-2EA5-4DC8-9C8C-B39895A952F9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E2E1B02-F9B8-4854-AEF0-4B4F93CFAA01}" type="pres">
      <dgm:prSet presAssocID="{4773FD50-2EA5-4DC8-9C8C-B39895A952F9}" presName="negativeSpace" presStyleCnt="0"/>
      <dgm:spPr/>
    </dgm:pt>
    <dgm:pt modelId="{90330ED4-58FF-4D0A-8E83-50D44EBF7E0C}" type="pres">
      <dgm:prSet presAssocID="{4773FD50-2EA5-4DC8-9C8C-B39895A952F9}" presName="childText" presStyleLbl="conFgAcc1" presStyleIdx="1" presStyleCnt="4">
        <dgm:presLayoutVars>
          <dgm:bulletEnabled val="1"/>
        </dgm:presLayoutVars>
      </dgm:prSet>
      <dgm:spPr/>
    </dgm:pt>
    <dgm:pt modelId="{84C68458-E75B-45BF-AAB4-471ED9A69111}" type="pres">
      <dgm:prSet presAssocID="{E3E18800-8D3C-480A-B072-87EF2E5916D8}" presName="spaceBetweenRectangles" presStyleCnt="0"/>
      <dgm:spPr/>
    </dgm:pt>
    <dgm:pt modelId="{53396491-9407-4B49-BD42-534DE88EB68C}" type="pres">
      <dgm:prSet presAssocID="{D2BDE7E9-80ED-4B2F-AD9A-E7D051FC922A}" presName="parentLin" presStyleCnt="0"/>
      <dgm:spPr/>
    </dgm:pt>
    <dgm:pt modelId="{14428555-E771-4D1D-899F-185032A88AB8}" type="pres">
      <dgm:prSet presAssocID="{D2BDE7E9-80ED-4B2F-AD9A-E7D051FC922A}" presName="parentLeftMargin" presStyleLbl="node1" presStyleIdx="1" presStyleCnt="4"/>
      <dgm:spPr/>
      <dgm:t>
        <a:bodyPr/>
        <a:lstStyle/>
        <a:p>
          <a:endParaRPr lang="pt-BR"/>
        </a:p>
      </dgm:t>
    </dgm:pt>
    <dgm:pt modelId="{7D1F9644-AEDD-42A6-801E-86C2295F38B3}" type="pres">
      <dgm:prSet presAssocID="{D2BDE7E9-80ED-4B2F-AD9A-E7D051FC922A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DC6934C-42DF-475F-9B2A-EC160E02FD39}" type="pres">
      <dgm:prSet presAssocID="{D2BDE7E9-80ED-4B2F-AD9A-E7D051FC922A}" presName="negativeSpace" presStyleCnt="0"/>
      <dgm:spPr/>
    </dgm:pt>
    <dgm:pt modelId="{24CB261D-7D9D-4966-A12F-C812729D44BE}" type="pres">
      <dgm:prSet presAssocID="{D2BDE7E9-80ED-4B2F-AD9A-E7D051FC922A}" presName="childText" presStyleLbl="conFgAcc1" presStyleIdx="2" presStyleCnt="4">
        <dgm:presLayoutVars>
          <dgm:bulletEnabled val="1"/>
        </dgm:presLayoutVars>
      </dgm:prSet>
      <dgm:spPr/>
    </dgm:pt>
    <dgm:pt modelId="{CA2423A8-87B0-40DF-84A5-D236F5011E57}" type="pres">
      <dgm:prSet presAssocID="{77CE2F0D-8E80-4ADE-871E-A8F37589D5B7}" presName="spaceBetweenRectangles" presStyleCnt="0"/>
      <dgm:spPr/>
    </dgm:pt>
    <dgm:pt modelId="{5EBBA8CE-BD38-4CDF-8DC6-468F351F0799}" type="pres">
      <dgm:prSet presAssocID="{13739C7B-945F-4147-ADE3-2BC023314857}" presName="parentLin" presStyleCnt="0"/>
      <dgm:spPr/>
    </dgm:pt>
    <dgm:pt modelId="{20CBCFC2-4CA7-4FBC-B0F7-C47240AD2FAD}" type="pres">
      <dgm:prSet presAssocID="{13739C7B-945F-4147-ADE3-2BC023314857}" presName="parentLeftMargin" presStyleLbl="node1" presStyleIdx="2" presStyleCnt="4"/>
      <dgm:spPr/>
      <dgm:t>
        <a:bodyPr/>
        <a:lstStyle/>
        <a:p>
          <a:endParaRPr lang="pt-BR"/>
        </a:p>
      </dgm:t>
    </dgm:pt>
    <dgm:pt modelId="{1B4DCB20-DC6A-4833-819B-2C84C44D5DE5}" type="pres">
      <dgm:prSet presAssocID="{13739C7B-945F-4147-ADE3-2BC023314857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40D605D-6179-4096-AE7F-8B74361BC569}" type="pres">
      <dgm:prSet presAssocID="{13739C7B-945F-4147-ADE3-2BC023314857}" presName="negativeSpace" presStyleCnt="0"/>
      <dgm:spPr/>
    </dgm:pt>
    <dgm:pt modelId="{F423083C-6781-4AFE-BB1D-308877AB1FD6}" type="pres">
      <dgm:prSet presAssocID="{13739C7B-945F-4147-ADE3-2BC02331485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4217732-99BD-4AFE-AF14-0ECD849B74C1}" type="presOf" srcId="{975FD2C6-71BF-444F-AF6C-9205EF85178C}" destId="{1DD33CFF-2FAD-4B07-9BA9-466A9328E62D}" srcOrd="0" destOrd="0" presId="urn:microsoft.com/office/officeart/2005/8/layout/list1"/>
    <dgm:cxn modelId="{BAE35010-95D2-4C8E-9BC0-C5DF87060E67}" type="presOf" srcId="{D2BDE7E9-80ED-4B2F-AD9A-E7D051FC922A}" destId="{7D1F9644-AEDD-42A6-801E-86C2295F38B3}" srcOrd="1" destOrd="0" presId="urn:microsoft.com/office/officeart/2005/8/layout/list1"/>
    <dgm:cxn modelId="{47FC7FA6-6DF1-4F72-8BB1-FFBCACDEC960}" srcId="{48B6C1BA-4DD5-4F5D-B649-1899D4898AB9}" destId="{D2BDE7E9-80ED-4B2F-AD9A-E7D051FC922A}" srcOrd="2" destOrd="0" parTransId="{B091A7D3-EB08-405D-A25F-BD92E114AED7}" sibTransId="{77CE2F0D-8E80-4ADE-871E-A8F37589D5B7}"/>
    <dgm:cxn modelId="{5A54C1DC-D3AC-465E-ABD7-DCEE68AD60B0}" srcId="{48B6C1BA-4DD5-4F5D-B649-1899D4898AB9}" destId="{975FD2C6-71BF-444F-AF6C-9205EF85178C}" srcOrd="0" destOrd="0" parTransId="{12313256-0B0A-4CF2-A175-EB705674FB56}" sibTransId="{D7F2B228-ECD1-44A9-981D-B507CA1881CC}"/>
    <dgm:cxn modelId="{0293C65D-6C75-47FA-BF82-8F52CB0320B1}" type="presOf" srcId="{48B6C1BA-4DD5-4F5D-B649-1899D4898AB9}" destId="{2C6C4C29-BA2E-4CD0-A892-634CFB040E97}" srcOrd="0" destOrd="0" presId="urn:microsoft.com/office/officeart/2005/8/layout/list1"/>
    <dgm:cxn modelId="{01CF87ED-2B81-483E-B9A0-3244B277EE31}" type="presOf" srcId="{13739C7B-945F-4147-ADE3-2BC023314857}" destId="{1B4DCB20-DC6A-4833-819B-2C84C44D5DE5}" srcOrd="1" destOrd="0" presId="urn:microsoft.com/office/officeart/2005/8/layout/list1"/>
    <dgm:cxn modelId="{9D4C5D77-E32C-4B8F-83C5-A028CCC63166}" type="presOf" srcId="{975FD2C6-71BF-444F-AF6C-9205EF85178C}" destId="{6625052C-65FC-47C3-BCAE-145A4478D30C}" srcOrd="1" destOrd="0" presId="urn:microsoft.com/office/officeart/2005/8/layout/list1"/>
    <dgm:cxn modelId="{107E16F0-7273-4767-B4FD-9188EBC5925E}" type="presOf" srcId="{4773FD50-2EA5-4DC8-9C8C-B39895A952F9}" destId="{05C525FB-89D8-4A11-AB35-2633960F422E}" srcOrd="0" destOrd="0" presId="urn:microsoft.com/office/officeart/2005/8/layout/list1"/>
    <dgm:cxn modelId="{D15A3519-3005-43E0-9107-02F2916F43EC}" srcId="{48B6C1BA-4DD5-4F5D-B649-1899D4898AB9}" destId="{4773FD50-2EA5-4DC8-9C8C-B39895A952F9}" srcOrd="1" destOrd="0" parTransId="{6BE5E559-EA7B-4B8D-94A6-8EB9FE5280CE}" sibTransId="{E3E18800-8D3C-480A-B072-87EF2E5916D8}"/>
    <dgm:cxn modelId="{7324A362-417F-4C07-9843-81E3B2D0D761}" type="presOf" srcId="{D2BDE7E9-80ED-4B2F-AD9A-E7D051FC922A}" destId="{14428555-E771-4D1D-899F-185032A88AB8}" srcOrd="0" destOrd="0" presId="urn:microsoft.com/office/officeart/2005/8/layout/list1"/>
    <dgm:cxn modelId="{66C89FC2-8031-4A32-AF1B-2903AC368B8B}" type="presOf" srcId="{4773FD50-2EA5-4DC8-9C8C-B39895A952F9}" destId="{A1C60C33-E079-4C7A-B98D-25662984A66D}" srcOrd="1" destOrd="0" presId="urn:microsoft.com/office/officeart/2005/8/layout/list1"/>
    <dgm:cxn modelId="{FC89BBC6-B7B7-44A8-8510-F286957C8797}" type="presOf" srcId="{13739C7B-945F-4147-ADE3-2BC023314857}" destId="{20CBCFC2-4CA7-4FBC-B0F7-C47240AD2FAD}" srcOrd="0" destOrd="0" presId="urn:microsoft.com/office/officeart/2005/8/layout/list1"/>
    <dgm:cxn modelId="{BC25278D-B7A2-436C-8503-BD171F3D8B17}" srcId="{48B6C1BA-4DD5-4F5D-B649-1899D4898AB9}" destId="{13739C7B-945F-4147-ADE3-2BC023314857}" srcOrd="3" destOrd="0" parTransId="{2433F96C-C575-4FAE-8619-62DFEDBDFA29}" sibTransId="{4691E86F-C7D2-4E31-AFCA-D2AA794FD16C}"/>
    <dgm:cxn modelId="{113A1827-7458-4F1D-9294-F7570B9A5F45}" type="presParOf" srcId="{2C6C4C29-BA2E-4CD0-A892-634CFB040E97}" destId="{F2AC1F47-2EFA-4408-BAC1-BE456AEC649F}" srcOrd="0" destOrd="0" presId="urn:microsoft.com/office/officeart/2005/8/layout/list1"/>
    <dgm:cxn modelId="{8A78CDCB-68E2-4CC3-A45D-73FD27C9340D}" type="presParOf" srcId="{F2AC1F47-2EFA-4408-BAC1-BE456AEC649F}" destId="{1DD33CFF-2FAD-4B07-9BA9-466A9328E62D}" srcOrd="0" destOrd="0" presId="urn:microsoft.com/office/officeart/2005/8/layout/list1"/>
    <dgm:cxn modelId="{72AF90B7-7243-4997-B722-0B55DFAC2AE8}" type="presParOf" srcId="{F2AC1F47-2EFA-4408-BAC1-BE456AEC649F}" destId="{6625052C-65FC-47C3-BCAE-145A4478D30C}" srcOrd="1" destOrd="0" presId="urn:microsoft.com/office/officeart/2005/8/layout/list1"/>
    <dgm:cxn modelId="{BDC7955B-BA84-459F-A5A0-D007B4B45BE4}" type="presParOf" srcId="{2C6C4C29-BA2E-4CD0-A892-634CFB040E97}" destId="{1C595BA2-47E3-456D-A19F-E90DE9B3D67F}" srcOrd="1" destOrd="0" presId="urn:microsoft.com/office/officeart/2005/8/layout/list1"/>
    <dgm:cxn modelId="{524C5860-566D-48F2-A3E9-9E32644A0366}" type="presParOf" srcId="{2C6C4C29-BA2E-4CD0-A892-634CFB040E97}" destId="{46A02022-9073-42F8-B125-C12484F8FA57}" srcOrd="2" destOrd="0" presId="urn:microsoft.com/office/officeart/2005/8/layout/list1"/>
    <dgm:cxn modelId="{010951F6-2B40-4FDB-8974-7ABCEBFC7A03}" type="presParOf" srcId="{2C6C4C29-BA2E-4CD0-A892-634CFB040E97}" destId="{A913243F-7482-4DFA-881C-EAD5A051CE87}" srcOrd="3" destOrd="0" presId="urn:microsoft.com/office/officeart/2005/8/layout/list1"/>
    <dgm:cxn modelId="{52609778-5373-451F-B0DA-5FED744EC04E}" type="presParOf" srcId="{2C6C4C29-BA2E-4CD0-A892-634CFB040E97}" destId="{49CF6ACD-8C1F-484A-B72C-47A40FACDBFB}" srcOrd="4" destOrd="0" presId="urn:microsoft.com/office/officeart/2005/8/layout/list1"/>
    <dgm:cxn modelId="{D7A2D322-B2E7-402F-9BEA-116EBC510F7A}" type="presParOf" srcId="{49CF6ACD-8C1F-484A-B72C-47A40FACDBFB}" destId="{05C525FB-89D8-4A11-AB35-2633960F422E}" srcOrd="0" destOrd="0" presId="urn:microsoft.com/office/officeart/2005/8/layout/list1"/>
    <dgm:cxn modelId="{AE7AD592-297F-4823-B9D2-F007E7F7D446}" type="presParOf" srcId="{49CF6ACD-8C1F-484A-B72C-47A40FACDBFB}" destId="{A1C60C33-E079-4C7A-B98D-25662984A66D}" srcOrd="1" destOrd="0" presId="urn:microsoft.com/office/officeart/2005/8/layout/list1"/>
    <dgm:cxn modelId="{A837436E-505A-4684-9037-BBCD3C3D0444}" type="presParOf" srcId="{2C6C4C29-BA2E-4CD0-A892-634CFB040E97}" destId="{EE2E1B02-F9B8-4854-AEF0-4B4F93CFAA01}" srcOrd="5" destOrd="0" presId="urn:microsoft.com/office/officeart/2005/8/layout/list1"/>
    <dgm:cxn modelId="{0A2AA9DF-1678-428C-9785-C24B804802DE}" type="presParOf" srcId="{2C6C4C29-BA2E-4CD0-A892-634CFB040E97}" destId="{90330ED4-58FF-4D0A-8E83-50D44EBF7E0C}" srcOrd="6" destOrd="0" presId="urn:microsoft.com/office/officeart/2005/8/layout/list1"/>
    <dgm:cxn modelId="{EB4D5134-983B-4BAB-823D-2209423C904E}" type="presParOf" srcId="{2C6C4C29-BA2E-4CD0-A892-634CFB040E97}" destId="{84C68458-E75B-45BF-AAB4-471ED9A69111}" srcOrd="7" destOrd="0" presId="urn:microsoft.com/office/officeart/2005/8/layout/list1"/>
    <dgm:cxn modelId="{A543794B-82E0-485D-BB3B-D3583800423D}" type="presParOf" srcId="{2C6C4C29-BA2E-4CD0-A892-634CFB040E97}" destId="{53396491-9407-4B49-BD42-534DE88EB68C}" srcOrd="8" destOrd="0" presId="urn:microsoft.com/office/officeart/2005/8/layout/list1"/>
    <dgm:cxn modelId="{2D4BDF40-A01B-4512-A247-8DC212CB9A24}" type="presParOf" srcId="{53396491-9407-4B49-BD42-534DE88EB68C}" destId="{14428555-E771-4D1D-899F-185032A88AB8}" srcOrd="0" destOrd="0" presId="urn:microsoft.com/office/officeart/2005/8/layout/list1"/>
    <dgm:cxn modelId="{10A5C3E0-DF88-44F7-AA03-AD40A7171621}" type="presParOf" srcId="{53396491-9407-4B49-BD42-534DE88EB68C}" destId="{7D1F9644-AEDD-42A6-801E-86C2295F38B3}" srcOrd="1" destOrd="0" presId="urn:microsoft.com/office/officeart/2005/8/layout/list1"/>
    <dgm:cxn modelId="{FECE31D5-7390-43F1-A6C8-539C9CEC90B4}" type="presParOf" srcId="{2C6C4C29-BA2E-4CD0-A892-634CFB040E97}" destId="{8DC6934C-42DF-475F-9B2A-EC160E02FD39}" srcOrd="9" destOrd="0" presId="urn:microsoft.com/office/officeart/2005/8/layout/list1"/>
    <dgm:cxn modelId="{564EDF0C-EA72-45AF-8596-FADE5C32A4C1}" type="presParOf" srcId="{2C6C4C29-BA2E-4CD0-A892-634CFB040E97}" destId="{24CB261D-7D9D-4966-A12F-C812729D44BE}" srcOrd="10" destOrd="0" presId="urn:microsoft.com/office/officeart/2005/8/layout/list1"/>
    <dgm:cxn modelId="{86679188-AE8C-4827-B6CB-B71657787B9F}" type="presParOf" srcId="{2C6C4C29-BA2E-4CD0-A892-634CFB040E97}" destId="{CA2423A8-87B0-40DF-84A5-D236F5011E57}" srcOrd="11" destOrd="0" presId="urn:microsoft.com/office/officeart/2005/8/layout/list1"/>
    <dgm:cxn modelId="{01A615C1-1B9A-4C0E-992B-5F7CCCDD10A8}" type="presParOf" srcId="{2C6C4C29-BA2E-4CD0-A892-634CFB040E97}" destId="{5EBBA8CE-BD38-4CDF-8DC6-468F351F0799}" srcOrd="12" destOrd="0" presId="urn:microsoft.com/office/officeart/2005/8/layout/list1"/>
    <dgm:cxn modelId="{B91ACDBA-708F-45D1-9666-246BD77ACA2A}" type="presParOf" srcId="{5EBBA8CE-BD38-4CDF-8DC6-468F351F0799}" destId="{20CBCFC2-4CA7-4FBC-B0F7-C47240AD2FAD}" srcOrd="0" destOrd="0" presId="urn:microsoft.com/office/officeart/2005/8/layout/list1"/>
    <dgm:cxn modelId="{E5D9ED3E-0FBA-4045-BF29-23EE514B0903}" type="presParOf" srcId="{5EBBA8CE-BD38-4CDF-8DC6-468F351F0799}" destId="{1B4DCB20-DC6A-4833-819B-2C84C44D5DE5}" srcOrd="1" destOrd="0" presId="urn:microsoft.com/office/officeart/2005/8/layout/list1"/>
    <dgm:cxn modelId="{7D8DABEA-E543-4AE3-809D-94723E3B1D18}" type="presParOf" srcId="{2C6C4C29-BA2E-4CD0-A892-634CFB040E97}" destId="{A40D605D-6179-4096-AE7F-8B74361BC569}" srcOrd="13" destOrd="0" presId="urn:microsoft.com/office/officeart/2005/8/layout/list1"/>
    <dgm:cxn modelId="{D7E44450-C522-4509-9962-341424B374FF}" type="presParOf" srcId="{2C6C4C29-BA2E-4CD0-A892-634CFB040E97}" destId="{F423083C-6781-4AFE-BB1D-308877AB1FD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A02022-9073-42F8-B125-C12484F8FA57}">
      <dsp:nvSpPr>
        <dsp:cNvPr id="0" name=""/>
        <dsp:cNvSpPr/>
      </dsp:nvSpPr>
      <dsp:spPr>
        <a:xfrm>
          <a:off x="0" y="357162"/>
          <a:ext cx="790997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25052C-65FC-47C3-BCAE-145A4478D30C}">
      <dsp:nvSpPr>
        <dsp:cNvPr id="0" name=""/>
        <dsp:cNvSpPr/>
      </dsp:nvSpPr>
      <dsp:spPr>
        <a:xfrm>
          <a:off x="395498" y="2922"/>
          <a:ext cx="5536983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285" tIns="0" rIns="209285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% e </a:t>
          </a:r>
          <a:r>
            <a:rPr lang="pt-BR" sz="1600" kern="1200" dirty="0" err="1" smtClean="0">
              <a:solidFill>
                <a:schemeClr val="tx1"/>
              </a:solidFill>
            </a:rPr>
            <a:t>qtd</a:t>
          </a:r>
          <a:r>
            <a:rPr lang="pt-BR" sz="1600" kern="1200" dirty="0" smtClean="0">
              <a:solidFill>
                <a:schemeClr val="tx1"/>
              </a:solidFill>
            </a:rPr>
            <a:t>. de estações de trabalho e servidores elegíveis que foram atualizadas o antivírus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30083" y="37507"/>
        <a:ext cx="5467813" cy="639310"/>
      </dsp:txXfrm>
    </dsp:sp>
    <dsp:sp modelId="{90330ED4-58FF-4D0A-8E83-50D44EBF7E0C}">
      <dsp:nvSpPr>
        <dsp:cNvPr id="0" name=""/>
        <dsp:cNvSpPr/>
      </dsp:nvSpPr>
      <dsp:spPr>
        <a:xfrm>
          <a:off x="0" y="1445802"/>
          <a:ext cx="790997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60C33-E079-4C7A-B98D-25662984A66D}">
      <dsp:nvSpPr>
        <dsp:cNvPr id="0" name=""/>
        <dsp:cNvSpPr/>
      </dsp:nvSpPr>
      <dsp:spPr>
        <a:xfrm>
          <a:off x="395498" y="1091562"/>
          <a:ext cx="5536983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285" tIns="0" rIns="209285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% e </a:t>
          </a:r>
          <a:r>
            <a:rPr lang="pt-BR" sz="1600" kern="1200" dirty="0" err="1" smtClean="0">
              <a:solidFill>
                <a:schemeClr val="tx1"/>
              </a:solidFill>
            </a:rPr>
            <a:t>qtd</a:t>
          </a:r>
          <a:r>
            <a:rPr lang="pt-BR" sz="1600" kern="1200" dirty="0" smtClean="0">
              <a:solidFill>
                <a:schemeClr val="tx1"/>
              </a:solidFill>
            </a:rPr>
            <a:t>. de estações de trabalho e servidores elegíveis que foram atualizadas o .</a:t>
          </a:r>
          <a:r>
            <a:rPr lang="pt-BR" sz="1600" kern="1200" dirty="0" err="1" smtClean="0">
              <a:solidFill>
                <a:schemeClr val="tx1"/>
              </a:solidFill>
            </a:rPr>
            <a:t>dat</a:t>
          </a:r>
          <a:r>
            <a:rPr lang="pt-BR" sz="1600" kern="1200" dirty="0" smtClean="0">
              <a:solidFill>
                <a:schemeClr val="tx1"/>
              </a:solidFill>
            </a:rPr>
            <a:t> 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30083" y="1126147"/>
        <a:ext cx="5467813" cy="639310"/>
      </dsp:txXfrm>
    </dsp:sp>
    <dsp:sp modelId="{24CB261D-7D9D-4966-A12F-C812729D44BE}">
      <dsp:nvSpPr>
        <dsp:cNvPr id="0" name=""/>
        <dsp:cNvSpPr/>
      </dsp:nvSpPr>
      <dsp:spPr>
        <a:xfrm>
          <a:off x="0" y="2534442"/>
          <a:ext cx="790997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F9644-AEDD-42A6-801E-86C2295F38B3}">
      <dsp:nvSpPr>
        <dsp:cNvPr id="0" name=""/>
        <dsp:cNvSpPr/>
      </dsp:nvSpPr>
      <dsp:spPr>
        <a:xfrm>
          <a:off x="395498" y="2180202"/>
          <a:ext cx="5536983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285" tIns="0" rIns="209285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% e </a:t>
          </a:r>
          <a:r>
            <a:rPr lang="pt-BR" sz="1600" kern="1200" dirty="0" err="1" smtClean="0">
              <a:solidFill>
                <a:schemeClr val="tx1"/>
              </a:solidFill>
            </a:rPr>
            <a:t>qtd</a:t>
          </a:r>
          <a:r>
            <a:rPr lang="pt-BR" sz="1600" kern="1200" dirty="0" smtClean="0">
              <a:solidFill>
                <a:schemeClr val="tx1"/>
              </a:solidFill>
            </a:rPr>
            <a:t>. de estações de trabalho e servidores elegíveis que NÃO foram atualizadas o antivírus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30083" y="2214787"/>
        <a:ext cx="5467813" cy="639310"/>
      </dsp:txXfrm>
    </dsp:sp>
    <dsp:sp modelId="{F423083C-6781-4AFE-BB1D-308877AB1FD6}">
      <dsp:nvSpPr>
        <dsp:cNvPr id="0" name=""/>
        <dsp:cNvSpPr/>
      </dsp:nvSpPr>
      <dsp:spPr>
        <a:xfrm>
          <a:off x="0" y="3623082"/>
          <a:ext cx="7909976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DCB20-DC6A-4833-819B-2C84C44D5DE5}">
      <dsp:nvSpPr>
        <dsp:cNvPr id="0" name=""/>
        <dsp:cNvSpPr/>
      </dsp:nvSpPr>
      <dsp:spPr>
        <a:xfrm>
          <a:off x="395498" y="3268842"/>
          <a:ext cx="5536983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285" tIns="0" rIns="209285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% e </a:t>
          </a:r>
          <a:r>
            <a:rPr lang="pt-BR" sz="1600" kern="1200" dirty="0" err="1" smtClean="0">
              <a:solidFill>
                <a:schemeClr val="tx1"/>
              </a:solidFill>
            </a:rPr>
            <a:t>qtd</a:t>
          </a:r>
          <a:r>
            <a:rPr lang="pt-BR" sz="1600" kern="1200" dirty="0" smtClean="0">
              <a:solidFill>
                <a:schemeClr val="tx1"/>
              </a:solidFill>
            </a:rPr>
            <a:t>. de estações de trabalho e servidores elegíveis que NÃO foram atualizadas o .</a:t>
          </a:r>
          <a:r>
            <a:rPr lang="pt-BR" sz="1600" kern="1200" dirty="0" err="1" smtClean="0">
              <a:solidFill>
                <a:schemeClr val="tx1"/>
              </a:solidFill>
            </a:rPr>
            <a:t>dat</a:t>
          </a:r>
          <a:r>
            <a:rPr lang="pt-BR" sz="1600" kern="1200" dirty="0" smtClean="0">
              <a:solidFill>
                <a:schemeClr val="tx1"/>
              </a:solidFill>
            </a:rPr>
            <a:t> 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430083" y="3303427"/>
        <a:ext cx="5467813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28/11/2016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emf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497" y="3634143"/>
            <a:ext cx="3732466" cy="32508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560832"/>
            <a:ext cx="5959283" cy="4054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Gerenciamento de </a:t>
            </a:r>
            <a:r>
              <a:rPr lang="pt-BR" sz="40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Antivírus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para implantação do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30.Nov.2016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en-US" sz="105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1</a:t>
            </a:r>
            <a:endParaRPr lang="en-US" sz="105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75506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Objetivo e Escopo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412741" y="1273484"/>
            <a:ext cx="9231937" cy="1193297"/>
            <a:chOff x="372984" y="1165964"/>
            <a:chExt cx="9231937" cy="900000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9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Este processo tem como objetivo assegurar que medidas preventivas, de detecção e corretivas sejam estabelecidas na </a:t>
              </a:r>
              <a:r>
                <a:rPr lang="pt-BR" sz="1400" dirty="0" err="1">
                  <a:solidFill>
                    <a:schemeClr val="tx1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, para proteger os sistemas de Tecnologia da Informação contra </a:t>
              </a:r>
              <a:r>
                <a:rPr lang="pt-BR" sz="1400" dirty="0" err="1">
                  <a:solidFill>
                    <a:schemeClr val="tx1"/>
                  </a:solidFill>
                </a:rPr>
                <a:t>malwares</a:t>
              </a:r>
              <a:r>
                <a:rPr lang="pt-BR" sz="1400" dirty="0">
                  <a:solidFill>
                    <a:schemeClr val="tx1"/>
                  </a:solidFill>
                </a:rPr>
                <a:t> (vírus, </a:t>
              </a:r>
              <a:r>
                <a:rPr lang="pt-BR" sz="1400" dirty="0" err="1">
                  <a:solidFill>
                    <a:schemeClr val="tx1"/>
                  </a:solidFill>
                </a:rPr>
                <a:t>worms</a:t>
              </a:r>
              <a:r>
                <a:rPr lang="pt-BR" sz="1400" dirty="0">
                  <a:solidFill>
                    <a:schemeClr val="tx1"/>
                  </a:solidFill>
                </a:rPr>
                <a:t>, </a:t>
              </a:r>
              <a:r>
                <a:rPr lang="pt-BR" sz="1400" dirty="0" err="1">
                  <a:solidFill>
                    <a:schemeClr val="tx1"/>
                  </a:solidFill>
                </a:rPr>
                <a:t>spyware</a:t>
              </a:r>
              <a:r>
                <a:rPr lang="pt-BR" sz="1400" dirty="0">
                  <a:solidFill>
                    <a:schemeClr val="tx1"/>
                  </a:solidFill>
                </a:rPr>
                <a:t>, spam).</a:t>
              </a: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372984" y="1165964"/>
              <a:ext cx="1281013" cy="9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Objetivo</a:t>
              </a:r>
              <a:endParaRPr lang="pt-BR" sz="1600" i="1" dirty="0"/>
            </a:p>
          </p:txBody>
        </p:sp>
      </p:grpSp>
      <p:sp>
        <p:nvSpPr>
          <p:cNvPr id="16" name="Seta: para a Direita 15"/>
          <p:cNvSpPr/>
          <p:nvPr/>
        </p:nvSpPr>
        <p:spPr>
          <a:xfrm rot="5400000">
            <a:off x="9197416" y="2453334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878" y="4964430"/>
            <a:ext cx="311150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Agrupar 3"/>
          <p:cNvGrpSpPr/>
          <p:nvPr/>
        </p:nvGrpSpPr>
        <p:grpSpPr>
          <a:xfrm>
            <a:off x="1693753" y="2942721"/>
            <a:ext cx="7950925" cy="2052362"/>
            <a:chOff x="1653996" y="2480605"/>
            <a:chExt cx="7950925" cy="1080000"/>
          </a:xfrm>
        </p:grpSpPr>
        <p:sp>
          <p:nvSpPr>
            <p:cNvPr id="18" name="Retângulo 17"/>
            <p:cNvSpPr/>
            <p:nvPr/>
          </p:nvSpPr>
          <p:spPr>
            <a:xfrm>
              <a:off x="2935008" y="2480605"/>
              <a:ext cx="6669913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O processo de Gerenciamento de Antivírus tem como escopo garantir de forma eficiente a atualização do antivírus nas estações de trabalho, Datacenter do Escritório Central e Datacenter da </a:t>
              </a:r>
              <a:r>
                <a:rPr lang="pt-BR" sz="1400" dirty="0" err="1">
                  <a:solidFill>
                    <a:schemeClr val="tx1"/>
                  </a:solidFill>
                </a:rPr>
                <a:t>Amazon</a:t>
              </a:r>
              <a:r>
                <a:rPr lang="pt-BR" sz="1400" dirty="0">
                  <a:solidFill>
                    <a:schemeClr val="tx1"/>
                  </a:solidFill>
                </a:rPr>
                <a:t>, considerando apenas os equipamentos com sistema operacional Microsoft Windows instalado.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 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Vale ressaltar, que todo o gerenciamento e manutenção dos serviços de TI relacionados ao Datacenter da Oracle é efetuado pelo próprio fornecedor conforme estabelecido em contrato.</a:t>
              </a:r>
            </a:p>
          </p:txBody>
        </p:sp>
        <p:sp>
          <p:nvSpPr>
            <p:cNvPr id="19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Escopo</a:t>
              </a:r>
              <a:endParaRPr lang="pt-BR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m para indicad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7470"/>
            <a:ext cx="2149642" cy="329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Indicadores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2" name="Retângulo de cantos arredondados 14"/>
          <p:cNvSpPr/>
          <p:nvPr/>
        </p:nvSpPr>
        <p:spPr>
          <a:xfrm>
            <a:off x="4191196" y="1035537"/>
            <a:ext cx="5420085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de Desempenho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843414162"/>
              </p:ext>
            </p:extLst>
          </p:nvPr>
        </p:nvGraphicFramePr>
        <p:xfrm>
          <a:off x="1694947" y="2060812"/>
          <a:ext cx="7909976" cy="4230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6174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29231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2" y="1035537"/>
            <a:ext cx="4790185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 de Atualização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2" name="Imagem 11"/>
          <p:cNvPicPr/>
          <p:nvPr/>
        </p:nvPicPr>
        <p:blipFill rotWithShape="1">
          <a:blip r:embed="rId4"/>
          <a:srcRect b="24794"/>
          <a:stretch/>
        </p:blipFill>
        <p:spPr bwMode="auto">
          <a:xfrm>
            <a:off x="1549966" y="1738872"/>
            <a:ext cx="7044758" cy="31003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90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1" name="Imagem 10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rcRect b="11062"/>
          <a:stretch/>
        </p:blipFill>
        <p:spPr bwMode="auto">
          <a:xfrm>
            <a:off x="1063400" y="1565843"/>
            <a:ext cx="7990338" cy="45942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Retângulo de cantos arredondados 11"/>
          <p:cNvSpPr/>
          <p:nvPr/>
        </p:nvSpPr>
        <p:spPr>
          <a:xfrm>
            <a:off x="304102" y="1035537"/>
            <a:ext cx="4790185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 de Monitoração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529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48175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1508130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É</a:t>
              </a:r>
              <a:r>
                <a:rPr lang="pt-BR" sz="1600" dirty="0" smtClean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de responsabilidade da área de Infraestrutura de TI da </a:t>
              </a:r>
              <a:r>
                <a:rPr lang="pt-BR" sz="1600" dirty="0" err="1">
                  <a:solidFill>
                    <a:schemeClr val="tx1"/>
                  </a:solidFill>
                </a:rPr>
                <a:t>Smiles</a:t>
              </a:r>
              <a:r>
                <a:rPr lang="pt-BR" sz="1600" dirty="0">
                  <a:solidFill>
                    <a:schemeClr val="tx1"/>
                  </a:solidFill>
                </a:rPr>
                <a:t> a disponibilidade e manutenção da ferramenta de antivírus e suas respectivas atualizações de vacinas.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Ferramenta</a:t>
              </a:r>
              <a:endParaRPr lang="pt-BR" i="1" dirty="0"/>
            </a:p>
          </p:txBody>
        </p:sp>
      </p:grp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13" name="Agrupar 4"/>
          <p:cNvGrpSpPr/>
          <p:nvPr/>
        </p:nvGrpSpPr>
        <p:grpSpPr>
          <a:xfrm>
            <a:off x="442600" y="2868679"/>
            <a:ext cx="9231937" cy="1508130"/>
            <a:chOff x="372984" y="1165964"/>
            <a:chExt cx="9231937" cy="3600000"/>
          </a:xfrm>
        </p:grpSpPr>
        <p:sp>
          <p:nvSpPr>
            <p:cNvPr id="16" name="Retângulo 15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Periodicidade: semanal.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Atividade: Automaticamente é realizado a varredura nas Estações de Trabalho, Datacenter do Escritório Central e Datacenter da </a:t>
              </a:r>
              <a:r>
                <a:rPr lang="pt-BR" sz="1600" dirty="0" err="1">
                  <a:solidFill>
                    <a:schemeClr val="tx1"/>
                  </a:solidFill>
                </a:rPr>
                <a:t>Amazon</a:t>
              </a:r>
              <a:r>
                <a:rPr lang="pt-BR" sz="1600" dirty="0">
                  <a:solidFill>
                    <a:schemeClr val="tx1"/>
                  </a:solidFill>
                </a:rPr>
                <a:t>. </a:t>
              </a:r>
            </a:p>
          </p:txBody>
        </p:sp>
        <p:sp>
          <p:nvSpPr>
            <p:cNvPr id="17" name="Retângulo de cantos arredondados 16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Varredura de Antivírus</a:t>
              </a:r>
              <a:endParaRPr lang="pt-BR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1981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m para atualizaçã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403" y="4906317"/>
            <a:ext cx="2064650" cy="191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3896488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Periodicidade: verificação de atualizações é realizada diariamente, sendo que as respectivas atualizações ocorrem sob demanda conforme as vacinas são disponibilizadas pelo fornecedor da ferramenta de antivírus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Atividade: Automaticamente é verificado se existe uma nova atualização do antivírus e .dat. Caso tenha uma nova atualização será enviado o pacote para as Estações de Trabalho dos usuários, Datacenter do Escritório Central e Datacenter da </a:t>
              </a:r>
              <a:r>
                <a:rPr lang="pt-BR" sz="1600" dirty="0" err="1">
                  <a:solidFill>
                    <a:schemeClr val="tx1"/>
                  </a:solidFill>
                </a:rPr>
                <a:t>Amazon</a:t>
              </a:r>
              <a:r>
                <a:rPr lang="pt-BR" sz="1600" dirty="0">
                  <a:solidFill>
                    <a:schemeClr val="tx1"/>
                  </a:solidFill>
                </a:rPr>
                <a:t> automaticamente. 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Atualização do Antivírus</a:t>
              </a:r>
              <a:endParaRPr lang="pt-BR" i="1" dirty="0"/>
            </a:p>
          </p:txBody>
        </p:sp>
      </p:grpSp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5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4101205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Periodicidade: mensal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Atividade: A área de Segurança da Informação monitora os indicadores do processo de Gerenciamento de Antivírus com sistema operacional Microsoft Windows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Caso seja encontrado algum desvio relacionado ao Datacenter do Escritório Central e Datacenter da </a:t>
              </a:r>
              <a:r>
                <a:rPr lang="pt-BR" sz="1600" dirty="0" err="1">
                  <a:solidFill>
                    <a:schemeClr val="tx1"/>
                  </a:solidFill>
                </a:rPr>
                <a:t>Amazon</a:t>
              </a:r>
              <a:r>
                <a:rPr lang="pt-BR" sz="1600" dirty="0">
                  <a:solidFill>
                    <a:schemeClr val="tx1"/>
                  </a:solidFill>
                </a:rPr>
                <a:t>, a área de Segurança da Informação deve abrir uma Solicitação na ferramenta JIRA para a equipe de Infraestrutura para realizar o tratamento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Caso seja encontrado algum desvio relacionado as Estações de Trabalho dos usuários, a área de Segurança da Informação deve abrir uma Solicitação na ferramenta JIRA para a equipe de Field Service realizar o tratamento.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Monitoração de Antivírus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2050" name="Picture 2" descr="Resultado de imagem para monitoramen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952" y="5111034"/>
            <a:ext cx="2630513" cy="176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69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070161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127188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Gerenciamento de Antivírus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074387" y="1837420"/>
            <a:ext cx="4584404" cy="4336730"/>
            <a:chOff x="304103" y="1786891"/>
            <a:chExt cx="4584404" cy="4336730"/>
          </a:xfrm>
        </p:grpSpPr>
        <p:sp>
          <p:nvSpPr>
            <p:cNvPr id="14" name="Retângulo 13"/>
            <p:cNvSpPr/>
            <p:nvPr/>
          </p:nvSpPr>
          <p:spPr>
            <a:xfrm>
              <a:off x="1856710" y="1786891"/>
              <a:ext cx="3031797" cy="159541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Execução: </a:t>
              </a:r>
              <a:r>
                <a:rPr lang="pt-BR" sz="1400" dirty="0">
                  <a:solidFill>
                    <a:schemeClr val="tx1"/>
                  </a:solidFill>
                </a:rPr>
                <a:t>Tânia Ferro</a:t>
              </a:r>
            </a:p>
            <a:p>
              <a:pPr marL="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Publicação: </a:t>
              </a:r>
              <a:r>
                <a:rPr lang="pt-BR" sz="1400" dirty="0">
                  <a:solidFill>
                    <a:schemeClr val="tx1"/>
                  </a:solidFill>
                </a:rPr>
                <a:t>André </a:t>
              </a:r>
              <a:r>
                <a:rPr lang="pt-BR" sz="1400" dirty="0" smtClean="0">
                  <a:solidFill>
                    <a:schemeClr val="tx1"/>
                  </a:solidFill>
                </a:rPr>
                <a:t>Santos / Felipe 		         Lima</a:t>
              </a:r>
              <a:endParaRPr lang="pt-BR" sz="1400" dirty="0">
                <a:solidFill>
                  <a:schemeClr val="tx1"/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QA: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Jorge Maluf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4"/>
            <a:srcRect b="20107"/>
            <a:stretch/>
          </p:blipFill>
          <p:spPr>
            <a:xfrm>
              <a:off x="304103" y="2136647"/>
              <a:ext cx="1449811" cy="6119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9" name="Retângulo 18"/>
            <p:cNvSpPr/>
            <p:nvPr/>
          </p:nvSpPr>
          <p:spPr>
            <a:xfrm>
              <a:off x="1856710" y="4435004"/>
              <a:ext cx="3031797" cy="16886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i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Sponsors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Rodrigo </a:t>
              </a:r>
              <a:r>
                <a:rPr lang="pt-BR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Rothstein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endParaRPr lang="pt-BR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Ponto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Focal Auditoria: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Marcela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Dias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6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066" y="5005200"/>
              <a:ext cx="1389848" cy="548224"/>
            </a:xfrm>
            <a:prstGeom prst="rect">
              <a:avLst/>
            </a:prstGeom>
          </p:spPr>
        </p:pic>
      </p:grpSp>
      <p:sp>
        <p:nvSpPr>
          <p:cNvPr id="13" name="Retângulo 12"/>
          <p:cNvSpPr/>
          <p:nvPr/>
        </p:nvSpPr>
        <p:spPr>
          <a:xfrm>
            <a:off x="304103" y="1067389"/>
            <a:ext cx="1779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43007" y="1837420"/>
            <a:ext cx="3834369" cy="4336730"/>
            <a:chOff x="5665580" y="1786891"/>
            <a:chExt cx="3834369" cy="4336730"/>
          </a:xfrm>
        </p:grpSpPr>
        <p:sp>
          <p:nvSpPr>
            <p:cNvPr id="15" name="Retângulo 14"/>
            <p:cNvSpPr/>
            <p:nvPr/>
          </p:nvSpPr>
          <p:spPr>
            <a:xfrm>
              <a:off x="5665580" y="2409552"/>
              <a:ext cx="3829870" cy="371406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0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2613676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tângulo de cantos arredondados 14"/>
            <p:cNvSpPr/>
            <p:nvPr/>
          </p:nvSpPr>
          <p:spPr>
            <a:xfrm>
              <a:off x="5665581" y="1786891"/>
              <a:ext cx="3834368" cy="62427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Papéis x Pessoas/Empresas</a:t>
              </a:r>
            </a:p>
          </p:txBody>
        </p:sp>
        <p:pic>
          <p:nvPicPr>
            <p:cNvPr id="22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3848473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aixaDeTexto 24"/>
            <p:cNvSpPr txBox="1"/>
            <p:nvPr/>
          </p:nvSpPr>
          <p:spPr>
            <a:xfrm>
              <a:off x="6729147" y="2628657"/>
              <a:ext cx="266664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Responsáveis pelo processo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  <a:r>
                <a:rPr lang="pt-BR" sz="1400" dirty="0"/>
                <a:t> </a:t>
              </a:r>
            </a:p>
            <a:p>
              <a:r>
                <a:rPr lang="pt-BR" sz="1400" dirty="0" smtClean="0"/>
                <a:t>Claudio Cunha</a:t>
              </a:r>
            </a:p>
            <a:p>
              <a:r>
                <a:rPr lang="pt-BR" sz="1400" dirty="0" smtClean="0"/>
                <a:t>Daniel Borges</a:t>
              </a:r>
            </a:p>
            <a:p>
              <a:r>
                <a:rPr lang="pt-BR" sz="1400" dirty="0" smtClean="0"/>
                <a:t>Marcela Dias</a:t>
              </a:r>
              <a:endParaRPr lang="pt-BR" sz="1400" dirty="0"/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6742473" y="3910249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Gerente de Governança de TI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</a:p>
            <a:p>
              <a:r>
                <a:rPr lang="pt-BR" sz="1400" dirty="0" smtClean="0"/>
                <a:t>Rodrigo </a:t>
              </a:r>
              <a:r>
                <a:rPr lang="pt-BR" sz="1400" dirty="0" err="1" smtClean="0"/>
                <a:t>Rothstein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5064</TotalTime>
  <Words>510</Words>
  <PresentationFormat>Personalizar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2016-11-28T13:38:32Z</dcterms:modified>
</cp:coreProperties>
</file>