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65" r:id="rId4"/>
    <p:sldId id="264" r:id="rId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0"/>
  </p:normalViewPr>
  <p:slideViewPr>
    <p:cSldViewPr>
      <p:cViewPr varScale="1">
        <p:scale>
          <a:sx n="66" d="100"/>
          <a:sy n="66" d="100"/>
        </p:scale>
        <p:origin x="15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45719-834B-46E1-8BDC-6C3757BF1FA0}" type="datetimeFigureOut">
              <a:rPr lang="pt-BR" smtClean="0"/>
              <a:t>04/11/2016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8DC57-8AFF-4350-8319-1BCDF9391E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00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4021" y="260648"/>
            <a:ext cx="2321753" cy="1080120"/>
          </a:xfrm>
          <a:prstGeom prst="rect">
            <a:avLst/>
          </a:prstGeom>
        </p:spPr>
      </p:pic>
      <p:grpSp>
        <p:nvGrpSpPr>
          <p:cNvPr id="9" name="Group 2"/>
          <p:cNvGrpSpPr>
            <a:grpSpLocks/>
          </p:cNvGrpSpPr>
          <p:nvPr userDrawn="1"/>
        </p:nvGrpSpPr>
        <p:grpSpPr bwMode="auto">
          <a:xfrm>
            <a:off x="2898" y="1556792"/>
            <a:ext cx="9144000" cy="1676400"/>
            <a:chOff x="0" y="2086"/>
            <a:chExt cx="5760" cy="1056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gray">
            <a:xfrm>
              <a:off x="0" y="2325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gray">
            <a:xfrm flipV="1">
              <a:off x="0" y="2086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68128" y="1796151"/>
            <a:ext cx="6807744" cy="912769"/>
          </a:xfrm>
        </p:spPr>
        <p:txBody>
          <a:bodyPr>
            <a:normAutofit/>
          </a:bodyPr>
          <a:lstStyle>
            <a:lvl1pPr algn="ctr">
              <a:defRPr sz="3600" b="0"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/>
              <a:t>Título do Documento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95287" y="2996952"/>
            <a:ext cx="3816424" cy="1027165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 i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Projeto</a:t>
            </a:r>
          </a:p>
        </p:txBody>
      </p:sp>
      <p:grpSp>
        <p:nvGrpSpPr>
          <p:cNvPr id="22" name="Grupo 21"/>
          <p:cNvGrpSpPr/>
          <p:nvPr userDrawn="1"/>
        </p:nvGrpSpPr>
        <p:grpSpPr>
          <a:xfrm>
            <a:off x="4435040" y="3475969"/>
            <a:ext cx="4745472" cy="3411538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6" name="Espaço Reservado para Imagem 25"/>
          <p:cNvSpPr>
            <a:spLocks noGrp="1"/>
          </p:cNvSpPr>
          <p:nvPr>
            <p:ph type="pic" sz="quarter" idx="12" hasCustomPrompt="1"/>
          </p:nvPr>
        </p:nvSpPr>
        <p:spPr>
          <a:xfrm>
            <a:off x="395536" y="5328308"/>
            <a:ext cx="2520280" cy="1181158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pt-BR" dirty="0"/>
              <a:t>Logo cliente</a:t>
            </a:r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13" hasCustomPrompt="1"/>
          </p:nvPr>
        </p:nvSpPr>
        <p:spPr>
          <a:xfrm>
            <a:off x="395287" y="4170385"/>
            <a:ext cx="2880000" cy="433387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Data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4" hasCustomPrompt="1"/>
          </p:nvPr>
        </p:nvSpPr>
        <p:spPr>
          <a:xfrm>
            <a:off x="395287" y="4750040"/>
            <a:ext cx="2880000" cy="432000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Autor</a:t>
            </a:r>
          </a:p>
        </p:txBody>
      </p:sp>
    </p:spTree>
    <p:extLst>
      <p:ext uri="{BB962C8B-B14F-4D97-AF65-F5344CB8AC3E}">
        <p14:creationId xmlns:p14="http://schemas.microsoft.com/office/powerpoint/2010/main" val="343706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gray">
          <a:xfrm>
            <a:off x="1915" y="0"/>
            <a:ext cx="9140171" cy="1296988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0" hangingPunct="0"/>
            <a:endParaRPr lang="pt-BR" altLang="pt-BR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6336" y="6093296"/>
            <a:ext cx="1301995" cy="60571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4033" y="0"/>
            <a:ext cx="7312696" cy="648494"/>
          </a:xfrm>
        </p:spPr>
        <p:txBody>
          <a:bodyPr>
            <a:normAutofit/>
          </a:bodyPr>
          <a:lstStyle>
            <a:lvl1pPr marL="180000" algn="l">
              <a:defRPr sz="32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8824" y="908720"/>
            <a:ext cx="8805664" cy="504056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179512" y="6396151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F89EBDC-3F0A-4056-ADD3-FCD4D83FC868}" type="slidenum">
              <a:rPr lang="pt-BR" sz="1400" b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‹nº›</a:t>
            </a:fld>
            <a:endParaRPr lang="pt-BR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1383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04/11/2016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15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04/11/2016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87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04/11/2016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857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04/11/2016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486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04/11/2016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3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04/11/2016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67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04/11/2016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10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04/11/2016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537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04/11/2016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30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31A05-1C39-4897-91F5-2ABCACA9DBF1}" type="datetimeFigureOut">
              <a:rPr lang="pt-BR" smtClean="0"/>
              <a:t>04/11/2016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8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Status </a:t>
            </a:r>
            <a:r>
              <a:rPr lang="pt-BR" b="1" dirty="0" err="1"/>
              <a:t>Report</a:t>
            </a:r>
            <a:r>
              <a:rPr lang="pt-BR" b="1" dirty="0"/>
              <a:t> Semanal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>
          <a:xfrm>
            <a:off x="395287" y="4337957"/>
            <a:ext cx="2880000" cy="433387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04/11/2016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para: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Adriano Barbosa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Rodrigo </a:t>
            </a: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Rothstein</a:t>
            </a:r>
            <a:endParaRPr lang="pt-BR" sz="1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Nei </a:t>
            </a: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Henckes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9460" y="3390641"/>
            <a:ext cx="1569364" cy="125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0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078041" cy="648494"/>
          </a:xfrm>
        </p:spPr>
        <p:txBody>
          <a:bodyPr>
            <a:normAutofit/>
          </a:bodyPr>
          <a:lstStyle/>
          <a:p>
            <a:r>
              <a:rPr lang="pt-BR" dirty="0"/>
              <a:t>Período </a:t>
            </a:r>
            <a:r>
              <a:rPr lang="pt-BR" dirty="0" smtClean="0"/>
              <a:t>31 </a:t>
            </a:r>
            <a:r>
              <a:rPr lang="pt-BR" dirty="0"/>
              <a:t>a </a:t>
            </a:r>
            <a:r>
              <a:rPr lang="pt-BR" dirty="0" smtClean="0"/>
              <a:t>04 </a:t>
            </a:r>
            <a:r>
              <a:rPr lang="pt-BR" dirty="0"/>
              <a:t>de </a:t>
            </a:r>
            <a:r>
              <a:rPr lang="pt-BR" dirty="0" smtClean="0"/>
              <a:t>Novembro </a:t>
            </a:r>
            <a:r>
              <a:rPr lang="pt-BR" dirty="0"/>
              <a:t>de 2016</a:t>
            </a:r>
          </a:p>
        </p:txBody>
      </p:sp>
      <p:sp>
        <p:nvSpPr>
          <p:cNvPr id="55" name="Rectangle 6"/>
          <p:cNvSpPr>
            <a:spLocks noChangeArrowheads="1"/>
          </p:cNvSpPr>
          <p:nvPr/>
        </p:nvSpPr>
        <p:spPr bwMode="gray">
          <a:xfrm>
            <a:off x="125736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Realizado o mapeamento do processo: Gerenciamento de Mudanças da Gol.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Realizado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ajustes no processos: </a:t>
            </a: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Gerenciamento de Mudanças da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Smiles e Gerenciamento de Fornecedores.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Criado o arquivo de modelo  Plano de RFC.xlsm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Criado o comunicado da nova diretriz de Gerenciamento de Incidentes de TI.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Publicado no Confluence: Gerenciamento de Mudanças da Smiles.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Implementado </a:t>
            </a: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o processo de Gerencimento de Incidentes de Segurança da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Informação.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Realizado diariamente a GEROT.</a:t>
            </a:r>
          </a:p>
          <a:p>
            <a:pPr fontAlgn="base">
              <a:spcBef>
                <a:spcPct val="0"/>
              </a:spcBef>
              <a:spcAft>
                <a:spcPct val="40000"/>
              </a:spcAft>
              <a:defRPr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endParaRPr lang="pt-BR" altLang="pt-BR" sz="1050" kern="0" noProof="1" smtClean="0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R="0" lvl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tabLst/>
              <a:defRPr/>
            </a:pPr>
            <a:endParaRPr lang="pt-BR" altLang="pt-BR" sz="1050" kern="0" noProof="1" smtClean="0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40000"/>
              </a:spcAft>
              <a:defRPr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180000" marR="0" lvl="0" indent="-1800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53" name="Rectangle 4"/>
          <p:cNvSpPr>
            <a:spLocks noChangeArrowheads="1"/>
          </p:cNvSpPr>
          <p:nvPr/>
        </p:nvSpPr>
        <p:spPr bwMode="gray">
          <a:xfrm>
            <a:off x="125736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Resultados da Semana</a:t>
            </a:r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gray">
          <a:xfrm>
            <a:off x="8064008" y="1572209"/>
            <a:ext cx="720000" cy="720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</p:spPr>
        <p:txBody>
          <a:bodyPr lIns="108000" tIns="108000" rIns="144000" bIns="72000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  <a:tabLst/>
              <a:defRPr/>
            </a:pPr>
            <a:endParaRPr kumimoji="0" lang="pt-BR" altLang="pt-BR" sz="1400" b="0" i="0" u="none" strike="noStrike" kern="0" cap="none" spc="0" normalizeH="0" baseline="0" noProof="1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gray">
          <a:xfrm>
            <a:off x="2361739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Cancelamentos de agenda da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entrevista</a:t>
            </a: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de entendimento dos processos.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gray">
          <a:xfrm>
            <a:off x="4597742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Realização da 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entrevista.</a:t>
            </a: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gray">
          <a:xfrm>
            <a:off x="6833744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Finalizar as entrevistar e realizar o mapeamento e validar </a:t>
            </a: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os processos</a:t>
            </a: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:</a:t>
            </a:r>
            <a:r>
              <a:rPr lang="pt-BR" sz="1050" kern="0" dirty="0" smtClean="0">
                <a:solidFill>
                  <a:srgbClr val="080808"/>
                </a:solidFill>
                <a:latin typeface="Arial" charset="0"/>
                <a:cs typeface="Arial" charset="0"/>
              </a:rPr>
              <a:t> </a:t>
            </a:r>
            <a:r>
              <a:rPr lang="pt-BR" sz="1050" kern="0" dirty="0">
                <a:solidFill>
                  <a:srgbClr val="080808"/>
                </a:solidFill>
                <a:latin typeface="Arial" charset="0"/>
                <a:cs typeface="Arial" charset="0"/>
              </a:rPr>
              <a:t>DS5.9.A - Gestão de antivírus e DS5.9.B – Administrar Patches - Servidores das Bases</a:t>
            </a:r>
            <a:r>
              <a:rPr lang="pt-BR" sz="1050" kern="0" dirty="0" smtClean="0">
                <a:solidFill>
                  <a:srgbClr val="080808"/>
                </a:solidFill>
                <a:latin typeface="Arial" charset="0"/>
                <a:cs typeface="Arial" charset="0"/>
              </a:rPr>
              <a:t>.</a:t>
            </a:r>
            <a:endParaRPr lang="pt-BR" altLang="pt-BR" sz="1050" kern="0" noProof="1" smtClean="0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 smtClean="0">
                <a:solidFill>
                  <a:srgbClr val="080808"/>
                </a:solidFill>
                <a:latin typeface="Arial" charset="0"/>
                <a:cs typeface="Arial" charset="0"/>
              </a:rPr>
              <a:t>Definir o processo de Gerenciamento de Mudanças na ferramenta Jira.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endParaRPr lang="pt-BR" altLang="pt-BR" sz="1050" kern="0" noProof="1" smtClean="0">
              <a:solidFill>
                <a:srgbClr val="080808"/>
              </a:solidFill>
              <a:latin typeface="Arial" charset="0"/>
              <a:cs typeface="Arial" charset="0"/>
            </a:endParaRP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gray">
          <a:xfrm>
            <a:off x="2361739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Riscos / Pontos de Atenção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gray">
          <a:xfrm>
            <a:off x="4597742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Mitigações Necessárias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gray">
          <a:xfrm>
            <a:off x="6833744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Prioridades Próx. Semana</a:t>
            </a:r>
          </a:p>
        </p:txBody>
      </p:sp>
      <p:pic>
        <p:nvPicPr>
          <p:cNvPr id="16" name="Picture 6" descr="C:\Users\ifc.freddy.yimo\Downloads\bouclier-jaune-icone-7797-128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24619" y="801497"/>
            <a:ext cx="476749" cy="576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C:\Users\ifc.freddy.yimo\Downloads\bleu-broches-icone-8679-128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41230" y="814955"/>
            <a:ext cx="545027" cy="579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5" descr="C:\Users\ifc.freddy.yimo\Downloads\danger-nucleaire-icone-8323-128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74963" y="845571"/>
            <a:ext cx="504056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:\Users\ifc.freddy.yimo\Downloads\assignees-materiel-tache-icone-5408-128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3278" y="792080"/>
            <a:ext cx="585924" cy="58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265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e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348020"/>
              </p:ext>
            </p:extLst>
          </p:nvPr>
        </p:nvGraphicFramePr>
        <p:xfrm>
          <a:off x="346012" y="1268761"/>
          <a:ext cx="8330445" cy="509326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4767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476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0139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4767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4767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847672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847672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84767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847672"/>
                <a:gridCol w="847672"/>
              </a:tblGrid>
              <a:tr h="720079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Out</a:t>
                      </a:r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800" dirty="0" err="1"/>
                        <a:t>Nov</a:t>
                      </a:r>
                      <a:endParaRPr lang="pt-BR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Dez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36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1 - 4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7 - 11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14 - 18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21 - 25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28 - 30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1 - 2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5 - 9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</a:t>
                      </a:r>
                      <a:r>
                        <a:rPr lang="pt-BR" sz="1600" baseline="0" dirty="0" smtClean="0"/>
                        <a:t> - 16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19 - 23</a:t>
                      </a:r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79544"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1" name="Rectangle 107"/>
          <p:cNvSpPr>
            <a:spLocks/>
          </p:cNvSpPr>
          <p:nvPr/>
        </p:nvSpPr>
        <p:spPr bwMode="auto">
          <a:xfrm>
            <a:off x="2182412" y="4680279"/>
            <a:ext cx="1670544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dirty="0">
                <a:solidFill>
                  <a:schemeClr val="bg1"/>
                </a:solidFill>
              </a:rPr>
              <a:t>DS5.9.B </a:t>
            </a:r>
            <a:r>
              <a:rPr lang="pt-BR" sz="1200" dirty="0" smtClean="0">
                <a:solidFill>
                  <a:schemeClr val="bg1"/>
                </a:solidFill>
              </a:rPr>
              <a:t>– Patches</a:t>
            </a:r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22" name="Rectangle 107"/>
          <p:cNvSpPr>
            <a:spLocks/>
          </p:cNvSpPr>
          <p:nvPr/>
        </p:nvSpPr>
        <p:spPr bwMode="auto">
          <a:xfrm>
            <a:off x="395736" y="4690645"/>
            <a:ext cx="1655984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dirty="0">
                <a:solidFill>
                  <a:schemeClr val="bg1"/>
                </a:solidFill>
              </a:rPr>
              <a:t>DS5.9.A </a:t>
            </a:r>
            <a:r>
              <a:rPr lang="pt-BR" sz="1200" dirty="0" smtClean="0">
                <a:solidFill>
                  <a:schemeClr val="bg1"/>
                </a:solidFill>
              </a:rPr>
              <a:t>– G. </a:t>
            </a:r>
            <a:r>
              <a:rPr lang="pt-BR" sz="1200" dirty="0">
                <a:solidFill>
                  <a:schemeClr val="bg1"/>
                </a:solidFill>
              </a:rPr>
              <a:t>de Antivírus</a:t>
            </a:r>
          </a:p>
        </p:txBody>
      </p:sp>
      <p:sp>
        <p:nvSpPr>
          <p:cNvPr id="23" name="Rectangle 107"/>
          <p:cNvSpPr>
            <a:spLocks/>
          </p:cNvSpPr>
          <p:nvPr/>
        </p:nvSpPr>
        <p:spPr bwMode="auto">
          <a:xfrm>
            <a:off x="395736" y="2911351"/>
            <a:ext cx="1655984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dirty="0" smtClean="0">
                <a:solidFill>
                  <a:schemeClr val="bg1"/>
                </a:solidFill>
              </a:rPr>
              <a:t>G. Incidentes de SI</a:t>
            </a:r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24" name="Rectangle 107"/>
          <p:cNvSpPr>
            <a:spLocks/>
          </p:cNvSpPr>
          <p:nvPr/>
        </p:nvSpPr>
        <p:spPr bwMode="auto">
          <a:xfrm>
            <a:off x="4579699" y="2890423"/>
            <a:ext cx="2021848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dirty="0">
                <a:solidFill>
                  <a:schemeClr val="bg1"/>
                </a:solidFill>
              </a:rPr>
              <a:t>DS1 - </a:t>
            </a:r>
            <a:r>
              <a:rPr lang="pt-BR" sz="1200" dirty="0" smtClean="0">
                <a:solidFill>
                  <a:schemeClr val="bg1"/>
                </a:solidFill>
              </a:rPr>
              <a:t>Gerenciar </a:t>
            </a:r>
            <a:r>
              <a:rPr lang="pt-BR" sz="1200" dirty="0">
                <a:solidFill>
                  <a:schemeClr val="bg1"/>
                </a:solidFill>
              </a:rPr>
              <a:t>Níveis de Serviço</a:t>
            </a:r>
          </a:p>
        </p:txBody>
      </p:sp>
      <p:sp>
        <p:nvSpPr>
          <p:cNvPr id="25" name="Rectangle 107"/>
          <p:cNvSpPr>
            <a:spLocks/>
          </p:cNvSpPr>
          <p:nvPr/>
        </p:nvSpPr>
        <p:spPr bwMode="auto">
          <a:xfrm>
            <a:off x="2140404" y="2904995"/>
            <a:ext cx="2308602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dirty="0">
                <a:solidFill>
                  <a:schemeClr val="bg1"/>
                </a:solidFill>
              </a:rPr>
              <a:t>DS03 </a:t>
            </a:r>
            <a:r>
              <a:rPr lang="pt-BR" sz="1200" dirty="0" smtClean="0">
                <a:solidFill>
                  <a:schemeClr val="bg1"/>
                </a:solidFill>
              </a:rPr>
              <a:t>– G. Capacidade </a:t>
            </a:r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26" name="Rectangle 107"/>
          <p:cNvSpPr>
            <a:spLocks/>
          </p:cNvSpPr>
          <p:nvPr/>
        </p:nvSpPr>
        <p:spPr bwMode="auto">
          <a:xfrm>
            <a:off x="4024985" y="4680279"/>
            <a:ext cx="2046205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dirty="0">
                <a:solidFill>
                  <a:schemeClr val="bg1"/>
                </a:solidFill>
              </a:rPr>
              <a:t>M01 - Monitorar Processos</a:t>
            </a:r>
          </a:p>
        </p:txBody>
      </p:sp>
      <p:sp>
        <p:nvSpPr>
          <p:cNvPr id="27" name="Rectangle 107"/>
          <p:cNvSpPr>
            <a:spLocks/>
          </p:cNvSpPr>
          <p:nvPr/>
        </p:nvSpPr>
        <p:spPr bwMode="auto">
          <a:xfrm>
            <a:off x="382245" y="3823691"/>
            <a:ext cx="2389555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dirty="0">
                <a:solidFill>
                  <a:schemeClr val="bg1"/>
                </a:solidFill>
              </a:rPr>
              <a:t>AI6 - Gerenciamento de Mudanças</a:t>
            </a:r>
          </a:p>
        </p:txBody>
      </p:sp>
      <p:sp>
        <p:nvSpPr>
          <p:cNvPr id="28" name="Rectangle 107"/>
          <p:cNvSpPr>
            <a:spLocks/>
          </p:cNvSpPr>
          <p:nvPr/>
        </p:nvSpPr>
        <p:spPr bwMode="auto">
          <a:xfrm>
            <a:off x="6732240" y="2903025"/>
            <a:ext cx="1908871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dirty="0">
                <a:solidFill>
                  <a:schemeClr val="bg1"/>
                </a:solidFill>
              </a:rPr>
              <a:t>DS2 - </a:t>
            </a:r>
            <a:r>
              <a:rPr lang="pt-BR" sz="1200" dirty="0" smtClean="0">
                <a:solidFill>
                  <a:schemeClr val="bg1"/>
                </a:solidFill>
              </a:rPr>
              <a:t>Serviços </a:t>
            </a:r>
            <a:r>
              <a:rPr lang="pt-BR" sz="1200" dirty="0">
                <a:solidFill>
                  <a:schemeClr val="bg1"/>
                </a:solidFill>
              </a:rPr>
              <a:t>de Terceiros</a:t>
            </a:r>
          </a:p>
        </p:txBody>
      </p:sp>
      <p:sp>
        <p:nvSpPr>
          <p:cNvPr id="29" name="Rectangle 107"/>
          <p:cNvSpPr>
            <a:spLocks/>
          </p:cNvSpPr>
          <p:nvPr/>
        </p:nvSpPr>
        <p:spPr bwMode="auto">
          <a:xfrm>
            <a:off x="6243219" y="4691540"/>
            <a:ext cx="2397891" cy="36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200" dirty="0">
                <a:solidFill>
                  <a:schemeClr val="bg1"/>
                </a:solidFill>
              </a:rPr>
              <a:t>PO2 - </a:t>
            </a:r>
            <a:r>
              <a:rPr lang="pt-BR" sz="1200" dirty="0" smtClean="0">
                <a:solidFill>
                  <a:schemeClr val="bg1"/>
                </a:solidFill>
              </a:rPr>
              <a:t>Arquitetura </a:t>
            </a:r>
            <a:r>
              <a:rPr lang="pt-BR" sz="1200" dirty="0">
                <a:solidFill>
                  <a:schemeClr val="bg1"/>
                </a:solidFill>
              </a:rPr>
              <a:t>da Informação  </a:t>
            </a:r>
          </a:p>
        </p:txBody>
      </p:sp>
      <p:sp>
        <p:nvSpPr>
          <p:cNvPr id="14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078041" cy="648494"/>
          </a:xfrm>
        </p:spPr>
        <p:txBody>
          <a:bodyPr>
            <a:normAutofit/>
          </a:bodyPr>
          <a:lstStyle/>
          <a:p>
            <a:r>
              <a:rPr lang="pt-BR" dirty="0"/>
              <a:t>Período </a:t>
            </a:r>
            <a:r>
              <a:rPr lang="pt-BR" dirty="0" smtClean="0"/>
              <a:t>31 </a:t>
            </a:r>
            <a:r>
              <a:rPr lang="pt-BR" dirty="0"/>
              <a:t>a </a:t>
            </a:r>
            <a:r>
              <a:rPr lang="pt-BR" dirty="0" smtClean="0"/>
              <a:t>04 </a:t>
            </a:r>
            <a:r>
              <a:rPr lang="pt-BR" dirty="0"/>
              <a:t>de </a:t>
            </a:r>
            <a:r>
              <a:rPr lang="pt-BR" dirty="0" smtClean="0"/>
              <a:t>Novembro </a:t>
            </a:r>
            <a:r>
              <a:rPr lang="pt-BR" dirty="0"/>
              <a:t>de 2016</a:t>
            </a:r>
          </a:p>
        </p:txBody>
      </p:sp>
    </p:spTree>
    <p:extLst>
      <p:ext uri="{BB962C8B-B14F-4D97-AF65-F5344CB8AC3E}">
        <p14:creationId xmlns:p14="http://schemas.microsoft.com/office/powerpoint/2010/main" val="60536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Obrigado!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4941168"/>
            <a:ext cx="3816674" cy="1728192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por: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Jorge Maluf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Tânia Ferro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André </a:t>
            </a: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Santos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Felipe Lima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58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Microsoft Office PowerPoint</Application>
  <PresentationFormat>Apresentação na tela (4:3)</PresentationFormat>
  <Paragraphs>73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Segoe UI</vt:lpstr>
      <vt:lpstr>Wingdings</vt:lpstr>
      <vt:lpstr>Tema do Office</vt:lpstr>
      <vt:lpstr>Status Report Semanal</vt:lpstr>
      <vt:lpstr>Período 31 a 04 de Novembro de 2016</vt:lpstr>
      <vt:lpstr>Período 31 a 04 de Novembro de 2016</vt:lpstr>
      <vt:lpstr>Obrigado!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2015-07-21T09:22:26Z</dcterms:created>
  <dcterms:modified xsi:type="dcterms:W3CDTF">2016-11-04T18:06:33Z</dcterms:modified>
</cp:coreProperties>
</file>