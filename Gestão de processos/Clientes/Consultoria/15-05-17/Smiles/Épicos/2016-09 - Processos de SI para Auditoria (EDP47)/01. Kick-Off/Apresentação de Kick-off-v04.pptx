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339" r:id="rId3"/>
    <p:sldId id="340" r:id="rId4"/>
    <p:sldId id="349" r:id="rId5"/>
    <p:sldId id="350" r:id="rId6"/>
    <p:sldId id="351" r:id="rId7"/>
    <p:sldId id="352" r:id="rId8"/>
    <p:sldId id="344" r:id="rId9"/>
    <p:sldId id="353" r:id="rId10"/>
    <p:sldId id="355" r:id="rId11"/>
    <p:sldId id="354" r:id="rId12"/>
    <p:sldId id="348" r:id="rId1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29" autoAdjust="0"/>
    <p:restoredTop sz="94660"/>
  </p:normalViewPr>
  <p:slideViewPr>
    <p:cSldViewPr snapToGrid="0" snapToObjects="1">
      <p:cViewPr>
        <p:scale>
          <a:sx n="66" d="100"/>
          <a:sy n="66" d="100"/>
        </p:scale>
        <p:origin x="1242" y="114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7A7F7C8-D24C-4B7F-878A-2BA8E51A4FAE}" type="doc">
      <dgm:prSet loTypeId="urn:microsoft.com/office/officeart/2005/8/layout/hProcess9" loCatId="process" qsTypeId="urn:microsoft.com/office/officeart/2005/8/quickstyle/3d1" qsCatId="3D" csTypeId="urn:microsoft.com/office/officeart/2005/8/colors/accent4_2" csCatId="accent4" phldr="1"/>
      <dgm:spPr/>
    </dgm:pt>
    <dgm:pt modelId="{E2230E7D-285E-4B5E-B7D4-C93AB266C044}">
      <dgm:prSet phldrT="[Texto]" custT="1"/>
      <dgm:spPr/>
      <dgm:t>
        <a:bodyPr/>
        <a:lstStyle/>
        <a:p>
          <a:pPr algn="ctr"/>
          <a:r>
            <a:rPr lang="pt-BR" sz="1400" b="1" dirty="0">
              <a:solidFill>
                <a:schemeClr val="tx1"/>
              </a:solidFill>
              <a:effectLst/>
            </a:rPr>
            <a:t>DS5.9.B – Administrar Patches - Servidores das Bases</a:t>
          </a:r>
        </a:p>
      </dgm:t>
    </dgm:pt>
    <dgm:pt modelId="{0404454A-8BE4-4F4D-B4FC-5ACC1235723E}" type="parTrans" cxnId="{BD6EFD8F-D8DB-444A-9154-82EA26D73ACE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/>
          </a:endParaRPr>
        </a:p>
      </dgm:t>
    </dgm:pt>
    <dgm:pt modelId="{DB51A406-3D42-42D1-9DE0-EB878003381A}" type="sibTrans" cxnId="{BD6EFD8F-D8DB-444A-9154-82EA26D73ACE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/>
          </a:endParaRPr>
        </a:p>
      </dgm:t>
    </dgm:pt>
    <dgm:pt modelId="{65308407-8DDE-463F-9C1A-632147F090FB}">
      <dgm:prSet phldrT="[Texto]" custT="1"/>
      <dgm:spPr/>
      <dgm:t>
        <a:bodyPr/>
        <a:lstStyle/>
        <a:p>
          <a:pPr algn="ctr"/>
          <a:r>
            <a:rPr lang="pt-BR" sz="1400" b="1">
              <a:solidFill>
                <a:schemeClr val="tx1"/>
              </a:solidFill>
              <a:effectLst/>
            </a:rPr>
            <a:t>DS03 - Gerenciar o Desempenho e Capacidade </a:t>
          </a:r>
          <a:endParaRPr lang="pt-BR" sz="1400" b="1" dirty="0">
            <a:solidFill>
              <a:schemeClr val="tx1"/>
            </a:solidFill>
            <a:effectLst/>
          </a:endParaRPr>
        </a:p>
      </dgm:t>
    </dgm:pt>
    <dgm:pt modelId="{F671F650-DF47-42A2-8CCA-B00174A669A8}" type="parTrans" cxnId="{2C5A6E96-091E-4552-AB99-6C5EE77C3781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/>
          </a:endParaRPr>
        </a:p>
      </dgm:t>
    </dgm:pt>
    <dgm:pt modelId="{727E67A7-0FFC-45DB-875C-47FF4DB55EA1}" type="sibTrans" cxnId="{2C5A6E96-091E-4552-AB99-6C5EE77C3781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/>
          </a:endParaRPr>
        </a:p>
      </dgm:t>
    </dgm:pt>
    <dgm:pt modelId="{B019709B-03AF-4BB1-9052-3695D112C477}">
      <dgm:prSet phldrT="[Texto]" custT="1"/>
      <dgm:spPr/>
      <dgm:t>
        <a:bodyPr/>
        <a:lstStyle/>
        <a:p>
          <a:pPr algn="ctr"/>
          <a:r>
            <a:rPr lang="pt-BR" sz="1400" b="1">
              <a:solidFill>
                <a:schemeClr val="tx1"/>
              </a:solidFill>
              <a:effectLst/>
            </a:rPr>
            <a:t>M01 - Monitorar Processos </a:t>
          </a:r>
          <a:endParaRPr lang="pt-BR" sz="1400" b="1" dirty="0">
            <a:solidFill>
              <a:schemeClr val="tx1"/>
            </a:solidFill>
            <a:effectLst/>
          </a:endParaRPr>
        </a:p>
      </dgm:t>
    </dgm:pt>
    <dgm:pt modelId="{80A5434A-4915-4050-B062-FCD9FA7B128F}" type="parTrans" cxnId="{E4D11A5B-8662-4F7C-91CB-E8DE0130F141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/>
          </a:endParaRPr>
        </a:p>
      </dgm:t>
    </dgm:pt>
    <dgm:pt modelId="{63AAF044-FF37-4C50-BAA2-32FA3FA539B1}" type="sibTrans" cxnId="{E4D11A5B-8662-4F7C-91CB-E8DE0130F141}">
      <dgm:prSet/>
      <dgm:spPr/>
      <dgm:t>
        <a:bodyPr/>
        <a:lstStyle/>
        <a:p>
          <a:endParaRPr lang="pt-BR" sz="1400" b="1">
            <a:solidFill>
              <a:schemeClr val="tx1"/>
            </a:solidFill>
            <a:effectLst/>
          </a:endParaRPr>
        </a:p>
      </dgm:t>
    </dgm:pt>
    <dgm:pt modelId="{31FF712A-0CD9-48FA-A672-515310E1F294}">
      <dgm:prSet phldrT="[Texto]" custT="1"/>
      <dgm:spPr/>
      <dgm:t>
        <a:bodyPr/>
        <a:lstStyle/>
        <a:p>
          <a:pPr algn="ctr"/>
          <a:r>
            <a:rPr lang="pt-BR" sz="1400" b="1" dirty="0" smtClean="0">
              <a:solidFill>
                <a:schemeClr val="tx1"/>
              </a:solidFill>
              <a:effectLst/>
            </a:rPr>
            <a:t>AI06 – Gerenciar Mudanças</a:t>
          </a:r>
          <a:endParaRPr lang="pt-BR" sz="1400" b="1" dirty="0">
            <a:solidFill>
              <a:schemeClr val="tx1"/>
            </a:solidFill>
            <a:effectLst/>
          </a:endParaRPr>
        </a:p>
      </dgm:t>
    </dgm:pt>
    <dgm:pt modelId="{C2A711B9-BE0F-4553-8CBE-26A068D82D7D}" type="parTrans" cxnId="{7C7DCE85-36D2-40DF-8DA9-81406B5236C6}">
      <dgm:prSet/>
      <dgm:spPr/>
      <dgm:t>
        <a:bodyPr/>
        <a:lstStyle/>
        <a:p>
          <a:endParaRPr lang="pt-BR" b="1">
            <a:solidFill>
              <a:schemeClr val="tx1"/>
            </a:solidFill>
            <a:effectLst/>
          </a:endParaRPr>
        </a:p>
      </dgm:t>
    </dgm:pt>
    <dgm:pt modelId="{4DEB1A94-A0DE-4587-B0EA-B4E7D8D3168B}" type="sibTrans" cxnId="{7C7DCE85-36D2-40DF-8DA9-81406B5236C6}">
      <dgm:prSet/>
      <dgm:spPr/>
      <dgm:t>
        <a:bodyPr/>
        <a:lstStyle/>
        <a:p>
          <a:endParaRPr lang="pt-BR" b="1">
            <a:solidFill>
              <a:schemeClr val="tx1"/>
            </a:solidFill>
            <a:effectLst/>
          </a:endParaRPr>
        </a:p>
      </dgm:t>
    </dgm:pt>
    <dgm:pt modelId="{DA503832-9EDE-4EAA-923D-65EAEC461C9C}">
      <dgm:prSet phldrT="[Texto]" custT="1"/>
      <dgm:spPr/>
      <dgm:t>
        <a:bodyPr/>
        <a:lstStyle/>
        <a:p>
          <a:pPr algn="ctr"/>
          <a:r>
            <a:rPr lang="pt-BR" sz="1400" b="1" smtClean="0">
              <a:solidFill>
                <a:schemeClr val="tx1"/>
              </a:solidFill>
              <a:effectLst/>
            </a:rPr>
            <a:t>DS5.9.A - Gestão de Antivírus</a:t>
          </a:r>
          <a:endParaRPr lang="pt-BR" sz="1400" b="1" dirty="0">
            <a:solidFill>
              <a:schemeClr val="tx1"/>
            </a:solidFill>
            <a:effectLst/>
          </a:endParaRPr>
        </a:p>
      </dgm:t>
    </dgm:pt>
    <dgm:pt modelId="{BDD08FC2-BD89-4D18-969F-CC16214E035B}" type="parTrans" cxnId="{116F2709-E1DC-46A9-8BFD-D3A0A6976B81}">
      <dgm:prSet/>
      <dgm:spPr/>
      <dgm:t>
        <a:bodyPr/>
        <a:lstStyle/>
        <a:p>
          <a:endParaRPr lang="pt-BR" b="1">
            <a:solidFill>
              <a:schemeClr val="tx1"/>
            </a:solidFill>
            <a:effectLst/>
          </a:endParaRPr>
        </a:p>
      </dgm:t>
    </dgm:pt>
    <dgm:pt modelId="{4379E121-1CAB-4A52-9797-4AFE0627059B}" type="sibTrans" cxnId="{116F2709-E1DC-46A9-8BFD-D3A0A6976B81}">
      <dgm:prSet/>
      <dgm:spPr/>
      <dgm:t>
        <a:bodyPr/>
        <a:lstStyle/>
        <a:p>
          <a:endParaRPr lang="pt-BR" b="1">
            <a:solidFill>
              <a:schemeClr val="tx1"/>
            </a:solidFill>
            <a:effectLst/>
          </a:endParaRPr>
        </a:p>
      </dgm:t>
    </dgm:pt>
    <dgm:pt modelId="{D689C638-0AC0-48DE-AAE6-EA918B133C73}" type="pres">
      <dgm:prSet presAssocID="{67A7F7C8-D24C-4B7F-878A-2BA8E51A4FAE}" presName="CompostProcess" presStyleCnt="0">
        <dgm:presLayoutVars>
          <dgm:dir/>
          <dgm:resizeHandles val="exact"/>
        </dgm:presLayoutVars>
      </dgm:prSet>
      <dgm:spPr/>
    </dgm:pt>
    <dgm:pt modelId="{27CFC22B-03F1-4AD0-9811-184DDF5812CD}" type="pres">
      <dgm:prSet presAssocID="{67A7F7C8-D24C-4B7F-878A-2BA8E51A4FAE}" presName="arrow" presStyleLbl="bgShp" presStyleIdx="0" presStyleCnt="1" custLinFactNeighborX="1690"/>
      <dgm:spPr/>
    </dgm:pt>
    <dgm:pt modelId="{A7EC4B33-AC65-4C34-8B64-C6744A0147D2}" type="pres">
      <dgm:prSet presAssocID="{67A7F7C8-D24C-4B7F-878A-2BA8E51A4FAE}" presName="linearProcess" presStyleCnt="0"/>
      <dgm:spPr/>
    </dgm:pt>
    <dgm:pt modelId="{6C4DA160-3102-4F10-8529-9517249AA92D}" type="pres">
      <dgm:prSet presAssocID="{31FF712A-0CD9-48FA-A672-515310E1F294}" presName="textNode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2B6FD14-C7C3-4370-815D-2091B482616C}" type="pres">
      <dgm:prSet presAssocID="{4DEB1A94-A0DE-4587-B0EA-B4E7D8D3168B}" presName="sibTrans" presStyleCnt="0"/>
      <dgm:spPr/>
    </dgm:pt>
    <dgm:pt modelId="{4DC75771-E63A-4A7C-BA1A-284CEA56DEF2}" type="pres">
      <dgm:prSet presAssocID="{DA503832-9EDE-4EAA-923D-65EAEC461C9C}" presName="text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44CD560-0341-4A16-989D-88C3387F7653}" type="pres">
      <dgm:prSet presAssocID="{4379E121-1CAB-4A52-9797-4AFE0627059B}" presName="sibTrans" presStyleCnt="0"/>
      <dgm:spPr/>
    </dgm:pt>
    <dgm:pt modelId="{A7C328C5-BCA5-4041-BDE5-99D22BD23150}" type="pres">
      <dgm:prSet presAssocID="{E2230E7D-285E-4B5E-B7D4-C93AB266C044}" presName="textNode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25091CA-B576-472C-88F2-C7EAFD3D8258}" type="pres">
      <dgm:prSet presAssocID="{DB51A406-3D42-42D1-9DE0-EB878003381A}" presName="sibTrans" presStyleCnt="0"/>
      <dgm:spPr/>
    </dgm:pt>
    <dgm:pt modelId="{4BA9CBA4-3F35-4D3E-9E7B-97DC3E350422}" type="pres">
      <dgm:prSet presAssocID="{65308407-8DDE-463F-9C1A-632147F090FB}" presName="text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B10BB3B-4C33-45AC-ABF9-A911329F9262}" type="pres">
      <dgm:prSet presAssocID="{727E67A7-0FFC-45DB-875C-47FF4DB55EA1}" presName="sibTrans" presStyleCnt="0"/>
      <dgm:spPr/>
    </dgm:pt>
    <dgm:pt modelId="{AC8D6610-37E3-4A4F-83DE-B347B656AAF9}" type="pres">
      <dgm:prSet presAssocID="{B019709B-03AF-4BB1-9052-3695D112C477}" presName="text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428631B0-5D85-46D3-BFC9-4F61A75F1F6F}" type="presOf" srcId="{67A7F7C8-D24C-4B7F-878A-2BA8E51A4FAE}" destId="{D689C638-0AC0-48DE-AAE6-EA918B133C73}" srcOrd="0" destOrd="0" presId="urn:microsoft.com/office/officeart/2005/8/layout/hProcess9"/>
    <dgm:cxn modelId="{AA38D234-5D32-400B-8EED-5D5CD53C16F2}" type="presOf" srcId="{31FF712A-0CD9-48FA-A672-515310E1F294}" destId="{6C4DA160-3102-4F10-8529-9517249AA92D}" srcOrd="0" destOrd="0" presId="urn:microsoft.com/office/officeart/2005/8/layout/hProcess9"/>
    <dgm:cxn modelId="{7C7DCE85-36D2-40DF-8DA9-81406B5236C6}" srcId="{67A7F7C8-D24C-4B7F-878A-2BA8E51A4FAE}" destId="{31FF712A-0CD9-48FA-A672-515310E1F294}" srcOrd="0" destOrd="0" parTransId="{C2A711B9-BE0F-4553-8CBE-26A068D82D7D}" sibTransId="{4DEB1A94-A0DE-4587-B0EA-B4E7D8D3168B}"/>
    <dgm:cxn modelId="{930991C4-0585-41B4-B2EA-308C370A2BA7}" type="presOf" srcId="{DA503832-9EDE-4EAA-923D-65EAEC461C9C}" destId="{4DC75771-E63A-4A7C-BA1A-284CEA56DEF2}" srcOrd="0" destOrd="0" presId="urn:microsoft.com/office/officeart/2005/8/layout/hProcess9"/>
    <dgm:cxn modelId="{E3B4495F-D291-4F11-9C8F-B08B3C946132}" type="presOf" srcId="{B019709B-03AF-4BB1-9052-3695D112C477}" destId="{AC8D6610-37E3-4A4F-83DE-B347B656AAF9}" srcOrd="0" destOrd="0" presId="urn:microsoft.com/office/officeart/2005/8/layout/hProcess9"/>
    <dgm:cxn modelId="{BAE0DC0F-473D-4443-89BA-DFADF29FB4DF}" type="presOf" srcId="{E2230E7D-285E-4B5E-B7D4-C93AB266C044}" destId="{A7C328C5-BCA5-4041-BDE5-99D22BD23150}" srcOrd="0" destOrd="0" presId="urn:microsoft.com/office/officeart/2005/8/layout/hProcess9"/>
    <dgm:cxn modelId="{116F2709-E1DC-46A9-8BFD-D3A0A6976B81}" srcId="{67A7F7C8-D24C-4B7F-878A-2BA8E51A4FAE}" destId="{DA503832-9EDE-4EAA-923D-65EAEC461C9C}" srcOrd="1" destOrd="0" parTransId="{BDD08FC2-BD89-4D18-969F-CC16214E035B}" sibTransId="{4379E121-1CAB-4A52-9797-4AFE0627059B}"/>
    <dgm:cxn modelId="{2C5A6E96-091E-4552-AB99-6C5EE77C3781}" srcId="{67A7F7C8-D24C-4B7F-878A-2BA8E51A4FAE}" destId="{65308407-8DDE-463F-9C1A-632147F090FB}" srcOrd="3" destOrd="0" parTransId="{F671F650-DF47-42A2-8CCA-B00174A669A8}" sibTransId="{727E67A7-0FFC-45DB-875C-47FF4DB55EA1}"/>
    <dgm:cxn modelId="{B373E6D3-365A-4EBC-B926-132CD6DC6AB1}" type="presOf" srcId="{65308407-8DDE-463F-9C1A-632147F090FB}" destId="{4BA9CBA4-3F35-4D3E-9E7B-97DC3E350422}" srcOrd="0" destOrd="0" presId="urn:microsoft.com/office/officeart/2005/8/layout/hProcess9"/>
    <dgm:cxn modelId="{BD6EFD8F-D8DB-444A-9154-82EA26D73ACE}" srcId="{67A7F7C8-D24C-4B7F-878A-2BA8E51A4FAE}" destId="{E2230E7D-285E-4B5E-B7D4-C93AB266C044}" srcOrd="2" destOrd="0" parTransId="{0404454A-8BE4-4F4D-B4FC-5ACC1235723E}" sibTransId="{DB51A406-3D42-42D1-9DE0-EB878003381A}"/>
    <dgm:cxn modelId="{E4D11A5B-8662-4F7C-91CB-E8DE0130F141}" srcId="{67A7F7C8-D24C-4B7F-878A-2BA8E51A4FAE}" destId="{B019709B-03AF-4BB1-9052-3695D112C477}" srcOrd="4" destOrd="0" parTransId="{80A5434A-4915-4050-B062-FCD9FA7B128F}" sibTransId="{63AAF044-FF37-4C50-BAA2-32FA3FA539B1}"/>
    <dgm:cxn modelId="{EE047D41-C93E-4022-8C1B-93E4186EA15C}" type="presParOf" srcId="{D689C638-0AC0-48DE-AAE6-EA918B133C73}" destId="{27CFC22B-03F1-4AD0-9811-184DDF5812CD}" srcOrd="0" destOrd="0" presId="urn:microsoft.com/office/officeart/2005/8/layout/hProcess9"/>
    <dgm:cxn modelId="{6AE8AB58-E16A-45C2-B976-ADB36B42C980}" type="presParOf" srcId="{D689C638-0AC0-48DE-AAE6-EA918B133C73}" destId="{A7EC4B33-AC65-4C34-8B64-C6744A0147D2}" srcOrd="1" destOrd="0" presId="urn:microsoft.com/office/officeart/2005/8/layout/hProcess9"/>
    <dgm:cxn modelId="{52BDCA68-66F5-4E00-844B-D8750AFEDC38}" type="presParOf" srcId="{A7EC4B33-AC65-4C34-8B64-C6744A0147D2}" destId="{6C4DA160-3102-4F10-8529-9517249AA92D}" srcOrd="0" destOrd="0" presId="urn:microsoft.com/office/officeart/2005/8/layout/hProcess9"/>
    <dgm:cxn modelId="{291F970B-C669-4738-9433-ADC22BE25A0D}" type="presParOf" srcId="{A7EC4B33-AC65-4C34-8B64-C6744A0147D2}" destId="{32B6FD14-C7C3-4370-815D-2091B482616C}" srcOrd="1" destOrd="0" presId="urn:microsoft.com/office/officeart/2005/8/layout/hProcess9"/>
    <dgm:cxn modelId="{48B17AF6-5696-4EFD-880D-154553420FDE}" type="presParOf" srcId="{A7EC4B33-AC65-4C34-8B64-C6744A0147D2}" destId="{4DC75771-E63A-4A7C-BA1A-284CEA56DEF2}" srcOrd="2" destOrd="0" presId="urn:microsoft.com/office/officeart/2005/8/layout/hProcess9"/>
    <dgm:cxn modelId="{F4BD4D59-6D2F-4602-92F9-3EA2559EB2EA}" type="presParOf" srcId="{A7EC4B33-AC65-4C34-8B64-C6744A0147D2}" destId="{A44CD560-0341-4A16-989D-88C3387F7653}" srcOrd="3" destOrd="0" presId="urn:microsoft.com/office/officeart/2005/8/layout/hProcess9"/>
    <dgm:cxn modelId="{0490A4BB-244B-4D11-A71E-D4607EF0AD97}" type="presParOf" srcId="{A7EC4B33-AC65-4C34-8B64-C6744A0147D2}" destId="{A7C328C5-BCA5-4041-BDE5-99D22BD23150}" srcOrd="4" destOrd="0" presId="urn:microsoft.com/office/officeart/2005/8/layout/hProcess9"/>
    <dgm:cxn modelId="{0C58A250-3A2E-4A72-BFEA-CB3C5E36A9B5}" type="presParOf" srcId="{A7EC4B33-AC65-4C34-8B64-C6744A0147D2}" destId="{625091CA-B576-472C-88F2-C7EAFD3D8258}" srcOrd="5" destOrd="0" presId="urn:microsoft.com/office/officeart/2005/8/layout/hProcess9"/>
    <dgm:cxn modelId="{6D3CBB64-C8A4-475C-8872-D6BD7CC439A0}" type="presParOf" srcId="{A7EC4B33-AC65-4C34-8B64-C6744A0147D2}" destId="{4BA9CBA4-3F35-4D3E-9E7B-97DC3E350422}" srcOrd="6" destOrd="0" presId="urn:microsoft.com/office/officeart/2005/8/layout/hProcess9"/>
    <dgm:cxn modelId="{44D97E2B-B35F-4F03-8F14-5686039DB6F3}" type="presParOf" srcId="{A7EC4B33-AC65-4C34-8B64-C6744A0147D2}" destId="{5B10BB3B-4C33-45AC-ABF9-A911329F9262}" srcOrd="7" destOrd="0" presId="urn:microsoft.com/office/officeart/2005/8/layout/hProcess9"/>
    <dgm:cxn modelId="{0029278B-C028-431D-BB74-D2F2215031F1}" type="presParOf" srcId="{A7EC4B33-AC65-4C34-8B64-C6744A0147D2}" destId="{AC8D6610-37E3-4A4F-83DE-B347B656AAF9}" srcOrd="8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CFC22B-03F1-4AD0-9811-184DDF5812CD}">
      <dsp:nvSpPr>
        <dsp:cNvPr id="0" name=""/>
        <dsp:cNvSpPr/>
      </dsp:nvSpPr>
      <dsp:spPr>
        <a:xfrm>
          <a:off x="891874" y="0"/>
          <a:ext cx="8483116" cy="2359358"/>
        </a:xfrm>
        <a:prstGeom prst="rightArrow">
          <a:avLst/>
        </a:prstGeom>
        <a:gradFill rotWithShape="0">
          <a:gsLst>
            <a:gs pos="0">
              <a:schemeClr val="accent4">
                <a:tint val="40000"/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tint val="40000"/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/>
        <a:scene3d>
          <a:camera prst="orthographicFront"/>
          <a:lightRig rig="flat" dir="t"/>
        </a:scene3d>
        <a:sp3d z="-190500" extrusionH="12700" prstMaterial="plastic">
          <a:bevelT w="50800" h="50800"/>
        </a:sp3d>
      </dsp:spPr>
      <dsp:style>
        <a:lnRef idx="0">
          <a:scrgbClr r="0" g="0" b="0"/>
        </a:lnRef>
        <a:fillRef idx="3">
          <a:scrgbClr r="0" g="0" b="0"/>
        </a:fillRef>
        <a:effectRef idx="0">
          <a:scrgbClr r="0" g="0" b="0"/>
        </a:effectRef>
        <a:fontRef idx="minor"/>
      </dsp:style>
    </dsp:sp>
    <dsp:sp modelId="{6C4DA160-3102-4F10-8529-9517249AA92D}">
      <dsp:nvSpPr>
        <dsp:cNvPr id="0" name=""/>
        <dsp:cNvSpPr/>
      </dsp:nvSpPr>
      <dsp:spPr>
        <a:xfrm>
          <a:off x="2923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solidFill>
                <a:schemeClr val="tx1"/>
              </a:solidFill>
              <a:effectLst/>
            </a:rPr>
            <a:t>AI06 – Gerenciar Mudanças</a:t>
          </a:r>
          <a:endParaRPr lang="pt-BR" sz="1400" b="1" kern="1200" dirty="0">
            <a:solidFill>
              <a:schemeClr val="tx1"/>
            </a:solidFill>
            <a:effectLst/>
          </a:endParaRPr>
        </a:p>
      </dsp:txBody>
      <dsp:txXfrm>
        <a:off x="48993" y="753877"/>
        <a:ext cx="1668028" cy="851603"/>
      </dsp:txXfrm>
    </dsp:sp>
    <dsp:sp modelId="{4DC75771-E63A-4A7C-BA1A-284CEA56DEF2}">
      <dsp:nvSpPr>
        <dsp:cNvPr id="0" name=""/>
        <dsp:cNvSpPr/>
      </dsp:nvSpPr>
      <dsp:spPr>
        <a:xfrm>
          <a:off x="2056454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smtClean="0">
              <a:solidFill>
                <a:schemeClr val="tx1"/>
              </a:solidFill>
              <a:effectLst/>
            </a:rPr>
            <a:t>DS5.9.A - Gestão de Antivírus</a:t>
          </a:r>
          <a:endParaRPr lang="pt-BR" sz="1400" b="1" kern="1200" dirty="0">
            <a:solidFill>
              <a:schemeClr val="tx1"/>
            </a:solidFill>
            <a:effectLst/>
          </a:endParaRPr>
        </a:p>
      </dsp:txBody>
      <dsp:txXfrm>
        <a:off x="2102524" y="753877"/>
        <a:ext cx="1668028" cy="851603"/>
      </dsp:txXfrm>
    </dsp:sp>
    <dsp:sp modelId="{A7C328C5-BCA5-4041-BDE5-99D22BD23150}">
      <dsp:nvSpPr>
        <dsp:cNvPr id="0" name=""/>
        <dsp:cNvSpPr/>
      </dsp:nvSpPr>
      <dsp:spPr>
        <a:xfrm>
          <a:off x="4109984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>
              <a:solidFill>
                <a:schemeClr val="tx1"/>
              </a:solidFill>
              <a:effectLst/>
            </a:rPr>
            <a:t>DS5.9.B – Administrar Patches - Servidores das Bases</a:t>
          </a:r>
        </a:p>
      </dsp:txBody>
      <dsp:txXfrm>
        <a:off x="4156054" y="753877"/>
        <a:ext cx="1668028" cy="851603"/>
      </dsp:txXfrm>
    </dsp:sp>
    <dsp:sp modelId="{4BA9CBA4-3F35-4D3E-9E7B-97DC3E350422}">
      <dsp:nvSpPr>
        <dsp:cNvPr id="0" name=""/>
        <dsp:cNvSpPr/>
      </dsp:nvSpPr>
      <dsp:spPr>
        <a:xfrm>
          <a:off x="6163514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solidFill>
                <a:schemeClr val="tx1"/>
              </a:solidFill>
              <a:effectLst/>
            </a:rPr>
            <a:t>DS03 - Gerenciar o Desempenho e Capacidade </a:t>
          </a:r>
          <a:endParaRPr lang="pt-BR" sz="1400" b="1" kern="1200" dirty="0">
            <a:solidFill>
              <a:schemeClr val="tx1"/>
            </a:solidFill>
            <a:effectLst/>
          </a:endParaRPr>
        </a:p>
      </dsp:txBody>
      <dsp:txXfrm>
        <a:off x="6209584" y="753877"/>
        <a:ext cx="1668028" cy="851603"/>
      </dsp:txXfrm>
    </dsp:sp>
    <dsp:sp modelId="{AC8D6610-37E3-4A4F-83DE-B347B656AAF9}">
      <dsp:nvSpPr>
        <dsp:cNvPr id="0" name=""/>
        <dsp:cNvSpPr/>
      </dsp:nvSpPr>
      <dsp:spPr>
        <a:xfrm>
          <a:off x="8217044" y="707807"/>
          <a:ext cx="1760168" cy="943743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>
              <a:solidFill>
                <a:schemeClr val="tx1"/>
              </a:solidFill>
              <a:effectLst/>
            </a:rPr>
            <a:t>M01 - Monitorar Processos </a:t>
          </a:r>
          <a:endParaRPr lang="pt-BR" sz="1400" b="1" kern="1200" dirty="0">
            <a:solidFill>
              <a:schemeClr val="tx1"/>
            </a:solidFill>
            <a:effectLst/>
          </a:endParaRPr>
        </a:p>
      </dsp:txBody>
      <dsp:txXfrm>
        <a:off x="8263114" y="753877"/>
        <a:ext cx="1668028" cy="851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18/10/2016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10/18/2016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9338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1213" y="1460902"/>
            <a:ext cx="5959283" cy="46705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Mapeamento dos </a:t>
            </a:r>
          </a:p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Processos de TI para Auditoria</a:t>
            </a: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Reunião de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Kick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-Off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da Iniciativa</a:t>
            </a: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err="1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Outubro</a:t>
            </a:r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" name="Picture 2" descr="http://johnlatham.me/wp-content/uploads/2013/12/d9_flowchart1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152" y="4211392"/>
            <a:ext cx="4031744" cy="2681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1092602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tângulo 16"/>
          <p:cNvSpPr/>
          <p:nvPr/>
        </p:nvSpPr>
        <p:spPr>
          <a:xfrm>
            <a:off x="7315206" y="1746197"/>
            <a:ext cx="2472741" cy="49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2000" lvl="1">
              <a:lnSpc>
                <a:spcPts val="2100"/>
              </a:lnSpc>
              <a:spcBef>
                <a:spcPts val="600"/>
              </a:spcBef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Principais Atividades</a:t>
            </a:r>
          </a:p>
          <a:p>
            <a:pPr marL="72000" lvl="1">
              <a:lnSpc>
                <a:spcPts val="2100"/>
              </a:lnSpc>
              <a:spcAft>
                <a:spcPts val="600"/>
              </a:spcAft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por processo: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Entender o processo atual </a:t>
            </a:r>
            <a:r>
              <a:rPr lang="pt-BR" sz="1200" dirty="0">
                <a:solidFill>
                  <a:schemeClr val="tx1"/>
                </a:solidFill>
              </a:rPr>
              <a:t>e os </a:t>
            </a:r>
            <a:r>
              <a:rPr lang="pt-BR" sz="1200" b="1" dirty="0">
                <a:solidFill>
                  <a:schemeClr val="tx1"/>
                </a:solidFill>
              </a:rPr>
              <a:t>gaps ou pontos de atenção </a:t>
            </a:r>
            <a:r>
              <a:rPr lang="pt-BR" sz="1200" dirty="0">
                <a:solidFill>
                  <a:schemeClr val="tx1"/>
                </a:solidFill>
              </a:rPr>
              <a:t>já identificados;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entrevistas com os responsáveis </a:t>
            </a:r>
            <a:r>
              <a:rPr lang="pt-BR" sz="1200" dirty="0">
                <a:solidFill>
                  <a:schemeClr val="tx1"/>
                </a:solidFill>
              </a:rPr>
              <a:t>pelo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Mapear o processo </a:t>
            </a:r>
            <a:r>
              <a:rPr lang="pt-BR" sz="1200" dirty="0">
                <a:solidFill>
                  <a:schemeClr val="tx1"/>
                </a:solidFill>
              </a:rPr>
              <a:t>(elaborar fluxos e especificação);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Validar com o responsável </a:t>
            </a:r>
            <a:r>
              <a:rPr lang="pt-BR" sz="1200" dirty="0">
                <a:solidFill>
                  <a:schemeClr val="tx1"/>
                </a:solidFill>
              </a:rPr>
              <a:t>pelo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b="1" dirty="0">
                <a:solidFill>
                  <a:schemeClr val="tx1"/>
                </a:solidFill>
              </a:rPr>
              <a:t>Validar com a Gerência de Governança </a:t>
            </a:r>
            <a:r>
              <a:rPr lang="pt-BR" sz="1200" dirty="0">
                <a:solidFill>
                  <a:schemeClr val="tx1"/>
                </a:solidFill>
              </a:rPr>
              <a:t>de TI;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ajustes</a:t>
            </a:r>
            <a:r>
              <a:rPr lang="pt-BR" sz="1200" dirty="0">
                <a:solidFill>
                  <a:schemeClr val="tx1"/>
                </a:solidFill>
              </a:rPr>
              <a:t> no processo;</a:t>
            </a:r>
          </a:p>
          <a:p>
            <a:pPr marL="360000" indent="-288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200" dirty="0">
                <a:solidFill>
                  <a:schemeClr val="tx1"/>
                </a:solidFill>
              </a:rPr>
              <a:t>Realizar </a:t>
            </a:r>
            <a:r>
              <a:rPr lang="pt-BR" sz="1200" b="1" dirty="0">
                <a:solidFill>
                  <a:schemeClr val="tx1"/>
                </a:solidFill>
              </a:rPr>
              <a:t>workshop</a:t>
            </a:r>
            <a:r>
              <a:rPr lang="pt-BR" sz="1200" dirty="0">
                <a:solidFill>
                  <a:schemeClr val="tx1"/>
                </a:solidFill>
              </a:rPr>
              <a:t> sobre o processo para operacionalização do mesmo.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3811806" y="1746197"/>
            <a:ext cx="3528000" cy="4932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Aft>
                <a:spcPts val="3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lvl="1">
              <a:lnSpc>
                <a:spcPts val="2100"/>
              </a:lnSpc>
              <a:spcAft>
                <a:spcPts val="300"/>
              </a:spcAft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21 Processos Selecionados: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AI1 – Identificar Soluções Automatizadas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AI2 - Adquirir e manter aplicações de software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AI3 - Adquirir e manter infraestrutura tecnológica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AI4 - Desenvolver e manter manuais de Sistemas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AI6 - Gerenciamento de Mudanças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AI7 - Gerenciamento, Instalação e Homologação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DS1 - Definir e Gerenciar Níveis de Serviço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DS2 - Gerenciar Serviços de Terceiros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DS3 - Gerenciar o Desempenho e Capacidade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DS5.3 - Gestão de Identidade	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DS5.5 - Assegurar Segurança de Sistemas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DS5.8 - Gestão de chaves criptográficas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DS8 - Gerenciar Service Desk e Incidentes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DS5.9.A - Gestão de Antivírus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DS5.9.B – Administrar Patches - Servidores das Bases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DS5.10 - Administração de Firewall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DS5.11 - Gestão de Certificados Digitais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 11 - Gerenciar Copias de Segurança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DS12 - Gerenciar Instalações Físicas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M1 - Monitorar Processos</a:t>
            </a:r>
          </a:p>
          <a:p>
            <a:pPr marL="252000" lvl="1" indent="-216000">
              <a:spcAft>
                <a:spcPts val="300"/>
              </a:spcAft>
              <a:buFont typeface="Wingdings" panose="05000000000000000000" pitchFamily="2" charset="2"/>
              <a:buChar char="q"/>
            </a:pPr>
            <a:r>
              <a:rPr lang="pt-BR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PO2 - Definir Arquitetura da Informação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3752171" y="1163292"/>
            <a:ext cx="6120000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Escopo</a:t>
            </a:r>
            <a:endParaRPr lang="pt-BR" sz="1600" i="1" dirty="0"/>
          </a:p>
        </p:txBody>
      </p:sp>
      <p:sp>
        <p:nvSpPr>
          <p:cNvPr id="14" name="Retângulo 13"/>
          <p:cNvSpPr/>
          <p:nvPr/>
        </p:nvSpPr>
        <p:spPr>
          <a:xfrm>
            <a:off x="432619" y="1746198"/>
            <a:ext cx="2612222" cy="3151841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Elaborar, documentar e operar Processos de TI simples e efetivos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que estejam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aderentes aos controles de auditoria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requeridos, de forma a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eliminar ou mitigar 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gaps ou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pontos de atenção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já identificados.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4" y="1163292"/>
            <a:ext cx="2687982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16" name="Seta: para a Direita 15"/>
          <p:cNvSpPr/>
          <p:nvPr/>
        </p:nvSpPr>
        <p:spPr>
          <a:xfrm>
            <a:off x="3274419" y="3076953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878" y="4842054"/>
            <a:ext cx="33337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32619" y="1746198"/>
            <a:ext cx="4744010" cy="40879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Fluxo Macro e Fluxo Detalhado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processo em formato .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bpm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Bizagi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Documento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contendo e diretrizes, objetivo, escopo, conceitos, definições e descrições do Fluxo Macro e Fluxo Detalhado do processo (O que fazer? / Quem fazer?);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Matriz de Responsabilidades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(RACI);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Indicadores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(mínimo 1 indicador);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Apresentação de treinamento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do processo;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Publicação da documentação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Confluence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4" y="1163292"/>
            <a:ext cx="4881596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Entregáveis</a:t>
            </a:r>
            <a:endParaRPr lang="pt-BR" sz="1600" i="1" dirty="0"/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683" y="1090675"/>
            <a:ext cx="2885549" cy="1687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4932" y="2989362"/>
            <a:ext cx="1997395" cy="1593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4727" y="4793945"/>
            <a:ext cx="3393863" cy="17449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35179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1874276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1102321" y="1961848"/>
            <a:ext cx="3031797" cy="40879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Execução: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Tânia Ferro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Validação e QA: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Jorge Maluf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Publicação: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André Santos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6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045" y="1034990"/>
            <a:ext cx="1800000" cy="642494"/>
          </a:xfrm>
          <a:prstGeom prst="rect">
            <a:avLst/>
          </a:prstGeom>
        </p:spPr>
      </p:pic>
      <p:pic>
        <p:nvPicPr>
          <p:cNvPr id="17" name="Imagem 16"/>
          <p:cNvPicPr>
            <a:picLocks noChangeAspect="1"/>
          </p:cNvPicPr>
          <p:nvPr/>
        </p:nvPicPr>
        <p:blipFill rotWithShape="1">
          <a:blip r:embed="rId5"/>
          <a:srcRect b="20107"/>
          <a:stretch/>
        </p:blipFill>
        <p:spPr>
          <a:xfrm>
            <a:off x="1718220" y="976372"/>
            <a:ext cx="1800000" cy="7597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sp>
        <p:nvSpPr>
          <p:cNvPr id="19" name="Retângulo 18"/>
          <p:cNvSpPr/>
          <p:nvPr/>
        </p:nvSpPr>
        <p:spPr>
          <a:xfrm>
            <a:off x="5994146" y="1961848"/>
            <a:ext cx="3031797" cy="40879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Sponsors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: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Rodrigo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Rothstein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Adriano Barbosa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Responsável (Facilitador): </a:t>
            </a:r>
            <a:r>
              <a:rPr lang="pt-BR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Marcela Dias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Envolvidos: 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Nei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Henckes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Cláudio Cunha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Borges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Leonardo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Cestarolli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Guilherme Affonso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Mizobuchi</a:t>
            </a: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Daniel Braga</a:t>
            </a:r>
          </a:p>
          <a:p>
            <a:pPr marL="745200" lvl="2" indent="-288000">
              <a:lnSpc>
                <a:spcPts val="2100"/>
              </a:lnSpc>
              <a:buFont typeface="Arial" panose="020B0604020202020204" pitchFamily="34" charset="0"/>
              <a:buChar char="•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Gerentes de Projeto</a:t>
            </a:r>
          </a:p>
          <a:p>
            <a:pPr marL="745200" lvl="2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735778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23" name="Retângulo 22"/>
          <p:cNvSpPr/>
          <p:nvPr/>
        </p:nvSpPr>
        <p:spPr>
          <a:xfrm>
            <a:off x="0" y="1100670"/>
            <a:ext cx="10025854" cy="5291395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CRONOGRAMA</a:t>
            </a:r>
            <a:endParaRPr lang="pt-BR" sz="28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33" name="Espaço Reservado para Número de Slide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4" name="Imagem 3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171873"/>
              </p:ext>
            </p:extLst>
          </p:nvPr>
        </p:nvGraphicFramePr>
        <p:xfrm>
          <a:off x="122836" y="1535586"/>
          <a:ext cx="9679138" cy="485648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183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67714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09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10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11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12"/>
                    </a:ext>
                  </a:extLst>
                </a:gridCol>
                <a:gridCol w="818363">
                  <a:extLst>
                    <a:ext uri="{9D8B030D-6E8A-4147-A177-3AD203B41FA5}">
                      <a16:colId xmlns:a16="http://schemas.microsoft.com/office/drawing/2014/main" xmlns="" val="20013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Out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pt-BR" sz="1800" dirty="0" err="1"/>
                        <a:t>Nov</a:t>
                      </a:r>
                      <a:endParaRPr lang="pt-BR" sz="18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Dez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pt-B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17 - 21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24 - 28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1 - 4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7 - 11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14 - 18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21 - 25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28 - 30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1 - 2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5 - 9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12 - 16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19 – 23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 smtClean="0"/>
                    </a:p>
                    <a:p>
                      <a:pPr algn="ctr"/>
                      <a:endParaRPr lang="pt-BR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  <a:p>
                      <a:pPr algn="ctr"/>
                      <a:endParaRPr lang="pt-BR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11" name="Rectangle 30"/>
          <p:cNvSpPr>
            <a:spLocks noChangeArrowheads="1"/>
          </p:cNvSpPr>
          <p:nvPr/>
        </p:nvSpPr>
        <p:spPr bwMode="auto">
          <a:xfrm>
            <a:off x="687603" y="2376793"/>
            <a:ext cx="227222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i="0" u="none" strike="noStrike" kern="0" cap="none" spc="0" normalizeH="0" baseline="0" noProof="0" dirty="0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Reunião</a:t>
            </a:r>
            <a:r>
              <a:rPr kumimoji="0" lang="pt-BR" sz="1400" i="0" u="none" strike="noStrike" kern="0" cap="none" spc="0" normalizeH="0" noProof="0" dirty="0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 de </a:t>
            </a:r>
            <a:r>
              <a:rPr kumimoji="0" lang="pt-BR" sz="1400" i="0" u="none" strike="noStrike" kern="0" cap="none" spc="0" normalizeH="0" baseline="0" noProof="0" dirty="0" err="1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Kick</a:t>
            </a:r>
            <a:r>
              <a:rPr kumimoji="0" lang="pt-BR" sz="1400" i="0" u="none" strike="noStrike" kern="0" cap="none" spc="0" normalizeH="0" baseline="0" noProof="0" dirty="0" smtClean="0">
                <a:ln>
                  <a:noFill/>
                </a:ln>
                <a:solidFill>
                  <a:srgbClr val="EEECE1">
                    <a:lumMod val="10000"/>
                  </a:srgbClr>
                </a:solidFill>
                <a:effectLst/>
                <a:uLnTx/>
                <a:uFillTx/>
                <a:latin typeface="Cambria" panose="02040503050406030204" pitchFamily="18" charset="0"/>
              </a:rPr>
              <a:t>-Off</a:t>
            </a:r>
            <a:endParaRPr kumimoji="0" lang="pt-BR" sz="1400" i="0" u="none" strike="noStrike" kern="0" cap="none" spc="0" normalizeH="0" baseline="0" noProof="0" dirty="0">
              <a:ln>
                <a:noFill/>
              </a:ln>
              <a:solidFill>
                <a:srgbClr val="EEECE1">
                  <a:lumMod val="10000"/>
                </a:srgbClr>
              </a:solidFill>
              <a:effectLst/>
              <a:uLnTx/>
              <a:uFillTx/>
              <a:latin typeface="Cambria" panose="02040503050406030204" pitchFamily="18" charset="0"/>
            </a:endParaRPr>
          </a:p>
        </p:txBody>
      </p:sp>
      <p:sp>
        <p:nvSpPr>
          <p:cNvPr id="12" name="Isosceles Triangle 41"/>
          <p:cNvSpPr/>
          <p:nvPr/>
        </p:nvSpPr>
        <p:spPr>
          <a:xfrm>
            <a:off x="486780" y="2347058"/>
            <a:ext cx="169671" cy="319603"/>
          </a:xfrm>
          <a:prstGeom prst="flowChartCollate">
            <a:avLst/>
          </a:prstGeom>
          <a:solidFill>
            <a:srgbClr val="C00000"/>
          </a:solidFill>
          <a:ln w="9525" cap="flat" cmpd="sng" algn="ctr">
            <a:solidFill>
              <a:srgbClr val="FFFFFF"/>
            </a:solidFill>
            <a:prstDash val="solid"/>
          </a:ln>
          <a:effectLst/>
        </p:spPr>
        <p:txBody>
          <a:bodyPr anchor="ctr"/>
          <a:lstStyle>
            <a:defPPr>
              <a:defRPr lang="pt-BR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srgbClr val="1F497D">
                  <a:lumMod val="50000"/>
                </a:srgbClr>
              </a:solidFill>
              <a:effectLst/>
              <a:uLnTx/>
              <a:uFillTx/>
              <a:latin typeface="Helvetica"/>
              <a:ea typeface="+mn-ea"/>
              <a:cs typeface="+mn-cs"/>
              <a:sym typeface="Gill Sans" charset="0"/>
            </a:endParaRPr>
          </a:p>
        </p:txBody>
      </p:sp>
      <p:sp>
        <p:nvSpPr>
          <p:cNvPr id="13" name="Rectangle 107"/>
          <p:cNvSpPr>
            <a:spLocks/>
          </p:cNvSpPr>
          <p:nvPr/>
        </p:nvSpPr>
        <p:spPr bwMode="auto">
          <a:xfrm>
            <a:off x="2417295" y="4710783"/>
            <a:ext cx="1800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>
                <a:solidFill>
                  <a:schemeClr val="bg1"/>
                </a:solidFill>
              </a:rPr>
              <a:t>DS5.9.B </a:t>
            </a:r>
            <a:r>
              <a:rPr lang="pt-BR" sz="1600" b="1" dirty="0" smtClean="0">
                <a:solidFill>
                  <a:schemeClr val="bg1"/>
                </a:solidFill>
              </a:rPr>
              <a:t>– Patches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21" name="Rectangle 107"/>
          <p:cNvSpPr>
            <a:spLocks/>
          </p:cNvSpPr>
          <p:nvPr/>
        </p:nvSpPr>
        <p:spPr bwMode="auto">
          <a:xfrm>
            <a:off x="544319" y="4690645"/>
            <a:ext cx="1800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>
                <a:solidFill>
                  <a:schemeClr val="bg1"/>
                </a:solidFill>
              </a:rPr>
              <a:t>DS5.9.A </a:t>
            </a:r>
            <a:r>
              <a:rPr lang="pt-BR" sz="1600" b="1" dirty="0" smtClean="0">
                <a:solidFill>
                  <a:schemeClr val="bg1"/>
                </a:solidFill>
              </a:rPr>
              <a:t>– G. </a:t>
            </a:r>
            <a:r>
              <a:rPr lang="pt-BR" sz="1600" b="1" dirty="0">
                <a:solidFill>
                  <a:schemeClr val="bg1"/>
                </a:solidFill>
              </a:rPr>
              <a:t>de Antivírus</a:t>
            </a:r>
          </a:p>
        </p:txBody>
      </p:sp>
      <p:sp>
        <p:nvSpPr>
          <p:cNvPr id="18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20" name="Rectangle 107"/>
          <p:cNvSpPr>
            <a:spLocks/>
          </p:cNvSpPr>
          <p:nvPr/>
        </p:nvSpPr>
        <p:spPr bwMode="auto">
          <a:xfrm>
            <a:off x="544319" y="2911351"/>
            <a:ext cx="1800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 smtClean="0">
                <a:solidFill>
                  <a:schemeClr val="bg1"/>
                </a:solidFill>
              </a:rPr>
              <a:t>G. Incidentes de SI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22" name="Rectangle 107"/>
          <p:cNvSpPr>
            <a:spLocks/>
          </p:cNvSpPr>
          <p:nvPr/>
        </p:nvSpPr>
        <p:spPr bwMode="auto">
          <a:xfrm>
            <a:off x="4303283" y="2904995"/>
            <a:ext cx="1656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>
                <a:solidFill>
                  <a:schemeClr val="bg1"/>
                </a:solidFill>
              </a:rPr>
              <a:t>DS1 - </a:t>
            </a:r>
            <a:r>
              <a:rPr lang="pt-BR" sz="1600" b="1" dirty="0" smtClean="0">
                <a:solidFill>
                  <a:schemeClr val="bg1"/>
                </a:solidFill>
              </a:rPr>
              <a:t>Gerenciar </a:t>
            </a:r>
            <a:r>
              <a:rPr lang="pt-BR" sz="1600" b="1" dirty="0">
                <a:solidFill>
                  <a:schemeClr val="bg1"/>
                </a:solidFill>
              </a:rPr>
              <a:t>Níveis de Serviço</a:t>
            </a:r>
          </a:p>
        </p:txBody>
      </p:sp>
      <p:sp>
        <p:nvSpPr>
          <p:cNvPr id="24" name="Rectangle 107"/>
          <p:cNvSpPr>
            <a:spLocks/>
          </p:cNvSpPr>
          <p:nvPr/>
        </p:nvSpPr>
        <p:spPr bwMode="auto">
          <a:xfrm>
            <a:off x="2426211" y="2904995"/>
            <a:ext cx="1800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>
                <a:solidFill>
                  <a:schemeClr val="bg1"/>
                </a:solidFill>
              </a:rPr>
              <a:t>DS03 </a:t>
            </a:r>
            <a:r>
              <a:rPr lang="pt-BR" sz="1600" b="1" dirty="0" smtClean="0">
                <a:solidFill>
                  <a:schemeClr val="bg1"/>
                </a:solidFill>
              </a:rPr>
              <a:t>– G. Capacidade 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25" name="Rectangle 107"/>
          <p:cNvSpPr>
            <a:spLocks/>
          </p:cNvSpPr>
          <p:nvPr/>
        </p:nvSpPr>
        <p:spPr bwMode="auto">
          <a:xfrm>
            <a:off x="4298535" y="4710783"/>
            <a:ext cx="1800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>
                <a:solidFill>
                  <a:schemeClr val="bg1"/>
                </a:solidFill>
              </a:rPr>
              <a:t>M01 - Monitorar Processos</a:t>
            </a:r>
          </a:p>
        </p:txBody>
      </p:sp>
      <p:sp>
        <p:nvSpPr>
          <p:cNvPr id="27" name="Rectangle 107"/>
          <p:cNvSpPr>
            <a:spLocks/>
          </p:cNvSpPr>
          <p:nvPr/>
        </p:nvSpPr>
        <p:spPr bwMode="auto">
          <a:xfrm>
            <a:off x="544319" y="3820164"/>
            <a:ext cx="3960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>
                <a:solidFill>
                  <a:schemeClr val="bg1"/>
                </a:solidFill>
              </a:rPr>
              <a:t>AI6 - Gerenciamento de Mudanças</a:t>
            </a:r>
          </a:p>
        </p:txBody>
      </p:sp>
      <p:sp>
        <p:nvSpPr>
          <p:cNvPr id="30" name="Rectangle 107"/>
          <p:cNvSpPr>
            <a:spLocks/>
          </p:cNvSpPr>
          <p:nvPr/>
        </p:nvSpPr>
        <p:spPr bwMode="auto">
          <a:xfrm>
            <a:off x="6082119" y="2891641"/>
            <a:ext cx="1584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>
                <a:solidFill>
                  <a:schemeClr val="bg1"/>
                </a:solidFill>
              </a:rPr>
              <a:t>DS2 - </a:t>
            </a:r>
            <a:r>
              <a:rPr lang="pt-BR" sz="1600" b="1" dirty="0" smtClean="0">
                <a:solidFill>
                  <a:schemeClr val="bg1"/>
                </a:solidFill>
              </a:rPr>
              <a:t>Serviços </a:t>
            </a:r>
            <a:r>
              <a:rPr lang="pt-BR" sz="1600" b="1" dirty="0">
                <a:solidFill>
                  <a:schemeClr val="bg1"/>
                </a:solidFill>
              </a:rPr>
              <a:t>de Terceiros</a:t>
            </a:r>
            <a:endParaRPr lang="pt-BR" sz="1600" b="1" dirty="0">
              <a:solidFill>
                <a:schemeClr val="bg1"/>
              </a:solidFill>
            </a:endParaRPr>
          </a:p>
        </p:txBody>
      </p:sp>
      <p:sp>
        <p:nvSpPr>
          <p:cNvPr id="31" name="Rectangle 107"/>
          <p:cNvSpPr>
            <a:spLocks/>
          </p:cNvSpPr>
          <p:nvPr/>
        </p:nvSpPr>
        <p:spPr bwMode="auto">
          <a:xfrm>
            <a:off x="6212454" y="4691540"/>
            <a:ext cx="2160000" cy="540000"/>
          </a:xfrm>
          <a:prstGeom prst="homePlat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  <a:scene3d>
            <a:camera prst="orthographicFront"/>
            <a:lightRig rig="threePt" dir="t"/>
          </a:scene3d>
          <a:sp3d>
            <a:bevelT/>
          </a:sp3d>
          <a:extLst/>
        </p:spPr>
        <p:txBody>
          <a:bodyPr lIns="0" tIns="0" rIns="0" bIns="0" anchor="ctr"/>
          <a:lstStyle/>
          <a:p>
            <a:pPr lvl="0" algn="ctr"/>
            <a:r>
              <a:rPr lang="pt-BR" sz="1600" b="1" dirty="0">
                <a:solidFill>
                  <a:schemeClr val="bg1"/>
                </a:solidFill>
              </a:rPr>
              <a:t>PO2 - </a:t>
            </a:r>
            <a:r>
              <a:rPr lang="pt-BR" sz="1600" b="1" dirty="0" smtClean="0">
                <a:solidFill>
                  <a:schemeClr val="bg1"/>
                </a:solidFill>
              </a:rPr>
              <a:t>Arquitetura </a:t>
            </a:r>
            <a:r>
              <a:rPr lang="pt-BR" sz="1600" b="1" dirty="0">
                <a:solidFill>
                  <a:schemeClr val="bg1"/>
                </a:solidFill>
              </a:rPr>
              <a:t>da Informação  </a:t>
            </a:r>
          </a:p>
        </p:txBody>
      </p:sp>
    </p:spTree>
    <p:extLst>
      <p:ext uri="{BB962C8B-B14F-4D97-AF65-F5344CB8AC3E}">
        <p14:creationId xmlns:p14="http://schemas.microsoft.com/office/powerpoint/2010/main" val="1033616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236706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14" name="Retângulo 13"/>
          <p:cNvSpPr/>
          <p:nvPr/>
        </p:nvSpPr>
        <p:spPr>
          <a:xfrm>
            <a:off x="432618" y="1746198"/>
            <a:ext cx="4626745" cy="408793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Cumprimento rigoroso das agendas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 a consultoria.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Foco em processos simples, exequíveis e efetivos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atendimento aos </a:t>
            </a:r>
            <a:r>
              <a:rPr lang="pt-BR" sz="1600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gaps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à realidade operacional da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Smiles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i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Empowerment</a:t>
            </a:r>
            <a:r>
              <a:rPr lang="pt-BR" sz="1600" b="1" i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para o Facilitador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auxiliar na mitigação de eventuais barreiras para a realização do trabalho.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Atitude colaborativa de todos 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os envolvidos, em razão dos prazos agressivos.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72983" y="1163292"/>
            <a:ext cx="4688807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Premissas</a:t>
            </a: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4694" y="2241018"/>
            <a:ext cx="4851160" cy="2624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34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Entregáveis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Equipe Envolvida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Planejamento / Cronograma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5" name="Retângulo de cantos arredondados 9"/>
          <p:cNvSpPr/>
          <p:nvPr/>
        </p:nvSpPr>
        <p:spPr>
          <a:xfrm>
            <a:off x="4372093" y="4257086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Premissas e Riscos</a:t>
            </a:r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529020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Próximos Passos</a:t>
            </a:r>
          </a:p>
        </p:txBody>
      </p:sp>
    </p:spTree>
    <p:extLst>
      <p:ext uri="{BB962C8B-B14F-4D97-AF65-F5344CB8AC3E}">
        <p14:creationId xmlns:p14="http://schemas.microsoft.com/office/powerpoint/2010/main" val="278464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1606683400"/>
              </p:ext>
            </p:extLst>
          </p:nvPr>
        </p:nvGraphicFramePr>
        <p:xfrm>
          <a:off x="19212" y="2288333"/>
          <a:ext cx="9980137" cy="23593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9" name="Espaço Reservado para Número de Slide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29" name="Imagem 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Mapeamento dos Processos de TI para Auditoria</a:t>
            </a:r>
          </a:p>
        </p:txBody>
      </p:sp>
      <p:sp>
        <p:nvSpPr>
          <p:cNvPr id="3" name="Retângulo 2"/>
          <p:cNvSpPr/>
          <p:nvPr/>
        </p:nvSpPr>
        <p:spPr>
          <a:xfrm>
            <a:off x="329238" y="1168264"/>
            <a:ext cx="5175135" cy="41601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PRÓXIMOS PASSOS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Início do Mapeamento dos seguintes processos:</a:t>
            </a: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>
              <a:spcBef>
                <a:spcPts val="200"/>
              </a:spcBef>
              <a:spcAft>
                <a:spcPts val="200"/>
              </a:spcAft>
            </a:pPr>
            <a:endParaRPr lang="pt-BR" sz="2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algn="just"/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Envolvidos:</a:t>
            </a:r>
          </a:p>
          <a:p>
            <a:pPr marL="342900" lvl="2" indent="-342900" algn="just">
              <a:buFontTx/>
              <a:buChar char="-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Daniel Braga e Daniel </a:t>
            </a:r>
            <a:r>
              <a:rPr lang="pt-BR" sz="1600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Mizobuchi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342900" indent="-342900" algn="just">
              <a:buFontTx/>
              <a:buChar char="-"/>
            </a:pPr>
            <a:r>
              <a:rPr lang="pt-BR" sz="1600" dirty="0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Daniel Borges e Claudio Cunha</a:t>
            </a:r>
            <a:endParaRPr lang="pt-BR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119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2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3609</TotalTime>
  <Words>663</Words>
  <Application>Microsoft Office PowerPoint</Application>
  <PresentationFormat>Personalizar</PresentationFormat>
  <Paragraphs>211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20" baseType="lpstr">
      <vt:lpstr>Arial</vt:lpstr>
      <vt:lpstr>Calibri</vt:lpstr>
      <vt:lpstr>Cambria</vt:lpstr>
      <vt:lpstr>Gill Sans</vt:lpstr>
      <vt:lpstr>Gotham Rounded Book</vt:lpstr>
      <vt:lpstr>Helvetica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Rabello</dc:creator>
  <cp:lastModifiedBy>Luiz Rabello</cp:lastModifiedBy>
  <cp:revision>12</cp:revision>
  <dcterms:created xsi:type="dcterms:W3CDTF">2014-01-24T21:35:00Z</dcterms:created>
  <dcterms:modified xsi:type="dcterms:W3CDTF">2016-10-18T16:43:53Z</dcterms:modified>
</cp:coreProperties>
</file>