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50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5BB4C-A0B7-4498-BEB4-C7B64A6E679C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D4A66-1676-4191-9D94-0EA2519F9B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165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D4A66-1676-4191-9D94-0EA2519F9BA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621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522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339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621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54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4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01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366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88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784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883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104122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21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0" y="3445418"/>
            <a:ext cx="9129522" cy="9764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u="none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pt-BR" sz="43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Nome </a:t>
            </a:r>
            <a:r>
              <a:rPr lang="pt-BR" sz="4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do Projeto</a:t>
            </a:r>
          </a:p>
          <a:p>
            <a:r>
              <a:rPr lang="pt-BR" sz="2200" dirty="0" smtClean="0">
                <a:solidFill>
                  <a:schemeClr val="bg1"/>
                </a:solidFill>
                <a:latin typeface="+mn-lt"/>
              </a:rPr>
              <a:t>Status </a:t>
            </a:r>
            <a:r>
              <a:rPr lang="pt-BR" sz="2200" dirty="0" err="1" smtClean="0">
                <a:solidFill>
                  <a:schemeClr val="bg1"/>
                </a:solidFill>
                <a:latin typeface="+mn-lt"/>
              </a:rPr>
              <a:t>Report</a:t>
            </a:r>
            <a:r>
              <a:rPr lang="pt-BR" sz="2200" dirty="0" smtClean="0">
                <a:solidFill>
                  <a:schemeClr val="bg1"/>
                </a:solidFill>
                <a:latin typeface="+mn-lt"/>
              </a:rPr>
              <a:t> – Executivo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-1" y="6411025"/>
            <a:ext cx="9129523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None/>
              <a:defRPr sz="24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13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99/99/9999</a:t>
            </a:r>
          </a:p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versão </a:t>
            </a:r>
            <a:r>
              <a:rPr lang="pt-BR" sz="1200" dirty="0" err="1" smtClean="0">
                <a:solidFill>
                  <a:schemeClr val="tx1"/>
                </a:solidFill>
              </a:rPr>
              <a:t>xx</a:t>
            </a:r>
            <a:endParaRPr lang="pt-BR" sz="1200" dirty="0">
              <a:solidFill>
                <a:schemeClr val="tx1"/>
              </a:solidFill>
            </a:endParaRPr>
          </a:p>
        </p:txBody>
      </p:sp>
      <p:pic>
        <p:nvPicPr>
          <p:cNvPr id="1026" name="Picture 2" descr="http://essenceit.com/sitenovo/wp-content/uploads/2014/01/B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437"/>
            <a:ext cx="9129522" cy="345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0" y="5677469"/>
            <a:ext cx="2442949" cy="118053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tx1"/>
                </a:solidFill>
              </a:rPr>
              <a:t>Inserir o logo do cliente</a:t>
            </a:r>
            <a:endParaRPr lang="pt-BR" b="1" dirty="0">
              <a:solidFill>
                <a:schemeClr val="tx1"/>
              </a:solidFill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7769" y="5777880"/>
            <a:ext cx="2321753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216523"/>
              </p:ext>
            </p:extLst>
          </p:nvPr>
        </p:nvGraphicFramePr>
        <p:xfrm>
          <a:off x="3707903" y="1609257"/>
          <a:ext cx="5411170" cy="237487"/>
        </p:xfrm>
        <a:graphic>
          <a:graphicData uri="http://schemas.openxmlformats.org/drawingml/2006/table">
            <a:tbl>
              <a:tblPr firstRow="1" bandRow="1"/>
              <a:tblGrid>
                <a:gridCol w="504057"/>
                <a:gridCol w="1080120"/>
                <a:gridCol w="216024"/>
                <a:gridCol w="2376264"/>
                <a:gridCol w="216024"/>
                <a:gridCol w="855033"/>
                <a:gridCol w="163648"/>
              </a:tblGrid>
              <a:tr h="23748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Custo</a:t>
                      </a:r>
                      <a:endParaRPr lang="pt-BR" sz="900" b="1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Entre 90% e 105%</a:t>
                      </a:r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+mn-lt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Abaixo de 90% ou acima de 105% até</a:t>
                      </a:r>
                      <a:r>
                        <a:rPr lang="pt-BR" sz="700" b="1" i="0" u="none" strike="noStrike" baseline="0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110%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Acima de 110%</a:t>
                      </a:r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Elipse 4"/>
          <p:cNvSpPr/>
          <p:nvPr/>
        </p:nvSpPr>
        <p:spPr>
          <a:xfrm>
            <a:off x="5346096" y="1688092"/>
            <a:ext cx="90000" cy="900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7916461" y="1686574"/>
            <a:ext cx="90000" cy="90000"/>
          </a:xfrm>
          <a:prstGeom prst="ellipse">
            <a:avLst/>
          </a:prstGeom>
          <a:solidFill>
            <a:srgbClr val="FFFF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8974955" y="1692771"/>
            <a:ext cx="90000" cy="900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036443"/>
              </p:ext>
            </p:extLst>
          </p:nvPr>
        </p:nvGraphicFramePr>
        <p:xfrm>
          <a:off x="71211" y="1606844"/>
          <a:ext cx="3456672" cy="237487"/>
        </p:xfrm>
        <a:graphic>
          <a:graphicData uri="http://schemas.openxmlformats.org/drawingml/2006/table">
            <a:tbl>
              <a:tblPr firstRow="1" bandRow="1"/>
              <a:tblGrid>
                <a:gridCol w="488821"/>
                <a:gridCol w="526098"/>
                <a:gridCol w="75157"/>
                <a:gridCol w="1352823"/>
                <a:gridCol w="49130"/>
                <a:gridCol w="826725"/>
                <a:gridCol w="137918"/>
              </a:tblGrid>
              <a:tr h="23748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Prazo</a:t>
                      </a:r>
                      <a:endParaRPr lang="pt-BR" sz="900" b="1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kern="1200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Até 5%</a:t>
                      </a:r>
                      <a:endParaRPr lang="pt-BR" sz="700" b="1" i="0" u="none" strike="noStrike" kern="1200" dirty="0">
                        <a:solidFill>
                          <a:srgbClr val="1F497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Acima de 5% até 10%</a:t>
                      </a:r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  Acima de 10%</a:t>
                      </a:r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Elipse 8"/>
          <p:cNvSpPr/>
          <p:nvPr/>
        </p:nvSpPr>
        <p:spPr>
          <a:xfrm>
            <a:off x="1064805" y="1685679"/>
            <a:ext cx="90000" cy="900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Elipse 9"/>
          <p:cNvSpPr/>
          <p:nvPr/>
        </p:nvSpPr>
        <p:spPr>
          <a:xfrm>
            <a:off x="2472146" y="1683188"/>
            <a:ext cx="90000" cy="99000"/>
          </a:xfrm>
          <a:prstGeom prst="ellipse">
            <a:avLst/>
          </a:prstGeom>
          <a:solidFill>
            <a:srgbClr val="FFFF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3401880" y="1687694"/>
            <a:ext cx="90000" cy="900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775608"/>
              </p:ext>
            </p:extLst>
          </p:nvPr>
        </p:nvGraphicFramePr>
        <p:xfrm>
          <a:off x="75289" y="620688"/>
          <a:ext cx="9053910" cy="990236"/>
        </p:xfrm>
        <a:graphic>
          <a:graphicData uri="http://schemas.openxmlformats.org/drawingml/2006/table">
            <a:tbl>
              <a:tblPr firstRow="1" bandRow="1"/>
              <a:tblGrid>
                <a:gridCol w="1810782"/>
                <a:gridCol w="1810782"/>
                <a:gridCol w="1810782"/>
                <a:gridCol w="1810782"/>
                <a:gridCol w="1810782"/>
              </a:tblGrid>
              <a:tr h="247559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Início Previsto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Término Previsto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Término Projetado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% Previsto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% Realizado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</a:tr>
              <a:tr h="247559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99/99/9999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99/99/9999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99/99/9999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99%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99%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247559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Orçamento Total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Estimativa no Término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Custo Previsto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Custo Realizado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SM em aberto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</a:tr>
              <a:tr h="247559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R$ 9.999.999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+mn-lt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R$ 9.999.999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+mn-lt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R$ </a:t>
                      </a:r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9.999.999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R$ </a:t>
                      </a:r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9.999.999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Sim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cxnSp>
        <p:nvCxnSpPr>
          <p:cNvPr id="13" name="Conector reto 12"/>
          <p:cNvCxnSpPr/>
          <p:nvPr/>
        </p:nvCxnSpPr>
        <p:spPr>
          <a:xfrm flipH="1">
            <a:off x="4585855" y="2160566"/>
            <a:ext cx="2000" cy="457200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4"/>
          <p:cNvSpPr>
            <a:spLocks noChangeArrowheads="1"/>
          </p:cNvSpPr>
          <p:nvPr/>
        </p:nvSpPr>
        <p:spPr bwMode="gray">
          <a:xfrm>
            <a:off x="8460504" y="40863"/>
            <a:ext cx="648000" cy="468000"/>
          </a:xfrm>
          <a:prstGeom prst="roundRect">
            <a:avLst/>
          </a:prstGeom>
          <a:solidFill>
            <a:srgbClr val="FF0000"/>
          </a:solidFill>
          <a:ln w="28575" algn="ctr">
            <a:noFill/>
            <a:round/>
            <a:headEnd/>
            <a:tailEnd/>
          </a:ln>
        </p:spPr>
        <p:txBody>
          <a:bodyPr lIns="0" tIns="0" rIns="0" bIns="0" anchor="ctr" anchorCtr="1">
            <a:noAutofit/>
          </a:bodyPr>
          <a:lstStyle/>
          <a:p>
            <a:pPr algn="ctr" eaLnBrk="0" hangingPunct="0">
              <a:lnSpc>
                <a:spcPct val="106000"/>
              </a:lnSpc>
            </a:pPr>
            <a:r>
              <a:rPr lang="pt-BR" sz="800" b="1" dirty="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Crítico</a:t>
            </a:r>
            <a:endParaRPr lang="en-US" sz="800" b="1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17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86627"/>
              </p:ext>
            </p:extLst>
          </p:nvPr>
        </p:nvGraphicFramePr>
        <p:xfrm>
          <a:off x="92588" y="4437112"/>
          <a:ext cx="4335396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161"/>
                <a:gridCol w="899995"/>
                <a:gridCol w="940531"/>
                <a:gridCol w="1079709"/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Conforme planejado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Com </a:t>
                      </a:r>
                      <a:r>
                        <a:rPr lang="en-US" sz="1000" dirty="0" err="1" smtClean="0">
                          <a:solidFill>
                            <a:schemeClr val="tx1"/>
                          </a:solidFill>
                        </a:rPr>
                        <a:t>risco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solidFill>
                            <a:schemeClr val="tx1"/>
                          </a:solidFill>
                        </a:rPr>
                        <a:t>Crítico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Concluído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" name="CaixaDeTexto 17"/>
          <p:cNvSpPr txBox="1"/>
          <p:nvPr/>
        </p:nvSpPr>
        <p:spPr>
          <a:xfrm>
            <a:off x="43405" y="4734402"/>
            <a:ext cx="3376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b="1" dirty="0" smtClean="0"/>
              <a:t>Realizações</a:t>
            </a:r>
            <a:endParaRPr lang="pt-BR" sz="1100" b="1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-6772" y="4957103"/>
            <a:ext cx="4254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080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pt-BR" sz="900" dirty="0" smtClean="0"/>
              <a:t>Realização. </a:t>
            </a:r>
            <a:r>
              <a:rPr lang="pt-BR" sz="900" b="1" dirty="0" smtClean="0"/>
              <a:t>Início</a:t>
            </a:r>
            <a:r>
              <a:rPr lang="pt-BR" sz="900" dirty="0" smtClean="0"/>
              <a:t>: </a:t>
            </a:r>
            <a:r>
              <a:rPr lang="pt-BR" sz="900" strike="sngStrike" dirty="0" smtClean="0"/>
              <a:t>99/99/99</a:t>
            </a:r>
            <a:r>
              <a:rPr lang="pt-BR" sz="900" dirty="0" smtClean="0"/>
              <a:t> 99/99/99.</a:t>
            </a:r>
            <a:r>
              <a:rPr lang="pt-BR" sz="900" b="1" dirty="0" smtClean="0"/>
              <a:t> Término</a:t>
            </a:r>
            <a:r>
              <a:rPr lang="pt-BR" sz="900" dirty="0" smtClean="0"/>
              <a:t>: </a:t>
            </a:r>
            <a:r>
              <a:rPr lang="pt-BR" sz="900" strike="sngStrike" dirty="0"/>
              <a:t>99/99/99</a:t>
            </a:r>
            <a:r>
              <a:rPr lang="pt-BR" sz="900" dirty="0"/>
              <a:t> 99/99/99.</a:t>
            </a:r>
            <a:r>
              <a:rPr lang="pt-BR" sz="900" b="1" dirty="0"/>
              <a:t> </a:t>
            </a:r>
            <a:r>
              <a:rPr lang="pt-BR" sz="900" b="1" dirty="0" smtClean="0"/>
              <a:t>%Conc.</a:t>
            </a:r>
            <a:r>
              <a:rPr lang="pt-BR" sz="900" dirty="0" smtClean="0"/>
              <a:t>: 99%. </a:t>
            </a:r>
            <a:r>
              <a:rPr lang="pt-BR" sz="900" b="1" dirty="0" smtClean="0"/>
              <a:t>Resp.</a:t>
            </a:r>
            <a:r>
              <a:rPr lang="pt-BR" sz="900" dirty="0" smtClean="0"/>
              <a:t>: nome do responsável.</a:t>
            </a:r>
          </a:p>
          <a:p>
            <a:pPr marL="171450" indent="-1080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pt-BR" sz="900" dirty="0" smtClean="0"/>
              <a:t>Realização</a:t>
            </a:r>
            <a:r>
              <a:rPr lang="pt-BR" sz="900" dirty="0"/>
              <a:t>. </a:t>
            </a:r>
            <a:r>
              <a:rPr lang="pt-BR" sz="900" b="1" dirty="0"/>
              <a:t>Início</a:t>
            </a:r>
            <a:r>
              <a:rPr lang="pt-BR" sz="900" dirty="0"/>
              <a:t>: 99/99/99.</a:t>
            </a:r>
            <a:r>
              <a:rPr lang="pt-BR" sz="900" b="1" dirty="0"/>
              <a:t> Término</a:t>
            </a:r>
            <a:r>
              <a:rPr lang="pt-BR" sz="900" dirty="0"/>
              <a:t>: 99/99/99. </a:t>
            </a:r>
            <a:r>
              <a:rPr lang="pt-BR" sz="900" b="1" dirty="0"/>
              <a:t>%Conc.</a:t>
            </a:r>
            <a:r>
              <a:rPr lang="pt-BR" sz="900" dirty="0"/>
              <a:t>: 99%. </a:t>
            </a:r>
            <a:r>
              <a:rPr lang="pt-BR" sz="900" b="1" dirty="0"/>
              <a:t>Resp.</a:t>
            </a:r>
            <a:r>
              <a:rPr lang="pt-BR" sz="900" dirty="0"/>
              <a:t>: nome do responsável</a:t>
            </a:r>
            <a:r>
              <a:rPr lang="pt-BR" sz="900" dirty="0" smtClean="0"/>
              <a:t>.</a:t>
            </a:r>
            <a:endParaRPr lang="pt-BR" sz="900" dirty="0"/>
          </a:p>
        </p:txBody>
      </p:sp>
      <p:graphicFrame>
        <p:nvGraphicFramePr>
          <p:cNvPr id="20" name="Tabe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640481"/>
              </p:ext>
            </p:extLst>
          </p:nvPr>
        </p:nvGraphicFramePr>
        <p:xfrm>
          <a:off x="4666159" y="2079088"/>
          <a:ext cx="4427999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36"/>
                <a:gridCol w="1439658"/>
                <a:gridCol w="1349491"/>
                <a:gridCol w="648072"/>
                <a:gridCol w="777742"/>
              </a:tblGrid>
              <a:tr h="244376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Tp</a:t>
                      </a:r>
                      <a:endParaRPr lang="pt-BR" sz="8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Descrição e Impacto</a:t>
                      </a:r>
                      <a:endParaRPr lang="pt-BR" sz="8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Ação</a:t>
                      </a:r>
                      <a:r>
                        <a:rPr lang="pt-BR" sz="800" baseline="0" dirty="0" smtClean="0"/>
                        <a:t> e Responsável</a:t>
                      </a:r>
                      <a:endParaRPr lang="pt-BR" sz="8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Prazo</a:t>
                      </a:r>
                      <a:endParaRPr lang="pt-BR" sz="8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Status</a:t>
                      </a:r>
                      <a:endParaRPr lang="pt-BR" sz="8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238298">
                <a:tc>
                  <a:txBody>
                    <a:bodyPr/>
                    <a:lstStyle/>
                    <a:p>
                      <a:pPr algn="ctr"/>
                      <a:r>
                        <a:rPr lang="en-US" sz="750" b="0" dirty="0" smtClean="0">
                          <a:solidFill>
                            <a:schemeClr val="tx1"/>
                          </a:solidFill>
                        </a:rPr>
                        <a:t>R1</a:t>
                      </a:r>
                      <a:endParaRPr lang="pt-BR" sz="7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Descrição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 do risco. </a:t>
                      </a:r>
                      <a:r>
                        <a:rPr lang="pt-BR" sz="750" b="1" dirty="0" smtClean="0">
                          <a:solidFill>
                            <a:schemeClr val="tx1"/>
                          </a:solidFill>
                        </a:rPr>
                        <a:t>Impacto</a:t>
                      </a:r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: Descrição do impacto do risco. 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="1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para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mitigar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ou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resolver o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risco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baseline="0" dirty="0" smtClean="0">
                          <a:solidFill>
                            <a:schemeClr val="tx1"/>
                          </a:solidFill>
                        </a:rPr>
                        <a:t>Resp.: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Responsáveis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pela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execução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da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Ativo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 /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Em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Mitigação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 /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Ocorrido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 /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Eliminado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38298">
                <a:tc>
                  <a:txBody>
                    <a:bodyPr/>
                    <a:lstStyle/>
                    <a:p>
                      <a:pPr algn="ctr"/>
                      <a:r>
                        <a:rPr lang="pt-BR" sz="750" b="0" dirty="0" smtClean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pt-BR" sz="7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Descrição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do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 problema. </a:t>
                      </a:r>
                      <a:r>
                        <a:rPr lang="pt-BR" sz="750" b="1" baseline="0" dirty="0" smtClean="0">
                          <a:solidFill>
                            <a:schemeClr val="tx1"/>
                          </a:solidFill>
                        </a:rPr>
                        <a:t>Impacto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: Descrição do impacto do problema.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="1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para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resolver  o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problema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baseline="0" dirty="0" smtClean="0">
                          <a:solidFill>
                            <a:schemeClr val="tx1"/>
                          </a:solidFill>
                        </a:rPr>
                        <a:t>Resp.: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Responsáveis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pela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execução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da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Em Andamento / Resolvido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38298">
                <a:tc>
                  <a:txBody>
                    <a:bodyPr/>
                    <a:lstStyle/>
                    <a:p>
                      <a:pPr algn="ctr"/>
                      <a:r>
                        <a:rPr lang="pt-BR" sz="750" b="0" dirty="0" smtClean="0">
                          <a:solidFill>
                            <a:schemeClr val="tx1"/>
                          </a:solidFill>
                        </a:rPr>
                        <a:t>M1</a:t>
                      </a:r>
                      <a:endParaRPr lang="pt-BR" sz="7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Descrição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da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 mudança. </a:t>
                      </a:r>
                      <a:r>
                        <a:rPr lang="pt-BR" sz="750" b="1" baseline="0" dirty="0" smtClean="0">
                          <a:solidFill>
                            <a:schemeClr val="tx1"/>
                          </a:solidFill>
                        </a:rPr>
                        <a:t>Impacto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: Descrição do impacto da mudança.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="1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associada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a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mudança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baseline="0" dirty="0" smtClean="0">
                          <a:solidFill>
                            <a:schemeClr val="tx1"/>
                          </a:solidFill>
                        </a:rPr>
                        <a:t>Resp.: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Responsáveis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pela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execução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da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Aberta / Aprovada / Reprovada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e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90818"/>
              </p:ext>
            </p:extLst>
          </p:nvPr>
        </p:nvGraphicFramePr>
        <p:xfrm>
          <a:off x="50801" y="2079088"/>
          <a:ext cx="4430442" cy="199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258"/>
                <a:gridCol w="634433"/>
                <a:gridCol w="677895"/>
                <a:gridCol w="704926"/>
                <a:gridCol w="582930"/>
              </a:tblGrid>
              <a:tr h="319166">
                <a:tc>
                  <a:txBody>
                    <a:bodyPr/>
                    <a:lstStyle/>
                    <a:p>
                      <a:pPr algn="ctr"/>
                      <a:r>
                        <a:rPr lang="pt-BR" sz="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Marco e Entrega</a:t>
                      </a:r>
                      <a:endParaRPr lang="pt-BR" sz="8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Início</a:t>
                      </a:r>
                      <a:endParaRPr lang="pt-BR" sz="8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Término</a:t>
                      </a:r>
                      <a:endParaRPr lang="pt-BR" sz="8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Resp.</a:t>
                      </a:r>
                      <a:endParaRPr lang="pt-BR" sz="8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pt-BR" sz="8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2847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Planejamento</a:t>
                      </a:r>
                      <a:r>
                        <a:rPr lang="pt-B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lang="pt-BR" sz="9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Kick</a:t>
                      </a:r>
                      <a:r>
                        <a:rPr lang="pt-B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-off</a:t>
                      </a:r>
                      <a:endParaRPr lang="pt-BR" sz="9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2847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 u="none" dirty="0" smtClean="0">
                          <a:solidFill>
                            <a:schemeClr val="tx1"/>
                          </a:solidFill>
                        </a:rPr>
                        <a:t>Release 1 - Iteração 1</a:t>
                      </a:r>
                      <a:r>
                        <a:rPr lang="pt-BR" sz="900" b="0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pt-BR" sz="900" b="0" baseline="0" dirty="0" smtClean="0">
                          <a:solidFill>
                            <a:schemeClr val="tx1"/>
                          </a:solidFill>
                        </a:rPr>
                        <a:t> nome do marco ou entrega do projeto</a:t>
                      </a:r>
                      <a:endParaRPr lang="pt-BR" sz="9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strike="sngStrike" baseline="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</a:p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Nome do resp. pelo marco ou entrega do projeto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2847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 u="none" dirty="0" smtClean="0">
                          <a:solidFill>
                            <a:schemeClr val="tx1"/>
                          </a:solidFill>
                        </a:rPr>
                        <a:t>Release 1 - Iteração 2</a:t>
                      </a:r>
                      <a:r>
                        <a:rPr lang="pt-BR" sz="900" b="0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pt-BR" sz="900" b="0" baseline="0" dirty="0" smtClean="0">
                          <a:solidFill>
                            <a:schemeClr val="tx1"/>
                          </a:solidFill>
                        </a:rPr>
                        <a:t> nome do marco ou entrega do projeto</a:t>
                      </a:r>
                      <a:endParaRPr lang="pt-BR" sz="9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b="1" dirty="0" smtClean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pt-BR" sz="7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847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 u="none" dirty="0" smtClean="0">
                          <a:solidFill>
                            <a:schemeClr val="tx1"/>
                          </a:solidFill>
                        </a:rPr>
                        <a:t>Release 2 - Iteração 1</a:t>
                      </a:r>
                      <a:r>
                        <a:rPr lang="pt-BR" sz="900" b="0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pt-BR" sz="900" b="0" baseline="0" dirty="0" smtClean="0">
                          <a:solidFill>
                            <a:schemeClr val="tx1"/>
                          </a:solidFill>
                        </a:rPr>
                        <a:t> nome do marco ou entrega do projeto</a:t>
                      </a:r>
                      <a:endParaRPr lang="pt-BR" sz="9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b="1" dirty="0" smtClean="0">
                          <a:solidFill>
                            <a:schemeClr val="tx1"/>
                          </a:solidFill>
                        </a:rPr>
                        <a:t>R1, R2</a:t>
                      </a:r>
                      <a:endParaRPr lang="pt-BR" sz="7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2" name="Elipse 21"/>
          <p:cNvSpPr/>
          <p:nvPr/>
        </p:nvSpPr>
        <p:spPr>
          <a:xfrm>
            <a:off x="7020272" y="1377351"/>
            <a:ext cx="216024" cy="2160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-13620" y="1836174"/>
            <a:ext cx="444160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100" b="1" dirty="0" smtClean="0"/>
              <a:t>Principais Marcos e Entregas (1 semana)</a:t>
            </a:r>
            <a:endParaRPr lang="pt-BR" sz="1100" b="1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4680012" y="1836174"/>
            <a:ext cx="435648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100" b="1" dirty="0" smtClean="0"/>
              <a:t>Riscos, Problemas e Mudanças</a:t>
            </a:r>
            <a:endParaRPr lang="pt-BR" sz="1100" b="1" dirty="0"/>
          </a:p>
        </p:txBody>
      </p:sp>
      <p:sp>
        <p:nvSpPr>
          <p:cNvPr id="25" name="Elipse 24"/>
          <p:cNvSpPr/>
          <p:nvPr/>
        </p:nvSpPr>
        <p:spPr>
          <a:xfrm>
            <a:off x="8820472" y="875847"/>
            <a:ext cx="216024" cy="2160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Elipse 25"/>
          <p:cNvSpPr/>
          <p:nvPr/>
        </p:nvSpPr>
        <p:spPr>
          <a:xfrm>
            <a:off x="3311860" y="1377351"/>
            <a:ext cx="216024" cy="2160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Elipse 26"/>
          <p:cNvSpPr/>
          <p:nvPr/>
        </p:nvSpPr>
        <p:spPr>
          <a:xfrm>
            <a:off x="8820472" y="1377351"/>
            <a:ext cx="216024" cy="216000"/>
          </a:xfrm>
          <a:prstGeom prst="ellipse">
            <a:avLst/>
          </a:prstGeom>
          <a:solidFill>
            <a:srgbClr val="FFFF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Elipse 27"/>
          <p:cNvSpPr/>
          <p:nvPr/>
        </p:nvSpPr>
        <p:spPr>
          <a:xfrm>
            <a:off x="5148064" y="870798"/>
            <a:ext cx="216024" cy="2160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9" name="Conector reto 28"/>
          <p:cNvCxnSpPr/>
          <p:nvPr/>
        </p:nvCxnSpPr>
        <p:spPr>
          <a:xfrm flipH="1">
            <a:off x="35496" y="4680952"/>
            <a:ext cx="9001000" cy="39142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4673804" y="4705312"/>
            <a:ext cx="3376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b="1" dirty="0" smtClean="0"/>
              <a:t>Próximos Passos</a:t>
            </a:r>
            <a:endParaRPr lang="pt-BR" sz="1100" b="1" dirty="0"/>
          </a:p>
        </p:txBody>
      </p:sp>
      <p:sp>
        <p:nvSpPr>
          <p:cNvPr id="57" name="CaixaDeTexto 56"/>
          <p:cNvSpPr txBox="1"/>
          <p:nvPr/>
        </p:nvSpPr>
        <p:spPr>
          <a:xfrm>
            <a:off x="4623627" y="4959912"/>
            <a:ext cx="425473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0800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pt-BR" sz="900" dirty="0" smtClean="0"/>
              <a:t>Próxima </a:t>
            </a:r>
            <a:r>
              <a:rPr lang="pt-BR" sz="900" dirty="0"/>
              <a:t>atividade. </a:t>
            </a:r>
            <a:r>
              <a:rPr lang="pt-BR" sz="900" b="1" dirty="0"/>
              <a:t>Início</a:t>
            </a:r>
            <a:r>
              <a:rPr lang="pt-BR" sz="900" dirty="0"/>
              <a:t>: 99/99/99.</a:t>
            </a:r>
            <a:r>
              <a:rPr lang="pt-BR" sz="900" b="1" dirty="0"/>
              <a:t> Término</a:t>
            </a:r>
            <a:r>
              <a:rPr lang="pt-BR" sz="900" dirty="0"/>
              <a:t>: 99/99/99. </a:t>
            </a:r>
            <a:r>
              <a:rPr lang="pt-BR" sz="900" b="1" dirty="0"/>
              <a:t>%Conc.</a:t>
            </a:r>
            <a:r>
              <a:rPr lang="pt-BR" sz="900" dirty="0"/>
              <a:t>: 0%. </a:t>
            </a:r>
            <a:r>
              <a:rPr lang="pt-BR" sz="900" b="1" dirty="0"/>
              <a:t>Resp.</a:t>
            </a:r>
            <a:r>
              <a:rPr lang="pt-BR" sz="900" dirty="0"/>
              <a:t>: nome do responsável.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-5449" y="17760"/>
            <a:ext cx="91494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>
                <a:latin typeface="+mj-lt"/>
              </a:rPr>
              <a:t>Nome do Projeto</a:t>
            </a:r>
            <a:endParaRPr lang="pt-BR" sz="2200" b="1" dirty="0">
              <a:latin typeface="+mj-lt"/>
            </a:endParaRP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8537" y="6252289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6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6809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TM04033923[[fn=Profundidade]]</Template>
  <TotalTime>33</TotalTime>
  <Words>383</Words>
  <PresentationFormat>Apresentação na tela (4:3)</PresentationFormat>
  <Paragraphs>92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2016-06-30T11:40:54Z</dcterms:created>
  <dcterms:modified xsi:type="dcterms:W3CDTF">2016-07-12T13:20:14Z</dcterms:modified>
</cp:coreProperties>
</file>