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6"/>
  </p:notesMasterIdLst>
  <p:sldIdLst>
    <p:sldId id="262" r:id="rId5"/>
    <p:sldId id="265" r:id="rId6"/>
    <p:sldId id="539" r:id="rId7"/>
    <p:sldId id="540" r:id="rId8"/>
    <p:sldId id="541" r:id="rId9"/>
    <p:sldId id="542" r:id="rId10"/>
    <p:sldId id="543" r:id="rId11"/>
    <p:sldId id="544" r:id="rId12"/>
    <p:sldId id="551" r:id="rId13"/>
    <p:sldId id="552" r:id="rId14"/>
    <p:sldId id="545" r:id="rId15"/>
    <p:sldId id="546" r:id="rId16"/>
    <p:sldId id="493" r:id="rId17"/>
    <p:sldId id="494" r:id="rId18"/>
    <p:sldId id="538" r:id="rId19"/>
    <p:sldId id="510" r:id="rId20"/>
    <p:sldId id="535" r:id="rId21"/>
    <p:sldId id="553" r:id="rId22"/>
    <p:sldId id="470" r:id="rId23"/>
    <p:sldId id="532" r:id="rId24"/>
    <p:sldId id="533" r:id="rId25"/>
    <p:sldId id="461" r:id="rId26"/>
    <p:sldId id="480" r:id="rId27"/>
    <p:sldId id="547" r:id="rId28"/>
    <p:sldId id="548" r:id="rId29"/>
    <p:sldId id="549" r:id="rId30"/>
    <p:sldId id="550" r:id="rId31"/>
    <p:sldId id="537" r:id="rId32"/>
    <p:sldId id="464" r:id="rId33"/>
    <p:sldId id="490" r:id="rId34"/>
    <p:sldId id="411" r:id="rId3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3" autoAdjust="0"/>
    <p:restoredTop sz="91785" autoAdjust="0"/>
  </p:normalViewPr>
  <p:slideViewPr>
    <p:cSldViewPr snapToGrid="0" snapToObjects="1">
      <p:cViewPr varScale="1">
        <p:scale>
          <a:sx n="87" d="100"/>
          <a:sy n="87" d="100"/>
        </p:scale>
        <p:origin x="936" y="90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2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2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2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\AppData\Local\Microsoft\Windows\Temporary%20Internet%20Files\Content.Outlook\V7B2FHBZ\Alarmes%20Visuais%20CPD-V1%200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\AppData\Local\Microsoft\Windows\Temporary%20Internet%20Files\Content.Outlook\V7B2FHBZ\Alarmes%20Visuais%20CPD-V1%200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Volume</a:t>
            </a:r>
            <a:r>
              <a:rPr lang="pt-BR" sz="1500" b="1" baseline="0" dirty="0"/>
              <a:t> de </a:t>
            </a:r>
            <a:r>
              <a:rPr lang="pt-BR" sz="1500" b="1" dirty="0"/>
              <a:t>Incidentes Alto Impacto</a:t>
            </a:r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-5.9401031800599621E-3"/>
                  <c:y val="-0.294890806899658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42-4057-BDFD-D4272EDC6324}"/>
                </c:ext>
              </c:extLst>
            </c:dLbl>
            <c:dLbl>
              <c:idx val="1"/>
              <c:layout>
                <c:manualLayout>
                  <c:x val="-5.4450316802510192E-17"/>
                  <c:y val="-0.1361034493383041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42-4057-BDFD-D4272EDC6324}"/>
                </c:ext>
              </c:extLst>
            </c:dLbl>
            <c:dLbl>
              <c:idx val="2"/>
              <c:layout>
                <c:manualLayout>
                  <c:x val="2.9700515900299811E-3"/>
                  <c:y val="-0.1190905181710161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42-4057-BDFD-D4272EDC6324}"/>
                </c:ext>
              </c:extLst>
            </c:dLbl>
            <c:dLbl>
              <c:idx val="3"/>
              <c:layout>
                <c:manualLayout>
                  <c:x val="-2.9700515900299811E-3"/>
                  <c:y val="-0.130432472282541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-5.9401031800599621E-3"/>
                  <c:y val="-0.1077485640594908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dLbl>
              <c:idx val="5"/>
              <c:layout>
                <c:manualLayout>
                  <c:x val="5.9401031800599621E-3"/>
                  <c:y val="-7.372270172491474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42-4057-BDFD-D4272EDC6324}"/>
                </c:ext>
              </c:extLst>
            </c:dLbl>
            <c:dLbl>
              <c:idx val="6"/>
              <c:layout>
                <c:manualLayout>
                  <c:x val="-1.0890063360502038E-16"/>
                  <c:y val="-5.67097705576266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BCA-49D8-A455-9E0DDBEF49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1494</c:v>
                </c:pt>
                <c:pt idx="1">
                  <c:v>294</c:v>
                </c:pt>
                <c:pt idx="2">
                  <c:v>210</c:v>
                </c:pt>
                <c:pt idx="3">
                  <c:v>204</c:v>
                </c:pt>
                <c:pt idx="4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67665392"/>
        <c:axId val="167665784"/>
      </c:barChart>
      <c:catAx>
        <c:axId val="16766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7665784"/>
        <c:crosses val="autoZero"/>
        <c:auto val="1"/>
        <c:lblAlgn val="ctr"/>
        <c:lblOffset val="100"/>
        <c:noMultiLvlLbl val="0"/>
      </c:catAx>
      <c:valAx>
        <c:axId val="1676657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676653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2.9880988961915622E-3"/>
                  <c:y val="-0.307215533333422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59536247051311"/>
                      <c:h val="0.11947270740744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336-4DE1-AAF2-45A9A199F5C6}"/>
                </c:ext>
              </c:extLst>
            </c:dLbl>
            <c:dLbl>
              <c:idx val="1"/>
              <c:layout>
                <c:manualLayout>
                  <c:x val="0"/>
                  <c:y val="-0.147918590123499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36-4DE1-AAF2-45A9A199F5C6}"/>
                </c:ext>
              </c:extLst>
            </c:dLbl>
            <c:dLbl>
              <c:idx val="2"/>
              <c:layout>
                <c:manualLayout>
                  <c:x val="0"/>
                  <c:y val="-0.136540237037076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336-4DE1-AAF2-45A9A199F5C6}"/>
                </c:ext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2E-40EC-BB07-F4FF4F71836A}"/>
                </c:ext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6,25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2E-40EC-BB07-F4FF4F71836A}"/>
                </c:ext>
              </c:extLst>
            </c:dLbl>
            <c:dLbl>
              <c:idx val="5"/>
              <c:layout>
                <c:manualLayout>
                  <c:x val="2.9880988961914524E-3"/>
                  <c:y val="-9.67160012345962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DE1-AAF2-45A9A199F5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#,##0.00</c:formatCode>
                <c:ptCount val="5"/>
                <c:pt idx="0">
                  <c:v>48.19</c:v>
                </c:pt>
                <c:pt idx="1">
                  <c:v>9.48</c:v>
                </c:pt>
                <c:pt idx="2">
                  <c:v>6.77</c:v>
                </c:pt>
                <c:pt idx="3">
                  <c:v>7.03</c:v>
                </c:pt>
                <c:pt idx="4">
                  <c:v>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67822472"/>
        <c:axId val="167822864"/>
      </c:barChart>
      <c:catAx>
        <c:axId val="167822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7822864"/>
        <c:crosses val="autoZero"/>
        <c:auto val="1"/>
        <c:lblAlgn val="ctr"/>
        <c:lblOffset val="100"/>
        <c:noMultiLvlLbl val="0"/>
      </c:catAx>
      <c:valAx>
        <c:axId val="167822864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678224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343-4B87-A407-FBF943380C67}"/>
                </c:ext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43-4B87-A407-FBF943380C67}"/>
                </c:ext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343-4B87-A407-FBF943380C67}"/>
                </c:ext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-6.252661440287236E-3"/>
                  <c:y val="-0.17775140696189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dLbl>
              <c:idx val="5"/>
              <c:layout>
                <c:manualLayout>
                  <c:x val="7.5384243048088051E-2"/>
                  <c:y val="3.19385682179903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43-4B87-A407-FBF943380C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Dezembro</c:v>
                </c:pt>
                <c:pt idx="2">
                  <c:v>Janeiro</c:v>
                </c:pt>
                <c:pt idx="3">
                  <c:v>Fevereiro</c:v>
                </c:pt>
                <c:pt idx="4">
                  <c:v>Março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24272</c:v>
                </c:pt>
                <c:pt idx="1">
                  <c:v>19386</c:v>
                </c:pt>
                <c:pt idx="2">
                  <c:v>21648</c:v>
                </c:pt>
                <c:pt idx="3">
                  <c:v>19660</c:v>
                </c:pt>
                <c:pt idx="4">
                  <c:v>6930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67823256"/>
        <c:axId val="167824824"/>
      </c:barChart>
      <c:catAx>
        <c:axId val="167823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7824824"/>
        <c:crosses val="autoZero"/>
        <c:auto val="1"/>
        <c:lblAlgn val="ctr"/>
        <c:lblOffset val="100"/>
        <c:noMultiLvlLbl val="0"/>
      </c:catAx>
      <c:valAx>
        <c:axId val="16782482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67823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158558494854694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EFA-415D-941E-0183F8625EE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FA-415D-941E-0183F8625EE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FA-415D-941E-0183F8625EE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FA-415D-941E-0183F8625EE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EFA-415D-941E-0183F8625EE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FA-415D-941E-0183F8625EE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EFA-415D-941E-0183F8625EE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FA-415D-941E-0183F8625EE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FA-415D-941E-0183F8625EE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EFA-415D-941E-0183F8625EE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EFA-415D-941E-0183F8625EE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EFA-415D-941E-0183F8625EE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EFA-415D-941E-0183F8625EE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EFA-415D-941E-0183F8625EE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EFA-415D-941E-0183F8625EE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EFA-415D-941E-0183F8625EE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EFA-415D-941E-0183F8625EE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EFA-415D-941E-0183F8625EE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EFA-415D-941E-0183F8625EE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EFA-415D-941E-0183F8625EE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EFA-415D-941E-0183F8625EE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EFA-415D-941E-0183F8625EE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1EFA-415D-941E-0183F8625EE2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Gráficos'!$D$4:$AH$4</c:f>
              <c:numCache>
                <c:formatCode>#,##0</c:formatCode>
                <c:ptCount val="31"/>
                <c:pt idx="0">
                  <c:v>6</c:v>
                </c:pt>
                <c:pt idx="1">
                  <c:v>10</c:v>
                </c:pt>
                <c:pt idx="2">
                  <c:v>6</c:v>
                </c:pt>
                <c:pt idx="3">
                  <c:v>9</c:v>
                </c:pt>
                <c:pt idx="4">
                  <c:v>3</c:v>
                </c:pt>
                <c:pt idx="5">
                  <c:v>1</c:v>
                </c:pt>
                <c:pt idx="6">
                  <c:v>8</c:v>
                </c:pt>
                <c:pt idx="7">
                  <c:v>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1EFA-415D-941E-0183F8625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196972032"/>
        <c:axId val="193251008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Gráficos'!$D$10:$AH$10</c:f>
              <c:numCache>
                <c:formatCode>#,##0.00</c:formatCode>
                <c:ptCount val="31"/>
                <c:pt idx="0">
                  <c:v>11.217680681812055</c:v>
                </c:pt>
                <c:pt idx="1">
                  <c:v>12.93969306717794</c:v>
                </c:pt>
                <c:pt idx="2">
                  <c:v>12.792092005575151</c:v>
                </c:pt>
                <c:pt idx="3">
                  <c:v>9.5448686503137665</c:v>
                </c:pt>
                <c:pt idx="4">
                  <c:v>4.9200353867596736</c:v>
                </c:pt>
                <c:pt idx="5">
                  <c:v>2.4108173395122403</c:v>
                </c:pt>
                <c:pt idx="6">
                  <c:v>10.374848953068486</c:v>
                </c:pt>
                <c:pt idx="7">
                  <c:v>9.8152097979237141</c:v>
                </c:pt>
                <c:pt idx="8">
                  <c:v>11.321930600236563</c:v>
                </c:pt>
                <c:pt idx="9">
                  <c:v>11.192783102895463</c:v>
                </c:pt>
                <c:pt idx="10">
                  <c:v>8.3515381613912307</c:v>
                </c:pt>
                <c:pt idx="11">
                  <c:v>4.3049165780367167</c:v>
                </c:pt>
                <c:pt idx="12">
                  <c:v>2.1094091232379912</c:v>
                </c:pt>
                <c:pt idx="13">
                  <c:v>9.1658760349339445</c:v>
                </c:pt>
                <c:pt idx="14">
                  <c:v>8.6714511865765118</c:v>
                </c:pt>
                <c:pt idx="15">
                  <c:v>10.002595009077289</c:v>
                </c:pt>
                <c:pt idx="16">
                  <c:v>9.8884969671486527</c:v>
                </c:pt>
                <c:pt idx="17">
                  <c:v>7.3783400447186107</c:v>
                </c:pt>
                <c:pt idx="18">
                  <c:v>3.8032680642879435</c:v>
                </c:pt>
                <c:pt idx="19">
                  <c:v>1.8636013515010923</c:v>
                </c:pt>
                <c:pt idx="20">
                  <c:v>9.1230922432305341</c:v>
                </c:pt>
                <c:pt idx="21">
                  <c:v>8.6309752342595925</c:v>
                </c:pt>
                <c:pt idx="22">
                  <c:v>9.9559056430275099</c:v>
                </c:pt>
                <c:pt idx="23">
                  <c:v>9.8423401794188319</c:v>
                </c:pt>
                <c:pt idx="24">
                  <c:v>7.3438999800278983</c:v>
                </c:pt>
                <c:pt idx="25">
                  <c:v>3.7855154536226281</c:v>
                </c:pt>
                <c:pt idx="26">
                  <c:v>1.8549025722750878</c:v>
                </c:pt>
                <c:pt idx="27">
                  <c:v>9.1230922432305341</c:v>
                </c:pt>
                <c:pt idx="28">
                  <c:v>8.6309752342595925</c:v>
                </c:pt>
                <c:pt idx="29">
                  <c:v>9.9559056430275099</c:v>
                </c:pt>
                <c:pt idx="30">
                  <c:v>9.8423401794188319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1EFA-415D-941E-0183F8625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972032"/>
        <c:axId val="193251008"/>
      </c:lineChart>
      <c:dateAx>
        <c:axId val="196972032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3251008"/>
        <c:crosses val="autoZero"/>
        <c:auto val="1"/>
        <c:lblOffset val="100"/>
        <c:baseTimeUnit val="days"/>
      </c:dateAx>
      <c:valAx>
        <c:axId val="19325100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96972032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949-45B2-BA69-A361C8A5258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949-45B2-BA69-A361C8A5258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949-45B2-BA69-A361C8A5258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949-45B2-BA69-A361C8A5258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949-45B2-BA69-A361C8A52588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949-45B2-BA69-A361C8A5258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949-45B2-BA69-A361C8A5258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949-45B2-BA69-A361C8A5258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949-45B2-BA69-A361C8A5258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949-45B2-BA69-A361C8A5258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949-45B2-BA69-A361C8A5258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949-45B2-BA69-A361C8A52588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949-45B2-BA69-A361C8A5258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949-45B2-BA69-A361C8A5258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949-45B2-BA69-A361C8A5258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949-45B2-BA69-A361C8A5258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949-45B2-BA69-A361C8A52588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949-45B2-BA69-A361C8A5258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949-45B2-BA69-A361C8A52588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949-45B2-BA69-A361C8A5258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949-45B2-BA69-A361C8A5258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949-45B2-BA69-A361C8A5258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949-45B2-BA69-A361C8A52588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Gráficos'!$D$5:$AH$5</c:f>
              <c:numCache>
                <c:formatCode>#,##0</c:formatCode>
                <c:ptCount val="31"/>
                <c:pt idx="0">
                  <c:v>722</c:v>
                </c:pt>
                <c:pt idx="1">
                  <c:v>761</c:v>
                </c:pt>
                <c:pt idx="2">
                  <c:v>574</c:v>
                </c:pt>
                <c:pt idx="3">
                  <c:v>598</c:v>
                </c:pt>
                <c:pt idx="4">
                  <c:v>107</c:v>
                </c:pt>
                <c:pt idx="5">
                  <c:v>72</c:v>
                </c:pt>
                <c:pt idx="6">
                  <c:v>642</c:v>
                </c:pt>
                <c:pt idx="7">
                  <c:v>527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A949-45B2-BA69-A361C8A52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78780416"/>
        <c:axId val="193254464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Gráficos'!$D$11:$AH$11</c:f>
              <c:numCache>
                <c:formatCode>#,##0.00</c:formatCode>
                <c:ptCount val="31"/>
                <c:pt idx="0">
                  <c:v>609.1711955461559</c:v>
                </c:pt>
                <c:pt idx="1">
                  <c:v>607.60365288144885</c:v>
                </c:pt>
                <c:pt idx="2">
                  <c:v>563.59187806467389</c:v>
                </c:pt>
                <c:pt idx="3">
                  <c:v>476.8344205833875</c:v>
                </c:pt>
                <c:pt idx="4">
                  <c:v>147.52988078992908</c:v>
                </c:pt>
                <c:pt idx="5">
                  <c:v>56.069795314521464</c:v>
                </c:pt>
                <c:pt idx="6">
                  <c:v>609.17119554615579</c:v>
                </c:pt>
                <c:pt idx="7">
                  <c:v>536.76338709325535</c:v>
                </c:pt>
                <c:pt idx="8">
                  <c:v>535.38216697603207</c:v>
                </c:pt>
                <c:pt idx="9">
                  <c:v>496.60175599245355</c:v>
                </c:pt>
                <c:pt idx="10">
                  <c:v>420.15653488920793</c:v>
                </c:pt>
                <c:pt idx="11">
                  <c:v>129.99406257098136</c:v>
                </c:pt>
                <c:pt idx="12">
                  <c:v>49.405181116065656</c:v>
                </c:pt>
                <c:pt idx="13">
                  <c:v>563.59187806467378</c:v>
                </c:pt>
                <c:pt idx="14">
                  <c:v>496.60175599245355</c:v>
                </c:pt>
                <c:pt idx="15">
                  <c:v>495.32388132343101</c:v>
                </c:pt>
                <c:pt idx="16">
                  <c:v>459.44509253933649</c:v>
                </c:pt>
                <c:pt idx="17">
                  <c:v>388.71964451151183</c:v>
                </c:pt>
                <c:pt idx="18">
                  <c:v>120.26766596531411</c:v>
                </c:pt>
                <c:pt idx="19">
                  <c:v>45.708593930421785</c:v>
                </c:pt>
                <c:pt idx="20">
                  <c:v>563.59187806467378</c:v>
                </c:pt>
                <c:pt idx="21">
                  <c:v>496.60175599245355</c:v>
                </c:pt>
                <c:pt idx="22">
                  <c:v>495.32388132343101</c:v>
                </c:pt>
                <c:pt idx="23">
                  <c:v>459.44509253933649</c:v>
                </c:pt>
                <c:pt idx="24">
                  <c:v>388.71964451151183</c:v>
                </c:pt>
                <c:pt idx="25">
                  <c:v>120.26766596531411</c:v>
                </c:pt>
                <c:pt idx="26">
                  <c:v>45.708593930421785</c:v>
                </c:pt>
                <c:pt idx="27">
                  <c:v>476.83442058338744</c:v>
                </c:pt>
                <c:pt idx="28">
                  <c:v>420.15653488920793</c:v>
                </c:pt>
                <c:pt idx="29">
                  <c:v>419.07537199262049</c:v>
                </c:pt>
                <c:pt idx="30">
                  <c:v>388.71964451151183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A949-45B2-BA69-A361C8A52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80416"/>
        <c:axId val="193254464"/>
      </c:lineChart>
      <c:dateAx>
        <c:axId val="78780416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3254464"/>
        <c:crosses val="autoZero"/>
        <c:auto val="1"/>
        <c:lblOffset val="100"/>
        <c:baseTimeUnit val="days"/>
      </c:dateAx>
      <c:valAx>
        <c:axId val="1932544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78780416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08E-49E1-A51E-B2F1822101D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8E-49E1-A51E-B2F1822101D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08E-49E1-A51E-B2F1822101D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8E-49E1-A51E-B2F1822101D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08E-49E1-A51E-B2F1822101D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8E-49E1-A51E-B2F1822101D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8E-49E1-A51E-B2F1822101D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8E-49E1-A51E-B2F1822101D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8E-49E1-A51E-B2F1822101D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8E-49E1-A51E-B2F1822101D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8E-49E1-A51E-B2F1822101D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08E-49E1-A51E-B2F1822101D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08E-49E1-A51E-B2F1822101D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08E-49E1-A51E-B2F1822101D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08E-49E1-A51E-B2F1822101D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08E-49E1-A51E-B2F1822101D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08E-49E1-A51E-B2F1822101D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08E-49E1-A51E-B2F1822101D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08E-49E1-A51E-B2F1822101D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08E-49E1-A51E-B2F1822101D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08E-49E1-A51E-B2F1822101D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Gráficos'!$D$6:$AH$6</c:f>
              <c:numCache>
                <c:formatCode>#,##0</c:formatCode>
                <c:ptCount val="31"/>
                <c:pt idx="0">
                  <c:v>584</c:v>
                </c:pt>
                <c:pt idx="1">
                  <c:v>469</c:v>
                </c:pt>
                <c:pt idx="2">
                  <c:v>399</c:v>
                </c:pt>
                <c:pt idx="3">
                  <c:v>380</c:v>
                </c:pt>
                <c:pt idx="4">
                  <c:v>80</c:v>
                </c:pt>
                <c:pt idx="5">
                  <c:v>38</c:v>
                </c:pt>
                <c:pt idx="6">
                  <c:v>546</c:v>
                </c:pt>
                <c:pt idx="7">
                  <c:v>381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708E-49E1-A51E-B2F182210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196970496"/>
        <c:axId val="199467008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Gráficos'!$D$12:$AH$12</c:f>
              <c:numCache>
                <c:formatCode>#,##0.00</c:formatCode>
                <c:ptCount val="31"/>
                <c:pt idx="0">
                  <c:v>407.30605968415819</c:v>
                </c:pt>
                <c:pt idx="1">
                  <c:v>390.79192858550493</c:v>
                </c:pt>
                <c:pt idx="2">
                  <c:v>370.83469679446841</c:v>
                </c:pt>
                <c:pt idx="3">
                  <c:v>302.80157755793164</c:v>
                </c:pt>
                <c:pt idx="4">
                  <c:v>112.66590598965367</c:v>
                </c:pt>
                <c:pt idx="5">
                  <c:v>51.391465890017457</c:v>
                </c:pt>
                <c:pt idx="6">
                  <c:v>407.30605968415824</c:v>
                </c:pt>
                <c:pt idx="7">
                  <c:v>357.64551330067394</c:v>
                </c:pt>
                <c:pt idx="8">
                  <c:v>343.14485770504547</c:v>
                </c:pt>
                <c:pt idx="9">
                  <c:v>325.62089939835937</c:v>
                </c:pt>
                <c:pt idx="10">
                  <c:v>265.88267731134948</c:v>
                </c:pt>
                <c:pt idx="11">
                  <c:v>98.929183156275968</c:v>
                </c:pt>
                <c:pt idx="12">
                  <c:v>45.125592316897809</c:v>
                </c:pt>
                <c:pt idx="13">
                  <c:v>390.79192858550493</c:v>
                </c:pt>
                <c:pt idx="14">
                  <c:v>343.14485770504547</c:v>
                </c:pt>
                <c:pt idx="15">
                  <c:v>329.23212787636561</c:v>
                </c:pt>
                <c:pt idx="16">
                  <c:v>312.41867445406143</c:v>
                </c:pt>
                <c:pt idx="17">
                  <c:v>255.10252492818736</c:v>
                </c:pt>
                <c:pt idx="18">
                  <c:v>94.918122035819565</c:v>
                </c:pt>
                <c:pt idx="19">
                  <c:v>43.295985490022957</c:v>
                </c:pt>
                <c:pt idx="20">
                  <c:v>370.83469679446847</c:v>
                </c:pt>
                <c:pt idx="21">
                  <c:v>325.62089939835937</c:v>
                </c:pt>
                <c:pt idx="22">
                  <c:v>312.41867445406149</c:v>
                </c:pt>
                <c:pt idx="23">
                  <c:v>296.46386206963967</c:v>
                </c:pt>
                <c:pt idx="24">
                  <c:v>242.07477320645097</c:v>
                </c:pt>
                <c:pt idx="25">
                  <c:v>90.070777901831732</c:v>
                </c:pt>
                <c:pt idx="26">
                  <c:v>41.084916235923245</c:v>
                </c:pt>
                <c:pt idx="27">
                  <c:v>302.80157755793169</c:v>
                </c:pt>
                <c:pt idx="28">
                  <c:v>265.88267731134948</c:v>
                </c:pt>
                <c:pt idx="29">
                  <c:v>255.10252492818739</c:v>
                </c:pt>
                <c:pt idx="30">
                  <c:v>242.07477320645097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708E-49E1-A51E-B2F182210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970496"/>
        <c:axId val="199467008"/>
      </c:lineChart>
      <c:dateAx>
        <c:axId val="196970496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9467008"/>
        <c:crosses val="autoZero"/>
        <c:auto val="1"/>
        <c:lblOffset val="100"/>
        <c:baseTimeUnit val="days"/>
      </c:dateAx>
      <c:valAx>
        <c:axId val="19946700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96970496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[Alertas Visuais.xlsx]Plan1!Tabela dinâmica1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Alarmes X Localidade</a:t>
            </a:r>
          </a:p>
        </c:rich>
      </c:tx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</c:spPr>
      </c:pivotFmt>
      <c:pivotFmt>
        <c:idx val="2"/>
        <c:spPr>
          <a:solidFill>
            <a:srgbClr val="002060"/>
          </a:solidFill>
        </c:spPr>
      </c:pivotFmt>
      <c:pivotFmt>
        <c:idx val="3"/>
        <c:spPr>
          <a:solidFill>
            <a:srgbClr val="92D050"/>
          </a:solidFill>
        </c:spPr>
      </c:pivotFmt>
      <c:pivotFmt>
        <c:idx val="4"/>
        <c:spPr>
          <a:solidFill>
            <a:srgbClr val="FF0000"/>
          </a:solidFill>
        </c:spPr>
      </c:pivotFmt>
      <c:pivotFmt>
        <c:idx val="5"/>
        <c:spPr>
          <a:solidFill>
            <a:srgbClr val="00B0F0"/>
          </a:solidFill>
        </c:spPr>
      </c:pivotFmt>
      <c:pivotFmt>
        <c:idx val="6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</c:spPr>
      </c:pivotFmt>
      <c:pivotFmt>
        <c:idx val="8"/>
        <c:spPr>
          <a:solidFill>
            <a:srgbClr val="002060"/>
          </a:solidFill>
        </c:spPr>
      </c:pivotFmt>
      <c:pivotFmt>
        <c:idx val="9"/>
        <c:spPr>
          <a:solidFill>
            <a:srgbClr val="92D050"/>
          </a:solidFill>
        </c:spPr>
      </c:pivotFmt>
      <c:pivotFmt>
        <c:idx val="10"/>
        <c:spPr>
          <a:solidFill>
            <a:srgbClr val="FF0000"/>
          </a:solidFill>
        </c:spPr>
      </c:pivotFmt>
      <c:pivotFmt>
        <c:idx val="11"/>
        <c:spPr>
          <a:solidFill>
            <a:srgbClr val="00B0F0"/>
          </a:solidFill>
        </c:spPr>
      </c:pivotFmt>
      <c:pivotFmt>
        <c:idx val="1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</c:spPr>
      </c:pivotFmt>
      <c:pivotFmt>
        <c:idx val="14"/>
        <c:spPr>
          <a:solidFill>
            <a:srgbClr val="002060"/>
          </a:solidFill>
        </c:spPr>
      </c:pivotFmt>
      <c:pivotFmt>
        <c:idx val="15"/>
        <c:spPr>
          <a:solidFill>
            <a:srgbClr val="92D050"/>
          </a:solidFill>
        </c:spPr>
      </c:pivotFmt>
      <c:pivotFmt>
        <c:idx val="16"/>
        <c:spPr>
          <a:solidFill>
            <a:srgbClr val="FF0000"/>
          </a:solidFill>
        </c:spPr>
      </c:pivotFmt>
      <c:pivotFmt>
        <c:idx val="17"/>
        <c:spPr>
          <a:solidFill>
            <a:srgbClr val="00B0F0"/>
          </a:solidFill>
        </c:spPr>
      </c:pivotFmt>
    </c:pivotFmts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Plan1!$B$3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C86F-4100-8CC3-D0B47A417AE7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</c:spPr>
            <c:extLst>
              <c:ext xmlns:c16="http://schemas.microsoft.com/office/drawing/2014/chart" uri="{C3380CC4-5D6E-409C-BE32-E72D297353CC}">
                <c16:uniqueId val="{00000003-C86F-4100-8CC3-D0B47A417AE7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</c:spPr>
            <c:extLst>
              <c:ext xmlns:c16="http://schemas.microsoft.com/office/drawing/2014/chart" uri="{C3380CC4-5D6E-409C-BE32-E72D297353CC}">
                <c16:uniqueId val="{00000005-C86F-4100-8CC3-D0B47A417AE7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7-C86F-4100-8CC3-D0B47A417AE7}"/>
              </c:ext>
            </c:extLst>
          </c:dPt>
          <c:dPt>
            <c:idx val="4"/>
            <c:invertIfNegative val="0"/>
            <c:bubble3D val="0"/>
            <c:spPr>
              <a:solidFill>
                <a:srgbClr val="00B0F0"/>
              </a:solidFill>
            </c:spPr>
            <c:extLst>
              <c:ext xmlns:c16="http://schemas.microsoft.com/office/drawing/2014/chart" uri="{C3380CC4-5D6E-409C-BE32-E72D297353CC}">
                <c16:uniqueId val="{00000009-C86F-4100-8CC3-D0B47A417AE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Plan1!$A$4:$A$9</c:f>
              <c:strCache>
                <c:ptCount val="5"/>
                <c:pt idx="0">
                  <c:v>BA</c:v>
                </c:pt>
                <c:pt idx="1">
                  <c:v>CE</c:v>
                </c:pt>
                <c:pt idx="2">
                  <c:v>MG</c:v>
                </c:pt>
                <c:pt idx="3">
                  <c:v>RJ</c:v>
                </c:pt>
                <c:pt idx="4">
                  <c:v>SP</c:v>
                </c:pt>
              </c:strCache>
            </c:strRef>
          </c:cat>
          <c:val>
            <c:numRef>
              <c:f>Plan1!$B$4:$B$9</c:f>
              <c:numCache>
                <c:formatCode>General</c:formatCode>
                <c:ptCount val="5"/>
                <c:pt idx="0">
                  <c:v>6</c:v>
                </c:pt>
                <c:pt idx="1">
                  <c:v>16</c:v>
                </c:pt>
                <c:pt idx="2">
                  <c:v>7</c:v>
                </c:pt>
                <c:pt idx="3">
                  <c:v>102</c:v>
                </c:pt>
                <c:pt idx="4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86F-4100-8CC3-D0B47A417A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4018344"/>
        <c:axId val="154472000"/>
        <c:axId val="0"/>
      </c:bar3DChart>
      <c:catAx>
        <c:axId val="1540183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54472000"/>
        <c:crosses val="autoZero"/>
        <c:auto val="1"/>
        <c:lblAlgn val="ctr"/>
        <c:lblOffset val="100"/>
        <c:noMultiLvlLbl val="0"/>
      </c:catAx>
      <c:valAx>
        <c:axId val="1544720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401834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Itens X</a:t>
            </a:r>
            <a:r>
              <a:rPr lang="en-US" baseline="0"/>
              <a:t> Qtde falhas reportadas</a:t>
            </a:r>
            <a:endParaRPr lang="en-US"/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Plan3!$B$1</c:f>
              <c:strCache>
                <c:ptCount val="1"/>
                <c:pt idx="0">
                  <c:v>Qtde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Plan3!$A$2:$A$12</c:f>
              <c:strCache>
                <c:ptCount val="11"/>
                <c:pt idx="0">
                  <c:v>Bateria</c:v>
                </c:pt>
                <c:pt idx="1">
                  <c:v>Cooler</c:v>
                </c:pt>
                <c:pt idx="2">
                  <c:v>CPU</c:v>
                </c:pt>
                <c:pt idx="3">
                  <c:v>Falha em Disco</c:v>
                </c:pt>
                <c:pt idx="4">
                  <c:v>Elétrica</c:v>
                </c:pt>
                <c:pt idx="5">
                  <c:v>Em Análise</c:v>
                </c:pt>
                <c:pt idx="6">
                  <c:v>Fonte</c:v>
                </c:pt>
                <c:pt idx="7">
                  <c:v>LEITOR DAT72</c:v>
                </c:pt>
                <c:pt idx="8">
                  <c:v>Memoria</c:v>
                </c:pt>
                <c:pt idx="9">
                  <c:v>PCIe Fatal error</c:v>
                </c:pt>
                <c:pt idx="10">
                  <c:v>Temperatura</c:v>
                </c:pt>
              </c:strCache>
            </c:strRef>
          </c:cat>
          <c:val>
            <c:numRef>
              <c:f>Plan3!$B$2:$B$12</c:f>
              <c:numCache>
                <c:formatCode>General</c:formatCode>
                <c:ptCount val="11"/>
                <c:pt idx="0">
                  <c:v>9</c:v>
                </c:pt>
                <c:pt idx="1">
                  <c:v>2</c:v>
                </c:pt>
                <c:pt idx="2">
                  <c:v>5</c:v>
                </c:pt>
                <c:pt idx="3">
                  <c:v>116</c:v>
                </c:pt>
                <c:pt idx="4">
                  <c:v>18</c:v>
                </c:pt>
                <c:pt idx="5">
                  <c:v>8</c:v>
                </c:pt>
                <c:pt idx="6">
                  <c:v>27</c:v>
                </c:pt>
                <c:pt idx="7">
                  <c:v>1</c:v>
                </c:pt>
                <c:pt idx="8">
                  <c:v>4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7-4E09-8174-FA57B9E16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439864"/>
        <c:axId val="153440256"/>
      </c:barChart>
      <c:catAx>
        <c:axId val="15343986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153440256"/>
        <c:crosses val="autoZero"/>
        <c:auto val="1"/>
        <c:lblAlgn val="ctr"/>
        <c:lblOffset val="100"/>
        <c:noMultiLvlLbl val="0"/>
      </c:catAx>
      <c:valAx>
        <c:axId val="15344025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343986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/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Mudanças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Mudanças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11/03/2016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83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6222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495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9550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776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5729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432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250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95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7136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9872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15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72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Contrato vai</a:t>
            </a:r>
            <a:r>
              <a:rPr lang="pt-BR" baseline="0" dirty="0"/>
              <a:t> até Março do BTCC da Oi – Adolpho e </a:t>
            </a:r>
            <a:r>
              <a:rPr lang="pt-BR" baseline="0" dirty="0" err="1"/>
              <a:t>Koreeda</a:t>
            </a:r>
            <a:r>
              <a:rPr lang="pt-BR" baseline="0" dirty="0"/>
              <a:t> cientes –</a:t>
            </a:r>
            <a:r>
              <a:rPr lang="pt-BR" baseline="0" dirty="0" err="1"/>
              <a:t>Boarim</a:t>
            </a:r>
            <a:r>
              <a:rPr lang="pt-BR" baseline="0" dirty="0"/>
              <a:t> sugere congelar a </a:t>
            </a:r>
            <a:r>
              <a:rPr lang="pt-BR" baseline="0" dirty="0" err="1"/>
              <a:t>Interlalização</a:t>
            </a:r>
            <a:endParaRPr lang="pt-BR" baseline="0" dirty="0"/>
          </a:p>
          <a:p>
            <a:r>
              <a:rPr lang="pt-BR" baseline="0" dirty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089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477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7448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556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23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77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99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0919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232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Contrato vai</a:t>
            </a:r>
            <a:r>
              <a:rPr lang="pt-BR" baseline="0" dirty="0"/>
              <a:t> até Março do BTCC da Oi – Adolpho e </a:t>
            </a:r>
            <a:r>
              <a:rPr lang="pt-BR" baseline="0" dirty="0" err="1"/>
              <a:t>Koreeda</a:t>
            </a:r>
            <a:r>
              <a:rPr lang="pt-BR" baseline="0" dirty="0"/>
              <a:t> cientes –</a:t>
            </a:r>
            <a:r>
              <a:rPr lang="pt-BR" baseline="0" dirty="0" err="1"/>
              <a:t>Boarim</a:t>
            </a:r>
            <a:r>
              <a:rPr lang="pt-BR" baseline="0" dirty="0"/>
              <a:t> sugere congelar a </a:t>
            </a:r>
            <a:r>
              <a:rPr lang="pt-BR" baseline="0" dirty="0" err="1"/>
              <a:t>Interlalização</a:t>
            </a:r>
            <a:endParaRPr lang="pt-BR" baseline="0" dirty="0"/>
          </a:p>
          <a:p>
            <a:r>
              <a:rPr lang="pt-BR" baseline="0" dirty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440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informou que existe um alinhamento em andamento para que as multas aplicadas pelos clientes a Contax não serão mais discriminadas separadamente no faturamento. O valor a ser faturado virá consolidado. A partir de Março alguns clientes já entrarão neste novo modelo e de forma gradativa será feito para o demais. Desta forma, perderemos a visibilidade de quanto estamos sendo impactados financeiramente decorrente de multas.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7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2690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109004"/>
            <a:ext cx="198132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8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50653" y="97143"/>
            <a:ext cx="1981324" cy="360000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04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109004"/>
            <a:ext cx="198132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12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slide" Target="slide8.xml"/><Relationship Id="rId5" Type="http://schemas.openxmlformats.org/officeDocument/2006/relationships/image" Target="../media/image11.png"/><Relationship Id="rId10" Type="http://schemas.openxmlformats.org/officeDocument/2006/relationships/slide" Target="slide7.xml"/><Relationship Id="rId4" Type="http://schemas.openxmlformats.org/officeDocument/2006/relationships/chart" Target="../charts/chart3.xml"/><Relationship Id="rId9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4.png"/><Relationship Id="rId7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chart" Target="../charts/chart4.xml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chart" Target="../charts/chart5.xml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chart" Target="../charts/chart6.xml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1.png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0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6.bin"/><Relationship Id="rId5" Type="http://schemas.openxmlformats.org/officeDocument/2006/relationships/image" Target="../media/image12.png"/><Relationship Id="rId10" Type="http://schemas.openxmlformats.org/officeDocument/2006/relationships/image" Target="../media/image19.e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4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5.png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emf"/><Relationship Id="rId11" Type="http://schemas.openxmlformats.org/officeDocument/2006/relationships/image" Target="../media/image23.emf"/><Relationship Id="rId5" Type="http://schemas.openxmlformats.org/officeDocument/2006/relationships/image" Target="../media/image12.png"/><Relationship Id="rId10" Type="http://schemas.openxmlformats.org/officeDocument/2006/relationships/oleObject" Target="../embeddings/oleObject8.bin"/><Relationship Id="rId4" Type="http://schemas.openxmlformats.org/officeDocument/2006/relationships/image" Target="../media/image4.png"/><Relationship Id="rId9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27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3.xml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3.xml"/><Relationship Id="rId2" Type="http://schemas.openxmlformats.org/officeDocument/2006/relationships/notesSlide" Target="../notesSlides/notesSlide12.xml"/><Relationship Id="rId16" Type="http://schemas.openxmlformats.org/officeDocument/2006/relationships/diagramData" Target="../diagrams/data3.xml"/><Relationship Id="rId20" Type="http://schemas.microsoft.com/office/2007/relationships/diagramDrawing" Target="../diagrams/drawing3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3.emf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19" Type="http://schemas.openxmlformats.org/officeDocument/2006/relationships/diagramColors" Target="../diagrams/colors3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emf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.emf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>
                <a:solidFill>
                  <a:srgbClr val="FF0000"/>
                </a:solidFill>
                <a:latin typeface="Arial"/>
                <a:cs typeface="Arial"/>
              </a:rPr>
              <a:t>10.Março.2016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- Incidentes de Alto Impacto e Problemas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- Total de Incidentes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Indicadores - Total de Incidentes (Alto, Médio e Baixo)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Gestão de problemas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resolvidos de Alto Impacto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2ª Fase - T2R - Objetivos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Projetos Estruturantes e Especiais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Alinhamento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34184" y="153259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Incidentes Alto Impacto e Problemas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3936060246"/>
              </p:ext>
            </p:extLst>
          </p:nvPr>
        </p:nvGraphicFramePr>
        <p:xfrm>
          <a:off x="1" y="795529"/>
          <a:ext cx="4276020" cy="2239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>
              <p:ext uri="{D42A27DB-BD31-4B8C-83A1-F6EECF244321}">
                <p14:modId xmlns:p14="http://schemas.microsoft.com/office/powerpoint/2010/main" val="664257768"/>
              </p:ext>
            </p:extLst>
          </p:nvPr>
        </p:nvGraphicFramePr>
        <p:xfrm>
          <a:off x="4532563" y="802693"/>
          <a:ext cx="4250194" cy="2232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Retângulo de cantos arredondados 32"/>
          <p:cNvSpPr/>
          <p:nvPr/>
        </p:nvSpPr>
        <p:spPr>
          <a:xfrm>
            <a:off x="225224" y="3577590"/>
            <a:ext cx="3878145" cy="98777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/>
              <a:t>Redução Consolidada</a:t>
            </a:r>
            <a:br>
              <a:rPr lang="pt-BR" sz="1600" b="1" dirty="0"/>
            </a:br>
            <a:r>
              <a:rPr lang="pt-BR" sz="1600" b="1" dirty="0"/>
              <a:t> Agosto-15 a Fevereiro-16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919" y="282288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1" y="4848225"/>
            <a:ext cx="587116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! referentes ao período de 01/03 a 08/03.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6959" y="194658"/>
            <a:ext cx="1480724" cy="360000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514848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307813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2073857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-2,9%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075343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871161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642177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+3,8%</a:t>
            </a:r>
          </a:p>
        </p:txBody>
      </p:sp>
      <p:sp>
        <p:nvSpPr>
          <p:cNvPr id="22" name="Retângulo de cantos arredondados 32"/>
          <p:cNvSpPr/>
          <p:nvPr/>
        </p:nvSpPr>
        <p:spPr>
          <a:xfrm>
            <a:off x="2758639" y="3706013"/>
            <a:ext cx="1207571" cy="709702"/>
          </a:xfrm>
          <a:prstGeom prst="round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-</a:t>
            </a:r>
            <a:r>
              <a:rPr lang="pt-BR" sz="2000" b="1" dirty="0"/>
              <a:t> 86,35%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84471" y="2799869"/>
            <a:ext cx="3120105" cy="22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0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77863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3967724026"/>
              </p:ext>
            </p:extLst>
          </p:nvPr>
        </p:nvGraphicFramePr>
        <p:xfrm>
          <a:off x="251073" y="75284"/>
          <a:ext cx="5875578" cy="300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CaixaDeTexto 23"/>
          <p:cNvSpPr txBox="1"/>
          <p:nvPr/>
        </p:nvSpPr>
        <p:spPr>
          <a:xfrm>
            <a:off x="1078166" y="2185598"/>
            <a:ext cx="7034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-20,13%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131278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+11,67%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CaixaDeTexto 17"/>
          <p:cNvSpPr txBox="1"/>
          <p:nvPr/>
        </p:nvSpPr>
        <p:spPr>
          <a:xfrm>
            <a:off x="3239176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-9,18%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01/03 a 08/03.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1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959" y="194657"/>
            <a:ext cx="1480724" cy="360000"/>
          </a:xfrm>
          <a:prstGeom prst="rect">
            <a:avLst/>
          </a:prstGeom>
        </p:spPr>
      </p:pic>
      <p:sp>
        <p:nvSpPr>
          <p:cNvPr id="22" name="Retângulo 21"/>
          <p:cNvSpPr/>
          <p:nvPr/>
        </p:nvSpPr>
        <p:spPr>
          <a:xfrm>
            <a:off x="6232760" y="1499186"/>
            <a:ext cx="2541202" cy="268419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Ação de Investigação dos Ofensores junto aos Sites;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Problemas;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Projetos de Estabilização;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GEROT Diária de Incidentes;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Vulnerabilidades;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Política de Mudanças (Mudança Técnica).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Retângulo de cantos arredondados 14"/>
          <p:cNvSpPr/>
          <p:nvPr/>
        </p:nvSpPr>
        <p:spPr>
          <a:xfrm>
            <a:off x="6238115" y="1330154"/>
            <a:ext cx="2535847" cy="398839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</a:t>
            </a:r>
            <a:endParaRPr lang="pt-BR" sz="1200" i="1" dirty="0"/>
          </a:p>
        </p:txBody>
      </p:sp>
      <p:sp>
        <p:nvSpPr>
          <p:cNvPr id="27" name="Retângulo Arredondado 26">
            <a:hlinkClick r:id="rId8" action="ppaction://hlinksldjump"/>
          </p:cNvPr>
          <p:cNvSpPr/>
          <p:nvPr/>
        </p:nvSpPr>
        <p:spPr>
          <a:xfrm rot="5400000">
            <a:off x="6116450" y="4446529"/>
            <a:ext cx="232618" cy="9525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Fev-16 </a:t>
            </a:r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Retângulo Arredondado 27">
            <a:hlinkClick r:id="rId9" action="ppaction://hlinksldjump"/>
          </p:cNvPr>
          <p:cNvSpPr/>
          <p:nvPr/>
        </p:nvSpPr>
        <p:spPr>
          <a:xfrm rot="5400000">
            <a:off x="641691" y="3297132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etângulo Arredondado 28">
            <a:hlinkClick r:id="rId10" action="ppaction://hlinksldjump"/>
          </p:cNvPr>
          <p:cNvSpPr/>
          <p:nvPr/>
        </p:nvSpPr>
        <p:spPr>
          <a:xfrm rot="5400000">
            <a:off x="641691" y="3644008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Retângulo Arredondado 29">
            <a:hlinkClick r:id="rId11" action="ppaction://hlinksldjump"/>
          </p:cNvPr>
          <p:cNvSpPr/>
          <p:nvPr/>
        </p:nvSpPr>
        <p:spPr>
          <a:xfrm rot="5400000">
            <a:off x="641691" y="3990451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350" y="3073116"/>
            <a:ext cx="5847023" cy="14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8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 (Fevereiro)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55829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19" name="Picture 9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159086" y="92212"/>
            <a:ext cx="1980000" cy="358852"/>
          </a:xfrm>
          <a:prstGeom prst="rect">
            <a:avLst/>
          </a:prstGeom>
        </p:spPr>
      </p:pic>
      <p:sp>
        <p:nvSpPr>
          <p:cNvPr id="21" name="Retângulo de cantos arredondados 14"/>
          <p:cNvSpPr/>
          <p:nvPr/>
        </p:nvSpPr>
        <p:spPr>
          <a:xfrm>
            <a:off x="166137" y="1529573"/>
            <a:ext cx="1530142" cy="39883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Apresentado</a:t>
            </a:r>
            <a:endParaRPr lang="pt-BR" sz="1200" i="1" dirty="0"/>
          </a:p>
        </p:txBody>
      </p:sp>
      <p:sp>
        <p:nvSpPr>
          <p:cNvPr id="22" name="Retângulo de cantos arredondados 14"/>
          <p:cNvSpPr/>
          <p:nvPr/>
        </p:nvSpPr>
        <p:spPr>
          <a:xfrm>
            <a:off x="162836" y="3675455"/>
            <a:ext cx="1530142" cy="39883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Recalculado</a:t>
            </a:r>
            <a:endParaRPr lang="pt-BR" sz="1200" i="1" dirty="0"/>
          </a:p>
        </p:txBody>
      </p:sp>
      <p:sp>
        <p:nvSpPr>
          <p:cNvPr id="9" name="Seta para Baixo 8"/>
          <p:cNvSpPr/>
          <p:nvPr/>
        </p:nvSpPr>
        <p:spPr>
          <a:xfrm>
            <a:off x="5605670" y="2531165"/>
            <a:ext cx="636104" cy="490331"/>
          </a:xfrm>
          <a:prstGeom prst="downArrow">
            <a:avLst>
              <a:gd name="adj1" fmla="val 50000"/>
              <a:gd name="adj2" fmla="val 60811"/>
            </a:avLst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de cantos arredondados 14"/>
          <p:cNvSpPr/>
          <p:nvPr/>
        </p:nvSpPr>
        <p:spPr>
          <a:xfrm>
            <a:off x="2683286" y="2568468"/>
            <a:ext cx="3558488" cy="398839"/>
          </a:xfrm>
          <a:prstGeom prst="roundRect">
            <a:avLst/>
          </a:prstGeom>
          <a:noFill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rgbClr val="FF0000"/>
                </a:solidFill>
              </a:rPr>
              <a:t>Meta recalculada</a:t>
            </a:r>
          </a:p>
          <a:p>
            <a:r>
              <a:rPr lang="pt-BR" sz="1400" b="1" i="1" dirty="0">
                <a:solidFill>
                  <a:srgbClr val="FF0000"/>
                </a:solidFill>
              </a:rPr>
              <a:t>Média dos últimos 90 dias menos 5%</a:t>
            </a:r>
            <a:endParaRPr lang="pt-BR" sz="1200" i="1" dirty="0">
              <a:solidFill>
                <a:srgbClr val="FF0000"/>
              </a:solidFill>
            </a:endParaRPr>
          </a:p>
        </p:txBody>
      </p:sp>
      <p:sp>
        <p:nvSpPr>
          <p:cNvPr id="27" name="Seta para Baixo 26">
            <a:hlinkClick r:id="rId7" action="ppaction://hlinksldjump"/>
          </p:cNvPr>
          <p:cNvSpPr/>
          <p:nvPr/>
        </p:nvSpPr>
        <p:spPr>
          <a:xfrm rot="5400000">
            <a:off x="347496" y="4329924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3968" y="1007257"/>
            <a:ext cx="6075041" cy="14434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3967" y="3153139"/>
            <a:ext cx="6075041" cy="14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4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áfico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79759"/>
              </p:ext>
            </p:extLst>
          </p:nvPr>
        </p:nvGraphicFramePr>
        <p:xfrm>
          <a:off x="91152" y="532422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Indicadores: Total de Incidentes Alto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1999" y="130067"/>
            <a:ext cx="1981324" cy="360000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7600" y="740192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250</a:t>
            </a:r>
          </a:p>
        </p:txBody>
      </p:sp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7600" y="1186770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50</a:t>
            </a:r>
          </a:p>
        </p:txBody>
      </p:sp>
      <p:sp>
        <p:nvSpPr>
          <p:cNvPr id="16" name="Seta para Baixo 15">
            <a:hlinkClick r:id="rId8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5012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áfico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901607"/>
              </p:ext>
            </p:extLst>
          </p:nvPr>
        </p:nvGraphicFramePr>
        <p:xfrm>
          <a:off x="123722" y="511595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Indicadores: Total de Incidentes Médio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7486" y="134535"/>
            <a:ext cx="1980000" cy="360000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11.479</a:t>
            </a:r>
          </a:p>
        </p:txBody>
      </p:sp>
      <p:sp>
        <p:nvSpPr>
          <p:cNvPr id="12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4.003</a:t>
            </a:r>
          </a:p>
        </p:txBody>
      </p:sp>
      <p:sp>
        <p:nvSpPr>
          <p:cNvPr id="15" name="Seta para Baixo 14">
            <a:hlinkClick r:id="rId8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8837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897788"/>
              </p:ext>
            </p:extLst>
          </p:nvPr>
        </p:nvGraphicFramePr>
        <p:xfrm>
          <a:off x="10944" y="483605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4892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245" y="69318"/>
            <a:ext cx="1981324" cy="360000"/>
          </a:xfrm>
          <a:prstGeom prst="rect">
            <a:avLst/>
          </a:prstGeom>
        </p:spPr>
      </p:pic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7.593</a:t>
            </a:r>
          </a:p>
        </p:txBody>
      </p:sp>
      <p:sp>
        <p:nvSpPr>
          <p:cNvPr id="15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2.877</a:t>
            </a:r>
          </a:p>
        </p:txBody>
      </p:sp>
      <p:sp>
        <p:nvSpPr>
          <p:cNvPr id="16" name="Seta para Baixo 15">
            <a:hlinkClick r:id="rId8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10818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1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198" y="1242988"/>
            <a:ext cx="5683231" cy="253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746341" y="3963920"/>
            <a:ext cx="3449900" cy="92384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351" b="1" dirty="0">
                <a:solidFill>
                  <a:schemeClr val="bg1"/>
                </a:solidFill>
              </a:rPr>
              <a:t>Oportunidades de redução a serem avaliadas:</a:t>
            </a:r>
          </a:p>
          <a:p>
            <a:r>
              <a:rPr lang="pt-BR" sz="1351" b="1" dirty="0">
                <a:solidFill>
                  <a:schemeClr val="bg1"/>
                </a:solidFill>
              </a:rPr>
              <a:t> </a:t>
            </a:r>
          </a:p>
          <a:p>
            <a:pPr marL="214513" indent="-214513">
              <a:buFont typeface="Arial" pitchFamily="34" charset="0"/>
              <a:buChar char="•"/>
            </a:pPr>
            <a:r>
              <a:rPr lang="pt-BR" sz="1351" b="1" dirty="0">
                <a:solidFill>
                  <a:schemeClr val="bg1"/>
                </a:solidFill>
              </a:rPr>
              <a:t>Site </a:t>
            </a:r>
            <a:r>
              <a:rPr lang="pt-BR" sz="1351" b="1" dirty="0" err="1">
                <a:solidFill>
                  <a:schemeClr val="bg1"/>
                </a:solidFill>
              </a:rPr>
              <a:t>Comério</a:t>
            </a:r>
            <a:r>
              <a:rPr lang="pt-BR" sz="1351" b="1" dirty="0">
                <a:solidFill>
                  <a:schemeClr val="bg1"/>
                </a:solidFill>
              </a:rPr>
              <a:t> –     Exclusão do MPLS Contax</a:t>
            </a:r>
          </a:p>
          <a:p>
            <a:pPr marL="214513" indent="-214513">
              <a:buFont typeface="Arial" pitchFamily="34" charset="0"/>
              <a:buChar char="•"/>
            </a:pPr>
            <a:r>
              <a:rPr lang="pt-BR" sz="1351" b="1" dirty="0">
                <a:solidFill>
                  <a:schemeClr val="bg1"/>
                </a:solidFill>
              </a:rPr>
              <a:t>Site Navegantes –</a:t>
            </a:r>
            <a:r>
              <a:rPr lang="pt-BR" sz="1351" b="1" dirty="0" err="1">
                <a:solidFill>
                  <a:schemeClr val="bg1"/>
                </a:solidFill>
              </a:rPr>
              <a:t>Downgrade</a:t>
            </a:r>
            <a:r>
              <a:rPr lang="pt-BR" sz="1351" b="1" dirty="0">
                <a:solidFill>
                  <a:schemeClr val="bg1"/>
                </a:solidFill>
              </a:rPr>
              <a:t> de banda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108244" y="675941"/>
            <a:ext cx="4378039" cy="508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351" b="1" dirty="0">
                <a:solidFill>
                  <a:srgbClr val="002060"/>
                </a:solidFill>
              </a:rPr>
              <a:t>Alinhamento em 04/03</a:t>
            </a:r>
          </a:p>
          <a:p>
            <a:r>
              <a:rPr lang="pt-BR" sz="1351" b="1" dirty="0">
                <a:solidFill>
                  <a:srgbClr val="002060"/>
                </a:solidFill>
              </a:rPr>
              <a:t>As atividades estruturantes relacionadas a MPLS - Villa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09459" y="0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Gestão de Problemas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1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/>
          <p:cNvGraphicFramePr/>
          <p:nvPr>
            <p:extLst>
              <p:ext uri="{D42A27DB-BD31-4B8C-83A1-F6EECF244321}">
                <p14:modId xmlns:p14="http://schemas.microsoft.com/office/powerpoint/2010/main" val="2587453596"/>
              </p:ext>
            </p:extLst>
          </p:nvPr>
        </p:nvGraphicFramePr>
        <p:xfrm>
          <a:off x="1371601" y="560400"/>
          <a:ext cx="3805160" cy="2347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/>
          <p:cNvGraphicFramePr/>
          <p:nvPr>
            <p:extLst>
              <p:ext uri="{D42A27DB-BD31-4B8C-83A1-F6EECF244321}">
                <p14:modId xmlns:p14="http://schemas.microsoft.com/office/powerpoint/2010/main" val="2289610711"/>
              </p:ext>
            </p:extLst>
          </p:nvPr>
        </p:nvGraphicFramePr>
        <p:xfrm>
          <a:off x="1527857" y="2819803"/>
          <a:ext cx="4107634" cy="2328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tângulo de cantos arredondados 9"/>
          <p:cNvSpPr/>
          <p:nvPr/>
        </p:nvSpPr>
        <p:spPr>
          <a:xfrm>
            <a:off x="5635491" y="1488887"/>
            <a:ext cx="1865943" cy="5994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51" dirty="0"/>
              <a:t>Cotação OTG</a:t>
            </a:r>
          </a:p>
          <a:p>
            <a:pPr algn="ctr"/>
            <a:r>
              <a:rPr lang="pt-BR" sz="1351" dirty="0"/>
              <a:t>~550K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635491" y="2328400"/>
            <a:ext cx="1865943" cy="59942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51" dirty="0"/>
              <a:t>Contrato ‘Guarda-chuva’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09459" y="0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Gestão de Problemas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99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28222"/>
            <a:ext cx="9071595" cy="5150996"/>
            <a:chOff x="-1" y="2435"/>
            <a:chExt cx="9216743" cy="5150996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2435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05062" y="129780"/>
              <a:ext cx="2011680" cy="360000"/>
            </a:xfrm>
            <a:prstGeom prst="rect">
              <a:avLst/>
            </a:prstGeom>
          </p:spPr>
        </p:pic>
      </p:grpSp>
      <p:sp>
        <p:nvSpPr>
          <p:cNvPr id="3" name="CaixaDeTexto 2"/>
          <p:cNvSpPr txBox="1"/>
          <p:nvPr/>
        </p:nvSpPr>
        <p:spPr>
          <a:xfrm>
            <a:off x="3131840" y="521763"/>
            <a:ext cx="29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 01 a 08 de Março de 2016</a:t>
            </a:r>
          </a:p>
        </p:txBody>
      </p:sp>
      <p:graphicFrame>
        <p:nvGraphicFramePr>
          <p:cNvPr id="16" name="Objeto 15"/>
          <p:cNvGraphicFramePr>
            <a:graphicFrameLocks noChangeAspect="1"/>
          </p:cNvGraphicFramePr>
          <p:nvPr>
            <p:extLst/>
          </p:nvPr>
        </p:nvGraphicFramePr>
        <p:xfrm>
          <a:off x="179512" y="3222203"/>
          <a:ext cx="2628000" cy="1424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0" name="Worksheet" r:id="rId7" imgW="2933856" imgH="1590579" progId="Excel.Sheet.12">
                  <p:embed/>
                </p:oleObj>
              </mc:Choice>
              <mc:Fallback>
                <p:oleObj name="Worksheet" r:id="rId7" imgW="2933856" imgH="159057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512" y="3222203"/>
                        <a:ext cx="2628000" cy="1424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/>
          <p:cNvGraphicFramePr>
            <a:graphicFrameLocks noChangeAspect="1"/>
          </p:cNvGraphicFramePr>
          <p:nvPr>
            <p:extLst/>
          </p:nvPr>
        </p:nvGraphicFramePr>
        <p:xfrm>
          <a:off x="3223694" y="3222203"/>
          <a:ext cx="2628000" cy="1440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1" name="Worksheet" r:id="rId9" imgW="3267068" imgH="1790634" progId="Excel.Sheet.12">
                  <p:embed/>
                </p:oleObj>
              </mc:Choice>
              <mc:Fallback>
                <p:oleObj name="Worksheet" r:id="rId9" imgW="3267068" imgH="179063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23694" y="3222203"/>
                        <a:ext cx="2628000" cy="1440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/>
          <p:cNvGraphicFramePr>
            <a:graphicFrameLocks noChangeAspect="1"/>
          </p:cNvGraphicFramePr>
          <p:nvPr>
            <p:extLst/>
          </p:nvPr>
        </p:nvGraphicFramePr>
        <p:xfrm>
          <a:off x="6267877" y="3222203"/>
          <a:ext cx="2628000" cy="111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2" name="Worksheet" r:id="rId11" imgW="2781213" imgH="1181246" progId="Excel.Sheet.12">
                  <p:embed/>
                </p:oleObj>
              </mc:Choice>
              <mc:Fallback>
                <p:oleObj name="Worksheet" r:id="rId11" imgW="2781213" imgH="118124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67877" y="3222203"/>
                        <a:ext cx="2628000" cy="1115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6746" y="931977"/>
            <a:ext cx="3234261" cy="1944000"/>
          </a:xfrm>
          <a:prstGeom prst="rect">
            <a:avLst/>
          </a:prstGeom>
        </p:spPr>
      </p:pic>
      <p:cxnSp>
        <p:nvCxnSpPr>
          <p:cNvPr id="28" name="Conector Angulado 27"/>
          <p:cNvCxnSpPr>
            <a:endCxn id="16" idx="0"/>
          </p:cNvCxnSpPr>
          <p:nvPr/>
        </p:nvCxnSpPr>
        <p:spPr>
          <a:xfrm rot="10800000" flipV="1">
            <a:off x="1493512" y="2646138"/>
            <a:ext cx="3078488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9"/>
          <p:cNvCxnSpPr>
            <a:endCxn id="20" idx="0"/>
          </p:cNvCxnSpPr>
          <p:nvPr/>
        </p:nvCxnSpPr>
        <p:spPr>
          <a:xfrm>
            <a:off x="4572001" y="2646139"/>
            <a:ext cx="3009877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de Seta Reta 1026"/>
          <p:cNvCxnSpPr/>
          <p:nvPr/>
        </p:nvCxnSpPr>
        <p:spPr>
          <a:xfrm>
            <a:off x="4572000" y="2646139"/>
            <a:ext cx="7374" cy="571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913748" y="64204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Resolvidos de Alto Impacto</a:t>
            </a:r>
          </a:p>
        </p:txBody>
      </p:sp>
    </p:spTree>
    <p:extLst>
      <p:ext uri="{BB962C8B-B14F-4D97-AF65-F5344CB8AC3E}">
        <p14:creationId xmlns:p14="http://schemas.microsoft.com/office/powerpoint/2010/main" val="190101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28222"/>
            <a:ext cx="9144002" cy="5150996"/>
            <a:chOff x="-1" y="2435"/>
            <a:chExt cx="9144002" cy="5150996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2435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91595" y="139419"/>
              <a:ext cx="1980000" cy="360000"/>
            </a:xfrm>
            <a:prstGeom prst="rect">
              <a:avLst/>
            </a:prstGeom>
          </p:spPr>
        </p:pic>
      </p:grpSp>
      <p:pic>
        <p:nvPicPr>
          <p:cNvPr id="9" name="Image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3578" y="478885"/>
            <a:ext cx="3588439" cy="2156881"/>
          </a:xfrm>
          <a:prstGeom prst="rect">
            <a:avLst/>
          </a:prstGeom>
        </p:spPr>
      </p:pic>
      <p:graphicFrame>
        <p:nvGraphicFramePr>
          <p:cNvPr id="11" name="Objeto 10"/>
          <p:cNvGraphicFramePr>
            <a:graphicFrameLocks noChangeAspect="1"/>
          </p:cNvGraphicFramePr>
          <p:nvPr>
            <p:extLst/>
          </p:nvPr>
        </p:nvGraphicFramePr>
        <p:xfrm>
          <a:off x="157992" y="3074739"/>
          <a:ext cx="2757825" cy="2005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4" name="Worksheet" r:id="rId8" imgW="2933856" imgH="2133494" progId="Excel.Sheet.12">
                  <p:embed/>
                </p:oleObj>
              </mc:Choice>
              <mc:Fallback>
                <p:oleObj name="Worksheet" r:id="rId8" imgW="2933856" imgH="213349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7992" y="3074739"/>
                        <a:ext cx="2757825" cy="2005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/>
          <p:cNvGraphicFramePr>
            <a:graphicFrameLocks noChangeAspect="1"/>
          </p:cNvGraphicFramePr>
          <p:nvPr>
            <p:extLst/>
          </p:nvPr>
        </p:nvGraphicFramePr>
        <p:xfrm>
          <a:off x="6262964" y="3074740"/>
          <a:ext cx="2736000" cy="92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5" name="Worksheet" r:id="rId10" imgW="2933856" imgH="990733" progId="Excel.Sheet.12">
                  <p:embed/>
                </p:oleObj>
              </mc:Choice>
              <mc:Fallback>
                <p:oleObj name="Worksheet" r:id="rId10" imgW="2933856" imgH="99073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62964" y="3074740"/>
                        <a:ext cx="2736000" cy="923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/>
          </p:nvPr>
        </p:nvGraphicFramePr>
        <p:xfrm>
          <a:off x="3122540" y="3074739"/>
          <a:ext cx="29337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6" name="Worksheet" r:id="rId12" imgW="2933856" imgH="1371759" progId="Excel.Sheet.12">
                  <p:embed/>
                </p:oleObj>
              </mc:Choice>
              <mc:Fallback>
                <p:oleObj name="Worksheet" r:id="rId12" imgW="2933856" imgH="13717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22540" y="3074739"/>
                        <a:ext cx="29337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Conector Angulado 15"/>
          <p:cNvCxnSpPr/>
          <p:nvPr/>
        </p:nvCxnSpPr>
        <p:spPr>
          <a:xfrm rot="10800000" flipV="1">
            <a:off x="1493512" y="2510670"/>
            <a:ext cx="3078488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do 17"/>
          <p:cNvCxnSpPr/>
          <p:nvPr/>
        </p:nvCxnSpPr>
        <p:spPr>
          <a:xfrm>
            <a:off x="4572001" y="2510671"/>
            <a:ext cx="3009877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4572000" y="2510671"/>
            <a:ext cx="7374" cy="571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/>
          <p:cNvSpPr txBox="1">
            <a:spLocks/>
          </p:cNvSpPr>
          <p:nvPr/>
        </p:nvSpPr>
        <p:spPr>
          <a:xfrm>
            <a:off x="913748" y="64204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Resolvidos de Alto Impacto</a:t>
            </a:r>
          </a:p>
        </p:txBody>
      </p:sp>
    </p:spTree>
    <p:extLst>
      <p:ext uri="{BB962C8B-B14F-4D97-AF65-F5344CB8AC3E}">
        <p14:creationId xmlns:p14="http://schemas.microsoft.com/office/powerpoint/2010/main" val="38269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Agrupar 41"/>
          <p:cNvGrpSpPr/>
          <p:nvPr/>
        </p:nvGrpSpPr>
        <p:grpSpPr>
          <a:xfrm rot="20909702">
            <a:off x="5885456" y="483370"/>
            <a:ext cx="2921436" cy="1232690"/>
            <a:chOff x="4656528" y="1965933"/>
            <a:chExt cx="4176406" cy="1737150"/>
          </a:xfrm>
        </p:grpSpPr>
        <p:grpSp>
          <p:nvGrpSpPr>
            <p:cNvPr id="43" name="Agrupar 42"/>
            <p:cNvGrpSpPr/>
            <p:nvPr/>
          </p:nvGrpSpPr>
          <p:grpSpPr>
            <a:xfrm>
              <a:off x="4656528" y="1965933"/>
              <a:ext cx="4176406" cy="1737150"/>
              <a:chOff x="-19680" y="3542711"/>
              <a:chExt cx="8928992" cy="3176829"/>
            </a:xfrm>
          </p:grpSpPr>
          <p:pic>
            <p:nvPicPr>
              <p:cNvPr id="45" name="Imagem 4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80" y="3562773"/>
                <a:ext cx="8928992" cy="3156767"/>
              </a:xfrm>
              <a:prstGeom prst="rect">
                <a:avLst/>
              </a:prstGeom>
            </p:spPr>
          </p:pic>
          <p:sp>
            <p:nvSpPr>
              <p:cNvPr id="46" name="CaixaDeTexto 45"/>
              <p:cNvSpPr txBox="1"/>
              <p:nvPr/>
            </p:nvSpPr>
            <p:spPr>
              <a:xfrm>
                <a:off x="1043609" y="3542711"/>
                <a:ext cx="7200799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47" name="CaixaDeTexto 46"/>
              <p:cNvSpPr txBox="1"/>
              <p:nvPr/>
            </p:nvSpPr>
            <p:spPr>
              <a:xfrm>
                <a:off x="2152303" y="5664850"/>
                <a:ext cx="3509340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</p:grpSp>
        <p:pic>
          <p:nvPicPr>
            <p:cNvPr id="44" name="Picture 2" descr="http://2.bp.blogspot.com/-FA13KvVejpc/VZrjx0SSpwI/AAAAAAAAAfM/sTNY7bS_mxI/s1600/don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706" y="2118613"/>
              <a:ext cx="1514054" cy="1514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136" y="82006"/>
            <a:ext cx="1981324" cy="360000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6. 2ª Fase – T2R – Objetivos</a:t>
            </a:r>
          </a:p>
        </p:txBody>
      </p:sp>
      <p:sp>
        <p:nvSpPr>
          <p:cNvPr id="41" name="Subtítulo 2"/>
          <p:cNvSpPr txBox="1">
            <a:spLocks/>
          </p:cNvSpPr>
          <p:nvPr/>
        </p:nvSpPr>
        <p:spPr>
          <a:xfrm>
            <a:off x="74938" y="960667"/>
            <a:ext cx="5780348" cy="1107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200" dirty="0">
                <a:cs typeface="Aharoni" panose="02010803020104030203" pitchFamily="2" charset="-79"/>
              </a:rPr>
              <a:t>Para consolidar a Estabilidade Operacional é preciso agora </a:t>
            </a:r>
            <a:r>
              <a:rPr lang="pt-BR" sz="2200" b="1" dirty="0">
                <a:cs typeface="Aharoni" panose="02010803020104030203" pitchFamily="2" charset="-79"/>
              </a:rPr>
              <a:t>manter o ímpeto</a:t>
            </a:r>
            <a:r>
              <a:rPr lang="pt-BR" sz="2200" dirty="0">
                <a:cs typeface="Aharoni" panose="02010803020104030203" pitchFamily="2" charset="-79"/>
              </a:rPr>
              <a:t> e melhorar as práticas relacionadas a </a:t>
            </a:r>
            <a:r>
              <a:rPr lang="pt-BR" sz="2200" b="1" i="1" dirty="0">
                <a:cs typeface="Aharoni" panose="02010803020104030203" pitchFamily="2" charset="-79"/>
              </a:rPr>
              <a:t>Transition to Run </a:t>
            </a:r>
            <a:r>
              <a:rPr lang="pt-BR" sz="2200" b="1" dirty="0">
                <a:cs typeface="Aharoni" panose="02010803020104030203" pitchFamily="2" charset="-79"/>
              </a:rPr>
              <a:t>– T2R</a:t>
            </a:r>
            <a:r>
              <a:rPr lang="pt-BR" sz="2200" dirty="0"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48" name="Subtítulo 2"/>
          <p:cNvSpPr txBox="1">
            <a:spLocks/>
          </p:cNvSpPr>
          <p:nvPr/>
        </p:nvSpPr>
        <p:spPr>
          <a:xfrm>
            <a:off x="0" y="1954024"/>
            <a:ext cx="8907433" cy="14931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da mudança,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por 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</a:t>
            </a:r>
            <a:b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</a:b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negócio até as atualizações tecnológicas efetuadas pelas equipes de TI até sua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49" name="Imagem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32" y="3380497"/>
            <a:ext cx="8303012" cy="1758695"/>
          </a:xfrm>
          <a:prstGeom prst="rect">
            <a:avLst/>
          </a:prstGeom>
        </p:spPr>
      </p:pic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5811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298" y="132126"/>
            <a:ext cx="1981324" cy="360000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6. 2ª Fase – T2R – Ações</a:t>
            </a:r>
          </a:p>
        </p:txBody>
      </p:sp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17" name="Subtítulo 2"/>
          <p:cNvSpPr txBox="1">
            <a:spLocks/>
          </p:cNvSpPr>
          <p:nvPr/>
        </p:nvSpPr>
        <p:spPr>
          <a:xfrm>
            <a:off x="82659" y="861620"/>
            <a:ext cx="8611722" cy="30345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>
                <a:cs typeface="Aharoni" panose="02010803020104030203" pitchFamily="2" charset="-79"/>
              </a:rPr>
              <a:t>As ações para consolidar a melhoria da estabilidade operacional são as seguintes: </a:t>
            </a:r>
          </a:p>
          <a:p>
            <a:pPr marL="0" indent="0">
              <a:buNone/>
            </a:pPr>
            <a:endParaRPr lang="pt-BR" sz="2000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0. </a:t>
            </a:r>
            <a:r>
              <a:rPr lang="pt-BR" sz="2000" b="1" dirty="0">
                <a:cs typeface="Aharoni" panose="02010803020104030203" pitchFamily="2" charset="-79"/>
              </a:rPr>
              <a:t>Manter o ímpeto</a:t>
            </a:r>
            <a:r>
              <a:rPr lang="pt-BR" sz="2000" dirty="0">
                <a:cs typeface="Aharoni" panose="02010803020104030203" pitchFamily="2" charset="-79"/>
              </a:rPr>
              <a:t> das conquistas da Gestão de Problemas e Incidentes;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1. Identificar e documentar </a:t>
            </a:r>
            <a:r>
              <a:rPr lang="pt-BR" sz="2000" b="1" dirty="0">
                <a:cs typeface="Aharoni" panose="02010803020104030203" pitchFamily="2" charset="-79"/>
              </a:rPr>
              <a:t>Canais e Serviços de TI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2. Identificar os </a:t>
            </a:r>
            <a:r>
              <a:rPr lang="pt-BR" sz="2000" b="1" dirty="0">
                <a:cs typeface="Aharoni" panose="02010803020104030203" pitchFamily="2" charset="-79"/>
              </a:rPr>
              <a:t>Ativos dos Serviços</a:t>
            </a:r>
            <a:r>
              <a:rPr lang="pt-BR" sz="2000" dirty="0">
                <a:cs typeface="Aharoni" panose="02010803020104030203" pitchFamily="2" charset="-79"/>
              </a:rPr>
              <a:t> e sua </a:t>
            </a:r>
            <a:r>
              <a:rPr lang="pt-BR" sz="2000" b="1" dirty="0">
                <a:cs typeface="Aharoni" panose="02010803020104030203" pitchFamily="2" charset="-79"/>
              </a:rPr>
              <a:t>Configuração;</a:t>
            </a: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3. Revisar e melhorar o processo e os </a:t>
            </a:r>
            <a:r>
              <a:rPr lang="pt-BR" sz="2000" b="1" dirty="0">
                <a:cs typeface="Aharoni" panose="02010803020104030203" pitchFamily="2" charset="-79"/>
              </a:rPr>
              <a:t>ritos de Gestão de Mudanças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4. Vincular Gestão de </a:t>
            </a:r>
            <a:r>
              <a:rPr lang="pt-BR" sz="2000" b="1" dirty="0">
                <a:cs typeface="Aharoni" panose="02010803020104030203" pitchFamily="2" charset="-79"/>
              </a:rPr>
              <a:t>Demandas, Projetos e Mudanças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5. Aumentar o </a:t>
            </a:r>
            <a:r>
              <a:rPr lang="pt-BR" sz="2000" b="1" dirty="0">
                <a:cs typeface="Aharoni" panose="02010803020104030203" pitchFamily="2" charset="-79"/>
              </a:rPr>
              <a:t>compromisso com a qualidade </a:t>
            </a:r>
            <a:r>
              <a:rPr lang="pt-BR" sz="2000" dirty="0">
                <a:cs typeface="Aharoni" panose="02010803020104030203" pitchFamily="2" charset="-79"/>
              </a:rPr>
              <a:t>nas implantações e Mudanças.</a:t>
            </a: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523" y="2837957"/>
            <a:ext cx="4692724" cy="91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28222"/>
            <a:ext cx="9144002" cy="5150996"/>
            <a:chOff x="-1" y="2435"/>
            <a:chExt cx="9144002" cy="51509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2435"/>
              <a:ext cx="928369" cy="913131"/>
            </a:xfrm>
            <a:prstGeom prst="rect">
              <a:avLst/>
            </a:prstGeom>
          </p:spPr>
        </p:pic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6" name="Picture 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9273" y="87472"/>
              <a:ext cx="1980000" cy="360000"/>
            </a:xfrm>
            <a:prstGeom prst="rect">
              <a:avLst/>
            </a:prstGeom>
          </p:spPr>
        </p:pic>
      </p:grpSp>
      <p:sp>
        <p:nvSpPr>
          <p:cNvPr id="14" name="Title 1"/>
          <p:cNvSpPr txBox="1">
            <a:spLocks/>
          </p:cNvSpPr>
          <p:nvPr/>
        </p:nvSpPr>
        <p:spPr>
          <a:xfrm>
            <a:off x="562659" y="-14516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T2R – Interfaces Atuais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34" name="Agrupar 1033"/>
          <p:cNvGrpSpPr/>
          <p:nvPr/>
        </p:nvGrpSpPr>
        <p:grpSpPr>
          <a:xfrm>
            <a:off x="1815642" y="3356339"/>
            <a:ext cx="1693025" cy="2012560"/>
            <a:chOff x="1815642" y="3356339"/>
            <a:chExt cx="1693025" cy="2012560"/>
          </a:xfrm>
        </p:grpSpPr>
        <p:sp>
          <p:nvSpPr>
            <p:cNvPr id="12" name="Seta para Baixo 11"/>
            <p:cNvSpPr/>
            <p:nvPr/>
          </p:nvSpPr>
          <p:spPr>
            <a:xfrm rot="19695576">
              <a:off x="2059007" y="3730675"/>
              <a:ext cx="225396" cy="16429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17" name="Diagrama 16"/>
            <p:cNvGraphicFramePr/>
            <p:nvPr>
              <p:extLst/>
            </p:nvPr>
          </p:nvGraphicFramePr>
          <p:xfrm>
            <a:off x="1815642" y="3356339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" r:lo="rId7" r:qs="rId8" r:cs="rId9"/>
            </a:graphicData>
          </a:graphic>
        </p:graphicFrame>
      </p:grpSp>
      <p:grpSp>
        <p:nvGrpSpPr>
          <p:cNvPr id="1032" name="Agrupar 1031"/>
          <p:cNvGrpSpPr/>
          <p:nvPr/>
        </p:nvGrpSpPr>
        <p:grpSpPr>
          <a:xfrm>
            <a:off x="581883" y="1111359"/>
            <a:ext cx="2263043" cy="2504681"/>
            <a:chOff x="581883" y="1111359"/>
            <a:chExt cx="2263043" cy="2504681"/>
          </a:xfrm>
        </p:grpSpPr>
        <p:graphicFrame>
          <p:nvGraphicFramePr>
            <p:cNvPr id="9" name="Diagrama 8"/>
            <p:cNvGraphicFramePr/>
            <p:nvPr>
              <p:extLst/>
            </p:nvPr>
          </p:nvGraphicFramePr>
          <p:xfrm>
            <a:off x="581883" y="1111361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" r:lo="rId12" r:qs="rId13" r:cs="rId14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833314" y="1111359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</p:grpSp>
      <p:grpSp>
        <p:nvGrpSpPr>
          <p:cNvPr id="1035" name="Agrupar 1034"/>
          <p:cNvGrpSpPr/>
          <p:nvPr/>
        </p:nvGrpSpPr>
        <p:grpSpPr>
          <a:xfrm>
            <a:off x="3508667" y="4225176"/>
            <a:ext cx="4851796" cy="635688"/>
            <a:chOff x="3508667" y="4225176"/>
            <a:chExt cx="4851796" cy="635688"/>
          </a:xfrm>
        </p:grpSpPr>
        <p:sp>
          <p:nvSpPr>
            <p:cNvPr id="22" name="Divisa 21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7" name="Divisa 26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8" name="Divisa 27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9" name="Divisa 28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35" name="CaixaDeTexto 34"/>
            <p:cNvSpPr txBox="1"/>
            <p:nvPr/>
          </p:nvSpPr>
          <p:spPr>
            <a:xfrm>
              <a:off x="5247422" y="4553087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sp>
        <p:nvSpPr>
          <p:cNvPr id="1028" name="AutoShape 6" descr="https://marketplacecdn.yoyogames.com/images/assets/609/icon/1409360641_large.jpg?14093606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" name="AutoShape 6" descr="https://marketplacecdn.yoyogames.com/images/assets/609/icon/1409360641_large.jpg?1409360641"/>
          <p:cNvSpPr>
            <a:spLocks noChangeAspect="1" noChangeArrowheads="1"/>
          </p:cNvSpPr>
          <p:nvPr/>
        </p:nvSpPr>
        <p:spPr bwMode="auto">
          <a:xfrm rot="16003107">
            <a:off x="-645092" y="-86582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1036" name="Agrupar 1035"/>
          <p:cNvGrpSpPr/>
          <p:nvPr/>
        </p:nvGrpSpPr>
        <p:grpSpPr>
          <a:xfrm>
            <a:off x="6344468" y="1111361"/>
            <a:ext cx="1927292" cy="3104828"/>
            <a:chOff x="6225745" y="1111361"/>
            <a:chExt cx="1927292" cy="3104828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3" name="Diagrama 22"/>
            <p:cNvGraphicFramePr/>
            <p:nvPr>
              <p:extLst/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" r:lo="rId17" r:qs="rId18" r:cs="rId19"/>
            </a:graphicData>
          </a:graphic>
        </p:graphicFrame>
        <p:sp>
          <p:nvSpPr>
            <p:cNvPr id="40" name="Divisa 39"/>
            <p:cNvSpPr/>
            <p:nvPr/>
          </p:nvSpPr>
          <p:spPr>
            <a:xfrm rot="17864150">
              <a:off x="6277815" y="3497493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grpSp>
        <p:nvGrpSpPr>
          <p:cNvPr id="1033" name="Agrupar 1032"/>
          <p:cNvGrpSpPr/>
          <p:nvPr/>
        </p:nvGrpSpPr>
        <p:grpSpPr>
          <a:xfrm>
            <a:off x="464629" y="3758220"/>
            <a:ext cx="838351" cy="805648"/>
            <a:chOff x="464629" y="3758220"/>
            <a:chExt cx="838351" cy="805648"/>
          </a:xfrm>
        </p:grpSpPr>
        <p:sp>
          <p:nvSpPr>
            <p:cNvPr id="1029" name="Fluxograma: Operação Manual 1028"/>
            <p:cNvSpPr/>
            <p:nvPr/>
          </p:nvSpPr>
          <p:spPr>
            <a:xfrm>
              <a:off x="464629" y="4098387"/>
              <a:ext cx="690832" cy="465481"/>
            </a:xfrm>
            <a:prstGeom prst="flowChartManualOperat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accent5">
                      <a:lumMod val="75000"/>
                    </a:schemeClr>
                  </a:solidFill>
                </a:rPr>
                <a:t>Não</a:t>
              </a:r>
            </a:p>
          </p:txBody>
        </p:sp>
        <p:sp>
          <p:nvSpPr>
            <p:cNvPr id="42" name="Seta para Baixo 41"/>
            <p:cNvSpPr/>
            <p:nvPr/>
          </p:nvSpPr>
          <p:spPr>
            <a:xfrm rot="2039608">
              <a:off x="1077584" y="3758220"/>
              <a:ext cx="225396" cy="16429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4" name="Triângulo Retângulo 43"/>
          <p:cNvSpPr/>
          <p:nvPr/>
        </p:nvSpPr>
        <p:spPr>
          <a:xfrm rot="10800000">
            <a:off x="283871" y="610097"/>
            <a:ext cx="8514839" cy="4486235"/>
          </a:xfrm>
          <a:prstGeom prst="rtTriangle">
            <a:avLst/>
          </a:prstGeom>
          <a:solidFill>
            <a:schemeClr val="bg1">
              <a:lumMod val="6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30" name="Triângulo Retângulo 1029"/>
          <p:cNvSpPr/>
          <p:nvPr/>
        </p:nvSpPr>
        <p:spPr>
          <a:xfrm>
            <a:off x="283871" y="610098"/>
            <a:ext cx="8514839" cy="4486235"/>
          </a:xfrm>
          <a:prstGeom prst="rtTriangle">
            <a:avLst/>
          </a:prstGeom>
          <a:solidFill>
            <a:srgbClr val="DEEBF7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038" name="Agrupar 1037"/>
          <p:cNvGrpSpPr/>
          <p:nvPr/>
        </p:nvGrpSpPr>
        <p:grpSpPr>
          <a:xfrm>
            <a:off x="2813532" y="2360752"/>
            <a:ext cx="3530936" cy="926725"/>
            <a:chOff x="2813532" y="2360752"/>
            <a:chExt cx="3530936" cy="926725"/>
          </a:xfrm>
        </p:grpSpPr>
        <p:sp>
          <p:nvSpPr>
            <p:cNvPr id="1031" name="CaixaDeTexto 1030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1037" name="Imagem 1036"/>
            <p:cNvPicPr>
              <a:picLocks noChangeAspect="1"/>
            </p:cNvPicPr>
            <p:nvPr/>
          </p:nvPicPr>
          <p:blipFill>
            <a:blip r:embed="rId21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1336" y="2360752"/>
              <a:ext cx="463364" cy="92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423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0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250" y="90471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Projetos Estruturantes e Especiais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9" y="1205152"/>
            <a:ext cx="9045145" cy="28055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42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90" y="93419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7.3 (infra) System 1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1"/>
            <a:ext cx="2716382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Finalização Validação da Plataforma pela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879118"/>
            <a:ext cx="2868782" cy="978810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7.3 (infra)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</a:t>
            </a:r>
            <a:r>
              <a:rPr lang="pt-BR" sz="1200" i="1" strike="sngStrike" dirty="0"/>
              <a:t>04-03-2016</a:t>
            </a:r>
            <a:r>
              <a:rPr lang="pt-BR" sz="1200" i="1" dirty="0"/>
              <a:t> 31-03-2016</a:t>
            </a:r>
          </a:p>
          <a:p>
            <a:r>
              <a:rPr lang="pt-BR" sz="1200" i="1" dirty="0"/>
              <a:t>Progresso: 75%</a:t>
            </a:r>
          </a:p>
          <a:p>
            <a:r>
              <a:rPr lang="pt-BR" sz="1200" i="1" dirty="0"/>
              <a:t>PM: Luiz Washington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0"/>
            <a:ext cx="2716382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Efetuado os ajustes solicitados pela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08/03.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Definida solução de contorno para limitações de memória.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Definida a versão do AQM a ser utilizada – será a 8.0.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1"/>
            <a:ext cx="2700000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Observação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Utilização de 80 horas mensais para passagem de conhecimento da nova plataforma.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Negociar com José Maria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089903" y="923882"/>
            <a:ext cx="5630497" cy="9340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preparar/adequar toda  a infra de HW para instalar a versão 7.3 do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2000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</p:txBody>
      </p:sp>
      <p:grpSp>
        <p:nvGrpSpPr>
          <p:cNvPr id="24" name="Group 34"/>
          <p:cNvGrpSpPr>
            <a:grpSpLocks/>
          </p:cNvGrpSpPr>
          <p:nvPr/>
        </p:nvGrpSpPr>
        <p:grpSpPr bwMode="auto">
          <a:xfrm>
            <a:off x="2592250" y="1478345"/>
            <a:ext cx="274638" cy="274638"/>
            <a:chOff x="0" y="0"/>
            <a:chExt cx="173" cy="173"/>
          </a:xfrm>
        </p:grpSpPr>
        <p:sp>
          <p:nvSpPr>
            <p:cNvPr id="25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3103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754515" y="108241"/>
            <a:ext cx="8389486" cy="5049962"/>
            <a:chOff x="754515" y="98302"/>
            <a:chExt cx="8389486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4. Cronograma </a:t>
              </a:r>
              <a:r>
                <a:rPr lang="pt-BR" sz="32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Aspect</a:t>
              </a:r>
              <a:endPara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108241"/>
            <a:ext cx="1981324" cy="360000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226" y="937617"/>
            <a:ext cx="8475921" cy="146587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393226" y="2560720"/>
            <a:ext cx="5644750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Disponibilização da Plataforma: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Hardware para até 2.000 licenças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Licenças: 1.536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Capacidade para 128 troncos TDM (64 em cada site) e 6 mil troncos SIP</a:t>
            </a:r>
          </a:p>
          <a:p>
            <a:r>
              <a:rPr lang="pt-BR" sz="1400" b="1" dirty="0"/>
              <a:t>Polo BH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Irá consumir 37 troncos TDM de Alegria e 450 licenças</a:t>
            </a:r>
          </a:p>
          <a:p>
            <a:r>
              <a:rPr lang="pt-BR" sz="1400" b="1" dirty="0"/>
              <a:t>Operações Previstas: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BO Anatel – 250 Licenças – 25 troncos TDM – Previsão abril/2016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Itaú – 50 Posições – tipo de troncos a definir</a:t>
            </a:r>
          </a:p>
          <a:p>
            <a:r>
              <a:rPr lang="pt-BR" sz="1400" b="1" dirty="0"/>
              <a:t>Novas Operações: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 partir da segunda semana de abril – pré-requisitos: Troncos </a:t>
            </a:r>
            <a:r>
              <a:rPr lang="pt-BR" sz="1400" dirty="0" err="1"/>
              <a:t>SIPs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437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90" y="90471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Gravação (Nice) TAM e VIVO 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Aguardamos a entrega dos 12 HDs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860528"/>
            <a:ext cx="3064339" cy="997400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Gravacao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(NICE) TAM e VIVO 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</a:t>
            </a:r>
            <a:r>
              <a:rPr lang="pt-BR" sz="1200" i="1" strike="sngStrike" dirty="0"/>
              <a:t> 25-03-2016 </a:t>
            </a:r>
            <a:r>
              <a:rPr lang="pt-BR" sz="1200" i="1" dirty="0"/>
              <a:t>25-04-2016</a:t>
            </a:r>
          </a:p>
          <a:p>
            <a:r>
              <a:rPr lang="pt-BR" sz="1200" i="1" dirty="0"/>
              <a:t>Progresso: 26%</a:t>
            </a:r>
          </a:p>
          <a:p>
            <a:r>
              <a:rPr lang="pt-BR" sz="1200" i="1" dirty="0"/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Recebemos o numero do pedido de Suprimentos.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/>
                </a:solidFill>
              </a:rPr>
              <a:t>Roberto Elias acordou com a TAM a entrega para a 3° semana de Abril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de compras demorado.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FF0000"/>
                </a:solidFill>
              </a:rPr>
              <a:t>SC 775 -  A equipe de suprimentos/</a:t>
            </a:r>
            <a:r>
              <a:rPr lang="pt-BR" sz="1200" dirty="0" err="1">
                <a:solidFill>
                  <a:srgbClr val="FF0000"/>
                </a:solidFill>
              </a:rPr>
              <a:t>Aquanima</a:t>
            </a:r>
            <a:r>
              <a:rPr lang="pt-BR" sz="1200" dirty="0">
                <a:solidFill>
                  <a:srgbClr val="FF0000"/>
                </a:solidFill>
              </a:rPr>
              <a:t>  nova entrega estimada para a 1° semana de Abril.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874284"/>
            <a:ext cx="5338175" cy="9836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adequar infra de HW para instalar 3K licenças de gravação , atualmente sem uso.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2503" y="1511828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8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90" y="109004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Monitoração Dell – Open Manager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 execução o cadastramento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vlans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servidores (Total).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(Dell-Open Manager)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22-04-2016</a:t>
            </a:r>
          </a:p>
          <a:p>
            <a:r>
              <a:rPr lang="pt-BR" sz="1200" i="1" dirty="0"/>
              <a:t>Progresso: 61%</a:t>
            </a:r>
          </a:p>
          <a:p>
            <a:r>
              <a:rPr lang="pt-BR" sz="1200" i="1" dirty="0"/>
              <a:t>PM: 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nas últimas duas semanas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 do SW.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Aceitação das regras de liberação por SI.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sem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client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OMSE.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Monitoração pró ativa de hardware para eliminar a possibilidade de perda de dados por falta de visibilidade do ambiente. 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609" y="1548974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90" y="138376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Monitoração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Zabbix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Agendado o treinamento e a Consultoria: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Treinamento: 11 a 15/04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Consultoria: 18 a 23/04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Zabbix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/>
              <a:t>Data Inicio: 19-10-2015</a:t>
            </a:r>
          </a:p>
          <a:p>
            <a:r>
              <a:rPr lang="pt-BR" sz="1200" i="1" dirty="0"/>
              <a:t>Data Conclusão: 23-04-2016</a:t>
            </a:r>
          </a:p>
          <a:p>
            <a:r>
              <a:rPr lang="pt-BR" sz="1200" i="1" dirty="0"/>
              <a:t>Progresso: 49%</a:t>
            </a:r>
          </a:p>
          <a:p>
            <a:r>
              <a:rPr lang="pt-BR" sz="1200" i="1" dirty="0"/>
              <a:t>PM: 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Geração de pedido 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N/A.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Monitoração pró ativa de hardware e elimina a possibilidade de perda de dados por falta de visibilidade do ambiente. 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48974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900" y="105433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Redundância links MPLS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Agendada a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GMUD 19612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realização do teste de redundância de MPLS no site Aurora (16 de Março).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Redundância links MPLS</a:t>
            </a:r>
          </a:p>
          <a:p>
            <a:r>
              <a:rPr lang="pt-BR" sz="1200" i="1" dirty="0"/>
              <a:t>Data Inicio: 01-12-2015</a:t>
            </a:r>
          </a:p>
          <a:p>
            <a:r>
              <a:rPr lang="pt-BR" sz="1200" i="1" dirty="0"/>
              <a:t>Data Conclusão: 11-04-2016</a:t>
            </a:r>
          </a:p>
          <a:p>
            <a:r>
              <a:rPr lang="pt-BR" sz="1200" i="1" dirty="0"/>
              <a:t>Progresso: 21%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site Navegantes no dia 18 de Fevereiro vai ser efetuada a correção /configuração nos equipamentos da VIVO para 400MB (GMUD 19412)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Foi detectado que a banda contratada </a:t>
            </a:r>
            <a:r>
              <a:rPr lang="pt-BR" sz="1200" dirty="0">
                <a:solidFill>
                  <a:srgbClr val="FF0000"/>
                </a:solidFill>
              </a:rPr>
              <a:t>(25-06-2015)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link MPLS VIVO no Site Navegante é de 400MB. Atualmente os equipamentos estão configurados para 100MB.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Para dar </a:t>
            </a:r>
            <a:r>
              <a:rPr lang="pt-BR" sz="1400" b="1" dirty="0"/>
              <a:t>resposta imediata </a:t>
            </a:r>
            <a:r>
              <a:rPr lang="pt-BR" sz="1400" dirty="0"/>
              <a:t>a situações recorrentes de incidentes, relacionados com a perda de </a:t>
            </a:r>
            <a:r>
              <a:rPr lang="pt-BR" sz="1400" b="1" dirty="0"/>
              <a:t>Links </a:t>
            </a:r>
            <a:r>
              <a:rPr lang="pt-BR" sz="1400" dirty="0"/>
              <a:t>que interligam os sites da Contax, este projeto visa, </a:t>
            </a:r>
            <a:r>
              <a:rPr lang="pt-BR" sz="1400" b="1" dirty="0"/>
              <a:t>Garantir e documentar a funcionalidade da contingência e </a:t>
            </a:r>
            <a:r>
              <a:rPr lang="pt-BR" sz="1400" dirty="0"/>
              <a:t>validar caminhos possíveis e documentar ações. 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12748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90" y="90471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Backups e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Instalação do piloto do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ArcServe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UDP para teste de backup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ambientes Windows e Linux  (Virtuais e Físicas) – Em andamento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 do projeto ampliado com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30 de Abril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iniciado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Backup &amp; Restore Ambiente de Produção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30-04-2016</a:t>
            </a:r>
          </a:p>
          <a:p>
            <a:r>
              <a:rPr lang="pt-BR" sz="1200" i="1" dirty="0"/>
              <a:t>Progresso: 52%</a:t>
            </a:r>
          </a:p>
          <a:p>
            <a:r>
              <a:rPr lang="pt-BR" sz="1200" i="1" dirty="0"/>
              <a:t>PM: Rafael Alves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Apoio da Regional NE e MG para suporte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discovery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servidores nos sites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Licença da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feature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ArcServe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UDP recebida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Queda na aderência de backup devido as desmobilizações de sites sem nossa ciência.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Baixo índice de aderência no plano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devido a falta de infra.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Armazenamento indevido das mídias causando degradação das mesmas.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Providenciar Backup em todos os equipamentos de produção da Contax. Garantir plano de </a:t>
            </a:r>
            <a:r>
              <a:rPr lang="pt-BR" sz="1400" dirty="0" err="1"/>
              <a:t>restore</a:t>
            </a:r>
            <a:r>
              <a:rPr lang="pt-BR" sz="1400" dirty="0"/>
              <a:t> do ambiente.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37397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3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04326" y="894156"/>
            <a:ext cx="418652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Visão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Macro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Cenário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Atual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11" y="1538285"/>
            <a:ext cx="6630962" cy="3272388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2659" y="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Backups e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</a:p>
        </p:txBody>
      </p:sp>
    </p:spTree>
    <p:extLst>
      <p:ext uri="{BB962C8B-B14F-4D97-AF65-F5344CB8AC3E}">
        <p14:creationId xmlns:p14="http://schemas.microsoft.com/office/powerpoint/2010/main" val="134756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52411" y="109829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Detalhamento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Ofensores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69" y="1220329"/>
            <a:ext cx="6493675" cy="293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7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455586" y="58937"/>
            <a:ext cx="639370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>
                <a:solidFill>
                  <a:schemeClr val="tx2"/>
                </a:solidFill>
                <a:latin typeface="Arial"/>
                <a:cs typeface="Arial"/>
              </a:rPr>
              <a:t>Report - Site 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a Site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973" y="604062"/>
            <a:ext cx="5381651" cy="45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9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511225" y="100125"/>
            <a:ext cx="152316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>
                <a:solidFill>
                  <a:schemeClr val="tx2"/>
                </a:solidFill>
                <a:latin typeface="Arial"/>
                <a:cs typeface="Arial"/>
              </a:rPr>
              <a:t>Time Line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25" y="673469"/>
            <a:ext cx="6864350" cy="411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4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OCS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Inventory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86279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strike="sngStrike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Ativos cadastrados no OCS: 3.781/6.476 (24/02/2016).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Ativos cadastrados no OCS: 4.001/6.476 (08/03/2016).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Evolução de (</a:t>
            </a:r>
            <a:r>
              <a:rPr lang="pt-BR" sz="1200" strike="sngStrike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205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220 media de 22 por dia.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>
                <a:solidFill>
                  <a:schemeClr val="tx1"/>
                </a:solidFill>
              </a:rPr>
              <a:t>Data Inicio: 04-12-2015</a:t>
            </a:r>
          </a:p>
          <a:p>
            <a:r>
              <a:rPr lang="pt-BR" sz="1200" i="1" dirty="0">
                <a:solidFill>
                  <a:schemeClr val="tx1"/>
                </a:solidFill>
              </a:rPr>
              <a:t>Data Conclusão: 14-04-2016</a:t>
            </a:r>
            <a:r>
              <a:rPr lang="pt-BR" sz="1200" i="1" strike="sngStrike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i="1" dirty="0">
                <a:solidFill>
                  <a:schemeClr val="tx1"/>
                </a:solidFill>
              </a:rPr>
              <a:t>Progresso: 68%</a:t>
            </a:r>
          </a:p>
          <a:p>
            <a:r>
              <a:rPr lang="pt-BR" sz="1200" i="1" dirty="0">
                <a:solidFill>
                  <a:schemeClr val="tx1"/>
                </a:solidFill>
              </a:rPr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8627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Customização para alocar informações dos contratos de manutenção  dos servidores.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Customização para alocar a certidão de nascimento dos equipamentos.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99740" cy="286279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Velocidade de evolução da instalação é afetada de acordo com instabilidade do ambiente.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Conflitos entre prioridades do gestor de projetos (pré-vendas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Contact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Center/IT e Estabilidade operacional).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Tivemos incidentes de alto impacto que nos afetou a produtividade em 3 dias de trabalho (CSE).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Tivemos a ausência por 02 dias do recurso que está dedicado ao projeto, (problemas de força maior).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pt-BR" sz="1400" dirty="0"/>
              <a:t> OCS é uma ferramenta de Inventário de servidores para auxiliar a equipe de Controle de Ativos. </a:t>
            </a:r>
          </a:p>
        </p:txBody>
      </p:sp>
      <p:grpSp>
        <p:nvGrpSpPr>
          <p:cNvPr id="14" name="Group 27"/>
          <p:cNvGrpSpPr>
            <a:grpSpLocks/>
          </p:cNvGrpSpPr>
          <p:nvPr/>
        </p:nvGrpSpPr>
        <p:grpSpPr bwMode="auto">
          <a:xfrm>
            <a:off x="2904282" y="1528044"/>
            <a:ext cx="274637" cy="274638"/>
            <a:chOff x="0" y="0"/>
            <a:chExt cx="173" cy="173"/>
          </a:xfrm>
        </p:grpSpPr>
        <p:sp>
          <p:nvSpPr>
            <p:cNvPr id="19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25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27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109004"/>
            <a:ext cx="198132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0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90" y="124794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Ura Internalização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equipe do José Carlos será responsável pelo suporte deste ambiente.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Ura Internalização</a:t>
            </a:r>
          </a:p>
          <a:p>
            <a:r>
              <a:rPr lang="pt-BR" sz="1200" i="1" dirty="0"/>
              <a:t>Data Inicio: 20-10-2015</a:t>
            </a:r>
          </a:p>
          <a:p>
            <a:r>
              <a:rPr lang="pt-BR" sz="1200" i="1" dirty="0"/>
              <a:t>Data Conclusão: 06-06-2016</a:t>
            </a:r>
          </a:p>
          <a:p>
            <a:r>
              <a:rPr lang="pt-BR" sz="1200" i="1" dirty="0"/>
              <a:t>Progresso: 20%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rgbClr val="00B050"/>
                </a:solidFill>
              </a:rPr>
              <a:t>SC 784 e 785 - Processo Concluído.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Aguardando data de próximo treinamento da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Monitoração pró ativa de hardware e elimina a possibilidade de perda de dados por falta de visibilidade do ambiente. </a:t>
            </a:r>
          </a:p>
        </p:txBody>
      </p:sp>
      <p:grpSp>
        <p:nvGrpSpPr>
          <p:cNvPr id="13" name="Group 16"/>
          <p:cNvGrpSpPr>
            <a:grpSpLocks/>
          </p:cNvGrpSpPr>
          <p:nvPr/>
        </p:nvGrpSpPr>
        <p:grpSpPr bwMode="auto">
          <a:xfrm>
            <a:off x="2890797" y="1499802"/>
            <a:ext cx="274638" cy="274638"/>
            <a:chOff x="0" y="0"/>
            <a:chExt cx="173" cy="173"/>
          </a:xfrm>
        </p:grpSpPr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8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19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20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915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90" y="90471"/>
            <a:ext cx="1981324" cy="360000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Qualidade em Gravação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1986751"/>
            <a:ext cx="2716382" cy="25517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ordem de prioridade das operações.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Janela de funcionamento das operações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Avaliar a necessidade de treinamento das equipes envolvidas no </a:t>
            </a: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retrieval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Qualidade </a:t>
            </a:r>
            <a:r>
              <a:rPr lang="pt-BR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Inicio: 24-02-2016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Conclusão: 23-05-2016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Progresso: 31%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Luis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986750"/>
            <a:ext cx="2716382" cy="25517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Realizamos reunião semanal com a equipe de projeto.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Foram retomados os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checklists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sites (exceção SP).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 RACI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esta em fase de conclusão.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120750" y="1986751"/>
            <a:ext cx="2716382" cy="25517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Entendimento de todos os contratos poderá ser mais “complicado” que o esperado..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plano de ação para eliminar multas (de gravação) nos clientes Contax.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01679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109004"/>
            <a:ext cx="1981324" cy="3600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Alinhamento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14066</TotalTime>
  <Words>1960</Words>
  <Application>Microsoft Office PowerPoint</Application>
  <PresentationFormat>Personalizar</PresentationFormat>
  <Paragraphs>320</Paragraphs>
  <Slides>31</Slides>
  <Notes>23</Notes>
  <HiddenSlides>4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31</vt:i4>
      </vt:variant>
    </vt:vector>
  </HeadingPairs>
  <TitlesOfParts>
    <vt:vector size="42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Felipe Lima</cp:lastModifiedBy>
  <cp:revision>1168</cp:revision>
  <dcterms:created xsi:type="dcterms:W3CDTF">2015-08-20T14:57:26Z</dcterms:created>
  <dcterms:modified xsi:type="dcterms:W3CDTF">2016-03-11T17:35:48Z</dcterms:modified>
</cp:coreProperties>
</file>