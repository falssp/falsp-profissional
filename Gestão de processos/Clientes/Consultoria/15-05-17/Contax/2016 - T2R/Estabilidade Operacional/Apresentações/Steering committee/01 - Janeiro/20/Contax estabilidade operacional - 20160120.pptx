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6"/>
  </p:notesMasterIdLst>
  <p:sldIdLst>
    <p:sldId id="262" r:id="rId5"/>
    <p:sldId id="265" r:id="rId6"/>
    <p:sldId id="419" r:id="rId7"/>
    <p:sldId id="420" r:id="rId8"/>
    <p:sldId id="421" r:id="rId9"/>
    <p:sldId id="422" r:id="rId10"/>
    <p:sldId id="423" r:id="rId11"/>
    <p:sldId id="401" r:id="rId12"/>
    <p:sldId id="411" r:id="rId13"/>
    <p:sldId id="424" r:id="rId14"/>
    <p:sldId id="425" r:id="rId1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1785" autoAdjust="0"/>
  </p:normalViewPr>
  <p:slideViewPr>
    <p:cSldViewPr snapToGrid="0" snapToObjects="1">
      <p:cViewPr varScale="1">
        <p:scale>
          <a:sx n="85" d="100"/>
          <a:sy n="85" d="100"/>
        </p:scale>
        <p:origin x="894" y="60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-%20Nov%20x%20Jan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-%20Nov%20x%20Jan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-%20Nov%20x%20Jan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Volume</a:t>
            </a:r>
            <a:r>
              <a:rPr lang="pt-BR" sz="1500" b="1" baseline="0" dirty="0" smtClean="0"/>
              <a:t> de </a:t>
            </a:r>
            <a:r>
              <a:rPr lang="pt-BR" sz="1500" b="1" dirty="0" smtClean="0"/>
              <a:t>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3204545348244393"/>
          <c:y val="1.13419541115253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A342-4057-BDFD-D4272EDC6324}"/>
              </c:ext>
            </c:extLst>
          </c:dPt>
          <c:dLbls>
            <c:dLbl>
              <c:idx val="0"/>
              <c:layout>
                <c:manualLayout>
                  <c:x val="-5.9401031800599621E-3"/>
                  <c:y val="-0.294890806899658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2665359216208456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2.9700515900300357E-3"/>
                  <c:y val="-0.2438520133977949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2.9700515900299811E-3"/>
                  <c:y val="-0.130432472282541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5.9401031800599621E-3"/>
                  <c:y val="-0.107748564059490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5.9401031800599621E-3"/>
                  <c:y val="-7.372270172491474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</c:v>
                </c:pt>
                <c:pt idx="1">
                  <c:v>Set</c:v>
                </c:pt>
                <c:pt idx="2">
                  <c:v>Out</c:v>
                </c:pt>
                <c:pt idx="3">
                  <c:v>Nov</c:v>
                </c:pt>
                <c:pt idx="4">
                  <c:v>Dez</c:v>
                </c:pt>
                <c:pt idx="5">
                  <c:v>Jan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1494</c:v>
                </c:pt>
                <c:pt idx="1">
                  <c:v>1402</c:v>
                </c:pt>
                <c:pt idx="2">
                  <c:v>1234</c:v>
                </c:pt>
                <c:pt idx="3" formatCode="General">
                  <c:v>415</c:v>
                </c:pt>
                <c:pt idx="4" formatCode="General">
                  <c:v>294</c:v>
                </c:pt>
                <c:pt idx="5" formatCode="General">
                  <c:v>125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493862000"/>
        <c:axId val="545728072"/>
      </c:barChart>
      <c:catAx>
        <c:axId val="493862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5728072"/>
        <c:crosses val="autoZero"/>
        <c:auto val="1"/>
        <c:lblAlgn val="ctr"/>
        <c:lblOffset val="100"/>
        <c:noMultiLvlLbl val="0"/>
      </c:catAx>
      <c:valAx>
        <c:axId val="545728072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4938620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Média diária de 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336-4DE1-AAF2-45A9A199F5C6}"/>
              </c:ext>
            </c:extLst>
          </c:dPt>
          <c:dLbls>
            <c:dLbl>
              <c:idx val="0"/>
              <c:layout>
                <c:manualLayout>
                  <c:x val="2.9880988961915622E-3"/>
                  <c:y val="-0.3072155333334229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336-4DE1-AAF2-45A9A199F5C6}"/>
                </c:ext>
                <c:ext xmlns:c15="http://schemas.microsoft.com/office/drawing/2012/chart" uri="{CE6537A1-D6FC-4f65-9D91-7224C49458BB}">
                  <c15:layout>
                    <c:manualLayout>
                      <c:w val="0.10159536247051311"/>
                      <c:h val="0.11947270740744224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2.9880988961915622E-3"/>
                  <c:y val="-0.3072155333334229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2560129444445191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125161883950653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5.9761977923831243E-3"/>
                  <c:y val="-0.1194727074074422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2.9880988961914524E-3"/>
                  <c:y val="-9.67160012345962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</c:v>
                </c:pt>
                <c:pt idx="1">
                  <c:v>Set</c:v>
                </c:pt>
                <c:pt idx="2">
                  <c:v>Out</c:v>
                </c:pt>
                <c:pt idx="3">
                  <c:v>Nov</c:v>
                </c:pt>
                <c:pt idx="4">
                  <c:v>Dez</c:v>
                </c:pt>
                <c:pt idx="5">
                  <c:v>Jan</c:v>
                </c:pt>
              </c:strCache>
            </c:strRef>
          </c:cat>
          <c:val>
            <c:numRef>
              <c:f>Plan1!$B$2:$B$7</c:f>
              <c:numCache>
                <c:formatCode>#,##0.00</c:formatCode>
                <c:ptCount val="6"/>
                <c:pt idx="0">
                  <c:v>48.19</c:v>
                </c:pt>
                <c:pt idx="1">
                  <c:v>46.73</c:v>
                </c:pt>
                <c:pt idx="2">
                  <c:v>39.799999999999997</c:v>
                </c:pt>
                <c:pt idx="3">
                  <c:v>13.84</c:v>
                </c:pt>
                <c:pt idx="4" formatCode="General">
                  <c:v>9.48</c:v>
                </c:pt>
                <c:pt idx="5" formatCode="0.00">
                  <c:v>6.58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545725328"/>
        <c:axId val="545727288"/>
      </c:barChart>
      <c:catAx>
        <c:axId val="545725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5727288"/>
        <c:crosses val="autoZero"/>
        <c:auto val="1"/>
        <c:lblAlgn val="ctr"/>
        <c:lblOffset val="100"/>
        <c:noMultiLvlLbl val="0"/>
      </c:catAx>
      <c:valAx>
        <c:axId val="545727288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5457253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1" dirty="0"/>
              <a:t>Gestão de </a:t>
            </a:r>
            <a:r>
              <a:rPr lang="en-US" sz="1500" b="1" dirty="0" smtClean="0"/>
              <a:t>Problemas</a:t>
            </a:r>
          </a:p>
          <a:p>
            <a:pPr>
              <a:defRPr sz="1600" b="1"/>
            </a:pPr>
            <a:r>
              <a:rPr lang="en-US" sz="1200" b="1" dirty="0" smtClean="0"/>
              <a:t>Total 26</a:t>
            </a:r>
            <a:endParaRPr lang="en-US" sz="1200" b="1" dirty="0"/>
          </a:p>
        </c:rich>
      </c:tx>
      <c:layout>
        <c:manualLayout>
          <c:xMode val="edge"/>
          <c:yMode val="edge"/>
          <c:x val="0.2135858779210657"/>
          <c:y val="1.78248104626082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7523974564955888"/>
          <c:y val="0.29664687735193479"/>
          <c:w val="0.35111029917702913"/>
          <c:h val="0.58968743462673223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Coluna1</c:v>
                </c:pt>
              </c:strCache>
            </c:strRef>
          </c:tx>
          <c:spPr>
            <a:scene3d>
              <a:camera prst="orthographicFront"/>
              <a:lightRig rig="balanced" dir="t">
                <a:rot lat="0" lon="0" rev="0"/>
              </a:lightRig>
            </a:scene3d>
            <a:sp3d prstMaterial="softEdge">
              <a:bevelT w="165100" prst="coolSlant"/>
            </a:sp3d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C87-4E75-B6BC-1613E3B4466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4E6D-4022-8EBF-F734882408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C87-4E75-B6BC-1613E3B4466B}"/>
              </c:ext>
            </c:extLst>
          </c:dPt>
          <c:dPt>
            <c:idx val="3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C87-4E75-B6BC-1613E3B4466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Plan1!$A$2:$A$5</c:f>
              <c:strCache>
                <c:ptCount val="4"/>
                <c:pt idx="0">
                  <c:v>Backlog</c:v>
                </c:pt>
                <c:pt idx="1">
                  <c:v>Investigação</c:v>
                </c:pt>
                <c:pt idx="2">
                  <c:v>Diagnosticado</c:v>
                </c:pt>
                <c:pt idx="3">
                  <c:v>Finalizado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1</c:v>
                </c:pt>
                <c:pt idx="2">
                  <c:v>8</c:v>
                </c:pt>
                <c:pt idx="3">
                  <c:v>17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E6D-4022-8EBF-F73488240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B343-4B87-A407-FBF943380C67}"/>
              </c:ext>
            </c:extLst>
          </c:dPt>
          <c:dLbls>
            <c:dLbl>
              <c:idx val="0"/>
              <c:layout>
                <c:manualLayout>
                  <c:x val="-5.9400113486707184E-3"/>
                  <c:y val="-0.29867281704296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5.5555324682596465E-3"/>
                  <c:y val="-0.2914791512736120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8.5255551212713165E-3"/>
                  <c:y val="-0.293738174107772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5.7477888871415453E-3"/>
                  <c:y val="-0.290068587719887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4.5547859291460348E-3"/>
                  <c:y val="-0.2581635114996307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7.5384201159269026E-2"/>
                  <c:y val="-1.884797298757046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</c:v>
                </c:pt>
                <c:pt idx="4">
                  <c:v>Dezembro</c:v>
                </c:pt>
                <c:pt idx="5">
                  <c:v>Janeiro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24272</c:v>
                </c:pt>
                <c:pt idx="1">
                  <c:v>23069</c:v>
                </c:pt>
                <c:pt idx="2">
                  <c:v>22960</c:v>
                </c:pt>
                <c:pt idx="3">
                  <c:v>24028</c:v>
                </c:pt>
                <c:pt idx="4">
                  <c:v>19386</c:v>
                </c:pt>
                <c:pt idx="5">
                  <c:v>13448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Colunas1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0650"/>
            </a:sp3d>
          </c:spPr>
          <c:invertIfNegative val="0"/>
          <c:dPt>
            <c:idx val="5"/>
            <c:invertIfNegative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2065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A-B343-4B87-A407-FBF943380C67}"/>
              </c:ext>
            </c:extLst>
          </c:dPt>
          <c:dLbls>
            <c:dLbl>
              <c:idx val="5"/>
              <c:layout>
                <c:manualLayout>
                  <c:x val="7.7813621059919555E-2"/>
                  <c:y val="-3.706421504722753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</c:v>
                </c:pt>
                <c:pt idx="4">
                  <c:v>Dezembro</c:v>
                </c:pt>
                <c:pt idx="5">
                  <c:v>Janeiro</c:v>
                </c:pt>
              </c:strCache>
            </c:strRef>
          </c:cat>
          <c:val>
            <c:numRef>
              <c:f>Plan1!$C$2:$C$7</c:f>
              <c:numCache>
                <c:formatCode>General</c:formatCode>
                <c:ptCount val="6"/>
                <c:pt idx="5" formatCode="#,##0">
                  <c:v>8559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B-B343-4B87-A407-FBF943380C6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545726896"/>
        <c:axId val="545726112"/>
      </c:barChart>
      <c:catAx>
        <c:axId val="545726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5726112"/>
        <c:crosses val="autoZero"/>
        <c:auto val="1"/>
        <c:lblAlgn val="ctr"/>
        <c:lblOffset val="100"/>
        <c:noMultiLvlLbl val="0"/>
      </c:catAx>
      <c:valAx>
        <c:axId val="545726112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5457268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600" dirty="0" smtClean="0"/>
              <a:t>Alto </a:t>
            </a:r>
            <a:r>
              <a:rPr lang="pt-BR" sz="1600" dirty="0"/>
              <a:t>Impacto</a:t>
            </a:r>
          </a:p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Janeiro 2015</a:t>
            </a:r>
          </a:p>
        </c:rich>
      </c:tx>
      <c:layout>
        <c:manualLayout>
          <c:xMode val="edge"/>
          <c:yMode val="edge"/>
          <c:x val="0.3197266109894088"/>
          <c:y val="1.8320187837222487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BAB5-4077-ACE9-DA2A624E104B}"/>
                </c:ext>
                <c:ext xmlns:c15="http://schemas.microsoft.com/office/drawing/2012/chart" uri="{CE6537A1-D6FC-4f65-9D91-7224C49458BB}"/>
              </c:extLst>
            </c:dLbl>
            <c:dLbl>
              <c:idx val="2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BAB5-4077-ACE9-DA2A624E104B}"/>
                </c:ex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BAB5-4077-ACE9-DA2A624E104B}"/>
                </c:ex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BAB5-4077-ACE9-DA2A624E104B}"/>
                </c:ex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BAB5-4077-ACE9-DA2A624E104B}"/>
                </c:ex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AB5-4077-ACE9-DA2A624E104B}"/>
                </c:ex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AB5-4077-ACE9-DA2A624E104B}"/>
                </c:ex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AB5-4077-ACE9-DA2A624E104B}"/>
                </c:ex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BAB5-4077-ACE9-DA2A624E104B}"/>
                </c:ex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BAB5-4077-ACE9-DA2A624E104B}"/>
                </c:ext>
                <c:ext xmlns:c15="http://schemas.microsoft.com/office/drawing/2012/chart" uri="{CE6537A1-D6FC-4f65-9D91-7224C49458BB}"/>
              </c:extLst>
            </c:dLbl>
            <c:dLbl>
              <c:idx val="2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BAB5-4077-ACE9-DA2A624E104B}"/>
                </c:ext>
                <c:ext xmlns:c15="http://schemas.microsoft.com/office/drawing/2012/chart" uri="{CE6537A1-D6FC-4f65-9D91-7224C49458BB}"/>
              </c:extLst>
            </c:dLbl>
            <c:dLbl>
              <c:idx val="3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BAB5-4077-ACE9-DA2A624E104B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val>
            <c:numRef>
              <c:f>'Dados - Gráficos'!$C$4:$AG$4</c:f>
              <c:numCache>
                <c:formatCode>General</c:formatCode>
                <c:ptCount val="31"/>
                <c:pt idx="0">
                  <c:v>2</c:v>
                </c:pt>
                <c:pt idx="1">
                  <c:v>7</c:v>
                </c:pt>
                <c:pt idx="2">
                  <c:v>0</c:v>
                </c:pt>
                <c:pt idx="3">
                  <c:v>12</c:v>
                </c:pt>
                <c:pt idx="4">
                  <c:v>6</c:v>
                </c:pt>
                <c:pt idx="5">
                  <c:v>6</c:v>
                </c:pt>
                <c:pt idx="6">
                  <c:v>16</c:v>
                </c:pt>
                <c:pt idx="7">
                  <c:v>13</c:v>
                </c:pt>
                <c:pt idx="8">
                  <c:v>3</c:v>
                </c:pt>
                <c:pt idx="9">
                  <c:v>0</c:v>
                </c:pt>
                <c:pt idx="10">
                  <c:v>9</c:v>
                </c:pt>
                <c:pt idx="11">
                  <c:v>7</c:v>
                </c:pt>
                <c:pt idx="12">
                  <c:v>8</c:v>
                </c:pt>
                <c:pt idx="13">
                  <c:v>3</c:v>
                </c:pt>
                <c:pt idx="14">
                  <c:v>5</c:v>
                </c:pt>
                <c:pt idx="15">
                  <c:v>5</c:v>
                </c:pt>
                <c:pt idx="16">
                  <c:v>2</c:v>
                </c:pt>
                <c:pt idx="17">
                  <c:v>10</c:v>
                </c:pt>
                <c:pt idx="18">
                  <c:v>11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BAB5-4077-ACE9-DA2A624E104B}"/>
            </c:ext>
          </c:extLst>
        </c:ser>
        <c:ser>
          <c:idx val="0"/>
          <c:order val="1"/>
          <c:tx>
            <c:v>Meta 9,48</c:v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'Dados - Gráficos'!$C$10:$AG$10</c:f>
              <c:numCache>
                <c:formatCode>General</c:formatCode>
                <c:ptCount val="31"/>
                <c:pt idx="0">
                  <c:v>9.48</c:v>
                </c:pt>
                <c:pt idx="1">
                  <c:v>9.48</c:v>
                </c:pt>
                <c:pt idx="2">
                  <c:v>9.48</c:v>
                </c:pt>
                <c:pt idx="3">
                  <c:v>9.48</c:v>
                </c:pt>
                <c:pt idx="4">
                  <c:v>9.48</c:v>
                </c:pt>
                <c:pt idx="5">
                  <c:v>9.48</c:v>
                </c:pt>
                <c:pt idx="6">
                  <c:v>9.48</c:v>
                </c:pt>
                <c:pt idx="7">
                  <c:v>9.48</c:v>
                </c:pt>
                <c:pt idx="8">
                  <c:v>9.48</c:v>
                </c:pt>
                <c:pt idx="9">
                  <c:v>9.48</c:v>
                </c:pt>
                <c:pt idx="10">
                  <c:v>9.48</c:v>
                </c:pt>
                <c:pt idx="11">
                  <c:v>9.48</c:v>
                </c:pt>
                <c:pt idx="12">
                  <c:v>9.48</c:v>
                </c:pt>
                <c:pt idx="13">
                  <c:v>9.48</c:v>
                </c:pt>
                <c:pt idx="14">
                  <c:v>9.48</c:v>
                </c:pt>
                <c:pt idx="15">
                  <c:v>9.48</c:v>
                </c:pt>
                <c:pt idx="16">
                  <c:v>9.48</c:v>
                </c:pt>
                <c:pt idx="17">
                  <c:v>9.48</c:v>
                </c:pt>
                <c:pt idx="18">
                  <c:v>9.48</c:v>
                </c:pt>
                <c:pt idx="19">
                  <c:v>9.48</c:v>
                </c:pt>
                <c:pt idx="20">
                  <c:v>9.48</c:v>
                </c:pt>
                <c:pt idx="21">
                  <c:v>9.48</c:v>
                </c:pt>
                <c:pt idx="22">
                  <c:v>9.48</c:v>
                </c:pt>
                <c:pt idx="23">
                  <c:v>9.48</c:v>
                </c:pt>
                <c:pt idx="24">
                  <c:v>9.48</c:v>
                </c:pt>
                <c:pt idx="25">
                  <c:v>9.48</c:v>
                </c:pt>
                <c:pt idx="26">
                  <c:v>9.48</c:v>
                </c:pt>
                <c:pt idx="27">
                  <c:v>9.48</c:v>
                </c:pt>
                <c:pt idx="28">
                  <c:v>9.48</c:v>
                </c:pt>
                <c:pt idx="29">
                  <c:v>9.48</c:v>
                </c:pt>
                <c:pt idx="30">
                  <c:v>9.48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D-BAB5-4077-ACE9-DA2A624E10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545728464"/>
        <c:axId val="371357792"/>
      </c:barChart>
      <c:catAx>
        <c:axId val="545728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1357792"/>
        <c:crosses val="autoZero"/>
        <c:auto val="1"/>
        <c:lblAlgn val="ctr"/>
        <c:lblOffset val="100"/>
        <c:noMultiLvlLbl val="0"/>
      </c:catAx>
      <c:valAx>
        <c:axId val="3713577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45728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600"/>
              <a:t>Médio Impacto</a:t>
            </a:r>
          </a:p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b="1">
                <a:solidFill>
                  <a:schemeClr val="accent5">
                    <a:lumMod val="75000"/>
                  </a:schemeClr>
                </a:solidFill>
              </a:rPr>
              <a:t>Janeiro 2015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Lbl>
              <c:idx val="1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54BC-4D3A-BC81-B3A1E6EE49B3}"/>
                </c:ext>
                <c:ext xmlns:c15="http://schemas.microsoft.com/office/drawing/2012/chart" uri="{CE6537A1-D6FC-4f65-9D91-7224C49458BB}"/>
              </c:extLst>
            </c:dLbl>
            <c:dLbl>
              <c:idx val="2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54BC-4D3A-BC81-B3A1E6EE49B3}"/>
                </c:ex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54BC-4D3A-BC81-B3A1E6EE49B3}"/>
                </c:ex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54BC-4D3A-BC81-B3A1E6EE49B3}"/>
                </c:ex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54BC-4D3A-BC81-B3A1E6EE49B3}"/>
                </c:ex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54BC-4D3A-BC81-B3A1E6EE49B3}"/>
                </c:ex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54BC-4D3A-BC81-B3A1E6EE49B3}"/>
                </c:ex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54BC-4D3A-BC81-B3A1E6EE49B3}"/>
                </c:ex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54BC-4D3A-BC81-B3A1E6EE49B3}"/>
                </c:ex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54BC-4D3A-BC81-B3A1E6EE49B3}"/>
                </c:ext>
                <c:ext xmlns:c15="http://schemas.microsoft.com/office/drawing/2012/chart" uri="{CE6537A1-D6FC-4f65-9D91-7224C49458BB}"/>
              </c:extLst>
            </c:dLbl>
            <c:dLbl>
              <c:idx val="2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54BC-4D3A-BC81-B3A1E6EE49B3}"/>
                </c:ext>
                <c:ext xmlns:c15="http://schemas.microsoft.com/office/drawing/2012/chart" uri="{CE6537A1-D6FC-4f65-9D91-7224C49458BB}"/>
              </c:extLst>
            </c:dLbl>
            <c:dLbl>
              <c:idx val="3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54BC-4D3A-BC81-B3A1E6EE49B3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val>
            <c:numRef>
              <c:f>'Dados - Gráficos'!$C$5:$AG$5</c:f>
              <c:numCache>
                <c:formatCode>General</c:formatCode>
                <c:ptCount val="31"/>
                <c:pt idx="0">
                  <c:v>27</c:v>
                </c:pt>
                <c:pt idx="1">
                  <c:v>72</c:v>
                </c:pt>
                <c:pt idx="2">
                  <c:v>39</c:v>
                </c:pt>
                <c:pt idx="3">
                  <c:v>750</c:v>
                </c:pt>
                <c:pt idx="4">
                  <c:v>643</c:v>
                </c:pt>
                <c:pt idx="5">
                  <c:v>650</c:v>
                </c:pt>
                <c:pt idx="6">
                  <c:v>539</c:v>
                </c:pt>
                <c:pt idx="7">
                  <c:v>529</c:v>
                </c:pt>
                <c:pt idx="8">
                  <c:v>142</c:v>
                </c:pt>
                <c:pt idx="9">
                  <c:v>67</c:v>
                </c:pt>
                <c:pt idx="10">
                  <c:v>619</c:v>
                </c:pt>
                <c:pt idx="11">
                  <c:v>541</c:v>
                </c:pt>
                <c:pt idx="12">
                  <c:v>540</c:v>
                </c:pt>
                <c:pt idx="13">
                  <c:v>524</c:v>
                </c:pt>
                <c:pt idx="14">
                  <c:v>493</c:v>
                </c:pt>
                <c:pt idx="15">
                  <c:v>157</c:v>
                </c:pt>
                <c:pt idx="16">
                  <c:v>32</c:v>
                </c:pt>
                <c:pt idx="17">
                  <c:v>754</c:v>
                </c:pt>
                <c:pt idx="18">
                  <c:v>589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54BC-4D3A-BC81-B3A1E6EE49B3}"/>
            </c:ext>
          </c:extLst>
        </c:ser>
        <c:ser>
          <c:idx val="0"/>
          <c:order val="1"/>
          <c:tx>
            <c:v>Meta 363,68</c:v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'Dados - Gráficos'!$C$11:$AG$11</c:f>
              <c:numCache>
                <c:formatCode>General</c:formatCode>
                <c:ptCount val="31"/>
                <c:pt idx="0">
                  <c:v>363.68</c:v>
                </c:pt>
                <c:pt idx="1">
                  <c:v>363.68</c:v>
                </c:pt>
                <c:pt idx="2">
                  <c:v>363.68</c:v>
                </c:pt>
                <c:pt idx="3">
                  <c:v>363.68</c:v>
                </c:pt>
                <c:pt idx="4">
                  <c:v>363.68</c:v>
                </c:pt>
                <c:pt idx="5">
                  <c:v>363.68</c:v>
                </c:pt>
                <c:pt idx="6">
                  <c:v>363.68</c:v>
                </c:pt>
                <c:pt idx="7">
                  <c:v>363.68</c:v>
                </c:pt>
                <c:pt idx="8">
                  <c:v>363.68</c:v>
                </c:pt>
                <c:pt idx="9">
                  <c:v>363.68</c:v>
                </c:pt>
                <c:pt idx="10">
                  <c:v>363.68</c:v>
                </c:pt>
                <c:pt idx="11">
                  <c:v>363.68</c:v>
                </c:pt>
                <c:pt idx="12">
                  <c:v>363.68</c:v>
                </c:pt>
                <c:pt idx="13">
                  <c:v>363.68</c:v>
                </c:pt>
                <c:pt idx="14">
                  <c:v>363.68</c:v>
                </c:pt>
                <c:pt idx="15">
                  <c:v>363.68</c:v>
                </c:pt>
                <c:pt idx="16">
                  <c:v>363.68</c:v>
                </c:pt>
                <c:pt idx="17">
                  <c:v>363.68</c:v>
                </c:pt>
                <c:pt idx="18">
                  <c:v>363.68</c:v>
                </c:pt>
                <c:pt idx="19">
                  <c:v>363.68</c:v>
                </c:pt>
                <c:pt idx="20">
                  <c:v>363.68</c:v>
                </c:pt>
                <c:pt idx="21">
                  <c:v>363.68</c:v>
                </c:pt>
                <c:pt idx="22">
                  <c:v>363.68</c:v>
                </c:pt>
                <c:pt idx="23">
                  <c:v>363.68</c:v>
                </c:pt>
                <c:pt idx="24">
                  <c:v>363.68</c:v>
                </c:pt>
                <c:pt idx="25">
                  <c:v>363.68</c:v>
                </c:pt>
                <c:pt idx="26">
                  <c:v>363.68</c:v>
                </c:pt>
                <c:pt idx="27">
                  <c:v>363.68</c:v>
                </c:pt>
                <c:pt idx="28">
                  <c:v>363.68</c:v>
                </c:pt>
                <c:pt idx="29">
                  <c:v>363.68</c:v>
                </c:pt>
                <c:pt idx="30">
                  <c:v>363.68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D-54BC-4D3A-BC81-B3A1E6EE49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371356224"/>
        <c:axId val="371356616"/>
      </c:barChart>
      <c:catAx>
        <c:axId val="371356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1356616"/>
        <c:crosses val="autoZero"/>
        <c:auto val="1"/>
        <c:lblAlgn val="ctr"/>
        <c:lblOffset val="100"/>
        <c:noMultiLvlLbl val="0"/>
      </c:catAx>
      <c:valAx>
        <c:axId val="3713566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71356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600"/>
              <a:t>Baixo Impacto</a:t>
            </a:r>
          </a:p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b="1">
                <a:solidFill>
                  <a:schemeClr val="accent5">
                    <a:lumMod val="75000"/>
                  </a:schemeClr>
                </a:solidFill>
              </a:rPr>
              <a:t>Janeiro 2015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1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306C-4257-BB73-588BCB29C626}"/>
                </c:ext>
                <c:ext xmlns:c15="http://schemas.microsoft.com/office/drawing/2012/chart" uri="{CE6537A1-D6FC-4f65-9D91-7224C49458BB}"/>
              </c:extLst>
            </c:dLbl>
            <c:dLbl>
              <c:idx val="2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06C-4257-BB73-588BCB29C626}"/>
                </c:ex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306C-4257-BB73-588BCB29C626}"/>
                </c:ex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06C-4257-BB73-588BCB29C626}"/>
                </c:ex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306C-4257-BB73-588BCB29C626}"/>
                </c:ex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306C-4257-BB73-588BCB29C626}"/>
                </c:ex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306C-4257-BB73-588BCB29C626}"/>
                </c:ex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306C-4257-BB73-588BCB29C626}"/>
                </c:ex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306C-4257-BB73-588BCB29C626}"/>
                </c:ex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306C-4257-BB73-588BCB29C626}"/>
                </c:ext>
                <c:ext xmlns:c15="http://schemas.microsoft.com/office/drawing/2012/chart" uri="{CE6537A1-D6FC-4f65-9D91-7224C49458BB}"/>
              </c:extLst>
            </c:dLbl>
            <c:dLbl>
              <c:idx val="2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306C-4257-BB73-588BCB29C626}"/>
                </c:ext>
                <c:ext xmlns:c15="http://schemas.microsoft.com/office/drawing/2012/chart" uri="{CE6537A1-D6FC-4f65-9D91-7224C49458BB}"/>
              </c:extLst>
            </c:dLbl>
            <c:dLbl>
              <c:idx val="3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306C-4257-BB73-588BCB29C62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val>
            <c:numRef>
              <c:f>'Dados - Gráficos'!$C$6:$AG$6</c:f>
              <c:numCache>
                <c:formatCode>General</c:formatCode>
                <c:ptCount val="31"/>
                <c:pt idx="0">
                  <c:v>30</c:v>
                </c:pt>
                <c:pt idx="1">
                  <c:v>61</c:v>
                </c:pt>
                <c:pt idx="2">
                  <c:v>45</c:v>
                </c:pt>
                <c:pt idx="3">
                  <c:v>631</c:v>
                </c:pt>
                <c:pt idx="4">
                  <c:v>644</c:v>
                </c:pt>
                <c:pt idx="5">
                  <c:v>485</c:v>
                </c:pt>
                <c:pt idx="6">
                  <c:v>468</c:v>
                </c:pt>
                <c:pt idx="7">
                  <c:v>421</c:v>
                </c:pt>
                <c:pt idx="8">
                  <c:v>101</c:v>
                </c:pt>
                <c:pt idx="9">
                  <c:v>37</c:v>
                </c:pt>
                <c:pt idx="10">
                  <c:v>420</c:v>
                </c:pt>
                <c:pt idx="11">
                  <c:v>424</c:v>
                </c:pt>
                <c:pt idx="12">
                  <c:v>422</c:v>
                </c:pt>
                <c:pt idx="13">
                  <c:v>358</c:v>
                </c:pt>
                <c:pt idx="14">
                  <c:v>262</c:v>
                </c:pt>
                <c:pt idx="15">
                  <c:v>89</c:v>
                </c:pt>
                <c:pt idx="16">
                  <c:v>38</c:v>
                </c:pt>
                <c:pt idx="17">
                  <c:v>421</c:v>
                </c:pt>
                <c:pt idx="18">
                  <c:v>299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306C-4257-BB73-588BCB29C626}"/>
            </c:ext>
          </c:extLst>
        </c:ser>
        <c:ser>
          <c:idx val="0"/>
          <c:order val="1"/>
          <c:tx>
            <c:v>Meta 252,19</c:v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3810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'Dados - Gráficos'!$C$12:$AG$12</c:f>
              <c:numCache>
                <c:formatCode>General</c:formatCode>
                <c:ptCount val="31"/>
                <c:pt idx="0">
                  <c:v>252.19</c:v>
                </c:pt>
                <c:pt idx="1">
                  <c:v>252.19</c:v>
                </c:pt>
                <c:pt idx="2">
                  <c:v>252.19</c:v>
                </c:pt>
                <c:pt idx="3">
                  <c:v>252.19</c:v>
                </c:pt>
                <c:pt idx="4">
                  <c:v>252.19</c:v>
                </c:pt>
                <c:pt idx="5">
                  <c:v>252.19</c:v>
                </c:pt>
                <c:pt idx="6">
                  <c:v>252.19</c:v>
                </c:pt>
                <c:pt idx="7">
                  <c:v>252.19</c:v>
                </c:pt>
                <c:pt idx="8">
                  <c:v>252.19</c:v>
                </c:pt>
                <c:pt idx="9">
                  <c:v>252.19</c:v>
                </c:pt>
                <c:pt idx="10">
                  <c:v>252.19</c:v>
                </c:pt>
                <c:pt idx="11">
                  <c:v>252.19</c:v>
                </c:pt>
                <c:pt idx="12">
                  <c:v>252.19</c:v>
                </c:pt>
                <c:pt idx="13">
                  <c:v>252.19</c:v>
                </c:pt>
                <c:pt idx="14">
                  <c:v>252.19</c:v>
                </c:pt>
                <c:pt idx="15">
                  <c:v>252.19</c:v>
                </c:pt>
                <c:pt idx="16">
                  <c:v>252.19</c:v>
                </c:pt>
                <c:pt idx="17">
                  <c:v>252.19</c:v>
                </c:pt>
                <c:pt idx="18">
                  <c:v>252.19</c:v>
                </c:pt>
                <c:pt idx="19">
                  <c:v>252.19</c:v>
                </c:pt>
                <c:pt idx="20">
                  <c:v>252.19</c:v>
                </c:pt>
                <c:pt idx="21">
                  <c:v>252.19</c:v>
                </c:pt>
                <c:pt idx="22">
                  <c:v>252.19</c:v>
                </c:pt>
                <c:pt idx="23">
                  <c:v>252.19</c:v>
                </c:pt>
                <c:pt idx="24">
                  <c:v>252.19</c:v>
                </c:pt>
                <c:pt idx="25">
                  <c:v>252.19</c:v>
                </c:pt>
                <c:pt idx="26">
                  <c:v>252.19</c:v>
                </c:pt>
                <c:pt idx="27">
                  <c:v>252.19</c:v>
                </c:pt>
                <c:pt idx="28">
                  <c:v>252.19</c:v>
                </c:pt>
                <c:pt idx="29">
                  <c:v>252.19</c:v>
                </c:pt>
                <c:pt idx="30">
                  <c:v>252.19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D-306C-4257-BB73-588BCB29C6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371358184"/>
        <c:axId val="371358576"/>
      </c:barChart>
      <c:catAx>
        <c:axId val="371358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1358576"/>
        <c:crosses val="autoZero"/>
        <c:auto val="1"/>
        <c:lblAlgn val="ctr"/>
        <c:lblOffset val="100"/>
        <c:noMultiLvlLbl val="0"/>
      </c:catAx>
      <c:valAx>
        <c:axId val="3713585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71358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20/01/2016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7857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6067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870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4365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0164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852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018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2368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1/20/2016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emf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5.jpg"/><Relationship Id="rId10" Type="http://schemas.openxmlformats.org/officeDocument/2006/relationships/image" Target="../media/image18.png"/><Relationship Id="rId4" Type="http://schemas.openxmlformats.org/officeDocument/2006/relationships/image" Target="../media/image3.emf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jp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24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21</a:t>
            </a: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.Janeiro.2016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8331">
        <p14:reveal/>
      </p:transition>
    </mc:Choice>
    <mc:Fallback xmlns="">
      <p:transition spd="slow" advTm="833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5908890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– Incidentes de Alto Impacto e Problemas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 – Total de Incidentes</a:t>
            </a:r>
          </a:p>
          <a:p>
            <a:pPr algn="l">
              <a:buClr>
                <a:srgbClr val="800000"/>
              </a:buClr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Estruturantes e Especiais</a:t>
            </a:r>
          </a:p>
          <a:p>
            <a:pPr algn="l">
              <a:buClr>
                <a:srgbClr val="800000"/>
              </a:buClr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/>
          <p:cNvGrpSpPr/>
          <p:nvPr/>
        </p:nvGrpSpPr>
        <p:grpSpPr>
          <a:xfrm>
            <a:off x="0" y="2436"/>
            <a:ext cx="9144001" cy="5145828"/>
            <a:chOff x="0" y="2436"/>
            <a:chExt cx="9144001" cy="5145828"/>
          </a:xfrm>
        </p:grpSpPr>
        <p:grpSp>
          <p:nvGrpSpPr>
            <p:cNvPr id="2" name="Agrupar 1"/>
            <p:cNvGrpSpPr/>
            <p:nvPr/>
          </p:nvGrpSpPr>
          <p:grpSpPr>
            <a:xfrm>
              <a:off x="1" y="153259"/>
              <a:ext cx="9144000" cy="4995005"/>
              <a:chOff x="1" y="153259"/>
              <a:chExt cx="9144000" cy="4995005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36933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20" name="Title 1"/>
              <p:cNvSpPr txBox="1">
                <a:spLocks/>
              </p:cNvSpPr>
              <p:nvPr/>
            </p:nvSpPr>
            <p:spPr>
              <a:xfrm>
                <a:off x="734184" y="153259"/>
                <a:ext cx="6254098" cy="56040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vert="horz" lIns="91440" tIns="45720" rIns="91440" bIns="45720" rtlCol="0" anchor="ctr">
                <a:normAutofit fontScale="85000" lnSpcReduction="10000"/>
              </a:bodyPr>
              <a:lstStyle>
                <a:lvl1pPr algn="ctr" defTabSz="4572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buClr>
                    <a:srgbClr val="800000"/>
                  </a:buClr>
                </a:pPr>
                <a:r>
                  <a:rPr lang="pt-BR" sz="2800" b="1" dirty="0" smtClean="0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1. Indicadores: Incidentes e Problemas</a:t>
                </a:r>
                <a:endParaRPr lang="pt-BR" sz="18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23" name="Gráfico 22"/>
              <p:cNvGraphicFramePr/>
              <p:nvPr>
                <p:extLst/>
              </p:nvPr>
            </p:nvGraphicFramePr>
            <p:xfrm>
              <a:off x="1" y="784099"/>
              <a:ext cx="4276020" cy="2239473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24" name="CaixaDeTexto 23"/>
              <p:cNvSpPr txBox="1"/>
              <p:nvPr/>
            </p:nvSpPr>
            <p:spPr>
              <a:xfrm>
                <a:off x="450221" y="1883543"/>
                <a:ext cx="657938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-6,1%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5" name="CaixaDeTexto 24"/>
              <p:cNvSpPr txBox="1"/>
              <p:nvPr/>
            </p:nvSpPr>
            <p:spPr>
              <a:xfrm>
                <a:off x="1111484" y="1883542"/>
                <a:ext cx="684782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-11,9%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graphicFrame>
            <p:nvGraphicFramePr>
              <p:cNvPr id="27" name="Gráfico 26"/>
              <p:cNvGraphicFramePr/>
              <p:nvPr>
                <p:extLst/>
              </p:nvPr>
            </p:nvGraphicFramePr>
            <p:xfrm>
              <a:off x="4532563" y="791263"/>
              <a:ext cx="4250194" cy="223230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28" name="CaixaDeTexto 27"/>
              <p:cNvSpPr txBox="1"/>
              <p:nvPr/>
            </p:nvSpPr>
            <p:spPr>
              <a:xfrm>
                <a:off x="4993455" y="1779776"/>
                <a:ext cx="643139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-3,0%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9" name="CaixaDeTexto 28"/>
              <p:cNvSpPr txBox="1"/>
              <p:nvPr/>
            </p:nvSpPr>
            <p:spPr>
              <a:xfrm>
                <a:off x="5636594" y="1796043"/>
                <a:ext cx="684782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-14,8%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" name="CaixaDeTexto 29"/>
              <p:cNvSpPr txBox="1"/>
              <p:nvPr/>
            </p:nvSpPr>
            <p:spPr>
              <a:xfrm>
                <a:off x="6303500" y="1785027"/>
                <a:ext cx="684782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-66,8%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graphicFrame>
            <p:nvGraphicFramePr>
              <p:cNvPr id="31" name="Gráfico 30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968607" y="3068858"/>
              <a:ext cx="3492347" cy="2079405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6"/>
              </a:graphicData>
            </a:graphic>
          </p:graphicFrame>
          <p:sp>
            <p:nvSpPr>
              <p:cNvPr id="33" name="Retângulo de cantos arredondados 32"/>
              <p:cNvSpPr/>
              <p:nvPr/>
            </p:nvSpPr>
            <p:spPr>
              <a:xfrm>
                <a:off x="220647" y="3553688"/>
                <a:ext cx="1775024" cy="105807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 smtClean="0"/>
                  <a:t>Redução </a:t>
                </a:r>
                <a:r>
                  <a:rPr lang="pt-BR" sz="1600" b="1" i="1" dirty="0" smtClean="0"/>
                  <a:t>Consolidada</a:t>
                </a:r>
                <a:r>
                  <a:rPr lang="pt-BR" sz="1600" b="1" dirty="0" smtClean="0"/>
                  <a:t/>
                </a:r>
                <a:br>
                  <a:rPr lang="pt-BR" sz="1600" b="1" dirty="0" smtClean="0"/>
                </a:br>
                <a:r>
                  <a:rPr lang="pt-BR" sz="1600" b="1" dirty="0" smtClean="0"/>
                  <a:t> Ago </a:t>
                </a:r>
                <a:r>
                  <a:rPr lang="pt-BR" sz="1600" b="1" dirty="0"/>
                  <a:t>/ </a:t>
                </a:r>
                <a:r>
                  <a:rPr lang="pt-BR" sz="1600" b="1" dirty="0" smtClean="0"/>
                  <a:t>Dez</a:t>
                </a:r>
                <a:endParaRPr lang="pt-BR" sz="1600" b="1" dirty="0"/>
              </a:p>
              <a:p>
                <a:pPr algn="ctr"/>
                <a:r>
                  <a:rPr lang="pt-BR" sz="1600" b="1" dirty="0" smtClean="0"/>
                  <a:t>-80,32%</a:t>
                </a:r>
                <a:endParaRPr lang="pt-BR" sz="1600" b="1" dirty="0"/>
              </a:p>
            </p:txBody>
          </p:sp>
          <p:sp>
            <p:nvSpPr>
              <p:cNvPr id="19" name="Retângulo de cantos arredondados 18"/>
              <p:cNvSpPr/>
              <p:nvPr/>
            </p:nvSpPr>
            <p:spPr>
              <a:xfrm>
                <a:off x="2138011" y="3553689"/>
                <a:ext cx="1775024" cy="1058077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/>
                  <a:t>Redução </a:t>
                </a:r>
                <a:r>
                  <a:rPr lang="pt-BR" sz="1600" b="1" i="1" dirty="0" smtClean="0"/>
                  <a:t>Projetada</a:t>
                </a:r>
                <a:r>
                  <a:rPr lang="pt-BR" sz="1600" b="1" i="1" dirty="0"/>
                  <a:t/>
                </a:r>
                <a:br>
                  <a:rPr lang="pt-BR" sz="1600" b="1" i="1" dirty="0"/>
                </a:br>
                <a:r>
                  <a:rPr lang="pt-BR" sz="1600" b="1" dirty="0"/>
                  <a:t> </a:t>
                </a:r>
                <a:r>
                  <a:rPr lang="pt-BR" sz="1600" b="1" dirty="0" err="1"/>
                  <a:t>Ago</a:t>
                </a:r>
                <a:r>
                  <a:rPr lang="pt-BR" sz="1600" b="1" dirty="0"/>
                  <a:t> / </a:t>
                </a:r>
                <a:r>
                  <a:rPr lang="pt-BR" sz="1600" b="1" dirty="0" smtClean="0"/>
                  <a:t>Jan</a:t>
                </a:r>
                <a:endParaRPr lang="pt-BR" sz="1600" b="1" dirty="0"/>
              </a:p>
              <a:p>
                <a:pPr algn="ctr"/>
                <a:r>
                  <a:rPr lang="pt-BR" sz="1600" b="1" dirty="0" smtClean="0"/>
                  <a:t>-86,35%</a:t>
                </a:r>
                <a:endParaRPr lang="pt-BR" sz="1600" b="1" dirty="0"/>
              </a:p>
            </p:txBody>
          </p:sp>
          <p:pic>
            <p:nvPicPr>
              <p:cNvPr id="17" name="Imagem 16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87919" y="2822883"/>
                <a:ext cx="247650" cy="1762125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  <p:sp>
            <p:nvSpPr>
              <p:cNvPr id="18" name="CaixaDeTexto 17"/>
              <p:cNvSpPr txBox="1"/>
              <p:nvPr/>
            </p:nvSpPr>
            <p:spPr>
              <a:xfrm>
                <a:off x="1774259" y="1885122"/>
                <a:ext cx="684782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-66,3%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CaixaDeTexto 21"/>
              <p:cNvSpPr txBox="1"/>
              <p:nvPr/>
            </p:nvSpPr>
            <p:spPr>
              <a:xfrm>
                <a:off x="6929648" y="2197306"/>
                <a:ext cx="586677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-31,4%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" name="CaixaDeTexto 2"/>
              <p:cNvSpPr txBox="1"/>
              <p:nvPr/>
            </p:nvSpPr>
            <p:spPr>
              <a:xfrm>
                <a:off x="1" y="4848225"/>
                <a:ext cx="5067299" cy="24622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000" dirty="0" smtClean="0">
                    <a:solidFill>
                      <a:schemeClr val="bg1">
                        <a:lumMod val="65000"/>
                      </a:schemeClr>
                    </a:solidFill>
                  </a:rPr>
                  <a:t>Informações retiradas dos indicadores de SLA e </a:t>
                </a:r>
                <a:r>
                  <a:rPr lang="pt-BR" sz="1000" dirty="0" err="1" smtClean="0">
                    <a:solidFill>
                      <a:schemeClr val="bg1">
                        <a:lumMod val="65000"/>
                      </a:schemeClr>
                    </a:solidFill>
                  </a:rPr>
                  <a:t>tProcess</a:t>
                </a:r>
                <a:r>
                  <a:rPr lang="pt-BR" sz="1000" dirty="0" smtClean="0">
                    <a:solidFill>
                      <a:schemeClr val="bg1">
                        <a:lumMod val="65000"/>
                      </a:schemeClr>
                    </a:solidFill>
                  </a:rPr>
                  <a:t>! referentes ao período de 01 à 19/01.</a:t>
                </a:r>
                <a:endParaRPr lang="pt-BR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2436"/>
              <a:ext cx="786452" cy="774259"/>
            </a:xfrm>
            <a:prstGeom prst="rect">
              <a:avLst/>
            </a:prstGeom>
          </p:spPr>
        </p:pic>
      </p:grpSp>
      <p:pic>
        <p:nvPicPr>
          <p:cNvPr id="26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32" name="CaixaDeTexto 31"/>
          <p:cNvSpPr txBox="1"/>
          <p:nvPr/>
        </p:nvSpPr>
        <p:spPr>
          <a:xfrm>
            <a:off x="2399521" y="228058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-29,1%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7569068" y="2260255"/>
            <a:ext cx="586677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-30,6%</a:t>
            </a:r>
            <a:endParaRPr lang="pt-BR" sz="11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572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85000"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</a:t>
              </a:r>
              <a:endPara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3" name="Gráfico 22"/>
            <p:cNvGraphicFramePr/>
            <p:nvPr>
              <p:extLst/>
            </p:nvPr>
          </p:nvGraphicFramePr>
          <p:xfrm>
            <a:off x="1133035" y="504650"/>
            <a:ext cx="5875578" cy="300079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4" name="CaixaDeTexto 23"/>
            <p:cNvSpPr txBox="1"/>
            <p:nvPr/>
          </p:nvSpPr>
          <p:spPr>
            <a:xfrm>
              <a:off x="1809525" y="1784593"/>
              <a:ext cx="703482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-4,95%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2742573" y="1794090"/>
              <a:ext cx="732185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-0,49%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8" name="CaixaDeTexto 17"/>
            <p:cNvSpPr txBox="1"/>
            <p:nvPr/>
          </p:nvSpPr>
          <p:spPr>
            <a:xfrm>
              <a:off x="3616665" y="1795670"/>
              <a:ext cx="732185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>
                  <a:solidFill>
                    <a:schemeClr val="accent2"/>
                  </a:solidFill>
                </a:rPr>
                <a:t>+</a:t>
              </a:r>
              <a:r>
                <a:rPr lang="pt-BR" sz="1200" b="1" dirty="0" smtClean="0">
                  <a:solidFill>
                    <a:schemeClr val="accent2"/>
                  </a:solidFill>
                </a:rPr>
                <a:t>4,65%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à 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19/01.</a:t>
              </a:r>
              <a:endParaRPr lang="pt-BR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32" name="CaixaDeTexto 31"/>
          <p:cNvSpPr txBox="1"/>
          <p:nvPr/>
        </p:nvSpPr>
        <p:spPr>
          <a:xfrm>
            <a:off x="4503682" y="1791080"/>
            <a:ext cx="68478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chemeClr val="accent2"/>
                </a:solidFill>
              </a:rPr>
              <a:t>-6,15%</a:t>
            </a:r>
            <a:endParaRPr lang="pt-BR" sz="1200" b="1" dirty="0">
              <a:solidFill>
                <a:schemeClr val="accent2"/>
              </a:solidFill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377774" y="1779560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+11,23%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5" name="Seta para a direita 4"/>
          <p:cNvSpPr/>
          <p:nvPr/>
        </p:nvSpPr>
        <p:spPr>
          <a:xfrm>
            <a:off x="6855812" y="2334610"/>
            <a:ext cx="309526" cy="208721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 contourW="12700">
            <a:bevelT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7099381" y="2272111"/>
            <a:ext cx="1077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50000"/>
                  </a:schemeClr>
                </a:solidFill>
              </a:rPr>
              <a:t>Valor Real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683436" y="1243957"/>
            <a:ext cx="18743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chemeClr val="bg2">
                    <a:lumMod val="50000"/>
                  </a:schemeClr>
                </a:solidFill>
              </a:rPr>
              <a:t>Projeção 31 Jan 2016 </a:t>
            </a:r>
            <a:endParaRPr lang="pt-BR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9" name="Seta para a direita 38"/>
          <p:cNvSpPr/>
          <p:nvPr/>
        </p:nvSpPr>
        <p:spPr>
          <a:xfrm>
            <a:off x="6421389" y="1315375"/>
            <a:ext cx="309526" cy="208721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 contourW="12700">
            <a:bevelT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5806505" y="1282112"/>
            <a:ext cx="710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22.007</a:t>
            </a:r>
            <a:endParaRPr lang="pt-BR" sz="1200" b="1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5745" y="3245168"/>
            <a:ext cx="4811026" cy="160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08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85000"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</a:t>
              </a:r>
              <a:endPara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à 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19/01.</a:t>
              </a:r>
              <a:endParaRPr lang="pt-BR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graphicFrame>
        <p:nvGraphicFramePr>
          <p:cNvPr id="28" name="Gráfico 27"/>
          <p:cNvGraphicFramePr>
            <a:graphicFrameLocks noGrp="1"/>
          </p:cNvGraphicFramePr>
          <p:nvPr>
            <p:extLst/>
          </p:nvPr>
        </p:nvGraphicFramePr>
        <p:xfrm>
          <a:off x="1006661" y="689728"/>
          <a:ext cx="6674299" cy="4159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7562626" y="957431"/>
            <a:ext cx="13252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06 - Inicio do processo de ajustes.</a:t>
            </a:r>
          </a:p>
          <a:p>
            <a:endParaRPr lang="pt-BR" sz="1400" dirty="0"/>
          </a:p>
          <a:p>
            <a:r>
              <a:rPr lang="pt-BR" sz="1400" dirty="0" smtClean="0"/>
              <a:t>07 e 08 - Ajuste do processo.</a:t>
            </a:r>
          </a:p>
          <a:p>
            <a:endParaRPr lang="pt-BR" sz="1400" dirty="0"/>
          </a:p>
          <a:p>
            <a:r>
              <a:rPr lang="pt-BR" sz="1400" dirty="0" smtClean="0"/>
              <a:t>18 e 19 - Desativação do PL07.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722053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85000"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</a:t>
              </a:r>
              <a:endPara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à 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19/01.</a:t>
              </a:r>
              <a:endParaRPr lang="pt-BR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graphicFrame>
        <p:nvGraphicFramePr>
          <p:cNvPr id="12" name="Gráfico 11"/>
          <p:cNvGraphicFramePr>
            <a:graphicFrameLocks noGrp="1"/>
          </p:cNvGraphicFramePr>
          <p:nvPr>
            <p:extLst/>
          </p:nvPr>
        </p:nvGraphicFramePr>
        <p:xfrm>
          <a:off x="1151068" y="620419"/>
          <a:ext cx="6852621" cy="4270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458072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85000"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</a:t>
              </a:r>
              <a:endPara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à 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19/01.</a:t>
              </a:r>
              <a:endParaRPr lang="pt-BR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graphicFrame>
        <p:nvGraphicFramePr>
          <p:cNvPr id="12" name="Gráfico 11"/>
          <p:cNvGraphicFramePr>
            <a:graphicFrameLocks noGrp="1"/>
          </p:cNvGraphicFramePr>
          <p:nvPr>
            <p:extLst/>
          </p:nvPr>
        </p:nvGraphicFramePr>
        <p:xfrm>
          <a:off x="754515" y="668641"/>
          <a:ext cx="6748551" cy="4205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311729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Estruturantes e Especiais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5744" y="4340569"/>
            <a:ext cx="690691" cy="68759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0989" y="4223568"/>
            <a:ext cx="781292" cy="79865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8664" y="4284614"/>
            <a:ext cx="798655" cy="798655"/>
          </a:xfrm>
          <a:prstGeom prst="rect">
            <a:avLst/>
          </a:prstGeom>
        </p:spPr>
      </p:pic>
      <p:sp>
        <p:nvSpPr>
          <p:cNvPr id="11" name="Elipse 10"/>
          <p:cNvSpPr/>
          <p:nvPr/>
        </p:nvSpPr>
        <p:spPr>
          <a:xfrm>
            <a:off x="1734829" y="4340569"/>
            <a:ext cx="608523" cy="608567"/>
          </a:xfrm>
          <a:prstGeom prst="ellipse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000" r="-8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Elipse 11"/>
          <p:cNvSpPr/>
          <p:nvPr/>
        </p:nvSpPr>
        <p:spPr>
          <a:xfrm>
            <a:off x="562659" y="4175497"/>
            <a:ext cx="564119" cy="717684"/>
          </a:xfrm>
          <a:prstGeom prst="ellipse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6000" r="-4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Imagem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92665" y="4218477"/>
            <a:ext cx="669613" cy="669613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7554" y="4284614"/>
            <a:ext cx="707197" cy="664522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91" y="693218"/>
            <a:ext cx="8987936" cy="32240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3543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03" y="650871"/>
            <a:ext cx="6027461" cy="45205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Agrupar 41"/>
          <p:cNvGrpSpPr/>
          <p:nvPr/>
        </p:nvGrpSpPr>
        <p:grpSpPr>
          <a:xfrm rot="20909702">
            <a:off x="4479136" y="1785458"/>
            <a:ext cx="4277275" cy="1804782"/>
            <a:chOff x="4656528" y="1965933"/>
            <a:chExt cx="4176406" cy="1737150"/>
          </a:xfrm>
        </p:grpSpPr>
        <p:grpSp>
          <p:nvGrpSpPr>
            <p:cNvPr id="43" name="Agrupar 42"/>
            <p:cNvGrpSpPr/>
            <p:nvPr/>
          </p:nvGrpSpPr>
          <p:grpSpPr>
            <a:xfrm>
              <a:off x="4656528" y="1965933"/>
              <a:ext cx="4176406" cy="1737150"/>
              <a:chOff x="-19680" y="3542711"/>
              <a:chExt cx="8928992" cy="3176829"/>
            </a:xfrm>
          </p:grpSpPr>
          <p:pic>
            <p:nvPicPr>
              <p:cNvPr id="45" name="Imagem 4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9680" y="3562773"/>
                <a:ext cx="8928992" cy="3156767"/>
              </a:xfrm>
              <a:prstGeom prst="rect">
                <a:avLst/>
              </a:prstGeom>
            </p:spPr>
          </p:pic>
          <p:sp>
            <p:nvSpPr>
              <p:cNvPr id="46" name="CaixaDeTexto 45"/>
              <p:cNvSpPr txBox="1"/>
              <p:nvPr/>
            </p:nvSpPr>
            <p:spPr>
              <a:xfrm>
                <a:off x="1043609" y="3542711"/>
                <a:ext cx="7200799" cy="786632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47" name="CaixaDeTexto 46"/>
              <p:cNvSpPr txBox="1"/>
              <p:nvPr/>
            </p:nvSpPr>
            <p:spPr>
              <a:xfrm>
                <a:off x="2152303" y="5664850"/>
                <a:ext cx="3509340" cy="786632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</p:grpSp>
        <p:pic>
          <p:nvPicPr>
            <p:cNvPr id="44" name="Picture 2" descr="http://2.bp.blogspot.com/-FA13KvVejpc/VZrjx0SSpwI/AAAAAAAAAfM/sTNY7bS_mxI/s1600/done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706" y="2118613"/>
              <a:ext cx="1514054" cy="1514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4086" y="280913"/>
            <a:ext cx="1603348" cy="291323"/>
          </a:xfrm>
          <a:prstGeom prst="rect">
            <a:avLst/>
          </a:prstGeom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518663" y="109365"/>
            <a:ext cx="6770459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2ª Fase – T2R – Objetivos</a:t>
            </a:r>
            <a:endParaRPr lang="pt-BR" sz="2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Subtítulo 2"/>
          <p:cNvSpPr txBox="1">
            <a:spLocks/>
          </p:cNvSpPr>
          <p:nvPr/>
        </p:nvSpPr>
        <p:spPr>
          <a:xfrm>
            <a:off x="74938" y="960667"/>
            <a:ext cx="5780348" cy="1107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sz="2200" dirty="0" smtClean="0">
                <a:cs typeface="Aharoni" panose="02010803020104030203" pitchFamily="2" charset="-79"/>
              </a:rPr>
              <a:t>Para consolidar a Estabilidade Operacional é preciso agora </a:t>
            </a:r>
            <a:r>
              <a:rPr lang="pt-BR" sz="2200" b="1" dirty="0" smtClean="0">
                <a:cs typeface="Aharoni" panose="02010803020104030203" pitchFamily="2" charset="-79"/>
              </a:rPr>
              <a:t>manter o ímpeto</a:t>
            </a:r>
            <a:r>
              <a:rPr lang="pt-BR" sz="2200" dirty="0" smtClean="0">
                <a:cs typeface="Aharoni" panose="02010803020104030203" pitchFamily="2" charset="-79"/>
              </a:rPr>
              <a:t> e melhorar as práticas relacionadas a </a:t>
            </a:r>
            <a:r>
              <a:rPr lang="pt-BR" sz="2200" b="1" i="1" dirty="0" smtClean="0">
                <a:cs typeface="Aharoni" panose="02010803020104030203" pitchFamily="2" charset="-79"/>
              </a:rPr>
              <a:t>Transition to Run </a:t>
            </a:r>
            <a:r>
              <a:rPr lang="pt-BR" sz="2200" b="1" dirty="0" smtClean="0">
                <a:cs typeface="Aharoni" panose="02010803020104030203" pitchFamily="2" charset="-79"/>
              </a:rPr>
              <a:t>– T2R</a:t>
            </a:r>
            <a:r>
              <a:rPr lang="pt-BR" sz="2200" dirty="0" smtClean="0">
                <a:cs typeface="Aharoni" panose="02010803020104030203" pitchFamily="2" charset="-79"/>
              </a:rPr>
              <a:t>.</a:t>
            </a:r>
            <a:endParaRPr lang="pt-BR" sz="2200" dirty="0">
              <a:cs typeface="Aharoni" panose="02010803020104030203" pitchFamily="2" charset="-79"/>
            </a:endParaRPr>
          </a:p>
        </p:txBody>
      </p:sp>
      <p:sp>
        <p:nvSpPr>
          <p:cNvPr id="48" name="Subtítulo 2"/>
          <p:cNvSpPr txBox="1">
            <a:spLocks/>
          </p:cNvSpPr>
          <p:nvPr/>
        </p:nvSpPr>
        <p:spPr>
          <a:xfrm>
            <a:off x="0" y="1954024"/>
            <a:ext cx="8907433" cy="14931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devem considerar todo o ciclo da mudança, desde 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demanda por serviços novos ou alterados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por parte das unidades de</a:t>
            </a:r>
            <a:b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</a:b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negócio </a:t>
            </a:r>
            <a:r>
              <a:rPr lang="pt-BR" sz="2000" dirty="0" smtClean="0">
                <a:solidFill>
                  <a:schemeClr val="tx1"/>
                </a:solidFill>
                <a:cs typeface="Aharoni" panose="02010803020104030203" pitchFamily="2" charset="-79"/>
              </a:rPr>
              <a:t>até as 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atualizações tecnológicas efetuadas pelas equipes de TI até </a:t>
            </a:r>
            <a:r>
              <a:rPr lang="pt-BR" sz="2000" dirty="0" smtClean="0">
                <a:solidFill>
                  <a:schemeClr val="tx1"/>
                </a:solidFill>
                <a:cs typeface="Aharoni" panose="02010803020104030203" pitchFamily="2" charset="-79"/>
              </a:rPr>
              <a:t>sua </a:t>
            </a:r>
            <a:r>
              <a:rPr lang="pt-BR" sz="2000" b="1" dirty="0" smtClean="0">
                <a:solidFill>
                  <a:schemeClr val="tx1"/>
                </a:solidFill>
                <a:cs typeface="Aharoni" panose="02010803020104030203" pitchFamily="2" charset="-79"/>
              </a:rPr>
              <a:t>estabilização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em ambiente de produção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pic>
        <p:nvPicPr>
          <p:cNvPr id="49" name="Imagem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332" y="3380497"/>
            <a:ext cx="8303012" cy="1758695"/>
          </a:xfrm>
          <a:prstGeom prst="rect">
            <a:avLst/>
          </a:prstGeom>
        </p:spPr>
      </p:pic>
      <p:grpSp>
        <p:nvGrpSpPr>
          <p:cNvPr id="27" name="Agrupar 26"/>
          <p:cNvGrpSpPr/>
          <p:nvPr/>
        </p:nvGrpSpPr>
        <p:grpSpPr>
          <a:xfrm>
            <a:off x="8302427" y="2320565"/>
            <a:ext cx="841573" cy="2827698"/>
            <a:chOff x="8188658" y="2674201"/>
            <a:chExt cx="955343" cy="2474063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5454" y="2674201"/>
              <a:ext cx="268546" cy="191080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814624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086" y="280913"/>
            <a:ext cx="1603348" cy="291323"/>
          </a:xfrm>
          <a:prstGeom prst="rect">
            <a:avLst/>
          </a:prstGeom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518663" y="109365"/>
            <a:ext cx="6770459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2ª Fase – T2R – Ações</a:t>
            </a:r>
            <a:endParaRPr lang="pt-BR" sz="2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7" name="Agrupar 26"/>
          <p:cNvGrpSpPr/>
          <p:nvPr/>
        </p:nvGrpSpPr>
        <p:grpSpPr>
          <a:xfrm>
            <a:off x="8302427" y="2320565"/>
            <a:ext cx="841573" cy="2827698"/>
            <a:chOff x="8188658" y="2674201"/>
            <a:chExt cx="955343" cy="2474063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5454" y="2674201"/>
              <a:ext cx="268546" cy="191080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17" name="Subtítulo 2"/>
          <p:cNvSpPr txBox="1">
            <a:spLocks/>
          </p:cNvSpPr>
          <p:nvPr/>
        </p:nvSpPr>
        <p:spPr>
          <a:xfrm>
            <a:off x="82659" y="861620"/>
            <a:ext cx="8611722" cy="30345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As ações para consolidar a melhoria da estabilidade operacional são as seguintes: </a:t>
            </a:r>
          </a:p>
          <a:p>
            <a:pPr marL="0" indent="0">
              <a:buNone/>
            </a:pPr>
            <a:endParaRPr lang="pt-BR" sz="2000" dirty="0" smtClean="0"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0. </a:t>
            </a:r>
            <a:r>
              <a:rPr lang="pt-BR" sz="2000" b="1" dirty="0" smtClean="0">
                <a:cs typeface="Aharoni" panose="02010803020104030203" pitchFamily="2" charset="-79"/>
              </a:rPr>
              <a:t>Manter o ímpeto</a:t>
            </a:r>
            <a:r>
              <a:rPr lang="pt-BR" sz="2000" dirty="0" smtClean="0">
                <a:cs typeface="Aharoni" panose="02010803020104030203" pitchFamily="2" charset="-79"/>
              </a:rPr>
              <a:t> das conquistas da Gestão de Problemas e Incidentes;</a:t>
            </a: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1. Identificar e documentar </a:t>
            </a:r>
            <a:r>
              <a:rPr lang="pt-BR" sz="2000" b="1" dirty="0" smtClean="0">
                <a:cs typeface="Aharoni" panose="02010803020104030203" pitchFamily="2" charset="-79"/>
              </a:rPr>
              <a:t>Canais e Serviços de TI</a:t>
            </a:r>
            <a:r>
              <a:rPr lang="pt-BR" sz="2000" dirty="0" smtClean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2. Identificar os </a:t>
            </a:r>
            <a:r>
              <a:rPr lang="pt-BR" sz="2000" b="1" dirty="0" smtClean="0">
                <a:cs typeface="Aharoni" panose="02010803020104030203" pitchFamily="2" charset="-79"/>
              </a:rPr>
              <a:t>Ativos dos Serviços</a:t>
            </a:r>
            <a:r>
              <a:rPr lang="pt-BR" sz="2000" dirty="0" smtClean="0">
                <a:cs typeface="Aharoni" panose="02010803020104030203" pitchFamily="2" charset="-79"/>
              </a:rPr>
              <a:t> e sua </a:t>
            </a:r>
            <a:r>
              <a:rPr lang="pt-BR" sz="2000" b="1" dirty="0" smtClean="0">
                <a:cs typeface="Aharoni" panose="02010803020104030203" pitchFamily="2" charset="-79"/>
              </a:rPr>
              <a:t>Configuração;</a:t>
            </a:r>
          </a:p>
          <a:p>
            <a:pPr marL="0" indent="0" algn="r">
              <a:buNone/>
            </a:pPr>
            <a:endParaRPr lang="pt-BR" sz="2000" b="1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endParaRPr lang="pt-BR" sz="2000" b="1" dirty="0" smtClean="0">
              <a:cs typeface="Aharoni" panose="02010803020104030203" pitchFamily="2" charset="-79"/>
            </a:endParaRPr>
          </a:p>
          <a:p>
            <a:pPr marL="0" indent="0" algn="r">
              <a:buNone/>
            </a:pPr>
            <a:endParaRPr lang="pt-BR" sz="2000" dirty="0" smtClean="0"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3. Revisar e melhorar o processo e os </a:t>
            </a:r>
            <a:r>
              <a:rPr lang="pt-BR" sz="2000" b="1" dirty="0" smtClean="0">
                <a:cs typeface="Aharoni" panose="02010803020104030203" pitchFamily="2" charset="-79"/>
              </a:rPr>
              <a:t>ritos de Gestão de Mudanças</a:t>
            </a:r>
            <a:r>
              <a:rPr lang="pt-BR" sz="2000" dirty="0" smtClean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4. Vincular Gestão de </a:t>
            </a:r>
            <a:r>
              <a:rPr lang="pt-BR" sz="2000" b="1" dirty="0" smtClean="0">
                <a:cs typeface="Aharoni" panose="02010803020104030203" pitchFamily="2" charset="-79"/>
              </a:rPr>
              <a:t>Demandas, Projetos e Mudanças</a:t>
            </a:r>
            <a:r>
              <a:rPr lang="pt-BR" sz="2000" dirty="0" smtClean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 smtClean="0">
                <a:cs typeface="Aharoni" panose="02010803020104030203" pitchFamily="2" charset="-79"/>
              </a:rPr>
              <a:t>5. Aumentar o </a:t>
            </a:r>
            <a:r>
              <a:rPr lang="pt-BR" sz="2000" b="1" dirty="0" smtClean="0">
                <a:cs typeface="Aharoni" panose="02010803020104030203" pitchFamily="2" charset="-79"/>
              </a:rPr>
              <a:t>compromisso com a qualidade </a:t>
            </a:r>
            <a:r>
              <a:rPr lang="pt-BR" sz="2000" dirty="0" smtClean="0">
                <a:cs typeface="Aharoni" panose="02010803020104030203" pitchFamily="2" charset="-79"/>
              </a:rPr>
              <a:t>nas implantações e Mudanças.</a:t>
            </a:r>
          </a:p>
          <a:p>
            <a:pPr marL="0" indent="0" algn="r">
              <a:buNone/>
            </a:pPr>
            <a:endParaRPr lang="pt-BR" sz="2000" dirty="0">
              <a:cs typeface="Aharoni" panose="02010803020104030203" pitchFamily="2" charset="-79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8523" y="2837957"/>
            <a:ext cx="4692724" cy="91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17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10855</TotalTime>
  <Words>445</Words>
  <Application>Microsoft Office PowerPoint</Application>
  <PresentationFormat>Personalizar</PresentationFormat>
  <Paragraphs>98</Paragraphs>
  <Slides>11</Slides>
  <Notes>8</Notes>
  <HiddenSlides>2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1" baseType="lpstr">
      <vt:lpstr>Aharoni</vt:lpstr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818</cp:revision>
  <dcterms:created xsi:type="dcterms:W3CDTF">2015-08-20T14:57:26Z</dcterms:created>
  <dcterms:modified xsi:type="dcterms:W3CDTF">2016-01-20T17:35:30Z</dcterms:modified>
</cp:coreProperties>
</file>