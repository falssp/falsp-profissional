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heme/themeOverride1.xml" ContentType="application/vnd.openxmlformats-officedocument.themeOverride+xml"/>
  <Override PartName="/ppt/charts/chart9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9"/>
  </p:notesMasterIdLst>
  <p:sldIdLst>
    <p:sldId id="262" r:id="rId5"/>
    <p:sldId id="265" r:id="rId6"/>
    <p:sldId id="426" r:id="rId7"/>
    <p:sldId id="427" r:id="rId8"/>
    <p:sldId id="428" r:id="rId9"/>
    <p:sldId id="429" r:id="rId10"/>
    <p:sldId id="431" r:id="rId11"/>
    <p:sldId id="432" r:id="rId12"/>
    <p:sldId id="433" r:id="rId13"/>
    <p:sldId id="430" r:id="rId14"/>
    <p:sldId id="401" r:id="rId15"/>
    <p:sldId id="411" r:id="rId16"/>
    <p:sldId id="424" r:id="rId17"/>
    <p:sldId id="425" r:id="rId18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1785" autoAdjust="0"/>
  </p:normalViewPr>
  <p:slideViewPr>
    <p:cSldViewPr snapToGrid="0" snapToObjects="1">
      <p:cViewPr varScale="1">
        <p:scale>
          <a:sx n="88" d="100"/>
          <a:sy n="88" d="100"/>
        </p:scale>
        <p:origin x="876" y="78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Nov%20x%20Jan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Nov%20x%20Jan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Nov%20x%20Jan.xlsm" TargetMode="Externa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csc\10.%20Medi&#231;&#227;o%20e%20An&#225;lise\03.%20Relat&#243;rios\27.%20Apresentacoes%20diversas\Por%20Responsabilidade%20pela%20Solucao\Relat&#243;rio%20SLA%20Di&#225;rio%20-%2001%20&#224;%2028%20de%20Janeiro.xlsb" TargetMode="External"/><Relationship Id="rId1" Type="http://schemas.openxmlformats.org/officeDocument/2006/relationships/themeOverride" Target="../theme/themeOverride1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csc\10.%20Medi&#231;&#227;o%20e%20An&#225;lise\03.%20Relat&#243;rios\27.%20Apresentacoes%20diversas\Por%20Responsabilidade%20pela%20Solucao\Relat&#243;rio%20SLA%20Di&#225;rio%20-%2001%20&#224;%2028%20de%20Janeiro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42-4057-BDFD-D4272EDC6324}"/>
                </c:ext>
              </c:extLst>
            </c:dLbl>
            <c:dLbl>
              <c:idx val="1"/>
              <c:layout>
                <c:manualLayout>
                  <c:x val="0"/>
                  <c:y val="-0.266535921620845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42-4057-BDFD-D4272EDC6324}"/>
                </c:ext>
              </c:extLst>
            </c:dLbl>
            <c:dLbl>
              <c:idx val="2"/>
              <c:layout>
                <c:manualLayout>
                  <c:x val="2.9700515900300357E-3"/>
                  <c:y val="-0.243852013397794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42-4057-BDFD-D4272EDC6324}"/>
                </c:ext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5.9401031800599621E-3"/>
                  <c:y val="-7.372270172491474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42-4057-BDFD-D4272EDC63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Set</c:v>
                </c:pt>
                <c:pt idx="2">
                  <c:v>Out</c:v>
                </c:pt>
                <c:pt idx="3">
                  <c:v>Nov</c:v>
                </c:pt>
                <c:pt idx="4">
                  <c:v>Dez</c:v>
                </c:pt>
                <c:pt idx="5">
                  <c:v>Jan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1494</c:v>
                </c:pt>
                <c:pt idx="1">
                  <c:v>1402</c:v>
                </c:pt>
                <c:pt idx="2">
                  <c:v>1234</c:v>
                </c:pt>
                <c:pt idx="3" formatCode="General">
                  <c:v>415</c:v>
                </c:pt>
                <c:pt idx="4" formatCode="General">
                  <c:v>294</c:v>
                </c:pt>
                <c:pt idx="5" formatCode="General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83717576"/>
        <c:axId val="83718360"/>
      </c:barChart>
      <c:catAx>
        <c:axId val="83717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718360"/>
        <c:crosses val="autoZero"/>
        <c:auto val="1"/>
        <c:lblAlgn val="ctr"/>
        <c:lblOffset val="100"/>
        <c:noMultiLvlLbl val="0"/>
      </c:catAx>
      <c:valAx>
        <c:axId val="8371836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837175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336-4DE1-AAF2-45A9A199F5C6}"/>
                </c:ext>
              </c:extLst>
            </c:dLbl>
            <c:dLbl>
              <c:idx val="1"/>
              <c:layout>
                <c:manualLayout>
                  <c:x val="2.9880988961915622E-3"/>
                  <c:y val="-0.307215533333422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36-4DE1-AAF2-45A9A199F5C6}"/>
                </c:ext>
              </c:extLst>
            </c:dLbl>
            <c:dLbl>
              <c:idx val="2"/>
              <c:layout>
                <c:manualLayout>
                  <c:x val="0"/>
                  <c:y val="-0.256012944444519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336-4DE1-AAF2-45A9A199F5C6}"/>
                </c:ext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2E-40EC-BB07-F4FF4F71836A}"/>
                </c:ext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2E-40EC-BB07-F4FF4F71836A}"/>
                </c:ext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DE1-AAF2-45A9A199F5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Set</c:v>
                </c:pt>
                <c:pt idx="2">
                  <c:v>Out</c:v>
                </c:pt>
                <c:pt idx="3">
                  <c:v>Nov</c:v>
                </c:pt>
                <c:pt idx="4">
                  <c:v>Dez</c:v>
                </c:pt>
                <c:pt idx="5">
                  <c:v>Jan</c:v>
                </c:pt>
              </c:strCache>
            </c:strRef>
          </c:cat>
          <c:val>
            <c:numRef>
              <c:f>Plan1!$B$2:$B$7</c:f>
              <c:numCache>
                <c:formatCode>#,##0.00</c:formatCode>
                <c:ptCount val="6"/>
                <c:pt idx="0">
                  <c:v>48.19</c:v>
                </c:pt>
                <c:pt idx="1">
                  <c:v>46.73</c:v>
                </c:pt>
                <c:pt idx="2">
                  <c:v>39.799999999999997</c:v>
                </c:pt>
                <c:pt idx="3">
                  <c:v>13.84</c:v>
                </c:pt>
                <c:pt idx="4" formatCode="General">
                  <c:v>9.48</c:v>
                </c:pt>
                <c:pt idx="5" formatCode="0.00">
                  <c:v>7.11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83719144"/>
        <c:axId val="83719536"/>
      </c:barChart>
      <c:catAx>
        <c:axId val="83719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719536"/>
        <c:crosses val="autoZero"/>
        <c:auto val="1"/>
        <c:lblAlgn val="ctr"/>
        <c:lblOffset val="100"/>
        <c:noMultiLvlLbl val="0"/>
      </c:catAx>
      <c:valAx>
        <c:axId val="83719536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837191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</a:t>
            </a:r>
            <a:r>
              <a:rPr lang="en-US" sz="1500" b="1" dirty="0" smtClean="0"/>
              <a:t>Problemas</a:t>
            </a:r>
          </a:p>
          <a:p>
            <a:pPr>
              <a:defRPr sz="1600" b="1"/>
            </a:pPr>
            <a:r>
              <a:rPr lang="en-US" sz="1200" b="1" dirty="0" smtClean="0"/>
              <a:t>Total 30</a:t>
            </a:r>
            <a:endParaRPr lang="en-US" sz="1200" b="1" dirty="0"/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7523974564955888"/>
          <c:y val="0.29664687735193479"/>
          <c:w val="0.35111029917702913"/>
          <c:h val="0.58968743462673223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Coluna1</c:v>
                </c:pt>
              </c:strCache>
            </c:strRef>
          </c:tx>
          <c:spPr>
            <a:scene3d>
              <a:camera prst="orthographicFront"/>
              <a:lightRig rig="balanced" dir="t">
                <a:rot lat="0" lon="0" rev="0"/>
              </a:lightRig>
            </a:scene3d>
            <a:sp3d prstMaterial="softEdge">
              <a:bevelT w="165100" prst="coolSlant"/>
            </a:sp3d>
          </c:spPr>
          <c:explosion val="1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4C87-4E75-B6BC-1613E3B446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0-4E6D-4022-8EBF-F734882408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4C87-4E75-B6BC-1613E3B4466B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7-4C87-4E75-B6BC-1613E3B4466B}"/>
              </c:ext>
            </c:extLst>
          </c:dPt>
          <c:dLbls>
            <c:dLbl>
              <c:idx val="0"/>
              <c:layout>
                <c:manualLayout>
                  <c:x val="-3.7038988393764995E-2"/>
                  <c:y val="0.122902464887792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87-4E75-B6BC-1613E3B4466B}"/>
                </c:ext>
              </c:extLst>
            </c:dLbl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Plan1!$A$2:$A$5</c:f>
              <c:strCache>
                <c:ptCount val="4"/>
                <c:pt idx="0">
                  <c:v>Backlog</c:v>
                </c:pt>
                <c:pt idx="1">
                  <c:v>Investigação</c:v>
                </c:pt>
                <c:pt idx="2">
                  <c:v>Diagnosticado</c:v>
                </c:pt>
                <c:pt idx="3">
                  <c:v>Finalizado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2</c:v>
                </c:pt>
                <c:pt idx="1">
                  <c:v>8</c:v>
                </c:pt>
                <c:pt idx="2">
                  <c:v>2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6D-4022-8EBF-F7348824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343-4B87-A407-FBF943380C67}"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43-4B87-A407-FBF943380C67}"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343-4B87-A407-FBF943380C67}"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4.5547859291460348E-3"/>
                  <c:y val="-0.258163511499630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7.5384243048088051E-2"/>
                  <c:y val="3.19385682179903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43-4B87-A407-FBF943380C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  <c:pt idx="5">
                  <c:v>Janeiro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24272</c:v>
                </c:pt>
                <c:pt idx="1">
                  <c:v>23069</c:v>
                </c:pt>
                <c:pt idx="2">
                  <c:v>22960</c:v>
                </c:pt>
                <c:pt idx="3">
                  <c:v>24028</c:v>
                </c:pt>
                <c:pt idx="4">
                  <c:v>19386</c:v>
                </c:pt>
                <c:pt idx="5">
                  <c:v>19312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Colunas1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0650"/>
            </a:sp3d>
          </c:spPr>
          <c:invertIfNegative val="0"/>
          <c:dPt>
            <c:idx val="5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20650"/>
              </a:sp3d>
            </c:spPr>
            <c:extLst>
              <c:ext xmlns:c16="http://schemas.microsoft.com/office/drawing/2014/chart" uri="{C3380CC4-5D6E-409C-BE32-E72D297353CC}">
                <c16:uniqueId val="{0000000A-B343-4B87-A407-FBF943380C67}"/>
              </c:ext>
            </c:extLst>
          </c:dPt>
          <c:dLbls>
            <c:dLbl>
              <c:idx val="5"/>
              <c:layout>
                <c:manualLayout>
                  <c:x val="7.1329152638259424E-2"/>
                  <c:y val="-3.206486820812638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343-4B87-A407-FBF943380C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  <c:pt idx="5">
                  <c:v>Janeiro</c:v>
                </c:pt>
              </c:strCache>
            </c:strRef>
          </c:cat>
          <c:val>
            <c:numRef>
              <c:f>Plan1!$C$2:$C$7</c:f>
              <c:numCache>
                <c:formatCode>General</c:formatCode>
                <c:ptCount val="6"/>
                <c:pt idx="5" formatCode="#,##0">
                  <c:v>2861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343-4B87-A407-FBF943380C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32853000"/>
        <c:axId val="132854568"/>
      </c:barChart>
      <c:catAx>
        <c:axId val="132853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2854568"/>
        <c:crosses val="autoZero"/>
        <c:auto val="1"/>
        <c:lblAlgn val="ctr"/>
        <c:lblOffset val="100"/>
        <c:noMultiLvlLbl val="0"/>
      </c:catAx>
      <c:valAx>
        <c:axId val="13285456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328530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35-4413-BBA2-B9360AD9426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35-4413-BBA2-B9360AD9426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35-4413-BBA2-B9360AD9426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35-4413-BBA2-B9360AD9426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'Dados - Gráficos'!$C$4:$AG$4</c:f>
              <c:numCache>
                <c:formatCode>General</c:formatCode>
                <c:ptCount val="31"/>
                <c:pt idx="0">
                  <c:v>2</c:v>
                </c:pt>
                <c:pt idx="1">
                  <c:v>7</c:v>
                </c:pt>
                <c:pt idx="2">
                  <c:v>0</c:v>
                </c:pt>
                <c:pt idx="3">
                  <c:v>12</c:v>
                </c:pt>
                <c:pt idx="4">
                  <c:v>6</c:v>
                </c:pt>
                <c:pt idx="5">
                  <c:v>6</c:v>
                </c:pt>
                <c:pt idx="6">
                  <c:v>16</c:v>
                </c:pt>
                <c:pt idx="7">
                  <c:v>13</c:v>
                </c:pt>
                <c:pt idx="8">
                  <c:v>3</c:v>
                </c:pt>
                <c:pt idx="9">
                  <c:v>0</c:v>
                </c:pt>
                <c:pt idx="10">
                  <c:v>9</c:v>
                </c:pt>
                <c:pt idx="11">
                  <c:v>7</c:v>
                </c:pt>
                <c:pt idx="12">
                  <c:v>8</c:v>
                </c:pt>
                <c:pt idx="13">
                  <c:v>3</c:v>
                </c:pt>
                <c:pt idx="14">
                  <c:v>5</c:v>
                </c:pt>
                <c:pt idx="15">
                  <c:v>4</c:v>
                </c:pt>
                <c:pt idx="16">
                  <c:v>2</c:v>
                </c:pt>
                <c:pt idx="17">
                  <c:v>10</c:v>
                </c:pt>
                <c:pt idx="18">
                  <c:v>8</c:v>
                </c:pt>
                <c:pt idx="19">
                  <c:v>8</c:v>
                </c:pt>
                <c:pt idx="20">
                  <c:v>14</c:v>
                </c:pt>
                <c:pt idx="21">
                  <c:v>8</c:v>
                </c:pt>
                <c:pt idx="22">
                  <c:v>5</c:v>
                </c:pt>
                <c:pt idx="23">
                  <c:v>2</c:v>
                </c:pt>
                <c:pt idx="24">
                  <c:v>12</c:v>
                </c:pt>
                <c:pt idx="25">
                  <c:v>10</c:v>
                </c:pt>
                <c:pt idx="26">
                  <c:v>12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35-4413-BBA2-B9360AD94269}"/>
            </c:ext>
          </c:extLst>
        </c:ser>
        <c:ser>
          <c:idx val="0"/>
          <c:order val="1"/>
          <c:tx>
            <c:v>Meta 9,48</c:v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'Dados - Gráficos'!$C$10:$AG$10</c:f>
              <c:numCache>
                <c:formatCode>General</c:formatCode>
                <c:ptCount val="31"/>
                <c:pt idx="0">
                  <c:v>9.48</c:v>
                </c:pt>
                <c:pt idx="1">
                  <c:v>9.48</c:v>
                </c:pt>
                <c:pt idx="2">
                  <c:v>9.48</c:v>
                </c:pt>
                <c:pt idx="3">
                  <c:v>9.48</c:v>
                </c:pt>
                <c:pt idx="4">
                  <c:v>9.48</c:v>
                </c:pt>
                <c:pt idx="5">
                  <c:v>9.48</c:v>
                </c:pt>
                <c:pt idx="6">
                  <c:v>9.48</c:v>
                </c:pt>
                <c:pt idx="7">
                  <c:v>9.48</c:v>
                </c:pt>
                <c:pt idx="8">
                  <c:v>9.48</c:v>
                </c:pt>
                <c:pt idx="9">
                  <c:v>9.48</c:v>
                </c:pt>
                <c:pt idx="10">
                  <c:v>9.48</c:v>
                </c:pt>
                <c:pt idx="11">
                  <c:v>9.48</c:v>
                </c:pt>
                <c:pt idx="12">
                  <c:v>9.48</c:v>
                </c:pt>
                <c:pt idx="13">
                  <c:v>9.48</c:v>
                </c:pt>
                <c:pt idx="14">
                  <c:v>9.48</c:v>
                </c:pt>
                <c:pt idx="15">
                  <c:v>9.48</c:v>
                </c:pt>
                <c:pt idx="16">
                  <c:v>9.48</c:v>
                </c:pt>
                <c:pt idx="17">
                  <c:v>9.48</c:v>
                </c:pt>
                <c:pt idx="18">
                  <c:v>9.48</c:v>
                </c:pt>
                <c:pt idx="19">
                  <c:v>9.48</c:v>
                </c:pt>
                <c:pt idx="20">
                  <c:v>9.48</c:v>
                </c:pt>
                <c:pt idx="21">
                  <c:v>9.48</c:v>
                </c:pt>
                <c:pt idx="22">
                  <c:v>9.48</c:v>
                </c:pt>
                <c:pt idx="23">
                  <c:v>9.48</c:v>
                </c:pt>
                <c:pt idx="24">
                  <c:v>9.48</c:v>
                </c:pt>
                <c:pt idx="25">
                  <c:v>9.48</c:v>
                </c:pt>
                <c:pt idx="26">
                  <c:v>9.48</c:v>
                </c:pt>
                <c:pt idx="27">
                  <c:v>9.48</c:v>
                </c:pt>
                <c:pt idx="28">
                  <c:v>9.48</c:v>
                </c:pt>
                <c:pt idx="29">
                  <c:v>9.48</c:v>
                </c:pt>
                <c:pt idx="30">
                  <c:v>9.48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435-4413-BBA2-B9360AD942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82986808"/>
        <c:axId val="283487880"/>
      </c:barChart>
      <c:catAx>
        <c:axId val="82986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3487880"/>
        <c:crosses val="autoZero"/>
        <c:auto val="1"/>
        <c:lblAlgn val="ctr"/>
        <c:lblOffset val="100"/>
        <c:noMultiLvlLbl val="0"/>
      </c:catAx>
      <c:valAx>
        <c:axId val="2834878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2986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85-476C-BCDC-A8D60E53EDAE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85-476C-BCDC-A8D60E53EDAE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85-476C-BCDC-A8D60E53EDAE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85-476C-BCDC-A8D60E53EDAE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'Dados - Gráficos'!$C$5:$AG$5</c:f>
              <c:numCache>
                <c:formatCode>General</c:formatCode>
                <c:ptCount val="31"/>
                <c:pt idx="0">
                  <c:v>27</c:v>
                </c:pt>
                <c:pt idx="1">
                  <c:v>69</c:v>
                </c:pt>
                <c:pt idx="2">
                  <c:v>38</c:v>
                </c:pt>
                <c:pt idx="3">
                  <c:v>727</c:v>
                </c:pt>
                <c:pt idx="4">
                  <c:v>626</c:v>
                </c:pt>
                <c:pt idx="5">
                  <c:v>640</c:v>
                </c:pt>
                <c:pt idx="6">
                  <c:v>530</c:v>
                </c:pt>
                <c:pt idx="7">
                  <c:v>524</c:v>
                </c:pt>
                <c:pt idx="8">
                  <c:v>140</c:v>
                </c:pt>
                <c:pt idx="9">
                  <c:v>67</c:v>
                </c:pt>
                <c:pt idx="10">
                  <c:v>610</c:v>
                </c:pt>
                <c:pt idx="11">
                  <c:v>531</c:v>
                </c:pt>
                <c:pt idx="12">
                  <c:v>537</c:v>
                </c:pt>
                <c:pt idx="13">
                  <c:v>515</c:v>
                </c:pt>
                <c:pt idx="14">
                  <c:v>482</c:v>
                </c:pt>
                <c:pt idx="15">
                  <c:v>155</c:v>
                </c:pt>
                <c:pt idx="16">
                  <c:v>32</c:v>
                </c:pt>
                <c:pt idx="17">
                  <c:v>727</c:v>
                </c:pt>
                <c:pt idx="18">
                  <c:v>552</c:v>
                </c:pt>
                <c:pt idx="19">
                  <c:v>574</c:v>
                </c:pt>
                <c:pt idx="20">
                  <c:v>590</c:v>
                </c:pt>
                <c:pt idx="21">
                  <c:v>539</c:v>
                </c:pt>
                <c:pt idx="22">
                  <c:v>156</c:v>
                </c:pt>
                <c:pt idx="23">
                  <c:v>61</c:v>
                </c:pt>
                <c:pt idx="24">
                  <c:v>568</c:v>
                </c:pt>
                <c:pt idx="25">
                  <c:v>776</c:v>
                </c:pt>
                <c:pt idx="26">
                  <c:v>503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85-476C-BCDC-A8D60E53EDAE}"/>
            </c:ext>
          </c:extLst>
        </c:ser>
        <c:ser>
          <c:idx val="0"/>
          <c:order val="1"/>
          <c:tx>
            <c:v>Meta 363,68</c:v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'Dados - Gráficos'!$C$11:$AG$11</c:f>
              <c:numCache>
                <c:formatCode>General</c:formatCode>
                <c:ptCount val="31"/>
                <c:pt idx="0">
                  <c:v>363.68</c:v>
                </c:pt>
                <c:pt idx="1">
                  <c:v>363.68</c:v>
                </c:pt>
                <c:pt idx="2">
                  <c:v>363.68</c:v>
                </c:pt>
                <c:pt idx="3">
                  <c:v>363.68</c:v>
                </c:pt>
                <c:pt idx="4">
                  <c:v>363.68</c:v>
                </c:pt>
                <c:pt idx="5">
                  <c:v>363.68</c:v>
                </c:pt>
                <c:pt idx="6">
                  <c:v>363.68</c:v>
                </c:pt>
                <c:pt idx="7">
                  <c:v>363.68</c:v>
                </c:pt>
                <c:pt idx="8">
                  <c:v>363.68</c:v>
                </c:pt>
                <c:pt idx="9">
                  <c:v>363.68</c:v>
                </c:pt>
                <c:pt idx="10">
                  <c:v>363.68</c:v>
                </c:pt>
                <c:pt idx="11">
                  <c:v>363.68</c:v>
                </c:pt>
                <c:pt idx="12">
                  <c:v>363.68</c:v>
                </c:pt>
                <c:pt idx="13">
                  <c:v>363.68</c:v>
                </c:pt>
                <c:pt idx="14">
                  <c:v>363.68</c:v>
                </c:pt>
                <c:pt idx="15">
                  <c:v>363.68</c:v>
                </c:pt>
                <c:pt idx="16">
                  <c:v>363.68</c:v>
                </c:pt>
                <c:pt idx="17">
                  <c:v>363.68</c:v>
                </c:pt>
                <c:pt idx="18">
                  <c:v>363.68</c:v>
                </c:pt>
                <c:pt idx="19">
                  <c:v>363.68</c:v>
                </c:pt>
                <c:pt idx="20">
                  <c:v>363.68</c:v>
                </c:pt>
                <c:pt idx="21">
                  <c:v>363.68</c:v>
                </c:pt>
                <c:pt idx="22">
                  <c:v>363.68</c:v>
                </c:pt>
                <c:pt idx="23">
                  <c:v>363.68</c:v>
                </c:pt>
                <c:pt idx="24">
                  <c:v>363.68</c:v>
                </c:pt>
                <c:pt idx="25">
                  <c:v>363.68</c:v>
                </c:pt>
                <c:pt idx="26">
                  <c:v>363.68</c:v>
                </c:pt>
                <c:pt idx="27">
                  <c:v>363.68</c:v>
                </c:pt>
                <c:pt idx="28">
                  <c:v>363.68</c:v>
                </c:pt>
                <c:pt idx="29">
                  <c:v>363.68</c:v>
                </c:pt>
                <c:pt idx="30">
                  <c:v>363.68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85-476C-BCDC-A8D60E53E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82982936"/>
        <c:axId val="284028288"/>
      </c:barChart>
      <c:catAx>
        <c:axId val="82982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4028288"/>
        <c:crosses val="autoZero"/>
        <c:auto val="1"/>
        <c:lblAlgn val="ctr"/>
        <c:lblOffset val="100"/>
        <c:noMultiLvlLbl val="0"/>
      </c:catAx>
      <c:valAx>
        <c:axId val="284028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2982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A8-4B49-873E-D3EA995F0A4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A8-4B49-873E-D3EA995F0A4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9A8-4B49-873E-D3EA995F0A4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A8-4B49-873E-D3EA995F0A4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'Dados - Gráficos'!$C$6:$AG$6</c:f>
              <c:numCache>
                <c:formatCode>General</c:formatCode>
                <c:ptCount val="31"/>
                <c:pt idx="0">
                  <c:v>30</c:v>
                </c:pt>
                <c:pt idx="1">
                  <c:v>61</c:v>
                </c:pt>
                <c:pt idx="2">
                  <c:v>45</c:v>
                </c:pt>
                <c:pt idx="3">
                  <c:v>621</c:v>
                </c:pt>
                <c:pt idx="4">
                  <c:v>640</c:v>
                </c:pt>
                <c:pt idx="5">
                  <c:v>484</c:v>
                </c:pt>
                <c:pt idx="6">
                  <c:v>469</c:v>
                </c:pt>
                <c:pt idx="7">
                  <c:v>416</c:v>
                </c:pt>
                <c:pt idx="8">
                  <c:v>101</c:v>
                </c:pt>
                <c:pt idx="9">
                  <c:v>36</c:v>
                </c:pt>
                <c:pt idx="10">
                  <c:v>420</c:v>
                </c:pt>
                <c:pt idx="11">
                  <c:v>424</c:v>
                </c:pt>
                <c:pt idx="12">
                  <c:v>422</c:v>
                </c:pt>
                <c:pt idx="13">
                  <c:v>354</c:v>
                </c:pt>
                <c:pt idx="14">
                  <c:v>265</c:v>
                </c:pt>
                <c:pt idx="15">
                  <c:v>89</c:v>
                </c:pt>
                <c:pt idx="16">
                  <c:v>37</c:v>
                </c:pt>
                <c:pt idx="17">
                  <c:v>417</c:v>
                </c:pt>
                <c:pt idx="18">
                  <c:v>311</c:v>
                </c:pt>
                <c:pt idx="19">
                  <c:v>314</c:v>
                </c:pt>
                <c:pt idx="20">
                  <c:v>320</c:v>
                </c:pt>
                <c:pt idx="21">
                  <c:v>304</c:v>
                </c:pt>
                <c:pt idx="22">
                  <c:v>106</c:v>
                </c:pt>
                <c:pt idx="23">
                  <c:v>31</c:v>
                </c:pt>
                <c:pt idx="24">
                  <c:v>367</c:v>
                </c:pt>
                <c:pt idx="25">
                  <c:v>382</c:v>
                </c:pt>
                <c:pt idx="26">
                  <c:v>358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A8-4B49-873E-D3EA995F0A47}"/>
            </c:ext>
          </c:extLst>
        </c:ser>
        <c:ser>
          <c:idx val="0"/>
          <c:order val="1"/>
          <c:tx>
            <c:v>Meta 252,19</c:v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'Dados - Gráficos'!$C$12:$AG$12</c:f>
              <c:numCache>
                <c:formatCode>General</c:formatCode>
                <c:ptCount val="31"/>
                <c:pt idx="0">
                  <c:v>252.19</c:v>
                </c:pt>
                <c:pt idx="1">
                  <c:v>252.19</c:v>
                </c:pt>
                <c:pt idx="2">
                  <c:v>252.19</c:v>
                </c:pt>
                <c:pt idx="3">
                  <c:v>252.19</c:v>
                </c:pt>
                <c:pt idx="4">
                  <c:v>252.19</c:v>
                </c:pt>
                <c:pt idx="5">
                  <c:v>252.19</c:v>
                </c:pt>
                <c:pt idx="6">
                  <c:v>252.19</c:v>
                </c:pt>
                <c:pt idx="7">
                  <c:v>252.19</c:v>
                </c:pt>
                <c:pt idx="8">
                  <c:v>252.19</c:v>
                </c:pt>
                <c:pt idx="9">
                  <c:v>252.19</c:v>
                </c:pt>
                <c:pt idx="10">
                  <c:v>252.19</c:v>
                </c:pt>
                <c:pt idx="11">
                  <c:v>252.19</c:v>
                </c:pt>
                <c:pt idx="12">
                  <c:v>252.19</c:v>
                </c:pt>
                <c:pt idx="13">
                  <c:v>252.19</c:v>
                </c:pt>
                <c:pt idx="14">
                  <c:v>252.19</c:v>
                </c:pt>
                <c:pt idx="15">
                  <c:v>252.19</c:v>
                </c:pt>
                <c:pt idx="16">
                  <c:v>252.19</c:v>
                </c:pt>
                <c:pt idx="17">
                  <c:v>252.19</c:v>
                </c:pt>
                <c:pt idx="18">
                  <c:v>252.19</c:v>
                </c:pt>
                <c:pt idx="19">
                  <c:v>252.19</c:v>
                </c:pt>
                <c:pt idx="20">
                  <c:v>252.19</c:v>
                </c:pt>
                <c:pt idx="21">
                  <c:v>252.19</c:v>
                </c:pt>
                <c:pt idx="22">
                  <c:v>252.19</c:v>
                </c:pt>
                <c:pt idx="23">
                  <c:v>252.19</c:v>
                </c:pt>
                <c:pt idx="24">
                  <c:v>252.19</c:v>
                </c:pt>
                <c:pt idx="25">
                  <c:v>252.19</c:v>
                </c:pt>
                <c:pt idx="26">
                  <c:v>252.19</c:v>
                </c:pt>
                <c:pt idx="27">
                  <c:v>252.19</c:v>
                </c:pt>
                <c:pt idx="28">
                  <c:v>252.19</c:v>
                </c:pt>
                <c:pt idx="29">
                  <c:v>252.19</c:v>
                </c:pt>
                <c:pt idx="30">
                  <c:v>252.19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9A8-4B49-873E-D3EA995F0A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284022112"/>
        <c:axId val="187217232"/>
      </c:barChart>
      <c:catAx>
        <c:axId val="284022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7217232"/>
        <c:crosses val="autoZero"/>
        <c:auto val="1"/>
        <c:lblAlgn val="ctr"/>
        <c:lblOffset val="100"/>
        <c:noMultiLvlLbl val="0"/>
      </c:catAx>
      <c:valAx>
        <c:axId val="1872172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402211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75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'[Relatório SLA Diário - 01 à 28 de Janeiro.xlsb]Plan3'!$C$2</c:f>
              <c:strCache>
                <c:ptCount val="1"/>
                <c:pt idx="0">
                  <c:v>Quantidade</c:v>
                </c:pt>
              </c:strCache>
            </c:strRef>
          </c:tx>
          <c:dPt>
            <c:idx val="0"/>
            <c:bubble3D val="0"/>
            <c:spPr>
              <a:solidFill>
                <a:srgbClr val="939597"/>
              </a:solidFill>
            </c:spPr>
            <c:extLst>
              <c:ext xmlns:c16="http://schemas.microsoft.com/office/drawing/2014/chart" uri="{C3380CC4-5D6E-409C-BE32-E72D297353CC}">
                <c16:uniqueId val="{00000001-A2BC-4B25-9D8C-D0D7FF5B88F3}"/>
              </c:ext>
            </c:extLst>
          </c:dPt>
          <c:dPt>
            <c:idx val="1"/>
            <c:bubble3D val="0"/>
            <c:spPr>
              <a:solidFill>
                <a:srgbClr val="D71920"/>
              </a:solidFill>
            </c:spPr>
            <c:extLst>
              <c:ext xmlns:c16="http://schemas.microsoft.com/office/drawing/2014/chart" uri="{C3380CC4-5D6E-409C-BE32-E72D297353CC}">
                <c16:uniqueId val="{00000003-A2BC-4B25-9D8C-D0D7FF5B88F3}"/>
              </c:ext>
            </c:extLst>
          </c:dPt>
          <c:dPt>
            <c:idx val="2"/>
            <c:bubble3D val="0"/>
            <c:spPr>
              <a:solidFill>
                <a:srgbClr val="184E82"/>
              </a:solidFill>
            </c:spPr>
            <c:extLst>
              <c:ext xmlns:c16="http://schemas.microsoft.com/office/drawing/2014/chart" uri="{C3380CC4-5D6E-409C-BE32-E72D297353CC}">
                <c16:uniqueId val="{00000005-A2BC-4B25-9D8C-D0D7FF5B88F3}"/>
              </c:ext>
            </c:extLst>
          </c:dPt>
          <c:dLbls>
            <c:dLbl>
              <c:idx val="0"/>
              <c:layout>
                <c:manualLayout>
                  <c:x val="-6.7441382327209101E-2"/>
                  <c:y val="0.17708333333333334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BC-4B25-9D8C-D0D7FF5B88F3}"/>
                </c:ext>
              </c:extLst>
            </c:dLbl>
            <c:dLbl>
              <c:idx val="2"/>
              <c:layout>
                <c:manualLayout>
                  <c:x val="0.22792746782832074"/>
                  <c:y val="5.8220706818600587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BC-4B25-9D8C-D0D7FF5B88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chemeClr val="bg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'[Relatório SLA Diário - 01 à 28 de Janeiro.xlsb]Plan3'!$B$3:$B$5</c:f>
              <c:strCache>
                <c:ptCount val="3"/>
                <c:pt idx="0">
                  <c:v>Fornecedor Contax</c:v>
                </c:pt>
                <c:pt idx="1">
                  <c:v>Suporte Cliente</c:v>
                </c:pt>
                <c:pt idx="2">
                  <c:v>TI Contax</c:v>
                </c:pt>
              </c:strCache>
            </c:strRef>
          </c:cat>
          <c:val>
            <c:numRef>
              <c:f>'[Relatório SLA Diário - 01 à 28 de Janeiro.xlsb]Plan3'!$C$3:$C$5</c:f>
              <c:numCache>
                <c:formatCode>General</c:formatCode>
                <c:ptCount val="3"/>
                <c:pt idx="0">
                  <c:v>12</c:v>
                </c:pt>
                <c:pt idx="1">
                  <c:v>99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BC-4B25-9D8C-D0D7FF5B8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'[Relatório SLA Diário - 01 à 28 de Janeiro.xlsb]Plan3'!$H$3</c:f>
              <c:strCache>
                <c:ptCount val="1"/>
                <c:pt idx="0">
                  <c:v>Quantidade</c:v>
                </c:pt>
              </c:strCache>
            </c:strRef>
          </c:tx>
          <c:dPt>
            <c:idx val="5"/>
            <c:bubble3D val="0"/>
            <c:spPr>
              <a:solidFill>
                <a:srgbClr val="939597"/>
              </a:solidFill>
            </c:spPr>
            <c:extLst>
              <c:ext xmlns:c16="http://schemas.microsoft.com/office/drawing/2014/chart" uri="{C3380CC4-5D6E-409C-BE32-E72D297353CC}">
                <c16:uniqueId val="{00000001-AEFB-4FBB-A343-D66FA64B98E3}"/>
              </c:ext>
            </c:extLst>
          </c:dPt>
          <c:dPt>
            <c:idx val="7"/>
            <c:bubble3D val="0"/>
            <c:spPr>
              <a:solidFill>
                <a:srgbClr val="D71920"/>
              </a:solidFill>
            </c:spPr>
            <c:extLst>
              <c:ext xmlns:c16="http://schemas.microsoft.com/office/drawing/2014/chart" uri="{C3380CC4-5D6E-409C-BE32-E72D297353CC}">
                <c16:uniqueId val="{00000003-AEFB-4FBB-A343-D66FA64B98E3}"/>
              </c:ext>
            </c:extLst>
          </c:dPt>
          <c:dPt>
            <c:idx val="11"/>
            <c:bubble3D val="0"/>
            <c:spPr>
              <a:solidFill>
                <a:srgbClr val="184E82"/>
              </a:solidFill>
            </c:spPr>
            <c:extLst>
              <c:ext xmlns:c16="http://schemas.microsoft.com/office/drawing/2014/chart" uri="{C3380CC4-5D6E-409C-BE32-E72D297353CC}">
                <c16:uniqueId val="{00000005-AEFB-4FBB-A343-D66FA64B98E3}"/>
              </c:ext>
            </c:extLst>
          </c:dPt>
          <c:dPt>
            <c:idx val="19"/>
            <c:bubble3D val="0"/>
            <c:spPr>
              <a:solidFill>
                <a:srgbClr val="939597"/>
              </a:solidFill>
            </c:spPr>
            <c:extLst>
              <c:ext xmlns:c16="http://schemas.microsoft.com/office/drawing/2014/chart" uri="{C3380CC4-5D6E-409C-BE32-E72D297353CC}">
                <c16:uniqueId val="{00000007-AEFB-4FBB-A343-D66FA64B98E3}"/>
              </c:ext>
            </c:extLst>
          </c:dPt>
          <c:dPt>
            <c:idx val="20"/>
            <c:bubble3D val="0"/>
            <c:spPr>
              <a:solidFill>
                <a:srgbClr val="184E82"/>
              </a:solidFill>
            </c:spPr>
            <c:extLst>
              <c:ext xmlns:c16="http://schemas.microsoft.com/office/drawing/2014/chart" uri="{C3380CC4-5D6E-409C-BE32-E72D297353CC}">
                <c16:uniqueId val="{00000009-AEFB-4FBB-A343-D66FA64B98E3}"/>
              </c:ext>
            </c:extLst>
          </c:dPt>
          <c:dPt>
            <c:idx val="21"/>
            <c:bubble3D val="0"/>
            <c:spPr>
              <a:solidFill>
                <a:srgbClr val="D71920"/>
              </a:solidFill>
            </c:spPr>
            <c:extLst>
              <c:ext xmlns:c16="http://schemas.microsoft.com/office/drawing/2014/chart" uri="{C3380CC4-5D6E-409C-BE32-E72D297353CC}">
                <c16:uniqueId val="{0000000B-AEFB-4FBB-A343-D66FA64B98E3}"/>
              </c:ext>
            </c:extLst>
          </c:dPt>
          <c:dLbls>
            <c:dLbl>
              <c:idx val="0"/>
              <c:layout>
                <c:manualLayout>
                  <c:x val="-7.701066827697263E-2"/>
                  <c:y val="-1.6765968867418143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EFB-4FBB-A343-D66FA64B98E3}"/>
                </c:ext>
              </c:extLst>
            </c:dLbl>
            <c:dLbl>
              <c:idx val="1"/>
              <c:layout>
                <c:manualLayout>
                  <c:x val="0.18293599033816424"/>
                  <c:y val="-1.2022275899087493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EFB-4FBB-A343-D66FA64B98E3}"/>
                </c:ext>
              </c:extLst>
            </c:dLbl>
            <c:dLbl>
              <c:idx val="2"/>
              <c:layout>
                <c:manualLayout>
                  <c:x val="0.17837882447665057"/>
                  <c:y val="2.95023707282161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EFB-4FBB-A343-D66FA64B98E3}"/>
                </c:ext>
              </c:extLst>
            </c:dLbl>
            <c:dLbl>
              <c:idx val="3"/>
              <c:layout>
                <c:manualLayout>
                  <c:x val="0.16940163714439077"/>
                  <c:y val="6.6591295401681877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EFB-4FBB-A343-D66FA64B98E3}"/>
                </c:ext>
              </c:extLst>
            </c:dLbl>
            <c:dLbl>
              <c:idx val="4"/>
              <c:layout>
                <c:manualLayout>
                  <c:x val="-0.15398644659151906"/>
                  <c:y val="9.8640409733404905E-2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EFB-4FBB-A343-D66FA64B98E3}"/>
                </c:ext>
              </c:extLst>
            </c:dLbl>
            <c:dLbl>
              <c:idx val="5"/>
              <c:layout>
                <c:manualLayout>
                  <c:x val="-0.11458688942565755"/>
                  <c:y val="-4.6796162104133121E-2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FB-4FBB-A343-D66FA64B98E3}"/>
                </c:ext>
              </c:extLst>
            </c:dLbl>
            <c:dLbl>
              <c:idx val="6"/>
              <c:layout>
                <c:manualLayout>
                  <c:x val="5.9100979602791197E-2"/>
                  <c:y val="1.613325281803542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EFB-4FBB-A343-D66FA64B98E3}"/>
                </c:ext>
              </c:extLst>
            </c:dLbl>
            <c:dLbl>
              <c:idx val="7"/>
              <c:layout>
                <c:manualLayout>
                  <c:x val="9.7755837359098235E-2"/>
                  <c:y val="-0.24567901234567902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FB-4FBB-A343-D66FA64B98E3}"/>
                </c:ext>
              </c:extLst>
            </c:dLbl>
            <c:dLbl>
              <c:idx val="8"/>
              <c:layout>
                <c:manualLayout>
                  <c:x val="-4.6962493290391837E-2"/>
                  <c:y val="4.4363929146537841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EFB-4FBB-A343-D66FA64B98E3}"/>
                </c:ext>
              </c:extLst>
            </c:dLbl>
            <c:dLbl>
              <c:idx val="9"/>
              <c:layout>
                <c:manualLayout>
                  <c:x val="-6.8685923242082669E-2"/>
                  <c:y val="-4.006664877437824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EFB-4FBB-A343-D66FA64B98E3}"/>
                </c:ext>
              </c:extLst>
            </c:dLbl>
            <c:dLbl>
              <c:idx val="10"/>
              <c:layout>
                <c:manualLayout>
                  <c:x val="-1.1812399355877617E-2"/>
                  <c:y val="-6.052759885489354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EFB-4FBB-A343-D66FA64B98E3}"/>
                </c:ext>
              </c:extLst>
            </c:dLbl>
            <c:dLbl>
              <c:idx val="11"/>
              <c:layout>
                <c:manualLayout>
                  <c:x val="9.1746041331186259E-2"/>
                  <c:y val="0.12687645374843443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FB-4FBB-A343-D66FA64B98E3}"/>
                </c:ext>
              </c:extLst>
            </c:dLbl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'[Relatório SLA Diário - 01 à 28 de Janeiro.xlsb]Plan3'!$G$4:$G$25</c:f>
              <c:strCache>
                <c:ptCount val="12"/>
                <c:pt idx="0">
                  <c:v>Banco Toyota </c:v>
                </c:pt>
                <c:pt idx="1">
                  <c:v>Bradesco </c:v>
                </c:pt>
                <c:pt idx="2">
                  <c:v>Citibank </c:v>
                </c:pt>
                <c:pt idx="3">
                  <c:v>Claro </c:v>
                </c:pt>
                <c:pt idx="4">
                  <c:v>Outros</c:v>
                </c:pt>
                <c:pt idx="5">
                  <c:v>Itaú </c:v>
                </c:pt>
                <c:pt idx="6">
                  <c:v>Net </c:v>
                </c:pt>
                <c:pt idx="7">
                  <c:v>Oi </c:v>
                </c:pt>
                <c:pt idx="8">
                  <c:v>Prefeitura RJ </c:v>
                </c:pt>
                <c:pt idx="9">
                  <c:v>Santander </c:v>
                </c:pt>
                <c:pt idx="10">
                  <c:v>Ticket Serviços S/A </c:v>
                </c:pt>
                <c:pt idx="11">
                  <c:v>Vivo </c:v>
                </c:pt>
              </c:strCache>
            </c:strRef>
          </c:cat>
          <c:val>
            <c:numRef>
              <c:f>'[Relatório SLA Diário - 01 à 28 de Janeiro.xlsb]Plan3'!$H$4:$H$25</c:f>
              <c:numCache>
                <c:formatCode>General</c:formatCode>
                <c:ptCount val="22"/>
                <c:pt idx="0">
                  <c:v>1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  <c:pt idx="4">
                  <c:v>16</c:v>
                </c:pt>
                <c:pt idx="5">
                  <c:v>6</c:v>
                </c:pt>
                <c:pt idx="6">
                  <c:v>3</c:v>
                </c:pt>
                <c:pt idx="7">
                  <c:v>44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AEFB-4FBB-A343-D66FA64B9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17/02/2016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0842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7084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7421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4177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6215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3067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Contrato vai</a:t>
            </a:r>
            <a:r>
              <a:rPr lang="pt-BR" baseline="0" dirty="0" smtClean="0"/>
              <a:t> até Março do BTCC da Oi – Adolpho e </a:t>
            </a:r>
            <a:r>
              <a:rPr lang="pt-BR" baseline="0" dirty="0" err="1" smtClean="0"/>
              <a:t>Koreeda</a:t>
            </a:r>
            <a:r>
              <a:rPr lang="pt-BR" baseline="0" dirty="0" smtClean="0"/>
              <a:t> cientes –</a:t>
            </a:r>
            <a:r>
              <a:rPr lang="pt-BR" baseline="0" dirty="0" err="1" smtClean="0"/>
              <a:t>Boarim</a:t>
            </a:r>
            <a:r>
              <a:rPr lang="pt-BR" baseline="0" dirty="0" smtClean="0"/>
              <a:t> sugere congelar a </a:t>
            </a:r>
            <a:r>
              <a:rPr lang="pt-BR" baseline="0" dirty="0" err="1" smtClean="0"/>
              <a:t>Interlalização</a:t>
            </a:r>
            <a:endParaRPr lang="pt-BR" baseline="0" dirty="0" smtClean="0"/>
          </a:p>
          <a:p>
            <a:r>
              <a:rPr lang="pt-BR" baseline="0" dirty="0" smtClean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52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018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2368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Gest&#227;o%20de%20problemas%20atualizado%2028.01.2016.xls" TargetMode="External"/><Relationship Id="rId5" Type="http://schemas.openxmlformats.org/officeDocument/2006/relationships/chart" Target="../charts/chart2.xml"/><Relationship Id="rId10" Type="http://schemas.openxmlformats.org/officeDocument/2006/relationships/image" Target="../media/image3.emf"/><Relationship Id="rId4" Type="http://schemas.openxmlformats.org/officeDocument/2006/relationships/chart" Target="../charts/chart1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9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emf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5.jpg"/><Relationship Id="rId10" Type="http://schemas.openxmlformats.org/officeDocument/2006/relationships/image" Target="../media/image19.png"/><Relationship Id="rId4" Type="http://schemas.openxmlformats.org/officeDocument/2006/relationships/image" Target="../media/image3.emf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25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29.Janeiro.2016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5908890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Gerenciamento de Incidentes Indicadores</a:t>
            </a: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Ações para incidentes de Médio e Baixo</a:t>
            </a: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Projetos Estruturantes e Especiais</a:t>
            </a: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/>
          <p:cNvGrpSpPr/>
          <p:nvPr/>
        </p:nvGrpSpPr>
        <p:grpSpPr>
          <a:xfrm>
            <a:off x="0" y="2436"/>
            <a:ext cx="9144001" cy="5145828"/>
            <a:chOff x="0" y="2436"/>
            <a:chExt cx="9144001" cy="5145828"/>
          </a:xfrm>
        </p:grpSpPr>
        <p:grpSp>
          <p:nvGrpSpPr>
            <p:cNvPr id="2" name="Agrupar 1"/>
            <p:cNvGrpSpPr/>
            <p:nvPr/>
          </p:nvGrpSpPr>
          <p:grpSpPr>
            <a:xfrm>
              <a:off x="1" y="153259"/>
              <a:ext cx="9144000" cy="4995005"/>
              <a:chOff x="1" y="153259"/>
              <a:chExt cx="9144000" cy="4995005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36933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734184" y="153259"/>
                <a:ext cx="6254098" cy="56040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ctr" defTabSz="4572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buClr>
                    <a:srgbClr val="800000"/>
                  </a:buClr>
                </a:pPr>
                <a:r>
                  <a:rPr lang="pt-BR" sz="2800" b="1" dirty="0" smtClean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1. Indicadores: Incidentes e Problemas</a:t>
                </a:r>
                <a:endParaRPr lang="pt-BR" sz="1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23" name="Gráfico 22"/>
              <p:cNvGraphicFramePr/>
              <p:nvPr>
                <p:extLst/>
              </p:nvPr>
            </p:nvGraphicFramePr>
            <p:xfrm>
              <a:off x="1" y="784099"/>
              <a:ext cx="4276020" cy="223947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24" name="CaixaDeTexto 23"/>
              <p:cNvSpPr txBox="1"/>
              <p:nvPr/>
            </p:nvSpPr>
            <p:spPr>
              <a:xfrm>
                <a:off x="450221" y="1883543"/>
                <a:ext cx="657938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-6,1%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CaixaDeTexto 24"/>
              <p:cNvSpPr txBox="1"/>
              <p:nvPr/>
            </p:nvSpPr>
            <p:spPr>
              <a:xfrm>
                <a:off x="1111484" y="1883542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-11,9%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7" name="Gráfico 26"/>
              <p:cNvGraphicFramePr/>
              <p:nvPr>
                <p:extLst/>
              </p:nvPr>
            </p:nvGraphicFramePr>
            <p:xfrm>
              <a:off x="4532563" y="791263"/>
              <a:ext cx="4250194" cy="223230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28" name="CaixaDeTexto 27"/>
              <p:cNvSpPr txBox="1"/>
              <p:nvPr/>
            </p:nvSpPr>
            <p:spPr>
              <a:xfrm>
                <a:off x="4993455" y="1779776"/>
                <a:ext cx="643139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-3,0%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CaixaDeTexto 28"/>
              <p:cNvSpPr txBox="1"/>
              <p:nvPr/>
            </p:nvSpPr>
            <p:spPr>
              <a:xfrm>
                <a:off x="5636594" y="1796043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-14,8%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CaixaDeTexto 29"/>
              <p:cNvSpPr txBox="1"/>
              <p:nvPr/>
            </p:nvSpPr>
            <p:spPr>
              <a:xfrm>
                <a:off x="6303500" y="1785027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-66,8%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31" name="Gráfico 30">
                <a:hlinkClick r:id="rId6" action="ppaction://hlinkfile"/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430557"/>
                  </p:ext>
                </p:extLst>
              </p:nvPr>
            </p:nvGraphicFramePr>
            <p:xfrm>
              <a:off x="4968607" y="3068858"/>
              <a:ext cx="3492347" cy="207940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33" name="Retângulo de cantos arredondados 32"/>
              <p:cNvSpPr/>
              <p:nvPr/>
            </p:nvSpPr>
            <p:spPr>
              <a:xfrm>
                <a:off x="220647" y="3553688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 smtClean="0"/>
                  <a:t>Redução </a:t>
                </a:r>
                <a:r>
                  <a:rPr lang="pt-BR" sz="1600" b="1" i="1" dirty="0" smtClean="0"/>
                  <a:t>Consolidada</a:t>
                </a:r>
                <a:r>
                  <a:rPr lang="pt-BR" sz="1600" b="1" dirty="0" smtClean="0"/>
                  <a:t/>
                </a:r>
                <a:br>
                  <a:rPr lang="pt-BR" sz="1600" b="1" dirty="0" smtClean="0"/>
                </a:br>
                <a:r>
                  <a:rPr lang="pt-BR" sz="1600" b="1" dirty="0" smtClean="0"/>
                  <a:t> Ago </a:t>
                </a:r>
                <a:r>
                  <a:rPr lang="pt-BR" sz="1600" b="1" dirty="0"/>
                  <a:t>/ </a:t>
                </a:r>
                <a:r>
                  <a:rPr lang="pt-BR" sz="1600" b="1" dirty="0" smtClean="0"/>
                  <a:t>Dez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-80,32%</a:t>
                </a:r>
                <a:endParaRPr lang="pt-BR" sz="1600" b="1" dirty="0"/>
              </a:p>
            </p:txBody>
          </p:sp>
          <p:sp>
            <p:nvSpPr>
              <p:cNvPr id="19" name="Retângulo de cantos arredondados 18"/>
              <p:cNvSpPr/>
              <p:nvPr/>
            </p:nvSpPr>
            <p:spPr>
              <a:xfrm>
                <a:off x="2138011" y="3553689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/>
                  <a:t>Redução </a:t>
                </a:r>
                <a:r>
                  <a:rPr lang="pt-BR" sz="1600" b="1" i="1" dirty="0" smtClean="0"/>
                  <a:t>Projetada</a:t>
                </a:r>
                <a:r>
                  <a:rPr lang="pt-BR" sz="1600" b="1" i="1" dirty="0"/>
                  <a:t/>
                </a:r>
                <a:br>
                  <a:rPr lang="pt-BR" sz="1600" b="1" i="1" dirty="0"/>
                </a:br>
                <a:r>
                  <a:rPr lang="pt-BR" sz="1600" b="1" dirty="0"/>
                  <a:t> </a:t>
                </a:r>
                <a:r>
                  <a:rPr lang="pt-BR" sz="1600" b="1" dirty="0" err="1"/>
                  <a:t>Ago</a:t>
                </a:r>
                <a:r>
                  <a:rPr lang="pt-BR" sz="1600" b="1" dirty="0"/>
                  <a:t> / </a:t>
                </a:r>
                <a:r>
                  <a:rPr lang="pt-BR" sz="1600" b="1" dirty="0" smtClean="0"/>
                  <a:t>Jan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-87,15%</a:t>
                </a:r>
                <a:endParaRPr lang="pt-BR" sz="1600" b="1" dirty="0"/>
              </a:p>
            </p:txBody>
          </p:sp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7919" y="2822883"/>
                <a:ext cx="247650" cy="1762125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sp>
            <p:nvSpPr>
              <p:cNvPr id="18" name="CaixaDeTexto 17"/>
              <p:cNvSpPr txBox="1"/>
              <p:nvPr/>
            </p:nvSpPr>
            <p:spPr>
              <a:xfrm>
                <a:off x="1774259" y="1885122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-66,3%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CaixaDeTexto 21"/>
              <p:cNvSpPr txBox="1"/>
              <p:nvPr/>
            </p:nvSpPr>
            <p:spPr>
              <a:xfrm>
                <a:off x="6929648" y="2197306"/>
                <a:ext cx="586677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-31,4%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" name="CaixaDeTexto 2"/>
              <p:cNvSpPr txBox="1"/>
              <p:nvPr/>
            </p:nvSpPr>
            <p:spPr>
              <a:xfrm>
                <a:off x="1" y="4848225"/>
                <a:ext cx="5067299" cy="24622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Informações retiradas dos indicadores de SLA e </a:t>
                </a:r>
                <a:r>
                  <a:rPr lang="pt-BR" sz="1000" dirty="0" err="1" smtClean="0">
                    <a:solidFill>
                      <a:schemeClr val="bg1">
                        <a:lumMod val="65000"/>
                      </a:schemeClr>
                    </a:solidFill>
                  </a:rPr>
                  <a:t>tProcess</a:t>
                </a:r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! referentes ao período de 01 à 28/01.</a:t>
                </a:r>
                <a:endParaRPr lang="pt-BR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2436"/>
              <a:ext cx="786452" cy="774259"/>
            </a:xfrm>
            <a:prstGeom prst="rect">
              <a:avLst/>
            </a:prstGeom>
          </p:spPr>
        </p:pic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2" name="CaixaDeTexto 31"/>
          <p:cNvSpPr txBox="1"/>
          <p:nvPr/>
        </p:nvSpPr>
        <p:spPr>
          <a:xfrm>
            <a:off x="2399521" y="228058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-29,1%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7569068" y="2260255"/>
            <a:ext cx="586677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-25,0%</a:t>
            </a:r>
            <a:endParaRPr lang="pt-BR" sz="11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7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3" name="Gráfico 22"/>
            <p:cNvGraphicFramePr/>
            <p:nvPr>
              <p:extLst>
                <p:ext uri="{D42A27DB-BD31-4B8C-83A1-F6EECF244321}">
                  <p14:modId xmlns:p14="http://schemas.microsoft.com/office/powerpoint/2010/main" val="855707670"/>
                </p:ext>
              </p:extLst>
            </p:nvPr>
          </p:nvGraphicFramePr>
          <p:xfrm>
            <a:off x="1133035" y="504650"/>
            <a:ext cx="5875578" cy="30007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1809525" y="1784593"/>
              <a:ext cx="7034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-4,95%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2742573" y="1794090"/>
              <a:ext cx="732185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-0,49%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8" name="CaixaDeTexto 17"/>
            <p:cNvSpPr txBox="1"/>
            <p:nvPr/>
          </p:nvSpPr>
          <p:spPr>
            <a:xfrm>
              <a:off x="3616665" y="1795670"/>
              <a:ext cx="732185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>
                  <a:solidFill>
                    <a:schemeClr val="accent2"/>
                  </a:solidFill>
                </a:rPr>
                <a:t>+</a:t>
              </a:r>
              <a:r>
                <a:rPr lang="pt-BR" sz="1200" b="1" dirty="0" smtClean="0">
                  <a:solidFill>
                    <a:schemeClr val="accent2"/>
                  </a:solidFill>
                </a:rPr>
                <a:t>4,65%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28/01.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2" name="CaixaDeTexto 31"/>
          <p:cNvSpPr txBox="1"/>
          <p:nvPr/>
        </p:nvSpPr>
        <p:spPr>
          <a:xfrm>
            <a:off x="4503682" y="1791080"/>
            <a:ext cx="6847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2"/>
                </a:solidFill>
              </a:rPr>
              <a:t>-6,15%</a:t>
            </a:r>
            <a:endParaRPr lang="pt-BR" sz="1200" b="1" dirty="0">
              <a:solidFill>
                <a:schemeClr val="accent2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377774" y="1779560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+11,23%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5" name="Seta para a direita 4"/>
          <p:cNvSpPr/>
          <p:nvPr/>
        </p:nvSpPr>
        <p:spPr>
          <a:xfrm>
            <a:off x="6855812" y="2334610"/>
            <a:ext cx="309526" cy="20872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12700">
            <a:bevelT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099381" y="2272111"/>
            <a:ext cx="1077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50000"/>
                  </a:schemeClr>
                </a:solidFill>
              </a:rPr>
              <a:t>Valor Real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443" y="3202600"/>
            <a:ext cx="50958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Alto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28/01.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562626" y="957431"/>
            <a:ext cx="132529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06 - Inicio do processo de ajustes.</a:t>
            </a:r>
          </a:p>
          <a:p>
            <a:endParaRPr lang="pt-BR" sz="1400" dirty="0"/>
          </a:p>
          <a:p>
            <a:r>
              <a:rPr lang="pt-BR" sz="1400" dirty="0" smtClean="0"/>
              <a:t>07 e 08 - Ajuste do processo.</a:t>
            </a:r>
          </a:p>
          <a:p>
            <a:endParaRPr lang="pt-BR" sz="1400" dirty="0"/>
          </a:p>
          <a:p>
            <a:r>
              <a:rPr lang="pt-BR" sz="1400" dirty="0" smtClean="0"/>
              <a:t>18 e 19 - Desativação do PL07.</a:t>
            </a:r>
          </a:p>
          <a:p>
            <a:endParaRPr lang="pt-BR" sz="1400" dirty="0"/>
          </a:p>
          <a:p>
            <a:r>
              <a:rPr lang="pt-BR" sz="1400" dirty="0" smtClean="0"/>
              <a:t>21 - Crise no site Santo Amaro e cliente Oi.</a:t>
            </a:r>
          </a:p>
          <a:p>
            <a:endParaRPr lang="pt-BR" sz="1400" dirty="0"/>
          </a:p>
          <a:p>
            <a:r>
              <a:rPr lang="pt-BR" sz="1400" dirty="0" smtClean="0"/>
              <a:t>25 e 26 - Ajuste referente ao feriado SP.</a:t>
            </a:r>
          </a:p>
        </p:txBody>
      </p:sp>
      <p:graphicFrame>
        <p:nvGraphicFramePr>
          <p:cNvPr id="12" name="Gráfico 11"/>
          <p:cNvGraphicFramePr>
            <a:graphicFrameLocks noGrp="1" noChangeAspect="1"/>
          </p:cNvGraphicFramePr>
          <p:nvPr>
            <p:extLst/>
          </p:nvPr>
        </p:nvGraphicFramePr>
        <p:xfrm>
          <a:off x="989773" y="699049"/>
          <a:ext cx="6532217" cy="4070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65649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Médio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28/01.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aphicFrame>
        <p:nvGraphicFramePr>
          <p:cNvPr id="11" name="Gráfico 10"/>
          <p:cNvGraphicFramePr>
            <a:graphicFrameLocks noGrp="1" noChangeAspect="1"/>
          </p:cNvGraphicFramePr>
          <p:nvPr>
            <p:extLst/>
          </p:nvPr>
        </p:nvGraphicFramePr>
        <p:xfrm>
          <a:off x="865918" y="601752"/>
          <a:ext cx="6838021" cy="426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15493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28/01.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aphicFrame>
        <p:nvGraphicFramePr>
          <p:cNvPr id="11" name="Gráfico 10"/>
          <p:cNvGraphicFramePr>
            <a:graphicFrameLocks noGrp="1" noChangeAspect="1"/>
          </p:cNvGraphicFramePr>
          <p:nvPr>
            <p:extLst/>
          </p:nvPr>
        </p:nvGraphicFramePr>
        <p:xfrm>
          <a:off x="803273" y="580328"/>
          <a:ext cx="6904601" cy="4302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63912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838" y="289194"/>
            <a:ext cx="1203645" cy="29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426580" y="4383969"/>
            <a:ext cx="717420" cy="76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0"/>
            <a:ext cx="592289" cy="777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5" name="Group 6"/>
          <p:cNvGrpSpPr>
            <a:grpSpLocks/>
          </p:cNvGrpSpPr>
          <p:nvPr/>
        </p:nvGrpSpPr>
        <p:grpSpPr bwMode="auto">
          <a:xfrm>
            <a:off x="1760715" y="-495757"/>
            <a:ext cx="4132911" cy="1288655"/>
            <a:chOff x="0" y="-295326"/>
            <a:chExt cx="7281654" cy="1277955"/>
          </a:xfrm>
        </p:grpSpPr>
        <p:pic>
          <p:nvPicPr>
            <p:cNvPr id="5133" name="Picture 25" descr="n36_JULIO_0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510" b="66551"/>
            <a:stretch>
              <a:fillRect/>
            </a:stretch>
          </p:blipFill>
          <p:spPr bwMode="auto">
            <a:xfrm>
              <a:off x="0" y="-295326"/>
              <a:ext cx="7281654" cy="1277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4" name="TextBox 4"/>
            <p:cNvSpPr txBox="1">
              <a:spLocks noChangeArrowheads="1"/>
            </p:cNvSpPr>
            <p:nvPr/>
          </p:nvSpPr>
          <p:spPr bwMode="auto">
            <a:xfrm>
              <a:off x="909802" y="382526"/>
              <a:ext cx="6371852" cy="297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defTabSz="34322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pt-BR" sz="1351" b="1" dirty="0" smtClean="0">
                  <a:solidFill>
                    <a:prstClr val="white"/>
                  </a:solidFill>
                </a:rPr>
                <a:t>3. Gerenciamento </a:t>
              </a:r>
              <a:r>
                <a:rPr lang="pt-BR" sz="1351" b="1" dirty="0">
                  <a:solidFill>
                    <a:prstClr val="white"/>
                  </a:solidFill>
                </a:rPr>
                <a:t>de Incidentes - Indicadores</a:t>
              </a:r>
            </a:p>
          </p:txBody>
        </p:sp>
      </p:grpSp>
      <p:graphicFrame>
        <p:nvGraphicFramePr>
          <p:cNvPr id="15" name="Gráfico 14"/>
          <p:cNvGraphicFramePr>
            <a:graphicFrameLocks noChangeAspect="1"/>
          </p:cNvGraphicFramePr>
          <p:nvPr>
            <p:extLst/>
          </p:nvPr>
        </p:nvGraphicFramePr>
        <p:xfrm>
          <a:off x="1526844" y="1330843"/>
          <a:ext cx="6126349" cy="3675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1598919" y="876162"/>
            <a:ext cx="5963812" cy="369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2" dirty="0"/>
              <a:t>Incidentes de Alto Impacto por responsabilidade pela Solução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490880" y="1222731"/>
            <a:ext cx="220804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De 1 a 28 de Janeiro de 2016</a:t>
            </a:r>
          </a:p>
        </p:txBody>
      </p:sp>
    </p:spTree>
    <p:extLst>
      <p:ext uri="{BB962C8B-B14F-4D97-AF65-F5344CB8AC3E}">
        <p14:creationId xmlns:p14="http://schemas.microsoft.com/office/powerpoint/2010/main" val="302422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838" y="289194"/>
            <a:ext cx="1203645" cy="29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426580" y="4383970"/>
            <a:ext cx="717420" cy="76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15891"/>
            <a:ext cx="592289" cy="777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5" name="Group 6"/>
          <p:cNvGrpSpPr>
            <a:grpSpLocks/>
          </p:cNvGrpSpPr>
          <p:nvPr/>
        </p:nvGrpSpPr>
        <p:grpSpPr bwMode="auto">
          <a:xfrm>
            <a:off x="1760715" y="-495757"/>
            <a:ext cx="4132911" cy="1288655"/>
            <a:chOff x="0" y="-295326"/>
            <a:chExt cx="7281654" cy="1277955"/>
          </a:xfrm>
        </p:grpSpPr>
        <p:pic>
          <p:nvPicPr>
            <p:cNvPr id="5133" name="Picture 25" descr="n36_JULIO_0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510" b="66551"/>
            <a:stretch>
              <a:fillRect/>
            </a:stretch>
          </p:blipFill>
          <p:spPr bwMode="auto">
            <a:xfrm>
              <a:off x="0" y="-295326"/>
              <a:ext cx="7281654" cy="1277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4" name="TextBox 4"/>
            <p:cNvSpPr txBox="1">
              <a:spLocks noChangeArrowheads="1"/>
            </p:cNvSpPr>
            <p:nvPr/>
          </p:nvSpPr>
          <p:spPr bwMode="auto">
            <a:xfrm>
              <a:off x="909802" y="382526"/>
              <a:ext cx="6371852" cy="297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defTabSz="34322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pt-BR" sz="1351" b="1" dirty="0" smtClean="0">
                  <a:solidFill>
                    <a:prstClr val="white"/>
                  </a:solidFill>
                </a:rPr>
                <a:t>3. Gerenciamento </a:t>
              </a:r>
              <a:r>
                <a:rPr lang="pt-BR" sz="1351" b="1" dirty="0">
                  <a:solidFill>
                    <a:prstClr val="white"/>
                  </a:solidFill>
                </a:rPr>
                <a:t>de Incidentes - Indicadores</a:t>
              </a:r>
            </a:p>
          </p:txBody>
        </p:sp>
      </p:grpSp>
      <p:sp>
        <p:nvSpPr>
          <p:cNvPr id="20" name="CaixaDeTexto 19"/>
          <p:cNvSpPr txBox="1"/>
          <p:nvPr/>
        </p:nvSpPr>
        <p:spPr>
          <a:xfrm>
            <a:off x="1670057" y="815131"/>
            <a:ext cx="5877506" cy="369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2" dirty="0"/>
              <a:t>Incidentes de Alto Impacto – Resolvidos pelo Suporte Cliente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490880" y="1161699"/>
            <a:ext cx="220804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De 1 a 28 de Janeiro de 2016</a:t>
            </a:r>
          </a:p>
        </p:txBody>
      </p:sp>
      <p:graphicFrame>
        <p:nvGraphicFramePr>
          <p:cNvPr id="28" name="Gráfico 27"/>
          <p:cNvGraphicFramePr>
            <a:graphicFrameLocks/>
          </p:cNvGraphicFramePr>
          <p:nvPr>
            <p:extLst/>
          </p:nvPr>
        </p:nvGraphicFramePr>
        <p:xfrm>
          <a:off x="1680625" y="1925459"/>
          <a:ext cx="5594175" cy="3356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247600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828944" y="108241"/>
            <a:ext cx="8315057" cy="5049962"/>
            <a:chOff x="828944" y="98302"/>
            <a:chExt cx="8315057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828944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55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Ações para redução de incidentes Médio e Baixo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21984" y="1405324"/>
            <a:ext cx="8657503" cy="2819247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8890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Tratamento </a:t>
            </a:r>
            <a:r>
              <a:rPr lang="pt-B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TOP ofensores NOC: Gestão de problema para Alarmes ECH entre </a:t>
            </a: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outros.</a:t>
            </a:r>
          </a:p>
          <a:p>
            <a:pPr>
              <a:buClr>
                <a:srgbClr val="00B050"/>
              </a:buClr>
            </a:pP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Avanço </a:t>
            </a:r>
            <a:r>
              <a:rPr lang="pt-B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 ajuste do Catalogo de Serviços: Próximos Clientes Bradesco, TAM, Vivo, Volkswagen, Intermédica, Experience Club, BB Financeira, Sky e </a:t>
            </a: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Nextel.</a:t>
            </a:r>
          </a:p>
          <a:p>
            <a:pPr>
              <a:buClr>
                <a:srgbClr val="00B050"/>
              </a:buClr>
            </a:pPr>
            <a:endParaRPr lang="pt-BR" sz="14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Ajuste </a:t>
            </a:r>
            <a:r>
              <a:rPr lang="pt-B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 processo de finalização de chamados de acordo com categoria real e script de </a:t>
            </a: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solução.</a:t>
            </a:r>
          </a:p>
          <a:p>
            <a:pPr>
              <a:buClr>
                <a:srgbClr val="00B050"/>
              </a:buClr>
            </a:pPr>
            <a:endParaRPr lang="pt-BR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Plano de </a:t>
            </a:r>
            <a:r>
              <a:rPr lang="pt-BR" sz="1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HEADSETs</a:t>
            </a:r>
            <a:r>
              <a:rPr lang="pt-B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apresentado a Diretoria para conscientização e migração de custos para </a:t>
            </a:r>
            <a:r>
              <a:rPr lang="pt-BR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Operação.</a:t>
            </a:r>
            <a:endParaRPr lang="pt-BR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77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Projetos Estruturantes e Especiais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8417" y="4417520"/>
            <a:ext cx="690691" cy="68759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3624" y="4402475"/>
            <a:ext cx="781292" cy="7986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4173" y="4377784"/>
            <a:ext cx="798655" cy="798655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1734829" y="4479431"/>
            <a:ext cx="608523" cy="608567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Elipse 11"/>
          <p:cNvSpPr/>
          <p:nvPr/>
        </p:nvSpPr>
        <p:spPr>
          <a:xfrm>
            <a:off x="562659" y="4402475"/>
            <a:ext cx="564119" cy="717684"/>
          </a:xfrm>
          <a:prstGeom prst="ellipse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5416" y="4448907"/>
            <a:ext cx="669613" cy="66961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343" y="4440592"/>
            <a:ext cx="707197" cy="664522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29" y="712433"/>
            <a:ext cx="9020009" cy="3387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5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/>
          <p:cNvGrpSpPr/>
          <p:nvPr/>
        </p:nvGrpSpPr>
        <p:grpSpPr>
          <a:xfrm rot="20909702">
            <a:off x="4479136" y="1785458"/>
            <a:ext cx="4277275" cy="1804782"/>
            <a:chOff x="4656528" y="1965933"/>
            <a:chExt cx="4176406" cy="1737150"/>
          </a:xfrm>
        </p:grpSpPr>
        <p:grpSp>
          <p:nvGrpSpPr>
            <p:cNvPr id="43" name="Agrupar 42"/>
            <p:cNvGrpSpPr/>
            <p:nvPr/>
          </p:nvGrpSpPr>
          <p:grpSpPr>
            <a:xfrm>
              <a:off x="4656528" y="1965933"/>
              <a:ext cx="4176406" cy="1737150"/>
              <a:chOff x="-19680" y="3542711"/>
              <a:chExt cx="8928992" cy="3176829"/>
            </a:xfrm>
          </p:grpSpPr>
          <p:pic>
            <p:nvPicPr>
              <p:cNvPr id="45" name="Imagem 4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46" name="CaixaDeTexto 45"/>
              <p:cNvSpPr txBox="1"/>
              <p:nvPr/>
            </p:nvSpPr>
            <p:spPr>
              <a:xfrm>
                <a:off x="1043609" y="3542711"/>
                <a:ext cx="7200799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47" name="CaixaDeTexto 46"/>
              <p:cNvSpPr txBox="1"/>
              <p:nvPr/>
            </p:nvSpPr>
            <p:spPr>
              <a:xfrm>
                <a:off x="2152303" y="5664850"/>
                <a:ext cx="3509340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44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2ª Fase – T2R – Objetivos</a:t>
            </a:r>
            <a:endParaRPr lang="pt-BR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74938" y="960667"/>
            <a:ext cx="5780348" cy="1107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200" dirty="0" smtClean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200" b="1" dirty="0" smtClean="0">
                <a:cs typeface="Aharoni" panose="02010803020104030203" pitchFamily="2" charset="-79"/>
              </a:rPr>
              <a:t>manter o ímpeto</a:t>
            </a:r>
            <a:r>
              <a:rPr lang="pt-BR" sz="2200" dirty="0" smtClean="0">
                <a:cs typeface="Aharoni" panose="02010803020104030203" pitchFamily="2" charset="-79"/>
              </a:rPr>
              <a:t> e melhorar as práticas relacionadas a </a:t>
            </a:r>
            <a:r>
              <a:rPr lang="pt-BR" sz="2200" b="1" i="1" dirty="0" smtClean="0">
                <a:cs typeface="Aharoni" panose="02010803020104030203" pitchFamily="2" charset="-79"/>
              </a:rPr>
              <a:t>Transition to Run </a:t>
            </a:r>
            <a:r>
              <a:rPr lang="pt-BR" sz="2200" b="1" dirty="0" smtClean="0">
                <a:cs typeface="Aharoni" panose="02010803020104030203" pitchFamily="2" charset="-79"/>
              </a:rPr>
              <a:t>– T2R</a:t>
            </a:r>
            <a:r>
              <a:rPr lang="pt-BR" sz="2200" dirty="0" smtClean="0">
                <a:cs typeface="Aharoni" panose="02010803020104030203" pitchFamily="2" charset="-79"/>
              </a:rPr>
              <a:t>.</a:t>
            </a:r>
            <a:endParaRPr lang="pt-BR" sz="2200" dirty="0">
              <a:cs typeface="Aharoni" panose="02010803020104030203" pitchFamily="2" charset="-79"/>
            </a:endParaRPr>
          </a:p>
        </p:txBody>
      </p:sp>
      <p:sp>
        <p:nvSpPr>
          <p:cNvPr id="48" name="Subtítulo 2"/>
          <p:cNvSpPr txBox="1">
            <a:spLocks/>
          </p:cNvSpPr>
          <p:nvPr/>
        </p:nvSpPr>
        <p:spPr>
          <a:xfrm>
            <a:off x="0" y="1954024"/>
            <a:ext cx="8907433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por 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</a:t>
            </a:r>
            <a:b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</a:b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negócio </a:t>
            </a:r>
            <a:r>
              <a:rPr lang="pt-BR" sz="2000" dirty="0" smtClean="0">
                <a:solidFill>
                  <a:schemeClr val="tx1"/>
                </a:solidFill>
                <a:cs typeface="Aharoni" panose="02010803020104030203" pitchFamily="2" charset="-79"/>
              </a:rPr>
              <a:t>até as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atualizações tecnológicas efetuadas pelas equipes de TI até </a:t>
            </a:r>
            <a:r>
              <a:rPr lang="pt-BR" sz="2000" dirty="0" smtClean="0">
                <a:solidFill>
                  <a:schemeClr val="tx1"/>
                </a:solidFill>
                <a:cs typeface="Aharoni" panose="02010803020104030203" pitchFamily="2" charset="-79"/>
              </a:rPr>
              <a:t>sua </a:t>
            </a:r>
            <a:r>
              <a:rPr lang="pt-BR" sz="2000" b="1" dirty="0" smtClean="0">
                <a:solidFill>
                  <a:schemeClr val="tx1"/>
                </a:solidFill>
                <a:cs typeface="Aharoni" panose="02010803020104030203" pitchFamily="2" charset="-79"/>
              </a:rPr>
              <a:t>estabilização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49" name="Imagem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32" y="3380497"/>
            <a:ext cx="8303012" cy="1758695"/>
          </a:xfrm>
          <a:prstGeom prst="rect">
            <a:avLst/>
          </a:prstGeom>
        </p:spPr>
      </p:pic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81462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2ª Fase – T2R – Ações</a:t>
            </a:r>
            <a:endParaRPr lang="pt-BR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17" name="Subtítulo 2"/>
          <p:cNvSpPr txBox="1">
            <a:spLocks/>
          </p:cNvSpPr>
          <p:nvPr/>
        </p:nvSpPr>
        <p:spPr>
          <a:xfrm>
            <a:off x="82659" y="861620"/>
            <a:ext cx="8611722" cy="30345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marL="0" indent="0">
              <a:buNone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0. </a:t>
            </a:r>
            <a:r>
              <a:rPr lang="pt-BR" sz="2000" b="1" dirty="0" smtClean="0">
                <a:cs typeface="Aharoni" panose="02010803020104030203" pitchFamily="2" charset="-79"/>
              </a:rPr>
              <a:t>Manter o ímpeto</a:t>
            </a:r>
            <a:r>
              <a:rPr lang="pt-BR" sz="2000" dirty="0" smtClean="0">
                <a:cs typeface="Aharoni" panose="02010803020104030203" pitchFamily="2" charset="-79"/>
              </a:rPr>
              <a:t> das conquistas da Gestão de Problemas e Incidentes;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1. Identificar e documentar </a:t>
            </a:r>
            <a:r>
              <a:rPr lang="pt-BR" sz="2000" b="1" dirty="0" smtClean="0">
                <a:cs typeface="Aharoni" panose="02010803020104030203" pitchFamily="2" charset="-79"/>
              </a:rPr>
              <a:t>Canais e Serviços de TI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2. Identificar os </a:t>
            </a:r>
            <a:r>
              <a:rPr lang="pt-BR" sz="2000" b="1" dirty="0" smtClean="0">
                <a:cs typeface="Aharoni" panose="02010803020104030203" pitchFamily="2" charset="-79"/>
              </a:rPr>
              <a:t>Ativos dos Serviços</a:t>
            </a:r>
            <a:r>
              <a:rPr lang="pt-BR" sz="2000" dirty="0" smtClean="0">
                <a:cs typeface="Aharoni" panose="02010803020104030203" pitchFamily="2" charset="-79"/>
              </a:rPr>
              <a:t> e sua </a:t>
            </a:r>
            <a:r>
              <a:rPr lang="pt-BR" sz="2000" b="1" dirty="0" smtClean="0">
                <a:cs typeface="Aharoni" panose="02010803020104030203" pitchFamily="2" charset="-79"/>
              </a:rPr>
              <a:t>Configuração;</a:t>
            </a: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b="1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3. Revisar e melhorar o processo e os </a:t>
            </a:r>
            <a:r>
              <a:rPr lang="pt-BR" sz="2000" b="1" dirty="0" smtClean="0">
                <a:cs typeface="Aharoni" panose="02010803020104030203" pitchFamily="2" charset="-79"/>
              </a:rPr>
              <a:t>ritos de Gestão de Mudanças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4. Vincular Gestão de </a:t>
            </a:r>
            <a:r>
              <a:rPr lang="pt-BR" sz="2000" b="1" dirty="0" smtClean="0">
                <a:cs typeface="Aharoni" panose="02010803020104030203" pitchFamily="2" charset="-79"/>
              </a:rPr>
              <a:t>Demandas, Projetos e Mudanças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5. Aumentar o </a:t>
            </a:r>
            <a:r>
              <a:rPr lang="pt-BR" sz="2000" b="1" dirty="0" smtClean="0">
                <a:cs typeface="Aharoni" panose="02010803020104030203" pitchFamily="2" charset="-79"/>
              </a:rPr>
              <a:t>compromisso com a qualidade </a:t>
            </a:r>
            <a:r>
              <a:rPr lang="pt-BR" sz="2000" dirty="0" smtClean="0">
                <a:cs typeface="Aharoni" panose="02010803020104030203" pitchFamily="2" charset="-79"/>
              </a:rPr>
              <a:t>nas implantações e Mudanças.</a:t>
            </a: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523" y="2837957"/>
            <a:ext cx="4692724" cy="9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11267</TotalTime>
  <Words>625</Words>
  <Application>Microsoft Office PowerPoint</Application>
  <PresentationFormat>Personalizar</PresentationFormat>
  <Paragraphs>114</Paragraphs>
  <Slides>14</Slides>
  <Notes>9</Notes>
  <HiddenSlides>2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Felipe Lima</cp:lastModifiedBy>
  <cp:revision>848</cp:revision>
  <dcterms:created xsi:type="dcterms:W3CDTF">2015-08-20T14:57:26Z</dcterms:created>
  <dcterms:modified xsi:type="dcterms:W3CDTF">2016-02-17T15:40:09Z</dcterms:modified>
</cp:coreProperties>
</file>