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21" r:id="rId2"/>
    <p:sldId id="320" r:id="rId3"/>
    <p:sldId id="323" r:id="rId4"/>
    <p:sldId id="315" r:id="rId5"/>
    <p:sldId id="316" r:id="rId6"/>
    <p:sldId id="319" r:id="rId7"/>
    <p:sldId id="312" r:id="rId8"/>
    <p:sldId id="318" r:id="rId9"/>
    <p:sldId id="313" r:id="rId10"/>
    <p:sldId id="317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89928" autoAdjust="0"/>
  </p:normalViewPr>
  <p:slideViewPr>
    <p:cSldViewPr>
      <p:cViewPr varScale="1">
        <p:scale>
          <a:sx n="75" d="100"/>
          <a:sy n="75" d="100"/>
        </p:scale>
        <p:origin x="-1236" y="-96"/>
      </p:cViewPr>
      <p:guideLst>
        <p:guide orient="horz" pos="216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8970C-9372-4F17-A0C8-4B544A4D0E5B}" type="datetimeFigureOut">
              <a:rPr lang="pt-BR" smtClean="0"/>
              <a:t>19/05/2016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FD6C1-D1CC-4FB0-96F4-4EBEA9FB2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10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293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293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293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293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293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293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293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293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7293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78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81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1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1741"/>
            <a:ext cx="4038600" cy="3397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741"/>
            <a:ext cx="4038600" cy="3397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11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59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5" indent="0">
              <a:buNone/>
              <a:defRPr sz="1600" b="1"/>
            </a:lvl6pPr>
            <a:lvl7pPr marL="2742918" indent="0">
              <a:buNone/>
              <a:defRPr sz="1600" b="1"/>
            </a:lvl7pPr>
            <a:lvl8pPr marL="3200071" indent="0">
              <a:buNone/>
              <a:defRPr sz="1600" b="1"/>
            </a:lvl8pPr>
            <a:lvl9pPr marL="3657224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59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5" indent="0">
              <a:buNone/>
              <a:defRPr sz="1600" b="1"/>
            </a:lvl6pPr>
            <a:lvl7pPr marL="2742918" indent="0">
              <a:buNone/>
              <a:defRPr sz="1600" b="1"/>
            </a:lvl7pPr>
            <a:lvl8pPr marL="3200071" indent="0">
              <a:buNone/>
              <a:defRPr sz="1600" b="1"/>
            </a:lvl8pPr>
            <a:lvl9pPr marL="3657224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60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8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909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1" y="273057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1" y="1435108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6" indent="0">
              <a:buNone/>
              <a:defRPr sz="1000"/>
            </a:lvl3pPr>
            <a:lvl4pPr marL="1371459" indent="0">
              <a:buNone/>
              <a:defRPr sz="900"/>
            </a:lvl4pPr>
            <a:lvl5pPr marL="1828613" indent="0">
              <a:buNone/>
              <a:defRPr sz="900"/>
            </a:lvl5pPr>
            <a:lvl6pPr marL="2285765" indent="0">
              <a:buNone/>
              <a:defRPr sz="900"/>
            </a:lvl6pPr>
            <a:lvl7pPr marL="2742918" indent="0">
              <a:buNone/>
              <a:defRPr sz="900"/>
            </a:lvl7pPr>
            <a:lvl8pPr marL="3200071" indent="0">
              <a:buNone/>
              <a:defRPr sz="900"/>
            </a:lvl8pPr>
            <a:lvl9pPr marL="3657224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24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53" indent="0">
              <a:buNone/>
              <a:defRPr sz="2800"/>
            </a:lvl2pPr>
            <a:lvl3pPr marL="914306" indent="0">
              <a:buNone/>
              <a:defRPr sz="2400"/>
            </a:lvl3pPr>
            <a:lvl4pPr marL="1371459" indent="0">
              <a:buNone/>
              <a:defRPr sz="2000"/>
            </a:lvl4pPr>
            <a:lvl5pPr marL="1828613" indent="0">
              <a:buNone/>
              <a:defRPr sz="2000"/>
            </a:lvl5pPr>
            <a:lvl6pPr marL="2285765" indent="0">
              <a:buNone/>
              <a:defRPr sz="2000"/>
            </a:lvl6pPr>
            <a:lvl7pPr marL="2742918" indent="0">
              <a:buNone/>
              <a:defRPr sz="2000"/>
            </a:lvl7pPr>
            <a:lvl8pPr marL="3200071" indent="0">
              <a:buNone/>
              <a:defRPr sz="2000"/>
            </a:lvl8pPr>
            <a:lvl9pPr marL="365722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5"/>
            <a:ext cx="54864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153" indent="0">
              <a:buNone/>
              <a:defRPr sz="1200"/>
            </a:lvl2pPr>
            <a:lvl3pPr marL="914306" indent="0">
              <a:buNone/>
              <a:defRPr sz="1000"/>
            </a:lvl3pPr>
            <a:lvl4pPr marL="1371459" indent="0">
              <a:buNone/>
              <a:defRPr sz="900"/>
            </a:lvl4pPr>
            <a:lvl5pPr marL="1828613" indent="0">
              <a:buNone/>
              <a:defRPr sz="900"/>
            </a:lvl5pPr>
            <a:lvl6pPr marL="2285765" indent="0">
              <a:buNone/>
              <a:defRPr sz="900"/>
            </a:lvl6pPr>
            <a:lvl7pPr marL="2742918" indent="0">
              <a:buNone/>
              <a:defRPr sz="900"/>
            </a:lvl7pPr>
            <a:lvl8pPr marL="3200071" indent="0">
              <a:buNone/>
              <a:defRPr sz="900"/>
            </a:lvl8pPr>
            <a:lvl9pPr marL="3657224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99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10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6"/>
            <a:ext cx="2057400" cy="4392612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6"/>
            <a:ext cx="6019800" cy="4392612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45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8"/>
            <a:ext cx="2133600" cy="36512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53"/>
            <a:fld id="{15A96241-9EE8-3241-9C65-A8F2A1D83BB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53"/>
              <a:t>5/19/2016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8"/>
            <a:ext cx="2895600" cy="36512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53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8"/>
            <a:ext cx="2133600" cy="36512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153"/>
            <a:fld id="{2088DD49-D405-3D4F-92A5-BAA19C6BFE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153"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7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15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4" indent="-342864" algn="l" defTabSz="457153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74" indent="-285720" algn="l" defTabSz="457153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3" indent="-228577" algn="l" defTabSz="457153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36" indent="-228577" algn="l" defTabSz="457153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88" indent="-228577" algn="l" defTabSz="457153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1" indent="-228577" algn="l" defTabSz="45715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4" indent="-228577" algn="l" defTabSz="45715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48" indent="-228577" algn="l" defTabSz="45715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1" indent="-228577" algn="l" defTabSz="45715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9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5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18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1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4" algn="l" defTabSz="4571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3" descr="t05-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699792" y="3645024"/>
            <a:ext cx="51860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latin typeface="Arial"/>
                <a:cs typeface="Arial"/>
              </a:rPr>
              <a:t>Controle </a:t>
            </a:r>
            <a:r>
              <a:rPr lang="pt-BR" b="1" dirty="0">
                <a:solidFill>
                  <a:schemeClr val="bg1"/>
                </a:solidFill>
                <a:latin typeface="Arial"/>
                <a:cs typeface="Arial"/>
              </a:rPr>
              <a:t>de </a:t>
            </a:r>
            <a:r>
              <a:rPr lang="pt-BR" b="1" dirty="0" smtClean="0">
                <a:solidFill>
                  <a:schemeClr val="bg1"/>
                </a:solidFill>
                <a:latin typeface="Arial"/>
                <a:cs typeface="Arial"/>
              </a:rPr>
              <a:t>Projetos  - Requisitos </a:t>
            </a:r>
            <a:r>
              <a:rPr lang="pt-BR" b="1" dirty="0">
                <a:solidFill>
                  <a:schemeClr val="bg1"/>
                </a:solidFill>
                <a:latin typeface="Arial"/>
                <a:cs typeface="Arial"/>
              </a:rPr>
              <a:t>de </a:t>
            </a:r>
            <a:r>
              <a:rPr lang="pt-BR" b="1" dirty="0" smtClean="0">
                <a:solidFill>
                  <a:schemeClr val="bg1"/>
                </a:solidFill>
                <a:latin typeface="Arial"/>
                <a:cs typeface="Arial"/>
              </a:rPr>
              <a:t>Sistema</a:t>
            </a:r>
          </a:p>
          <a:p>
            <a:r>
              <a:rPr lang="pt-BR" b="1" dirty="0" smtClean="0">
                <a:solidFill>
                  <a:schemeClr val="bg1"/>
                </a:solidFill>
                <a:latin typeface="Arial"/>
                <a:cs typeface="Arial"/>
              </a:rPr>
              <a:t>Maio/2016</a:t>
            </a:r>
            <a:endParaRPr lang="pt-BR" b="1" dirty="0">
              <a:solidFill>
                <a:schemeClr val="bg1"/>
              </a:solidFill>
              <a:latin typeface="Arial"/>
              <a:cs typeface="Arial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86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38" y="5580469"/>
            <a:ext cx="776362" cy="127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394655" y="0"/>
            <a:ext cx="7085984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Requisitos de Sistema - </a:t>
            </a:r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Geral</a:t>
            </a:r>
            <a:endParaRPr lang="pt-BR" sz="2400" b="1" dirty="0" smtClean="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1024" name="Grupo 1023"/>
          <p:cNvGrpSpPr/>
          <p:nvPr/>
        </p:nvGrpSpPr>
        <p:grpSpPr>
          <a:xfrm>
            <a:off x="606597" y="6517945"/>
            <a:ext cx="1123235" cy="230822"/>
            <a:chOff x="2159732" y="6517945"/>
            <a:chExt cx="1123235" cy="230822"/>
          </a:xfrm>
        </p:grpSpPr>
        <p:sp>
          <p:nvSpPr>
            <p:cNvPr id="121" name="CaixaDeTexto 120"/>
            <p:cNvSpPr txBox="1"/>
            <p:nvPr/>
          </p:nvSpPr>
          <p:spPr>
            <a:xfrm>
              <a:off x="2258645" y="6517945"/>
              <a:ext cx="1024322" cy="23082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Elipse 127"/>
            <p:cNvSpPr/>
            <p:nvPr/>
          </p:nvSpPr>
          <p:spPr>
            <a:xfrm>
              <a:off x="2159732" y="6579356"/>
              <a:ext cx="108012" cy="108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1931529" y="6517945"/>
            <a:ext cx="1336467" cy="230822"/>
            <a:chOff x="3455876" y="6517945"/>
            <a:chExt cx="1336467" cy="230822"/>
          </a:xfrm>
        </p:grpSpPr>
        <p:sp>
          <p:nvSpPr>
            <p:cNvPr id="123" name="CaixaDeTexto 122"/>
            <p:cNvSpPr txBox="1"/>
            <p:nvPr/>
          </p:nvSpPr>
          <p:spPr>
            <a:xfrm>
              <a:off x="3536889" y="6517945"/>
              <a:ext cx="1255454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 Parcialmente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Elipse 128"/>
            <p:cNvSpPr/>
            <p:nvPr/>
          </p:nvSpPr>
          <p:spPr>
            <a:xfrm>
              <a:off x="3455876" y="6579356"/>
              <a:ext cx="108012" cy="10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717268" y="6517945"/>
            <a:ext cx="854732" cy="230822"/>
            <a:chOff x="4716016" y="6517945"/>
            <a:chExt cx="854732" cy="230822"/>
          </a:xfrm>
        </p:grpSpPr>
        <p:sp>
          <p:nvSpPr>
            <p:cNvPr id="125" name="CaixaDeTexto 124"/>
            <p:cNvSpPr txBox="1"/>
            <p:nvPr/>
          </p:nvSpPr>
          <p:spPr>
            <a:xfrm>
              <a:off x="4789783" y="6517945"/>
              <a:ext cx="780965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Não 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Elipse 129"/>
            <p:cNvSpPr/>
            <p:nvPr/>
          </p:nvSpPr>
          <p:spPr>
            <a:xfrm>
              <a:off x="4716016" y="6579356"/>
              <a:ext cx="108012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467544" y="1556792"/>
            <a:ext cx="8353809" cy="792088"/>
            <a:chOff x="467544" y="1556792"/>
            <a:chExt cx="8353809" cy="792088"/>
          </a:xfrm>
        </p:grpSpPr>
        <p:sp>
          <p:nvSpPr>
            <p:cNvPr id="2" name="Retângulo de cantos arredondados 1"/>
            <p:cNvSpPr/>
            <p:nvPr/>
          </p:nvSpPr>
          <p:spPr>
            <a:xfrm>
              <a:off x="467544" y="1556792"/>
              <a:ext cx="1369033" cy="792088"/>
            </a:xfrm>
            <a:prstGeom prst="round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2"/>
                  </a:solidFill>
                </a:rPr>
                <a:t>A</a:t>
              </a:r>
              <a:r>
                <a:rPr lang="pt-BR" dirty="0" smtClean="0">
                  <a:solidFill>
                    <a:schemeClr val="tx2"/>
                  </a:solidFill>
                </a:rPr>
                <a:t>cesso</a:t>
              </a:r>
              <a:endParaRPr lang="pt-BR" dirty="0">
                <a:solidFill>
                  <a:schemeClr val="tx2"/>
                </a:solidFill>
              </a:endParaRPr>
            </a:p>
          </p:txBody>
        </p:sp>
        <p:sp>
          <p:nvSpPr>
            <p:cNvPr id="17" name="Retângulo de cantos arredondados 16"/>
            <p:cNvSpPr/>
            <p:nvPr/>
          </p:nvSpPr>
          <p:spPr>
            <a:xfrm>
              <a:off x="2213738" y="1556792"/>
              <a:ext cx="1369033" cy="792088"/>
            </a:xfrm>
            <a:prstGeom prst="round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2"/>
                  </a:solidFill>
                </a:rPr>
                <a:t>Priorização</a:t>
              </a:r>
              <a:endParaRPr lang="pt-BR" dirty="0">
                <a:solidFill>
                  <a:schemeClr val="tx2"/>
                </a:solidFill>
              </a:endParaRPr>
            </a:p>
          </p:txBody>
        </p:sp>
        <p:sp>
          <p:nvSpPr>
            <p:cNvPr id="21" name="Retângulo de cantos arredondados 20"/>
            <p:cNvSpPr/>
            <p:nvPr/>
          </p:nvSpPr>
          <p:spPr>
            <a:xfrm>
              <a:off x="3959932" y="1556792"/>
              <a:ext cx="1369033" cy="792088"/>
            </a:xfrm>
            <a:prstGeom prst="round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2"/>
                  </a:solidFill>
                </a:rPr>
                <a:t>Controle</a:t>
              </a:r>
              <a:endParaRPr lang="pt-BR" dirty="0">
                <a:solidFill>
                  <a:schemeClr val="tx2"/>
                </a:solidFill>
              </a:endParaRPr>
            </a:p>
          </p:txBody>
        </p:sp>
        <p:sp>
          <p:nvSpPr>
            <p:cNvPr id="22" name="Retângulo de cantos arredondados 21"/>
            <p:cNvSpPr/>
            <p:nvPr/>
          </p:nvSpPr>
          <p:spPr>
            <a:xfrm>
              <a:off x="5706126" y="1556792"/>
              <a:ext cx="1369033" cy="792088"/>
            </a:xfrm>
            <a:prstGeom prst="round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>
                  <a:solidFill>
                    <a:schemeClr val="tx2"/>
                  </a:solidFill>
                </a:rPr>
                <a:t>Tratamento</a:t>
              </a:r>
              <a:endParaRPr lang="pt-BR" dirty="0">
                <a:solidFill>
                  <a:schemeClr val="tx2"/>
                </a:solidFill>
              </a:endParaRPr>
            </a:p>
          </p:txBody>
        </p:sp>
        <p:sp>
          <p:nvSpPr>
            <p:cNvPr id="23" name="Retângulo de cantos arredondados 22"/>
            <p:cNvSpPr/>
            <p:nvPr/>
          </p:nvSpPr>
          <p:spPr>
            <a:xfrm>
              <a:off x="7452320" y="1556792"/>
              <a:ext cx="1369033" cy="792088"/>
            </a:xfrm>
            <a:prstGeom prst="round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 smtClean="0">
                  <a:solidFill>
                    <a:schemeClr val="tx2"/>
                  </a:solidFill>
                </a:rPr>
                <a:t>Report</a:t>
              </a:r>
              <a:endParaRPr lang="pt-BR" dirty="0">
                <a:solidFill>
                  <a:schemeClr val="tx2"/>
                </a:solidFill>
              </a:endParaRPr>
            </a:p>
          </p:txBody>
        </p:sp>
        <p:cxnSp>
          <p:nvCxnSpPr>
            <p:cNvPr id="4" name="Conector de seta reta 3"/>
            <p:cNvCxnSpPr/>
            <p:nvPr/>
          </p:nvCxnSpPr>
          <p:spPr>
            <a:xfrm>
              <a:off x="1836577" y="1952836"/>
              <a:ext cx="377161" cy="0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/>
            <p:cNvCxnSpPr/>
            <p:nvPr/>
          </p:nvCxnSpPr>
          <p:spPr>
            <a:xfrm>
              <a:off x="3582771" y="1952836"/>
              <a:ext cx="377161" cy="0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/>
            <p:cNvCxnSpPr/>
            <p:nvPr/>
          </p:nvCxnSpPr>
          <p:spPr>
            <a:xfrm>
              <a:off x="5328965" y="1952836"/>
              <a:ext cx="377161" cy="0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/>
            <p:nvPr/>
          </p:nvCxnSpPr>
          <p:spPr>
            <a:xfrm>
              <a:off x="7075159" y="1952836"/>
              <a:ext cx="377161" cy="0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2" name="Tabela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02295"/>
              </p:ext>
            </p:extLst>
          </p:nvPr>
        </p:nvGraphicFramePr>
        <p:xfrm>
          <a:off x="790931" y="2902584"/>
          <a:ext cx="7707034" cy="1484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254"/>
                <a:gridCol w="1253101"/>
                <a:gridCol w="1768018"/>
                <a:gridCol w="860661"/>
              </a:tblGrid>
              <a:tr h="33350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Requisitos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tProcess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ProjetoFácil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Ideal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</a:tr>
              <a:tr h="484361">
                <a:tc>
                  <a:txBody>
                    <a:bodyPr/>
                    <a:lstStyle/>
                    <a:p>
                      <a:pPr marL="0" marR="0" indent="0" algn="l" defTabSz="457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r>
                        <a:rPr lang="pt-BR" sz="1100" b="0" dirty="0" smtClean="0">
                          <a:effectLst/>
                          <a:latin typeface="Calibri"/>
                          <a:ea typeface="Calibri"/>
                        </a:rPr>
                        <a:t> </a:t>
                      </a:r>
                      <a:r>
                        <a:rPr lang="pt-BR" sz="1100" b="0" dirty="0" smtClean="0">
                          <a:effectLst/>
                          <a:latin typeface="Calibri"/>
                          <a:ea typeface="Calibri"/>
                        </a:rPr>
                        <a:t>    Atendidos</a:t>
                      </a:r>
                      <a:endParaRPr lang="pt-BR" sz="1100" b="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    (33,3%)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   (52,3%)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 (100%)</a:t>
                      </a:r>
                    </a:p>
                  </a:txBody>
                  <a:tcPr marL="72000" marR="72000" marT="72000" marB="72000" anchor="ctr"/>
                </a:tc>
              </a:tr>
              <a:tr h="33350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 </a:t>
                      </a:r>
                      <a:r>
                        <a:rPr lang="pt-BR" sz="1100" b="0" dirty="0" smtClean="0">
                          <a:effectLst/>
                          <a:latin typeface="Calibri"/>
                          <a:ea typeface="Calibri"/>
                        </a:rPr>
                        <a:t>Atendidos </a:t>
                      </a:r>
                      <a:r>
                        <a:rPr lang="pt-BR" sz="1100" b="0" dirty="0" smtClean="0">
                          <a:effectLst/>
                          <a:latin typeface="Calibri"/>
                          <a:ea typeface="Calibri"/>
                        </a:rPr>
                        <a:t>Parcialmente</a:t>
                      </a:r>
                      <a:endParaRPr lang="pt-BR" sz="1100" b="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   (0,7%)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   (47%)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2000" marR="72000" marT="72000" marB="72000" anchor="ctr"/>
                </a:tc>
              </a:tr>
              <a:tr h="333506">
                <a:tc>
                  <a:txBody>
                    <a:bodyPr/>
                    <a:lstStyle/>
                    <a:p>
                      <a:pPr marL="0" marR="0" indent="0" algn="l" defTabSz="4571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 </a:t>
                      </a:r>
                      <a:r>
                        <a:rPr lang="pt-BR" sz="1100" b="0" dirty="0" smtClean="0">
                          <a:effectLst/>
                          <a:latin typeface="Calibri"/>
                          <a:ea typeface="Calibri"/>
                        </a:rPr>
                        <a:t>Não </a:t>
                      </a:r>
                      <a:r>
                        <a:rPr lang="pt-BR" sz="1100" b="0" dirty="0" smtClean="0">
                          <a:effectLst/>
                          <a:latin typeface="Calibri"/>
                          <a:ea typeface="Calibri"/>
                        </a:rPr>
                        <a:t>atendidos </a:t>
                      </a:r>
                      <a:endParaRPr lang="pt-BR" sz="1100" b="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   (66%)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   (0,7%)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72000" marR="72000" marT="72000" marB="72000" anchor="ctr"/>
                </a:tc>
              </a:tr>
            </a:tbl>
          </a:graphicData>
        </a:graphic>
      </p:graphicFrame>
      <p:sp>
        <p:nvSpPr>
          <p:cNvPr id="34" name="Retângulo de cantos arredondados 33"/>
          <p:cNvSpPr/>
          <p:nvPr/>
        </p:nvSpPr>
        <p:spPr>
          <a:xfrm>
            <a:off x="500310" y="4941168"/>
            <a:ext cx="8288276" cy="1278066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u="sng" dirty="0" smtClean="0">
                <a:solidFill>
                  <a:schemeClr val="tx2"/>
                </a:solidFill>
              </a:rPr>
              <a:t>Próximos Passos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2"/>
                </a:solidFill>
              </a:rPr>
              <a:t>Elaborar EF para adequação do </a:t>
            </a:r>
            <a:r>
              <a:rPr lang="pt-BR" dirty="0" err="1" smtClean="0">
                <a:solidFill>
                  <a:schemeClr val="tx2"/>
                </a:solidFill>
              </a:rPr>
              <a:t>ProjetoFácil</a:t>
            </a:r>
            <a:endParaRPr lang="pt-BR" dirty="0" smtClean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2"/>
                </a:solidFill>
              </a:rPr>
              <a:t>Reativação da Ferramenta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2"/>
                </a:solidFill>
              </a:rPr>
              <a:t>Homologação e utilização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71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711090"/>
              </p:ext>
            </p:extLst>
          </p:nvPr>
        </p:nvGraphicFramePr>
        <p:xfrm>
          <a:off x="539553" y="900000"/>
          <a:ext cx="8414642" cy="2312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3"/>
                <a:gridCol w="1368152"/>
                <a:gridCol w="1930346"/>
                <a:gridCol w="939681"/>
              </a:tblGrid>
              <a:tr h="6364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Requisitos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tProcess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ProjetoFácil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Ideal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</a:tr>
              <a:tr h="16764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Acesso: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Limitação </a:t>
                      </a:r>
                      <a:r>
                        <a:rPr lang="pt-BR" sz="1100" b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de quem pode abrir </a:t>
                      </a: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registro de projeto para TI: Perfil de sistema adequado</a:t>
                      </a:r>
                      <a:r>
                        <a:rPr lang="pt-BR" sz="1100" b="0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 restringindo quem pode registar chamado de projetos, quem executa, quem consulta, quem administra, etc.</a:t>
                      </a:r>
                      <a:endParaRPr lang="pt-BR" sz="1100" b="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Não possui interface de entrada para solicitante registrar sua solicitação. Escritório de TI recebe solicitação e ela faz input na ferramenta. Após isso o controle por perfis de acesso está disponível.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</a:tbl>
          </a:graphicData>
        </a:graphic>
      </p:graphicFrame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38" y="5580469"/>
            <a:ext cx="776362" cy="127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394655" y="0"/>
            <a:ext cx="7085984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Requisitos de Sistema - Acesso</a:t>
            </a:r>
          </a:p>
        </p:txBody>
      </p:sp>
      <p:grpSp>
        <p:nvGrpSpPr>
          <p:cNvPr id="1024" name="Grupo 1023"/>
          <p:cNvGrpSpPr/>
          <p:nvPr/>
        </p:nvGrpSpPr>
        <p:grpSpPr>
          <a:xfrm>
            <a:off x="606597" y="6517945"/>
            <a:ext cx="1123235" cy="230822"/>
            <a:chOff x="2159732" y="6517945"/>
            <a:chExt cx="1123235" cy="230822"/>
          </a:xfrm>
        </p:grpSpPr>
        <p:sp>
          <p:nvSpPr>
            <p:cNvPr id="121" name="CaixaDeTexto 120"/>
            <p:cNvSpPr txBox="1"/>
            <p:nvPr/>
          </p:nvSpPr>
          <p:spPr>
            <a:xfrm>
              <a:off x="2258645" y="6517945"/>
              <a:ext cx="1024322" cy="23082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Elipse 127"/>
            <p:cNvSpPr/>
            <p:nvPr/>
          </p:nvSpPr>
          <p:spPr>
            <a:xfrm>
              <a:off x="2159732" y="6579356"/>
              <a:ext cx="108012" cy="108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1931529" y="6517945"/>
            <a:ext cx="1336467" cy="230822"/>
            <a:chOff x="3455876" y="6517945"/>
            <a:chExt cx="1336467" cy="230822"/>
          </a:xfrm>
        </p:grpSpPr>
        <p:sp>
          <p:nvSpPr>
            <p:cNvPr id="123" name="CaixaDeTexto 122"/>
            <p:cNvSpPr txBox="1"/>
            <p:nvPr/>
          </p:nvSpPr>
          <p:spPr>
            <a:xfrm>
              <a:off x="3536889" y="6517945"/>
              <a:ext cx="1255454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 Parcialmente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Elipse 128"/>
            <p:cNvSpPr/>
            <p:nvPr/>
          </p:nvSpPr>
          <p:spPr>
            <a:xfrm>
              <a:off x="3455876" y="6579356"/>
              <a:ext cx="108012" cy="10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717268" y="6517945"/>
            <a:ext cx="854732" cy="230822"/>
            <a:chOff x="4716016" y="6517945"/>
            <a:chExt cx="854732" cy="230822"/>
          </a:xfrm>
        </p:grpSpPr>
        <p:sp>
          <p:nvSpPr>
            <p:cNvPr id="125" name="CaixaDeTexto 124"/>
            <p:cNvSpPr txBox="1"/>
            <p:nvPr/>
          </p:nvSpPr>
          <p:spPr>
            <a:xfrm>
              <a:off x="4789783" y="6517945"/>
              <a:ext cx="780965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Não 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Elipse 129"/>
            <p:cNvSpPr/>
            <p:nvPr/>
          </p:nvSpPr>
          <p:spPr>
            <a:xfrm>
              <a:off x="4716016" y="6579356"/>
              <a:ext cx="108012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11645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047576"/>
              </p:ext>
            </p:extLst>
          </p:nvPr>
        </p:nvGraphicFramePr>
        <p:xfrm>
          <a:off x="539553" y="900000"/>
          <a:ext cx="8414642" cy="2312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3"/>
                <a:gridCol w="1368152"/>
                <a:gridCol w="1930346"/>
                <a:gridCol w="939681"/>
              </a:tblGrid>
              <a:tr h="6364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Requisitos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tProcess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ProjetoFácil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Ideal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</a:tr>
              <a:tr h="16764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Priorização: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Capacidade </a:t>
                      </a:r>
                      <a:r>
                        <a:rPr lang="pt-BR" sz="1100" b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de definição de "Grau de priorização" a cada projeto e trabalhar com sua ordenação nas filas executoras;</a:t>
                      </a:r>
                      <a:endParaRPr lang="pt-BR" sz="1100" b="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</a:tbl>
          </a:graphicData>
        </a:graphic>
      </p:graphicFrame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38" y="5580469"/>
            <a:ext cx="776362" cy="127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394655" y="0"/>
            <a:ext cx="7085984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Requisitos de Sistema - Priorização</a:t>
            </a:r>
          </a:p>
        </p:txBody>
      </p:sp>
      <p:grpSp>
        <p:nvGrpSpPr>
          <p:cNvPr id="1024" name="Grupo 1023"/>
          <p:cNvGrpSpPr/>
          <p:nvPr/>
        </p:nvGrpSpPr>
        <p:grpSpPr>
          <a:xfrm>
            <a:off x="606597" y="6517945"/>
            <a:ext cx="1123235" cy="230822"/>
            <a:chOff x="2159732" y="6517945"/>
            <a:chExt cx="1123235" cy="230822"/>
          </a:xfrm>
        </p:grpSpPr>
        <p:sp>
          <p:nvSpPr>
            <p:cNvPr id="121" name="CaixaDeTexto 120"/>
            <p:cNvSpPr txBox="1"/>
            <p:nvPr/>
          </p:nvSpPr>
          <p:spPr>
            <a:xfrm>
              <a:off x="2258645" y="6517945"/>
              <a:ext cx="1024322" cy="23082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Elipse 127"/>
            <p:cNvSpPr/>
            <p:nvPr/>
          </p:nvSpPr>
          <p:spPr>
            <a:xfrm>
              <a:off x="2159732" y="6579356"/>
              <a:ext cx="108012" cy="108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1931529" y="6517945"/>
            <a:ext cx="1336467" cy="230822"/>
            <a:chOff x="3455876" y="6517945"/>
            <a:chExt cx="1336467" cy="230822"/>
          </a:xfrm>
        </p:grpSpPr>
        <p:sp>
          <p:nvSpPr>
            <p:cNvPr id="123" name="CaixaDeTexto 122"/>
            <p:cNvSpPr txBox="1"/>
            <p:nvPr/>
          </p:nvSpPr>
          <p:spPr>
            <a:xfrm>
              <a:off x="3536889" y="6517945"/>
              <a:ext cx="1255454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 Parcialmente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Elipse 128"/>
            <p:cNvSpPr/>
            <p:nvPr/>
          </p:nvSpPr>
          <p:spPr>
            <a:xfrm>
              <a:off x="3455876" y="6579356"/>
              <a:ext cx="108012" cy="10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717268" y="6517945"/>
            <a:ext cx="854732" cy="230822"/>
            <a:chOff x="4716016" y="6517945"/>
            <a:chExt cx="854732" cy="230822"/>
          </a:xfrm>
        </p:grpSpPr>
        <p:sp>
          <p:nvSpPr>
            <p:cNvPr id="125" name="CaixaDeTexto 124"/>
            <p:cNvSpPr txBox="1"/>
            <p:nvPr/>
          </p:nvSpPr>
          <p:spPr>
            <a:xfrm>
              <a:off x="4789783" y="6517945"/>
              <a:ext cx="780965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Não 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Elipse 129"/>
            <p:cNvSpPr/>
            <p:nvPr/>
          </p:nvSpPr>
          <p:spPr>
            <a:xfrm>
              <a:off x="4716016" y="6579356"/>
              <a:ext cx="108012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48234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355202"/>
              </p:ext>
            </p:extLst>
          </p:nvPr>
        </p:nvGraphicFramePr>
        <p:xfrm>
          <a:off x="539553" y="900000"/>
          <a:ext cx="8414642" cy="5225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3"/>
                <a:gridCol w="1368152"/>
                <a:gridCol w="1930346"/>
                <a:gridCol w="939681"/>
              </a:tblGrid>
              <a:tr h="6364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Requisitos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tProcess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ProjetoFácil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Ideal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</a:tr>
              <a:tr h="16764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Controle: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Áreas executoras de projetos somente devem tratar chamados de projetos(não demandas) seguindo fila de priorização definida na entrada para a área. Assim como áreas que tratem demandas</a:t>
                      </a:r>
                      <a:r>
                        <a:rPr lang="pt-BR" sz="1100" b="0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 somente a essas devem ter acesso.</a:t>
                      </a:r>
                      <a:endParaRPr lang="pt-BR" sz="1100" b="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Permite a mistura</a:t>
                      </a:r>
                      <a:r>
                        <a:rPr lang="pt-B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demandas e Projetos</a:t>
                      </a:r>
                      <a:endParaRPr lang="pt-BR" sz="11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Só trata modelo de projetos</a:t>
                      </a:r>
                      <a:endParaRPr lang="pt-B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 marL="0" algn="l" defTabSz="457153" rtl="0" eaLnBrk="1" latinLnBrk="0" hangingPunct="1">
                        <a:spcAft>
                          <a:spcPts val="0"/>
                        </a:spcAft>
                      </a:pPr>
                      <a:r>
                        <a:rPr lang="pt-BR" sz="1100" b="0" kern="12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Controle:</a:t>
                      </a:r>
                    </a:p>
                    <a:p>
                      <a:pPr marL="0" algn="l" defTabSz="457153" rtl="0" eaLnBrk="1" latinLnBrk="0" hangingPunct="1">
                        <a:spcAft>
                          <a:spcPts val="0"/>
                        </a:spcAft>
                      </a:pPr>
                      <a:r>
                        <a:rPr lang="pt-BR" sz="1100" b="0" kern="12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visualização personalizada dos projetos que estão sob gestão de líder e/ou equipe.</a:t>
                      </a:r>
                      <a:endParaRPr lang="pt-BR" sz="1100" b="0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Possível através da construção de filtros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Controle: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Cadastro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de atividades, estimativa de horas, profissionais envolvidos e  insumos necessários.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Controle: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Escala de equipe  necessária ao projeto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Fora time de Projetos, somente TI dos Site</a:t>
                      </a:r>
                      <a:r>
                        <a:rPr lang="pt-B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está hoje contemplado</a:t>
                      </a:r>
                      <a:endParaRPr lang="pt-B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Controle: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Acompanhamento das filas de projetos em execução pelas áreas executoras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Fora time de Projetos, somente TI dos Site</a:t>
                      </a:r>
                      <a:r>
                        <a:rPr lang="pt-B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está hoje contemplado</a:t>
                      </a:r>
                      <a:endParaRPr lang="pt-B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</a:tbl>
          </a:graphicData>
        </a:graphic>
      </p:graphicFrame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38" y="5580469"/>
            <a:ext cx="776362" cy="127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394655" y="0"/>
            <a:ext cx="7085984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Requisitos de Sistema – Controle 1/2</a:t>
            </a:r>
          </a:p>
        </p:txBody>
      </p:sp>
      <p:grpSp>
        <p:nvGrpSpPr>
          <p:cNvPr id="1024" name="Grupo 1023"/>
          <p:cNvGrpSpPr/>
          <p:nvPr/>
        </p:nvGrpSpPr>
        <p:grpSpPr>
          <a:xfrm>
            <a:off x="606597" y="6517945"/>
            <a:ext cx="1123235" cy="230822"/>
            <a:chOff x="2159732" y="6517945"/>
            <a:chExt cx="1123235" cy="230822"/>
          </a:xfrm>
        </p:grpSpPr>
        <p:sp>
          <p:nvSpPr>
            <p:cNvPr id="121" name="CaixaDeTexto 120"/>
            <p:cNvSpPr txBox="1"/>
            <p:nvPr/>
          </p:nvSpPr>
          <p:spPr>
            <a:xfrm>
              <a:off x="2258645" y="6517945"/>
              <a:ext cx="1024322" cy="23082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Elipse 127"/>
            <p:cNvSpPr/>
            <p:nvPr/>
          </p:nvSpPr>
          <p:spPr>
            <a:xfrm>
              <a:off x="2159732" y="6579356"/>
              <a:ext cx="108012" cy="108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1931529" y="6517945"/>
            <a:ext cx="1336467" cy="230822"/>
            <a:chOff x="3455876" y="6517945"/>
            <a:chExt cx="1336467" cy="230822"/>
          </a:xfrm>
        </p:grpSpPr>
        <p:sp>
          <p:nvSpPr>
            <p:cNvPr id="123" name="CaixaDeTexto 122"/>
            <p:cNvSpPr txBox="1"/>
            <p:nvPr/>
          </p:nvSpPr>
          <p:spPr>
            <a:xfrm>
              <a:off x="3536889" y="6517945"/>
              <a:ext cx="1255454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 Parcialmente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Elipse 128"/>
            <p:cNvSpPr/>
            <p:nvPr/>
          </p:nvSpPr>
          <p:spPr>
            <a:xfrm>
              <a:off x="3455876" y="6579356"/>
              <a:ext cx="108012" cy="10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717268" y="6517945"/>
            <a:ext cx="854732" cy="230822"/>
            <a:chOff x="4716016" y="6517945"/>
            <a:chExt cx="854732" cy="230822"/>
          </a:xfrm>
        </p:grpSpPr>
        <p:sp>
          <p:nvSpPr>
            <p:cNvPr id="125" name="CaixaDeTexto 124"/>
            <p:cNvSpPr txBox="1"/>
            <p:nvPr/>
          </p:nvSpPr>
          <p:spPr>
            <a:xfrm>
              <a:off x="4789783" y="6517945"/>
              <a:ext cx="780965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Não 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Elipse 129"/>
            <p:cNvSpPr/>
            <p:nvPr/>
          </p:nvSpPr>
          <p:spPr>
            <a:xfrm>
              <a:off x="4716016" y="6579356"/>
              <a:ext cx="108012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86651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626045"/>
              </p:ext>
            </p:extLst>
          </p:nvPr>
        </p:nvGraphicFramePr>
        <p:xfrm>
          <a:off x="539553" y="900000"/>
          <a:ext cx="8414642" cy="4858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3"/>
                <a:gridCol w="1368152"/>
                <a:gridCol w="1930346"/>
                <a:gridCol w="939681"/>
              </a:tblGrid>
              <a:tr h="6364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Requisitos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tProcess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ProjetoFácil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Ideal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</a:tr>
              <a:tr h="16764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Controle: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Uso de </a:t>
                      </a:r>
                      <a:r>
                        <a:rPr lang="pt-BR" sz="1100" b="0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templates</a:t>
                      </a: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 de cronogramas por tipo de projeto(Crescimento, Desenvolvimento,</a:t>
                      </a:r>
                      <a:r>
                        <a:rPr lang="pt-BR" sz="1100" b="0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 </a:t>
                      </a:r>
                      <a:r>
                        <a:rPr lang="pt-BR" sz="1100" b="0" baseline="0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etc</a:t>
                      </a: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)</a:t>
                      </a: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Controle: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Confecção</a:t>
                      </a: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</a:rPr>
                        <a:t>, atualização , consulta  e exportação de </a:t>
                      </a:r>
                      <a:r>
                        <a:rPr lang="pt-BR" sz="1100" b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cronogramas dos projetos</a:t>
                      </a: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Controle: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Envio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de </a:t>
                      </a:r>
                      <a:r>
                        <a:rPr lang="pt-BR" sz="1100" baseline="0" dirty="0" err="1" smtClean="0">
                          <a:effectLst/>
                          <a:latin typeface="Calibri"/>
                          <a:ea typeface="Calibri"/>
                        </a:rPr>
                        <a:t>emails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 para comunicação de avanços  e alertas aos </a:t>
                      </a:r>
                      <a:r>
                        <a:rPr lang="pt-BR" sz="1100" baseline="0" dirty="0" err="1" smtClean="0">
                          <a:effectLst/>
                          <a:latin typeface="Calibri"/>
                          <a:ea typeface="Calibri"/>
                        </a:rPr>
                        <a:t>stakeholders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do projeto. 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Controle: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Gestão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dos custos ($) do projeto: Proposta, estimativa, execução e faturamento 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</a:tbl>
          </a:graphicData>
        </a:graphic>
      </p:graphicFrame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38" y="5580469"/>
            <a:ext cx="776362" cy="127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394655" y="0"/>
            <a:ext cx="7085984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Requisitos de Sistema – Controle 2/2</a:t>
            </a:r>
          </a:p>
        </p:txBody>
      </p:sp>
      <p:grpSp>
        <p:nvGrpSpPr>
          <p:cNvPr id="1024" name="Grupo 1023"/>
          <p:cNvGrpSpPr/>
          <p:nvPr/>
        </p:nvGrpSpPr>
        <p:grpSpPr>
          <a:xfrm>
            <a:off x="606597" y="6517945"/>
            <a:ext cx="1123235" cy="230822"/>
            <a:chOff x="2159732" y="6517945"/>
            <a:chExt cx="1123235" cy="230822"/>
          </a:xfrm>
        </p:grpSpPr>
        <p:sp>
          <p:nvSpPr>
            <p:cNvPr id="121" name="CaixaDeTexto 120"/>
            <p:cNvSpPr txBox="1"/>
            <p:nvPr/>
          </p:nvSpPr>
          <p:spPr>
            <a:xfrm>
              <a:off x="2258645" y="6517945"/>
              <a:ext cx="1024322" cy="23082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Elipse 127"/>
            <p:cNvSpPr/>
            <p:nvPr/>
          </p:nvSpPr>
          <p:spPr>
            <a:xfrm>
              <a:off x="2159732" y="6579356"/>
              <a:ext cx="108012" cy="108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1931529" y="6517945"/>
            <a:ext cx="1336467" cy="230822"/>
            <a:chOff x="3455876" y="6517945"/>
            <a:chExt cx="1336467" cy="230822"/>
          </a:xfrm>
        </p:grpSpPr>
        <p:sp>
          <p:nvSpPr>
            <p:cNvPr id="123" name="CaixaDeTexto 122"/>
            <p:cNvSpPr txBox="1"/>
            <p:nvPr/>
          </p:nvSpPr>
          <p:spPr>
            <a:xfrm>
              <a:off x="3536889" y="6517945"/>
              <a:ext cx="1255454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 Parcialmente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Elipse 128"/>
            <p:cNvSpPr/>
            <p:nvPr/>
          </p:nvSpPr>
          <p:spPr>
            <a:xfrm>
              <a:off x="3455876" y="6579356"/>
              <a:ext cx="108012" cy="10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717268" y="6517945"/>
            <a:ext cx="854732" cy="230822"/>
            <a:chOff x="4716016" y="6517945"/>
            <a:chExt cx="854732" cy="230822"/>
          </a:xfrm>
        </p:grpSpPr>
        <p:sp>
          <p:nvSpPr>
            <p:cNvPr id="125" name="CaixaDeTexto 124"/>
            <p:cNvSpPr txBox="1"/>
            <p:nvPr/>
          </p:nvSpPr>
          <p:spPr>
            <a:xfrm>
              <a:off x="4789783" y="6517945"/>
              <a:ext cx="780965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Não 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Elipse 129"/>
            <p:cNvSpPr/>
            <p:nvPr/>
          </p:nvSpPr>
          <p:spPr>
            <a:xfrm>
              <a:off x="4716016" y="6579356"/>
              <a:ext cx="108012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0681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73965"/>
              </p:ext>
            </p:extLst>
          </p:nvPr>
        </p:nvGraphicFramePr>
        <p:xfrm>
          <a:off x="539553" y="900000"/>
          <a:ext cx="8414642" cy="555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3"/>
                <a:gridCol w="1368152"/>
                <a:gridCol w="1930346"/>
                <a:gridCol w="939681"/>
              </a:tblGrid>
              <a:tr h="6364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Requisitos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tProcess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ProjetoFácil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Ideal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Tratamento: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Ciclo completo de demanda(Abertura, Analise, Estimativa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e Aprovação</a:t>
                      </a: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) e projeto(Iniciação, Planejamento), Execução, Controle e Encerramento).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Só trata modelo de projetos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Tratamento: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Separação e particularização de fluxo  entre demanda e projeto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Só trata modelo de projetos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Tratamento: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Classificação do </a:t>
                      </a:r>
                      <a:r>
                        <a:rPr lang="pt-BR" sz="11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tipo do projeto: "Crescimento"; "Desmobilização"; "Upgrade de Tecnologia"; "Desenvolvimento"; "Comercial";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Tratamento: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Áreas executoras de projetos somente devem tratar chamados de projetos(não demandas) seguindo fila de priorização definida na entrada para a área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Tratamento: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Existirem grupos </a:t>
                      </a:r>
                      <a:r>
                        <a:rPr lang="pt-BR" sz="11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de executores de </a:t>
                      </a: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projetos, </a:t>
                      </a:r>
                      <a:r>
                        <a:rPr lang="pt-BR" sz="11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que receberão os chamados: Projetos</a:t>
                      </a: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; Engenharia; Sites; Aplicações</a:t>
                      </a:r>
                      <a:r>
                        <a:rPr lang="pt-BR" sz="11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;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Fora time de Projetos, somente TI dos Site</a:t>
                      </a:r>
                      <a:r>
                        <a:rPr lang="pt-B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está hoje contemplado</a:t>
                      </a:r>
                      <a:endParaRPr lang="pt-B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Tratamento: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Possibilidade</a:t>
                      </a:r>
                      <a:r>
                        <a:rPr lang="pt-BR" sz="1100" b="1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 de acionamento e integração das atividades de todas as áreas executoras no mesmo chamado. </a:t>
                      </a:r>
                      <a:r>
                        <a:rPr lang="pt-BR" sz="1100" b="1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SubChamados</a:t>
                      </a:r>
                      <a:r>
                        <a:rPr lang="pt-BR" sz="1100" b="1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(como </a:t>
                      </a:r>
                      <a:r>
                        <a:rPr lang="pt-BR" sz="11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se fossem "tarefas") dentro do chamado principal para cada área executora: Acionamento, monitoração e </a:t>
                      </a:r>
                      <a:r>
                        <a:rPr lang="pt-BR" sz="1100" b="1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capacity</a:t>
                      </a:r>
                      <a:r>
                        <a:rPr lang="pt-BR" sz="11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</a:rPr>
                        <a:t> das áreas;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Disponível somente para equipe de projetos e TI dos Sites</a:t>
                      </a:r>
                      <a:endParaRPr lang="pt-BR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b="1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Tratamento:</a:t>
                      </a:r>
                    </a:p>
                    <a:p>
                      <a:r>
                        <a:rPr lang="pt-BR" sz="1100" b="1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Avanço de fase no projeto somente após </a:t>
                      </a:r>
                      <a:r>
                        <a:rPr lang="pt-BR" sz="1100" b="1" kern="1200" baseline="0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checklist</a:t>
                      </a:r>
                      <a:r>
                        <a:rPr lang="pt-BR" sz="1100" b="1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 de informações e anexos necessários a conclusão da fase</a:t>
                      </a:r>
                      <a:endParaRPr lang="pt-BR" sz="1100" b="1" kern="1200" baseline="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Adequação</a:t>
                      </a:r>
                      <a:r>
                        <a:rPr lang="pt-BR" sz="11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necessária  a nova realidade de fases e checagens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</a:tbl>
          </a:graphicData>
        </a:graphic>
      </p:graphicFrame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38" y="5580469"/>
            <a:ext cx="776362" cy="127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394655" y="0"/>
            <a:ext cx="7085984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Requisitos de Sistema – Tratamento 1/2</a:t>
            </a:r>
          </a:p>
        </p:txBody>
      </p:sp>
      <p:grpSp>
        <p:nvGrpSpPr>
          <p:cNvPr id="1024" name="Grupo 1023"/>
          <p:cNvGrpSpPr/>
          <p:nvPr/>
        </p:nvGrpSpPr>
        <p:grpSpPr>
          <a:xfrm>
            <a:off x="606597" y="6517945"/>
            <a:ext cx="1123235" cy="230822"/>
            <a:chOff x="2159732" y="6517945"/>
            <a:chExt cx="1123235" cy="230822"/>
          </a:xfrm>
        </p:grpSpPr>
        <p:sp>
          <p:nvSpPr>
            <p:cNvPr id="121" name="CaixaDeTexto 120"/>
            <p:cNvSpPr txBox="1"/>
            <p:nvPr/>
          </p:nvSpPr>
          <p:spPr>
            <a:xfrm>
              <a:off x="2258645" y="6517945"/>
              <a:ext cx="1024322" cy="23082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Elipse 127"/>
            <p:cNvSpPr/>
            <p:nvPr/>
          </p:nvSpPr>
          <p:spPr>
            <a:xfrm>
              <a:off x="2159732" y="6579356"/>
              <a:ext cx="108012" cy="108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1931529" y="6517945"/>
            <a:ext cx="1336467" cy="230822"/>
            <a:chOff x="3455876" y="6517945"/>
            <a:chExt cx="1336467" cy="230822"/>
          </a:xfrm>
        </p:grpSpPr>
        <p:sp>
          <p:nvSpPr>
            <p:cNvPr id="123" name="CaixaDeTexto 122"/>
            <p:cNvSpPr txBox="1"/>
            <p:nvPr/>
          </p:nvSpPr>
          <p:spPr>
            <a:xfrm>
              <a:off x="3536889" y="6517945"/>
              <a:ext cx="1255454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 Parcialmente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Elipse 128"/>
            <p:cNvSpPr/>
            <p:nvPr/>
          </p:nvSpPr>
          <p:spPr>
            <a:xfrm>
              <a:off x="3455876" y="6579356"/>
              <a:ext cx="108012" cy="10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717268" y="6517945"/>
            <a:ext cx="854732" cy="230822"/>
            <a:chOff x="4716016" y="6517945"/>
            <a:chExt cx="854732" cy="230822"/>
          </a:xfrm>
        </p:grpSpPr>
        <p:sp>
          <p:nvSpPr>
            <p:cNvPr id="125" name="CaixaDeTexto 124"/>
            <p:cNvSpPr txBox="1"/>
            <p:nvPr/>
          </p:nvSpPr>
          <p:spPr>
            <a:xfrm>
              <a:off x="4789783" y="6517945"/>
              <a:ext cx="780965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Não 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Elipse 129"/>
            <p:cNvSpPr/>
            <p:nvPr/>
          </p:nvSpPr>
          <p:spPr>
            <a:xfrm>
              <a:off x="4716016" y="6579356"/>
              <a:ext cx="108012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082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512014"/>
              </p:ext>
            </p:extLst>
          </p:nvPr>
        </p:nvGraphicFramePr>
        <p:xfrm>
          <a:off x="539553" y="900000"/>
          <a:ext cx="8414642" cy="1977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3"/>
                <a:gridCol w="1368152"/>
                <a:gridCol w="1930346"/>
                <a:gridCol w="939681"/>
              </a:tblGrid>
              <a:tr h="6364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Requisitos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tProcess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ProjetoFácil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Ideal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Tratamento: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Capacidade de anexar documentos, os classificar e os disponibilizar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ao publico adequado</a:t>
                      </a:r>
                      <a:endParaRPr lang="pt-BR" sz="1100" dirty="0" smtClean="0">
                        <a:effectLst/>
                        <a:latin typeface="Calibri"/>
                        <a:ea typeface="Calibri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pt-BR" sz="1100" dirty="0" smtClean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+mn-lt"/>
                          <a:ea typeface="Calibri"/>
                        </a:rPr>
                        <a:t>Tratamento: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+mn-lt"/>
                          <a:ea typeface="Calibri"/>
                        </a:rPr>
                        <a:t>Permitir comentários </a:t>
                      </a:r>
                      <a:r>
                        <a:rPr lang="pt-BR" sz="1100" baseline="0" dirty="0" smtClean="0">
                          <a:effectLst/>
                          <a:latin typeface="+mn-lt"/>
                          <a:ea typeface="Calibri"/>
                        </a:rPr>
                        <a:t> para acréscimos de informação aos participantes do projeto.</a:t>
                      </a:r>
                      <a:endParaRPr lang="pt-BR" sz="1100" dirty="0" smtClean="0">
                        <a:effectLst/>
                        <a:latin typeface="+mn-lt"/>
                        <a:ea typeface="Calibri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</a:tbl>
          </a:graphicData>
        </a:graphic>
      </p:graphicFrame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38" y="5580469"/>
            <a:ext cx="776362" cy="127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394655" y="0"/>
            <a:ext cx="7085984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Requisitos de Sistema – Tratamento 2/2</a:t>
            </a:r>
          </a:p>
        </p:txBody>
      </p:sp>
      <p:grpSp>
        <p:nvGrpSpPr>
          <p:cNvPr id="1024" name="Grupo 1023"/>
          <p:cNvGrpSpPr/>
          <p:nvPr/>
        </p:nvGrpSpPr>
        <p:grpSpPr>
          <a:xfrm>
            <a:off x="606597" y="6517945"/>
            <a:ext cx="1123235" cy="230822"/>
            <a:chOff x="2159732" y="6517945"/>
            <a:chExt cx="1123235" cy="230822"/>
          </a:xfrm>
        </p:grpSpPr>
        <p:sp>
          <p:nvSpPr>
            <p:cNvPr id="121" name="CaixaDeTexto 120"/>
            <p:cNvSpPr txBox="1"/>
            <p:nvPr/>
          </p:nvSpPr>
          <p:spPr>
            <a:xfrm>
              <a:off x="2258645" y="6517945"/>
              <a:ext cx="1024322" cy="23082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Elipse 127"/>
            <p:cNvSpPr/>
            <p:nvPr/>
          </p:nvSpPr>
          <p:spPr>
            <a:xfrm>
              <a:off x="2159732" y="6579356"/>
              <a:ext cx="108012" cy="108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1931529" y="6517945"/>
            <a:ext cx="1336467" cy="230822"/>
            <a:chOff x="3455876" y="6517945"/>
            <a:chExt cx="1336467" cy="230822"/>
          </a:xfrm>
        </p:grpSpPr>
        <p:sp>
          <p:nvSpPr>
            <p:cNvPr id="123" name="CaixaDeTexto 122"/>
            <p:cNvSpPr txBox="1"/>
            <p:nvPr/>
          </p:nvSpPr>
          <p:spPr>
            <a:xfrm>
              <a:off x="3536889" y="6517945"/>
              <a:ext cx="1255454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 Parcialmente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Elipse 128"/>
            <p:cNvSpPr/>
            <p:nvPr/>
          </p:nvSpPr>
          <p:spPr>
            <a:xfrm>
              <a:off x="3455876" y="6579356"/>
              <a:ext cx="108012" cy="10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717268" y="6517945"/>
            <a:ext cx="854732" cy="230822"/>
            <a:chOff x="4716016" y="6517945"/>
            <a:chExt cx="854732" cy="230822"/>
          </a:xfrm>
        </p:grpSpPr>
        <p:sp>
          <p:nvSpPr>
            <p:cNvPr id="125" name="CaixaDeTexto 124"/>
            <p:cNvSpPr txBox="1"/>
            <p:nvPr/>
          </p:nvSpPr>
          <p:spPr>
            <a:xfrm>
              <a:off x="4789783" y="6517945"/>
              <a:ext cx="780965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Não 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Elipse 129"/>
            <p:cNvSpPr/>
            <p:nvPr/>
          </p:nvSpPr>
          <p:spPr>
            <a:xfrm>
              <a:off x="4716016" y="6579356"/>
              <a:ext cx="108012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53510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267310"/>
              </p:ext>
            </p:extLst>
          </p:nvPr>
        </p:nvGraphicFramePr>
        <p:xfrm>
          <a:off x="539553" y="900000"/>
          <a:ext cx="8414642" cy="1943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3"/>
                <a:gridCol w="1368152"/>
                <a:gridCol w="1930346"/>
                <a:gridCol w="939681"/>
              </a:tblGrid>
              <a:tr h="6364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Requisitos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tProcess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ProjetoFácil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Ideal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 marL="0" algn="l" defTabSz="457153" rtl="0" eaLnBrk="1" latinLnBrk="0" hangingPunct="1">
                        <a:spcAft>
                          <a:spcPts val="0"/>
                        </a:spcAft>
                      </a:pPr>
                      <a:r>
                        <a:rPr lang="pt-BR" sz="1100" kern="1200" dirty="0" smtClean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Consultas:</a:t>
                      </a:r>
                    </a:p>
                    <a:p>
                      <a:pPr marL="0" algn="l" defTabSz="457153" rtl="0" eaLnBrk="1" latinLnBrk="0" hangingPunct="1">
                        <a:spcAft>
                          <a:spcPts val="0"/>
                        </a:spcAft>
                      </a:pPr>
                      <a:r>
                        <a:rPr lang="pt-BR" sz="1100" kern="1200" dirty="0" smtClean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Base histórica de projetos. Facilidade de  aprender com os</a:t>
                      </a:r>
                      <a:r>
                        <a:rPr lang="pt-BR" sz="1100" kern="1200" baseline="0" dirty="0" smtClean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 projetos já executados.</a:t>
                      </a:r>
                      <a:endParaRPr lang="pt-BR" sz="1100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Interface na aplicação para busca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de projetos com filtro por campos chaves  e classificadores (ID do Chamado, Tipo Demanda ou Projeto, tipo de projeto(Crescimento, </a:t>
                      </a:r>
                      <a:r>
                        <a:rPr lang="pt-BR" sz="1100" baseline="0" dirty="0" err="1" smtClean="0">
                          <a:effectLst/>
                          <a:latin typeface="Calibri"/>
                          <a:ea typeface="Calibri"/>
                        </a:rPr>
                        <a:t>Desenv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, </a:t>
                      </a:r>
                      <a:r>
                        <a:rPr lang="pt-BR" sz="1100" baseline="0" dirty="0" err="1" smtClean="0">
                          <a:effectLst/>
                          <a:latin typeface="Calibri"/>
                          <a:ea typeface="Calibri"/>
                        </a:rPr>
                        <a:t>etc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), líder, cliente, diretoria, status,  fase,)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</a:tbl>
          </a:graphicData>
        </a:graphic>
      </p:graphicFrame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38" y="5580469"/>
            <a:ext cx="776362" cy="127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394655" y="0"/>
            <a:ext cx="7085984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Requisitos de Sistema – </a:t>
            </a:r>
            <a:r>
              <a:rPr lang="pt-BR" sz="2400" b="1" dirty="0" err="1" smtClean="0">
                <a:solidFill>
                  <a:schemeClr val="tx2"/>
                </a:solidFill>
                <a:latin typeface="Arial"/>
                <a:cs typeface="Arial"/>
              </a:rPr>
              <a:t>Report</a:t>
            </a:r>
            <a:endParaRPr lang="pt-BR" sz="2400" b="1" dirty="0" smtClean="0">
              <a:solidFill>
                <a:schemeClr val="tx2"/>
              </a:solidFill>
              <a:latin typeface="Arial"/>
              <a:cs typeface="Arial"/>
            </a:endParaRPr>
          </a:p>
        </p:txBody>
      </p:sp>
      <p:grpSp>
        <p:nvGrpSpPr>
          <p:cNvPr id="1024" name="Grupo 1023"/>
          <p:cNvGrpSpPr/>
          <p:nvPr/>
        </p:nvGrpSpPr>
        <p:grpSpPr>
          <a:xfrm>
            <a:off x="606597" y="6517945"/>
            <a:ext cx="1123235" cy="230822"/>
            <a:chOff x="2159732" y="6517945"/>
            <a:chExt cx="1123235" cy="230822"/>
          </a:xfrm>
        </p:grpSpPr>
        <p:sp>
          <p:nvSpPr>
            <p:cNvPr id="121" name="CaixaDeTexto 120"/>
            <p:cNvSpPr txBox="1"/>
            <p:nvPr/>
          </p:nvSpPr>
          <p:spPr>
            <a:xfrm>
              <a:off x="2258645" y="6517945"/>
              <a:ext cx="1024322" cy="23082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Elipse 127"/>
            <p:cNvSpPr/>
            <p:nvPr/>
          </p:nvSpPr>
          <p:spPr>
            <a:xfrm>
              <a:off x="2159732" y="6579356"/>
              <a:ext cx="108012" cy="108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1931529" y="6517945"/>
            <a:ext cx="1336467" cy="230822"/>
            <a:chOff x="3455876" y="6517945"/>
            <a:chExt cx="1336467" cy="230822"/>
          </a:xfrm>
        </p:grpSpPr>
        <p:sp>
          <p:nvSpPr>
            <p:cNvPr id="123" name="CaixaDeTexto 122"/>
            <p:cNvSpPr txBox="1"/>
            <p:nvPr/>
          </p:nvSpPr>
          <p:spPr>
            <a:xfrm>
              <a:off x="3536889" y="6517945"/>
              <a:ext cx="1255454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 Parcialmente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Elipse 128"/>
            <p:cNvSpPr/>
            <p:nvPr/>
          </p:nvSpPr>
          <p:spPr>
            <a:xfrm>
              <a:off x="3455876" y="6579356"/>
              <a:ext cx="108012" cy="10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717268" y="6517945"/>
            <a:ext cx="854732" cy="230822"/>
            <a:chOff x="4716016" y="6517945"/>
            <a:chExt cx="854732" cy="230822"/>
          </a:xfrm>
        </p:grpSpPr>
        <p:sp>
          <p:nvSpPr>
            <p:cNvPr id="125" name="CaixaDeTexto 124"/>
            <p:cNvSpPr txBox="1"/>
            <p:nvPr/>
          </p:nvSpPr>
          <p:spPr>
            <a:xfrm>
              <a:off x="4789783" y="6517945"/>
              <a:ext cx="780965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Não 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Elipse 129"/>
            <p:cNvSpPr/>
            <p:nvPr/>
          </p:nvSpPr>
          <p:spPr>
            <a:xfrm>
              <a:off x="4716016" y="6579356"/>
              <a:ext cx="108012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082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957258"/>
              </p:ext>
            </p:extLst>
          </p:nvPr>
        </p:nvGraphicFramePr>
        <p:xfrm>
          <a:off x="539553" y="900000"/>
          <a:ext cx="8414642" cy="3818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3"/>
                <a:gridCol w="1368152"/>
                <a:gridCol w="1930346"/>
                <a:gridCol w="939681"/>
              </a:tblGrid>
              <a:tr h="6364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Requisitos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tProcess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ProjetoFácil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Ideal</a:t>
                      </a:r>
                      <a:endParaRPr lang="pt-BR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 marL="0" algn="l" defTabSz="457153" rtl="0" eaLnBrk="1" latinLnBrk="0" hangingPunct="1">
                        <a:spcAft>
                          <a:spcPts val="0"/>
                        </a:spcAft>
                      </a:pPr>
                      <a:r>
                        <a:rPr lang="pt-BR" sz="1100" kern="1200" dirty="0" smtClean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Base de dados aberta a consultas (SQL,</a:t>
                      </a:r>
                      <a:r>
                        <a:rPr lang="pt-BR" sz="1100" kern="1200" baseline="0" dirty="0" smtClean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 </a:t>
                      </a:r>
                      <a:r>
                        <a:rPr lang="pt-BR" sz="1100" kern="1200" baseline="0" dirty="0" err="1" smtClean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Extrator,etc</a:t>
                      </a:r>
                      <a:r>
                        <a:rPr lang="pt-BR" sz="1100" kern="1200" dirty="0" smtClean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+mn-cs"/>
                        </a:rPr>
                        <a:t>)</a:t>
                      </a:r>
                      <a:endParaRPr lang="pt-BR" sz="1100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+mn-cs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Aplicação web compatível com principais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Browsers (IE, </a:t>
                      </a:r>
                      <a:r>
                        <a:rPr lang="pt-BR" sz="1100" baseline="0" dirty="0" err="1" smtClean="0">
                          <a:effectLst/>
                          <a:latin typeface="Calibri"/>
                          <a:ea typeface="Calibri"/>
                        </a:rPr>
                        <a:t>Chrome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, Firefox)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FF00"/>
                          </a:solidFill>
                          <a:effectLst/>
                          <a:latin typeface="Webdings" pitchFamily="18" charset="2"/>
                        </a:rPr>
                        <a:t>n 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Somente  Firefox*Confirmar.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Acessível dentro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e fora da rede Contax(visitas aos clientes)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Sem acesso internet</a:t>
                      </a: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</a:p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Sem acesso internet</a:t>
                      </a:r>
                      <a:endParaRPr lang="pt-BR" sz="1100" b="0" i="0" u="none" strike="noStrike" dirty="0" smtClean="0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Autenticação na rede corporativa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  <a:tr h="6364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100" dirty="0" smtClean="0">
                          <a:effectLst/>
                          <a:latin typeface="Calibri"/>
                          <a:ea typeface="Calibri"/>
                        </a:rPr>
                        <a:t>Envio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de </a:t>
                      </a:r>
                      <a:r>
                        <a:rPr lang="pt-BR" sz="1100" baseline="0" dirty="0" err="1" smtClean="0">
                          <a:effectLst/>
                          <a:latin typeface="Calibri"/>
                          <a:ea typeface="Calibri"/>
                        </a:rPr>
                        <a:t>emails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 (Comunicação de avanços  e alertas aos </a:t>
                      </a:r>
                      <a:r>
                        <a:rPr lang="pt-BR" sz="1100" baseline="0" dirty="0" err="1" smtClean="0">
                          <a:effectLst/>
                          <a:latin typeface="Calibri"/>
                          <a:ea typeface="Calibri"/>
                        </a:rPr>
                        <a:t>stakeholders</a:t>
                      </a:r>
                      <a:r>
                        <a:rPr lang="pt-BR" sz="1100" baseline="0" dirty="0" smtClean="0">
                          <a:effectLst/>
                          <a:latin typeface="Calibri"/>
                          <a:ea typeface="Calibri"/>
                        </a:rPr>
                        <a:t>)</a:t>
                      </a:r>
                      <a:endParaRPr lang="pt-BR" sz="11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4571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Webdings" pitchFamily="18" charset="2"/>
                        </a:rPr>
                        <a:t>n</a:t>
                      </a:r>
                      <a:endParaRPr lang="pt-BR" sz="1100" b="0" i="0" u="none" strike="noStrike" dirty="0" smtClean="0">
                        <a:solidFill>
                          <a:srgbClr val="FFFF00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0" marB="72000" anchor="ctr"/>
                </a:tc>
              </a:tr>
            </a:tbl>
          </a:graphicData>
        </a:graphic>
      </p:graphicFrame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638" y="5580469"/>
            <a:ext cx="776362" cy="127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394655" y="0"/>
            <a:ext cx="7085984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Requisitos de Sistema – Tecnologia</a:t>
            </a:r>
          </a:p>
        </p:txBody>
      </p:sp>
      <p:grpSp>
        <p:nvGrpSpPr>
          <p:cNvPr id="1024" name="Grupo 1023"/>
          <p:cNvGrpSpPr/>
          <p:nvPr/>
        </p:nvGrpSpPr>
        <p:grpSpPr>
          <a:xfrm>
            <a:off x="606597" y="6517945"/>
            <a:ext cx="1123235" cy="230822"/>
            <a:chOff x="2159732" y="6517945"/>
            <a:chExt cx="1123235" cy="230822"/>
          </a:xfrm>
        </p:grpSpPr>
        <p:sp>
          <p:nvSpPr>
            <p:cNvPr id="121" name="CaixaDeTexto 120"/>
            <p:cNvSpPr txBox="1"/>
            <p:nvPr/>
          </p:nvSpPr>
          <p:spPr>
            <a:xfrm>
              <a:off x="2258645" y="6517945"/>
              <a:ext cx="1024322" cy="23082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Elipse 127"/>
            <p:cNvSpPr/>
            <p:nvPr/>
          </p:nvSpPr>
          <p:spPr>
            <a:xfrm>
              <a:off x="2159732" y="6579356"/>
              <a:ext cx="108012" cy="108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1931529" y="6517945"/>
            <a:ext cx="1336467" cy="230822"/>
            <a:chOff x="3455876" y="6517945"/>
            <a:chExt cx="1336467" cy="230822"/>
          </a:xfrm>
        </p:grpSpPr>
        <p:sp>
          <p:nvSpPr>
            <p:cNvPr id="123" name="CaixaDeTexto 122"/>
            <p:cNvSpPr txBox="1"/>
            <p:nvPr/>
          </p:nvSpPr>
          <p:spPr>
            <a:xfrm>
              <a:off x="3536889" y="6517945"/>
              <a:ext cx="1255454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Atende Parcialmente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9" name="Elipse 128"/>
            <p:cNvSpPr/>
            <p:nvPr/>
          </p:nvSpPr>
          <p:spPr>
            <a:xfrm>
              <a:off x="3455876" y="6579356"/>
              <a:ext cx="108012" cy="108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717268" y="6517945"/>
            <a:ext cx="854732" cy="230822"/>
            <a:chOff x="4716016" y="6517945"/>
            <a:chExt cx="854732" cy="230822"/>
          </a:xfrm>
        </p:grpSpPr>
        <p:sp>
          <p:nvSpPr>
            <p:cNvPr id="125" name="CaixaDeTexto 124"/>
            <p:cNvSpPr txBox="1"/>
            <p:nvPr/>
          </p:nvSpPr>
          <p:spPr>
            <a:xfrm>
              <a:off x="4789783" y="6517945"/>
              <a:ext cx="780965" cy="230822"/>
            </a:xfrm>
            <a:prstGeom prst="rect">
              <a:avLst/>
            </a:prstGeom>
            <a:noFill/>
          </p:spPr>
          <p:txBody>
            <a:bodyPr wrap="none" lIns="91431" tIns="45715" rIns="91431" bIns="45715" rtlCol="0">
              <a:spAutoFit/>
            </a:bodyPr>
            <a:lstStyle/>
            <a:p>
              <a:r>
                <a:rPr lang="pt-BR" sz="9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itchFamily="34" charset="0"/>
                  <a:cs typeface="Arial" pitchFamily="34" charset="0"/>
                </a:rPr>
                <a:t>Não atende</a:t>
              </a:r>
              <a:endParaRPr lang="pt-BR" sz="9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" name="Elipse 129"/>
            <p:cNvSpPr/>
            <p:nvPr/>
          </p:nvSpPr>
          <p:spPr>
            <a:xfrm>
              <a:off x="4716016" y="6579356"/>
              <a:ext cx="108012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6361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12254</TotalTime>
  <Words>921</Words>
  <Application>Microsoft Office PowerPoint</Application>
  <PresentationFormat>Apresentação na tela (4:3)</PresentationFormat>
  <Paragraphs>247</Paragraphs>
  <Slides>10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Joice Pereira De Souza</dc:creator>
  <cp:lastModifiedBy>Milene Areias Jorge</cp:lastModifiedBy>
  <cp:revision>321</cp:revision>
  <dcterms:created xsi:type="dcterms:W3CDTF">2015-09-28T15:57:11Z</dcterms:created>
  <dcterms:modified xsi:type="dcterms:W3CDTF">2016-05-25T11:49:53Z</dcterms:modified>
</cp:coreProperties>
</file>