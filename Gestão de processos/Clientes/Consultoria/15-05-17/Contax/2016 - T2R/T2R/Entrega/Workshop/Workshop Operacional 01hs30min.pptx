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27"/>
  </p:notesMasterIdLst>
  <p:sldIdLst>
    <p:sldId id="256" r:id="rId6"/>
    <p:sldId id="310" r:id="rId7"/>
    <p:sldId id="317" r:id="rId8"/>
    <p:sldId id="271" r:id="rId9"/>
    <p:sldId id="273" r:id="rId10"/>
    <p:sldId id="281" r:id="rId11"/>
    <p:sldId id="277" r:id="rId12"/>
    <p:sldId id="278" r:id="rId13"/>
    <p:sldId id="279" r:id="rId14"/>
    <p:sldId id="274" r:id="rId15"/>
    <p:sldId id="284" r:id="rId16"/>
    <p:sldId id="293" r:id="rId17"/>
    <p:sldId id="287" r:id="rId18"/>
    <p:sldId id="289" r:id="rId19"/>
    <p:sldId id="295" r:id="rId20"/>
    <p:sldId id="291" r:id="rId21"/>
    <p:sldId id="292" r:id="rId22"/>
    <p:sldId id="309" r:id="rId23"/>
    <p:sldId id="296" r:id="rId24"/>
    <p:sldId id="318" r:id="rId25"/>
    <p:sldId id="297" r:id="rId2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68" d="100"/>
          <a:sy n="68" d="100"/>
        </p:scale>
        <p:origin x="120" y="6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08/08/2016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71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09724-C518-4FEF-BA4E-E40E9E2761B0}" type="datetime1">
              <a:rPr lang="en-US" smtClean="0"/>
              <a:t>8/8/2016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-58522" y="-65835"/>
            <a:ext cx="468173" cy="336498"/>
          </a:xfrm>
        </p:spPr>
        <p:txBody>
          <a:bodyPr/>
          <a:lstStyle>
            <a:lvl1pPr>
              <a:defRPr sz="1200" b="1"/>
            </a:lvl1pPr>
          </a:lstStyle>
          <a:p>
            <a:fld id="{2088DD49-D405-3D4F-92A5-BAA19C6BFE1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7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9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/>
          <p:cNvSpPr txBox="1"/>
          <p:nvPr/>
        </p:nvSpPr>
        <p:spPr>
          <a:xfrm>
            <a:off x="151075" y="257994"/>
            <a:ext cx="625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Conceitos Fundamentais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2</a:t>
            </a:fld>
            <a:endParaRPr lang="en-US"/>
          </a:p>
        </p:txBody>
      </p:sp>
      <p:sp>
        <p:nvSpPr>
          <p:cNvPr id="9" name="Subtítulo 2"/>
          <p:cNvSpPr txBox="1">
            <a:spLocks/>
          </p:cNvSpPr>
          <p:nvPr/>
        </p:nvSpPr>
        <p:spPr>
          <a:xfrm>
            <a:off x="250466" y="1059475"/>
            <a:ext cx="8472651" cy="392483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Demandas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: </a:t>
            </a:r>
            <a:r>
              <a:rPr lang="pt-BR" sz="2000" b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reconhecimento e priorização de todas os requerimentos por produtos e serviços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para atender às </a:t>
            </a:r>
            <a:r>
              <a:rPr lang="pt-BR" sz="2000" u="sng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, com obtenção de resultados rentáveis (APICS - </a:t>
            </a:r>
            <a:r>
              <a:rPr lang="en-US" sz="900" i="1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American Production And Inventory Control Society</a:t>
            </a:r>
            <a:r>
              <a:rPr lang="pt-BR" sz="2000" dirty="0">
                <a:solidFill>
                  <a:schemeClr val="accent6">
                    <a:lumMod val="50000"/>
                  </a:schemeClr>
                </a:solidFill>
                <a:cs typeface="Aharoni" panose="02010803020104030203" pitchFamily="2" charset="-79"/>
              </a:rPr>
              <a:t>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Projetos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: aplicação de </a:t>
            </a:r>
            <a:r>
              <a:rPr lang="pt-BR" sz="2000" b="1" dirty="0">
                <a:solidFill>
                  <a:srgbClr val="0070C0"/>
                </a:solidFill>
                <a:cs typeface="Aharoni" panose="02010803020104030203" pitchFamily="2" charset="-79"/>
              </a:rPr>
              <a:t>conhecimento, habilidades e técnicas para a execução de projetos de forma efetiva e eficaz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. Competência estratégica para as organizações, une resultados dos projetos às </a:t>
            </a:r>
            <a:r>
              <a:rPr lang="pt-BR" sz="2000" u="sng" dirty="0">
                <a:solidFill>
                  <a:srgbClr val="0070C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0070C0"/>
                </a:solidFill>
                <a:cs typeface="Aharoni" panose="02010803020104030203" pitchFamily="2" charset="-79"/>
              </a:rPr>
              <a:t> (PMI).</a:t>
            </a:r>
          </a:p>
          <a:p>
            <a:pPr algn="just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just"/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Gestão de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Mudanças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: controle efetivo sobre o ciclo de vida da </a:t>
            </a:r>
            <a:r>
              <a:rPr lang="pt-BR" sz="2000" b="1" dirty="0">
                <a:solidFill>
                  <a:srgbClr val="C00000"/>
                </a:solidFill>
                <a:cs typeface="Aharoni" panose="02010803020104030203" pitchFamily="2" charset="-79"/>
              </a:rPr>
              <a:t>adição, remoção ou alteração de qualquer coisa que possa causar um efeito em um serviço de TI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, de modo a alinhar os serviços às </a:t>
            </a:r>
            <a:r>
              <a:rPr lang="pt-BR" sz="2000" u="sng" dirty="0">
                <a:solidFill>
                  <a:srgbClr val="C00000"/>
                </a:solidFill>
                <a:cs typeface="Aharoni" panose="02010803020104030203" pitchFamily="2" charset="-79"/>
              </a:rPr>
              <a:t>necessidades do negócio</a:t>
            </a:r>
            <a:r>
              <a:rPr lang="pt-BR" sz="2000" dirty="0">
                <a:solidFill>
                  <a:srgbClr val="C00000"/>
                </a:solidFill>
                <a:cs typeface="Aharoni" panose="02010803020104030203" pitchFamily="2" charset="-79"/>
              </a:rPr>
              <a:t> (ITIL).</a:t>
            </a:r>
          </a:p>
        </p:txBody>
      </p:sp>
    </p:spTree>
    <p:extLst>
      <p:ext uri="{BB962C8B-B14F-4D97-AF65-F5344CB8AC3E}">
        <p14:creationId xmlns:p14="http://schemas.microsoft.com/office/powerpoint/2010/main" val="14580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Alterações no processo atual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Implementação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sob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263737"/>
            <a:ext cx="8771137" cy="3004503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-101821" y="4239992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2179499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757221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42330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a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impactos pós implementação, um controle de requisitos será anexado em todas as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para controles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Gerências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das Mudanças podem causar impactos que parecem completamente fora de proporção para a complexidade ou simplicidade da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 têm ocorrido muitos casos de alta visibilidade e impacto financeiro de grande proporção nos negócios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dos Componentes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diferenciados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Os riscos dos pré-requisitos não concluídos serão notificados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composto por um grupo de pessoas que suportam a avaliação, priorização, autorização e programação de mudanças. Um comitê consultivo de mudanças é normalmente composto de representantes de todas as áreas do provedor de serviço de TI,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pré-aprovadas 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Gmud’s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ela é aprovada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450075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324" y="3511883"/>
            <a:ext cx="2463738" cy="153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Atingimos o que definimos para fazer em termos de negócio? E,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devem haver várias revisões pós-implementação (RPI) ao longo do tempo.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revisão da Mudança é realizada para confirmar que os objetivos foram alcançados permitindo ao solicitante e partes interessadas a satisfação com o(s) resultado(s). Por exemplo, conferir a documentação da Mudança,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566872"/>
            <a:ext cx="9192225" cy="4419397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executadas por mês (mudanças encerradas X mês)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tipo (histórico de mudanças anual X tipo)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Natureza (histórico de mudanças anual X natureza)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Etapa (histórico de mudanças anual X Etapa)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encerradas com sucesso (histórico de mudanças anual X sucesso ou não sucesso)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status (histórico de mudanças anual X Status)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clientes (histórico de mudanças anual X top 10 clientes)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Site (histórico de mudanças anual X Site Contax)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Consolidado por Cliente x Sucesso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Total de Mudanças x Projeto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Diretoria X total mês</a:t>
            </a:r>
          </a:p>
        </p:txBody>
      </p:sp>
    </p:spTree>
    <p:extLst>
      <p:ext uri="{BB962C8B-B14F-4D97-AF65-F5344CB8AC3E}">
        <p14:creationId xmlns:p14="http://schemas.microsoft.com/office/powerpoint/2010/main" val="397369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– Controle de Requisitos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767" r="29151"/>
          <a:stretch/>
        </p:blipFill>
        <p:spPr>
          <a:xfrm>
            <a:off x="338328" y="587756"/>
            <a:ext cx="2306320" cy="220556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0848" y="605087"/>
            <a:ext cx="6108425" cy="2272497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326" r="30246"/>
          <a:stretch/>
        </p:blipFill>
        <p:spPr>
          <a:xfrm>
            <a:off x="6483329" y="2877584"/>
            <a:ext cx="2126488" cy="21464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820" y="2908064"/>
            <a:ext cx="5949929" cy="221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86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22475</TotalTime>
  <Words>992</Words>
  <Application>Microsoft Office PowerPoint</Application>
  <PresentationFormat>Personalizar</PresentationFormat>
  <Paragraphs>109</Paragraphs>
  <Slides>21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2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Chacon</cp:lastModifiedBy>
  <cp:revision>898</cp:revision>
  <dcterms:created xsi:type="dcterms:W3CDTF">2015-08-20T14:57:26Z</dcterms:created>
  <dcterms:modified xsi:type="dcterms:W3CDTF">2016-08-08T19:19:33Z</dcterms:modified>
</cp:coreProperties>
</file>