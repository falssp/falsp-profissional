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tags/tag3.xml" ContentType="application/vnd.openxmlformats-officedocument.presentationml.tags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3" r:id="rId1"/>
    <p:sldMasterId id="2147483677" r:id="rId2"/>
    <p:sldMasterId id="2147483679" r:id="rId3"/>
    <p:sldMasterId id="2147483673" r:id="rId4"/>
    <p:sldMasterId id="2147483675" r:id="rId5"/>
  </p:sldMasterIdLst>
  <p:notesMasterIdLst>
    <p:notesMasterId r:id="rId37"/>
  </p:notesMasterIdLst>
  <p:sldIdLst>
    <p:sldId id="256" r:id="rId6"/>
    <p:sldId id="310" r:id="rId7"/>
    <p:sldId id="317" r:id="rId8"/>
    <p:sldId id="271" r:id="rId9"/>
    <p:sldId id="273" r:id="rId10"/>
    <p:sldId id="281" r:id="rId11"/>
    <p:sldId id="277" r:id="rId12"/>
    <p:sldId id="278" r:id="rId13"/>
    <p:sldId id="279" r:id="rId14"/>
    <p:sldId id="274" r:id="rId15"/>
    <p:sldId id="284" r:id="rId16"/>
    <p:sldId id="293" r:id="rId17"/>
    <p:sldId id="287" r:id="rId18"/>
    <p:sldId id="289" r:id="rId19"/>
    <p:sldId id="295" r:id="rId20"/>
    <p:sldId id="291" r:id="rId21"/>
    <p:sldId id="292" r:id="rId22"/>
    <p:sldId id="309" r:id="rId23"/>
    <p:sldId id="296" r:id="rId24"/>
    <p:sldId id="318" r:id="rId25"/>
    <p:sldId id="299" r:id="rId26"/>
    <p:sldId id="300" r:id="rId27"/>
    <p:sldId id="301" r:id="rId28"/>
    <p:sldId id="302" r:id="rId29"/>
    <p:sldId id="303" r:id="rId30"/>
    <p:sldId id="304" r:id="rId31"/>
    <p:sldId id="305" r:id="rId32"/>
    <p:sldId id="306" r:id="rId33"/>
    <p:sldId id="307" r:id="rId34"/>
    <p:sldId id="308" r:id="rId35"/>
    <p:sldId id="297" r:id="rId36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06" userDrawn="1">
          <p15:clr>
            <a:srgbClr val="A4A3A4"/>
          </p15:clr>
        </p15:guide>
        <p15:guide id="2" pos="6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C00"/>
    <a:srgbClr val="FFC2A3"/>
    <a:srgbClr val="FFD0B9"/>
    <a:srgbClr val="000000"/>
    <a:srgbClr val="FFFFFF"/>
    <a:srgbClr val="EAEAEA"/>
    <a:srgbClr val="1934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584" autoAdjust="0"/>
    <p:restoredTop sz="93809" autoAdjust="0"/>
  </p:normalViewPr>
  <p:slideViewPr>
    <p:cSldViewPr snapToGrid="0" snapToObjects="1">
      <p:cViewPr varScale="1">
        <p:scale>
          <a:sx n="115" d="100"/>
          <a:sy n="115" d="100"/>
        </p:scale>
        <p:origin x="610" y="67"/>
      </p:cViewPr>
      <p:guideLst>
        <p:guide orient="horz" pos="2506"/>
        <p:guide pos="61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0D43F-B80B-40D7-B843-4AC81DACC905}" type="datetimeFigureOut">
              <a:rPr lang="pt-BR" smtClean="0"/>
              <a:t>04/08/2016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626FD-18EF-494C-A467-3D85C3950B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0951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07114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668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09724-C518-4FEF-BA4E-E40E9E2761B0}" type="datetime1">
              <a:rPr lang="en-US" smtClean="0"/>
              <a:t>8/4/2016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-58522" y="-65835"/>
            <a:ext cx="468173" cy="336498"/>
          </a:xfrm>
        </p:spPr>
        <p:txBody>
          <a:bodyPr/>
          <a:lstStyle>
            <a:lvl1pPr>
              <a:defRPr sz="1200" b="1"/>
            </a:lvl1pPr>
          </a:lstStyle>
          <a:p>
            <a:fld id="{2088DD49-D405-3D4F-92A5-BAA19C6BFE1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374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0693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9057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3148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ítulo 2"/>
          <p:cNvSpPr txBox="1">
            <a:spLocks/>
          </p:cNvSpPr>
          <p:nvPr userDrawn="1"/>
        </p:nvSpPr>
        <p:spPr>
          <a:xfrm>
            <a:off x="0" y="4890534"/>
            <a:ext cx="9141389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/>
                </a:solidFill>
              </a:rPr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569956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vmlDrawing" Target="../drawings/vmlDrawing1.vml"/><Relationship Id="rId7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Relationship Id="rId9" Type="http://schemas.openxmlformats.org/officeDocument/2006/relationships/image" Target="../media/image1.emf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.emf"/><Relationship Id="rId4" Type="http://schemas.openxmlformats.org/officeDocument/2006/relationships/image" Target="../media/image6.emf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vmlDrawing" Target="../drawings/vmlDrawing2.vml"/><Relationship Id="rId7" Type="http://schemas.openxmlformats.org/officeDocument/2006/relationships/image" Target="../media/image7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.bin"/><Relationship Id="rId4" Type="http://schemas.openxmlformats.org/officeDocument/2006/relationships/tags" Target="../tags/tag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vmlDrawing" Target="../drawings/vmlDrawing3.vml"/><Relationship Id="rId7" Type="http://schemas.openxmlformats.org/officeDocument/2006/relationships/image" Target="../media/image8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3.bin"/><Relationship Id="rId4" Type="http://schemas.openxmlformats.org/officeDocument/2006/relationships/tags" Target="../tags/tag3.xml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572409" y="92991"/>
            <a:ext cx="1473556" cy="356656"/>
          </a:xfrm>
          <a:prstGeom prst="rect">
            <a:avLst/>
          </a:prstGeom>
        </p:spPr>
      </p:pic>
      <p:sp>
        <p:nvSpPr>
          <p:cNvPr id="9" name="Subtítulo 2"/>
          <p:cNvSpPr txBox="1">
            <a:spLocks/>
          </p:cNvSpPr>
          <p:nvPr userDrawn="1"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/>
                </a:solidFill>
              </a:rPr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834666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16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interna_img-3.png"/>
          <p:cNvPicPr/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182"/>
          <a:stretch>
            <a:fillRect/>
          </a:stretch>
        </p:blipFill>
        <p:spPr>
          <a:xfrm>
            <a:off x="1" y="-4669"/>
            <a:ext cx="3640873" cy="515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5.png"/>
          <p:cNvPicPr/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8105167" y="4376234"/>
            <a:ext cx="1043999" cy="770734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Subtítulo 2"/>
          <p:cNvSpPr txBox="1">
            <a:spLocks/>
          </p:cNvSpPr>
          <p:nvPr userDrawn="1"/>
        </p:nvSpPr>
        <p:spPr>
          <a:xfrm>
            <a:off x="0" y="4890534"/>
            <a:ext cx="9141389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/>
                </a:solidFill>
              </a:rPr>
              <a:t>Consultoria Ilimitada</a:t>
            </a:r>
          </a:p>
        </p:txBody>
      </p:sp>
      <p:pic>
        <p:nvPicPr>
          <p:cNvPr id="7" name="Picture 7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572409" y="92991"/>
            <a:ext cx="1473556" cy="35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296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-34375"/>
            <a:ext cx="9144001" cy="5204563"/>
          </a:xfrm>
          <a:prstGeom prst="rect">
            <a:avLst/>
          </a:prstGeom>
        </p:spPr>
      </p:pic>
      <p:pic>
        <p:nvPicPr>
          <p:cNvPr id="8" name="Picture 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896847" y="-34395"/>
            <a:ext cx="3345084" cy="1221858"/>
          </a:xfrm>
          <a:prstGeom prst="rect">
            <a:avLst/>
          </a:prstGeom>
        </p:spPr>
      </p:pic>
      <p:pic>
        <p:nvPicPr>
          <p:cNvPr id="9" name="Picture 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697100" y="277388"/>
            <a:ext cx="1744578" cy="422254"/>
          </a:xfrm>
          <a:prstGeom prst="rect">
            <a:avLst/>
          </a:prstGeom>
        </p:spPr>
      </p:pic>
      <p:sp>
        <p:nvSpPr>
          <p:cNvPr id="10" name="Subtítulo 2"/>
          <p:cNvSpPr txBox="1">
            <a:spLocks/>
          </p:cNvSpPr>
          <p:nvPr userDrawn="1"/>
        </p:nvSpPr>
        <p:spPr>
          <a:xfrm>
            <a:off x="6901731" y="4890534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/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1878875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68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14" descr="t02-02.jp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8263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572409" y="92991"/>
            <a:ext cx="1473556" cy="356656"/>
          </a:xfrm>
          <a:prstGeom prst="rect">
            <a:avLst/>
          </a:prstGeom>
        </p:spPr>
      </p:pic>
      <p:sp>
        <p:nvSpPr>
          <p:cNvPr id="8" name="Subtítulo 2"/>
          <p:cNvSpPr txBox="1">
            <a:spLocks/>
          </p:cNvSpPr>
          <p:nvPr userDrawn="1"/>
        </p:nvSpPr>
        <p:spPr>
          <a:xfrm>
            <a:off x="0" y="4890534"/>
            <a:ext cx="9141389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/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1362381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92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1" descr="t03-02.jpg"/>
          <p:cNvPicPr>
            <a:picLocks noChangeAspect="1"/>
          </p:cNvPicPr>
          <p:nvPr userDrawn="1"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 userDrawn="1"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91500" y="4386263"/>
            <a:ext cx="952500" cy="762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572409" y="92991"/>
            <a:ext cx="1473556" cy="35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2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slide" Target="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5" Type="http://schemas.openxmlformats.org/officeDocument/2006/relationships/slide" Target="slide6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slide" Target="slid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4" Type="http://schemas.openxmlformats.org/officeDocument/2006/relationships/slide" Target="slide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0" y="1995249"/>
            <a:ext cx="9144000" cy="113877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r"/>
            <a:r>
              <a:rPr lang="pt-BR" sz="44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Workshop T2R</a:t>
            </a:r>
          </a:p>
          <a:p>
            <a:pPr algn="r"/>
            <a:r>
              <a:rPr lang="pt-BR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Transition to Run</a:t>
            </a:r>
          </a:p>
        </p:txBody>
      </p:sp>
    </p:spTree>
    <p:extLst>
      <p:ext uri="{BB962C8B-B14F-4D97-AF65-F5344CB8AC3E}">
        <p14:creationId xmlns:p14="http://schemas.microsoft.com/office/powerpoint/2010/main" val="2838394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/>
          <p:cNvSpPr txBox="1"/>
          <p:nvPr/>
        </p:nvSpPr>
        <p:spPr>
          <a:xfrm>
            <a:off x="151075" y="257994"/>
            <a:ext cx="6257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Conceitos Fundamentais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2</a:t>
            </a:fld>
            <a:endParaRPr lang="en-US"/>
          </a:p>
        </p:txBody>
      </p:sp>
      <p:sp>
        <p:nvSpPr>
          <p:cNvPr id="9" name="Subtítulo 2"/>
          <p:cNvSpPr txBox="1">
            <a:spLocks/>
          </p:cNvSpPr>
          <p:nvPr/>
        </p:nvSpPr>
        <p:spPr>
          <a:xfrm>
            <a:off x="250466" y="1059475"/>
            <a:ext cx="8472651" cy="3924833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2000" dirty="0">
                <a:solidFill>
                  <a:schemeClr val="accent6">
                    <a:lumMod val="50000"/>
                  </a:schemeClr>
                </a:solidFill>
                <a:cs typeface="Aharoni" panose="02010803020104030203" pitchFamily="2" charset="-79"/>
              </a:rPr>
              <a:t>Gestão de </a:t>
            </a:r>
            <a:r>
              <a:rPr lang="pt-BR" sz="2000" b="1" dirty="0">
                <a:solidFill>
                  <a:schemeClr val="accent6">
                    <a:lumMod val="50000"/>
                  </a:schemeClr>
                </a:solidFill>
                <a:cs typeface="Aharoni" panose="02010803020104030203" pitchFamily="2" charset="-79"/>
              </a:rPr>
              <a:t>Demandas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cs typeface="Aharoni" panose="02010803020104030203" pitchFamily="2" charset="-79"/>
              </a:rPr>
              <a:t>: </a:t>
            </a:r>
            <a:r>
              <a:rPr lang="pt-BR" sz="2000" b="1" dirty="0">
                <a:solidFill>
                  <a:schemeClr val="accent6">
                    <a:lumMod val="50000"/>
                  </a:schemeClr>
                </a:solidFill>
                <a:cs typeface="Aharoni" panose="02010803020104030203" pitchFamily="2" charset="-79"/>
              </a:rPr>
              <a:t>reconhecimento e priorização de todas os requerimentos por produtos e serviços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cs typeface="Aharoni" panose="02010803020104030203" pitchFamily="2" charset="-79"/>
              </a:rPr>
              <a:t>, para atender às </a:t>
            </a:r>
            <a:r>
              <a:rPr lang="pt-BR" sz="2000" u="sng" dirty="0">
                <a:solidFill>
                  <a:schemeClr val="accent6">
                    <a:lumMod val="50000"/>
                  </a:schemeClr>
                </a:solidFill>
                <a:cs typeface="Aharoni" panose="02010803020104030203" pitchFamily="2" charset="-79"/>
              </a:rPr>
              <a:t>necessidades do negócio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cs typeface="Aharoni" panose="02010803020104030203" pitchFamily="2" charset="-79"/>
              </a:rPr>
              <a:t>, com obtenção de resultados rentáveis (APICS - </a:t>
            </a:r>
            <a:r>
              <a:rPr lang="en-US" sz="900" i="1" dirty="0">
                <a:solidFill>
                  <a:schemeClr val="accent6">
                    <a:lumMod val="50000"/>
                  </a:schemeClr>
                </a:solidFill>
                <a:cs typeface="Aharoni" panose="02010803020104030203" pitchFamily="2" charset="-79"/>
              </a:rPr>
              <a:t>American Production And Inventory Control Society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cs typeface="Aharoni" panose="02010803020104030203" pitchFamily="2" charset="-79"/>
              </a:rPr>
              <a:t>).</a:t>
            </a:r>
          </a:p>
          <a:p>
            <a:pPr algn="just"/>
            <a:endParaRPr lang="pt-BR" sz="2000" dirty="0">
              <a:solidFill>
                <a:schemeClr val="tx1"/>
              </a:solidFill>
              <a:cs typeface="Aharoni" panose="02010803020104030203" pitchFamily="2" charset="-79"/>
            </a:endParaRPr>
          </a:p>
          <a:p>
            <a:pPr algn="just"/>
            <a:r>
              <a:rPr lang="pt-BR" sz="2000" dirty="0">
                <a:solidFill>
                  <a:srgbClr val="0070C0"/>
                </a:solidFill>
                <a:cs typeface="Aharoni" panose="02010803020104030203" pitchFamily="2" charset="-79"/>
              </a:rPr>
              <a:t>Gestão de </a:t>
            </a:r>
            <a:r>
              <a:rPr lang="pt-BR" sz="2000" b="1" dirty="0">
                <a:solidFill>
                  <a:srgbClr val="0070C0"/>
                </a:solidFill>
                <a:cs typeface="Aharoni" panose="02010803020104030203" pitchFamily="2" charset="-79"/>
              </a:rPr>
              <a:t>Projetos</a:t>
            </a:r>
            <a:r>
              <a:rPr lang="pt-BR" sz="2000" dirty="0">
                <a:solidFill>
                  <a:srgbClr val="0070C0"/>
                </a:solidFill>
                <a:cs typeface="Aharoni" panose="02010803020104030203" pitchFamily="2" charset="-79"/>
              </a:rPr>
              <a:t>: aplicação de </a:t>
            </a:r>
            <a:r>
              <a:rPr lang="pt-BR" sz="2000" b="1" dirty="0">
                <a:solidFill>
                  <a:srgbClr val="0070C0"/>
                </a:solidFill>
                <a:cs typeface="Aharoni" panose="02010803020104030203" pitchFamily="2" charset="-79"/>
              </a:rPr>
              <a:t>conhecimento, habilidades e técnicas para a execução de projetos de forma efetiva e eficaz</a:t>
            </a:r>
            <a:r>
              <a:rPr lang="pt-BR" sz="2000" dirty="0">
                <a:solidFill>
                  <a:srgbClr val="0070C0"/>
                </a:solidFill>
                <a:cs typeface="Aharoni" panose="02010803020104030203" pitchFamily="2" charset="-79"/>
              </a:rPr>
              <a:t>. Competência estratégica para as organizações, une resultados dos projetos às </a:t>
            </a:r>
            <a:r>
              <a:rPr lang="pt-BR" sz="2000" u="sng" dirty="0">
                <a:solidFill>
                  <a:srgbClr val="0070C0"/>
                </a:solidFill>
                <a:cs typeface="Aharoni" panose="02010803020104030203" pitchFamily="2" charset="-79"/>
              </a:rPr>
              <a:t>necessidades do negócio</a:t>
            </a:r>
            <a:r>
              <a:rPr lang="pt-BR" sz="2000" dirty="0">
                <a:solidFill>
                  <a:srgbClr val="0070C0"/>
                </a:solidFill>
                <a:cs typeface="Aharoni" panose="02010803020104030203" pitchFamily="2" charset="-79"/>
              </a:rPr>
              <a:t> (PMI).</a:t>
            </a:r>
          </a:p>
          <a:p>
            <a:pPr algn="just"/>
            <a:endParaRPr lang="pt-BR" sz="2000" dirty="0">
              <a:solidFill>
                <a:schemeClr val="tx1"/>
              </a:solidFill>
              <a:cs typeface="Aharoni" panose="02010803020104030203" pitchFamily="2" charset="-79"/>
            </a:endParaRPr>
          </a:p>
          <a:p>
            <a:pPr algn="just"/>
            <a:r>
              <a:rPr lang="pt-BR" sz="2000" dirty="0">
                <a:solidFill>
                  <a:srgbClr val="C00000"/>
                </a:solidFill>
                <a:cs typeface="Aharoni" panose="02010803020104030203" pitchFamily="2" charset="-79"/>
              </a:rPr>
              <a:t>Gestão de </a:t>
            </a:r>
            <a:r>
              <a:rPr lang="pt-BR" sz="2000" b="1" dirty="0">
                <a:solidFill>
                  <a:srgbClr val="C00000"/>
                </a:solidFill>
                <a:cs typeface="Aharoni" panose="02010803020104030203" pitchFamily="2" charset="-79"/>
              </a:rPr>
              <a:t>Mudanças</a:t>
            </a:r>
            <a:r>
              <a:rPr lang="pt-BR" sz="2000" dirty="0">
                <a:solidFill>
                  <a:srgbClr val="C00000"/>
                </a:solidFill>
                <a:cs typeface="Aharoni" panose="02010803020104030203" pitchFamily="2" charset="-79"/>
              </a:rPr>
              <a:t>: controle efetivo sobre o ciclo de vida da </a:t>
            </a:r>
            <a:r>
              <a:rPr lang="pt-BR" sz="2000" b="1" dirty="0">
                <a:solidFill>
                  <a:srgbClr val="C00000"/>
                </a:solidFill>
                <a:cs typeface="Aharoni" panose="02010803020104030203" pitchFamily="2" charset="-79"/>
              </a:rPr>
              <a:t>adição, remoção ou alteração de qualquer coisa que possa causar um efeito em um serviço de TI</a:t>
            </a:r>
            <a:r>
              <a:rPr lang="pt-BR" sz="2000" dirty="0">
                <a:solidFill>
                  <a:srgbClr val="C00000"/>
                </a:solidFill>
                <a:cs typeface="Aharoni" panose="02010803020104030203" pitchFamily="2" charset="-79"/>
              </a:rPr>
              <a:t>, de modo a alinhar os serviços às </a:t>
            </a:r>
            <a:r>
              <a:rPr lang="pt-BR" sz="2000" u="sng" dirty="0">
                <a:solidFill>
                  <a:srgbClr val="C00000"/>
                </a:solidFill>
                <a:cs typeface="Aharoni" panose="02010803020104030203" pitchFamily="2" charset="-79"/>
              </a:rPr>
              <a:t>necessidades do negócio</a:t>
            </a:r>
            <a:r>
              <a:rPr lang="pt-BR" sz="2000" dirty="0">
                <a:solidFill>
                  <a:srgbClr val="C00000"/>
                </a:solidFill>
                <a:cs typeface="Aharoni" panose="02010803020104030203" pitchFamily="2" charset="-79"/>
              </a:rPr>
              <a:t> (ITIL).</a:t>
            </a:r>
          </a:p>
        </p:txBody>
      </p:sp>
    </p:spTree>
    <p:extLst>
      <p:ext uri="{BB962C8B-B14F-4D97-AF65-F5344CB8AC3E}">
        <p14:creationId xmlns:p14="http://schemas.microsoft.com/office/powerpoint/2010/main" val="145806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1080850"/>
            <a:ext cx="9144000" cy="76944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ctr"/>
            <a:r>
              <a:rPr lang="pt-BR" sz="44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Alterações no processo atual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912" y="2110740"/>
            <a:ext cx="3676175" cy="2450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24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Atividades do Processo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0" y="1015547"/>
            <a:ext cx="9144000" cy="4132716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90000"/>
              </a:lnSpc>
              <a:spcBef>
                <a:spcPts val="432"/>
              </a:spcBef>
              <a:spcAft>
                <a:spcPts val="1000"/>
              </a:spcAft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algn="just">
              <a:lnSpc>
                <a:spcPct val="90000"/>
              </a:lnSpc>
              <a:spcBef>
                <a:spcPts val="432"/>
              </a:spcBef>
              <a:spcAft>
                <a:spcPts val="1000"/>
              </a:spcAft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algn="just">
              <a:lnSpc>
                <a:spcPct val="90000"/>
              </a:lnSpc>
              <a:spcBef>
                <a:spcPts val="432"/>
              </a:spcBef>
              <a:spcAft>
                <a:spcPts val="1000"/>
              </a:spcAft>
            </a:pPr>
            <a:endParaRPr lang="pt-BR" alt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sp>
        <p:nvSpPr>
          <p:cNvPr id="4" name="Subtítulo 2"/>
          <p:cNvSpPr txBox="1">
            <a:spLocks/>
          </p:cNvSpPr>
          <p:nvPr/>
        </p:nvSpPr>
        <p:spPr>
          <a:xfrm>
            <a:off x="0" y="564443"/>
            <a:ext cx="9144000" cy="4583820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Registro da Gmud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Definição de Gmud / Projeto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Registro dos requisitos de controle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Planejamento da Gmud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Aprovação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Comitê Consultivo de Mudanças (CCM)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Revisão Pós Implementação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Validação de pendências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692" y="1152347"/>
            <a:ext cx="3567708" cy="3567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476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Registro da Gmud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1097" y="563881"/>
            <a:ext cx="9144000" cy="638452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Independente do solicitante da Requisição de Mudança, é preciso registrar, revisar e avaliar todas as requisições de mudança como parte do Gerenciamento de Mudança.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472" y="1630749"/>
            <a:ext cx="6339841" cy="1168908"/>
          </a:xfrm>
          <a:prstGeom prst="rect">
            <a:avLst/>
          </a:prstGeom>
        </p:spPr>
      </p:pic>
      <p:sp>
        <p:nvSpPr>
          <p:cNvPr id="6" name="Retângulo 5"/>
          <p:cNvSpPr/>
          <p:nvPr/>
        </p:nvSpPr>
        <p:spPr>
          <a:xfrm>
            <a:off x="7193" y="1892038"/>
            <a:ext cx="24982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Credenciais para acesso o sistema </a:t>
            </a: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eGmud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</a:t>
            </a:r>
            <a:endParaRPr lang="pt-BR" dirty="0"/>
          </a:p>
        </p:txBody>
      </p:sp>
      <p:sp>
        <p:nvSpPr>
          <p:cNvPr id="8" name="Retângulo 7"/>
          <p:cNvSpPr/>
          <p:nvPr/>
        </p:nvSpPr>
        <p:spPr>
          <a:xfrm>
            <a:off x="6011753" y="3553009"/>
            <a:ext cx="279658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Visualização das </a:t>
            </a: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Gmud’s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sob minha responsabilidade e seleção de novo registro.</a:t>
            </a:r>
            <a:endParaRPr lang="pt-BR" dirty="0"/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882" y="3282108"/>
            <a:ext cx="5209358" cy="1465132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8339871" y="4851432"/>
            <a:ext cx="5578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4" action="ppaction://hlinksldjump"/>
              </a:rPr>
              <a:t>Voltar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1367261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Registro da Gmud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11" y="1263737"/>
            <a:ext cx="8771137" cy="3004503"/>
          </a:xfrm>
          <a:prstGeom prst="rect">
            <a:avLst/>
          </a:prstGeom>
        </p:spPr>
      </p:pic>
      <p:sp>
        <p:nvSpPr>
          <p:cNvPr id="10" name="Subtítulo 2"/>
          <p:cNvSpPr txBox="1">
            <a:spLocks/>
          </p:cNvSpPr>
          <p:nvPr/>
        </p:nvSpPr>
        <p:spPr>
          <a:xfrm>
            <a:off x="1097" y="563881"/>
            <a:ext cx="9144000" cy="777240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Todos os campos devem ser devidamente preenchidos para que o planejamento seja preciso e riscos possam ser mitigados no planejamento.</a:t>
            </a: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sp>
        <p:nvSpPr>
          <p:cNvPr id="11" name="Retângulo 10"/>
          <p:cNvSpPr/>
          <p:nvPr/>
        </p:nvSpPr>
        <p:spPr>
          <a:xfrm>
            <a:off x="8339871" y="4851432"/>
            <a:ext cx="5578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3" action="ppaction://hlinksldjump"/>
              </a:rPr>
              <a:t>Voltar</a:t>
            </a:r>
            <a:endParaRPr lang="pt-BR" sz="1200" dirty="0"/>
          </a:p>
        </p:txBody>
      </p:sp>
      <p:sp>
        <p:nvSpPr>
          <p:cNvPr id="7" name="Subtítulo 2"/>
          <p:cNvSpPr txBox="1">
            <a:spLocks/>
          </p:cNvSpPr>
          <p:nvPr/>
        </p:nvSpPr>
        <p:spPr>
          <a:xfrm>
            <a:off x="-101821" y="4239992"/>
            <a:ext cx="9144000" cy="411479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Registro de informações para abertura de Gmud</a:t>
            </a:r>
          </a:p>
        </p:txBody>
      </p:sp>
    </p:spTree>
    <p:extLst>
      <p:ext uri="{BB962C8B-B14F-4D97-AF65-F5344CB8AC3E}">
        <p14:creationId xmlns:p14="http://schemas.microsoft.com/office/powerpoint/2010/main" val="4263568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Registro da Gmud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981" y="674506"/>
            <a:ext cx="6128703" cy="1146018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894" y="2179499"/>
            <a:ext cx="6128703" cy="1141488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493" y="3757221"/>
            <a:ext cx="8512528" cy="896335"/>
          </a:xfrm>
          <a:prstGeom prst="rect">
            <a:avLst/>
          </a:prstGeom>
        </p:spPr>
      </p:pic>
      <p:sp>
        <p:nvSpPr>
          <p:cNvPr id="11" name="Retângulo 10"/>
          <p:cNvSpPr/>
          <p:nvPr/>
        </p:nvSpPr>
        <p:spPr>
          <a:xfrm>
            <a:off x="228600" y="924349"/>
            <a:ext cx="23913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Seleção dos Sites Impactados pela Gmud </a:t>
            </a:r>
            <a:endParaRPr lang="pt-BR" dirty="0"/>
          </a:p>
        </p:txBody>
      </p:sp>
      <p:sp>
        <p:nvSpPr>
          <p:cNvPr id="12" name="Retângulo 11"/>
          <p:cNvSpPr/>
          <p:nvPr/>
        </p:nvSpPr>
        <p:spPr>
          <a:xfrm>
            <a:off x="6566597" y="2423301"/>
            <a:ext cx="23913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Seleção das Operações Impactadas pela Gmud</a:t>
            </a:r>
            <a:endParaRPr lang="pt-BR" dirty="0"/>
          </a:p>
        </p:txBody>
      </p:sp>
      <p:sp>
        <p:nvSpPr>
          <p:cNvPr id="14" name="Retângulo 13"/>
          <p:cNvSpPr/>
          <p:nvPr/>
        </p:nvSpPr>
        <p:spPr>
          <a:xfrm>
            <a:off x="8339871" y="4851432"/>
            <a:ext cx="5578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5" action="ppaction://hlinksldjump"/>
              </a:rPr>
              <a:t>Voltar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41417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Definição de Gmud / Projeto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1097" y="563881"/>
            <a:ext cx="9144000" cy="777240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Critérios devem ser utilizados para definir o nível de controle necessário para garantir a máxima eficiência no planejamento de uma implantação.</a:t>
            </a: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3876375"/>
              </p:ext>
            </p:extLst>
          </p:nvPr>
        </p:nvGraphicFramePr>
        <p:xfrm>
          <a:off x="971550" y="1600296"/>
          <a:ext cx="6489122" cy="26175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4561">
                  <a:extLst>
                    <a:ext uri="{9D8B030D-6E8A-4147-A177-3AD203B41FA5}">
                      <a16:colId xmlns:a16="http://schemas.microsoft.com/office/drawing/2014/main" val="242053376"/>
                    </a:ext>
                  </a:extLst>
                </a:gridCol>
                <a:gridCol w="3244561">
                  <a:extLst>
                    <a:ext uri="{9D8B030D-6E8A-4147-A177-3AD203B41FA5}">
                      <a16:colId xmlns:a16="http://schemas.microsoft.com/office/drawing/2014/main" val="1010042909"/>
                    </a:ext>
                  </a:extLst>
                </a:gridCol>
              </a:tblGrid>
              <a:tr h="373934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Mudança</a:t>
                      </a:r>
                    </a:p>
                  </a:txBody>
                  <a:tcPr marL="92203" marR="92203" marT="46101" marB="46101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Projeto</a:t>
                      </a:r>
                    </a:p>
                  </a:txBody>
                  <a:tcPr marL="92203" marR="92203" marT="46101" marB="46101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7562454"/>
                  </a:ext>
                </a:extLst>
              </a:tr>
              <a:tr h="373934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Melhor</a:t>
                      </a:r>
                      <a:r>
                        <a:rPr lang="pt-BR" sz="1400" baseline="0" dirty="0"/>
                        <a:t> </a:t>
                      </a:r>
                      <a:r>
                        <a:rPr lang="pt-BR" sz="1400" dirty="0"/>
                        <a:t>controle</a:t>
                      </a:r>
                      <a:r>
                        <a:rPr lang="pt-BR" sz="1400" baseline="0" dirty="0"/>
                        <a:t> de Implantação</a:t>
                      </a:r>
                      <a:endParaRPr lang="pt-BR" sz="1400" dirty="0"/>
                    </a:p>
                  </a:txBody>
                  <a:tcPr marL="92203" marR="92203" marT="46101" marB="4610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aseline="0" dirty="0"/>
                        <a:t>Planejamento mais eficaz</a:t>
                      </a:r>
                      <a:endParaRPr lang="pt-BR" sz="1400" dirty="0"/>
                    </a:p>
                  </a:txBody>
                  <a:tcPr marL="92203" marR="92203" marT="46101" marB="46101"/>
                </a:tc>
                <a:extLst>
                  <a:ext uri="{0D108BD9-81ED-4DB2-BD59-A6C34878D82A}">
                    <a16:rowId xmlns:a16="http://schemas.microsoft.com/office/drawing/2014/main" val="1590996771"/>
                  </a:ext>
                </a:extLst>
              </a:tr>
              <a:tr h="373934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 Implantação</a:t>
                      </a:r>
                    </a:p>
                  </a:txBody>
                  <a:tcPr marL="92203" marR="92203" marT="46101" marB="4610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+ de 1 Implantação</a:t>
                      </a:r>
                    </a:p>
                  </a:txBody>
                  <a:tcPr marL="92203" marR="92203" marT="46101" marB="46101"/>
                </a:tc>
                <a:extLst>
                  <a:ext uri="{0D108BD9-81ED-4DB2-BD59-A6C34878D82A}">
                    <a16:rowId xmlns:a16="http://schemas.microsoft.com/office/drawing/2014/main" val="742070184"/>
                  </a:ext>
                </a:extLst>
              </a:tr>
              <a:tr h="373934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Sem</a:t>
                      </a:r>
                      <a:r>
                        <a:rPr lang="pt-BR" sz="1400" baseline="0" dirty="0"/>
                        <a:t> retorno financeiro</a:t>
                      </a:r>
                      <a:endParaRPr lang="pt-BR" sz="1400" dirty="0"/>
                    </a:p>
                  </a:txBody>
                  <a:tcPr marL="92203" marR="92203" marT="46101" marB="4610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Com retorno financeiro</a:t>
                      </a:r>
                    </a:p>
                  </a:txBody>
                  <a:tcPr marL="92203" marR="92203" marT="46101" marB="46101"/>
                </a:tc>
                <a:extLst>
                  <a:ext uri="{0D108BD9-81ED-4DB2-BD59-A6C34878D82A}">
                    <a16:rowId xmlns:a16="http://schemas.microsoft.com/office/drawing/2014/main" val="745834117"/>
                  </a:ext>
                </a:extLst>
              </a:tr>
              <a:tr h="373934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Envolvimento </a:t>
                      </a:r>
                      <a:r>
                        <a:rPr lang="pt-BR" sz="1400" baseline="0" dirty="0"/>
                        <a:t>de somente 1 área</a:t>
                      </a:r>
                      <a:endParaRPr lang="pt-BR" sz="1400" dirty="0"/>
                    </a:p>
                  </a:txBody>
                  <a:tcPr marL="92203" marR="92203" marT="46101" marB="46101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+</a:t>
                      </a:r>
                      <a:r>
                        <a:rPr lang="pt-BR" sz="1400" baseline="0" dirty="0"/>
                        <a:t> de 1 área</a:t>
                      </a:r>
                      <a:endParaRPr lang="pt-BR" sz="1400" dirty="0"/>
                    </a:p>
                  </a:txBody>
                  <a:tcPr marL="92203" marR="92203" marT="46101" marB="46101"/>
                </a:tc>
                <a:extLst>
                  <a:ext uri="{0D108BD9-81ED-4DB2-BD59-A6C34878D82A}">
                    <a16:rowId xmlns:a16="http://schemas.microsoft.com/office/drawing/2014/main" val="3454762813"/>
                  </a:ext>
                </a:extLst>
              </a:tr>
              <a:tr h="373934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Alteração de Serviço</a:t>
                      </a:r>
                    </a:p>
                  </a:txBody>
                  <a:tcPr marL="92203" marR="92203" marT="46101" marB="4610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Inclusão,</a:t>
                      </a:r>
                      <a:r>
                        <a:rPr lang="pt-BR" sz="1400" baseline="0" dirty="0"/>
                        <a:t> alteração e remoção de Serviço</a:t>
                      </a:r>
                      <a:endParaRPr lang="pt-BR" sz="1400" dirty="0"/>
                    </a:p>
                  </a:txBody>
                  <a:tcPr marL="92203" marR="92203" marT="46101" marB="46101"/>
                </a:tc>
                <a:extLst>
                  <a:ext uri="{0D108BD9-81ED-4DB2-BD59-A6C34878D82A}">
                    <a16:rowId xmlns:a16="http://schemas.microsoft.com/office/drawing/2014/main" val="4293718368"/>
                  </a:ext>
                </a:extLst>
              </a:tr>
              <a:tr h="373934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marL="92203" marR="92203" marT="46101" marB="46101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marL="92203" marR="92203" marT="46101" marB="46101"/>
                </a:tc>
                <a:extLst>
                  <a:ext uri="{0D108BD9-81ED-4DB2-BD59-A6C34878D82A}">
                    <a16:rowId xmlns:a16="http://schemas.microsoft.com/office/drawing/2014/main" val="3561501154"/>
                  </a:ext>
                </a:extLst>
              </a:tr>
            </a:tbl>
          </a:graphicData>
        </a:graphic>
      </p:graphicFrame>
      <p:sp>
        <p:nvSpPr>
          <p:cNvPr id="5" name="Retângulo 4"/>
          <p:cNvSpPr/>
          <p:nvPr/>
        </p:nvSpPr>
        <p:spPr>
          <a:xfrm>
            <a:off x="8339871" y="4851432"/>
            <a:ext cx="5578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 action="ppaction://hlinksldjump"/>
              </a:rPr>
              <a:t>Voltar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1850553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Registro dos Requisitos de Controle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1097" y="563880"/>
            <a:ext cx="9144000" cy="1130808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Visando mitigar impactos pós implementação, um controle de requisitos será anexado em todas as 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Gmud’s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 para controles 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pré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 e pós implementação. Os controles serão inseridos pelo planejador com revisão de Gerências CSE e CSC, indicadores de performance serão apresentadas nos comitês de Estabilidade Operacional.</a:t>
            </a: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972" y="1929752"/>
            <a:ext cx="7846695" cy="2598337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8339871" y="4851432"/>
            <a:ext cx="5578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3" action="ppaction://hlinksldjump"/>
              </a:rPr>
              <a:t>Voltar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7073612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 txBox="1">
            <a:spLocks/>
          </p:cNvSpPr>
          <p:nvPr/>
        </p:nvSpPr>
        <p:spPr>
          <a:xfrm>
            <a:off x="1097" y="563879"/>
            <a:ext cx="9142903" cy="4584383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spcBef>
                <a:spcPts val="682"/>
              </a:spcBef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 e Risco Associado</a:t>
            </a:r>
          </a:p>
          <a:p>
            <a:pPr indent="-285750" algn="l">
              <a:lnSpc>
                <a:spcPct val="90000"/>
              </a:lnSpc>
              <a:spcBef>
                <a:spcPts val="682"/>
              </a:spcBef>
              <a:buFont typeface="Wingdings" panose="05000000000000000000" pitchFamily="2" charset="2"/>
              <a:buChar char="ü"/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Importante: </a:t>
            </a:r>
            <a:r>
              <a:rPr lang="pt-BR" sz="18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Nenhuma Mudança é ausente de Riscos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!!!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Mesmo a mais simples das Mudanças podem causar impactos que parecem completamente fora de proporção para a complexidade ou simplicidade da Mudança.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Nos anos recentes têm ocorrido muitos casos de alta visibilidade e impacto financeiro de grande proporção nos negócios causado pela inclusão, exclusão ou posicionamento errôneo de um “código de software”.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Planejamento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0950" y="3193143"/>
            <a:ext cx="3123195" cy="1955120"/>
          </a:xfrm>
          <a:prstGeom prst="rect">
            <a:avLst/>
          </a:prstGeom>
        </p:spPr>
      </p:pic>
      <p:sp>
        <p:nvSpPr>
          <p:cNvPr id="7" name="Retângulo 6">
            <a:hlinkClick r:id="rId3" action="ppaction://hlinksldjump"/>
          </p:cNvPr>
          <p:cNvSpPr/>
          <p:nvPr/>
        </p:nvSpPr>
        <p:spPr>
          <a:xfrm>
            <a:off x="8339871" y="4851432"/>
            <a:ext cx="5578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4" action="ppaction://hlinksldjump"/>
              </a:rPr>
              <a:t>Voltar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685556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Planejamento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76" y="962293"/>
            <a:ext cx="8628231" cy="3719988"/>
          </a:xfrm>
          <a:prstGeom prst="rect">
            <a:avLst/>
          </a:prstGeom>
        </p:spPr>
      </p:pic>
      <p:sp>
        <p:nvSpPr>
          <p:cNvPr id="6" name="Retângulo 5">
            <a:hlinkClick r:id="rId3" action="ppaction://hlinksldjump"/>
          </p:cNvPr>
          <p:cNvSpPr/>
          <p:nvPr/>
        </p:nvSpPr>
        <p:spPr>
          <a:xfrm>
            <a:off x="8339871" y="4851432"/>
            <a:ext cx="5578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4" action="ppaction://hlinksldjump"/>
              </a:rPr>
              <a:t>Voltar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10010251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Planejamento</a:t>
            </a:r>
          </a:p>
        </p:txBody>
      </p:sp>
      <p:sp>
        <p:nvSpPr>
          <p:cNvPr id="6" name="Retângulo 5">
            <a:hlinkClick r:id="rId2" action="ppaction://hlinksldjump"/>
          </p:cNvPr>
          <p:cNvSpPr/>
          <p:nvPr/>
        </p:nvSpPr>
        <p:spPr>
          <a:xfrm>
            <a:off x="8339871" y="4851432"/>
            <a:ext cx="5578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3" action="ppaction://hlinksldjump"/>
              </a:rPr>
              <a:t>Voltar</a:t>
            </a:r>
            <a:endParaRPr lang="pt-BR" sz="1200" dirty="0"/>
          </a:p>
        </p:txBody>
      </p:sp>
      <p:pic>
        <p:nvPicPr>
          <p:cNvPr id="7" name="Imagem 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" y="2240297"/>
            <a:ext cx="603504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Imagem 7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456" y="3655092"/>
            <a:ext cx="6050280" cy="1196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Imagem 8"/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9886" y="825622"/>
            <a:ext cx="6027420" cy="117348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tângulo 9"/>
          <p:cNvSpPr/>
          <p:nvPr/>
        </p:nvSpPr>
        <p:spPr>
          <a:xfrm>
            <a:off x="137075" y="1085291"/>
            <a:ext cx="23913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Registro de Atividade do Plano de Ação</a:t>
            </a:r>
            <a:endParaRPr lang="pt-BR" dirty="0"/>
          </a:p>
        </p:txBody>
      </p:sp>
      <p:sp>
        <p:nvSpPr>
          <p:cNvPr id="11" name="Retângulo 10"/>
          <p:cNvSpPr/>
          <p:nvPr/>
        </p:nvSpPr>
        <p:spPr>
          <a:xfrm>
            <a:off x="6294120" y="2370454"/>
            <a:ext cx="239138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Registro de Item de Configuração dos Componentes</a:t>
            </a:r>
            <a:endParaRPr lang="pt-BR" dirty="0"/>
          </a:p>
        </p:txBody>
      </p:sp>
      <p:sp>
        <p:nvSpPr>
          <p:cNvPr id="12" name="Retângulo 11"/>
          <p:cNvSpPr/>
          <p:nvPr/>
        </p:nvSpPr>
        <p:spPr>
          <a:xfrm>
            <a:off x="148505" y="3930096"/>
            <a:ext cx="23913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Registro de Recurso do Plano de Comunicação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283710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Aprovação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7193" y="524043"/>
            <a:ext cx="9144000" cy="4584383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Níveis diferenciados de aprovação são designados conforme o Tipo de Mudança porém poderão conter particularidades:</a:t>
            </a:r>
          </a:p>
          <a:p>
            <a:pPr indent="-285750" algn="l">
              <a:lnSpc>
                <a:spcPct val="90000"/>
              </a:lnSpc>
              <a:spcBef>
                <a:spcPts val="682"/>
              </a:spcBef>
              <a:spcAft>
                <a:spcPts val="1000"/>
              </a:spcAft>
              <a:buFont typeface="Wingdings" panose="05000000000000000000" pitchFamily="2" charset="2"/>
              <a:buChar char="ü"/>
              <a:defRPr/>
            </a:pP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Gmud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 Planejada: Gerente do Planejador, Gerente dos Sites Afetados, Gerente de Negócios com Particularidades.</a:t>
            </a:r>
          </a:p>
          <a:p>
            <a:pPr indent="-285750" algn="l">
              <a:lnSpc>
                <a:spcPct val="90000"/>
              </a:lnSpc>
              <a:spcBef>
                <a:spcPts val="682"/>
              </a:spcBef>
              <a:spcAft>
                <a:spcPts val="1000"/>
              </a:spcAft>
              <a:buFont typeface="Wingdings" panose="05000000000000000000" pitchFamily="2" charset="2"/>
              <a:buChar char="ü"/>
              <a:defRPr/>
            </a:pP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Gmud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 Técnica: Gerenciamento de Mudanças.</a:t>
            </a:r>
          </a:p>
          <a:p>
            <a:pPr indent="-285750" algn="l">
              <a:lnSpc>
                <a:spcPct val="90000"/>
              </a:lnSpc>
              <a:spcBef>
                <a:spcPts val="682"/>
              </a:spcBef>
              <a:spcAft>
                <a:spcPts val="1000"/>
              </a:spcAft>
              <a:buFont typeface="Wingdings" panose="05000000000000000000" pitchFamily="2" charset="2"/>
              <a:buChar char="ü"/>
              <a:defRPr/>
            </a:pP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Gmud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 Emergencial: Gerente do Processo de Gerenciamento de Mudanças, Diretoria Executiva de TI e Diretoria de Negócios.</a:t>
            </a:r>
          </a:p>
          <a:p>
            <a:pPr algn="l">
              <a:lnSpc>
                <a:spcPct val="90000"/>
              </a:lnSpc>
              <a:spcBef>
                <a:spcPts val="682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Os riscos dos pré-requisitos não concluídos serão notificados no e-mail de aprovação.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  <a:sym typeface="Helvetica Neue" charset="0"/>
            </a:endParaRP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  <a:sym typeface="Helvetica Neue" charset="0"/>
            </a:endParaRP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Em caso de reprovação a 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Gmud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 é Cancelada automaticamente.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  <a:sym typeface="Helvetica Neue" charset="0"/>
            </a:endParaRPr>
          </a:p>
        </p:txBody>
      </p:sp>
      <p:pic>
        <p:nvPicPr>
          <p:cNvPr id="4" name="Imagem 3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893"/>
          <a:stretch/>
        </p:blipFill>
        <p:spPr bwMode="auto">
          <a:xfrm>
            <a:off x="370609" y="3556421"/>
            <a:ext cx="6019800" cy="949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8980" y="3556421"/>
            <a:ext cx="1349783" cy="1238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6813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Comitê Consultivo de Mudanças (CCM)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7193" y="524043"/>
            <a:ext cx="9144000" cy="4584383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É composto por um grupo de pessoas que suportam a avaliação, priorização, autorização e programação de mudanças. Um comitê consultivo de mudanças é normalmente composto de representantes de todas as áreas do provedor de serviço de TI, negócio e de terceiros, tais como fornecedores.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Membros do CCM receberão previamente a lista das mudanças pré-aprovadas a serem liberadas, 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Gmud’s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apontadas pelos membros terão sua implantação discutida em comitê, caso não haja objeção por nenhuma área ela é aprovada automaticamente.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  <a:sym typeface="Helvetica Neue" charset="0"/>
            </a:endParaRPr>
          </a:p>
        </p:txBody>
      </p:sp>
      <p:pic>
        <p:nvPicPr>
          <p:cNvPr id="5" name="Imagem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701" y="3450075"/>
            <a:ext cx="7566517" cy="11425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321981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 txBox="1">
            <a:spLocks/>
          </p:cNvSpPr>
          <p:nvPr/>
        </p:nvSpPr>
        <p:spPr>
          <a:xfrm>
            <a:off x="7193" y="524043"/>
            <a:ext cx="9144000" cy="4584383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O principal objetivo do CCM é assegurar:</a:t>
            </a:r>
          </a:p>
          <a:p>
            <a:pPr marL="742950" lvl="1" indent="-28575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 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cumpriu seu objetivo e não afetou ou interrompeu outros serviços.</a:t>
            </a:r>
          </a:p>
          <a:p>
            <a:pPr marL="742950" lvl="1" indent="-28575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Recursos utilizados para implementar a mudança estavam conforme planejado.</a:t>
            </a:r>
          </a:p>
          <a:p>
            <a:pPr marL="742950" lvl="1" indent="-28575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 foi implementada no tempo e custo, assim por diante.</a:t>
            </a:r>
          </a:p>
          <a:p>
            <a:pPr lvl="1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0" lvl="1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  <a:sym typeface="Helvetica Neue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Comitê Consultivo de Mudanças (CCM)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324" y="3511883"/>
            <a:ext cx="2463738" cy="1539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4784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Revisão Pós Implantação</a:t>
            </a:r>
          </a:p>
        </p:txBody>
      </p:sp>
      <p:sp>
        <p:nvSpPr>
          <p:cNvPr id="4" name="Subtítulo 2"/>
          <p:cNvSpPr txBox="1">
            <a:spLocks/>
          </p:cNvSpPr>
          <p:nvPr/>
        </p:nvSpPr>
        <p:spPr>
          <a:xfrm>
            <a:off x="7193" y="524043"/>
            <a:ext cx="9144000" cy="4584383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Uma revisão pós-implementação (RPI) é uma revisão formal de um programa ou projeto.</a:t>
            </a:r>
          </a:p>
          <a:p>
            <a:pPr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É utilizada para responder a questão: Atingimos o que definimos para fazer em termos de negócio? E, caso negativo, o que deve ser feito?</a:t>
            </a:r>
          </a:p>
          <a:p>
            <a:pPr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Para um grande programa de Mudança, devem haver várias revisões pós-implementação (RPI) ao longo do tempo.</a:t>
            </a:r>
          </a:p>
        </p:txBody>
      </p:sp>
      <p:pic>
        <p:nvPicPr>
          <p:cNvPr id="5" name="Imagem 4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240"/>
          <a:stretch/>
        </p:blipFill>
        <p:spPr bwMode="auto">
          <a:xfrm>
            <a:off x="1068870" y="3021160"/>
            <a:ext cx="7020646" cy="19089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9244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ítulo 2"/>
          <p:cNvSpPr txBox="1">
            <a:spLocks/>
          </p:cNvSpPr>
          <p:nvPr/>
        </p:nvSpPr>
        <p:spPr>
          <a:xfrm>
            <a:off x="7193" y="524043"/>
            <a:ext cx="9144000" cy="4584383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 algn="l">
              <a:spcBef>
                <a:spcPts val="1000"/>
              </a:spcBef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 revisão da Mudança é realizada para confirmar que os objetivos foram alcançados permitindo ao solicitante e partes interessadas a satisfação com o(s) resultado(s). Por exemplo, conferir a documentação da Mudança, linha de base e relatórios de avaliação.</a:t>
            </a:r>
          </a:p>
          <a:p>
            <a:pPr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Caso haja pendência de requisitos a 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permanecerá em aberto por até 10 dias após sua implantação para acompanhamento das pendências e garantia de sua conclusão. Após este período, o Gerente da equipe responsável pela pendência será notificado do encerramento com as pendências não concluídas.</a:t>
            </a:r>
          </a:p>
        </p:txBody>
      </p:sp>
      <p:sp>
        <p:nvSpPr>
          <p:cNvPr id="3" name="Retângulo 2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Validação de Pendências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473756"/>
            <a:ext cx="8016240" cy="1121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5373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Indicadores</a:t>
            </a:r>
          </a:p>
        </p:txBody>
      </p:sp>
      <p:sp>
        <p:nvSpPr>
          <p:cNvPr id="3" name="Retângulo 2"/>
          <p:cNvSpPr/>
          <p:nvPr/>
        </p:nvSpPr>
        <p:spPr>
          <a:xfrm>
            <a:off x="0" y="566872"/>
            <a:ext cx="9192225" cy="4419397"/>
          </a:xfrm>
          <a:prstGeom prst="rect">
            <a:avLst/>
          </a:prstGeom>
        </p:spPr>
        <p:txBody>
          <a:bodyPr wrap="square" lIns="360000" tIns="72000" rIns="360000" bIns="72000">
            <a:spAutoFit/>
          </a:bodyPr>
          <a:lstStyle/>
          <a:p>
            <a:pPr marL="252000" lvl="1" indent="-2857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executadas por mês (mudanças encerradas X mês)</a:t>
            </a:r>
          </a:p>
          <a:p>
            <a:pPr marL="252000" lvl="1" indent="-2857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por tipo (histórico de mudanças anual X tipo)</a:t>
            </a:r>
          </a:p>
          <a:p>
            <a:pPr marL="252000" lvl="1" indent="-2857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por Natureza (histórico de mudanças anual X natureza)</a:t>
            </a:r>
          </a:p>
          <a:p>
            <a:pPr marL="252000" lvl="1" indent="-2857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por Etapa (histórico de mudanças anual X Etapa)</a:t>
            </a:r>
          </a:p>
          <a:p>
            <a:pPr marL="252000" lvl="1" indent="-2857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encerradas com sucesso (histórico de mudanças anual X sucesso ou não sucesso)</a:t>
            </a:r>
          </a:p>
          <a:p>
            <a:pPr marL="252000" lvl="1" indent="-2857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por status (histórico de mudanças anual X Status)</a:t>
            </a:r>
          </a:p>
          <a:p>
            <a:pPr marL="252000" lvl="1" indent="-2857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por clientes (histórico de mudanças anual X top 10 clientes)</a:t>
            </a:r>
          </a:p>
          <a:p>
            <a:pPr marL="252000" lvl="1" indent="-2857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por Site (histórico de mudanças anual X Site Contax)</a:t>
            </a:r>
          </a:p>
          <a:p>
            <a:pPr marL="252000" lvl="1" indent="-2857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Consolidado por Cliente x Sucesso</a:t>
            </a:r>
          </a:p>
          <a:p>
            <a:pPr marL="252000" lvl="1" indent="-2857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Total de Mudanças x Projeto</a:t>
            </a:r>
          </a:p>
          <a:p>
            <a:pPr marL="252000" lvl="1" indent="-2857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por Diretoria X total mês</a:t>
            </a:r>
          </a:p>
        </p:txBody>
      </p:sp>
    </p:spTree>
    <p:extLst>
      <p:ext uri="{BB962C8B-B14F-4D97-AF65-F5344CB8AC3E}">
        <p14:creationId xmlns:p14="http://schemas.microsoft.com/office/powerpoint/2010/main" val="39736970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Indicadores</a:t>
            </a:r>
          </a:p>
        </p:txBody>
      </p:sp>
      <p:pic>
        <p:nvPicPr>
          <p:cNvPr id="36" name="Imagem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0099" y="2045"/>
            <a:ext cx="4735609" cy="516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6933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Indicadores – Controle de Requisitos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1767" r="29151"/>
          <a:stretch/>
        </p:blipFill>
        <p:spPr>
          <a:xfrm>
            <a:off x="338328" y="587756"/>
            <a:ext cx="2306320" cy="220556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720848" y="605087"/>
            <a:ext cx="6108425" cy="2272497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3326" r="30246"/>
          <a:stretch/>
        </p:blipFill>
        <p:spPr>
          <a:xfrm>
            <a:off x="6483329" y="2877584"/>
            <a:ext cx="2126488" cy="2146416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4820" y="2908064"/>
            <a:ext cx="5949929" cy="2211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6866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Automação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2" y="810492"/>
            <a:ext cx="1939774" cy="1962867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4245" y="957462"/>
            <a:ext cx="3688400" cy="1668925"/>
          </a:xfrm>
          <a:prstGeom prst="rect">
            <a:avLst/>
          </a:prstGeom>
        </p:spPr>
      </p:pic>
      <p:sp>
        <p:nvSpPr>
          <p:cNvPr id="7" name="Retângulo 6"/>
          <p:cNvSpPr/>
          <p:nvPr/>
        </p:nvSpPr>
        <p:spPr>
          <a:xfrm>
            <a:off x="2272145" y="1468758"/>
            <a:ext cx="23913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Abertura de nova Mudança / Projeto</a:t>
            </a:r>
            <a:endParaRPr lang="pt-BR" dirty="0"/>
          </a:p>
        </p:txBody>
      </p:sp>
      <p:sp>
        <p:nvSpPr>
          <p:cNvPr id="8" name="Retângulo 7"/>
          <p:cNvSpPr/>
          <p:nvPr/>
        </p:nvSpPr>
        <p:spPr>
          <a:xfrm>
            <a:off x="5482754" y="2642690"/>
            <a:ext cx="23913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Seleção de Mudança ou Projeto</a:t>
            </a:r>
            <a:endParaRPr lang="pt-BR" dirty="0"/>
          </a:p>
        </p:txBody>
      </p:sp>
      <p:sp>
        <p:nvSpPr>
          <p:cNvPr id="9" name="Retângulo 8"/>
          <p:cNvSpPr/>
          <p:nvPr/>
        </p:nvSpPr>
        <p:spPr>
          <a:xfrm>
            <a:off x="470912" y="3331399"/>
            <a:ext cx="353997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Formulários de Mudança: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 Técnica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 de Infra/</a:t>
            </a: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Facilities</a:t>
            </a: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 Planejada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 Emergencial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dirty="0"/>
          </a:p>
        </p:txBody>
      </p:sp>
      <p:sp>
        <p:nvSpPr>
          <p:cNvPr id="10" name="Retângulo 9"/>
          <p:cNvSpPr/>
          <p:nvPr/>
        </p:nvSpPr>
        <p:spPr>
          <a:xfrm>
            <a:off x="4834245" y="3331399"/>
            <a:ext cx="353997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Formulários de Projetos: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Projeto de TI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Projetos Corporativos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Projetos de Negócio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9637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Automação – Dados do Solicitante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934" y="780923"/>
            <a:ext cx="6456018" cy="3130292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1339934" y="3971801"/>
            <a:ext cx="64560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Dados do Solicitante será padrão do </a:t>
            </a: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tProcess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! sem alterações.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068396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Automação – Dados da Demanda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04" y="944880"/>
            <a:ext cx="4342342" cy="3325410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4602146" y="966159"/>
            <a:ext cx="4366594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Cliente / Operação Afetada:</a:t>
            </a:r>
            <a:r>
              <a:rPr lang="pt-BR" sz="14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permitira seleção múltipla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Previsão de Interrupção:</a:t>
            </a:r>
            <a:r>
              <a:rPr lang="pt-BR" sz="14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Sim ou Não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Complexidade:</a:t>
            </a:r>
            <a:r>
              <a:rPr lang="pt-BR" sz="14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Alta, Média e Baixa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Risco:</a:t>
            </a:r>
            <a:r>
              <a:rPr lang="pt-BR" sz="14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Alto, Médio e Baixo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Data / Hora de execução:</a:t>
            </a:r>
            <a:r>
              <a:rPr lang="pt-BR" sz="14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Estimativa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Quantidade de usuários afetados:</a:t>
            </a:r>
            <a:r>
              <a:rPr lang="pt-BR" sz="14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0-&gt;10, 10-&gt;100, 100-&gt;1000, Acima de 1000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Classificação: </a:t>
            </a:r>
            <a:r>
              <a:rPr lang="pt-BR" sz="14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Novo Serviço, Remoção de Serviço,  Corretiva de Problema, Corretiva de Incidente, Alteração de Serviço, Conformidade Legal, Ocupação Predial.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Benefício da Demanda: </a:t>
            </a:r>
            <a:r>
              <a:rPr lang="pt-BR" sz="14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Expansão de Faturamento, Novos Negócios, Eficiência Operacional, Redução de Multas, Adequação Operacional, Mitigação de Riscos.</a:t>
            </a:r>
          </a:p>
        </p:txBody>
      </p:sp>
    </p:spTree>
    <p:extLst>
      <p:ext uri="{BB962C8B-B14F-4D97-AF65-F5344CB8AC3E}">
        <p14:creationId xmlns:p14="http://schemas.microsoft.com/office/powerpoint/2010/main" val="8565920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Automação - Registro</a:t>
            </a:r>
          </a:p>
        </p:txBody>
      </p:sp>
      <p:sp>
        <p:nvSpPr>
          <p:cNvPr id="4" name="Retângulo 3"/>
          <p:cNvSpPr/>
          <p:nvPr/>
        </p:nvSpPr>
        <p:spPr>
          <a:xfrm>
            <a:off x="7193" y="1143175"/>
            <a:ext cx="225242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Projeto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 Planejada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Técnica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Infra/</a:t>
            </a: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Facilities</a:t>
            </a: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Emergencial</a:t>
            </a:r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949" y="695727"/>
            <a:ext cx="6441033" cy="4285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9960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Automação – Todas as visões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2"/>
          <a:srcRect t="55727"/>
          <a:stretch/>
        </p:blipFill>
        <p:spPr>
          <a:xfrm>
            <a:off x="2280806" y="990601"/>
            <a:ext cx="6613814" cy="3595434"/>
          </a:xfrm>
          <a:prstGeom prst="rect">
            <a:avLst/>
          </a:prstGeom>
        </p:spPr>
      </p:pic>
      <p:sp>
        <p:nvSpPr>
          <p:cNvPr id="7" name="Retângulo 6"/>
          <p:cNvSpPr/>
          <p:nvPr/>
        </p:nvSpPr>
        <p:spPr>
          <a:xfrm>
            <a:off x="7193" y="1143175"/>
            <a:ext cx="225242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Projeto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 Planejada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Técnica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Infra/</a:t>
            </a: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Facilities</a:t>
            </a: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Emergencial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541591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Automação - Demandas</a:t>
            </a:r>
          </a:p>
        </p:txBody>
      </p:sp>
      <p:sp>
        <p:nvSpPr>
          <p:cNvPr id="3" name="Retângulo 2"/>
          <p:cNvSpPr/>
          <p:nvPr/>
        </p:nvSpPr>
        <p:spPr>
          <a:xfrm>
            <a:off x="7193" y="1143175"/>
            <a:ext cx="225242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Projeto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 Planejada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 Técnica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 Infra/</a:t>
            </a: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Facilities</a:t>
            </a:r>
            <a:endParaRPr lang="pt-BR" dirty="0">
              <a:solidFill>
                <a:schemeClr val="bg1">
                  <a:lumMod val="6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 Emergencial</a:t>
            </a:r>
            <a:endParaRPr lang="pt-BR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3090" y="692889"/>
            <a:ext cx="6492961" cy="3751789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7192" y="4604329"/>
            <a:ext cx="9136807" cy="422405"/>
          </a:xfrm>
          <a:prstGeom prst="rect">
            <a:avLst/>
          </a:prstGeom>
        </p:spPr>
        <p:txBody>
          <a:bodyPr wrap="square" lIns="360000" tIns="72000" rIns="360000" bIns="72000">
            <a:spAutoFit/>
          </a:bodyPr>
          <a:lstStyle/>
          <a:p>
            <a:pPr>
              <a:spcBef>
                <a:spcPts val="1000"/>
              </a:spcBef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Nesta fase será possível alterar uma Mudança para Projeto e um projeto para Mudança.</a:t>
            </a:r>
          </a:p>
        </p:txBody>
      </p:sp>
    </p:spTree>
    <p:extLst>
      <p:ext uri="{BB962C8B-B14F-4D97-AF65-F5344CB8AC3E}">
        <p14:creationId xmlns:p14="http://schemas.microsoft.com/office/powerpoint/2010/main" val="2635757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Automação  - Projeto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5858" y="706582"/>
            <a:ext cx="6505061" cy="4099559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7193" y="1143175"/>
            <a:ext cx="225242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Projeto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  Planejada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 Técnica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 Infra/</a:t>
            </a: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Facilities</a:t>
            </a:r>
            <a:endParaRPr lang="pt-BR" dirty="0">
              <a:solidFill>
                <a:schemeClr val="bg1">
                  <a:lumMod val="6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 Emergencial</a:t>
            </a:r>
            <a:endParaRPr lang="pt-BR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48570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Automação</a:t>
            </a:r>
          </a:p>
        </p:txBody>
      </p:sp>
      <p:sp>
        <p:nvSpPr>
          <p:cNvPr id="3" name="Retângulo 2"/>
          <p:cNvSpPr/>
          <p:nvPr/>
        </p:nvSpPr>
        <p:spPr>
          <a:xfrm>
            <a:off x="7193" y="1143175"/>
            <a:ext cx="225242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Projeto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  Planejada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 Técnica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 Infra/</a:t>
            </a: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Facilities</a:t>
            </a:r>
            <a:endParaRPr lang="pt-BR" dirty="0">
              <a:solidFill>
                <a:schemeClr val="bg1">
                  <a:lumMod val="6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 Emergencial</a:t>
            </a:r>
            <a:endParaRPr lang="pt-BR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624" y="1051735"/>
            <a:ext cx="6522535" cy="368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2187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Automação</a:t>
            </a:r>
          </a:p>
        </p:txBody>
      </p:sp>
      <p:sp>
        <p:nvSpPr>
          <p:cNvPr id="3" name="Retângulo 2"/>
          <p:cNvSpPr/>
          <p:nvPr/>
        </p:nvSpPr>
        <p:spPr>
          <a:xfrm>
            <a:off x="7193" y="1143175"/>
            <a:ext cx="225242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Projeto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 Planejada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Técnica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Infra/</a:t>
            </a: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Facilities</a:t>
            </a: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Emergencial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6334" y="524043"/>
            <a:ext cx="6245226" cy="4517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1277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Automação - Resolução</a:t>
            </a:r>
          </a:p>
        </p:txBody>
      </p:sp>
      <p:sp>
        <p:nvSpPr>
          <p:cNvPr id="3" name="Retângulo 2"/>
          <p:cNvSpPr/>
          <p:nvPr/>
        </p:nvSpPr>
        <p:spPr>
          <a:xfrm>
            <a:off x="7193" y="1143175"/>
            <a:ext cx="225242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Projeto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 Planejada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Técnica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Infra/</a:t>
            </a: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Facilities</a:t>
            </a: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Emergencial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4664" y="995423"/>
            <a:ext cx="6486268" cy="3450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2495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2194756"/>
            <a:ext cx="9144000" cy="76944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ctr"/>
            <a:r>
              <a:rPr lang="pt-BR" sz="44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Obrigado! </a:t>
            </a:r>
          </a:p>
        </p:txBody>
      </p:sp>
    </p:spTree>
    <p:extLst>
      <p:ext uri="{BB962C8B-B14F-4D97-AF65-F5344CB8AC3E}">
        <p14:creationId xmlns:p14="http://schemas.microsoft.com/office/powerpoint/2010/main" val="576794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0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5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7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22393</TotalTime>
  <Words>1255</Words>
  <Application>Microsoft Office PowerPoint</Application>
  <PresentationFormat>Personalizar</PresentationFormat>
  <Paragraphs>182</Paragraphs>
  <Slides>31</Slides>
  <Notes>1</Notes>
  <HiddenSlides>0</HiddenSlides>
  <MMClips>0</MMClips>
  <ScaleCrop>false</ScaleCrop>
  <HeadingPairs>
    <vt:vector size="8" baseType="variant">
      <vt:variant>
        <vt:lpstr>Fontes usadas</vt:lpstr>
      </vt:variant>
      <vt:variant>
        <vt:i4>5</vt:i4>
      </vt:variant>
      <vt:variant>
        <vt:lpstr>Tema</vt:lpstr>
      </vt:variant>
      <vt:variant>
        <vt:i4>5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42" baseType="lpstr">
      <vt:lpstr>Aharoni</vt:lpstr>
      <vt:lpstr>Arial</vt:lpstr>
      <vt:lpstr>Calibri</vt:lpstr>
      <vt:lpstr>Helvetica Neue</vt:lpstr>
      <vt:lpstr>Wingdings</vt:lpstr>
      <vt:lpstr>Tema do Office</vt:lpstr>
      <vt:lpstr>10_Tema do Office</vt:lpstr>
      <vt:lpstr>Personalizar design</vt:lpstr>
      <vt:lpstr>5_Tema do Office</vt:lpstr>
      <vt:lpstr>7_Tema do Office</vt:lpstr>
      <vt:lpstr>Slide do think-cell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Adolpho Chacon;Daniel Donaire - Revisor</dc:creator>
  <cp:lastModifiedBy>Chacon</cp:lastModifiedBy>
  <cp:revision>897</cp:revision>
  <dcterms:created xsi:type="dcterms:W3CDTF">2015-08-20T14:57:26Z</dcterms:created>
  <dcterms:modified xsi:type="dcterms:W3CDTF">2016-08-04T21:10:30Z</dcterms:modified>
</cp:coreProperties>
</file>