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1"/>
    <p:sldMasterId id="2147483677" r:id="rId2"/>
    <p:sldMasterId id="2147483679" r:id="rId3"/>
    <p:sldMasterId id="2147483673" r:id="rId4"/>
    <p:sldMasterId id="2147483675" r:id="rId5"/>
  </p:sldMasterIdLst>
  <p:notesMasterIdLst>
    <p:notesMasterId r:id="rId43"/>
  </p:notesMasterIdLst>
  <p:sldIdLst>
    <p:sldId id="256" r:id="rId6"/>
    <p:sldId id="310" r:id="rId7"/>
    <p:sldId id="311" r:id="rId8"/>
    <p:sldId id="313" r:id="rId9"/>
    <p:sldId id="312" r:id="rId10"/>
    <p:sldId id="314" r:id="rId11"/>
    <p:sldId id="315" r:id="rId12"/>
    <p:sldId id="316" r:id="rId13"/>
    <p:sldId id="317" r:id="rId14"/>
    <p:sldId id="271" r:id="rId15"/>
    <p:sldId id="273" r:id="rId16"/>
    <p:sldId id="281" r:id="rId17"/>
    <p:sldId id="277" r:id="rId18"/>
    <p:sldId id="278" r:id="rId19"/>
    <p:sldId id="279" r:id="rId20"/>
    <p:sldId id="274" r:id="rId21"/>
    <p:sldId id="284" r:id="rId22"/>
    <p:sldId id="293" r:id="rId23"/>
    <p:sldId id="287" r:id="rId24"/>
    <p:sldId id="289" r:id="rId25"/>
    <p:sldId id="295" r:id="rId26"/>
    <p:sldId id="291" r:id="rId27"/>
    <p:sldId id="292" r:id="rId28"/>
    <p:sldId id="309" r:id="rId29"/>
    <p:sldId id="296" r:id="rId30"/>
    <p:sldId id="31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297" r:id="rId42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C2A3"/>
    <a:srgbClr val="FFD0B9"/>
    <a:srgbClr val="000000"/>
    <a:srgbClr val="FFFFFF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84" autoAdjust="0"/>
    <p:restoredTop sz="93809" autoAdjust="0"/>
  </p:normalViewPr>
  <p:slideViewPr>
    <p:cSldViewPr snapToGrid="0" snapToObjects="1">
      <p:cViewPr varScale="1">
        <p:scale>
          <a:sx n="115" d="100"/>
          <a:sy n="115" d="100"/>
        </p:scale>
        <p:origin x="610" y="72"/>
      </p:cViewPr>
      <p:guideLst>
        <p:guide orient="horz" pos="2506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Comunicar as “Mudanças”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chemeClr val="accent4">
            <a:lumMod val="60000"/>
            <a:lumOff val="40000"/>
          </a:schemeClr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>
        <a:solidFill>
          <a:schemeClr val="accent6">
            <a:lumMod val="50000"/>
          </a:schemeClr>
        </a:solidFill>
      </dgm:spPr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chemeClr val="accent4">
            <a:lumMod val="60000"/>
            <a:lumOff val="40000"/>
          </a:schemeClr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>
        <a:solidFill>
          <a:schemeClr val="accent6">
            <a:lumMod val="50000"/>
          </a:schemeClr>
        </a:solidFill>
      </dgm:spPr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8271" y="643126"/>
          <a:ext cx="1399219" cy="27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Comunicar as “Mudanças”</a:t>
          </a:r>
        </a:p>
      </dsp:txBody>
      <dsp:txXfrm>
        <a:off x="78271" y="643126"/>
        <a:ext cx="1399219" cy="270687"/>
      </dsp:txXfrm>
    </dsp:sp>
    <dsp:sp modelId="{759EE83A-6533-4DF2-B5E0-FA0B6CD833D4}">
      <dsp:nvSpPr>
        <dsp:cNvPr id="0" name=""/>
        <dsp:cNvSpPr/>
      </dsp:nvSpPr>
      <dsp:spPr>
        <a:xfrm>
          <a:off x="91779" y="407299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69690" y="251477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56677" y="282641"/>
          <a:ext cx="174902" cy="1749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512499" y="111237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715068" y="48908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964383" y="157983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120205" y="235894"/>
          <a:ext cx="174902" cy="174902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338356" y="407299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431850" y="578703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621574" y="251477"/>
          <a:ext cx="286204" cy="28620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868" y="843601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107361" y="983841"/>
          <a:ext cx="174902" cy="174902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41094" y="1108499"/>
          <a:ext cx="254403" cy="254403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68321" y="1311068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730650" y="1108499"/>
          <a:ext cx="174902" cy="174902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86472" y="1326650"/>
          <a:ext cx="111301" cy="1113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1026712" y="1077334"/>
          <a:ext cx="254403" cy="254403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369521" y="1015005"/>
          <a:ext cx="174902" cy="174902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04/08/2016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711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23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8008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7006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718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66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8/4/2016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7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05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2.vml"/><Relationship Id="rId7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8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83466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05167" y="4376234"/>
            <a:ext cx="1043999" cy="77073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4375"/>
            <a:ext cx="9144001" cy="5204563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6847" y="-34395"/>
            <a:ext cx="3345084" cy="1221858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 userDrawn="1"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87887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9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91500" y="4386263"/>
            <a:ext cx="952500" cy="7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image" Target="../media/image1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diagramData" Target="../diagrams/data6.xml"/><Relationship Id="rId18" Type="http://schemas.openxmlformats.org/officeDocument/2006/relationships/image" Target="../media/image11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17" Type="http://schemas.microsoft.com/office/2007/relationships/diagramDrawing" Target="../diagrams/drawing6.xml"/><Relationship Id="rId2" Type="http://schemas.openxmlformats.org/officeDocument/2006/relationships/notesSlide" Target="../notesSlides/notesSlide3.xml"/><Relationship Id="rId16" Type="http://schemas.openxmlformats.org/officeDocument/2006/relationships/diagramColors" Target="../diagrams/colors6.xml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5.xml"/><Relationship Id="rId19" Type="http://schemas.openxmlformats.org/officeDocument/2006/relationships/image" Target="../media/image12.png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Relationship Id="rId14" Type="http://schemas.openxmlformats.org/officeDocument/2006/relationships/diagramLayout" Target="../diagrams/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1995249"/>
            <a:ext cx="9144000" cy="11387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Workshop T2R</a:t>
            </a:r>
          </a:p>
          <a:p>
            <a:pPr algn="r"/>
            <a:r>
              <a:rPr lang="pt-BR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Transition to Run</a:t>
            </a:r>
          </a:p>
        </p:txBody>
      </p:sp>
    </p:spTree>
    <p:extLst>
      <p:ext uri="{BB962C8B-B14F-4D97-AF65-F5344CB8AC3E}">
        <p14:creationId xmlns:p14="http://schemas.microsoft.com/office/powerpoint/2010/main" val="283839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Conceitos Fundamentais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2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250466" y="1059475"/>
            <a:ext cx="8472651" cy="39248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Demandas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: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reconhecimento e priorização de todas os requerimentos por produtos e serviços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, para atender às </a:t>
            </a:r>
            <a:r>
              <a:rPr lang="pt-BR" sz="2000" u="sng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, com obtenção de resultados rentáveis (APICS - </a:t>
            </a:r>
            <a:r>
              <a:rPr lang="en-US" sz="900" i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American Production And Inventory Control Society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: aplicação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conhecimento, habilidades e técnicas para a execução de projetos de forma efetiva e eficaz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. Competência estratégica para as organizações, une resultados dos projetos às </a:t>
            </a:r>
            <a:r>
              <a:rPr lang="pt-BR" sz="2000" u="sng" dirty="0">
                <a:solidFill>
                  <a:srgbClr val="0070C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 (PMI).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Mudanças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: controle efetivo sobre o ciclo de vida da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adição, remoção ou alteração de qualquer coisa que possa causar um efeito em um serviço de TI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, de modo a alinhar os serviços às </a:t>
            </a:r>
            <a:r>
              <a:rPr lang="pt-BR" sz="2000" u="sng" dirty="0">
                <a:solidFill>
                  <a:srgbClr val="C0000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 (ITIL).</a:t>
            </a:r>
          </a:p>
        </p:txBody>
      </p:sp>
    </p:spTree>
    <p:extLst>
      <p:ext uri="{BB962C8B-B14F-4D97-AF65-F5344CB8AC3E}">
        <p14:creationId xmlns:p14="http://schemas.microsoft.com/office/powerpoint/2010/main" val="14580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Situação Atual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3</a:t>
            </a:fld>
            <a:endParaRPr lang="en-US"/>
          </a:p>
        </p:txBody>
      </p:sp>
      <p:sp>
        <p:nvSpPr>
          <p:cNvPr id="13" name="Seta para Baixo 12"/>
          <p:cNvSpPr/>
          <p:nvPr/>
        </p:nvSpPr>
        <p:spPr>
          <a:xfrm rot="19695576">
            <a:off x="2059007" y="3787319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Diagrama 13"/>
          <p:cNvGraphicFramePr/>
          <p:nvPr>
            <p:extLst/>
          </p:nvPr>
        </p:nvGraphicFramePr>
        <p:xfrm>
          <a:off x="1815642" y="3412983"/>
          <a:ext cx="1693025" cy="20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CaixaDeTexto 16"/>
          <p:cNvSpPr txBox="1"/>
          <p:nvPr/>
        </p:nvSpPr>
        <p:spPr>
          <a:xfrm>
            <a:off x="833314" y="1168003"/>
            <a:ext cx="1762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/>
                </a:solidFill>
              </a:rPr>
              <a:t>Gestão de Demandas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3508667" y="4281820"/>
            <a:ext cx="4851796" cy="634684"/>
            <a:chOff x="3508667" y="4225176"/>
            <a:chExt cx="4851796" cy="634684"/>
          </a:xfrm>
        </p:grpSpPr>
        <p:sp>
          <p:nvSpPr>
            <p:cNvPr id="19" name="Divisa 18"/>
            <p:cNvSpPr/>
            <p:nvPr/>
          </p:nvSpPr>
          <p:spPr>
            <a:xfrm>
              <a:off x="3508667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Iniciação</a:t>
              </a:r>
            </a:p>
          </p:txBody>
        </p:sp>
        <p:sp>
          <p:nvSpPr>
            <p:cNvPr id="20" name="Divisa 19"/>
            <p:cNvSpPr/>
            <p:nvPr/>
          </p:nvSpPr>
          <p:spPr>
            <a:xfrm>
              <a:off x="4721616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Planejamento</a:t>
              </a:r>
            </a:p>
          </p:txBody>
        </p:sp>
        <p:sp>
          <p:nvSpPr>
            <p:cNvPr id="21" name="Divisa 20"/>
            <p:cNvSpPr/>
            <p:nvPr/>
          </p:nvSpPr>
          <p:spPr>
            <a:xfrm>
              <a:off x="5934565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Execução</a:t>
              </a:r>
            </a:p>
          </p:txBody>
        </p:sp>
        <p:sp>
          <p:nvSpPr>
            <p:cNvPr id="22" name="Divisa 21"/>
            <p:cNvSpPr/>
            <p:nvPr/>
          </p:nvSpPr>
          <p:spPr>
            <a:xfrm>
              <a:off x="7147514" y="4225176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Encerramento</a:t>
              </a:r>
            </a:p>
          </p:txBody>
        </p:sp>
        <p:sp>
          <p:nvSpPr>
            <p:cNvPr id="23" name="CaixaDeTexto 22"/>
            <p:cNvSpPr txBox="1"/>
            <p:nvPr/>
          </p:nvSpPr>
          <p:spPr>
            <a:xfrm>
              <a:off x="5048750" y="4552083"/>
              <a:ext cx="16751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Projetos</a:t>
              </a:r>
            </a:p>
          </p:txBody>
        </p:sp>
      </p:grpSp>
      <p:grpSp>
        <p:nvGrpSpPr>
          <p:cNvPr id="24" name="Agrupar 23"/>
          <p:cNvGrpSpPr/>
          <p:nvPr/>
        </p:nvGrpSpPr>
        <p:grpSpPr>
          <a:xfrm>
            <a:off x="6344468" y="1168005"/>
            <a:ext cx="1927292" cy="3076511"/>
            <a:chOff x="6225745" y="1111361"/>
            <a:chExt cx="1927292" cy="3076511"/>
          </a:xfrm>
        </p:grpSpPr>
        <p:sp>
          <p:nvSpPr>
            <p:cNvPr id="25" name="CaixaDeTexto 24"/>
            <p:cNvSpPr txBox="1"/>
            <p:nvPr/>
          </p:nvSpPr>
          <p:spPr>
            <a:xfrm>
              <a:off x="6225745" y="1111361"/>
              <a:ext cx="19272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aphicFrame>
          <p:nvGraphicFramePr>
            <p:cNvPr id="26" name="Diagrama 25"/>
            <p:cNvGraphicFramePr/>
            <p:nvPr>
              <p:extLst/>
            </p:nvPr>
          </p:nvGraphicFramePr>
          <p:xfrm>
            <a:off x="6468233" y="1503266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sp>
          <p:nvSpPr>
            <p:cNvPr id="27" name="Divisa 26"/>
            <p:cNvSpPr/>
            <p:nvPr/>
          </p:nvSpPr>
          <p:spPr>
            <a:xfrm rot="17421774">
              <a:off x="6520760" y="3469176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Abre GMUD</a:t>
              </a:r>
            </a:p>
          </p:txBody>
        </p:sp>
      </p:grpSp>
      <p:sp>
        <p:nvSpPr>
          <p:cNvPr id="29" name="Fluxograma: Operação Manual 28"/>
          <p:cNvSpPr/>
          <p:nvPr/>
        </p:nvSpPr>
        <p:spPr>
          <a:xfrm>
            <a:off x="464629" y="4155031"/>
            <a:ext cx="690832" cy="465481"/>
          </a:xfrm>
          <a:prstGeom prst="flowChartManualOperat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</a:rPr>
              <a:t>Não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581883" y="1168005"/>
            <a:ext cx="2263043" cy="2781639"/>
            <a:chOff x="581883" y="1168005"/>
            <a:chExt cx="2263043" cy="2781639"/>
          </a:xfrm>
        </p:grpSpPr>
        <p:graphicFrame>
          <p:nvGraphicFramePr>
            <p:cNvPr id="16" name="Diagrama 15"/>
            <p:cNvGraphicFramePr/>
            <p:nvPr>
              <p:extLst/>
            </p:nvPr>
          </p:nvGraphicFramePr>
          <p:xfrm>
            <a:off x="581883" y="1168005"/>
            <a:ext cx="2263043" cy="250467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3" r:lo="rId14" r:qs="rId15" r:cs="rId16"/>
            </a:graphicData>
          </a:graphic>
        </p:graphicFrame>
        <p:sp>
          <p:nvSpPr>
            <p:cNvPr id="30" name="Seta para Baixo 29"/>
            <p:cNvSpPr/>
            <p:nvPr/>
          </p:nvSpPr>
          <p:spPr>
            <a:xfrm rot="2039608">
              <a:off x="1086066" y="3785351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1" name="Triângulo Retângulo 30"/>
          <p:cNvSpPr/>
          <p:nvPr/>
        </p:nvSpPr>
        <p:spPr>
          <a:xfrm rot="10800000">
            <a:off x="201427" y="682141"/>
            <a:ext cx="8352575" cy="4397233"/>
          </a:xfrm>
          <a:prstGeom prst="rtTriangle">
            <a:avLst/>
          </a:prstGeom>
          <a:solidFill>
            <a:schemeClr val="accent1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Triângulo Retângulo 31"/>
          <p:cNvSpPr/>
          <p:nvPr/>
        </p:nvSpPr>
        <p:spPr>
          <a:xfrm>
            <a:off x="261062" y="683493"/>
            <a:ext cx="8350786" cy="4397233"/>
          </a:xfrm>
          <a:prstGeom prst="rtTriangle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3" name="Agrupar 32"/>
          <p:cNvGrpSpPr/>
          <p:nvPr/>
        </p:nvGrpSpPr>
        <p:grpSpPr>
          <a:xfrm>
            <a:off x="2813532" y="1724143"/>
            <a:ext cx="3530936" cy="2212984"/>
            <a:chOff x="2813532" y="1667499"/>
            <a:chExt cx="3530936" cy="2212984"/>
          </a:xfrm>
        </p:grpSpPr>
        <p:sp>
          <p:nvSpPr>
            <p:cNvPr id="34" name="CaixaDeTexto 33"/>
            <p:cNvSpPr txBox="1"/>
            <p:nvPr/>
          </p:nvSpPr>
          <p:spPr>
            <a:xfrm>
              <a:off x="2813532" y="2639448"/>
              <a:ext cx="3530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accent5">
                      <a:lumMod val="75000"/>
                    </a:schemeClr>
                  </a:solidFill>
                </a:rPr>
                <a:t>PROJETOS            MUDANÇAS</a:t>
              </a:r>
            </a:p>
          </p:txBody>
        </p:sp>
        <p:pic>
          <p:nvPicPr>
            <p:cNvPr id="35" name="Imagem 34"/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79062" y="1667499"/>
              <a:ext cx="463364" cy="22129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265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29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T2R - Visão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4</a:t>
            </a:fld>
            <a:endParaRPr lang="en-US"/>
          </a:p>
        </p:txBody>
      </p:sp>
      <p:sp>
        <p:nvSpPr>
          <p:cNvPr id="13" name="Seta para Baixo 12"/>
          <p:cNvSpPr/>
          <p:nvPr/>
        </p:nvSpPr>
        <p:spPr>
          <a:xfrm rot="19695576">
            <a:off x="1362117" y="3775487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Diagrama 13"/>
          <p:cNvGraphicFramePr/>
          <p:nvPr>
            <p:extLst/>
          </p:nvPr>
        </p:nvGraphicFramePr>
        <p:xfrm>
          <a:off x="1280081" y="3387760"/>
          <a:ext cx="1693025" cy="20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9" name="Fluxograma: Operação Manual 28"/>
          <p:cNvSpPr/>
          <p:nvPr/>
        </p:nvSpPr>
        <p:spPr>
          <a:xfrm>
            <a:off x="84954" y="4161300"/>
            <a:ext cx="690832" cy="465481"/>
          </a:xfrm>
          <a:prstGeom prst="flowChartManualOperat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</a:rPr>
              <a:t>Não</a:t>
            </a:r>
          </a:p>
        </p:txBody>
      </p:sp>
      <p:grpSp>
        <p:nvGrpSpPr>
          <p:cNvPr id="14336" name="Agrupar 14335"/>
          <p:cNvGrpSpPr/>
          <p:nvPr/>
        </p:nvGrpSpPr>
        <p:grpSpPr>
          <a:xfrm>
            <a:off x="-33878" y="1043488"/>
            <a:ext cx="2263043" cy="2894323"/>
            <a:chOff x="-33878" y="1043488"/>
            <a:chExt cx="2263043" cy="2894323"/>
          </a:xfrm>
        </p:grpSpPr>
        <p:sp>
          <p:nvSpPr>
            <p:cNvPr id="17" name="CaixaDeTexto 16"/>
            <p:cNvSpPr txBox="1"/>
            <p:nvPr/>
          </p:nvSpPr>
          <p:spPr>
            <a:xfrm>
              <a:off x="217553" y="1043488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  <p:grpSp>
          <p:nvGrpSpPr>
            <p:cNvPr id="56" name="Agrupar 55"/>
            <p:cNvGrpSpPr/>
            <p:nvPr/>
          </p:nvGrpSpPr>
          <p:grpSpPr>
            <a:xfrm>
              <a:off x="-33878" y="1043490"/>
              <a:ext cx="2263043" cy="2894321"/>
              <a:chOff x="-33878" y="1043490"/>
              <a:chExt cx="2263043" cy="2894321"/>
            </a:xfrm>
            <a:noFill/>
          </p:grpSpPr>
          <p:graphicFrame>
            <p:nvGraphicFramePr>
              <p:cNvPr id="16" name="Diagrama 15"/>
              <p:cNvGraphicFramePr/>
              <p:nvPr>
                <p:extLst/>
              </p:nvPr>
            </p:nvGraphicFramePr>
            <p:xfrm>
              <a:off x="-33878" y="1043490"/>
              <a:ext cx="2263043" cy="250467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  <p:sp>
            <p:nvSpPr>
              <p:cNvPr id="30" name="Seta para Baixo 29"/>
              <p:cNvSpPr/>
              <p:nvPr/>
            </p:nvSpPr>
            <p:spPr>
              <a:xfrm rot="2039608">
                <a:off x="487553" y="3773518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  <p:grpSp>
        <p:nvGrpSpPr>
          <p:cNvPr id="4" name="Agrupar 3"/>
          <p:cNvGrpSpPr/>
          <p:nvPr/>
        </p:nvGrpSpPr>
        <p:grpSpPr>
          <a:xfrm>
            <a:off x="2086431" y="1038833"/>
            <a:ext cx="3177316" cy="2644975"/>
            <a:chOff x="2086431" y="1038833"/>
            <a:chExt cx="3177316" cy="2644975"/>
          </a:xfrm>
        </p:grpSpPr>
        <p:graphicFrame>
          <p:nvGraphicFramePr>
            <p:cNvPr id="26" name="Diagrama 25"/>
            <p:cNvGraphicFramePr/>
            <p:nvPr>
              <p:extLst/>
            </p:nvPr>
          </p:nvGraphicFramePr>
          <p:xfrm>
            <a:off x="2086431" y="1866275"/>
            <a:ext cx="1558292" cy="14868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3" r:lo="rId14" r:qs="rId15" r:cs="rId16"/>
            </a:graphicData>
          </a:graphic>
        </p:graphicFrame>
        <p:sp>
          <p:nvSpPr>
            <p:cNvPr id="36" name="Seta para Baixo 35"/>
            <p:cNvSpPr/>
            <p:nvPr/>
          </p:nvSpPr>
          <p:spPr>
            <a:xfrm rot="12341683">
              <a:off x="2621040" y="3519515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3225735" y="1038833"/>
              <a:ext cx="2038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Comitê Gestor</a:t>
              </a:r>
            </a:p>
          </p:txBody>
        </p:sp>
      </p:grpSp>
      <p:grpSp>
        <p:nvGrpSpPr>
          <p:cNvPr id="59" name="Agrupar 58"/>
          <p:cNvGrpSpPr/>
          <p:nvPr/>
        </p:nvGrpSpPr>
        <p:grpSpPr>
          <a:xfrm>
            <a:off x="5556884" y="846548"/>
            <a:ext cx="2335535" cy="1151906"/>
            <a:chOff x="6250304" y="884648"/>
            <a:chExt cx="2335535" cy="1151906"/>
          </a:xfrm>
        </p:grpSpPr>
        <p:sp>
          <p:nvSpPr>
            <p:cNvPr id="41" name="CaixaDeTexto 40"/>
            <p:cNvSpPr txBox="1"/>
            <p:nvPr/>
          </p:nvSpPr>
          <p:spPr>
            <a:xfrm>
              <a:off x="6250304" y="1140909"/>
              <a:ext cx="12654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accent6">
                      <a:lumMod val="75000"/>
                    </a:schemeClr>
                  </a:solidFill>
                </a:rPr>
                <a:t>Mudança Menor</a:t>
              </a:r>
            </a:p>
          </p:txBody>
        </p:sp>
        <p:grpSp>
          <p:nvGrpSpPr>
            <p:cNvPr id="46" name="Agrupar 45"/>
            <p:cNvGrpSpPr/>
            <p:nvPr/>
          </p:nvGrpSpPr>
          <p:grpSpPr>
            <a:xfrm>
              <a:off x="7557040" y="884648"/>
              <a:ext cx="1028799" cy="1151906"/>
              <a:chOff x="7357235" y="928289"/>
              <a:chExt cx="1028799" cy="1151906"/>
            </a:xfrm>
          </p:grpSpPr>
          <p:pic>
            <p:nvPicPr>
              <p:cNvPr id="14344" name="Picture 8" descr="https://cdn3.iconfinder.com/data/icons/seo-accessibility-usability-2-1/256/Flow_Diagram-512.png"/>
              <p:cNvPicPr>
                <a:picLocks noChangeAspect="1" noChangeArrowheads="1"/>
              </p:cNvPicPr>
              <p:nvPr/>
            </p:nvPicPr>
            <p:blipFill>
              <a:blip r:embed="rId18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068" y="928289"/>
                <a:ext cx="877135" cy="87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CaixaDeTexto 50"/>
              <p:cNvSpPr txBox="1"/>
              <p:nvPr/>
            </p:nvSpPr>
            <p:spPr>
              <a:xfrm>
                <a:off x="7357235" y="1773813"/>
                <a:ext cx="1028799" cy="306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accent6">
                        <a:lumMod val="75000"/>
                      </a:schemeClr>
                    </a:solidFill>
                  </a:rPr>
                  <a:t>Workflow</a:t>
                </a:r>
              </a:p>
            </p:txBody>
          </p:sp>
        </p:grpSp>
      </p:grpSp>
      <p:grpSp>
        <p:nvGrpSpPr>
          <p:cNvPr id="60" name="Agrupar 59"/>
          <p:cNvGrpSpPr/>
          <p:nvPr/>
        </p:nvGrpSpPr>
        <p:grpSpPr>
          <a:xfrm>
            <a:off x="5409272" y="2282489"/>
            <a:ext cx="2592113" cy="1023400"/>
            <a:chOff x="6102692" y="2320589"/>
            <a:chExt cx="2592113" cy="1023400"/>
          </a:xfrm>
        </p:grpSpPr>
        <p:sp>
          <p:nvSpPr>
            <p:cNvPr id="42" name="CaixaDeTexto 41"/>
            <p:cNvSpPr txBox="1"/>
            <p:nvPr/>
          </p:nvSpPr>
          <p:spPr>
            <a:xfrm>
              <a:off x="6102692" y="2539205"/>
              <a:ext cx="1586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accent4">
                      <a:lumMod val="75000"/>
                    </a:schemeClr>
                  </a:solidFill>
                </a:rPr>
                <a:t>Mudança Significativa</a:t>
              </a:r>
            </a:p>
          </p:txBody>
        </p:sp>
        <p:grpSp>
          <p:nvGrpSpPr>
            <p:cNvPr id="47" name="Agrupar 46"/>
            <p:cNvGrpSpPr/>
            <p:nvPr/>
          </p:nvGrpSpPr>
          <p:grpSpPr>
            <a:xfrm>
              <a:off x="7407190" y="2320589"/>
              <a:ext cx="1287615" cy="1023400"/>
              <a:chOff x="7199840" y="2355115"/>
              <a:chExt cx="1287615" cy="1023400"/>
            </a:xfrm>
          </p:grpSpPr>
          <p:pic>
            <p:nvPicPr>
              <p:cNvPr id="14340" name="Picture 4" descr="http://www.ecoleduparc.fr/A21/images/icones/icon_6219_512px.png"/>
              <p:cNvPicPr>
                <a:picLocks noChangeAspect="1" noChangeArrowheads="1"/>
              </p:cNvPicPr>
              <p:nvPr/>
            </p:nvPicPr>
            <p:blipFill>
              <a:blip r:embed="rId19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070" y="2355115"/>
                <a:ext cx="877135" cy="87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3" name="CaixaDeTexto 52"/>
              <p:cNvSpPr txBox="1"/>
              <p:nvPr/>
            </p:nvSpPr>
            <p:spPr>
              <a:xfrm>
                <a:off x="7199840" y="3070738"/>
                <a:ext cx="128761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accent4">
                        <a:lumMod val="75000"/>
                      </a:schemeClr>
                    </a:solidFill>
                  </a:rPr>
                  <a:t>Comitê GMUD</a:t>
                </a:r>
              </a:p>
            </p:txBody>
          </p:sp>
        </p:grpSp>
      </p:grpSp>
      <p:grpSp>
        <p:nvGrpSpPr>
          <p:cNvPr id="61" name="Agrupar 60"/>
          <p:cNvGrpSpPr/>
          <p:nvPr/>
        </p:nvGrpSpPr>
        <p:grpSpPr>
          <a:xfrm>
            <a:off x="5506135" y="3756711"/>
            <a:ext cx="2827112" cy="1300117"/>
            <a:chOff x="6199555" y="3794811"/>
            <a:chExt cx="2827112" cy="1300117"/>
          </a:xfrm>
        </p:grpSpPr>
        <p:sp>
          <p:nvSpPr>
            <p:cNvPr id="23" name="CaixaDeTexto 22"/>
            <p:cNvSpPr txBox="1"/>
            <p:nvPr/>
          </p:nvSpPr>
          <p:spPr>
            <a:xfrm>
              <a:off x="6199555" y="3996399"/>
              <a:ext cx="13766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rgbClr val="C00000"/>
                  </a:solidFill>
                </a:rPr>
                <a:t>Mudança Maior</a:t>
              </a:r>
            </a:p>
          </p:txBody>
        </p:sp>
        <p:grpSp>
          <p:nvGrpSpPr>
            <p:cNvPr id="48" name="Agrupar 47"/>
            <p:cNvGrpSpPr/>
            <p:nvPr/>
          </p:nvGrpSpPr>
          <p:grpSpPr>
            <a:xfrm>
              <a:off x="7131301" y="3794811"/>
              <a:ext cx="1895366" cy="1300117"/>
              <a:chOff x="7016219" y="3737300"/>
              <a:chExt cx="1895366" cy="1300117"/>
            </a:xfrm>
          </p:grpSpPr>
          <p:pic>
            <p:nvPicPr>
              <p:cNvPr id="14346" name="Picture 10" descr="https://upload.wikimedia.org/wikipedia/commons/thumb/a/a3/HEB_project_flow_icon_02_charts_and_calendar.svg/1024px-HEB_project_flow_icon_02_charts_and_calendar.svg.png"/>
              <p:cNvPicPr>
                <a:picLocks noChangeAspect="1" noChangeArrowheads="1"/>
              </p:cNvPicPr>
              <p:nvPr/>
            </p:nvPicPr>
            <p:blipFill>
              <a:blip r:embed="rId20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8782" y="3737300"/>
                <a:ext cx="990240" cy="9902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CaixaDeTexto 54"/>
              <p:cNvSpPr txBox="1"/>
              <p:nvPr/>
            </p:nvSpPr>
            <p:spPr>
              <a:xfrm>
                <a:off x="7016219" y="4698863"/>
                <a:ext cx="18953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rgbClr val="C00000"/>
                    </a:solidFill>
                  </a:rPr>
                  <a:t>Gestão de Projetos</a:t>
                </a:r>
              </a:p>
            </p:txBody>
          </p:sp>
        </p:grpSp>
      </p:grpSp>
      <p:grpSp>
        <p:nvGrpSpPr>
          <p:cNvPr id="58" name="Agrupar 57"/>
          <p:cNvGrpSpPr/>
          <p:nvPr/>
        </p:nvGrpSpPr>
        <p:grpSpPr>
          <a:xfrm>
            <a:off x="5023101" y="1287776"/>
            <a:ext cx="613659" cy="3091011"/>
            <a:chOff x="5559126" y="1325876"/>
            <a:chExt cx="613659" cy="3091011"/>
          </a:xfrm>
        </p:grpSpPr>
        <p:sp>
          <p:nvSpPr>
            <p:cNvPr id="5" name="Seta Dobrada 4"/>
            <p:cNvSpPr/>
            <p:nvPr/>
          </p:nvSpPr>
          <p:spPr>
            <a:xfrm>
              <a:off x="5559126" y="1325876"/>
              <a:ext cx="537826" cy="883998"/>
            </a:xfrm>
            <a:prstGeom prst="bentArrow">
              <a:avLst>
                <a:gd name="adj1" fmla="val 25000"/>
                <a:gd name="adj2" fmla="val 20321"/>
                <a:gd name="adj3" fmla="val 25000"/>
                <a:gd name="adj4" fmla="val 48429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Seta Dobrada 37"/>
            <p:cNvSpPr/>
            <p:nvPr/>
          </p:nvSpPr>
          <p:spPr>
            <a:xfrm flipV="1">
              <a:off x="5559126" y="3514822"/>
              <a:ext cx="537826" cy="902065"/>
            </a:xfrm>
            <a:prstGeom prst="bentArrow">
              <a:avLst>
                <a:gd name="adj1" fmla="val 25000"/>
                <a:gd name="adj2" fmla="val 20321"/>
                <a:gd name="adj3" fmla="val 25000"/>
                <a:gd name="adj4" fmla="val 48429"/>
              </a:avLst>
            </a:prstGeom>
            <a:solidFill>
              <a:srgbClr val="C0000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Seta para a Direita 51"/>
            <p:cNvSpPr/>
            <p:nvPr/>
          </p:nvSpPr>
          <p:spPr>
            <a:xfrm>
              <a:off x="5559126" y="2709031"/>
              <a:ext cx="613659" cy="267305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54" name="Retângulo Arredondado 53"/>
          <p:cNvSpPr/>
          <p:nvPr/>
        </p:nvSpPr>
        <p:spPr>
          <a:xfrm>
            <a:off x="3847088" y="2528603"/>
            <a:ext cx="1015068" cy="557277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CRITÉRIOS OBJETVOS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7957925" y="846548"/>
            <a:ext cx="792754" cy="4132622"/>
            <a:chOff x="7957925" y="846548"/>
            <a:chExt cx="792754" cy="4132622"/>
          </a:xfrm>
        </p:grpSpPr>
        <p:sp>
          <p:nvSpPr>
            <p:cNvPr id="39" name="Retângulo Arredondado 38"/>
            <p:cNvSpPr/>
            <p:nvPr/>
          </p:nvSpPr>
          <p:spPr>
            <a:xfrm>
              <a:off x="8362123" y="846548"/>
              <a:ext cx="388556" cy="4132622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REVISÃO PÓS-IMPLEMENTAÇÃO</a:t>
              </a:r>
            </a:p>
          </p:txBody>
        </p:sp>
        <p:sp>
          <p:nvSpPr>
            <p:cNvPr id="44" name="Seta para Baixo 43"/>
            <p:cNvSpPr/>
            <p:nvPr/>
          </p:nvSpPr>
          <p:spPr>
            <a:xfrm rot="17535232">
              <a:off x="7927374" y="1819709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5" name="Seta para Baixo 44"/>
            <p:cNvSpPr/>
            <p:nvPr/>
          </p:nvSpPr>
          <p:spPr>
            <a:xfrm rot="13912365">
              <a:off x="7927374" y="3726888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9" name="Seta para Baixo 48"/>
            <p:cNvSpPr/>
            <p:nvPr/>
          </p:nvSpPr>
          <p:spPr>
            <a:xfrm rot="16200000">
              <a:off x="7945574" y="279080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26774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29" grpId="0" animBg="1"/>
      <p:bldP spid="5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Transition to Run – T2R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5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331386" y="1015547"/>
            <a:ext cx="8473947" cy="163859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devem considerar todo o ciclo de vida de uma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mudança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desde 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demanda 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por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serviços novos ou alterados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por parte das unidades de negócio, até as atualizações em componentes tecnológicos pelas equipes de TI e sua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utilizando,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quando necessário ao melhor controle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habilidades e técnicas de gerenciamento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2" y="3051080"/>
            <a:ext cx="8472651" cy="1954708"/>
          </a:xfrm>
          <a:prstGeom prst="rect">
            <a:avLst/>
          </a:prstGeom>
        </p:spPr>
      </p:pic>
      <p:sp>
        <p:nvSpPr>
          <p:cNvPr id="3" name="Seta para a Direita 2"/>
          <p:cNvSpPr/>
          <p:nvPr/>
        </p:nvSpPr>
        <p:spPr>
          <a:xfrm>
            <a:off x="387166" y="3974268"/>
            <a:ext cx="5601404" cy="389745"/>
          </a:xfrm>
          <a:prstGeom prst="rightArrow">
            <a:avLst>
              <a:gd name="adj1" fmla="val 50000"/>
              <a:gd name="adj2" fmla="val 90384"/>
            </a:avLst>
          </a:prstGeom>
          <a:solidFill>
            <a:srgbClr val="0070C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Picture 2" descr="Resultado de imagem para itil expert certifi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657" y="4787547"/>
            <a:ext cx="413403" cy="198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3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T2R – Revisão Pós-implementação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6</a:t>
            </a:fld>
            <a:endParaRPr lang="en-US"/>
          </a:p>
        </p:txBody>
      </p:sp>
      <p:sp>
        <p:nvSpPr>
          <p:cNvPr id="39" name="Retângulo Arredondado 38"/>
          <p:cNvSpPr/>
          <p:nvPr/>
        </p:nvSpPr>
        <p:spPr>
          <a:xfrm>
            <a:off x="282411" y="846548"/>
            <a:ext cx="388556" cy="4132622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REVISÃO PÓS-IMPLEMENTAÇÃO</a:t>
            </a:r>
          </a:p>
        </p:txBody>
      </p:sp>
      <p:graphicFrame>
        <p:nvGraphicFramePr>
          <p:cNvPr id="21" name="Tabela 20"/>
          <p:cNvGraphicFramePr>
            <a:graphicFrameLocks noGrp="1"/>
          </p:cNvGraphicFramePr>
          <p:nvPr>
            <p:extLst/>
          </p:nvPr>
        </p:nvGraphicFramePr>
        <p:xfrm>
          <a:off x="6503481" y="1731616"/>
          <a:ext cx="1944215" cy="23692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944215">
                  <a:extLst>
                    <a:ext uri="{9D8B030D-6E8A-4147-A177-3AD203B41FA5}">
                      <a16:colId xmlns:a16="http://schemas.microsoft.com/office/drawing/2014/main" val="580392989"/>
                    </a:ext>
                  </a:extLst>
                </a:gridCol>
              </a:tblGrid>
              <a:tr h="33846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GERENCIAR PENDÊNCIAS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448934"/>
                  </a:ext>
                </a:extLst>
              </a:tr>
              <a:tr h="338460">
                <a:tc>
                  <a:txBody>
                    <a:bodyPr/>
                    <a:lstStyle/>
                    <a:p>
                      <a:r>
                        <a:rPr lang="pt-BR" sz="1200" dirty="0"/>
                        <a:t>por Especialidade/Área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1308428"/>
                  </a:ext>
                </a:extLst>
              </a:tr>
              <a:tr h="338460">
                <a:tc>
                  <a:txBody>
                    <a:bodyPr/>
                    <a:lstStyle/>
                    <a:p>
                      <a:r>
                        <a:rPr lang="pt-BR" sz="1200" dirty="0"/>
                        <a:t>por Fornecedor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768635"/>
                  </a:ext>
                </a:extLst>
              </a:tr>
              <a:tr h="338460">
                <a:tc>
                  <a:txBody>
                    <a:bodyPr/>
                    <a:lstStyle/>
                    <a:p>
                      <a:r>
                        <a:rPr lang="pt-BR" sz="1200" baseline="0" dirty="0"/>
                        <a:t>por Operação</a:t>
                      </a:r>
                      <a:endParaRPr lang="pt-B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568922"/>
                  </a:ext>
                </a:extLst>
              </a:tr>
              <a:tr h="338460">
                <a:tc>
                  <a:txBody>
                    <a:bodyPr/>
                    <a:lstStyle/>
                    <a:p>
                      <a:r>
                        <a:rPr lang="pt-BR" sz="1200" dirty="0"/>
                        <a:t>por Cliente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104856"/>
                  </a:ext>
                </a:extLst>
              </a:tr>
              <a:tr h="338460">
                <a:tc>
                  <a:txBody>
                    <a:bodyPr/>
                    <a:lstStyle/>
                    <a:p>
                      <a:r>
                        <a:rPr lang="pt-BR" sz="1200" dirty="0"/>
                        <a:t>por Regional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796931"/>
                  </a:ext>
                </a:extLst>
              </a:tr>
              <a:tr h="338460">
                <a:tc>
                  <a:txBody>
                    <a:bodyPr/>
                    <a:lstStyle/>
                    <a:p>
                      <a:r>
                        <a:rPr lang="pt-BR" sz="1200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5859679"/>
                  </a:ext>
                </a:extLst>
              </a:tr>
            </a:tbl>
          </a:graphicData>
        </a:graphic>
      </p:graphicFrame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08" y="842750"/>
            <a:ext cx="6406839" cy="413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2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50535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Toda alteração, inclusão ou remoção de serviço terá controle único e completo através de uma  ferramenta de gerenciamento de serviços disponibilizado para todos os envolvidos em todas as fases do ciclo de vida com as informações necessárias para garantir que a implementação não tenha impacto ou minimizar a possibilidade de ocorrer, assim como o suporte para a operação do serviço em ambiente produtivo.</a:t>
            </a:r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Controle Unificado</a:t>
            </a:r>
          </a:p>
        </p:txBody>
      </p:sp>
      <p:grpSp>
        <p:nvGrpSpPr>
          <p:cNvPr id="8" name="Agrupar 7"/>
          <p:cNvGrpSpPr/>
          <p:nvPr/>
        </p:nvGrpSpPr>
        <p:grpSpPr>
          <a:xfrm>
            <a:off x="971550" y="2799310"/>
            <a:ext cx="3607643" cy="1807029"/>
            <a:chOff x="2396447" y="2844411"/>
            <a:chExt cx="3607643" cy="1807029"/>
          </a:xfrm>
        </p:grpSpPr>
        <p:sp>
          <p:nvSpPr>
            <p:cNvPr id="32" name="Divisa 31"/>
            <p:cNvSpPr/>
            <p:nvPr/>
          </p:nvSpPr>
          <p:spPr>
            <a:xfrm>
              <a:off x="2396447" y="3446754"/>
              <a:ext cx="1509486" cy="602343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accent1">
                      <a:lumMod val="50000"/>
                    </a:schemeClr>
                  </a:solidFill>
                </a:rPr>
                <a:t>Demanda</a:t>
              </a:r>
            </a:p>
          </p:txBody>
        </p:sp>
        <p:sp>
          <p:nvSpPr>
            <p:cNvPr id="33" name="Divisa 32"/>
            <p:cNvSpPr/>
            <p:nvPr/>
          </p:nvSpPr>
          <p:spPr>
            <a:xfrm>
              <a:off x="4494604" y="2844411"/>
              <a:ext cx="1509486" cy="602343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accent1">
                      <a:lumMod val="50000"/>
                    </a:schemeClr>
                  </a:solidFill>
                </a:rPr>
                <a:t>Projeto</a:t>
              </a:r>
            </a:p>
          </p:txBody>
        </p:sp>
        <p:sp>
          <p:nvSpPr>
            <p:cNvPr id="34" name="Divisa 33"/>
            <p:cNvSpPr/>
            <p:nvPr/>
          </p:nvSpPr>
          <p:spPr>
            <a:xfrm>
              <a:off x="4494604" y="4049097"/>
              <a:ext cx="1509486" cy="602343"/>
            </a:xfrm>
            <a:prstGeom prst="chevro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accent1">
                      <a:lumMod val="50000"/>
                    </a:schemeClr>
                  </a:solidFill>
                </a:rPr>
                <a:t>Mudança</a:t>
              </a:r>
            </a:p>
          </p:txBody>
        </p:sp>
        <p:cxnSp>
          <p:nvCxnSpPr>
            <p:cNvPr id="36" name="Conector de Seta Reta 35"/>
            <p:cNvCxnSpPr/>
            <p:nvPr/>
          </p:nvCxnSpPr>
          <p:spPr>
            <a:xfrm flipV="1">
              <a:off x="3964897" y="3145584"/>
              <a:ext cx="660043" cy="547120"/>
            </a:xfrm>
            <a:prstGeom prst="straightConnector1">
              <a:avLst/>
            </a:prstGeom>
            <a:ln w="12700">
              <a:solidFill>
                <a:schemeClr val="accent1">
                  <a:lumMod val="50000"/>
                </a:schemeClr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/>
            <p:nvPr/>
          </p:nvCxnSpPr>
          <p:spPr>
            <a:xfrm>
              <a:off x="3964897" y="3814624"/>
              <a:ext cx="660043" cy="524554"/>
            </a:xfrm>
            <a:prstGeom prst="straightConnector1">
              <a:avLst/>
            </a:prstGeom>
            <a:ln w="12700">
              <a:solidFill>
                <a:schemeClr val="accent1">
                  <a:lumMod val="50000"/>
                </a:schemeClr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/>
            <p:cNvCxnSpPr/>
            <p:nvPr/>
          </p:nvCxnSpPr>
          <p:spPr>
            <a:xfrm>
              <a:off x="5216578" y="3579778"/>
              <a:ext cx="0" cy="359764"/>
            </a:xfrm>
            <a:prstGeom prst="straightConnector1">
              <a:avLst/>
            </a:prstGeom>
            <a:ln w="12700">
              <a:solidFill>
                <a:schemeClr val="accent1">
                  <a:lumMod val="50000"/>
                </a:schemeClr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Agrupar 14"/>
          <p:cNvGrpSpPr/>
          <p:nvPr/>
        </p:nvGrpSpPr>
        <p:grpSpPr>
          <a:xfrm>
            <a:off x="5529764" y="2160820"/>
            <a:ext cx="3126556" cy="3154786"/>
            <a:chOff x="5712644" y="2263882"/>
            <a:chExt cx="2791276" cy="2816479"/>
          </a:xfrm>
        </p:grpSpPr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12644" y="2263882"/>
              <a:ext cx="2791276" cy="2816479"/>
            </a:xfrm>
            <a:prstGeom prst="rect">
              <a:avLst/>
            </a:prstGeom>
          </p:spPr>
        </p:pic>
        <p:sp>
          <p:nvSpPr>
            <p:cNvPr id="17" name="CaixaDeTexto 16"/>
            <p:cNvSpPr txBox="1"/>
            <p:nvPr/>
          </p:nvSpPr>
          <p:spPr>
            <a:xfrm>
              <a:off x="6128462" y="2411445"/>
              <a:ext cx="1999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400" b="1" dirty="0">
                  <a:solidFill>
                    <a:schemeClr val="tx1">
                      <a:alpha val="70000"/>
                    </a:schemeClr>
                  </a:solidFill>
                </a:rPr>
                <a:t>Análise inicial de escopo</a:t>
              </a:r>
            </a:p>
          </p:txBody>
        </p:sp>
        <p:sp>
          <p:nvSpPr>
            <p:cNvPr id="18" name="CaixaDeTexto 17"/>
            <p:cNvSpPr txBox="1"/>
            <p:nvPr/>
          </p:nvSpPr>
          <p:spPr>
            <a:xfrm>
              <a:off x="6310466" y="2834893"/>
              <a:ext cx="15953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200" b="1" dirty="0">
                  <a:solidFill>
                    <a:schemeClr val="tx1">
                      <a:alpha val="70000"/>
                    </a:schemeClr>
                  </a:solidFill>
                </a:rPr>
                <a:t>Decisão de Go\ No Go</a:t>
              </a:r>
            </a:p>
          </p:txBody>
        </p:sp>
        <p:sp>
          <p:nvSpPr>
            <p:cNvPr id="19" name="CaixaDeTexto 18"/>
            <p:cNvSpPr txBox="1"/>
            <p:nvPr/>
          </p:nvSpPr>
          <p:spPr>
            <a:xfrm>
              <a:off x="6608528" y="3150599"/>
              <a:ext cx="10809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pt-BR" sz="1100" b="1" dirty="0">
                  <a:solidFill>
                    <a:schemeClr val="tx1">
                      <a:alpha val="70000"/>
                    </a:schemeClr>
                  </a:solidFill>
                </a:rPr>
                <a:t>Definição de </a:t>
              </a:r>
            </a:p>
            <a:p>
              <a:pPr algn="ctr"/>
              <a:r>
                <a:rPr lang="pt-BR" sz="1100" b="1" dirty="0">
                  <a:solidFill>
                    <a:schemeClr val="tx1">
                      <a:alpha val="70000"/>
                    </a:schemeClr>
                  </a:solidFill>
                </a:rPr>
                <a:t>Pré-Requisitos</a:t>
              </a: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6704004" y="3523301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Triagem de </a:t>
              </a:r>
            </a:p>
            <a:p>
              <a:pPr algn="ctr"/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Mudança</a:t>
              </a:r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6728049" y="3906253"/>
              <a:ext cx="7745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Priorização</a:t>
              </a:r>
            </a:p>
          </p:txBody>
        </p:sp>
        <p:sp>
          <p:nvSpPr>
            <p:cNvPr id="22" name="CaixaDeTexto 21"/>
            <p:cNvSpPr txBox="1"/>
            <p:nvPr/>
          </p:nvSpPr>
          <p:spPr>
            <a:xfrm>
              <a:off x="6838656" y="4229794"/>
              <a:ext cx="5389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900" b="1" dirty="0">
                  <a:solidFill>
                    <a:schemeClr val="tx1">
                      <a:alpha val="70000"/>
                    </a:schemeClr>
                  </a:solidFill>
                </a:rPr>
                <a:t>Projeto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5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7193" y="1666219"/>
            <a:ext cx="7232754" cy="458381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 algn="l" eaLnBrk="0" hangingPunct="0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Planejadas: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iniciada por uma requisição do solicitante "Indivíduo ou grupo organizacional" que solicita a mudança.</a:t>
            </a:r>
          </a:p>
          <a:p>
            <a:pPr marL="360363" indent="-360363" algn="l" eaLnBrk="0" hangingPunct="0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Técnicas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pequenas alterações em serviços ou componentes da infraestrutura, com rito, risco e impacto baixos e bem conhecidos.</a:t>
            </a:r>
          </a:p>
          <a:p>
            <a:pPr marL="360363" indent="-360363" algn="l" eaLnBrk="0" hangingPunct="0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Emergenciais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necessária para corrigir um incidente que esteja causando impacto ao negócio, deve ser cuidadosamente desenhada e testada antes de ser implementada. Emergencial não é sinônimo de urgência.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578" y="3088599"/>
            <a:ext cx="2066494" cy="2066494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7193" y="101638"/>
            <a:ext cx="7453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Gerenciamento de Mudanças, na CONTAX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562131" y="709348"/>
            <a:ext cx="7869836" cy="95687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“</a:t>
            </a:r>
            <a:r>
              <a:rPr lang="pt-BR" sz="2000" b="1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é a adição, modificação ou remoção de qualquer coisa que possa causar um efeito em um serviço de TI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”. (ITIL®)</a:t>
            </a:r>
          </a:p>
          <a:p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67429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080850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Alterações no processo atual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12" y="2110740"/>
            <a:ext cx="3676175" cy="245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4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Atividades do Processo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1015547"/>
            <a:ext cx="9144000" cy="4132716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alt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Definição de Gmud / Projeto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dos requisitos de controle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Aprovação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Comitê Consultivo de Mudanças (CCM)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Revisão Pós Implementação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Validação de pendências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92" y="1152347"/>
            <a:ext cx="3567708" cy="356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76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63845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Independente do solicitante da Requisição de Mudança, é preciso registrar, revisar e avaliar todas as requisições de mudança como parte do Gerenciamento de Mudança.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72" y="1630749"/>
            <a:ext cx="6339841" cy="116890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7193" y="1892038"/>
            <a:ext cx="2498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Credenciais para acesso o sistema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6011753" y="3553009"/>
            <a:ext cx="27965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Visualização das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Gmud’s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sob minha responsabilidade e seleção de novo registro.</a:t>
            </a:r>
            <a:endParaRPr lang="pt-BR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82" y="3282108"/>
            <a:ext cx="5209358" cy="146513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367261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1" y="1263737"/>
            <a:ext cx="8771137" cy="3004503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Todos os campos devem ser devidamente preenchidos para que o planejamento seja preciso e riscos possam ser mitigados no planejamento.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-101821" y="4239992"/>
            <a:ext cx="9144000" cy="41147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informações para abertura de Gmud</a:t>
            </a:r>
          </a:p>
        </p:txBody>
      </p:sp>
    </p:spTree>
    <p:extLst>
      <p:ext uri="{BB962C8B-B14F-4D97-AF65-F5344CB8AC3E}">
        <p14:creationId xmlns:p14="http://schemas.microsoft.com/office/powerpoint/2010/main" val="4263568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981" y="674506"/>
            <a:ext cx="6128703" cy="114601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94" y="2179499"/>
            <a:ext cx="6128703" cy="114148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93" y="3757221"/>
            <a:ext cx="8512528" cy="8963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228600" y="924349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dos Sites Impactados pela Gmud 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6566597" y="2423301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das Operações Impactadas pela Gmud</a:t>
            </a:r>
            <a:endParaRPr lang="pt-BR" dirty="0"/>
          </a:p>
        </p:txBody>
      </p:sp>
      <p:sp>
        <p:nvSpPr>
          <p:cNvPr id="14" name="Retângulo 13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5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41417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Definição de Gmud / Projeto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Critérios devem ser utilizados para definir o nível de controle necessário para garantir a máxima eficiência no planejamento de uma implantação.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76375"/>
              </p:ext>
            </p:extLst>
          </p:nvPr>
        </p:nvGraphicFramePr>
        <p:xfrm>
          <a:off x="971550" y="1600296"/>
          <a:ext cx="6489122" cy="261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4561">
                  <a:extLst>
                    <a:ext uri="{9D8B030D-6E8A-4147-A177-3AD203B41FA5}">
                      <a16:colId xmlns:a16="http://schemas.microsoft.com/office/drawing/2014/main" val="242053376"/>
                    </a:ext>
                  </a:extLst>
                </a:gridCol>
                <a:gridCol w="3244561">
                  <a:extLst>
                    <a:ext uri="{9D8B030D-6E8A-4147-A177-3AD203B41FA5}">
                      <a16:colId xmlns:a16="http://schemas.microsoft.com/office/drawing/2014/main" val="1010042909"/>
                    </a:ext>
                  </a:extLst>
                </a:gridCol>
              </a:tblGrid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Mudança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Projeto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6245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Melhor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dirty="0"/>
                        <a:t>controle</a:t>
                      </a:r>
                      <a:r>
                        <a:rPr lang="pt-BR" sz="1400" baseline="0" dirty="0"/>
                        <a:t> de Implantação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/>
                        <a:t>Planejamento mais eficaz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1590996771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Implantação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+ de 1 Implantação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207018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Sem</a:t>
                      </a:r>
                      <a:r>
                        <a:rPr lang="pt-BR" sz="1400" baseline="0" dirty="0"/>
                        <a:t> retorno financeiro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Com retorno financeiro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5834117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Envolvimento </a:t>
                      </a:r>
                      <a:r>
                        <a:rPr lang="pt-BR" sz="1400" baseline="0" dirty="0"/>
                        <a:t>de somente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+</a:t>
                      </a:r>
                      <a:r>
                        <a:rPr lang="pt-BR" sz="1400" baseline="0" dirty="0"/>
                        <a:t> de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454762813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Alteração de Serviço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Inclusão,</a:t>
                      </a:r>
                      <a:r>
                        <a:rPr lang="pt-BR" sz="1400" baseline="0" dirty="0"/>
                        <a:t> alteração e remoção de Serviço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4293718368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561501154"/>
                  </a:ext>
                </a:extLst>
              </a:tr>
            </a:tbl>
          </a:graphicData>
        </a:graphic>
      </p:graphicFrame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850553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dos Requisitos de Controle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0"/>
            <a:ext cx="9144000" cy="1130808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Visando mitigar impactos pós implementação, um controle de requisitos será anexado em todas as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Gmud’s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para controles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pré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 pós implementação. Os controles serão inseridos pelo planejador com revisão de Gerências CSE e CSC, indicadores de performance serão apresentadas nos comitês de Estabilidade Operacional.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" y="1929752"/>
            <a:ext cx="7846695" cy="2598337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707361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3879"/>
            <a:ext cx="9142903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 Risco Associado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Importante: 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Nenhuma Mudança é ausente de Riscos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!!!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Mesmo a mais simples das Mudanças podem causar impactos que parecem completamente fora de proporção para a complexidade ou simplicidade da Mudança.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Nos anos recentes têm ocorrido muitos casos de alta visibilidade e impacto financeiro de grande proporção nos negócios causado pela inclusão, exclusão ou posicionamento errôneo de um “código de software”.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950" y="3193143"/>
            <a:ext cx="3123195" cy="1955120"/>
          </a:xfrm>
          <a:prstGeom prst="rect">
            <a:avLst/>
          </a:prstGeom>
        </p:spPr>
      </p:pic>
      <p:sp>
        <p:nvSpPr>
          <p:cNvPr id="7" name="Retângulo 6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685556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76" y="962293"/>
            <a:ext cx="8628231" cy="3719988"/>
          </a:xfrm>
          <a:prstGeom prst="rect">
            <a:avLst/>
          </a:prstGeom>
        </p:spPr>
      </p:pic>
      <p:sp>
        <p:nvSpPr>
          <p:cNvPr id="6" name="Retângulo 5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001025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sp>
        <p:nvSpPr>
          <p:cNvPr id="6" name="Retângulo 5">
            <a:hlinkClick r:id="rId2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  <p:pic>
        <p:nvPicPr>
          <p:cNvPr id="7" name="Imagem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2240297"/>
            <a:ext cx="603504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456" y="3655092"/>
            <a:ext cx="6050280" cy="1196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m 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886" y="825622"/>
            <a:ext cx="6027420" cy="117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tângulo 9"/>
          <p:cNvSpPr/>
          <p:nvPr/>
        </p:nvSpPr>
        <p:spPr>
          <a:xfrm>
            <a:off x="137075" y="1085291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Atividade do Plano de Ação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6294120" y="2370454"/>
            <a:ext cx="23913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Item de Configuração dos Componentes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148505" y="3930096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Recurso do Plano de Comunicação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8371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Aprovação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Níveis diferenciados de aprovação são designados conforme o Tipo de Mudança porém poderão conter particularidades: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Planejada: Gerente do Planejador, Gerente dos Sites Afetados, Gerente de Negócios com Particularidades.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Técnica: Gerenciamento de Mudanças.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Emergencial: Gerente do Processo de Gerenciamento de Mudanças, Diretoria Executiva de TI e Diretoria de Negócios.</a:t>
            </a:r>
          </a:p>
          <a:p>
            <a:pPr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Os riscos dos pré-requisitos não concluídos serão notificados no e-mail de aprovação.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Em caso de reprovação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é Cancelada automaticamente.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4" name="Imagem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893"/>
          <a:stretch/>
        </p:blipFill>
        <p:spPr bwMode="auto">
          <a:xfrm>
            <a:off x="370609" y="3556421"/>
            <a:ext cx="6019800" cy="94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980" y="3556421"/>
            <a:ext cx="1349783" cy="123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81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composto por um grupo de pessoas que suportam a avaliação, priorização, autorização e programação de mudanças. Um comitê consultivo de mudanças é normalmente composto de representantes de todas as áreas do provedor de serviço de TI, negócio e de terceiros, tais como fornecedores.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Membros do CCM receberão previamente a lista das mudanças pré-aprovadas a serem liberadas,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Gmud’s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apontadas pelos membros terão sua implantação discutida em comitê, caso não haja objeção por nenhuma área ela é aprovada automaticamente.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5" name="Imagem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01" y="3450075"/>
            <a:ext cx="7566517" cy="1142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198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principal objetivo do CCM é assegurar: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cumpriu seu objetivo e não afetou ou interrompeu outros serviços.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Recursos utilizados para implementar a mudança estavam conforme planejado.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foi implementada no tempo e custo, assim por diante.</a:t>
            </a:r>
          </a:p>
          <a:p>
            <a:pPr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324" y="3511883"/>
            <a:ext cx="2463738" cy="153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78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Revisão Pós Implantação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revisão pós-implementação (RPI) é uma revisão formal de um programa ou projeto.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utilizada para responder a questão: Atingimos o que definimos para fazer em termos de negócio? E, caso negativo, o que deve ser feito?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um grande programa de Mudança, devem haver várias revisões pós-implementação (RPI) ao longo do tempo.</a:t>
            </a:r>
          </a:p>
        </p:txBody>
      </p:sp>
      <p:pic>
        <p:nvPicPr>
          <p:cNvPr id="5" name="Imagem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0"/>
          <a:stretch/>
        </p:blipFill>
        <p:spPr bwMode="auto">
          <a:xfrm>
            <a:off x="1068870" y="3021160"/>
            <a:ext cx="7020646" cy="1908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24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spcBef>
                <a:spcPts val="1000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revisão da Mudança é realizada para confirmar que os objetivos foram alcançados permitindo ao solicitante e partes interessadas a satisfação com o(s) resultado(s). Por exemplo, conferir a documentação da Mudança, linha de base e relatórios de avaliação.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Caso haja pendência de requisitos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permanecerá em aberto por até 10 dias após sua implantação para acompanhamento das pendências e garantia de sua conclusão. Após este período, o Gerente da equipe responsável pela pendência será notificado do encerramento com as pendências não concluídas.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 de Pendências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73756"/>
            <a:ext cx="8016240" cy="11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37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0" y="566872"/>
            <a:ext cx="9192225" cy="4419397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executadas por mês (mudanças encerradas X mês)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tipo (histórico de mudanças anual X tipo)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Natureza (histórico de mudanças anual X natureza)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Etapa (histórico de mudanças anual X Etapa)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encerradas com sucesso (histórico de mudanças anual X sucesso ou não sucesso)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status (histórico de mudanças anual X Status)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clientes (histórico de mudanças anual X top 10 clientes)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Site (histórico de mudanças anual X Site Contax)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Consolidado por Cliente x Sucesso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Total de Mudanças x Projeto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Diretoria X total mês</a:t>
            </a:r>
          </a:p>
        </p:txBody>
      </p:sp>
    </p:spTree>
    <p:extLst>
      <p:ext uri="{BB962C8B-B14F-4D97-AF65-F5344CB8AC3E}">
        <p14:creationId xmlns:p14="http://schemas.microsoft.com/office/powerpoint/2010/main" val="3973697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099" y="2045"/>
            <a:ext cx="4735609" cy="516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93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 – Controle de Requisitos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1767" r="29151"/>
          <a:stretch/>
        </p:blipFill>
        <p:spPr>
          <a:xfrm>
            <a:off x="338328" y="587756"/>
            <a:ext cx="2306320" cy="220556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0848" y="605087"/>
            <a:ext cx="6108425" cy="227249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326" r="30246"/>
          <a:stretch/>
        </p:blipFill>
        <p:spPr>
          <a:xfrm>
            <a:off x="6483329" y="2877584"/>
            <a:ext cx="2126488" cy="21464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4820" y="2908064"/>
            <a:ext cx="5949929" cy="221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86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2" y="810492"/>
            <a:ext cx="1939774" cy="196286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245" y="957462"/>
            <a:ext cx="3688400" cy="1668925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2272145" y="1468758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Abertura de nova Mudança / Projeto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5482754" y="2642690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de Mudança ou Projeto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470912" y="3331399"/>
            <a:ext cx="35399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Formulários de Mudança: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de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Emergencial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4834245" y="3331399"/>
            <a:ext cx="35399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Formulários de Projetos: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 de TI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 Corporativos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 de Negócio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63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Dados do Solicitante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934" y="780923"/>
            <a:ext cx="6456018" cy="3130292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1339934" y="3971801"/>
            <a:ext cx="6456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Dados do Solicitante será padrão do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tProcess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 sem alterações.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8396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Dados da Demanda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04" y="944880"/>
            <a:ext cx="4342342" cy="332541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602146" y="966159"/>
            <a:ext cx="436659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Cliente / Operação Afetada: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permitira seleção múltipla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Previsão de Interrupção: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Sim ou Não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Complexidade: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Alta, Média e Baixa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Risco: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Alto, Médio e Baixo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Data / Hora de execução: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Estimativa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Quantidade de usuários afetados: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0-&gt;10, 10-&gt;100, 100-&gt;1000, Acima de 1000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Classificação: 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Novo Serviço, Remoção de Serviço,  Corretiva de Problema, Corretiva de Incidente, Alteração de Serviço, Conformidade Legal, Ocupação Predial.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Benefício da Demanda: 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Expansão de Faturamento, Novos Negócios, Eficiência Operacional, Redução de Multas, Adequação Operacional, Mitigação de Riscos.</a:t>
            </a:r>
          </a:p>
        </p:txBody>
      </p:sp>
    </p:spTree>
    <p:extLst>
      <p:ext uri="{BB962C8B-B14F-4D97-AF65-F5344CB8AC3E}">
        <p14:creationId xmlns:p14="http://schemas.microsoft.com/office/powerpoint/2010/main" val="856592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Registro</a:t>
            </a:r>
          </a:p>
        </p:txBody>
      </p:sp>
      <p:sp>
        <p:nvSpPr>
          <p:cNvPr id="4" name="Retângulo 3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949" y="695727"/>
            <a:ext cx="6441033" cy="428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96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Todas as visões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t="55727"/>
          <a:stretch/>
        </p:blipFill>
        <p:spPr>
          <a:xfrm>
            <a:off x="2280806" y="990601"/>
            <a:ext cx="6613814" cy="3595434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41591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Demandas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90" y="692889"/>
            <a:ext cx="6492961" cy="375178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192" y="4604329"/>
            <a:ext cx="9136807" cy="422405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pPr>
              <a:spcBef>
                <a:spcPts val="1000"/>
              </a:spcBef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Nesta fase será possível alterar uma Mudança para Projeto e um projeto para Mudança.</a:t>
            </a:r>
          </a:p>
        </p:txBody>
      </p:sp>
    </p:spTree>
    <p:extLst>
      <p:ext uri="{BB962C8B-B14F-4D97-AF65-F5344CB8AC3E}">
        <p14:creationId xmlns:p14="http://schemas.microsoft.com/office/powerpoint/2010/main" val="263575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 - Projeto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58" y="706582"/>
            <a:ext cx="6505061" cy="409955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857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624" y="1051735"/>
            <a:ext cx="6522535" cy="36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187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334" y="524043"/>
            <a:ext cx="6245226" cy="451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77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Resolução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664" y="995423"/>
            <a:ext cx="6486268" cy="345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495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2194756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Obrigado! </a:t>
            </a:r>
          </a:p>
        </p:txBody>
      </p:sp>
    </p:spTree>
    <p:extLst>
      <p:ext uri="{BB962C8B-B14F-4D97-AF65-F5344CB8AC3E}">
        <p14:creationId xmlns:p14="http://schemas.microsoft.com/office/powerpoint/2010/main" val="576794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22392</TotalTime>
  <Words>1625</Words>
  <Application>Microsoft Office PowerPoint</Application>
  <PresentationFormat>Personalizar</PresentationFormat>
  <Paragraphs>258</Paragraphs>
  <Slides>37</Slides>
  <Notes>5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8" baseType="lpstr">
      <vt:lpstr>Aharoni</vt:lpstr>
      <vt:lpstr>Arial</vt:lpstr>
      <vt:lpstr>Calibri</vt:lpstr>
      <vt:lpstr>Helvetica Neue</vt:lpstr>
      <vt:lpstr>Wingdings</vt:lpstr>
      <vt:lpstr>Tema do Office</vt:lpstr>
      <vt:lpstr>10_Tema do Office</vt:lpstr>
      <vt:lpstr>Personalizar design</vt:lpstr>
      <vt:lpstr>5_Tema do Office</vt:lpstr>
      <vt:lpstr>7_Tema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Chacon</cp:lastModifiedBy>
  <cp:revision>896</cp:revision>
  <dcterms:created xsi:type="dcterms:W3CDTF">2015-08-20T14:57:26Z</dcterms:created>
  <dcterms:modified xsi:type="dcterms:W3CDTF">2016-08-04T21:09:14Z</dcterms:modified>
</cp:coreProperties>
</file>