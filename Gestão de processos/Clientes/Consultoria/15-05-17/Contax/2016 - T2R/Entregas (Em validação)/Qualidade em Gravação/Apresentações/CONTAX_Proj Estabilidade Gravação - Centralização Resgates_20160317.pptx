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  <p:sldMasterId id="2147483651" r:id="rId5"/>
  </p:sldMasterIdLst>
  <p:sldIdLst>
    <p:sldId id="275" r:id="rId6"/>
    <p:sldId id="273" r:id="rId7"/>
    <p:sldId id="281" r:id="rId8"/>
    <p:sldId id="28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3E6C"/>
    <a:srgbClr val="19345C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9854" autoAdjust="0"/>
  </p:normalViewPr>
  <p:slideViewPr>
    <p:cSldViewPr snapToGrid="0" snapToObjects="1">
      <p:cViewPr>
        <p:scale>
          <a:sx n="70" d="100"/>
          <a:sy n="70" d="100"/>
        </p:scale>
        <p:origin x="-1158" y="-180"/>
      </p:cViewPr>
      <p:guideLst>
        <p:guide orient="horz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390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17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910138" cy="191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3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21333" y="384983"/>
            <a:ext cx="1603348" cy="388071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7" y="5840350"/>
            <a:ext cx="955343" cy="101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-1"/>
            <a:ext cx="789296" cy="103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420" y="2237695"/>
            <a:ext cx="5286304" cy="1273422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705970" y="4031388"/>
            <a:ext cx="6045957" cy="683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 smtClean="0">
                <a:solidFill>
                  <a:srgbClr val="0F3E6C"/>
                </a:solidFill>
                <a:latin typeface="Arial"/>
                <a:cs typeface="Arial"/>
              </a:rPr>
              <a:t>Projeto</a:t>
            </a:r>
            <a:r>
              <a:rPr lang="en-US" sz="2400" b="1" dirty="0" smtClean="0">
                <a:solidFill>
                  <a:srgbClr val="0F3E6C"/>
                </a:solidFill>
                <a:latin typeface="Arial"/>
                <a:cs typeface="Arial"/>
              </a:rPr>
              <a:t> </a:t>
            </a:r>
            <a:r>
              <a:rPr lang="en-US" sz="2400" b="1" dirty="0" err="1" smtClean="0">
                <a:solidFill>
                  <a:srgbClr val="0F3E6C"/>
                </a:solidFill>
                <a:latin typeface="Arial"/>
                <a:cs typeface="Arial"/>
              </a:rPr>
              <a:t>Qualidade</a:t>
            </a:r>
            <a:r>
              <a:rPr lang="en-US" sz="2400" b="1" dirty="0" smtClean="0">
                <a:solidFill>
                  <a:srgbClr val="0F3E6C"/>
                </a:solidFill>
                <a:latin typeface="Arial"/>
                <a:cs typeface="Arial"/>
              </a:rPr>
              <a:t> </a:t>
            </a:r>
            <a:r>
              <a:rPr lang="en-US" sz="2400" b="1" dirty="0" err="1" smtClean="0">
                <a:solidFill>
                  <a:srgbClr val="0F3E6C"/>
                </a:solidFill>
                <a:latin typeface="Arial"/>
                <a:cs typeface="Arial"/>
              </a:rPr>
              <a:t>na</a:t>
            </a:r>
            <a:r>
              <a:rPr lang="en-US" sz="2400" b="1" dirty="0" smtClean="0">
                <a:solidFill>
                  <a:srgbClr val="0F3E6C"/>
                </a:solidFill>
                <a:latin typeface="Arial"/>
                <a:cs typeface="Arial"/>
              </a:rPr>
              <a:t> </a:t>
            </a:r>
            <a:r>
              <a:rPr lang="en-US" sz="2400" b="1" dirty="0" err="1" smtClean="0">
                <a:solidFill>
                  <a:srgbClr val="0F3E6C"/>
                </a:solidFill>
                <a:latin typeface="Arial"/>
                <a:cs typeface="Arial"/>
              </a:rPr>
              <a:t>Gravação</a:t>
            </a:r>
            <a:endParaRPr lang="en-US" sz="2400" b="1" dirty="0" smtClean="0">
              <a:solidFill>
                <a:srgbClr val="0F3E6C"/>
              </a:solidFill>
              <a:latin typeface="Arial"/>
              <a:cs typeface="Arial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562805" y="4608303"/>
            <a:ext cx="4116970" cy="11166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1500" dirty="0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17 de </a:t>
            </a:r>
            <a:r>
              <a:rPr lang="en-US" sz="1500" dirty="0" err="1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Março</a:t>
            </a:r>
            <a:r>
              <a:rPr lang="en-US" sz="1500" dirty="0" smtClean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 de 2016</a:t>
            </a:r>
            <a:endParaRPr lang="en-US" sz="15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249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9731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45825" y="348691"/>
            <a:ext cx="5292757" cy="809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0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dirty="0"/>
              <a:t>Projeto Qualidade de </a:t>
            </a:r>
            <a:r>
              <a:rPr lang="pt-BR" dirty="0" smtClean="0"/>
              <a:t>Gravação</a:t>
            </a:r>
          </a:p>
          <a:p>
            <a:r>
              <a:rPr lang="pt-BR" dirty="0" smtClean="0"/>
              <a:t>Resgates</a:t>
            </a:r>
            <a:endParaRPr lang="pt-BR" dirty="0"/>
          </a:p>
        </p:txBody>
      </p:sp>
      <p:sp>
        <p:nvSpPr>
          <p:cNvPr id="8" name="Retângulo de cantos arredondados 7"/>
          <p:cNvSpPr/>
          <p:nvPr/>
        </p:nvSpPr>
        <p:spPr>
          <a:xfrm>
            <a:off x="191387" y="1157826"/>
            <a:ext cx="8724994" cy="5311213"/>
          </a:xfrm>
          <a:prstGeom prst="round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Cenário Atual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endParaRPr lang="pt-BR" sz="1600" dirty="0" smtClean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pt-BR" sz="1600" dirty="0" smtClean="0"/>
              <a:t>Operações Elegíveis </a:t>
            </a:r>
            <a:r>
              <a:rPr lang="pt-BR" sz="1600" dirty="0"/>
              <a:t>a Resgate: 39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pt-BR" sz="1600" dirty="0"/>
              <a:t>Pontos focais responsáveis pelos Resgates de forma descentralizada: 35 (abaixo destas pessoas podem ou não ter uma equipe para esta finalidade. </a:t>
            </a:r>
            <a:r>
              <a:rPr lang="pt-BR" sz="1600" dirty="0"/>
              <a:t>Ex. </a:t>
            </a:r>
            <a:r>
              <a:rPr lang="pt-BR" sz="1600" dirty="0" smtClean="0"/>
              <a:t>Retenção </a:t>
            </a:r>
            <a:r>
              <a:rPr lang="pt-BR" sz="1600" dirty="0"/>
              <a:t>Oi e Televendas Oi)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pt-BR" sz="1600" dirty="0"/>
              <a:t>Diretoria de operações envolvidas: todas (9)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pt-BR" sz="1600" dirty="0"/>
              <a:t>O processo de solicitação de resgate de gravações realizado pelo cliente é especifico de cada operação. A demanda chega para a Contax através de vários canais desconectados: Via </a:t>
            </a:r>
            <a:r>
              <a:rPr lang="pt-BR" sz="1600" dirty="0" err="1"/>
              <a:t>email</a:t>
            </a:r>
            <a:r>
              <a:rPr lang="pt-BR" sz="1600" dirty="0"/>
              <a:t>, via </a:t>
            </a:r>
            <a:r>
              <a:rPr lang="pt-BR" sz="1600" dirty="0" err="1"/>
              <a:t>ftp</a:t>
            </a:r>
            <a:r>
              <a:rPr lang="pt-BR" sz="1600" dirty="0"/>
              <a:t>, </a:t>
            </a:r>
            <a:r>
              <a:rPr lang="pt-BR" sz="1600" dirty="0" smtClean="0"/>
              <a:t>através </a:t>
            </a:r>
            <a:r>
              <a:rPr lang="pt-BR" sz="1600" dirty="0"/>
              <a:t>do gerente da </a:t>
            </a:r>
            <a:r>
              <a:rPr lang="pt-BR" sz="1600" dirty="0" smtClean="0"/>
              <a:t>operação, </a:t>
            </a:r>
            <a:r>
              <a:rPr lang="pt-BR" sz="1600" dirty="0"/>
              <a:t>através da </a:t>
            </a:r>
            <a:r>
              <a:rPr lang="pt-BR" sz="1600" dirty="0" smtClean="0"/>
              <a:t>área </a:t>
            </a:r>
            <a:r>
              <a:rPr lang="pt-BR" sz="1600" dirty="0"/>
              <a:t>de TI, etc.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pt-BR" sz="1600" dirty="0"/>
              <a:t>O processo de resgate interno também é especifico de cada operação. </a:t>
            </a:r>
            <a:r>
              <a:rPr lang="pt-BR" sz="1600" dirty="0"/>
              <a:t>Informações trafegam entre as áreas de operações, qualidade, </a:t>
            </a:r>
            <a:r>
              <a:rPr lang="pt-BR" sz="1600" dirty="0" smtClean="0"/>
              <a:t>TI, </a:t>
            </a:r>
            <a:r>
              <a:rPr lang="pt-BR" sz="1600" dirty="0"/>
              <a:t>através de e-mails e chamados.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pt-BR" sz="1600" dirty="0"/>
              <a:t>Cada cliente possui </a:t>
            </a:r>
            <a:r>
              <a:rPr lang="pt-BR" sz="1600" dirty="0" err="1"/>
              <a:t>SLA´s</a:t>
            </a:r>
            <a:r>
              <a:rPr lang="pt-BR" sz="1600" dirty="0"/>
              <a:t> </a:t>
            </a:r>
            <a:r>
              <a:rPr lang="pt-BR" sz="1600" dirty="0" smtClean="0"/>
              <a:t>específicos </a:t>
            </a:r>
            <a:r>
              <a:rPr lang="pt-BR" sz="1600" dirty="0"/>
              <a:t>e os mesmos não </a:t>
            </a:r>
            <a:r>
              <a:rPr lang="pt-BR" sz="1600" dirty="0" smtClean="0"/>
              <a:t>estão  </a:t>
            </a:r>
            <a:r>
              <a:rPr lang="pt-BR" sz="1600" dirty="0"/>
              <a:t>registrados em nenhuma ferramenta de </a:t>
            </a:r>
            <a:r>
              <a:rPr lang="pt-BR" sz="1600" dirty="0" smtClean="0"/>
              <a:t>fácil </a:t>
            </a:r>
            <a:r>
              <a:rPr lang="pt-BR" sz="1600" dirty="0"/>
              <a:t>consulta. </a:t>
            </a:r>
            <a:r>
              <a:rPr lang="pt-BR" sz="1600" dirty="0"/>
              <a:t>Estas informações estão nos contratos</a:t>
            </a:r>
          </a:p>
          <a:p>
            <a:endParaRPr lang="pt-BR" sz="1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920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9731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45825" y="348691"/>
            <a:ext cx="5292757" cy="809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0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dirty="0"/>
              <a:t>Projeto Qualidade de </a:t>
            </a:r>
            <a:r>
              <a:rPr lang="pt-BR" dirty="0" smtClean="0"/>
              <a:t>Gravação</a:t>
            </a:r>
          </a:p>
          <a:p>
            <a:r>
              <a:rPr lang="pt-BR" dirty="0" smtClean="0"/>
              <a:t>Resgates</a:t>
            </a:r>
            <a:endParaRPr lang="pt-BR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191387" y="1161997"/>
            <a:ext cx="8724994" cy="25479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sz="1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</a:t>
            </a:r>
          </a:p>
          <a:p>
            <a:pPr>
              <a:lnSpc>
                <a:spcPct val="150000"/>
              </a:lnSpc>
            </a:pPr>
            <a:r>
              <a:rPr lang="pt-BR" sz="1600" dirty="0" smtClean="0"/>
              <a:t>Falta de padronização da forma de solicitações e resgates, gerando perda no controle das informações ,sendo que cada cliente tem o seu processo e muitos sem registro das informações para que nossos indicadores sejam apurados. Desta forma não temos visibilidade real dos cenários de entregas e não entregas, dificultando a analise dos ofensores. </a:t>
            </a:r>
          </a:p>
          <a:p>
            <a:pPr>
              <a:lnSpc>
                <a:spcPct val="150000"/>
              </a:lnSpc>
            </a:pPr>
            <a:r>
              <a:rPr lang="pt-BR" sz="1600" dirty="0" smtClean="0"/>
              <a:t>Dificuldade de alinhamento, centralização das informações e implantação de um processo único.</a:t>
            </a:r>
            <a:endParaRPr lang="pt-BR" sz="1600" dirty="0" smtClean="0"/>
          </a:p>
          <a:p>
            <a:pPr>
              <a:lnSpc>
                <a:spcPct val="150000"/>
              </a:lnSpc>
            </a:pPr>
            <a:endPara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191387" y="3916908"/>
            <a:ext cx="8724994" cy="260672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sz="16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Sugestão</a:t>
            </a:r>
            <a:r>
              <a:rPr lang="pt-BR" sz="1600" u="sng" dirty="0" smtClean="0"/>
              <a:t>:</a:t>
            </a:r>
            <a:endParaRPr lang="pt-BR" sz="1600" u="sng" dirty="0" smtClean="0"/>
          </a:p>
          <a:p>
            <a:pPr>
              <a:lnSpc>
                <a:spcPct val="150000"/>
              </a:lnSpc>
            </a:pPr>
            <a:r>
              <a:rPr lang="pt-BR" sz="1600" dirty="0" smtClean="0"/>
              <a:t>Centralizar as pessoas/equipes responsáveis por realizar os resgates em apenas uma gestão . A ideia criar uma nova área (sem acréscimo de pessoas) e reaproveitar os pontos focais atuais, onde os mesmos responderiam a uma gestão centralizada de resgates. Destas forma, seriam implantados os processos padrões de inicio a fim do tratamento dos resgastes.</a:t>
            </a:r>
          </a:p>
        </p:txBody>
      </p:sp>
    </p:spTree>
    <p:extLst>
      <p:ext uri="{BB962C8B-B14F-4D97-AF65-F5344CB8AC3E}">
        <p14:creationId xmlns:p14="http://schemas.microsoft.com/office/powerpoint/2010/main" val="351230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9731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45825" y="348691"/>
            <a:ext cx="5292757" cy="809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30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pt-BR" dirty="0"/>
              <a:t>Projeto Qualidade de </a:t>
            </a:r>
            <a:r>
              <a:rPr lang="pt-BR" dirty="0" smtClean="0"/>
              <a:t>Gravação</a:t>
            </a:r>
          </a:p>
          <a:p>
            <a:r>
              <a:rPr lang="pt-BR" dirty="0" smtClean="0"/>
              <a:t>Resgates</a:t>
            </a:r>
            <a:endParaRPr lang="pt-BR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0" y="1157827"/>
            <a:ext cx="9143999" cy="55022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sz="15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Entrada única de solicitações de resgates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Registro da demanda em ferramenta única  (hoje cada um tem o seu controle)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Padronização do tratamento das demandas garantindo assim  que  a mesma passe por todos os níveis necessário  para atingir o SLA. (Operações -&gt; técnico N1-&gt; analista N3)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Redefinição dos </a:t>
            </a:r>
            <a:r>
              <a:rPr lang="pt-BR" sz="1500" dirty="0" err="1" smtClean="0"/>
              <a:t>SLA´s</a:t>
            </a:r>
            <a:r>
              <a:rPr lang="pt-BR" sz="1500" dirty="0" smtClean="0"/>
              <a:t> internos  de acordo com o SLA do cliente visando entregar mais rápido demandas de clientes com contratos mais agressivos e/ou de multas maiores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Visão  consolidada e por cliente dos indicadores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Visão consolidada e por cliente dos ofensores de não entrega, direcionando onde é necessário atuar.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Garantir que o que o cliente esta solicitando esta devidamente estabelecido em contrato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Profissionalização da demanda (atualmente existem casos onde quem faz o resgate é o coordenador da operação)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sz="1500" dirty="0" smtClean="0"/>
              <a:t>Como a ideia é aproveitar recursos já existes, com isto não teríamos custos  e conseguiríamos otimizar recursos  que podem estar ociosos em alguns casos. Em outros casos, tiraria esta demanda de </a:t>
            </a:r>
            <a:r>
              <a:rPr lang="pt-BR" sz="1500" dirty="0" err="1" smtClean="0"/>
              <a:t>de</a:t>
            </a:r>
            <a:r>
              <a:rPr lang="pt-BR" sz="1500" dirty="0" smtClean="0"/>
              <a:t> pessoas  que possuem outro foco (ex. coordenador de operação).</a:t>
            </a:r>
            <a:endParaRPr lang="pt-BR" sz="1500" dirty="0" smtClean="0"/>
          </a:p>
        </p:txBody>
      </p:sp>
    </p:spTree>
    <p:extLst>
      <p:ext uri="{BB962C8B-B14F-4D97-AF65-F5344CB8AC3E}">
        <p14:creationId xmlns:p14="http://schemas.microsoft.com/office/powerpoint/2010/main" val="351230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3B5D3D784E3BA449570ADAAF37FA8B2" ma:contentTypeVersion="0" ma:contentTypeDescription="Crie um novo documento." ma:contentTypeScope="" ma:versionID="704348065d9a17421fec285126e8bba4">
  <xsd:schema xmlns:xsd="http://www.w3.org/2001/XMLSchema" xmlns:p="http://schemas.microsoft.com/office/2006/metadata/properties" targetNamespace="http://schemas.microsoft.com/office/2006/metadata/properties" ma:root="true" ma:fieldsID="834597303d62dd03ddcd59f56325a2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 ma:readOnly="tru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632299ED-9226-4A7A-A2C0-C66CB99F7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6BD40187-56F7-4409-B45A-79DD359825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5E6F18-B857-4825-A93C-0DB9C37E5FD4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3778</TotalTime>
  <Words>491</Words>
  <Application>Microsoft Office PowerPoint</Application>
  <PresentationFormat>Apresentação na tela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2_Custom Design</vt:lpstr>
      <vt:lpstr>Custom Design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iMac de Plinio</dc:creator>
  <cp:lastModifiedBy>Fabiana Carla de Souza Dias</cp:lastModifiedBy>
  <cp:revision>61</cp:revision>
  <dcterms:created xsi:type="dcterms:W3CDTF">2015-08-23T23:08:42Z</dcterms:created>
  <dcterms:modified xsi:type="dcterms:W3CDTF">2016-03-17T13:30:34Z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0x01010043B5D3D784E3BA449570ADAAF37FA8B2</vt:lpwstr>
  </property>
</Properties>
</file>