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22"/>
  </p:notesMasterIdLst>
  <p:sldIdLst>
    <p:sldId id="262" r:id="rId5"/>
    <p:sldId id="279" r:id="rId6"/>
    <p:sldId id="289" r:id="rId7"/>
    <p:sldId id="317" r:id="rId8"/>
    <p:sldId id="318" r:id="rId9"/>
    <p:sldId id="321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19" r:id="rId18"/>
    <p:sldId id="323" r:id="rId19"/>
    <p:sldId id="324" r:id="rId20"/>
    <p:sldId id="297" r:id="rId21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9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FF"/>
    <a:srgbClr val="17375D"/>
    <a:srgbClr val="FFC2A3"/>
    <a:srgbClr val="FFD0B9"/>
    <a:srgbClr val="CCCC00"/>
    <a:srgbClr val="000000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2" autoAdjust="0"/>
    <p:restoredTop sz="93809" autoAdjust="0"/>
  </p:normalViewPr>
  <p:slideViewPr>
    <p:cSldViewPr snapToGrid="0" snapToObjects="1">
      <p:cViewPr varScale="1">
        <p:scale>
          <a:sx n="110" d="100"/>
          <a:sy n="110" d="100"/>
        </p:scale>
        <p:origin x="379" y="77"/>
      </p:cViewPr>
      <p:guideLst>
        <p:guide orient="horz" pos="2529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18/04/2016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48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752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360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0768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563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617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529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721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8734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264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794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256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6605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365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0182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6847" y="136"/>
            <a:ext cx="3345084" cy="1221858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/>
          <a:lstStyle/>
          <a:p>
            <a:fld id="{A9109724-C518-4FEF-BA4E-E40E9E2761B0}" type="datetime1">
              <a:rPr lang="en-US" smtClean="0"/>
              <a:t>4/18/2016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6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098292" y="43831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luis.marcal@contax.com.b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4655820"/>
            <a:ext cx="91442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6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T2R – Transition to Run</a:t>
            </a:r>
          </a:p>
        </p:txBody>
      </p:sp>
      <p:sp>
        <p:nvSpPr>
          <p:cNvPr id="5" name="Retângulo 4"/>
          <p:cNvSpPr/>
          <p:nvPr/>
        </p:nvSpPr>
        <p:spPr>
          <a:xfrm>
            <a:off x="3858490" y="2162261"/>
            <a:ext cx="52828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 – Gerenciamento de Mudanças</a:t>
            </a:r>
          </a:p>
          <a:p>
            <a:pPr algn="ct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2 – 14/04/2016</a:t>
            </a:r>
            <a:endParaRPr lang="pt-BR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425118"/>
            <a:ext cx="9143999" cy="4663219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Objetivo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Alinhar com as equipes de TI melhorias do Processo de Gerenciamento de Mudanças correspondentes ao  projeto Transition to Run.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Acompanhar a evolução de melhorias definidas em reunião T2R.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Definir responsabilidades e prazo para entrega de atividades relacionadas ao Projeto.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Garantir que as atividades sejam entregues no prazo definido.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pt-BR" sz="1400" dirty="0">
              <a:latin typeface="Eras Medium ITC" pitchFamily="34" charset="0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pt-BR" sz="1400" dirty="0">
                <a:latin typeface="Eras Medium ITC" pitchFamily="34" charset="0"/>
              </a:rPr>
              <a:t>Mudanças de serviço é qualquer “adição, modificação ou remoção de serviço ou componente de serviço autorizado, planejado ou suportado e sua documentação associada.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4043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ela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506198"/>
              </p:ext>
            </p:extLst>
          </p:nvPr>
        </p:nvGraphicFramePr>
        <p:xfrm>
          <a:off x="304369" y="876310"/>
          <a:ext cx="8608102" cy="3621123"/>
        </p:xfrm>
        <a:graphic>
          <a:graphicData uri="http://schemas.openxmlformats.org/drawingml/2006/table">
            <a:tbl>
              <a:tblPr/>
              <a:tblGrid>
                <a:gridCol w="15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3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9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195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latin typeface="Verdana"/>
                        </a:rPr>
                        <a:t>Transition</a:t>
                      </a:r>
                      <a:r>
                        <a:rPr lang="pt-BR" sz="1100" b="1" i="0" u="none" strike="noStrike" baseline="0" dirty="0">
                          <a:solidFill>
                            <a:srgbClr val="FFFFFF"/>
                          </a:solidFill>
                          <a:latin typeface="Verdana"/>
                        </a:rPr>
                        <a:t> to Run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Verdana"/>
                        </a:rPr>
                        <a:t>Número da Minuta</a:t>
                      </a:r>
                      <a:r>
                        <a:rPr lang="pt-BR" sz="900" b="1" i="0" u="none" strike="noStrike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Verdana"/>
                        </a:rPr>
                        <a:t> 01</a:t>
                      </a:r>
                      <a:endParaRPr lang="pt-BR" sz="9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57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latin typeface="Verdana"/>
                        </a:rPr>
                        <a:t>Data: </a:t>
                      </a:r>
                      <a:r>
                        <a:rPr lang="pt-BR" sz="1000" b="0" i="0" u="none" strike="noStrike" dirty="0">
                          <a:latin typeface="Verdana"/>
                        </a:rPr>
                        <a:t> 14/04/2016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latin typeface="Verdana"/>
                        </a:rPr>
                        <a:t>Hora:</a:t>
                      </a:r>
                      <a:r>
                        <a:rPr lang="pt-BR" sz="1000" b="0" i="0" u="none" strike="noStrike" dirty="0">
                          <a:latin typeface="Verdana"/>
                        </a:rPr>
                        <a:t> 15:00</a:t>
                      </a:r>
                      <a:r>
                        <a:rPr lang="pt-BR" sz="1000" b="0" i="0" u="none" strike="noStrike" baseline="0" dirty="0">
                          <a:latin typeface="Verdana"/>
                        </a:rPr>
                        <a:t> </a:t>
                      </a:r>
                      <a:r>
                        <a:rPr lang="pt-BR" sz="1000" b="0" i="0" u="none" strike="noStrike" dirty="0">
                          <a:latin typeface="Verdana"/>
                        </a:rPr>
                        <a:t>às 17:00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latin typeface="Verdana"/>
                        </a:rPr>
                        <a:t>Local: </a:t>
                      </a:r>
                      <a:r>
                        <a:rPr lang="pt-BR" sz="1000" b="0" i="0" u="none" strike="noStrike" dirty="0">
                          <a:latin typeface="Verdana"/>
                        </a:rPr>
                        <a:t>Sala</a:t>
                      </a:r>
                      <a:r>
                        <a:rPr lang="pt-BR" sz="1000" b="0" i="0" u="none" strike="noStrike" baseline="0" dirty="0">
                          <a:latin typeface="Verdana"/>
                        </a:rPr>
                        <a:t> de Reunião T2R </a:t>
                      </a:r>
                      <a:r>
                        <a:rPr lang="pt-BR" sz="1000" b="0" i="0" u="none" strike="noStrike" baseline="0" dirty="0" err="1">
                          <a:latin typeface="Verdana"/>
                        </a:rPr>
                        <a:t>Chacon</a:t>
                      </a:r>
                      <a:endParaRPr lang="pt-BR" sz="10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6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>
                          <a:latin typeface="Verdana"/>
                        </a:rPr>
                        <a:t>Convidados/Participantes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78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latin typeface="Verdana"/>
                        </a:rPr>
                        <a:t>Nome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Departamento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900" b="1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Contato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E-mail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900" b="1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7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Daniel Donaire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latin typeface="Verdana"/>
                        </a:rPr>
                        <a:t>Gerente de TI CSC</a:t>
                      </a:r>
                    </a:p>
                  </a:txBody>
                  <a:tcPr marL="71278" marR="71278" marT="71278" marB="712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pt-BR" sz="9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sng" strike="noStrike" kern="1200" dirty="0">
                          <a:solidFill>
                            <a:srgbClr val="0000FF"/>
                          </a:solidFill>
                          <a:latin typeface="Verdana"/>
                          <a:ea typeface="+mn-ea"/>
                          <a:cs typeface="+mn-cs"/>
                        </a:rPr>
                        <a:t>daniel.donaire@contax.com.br</a:t>
                      </a:r>
                    </a:p>
                  </a:txBody>
                  <a:tcPr marL="180000" marR="7127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873175"/>
                  </a:ext>
                </a:extLst>
              </a:tr>
              <a:tr h="28337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Thomas Kiss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latin typeface="Verdana"/>
                        </a:rPr>
                        <a:t>Consultor </a:t>
                      </a:r>
                      <a:r>
                        <a:rPr lang="pt-BR" sz="900" b="0" i="0" u="none" strike="noStrike" dirty="0" err="1">
                          <a:latin typeface="Verdana"/>
                        </a:rPr>
                        <a:t>Chacon</a:t>
                      </a:r>
                      <a:endParaRPr lang="pt-BR" sz="900" b="0" i="0" u="none" strike="noStrike" dirty="0">
                        <a:latin typeface="Verdana"/>
                      </a:endParaRPr>
                    </a:p>
                  </a:txBody>
                  <a:tcPr marL="71278" marR="71278" marT="71278" marB="712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4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900" b="0" i="0" u="sng" strike="noStrike" dirty="0">
                          <a:solidFill>
                            <a:srgbClr val="0000FF"/>
                          </a:solidFill>
                          <a:latin typeface="Verdana"/>
                        </a:rPr>
                        <a:t>thomas@chacon-ilimitada.com</a:t>
                      </a:r>
                    </a:p>
                  </a:txBody>
                  <a:tcPr marL="180000" marR="7127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BR" sz="1800" b="0" i="0" u="sng" strike="noStrike" dirty="0">
                        <a:solidFill>
                          <a:srgbClr val="0000FF"/>
                        </a:solidFill>
                        <a:latin typeface="Verdan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7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Marçal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Gerente de Projetos</a:t>
                      </a:r>
                    </a:p>
                  </a:txBody>
                  <a:tcPr marL="71278" marR="71278" marT="71278" marB="712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4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9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sng" strike="noStrike" kern="1200" dirty="0">
                          <a:solidFill>
                            <a:srgbClr val="0000FF"/>
                          </a:solidFill>
                          <a:latin typeface="Verdana"/>
                          <a:ea typeface="+mn-ea"/>
                          <a:cs typeface="+mn-cs"/>
                          <a:hlinkClick r:id="rId3"/>
                        </a:rPr>
                        <a:t>luis.marcal@contax.com.br</a:t>
                      </a:r>
                      <a:endParaRPr lang="pt-BR" sz="900" b="0" i="0" u="sng" strike="noStrike" kern="1200" dirty="0">
                        <a:solidFill>
                          <a:srgbClr val="0000FF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180000" marR="7127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486105" rtl="0" eaLnBrk="1" fontAlgn="b" latinLnBrk="0" hangingPunct="1"/>
                      <a:endParaRPr lang="pt-BR" sz="1800" b="0" i="0" u="sng" strike="noStrike" kern="1200" dirty="0">
                        <a:solidFill>
                          <a:srgbClr val="0000FF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37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Marilice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Oliveira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Gestão de Mudanças</a:t>
                      </a:r>
                    </a:p>
                  </a:txBody>
                  <a:tcPr marL="71278" marR="71278" marT="71278" marB="712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400" b="0" i="0" u="none" strike="noStrike" dirty="0">
                        <a:latin typeface="Verdan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sng" strike="noStrike" kern="1200" dirty="0">
                          <a:solidFill>
                            <a:srgbClr val="0000FF"/>
                          </a:solidFill>
                          <a:latin typeface="Verdana"/>
                          <a:ea typeface="+mn-ea"/>
                          <a:cs typeface="+mn-cs"/>
                        </a:rPr>
                        <a:t>madeoliveira@contax.com.br</a:t>
                      </a:r>
                    </a:p>
                  </a:txBody>
                  <a:tcPr marL="180000" marR="7127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486105" rtl="0" eaLnBrk="1" fontAlgn="b" latinLnBrk="0" hangingPunct="1"/>
                      <a:endParaRPr lang="pt-BR" sz="1800" b="0" i="0" u="sng" strike="noStrike" kern="1200" dirty="0">
                        <a:solidFill>
                          <a:srgbClr val="0000FF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782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Welinton Silva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Gestão de Mudanças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4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sng" strike="noStrike" kern="1200" dirty="0">
                          <a:solidFill>
                            <a:srgbClr val="0000FF"/>
                          </a:solidFill>
                          <a:latin typeface="Verdana"/>
                          <a:ea typeface="+mn-ea"/>
                          <a:cs typeface="+mn-cs"/>
                        </a:rPr>
                        <a:t>welinton.silva@contax.com.br</a:t>
                      </a: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486105" rtl="0" eaLnBrk="1" fontAlgn="b" latinLnBrk="0" hangingPunct="1"/>
                      <a:endParaRPr lang="pt-BR" sz="1800" b="0" i="0" u="sng" strike="noStrike" kern="1200" dirty="0">
                        <a:solidFill>
                          <a:srgbClr val="0000FF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654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Adalton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Lima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latin typeface="Verdana"/>
                        </a:rPr>
                        <a:t>Gerente de TI</a:t>
                      </a:r>
                      <a:r>
                        <a:rPr lang="pt-BR" sz="900" b="0" i="0" u="none" strike="noStrike" baseline="0" dirty="0">
                          <a:latin typeface="Verdana"/>
                        </a:rPr>
                        <a:t> Informacional</a:t>
                      </a:r>
                      <a:endParaRPr lang="pt-BR" sz="9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sng" strike="noStrike" kern="1200" dirty="0">
                        <a:solidFill>
                          <a:srgbClr val="0000FF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sng" strike="noStrike" kern="1200" dirty="0">
                          <a:solidFill>
                            <a:srgbClr val="0000FF"/>
                          </a:solidFill>
                          <a:latin typeface="Verdana"/>
                          <a:ea typeface="+mn-ea"/>
                          <a:cs typeface="+mn-cs"/>
                        </a:rPr>
                        <a:t>adalton.lima@contax.com.br</a:t>
                      </a: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015950"/>
                  </a:ext>
                </a:extLst>
              </a:tr>
              <a:tr h="244654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Stuart Faria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latin typeface="Verdana"/>
                        </a:rPr>
                        <a:t>Gestão</a:t>
                      </a:r>
                      <a:r>
                        <a:rPr lang="pt-BR" sz="900" b="0" i="0" u="none" strike="noStrike" baseline="0" dirty="0">
                          <a:latin typeface="Verdana"/>
                        </a:rPr>
                        <a:t> de Problemas</a:t>
                      </a:r>
                      <a:endParaRPr lang="pt-BR" sz="9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sng" strike="noStrike" kern="1200" dirty="0">
                          <a:solidFill>
                            <a:srgbClr val="0000FF"/>
                          </a:solidFill>
                          <a:latin typeface="Verdana"/>
                          <a:ea typeface="+mn-ea"/>
                          <a:cs typeface="+mn-cs"/>
                        </a:rPr>
                        <a:t>stuart.faria@contax.com.br</a:t>
                      </a: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087668"/>
                  </a:ext>
                </a:extLst>
              </a:tr>
              <a:tr h="244654"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Rogério Santos</a:t>
                      </a: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pt-BR" sz="9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Coordenador CSE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sng" strike="noStrike" kern="1200" dirty="0">
                          <a:solidFill>
                            <a:srgbClr val="0000FF"/>
                          </a:solidFill>
                          <a:latin typeface="Verdana"/>
                          <a:ea typeface="+mn-ea"/>
                          <a:cs typeface="+mn-cs"/>
                        </a:rPr>
                        <a:t>rogerio.santos@contax.com.br</a:t>
                      </a: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898392"/>
                  </a:ext>
                </a:extLst>
              </a:tr>
              <a:tr h="24817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Filipe Antunes</a:t>
                      </a: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latin typeface="Verdana"/>
                        </a:rPr>
                        <a:t>Coordenador TI CSC Alto Impacto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400" b="0" i="0" u="none" strike="noStrike" dirty="0">
                        <a:latin typeface="Verdan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sng" strike="noStrike" kern="1200" dirty="0">
                          <a:solidFill>
                            <a:srgbClr val="0000FF"/>
                          </a:solidFill>
                          <a:latin typeface="Verdana"/>
                          <a:ea typeface="+mn-ea"/>
                          <a:cs typeface="+mn-cs"/>
                        </a:rPr>
                        <a:t>fantunes@contax.com.br</a:t>
                      </a: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8170">
                <a:tc>
                  <a:txBody>
                    <a:bodyPr/>
                    <a:lstStyle/>
                    <a:p>
                      <a:pPr algn="l" fontAlgn="b"/>
                      <a:endParaRPr lang="pt-BR" sz="900" b="1" i="0" u="none" strike="noStrike" dirty="0">
                        <a:latin typeface="Verdana"/>
                      </a:endParaRP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313" marR="0" indent="0" algn="l" defTabSz="48610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sng" strike="noStrike" kern="1200" dirty="0">
                        <a:solidFill>
                          <a:srgbClr val="0000FF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180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2702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0" y="425864"/>
            <a:ext cx="9143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Participantes</a:t>
            </a:r>
          </a:p>
        </p:txBody>
      </p:sp>
    </p:spTree>
    <p:extLst>
      <p:ext uri="{BB962C8B-B14F-4D97-AF65-F5344CB8AC3E}">
        <p14:creationId xmlns:p14="http://schemas.microsoft.com/office/powerpoint/2010/main" val="219256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3277578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Pauta da Reunião T2R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pt-BR" sz="1400" dirty="0"/>
              <a:t>Pendências do último Ciclo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pt-BR" sz="1400" dirty="0"/>
              <a:t>Evolução T2R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pt-BR" sz="1400" dirty="0"/>
              <a:t>Considerações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pt-BR" sz="1400" dirty="0"/>
              <a:t>Ações definidas em reunião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88885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1057103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Pendências do último ciclo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849083"/>
              </p:ext>
            </p:extLst>
          </p:nvPr>
        </p:nvGraphicFramePr>
        <p:xfrm>
          <a:off x="244364" y="1350163"/>
          <a:ext cx="8647387" cy="3526797"/>
        </p:xfrm>
        <a:graphic>
          <a:graphicData uri="http://schemas.openxmlformats.org/drawingml/2006/table">
            <a:tbl>
              <a:tblPr/>
              <a:tblGrid>
                <a:gridCol w="23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7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35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97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Ações definidas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Responsável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Status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Ultima atualização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latin typeface="Verdana"/>
                        </a:rPr>
                        <a:t>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Definição de Ritos diferentes para Mudanças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Kiss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Em andamento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baseline="0" dirty="0">
                          <a:solidFill>
                            <a:schemeClr val="tx1"/>
                          </a:solidFill>
                          <a:latin typeface="+mn-lt"/>
                          <a:ea typeface="Verdana" pitchFamily="34" charset="0"/>
                          <a:cs typeface="Verdana" pitchFamily="34" charset="0"/>
                        </a:rPr>
                        <a:t>Discussão e apresentação em reunião.</a:t>
                      </a:r>
                    </a:p>
                    <a:p>
                      <a:pPr marL="0" marR="0" lvl="1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baseline="0" dirty="0">
                          <a:solidFill>
                            <a:schemeClr val="tx1"/>
                          </a:solidFill>
                          <a:latin typeface="+mn-lt"/>
                          <a:ea typeface="Verdana" pitchFamily="34" charset="0"/>
                          <a:cs typeface="Verdana" pitchFamily="34" charset="0"/>
                        </a:rPr>
                        <a:t>Interação para Mudança / Melhoria.</a:t>
                      </a:r>
                    </a:p>
                  </a:txBody>
                  <a:tcPr marL="46516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latin typeface="Verdana"/>
                        </a:rPr>
                        <a:t>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Definir critérios para qualificação de solicitações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Kiss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Em andamento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baseline="0" dirty="0">
                          <a:solidFill>
                            <a:schemeClr val="tx1"/>
                          </a:solidFill>
                          <a:latin typeface="+mn-lt"/>
                          <a:ea typeface="Verdana" pitchFamily="34" charset="0"/>
                          <a:cs typeface="Verdana" pitchFamily="34" charset="0"/>
                        </a:rPr>
                        <a:t>Apresentação em Reunião:</a:t>
                      </a:r>
                    </a:p>
                    <a:p>
                      <a:pPr marL="0" marR="0" lvl="1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baseline="0" dirty="0">
                          <a:solidFill>
                            <a:schemeClr val="tx1"/>
                          </a:solidFill>
                          <a:latin typeface="+mn-lt"/>
                          <a:ea typeface="Verdana" pitchFamily="34" charset="0"/>
                          <a:cs typeface="Verdana" pitchFamily="34" charset="0"/>
                        </a:rPr>
                        <a:t>Melhorias</a:t>
                      </a:r>
                    </a:p>
                  </a:txBody>
                  <a:tcPr marL="46516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871058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latin typeface="Verdana"/>
                        </a:rPr>
                        <a:t>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Desenhar fluxo detalhado das solicitações</a:t>
                      </a:r>
                      <a:endParaRPr lang="pt-BR" sz="1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Kiss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Em andamento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baseline="0" dirty="0">
                          <a:solidFill>
                            <a:schemeClr val="tx1"/>
                          </a:solidFill>
                          <a:latin typeface="+mn-lt"/>
                          <a:ea typeface="Verdana" pitchFamily="34" charset="0"/>
                          <a:cs typeface="Verdana" pitchFamily="34" charset="0"/>
                        </a:rPr>
                        <a:t>Apresentação em reunião</a:t>
                      </a:r>
                    </a:p>
                  </a:txBody>
                  <a:tcPr marL="46516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209784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latin typeface="Verdana"/>
                        </a:rPr>
                        <a:t>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baseline="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kern="1200" baseline="0" dirty="0">
                        <a:solidFill>
                          <a:schemeClr val="tx1"/>
                        </a:solidFill>
                        <a:latin typeface="+mn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46516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613176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latin typeface="Verdana"/>
                        </a:rPr>
                        <a:t>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baseline="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l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kern="1200" baseline="0" dirty="0">
                        <a:solidFill>
                          <a:schemeClr val="tx1"/>
                        </a:solidFill>
                        <a:latin typeface="+mn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46516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173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44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780105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Evolução T2R – Visão T2R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545"/>
          <a:stretch/>
        </p:blipFill>
        <p:spPr>
          <a:xfrm>
            <a:off x="461010" y="815170"/>
            <a:ext cx="8301990" cy="433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9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1872711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Evolução T2R – Visão GMUD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1072"/>
          <a:stretch/>
        </p:blipFill>
        <p:spPr>
          <a:xfrm>
            <a:off x="119062" y="853439"/>
            <a:ext cx="8735377" cy="429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56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1872711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Evolução T2R – Inclusão de Risco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694690"/>
            <a:ext cx="9144000" cy="2165350"/>
          </a:xfrm>
          <a:prstGeom prst="rect">
            <a:avLst/>
          </a:prstGeom>
        </p:spPr>
        <p:txBody>
          <a:bodyPr vert="horz" lIns="360000" tIns="360000" rIns="360000" bIns="36000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b="1" dirty="0">
                <a:latin typeface="Eras Medium ITC" pitchFamily="34" charset="0"/>
              </a:rPr>
              <a:t>Categorização do Risco</a:t>
            </a:r>
          </a:p>
          <a:p>
            <a:pPr marL="447675" lvl="1" indent="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dirty="0">
                <a:latin typeface="Eras Medium ITC" pitchFamily="34" charset="0"/>
              </a:rPr>
              <a:t>Riscos associados devem ser avaliados e categorizados para prevenir interrupções para o negócio ou para a entrega de serviço.</a:t>
            </a:r>
          </a:p>
          <a:p>
            <a:pPr marL="447675" lvl="1" indent="0" algn="ctr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dirty="0">
                <a:latin typeface="Eras Medium ITC" pitchFamily="34" charset="0"/>
              </a:rPr>
              <a:t>Matriz para categorizar os riscos.</a:t>
            </a: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841752" y="2195415"/>
            <a:ext cx="7469128" cy="2749646"/>
            <a:chOff x="1352600" y="3420719"/>
            <a:chExt cx="7846576" cy="2888598"/>
          </a:xfrm>
        </p:grpSpPr>
        <p:sp>
          <p:nvSpPr>
            <p:cNvPr id="6" name="Retângulo 5"/>
            <p:cNvSpPr/>
            <p:nvPr/>
          </p:nvSpPr>
          <p:spPr bwMode="auto">
            <a:xfrm>
              <a:off x="1352600" y="3420719"/>
              <a:ext cx="1080120" cy="288859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BR" sz="1600" b="1" dirty="0">
                  <a:latin typeface="+mn-lt"/>
                  <a:cs typeface="+mn-cs"/>
                </a:rPr>
                <a:t>Impacto da Mudança</a:t>
              </a:r>
            </a:p>
          </p:txBody>
        </p:sp>
        <p:sp>
          <p:nvSpPr>
            <p:cNvPr id="7" name="Retângulo 6"/>
            <p:cNvSpPr/>
            <p:nvPr/>
          </p:nvSpPr>
          <p:spPr bwMode="auto">
            <a:xfrm>
              <a:off x="2464973" y="5844924"/>
              <a:ext cx="6734070" cy="46439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>
                  <a:latin typeface="+mn-lt"/>
                  <a:cs typeface="+mn-cs"/>
                </a:rPr>
                <a:t>Probabilidade de interrupções</a:t>
              </a: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2461389" y="3425197"/>
              <a:ext cx="6737652" cy="4212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Impacto da Mudança \ Matriz de Categorização do Risco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9" name="Retângulo 8"/>
            <p:cNvSpPr/>
            <p:nvPr/>
          </p:nvSpPr>
          <p:spPr bwMode="auto">
            <a:xfrm>
              <a:off x="2461389" y="3875549"/>
              <a:ext cx="3355707" cy="954614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Alto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Baixa Probabilidade </a:t>
              </a:r>
            </a:p>
            <a:p>
              <a:pPr algn="ctr"/>
              <a:r>
                <a:rPr lang="pt-BR" sz="1600" b="1" dirty="0">
                  <a:solidFill>
                    <a:schemeClr val="dk1"/>
                  </a:solidFill>
                  <a:latin typeface="+mn-lt"/>
                  <a:cs typeface="+mn-cs"/>
                </a:rPr>
                <a:t>Categoria do Risco: 2</a:t>
              </a:r>
            </a:p>
          </p:txBody>
        </p:sp>
        <p:sp>
          <p:nvSpPr>
            <p:cNvPr id="10" name="Retângulo 9"/>
            <p:cNvSpPr/>
            <p:nvPr/>
          </p:nvSpPr>
          <p:spPr bwMode="auto">
            <a:xfrm>
              <a:off x="2460241" y="4861883"/>
              <a:ext cx="3355707" cy="944048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Baixa Probabilidade</a:t>
              </a:r>
            </a:p>
            <a:p>
              <a:pPr algn="ctr"/>
              <a:r>
                <a:rPr lang="pt-BR" sz="1600" b="1" dirty="0">
                  <a:solidFill>
                    <a:schemeClr val="dk1"/>
                  </a:solidFill>
                  <a:latin typeface="+mn-lt"/>
                  <a:cs typeface="+mn-cs"/>
                </a:rPr>
                <a:t>Categoria do Risco: 4</a:t>
              </a:r>
            </a:p>
          </p:txBody>
        </p:sp>
        <p:sp>
          <p:nvSpPr>
            <p:cNvPr id="11" name="Retângulo 10"/>
            <p:cNvSpPr/>
            <p:nvPr/>
          </p:nvSpPr>
          <p:spPr bwMode="auto">
            <a:xfrm>
              <a:off x="5843469" y="4861883"/>
              <a:ext cx="3355707" cy="944048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Baixo Impacto 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Alta Probabilidade</a:t>
              </a:r>
            </a:p>
            <a:p>
              <a:pPr algn="ctr">
                <a:defRPr/>
              </a:pPr>
              <a:r>
                <a:rPr lang="pt-BR" sz="1600" b="1" dirty="0">
                  <a:solidFill>
                    <a:schemeClr val="dk1"/>
                  </a:solidFill>
                </a:rPr>
                <a:t>Categoria do Risco: 3</a:t>
              </a:r>
              <a:endParaRPr kumimoji="0" lang="pt-BR" sz="1600" b="1" i="1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Retângulo 11"/>
            <p:cNvSpPr/>
            <p:nvPr/>
          </p:nvSpPr>
          <p:spPr bwMode="auto">
            <a:xfrm>
              <a:off x="5843334" y="3875550"/>
              <a:ext cx="3355707" cy="954614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Alta Probabilidade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1600" b="1" dirty="0">
                  <a:solidFill>
                    <a:schemeClr val="dk1"/>
                  </a:solidFill>
                </a:rPr>
                <a:t>Categoria do Risco: 1</a:t>
              </a:r>
              <a:endParaRPr kumimoji="0" lang="pt-BR" sz="1600" b="1" i="1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73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" y="425118"/>
            <a:ext cx="9143999" cy="1149436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Evolução T2R - Risco</a:t>
            </a: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Definição para Mudanças Técnicas e Projetos</a:t>
            </a:r>
          </a:p>
        </p:txBody>
      </p:sp>
      <p:grpSp>
        <p:nvGrpSpPr>
          <p:cNvPr id="2" name="Agrupar 1"/>
          <p:cNvGrpSpPr/>
          <p:nvPr/>
        </p:nvGrpSpPr>
        <p:grpSpPr>
          <a:xfrm>
            <a:off x="2388475" y="2140751"/>
            <a:ext cx="4373752" cy="1837524"/>
            <a:chOff x="2388475" y="2140751"/>
            <a:chExt cx="4373752" cy="1837524"/>
          </a:xfrm>
        </p:grpSpPr>
        <p:sp>
          <p:nvSpPr>
            <p:cNvPr id="3" name="Retângulo 2"/>
            <p:cNvSpPr/>
            <p:nvPr/>
          </p:nvSpPr>
          <p:spPr bwMode="auto">
            <a:xfrm>
              <a:off x="2388475" y="2140751"/>
              <a:ext cx="2174869" cy="908694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200" dirty="0">
                  <a:solidFill>
                    <a:schemeClr val="dk1"/>
                  </a:solidFill>
                  <a:latin typeface="+mn-lt"/>
                  <a:cs typeface="+mn-cs"/>
                </a:rPr>
                <a:t>Alto Impacto</a:t>
              </a:r>
            </a:p>
            <a:p>
              <a:pPr algn="ctr"/>
              <a:r>
                <a:rPr lang="pt-BR" sz="1200" dirty="0">
                  <a:solidFill>
                    <a:schemeClr val="dk1"/>
                  </a:solidFill>
                  <a:latin typeface="+mn-lt"/>
                  <a:cs typeface="+mn-cs"/>
                </a:rPr>
                <a:t>Baixa Probabilidade </a:t>
              </a:r>
            </a:p>
            <a:p>
              <a:pPr algn="ctr"/>
              <a:r>
                <a:rPr lang="pt-BR" sz="1600" b="1" dirty="0">
                  <a:solidFill>
                    <a:schemeClr val="dk1"/>
                  </a:solidFill>
                  <a:latin typeface="+mn-lt"/>
                  <a:cs typeface="+mn-cs"/>
                </a:rPr>
                <a:t>Categoria do Risco: 2</a:t>
              </a:r>
            </a:p>
          </p:txBody>
        </p:sp>
        <p:sp>
          <p:nvSpPr>
            <p:cNvPr id="5" name="Retângulo 4"/>
            <p:cNvSpPr/>
            <p:nvPr/>
          </p:nvSpPr>
          <p:spPr bwMode="auto">
            <a:xfrm>
              <a:off x="2388475" y="3079639"/>
              <a:ext cx="2173778" cy="898636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200" dirty="0">
                  <a:solidFill>
                    <a:schemeClr val="dk1"/>
                  </a:solidFill>
                  <a:latin typeface="+mn-lt"/>
                  <a:cs typeface="+mn-cs"/>
                </a:rPr>
                <a:t>Baixo Impacto</a:t>
              </a:r>
            </a:p>
            <a:p>
              <a:pPr algn="ctr"/>
              <a:r>
                <a:rPr lang="pt-BR" sz="1200" dirty="0">
                  <a:solidFill>
                    <a:schemeClr val="dk1"/>
                  </a:solidFill>
                  <a:latin typeface="+mn-lt"/>
                  <a:cs typeface="+mn-cs"/>
                </a:rPr>
                <a:t>Baixa Probabilidade</a:t>
              </a:r>
            </a:p>
            <a:p>
              <a:pPr algn="ctr"/>
              <a:r>
                <a:rPr lang="pt-BR" sz="1600" b="1" dirty="0">
                  <a:solidFill>
                    <a:schemeClr val="dk1"/>
                  </a:solidFill>
                  <a:latin typeface="+mn-lt"/>
                  <a:cs typeface="+mn-cs"/>
                </a:rPr>
                <a:t>Categoria do Risco: 4</a:t>
              </a:r>
            </a:p>
          </p:txBody>
        </p:sp>
        <p:sp>
          <p:nvSpPr>
            <p:cNvPr id="6" name="Retângulo 5"/>
            <p:cNvSpPr/>
            <p:nvPr/>
          </p:nvSpPr>
          <p:spPr bwMode="auto">
            <a:xfrm>
              <a:off x="4588449" y="3079639"/>
              <a:ext cx="2173778" cy="898636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200" dirty="0">
                  <a:solidFill>
                    <a:schemeClr val="dk1"/>
                  </a:solidFill>
                </a:rPr>
                <a:t>Baixo Impacto </a:t>
              </a:r>
            </a:p>
            <a:p>
              <a:pPr algn="ctr"/>
              <a:r>
                <a:rPr lang="pt-BR" sz="1200" dirty="0">
                  <a:solidFill>
                    <a:schemeClr val="dk1"/>
                  </a:solidFill>
                </a:rPr>
                <a:t>Alta Probabilidade</a:t>
              </a:r>
            </a:p>
            <a:p>
              <a:pPr algn="ctr">
                <a:defRPr/>
              </a:pPr>
              <a:r>
                <a:rPr lang="pt-BR" sz="1600" b="1" dirty="0">
                  <a:solidFill>
                    <a:schemeClr val="dk1"/>
                  </a:solidFill>
                </a:rPr>
                <a:t>Categoria do Risco: 3</a:t>
              </a:r>
              <a:endParaRPr kumimoji="0" lang="pt-BR" sz="1600" b="1" i="1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charset="0"/>
              </a:endParaRPr>
            </a:p>
          </p:txBody>
        </p:sp>
        <p:sp>
          <p:nvSpPr>
            <p:cNvPr id="7" name="Retângulo 6"/>
            <p:cNvSpPr/>
            <p:nvPr/>
          </p:nvSpPr>
          <p:spPr bwMode="auto">
            <a:xfrm>
              <a:off x="4588449" y="2140751"/>
              <a:ext cx="2173778" cy="908694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200" dirty="0">
                  <a:solidFill>
                    <a:schemeClr val="dk1"/>
                  </a:solidFill>
                </a:rPr>
                <a:t>Alto Impacto</a:t>
              </a:r>
            </a:p>
            <a:p>
              <a:pPr algn="ctr"/>
              <a:r>
                <a:rPr lang="pt-BR" sz="1200" dirty="0">
                  <a:solidFill>
                    <a:schemeClr val="dk1"/>
                  </a:solidFill>
                </a:rPr>
                <a:t>Alta Probabilidade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1600" b="1" dirty="0">
                  <a:solidFill>
                    <a:schemeClr val="dk1"/>
                  </a:solidFill>
                </a:rPr>
                <a:t>Categoria do Risco: 1</a:t>
              </a:r>
              <a:endParaRPr kumimoji="0" lang="pt-BR" sz="1600" b="1" i="1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635915" y="1729684"/>
            <a:ext cx="1625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Mudança Planejada</a:t>
            </a:r>
          </a:p>
        </p:txBody>
      </p:sp>
      <p:cxnSp>
        <p:nvCxnSpPr>
          <p:cNvPr id="12" name="Conector Angulado 11"/>
          <p:cNvCxnSpPr>
            <a:stCxn id="3" idx="1"/>
            <a:endCxn id="8" idx="2"/>
          </p:cNvCxnSpPr>
          <p:nvPr/>
        </p:nvCxnSpPr>
        <p:spPr>
          <a:xfrm rot="10800000">
            <a:off x="1448863" y="2037462"/>
            <a:ext cx="939613" cy="55763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do 12"/>
          <p:cNvCxnSpPr>
            <a:stCxn id="5" idx="1"/>
            <a:endCxn id="16" idx="0"/>
          </p:cNvCxnSpPr>
          <p:nvPr/>
        </p:nvCxnSpPr>
        <p:spPr>
          <a:xfrm rot="10800000" flipV="1">
            <a:off x="1448863" y="3528956"/>
            <a:ext cx="939613" cy="512811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7190" y="4041768"/>
            <a:ext cx="1443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Mudança Técnica</a:t>
            </a:r>
          </a:p>
        </p:txBody>
      </p:sp>
      <p:cxnSp>
        <p:nvCxnSpPr>
          <p:cNvPr id="19" name="Conector Angulado 18"/>
          <p:cNvCxnSpPr>
            <a:stCxn id="6" idx="3"/>
            <a:endCxn id="22" idx="0"/>
          </p:cNvCxnSpPr>
          <p:nvPr/>
        </p:nvCxnSpPr>
        <p:spPr>
          <a:xfrm>
            <a:off x="6762227" y="3528957"/>
            <a:ext cx="977480" cy="512811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6926760" y="4041768"/>
            <a:ext cx="1625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Mudança Planejada</a:t>
            </a:r>
          </a:p>
        </p:txBody>
      </p:sp>
      <p:cxnSp>
        <p:nvCxnSpPr>
          <p:cNvPr id="24" name="Conector Angulado 23"/>
          <p:cNvCxnSpPr>
            <a:stCxn id="7" idx="3"/>
            <a:endCxn id="27" idx="2"/>
          </p:cNvCxnSpPr>
          <p:nvPr/>
        </p:nvCxnSpPr>
        <p:spPr>
          <a:xfrm flipV="1">
            <a:off x="6762227" y="2037461"/>
            <a:ext cx="977480" cy="55763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762227" y="1298797"/>
            <a:ext cx="19549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Mudança Planejada</a:t>
            </a:r>
          </a:p>
          <a:p>
            <a:pPr algn="ctr"/>
            <a:r>
              <a:rPr lang="pt-BR" sz="1400" dirty="0"/>
              <a:t>Terá mais 2 aprovadores</a:t>
            </a:r>
          </a:p>
          <a:p>
            <a:pPr algn="ctr"/>
            <a:r>
              <a:rPr lang="pt-BR" sz="1400" dirty="0"/>
              <a:t>Pode virar Projeto</a:t>
            </a:r>
          </a:p>
        </p:txBody>
      </p:sp>
    </p:spTree>
    <p:extLst>
      <p:ext uri="{BB962C8B-B14F-4D97-AF65-F5344CB8AC3E}">
        <p14:creationId xmlns:p14="http://schemas.microsoft.com/office/powerpoint/2010/main" val="209197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780105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Evolução T2R - Classificação de Resolução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694691"/>
            <a:ext cx="9144000" cy="4453572"/>
          </a:xfrm>
          <a:prstGeom prst="rect">
            <a:avLst/>
          </a:prstGeom>
        </p:spPr>
        <p:txBody>
          <a:bodyPr vert="horz" lIns="360000" tIns="360000" rIns="360000" bIns="36000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b="1" dirty="0">
                <a:latin typeface="Eras Medium ITC" pitchFamily="34" charset="0"/>
              </a:rPr>
              <a:t>Categorização de Resolução</a:t>
            </a:r>
            <a:endParaRPr lang="pt-BR" sz="1400" dirty="0">
              <a:latin typeface="Eras Medium ITC" pitchFamily="34" charset="0"/>
            </a:endParaRPr>
          </a:p>
          <a:p>
            <a:pPr marL="447675" lvl="1" indent="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dirty="0">
                <a:latin typeface="Eras Medium ITC" pitchFamily="34" charset="0"/>
              </a:rPr>
              <a:t> </a:t>
            </a:r>
          </a:p>
          <a:p>
            <a:pPr marL="447675" lvl="1" indent="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dirty="0">
                <a:latin typeface="Eras Medium ITC" pitchFamily="34" charset="0"/>
              </a:rPr>
              <a:t>Falhas e impactos devem ser identificados no encerramento da </a:t>
            </a:r>
            <a:r>
              <a:rPr lang="pt-BR" sz="1400" dirty="0" err="1">
                <a:latin typeface="Eras Medium ITC" pitchFamily="34" charset="0"/>
              </a:rPr>
              <a:t>Gmud</a:t>
            </a:r>
            <a:r>
              <a:rPr lang="pt-BR" sz="1400" dirty="0">
                <a:latin typeface="Eras Medium ITC" pitchFamily="34" charset="0"/>
              </a:rPr>
              <a:t> e consolidados em relatórios para cobrança de justificativas e planos de ação evitando recorrência de falhas ou impactos.</a:t>
            </a:r>
          </a:p>
          <a:p>
            <a:pPr marL="447675" lvl="1" indent="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400" b="1" dirty="0">
                <a:solidFill>
                  <a:srgbClr val="00B050"/>
                </a:solidFill>
                <a:latin typeface="Eras Medium ITC" pitchFamily="34" charset="0"/>
              </a:rPr>
              <a:t>Sucesso sem Impacto </a:t>
            </a:r>
            <a:r>
              <a:rPr lang="pt-BR" sz="1400" dirty="0">
                <a:latin typeface="Eras Medium ITC" pitchFamily="34" charset="0"/>
              </a:rPr>
              <a:t>– Classificação esperada por Gerenciamento de Mudanças</a:t>
            </a: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400" b="1" dirty="0">
                <a:solidFill>
                  <a:srgbClr val="FF0000"/>
                </a:solidFill>
                <a:latin typeface="Eras Medium ITC" pitchFamily="34" charset="0"/>
              </a:rPr>
              <a:t>Sucesso com Impacto </a:t>
            </a:r>
            <a:r>
              <a:rPr lang="pt-BR" sz="1400" dirty="0">
                <a:latin typeface="Eras Medium ITC" pitchFamily="34" charset="0"/>
              </a:rPr>
              <a:t>– </a:t>
            </a:r>
            <a:r>
              <a:rPr lang="pt-BR" sz="1400" dirty="0" err="1">
                <a:latin typeface="Eras Medium ITC" pitchFamily="34" charset="0"/>
              </a:rPr>
              <a:t>Gmud</a:t>
            </a:r>
            <a:r>
              <a:rPr lang="pt-BR" sz="1400" dirty="0">
                <a:latin typeface="Eras Medium ITC" pitchFamily="34" charset="0"/>
              </a:rPr>
              <a:t> implementada com sucesso porém causou impacto, </a:t>
            </a:r>
            <a:r>
              <a:rPr lang="pt-BR" sz="1400" dirty="0" err="1">
                <a:latin typeface="Eras Medium ITC" pitchFamily="34" charset="0"/>
              </a:rPr>
              <a:t>Ex</a:t>
            </a:r>
            <a:r>
              <a:rPr lang="pt-BR" sz="1400" dirty="0">
                <a:latin typeface="Eras Medium ITC" pitchFamily="34" charset="0"/>
              </a:rPr>
              <a:t>: Excedeu janela de indisponibilidade.</a:t>
            </a: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400" b="1" dirty="0">
                <a:solidFill>
                  <a:srgbClr val="FF0000"/>
                </a:solidFill>
                <a:latin typeface="Eras Medium ITC" pitchFamily="34" charset="0"/>
              </a:rPr>
              <a:t>Falha sem Impacto </a:t>
            </a:r>
            <a:r>
              <a:rPr lang="pt-BR" sz="1400" dirty="0">
                <a:latin typeface="Eras Medium ITC" pitchFamily="34" charset="0"/>
              </a:rPr>
              <a:t>– </a:t>
            </a:r>
            <a:r>
              <a:rPr lang="pt-BR" sz="1400" dirty="0" err="1">
                <a:latin typeface="Eras Medium ITC" pitchFamily="34" charset="0"/>
              </a:rPr>
              <a:t>Gmud</a:t>
            </a:r>
            <a:r>
              <a:rPr lang="pt-BR" sz="1400" dirty="0">
                <a:latin typeface="Eras Medium ITC" pitchFamily="34" charset="0"/>
              </a:rPr>
              <a:t> não implementada sem impacto em ambiente de Produção: </a:t>
            </a:r>
            <a:r>
              <a:rPr lang="pt-BR" sz="1400" dirty="0" err="1">
                <a:latin typeface="Eras Medium ITC" pitchFamily="34" charset="0"/>
              </a:rPr>
              <a:t>Ex</a:t>
            </a:r>
            <a:r>
              <a:rPr lang="pt-BR" sz="1400" dirty="0">
                <a:latin typeface="Eras Medium ITC" pitchFamily="34" charset="0"/>
              </a:rPr>
              <a:t>: </a:t>
            </a:r>
            <a:r>
              <a:rPr lang="pt-BR" sz="1400" dirty="0" err="1">
                <a:latin typeface="Eras Medium ITC" pitchFamily="34" charset="0"/>
              </a:rPr>
              <a:t>Rollback</a:t>
            </a:r>
            <a:r>
              <a:rPr lang="pt-BR" sz="1400" dirty="0">
                <a:latin typeface="Eras Medium ITC" pitchFamily="34" charset="0"/>
              </a:rPr>
              <a:t> dentro da janela de Indisponibilidade.</a:t>
            </a: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400" b="1" dirty="0">
                <a:solidFill>
                  <a:srgbClr val="FF0000"/>
                </a:solidFill>
                <a:latin typeface="Eras Medium ITC" pitchFamily="34" charset="0"/>
              </a:rPr>
              <a:t>Falha com Impacto </a:t>
            </a:r>
            <a:r>
              <a:rPr lang="pt-BR" sz="1400" dirty="0">
                <a:latin typeface="Eras Medium ITC" pitchFamily="34" charset="0"/>
              </a:rPr>
              <a:t>– </a:t>
            </a:r>
            <a:r>
              <a:rPr lang="pt-BR" sz="1400" dirty="0" err="1">
                <a:latin typeface="Eras Medium ITC" pitchFamily="34" charset="0"/>
              </a:rPr>
              <a:t>Gmud</a:t>
            </a:r>
            <a:r>
              <a:rPr lang="pt-BR" sz="1400" dirty="0">
                <a:latin typeface="Eras Medium ITC" pitchFamily="34" charset="0"/>
              </a:rPr>
              <a:t> não implementada impactando ambiente de produção. </a:t>
            </a:r>
            <a:r>
              <a:rPr lang="pt-BR" sz="1400" dirty="0" err="1">
                <a:latin typeface="Eras Medium ITC" pitchFamily="34" charset="0"/>
              </a:rPr>
              <a:t>Ex</a:t>
            </a:r>
            <a:r>
              <a:rPr lang="pt-BR" sz="1400" dirty="0">
                <a:latin typeface="Eras Medium ITC" pitchFamily="34" charset="0"/>
              </a:rPr>
              <a:t>: Necessário </a:t>
            </a:r>
            <a:r>
              <a:rPr lang="pt-BR" sz="1400" dirty="0" err="1">
                <a:latin typeface="Eras Medium ITC" pitchFamily="34" charset="0"/>
              </a:rPr>
              <a:t>Rollback</a:t>
            </a:r>
            <a:r>
              <a:rPr lang="pt-BR" sz="1400" dirty="0">
                <a:latin typeface="Eras Medium ITC" pitchFamily="34" charset="0"/>
              </a:rPr>
              <a:t> excedendo janela de indisponibilidade</a:t>
            </a:r>
          </a:p>
        </p:txBody>
      </p:sp>
    </p:spTree>
    <p:extLst>
      <p:ext uri="{BB962C8B-B14F-4D97-AF65-F5344CB8AC3E}">
        <p14:creationId xmlns:p14="http://schemas.microsoft.com/office/powerpoint/2010/main" val="4228498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32738"/>
            <a:ext cx="9143999" cy="1426435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Evolução T2R</a:t>
            </a: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Comitê de Mudanças Presencial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4"/>
          <p:cNvSpPr txBox="1">
            <a:spLocks/>
          </p:cNvSpPr>
          <p:nvPr/>
        </p:nvSpPr>
        <p:spPr>
          <a:xfrm>
            <a:off x="0" y="1246245"/>
            <a:ext cx="9143999" cy="3924151"/>
          </a:xfrm>
          <a:prstGeom prst="rect">
            <a:avLst/>
          </a:prstGeom>
          <a:noFill/>
        </p:spPr>
        <p:txBody>
          <a:bodyPr wrap="square" lIns="360000" rIns="360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pt-BR" sz="1400" b="1" dirty="0">
                <a:latin typeface="Eras Medium ITC" pitchFamily="34" charset="0"/>
                <a:sym typeface="Helvetica Neue" charset="0"/>
              </a:rPr>
              <a:t>Objetivo</a:t>
            </a:r>
          </a:p>
          <a:p>
            <a:pPr marL="0" lvl="1" indent="0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pt-BR" sz="1400" dirty="0">
              <a:latin typeface="Eras Medium ITC" pitchFamily="34" charset="0"/>
              <a:sym typeface="Helvetica Neue" charset="0"/>
            </a:endParaRPr>
          </a:p>
          <a:p>
            <a:pPr marL="0" lvl="1" indent="0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pt-BR" sz="1400" dirty="0">
                <a:latin typeface="Eras Medium ITC" pitchFamily="34" charset="0"/>
                <a:sym typeface="Helvetica Neue" charset="0"/>
              </a:rPr>
              <a:t>O Comitê presencial fortalecerá a comunicação entre as áreas técnicas e processuais garantindo a participação de responsáveis por cada área técnica.</a:t>
            </a:r>
            <a:endParaRPr lang="pt-BR" sz="1000" i="1" dirty="0">
              <a:solidFill>
                <a:srgbClr val="004978"/>
              </a:solidFill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  <a:p>
            <a:pPr marL="0" lvl="1" indent="0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pt-BR" sz="1400" dirty="0">
                <a:latin typeface="Eras Medium ITC" pitchFamily="34" charset="0"/>
                <a:sym typeface="Helvetica Neue" charset="0"/>
              </a:rPr>
              <a:t>O Comitê discutirá todas as mudanças que foram executas, as emergenciais, as técnicas e a mudanças a serem executadas (Planejadas) afim de minimizar o impacto, passar o conhecimento da execução e responsáveis pela aprovação das mudanças.</a:t>
            </a:r>
          </a:p>
          <a:p>
            <a:pPr marL="0" lvl="1" indent="0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pt-BR" sz="1000" i="1" dirty="0">
              <a:solidFill>
                <a:srgbClr val="004978"/>
              </a:solidFill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  <a:p>
            <a:pPr marL="0" lvl="1" indent="0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pt-BR" sz="1400" b="1" dirty="0">
                <a:latin typeface="Eras Medium ITC" pitchFamily="34" charset="0"/>
                <a:sym typeface="Helvetica Neue" charset="0"/>
              </a:rPr>
              <a:t>Responsabilidades do Comitê</a:t>
            </a:r>
          </a:p>
          <a:p>
            <a:pPr marL="0" lvl="1" indent="0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pt-BR" sz="1400" b="1" dirty="0">
              <a:latin typeface="Eras Medium ITC" pitchFamily="34" charset="0"/>
              <a:sym typeface="Helvetica Neue" charset="0"/>
            </a:endParaRPr>
          </a:p>
          <a:p>
            <a:pPr marL="0" lvl="1" indent="177791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sz="1400" i="1" dirty="0"/>
              <a:t>Revisar as mudanças aprovadas;</a:t>
            </a:r>
          </a:p>
          <a:p>
            <a:pPr marL="0" lvl="1" indent="177791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sz="1400" i="1" dirty="0"/>
              <a:t>Avaliar alternativas para redução do impacto / risco;</a:t>
            </a:r>
          </a:p>
          <a:p>
            <a:pPr marL="0" lvl="1" indent="177791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sz="1400" i="1" dirty="0"/>
              <a:t>Discutir a viabilidade de recursos para implementação da mudança;</a:t>
            </a:r>
          </a:p>
          <a:p>
            <a:pPr marL="0" lvl="1" indent="177791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sz="1400" i="1" dirty="0"/>
              <a:t>Avaliar a melhor janela para implementação da mudança requerida;</a:t>
            </a:r>
          </a:p>
          <a:p>
            <a:pPr marL="0" lvl="1" indent="177791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sz="1400" i="1" dirty="0"/>
              <a:t>Aprovar/rejeitar, em fórum específico, as solicitações de mudança;</a:t>
            </a:r>
          </a:p>
          <a:p>
            <a:pPr marL="0" lvl="1" indent="177791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sz="1400" i="1" dirty="0"/>
              <a:t>Definir as prioridades quanto a execução das mudanças</a:t>
            </a:r>
            <a:endParaRPr lang="pt-BR" sz="1000" i="1" dirty="0"/>
          </a:p>
          <a:p>
            <a:pPr marL="0" lvl="1" indent="0" algn="just" fontAlgn="base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pt-BR" sz="1000" i="1" dirty="0">
              <a:solidFill>
                <a:srgbClr val="004978"/>
              </a:solidFill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71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780105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Evolução T2R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 – 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Homologação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0" y="1139054"/>
            <a:ext cx="9144000" cy="4152415"/>
          </a:xfrm>
          <a:prstGeom prst="rect">
            <a:avLst/>
          </a:prstGeom>
        </p:spPr>
        <p:txBody>
          <a:bodyPr wrap="square" lIns="360000" tIns="180000" rIns="360000" bIns="360000">
            <a:spAutoFit/>
          </a:bodyPr>
          <a:lstStyle/>
          <a:p>
            <a:pPr marL="0" lvl="1" algn="just" defTabSz="685800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</a:pPr>
            <a:r>
              <a:rPr lang="pt-BR" sz="1400" dirty="0">
                <a:latin typeface="Eras Medium ITC" pitchFamily="34" charset="0"/>
              </a:rPr>
              <a:t>O ambiente de homologação é utilizado para testar as funcionalidades do sistema que serão posteriormente colocadas em produção ou refeitas, caso não ocorra à aprovação por parte do Gerenciamento de Mudanças ou do CCM.</a:t>
            </a:r>
          </a:p>
          <a:p>
            <a:pPr marL="0" lvl="1" algn="just" defTabSz="685800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</a:pPr>
            <a:r>
              <a:rPr lang="pt-BR" sz="1400" dirty="0">
                <a:latin typeface="Eras Medium ITC" pitchFamily="34" charset="0"/>
              </a:rPr>
              <a:t>Por maior que seja o investimento na criação de um ambiente de homologação, um sistema terá um custo de manutenção muito menor se tiver suas falhas detectadas nas fases de desenvolvimento, teste e homologação comparado ao impacto que causará com ações corretivas aplicadas em produção.</a:t>
            </a:r>
          </a:p>
          <a:p>
            <a:pPr marL="285750" lvl="1" indent="-285750" algn="just" defTabSz="685800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</a:rPr>
              <a:t>Identificação inicial dos serviço e priorização.</a:t>
            </a:r>
          </a:p>
          <a:p>
            <a:pPr marL="285750" lvl="1" indent="-285750" algn="just" defTabSz="685800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</a:rPr>
              <a:t>Identificação de infraestrutura necessária para Criar ambiente de Homologação.</a:t>
            </a:r>
          </a:p>
          <a:p>
            <a:pPr marL="285750" lvl="1" indent="-285750" algn="just" defTabSz="685800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</a:rPr>
              <a:t>Identificar ativos e licenças que podem ser aproveitados.</a:t>
            </a:r>
          </a:p>
          <a:p>
            <a:pPr marL="285750" lvl="1" indent="-285750" algn="just" defTabSz="685800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</a:rPr>
              <a:t>Planejamento da implementação em produção (através de </a:t>
            </a:r>
            <a:r>
              <a:rPr lang="pt-BR" sz="1400" dirty="0" err="1">
                <a:latin typeface="Eras Medium ITC" pitchFamily="34" charset="0"/>
              </a:rPr>
              <a:t>Gmud</a:t>
            </a:r>
            <a:r>
              <a:rPr lang="pt-BR" sz="1400" dirty="0">
                <a:latin typeface="Eras Medium ITC" pitchFamily="34" charset="0"/>
              </a:rPr>
              <a:t>)</a:t>
            </a:r>
          </a:p>
          <a:p>
            <a:pPr marL="285750" lvl="1" indent="-285750" algn="just" defTabSz="685800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</a:rPr>
              <a:t>Operação em produção (ambientes de homologação estão em produção e podem sofrer incidentes, mudanças ou necessitarem de gerenciamento e problemas.)</a:t>
            </a:r>
          </a:p>
        </p:txBody>
      </p:sp>
    </p:spTree>
    <p:extLst>
      <p:ext uri="{BB962C8B-B14F-4D97-AF65-F5344CB8AC3E}">
        <p14:creationId xmlns:p14="http://schemas.microsoft.com/office/powerpoint/2010/main" val="2239383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780105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Evolução T2R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 –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</a:rPr>
              <a:t>KPI`s</a:t>
            </a:r>
            <a:endParaRPr lang="pt-BR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4"/>
          <p:cNvSpPr txBox="1">
            <a:spLocks/>
          </p:cNvSpPr>
          <p:nvPr/>
        </p:nvSpPr>
        <p:spPr>
          <a:xfrm>
            <a:off x="0" y="1143770"/>
            <a:ext cx="9143999" cy="1980029"/>
          </a:xfrm>
          <a:prstGeom prst="rect">
            <a:avLst/>
          </a:prstGeom>
          <a:noFill/>
        </p:spPr>
        <p:txBody>
          <a:bodyPr wrap="square" lIns="360000" rIns="360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>
              <a:latin typeface="Eras Medium ITC" pitchFamily="34" charset="0"/>
              <a:sym typeface="Helvetica Neue" charset="0"/>
            </a:endParaRPr>
          </a:p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  <a:sym typeface="Helvetica Neue" charset="0"/>
              </a:rPr>
              <a:t>Controle de presença nos comitês (por área).</a:t>
            </a:r>
          </a:p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  <a:sym typeface="Helvetica Neue" charset="0"/>
              </a:rPr>
              <a:t>Controle de status de encerramento por área.</a:t>
            </a:r>
          </a:p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  <a:sym typeface="Helvetica Neue" charset="0"/>
              </a:rPr>
              <a:t>Controle de Mudanças implementadas sem registro de </a:t>
            </a:r>
            <a:r>
              <a:rPr lang="pt-BR" sz="1400" dirty="0" err="1">
                <a:latin typeface="Eras Medium ITC" pitchFamily="34" charset="0"/>
                <a:sym typeface="Helvetica Neue" charset="0"/>
              </a:rPr>
              <a:t>GMud</a:t>
            </a:r>
            <a:r>
              <a:rPr lang="pt-BR" sz="1400" dirty="0">
                <a:latin typeface="Eras Medium ITC" pitchFamily="34" charset="0"/>
                <a:sym typeface="Helvetica Neue" charset="0"/>
              </a:rPr>
              <a:t>..</a:t>
            </a:r>
          </a:p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>
              <a:latin typeface="Eras Medium ITC" pitchFamily="34" charset="0"/>
              <a:sym typeface="Helvetica Neue" charset="0"/>
            </a:endParaRPr>
          </a:p>
        </p:txBody>
      </p:sp>
      <p:sp>
        <p:nvSpPr>
          <p:cNvPr id="5" name="Espaço Reservado para Conteúdo 4"/>
          <p:cNvSpPr txBox="1">
            <a:spLocks/>
          </p:cNvSpPr>
          <p:nvPr/>
        </p:nvSpPr>
        <p:spPr>
          <a:xfrm>
            <a:off x="-1" y="1143770"/>
            <a:ext cx="9143999" cy="1551194"/>
          </a:xfrm>
          <a:prstGeom prst="rect">
            <a:avLst/>
          </a:prstGeom>
          <a:noFill/>
        </p:spPr>
        <p:txBody>
          <a:bodyPr wrap="square" lIns="360000" rIns="360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>
              <a:latin typeface="Eras Medium ITC" pitchFamily="34" charset="0"/>
              <a:sym typeface="Helvetica Neue" charset="0"/>
            </a:endParaRPr>
          </a:p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  <a:sym typeface="Helvetica Neue" charset="0"/>
              </a:rPr>
              <a:t>Controle de presença nos comitês (por área).</a:t>
            </a:r>
          </a:p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  <a:sym typeface="Helvetica Neue" charset="0"/>
              </a:rPr>
              <a:t>Controle de status de encerramento por área.</a:t>
            </a:r>
          </a:p>
          <a:p>
            <a:pPr marL="171450" lvl="1" algn="just" fontAlgn="base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latin typeface="Eras Medium ITC" pitchFamily="34" charset="0"/>
                <a:sym typeface="Helvetica Neue" charset="0"/>
              </a:rPr>
              <a:t>Controle de Mudanças implementadas sem registro de </a:t>
            </a:r>
            <a:r>
              <a:rPr lang="pt-BR" sz="1400" dirty="0" err="1">
                <a:latin typeface="Eras Medium ITC" pitchFamily="34" charset="0"/>
                <a:sym typeface="Helvetica Neue" charset="0"/>
              </a:rPr>
              <a:t>GMud</a:t>
            </a:r>
            <a:endParaRPr lang="pt-BR" sz="1400" dirty="0">
              <a:latin typeface="Eras Medium ITC" pitchFamily="34" charset="0"/>
              <a:sym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599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3226928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Considerações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 Classificação de Risco 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Classificação de Resolução 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 Comitê de Mudanças Presencial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 Planejamento de ambiente de Homologação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400" dirty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558991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425118"/>
            <a:ext cx="9143999" cy="1057103"/>
          </a:xfrm>
          <a:prstGeom prst="rect">
            <a:avLst/>
          </a:prstGeom>
          <a:noFill/>
        </p:spPr>
        <p:txBody>
          <a:bodyPr wrap="square" lIns="360000" tIns="46800" rIns="360000" bIns="360000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Ações definidas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148001"/>
              </p:ext>
            </p:extLst>
          </p:nvPr>
        </p:nvGraphicFramePr>
        <p:xfrm>
          <a:off x="244364" y="1350163"/>
          <a:ext cx="8647388" cy="3526797"/>
        </p:xfrm>
        <a:graphic>
          <a:graphicData uri="http://schemas.openxmlformats.org/drawingml/2006/table">
            <a:tbl>
              <a:tblPr/>
              <a:tblGrid>
                <a:gridCol w="39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97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Ações definidas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Responsável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Levantar se o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Jira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Demandas será utilizado para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Gmud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Kiss</a:t>
                      </a:r>
                    </a:p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Cris </a:t>
                      </a:r>
                      <a:r>
                        <a:rPr lang="pt-BR" sz="1000" b="0" i="0" u="none" strike="noStrike" kern="1200" dirty="0" err="1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Sazaki</a:t>
                      </a: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Verificar possibilidade de gerenciar mudanças através do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Tprocess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.</a:t>
                      </a: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Kiss</a:t>
                      </a:r>
                    </a:p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Alexandre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 Moraes</a:t>
                      </a: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871058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Analisar documentações de Demandas com Cristiane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Sazaki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para validar fluxograma T2R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Kiss</a:t>
                      </a:r>
                    </a:p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Cris </a:t>
                      </a:r>
                      <a:r>
                        <a:rPr lang="pt-BR" sz="1000" b="0" i="0" u="none" strike="noStrike" kern="1200" dirty="0" err="1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Sazaki</a:t>
                      </a: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209784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Verificar disponibilidade de Ativos e Configuração para construção de ambiente de Homologação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Kiss</a:t>
                      </a:r>
                    </a:p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Veloso, Silvio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Vial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e Nelson Klaus </a:t>
                      </a: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613176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Verificar capacidade de recursos de Gerenciamento de Mudanças para aumento de demanda.</a:t>
                      </a:r>
                    </a:p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Identificar quantidade de Mudanças que passarão de Projetos para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Gmud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</a:t>
                      </a:r>
                      <a:r>
                        <a:rPr lang="pt-BR" sz="1000" b="0" i="0" u="none" strike="noStrike" kern="1200" dirty="0" err="1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kiss</a:t>
                      </a: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Cris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Sazaki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, Milene Jorge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173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056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469664"/>
              </p:ext>
            </p:extLst>
          </p:nvPr>
        </p:nvGraphicFramePr>
        <p:xfrm>
          <a:off x="244364" y="695895"/>
          <a:ext cx="8655270" cy="4186361"/>
        </p:xfrm>
        <a:graphic>
          <a:graphicData uri="http://schemas.openxmlformats.org/drawingml/2006/table">
            <a:tbl>
              <a:tblPr/>
              <a:tblGrid>
                <a:gridCol w="393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3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97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Ações definidas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Responsável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Solicitar alterações propostas na ferramenta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eGmud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 Kiss</a:t>
                      </a:r>
                    </a:p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 err="1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Adalton</a:t>
                      </a: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 Lima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Definir usuários autorizados para abertura de </a:t>
                      </a: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Germud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Thomas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 Kiss</a:t>
                      </a:r>
                    </a:p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 err="1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Marilice</a:t>
                      </a: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 de Oliveira</a:t>
                      </a:r>
                    </a:p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kern="1200" baseline="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+mn-cs"/>
                        </a:rPr>
                        <a:t>Daniel Donaire</a:t>
                      </a: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871058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baseline="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209784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baseline="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613176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baseline="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173434"/>
                  </a:ext>
                </a:extLst>
              </a:tr>
              <a:tr h="6595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latin typeface="Verdana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0" algn="l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baseline="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1" indent="76200" algn="ctr" defTabSz="48610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0" u="none" strike="noStrike" kern="12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116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25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0" y="235003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557836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17517</TotalTime>
  <Words>892</Words>
  <Application>Microsoft Office PowerPoint</Application>
  <PresentationFormat>Personalizar</PresentationFormat>
  <Paragraphs>229</Paragraphs>
  <Slides>17</Slides>
  <Notes>16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8" baseType="lpstr">
      <vt:lpstr>Arial</vt:lpstr>
      <vt:lpstr>Calibri</vt:lpstr>
      <vt:lpstr>Eras Medium ITC</vt:lpstr>
      <vt:lpstr>Helvetica Neue</vt:lpstr>
      <vt:lpstr>Verdana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Kiss</cp:lastModifiedBy>
  <cp:revision>854</cp:revision>
  <dcterms:created xsi:type="dcterms:W3CDTF">2015-08-20T14:57:26Z</dcterms:created>
  <dcterms:modified xsi:type="dcterms:W3CDTF">2016-04-18T20:46:11Z</dcterms:modified>
</cp:coreProperties>
</file>