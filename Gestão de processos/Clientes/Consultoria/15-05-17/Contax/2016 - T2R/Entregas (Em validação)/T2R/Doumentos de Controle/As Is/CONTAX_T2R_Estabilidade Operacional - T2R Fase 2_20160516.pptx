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8"/>
  </p:notesMasterIdLst>
  <p:sldIdLst>
    <p:sldId id="262" r:id="rId5"/>
    <p:sldId id="279" r:id="rId6"/>
    <p:sldId id="289" r:id="rId7"/>
    <p:sldId id="288" r:id="rId8"/>
    <p:sldId id="290" r:id="rId9"/>
    <p:sldId id="284" r:id="rId10"/>
    <p:sldId id="293" r:id="rId11"/>
    <p:sldId id="313" r:id="rId12"/>
    <p:sldId id="319" r:id="rId13"/>
    <p:sldId id="316" r:id="rId14"/>
    <p:sldId id="314" r:id="rId15"/>
    <p:sldId id="315" r:id="rId16"/>
    <p:sldId id="320" r:id="rId17"/>
    <p:sldId id="305" r:id="rId18"/>
    <p:sldId id="300" r:id="rId19"/>
    <p:sldId id="299" r:id="rId20"/>
    <p:sldId id="301" r:id="rId21"/>
    <p:sldId id="317" r:id="rId22"/>
    <p:sldId id="318" r:id="rId23"/>
    <p:sldId id="292" r:id="rId24"/>
    <p:sldId id="294" r:id="rId25"/>
    <p:sldId id="295" r:id="rId26"/>
    <p:sldId id="296" r:id="rId27"/>
    <p:sldId id="298" r:id="rId28"/>
    <p:sldId id="304" r:id="rId29"/>
    <p:sldId id="311" r:id="rId30"/>
    <p:sldId id="312" r:id="rId31"/>
    <p:sldId id="306" r:id="rId32"/>
    <p:sldId id="308" r:id="rId33"/>
    <p:sldId id="309" r:id="rId34"/>
    <p:sldId id="310" r:id="rId35"/>
    <p:sldId id="307" r:id="rId36"/>
    <p:sldId id="297" r:id="rId3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2A3"/>
    <a:srgbClr val="FFD0B9"/>
    <a:srgbClr val="CCCC00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3809" autoAdjust="0"/>
  </p:normalViewPr>
  <p:slideViewPr>
    <p:cSldViewPr snapToGrid="0" snapToObjects="1">
      <p:cViewPr varScale="1">
        <p:scale>
          <a:sx n="110" d="100"/>
          <a:sy n="110" d="100"/>
        </p:scale>
        <p:origin x="984" y="110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28/04/2016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52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64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556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01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4/28/2016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4/28/2016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4/28/2016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4/28/2016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4/28/2016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4/28/2016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4/28/2016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4/28/2016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4/28/2016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4/28/2016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4/28/2016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4/28/2016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1.emf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image" Target="../media/image1.emf"/><Relationship Id="rId21" Type="http://schemas.openxmlformats.org/officeDocument/2006/relationships/image" Target="../media/image13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6" Type="http://schemas.openxmlformats.org/officeDocument/2006/relationships/diagramQuickStyle" Target="../diagrams/quickStyle6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19" Type="http://schemas.openxmlformats.org/officeDocument/2006/relationships/image" Target="../media/image11.png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emf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T2R – Transition to Run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março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 com a obtenção de resultados rentáveis (APICS).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Situação Atual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2059007" y="3787319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1199481375"/>
              </p:ext>
            </p:extLst>
          </p:nvPr>
        </p:nvGraphicFramePr>
        <p:xfrm>
          <a:off x="1815642" y="3412983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833314" y="1168003"/>
            <a:ext cx="1762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Demandas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3508667" y="4281820"/>
            <a:ext cx="4851796" cy="635688"/>
            <a:chOff x="3508667" y="4225176"/>
            <a:chExt cx="4851796" cy="635688"/>
          </a:xfrm>
        </p:grpSpPr>
        <p:sp>
          <p:nvSpPr>
            <p:cNvPr id="19" name="Divisa 18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0" name="Divisa 19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1" name="Divisa 20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2" name="Divisa 21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344468" y="1168005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6" name="Diagrama 25"/>
            <p:cNvGraphicFramePr/>
            <p:nvPr>
              <p:extLst>
                <p:ext uri="{D42A27DB-BD31-4B8C-83A1-F6EECF244321}">
                  <p14:modId xmlns:p14="http://schemas.microsoft.com/office/powerpoint/2010/main" val="1391695476"/>
                </p:ext>
              </p:extLst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27" name="Divisa 26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sp>
        <p:nvSpPr>
          <p:cNvPr id="29" name="Fluxograma: Operação Manual 28"/>
          <p:cNvSpPr/>
          <p:nvPr/>
        </p:nvSpPr>
        <p:spPr>
          <a:xfrm>
            <a:off x="464629" y="4155031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81883" y="1168005"/>
            <a:ext cx="2263043" cy="2781639"/>
            <a:chOff x="581883" y="1168005"/>
            <a:chExt cx="2263043" cy="2781639"/>
          </a:xfrm>
        </p:grpSpPr>
        <p:graphicFrame>
          <p:nvGraphicFramePr>
            <p:cNvPr id="16" name="Diagrama 15"/>
            <p:cNvGraphicFramePr/>
            <p:nvPr>
              <p:extLst>
                <p:ext uri="{D42A27DB-BD31-4B8C-83A1-F6EECF244321}">
                  <p14:modId xmlns:p14="http://schemas.microsoft.com/office/powerpoint/2010/main" val="4112541409"/>
                </p:ext>
              </p:extLst>
            </p:nvPr>
          </p:nvGraphicFramePr>
          <p:xfrm>
            <a:off x="581883" y="1168005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sp>
          <p:nvSpPr>
            <p:cNvPr id="30" name="Seta para Baixo 29"/>
            <p:cNvSpPr/>
            <p:nvPr/>
          </p:nvSpPr>
          <p:spPr>
            <a:xfrm rot="2039608">
              <a:off x="1086066" y="3785351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riângulo Retângulo 30"/>
          <p:cNvSpPr/>
          <p:nvPr/>
        </p:nvSpPr>
        <p:spPr>
          <a:xfrm rot="10800000">
            <a:off x="245598" y="634757"/>
            <a:ext cx="8514839" cy="4486235"/>
          </a:xfrm>
          <a:prstGeom prst="rtTriangle">
            <a:avLst/>
          </a:prstGeom>
          <a:solidFill>
            <a:schemeClr val="accent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riângulo Retângulo 31"/>
          <p:cNvSpPr/>
          <p:nvPr/>
        </p:nvSpPr>
        <p:spPr>
          <a:xfrm>
            <a:off x="245598" y="616510"/>
            <a:ext cx="8514839" cy="4486235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/>
          <p:cNvGrpSpPr/>
          <p:nvPr/>
        </p:nvGrpSpPr>
        <p:grpSpPr>
          <a:xfrm>
            <a:off x="2813532" y="2417396"/>
            <a:ext cx="3530936" cy="926725"/>
            <a:chOff x="2813532" y="2360752"/>
            <a:chExt cx="3530936" cy="926725"/>
          </a:xfrm>
        </p:grpSpPr>
        <p:sp>
          <p:nvSpPr>
            <p:cNvPr id="34" name="CaixaDeTexto 33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25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Transition to Run – T2R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331386" y="1015547"/>
            <a:ext cx="8473947" cy="163859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de vida de uma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por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 negócio até as atualizações em componentes tecnológicos pelas equipes de TI até sua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12" name="Agrupar 11"/>
          <p:cNvGrpSpPr/>
          <p:nvPr/>
        </p:nvGrpSpPr>
        <p:grpSpPr>
          <a:xfrm>
            <a:off x="38100" y="2835860"/>
            <a:ext cx="8976360" cy="2145801"/>
            <a:chOff x="320039" y="1026318"/>
            <a:chExt cx="10560966" cy="2524602"/>
          </a:xfrm>
        </p:grpSpPr>
        <p:cxnSp>
          <p:nvCxnSpPr>
            <p:cNvPr id="13" name="Conector reto 12"/>
            <p:cNvCxnSpPr/>
            <p:nvPr/>
          </p:nvCxnSpPr>
          <p:spPr>
            <a:xfrm>
              <a:off x="1771763" y="1272540"/>
              <a:ext cx="0" cy="215646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>
              <a:off x="3217488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4647976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>
              <a:off x="6093699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7533422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8979147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Seta para a Direita 18"/>
            <p:cNvSpPr/>
            <p:nvPr/>
          </p:nvSpPr>
          <p:spPr>
            <a:xfrm>
              <a:off x="320040" y="1237303"/>
              <a:ext cx="7157285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Seta para a Direita 19"/>
            <p:cNvSpPr/>
            <p:nvPr/>
          </p:nvSpPr>
          <p:spPr>
            <a:xfrm>
              <a:off x="7589520" y="1237303"/>
              <a:ext cx="1339528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 para a Direita 20"/>
            <p:cNvSpPr/>
            <p:nvPr/>
          </p:nvSpPr>
          <p:spPr>
            <a:xfrm>
              <a:off x="9029247" y="1237303"/>
              <a:ext cx="1339528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Seta para a Direita 21"/>
            <p:cNvSpPr/>
            <p:nvPr/>
          </p:nvSpPr>
          <p:spPr>
            <a:xfrm>
              <a:off x="4647974" y="1897380"/>
              <a:ext cx="4572225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Transição</a:t>
              </a:r>
            </a:p>
          </p:txBody>
        </p:sp>
        <p:sp>
          <p:nvSpPr>
            <p:cNvPr id="23" name="Seta para a Direita 22"/>
            <p:cNvSpPr/>
            <p:nvPr/>
          </p:nvSpPr>
          <p:spPr>
            <a:xfrm>
              <a:off x="320040" y="1310640"/>
              <a:ext cx="1451723" cy="388620"/>
            </a:xfrm>
            <a:prstGeom prst="rightArrow">
              <a:avLst>
                <a:gd name="adj1" fmla="val 50000"/>
                <a:gd name="adj2" fmla="val 97059"/>
              </a:avLst>
            </a:prstGeom>
            <a:solidFill>
              <a:srgbClr val="CCCC00">
                <a:alpha val="50196"/>
              </a:srgbClr>
            </a:solidFill>
            <a:ln>
              <a:solidFill>
                <a:srgbClr val="9966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Estratégia</a:t>
              </a:r>
            </a:p>
          </p:txBody>
        </p:sp>
        <p:sp>
          <p:nvSpPr>
            <p:cNvPr id="24" name="Seta para a Direita 23"/>
            <p:cNvSpPr/>
            <p:nvPr/>
          </p:nvSpPr>
          <p:spPr>
            <a:xfrm>
              <a:off x="1402080" y="1653540"/>
              <a:ext cx="3245895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rgbClr val="FFD0B9"/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Desenho</a:t>
              </a:r>
            </a:p>
          </p:txBody>
        </p:sp>
        <p:sp>
          <p:nvSpPr>
            <p:cNvPr id="25" name="Seta para a Direita 24"/>
            <p:cNvSpPr/>
            <p:nvPr/>
          </p:nvSpPr>
          <p:spPr>
            <a:xfrm>
              <a:off x="320040" y="2270760"/>
              <a:ext cx="7213381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solidFill>
                    <a:schemeClr val="tx1"/>
                  </a:solidFill>
                </a:rPr>
                <a:t>Envolvimento de transição e operação</a:t>
              </a:r>
            </a:p>
          </p:txBody>
        </p:sp>
        <p:sp>
          <p:nvSpPr>
            <p:cNvPr id="26" name="Seta para a Direita 25"/>
            <p:cNvSpPr/>
            <p:nvPr/>
          </p:nvSpPr>
          <p:spPr>
            <a:xfrm>
              <a:off x="8985140" y="1508760"/>
              <a:ext cx="1560939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Melhoria</a:t>
              </a:r>
            </a:p>
          </p:txBody>
        </p:sp>
        <p:sp>
          <p:nvSpPr>
            <p:cNvPr id="27" name="Seta para a Direita 26"/>
            <p:cNvSpPr/>
            <p:nvPr/>
          </p:nvSpPr>
          <p:spPr>
            <a:xfrm>
              <a:off x="320040" y="2481256"/>
              <a:ext cx="10492740" cy="1069664"/>
            </a:xfrm>
            <a:prstGeom prst="rightArrow">
              <a:avLst>
                <a:gd name="adj1" fmla="val 63066"/>
                <a:gd name="adj2" fmla="val 100980"/>
              </a:avLst>
            </a:prstGeom>
            <a:solidFill>
              <a:srgbClr val="FFC2A3">
                <a:alpha val="30196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endParaRPr lang="pt-B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Seta para a Direita 27"/>
            <p:cNvSpPr/>
            <p:nvPr/>
          </p:nvSpPr>
          <p:spPr>
            <a:xfrm>
              <a:off x="7577524" y="2270760"/>
              <a:ext cx="2968555" cy="388620"/>
            </a:xfrm>
            <a:prstGeom prst="rightArrow">
              <a:avLst>
                <a:gd name="adj1" fmla="val 50000"/>
                <a:gd name="adj2" fmla="val 97059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Operação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 flipH="1">
              <a:off x="320040" y="2661509"/>
              <a:ext cx="5767657" cy="28968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pt-BR" sz="1000" b="1" dirty="0"/>
                <a:t>Gerenciamento de Mudanças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 flipH="1">
              <a:off x="477985" y="2957986"/>
              <a:ext cx="1205168" cy="289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err="1"/>
                <a:t>Gmud</a:t>
              </a:r>
              <a:r>
                <a:rPr lang="pt-BR" sz="1000" dirty="0"/>
                <a:t> Liberada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 flipH="1">
              <a:off x="1716038" y="2873274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Desenho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 flipH="1">
              <a:off x="2984551" y="27816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Desenvolvimento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 flipH="1">
              <a:off x="4382179" y="2790111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Construção e Teste</a:t>
              </a:r>
            </a:p>
          </p:txBody>
        </p:sp>
        <p:sp>
          <p:nvSpPr>
            <p:cNvPr id="34" name="CaixaDeTexto 33"/>
            <p:cNvSpPr txBox="1"/>
            <p:nvPr/>
          </p:nvSpPr>
          <p:spPr>
            <a:xfrm flipH="1">
              <a:off x="5826284" y="27919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Implementação</a:t>
              </a:r>
            </a:p>
          </p:txBody>
        </p:sp>
        <p:sp>
          <p:nvSpPr>
            <p:cNvPr id="35" name="CaixaDeTexto 34"/>
            <p:cNvSpPr txBox="1"/>
            <p:nvPr/>
          </p:nvSpPr>
          <p:spPr>
            <a:xfrm flipH="1">
              <a:off x="7057855" y="2790111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Piloto de SLA</a:t>
              </a:r>
            </a:p>
          </p:txBody>
        </p:sp>
        <p:sp>
          <p:nvSpPr>
            <p:cNvPr id="36" name="CaixaDeTexto 35"/>
            <p:cNvSpPr txBox="1"/>
            <p:nvPr/>
          </p:nvSpPr>
          <p:spPr>
            <a:xfrm flipH="1">
              <a:off x="8289426" y="27919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Aceitação</a:t>
              </a:r>
            </a:p>
          </p:txBody>
        </p:sp>
        <p:sp>
          <p:nvSpPr>
            <p:cNvPr id="37" name="CaixaDeTexto 36"/>
            <p:cNvSpPr txBox="1"/>
            <p:nvPr/>
          </p:nvSpPr>
          <p:spPr>
            <a:xfrm flipH="1">
              <a:off x="9442901" y="278724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Revisão e Encerramento</a:t>
              </a:r>
            </a:p>
          </p:txBody>
        </p:sp>
        <p:sp>
          <p:nvSpPr>
            <p:cNvPr id="38" name="CaixaDeTexto 37"/>
            <p:cNvSpPr txBox="1"/>
            <p:nvPr/>
          </p:nvSpPr>
          <p:spPr>
            <a:xfrm flipH="1">
              <a:off x="9079347" y="1042047"/>
              <a:ext cx="1169553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Operação assistida</a:t>
              </a:r>
            </a:p>
          </p:txBody>
        </p:sp>
        <p:sp>
          <p:nvSpPr>
            <p:cNvPr id="39" name="CaixaDeTexto 38"/>
            <p:cNvSpPr txBox="1"/>
            <p:nvPr/>
          </p:nvSpPr>
          <p:spPr>
            <a:xfrm flipH="1">
              <a:off x="7458840" y="1042047"/>
              <a:ext cx="1669919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Início do Período de Suporte</a:t>
              </a:r>
            </a:p>
          </p:txBody>
        </p:sp>
        <p:sp>
          <p:nvSpPr>
            <p:cNvPr id="40" name="CaixaDeTexto 39"/>
            <p:cNvSpPr txBox="1"/>
            <p:nvPr/>
          </p:nvSpPr>
          <p:spPr>
            <a:xfrm flipH="1">
              <a:off x="320039" y="1026318"/>
              <a:ext cx="7207384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/>
                <a:t>Desenho e Desenvolvimento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226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- Visão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1362117" y="3775487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2677466656"/>
              </p:ext>
            </p:extLst>
          </p:nvPr>
        </p:nvGraphicFramePr>
        <p:xfrm>
          <a:off x="1280081" y="3387760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Fluxograma: Operação Manual 28"/>
          <p:cNvSpPr/>
          <p:nvPr/>
        </p:nvSpPr>
        <p:spPr>
          <a:xfrm>
            <a:off x="84954" y="4161300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14336" name="Agrupar 14335"/>
          <p:cNvGrpSpPr/>
          <p:nvPr/>
        </p:nvGrpSpPr>
        <p:grpSpPr>
          <a:xfrm>
            <a:off x="-33878" y="1043488"/>
            <a:ext cx="2263043" cy="2894323"/>
            <a:chOff x="-33878" y="1043488"/>
            <a:chExt cx="2263043" cy="2894323"/>
          </a:xfrm>
        </p:grpSpPr>
        <p:sp>
          <p:nvSpPr>
            <p:cNvPr id="17" name="CaixaDeTexto 16"/>
            <p:cNvSpPr txBox="1"/>
            <p:nvPr/>
          </p:nvSpPr>
          <p:spPr>
            <a:xfrm>
              <a:off x="217553" y="1043488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56" name="Agrupar 55"/>
            <p:cNvGrpSpPr/>
            <p:nvPr/>
          </p:nvGrpSpPr>
          <p:grpSpPr>
            <a:xfrm>
              <a:off x="-33878" y="1043490"/>
              <a:ext cx="2263043" cy="2894321"/>
              <a:chOff x="-33878" y="1043490"/>
              <a:chExt cx="2263043" cy="2894321"/>
            </a:xfrm>
            <a:noFill/>
          </p:grpSpPr>
          <p:graphicFrame>
            <p:nvGraphicFramePr>
              <p:cNvPr id="16" name="Diagrama 15"/>
              <p:cNvGraphicFramePr/>
              <p:nvPr>
                <p:extLst>
                  <p:ext uri="{D42A27DB-BD31-4B8C-83A1-F6EECF244321}">
                    <p14:modId xmlns:p14="http://schemas.microsoft.com/office/powerpoint/2010/main" val="1411755846"/>
                  </p:ext>
                </p:extLst>
              </p:nvPr>
            </p:nvGraphicFramePr>
            <p:xfrm>
              <a:off x="-33878" y="1043490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  <p:sp>
            <p:nvSpPr>
              <p:cNvPr id="30" name="Seta para Baixo 29"/>
              <p:cNvSpPr/>
              <p:nvPr/>
            </p:nvSpPr>
            <p:spPr>
              <a:xfrm rot="2039608">
                <a:off x="487553" y="377351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aphicFrame>
        <p:nvGraphicFramePr>
          <p:cNvPr id="26" name="Diagrama 25"/>
          <p:cNvGraphicFramePr/>
          <p:nvPr>
            <p:extLst>
              <p:ext uri="{D42A27DB-BD31-4B8C-83A1-F6EECF244321}">
                <p14:modId xmlns:p14="http://schemas.microsoft.com/office/powerpoint/2010/main" val="1032659477"/>
              </p:ext>
            </p:extLst>
          </p:nvPr>
        </p:nvGraphicFramePr>
        <p:xfrm>
          <a:off x="2176371" y="2017039"/>
          <a:ext cx="1442317" cy="1349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36" name="Seta para Baixo 35"/>
          <p:cNvSpPr/>
          <p:nvPr/>
        </p:nvSpPr>
        <p:spPr>
          <a:xfrm rot="12341683">
            <a:off x="2621040" y="3519515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3225735" y="1038833"/>
            <a:ext cx="2038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Mudanças</a:t>
            </a:r>
          </a:p>
        </p:txBody>
      </p:sp>
      <p:grpSp>
        <p:nvGrpSpPr>
          <p:cNvPr id="59" name="Agrupar 58"/>
          <p:cNvGrpSpPr/>
          <p:nvPr/>
        </p:nvGrpSpPr>
        <p:grpSpPr>
          <a:xfrm>
            <a:off x="5556884" y="846548"/>
            <a:ext cx="2335535" cy="1151906"/>
            <a:chOff x="6250304" y="884648"/>
            <a:chExt cx="2335535" cy="1151906"/>
          </a:xfrm>
        </p:grpSpPr>
        <p:sp>
          <p:nvSpPr>
            <p:cNvPr id="41" name="CaixaDeTexto 40"/>
            <p:cNvSpPr txBox="1"/>
            <p:nvPr/>
          </p:nvSpPr>
          <p:spPr>
            <a:xfrm>
              <a:off x="6250304" y="1140909"/>
              <a:ext cx="1265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6">
                      <a:lumMod val="75000"/>
                    </a:schemeClr>
                  </a:solidFill>
                </a:rPr>
                <a:t>Mudança Menor</a:t>
              </a:r>
            </a:p>
          </p:txBody>
        </p:sp>
        <p:grpSp>
          <p:nvGrpSpPr>
            <p:cNvPr id="46" name="Agrupar 45"/>
            <p:cNvGrpSpPr/>
            <p:nvPr/>
          </p:nvGrpSpPr>
          <p:grpSpPr>
            <a:xfrm>
              <a:off x="7557040" y="884648"/>
              <a:ext cx="1028799" cy="1151906"/>
              <a:chOff x="7357235" y="928289"/>
              <a:chExt cx="1028799" cy="1151906"/>
            </a:xfrm>
          </p:grpSpPr>
          <p:pic>
            <p:nvPicPr>
              <p:cNvPr id="14344" name="Picture 8" descr="https://cdn3.iconfinder.com/data/icons/seo-accessibility-usability-2-1/256/Flow_Diagram-512.png"/>
              <p:cNvPicPr>
                <a:picLocks noChangeAspect="1" noChangeArrowheads="1"/>
              </p:cNvPicPr>
              <p:nvPr/>
            </p:nvPicPr>
            <p:blipFill>
              <a:blip r:embed="rId1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68" y="928289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CaixaDeTexto 50"/>
              <p:cNvSpPr txBox="1"/>
              <p:nvPr/>
            </p:nvSpPr>
            <p:spPr>
              <a:xfrm>
                <a:off x="7357235" y="1773813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Workflow</a:t>
                </a: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5409272" y="2282489"/>
            <a:ext cx="2490692" cy="1022005"/>
            <a:chOff x="6102692" y="2320589"/>
            <a:chExt cx="2490692" cy="1022005"/>
          </a:xfrm>
        </p:grpSpPr>
        <p:sp>
          <p:nvSpPr>
            <p:cNvPr id="42" name="CaixaDeTexto 41"/>
            <p:cNvSpPr txBox="1"/>
            <p:nvPr/>
          </p:nvSpPr>
          <p:spPr>
            <a:xfrm>
              <a:off x="6102692" y="2539205"/>
              <a:ext cx="1586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4">
                      <a:lumMod val="75000"/>
                    </a:schemeClr>
                  </a:solidFill>
                </a:rPr>
                <a:t>Mudança Significativa</a:t>
              </a:r>
            </a:p>
          </p:txBody>
        </p:sp>
        <p:grpSp>
          <p:nvGrpSpPr>
            <p:cNvPr id="47" name="Agrupar 46"/>
            <p:cNvGrpSpPr/>
            <p:nvPr/>
          </p:nvGrpSpPr>
          <p:grpSpPr>
            <a:xfrm>
              <a:off x="7564585" y="2320589"/>
              <a:ext cx="1028799" cy="1022005"/>
              <a:chOff x="7357235" y="2355115"/>
              <a:chExt cx="1028799" cy="1022005"/>
            </a:xfrm>
          </p:grpSpPr>
          <p:pic>
            <p:nvPicPr>
              <p:cNvPr id="14340" name="Picture 4" descr="http://www.ecoleduparc.fr/A21/images/icones/icon_6219_512px.png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70" y="2355115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ixaDeTexto 52"/>
              <p:cNvSpPr txBox="1"/>
              <p:nvPr/>
            </p:nvSpPr>
            <p:spPr>
              <a:xfrm>
                <a:off x="7357235" y="3070738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4">
                        <a:lumMod val="75000"/>
                      </a:schemeClr>
                    </a:solidFill>
                  </a:rPr>
                  <a:t>Comitê</a:t>
                </a:r>
              </a:p>
            </p:txBody>
          </p:sp>
        </p:grpSp>
      </p:grpSp>
      <p:grpSp>
        <p:nvGrpSpPr>
          <p:cNvPr id="61" name="Agrupar 60"/>
          <p:cNvGrpSpPr/>
          <p:nvPr/>
        </p:nvGrpSpPr>
        <p:grpSpPr>
          <a:xfrm>
            <a:off x="5506135" y="3756711"/>
            <a:ext cx="2827112" cy="1300117"/>
            <a:chOff x="6199555" y="3794811"/>
            <a:chExt cx="2827112" cy="1300117"/>
          </a:xfrm>
        </p:grpSpPr>
        <p:sp>
          <p:nvSpPr>
            <p:cNvPr id="23" name="CaixaDeTexto 22"/>
            <p:cNvSpPr txBox="1"/>
            <p:nvPr/>
          </p:nvSpPr>
          <p:spPr>
            <a:xfrm>
              <a:off x="6199555" y="3996399"/>
              <a:ext cx="1376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C00000"/>
                  </a:solidFill>
                </a:rPr>
                <a:t>Mudança Maior</a:t>
              </a:r>
            </a:p>
          </p:txBody>
        </p:sp>
        <p:grpSp>
          <p:nvGrpSpPr>
            <p:cNvPr id="48" name="Agrupar 47"/>
            <p:cNvGrpSpPr/>
            <p:nvPr/>
          </p:nvGrpSpPr>
          <p:grpSpPr>
            <a:xfrm>
              <a:off x="7131301" y="3794811"/>
              <a:ext cx="1895366" cy="1300117"/>
              <a:chOff x="7016219" y="3737300"/>
              <a:chExt cx="1895366" cy="1300117"/>
            </a:xfrm>
          </p:grpSpPr>
          <p:pic>
            <p:nvPicPr>
              <p:cNvPr id="14346" name="Picture 10" descr="https://upload.wikimedia.org/wikipedia/commons/thumb/a/a3/HEB_project_flow_icon_02_charts_and_calendar.svg/1024px-HEB_project_flow_icon_02_charts_and_calendar.svg.png"/>
              <p:cNvPicPr>
                <a:picLocks noChangeAspect="1" noChangeArrowheads="1"/>
              </p:cNvPicPr>
              <p:nvPr/>
            </p:nvPicPr>
            <p:blipFill>
              <a:blip r:embed="rId21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782" y="3737300"/>
                <a:ext cx="990240" cy="990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CaixaDeTexto 54"/>
              <p:cNvSpPr txBox="1"/>
              <p:nvPr/>
            </p:nvSpPr>
            <p:spPr>
              <a:xfrm>
                <a:off x="7016219" y="4698863"/>
                <a:ext cx="18953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Gestão de Projetos</a:t>
                </a:r>
              </a:p>
            </p:txBody>
          </p:sp>
        </p:grpSp>
      </p:grpSp>
      <p:grpSp>
        <p:nvGrpSpPr>
          <p:cNvPr id="58" name="Agrupar 57"/>
          <p:cNvGrpSpPr/>
          <p:nvPr/>
        </p:nvGrpSpPr>
        <p:grpSpPr>
          <a:xfrm>
            <a:off x="4865706" y="1287776"/>
            <a:ext cx="613659" cy="3091011"/>
            <a:chOff x="5559126" y="1325876"/>
            <a:chExt cx="613659" cy="3091011"/>
          </a:xfrm>
        </p:grpSpPr>
        <p:sp>
          <p:nvSpPr>
            <p:cNvPr id="5" name="Seta Dobrada 4"/>
            <p:cNvSpPr/>
            <p:nvPr/>
          </p:nvSpPr>
          <p:spPr>
            <a:xfrm>
              <a:off x="5559126" y="1325876"/>
              <a:ext cx="537826" cy="883998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Dobrada 37"/>
            <p:cNvSpPr/>
            <p:nvPr/>
          </p:nvSpPr>
          <p:spPr>
            <a:xfrm flipV="1">
              <a:off x="5559126" y="3514822"/>
              <a:ext cx="537826" cy="902065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rgbClr val="C000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 para a Direita 51"/>
            <p:cNvSpPr/>
            <p:nvPr/>
          </p:nvSpPr>
          <p:spPr>
            <a:xfrm>
              <a:off x="5559126" y="2709031"/>
              <a:ext cx="613659" cy="26730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4" name="Retângulo Arredondado 53"/>
          <p:cNvSpPr/>
          <p:nvPr/>
        </p:nvSpPr>
        <p:spPr>
          <a:xfrm>
            <a:off x="3734663" y="2528603"/>
            <a:ext cx="1015068" cy="557277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CRITÉRIOS OBJETVOS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7957925" y="846548"/>
            <a:ext cx="792754" cy="4132622"/>
            <a:chOff x="7957925" y="846548"/>
            <a:chExt cx="792754" cy="4132622"/>
          </a:xfrm>
        </p:grpSpPr>
        <p:sp>
          <p:nvSpPr>
            <p:cNvPr id="39" name="Retângulo Arredondado 38"/>
            <p:cNvSpPr/>
            <p:nvPr/>
          </p:nvSpPr>
          <p:spPr>
            <a:xfrm>
              <a:off x="8362123" y="846548"/>
              <a:ext cx="388556" cy="413262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REVISÃO PÓS-IMPLEMENTAÇÃO</a:t>
              </a:r>
            </a:p>
          </p:txBody>
        </p:sp>
        <p:sp>
          <p:nvSpPr>
            <p:cNvPr id="44" name="Seta para Baixo 43"/>
            <p:cNvSpPr/>
            <p:nvPr/>
          </p:nvSpPr>
          <p:spPr>
            <a:xfrm rot="17535232">
              <a:off x="7927374" y="1819709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Seta para Baixo 44"/>
            <p:cNvSpPr/>
            <p:nvPr/>
          </p:nvSpPr>
          <p:spPr>
            <a:xfrm rot="13912365">
              <a:off x="7927374" y="3726888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Seta para Baixo 48"/>
            <p:cNvSpPr/>
            <p:nvPr/>
          </p:nvSpPr>
          <p:spPr>
            <a:xfrm rot="16200000">
              <a:off x="7945574" y="279080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7440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583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Esboço de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as-is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Projetos X Mudanças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14" name="Conector reto 13"/>
          <p:cNvCxnSpPr/>
          <p:nvPr/>
        </p:nvCxnSpPr>
        <p:spPr>
          <a:xfrm flipV="1">
            <a:off x="0" y="2951018"/>
            <a:ext cx="9144000" cy="1385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51075" y="691951"/>
            <a:ext cx="1929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50000"/>
                  </a:schemeClr>
                </a:solidFill>
              </a:rPr>
              <a:t>Gerenciamento de Projetos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51075" y="2985171"/>
            <a:ext cx="2059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Gerenciamento de Mudanças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542" y="1392323"/>
            <a:ext cx="716815" cy="716815"/>
          </a:xfrm>
          <a:prstGeom prst="rect">
            <a:avLst/>
          </a:prstGeom>
        </p:spPr>
      </p:pic>
      <p:grpSp>
        <p:nvGrpSpPr>
          <p:cNvPr id="30" name="Agrupar 29"/>
          <p:cNvGrpSpPr/>
          <p:nvPr/>
        </p:nvGrpSpPr>
        <p:grpSpPr>
          <a:xfrm>
            <a:off x="187600" y="913232"/>
            <a:ext cx="8686951" cy="2034045"/>
            <a:chOff x="187600" y="913232"/>
            <a:chExt cx="8686951" cy="2034045"/>
          </a:xfrm>
        </p:grpSpPr>
        <p:grpSp>
          <p:nvGrpSpPr>
            <p:cNvPr id="95" name="Agrupar 94"/>
            <p:cNvGrpSpPr/>
            <p:nvPr/>
          </p:nvGrpSpPr>
          <p:grpSpPr>
            <a:xfrm>
              <a:off x="6405601" y="931754"/>
              <a:ext cx="1408257" cy="1890214"/>
              <a:chOff x="992331" y="925224"/>
              <a:chExt cx="1408257" cy="1890214"/>
            </a:xfrm>
          </p:grpSpPr>
          <p:sp>
            <p:nvSpPr>
              <p:cNvPr id="96" name="Retângulo 95"/>
              <p:cNvSpPr/>
              <p:nvPr/>
            </p:nvSpPr>
            <p:spPr>
              <a:xfrm>
                <a:off x="992331" y="925224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Alexandre Anjos</a:t>
                </a:r>
              </a:p>
              <a:p>
                <a:pPr algn="ctr"/>
                <a:r>
                  <a:rPr lang="pt-BR" sz="1200" dirty="0"/>
                  <a:t>Gestor de Filas</a:t>
                </a:r>
              </a:p>
            </p:txBody>
          </p:sp>
          <p:sp>
            <p:nvSpPr>
              <p:cNvPr id="98" name="CaixaDeTexto 97"/>
              <p:cNvSpPr txBox="1"/>
              <p:nvPr/>
            </p:nvSpPr>
            <p:spPr>
              <a:xfrm>
                <a:off x="1124105" y="2107552"/>
                <a:ext cx="11298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Insere projeto na fila do executante conforme prioridade </a:t>
                </a:r>
              </a:p>
            </p:txBody>
          </p:sp>
        </p:grpSp>
        <p:grpSp>
          <p:nvGrpSpPr>
            <p:cNvPr id="4" name="Agrupar 3"/>
            <p:cNvGrpSpPr/>
            <p:nvPr/>
          </p:nvGrpSpPr>
          <p:grpSpPr>
            <a:xfrm>
              <a:off x="187600" y="1134605"/>
              <a:ext cx="894943" cy="1611166"/>
              <a:chOff x="187600" y="961425"/>
              <a:chExt cx="894943" cy="1611166"/>
            </a:xfrm>
          </p:grpSpPr>
          <p:pic>
            <p:nvPicPr>
              <p:cNvPr id="84" name="Imagem 8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19" y="1262073"/>
                <a:ext cx="602673" cy="602673"/>
              </a:xfrm>
              <a:prstGeom prst="rect">
                <a:avLst/>
              </a:prstGeom>
            </p:spPr>
          </p:pic>
          <p:sp>
            <p:nvSpPr>
              <p:cNvPr id="85" name="CaixaDeTexto 84"/>
              <p:cNvSpPr txBox="1"/>
              <p:nvPr/>
            </p:nvSpPr>
            <p:spPr>
              <a:xfrm>
                <a:off x="187600" y="1864705"/>
                <a:ext cx="8949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Registra requisição de serviço no </a:t>
                </a:r>
                <a:r>
                  <a:rPr lang="pt-BR" sz="1000" dirty="0" err="1"/>
                  <a:t>TProcess</a:t>
                </a:r>
                <a:endParaRPr lang="pt-BR" sz="1000" dirty="0"/>
              </a:p>
            </p:txBody>
          </p:sp>
          <p:sp>
            <p:nvSpPr>
              <p:cNvPr id="86" name="Retângulo 85"/>
              <p:cNvSpPr/>
              <p:nvPr/>
            </p:nvSpPr>
            <p:spPr>
              <a:xfrm>
                <a:off x="273988" y="961425"/>
                <a:ext cx="72216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Usuário</a:t>
                </a:r>
              </a:p>
            </p:txBody>
          </p:sp>
        </p:grpSp>
        <p:grpSp>
          <p:nvGrpSpPr>
            <p:cNvPr id="6" name="Agrupar 5"/>
            <p:cNvGrpSpPr/>
            <p:nvPr/>
          </p:nvGrpSpPr>
          <p:grpSpPr>
            <a:xfrm>
              <a:off x="992331" y="980641"/>
              <a:ext cx="1408257" cy="1954050"/>
              <a:chOff x="992331" y="980641"/>
              <a:chExt cx="1408257" cy="1954050"/>
            </a:xfrm>
          </p:grpSpPr>
          <p:sp>
            <p:nvSpPr>
              <p:cNvPr id="67" name="Retângulo 66"/>
              <p:cNvSpPr/>
              <p:nvPr/>
            </p:nvSpPr>
            <p:spPr>
              <a:xfrm>
                <a:off x="992331" y="980641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Bruno Guerra</a:t>
                </a:r>
              </a:p>
              <a:p>
                <a:pPr algn="ctr"/>
                <a:r>
                  <a:rPr lang="pt-BR" sz="1200" dirty="0"/>
                  <a:t>Demandas</a:t>
                </a:r>
              </a:p>
            </p:txBody>
          </p:sp>
          <p:pic>
            <p:nvPicPr>
              <p:cNvPr id="2" name="Imagem 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1742" y="1425379"/>
                <a:ext cx="629434" cy="629434"/>
              </a:xfrm>
              <a:prstGeom prst="rect">
                <a:avLst/>
              </a:prstGeom>
            </p:spPr>
          </p:pic>
          <p:sp>
            <p:nvSpPr>
              <p:cNvPr id="69" name="CaixaDeTexto 68"/>
              <p:cNvSpPr txBox="1"/>
              <p:nvPr/>
            </p:nvSpPr>
            <p:spPr>
              <a:xfrm>
                <a:off x="1124102" y="2072917"/>
                <a:ext cx="112904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Decide entre Projeto ou Requisição com estimativa de Prazo e Custo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2231797" y="1008225"/>
              <a:ext cx="1059271" cy="1686237"/>
              <a:chOff x="2245656" y="1008225"/>
              <a:chExt cx="1059271" cy="1686237"/>
            </a:xfrm>
          </p:grpSpPr>
          <p:sp>
            <p:nvSpPr>
              <p:cNvPr id="5" name="Retângulo 4"/>
              <p:cNvSpPr/>
              <p:nvPr/>
            </p:nvSpPr>
            <p:spPr>
              <a:xfrm>
                <a:off x="2245656" y="1008225"/>
                <a:ext cx="105927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Comitê de Priorização</a:t>
                </a:r>
              </a:p>
            </p:txBody>
          </p:sp>
          <p:pic>
            <p:nvPicPr>
              <p:cNvPr id="70" name="Imagem 6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8296" y="1425760"/>
                <a:ext cx="708681" cy="708681"/>
              </a:xfrm>
              <a:prstGeom prst="rect">
                <a:avLst/>
              </a:prstGeom>
            </p:spPr>
          </p:pic>
          <p:sp>
            <p:nvSpPr>
              <p:cNvPr id="87" name="CaixaDeTexto 86"/>
              <p:cNvSpPr txBox="1"/>
              <p:nvPr/>
            </p:nvSpPr>
            <p:spPr>
              <a:xfrm>
                <a:off x="2325565" y="2140464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Decide priorizar ou não o Projeto</a:t>
                </a:r>
              </a:p>
            </p:txBody>
          </p:sp>
        </p:grpSp>
        <p:grpSp>
          <p:nvGrpSpPr>
            <p:cNvPr id="88" name="Agrupar 87"/>
            <p:cNvGrpSpPr/>
            <p:nvPr/>
          </p:nvGrpSpPr>
          <p:grpSpPr>
            <a:xfrm>
              <a:off x="4214745" y="978469"/>
              <a:ext cx="1408257" cy="1800162"/>
              <a:chOff x="992331" y="980641"/>
              <a:chExt cx="1408257" cy="1800162"/>
            </a:xfrm>
          </p:grpSpPr>
          <p:sp>
            <p:nvSpPr>
              <p:cNvPr id="89" name="Retângulo 88"/>
              <p:cNvSpPr/>
              <p:nvPr/>
            </p:nvSpPr>
            <p:spPr>
              <a:xfrm>
                <a:off x="992331" y="980641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Bruno Guerra</a:t>
                </a:r>
              </a:p>
              <a:p>
                <a:pPr algn="ctr"/>
                <a:r>
                  <a:rPr lang="pt-BR" sz="1200" dirty="0"/>
                  <a:t>Demandas</a:t>
                </a:r>
              </a:p>
            </p:txBody>
          </p:sp>
          <p:pic>
            <p:nvPicPr>
              <p:cNvPr id="90" name="Imagem 8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1742" y="1425379"/>
                <a:ext cx="629434" cy="629434"/>
              </a:xfrm>
              <a:prstGeom prst="rect">
                <a:avLst/>
              </a:prstGeom>
            </p:spPr>
          </p:pic>
          <p:sp>
            <p:nvSpPr>
              <p:cNvPr id="91" name="CaixaDeTexto 90"/>
              <p:cNvSpPr txBox="1"/>
              <p:nvPr/>
            </p:nvSpPr>
            <p:spPr>
              <a:xfrm>
                <a:off x="1239913" y="2072917"/>
                <a:ext cx="8949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Aloca Projetos aos Líderes de Projetos de TI </a:t>
                </a:r>
              </a:p>
            </p:txBody>
          </p:sp>
        </p:grpSp>
        <p:grpSp>
          <p:nvGrpSpPr>
            <p:cNvPr id="25" name="Agrupar 24"/>
            <p:cNvGrpSpPr/>
            <p:nvPr/>
          </p:nvGrpSpPr>
          <p:grpSpPr>
            <a:xfrm>
              <a:off x="3378610" y="1092114"/>
              <a:ext cx="928588" cy="1542385"/>
              <a:chOff x="2312985" y="1120751"/>
              <a:chExt cx="928588" cy="1542385"/>
            </a:xfrm>
          </p:grpSpPr>
          <p:sp>
            <p:nvSpPr>
              <p:cNvPr id="10" name="Retângulo 9"/>
              <p:cNvSpPr/>
              <p:nvPr/>
            </p:nvSpPr>
            <p:spPr>
              <a:xfrm>
                <a:off x="2312985" y="1120751"/>
                <a:ext cx="92858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BR" sz="1200" dirty="0"/>
                  <a:t>Nara </a:t>
                </a:r>
                <a:r>
                  <a:rPr lang="pt-BR" sz="1200" dirty="0" err="1"/>
                  <a:t>Araujo</a:t>
                </a:r>
                <a:endParaRPr lang="pt-BR" sz="1200" dirty="0"/>
              </a:p>
            </p:txBody>
          </p:sp>
          <p:pic>
            <p:nvPicPr>
              <p:cNvPr id="12" name="Imagem 1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29959" y="1433008"/>
                <a:ext cx="691673" cy="691673"/>
              </a:xfrm>
              <a:prstGeom prst="rect">
                <a:avLst/>
              </a:prstGeom>
            </p:spPr>
          </p:pic>
          <p:sp>
            <p:nvSpPr>
              <p:cNvPr id="92" name="CaixaDeTexto 91"/>
              <p:cNvSpPr txBox="1"/>
              <p:nvPr/>
            </p:nvSpPr>
            <p:spPr>
              <a:xfrm>
                <a:off x="2334326" y="2109138"/>
                <a:ext cx="88116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Decisão de Go ou No-Go do Projeto</a:t>
                </a:r>
              </a:p>
            </p:txBody>
          </p:sp>
        </p:grpSp>
        <p:grpSp>
          <p:nvGrpSpPr>
            <p:cNvPr id="26" name="Agrupar 25"/>
            <p:cNvGrpSpPr/>
            <p:nvPr/>
          </p:nvGrpSpPr>
          <p:grpSpPr>
            <a:xfrm>
              <a:off x="5423835" y="913232"/>
              <a:ext cx="1273981" cy="2034045"/>
              <a:chOff x="5423835" y="913232"/>
              <a:chExt cx="1273981" cy="2034045"/>
            </a:xfrm>
          </p:grpSpPr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79868" y="1405211"/>
                <a:ext cx="675566" cy="675566"/>
              </a:xfrm>
              <a:prstGeom prst="rect">
                <a:avLst/>
              </a:prstGeom>
            </p:spPr>
          </p:pic>
          <p:sp>
            <p:nvSpPr>
              <p:cNvPr id="93" name="Retângulo 92"/>
              <p:cNvSpPr/>
              <p:nvPr/>
            </p:nvSpPr>
            <p:spPr>
              <a:xfrm>
                <a:off x="5430762" y="913232"/>
                <a:ext cx="1153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Líder de Projetos de TI</a:t>
                </a:r>
              </a:p>
            </p:txBody>
          </p:sp>
          <p:sp>
            <p:nvSpPr>
              <p:cNvPr id="94" name="CaixaDeTexto 93"/>
              <p:cNvSpPr txBox="1"/>
              <p:nvPr/>
            </p:nvSpPr>
            <p:spPr>
              <a:xfrm>
                <a:off x="5423835" y="2085503"/>
                <a:ext cx="1273981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err="1"/>
                  <a:t>Kickoff</a:t>
                </a:r>
                <a:r>
                  <a:rPr lang="pt-BR" sz="1000" dirty="0"/>
                  <a:t> com Solicitante e Acionamento do Gestor de Filas de Projeto</a:t>
                </a:r>
              </a:p>
            </p:txBody>
          </p:sp>
        </p:grpSp>
        <p:grpSp>
          <p:nvGrpSpPr>
            <p:cNvPr id="29" name="Agrupar 28"/>
            <p:cNvGrpSpPr/>
            <p:nvPr/>
          </p:nvGrpSpPr>
          <p:grpSpPr>
            <a:xfrm>
              <a:off x="7466294" y="1105600"/>
              <a:ext cx="1408257" cy="1764435"/>
              <a:chOff x="7466294" y="1105600"/>
              <a:chExt cx="1408257" cy="1764435"/>
            </a:xfrm>
          </p:grpSpPr>
          <p:pic>
            <p:nvPicPr>
              <p:cNvPr id="99" name="Imagem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7526" y="1453468"/>
                <a:ext cx="665536" cy="665536"/>
              </a:xfrm>
              <a:prstGeom prst="rect">
                <a:avLst/>
              </a:prstGeom>
            </p:spPr>
          </p:pic>
          <p:sp>
            <p:nvSpPr>
              <p:cNvPr id="100" name="Retângulo 99"/>
              <p:cNvSpPr/>
              <p:nvPr/>
            </p:nvSpPr>
            <p:spPr>
              <a:xfrm>
                <a:off x="7466294" y="1105600"/>
                <a:ext cx="1408257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  <p:sp>
            <p:nvSpPr>
              <p:cNvPr id="101" name="CaixaDeTexto 100"/>
              <p:cNvSpPr txBox="1"/>
              <p:nvPr/>
            </p:nvSpPr>
            <p:spPr>
              <a:xfrm>
                <a:off x="7587764" y="2162149"/>
                <a:ext cx="1183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Executa as ações planejadas através de requisição de Serviço ou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.</a:t>
                </a:r>
              </a:p>
            </p:txBody>
          </p:sp>
        </p:grpSp>
      </p:grpSp>
      <p:sp>
        <p:nvSpPr>
          <p:cNvPr id="102" name="Seta para a Direita 101"/>
          <p:cNvSpPr/>
          <p:nvPr/>
        </p:nvSpPr>
        <p:spPr>
          <a:xfrm>
            <a:off x="1075989" y="1664576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Seta para a Direita 102"/>
          <p:cNvSpPr/>
          <p:nvPr/>
        </p:nvSpPr>
        <p:spPr>
          <a:xfrm>
            <a:off x="2109523" y="168731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Seta para a Direita 103"/>
          <p:cNvSpPr/>
          <p:nvPr/>
        </p:nvSpPr>
        <p:spPr>
          <a:xfrm>
            <a:off x="3249918" y="1670628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Seta para a Direita 104"/>
          <p:cNvSpPr/>
          <p:nvPr/>
        </p:nvSpPr>
        <p:spPr>
          <a:xfrm>
            <a:off x="4287920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Seta para a Direita 105"/>
          <p:cNvSpPr/>
          <p:nvPr/>
        </p:nvSpPr>
        <p:spPr>
          <a:xfrm>
            <a:off x="5422920" y="1675187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Seta para a Direita 106"/>
          <p:cNvSpPr/>
          <p:nvPr/>
        </p:nvSpPr>
        <p:spPr>
          <a:xfrm>
            <a:off x="6431077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Seta para a Direita 107"/>
          <p:cNvSpPr/>
          <p:nvPr/>
        </p:nvSpPr>
        <p:spPr>
          <a:xfrm>
            <a:off x="7605713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2" name="Agrupar 21"/>
          <p:cNvGrpSpPr/>
          <p:nvPr/>
        </p:nvGrpSpPr>
        <p:grpSpPr>
          <a:xfrm>
            <a:off x="199146" y="3065776"/>
            <a:ext cx="7493253" cy="2011888"/>
            <a:chOff x="187600" y="3065776"/>
            <a:chExt cx="7493253" cy="2011888"/>
          </a:xfrm>
        </p:grpSpPr>
        <p:grpSp>
          <p:nvGrpSpPr>
            <p:cNvPr id="20" name="Agrupar 19"/>
            <p:cNvGrpSpPr/>
            <p:nvPr/>
          </p:nvGrpSpPr>
          <p:grpSpPr>
            <a:xfrm>
              <a:off x="187600" y="3250230"/>
              <a:ext cx="894943" cy="1575039"/>
              <a:chOff x="162995" y="3176988"/>
              <a:chExt cx="894943" cy="1575039"/>
            </a:xfrm>
          </p:grpSpPr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914" y="3609251"/>
                <a:ext cx="602673" cy="602673"/>
              </a:xfrm>
              <a:prstGeom prst="rect">
                <a:avLst/>
              </a:prstGeom>
            </p:spPr>
          </p:pic>
          <p:sp>
            <p:nvSpPr>
              <p:cNvPr id="18" name="CaixaDeTexto 17"/>
              <p:cNvSpPr txBox="1"/>
              <p:nvPr/>
            </p:nvSpPr>
            <p:spPr>
              <a:xfrm>
                <a:off x="162995" y="4198029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Registra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no </a:t>
                </a:r>
                <a:r>
                  <a:rPr lang="pt-BR" sz="1000" dirty="0" err="1"/>
                  <a:t>Egmud</a:t>
                </a:r>
                <a:endParaRPr lang="pt-BR" sz="1000" dirty="0"/>
              </a:p>
            </p:txBody>
          </p:sp>
          <p:sp>
            <p:nvSpPr>
              <p:cNvPr id="19" name="Retângulo 18"/>
              <p:cNvSpPr/>
              <p:nvPr/>
            </p:nvSpPr>
            <p:spPr>
              <a:xfrm>
                <a:off x="168033" y="3176988"/>
                <a:ext cx="8450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Usuário Solicitante</a:t>
                </a:r>
              </a:p>
            </p:txBody>
          </p:sp>
        </p:grpSp>
        <p:grpSp>
          <p:nvGrpSpPr>
            <p:cNvPr id="78" name="Agrupar 77"/>
            <p:cNvGrpSpPr/>
            <p:nvPr/>
          </p:nvGrpSpPr>
          <p:grpSpPr>
            <a:xfrm>
              <a:off x="3203347" y="3065776"/>
              <a:ext cx="1290994" cy="1708757"/>
              <a:chOff x="3203347" y="3038068"/>
              <a:chExt cx="1290994" cy="1708757"/>
            </a:xfrm>
          </p:grpSpPr>
          <p:sp>
            <p:nvSpPr>
              <p:cNvPr id="31" name="CaixaDeTexto 30"/>
              <p:cNvSpPr txBox="1"/>
              <p:nvPr/>
            </p:nvSpPr>
            <p:spPr>
              <a:xfrm>
                <a:off x="3397675" y="4346715"/>
                <a:ext cx="8949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Aprovam 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sp>
            <p:nvSpPr>
              <p:cNvPr id="32" name="Retângulo 31"/>
              <p:cNvSpPr/>
              <p:nvPr/>
            </p:nvSpPr>
            <p:spPr>
              <a:xfrm>
                <a:off x="3203347" y="3038068"/>
                <a:ext cx="12909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Gerentes dos especialistas e localidades</a:t>
                </a:r>
              </a:p>
            </p:txBody>
          </p:sp>
          <p:pic>
            <p:nvPicPr>
              <p:cNvPr id="51" name="Imagem 50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55759" y="3599008"/>
                <a:ext cx="805562" cy="805562"/>
              </a:xfrm>
              <a:prstGeom prst="rect">
                <a:avLst/>
              </a:prstGeom>
            </p:spPr>
          </p:pic>
        </p:grpSp>
        <p:grpSp>
          <p:nvGrpSpPr>
            <p:cNvPr id="76" name="Agrupar 75"/>
            <p:cNvGrpSpPr/>
            <p:nvPr/>
          </p:nvGrpSpPr>
          <p:grpSpPr>
            <a:xfrm>
              <a:off x="1195394" y="3366683"/>
              <a:ext cx="999750" cy="1454614"/>
              <a:chOff x="1195394" y="3338975"/>
              <a:chExt cx="999750" cy="1454614"/>
            </a:xfrm>
          </p:grpSpPr>
          <p:sp>
            <p:nvSpPr>
              <p:cNvPr id="23" name="CaixaDeTexto 22"/>
              <p:cNvSpPr txBox="1"/>
              <p:nvPr/>
            </p:nvSpPr>
            <p:spPr>
              <a:xfrm>
                <a:off x="1209401" y="4239591"/>
                <a:ext cx="96092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Realizam o Planejamento da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pic>
            <p:nvPicPr>
              <p:cNvPr id="49" name="Imagem 4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4124" y="3598725"/>
                <a:ext cx="665536" cy="665536"/>
              </a:xfrm>
              <a:prstGeom prst="rect">
                <a:avLst/>
              </a:prstGeom>
            </p:spPr>
          </p:pic>
          <p:sp>
            <p:nvSpPr>
              <p:cNvPr id="52" name="Retângulo 51"/>
              <p:cNvSpPr/>
              <p:nvPr/>
            </p:nvSpPr>
            <p:spPr>
              <a:xfrm>
                <a:off x="1195394" y="3338975"/>
                <a:ext cx="9997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</p:grpSp>
        <p:grpSp>
          <p:nvGrpSpPr>
            <p:cNvPr id="80" name="Agrupar 79"/>
            <p:cNvGrpSpPr/>
            <p:nvPr/>
          </p:nvGrpSpPr>
          <p:grpSpPr>
            <a:xfrm>
              <a:off x="5512484" y="3349434"/>
              <a:ext cx="999750" cy="1581701"/>
              <a:chOff x="5512484" y="3321726"/>
              <a:chExt cx="999750" cy="1581701"/>
            </a:xfrm>
          </p:grpSpPr>
          <p:sp>
            <p:nvSpPr>
              <p:cNvPr id="24" name="Retângulo 23"/>
              <p:cNvSpPr/>
              <p:nvPr/>
            </p:nvSpPr>
            <p:spPr>
              <a:xfrm>
                <a:off x="5512484" y="3321726"/>
                <a:ext cx="9997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  <p:sp>
            <p:nvSpPr>
              <p:cNvPr id="39" name="CaixaDeTexto 38"/>
              <p:cNvSpPr txBox="1"/>
              <p:nvPr/>
            </p:nvSpPr>
            <p:spPr>
              <a:xfrm>
                <a:off x="5547158" y="4349429"/>
                <a:ext cx="93421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Implementam  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e fazem a RPI</a:t>
                </a:r>
              </a:p>
            </p:txBody>
          </p:sp>
          <p:pic>
            <p:nvPicPr>
              <p:cNvPr id="53" name="Imagem 5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77048" y="3639623"/>
                <a:ext cx="665536" cy="665536"/>
              </a:xfrm>
              <a:prstGeom prst="rect">
                <a:avLst/>
              </a:prstGeom>
            </p:spPr>
          </p:pic>
        </p:grpSp>
        <p:grpSp>
          <p:nvGrpSpPr>
            <p:cNvPr id="79" name="Agrupar 78"/>
            <p:cNvGrpSpPr/>
            <p:nvPr/>
          </p:nvGrpSpPr>
          <p:grpSpPr>
            <a:xfrm>
              <a:off x="4342618" y="3205986"/>
              <a:ext cx="1189992" cy="1772598"/>
              <a:chOff x="4342618" y="3178278"/>
              <a:chExt cx="1189992" cy="1772598"/>
            </a:xfrm>
          </p:grpSpPr>
          <p:sp>
            <p:nvSpPr>
              <p:cNvPr id="35" name="CaixaDeTexto 34"/>
              <p:cNvSpPr txBox="1"/>
              <p:nvPr/>
            </p:nvSpPr>
            <p:spPr>
              <a:xfrm>
                <a:off x="4482839" y="4396878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Aprova Liberação da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sp>
            <p:nvSpPr>
              <p:cNvPr id="36" name="Retângulo 35"/>
              <p:cNvSpPr/>
              <p:nvPr/>
            </p:nvSpPr>
            <p:spPr>
              <a:xfrm>
                <a:off x="4342618" y="3178278"/>
                <a:ext cx="11899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Comitê de Mudanças</a:t>
                </a:r>
              </a:p>
            </p:txBody>
          </p:sp>
          <p:pic>
            <p:nvPicPr>
              <p:cNvPr id="55" name="Imagem 5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7075" y="3567476"/>
                <a:ext cx="846083" cy="846083"/>
              </a:xfrm>
              <a:prstGeom prst="rect">
                <a:avLst/>
              </a:prstGeom>
            </p:spPr>
          </p:pic>
        </p:grpSp>
        <p:grpSp>
          <p:nvGrpSpPr>
            <p:cNvPr id="77" name="Agrupar 76"/>
            <p:cNvGrpSpPr/>
            <p:nvPr/>
          </p:nvGrpSpPr>
          <p:grpSpPr>
            <a:xfrm>
              <a:off x="2145972" y="3222905"/>
              <a:ext cx="1258640" cy="1854759"/>
              <a:chOff x="2145972" y="3195197"/>
              <a:chExt cx="1258640" cy="1854759"/>
            </a:xfrm>
          </p:grpSpPr>
          <p:sp>
            <p:nvSpPr>
              <p:cNvPr id="27" name="CaixaDeTexto 26"/>
              <p:cNvSpPr txBox="1"/>
              <p:nvPr/>
            </p:nvSpPr>
            <p:spPr>
              <a:xfrm>
                <a:off x="2183878" y="4342070"/>
                <a:ext cx="12007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Valida as informações da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e envia para aprovação</a:t>
                </a:r>
              </a:p>
            </p:txBody>
          </p:sp>
          <p:sp>
            <p:nvSpPr>
              <p:cNvPr id="28" name="Retângulo 27"/>
              <p:cNvSpPr/>
              <p:nvPr/>
            </p:nvSpPr>
            <p:spPr>
              <a:xfrm>
                <a:off x="2145972" y="3195197"/>
                <a:ext cx="12586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Gerenciamento de Mudanças</a:t>
                </a:r>
              </a:p>
            </p:txBody>
          </p:sp>
          <p:grpSp>
            <p:nvGrpSpPr>
              <p:cNvPr id="63" name="Agrupar 62"/>
              <p:cNvGrpSpPr/>
              <p:nvPr/>
            </p:nvGrpSpPr>
            <p:grpSpPr>
              <a:xfrm>
                <a:off x="2379808" y="3581214"/>
                <a:ext cx="860328" cy="777490"/>
                <a:chOff x="2379808" y="3581214"/>
                <a:chExt cx="860328" cy="777490"/>
              </a:xfrm>
            </p:grpSpPr>
            <p:pic>
              <p:nvPicPr>
                <p:cNvPr id="56" name="Imagem 55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79808" y="3581214"/>
                  <a:ext cx="687090" cy="687090"/>
                </a:xfrm>
                <a:prstGeom prst="rect">
                  <a:avLst/>
                </a:prstGeom>
              </p:spPr>
            </p:pic>
            <p:pic>
              <p:nvPicPr>
                <p:cNvPr id="57" name="Imagem 56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5190" y="3783758"/>
                  <a:ext cx="574946" cy="57494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1" name="Agrupar 80"/>
            <p:cNvGrpSpPr/>
            <p:nvPr/>
          </p:nvGrpSpPr>
          <p:grpSpPr>
            <a:xfrm>
              <a:off x="6498703" y="3406891"/>
              <a:ext cx="1182150" cy="1379889"/>
              <a:chOff x="6591523" y="3175442"/>
              <a:chExt cx="1182150" cy="1379889"/>
            </a:xfrm>
          </p:grpSpPr>
          <p:sp>
            <p:nvSpPr>
              <p:cNvPr id="43" name="CaixaDeTexto 42"/>
              <p:cNvSpPr txBox="1"/>
              <p:nvPr/>
            </p:nvSpPr>
            <p:spPr>
              <a:xfrm>
                <a:off x="6613953" y="4155221"/>
                <a:ext cx="11597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Validam e finalizam 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.</a:t>
                </a:r>
              </a:p>
            </p:txBody>
          </p:sp>
          <p:sp>
            <p:nvSpPr>
              <p:cNvPr id="44" name="Retângulo 43"/>
              <p:cNvSpPr/>
              <p:nvPr/>
            </p:nvSpPr>
            <p:spPr>
              <a:xfrm>
                <a:off x="6591523" y="3175442"/>
                <a:ext cx="103590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pt-BR" sz="1200" dirty="0"/>
              </a:p>
            </p:txBody>
          </p:sp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5123" y="3483092"/>
                <a:ext cx="623958" cy="623958"/>
              </a:xfrm>
              <a:prstGeom prst="rect">
                <a:avLst/>
              </a:prstGeom>
            </p:spPr>
          </p:pic>
        </p:grpSp>
        <p:sp>
          <p:nvSpPr>
            <p:cNvPr id="65" name="Seta para a Direita 64"/>
            <p:cNvSpPr/>
            <p:nvPr/>
          </p:nvSpPr>
          <p:spPr>
            <a:xfrm>
              <a:off x="1112188" y="3867345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Seta para a Direita 65"/>
            <p:cNvSpPr/>
            <p:nvPr/>
          </p:nvSpPr>
          <p:spPr>
            <a:xfrm>
              <a:off x="2145722" y="389008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Seta para a Direita 67"/>
            <p:cNvSpPr/>
            <p:nvPr/>
          </p:nvSpPr>
          <p:spPr>
            <a:xfrm>
              <a:off x="3313825" y="3873397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Seta para a Direita 71"/>
            <p:cNvSpPr/>
            <p:nvPr/>
          </p:nvSpPr>
          <p:spPr>
            <a:xfrm>
              <a:off x="4268703" y="386924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Seta para a Direita 72"/>
            <p:cNvSpPr/>
            <p:nvPr/>
          </p:nvSpPr>
          <p:spPr>
            <a:xfrm>
              <a:off x="5459119" y="3877956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Seta para a Direita 73"/>
            <p:cNvSpPr/>
            <p:nvPr/>
          </p:nvSpPr>
          <p:spPr>
            <a:xfrm>
              <a:off x="6467276" y="386924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" name="Retângulo 114"/>
            <p:cNvSpPr/>
            <p:nvPr/>
          </p:nvSpPr>
          <p:spPr>
            <a:xfrm>
              <a:off x="6666445" y="3223696"/>
              <a:ext cx="8450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Usuário Solicitante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As-Is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Unificado. Projetos e Mudanças.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017"/>
          <a:stretch/>
        </p:blipFill>
        <p:spPr>
          <a:xfrm>
            <a:off x="151075" y="719659"/>
            <a:ext cx="8769405" cy="442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2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visão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897"/>
          <a:stretch/>
        </p:blipFill>
        <p:spPr>
          <a:xfrm>
            <a:off x="502920" y="719660"/>
            <a:ext cx="7955280" cy="44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visão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897"/>
          <a:stretch/>
        </p:blipFill>
        <p:spPr>
          <a:xfrm>
            <a:off x="502920" y="719660"/>
            <a:ext cx="7955280" cy="4428603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1517072" y="247476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17072" y="311380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144960" y="319173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29457" y="88011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3990617" y="1181455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91457" y="161058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" name="Elipse 12"/>
          <p:cNvSpPr/>
          <p:nvPr/>
        </p:nvSpPr>
        <p:spPr>
          <a:xfrm>
            <a:off x="6733817" y="153611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Elipse 13"/>
          <p:cNvSpPr/>
          <p:nvPr/>
        </p:nvSpPr>
        <p:spPr>
          <a:xfrm>
            <a:off x="2598697" y="221683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9" name="Retângulo 28"/>
          <p:cNvSpPr/>
          <p:nvPr/>
        </p:nvSpPr>
        <p:spPr>
          <a:xfrm>
            <a:off x="2478394" y="2146848"/>
            <a:ext cx="5649606" cy="8605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3861468" y="324574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3779520" y="3117764"/>
            <a:ext cx="3103234" cy="119515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3032114" y="1505264"/>
            <a:ext cx="5258446" cy="53118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Forma em L 34"/>
          <p:cNvSpPr/>
          <p:nvPr/>
        </p:nvSpPr>
        <p:spPr>
          <a:xfrm rot="5400000">
            <a:off x="2130115" y="-267645"/>
            <a:ext cx="2848636" cy="5072974"/>
          </a:xfrm>
          <a:prstGeom prst="corner">
            <a:avLst>
              <a:gd name="adj1" fmla="val 47986"/>
              <a:gd name="adj2" fmla="val 20862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89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Gestão de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Pré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Vendas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430"/>
          <a:stretch/>
        </p:blipFill>
        <p:spPr>
          <a:xfrm>
            <a:off x="76200" y="978740"/>
            <a:ext cx="8893224" cy="4169524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2784763" y="2325830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773360" y="3656351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Elipse 9"/>
          <p:cNvSpPr/>
          <p:nvPr/>
        </p:nvSpPr>
        <p:spPr>
          <a:xfrm>
            <a:off x="5680640" y="435129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" name="Elipse 11"/>
          <p:cNvSpPr/>
          <p:nvPr/>
        </p:nvSpPr>
        <p:spPr>
          <a:xfrm>
            <a:off x="7287491" y="261794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Elipse 12"/>
          <p:cNvSpPr/>
          <p:nvPr/>
        </p:nvSpPr>
        <p:spPr>
          <a:xfrm>
            <a:off x="6616977" y="2176893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" name="Elipse 13"/>
          <p:cNvSpPr/>
          <p:nvPr/>
        </p:nvSpPr>
        <p:spPr>
          <a:xfrm>
            <a:off x="8577857" y="229638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2478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Visão Gerenciamento de Mudanças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796"/>
          <a:stretch/>
        </p:blipFill>
        <p:spPr>
          <a:xfrm>
            <a:off x="274320" y="719659"/>
            <a:ext cx="8473440" cy="4428604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1442603" y="88519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37292" y="168124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" name="Elipse 8"/>
          <p:cNvSpPr/>
          <p:nvPr/>
        </p:nvSpPr>
        <p:spPr>
          <a:xfrm>
            <a:off x="3953440" y="208429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" name="Elipse 9"/>
          <p:cNvSpPr/>
          <p:nvPr/>
        </p:nvSpPr>
        <p:spPr>
          <a:xfrm>
            <a:off x="1579117" y="240282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3116857" y="285730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971550" y="430806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" name="Elipse 12"/>
          <p:cNvSpPr/>
          <p:nvPr/>
        </p:nvSpPr>
        <p:spPr>
          <a:xfrm>
            <a:off x="5286017" y="4457003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Elipse 13"/>
          <p:cNvSpPr/>
          <p:nvPr/>
        </p:nvSpPr>
        <p:spPr>
          <a:xfrm>
            <a:off x="2141497" y="3312385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6" name="Elipse 25"/>
          <p:cNvSpPr/>
          <p:nvPr/>
        </p:nvSpPr>
        <p:spPr>
          <a:xfrm>
            <a:off x="5360485" y="168124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2092960" y="3195320"/>
            <a:ext cx="6461760" cy="10312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/>
        </p:nvSpPr>
        <p:spPr>
          <a:xfrm>
            <a:off x="5207000" y="1691407"/>
            <a:ext cx="2519680" cy="66063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903594" y="4282011"/>
            <a:ext cx="6614806" cy="7454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903594" y="885198"/>
            <a:ext cx="3716897" cy="22320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605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Benefícios da visão T2R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0" y="779673"/>
            <a:ext cx="9144000" cy="2789134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Controle de todo ciclo de vida de uma demanda.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Documentação por etapas de todos os requisitos processuais e técnicos suportando precificação e implementação do serviço.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Melhor avaliação do custo da mudança. Antes de a mudança ser implementada deve ser avaliado o seu custo x benefício.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Aumento da visibilidade dentro das mudanças. Há um controle maior sobre a execução da mudança.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Menos Mudanças não planejadas, autorizadas e reparos de emergência.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Menos tempo para implementar cada Mudança por Urgência, Prioridade, Tipo de Mudança.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Menos Incidentes relacionados a Mudanças com falhas.</a:t>
            </a:r>
          </a:p>
        </p:txBody>
      </p:sp>
    </p:spTree>
    <p:extLst>
      <p:ext uri="{BB962C8B-B14F-4D97-AF65-F5344CB8AC3E}">
        <p14:creationId xmlns:p14="http://schemas.microsoft.com/office/powerpoint/2010/main" val="307665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Benefícios da visão T2R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0" y="919881"/>
            <a:ext cx="9144000" cy="911697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3498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694690"/>
            <a:ext cx="9144000" cy="2165350"/>
          </a:xfrm>
          <a:prstGeom prst="rect">
            <a:avLst/>
          </a:prstGeom>
        </p:spPr>
        <p:txBody>
          <a:bodyPr vert="horz" lIns="360000" tIns="360000" rIns="360000" bIns="36000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Categorização do Risco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Riscos associados devem ser avaliados e categorizados para prevenir interrupções para o negócio ou para a entrega de serviço.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Muitas organizações utilizam uma matriz simples para categorizar os riscos.</a:t>
            </a:r>
          </a:p>
          <a:p>
            <a:pPr marL="447675" lvl="1" indent="0" algn="just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/>
          </a:p>
          <a:p>
            <a:pPr indent="-698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 indent="-698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841752" y="2199677"/>
            <a:ext cx="7469128" cy="2745386"/>
            <a:chOff x="1352600" y="3425197"/>
            <a:chExt cx="7846576" cy="2884123"/>
          </a:xfrm>
        </p:grpSpPr>
        <p:sp>
          <p:nvSpPr>
            <p:cNvPr id="7" name="Retângulo 6"/>
            <p:cNvSpPr/>
            <p:nvPr/>
          </p:nvSpPr>
          <p:spPr bwMode="auto">
            <a:xfrm>
              <a:off x="1352600" y="3425197"/>
              <a:ext cx="1080120" cy="288412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sz="1600" b="1" dirty="0">
                  <a:latin typeface="+mn-lt"/>
                  <a:cs typeface="+mn-cs"/>
                </a:rPr>
                <a:t>Impacto da Mudança</a:t>
              </a: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2464972" y="5844926"/>
              <a:ext cx="6734069" cy="4643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>
                  <a:latin typeface="+mn-lt"/>
                  <a:cs typeface="+mn-cs"/>
                </a:rPr>
                <a:t>Probabilidade de interrupções</a:t>
              </a: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2464972" y="3425197"/>
              <a:ext cx="6734068" cy="42129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Impacto da Mudança \ Matriz de Categorização do Risco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0" name="Retângulo 9"/>
            <p:cNvSpPr/>
            <p:nvPr/>
          </p:nvSpPr>
          <p:spPr bwMode="auto">
            <a:xfrm>
              <a:off x="5843333" y="3880518"/>
              <a:ext cx="3355707" cy="9546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Alto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 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2</a:t>
              </a:r>
            </a:p>
          </p:txBody>
        </p:sp>
        <p:sp>
          <p:nvSpPr>
            <p:cNvPr id="11" name="Retângulo 10"/>
            <p:cNvSpPr/>
            <p:nvPr/>
          </p:nvSpPr>
          <p:spPr bwMode="auto">
            <a:xfrm>
              <a:off x="5843469" y="4867443"/>
              <a:ext cx="3355707" cy="9440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4</a:t>
              </a:r>
            </a:p>
          </p:txBody>
        </p:sp>
        <p:sp>
          <p:nvSpPr>
            <p:cNvPr id="12" name="Retângulo 11"/>
            <p:cNvSpPr/>
            <p:nvPr/>
          </p:nvSpPr>
          <p:spPr bwMode="auto">
            <a:xfrm>
              <a:off x="2464972" y="4867443"/>
              <a:ext cx="3355707" cy="9440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Baixo Impacto 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Alta Probabilidade</a:t>
              </a:r>
            </a:p>
            <a:p>
              <a:pPr algn="ctr"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3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Retângulo 12"/>
            <p:cNvSpPr/>
            <p:nvPr/>
          </p:nvSpPr>
          <p:spPr bwMode="auto">
            <a:xfrm>
              <a:off x="2464175" y="3879928"/>
              <a:ext cx="3355707" cy="9583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Alta Probabilidade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1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554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694690"/>
            <a:ext cx="9144000" cy="814070"/>
          </a:xfrm>
          <a:prstGeom prst="rect">
            <a:avLst/>
          </a:prstGeom>
        </p:spPr>
        <p:txBody>
          <a:bodyPr vert="horz" lIns="360000" tIns="360000" rIns="360000" bIns="36000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Priorizando Alterações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948690" y="1407197"/>
            <a:ext cx="6526530" cy="3545803"/>
            <a:chOff x="948690" y="1567217"/>
            <a:chExt cx="6526530" cy="3545803"/>
          </a:xfrm>
        </p:grpSpPr>
        <p:sp>
          <p:nvSpPr>
            <p:cNvPr id="6" name="Retângulo 5"/>
            <p:cNvSpPr/>
            <p:nvPr/>
          </p:nvSpPr>
          <p:spPr bwMode="auto">
            <a:xfrm>
              <a:off x="948690" y="1567217"/>
              <a:ext cx="2160270" cy="28444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Prioridade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7" name="Retângulo 6"/>
            <p:cNvSpPr/>
            <p:nvPr/>
          </p:nvSpPr>
          <p:spPr bwMode="auto">
            <a:xfrm>
              <a:off x="3131820" y="1567217"/>
              <a:ext cx="2160270" cy="284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Mudanças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5314950" y="1567218"/>
              <a:ext cx="2160270" cy="284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Reforço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948690" y="187201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Imediato</a:t>
              </a:r>
            </a:p>
          </p:txBody>
        </p:sp>
        <p:sp>
          <p:nvSpPr>
            <p:cNvPr id="13" name="Retângulo 12"/>
            <p:cNvSpPr/>
            <p:nvPr/>
          </p:nvSpPr>
          <p:spPr bwMode="auto">
            <a:xfrm>
              <a:off x="948690" y="268735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Alto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4" name="Retângulo 13"/>
            <p:cNvSpPr/>
            <p:nvPr/>
          </p:nvSpPr>
          <p:spPr bwMode="auto">
            <a:xfrm>
              <a:off x="948690" y="350269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Médio</a:t>
              </a:r>
            </a:p>
          </p:txBody>
        </p:sp>
        <p:sp>
          <p:nvSpPr>
            <p:cNvPr id="15" name="Retângulo 14"/>
            <p:cNvSpPr/>
            <p:nvPr/>
          </p:nvSpPr>
          <p:spPr bwMode="auto">
            <a:xfrm>
              <a:off x="948690" y="431803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Baixo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6" name="Retângulo 15"/>
            <p:cNvSpPr/>
            <p:nvPr/>
          </p:nvSpPr>
          <p:spPr bwMode="auto">
            <a:xfrm>
              <a:off x="3131820" y="1872016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envolvem alto risco, perda de receita ou requerem ação imediata.</a:t>
              </a:r>
              <a:endParaRPr kumimoji="0" lang="pt-BR" sz="12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7" name="Retângulo 16"/>
            <p:cNvSpPr/>
            <p:nvPr/>
          </p:nvSpPr>
          <p:spPr bwMode="auto">
            <a:xfrm>
              <a:off x="3131820" y="268735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tem impacto severo em usuários VIP ou grande número de usuários. </a:t>
              </a:r>
            </a:p>
          </p:txBody>
        </p:sp>
        <p:sp>
          <p:nvSpPr>
            <p:cNvPr id="18" name="Retângulo 17"/>
            <p:cNvSpPr/>
            <p:nvPr/>
          </p:nvSpPr>
          <p:spPr bwMode="auto">
            <a:xfrm>
              <a:off x="3131820" y="350269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não tem efeito severo mas demandam uma correção antes da próxima janela.</a:t>
              </a:r>
            </a:p>
          </p:txBody>
        </p:sp>
        <p:sp>
          <p:nvSpPr>
            <p:cNvPr id="19" name="Retângulo 18"/>
            <p:cNvSpPr/>
            <p:nvPr/>
          </p:nvSpPr>
          <p:spPr bwMode="auto">
            <a:xfrm>
              <a:off x="3131820" y="431803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necessárias, porém, podem aguardar a próxima janela de liberação.</a:t>
              </a:r>
            </a:p>
          </p:txBody>
        </p:sp>
        <p:sp>
          <p:nvSpPr>
            <p:cNvPr id="20" name="Retângulo 19"/>
            <p:cNvSpPr/>
            <p:nvPr/>
          </p:nvSpPr>
          <p:spPr bwMode="auto">
            <a:xfrm>
              <a:off x="5314950" y="1873323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N/A</a:t>
              </a:r>
            </a:p>
          </p:txBody>
        </p:sp>
        <p:sp>
          <p:nvSpPr>
            <p:cNvPr id="21" name="Retângulo 20"/>
            <p:cNvSpPr/>
            <p:nvPr/>
          </p:nvSpPr>
          <p:spPr bwMode="auto">
            <a:xfrm>
              <a:off x="5314950" y="268735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atendem cumprimentos legais ou oportunidades de mercado.</a:t>
              </a:r>
            </a:p>
          </p:txBody>
        </p:sp>
        <p:sp>
          <p:nvSpPr>
            <p:cNvPr id="22" name="Retângulo 21"/>
            <p:cNvSpPr/>
            <p:nvPr/>
          </p:nvSpPr>
          <p:spPr bwMode="auto">
            <a:xfrm>
              <a:off x="5314950" y="350269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Iniciativas que visam manter a continuidade dos negócios.</a:t>
              </a:r>
            </a:p>
          </p:txBody>
        </p:sp>
        <p:sp>
          <p:nvSpPr>
            <p:cNvPr id="23" name="Retângulo 22"/>
            <p:cNvSpPr/>
            <p:nvPr/>
          </p:nvSpPr>
          <p:spPr bwMode="auto">
            <a:xfrm>
              <a:off x="5314950" y="431803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reforçam a usabilidade de um serviço existente ou adiciona uma nova capacidade ao mesmo.</a:t>
              </a:r>
            </a:p>
          </p:txBody>
        </p:sp>
      </p:grpSp>
      <p:sp>
        <p:nvSpPr>
          <p:cNvPr id="24" name="CaixaDeTexto 23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</p:spTree>
    <p:extLst>
      <p:ext uri="{BB962C8B-B14F-4D97-AF65-F5344CB8AC3E}">
        <p14:creationId xmlns:p14="http://schemas.microsoft.com/office/powerpoint/2010/main" val="281503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311630" y="833377"/>
            <a:ext cx="8005733" cy="3900669"/>
            <a:chOff x="311630" y="833377"/>
            <a:chExt cx="8005733" cy="3900669"/>
          </a:xfrm>
        </p:grpSpPr>
        <p:sp>
          <p:nvSpPr>
            <p:cNvPr id="7" name="Retângulo 6"/>
            <p:cNvSpPr/>
            <p:nvPr/>
          </p:nvSpPr>
          <p:spPr bwMode="auto">
            <a:xfrm>
              <a:off x="311631" y="833377"/>
              <a:ext cx="2613927" cy="5718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b="1" dirty="0" err="1"/>
                <a:t>Mudançs</a:t>
              </a:r>
              <a:r>
                <a:rPr lang="pt-BR" sz="1600" b="1" dirty="0"/>
                <a:t> Padrão</a:t>
              </a:r>
            </a:p>
            <a:p>
              <a:pPr algn="ctr"/>
              <a:r>
                <a:rPr lang="pt-BR" sz="1600" b="1" dirty="0"/>
                <a:t>(</a:t>
              </a:r>
              <a:r>
                <a:rPr lang="pt-BR" sz="1600" b="1" dirty="0" err="1"/>
                <a:t>Pré</a:t>
              </a:r>
              <a:r>
                <a:rPr lang="pt-BR" sz="1600" b="1" dirty="0"/>
                <a:t>-autorizadas)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3020739" y="833377"/>
              <a:ext cx="2613927" cy="5718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b="1" dirty="0"/>
                <a:t>Mudança Normal</a:t>
              </a: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5703436" y="833377"/>
              <a:ext cx="2613927" cy="5718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b="1" dirty="0"/>
                <a:t>Mudança Emergencial</a:t>
              </a:r>
            </a:p>
          </p:txBody>
        </p:sp>
        <p:sp>
          <p:nvSpPr>
            <p:cNvPr id="10" name="Retângulo 9"/>
            <p:cNvSpPr/>
            <p:nvPr/>
          </p:nvSpPr>
          <p:spPr bwMode="auto">
            <a:xfrm>
              <a:off x="311630" y="1494020"/>
              <a:ext cx="2613927" cy="32400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400" dirty="0"/>
                <a:t>Mudança para um serviço ou infraestrutura </a:t>
              </a:r>
              <a:r>
                <a:rPr lang="pt-BR" sz="1400" dirty="0" err="1"/>
                <a:t>pré</a:t>
              </a:r>
              <a:r>
                <a:rPr lang="pt-BR" sz="1400" dirty="0"/>
                <a:t>-autorizado pelo Gerenciamento de Mudanças com procedimento aceito e estabelecido para fornecer uma exigência de mudança específica</a:t>
              </a:r>
            </a:p>
            <a:p>
              <a:pPr algn="ctr" eaLnBrk="0" hangingPunct="0"/>
              <a:endParaRPr lang="pt-BR" sz="1400" dirty="0"/>
            </a:p>
          </p:txBody>
        </p:sp>
        <p:sp>
          <p:nvSpPr>
            <p:cNvPr id="11" name="Retângulo 10"/>
            <p:cNvSpPr/>
            <p:nvPr/>
          </p:nvSpPr>
          <p:spPr bwMode="auto">
            <a:xfrm>
              <a:off x="3020738" y="1494020"/>
              <a:ext cx="2613927" cy="32400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400" dirty="0"/>
                <a:t>É iniciada por uma requisição do solicitante "Indivíduo ou grupo organizacional" que solicita a mudança.</a:t>
              </a:r>
            </a:p>
          </p:txBody>
        </p:sp>
        <p:sp>
          <p:nvSpPr>
            <p:cNvPr id="12" name="Retângulo 11"/>
            <p:cNvSpPr/>
            <p:nvPr/>
          </p:nvSpPr>
          <p:spPr bwMode="auto">
            <a:xfrm>
              <a:off x="5729845" y="1494020"/>
              <a:ext cx="2587517" cy="32400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400" dirty="0"/>
                <a:t>Algumas vezes é necessária e deve ser cuidadosamente desenhada e testada antes de ser utilizada, se possível, ou o impacto da mudança emergencial pode ser maior do que o “Incidente” original. Detalhes são frequentemente capturados em uma data posterior. O comitê consultivo de mudança emergencial (CCME) revisa estas mudanças.</a:t>
              </a:r>
            </a:p>
            <a:p>
              <a:pPr algn="ctr" eaLnBrk="0" hangingPunct="0"/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2118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Seta para baixo 6"/>
          <p:cNvSpPr>
            <a:spLocks noChangeArrowheads="1"/>
          </p:cNvSpPr>
          <p:nvPr/>
        </p:nvSpPr>
        <p:spPr bwMode="auto">
          <a:xfrm>
            <a:off x="1410291" y="2167671"/>
            <a:ext cx="228398" cy="2560539"/>
          </a:xfrm>
          <a:prstGeom prst="downArrow">
            <a:avLst>
              <a:gd name="adj1" fmla="val 50000"/>
              <a:gd name="adj2" fmla="val 49993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altLang="pt-BR" sz="1000" b="1"/>
          </a:p>
        </p:txBody>
      </p:sp>
      <p:sp>
        <p:nvSpPr>
          <p:cNvPr id="6" name="Seta para cima 8"/>
          <p:cNvSpPr>
            <a:spLocks noChangeArrowheads="1"/>
          </p:cNvSpPr>
          <p:nvPr/>
        </p:nvSpPr>
        <p:spPr bwMode="auto">
          <a:xfrm>
            <a:off x="3238998" y="2195546"/>
            <a:ext cx="245718" cy="2543219"/>
          </a:xfrm>
          <a:prstGeom prst="upArrow">
            <a:avLst>
              <a:gd name="adj1" fmla="val 50000"/>
              <a:gd name="adj2" fmla="val 49989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altLang="pt-BR" sz="800" b="1"/>
          </a:p>
        </p:txBody>
      </p:sp>
      <p:sp>
        <p:nvSpPr>
          <p:cNvPr id="7" name="CaixaDeTexto 48"/>
          <p:cNvSpPr txBox="1">
            <a:spLocks noChangeArrowheads="1"/>
          </p:cNvSpPr>
          <p:nvPr/>
        </p:nvSpPr>
        <p:spPr bwMode="auto">
          <a:xfrm>
            <a:off x="791906" y="1553308"/>
            <a:ext cx="14651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Comunicações, decisões e ações</a:t>
            </a:r>
          </a:p>
        </p:txBody>
      </p:sp>
      <p:sp>
        <p:nvSpPr>
          <p:cNvPr id="8" name="CaixaDeTexto 48"/>
          <p:cNvSpPr txBox="1">
            <a:spLocks noChangeArrowheads="1"/>
          </p:cNvSpPr>
          <p:nvPr/>
        </p:nvSpPr>
        <p:spPr bwMode="auto">
          <a:xfrm>
            <a:off x="2468553" y="1557086"/>
            <a:ext cx="178064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Comunicações, Escalonamentos, Riscos e questões</a:t>
            </a:r>
          </a:p>
        </p:txBody>
      </p:sp>
      <p:sp>
        <p:nvSpPr>
          <p:cNvPr id="9" name="Retângulo 8"/>
          <p:cNvSpPr/>
          <p:nvPr/>
        </p:nvSpPr>
        <p:spPr bwMode="auto">
          <a:xfrm>
            <a:off x="7434285" y="1773887"/>
            <a:ext cx="45719" cy="3041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sz="1000" b="1"/>
          </a:p>
        </p:txBody>
      </p:sp>
      <p:sp>
        <p:nvSpPr>
          <p:cNvPr id="10" name="CaixaDeTexto 48"/>
          <p:cNvSpPr txBox="1">
            <a:spLocks noChangeArrowheads="1"/>
          </p:cNvSpPr>
          <p:nvPr/>
        </p:nvSpPr>
        <p:spPr bwMode="auto">
          <a:xfrm>
            <a:off x="6503226" y="1208204"/>
            <a:ext cx="19078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Exemplos de Riscos</a:t>
            </a:r>
          </a:p>
        </p:txBody>
      </p:sp>
      <p:sp>
        <p:nvSpPr>
          <p:cNvPr id="11" name="CaixaDeTexto 48"/>
          <p:cNvSpPr txBox="1">
            <a:spLocks noChangeArrowheads="1"/>
          </p:cNvSpPr>
          <p:nvPr/>
        </p:nvSpPr>
        <p:spPr bwMode="auto">
          <a:xfrm>
            <a:off x="4338341" y="1210464"/>
            <a:ext cx="19078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Autoridade de Mudança</a:t>
            </a:r>
          </a:p>
        </p:txBody>
      </p:sp>
      <p:sp>
        <p:nvSpPr>
          <p:cNvPr id="12" name="Retângulo 11"/>
          <p:cNvSpPr/>
          <p:nvPr/>
        </p:nvSpPr>
        <p:spPr bwMode="auto">
          <a:xfrm>
            <a:off x="5269400" y="1811001"/>
            <a:ext cx="45719" cy="3004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sz="800" b="1"/>
          </a:p>
        </p:txBody>
      </p:sp>
      <p:sp>
        <p:nvSpPr>
          <p:cNvPr id="13" name="Retângulo com Único Canto Aparado e Arredondado 12"/>
          <p:cNvSpPr/>
          <p:nvPr/>
        </p:nvSpPr>
        <p:spPr bwMode="auto">
          <a:xfrm>
            <a:off x="4578395" y="1627598"/>
            <a:ext cx="1433467" cy="462097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Conselho Executivo</a:t>
            </a:r>
          </a:p>
        </p:txBody>
      </p:sp>
      <p:sp>
        <p:nvSpPr>
          <p:cNvPr id="14" name="Retângulo com Único Canto Aparado e Arredondado 13"/>
          <p:cNvSpPr/>
          <p:nvPr/>
        </p:nvSpPr>
        <p:spPr bwMode="auto">
          <a:xfrm>
            <a:off x="4578395" y="2340684"/>
            <a:ext cx="1433467" cy="479853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Conselho de TI</a:t>
            </a:r>
          </a:p>
        </p:txBody>
      </p:sp>
      <p:sp>
        <p:nvSpPr>
          <p:cNvPr id="15" name="Retângulo com Único Canto Aparado e Arredondado 14"/>
          <p:cNvSpPr/>
          <p:nvPr/>
        </p:nvSpPr>
        <p:spPr bwMode="auto">
          <a:xfrm>
            <a:off x="4578395" y="3030860"/>
            <a:ext cx="1433467" cy="522770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CCM ou CCME</a:t>
            </a:r>
          </a:p>
        </p:txBody>
      </p:sp>
      <p:sp>
        <p:nvSpPr>
          <p:cNvPr id="16" name="Retângulo com Único Canto Aparado e Arredondado 15"/>
          <p:cNvSpPr/>
          <p:nvPr/>
        </p:nvSpPr>
        <p:spPr bwMode="auto">
          <a:xfrm>
            <a:off x="4578395" y="3771900"/>
            <a:ext cx="1433467" cy="502602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Gestor de Mudanças</a:t>
            </a:r>
          </a:p>
        </p:txBody>
      </p:sp>
      <p:sp>
        <p:nvSpPr>
          <p:cNvPr id="17" name="Retângulo com Único Canto Aparado e Arredondado 16"/>
          <p:cNvSpPr/>
          <p:nvPr/>
        </p:nvSpPr>
        <p:spPr bwMode="auto">
          <a:xfrm>
            <a:off x="4578396" y="4462293"/>
            <a:ext cx="1433466" cy="547110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Autorização Local</a:t>
            </a:r>
          </a:p>
        </p:txBody>
      </p:sp>
      <p:sp>
        <p:nvSpPr>
          <p:cNvPr id="18" name="Retângulo com Único Canto Aparado e Arredondado 17"/>
          <p:cNvSpPr/>
          <p:nvPr/>
        </p:nvSpPr>
        <p:spPr bwMode="auto">
          <a:xfrm>
            <a:off x="6732726" y="1627597"/>
            <a:ext cx="1420674" cy="462097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 de alto Custo/Risco – Necessário decisão executiva.</a:t>
            </a:r>
          </a:p>
        </p:txBody>
      </p:sp>
      <p:sp>
        <p:nvSpPr>
          <p:cNvPr id="19" name="Retângulo com Único Canto Aparado e Arredondado 18"/>
          <p:cNvSpPr/>
          <p:nvPr/>
        </p:nvSpPr>
        <p:spPr bwMode="auto">
          <a:xfrm>
            <a:off x="6732727" y="2342054"/>
            <a:ext cx="1420674" cy="475570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 impacta diversos serviços ou divisões organizacionais</a:t>
            </a:r>
          </a:p>
        </p:txBody>
      </p:sp>
      <p:sp>
        <p:nvSpPr>
          <p:cNvPr id="20" name="Retângulo com Único Canto Aparado e Arredondado 19"/>
          <p:cNvSpPr/>
          <p:nvPr/>
        </p:nvSpPr>
        <p:spPr bwMode="auto">
          <a:xfrm>
            <a:off x="6732727" y="3054482"/>
            <a:ext cx="1420673" cy="467698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Mudanças que somente afetam grupos locais ou de serviços. </a:t>
            </a:r>
          </a:p>
        </p:txBody>
      </p:sp>
      <p:sp>
        <p:nvSpPr>
          <p:cNvPr id="21" name="Retângulo com Único Canto Aparado e Arredondado 20"/>
          <p:cNvSpPr/>
          <p:nvPr/>
        </p:nvSpPr>
        <p:spPr bwMode="auto">
          <a:xfrm>
            <a:off x="6732728" y="3762343"/>
            <a:ext cx="1420674" cy="497001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Mudanças de baixo Risco</a:t>
            </a:r>
          </a:p>
        </p:txBody>
      </p:sp>
      <p:sp>
        <p:nvSpPr>
          <p:cNvPr id="22" name="Retângulo com Único Canto Aparado e Arredondado 21"/>
          <p:cNvSpPr/>
          <p:nvPr/>
        </p:nvSpPr>
        <p:spPr bwMode="auto">
          <a:xfrm>
            <a:off x="6732729" y="4490213"/>
            <a:ext cx="1420671" cy="497000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Mudanças padrão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0" y="961164"/>
            <a:ext cx="9906000" cy="36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360000" tIns="360000" rIns="360000" bIns="360000" rtlCol="0" anchor="ctr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pt-BR" altLang="pt-BR" sz="1400" b="1" dirty="0">
                <a:latin typeface="Eras Medium ITC" pitchFamily="34" charset="0"/>
              </a:rPr>
              <a:t>Autorizando Mudanças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</p:spTree>
    <p:extLst>
      <p:ext uri="{BB962C8B-B14F-4D97-AF65-F5344CB8AC3E}">
        <p14:creationId xmlns:p14="http://schemas.microsoft.com/office/powerpoint/2010/main" val="255767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340935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1995175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Pontos de Atenção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0" y="779673"/>
            <a:ext cx="9144000" cy="4556285"/>
            <a:chOff x="0" y="779673"/>
            <a:chExt cx="9144000" cy="4556285"/>
          </a:xfrm>
        </p:grpSpPr>
        <p:sp>
          <p:nvSpPr>
            <p:cNvPr id="5" name="CaixaDeTexto 4"/>
            <p:cNvSpPr txBox="1"/>
            <p:nvPr/>
          </p:nvSpPr>
          <p:spPr>
            <a:xfrm>
              <a:off x="0" y="779673"/>
              <a:ext cx="9144000" cy="4556285"/>
            </a:xfrm>
            <a:prstGeom prst="rect">
              <a:avLst/>
            </a:prstGeom>
            <a:noFill/>
          </p:spPr>
          <p:txBody>
            <a:bodyPr wrap="square" lIns="360000" tIns="360000" rIns="360000" bIns="360000" rtlCol="0">
              <a:spAutoFit/>
            </a:bodyPr>
            <a:lstStyle/>
            <a:p>
              <a:r>
                <a:rPr lang="pt-BR" sz="1600" b="1" dirty="0"/>
                <a:t>Gerenciamento de Projetos:</a:t>
              </a:r>
            </a:p>
            <a:p>
              <a:endParaRPr lang="pt-BR" sz="1600" b="1" dirty="0"/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Critérios de Abertura: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Envolvimento de mais de 1 equipe de TI.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Atividade de relevância financeira para a empresa. 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Crescimento ou Migração de Operações.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Desenvolvimento de Aplicativos.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lang="pt-BR" sz="1200" dirty="0"/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Projetos de curto prazo – entrega à partir de 5 dias.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Projetos são iniciados e finalizados na ferramenta </a:t>
              </a:r>
              <a:r>
                <a:rPr lang="pt-BR" sz="1200" dirty="0" err="1"/>
                <a:t>TPtocess</a:t>
              </a:r>
              <a:r>
                <a:rPr lang="pt-BR" sz="1200" dirty="0"/>
                <a:t> com intermédio de MS Project e Excel.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A abertura de </a:t>
              </a:r>
              <a:r>
                <a:rPr lang="pt-BR" sz="1200" dirty="0" err="1"/>
                <a:t>Gmud</a:t>
              </a:r>
              <a:r>
                <a:rPr lang="pt-BR" sz="1200" dirty="0"/>
                <a:t> ou não para projetos ou requisições é feita pelos especialistas de TI.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Gerentes de Projetos cumprem etapas do Projeto, não acompanham todo o Processo.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Grande número de Projetos aguardam priorização devido alta demanda de Projetos.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lang="pt-BR" sz="1200" dirty="0"/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lang="pt-BR" sz="1200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3850640" y="1841502"/>
              <a:ext cx="5110480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Upgrade de Plataformas (Discagem, Gravações, Aplicações, DAC, </a:t>
              </a:r>
              <a:r>
                <a:rPr lang="pt-BR" sz="1200" dirty="0" err="1"/>
                <a:t>Etc</a:t>
              </a:r>
              <a:r>
                <a:rPr lang="pt-BR" sz="1200" dirty="0"/>
                <a:t>).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Implantação de Operação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Pré-Vendas e RFP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Instalação de Software \ Hardware (mais de 10 máquinas).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5007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aixaDeTexto 5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Pontos de Atenção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779673"/>
            <a:ext cx="9144000" cy="4664006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sz="1600" b="1" dirty="0"/>
              <a:t>Gerenciamento de Mudanças:</a:t>
            </a:r>
          </a:p>
          <a:p>
            <a:endParaRPr lang="pt-BR" sz="1600" b="1" dirty="0"/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Critérios de Abertura:</a:t>
            </a:r>
          </a:p>
          <a:p>
            <a:pPr marL="628650" lvl="1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Qualquer inclusão, alteração ou remoção de serviço de TI, porém não é seguido pelos especialistas.</a:t>
            </a:r>
          </a:p>
          <a:p>
            <a:pPr marL="628650" lvl="1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Qualquer usuário que tenha acesso a ferramenta.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Não é costume utilizarem ambiente de homologação para testes.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Documentação das </a:t>
            </a:r>
            <a:r>
              <a:rPr lang="pt-BR" sz="1200" dirty="0" err="1"/>
              <a:t>Gmuds</a:t>
            </a:r>
            <a:r>
              <a:rPr lang="pt-BR" sz="1200" dirty="0"/>
              <a:t> não são exatas, muitos planejamentos sofrem alterações após aprovação e antes da implementação.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Evidências e plano de testes são exigidos porém não são documentados em todas as </a:t>
            </a:r>
            <a:r>
              <a:rPr lang="pt-BR" sz="1200" dirty="0" err="1"/>
              <a:t>Gmud`s</a:t>
            </a:r>
            <a:r>
              <a:rPr lang="pt-BR" sz="1200" dirty="0"/>
              <a:t>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Falha na comunicação entre as equipes de implementação.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 err="1"/>
              <a:t>CCM`s</a:t>
            </a:r>
            <a:r>
              <a:rPr lang="pt-BR" sz="1200" dirty="0"/>
              <a:t> são feitos via </a:t>
            </a:r>
            <a:r>
              <a:rPr lang="pt-BR" sz="1200" dirty="0" err="1"/>
              <a:t>call</a:t>
            </a:r>
            <a:r>
              <a:rPr lang="pt-BR" sz="1200" dirty="0"/>
              <a:t>, não recomendado para processos imaturos. Necessário harmonia entre os especialistas e Processo de Gerenciamento de Mudanças, integrantes de todas as equipe não são exigidos, somente interessados.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 err="1"/>
              <a:t>RPI`s</a:t>
            </a:r>
            <a:r>
              <a:rPr lang="pt-BR" sz="1200" dirty="0"/>
              <a:t> são efetuados sem script de funções a serem testadas, muitas vezes o RPI é feito acompanhando a operação em produção.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Não existe classificação de resolução: Falha com Impacto, Falha sem Impacto, Sucesso com Impacto, Sucesso sem Impacto e cobranças aplicáveis.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Profissionais são qualificados.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Não existe SLO para atividades na </a:t>
            </a:r>
            <a:r>
              <a:rPr lang="pt-BR" sz="1200" dirty="0" err="1"/>
              <a:t>Gmud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90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aixaDeTexto 5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Pontos de Atenção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779673"/>
            <a:ext cx="9144000" cy="4510118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sz="1600" b="1" dirty="0"/>
              <a:t>Gerenciamento de Configuração:</a:t>
            </a:r>
          </a:p>
          <a:p>
            <a:endParaRPr lang="pt-BR" sz="1600" b="1" dirty="0"/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Houveram 4 alterações da ferramenta de controle de ativos, exigindo retrabalho dos profissionais para sua construção, ainda em criação pelo Marcelo.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Existe controle de licenças de software dos últimos anos, porém não existe controle de quais softwares são utilizados ou não, viabilizando possíveis multas de utilização de softwares sem licença e nota fiscal.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Necessário identificar nível de detalhamento para o gerenciamento de configuração e ativos.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Processo possui documentações porém não é seguido.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  <a:p>
            <a:r>
              <a:rPr lang="pt-BR" sz="1600" b="1" dirty="0"/>
              <a:t>Considerações:</a:t>
            </a:r>
          </a:p>
          <a:p>
            <a:endParaRPr lang="pt-BR" sz="1600" b="1" dirty="0"/>
          </a:p>
          <a:p>
            <a:r>
              <a:rPr lang="pt-BR" sz="1200" dirty="0"/>
              <a:t>Existe uma preocupação pessoal sobre a capacidade das ferramentas de gerenciamento de serviços se comunicarem oferecendo controle necessário para identificar eventos causados por mudanças, mudanças implementadas para resolver problemas, incidentes causados por mudanças, entre outras integrações.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pt-BR" sz="1200" dirty="0"/>
              <a:t>Pode ser viável contratação de gerenciamento de serviços que integre Requisição de Serviço, Gerenciamento de Incidente, Gerenciamento de Problemas, Gerenciamento de Mudanças, Gerenciamento de Configuração, Gerenciamento do Conhecimento, CMDB e Gerenciamento de Projetos. </a:t>
            </a:r>
          </a:p>
        </p:txBody>
      </p:sp>
    </p:spTree>
    <p:extLst>
      <p:ext uri="{BB962C8B-B14F-4D97-AF65-F5344CB8AC3E}">
        <p14:creationId xmlns:p14="http://schemas.microsoft.com/office/powerpoint/2010/main" val="129907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Processos considerados para a T2R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714163"/>
            <a:ext cx="9144000" cy="4440868"/>
          </a:xfrm>
          <a:prstGeom prst="rect">
            <a:avLst/>
          </a:prstGeom>
        </p:spPr>
        <p:txBody>
          <a:bodyPr wrap="square" lIns="360000" tIns="360000" rIns="360000" bIns="360000">
            <a:spAutoFit/>
          </a:bodyPr>
          <a:lstStyle/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Demandas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Mudanças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Projetos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Validação e Testes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Liberação e Implementação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Configuração e Ativos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Fornecedores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766321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Ritos diferentes para Mudanças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" y="699655"/>
            <a:ext cx="2478704" cy="4051018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dirty="0"/>
              <a:t>Mudança</a:t>
            </a:r>
          </a:p>
          <a:p>
            <a:r>
              <a:rPr lang="pt-BR" dirty="0"/>
              <a:t>Alteração</a:t>
            </a:r>
          </a:p>
          <a:p>
            <a:r>
              <a:rPr lang="pt-BR" dirty="0"/>
              <a:t>Modificações</a:t>
            </a:r>
          </a:p>
          <a:p>
            <a:r>
              <a:rPr lang="pt-BR" dirty="0"/>
              <a:t>Transformação</a:t>
            </a:r>
          </a:p>
          <a:p>
            <a:r>
              <a:rPr lang="pt-BR" dirty="0"/>
              <a:t>Mutação</a:t>
            </a:r>
          </a:p>
          <a:p>
            <a:r>
              <a:rPr lang="pt-BR" dirty="0"/>
              <a:t>Melhoria</a:t>
            </a:r>
          </a:p>
          <a:p>
            <a:r>
              <a:rPr lang="pt-BR" dirty="0"/>
              <a:t>Upgrade</a:t>
            </a:r>
          </a:p>
          <a:p>
            <a:r>
              <a:rPr lang="pt-BR" dirty="0"/>
              <a:t>Aperfeiçoamento</a:t>
            </a:r>
          </a:p>
          <a:p>
            <a:r>
              <a:rPr lang="pt-BR" dirty="0"/>
              <a:t>Avanço</a:t>
            </a:r>
          </a:p>
          <a:p>
            <a:r>
              <a:rPr lang="pt-BR" dirty="0"/>
              <a:t>Desenvolvimento</a:t>
            </a:r>
          </a:p>
          <a:p>
            <a:r>
              <a:rPr lang="pt-BR" dirty="0"/>
              <a:t>Evolução</a:t>
            </a:r>
          </a:p>
          <a:p>
            <a:r>
              <a:rPr lang="pt-BR" dirty="0"/>
              <a:t>Reparação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370685" y="699655"/>
            <a:ext cx="2478704" cy="4051018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dirty="0"/>
              <a:t>Aperfeiçoamento</a:t>
            </a:r>
          </a:p>
          <a:p>
            <a:r>
              <a:rPr lang="pt-BR" dirty="0"/>
              <a:t>Manobra</a:t>
            </a:r>
          </a:p>
          <a:p>
            <a:r>
              <a:rPr lang="pt-BR" dirty="0"/>
              <a:t>Movimentação</a:t>
            </a:r>
          </a:p>
          <a:p>
            <a:r>
              <a:rPr lang="pt-BR" dirty="0"/>
              <a:t>Atividade</a:t>
            </a:r>
          </a:p>
          <a:p>
            <a:r>
              <a:rPr lang="pt-BR" dirty="0"/>
              <a:t>Dinâmica</a:t>
            </a:r>
          </a:p>
          <a:p>
            <a:r>
              <a:rPr lang="pt-BR" dirty="0"/>
              <a:t>Ação</a:t>
            </a:r>
          </a:p>
          <a:p>
            <a:r>
              <a:rPr lang="pt-BR" dirty="0"/>
              <a:t>Execução</a:t>
            </a:r>
          </a:p>
          <a:p>
            <a:r>
              <a:rPr lang="pt-BR" dirty="0"/>
              <a:t>Movimentação</a:t>
            </a:r>
          </a:p>
          <a:p>
            <a:r>
              <a:rPr lang="pt-BR" b="1" dirty="0"/>
              <a:t>Interação</a:t>
            </a:r>
          </a:p>
          <a:p>
            <a:r>
              <a:rPr lang="pt-BR" dirty="0"/>
              <a:t>Comunicação</a:t>
            </a:r>
          </a:p>
          <a:p>
            <a:r>
              <a:rPr lang="pt-BR" dirty="0"/>
              <a:t>Solicitação</a:t>
            </a:r>
          </a:p>
          <a:p>
            <a:r>
              <a:rPr lang="pt-BR" dirty="0"/>
              <a:t>Requisição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4849389" y="1036158"/>
            <a:ext cx="176334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Crescimento</a:t>
            </a:r>
          </a:p>
          <a:p>
            <a:r>
              <a:rPr lang="pt-BR" dirty="0"/>
              <a:t>Transformação</a:t>
            </a:r>
          </a:p>
          <a:p>
            <a:r>
              <a:rPr lang="pt-BR" dirty="0"/>
              <a:t>Ampliação</a:t>
            </a:r>
          </a:p>
          <a:p>
            <a:r>
              <a:rPr lang="pt-BR" dirty="0"/>
              <a:t>Progresso</a:t>
            </a:r>
          </a:p>
          <a:p>
            <a:r>
              <a:rPr lang="pt-BR" dirty="0"/>
              <a:t>Convergência</a:t>
            </a:r>
          </a:p>
          <a:p>
            <a:r>
              <a:rPr lang="pt-BR" dirty="0"/>
              <a:t>Conversão</a:t>
            </a:r>
          </a:p>
          <a:p>
            <a:r>
              <a:rPr lang="pt-BR" dirty="0"/>
              <a:t>Benfeitoria</a:t>
            </a:r>
          </a:p>
          <a:p>
            <a:r>
              <a:rPr lang="pt-BR" dirty="0"/>
              <a:t>Integração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3385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33" name="Elipse 9"/>
          <p:cNvSpPr>
            <a:spLocks noChangeArrowheads="1"/>
          </p:cNvSpPr>
          <p:nvPr/>
        </p:nvSpPr>
        <p:spPr bwMode="auto">
          <a:xfrm>
            <a:off x="3533687" y="1624882"/>
            <a:ext cx="1801837" cy="209245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pt-BR" altLang="pt-BR" sz="2400" b="1" i="1">
              <a:solidFill>
                <a:srgbClr val="4D4D4D"/>
              </a:solidFill>
            </a:endParaRPr>
          </a:p>
        </p:txBody>
      </p:sp>
      <p:grpSp>
        <p:nvGrpSpPr>
          <p:cNvPr id="58" name="Agrupar 57"/>
          <p:cNvGrpSpPr/>
          <p:nvPr/>
        </p:nvGrpSpPr>
        <p:grpSpPr>
          <a:xfrm>
            <a:off x="511251" y="985520"/>
            <a:ext cx="7614214" cy="3962749"/>
            <a:chOff x="511251" y="985520"/>
            <a:chExt cx="7614214" cy="3962749"/>
          </a:xfrm>
        </p:grpSpPr>
        <p:grpSp>
          <p:nvGrpSpPr>
            <p:cNvPr id="3" name="Agrupar 2"/>
            <p:cNvGrpSpPr/>
            <p:nvPr/>
          </p:nvGrpSpPr>
          <p:grpSpPr>
            <a:xfrm>
              <a:off x="2952449" y="1741213"/>
              <a:ext cx="2789941" cy="2673991"/>
              <a:chOff x="2952449" y="1741213"/>
              <a:chExt cx="2789941" cy="2673991"/>
            </a:xfrm>
          </p:grpSpPr>
          <p:cxnSp>
            <p:nvCxnSpPr>
              <p:cNvPr id="42" name="Conector reto 23"/>
              <p:cNvCxnSpPr>
                <a:cxnSpLocks noChangeShapeType="1"/>
              </p:cNvCxnSpPr>
              <p:nvPr/>
            </p:nvCxnSpPr>
            <p:spPr bwMode="auto">
              <a:xfrm>
                <a:off x="3243068" y="2322515"/>
                <a:ext cx="1104353" cy="813824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43" name="Conector reto 26"/>
              <p:cNvCxnSpPr>
                <a:cxnSpLocks noChangeShapeType="1"/>
              </p:cNvCxnSpPr>
              <p:nvPr/>
            </p:nvCxnSpPr>
            <p:spPr bwMode="auto">
              <a:xfrm rot="16200000" flipH="1">
                <a:off x="3707987" y="2496905"/>
                <a:ext cx="1278868" cy="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44" name="Conector reto 29"/>
              <p:cNvCxnSpPr>
                <a:cxnSpLocks noChangeShapeType="1"/>
              </p:cNvCxnSpPr>
              <p:nvPr/>
            </p:nvCxnSpPr>
            <p:spPr bwMode="auto">
              <a:xfrm rot="10800000" flipV="1">
                <a:off x="4347420" y="2322514"/>
                <a:ext cx="1104352" cy="813824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sp>
            <p:nvSpPr>
              <p:cNvPr id="45" name="Elipse 14"/>
              <p:cNvSpPr>
                <a:spLocks noChangeArrowheads="1"/>
              </p:cNvSpPr>
              <p:nvPr/>
            </p:nvSpPr>
            <p:spPr bwMode="auto">
              <a:xfrm>
                <a:off x="3126820" y="2206255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46" name="Elipse 12"/>
              <p:cNvSpPr>
                <a:spLocks noChangeArrowheads="1"/>
              </p:cNvSpPr>
              <p:nvPr/>
            </p:nvSpPr>
            <p:spPr bwMode="auto">
              <a:xfrm>
                <a:off x="4231172" y="1741213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47" name="Elipse 13"/>
              <p:cNvSpPr>
                <a:spLocks noChangeArrowheads="1"/>
              </p:cNvSpPr>
              <p:nvPr/>
            </p:nvSpPr>
            <p:spPr bwMode="auto">
              <a:xfrm>
                <a:off x="5335524" y="2206255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cxnSp>
            <p:nvCxnSpPr>
              <p:cNvPr id="48" name="Conector reto 32"/>
              <p:cNvCxnSpPr>
                <a:cxnSpLocks noChangeShapeType="1"/>
              </p:cNvCxnSpPr>
              <p:nvPr/>
            </p:nvCxnSpPr>
            <p:spPr bwMode="auto">
              <a:xfrm rot="10800000">
                <a:off x="4347420" y="3194469"/>
                <a:ext cx="1278723" cy="23252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49" name="Conector reto 35"/>
              <p:cNvCxnSpPr>
                <a:cxnSpLocks noChangeShapeType="1"/>
              </p:cNvCxnSpPr>
              <p:nvPr/>
            </p:nvCxnSpPr>
            <p:spPr bwMode="auto">
              <a:xfrm rot="10800000" flipV="1">
                <a:off x="3068697" y="3194469"/>
                <a:ext cx="1278723" cy="23252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50" name="Conector reto 38"/>
              <p:cNvCxnSpPr>
                <a:cxnSpLocks noChangeShapeType="1"/>
              </p:cNvCxnSpPr>
              <p:nvPr/>
            </p:nvCxnSpPr>
            <p:spPr bwMode="auto">
              <a:xfrm rot="5400000">
                <a:off x="3446436" y="3397960"/>
                <a:ext cx="1162605" cy="63936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51" name="Conector reto 42"/>
              <p:cNvCxnSpPr>
                <a:cxnSpLocks noChangeShapeType="1"/>
              </p:cNvCxnSpPr>
              <p:nvPr/>
            </p:nvCxnSpPr>
            <p:spPr bwMode="auto">
              <a:xfrm rot="16200000" flipH="1">
                <a:off x="4114863" y="3427025"/>
                <a:ext cx="1104475" cy="63936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sp>
            <p:nvSpPr>
              <p:cNvPr id="52" name="Elipse 16"/>
              <p:cNvSpPr>
                <a:spLocks noChangeArrowheads="1"/>
              </p:cNvSpPr>
              <p:nvPr/>
            </p:nvSpPr>
            <p:spPr bwMode="auto">
              <a:xfrm>
                <a:off x="2952449" y="3310729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53" name="Elipse 17"/>
              <p:cNvSpPr>
                <a:spLocks noChangeArrowheads="1"/>
              </p:cNvSpPr>
              <p:nvPr/>
            </p:nvSpPr>
            <p:spPr bwMode="auto">
              <a:xfrm>
                <a:off x="3591810" y="4182683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54" name="Elipse 53"/>
              <p:cNvSpPr/>
              <p:nvPr/>
            </p:nvSpPr>
            <p:spPr bwMode="auto">
              <a:xfrm>
                <a:off x="3467813" y="2264243"/>
                <a:ext cx="1743713" cy="17437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>
                  <a:defRPr/>
                </a:pPr>
                <a:r>
                  <a:rPr lang="pt-BR" sz="2800" b="1" kern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Eras Medium ITC" pitchFamily="34" charset="0"/>
                    <a:ea typeface="+mj-ea"/>
                    <a:cs typeface="+mj-cs"/>
                  </a:rPr>
                  <a:t>7 </a:t>
                </a:r>
                <a:r>
                  <a:rPr lang="pt-BR" sz="2800" b="1" kern="0" dirty="0" err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Eras Medium ITC" pitchFamily="34" charset="0"/>
                    <a:ea typeface="+mj-ea"/>
                    <a:cs typeface="+mj-cs"/>
                  </a:rPr>
                  <a:t>R`</a:t>
                </a:r>
                <a:r>
                  <a:rPr lang="pt-BR" sz="2800" b="1" kern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Eras Medium ITC" pitchFamily="34" charset="0"/>
                    <a:ea typeface="+mj-ea"/>
                    <a:cs typeface="+mj-cs"/>
                  </a:rPr>
                  <a:t>s</a:t>
                </a:r>
              </a:p>
            </p:txBody>
          </p:sp>
          <p:sp>
            <p:nvSpPr>
              <p:cNvPr id="55" name="Elipse 15"/>
              <p:cNvSpPr>
                <a:spLocks noChangeArrowheads="1"/>
              </p:cNvSpPr>
              <p:nvPr/>
            </p:nvSpPr>
            <p:spPr bwMode="auto">
              <a:xfrm>
                <a:off x="5509895" y="3310729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56" name="Elipse 18"/>
              <p:cNvSpPr>
                <a:spLocks noChangeArrowheads="1"/>
              </p:cNvSpPr>
              <p:nvPr/>
            </p:nvSpPr>
            <p:spPr bwMode="auto">
              <a:xfrm>
                <a:off x="4870533" y="4182683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</p:grpSp>
        <p:sp>
          <p:nvSpPr>
            <p:cNvPr id="35" name="CaixaDeTexto 46"/>
            <p:cNvSpPr txBox="1">
              <a:spLocks noChangeArrowheads="1"/>
            </p:cNvSpPr>
            <p:nvPr/>
          </p:nvSpPr>
          <p:spPr bwMode="auto">
            <a:xfrm>
              <a:off x="3417439" y="985520"/>
              <a:ext cx="1859961" cy="773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Quem 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b="1" dirty="0"/>
                <a:t>Requisitou</a:t>
              </a:r>
              <a:r>
                <a:rPr lang="pt-BR" altLang="pt-BR" sz="1400" dirty="0"/>
                <a:t> 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esta Mudança?</a:t>
              </a:r>
            </a:p>
          </p:txBody>
        </p:sp>
        <p:sp>
          <p:nvSpPr>
            <p:cNvPr id="36" name="CaixaDeTexto 47"/>
            <p:cNvSpPr txBox="1">
              <a:spLocks noChangeArrowheads="1"/>
            </p:cNvSpPr>
            <p:nvPr/>
          </p:nvSpPr>
          <p:spPr bwMode="auto">
            <a:xfrm>
              <a:off x="5509895" y="2074187"/>
              <a:ext cx="2324951" cy="48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Qual a </a:t>
              </a:r>
              <a:r>
                <a:rPr lang="pt-BR" altLang="pt-BR" sz="1400" b="1" dirty="0"/>
                <a:t>Razão</a:t>
              </a:r>
              <a:r>
                <a:rPr lang="pt-BR" altLang="pt-BR" sz="1400" dirty="0"/>
                <a:t> para esta Mudança?</a:t>
              </a:r>
            </a:p>
          </p:txBody>
        </p:sp>
        <p:sp>
          <p:nvSpPr>
            <p:cNvPr id="37" name="CaixaDeTexto 48"/>
            <p:cNvSpPr txBox="1">
              <a:spLocks noChangeArrowheads="1"/>
            </p:cNvSpPr>
            <p:nvPr/>
          </p:nvSpPr>
          <p:spPr bwMode="auto">
            <a:xfrm>
              <a:off x="511251" y="1973734"/>
              <a:ext cx="2591825" cy="674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Qual é o </a:t>
              </a:r>
              <a:r>
                <a:rPr lang="pt-BR" altLang="pt-BR" sz="1400" b="1" dirty="0"/>
                <a:t>Relacionamento</a:t>
              </a:r>
              <a:r>
                <a:rPr lang="pt-BR" altLang="pt-BR" sz="1400" dirty="0"/>
                <a:t> entre esta mudança e outras mudanças?</a:t>
              </a:r>
            </a:p>
          </p:txBody>
        </p:sp>
        <p:sp>
          <p:nvSpPr>
            <p:cNvPr id="38" name="CaixaDeTexto 49"/>
            <p:cNvSpPr txBox="1">
              <a:spLocks noChangeArrowheads="1"/>
            </p:cNvSpPr>
            <p:nvPr/>
          </p:nvSpPr>
          <p:spPr bwMode="auto">
            <a:xfrm>
              <a:off x="627499" y="3128423"/>
              <a:ext cx="2324951" cy="867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Quem é o </a:t>
              </a:r>
              <a:r>
                <a:rPr lang="pt-BR" altLang="pt-BR" sz="1400" b="1" dirty="0"/>
                <a:t>Responsável</a:t>
              </a:r>
              <a:r>
                <a:rPr lang="pt-BR" altLang="pt-BR" sz="1400" dirty="0"/>
                <a:t> pela construção, teste e implementação da Mudança?  </a:t>
              </a:r>
            </a:p>
          </p:txBody>
        </p:sp>
        <p:sp>
          <p:nvSpPr>
            <p:cNvPr id="39" name="CaixaDeTexto 51"/>
            <p:cNvSpPr txBox="1">
              <a:spLocks noChangeArrowheads="1"/>
            </p:cNvSpPr>
            <p:nvPr/>
          </p:nvSpPr>
          <p:spPr bwMode="auto">
            <a:xfrm>
              <a:off x="5800514" y="3194469"/>
              <a:ext cx="2324951" cy="48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Qual o </a:t>
              </a:r>
              <a:r>
                <a:rPr lang="pt-BR" altLang="pt-BR" sz="1400" b="1" dirty="0"/>
                <a:t>Retorno</a:t>
              </a:r>
              <a:r>
                <a:rPr lang="pt-BR" altLang="pt-BR" sz="1400" dirty="0"/>
                <a:t> requerido para esta Mudança?</a:t>
              </a:r>
            </a:p>
          </p:txBody>
        </p:sp>
        <p:sp>
          <p:nvSpPr>
            <p:cNvPr id="40" name="CaixaDeTexto 52"/>
            <p:cNvSpPr txBox="1">
              <a:spLocks noChangeArrowheads="1"/>
            </p:cNvSpPr>
            <p:nvPr/>
          </p:nvSpPr>
          <p:spPr bwMode="auto">
            <a:xfrm>
              <a:off x="1266860" y="4264560"/>
              <a:ext cx="2324951" cy="683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Quais </a:t>
              </a:r>
              <a:r>
                <a:rPr lang="pt-BR" altLang="pt-BR" sz="1400" b="1" dirty="0"/>
                <a:t>Recursos</a:t>
              </a:r>
              <a:r>
                <a:rPr lang="pt-BR" altLang="pt-BR" sz="1400" dirty="0"/>
                <a:t> são requeridos para entregar esta Mudança?</a:t>
              </a:r>
            </a:p>
          </p:txBody>
        </p:sp>
        <p:sp>
          <p:nvSpPr>
            <p:cNvPr id="41" name="CaixaDeTexto 53"/>
            <p:cNvSpPr txBox="1">
              <a:spLocks noChangeArrowheads="1"/>
            </p:cNvSpPr>
            <p:nvPr/>
          </p:nvSpPr>
          <p:spPr bwMode="auto">
            <a:xfrm>
              <a:off x="5044905" y="4262583"/>
              <a:ext cx="2324951" cy="683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/>
                <a:t>Quais são os </a:t>
              </a:r>
              <a:r>
                <a:rPr lang="pt-BR" altLang="pt-BR" sz="1400" b="1"/>
                <a:t>Riscos</a:t>
              </a:r>
              <a:r>
                <a:rPr lang="pt-BR" altLang="pt-BR" sz="1400"/>
                <a:t> envolvidos nesta Mudança?</a:t>
              </a:r>
            </a:p>
          </p:txBody>
        </p:sp>
      </p:grpSp>
      <p:sp>
        <p:nvSpPr>
          <p:cNvPr id="57" name="Rectangle 3"/>
          <p:cNvSpPr txBox="1">
            <a:spLocks noChangeArrowheads="1"/>
          </p:cNvSpPr>
          <p:nvPr/>
        </p:nvSpPr>
        <p:spPr>
          <a:xfrm>
            <a:off x="13460" y="684686"/>
            <a:ext cx="3810845" cy="808038"/>
          </a:xfrm>
          <a:prstGeom prst="rect">
            <a:avLst/>
          </a:prstGeom>
        </p:spPr>
        <p:txBody>
          <a:bodyPr vert="horz" lIns="360000" tIns="360000" rIns="360000" bIns="36000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Avaliação de Impacto da Mudança</a:t>
            </a:r>
          </a:p>
        </p:txBody>
      </p:sp>
    </p:spTree>
    <p:extLst>
      <p:ext uri="{BB962C8B-B14F-4D97-AF65-F5344CB8AC3E}">
        <p14:creationId xmlns:p14="http://schemas.microsoft.com/office/powerpoint/2010/main" val="271898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0" y="607060"/>
            <a:ext cx="8219440" cy="4327061"/>
          </a:xfrm>
          <a:prstGeom prst="rect">
            <a:avLst/>
          </a:prstGeom>
        </p:spPr>
        <p:txBody>
          <a:bodyPr lIns="360000" tIns="360000" rIns="360000" bIns="360000"/>
          <a:lstStyle/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Eras Medium ITC" pitchFamily="34" charset="0"/>
                <a:ea typeface="+mj-ea"/>
                <a:cs typeface="+mj-cs"/>
              </a:rPr>
              <a:t>Modelo de Processo de Mudança</a:t>
            </a:r>
          </a:p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endParaRPr lang="pt-BR" sz="1600" b="1" dirty="0">
              <a:effectLst>
                <a:outerShdw blurRad="38100" dist="38100" dir="2700000" algn="tl">
                  <a:srgbClr val="C0C0C0"/>
                </a:outerShdw>
              </a:effectLst>
              <a:latin typeface="Eras Medium ITC" pitchFamily="34" charset="0"/>
              <a:ea typeface="+mj-ea"/>
              <a:cs typeface="+mj-cs"/>
            </a:endParaRP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Necessário formulários padronizados com obrigatoriedade de exigências para execução de mudanças com impacto crítico a princípio.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Construído antes da execução.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Concebida como uma ferramenta para gerenciar Riscos.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Pertencente e gerenciada por Gerenciamento de Mudança.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Mais freqüentemente aplicada a Mudanças Padrão.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Facilita construção do modelo de capacidade que permite mudanças Extraordinárias em termos de complexidade, escala ou ambos.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Possui passos definidos que procuram ajuda de outros processos de Gerenciamento de Serviços para avaliar o impacto da Mudança.</a:t>
            </a:r>
          </a:p>
          <a:p>
            <a:pPr marL="342900" indent="-342900" algn="just">
              <a:spcBef>
                <a:spcPts val="1000"/>
              </a:spcBef>
              <a:spcAft>
                <a:spcPts val="10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endParaRPr lang="pt-BR" sz="2000" b="1" kern="0" dirty="0">
              <a:latin typeface="+mn-lt"/>
              <a:cs typeface="+mn-cs"/>
            </a:endParaRPr>
          </a:p>
          <a:p>
            <a:pPr marL="342900" indent="-342900" algn="just">
              <a:spcBef>
                <a:spcPct val="20000"/>
              </a:spcBef>
              <a:buClr>
                <a:srgbClr val="0064A9"/>
              </a:buClr>
              <a:buFont typeface="Wingdings" pitchFamily="2" charset="2"/>
              <a:buChar char="ü"/>
              <a:defRPr/>
            </a:pPr>
            <a:endParaRPr lang="pt-PT" sz="1800" kern="0" dirty="0">
              <a:latin typeface="+mn-lt"/>
              <a:cs typeface="+mn-cs"/>
            </a:endParaRPr>
          </a:p>
          <a:p>
            <a:pPr marL="342900" indent="-342900" algn="just">
              <a:spcBef>
                <a:spcPct val="20000"/>
              </a:spcBef>
              <a:buClr>
                <a:srgbClr val="0064A9"/>
              </a:buClr>
              <a:buFont typeface="Wingdings" pitchFamily="2" charset="2"/>
              <a:buChar char="ü"/>
              <a:defRPr/>
            </a:pPr>
            <a:endParaRPr lang="pt-BR" sz="1800" kern="0" dirty="0">
              <a:latin typeface="+mn-lt"/>
              <a:cs typeface="+mn-cs"/>
            </a:endParaRPr>
          </a:p>
          <a:p>
            <a:pPr marL="342900" indent="-342900" algn="just">
              <a:spcBef>
                <a:spcPct val="20000"/>
              </a:spcBef>
              <a:buClr>
                <a:srgbClr val="0064A9"/>
              </a:buClr>
              <a:buFont typeface="Wingdings" pitchFamily="2" charset="2"/>
              <a:buChar char="ü"/>
              <a:defRPr/>
            </a:pPr>
            <a:endParaRPr lang="pt-BR" sz="2000" b="1" kern="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991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0" y="522605"/>
            <a:ext cx="8788400" cy="4300538"/>
          </a:xfrm>
          <a:prstGeom prst="rect">
            <a:avLst/>
          </a:prstGeom>
        </p:spPr>
        <p:txBody>
          <a:bodyPr lIns="360000" tIns="360000" rIns="360000" bIns="360000"/>
          <a:lstStyle/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Eras Medium ITC" pitchFamily="34" charset="0"/>
                <a:ea typeface="+mj-ea"/>
                <a:cs typeface="+mj-cs"/>
              </a:rPr>
              <a:t>Mudança Padrão</a:t>
            </a:r>
          </a:p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endParaRPr lang="pt-BR" sz="1600" b="1" dirty="0">
              <a:effectLst>
                <a:outerShdw blurRad="38100" dist="38100" dir="2700000" algn="tl">
                  <a:srgbClr val="C0C0C0"/>
                </a:outerShdw>
              </a:effectLst>
              <a:latin typeface="Eras Medium ITC" pitchFamily="34" charset="0"/>
              <a:ea typeface="+mj-ea"/>
              <a:cs typeface="+mj-cs"/>
            </a:endParaRP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Uma Mudança Padrão é uma mudança em um serviço ou infra-estrutura que você faz em uma base regular.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Seus passos já estão autorizados e aprovados por um conjunto de Procedimentos de Gerenciamento de Mudanças.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Uma autoridade delegada e concede aprovação para cada Mudança Padrão.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dirty="0">
                <a:latin typeface="+mn-lt"/>
                <a:cs typeface="+mn-cs"/>
              </a:rPr>
              <a:t>Aplicação efetiva de Mudança padrão ocorre quando você desenvolve: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Processos de Mudança Padrão.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Workflows associados a Mudança.</a:t>
            </a:r>
          </a:p>
          <a:p>
            <a:pPr marL="447675" lvl="1" indent="9525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dirty="0">
                <a:latin typeface="+mn-lt"/>
                <a:cs typeface="+mn-cs"/>
              </a:rPr>
              <a:t>Identificar todas as mudanças padrão na construção do Gerenciamento de Mudanças promove a eficiência e evita altos níveis de supervisão e resistência a mudança de Gestão</a:t>
            </a:r>
            <a:endParaRPr lang="pt-BR" sz="2000" b="1" kern="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100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919502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526723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1491987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2642733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- Fluxo detalhado das solicitações </a:t>
            </a:r>
          </a:p>
        </p:txBody>
      </p:sp>
    </p:spTree>
    <p:extLst>
      <p:ext uri="{BB962C8B-B14F-4D97-AF65-F5344CB8AC3E}">
        <p14:creationId xmlns:p14="http://schemas.microsoft.com/office/powerpoint/2010/main" val="3190454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0" y="235003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557836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17629</TotalTime>
  <Words>1965</Words>
  <Application>Microsoft Office PowerPoint</Application>
  <PresentationFormat>Personalizar</PresentationFormat>
  <Paragraphs>376</Paragraphs>
  <Slides>33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5" baseType="lpstr">
      <vt:lpstr>Aharoni</vt:lpstr>
      <vt:lpstr>Arial</vt:lpstr>
      <vt:lpstr>Calibri</vt:lpstr>
      <vt:lpstr>Calibri Light</vt:lpstr>
      <vt:lpstr>Eras Medium ITC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Kiss</cp:lastModifiedBy>
  <cp:revision>848</cp:revision>
  <dcterms:created xsi:type="dcterms:W3CDTF">2015-08-20T14:57:26Z</dcterms:created>
  <dcterms:modified xsi:type="dcterms:W3CDTF">2016-04-28T14:33:36Z</dcterms:modified>
</cp:coreProperties>
</file>