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0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9F4DB-BC30-4A8A-BEAC-2B6F1A123CEF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EAF8F-AB30-43B3-9615-3954593AC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14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0ABA0-7056-46BA-B416-A7550CD3D86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260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48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74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48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68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06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1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41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05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90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82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4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25E76-39C6-4868-B97A-59E9C344DB66}" type="datetimeFigureOut">
              <a:rPr lang="pt-BR" smtClean="0"/>
              <a:t>02/06/2016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C8C2E-AF85-4B6A-9AE0-FB69F3AAF0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62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/>
          <p:cNvSpPr/>
          <p:nvPr/>
        </p:nvSpPr>
        <p:spPr>
          <a:xfrm>
            <a:off x="1547664" y="3269054"/>
            <a:ext cx="1570741" cy="376627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20"/>
              </a:spcBef>
              <a:spcAft>
                <a:spcPts val="20"/>
              </a:spcAft>
            </a:pPr>
            <a:r>
              <a:rPr lang="pt-BR" sz="12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Bruno Guerra</a:t>
            </a:r>
            <a:endParaRPr lang="pt-BR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9" name="Picture 1" descr="t03-02.jpg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90746"/>
          <a:stretch/>
        </p:blipFill>
        <p:spPr>
          <a:xfrm>
            <a:off x="1" y="2"/>
            <a:ext cx="789296" cy="634640"/>
          </a:xfrm>
          <a:prstGeom prst="rect">
            <a:avLst/>
          </a:prstGeom>
        </p:spPr>
      </p:pic>
      <p:pic>
        <p:nvPicPr>
          <p:cNvPr id="20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0639" y="159539"/>
            <a:ext cx="1473556" cy="475101"/>
          </a:xfrm>
          <a:prstGeom prst="rect">
            <a:avLst/>
          </a:prstGeom>
        </p:spPr>
      </p:pic>
      <p:sp>
        <p:nvSpPr>
          <p:cNvPr id="57" name="Title 1"/>
          <p:cNvSpPr txBox="1">
            <a:spLocks/>
          </p:cNvSpPr>
          <p:nvPr/>
        </p:nvSpPr>
        <p:spPr>
          <a:xfrm>
            <a:off x="394649" y="0"/>
            <a:ext cx="6665371" cy="1001358"/>
          </a:xfrm>
          <a:prstGeom prst="rect">
            <a:avLst/>
          </a:prstGeom>
        </p:spPr>
        <p:txBody>
          <a:bodyPr vert="horz" lIns="91431" tIns="45715" rIns="91431" bIns="45715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dirty="0" smtClean="0">
                <a:solidFill>
                  <a:schemeClr val="tx2"/>
                </a:solidFill>
                <a:latin typeface="Arial"/>
                <a:cs typeface="Arial"/>
              </a:rPr>
              <a:t>Verticalização da equipe</a:t>
            </a:r>
            <a:endParaRPr lang="pt-BR" sz="2000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8" name="Retângulo 87"/>
          <p:cNvSpPr/>
          <p:nvPr/>
        </p:nvSpPr>
        <p:spPr>
          <a:xfrm>
            <a:off x="1880621" y="836712"/>
            <a:ext cx="904827" cy="526897"/>
          </a:xfrm>
          <a:prstGeom prst="rect">
            <a:avLst/>
          </a:prstGeom>
          <a:ln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25" tIns="9525" rIns="9525" bIns="71588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dirty="0" smtClean="0"/>
              <a:t>Demandas </a:t>
            </a:r>
            <a:r>
              <a:rPr lang="pt-BR" sz="1200" kern="1200" dirty="0" smtClean="0"/>
              <a:t>Corporativas</a:t>
            </a:r>
            <a:endParaRPr lang="pt-BR" sz="1200" kern="1200" dirty="0"/>
          </a:p>
        </p:txBody>
      </p:sp>
      <p:sp>
        <p:nvSpPr>
          <p:cNvPr id="89" name="Retângulo 88"/>
          <p:cNvSpPr/>
          <p:nvPr/>
        </p:nvSpPr>
        <p:spPr>
          <a:xfrm>
            <a:off x="1767834" y="1363609"/>
            <a:ext cx="1130400" cy="295200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b="1" kern="1200" dirty="0" smtClean="0"/>
              <a:t>De várias áreas</a:t>
            </a:r>
            <a:endParaRPr lang="pt-BR" sz="1200" b="1" kern="1200" dirty="0"/>
          </a:p>
        </p:txBody>
      </p:sp>
      <p:sp>
        <p:nvSpPr>
          <p:cNvPr id="108" name="Retângulo 107"/>
          <p:cNvSpPr/>
          <p:nvPr/>
        </p:nvSpPr>
        <p:spPr>
          <a:xfrm>
            <a:off x="183104" y="856009"/>
            <a:ext cx="979200" cy="507600"/>
          </a:xfrm>
          <a:prstGeom prst="rect">
            <a:avLst/>
          </a:prstGeom>
          <a:ln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25" tIns="9525" rIns="9525" bIns="71588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kern="1200" dirty="0" smtClean="0"/>
              <a:t>Demandas</a:t>
            </a:r>
          </a:p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kern="1200" dirty="0" smtClean="0"/>
              <a:t>Negócio</a:t>
            </a:r>
            <a:endParaRPr lang="pt-BR" sz="1200" kern="1200" dirty="0"/>
          </a:p>
        </p:txBody>
      </p:sp>
      <p:sp>
        <p:nvSpPr>
          <p:cNvPr id="110" name="Retângulo 109"/>
          <p:cNvSpPr/>
          <p:nvPr/>
        </p:nvSpPr>
        <p:spPr>
          <a:xfrm>
            <a:off x="107504" y="1327607"/>
            <a:ext cx="1130400" cy="295200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b="1" kern="1200" dirty="0" smtClean="0"/>
              <a:t>De operações</a:t>
            </a:r>
            <a:endParaRPr lang="pt-BR" sz="1200" b="1" kern="1200" dirty="0"/>
          </a:p>
        </p:txBody>
      </p:sp>
      <p:sp>
        <p:nvSpPr>
          <p:cNvPr id="111" name="Retângulo 110"/>
          <p:cNvSpPr/>
          <p:nvPr/>
        </p:nvSpPr>
        <p:spPr>
          <a:xfrm>
            <a:off x="3464469" y="856009"/>
            <a:ext cx="979200" cy="507600"/>
          </a:xfrm>
          <a:prstGeom prst="rect">
            <a:avLst/>
          </a:prstGeom>
          <a:ln>
            <a:noFill/>
          </a:ln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25" tIns="9525" rIns="9525" bIns="71588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dirty="0" smtClean="0"/>
              <a:t>Necessidades </a:t>
            </a:r>
          </a:p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dirty="0" smtClean="0"/>
              <a:t>de TI</a:t>
            </a:r>
            <a:endParaRPr lang="pt-BR" sz="1200" kern="1200" dirty="0"/>
          </a:p>
        </p:txBody>
      </p:sp>
      <p:sp>
        <p:nvSpPr>
          <p:cNvPr id="112" name="Retângulo 111"/>
          <p:cNvSpPr/>
          <p:nvPr/>
        </p:nvSpPr>
        <p:spPr>
          <a:xfrm>
            <a:off x="3388869" y="1327607"/>
            <a:ext cx="1130400" cy="295200"/>
          </a:xfrm>
          <a:prstGeom prst="rect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lvl="0"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b="1" kern="1200" dirty="0" smtClean="0"/>
              <a:t>De TI</a:t>
            </a:r>
            <a:endParaRPr lang="pt-BR" sz="1200" b="1" kern="1200" dirty="0"/>
          </a:p>
        </p:txBody>
      </p:sp>
      <p:sp>
        <p:nvSpPr>
          <p:cNvPr id="96" name="Retângulo 95"/>
          <p:cNvSpPr/>
          <p:nvPr/>
        </p:nvSpPr>
        <p:spPr>
          <a:xfrm>
            <a:off x="1547664" y="2520048"/>
            <a:ext cx="1570741" cy="764935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25" tIns="9525" rIns="9525" bIns="71588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dirty="0" smtClean="0"/>
              <a:t>Controle de Entrada e  Gestão de Filas</a:t>
            </a:r>
            <a:endParaRPr lang="pt-BR" sz="1200" kern="1200" dirty="0"/>
          </a:p>
        </p:txBody>
      </p:sp>
      <p:cxnSp>
        <p:nvCxnSpPr>
          <p:cNvPr id="60" name="Conector angulado 59"/>
          <p:cNvCxnSpPr>
            <a:stCxn id="110" idx="2"/>
            <a:endCxn id="114" idx="0"/>
          </p:cNvCxnSpPr>
          <p:nvPr/>
        </p:nvCxnSpPr>
        <p:spPr>
          <a:xfrm rot="16200000" flipH="1">
            <a:off x="1309846" y="985665"/>
            <a:ext cx="386047" cy="166033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tângulo de cantos arredondados 113"/>
          <p:cNvSpPr/>
          <p:nvPr/>
        </p:nvSpPr>
        <p:spPr>
          <a:xfrm>
            <a:off x="1843434" y="2008854"/>
            <a:ext cx="979200" cy="34002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25" tIns="9525" rIns="9525" bIns="71588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200" i="1" kern="1200" dirty="0" err="1" smtClean="0">
                <a:solidFill>
                  <a:schemeClr val="tx1"/>
                </a:solidFill>
              </a:rPr>
              <a:t>tProcess</a:t>
            </a:r>
            <a:endParaRPr lang="pt-BR" sz="1200" i="1" kern="1200" dirty="0">
              <a:solidFill>
                <a:schemeClr val="tx1"/>
              </a:solidFill>
            </a:endParaRPr>
          </a:p>
        </p:txBody>
      </p:sp>
      <p:cxnSp>
        <p:nvCxnSpPr>
          <p:cNvPr id="67" name="Conector angulado 66"/>
          <p:cNvCxnSpPr>
            <a:stCxn id="112" idx="2"/>
            <a:endCxn id="114" idx="0"/>
          </p:cNvCxnSpPr>
          <p:nvPr/>
        </p:nvCxnSpPr>
        <p:spPr>
          <a:xfrm rot="5400000">
            <a:off x="2950529" y="1005313"/>
            <a:ext cx="386047" cy="162103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89" idx="2"/>
            <a:endCxn id="114" idx="0"/>
          </p:cNvCxnSpPr>
          <p:nvPr/>
        </p:nvCxnSpPr>
        <p:spPr>
          <a:xfrm>
            <a:off x="2333034" y="1658809"/>
            <a:ext cx="0" cy="350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114" idx="2"/>
            <a:endCxn id="96" idx="0"/>
          </p:cNvCxnSpPr>
          <p:nvPr/>
        </p:nvCxnSpPr>
        <p:spPr>
          <a:xfrm>
            <a:off x="2333034" y="2348880"/>
            <a:ext cx="1" cy="17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>
            <a:off x="1691680" y="2019619"/>
            <a:ext cx="0" cy="414845"/>
          </a:xfrm>
          <a:prstGeom prst="line">
            <a:avLst/>
          </a:prstGeom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15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544" y="2000395"/>
            <a:ext cx="1187277" cy="43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algn="r" defTabSz="4000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1200" b="1" dirty="0" smtClean="0">
                <a:solidFill>
                  <a:schemeClr val="accent1"/>
                </a:solidFill>
              </a:rPr>
              <a:t>Entrada </a:t>
            </a:r>
            <a:r>
              <a:rPr lang="pt-BR" sz="1200" b="1" dirty="0">
                <a:solidFill>
                  <a:schemeClr val="accent1"/>
                </a:solidFill>
              </a:rPr>
              <a:t>ú</a:t>
            </a:r>
            <a:r>
              <a:rPr lang="pt-BR" sz="1200" b="1" dirty="0" smtClean="0">
                <a:solidFill>
                  <a:schemeClr val="accent1"/>
                </a:solidFill>
              </a:rPr>
              <a:t>nica</a:t>
            </a:r>
            <a:endParaRPr lang="pt-BR" sz="1200" b="1" dirty="0">
              <a:solidFill>
                <a:schemeClr val="accent1"/>
              </a:solidFill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1547664" y="3628437"/>
            <a:ext cx="1570741" cy="376627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20"/>
              </a:spcBef>
              <a:spcAft>
                <a:spcPts val="20"/>
              </a:spcAft>
            </a:pPr>
            <a:r>
              <a:rPr lang="pt-BR" sz="12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Thiago </a:t>
            </a:r>
            <a:endParaRPr lang="pt-BR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7" name="Conector reto 36"/>
          <p:cNvCxnSpPr/>
          <p:nvPr/>
        </p:nvCxnSpPr>
        <p:spPr>
          <a:xfrm>
            <a:off x="1475656" y="3302187"/>
            <a:ext cx="0" cy="297175"/>
          </a:xfrm>
          <a:prstGeom prst="line">
            <a:avLst/>
          </a:prstGeom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15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3274" y="3282963"/>
            <a:ext cx="865523" cy="43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algn="r" defTabSz="4000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1200" b="1" dirty="0">
                <a:solidFill>
                  <a:schemeClr val="accent1"/>
                </a:solidFill>
              </a:rPr>
              <a:t>Todos</a:t>
            </a:r>
          </a:p>
        </p:txBody>
      </p:sp>
      <p:cxnSp>
        <p:nvCxnSpPr>
          <p:cNvPr id="50" name="Conector reto 49"/>
          <p:cNvCxnSpPr/>
          <p:nvPr/>
        </p:nvCxnSpPr>
        <p:spPr>
          <a:xfrm>
            <a:off x="1475656" y="3664248"/>
            <a:ext cx="0" cy="297175"/>
          </a:xfrm>
          <a:prstGeom prst="line">
            <a:avLst/>
          </a:prstGeom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15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1520" y="3645024"/>
            <a:ext cx="1187277" cy="43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algn="r" defTabSz="4000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1200" b="1" dirty="0" smtClean="0">
                <a:solidFill>
                  <a:schemeClr val="accent1"/>
                </a:solidFill>
              </a:rPr>
              <a:t>Suporte a </a:t>
            </a:r>
            <a:r>
              <a:rPr lang="pt-BR" sz="1200" b="1" dirty="0" err="1" smtClean="0">
                <a:solidFill>
                  <a:schemeClr val="accent1"/>
                </a:solidFill>
              </a:rPr>
              <a:t>Pré</a:t>
            </a:r>
            <a:r>
              <a:rPr lang="pt-BR" sz="1200" b="1" dirty="0" smtClean="0">
                <a:solidFill>
                  <a:schemeClr val="accent1"/>
                </a:solidFill>
              </a:rPr>
              <a:t> Venda</a:t>
            </a:r>
            <a:endParaRPr lang="pt-BR" sz="1200" b="1" dirty="0">
              <a:solidFill>
                <a:schemeClr val="accent1"/>
              </a:solidFill>
            </a:endParaRPr>
          </a:p>
        </p:txBody>
      </p:sp>
      <p:cxnSp>
        <p:nvCxnSpPr>
          <p:cNvPr id="52" name="Conector reto 51"/>
          <p:cNvCxnSpPr/>
          <p:nvPr/>
        </p:nvCxnSpPr>
        <p:spPr>
          <a:xfrm>
            <a:off x="3341152" y="2504886"/>
            <a:ext cx="0" cy="4092466"/>
          </a:xfrm>
          <a:prstGeom prst="line">
            <a:avLst/>
          </a:prstGeom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15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88869" y="2502232"/>
            <a:ext cx="2983331" cy="400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1200" b="1" dirty="0" smtClean="0">
                <a:solidFill>
                  <a:schemeClr val="accent1"/>
                </a:solidFill>
              </a:rPr>
              <a:t>Relacionamento com Cliente Acompanhamento PM</a:t>
            </a:r>
            <a:endParaRPr lang="pt-BR" sz="1200" b="1" dirty="0">
              <a:solidFill>
                <a:schemeClr val="accent1"/>
              </a:solidFill>
            </a:endParaRPr>
          </a:p>
        </p:txBody>
      </p:sp>
      <p:cxnSp>
        <p:nvCxnSpPr>
          <p:cNvPr id="55" name="Conector reto 54"/>
          <p:cNvCxnSpPr/>
          <p:nvPr/>
        </p:nvCxnSpPr>
        <p:spPr>
          <a:xfrm>
            <a:off x="4139952" y="1718412"/>
            <a:ext cx="0" cy="508629"/>
          </a:xfrm>
          <a:prstGeom prst="line">
            <a:avLst/>
          </a:prstGeom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15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52807" y="1728779"/>
            <a:ext cx="1355297" cy="434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lt2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860" tIns="5715" rIns="22860" bIns="5715" numCol="1" spcCol="1270" anchor="ctr" anchorCtr="0">
            <a:noAutofit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1200" b="1" dirty="0" smtClean="0">
                <a:solidFill>
                  <a:schemeClr val="accent1"/>
                </a:solidFill>
              </a:rPr>
              <a:t>Acompanhamento PM Light</a:t>
            </a:r>
            <a:endParaRPr lang="pt-BR" sz="1200" b="1" dirty="0">
              <a:solidFill>
                <a:schemeClr val="accent1"/>
              </a:solidFill>
            </a:endParaRPr>
          </a:p>
        </p:txBody>
      </p:sp>
      <p:grpSp>
        <p:nvGrpSpPr>
          <p:cNvPr id="63" name="Grupo 62"/>
          <p:cNvGrpSpPr/>
          <p:nvPr/>
        </p:nvGrpSpPr>
        <p:grpSpPr>
          <a:xfrm>
            <a:off x="3504005" y="4077072"/>
            <a:ext cx="1181090" cy="603775"/>
            <a:chOff x="7603949" y="1196752"/>
            <a:chExt cx="1461509" cy="792089"/>
          </a:xfrm>
        </p:grpSpPr>
        <p:sp>
          <p:nvSpPr>
            <p:cNvPr id="64" name="Retângulo 63"/>
            <p:cNvSpPr/>
            <p:nvPr/>
          </p:nvSpPr>
          <p:spPr>
            <a:xfrm>
              <a:off x="7603949" y="1612213"/>
              <a:ext cx="1461509" cy="37662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0"/>
                </a:spcBef>
                <a:spcAft>
                  <a:spcPts val="20"/>
                </a:spcAft>
              </a:pPr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Leonardo</a:t>
              </a:r>
            </a:p>
          </p:txBody>
        </p:sp>
        <p:sp>
          <p:nvSpPr>
            <p:cNvPr id="65" name="Retângulo 64"/>
            <p:cNvSpPr/>
            <p:nvPr/>
          </p:nvSpPr>
          <p:spPr>
            <a:xfrm>
              <a:off x="7603949" y="1196752"/>
              <a:ext cx="1461509" cy="4320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Corporativo</a:t>
              </a:r>
            </a:p>
          </p:txBody>
        </p:sp>
      </p:grpSp>
      <p:grpSp>
        <p:nvGrpSpPr>
          <p:cNvPr id="66" name="Grupo 65"/>
          <p:cNvGrpSpPr/>
          <p:nvPr/>
        </p:nvGrpSpPr>
        <p:grpSpPr>
          <a:xfrm>
            <a:off x="3504004" y="2935926"/>
            <a:ext cx="1572052" cy="1042882"/>
            <a:chOff x="63205" y="1196752"/>
            <a:chExt cx="2132531" cy="1368152"/>
          </a:xfrm>
        </p:grpSpPr>
        <p:sp>
          <p:nvSpPr>
            <p:cNvPr id="68" name="Retângulo 67"/>
            <p:cNvSpPr/>
            <p:nvPr/>
          </p:nvSpPr>
          <p:spPr>
            <a:xfrm>
              <a:off x="63206" y="1612213"/>
              <a:ext cx="2132530" cy="37662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72000" rIns="72000" bIns="72000" rtlCol="0" anchor="t"/>
            <a:lstStyle/>
            <a:p>
              <a:pPr algn="ctr">
                <a:spcBef>
                  <a:spcPts val="20"/>
                </a:spcBef>
                <a:spcAft>
                  <a:spcPts val="20"/>
                </a:spcAft>
              </a:pPr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Batista</a:t>
              </a:r>
            </a:p>
          </p:txBody>
        </p:sp>
        <p:sp>
          <p:nvSpPr>
            <p:cNvPr id="69" name="Retângulo 68"/>
            <p:cNvSpPr/>
            <p:nvPr/>
          </p:nvSpPr>
          <p:spPr>
            <a:xfrm>
              <a:off x="63206" y="1196752"/>
              <a:ext cx="2132530" cy="4320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Oi</a:t>
              </a:r>
            </a:p>
          </p:txBody>
        </p:sp>
        <p:sp>
          <p:nvSpPr>
            <p:cNvPr id="70" name="Retângulo 69"/>
            <p:cNvSpPr/>
            <p:nvPr/>
          </p:nvSpPr>
          <p:spPr>
            <a:xfrm>
              <a:off x="63205" y="2060848"/>
              <a:ext cx="2132530" cy="209146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" tIns="3600" rIns="3600" bIns="3600" anchor="ctr"/>
            <a:lstStyle/>
            <a:p>
              <a:pPr algn="ctr"/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Edinho</a:t>
              </a:r>
              <a:endParaRPr lang="pt-B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63206" y="2355758"/>
              <a:ext cx="2132530" cy="209146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" tIns="3600" rIns="3600" bIns="3600" anchor="ctr"/>
            <a:lstStyle/>
            <a:p>
              <a:pPr algn="ctr"/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Erica</a:t>
              </a:r>
              <a:endParaRPr lang="pt-B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75" name="Grupo 74"/>
          <p:cNvGrpSpPr/>
          <p:nvPr/>
        </p:nvGrpSpPr>
        <p:grpSpPr>
          <a:xfrm>
            <a:off x="5215774" y="2935926"/>
            <a:ext cx="3172649" cy="818085"/>
            <a:chOff x="3923928" y="1196752"/>
            <a:chExt cx="3633383" cy="1073242"/>
          </a:xfrm>
        </p:grpSpPr>
        <p:sp>
          <p:nvSpPr>
            <p:cNvPr id="76" name="Retângulo 75"/>
            <p:cNvSpPr/>
            <p:nvPr/>
          </p:nvSpPr>
          <p:spPr>
            <a:xfrm>
              <a:off x="3923929" y="1612213"/>
              <a:ext cx="3633382" cy="37662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72000" rIns="72000" bIns="72000" rtlCol="0" anchor="t"/>
            <a:lstStyle/>
            <a:p>
              <a:pPr algn="ctr">
                <a:spcBef>
                  <a:spcPts val="20"/>
                </a:spcBef>
                <a:spcAft>
                  <a:spcPts val="20"/>
                </a:spcAft>
              </a:pPr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Júlio</a:t>
              </a:r>
            </a:p>
          </p:txBody>
        </p:sp>
        <p:sp>
          <p:nvSpPr>
            <p:cNvPr id="77" name="Retângulo 76"/>
            <p:cNvSpPr/>
            <p:nvPr/>
          </p:nvSpPr>
          <p:spPr>
            <a:xfrm>
              <a:off x="3923928" y="1196752"/>
              <a:ext cx="3633383" cy="4320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Santander / </a:t>
              </a:r>
              <a:r>
                <a:rPr lang="pt-BR" sz="1200" b="1" dirty="0" err="1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Cli</a:t>
              </a:r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Especiais / Itaú / Vivo</a:t>
              </a:r>
            </a:p>
          </p:txBody>
        </p:sp>
        <p:sp>
          <p:nvSpPr>
            <p:cNvPr id="79" name="Retângulo 78"/>
            <p:cNvSpPr/>
            <p:nvPr/>
          </p:nvSpPr>
          <p:spPr>
            <a:xfrm>
              <a:off x="3923929" y="2060848"/>
              <a:ext cx="3633382" cy="209146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" tIns="3600" rIns="3600" bIns="3600" anchor="ctr"/>
            <a:lstStyle/>
            <a:p>
              <a:pPr algn="ctr"/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Débora</a:t>
              </a:r>
              <a:endParaRPr lang="pt-B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0" name="Grupo 79"/>
          <p:cNvGrpSpPr/>
          <p:nvPr/>
        </p:nvGrpSpPr>
        <p:grpSpPr>
          <a:xfrm>
            <a:off x="5458005" y="4077072"/>
            <a:ext cx="1077390" cy="603774"/>
            <a:chOff x="1679550" y="2763967"/>
            <a:chExt cx="1461509" cy="792088"/>
          </a:xfrm>
        </p:grpSpPr>
        <p:sp>
          <p:nvSpPr>
            <p:cNvPr id="81" name="Retângulo 80"/>
            <p:cNvSpPr/>
            <p:nvPr/>
          </p:nvSpPr>
          <p:spPr>
            <a:xfrm>
              <a:off x="1679550" y="3179428"/>
              <a:ext cx="1461509" cy="37662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0"/>
                </a:spcBef>
                <a:spcAft>
                  <a:spcPts val="20"/>
                </a:spcAft>
              </a:pPr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Edinho</a:t>
              </a:r>
              <a:endParaRPr lang="pt-B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2" name="Retângulo 81"/>
            <p:cNvSpPr/>
            <p:nvPr/>
          </p:nvSpPr>
          <p:spPr>
            <a:xfrm>
              <a:off x="1679550" y="2763967"/>
              <a:ext cx="1461509" cy="4320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Gás </a:t>
              </a:r>
              <a:r>
                <a:rPr lang="pt-BR" sz="1200" b="1" dirty="0" err="1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Fenosa</a:t>
              </a:r>
              <a:endParaRPr lang="pt-BR" sz="1200" b="1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1" name="Grupo 90"/>
          <p:cNvGrpSpPr/>
          <p:nvPr/>
        </p:nvGrpSpPr>
        <p:grpSpPr>
          <a:xfrm>
            <a:off x="7308304" y="4065499"/>
            <a:ext cx="1077390" cy="603774"/>
            <a:chOff x="3347864" y="2763967"/>
            <a:chExt cx="1461509" cy="792088"/>
          </a:xfrm>
        </p:grpSpPr>
        <p:sp>
          <p:nvSpPr>
            <p:cNvPr id="92" name="Retângulo 91"/>
            <p:cNvSpPr/>
            <p:nvPr/>
          </p:nvSpPr>
          <p:spPr>
            <a:xfrm>
              <a:off x="3347864" y="3179428"/>
              <a:ext cx="1461509" cy="37662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20"/>
                </a:spcBef>
                <a:spcAft>
                  <a:spcPts val="20"/>
                </a:spcAft>
              </a:pPr>
              <a:r>
                <a:rPr lang="pt-BR" sz="1200" dirty="0" smtClean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Paulo</a:t>
              </a:r>
              <a:endParaRPr lang="pt-BR" sz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3" name="Retângulo 92"/>
            <p:cNvSpPr/>
            <p:nvPr/>
          </p:nvSpPr>
          <p:spPr>
            <a:xfrm>
              <a:off x="3347864" y="2763967"/>
              <a:ext cx="1461509" cy="4320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200" b="1" dirty="0" smtClean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América M.</a:t>
              </a:r>
            </a:p>
          </p:txBody>
        </p:sp>
      </p:grpSp>
      <p:sp>
        <p:nvSpPr>
          <p:cNvPr id="94" name="Pentágono 93"/>
          <p:cNvSpPr/>
          <p:nvPr/>
        </p:nvSpPr>
        <p:spPr>
          <a:xfrm>
            <a:off x="3504005" y="4946616"/>
            <a:ext cx="5589724" cy="427814"/>
          </a:xfrm>
          <a:prstGeom prst="homePlate">
            <a:avLst/>
          </a:prstGeom>
          <a:solidFill>
            <a:schemeClr val="bg2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" tIns="3600" rIns="3600" bIns="3600" anchor="ctr"/>
          <a:lstStyle/>
          <a:p>
            <a:pPr algn="ctr"/>
            <a:r>
              <a:rPr lang="pt-BR" sz="12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Suporte a Implantação</a:t>
            </a:r>
            <a:r>
              <a:rPr lang="pt-BR" sz="12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Marcelo e Bruno Ribeiro</a:t>
            </a:r>
            <a:endParaRPr lang="pt-BR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Rectangle 153"/>
          <p:cNvSpPr>
            <a:spLocks noChangeArrowheads="1"/>
          </p:cNvSpPr>
          <p:nvPr/>
        </p:nvSpPr>
        <p:spPr bwMode="auto">
          <a:xfrm>
            <a:off x="467544" y="4218971"/>
            <a:ext cx="2189336" cy="2236482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 anchorCtr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r>
              <a:rPr lang="pt-BR" sz="1000" b="1" dirty="0" smtClean="0">
                <a:solidFill>
                  <a:schemeClr val="accent1"/>
                </a:solidFill>
              </a:rPr>
              <a:t>Atual</a:t>
            </a:r>
          </a:p>
          <a:p>
            <a:pPr marL="171450" lvl="1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</a:rPr>
              <a:t>Gestão </a:t>
            </a:r>
            <a:r>
              <a:rPr lang="pt-BR" sz="1000" dirty="0">
                <a:solidFill>
                  <a:schemeClr val="accent1"/>
                </a:solidFill>
              </a:rPr>
              <a:t>da entrada dos projetos</a:t>
            </a:r>
          </a:p>
          <a:p>
            <a:pPr marL="171450" lvl="1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  <a:latin typeface="+mj-lt"/>
              </a:rPr>
              <a:t>Status </a:t>
            </a:r>
            <a:r>
              <a:rPr lang="pt-BR" sz="1000" dirty="0" err="1" smtClean="0">
                <a:solidFill>
                  <a:schemeClr val="accent1"/>
                </a:solidFill>
                <a:latin typeface="+mj-lt"/>
              </a:rPr>
              <a:t>Report</a:t>
            </a:r>
            <a:endParaRPr lang="pt-BR" sz="1000" dirty="0" smtClean="0">
              <a:solidFill>
                <a:schemeClr val="accent1"/>
              </a:solidFill>
              <a:latin typeface="+mj-lt"/>
            </a:endParaRPr>
          </a:p>
          <a:p>
            <a:pPr marL="171450" lvl="1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  <a:latin typeface="+mj-lt"/>
              </a:rPr>
              <a:t>Alocação de líderes de projeto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  <a:latin typeface="+mj-lt"/>
              </a:rPr>
              <a:t>Gestão Fornecedores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  <a:latin typeface="+mj-lt"/>
              </a:rPr>
              <a:t>Priorização de projetos conforme modelo</a:t>
            </a:r>
          </a:p>
          <a:p>
            <a:pPr marL="171450" lvl="1" indent="-171450">
              <a:buFont typeface="Arial" pitchFamily="34" charset="0"/>
              <a:buChar char="•"/>
            </a:pPr>
            <a:r>
              <a:rPr lang="pt-BR" sz="1000" dirty="0">
                <a:solidFill>
                  <a:schemeClr val="accent1"/>
                </a:solidFill>
              </a:rPr>
              <a:t>Gestão de filas de execução</a:t>
            </a:r>
          </a:p>
          <a:p>
            <a:r>
              <a:rPr lang="pt-BR" sz="1000" b="1" dirty="0" smtClean="0">
                <a:solidFill>
                  <a:schemeClr val="accent1"/>
                </a:solidFill>
                <a:latin typeface="+mj-lt"/>
              </a:rPr>
              <a:t>Próximo</a:t>
            </a:r>
          </a:p>
          <a:p>
            <a:pPr marL="171450" lvl="1" indent="-171450">
              <a:buFont typeface="Arial" pitchFamily="34" charset="0"/>
              <a:buChar char="•"/>
            </a:pPr>
            <a:r>
              <a:rPr lang="pt-BR" sz="1000" dirty="0">
                <a:solidFill>
                  <a:schemeClr val="accent1"/>
                </a:solidFill>
              </a:rPr>
              <a:t>Avaliação de </a:t>
            </a:r>
            <a:r>
              <a:rPr lang="pt-BR" sz="1000" dirty="0" err="1">
                <a:solidFill>
                  <a:schemeClr val="accent1"/>
                </a:solidFill>
              </a:rPr>
              <a:t>OGs</a:t>
            </a:r>
            <a:r>
              <a:rPr lang="pt-BR" sz="1000" dirty="0">
                <a:solidFill>
                  <a:schemeClr val="accent1"/>
                </a:solidFill>
              </a:rPr>
              <a:t> (esforço e custo H)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000" dirty="0" smtClean="0">
                <a:solidFill>
                  <a:schemeClr val="accent1"/>
                </a:solidFill>
              </a:rPr>
              <a:t>Controlo </a:t>
            </a:r>
            <a:r>
              <a:rPr lang="pt-BR" sz="1000" dirty="0">
                <a:solidFill>
                  <a:schemeClr val="accent1"/>
                </a:solidFill>
              </a:rPr>
              <a:t>de alocação Horas  e </a:t>
            </a:r>
            <a:r>
              <a:rPr lang="pt-BR" sz="1000" dirty="0" smtClean="0">
                <a:solidFill>
                  <a:schemeClr val="accent1"/>
                </a:solidFill>
              </a:rPr>
              <a:t>repasse</a:t>
            </a:r>
          </a:p>
          <a:p>
            <a:pPr marL="171450" indent="-171450">
              <a:buFont typeface="Arial" pitchFamily="34" charset="0"/>
              <a:buChar char="•"/>
            </a:pPr>
            <a:endParaRPr lang="pt-BR" sz="1000" dirty="0" smtClean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0" name="Conector angulado 29"/>
          <p:cNvCxnSpPr>
            <a:stCxn id="38" idx="1"/>
            <a:endCxn id="113" idx="1"/>
          </p:cNvCxnSpPr>
          <p:nvPr/>
        </p:nvCxnSpPr>
        <p:spPr>
          <a:xfrm rot="10800000" flipV="1">
            <a:off x="393254" y="3499998"/>
            <a:ext cx="180020" cy="1406224"/>
          </a:xfrm>
          <a:prstGeom prst="bentConnector3">
            <a:avLst>
              <a:gd name="adj1" fmla="val 226986"/>
            </a:avLst>
          </a:prstGeom>
          <a:ln w="952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53"/>
          <p:cNvSpPr>
            <a:spLocks noChangeArrowheads="1"/>
          </p:cNvSpPr>
          <p:nvPr/>
        </p:nvSpPr>
        <p:spPr bwMode="auto">
          <a:xfrm>
            <a:off x="393254" y="4799268"/>
            <a:ext cx="360040" cy="213908"/>
          </a:xfrm>
          <a:prstGeom prst="rect">
            <a:avLst/>
          </a:prstGeom>
          <a:noFill/>
          <a:ln w="31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tIns="3600" rIns="3600" bIns="3600" rtlCol="0" anchor="ctr" anchorCtr="0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/>
            <a:endParaRPr lang="pt-BR" sz="1000" dirty="0" smtClean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3" name="Retângulo 82"/>
          <p:cNvSpPr/>
          <p:nvPr/>
        </p:nvSpPr>
        <p:spPr>
          <a:xfrm>
            <a:off x="5215775" y="3802000"/>
            <a:ext cx="3172648" cy="159423"/>
          </a:xfrm>
          <a:prstGeom prst="rect">
            <a:avLst/>
          </a:prstGeom>
          <a:solidFill>
            <a:schemeClr val="bg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" tIns="3600" rIns="3600" bIns="360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Juliana</a:t>
            </a:r>
            <a:endParaRPr lang="pt-BR" sz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81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duYVCwzx0WkSplLeVQPh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duYVCwzx0WkSplLeVQPh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duYVCwzx0WkSplLeVQP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duYVCwzx0WkSplLeVQP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duYVCwzx0WkSplLeVQPhw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6409</TotalTime>
  <Words>118</Words>
  <Application>Microsoft Office PowerPoint</Application>
  <PresentationFormat>Apresentação na tela (4:3)</PresentationFormat>
  <Paragraphs>44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Guerra Ferreira</dc:creator>
  <cp:lastModifiedBy>Milene Areias Jorge</cp:lastModifiedBy>
  <cp:revision>41</cp:revision>
  <dcterms:created xsi:type="dcterms:W3CDTF">2016-05-17T17:06:26Z</dcterms:created>
  <dcterms:modified xsi:type="dcterms:W3CDTF">2016-06-02T23:46:48Z</dcterms:modified>
</cp:coreProperties>
</file>