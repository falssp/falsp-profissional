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46"/>
  </p:notesMasterIdLst>
  <p:sldIdLst>
    <p:sldId id="256" r:id="rId6"/>
    <p:sldId id="257" r:id="rId7"/>
    <p:sldId id="258" r:id="rId8"/>
    <p:sldId id="260" r:id="rId9"/>
    <p:sldId id="259" r:id="rId10"/>
    <p:sldId id="261" r:id="rId11"/>
    <p:sldId id="262" r:id="rId12"/>
    <p:sldId id="263" r:id="rId13"/>
    <p:sldId id="264" r:id="rId14"/>
    <p:sldId id="265" r:id="rId15"/>
    <p:sldId id="266" r:id="rId16"/>
    <p:sldId id="275" r:id="rId17"/>
    <p:sldId id="276" r:id="rId18"/>
    <p:sldId id="267" r:id="rId19"/>
    <p:sldId id="268" r:id="rId20"/>
    <p:sldId id="269" r:id="rId21"/>
    <p:sldId id="270" r:id="rId22"/>
    <p:sldId id="271" r:id="rId23"/>
    <p:sldId id="273" r:id="rId24"/>
    <p:sldId id="281" r:id="rId25"/>
    <p:sldId id="277" r:id="rId26"/>
    <p:sldId id="278" r:id="rId27"/>
    <p:sldId id="279" r:id="rId28"/>
    <p:sldId id="280" r:id="rId29"/>
    <p:sldId id="288" r:id="rId30"/>
    <p:sldId id="274" r:id="rId31"/>
    <p:sldId id="283" r:id="rId32"/>
    <p:sldId id="284" r:id="rId33"/>
    <p:sldId id="293" r:id="rId34"/>
    <p:sldId id="285" r:id="rId35"/>
    <p:sldId id="286" r:id="rId36"/>
    <p:sldId id="287" r:id="rId37"/>
    <p:sldId id="294" r:id="rId38"/>
    <p:sldId id="289" r:id="rId39"/>
    <p:sldId id="295" r:id="rId40"/>
    <p:sldId id="290" r:id="rId41"/>
    <p:sldId id="291" r:id="rId42"/>
    <p:sldId id="292" r:id="rId43"/>
    <p:sldId id="296" r:id="rId44"/>
    <p:sldId id="297" r:id="rId4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110" d="100"/>
          <a:sy n="110" d="100"/>
        </p:scale>
        <p:origin x="677" y="77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786E1FE-D7F9-471F-94DD-191AF214B35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54AA878-F344-451E-BDB3-8CC08816A0E1}">
      <dgm:prSet phldrT="[Texto]"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b="1" dirty="0">
              <a:solidFill>
                <a:schemeClr val="accent5">
                  <a:lumMod val="50000"/>
                </a:schemeClr>
              </a:solidFill>
            </a:rPr>
            <a:t>Demanda</a:t>
          </a:r>
        </a:p>
      </dgm:t>
    </dgm:pt>
    <dgm:pt modelId="{2E9B931A-8E7E-4E64-BCDE-6E12F56FA616}" type="parTrans" cxnId="{DBD441D9-ABD6-47C1-9D92-BCA0937076B7}">
      <dgm:prSet/>
      <dgm:spPr/>
      <dgm:t>
        <a:bodyPr/>
        <a:lstStyle/>
        <a:p>
          <a:endParaRPr lang="pt-BR"/>
        </a:p>
      </dgm:t>
    </dgm:pt>
    <dgm:pt modelId="{2C72866C-5AE5-4D57-8887-446ABC885CE2}" type="sibTrans" cxnId="{DBD441D9-ABD6-47C1-9D92-BCA0937076B7}">
      <dgm:prSet/>
      <dgm:spPr/>
      <dgm:t>
        <a:bodyPr/>
        <a:lstStyle/>
        <a:p>
          <a:endParaRPr lang="pt-BR"/>
        </a:p>
      </dgm:t>
    </dgm:pt>
    <dgm:pt modelId="{13F9CBAA-232A-4477-B4EC-1E01377A7CA6}">
      <dgm:prSet phldrT="[Texto]"/>
      <dgm:spPr>
        <a:solidFill>
          <a:schemeClr val="accent2">
            <a:lumMod val="60000"/>
            <a:lumOff val="40000"/>
          </a:schemeClr>
        </a:solidFill>
        <a:ln>
          <a:solidFill>
            <a:schemeClr val="accent2">
              <a:lumMod val="60000"/>
              <a:lumOff val="40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b="1" dirty="0">
              <a:solidFill>
                <a:schemeClr val="accent2">
                  <a:lumMod val="50000"/>
                </a:schemeClr>
              </a:solidFill>
            </a:rPr>
            <a:t>Projeto</a:t>
          </a:r>
        </a:p>
      </dgm:t>
    </dgm:pt>
    <dgm:pt modelId="{EFAF6A6C-EE73-4485-8698-EC1ED502D4FF}" type="parTrans" cxnId="{75769397-0550-4066-B85D-04BDCC8C3609}">
      <dgm:prSet/>
      <dgm:spPr/>
      <dgm:t>
        <a:bodyPr/>
        <a:lstStyle/>
        <a:p>
          <a:endParaRPr lang="pt-BR"/>
        </a:p>
      </dgm:t>
    </dgm:pt>
    <dgm:pt modelId="{D00D399E-B49D-4B53-8909-C3C6D4A9B525}" type="sibTrans" cxnId="{75769397-0550-4066-B85D-04BDCC8C3609}">
      <dgm:prSet/>
      <dgm:spPr/>
      <dgm:t>
        <a:bodyPr/>
        <a:lstStyle/>
        <a:p>
          <a:endParaRPr lang="pt-BR"/>
        </a:p>
      </dgm:t>
    </dgm:pt>
    <dgm:pt modelId="{5FAA8137-CB71-4225-B46D-17F009FBACE7}">
      <dgm:prSet phldrT="[Texto]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b="1" dirty="0">
              <a:solidFill>
                <a:schemeClr val="accent6">
                  <a:lumMod val="50000"/>
                </a:schemeClr>
              </a:solidFill>
            </a:rPr>
            <a:t>Mudança</a:t>
          </a:r>
        </a:p>
      </dgm:t>
    </dgm:pt>
    <dgm:pt modelId="{F9ED3BC2-233B-4292-BB19-1F327AED4B2B}" type="parTrans" cxnId="{F87427EA-98EF-47AE-9654-A33F540B74E0}">
      <dgm:prSet/>
      <dgm:spPr/>
      <dgm:t>
        <a:bodyPr/>
        <a:lstStyle/>
        <a:p>
          <a:endParaRPr lang="pt-BR"/>
        </a:p>
      </dgm:t>
    </dgm:pt>
    <dgm:pt modelId="{9621420C-D91C-4837-A0C0-4F595E0BA172}" type="sibTrans" cxnId="{F87427EA-98EF-47AE-9654-A33F540B74E0}">
      <dgm:prSet/>
      <dgm:spPr/>
      <dgm:t>
        <a:bodyPr/>
        <a:lstStyle/>
        <a:p>
          <a:endParaRPr lang="pt-BR"/>
        </a:p>
      </dgm:t>
    </dgm:pt>
    <dgm:pt modelId="{15C3BBA6-A0DB-4043-B4E5-0660B795318A}" type="pres">
      <dgm:prSet presAssocID="{6786E1FE-D7F9-471F-94DD-191AF214B35A}" presName="Name0" presStyleCnt="0">
        <dgm:presLayoutVars>
          <dgm:dir/>
          <dgm:animLvl val="lvl"/>
          <dgm:resizeHandles val="exact"/>
        </dgm:presLayoutVars>
      </dgm:prSet>
      <dgm:spPr/>
    </dgm:pt>
    <dgm:pt modelId="{7F942402-03E6-40C5-ABDF-EAFFEF389C44}" type="pres">
      <dgm:prSet presAssocID="{654AA878-F344-451E-BDB3-8CC08816A0E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A7F456-67A9-4E87-AA7C-62A83DB68BAD}" type="pres">
      <dgm:prSet presAssocID="{2C72866C-5AE5-4D57-8887-446ABC885CE2}" presName="parTxOnlySpace" presStyleCnt="0"/>
      <dgm:spPr/>
    </dgm:pt>
    <dgm:pt modelId="{8E06C1C8-BEAC-421F-BF14-0CB2E1C62A45}" type="pres">
      <dgm:prSet presAssocID="{13F9CBAA-232A-4477-B4EC-1E01377A7CA6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7116375-7241-401B-BA72-F9300A33F6B4}" type="pres">
      <dgm:prSet presAssocID="{D00D399E-B49D-4B53-8909-C3C6D4A9B525}" presName="parTxOnlySpace" presStyleCnt="0"/>
      <dgm:spPr/>
    </dgm:pt>
    <dgm:pt modelId="{BE247C7F-2587-4DF5-941B-6B7AD2C6A59E}" type="pres">
      <dgm:prSet presAssocID="{5FAA8137-CB71-4225-B46D-17F009FBACE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BD441D9-ABD6-47C1-9D92-BCA0937076B7}" srcId="{6786E1FE-D7F9-471F-94DD-191AF214B35A}" destId="{654AA878-F344-451E-BDB3-8CC08816A0E1}" srcOrd="0" destOrd="0" parTransId="{2E9B931A-8E7E-4E64-BCDE-6E12F56FA616}" sibTransId="{2C72866C-5AE5-4D57-8887-446ABC885CE2}"/>
    <dgm:cxn modelId="{4BFC58D4-6FCB-4907-AF2A-6B2A030A343E}" type="presOf" srcId="{6786E1FE-D7F9-471F-94DD-191AF214B35A}" destId="{15C3BBA6-A0DB-4043-B4E5-0660B795318A}" srcOrd="0" destOrd="0" presId="urn:microsoft.com/office/officeart/2005/8/layout/chevron1"/>
    <dgm:cxn modelId="{BB0598CF-3A09-46CD-9F5E-78EC0287BB97}" type="presOf" srcId="{13F9CBAA-232A-4477-B4EC-1E01377A7CA6}" destId="{8E06C1C8-BEAC-421F-BF14-0CB2E1C62A45}" srcOrd="0" destOrd="0" presId="urn:microsoft.com/office/officeart/2005/8/layout/chevron1"/>
    <dgm:cxn modelId="{1451E9E2-7DC2-48FB-8DF7-F698866F761E}" type="presOf" srcId="{5FAA8137-CB71-4225-B46D-17F009FBACE7}" destId="{BE247C7F-2587-4DF5-941B-6B7AD2C6A59E}" srcOrd="0" destOrd="0" presId="urn:microsoft.com/office/officeart/2005/8/layout/chevron1"/>
    <dgm:cxn modelId="{75769397-0550-4066-B85D-04BDCC8C3609}" srcId="{6786E1FE-D7F9-471F-94DD-191AF214B35A}" destId="{13F9CBAA-232A-4477-B4EC-1E01377A7CA6}" srcOrd="1" destOrd="0" parTransId="{EFAF6A6C-EE73-4485-8698-EC1ED502D4FF}" sibTransId="{D00D399E-B49D-4B53-8909-C3C6D4A9B525}"/>
    <dgm:cxn modelId="{F87427EA-98EF-47AE-9654-A33F540B74E0}" srcId="{6786E1FE-D7F9-471F-94DD-191AF214B35A}" destId="{5FAA8137-CB71-4225-B46D-17F009FBACE7}" srcOrd="2" destOrd="0" parTransId="{F9ED3BC2-233B-4292-BB19-1F327AED4B2B}" sibTransId="{9621420C-D91C-4837-A0C0-4F595E0BA172}"/>
    <dgm:cxn modelId="{69A73510-7510-407F-BF06-069127D2E6D0}" type="presOf" srcId="{654AA878-F344-451E-BDB3-8CC08816A0E1}" destId="{7F942402-03E6-40C5-ABDF-EAFFEF389C44}" srcOrd="0" destOrd="0" presId="urn:microsoft.com/office/officeart/2005/8/layout/chevron1"/>
    <dgm:cxn modelId="{0644CDC6-9582-4DA8-8CDF-B0E39DD08738}" type="presParOf" srcId="{15C3BBA6-A0DB-4043-B4E5-0660B795318A}" destId="{7F942402-03E6-40C5-ABDF-EAFFEF389C44}" srcOrd="0" destOrd="0" presId="urn:microsoft.com/office/officeart/2005/8/layout/chevron1"/>
    <dgm:cxn modelId="{85E693F7-F502-4EEA-98A0-AA328C135F8D}" type="presParOf" srcId="{15C3BBA6-A0DB-4043-B4E5-0660B795318A}" destId="{B9A7F456-67A9-4E87-AA7C-62A83DB68BAD}" srcOrd="1" destOrd="0" presId="urn:microsoft.com/office/officeart/2005/8/layout/chevron1"/>
    <dgm:cxn modelId="{A8387DCA-FCFB-432B-BABA-3B970AA3C3F3}" type="presParOf" srcId="{15C3BBA6-A0DB-4043-B4E5-0660B795318A}" destId="{8E06C1C8-BEAC-421F-BF14-0CB2E1C62A45}" srcOrd="2" destOrd="0" presId="urn:microsoft.com/office/officeart/2005/8/layout/chevron1"/>
    <dgm:cxn modelId="{9334680A-1E46-4871-A1C1-240E3714F808}" type="presParOf" srcId="{15C3BBA6-A0DB-4043-B4E5-0660B795318A}" destId="{F7116375-7241-401B-BA72-F9300A33F6B4}" srcOrd="3" destOrd="0" presId="urn:microsoft.com/office/officeart/2005/8/layout/chevron1"/>
    <dgm:cxn modelId="{2BBAA7C5-D7E8-4967-9F98-11CC88BBBE5D}" type="presParOf" srcId="{15C3BBA6-A0DB-4043-B4E5-0660B795318A}" destId="{BE247C7F-2587-4DF5-941B-6B7AD2C6A59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42402-03E6-40C5-ABDF-EAFFEF389C44}">
      <dsp:nvSpPr>
        <dsp:cNvPr id="0" name=""/>
        <dsp:cNvSpPr/>
      </dsp:nvSpPr>
      <dsp:spPr>
        <a:xfrm>
          <a:off x="1089" y="974228"/>
          <a:ext cx="1327502" cy="531001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5">
                  <a:lumMod val="50000"/>
                </a:schemeClr>
              </a:solidFill>
            </a:rPr>
            <a:t>Demanda</a:t>
          </a:r>
        </a:p>
      </dsp:txBody>
      <dsp:txXfrm>
        <a:off x="266590" y="974228"/>
        <a:ext cx="796501" cy="531001"/>
      </dsp:txXfrm>
    </dsp:sp>
    <dsp:sp modelId="{8E06C1C8-BEAC-421F-BF14-0CB2E1C62A45}">
      <dsp:nvSpPr>
        <dsp:cNvPr id="0" name=""/>
        <dsp:cNvSpPr/>
      </dsp:nvSpPr>
      <dsp:spPr>
        <a:xfrm>
          <a:off x="1195842" y="974228"/>
          <a:ext cx="1327502" cy="53100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2">
              <a:lumMod val="60000"/>
              <a:lumOff val="4000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2">
                  <a:lumMod val="50000"/>
                </a:schemeClr>
              </a:solidFill>
            </a:rPr>
            <a:t>Projeto</a:t>
          </a:r>
        </a:p>
      </dsp:txBody>
      <dsp:txXfrm>
        <a:off x="1461343" y="974228"/>
        <a:ext cx="796501" cy="531001"/>
      </dsp:txXfrm>
    </dsp:sp>
    <dsp:sp modelId="{BE247C7F-2587-4DF5-941B-6B7AD2C6A59E}">
      <dsp:nvSpPr>
        <dsp:cNvPr id="0" name=""/>
        <dsp:cNvSpPr/>
      </dsp:nvSpPr>
      <dsp:spPr>
        <a:xfrm>
          <a:off x="2390594" y="974228"/>
          <a:ext cx="1327502" cy="531001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6">
                  <a:lumMod val="50000"/>
                </a:schemeClr>
              </a:solidFill>
            </a:rPr>
            <a:t>Mudança</a:t>
          </a:r>
        </a:p>
      </dsp:txBody>
      <dsp:txXfrm>
        <a:off x="2656095" y="974228"/>
        <a:ext cx="796501" cy="531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image" Target="../media/image13.pn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image" Target="../media/image14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microsoft.com/office/2007/relationships/hdphoto" Target="../media/hdphoto1.wdp"/><Relationship Id="rId7" Type="http://schemas.openxmlformats.org/officeDocument/2006/relationships/diagramColors" Target="../diagrams/colors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0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4307528"/>
            <a:ext cx="9144000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</p:txBody>
      </p:sp>
    </p:spTree>
    <p:extLst>
      <p:ext uri="{BB962C8B-B14F-4D97-AF65-F5344CB8AC3E}">
        <p14:creationId xmlns:p14="http://schemas.microsoft.com/office/powerpoint/2010/main" val="406663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/>
          <p:cNvGrpSpPr/>
          <p:nvPr/>
        </p:nvGrpSpPr>
        <p:grpSpPr>
          <a:xfrm>
            <a:off x="245598" y="547238"/>
            <a:ext cx="8514839" cy="4809033"/>
            <a:chOff x="245598" y="547238"/>
            <a:chExt cx="8514839" cy="4809033"/>
          </a:xfrm>
        </p:grpSpPr>
        <p:sp>
          <p:nvSpPr>
            <p:cNvPr id="11" name="Triângulo Retângulo 10"/>
            <p:cNvSpPr/>
            <p:nvPr/>
          </p:nvSpPr>
          <p:spPr>
            <a:xfrm>
              <a:off x="245598" y="547238"/>
              <a:ext cx="8514839" cy="4486235"/>
            </a:xfrm>
            <a:prstGeom prst="rtTriangle">
              <a:avLst/>
            </a:prstGeom>
            <a:solidFill>
              <a:schemeClr val="accent4">
                <a:lumMod val="20000"/>
                <a:lumOff val="8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Triângulo Retângulo 9"/>
            <p:cNvSpPr/>
            <p:nvPr/>
          </p:nvSpPr>
          <p:spPr>
            <a:xfrm rot="10800000">
              <a:off x="245598" y="565485"/>
              <a:ext cx="8514839" cy="4486235"/>
            </a:xfrm>
            <a:prstGeom prst="rtTriangle">
              <a:avLst/>
            </a:prstGeom>
            <a:solidFill>
              <a:schemeClr val="accent1">
                <a:lumMod val="75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 rot="19695576">
              <a:off x="2059007" y="371804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4" name="Diagrama 3"/>
            <p:cNvGraphicFramePr/>
            <p:nvPr>
              <p:extLst>
                <p:ext uri="{D42A27DB-BD31-4B8C-83A1-F6EECF244321}">
                  <p14:modId xmlns:p14="http://schemas.microsoft.com/office/powerpoint/2010/main" val="1808424484"/>
                </p:ext>
              </p:extLst>
            </p:nvPr>
          </p:nvGraphicFramePr>
          <p:xfrm>
            <a:off x="1815642" y="3343711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CaixaDeTexto 4"/>
            <p:cNvSpPr txBox="1"/>
            <p:nvPr/>
          </p:nvSpPr>
          <p:spPr>
            <a:xfrm>
              <a:off x="833314" y="1098731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6" name="Agrupar 5"/>
            <p:cNvGrpSpPr/>
            <p:nvPr/>
          </p:nvGrpSpPr>
          <p:grpSpPr>
            <a:xfrm>
              <a:off x="3508667" y="4212548"/>
              <a:ext cx="4851796" cy="635688"/>
              <a:chOff x="3508667" y="4225176"/>
              <a:chExt cx="4851796" cy="635688"/>
            </a:xfrm>
          </p:grpSpPr>
          <p:sp>
            <p:nvSpPr>
              <p:cNvPr id="20" name="Divisa 19"/>
              <p:cNvSpPr/>
              <p:nvPr/>
            </p:nvSpPr>
            <p:spPr>
              <a:xfrm>
                <a:off x="3508667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Iniciação</a:t>
                </a:r>
              </a:p>
            </p:txBody>
          </p:sp>
          <p:sp>
            <p:nvSpPr>
              <p:cNvPr id="21" name="Divisa 20"/>
              <p:cNvSpPr/>
              <p:nvPr/>
            </p:nvSpPr>
            <p:spPr>
              <a:xfrm>
                <a:off x="4721616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Planejamento</a:t>
                </a:r>
              </a:p>
            </p:txBody>
          </p:sp>
          <p:sp>
            <p:nvSpPr>
              <p:cNvPr id="22" name="Divisa 21"/>
              <p:cNvSpPr/>
              <p:nvPr/>
            </p:nvSpPr>
            <p:spPr>
              <a:xfrm>
                <a:off x="5934565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Execução</a:t>
                </a:r>
              </a:p>
            </p:txBody>
          </p:sp>
          <p:sp>
            <p:nvSpPr>
              <p:cNvPr id="23" name="Divisa 22"/>
              <p:cNvSpPr/>
              <p:nvPr/>
            </p:nvSpPr>
            <p:spPr>
              <a:xfrm>
                <a:off x="7147514" y="4225176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Encerramento</a:t>
                </a: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5247422" y="4553087"/>
                <a:ext cx="16751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Projetos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6344468" y="1098733"/>
              <a:ext cx="1927292" cy="3104828"/>
              <a:chOff x="6225745" y="1111361"/>
              <a:chExt cx="1927292" cy="3104828"/>
            </a:xfrm>
          </p:grpSpPr>
          <p:sp>
            <p:nvSpPr>
              <p:cNvPr id="17" name="CaixaDeTexto 16"/>
              <p:cNvSpPr txBox="1"/>
              <p:nvPr/>
            </p:nvSpPr>
            <p:spPr>
              <a:xfrm>
                <a:off x="6225745" y="1111361"/>
                <a:ext cx="1927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Mudanças</a:t>
                </a:r>
              </a:p>
            </p:txBody>
          </p:sp>
          <p:graphicFrame>
            <p:nvGraphicFramePr>
              <p:cNvPr id="18" name="Diagrama 17"/>
              <p:cNvGraphicFramePr/>
              <p:nvPr>
                <p:extLst>
                  <p:ext uri="{D42A27DB-BD31-4B8C-83A1-F6EECF244321}">
                    <p14:modId xmlns:p14="http://schemas.microsoft.com/office/powerpoint/2010/main" val="1183018288"/>
                  </p:ext>
                </p:extLst>
              </p:nvPr>
            </p:nvGraphicFramePr>
            <p:xfrm>
              <a:off x="6468233" y="1503266"/>
              <a:ext cx="1442317" cy="1349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sp>
            <p:nvSpPr>
              <p:cNvPr id="19" name="Divisa 18"/>
              <p:cNvSpPr/>
              <p:nvPr/>
            </p:nvSpPr>
            <p:spPr>
              <a:xfrm rot="17864150">
                <a:off x="6277815" y="3497493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Abre GMUD</a:t>
                </a:r>
              </a:p>
            </p:txBody>
          </p:sp>
        </p:grpSp>
        <p:sp>
          <p:nvSpPr>
            <p:cNvPr id="8" name="Fluxograma: Operação Manual 7"/>
            <p:cNvSpPr/>
            <p:nvPr/>
          </p:nvSpPr>
          <p:spPr>
            <a:xfrm>
              <a:off x="464629" y="4085759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9" name="Agrupar 8"/>
            <p:cNvGrpSpPr/>
            <p:nvPr/>
          </p:nvGrpSpPr>
          <p:grpSpPr>
            <a:xfrm>
              <a:off x="581883" y="1098733"/>
              <a:ext cx="2263043" cy="2781639"/>
              <a:chOff x="581883" y="1168005"/>
              <a:chExt cx="2263043" cy="2781639"/>
            </a:xfrm>
          </p:grpSpPr>
          <p:graphicFrame>
            <p:nvGraphicFramePr>
              <p:cNvPr id="15" name="Diagrama 14"/>
              <p:cNvGraphicFramePr/>
              <p:nvPr>
                <p:extLst>
                  <p:ext uri="{D42A27DB-BD31-4B8C-83A1-F6EECF244321}">
                    <p14:modId xmlns:p14="http://schemas.microsoft.com/office/powerpoint/2010/main" val="929452190"/>
                  </p:ext>
                </p:extLst>
              </p:nvPr>
            </p:nvGraphicFramePr>
            <p:xfrm>
              <a:off x="581883" y="1168005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  <p:sp>
            <p:nvSpPr>
              <p:cNvPr id="16" name="Seta para Baixo 15"/>
              <p:cNvSpPr/>
              <p:nvPr/>
            </p:nvSpPr>
            <p:spPr>
              <a:xfrm rot="2039608">
                <a:off x="1086066" y="3785351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Agrupar 11"/>
            <p:cNvGrpSpPr/>
            <p:nvPr/>
          </p:nvGrpSpPr>
          <p:grpSpPr>
            <a:xfrm>
              <a:off x="2813532" y="2348124"/>
              <a:ext cx="3530936" cy="926725"/>
              <a:chOff x="2813532" y="2360752"/>
              <a:chExt cx="3530936" cy="926725"/>
            </a:xfrm>
          </p:grpSpPr>
          <p:sp>
            <p:nvSpPr>
              <p:cNvPr id="13" name="CaixaDeTexto 12"/>
              <p:cNvSpPr txBox="1"/>
              <p:nvPr/>
            </p:nvSpPr>
            <p:spPr>
              <a:xfrm>
                <a:off x="2813532" y="2639448"/>
                <a:ext cx="3530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chemeClr val="accent5">
                        <a:lumMod val="75000"/>
                      </a:schemeClr>
                    </a:solidFill>
                  </a:rPr>
                  <a:t>PROJETOS            MUDANÇAS</a:t>
                </a:r>
              </a:p>
            </p:txBody>
          </p:sp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271336" y="2360752"/>
                <a:ext cx="463364" cy="926725"/>
              </a:xfrm>
              <a:prstGeom prst="rect">
                <a:avLst/>
              </a:prstGeom>
            </p:spPr>
          </p:pic>
        </p:grpSp>
        <p:sp>
          <p:nvSpPr>
            <p:cNvPr id="25" name="Retângulo 24"/>
            <p:cNvSpPr/>
            <p:nvPr/>
          </p:nvSpPr>
          <p:spPr>
            <a:xfrm>
              <a:off x="3605720" y="2006437"/>
              <a:ext cx="1794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BR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Transition To Run</a:t>
              </a:r>
              <a:endParaRPr lang="pt-BR" dirty="0"/>
            </a:p>
          </p:txBody>
        </p:sp>
      </p:grpSp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Situação Atual</a:t>
            </a:r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63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0" y="563881"/>
            <a:ext cx="9144000" cy="458438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considerarão todo o ciclo de vida de 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alteração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ou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novo serviços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por parte das unidades de negócio e atualizações em componentes tecnológicos pelas equipes de TI até sua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habilidades e técnicas de gerenciamento de projetos.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Além disso, oferece métodos ágeis para mudanças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menores garantindo agilidade e controle de toda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técnica e de infraestrutura predial.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Transition To Run – T2R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2125164"/>
            <a:ext cx="2749731" cy="29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Proposta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3379" y="624878"/>
            <a:ext cx="8784557" cy="4553772"/>
            <a:chOff x="-33878" y="846548"/>
            <a:chExt cx="8784557" cy="4553772"/>
          </a:xfrm>
        </p:grpSpPr>
        <p:sp>
          <p:nvSpPr>
            <p:cNvPr id="4" name="Seta para Baixo 3"/>
            <p:cNvSpPr/>
            <p:nvPr/>
          </p:nvSpPr>
          <p:spPr>
            <a:xfrm rot="19695576">
              <a:off x="1362117" y="377548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5" name="Diagrama 4"/>
            <p:cNvGraphicFramePr/>
            <p:nvPr>
              <p:extLst>
                <p:ext uri="{D42A27DB-BD31-4B8C-83A1-F6EECF244321}">
                  <p14:modId xmlns:p14="http://schemas.microsoft.com/office/powerpoint/2010/main" val="2485558006"/>
                </p:ext>
              </p:extLst>
            </p:nvPr>
          </p:nvGraphicFramePr>
          <p:xfrm>
            <a:off x="1280081" y="3387760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Fluxograma: Operação Manual 5"/>
            <p:cNvSpPr/>
            <p:nvPr/>
          </p:nvSpPr>
          <p:spPr>
            <a:xfrm>
              <a:off x="84954" y="4161300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7" name="Agrupar 6"/>
            <p:cNvGrpSpPr/>
            <p:nvPr/>
          </p:nvGrpSpPr>
          <p:grpSpPr>
            <a:xfrm>
              <a:off x="-33878" y="1043488"/>
              <a:ext cx="2263043" cy="2894323"/>
              <a:chOff x="-33878" y="1043488"/>
              <a:chExt cx="2263043" cy="2894323"/>
            </a:xfrm>
          </p:grpSpPr>
          <p:sp>
            <p:nvSpPr>
              <p:cNvPr id="36" name="CaixaDeTexto 35"/>
              <p:cNvSpPr txBox="1"/>
              <p:nvPr/>
            </p:nvSpPr>
            <p:spPr>
              <a:xfrm>
                <a:off x="217553" y="1043488"/>
                <a:ext cx="17623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Demandas</a:t>
                </a:r>
              </a:p>
            </p:txBody>
          </p:sp>
          <p:grpSp>
            <p:nvGrpSpPr>
              <p:cNvPr id="37" name="Agrupar 36"/>
              <p:cNvGrpSpPr/>
              <p:nvPr/>
            </p:nvGrpSpPr>
            <p:grpSpPr>
              <a:xfrm>
                <a:off x="-33878" y="1043490"/>
                <a:ext cx="2263043" cy="2894321"/>
                <a:chOff x="-33878" y="1043490"/>
                <a:chExt cx="2263043" cy="2894321"/>
              </a:xfrm>
              <a:noFill/>
            </p:grpSpPr>
            <p:graphicFrame>
              <p:nvGraphicFramePr>
                <p:cNvPr id="38" name="Diagrama 37"/>
                <p:cNvGraphicFramePr/>
                <p:nvPr>
                  <p:extLst>
                    <p:ext uri="{D42A27DB-BD31-4B8C-83A1-F6EECF244321}">
                      <p14:modId xmlns:p14="http://schemas.microsoft.com/office/powerpoint/2010/main" val="3817980388"/>
                    </p:ext>
                  </p:extLst>
                </p:nvPr>
              </p:nvGraphicFramePr>
              <p:xfrm>
                <a:off x="-33878" y="1043490"/>
                <a:ext cx="2263043" cy="2504679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sp>
              <p:nvSpPr>
                <p:cNvPr id="39" name="Seta para Baixo 38"/>
                <p:cNvSpPr/>
                <p:nvPr/>
              </p:nvSpPr>
              <p:spPr>
                <a:xfrm rot="2039608">
                  <a:off x="487553" y="3773518"/>
                  <a:ext cx="225396" cy="164293"/>
                </a:xfrm>
                <a:prstGeom prst="down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graphicFrame>
          <p:nvGraphicFramePr>
            <p:cNvPr id="8" name="Diagrama 7"/>
            <p:cNvGraphicFramePr/>
            <p:nvPr>
              <p:extLst>
                <p:ext uri="{D42A27DB-BD31-4B8C-83A1-F6EECF244321}">
                  <p14:modId xmlns:p14="http://schemas.microsoft.com/office/powerpoint/2010/main" val="3653664751"/>
                </p:ext>
              </p:extLst>
            </p:nvPr>
          </p:nvGraphicFramePr>
          <p:xfrm>
            <a:off x="2176371" y="2017039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9" name="Seta para Baixo 8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pSp>
          <p:nvGrpSpPr>
            <p:cNvPr id="11" name="Agrupar 10"/>
            <p:cNvGrpSpPr/>
            <p:nvPr/>
          </p:nvGrpSpPr>
          <p:grpSpPr>
            <a:xfrm>
              <a:off x="5556884" y="846548"/>
              <a:ext cx="2335535" cy="1151906"/>
              <a:chOff x="6250304" y="884648"/>
              <a:chExt cx="2335535" cy="1151906"/>
            </a:xfrm>
          </p:grpSpPr>
          <p:sp>
            <p:nvSpPr>
              <p:cNvPr id="32" name="CaixaDeTexto 31"/>
              <p:cNvSpPr txBox="1"/>
              <p:nvPr/>
            </p:nvSpPr>
            <p:spPr>
              <a:xfrm>
                <a:off x="6250304" y="1140909"/>
                <a:ext cx="12654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6">
                        <a:lumMod val="75000"/>
                      </a:schemeClr>
                    </a:solidFill>
                  </a:rPr>
                  <a:t>Mudança Menor</a:t>
                </a:r>
              </a:p>
            </p:txBody>
          </p:sp>
          <p:grpSp>
            <p:nvGrpSpPr>
              <p:cNvPr id="33" name="Agrupar 32"/>
              <p:cNvGrpSpPr/>
              <p:nvPr/>
            </p:nvGrpSpPr>
            <p:grpSpPr>
              <a:xfrm>
                <a:off x="7557040" y="884648"/>
                <a:ext cx="1028799" cy="1151906"/>
                <a:chOff x="7357235" y="928289"/>
                <a:chExt cx="1028799" cy="1151906"/>
              </a:xfrm>
            </p:grpSpPr>
            <p:pic>
              <p:nvPicPr>
                <p:cNvPr id="34" name="Picture 8" descr="https://cdn3.iconfinder.com/data/icons/seo-accessibility-usability-2-1/256/Flow_Diagram-512.png"/>
                <p:cNvPicPr>
                  <a:picLocks noChangeAspect="1" noChangeArrowheads="1"/>
                </p:cNvPicPr>
                <p:nvPr/>
              </p:nvPicPr>
              <p:blipFill>
                <a:blip r:embed="rId17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68" y="928289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7357235" y="1773813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Workflow</a:t>
                  </a:r>
                </a:p>
              </p:txBody>
            </p:sp>
          </p:grpSp>
        </p:grpSp>
        <p:grpSp>
          <p:nvGrpSpPr>
            <p:cNvPr id="12" name="Agrupar 11"/>
            <p:cNvGrpSpPr/>
            <p:nvPr/>
          </p:nvGrpSpPr>
          <p:grpSpPr>
            <a:xfrm>
              <a:off x="5409272" y="2282489"/>
              <a:ext cx="2490692" cy="1022005"/>
              <a:chOff x="6102692" y="2320589"/>
              <a:chExt cx="2490692" cy="1022005"/>
            </a:xfrm>
          </p:grpSpPr>
          <p:sp>
            <p:nvSpPr>
              <p:cNvPr id="28" name="CaixaDeTexto 27"/>
              <p:cNvSpPr txBox="1"/>
              <p:nvPr/>
            </p:nvSpPr>
            <p:spPr>
              <a:xfrm>
                <a:off x="6102692" y="2539205"/>
                <a:ext cx="1586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4">
                        <a:lumMod val="75000"/>
                      </a:schemeClr>
                    </a:solidFill>
                  </a:rPr>
                  <a:t>Mudança Significativa</a:t>
                </a:r>
              </a:p>
            </p:txBody>
          </p:sp>
          <p:grpSp>
            <p:nvGrpSpPr>
              <p:cNvPr id="29" name="Agrupar 28"/>
              <p:cNvGrpSpPr/>
              <p:nvPr/>
            </p:nvGrpSpPr>
            <p:grpSpPr>
              <a:xfrm>
                <a:off x="7564585" y="2320589"/>
                <a:ext cx="1028799" cy="1022005"/>
                <a:chOff x="7357235" y="2355115"/>
                <a:chExt cx="1028799" cy="1022005"/>
              </a:xfrm>
            </p:grpSpPr>
            <p:pic>
              <p:nvPicPr>
                <p:cNvPr id="30" name="Picture 4" descr="http://www.ecoleduparc.fr/A21/images/icones/icon_6219_512px.png"/>
                <p:cNvPicPr>
                  <a:picLocks noChangeAspect="1" noChangeArrowheads="1"/>
                </p:cNvPicPr>
                <p:nvPr/>
              </p:nvPicPr>
              <p:blipFill>
                <a:blip r:embed="rId18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70" y="2355115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" name="CaixaDeTexto 30"/>
                <p:cNvSpPr txBox="1"/>
                <p:nvPr/>
              </p:nvSpPr>
              <p:spPr>
                <a:xfrm>
                  <a:off x="7357235" y="3070738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Comitê</a:t>
                  </a:r>
                </a:p>
              </p:txBody>
            </p:sp>
          </p:grpSp>
        </p:grpSp>
        <p:grpSp>
          <p:nvGrpSpPr>
            <p:cNvPr id="13" name="Agrupar 12"/>
            <p:cNvGrpSpPr/>
            <p:nvPr/>
          </p:nvGrpSpPr>
          <p:grpSpPr>
            <a:xfrm>
              <a:off x="5506135" y="3756711"/>
              <a:ext cx="2827112" cy="1300117"/>
              <a:chOff x="6199555" y="3794811"/>
              <a:chExt cx="2827112" cy="1300117"/>
            </a:xfrm>
          </p:grpSpPr>
          <p:sp>
            <p:nvSpPr>
              <p:cNvPr id="24" name="CaixaDeTexto 23"/>
              <p:cNvSpPr txBox="1"/>
              <p:nvPr/>
            </p:nvSpPr>
            <p:spPr>
              <a:xfrm>
                <a:off x="6199555" y="3996399"/>
                <a:ext cx="1376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Mudança Maior</a:t>
                </a:r>
              </a:p>
            </p:txBody>
          </p:sp>
          <p:grpSp>
            <p:nvGrpSpPr>
              <p:cNvPr id="25" name="Agrupar 24"/>
              <p:cNvGrpSpPr/>
              <p:nvPr/>
            </p:nvGrpSpPr>
            <p:grpSpPr>
              <a:xfrm>
                <a:off x="7131301" y="3794811"/>
                <a:ext cx="1895366" cy="1300117"/>
                <a:chOff x="7016219" y="3737300"/>
                <a:chExt cx="1895366" cy="1300117"/>
              </a:xfrm>
            </p:grpSpPr>
            <p:pic>
              <p:nvPicPr>
                <p:cNvPr id="26" name="Picture 10" descr="https://upload.wikimedia.org/wikipedia/commons/thumb/a/a3/HEB_project_flow_icon_02_charts_and_calendar.svg/1024px-HEB_project_flow_icon_02_charts_and_calendar.svg.png"/>
                <p:cNvPicPr>
                  <a:picLocks noChangeAspect="1" noChangeArrowheads="1"/>
                </p:cNvPicPr>
                <p:nvPr/>
              </p:nvPicPr>
              <p:blipFill>
                <a:blip r:embed="rId19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68782" y="3737300"/>
                  <a:ext cx="990240" cy="9902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CaixaDeTexto 26"/>
                <p:cNvSpPr txBox="1"/>
                <p:nvPr/>
              </p:nvSpPr>
              <p:spPr>
                <a:xfrm>
                  <a:off x="7016219" y="4698863"/>
                  <a:ext cx="18953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solidFill>
                        <a:srgbClr val="C00000"/>
                      </a:solidFill>
                    </a:rPr>
                    <a:t>Gestão de Projetos</a:t>
                  </a:r>
                </a:p>
              </p:txBody>
            </p:sp>
          </p:grpSp>
        </p:grpSp>
        <p:grpSp>
          <p:nvGrpSpPr>
            <p:cNvPr id="14" name="Agrupar 13"/>
            <p:cNvGrpSpPr/>
            <p:nvPr/>
          </p:nvGrpSpPr>
          <p:grpSpPr>
            <a:xfrm>
              <a:off x="4865706" y="1287776"/>
              <a:ext cx="613659" cy="3091011"/>
              <a:chOff x="5559126" y="1325876"/>
              <a:chExt cx="613659" cy="3091011"/>
            </a:xfrm>
          </p:grpSpPr>
          <p:sp>
            <p:nvSpPr>
              <p:cNvPr id="21" name="Seta Dobrada 20"/>
              <p:cNvSpPr/>
              <p:nvPr/>
            </p:nvSpPr>
            <p:spPr>
              <a:xfrm>
                <a:off x="5559126" y="1325876"/>
                <a:ext cx="537826" cy="883998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Seta Dobrada 21"/>
              <p:cNvSpPr/>
              <p:nvPr/>
            </p:nvSpPr>
            <p:spPr>
              <a:xfrm flipV="1">
                <a:off x="5559126" y="3514822"/>
                <a:ext cx="537826" cy="902065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rgbClr val="C0000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Seta para a Direita 22"/>
              <p:cNvSpPr/>
              <p:nvPr/>
            </p:nvSpPr>
            <p:spPr>
              <a:xfrm>
                <a:off x="5559126" y="2709031"/>
                <a:ext cx="613659" cy="267305"/>
              </a:xfrm>
              <a:prstGeom prst="rightArrow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5" name="Retângulo Arredondado 14"/>
            <p:cNvSpPr/>
            <p:nvPr/>
          </p:nvSpPr>
          <p:spPr>
            <a:xfrm>
              <a:off x="3734663" y="2528603"/>
              <a:ext cx="1015068" cy="5572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CRITÉRIOS OBJETVOS</a:t>
              </a:r>
            </a:p>
          </p:txBody>
        </p:sp>
        <p:grpSp>
          <p:nvGrpSpPr>
            <p:cNvPr id="16" name="Agrupar 15"/>
            <p:cNvGrpSpPr/>
            <p:nvPr/>
          </p:nvGrpSpPr>
          <p:grpSpPr>
            <a:xfrm>
              <a:off x="7957925" y="846548"/>
              <a:ext cx="792754" cy="4132622"/>
              <a:chOff x="7957925" y="846548"/>
              <a:chExt cx="792754" cy="4132622"/>
            </a:xfrm>
          </p:grpSpPr>
          <p:sp>
            <p:nvSpPr>
              <p:cNvPr id="17" name="Retângulo Arredondado 16"/>
              <p:cNvSpPr/>
              <p:nvPr/>
            </p:nvSpPr>
            <p:spPr>
              <a:xfrm>
                <a:off x="8362123" y="846548"/>
                <a:ext cx="388556" cy="413262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pt-BR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REVISÃO PÓS-IMPLEMENTAÇÃO</a:t>
                </a:r>
              </a:p>
            </p:txBody>
          </p:sp>
          <p:sp>
            <p:nvSpPr>
              <p:cNvPr id="18" name="Seta para Baixo 17"/>
              <p:cNvSpPr/>
              <p:nvPr/>
            </p:nvSpPr>
            <p:spPr>
              <a:xfrm rot="17535232">
                <a:off x="7927374" y="1819709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" name="Seta para Baixo 18"/>
              <p:cNvSpPr/>
              <p:nvPr/>
            </p:nvSpPr>
            <p:spPr>
              <a:xfrm rot="13912365">
                <a:off x="7927374" y="372688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Seta para Baixo 19"/>
              <p:cNvSpPr/>
              <p:nvPr/>
            </p:nvSpPr>
            <p:spPr>
              <a:xfrm rot="16200000">
                <a:off x="7945574" y="2790807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52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Unificado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2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disponibilizando para todos os envolvidos em todas as fases de seu ciclo de vida as informações necessárias para garantir que a implementação não tenha ou minimizar a possibilidade de impacto,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98200" y="2578891"/>
            <a:ext cx="3419711" cy="23288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graphicFrame>
        <p:nvGraphicFramePr>
          <p:cNvPr id="13" name="Diagrama 12"/>
          <p:cNvGraphicFramePr/>
          <p:nvPr>
            <p:extLst>
              <p:ext uri="{D42A27DB-BD31-4B8C-83A1-F6EECF244321}">
                <p14:modId xmlns:p14="http://schemas.microsoft.com/office/powerpoint/2010/main" val="1951402196"/>
              </p:ext>
            </p:extLst>
          </p:nvPr>
        </p:nvGraphicFramePr>
        <p:xfrm>
          <a:off x="810495" y="2406593"/>
          <a:ext cx="3719187" cy="2479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0848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Demandas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60126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Demandas terá controle de todas as demandas planejadas para entender os padrões de atividade do Negócio e influenciar a demanda do Cliente por serviços e na provisão de capacidade para atender estas demandas.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Dentre as responsabilidades de Demandas para a T2R, estão: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Analisar a viabilidade da demanda.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Reprovar quando necessário.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os Pré-Requisitos.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Fazer a triagem de Mudança ou Projeto.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ou recusar projetos em comitê.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Gerenciar e revisar projetos pendentes.</a:t>
            </a: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34" name="Agrupar 33"/>
          <p:cNvGrpSpPr/>
          <p:nvPr/>
        </p:nvGrpSpPr>
        <p:grpSpPr>
          <a:xfrm>
            <a:off x="5529764" y="2010920"/>
            <a:ext cx="3126556" cy="3154786"/>
            <a:chOff x="5712644" y="2263882"/>
            <a:chExt cx="2791276" cy="2816479"/>
          </a:xfrm>
        </p:grpSpPr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28" name="CaixaDeTexto 27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4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Esforço temporário, empreendido a fim de criar um produto, serviço ou resultado único.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projeto transforma diversas entradas num produto ou serviço único, então um projeto pode ser definido como um PROCESSO.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Aplicação de conhecimento, habilidades, técnicas e ferramentas às atividades do projeto a fim de alcançar os requisitos do projeto.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06" y="2723475"/>
            <a:ext cx="3654377" cy="24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55673" y="2955289"/>
            <a:ext cx="3588327" cy="2181139"/>
          </a:xfrm>
          <a:prstGeom prst="rect">
            <a:avLst/>
          </a:prstGeom>
        </p:spPr>
      </p:pic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7198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Iniciação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Autoriza o início de uma fase ou Projeto e estabelece objetivos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Como atingir os objetivos estabelecidos, qual o caminho que tem que ser seguido e o que tem que ser feito para chegar até lá.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Execução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Colocar o plano em execução, garantir os recursos necessários e a equipe de projeto produz o que foi planejado.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Monitoramento e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Avalia aonde estamos, aonde deveríamos estar e define como e o que faremos para voltar ao caminho, Evita mudança de rumo porém faz as mudanças de rumo necessárias.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Encerramento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Formaliza o aceite do Produto do Projeto, Toma ações para encerrar administrativamente o Projeto, Lições aprendidas, Arquivar e indexar informações para uso futuro.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21285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63889"/>
            <a:ext cx="9144000" cy="458437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Consiste em procedimentos e controles necessários para garantir que as mudanças sejam formalmente requisitadas, aprovadas, planejadas e adequadamente testadas com o objetivo de minimizar as ocorrências de erros.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uma gestão efetiva, é preciso considerar a identificação e registro dos requerimentos, avaliação dos impactos em todas as áreas, aprovação, definição da implementação, existência de trilha e registros dos processos e seu encerramento. 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Empresas que investem em Gestão de Mudança garantem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alta eficiência em seus projetos!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0" y="2734676"/>
            <a:ext cx="2698998" cy="24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associada”.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Tipos de Mudanças: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Planejada: 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Cobre Planejamento a longo-prazo e Controle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sobre a qualidade, 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Garantem e mantém a qualidade,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Alcançam a qualidade, estabilidade 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flexibilidade do serviço.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45" y="2549235"/>
            <a:ext cx="2599027" cy="259902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</p:spTree>
    <p:extLst>
      <p:ext uri="{BB962C8B-B14F-4D97-AF65-F5344CB8AC3E}">
        <p14:creationId xmlns:p14="http://schemas.microsoft.com/office/powerpoint/2010/main" val="480330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ao ITIL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085" y="2033902"/>
            <a:ext cx="3211830" cy="26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4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/>
          <p:cNvSpPr/>
          <p:nvPr/>
        </p:nvSpPr>
        <p:spPr>
          <a:xfrm>
            <a:off x="678180" y="1112520"/>
            <a:ext cx="1501140" cy="3429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Estratégia de Serviço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678180" y="15163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Financeiro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678180" y="19202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Portfólio de Serviço</a:t>
            </a:r>
          </a:p>
        </p:txBody>
      </p:sp>
      <p:sp>
        <p:nvSpPr>
          <p:cNvPr id="53" name="Retângulo 52"/>
          <p:cNvSpPr/>
          <p:nvPr/>
        </p:nvSpPr>
        <p:spPr>
          <a:xfrm>
            <a:off x="678180" y="232410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da Demanda</a:t>
            </a:r>
          </a:p>
        </p:txBody>
      </p:sp>
      <p:sp>
        <p:nvSpPr>
          <p:cNvPr id="54" name="Retângulo 53"/>
          <p:cNvSpPr/>
          <p:nvPr/>
        </p:nvSpPr>
        <p:spPr>
          <a:xfrm>
            <a:off x="2232660" y="1112520"/>
            <a:ext cx="1501140" cy="342900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Desenho de Serviço</a:t>
            </a:r>
          </a:p>
        </p:txBody>
      </p:sp>
      <p:sp>
        <p:nvSpPr>
          <p:cNvPr id="55" name="Retângulo 54"/>
          <p:cNvSpPr/>
          <p:nvPr/>
        </p:nvSpPr>
        <p:spPr>
          <a:xfrm>
            <a:off x="2232660" y="15163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Catálogo de Serviço</a:t>
            </a:r>
          </a:p>
        </p:txBody>
      </p:sp>
      <p:sp>
        <p:nvSpPr>
          <p:cNvPr id="56" name="Retângulo 55"/>
          <p:cNvSpPr/>
          <p:nvPr/>
        </p:nvSpPr>
        <p:spPr>
          <a:xfrm>
            <a:off x="2232660" y="19202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Nível de Serviço</a:t>
            </a:r>
          </a:p>
        </p:txBody>
      </p:sp>
      <p:sp>
        <p:nvSpPr>
          <p:cNvPr id="57" name="Retângulo 56"/>
          <p:cNvSpPr/>
          <p:nvPr/>
        </p:nvSpPr>
        <p:spPr>
          <a:xfrm>
            <a:off x="2232660" y="232410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da Capacidade</a:t>
            </a:r>
          </a:p>
        </p:txBody>
      </p:sp>
      <p:sp>
        <p:nvSpPr>
          <p:cNvPr id="58" name="Retângulo 57"/>
          <p:cNvSpPr/>
          <p:nvPr/>
        </p:nvSpPr>
        <p:spPr>
          <a:xfrm>
            <a:off x="2232660" y="272796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da Disponibilidade</a:t>
            </a:r>
          </a:p>
        </p:txBody>
      </p:sp>
      <p:sp>
        <p:nvSpPr>
          <p:cNvPr id="59" name="Retângulo 58"/>
          <p:cNvSpPr/>
          <p:nvPr/>
        </p:nvSpPr>
        <p:spPr>
          <a:xfrm>
            <a:off x="2232660" y="313182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da Continuidade do Serviço</a:t>
            </a:r>
          </a:p>
        </p:txBody>
      </p:sp>
      <p:sp>
        <p:nvSpPr>
          <p:cNvPr id="60" name="Retângulo 59"/>
          <p:cNvSpPr/>
          <p:nvPr/>
        </p:nvSpPr>
        <p:spPr>
          <a:xfrm>
            <a:off x="2232660" y="35356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Ger. da Segurança da Informação</a:t>
            </a:r>
          </a:p>
        </p:txBody>
      </p:sp>
      <p:sp>
        <p:nvSpPr>
          <p:cNvPr id="61" name="Retângulo 60"/>
          <p:cNvSpPr/>
          <p:nvPr/>
        </p:nvSpPr>
        <p:spPr>
          <a:xfrm>
            <a:off x="2232660" y="39395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Fornecedor</a:t>
            </a:r>
          </a:p>
        </p:txBody>
      </p:sp>
      <p:sp>
        <p:nvSpPr>
          <p:cNvPr id="62" name="Retângulo 61"/>
          <p:cNvSpPr/>
          <p:nvPr/>
        </p:nvSpPr>
        <p:spPr>
          <a:xfrm>
            <a:off x="3787140" y="1112520"/>
            <a:ext cx="1501140" cy="342900"/>
          </a:xfrm>
          <a:prstGeom prst="rect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Transição de Serviço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3787140" y="15163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Planejamento e Suporte de Transição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3787140" y="1920240"/>
            <a:ext cx="150114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Gerenciamento de Mudança</a:t>
            </a:r>
          </a:p>
        </p:txBody>
      </p:sp>
      <p:sp>
        <p:nvSpPr>
          <p:cNvPr id="65" name="Retângulo 64"/>
          <p:cNvSpPr/>
          <p:nvPr/>
        </p:nvSpPr>
        <p:spPr>
          <a:xfrm>
            <a:off x="3787140" y="232410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Ger. da Configuração e Ativo de Serviço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3787140" y="272796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da Liberação e Implantação</a:t>
            </a:r>
          </a:p>
        </p:txBody>
      </p:sp>
      <p:sp>
        <p:nvSpPr>
          <p:cNvPr id="67" name="Retângulo 66"/>
          <p:cNvSpPr/>
          <p:nvPr/>
        </p:nvSpPr>
        <p:spPr>
          <a:xfrm>
            <a:off x="3787140" y="313182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Validação do Serviço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3787140" y="35356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Avaliação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3787140" y="39395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do Conhecimento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5341620" y="1112520"/>
            <a:ext cx="1501140" cy="3429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Operação de Serviço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5341620" y="15163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Incidente</a:t>
            </a:r>
          </a:p>
        </p:txBody>
      </p:sp>
      <p:sp>
        <p:nvSpPr>
          <p:cNvPr id="72" name="Retângulo 71"/>
          <p:cNvSpPr/>
          <p:nvPr/>
        </p:nvSpPr>
        <p:spPr>
          <a:xfrm>
            <a:off x="5341620" y="19202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Evento</a:t>
            </a:r>
          </a:p>
        </p:txBody>
      </p:sp>
      <p:sp>
        <p:nvSpPr>
          <p:cNvPr id="73" name="Retângulo 72"/>
          <p:cNvSpPr/>
          <p:nvPr/>
        </p:nvSpPr>
        <p:spPr>
          <a:xfrm>
            <a:off x="5341620" y="232410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Cumprimento de Requisição</a:t>
            </a:r>
          </a:p>
        </p:txBody>
      </p:sp>
      <p:sp>
        <p:nvSpPr>
          <p:cNvPr id="74" name="Retângulo 73"/>
          <p:cNvSpPr/>
          <p:nvPr/>
        </p:nvSpPr>
        <p:spPr>
          <a:xfrm>
            <a:off x="5341620" y="272796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Problema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5341620" y="313182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Acesso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5341620" y="3535680"/>
            <a:ext cx="1501140" cy="342900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Central de Serviço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5341620" y="3939540"/>
            <a:ext cx="1501140" cy="342900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Técnico</a:t>
            </a:r>
          </a:p>
        </p:txBody>
      </p:sp>
      <p:sp>
        <p:nvSpPr>
          <p:cNvPr id="78" name="Retângulo 77"/>
          <p:cNvSpPr/>
          <p:nvPr/>
        </p:nvSpPr>
        <p:spPr>
          <a:xfrm>
            <a:off x="6896100" y="1112520"/>
            <a:ext cx="150114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Melhoria Contínua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6896100" y="151638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7 Passos de Melhoria</a:t>
            </a:r>
          </a:p>
        </p:txBody>
      </p:sp>
      <p:sp>
        <p:nvSpPr>
          <p:cNvPr id="80" name="Retângulo 79"/>
          <p:cNvSpPr/>
          <p:nvPr/>
        </p:nvSpPr>
        <p:spPr>
          <a:xfrm>
            <a:off x="6896100" y="192024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Relatório de Serviço</a:t>
            </a:r>
          </a:p>
        </p:txBody>
      </p:sp>
      <p:sp>
        <p:nvSpPr>
          <p:cNvPr id="81" name="Retângulo 80"/>
          <p:cNvSpPr/>
          <p:nvPr/>
        </p:nvSpPr>
        <p:spPr>
          <a:xfrm>
            <a:off x="0" y="109489"/>
            <a:ext cx="9144000" cy="884070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r>
              <a:rPr lang="pt-BR" sz="16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 modelo de gerenciamento de serviço adotado pelo departamento de T.I da </a:t>
            </a:r>
          </a:p>
          <a:p>
            <a:r>
              <a:rPr lang="pt-BR" sz="16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Contax se baseia no Framework ITIL V3 que é a mais reconhecida biblioteca de </a:t>
            </a:r>
          </a:p>
          <a:p>
            <a:r>
              <a:rPr lang="pt-BR" sz="16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melhores práticas de T.I utilizada por empresas do mundo todo. 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5341620" y="4343400"/>
            <a:ext cx="1501140" cy="342900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Operações </a:t>
            </a:r>
            <a:r>
              <a:rPr lang="pt-BR" sz="1000" b="1" dirty="0" err="1">
                <a:solidFill>
                  <a:schemeClr val="tx1"/>
                </a:solidFill>
              </a:rPr>
              <a:t>dee</a:t>
            </a:r>
            <a:r>
              <a:rPr lang="pt-BR" sz="1000" b="1" dirty="0">
                <a:solidFill>
                  <a:schemeClr val="tx1"/>
                </a:solidFill>
              </a:rPr>
              <a:t> TI</a:t>
            </a:r>
          </a:p>
        </p:txBody>
      </p:sp>
      <p:sp>
        <p:nvSpPr>
          <p:cNvPr id="83" name="Retângulo 82"/>
          <p:cNvSpPr/>
          <p:nvPr/>
        </p:nvSpPr>
        <p:spPr>
          <a:xfrm>
            <a:off x="5341620" y="4747260"/>
            <a:ext cx="1501140" cy="342900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Gerenciamento de Aplicativo</a:t>
            </a:r>
          </a:p>
        </p:txBody>
      </p:sp>
      <p:sp>
        <p:nvSpPr>
          <p:cNvPr id="89" name="Retângulo 88"/>
          <p:cNvSpPr/>
          <p:nvPr/>
        </p:nvSpPr>
        <p:spPr>
          <a:xfrm>
            <a:off x="6896100" y="2324100"/>
            <a:ext cx="1501140" cy="342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Medição de Serviço</a:t>
            </a:r>
          </a:p>
        </p:txBody>
      </p:sp>
      <p:sp>
        <p:nvSpPr>
          <p:cNvPr id="90" name="Retângulo 89"/>
          <p:cNvSpPr/>
          <p:nvPr/>
        </p:nvSpPr>
        <p:spPr>
          <a:xfrm>
            <a:off x="6842760" y="3535680"/>
            <a:ext cx="312420" cy="1554480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Funções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952750"/>
            <a:ext cx="1927860" cy="19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98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221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Objetivo do Gerenciamento de Mudanças é assegurar que mudanças são registradas e estão avaliadas, autorizadas, priorizadas, planejadas, implementadas, documentadas e revisadas de uma maneira controlada.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métodos e procedimentos padronizados estão sendo utilizados de forma eficiente e rápida para lidar com todas as mudanças.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todas as mudanças nos Ativos de Serviço e Item de Configuração (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IC`s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) estão registradas no sistema de Gerenciamento de Configuração (SGC).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todos os riscos de negócios estão otimizados.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 mudanças do requerimento do negócio do cliente enquanto maximiza e reduz incidentes, rompimento e retrabalho.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Requisições de mudanças do negócio e TI que alinharão os serviços com as necessidades do negócio.</a:t>
            </a: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69850" algn="just">
              <a:spcBef>
                <a:spcPts val="1000"/>
              </a:spcBef>
              <a:spcAft>
                <a:spcPts val="1000"/>
              </a:spcAft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2286368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escopo do processo de Gerenciamento de Mudanças cobre mudanças na linha de base dos ativos de serviço por todo o ciclo de vida do serviço.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Escopo pré-definido de mudanças usualmente inclui os seguintes três tipos de mudanças: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para um serviço ou infraestrutura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autorizado pelo Gerenciamento de Mudanças com procedimento aceito e estabelecido para fornecer uma exigência de mudança específica 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Emergenciais: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1118839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12929"/>
          <a:stretch/>
        </p:blipFill>
        <p:spPr>
          <a:xfrm>
            <a:off x="6244585" y="822960"/>
            <a:ext cx="2899415" cy="267927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Implementar mudanças que atendem os requerimentos de serviço.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Otimizar custos na implementação de mudanças.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Atender os requisitos de governança, legal, contratual e regulatório.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Reduzir o número de mudanças que falharam e consequentemente, reduzir os casos de interrupção do serviço, defeitos e retrabalho.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Entregar mudança rapidamente para atender os prazos do negócio.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Rastrear mudanças para aprender pelos erros e incidentes passados.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Contribuir para obter uma melhor estimativa de qualidade, tempo e custo da mudança</a:t>
            </a:r>
          </a:p>
        </p:txBody>
      </p:sp>
    </p:spTree>
    <p:extLst>
      <p:ext uri="{BB962C8B-B14F-4D97-AF65-F5344CB8AC3E}">
        <p14:creationId xmlns:p14="http://schemas.microsoft.com/office/powerpoint/2010/main" val="407238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Teste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Implantação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Gmud para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826953"/>
            <a:ext cx="8771137" cy="3004503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1097" y="1422865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 da Gmud.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1954215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240388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198017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3" name="Subtítulo 2"/>
          <p:cNvSpPr txBox="1">
            <a:spLocks/>
          </p:cNvSpPr>
          <p:nvPr/>
        </p:nvSpPr>
        <p:spPr>
          <a:xfrm>
            <a:off x="7193" y="4332783"/>
            <a:ext cx="9144000" cy="51963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conjunto de “Dados” gera uma “Informação”, um conjunto de “Informação” nos permite ter conhecimento, um conjunto de “Conhecimentos” nos da “Sabedoria”, a “Sabedoria” permite a </a:t>
            </a:r>
            <a:r>
              <a:rPr lang="pt-BR" sz="1200" u="sng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Tomada de Decisão</a:t>
            </a: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. (Modelo DICS – Gerenciamento do Conhecimento).</a:t>
            </a:r>
            <a:endParaRPr lang="pt-BR" sz="12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de impactos pós Implementação um controle de requisitos será anexo em todas as Gmud para controle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pre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51"/>
          <p:cNvSpPr txBox="1">
            <a:spLocks noChangeArrowheads="1"/>
          </p:cNvSpPr>
          <p:nvPr/>
        </p:nvSpPr>
        <p:spPr bwMode="auto">
          <a:xfrm>
            <a:off x="5666254" y="3145632"/>
            <a:ext cx="203378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Qual o </a:t>
            </a:r>
            <a:r>
              <a:rPr lang="pt-BR" altLang="pt-BR" sz="1400" b="1" dirty="0"/>
              <a:t>Retorno</a:t>
            </a:r>
            <a:r>
              <a:rPr lang="pt-BR" altLang="pt-BR" sz="1400" dirty="0"/>
              <a:t> requerido para esta Mudança?</a:t>
            </a: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Avaliação de Impacto da Mudança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pSp>
        <p:nvGrpSpPr>
          <p:cNvPr id="5" name="Grupo 60"/>
          <p:cNvGrpSpPr>
            <a:grpSpLocks/>
          </p:cNvGrpSpPr>
          <p:nvPr/>
        </p:nvGrpSpPr>
        <p:grpSpPr bwMode="auto">
          <a:xfrm>
            <a:off x="3378252" y="1790334"/>
            <a:ext cx="2394816" cy="2339108"/>
            <a:chOff x="3238488" y="2786058"/>
            <a:chExt cx="3364788" cy="3286148"/>
          </a:xfrm>
          <a:solidFill>
            <a:schemeClr val="tx2"/>
          </a:solidFill>
        </p:grpSpPr>
        <p:cxnSp>
          <p:nvCxnSpPr>
            <p:cNvPr id="20" name="Conector reto 23"/>
            <p:cNvCxnSpPr>
              <a:cxnSpLocks noChangeShapeType="1"/>
            </p:cNvCxnSpPr>
            <p:nvPr/>
          </p:nvCxnSpPr>
          <p:spPr bwMode="auto">
            <a:xfrm>
              <a:off x="3595679" y="3500439"/>
              <a:ext cx="1317078" cy="1000132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sp>
          <p:nvSpPr>
            <p:cNvPr id="13" name="Elipse 12"/>
            <p:cNvSpPr>
              <a:spLocks noChangeArrowheads="1"/>
            </p:cNvSpPr>
            <p:nvPr/>
          </p:nvSpPr>
          <p:spPr bwMode="auto">
            <a:xfrm>
              <a:off x="4778005" y="2786058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4" name="Elipse 13"/>
            <p:cNvSpPr>
              <a:spLocks noChangeArrowheads="1"/>
            </p:cNvSpPr>
            <p:nvPr/>
          </p:nvSpPr>
          <p:spPr bwMode="auto">
            <a:xfrm>
              <a:off x="6167446" y="3357562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5" name="Elipse 14"/>
            <p:cNvSpPr>
              <a:spLocks noChangeArrowheads="1"/>
            </p:cNvSpPr>
            <p:nvPr/>
          </p:nvSpPr>
          <p:spPr bwMode="auto">
            <a:xfrm>
              <a:off x="3452802" y="3357562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6" name="Elipse 15"/>
            <p:cNvSpPr>
              <a:spLocks noChangeArrowheads="1"/>
            </p:cNvSpPr>
            <p:nvPr/>
          </p:nvSpPr>
          <p:spPr bwMode="auto">
            <a:xfrm>
              <a:off x="6317524" y="4704179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7" name="Elipse 16"/>
            <p:cNvSpPr>
              <a:spLocks noChangeArrowheads="1"/>
            </p:cNvSpPr>
            <p:nvPr/>
          </p:nvSpPr>
          <p:spPr bwMode="auto">
            <a:xfrm>
              <a:off x="3238488" y="4714884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8" name="Elipse 17"/>
            <p:cNvSpPr>
              <a:spLocks noChangeArrowheads="1"/>
            </p:cNvSpPr>
            <p:nvPr/>
          </p:nvSpPr>
          <p:spPr bwMode="auto">
            <a:xfrm>
              <a:off x="4024306" y="5786454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sp>
          <p:nvSpPr>
            <p:cNvPr id="19" name="Elipse 18"/>
            <p:cNvSpPr>
              <a:spLocks noChangeArrowheads="1"/>
            </p:cNvSpPr>
            <p:nvPr/>
          </p:nvSpPr>
          <p:spPr bwMode="auto">
            <a:xfrm>
              <a:off x="5595942" y="5786454"/>
              <a:ext cx="285752" cy="285752"/>
            </a:xfrm>
            <a:prstGeom prst="ellipse">
              <a:avLst/>
            </a:prstGeom>
            <a:grpFill/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pt-BR" altLang="pt-BR" sz="1400" b="1" i="1">
                <a:solidFill>
                  <a:srgbClr val="4D4D4D"/>
                </a:solidFill>
              </a:endParaRPr>
            </a:p>
          </p:txBody>
        </p:sp>
        <p:cxnSp>
          <p:nvCxnSpPr>
            <p:cNvPr id="21" name="Conector reto 26"/>
            <p:cNvCxnSpPr>
              <a:cxnSpLocks noChangeShapeType="1"/>
            </p:cNvCxnSpPr>
            <p:nvPr/>
          </p:nvCxnSpPr>
          <p:spPr bwMode="auto">
            <a:xfrm flipH="1">
              <a:off x="4920880" y="2928934"/>
              <a:ext cx="1" cy="1733906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cxnSp>
          <p:nvCxnSpPr>
            <p:cNvPr id="22" name="Conector reto 29"/>
            <p:cNvCxnSpPr>
              <a:cxnSpLocks noChangeShapeType="1"/>
            </p:cNvCxnSpPr>
            <p:nvPr/>
          </p:nvCxnSpPr>
          <p:spPr bwMode="auto">
            <a:xfrm rot="10800000" flipV="1">
              <a:off x="4953000" y="3500436"/>
              <a:ext cx="1357322" cy="1000133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cxnSp>
          <p:nvCxnSpPr>
            <p:cNvPr id="23" name="Conector reto 32"/>
            <p:cNvCxnSpPr>
              <a:cxnSpLocks noChangeShapeType="1"/>
              <a:stCxn id="16" idx="6"/>
            </p:cNvCxnSpPr>
            <p:nvPr/>
          </p:nvCxnSpPr>
          <p:spPr bwMode="auto">
            <a:xfrm flipH="1" flipV="1">
              <a:off x="4953001" y="4561305"/>
              <a:ext cx="1650275" cy="285751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cxnSp>
          <p:nvCxnSpPr>
            <p:cNvPr id="24" name="Conector reto 35"/>
            <p:cNvCxnSpPr>
              <a:cxnSpLocks noChangeShapeType="1"/>
              <a:endCxn id="17" idx="2"/>
            </p:cNvCxnSpPr>
            <p:nvPr/>
          </p:nvCxnSpPr>
          <p:spPr bwMode="auto">
            <a:xfrm flipH="1">
              <a:off x="3238488" y="4572008"/>
              <a:ext cx="1714513" cy="285754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cxnSp>
          <p:nvCxnSpPr>
            <p:cNvPr id="25" name="Conector reto 38"/>
            <p:cNvCxnSpPr>
              <a:cxnSpLocks noChangeShapeType="1"/>
            </p:cNvCxnSpPr>
            <p:nvPr/>
          </p:nvCxnSpPr>
          <p:spPr bwMode="auto">
            <a:xfrm rot="5400000">
              <a:off x="3845711" y="4822041"/>
              <a:ext cx="1428760" cy="785818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cxnSp>
          <p:nvCxnSpPr>
            <p:cNvPr id="26" name="Conector reto 42"/>
            <p:cNvCxnSpPr>
              <a:cxnSpLocks noChangeShapeType="1"/>
            </p:cNvCxnSpPr>
            <p:nvPr/>
          </p:nvCxnSpPr>
          <p:spPr bwMode="auto">
            <a:xfrm rot="16200000" flipH="1">
              <a:off x="4667248" y="4857759"/>
              <a:ext cx="1357323" cy="785818"/>
            </a:xfrm>
            <a:prstGeom prst="line">
              <a:avLst/>
            </a:prstGeom>
            <a:grpFill/>
            <a:ln w="19050" algn="ctr">
              <a:solidFill>
                <a:schemeClr val="tx2"/>
              </a:solidFill>
              <a:round/>
              <a:headEnd/>
              <a:tailEnd/>
            </a:ln>
            <a:extLst/>
          </p:spPr>
        </p:cxnSp>
        <p:sp>
          <p:nvSpPr>
            <p:cNvPr id="27" name="Elipse 26"/>
            <p:cNvSpPr/>
            <p:nvPr/>
          </p:nvSpPr>
          <p:spPr bwMode="auto">
            <a:xfrm>
              <a:off x="4012578" y="3541362"/>
              <a:ext cx="1795474" cy="1795272"/>
            </a:xfrm>
            <a:prstGeom prst="ellipse">
              <a:avLst/>
            </a:prstGeom>
            <a:grpFill/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pt-BR" sz="2200" b="1" kern="0" dirty="0">
                  <a:solidFill>
                    <a:schemeClr val="bg1"/>
                  </a:solidFill>
                  <a:latin typeface="Eras Medium ITC" pitchFamily="34" charset="0"/>
                  <a:ea typeface="+mj-ea"/>
                  <a:cs typeface="+mj-cs"/>
                </a:rPr>
                <a:t>7 </a:t>
              </a:r>
              <a:r>
                <a:rPr lang="pt-BR" sz="2200" b="1" kern="0" dirty="0" err="1">
                  <a:solidFill>
                    <a:schemeClr val="bg1"/>
                  </a:solidFill>
                  <a:latin typeface="Eras Medium ITC" pitchFamily="34" charset="0"/>
                  <a:ea typeface="+mj-ea"/>
                  <a:cs typeface="+mj-cs"/>
                </a:rPr>
                <a:t>R`s</a:t>
              </a:r>
              <a:endParaRPr lang="pt-BR" sz="2200" b="1" kern="0" dirty="0">
                <a:solidFill>
                  <a:schemeClr val="bg1"/>
                </a:solidFill>
                <a:latin typeface="Eras Medium ITC" pitchFamily="34" charset="0"/>
                <a:ea typeface="+mj-ea"/>
                <a:cs typeface="+mj-cs"/>
              </a:endParaRPr>
            </a:p>
          </p:txBody>
        </p:sp>
      </p:grpSp>
      <p:sp>
        <p:nvSpPr>
          <p:cNvPr id="6" name="CaixaDeTexto 46"/>
          <p:cNvSpPr txBox="1">
            <a:spLocks noChangeArrowheads="1"/>
          </p:cNvSpPr>
          <p:nvPr/>
        </p:nvSpPr>
        <p:spPr bwMode="auto">
          <a:xfrm>
            <a:off x="3785008" y="976884"/>
            <a:ext cx="1627024" cy="76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Quem 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b="1" dirty="0"/>
              <a:t>Requisitou</a:t>
            </a:r>
            <a:r>
              <a:rPr lang="pt-BR" altLang="pt-BR" sz="1400" dirty="0"/>
              <a:t> 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esta Mudança?</a:t>
            </a:r>
          </a:p>
        </p:txBody>
      </p:sp>
      <p:sp>
        <p:nvSpPr>
          <p:cNvPr id="7" name="CaixaDeTexto 47"/>
          <p:cNvSpPr txBox="1">
            <a:spLocks noChangeArrowheads="1"/>
          </p:cNvSpPr>
          <p:nvPr/>
        </p:nvSpPr>
        <p:spPr bwMode="auto">
          <a:xfrm>
            <a:off x="5601851" y="1890943"/>
            <a:ext cx="203378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Qual a </a:t>
            </a:r>
            <a:r>
              <a:rPr lang="pt-BR" altLang="pt-BR" sz="1400" b="1" dirty="0"/>
              <a:t>Razão</a:t>
            </a:r>
            <a:r>
              <a:rPr lang="pt-BR" altLang="pt-BR" sz="1400" dirty="0"/>
              <a:t> para esta Mudança?</a:t>
            </a:r>
          </a:p>
        </p:txBody>
      </p:sp>
      <p:sp>
        <p:nvSpPr>
          <p:cNvPr id="8" name="CaixaDeTexto 48"/>
          <p:cNvSpPr txBox="1">
            <a:spLocks noChangeArrowheads="1"/>
          </p:cNvSpPr>
          <p:nvPr/>
        </p:nvSpPr>
        <p:spPr bwMode="auto">
          <a:xfrm>
            <a:off x="1256774" y="1892033"/>
            <a:ext cx="2267232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Qual é o </a:t>
            </a:r>
            <a:r>
              <a:rPr lang="pt-BR" altLang="pt-BR" sz="1400" b="1" dirty="0"/>
              <a:t>Relacionamento</a:t>
            </a:r>
            <a:r>
              <a:rPr lang="pt-BR" altLang="pt-BR" sz="1400" dirty="0"/>
              <a:t> entre esta mudança e outras mudanças?</a:t>
            </a:r>
          </a:p>
        </p:txBody>
      </p:sp>
      <p:sp>
        <p:nvSpPr>
          <p:cNvPr id="9" name="CaixaDeTexto 49"/>
          <p:cNvSpPr txBox="1">
            <a:spLocks noChangeArrowheads="1"/>
          </p:cNvSpPr>
          <p:nvPr/>
        </p:nvSpPr>
        <p:spPr bwMode="auto">
          <a:xfrm>
            <a:off x="749523" y="3146470"/>
            <a:ext cx="2639111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Quem é o </a:t>
            </a:r>
            <a:r>
              <a:rPr lang="pt-BR" altLang="pt-BR" sz="1400" b="1" dirty="0"/>
              <a:t>Responsável</a:t>
            </a:r>
            <a:r>
              <a:rPr lang="pt-BR" altLang="pt-BR" sz="1400" dirty="0"/>
              <a:t> pela construção, teste e implementação da Mudança?  </a:t>
            </a:r>
          </a:p>
        </p:txBody>
      </p:sp>
      <p:sp>
        <p:nvSpPr>
          <p:cNvPr id="11" name="CaixaDeTexto 52"/>
          <p:cNvSpPr txBox="1">
            <a:spLocks noChangeArrowheads="1"/>
          </p:cNvSpPr>
          <p:nvPr/>
        </p:nvSpPr>
        <p:spPr bwMode="auto">
          <a:xfrm>
            <a:off x="2172501" y="4187218"/>
            <a:ext cx="2237158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Quais </a:t>
            </a:r>
            <a:r>
              <a:rPr lang="pt-BR" altLang="pt-BR" sz="1400" b="1" dirty="0"/>
              <a:t>Recursos</a:t>
            </a:r>
            <a:r>
              <a:rPr lang="pt-BR" altLang="pt-BR" sz="1400" dirty="0"/>
              <a:t> são requeridos para entregar esta Mudança?</a:t>
            </a:r>
          </a:p>
        </p:txBody>
      </p:sp>
      <p:sp>
        <p:nvSpPr>
          <p:cNvPr id="12" name="CaixaDeTexto 53"/>
          <p:cNvSpPr txBox="1">
            <a:spLocks noChangeArrowheads="1"/>
          </p:cNvSpPr>
          <p:nvPr/>
        </p:nvSpPr>
        <p:spPr bwMode="auto">
          <a:xfrm>
            <a:off x="4801898" y="4187217"/>
            <a:ext cx="203378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400" dirty="0"/>
              <a:t>Quais são os </a:t>
            </a:r>
            <a:r>
              <a:rPr lang="pt-BR" altLang="pt-BR" sz="1400" b="1" dirty="0"/>
              <a:t>Riscos</a:t>
            </a:r>
            <a:r>
              <a:rPr lang="pt-BR" altLang="pt-BR" sz="1400" dirty="0"/>
              <a:t> envolvidos nesta Mudança?</a:t>
            </a:r>
          </a:p>
        </p:txBody>
      </p:sp>
      <p:sp>
        <p:nvSpPr>
          <p:cNvPr id="36" name="Retângulo 3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75843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Impacto da Mudança e Avaliação de Recurso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Avaliação de Impacto da Mudança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na operação de negócios do cliente.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na infraestrutura do cliente e serviço entregue para o cliente, 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como definido no modelo de serviço.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em outros serviços que rodam na mesma infraestrutura.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nos itens que não fazem parte da infraestrutura da organização.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da não implementação da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necessários para implementar 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Agenda atual de Mudanças e Indisponibilidade de serviços Planejada (ISP).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adicionais.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99908" y="499586"/>
            <a:ext cx="2944091" cy="2208069"/>
          </a:xfrm>
          <a:prstGeom prst="rect">
            <a:avLst/>
          </a:prstGeom>
        </p:spPr>
      </p:pic>
      <p:sp>
        <p:nvSpPr>
          <p:cNvPr id="28" name="Retângulo 27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115305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Mudança pode causar danos que parece completamente fora de proporção para a complexidade ou simplicidade da própria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recentes, tem ocorrido muitos casos de alta visibilidade e impacto no negócio caro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hlinkClick r:id="rId2" action="ppaction://hlinksldjump"/>
          </p:cNvPr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e Agendamento da Mudança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Cuidadosamente planejar para clarear quais informações estão acontecendo em quais processos (Gerenciamento de Serviços, Fornecedores...).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Recomendar o agrupamento de Mudanças autorizadas em uma Liberação ou pacote de implantação, quando factível.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Avaliar a complexidade do agrupamento contra o melhor teste de integração e a habilidade de integrar mais Mudanças juntas.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Mudanças deve agendar Mudanças para atender as necessidades do negócio, por exemplo, evitar períodos críticos do negócio.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e utilizar janela de Mudança e Liberação pré-definida e claramente definir a habilidade de autorizar ajustes 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on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the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fly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”.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os procedimentos de Gerenciamento de Mudança distribui agendamento de Mudança e ISP.  A Central de Serviços tipicamente comunica estas agendas para a comunidade de usuário.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9907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nos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Compontentes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modelo de Teste inclui um plano de testes e script de teste que definem a abordagem de teste para testar cada elemento, condições de teste de liberação, resultados previstos e ciclos de teste.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Integrar teste no Projeto e no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Adotar abordagem de teste com base no risco que ajuda a reduzir risco para o serviço e para o negócio do cliente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Empenhar com os clientes, partes interessadas, usuários e equipes de serviço através do Projeto e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Estabelecer medidas de teste e sistemas de monitoração para melhorar a eficiência e eficácia dos processos de Validação e Testes de Serviço e Melhoria contínua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Automatizar utilizando ferramentas e sistemas de teste automatizados.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28039" y="1332185"/>
            <a:ext cx="1448320" cy="9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68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 fase de Validação tem como principal objetivo verificar que os requisitos do cliente e das partes interessadas para o serviço novo ou alteração são corretamente definidos e corrigir qualquer erro ou variações no ciclo de vida do serviço pois é considerado mais barato do que corrigir os erros em produção.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Equipe de Gerenciamento de Mudanças validará todas as informações documentadas na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poderá solicitar correções para a área de planejamento assegurando a entrega de um serviço na qualidade e prazo que atenda todos os requisitos de uma liberação do serviço com sucesso.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 é a última fase em que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poderá ser prorrogada,                                                    após ser validada será aprovada ou cancelada.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Pré-requisitos mínimos não concluídos serão notificados ao                                                           grupo responsável com cópia para o Coordenador e Gerente.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32418" y="2652465"/>
            <a:ext cx="2382982" cy="24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6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 risco dos pré-requisitos não concluídos será notificado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Atenção!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fase de Aprovação decide se uma liberação ou um pacote de liberação pode ser executado em ambiente produtivo dentro da janela definida para a implantação.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Uma Aprovação registra ciência e concordância do planejamento, comunicação, desenvolvimento, testes, conflitos e riscos provenientes de uma demanda sob responsabilidade de cada aprovador.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33" y="2647945"/>
            <a:ext cx="1568919" cy="246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grupo de pessoas que suportam a avaliação, priorização, autorização e programação de mudanças. Um comitê consultivo de mudança é normalmente composto de representantes de todas as áreas do provedor de serviço de TI, do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aprovadas para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é aprovada automaticamente.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324181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26" y="3013475"/>
            <a:ext cx="3428734" cy="21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Mudança Emergencial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 devem ser implementadas somente desenho e testes da mudança. Isto evita impactos maiores do que o Incidente original.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Lembre-se, uma Mudança Emergencial não é uma Mudança Urgente.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Mudança Emergencial é a maior prioridade de uma Mudança na organização.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Organizações devem estimar, avaliar, rejeitar ou aprovar uma Mudança Emergencial em um curto período de tempo.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12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Nós atingimos o que definimos para fazer em termos de negócio e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 haver várias revisões pós-implementação (RPI) ao longo do tempo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de Mudança é realizada para confirmar que a mudança atendeu seus objetivos e que o solicitante e partes interessadas estão satisfeitos com seu resultado.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Conferir a documentação da Mudança, por exemplo,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20689</TotalTime>
  <Words>2708</Words>
  <Application>Microsoft Office PowerPoint</Application>
  <PresentationFormat>Personalizar</PresentationFormat>
  <Paragraphs>314</Paragraphs>
  <Slides>40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52" baseType="lpstr">
      <vt:lpstr>Aharoni</vt:lpstr>
      <vt:lpstr>Arial</vt:lpstr>
      <vt:lpstr>Calibri</vt:lpstr>
      <vt:lpstr>Eras Medium ITC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624088</cp:lastModifiedBy>
  <cp:revision>869</cp:revision>
  <dcterms:created xsi:type="dcterms:W3CDTF">2015-08-20T14:57:26Z</dcterms:created>
  <dcterms:modified xsi:type="dcterms:W3CDTF">2016-07-04T20:23:03Z</dcterms:modified>
</cp:coreProperties>
</file>