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33"/>
  </p:notesMasterIdLst>
  <p:sldIdLst>
    <p:sldId id="262" r:id="rId5"/>
    <p:sldId id="265" r:id="rId6"/>
    <p:sldId id="587" r:id="rId7"/>
    <p:sldId id="588" r:id="rId8"/>
    <p:sldId id="589" r:id="rId9"/>
    <p:sldId id="590" r:id="rId10"/>
    <p:sldId id="591" r:id="rId11"/>
    <p:sldId id="592" r:id="rId12"/>
    <p:sldId id="597" r:id="rId13"/>
    <p:sldId id="593" r:id="rId14"/>
    <p:sldId id="594" r:id="rId15"/>
    <p:sldId id="595" r:id="rId16"/>
    <p:sldId id="596" r:id="rId17"/>
    <p:sldId id="535" r:id="rId18"/>
    <p:sldId id="470" r:id="rId19"/>
    <p:sldId id="532" r:id="rId20"/>
    <p:sldId id="533" r:id="rId21"/>
    <p:sldId id="461" r:id="rId22"/>
    <p:sldId id="581" r:id="rId23"/>
    <p:sldId id="599" r:id="rId24"/>
    <p:sldId id="464" r:id="rId25"/>
    <p:sldId id="490" r:id="rId26"/>
    <p:sldId id="586" r:id="rId27"/>
    <p:sldId id="411" r:id="rId28"/>
    <p:sldId id="582" r:id="rId29"/>
    <p:sldId id="583" r:id="rId30"/>
    <p:sldId id="584" r:id="rId31"/>
    <p:sldId id="585" r:id="rId32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88220" autoAdjust="0"/>
  </p:normalViewPr>
  <p:slideViewPr>
    <p:cSldViewPr snapToGrid="0" snapToObjects="1">
      <p:cViewPr varScale="1">
        <p:scale>
          <a:sx n="82" d="100"/>
          <a:sy n="82" d="100"/>
        </p:scale>
        <p:origin x="1050" y="84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478696\AppData\Local\Microsoft\Windows\Temporary%20Internet%20Files\Content.Outlook\3EQNSQJK\Comparativo%20AI%20-%2007-04-16-unprotected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478696\AppData\Local\Microsoft\Windows\Temporary%20Internet%20Files\Content.Outlook\3EQNSQJK\Comparativo%20AI%20-%2007-04-16-unprotected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478696\AppData\Local\Microsoft\Windows\Temporary%20Internet%20Files\Content.Outlook\3EQNSQJK\Comparativo%20AI%20-%2007-04-16-unprotected.xlsm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00.10.211\GEQ_Medicao%20e%20Analise\02.%20Relatorios\Estabilidade%20Operacional\Abril\Alto%20Impacto%20Natureza%20de%20marco%202016%20v1_0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/>
              <a:t>Volume</a:t>
            </a:r>
            <a:r>
              <a:rPr lang="pt-BR" sz="1500" b="1" baseline="0" dirty="0"/>
              <a:t> de </a:t>
            </a:r>
            <a:r>
              <a:rPr lang="pt-BR" sz="1500" b="1" dirty="0"/>
              <a:t>Incidentes Alto Impacto</a:t>
            </a:r>
          </a:p>
        </c:rich>
      </c:tx>
      <c:layout>
        <c:manualLayout>
          <c:xMode val="edge"/>
          <c:yMode val="edge"/>
          <c:x val="0.1763608431509571"/>
          <c:y val="1.5304370398211066E-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"/>
          <c:y val="0.21105009973328545"/>
          <c:w val="1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A68B-42D7-9922-1033F30CA165}"/>
              </c:ext>
            </c:extLst>
          </c:dPt>
          <c:dLbls>
            <c:dLbl>
              <c:idx val="0"/>
              <c:layout>
                <c:manualLayout>
                  <c:x val="5.6022408963585436E-6"/>
                  <c:y val="-0.30027645502645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A342-4057-BDFD-D4272EDC632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5.9401031800599621E-3"/>
                  <c:y val="-0.124761495226778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A342-4057-BDFD-D4272EDC632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5.9401031800599075E-3"/>
                  <c:y val="-0.1361034493383042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A342-4057-BDFD-D4272EDC6324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8.9101547700900525E-3"/>
                  <c:y val="-0.1417744263940668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2.9700515900298722E-3"/>
                  <c:y val="-0.147445403449829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1.0346095036632915E-16"/>
                  <c:y val="-6.719576719576729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A68B-42D7-9922-1033F30CA165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</c:v>
                </c:pt>
                <c:pt idx="1">
                  <c:v>Dez</c:v>
                </c:pt>
                <c:pt idx="2">
                  <c:v>Jan</c:v>
                </c:pt>
                <c:pt idx="3">
                  <c:v>Fev</c:v>
                </c:pt>
                <c:pt idx="4">
                  <c:v>Mar</c:v>
                </c:pt>
                <c:pt idx="5">
                  <c:v>Abr</c:v>
                </c:pt>
              </c:strCache>
            </c:strRef>
          </c:cat>
          <c:val>
            <c:numRef>
              <c:f>Plan1!$B$2:$B$7</c:f>
              <c:numCache>
                <c:formatCode>#,##0</c:formatCode>
                <c:ptCount val="6"/>
                <c:pt idx="0">
                  <c:v>1494</c:v>
                </c:pt>
                <c:pt idx="1">
                  <c:v>294</c:v>
                </c:pt>
                <c:pt idx="2">
                  <c:v>210</c:v>
                </c:pt>
                <c:pt idx="3">
                  <c:v>204</c:v>
                </c:pt>
                <c:pt idx="4">
                  <c:v>180</c:v>
                </c:pt>
                <c:pt idx="5">
                  <c:v>38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432092048"/>
        <c:axId val="432092440"/>
      </c:barChart>
      <c:catAx>
        <c:axId val="432092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32092440"/>
        <c:crosses val="autoZero"/>
        <c:auto val="1"/>
        <c:lblAlgn val="ctr"/>
        <c:lblOffset val="100"/>
        <c:noMultiLvlLbl val="0"/>
      </c:catAx>
      <c:valAx>
        <c:axId val="43209244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432092048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/>
              <a:t>Média diária de Incidentes Alto Impacto</a:t>
            </a:r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7264752567693746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Pt>
            <c:idx val="5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5CA6-4A76-8126-37E9773D9510}"/>
              </c:ext>
            </c:extLst>
          </c:dPt>
          <c:dLbls>
            <c:dLbl>
              <c:idx val="0"/>
              <c:layout>
                <c:manualLayout>
                  <c:x val="-2.9880988961915756E-3"/>
                  <c:y val="-0.3299722395062690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336-4DE1-AAF2-45A9A199F5C6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8.9642966885746869E-3"/>
                  <c:y val="-0.1649861197531345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336-4DE1-AAF2-45A9A199F5C6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2.9880988961916168E-3"/>
                  <c:y val="-0.1763644728395576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336-4DE1-AAF2-45A9A199F5C6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2.9880988961915622E-3"/>
                  <c:y val="-0.1649861197531346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52E-40EC-BB07-F4FF4F71836A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1.0956236051995256E-16"/>
                  <c:y val="-0.170675296296346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52E-40EC-BB07-F4FF4F71836A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2.9645191409897291E-3"/>
                  <c:y val="-9.128250213169042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5CA6-4A76-8126-37E9773D9510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</c:v>
                </c:pt>
                <c:pt idx="1">
                  <c:v>Dez</c:v>
                </c:pt>
                <c:pt idx="2">
                  <c:v>Jan</c:v>
                </c:pt>
                <c:pt idx="3">
                  <c:v>Fev</c:v>
                </c:pt>
                <c:pt idx="4">
                  <c:v>Mar</c:v>
                </c:pt>
                <c:pt idx="5">
                  <c:v>Abr</c:v>
                </c:pt>
              </c:strCache>
            </c:strRef>
          </c:cat>
          <c:val>
            <c:numRef>
              <c:f>Plan1!$B$2:$B$7</c:f>
              <c:numCache>
                <c:formatCode>#,##0.00</c:formatCode>
                <c:ptCount val="6"/>
                <c:pt idx="0">
                  <c:v>48.19</c:v>
                </c:pt>
                <c:pt idx="1">
                  <c:v>9.48</c:v>
                </c:pt>
                <c:pt idx="2">
                  <c:v>6.77</c:v>
                </c:pt>
                <c:pt idx="3">
                  <c:v>7.03</c:v>
                </c:pt>
                <c:pt idx="4">
                  <c:v>5.806451612903226</c:v>
                </c:pt>
                <c:pt idx="5">
                  <c:v>7.6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432093224"/>
        <c:axId val="397892664"/>
      </c:barChart>
      <c:catAx>
        <c:axId val="432093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97892664"/>
        <c:crosses val="autoZero"/>
        <c:auto val="1"/>
        <c:lblAlgn val="ctr"/>
        <c:lblOffset val="100"/>
        <c:noMultiLvlLbl val="0"/>
      </c:catAx>
      <c:valAx>
        <c:axId val="397892664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43209322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B343-4B87-A407-FBF943380C67}"/>
              </c:ext>
            </c:extLst>
          </c:dPt>
          <c:dLbls>
            <c:dLbl>
              <c:idx val="0"/>
              <c:layout>
                <c:manualLayout>
                  <c:x val="-5.9400113486707184E-3"/>
                  <c:y val="-0.298672817042967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B343-4B87-A407-FBF943380C67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5.5555324682596465E-3"/>
                  <c:y val="-0.2914791512736120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343-4B87-A407-FBF943380C67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8.5255551212713165E-3"/>
                  <c:y val="-0.293738174107772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B343-4B87-A407-FBF943380C67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5.7477888871415453E-3"/>
                  <c:y val="-0.2900685877198874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1.9296824925137694E-3"/>
                  <c:y val="-0.253931295471328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4.0550904098286163E-3"/>
                  <c:y val="-9.079602984812017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343-4B87-A407-FBF943380C67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Agosto</c:v>
                </c:pt>
                <c:pt idx="1">
                  <c:v>Dezembro</c:v>
                </c:pt>
                <c:pt idx="2">
                  <c:v>Janeiro</c:v>
                </c:pt>
                <c:pt idx="3">
                  <c:v>Fevereiro</c:v>
                </c:pt>
                <c:pt idx="4">
                  <c:v>Março</c:v>
                </c:pt>
                <c:pt idx="5">
                  <c:v>Abril</c:v>
                </c:pt>
              </c:strCache>
            </c:strRef>
          </c:cat>
          <c:val>
            <c:numRef>
              <c:f>Plan1!$B$2:$B$7</c:f>
              <c:numCache>
                <c:formatCode>#,##0</c:formatCode>
                <c:ptCount val="6"/>
                <c:pt idx="0">
                  <c:v>24272</c:v>
                </c:pt>
                <c:pt idx="1">
                  <c:v>19386</c:v>
                </c:pt>
                <c:pt idx="2">
                  <c:v>21648</c:v>
                </c:pt>
                <c:pt idx="3">
                  <c:v>19660</c:v>
                </c:pt>
                <c:pt idx="4">
                  <c:v>21144</c:v>
                </c:pt>
                <c:pt idx="5">
                  <c:v>3941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397893056"/>
        <c:axId val="397893448"/>
      </c:barChart>
      <c:catAx>
        <c:axId val="397893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97893448"/>
        <c:crosses val="autoZero"/>
        <c:auto val="1"/>
        <c:lblAlgn val="ctr"/>
        <c:lblOffset val="100"/>
        <c:noMultiLvlLbl val="0"/>
      </c:catAx>
      <c:valAx>
        <c:axId val="39789344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978930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158558494854694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1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51BD-4525-98ED-AF2575181242}"/>
                </c:ext>
                <c:ext xmlns:c15="http://schemas.microsoft.com/office/drawing/2012/chart" uri="{CE6537A1-D6FC-4f65-9D91-7224C49458BB}"/>
              </c:extLst>
            </c:dLbl>
            <c:dLbl>
              <c:idx val="1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1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1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1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1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F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1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0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1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1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1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2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2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3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2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4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2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5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6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7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51BD-4525-98ED-AF2575181242}"/>
                </c:ex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51BD-4525-98ED-AF2575181242}"/>
                </c:ex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8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9-1E5E-4BC4-A52B-E0FB30941BB5}"/>
                </c:ext>
                <c:ext xmlns:c15="http://schemas.microsoft.com/office/drawing/2012/chart" uri="{CE6537A1-D6FC-4f65-9D91-7224C49458BB}"/>
              </c:extLst>
            </c:dLbl>
            <c:dLbl>
              <c:idx val="2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A-1E5E-4BC4-A52B-E0FB30941BB5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Gráficos'!$D$4:$AH$4</c:f>
              <c:numCache>
                <c:formatCode>#,##0</c:formatCode>
                <c:ptCount val="31"/>
                <c:pt idx="0">
                  <c:v>7</c:v>
                </c:pt>
                <c:pt idx="1">
                  <c:v>6</c:v>
                </c:pt>
                <c:pt idx="2">
                  <c:v>3</c:v>
                </c:pt>
                <c:pt idx="3">
                  <c:v>7</c:v>
                </c:pt>
                <c:pt idx="4">
                  <c:v>15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0F7-4F23-A6C5-BA2B88BE7D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270899504"/>
        <c:axId val="270899896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 w="19050"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Gráficos'!$D$10:$AH$10</c:f>
              <c:numCache>
                <c:formatCode>#,##0.00</c:formatCode>
                <c:ptCount val="31"/>
                <c:pt idx="0">
                  <c:v>10.734094616639478</c:v>
                </c:pt>
                <c:pt idx="1">
                  <c:v>5.213703099510604</c:v>
                </c:pt>
                <c:pt idx="2">
                  <c:v>0.92006525285481233</c:v>
                </c:pt>
                <c:pt idx="3">
                  <c:v>7.0538336052202286</c:v>
                </c:pt>
                <c:pt idx="4">
                  <c:v>7.0538336052202286</c:v>
                </c:pt>
                <c:pt idx="5">
                  <c:v>7.9738988580750414</c:v>
                </c:pt>
                <c:pt idx="6">
                  <c:v>11.34747145187602</c:v>
                </c:pt>
                <c:pt idx="7">
                  <c:v>10.734094616639478</c:v>
                </c:pt>
                <c:pt idx="8">
                  <c:v>5.213703099510604</c:v>
                </c:pt>
                <c:pt idx="9">
                  <c:v>0.92006525285481233</c:v>
                </c:pt>
                <c:pt idx="10">
                  <c:v>7.0538336052202286</c:v>
                </c:pt>
                <c:pt idx="11">
                  <c:v>5.213703099510604</c:v>
                </c:pt>
                <c:pt idx="12">
                  <c:v>7.6672104404567696</c:v>
                </c:pt>
                <c:pt idx="13">
                  <c:v>7.9738988580750414</c:v>
                </c:pt>
                <c:pt idx="14">
                  <c:v>5.5203915171288749</c:v>
                </c:pt>
                <c:pt idx="15">
                  <c:v>2.1468189233278956</c:v>
                </c:pt>
                <c:pt idx="16">
                  <c:v>1.8401305057096247</c:v>
                </c:pt>
                <c:pt idx="17">
                  <c:v>7.9738988580750414</c:v>
                </c:pt>
                <c:pt idx="18">
                  <c:v>11.04078303425775</c:v>
                </c:pt>
                <c:pt idx="19">
                  <c:v>7.0538336052202286</c:v>
                </c:pt>
                <c:pt idx="20">
                  <c:v>8.5872756933115824</c:v>
                </c:pt>
                <c:pt idx="21">
                  <c:v>6.4404567699836868</c:v>
                </c:pt>
                <c:pt idx="22">
                  <c:v>3.0668841761827079</c:v>
                </c:pt>
                <c:pt idx="23">
                  <c:v>1.2267536704730833</c:v>
                </c:pt>
                <c:pt idx="24">
                  <c:v>7.0538336052202286</c:v>
                </c:pt>
                <c:pt idx="25">
                  <c:v>7.9738988580750414</c:v>
                </c:pt>
                <c:pt idx="26">
                  <c:v>6.4404567699836868</c:v>
                </c:pt>
                <c:pt idx="27">
                  <c:v>7.3605220228384987</c:v>
                </c:pt>
                <c:pt idx="28">
                  <c:v>6.1337683523654158</c:v>
                </c:pt>
                <c:pt idx="29">
                  <c:v>3.0668841761827079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00F7-4F23-A6C5-BA2B88BE7D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0899504"/>
        <c:axId val="270899896"/>
      </c:lineChart>
      <c:dateAx>
        <c:axId val="270899504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70899896"/>
        <c:crosses val="autoZero"/>
        <c:auto val="1"/>
        <c:lblOffset val="100"/>
        <c:baseTimeUnit val="days"/>
      </c:dateAx>
      <c:valAx>
        <c:axId val="270899896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270899504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864560982860335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1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1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1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1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1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F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1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0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1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1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1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2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1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3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2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4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2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5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2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6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7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8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9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A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B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C-1655-4BD4-AF07-111D513ADE1F}"/>
                </c:ext>
                <c:ext xmlns:c15="http://schemas.microsoft.com/office/drawing/2012/chart" uri="{CE6537A1-D6FC-4f65-9D91-7224C49458BB}"/>
              </c:extLst>
            </c:dLbl>
            <c:dLbl>
              <c:idx val="2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D-1655-4BD4-AF07-111D513ADE1F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Gráficos'!$D$5:$AH$5</c:f>
              <c:numCache>
                <c:formatCode>#,##0</c:formatCode>
                <c:ptCount val="31"/>
                <c:pt idx="0">
                  <c:v>622</c:v>
                </c:pt>
                <c:pt idx="1">
                  <c:v>140</c:v>
                </c:pt>
                <c:pt idx="2">
                  <c:v>51</c:v>
                </c:pt>
                <c:pt idx="3">
                  <c:v>676</c:v>
                </c:pt>
                <c:pt idx="4">
                  <c:v>687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A-A827-4AA2-80E9-C1D14CAA4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396359800"/>
        <c:axId val="396360192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 w="19050"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Gráficos'!$D$11:$AH$11</c:f>
              <c:numCache>
                <c:formatCode>#,##0.00</c:formatCode>
                <c:ptCount val="31"/>
                <c:pt idx="0">
                  <c:v>482.2818585474152</c:v>
                </c:pt>
                <c:pt idx="1">
                  <c:v>121.29766888677449</c:v>
                </c:pt>
                <c:pt idx="2">
                  <c:v>62.539565493181094</c:v>
                </c:pt>
                <c:pt idx="3">
                  <c:v>609.68804313352371</c:v>
                </c:pt>
                <c:pt idx="4">
                  <c:v>605.32481763399937</c:v>
                </c:pt>
                <c:pt idx="5">
                  <c:v>599.79806533460192</c:v>
                </c:pt>
                <c:pt idx="6">
                  <c:v>483.7362670472566</c:v>
                </c:pt>
                <c:pt idx="7">
                  <c:v>482.2818585474152</c:v>
                </c:pt>
                <c:pt idx="8">
                  <c:v>121.29766888677449</c:v>
                </c:pt>
                <c:pt idx="9">
                  <c:v>62.539565493181094</c:v>
                </c:pt>
                <c:pt idx="10">
                  <c:v>423.81463685378998</c:v>
                </c:pt>
                <c:pt idx="11">
                  <c:v>340.91335236282907</c:v>
                </c:pt>
                <c:pt idx="12">
                  <c:v>494.49888994608307</c:v>
                </c:pt>
                <c:pt idx="13">
                  <c:v>475.8824611481129</c:v>
                </c:pt>
                <c:pt idx="14">
                  <c:v>450.5757532508722</c:v>
                </c:pt>
                <c:pt idx="15">
                  <c:v>121.58855058674281</c:v>
                </c:pt>
                <c:pt idx="16">
                  <c:v>30.833460196638129</c:v>
                </c:pt>
                <c:pt idx="17">
                  <c:v>569.25548683793215</c:v>
                </c:pt>
                <c:pt idx="18">
                  <c:v>494.20800824611473</c:v>
                </c:pt>
                <c:pt idx="19">
                  <c:v>437.77695845226776</c:v>
                </c:pt>
                <c:pt idx="20">
                  <c:v>481.11833174754207</c:v>
                </c:pt>
                <c:pt idx="21">
                  <c:v>396.47175705677142</c:v>
                </c:pt>
                <c:pt idx="22">
                  <c:v>117.8070884871551</c:v>
                </c:pt>
                <c:pt idx="23">
                  <c:v>43.923136695210914</c:v>
                </c:pt>
                <c:pt idx="24">
                  <c:v>563.14697113859825</c:v>
                </c:pt>
                <c:pt idx="25">
                  <c:v>547.730241040279</c:v>
                </c:pt>
                <c:pt idx="26">
                  <c:v>433.41373295274349</c:v>
                </c:pt>
                <c:pt idx="27">
                  <c:v>496.24418014589276</c:v>
                </c:pt>
                <c:pt idx="28">
                  <c:v>336.84100856327308</c:v>
                </c:pt>
                <c:pt idx="29">
                  <c:v>118.97061528702822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C-A827-4AA2-80E9-C1D14CAA4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6359800"/>
        <c:axId val="396360192"/>
      </c:lineChart>
      <c:dateAx>
        <c:axId val="396359800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96360192"/>
        <c:crosses val="autoZero"/>
        <c:auto val="1"/>
        <c:lblOffset val="100"/>
        <c:baseTimeUnit val="days"/>
      </c:dateAx>
      <c:valAx>
        <c:axId val="396360192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96359800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864560982860335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1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1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1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1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1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F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1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0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1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1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1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2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1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3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20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4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21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5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22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6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23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7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24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8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25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9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26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A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27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B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28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C-1936-4A8D-BE59-659F419EE3CB}"/>
                </c:ext>
                <c:ext xmlns:c15="http://schemas.microsoft.com/office/drawing/2012/chart" uri="{CE6537A1-D6FC-4f65-9D91-7224C49458BB}"/>
              </c:extLst>
            </c:dLbl>
            <c:dLbl>
              <c:idx val="29"/>
              <c:delete val="1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D-1936-4A8D-BE59-659F419EE3CB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Gráficos'!$D$6:$AH$6</c:f>
              <c:numCache>
                <c:formatCode>#,##0</c:formatCode>
                <c:ptCount val="31"/>
                <c:pt idx="0">
                  <c:v>489</c:v>
                </c:pt>
                <c:pt idx="1">
                  <c:v>166</c:v>
                </c:pt>
                <c:pt idx="2">
                  <c:v>39</c:v>
                </c:pt>
                <c:pt idx="3">
                  <c:v>568</c:v>
                </c:pt>
                <c:pt idx="4">
                  <c:v>465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A-DFE8-4CB0-B98D-4A089B7567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396360976"/>
        <c:axId val="396361368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Gráficos'!$D$12:$AH$12</c:f>
              <c:numCache>
                <c:formatCode>#,##0.00</c:formatCode>
                <c:ptCount val="31"/>
                <c:pt idx="0">
                  <c:v>327.48035686335885</c:v>
                </c:pt>
                <c:pt idx="1">
                  <c:v>92.688636719361412</c:v>
                </c:pt>
                <c:pt idx="2">
                  <c:v>42.689403662544997</c:v>
                </c:pt>
                <c:pt idx="3">
                  <c:v>415.49070277038663</c:v>
                </c:pt>
                <c:pt idx="4">
                  <c:v>509.34891219283134</c:v>
                </c:pt>
                <c:pt idx="5">
                  <c:v>411.39719830959467</c:v>
                </c:pt>
                <c:pt idx="6">
                  <c:v>376.60241039286279</c:v>
                </c:pt>
                <c:pt idx="7">
                  <c:v>327.48035686335885</c:v>
                </c:pt>
                <c:pt idx="8">
                  <c:v>92.688636719361412</c:v>
                </c:pt>
                <c:pt idx="9">
                  <c:v>42.689403662544997</c:v>
                </c:pt>
                <c:pt idx="10">
                  <c:v>323.386852402567</c:v>
                </c:pt>
                <c:pt idx="11">
                  <c:v>261.10710596337452</c:v>
                </c:pt>
                <c:pt idx="12">
                  <c:v>344.14676788229769</c:v>
                </c:pt>
                <c:pt idx="13">
                  <c:v>317.5389888871498</c:v>
                </c:pt>
                <c:pt idx="14">
                  <c:v>267.53975583033338</c:v>
                </c:pt>
                <c:pt idx="15">
                  <c:v>79.238550633902008</c:v>
                </c:pt>
                <c:pt idx="16">
                  <c:v>35.671967444044455</c:v>
                </c:pt>
                <c:pt idx="17">
                  <c:v>385.66659884175925</c:v>
                </c:pt>
                <c:pt idx="18">
                  <c:v>304.38129597746132</c:v>
                </c:pt>
                <c:pt idx="19">
                  <c:v>278.06591015808419</c:v>
                </c:pt>
                <c:pt idx="20">
                  <c:v>288.29967131006413</c:v>
                </c:pt>
                <c:pt idx="21">
                  <c:v>255.55163562372826</c:v>
                </c:pt>
                <c:pt idx="22">
                  <c:v>97.951713883236792</c:v>
                </c:pt>
                <c:pt idx="23">
                  <c:v>37.718719674440443</c:v>
                </c:pt>
                <c:pt idx="24">
                  <c:v>343.85437470652693</c:v>
                </c:pt>
                <c:pt idx="25">
                  <c:v>306.72044138362816</c:v>
                </c:pt>
                <c:pt idx="26">
                  <c:v>299.70300516512754</c:v>
                </c:pt>
                <c:pt idx="27">
                  <c:v>282.15941461887621</c:v>
                </c:pt>
                <c:pt idx="28">
                  <c:v>225.43513851933014</c:v>
                </c:pt>
                <c:pt idx="29">
                  <c:v>99.706072937861947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C-DFE8-4CB0-B98D-4A089B7567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6360976"/>
        <c:axId val="396361368"/>
      </c:lineChart>
      <c:dateAx>
        <c:axId val="396360976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96361368"/>
        <c:crosses val="autoZero"/>
        <c:auto val="1"/>
        <c:lblOffset val="100"/>
        <c:baseTimeUnit val="days"/>
      </c:dateAx>
      <c:valAx>
        <c:axId val="39636136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96360976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116456601044356"/>
          <c:y val="0.11154145760264045"/>
          <c:w val="0.59193711972290242"/>
          <c:h val="0.88837499284738619"/>
        </c:manualLayout>
      </c:layout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/>
            </a:sp3d>
          </c:spPr>
          <c:explosion val="1"/>
          <c:dPt>
            <c:idx val="0"/>
            <c:bubble3D val="0"/>
            <c:spPr>
              <a:solidFill>
                <a:srgbClr val="184E82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779-44A1-B776-7698C72316C7}"/>
              </c:ext>
            </c:extLst>
          </c:dPt>
          <c:dPt>
            <c:idx val="1"/>
            <c:bubble3D val="0"/>
            <c:spPr>
              <a:solidFill>
                <a:srgbClr val="D71920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0779-44A1-B776-7698C72316C7}"/>
              </c:ext>
            </c:extLst>
          </c:dPt>
          <c:dPt>
            <c:idx val="2"/>
            <c:bubble3D val="0"/>
            <c:spPr>
              <a:solidFill>
                <a:srgbClr val="939597"/>
              </a:solidFill>
              <a:ln w="1905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0779-44A1-B776-7698C72316C7}"/>
              </c:ext>
            </c:extLst>
          </c:dPt>
          <c:dLbls>
            <c:dLbl>
              <c:idx val="0"/>
              <c:layout>
                <c:manualLayout>
                  <c:x val="0.25070900299641852"/>
                  <c:y val="0.1386890155980430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0779-44A1-B776-7698C72316C7}"/>
                </c:ext>
                <c:ext xmlns:c15="http://schemas.microsoft.com/office/drawing/2012/chart" uri="{CE6537A1-D6FC-4f65-9D91-7224C49458BB}">
                  <c15:layout>
                    <c:manualLayout>
                      <c:w val="0.17833437813846981"/>
                      <c:h val="0.23131447536844874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22816008341142344"/>
                  <c:y val="-1.787678406095536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0779-44A1-B776-7698C72316C7}"/>
                </c:ext>
                <c:ext xmlns:c15="http://schemas.microsoft.com/office/drawing/2012/chart" uri="{CE6537A1-D6FC-4f65-9D91-7224C49458BB}">
                  <c15:layout>
                    <c:manualLayout>
                      <c:w val="0.20454788048058284"/>
                      <c:h val="0.23131447536844874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7.9513307554265489E-3"/>
                  <c:y val="-5.9510859941412475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0779-44A1-B776-7698C72316C7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Responsavel!$B$5:$B$7</c:f>
              <c:strCache>
                <c:ptCount val="3"/>
                <c:pt idx="0">
                  <c:v>TI Contax</c:v>
                </c:pt>
                <c:pt idx="1">
                  <c:v>Suporte Cliente</c:v>
                </c:pt>
                <c:pt idx="2">
                  <c:v>Fornecedor Contax</c:v>
                </c:pt>
              </c:strCache>
            </c:strRef>
          </c:cat>
          <c:val>
            <c:numRef>
              <c:f>Responsavel!$C$5:$C$7</c:f>
              <c:numCache>
                <c:formatCode>General</c:formatCode>
                <c:ptCount val="3"/>
                <c:pt idx="0">
                  <c:v>94</c:v>
                </c:pt>
                <c:pt idx="1">
                  <c:v>68</c:v>
                </c:pt>
                <c:pt idx="2">
                  <c:v>18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0779-44A1-B776-7698C72316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98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0.56871</cdr:x>
      <cdr:y>0.7074</cdr:y>
    </cdr:from>
    <cdr:to>
      <cdr:x>0.69332</cdr:x>
      <cdr:y>0.79971</cdr:y>
    </cdr:to>
    <cdr:sp macro="" textlink="">
      <cdr:nvSpPr>
        <cdr:cNvPr id="2" name="CaixaDeTexto 17"/>
        <cdr:cNvSpPr txBox="1"/>
      </cdr:nvSpPr>
      <cdr:spPr>
        <a:xfrm xmlns:a="http://schemas.openxmlformats.org/drawingml/2006/main">
          <a:off x="3341487" y="2122758"/>
          <a:ext cx="732185" cy="276999"/>
        </a:xfrm>
        <a:prstGeom xmlns:a="http://schemas.openxmlformats.org/drawingml/2006/main" prst="rect">
          <a:avLst/>
        </a:prstGeom>
        <a:noFill xmlns:a="http://schemas.openxmlformats.org/drawingml/2006/main"/>
        <a:scene3d xmlns:a="http://schemas.openxmlformats.org/drawingml/2006/main">
          <a:camera prst="orthographicFront"/>
          <a:lightRig rig="threePt" dir="t"/>
        </a:scene3d>
        <a:sp3d xmlns:a="http://schemas.openxmlformats.org/drawingml/2006/main">
          <a:bevelT w="114300" prst="artDeco"/>
          <a:bevelB/>
        </a:sp3d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1200" b="1" dirty="0">
              <a:solidFill>
                <a:schemeClr val="accent2"/>
              </a:solidFill>
            </a:rPr>
            <a:t>+7,55%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07/04/2016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183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744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1988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9194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4240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8005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94302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7812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10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695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11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766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12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03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13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66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477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9556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239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777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2998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4114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65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Contrato vai</a:t>
            </a:r>
            <a:r>
              <a:rPr lang="pt-BR" baseline="0" dirty="0" smtClean="0"/>
              <a:t> até Março do BTCC da Oi – Adolpho e </a:t>
            </a:r>
            <a:r>
              <a:rPr lang="pt-BR" baseline="0" dirty="0" err="1" smtClean="0"/>
              <a:t>Koreeda</a:t>
            </a:r>
            <a:r>
              <a:rPr lang="pt-BR" baseline="0" dirty="0" smtClean="0"/>
              <a:t> cientes –</a:t>
            </a:r>
            <a:r>
              <a:rPr lang="pt-BR" baseline="0" dirty="0" err="1" smtClean="0"/>
              <a:t>Boarim</a:t>
            </a:r>
            <a:r>
              <a:rPr lang="pt-BR" baseline="0" dirty="0" smtClean="0"/>
              <a:t> sugere congelar a </a:t>
            </a:r>
            <a:r>
              <a:rPr lang="pt-BR" baseline="0" dirty="0" err="1" smtClean="0"/>
              <a:t>Interlalização</a:t>
            </a:r>
            <a:endParaRPr lang="pt-BR" baseline="0" dirty="0" smtClean="0"/>
          </a:p>
          <a:p>
            <a:r>
              <a:rPr lang="pt-BR" baseline="0" dirty="0" smtClean="0"/>
              <a:t>MPLS - Fortaleza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4402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SMS IP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Mapper</a:t>
            </a:r>
            <a:r>
              <a:rPr lang="pt-B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 ferramenta corrige o problema de troca de ramais nas operações evitando perda de gravação ajustando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ramal de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minutos em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xx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minutos.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667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207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4/7/2016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4/7/2016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4/7/2016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4/7/2016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4/7/2016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" Target="slide7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3.xml"/><Relationship Id="rId11" Type="http://schemas.openxmlformats.org/officeDocument/2006/relationships/slide" Target="slide8.xml"/><Relationship Id="rId5" Type="http://schemas.openxmlformats.org/officeDocument/2006/relationships/image" Target="../media/image4.png"/><Relationship Id="rId10" Type="http://schemas.openxmlformats.org/officeDocument/2006/relationships/slide" Target="slide6.xml"/><Relationship Id="rId4" Type="http://schemas.openxmlformats.org/officeDocument/2006/relationships/image" Target="../media/image13.emf"/><Relationship Id="rId9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image" Target="../media/image4.pn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slide" Target="slide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4.pn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slide" Target="slide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4.pn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slide" Target="slide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Report_Semana_G_Problemas_V1_21032016.xlsx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3.emf"/><Relationship Id="rId4" Type="http://schemas.openxmlformats.org/officeDocument/2006/relationships/image" Target="../media/image12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3.emf"/><Relationship Id="rId4" Type="http://schemas.openxmlformats.org/officeDocument/2006/relationships/image" Target="../media/image12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4.png"/><Relationship Id="rId7" Type="http://schemas.openxmlformats.org/officeDocument/2006/relationships/image" Target="../media/image2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7.xml"/><Relationship Id="rId5" Type="http://schemas.openxmlformats.org/officeDocument/2006/relationships/image" Target="../media/image3.emf"/><Relationship Id="rId4" Type="http://schemas.openxmlformats.org/officeDocument/2006/relationships/image" Target="../media/image12.png"/><Relationship Id="rId9" Type="http://schemas.openxmlformats.org/officeDocument/2006/relationships/image" Target="../media/image25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image" Target="../media/image4.png"/><Relationship Id="rId7" Type="http://schemas.openxmlformats.org/officeDocument/2006/relationships/image" Target="../media/image27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emf"/><Relationship Id="rId5" Type="http://schemas.openxmlformats.org/officeDocument/2006/relationships/image" Target="../media/image3.emf"/><Relationship Id="rId10" Type="http://schemas.openxmlformats.org/officeDocument/2006/relationships/image" Target="../media/image30.emf"/><Relationship Id="rId4" Type="http://schemas.openxmlformats.org/officeDocument/2006/relationships/image" Target="../media/image12.png"/><Relationship Id="rId9" Type="http://schemas.openxmlformats.org/officeDocument/2006/relationships/image" Target="../media/image2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g"/><Relationship Id="rId5" Type="http://schemas.openxmlformats.org/officeDocument/2006/relationships/image" Target="../media/image3.emf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emf"/><Relationship Id="rId4" Type="http://schemas.openxmlformats.org/officeDocument/2006/relationships/image" Target="../media/image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jpg"/><Relationship Id="rId4" Type="http://schemas.openxmlformats.org/officeDocument/2006/relationships/image" Target="../media/image5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cid:image016.png@01D18F5F.62D55BF0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l">
              <a:lnSpc>
                <a:spcPct val="110000"/>
              </a:lnSpc>
            </a:pP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07.Abril.2016</a:t>
            </a:r>
            <a:endParaRPr lang="en-US" sz="2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70" y="1276051"/>
            <a:ext cx="6515322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 – Incidentes de Alto Impacto </a:t>
            </a: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 – Total de Incidentes</a:t>
            </a: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Gestão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problemas – </a:t>
            </a:r>
            <a:r>
              <a:rPr lang="pt-BR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Dashboard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 Indicadores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Tempo médio entre falhas</a:t>
            </a: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Incidentes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resolvidos de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Alto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Impacto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Estruturantes e Especiais</a:t>
            </a:r>
            <a:endParaRPr lang="pt-BR" sz="14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  <a:p>
            <a:pPr algn="l"/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34184" y="153259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Clr>
                <a:srgbClr val="800000"/>
              </a:buClr>
              <a:buAutoNum type="arabicPeriod"/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Indicadores: Incidentes Alto Impacto</a:t>
            </a:r>
          </a:p>
          <a:p>
            <a:pPr marL="342900" indent="-342900" algn="l">
              <a:buClr>
                <a:srgbClr val="800000"/>
              </a:buClr>
              <a:buAutoNum type="arabicPeriod"/>
            </a:pP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/>
          </p:nvPr>
        </p:nvGraphicFramePr>
        <p:xfrm>
          <a:off x="84083" y="795527"/>
          <a:ext cx="4298732" cy="2588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Gráfico 26"/>
          <p:cNvGraphicFramePr/>
          <p:nvPr>
            <p:extLst>
              <p:ext uri="{D42A27DB-BD31-4B8C-83A1-F6EECF244321}">
                <p14:modId xmlns:p14="http://schemas.microsoft.com/office/powerpoint/2010/main" val="1528984474"/>
              </p:ext>
            </p:extLst>
          </p:nvPr>
        </p:nvGraphicFramePr>
        <p:xfrm>
          <a:off x="4700003" y="776695"/>
          <a:ext cx="4284000" cy="2643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919" y="2822883"/>
            <a:ext cx="24765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CaixaDeTexto 2"/>
          <p:cNvSpPr txBox="1"/>
          <p:nvPr/>
        </p:nvSpPr>
        <p:spPr>
          <a:xfrm>
            <a:off x="1" y="4848225"/>
            <a:ext cx="587116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! referentes ao período de 01/04 a 05/04.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35" name="CaixaDeTexto 34"/>
          <p:cNvSpPr txBox="1"/>
          <p:nvPr/>
        </p:nvSpPr>
        <p:spPr>
          <a:xfrm>
            <a:off x="451788" y="262017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-80,3%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171183" y="262017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-28,6%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1895187" y="262017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-2,9%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5159423" y="262017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-80,3%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5860651" y="262017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-28,6%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526567" y="262017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+3,8%</a:t>
            </a:r>
          </a:p>
        </p:txBody>
      </p:sp>
      <p:grpSp>
        <p:nvGrpSpPr>
          <p:cNvPr id="9" name="Agrupar 8"/>
          <p:cNvGrpSpPr/>
          <p:nvPr/>
        </p:nvGrpSpPr>
        <p:grpSpPr>
          <a:xfrm>
            <a:off x="2430842" y="3509170"/>
            <a:ext cx="4140000" cy="972000"/>
            <a:chOff x="225224" y="3577590"/>
            <a:chExt cx="3878145" cy="987777"/>
          </a:xfrm>
        </p:grpSpPr>
        <p:sp>
          <p:nvSpPr>
            <p:cNvPr id="33" name="Retângulo de cantos arredondados 32"/>
            <p:cNvSpPr/>
            <p:nvPr/>
          </p:nvSpPr>
          <p:spPr>
            <a:xfrm>
              <a:off x="225224" y="3577590"/>
              <a:ext cx="3878145" cy="987777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/>
                <a:t>Redução Consolidada</a:t>
              </a:r>
              <a:br>
                <a:rPr lang="pt-BR" sz="1600" b="1" dirty="0"/>
              </a:br>
              <a:r>
                <a:rPr lang="pt-BR" sz="1600" b="1" dirty="0"/>
                <a:t> Agosto-15 a Março-16</a:t>
              </a:r>
            </a:p>
          </p:txBody>
        </p:sp>
        <p:sp>
          <p:nvSpPr>
            <p:cNvPr id="22" name="Retângulo de cantos arredondados 32"/>
            <p:cNvSpPr/>
            <p:nvPr/>
          </p:nvSpPr>
          <p:spPr>
            <a:xfrm>
              <a:off x="2758639" y="3706013"/>
              <a:ext cx="1207571" cy="709702"/>
            </a:xfrm>
            <a:prstGeom prst="round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b="1" dirty="0"/>
                <a:t>-</a:t>
              </a:r>
              <a:r>
                <a:rPr lang="pt-BR" sz="2000" b="1" dirty="0"/>
                <a:t> 87,95%</a:t>
              </a:r>
            </a:p>
          </p:txBody>
        </p:sp>
      </p:grpSp>
      <p:pic>
        <p:nvPicPr>
          <p:cNvPr id="21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24" name="CaixaDeTexto 23"/>
          <p:cNvSpPr txBox="1"/>
          <p:nvPr/>
        </p:nvSpPr>
        <p:spPr>
          <a:xfrm>
            <a:off x="2606249" y="262017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-11,8%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7257653" y="262017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-11,8%</a:t>
            </a:r>
          </a:p>
        </p:txBody>
      </p:sp>
    </p:spTree>
    <p:extLst>
      <p:ext uri="{BB962C8B-B14F-4D97-AF65-F5344CB8AC3E}">
        <p14:creationId xmlns:p14="http://schemas.microsoft.com/office/powerpoint/2010/main" val="29455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34" y="3069780"/>
            <a:ext cx="5847803" cy="14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042608" y="271638"/>
            <a:ext cx="184731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69812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Indicadores: Total de Incidentes</a:t>
            </a:r>
            <a:endParaRPr lang="pt-BR" sz="20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5" y="4377863"/>
            <a:ext cx="955343" cy="76394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>
              <p:ext uri="{D42A27DB-BD31-4B8C-83A1-F6EECF244321}">
                <p14:modId xmlns:p14="http://schemas.microsoft.com/office/powerpoint/2010/main" val="2075014123"/>
              </p:ext>
            </p:extLst>
          </p:nvPr>
        </p:nvGraphicFramePr>
        <p:xfrm>
          <a:off x="251073" y="75284"/>
          <a:ext cx="5875578" cy="3000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" name="CaixaDeTexto 23"/>
          <p:cNvSpPr txBox="1"/>
          <p:nvPr/>
        </p:nvSpPr>
        <p:spPr>
          <a:xfrm>
            <a:off x="953644" y="2185598"/>
            <a:ext cx="703482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-20,13%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1810920" y="2185598"/>
            <a:ext cx="732185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+11,67%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436" y="2794393"/>
            <a:ext cx="24765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8" name="CaixaDeTexto 17"/>
          <p:cNvSpPr txBox="1"/>
          <p:nvPr/>
        </p:nvSpPr>
        <p:spPr>
          <a:xfrm>
            <a:off x="2692656" y="2185598"/>
            <a:ext cx="732185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-9,18%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518" y="4819735"/>
            <a:ext cx="5948978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1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! referentes ao período de 01/04 a 05/04.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22" name="Retângulo 21"/>
          <p:cNvSpPr/>
          <p:nvPr/>
        </p:nvSpPr>
        <p:spPr>
          <a:xfrm>
            <a:off x="6232760" y="1499186"/>
            <a:ext cx="2541202" cy="31472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Ação de Investigação dos Ofensores junto aos Sites;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Gestão de Problemas;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Projetos de Estabilização;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GEROT Diária de Incidentes;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Gestão de Vulnerabilidades;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Política de Mudanças (Mudança Técnica).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GEROT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sites para médio e baixo impacto (em planejamento).</a:t>
            </a:r>
          </a:p>
        </p:txBody>
      </p:sp>
      <p:sp>
        <p:nvSpPr>
          <p:cNvPr id="21" name="Retângulo de cantos arredondados 14"/>
          <p:cNvSpPr/>
          <p:nvPr/>
        </p:nvSpPr>
        <p:spPr>
          <a:xfrm>
            <a:off x="6238115" y="1330154"/>
            <a:ext cx="2535847" cy="398839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</a:t>
            </a:r>
            <a:endParaRPr lang="pt-BR" sz="1200" i="1" dirty="0"/>
          </a:p>
        </p:txBody>
      </p:sp>
      <p:pic>
        <p:nvPicPr>
          <p:cNvPr id="26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2" name="Retângulo 1">
            <a:hlinkClick r:id="rId10" action="ppaction://hlinksldjump"/>
          </p:cNvPr>
          <p:cNvSpPr/>
          <p:nvPr/>
        </p:nvSpPr>
        <p:spPr>
          <a:xfrm>
            <a:off x="442604" y="3630023"/>
            <a:ext cx="1362722" cy="2789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hlinkClick r:id="rId3" action="ppaction://hlinksldjump"/>
          </p:cNvPr>
          <p:cNvSpPr/>
          <p:nvPr/>
        </p:nvSpPr>
        <p:spPr>
          <a:xfrm>
            <a:off x="442603" y="3908993"/>
            <a:ext cx="1362722" cy="2789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11" action="ppaction://hlinksldjump"/>
          </p:cNvPr>
          <p:cNvSpPr/>
          <p:nvPr/>
        </p:nvSpPr>
        <p:spPr>
          <a:xfrm>
            <a:off x="442603" y="4187962"/>
            <a:ext cx="1362722" cy="3254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435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754515" y="-51131"/>
            <a:ext cx="8389486" cy="5250014"/>
            <a:chOff x="754515" y="-101750"/>
            <a:chExt cx="8389486" cy="5250014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-101750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75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</a:t>
              </a:r>
              <a:r>
                <a:rPr lang="pt-BR" sz="3200" b="1" dirty="0" smtClean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Proposta para GEROT para os sites</a:t>
              </a:r>
              <a:endPara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19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514" y="523344"/>
            <a:ext cx="4260730" cy="4562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CaixaDeTexto 20"/>
          <p:cNvSpPr txBox="1"/>
          <p:nvPr/>
        </p:nvSpPr>
        <p:spPr>
          <a:xfrm>
            <a:off x="5521368" y="3642707"/>
            <a:ext cx="2974489" cy="73866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solidFill>
                  <a:schemeClr val="tx2"/>
                </a:solidFill>
              </a:rPr>
              <a:t>Informações retiradas dos indicadores de SLA e </a:t>
            </a:r>
            <a:r>
              <a:rPr lang="pt-BR" sz="1400" dirty="0" err="1">
                <a:solidFill>
                  <a:schemeClr val="tx2"/>
                </a:solidFill>
              </a:rPr>
              <a:t>tProcess</a:t>
            </a:r>
            <a:r>
              <a:rPr lang="pt-BR" sz="1400" dirty="0">
                <a:solidFill>
                  <a:schemeClr val="tx2"/>
                </a:solidFill>
              </a:rPr>
              <a:t>! referentes ao período de 01/04 a 05/04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5521368" y="1719219"/>
            <a:ext cx="3614201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 smtClean="0">
                <a:solidFill>
                  <a:schemeClr val="tx2"/>
                </a:solidFill>
              </a:rPr>
              <a:t>Meta</a:t>
            </a:r>
            <a:r>
              <a:rPr lang="pt-BR" sz="1400" dirty="0" smtClean="0">
                <a:solidFill>
                  <a:schemeClr val="tx2"/>
                </a:solidFill>
              </a:rPr>
              <a:t>: Média do último trimestre menos 10% </a:t>
            </a:r>
            <a:endParaRPr lang="pt-BR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32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75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 Alto</a:t>
              </a:r>
              <a:endPara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20/03.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3" name="Retângulo de cantos arredondados 12"/>
          <p:cNvSpPr>
            <a:spLocks noChangeAspect="1"/>
          </p:cNvSpPr>
          <p:nvPr/>
        </p:nvSpPr>
        <p:spPr>
          <a:xfrm>
            <a:off x="7527600" y="740192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</a:t>
            </a:r>
            <a:r>
              <a:rPr lang="pt-BR" sz="1600" b="1" dirty="0" smtClean="0"/>
              <a:t>188</a:t>
            </a:r>
            <a:endParaRPr lang="pt-BR" sz="1600" b="1" dirty="0"/>
          </a:p>
        </p:txBody>
      </p:sp>
      <p:sp>
        <p:nvSpPr>
          <p:cNvPr id="14" name="Retângulo de cantos arredondados 12"/>
          <p:cNvSpPr>
            <a:spLocks noChangeAspect="1"/>
          </p:cNvSpPr>
          <p:nvPr/>
        </p:nvSpPr>
        <p:spPr>
          <a:xfrm>
            <a:off x="7527600" y="1186770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</a:t>
            </a:r>
            <a:r>
              <a:rPr lang="pt-BR" sz="1600" b="1" dirty="0" smtClean="0"/>
              <a:t>38</a:t>
            </a:r>
            <a:endParaRPr lang="pt-BR" sz="1600" b="1" dirty="0"/>
          </a:p>
        </p:txBody>
      </p:sp>
      <p:sp>
        <p:nvSpPr>
          <p:cNvPr id="16" name="Seta para Baixo 15">
            <a:hlinkClick r:id="rId6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5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graphicFrame>
        <p:nvGraphicFramePr>
          <p:cNvPr id="21" name="Gráfico 20"/>
          <p:cNvGraphicFramePr>
            <a:graphicFrameLocks noGrp="1"/>
          </p:cNvGraphicFramePr>
          <p:nvPr>
            <p:extLst/>
          </p:nvPr>
        </p:nvGraphicFramePr>
        <p:xfrm>
          <a:off x="0" y="517596"/>
          <a:ext cx="7232400" cy="46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406400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 Médio</a:t>
              </a:r>
              <a:endPara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20/03.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3" name="Retângulo de cantos arredondados 12"/>
          <p:cNvSpPr>
            <a:spLocks noChangeAspect="1"/>
          </p:cNvSpPr>
          <p:nvPr/>
        </p:nvSpPr>
        <p:spPr>
          <a:xfrm>
            <a:off x="7525761" y="714053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</a:t>
            </a:r>
            <a:r>
              <a:rPr lang="pt-BR" sz="1600" b="1" dirty="0" smtClean="0"/>
              <a:t>11.006</a:t>
            </a:r>
            <a:endParaRPr lang="pt-BR" sz="1600" b="1" dirty="0"/>
          </a:p>
        </p:txBody>
      </p:sp>
      <p:sp>
        <p:nvSpPr>
          <p:cNvPr id="12" name="Retângulo de cantos arredondados 12"/>
          <p:cNvSpPr>
            <a:spLocks noChangeAspect="1"/>
          </p:cNvSpPr>
          <p:nvPr/>
        </p:nvSpPr>
        <p:spPr>
          <a:xfrm>
            <a:off x="7525761" y="1199778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</a:t>
            </a:r>
            <a:r>
              <a:rPr lang="pt-BR" sz="1600" b="1" dirty="0" smtClean="0"/>
              <a:t>2.176</a:t>
            </a:r>
            <a:endParaRPr lang="pt-BR" sz="1600" b="1" dirty="0"/>
          </a:p>
        </p:txBody>
      </p:sp>
      <p:sp>
        <p:nvSpPr>
          <p:cNvPr id="15" name="Seta para Baixo 14">
            <a:hlinkClick r:id="rId6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>
                <a:hlinkClick r:id="rId6" action="ppaction://hlinksldjump"/>
              </a:rPr>
              <a:t>Voltar</a:t>
            </a:r>
            <a:endParaRPr lang="pt-BR" b="1" dirty="0"/>
          </a:p>
        </p:txBody>
      </p:sp>
      <p:pic>
        <p:nvPicPr>
          <p:cNvPr id="14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graphicFrame>
        <p:nvGraphicFramePr>
          <p:cNvPr id="16" name="Gráfico 15"/>
          <p:cNvGraphicFramePr>
            <a:graphicFrameLocks noGrp="1"/>
          </p:cNvGraphicFramePr>
          <p:nvPr>
            <p:extLst/>
          </p:nvPr>
        </p:nvGraphicFramePr>
        <p:xfrm>
          <a:off x="1" y="547463"/>
          <a:ext cx="7232400" cy="46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211779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1" y="14892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2. Indicadores: Total de Incidentes Baixo</a:t>
              </a: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20/03.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4" name="Retângulo de cantos arredondados 12"/>
          <p:cNvSpPr>
            <a:spLocks noChangeAspect="1"/>
          </p:cNvSpPr>
          <p:nvPr/>
        </p:nvSpPr>
        <p:spPr>
          <a:xfrm>
            <a:off x="7525761" y="714053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</a:t>
            </a:r>
            <a:r>
              <a:rPr lang="pt-BR" sz="1600" b="1" dirty="0" smtClean="0"/>
              <a:t>7.472</a:t>
            </a:r>
            <a:endParaRPr lang="pt-BR" sz="1600" b="1" dirty="0"/>
          </a:p>
        </p:txBody>
      </p:sp>
      <p:sp>
        <p:nvSpPr>
          <p:cNvPr id="15" name="Retângulo de cantos arredondados 12"/>
          <p:cNvSpPr>
            <a:spLocks noChangeAspect="1"/>
          </p:cNvSpPr>
          <p:nvPr/>
        </p:nvSpPr>
        <p:spPr>
          <a:xfrm>
            <a:off x="7525761" y="1199778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</a:t>
            </a:r>
            <a:r>
              <a:rPr lang="pt-BR" sz="1600" b="1" dirty="0" smtClean="0"/>
              <a:t>1.727</a:t>
            </a:r>
            <a:endParaRPr lang="pt-BR" sz="1600" b="1" dirty="0"/>
          </a:p>
        </p:txBody>
      </p:sp>
      <p:sp>
        <p:nvSpPr>
          <p:cNvPr id="16" name="Seta para Baixo 15">
            <a:hlinkClick r:id="rId6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>
                <a:hlinkClick r:id="rId6" action="ppaction://hlinksldjump"/>
              </a:rPr>
              <a:t>Voltar</a:t>
            </a:r>
            <a:endParaRPr lang="pt-BR" b="1" dirty="0"/>
          </a:p>
        </p:txBody>
      </p:sp>
      <p:pic>
        <p:nvPicPr>
          <p:cNvPr id="19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graphicFrame>
        <p:nvGraphicFramePr>
          <p:cNvPr id="18" name="Gráfico 17"/>
          <p:cNvGraphicFramePr>
            <a:graphicFrameLocks noGrp="1"/>
          </p:cNvGraphicFramePr>
          <p:nvPr>
            <p:extLst/>
          </p:nvPr>
        </p:nvGraphicFramePr>
        <p:xfrm>
          <a:off x="1" y="537883"/>
          <a:ext cx="7232400" cy="46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290531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o 25"/>
          <p:cNvGrpSpPr/>
          <p:nvPr/>
        </p:nvGrpSpPr>
        <p:grpSpPr>
          <a:xfrm>
            <a:off x="1103971" y="700208"/>
            <a:ext cx="6080667" cy="4448055"/>
            <a:chOff x="1959361" y="700208"/>
            <a:chExt cx="5225277" cy="3747845"/>
          </a:xfrm>
        </p:grpSpPr>
        <p:sp>
          <p:nvSpPr>
            <p:cNvPr id="2" name="Retângulo de cantos arredondados 1"/>
            <p:cNvSpPr/>
            <p:nvPr/>
          </p:nvSpPr>
          <p:spPr>
            <a:xfrm>
              <a:off x="1959361" y="1315140"/>
              <a:ext cx="947677" cy="69358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b="1" dirty="0"/>
                <a:t>Andamento </a:t>
              </a:r>
            </a:p>
            <a:p>
              <a:pPr algn="ctr"/>
              <a:r>
                <a:rPr lang="pt-BR" b="1" dirty="0"/>
                <a:t>21</a:t>
              </a:r>
            </a:p>
          </p:txBody>
        </p:sp>
        <p:sp>
          <p:nvSpPr>
            <p:cNvPr id="3" name="Retângulo de cantos arredondados 2"/>
            <p:cNvSpPr/>
            <p:nvPr/>
          </p:nvSpPr>
          <p:spPr>
            <a:xfrm>
              <a:off x="2971392" y="1300840"/>
              <a:ext cx="965299" cy="743638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b="1" dirty="0"/>
                <a:t>Homologação</a:t>
              </a:r>
            </a:p>
            <a:p>
              <a:pPr algn="ctr"/>
              <a:r>
                <a:rPr lang="pt-BR" b="1" dirty="0"/>
                <a:t>2</a:t>
              </a:r>
            </a:p>
          </p:txBody>
        </p:sp>
        <p:sp>
          <p:nvSpPr>
            <p:cNvPr id="4" name="Retângulo de cantos arredondados 3"/>
            <p:cNvSpPr/>
            <p:nvPr/>
          </p:nvSpPr>
          <p:spPr>
            <a:xfrm>
              <a:off x="3990484" y="1286539"/>
              <a:ext cx="955248" cy="75793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b="1" dirty="0"/>
                <a:t>Registrado</a:t>
              </a:r>
            </a:p>
            <a:p>
              <a:pPr algn="ctr"/>
              <a:r>
                <a:rPr lang="pt-BR" b="1" dirty="0"/>
                <a:t>4</a:t>
              </a:r>
              <a:endParaRPr lang="pt-BR" sz="2800" dirty="0"/>
            </a:p>
          </p:txBody>
        </p:sp>
        <p:sp>
          <p:nvSpPr>
            <p:cNvPr id="5" name="Retângulo de cantos arredondados 4"/>
            <p:cNvSpPr/>
            <p:nvPr/>
          </p:nvSpPr>
          <p:spPr>
            <a:xfrm>
              <a:off x="1973704" y="700208"/>
              <a:ext cx="2972029" cy="529127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dirty="0"/>
                <a:t>Tickets de Gestão de Problemas em aberto</a:t>
              </a:r>
            </a:p>
            <a:p>
              <a:pPr algn="ctr"/>
              <a:r>
                <a:rPr lang="pt-BR" sz="1201" dirty="0"/>
                <a:t>27tickets </a:t>
              </a:r>
              <a:endParaRPr lang="pt-BR" sz="826" dirty="0"/>
            </a:p>
          </p:txBody>
        </p:sp>
        <p:sp>
          <p:nvSpPr>
            <p:cNvPr id="6" name="Retângulo de cantos arredondados 5"/>
            <p:cNvSpPr/>
            <p:nvPr/>
          </p:nvSpPr>
          <p:spPr>
            <a:xfrm>
              <a:off x="5203146" y="1301292"/>
              <a:ext cx="980021" cy="729337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501" dirty="0">
                  <a:solidFill>
                    <a:schemeClr val="tx1"/>
                  </a:solidFill>
                </a:rPr>
                <a:t>47%</a:t>
              </a:r>
              <a:endParaRPr lang="pt-BR" sz="676" dirty="0">
                <a:solidFill>
                  <a:schemeClr val="tx1"/>
                </a:solidFill>
              </a:endParaRPr>
            </a:p>
            <a:p>
              <a:pPr algn="ctr"/>
              <a:r>
                <a:rPr lang="pt-BR" sz="1000" dirty="0">
                  <a:solidFill>
                    <a:schemeClr val="tx1"/>
                  </a:solidFill>
                </a:rPr>
                <a:t>% Médio de andamento dos problemas</a:t>
              </a:r>
            </a:p>
          </p:txBody>
        </p:sp>
        <p:sp>
          <p:nvSpPr>
            <p:cNvPr id="7" name="Retângulo de cantos arredondados 6"/>
            <p:cNvSpPr/>
            <p:nvPr/>
          </p:nvSpPr>
          <p:spPr>
            <a:xfrm>
              <a:off x="6237453" y="1301053"/>
              <a:ext cx="911433" cy="729337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2402" dirty="0"/>
                <a:t>11 </a:t>
              </a:r>
              <a:r>
                <a:rPr lang="pt-BR" sz="2402" dirty="0" err="1"/>
                <a:t>dd</a:t>
              </a:r>
              <a:endParaRPr lang="pt-BR" sz="826" dirty="0"/>
            </a:p>
            <a:p>
              <a:pPr algn="ctr"/>
              <a:r>
                <a:rPr lang="pt-BR" sz="1050" dirty="0"/>
                <a:t>Tempo médio para RCA</a:t>
              </a:r>
            </a:p>
          </p:txBody>
        </p:sp>
        <p:sp>
          <p:nvSpPr>
            <p:cNvPr id="8" name="Retângulo de cantos arredondados 7"/>
            <p:cNvSpPr/>
            <p:nvPr/>
          </p:nvSpPr>
          <p:spPr>
            <a:xfrm>
              <a:off x="6273205" y="2083132"/>
              <a:ext cx="911433" cy="729337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802" dirty="0">
                  <a:solidFill>
                    <a:schemeClr val="tx1"/>
                  </a:solidFill>
                </a:rPr>
                <a:t>46 </a:t>
              </a:r>
              <a:r>
                <a:rPr lang="pt-BR" sz="1802" dirty="0" err="1">
                  <a:solidFill>
                    <a:schemeClr val="tx1"/>
                  </a:solidFill>
                </a:rPr>
                <a:t>dd</a:t>
              </a:r>
              <a:endParaRPr lang="pt-BR" sz="751" dirty="0">
                <a:solidFill>
                  <a:schemeClr val="tx1"/>
                </a:solidFill>
              </a:endParaRPr>
            </a:p>
            <a:p>
              <a:pPr algn="ctr"/>
              <a:r>
                <a:rPr lang="pt-BR" sz="1050" dirty="0">
                  <a:solidFill>
                    <a:schemeClr val="tx1"/>
                  </a:solidFill>
                </a:rPr>
                <a:t>Tempo médio de vida</a:t>
              </a:r>
            </a:p>
          </p:txBody>
        </p:sp>
        <p:sp>
          <p:nvSpPr>
            <p:cNvPr id="9" name="Retângulo de cantos arredondados 8"/>
            <p:cNvSpPr/>
            <p:nvPr/>
          </p:nvSpPr>
          <p:spPr>
            <a:xfrm>
              <a:off x="5217447" y="2080229"/>
              <a:ext cx="965720" cy="743638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000" b="1" dirty="0"/>
                <a:t>Ticket mais velho</a:t>
              </a:r>
            </a:p>
            <a:p>
              <a:pPr algn="ctr"/>
              <a:r>
                <a:rPr lang="pt-BR" sz="1351" dirty="0"/>
                <a:t>149 </a:t>
              </a:r>
              <a:r>
                <a:rPr lang="pt-BR" sz="1351" dirty="0" err="1"/>
                <a:t>dd</a:t>
              </a:r>
              <a:endParaRPr lang="pt-BR" sz="1351" dirty="0"/>
            </a:p>
            <a:p>
              <a:pPr algn="ctr"/>
              <a:r>
                <a:rPr lang="pt-BR" sz="1351" dirty="0"/>
                <a:t>(t-</a:t>
              </a:r>
              <a:r>
                <a:rPr lang="pt-BR" sz="1351" dirty="0" err="1"/>
                <a:t>Collect</a:t>
              </a:r>
              <a:r>
                <a:rPr lang="pt-BR" sz="1351" dirty="0"/>
                <a:t>)</a:t>
              </a:r>
            </a:p>
          </p:txBody>
        </p:sp>
        <p:sp>
          <p:nvSpPr>
            <p:cNvPr id="10" name="Retângulo de cantos arredondados 9"/>
            <p:cNvSpPr/>
            <p:nvPr/>
          </p:nvSpPr>
          <p:spPr>
            <a:xfrm>
              <a:off x="2202473" y="3352994"/>
              <a:ext cx="904775" cy="779390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000" b="1" dirty="0"/>
                <a:t>Demanda $ para solução</a:t>
              </a:r>
            </a:p>
            <a:p>
              <a:pPr algn="ctr"/>
              <a:r>
                <a:rPr lang="pt-BR" sz="1400" dirty="0"/>
                <a:t>7</a:t>
              </a:r>
            </a:p>
          </p:txBody>
        </p:sp>
        <p:sp>
          <p:nvSpPr>
            <p:cNvPr id="11" name="Retângulo de cantos arredondados 10"/>
            <p:cNvSpPr/>
            <p:nvPr/>
          </p:nvSpPr>
          <p:spPr>
            <a:xfrm>
              <a:off x="2231075" y="2469252"/>
              <a:ext cx="861873" cy="797938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000" b="1" dirty="0"/>
                <a:t>Não demandam $ para solução</a:t>
              </a:r>
            </a:p>
            <a:p>
              <a:pPr algn="ctr"/>
              <a:r>
                <a:rPr lang="pt-BR" sz="1400" dirty="0"/>
                <a:t>16</a:t>
              </a:r>
            </a:p>
          </p:txBody>
        </p:sp>
        <p:sp>
          <p:nvSpPr>
            <p:cNvPr id="12" name="Retângulo de cantos arredondados 11"/>
            <p:cNvSpPr/>
            <p:nvPr/>
          </p:nvSpPr>
          <p:spPr>
            <a:xfrm>
              <a:off x="3251427" y="3209987"/>
              <a:ext cx="810047" cy="439075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000" b="1" dirty="0"/>
                <a:t>Sem provisão</a:t>
              </a:r>
            </a:p>
            <a:p>
              <a:pPr algn="ctr"/>
              <a:r>
                <a:rPr lang="pt-BR" sz="1400" dirty="0"/>
                <a:t>1</a:t>
              </a:r>
            </a:p>
          </p:txBody>
        </p:sp>
        <p:sp>
          <p:nvSpPr>
            <p:cNvPr id="13" name="Retângulo de cantos arredondados 12"/>
            <p:cNvSpPr/>
            <p:nvPr/>
          </p:nvSpPr>
          <p:spPr>
            <a:xfrm>
              <a:off x="3265728" y="3695539"/>
              <a:ext cx="789153" cy="465446"/>
            </a:xfrm>
            <a:prstGeom prst="roundRect">
              <a:avLst/>
            </a:prstGeom>
            <a:solidFill>
              <a:srgbClr val="28AB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900" b="1" dirty="0"/>
                <a:t>Provisionado</a:t>
              </a:r>
            </a:p>
            <a:p>
              <a:pPr algn="ctr"/>
              <a:r>
                <a:rPr lang="pt-BR" sz="1000" dirty="0"/>
                <a:t>6</a:t>
              </a:r>
            </a:p>
          </p:txBody>
        </p:sp>
        <p:cxnSp>
          <p:nvCxnSpPr>
            <p:cNvPr id="14" name="Conector de seta reta 13"/>
            <p:cNvCxnSpPr/>
            <p:nvPr/>
          </p:nvCxnSpPr>
          <p:spPr>
            <a:xfrm flipV="1">
              <a:off x="3064302" y="3553205"/>
              <a:ext cx="128750" cy="160212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/>
            <p:nvPr/>
          </p:nvCxnSpPr>
          <p:spPr>
            <a:xfrm>
              <a:off x="3050001" y="3727716"/>
              <a:ext cx="157352" cy="140104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Seta à esquerda, à direita e acima 15"/>
            <p:cNvSpPr/>
            <p:nvPr/>
          </p:nvSpPr>
          <p:spPr>
            <a:xfrm flipV="1">
              <a:off x="2188216" y="2073078"/>
              <a:ext cx="1112092" cy="343218"/>
            </a:xfrm>
            <a:prstGeom prst="leftRight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644" tIns="34322" rIns="68644" bIns="3432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pt-BR" sz="826"/>
            </a:p>
          </p:txBody>
        </p:sp>
        <p:sp>
          <p:nvSpPr>
            <p:cNvPr id="17" name="Retângulo de cantos arredondados 16"/>
            <p:cNvSpPr/>
            <p:nvPr/>
          </p:nvSpPr>
          <p:spPr>
            <a:xfrm>
              <a:off x="5195952" y="707359"/>
              <a:ext cx="1895732" cy="529127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dirty="0"/>
                <a:t>Análise de desempenho</a:t>
              </a:r>
            </a:p>
          </p:txBody>
        </p:sp>
        <p:sp>
          <p:nvSpPr>
            <p:cNvPr id="18" name="CaixaDeTexto 8"/>
            <p:cNvSpPr txBox="1"/>
            <p:nvPr/>
          </p:nvSpPr>
          <p:spPr>
            <a:xfrm>
              <a:off x="4917971" y="2855832"/>
              <a:ext cx="1265196" cy="66961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000" dirty="0"/>
                <a:t>GMUD Planejada 09 de abr.</a:t>
              </a:r>
            </a:p>
            <a:p>
              <a:r>
                <a:rPr lang="pt-BR" sz="1000" dirty="0"/>
                <a:t>Demandou reestruturação de acessos.</a:t>
              </a:r>
            </a:p>
          </p:txBody>
        </p:sp>
        <p:sp>
          <p:nvSpPr>
            <p:cNvPr id="19" name="Retângulo de cantos arredondados 18"/>
            <p:cNvSpPr/>
            <p:nvPr/>
          </p:nvSpPr>
          <p:spPr>
            <a:xfrm>
              <a:off x="4943626" y="3636486"/>
              <a:ext cx="2224606" cy="271714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dirty="0"/>
                <a:t>TOP Recorrência de incidentes</a:t>
              </a:r>
            </a:p>
          </p:txBody>
        </p:sp>
        <p:sp>
          <p:nvSpPr>
            <p:cNvPr id="20" name="Retângulo de cantos arredondados 19"/>
            <p:cNvSpPr/>
            <p:nvPr/>
          </p:nvSpPr>
          <p:spPr>
            <a:xfrm>
              <a:off x="4950778" y="3951103"/>
              <a:ext cx="729758" cy="493374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000" b="1" dirty="0"/>
                <a:t>Gravação </a:t>
              </a:r>
            </a:p>
            <a:p>
              <a:pPr algn="ctr"/>
              <a:r>
                <a:rPr lang="pt-BR" sz="1000" b="1" dirty="0"/>
                <a:t>22 incidentes</a:t>
              </a:r>
              <a:endParaRPr lang="pt-BR" sz="1800" dirty="0"/>
            </a:p>
          </p:txBody>
        </p:sp>
        <p:sp>
          <p:nvSpPr>
            <p:cNvPr id="21" name="Retângulo de cantos arredondados 20"/>
            <p:cNvSpPr/>
            <p:nvPr/>
          </p:nvSpPr>
          <p:spPr>
            <a:xfrm>
              <a:off x="5737739" y="3951102"/>
              <a:ext cx="718821" cy="493375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800" b="1" dirty="0"/>
                <a:t>ASPECT Ceará - Ligações Mudas</a:t>
              </a:r>
            </a:p>
            <a:p>
              <a:pPr algn="ctr"/>
              <a:r>
                <a:rPr lang="pt-BR" sz="800" b="1" dirty="0"/>
                <a:t>21 incidentes</a:t>
              </a:r>
              <a:endParaRPr lang="pt-BR" dirty="0"/>
            </a:p>
          </p:txBody>
        </p:sp>
        <p:sp>
          <p:nvSpPr>
            <p:cNvPr id="22" name="Retângulo de cantos arredondados 21"/>
            <p:cNvSpPr/>
            <p:nvPr/>
          </p:nvSpPr>
          <p:spPr>
            <a:xfrm>
              <a:off x="6517550" y="3951102"/>
              <a:ext cx="657833" cy="496951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700" b="1" dirty="0"/>
                <a:t>DAC - Ligações Mudas Souza Cruz</a:t>
              </a:r>
            </a:p>
            <a:p>
              <a:pPr algn="ctr"/>
              <a:r>
                <a:rPr lang="pt-BR" sz="700" b="1" dirty="0"/>
                <a:t>12 incidentes</a:t>
              </a:r>
              <a:endParaRPr lang="pt-BR" sz="1000" dirty="0"/>
            </a:p>
          </p:txBody>
        </p:sp>
        <p:sp>
          <p:nvSpPr>
            <p:cNvPr id="23" name="Seta circular 22"/>
            <p:cNvSpPr/>
            <p:nvPr/>
          </p:nvSpPr>
          <p:spPr>
            <a:xfrm rot="5400000" flipH="1" flipV="1">
              <a:off x="4798519" y="2626181"/>
              <a:ext cx="200210" cy="368454"/>
            </a:xfrm>
            <a:prstGeom prst="circular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644" tIns="34322" rIns="68644" bIns="3432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pt-BR" sz="826">
                <a:solidFill>
                  <a:schemeClr val="tx1"/>
                </a:solidFill>
              </a:endParaRPr>
            </a:p>
          </p:txBody>
        </p:sp>
        <p:sp>
          <p:nvSpPr>
            <p:cNvPr id="24" name="Retângulo de cantos arredondados 23"/>
            <p:cNvSpPr/>
            <p:nvPr/>
          </p:nvSpPr>
          <p:spPr>
            <a:xfrm>
              <a:off x="6272784" y="2848642"/>
              <a:ext cx="911433" cy="729337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802" dirty="0">
                  <a:solidFill>
                    <a:schemeClr val="bg1"/>
                  </a:solidFill>
                </a:rPr>
                <a:t>06</a:t>
              </a:r>
              <a:endParaRPr lang="pt-BR" sz="751" dirty="0">
                <a:solidFill>
                  <a:schemeClr val="bg1"/>
                </a:solidFill>
              </a:endParaRPr>
            </a:p>
            <a:p>
              <a:pPr algn="ctr"/>
              <a:r>
                <a:rPr lang="pt-BR" sz="1000" dirty="0">
                  <a:solidFill>
                    <a:schemeClr val="bg1"/>
                  </a:solidFill>
                </a:rPr>
                <a:t>Output projetos estruturantes</a:t>
              </a:r>
            </a:p>
          </p:txBody>
        </p:sp>
      </p:grpSp>
      <p:sp>
        <p:nvSpPr>
          <p:cNvPr id="25" name="Title 1"/>
          <p:cNvSpPr txBox="1">
            <a:spLocks/>
          </p:cNvSpPr>
          <p:nvPr/>
        </p:nvSpPr>
        <p:spPr>
          <a:xfrm>
            <a:off x="1617139" y="-44"/>
            <a:ext cx="6562970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Gestão de Problemas - </a:t>
            </a:r>
            <a:r>
              <a:rPr lang="pt-BR" sz="2400" b="1" dirty="0" err="1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Dashboard</a:t>
            </a:r>
            <a:endParaRPr lang="pt-BR" sz="16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8" name="Picture 1" descr="t03-0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5810"/>
            <a:ext cx="592520" cy="776935"/>
          </a:xfrm>
          <a:prstGeom prst="rect">
            <a:avLst/>
          </a:prstGeom>
        </p:spPr>
      </p:pic>
      <p:pic>
        <p:nvPicPr>
          <p:cNvPr id="29" name="Picture 2">
            <a:hlinkClick r:id="rId3" action="ppaction://hlinkfile"/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51627" y="4402670"/>
            <a:ext cx="992374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197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18157"/>
            <a:ext cx="9144002" cy="5184065"/>
            <a:chOff x="-1" y="12500"/>
            <a:chExt cx="9144002" cy="5184065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86785"/>
              <a:chOff x="2039091" y="300128"/>
              <a:chExt cx="7104910" cy="4891310"/>
            </a:xfrm>
          </p:grpSpPr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427493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22" name="CaixaDeTexto 5"/>
          <p:cNvSpPr txBox="1"/>
          <p:nvPr/>
        </p:nvSpPr>
        <p:spPr>
          <a:xfrm>
            <a:off x="153583" y="1195055"/>
            <a:ext cx="592334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400" b="1" dirty="0">
                <a:solidFill>
                  <a:srgbClr val="184E82"/>
                </a:solidFill>
                <a:latin typeface="Calibri"/>
              </a:rPr>
              <a:t>Incidentes Alto Impacto</a:t>
            </a:r>
          </a:p>
          <a:p>
            <a:pPr algn="ctr">
              <a:defRPr/>
            </a:pPr>
            <a:r>
              <a:rPr lang="pt-BR" sz="1400" b="1" dirty="0">
                <a:solidFill>
                  <a:srgbClr val="184E82"/>
                </a:solidFill>
                <a:latin typeface="Calibri"/>
              </a:rPr>
              <a:t>Tempo médio entre falhas em h:m:s</a:t>
            </a:r>
          </a:p>
        </p:txBody>
      </p:sp>
      <p:sp>
        <p:nvSpPr>
          <p:cNvPr id="24" name="CaixaDeTexto 14"/>
          <p:cNvSpPr txBox="1">
            <a:spLocks noChangeArrowheads="1"/>
          </p:cNvSpPr>
          <p:nvPr/>
        </p:nvSpPr>
        <p:spPr bwMode="auto">
          <a:xfrm>
            <a:off x="6416876" y="714603"/>
            <a:ext cx="2098146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Responsabilidade da TI Contax</a:t>
            </a:r>
          </a:p>
        </p:txBody>
      </p:sp>
      <p:sp>
        <p:nvSpPr>
          <p:cNvPr id="25" name="CaixaDeTexto 15"/>
          <p:cNvSpPr txBox="1">
            <a:spLocks noChangeArrowheads="1"/>
          </p:cNvSpPr>
          <p:nvPr/>
        </p:nvSpPr>
        <p:spPr bwMode="auto">
          <a:xfrm>
            <a:off x="6123189" y="2005687"/>
            <a:ext cx="268552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Responsabilidade do Suporte do Cliente</a:t>
            </a:r>
          </a:p>
        </p:txBody>
      </p:sp>
      <p:sp>
        <p:nvSpPr>
          <p:cNvPr id="27" name="CaixaDeTexto 16"/>
          <p:cNvSpPr txBox="1">
            <a:spLocks noChangeArrowheads="1"/>
          </p:cNvSpPr>
          <p:nvPr/>
        </p:nvSpPr>
        <p:spPr bwMode="auto">
          <a:xfrm>
            <a:off x="6111283" y="3455075"/>
            <a:ext cx="270933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Responsabilidade do Fornecedor Contax</a:t>
            </a:r>
          </a:p>
        </p:txBody>
      </p:sp>
      <p:sp>
        <p:nvSpPr>
          <p:cNvPr id="30" name="CaixaDeTexto 17"/>
          <p:cNvSpPr txBox="1">
            <a:spLocks noChangeArrowheads="1"/>
          </p:cNvSpPr>
          <p:nvPr/>
        </p:nvSpPr>
        <p:spPr bwMode="auto">
          <a:xfrm>
            <a:off x="179512" y="4309215"/>
            <a:ext cx="540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O cálculo foi realizado considerando </a:t>
            </a:r>
            <a:r>
              <a:rPr lang="pt-BR" sz="1200" b="1" dirty="0">
                <a:solidFill>
                  <a:srgbClr val="184E82"/>
                </a:solidFill>
              </a:rPr>
              <a:t>todos</a:t>
            </a:r>
            <a:r>
              <a:rPr lang="pt-BR" sz="1200" dirty="0">
                <a:solidFill>
                  <a:srgbClr val="184E82"/>
                </a:solidFill>
              </a:rPr>
              <a:t> os chamados de Incidentes Alto Impacto (Críticos + Alto impacto)</a:t>
            </a:r>
          </a:p>
        </p:txBody>
      </p:sp>
      <p:sp>
        <p:nvSpPr>
          <p:cNvPr id="31" name="CaixaDeTexto 5"/>
          <p:cNvSpPr txBox="1"/>
          <p:nvPr/>
        </p:nvSpPr>
        <p:spPr>
          <a:xfrm>
            <a:off x="493534" y="75247"/>
            <a:ext cx="592334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2400" b="1" dirty="0">
                <a:solidFill>
                  <a:srgbClr val="184E82"/>
                </a:solidFill>
                <a:latin typeface="Calibri"/>
              </a:rPr>
              <a:t>4. Tempo médio entre falhas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76" y="1649791"/>
            <a:ext cx="5291137" cy="221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041" y="950375"/>
            <a:ext cx="249396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041" y="2241680"/>
            <a:ext cx="2493963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041" y="3661422"/>
            <a:ext cx="2493963" cy="114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662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18157"/>
            <a:ext cx="9144002" cy="5170656"/>
            <a:chOff x="-1" y="12500"/>
            <a:chExt cx="9144002" cy="5170656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73376"/>
              <a:chOff x="2039091" y="300128"/>
              <a:chExt cx="7104910" cy="4877889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414072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31" name="CaixaDeTexto 5"/>
          <p:cNvSpPr txBox="1"/>
          <p:nvPr/>
        </p:nvSpPr>
        <p:spPr>
          <a:xfrm>
            <a:off x="573667" y="86299"/>
            <a:ext cx="592334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2400" b="1" dirty="0">
                <a:solidFill>
                  <a:srgbClr val="184E82"/>
                </a:solidFill>
                <a:latin typeface="Calibri"/>
              </a:rPr>
              <a:t>4. Tempo médio de Recuperação</a:t>
            </a:r>
          </a:p>
        </p:txBody>
      </p:sp>
      <p:sp>
        <p:nvSpPr>
          <p:cNvPr id="24" name="CaixaDeTexto 14"/>
          <p:cNvSpPr txBox="1">
            <a:spLocks noChangeArrowheads="1"/>
          </p:cNvSpPr>
          <p:nvPr/>
        </p:nvSpPr>
        <p:spPr bwMode="auto">
          <a:xfrm>
            <a:off x="6377000" y="714603"/>
            <a:ext cx="2098146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Responsabilidade da TI Contax</a:t>
            </a:r>
          </a:p>
        </p:txBody>
      </p:sp>
      <p:sp>
        <p:nvSpPr>
          <p:cNvPr id="25" name="CaixaDeTexto 15"/>
          <p:cNvSpPr txBox="1">
            <a:spLocks noChangeArrowheads="1"/>
          </p:cNvSpPr>
          <p:nvPr/>
        </p:nvSpPr>
        <p:spPr bwMode="auto">
          <a:xfrm>
            <a:off x="6083313" y="2005687"/>
            <a:ext cx="268552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Responsabilidade do Suporte do Cliente</a:t>
            </a:r>
          </a:p>
        </p:txBody>
      </p:sp>
      <p:sp>
        <p:nvSpPr>
          <p:cNvPr id="27" name="CaixaDeTexto 16"/>
          <p:cNvSpPr txBox="1">
            <a:spLocks noChangeArrowheads="1"/>
          </p:cNvSpPr>
          <p:nvPr/>
        </p:nvSpPr>
        <p:spPr bwMode="auto">
          <a:xfrm>
            <a:off x="6071407" y="3452247"/>
            <a:ext cx="270933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Responsabilidade do Fornecedor Contax</a:t>
            </a:r>
          </a:p>
        </p:txBody>
      </p:sp>
      <p:sp>
        <p:nvSpPr>
          <p:cNvPr id="19" name="CaixaDeTexto 5"/>
          <p:cNvSpPr txBox="1"/>
          <p:nvPr/>
        </p:nvSpPr>
        <p:spPr>
          <a:xfrm>
            <a:off x="709964" y="1248064"/>
            <a:ext cx="43396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400" b="1" dirty="0">
                <a:solidFill>
                  <a:srgbClr val="184E82"/>
                </a:solidFill>
              </a:rPr>
              <a:t>Incidentes Alto Impacto</a:t>
            </a:r>
          </a:p>
          <a:p>
            <a:pPr algn="ctr">
              <a:defRPr/>
            </a:pPr>
            <a:r>
              <a:rPr lang="pt-BR" sz="1400" b="1" dirty="0">
                <a:solidFill>
                  <a:srgbClr val="184E82"/>
                </a:solidFill>
              </a:rPr>
              <a:t>Tempo médio de recuperação em h:m:s</a:t>
            </a:r>
          </a:p>
        </p:txBody>
      </p:sp>
      <p:sp>
        <p:nvSpPr>
          <p:cNvPr id="20" name="CaixaDeTexto 17"/>
          <p:cNvSpPr txBox="1">
            <a:spLocks noChangeArrowheads="1"/>
          </p:cNvSpPr>
          <p:nvPr/>
        </p:nvSpPr>
        <p:spPr bwMode="auto">
          <a:xfrm>
            <a:off x="179512" y="4309215"/>
            <a:ext cx="540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pt-BR" sz="1200" dirty="0">
                <a:solidFill>
                  <a:srgbClr val="184E82"/>
                </a:solidFill>
              </a:rPr>
              <a:t>O cálculo foi realizado considerando </a:t>
            </a:r>
            <a:r>
              <a:rPr lang="pt-BR" sz="1200" b="1" dirty="0">
                <a:solidFill>
                  <a:srgbClr val="184E82"/>
                </a:solidFill>
              </a:rPr>
              <a:t>todos</a:t>
            </a:r>
            <a:r>
              <a:rPr lang="pt-BR" sz="1200" dirty="0">
                <a:solidFill>
                  <a:srgbClr val="184E82"/>
                </a:solidFill>
              </a:rPr>
              <a:t> os chamados de Incidentes Alto Impacto (Críticos + Alto impacto)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90" y="1721445"/>
            <a:ext cx="5291137" cy="220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848" y="969369"/>
            <a:ext cx="2505075" cy="1011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848" y="2283499"/>
            <a:ext cx="2505075" cy="1049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848" y="3743881"/>
            <a:ext cx="2505075" cy="1042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113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18157"/>
            <a:ext cx="9144002" cy="5140931"/>
            <a:chOff x="-1" y="12500"/>
            <a:chExt cx="9144002" cy="5140931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31" name="CaixaDeTexto 5"/>
          <p:cNvSpPr txBox="1"/>
          <p:nvPr/>
        </p:nvSpPr>
        <p:spPr>
          <a:xfrm>
            <a:off x="1475656" y="53851"/>
            <a:ext cx="508551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rgbClr val="184E82"/>
                </a:solidFill>
              </a:rPr>
              <a:t>5. Incidentes de Alto Impacto</a:t>
            </a:r>
          </a:p>
          <a:p>
            <a:pPr algn="ctr"/>
            <a:r>
              <a:rPr lang="pt-BR" sz="1600" dirty="0">
                <a:solidFill>
                  <a:srgbClr val="184E82"/>
                </a:solidFill>
              </a:rPr>
              <a:t>Março de 2016</a:t>
            </a:r>
          </a:p>
        </p:txBody>
      </p:sp>
      <p:graphicFrame>
        <p:nvGraphicFramePr>
          <p:cNvPr id="17" name="Gráfico 16"/>
          <p:cNvGraphicFramePr>
            <a:graphicFrameLocks/>
          </p:cNvGraphicFramePr>
          <p:nvPr>
            <p:extLst/>
          </p:nvPr>
        </p:nvGraphicFramePr>
        <p:xfrm>
          <a:off x="2766808" y="594185"/>
          <a:ext cx="3391382" cy="197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025" name="Imagem 10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238" y="2849531"/>
            <a:ext cx="2230208" cy="1604250"/>
          </a:xfrm>
          <a:prstGeom prst="rect">
            <a:avLst/>
          </a:prstGeom>
        </p:spPr>
      </p:pic>
      <p:pic>
        <p:nvPicPr>
          <p:cNvPr id="1031" name="Imagem 10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3434" y="2849531"/>
            <a:ext cx="1659690" cy="2104500"/>
          </a:xfrm>
          <a:prstGeom prst="rect">
            <a:avLst/>
          </a:prstGeom>
        </p:spPr>
      </p:pic>
      <p:pic>
        <p:nvPicPr>
          <p:cNvPr id="1033" name="Imagem 10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9025" y="2849531"/>
            <a:ext cx="1772065" cy="1587000"/>
          </a:xfrm>
          <a:prstGeom prst="rect">
            <a:avLst/>
          </a:prstGeom>
        </p:spPr>
      </p:pic>
      <p:cxnSp>
        <p:nvCxnSpPr>
          <p:cNvPr id="5" name="Conector Angulado 4"/>
          <p:cNvCxnSpPr>
            <a:endCxn id="1025" idx="0"/>
          </p:cNvCxnSpPr>
          <p:nvPr/>
        </p:nvCxnSpPr>
        <p:spPr>
          <a:xfrm rot="10800000" flipV="1">
            <a:off x="1670343" y="1689903"/>
            <a:ext cx="2018683" cy="11596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Angulado 8"/>
          <p:cNvCxnSpPr>
            <a:endCxn id="1031" idx="0"/>
          </p:cNvCxnSpPr>
          <p:nvPr/>
        </p:nvCxnSpPr>
        <p:spPr>
          <a:xfrm>
            <a:off x="5461090" y="1689903"/>
            <a:ext cx="2022189" cy="115962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Angulado 10"/>
          <p:cNvCxnSpPr>
            <a:endCxn id="1033" idx="0"/>
          </p:cNvCxnSpPr>
          <p:nvPr/>
        </p:nvCxnSpPr>
        <p:spPr>
          <a:xfrm rot="16200000" flipH="1">
            <a:off x="4434121" y="2708594"/>
            <a:ext cx="278816" cy="305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75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18157"/>
            <a:ext cx="9144002" cy="5140931"/>
            <a:chOff x="-1" y="12500"/>
            <a:chExt cx="9144002" cy="5140931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8120" y="1255572"/>
            <a:ext cx="2787760" cy="237188"/>
          </a:xfrm>
          <a:prstGeom prst="rect">
            <a:avLst/>
          </a:prstGeom>
        </p:spPr>
      </p:pic>
      <p:sp>
        <p:nvSpPr>
          <p:cNvPr id="20" name="CaixaDeTexto 5"/>
          <p:cNvSpPr txBox="1"/>
          <p:nvPr/>
        </p:nvSpPr>
        <p:spPr>
          <a:xfrm>
            <a:off x="1259086" y="53851"/>
            <a:ext cx="508551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rgbClr val="184E82"/>
                </a:solidFill>
              </a:rPr>
              <a:t>5. Incidentes de Alto Impacto</a:t>
            </a:r>
          </a:p>
          <a:p>
            <a:pPr algn="ctr"/>
            <a:r>
              <a:rPr lang="pt-BR" sz="1600" dirty="0">
                <a:solidFill>
                  <a:srgbClr val="184E82"/>
                </a:solidFill>
              </a:rPr>
              <a:t>Março de 2016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343" y="2426950"/>
            <a:ext cx="1996814" cy="1403719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3273" y="2426950"/>
            <a:ext cx="1996814" cy="2339532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2203" y="2426950"/>
            <a:ext cx="1996814" cy="2181047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1132" y="2426950"/>
            <a:ext cx="1996814" cy="935812"/>
          </a:xfrm>
          <a:prstGeom prst="rect">
            <a:avLst/>
          </a:prstGeom>
        </p:spPr>
      </p:pic>
      <p:cxnSp>
        <p:nvCxnSpPr>
          <p:cNvPr id="23" name="Conector Angulado 22"/>
          <p:cNvCxnSpPr>
            <a:stCxn id="5" idx="2"/>
            <a:endCxn id="18" idx="0"/>
          </p:cNvCxnSpPr>
          <p:nvPr/>
        </p:nvCxnSpPr>
        <p:spPr>
          <a:xfrm rot="16200000" flipH="1">
            <a:off x="5813674" y="251085"/>
            <a:ext cx="934190" cy="3417539"/>
          </a:xfrm>
          <a:prstGeom prst="bentConnector3">
            <a:avLst/>
          </a:prstGeom>
          <a:ln>
            <a:solidFill>
              <a:srgbClr val="19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Angulado 24"/>
          <p:cNvCxnSpPr>
            <a:stCxn id="5" idx="2"/>
            <a:endCxn id="10" idx="0"/>
          </p:cNvCxnSpPr>
          <p:nvPr/>
        </p:nvCxnSpPr>
        <p:spPr>
          <a:xfrm rot="5400000">
            <a:off x="2440280" y="295230"/>
            <a:ext cx="934190" cy="3329250"/>
          </a:xfrm>
          <a:prstGeom prst="bentConnector3">
            <a:avLst/>
          </a:prstGeom>
          <a:ln>
            <a:solidFill>
              <a:srgbClr val="19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Angulado 27"/>
          <p:cNvCxnSpPr>
            <a:stCxn id="5" idx="2"/>
            <a:endCxn id="12" idx="0"/>
          </p:cNvCxnSpPr>
          <p:nvPr/>
        </p:nvCxnSpPr>
        <p:spPr>
          <a:xfrm rot="5400000">
            <a:off x="3564745" y="1419695"/>
            <a:ext cx="934190" cy="1080320"/>
          </a:xfrm>
          <a:prstGeom prst="bentConnector3">
            <a:avLst/>
          </a:prstGeom>
          <a:ln>
            <a:solidFill>
              <a:srgbClr val="19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do 29"/>
          <p:cNvCxnSpPr>
            <a:stCxn id="5" idx="2"/>
            <a:endCxn id="14" idx="0"/>
          </p:cNvCxnSpPr>
          <p:nvPr/>
        </p:nvCxnSpPr>
        <p:spPr>
          <a:xfrm rot="16200000" flipH="1">
            <a:off x="4689210" y="1375550"/>
            <a:ext cx="934190" cy="1168610"/>
          </a:xfrm>
          <a:prstGeom prst="bentConnector3">
            <a:avLst/>
          </a:prstGeom>
          <a:ln>
            <a:solidFill>
              <a:srgbClr val="19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19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97195" y="23778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Aspect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7.3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System 1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1"/>
            <a:ext cx="2716382" cy="255003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Finalização Validação da Plataforma pela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Aspect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para realizar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upgrade na versão de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VMW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realizada com sucesso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incremento de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memória realizada com sucesso.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Realização de outros acertos solicitados pela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Aspect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efetuadas durante as duas últimas semanas.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21121" y="879118"/>
            <a:ext cx="2868782" cy="978810"/>
          </a:xfrm>
          <a:prstGeom prst="round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7.3</a:t>
            </a:r>
          </a:p>
          <a:p>
            <a:r>
              <a:rPr lang="pt-BR" sz="1200" i="1" dirty="0" smtClean="0"/>
              <a:t>Data Inicio: 14-10-2015</a:t>
            </a:r>
          </a:p>
          <a:p>
            <a:r>
              <a:rPr lang="pt-BR" sz="1200" i="1" dirty="0" smtClean="0"/>
              <a:t>Data Conclusão: </a:t>
            </a:r>
            <a:r>
              <a:rPr lang="pt-BR" sz="1200" i="1" strike="sngStrike" dirty="0" smtClean="0"/>
              <a:t>20-06-2016</a:t>
            </a:r>
            <a:r>
              <a:rPr lang="pt-BR" sz="1200" i="1" dirty="0" smtClean="0"/>
              <a:t> 01-07-2016</a:t>
            </a:r>
          </a:p>
          <a:p>
            <a:r>
              <a:rPr lang="pt-BR" sz="1200" i="1" dirty="0" smtClean="0"/>
              <a:t>Progresso: </a:t>
            </a:r>
            <a:r>
              <a:rPr lang="pt-BR" sz="1200" i="1" dirty="0"/>
              <a:t>4</a:t>
            </a:r>
            <a:r>
              <a:rPr lang="pt-BR" sz="1200" i="1" dirty="0" smtClean="0"/>
              <a:t>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Luiz </a:t>
            </a:r>
            <a:r>
              <a:rPr lang="pt-BR" sz="1200" i="1" dirty="0" smtClean="0"/>
              <a:t>Washington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0"/>
            <a:ext cx="2716382" cy="255003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Reunião realizada com os executivos da Contax e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Aspect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Cronograma com o plano de migração  BH, Santander e novas operações.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Esta a decorrer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treinamento de 2 elementos do CSE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pela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Aspect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/>
              </a:solidFill>
            </a:endParaRP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1"/>
            <a:ext cx="2700000" cy="255003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  <a:endParaRPr lang="pt-BR" sz="12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Risco: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Dificuldades em passar para a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Aspect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a urgência em finalizar o projeto. Não houve interação da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Aspect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para seguir com as ações planejadas na reunião executiva.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alt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de entrega dos links da Oi para implantação da Operação BO Anatel  ainda não confirmada pela </a:t>
            </a:r>
            <a:r>
              <a:rPr lang="pt-BR" alt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Oi.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129591" y="923882"/>
            <a:ext cx="5630497" cy="934045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 projeto tem como escopo, preparar/adequar toda 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infra de HW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instalar a versão 7.3 do </a:t>
            </a:r>
            <a:r>
              <a:rPr lang="pt-BR" sz="1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2000 </a:t>
            </a:r>
            <a:r>
              <a:rPr lang="pt-BR" sz="1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0" name="Group 9"/>
          <p:cNvGrpSpPr>
            <a:grpSpLocks/>
          </p:cNvGrpSpPr>
          <p:nvPr/>
        </p:nvGrpSpPr>
        <p:grpSpPr bwMode="auto">
          <a:xfrm>
            <a:off x="2777882" y="1547018"/>
            <a:ext cx="274638" cy="274638"/>
            <a:chOff x="0" y="0"/>
            <a:chExt cx="173" cy="173"/>
          </a:xfrm>
        </p:grpSpPr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11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3103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Gravação (Nice) TAM e VIVO 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6766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Roberto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Elias acordou com a TAM a entrega para a 3° semana de Abril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860528"/>
            <a:ext cx="3064339" cy="997400"/>
          </a:xfrm>
          <a:prstGeom prst="round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Gravacao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(NICE) TAM e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VIVO </a:t>
            </a:r>
          </a:p>
          <a:p>
            <a:r>
              <a:rPr lang="pt-BR" sz="1200" i="1" dirty="0" smtClean="0"/>
              <a:t>Data Inicio: 14-10-2015</a:t>
            </a:r>
          </a:p>
          <a:p>
            <a:r>
              <a:rPr lang="pt-BR" sz="1200" i="1" dirty="0" smtClean="0"/>
              <a:t>Data Conclusão:</a:t>
            </a:r>
            <a:r>
              <a:rPr lang="pt-BR" sz="1200" i="1" strike="sngStrike" dirty="0" smtClean="0"/>
              <a:t> 25-03-2016 </a:t>
            </a:r>
            <a:r>
              <a:rPr lang="pt-BR" sz="1200" i="1" dirty="0" smtClean="0"/>
              <a:t>25-04-2016</a:t>
            </a:r>
          </a:p>
          <a:p>
            <a:r>
              <a:rPr lang="pt-BR" sz="1200" i="1" dirty="0" smtClean="0"/>
              <a:t>Progresso: 26%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smtClean="0"/>
              <a:t>Thiago Augusto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67663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67663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rgbClr val="FF0000"/>
                </a:solidFill>
              </a:rPr>
              <a:t>Risco: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FF0000"/>
                </a:solidFill>
              </a:rPr>
              <a:t>O fornecedor não confirma entrega dos 12 HDs para esta semana.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Observação: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/>
                </a:solidFill>
              </a:rPr>
              <a:t>SC </a:t>
            </a:r>
            <a:r>
              <a:rPr lang="pt-BR" sz="1200" dirty="0">
                <a:solidFill>
                  <a:schemeClr val="tx1"/>
                </a:solidFill>
              </a:rPr>
              <a:t>775 </a:t>
            </a:r>
            <a:r>
              <a:rPr lang="pt-BR" sz="1200" dirty="0" smtClean="0">
                <a:solidFill>
                  <a:schemeClr val="tx1"/>
                </a:solidFill>
              </a:rPr>
              <a:t>-  </a:t>
            </a:r>
            <a:r>
              <a:rPr lang="pt-BR" sz="1200" dirty="0">
                <a:solidFill>
                  <a:schemeClr val="tx1"/>
                </a:solidFill>
              </a:rPr>
              <a:t>A equipe de suprimentos/</a:t>
            </a:r>
            <a:r>
              <a:rPr lang="pt-BR" sz="1200" dirty="0" err="1">
                <a:solidFill>
                  <a:schemeClr val="tx1"/>
                </a:solidFill>
              </a:rPr>
              <a:t>Aquanima</a:t>
            </a:r>
            <a:r>
              <a:rPr lang="pt-BR" sz="1200" dirty="0">
                <a:solidFill>
                  <a:schemeClr val="tx1"/>
                </a:solidFill>
              </a:rPr>
              <a:t>  </a:t>
            </a:r>
            <a:r>
              <a:rPr lang="pt-BR" sz="1200" dirty="0" smtClean="0">
                <a:solidFill>
                  <a:schemeClr val="tx1"/>
                </a:solidFill>
              </a:rPr>
              <a:t>nova entrega </a:t>
            </a:r>
            <a:r>
              <a:rPr lang="pt-BR" sz="1200" dirty="0">
                <a:solidFill>
                  <a:schemeClr val="tx1"/>
                </a:solidFill>
              </a:rPr>
              <a:t>estimada para a 1° semana de Abril</a:t>
            </a:r>
            <a:r>
              <a:rPr lang="pt-BR" sz="1200" dirty="0" smtClean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874284"/>
            <a:ext cx="5338175" cy="983644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 projeto tem como escopo, adequar infra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HW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instalar 3K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licenças de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gravação, atualmente sem uso. </a:t>
            </a:r>
            <a:endParaRPr lang="pt-B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2503" y="1511828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8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Monitoração Dell – Open Manager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execução o cadastramento de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lans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de servidores (Total).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17834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Monitoração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(Dell-Open Manager)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14-10-2015</a:t>
            </a:r>
          </a:p>
          <a:p>
            <a:r>
              <a:rPr lang="pt-BR" sz="1200" i="1" dirty="0" smtClean="0"/>
              <a:t>Data Conclusão: 22-04-2016</a:t>
            </a:r>
          </a:p>
          <a:p>
            <a:r>
              <a:rPr lang="pt-BR" sz="1200" i="1" dirty="0" smtClean="0"/>
              <a:t>Progresso: 75%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smtClean="0"/>
              <a:t>Júlio Cesar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nas últimas duas semanas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Homologação do SW.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Aceitação das regras de liberação por SI.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70% dos servidores Dell com monitorização de HW.</a:t>
            </a:r>
            <a:endParaRPr lang="pt-BR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Servidores sem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client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OMSE.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M</a:t>
            </a:r>
            <a:r>
              <a:rPr lang="pt-BR" sz="1400" dirty="0" smtClean="0"/>
              <a:t>onitoração </a:t>
            </a:r>
            <a:r>
              <a:rPr lang="pt-BR" sz="1400" dirty="0"/>
              <a:t>pró ativa de </a:t>
            </a:r>
            <a:r>
              <a:rPr lang="pt-BR" sz="1400" dirty="0" smtClean="0"/>
              <a:t>hardware para eliminar </a:t>
            </a:r>
            <a:r>
              <a:rPr lang="pt-BR" sz="1400" dirty="0"/>
              <a:t>a possibilidade de perda de dados por falta de visibilidade do </a:t>
            </a:r>
            <a:r>
              <a:rPr lang="pt-BR" sz="1400" dirty="0" smtClean="0"/>
              <a:t>ambiente. </a:t>
            </a:r>
            <a:endParaRPr lang="pt-BR" sz="14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3609" y="1548974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Monitoração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Zabbix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Agendado o treinamento e a Consultoria: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Treinamento: 11 a 15/04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Consultoria: 18 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23/04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Monitoração </a:t>
            </a:r>
            <a:r>
              <a:rPr lang="pt-BR" sz="1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Zabbix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19-10-2015</a:t>
            </a:r>
          </a:p>
          <a:p>
            <a:r>
              <a:rPr lang="pt-BR" sz="1200" i="1" dirty="0" smtClean="0"/>
              <a:t>Data Conclusão: 23-04-2016</a:t>
            </a:r>
          </a:p>
          <a:p>
            <a:r>
              <a:rPr lang="pt-BR" sz="1200" i="1" dirty="0" smtClean="0"/>
              <a:t>Progresso: 49%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smtClean="0"/>
              <a:t>Júlio Cesar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N/A.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M</a:t>
            </a:r>
            <a:r>
              <a:rPr lang="pt-BR" sz="1400" dirty="0" smtClean="0"/>
              <a:t>onitoração </a:t>
            </a:r>
            <a:r>
              <a:rPr lang="pt-BR" sz="1400" dirty="0"/>
              <a:t>pró </a:t>
            </a:r>
            <a:r>
              <a:rPr lang="pt-BR" sz="1400" dirty="0" smtClean="0"/>
              <a:t>ativa, que elimina </a:t>
            </a:r>
            <a:r>
              <a:rPr lang="pt-BR" sz="1400" dirty="0"/>
              <a:t>a possibilidade de perda de dados por falta de visibilidade do </a:t>
            </a:r>
            <a:r>
              <a:rPr lang="pt-BR" sz="1400" dirty="0" smtClean="0"/>
              <a:t>ambiente. </a:t>
            </a:r>
            <a:endParaRPr lang="pt-BR" sz="14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2094" y="1548974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5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Redundância links MPLS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862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 “projeto” encontramos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uma </a:t>
            </a:r>
            <a:r>
              <a:rPr lang="pt-BR" sz="1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inconsistência no roteamento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u="sng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 </a:t>
            </a:r>
            <a:r>
              <a:rPr lang="pt-BR" sz="1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acesso do Site JP com o Site </a:t>
            </a:r>
            <a:r>
              <a:rPr lang="pt-BR" sz="1200" u="sng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Niterói.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rata-se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um problema que pode afetar não somente o Site JP,  mas também </a:t>
            </a:r>
            <a:r>
              <a:rPr lang="pt-BR" sz="1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outros Sites que usem links da </a:t>
            </a:r>
            <a:r>
              <a:rPr lang="pt-BR" sz="1200" u="sng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OI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 Áreas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técnicas (OI / Engenharia CTX.)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analisando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situação para programar GMUD corretiva. 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Redundância links MPLS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01-12-2015</a:t>
            </a:r>
          </a:p>
          <a:p>
            <a:r>
              <a:rPr lang="pt-BR" sz="1200" i="1" dirty="0" smtClean="0"/>
              <a:t>Data Conclusão: 31-06-2016</a:t>
            </a:r>
          </a:p>
          <a:p>
            <a:r>
              <a:rPr lang="pt-BR" sz="1200" i="1" dirty="0" smtClean="0"/>
              <a:t>Progresso: 34%</a:t>
            </a:r>
          </a:p>
          <a:p>
            <a:r>
              <a:rPr lang="pt-BR" sz="1200" i="1" dirty="0" smtClean="0"/>
              <a:t>PM: </a:t>
            </a:r>
            <a:r>
              <a:rPr lang="pt-BR" sz="1200" i="1" dirty="0" err="1" smtClean="0"/>
              <a:t>Luis</a:t>
            </a:r>
            <a:r>
              <a:rPr lang="pt-BR" sz="1200" i="1" dirty="0" smtClean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86261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Teste de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redundância de MPLS realizado com sucesso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 sites: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Alameda Santos </a:t>
            </a:r>
            <a:r>
              <a:rPr lang="pt-BR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Gmud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19811 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Av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Paulista 407 </a:t>
            </a:r>
            <a:r>
              <a:rPr lang="pt-BR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Gmud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19808.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86261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Foi detectado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a banda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contratada </a:t>
            </a:r>
            <a:r>
              <a:rPr lang="pt-BR" sz="1200" dirty="0" smtClean="0">
                <a:solidFill>
                  <a:srgbClr val="FF0000"/>
                </a:solidFill>
              </a:rPr>
              <a:t>(</a:t>
            </a:r>
            <a:r>
              <a:rPr lang="pt-BR" sz="1200" dirty="0">
                <a:solidFill>
                  <a:srgbClr val="FF0000"/>
                </a:solidFill>
              </a:rPr>
              <a:t>25-06-2015</a:t>
            </a:r>
            <a:r>
              <a:rPr lang="pt-BR" sz="1200" dirty="0" smtClean="0">
                <a:solidFill>
                  <a:srgbClr val="FF0000"/>
                </a:solidFill>
              </a:rPr>
              <a:t>)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o link MPLS VIVO no Site Navegante é de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400MB.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Atualmente os equipamentos estão configurados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para 100MB.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 projeto deverá melhorar o processo de comunicação entre as áreas (RACI).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rgbClr val="FF0000"/>
                </a:solidFill>
              </a:rPr>
              <a:t>Risco: </a:t>
            </a:r>
            <a:r>
              <a:rPr lang="pt-BR" sz="1200" dirty="0" smtClean="0">
                <a:solidFill>
                  <a:srgbClr val="FF0000"/>
                </a:solidFill>
              </a:rPr>
              <a:t>A OI não fornece previsões de instalação/intervenção.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/>
              <a:t>Para </a:t>
            </a:r>
            <a:r>
              <a:rPr lang="pt-BR" sz="1400" dirty="0"/>
              <a:t>dar </a:t>
            </a:r>
            <a:r>
              <a:rPr lang="pt-BR" sz="1400" b="1" dirty="0"/>
              <a:t>resposta imediata </a:t>
            </a:r>
            <a:r>
              <a:rPr lang="pt-BR" sz="1400" dirty="0"/>
              <a:t>a situações recorrentes de incidentes, relacionados com a perda de </a:t>
            </a:r>
            <a:r>
              <a:rPr lang="pt-BR" sz="1400" b="1" dirty="0"/>
              <a:t>Links </a:t>
            </a:r>
            <a:r>
              <a:rPr lang="pt-BR" sz="1400" dirty="0"/>
              <a:t>que interligam os sites da Contax, </a:t>
            </a:r>
            <a:r>
              <a:rPr lang="pt-BR" sz="1400" dirty="0" smtClean="0"/>
              <a:t>este projeto visa, </a:t>
            </a:r>
            <a:r>
              <a:rPr lang="pt-BR" sz="1400" b="1" dirty="0" smtClean="0"/>
              <a:t>Garantir </a:t>
            </a:r>
            <a:r>
              <a:rPr lang="pt-BR" sz="1400" b="1" dirty="0"/>
              <a:t>e documentar a funcionalidade da </a:t>
            </a:r>
            <a:r>
              <a:rPr lang="pt-BR" sz="1400" b="1" dirty="0" smtClean="0"/>
              <a:t>contingência e </a:t>
            </a:r>
            <a:r>
              <a:rPr lang="pt-BR" sz="1400" dirty="0"/>
              <a:t>v</a:t>
            </a:r>
            <a:r>
              <a:rPr lang="pt-BR" sz="1400" dirty="0" smtClean="0"/>
              <a:t>alidar </a:t>
            </a:r>
            <a:r>
              <a:rPr lang="pt-BR" sz="1400" dirty="0"/>
              <a:t>caminhos possíveis e documentar </a:t>
            </a:r>
            <a:r>
              <a:rPr lang="pt-BR" sz="1400" dirty="0" smtClean="0"/>
              <a:t>ações. </a:t>
            </a:r>
            <a:endParaRPr lang="pt-BR" sz="14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2094" y="1512748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8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hlinkClick r:id="rId3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Backups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Restore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em Produção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Escopo do projeto ampliado com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restore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30 de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Abril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Liberação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redes em sites pilotos para uso do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UDP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Porcentagem de servidores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backupeados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</a:p>
          <a:p>
            <a:pPr marL="673200" lvl="2" indent="-216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Março 63%. </a:t>
            </a:r>
          </a:p>
          <a:p>
            <a:pPr marL="673200" lvl="2" indent="-216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Fevereiro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48% 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73200" lvl="2" indent="-216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Janeiro 46%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2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17834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Backup &amp; Restore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Ambiente de Produção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14-10-2015</a:t>
            </a:r>
          </a:p>
          <a:p>
            <a:r>
              <a:rPr lang="pt-BR" sz="1200" i="1" dirty="0" smtClean="0"/>
              <a:t>Data Conclusão: 30-04-2016</a:t>
            </a:r>
          </a:p>
          <a:p>
            <a:r>
              <a:rPr lang="pt-BR" sz="1200" i="1" dirty="0" smtClean="0"/>
              <a:t>Progresso: 52%</a:t>
            </a:r>
          </a:p>
          <a:p>
            <a:r>
              <a:rPr lang="pt-BR" sz="1200" i="1" dirty="0" smtClean="0"/>
              <a:t>PM: Rafael Alves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Instalação do piloto do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ArcServe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UDP para teste de backup 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restore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ambientes Windows e Linux  (Virtuais e Físicas) – Ambiente Windows Finalizado e Linux em andamento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u="sng" dirty="0" smtClean="0">
                <a:solidFill>
                  <a:srgbClr val="FF0000"/>
                </a:solidFill>
              </a:rPr>
              <a:t>Apoio do CSE </a:t>
            </a:r>
            <a:r>
              <a:rPr lang="pt-BR" sz="1200" b="1" dirty="0" smtClean="0">
                <a:solidFill>
                  <a:srgbClr val="FF0000"/>
                </a:solidFill>
              </a:rPr>
              <a:t>para instalações dos clientes nos servidores Windows e Linux </a:t>
            </a:r>
            <a:r>
              <a:rPr lang="pt-BR" sz="1200" b="1" dirty="0">
                <a:solidFill>
                  <a:srgbClr val="FF0000"/>
                </a:solidFill>
              </a:rPr>
              <a:t> </a:t>
            </a:r>
            <a:r>
              <a:rPr lang="pt-BR" sz="1200" b="1" u="sng" dirty="0" smtClean="0">
                <a:solidFill>
                  <a:srgbClr val="FF0000"/>
                </a:solidFill>
              </a:rPr>
              <a:t>aumentou a taxa </a:t>
            </a:r>
            <a:r>
              <a:rPr lang="pt-BR" sz="1200" b="1" dirty="0" smtClean="0">
                <a:solidFill>
                  <a:srgbClr val="FF0000"/>
                </a:solidFill>
              </a:rPr>
              <a:t>de evolução </a:t>
            </a:r>
            <a:r>
              <a:rPr lang="pt-BR" sz="1200" b="1" u="sng" dirty="0" smtClean="0">
                <a:solidFill>
                  <a:srgbClr val="FF0000"/>
                </a:solidFill>
              </a:rPr>
              <a:t>em  500%</a:t>
            </a:r>
            <a:r>
              <a:rPr lang="pt-BR" sz="1200" u="sng" dirty="0" smtClean="0">
                <a:solidFill>
                  <a:srgbClr val="FF0000"/>
                </a:solidFill>
              </a:rPr>
              <a:t>.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Riscos: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Regional SP e RJ com falta de fitas, aguardando compra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HW de backup (robô) sem garantias e com mais de 5 anos de uso, ocorrendo desgastes por vida útil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Armazenamento indevido das mídias causando degradação das mesmas.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/>
              <a:t>Providenciar Backup em todos os equipamentos de produção da Contax. Garantir plano de </a:t>
            </a:r>
            <a:r>
              <a:rPr lang="pt-BR" sz="1400" dirty="0" err="1" smtClean="0"/>
              <a:t>restore</a:t>
            </a:r>
            <a:r>
              <a:rPr lang="pt-BR" sz="1400" dirty="0" smtClean="0"/>
              <a:t> do ambiente. </a:t>
            </a:r>
            <a:endParaRPr lang="pt-BR" sz="14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2094" y="1537397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3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OCS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Inventory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1"/>
            <a:ext cx="2716382" cy="285216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strike="sngStrike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Ativos </a:t>
            </a:r>
            <a:r>
              <a:rPr lang="pt-BR" sz="1200" strike="sngStrike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cadastrados no OCS: </a:t>
            </a:r>
            <a:r>
              <a:rPr lang="pt-BR" sz="1200" strike="sngStrike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4.212/3.962 </a:t>
            </a:r>
            <a:r>
              <a:rPr lang="pt-BR" sz="1200" strike="sngStrike" dirty="0">
                <a:solidFill>
                  <a:schemeClr val="tx1">
                    <a:lumMod val="95000"/>
                    <a:lumOff val="5000"/>
                  </a:schemeClr>
                </a:solidFill>
              </a:rPr>
              <a:t>(21/03/2016</a:t>
            </a:r>
            <a:r>
              <a:rPr lang="pt-BR" sz="1200" strike="sngStrike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Servidores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cadastrados no OCS: 2.600/3.962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(06/04/2016)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Evolução de </a:t>
            </a:r>
            <a:r>
              <a:rPr lang="pt-BR" sz="1200" strike="sngStrike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(344)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388 media de 43 por dia.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Status total de servers      2.600/3.962 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Microsoft	(2.365/3.108) 	</a:t>
            </a:r>
            <a:r>
              <a:rPr lang="pt-BR" sz="1200" dirty="0" smtClean="0">
                <a:solidFill>
                  <a:srgbClr val="FF0000"/>
                </a:solidFill>
              </a:rPr>
              <a:t>748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Linux	(235/854) 	</a:t>
            </a:r>
            <a:r>
              <a:rPr lang="pt-BR" sz="1200" dirty="0" smtClean="0">
                <a:solidFill>
                  <a:srgbClr val="FF0000"/>
                </a:solidFill>
              </a:rPr>
              <a:t>619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OCS </a:t>
            </a:r>
            <a:r>
              <a:rPr lang="pt-BR" sz="14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Inventory</a:t>
            </a:r>
            <a:endParaRPr lang="pt-BR" sz="1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>
                <a:solidFill>
                  <a:schemeClr val="bg1"/>
                </a:solidFill>
              </a:rPr>
              <a:t>Data Inicio: </a:t>
            </a:r>
            <a:r>
              <a:rPr lang="pt-BR" sz="1200" i="1" dirty="0">
                <a:solidFill>
                  <a:schemeClr val="bg1"/>
                </a:solidFill>
              </a:rPr>
              <a:t>0</a:t>
            </a:r>
            <a:r>
              <a:rPr lang="pt-BR" sz="1200" i="1" dirty="0" smtClean="0">
                <a:solidFill>
                  <a:schemeClr val="bg1"/>
                </a:solidFill>
              </a:rPr>
              <a:t>4-12-2015</a:t>
            </a:r>
          </a:p>
          <a:p>
            <a:r>
              <a:rPr lang="pt-BR" sz="1200" i="1" dirty="0" smtClean="0">
                <a:solidFill>
                  <a:schemeClr val="bg1"/>
                </a:solidFill>
              </a:rPr>
              <a:t>Data Conclusão: </a:t>
            </a:r>
            <a:r>
              <a:rPr lang="pt-BR" sz="1200" i="1" strike="sngStrike" dirty="0" smtClean="0">
                <a:solidFill>
                  <a:schemeClr val="bg1"/>
                </a:solidFill>
              </a:rPr>
              <a:t>14-04-2016</a:t>
            </a:r>
            <a:r>
              <a:rPr lang="pt-BR" sz="1200" i="1" dirty="0" smtClean="0">
                <a:solidFill>
                  <a:schemeClr val="bg1"/>
                </a:solidFill>
              </a:rPr>
              <a:t>  24-05-2019 </a:t>
            </a:r>
            <a:r>
              <a:rPr lang="pt-BR" sz="1200" i="1" strike="sngStrike" dirty="0" smtClean="0">
                <a:solidFill>
                  <a:schemeClr val="bg1"/>
                </a:solidFill>
              </a:rPr>
              <a:t> </a:t>
            </a:r>
          </a:p>
          <a:p>
            <a:r>
              <a:rPr lang="pt-BR" sz="1200" i="1" dirty="0" smtClean="0">
                <a:solidFill>
                  <a:schemeClr val="bg1"/>
                </a:solidFill>
              </a:rPr>
              <a:t>Progresso: 82%</a:t>
            </a:r>
          </a:p>
          <a:p>
            <a:r>
              <a:rPr lang="pt-BR" sz="1200" i="1" dirty="0" smtClean="0">
                <a:solidFill>
                  <a:schemeClr val="bg1"/>
                </a:solidFill>
              </a:rPr>
              <a:t>PM: Thiago Augusto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56685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Equipe de controle de ativos esta utilizando a ferramenta.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99740" cy="256685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smtClean="0">
                <a:solidFill>
                  <a:srgbClr val="FF0000"/>
                </a:solidFill>
              </a:rPr>
              <a:t>Risco: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rgbClr val="FF0000"/>
                </a:solidFill>
              </a:rPr>
              <a:t>Estudo do comportamento e atualização dos pacotes em 608 servidores Linux para instalação dos agentes.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pt-BR" sz="1400" dirty="0" smtClean="0"/>
              <a:t> OCS </a:t>
            </a:r>
            <a:r>
              <a:rPr lang="pt-BR" sz="1400" dirty="0"/>
              <a:t>é uma ferramenta de </a:t>
            </a:r>
            <a:r>
              <a:rPr lang="pt-BR" sz="1400" dirty="0" smtClean="0"/>
              <a:t>Inventário de servidores para auxiliar a </a:t>
            </a:r>
            <a:r>
              <a:rPr lang="pt-BR" sz="1400" dirty="0"/>
              <a:t>equipe de Controle de Ativos</a:t>
            </a:r>
            <a:r>
              <a:rPr lang="pt-BR" sz="1400" dirty="0" smtClean="0"/>
              <a:t>. </a:t>
            </a:r>
            <a:endParaRPr lang="pt-BR" sz="1400" dirty="0"/>
          </a:p>
        </p:txBody>
      </p:sp>
      <p:pic>
        <p:nvPicPr>
          <p:cNvPr id="25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27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grpSp>
        <p:nvGrpSpPr>
          <p:cNvPr id="28" name="Group 34"/>
          <p:cNvGrpSpPr>
            <a:grpSpLocks/>
          </p:cNvGrpSpPr>
          <p:nvPr/>
        </p:nvGrpSpPr>
        <p:grpSpPr bwMode="auto">
          <a:xfrm>
            <a:off x="2886716" y="1524839"/>
            <a:ext cx="274638" cy="274638"/>
            <a:chOff x="0" y="0"/>
            <a:chExt cx="173" cy="173"/>
          </a:xfrm>
        </p:grpSpPr>
        <p:sp>
          <p:nvSpPr>
            <p:cNvPr id="29" name="Arc 35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0" name="Arc 36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1" name="Arc 37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2" name="Arc 3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3" name="Arc 3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4" name="Oval 4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5" name="Arc 41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4802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Ura Internalização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 equipe do José Carlos vai ser responsável pelo suporte deste ambiente.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smtClean="0">
                <a:solidFill>
                  <a:srgbClr val="00B050"/>
                </a:solidFill>
              </a:rPr>
              <a:t> </a:t>
            </a:r>
            <a:endParaRPr lang="pt-BR" sz="1200" dirty="0">
              <a:solidFill>
                <a:srgbClr val="00B050"/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Ura Internalização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20-10-2015</a:t>
            </a:r>
          </a:p>
          <a:p>
            <a:r>
              <a:rPr lang="pt-BR" sz="1200" i="1" dirty="0" smtClean="0"/>
              <a:t>Data Conclusão: 06-06-2016</a:t>
            </a:r>
          </a:p>
          <a:p>
            <a:r>
              <a:rPr lang="pt-BR" sz="1200" i="1" dirty="0" smtClean="0"/>
              <a:t>Progresso: 20%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</a:t>
            </a:r>
            <a:r>
              <a:rPr lang="pt-BR" sz="1200" i="1" dirty="0" err="1" smtClean="0"/>
              <a:t>Luis</a:t>
            </a:r>
            <a:r>
              <a:rPr lang="pt-BR" sz="1200" i="1" dirty="0" smtClean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65435" y="2054536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José Carlos aguarda agendamento de datas para treinamento da equipa.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Obs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 Projeto esteve parado até definição de nova estratégia. O cronograma terá de ser atualizado quando tivermos datas de treinamento.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M</a:t>
            </a:r>
            <a:r>
              <a:rPr lang="pt-BR" sz="1400" dirty="0" smtClean="0"/>
              <a:t>onitoração </a:t>
            </a:r>
            <a:r>
              <a:rPr lang="pt-BR" sz="1400" dirty="0"/>
              <a:t>pró ativa de </a:t>
            </a:r>
            <a:r>
              <a:rPr lang="pt-BR" sz="1400" dirty="0" smtClean="0"/>
              <a:t>hardware e elimina </a:t>
            </a:r>
            <a:r>
              <a:rPr lang="pt-BR" sz="1400" dirty="0"/>
              <a:t>a possibilidade de perda de dados por falta de visibilidade do </a:t>
            </a:r>
            <a:r>
              <a:rPr lang="pt-BR" sz="1400" dirty="0" smtClean="0"/>
              <a:t>ambiente. </a:t>
            </a:r>
            <a:endParaRPr lang="pt-BR" sz="1400" dirty="0"/>
          </a:p>
        </p:txBody>
      </p:sp>
      <p:grpSp>
        <p:nvGrpSpPr>
          <p:cNvPr id="13" name="Group 16"/>
          <p:cNvGrpSpPr>
            <a:grpSpLocks/>
          </p:cNvGrpSpPr>
          <p:nvPr/>
        </p:nvGrpSpPr>
        <p:grpSpPr bwMode="auto">
          <a:xfrm>
            <a:off x="2890797" y="1499802"/>
            <a:ext cx="274638" cy="274638"/>
            <a:chOff x="0" y="0"/>
            <a:chExt cx="173" cy="173"/>
          </a:xfrm>
        </p:grpSpPr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" name="Arc 18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0" name="Arc 19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1" name="Arc 20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39153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Qualidade em Gravação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1986751"/>
            <a:ext cx="2716382" cy="255176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400" dirty="0">
                <a:solidFill>
                  <a:schemeClr val="tx1"/>
                </a:solidFill>
              </a:rPr>
              <a:t>1ª publicação do </a:t>
            </a:r>
            <a:r>
              <a:rPr lang="pt-BR" sz="1400" dirty="0" err="1">
                <a:solidFill>
                  <a:schemeClr val="tx1"/>
                </a:solidFill>
              </a:rPr>
              <a:t>Dashboard</a:t>
            </a:r>
            <a:r>
              <a:rPr lang="pt-BR" sz="1400" dirty="0">
                <a:solidFill>
                  <a:schemeClr val="tx1"/>
                </a:solidFill>
              </a:rPr>
              <a:t> de </a:t>
            </a:r>
            <a:r>
              <a:rPr lang="pt-BR" sz="1400" dirty="0" err="1">
                <a:solidFill>
                  <a:schemeClr val="tx1"/>
                </a:solidFill>
              </a:rPr>
              <a:t>Retrieval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400" dirty="0">
                <a:solidFill>
                  <a:schemeClr val="tx1"/>
                </a:solidFill>
              </a:rPr>
              <a:t>Iniciamos o desenvolvimento do </a:t>
            </a:r>
            <a:r>
              <a:rPr lang="pt-BR" sz="1400" u="sng" dirty="0">
                <a:solidFill>
                  <a:schemeClr val="tx1"/>
                </a:solidFill>
              </a:rPr>
              <a:t>Merge</a:t>
            </a:r>
            <a:r>
              <a:rPr lang="pt-BR" sz="1400" dirty="0">
                <a:solidFill>
                  <a:schemeClr val="tx1"/>
                </a:solidFill>
              </a:rPr>
              <a:t> da APP PAINEL de produção e CSE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Qualidade em Gravação</a:t>
            </a:r>
            <a:endPara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Inicio: 24-02-2016</a:t>
            </a: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Conclusão: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23-05-2016</a:t>
            </a:r>
            <a:endPara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Progresso: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60%</a:t>
            </a:r>
            <a:endPara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PM: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Luis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21682" y="1996691"/>
            <a:ext cx="2910818" cy="25545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</a:t>
            </a: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semana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400" b="1" dirty="0" smtClean="0">
                <a:solidFill>
                  <a:schemeClr val="tx1"/>
                </a:solidFill>
              </a:rPr>
              <a:t>Piloto Santander, Bradesco, </a:t>
            </a:r>
            <a:r>
              <a:rPr lang="pt-BR" sz="1400" b="1" dirty="0" err="1" smtClean="0">
                <a:solidFill>
                  <a:schemeClr val="tx1"/>
                </a:solidFill>
              </a:rPr>
              <a:t>Tam</a:t>
            </a:r>
            <a:r>
              <a:rPr lang="pt-BR" sz="1400" b="1" dirty="0" smtClean="0">
                <a:solidFill>
                  <a:schemeClr val="tx1"/>
                </a:solidFill>
              </a:rPr>
              <a:t> e </a:t>
            </a:r>
            <a:r>
              <a:rPr lang="pt-BR" sz="1400" b="1" dirty="0" err="1" smtClean="0">
                <a:solidFill>
                  <a:schemeClr val="tx1"/>
                </a:solidFill>
              </a:rPr>
              <a:t>Cielo</a:t>
            </a:r>
            <a:r>
              <a:rPr lang="pt-BR" sz="1400" b="1" dirty="0" smtClean="0">
                <a:solidFill>
                  <a:schemeClr val="tx1"/>
                </a:solidFill>
              </a:rPr>
              <a:t>.</a:t>
            </a:r>
            <a:endParaRPr lang="pt-BR" sz="1400" b="1" dirty="0">
              <a:solidFill>
                <a:schemeClr val="tx1"/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400" dirty="0">
                <a:solidFill>
                  <a:schemeClr val="tx1"/>
                </a:solidFill>
              </a:rPr>
              <a:t>Leitura dos contratos dos clientes responsáveis por 75% das </a:t>
            </a:r>
            <a:r>
              <a:rPr lang="pt-BR" sz="1400" dirty="0" smtClean="0">
                <a:solidFill>
                  <a:schemeClr val="tx1"/>
                </a:solidFill>
              </a:rPr>
              <a:t>multas.</a:t>
            </a:r>
            <a:endParaRPr lang="pt-BR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400" dirty="0">
                <a:solidFill>
                  <a:schemeClr val="tx1"/>
                </a:solidFill>
              </a:rPr>
              <a:t>Definição do escopo do Painel Gravadores.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400" dirty="0">
                <a:solidFill>
                  <a:schemeClr val="tx1"/>
                </a:solidFill>
              </a:rPr>
              <a:t>SMS IP </a:t>
            </a:r>
            <a:r>
              <a:rPr lang="pt-BR" sz="1400" dirty="0" err="1">
                <a:solidFill>
                  <a:schemeClr val="tx1"/>
                </a:solidFill>
              </a:rPr>
              <a:t>Mapper</a:t>
            </a:r>
            <a:endParaRPr lang="pt-BR" sz="1400" dirty="0">
              <a:solidFill>
                <a:schemeClr val="tx1"/>
              </a:solidFill>
            </a:endParaRPr>
          </a:p>
          <a:p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225443" y="1986751"/>
            <a:ext cx="2716382" cy="255176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400" dirty="0" err="1">
                <a:solidFill>
                  <a:schemeClr val="tx1"/>
                </a:solidFill>
              </a:rPr>
              <a:t>Obs</a:t>
            </a:r>
            <a:r>
              <a:rPr lang="pt-BR" sz="1400" dirty="0">
                <a:solidFill>
                  <a:schemeClr val="tx1"/>
                </a:solidFill>
              </a:rPr>
              <a:t>: A abrangência e aderência na nova metodologia de abordar o desafio de recuperação de gravação, poderá ser um desafio para algumas áreas. 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559600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/>
              <a:t>Este projeto tem como escopo, executar um plano de ação para eliminar multas (de gravação) nos clientes Contax.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2448" y="1483555"/>
            <a:ext cx="280440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T2R – Transição de Serviços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Elaborado mapeamento As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(Demandas, Projetos e Mudanças)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Definida a abordagem para desenvolvimento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Elaborado o desenho macro da solução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21121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22-03-2016</a:t>
            </a:r>
          </a:p>
          <a:p>
            <a:r>
              <a:rPr lang="pt-BR" sz="1200" i="1" dirty="0"/>
              <a:t>Data Conclusão: 22-07-2016</a:t>
            </a:r>
          </a:p>
          <a:p>
            <a:r>
              <a:rPr lang="pt-BR" sz="1200" i="1" dirty="0"/>
              <a:t>Progresso: 10%</a:t>
            </a:r>
          </a:p>
          <a:p>
            <a:r>
              <a:rPr lang="pt-BR" sz="1200" i="1" dirty="0"/>
              <a:t>PM: </a:t>
            </a:r>
            <a:r>
              <a:rPr lang="pt-BR" sz="1200" i="1" dirty="0" err="1"/>
              <a:t>Luis</a:t>
            </a:r>
            <a:r>
              <a:rPr lang="pt-BR" sz="1200" i="1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Definir Ritos diferentes para Mudanças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Definir critérios para qualificação de solicitações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Desenhar fluxo detalhado das solicitações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Ferramenta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eGEMUD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sem manutenção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Integração entre os processos de gerenciamento de Demandas, Projetos e Mudanças, para controle sobre o desenvolvimento e a implantação de Serviços novos ou alterados. </a:t>
            </a:r>
          </a:p>
        </p:txBody>
      </p:sp>
      <p:grpSp>
        <p:nvGrpSpPr>
          <p:cNvPr id="13" name="Group 9"/>
          <p:cNvGrpSpPr>
            <a:grpSpLocks/>
          </p:cNvGrpSpPr>
          <p:nvPr/>
        </p:nvGrpSpPr>
        <p:grpSpPr bwMode="auto">
          <a:xfrm>
            <a:off x="2957987" y="1524532"/>
            <a:ext cx="274638" cy="274638"/>
            <a:chOff x="0" y="0"/>
            <a:chExt cx="173" cy="173"/>
          </a:xfrm>
        </p:grpSpPr>
        <p:sp>
          <p:nvSpPr>
            <p:cNvPr id="14" name="Oval 1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" name="Arc 11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2859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6" y="3888759"/>
            <a:ext cx="1524000" cy="1143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43" y="1885837"/>
            <a:ext cx="2015419" cy="15115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162" y="1885837"/>
            <a:ext cx="2574943" cy="19312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596" y="1346058"/>
            <a:ext cx="3218155" cy="24136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81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04326" y="894156"/>
            <a:ext cx="418652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Visão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Macro -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Cenário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Atual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62659" y="0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Backups 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pt-BR" sz="28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Restore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em Produção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866" y="1404526"/>
            <a:ext cx="8221404" cy="3433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4065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1" descr="cid:image016.png@01D18F5F.62D55BF0"/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5" y="39775"/>
            <a:ext cx="4508205" cy="504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8991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100" b="0" i="0" u="none" strike="noStrike" cap="none" normalizeH="0" baseline="0" smtClean="0">
                <a:ln>
                  <a:noFill/>
                </a:ln>
                <a:solidFill>
                  <a:srgbClr val="1F497D"/>
                </a:solidFill>
                <a:effectLst/>
                <a:latin typeface="Arial" pitchFamily="34" charset="0"/>
                <a:ea typeface="Calibri" pitchFamily="34" charset="0"/>
                <a:cs typeface="Times New Roman" pitchFamily="18" charset="0"/>
              </a:rPr>
              <a:t>O números de servidores ainda são os da nossa base devido a planilha de CA estar confusa para a atualização e entendimento dos ativos.</a:t>
            </a: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5082764" y="180753"/>
            <a:ext cx="3561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Visão de backup por site e evolução</a:t>
            </a:r>
            <a:endParaRPr lang="pt-BR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28913"/>
            <a:ext cx="4451230" cy="2831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64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552411" y="109829"/>
            <a:ext cx="544956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Detalhamento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-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Ofensores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116957" y="631170"/>
          <a:ext cx="8941982" cy="44386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9396"/>
                <a:gridCol w="950930"/>
                <a:gridCol w="1063647"/>
                <a:gridCol w="2946202"/>
                <a:gridCol w="881807"/>
              </a:tblGrid>
              <a:tr h="26499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 dirty="0">
                          <a:effectLst/>
                        </a:rPr>
                        <a:t>Assunto</a:t>
                      </a:r>
                      <a:endParaRPr lang="pt-BR" sz="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343" marR="51343" marT="25672" marB="25672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Resp.</a:t>
                      </a:r>
                      <a:endParaRPr lang="pt-BR" sz="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343" marR="51343" marT="25672" marB="25672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Status</a:t>
                      </a:r>
                      <a:endParaRPr lang="pt-BR" sz="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343" marR="51343" marT="25672" marB="25672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Observação</a:t>
                      </a:r>
                      <a:endParaRPr lang="pt-BR" sz="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343" marR="51343" marT="25672" marB="25672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Previsão</a:t>
                      </a:r>
                      <a:endParaRPr lang="pt-BR" sz="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343" marR="51343" marT="25672" marB="25672" anchor="ctr"/>
                </a:tc>
              </a:tr>
              <a:tr h="297650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RJ - Transporte do robô de Alegria para Engenho de Dentro - SC 246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Eugenio Silva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aprovação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aprovação do Bourboun no FLUIG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</a:tr>
              <a:tr h="297650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RJ - Compra de fitas para a regional </a:t>
                      </a:r>
                    </a:p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- SC 245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Eugenio Silva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Aguardando status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status sobre as aprovações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</a:tr>
              <a:tr h="443909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RJ - Manutenção de 03 robôs no site MCK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Eugenio Silva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o site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Foi solicitado pela DELL que estes robôs sejam conectado em um servidor apartado para teste e coletas de logs antes de enviarem o orçamento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08/04/2016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</a:tr>
              <a:tr h="443909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RJ - Troca de robôs entre sites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Eugenio Silva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a disponibilidade do site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Solicitado a troca de robôs entre os sites São Cristóvão e Mauá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15/04/2016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</a:tr>
              <a:tr h="2976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SP - Compra de fitas para a regional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Roberto Elias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Ainda não informado o número de SC para verificar status e/ou </a:t>
                      </a:r>
                      <a:r>
                        <a:rPr lang="pt-BR" sz="1000" dirty="0" err="1">
                          <a:effectLst/>
                        </a:rPr>
                        <a:t>escalation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</a:tr>
              <a:tr h="297650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SP – Manutenção no robô do site Alegria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Roberto Elias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Enviado o formulário para abertura de SC para o time de FINANCEIRO_TI 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08/04/2016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</a:tr>
              <a:tr h="443909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DC - GAP de licenças DATA PROTECTOR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Rafael Alves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Valores já enviados pela HP e aprovados pela Engenharia. Enviado o formulário para abertura de SC para o time de FINANCEIRO_TI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08/04/2016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</a:tr>
              <a:tr h="443909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BR - Contrato de suporte ao HW de BKP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STUART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Sem status sobre a renovação de contrato para suporte aos equipamentos de backup, onde a maioria está fora da garantia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</a:tr>
              <a:tr h="297650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BR - Armazenamento de fita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Rafael Alves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Definindo melhor cenário de custódia e armazenamento de mídias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 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</a:tr>
              <a:tr h="443909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SP - Transporte de robôs oriundos do Lapa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Rafael Alves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Aguardando entrega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Encontrado 04 robôs no Lapa sem uso, solicitado envio para o Alegria afim de testá-los e  disponibilizar para os sites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08/04/2016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</a:tr>
              <a:tr h="297650"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BR - Instalação de agentes nos servidores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Celio Ricardo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Em andamento</a:t>
                      </a:r>
                      <a:endParaRPr lang="pt-BR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Disponibilizado um analista do CSE para atender diariamente nossos chamado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  <a:tc>
                  <a:txBody>
                    <a:bodyPr/>
                    <a:lstStyle/>
                    <a:p>
                      <a:pPr algn="ctr" fontAlgn="b"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 </a:t>
                      </a:r>
                      <a:endParaRPr lang="pt-BR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48" marR="5348" marT="5348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27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511225" y="100125"/>
            <a:ext cx="1523161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Time Line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595223"/>
            <a:ext cx="8905875" cy="406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eta para a direita 1"/>
          <p:cNvSpPr/>
          <p:nvPr/>
        </p:nvSpPr>
        <p:spPr>
          <a:xfrm>
            <a:off x="480727" y="4659312"/>
            <a:ext cx="1208868" cy="3437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hlinkClick r:id="rId3" action="ppaction://hlinksldjump"/>
              </a:rPr>
              <a:t>Voltar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96452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15547</TotalTime>
  <Words>2311</Words>
  <Application>Microsoft Office PowerPoint</Application>
  <PresentationFormat>Personalizar</PresentationFormat>
  <Paragraphs>397</Paragraphs>
  <Slides>28</Slides>
  <Notes>22</Notes>
  <HiddenSlides>7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Marcal</cp:lastModifiedBy>
  <cp:revision>1294</cp:revision>
  <dcterms:created xsi:type="dcterms:W3CDTF">2015-08-20T14:57:26Z</dcterms:created>
  <dcterms:modified xsi:type="dcterms:W3CDTF">2016-04-07T20:14:58Z</dcterms:modified>
</cp:coreProperties>
</file>