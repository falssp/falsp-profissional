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7.xml" ContentType="application/vnd.openxmlformats-officedocument.drawingml.chart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theme/themeOverride6.xml" ContentType="application/vnd.openxmlformats-officedocument.themeOverride+xml"/>
  <Override PartName="/ppt/charts/chart10.xml" ContentType="application/vnd.openxmlformats-officedocument.drawingml.chart+xml"/>
  <Override PartName="/ppt/theme/themeOverride7.xml" ContentType="application/vnd.openxmlformats-officedocument.themeOverride+xml"/>
  <Override PartName="/ppt/charts/chart11.xml" ContentType="application/vnd.openxmlformats-officedocument.drawingml.chart+xml"/>
  <Override PartName="/ppt/theme/themeOverride8.xml" ContentType="application/vnd.openxmlformats-officedocument.themeOverride+xml"/>
  <Override PartName="/ppt/charts/chart12.xml" ContentType="application/vnd.openxmlformats-officedocument.drawingml.chart+xml"/>
  <Override PartName="/ppt/theme/themeOverride9.xml" ContentType="application/vnd.openxmlformats-officedocument.themeOverride+xml"/>
  <Override PartName="/ppt/charts/chart13.xml" ContentType="application/vnd.openxmlformats-officedocument.drawingml.chart+xml"/>
  <Override PartName="/ppt/theme/themeOverride10.xml" ContentType="application/vnd.openxmlformats-officedocument.themeOverride+xml"/>
  <Override PartName="/ppt/charts/chart14.xml" ContentType="application/vnd.openxmlformats-officedocument.drawingml.chart+xml"/>
  <Override PartName="/ppt/theme/themeOverride11.xml" ContentType="application/vnd.openxmlformats-officedocument.themeOverride+xml"/>
  <Override PartName="/ppt/charts/chart15.xml" ContentType="application/vnd.openxmlformats-officedocument.drawingml.chart+xml"/>
  <Override PartName="/ppt/theme/themeOverride12.xml" ContentType="application/vnd.openxmlformats-officedocument.themeOverr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9"/>
  </p:notesMasterIdLst>
  <p:sldIdLst>
    <p:sldId id="600" r:id="rId5"/>
    <p:sldId id="265" r:id="rId6"/>
    <p:sldId id="665" r:id="rId7"/>
    <p:sldId id="667" r:id="rId8"/>
    <p:sldId id="676" r:id="rId9"/>
    <p:sldId id="689" r:id="rId10"/>
    <p:sldId id="688" r:id="rId11"/>
    <p:sldId id="687" r:id="rId12"/>
    <p:sldId id="670" r:id="rId13"/>
    <p:sldId id="671" r:id="rId14"/>
    <p:sldId id="672" r:id="rId15"/>
    <p:sldId id="690" r:id="rId16"/>
    <p:sldId id="691" r:id="rId17"/>
    <p:sldId id="692" r:id="rId18"/>
    <p:sldId id="693" r:id="rId19"/>
    <p:sldId id="679" r:id="rId20"/>
    <p:sldId id="680" r:id="rId21"/>
    <p:sldId id="656" r:id="rId22"/>
    <p:sldId id="643" r:id="rId23"/>
    <p:sldId id="686" r:id="rId24"/>
    <p:sldId id="621" r:id="rId25"/>
    <p:sldId id="461" r:id="rId26"/>
    <p:sldId id="681" r:id="rId27"/>
    <p:sldId id="663" r:id="rId28"/>
    <p:sldId id="464" r:id="rId29"/>
    <p:sldId id="490" r:id="rId30"/>
    <p:sldId id="678" r:id="rId31"/>
    <p:sldId id="532" r:id="rId32"/>
    <p:sldId id="411" r:id="rId33"/>
    <p:sldId id="664" r:id="rId34"/>
    <p:sldId id="682" r:id="rId35"/>
    <p:sldId id="683" r:id="rId36"/>
    <p:sldId id="684" r:id="rId37"/>
    <p:sldId id="685" r:id="rId38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5" autoAdjust="0"/>
    <p:restoredTop sz="89623" autoAdjust="0"/>
  </p:normalViewPr>
  <p:slideViewPr>
    <p:cSldViewPr snapToGrid="0" snapToObjects="1">
      <p:cViewPr varScale="1">
        <p:scale>
          <a:sx n="84" d="100"/>
          <a:sy n="84" d="100"/>
        </p:scale>
        <p:origin x="750" y="78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1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2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Estabilidade%20Operacional\Junho\parcial%20ate%20dia%2022%20de%20maio\Chamados%20de%20Gravadores%20NIce.xlsx" TargetMode="External"/><Relationship Id="rId1" Type="http://schemas.openxmlformats.org/officeDocument/2006/relationships/themeOverride" Target="../theme/themeOverride3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4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5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6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7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8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9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0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1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12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17.%20Gmud\Relatorio%20Gmud%20Mensal.xlsb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17.%20Gmud\Relatorio%20Gmud%20Mensal.xlsb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17.%20Gmud\Relatorio%20Gmud%20Mensal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9296824925137694E-3"/>
                  <c:y val="-0.253931295471328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4.0550904098286163E-3"/>
                  <c:y val="-0.2389510262787123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Janeiro</c:v>
                </c:pt>
                <c:pt idx="2">
                  <c:v>Fevereiro</c:v>
                </c:pt>
                <c:pt idx="3">
                  <c:v>Março</c:v>
                </c:pt>
                <c:pt idx="4">
                  <c:v>Abril</c:v>
                </c:pt>
                <c:pt idx="5">
                  <c:v>Maio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24272</c:v>
                </c:pt>
                <c:pt idx="1">
                  <c:v>21648</c:v>
                </c:pt>
                <c:pt idx="2">
                  <c:v>19660</c:v>
                </c:pt>
                <c:pt idx="3">
                  <c:v>21144</c:v>
                </c:pt>
                <c:pt idx="4">
                  <c:v>20388</c:v>
                </c:pt>
                <c:pt idx="5">
                  <c:v>19846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96948848"/>
        <c:axId val="296955904"/>
      </c:barChart>
      <c:catAx>
        <c:axId val="29694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96955904"/>
        <c:crosses val="autoZero"/>
        <c:auto val="1"/>
        <c:lblAlgn val="ctr"/>
        <c:lblOffset val="100"/>
        <c:noMultiLvlLbl val="0"/>
      </c:catAx>
      <c:valAx>
        <c:axId val="2969559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969488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>
                <a:solidFill>
                  <a:schemeClr val="accent2">
                    <a:lumMod val="75000"/>
                  </a:schemeClr>
                </a:solidFill>
              </a:rPr>
              <a:t>Volume</a:t>
            </a:r>
            <a:r>
              <a:rPr lang="pt-BR" sz="1500" b="1" baseline="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pt-BR" sz="1500" b="1" dirty="0">
                <a:solidFill>
                  <a:schemeClr val="accent2">
                    <a:lumMod val="75000"/>
                  </a:schemeClr>
                </a:solidFill>
              </a:rPr>
              <a:t>Incidentes Alto Impacto</a:t>
            </a:r>
          </a:p>
        </c:rich>
      </c:tx>
      <c:layout>
        <c:manualLayout>
          <c:xMode val="edge"/>
          <c:yMode val="edge"/>
          <c:x val="0.1763608431509571"/>
          <c:y val="1.5304370398211066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Lbls>
            <c:dLbl>
              <c:idx val="0"/>
              <c:layout>
                <c:manualLayout>
                  <c:x val="5.5830416969469136E-6"/>
                  <c:y val="-0.3198995829346613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940123738814143E-3"/>
                  <c:y val="-9.52997361591829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3.140460954532639E-5"/>
                  <c:y val="-9.19108663443663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3.0013501655837115E-3"/>
                  <c:y val="-9.26725404499212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9699455560383854E-3"/>
                  <c:y val="-0.10325285105830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2.9543595646345168E-3"/>
                  <c:y val="-0.101567888747637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1494</c:v>
                </c:pt>
                <c:pt idx="1">
                  <c:v>210</c:v>
                </c:pt>
                <c:pt idx="2">
                  <c:v>204</c:v>
                </c:pt>
                <c:pt idx="3">
                  <c:v>180</c:v>
                </c:pt>
                <c:pt idx="4">
                  <c:v>183</c:v>
                </c:pt>
                <c:pt idx="5">
                  <c:v>183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96950024"/>
        <c:axId val="296953944"/>
      </c:barChart>
      <c:catAx>
        <c:axId val="296950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96953944"/>
        <c:crosses val="autoZero"/>
        <c:auto val="1"/>
        <c:lblAlgn val="ctr"/>
        <c:lblOffset val="100"/>
        <c:noMultiLvlLbl val="0"/>
      </c:catAx>
      <c:valAx>
        <c:axId val="29695394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9695002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>
                <a:solidFill>
                  <a:schemeClr val="accent2">
                    <a:lumMod val="75000"/>
                  </a:schemeClr>
                </a:solidFill>
              </a:rPr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7264752567693746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5CA6-4A76-8126-37E9773D9510}"/>
              </c:ext>
            </c:extLst>
          </c:dPt>
          <c:dLbls>
            <c:dLbl>
              <c:idx val="0"/>
              <c:layout>
                <c:manualLayout>
                  <c:x val="-2.9880988961915756E-3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9642966885746869E-3"/>
                  <c:y val="-0.16498611975313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2.9880988961916168E-3"/>
                  <c:y val="-0.176364472839557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9880988961915622E-3"/>
                  <c:y val="-0.164986119753134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956236051995256E-16"/>
                  <c:y val="-0.170675296296346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2.9645191409897291E-3"/>
                  <c:y val="-9.12825021316904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CA6-4A76-8126-37E9773D951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</c:strCache>
            </c:strRef>
          </c:cat>
          <c:val>
            <c:numRef>
              <c:f>Plan1!$B$2:$B$7</c:f>
              <c:numCache>
                <c:formatCode>#,##0.00</c:formatCode>
                <c:ptCount val="6"/>
                <c:pt idx="0">
                  <c:v>48.19</c:v>
                </c:pt>
                <c:pt idx="1">
                  <c:v>6.77</c:v>
                </c:pt>
                <c:pt idx="2">
                  <c:v>7.03</c:v>
                </c:pt>
                <c:pt idx="3">
                  <c:v>5.806451612903226</c:v>
                </c:pt>
                <c:pt idx="4">
                  <c:v>6.1</c:v>
                </c:pt>
                <c:pt idx="5">
                  <c:v>5.9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96954728"/>
        <c:axId val="296950416"/>
      </c:barChart>
      <c:catAx>
        <c:axId val="296954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96950416"/>
        <c:crosses val="autoZero"/>
        <c:auto val="1"/>
        <c:lblAlgn val="ctr"/>
        <c:lblOffset val="100"/>
        <c:noMultiLvlLbl val="0"/>
      </c:catAx>
      <c:valAx>
        <c:axId val="296950416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2969547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84E8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dLbl>
              <c:idx val="0"/>
              <c:layout>
                <c:manualLayout>
                  <c:x val="-5.7626082743713829E-2"/>
                  <c:y val="0.1398389442805717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Plan1!$A$2:$A$4</c:f>
              <c:strCache>
                <c:ptCount val="3"/>
                <c:pt idx="0">
                  <c:v>Fornecedor Contax</c:v>
                </c:pt>
                <c:pt idx="1">
                  <c:v>Suporte Cliente</c:v>
                </c:pt>
                <c:pt idx="2">
                  <c:v>TI Contax</c:v>
                </c:pt>
              </c:strCache>
            </c:strRef>
          </c:cat>
          <c:val>
            <c:numRef>
              <c:f>Plan1!$G$2:$G$4</c:f>
              <c:numCache>
                <c:formatCode>General</c:formatCode>
                <c:ptCount val="3"/>
                <c:pt idx="0">
                  <c:v>8</c:v>
                </c:pt>
                <c:pt idx="1">
                  <c:v>60</c:v>
                </c:pt>
                <c:pt idx="2">
                  <c:v>115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84E8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dLbl>
              <c:idx val="0"/>
              <c:layout>
                <c:manualLayout>
                  <c:x val="-7.5196158289544429E-2"/>
                  <c:y val="0.1176590851840114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Plan1!$A$2:$A$4</c:f>
              <c:strCache>
                <c:ptCount val="3"/>
                <c:pt idx="0">
                  <c:v>Fornecedor Contax</c:v>
                </c:pt>
                <c:pt idx="1">
                  <c:v>Suporte Cliente</c:v>
                </c:pt>
                <c:pt idx="2">
                  <c:v>TI Contax</c:v>
                </c:pt>
              </c:strCache>
            </c:strRef>
          </c:cat>
          <c:val>
            <c:numRef>
              <c:f>Plan1!$G$2:$G$4</c:f>
              <c:numCache>
                <c:formatCode>General</c:formatCode>
                <c:ptCount val="3"/>
                <c:pt idx="0">
                  <c:v>8</c:v>
                </c:pt>
                <c:pt idx="1">
                  <c:v>60</c:v>
                </c:pt>
                <c:pt idx="2">
                  <c:v>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'[Chamados de Gravadores NIce.xlsx]Plan1'!$B$4</c:f>
              <c:strCache>
                <c:ptCount val="1"/>
                <c:pt idx="0">
                  <c:v>Gravadores Nice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rgbClr val="3766BB"/>
                </a:gs>
                <a:gs pos="100000">
                  <a:srgbClr val="184E82"/>
                </a:gs>
              </a:gsLst>
              <a:lin ang="0" scaled="0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'[Chamados de Gravadores NIce.xlsx]Plan1'!$C$3:$G$3</c:f>
              <c:numCache>
                <c:formatCode>mmm\-yy</c:formatCode>
                <c:ptCount val="5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</c:numCache>
            </c:numRef>
          </c:cat>
          <c:val>
            <c:numRef>
              <c:f>'[Chamados de Gravadores NIce.xlsx]Plan1'!$C$4:$G$4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21</c:v>
                </c:pt>
                <c:pt idx="3">
                  <c:v>16</c:v>
                </c:pt>
                <c:pt idx="4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828880"/>
        <c:axId val="250832408"/>
      </c:barChart>
      <c:dateAx>
        <c:axId val="25082888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ln>
            <a:noFill/>
          </a:ln>
        </c:spPr>
        <c:crossAx val="250832408"/>
        <c:crosses val="autoZero"/>
        <c:auto val="1"/>
        <c:lblOffset val="100"/>
        <c:baseTimeUnit val="months"/>
      </c:dateAx>
      <c:valAx>
        <c:axId val="2508324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250828880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Plan1!$B$1:$G$1</c:f>
              <c:strCache>
                <c:ptCount val="6"/>
                <c:pt idx="0">
                  <c:v>set/15</c:v>
                </c:pt>
                <c:pt idx="1">
                  <c:v>jan/16</c:v>
                </c:pt>
                <c:pt idx="2">
                  <c:v>fev/16</c:v>
                </c:pt>
                <c:pt idx="3">
                  <c:v>mar/16</c:v>
                </c:pt>
                <c:pt idx="4">
                  <c:v>abr/16</c:v>
                </c:pt>
                <c:pt idx="5">
                  <c:v>mai/16</c:v>
                </c:pt>
              </c:strCache>
            </c:strRef>
          </c:cat>
          <c:val>
            <c:numRef>
              <c:f>Plan1!$B$2:$G$2</c:f>
              <c:numCache>
                <c:formatCode>[h]:mm:ss;@</c:formatCode>
                <c:ptCount val="6"/>
                <c:pt idx="0">
                  <c:v>2.2795632152319799E-2</c:v>
                </c:pt>
                <c:pt idx="1">
                  <c:v>0.14826388888888889</c:v>
                </c:pt>
                <c:pt idx="2">
                  <c:v>0.14141203703703703</c:v>
                </c:pt>
                <c:pt idx="3">
                  <c:v>0.17214474022633416</c:v>
                </c:pt>
                <c:pt idx="4" formatCode="h:mm:ss">
                  <c:v>0.16126157407407407</c:v>
                </c:pt>
                <c:pt idx="5" formatCode="[$-F400]h:mm:ss\ AM/PM">
                  <c:v>0.16440586419752612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51592"/>
        <c:axId val="296955120"/>
      </c:barChart>
      <c:catAx>
        <c:axId val="296951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55120"/>
        <c:crosses val="autoZero"/>
        <c:auto val="1"/>
        <c:lblAlgn val="ctr"/>
        <c:lblOffset val="100"/>
        <c:noMultiLvlLbl val="0"/>
      </c:catAx>
      <c:valAx>
        <c:axId val="296955120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96951592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abr/16</c:v>
                </c:pt>
                <c:pt idx="1">
                  <c:v>mai/16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 formatCode="h:mm:ss">
                  <c:v>0.31924768518518515</c:v>
                </c:pt>
                <c:pt idx="1">
                  <c:v>0.25166972757882122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53552"/>
        <c:axId val="296955512"/>
      </c:barChart>
      <c:catAx>
        <c:axId val="296953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55512"/>
        <c:crosses val="autoZero"/>
        <c:auto val="1"/>
        <c:lblAlgn val="ctr"/>
        <c:lblOffset val="100"/>
        <c:noMultiLvlLbl val="0"/>
      </c:catAx>
      <c:valAx>
        <c:axId val="296955512"/>
        <c:scaling>
          <c:orientation val="minMax"/>
        </c:scaling>
        <c:delete val="1"/>
        <c:axPos val="l"/>
        <c:numFmt formatCode="h:mm:ss" sourceLinked="1"/>
        <c:majorTickMark val="out"/>
        <c:minorTickMark val="none"/>
        <c:tickLblPos val="nextTo"/>
        <c:crossAx val="296953552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abr/16</c:v>
                </c:pt>
                <c:pt idx="1">
                  <c:v>mai/16</c:v>
                </c:pt>
              </c:strCache>
            </c:strRef>
          </c:cat>
          <c:val>
            <c:numRef>
              <c:f>Plan1!$B$2:$C$2</c:f>
              <c:numCache>
                <c:formatCode>[h]:mm:ss</c:formatCode>
                <c:ptCount val="2"/>
                <c:pt idx="0">
                  <c:v>0.44775462962962959</c:v>
                </c:pt>
                <c:pt idx="1">
                  <c:v>0.50130312689737466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51767776"/>
        <c:axId val="210720224"/>
      </c:barChart>
      <c:catAx>
        <c:axId val="251767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10720224"/>
        <c:crosses val="autoZero"/>
        <c:auto val="1"/>
        <c:lblAlgn val="ctr"/>
        <c:lblOffset val="100"/>
        <c:noMultiLvlLbl val="0"/>
      </c:catAx>
      <c:valAx>
        <c:axId val="210720224"/>
        <c:scaling>
          <c:orientation val="minMax"/>
        </c:scaling>
        <c:delete val="1"/>
        <c:axPos val="l"/>
        <c:numFmt formatCode="[h]:mm:ss" sourceLinked="1"/>
        <c:majorTickMark val="out"/>
        <c:minorTickMark val="none"/>
        <c:tickLblPos val="nextTo"/>
        <c:crossAx val="251767776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abr/16</c:v>
                </c:pt>
                <c:pt idx="1">
                  <c:v>mai/16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1.3636342592592594</c:v>
                </c:pt>
                <c:pt idx="1">
                  <c:v>2.0870138888876681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30144"/>
        <c:axId val="296928184"/>
      </c:barChart>
      <c:catAx>
        <c:axId val="296930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28184"/>
        <c:crosses val="autoZero"/>
        <c:auto val="1"/>
        <c:lblAlgn val="ctr"/>
        <c:lblOffset val="100"/>
        <c:noMultiLvlLbl val="0"/>
      </c:catAx>
      <c:valAx>
        <c:axId val="296928184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96930144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Plan1!$B$1:$G$1</c:f>
              <c:strCache>
                <c:ptCount val="6"/>
                <c:pt idx="0">
                  <c:v>set/15</c:v>
                </c:pt>
                <c:pt idx="1">
                  <c:v>jan/16</c:v>
                </c:pt>
                <c:pt idx="2">
                  <c:v>fev/16</c:v>
                </c:pt>
                <c:pt idx="3">
                  <c:v>mar/16</c:v>
                </c:pt>
                <c:pt idx="4">
                  <c:v>abr/16</c:v>
                </c:pt>
                <c:pt idx="5">
                  <c:v>mai/16</c:v>
                </c:pt>
              </c:strCache>
            </c:strRef>
          </c:cat>
          <c:val>
            <c:numRef>
              <c:f>Plan1!$B$2:$G$2</c:f>
              <c:numCache>
                <c:formatCode>[h]:mm:ss;@</c:formatCode>
                <c:ptCount val="6"/>
                <c:pt idx="0">
                  <c:v>1.4335300925925925</c:v>
                </c:pt>
                <c:pt idx="1">
                  <c:v>0.86340277777777785</c:v>
                </c:pt>
                <c:pt idx="2">
                  <c:v>0.67074074074074075</c:v>
                </c:pt>
                <c:pt idx="3">
                  <c:v>0.48246527777777781</c:v>
                </c:pt>
                <c:pt idx="4">
                  <c:v>0.5274537037037037</c:v>
                </c:pt>
                <c:pt idx="5" formatCode="h:mm:ss">
                  <c:v>0.19980448526460948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32496"/>
        <c:axId val="296932888"/>
      </c:barChart>
      <c:catAx>
        <c:axId val="296932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32888"/>
        <c:crosses val="autoZero"/>
        <c:auto val="1"/>
        <c:lblAlgn val="ctr"/>
        <c:lblOffset val="100"/>
        <c:noMultiLvlLbl val="0"/>
      </c:catAx>
      <c:valAx>
        <c:axId val="29693288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96932496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abr/16</c:v>
                </c:pt>
                <c:pt idx="1">
                  <c:v>mai/16</c:v>
                </c:pt>
              </c:strCache>
            </c:strRef>
          </c:cat>
          <c:val>
            <c:numRef>
              <c:f>Plan1!$B$2:$C$2</c:f>
              <c:numCache>
                <c:formatCode>h:mm:ss</c:formatCode>
                <c:ptCount val="2"/>
                <c:pt idx="0" formatCode="[h]:mm:ss;@">
                  <c:v>0.28469907407407408</c:v>
                </c:pt>
                <c:pt idx="1">
                  <c:v>0.11931799051106748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33672"/>
        <c:axId val="296930928"/>
      </c:barChart>
      <c:catAx>
        <c:axId val="296933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30928"/>
        <c:crosses val="autoZero"/>
        <c:auto val="1"/>
        <c:lblAlgn val="ctr"/>
        <c:lblOffset val="100"/>
        <c:noMultiLvlLbl val="0"/>
      </c:catAx>
      <c:valAx>
        <c:axId val="29693092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96933672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abr/16</c:v>
                </c:pt>
                <c:pt idx="1">
                  <c:v>mai/16</c:v>
                </c:pt>
              </c:strCache>
            </c:strRef>
          </c:cat>
          <c:val>
            <c:numRef>
              <c:f>Plan1!$B$2:$C$2</c:f>
              <c:numCache>
                <c:formatCode>[h]:mm:ss</c:formatCode>
                <c:ptCount val="2"/>
                <c:pt idx="0" formatCode="[h]:mm:ss;@">
                  <c:v>1.134074074074074</c:v>
                </c:pt>
                <c:pt idx="1">
                  <c:v>0.36307566788047074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34064"/>
        <c:axId val="296931712"/>
      </c:barChart>
      <c:catAx>
        <c:axId val="296934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31712"/>
        <c:crosses val="autoZero"/>
        <c:auto val="1"/>
        <c:lblAlgn val="ctr"/>
        <c:lblOffset val="100"/>
        <c:noMultiLvlLbl val="0"/>
      </c:catAx>
      <c:valAx>
        <c:axId val="296931712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96934064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gradFill>
              <a:gsLst>
                <a:gs pos="0">
                  <a:srgbClr val="184E82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rgbClr val="184E82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abr/16</c:v>
                </c:pt>
                <c:pt idx="1">
                  <c:v>mai/16</c:v>
                </c:pt>
              </c:strCache>
            </c:strRef>
          </c:cat>
          <c:val>
            <c:numRef>
              <c:f>Plan1!$B$2:$C$2</c:f>
              <c:numCache>
                <c:formatCode>h:mm:ss</c:formatCode>
                <c:ptCount val="2"/>
                <c:pt idx="0" formatCode="[h]:mm:ss;@">
                  <c:v>0.76219907407407417</c:v>
                </c:pt>
                <c:pt idx="1">
                  <c:v>0.14463541666737001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96927400"/>
        <c:axId val="296926616"/>
      </c:barChart>
      <c:catAx>
        <c:axId val="296927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96926616"/>
        <c:crosses val="autoZero"/>
        <c:auto val="1"/>
        <c:lblAlgn val="ctr"/>
        <c:lblOffset val="100"/>
        <c:noMultiLvlLbl val="0"/>
      </c:catAx>
      <c:valAx>
        <c:axId val="29692661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96927400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84E8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dLbl>
              <c:idx val="0"/>
              <c:layout>
                <c:manualLayout>
                  <c:x val="4.4627421732258829E-3"/>
                  <c:y val="-4.95740663876119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err="1"/>
                      <a:t>Fornecedor Contax; 8; 5%</a:t>
                    </a:r>
                    <a:endParaRPr lang="en-US" b="1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22178940452499404"/>
                  <c:y val="-0.1455725327577016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24541958494949639"/>
                  <c:y val="0.11885978779870761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Plan1!$A$2:$A$4</c:f>
              <c:strCache>
                <c:ptCount val="3"/>
                <c:pt idx="0">
                  <c:v>Fornecedor Contax</c:v>
                </c:pt>
                <c:pt idx="1">
                  <c:v>Suporte Cliente</c:v>
                </c:pt>
                <c:pt idx="2">
                  <c:v>Contax</c:v>
                </c:pt>
              </c:strCache>
            </c:strRef>
          </c:cat>
          <c:val>
            <c:numRef>
              <c:f>Plan1!$G$2:$G$4</c:f>
              <c:numCache>
                <c:formatCode>General</c:formatCode>
                <c:ptCount val="3"/>
                <c:pt idx="0">
                  <c:v>8</c:v>
                </c:pt>
                <c:pt idx="1">
                  <c:v>61</c:v>
                </c:pt>
                <c:pt idx="2">
                  <c:v>114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172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'[Relatorio Gmud Mensal.xlsb]Book TI'!$C$1</c:f>
              <c:strCache>
                <c:ptCount val="1"/>
                <c:pt idx="0">
                  <c:v>Canceladas</c:v>
                </c:pt>
              </c:strCache>
            </c:strRef>
          </c:tx>
          <c:spPr>
            <a:gradFill>
              <a:gsLst>
                <a:gs pos="0">
                  <a:srgbClr val="FF0000"/>
                </a:gs>
                <a:gs pos="50000">
                  <a:srgbClr val="FC8E8E"/>
                </a:gs>
                <a:gs pos="100000">
                  <a:srgbClr val="C00000"/>
                </a:gs>
              </a:gsLst>
              <a:lin ang="10800000" scaled="0"/>
            </a:gra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'[Relatorio Gmud Mensal.xlsb]Book TI'!$A$2:$A$6</c:f>
              <c:strCache>
                <c:ptCount val="5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</c:strCache>
            </c:strRef>
          </c:cat>
          <c:val>
            <c:numRef>
              <c:f>'[Relatorio Gmud Mensal.xlsb]Book TI'!$C$2:$C$6</c:f>
              <c:numCache>
                <c:formatCode>General</c:formatCode>
                <c:ptCount val="5"/>
                <c:pt idx="0">
                  <c:v>39</c:v>
                </c:pt>
                <c:pt idx="1">
                  <c:v>40</c:v>
                </c:pt>
                <c:pt idx="2">
                  <c:v>78</c:v>
                </c:pt>
                <c:pt idx="3">
                  <c:v>58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'[Relatorio Gmud Mensal.xlsb]Book TI'!$D$1</c:f>
              <c:strCache>
                <c:ptCount val="1"/>
                <c:pt idx="0">
                  <c:v>Implantadas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chemeClr val="tx2"/>
                </a:gs>
              </a:gsLst>
              <a:lin ang="10800000" scaled="0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'[Relatorio Gmud Mensal.xlsb]Book TI'!$A$2:$A$6</c:f>
              <c:strCache>
                <c:ptCount val="5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</c:strCache>
            </c:strRef>
          </c:cat>
          <c:val>
            <c:numRef>
              <c:f>'[Relatorio Gmud Mensal.xlsb]Book TI'!$D$2:$D$6</c:f>
              <c:numCache>
                <c:formatCode>General</c:formatCode>
                <c:ptCount val="5"/>
                <c:pt idx="0">
                  <c:v>160</c:v>
                </c:pt>
                <c:pt idx="1">
                  <c:v>167</c:v>
                </c:pt>
                <c:pt idx="2">
                  <c:v>169</c:v>
                </c:pt>
                <c:pt idx="3">
                  <c:v>192</c:v>
                </c:pt>
                <c:pt idx="4">
                  <c:v>206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50828488"/>
        <c:axId val="250835152"/>
      </c:barChart>
      <c:lineChart>
        <c:grouping val="standard"/>
        <c:varyColors val="0"/>
        <c:ser>
          <c:idx val="2"/>
          <c:order val="2"/>
          <c:tx>
            <c:v>Total Coordenadas</c:v>
          </c:tx>
          <c:spPr>
            <a:ln>
              <a:solidFill>
                <a:schemeClr val="bg1">
                  <a:lumMod val="50000"/>
                </a:schemeClr>
              </a:solidFill>
              <a:prstDash val="sysDash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>
                        <a:lumMod val="50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'[Relatorio Gmud Mensal.xlsb]Book TI'!$B$2:$B$6</c:f>
              <c:numCache>
                <c:formatCode>General</c:formatCode>
                <c:ptCount val="5"/>
                <c:pt idx="0">
                  <c:v>199</c:v>
                </c:pt>
                <c:pt idx="1">
                  <c:v>207</c:v>
                </c:pt>
                <c:pt idx="2">
                  <c:v>247</c:v>
                </c:pt>
                <c:pt idx="3">
                  <c:v>250</c:v>
                </c:pt>
                <c:pt idx="4">
                  <c:v>258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0828488"/>
        <c:axId val="250835152"/>
      </c:lineChart>
      <c:catAx>
        <c:axId val="250828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250835152"/>
        <c:crosses val="autoZero"/>
        <c:auto val="1"/>
        <c:lblAlgn val="ctr"/>
        <c:lblOffset val="100"/>
        <c:noMultiLvlLbl val="1"/>
      </c:catAx>
      <c:valAx>
        <c:axId val="2508351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50828488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91495620533894"/>
          <c:y val="0"/>
          <c:w val="0.55873398773793903"/>
          <c:h val="1"/>
        </c:manualLayout>
      </c:layout>
      <c:pieChart>
        <c:varyColors val="1"/>
        <c:ser>
          <c:idx val="0"/>
          <c:order val="0"/>
          <c:tx>
            <c:strRef>
              <c:f>'[Relatorio Gmud Mensal.xlsb]Book TI'!$A$11</c:f>
              <c:strCache>
                <c:ptCount val="1"/>
                <c:pt idx="0">
                  <c:v>Total Implantadas  (excluindo as canceladas)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</c:spPr>
          </c:dPt>
          <c:dPt>
            <c:idx val="1"/>
            <c:bubble3D val="0"/>
            <c:spPr>
              <a:solidFill>
                <a:schemeClr val="tx2"/>
              </a:solidFill>
            </c:spPr>
          </c:dPt>
          <c:dLbls>
            <c:dLbl>
              <c:idx val="0"/>
              <c:layout>
                <c:manualLayout>
                  <c:x val="-0.14940567561385187"/>
                  <c:y val="0.22575002262648203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13953691164751295"/>
                  <c:y val="-0.2715206806045796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'[Relatorio Gmud Mensal.xlsb]Book TI'!$C$1:$D$1</c:f>
              <c:strCache>
                <c:ptCount val="2"/>
                <c:pt idx="0">
                  <c:v>Canceladas</c:v>
                </c:pt>
                <c:pt idx="1">
                  <c:v>Implantadas</c:v>
                </c:pt>
              </c:strCache>
            </c:strRef>
          </c:cat>
          <c:val>
            <c:numRef>
              <c:f>'[Relatorio Gmud Mensal.xlsb]Book TI'!$C$6:$D$6</c:f>
              <c:numCache>
                <c:formatCode>General</c:formatCode>
                <c:ptCount val="2"/>
                <c:pt idx="0">
                  <c:v>52</c:v>
                </c:pt>
                <c:pt idx="1">
                  <c:v>206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'[Relatorio Gmud Mensal.xlsb]Book TI'!$A$11</c:f>
              <c:strCache>
                <c:ptCount val="1"/>
                <c:pt idx="0">
                  <c:v>Total Implantadas  (excluindo as canceladas)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chemeClr val="tx2"/>
                </a:gs>
              </a:gsLst>
              <a:lin ang="10800000" scaled="0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'[Relatorio Gmud Mensal.xlsb]Book TI'!$B$11:$D$11</c:f>
              <c:strCache>
                <c:ptCount val="3"/>
                <c:pt idx="0">
                  <c:v>Programas</c:v>
                </c:pt>
                <c:pt idx="1">
                  <c:v>Técnicas</c:v>
                </c:pt>
                <c:pt idx="2">
                  <c:v>Emergenciais</c:v>
                </c:pt>
              </c:strCache>
            </c:strRef>
          </c:cat>
          <c:val>
            <c:numRef>
              <c:f>'[Relatorio Gmud Mensal.xlsb]Book TI'!$B$16:$D$16</c:f>
              <c:numCache>
                <c:formatCode>General</c:formatCode>
                <c:ptCount val="3"/>
                <c:pt idx="0">
                  <c:v>131</c:v>
                </c:pt>
                <c:pt idx="1">
                  <c:v>54</c:v>
                </c:pt>
                <c:pt idx="2">
                  <c:v>21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50831232"/>
        <c:axId val="250834760"/>
      </c:barChart>
      <c:catAx>
        <c:axId val="250831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250834760"/>
        <c:crosses val="autoZero"/>
        <c:auto val="1"/>
        <c:lblAlgn val="ctr"/>
        <c:lblOffset val="100"/>
        <c:noMultiLvlLbl val="1"/>
      </c:catAx>
      <c:valAx>
        <c:axId val="250834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50831232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10/06/2016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44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3623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4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34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07950" y="733425"/>
            <a:ext cx="6508750" cy="36655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  <a:latin typeface="Calibri"/>
              </a:rPr>
              <a:pPr/>
              <a:t>18</a:t>
            </a:fld>
            <a:endParaRPr lang="pt-BR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087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69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258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999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 de "</a:t>
            </a:r>
            <a:r>
              <a:rPr lang="pt-BR" sz="1200" b="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freeze</a:t>
            </a:r>
            <a:r>
              <a:rPr lang="pt-BR" sz="1200" b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", não houve intervenção.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194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323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Risco: Como o modelo de contratação é “spot”, será necessário adequar as demandas ao nosso prazo de execução, tendo em vista que estes recursos são suportados pelo contrato de outro cliente.  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680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30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8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5508" y="1582714"/>
            <a:ext cx="5886194" cy="106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6/10/2016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1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4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emf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9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chart" Target="../charts/chart1.xml"/><Relationship Id="rId9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1.em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image" Target="../media/image4.png"/><Relationship Id="rId7" Type="http://schemas.openxmlformats.org/officeDocument/2006/relationships/chart" Target="../charts/chart9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image" Target="../media/image4.png"/><Relationship Id="rId7" Type="http://schemas.openxmlformats.org/officeDocument/2006/relationships/chart" Target="../charts/chart13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4.png"/><Relationship Id="rId7" Type="http://schemas.openxmlformats.org/officeDocument/2006/relationships/chart" Target="../charts/chart15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slide" Target="slide14.xml"/><Relationship Id="rId10" Type="http://schemas.openxmlformats.org/officeDocument/2006/relationships/image" Target="../media/image19.emf"/><Relationship Id="rId4" Type="http://schemas.openxmlformats.org/officeDocument/2006/relationships/image" Target="../media/image5.jpg"/><Relationship Id="rId9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4.png"/><Relationship Id="rId7" Type="http://schemas.openxmlformats.org/officeDocument/2006/relationships/image" Target="../media/image2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10" Type="http://schemas.openxmlformats.org/officeDocument/2006/relationships/image" Target="../media/image24.png"/><Relationship Id="rId4" Type="http://schemas.openxmlformats.org/officeDocument/2006/relationships/image" Target="../media/image5.jpg"/><Relationship Id="rId9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4.png"/><Relationship Id="rId7" Type="http://schemas.openxmlformats.org/officeDocument/2006/relationships/image" Target="../media/image26.emf"/><Relationship Id="rId12" Type="http://schemas.openxmlformats.org/officeDocument/2006/relationships/image" Target="../media/image20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11" Type="http://schemas.openxmlformats.org/officeDocument/2006/relationships/image" Target="../media/image30.emf"/><Relationship Id="rId5" Type="http://schemas.openxmlformats.org/officeDocument/2006/relationships/slide" Target="slide12.xml"/><Relationship Id="rId10" Type="http://schemas.openxmlformats.org/officeDocument/2006/relationships/image" Target="../media/image29.emf"/><Relationship Id="rId4" Type="http://schemas.openxmlformats.org/officeDocument/2006/relationships/image" Target="../media/image5.jpg"/><Relationship Id="rId9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4.png"/><Relationship Id="rId7" Type="http://schemas.openxmlformats.org/officeDocument/2006/relationships/image" Target="../media/image3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slide" Target="slide13.xml"/><Relationship Id="rId4" Type="http://schemas.openxmlformats.org/officeDocument/2006/relationships/image" Target="../media/image5.jpg"/><Relationship Id="rId9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6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5.emf"/><Relationship Id="rId4" Type="http://schemas.openxmlformats.org/officeDocument/2006/relationships/image" Target="../media/image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jpg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4.png"/><Relationship Id="rId7" Type="http://schemas.openxmlformats.org/officeDocument/2006/relationships/slide" Target="slide3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1.emf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jpg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.png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emf"/><Relationship Id="rId5" Type="http://schemas.openxmlformats.org/officeDocument/2006/relationships/image" Target="../media/image1.emf"/><Relationship Id="rId10" Type="http://schemas.openxmlformats.org/officeDocument/2006/relationships/image" Target="../media/image47.png"/><Relationship Id="rId4" Type="http://schemas.openxmlformats.org/officeDocument/2006/relationships/image" Target="../media/image9.png"/><Relationship Id="rId9" Type="http://schemas.openxmlformats.org/officeDocument/2006/relationships/slide" Target="slide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502222"/>
            <a:ext cx="9144000" cy="873740"/>
          </a:xfrm>
          <a:prstGeom prst="rect">
            <a:avLst/>
          </a:prstGeom>
        </p:spPr>
        <p:txBody>
          <a:bodyPr vert="horz" lIns="91431" tIns="45715" rIns="91431" bIns="4571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Estabilidade</a:t>
            </a:r>
            <a:r>
              <a:rPr lang="en-US" sz="2400" b="1" dirty="0" smtClean="0">
                <a:solidFill>
                  <a:srgbClr val="254061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Operacional</a:t>
            </a:r>
            <a:endParaRPr lang="en-US" sz="2400" b="1" dirty="0" smtClean="0">
              <a:solidFill>
                <a:srgbClr val="254061"/>
              </a:solidFill>
              <a:latin typeface="Arial"/>
              <a:cs typeface="Arial"/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254061"/>
                </a:solidFill>
                <a:latin typeface="Arial"/>
                <a:cs typeface="Arial"/>
              </a:rPr>
              <a:t>9</a:t>
            </a: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 </a:t>
            </a:r>
            <a:r>
              <a:rPr lang="en-US" sz="2000" dirty="0" err="1" smtClean="0">
                <a:solidFill>
                  <a:srgbClr val="254061"/>
                </a:solidFill>
                <a:latin typeface="Arial"/>
                <a:cs typeface="Arial"/>
              </a:rPr>
              <a:t>Junho</a:t>
            </a: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 de 2016</a:t>
            </a:r>
          </a:p>
        </p:txBody>
      </p:sp>
    </p:spTree>
    <p:extLst>
      <p:ext uri="{BB962C8B-B14F-4D97-AF65-F5344CB8AC3E}">
        <p14:creationId xmlns:p14="http://schemas.microsoft.com/office/powerpoint/2010/main" val="28576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totais de Incidentes </a:t>
            </a:r>
          </a:p>
          <a:p>
            <a:pPr algn="l">
              <a:buClr>
                <a:srgbClr val="800000"/>
              </a:buClr>
            </a:pPr>
            <a:r>
              <a:rPr lang="pt-PT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Gerenciamento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Incidentes – Alto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Tempo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médio entre F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alhas e de Resolução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Incidentes Alto Impacto – Por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Clientes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Alto Impacto – Por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Resolvedor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Mudança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 Indicadores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Business Case para Upgrade do </a:t>
            </a:r>
            <a:r>
              <a:rPr lang="pt-BR" sz="1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14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Estruturantes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251729" y="778358"/>
          <a:ext cx="4924776" cy="3131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72128"/>
            <a:ext cx="6254098" cy="5598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Indicadores: Total de Incidentes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190"/>
            <a:ext cx="247650" cy="17604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grpSp>
        <p:nvGrpSpPr>
          <p:cNvPr id="7" name="Grupo 6"/>
          <p:cNvGrpSpPr/>
          <p:nvPr/>
        </p:nvGrpSpPr>
        <p:grpSpPr>
          <a:xfrm>
            <a:off x="719573" y="3727022"/>
            <a:ext cx="3806717" cy="358459"/>
            <a:chOff x="600655" y="3107981"/>
            <a:chExt cx="4515464" cy="290950"/>
          </a:xfrm>
        </p:grpSpPr>
        <p:sp>
          <p:nvSpPr>
            <p:cNvPr id="16" name="CaixaDeTexto 15"/>
            <p:cNvSpPr txBox="1"/>
            <p:nvPr/>
          </p:nvSpPr>
          <p:spPr>
            <a:xfrm>
              <a:off x="751248" y="3211566"/>
              <a:ext cx="615911" cy="187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00B050"/>
                  </a:solidFill>
                </a:rPr>
                <a:t>-10,8%</a:t>
              </a:r>
            </a:p>
          </p:txBody>
        </p:sp>
        <p:sp>
          <p:nvSpPr>
            <p:cNvPr id="19" name="Chave esquerda 18"/>
            <p:cNvSpPr/>
            <p:nvPr/>
          </p:nvSpPr>
          <p:spPr>
            <a:xfrm rot="16200000">
              <a:off x="961980" y="2746656"/>
              <a:ext cx="103584" cy="826233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1670152" y="3211568"/>
              <a:ext cx="615911" cy="187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00B050"/>
                  </a:solidFill>
                </a:rPr>
                <a:t>-9,2%</a:t>
              </a:r>
            </a:p>
          </p:txBody>
        </p:sp>
        <p:sp>
          <p:nvSpPr>
            <p:cNvPr id="30" name="Chave esquerda 29"/>
            <p:cNvSpPr/>
            <p:nvPr/>
          </p:nvSpPr>
          <p:spPr>
            <a:xfrm rot="16200000">
              <a:off x="1880884" y="2746658"/>
              <a:ext cx="103584" cy="826233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2597069" y="3211570"/>
              <a:ext cx="615911" cy="187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chemeClr val="accent2"/>
                  </a:solidFill>
                </a:rPr>
                <a:t>+7,5%</a:t>
              </a:r>
            </a:p>
          </p:txBody>
        </p:sp>
        <p:sp>
          <p:nvSpPr>
            <p:cNvPr id="32" name="Chave esquerda 31"/>
            <p:cNvSpPr/>
            <p:nvPr/>
          </p:nvSpPr>
          <p:spPr>
            <a:xfrm rot="16200000">
              <a:off x="2807801" y="2746660"/>
              <a:ext cx="103584" cy="826233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3526079" y="3211566"/>
              <a:ext cx="615911" cy="187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00B050"/>
                  </a:solidFill>
                </a:rPr>
                <a:t>-3,6%</a:t>
              </a:r>
            </a:p>
          </p:txBody>
        </p:sp>
        <p:sp>
          <p:nvSpPr>
            <p:cNvPr id="34" name="Chave esquerda 33"/>
            <p:cNvSpPr/>
            <p:nvPr/>
          </p:nvSpPr>
          <p:spPr>
            <a:xfrm rot="16200000">
              <a:off x="3736811" y="2746656"/>
              <a:ext cx="103584" cy="826233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CaixaDeTexto 34"/>
            <p:cNvSpPr txBox="1"/>
            <p:nvPr/>
          </p:nvSpPr>
          <p:spPr>
            <a:xfrm>
              <a:off x="4440479" y="3211572"/>
              <a:ext cx="615911" cy="187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00B050"/>
                  </a:solidFill>
                </a:rPr>
                <a:t>-2,6%</a:t>
              </a:r>
            </a:p>
          </p:txBody>
        </p:sp>
        <p:sp>
          <p:nvSpPr>
            <p:cNvPr id="36" name="Chave esquerda 35"/>
            <p:cNvSpPr/>
            <p:nvPr/>
          </p:nvSpPr>
          <p:spPr>
            <a:xfrm rot="16200000">
              <a:off x="4651211" y="2746662"/>
              <a:ext cx="103584" cy="826233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187" y="1363199"/>
            <a:ext cx="3392660" cy="994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188" y="2940166"/>
            <a:ext cx="3367381" cy="1145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792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2" y="302231"/>
            <a:ext cx="184731" cy="3689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62" y="438264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3211194822"/>
              </p:ext>
            </p:extLst>
          </p:nvPr>
        </p:nvGraphicFramePr>
        <p:xfrm>
          <a:off x="84083" y="797172"/>
          <a:ext cx="4298732" cy="2586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>
              <p:ext uri="{D42A27DB-BD31-4B8C-83A1-F6EECF244321}">
                <p14:modId xmlns:p14="http://schemas.microsoft.com/office/powerpoint/2010/main" val="2812034725"/>
              </p:ext>
            </p:extLst>
          </p:nvPr>
        </p:nvGraphicFramePr>
        <p:xfrm>
          <a:off x="4607170" y="778358"/>
          <a:ext cx="4376834" cy="2640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17"/>
            <a:ext cx="786452" cy="773543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436356" y="3275364"/>
            <a:ext cx="615911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-85,9%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196388" y="3288549"/>
            <a:ext cx="552090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-2,9%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853885" y="3275364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-11,8%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061610" y="3275485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-86,0%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5755297" y="3275364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FF0000"/>
                </a:solidFill>
                <a:latin typeface="Calibri"/>
              </a:rPr>
              <a:t>+3,8%</a:t>
            </a:r>
          </a:p>
        </p:txBody>
      </p:sp>
      <p:pic>
        <p:nvPicPr>
          <p:cNvPr id="21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2559229" y="3288791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FF0000"/>
                </a:solidFill>
                <a:latin typeface="Calibri"/>
              </a:rPr>
              <a:t>1,7%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492009" y="3275485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-17,4%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197353" y="3288791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FF0000"/>
                </a:solidFill>
                <a:latin typeface="Calibri"/>
              </a:rPr>
              <a:t>+5,0%</a:t>
            </a:r>
          </a:p>
        </p:txBody>
      </p:sp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786452" y="52325"/>
            <a:ext cx="6739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– Alto Impacto</a:t>
            </a:r>
          </a:p>
        </p:txBody>
      </p:sp>
      <p:sp>
        <p:nvSpPr>
          <p:cNvPr id="2" name="Chave esquerda 1"/>
          <p:cNvSpPr/>
          <p:nvPr/>
        </p:nvSpPr>
        <p:spPr>
          <a:xfrm rot="16200000">
            <a:off x="735650" y="2863861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have esquerda 30"/>
          <p:cNvSpPr/>
          <p:nvPr/>
        </p:nvSpPr>
        <p:spPr>
          <a:xfrm rot="16200000">
            <a:off x="1442207" y="2863862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have esquerda 31"/>
          <p:cNvSpPr/>
          <p:nvPr/>
        </p:nvSpPr>
        <p:spPr>
          <a:xfrm rot="16200000">
            <a:off x="2178919" y="2863861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have esquerda 33"/>
          <p:cNvSpPr/>
          <p:nvPr/>
        </p:nvSpPr>
        <p:spPr>
          <a:xfrm rot="16200000">
            <a:off x="2884263" y="2863862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have esquerda 38"/>
          <p:cNvSpPr/>
          <p:nvPr/>
        </p:nvSpPr>
        <p:spPr>
          <a:xfrm rot="16200000">
            <a:off x="3610675" y="2863860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/>
          <p:cNvSpPr txBox="1"/>
          <p:nvPr/>
        </p:nvSpPr>
        <p:spPr>
          <a:xfrm>
            <a:off x="3311999" y="3288549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FFC000"/>
                </a:solidFill>
                <a:latin typeface="Calibri"/>
              </a:rPr>
              <a:t>0%</a:t>
            </a:r>
          </a:p>
        </p:txBody>
      </p:sp>
      <p:sp>
        <p:nvSpPr>
          <p:cNvPr id="48" name="Chave esquerda 47"/>
          <p:cNvSpPr/>
          <p:nvPr/>
        </p:nvSpPr>
        <p:spPr>
          <a:xfrm rot="16200000">
            <a:off x="5360905" y="2863860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have esquerda 48"/>
          <p:cNvSpPr/>
          <p:nvPr/>
        </p:nvSpPr>
        <p:spPr>
          <a:xfrm rot="16200000">
            <a:off x="6067462" y="2863861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have esquerda 49"/>
          <p:cNvSpPr/>
          <p:nvPr/>
        </p:nvSpPr>
        <p:spPr>
          <a:xfrm rot="16200000">
            <a:off x="6804174" y="2863860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have esquerda 50"/>
          <p:cNvSpPr/>
          <p:nvPr/>
        </p:nvSpPr>
        <p:spPr>
          <a:xfrm rot="16200000">
            <a:off x="7509518" y="2863861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have esquerda 51"/>
          <p:cNvSpPr/>
          <p:nvPr/>
        </p:nvSpPr>
        <p:spPr>
          <a:xfrm rot="16200000">
            <a:off x="8235930" y="2863859"/>
            <a:ext cx="60455" cy="6590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/>
          <p:cNvSpPr txBox="1"/>
          <p:nvPr/>
        </p:nvSpPr>
        <p:spPr>
          <a:xfrm>
            <a:off x="7923765" y="3288549"/>
            <a:ext cx="684782" cy="2613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-3,3%</a:t>
            </a:r>
          </a:p>
        </p:txBody>
      </p:sp>
      <p:sp>
        <p:nvSpPr>
          <p:cNvPr id="43" name="Chave esquerda 42"/>
          <p:cNvSpPr/>
          <p:nvPr/>
        </p:nvSpPr>
        <p:spPr>
          <a:xfrm rot="16200000">
            <a:off x="2144405" y="1733857"/>
            <a:ext cx="60455" cy="3856889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/>
          <p:cNvSpPr txBox="1"/>
          <p:nvPr/>
        </p:nvSpPr>
        <p:spPr>
          <a:xfrm>
            <a:off x="1928341" y="3849551"/>
            <a:ext cx="615911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rgbClr val="00B050"/>
                </a:solidFill>
                <a:latin typeface="Calibri"/>
              </a:rPr>
              <a:t>-</a:t>
            </a:r>
            <a:r>
              <a:rPr lang="pt-BR" sz="1100" b="1" dirty="0" smtClean="0">
                <a:solidFill>
                  <a:srgbClr val="00B050"/>
                </a:solidFill>
                <a:latin typeface="Calibri"/>
              </a:rPr>
              <a:t>87,8%</a:t>
            </a:r>
            <a:endParaRPr lang="pt-BR" sz="1100" b="1" dirty="0">
              <a:solidFill>
                <a:srgbClr val="00B05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1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20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576558" y="889434"/>
            <a:ext cx="37537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1400" dirty="0">
                <a:solidFill>
                  <a:schemeClr val="accent2">
                    <a:lumMod val="75000"/>
                  </a:schemeClr>
                </a:solidFill>
              </a:rPr>
              <a:t>Incidentes de Alto Impacto  (Crítico + Muito Alto)</a:t>
            </a:r>
          </a:p>
          <a:p>
            <a:pPr algn="ctr">
              <a:defRPr/>
            </a:pPr>
            <a:r>
              <a:rPr lang="pt-BR" sz="1400" dirty="0">
                <a:solidFill>
                  <a:schemeClr val="accent2">
                    <a:lumMod val="75000"/>
                  </a:schemeClr>
                </a:solidFill>
              </a:rPr>
              <a:t>separados por responsabilidade pela resolução</a:t>
            </a:r>
          </a:p>
        </p:txBody>
      </p:sp>
      <p:graphicFrame>
        <p:nvGraphicFramePr>
          <p:cNvPr id="4" name="Gráfico 3"/>
          <p:cNvGraphicFramePr/>
          <p:nvPr>
            <p:extLst>
              <p:ext uri="{D42A27DB-BD31-4B8C-83A1-F6EECF244321}">
                <p14:modId xmlns:p14="http://schemas.microsoft.com/office/powerpoint/2010/main" val="2106786004"/>
              </p:ext>
            </p:extLst>
          </p:nvPr>
        </p:nvGraphicFramePr>
        <p:xfrm>
          <a:off x="1" y="1549745"/>
          <a:ext cx="4695825" cy="307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4036039896"/>
              </p:ext>
            </p:extLst>
          </p:nvPr>
        </p:nvGraphicFramePr>
        <p:xfrm>
          <a:off x="4385782" y="1523419"/>
          <a:ext cx="4695825" cy="307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4496185" y="889434"/>
            <a:ext cx="458619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1400" dirty="0">
                <a:solidFill>
                  <a:schemeClr val="accent2">
                    <a:lumMod val="75000"/>
                  </a:schemeClr>
                </a:solidFill>
              </a:rPr>
              <a:t>Incidentes de Alto Impacto, separados por responsabilidade </a:t>
            </a:r>
          </a:p>
          <a:p>
            <a:pPr algn="ctr">
              <a:defRPr/>
            </a:pPr>
            <a:r>
              <a:rPr lang="pt-BR" sz="1400" dirty="0">
                <a:solidFill>
                  <a:schemeClr val="accent2">
                    <a:lumMod val="75000"/>
                  </a:schemeClr>
                </a:solidFill>
              </a:rPr>
              <a:t>pela resolução, </a:t>
            </a:r>
            <a:r>
              <a:rPr lang="pt-BR" sz="1600" b="1" dirty="0">
                <a:solidFill>
                  <a:schemeClr val="accent2">
                    <a:lumMod val="75000"/>
                  </a:schemeClr>
                </a:solidFill>
              </a:rPr>
              <a:t>sem incidentes de gravação - NICE</a:t>
            </a:r>
            <a:endParaRPr lang="pt-BR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359725" y="4132330"/>
            <a:ext cx="574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183</a:t>
            </a:r>
            <a:endParaRPr lang="pt-BR" b="1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4930617" y="4135233"/>
            <a:ext cx="574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139</a:t>
            </a:r>
            <a:endParaRPr lang="pt-BR" b="1" dirty="0"/>
          </a:p>
        </p:txBody>
      </p:sp>
      <p:sp>
        <p:nvSpPr>
          <p:cNvPr id="6" name="Seta para a direita 5"/>
          <p:cNvSpPr/>
          <p:nvPr/>
        </p:nvSpPr>
        <p:spPr>
          <a:xfrm>
            <a:off x="2568508" y="4382295"/>
            <a:ext cx="3856892" cy="5413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Redução sem incidentes de Gravadores</a:t>
            </a:r>
            <a:endParaRPr lang="pt-BR" sz="1600" dirty="0"/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788988" y="-27208"/>
            <a:ext cx="67397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– 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80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10318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Gráfico 16"/>
          <p:cNvGraphicFramePr>
            <a:graphicFrameLocks/>
          </p:cNvGraphicFramePr>
          <p:nvPr>
            <p:extLst/>
          </p:nvPr>
        </p:nvGraphicFramePr>
        <p:xfrm>
          <a:off x="65375" y="104815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Chave direita 5"/>
          <p:cNvSpPr>
            <a:spLocks noChangeAspect="1"/>
          </p:cNvSpPr>
          <p:nvPr/>
        </p:nvSpPr>
        <p:spPr>
          <a:xfrm rot="5400000">
            <a:off x="2234443" y="2767622"/>
            <a:ext cx="266795" cy="2204379"/>
          </a:xfrm>
          <a:prstGeom prst="rightBrace">
            <a:avLst>
              <a:gd name="adj1" fmla="val 8333"/>
              <a:gd name="adj2" fmla="val 5106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/>
          <p:cNvSpPr txBox="1"/>
          <p:nvPr/>
        </p:nvSpPr>
        <p:spPr>
          <a:xfrm>
            <a:off x="1811823" y="4131475"/>
            <a:ext cx="11063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smtClean="0">
                <a:solidFill>
                  <a:srgbClr val="19345B"/>
                </a:solidFill>
              </a:rPr>
              <a:t>Média mês: 16</a:t>
            </a:r>
          </a:p>
          <a:p>
            <a:r>
              <a:rPr lang="pt-BR" sz="1100" b="1" dirty="0" smtClean="0">
                <a:solidFill>
                  <a:srgbClr val="19345B"/>
                </a:solidFill>
              </a:rPr>
              <a:t>Média Dia: 0,53</a:t>
            </a:r>
            <a:endParaRPr lang="pt-BR" sz="1100" b="1" dirty="0">
              <a:solidFill>
                <a:srgbClr val="19345B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630191" y="1632769"/>
            <a:ext cx="1526875" cy="369332"/>
          </a:xfrm>
          <a:prstGeom prst="rect">
            <a:avLst/>
          </a:prstGeom>
          <a:gradFill>
            <a:gsLst>
              <a:gs pos="0">
                <a:srgbClr val="184E82"/>
              </a:gs>
              <a:gs pos="50000">
                <a:srgbClr val="226DB8"/>
              </a:gs>
              <a:gs pos="100000">
                <a:srgbClr val="184E82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Ações do CSE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630191" y="2820289"/>
            <a:ext cx="2374121" cy="369332"/>
          </a:xfrm>
          <a:prstGeom prst="rect">
            <a:avLst/>
          </a:prstGeom>
          <a:gradFill>
            <a:gsLst>
              <a:gs pos="0">
                <a:srgbClr val="184E82"/>
              </a:gs>
              <a:gs pos="50000">
                <a:srgbClr val="226DB8"/>
              </a:gs>
              <a:gs pos="100000">
                <a:srgbClr val="184E82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Abertura de Problema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630190" y="3947427"/>
            <a:ext cx="2761796" cy="923330"/>
          </a:xfrm>
          <a:prstGeom prst="rect">
            <a:avLst/>
          </a:prstGeom>
          <a:gradFill>
            <a:gsLst>
              <a:gs pos="0">
                <a:srgbClr val="184E82"/>
              </a:gs>
              <a:gs pos="50000">
                <a:srgbClr val="226DB8"/>
              </a:gs>
              <a:gs pos="100000">
                <a:srgbClr val="184E82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Maio = 1,93 Incidentes/dia</a:t>
            </a:r>
          </a:p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Junho = 0,8 Incidentes/dia</a:t>
            </a:r>
          </a:p>
          <a:p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Diminuição de 58,6%</a:t>
            </a:r>
          </a:p>
        </p:txBody>
      </p:sp>
      <p:cxnSp>
        <p:nvCxnSpPr>
          <p:cNvPr id="7" name="Conector angulado 6"/>
          <p:cNvCxnSpPr>
            <a:stCxn id="17" idx="3"/>
            <a:endCxn id="3" idx="1"/>
          </p:cNvCxnSpPr>
          <p:nvPr/>
        </p:nvCxnSpPr>
        <p:spPr>
          <a:xfrm flipV="1">
            <a:off x="4637376" y="1817436"/>
            <a:ext cx="992815" cy="602321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do 13"/>
          <p:cNvCxnSpPr>
            <a:endCxn id="20" idx="1"/>
          </p:cNvCxnSpPr>
          <p:nvPr/>
        </p:nvCxnSpPr>
        <p:spPr>
          <a:xfrm>
            <a:off x="4637376" y="2419757"/>
            <a:ext cx="992815" cy="585199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ave direita 27"/>
          <p:cNvSpPr>
            <a:spLocks noChangeAspect="1"/>
          </p:cNvSpPr>
          <p:nvPr/>
        </p:nvSpPr>
        <p:spPr>
          <a:xfrm rot="5400000">
            <a:off x="6842170" y="2126471"/>
            <a:ext cx="174811" cy="296031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2303238" y="890903"/>
            <a:ext cx="452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Incidentes de Alto Impacto – Gravadores Nice</a:t>
            </a:r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535370" y="-66764"/>
            <a:ext cx="67397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– 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13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05792" y="464833"/>
            <a:ext cx="1346808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23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Timeline</a:t>
            </a:r>
            <a:endParaRPr lang="it-IT" sz="23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</p:txBody>
      </p:sp>
      <p:cxnSp>
        <p:nvCxnSpPr>
          <p:cNvPr id="90" name="OTLSHAPE_TB_00000000000000000000000000000000_Separator1"/>
          <p:cNvCxnSpPr/>
          <p:nvPr>
            <p:custDataLst>
              <p:tags r:id="rId1"/>
            </p:custDataLst>
          </p:nvPr>
        </p:nvCxnSpPr>
        <p:spPr>
          <a:xfrm>
            <a:off x="1218975" y="771067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OTLSHAPE_TB_00000000000000000000000000000000_Separator1"/>
          <p:cNvCxnSpPr/>
          <p:nvPr>
            <p:custDataLst>
              <p:tags r:id="rId2"/>
            </p:custDataLst>
          </p:nvPr>
        </p:nvCxnSpPr>
        <p:spPr>
          <a:xfrm>
            <a:off x="2024517" y="763812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OTLSHAPE_TB_00000000000000000000000000000000_Separator1"/>
          <p:cNvCxnSpPr/>
          <p:nvPr>
            <p:custDataLst>
              <p:tags r:id="rId3"/>
            </p:custDataLst>
          </p:nvPr>
        </p:nvCxnSpPr>
        <p:spPr>
          <a:xfrm>
            <a:off x="2808287" y="763812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ight Arrow 17"/>
          <p:cNvSpPr/>
          <p:nvPr/>
        </p:nvSpPr>
        <p:spPr>
          <a:xfrm>
            <a:off x="393981" y="609058"/>
            <a:ext cx="8416749" cy="1131607"/>
          </a:xfrm>
          <a:prstGeom prst="rightArrow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6108"/>
            <a:r>
              <a:rPr lang="pt-BR" sz="1051" dirty="0" smtClean="0">
                <a:solidFill>
                  <a:prstClr val="white"/>
                </a:solidFill>
              </a:rPr>
              <a:t>TRAVAMENTO CORES</a:t>
            </a:r>
            <a:endParaRPr lang="pt-BR" sz="1051" dirty="0">
              <a:solidFill>
                <a:prstClr val="white"/>
              </a:solidFill>
            </a:endParaRPr>
          </a:p>
        </p:txBody>
      </p:sp>
      <p:graphicFrame>
        <p:nvGraphicFramePr>
          <p:cNvPr id="114" name="Tabela 113"/>
          <p:cNvGraphicFramePr>
            <a:graphicFrameLocks noGrp="1"/>
          </p:cNvGraphicFramePr>
          <p:nvPr>
            <p:extLst/>
          </p:nvPr>
        </p:nvGraphicFramePr>
        <p:xfrm>
          <a:off x="1007775" y="1164550"/>
          <a:ext cx="926302" cy="222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302"/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u="none" strike="noStrike" dirty="0" smtClean="0">
                          <a:effectLst/>
                        </a:rPr>
                        <a:t>12/Mai</a:t>
                      </a:r>
                      <a:endParaRPr lang="pt-BR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39" name="Elipse 138"/>
          <p:cNvSpPr/>
          <p:nvPr/>
        </p:nvSpPr>
        <p:spPr>
          <a:xfrm>
            <a:off x="1298201" y="932008"/>
            <a:ext cx="278814" cy="230525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/>
              <a:t>1</a:t>
            </a:r>
            <a:endParaRPr lang="pt-BR" sz="1400" dirty="0"/>
          </a:p>
        </p:txBody>
      </p:sp>
      <p:graphicFrame>
        <p:nvGraphicFramePr>
          <p:cNvPr id="141" name="Tabela 140"/>
          <p:cNvGraphicFramePr>
            <a:graphicFrameLocks noGrp="1"/>
          </p:cNvGraphicFramePr>
          <p:nvPr>
            <p:extLst/>
          </p:nvPr>
        </p:nvGraphicFramePr>
        <p:xfrm>
          <a:off x="7263530" y="1173729"/>
          <a:ext cx="926302" cy="222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302"/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u="none" strike="noStrike" dirty="0" smtClean="0">
                          <a:effectLst/>
                        </a:rPr>
                        <a:t>06/</a:t>
                      </a:r>
                      <a:r>
                        <a:rPr lang="pt-BR" sz="1400" u="none" strike="noStrike" dirty="0" err="1" smtClean="0">
                          <a:effectLst/>
                        </a:rPr>
                        <a:t>Jun</a:t>
                      </a:r>
                      <a:endParaRPr lang="pt-BR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42" name="Elipse 141"/>
          <p:cNvSpPr/>
          <p:nvPr/>
        </p:nvSpPr>
        <p:spPr>
          <a:xfrm>
            <a:off x="7553956" y="941187"/>
            <a:ext cx="278814" cy="230525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/>
              <a:t>4</a:t>
            </a:r>
            <a:endParaRPr lang="pt-BR" sz="1400" dirty="0"/>
          </a:p>
        </p:txBody>
      </p:sp>
      <p:graphicFrame>
        <p:nvGraphicFramePr>
          <p:cNvPr id="143" name="Tabela 142"/>
          <p:cNvGraphicFramePr>
            <a:graphicFrameLocks noGrp="1"/>
          </p:cNvGraphicFramePr>
          <p:nvPr>
            <p:extLst/>
          </p:nvPr>
        </p:nvGraphicFramePr>
        <p:xfrm>
          <a:off x="3086288" y="1171891"/>
          <a:ext cx="926302" cy="222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302"/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u="none" strike="noStrike" dirty="0" smtClean="0">
                          <a:effectLst/>
                        </a:rPr>
                        <a:t>25/Mai</a:t>
                      </a:r>
                      <a:endParaRPr lang="pt-BR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44" name="Elipse 143"/>
          <p:cNvSpPr/>
          <p:nvPr/>
        </p:nvSpPr>
        <p:spPr>
          <a:xfrm>
            <a:off x="3376714" y="939349"/>
            <a:ext cx="278814" cy="230525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/>
              <a:t>2</a:t>
            </a:r>
            <a:endParaRPr lang="pt-BR" sz="1400" dirty="0"/>
          </a:p>
        </p:txBody>
      </p:sp>
      <p:graphicFrame>
        <p:nvGraphicFramePr>
          <p:cNvPr id="145" name="Tabela 144"/>
          <p:cNvGraphicFramePr>
            <a:graphicFrameLocks noGrp="1"/>
          </p:cNvGraphicFramePr>
          <p:nvPr>
            <p:extLst/>
          </p:nvPr>
        </p:nvGraphicFramePr>
        <p:xfrm>
          <a:off x="5155625" y="1170053"/>
          <a:ext cx="926302" cy="222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302"/>
              </a:tblGrid>
              <a:tr h="190500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u="none" strike="noStrike" dirty="0" smtClean="0">
                          <a:effectLst/>
                        </a:rPr>
                        <a:t>31/Mai</a:t>
                      </a:r>
                      <a:endParaRPr lang="pt-BR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46" name="Elipse 145"/>
          <p:cNvSpPr/>
          <p:nvPr/>
        </p:nvSpPr>
        <p:spPr>
          <a:xfrm>
            <a:off x="5446051" y="937511"/>
            <a:ext cx="278814" cy="230525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/>
              <a:t>3</a:t>
            </a:r>
            <a:endParaRPr lang="pt-BR" sz="1400" dirty="0"/>
          </a:p>
        </p:txBody>
      </p:sp>
      <p:sp>
        <p:nvSpPr>
          <p:cNvPr id="1028" name="CaixaDeTexto 1027"/>
          <p:cNvSpPr txBox="1"/>
          <p:nvPr/>
        </p:nvSpPr>
        <p:spPr>
          <a:xfrm>
            <a:off x="416014" y="1740665"/>
            <a:ext cx="2106849" cy="1754326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Reunião Gestão de Problemas </a:t>
            </a:r>
          </a:p>
          <a:p>
            <a:r>
              <a:rPr lang="pt-BR" sz="1200" dirty="0"/>
              <a:t>Chamado CTXMLTREG-7555 </a:t>
            </a:r>
            <a:r>
              <a:rPr lang="pt-BR" sz="1200" dirty="0" smtClean="0"/>
              <a:t>-Falha </a:t>
            </a:r>
            <a:r>
              <a:rPr lang="pt-BR" sz="1200" dirty="0"/>
              <a:t>IP </a:t>
            </a:r>
            <a:r>
              <a:rPr lang="pt-BR" sz="1200" dirty="0" smtClean="0"/>
              <a:t>Capture</a:t>
            </a:r>
          </a:p>
          <a:p>
            <a:r>
              <a:rPr lang="pt-BR" sz="1200" dirty="0" smtClean="0"/>
              <a:t>Identificado numero crescente de chamados abertos com evidencia da falha acima.</a:t>
            </a:r>
          </a:p>
          <a:p>
            <a:r>
              <a:rPr lang="pt-BR" sz="1200" dirty="0" smtClean="0"/>
              <a:t>Definido ações por parte de CSE e NOC.</a:t>
            </a:r>
            <a:endParaRPr lang="pt-BR" sz="1200" dirty="0"/>
          </a:p>
          <a:p>
            <a:r>
              <a:rPr lang="pt-BR" sz="1200" dirty="0" smtClean="0"/>
              <a:t>IMPACTO: Perda de Gravação </a:t>
            </a:r>
            <a:endParaRPr lang="pt-BR" dirty="0"/>
          </a:p>
        </p:txBody>
      </p:sp>
      <p:sp>
        <p:nvSpPr>
          <p:cNvPr id="149" name="CaixaDeTexto 148"/>
          <p:cNvSpPr txBox="1"/>
          <p:nvPr/>
        </p:nvSpPr>
        <p:spPr>
          <a:xfrm>
            <a:off x="2507387" y="2200704"/>
            <a:ext cx="2097664" cy="249299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Analise dos chamados associados a Gestão de Problemas </a:t>
            </a:r>
          </a:p>
          <a:p>
            <a:r>
              <a:rPr lang="pt-BR" sz="1200" b="1" dirty="0" smtClean="0"/>
              <a:t>Identificado que a falha ocorre </a:t>
            </a:r>
            <a:r>
              <a:rPr lang="pt-BR" sz="1200" b="1" dirty="0"/>
              <a:t>em 07 </a:t>
            </a:r>
            <a:r>
              <a:rPr lang="pt-BR" sz="1200" b="1" dirty="0" err="1"/>
              <a:t>POP’s</a:t>
            </a:r>
            <a:r>
              <a:rPr lang="pt-BR" sz="1200" dirty="0"/>
              <a:t> dos 11, em servidores VRSP, com perda de comunicação </a:t>
            </a:r>
            <a:r>
              <a:rPr lang="pt-BR" sz="1200" dirty="0" smtClean="0"/>
              <a:t>dos </a:t>
            </a:r>
            <a:r>
              <a:rPr lang="pt-BR" sz="1200" dirty="0" err="1" smtClean="0"/>
              <a:t>logger</a:t>
            </a:r>
            <a:r>
              <a:rPr lang="pt-BR" sz="1200" dirty="0" smtClean="0"/>
              <a:t> com IC</a:t>
            </a:r>
            <a:r>
              <a:rPr lang="pt-BR" sz="1200" b="1" dirty="0" smtClean="0"/>
              <a:t>, gerando falha no RCM erro   </a:t>
            </a:r>
            <a:r>
              <a:rPr lang="pt-BR" sz="1200" b="1" dirty="0" err="1"/>
              <a:t>Exception</a:t>
            </a:r>
            <a:r>
              <a:rPr lang="pt-BR" sz="1200" b="1" dirty="0"/>
              <a:t> E12310.</a:t>
            </a:r>
          </a:p>
          <a:p>
            <a:r>
              <a:rPr lang="pt-BR" sz="1200" dirty="0" smtClean="0"/>
              <a:t>IMPACTO: Falha no gerenciamento dos canais dos </a:t>
            </a:r>
            <a:r>
              <a:rPr lang="pt-BR" sz="1200" dirty="0" err="1" smtClean="0"/>
              <a:t>loggers</a:t>
            </a:r>
            <a:r>
              <a:rPr lang="pt-BR" sz="1200" dirty="0" smtClean="0"/>
              <a:t>.</a:t>
            </a:r>
            <a:endParaRPr lang="pt-BR" dirty="0"/>
          </a:p>
        </p:txBody>
      </p:sp>
      <p:sp>
        <p:nvSpPr>
          <p:cNvPr id="156" name="CaixaDeTexto 155"/>
          <p:cNvSpPr txBox="1"/>
          <p:nvPr/>
        </p:nvSpPr>
        <p:spPr>
          <a:xfrm>
            <a:off x="4608000" y="3384000"/>
            <a:ext cx="2097664" cy="138499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Ações:</a:t>
            </a:r>
          </a:p>
          <a:p>
            <a:r>
              <a:rPr lang="pt-BR" sz="1200" b="1" dirty="0" smtClean="0"/>
              <a:t>Alterada regras </a:t>
            </a:r>
            <a:r>
              <a:rPr lang="pt-BR" sz="1200" b="1" dirty="0"/>
              <a:t>de armazenamento </a:t>
            </a:r>
            <a:r>
              <a:rPr lang="pt-BR" sz="1200" b="1" dirty="0" smtClean="0"/>
              <a:t>nos </a:t>
            </a:r>
            <a:r>
              <a:rPr lang="pt-BR" sz="1200" b="1" dirty="0" err="1" smtClean="0"/>
              <a:t>POP’s</a:t>
            </a:r>
            <a:r>
              <a:rPr lang="pt-BR" sz="1200" b="1" dirty="0" smtClean="0"/>
              <a:t> Arcos</a:t>
            </a:r>
            <a:r>
              <a:rPr lang="pt-BR" sz="1200" b="1" dirty="0"/>
              <a:t>, </a:t>
            </a:r>
            <a:r>
              <a:rPr lang="pt-BR" sz="1200" dirty="0"/>
              <a:t>CDS e </a:t>
            </a:r>
            <a:r>
              <a:rPr lang="pt-BR" sz="1200" dirty="0" smtClean="0"/>
              <a:t>MG - 31/05</a:t>
            </a:r>
          </a:p>
          <a:p>
            <a:r>
              <a:rPr lang="pt-BR" sz="1200" dirty="0"/>
              <a:t>Instalação do servidor para apartar serviço VRSP do </a:t>
            </a:r>
            <a:r>
              <a:rPr lang="pt-BR" sz="1200" dirty="0" err="1"/>
              <a:t>Logger</a:t>
            </a:r>
            <a:r>
              <a:rPr lang="pt-BR" sz="1200" dirty="0"/>
              <a:t> – </a:t>
            </a:r>
            <a:r>
              <a:rPr lang="pt-BR" sz="1200" dirty="0" smtClean="0"/>
              <a:t>03/06</a:t>
            </a:r>
          </a:p>
        </p:txBody>
      </p:sp>
      <p:sp>
        <p:nvSpPr>
          <p:cNvPr id="158" name="CaixaDeTexto 157"/>
          <p:cNvSpPr txBox="1"/>
          <p:nvPr/>
        </p:nvSpPr>
        <p:spPr>
          <a:xfrm>
            <a:off x="6712164" y="3708000"/>
            <a:ext cx="2097664" cy="120032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Monitoração a plataforma – HPOV e Painel de Gravação</a:t>
            </a:r>
          </a:p>
          <a:p>
            <a:r>
              <a:rPr lang="pt-BR" sz="1200" dirty="0" smtClean="0"/>
              <a:t>Aquisição de laminas em todos para desvincular o serviço VRSP do serviço de </a:t>
            </a:r>
            <a:r>
              <a:rPr lang="pt-BR" sz="1200" dirty="0" err="1" smtClean="0"/>
              <a:t>logger</a:t>
            </a:r>
            <a:r>
              <a:rPr lang="pt-BR" sz="1200" dirty="0" smtClean="0"/>
              <a:t> - TBD</a:t>
            </a:r>
          </a:p>
        </p:txBody>
      </p:sp>
      <p:cxnSp>
        <p:nvCxnSpPr>
          <p:cNvPr id="1033" name="Conector de seta reta 1032"/>
          <p:cNvCxnSpPr>
            <a:stCxn id="114" idx="2"/>
            <a:endCxn id="1028" idx="0"/>
          </p:cNvCxnSpPr>
          <p:nvPr/>
        </p:nvCxnSpPr>
        <p:spPr>
          <a:xfrm flipH="1">
            <a:off x="1469439" y="1387435"/>
            <a:ext cx="1487" cy="35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de seta reta 1039"/>
          <p:cNvCxnSpPr/>
          <p:nvPr/>
        </p:nvCxnSpPr>
        <p:spPr>
          <a:xfrm>
            <a:off x="3549439" y="1385048"/>
            <a:ext cx="0" cy="811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ector de seta reta 1042"/>
          <p:cNvCxnSpPr/>
          <p:nvPr/>
        </p:nvCxnSpPr>
        <p:spPr>
          <a:xfrm>
            <a:off x="5646563" y="1387456"/>
            <a:ext cx="14730" cy="19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de seta reta 1045"/>
          <p:cNvCxnSpPr/>
          <p:nvPr/>
        </p:nvCxnSpPr>
        <p:spPr>
          <a:xfrm>
            <a:off x="7726681" y="1396613"/>
            <a:ext cx="34315" cy="230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4"/>
          <p:cNvSpPr txBox="1">
            <a:spLocks noChangeArrowheads="1"/>
          </p:cNvSpPr>
          <p:nvPr/>
        </p:nvSpPr>
        <p:spPr bwMode="auto">
          <a:xfrm>
            <a:off x="788988" y="-109269"/>
            <a:ext cx="67397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– 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6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2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681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15981" y="750605"/>
            <a:ext cx="2974796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23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TOPOLOGIA – NGR</a:t>
            </a:r>
            <a:endParaRPr lang="it-IT" sz="23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062" y="1230923"/>
            <a:ext cx="8979916" cy="37572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2" y="1436954"/>
            <a:ext cx="8754382" cy="3352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823840" y="-73080"/>
            <a:ext cx="67397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– 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609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77531"/>
            <a:ext cx="95567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Box 4"/>
          <p:cNvSpPr txBox="1">
            <a:spLocks noChangeArrowheads="1"/>
          </p:cNvSpPr>
          <p:nvPr/>
        </p:nvSpPr>
        <p:spPr bwMode="auto">
          <a:xfrm>
            <a:off x="667058" y="25853"/>
            <a:ext cx="567512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3. Indicadores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- Tempo médio entre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falhas </a:t>
            </a: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615950" y="1108870"/>
            <a:ext cx="3930650" cy="706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000" dirty="0">
                <a:solidFill>
                  <a:srgbClr val="184E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Incidentes Alto Impacto</a:t>
            </a:r>
          </a:p>
          <a:p>
            <a:pPr>
              <a:defRPr/>
            </a:pPr>
            <a:r>
              <a:rPr lang="pt-BR" sz="2000" dirty="0">
                <a:solidFill>
                  <a:srgbClr val="184E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Tempo médio entre falhas em h:m:s</a:t>
            </a:r>
          </a:p>
        </p:txBody>
      </p:sp>
      <p:sp>
        <p:nvSpPr>
          <p:cNvPr id="6151" name="CaixaDeTexto 14"/>
          <p:cNvSpPr txBox="1">
            <a:spLocks noChangeArrowheads="1"/>
          </p:cNvSpPr>
          <p:nvPr/>
        </p:nvSpPr>
        <p:spPr bwMode="auto">
          <a:xfrm>
            <a:off x="6007101" y="677069"/>
            <a:ext cx="20812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Responsabilidade da TI Contax</a:t>
            </a:r>
          </a:p>
        </p:txBody>
      </p:sp>
      <p:sp>
        <p:nvSpPr>
          <p:cNvPr id="6152" name="CaixaDeTexto 15"/>
          <p:cNvSpPr txBox="1">
            <a:spLocks noChangeArrowheads="1"/>
          </p:cNvSpPr>
          <p:nvPr/>
        </p:nvSpPr>
        <p:spPr bwMode="auto">
          <a:xfrm>
            <a:off x="5762625" y="2112169"/>
            <a:ext cx="26685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Responsabilidade do Suporte do Cliente</a:t>
            </a:r>
          </a:p>
        </p:txBody>
      </p:sp>
      <p:sp>
        <p:nvSpPr>
          <p:cNvPr id="6153" name="CaixaDeTexto 16"/>
          <p:cNvSpPr txBox="1">
            <a:spLocks noChangeArrowheads="1"/>
          </p:cNvSpPr>
          <p:nvPr/>
        </p:nvSpPr>
        <p:spPr bwMode="auto">
          <a:xfrm>
            <a:off x="5756275" y="3561557"/>
            <a:ext cx="26924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Responsabilidade do Fornecedor Contax</a:t>
            </a:r>
          </a:p>
        </p:txBody>
      </p:sp>
      <p:graphicFrame>
        <p:nvGraphicFramePr>
          <p:cNvPr id="2" name="Gráfico 1"/>
          <p:cNvGraphicFramePr/>
          <p:nvPr>
            <p:extLst/>
          </p:nvPr>
        </p:nvGraphicFramePr>
        <p:xfrm>
          <a:off x="236539" y="2028031"/>
          <a:ext cx="5030787" cy="258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áfico 16"/>
          <p:cNvGraphicFramePr/>
          <p:nvPr>
            <p:extLst/>
          </p:nvPr>
        </p:nvGraphicFramePr>
        <p:xfrm>
          <a:off x="5505451" y="932658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5505451" y="2389982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Gráfico 18"/>
          <p:cNvGraphicFramePr/>
          <p:nvPr>
            <p:extLst/>
          </p:nvPr>
        </p:nvGraphicFramePr>
        <p:xfrm>
          <a:off x="5505451" y="3794919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88511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Box 4"/>
          <p:cNvSpPr txBox="1">
            <a:spLocks noChangeArrowheads="1"/>
          </p:cNvSpPr>
          <p:nvPr/>
        </p:nvSpPr>
        <p:spPr bwMode="auto">
          <a:xfrm>
            <a:off x="588963" y="46336"/>
            <a:ext cx="56102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Indicadores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- Tempo médio de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resolução</a:t>
            </a: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 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88963" y="1110457"/>
            <a:ext cx="4024312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000" dirty="0">
                <a:solidFill>
                  <a:srgbClr val="184E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Incidentes Alto Impacto</a:t>
            </a:r>
          </a:p>
          <a:p>
            <a:pPr>
              <a:defRPr/>
            </a:pPr>
            <a:r>
              <a:rPr lang="pt-BR" sz="2000" dirty="0">
                <a:solidFill>
                  <a:srgbClr val="184E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Tempo médio de resolução em h:m:s</a:t>
            </a:r>
          </a:p>
        </p:txBody>
      </p:sp>
      <p:sp>
        <p:nvSpPr>
          <p:cNvPr id="7176" name="CaixaDeTexto 1"/>
          <p:cNvSpPr txBox="1">
            <a:spLocks noChangeArrowheads="1"/>
          </p:cNvSpPr>
          <p:nvPr/>
        </p:nvSpPr>
        <p:spPr bwMode="auto">
          <a:xfrm>
            <a:off x="6199189" y="677069"/>
            <a:ext cx="16970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Realizado pela TI Contax</a:t>
            </a:r>
          </a:p>
        </p:txBody>
      </p:sp>
      <p:sp>
        <p:nvSpPr>
          <p:cNvPr id="7177" name="CaixaDeTexto 15"/>
          <p:cNvSpPr txBox="1">
            <a:spLocks noChangeArrowheads="1"/>
          </p:cNvSpPr>
          <p:nvPr/>
        </p:nvSpPr>
        <p:spPr bwMode="auto">
          <a:xfrm>
            <a:off x="6053138" y="2105820"/>
            <a:ext cx="20875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Realizado pelo Suporte Cliente</a:t>
            </a:r>
          </a:p>
        </p:txBody>
      </p:sp>
      <p:sp>
        <p:nvSpPr>
          <p:cNvPr id="7178" name="CaixaDeTexto 16"/>
          <p:cNvSpPr txBox="1">
            <a:spLocks noChangeArrowheads="1"/>
          </p:cNvSpPr>
          <p:nvPr/>
        </p:nvSpPr>
        <p:spPr bwMode="auto">
          <a:xfrm>
            <a:off x="6237289" y="3586957"/>
            <a:ext cx="1843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>
                <a:solidFill>
                  <a:srgbClr val="184E82"/>
                </a:solidFill>
              </a:rPr>
              <a:t>Realizado pelo Fornecedor</a:t>
            </a:r>
          </a:p>
        </p:txBody>
      </p:sp>
      <p:graphicFrame>
        <p:nvGraphicFramePr>
          <p:cNvPr id="16" name="Gráfico 15"/>
          <p:cNvGraphicFramePr/>
          <p:nvPr>
            <p:extLst/>
          </p:nvPr>
        </p:nvGraphicFramePr>
        <p:xfrm>
          <a:off x="236539" y="2028031"/>
          <a:ext cx="5030787" cy="258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áfico 16"/>
          <p:cNvGraphicFramePr/>
          <p:nvPr>
            <p:extLst/>
          </p:nvPr>
        </p:nvGraphicFramePr>
        <p:xfrm>
          <a:off x="5505451" y="932658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5505451" y="2389982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Gráfico 18"/>
          <p:cNvGraphicFramePr/>
          <p:nvPr>
            <p:extLst/>
          </p:nvPr>
        </p:nvGraphicFramePr>
        <p:xfrm>
          <a:off x="5505451" y="3794919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61427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Box 4"/>
          <p:cNvSpPr txBox="1">
            <a:spLocks noChangeArrowheads="1"/>
          </p:cNvSpPr>
          <p:nvPr/>
        </p:nvSpPr>
        <p:spPr bwMode="auto">
          <a:xfrm>
            <a:off x="788988" y="-31723"/>
            <a:ext cx="53691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4.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Impacto – Por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Clientes</a:t>
            </a: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/>
          </p:nvPr>
        </p:nvGraphicFramePr>
        <p:xfrm>
          <a:off x="788989" y="1038637"/>
          <a:ext cx="2943965" cy="3394074"/>
        </p:xfrm>
        <a:graphic>
          <a:graphicData uri="http://schemas.openxmlformats.org/drawingml/2006/table">
            <a:tbl>
              <a:tblPr/>
              <a:tblGrid>
                <a:gridCol w="1155689"/>
                <a:gridCol w="1204349"/>
                <a:gridCol w="583927"/>
              </a:tblGrid>
              <a:tr h="18247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Cliente Afetado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Oi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59,6%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Vivo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9,3%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Santander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8,2%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Itaú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5,5%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Cielo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3,3%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Net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Bradesco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2,2%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Volkswagen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2,2%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Serasa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1,6%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TAM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1,6%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BV Financeira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1,1%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BB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477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BB Mapfre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Claro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Rede Globo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Redecard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0,5%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6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124" marR="9124" marT="9124" marB="0" anchor="b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183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124" marR="9124" marT="9124" marB="0" anchor="ctr">
                    <a:lnL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84E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190" y="1038638"/>
            <a:ext cx="2329100" cy="58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190" y="2290976"/>
            <a:ext cx="2329100" cy="742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190" y="3697383"/>
            <a:ext cx="2329100" cy="73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Conector de seta reta 10"/>
          <p:cNvCxnSpPr>
            <a:endCxn id="7" idx="1"/>
          </p:cNvCxnSpPr>
          <p:nvPr/>
        </p:nvCxnSpPr>
        <p:spPr>
          <a:xfrm>
            <a:off x="3732954" y="1332769"/>
            <a:ext cx="1805237" cy="1"/>
          </a:xfrm>
          <a:prstGeom prst="straightConnector1">
            <a:avLst/>
          </a:prstGeom>
          <a:ln>
            <a:solidFill>
              <a:srgbClr val="184E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endCxn id="1026" idx="1"/>
          </p:cNvCxnSpPr>
          <p:nvPr/>
        </p:nvCxnSpPr>
        <p:spPr>
          <a:xfrm>
            <a:off x="3732954" y="1503378"/>
            <a:ext cx="1805237" cy="1158765"/>
          </a:xfrm>
          <a:prstGeom prst="straightConnector1">
            <a:avLst/>
          </a:prstGeom>
          <a:ln>
            <a:solidFill>
              <a:srgbClr val="184E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endCxn id="1027" idx="1"/>
          </p:cNvCxnSpPr>
          <p:nvPr/>
        </p:nvCxnSpPr>
        <p:spPr>
          <a:xfrm>
            <a:off x="3732954" y="1693159"/>
            <a:ext cx="1805237" cy="2371889"/>
          </a:xfrm>
          <a:prstGeom prst="straightConnector1">
            <a:avLst/>
          </a:prstGeom>
          <a:ln>
            <a:solidFill>
              <a:srgbClr val="184E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13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angulado 12"/>
          <p:cNvCxnSpPr/>
          <p:nvPr/>
        </p:nvCxnSpPr>
        <p:spPr>
          <a:xfrm rot="16200000" flipH="1">
            <a:off x="4173136" y="3042087"/>
            <a:ext cx="533637" cy="1"/>
          </a:xfrm>
          <a:prstGeom prst="bentConnector3">
            <a:avLst/>
          </a:prstGeom>
          <a:ln>
            <a:solidFill>
              <a:srgbClr val="9395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 rot="10800000" flipV="1">
            <a:off x="1643114" y="1897868"/>
            <a:ext cx="1936701" cy="1404690"/>
          </a:xfrm>
          <a:prstGeom prst="bentConnector2">
            <a:avLst/>
          </a:prstGeom>
          <a:ln>
            <a:solidFill>
              <a:srgbClr val="D719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/>
          <p:nvPr/>
        </p:nvCxnSpPr>
        <p:spPr>
          <a:xfrm>
            <a:off x="5381626" y="1897868"/>
            <a:ext cx="1777603" cy="14046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954" y="3308906"/>
            <a:ext cx="2484000" cy="89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0" name="Gráfico 19"/>
          <p:cNvGraphicFramePr/>
          <p:nvPr>
            <p:extLst/>
          </p:nvPr>
        </p:nvGraphicFramePr>
        <p:xfrm>
          <a:off x="2577643" y="671566"/>
          <a:ext cx="3681817" cy="2305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078" name="Picture 6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12" y="3302559"/>
            <a:ext cx="2484000" cy="1111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964" y="3308874"/>
            <a:ext cx="2484000" cy="1314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965444" y="21064"/>
            <a:ext cx="591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Impacto – Por </a:t>
            </a:r>
            <a:r>
              <a:rPr lang="pt-BR" sz="2400" b="1" dirty="0" err="1" smtClean="0">
                <a:solidFill>
                  <a:schemeClr val="accent1">
                    <a:lumMod val="50000"/>
                  </a:schemeClr>
                </a:solidFill>
              </a:rPr>
              <a:t>Resolvedor</a:t>
            </a:r>
            <a:endParaRPr lang="pt-BR" sz="24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59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angulado 7"/>
          <p:cNvCxnSpPr/>
          <p:nvPr/>
        </p:nvCxnSpPr>
        <p:spPr>
          <a:xfrm rot="5400000">
            <a:off x="2412438" y="116591"/>
            <a:ext cx="1118091" cy="3143886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angulado 19"/>
          <p:cNvCxnSpPr/>
          <p:nvPr/>
        </p:nvCxnSpPr>
        <p:spPr>
          <a:xfrm rot="16200000" flipH="1">
            <a:off x="3986777" y="1686138"/>
            <a:ext cx="1118091" cy="4792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9" name="Botão de ação: Voltar ou Anterior 7168">
            <a:hlinkClick r:id="" action="ppaction://hlinkshowjump?jump=previousslide" highlightClick="1"/>
          </p:cNvPr>
          <p:cNvSpPr>
            <a:spLocks noChangeAspect="1"/>
          </p:cNvSpPr>
          <p:nvPr/>
        </p:nvSpPr>
        <p:spPr>
          <a:xfrm>
            <a:off x="7418718" y="4808073"/>
            <a:ext cx="745306" cy="192494"/>
          </a:xfrm>
          <a:prstGeom prst="actionButtonBackPrevious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angulado 12"/>
          <p:cNvCxnSpPr/>
          <p:nvPr/>
        </p:nvCxnSpPr>
        <p:spPr>
          <a:xfrm rot="16200000" flipH="1">
            <a:off x="5553268" y="119647"/>
            <a:ext cx="1118091" cy="3137774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ângulo 22">
            <a:hlinkClick r:id="" action="ppaction://noaction"/>
          </p:cNvPr>
          <p:cNvSpPr/>
          <p:nvPr/>
        </p:nvSpPr>
        <p:spPr>
          <a:xfrm>
            <a:off x="3286242" y="2570033"/>
            <a:ext cx="569493" cy="966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189" y="4561535"/>
            <a:ext cx="2233404" cy="314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5" y="2247579"/>
            <a:ext cx="2184879" cy="2566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745" y="2263526"/>
            <a:ext cx="2127717" cy="1041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879" y="2269750"/>
            <a:ext cx="2621093" cy="103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168" y="843281"/>
            <a:ext cx="3846513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4"/>
          <p:cNvSpPr txBox="1">
            <a:spLocks noChangeArrowheads="1"/>
          </p:cNvSpPr>
          <p:nvPr/>
        </p:nvSpPr>
        <p:spPr bwMode="auto">
          <a:xfrm>
            <a:off x="1287648" y="2381"/>
            <a:ext cx="591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Impacto – Por </a:t>
            </a:r>
            <a:r>
              <a:rPr lang="pt-BR" sz="2400" b="1" dirty="0" err="1" smtClean="0">
                <a:solidFill>
                  <a:schemeClr val="accent1">
                    <a:lumMod val="50000"/>
                  </a:schemeClr>
                </a:solidFill>
              </a:rPr>
              <a:t>Resolvedor</a:t>
            </a:r>
            <a:endParaRPr lang="pt-BR" sz="24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75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" name="Botão de ação: Voltar ou Anterior 7168">
            <a:hlinkClick r:id="rId5" action="ppaction://hlinksldjump" highlightClick="1"/>
          </p:cNvPr>
          <p:cNvSpPr>
            <a:spLocks noChangeAspect="1"/>
          </p:cNvSpPr>
          <p:nvPr/>
        </p:nvSpPr>
        <p:spPr>
          <a:xfrm>
            <a:off x="7418722" y="4876318"/>
            <a:ext cx="533476" cy="158373"/>
          </a:xfrm>
          <a:prstGeom prst="actionButtonBackPrevious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112" y="1421483"/>
            <a:ext cx="2270214" cy="17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04" y="1421483"/>
            <a:ext cx="2270214" cy="17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591" y="2826079"/>
            <a:ext cx="1999028" cy="735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Conector angulado 10"/>
          <p:cNvCxnSpPr>
            <a:stCxn id="4097" idx="2"/>
          </p:cNvCxnSpPr>
          <p:nvPr/>
        </p:nvCxnSpPr>
        <p:spPr>
          <a:xfrm rot="5400000">
            <a:off x="1152857" y="1608715"/>
            <a:ext cx="1233407" cy="1201321"/>
          </a:xfrm>
          <a:prstGeom prst="bentConnector3">
            <a:avLst/>
          </a:prstGeom>
          <a:ln>
            <a:solidFill>
              <a:srgbClr val="D719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angulado 13"/>
          <p:cNvCxnSpPr>
            <a:stCxn id="4097" idx="2"/>
          </p:cNvCxnSpPr>
          <p:nvPr/>
        </p:nvCxnSpPr>
        <p:spPr>
          <a:xfrm rot="16200000" flipH="1">
            <a:off x="2274843" y="1688048"/>
            <a:ext cx="1233407" cy="1042652"/>
          </a:xfrm>
          <a:prstGeom prst="bentConnector3">
            <a:avLst/>
          </a:prstGeom>
          <a:ln>
            <a:solidFill>
              <a:srgbClr val="D719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do 16"/>
          <p:cNvCxnSpPr>
            <a:stCxn id="4098" idx="2"/>
            <a:endCxn id="7" idx="0"/>
          </p:cNvCxnSpPr>
          <p:nvPr/>
        </p:nvCxnSpPr>
        <p:spPr>
          <a:xfrm rot="5400000">
            <a:off x="5746956" y="1641821"/>
            <a:ext cx="1233407" cy="1135106"/>
          </a:xfrm>
          <a:prstGeom prst="bentConnector3">
            <a:avLst/>
          </a:prstGeom>
          <a:ln>
            <a:solidFill>
              <a:srgbClr val="9395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angulado 19"/>
          <p:cNvCxnSpPr>
            <a:stCxn id="4098" idx="2"/>
          </p:cNvCxnSpPr>
          <p:nvPr/>
        </p:nvCxnSpPr>
        <p:spPr>
          <a:xfrm rot="16200000" flipH="1">
            <a:off x="6838124" y="1685759"/>
            <a:ext cx="1233407" cy="1047231"/>
          </a:xfrm>
          <a:prstGeom prst="bentConnector3">
            <a:avLst/>
          </a:prstGeom>
          <a:ln>
            <a:solidFill>
              <a:srgbClr val="93959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458" y="2830873"/>
            <a:ext cx="2198037" cy="49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847" y="2826079"/>
            <a:ext cx="2099044" cy="482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05" y="2830873"/>
            <a:ext cx="1966391" cy="150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189" y="4561535"/>
            <a:ext cx="2233404" cy="314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1050476" y="25036"/>
            <a:ext cx="591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Impacto – Por </a:t>
            </a:r>
            <a:r>
              <a:rPr lang="pt-BR" sz="2400" b="1" dirty="0" err="1" smtClean="0">
                <a:solidFill>
                  <a:schemeClr val="accent1">
                    <a:lumMod val="50000"/>
                  </a:schemeClr>
                </a:solidFill>
              </a:rPr>
              <a:t>Resolvedor</a:t>
            </a:r>
            <a:endParaRPr lang="pt-BR" sz="24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92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Botão de ação: Voltar ou Anterior 18">
            <a:hlinkClick r:id="rId5" action="ppaction://hlinksldjump" highlightClick="1"/>
          </p:cNvPr>
          <p:cNvSpPr>
            <a:spLocks noChangeAspect="1"/>
          </p:cNvSpPr>
          <p:nvPr/>
        </p:nvSpPr>
        <p:spPr>
          <a:xfrm>
            <a:off x="7418718" y="4808073"/>
            <a:ext cx="745306" cy="192494"/>
          </a:xfrm>
          <a:prstGeom prst="actionButtonBackPrevious">
            <a:avLst/>
          </a:prstGeom>
          <a:scene3d>
            <a:camera prst="orthographicFront"/>
            <a:lightRig rig="threePt" dir="t"/>
          </a:scene3d>
          <a:sp3d>
            <a:bevelT w="0" h="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3054902" y="1170541"/>
            <a:ext cx="2966320" cy="24765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/>
              <a:t>Processo</a:t>
            </a:r>
          </a:p>
        </p:txBody>
      </p:sp>
      <p:cxnSp>
        <p:nvCxnSpPr>
          <p:cNvPr id="4" name="Conector angulado 3"/>
          <p:cNvCxnSpPr>
            <a:stCxn id="20" idx="2"/>
          </p:cNvCxnSpPr>
          <p:nvPr/>
        </p:nvCxnSpPr>
        <p:spPr>
          <a:xfrm rot="5400000">
            <a:off x="2616185" y="446362"/>
            <a:ext cx="950049" cy="2893709"/>
          </a:xfrm>
          <a:prstGeom prst="bentConnector3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do 11"/>
          <p:cNvCxnSpPr>
            <a:stCxn id="20" idx="2"/>
          </p:cNvCxnSpPr>
          <p:nvPr/>
        </p:nvCxnSpPr>
        <p:spPr>
          <a:xfrm rot="16200000" flipH="1">
            <a:off x="5551636" y="404618"/>
            <a:ext cx="950045" cy="2977191"/>
          </a:xfrm>
          <a:prstGeom prst="bentConnector3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do 26"/>
          <p:cNvCxnSpPr>
            <a:stCxn id="20" idx="2"/>
          </p:cNvCxnSpPr>
          <p:nvPr/>
        </p:nvCxnSpPr>
        <p:spPr>
          <a:xfrm rot="16200000" flipH="1">
            <a:off x="4065326" y="1890928"/>
            <a:ext cx="945475" cy="1"/>
          </a:xfrm>
          <a:prstGeom prst="bentConnector3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>
            <a:off x="5960926" y="1893216"/>
            <a:ext cx="0" cy="206941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278" y="3968903"/>
            <a:ext cx="2657296" cy="593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120" y="2378054"/>
            <a:ext cx="2435886" cy="104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501" y="2363666"/>
            <a:ext cx="2674698" cy="867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86" y="2389945"/>
            <a:ext cx="2626936" cy="1075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4"/>
          <p:cNvSpPr txBox="1">
            <a:spLocks noChangeArrowheads="1"/>
          </p:cNvSpPr>
          <p:nvPr/>
        </p:nvSpPr>
        <p:spPr bwMode="auto">
          <a:xfrm>
            <a:off x="1050476" y="25036"/>
            <a:ext cx="591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Impacto – Por </a:t>
            </a:r>
            <a:r>
              <a:rPr lang="pt-BR" sz="2400" b="1" dirty="0" err="1" smtClean="0">
                <a:solidFill>
                  <a:schemeClr val="accent1">
                    <a:lumMod val="50000"/>
                  </a:schemeClr>
                </a:solidFill>
              </a:rPr>
              <a:t>Resolvedor</a:t>
            </a:r>
            <a:endParaRPr lang="pt-BR" sz="24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Maio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70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Gráfico 21"/>
          <p:cNvGraphicFramePr>
            <a:graphicFrameLocks/>
          </p:cNvGraphicFramePr>
          <p:nvPr>
            <p:extLst/>
          </p:nvPr>
        </p:nvGraphicFramePr>
        <p:xfrm>
          <a:off x="1041798" y="1274153"/>
          <a:ext cx="7060405" cy="3221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2812211" y="999533"/>
            <a:ext cx="302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Volume de mudanças por mês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Mudança - Maio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28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Gráfico 8"/>
          <p:cNvGraphicFramePr>
            <a:graphicFrameLocks/>
          </p:cNvGraphicFramePr>
          <p:nvPr>
            <p:extLst/>
          </p:nvPr>
        </p:nvGraphicFramePr>
        <p:xfrm>
          <a:off x="76920" y="1637069"/>
          <a:ext cx="3846831" cy="2347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Gráfico 9"/>
          <p:cNvGraphicFramePr>
            <a:graphicFrameLocks/>
          </p:cNvGraphicFramePr>
          <p:nvPr>
            <p:extLst/>
          </p:nvPr>
        </p:nvGraphicFramePr>
        <p:xfrm>
          <a:off x="4575973" y="1657433"/>
          <a:ext cx="3943540" cy="251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3" name="Conector de seta reta 2"/>
          <p:cNvCxnSpPr>
            <a:endCxn id="10" idx="1"/>
          </p:cNvCxnSpPr>
          <p:nvPr/>
        </p:nvCxnSpPr>
        <p:spPr>
          <a:xfrm>
            <a:off x="3105509" y="2915036"/>
            <a:ext cx="1470464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558218" y="1235958"/>
            <a:ext cx="3190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Volume de mudanças por status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997900" y="1235958"/>
            <a:ext cx="304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Volume de mudanças por Tipo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Mudança - Maio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9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23829"/>
            <a:ext cx="592520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670560" y="300127"/>
            <a:ext cx="18473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3220"/>
            <a:endParaRPr lang="pt-BR" sz="135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 err="1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- Problema</a:t>
            </a:r>
            <a:endParaRPr lang="pt-BR" sz="1351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171162"/>
            <a:ext cx="1866343" cy="33879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2" y="509956"/>
            <a:ext cx="9019597" cy="446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431078" y="4576255"/>
            <a:ext cx="712923" cy="569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07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77991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86707"/>
            <a:ext cx="6254098" cy="61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Business Case para Upgrade do </a:t>
            </a:r>
            <a:r>
              <a:rPr lang="pt-BR" sz="20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123208" y="532557"/>
            <a:ext cx="5991738" cy="4615707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Situação</a:t>
            </a: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Desativação do site Alameda Santos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demanda a mudança da solução atual de </a:t>
            </a:r>
            <a:r>
              <a:rPr lang="pt-BR" sz="1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Zabbix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(limitada) para novo local.  Aproveitar esta “movimentação” e efetuar o upgrade da solução.</a:t>
            </a:r>
          </a:p>
          <a:p>
            <a:endParaRPr lang="pt-BR" sz="1400" dirty="0" smtClean="0"/>
          </a:p>
          <a:p>
            <a:r>
              <a:rPr lang="pt-BR" sz="1600" b="1" dirty="0" smtClean="0"/>
              <a:t>Ferramenta estratégica de TI, para “olhar” o negócio.</a:t>
            </a:r>
            <a:r>
              <a:rPr lang="pt-BR" sz="1400" dirty="0" smtClean="0"/>
              <a:t>  </a:t>
            </a:r>
          </a:p>
          <a:p>
            <a:r>
              <a:rPr lang="pt-BR" sz="1400" dirty="0" smtClean="0"/>
              <a:t>A engenharia trabalhou numa solução de upgrade de versionamento do </a:t>
            </a:r>
            <a:r>
              <a:rPr lang="pt-BR" sz="1400" dirty="0" err="1" smtClean="0"/>
              <a:t>Zabbix</a:t>
            </a:r>
            <a:r>
              <a:rPr lang="pt-BR" sz="1400" dirty="0" smtClean="0"/>
              <a:t> atual para a mais recente, V3.0. </a:t>
            </a:r>
            <a:endParaRPr lang="pt-BR" sz="1400" dirty="0"/>
          </a:p>
          <a:p>
            <a:r>
              <a:rPr lang="pt-BR" sz="1400" dirty="0"/>
              <a:t>A solução de monitoração do </a:t>
            </a:r>
            <a:r>
              <a:rPr lang="pt-BR" sz="1400" dirty="0" err="1"/>
              <a:t>Zabbix</a:t>
            </a:r>
            <a:r>
              <a:rPr lang="pt-BR" sz="1400" dirty="0"/>
              <a:t> 3.0 utilizará servidores físicos e serão implementados </a:t>
            </a:r>
            <a:r>
              <a:rPr lang="pt-BR" sz="1400" b="1" dirty="0"/>
              <a:t>nos Data Centers Alegria e </a:t>
            </a:r>
            <a:r>
              <a:rPr lang="pt-BR" sz="1400" b="1" dirty="0" smtClean="0"/>
              <a:t>Alphaville (redundância). </a:t>
            </a:r>
          </a:p>
          <a:p>
            <a:endParaRPr lang="pt-BR" sz="1400" b="1" dirty="0" smtClean="0"/>
          </a:p>
          <a:p>
            <a:r>
              <a:rPr lang="pt-BR" sz="1400" dirty="0"/>
              <a:t>Esta </a:t>
            </a:r>
            <a:r>
              <a:rPr lang="pt-BR" sz="1400" dirty="0" smtClean="0"/>
              <a:t>versão acresce </a:t>
            </a:r>
            <a:r>
              <a:rPr lang="pt-BR" sz="1400" dirty="0"/>
              <a:t>em relação a anterior novas funcionalidades, </a:t>
            </a:r>
            <a:r>
              <a:rPr lang="pt-BR" sz="1400" dirty="0" smtClean="0"/>
              <a:t>e </a:t>
            </a:r>
            <a:r>
              <a:rPr lang="pt-BR" sz="1400" dirty="0"/>
              <a:t>reforçam a abrangência da anterior.  Permite detectar e </a:t>
            </a:r>
            <a:r>
              <a:rPr lang="pt-BR" sz="1400" b="1" dirty="0"/>
              <a:t>efetuar ações proativas </a:t>
            </a:r>
            <a:r>
              <a:rPr lang="pt-BR" sz="1400" dirty="0"/>
              <a:t>em serviços,  HW  e Redes </a:t>
            </a:r>
            <a:r>
              <a:rPr lang="pt-BR" sz="1400" u="sng" dirty="0"/>
              <a:t>anulando ou reduzindo o tempo de </a:t>
            </a:r>
            <a:r>
              <a:rPr lang="pt-BR" sz="1400" u="sng" dirty="0" smtClean="0"/>
              <a:t>indisponibilidade</a:t>
            </a:r>
            <a:r>
              <a:rPr lang="pt-BR" sz="1400" dirty="0" smtClean="0"/>
              <a:t>, </a:t>
            </a:r>
            <a:r>
              <a:rPr lang="pt-BR" sz="1400" dirty="0"/>
              <a:t>com respetiva </a:t>
            </a:r>
            <a:r>
              <a:rPr lang="pt-BR" sz="1400" b="1" dirty="0"/>
              <a:t>redução no  impacto financeiro</a:t>
            </a:r>
            <a:r>
              <a:rPr lang="pt-BR" sz="1400" dirty="0"/>
              <a:t>.</a:t>
            </a:r>
            <a:endParaRPr lang="pt-BR" sz="1400" b="1" dirty="0" smtClean="0"/>
          </a:p>
          <a:p>
            <a:endParaRPr lang="pt-BR" sz="1400" b="1" dirty="0"/>
          </a:p>
          <a:p>
            <a:r>
              <a:rPr lang="pt-BR" sz="1400" b="1" dirty="0" smtClean="0"/>
              <a:t>Custo Cenário 1: </a:t>
            </a:r>
            <a:r>
              <a:rPr lang="fr-FR" sz="1400" dirty="0"/>
              <a:t>MySQL </a:t>
            </a:r>
            <a:r>
              <a:rPr lang="fr-FR" sz="1400" dirty="0" err="1"/>
              <a:t>Subscription</a:t>
            </a:r>
            <a:r>
              <a:rPr lang="fr-FR" sz="1400" dirty="0"/>
              <a:t> License - Server 2 0.00</a:t>
            </a:r>
          </a:p>
          <a:p>
            <a:r>
              <a:rPr lang="pt-BR" sz="1400" dirty="0"/>
              <a:t>MySQL </a:t>
            </a:r>
            <a:r>
              <a:rPr lang="pt-BR" sz="1400" dirty="0" smtClean="0"/>
              <a:t>Enterprise – </a:t>
            </a:r>
            <a:r>
              <a:rPr lang="pt-BR" sz="1400" b="1" dirty="0" smtClean="0"/>
              <a:t>38K</a:t>
            </a:r>
          </a:p>
          <a:p>
            <a:r>
              <a:rPr lang="pt-BR" sz="1400" b="1" dirty="0"/>
              <a:t>Custo Cenário </a:t>
            </a:r>
            <a:r>
              <a:rPr lang="pt-BR" sz="1400" b="1" dirty="0" smtClean="0"/>
              <a:t>2:  </a:t>
            </a:r>
            <a:r>
              <a:rPr lang="fr-FR" sz="1400" dirty="0" smtClean="0"/>
              <a:t>MySQL </a:t>
            </a:r>
            <a:r>
              <a:rPr lang="fr-FR" sz="1400" dirty="0" err="1"/>
              <a:t>Subscription</a:t>
            </a:r>
            <a:r>
              <a:rPr lang="fr-FR" sz="1400" dirty="0"/>
              <a:t> License - Server 2 0.00</a:t>
            </a:r>
          </a:p>
          <a:p>
            <a:r>
              <a:rPr lang="pt-BR" sz="1400" dirty="0" smtClean="0"/>
              <a:t>MySQL </a:t>
            </a:r>
            <a:r>
              <a:rPr lang="pt-BR" sz="1400" dirty="0"/>
              <a:t>Standard </a:t>
            </a:r>
            <a:r>
              <a:rPr lang="pt-BR" sz="1400" dirty="0" err="1" smtClean="0"/>
              <a:t>Edition</a:t>
            </a:r>
            <a:r>
              <a:rPr lang="pt-BR" sz="1400" dirty="0" smtClean="0"/>
              <a:t> – </a:t>
            </a:r>
            <a:r>
              <a:rPr lang="pt-BR" sz="1400" b="1" dirty="0" smtClean="0"/>
              <a:t>15K.</a:t>
            </a:r>
          </a:p>
          <a:p>
            <a:r>
              <a:rPr lang="pt-BR" sz="1400" b="1" dirty="0"/>
              <a:t>Custo Cenário </a:t>
            </a:r>
            <a:r>
              <a:rPr lang="pt-BR" sz="1400" b="1" dirty="0" smtClean="0"/>
              <a:t>3:</a:t>
            </a:r>
            <a:r>
              <a:rPr lang="pt-BR" sz="1400" dirty="0" smtClean="0"/>
              <a:t> </a:t>
            </a:r>
            <a:r>
              <a:rPr lang="pt-BR" sz="1400" dirty="0"/>
              <a:t>POSTGRE </a:t>
            </a:r>
            <a:r>
              <a:rPr lang="pt-BR" sz="1400" dirty="0" err="1"/>
              <a:t>free</a:t>
            </a:r>
            <a:r>
              <a:rPr lang="pt-BR" sz="1400" dirty="0"/>
              <a:t> </a:t>
            </a:r>
            <a:r>
              <a:rPr lang="pt-BR" sz="1400" dirty="0" smtClean="0"/>
              <a:t>– </a:t>
            </a:r>
            <a:r>
              <a:rPr lang="pt-BR" sz="1400" b="1" dirty="0" smtClean="0"/>
              <a:t>5K (5 pessoas)</a:t>
            </a:r>
            <a:endParaRPr lang="pt-BR" sz="1400" dirty="0"/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348" y="433877"/>
            <a:ext cx="1271921" cy="987726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474" y="3890302"/>
            <a:ext cx="1424176" cy="1218547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0194" y="1441837"/>
            <a:ext cx="2080480" cy="2358202"/>
          </a:xfrm>
          <a:prstGeom prst="rect">
            <a:avLst/>
          </a:prstGeom>
        </p:spPr>
      </p:pic>
      <p:sp>
        <p:nvSpPr>
          <p:cNvPr id="3" name="Símbolo de 'Não' 2"/>
          <p:cNvSpPr/>
          <p:nvPr/>
        </p:nvSpPr>
        <p:spPr>
          <a:xfrm>
            <a:off x="6482075" y="543409"/>
            <a:ext cx="1603348" cy="628898"/>
          </a:xfrm>
          <a:prstGeom prst="noSmoking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Site Alameda Santos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Seta em curva para a direita 3"/>
          <p:cNvSpPr/>
          <p:nvPr/>
        </p:nvSpPr>
        <p:spPr>
          <a:xfrm flipH="1">
            <a:off x="8578178" y="1014932"/>
            <a:ext cx="433154" cy="321201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7840060" y="2161373"/>
            <a:ext cx="1208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 smtClean="0"/>
              <a:t>Upgrade </a:t>
            </a:r>
            <a:r>
              <a:rPr lang="pt-BR" sz="1100" b="1" dirty="0" err="1" smtClean="0"/>
              <a:t>Zabbix</a:t>
            </a:r>
            <a:r>
              <a:rPr lang="pt-BR" sz="1100" b="1" dirty="0" smtClean="0"/>
              <a:t> com redundância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46415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86707"/>
            <a:ext cx="6254098" cy="61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54755" y="2012334"/>
            <a:ext cx="2821854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 integração (“gatilhos”) entre o processo GMUD e os de Demandas e de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ferramenta para automação dos processos de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Identificação de requisitos funcionais para automação integrada de Demandas, Projetos e Mudanças.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Especificação Funcional para solução de automação integrada dos processos T2R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 (Demandas, Projetos e Mudanças).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54754" y="791106"/>
            <a:ext cx="3028202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75%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214721" y="2012334"/>
            <a:ext cx="2701049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Fluxograma, Matriz RACI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SLA`s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Gerenciamento de Projetos. (Em andamento)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Controles para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Acompanhamento da solução de automação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Conclusão da definição de indicadores e de sua automação.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da implantação dos novos processos e indicadores, considerando automação, treinamento e piloto.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53882" y="2012334"/>
            <a:ext cx="2623388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limita a automação integrada dos processos.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Prazo para desenvolvimento de solução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2934128" y="1534139"/>
            <a:ext cx="274638" cy="274638"/>
            <a:chOff x="0" y="0"/>
            <a:chExt cx="173" cy="173"/>
          </a:xfrm>
        </p:grpSpPr>
        <p:sp>
          <p:nvSpPr>
            <p:cNvPr id="27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2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3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8575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253" y="66268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8248" y="111668"/>
            <a:ext cx="7754134" cy="4653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Gravação (Nice)- Elektro, TAM, Vivo e Bradesco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1862511"/>
            <a:ext cx="2716382" cy="294395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28600" lvl="1" indent="-2286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Migração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 Elektro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concluída.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30 </a:t>
            </a:r>
            <a:r>
              <a:rPr lang="pt-PT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Maio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pt-PT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Solicitação de compra de 5 licenças Win Server 2012 R2 Standard. Sem SC até ao momento.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e configuração dos servidores que vão atender TAM </a:t>
            </a: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 </a:t>
            </a:r>
            <a:r>
              <a:rPr lang="pt-PT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licenças </a:t>
            </a: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provisórias.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43298"/>
            <a:ext cx="3064339" cy="997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</a:p>
          <a:p>
            <a:r>
              <a:rPr lang="pt-BR" sz="1200" i="1" dirty="0" smtClean="0"/>
              <a:t>Data Inicio: 02-05-2016</a:t>
            </a:r>
          </a:p>
          <a:p>
            <a:r>
              <a:rPr lang="pt-BR" sz="1200" i="1" dirty="0" smtClean="0"/>
              <a:t>Data Conclusão:</a:t>
            </a:r>
            <a:r>
              <a:rPr lang="pt-BR" sz="1200" i="1" strike="sngStrike" dirty="0" smtClean="0"/>
              <a:t> </a:t>
            </a:r>
            <a:r>
              <a:rPr lang="pt-BR" sz="1200" i="1" dirty="0" smtClean="0"/>
              <a:t>13-07-2016</a:t>
            </a:r>
          </a:p>
          <a:p>
            <a:r>
              <a:rPr lang="pt-BR" sz="1200" i="1" dirty="0" smtClean="0"/>
              <a:t>Progresso: 13%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Luis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862511"/>
            <a:ext cx="2716382" cy="294395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PT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Migração dos 3 servdores da TAM para o CPD do site Alegria.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Continuação da coleta de informação para migração da TAM  para Nice.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objetivo migração da TAM,  final de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J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unho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contratualmente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vigência de r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etenção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gravações (5 anos?), e garantir a execução do processo.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949947" y="1887789"/>
            <a:ext cx="2716382" cy="291867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Observação: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Esta implantação irá </a:t>
            </a:r>
            <a:r>
              <a:rPr lang="pt-BR" sz="1200" b="1" dirty="0">
                <a:solidFill>
                  <a:srgbClr val="FF0000"/>
                </a:solidFill>
              </a:rPr>
              <a:t>consumir </a:t>
            </a:r>
            <a:r>
              <a:rPr lang="pt-BR" sz="1200" b="1" dirty="0" smtClean="0">
                <a:solidFill>
                  <a:srgbClr val="FF0000"/>
                </a:solidFill>
              </a:rPr>
              <a:t>todas </a:t>
            </a:r>
            <a:r>
              <a:rPr lang="pt-BR" sz="1200" b="1" dirty="0">
                <a:solidFill>
                  <a:srgbClr val="FF0000"/>
                </a:solidFill>
              </a:rPr>
              <a:t>as </a:t>
            </a:r>
            <a:r>
              <a:rPr lang="pt-BR" sz="1200" b="1" dirty="0" smtClean="0">
                <a:solidFill>
                  <a:srgbClr val="FF0000"/>
                </a:solidFill>
              </a:rPr>
              <a:t>licenças Nice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temos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ter muito cuidado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 estarmos alinhados no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momento de crescer as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Escopo </a:t>
            </a:r>
            <a:r>
              <a:rPr lang="pt-B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projeto esta a ser revisitado pela área de Projetos e </a:t>
            </a:r>
            <a:r>
              <a:rPr lang="pt-BR" sz="11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Engenharia (“redistribuição” de licenças Nice), </a:t>
            </a:r>
            <a:r>
              <a:rPr lang="pt-B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</a:t>
            </a:r>
            <a:r>
              <a:rPr lang="pt-BR" sz="11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poderá impactar </a:t>
            </a:r>
            <a:r>
              <a:rPr lang="pt-BR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o cronograma e aumento de exposição ao risco (multa</a:t>
            </a:r>
            <a:r>
              <a:rPr lang="pt-BR" sz="11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para as operações no escopo. 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57054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instalar 3K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licenças de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gravação, atualmente sem uso. O escopo são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Elektro, TAM, Vivo e Bradesco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" name="Group 12"/>
          <p:cNvGrpSpPr>
            <a:grpSpLocks/>
          </p:cNvGrpSpPr>
          <p:nvPr/>
        </p:nvGrpSpPr>
        <p:grpSpPr bwMode="auto">
          <a:xfrm>
            <a:off x="2898959" y="1405184"/>
            <a:ext cx="274637" cy="274638"/>
            <a:chOff x="0" y="0"/>
            <a:chExt cx="173" cy="173"/>
          </a:xfrm>
        </p:grpSpPr>
        <p:sp>
          <p:nvSpPr>
            <p:cNvPr id="21" name="Oval 13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14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15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3484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31650" y="-5486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9. Projeto: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158943" y="1940666"/>
            <a:ext cx="2778560" cy="276514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Elaboração de documentação técnica dos sites intervencionados pelo projeto.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694874"/>
            <a:ext cx="3064339" cy="1080993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Redundância links MPLS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01-12-2015</a:t>
            </a:r>
          </a:p>
          <a:p>
            <a:r>
              <a:rPr lang="pt-BR" sz="1200" i="1" dirty="0" smtClean="0"/>
              <a:t>Data Conclusão: 30-06-2016</a:t>
            </a:r>
          </a:p>
          <a:p>
            <a:r>
              <a:rPr lang="pt-BR" sz="1200" i="1" dirty="0" smtClean="0"/>
              <a:t>Progresso: 44%</a:t>
            </a:r>
          </a:p>
          <a:p>
            <a:r>
              <a:rPr lang="pt-BR" sz="1200" i="1" dirty="0" smtClean="0"/>
              <a:t>PM: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940665"/>
            <a:ext cx="2716382" cy="276515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Alinhar datas e obter acordo com as operações  (Antártica) para realização dos testes.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1940666"/>
            <a:ext cx="2716382" cy="276514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projeto deverá melhorar o processo de comunicação entre as áreas (RACI).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  <a:r>
              <a:rPr lang="pt-BR" sz="1200" dirty="0" smtClean="0">
                <a:solidFill>
                  <a:schemeClr val="tx1"/>
                </a:solidFill>
              </a:rPr>
              <a:t>A OI não fornece previsões de instalação/intervenção.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694875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Para </a:t>
            </a:r>
            <a:r>
              <a:rPr lang="pt-BR" sz="1400" dirty="0"/>
              <a:t>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</a:t>
            </a:r>
            <a:r>
              <a:rPr lang="pt-BR" sz="1400" dirty="0" smtClean="0"/>
              <a:t>este projeto visa, </a:t>
            </a:r>
            <a:r>
              <a:rPr lang="pt-BR" sz="1400" b="1" dirty="0" smtClean="0"/>
              <a:t>Garantir </a:t>
            </a:r>
            <a:r>
              <a:rPr lang="pt-BR" sz="1400" b="1" dirty="0"/>
              <a:t>e documentar a funcionalidade da </a:t>
            </a:r>
            <a:r>
              <a:rPr lang="pt-BR" sz="1400" b="1" dirty="0" smtClean="0"/>
              <a:t>contingência e </a:t>
            </a:r>
            <a:r>
              <a:rPr lang="pt-BR" sz="1400" dirty="0"/>
              <a:t>v</a:t>
            </a:r>
            <a:r>
              <a:rPr lang="pt-BR" sz="1400" dirty="0" smtClean="0"/>
              <a:t>alidar </a:t>
            </a:r>
            <a:r>
              <a:rPr lang="pt-BR" sz="1400" dirty="0"/>
              <a:t>caminhos possíveis e documentar </a:t>
            </a:r>
            <a:r>
              <a:rPr lang="pt-BR" sz="1400" dirty="0" smtClean="0"/>
              <a:t>ações.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430687"/>
            <a:ext cx="280440" cy="280440"/>
          </a:xfrm>
          <a:prstGeom prst="rect">
            <a:avLst/>
          </a:prstGeom>
        </p:spPr>
      </p:pic>
      <p:pic>
        <p:nvPicPr>
          <p:cNvPr id="5" name="Imagem 4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005" y="3473150"/>
            <a:ext cx="1701989" cy="7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 do projeto </a:t>
            </a:r>
            <a:r>
              <a:rPr lang="pt-BR" sz="1200">
                <a:solidFill>
                  <a:schemeClr val="tx1">
                    <a:lumMod val="95000"/>
                    <a:lumOff val="5000"/>
                  </a:schemeClr>
                </a:solidFill>
              </a:rPr>
              <a:t>ampliado </a:t>
            </a:r>
            <a:r>
              <a:rPr lang="pt-BR" sz="12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30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junho, devido a falta de insumos (fitas e etiquetas) nos sites assim como equipamentos aguardando reparo</a:t>
            </a:r>
            <a:b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Liberação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redes em sites pilotos para uso 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UDP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Instalações dos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junto com as GMUD de WSUS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Backup &amp; Restore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Ambiente de Produção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30-06-2016</a:t>
            </a:r>
          </a:p>
          <a:p>
            <a:r>
              <a:rPr lang="pt-BR" sz="1200" i="1" dirty="0" smtClean="0"/>
              <a:t>Progresso: 81%</a:t>
            </a:r>
          </a:p>
          <a:p>
            <a:r>
              <a:rPr lang="pt-BR" sz="1200" i="1" dirty="0" smtClean="0"/>
              <a:t>PM: Rafael Alves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do piloto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para teste de backup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ambientes Windows e Linux  (Virtuais e Físicas) – Ambiente Windows Finalizado e Linux em andamento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Apoio do CSE para instalações dos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nos servidores Windows e Linux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Regional SP e RJ com falta de fitas, aguardando compra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HW de backup (robô) sem garantias e com mais de 5 anos de uso, ocorrendo desgastes por vida útil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Armazenamento indevido das mídias causando degradação das mesmas.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Providenciar Backup em todos os equipamentos de produção da Contax. Garantir plano de </a:t>
            </a:r>
            <a:r>
              <a:rPr lang="pt-BR" sz="1400" dirty="0" err="1" smtClean="0"/>
              <a:t>restore</a:t>
            </a:r>
            <a:r>
              <a:rPr lang="pt-BR" sz="1400" dirty="0" smtClean="0"/>
              <a:t> do ambiente. </a:t>
            </a:r>
            <a:endParaRPr lang="pt-BR" sz="1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094" y="1537397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62358" y="8805"/>
            <a:ext cx="4724449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OCS </a:t>
            </a:r>
            <a:r>
              <a:rPr lang="pt-BR" sz="22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10572" y="1995233"/>
            <a:ext cx="3223281" cy="26246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3.716/3.965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Microsoft	(2.903/3.046)		</a:t>
            </a:r>
            <a:r>
              <a:rPr lang="pt-BR" sz="1400" dirty="0" smtClean="0">
                <a:solidFill>
                  <a:srgbClr val="FF0000"/>
                </a:solidFill>
              </a:rPr>
              <a:t>143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Agente Instalado - Pendencia de Rede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87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(Host)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		42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(Host)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Usuário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Senha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                  14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2">
              <a:spcBef>
                <a:spcPts val="200"/>
              </a:spcBef>
              <a:spcAft>
                <a:spcPts val="200"/>
              </a:spcAft>
            </a:pP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Linux	(813/919)		</a:t>
            </a:r>
            <a:r>
              <a:rPr lang="pt-BR" sz="1400" dirty="0" smtClean="0">
                <a:solidFill>
                  <a:srgbClr val="FF0000"/>
                </a:solidFill>
              </a:rPr>
              <a:t>106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Agente Instalado - Pendencia de Rede	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(Host) 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Usuário </a:t>
            </a:r>
            <a:r>
              <a:rPr lang="pt-BR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Senha	</a:t>
            </a:r>
            <a:r>
              <a:rPr lang="pt-BR" sz="9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102</a:t>
            </a: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rgbClr val="FF0000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>
                <a:solidFill>
                  <a:schemeClr val="bg1"/>
                </a:solidFill>
              </a:rPr>
              <a:t>Data Inicio: </a:t>
            </a:r>
            <a:r>
              <a:rPr lang="pt-BR" sz="1200" i="1" dirty="0">
                <a:solidFill>
                  <a:schemeClr val="bg1"/>
                </a:solidFill>
              </a:rPr>
              <a:t>0</a:t>
            </a:r>
            <a:r>
              <a:rPr lang="pt-BR" sz="1200" i="1" dirty="0" smtClean="0">
                <a:solidFill>
                  <a:schemeClr val="bg1"/>
                </a:solidFill>
              </a:rPr>
              <a:t>4-12-2015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Data Conclusão: 10-06-2016</a:t>
            </a:r>
            <a:r>
              <a:rPr lang="pt-BR" sz="1200" i="1" strike="sngStrike" dirty="0" smtClean="0">
                <a:solidFill>
                  <a:schemeClr val="bg1"/>
                </a:solidFill>
              </a:rPr>
              <a:t> 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Progresso: 94%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439885" y="2053020"/>
            <a:ext cx="2716382" cy="256685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Equipe de controle de ativos esta utilizando a ferramenta.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62299" y="2053077"/>
            <a:ext cx="2620663" cy="25668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500737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 smtClean="0"/>
              <a:t> OCS </a:t>
            </a:r>
            <a:r>
              <a:rPr lang="pt-BR" sz="1400" dirty="0"/>
              <a:t>é uma ferramenta de </a:t>
            </a:r>
            <a:r>
              <a:rPr lang="pt-BR" sz="1400" dirty="0" smtClean="0"/>
              <a:t>Inventário de servidores para auxiliar a </a:t>
            </a:r>
            <a:r>
              <a:rPr lang="pt-BR" sz="1400" dirty="0"/>
              <a:t>equipe de Controle de Ativos</a:t>
            </a:r>
            <a:r>
              <a:rPr lang="pt-BR" sz="1400" dirty="0" smtClean="0"/>
              <a:t>. </a:t>
            </a:r>
            <a:endParaRPr lang="pt-BR" sz="1400" dirty="0"/>
          </a:p>
        </p:txBody>
      </p: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pSp>
        <p:nvGrpSpPr>
          <p:cNvPr id="20" name="Group 42"/>
          <p:cNvGrpSpPr>
            <a:grpSpLocks/>
          </p:cNvGrpSpPr>
          <p:nvPr/>
        </p:nvGrpSpPr>
        <p:grpSpPr bwMode="auto">
          <a:xfrm>
            <a:off x="2872581" y="1497012"/>
            <a:ext cx="274638" cy="274641"/>
            <a:chOff x="0" y="0"/>
            <a:chExt cx="173" cy="173"/>
          </a:xfrm>
        </p:grpSpPr>
        <p:sp>
          <p:nvSpPr>
            <p:cNvPr id="21" name="Arc 43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44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45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46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6" name="Arc 47"/>
            <p:cNvSpPr>
              <a:spLocks/>
            </p:cNvSpPr>
            <p:nvPr/>
          </p:nvSpPr>
          <p:spPr bwMode="auto">
            <a:xfrm flipH="1">
              <a:off x="0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7" name="Arc 4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8" name="Arc 4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9" name="Oval 5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415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6681" y="-4309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31619" y="2054536"/>
            <a:ext cx="2716382" cy="30098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concluído: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SIP Server Foundation 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8.1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SIP Server Deployment 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8.1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Voice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Foundation 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Composer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Voice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rgbClr val="00B050"/>
                </a:solidFill>
              </a:rPr>
              <a:t> </a:t>
            </a:r>
            <a:endParaRPr lang="pt-BR" sz="1200" dirty="0">
              <a:solidFill>
                <a:srgbClr val="00B050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31619" y="776935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Ura Internalização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14-4-2016</a:t>
            </a:r>
          </a:p>
          <a:p>
            <a:r>
              <a:rPr lang="pt-BR" sz="1200" i="1" dirty="0" smtClean="0"/>
              <a:t>Data Conclusão: 02-09-2016</a:t>
            </a:r>
          </a:p>
          <a:p>
            <a:r>
              <a:rPr lang="pt-BR" sz="1200" i="1" dirty="0" smtClean="0"/>
              <a:t>Progresso: 28%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31587" y="2054535"/>
            <a:ext cx="2716382" cy="298302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20 </a:t>
            </a:r>
            <a:r>
              <a:rPr lang="en-US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Junho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- </a:t>
            </a:r>
            <a:r>
              <a:rPr lang="en-US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Applications Solution (Presales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21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Junho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- CIM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Platform troubleshooting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Pendentes de data da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Routing and Solution Reporting 8.1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Deployment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Reunião para adequar e realinhar estratégia com a equipe de José Carlos.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949947" y="2054535"/>
            <a:ext cx="2716382" cy="300983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Carlos, esta a adequar-se ao escopo traçado pela equipe de quem herdou o legado da “Internalização da URA”.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só para 1 pessoa</a:t>
            </a: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Necessita de mais tempo para passar conhecimneto para os demais elementos.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modelo de contratação é “spot”, será necessário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adequar as demandas ao nosso prazo de execução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tendo em vista que estes recursos são suportados pelo contrato de outro cliente.  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PT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Capacitação e treinamento interno.</a:t>
            </a:r>
          </a:p>
          <a:p>
            <a:r>
              <a:rPr lang="pt-BR" sz="1400" dirty="0" smtClean="0"/>
              <a:t>O objetivo é não depender de terceiros, e obter prestação de serviço interno com maior qualidade e rapidez, gerando “</a:t>
            </a:r>
            <a:r>
              <a:rPr lang="pt-BR" sz="1400" dirty="0" err="1" smtClean="0"/>
              <a:t>saving</a:t>
            </a:r>
            <a:r>
              <a:rPr lang="pt-BR" sz="1400" dirty="0" smtClean="0"/>
              <a:t>” no investimento de treinamento e certificado. </a:t>
            </a:r>
            <a:endParaRPr lang="pt-BR" sz="1400" dirty="0"/>
          </a:p>
        </p:txBody>
      </p:sp>
      <p:grpSp>
        <p:nvGrpSpPr>
          <p:cNvPr id="22" name="Group 16"/>
          <p:cNvGrpSpPr>
            <a:grpSpLocks/>
          </p:cNvGrpSpPr>
          <p:nvPr/>
        </p:nvGrpSpPr>
        <p:grpSpPr bwMode="auto">
          <a:xfrm>
            <a:off x="2945850" y="1522415"/>
            <a:ext cx="274638" cy="274638"/>
            <a:chOff x="0" y="0"/>
            <a:chExt cx="173" cy="173"/>
          </a:xfrm>
        </p:grpSpPr>
        <p:sp>
          <p:nvSpPr>
            <p:cNvPr id="23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2248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Qualidade em Gravação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1814445"/>
            <a:ext cx="2716382" cy="27956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PT" sz="1200" dirty="0" smtClean="0">
                <a:solidFill>
                  <a:schemeClr val="tx1"/>
                </a:solidFill>
              </a:rPr>
              <a:t>Entregue para a fabrica de software melhorias na APP de recuperação de gravações.</a:t>
            </a:r>
            <a:endParaRPr lang="pt-BR" sz="1200" dirty="0" smtClean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/>
                </a:solidFill>
              </a:rPr>
              <a:t>Continuação de homologação da </a:t>
            </a:r>
            <a:r>
              <a:rPr lang="pt-BR" sz="1200" dirty="0">
                <a:solidFill>
                  <a:schemeClr val="tx1"/>
                </a:solidFill>
              </a:rPr>
              <a:t>ferramenta</a:t>
            </a:r>
            <a:r>
              <a:rPr lang="pt-BR" sz="1200" b="1" dirty="0">
                <a:solidFill>
                  <a:schemeClr val="tx1"/>
                </a:solidFill>
              </a:rPr>
              <a:t> </a:t>
            </a:r>
            <a:r>
              <a:rPr lang="pt-BR" sz="1200" dirty="0" smtClean="0">
                <a:solidFill>
                  <a:schemeClr val="tx1"/>
                </a:solidFill>
              </a:rPr>
              <a:t>de </a:t>
            </a:r>
            <a:r>
              <a:rPr lang="pt-BR" sz="1200" dirty="0">
                <a:solidFill>
                  <a:schemeClr val="tx1"/>
                </a:solidFill>
              </a:rPr>
              <a:t>recuperação de </a:t>
            </a:r>
            <a:r>
              <a:rPr lang="pt-BR" sz="1200" dirty="0" smtClean="0">
                <a:solidFill>
                  <a:schemeClr val="tx1"/>
                </a:solidFill>
              </a:rPr>
              <a:t>gravações.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84623" y="635027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dirty="0"/>
              <a:t>Data Inicio: </a:t>
            </a:r>
            <a:r>
              <a:rPr lang="pt-BR" sz="1200" dirty="0" smtClean="0"/>
              <a:t>24-02-2016  </a:t>
            </a:r>
          </a:p>
          <a:p>
            <a:r>
              <a:rPr lang="pt-BR" sz="1200" dirty="0" smtClean="0"/>
              <a:t>Data </a:t>
            </a:r>
            <a:r>
              <a:rPr lang="pt-BR" sz="1200" dirty="0"/>
              <a:t>Conclusão: </a:t>
            </a:r>
            <a:r>
              <a:rPr lang="pt-BR" sz="1200" dirty="0" smtClean="0"/>
              <a:t>23-08-2016</a:t>
            </a:r>
            <a:endParaRPr lang="pt-BR" sz="1200" dirty="0"/>
          </a:p>
          <a:p>
            <a:r>
              <a:rPr lang="pt-BR" sz="1200" dirty="0"/>
              <a:t>Progresso: </a:t>
            </a:r>
            <a:r>
              <a:rPr lang="pt-BR" sz="1200" dirty="0" smtClean="0"/>
              <a:t>72%</a:t>
            </a:r>
            <a:endParaRPr lang="pt-BR" sz="1200" dirty="0"/>
          </a:p>
          <a:p>
            <a:r>
              <a:rPr lang="pt-BR" sz="1200" dirty="0"/>
              <a:t>PM: </a:t>
            </a:r>
            <a:r>
              <a:rPr lang="pt-BR" sz="1200" dirty="0" err="1"/>
              <a:t>Luis</a:t>
            </a:r>
            <a:r>
              <a:rPr lang="pt-BR" sz="1200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449" y="1817850"/>
            <a:ext cx="2910818" cy="279225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b="1" dirty="0" smtClean="0">
                <a:solidFill>
                  <a:schemeClr val="tx1"/>
                </a:solidFill>
              </a:rPr>
              <a:t>O </a:t>
            </a:r>
            <a:r>
              <a:rPr lang="pt-BR" sz="1200" b="1" dirty="0" err="1" smtClean="0">
                <a:solidFill>
                  <a:schemeClr val="tx1"/>
                </a:solidFill>
              </a:rPr>
              <a:t>Tprocess</a:t>
            </a:r>
            <a:r>
              <a:rPr lang="pt-BR" sz="1200" b="1" dirty="0" smtClean="0">
                <a:solidFill>
                  <a:schemeClr val="tx1"/>
                </a:solidFill>
              </a:rPr>
              <a:t> </a:t>
            </a:r>
            <a:r>
              <a:rPr lang="pt-BR" sz="1200" dirty="0" smtClean="0">
                <a:solidFill>
                  <a:schemeClr val="tx1"/>
                </a:solidFill>
              </a:rPr>
              <a:t>foi selecionado como </a:t>
            </a:r>
            <a:r>
              <a:rPr lang="pt-BR" sz="1200" b="1" dirty="0" smtClean="0">
                <a:solidFill>
                  <a:schemeClr val="tx1"/>
                </a:solidFill>
              </a:rPr>
              <a:t>canal único de entrada </a:t>
            </a:r>
            <a:r>
              <a:rPr lang="pt-BR" sz="1200" dirty="0" smtClean="0">
                <a:solidFill>
                  <a:schemeClr val="tx1"/>
                </a:solidFill>
              </a:rPr>
              <a:t>para chamados para recuperação de gravação. </a:t>
            </a:r>
            <a:endParaRPr lang="pt-BR" sz="1200" dirty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/>
                </a:solidFill>
              </a:rPr>
              <a:t>“Piloto” - Implantar a nova metodologia de recuperação de chamados no  Bradesco para avaliar resultados.</a:t>
            </a:r>
            <a:endParaRPr lang="pt-BR" sz="1200" dirty="0">
              <a:solidFill>
                <a:schemeClr val="tx1"/>
              </a:solidFill>
            </a:endParaRPr>
          </a:p>
          <a:p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25443" y="1859071"/>
            <a:ext cx="2716382" cy="275103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>
                <a:solidFill>
                  <a:schemeClr val="tx1"/>
                </a:solidFill>
              </a:rPr>
              <a:t>Obs</a:t>
            </a:r>
            <a:r>
              <a:rPr lang="pt-BR" sz="1200" dirty="0">
                <a:solidFill>
                  <a:schemeClr val="tx1"/>
                </a:solidFill>
              </a:rPr>
              <a:t>: A abrangência e aderência na nova </a:t>
            </a:r>
            <a:r>
              <a:rPr lang="pt-BR" sz="1200" dirty="0" smtClean="0">
                <a:solidFill>
                  <a:schemeClr val="tx1"/>
                </a:solidFill>
              </a:rPr>
              <a:t>metodologia no novo “modus operandi” de recuperação </a:t>
            </a:r>
            <a:r>
              <a:rPr lang="pt-BR" sz="1200" dirty="0">
                <a:solidFill>
                  <a:schemeClr val="tx1"/>
                </a:solidFill>
              </a:rPr>
              <a:t>de gravação, poderá ser um desafio para algumas áreas.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45800" y="642950"/>
            <a:ext cx="5559600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</a:t>
            </a:r>
            <a:r>
              <a:rPr lang="pt-BR" sz="1400" b="1" dirty="0"/>
              <a:t>plano de ação para eliminar multas (de gravação)</a:t>
            </a:r>
            <a:r>
              <a:rPr lang="pt-BR" sz="1400" dirty="0"/>
              <a:t> nos clientes Contax</a:t>
            </a:r>
            <a:r>
              <a:rPr lang="pt-BR" sz="1400" dirty="0" smtClean="0"/>
              <a:t>.</a:t>
            </a:r>
          </a:p>
          <a:p>
            <a:r>
              <a:rPr lang="pt-BR" sz="1400" dirty="0"/>
              <a:t>Vamos adotar o trabalho baseado em PPT (</a:t>
            </a:r>
            <a:r>
              <a:rPr lang="pt-BR" sz="1400" b="1" dirty="0"/>
              <a:t>Pessoas – Processos – Tecnologia</a:t>
            </a:r>
            <a:r>
              <a:rPr lang="pt-BR" sz="1400" dirty="0" smtClean="0"/>
              <a:t>)</a:t>
            </a:r>
            <a:r>
              <a:rPr lang="pt-BR" sz="1400" dirty="0"/>
              <a:t>.</a:t>
            </a:r>
          </a:p>
        </p:txBody>
      </p:sp>
      <p:grpSp>
        <p:nvGrpSpPr>
          <p:cNvPr id="25" name="Group 27"/>
          <p:cNvGrpSpPr>
            <a:grpSpLocks/>
          </p:cNvGrpSpPr>
          <p:nvPr/>
        </p:nvGrpSpPr>
        <p:grpSpPr bwMode="auto">
          <a:xfrm>
            <a:off x="2841062" y="1317432"/>
            <a:ext cx="274637" cy="274638"/>
            <a:chOff x="0" y="0"/>
            <a:chExt cx="173" cy="173"/>
          </a:xfrm>
        </p:grpSpPr>
        <p:sp>
          <p:nvSpPr>
            <p:cNvPr id="26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605624" y="4384319"/>
            <a:ext cx="538376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303" y="367384"/>
            <a:ext cx="903554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46891"/>
            <a:ext cx="444801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144600" y="378505"/>
            <a:ext cx="184731" cy="248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014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97169" y="-13616"/>
            <a:ext cx="4872147" cy="560400"/>
          </a:xfrm>
          <a:prstGeom prst="rect">
            <a:avLst/>
          </a:prstGeom>
        </p:spPr>
        <p:txBody>
          <a:bodyPr vert="horz" lIns="51531" tIns="25765" rIns="51531" bIns="2576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</a:t>
            </a:r>
            <a:r>
              <a:rPr lang="pt-BR" sz="22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7.3 System 1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10221" y="2046500"/>
            <a:ext cx="2497809" cy="26492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113"/>
              </a:spcBef>
              <a:spcAft>
                <a:spcPts val="113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Estudo de utilização de banda para operações Sites.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13"/>
              </a:spcBef>
              <a:spcAft>
                <a:spcPts val="113"/>
              </a:spcAft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13"/>
              </a:spcBef>
              <a:spcAft>
                <a:spcPts val="113"/>
              </a:spcAft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45780" y="797267"/>
            <a:ext cx="2998820" cy="1033593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7.3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Plataforma: 05-01-2017</a:t>
            </a:r>
          </a:p>
          <a:p>
            <a:r>
              <a:rPr lang="pt-BR" sz="1200" i="1" dirty="0"/>
              <a:t>Progresso: 4%</a:t>
            </a:r>
          </a:p>
          <a:p>
            <a:r>
              <a:rPr lang="pt-BR" sz="1200" i="1" dirty="0"/>
              <a:t>PM: Julio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44600" y="2034362"/>
            <a:ext cx="2904507" cy="270837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113"/>
              </a:spcBef>
              <a:spcAft>
                <a:spcPts val="113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Definir plano de migração Santander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Definição de entrega de links OI.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Liberar ambiente para desenvolvedores.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Aprovar custos migração Santander.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  <a:p>
            <a:pPr marL="0" lvl="1" algn="ctr">
              <a:spcBef>
                <a:spcPts val="113"/>
              </a:spcBef>
              <a:spcAft>
                <a:spcPts val="113"/>
              </a:spcAft>
            </a:pPr>
            <a:endParaRPr lang="pt-BR" sz="789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24954" y="2034362"/>
            <a:ext cx="2610466" cy="268410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113"/>
              </a:spcBef>
              <a:spcAft>
                <a:spcPts val="113"/>
              </a:spcAft>
            </a:pPr>
            <a:r>
              <a:rPr lang="pt-BR" sz="1351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051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13"/>
              </a:spcBef>
              <a:spcAft>
                <a:spcPts val="113"/>
              </a:spcAft>
            </a:pPr>
            <a:endParaRPr lang="pt-BR" sz="1200" b="1" dirty="0" smtClean="0">
              <a:solidFill>
                <a:srgbClr val="FF0000"/>
              </a:solidFill>
            </a:endParaRPr>
          </a:p>
          <a:p>
            <a:pPr marL="0" lvl="1">
              <a:spcBef>
                <a:spcPts val="113"/>
              </a:spcBef>
              <a:spcAft>
                <a:spcPts val="113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</a:t>
            </a:r>
            <a:r>
              <a:rPr lang="pt-BR" sz="1200" b="1" dirty="0">
                <a:solidFill>
                  <a:srgbClr val="FF0000"/>
                </a:solidFill>
              </a:rPr>
              <a:t>: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Entrega da OI (E1´s) Polo Prado não pode ser em SIP. Em negociação.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altLang="pt-BR" sz="1200" b="1" dirty="0">
                <a:solidFill>
                  <a:schemeClr val="tx1"/>
                </a:solidFill>
              </a:rPr>
              <a:t>Aspect não cumpriu a data de implantação 24/05</a:t>
            </a:r>
            <a:r>
              <a:rPr lang="pt-BR" altLang="pt-BR" sz="1200" dirty="0">
                <a:solidFill>
                  <a:schemeClr val="tx1"/>
                </a:solidFill>
              </a:rPr>
              <a:t>.</a:t>
            </a: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/>
                </a:solidFill>
              </a:rPr>
              <a:t>Nova data </a:t>
            </a:r>
            <a:r>
              <a:rPr lang="pt-BR" sz="1200" dirty="0" smtClean="0">
                <a:solidFill>
                  <a:schemeClr val="tx1"/>
                </a:solidFill>
              </a:rPr>
              <a:t>13/06.</a:t>
            </a:r>
            <a:endParaRPr lang="pt-BR" sz="1200" dirty="0">
              <a:solidFill>
                <a:schemeClr val="tx1"/>
              </a:solidFill>
            </a:endParaRPr>
          </a:p>
          <a:p>
            <a:pPr marL="96621" lvl="1" indent="-96621">
              <a:spcBef>
                <a:spcPts val="113"/>
              </a:spcBef>
              <a:spcAft>
                <a:spcPts val="113"/>
              </a:spcAft>
              <a:buFont typeface="Arial" panose="020B0604020202020204" pitchFamily="34" charset="0"/>
              <a:buChar char="•"/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113"/>
              </a:spcBef>
              <a:spcAft>
                <a:spcPts val="113"/>
              </a:spcAft>
            </a:pPr>
            <a:endParaRPr lang="pt-BR" sz="676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520559" y="803053"/>
            <a:ext cx="5388979" cy="1033593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preparar/adequar toda  a infra de HW para instalar a versão 7.3 do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2000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E consequentemente migrar as operações críticas para essa plataforma.</a:t>
            </a:r>
          </a:p>
        </p:txBody>
      </p:sp>
      <p:grpSp>
        <p:nvGrpSpPr>
          <p:cNvPr id="20" name="Group 9"/>
          <p:cNvGrpSpPr>
            <a:grpSpLocks/>
          </p:cNvGrpSpPr>
          <p:nvPr/>
        </p:nvGrpSpPr>
        <p:grpSpPr bwMode="auto">
          <a:xfrm>
            <a:off x="2805175" y="1510687"/>
            <a:ext cx="274638" cy="274638"/>
            <a:chOff x="0" y="0"/>
            <a:chExt cx="173" cy="173"/>
          </a:xfrm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4886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Monitoração Dell – Open Manager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execução o cadastramento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lans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servidores (Total).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70% dos servidores Dell com monitorização de HW.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(Dell-Open Manager)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22-04-2016</a:t>
            </a:r>
          </a:p>
          <a:p>
            <a:r>
              <a:rPr lang="pt-BR" sz="1200" i="1" dirty="0" smtClean="0"/>
              <a:t>Progresso: 75%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do SW.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Aceitação das regras de liberação por SI.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sem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OMSE.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u="sng" dirty="0" smtClean="0">
                <a:solidFill>
                  <a:srgbClr val="FF0000"/>
                </a:solidFill>
              </a:rPr>
              <a:t>Projeto temporariamente parado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O recurso que dá andamento a este projeto,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esta dedicado totalmente ao projeto OCS e Backup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ativa de </a:t>
            </a:r>
            <a:r>
              <a:rPr lang="pt-BR" sz="1400" dirty="0" smtClean="0"/>
              <a:t>hardware para eliminar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609" y="1548974"/>
            <a:ext cx="280440" cy="280440"/>
          </a:xfrm>
          <a:prstGeom prst="rect">
            <a:avLst/>
          </a:prstGeom>
        </p:spPr>
      </p:pic>
      <p:sp>
        <p:nvSpPr>
          <p:cNvPr id="3" name="Estrela de 6 Pontas 2"/>
          <p:cNvSpPr/>
          <p:nvPr/>
        </p:nvSpPr>
        <p:spPr>
          <a:xfrm>
            <a:off x="3032887" y="4009877"/>
            <a:ext cx="2875747" cy="1093766"/>
          </a:xfrm>
          <a:prstGeom prst="star6">
            <a:avLst>
              <a:gd name="adj" fmla="val 24365"/>
              <a:gd name="hf" fmla="val 115470"/>
            </a:avLst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Freezing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12123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0" name="CaixaDeTexto 5"/>
          <p:cNvSpPr txBox="1"/>
          <p:nvPr/>
        </p:nvSpPr>
        <p:spPr>
          <a:xfrm>
            <a:off x="1259085" y="176961"/>
            <a:ext cx="57611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Redundância links MPLS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094" y="3106509"/>
            <a:ext cx="6228720" cy="195511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4211" y="976311"/>
            <a:ext cx="2806603" cy="189090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2201" y="992547"/>
            <a:ext cx="3015687" cy="1724527"/>
          </a:xfrm>
          <a:prstGeom prst="rect">
            <a:avLst/>
          </a:prstGeom>
        </p:spPr>
      </p:pic>
      <p:pic>
        <p:nvPicPr>
          <p:cNvPr id="3" name="Imagem 2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206" y="4735765"/>
            <a:ext cx="780356" cy="2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4326" y="894156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Macro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2659" y="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/>
          <p:cNvPicPr/>
          <p:nvPr/>
        </p:nvPicPr>
        <p:blipFill rotWithShape="1">
          <a:blip r:embed="rId2"/>
          <a:srcRect l="1928" t="30287" r="15823" b="11710"/>
          <a:stretch/>
        </p:blipFill>
        <p:spPr bwMode="auto">
          <a:xfrm>
            <a:off x="362585" y="1566705"/>
            <a:ext cx="8438515" cy="32910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611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76200" y="4991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dirty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 números de servidores ainda são os da nossa base devido a planilha de CA estar confusa para a atualização e entendimento dos ativos.</a:t>
            </a: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082764" y="180753"/>
            <a:ext cx="356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 de backup por site e evolução</a:t>
            </a:r>
            <a:endParaRPr lang="pt-BR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9" y="87722"/>
            <a:ext cx="4452936" cy="4789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876" y="1347788"/>
            <a:ext cx="3939393" cy="253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70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52411" y="109829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80975" y="657228"/>
          <a:ext cx="8829676" cy="4333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0471"/>
                <a:gridCol w="938987"/>
                <a:gridCol w="1050288"/>
                <a:gridCol w="2909200"/>
                <a:gridCol w="870730"/>
              </a:tblGrid>
              <a:tr h="5048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</a:rPr>
                        <a:t>Assunto</a:t>
                      </a:r>
                      <a:endParaRPr lang="pt-BR" sz="7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650" marR="60650" marT="30325" marB="303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Resp.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650" marR="60650" marT="30325" marB="303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Status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650" marR="60650" marT="30325" marB="303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Observação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650" marR="60650" marT="30325" marB="303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Previsão</a:t>
                      </a:r>
                      <a:endParaRPr lang="pt-BR" sz="7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0650" marR="60650" marT="30325" marB="30325" anchor="ctr"/>
                </a:tc>
              </a:tr>
              <a:tr h="343688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RJ - Transporte do robô de Alegria para Engenho de Dentro - SC 246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Concluído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Robô instado e operando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27/05/2016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343688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RJ - Compra de fitas para a regional 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- SC 245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Eugenio Silva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status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status sobre as aprovações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343688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Manutenção de 02 robôs no site MCK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o site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 – Aguardando aprovação SC 993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2 – Dell realizando teste ainda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30/05/2016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47441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Troca de robôs entre sites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a disponibilidade do site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Solicitado a troca de robôs entre os sites São Cristóvão e Mauá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30/06/2016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3436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SP - Compra de fitas para a regional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Roberto Elias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Apenas chegaram 45 fitas para atender a regional, aguardando o resto do material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30/05/2016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343688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SP – Manutenção no robô do site Alegria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Roberto Elias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a Big Blue atuar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30/04/2016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47441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DC - GAP de licenças DATA PROTECTOR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Valores já enviados pela HP e aprovados pela Engenharia. Enviado o formulário para abertura de SC para o time de FINANCEIRO_TI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Sem prazo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47441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Contrato de suporte ao HW de BKP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 err="1">
                          <a:effectLst/>
                        </a:rPr>
                        <a:t>Mafê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Enviado novamente a listagem de todos os robôs que estão em nosso parque para renovação de suporte de HW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 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343688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Armazenamento de fita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Definindo melhor cenário de custódia e armazenamento de mídias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 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  <a:tr h="343688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Instalação de agentes nos servidores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Celio Ricardo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Em andamento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Disponibilizado um analista do CSE para atender diariamente nossos chamado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 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318" marR="6318" marT="6318" marB="0" anchor="ctr"/>
                </a:tc>
              </a:tr>
            </a:tbl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47813" y="13033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20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511225" y="100125"/>
            <a:ext cx="152316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Time Line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1" y="923925"/>
            <a:ext cx="8892188" cy="293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06" y="4735765"/>
            <a:ext cx="780356" cy="2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20497</TotalTime>
  <Words>2619</Words>
  <Application>Microsoft Office PowerPoint</Application>
  <PresentationFormat>Personalizar</PresentationFormat>
  <Paragraphs>453</Paragraphs>
  <Slides>34</Slides>
  <Notes>15</Notes>
  <HiddenSlides>5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Century Gothic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1562</cp:revision>
  <dcterms:created xsi:type="dcterms:W3CDTF">2015-08-20T14:57:26Z</dcterms:created>
  <dcterms:modified xsi:type="dcterms:W3CDTF">2016-06-10T19:06:18Z</dcterms:modified>
</cp:coreProperties>
</file>