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8" r:id="rId3"/>
    <p:sldId id="259" r:id="rId4"/>
    <p:sldId id="262" r:id="rId5"/>
    <p:sldId id="261" r:id="rId6"/>
    <p:sldId id="260" r:id="rId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85D6-97A3-4CA4-8D5B-61E95F1217C2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AC1C0-3010-4BAD-BB68-BE28528C39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0261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85D6-97A3-4CA4-8D5B-61E95F1217C2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AC1C0-3010-4BAD-BB68-BE28528C39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6101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85D6-97A3-4CA4-8D5B-61E95F1217C2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AC1C0-3010-4BAD-BB68-BE28528C39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480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85D6-97A3-4CA4-8D5B-61E95F1217C2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AC1C0-3010-4BAD-BB68-BE28528C39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0261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85D6-97A3-4CA4-8D5B-61E95F1217C2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AC1C0-3010-4BAD-BB68-BE28528C39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3191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85D6-97A3-4CA4-8D5B-61E95F1217C2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AC1C0-3010-4BAD-BB68-BE28528C39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368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85D6-97A3-4CA4-8D5B-61E95F1217C2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AC1C0-3010-4BAD-BB68-BE28528C39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5580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85D6-97A3-4CA4-8D5B-61E95F1217C2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AC1C0-3010-4BAD-BB68-BE28528C39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1580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85D6-97A3-4CA4-8D5B-61E95F1217C2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AC1C0-3010-4BAD-BB68-BE28528C39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2477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85D6-97A3-4CA4-8D5B-61E95F1217C2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AC1C0-3010-4BAD-BB68-BE28528C39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64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185D6-97A3-4CA4-8D5B-61E95F1217C2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AC1C0-3010-4BAD-BB68-BE28528C39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4062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87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185D6-97A3-4CA4-8D5B-61E95F1217C2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AC1C0-3010-4BAD-BB68-BE28528C39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3840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10332720" y="13208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744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06-0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686486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79512" y="3075012"/>
            <a:ext cx="5950039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dirty="0" smtClean="0">
                <a:solidFill>
                  <a:schemeClr val="bg1"/>
                </a:solidFill>
                <a:latin typeface="Arial"/>
                <a:cs typeface="Arial"/>
              </a:rPr>
              <a:t>Gerência Regional de TI – RJ</a:t>
            </a:r>
            <a:endParaRPr lang="en-US" sz="3000" b="1" dirty="0" smtClean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" name="AutoShape 2" descr="Resultado de imagem para 24 hora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5" name="AutoShape 5" descr="Resultado de imagem para 24 hora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79512" y="3795092"/>
            <a:ext cx="8341033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chemeClr val="bg1"/>
                </a:solidFill>
                <a:latin typeface="Arial"/>
                <a:cs typeface="Arial"/>
              </a:rPr>
              <a:t>Resultados 2015 e </a:t>
            </a:r>
            <a:r>
              <a:rPr lang="en-US" sz="2800" dirty="0" smtClean="0">
                <a:solidFill>
                  <a:schemeClr val="bg1"/>
                </a:solidFill>
                <a:latin typeface="Arial"/>
                <a:cs typeface="Arial"/>
              </a:rPr>
              <a:t>Plano de Ação 2016</a:t>
            </a:r>
          </a:p>
        </p:txBody>
      </p:sp>
    </p:spTree>
    <p:extLst>
      <p:ext uri="{BB962C8B-B14F-4D97-AF65-F5344CB8AC3E}">
        <p14:creationId xmlns:p14="http://schemas.microsoft.com/office/powerpoint/2010/main" val="2147629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258" y="129405"/>
            <a:ext cx="1603348" cy="388071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-1"/>
            <a:ext cx="789296" cy="1034955"/>
          </a:xfrm>
          <a:prstGeom prst="rect">
            <a:avLst/>
          </a:prstGeom>
        </p:spPr>
      </p:pic>
      <p:sp>
        <p:nvSpPr>
          <p:cNvPr id="23" name="Espaço Reservado para Texto 1"/>
          <p:cNvSpPr txBox="1">
            <a:spLocks/>
          </p:cNvSpPr>
          <p:nvPr/>
        </p:nvSpPr>
        <p:spPr>
          <a:xfrm>
            <a:off x="502681" y="6223"/>
            <a:ext cx="6047975" cy="686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dirty="0" smtClean="0">
                <a:solidFill>
                  <a:schemeClr val="accent1">
                    <a:lumMod val="50000"/>
                  </a:schemeClr>
                </a:solidFill>
              </a:rPr>
              <a:t>DIAGRAMA DE ISHIKAWA</a:t>
            </a:r>
          </a:p>
          <a:p>
            <a:r>
              <a:rPr lang="pt-BR" sz="2000" b="1" dirty="0" smtClean="0">
                <a:solidFill>
                  <a:schemeClr val="accent1">
                    <a:lumMod val="50000"/>
                  </a:schemeClr>
                </a:solidFill>
              </a:rPr>
              <a:t>CAUSA DE INCIDENTES DE ALTO IMPACTO - RJ</a:t>
            </a:r>
            <a:endParaRPr lang="pt-BR" sz="2000" b="1" dirty="0" smtClean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AutoShape 2" descr="Resultado de imagem para centralização de operaçõ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5" name="Retângulo 24"/>
          <p:cNvSpPr/>
          <p:nvPr/>
        </p:nvSpPr>
        <p:spPr>
          <a:xfrm>
            <a:off x="7668343" y="3354807"/>
            <a:ext cx="1392529" cy="72008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Incidentes Alto Impacto</a:t>
            </a:r>
            <a:endParaRPr lang="pt-BR" dirty="0"/>
          </a:p>
        </p:txBody>
      </p:sp>
      <p:cxnSp>
        <p:nvCxnSpPr>
          <p:cNvPr id="26" name="Conector de seta reta 25"/>
          <p:cNvCxnSpPr/>
          <p:nvPr/>
        </p:nvCxnSpPr>
        <p:spPr>
          <a:xfrm flipV="1">
            <a:off x="296264" y="3712662"/>
            <a:ext cx="7340593" cy="2185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ângulo 26"/>
          <p:cNvSpPr/>
          <p:nvPr/>
        </p:nvSpPr>
        <p:spPr>
          <a:xfrm>
            <a:off x="5215849" y="1484784"/>
            <a:ext cx="1584176" cy="72008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Causas Externas</a:t>
            </a:r>
            <a:endParaRPr lang="pt-BR" dirty="0"/>
          </a:p>
        </p:txBody>
      </p:sp>
      <p:sp>
        <p:nvSpPr>
          <p:cNvPr id="28" name="Retângulo 27"/>
          <p:cNvSpPr/>
          <p:nvPr/>
        </p:nvSpPr>
        <p:spPr>
          <a:xfrm>
            <a:off x="5143841" y="5373216"/>
            <a:ext cx="1584176" cy="72008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Rede/Link</a:t>
            </a:r>
            <a:endParaRPr lang="pt-BR" dirty="0"/>
          </a:p>
        </p:txBody>
      </p:sp>
      <p:sp>
        <p:nvSpPr>
          <p:cNvPr id="29" name="Retângulo 28"/>
          <p:cNvSpPr/>
          <p:nvPr/>
        </p:nvSpPr>
        <p:spPr>
          <a:xfrm>
            <a:off x="2839585" y="1484784"/>
            <a:ext cx="1584176" cy="72008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Processos</a:t>
            </a:r>
            <a:endParaRPr lang="pt-BR" dirty="0"/>
          </a:p>
        </p:txBody>
      </p:sp>
      <p:sp>
        <p:nvSpPr>
          <p:cNvPr id="30" name="Retângulo 29"/>
          <p:cNvSpPr/>
          <p:nvPr/>
        </p:nvSpPr>
        <p:spPr>
          <a:xfrm>
            <a:off x="2767577" y="5373216"/>
            <a:ext cx="1584176" cy="72008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Aplicações</a:t>
            </a:r>
            <a:endParaRPr lang="pt-BR" dirty="0"/>
          </a:p>
        </p:txBody>
      </p:sp>
      <p:sp>
        <p:nvSpPr>
          <p:cNvPr id="31" name="Retângulo 30"/>
          <p:cNvSpPr/>
          <p:nvPr/>
        </p:nvSpPr>
        <p:spPr>
          <a:xfrm>
            <a:off x="683568" y="1484784"/>
            <a:ext cx="1584176" cy="72008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Pessoas</a:t>
            </a:r>
            <a:endParaRPr lang="pt-BR" dirty="0"/>
          </a:p>
        </p:txBody>
      </p:sp>
      <p:sp>
        <p:nvSpPr>
          <p:cNvPr id="32" name="Retângulo 31"/>
          <p:cNvSpPr/>
          <p:nvPr/>
        </p:nvSpPr>
        <p:spPr>
          <a:xfrm>
            <a:off x="611560" y="5373216"/>
            <a:ext cx="1584176" cy="72008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Banco de Dados</a:t>
            </a:r>
            <a:endParaRPr lang="pt-BR" dirty="0"/>
          </a:p>
        </p:txBody>
      </p:sp>
      <p:cxnSp>
        <p:nvCxnSpPr>
          <p:cNvPr id="33" name="Conector de seta reta 32"/>
          <p:cNvCxnSpPr>
            <a:stCxn id="27" idx="2"/>
          </p:cNvCxnSpPr>
          <p:nvPr/>
        </p:nvCxnSpPr>
        <p:spPr>
          <a:xfrm>
            <a:off x="6007937" y="2204864"/>
            <a:ext cx="652295" cy="1507798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/>
          <p:cNvCxnSpPr>
            <a:stCxn id="29" idx="2"/>
          </p:cNvCxnSpPr>
          <p:nvPr/>
        </p:nvCxnSpPr>
        <p:spPr>
          <a:xfrm>
            <a:off x="3631673" y="2204864"/>
            <a:ext cx="868319" cy="1496495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>
            <a:stCxn id="31" idx="2"/>
          </p:cNvCxnSpPr>
          <p:nvPr/>
        </p:nvCxnSpPr>
        <p:spPr>
          <a:xfrm>
            <a:off x="1475656" y="2204864"/>
            <a:ext cx="936104" cy="1507798"/>
          </a:xfrm>
          <a:prstGeom prst="straightConnector1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8" idx="0"/>
          </p:cNvCxnSpPr>
          <p:nvPr/>
        </p:nvCxnSpPr>
        <p:spPr>
          <a:xfrm flipV="1">
            <a:off x="5935929" y="3713018"/>
            <a:ext cx="825089" cy="1660198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>
            <a:stCxn id="30" idx="0"/>
          </p:cNvCxnSpPr>
          <p:nvPr/>
        </p:nvCxnSpPr>
        <p:spPr>
          <a:xfrm flipV="1">
            <a:off x="3559665" y="3699164"/>
            <a:ext cx="1053899" cy="1674052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>
            <a:stCxn id="32" idx="0"/>
          </p:cNvCxnSpPr>
          <p:nvPr/>
        </p:nvCxnSpPr>
        <p:spPr>
          <a:xfrm flipV="1">
            <a:off x="1403648" y="3713018"/>
            <a:ext cx="1090170" cy="1660198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/>
          <p:nvPr/>
        </p:nvCxnSpPr>
        <p:spPr>
          <a:xfrm flipV="1">
            <a:off x="1399218" y="2507260"/>
            <a:ext cx="220454" cy="444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-71344" y="2290727"/>
            <a:ext cx="14705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 smtClean="0"/>
              <a:t>Procedimentos  Indevidos (</a:t>
            </a:r>
            <a:r>
              <a:rPr lang="pt-BR" sz="1100" dirty="0" smtClean="0"/>
              <a:t>Macros)</a:t>
            </a:r>
            <a:endParaRPr lang="pt-BR" sz="1100" dirty="0"/>
          </a:p>
        </p:txBody>
      </p:sp>
      <p:cxnSp>
        <p:nvCxnSpPr>
          <p:cNvPr id="41" name="Conector reto 40"/>
          <p:cNvCxnSpPr/>
          <p:nvPr/>
        </p:nvCxnSpPr>
        <p:spPr>
          <a:xfrm>
            <a:off x="5694307" y="2675131"/>
            <a:ext cx="434159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/>
          <p:cNvSpPr txBox="1"/>
          <p:nvPr/>
        </p:nvSpPr>
        <p:spPr>
          <a:xfrm>
            <a:off x="4236731" y="2350621"/>
            <a:ext cx="145619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 smtClean="0"/>
              <a:t>Mudanças feitas pela Oi (releases), CRM, URA, LINKS</a:t>
            </a:r>
            <a:endParaRPr lang="pt-BR" sz="1100" dirty="0"/>
          </a:p>
        </p:txBody>
      </p:sp>
      <p:cxnSp>
        <p:nvCxnSpPr>
          <p:cNvPr id="43" name="Conector reto 42"/>
          <p:cNvCxnSpPr/>
          <p:nvPr/>
        </p:nvCxnSpPr>
        <p:spPr>
          <a:xfrm>
            <a:off x="3317422" y="2481942"/>
            <a:ext cx="434159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/>
          <p:cNvSpPr txBox="1"/>
          <p:nvPr/>
        </p:nvSpPr>
        <p:spPr>
          <a:xfrm>
            <a:off x="1907704" y="2249162"/>
            <a:ext cx="13401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 smtClean="0"/>
              <a:t>Backups não executados</a:t>
            </a:r>
            <a:endParaRPr lang="pt-BR" sz="1100" dirty="0"/>
          </a:p>
        </p:txBody>
      </p:sp>
      <p:cxnSp>
        <p:nvCxnSpPr>
          <p:cNvPr id="45" name="Conector reto 44"/>
          <p:cNvCxnSpPr/>
          <p:nvPr/>
        </p:nvCxnSpPr>
        <p:spPr>
          <a:xfrm>
            <a:off x="1616298" y="4423431"/>
            <a:ext cx="273990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/>
          <p:cNvSpPr txBox="1"/>
          <p:nvPr/>
        </p:nvSpPr>
        <p:spPr>
          <a:xfrm>
            <a:off x="202645" y="4194133"/>
            <a:ext cx="14170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 smtClean="0"/>
              <a:t>Dimensionamento de HW de backup</a:t>
            </a:r>
            <a:endParaRPr lang="pt-BR" sz="1100" dirty="0"/>
          </a:p>
        </p:txBody>
      </p:sp>
      <p:cxnSp>
        <p:nvCxnSpPr>
          <p:cNvPr id="47" name="Conector reto 46"/>
          <p:cNvCxnSpPr/>
          <p:nvPr/>
        </p:nvCxnSpPr>
        <p:spPr>
          <a:xfrm>
            <a:off x="1759919" y="4014929"/>
            <a:ext cx="434159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/>
          <p:cNvSpPr txBox="1"/>
          <p:nvPr/>
        </p:nvSpPr>
        <p:spPr>
          <a:xfrm>
            <a:off x="494426" y="3770267"/>
            <a:ext cx="12476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 smtClean="0"/>
              <a:t>Réplica da base da PCRJ (Já OK)</a:t>
            </a:r>
            <a:endParaRPr lang="pt-BR" sz="1100" dirty="0"/>
          </a:p>
        </p:txBody>
      </p:sp>
      <p:cxnSp>
        <p:nvCxnSpPr>
          <p:cNvPr id="49" name="Conector reto 48"/>
          <p:cNvCxnSpPr/>
          <p:nvPr/>
        </p:nvCxnSpPr>
        <p:spPr>
          <a:xfrm>
            <a:off x="3993825" y="3933056"/>
            <a:ext cx="434159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/>
          <p:cNvSpPr txBox="1"/>
          <p:nvPr/>
        </p:nvSpPr>
        <p:spPr>
          <a:xfrm>
            <a:off x="2589120" y="3802895"/>
            <a:ext cx="14068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r">
              <a:defRPr sz="1100"/>
            </a:lvl1pPr>
          </a:lstStyle>
          <a:p>
            <a:r>
              <a:rPr lang="pt-BR" dirty="0" smtClean="0"/>
              <a:t>Sistema de Gravação</a:t>
            </a:r>
            <a:endParaRPr lang="pt-BR" dirty="0"/>
          </a:p>
        </p:txBody>
      </p:sp>
      <p:cxnSp>
        <p:nvCxnSpPr>
          <p:cNvPr id="51" name="Conector reto 50"/>
          <p:cNvCxnSpPr/>
          <p:nvPr/>
        </p:nvCxnSpPr>
        <p:spPr>
          <a:xfrm>
            <a:off x="3808244" y="4202028"/>
            <a:ext cx="434159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/>
          <p:cNvSpPr txBox="1"/>
          <p:nvPr/>
        </p:nvSpPr>
        <p:spPr>
          <a:xfrm>
            <a:off x="2302588" y="4077072"/>
            <a:ext cx="14939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 smtClean="0"/>
              <a:t>SGRC (releases/falhas) </a:t>
            </a:r>
            <a:endParaRPr lang="pt-BR" sz="1100" dirty="0"/>
          </a:p>
        </p:txBody>
      </p:sp>
      <p:cxnSp>
        <p:nvCxnSpPr>
          <p:cNvPr id="53" name="Conector reto 52"/>
          <p:cNvCxnSpPr/>
          <p:nvPr/>
        </p:nvCxnSpPr>
        <p:spPr>
          <a:xfrm>
            <a:off x="6068202" y="4005064"/>
            <a:ext cx="434159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ixaDeTexto 53"/>
          <p:cNvSpPr txBox="1"/>
          <p:nvPr/>
        </p:nvSpPr>
        <p:spPr>
          <a:xfrm>
            <a:off x="4785913" y="3789040"/>
            <a:ext cx="12476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r">
              <a:defRPr sz="1100"/>
            </a:lvl1pPr>
          </a:lstStyle>
          <a:p>
            <a:r>
              <a:rPr lang="pt-BR" dirty="0" smtClean="0"/>
              <a:t>Link Niterói x Oi (Já OK)</a:t>
            </a:r>
            <a:endParaRPr lang="pt-BR" dirty="0"/>
          </a:p>
        </p:txBody>
      </p:sp>
      <p:cxnSp>
        <p:nvCxnSpPr>
          <p:cNvPr id="55" name="Conector reto 54"/>
          <p:cNvCxnSpPr/>
          <p:nvPr/>
        </p:nvCxnSpPr>
        <p:spPr>
          <a:xfrm>
            <a:off x="5825089" y="4594189"/>
            <a:ext cx="434159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/>
          <p:cNvSpPr txBox="1"/>
          <p:nvPr/>
        </p:nvSpPr>
        <p:spPr>
          <a:xfrm>
            <a:off x="4587306" y="4368998"/>
            <a:ext cx="124766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r">
              <a:defRPr sz="1100"/>
            </a:lvl1pPr>
          </a:lstStyle>
          <a:p>
            <a:r>
              <a:rPr lang="pt-BR" dirty="0" smtClean="0"/>
              <a:t>Link MPLS de backup do Mauá c/apenas 50 mbps </a:t>
            </a:r>
            <a:endParaRPr lang="pt-BR" dirty="0"/>
          </a:p>
        </p:txBody>
      </p:sp>
      <p:cxnSp>
        <p:nvCxnSpPr>
          <p:cNvPr id="57" name="Conector reto 56"/>
          <p:cNvCxnSpPr/>
          <p:nvPr/>
        </p:nvCxnSpPr>
        <p:spPr>
          <a:xfrm>
            <a:off x="1504609" y="3038732"/>
            <a:ext cx="434159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/>
          <p:cNvSpPr txBox="1"/>
          <p:nvPr/>
        </p:nvSpPr>
        <p:spPr>
          <a:xfrm>
            <a:off x="46212" y="2792876"/>
            <a:ext cx="14561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 smtClean="0"/>
              <a:t>Arquivos deletados erroneamente</a:t>
            </a:r>
            <a:endParaRPr lang="pt-BR" sz="1100" dirty="0"/>
          </a:p>
        </p:txBody>
      </p:sp>
      <p:cxnSp>
        <p:nvCxnSpPr>
          <p:cNvPr id="59" name="Conector reto 58"/>
          <p:cNvCxnSpPr/>
          <p:nvPr/>
        </p:nvCxnSpPr>
        <p:spPr>
          <a:xfrm>
            <a:off x="3561777" y="2910135"/>
            <a:ext cx="434159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/>
          <p:cNvSpPr txBox="1"/>
          <p:nvPr/>
        </p:nvSpPr>
        <p:spPr>
          <a:xfrm>
            <a:off x="2205945" y="2679303"/>
            <a:ext cx="13401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 smtClean="0"/>
              <a:t>Limpeza de base não executada</a:t>
            </a:r>
            <a:endParaRPr lang="pt-BR" sz="1100" dirty="0"/>
          </a:p>
        </p:txBody>
      </p:sp>
      <p:cxnSp>
        <p:nvCxnSpPr>
          <p:cNvPr id="61" name="Conector reto 60"/>
          <p:cNvCxnSpPr/>
          <p:nvPr/>
        </p:nvCxnSpPr>
        <p:spPr>
          <a:xfrm flipH="1">
            <a:off x="6332913" y="4603623"/>
            <a:ext cx="434159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aixaDeTexto 61"/>
          <p:cNvSpPr txBox="1"/>
          <p:nvPr/>
        </p:nvSpPr>
        <p:spPr>
          <a:xfrm>
            <a:off x="6725506" y="4211707"/>
            <a:ext cx="17950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r">
              <a:defRPr sz="1100"/>
            </a:lvl1pPr>
          </a:lstStyle>
          <a:p>
            <a:pPr algn="l"/>
            <a:r>
              <a:rPr lang="pt-BR" dirty="0" smtClean="0"/>
              <a:t>Documentação das r</a:t>
            </a:r>
            <a:r>
              <a:rPr lang="pt-BR" dirty="0" smtClean="0"/>
              <a:t>egras </a:t>
            </a:r>
            <a:r>
              <a:rPr lang="pt-BR" dirty="0" smtClean="0"/>
              <a:t>de </a:t>
            </a:r>
            <a:r>
              <a:rPr lang="pt-BR" dirty="0" smtClean="0"/>
              <a:t>roteamento e das aplicações (aumentar velocidade de contingência)</a:t>
            </a:r>
            <a:endParaRPr lang="pt-BR" dirty="0"/>
          </a:p>
        </p:txBody>
      </p:sp>
      <p:cxnSp>
        <p:nvCxnSpPr>
          <p:cNvPr id="63" name="Conector reto 62"/>
          <p:cNvCxnSpPr/>
          <p:nvPr/>
        </p:nvCxnSpPr>
        <p:spPr>
          <a:xfrm>
            <a:off x="1780321" y="3458465"/>
            <a:ext cx="434159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308069" y="3225472"/>
            <a:ext cx="14561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 smtClean="0"/>
              <a:t>Usuários acima do dimensionamento</a:t>
            </a:r>
            <a:endParaRPr lang="pt-BR" sz="1100" dirty="0"/>
          </a:p>
        </p:txBody>
      </p:sp>
      <p:cxnSp>
        <p:nvCxnSpPr>
          <p:cNvPr id="65" name="Conector reto 64"/>
          <p:cNvCxnSpPr/>
          <p:nvPr/>
        </p:nvCxnSpPr>
        <p:spPr>
          <a:xfrm>
            <a:off x="3575632" y="4551638"/>
            <a:ext cx="434159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2100761" y="4334661"/>
            <a:ext cx="14841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 smtClean="0"/>
              <a:t>URAS (Globo, Santander, PAP, PCRJ)</a:t>
            </a:r>
            <a:endParaRPr lang="pt-BR" sz="1100" dirty="0"/>
          </a:p>
        </p:txBody>
      </p:sp>
      <p:cxnSp>
        <p:nvCxnSpPr>
          <p:cNvPr id="67" name="Conector reto 66"/>
          <p:cNvCxnSpPr/>
          <p:nvPr/>
        </p:nvCxnSpPr>
        <p:spPr>
          <a:xfrm>
            <a:off x="1110131" y="5116828"/>
            <a:ext cx="434159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/>
          <p:cNvSpPr txBox="1"/>
          <p:nvPr/>
        </p:nvSpPr>
        <p:spPr>
          <a:xfrm>
            <a:off x="-71344" y="4683176"/>
            <a:ext cx="12555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 smtClean="0"/>
              <a:t>Bancos de URA sem backup</a:t>
            </a:r>
            <a:endParaRPr lang="pt-BR" sz="1100" dirty="0"/>
          </a:p>
        </p:txBody>
      </p:sp>
      <p:cxnSp>
        <p:nvCxnSpPr>
          <p:cNvPr id="69" name="Conector reto 68"/>
          <p:cNvCxnSpPr/>
          <p:nvPr/>
        </p:nvCxnSpPr>
        <p:spPr>
          <a:xfrm flipH="1">
            <a:off x="6234152" y="2648928"/>
            <a:ext cx="434159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ixaDeTexto 69"/>
          <p:cNvSpPr txBox="1"/>
          <p:nvPr/>
        </p:nvSpPr>
        <p:spPr>
          <a:xfrm>
            <a:off x="6612890" y="2422049"/>
            <a:ext cx="1893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r">
              <a:defRPr sz="1100"/>
            </a:lvl1pPr>
          </a:lstStyle>
          <a:p>
            <a:pPr algn="l"/>
            <a:r>
              <a:rPr lang="pt-BR" dirty="0" smtClean="0"/>
              <a:t>Incidentes das operadoras Oi, Algar etc...</a:t>
            </a:r>
            <a:endParaRPr lang="pt-BR" dirty="0"/>
          </a:p>
        </p:txBody>
      </p:sp>
      <p:cxnSp>
        <p:nvCxnSpPr>
          <p:cNvPr id="71" name="Conector reto 70"/>
          <p:cNvCxnSpPr/>
          <p:nvPr/>
        </p:nvCxnSpPr>
        <p:spPr>
          <a:xfrm>
            <a:off x="5885560" y="3123856"/>
            <a:ext cx="434159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aixaDeTexto 71"/>
          <p:cNvSpPr txBox="1"/>
          <p:nvPr/>
        </p:nvSpPr>
        <p:spPr>
          <a:xfrm>
            <a:off x="4427984" y="2966509"/>
            <a:ext cx="14561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 smtClean="0"/>
              <a:t>Falta de energia</a:t>
            </a:r>
            <a:endParaRPr lang="pt-BR" sz="1100" dirty="0"/>
          </a:p>
        </p:txBody>
      </p:sp>
      <p:cxnSp>
        <p:nvCxnSpPr>
          <p:cNvPr id="76" name="Conector reto 75"/>
          <p:cNvCxnSpPr/>
          <p:nvPr/>
        </p:nvCxnSpPr>
        <p:spPr>
          <a:xfrm>
            <a:off x="6037960" y="3428476"/>
            <a:ext cx="434159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ixaDeTexto 77"/>
          <p:cNvSpPr txBox="1"/>
          <p:nvPr/>
        </p:nvSpPr>
        <p:spPr>
          <a:xfrm>
            <a:off x="4580384" y="3271129"/>
            <a:ext cx="14561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 smtClean="0"/>
              <a:t>Falha Refrigeração</a:t>
            </a:r>
            <a:endParaRPr lang="pt-BR" sz="1100" dirty="0"/>
          </a:p>
        </p:txBody>
      </p:sp>
      <p:cxnSp>
        <p:nvCxnSpPr>
          <p:cNvPr id="79" name="Conector reto 78"/>
          <p:cNvCxnSpPr/>
          <p:nvPr/>
        </p:nvCxnSpPr>
        <p:spPr>
          <a:xfrm>
            <a:off x="4034922" y="3399510"/>
            <a:ext cx="249046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aixaDeTexto 79"/>
          <p:cNvSpPr txBox="1"/>
          <p:nvPr/>
        </p:nvSpPr>
        <p:spPr>
          <a:xfrm>
            <a:off x="2227599" y="3096670"/>
            <a:ext cx="176833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050" dirty="0" smtClean="0"/>
              <a:t>Renovação de licenças (TLV, </a:t>
            </a:r>
            <a:r>
              <a:rPr lang="pt-BR" sz="1050" dirty="0" err="1" smtClean="0"/>
              <a:t>Generation</a:t>
            </a:r>
            <a:r>
              <a:rPr lang="pt-BR" sz="1050" dirty="0" smtClean="0"/>
              <a:t>, Certificado de Segurança 1746)</a:t>
            </a:r>
            <a:endParaRPr lang="pt-BR" sz="1050" dirty="0"/>
          </a:p>
        </p:txBody>
      </p:sp>
      <p:cxnSp>
        <p:nvCxnSpPr>
          <p:cNvPr id="81" name="Conector reto 80"/>
          <p:cNvCxnSpPr/>
          <p:nvPr/>
        </p:nvCxnSpPr>
        <p:spPr>
          <a:xfrm flipH="1">
            <a:off x="6502361" y="3125274"/>
            <a:ext cx="434159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aixaDeTexto 83"/>
          <p:cNvSpPr txBox="1"/>
          <p:nvPr/>
        </p:nvSpPr>
        <p:spPr>
          <a:xfrm>
            <a:off x="6881099" y="2898395"/>
            <a:ext cx="1893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r">
              <a:defRPr sz="1100"/>
            </a:lvl1pPr>
          </a:lstStyle>
          <a:p>
            <a:pPr algn="l"/>
            <a:r>
              <a:rPr lang="pt-BR" dirty="0" smtClean="0"/>
              <a:t>Incidentes das operadoras Oi, Algar etc...</a:t>
            </a:r>
            <a:endParaRPr lang="pt-BR" dirty="0"/>
          </a:p>
        </p:txBody>
      </p:sp>
      <p:cxnSp>
        <p:nvCxnSpPr>
          <p:cNvPr id="85" name="Conector reto 84"/>
          <p:cNvCxnSpPr/>
          <p:nvPr/>
        </p:nvCxnSpPr>
        <p:spPr>
          <a:xfrm>
            <a:off x="3491880" y="5013176"/>
            <a:ext cx="249046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aixaDeTexto 86"/>
          <p:cNvSpPr txBox="1"/>
          <p:nvPr/>
        </p:nvSpPr>
        <p:spPr>
          <a:xfrm>
            <a:off x="1963682" y="4797152"/>
            <a:ext cx="14561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100" dirty="0" smtClean="0"/>
              <a:t>T-</a:t>
            </a:r>
            <a:r>
              <a:rPr lang="pt-BR" sz="1100" dirty="0" err="1" smtClean="0"/>
              <a:t>Report</a:t>
            </a:r>
            <a:r>
              <a:rPr lang="pt-BR" sz="1100" dirty="0" smtClean="0"/>
              <a:t> e Controle Estatístico (suporte)</a:t>
            </a:r>
            <a:endParaRPr lang="pt-BR" sz="1100" dirty="0"/>
          </a:p>
        </p:txBody>
      </p:sp>
      <p:cxnSp>
        <p:nvCxnSpPr>
          <p:cNvPr id="90" name="Conector reto 89"/>
          <p:cNvCxnSpPr/>
          <p:nvPr/>
        </p:nvCxnSpPr>
        <p:spPr>
          <a:xfrm flipH="1">
            <a:off x="3766057" y="5157192"/>
            <a:ext cx="249046" cy="0"/>
          </a:xfrm>
          <a:prstGeom prst="line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CaixaDeTexto 90"/>
          <p:cNvSpPr txBox="1"/>
          <p:nvPr/>
        </p:nvSpPr>
        <p:spPr>
          <a:xfrm>
            <a:off x="4025412" y="4941168"/>
            <a:ext cx="14561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 smtClean="0"/>
              <a:t>JIRA ( lentidão e indisponibilidade)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193674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258" y="129405"/>
            <a:ext cx="1603348" cy="388071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-1"/>
            <a:ext cx="789296" cy="1034955"/>
          </a:xfrm>
          <a:prstGeom prst="rect">
            <a:avLst/>
          </a:prstGeom>
        </p:spPr>
      </p:pic>
      <p:sp>
        <p:nvSpPr>
          <p:cNvPr id="23" name="Espaço Reservado para Texto 1"/>
          <p:cNvSpPr txBox="1">
            <a:spLocks/>
          </p:cNvSpPr>
          <p:nvPr/>
        </p:nvSpPr>
        <p:spPr>
          <a:xfrm>
            <a:off x="502681" y="6223"/>
            <a:ext cx="6798664" cy="686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Regional RJ – Mapa de ações para eliminar riscos</a:t>
            </a:r>
            <a:endParaRPr lang="pt-BR" sz="2400" b="1" dirty="0" smtClean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AutoShape 2" descr="Resultado de imagem para centralização de operaçõ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25" name="Retângulo 24"/>
          <p:cNvSpPr/>
          <p:nvPr/>
        </p:nvSpPr>
        <p:spPr>
          <a:xfrm>
            <a:off x="251520" y="1340109"/>
            <a:ext cx="1152128" cy="57020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>
                <a:solidFill>
                  <a:schemeClr val="tx1"/>
                </a:solidFill>
              </a:rPr>
              <a:t>Niterói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26" name="Retângulo 25"/>
          <p:cNvSpPr/>
          <p:nvPr/>
        </p:nvSpPr>
        <p:spPr>
          <a:xfrm>
            <a:off x="251520" y="2018624"/>
            <a:ext cx="1152128" cy="57020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>
                <a:solidFill>
                  <a:schemeClr val="tx1"/>
                </a:solidFill>
              </a:rPr>
              <a:t>Mackenzie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251520" y="2708919"/>
            <a:ext cx="1152128" cy="102360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>
                <a:solidFill>
                  <a:schemeClr val="tx1"/>
                </a:solidFill>
              </a:rPr>
              <a:t>Mauá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251520" y="3833338"/>
            <a:ext cx="1152128" cy="89671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>
                <a:solidFill>
                  <a:schemeClr val="tx1"/>
                </a:solidFill>
              </a:rPr>
              <a:t>Engenho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29" name="Retângulo 28"/>
          <p:cNvSpPr/>
          <p:nvPr/>
        </p:nvSpPr>
        <p:spPr>
          <a:xfrm>
            <a:off x="251520" y="4862948"/>
            <a:ext cx="1152128" cy="117763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>
                <a:solidFill>
                  <a:schemeClr val="tx1"/>
                </a:solidFill>
              </a:rPr>
              <a:t>Rio Comprido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251520" y="6154574"/>
            <a:ext cx="1152128" cy="570206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>
                <a:solidFill>
                  <a:schemeClr val="tx1"/>
                </a:solidFill>
              </a:rPr>
              <a:t>São Cristóvão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32" name="Retângulo 31"/>
          <p:cNvSpPr/>
          <p:nvPr/>
        </p:nvSpPr>
        <p:spPr>
          <a:xfrm>
            <a:off x="251520" y="836712"/>
            <a:ext cx="1152128" cy="43790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/>
              <a:t>Sites</a:t>
            </a:r>
            <a:endParaRPr lang="pt-BR" sz="1600" b="1" dirty="0"/>
          </a:p>
        </p:txBody>
      </p:sp>
      <p:sp>
        <p:nvSpPr>
          <p:cNvPr id="48" name="Retângulo 47"/>
          <p:cNvSpPr/>
          <p:nvPr/>
        </p:nvSpPr>
        <p:spPr>
          <a:xfrm>
            <a:off x="1547664" y="836712"/>
            <a:ext cx="3664915" cy="43790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/>
              <a:t>Fragilidades</a:t>
            </a:r>
            <a:endParaRPr lang="pt-BR" sz="1600" b="1" dirty="0"/>
          </a:p>
        </p:txBody>
      </p:sp>
      <p:sp>
        <p:nvSpPr>
          <p:cNvPr id="66" name="Retângulo 65"/>
          <p:cNvSpPr/>
          <p:nvPr/>
        </p:nvSpPr>
        <p:spPr>
          <a:xfrm>
            <a:off x="5337877" y="1340109"/>
            <a:ext cx="3473613" cy="57020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Implantada contingência (nov/15)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Ampliado link de 1 gbps (</a:t>
            </a:r>
            <a:r>
              <a:rPr lang="pt-BR" sz="1400" dirty="0" err="1" smtClean="0">
                <a:solidFill>
                  <a:schemeClr val="tx1"/>
                </a:solidFill>
              </a:rPr>
              <a:t>jan</a:t>
            </a:r>
            <a:r>
              <a:rPr lang="pt-BR" sz="1400" dirty="0" smtClean="0">
                <a:solidFill>
                  <a:schemeClr val="tx1"/>
                </a:solidFill>
              </a:rPr>
              <a:t>/16)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67" name="Retângulo 66"/>
          <p:cNvSpPr/>
          <p:nvPr/>
        </p:nvSpPr>
        <p:spPr>
          <a:xfrm>
            <a:off x="5337877" y="2018624"/>
            <a:ext cx="3473613" cy="5702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Em estudo absorção da URA Globo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Demais URAs (checar)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68" name="Retângulo 67"/>
          <p:cNvSpPr/>
          <p:nvPr/>
        </p:nvSpPr>
        <p:spPr>
          <a:xfrm>
            <a:off x="5337877" y="2708919"/>
            <a:ext cx="3473613" cy="10236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Planejar upgrade c/Engenharia 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Prazo: </a:t>
            </a:r>
            <a:r>
              <a:rPr lang="pt-BR" sz="1400" dirty="0" smtClean="0">
                <a:solidFill>
                  <a:schemeClr val="tx1"/>
                </a:solidFill>
              </a:rPr>
              <a:t>TBD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69" name="Retângulo 68"/>
          <p:cNvSpPr/>
          <p:nvPr/>
        </p:nvSpPr>
        <p:spPr>
          <a:xfrm>
            <a:off x="5337877" y="3833338"/>
            <a:ext cx="3473613" cy="896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TI site buscando micros p/troca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Sobre URA PCRJ, solicitada análise do time de URA (ver se está no escopo do projeto de absorção)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70" name="Retângulo 69"/>
          <p:cNvSpPr/>
          <p:nvPr/>
        </p:nvSpPr>
        <p:spPr>
          <a:xfrm>
            <a:off x="5337877" y="4862948"/>
            <a:ext cx="3473613" cy="11776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Adquirido novo  SW Core e insumos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Aberta GMUD 19.500 p/CSE Redes planejar troca. Data: TBD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Plano p/migrar p/o NGR e gestão pelo time de URA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71" name="Retângulo 70"/>
          <p:cNvSpPr/>
          <p:nvPr/>
        </p:nvSpPr>
        <p:spPr>
          <a:xfrm>
            <a:off x="5337877" y="6154574"/>
            <a:ext cx="3473613" cy="5702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Novo nobreak já adquirido c/ capacidade 4x maior. Ti site já abriu GMUD p/19/Mar </a:t>
            </a:r>
          </a:p>
        </p:txBody>
      </p:sp>
      <p:sp>
        <p:nvSpPr>
          <p:cNvPr id="76" name="Retângulo 75"/>
          <p:cNvSpPr/>
          <p:nvPr/>
        </p:nvSpPr>
        <p:spPr>
          <a:xfrm>
            <a:off x="5337877" y="836712"/>
            <a:ext cx="3473613" cy="43790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/>
              <a:t>Ações e Status</a:t>
            </a:r>
            <a:endParaRPr lang="pt-BR" sz="1600" b="1" dirty="0"/>
          </a:p>
        </p:txBody>
      </p:sp>
      <p:sp>
        <p:nvSpPr>
          <p:cNvPr id="78" name="Retângulo 77"/>
          <p:cNvSpPr/>
          <p:nvPr/>
        </p:nvSpPr>
        <p:spPr>
          <a:xfrm>
            <a:off x="1556227" y="1340109"/>
            <a:ext cx="3664915" cy="5702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Link de conexão c/rede Oi sem contingência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Link possui  apenas 100 mpbs (há gargalos)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79" name="Retângulo 78"/>
          <p:cNvSpPr/>
          <p:nvPr/>
        </p:nvSpPr>
        <p:spPr>
          <a:xfrm>
            <a:off x="1556227" y="2018624"/>
            <a:ext cx="3664915" cy="5702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URAs Santander, URA Rede Globo (Infra obsoleta e SLA de suporte &gt;5 dias)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80" name="Retângulo 79"/>
          <p:cNvSpPr/>
          <p:nvPr/>
        </p:nvSpPr>
        <p:spPr>
          <a:xfrm>
            <a:off x="1556227" y="2708919"/>
            <a:ext cx="3664915" cy="10236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Link </a:t>
            </a:r>
            <a:r>
              <a:rPr lang="pt-BR" sz="1400" dirty="0" err="1" smtClean="0">
                <a:solidFill>
                  <a:schemeClr val="tx1"/>
                </a:solidFill>
              </a:rPr>
              <a:t>mpls</a:t>
            </a:r>
            <a:r>
              <a:rPr lang="pt-BR" sz="1400" dirty="0" smtClean="0">
                <a:solidFill>
                  <a:schemeClr val="tx1"/>
                </a:solidFill>
              </a:rPr>
              <a:t> de contingência  do Mauá  possui apenas 50 mbps. O principal  tem 300 mbps e quando “cai”, o de backup não suporta o tráfego, logo a contingência não funciona.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81" name="Retângulo 80"/>
          <p:cNvSpPr/>
          <p:nvPr/>
        </p:nvSpPr>
        <p:spPr>
          <a:xfrm>
            <a:off x="1556227" y="3833338"/>
            <a:ext cx="3664915" cy="896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Desktops da PCRJ velhos</a:t>
            </a:r>
            <a:r>
              <a:rPr lang="pt-BR" sz="1400" dirty="0">
                <a:solidFill>
                  <a:schemeClr val="tx1"/>
                </a:solidFill>
              </a:rPr>
              <a:t> </a:t>
            </a:r>
            <a:r>
              <a:rPr lang="pt-BR" sz="1400" dirty="0" smtClean="0">
                <a:solidFill>
                  <a:schemeClr val="tx1"/>
                </a:solidFill>
              </a:rPr>
              <a:t>e ofensores de chamados de lentidão e inoperância.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URA PCRJ (evolução e suporte)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84" name="Retângulo 83"/>
          <p:cNvSpPr/>
          <p:nvPr/>
        </p:nvSpPr>
        <p:spPr>
          <a:xfrm>
            <a:off x="1556227" y="4862948"/>
            <a:ext cx="3664915" cy="11776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SW Core é obsoleto e instável, gerou indisponibilidades em 2015.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URA do PAP (infra obsoleta , sem monitoração e suporte é demorado)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85" name="Retângulo 84"/>
          <p:cNvSpPr/>
          <p:nvPr/>
        </p:nvSpPr>
        <p:spPr>
          <a:xfrm>
            <a:off x="1556227" y="6154574"/>
            <a:ext cx="3664915" cy="5702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/>
                </a:solidFill>
              </a:rPr>
              <a:t>Nobreak do CPD c/baixa capacidade e sem redundância</a:t>
            </a:r>
            <a:endParaRPr lang="pt-BR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942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258" y="129405"/>
            <a:ext cx="1603348" cy="388071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-1"/>
            <a:ext cx="789296" cy="1034955"/>
          </a:xfrm>
          <a:prstGeom prst="rect">
            <a:avLst/>
          </a:prstGeom>
        </p:spPr>
      </p:pic>
      <p:sp>
        <p:nvSpPr>
          <p:cNvPr id="23" name="Espaço Reservado para Texto 1"/>
          <p:cNvSpPr txBox="1">
            <a:spLocks/>
          </p:cNvSpPr>
          <p:nvPr/>
        </p:nvSpPr>
        <p:spPr>
          <a:xfrm>
            <a:off x="502681" y="6223"/>
            <a:ext cx="6798664" cy="686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Regional RJ – Mapa de ações para eliminar riscos</a:t>
            </a:r>
            <a:endParaRPr lang="pt-BR" sz="2400" b="1" dirty="0" smtClean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AutoShape 2" descr="Resultado de imagem para centralização de operaçõ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484909" y="620688"/>
            <a:ext cx="8335563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/>
              <a:t>Causas Externas: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b="1" dirty="0" smtClean="0"/>
              <a:t>Falhas de Energia e refrigeração:</a:t>
            </a:r>
            <a:r>
              <a:rPr lang="pt-BR" sz="1400" dirty="0" smtClean="0"/>
              <a:t> há plano de ação em curso com o time de ADM/infra dos sites para eliminação de riscos.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b="1" dirty="0" smtClean="0"/>
              <a:t>Releases e ações da Oi:</a:t>
            </a:r>
            <a:r>
              <a:rPr lang="pt-BR" sz="1400" dirty="0" smtClean="0"/>
              <a:t> feita reunião de alinhamento com times Oi em 2015, visando comunicação mais efetiva. Bons resultados obtidos com mudanças no SINN TV que agora já não geram impactos vistos anteriormente.</a:t>
            </a:r>
          </a:p>
          <a:p>
            <a:pPr algn="just"/>
            <a:endParaRPr lang="pt-BR" sz="1400" dirty="0"/>
          </a:p>
          <a:p>
            <a:pPr algn="just"/>
            <a:r>
              <a:rPr lang="pt-BR" sz="1400" b="1" dirty="0" smtClean="0"/>
              <a:t>Queda de Rede / Link, isolando sites:</a:t>
            </a:r>
          </a:p>
          <a:p>
            <a:pPr algn="just"/>
            <a:r>
              <a:rPr lang="pt-BR" sz="1400" dirty="0" smtClean="0"/>
              <a:t>Ação: a regional vai trabalhar na atualização da documentação das aplicações usadas (aplicação, IP origem e IP destino), a fim de reduzir tempo necessário para subir contingências na rede. Data: Até 31/março</a:t>
            </a:r>
          </a:p>
          <a:p>
            <a:pPr algn="just"/>
            <a:endParaRPr lang="pt-BR" sz="1400" dirty="0"/>
          </a:p>
          <a:p>
            <a:pPr algn="just"/>
            <a:r>
              <a:rPr lang="pt-BR" sz="1400" b="1" dirty="0" smtClean="0"/>
              <a:t>Aplicações: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b="1" dirty="0" smtClean="0"/>
              <a:t>SGRC PCRJ (Engenho): </a:t>
            </a:r>
            <a:r>
              <a:rPr lang="pt-BR" sz="1400" dirty="0" smtClean="0"/>
              <a:t>Há plano de ação com time da aplicação, com grande evolução percebida pelo cliente e redução de falhas. Vamos intensificar ao longo de 2016.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b="1" dirty="0" smtClean="0"/>
              <a:t>JIRA (RC): </a:t>
            </a:r>
            <a:r>
              <a:rPr lang="pt-BR" sz="1400" dirty="0" smtClean="0"/>
              <a:t>Há grupo de trabalho específico, não cabendo ações ao site.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b="1" dirty="0" smtClean="0"/>
              <a:t>URA: </a:t>
            </a:r>
            <a:r>
              <a:rPr lang="pt-BR" sz="1400" dirty="0" smtClean="0"/>
              <a:t>Nossa sugestão é a Cia modernizar e internalizar (HW são obsoletos em grande maioria  e  os contratos de manutenção não atendem aos </a:t>
            </a:r>
            <a:r>
              <a:rPr lang="pt-BR" sz="1400" dirty="0" err="1" smtClean="0"/>
              <a:t>SLA´s</a:t>
            </a:r>
            <a:r>
              <a:rPr lang="pt-BR" sz="1400" dirty="0" smtClean="0"/>
              <a:t> exigidos pelos clientes.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b="1" dirty="0" smtClean="0"/>
              <a:t>T-</a:t>
            </a:r>
            <a:r>
              <a:rPr lang="pt-BR" sz="1400" b="1" dirty="0" err="1" smtClean="0"/>
              <a:t>Report</a:t>
            </a:r>
            <a:r>
              <a:rPr lang="pt-BR" sz="1400" b="1" dirty="0" smtClean="0"/>
              <a:t> e Controle Estatístico (ST  Velox Mackenzie): </a:t>
            </a:r>
            <a:r>
              <a:rPr lang="pt-BR" sz="1400" dirty="0" smtClean="0"/>
              <a:t>Quando ficam indisponíveis, impactam o % solução remota do ST Velox (% técnicos enviados a campo). Para a operação os chamados são de Alto Impacto,  assim, requer suporte pós horário comercial e nos finais de semana.  </a:t>
            </a:r>
          </a:p>
          <a:p>
            <a:pPr algn="just"/>
            <a:r>
              <a:rPr lang="pt-BR" sz="1400" dirty="0" smtClean="0"/>
              <a:t> </a:t>
            </a:r>
            <a:endParaRPr lang="pt-BR" sz="1400" dirty="0"/>
          </a:p>
          <a:p>
            <a:pPr algn="just"/>
            <a:r>
              <a:rPr lang="pt-BR" sz="1400" b="1" dirty="0" smtClean="0"/>
              <a:t>Renovação de licenças e similares: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b="1" dirty="0" smtClean="0"/>
              <a:t>Certificado de Segurança da PCRJ: </a:t>
            </a:r>
            <a:r>
              <a:rPr lang="pt-BR" sz="1400" dirty="0" smtClean="0"/>
              <a:t>vence em julho/16. Foi p</a:t>
            </a:r>
            <a:r>
              <a:rPr lang="pt-BR" sz="1400" dirty="0" smtClean="0"/>
              <a:t>lanejado FUP para garantir emissão de SC. Sendo preciso disparar SC em Maio/16.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pt-BR" sz="1400" b="1" dirty="0" smtClean="0"/>
              <a:t>TLV</a:t>
            </a:r>
            <a:r>
              <a:rPr lang="pt-BR" sz="1400" dirty="0" smtClean="0"/>
              <a:t> (renovação mensal com GA) e </a:t>
            </a:r>
            <a:r>
              <a:rPr lang="pt-BR" sz="1400" b="1" dirty="0" err="1" smtClean="0"/>
              <a:t>Generation</a:t>
            </a:r>
            <a:r>
              <a:rPr lang="pt-BR" sz="1400" b="1" dirty="0" smtClean="0"/>
              <a:t> </a:t>
            </a:r>
            <a:r>
              <a:rPr lang="pt-BR" sz="1400" dirty="0" smtClean="0"/>
              <a:t>(a levantar data de renovação para 2016). 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pt-BR" sz="1400" dirty="0"/>
          </a:p>
          <a:p>
            <a:pPr algn="just"/>
            <a:r>
              <a:rPr lang="pt-BR" sz="1400" b="1" dirty="0" smtClean="0"/>
              <a:t>Backups: </a:t>
            </a:r>
            <a:r>
              <a:rPr lang="pt-BR" sz="1400" dirty="0" smtClean="0"/>
              <a:t>Há plano de ação específico para  inclusão dos servidores na rotina; melhorias de HW e de processo.</a:t>
            </a:r>
          </a:p>
          <a:p>
            <a:pPr algn="just"/>
            <a:endParaRPr lang="pt-BR" sz="1400" dirty="0"/>
          </a:p>
          <a:p>
            <a:pPr algn="just"/>
            <a:r>
              <a:rPr lang="pt-BR" sz="1400" b="1" dirty="0" smtClean="0"/>
              <a:t>Erros humanos  falhas de procedimento</a:t>
            </a:r>
            <a:r>
              <a:rPr lang="pt-BR" sz="1400" dirty="0" smtClean="0"/>
              <a:t>: serão tratados com capacitação e comunicação p/os times envolvidos.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837912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147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ogo Grupo Contax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1839</TotalTime>
  <Words>765</Words>
  <Application>Microsoft Office PowerPoint</Application>
  <PresentationFormat>Apresentação na tela (4:3)</PresentationFormat>
  <Paragraphs>85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Tema do Office</vt:lpstr>
      <vt:lpstr>Logo Grupo Contax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Eugenio Silva</dc:creator>
  <cp:lastModifiedBy>Eugenio Silva</cp:lastModifiedBy>
  <cp:revision>27</cp:revision>
  <dcterms:created xsi:type="dcterms:W3CDTF">2016-02-24T13:46:09Z</dcterms:created>
  <dcterms:modified xsi:type="dcterms:W3CDTF">2016-02-25T20:25:21Z</dcterms:modified>
</cp:coreProperties>
</file>