
<file path=[Content_Types].xml><?xml version="1.0" encoding="utf-8"?>
<Types xmlns="http://schemas.openxmlformats.org/package/2006/content-types">
  <Default Extension="bin" ContentType="application/vnd.openxmlformats-officedocument.oleObject"/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Default Extension="xlsx" ContentType="application/vnd.openxmlformats-officedocument.spreadsheetml.sheet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slideLayouts/slideLayout13.xml" ContentType="application/vnd.openxmlformats-officedocument.presentationml.slideLayout+xml"/>
  <Override PartName="/ppt/theme/theme3.xml" ContentType="application/vnd.openxmlformats-officedocument.theme+xml"/>
  <Override PartName="/ppt/tags/tag2.xml" ContentType="application/vnd.openxmlformats-officedocument.presentationml.tags+xml"/>
  <Override PartName="/ppt/slideLayouts/slideLayout14.xml" ContentType="application/vnd.openxmlformats-officedocument.presentationml.slideLayout+xml"/>
  <Override PartName="/ppt/theme/theme4.xml" ContentType="application/vnd.openxmlformats-officedocument.theme+xml"/>
  <Override PartName="/ppt/tags/tag3.xml" ContentType="application/vnd.openxmlformats-officedocument.presentationml.tags+xml"/>
  <Override PartName="/ppt/theme/theme5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rts/chart6.xml" ContentType="application/vnd.openxmlformats-officedocument.drawingml.chart+xml"/>
  <Override PartName="/ppt/notesSlides/notesSlide3.xml" ContentType="application/vnd.openxmlformats-officedocument.presentationml.notesSlide+xml"/>
  <Override PartName="/ppt/charts/chart7.xml" ContentType="application/vnd.openxmlformats-officedocument.drawingml.chart+xml"/>
  <Override PartName="/ppt/notesSlides/notesSlide4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  <p:sldMasterId id="2147483673" r:id="rId2"/>
    <p:sldMasterId id="2147483675" r:id="rId3"/>
    <p:sldMasterId id="2147483677" r:id="rId4"/>
  </p:sldMasterIdLst>
  <p:notesMasterIdLst>
    <p:notesMasterId r:id="rId39"/>
  </p:notesMasterIdLst>
  <p:sldIdLst>
    <p:sldId id="262" r:id="rId5"/>
    <p:sldId id="265" r:id="rId6"/>
    <p:sldId id="328" r:id="rId7"/>
    <p:sldId id="337" r:id="rId8"/>
    <p:sldId id="338" r:id="rId9"/>
    <p:sldId id="331" r:id="rId10"/>
    <p:sldId id="333" r:id="rId11"/>
    <p:sldId id="336" r:id="rId12"/>
    <p:sldId id="334" r:id="rId13"/>
    <p:sldId id="301" r:id="rId14"/>
    <p:sldId id="324" r:id="rId15"/>
    <p:sldId id="325" r:id="rId16"/>
    <p:sldId id="326" r:id="rId17"/>
    <p:sldId id="327" r:id="rId18"/>
    <p:sldId id="317" r:id="rId19"/>
    <p:sldId id="318" r:id="rId20"/>
    <p:sldId id="340" r:id="rId21"/>
    <p:sldId id="341" r:id="rId22"/>
    <p:sldId id="309" r:id="rId23"/>
    <p:sldId id="310" r:id="rId24"/>
    <p:sldId id="311" r:id="rId25"/>
    <p:sldId id="308" r:id="rId26"/>
    <p:sldId id="291" r:id="rId27"/>
    <p:sldId id="279" r:id="rId28"/>
    <p:sldId id="284" r:id="rId29"/>
    <p:sldId id="288" r:id="rId30"/>
    <p:sldId id="276" r:id="rId31"/>
    <p:sldId id="277" r:id="rId32"/>
    <p:sldId id="294" r:id="rId33"/>
    <p:sldId id="280" r:id="rId34"/>
    <p:sldId id="289" r:id="rId35"/>
    <p:sldId id="295" r:id="rId36"/>
    <p:sldId id="315" r:id="rId37"/>
    <p:sldId id="314" r:id="rId38"/>
  </p:sldIdLst>
  <p:sldSz cx="9144000" cy="514826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347" userDrawn="1">
          <p15:clr>
            <a:srgbClr val="A4A3A4"/>
          </p15:clr>
        </p15:guide>
        <p15:guide id="2" pos="589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CC00"/>
    <a:srgbClr val="19345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294" autoAdjust="0"/>
    <p:restoredTop sz="91785" autoAdjust="0"/>
  </p:normalViewPr>
  <p:slideViewPr>
    <p:cSldViewPr snapToGrid="0" snapToObjects="1">
      <p:cViewPr varScale="1">
        <p:scale>
          <a:sx n="67" d="100"/>
          <a:sy n="67" d="100"/>
        </p:scale>
        <p:origin x="72" y="768"/>
      </p:cViewPr>
      <p:guideLst>
        <p:guide orient="horz" pos="2347"/>
        <p:guide pos="589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notesMaster" Target="notesMasters/notesMaster1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4.xlsx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5.xlsx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oleObject" Target="file:///\\10.100.10.211\CEX_Producao%20NGR%20SP\1.%20CONTROL%20-%20NGR\1.%20PRODU&#199;&#195;O\1.%20Infraestrutura\ArcServe\INVENT&#193;RIOS%20SITES\Status_BKP.xlsx" TargetMode="External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oleObject" Target="file:///\\10.100.10.211\CEX_Producao%20NGR%20SP\1.%20CONTROL%20-%20NGR\1.%20PRODU&#199;&#195;O\1.%20Infraestrutura\ArcServe\INVENT&#193;RIOS%20SITES\Status_BKP.xlsx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 algn="ctr">
              <a:defRPr sz="1400" b="1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pt-BR" sz="1400" b="1" dirty="0"/>
              <a:t>Quantidade de Incidentes </a:t>
            </a:r>
            <a:r>
              <a:rPr lang="pt-BR" sz="1400" b="1" dirty="0" smtClean="0"/>
              <a:t> </a:t>
            </a:r>
          </a:p>
          <a:p>
            <a:pPr algn="ctr">
              <a:defRPr sz="1400" b="1"/>
            </a:pPr>
            <a:r>
              <a:rPr lang="pt-BR" sz="1400" b="1" dirty="0" smtClean="0"/>
              <a:t>Alto </a:t>
            </a:r>
            <a:r>
              <a:rPr lang="pt-BR" sz="1400" b="1" dirty="0"/>
              <a:t>Impacto</a:t>
            </a:r>
          </a:p>
        </c:rich>
      </c:tx>
      <c:layout>
        <c:manualLayout>
          <c:xMode val="edge"/>
          <c:yMode val="edge"/>
          <c:x val="0.23439559165933119"/>
          <c:y val="3.9711347491488379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algn="ctr">
            <a:defRPr sz="1400" b="1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pt-BR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Plan1!$B$1</c:f>
              <c:strCache>
                <c:ptCount val="1"/>
                <c:pt idx="0">
                  <c:v>Quantidade de Incidentes de Alto Impacto</c:v>
                </c:pt>
              </c:strCache>
            </c:strRef>
          </c:tx>
          <c:spPr>
            <a:solidFill>
              <a:schemeClr val="tx2"/>
            </a:solidFill>
            <a:ln>
              <a:noFill/>
            </a:ln>
            <a:effectLst/>
          </c:spPr>
          <c:invertIfNegative val="0"/>
          <c:dLbls>
            <c:dLbl>
              <c:idx val="4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0">
                  <a:spAutoFit/>
                </a:bodyPr>
                <a:lstStyle/>
                <a:p>
                  <a:pPr algn="ctr">
                    <a:defRPr lang="pt-BR" sz="1197" b="1" i="0" u="none" strike="noStrike" kern="1200" baseline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pt-BR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pt-B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Plan1!$A$2:$A$6</c:f>
              <c:strCache>
                <c:ptCount val="5"/>
                <c:pt idx="0">
                  <c:v>Junho</c:v>
                </c:pt>
                <c:pt idx="1">
                  <c:v>Julho</c:v>
                </c:pt>
                <c:pt idx="2">
                  <c:v>Agosto</c:v>
                </c:pt>
                <c:pt idx="3">
                  <c:v>Setembro</c:v>
                </c:pt>
                <c:pt idx="4">
                  <c:v>Out 
(01 a 14)</c:v>
                </c:pt>
              </c:strCache>
            </c:strRef>
          </c:cat>
          <c:val>
            <c:numRef>
              <c:f>Plan1!$B$2:$B$6</c:f>
              <c:numCache>
                <c:formatCode>#,##0</c:formatCode>
                <c:ptCount val="5"/>
                <c:pt idx="0">
                  <c:v>1648</c:v>
                </c:pt>
                <c:pt idx="1">
                  <c:v>1633</c:v>
                </c:pt>
                <c:pt idx="2">
                  <c:v>1588</c:v>
                </c:pt>
                <c:pt idx="3">
                  <c:v>1443</c:v>
                </c:pt>
                <c:pt idx="4" formatCode="General">
                  <c:v>720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347228264"/>
        <c:axId val="347229048"/>
      </c:barChart>
      <c:catAx>
        <c:axId val="34722826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pt-BR"/>
          </a:p>
        </c:txPr>
        <c:crossAx val="347229048"/>
        <c:crosses val="autoZero"/>
        <c:auto val="1"/>
        <c:lblAlgn val="ctr"/>
        <c:lblOffset val="100"/>
        <c:noMultiLvlLbl val="0"/>
      </c:catAx>
      <c:valAx>
        <c:axId val="347229048"/>
        <c:scaling>
          <c:orientation val="minMax"/>
        </c:scaling>
        <c:delete val="1"/>
        <c:axPos val="l"/>
        <c:numFmt formatCode="#,##0" sourceLinked="1"/>
        <c:majorTickMark val="none"/>
        <c:minorTickMark val="none"/>
        <c:tickLblPos val="nextTo"/>
        <c:crossAx val="347228264"/>
        <c:crosses val="autoZero"/>
        <c:crossBetween val="between"/>
      </c:valAx>
      <c:spPr>
        <a:noFill/>
        <a:ln w="25400"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pt-BR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1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1400" b="1" dirty="0" err="1"/>
              <a:t>Problemas</a:t>
            </a:r>
            <a:r>
              <a:rPr lang="en-US" sz="1400" b="1" dirty="0"/>
              <a:t>  e </a:t>
            </a:r>
            <a:r>
              <a:rPr lang="en-US" sz="1400" b="1" dirty="0" err="1"/>
              <a:t>Incidentes</a:t>
            </a:r>
            <a:r>
              <a:rPr lang="en-US" sz="1400" b="1" dirty="0"/>
              <a:t> </a:t>
            </a:r>
            <a:r>
              <a:rPr lang="en-US" sz="1400" b="1" dirty="0" err="1"/>
              <a:t>Relacionados</a:t>
            </a:r>
            <a:endParaRPr lang="en-US" sz="1400" b="1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1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pt-BR"/>
        </a:p>
      </c:txPr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Plan1!$B$1</c:f>
              <c:strCache>
                <c:ptCount val="1"/>
                <c:pt idx="0">
                  <c:v>Qtd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chemeClr val="tx2"/>
              </a:solidFill>
              <a:ln>
                <a:noFill/>
              </a:ln>
              <a:effectLst/>
            </c:spPr>
          </c:dPt>
          <c:dPt>
            <c:idx val="1"/>
            <c:invertIfNegative val="0"/>
            <c:bubble3D val="0"/>
            <c:spPr>
              <a:solidFill>
                <a:schemeClr val="accent3">
                  <a:lumMod val="75000"/>
                </a:schemeClr>
              </a:solidFill>
              <a:ln>
                <a:noFill/>
              </a:ln>
              <a:effectLst/>
            </c:spPr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pt-B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Plan1!$A$2:$A$3</c:f>
              <c:strCache>
                <c:ptCount val="2"/>
                <c:pt idx="0">
                  <c:v>Inc.</c:v>
                </c:pt>
                <c:pt idx="1">
                  <c:v>Probl.</c:v>
                </c:pt>
              </c:strCache>
            </c:strRef>
          </c:cat>
          <c:val>
            <c:numRef>
              <c:f>Plan1!$B$2:$B$3</c:f>
              <c:numCache>
                <c:formatCode>General</c:formatCode>
                <c:ptCount val="2"/>
                <c:pt idx="0">
                  <c:v>99</c:v>
                </c:pt>
                <c:pt idx="1">
                  <c:v>13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82"/>
        <c:axId val="347229832"/>
        <c:axId val="347229440"/>
      </c:barChart>
      <c:catAx>
        <c:axId val="347229832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pt-BR"/>
          </a:p>
        </c:txPr>
        <c:crossAx val="347229440"/>
        <c:crosses val="autoZero"/>
        <c:auto val="1"/>
        <c:lblAlgn val="ctr"/>
        <c:lblOffset val="100"/>
        <c:noMultiLvlLbl val="0"/>
      </c:catAx>
      <c:valAx>
        <c:axId val="347229440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347229832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pt-BR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1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1400" b="1"/>
              <a:t>Gestão de Problemas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1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pt-BR"/>
        </a:p>
      </c:txPr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Plan1!$B$1</c:f>
              <c:strCache>
                <c:ptCount val="1"/>
                <c:pt idx="0">
                  <c:v>Gestão de Problemas</c:v>
                </c:pt>
              </c:strCache>
            </c:strRef>
          </c:tx>
          <c:spPr>
            <a:solidFill>
              <a:schemeClr val="accent3">
                <a:lumMod val="750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pt-B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Plan1!$A$2:$A$5</c:f>
              <c:strCache>
                <c:ptCount val="4"/>
                <c:pt idx="0">
                  <c:v>Solução 
Definitva</c:v>
                </c:pt>
                <c:pt idx="1">
                  <c:v>Solução 
Contorno</c:v>
                </c:pt>
                <c:pt idx="2">
                  <c:v>Causas mais 
prováveis</c:v>
                </c:pt>
                <c:pt idx="3">
                  <c:v>Possíveis 
Causas</c:v>
                </c:pt>
              </c:strCache>
            </c:strRef>
          </c:cat>
          <c:val>
            <c:numRef>
              <c:f>Plan1!$B$2:$B$5</c:f>
              <c:numCache>
                <c:formatCode>General</c:formatCode>
                <c:ptCount val="4"/>
                <c:pt idx="0">
                  <c:v>25</c:v>
                </c:pt>
                <c:pt idx="1">
                  <c:v>15</c:v>
                </c:pt>
                <c:pt idx="2">
                  <c:v>22</c:v>
                </c:pt>
                <c:pt idx="3">
                  <c:v>56</c:v>
                </c:pt>
              </c:numCache>
            </c:numRef>
          </c:val>
        </c:ser>
        <c:ser>
          <c:idx val="1"/>
          <c:order val="1"/>
          <c:tx>
            <c:strRef>
              <c:f>Plan1!$C$1</c:f>
              <c:strCache>
                <c:ptCount val="1"/>
                <c:pt idx="0">
                  <c:v>Feito</c:v>
                </c:pt>
              </c:strCache>
            </c:strRef>
          </c:tx>
          <c:spPr>
            <a:solidFill>
              <a:srgbClr val="FFC000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pt-B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Plan1!$A$2:$A$5</c:f>
              <c:strCache>
                <c:ptCount val="4"/>
                <c:pt idx="0">
                  <c:v>Solução 
Definitva</c:v>
                </c:pt>
                <c:pt idx="1">
                  <c:v>Solução 
Contorno</c:v>
                </c:pt>
                <c:pt idx="2">
                  <c:v>Causas mais 
prováveis</c:v>
                </c:pt>
                <c:pt idx="3">
                  <c:v>Possíveis 
Causas</c:v>
                </c:pt>
              </c:strCache>
            </c:strRef>
          </c:cat>
          <c:val>
            <c:numRef>
              <c:f>Plan1!$C$2:$C$5</c:f>
              <c:numCache>
                <c:formatCode>General</c:formatCode>
                <c:ptCount val="4"/>
                <c:pt idx="0">
                  <c:v>2</c:v>
                </c:pt>
                <c:pt idx="1">
                  <c:v>6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82"/>
        <c:axId val="347230616"/>
        <c:axId val="347231400"/>
      </c:barChart>
      <c:catAx>
        <c:axId val="347230616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pt-BR"/>
          </a:p>
        </c:txPr>
        <c:crossAx val="347231400"/>
        <c:crosses val="autoZero"/>
        <c:auto val="1"/>
        <c:lblAlgn val="ctr"/>
        <c:lblOffset val="100"/>
        <c:noMultiLvlLbl val="0"/>
      </c:catAx>
      <c:valAx>
        <c:axId val="347231400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34723061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pt-BR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layout>
        <c:manualLayout>
          <c:xMode val="edge"/>
          <c:yMode val="edge"/>
          <c:x val="0.13702064448360488"/>
          <c:y val="7.8499040653128502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1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pt-BR"/>
        </a:p>
      </c:txPr>
    </c:title>
    <c:autoTitleDeleted val="0"/>
    <c:plotArea>
      <c:layout/>
      <c:pieChart>
        <c:varyColors val="1"/>
        <c:ser>
          <c:idx val="0"/>
          <c:order val="0"/>
          <c:tx>
            <c:strRef>
              <c:f>Plan1!$B$1</c:f>
              <c:strCache>
                <c:ptCount val="1"/>
                <c:pt idx="0">
                  <c:v>Solução Contorno</c:v>
                </c:pt>
              </c:strCache>
            </c:strRef>
          </c:tx>
          <c:dPt>
            <c:idx val="0"/>
            <c:bubble3D val="0"/>
            <c:spPr>
              <a:solidFill>
                <a:schemeClr val="bg1">
                  <a:lumMod val="5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1"/>
            <c:bubble3D val="0"/>
            <c:spPr>
              <a:solidFill>
                <a:srgbClr val="0070C0"/>
              </a:solidFill>
              <a:ln w="19050">
                <a:solidFill>
                  <a:schemeClr val="lt1"/>
                </a:solidFill>
              </a:ln>
              <a:effectLst/>
            </c:spPr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pt-B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Plan1!$A$2:$A$3</c:f>
              <c:strCache>
                <c:ptCount val="2"/>
                <c:pt idx="0">
                  <c:v>Processo</c:v>
                </c:pt>
                <c:pt idx="1">
                  <c:v>Tecnológica</c:v>
                </c:pt>
              </c:strCache>
            </c:strRef>
          </c:cat>
          <c:val>
            <c:numRef>
              <c:f>Plan1!$B$2:$B$3</c:f>
              <c:numCache>
                <c:formatCode>General</c:formatCode>
                <c:ptCount val="2"/>
                <c:pt idx="0">
                  <c:v>10</c:v>
                </c:pt>
                <c:pt idx="1">
                  <c:v>5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pt-BR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pt-BR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1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pt-BR" sz="1400" b="1" dirty="0" smtClean="0"/>
              <a:t>Solução Definitiva</a:t>
            </a:r>
            <a:endParaRPr lang="pt-BR" sz="1400" b="1" dirty="0"/>
          </a:p>
        </c:rich>
      </c:tx>
      <c:layout>
        <c:manualLayout>
          <c:xMode val="edge"/>
          <c:yMode val="edge"/>
          <c:x val="0.26262762023985325"/>
          <c:y val="0.11347790597259606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1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pt-BR"/>
        </a:p>
      </c:txPr>
    </c:title>
    <c:autoTitleDeleted val="0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Plan1!$B$1</c:f>
              <c:strCache>
                <c:ptCount val="1"/>
                <c:pt idx="0">
                  <c:v>Projeto</c:v>
                </c:pt>
              </c:strCache>
            </c:strRef>
          </c:tx>
          <c:spPr>
            <a:solidFill>
              <a:schemeClr val="accent6">
                <a:lumMod val="750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pt-B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Plan1!$A$2:$A$3</c:f>
              <c:strCache>
                <c:ptCount val="2"/>
                <c:pt idx="0">
                  <c:v>Processo</c:v>
                </c:pt>
                <c:pt idx="1">
                  <c:v>Tecnológica</c:v>
                </c:pt>
              </c:strCache>
            </c:strRef>
          </c:cat>
          <c:val>
            <c:numRef>
              <c:f>Plan1!$B$2:$B$3</c:f>
              <c:numCache>
                <c:formatCode>General</c:formatCode>
                <c:ptCount val="2"/>
                <c:pt idx="1">
                  <c:v>6</c:v>
                </c:pt>
              </c:numCache>
            </c:numRef>
          </c:val>
        </c:ser>
        <c:ser>
          <c:idx val="1"/>
          <c:order val="1"/>
          <c:tx>
            <c:strRef>
              <c:f>Plan1!$C$1</c:f>
              <c:strCache>
                <c:ptCount val="1"/>
                <c:pt idx="0">
                  <c:v>Ongoing</c:v>
                </c:pt>
              </c:strCache>
            </c:strRef>
          </c:tx>
          <c:spPr>
            <a:solidFill>
              <a:schemeClr val="accent3">
                <a:lumMod val="500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pt-B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Plan1!$A$2:$A$3</c:f>
              <c:strCache>
                <c:ptCount val="2"/>
                <c:pt idx="0">
                  <c:v>Processo</c:v>
                </c:pt>
                <c:pt idx="1">
                  <c:v>Tecnológica</c:v>
                </c:pt>
              </c:strCache>
            </c:strRef>
          </c:cat>
          <c:val>
            <c:numRef>
              <c:f>Plan1!$C$2:$C$3</c:f>
              <c:numCache>
                <c:formatCode>General</c:formatCode>
                <c:ptCount val="2"/>
                <c:pt idx="0">
                  <c:v>19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300115248"/>
        <c:axId val="300117600"/>
      </c:barChart>
      <c:catAx>
        <c:axId val="30011524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pt-BR"/>
          </a:p>
        </c:txPr>
        <c:crossAx val="300117600"/>
        <c:crosses val="autoZero"/>
        <c:auto val="1"/>
        <c:lblAlgn val="ctr"/>
        <c:lblOffset val="100"/>
        <c:noMultiLvlLbl val="0"/>
      </c:catAx>
      <c:valAx>
        <c:axId val="300117600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30011524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pt-BR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pt-BR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10"/>
    </mc:Choice>
    <mc:Fallback>
      <c:style val="10"/>
    </mc:Fallback>
  </mc:AlternateContent>
  <c:chart>
    <c:autoTitleDeleted val="1"/>
    <c:plotArea>
      <c:layout/>
      <c:barChart>
        <c:barDir val="col"/>
        <c:grouping val="percentStacked"/>
        <c:varyColors val="0"/>
        <c:ser>
          <c:idx val="0"/>
          <c:order val="0"/>
          <c:tx>
            <c:strRef>
              <c:f>[Status_BKP.xlsx]Total2!$E$3</c:f>
              <c:strCache>
                <c:ptCount val="1"/>
                <c:pt idx="0">
                  <c:v>Mapeados</c:v>
                </c:pt>
              </c:strCache>
            </c:strRef>
          </c:tx>
          <c:invertIfNegative val="0"/>
          <c:dLbls>
            <c:spPr>
              <a:noFill/>
              <a:ln>
                <a:noFill/>
              </a:ln>
              <a:effectLst/>
            </c:sp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multiLvlStrRef>
              <c:f>[Status_BKP.xlsx]Total2!$C$4:$D$31</c:f>
              <c:multiLvlStrCache>
                <c:ptCount val="28"/>
                <c:lvl>
                  <c:pt idx="0">
                    <c:v>Alegria</c:v>
                  </c:pt>
                  <c:pt idx="1">
                    <c:v>Alphaville</c:v>
                  </c:pt>
                  <c:pt idx="2">
                    <c:v>Prado I</c:v>
                  </c:pt>
                  <c:pt idx="3">
                    <c:v>Prado II</c:v>
                  </c:pt>
                  <c:pt idx="4">
                    <c:v>Comercio</c:v>
                  </c:pt>
                  <c:pt idx="5">
                    <c:v>Cabula</c:v>
                  </c:pt>
                  <c:pt idx="6">
                    <c:v>Fonte Nova</c:v>
                  </c:pt>
                  <c:pt idx="7">
                    <c:v>Conquista</c:v>
                  </c:pt>
                  <c:pt idx="8">
                    <c:v>Santo Amaro</c:v>
                  </c:pt>
                  <c:pt idx="9">
                    <c:v>Aurora</c:v>
                  </c:pt>
                  <c:pt idx="10">
                    <c:v>Fortaleza</c:v>
                  </c:pt>
                  <c:pt idx="11">
                    <c:v>Nascente</c:v>
                  </c:pt>
                  <c:pt idx="12">
                    <c:v>São Cristóvão</c:v>
                  </c:pt>
                  <c:pt idx="13">
                    <c:v>Niterói</c:v>
                  </c:pt>
                  <c:pt idx="14">
                    <c:v>Engenho de Dentro</c:v>
                  </c:pt>
                  <c:pt idx="15">
                    <c:v>Maua</c:v>
                  </c:pt>
                  <c:pt idx="16">
                    <c:v>Rio Comprido</c:v>
                  </c:pt>
                  <c:pt idx="17">
                    <c:v>Mackenzie</c:v>
                  </c:pt>
                  <c:pt idx="18">
                    <c:v>Alameda Santos</c:v>
                  </c:pt>
                  <c:pt idx="19">
                    <c:v>Alphaville</c:v>
                  </c:pt>
                  <c:pt idx="20">
                    <c:v>Paulista 07</c:v>
                  </c:pt>
                  <c:pt idx="21">
                    <c:v>Antartica</c:v>
                  </c:pt>
                  <c:pt idx="22">
                    <c:v>Alegria</c:v>
                  </c:pt>
                  <c:pt idx="23">
                    <c:v>Campinas</c:v>
                  </c:pt>
                  <c:pt idx="24">
                    <c:v>Lapa</c:v>
                  </c:pt>
                  <c:pt idx="25">
                    <c:v>Joinville</c:v>
                  </c:pt>
                  <c:pt idx="26">
                    <c:v>Luigi Amorese</c:v>
                  </c:pt>
                  <c:pt idx="27">
                    <c:v>Navegantes</c:v>
                  </c:pt>
                </c:lvl>
                <c:lvl>
                  <c:pt idx="0">
                    <c:v>DC</c:v>
                  </c:pt>
                  <c:pt idx="2">
                    <c:v>Minas</c:v>
                  </c:pt>
                  <c:pt idx="4">
                    <c:v>Bahia</c:v>
                  </c:pt>
                  <c:pt idx="7">
                    <c:v>Pernambuco</c:v>
                  </c:pt>
                  <c:pt idx="10">
                    <c:v>Ceará</c:v>
                  </c:pt>
                  <c:pt idx="12">
                    <c:v>Rio de Janeiro</c:v>
                  </c:pt>
                  <c:pt idx="18">
                    <c:v>São Paulo</c:v>
                  </c:pt>
                  <c:pt idx="25">
                    <c:v>Sul</c:v>
                  </c:pt>
                </c:lvl>
              </c:multiLvlStrCache>
            </c:multiLvlStrRef>
          </c:cat>
          <c:val>
            <c:numRef>
              <c:f>[Status_BKP.xlsx]Total2!$E$4:$E$31</c:f>
              <c:numCache>
                <c:formatCode>General</c:formatCode>
                <c:ptCount val="28"/>
                <c:pt idx="0">
                  <c:v>600</c:v>
                </c:pt>
                <c:pt idx="1">
                  <c:v>400</c:v>
                </c:pt>
                <c:pt idx="2">
                  <c:v>207</c:v>
                </c:pt>
                <c:pt idx="3">
                  <c:v>37</c:v>
                </c:pt>
                <c:pt idx="4">
                  <c:v>84</c:v>
                </c:pt>
                <c:pt idx="5">
                  <c:v>23</c:v>
                </c:pt>
                <c:pt idx="6">
                  <c:v>101</c:v>
                </c:pt>
                <c:pt idx="7">
                  <c:v>26</c:v>
                </c:pt>
                <c:pt idx="8">
                  <c:v>107</c:v>
                </c:pt>
                <c:pt idx="9">
                  <c:v>50</c:v>
                </c:pt>
                <c:pt idx="10">
                  <c:v>187</c:v>
                </c:pt>
                <c:pt idx="11">
                  <c:v>4</c:v>
                </c:pt>
                <c:pt idx="12">
                  <c:v>63</c:v>
                </c:pt>
                <c:pt idx="13">
                  <c:v>162</c:v>
                </c:pt>
                <c:pt idx="14">
                  <c:v>96</c:v>
                </c:pt>
                <c:pt idx="15">
                  <c:v>82</c:v>
                </c:pt>
                <c:pt idx="16">
                  <c:v>70</c:v>
                </c:pt>
                <c:pt idx="17">
                  <c:v>125</c:v>
                </c:pt>
                <c:pt idx="18">
                  <c:v>192</c:v>
                </c:pt>
                <c:pt idx="19">
                  <c:v>42</c:v>
                </c:pt>
                <c:pt idx="20">
                  <c:v>23</c:v>
                </c:pt>
                <c:pt idx="21">
                  <c:v>139</c:v>
                </c:pt>
                <c:pt idx="22">
                  <c:v>230</c:v>
                </c:pt>
                <c:pt idx="23">
                  <c:v>59</c:v>
                </c:pt>
                <c:pt idx="24">
                  <c:v>223</c:v>
                </c:pt>
                <c:pt idx="25">
                  <c:v>9</c:v>
                </c:pt>
                <c:pt idx="26">
                  <c:v>40</c:v>
                </c:pt>
                <c:pt idx="27">
                  <c:v>43</c:v>
                </c:pt>
              </c:numCache>
            </c:numRef>
          </c:val>
        </c:ser>
        <c:ser>
          <c:idx val="1"/>
          <c:order val="1"/>
          <c:tx>
            <c:strRef>
              <c:f>[Status_BKP.xlsx]Total2!$F$3</c:f>
              <c:strCache>
                <c:ptCount val="1"/>
                <c:pt idx="0">
                  <c:v>Backupeados</c:v>
                </c:pt>
              </c:strCache>
            </c:strRef>
          </c:tx>
          <c:spPr>
            <a:solidFill>
              <a:srgbClr val="92D050"/>
            </a:solidFill>
          </c:spPr>
          <c:invertIfNegative val="0"/>
          <c:dLbls>
            <c:spPr>
              <a:noFill/>
              <a:ln>
                <a:noFill/>
              </a:ln>
              <a:effectLst/>
            </c:sp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multiLvlStrRef>
              <c:f>[Status_BKP.xlsx]Total2!$C$4:$D$31</c:f>
              <c:multiLvlStrCache>
                <c:ptCount val="28"/>
                <c:lvl>
                  <c:pt idx="0">
                    <c:v>Alegria</c:v>
                  </c:pt>
                  <c:pt idx="1">
                    <c:v>Alphaville</c:v>
                  </c:pt>
                  <c:pt idx="2">
                    <c:v>Prado I</c:v>
                  </c:pt>
                  <c:pt idx="3">
                    <c:v>Prado II</c:v>
                  </c:pt>
                  <c:pt idx="4">
                    <c:v>Comercio</c:v>
                  </c:pt>
                  <c:pt idx="5">
                    <c:v>Cabula</c:v>
                  </c:pt>
                  <c:pt idx="6">
                    <c:v>Fonte Nova</c:v>
                  </c:pt>
                  <c:pt idx="7">
                    <c:v>Conquista</c:v>
                  </c:pt>
                  <c:pt idx="8">
                    <c:v>Santo Amaro</c:v>
                  </c:pt>
                  <c:pt idx="9">
                    <c:v>Aurora</c:v>
                  </c:pt>
                  <c:pt idx="10">
                    <c:v>Fortaleza</c:v>
                  </c:pt>
                  <c:pt idx="11">
                    <c:v>Nascente</c:v>
                  </c:pt>
                  <c:pt idx="12">
                    <c:v>São Cristóvão</c:v>
                  </c:pt>
                  <c:pt idx="13">
                    <c:v>Niterói</c:v>
                  </c:pt>
                  <c:pt idx="14">
                    <c:v>Engenho de Dentro</c:v>
                  </c:pt>
                  <c:pt idx="15">
                    <c:v>Maua</c:v>
                  </c:pt>
                  <c:pt idx="16">
                    <c:v>Rio Comprido</c:v>
                  </c:pt>
                  <c:pt idx="17">
                    <c:v>Mackenzie</c:v>
                  </c:pt>
                  <c:pt idx="18">
                    <c:v>Alameda Santos</c:v>
                  </c:pt>
                  <c:pt idx="19">
                    <c:v>Alphaville</c:v>
                  </c:pt>
                  <c:pt idx="20">
                    <c:v>Paulista 07</c:v>
                  </c:pt>
                  <c:pt idx="21">
                    <c:v>Antartica</c:v>
                  </c:pt>
                  <c:pt idx="22">
                    <c:v>Alegria</c:v>
                  </c:pt>
                  <c:pt idx="23">
                    <c:v>Campinas</c:v>
                  </c:pt>
                  <c:pt idx="24">
                    <c:v>Lapa</c:v>
                  </c:pt>
                  <c:pt idx="25">
                    <c:v>Joinville</c:v>
                  </c:pt>
                  <c:pt idx="26">
                    <c:v>Luigi Amorese</c:v>
                  </c:pt>
                  <c:pt idx="27">
                    <c:v>Navegantes</c:v>
                  </c:pt>
                </c:lvl>
                <c:lvl>
                  <c:pt idx="0">
                    <c:v>DC</c:v>
                  </c:pt>
                  <c:pt idx="2">
                    <c:v>Minas</c:v>
                  </c:pt>
                  <c:pt idx="4">
                    <c:v>Bahia</c:v>
                  </c:pt>
                  <c:pt idx="7">
                    <c:v>Pernambuco</c:v>
                  </c:pt>
                  <c:pt idx="10">
                    <c:v>Ceará</c:v>
                  </c:pt>
                  <c:pt idx="12">
                    <c:v>Rio de Janeiro</c:v>
                  </c:pt>
                  <c:pt idx="18">
                    <c:v>São Paulo</c:v>
                  </c:pt>
                  <c:pt idx="25">
                    <c:v>Sul</c:v>
                  </c:pt>
                </c:lvl>
              </c:multiLvlStrCache>
            </c:multiLvlStrRef>
          </c:cat>
          <c:val>
            <c:numRef>
              <c:f>[Status_BKP.xlsx]Total2!$F$4:$F$31</c:f>
              <c:numCache>
                <c:formatCode>General</c:formatCode>
                <c:ptCount val="28"/>
                <c:pt idx="0">
                  <c:v>348</c:v>
                </c:pt>
                <c:pt idx="1">
                  <c:v>530</c:v>
                </c:pt>
                <c:pt idx="2">
                  <c:v>141</c:v>
                </c:pt>
                <c:pt idx="3">
                  <c:v>32</c:v>
                </c:pt>
                <c:pt idx="4">
                  <c:v>12</c:v>
                </c:pt>
                <c:pt idx="5">
                  <c:v>9</c:v>
                </c:pt>
                <c:pt idx="6">
                  <c:v>7</c:v>
                </c:pt>
                <c:pt idx="7">
                  <c:v>11</c:v>
                </c:pt>
                <c:pt idx="8">
                  <c:v>29</c:v>
                </c:pt>
                <c:pt idx="9">
                  <c:v>14</c:v>
                </c:pt>
                <c:pt idx="10">
                  <c:v>45</c:v>
                </c:pt>
                <c:pt idx="11">
                  <c:v>1</c:v>
                </c:pt>
                <c:pt idx="12">
                  <c:v>27</c:v>
                </c:pt>
                <c:pt idx="13">
                  <c:v>20</c:v>
                </c:pt>
                <c:pt idx="14">
                  <c:v>17</c:v>
                </c:pt>
                <c:pt idx="15">
                  <c:v>14</c:v>
                </c:pt>
                <c:pt idx="16">
                  <c:v>24</c:v>
                </c:pt>
                <c:pt idx="17">
                  <c:v>40</c:v>
                </c:pt>
                <c:pt idx="18">
                  <c:v>31</c:v>
                </c:pt>
                <c:pt idx="19">
                  <c:v>8</c:v>
                </c:pt>
                <c:pt idx="20">
                  <c:v>19</c:v>
                </c:pt>
                <c:pt idx="21">
                  <c:v>42</c:v>
                </c:pt>
                <c:pt idx="22">
                  <c:v>93</c:v>
                </c:pt>
                <c:pt idx="23">
                  <c:v>2</c:v>
                </c:pt>
                <c:pt idx="24">
                  <c:v>33</c:v>
                </c:pt>
                <c:pt idx="25">
                  <c:v>9</c:v>
                </c:pt>
                <c:pt idx="26">
                  <c:v>15</c:v>
                </c:pt>
                <c:pt idx="27">
                  <c:v>0</c:v>
                </c:pt>
              </c:numCache>
            </c:numRef>
          </c:val>
        </c:ser>
        <c:ser>
          <c:idx val="2"/>
          <c:order val="2"/>
          <c:tx>
            <c:strRef>
              <c:f>[Status_BKP.xlsx]Total2!$G$3</c:f>
              <c:strCache>
                <c:ptCount val="1"/>
                <c:pt idx="0">
                  <c:v>Sem backup</c:v>
                </c:pt>
              </c:strCache>
            </c:strRef>
          </c:tx>
          <c:spPr>
            <a:solidFill>
              <a:srgbClr val="C00000"/>
            </a:solidFill>
          </c:spPr>
          <c:invertIfNegative val="0"/>
          <c:dLbls>
            <c:dLbl>
              <c:idx val="0"/>
              <c:delete val="1"/>
              <c:extLst>
                <c:ext xmlns:c15="http://schemas.microsoft.com/office/drawing/2012/chart" uri="{CE6537A1-D6FC-4f65-9D91-7224C49458BB}"/>
              </c:extLst>
            </c:dLbl>
            <c:dLbl>
              <c:idx val="1"/>
              <c:delete val="1"/>
              <c:extLst>
                <c:ext xmlns:c15="http://schemas.microsoft.com/office/drawing/2012/chart" uri="{CE6537A1-D6FC-4f65-9D91-7224C49458BB}"/>
              </c:extLst>
            </c:dLbl>
            <c:dLbl>
              <c:idx val="2"/>
              <c:delete val="1"/>
              <c:extLst>
                <c:ext xmlns:c15="http://schemas.microsoft.com/office/drawing/2012/chart" uri="{CE6537A1-D6FC-4f65-9D91-7224C49458BB}"/>
              </c:extLst>
            </c:dLbl>
            <c:dLbl>
              <c:idx val="3"/>
              <c:delete val="1"/>
              <c:extLst>
                <c:ext xmlns:c15="http://schemas.microsoft.com/office/drawing/2012/chart" uri="{CE6537A1-D6FC-4f65-9D91-7224C49458BB}"/>
              </c:extLst>
            </c:dLbl>
            <c:dLbl>
              <c:idx val="7"/>
              <c:delete val="1"/>
              <c:extLst>
                <c:ext xmlns:c15="http://schemas.microsoft.com/office/drawing/2012/chart" uri="{CE6537A1-D6FC-4f65-9D91-7224C49458BB}"/>
              </c:extLst>
            </c:dLbl>
            <c:dLbl>
              <c:idx val="8"/>
              <c:delete val="1"/>
              <c:extLst>
                <c:ext xmlns:c15="http://schemas.microsoft.com/office/drawing/2012/chart" uri="{CE6537A1-D6FC-4f65-9D91-7224C49458BB}"/>
              </c:extLst>
            </c:dLbl>
            <c:dLbl>
              <c:idx val="10"/>
              <c:layout>
                <c:manualLayout>
                  <c:x val="-1.44770160840783E-3"/>
                  <c:y val="-1.3834840868010999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11"/>
              <c:delete val="1"/>
              <c:extLst>
                <c:ext xmlns:c15="http://schemas.microsoft.com/office/drawing/2012/chart" uri="{CE6537A1-D6FC-4f65-9D91-7224C49458BB}"/>
              </c:extLst>
            </c:dLbl>
            <c:dLbl>
              <c:idx val="12"/>
              <c:layout>
                <c:manualLayout>
                  <c:x val="0"/>
                  <c:y val="-1.7293551085013702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18"/>
              <c:delete val="1"/>
              <c:extLst>
                <c:ext xmlns:c15="http://schemas.microsoft.com/office/drawing/2012/chart" uri="{CE6537A1-D6FC-4f65-9D91-7224C49458BB}"/>
              </c:extLst>
            </c:dLbl>
            <c:dLbl>
              <c:idx val="19"/>
              <c:delete val="1"/>
              <c:extLst>
                <c:ext xmlns:c15="http://schemas.microsoft.com/office/drawing/2012/chart" uri="{CE6537A1-D6FC-4f65-9D91-7224C49458BB}"/>
              </c:extLst>
            </c:dLbl>
            <c:dLbl>
              <c:idx val="25"/>
              <c:delete val="1"/>
              <c:extLst>
                <c:ext xmlns:c15="http://schemas.microsoft.com/office/drawing/2012/chart" uri="{CE6537A1-D6FC-4f65-9D91-7224C49458BB}"/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multiLvlStrRef>
              <c:f>[Status_BKP.xlsx]Total2!$C$4:$D$31</c:f>
              <c:multiLvlStrCache>
                <c:ptCount val="28"/>
                <c:lvl>
                  <c:pt idx="0">
                    <c:v>Alegria</c:v>
                  </c:pt>
                  <c:pt idx="1">
                    <c:v>Alphaville</c:v>
                  </c:pt>
                  <c:pt idx="2">
                    <c:v>Prado I</c:v>
                  </c:pt>
                  <c:pt idx="3">
                    <c:v>Prado II</c:v>
                  </c:pt>
                  <c:pt idx="4">
                    <c:v>Comercio</c:v>
                  </c:pt>
                  <c:pt idx="5">
                    <c:v>Cabula</c:v>
                  </c:pt>
                  <c:pt idx="6">
                    <c:v>Fonte Nova</c:v>
                  </c:pt>
                  <c:pt idx="7">
                    <c:v>Conquista</c:v>
                  </c:pt>
                  <c:pt idx="8">
                    <c:v>Santo Amaro</c:v>
                  </c:pt>
                  <c:pt idx="9">
                    <c:v>Aurora</c:v>
                  </c:pt>
                  <c:pt idx="10">
                    <c:v>Fortaleza</c:v>
                  </c:pt>
                  <c:pt idx="11">
                    <c:v>Nascente</c:v>
                  </c:pt>
                  <c:pt idx="12">
                    <c:v>São Cristóvão</c:v>
                  </c:pt>
                  <c:pt idx="13">
                    <c:v>Niterói</c:v>
                  </c:pt>
                  <c:pt idx="14">
                    <c:v>Engenho de Dentro</c:v>
                  </c:pt>
                  <c:pt idx="15">
                    <c:v>Maua</c:v>
                  </c:pt>
                  <c:pt idx="16">
                    <c:v>Rio Comprido</c:v>
                  </c:pt>
                  <c:pt idx="17">
                    <c:v>Mackenzie</c:v>
                  </c:pt>
                  <c:pt idx="18">
                    <c:v>Alameda Santos</c:v>
                  </c:pt>
                  <c:pt idx="19">
                    <c:v>Alphaville</c:v>
                  </c:pt>
                  <c:pt idx="20">
                    <c:v>Paulista 07</c:v>
                  </c:pt>
                  <c:pt idx="21">
                    <c:v>Antartica</c:v>
                  </c:pt>
                  <c:pt idx="22">
                    <c:v>Alegria</c:v>
                  </c:pt>
                  <c:pt idx="23">
                    <c:v>Campinas</c:v>
                  </c:pt>
                  <c:pt idx="24">
                    <c:v>Lapa</c:v>
                  </c:pt>
                  <c:pt idx="25">
                    <c:v>Joinville</c:v>
                  </c:pt>
                  <c:pt idx="26">
                    <c:v>Luigi Amorese</c:v>
                  </c:pt>
                  <c:pt idx="27">
                    <c:v>Navegantes</c:v>
                  </c:pt>
                </c:lvl>
                <c:lvl>
                  <c:pt idx="0">
                    <c:v>DC</c:v>
                  </c:pt>
                  <c:pt idx="2">
                    <c:v>Minas</c:v>
                  </c:pt>
                  <c:pt idx="4">
                    <c:v>Bahia</c:v>
                  </c:pt>
                  <c:pt idx="7">
                    <c:v>Pernambuco</c:v>
                  </c:pt>
                  <c:pt idx="10">
                    <c:v>Ceará</c:v>
                  </c:pt>
                  <c:pt idx="12">
                    <c:v>Rio de Janeiro</c:v>
                  </c:pt>
                  <c:pt idx="18">
                    <c:v>São Paulo</c:v>
                  </c:pt>
                  <c:pt idx="25">
                    <c:v>Sul</c:v>
                  </c:pt>
                </c:lvl>
              </c:multiLvlStrCache>
            </c:multiLvlStrRef>
          </c:cat>
          <c:val>
            <c:numRef>
              <c:f>[Status_BKP.xlsx]Total2!$G$4:$G$31</c:f>
              <c:numCache>
                <c:formatCode>General</c:formatCode>
                <c:ptCount val="28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10</c:v>
                </c:pt>
                <c:pt idx="5">
                  <c:v>5</c:v>
                </c:pt>
                <c:pt idx="6">
                  <c:v>17</c:v>
                </c:pt>
                <c:pt idx="7">
                  <c:v>0</c:v>
                </c:pt>
                <c:pt idx="8">
                  <c:v>0</c:v>
                </c:pt>
                <c:pt idx="9">
                  <c:v>8</c:v>
                </c:pt>
                <c:pt idx="10">
                  <c:v>4</c:v>
                </c:pt>
                <c:pt idx="11">
                  <c:v>0</c:v>
                </c:pt>
                <c:pt idx="12">
                  <c:v>3</c:v>
                </c:pt>
                <c:pt idx="13">
                  <c:v>26</c:v>
                </c:pt>
                <c:pt idx="14">
                  <c:v>11</c:v>
                </c:pt>
                <c:pt idx="15">
                  <c:v>9</c:v>
                </c:pt>
                <c:pt idx="16">
                  <c:v>25</c:v>
                </c:pt>
                <c:pt idx="17">
                  <c:v>81</c:v>
                </c:pt>
                <c:pt idx="18">
                  <c:v>0</c:v>
                </c:pt>
                <c:pt idx="19">
                  <c:v>0</c:v>
                </c:pt>
                <c:pt idx="20">
                  <c:v>4</c:v>
                </c:pt>
                <c:pt idx="21">
                  <c:v>77</c:v>
                </c:pt>
                <c:pt idx="22">
                  <c:v>125</c:v>
                </c:pt>
                <c:pt idx="23">
                  <c:v>35</c:v>
                </c:pt>
                <c:pt idx="24">
                  <c:v>190</c:v>
                </c:pt>
                <c:pt idx="25">
                  <c:v>0</c:v>
                </c:pt>
                <c:pt idx="26">
                  <c:v>25</c:v>
                </c:pt>
                <c:pt idx="27">
                  <c:v>43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75"/>
        <c:overlap val="100"/>
        <c:axId val="215335496"/>
        <c:axId val="212215448"/>
      </c:barChart>
      <c:catAx>
        <c:axId val="215335496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crossAx val="212215448"/>
        <c:crosses val="autoZero"/>
        <c:auto val="1"/>
        <c:lblAlgn val="ctr"/>
        <c:lblOffset val="100"/>
        <c:noMultiLvlLbl val="0"/>
      </c:catAx>
      <c:valAx>
        <c:axId val="212215448"/>
        <c:scaling>
          <c:orientation val="minMax"/>
        </c:scaling>
        <c:delete val="1"/>
        <c:axPos val="l"/>
        <c:majorGridlines/>
        <c:numFmt formatCode="0%" sourceLinked="1"/>
        <c:majorTickMark val="none"/>
        <c:minorTickMark val="none"/>
        <c:tickLblPos val="nextTo"/>
        <c:crossAx val="215335496"/>
        <c:crosses val="autoZero"/>
        <c:crossBetween val="between"/>
      </c:valAx>
    </c:plotArea>
    <c:legend>
      <c:legendPos val="b"/>
      <c:overlay val="0"/>
      <c:txPr>
        <a:bodyPr/>
        <a:lstStyle/>
        <a:p>
          <a:pPr>
            <a:defRPr sz="1200"/>
          </a:pPr>
          <a:endParaRPr lang="pt-BR"/>
        </a:p>
      </c:txPr>
    </c:legend>
    <c:plotVisOnly val="1"/>
    <c:dispBlanksAs val="gap"/>
    <c:showDLblsOverMax val="0"/>
  </c:chart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10"/>
    </mc:Choice>
    <mc:Fallback>
      <c:style val="10"/>
    </mc:Fallback>
  </mc:AlternateContent>
  <c:chart>
    <c:autoTitleDeleted val="1"/>
    <c:plotArea>
      <c:layout/>
      <c:barChart>
        <c:barDir val="col"/>
        <c:grouping val="percentStacked"/>
        <c:varyColors val="0"/>
        <c:ser>
          <c:idx val="1"/>
          <c:order val="0"/>
          <c:tx>
            <c:strRef>
              <c:f>[Status_BKP.xlsx]Plan1!$D$3</c:f>
              <c:strCache>
                <c:ptCount val="1"/>
                <c:pt idx="0">
                  <c:v>Backupeados</c:v>
                </c:pt>
              </c:strCache>
            </c:strRef>
          </c:tx>
          <c:spPr>
            <a:solidFill>
              <a:srgbClr val="92D050"/>
            </a:solidFill>
          </c:spPr>
          <c:invertIfNegative val="0"/>
          <c:dLbls>
            <c:dLbl>
              <c:idx val="0"/>
              <c:delete val="1"/>
              <c:extLst>
                <c:ext xmlns:c15="http://schemas.microsoft.com/office/drawing/2012/chart" uri="{CE6537A1-D6FC-4f65-9D91-7224C49458BB}"/>
              </c:extLst>
            </c:dLbl>
            <c:dLbl>
              <c:idx val="4"/>
              <c:delete val="1"/>
              <c:extLst>
                <c:ext xmlns:c15="http://schemas.microsoft.com/office/drawing/2012/chart" uri="{CE6537A1-D6FC-4f65-9D91-7224C49458BB}"/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[Status_BKP.xlsx]Plan1!$C$4:$C$20</c:f>
              <c:strCache>
                <c:ptCount val="17"/>
                <c:pt idx="0">
                  <c:v>Navegantes</c:v>
                </c:pt>
                <c:pt idx="1">
                  <c:v>Campinas</c:v>
                </c:pt>
                <c:pt idx="2">
                  <c:v>Lapa</c:v>
                </c:pt>
                <c:pt idx="3">
                  <c:v>Alegria</c:v>
                </c:pt>
                <c:pt idx="4">
                  <c:v>Mackenzie</c:v>
                </c:pt>
                <c:pt idx="5">
                  <c:v>Antartica</c:v>
                </c:pt>
                <c:pt idx="6">
                  <c:v>Niterói</c:v>
                </c:pt>
                <c:pt idx="7">
                  <c:v>Rio Comprido</c:v>
                </c:pt>
                <c:pt idx="8">
                  <c:v>Luigi Amorese</c:v>
                </c:pt>
                <c:pt idx="9">
                  <c:v>Fonte Nova</c:v>
                </c:pt>
                <c:pt idx="10">
                  <c:v>Engenho de Dentro</c:v>
                </c:pt>
                <c:pt idx="11">
                  <c:v>Comercio</c:v>
                </c:pt>
                <c:pt idx="12">
                  <c:v>Maua</c:v>
                </c:pt>
                <c:pt idx="13">
                  <c:v>Aurora</c:v>
                </c:pt>
                <c:pt idx="14">
                  <c:v>Cabula</c:v>
                </c:pt>
                <c:pt idx="15">
                  <c:v>Paulista 07</c:v>
                </c:pt>
                <c:pt idx="16">
                  <c:v>São Cristóvão</c:v>
                </c:pt>
              </c:strCache>
            </c:strRef>
          </c:cat>
          <c:val>
            <c:numRef>
              <c:f>[Status_BKP.xlsx]Plan1!$D$4:$D$20</c:f>
              <c:numCache>
                <c:formatCode>General</c:formatCode>
                <c:ptCount val="17"/>
                <c:pt idx="0">
                  <c:v>0</c:v>
                </c:pt>
                <c:pt idx="1">
                  <c:v>2</c:v>
                </c:pt>
                <c:pt idx="2">
                  <c:v>33</c:v>
                </c:pt>
                <c:pt idx="3">
                  <c:v>93</c:v>
                </c:pt>
                <c:pt idx="4">
                  <c:v>40</c:v>
                </c:pt>
                <c:pt idx="5">
                  <c:v>42</c:v>
                </c:pt>
                <c:pt idx="6">
                  <c:v>20</c:v>
                </c:pt>
                <c:pt idx="7">
                  <c:v>24</c:v>
                </c:pt>
                <c:pt idx="8">
                  <c:v>15</c:v>
                </c:pt>
                <c:pt idx="9">
                  <c:v>7</c:v>
                </c:pt>
                <c:pt idx="10">
                  <c:v>17</c:v>
                </c:pt>
                <c:pt idx="11">
                  <c:v>12</c:v>
                </c:pt>
                <c:pt idx="12">
                  <c:v>14</c:v>
                </c:pt>
                <c:pt idx="13">
                  <c:v>14</c:v>
                </c:pt>
                <c:pt idx="14">
                  <c:v>9</c:v>
                </c:pt>
                <c:pt idx="15">
                  <c:v>19</c:v>
                </c:pt>
                <c:pt idx="16">
                  <c:v>27</c:v>
                </c:pt>
              </c:numCache>
            </c:numRef>
          </c:val>
        </c:ser>
        <c:ser>
          <c:idx val="2"/>
          <c:order val="1"/>
          <c:tx>
            <c:strRef>
              <c:f>[Status_BKP.xlsx]Plan1!$E$3</c:f>
              <c:strCache>
                <c:ptCount val="1"/>
                <c:pt idx="0">
                  <c:v>Sem backup</c:v>
                </c:pt>
              </c:strCache>
            </c:strRef>
          </c:tx>
          <c:spPr>
            <a:solidFill>
              <a:srgbClr val="C00000"/>
            </a:solidFill>
          </c:spPr>
          <c:invertIfNegative val="0"/>
          <c:dLbls>
            <c:spPr>
              <a:noFill/>
              <a:ln>
                <a:noFill/>
              </a:ln>
              <a:effectLst/>
            </c:sp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[Status_BKP.xlsx]Plan1!$C$4:$C$20</c:f>
              <c:strCache>
                <c:ptCount val="17"/>
                <c:pt idx="0">
                  <c:v>Navegantes</c:v>
                </c:pt>
                <c:pt idx="1">
                  <c:v>Campinas</c:v>
                </c:pt>
                <c:pt idx="2">
                  <c:v>Lapa</c:v>
                </c:pt>
                <c:pt idx="3">
                  <c:v>Alegria</c:v>
                </c:pt>
                <c:pt idx="4">
                  <c:v>Mackenzie</c:v>
                </c:pt>
                <c:pt idx="5">
                  <c:v>Antartica</c:v>
                </c:pt>
                <c:pt idx="6">
                  <c:v>Niterói</c:v>
                </c:pt>
                <c:pt idx="7">
                  <c:v>Rio Comprido</c:v>
                </c:pt>
                <c:pt idx="8">
                  <c:v>Luigi Amorese</c:v>
                </c:pt>
                <c:pt idx="9">
                  <c:v>Fonte Nova</c:v>
                </c:pt>
                <c:pt idx="10">
                  <c:v>Engenho de Dentro</c:v>
                </c:pt>
                <c:pt idx="11">
                  <c:v>Comercio</c:v>
                </c:pt>
                <c:pt idx="12">
                  <c:v>Maua</c:v>
                </c:pt>
                <c:pt idx="13">
                  <c:v>Aurora</c:v>
                </c:pt>
                <c:pt idx="14">
                  <c:v>Cabula</c:v>
                </c:pt>
                <c:pt idx="15">
                  <c:v>Paulista 07</c:v>
                </c:pt>
                <c:pt idx="16">
                  <c:v>São Cristóvão</c:v>
                </c:pt>
              </c:strCache>
            </c:strRef>
          </c:cat>
          <c:val>
            <c:numRef>
              <c:f>[Status_BKP.xlsx]Plan1!$E$4:$E$20</c:f>
              <c:numCache>
                <c:formatCode>General</c:formatCode>
                <c:ptCount val="17"/>
                <c:pt idx="0">
                  <c:v>43</c:v>
                </c:pt>
                <c:pt idx="1">
                  <c:v>35</c:v>
                </c:pt>
                <c:pt idx="2">
                  <c:v>190</c:v>
                </c:pt>
                <c:pt idx="3">
                  <c:v>125</c:v>
                </c:pt>
                <c:pt idx="4">
                  <c:v>81</c:v>
                </c:pt>
                <c:pt idx="5">
                  <c:v>77</c:v>
                </c:pt>
                <c:pt idx="6">
                  <c:v>26</c:v>
                </c:pt>
                <c:pt idx="7">
                  <c:v>25</c:v>
                </c:pt>
                <c:pt idx="8">
                  <c:v>25</c:v>
                </c:pt>
                <c:pt idx="9">
                  <c:v>17</c:v>
                </c:pt>
                <c:pt idx="10">
                  <c:v>11</c:v>
                </c:pt>
                <c:pt idx="11">
                  <c:v>10</c:v>
                </c:pt>
                <c:pt idx="12">
                  <c:v>9</c:v>
                </c:pt>
                <c:pt idx="13">
                  <c:v>8</c:v>
                </c:pt>
                <c:pt idx="14">
                  <c:v>5</c:v>
                </c:pt>
                <c:pt idx="15">
                  <c:v>4</c:v>
                </c:pt>
                <c:pt idx="16">
                  <c:v>3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75"/>
        <c:overlap val="100"/>
        <c:axId val="212216624"/>
        <c:axId val="212217016"/>
      </c:barChart>
      <c:catAx>
        <c:axId val="212216624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crossAx val="212217016"/>
        <c:crosses val="autoZero"/>
        <c:auto val="1"/>
        <c:lblAlgn val="ctr"/>
        <c:lblOffset val="100"/>
        <c:noMultiLvlLbl val="0"/>
      </c:catAx>
      <c:valAx>
        <c:axId val="212217016"/>
        <c:scaling>
          <c:orientation val="minMax"/>
        </c:scaling>
        <c:delete val="1"/>
        <c:axPos val="l"/>
        <c:majorGridlines/>
        <c:numFmt formatCode="0%" sourceLinked="1"/>
        <c:majorTickMark val="none"/>
        <c:minorTickMark val="none"/>
        <c:tickLblPos val="nextTo"/>
        <c:crossAx val="212216624"/>
        <c:crosses val="autoZero"/>
        <c:crossBetween val="between"/>
      </c:valAx>
    </c:plotArea>
    <c:legend>
      <c:legendPos val="b"/>
      <c:overlay val="0"/>
      <c:txPr>
        <a:bodyPr/>
        <a:lstStyle/>
        <a:p>
          <a:pPr>
            <a:defRPr sz="1200"/>
          </a:pPr>
          <a:endParaRPr lang="pt-BR"/>
        </a:p>
      </c:txPr>
    </c:legend>
    <c:plotVisOnly val="1"/>
    <c:dispBlanksAs val="gap"/>
    <c:showDLblsOverMax val="0"/>
  </c:chart>
  <c:externalData r:id="rId1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BBD8EEE-5EAC-4ACB-A5CB-4EC11AF34169}" type="doc">
      <dgm:prSet loTypeId="urn:microsoft.com/office/officeart/2005/8/layout/chevron1" loCatId="process" qsTypeId="urn:microsoft.com/office/officeart/2005/8/quickstyle/simple1" qsCatId="simple" csTypeId="urn:microsoft.com/office/officeart/2005/8/colors/accent1_2" csCatId="accent1" phldr="1"/>
      <dgm:spPr/>
    </dgm:pt>
    <dgm:pt modelId="{203F4424-6A03-46B4-AA53-F416B555D965}">
      <dgm:prSet phldrT="[Texto]"/>
      <dgm:spPr/>
      <dgm:t>
        <a:bodyPr/>
        <a:lstStyle/>
        <a:p>
          <a:r>
            <a:rPr lang="pt-BR" dirty="0" smtClean="0"/>
            <a:t>Outubro	</a:t>
          </a:r>
          <a:endParaRPr lang="pt-BR" dirty="0"/>
        </a:p>
      </dgm:t>
    </dgm:pt>
    <dgm:pt modelId="{8D552DC6-4F78-4D4F-A6D8-8A2BDC4A0B4F}" type="parTrans" cxnId="{E571B03D-2328-4ACD-B4EA-4379E733E602}">
      <dgm:prSet/>
      <dgm:spPr/>
      <dgm:t>
        <a:bodyPr/>
        <a:lstStyle/>
        <a:p>
          <a:endParaRPr lang="pt-BR"/>
        </a:p>
      </dgm:t>
    </dgm:pt>
    <dgm:pt modelId="{445F6733-BF21-4D20-9CE6-C6132B8513F4}" type="sibTrans" cxnId="{E571B03D-2328-4ACD-B4EA-4379E733E602}">
      <dgm:prSet/>
      <dgm:spPr/>
      <dgm:t>
        <a:bodyPr/>
        <a:lstStyle/>
        <a:p>
          <a:endParaRPr lang="pt-BR"/>
        </a:p>
      </dgm:t>
    </dgm:pt>
    <dgm:pt modelId="{A515B516-91D9-41CB-A66B-834065F259B9}">
      <dgm:prSet phldrT="[Texto]"/>
      <dgm:spPr/>
      <dgm:t>
        <a:bodyPr/>
        <a:lstStyle/>
        <a:p>
          <a:r>
            <a:rPr lang="pt-BR" dirty="0" smtClean="0"/>
            <a:t>Novembro</a:t>
          </a:r>
          <a:endParaRPr lang="pt-BR" dirty="0"/>
        </a:p>
      </dgm:t>
    </dgm:pt>
    <dgm:pt modelId="{ADFE67F8-D8A1-4A32-9A16-59A09CBF1EA2}" type="parTrans" cxnId="{5F6EF1D6-2FDB-43B5-8252-9473A351CD62}">
      <dgm:prSet/>
      <dgm:spPr/>
      <dgm:t>
        <a:bodyPr/>
        <a:lstStyle/>
        <a:p>
          <a:endParaRPr lang="pt-BR"/>
        </a:p>
      </dgm:t>
    </dgm:pt>
    <dgm:pt modelId="{D69DF602-E0FB-48B6-97F6-1EE3CC37A411}" type="sibTrans" cxnId="{5F6EF1D6-2FDB-43B5-8252-9473A351CD62}">
      <dgm:prSet/>
      <dgm:spPr/>
      <dgm:t>
        <a:bodyPr/>
        <a:lstStyle/>
        <a:p>
          <a:endParaRPr lang="pt-BR"/>
        </a:p>
      </dgm:t>
    </dgm:pt>
    <dgm:pt modelId="{57AA9C27-7F7C-4B09-BCED-BF508BC90DA5}">
      <dgm:prSet phldrT="[Texto]"/>
      <dgm:spPr/>
      <dgm:t>
        <a:bodyPr/>
        <a:lstStyle/>
        <a:p>
          <a:r>
            <a:rPr lang="pt-BR" dirty="0" smtClean="0"/>
            <a:t>Dezembro</a:t>
          </a:r>
          <a:endParaRPr lang="pt-BR" dirty="0"/>
        </a:p>
      </dgm:t>
    </dgm:pt>
    <dgm:pt modelId="{236DD897-94E3-49E1-A1C2-9C7342CFE3CB}" type="parTrans" cxnId="{001D692D-028F-44FD-9898-3146D4F49845}">
      <dgm:prSet/>
      <dgm:spPr/>
      <dgm:t>
        <a:bodyPr/>
        <a:lstStyle/>
        <a:p>
          <a:endParaRPr lang="pt-BR"/>
        </a:p>
      </dgm:t>
    </dgm:pt>
    <dgm:pt modelId="{FF9A7E47-6DB7-4299-8C3E-F8DCB12443C4}" type="sibTrans" cxnId="{001D692D-028F-44FD-9898-3146D4F49845}">
      <dgm:prSet/>
      <dgm:spPr/>
      <dgm:t>
        <a:bodyPr/>
        <a:lstStyle/>
        <a:p>
          <a:endParaRPr lang="pt-BR"/>
        </a:p>
      </dgm:t>
    </dgm:pt>
    <dgm:pt modelId="{F6290B4D-2087-4FCD-891E-E9D7206508DB}" type="pres">
      <dgm:prSet presAssocID="{BBBD8EEE-5EAC-4ACB-A5CB-4EC11AF34169}" presName="Name0" presStyleCnt="0">
        <dgm:presLayoutVars>
          <dgm:dir/>
          <dgm:animLvl val="lvl"/>
          <dgm:resizeHandles val="exact"/>
        </dgm:presLayoutVars>
      </dgm:prSet>
      <dgm:spPr/>
    </dgm:pt>
    <dgm:pt modelId="{1F8DB603-555B-4871-8676-102FB645DCB1}" type="pres">
      <dgm:prSet presAssocID="{203F4424-6A03-46B4-AA53-F416B555D965}" presName="parTxOnly" presStyleLbl="node1" presStyleIdx="0" presStyleCnt="3" custLinFactNeighborX="-821" custLinFactNeighborY="-2158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pt-BR"/>
        </a:p>
      </dgm:t>
    </dgm:pt>
    <dgm:pt modelId="{66EADD3B-6234-4DDD-B07D-717D0A04DB9D}" type="pres">
      <dgm:prSet presAssocID="{445F6733-BF21-4D20-9CE6-C6132B8513F4}" presName="parTxOnlySpace" presStyleCnt="0"/>
      <dgm:spPr/>
    </dgm:pt>
    <dgm:pt modelId="{C5376FE0-79CA-4533-AF28-F8315D09F747}" type="pres">
      <dgm:prSet presAssocID="{A515B516-91D9-41CB-A66B-834065F259B9}" presName="parTxOnly" presStyleLbl="node1" presStyleIdx="1" presStyleCnt="3" custLinFactNeighborX="2682" custLinFactNeighborY="-4441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pt-BR"/>
        </a:p>
      </dgm:t>
    </dgm:pt>
    <dgm:pt modelId="{0CEBBDC0-98C9-4B2A-9CED-5552CB570245}" type="pres">
      <dgm:prSet presAssocID="{D69DF602-E0FB-48B6-97F6-1EE3CC37A411}" presName="parTxOnlySpace" presStyleCnt="0"/>
      <dgm:spPr/>
    </dgm:pt>
    <dgm:pt modelId="{C4706F8D-485C-4F91-8A83-AAA10BBD4814}" type="pres">
      <dgm:prSet presAssocID="{57AA9C27-7F7C-4B09-BCED-BF508BC90DA5}" presName="parTxOnly" presStyleLbl="node1" presStyleIdx="2" presStyleCnt="3" custLinFactNeighborX="24636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pt-BR"/>
        </a:p>
      </dgm:t>
    </dgm:pt>
  </dgm:ptLst>
  <dgm:cxnLst>
    <dgm:cxn modelId="{E571B03D-2328-4ACD-B4EA-4379E733E602}" srcId="{BBBD8EEE-5EAC-4ACB-A5CB-4EC11AF34169}" destId="{203F4424-6A03-46B4-AA53-F416B555D965}" srcOrd="0" destOrd="0" parTransId="{8D552DC6-4F78-4D4F-A6D8-8A2BDC4A0B4F}" sibTransId="{445F6733-BF21-4D20-9CE6-C6132B8513F4}"/>
    <dgm:cxn modelId="{5F6EF1D6-2FDB-43B5-8252-9473A351CD62}" srcId="{BBBD8EEE-5EAC-4ACB-A5CB-4EC11AF34169}" destId="{A515B516-91D9-41CB-A66B-834065F259B9}" srcOrd="1" destOrd="0" parTransId="{ADFE67F8-D8A1-4A32-9A16-59A09CBF1EA2}" sibTransId="{D69DF602-E0FB-48B6-97F6-1EE3CC37A411}"/>
    <dgm:cxn modelId="{379C5C87-B877-4585-81C6-762DC5F996EA}" type="presOf" srcId="{A515B516-91D9-41CB-A66B-834065F259B9}" destId="{C5376FE0-79CA-4533-AF28-F8315D09F747}" srcOrd="0" destOrd="0" presId="urn:microsoft.com/office/officeart/2005/8/layout/chevron1"/>
    <dgm:cxn modelId="{EFC0FB3E-F00E-4635-9E28-D67682A40AA2}" type="presOf" srcId="{203F4424-6A03-46B4-AA53-F416B555D965}" destId="{1F8DB603-555B-4871-8676-102FB645DCB1}" srcOrd="0" destOrd="0" presId="urn:microsoft.com/office/officeart/2005/8/layout/chevron1"/>
    <dgm:cxn modelId="{001D692D-028F-44FD-9898-3146D4F49845}" srcId="{BBBD8EEE-5EAC-4ACB-A5CB-4EC11AF34169}" destId="{57AA9C27-7F7C-4B09-BCED-BF508BC90DA5}" srcOrd="2" destOrd="0" parTransId="{236DD897-94E3-49E1-A1C2-9C7342CFE3CB}" sibTransId="{FF9A7E47-6DB7-4299-8C3E-F8DCB12443C4}"/>
    <dgm:cxn modelId="{F336F9D7-5A7E-4578-B23C-24BB46685235}" type="presOf" srcId="{BBBD8EEE-5EAC-4ACB-A5CB-4EC11AF34169}" destId="{F6290B4D-2087-4FCD-891E-E9D7206508DB}" srcOrd="0" destOrd="0" presId="urn:microsoft.com/office/officeart/2005/8/layout/chevron1"/>
    <dgm:cxn modelId="{9544E7B2-E3F4-4B03-88DE-6391C8FE1899}" type="presOf" srcId="{57AA9C27-7F7C-4B09-BCED-BF508BC90DA5}" destId="{C4706F8D-485C-4F91-8A83-AAA10BBD4814}" srcOrd="0" destOrd="0" presId="urn:microsoft.com/office/officeart/2005/8/layout/chevron1"/>
    <dgm:cxn modelId="{C8B5069D-87D7-4764-8725-0D3B573A6DD6}" type="presParOf" srcId="{F6290B4D-2087-4FCD-891E-E9D7206508DB}" destId="{1F8DB603-555B-4871-8676-102FB645DCB1}" srcOrd="0" destOrd="0" presId="urn:microsoft.com/office/officeart/2005/8/layout/chevron1"/>
    <dgm:cxn modelId="{3514E742-4662-4E4D-8B1C-2AADDB6939D1}" type="presParOf" srcId="{F6290B4D-2087-4FCD-891E-E9D7206508DB}" destId="{66EADD3B-6234-4DDD-B07D-717D0A04DB9D}" srcOrd="1" destOrd="0" presId="urn:microsoft.com/office/officeart/2005/8/layout/chevron1"/>
    <dgm:cxn modelId="{E08A8142-75FF-4F46-8D8A-9718CE4F28D7}" type="presParOf" srcId="{F6290B4D-2087-4FCD-891E-E9D7206508DB}" destId="{C5376FE0-79CA-4533-AF28-F8315D09F747}" srcOrd="2" destOrd="0" presId="urn:microsoft.com/office/officeart/2005/8/layout/chevron1"/>
    <dgm:cxn modelId="{8310A572-2292-4991-8E7D-A2A09E78270B}" type="presParOf" srcId="{F6290B4D-2087-4FCD-891E-E9D7206508DB}" destId="{0CEBBDC0-98C9-4B2A-9CED-5552CB570245}" srcOrd="3" destOrd="0" presId="urn:microsoft.com/office/officeart/2005/8/layout/chevron1"/>
    <dgm:cxn modelId="{71CAEFAB-6C51-4453-9234-6D3331B10F58}" type="presParOf" srcId="{F6290B4D-2087-4FCD-891E-E9D7206508DB}" destId="{C4706F8D-485C-4F91-8A83-AAA10BBD4814}" srcOrd="4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F8DB603-555B-4871-8676-102FB645DCB1}">
      <dsp:nvSpPr>
        <dsp:cNvPr id="0" name=""/>
        <dsp:cNvSpPr/>
      </dsp:nvSpPr>
      <dsp:spPr>
        <a:xfrm>
          <a:off x="0" y="0"/>
          <a:ext cx="2409483" cy="491825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6015" tIns="38672" rIns="38672" bIns="38672" numCol="1" spcCol="1270" anchor="ctr" anchorCtr="0">
          <a:noAutofit/>
        </a:bodyPr>
        <a:lstStyle/>
        <a:p>
          <a:pPr lvl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2900" kern="1200" dirty="0" smtClean="0"/>
            <a:t>Outubro	</a:t>
          </a:r>
          <a:endParaRPr lang="pt-BR" sz="2900" kern="1200" dirty="0"/>
        </a:p>
      </dsp:txBody>
      <dsp:txXfrm>
        <a:off x="245913" y="0"/>
        <a:ext cx="1917658" cy="491825"/>
      </dsp:txXfrm>
    </dsp:sp>
    <dsp:sp modelId="{C5376FE0-79CA-4533-AF28-F8315D09F747}">
      <dsp:nvSpPr>
        <dsp:cNvPr id="0" name=""/>
        <dsp:cNvSpPr/>
      </dsp:nvSpPr>
      <dsp:spPr>
        <a:xfrm>
          <a:off x="2176975" y="0"/>
          <a:ext cx="2409483" cy="491825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6015" tIns="38672" rIns="38672" bIns="38672" numCol="1" spcCol="1270" anchor="ctr" anchorCtr="0">
          <a:noAutofit/>
        </a:bodyPr>
        <a:lstStyle/>
        <a:p>
          <a:pPr lvl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2900" kern="1200" dirty="0" smtClean="0"/>
            <a:t>Novembro</a:t>
          </a:r>
          <a:endParaRPr lang="pt-BR" sz="2900" kern="1200" dirty="0"/>
        </a:p>
      </dsp:txBody>
      <dsp:txXfrm>
        <a:off x="2422888" y="0"/>
        <a:ext cx="1917658" cy="491825"/>
      </dsp:txXfrm>
    </dsp:sp>
    <dsp:sp modelId="{C4706F8D-485C-4F91-8A83-AAA10BBD4814}">
      <dsp:nvSpPr>
        <dsp:cNvPr id="0" name=""/>
        <dsp:cNvSpPr/>
      </dsp:nvSpPr>
      <dsp:spPr>
        <a:xfrm>
          <a:off x="4341025" y="0"/>
          <a:ext cx="2409483" cy="491825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6015" tIns="38672" rIns="38672" bIns="38672" numCol="1" spcCol="1270" anchor="ctr" anchorCtr="0">
          <a:noAutofit/>
        </a:bodyPr>
        <a:lstStyle/>
        <a:p>
          <a:pPr lvl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2900" kern="1200" dirty="0" smtClean="0"/>
            <a:t>Dezembro</a:t>
          </a:r>
          <a:endParaRPr lang="pt-BR" sz="2900" kern="1200" dirty="0"/>
        </a:p>
      </dsp:txBody>
      <dsp:txXfrm>
        <a:off x="4586938" y="0"/>
        <a:ext cx="1917658" cy="49182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8B0D43F-B80B-40D7-B843-4AC81DACC905}" type="datetimeFigureOut">
              <a:rPr lang="pt-BR" smtClean="0"/>
              <a:t>16/10/2015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8975" y="1143000"/>
            <a:ext cx="548005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E7626FD-18EF-494C-A467-3D85C3950BD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809518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06363" y="731838"/>
            <a:ext cx="6511925" cy="366712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1F479F4-2A97-4F4C-BA5E-8E7B892BE339}" type="slidenum">
              <a:rPr lang="pt-BR" smtClean="0">
                <a:solidFill>
                  <a:prstClr val="black"/>
                </a:solidFill>
              </a:rPr>
              <a:pPr/>
              <a:t>11</a:t>
            </a:fld>
            <a:endParaRPr lang="pt-BR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1105946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06363" y="731838"/>
            <a:ext cx="6511925" cy="366712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1F479F4-2A97-4F4C-BA5E-8E7B892BE339}" type="slidenum">
              <a:rPr lang="pt-BR" smtClean="0">
                <a:solidFill>
                  <a:prstClr val="black"/>
                </a:solidFill>
              </a:rPr>
              <a:pPr/>
              <a:t>12</a:t>
            </a:fld>
            <a:endParaRPr lang="pt-BR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4407649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06363" y="731838"/>
            <a:ext cx="6511925" cy="366712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1F479F4-2A97-4F4C-BA5E-8E7B892BE339}" type="slidenum">
              <a:rPr lang="pt-BR" smtClean="0">
                <a:solidFill>
                  <a:prstClr val="black"/>
                </a:solidFill>
              </a:rPr>
              <a:pPr/>
              <a:t>13</a:t>
            </a:fld>
            <a:endParaRPr lang="pt-BR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3332772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06363" y="731838"/>
            <a:ext cx="6511925" cy="366712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1F479F4-2A97-4F4C-BA5E-8E7B892BE339}" type="slidenum">
              <a:rPr lang="pt-BR" smtClean="0">
                <a:solidFill>
                  <a:prstClr val="black"/>
                </a:solidFill>
              </a:rPr>
              <a:pPr/>
              <a:t>14</a:t>
            </a:fld>
            <a:endParaRPr lang="pt-BR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2887190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143000" y="842552"/>
            <a:ext cx="6858000" cy="1792358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143000" y="2704030"/>
            <a:ext cx="6858000" cy="1242971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pt-BR" smtClean="0"/>
              <a:t>Clique para editar o estilo do subtítulo mestre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A96241-9EE8-3241-9C65-A8F2A1D83BB2}" type="datetimeFigureOut">
              <a:rPr lang="en-US" smtClean="0"/>
              <a:t>10/16/2015</a:t>
            </a:fld>
            <a:endParaRPr lang="en-US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8DD49-D405-3D4F-92A5-BAA19C6BFE1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98293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A96241-9EE8-3241-9C65-A8F2A1D83BB2}" type="datetimeFigureOut">
              <a:rPr lang="en-US" smtClean="0"/>
              <a:t>10/16/2015</a:t>
            </a:fld>
            <a:endParaRPr lang="en-US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8DD49-D405-3D4F-92A5-BAA19C6BFE1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71069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23888" y="1283491"/>
            <a:ext cx="7886700" cy="2141534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623888" y="3445285"/>
            <a:ext cx="7886700" cy="1126182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A96241-9EE8-3241-9C65-A8F2A1D83BB2}" type="datetimeFigureOut">
              <a:rPr lang="en-US" smtClean="0"/>
              <a:t>10/16/2015</a:t>
            </a:fld>
            <a:endParaRPr lang="en-US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8DD49-D405-3D4F-92A5-BAA19C6BFE1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84648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628650" y="1370486"/>
            <a:ext cx="3886200" cy="3266526"/>
          </a:xfrm>
        </p:spPr>
        <p:txBody>
          <a:bodyPr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629150" y="1370486"/>
            <a:ext cx="3886200" cy="3266526"/>
          </a:xfrm>
        </p:spPr>
        <p:txBody>
          <a:bodyPr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A96241-9EE8-3241-9C65-A8F2A1D83BB2}" type="datetimeFigureOut">
              <a:rPr lang="en-US" smtClean="0"/>
              <a:t>10/16/2015</a:t>
            </a:fld>
            <a:endParaRPr lang="en-US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8DD49-D405-3D4F-92A5-BAA19C6BFE1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72215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29841" y="274098"/>
            <a:ext cx="7886700" cy="995093"/>
          </a:xfrm>
        </p:spPr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629842" y="1262040"/>
            <a:ext cx="3868340" cy="618506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29842" y="1880546"/>
            <a:ext cx="3868340" cy="2766000"/>
          </a:xfrm>
        </p:spPr>
        <p:txBody>
          <a:bodyPr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4629150" y="1262040"/>
            <a:ext cx="3887391" cy="618506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4629150" y="1880546"/>
            <a:ext cx="3887391" cy="2766000"/>
          </a:xfrm>
        </p:spPr>
        <p:txBody>
          <a:bodyPr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A96241-9EE8-3241-9C65-A8F2A1D83BB2}" type="datetimeFigureOut">
              <a:rPr lang="en-US" smtClean="0"/>
              <a:t>10/16/2015</a:t>
            </a:fld>
            <a:endParaRPr lang="en-US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8DD49-D405-3D4F-92A5-BAA19C6BFE1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11085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A96241-9EE8-3241-9C65-A8F2A1D83BB2}" type="datetimeFigureOut">
              <a:rPr lang="en-US" smtClean="0"/>
              <a:t>10/16/2015</a:t>
            </a:fld>
            <a:endParaRPr lang="en-US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8DD49-D405-3D4F-92A5-BAA19C6BFE1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45596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A96241-9EE8-3241-9C65-A8F2A1D83BB2}" type="datetimeFigureOut">
              <a:rPr lang="en-US" smtClean="0"/>
              <a:t>10/16/2015</a:t>
            </a:fld>
            <a:endParaRPr lang="en-US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8DD49-D405-3D4F-92A5-BAA19C6BFE1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49582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29841" y="343218"/>
            <a:ext cx="2949178" cy="1201261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3887391" y="741255"/>
            <a:ext cx="4629150" cy="3658604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629841" y="1544479"/>
            <a:ext cx="2949178" cy="286133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A96241-9EE8-3241-9C65-A8F2A1D83BB2}" type="datetimeFigureOut">
              <a:rPr lang="en-US" smtClean="0"/>
              <a:t>10/16/2015</a:t>
            </a:fld>
            <a:endParaRPr lang="en-US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8DD49-D405-3D4F-92A5-BAA19C6BFE1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86320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29841" y="343218"/>
            <a:ext cx="2949178" cy="1201261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3887391" y="741255"/>
            <a:ext cx="4629150" cy="3658604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629841" y="1544479"/>
            <a:ext cx="2949178" cy="286133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A96241-9EE8-3241-9C65-A8F2A1D83BB2}" type="datetimeFigureOut">
              <a:rPr lang="en-US" smtClean="0"/>
              <a:t>10/16/2015</a:t>
            </a:fld>
            <a:endParaRPr lang="en-US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8DD49-D405-3D4F-92A5-BAA19C6BFE1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75298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A96241-9EE8-3241-9C65-A8F2A1D83BB2}" type="datetimeFigureOut">
              <a:rPr lang="en-US" smtClean="0"/>
              <a:t>10/16/2015</a:t>
            </a:fld>
            <a:endParaRPr lang="en-US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8DD49-D405-3D4F-92A5-BAA19C6BFE1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27170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543675" y="274097"/>
            <a:ext cx="1971675" cy="4362915"/>
          </a:xfrm>
        </p:spPr>
        <p:txBody>
          <a:bodyPr vert="eaVert"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628650" y="274097"/>
            <a:ext cx="5800725" cy="4362915"/>
          </a:xfrm>
        </p:spPr>
        <p:txBody>
          <a:bodyPr vert="eaVert"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A96241-9EE8-3241-9C65-A8F2A1D83BB2}" type="datetimeFigureOut">
              <a:rPr lang="en-US" smtClean="0"/>
              <a:t>10/16/2015</a:t>
            </a:fld>
            <a:endParaRPr lang="en-US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8DD49-D405-3D4F-92A5-BAA19C6BFE1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76381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06169"/>
            <a:ext cx="8229600" cy="858044"/>
          </a:xfrm>
          <a:prstGeom prst="rect">
            <a:avLst/>
          </a:prstGeom>
        </p:spPr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7314842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06169"/>
            <a:ext cx="8229600" cy="858044"/>
          </a:xfrm>
          <a:prstGeom prst="rect">
            <a:avLst/>
          </a:prstGeom>
        </p:spPr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6995617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06169"/>
            <a:ext cx="8229600" cy="858044"/>
          </a:xfrm>
          <a:prstGeom prst="rect">
            <a:avLst/>
          </a:prstGeom>
        </p:spPr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6069387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emf"/><Relationship Id="rId3" Type="http://schemas.openxmlformats.org/officeDocument/2006/relationships/vmlDrawing" Target="../drawings/vmlDrawing1.vml"/><Relationship Id="rId7" Type="http://schemas.openxmlformats.org/officeDocument/2006/relationships/image" Target="../media/image2.jp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.emf"/><Relationship Id="rId5" Type="http://schemas.openxmlformats.org/officeDocument/2006/relationships/oleObject" Target="../embeddings/oleObject1.bin"/><Relationship Id="rId4" Type="http://schemas.openxmlformats.org/officeDocument/2006/relationships/tags" Target="../tags/tag1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vmlDrawing" Target="../drawings/vmlDrawing2.vml"/><Relationship Id="rId7" Type="http://schemas.openxmlformats.org/officeDocument/2006/relationships/image" Target="../media/image3.emf"/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.emf"/><Relationship Id="rId5" Type="http://schemas.openxmlformats.org/officeDocument/2006/relationships/oleObject" Target="../embeddings/oleObject2.bin"/><Relationship Id="rId4" Type="http://schemas.openxmlformats.org/officeDocument/2006/relationships/tags" Target="../tags/tag2.xml"/><Relationship Id="rId9" Type="http://schemas.openxmlformats.org/officeDocument/2006/relationships/image" Target="../media/image5.jpg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vmlDrawing" Target="../drawings/vmlDrawing3.vml"/><Relationship Id="rId7" Type="http://schemas.openxmlformats.org/officeDocument/2006/relationships/image" Target="../media/image6.png"/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1.emf"/><Relationship Id="rId5" Type="http://schemas.openxmlformats.org/officeDocument/2006/relationships/oleObject" Target="../embeddings/oleObject3.bin"/><Relationship Id="rId4" Type="http://schemas.openxmlformats.org/officeDocument/2006/relationships/tags" Target="../tags/tag3.xml"/><Relationship Id="rId9" Type="http://schemas.openxmlformats.org/officeDocument/2006/relationships/image" Target="../media/image3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628650" y="274098"/>
            <a:ext cx="7886700" cy="9950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628650" y="1370486"/>
            <a:ext cx="7886700" cy="326652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628650" y="4771678"/>
            <a:ext cx="2057400" cy="27409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5A96241-9EE8-3241-9C65-A8F2A1D83BB2}" type="datetimeFigureOut">
              <a:rPr lang="en-US" smtClean="0"/>
              <a:t>10/16/2015</a:t>
            </a:fld>
            <a:endParaRPr lang="en-US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3028950" y="4771678"/>
            <a:ext cx="3086100" cy="27409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6457950" y="4771678"/>
            <a:ext cx="2057400" cy="27409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088DD49-D405-3D4F-92A5-BAA19C6BFE1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91421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to 1" hidden="1"/>
          <p:cNvGraphicFramePr>
            <a:graphicFrameLocks noChangeAspect="1"/>
          </p:cNvGraphicFramePr>
          <p:nvPr userDrawn="1">
            <p:custDataLst>
              <p:tags r:id="rId4"/>
            </p:custDataLst>
            <p:extLst/>
          </p:nvPr>
        </p:nvGraphicFramePr>
        <p:xfrm>
          <a:off x="1589" y="1193"/>
          <a:ext cx="1587" cy="119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38" name="Slide do think-cell" r:id="rId5" imgW="270" imgH="270" progId="TCLayout.ActiveDocument.1">
                  <p:embed/>
                </p:oleObj>
              </mc:Choice>
              <mc:Fallback>
                <p:oleObj name="Slide do think-cell" r:id="rId5" imgW="270" imgH="27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9" y="1193"/>
                        <a:ext cx="1587" cy="119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6" name="Picture 14" descr="t02-02.jpg"/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8263"/>
          </a:xfrm>
          <a:prstGeom prst="rect">
            <a:avLst/>
          </a:prstGeom>
        </p:spPr>
      </p:pic>
      <p:pic>
        <p:nvPicPr>
          <p:cNvPr id="7" name="Picture 10"/>
          <p:cNvPicPr>
            <a:picLocks noChangeAspect="1"/>
          </p:cNvPicPr>
          <p:nvPr userDrawn="1"/>
        </p:nvPicPr>
        <p:blipFill>
          <a:blip r:embed="rId8"/>
          <a:stretch>
            <a:fillRect/>
          </a:stretch>
        </p:blipFill>
        <p:spPr>
          <a:xfrm>
            <a:off x="7021333" y="289005"/>
            <a:ext cx="1603348" cy="291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23812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</p:sldLayoutIdLst>
  <p:timing>
    <p:tnLst>
      <p:par>
        <p:cTn id="1" dur="indefinite" restart="never" nodeType="tmRoot"/>
      </p:par>
    </p:tnLst>
  </p:timing>
  <p:hf hdr="0" ftr="0" dt="0"/>
  <p:txStyles>
    <p:titleStyle>
      <a:lvl1pPr algn="ctr" defTabSz="686108" rtl="0" eaLnBrk="1" latinLnBrk="0" hangingPunct="1">
        <a:spcBef>
          <a:spcPct val="0"/>
        </a:spcBef>
        <a:buNone/>
        <a:defRPr sz="330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7291" indent="-257291" algn="l" defTabSz="686108" rtl="0" eaLnBrk="1" latinLnBrk="0" hangingPunct="1">
        <a:spcBef>
          <a:spcPct val="20000"/>
        </a:spcBef>
        <a:buFont typeface="Arial" pitchFamily="34" charset="0"/>
        <a:buChar char="•"/>
        <a:defRPr sz="2402" kern="1200">
          <a:solidFill>
            <a:schemeClr val="tx1"/>
          </a:solidFill>
          <a:latin typeface="+mn-lt"/>
          <a:ea typeface="+mn-ea"/>
          <a:cs typeface="+mn-cs"/>
        </a:defRPr>
      </a:lvl1pPr>
      <a:lvl2pPr marL="557462" indent="-214409" algn="l" defTabSz="686108" rtl="0" eaLnBrk="1" latinLnBrk="0" hangingPunct="1">
        <a:spcBef>
          <a:spcPct val="20000"/>
        </a:spcBef>
        <a:buFont typeface="Arial" pitchFamily="34" charset="0"/>
        <a:buChar char="–"/>
        <a:defRPr sz="2102" kern="1200">
          <a:solidFill>
            <a:schemeClr val="tx1"/>
          </a:solidFill>
          <a:latin typeface="+mn-lt"/>
          <a:ea typeface="+mn-ea"/>
          <a:cs typeface="+mn-cs"/>
        </a:defRPr>
      </a:lvl2pPr>
      <a:lvl3pPr marL="857634" indent="-171527" algn="l" defTabSz="686108" rtl="0" eaLnBrk="1" latinLnBrk="0" hangingPunct="1">
        <a:spcBef>
          <a:spcPct val="20000"/>
        </a:spcBef>
        <a:buFont typeface="Arial" pitchFamily="34" charset="0"/>
        <a:buChar char="•"/>
        <a:defRPr sz="1802" kern="1200">
          <a:solidFill>
            <a:schemeClr val="tx1"/>
          </a:solidFill>
          <a:latin typeface="+mn-lt"/>
          <a:ea typeface="+mn-ea"/>
          <a:cs typeface="+mn-cs"/>
        </a:defRPr>
      </a:lvl3pPr>
      <a:lvl4pPr marL="1200688" indent="-171527" algn="l" defTabSz="686108" rtl="0" eaLnBrk="1" latinLnBrk="0" hangingPunct="1">
        <a:spcBef>
          <a:spcPct val="20000"/>
        </a:spcBef>
        <a:buFont typeface="Arial" pitchFamily="34" charset="0"/>
        <a:buChar char="–"/>
        <a:defRPr sz="1501" kern="1200">
          <a:solidFill>
            <a:schemeClr val="tx1"/>
          </a:solidFill>
          <a:latin typeface="+mn-lt"/>
          <a:ea typeface="+mn-ea"/>
          <a:cs typeface="+mn-cs"/>
        </a:defRPr>
      </a:lvl4pPr>
      <a:lvl5pPr marL="1543743" indent="-171527" algn="l" defTabSz="686108" rtl="0" eaLnBrk="1" latinLnBrk="0" hangingPunct="1">
        <a:spcBef>
          <a:spcPct val="20000"/>
        </a:spcBef>
        <a:buFont typeface="Arial" pitchFamily="34" charset="0"/>
        <a:buChar char="»"/>
        <a:defRPr sz="1501" kern="1200">
          <a:solidFill>
            <a:schemeClr val="tx1"/>
          </a:solidFill>
          <a:latin typeface="+mn-lt"/>
          <a:ea typeface="+mn-ea"/>
          <a:cs typeface="+mn-cs"/>
        </a:defRPr>
      </a:lvl5pPr>
      <a:lvl6pPr marL="1886798" indent="-171527" algn="l" defTabSz="686108" rtl="0" eaLnBrk="1" latinLnBrk="0" hangingPunct="1">
        <a:spcBef>
          <a:spcPct val="20000"/>
        </a:spcBef>
        <a:buFont typeface="Arial" pitchFamily="34" charset="0"/>
        <a:buChar char="•"/>
        <a:defRPr sz="1501" kern="1200">
          <a:solidFill>
            <a:schemeClr val="tx1"/>
          </a:solidFill>
          <a:latin typeface="+mn-lt"/>
          <a:ea typeface="+mn-ea"/>
          <a:cs typeface="+mn-cs"/>
        </a:defRPr>
      </a:lvl6pPr>
      <a:lvl7pPr marL="2229850" indent="-171527" algn="l" defTabSz="686108" rtl="0" eaLnBrk="1" latinLnBrk="0" hangingPunct="1">
        <a:spcBef>
          <a:spcPct val="20000"/>
        </a:spcBef>
        <a:buFont typeface="Arial" pitchFamily="34" charset="0"/>
        <a:buChar char="•"/>
        <a:defRPr sz="1501" kern="1200">
          <a:solidFill>
            <a:schemeClr val="tx1"/>
          </a:solidFill>
          <a:latin typeface="+mn-lt"/>
          <a:ea typeface="+mn-ea"/>
          <a:cs typeface="+mn-cs"/>
        </a:defRPr>
      </a:lvl7pPr>
      <a:lvl8pPr marL="2572905" indent="-171527" algn="l" defTabSz="686108" rtl="0" eaLnBrk="1" latinLnBrk="0" hangingPunct="1">
        <a:spcBef>
          <a:spcPct val="20000"/>
        </a:spcBef>
        <a:buFont typeface="Arial" pitchFamily="34" charset="0"/>
        <a:buChar char="•"/>
        <a:defRPr sz="1501" kern="1200">
          <a:solidFill>
            <a:schemeClr val="tx1"/>
          </a:solidFill>
          <a:latin typeface="+mn-lt"/>
          <a:ea typeface="+mn-ea"/>
          <a:cs typeface="+mn-cs"/>
        </a:defRPr>
      </a:lvl8pPr>
      <a:lvl9pPr marL="2915959" indent="-171527" algn="l" defTabSz="686108" rtl="0" eaLnBrk="1" latinLnBrk="0" hangingPunct="1">
        <a:spcBef>
          <a:spcPct val="20000"/>
        </a:spcBef>
        <a:buFont typeface="Arial" pitchFamily="34" charset="0"/>
        <a:buChar char="•"/>
        <a:defRPr sz="150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1pPr>
      <a:lvl2pPr marL="343055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2pPr>
      <a:lvl3pPr marL="686108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3pPr>
      <a:lvl4pPr marL="1029162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4pPr>
      <a:lvl5pPr marL="1372216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5pPr>
      <a:lvl6pPr marL="1715271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6pPr>
      <a:lvl7pPr marL="2058324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7pPr>
      <a:lvl8pPr marL="2401377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8pPr>
      <a:lvl9pPr marL="2744432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to 1" hidden="1"/>
          <p:cNvGraphicFramePr>
            <a:graphicFrameLocks noChangeAspect="1"/>
          </p:cNvGraphicFramePr>
          <p:nvPr userDrawn="1">
            <p:custDataLst>
              <p:tags r:id="rId4"/>
            </p:custDataLst>
            <p:extLst/>
          </p:nvPr>
        </p:nvGraphicFramePr>
        <p:xfrm>
          <a:off x="1589" y="1193"/>
          <a:ext cx="1587" cy="119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62" name="Slide do think-cell" r:id="rId5" imgW="270" imgH="270" progId="TCLayout.ActiveDocument.1">
                  <p:embed/>
                </p:oleObj>
              </mc:Choice>
              <mc:Fallback>
                <p:oleObj name="Slide do think-cell" r:id="rId5" imgW="270" imgH="27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9" y="1193"/>
                        <a:ext cx="1587" cy="119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6" name="Picture 9"/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7062980" y="289005"/>
            <a:ext cx="1603348" cy="291323"/>
          </a:xfrm>
          <a:prstGeom prst="rect">
            <a:avLst/>
          </a:prstGeom>
        </p:spPr>
      </p:pic>
      <p:pic>
        <p:nvPicPr>
          <p:cNvPr id="7" name="Picture 2"/>
          <p:cNvPicPr>
            <a:picLocks noChangeAspect="1" noChangeArrowheads="1"/>
          </p:cNvPicPr>
          <p:nvPr userDrawn="1"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780" t="78172" r="18395" b="12686"/>
          <a:stretch/>
        </p:blipFill>
        <p:spPr bwMode="auto">
          <a:xfrm>
            <a:off x="8188658" y="4384319"/>
            <a:ext cx="955343" cy="7639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Picture 1" descr="t03-02.jpg"/>
          <p:cNvPicPr>
            <a:picLocks noChangeAspect="1"/>
          </p:cNvPicPr>
          <p:nvPr userDrawn="1"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1368" b="84909"/>
          <a:stretch/>
        </p:blipFill>
        <p:spPr>
          <a:xfrm>
            <a:off x="0" y="0"/>
            <a:ext cx="789296" cy="776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94216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</p:sldLayoutIdLst>
  <p:timing>
    <p:tnLst>
      <p:par>
        <p:cTn id="1" dur="indefinite" restart="never" nodeType="tmRoot"/>
      </p:par>
    </p:tnLst>
  </p:timing>
  <p:hf hdr="0" ftr="0" dt="0"/>
  <p:txStyles>
    <p:titleStyle>
      <a:lvl1pPr algn="ctr" defTabSz="686108" rtl="0" eaLnBrk="1" latinLnBrk="0" hangingPunct="1">
        <a:spcBef>
          <a:spcPct val="0"/>
        </a:spcBef>
        <a:buNone/>
        <a:defRPr sz="330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7291" indent="-257291" algn="l" defTabSz="686108" rtl="0" eaLnBrk="1" latinLnBrk="0" hangingPunct="1">
        <a:spcBef>
          <a:spcPct val="20000"/>
        </a:spcBef>
        <a:buFont typeface="Arial" pitchFamily="34" charset="0"/>
        <a:buChar char="•"/>
        <a:defRPr sz="2402" kern="1200">
          <a:solidFill>
            <a:schemeClr val="tx1"/>
          </a:solidFill>
          <a:latin typeface="+mn-lt"/>
          <a:ea typeface="+mn-ea"/>
          <a:cs typeface="+mn-cs"/>
        </a:defRPr>
      </a:lvl1pPr>
      <a:lvl2pPr marL="557462" indent="-214409" algn="l" defTabSz="686108" rtl="0" eaLnBrk="1" latinLnBrk="0" hangingPunct="1">
        <a:spcBef>
          <a:spcPct val="20000"/>
        </a:spcBef>
        <a:buFont typeface="Arial" pitchFamily="34" charset="0"/>
        <a:buChar char="–"/>
        <a:defRPr sz="2102" kern="1200">
          <a:solidFill>
            <a:schemeClr val="tx1"/>
          </a:solidFill>
          <a:latin typeface="+mn-lt"/>
          <a:ea typeface="+mn-ea"/>
          <a:cs typeface="+mn-cs"/>
        </a:defRPr>
      </a:lvl2pPr>
      <a:lvl3pPr marL="857634" indent="-171527" algn="l" defTabSz="686108" rtl="0" eaLnBrk="1" latinLnBrk="0" hangingPunct="1">
        <a:spcBef>
          <a:spcPct val="20000"/>
        </a:spcBef>
        <a:buFont typeface="Arial" pitchFamily="34" charset="0"/>
        <a:buChar char="•"/>
        <a:defRPr sz="1802" kern="1200">
          <a:solidFill>
            <a:schemeClr val="tx1"/>
          </a:solidFill>
          <a:latin typeface="+mn-lt"/>
          <a:ea typeface="+mn-ea"/>
          <a:cs typeface="+mn-cs"/>
        </a:defRPr>
      </a:lvl3pPr>
      <a:lvl4pPr marL="1200688" indent="-171527" algn="l" defTabSz="686108" rtl="0" eaLnBrk="1" latinLnBrk="0" hangingPunct="1">
        <a:spcBef>
          <a:spcPct val="20000"/>
        </a:spcBef>
        <a:buFont typeface="Arial" pitchFamily="34" charset="0"/>
        <a:buChar char="–"/>
        <a:defRPr sz="1501" kern="1200">
          <a:solidFill>
            <a:schemeClr val="tx1"/>
          </a:solidFill>
          <a:latin typeface="+mn-lt"/>
          <a:ea typeface="+mn-ea"/>
          <a:cs typeface="+mn-cs"/>
        </a:defRPr>
      </a:lvl4pPr>
      <a:lvl5pPr marL="1543743" indent="-171527" algn="l" defTabSz="686108" rtl="0" eaLnBrk="1" latinLnBrk="0" hangingPunct="1">
        <a:spcBef>
          <a:spcPct val="20000"/>
        </a:spcBef>
        <a:buFont typeface="Arial" pitchFamily="34" charset="0"/>
        <a:buChar char="»"/>
        <a:defRPr sz="1501" kern="1200">
          <a:solidFill>
            <a:schemeClr val="tx1"/>
          </a:solidFill>
          <a:latin typeface="+mn-lt"/>
          <a:ea typeface="+mn-ea"/>
          <a:cs typeface="+mn-cs"/>
        </a:defRPr>
      </a:lvl5pPr>
      <a:lvl6pPr marL="1886798" indent="-171527" algn="l" defTabSz="686108" rtl="0" eaLnBrk="1" latinLnBrk="0" hangingPunct="1">
        <a:spcBef>
          <a:spcPct val="20000"/>
        </a:spcBef>
        <a:buFont typeface="Arial" pitchFamily="34" charset="0"/>
        <a:buChar char="•"/>
        <a:defRPr sz="1501" kern="1200">
          <a:solidFill>
            <a:schemeClr val="tx1"/>
          </a:solidFill>
          <a:latin typeface="+mn-lt"/>
          <a:ea typeface="+mn-ea"/>
          <a:cs typeface="+mn-cs"/>
        </a:defRPr>
      </a:lvl6pPr>
      <a:lvl7pPr marL="2229850" indent="-171527" algn="l" defTabSz="686108" rtl="0" eaLnBrk="1" latinLnBrk="0" hangingPunct="1">
        <a:spcBef>
          <a:spcPct val="20000"/>
        </a:spcBef>
        <a:buFont typeface="Arial" pitchFamily="34" charset="0"/>
        <a:buChar char="•"/>
        <a:defRPr sz="1501" kern="1200">
          <a:solidFill>
            <a:schemeClr val="tx1"/>
          </a:solidFill>
          <a:latin typeface="+mn-lt"/>
          <a:ea typeface="+mn-ea"/>
          <a:cs typeface="+mn-cs"/>
        </a:defRPr>
      </a:lvl7pPr>
      <a:lvl8pPr marL="2572905" indent="-171527" algn="l" defTabSz="686108" rtl="0" eaLnBrk="1" latinLnBrk="0" hangingPunct="1">
        <a:spcBef>
          <a:spcPct val="20000"/>
        </a:spcBef>
        <a:buFont typeface="Arial" pitchFamily="34" charset="0"/>
        <a:buChar char="•"/>
        <a:defRPr sz="1501" kern="1200">
          <a:solidFill>
            <a:schemeClr val="tx1"/>
          </a:solidFill>
          <a:latin typeface="+mn-lt"/>
          <a:ea typeface="+mn-ea"/>
          <a:cs typeface="+mn-cs"/>
        </a:defRPr>
      </a:lvl8pPr>
      <a:lvl9pPr marL="2915959" indent="-171527" algn="l" defTabSz="686108" rtl="0" eaLnBrk="1" latinLnBrk="0" hangingPunct="1">
        <a:spcBef>
          <a:spcPct val="20000"/>
        </a:spcBef>
        <a:buFont typeface="Arial" pitchFamily="34" charset="0"/>
        <a:buChar char="•"/>
        <a:defRPr sz="150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1pPr>
      <a:lvl2pPr marL="343055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2pPr>
      <a:lvl3pPr marL="686108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3pPr>
      <a:lvl4pPr marL="1029162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4pPr>
      <a:lvl5pPr marL="1372216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5pPr>
      <a:lvl6pPr marL="1715271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6pPr>
      <a:lvl7pPr marL="2058324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7pPr>
      <a:lvl8pPr marL="2401377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8pPr>
      <a:lvl9pPr marL="2744432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to 1" hidden="1"/>
          <p:cNvGraphicFramePr>
            <a:graphicFrameLocks noChangeAspect="1"/>
          </p:cNvGraphicFramePr>
          <p:nvPr userDrawn="1">
            <p:custDataLst>
              <p:tags r:id="rId4"/>
            </p:custDataLst>
            <p:extLst/>
          </p:nvPr>
        </p:nvGraphicFramePr>
        <p:xfrm>
          <a:off x="1589" y="1193"/>
          <a:ext cx="1587" cy="119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86" name="Slide do think-cell" r:id="rId5" imgW="270" imgH="270" progId="TCLayout.ActiveDocument.1">
                  <p:embed/>
                </p:oleObj>
              </mc:Choice>
              <mc:Fallback>
                <p:oleObj name="Slide do think-cell" r:id="rId5" imgW="270" imgH="27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9" y="1193"/>
                        <a:ext cx="1587" cy="119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8" name="interna_img-3.png"/>
          <p:cNvPicPr/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0182"/>
          <a:stretch>
            <a:fillRect/>
          </a:stretch>
        </p:blipFill>
        <p:spPr>
          <a:xfrm>
            <a:off x="1" y="-4669"/>
            <a:ext cx="3640873" cy="5157601"/>
          </a:xfrm>
          <a:prstGeom prst="rect">
            <a:avLst/>
          </a:prstGeom>
          <a:ln w="12700">
            <a:miter lim="400000"/>
          </a:ln>
        </p:spPr>
      </p:pic>
      <p:pic>
        <p:nvPicPr>
          <p:cNvPr id="9" name="image5.png"/>
          <p:cNvPicPr/>
          <p:nvPr userDrawn="1"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000"/>
          <a:stretch/>
        </p:blipFill>
        <p:spPr>
          <a:xfrm>
            <a:off x="8118917" y="4410609"/>
            <a:ext cx="1043999" cy="770734"/>
          </a:xfrm>
          <a:prstGeom prst="rect">
            <a:avLst/>
          </a:prstGeom>
          <a:ln w="12700">
            <a:miter lim="400000"/>
          </a:ln>
        </p:spPr>
      </p:pic>
      <p:pic>
        <p:nvPicPr>
          <p:cNvPr id="10" name="Picture 11"/>
          <p:cNvPicPr>
            <a:picLocks noChangeAspect="1"/>
          </p:cNvPicPr>
          <p:nvPr userDrawn="1"/>
        </p:nvPicPr>
        <p:blipFill>
          <a:blip r:embed="rId9"/>
          <a:stretch>
            <a:fillRect/>
          </a:stretch>
        </p:blipFill>
        <p:spPr>
          <a:xfrm>
            <a:off x="7021333" y="289005"/>
            <a:ext cx="1603348" cy="291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52967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</p:sldLayoutIdLst>
  <p:timing>
    <p:tnLst>
      <p:par>
        <p:cTn id="1" dur="indefinite" restart="never" nodeType="tmRoot"/>
      </p:par>
    </p:tnLst>
  </p:timing>
  <p:hf hdr="0" ftr="0" dt="0"/>
  <p:txStyles>
    <p:titleStyle>
      <a:lvl1pPr algn="ctr" defTabSz="686108" rtl="0" eaLnBrk="1" latinLnBrk="0" hangingPunct="1">
        <a:spcBef>
          <a:spcPct val="0"/>
        </a:spcBef>
        <a:buNone/>
        <a:defRPr sz="330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7291" indent="-257291" algn="l" defTabSz="686108" rtl="0" eaLnBrk="1" latinLnBrk="0" hangingPunct="1">
        <a:spcBef>
          <a:spcPct val="20000"/>
        </a:spcBef>
        <a:buFont typeface="Arial" pitchFamily="34" charset="0"/>
        <a:buChar char="•"/>
        <a:defRPr sz="2402" kern="1200">
          <a:solidFill>
            <a:schemeClr val="tx1"/>
          </a:solidFill>
          <a:latin typeface="+mn-lt"/>
          <a:ea typeface="+mn-ea"/>
          <a:cs typeface="+mn-cs"/>
        </a:defRPr>
      </a:lvl1pPr>
      <a:lvl2pPr marL="557462" indent="-214409" algn="l" defTabSz="686108" rtl="0" eaLnBrk="1" latinLnBrk="0" hangingPunct="1">
        <a:spcBef>
          <a:spcPct val="20000"/>
        </a:spcBef>
        <a:buFont typeface="Arial" pitchFamily="34" charset="0"/>
        <a:buChar char="–"/>
        <a:defRPr sz="2102" kern="1200">
          <a:solidFill>
            <a:schemeClr val="tx1"/>
          </a:solidFill>
          <a:latin typeface="+mn-lt"/>
          <a:ea typeface="+mn-ea"/>
          <a:cs typeface="+mn-cs"/>
        </a:defRPr>
      </a:lvl2pPr>
      <a:lvl3pPr marL="857634" indent="-171527" algn="l" defTabSz="686108" rtl="0" eaLnBrk="1" latinLnBrk="0" hangingPunct="1">
        <a:spcBef>
          <a:spcPct val="20000"/>
        </a:spcBef>
        <a:buFont typeface="Arial" pitchFamily="34" charset="0"/>
        <a:buChar char="•"/>
        <a:defRPr sz="1802" kern="1200">
          <a:solidFill>
            <a:schemeClr val="tx1"/>
          </a:solidFill>
          <a:latin typeface="+mn-lt"/>
          <a:ea typeface="+mn-ea"/>
          <a:cs typeface="+mn-cs"/>
        </a:defRPr>
      </a:lvl3pPr>
      <a:lvl4pPr marL="1200688" indent="-171527" algn="l" defTabSz="686108" rtl="0" eaLnBrk="1" latinLnBrk="0" hangingPunct="1">
        <a:spcBef>
          <a:spcPct val="20000"/>
        </a:spcBef>
        <a:buFont typeface="Arial" pitchFamily="34" charset="0"/>
        <a:buChar char="–"/>
        <a:defRPr sz="1501" kern="1200">
          <a:solidFill>
            <a:schemeClr val="tx1"/>
          </a:solidFill>
          <a:latin typeface="+mn-lt"/>
          <a:ea typeface="+mn-ea"/>
          <a:cs typeface="+mn-cs"/>
        </a:defRPr>
      </a:lvl4pPr>
      <a:lvl5pPr marL="1543743" indent="-171527" algn="l" defTabSz="686108" rtl="0" eaLnBrk="1" latinLnBrk="0" hangingPunct="1">
        <a:spcBef>
          <a:spcPct val="20000"/>
        </a:spcBef>
        <a:buFont typeface="Arial" pitchFamily="34" charset="0"/>
        <a:buChar char="»"/>
        <a:defRPr sz="1501" kern="1200">
          <a:solidFill>
            <a:schemeClr val="tx1"/>
          </a:solidFill>
          <a:latin typeface="+mn-lt"/>
          <a:ea typeface="+mn-ea"/>
          <a:cs typeface="+mn-cs"/>
        </a:defRPr>
      </a:lvl5pPr>
      <a:lvl6pPr marL="1886798" indent="-171527" algn="l" defTabSz="686108" rtl="0" eaLnBrk="1" latinLnBrk="0" hangingPunct="1">
        <a:spcBef>
          <a:spcPct val="20000"/>
        </a:spcBef>
        <a:buFont typeface="Arial" pitchFamily="34" charset="0"/>
        <a:buChar char="•"/>
        <a:defRPr sz="1501" kern="1200">
          <a:solidFill>
            <a:schemeClr val="tx1"/>
          </a:solidFill>
          <a:latin typeface="+mn-lt"/>
          <a:ea typeface="+mn-ea"/>
          <a:cs typeface="+mn-cs"/>
        </a:defRPr>
      </a:lvl6pPr>
      <a:lvl7pPr marL="2229850" indent="-171527" algn="l" defTabSz="686108" rtl="0" eaLnBrk="1" latinLnBrk="0" hangingPunct="1">
        <a:spcBef>
          <a:spcPct val="20000"/>
        </a:spcBef>
        <a:buFont typeface="Arial" pitchFamily="34" charset="0"/>
        <a:buChar char="•"/>
        <a:defRPr sz="1501" kern="1200">
          <a:solidFill>
            <a:schemeClr val="tx1"/>
          </a:solidFill>
          <a:latin typeface="+mn-lt"/>
          <a:ea typeface="+mn-ea"/>
          <a:cs typeface="+mn-cs"/>
        </a:defRPr>
      </a:lvl7pPr>
      <a:lvl8pPr marL="2572905" indent="-171527" algn="l" defTabSz="686108" rtl="0" eaLnBrk="1" latinLnBrk="0" hangingPunct="1">
        <a:spcBef>
          <a:spcPct val="20000"/>
        </a:spcBef>
        <a:buFont typeface="Arial" pitchFamily="34" charset="0"/>
        <a:buChar char="•"/>
        <a:defRPr sz="1501" kern="1200">
          <a:solidFill>
            <a:schemeClr val="tx1"/>
          </a:solidFill>
          <a:latin typeface="+mn-lt"/>
          <a:ea typeface="+mn-ea"/>
          <a:cs typeface="+mn-cs"/>
        </a:defRPr>
      </a:lvl8pPr>
      <a:lvl9pPr marL="2915959" indent="-171527" algn="l" defTabSz="686108" rtl="0" eaLnBrk="1" latinLnBrk="0" hangingPunct="1">
        <a:spcBef>
          <a:spcPct val="20000"/>
        </a:spcBef>
        <a:buFont typeface="Arial" pitchFamily="34" charset="0"/>
        <a:buChar char="•"/>
        <a:defRPr sz="150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1pPr>
      <a:lvl2pPr marL="343055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2pPr>
      <a:lvl3pPr marL="686108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3pPr>
      <a:lvl4pPr marL="1029162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4pPr>
      <a:lvl5pPr marL="1372216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5pPr>
      <a:lvl6pPr marL="1715271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6pPr>
      <a:lvl7pPr marL="2058324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7pPr>
      <a:lvl8pPr marL="2401377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8pPr>
      <a:lvl9pPr marL="2744432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emf"/><Relationship Id="rId4" Type="http://schemas.openxmlformats.org/officeDocument/2006/relationships/image" Target="../media/image10.emf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emf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chart" Target="../charts/chart4.xml"/><Relationship Id="rId3" Type="http://schemas.openxmlformats.org/officeDocument/2006/relationships/image" Target="../media/image4.png"/><Relationship Id="rId7" Type="http://schemas.openxmlformats.org/officeDocument/2006/relationships/chart" Target="../charts/chart3.xml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2.xml"/><Relationship Id="rId6" Type="http://schemas.openxmlformats.org/officeDocument/2006/relationships/chart" Target="../charts/chart2.xml"/><Relationship Id="rId5" Type="http://schemas.openxmlformats.org/officeDocument/2006/relationships/chart" Target="../charts/chart1.xml"/><Relationship Id="rId4" Type="http://schemas.openxmlformats.org/officeDocument/2006/relationships/image" Target="../media/image5.jpg"/><Relationship Id="rId9" Type="http://schemas.openxmlformats.org/officeDocument/2006/relationships/chart" Target="../charts/char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5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5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5.emf"/><Relationship Id="rId4" Type="http://schemas.openxmlformats.org/officeDocument/2006/relationships/image" Target="../media/image5.jp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jpg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png"/><Relationship Id="rId4" Type="http://schemas.openxmlformats.org/officeDocument/2006/relationships/image" Target="../media/image5.jp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png"/><Relationship Id="rId4" Type="http://schemas.openxmlformats.org/officeDocument/2006/relationships/image" Target="../media/image5.jp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jp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7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2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jp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21.jpeg"/><Relationship Id="rId4" Type="http://schemas.openxmlformats.org/officeDocument/2006/relationships/image" Target="../media/image5.jp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5.jp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22.png"/><Relationship Id="rId4" Type="http://schemas.openxmlformats.org/officeDocument/2006/relationships/image" Target="../media/image5.jp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23.emf"/><Relationship Id="rId4" Type="http://schemas.openxmlformats.org/officeDocument/2006/relationships/image" Target="../media/image5.jp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24.emf"/><Relationship Id="rId4" Type="http://schemas.openxmlformats.org/officeDocument/2006/relationships/image" Target="../media/image5.jp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25.png"/><Relationship Id="rId4" Type="http://schemas.openxmlformats.org/officeDocument/2006/relationships/image" Target="../media/image5.jp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1.xml"/><Relationship Id="rId3" Type="http://schemas.openxmlformats.org/officeDocument/2006/relationships/image" Target="../media/image4.png"/><Relationship Id="rId7" Type="http://schemas.openxmlformats.org/officeDocument/2006/relationships/diagramQuickStyle" Target="../diagrams/quickStyle1.xml"/><Relationship Id="rId12" Type="http://schemas.openxmlformats.org/officeDocument/2006/relationships/image" Target="../media/image28.png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4.xml"/><Relationship Id="rId6" Type="http://schemas.openxmlformats.org/officeDocument/2006/relationships/diagramLayout" Target="../diagrams/layout1.xml"/><Relationship Id="rId11" Type="http://schemas.openxmlformats.org/officeDocument/2006/relationships/image" Target="../media/image27.png"/><Relationship Id="rId5" Type="http://schemas.openxmlformats.org/officeDocument/2006/relationships/diagramData" Target="../diagrams/data1.xml"/><Relationship Id="rId10" Type="http://schemas.openxmlformats.org/officeDocument/2006/relationships/image" Target="../media/image26.jpg"/><Relationship Id="rId4" Type="http://schemas.openxmlformats.org/officeDocument/2006/relationships/image" Target="../media/image5.jpg"/><Relationship Id="rId9" Type="http://schemas.microsoft.com/office/2007/relationships/diagramDrawing" Target="../diagrams/drawing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jp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29.jpg"/><Relationship Id="rId4" Type="http://schemas.openxmlformats.org/officeDocument/2006/relationships/image" Target="../media/image5.jp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0.emf"/><Relationship Id="rId4" Type="http://schemas.openxmlformats.org/officeDocument/2006/relationships/image" Target="../media/image5.jp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31.emf"/><Relationship Id="rId4" Type="http://schemas.openxmlformats.org/officeDocument/2006/relationships/image" Target="../media/image5.jp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32.emf"/><Relationship Id="rId4" Type="http://schemas.openxmlformats.org/officeDocument/2006/relationships/image" Target="../media/image5.jp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33.emf"/><Relationship Id="rId4" Type="http://schemas.openxmlformats.org/officeDocument/2006/relationships/image" Target="../media/image5.jp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34.emf"/><Relationship Id="rId4" Type="http://schemas.openxmlformats.org/officeDocument/2006/relationships/image" Target="../media/image5.jp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35.emf"/><Relationship Id="rId4" Type="http://schemas.openxmlformats.org/officeDocument/2006/relationships/image" Target="../media/image5.jp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36.emf"/><Relationship Id="rId4" Type="http://schemas.openxmlformats.org/officeDocument/2006/relationships/image" Target="../media/image5.jp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37.emf"/><Relationship Id="rId4" Type="http://schemas.openxmlformats.org/officeDocument/2006/relationships/image" Target="../media/image5.jp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38.emf"/><Relationship Id="rId4" Type="http://schemas.openxmlformats.org/officeDocument/2006/relationships/image" Target="../media/image5.jp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39.emf"/><Relationship Id="rId4" Type="http://schemas.openxmlformats.org/officeDocument/2006/relationships/image" Target="../media/image5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fachada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239"/>
            <a:ext cx="9144000" cy="5145024"/>
          </a:xfrm>
          <a:prstGeom prst="rect">
            <a:avLst/>
          </a:prstGeom>
        </p:spPr>
      </p:pic>
      <p:pic>
        <p:nvPicPr>
          <p:cNvPr id="10" name="Picture 9" descr="meia_bolinha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51466" y="4354709"/>
            <a:ext cx="1635846" cy="804366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00329" y="3208"/>
            <a:ext cx="3345084" cy="1221858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99711" y="325132"/>
            <a:ext cx="1744578" cy="422254"/>
          </a:xfrm>
          <a:prstGeom prst="rect">
            <a:avLst/>
          </a:prstGeom>
        </p:spPr>
      </p:pic>
      <p:sp>
        <p:nvSpPr>
          <p:cNvPr id="11" name="Title 1"/>
          <p:cNvSpPr txBox="1">
            <a:spLocks/>
          </p:cNvSpPr>
          <p:nvPr/>
        </p:nvSpPr>
        <p:spPr>
          <a:xfrm>
            <a:off x="2900329" y="1968310"/>
            <a:ext cx="3140052" cy="8580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77500" lnSpcReduction="200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000" b="1" dirty="0" smtClean="0">
                <a:solidFill>
                  <a:srgbClr val="19345B"/>
                </a:solidFill>
                <a:latin typeface="Arial"/>
                <a:cs typeface="Arial"/>
              </a:rPr>
              <a:t>Contact Center</a:t>
            </a:r>
            <a:r>
              <a:rPr lang="en-US" sz="3000" b="1" dirty="0" smtClean="0">
                <a:solidFill>
                  <a:srgbClr val="FF0000"/>
                </a:solidFill>
                <a:latin typeface="Arial"/>
                <a:cs typeface="Arial"/>
              </a:rPr>
              <a:t> </a:t>
            </a:r>
          </a:p>
          <a:p>
            <a:r>
              <a:rPr lang="en-US" sz="2200" dirty="0" err="1" smtClean="0">
                <a:solidFill>
                  <a:srgbClr val="FF0000"/>
                </a:solidFill>
                <a:latin typeface="Arial"/>
                <a:cs typeface="Arial"/>
              </a:rPr>
              <a:t>Estabilidade</a:t>
            </a:r>
            <a:r>
              <a:rPr lang="en-US" sz="2200" dirty="0" smtClean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lang="en-US" sz="2200" dirty="0" err="1" smtClean="0">
                <a:solidFill>
                  <a:srgbClr val="FF0000"/>
                </a:solidFill>
                <a:latin typeface="Arial"/>
                <a:cs typeface="Arial"/>
              </a:rPr>
              <a:t>Operacional</a:t>
            </a:r>
            <a:endParaRPr lang="en-US" sz="2200" dirty="0" smtClean="0">
              <a:solidFill>
                <a:srgbClr val="FF0000"/>
              </a:solidFill>
              <a:latin typeface="Arial"/>
              <a:cs typeface="Arial"/>
            </a:endParaRPr>
          </a:p>
          <a:p>
            <a:r>
              <a:rPr lang="en-US" sz="2200" dirty="0" smtClean="0">
                <a:solidFill>
                  <a:srgbClr val="FF0000"/>
                </a:solidFill>
                <a:latin typeface="Arial"/>
                <a:cs typeface="Arial"/>
              </a:rPr>
              <a:t>16 </a:t>
            </a:r>
            <a:r>
              <a:rPr lang="en-US" sz="2200" dirty="0" err="1" smtClean="0">
                <a:solidFill>
                  <a:srgbClr val="FF0000"/>
                </a:solidFill>
                <a:latin typeface="Arial"/>
                <a:cs typeface="Arial"/>
              </a:rPr>
              <a:t>Outubro</a:t>
            </a:r>
            <a:r>
              <a:rPr lang="en-US" sz="2200" dirty="0" smtClean="0">
                <a:solidFill>
                  <a:srgbClr val="FF0000"/>
                </a:solidFill>
                <a:latin typeface="Arial"/>
                <a:cs typeface="Arial"/>
              </a:rPr>
              <a:t> 2015</a:t>
            </a:r>
            <a:endParaRPr lang="en-US" sz="2200" dirty="0">
              <a:solidFill>
                <a:srgbClr val="FF0000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9084228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8331"/>
    </mc:Choice>
    <mc:Fallback xmlns="">
      <p:transition spd="slow" advTm="8331"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" name="interna_img-3.png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35959" y="-32183"/>
            <a:ext cx="9141292" cy="5148264"/>
          </a:xfrm>
          <a:prstGeom prst="rect">
            <a:avLst/>
          </a:prstGeom>
          <a:ln w="12700">
            <a:miter lim="400000"/>
          </a:ln>
        </p:spPr>
      </p:pic>
      <p:sp>
        <p:nvSpPr>
          <p:cNvPr id="114" name="Shape 114"/>
          <p:cNvSpPr/>
          <p:nvPr/>
        </p:nvSpPr>
        <p:spPr>
          <a:xfrm>
            <a:off x="3201223" y="1061209"/>
            <a:ext cx="4800929" cy="8588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0" tIns="0" rIns="0" bIns="0" anchor="ctr">
            <a:normAutofit/>
          </a:bodyPr>
          <a:lstStyle>
            <a:lvl1pPr>
              <a:defRPr sz="3000" b="1">
                <a:solidFill>
                  <a:srgbClr val="1F497D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lvl="0">
              <a:defRPr sz="1800" b="0">
                <a:solidFill>
                  <a:srgbClr val="000000"/>
                </a:solidFill>
              </a:defRPr>
            </a:pPr>
            <a:r>
              <a:rPr lang="pt-BR" sz="3000" b="1" dirty="0" smtClean="0">
                <a:solidFill>
                  <a:srgbClr val="1F497D"/>
                </a:solidFill>
              </a:rPr>
              <a:t>Índice</a:t>
            </a:r>
            <a:endParaRPr sz="3000" b="1" dirty="0">
              <a:solidFill>
                <a:srgbClr val="1F497D"/>
              </a:solidFill>
            </a:endParaRPr>
          </a:p>
        </p:txBody>
      </p:sp>
      <p:pic>
        <p:nvPicPr>
          <p:cNvPr id="116" name="image5.png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34860" y="4531179"/>
            <a:ext cx="1248721" cy="614581"/>
          </a:xfrm>
          <a:prstGeom prst="rect">
            <a:avLst/>
          </a:prstGeom>
          <a:ln w="12700">
            <a:miter lim="400000"/>
          </a:ln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31777" y="257994"/>
            <a:ext cx="1473556" cy="356656"/>
          </a:xfrm>
          <a:prstGeom prst="rect">
            <a:avLst/>
          </a:prstGeom>
        </p:spPr>
      </p:pic>
      <p:sp>
        <p:nvSpPr>
          <p:cNvPr id="7" name="Title 1"/>
          <p:cNvSpPr txBox="1">
            <a:spLocks/>
          </p:cNvSpPr>
          <p:nvPr/>
        </p:nvSpPr>
        <p:spPr>
          <a:xfrm>
            <a:off x="3033277" y="3013442"/>
            <a:ext cx="5157767" cy="15430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42900" indent="-342900" algn="l">
              <a:buAutoNum type="arabicPeriod"/>
            </a:pPr>
            <a:endParaRPr lang="pt-PT" sz="1800" b="1" dirty="0" smtClean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  <a:p>
            <a:pPr marL="342900" indent="-342900" algn="l">
              <a:buFontTx/>
              <a:buAutoNum type="arabicPeriod"/>
            </a:pPr>
            <a:r>
              <a:rPr lang="pt-BR" sz="1800" b="1" dirty="0" smtClean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Indicadores</a:t>
            </a:r>
          </a:p>
          <a:p>
            <a:pPr marL="342900" indent="-342900" algn="l">
              <a:buFontTx/>
              <a:buAutoNum type="arabicPeriod"/>
            </a:pPr>
            <a:r>
              <a:rPr lang="pt-BR" sz="1800" b="1" dirty="0" smtClean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Comunicação - SMS</a:t>
            </a:r>
            <a:endParaRPr lang="pt-BR" sz="1800" b="1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  <a:p>
            <a:pPr marL="342900" indent="-342900" algn="l">
              <a:buFontTx/>
              <a:buAutoNum type="arabicPeriod"/>
            </a:pPr>
            <a:r>
              <a:rPr lang="pt-BR" sz="1800" b="1" dirty="0" smtClean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Status</a:t>
            </a:r>
          </a:p>
          <a:p>
            <a:pPr marL="342900" indent="-342900" algn="l">
              <a:buFontTx/>
              <a:buAutoNum type="arabicPeriod"/>
            </a:pPr>
            <a:r>
              <a:rPr lang="pt-BR" sz="1800" b="1" dirty="0" smtClean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Projetos</a:t>
            </a:r>
          </a:p>
          <a:p>
            <a:pPr marL="342900" indent="-342900" algn="l">
              <a:buFontTx/>
              <a:buAutoNum type="arabicPeriod"/>
            </a:pPr>
            <a:r>
              <a:rPr lang="pt-BR" sz="1800" b="1" dirty="0" smtClean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Ações Preventivas</a:t>
            </a:r>
          </a:p>
          <a:p>
            <a:pPr marL="342900" indent="-342900" algn="l">
              <a:buFontTx/>
              <a:buAutoNum type="arabicPeriod"/>
            </a:pPr>
            <a:r>
              <a:rPr lang="pt-BR" sz="1800" b="1" dirty="0" smtClean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Alinhamento</a:t>
            </a:r>
          </a:p>
          <a:p>
            <a:pPr marL="342900" indent="-342900" algn="l">
              <a:buFontTx/>
              <a:buAutoNum type="arabicPeriod"/>
            </a:pPr>
            <a:r>
              <a:rPr lang="pt-BR" sz="1800" b="1" dirty="0" smtClean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Problemas</a:t>
            </a:r>
            <a:endParaRPr lang="pt-PT" sz="1800" b="1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  <a:p>
            <a:pPr algn="l"/>
            <a:endParaRPr lang="pt-BR" sz="1800" b="1" dirty="0" smtClean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  <a:p>
            <a:pPr algn="l"/>
            <a:endParaRPr lang="pt-BR" sz="1200" b="1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  <a:p>
            <a:pPr algn="l"/>
            <a:r>
              <a:rPr lang="en-US" sz="14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cs typeface="Arial"/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32687503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21333" y="289005"/>
            <a:ext cx="1603348" cy="291323"/>
          </a:xfrm>
          <a:prstGeom prst="rect">
            <a:avLst/>
          </a:prstGeom>
        </p:spPr>
      </p:pic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780" t="78172" r="18395" b="12686"/>
          <a:stretch/>
        </p:blipFill>
        <p:spPr bwMode="auto">
          <a:xfrm>
            <a:off x="8188658" y="4384319"/>
            <a:ext cx="955343" cy="7639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1" descr="t03-02.jpg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1368" b="84909"/>
          <a:stretch/>
        </p:blipFill>
        <p:spPr>
          <a:xfrm>
            <a:off x="0" y="0"/>
            <a:ext cx="789296" cy="776935"/>
          </a:xfrm>
          <a:prstGeom prst="rect">
            <a:avLst/>
          </a:prstGeom>
        </p:spPr>
      </p:pic>
      <p:sp>
        <p:nvSpPr>
          <p:cNvPr id="7" name="Title 1"/>
          <p:cNvSpPr txBox="1">
            <a:spLocks/>
          </p:cNvSpPr>
          <p:nvPr/>
        </p:nvSpPr>
        <p:spPr>
          <a:xfrm>
            <a:off x="-174171" y="124059"/>
            <a:ext cx="9012145" cy="8580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buClr>
                <a:srgbClr val="800000"/>
              </a:buClr>
            </a:pPr>
            <a:r>
              <a:rPr lang="pt-BR" sz="2800" b="1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1</a:t>
            </a:r>
            <a:r>
              <a:rPr lang="pt-BR" sz="2800" b="1" dirty="0" smtClean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. Indicadores</a:t>
            </a:r>
            <a:endParaRPr lang="pt-BR" sz="1800" b="1" i="1" dirty="0" smtClean="0">
              <a:solidFill>
                <a:schemeClr val="tx2">
                  <a:lumMod val="60000"/>
                  <a:lumOff val="40000"/>
                </a:schemeClr>
              </a:solidFill>
            </a:endParaRPr>
          </a:p>
          <a:p>
            <a:pPr>
              <a:buClr>
                <a:srgbClr val="800000"/>
              </a:buClr>
            </a:pPr>
            <a:endParaRPr lang="pt-BR" sz="1900" b="1" dirty="0" smtClean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</p:txBody>
      </p:sp>
      <p:graphicFrame>
        <p:nvGraphicFramePr>
          <p:cNvPr id="6" name="Gráfico 5"/>
          <p:cNvGraphicFramePr/>
          <p:nvPr>
            <p:extLst/>
          </p:nvPr>
        </p:nvGraphicFramePr>
        <p:xfrm>
          <a:off x="0" y="966889"/>
          <a:ext cx="3431822" cy="211497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18" name="Gráfico 17"/>
          <p:cNvGraphicFramePr/>
          <p:nvPr>
            <p:extLst/>
          </p:nvPr>
        </p:nvGraphicFramePr>
        <p:xfrm>
          <a:off x="135465" y="3102890"/>
          <a:ext cx="2833511" cy="192119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graphicFrame>
        <p:nvGraphicFramePr>
          <p:cNvPr id="22" name="Gráfico 21"/>
          <p:cNvGraphicFramePr/>
          <p:nvPr>
            <p:extLst/>
          </p:nvPr>
        </p:nvGraphicFramePr>
        <p:xfrm>
          <a:off x="3605993" y="1410693"/>
          <a:ext cx="3601156" cy="298000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graphicFrame>
        <p:nvGraphicFramePr>
          <p:cNvPr id="30" name="Gráfico 29"/>
          <p:cNvGraphicFramePr/>
          <p:nvPr>
            <p:extLst/>
          </p:nvPr>
        </p:nvGraphicFramePr>
        <p:xfrm>
          <a:off x="7021333" y="929840"/>
          <a:ext cx="1907822" cy="19414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8"/>
          </a:graphicData>
        </a:graphic>
      </p:graphicFrame>
      <p:graphicFrame>
        <p:nvGraphicFramePr>
          <p:cNvPr id="1025" name="Gráfico 1024"/>
          <p:cNvGraphicFramePr/>
          <p:nvPr>
            <p:extLst/>
          </p:nvPr>
        </p:nvGraphicFramePr>
        <p:xfrm>
          <a:off x="6494630" y="2970727"/>
          <a:ext cx="2961227" cy="190257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9"/>
          </a:graphicData>
        </a:graphic>
      </p:graphicFrame>
    </p:spTree>
    <p:extLst>
      <p:ext uri="{BB962C8B-B14F-4D97-AF65-F5344CB8AC3E}">
        <p14:creationId xmlns:p14="http://schemas.microsoft.com/office/powerpoint/2010/main" val="74787680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drap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21333" y="289005"/>
            <a:ext cx="1603348" cy="291323"/>
          </a:xfrm>
          <a:prstGeom prst="rect">
            <a:avLst/>
          </a:prstGeom>
        </p:spPr>
      </p:pic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780" t="78172" r="18395" b="12686"/>
          <a:stretch/>
        </p:blipFill>
        <p:spPr bwMode="auto">
          <a:xfrm>
            <a:off x="8188658" y="4384319"/>
            <a:ext cx="955343" cy="7639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1" descr="t03-02.jpg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1368" b="84909"/>
          <a:stretch/>
        </p:blipFill>
        <p:spPr>
          <a:xfrm>
            <a:off x="0" y="0"/>
            <a:ext cx="789296" cy="776935"/>
          </a:xfrm>
          <a:prstGeom prst="rect">
            <a:avLst/>
          </a:prstGeom>
        </p:spPr>
      </p:pic>
      <p:sp>
        <p:nvSpPr>
          <p:cNvPr id="9" name="Title 1"/>
          <p:cNvSpPr txBox="1">
            <a:spLocks/>
          </p:cNvSpPr>
          <p:nvPr/>
        </p:nvSpPr>
        <p:spPr>
          <a:xfrm>
            <a:off x="1762536" y="19928"/>
            <a:ext cx="4800928" cy="5604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70000" lnSpcReduction="200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buClr>
                <a:srgbClr val="800000"/>
              </a:buClr>
            </a:pPr>
            <a:r>
              <a:rPr lang="pt-BR" sz="3200" b="1" dirty="0" smtClean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2. Comunicação – SMS - Crítico</a:t>
            </a:r>
            <a:endParaRPr lang="pt-BR" sz="1900" b="1" dirty="0" smtClean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2982" y="858629"/>
            <a:ext cx="8513476" cy="3876721"/>
          </a:xfrm>
          <a:prstGeom prst="rect">
            <a:avLst/>
          </a:prstGeom>
        </p:spPr>
      </p:pic>
      <p:pic>
        <p:nvPicPr>
          <p:cNvPr id="5" name="Imagem 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4433" y="1055236"/>
            <a:ext cx="719390" cy="7132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18848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21333" y="289005"/>
            <a:ext cx="1603348" cy="291323"/>
          </a:xfrm>
          <a:prstGeom prst="rect">
            <a:avLst/>
          </a:prstGeom>
        </p:spPr>
      </p:pic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780" t="78172" r="18395" b="12686"/>
          <a:stretch/>
        </p:blipFill>
        <p:spPr bwMode="auto">
          <a:xfrm>
            <a:off x="8188658" y="4384319"/>
            <a:ext cx="955343" cy="7639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1" descr="t03-02.jpg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1368" b="84909"/>
          <a:stretch/>
        </p:blipFill>
        <p:spPr>
          <a:xfrm>
            <a:off x="0" y="0"/>
            <a:ext cx="789296" cy="776935"/>
          </a:xfrm>
          <a:prstGeom prst="rect">
            <a:avLst/>
          </a:prstGeom>
        </p:spPr>
      </p:pic>
      <p:sp>
        <p:nvSpPr>
          <p:cNvPr id="9" name="Title 1"/>
          <p:cNvSpPr txBox="1">
            <a:spLocks/>
          </p:cNvSpPr>
          <p:nvPr/>
        </p:nvSpPr>
        <p:spPr>
          <a:xfrm>
            <a:off x="1372392" y="19928"/>
            <a:ext cx="4800928" cy="5604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62500" lnSpcReduction="200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buClr>
                <a:srgbClr val="800000"/>
              </a:buClr>
            </a:pPr>
            <a:r>
              <a:rPr lang="pt-BR" sz="3200" b="1" dirty="0" smtClean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2. Comunicação – SMS – Muito Alto</a:t>
            </a:r>
            <a:endParaRPr lang="pt-BR" sz="1900" b="1" dirty="0" smtClean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</p:txBody>
      </p:sp>
      <p:pic>
        <p:nvPicPr>
          <p:cNvPr id="2" name="Imagem 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9092" y="950976"/>
            <a:ext cx="8905148" cy="4060793"/>
          </a:xfrm>
          <a:prstGeom prst="rect">
            <a:avLst/>
          </a:prstGeom>
        </p:spPr>
      </p:pic>
      <p:pic>
        <p:nvPicPr>
          <p:cNvPr id="5" name="Imagem 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9331" y="1043986"/>
            <a:ext cx="1133954" cy="11339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8829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21333" y="289005"/>
            <a:ext cx="1603348" cy="291323"/>
          </a:xfrm>
          <a:prstGeom prst="rect">
            <a:avLst/>
          </a:prstGeom>
        </p:spPr>
      </p:pic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780" t="78172" r="18395" b="12686"/>
          <a:stretch/>
        </p:blipFill>
        <p:spPr bwMode="auto">
          <a:xfrm>
            <a:off x="8188658" y="4384319"/>
            <a:ext cx="955343" cy="7639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1" descr="t03-02.jpg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1368" b="84909"/>
          <a:stretch/>
        </p:blipFill>
        <p:spPr>
          <a:xfrm>
            <a:off x="0" y="0"/>
            <a:ext cx="789296" cy="776935"/>
          </a:xfrm>
          <a:prstGeom prst="rect">
            <a:avLst/>
          </a:prstGeom>
        </p:spPr>
      </p:pic>
      <p:sp>
        <p:nvSpPr>
          <p:cNvPr id="9" name="Title 1"/>
          <p:cNvSpPr txBox="1">
            <a:spLocks/>
          </p:cNvSpPr>
          <p:nvPr/>
        </p:nvSpPr>
        <p:spPr>
          <a:xfrm>
            <a:off x="1372392" y="19928"/>
            <a:ext cx="4800928" cy="5604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lnSpcReduction="100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buClr>
                <a:srgbClr val="800000"/>
              </a:buClr>
            </a:pPr>
            <a:r>
              <a:rPr lang="pt-BR" sz="3200" b="1" dirty="0" smtClean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2. </a:t>
            </a:r>
            <a:r>
              <a:rPr lang="pt-BR" sz="2800" b="1" dirty="0" smtClean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Comunicação</a:t>
            </a:r>
            <a:r>
              <a:rPr lang="pt-BR" sz="3200" b="1" dirty="0" smtClean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 – SMS</a:t>
            </a:r>
            <a:endParaRPr lang="pt-BR" sz="1900" b="1" dirty="0" smtClean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</p:txBody>
      </p:sp>
      <p:pic>
        <p:nvPicPr>
          <p:cNvPr id="13" name="Imagem 1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3838" y="1623872"/>
            <a:ext cx="8827539" cy="1767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05395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Imagem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80233" y="1663748"/>
            <a:ext cx="5463768" cy="3439676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21333" y="289005"/>
            <a:ext cx="1603348" cy="291323"/>
          </a:xfrm>
          <a:prstGeom prst="rect">
            <a:avLst/>
          </a:prstGeom>
        </p:spPr>
      </p:pic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780" t="78172" r="18395" b="12686"/>
          <a:stretch/>
        </p:blipFill>
        <p:spPr bwMode="auto">
          <a:xfrm>
            <a:off x="8188658" y="4384319"/>
            <a:ext cx="955343" cy="7639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1" descr="t03-02.jpg"/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1368" b="84909"/>
          <a:stretch/>
        </p:blipFill>
        <p:spPr>
          <a:xfrm>
            <a:off x="0" y="0"/>
            <a:ext cx="789296" cy="776935"/>
          </a:xfrm>
          <a:prstGeom prst="rect">
            <a:avLst/>
          </a:prstGeom>
        </p:spPr>
      </p:pic>
      <p:sp>
        <p:nvSpPr>
          <p:cNvPr id="7" name="Title 1"/>
          <p:cNvSpPr txBox="1">
            <a:spLocks/>
          </p:cNvSpPr>
          <p:nvPr/>
        </p:nvSpPr>
        <p:spPr>
          <a:xfrm>
            <a:off x="1121362" y="0"/>
            <a:ext cx="5567904" cy="8580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77500" lnSpcReduction="200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buClr>
                <a:srgbClr val="800000"/>
              </a:buClr>
            </a:pPr>
            <a:r>
              <a:rPr lang="pt-BR" sz="3200" b="1" dirty="0" smtClean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2.1. </a:t>
            </a:r>
            <a:r>
              <a:rPr lang="pt-BR" sz="3200" b="1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Alta volumetria de incidentes classificados como Alto Impacto </a:t>
            </a:r>
            <a:endParaRPr lang="pt-PT" sz="3200" b="1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</p:txBody>
      </p:sp>
      <p:grpSp>
        <p:nvGrpSpPr>
          <p:cNvPr id="19" name="Grupo 18"/>
          <p:cNvGrpSpPr/>
          <p:nvPr/>
        </p:nvGrpSpPr>
        <p:grpSpPr>
          <a:xfrm>
            <a:off x="41186" y="751575"/>
            <a:ext cx="4433298" cy="2149170"/>
            <a:chOff x="41186" y="751575"/>
            <a:chExt cx="4433298" cy="2149170"/>
          </a:xfrm>
        </p:grpSpPr>
        <p:sp>
          <p:nvSpPr>
            <p:cNvPr id="3" name="Triângulo isósceles 2"/>
            <p:cNvSpPr/>
            <p:nvPr/>
          </p:nvSpPr>
          <p:spPr>
            <a:xfrm>
              <a:off x="41186" y="776741"/>
              <a:ext cx="1787703" cy="2124004"/>
            </a:xfrm>
            <a:prstGeom prst="triangle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cxnSp>
          <p:nvCxnSpPr>
            <p:cNvPr id="5" name="Conector reto 4"/>
            <p:cNvCxnSpPr/>
            <p:nvPr/>
          </p:nvCxnSpPr>
          <p:spPr>
            <a:xfrm>
              <a:off x="853863" y="971327"/>
              <a:ext cx="154574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CaixaDeTexto 8"/>
            <p:cNvSpPr txBox="1"/>
            <p:nvPr/>
          </p:nvSpPr>
          <p:spPr>
            <a:xfrm>
              <a:off x="935038" y="751575"/>
              <a:ext cx="350348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1200" dirty="0" smtClean="0"/>
                <a:t>5% Paradas totais</a:t>
              </a:r>
              <a:endParaRPr lang="pt-BR" sz="1200" dirty="0"/>
            </a:p>
          </p:txBody>
        </p:sp>
        <p:cxnSp>
          <p:nvCxnSpPr>
            <p:cNvPr id="12" name="Conector reto 11"/>
            <p:cNvCxnSpPr/>
            <p:nvPr/>
          </p:nvCxnSpPr>
          <p:spPr>
            <a:xfrm>
              <a:off x="769172" y="1168837"/>
              <a:ext cx="329959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CaixaDeTexto 13"/>
            <p:cNvSpPr txBox="1"/>
            <p:nvPr/>
          </p:nvSpPr>
          <p:spPr>
            <a:xfrm>
              <a:off x="970997" y="960776"/>
              <a:ext cx="3503487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1100" dirty="0" smtClean="0"/>
                <a:t>5%  - 15% Indisponibilidade total de ferramentas secundárias</a:t>
              </a:r>
              <a:endParaRPr lang="pt-BR" sz="1100" dirty="0"/>
            </a:p>
          </p:txBody>
        </p:sp>
        <p:sp>
          <p:nvSpPr>
            <p:cNvPr id="13" name="CaixaDeTexto 12"/>
            <p:cNvSpPr txBox="1"/>
            <p:nvPr/>
          </p:nvSpPr>
          <p:spPr>
            <a:xfrm>
              <a:off x="392492" y="1965122"/>
              <a:ext cx="1077315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dirty="0" smtClean="0"/>
                <a:t>80% Alto Impacto?</a:t>
              </a:r>
              <a:endParaRPr lang="pt-BR" dirty="0"/>
            </a:p>
          </p:txBody>
        </p:sp>
      </p:grpSp>
      <p:grpSp>
        <p:nvGrpSpPr>
          <p:cNvPr id="22" name="Grupo 21"/>
          <p:cNvGrpSpPr/>
          <p:nvPr/>
        </p:nvGrpSpPr>
        <p:grpSpPr>
          <a:xfrm>
            <a:off x="0" y="3220645"/>
            <a:ext cx="3748142" cy="1527039"/>
            <a:chOff x="157172" y="3269115"/>
            <a:chExt cx="3748142" cy="1527039"/>
          </a:xfrm>
        </p:grpSpPr>
        <p:sp>
          <p:nvSpPr>
            <p:cNvPr id="15" name="Retângulo 14"/>
            <p:cNvSpPr/>
            <p:nvPr/>
          </p:nvSpPr>
          <p:spPr>
            <a:xfrm>
              <a:off x="654253" y="3269115"/>
              <a:ext cx="2495235" cy="461665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pt-BR" sz="2400" b="0" cap="none" spc="0" dirty="0" smtClean="0">
                  <a:ln w="0"/>
                  <a:gradFill>
                    <a:gsLst>
                      <a:gs pos="0">
                        <a:schemeClr val="accent5">
                          <a:lumMod val="50000"/>
                        </a:schemeClr>
                      </a:gs>
                      <a:gs pos="50000">
                        <a:schemeClr val="accent5"/>
                      </a:gs>
                      <a:gs pos="100000">
                        <a:schemeClr val="accent5">
                          <a:lumMod val="60000"/>
                          <a:lumOff val="40000"/>
                        </a:schemeClr>
                      </a:gs>
                    </a:gsLst>
                    <a:lin ang="5400000"/>
                  </a:gradFill>
                  <a:effectLst>
                    <a:reflection blurRad="6350" stA="53000" endA="300" endPos="35500" dir="5400000" sy="-90000" algn="bl" rotWithShape="0"/>
                  </a:effectLst>
                </a:rPr>
                <a:t>Esforço inteligente</a:t>
              </a:r>
              <a:endParaRPr lang="pt-BR" sz="2400" b="0" cap="none" spc="0" dirty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</a:endParaRPr>
            </a:p>
          </p:txBody>
        </p:sp>
        <p:sp>
          <p:nvSpPr>
            <p:cNvPr id="17" name="Retângulo 16"/>
            <p:cNvSpPr/>
            <p:nvPr/>
          </p:nvSpPr>
          <p:spPr>
            <a:xfrm>
              <a:off x="308985" y="3658329"/>
              <a:ext cx="3348032" cy="52322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pt-BR" sz="2800" b="0" cap="none" spc="0" dirty="0" smtClean="0">
                  <a:ln w="0"/>
                  <a:gradFill>
                    <a:gsLst>
                      <a:gs pos="0">
                        <a:schemeClr val="accent5">
                          <a:lumMod val="50000"/>
                        </a:schemeClr>
                      </a:gs>
                      <a:gs pos="50000">
                        <a:schemeClr val="accent5"/>
                      </a:gs>
                      <a:gs pos="100000">
                        <a:schemeClr val="accent5">
                          <a:lumMod val="60000"/>
                          <a:lumOff val="40000"/>
                        </a:schemeClr>
                      </a:gs>
                    </a:gsLst>
                    <a:lin ang="5400000"/>
                  </a:gradFill>
                  <a:effectLst>
                    <a:reflection blurRad="6350" stA="53000" endA="300" endPos="35500" dir="5400000" sy="-90000" algn="bl" rotWithShape="0"/>
                  </a:effectLst>
                </a:rPr>
                <a:t>Baseado em processo</a:t>
              </a:r>
              <a:endParaRPr lang="pt-BR" sz="2800" b="0" cap="none" spc="0" dirty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</a:endParaRPr>
            </a:p>
          </p:txBody>
        </p:sp>
        <p:sp>
          <p:nvSpPr>
            <p:cNvPr id="18" name="Retângulo 17"/>
            <p:cNvSpPr/>
            <p:nvPr/>
          </p:nvSpPr>
          <p:spPr>
            <a:xfrm>
              <a:off x="157172" y="4211379"/>
              <a:ext cx="3748142" cy="584775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pt-BR" sz="3200" b="0" cap="none" spc="0" dirty="0" smtClean="0">
                  <a:ln w="0"/>
                  <a:gradFill>
                    <a:gsLst>
                      <a:gs pos="0">
                        <a:schemeClr val="accent5">
                          <a:lumMod val="50000"/>
                        </a:schemeClr>
                      </a:gs>
                      <a:gs pos="50000">
                        <a:schemeClr val="accent5"/>
                      </a:gs>
                      <a:gs pos="100000">
                        <a:schemeClr val="accent5">
                          <a:lumMod val="60000"/>
                          <a:lumOff val="40000"/>
                        </a:schemeClr>
                      </a:gs>
                    </a:gsLst>
                    <a:lin ang="5400000"/>
                  </a:gradFill>
                  <a:effectLst>
                    <a:reflection blurRad="6350" stA="53000" endA="300" endPos="35500" dir="5400000" sy="-90000" algn="bl" rotWithShape="0"/>
                  </a:effectLst>
                </a:rPr>
                <a:t>Adequado ao cenário</a:t>
              </a:r>
              <a:endParaRPr lang="pt-BR" sz="3200" b="0" cap="none" spc="0" dirty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1958438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21333" y="289005"/>
            <a:ext cx="1603348" cy="291323"/>
          </a:xfrm>
          <a:prstGeom prst="rect">
            <a:avLst/>
          </a:prstGeom>
        </p:spPr>
      </p:pic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780" t="78172" r="18395" b="12686"/>
          <a:stretch/>
        </p:blipFill>
        <p:spPr bwMode="auto">
          <a:xfrm>
            <a:off x="8188658" y="4384319"/>
            <a:ext cx="955343" cy="7639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1" descr="t03-02.jpg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1368" b="84909"/>
          <a:stretch/>
        </p:blipFill>
        <p:spPr>
          <a:xfrm>
            <a:off x="0" y="0"/>
            <a:ext cx="789296" cy="776935"/>
          </a:xfrm>
          <a:prstGeom prst="rect">
            <a:avLst/>
          </a:prstGeom>
        </p:spPr>
      </p:pic>
      <p:sp>
        <p:nvSpPr>
          <p:cNvPr id="7" name="Title 1"/>
          <p:cNvSpPr txBox="1">
            <a:spLocks/>
          </p:cNvSpPr>
          <p:nvPr/>
        </p:nvSpPr>
        <p:spPr>
          <a:xfrm>
            <a:off x="1121362" y="0"/>
            <a:ext cx="5567904" cy="8580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77500" lnSpcReduction="200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buClr>
                <a:srgbClr val="800000"/>
              </a:buClr>
            </a:pPr>
            <a:r>
              <a:rPr lang="pt-BR" sz="3200" b="1" dirty="0" smtClean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2.2. </a:t>
            </a:r>
            <a:r>
              <a:rPr lang="pt-BR" sz="3200" b="1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Alta volumetria de incidentes classificados como Alto Impacto </a:t>
            </a:r>
            <a:endParaRPr lang="pt-PT" sz="3200" b="1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</p:txBody>
      </p:sp>
      <p:pic>
        <p:nvPicPr>
          <p:cNvPr id="16" name="Imagem 1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499" y="858043"/>
            <a:ext cx="8432967" cy="3526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03286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21333" y="289005"/>
            <a:ext cx="1603348" cy="291323"/>
          </a:xfrm>
          <a:prstGeom prst="rect">
            <a:avLst/>
          </a:prstGeom>
        </p:spPr>
      </p:pic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780" t="78172" r="18395" b="12686"/>
          <a:stretch/>
        </p:blipFill>
        <p:spPr bwMode="auto">
          <a:xfrm>
            <a:off x="8188658" y="4384319"/>
            <a:ext cx="955343" cy="7639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1" descr="t03-02.jpg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1368" b="84909"/>
          <a:stretch/>
        </p:blipFill>
        <p:spPr>
          <a:xfrm>
            <a:off x="0" y="0"/>
            <a:ext cx="789296" cy="776935"/>
          </a:xfrm>
          <a:prstGeom prst="rect">
            <a:avLst/>
          </a:prstGeom>
        </p:spPr>
      </p:pic>
      <p:sp>
        <p:nvSpPr>
          <p:cNvPr id="7" name="Title 1"/>
          <p:cNvSpPr txBox="1">
            <a:spLocks/>
          </p:cNvSpPr>
          <p:nvPr/>
        </p:nvSpPr>
        <p:spPr>
          <a:xfrm>
            <a:off x="1121362" y="0"/>
            <a:ext cx="5567904" cy="8580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77500" lnSpcReduction="200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buClr>
                <a:srgbClr val="800000"/>
              </a:buClr>
            </a:pPr>
            <a:r>
              <a:rPr lang="pt-BR" sz="3200" b="1" dirty="0" smtClean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2.3. </a:t>
            </a:r>
            <a:r>
              <a:rPr lang="pt-BR" sz="3200" b="1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Alta volumetria de incidentes classificados como Alto Impacto </a:t>
            </a:r>
            <a:endParaRPr lang="pt-PT" sz="3200" b="1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</p:txBody>
      </p:sp>
      <p:pic>
        <p:nvPicPr>
          <p:cNvPr id="2" name="Imagem 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919" y="1672820"/>
            <a:ext cx="8983830" cy="18139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07295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21333" y="289005"/>
            <a:ext cx="1603348" cy="291323"/>
          </a:xfrm>
          <a:prstGeom prst="rect">
            <a:avLst/>
          </a:prstGeom>
        </p:spPr>
      </p:pic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780" t="78172" r="18395" b="12686"/>
          <a:stretch/>
        </p:blipFill>
        <p:spPr bwMode="auto">
          <a:xfrm>
            <a:off x="8188658" y="4384319"/>
            <a:ext cx="955343" cy="7639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1" descr="t03-02.jpg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1368" b="84909"/>
          <a:stretch/>
        </p:blipFill>
        <p:spPr>
          <a:xfrm>
            <a:off x="0" y="0"/>
            <a:ext cx="789296" cy="776935"/>
          </a:xfrm>
          <a:prstGeom prst="rect">
            <a:avLst/>
          </a:prstGeom>
        </p:spPr>
      </p:pic>
      <p:sp>
        <p:nvSpPr>
          <p:cNvPr id="7" name="Title 1"/>
          <p:cNvSpPr txBox="1">
            <a:spLocks/>
          </p:cNvSpPr>
          <p:nvPr/>
        </p:nvSpPr>
        <p:spPr>
          <a:xfrm>
            <a:off x="1121362" y="0"/>
            <a:ext cx="5567904" cy="8580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buClr>
                <a:srgbClr val="800000"/>
              </a:buClr>
            </a:pPr>
            <a:r>
              <a:rPr lang="pt-BR" sz="3200" b="1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3</a:t>
            </a:r>
            <a:r>
              <a:rPr lang="pt-BR" sz="3200" b="1" dirty="0" smtClean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. Status</a:t>
            </a:r>
            <a:endParaRPr lang="pt-PT" sz="3200" b="1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9" name="Retângulo de cantos arredondados 8"/>
          <p:cNvSpPr/>
          <p:nvPr/>
        </p:nvSpPr>
        <p:spPr>
          <a:xfrm>
            <a:off x="896351" y="1451399"/>
            <a:ext cx="7292307" cy="2061848"/>
          </a:xfrm>
          <a:prstGeom prst="roundRect">
            <a:avLst/>
          </a:prstGeom>
          <a:solidFill>
            <a:schemeClr val="accent1">
              <a:lumMod val="50000"/>
            </a:schemeClr>
          </a:solidFill>
          <a:effectLst>
            <a:outerShdw blurRad="40000" dist="23000" dir="5400000" rotWithShape="0">
              <a:srgbClr val="000000">
                <a:alpha val="35000"/>
              </a:srgbClr>
            </a:outerShdw>
            <a:softEdge rad="3175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3600" dirty="0" smtClean="0"/>
              <a:t>Status dos principais “problemas” identificados</a:t>
            </a:r>
            <a:r>
              <a:rPr lang="pt-BR" sz="2400" dirty="0" smtClean="0"/>
              <a:t> </a:t>
            </a:r>
            <a:endParaRPr lang="pt-BR" sz="2400" dirty="0"/>
          </a:p>
        </p:txBody>
      </p:sp>
    </p:spTree>
    <p:extLst>
      <p:ext uri="{BB962C8B-B14F-4D97-AF65-F5344CB8AC3E}">
        <p14:creationId xmlns:p14="http://schemas.microsoft.com/office/powerpoint/2010/main" val="7742095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 txBox="1">
            <a:spLocks/>
          </p:cNvSpPr>
          <p:nvPr/>
        </p:nvSpPr>
        <p:spPr>
          <a:xfrm>
            <a:off x="1804810" y="2251241"/>
            <a:ext cx="1114789" cy="644129"/>
          </a:xfrm>
          <a:prstGeom prst="rect">
            <a:avLst/>
          </a:prstGeom>
        </p:spPr>
        <p:txBody>
          <a:bodyPr vert="horz" lIns="68644" tIns="34322" rIns="68644" bIns="34322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1877" b="1" dirty="0" err="1">
                <a:solidFill>
                  <a:prstClr val="white"/>
                </a:solidFill>
                <a:latin typeface="Arial"/>
                <a:cs typeface="Arial"/>
              </a:rPr>
              <a:t>Objetivo</a:t>
            </a:r>
            <a:endParaRPr lang="en-US" sz="1877" b="1" dirty="0">
              <a:solidFill>
                <a:prstClr val="white"/>
              </a:solidFill>
              <a:latin typeface="Arial"/>
              <a:cs typeface="Arial"/>
            </a:endParaRPr>
          </a:p>
        </p:txBody>
      </p:sp>
      <p:sp>
        <p:nvSpPr>
          <p:cNvPr id="9" name="Title 1"/>
          <p:cNvSpPr txBox="1">
            <a:spLocks/>
          </p:cNvSpPr>
          <p:nvPr/>
        </p:nvSpPr>
        <p:spPr>
          <a:xfrm>
            <a:off x="2750098" y="1112737"/>
            <a:ext cx="3843046" cy="551290"/>
          </a:xfrm>
          <a:prstGeom prst="rect">
            <a:avLst/>
          </a:prstGeom>
        </p:spPr>
        <p:txBody>
          <a:bodyPr vert="horz" lIns="68644" tIns="34322" rIns="68644" bIns="34322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2252" b="1" dirty="0" err="1">
                <a:solidFill>
                  <a:srgbClr val="1F497D"/>
                </a:solidFill>
                <a:latin typeface="Arial"/>
                <a:cs typeface="Arial"/>
              </a:rPr>
              <a:t>Produção</a:t>
            </a:r>
            <a:r>
              <a:rPr lang="en-US" sz="2252" b="1" dirty="0">
                <a:solidFill>
                  <a:srgbClr val="1F497D"/>
                </a:solidFill>
                <a:latin typeface="Arial"/>
                <a:cs typeface="Arial"/>
              </a:rPr>
              <a:t> TI - Backup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3445818" y="1810853"/>
            <a:ext cx="3893373" cy="15474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6108"/>
            <a:r>
              <a:rPr lang="pt-BR" sz="1351" b="1" dirty="0">
                <a:solidFill>
                  <a:prstClr val="black"/>
                </a:solidFill>
              </a:rPr>
              <a:t>Objetivo da área:</a:t>
            </a:r>
            <a:endParaRPr lang="pt-BR" sz="1351" dirty="0">
              <a:solidFill>
                <a:prstClr val="black"/>
              </a:solidFill>
            </a:endParaRPr>
          </a:p>
          <a:p>
            <a:pPr defTabSz="686108"/>
            <a:endParaRPr lang="pt-BR" sz="1351" dirty="0">
              <a:solidFill>
                <a:prstClr val="black"/>
              </a:solidFill>
            </a:endParaRPr>
          </a:p>
          <a:p>
            <a:pPr defTabSz="686108"/>
            <a:r>
              <a:rPr lang="pt-BR" sz="1351" dirty="0">
                <a:solidFill>
                  <a:prstClr val="black"/>
                </a:solidFill>
              </a:rPr>
              <a:t>Atender as necessidades da Contax e de seus Clientes, assegurando continuidade de </a:t>
            </a:r>
            <a:r>
              <a:rPr lang="pt-BR" sz="1351" dirty="0" err="1">
                <a:solidFill>
                  <a:prstClr val="black"/>
                </a:solidFill>
              </a:rPr>
              <a:t>neg</a:t>
            </a:r>
            <a:r>
              <a:rPr lang="en-US" sz="1351" dirty="0" err="1">
                <a:solidFill>
                  <a:prstClr val="black"/>
                </a:solidFill>
              </a:rPr>
              <a:t>ócio</a:t>
            </a:r>
            <a:r>
              <a:rPr lang="en-US" sz="1351" dirty="0">
                <a:solidFill>
                  <a:prstClr val="black"/>
                </a:solidFill>
              </a:rPr>
              <a:t> </a:t>
            </a:r>
            <a:r>
              <a:rPr lang="en-US" sz="1351" dirty="0" err="1">
                <a:solidFill>
                  <a:prstClr val="black"/>
                </a:solidFill>
              </a:rPr>
              <a:t>em</a:t>
            </a:r>
            <a:r>
              <a:rPr lang="en-US" sz="1351" dirty="0">
                <a:solidFill>
                  <a:prstClr val="black"/>
                </a:solidFill>
              </a:rPr>
              <a:t> tempo </a:t>
            </a:r>
            <a:r>
              <a:rPr lang="en-US" sz="1351" dirty="0" err="1">
                <a:solidFill>
                  <a:prstClr val="black"/>
                </a:solidFill>
              </a:rPr>
              <a:t>hábil</a:t>
            </a:r>
            <a:r>
              <a:rPr lang="en-US" sz="1351" dirty="0">
                <a:solidFill>
                  <a:prstClr val="black"/>
                </a:solidFill>
              </a:rPr>
              <a:t>, </a:t>
            </a:r>
            <a:r>
              <a:rPr lang="en-US" sz="1351" dirty="0" err="1">
                <a:solidFill>
                  <a:prstClr val="black"/>
                </a:solidFill>
              </a:rPr>
              <a:t>principalmente</a:t>
            </a:r>
            <a:r>
              <a:rPr lang="en-US" sz="1351" dirty="0">
                <a:solidFill>
                  <a:prstClr val="black"/>
                </a:solidFill>
              </a:rPr>
              <a:t> </a:t>
            </a:r>
            <a:r>
              <a:rPr lang="en-US" sz="1351" dirty="0" err="1">
                <a:solidFill>
                  <a:prstClr val="black"/>
                </a:solidFill>
              </a:rPr>
              <a:t>quando</a:t>
            </a:r>
            <a:r>
              <a:rPr lang="en-US" sz="1351" dirty="0">
                <a:solidFill>
                  <a:prstClr val="black"/>
                </a:solidFill>
              </a:rPr>
              <a:t> </a:t>
            </a:r>
            <a:r>
              <a:rPr lang="en-US" sz="1351" dirty="0" err="1">
                <a:solidFill>
                  <a:prstClr val="black"/>
                </a:solidFill>
              </a:rPr>
              <a:t>ocorrer</a:t>
            </a:r>
            <a:r>
              <a:rPr lang="en-US" sz="1351" dirty="0">
                <a:solidFill>
                  <a:prstClr val="black"/>
                </a:solidFill>
              </a:rPr>
              <a:t> </a:t>
            </a:r>
            <a:r>
              <a:rPr lang="en-US" sz="1351" dirty="0" err="1">
                <a:solidFill>
                  <a:prstClr val="black"/>
                </a:solidFill>
              </a:rPr>
              <a:t>desastre</a:t>
            </a:r>
            <a:r>
              <a:rPr lang="en-US" sz="1351" dirty="0">
                <a:solidFill>
                  <a:prstClr val="black"/>
                </a:solidFill>
              </a:rPr>
              <a:t>.</a:t>
            </a:r>
            <a:endParaRPr lang="pt-BR" sz="1351" dirty="0">
              <a:solidFill>
                <a:prstClr val="black"/>
              </a:solidFill>
            </a:endParaRPr>
          </a:p>
          <a:p>
            <a:pPr defTabSz="686108"/>
            <a:endParaRPr lang="en-US" sz="1351" dirty="0">
              <a:solidFill>
                <a:prstClr val="black"/>
              </a:solidFill>
            </a:endParaRPr>
          </a:p>
        </p:txBody>
      </p:sp>
      <p:sp>
        <p:nvSpPr>
          <p:cNvPr id="5" name="Title 1"/>
          <p:cNvSpPr txBox="1">
            <a:spLocks/>
          </p:cNvSpPr>
          <p:nvPr/>
        </p:nvSpPr>
        <p:spPr>
          <a:xfrm>
            <a:off x="1628424" y="198724"/>
            <a:ext cx="4800928" cy="5604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lnSpcReduction="100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buClr>
                <a:srgbClr val="800000"/>
              </a:buClr>
            </a:pPr>
            <a:r>
              <a:rPr lang="pt-BR" sz="3200" b="1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3</a:t>
            </a:r>
            <a:r>
              <a:rPr lang="pt-BR" sz="3200" b="1" dirty="0" smtClean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.1 Problema Backups</a:t>
            </a:r>
            <a:endParaRPr lang="pt-BR" sz="1900" b="1" dirty="0" smtClean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67046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2"/>
          <p:cNvSpPr/>
          <p:nvPr/>
        </p:nvSpPr>
        <p:spPr>
          <a:xfrm>
            <a:off x="2426888" y="1373121"/>
            <a:ext cx="5387717" cy="22349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defTabSz="686108"/>
            <a:r>
              <a:rPr lang="pt-BR" sz="1051" b="1" dirty="0">
                <a:solidFill>
                  <a:prstClr val="white"/>
                </a:solidFill>
              </a:rPr>
              <a:t>ANÁLISE POR SITE</a:t>
            </a:r>
          </a:p>
        </p:txBody>
      </p:sp>
      <p:sp>
        <p:nvSpPr>
          <p:cNvPr id="6" name="Retângulo 7"/>
          <p:cNvSpPr/>
          <p:nvPr/>
        </p:nvSpPr>
        <p:spPr>
          <a:xfrm>
            <a:off x="1253561" y="1365129"/>
            <a:ext cx="1021673" cy="614598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6108"/>
            <a:r>
              <a:rPr lang="pt-BR" sz="1351" b="1" dirty="0">
                <a:solidFill>
                  <a:prstClr val="white"/>
                </a:solidFill>
                <a:latin typeface="Arial Black" pitchFamily="34" charset="0"/>
                <a:cs typeface="Aharoni" pitchFamily="2" charset="-79"/>
              </a:rPr>
              <a:t>2424</a:t>
            </a:r>
          </a:p>
          <a:p>
            <a:pPr algn="ctr" defTabSz="686108"/>
            <a:r>
              <a:rPr lang="pt-BR" sz="826" dirty="0">
                <a:solidFill>
                  <a:prstClr val="white"/>
                </a:solidFill>
                <a:latin typeface="Arial "/>
                <a:cs typeface="Aharoni" pitchFamily="2" charset="-79"/>
              </a:rPr>
              <a:t>SERVIDORES</a:t>
            </a:r>
          </a:p>
        </p:txBody>
      </p:sp>
      <p:sp>
        <p:nvSpPr>
          <p:cNvPr id="8" name="Retângulo 8"/>
          <p:cNvSpPr/>
          <p:nvPr/>
        </p:nvSpPr>
        <p:spPr>
          <a:xfrm>
            <a:off x="1253561" y="2027617"/>
            <a:ext cx="1021673" cy="614598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6108"/>
            <a:r>
              <a:rPr lang="pt-BR" sz="1351" dirty="0">
                <a:solidFill>
                  <a:prstClr val="white"/>
                </a:solidFill>
                <a:latin typeface="Arial Black" pitchFamily="34" charset="0"/>
              </a:rPr>
              <a:t>58</a:t>
            </a:r>
          </a:p>
          <a:p>
            <a:pPr algn="ctr" defTabSz="686108"/>
            <a:r>
              <a:rPr lang="pt-BR" sz="826" dirty="0">
                <a:solidFill>
                  <a:prstClr val="white"/>
                </a:solidFill>
                <a:latin typeface="Arial" pitchFamily="34" charset="0"/>
                <a:cs typeface="Arial" pitchFamily="34" charset="0"/>
              </a:rPr>
              <a:t>SISTEMAS CORPORATIVOS</a:t>
            </a:r>
          </a:p>
        </p:txBody>
      </p:sp>
      <p:sp>
        <p:nvSpPr>
          <p:cNvPr id="9" name="Retângulo 9"/>
          <p:cNvSpPr/>
          <p:nvPr/>
        </p:nvSpPr>
        <p:spPr>
          <a:xfrm>
            <a:off x="1253563" y="2696760"/>
            <a:ext cx="1021671" cy="614598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6108"/>
            <a:r>
              <a:rPr lang="pt-BR" sz="1351" b="1" dirty="0">
                <a:solidFill>
                  <a:prstClr val="white"/>
                </a:solidFill>
                <a:latin typeface="Arial Black" pitchFamily="34" charset="0"/>
                <a:cs typeface="Aharoni" pitchFamily="2" charset="-79"/>
              </a:rPr>
              <a:t>180</a:t>
            </a:r>
          </a:p>
          <a:p>
            <a:pPr algn="ctr" defTabSz="686108"/>
            <a:r>
              <a:rPr lang="pt-BR" sz="826" dirty="0">
                <a:solidFill>
                  <a:prstClr val="white"/>
                </a:solidFill>
                <a:latin typeface="Arial "/>
                <a:cs typeface="Aharoni" pitchFamily="2" charset="-79"/>
              </a:rPr>
              <a:t>PLATAFORMA DE CLIENTES</a:t>
            </a:r>
          </a:p>
        </p:txBody>
      </p:sp>
      <p:sp>
        <p:nvSpPr>
          <p:cNvPr id="10" name="Retângulo 11"/>
          <p:cNvSpPr/>
          <p:nvPr/>
        </p:nvSpPr>
        <p:spPr>
          <a:xfrm>
            <a:off x="1253563" y="3367229"/>
            <a:ext cx="1021671" cy="61459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6108"/>
            <a:r>
              <a:rPr lang="pt-BR" sz="1351" b="1" dirty="0">
                <a:solidFill>
                  <a:prstClr val="white"/>
                </a:solidFill>
                <a:latin typeface="Arial Black" pitchFamily="34" charset="0"/>
                <a:cs typeface="Aharoni" pitchFamily="2" charset="-79"/>
              </a:rPr>
              <a:t>2 </a:t>
            </a:r>
          </a:p>
          <a:p>
            <a:pPr algn="ctr" defTabSz="686108"/>
            <a:r>
              <a:rPr lang="pt-BR" sz="826" b="1" dirty="0">
                <a:solidFill>
                  <a:prstClr val="white"/>
                </a:solidFill>
                <a:latin typeface="Arial "/>
                <a:cs typeface="Aharoni" pitchFamily="2" charset="-79"/>
              </a:rPr>
              <a:t>DATACENTER</a:t>
            </a:r>
          </a:p>
        </p:txBody>
      </p:sp>
      <p:sp>
        <p:nvSpPr>
          <p:cNvPr id="11" name="Retângulo 12"/>
          <p:cNvSpPr/>
          <p:nvPr/>
        </p:nvSpPr>
        <p:spPr>
          <a:xfrm>
            <a:off x="1253561" y="4033721"/>
            <a:ext cx="1021673" cy="614598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6108"/>
            <a:r>
              <a:rPr lang="pt-BR" sz="1351" b="1" dirty="0">
                <a:solidFill>
                  <a:prstClr val="white"/>
                </a:solidFill>
                <a:latin typeface="Arial Black" pitchFamily="34" charset="0"/>
                <a:cs typeface="Aharoni" pitchFamily="2" charset="-79"/>
              </a:rPr>
              <a:t>2 </a:t>
            </a:r>
          </a:p>
          <a:p>
            <a:pPr algn="ctr" defTabSz="686108"/>
            <a:r>
              <a:rPr lang="pt-BR" sz="826" dirty="0">
                <a:solidFill>
                  <a:prstClr val="white"/>
                </a:solidFill>
                <a:latin typeface="Arial "/>
                <a:cs typeface="Aharoni" pitchFamily="2" charset="-79"/>
              </a:rPr>
              <a:t>ANALISTAS</a:t>
            </a:r>
          </a:p>
        </p:txBody>
      </p:sp>
      <p:sp>
        <p:nvSpPr>
          <p:cNvPr id="12" name="Retângulo 13"/>
          <p:cNvSpPr/>
          <p:nvPr/>
        </p:nvSpPr>
        <p:spPr>
          <a:xfrm>
            <a:off x="2331102" y="731454"/>
            <a:ext cx="5044503" cy="531429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68644" tIns="34322" rIns="68644" bIns="34322">
            <a:spAutoFit/>
          </a:bodyPr>
          <a:lstStyle/>
          <a:p>
            <a:pPr defTabSz="686108"/>
            <a:r>
              <a:rPr lang="pt-BR" sz="3003" b="1" dirty="0" err="1">
                <a:ln w="12700">
                  <a:noFill/>
                  <a:prstDash val="solid"/>
                </a:ln>
                <a:solidFill>
                  <a:prstClr val="black"/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</a:rPr>
              <a:t>Cen</a:t>
            </a:r>
            <a:r>
              <a:rPr lang="en-US" sz="3003" b="1" dirty="0" err="1">
                <a:ln w="12700">
                  <a:noFill/>
                  <a:prstDash val="solid"/>
                </a:ln>
                <a:solidFill>
                  <a:prstClr val="black"/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</a:rPr>
              <a:t>ário</a:t>
            </a:r>
            <a:r>
              <a:rPr lang="en-US" sz="3003" b="1" dirty="0">
                <a:ln w="12700">
                  <a:noFill/>
                  <a:prstDash val="solid"/>
                </a:ln>
                <a:solidFill>
                  <a:prstClr val="black"/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</a:rPr>
              <a:t> </a:t>
            </a:r>
            <a:r>
              <a:rPr lang="en-US" sz="3003" b="1" dirty="0" err="1">
                <a:ln w="12700">
                  <a:noFill/>
                  <a:prstDash val="solid"/>
                </a:ln>
                <a:solidFill>
                  <a:prstClr val="black"/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</a:rPr>
              <a:t>atual</a:t>
            </a:r>
            <a:r>
              <a:rPr lang="en-US" sz="3003" b="1" dirty="0">
                <a:ln w="12700">
                  <a:noFill/>
                  <a:prstDash val="solid"/>
                </a:ln>
                <a:solidFill>
                  <a:prstClr val="black"/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</a:rPr>
              <a:t>  -</a:t>
            </a:r>
            <a:r>
              <a:rPr lang="pt-BR" sz="3003" b="1" dirty="0">
                <a:ln w="12700">
                  <a:noFill/>
                  <a:prstDash val="solid"/>
                </a:ln>
                <a:solidFill>
                  <a:prstClr val="black"/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</a:rPr>
              <a:t>Backup</a:t>
            </a:r>
          </a:p>
        </p:txBody>
      </p:sp>
      <p:sp>
        <p:nvSpPr>
          <p:cNvPr id="13" name="Retângulo 14"/>
          <p:cNvSpPr/>
          <p:nvPr/>
        </p:nvSpPr>
        <p:spPr>
          <a:xfrm>
            <a:off x="1245579" y="707876"/>
            <a:ext cx="1021673" cy="614598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6108"/>
            <a:r>
              <a:rPr lang="pt-BR" sz="1351" b="1" dirty="0">
                <a:solidFill>
                  <a:prstClr val="white"/>
                </a:solidFill>
                <a:latin typeface="Arial Black" pitchFamily="34" charset="0"/>
                <a:cs typeface="Aharoni" pitchFamily="2" charset="-79"/>
              </a:rPr>
              <a:t>26</a:t>
            </a:r>
          </a:p>
          <a:p>
            <a:pPr algn="ctr" defTabSz="686108"/>
            <a:r>
              <a:rPr lang="pt-BR" sz="826" dirty="0">
                <a:solidFill>
                  <a:prstClr val="white"/>
                </a:solidFill>
                <a:latin typeface="Arial "/>
                <a:cs typeface="Aharoni" pitchFamily="2" charset="-79"/>
              </a:rPr>
              <a:t>SITES</a:t>
            </a:r>
          </a:p>
        </p:txBody>
      </p:sp>
      <p:graphicFrame>
        <p:nvGraphicFramePr>
          <p:cNvPr id="14" name="Gráfico 15"/>
          <p:cNvGraphicFramePr>
            <a:graphicFrameLocks/>
          </p:cNvGraphicFramePr>
          <p:nvPr>
            <p:extLst/>
          </p:nvPr>
        </p:nvGraphicFramePr>
        <p:xfrm>
          <a:off x="2426888" y="1625825"/>
          <a:ext cx="5491480" cy="31555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17871484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tângulo 2"/>
          <p:cNvSpPr/>
          <p:nvPr/>
        </p:nvSpPr>
        <p:spPr>
          <a:xfrm>
            <a:off x="2512695" y="1351673"/>
            <a:ext cx="5387717" cy="22349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defTabSz="686108"/>
            <a:r>
              <a:rPr lang="pt-BR" sz="1051" b="1" dirty="0">
                <a:solidFill>
                  <a:prstClr val="white"/>
                </a:solidFill>
              </a:rPr>
              <a:t>ANÁLISE POR SITE</a:t>
            </a:r>
          </a:p>
        </p:txBody>
      </p:sp>
      <p:sp>
        <p:nvSpPr>
          <p:cNvPr id="16" name="Retângulo 7"/>
          <p:cNvSpPr/>
          <p:nvPr/>
        </p:nvSpPr>
        <p:spPr>
          <a:xfrm>
            <a:off x="1259550" y="2225761"/>
            <a:ext cx="1021673" cy="614598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6108"/>
            <a:r>
              <a:rPr lang="pt-BR" sz="1351" b="1" dirty="0">
                <a:solidFill>
                  <a:prstClr val="white"/>
                </a:solidFill>
                <a:latin typeface="Arial Black" pitchFamily="34" charset="0"/>
                <a:cs typeface="Aharoni" pitchFamily="2" charset="-79"/>
              </a:rPr>
              <a:t>1613</a:t>
            </a:r>
          </a:p>
          <a:p>
            <a:pPr algn="ctr" defTabSz="686108"/>
            <a:r>
              <a:rPr lang="pt-BR" sz="826" dirty="0">
                <a:solidFill>
                  <a:prstClr val="white"/>
                </a:solidFill>
                <a:latin typeface="Arial "/>
                <a:cs typeface="Aharoni" pitchFamily="2" charset="-79"/>
              </a:rPr>
              <a:t>SERVIDORES </a:t>
            </a:r>
          </a:p>
        </p:txBody>
      </p:sp>
      <p:sp>
        <p:nvSpPr>
          <p:cNvPr id="17" name="Retângulo 8"/>
          <p:cNvSpPr/>
          <p:nvPr/>
        </p:nvSpPr>
        <p:spPr>
          <a:xfrm>
            <a:off x="1259550" y="3067799"/>
            <a:ext cx="1021673" cy="614598"/>
          </a:xfrm>
          <a:prstGeom prst="rect">
            <a:avLst/>
          </a:prstGeom>
          <a:solidFill>
            <a:srgbClr val="B50E2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6108"/>
            <a:r>
              <a:rPr lang="pt-BR" sz="1351" dirty="0">
                <a:solidFill>
                  <a:prstClr val="white"/>
                </a:solidFill>
                <a:latin typeface="Arial Black" pitchFamily="34" charset="0"/>
              </a:rPr>
              <a:t>694</a:t>
            </a:r>
          </a:p>
          <a:p>
            <a:pPr algn="ctr" defTabSz="686108"/>
            <a:r>
              <a:rPr lang="pt-BR" sz="826" dirty="0">
                <a:solidFill>
                  <a:prstClr val="white"/>
                </a:solidFill>
                <a:latin typeface="Arial" pitchFamily="34" charset="0"/>
                <a:cs typeface="Arial" pitchFamily="34" charset="0"/>
              </a:rPr>
              <a:t>SERVIDORES SEM BACKUP</a:t>
            </a:r>
          </a:p>
        </p:txBody>
      </p:sp>
      <p:sp>
        <p:nvSpPr>
          <p:cNvPr id="18" name="Retângulo 13"/>
          <p:cNvSpPr/>
          <p:nvPr/>
        </p:nvSpPr>
        <p:spPr>
          <a:xfrm>
            <a:off x="1195686" y="417035"/>
            <a:ext cx="5038774" cy="531429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68644" tIns="34322" rIns="68644" bIns="34322">
            <a:spAutoFit/>
          </a:bodyPr>
          <a:lstStyle/>
          <a:p>
            <a:pPr defTabSz="686108"/>
            <a:r>
              <a:rPr lang="pt-BR" sz="3003" b="1" dirty="0">
                <a:ln w="12700">
                  <a:noFill/>
                  <a:prstDash val="solid"/>
                </a:ln>
                <a:solidFill>
                  <a:prstClr val="black"/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</a:rPr>
              <a:t>Maiores ofensores ao negócio</a:t>
            </a:r>
          </a:p>
        </p:txBody>
      </p:sp>
      <p:sp>
        <p:nvSpPr>
          <p:cNvPr id="19" name="Retângulo 14"/>
          <p:cNvSpPr/>
          <p:nvPr/>
        </p:nvSpPr>
        <p:spPr>
          <a:xfrm>
            <a:off x="1259550" y="1351672"/>
            <a:ext cx="1021673" cy="614598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6108"/>
            <a:r>
              <a:rPr lang="pt-BR" sz="1351" b="1" dirty="0">
                <a:solidFill>
                  <a:prstClr val="white"/>
                </a:solidFill>
                <a:latin typeface="Arial Black" pitchFamily="34" charset="0"/>
                <a:cs typeface="Aharoni" pitchFamily="2" charset="-79"/>
              </a:rPr>
              <a:t>17</a:t>
            </a:r>
          </a:p>
          <a:p>
            <a:pPr algn="ctr" defTabSz="686108"/>
            <a:r>
              <a:rPr lang="pt-BR" sz="826" dirty="0">
                <a:solidFill>
                  <a:prstClr val="white"/>
                </a:solidFill>
                <a:latin typeface="Arial "/>
                <a:cs typeface="Aharoni" pitchFamily="2" charset="-79"/>
              </a:rPr>
              <a:t>SITES</a:t>
            </a:r>
          </a:p>
        </p:txBody>
      </p:sp>
      <p:graphicFrame>
        <p:nvGraphicFramePr>
          <p:cNvPr id="20" name="Gráfico 11"/>
          <p:cNvGraphicFramePr>
            <a:graphicFrameLocks/>
          </p:cNvGraphicFramePr>
          <p:nvPr>
            <p:extLst/>
          </p:nvPr>
        </p:nvGraphicFramePr>
        <p:xfrm>
          <a:off x="2281223" y="1595117"/>
          <a:ext cx="5722952" cy="341222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2365143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 txBox="1">
            <a:spLocks/>
          </p:cNvSpPr>
          <p:nvPr/>
        </p:nvSpPr>
        <p:spPr>
          <a:xfrm>
            <a:off x="4132268" y="1245191"/>
            <a:ext cx="3871907" cy="509057"/>
          </a:xfrm>
          <a:prstGeom prst="rect">
            <a:avLst/>
          </a:prstGeom>
        </p:spPr>
        <p:txBody>
          <a:bodyPr vert="horz" lIns="68644" tIns="34322" rIns="68644" bIns="34322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1126" b="1" dirty="0" err="1">
                <a:solidFill>
                  <a:prstClr val="black">
                    <a:lumMod val="65000"/>
                    <a:lumOff val="35000"/>
                  </a:prstClr>
                </a:solidFill>
                <a:latin typeface="Arial"/>
                <a:cs typeface="Arial"/>
              </a:rPr>
              <a:t>Estabelecer</a:t>
            </a:r>
            <a:r>
              <a:rPr lang="en-US" sz="1126" b="1" dirty="0">
                <a:solidFill>
                  <a:prstClr val="black">
                    <a:lumMod val="65000"/>
                    <a:lumOff val="35000"/>
                  </a:prstClr>
                </a:solidFill>
                <a:latin typeface="Arial"/>
                <a:cs typeface="Arial"/>
              </a:rPr>
              <a:t> </a:t>
            </a:r>
            <a:r>
              <a:rPr lang="en-US" sz="1126" b="1" dirty="0" err="1">
                <a:solidFill>
                  <a:prstClr val="black">
                    <a:lumMod val="65000"/>
                    <a:lumOff val="35000"/>
                  </a:prstClr>
                </a:solidFill>
                <a:latin typeface="Arial"/>
                <a:cs typeface="Arial"/>
              </a:rPr>
              <a:t>na</a:t>
            </a:r>
            <a:r>
              <a:rPr lang="en-US" sz="1126" b="1" dirty="0">
                <a:solidFill>
                  <a:prstClr val="black">
                    <a:lumMod val="65000"/>
                    <a:lumOff val="35000"/>
                  </a:prstClr>
                </a:solidFill>
                <a:latin typeface="Arial"/>
                <a:cs typeface="Arial"/>
              </a:rPr>
              <a:t> </a:t>
            </a:r>
            <a:r>
              <a:rPr lang="en-US" sz="1126" b="1" dirty="0" err="1">
                <a:solidFill>
                  <a:prstClr val="black">
                    <a:lumMod val="65000"/>
                    <a:lumOff val="35000"/>
                  </a:prstClr>
                </a:solidFill>
                <a:latin typeface="Arial"/>
                <a:cs typeface="Arial"/>
              </a:rPr>
              <a:t>Politica</a:t>
            </a:r>
            <a:r>
              <a:rPr lang="en-US" sz="1126" b="1" dirty="0">
                <a:solidFill>
                  <a:prstClr val="black">
                    <a:lumMod val="65000"/>
                    <a:lumOff val="35000"/>
                  </a:prstClr>
                </a:solidFill>
                <a:latin typeface="Arial"/>
                <a:cs typeface="Arial"/>
              </a:rPr>
              <a:t> </a:t>
            </a:r>
            <a:r>
              <a:rPr lang="en-US" sz="1126" b="1" dirty="0" err="1">
                <a:solidFill>
                  <a:prstClr val="black">
                    <a:lumMod val="65000"/>
                    <a:lumOff val="35000"/>
                  </a:prstClr>
                </a:solidFill>
                <a:latin typeface="Arial"/>
                <a:cs typeface="Arial"/>
              </a:rPr>
              <a:t>intens</a:t>
            </a:r>
            <a:r>
              <a:rPr lang="en-US" sz="1126" b="1" dirty="0">
                <a:solidFill>
                  <a:prstClr val="black">
                    <a:lumMod val="65000"/>
                    <a:lumOff val="35000"/>
                  </a:prstClr>
                </a:solidFill>
                <a:latin typeface="Arial"/>
                <a:cs typeface="Arial"/>
              </a:rPr>
              <a:t> </a:t>
            </a:r>
            <a:r>
              <a:rPr lang="en-US" sz="1126" b="1" dirty="0" err="1">
                <a:solidFill>
                  <a:prstClr val="black">
                    <a:lumMod val="65000"/>
                    <a:lumOff val="35000"/>
                  </a:prstClr>
                </a:solidFill>
                <a:latin typeface="Arial"/>
                <a:cs typeface="Arial"/>
              </a:rPr>
              <a:t>obrigatórios</a:t>
            </a:r>
            <a:r>
              <a:rPr lang="en-US" sz="1126" b="1" dirty="0">
                <a:solidFill>
                  <a:prstClr val="black">
                    <a:lumMod val="65000"/>
                    <a:lumOff val="35000"/>
                  </a:prstClr>
                </a:solidFill>
                <a:latin typeface="Arial"/>
                <a:cs typeface="Arial"/>
              </a:rPr>
              <a:t> para Backup</a:t>
            </a:r>
          </a:p>
        </p:txBody>
      </p:sp>
      <p:sp>
        <p:nvSpPr>
          <p:cNvPr id="7" name="Oval 5"/>
          <p:cNvSpPr/>
          <p:nvPr/>
        </p:nvSpPr>
        <p:spPr>
          <a:xfrm>
            <a:off x="3773266" y="1295590"/>
            <a:ext cx="359002" cy="359002"/>
          </a:xfrm>
          <a:prstGeom prst="ellipse">
            <a:avLst/>
          </a:prstGeom>
          <a:solidFill>
            <a:srgbClr val="19345C"/>
          </a:solidFill>
          <a:ln>
            <a:noFill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6108"/>
            <a:r>
              <a:rPr lang="en-US" sz="1351" b="1" dirty="0">
                <a:solidFill>
                  <a:prstClr val="white"/>
                </a:solidFill>
                <a:latin typeface="Arial"/>
                <a:cs typeface="Arial"/>
              </a:rPr>
              <a:t>1</a:t>
            </a:r>
          </a:p>
        </p:txBody>
      </p:sp>
      <p:sp>
        <p:nvSpPr>
          <p:cNvPr id="8" name="Title 1"/>
          <p:cNvSpPr txBox="1">
            <a:spLocks/>
          </p:cNvSpPr>
          <p:nvPr/>
        </p:nvSpPr>
        <p:spPr>
          <a:xfrm>
            <a:off x="4132268" y="1807877"/>
            <a:ext cx="3871907" cy="509057"/>
          </a:xfrm>
          <a:prstGeom prst="rect">
            <a:avLst/>
          </a:prstGeom>
        </p:spPr>
        <p:txBody>
          <a:bodyPr vert="horz" lIns="68644" tIns="34322" rIns="68644" bIns="34322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1126" b="1" dirty="0" err="1">
                <a:solidFill>
                  <a:prstClr val="black">
                    <a:lumMod val="65000"/>
                    <a:lumOff val="35000"/>
                  </a:prstClr>
                </a:solidFill>
                <a:latin typeface="Arial"/>
                <a:cs typeface="Arial"/>
              </a:rPr>
              <a:t>Implementar</a:t>
            </a:r>
            <a:r>
              <a:rPr lang="en-US" sz="1126" b="1" dirty="0">
                <a:solidFill>
                  <a:prstClr val="black">
                    <a:lumMod val="65000"/>
                    <a:lumOff val="35000"/>
                  </a:prstClr>
                </a:solidFill>
                <a:latin typeface="Arial"/>
                <a:cs typeface="Arial"/>
              </a:rPr>
              <a:t> e </a:t>
            </a:r>
            <a:r>
              <a:rPr lang="en-US" sz="1126" b="1" dirty="0" err="1">
                <a:solidFill>
                  <a:prstClr val="black">
                    <a:lumMod val="65000"/>
                    <a:lumOff val="35000"/>
                  </a:prstClr>
                </a:solidFill>
                <a:latin typeface="Arial"/>
                <a:cs typeface="Arial"/>
              </a:rPr>
              <a:t>enviar</a:t>
            </a:r>
            <a:r>
              <a:rPr lang="en-US" sz="1126" b="1" dirty="0">
                <a:solidFill>
                  <a:prstClr val="black">
                    <a:lumMod val="65000"/>
                    <a:lumOff val="35000"/>
                  </a:prstClr>
                </a:solidFill>
                <a:latin typeface="Arial"/>
                <a:cs typeface="Arial"/>
              </a:rPr>
              <a:t> </a:t>
            </a:r>
            <a:r>
              <a:rPr lang="en-US" sz="1126" b="1" dirty="0" err="1">
                <a:solidFill>
                  <a:prstClr val="black">
                    <a:lumMod val="65000"/>
                    <a:lumOff val="35000"/>
                  </a:prstClr>
                </a:solidFill>
                <a:latin typeface="Arial"/>
                <a:cs typeface="Arial"/>
              </a:rPr>
              <a:t>relatórios</a:t>
            </a:r>
            <a:r>
              <a:rPr lang="en-US" sz="1126" b="1" dirty="0">
                <a:solidFill>
                  <a:prstClr val="black">
                    <a:lumMod val="65000"/>
                    <a:lumOff val="35000"/>
                  </a:prstClr>
                </a:solidFill>
                <a:latin typeface="Arial"/>
                <a:cs typeface="Arial"/>
              </a:rPr>
              <a:t> de </a:t>
            </a:r>
            <a:r>
              <a:rPr lang="en-US" sz="1126" b="1" dirty="0" err="1">
                <a:solidFill>
                  <a:prstClr val="black">
                    <a:lumMod val="65000"/>
                    <a:lumOff val="35000"/>
                  </a:prstClr>
                </a:solidFill>
                <a:latin typeface="Arial"/>
                <a:cs typeface="Arial"/>
              </a:rPr>
              <a:t>não</a:t>
            </a:r>
            <a:r>
              <a:rPr lang="en-US" sz="1126" b="1" dirty="0">
                <a:solidFill>
                  <a:prstClr val="black">
                    <a:lumMod val="65000"/>
                    <a:lumOff val="35000"/>
                  </a:prstClr>
                </a:solidFill>
                <a:latin typeface="Arial"/>
                <a:cs typeface="Arial"/>
              </a:rPr>
              <a:t> </a:t>
            </a:r>
            <a:r>
              <a:rPr lang="en-US" sz="1126" b="1" dirty="0" err="1">
                <a:solidFill>
                  <a:prstClr val="black">
                    <a:lumMod val="65000"/>
                    <a:lumOff val="35000"/>
                  </a:prstClr>
                </a:solidFill>
                <a:latin typeface="Arial"/>
                <a:cs typeface="Arial"/>
              </a:rPr>
              <a:t>conformidade</a:t>
            </a:r>
            <a:r>
              <a:rPr lang="en-US" sz="1126" b="1" dirty="0">
                <a:solidFill>
                  <a:prstClr val="black">
                    <a:lumMod val="65000"/>
                    <a:lumOff val="35000"/>
                  </a:prstClr>
                </a:solidFill>
                <a:latin typeface="Arial"/>
                <a:cs typeface="Arial"/>
              </a:rPr>
              <a:t> para </a:t>
            </a:r>
            <a:r>
              <a:rPr lang="en-US" sz="1126" b="1" dirty="0" err="1">
                <a:solidFill>
                  <a:prstClr val="black">
                    <a:lumMod val="65000"/>
                    <a:lumOff val="35000"/>
                  </a:prstClr>
                </a:solidFill>
                <a:latin typeface="Arial"/>
                <a:cs typeface="Arial"/>
              </a:rPr>
              <a:t>coordenadores</a:t>
            </a:r>
            <a:r>
              <a:rPr lang="en-US" sz="1126" b="1" dirty="0">
                <a:solidFill>
                  <a:prstClr val="black">
                    <a:lumMod val="65000"/>
                    <a:lumOff val="35000"/>
                  </a:prstClr>
                </a:solidFill>
                <a:latin typeface="Arial"/>
                <a:cs typeface="Arial"/>
              </a:rPr>
              <a:t> de site </a:t>
            </a:r>
            <a:r>
              <a:rPr lang="en-US" sz="1126" b="1" dirty="0" err="1">
                <a:solidFill>
                  <a:prstClr val="black">
                    <a:lumMod val="65000"/>
                    <a:lumOff val="35000"/>
                  </a:prstClr>
                </a:solidFill>
                <a:latin typeface="Arial"/>
                <a:cs typeface="Arial"/>
              </a:rPr>
              <a:t>não</a:t>
            </a:r>
            <a:r>
              <a:rPr lang="en-US" sz="1126" b="1" dirty="0">
                <a:solidFill>
                  <a:prstClr val="black">
                    <a:lumMod val="65000"/>
                    <a:lumOff val="35000"/>
                  </a:prstClr>
                </a:solidFill>
                <a:latin typeface="Arial"/>
                <a:cs typeface="Arial"/>
              </a:rPr>
              <a:t> </a:t>
            </a:r>
            <a:r>
              <a:rPr lang="en-US" sz="1126" b="1" dirty="0" err="1">
                <a:solidFill>
                  <a:prstClr val="black">
                    <a:lumMod val="65000"/>
                    <a:lumOff val="35000"/>
                  </a:prstClr>
                </a:solidFill>
                <a:latin typeface="Arial"/>
                <a:cs typeface="Arial"/>
              </a:rPr>
              <a:t>aderente</a:t>
            </a:r>
            <a:r>
              <a:rPr lang="en-US" sz="1126" b="1" dirty="0">
                <a:solidFill>
                  <a:prstClr val="black">
                    <a:lumMod val="65000"/>
                    <a:lumOff val="35000"/>
                  </a:prstClr>
                </a:solidFill>
                <a:latin typeface="Arial"/>
                <a:cs typeface="Arial"/>
              </a:rPr>
              <a:t> a </a:t>
            </a:r>
            <a:r>
              <a:rPr lang="en-US" sz="1126" b="1" dirty="0" err="1">
                <a:solidFill>
                  <a:prstClr val="black">
                    <a:lumMod val="65000"/>
                    <a:lumOff val="35000"/>
                  </a:prstClr>
                </a:solidFill>
                <a:latin typeface="Arial"/>
                <a:cs typeface="Arial"/>
              </a:rPr>
              <a:t>política</a:t>
            </a:r>
            <a:endParaRPr lang="en-US" sz="1126" b="1" dirty="0">
              <a:solidFill>
                <a:prstClr val="black">
                  <a:lumMod val="65000"/>
                  <a:lumOff val="35000"/>
                </a:prstClr>
              </a:solidFill>
              <a:latin typeface="Arial"/>
              <a:cs typeface="Arial"/>
            </a:endParaRPr>
          </a:p>
        </p:txBody>
      </p:sp>
      <p:sp>
        <p:nvSpPr>
          <p:cNvPr id="9" name="Oval 7"/>
          <p:cNvSpPr/>
          <p:nvPr/>
        </p:nvSpPr>
        <p:spPr>
          <a:xfrm>
            <a:off x="3773266" y="1858277"/>
            <a:ext cx="359002" cy="359002"/>
          </a:xfrm>
          <a:prstGeom prst="ellipse">
            <a:avLst/>
          </a:prstGeom>
          <a:solidFill>
            <a:srgbClr val="19345C"/>
          </a:solidFill>
          <a:ln>
            <a:noFill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6108"/>
            <a:r>
              <a:rPr lang="en-US" sz="1351" b="1" dirty="0">
                <a:solidFill>
                  <a:prstClr val="white"/>
                </a:solidFill>
                <a:latin typeface="Arial"/>
                <a:cs typeface="Arial"/>
              </a:rPr>
              <a:t>2</a:t>
            </a:r>
          </a:p>
        </p:txBody>
      </p:sp>
      <p:sp>
        <p:nvSpPr>
          <p:cNvPr id="10" name="Title 1"/>
          <p:cNvSpPr txBox="1">
            <a:spLocks/>
          </p:cNvSpPr>
          <p:nvPr/>
        </p:nvSpPr>
        <p:spPr>
          <a:xfrm>
            <a:off x="4132268" y="2404917"/>
            <a:ext cx="3871907" cy="509057"/>
          </a:xfrm>
          <a:prstGeom prst="rect">
            <a:avLst/>
          </a:prstGeom>
        </p:spPr>
        <p:txBody>
          <a:bodyPr vert="horz" lIns="68644" tIns="34322" rIns="68644" bIns="34322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1126" b="1" dirty="0" err="1">
                <a:solidFill>
                  <a:prstClr val="black">
                    <a:lumMod val="65000"/>
                    <a:lumOff val="35000"/>
                  </a:prstClr>
                </a:solidFill>
                <a:latin typeface="Arial"/>
                <a:cs typeface="Arial"/>
              </a:rPr>
              <a:t>Adequar</a:t>
            </a:r>
            <a:r>
              <a:rPr lang="en-US" sz="1126" b="1" dirty="0">
                <a:solidFill>
                  <a:prstClr val="black">
                    <a:lumMod val="65000"/>
                    <a:lumOff val="35000"/>
                  </a:prstClr>
                </a:solidFill>
                <a:latin typeface="Arial"/>
                <a:cs typeface="Arial"/>
              </a:rPr>
              <a:t> </a:t>
            </a:r>
            <a:r>
              <a:rPr lang="en-US" sz="1126" b="1" dirty="0" err="1">
                <a:solidFill>
                  <a:prstClr val="black">
                    <a:lumMod val="65000"/>
                    <a:lumOff val="35000"/>
                  </a:prstClr>
                </a:solidFill>
                <a:latin typeface="Arial"/>
                <a:cs typeface="Arial"/>
              </a:rPr>
              <a:t>processo</a:t>
            </a:r>
            <a:r>
              <a:rPr lang="en-US" sz="1126" b="1" dirty="0">
                <a:solidFill>
                  <a:prstClr val="black">
                    <a:lumMod val="65000"/>
                    <a:lumOff val="35000"/>
                  </a:prstClr>
                </a:solidFill>
                <a:latin typeface="Arial"/>
                <a:cs typeface="Arial"/>
              </a:rPr>
              <a:t> de </a:t>
            </a:r>
            <a:r>
              <a:rPr lang="en-US" sz="1126" b="1" dirty="0" err="1">
                <a:solidFill>
                  <a:prstClr val="black">
                    <a:lumMod val="65000"/>
                    <a:lumOff val="35000"/>
                  </a:prstClr>
                </a:solidFill>
                <a:latin typeface="Arial"/>
                <a:cs typeface="Arial"/>
              </a:rPr>
              <a:t>mudança</a:t>
            </a:r>
            <a:r>
              <a:rPr lang="en-US" sz="1126" b="1" dirty="0">
                <a:solidFill>
                  <a:prstClr val="black">
                    <a:lumMod val="65000"/>
                    <a:lumOff val="35000"/>
                  </a:prstClr>
                </a:solidFill>
                <a:latin typeface="Arial"/>
                <a:cs typeface="Arial"/>
              </a:rPr>
              <a:t> com </a:t>
            </a:r>
            <a:r>
              <a:rPr lang="en-US" sz="1126" b="1" dirty="0" err="1">
                <a:solidFill>
                  <a:prstClr val="black">
                    <a:lumMod val="65000"/>
                    <a:lumOff val="35000"/>
                  </a:prstClr>
                </a:solidFill>
                <a:latin typeface="Arial"/>
                <a:cs typeface="Arial"/>
              </a:rPr>
              <a:t>notificação</a:t>
            </a:r>
            <a:r>
              <a:rPr lang="en-US" sz="1126" b="1" dirty="0">
                <a:solidFill>
                  <a:prstClr val="black">
                    <a:lumMod val="65000"/>
                    <a:lumOff val="35000"/>
                  </a:prstClr>
                </a:solidFill>
                <a:latin typeface="Arial"/>
                <a:cs typeface="Arial"/>
              </a:rPr>
              <a:t> para </a:t>
            </a:r>
            <a:r>
              <a:rPr lang="en-US" sz="1126" b="1" dirty="0" err="1">
                <a:solidFill>
                  <a:prstClr val="black">
                    <a:lumMod val="65000"/>
                    <a:lumOff val="35000"/>
                  </a:prstClr>
                </a:solidFill>
                <a:latin typeface="Arial"/>
                <a:cs typeface="Arial"/>
              </a:rPr>
              <a:t>equipe</a:t>
            </a:r>
            <a:r>
              <a:rPr lang="en-US" sz="1126" b="1" dirty="0">
                <a:solidFill>
                  <a:prstClr val="black">
                    <a:lumMod val="65000"/>
                    <a:lumOff val="35000"/>
                  </a:prstClr>
                </a:solidFill>
                <a:latin typeface="Arial"/>
                <a:cs typeface="Arial"/>
              </a:rPr>
              <a:t> de backup</a:t>
            </a:r>
          </a:p>
        </p:txBody>
      </p:sp>
      <p:sp>
        <p:nvSpPr>
          <p:cNvPr id="11" name="Oval 9"/>
          <p:cNvSpPr/>
          <p:nvPr/>
        </p:nvSpPr>
        <p:spPr>
          <a:xfrm>
            <a:off x="3773266" y="2455317"/>
            <a:ext cx="359002" cy="359002"/>
          </a:xfrm>
          <a:prstGeom prst="ellipse">
            <a:avLst/>
          </a:prstGeom>
          <a:solidFill>
            <a:srgbClr val="19345C"/>
          </a:solidFill>
          <a:ln>
            <a:noFill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6108"/>
            <a:r>
              <a:rPr lang="en-US" sz="1351" b="1" dirty="0">
                <a:solidFill>
                  <a:prstClr val="white"/>
                </a:solidFill>
                <a:latin typeface="Arial"/>
                <a:cs typeface="Arial"/>
              </a:rPr>
              <a:t>3</a:t>
            </a:r>
          </a:p>
        </p:txBody>
      </p:sp>
      <p:sp>
        <p:nvSpPr>
          <p:cNvPr id="12" name="Title 1"/>
          <p:cNvSpPr txBox="1">
            <a:spLocks/>
          </p:cNvSpPr>
          <p:nvPr/>
        </p:nvSpPr>
        <p:spPr>
          <a:xfrm>
            <a:off x="4132268" y="2967604"/>
            <a:ext cx="3871907" cy="509057"/>
          </a:xfrm>
          <a:prstGeom prst="rect">
            <a:avLst/>
          </a:prstGeom>
        </p:spPr>
        <p:txBody>
          <a:bodyPr vert="horz" lIns="68644" tIns="34322" rIns="68644" bIns="34322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en-US" sz="1126" b="1" dirty="0">
              <a:solidFill>
                <a:prstClr val="black">
                  <a:lumMod val="65000"/>
                  <a:lumOff val="35000"/>
                </a:prstClr>
              </a:solidFill>
              <a:latin typeface="Arial"/>
              <a:cs typeface="Arial"/>
            </a:endParaRPr>
          </a:p>
          <a:p>
            <a:pPr algn="l"/>
            <a:r>
              <a:rPr lang="en-US" sz="1126" b="1" dirty="0" err="1">
                <a:solidFill>
                  <a:prstClr val="black">
                    <a:lumMod val="65000"/>
                    <a:lumOff val="35000"/>
                  </a:prstClr>
                </a:solidFill>
                <a:latin typeface="Arial"/>
                <a:cs typeface="Arial"/>
              </a:rPr>
              <a:t>Reimplantar</a:t>
            </a:r>
            <a:r>
              <a:rPr lang="en-US" sz="1126" b="1" dirty="0">
                <a:solidFill>
                  <a:prstClr val="black">
                    <a:lumMod val="65000"/>
                    <a:lumOff val="35000"/>
                  </a:prstClr>
                </a:solidFill>
                <a:latin typeface="Arial"/>
                <a:cs typeface="Arial"/>
              </a:rPr>
              <a:t> a </a:t>
            </a:r>
            <a:r>
              <a:rPr lang="en-US" sz="1126" b="1" dirty="0" err="1">
                <a:solidFill>
                  <a:prstClr val="black">
                    <a:lumMod val="65000"/>
                    <a:lumOff val="35000"/>
                  </a:prstClr>
                </a:solidFill>
                <a:latin typeface="Arial"/>
                <a:cs typeface="Arial"/>
              </a:rPr>
              <a:t>Política</a:t>
            </a:r>
            <a:r>
              <a:rPr lang="en-US" sz="1126" b="1" dirty="0">
                <a:solidFill>
                  <a:prstClr val="black">
                    <a:lumMod val="65000"/>
                    <a:lumOff val="35000"/>
                  </a:prstClr>
                </a:solidFill>
                <a:latin typeface="Arial"/>
                <a:cs typeface="Arial"/>
              </a:rPr>
              <a:t> de backup, </a:t>
            </a:r>
            <a:r>
              <a:rPr lang="en-US" sz="1126" b="1" dirty="0" err="1">
                <a:solidFill>
                  <a:prstClr val="black">
                    <a:lumMod val="65000"/>
                    <a:lumOff val="35000"/>
                  </a:prstClr>
                </a:solidFill>
                <a:latin typeface="Arial"/>
                <a:cs typeface="Arial"/>
              </a:rPr>
              <a:t>já</a:t>
            </a:r>
            <a:r>
              <a:rPr lang="en-US" sz="1126" b="1" dirty="0">
                <a:solidFill>
                  <a:prstClr val="black">
                    <a:lumMod val="65000"/>
                    <a:lumOff val="35000"/>
                  </a:prstClr>
                </a:solidFill>
                <a:latin typeface="Arial"/>
                <a:cs typeface="Arial"/>
              </a:rPr>
              <a:t> </a:t>
            </a:r>
            <a:r>
              <a:rPr lang="en-US" sz="1126" b="1" dirty="0" err="1">
                <a:solidFill>
                  <a:prstClr val="black">
                    <a:lumMod val="65000"/>
                    <a:lumOff val="35000"/>
                  </a:prstClr>
                </a:solidFill>
                <a:latin typeface="Arial"/>
                <a:cs typeface="Arial"/>
              </a:rPr>
              <a:t>definida</a:t>
            </a:r>
            <a:r>
              <a:rPr lang="en-US" sz="1126" b="1" dirty="0">
                <a:solidFill>
                  <a:prstClr val="black">
                    <a:lumMod val="65000"/>
                    <a:lumOff val="35000"/>
                  </a:prstClr>
                </a:solidFill>
                <a:latin typeface="Arial"/>
                <a:cs typeface="Arial"/>
              </a:rPr>
              <a:t>, </a:t>
            </a:r>
            <a:r>
              <a:rPr lang="en-US" sz="1126" b="1" dirty="0" err="1">
                <a:solidFill>
                  <a:prstClr val="black">
                    <a:lumMod val="65000"/>
                    <a:lumOff val="35000"/>
                  </a:prstClr>
                </a:solidFill>
                <a:latin typeface="Arial"/>
                <a:cs typeface="Arial"/>
              </a:rPr>
              <a:t>divulgada</a:t>
            </a:r>
            <a:r>
              <a:rPr lang="en-US" sz="1126" b="1" dirty="0">
                <a:solidFill>
                  <a:prstClr val="black">
                    <a:lumMod val="65000"/>
                    <a:lumOff val="35000"/>
                  </a:prstClr>
                </a:solidFill>
                <a:latin typeface="Arial"/>
                <a:cs typeface="Arial"/>
              </a:rPr>
              <a:t> e </a:t>
            </a:r>
            <a:r>
              <a:rPr lang="en-US" sz="1126" b="1" dirty="0" err="1">
                <a:solidFill>
                  <a:prstClr val="black">
                    <a:lumMod val="65000"/>
                    <a:lumOff val="35000"/>
                  </a:prstClr>
                </a:solidFill>
                <a:latin typeface="Arial"/>
                <a:cs typeface="Arial"/>
              </a:rPr>
              <a:t>publicada</a:t>
            </a:r>
            <a:endParaRPr lang="en-US" sz="1126" b="1" dirty="0">
              <a:solidFill>
                <a:prstClr val="black">
                  <a:lumMod val="65000"/>
                  <a:lumOff val="35000"/>
                </a:prstClr>
              </a:solidFill>
              <a:latin typeface="Arial"/>
              <a:cs typeface="Arial"/>
            </a:endParaRPr>
          </a:p>
          <a:p>
            <a:pPr algn="l"/>
            <a:endParaRPr lang="en-US" sz="1126" b="1" dirty="0">
              <a:solidFill>
                <a:prstClr val="black">
                  <a:lumMod val="65000"/>
                  <a:lumOff val="35000"/>
                </a:prstClr>
              </a:solidFill>
              <a:latin typeface="Arial"/>
              <a:cs typeface="Arial"/>
            </a:endParaRPr>
          </a:p>
        </p:txBody>
      </p:sp>
      <p:sp>
        <p:nvSpPr>
          <p:cNvPr id="13" name="Oval 11"/>
          <p:cNvSpPr/>
          <p:nvPr/>
        </p:nvSpPr>
        <p:spPr>
          <a:xfrm>
            <a:off x="3773266" y="3018004"/>
            <a:ext cx="359002" cy="359002"/>
          </a:xfrm>
          <a:prstGeom prst="ellipse">
            <a:avLst/>
          </a:prstGeom>
          <a:solidFill>
            <a:srgbClr val="19345C"/>
          </a:solidFill>
          <a:ln>
            <a:noFill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6108"/>
            <a:r>
              <a:rPr lang="en-US" sz="1351" b="1" dirty="0">
                <a:solidFill>
                  <a:prstClr val="white"/>
                </a:solidFill>
                <a:latin typeface="Arial"/>
                <a:cs typeface="Arial"/>
              </a:rPr>
              <a:t>4</a:t>
            </a:r>
          </a:p>
        </p:txBody>
      </p:sp>
      <p:sp>
        <p:nvSpPr>
          <p:cNvPr id="16" name="Title 1"/>
          <p:cNvSpPr txBox="1">
            <a:spLocks/>
          </p:cNvSpPr>
          <p:nvPr/>
        </p:nvSpPr>
        <p:spPr>
          <a:xfrm>
            <a:off x="3313811" y="262736"/>
            <a:ext cx="2598883" cy="551290"/>
          </a:xfrm>
          <a:prstGeom prst="rect">
            <a:avLst/>
          </a:prstGeom>
        </p:spPr>
        <p:txBody>
          <a:bodyPr vert="horz" lIns="68644" tIns="34322" rIns="68644" bIns="34322" rtlCol="0" anchor="ctr">
            <a:normAutofit fontScale="925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2252" b="1" dirty="0" err="1">
                <a:solidFill>
                  <a:srgbClr val="1F497D"/>
                </a:solidFill>
                <a:latin typeface="Arial"/>
                <a:cs typeface="Arial"/>
              </a:rPr>
              <a:t>Ações</a:t>
            </a:r>
            <a:r>
              <a:rPr lang="en-US" sz="2252" b="1" dirty="0">
                <a:solidFill>
                  <a:srgbClr val="1F497D"/>
                </a:solidFill>
                <a:latin typeface="Arial"/>
                <a:cs typeface="Arial"/>
              </a:rPr>
              <a:t> </a:t>
            </a:r>
            <a:r>
              <a:rPr lang="en-US" sz="2252" b="1" dirty="0" err="1">
                <a:solidFill>
                  <a:srgbClr val="1F497D"/>
                </a:solidFill>
                <a:latin typeface="Arial"/>
                <a:cs typeface="Arial"/>
              </a:rPr>
              <a:t>importantes</a:t>
            </a:r>
            <a:endParaRPr lang="en-US" sz="2252" b="1" dirty="0">
              <a:solidFill>
                <a:srgbClr val="1F497D"/>
              </a:solidFill>
              <a:latin typeface="Arial"/>
              <a:cs typeface="Arial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37901" y="3527061"/>
            <a:ext cx="1838069" cy="1570871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75648" y="3527062"/>
            <a:ext cx="1842411" cy="15708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14629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21333" y="289005"/>
            <a:ext cx="1603348" cy="291323"/>
          </a:xfrm>
          <a:prstGeom prst="rect">
            <a:avLst/>
          </a:prstGeom>
        </p:spPr>
      </p:pic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780" t="78172" r="18395" b="12686"/>
          <a:stretch/>
        </p:blipFill>
        <p:spPr bwMode="auto">
          <a:xfrm>
            <a:off x="8188658" y="4384319"/>
            <a:ext cx="955343" cy="7639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1" descr="t03-02.jpg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1368" b="84909"/>
          <a:stretch/>
        </p:blipFill>
        <p:spPr>
          <a:xfrm>
            <a:off x="0" y="0"/>
            <a:ext cx="789296" cy="776935"/>
          </a:xfrm>
          <a:prstGeom prst="rect">
            <a:avLst/>
          </a:prstGeom>
        </p:spPr>
      </p:pic>
      <p:sp>
        <p:nvSpPr>
          <p:cNvPr id="7" name="Title 1"/>
          <p:cNvSpPr txBox="1">
            <a:spLocks/>
          </p:cNvSpPr>
          <p:nvPr/>
        </p:nvSpPr>
        <p:spPr>
          <a:xfrm>
            <a:off x="1121362" y="0"/>
            <a:ext cx="5567904" cy="8580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buClr>
                <a:srgbClr val="800000"/>
              </a:buClr>
            </a:pPr>
            <a:r>
              <a:rPr lang="pt-BR" sz="3200" b="1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4</a:t>
            </a:r>
            <a:r>
              <a:rPr lang="pt-BR" sz="3200" b="1" dirty="0" smtClean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. </a:t>
            </a:r>
            <a:r>
              <a:rPr lang="pt-BR" sz="3200" b="1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Projetos</a:t>
            </a:r>
            <a:endParaRPr lang="pt-PT" sz="3200" b="1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9" name="Retângulo de cantos arredondados 8"/>
          <p:cNvSpPr/>
          <p:nvPr/>
        </p:nvSpPr>
        <p:spPr>
          <a:xfrm>
            <a:off x="896351" y="1451399"/>
            <a:ext cx="7292307" cy="2061848"/>
          </a:xfrm>
          <a:prstGeom prst="roundRect">
            <a:avLst/>
          </a:prstGeom>
          <a:solidFill>
            <a:schemeClr val="accent1">
              <a:lumMod val="50000"/>
            </a:schemeClr>
          </a:solidFill>
          <a:effectLst>
            <a:outerShdw blurRad="40000" dist="23000" dir="5400000" rotWithShape="0">
              <a:srgbClr val="000000">
                <a:alpha val="35000"/>
              </a:srgbClr>
            </a:outerShdw>
            <a:softEdge rad="3175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3600" dirty="0" smtClean="0"/>
              <a:t>Status dos Projetos em andamento</a:t>
            </a:r>
            <a:endParaRPr lang="pt-BR" sz="2400" dirty="0"/>
          </a:p>
        </p:txBody>
      </p:sp>
    </p:spTree>
    <p:extLst>
      <p:ext uri="{BB962C8B-B14F-4D97-AF65-F5344CB8AC3E}">
        <p14:creationId xmlns:p14="http://schemas.microsoft.com/office/powerpoint/2010/main" val="25821972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10701" y="289005"/>
            <a:ext cx="1203624" cy="291323"/>
          </a:xfrm>
          <a:prstGeom prst="rect">
            <a:avLst/>
          </a:prstGeom>
        </p:spPr>
      </p:pic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780" t="78172" r="18395" b="12686"/>
          <a:stretch/>
        </p:blipFill>
        <p:spPr bwMode="auto">
          <a:xfrm>
            <a:off x="7287006" y="4384319"/>
            <a:ext cx="717171" cy="7639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1" descr="t03-02.jpg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1368" b="84909"/>
          <a:stretch/>
        </p:blipFill>
        <p:spPr>
          <a:xfrm>
            <a:off x="1139825" y="1"/>
            <a:ext cx="592520" cy="776935"/>
          </a:xfrm>
          <a:prstGeom prst="rect">
            <a:avLst/>
          </a:prstGeom>
        </p:spPr>
      </p:pic>
      <p:sp>
        <p:nvSpPr>
          <p:cNvPr id="9" name="Title 1"/>
          <p:cNvSpPr txBox="1">
            <a:spLocks/>
          </p:cNvSpPr>
          <p:nvPr/>
        </p:nvSpPr>
        <p:spPr>
          <a:xfrm>
            <a:off x="2783287" y="19928"/>
            <a:ext cx="3604030" cy="560400"/>
          </a:xfrm>
          <a:prstGeom prst="rect">
            <a:avLst/>
          </a:prstGeom>
        </p:spPr>
        <p:txBody>
          <a:bodyPr vert="horz" lIns="68644" tIns="34322" rIns="68644" bIns="34322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buClr>
                <a:srgbClr val="800000"/>
              </a:buClr>
            </a:pPr>
            <a:r>
              <a:rPr lang="pt-BR" sz="2402" b="1" dirty="0" smtClean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4.1 Projeto </a:t>
            </a:r>
            <a:r>
              <a:rPr lang="pt-BR" sz="2402" b="1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Monitoração</a:t>
            </a:r>
            <a:endParaRPr lang="pt-BR" sz="1426" b="1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" name="CaixaDeTexto 1"/>
          <p:cNvSpPr txBox="1"/>
          <p:nvPr/>
        </p:nvSpPr>
        <p:spPr>
          <a:xfrm>
            <a:off x="222692" y="187112"/>
            <a:ext cx="3134203" cy="5494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050" b="1" dirty="0"/>
              <a:t>Problemas:</a:t>
            </a:r>
          </a:p>
          <a:p>
            <a:endParaRPr lang="pt-BR" sz="1050" b="1" dirty="0"/>
          </a:p>
          <a:p>
            <a:pPr marL="214513" indent="-214513">
              <a:buFont typeface="Arial" panose="020B0604020202020204" pitchFamily="34" charset="0"/>
              <a:buChar char="•"/>
            </a:pPr>
            <a:r>
              <a:rPr lang="pt-BR" sz="1050" dirty="0"/>
              <a:t>Perda de dados por “crash” em discos</a:t>
            </a:r>
          </a:p>
          <a:p>
            <a:pPr marL="214513" indent="-214513">
              <a:buFont typeface="Arial" panose="020B0604020202020204" pitchFamily="34" charset="0"/>
              <a:buChar char="•"/>
            </a:pPr>
            <a:r>
              <a:rPr lang="pt-BR" sz="1050" dirty="0"/>
              <a:t>Baixa performance  de servidores por problemas de Hardware</a:t>
            </a:r>
          </a:p>
          <a:p>
            <a:pPr marL="214513" indent="-214513">
              <a:buFont typeface="Arial" panose="020B0604020202020204" pitchFamily="34" charset="0"/>
              <a:buChar char="•"/>
            </a:pPr>
            <a:r>
              <a:rPr lang="pt-BR" sz="1050" dirty="0"/>
              <a:t>Falta de monitoração de saúde do ambiente</a:t>
            </a:r>
          </a:p>
          <a:p>
            <a:endParaRPr lang="pt-BR" sz="1050" dirty="0"/>
          </a:p>
          <a:p>
            <a:r>
              <a:rPr lang="pt-BR" sz="1050" b="1" dirty="0"/>
              <a:t>Efeito:</a:t>
            </a:r>
          </a:p>
          <a:p>
            <a:endParaRPr lang="pt-BR" sz="1050" b="1" dirty="0"/>
          </a:p>
          <a:p>
            <a:pPr marL="214513" indent="-214513">
              <a:buFont typeface="Arial" panose="020B0604020202020204" pitchFamily="34" charset="0"/>
              <a:buChar char="•"/>
            </a:pPr>
            <a:r>
              <a:rPr lang="pt-BR" sz="1050" dirty="0"/>
              <a:t>Perda Financeira ( falha de backup / gravação)</a:t>
            </a:r>
          </a:p>
          <a:p>
            <a:pPr marL="214513" indent="-214513">
              <a:buFont typeface="Arial" panose="020B0604020202020204" pitchFamily="34" charset="0"/>
              <a:buChar char="•"/>
            </a:pPr>
            <a:r>
              <a:rPr lang="pt-BR" sz="1050" dirty="0"/>
              <a:t>Perda de credibilidade</a:t>
            </a:r>
          </a:p>
          <a:p>
            <a:endParaRPr lang="pt-BR" sz="1050" dirty="0"/>
          </a:p>
          <a:p>
            <a:r>
              <a:rPr lang="pt-BR" sz="1050" b="1" dirty="0"/>
              <a:t>Solução definitiva:</a:t>
            </a:r>
          </a:p>
          <a:p>
            <a:endParaRPr lang="pt-BR" sz="1050" b="1" dirty="0"/>
          </a:p>
          <a:p>
            <a:pPr marL="214513" indent="-214513">
              <a:buFont typeface="Arial" panose="020B0604020202020204" pitchFamily="34" charset="0"/>
              <a:buChar char="•"/>
            </a:pPr>
            <a:r>
              <a:rPr lang="pt-BR" sz="1050" dirty="0"/>
              <a:t>Utilizar a ferramenta DELL </a:t>
            </a:r>
            <a:r>
              <a:rPr lang="pt-BR" sz="1050" dirty="0" err="1"/>
              <a:t>OpenManager</a:t>
            </a:r>
            <a:r>
              <a:rPr lang="pt-BR" sz="1050" dirty="0"/>
              <a:t> Essentials</a:t>
            </a:r>
          </a:p>
          <a:p>
            <a:pPr lvl="1"/>
            <a:r>
              <a:rPr lang="pt-BR" sz="1050" dirty="0"/>
              <a:t>Obs.: Instalação realizada por engenheiro DELL com transferência de conhecimento.</a:t>
            </a:r>
          </a:p>
          <a:p>
            <a:pPr marL="128708" indent="-128708">
              <a:buFont typeface="Arial" pitchFamily="34" charset="0"/>
              <a:buChar char="•"/>
            </a:pPr>
            <a:r>
              <a:rPr lang="pt-BR" sz="1050" dirty="0"/>
              <a:t>Preparar ferramenta </a:t>
            </a:r>
            <a:r>
              <a:rPr lang="pt-BR" sz="1050" dirty="0" err="1"/>
              <a:t>Zabixx</a:t>
            </a:r>
            <a:r>
              <a:rPr lang="pt-BR" sz="1050" dirty="0"/>
              <a:t> para monitoração de serviços</a:t>
            </a:r>
          </a:p>
          <a:p>
            <a:pPr lvl="1"/>
            <a:endParaRPr lang="pt-BR" sz="1050" dirty="0"/>
          </a:p>
          <a:p>
            <a:r>
              <a:rPr lang="pt-BR" sz="1050" b="1" dirty="0"/>
              <a:t>Investimento :</a:t>
            </a:r>
          </a:p>
          <a:p>
            <a:endParaRPr lang="pt-BR" sz="1050" b="1" dirty="0"/>
          </a:p>
          <a:p>
            <a:pPr marL="214513" indent="-214513">
              <a:buFont typeface="Arial" panose="020B0604020202020204" pitchFamily="34" charset="0"/>
              <a:buChar char="•"/>
            </a:pPr>
            <a:r>
              <a:rPr lang="pt-BR" sz="1050" u="sng" dirty="0"/>
              <a:t>Sem necessidade de desembolso </a:t>
            </a:r>
            <a:r>
              <a:rPr lang="pt-BR" sz="1050" u="sng" dirty="0" smtClean="0"/>
              <a:t>para</a:t>
            </a:r>
            <a:r>
              <a:rPr lang="pt-BR" sz="1050" dirty="0" smtClean="0"/>
              <a:t>: </a:t>
            </a:r>
          </a:p>
          <a:p>
            <a:pPr marL="671713" lvl="1" indent="-214513">
              <a:buFont typeface="Arial" panose="020B0604020202020204" pitchFamily="34" charset="0"/>
              <a:buChar char="•"/>
            </a:pPr>
            <a:r>
              <a:rPr lang="pt-BR" sz="1050" dirty="0" smtClean="0"/>
              <a:t>Ferramenta </a:t>
            </a:r>
            <a:r>
              <a:rPr lang="pt-BR" sz="1050" dirty="0"/>
              <a:t>DELL </a:t>
            </a:r>
            <a:r>
              <a:rPr lang="pt-BR" sz="1050" dirty="0" err="1"/>
              <a:t>OpenManager</a:t>
            </a:r>
            <a:r>
              <a:rPr lang="pt-BR" sz="1050" dirty="0"/>
              <a:t> Essentials</a:t>
            </a:r>
            <a:r>
              <a:rPr lang="pt-BR" sz="1050" dirty="0" smtClean="0"/>
              <a:t>);</a:t>
            </a:r>
          </a:p>
          <a:p>
            <a:pPr marL="671713" lvl="1" indent="-214513">
              <a:buFont typeface="Arial" panose="020B0604020202020204" pitchFamily="34" charset="0"/>
              <a:buChar char="•"/>
            </a:pPr>
            <a:r>
              <a:rPr lang="pt-BR" sz="1050" dirty="0"/>
              <a:t>2 servidores numa </a:t>
            </a:r>
            <a:r>
              <a:rPr lang="pt-BR" sz="1050" dirty="0" err="1"/>
              <a:t>Blade</a:t>
            </a:r>
            <a:endParaRPr lang="pt-BR" sz="1050" dirty="0"/>
          </a:p>
          <a:p>
            <a:pPr marL="214513" indent="-214513">
              <a:buFont typeface="Arial" panose="020B0604020202020204" pitchFamily="34" charset="0"/>
              <a:buChar char="•"/>
            </a:pPr>
            <a:r>
              <a:rPr lang="pt-BR" sz="1050" b="1" dirty="0"/>
              <a:t>R$ 70.000,00 </a:t>
            </a:r>
            <a:r>
              <a:rPr lang="pt-BR" sz="1050" dirty="0" smtClean="0"/>
              <a:t>para licença </a:t>
            </a:r>
            <a:r>
              <a:rPr lang="pt-BR" sz="1050" dirty="0"/>
              <a:t>de SQL Standard ( monitoração de 4000 </a:t>
            </a:r>
            <a:r>
              <a:rPr lang="pt-BR" sz="1050" dirty="0" err="1"/>
              <a:t>devices</a:t>
            </a:r>
            <a:r>
              <a:rPr lang="pt-BR" sz="1050" dirty="0"/>
              <a:t>) (em validação da disponibilidade de licença</a:t>
            </a:r>
            <a:r>
              <a:rPr lang="pt-BR" sz="1050" dirty="0" smtClean="0"/>
              <a:t>);</a:t>
            </a:r>
            <a:endParaRPr lang="pt-BR" sz="1050" dirty="0"/>
          </a:p>
          <a:p>
            <a:endParaRPr lang="pt-BR" sz="901" dirty="0"/>
          </a:p>
          <a:p>
            <a:endParaRPr lang="pt-BR" sz="901" dirty="0"/>
          </a:p>
          <a:p>
            <a:pPr marL="214513" indent="-214513">
              <a:buFont typeface="Arial" panose="020B0604020202020204" pitchFamily="34" charset="0"/>
              <a:buChar char="•"/>
            </a:pPr>
            <a:endParaRPr lang="pt-BR" sz="901" dirty="0"/>
          </a:p>
          <a:p>
            <a:pPr marL="557733" lvl="1" indent="-214513">
              <a:buFont typeface="Arial" panose="020B0604020202020204" pitchFamily="34" charset="0"/>
              <a:buChar char="•"/>
            </a:pPr>
            <a:endParaRPr lang="pt-BR" sz="901" dirty="0"/>
          </a:p>
        </p:txBody>
      </p:sp>
      <p:sp>
        <p:nvSpPr>
          <p:cNvPr id="11" name="CaixaDeTexto 10"/>
          <p:cNvSpPr txBox="1"/>
          <p:nvPr/>
        </p:nvSpPr>
        <p:spPr>
          <a:xfrm>
            <a:off x="3917180" y="585300"/>
            <a:ext cx="3266465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050" b="1" dirty="0" smtClean="0"/>
              <a:t>1. Prós</a:t>
            </a:r>
            <a:endParaRPr lang="pt-BR" sz="1050" b="1" dirty="0"/>
          </a:p>
          <a:p>
            <a:endParaRPr lang="pt-BR" sz="1050" b="1" dirty="0"/>
          </a:p>
          <a:p>
            <a:r>
              <a:rPr lang="pt-BR" sz="1050" b="1" dirty="0"/>
              <a:t>Soluciona os seguintes problemas: </a:t>
            </a:r>
          </a:p>
          <a:p>
            <a:endParaRPr lang="pt-BR" sz="1050" b="1" dirty="0"/>
          </a:p>
          <a:p>
            <a:pPr marL="128708" indent="-128708">
              <a:buFont typeface="Arial" panose="020B0604020202020204" pitchFamily="34" charset="0"/>
              <a:buChar char="•"/>
            </a:pPr>
            <a:r>
              <a:rPr lang="pt-BR" sz="1050" dirty="0"/>
              <a:t>Falta de monitoração pró ativa de hardware;</a:t>
            </a:r>
          </a:p>
          <a:p>
            <a:pPr marL="128708" indent="-128708">
              <a:buFont typeface="Arial" panose="020B0604020202020204" pitchFamily="34" charset="0"/>
              <a:buChar char="•"/>
            </a:pPr>
            <a:r>
              <a:rPr lang="pt-BR" sz="1050" dirty="0"/>
              <a:t>Elimina a possibilidade de perda de dados por falta de visibilidade do ambiente;</a:t>
            </a:r>
          </a:p>
          <a:p>
            <a:pPr marL="128708" indent="-128708">
              <a:buFont typeface="Arial" panose="020B0604020202020204" pitchFamily="34" charset="0"/>
              <a:buChar char="•"/>
            </a:pPr>
            <a:r>
              <a:rPr lang="pt-BR" sz="1050" dirty="0"/>
              <a:t>Mantem a monitoração centralizada no </a:t>
            </a:r>
            <a:r>
              <a:rPr lang="pt-BR" sz="1050" dirty="0" err="1"/>
              <a:t>Zabixx</a:t>
            </a:r>
            <a:endParaRPr lang="pt-BR" sz="1050" dirty="0"/>
          </a:p>
          <a:p>
            <a:pPr marL="128708" indent="-128708">
              <a:buFont typeface="Arial" panose="020B0604020202020204" pitchFamily="34" charset="0"/>
              <a:buChar char="•"/>
            </a:pPr>
            <a:r>
              <a:rPr lang="pt-BR" sz="1050" dirty="0"/>
              <a:t>Permite a monitoração de </a:t>
            </a:r>
            <a:r>
              <a:rPr lang="pt-BR" sz="1050" dirty="0" err="1"/>
              <a:t>devices</a:t>
            </a:r>
            <a:r>
              <a:rPr lang="pt-BR" sz="1050" dirty="0"/>
              <a:t> de outros fabricantes</a:t>
            </a:r>
          </a:p>
          <a:p>
            <a:endParaRPr lang="pt-BR" sz="1050" dirty="0"/>
          </a:p>
          <a:p>
            <a:r>
              <a:rPr lang="pt-BR" sz="1050" b="1" dirty="0"/>
              <a:t>Ganhos</a:t>
            </a:r>
          </a:p>
          <a:p>
            <a:endParaRPr lang="pt-BR" sz="1050" dirty="0"/>
          </a:p>
          <a:p>
            <a:pPr marL="128708" indent="-128708">
              <a:buFont typeface="Arial" panose="020B0604020202020204" pitchFamily="34" charset="0"/>
              <a:buChar char="•"/>
            </a:pPr>
            <a:r>
              <a:rPr lang="pt-BR" sz="1050" dirty="0"/>
              <a:t>Uso efetivo do contrato em servidores que o possuem;</a:t>
            </a:r>
          </a:p>
          <a:p>
            <a:pPr marL="128708" indent="-128708">
              <a:buFont typeface="Arial" panose="020B0604020202020204" pitchFamily="34" charset="0"/>
              <a:buChar char="•"/>
            </a:pPr>
            <a:r>
              <a:rPr lang="pt-BR" sz="1050" dirty="0"/>
              <a:t>Aquisição de conhecimento interno para a manutenção da ferramenta;</a:t>
            </a:r>
          </a:p>
          <a:p>
            <a:pPr marL="128708" indent="-128708">
              <a:buFont typeface="Arial" panose="020B0604020202020204" pitchFamily="34" charset="0"/>
              <a:buChar char="•"/>
            </a:pPr>
            <a:r>
              <a:rPr lang="pt-BR" sz="1050" dirty="0"/>
              <a:t>Efetiva monitoração pró ativa da saúde do ambiente (Hardware)</a:t>
            </a:r>
          </a:p>
          <a:p>
            <a:pPr marL="128708" indent="-128708">
              <a:buFont typeface="Arial" panose="020B0604020202020204" pitchFamily="34" charset="0"/>
              <a:buChar char="•"/>
            </a:pPr>
            <a:r>
              <a:rPr lang="pt-BR" sz="1050" dirty="0"/>
              <a:t>Inventário do ambiente incluindo </a:t>
            </a:r>
            <a:r>
              <a:rPr lang="pt-BR" sz="1050" dirty="0" err="1"/>
              <a:t>capacity</a:t>
            </a:r>
            <a:r>
              <a:rPr lang="pt-BR" sz="1050" dirty="0"/>
              <a:t>;</a:t>
            </a:r>
          </a:p>
          <a:p>
            <a:endParaRPr lang="pt-BR" sz="1050" b="1" dirty="0"/>
          </a:p>
          <a:p>
            <a:r>
              <a:rPr lang="pt-BR" sz="1050" b="1" dirty="0"/>
              <a:t>2</a:t>
            </a:r>
            <a:r>
              <a:rPr lang="pt-BR" sz="1050" b="1" dirty="0" smtClean="0"/>
              <a:t>. Contras</a:t>
            </a:r>
            <a:endParaRPr lang="pt-BR" sz="1050" b="1" dirty="0"/>
          </a:p>
          <a:p>
            <a:pPr marL="128708" indent="-128708">
              <a:buFont typeface="Arial" panose="020B0604020202020204" pitchFamily="34" charset="0"/>
              <a:buChar char="•"/>
            </a:pPr>
            <a:endParaRPr lang="pt-BR" sz="1050" dirty="0"/>
          </a:p>
          <a:p>
            <a:pPr marL="128708" indent="-128708">
              <a:buFont typeface="Arial" panose="020B0604020202020204" pitchFamily="34" charset="0"/>
              <a:buChar char="•"/>
            </a:pPr>
            <a:r>
              <a:rPr lang="pt-BR" sz="1050" dirty="0"/>
              <a:t>Mais um sistema a ser operado;</a:t>
            </a:r>
          </a:p>
        </p:txBody>
      </p:sp>
      <p:sp>
        <p:nvSpPr>
          <p:cNvPr id="3" name="Retângulo 2"/>
          <p:cNvSpPr/>
          <p:nvPr/>
        </p:nvSpPr>
        <p:spPr>
          <a:xfrm>
            <a:off x="4666932" y="4880963"/>
            <a:ext cx="4555742" cy="2194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826" dirty="0"/>
              <a:t>*Solução elaborada pelos times Engenharia IT/ CSE / Engenharia </a:t>
            </a:r>
          </a:p>
        </p:txBody>
      </p:sp>
      <p:pic>
        <p:nvPicPr>
          <p:cNvPr id="4" name="Picture 2" descr="http://zh.community.dell.com/resized-image.ashx/__size/550x0/__key/communityserver-wikis-components-files/00-00-00-00-46/7120._3462145C_OpenManage-Essentials_08FF_OME_09FFFB7CDF7EA17B06745759F64E8269C889_.JPG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90945" y="1636668"/>
            <a:ext cx="2296720" cy="16745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809837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21333" y="289005"/>
            <a:ext cx="1603348" cy="291323"/>
          </a:xfrm>
          <a:prstGeom prst="rect">
            <a:avLst/>
          </a:prstGeom>
        </p:spPr>
      </p:pic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780" t="78172" r="18395" b="12686"/>
          <a:stretch/>
        </p:blipFill>
        <p:spPr bwMode="auto">
          <a:xfrm>
            <a:off x="8188658" y="4384319"/>
            <a:ext cx="955343" cy="7639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1" descr="t03-02.jpg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1368" b="84909"/>
          <a:stretch/>
        </p:blipFill>
        <p:spPr>
          <a:xfrm>
            <a:off x="0" y="0"/>
            <a:ext cx="789296" cy="776935"/>
          </a:xfrm>
          <a:prstGeom prst="rect">
            <a:avLst/>
          </a:prstGeom>
        </p:spPr>
      </p:pic>
      <p:sp>
        <p:nvSpPr>
          <p:cNvPr id="2" name="CaixaDeTexto 1"/>
          <p:cNvSpPr txBox="1"/>
          <p:nvPr/>
        </p:nvSpPr>
        <p:spPr>
          <a:xfrm>
            <a:off x="265065" y="580328"/>
            <a:ext cx="4175071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b="1" dirty="0" smtClean="0"/>
              <a:t>Problemas: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200" dirty="0" smtClean="0"/>
              <a:t>Perda de gravação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200" dirty="0" smtClean="0"/>
              <a:t>Não grava</a:t>
            </a:r>
            <a:endParaRPr lang="pt-BR" sz="1200" dirty="0"/>
          </a:p>
          <a:p>
            <a:endParaRPr lang="pt-BR" sz="1200" dirty="0" smtClean="0"/>
          </a:p>
          <a:p>
            <a:r>
              <a:rPr lang="pt-BR" sz="1200" b="1" dirty="0" smtClean="0"/>
              <a:t>Efeito: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200" dirty="0" smtClean="0"/>
              <a:t>Perda financeira (Informação disponível R$22M - JAN~JUN)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200" dirty="0" smtClean="0"/>
              <a:t>Perda de credibilidade</a:t>
            </a:r>
          </a:p>
          <a:p>
            <a:endParaRPr lang="pt-BR" sz="1200" dirty="0"/>
          </a:p>
          <a:p>
            <a:r>
              <a:rPr lang="pt-BR" sz="1200" b="1" dirty="0" smtClean="0"/>
              <a:t>Solução definitiva: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200" dirty="0" smtClean="0"/>
              <a:t>Utilizar polo de gravadores Contax 2.0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pt-BR" sz="1200" dirty="0" smtClean="0"/>
              <a:t>Dispõe de 3K licenças de gravação (Sem uso)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pt-BR" sz="1200" dirty="0" smtClean="0"/>
              <a:t>200TB de </a:t>
            </a:r>
            <a:r>
              <a:rPr lang="pt-BR" sz="1200" dirty="0" err="1" smtClean="0"/>
              <a:t>Storage</a:t>
            </a:r>
            <a:r>
              <a:rPr lang="pt-BR" sz="1200" dirty="0" smtClean="0"/>
              <a:t> centralizado (*3K P.A. em 1 Ano)</a:t>
            </a:r>
          </a:p>
          <a:p>
            <a:pPr lvl="1"/>
            <a:endParaRPr lang="pt-BR" sz="1200" dirty="0" smtClean="0"/>
          </a:p>
          <a:p>
            <a:r>
              <a:rPr lang="pt-BR" sz="1200" b="1" dirty="0" smtClean="0"/>
              <a:t>Investimento P/ 3k P.A.: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200" dirty="0" smtClean="0"/>
              <a:t>Compra de </a:t>
            </a:r>
            <a:r>
              <a:rPr lang="pt-BR" sz="1200" dirty="0" err="1" smtClean="0"/>
              <a:t>loggers</a:t>
            </a:r>
            <a:r>
              <a:rPr lang="pt-BR" sz="1200" dirty="0" smtClean="0"/>
              <a:t> para captura do áudio no site (R$25k P/ 500 P.A.);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200" dirty="0" smtClean="0"/>
              <a:t>Equipamentos de Rede para gravadores (A avaliar);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BR" sz="1200" dirty="0"/>
          </a:p>
          <a:p>
            <a:r>
              <a:rPr lang="pt-BR" sz="1200" b="1" dirty="0" smtClean="0"/>
              <a:t>Investimento migrar restante do parque 6.5K P.A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200" dirty="0" smtClean="0"/>
              <a:t>Negociar upgrade e migração das licenças da plataforma obsoleta para o polo Contax 2.0.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200" dirty="0" smtClean="0"/>
              <a:t>Upgrade de </a:t>
            </a:r>
            <a:r>
              <a:rPr lang="pt-BR" sz="1200" dirty="0" err="1" smtClean="0"/>
              <a:t>Storage</a:t>
            </a:r>
            <a:r>
              <a:rPr lang="pt-BR" sz="1200" dirty="0" smtClean="0"/>
              <a:t>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200" dirty="0" smtClean="0"/>
              <a:t>Compra de </a:t>
            </a:r>
            <a:r>
              <a:rPr lang="pt-BR" sz="1200" dirty="0" err="1" smtClean="0"/>
              <a:t>loggers</a:t>
            </a:r>
            <a:r>
              <a:rPr lang="pt-BR" sz="1200" dirty="0" smtClean="0"/>
              <a:t>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200" dirty="0" smtClean="0"/>
              <a:t>Equipamentos de Rede;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BR" sz="1200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BR" sz="1200" dirty="0" smtClean="0"/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pt-BR" sz="1200" dirty="0" smtClean="0"/>
          </a:p>
        </p:txBody>
      </p:sp>
      <p:sp>
        <p:nvSpPr>
          <p:cNvPr id="11" name="CaixaDeTexto 10"/>
          <p:cNvSpPr txBox="1"/>
          <p:nvPr/>
        </p:nvSpPr>
        <p:spPr>
          <a:xfrm>
            <a:off x="4705202" y="604903"/>
            <a:ext cx="4351258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b="1" dirty="0" smtClean="0"/>
              <a:t>1.	Prós</a:t>
            </a:r>
          </a:p>
          <a:p>
            <a:endParaRPr lang="pt-BR" sz="1200" b="1" dirty="0" smtClean="0"/>
          </a:p>
          <a:p>
            <a:r>
              <a:rPr lang="pt-BR" sz="1200" b="1" dirty="0" smtClean="0"/>
              <a:t>Soluciona os seguintes problemas: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sz="1200" dirty="0" smtClean="0"/>
              <a:t>Perda de gravação por armazenamento obsoleto;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sz="1200" dirty="0" smtClean="0"/>
              <a:t>Falta de contrato de manutenção com fornecedor;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sz="1200" dirty="0" smtClean="0"/>
              <a:t>Elimina a necessidade de </a:t>
            </a:r>
            <a:r>
              <a:rPr lang="pt-BR" sz="1200" dirty="0" err="1" smtClean="0"/>
              <a:t>retrieval</a:t>
            </a:r>
            <a:r>
              <a:rPr lang="pt-BR" sz="1200" dirty="0" smtClean="0"/>
              <a:t> por fita;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sz="1200" dirty="0" smtClean="0"/>
              <a:t>Bugs das plataformas atuais ( 8.x/3.0/3.1/3.4/3.5);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sz="1200" dirty="0" smtClean="0"/>
              <a:t>Permite a busca de chamadas por </a:t>
            </a:r>
            <a:r>
              <a:rPr lang="pt-BR" sz="1200" dirty="0" err="1" smtClean="0"/>
              <a:t>login</a:t>
            </a:r>
            <a:r>
              <a:rPr lang="pt-BR" sz="1200" dirty="0" smtClean="0"/>
              <a:t> </a:t>
            </a:r>
            <a:r>
              <a:rPr lang="pt-BR" sz="1200" dirty="0" err="1" smtClean="0"/>
              <a:t>full</a:t>
            </a:r>
            <a:r>
              <a:rPr lang="pt-BR" sz="1200" dirty="0" smtClean="0"/>
              <a:t>;</a:t>
            </a:r>
          </a:p>
          <a:p>
            <a:endParaRPr lang="pt-BR" sz="1200" dirty="0" smtClean="0"/>
          </a:p>
          <a:p>
            <a:r>
              <a:rPr lang="pt-BR" sz="1200" b="1" dirty="0" smtClean="0"/>
              <a:t>Ganhos</a:t>
            </a:r>
            <a:endParaRPr lang="pt-BR" sz="1200" dirty="0" smtClean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sz="1200" dirty="0" smtClean="0"/>
              <a:t>Reduz </a:t>
            </a:r>
            <a:r>
              <a:rPr lang="pt-BR" sz="1200" dirty="0"/>
              <a:t>a </a:t>
            </a:r>
            <a:r>
              <a:rPr lang="pt-BR" sz="1200" dirty="0" smtClean="0"/>
              <a:t>carga elétrica </a:t>
            </a:r>
            <a:r>
              <a:rPr lang="pt-BR" sz="1200" dirty="0"/>
              <a:t>no </a:t>
            </a:r>
            <a:r>
              <a:rPr lang="pt-BR" sz="1200" dirty="0" err="1" smtClean="0"/>
              <a:t>DataCenter</a:t>
            </a:r>
            <a:r>
              <a:rPr lang="pt-BR" sz="1200" dirty="0" smtClean="0"/>
              <a:t>;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sz="1200" dirty="0" smtClean="0"/>
              <a:t>Gerenciamento centralizado;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sz="1200" dirty="0" smtClean="0"/>
              <a:t>Padronização do Parque;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sz="1200" dirty="0" smtClean="0"/>
              <a:t>Maior disponibilidade;</a:t>
            </a:r>
            <a:endParaRPr lang="pt-BR" sz="1200" b="1" dirty="0" smtClean="0"/>
          </a:p>
          <a:p>
            <a:pPr marL="228600" indent="-228600">
              <a:buFont typeface="+mj-lt"/>
              <a:buAutoNum type="arabicPeriod"/>
            </a:pPr>
            <a:endParaRPr lang="pt-BR" sz="1200" b="1" dirty="0" smtClean="0"/>
          </a:p>
          <a:p>
            <a:r>
              <a:rPr lang="pt-BR" sz="1200" b="1" dirty="0" smtClean="0"/>
              <a:t>2.	Contras</a:t>
            </a:r>
            <a:endParaRPr lang="pt-BR" sz="1200" b="1" dirty="0"/>
          </a:p>
          <a:p>
            <a:pPr marL="171450" indent="-171450">
              <a:buFont typeface="Arial" panose="020B0604020202020204" pitchFamily="34" charset="0"/>
              <a:buChar char="•"/>
            </a:pPr>
            <a:endParaRPr lang="pt-BR" sz="1200" dirty="0" smtClean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sz="1200" dirty="0" smtClean="0"/>
              <a:t>Aumenta a necessidade de recursos de rede;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sz="1200" dirty="0" smtClean="0"/>
              <a:t>Demanda investimento;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sz="1200" dirty="0" smtClean="0"/>
              <a:t>Médio prazo de implementação;</a:t>
            </a:r>
          </a:p>
        </p:txBody>
      </p:sp>
      <p:sp>
        <p:nvSpPr>
          <p:cNvPr id="3" name="Retângulo 2"/>
          <p:cNvSpPr/>
          <p:nvPr/>
        </p:nvSpPr>
        <p:spPr>
          <a:xfrm>
            <a:off x="4698458" y="4880964"/>
            <a:ext cx="6068704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100" dirty="0" smtClean="0"/>
              <a:t>*Solução elaborada pelos times Engenharia IT/ CSE / Engenharia </a:t>
            </a:r>
            <a:endParaRPr lang="pt-BR" sz="1100" dirty="0"/>
          </a:p>
        </p:txBody>
      </p:sp>
      <p:sp>
        <p:nvSpPr>
          <p:cNvPr id="4" name="Retângulo de cantos arredondados 3"/>
          <p:cNvSpPr/>
          <p:nvPr/>
        </p:nvSpPr>
        <p:spPr>
          <a:xfrm>
            <a:off x="164829" y="566950"/>
            <a:ext cx="8550613" cy="4415972"/>
          </a:xfrm>
          <a:prstGeom prst="roundRect">
            <a:avLst/>
          </a:prstGeom>
          <a:solidFill>
            <a:srgbClr val="FFFFFF">
              <a:alpha val="94902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5" name="CaixaDeTexto 4"/>
          <p:cNvSpPr txBox="1"/>
          <p:nvPr/>
        </p:nvSpPr>
        <p:spPr>
          <a:xfrm>
            <a:off x="3070596" y="566950"/>
            <a:ext cx="27985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b="1" dirty="0" smtClean="0"/>
              <a:t>BUSINESS PLAN 3K LIC NICE</a:t>
            </a:r>
          </a:p>
        </p:txBody>
      </p:sp>
      <p:sp>
        <p:nvSpPr>
          <p:cNvPr id="6" name="CaixaDeTexto 5"/>
          <p:cNvSpPr txBox="1"/>
          <p:nvPr/>
        </p:nvSpPr>
        <p:spPr>
          <a:xfrm>
            <a:off x="2039091" y="300128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pt-BR" dirty="0"/>
          </a:p>
        </p:txBody>
      </p:sp>
      <p:grpSp>
        <p:nvGrpSpPr>
          <p:cNvPr id="24" name="Grupo 23"/>
          <p:cNvGrpSpPr/>
          <p:nvPr/>
        </p:nvGrpSpPr>
        <p:grpSpPr>
          <a:xfrm>
            <a:off x="581636" y="1052996"/>
            <a:ext cx="2060221" cy="3537804"/>
            <a:chOff x="581636" y="1052996"/>
            <a:chExt cx="2060221" cy="3537804"/>
          </a:xfrm>
        </p:grpSpPr>
        <p:grpSp>
          <p:nvGrpSpPr>
            <p:cNvPr id="18" name="Grupo 17"/>
            <p:cNvGrpSpPr/>
            <p:nvPr/>
          </p:nvGrpSpPr>
          <p:grpSpPr>
            <a:xfrm>
              <a:off x="582132" y="1052996"/>
              <a:ext cx="2059725" cy="3537804"/>
              <a:chOff x="651753" y="1127158"/>
              <a:chExt cx="2059725" cy="3537804"/>
            </a:xfrm>
          </p:grpSpPr>
          <p:sp>
            <p:nvSpPr>
              <p:cNvPr id="19" name="Retângulo de cantos arredondados 18"/>
              <p:cNvSpPr/>
              <p:nvPr/>
            </p:nvSpPr>
            <p:spPr>
              <a:xfrm>
                <a:off x="651753" y="1127158"/>
                <a:ext cx="2059725" cy="3537804"/>
              </a:xfrm>
              <a:prstGeom prst="roundRect">
                <a:avLst/>
              </a:prstGeom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dirty="0"/>
              </a:p>
            </p:txBody>
          </p:sp>
          <p:sp>
            <p:nvSpPr>
              <p:cNvPr id="20" name="CaixaDeTexto 19"/>
              <p:cNvSpPr txBox="1"/>
              <p:nvPr/>
            </p:nvSpPr>
            <p:spPr>
              <a:xfrm>
                <a:off x="651753" y="1197404"/>
                <a:ext cx="205972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dirty="0" smtClean="0">
                    <a:solidFill>
                      <a:schemeClr val="bg1"/>
                    </a:solidFill>
                  </a:rPr>
                  <a:t>Cliente Vivo</a:t>
                </a:r>
                <a:endParaRPr lang="pt-BR" dirty="0">
                  <a:solidFill>
                    <a:schemeClr val="bg1"/>
                  </a:solidFill>
                </a:endParaRPr>
              </a:p>
            </p:txBody>
          </p:sp>
        </p:grpSp>
        <p:sp>
          <p:nvSpPr>
            <p:cNvPr id="21" name="CaixaDeTexto 20"/>
            <p:cNvSpPr txBox="1"/>
            <p:nvPr/>
          </p:nvSpPr>
          <p:spPr>
            <a:xfrm>
              <a:off x="581636" y="1517621"/>
              <a:ext cx="2059725" cy="221599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b="1" dirty="0" smtClean="0">
                  <a:solidFill>
                    <a:schemeClr val="bg1"/>
                  </a:solidFill>
                </a:rPr>
                <a:t>P.A = 3.001</a:t>
              </a:r>
            </a:p>
            <a:p>
              <a:endParaRPr lang="pt-BR" sz="1000" dirty="0" smtClean="0">
                <a:solidFill>
                  <a:schemeClr val="bg1"/>
                </a:solidFill>
              </a:endParaRPr>
            </a:p>
            <a:p>
              <a:pPr algn="ctr"/>
              <a:r>
                <a:rPr lang="pt-BR" sz="1600" b="1" u="sng" dirty="0" smtClean="0">
                  <a:solidFill>
                    <a:schemeClr val="bg1"/>
                  </a:solidFill>
                </a:rPr>
                <a:t>Sites</a:t>
              </a:r>
            </a:p>
            <a:p>
              <a:r>
                <a:rPr lang="pt-BR" sz="1600" dirty="0" err="1">
                  <a:solidFill>
                    <a:schemeClr val="bg1"/>
                  </a:solidFill>
                </a:rPr>
                <a:t>Jpasa</a:t>
              </a:r>
              <a:r>
                <a:rPr lang="pt-BR" sz="1600" dirty="0">
                  <a:solidFill>
                    <a:schemeClr val="bg1"/>
                  </a:solidFill>
                </a:rPr>
                <a:t>			   252</a:t>
              </a:r>
              <a:endParaRPr lang="pt-BR" sz="1600" dirty="0" smtClean="0">
                <a:solidFill>
                  <a:schemeClr val="bg1"/>
                </a:solidFill>
              </a:endParaRPr>
            </a:p>
            <a:p>
              <a:r>
                <a:rPr lang="pt-BR" sz="1600" dirty="0" err="1" smtClean="0">
                  <a:solidFill>
                    <a:schemeClr val="bg1"/>
                  </a:solidFill>
                </a:rPr>
                <a:t>Hicham</a:t>
              </a:r>
              <a:r>
                <a:rPr lang="pt-BR" sz="1600" dirty="0">
                  <a:solidFill>
                    <a:schemeClr val="bg1"/>
                  </a:solidFill>
                </a:rPr>
                <a:t>		   264</a:t>
              </a:r>
            </a:p>
            <a:p>
              <a:r>
                <a:rPr lang="pt-BR" sz="1600" dirty="0" smtClean="0">
                  <a:solidFill>
                    <a:schemeClr val="bg1"/>
                  </a:solidFill>
                </a:rPr>
                <a:t>Joinville		   450</a:t>
              </a:r>
            </a:p>
            <a:p>
              <a:r>
                <a:rPr lang="pt-BR" sz="1600" dirty="0" smtClean="0">
                  <a:solidFill>
                    <a:schemeClr val="bg1"/>
                  </a:solidFill>
                </a:rPr>
                <a:t>Lapa			   985</a:t>
              </a:r>
            </a:p>
            <a:p>
              <a:r>
                <a:rPr lang="pt-BR" sz="1600" dirty="0" smtClean="0">
                  <a:solidFill>
                    <a:schemeClr val="bg1"/>
                  </a:solidFill>
                </a:rPr>
                <a:t>Antártica		1.050</a:t>
              </a:r>
            </a:p>
            <a:p>
              <a:endParaRPr lang="pt-BR" sz="1400" dirty="0" smtClean="0">
                <a:solidFill>
                  <a:schemeClr val="bg1"/>
                </a:solidFill>
              </a:endParaRPr>
            </a:p>
          </p:txBody>
        </p:sp>
      </p:grpSp>
      <p:sp>
        <p:nvSpPr>
          <p:cNvPr id="23" name="CaixaDeTexto 22"/>
          <p:cNvSpPr txBox="1"/>
          <p:nvPr/>
        </p:nvSpPr>
        <p:spPr>
          <a:xfrm>
            <a:off x="664346" y="3364708"/>
            <a:ext cx="2054657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pt-BR" sz="1200" dirty="0" smtClean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200" dirty="0" smtClean="0">
                <a:solidFill>
                  <a:schemeClr val="bg1"/>
                </a:solidFill>
              </a:rPr>
              <a:t>08/2015 </a:t>
            </a:r>
            <a:r>
              <a:rPr lang="pt-BR" sz="1200" dirty="0">
                <a:solidFill>
                  <a:schemeClr val="bg1"/>
                </a:solidFill>
              </a:rPr>
              <a:t>= </a:t>
            </a:r>
            <a:r>
              <a:rPr lang="pt-BR" sz="1200" dirty="0" smtClean="0">
                <a:solidFill>
                  <a:schemeClr val="bg1"/>
                </a:solidFill>
              </a:rPr>
              <a:t>C.R. </a:t>
            </a:r>
            <a:r>
              <a:rPr lang="pt-BR" sz="1200" dirty="0">
                <a:solidFill>
                  <a:schemeClr val="bg1"/>
                </a:solidFill>
              </a:rPr>
              <a:t>75%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200" dirty="0">
                <a:solidFill>
                  <a:schemeClr val="bg1"/>
                </a:solidFill>
              </a:rPr>
              <a:t>09/2015 = C.R. 67%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200" dirty="0">
                <a:solidFill>
                  <a:schemeClr val="bg1"/>
                </a:solidFill>
              </a:rPr>
              <a:t>Maior </a:t>
            </a:r>
            <a:r>
              <a:rPr lang="pt-BR" sz="1200" dirty="0" smtClean="0">
                <a:solidFill>
                  <a:schemeClr val="bg1"/>
                </a:solidFill>
              </a:rPr>
              <a:t>demandante </a:t>
            </a:r>
            <a:r>
              <a:rPr lang="pt-BR" sz="1200" dirty="0">
                <a:solidFill>
                  <a:schemeClr val="bg1"/>
                </a:solidFill>
              </a:rPr>
              <a:t>de </a:t>
            </a:r>
            <a:r>
              <a:rPr lang="pt-BR" sz="1200" dirty="0" err="1" smtClean="0">
                <a:solidFill>
                  <a:schemeClr val="bg1"/>
                </a:solidFill>
              </a:rPr>
              <a:t>retrieval</a:t>
            </a:r>
            <a:r>
              <a:rPr lang="pt-BR" sz="1200" dirty="0" smtClean="0">
                <a:solidFill>
                  <a:schemeClr val="bg1"/>
                </a:solidFill>
              </a:rPr>
              <a:t> (55% da demanda)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BR" sz="800" dirty="0" smtClean="0">
              <a:solidFill>
                <a:schemeClr val="bg1"/>
              </a:solidFill>
            </a:endParaRPr>
          </a:p>
          <a:p>
            <a:r>
              <a:rPr lang="pt-BR" sz="1200" dirty="0" smtClean="0"/>
              <a:t>C.R. = Chamados de </a:t>
            </a:r>
            <a:r>
              <a:rPr lang="pt-BR" sz="1200" dirty="0" err="1" smtClean="0"/>
              <a:t>retrieval</a:t>
            </a:r>
            <a:r>
              <a:rPr lang="pt-BR" sz="1200" dirty="0" smtClean="0"/>
              <a:t> recuperados</a:t>
            </a:r>
            <a:endParaRPr lang="pt-BR" sz="1200" dirty="0"/>
          </a:p>
          <a:p>
            <a:endParaRPr lang="pt-BR" sz="1200" dirty="0"/>
          </a:p>
        </p:txBody>
      </p:sp>
      <p:grpSp>
        <p:nvGrpSpPr>
          <p:cNvPr id="29" name="Grupo 28"/>
          <p:cNvGrpSpPr/>
          <p:nvPr/>
        </p:nvGrpSpPr>
        <p:grpSpPr>
          <a:xfrm>
            <a:off x="3143084" y="1052996"/>
            <a:ext cx="2372507" cy="3537804"/>
            <a:chOff x="3143084" y="1052996"/>
            <a:chExt cx="2372507" cy="3537804"/>
          </a:xfrm>
        </p:grpSpPr>
        <p:grpSp>
          <p:nvGrpSpPr>
            <p:cNvPr id="15" name="Grupo 14"/>
            <p:cNvGrpSpPr/>
            <p:nvPr/>
          </p:nvGrpSpPr>
          <p:grpSpPr>
            <a:xfrm>
              <a:off x="3143084" y="1052996"/>
              <a:ext cx="2372507" cy="3537804"/>
              <a:chOff x="651753" y="1127158"/>
              <a:chExt cx="2059725" cy="3537804"/>
            </a:xfrm>
          </p:grpSpPr>
          <p:sp>
            <p:nvSpPr>
              <p:cNvPr id="16" name="Retângulo de cantos arredondados 15"/>
              <p:cNvSpPr/>
              <p:nvPr/>
            </p:nvSpPr>
            <p:spPr>
              <a:xfrm>
                <a:off x="651753" y="1127158"/>
                <a:ext cx="2059725" cy="3537804"/>
              </a:xfrm>
              <a:prstGeom prst="roundRect">
                <a:avLst/>
              </a:prstGeom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dirty="0"/>
              </a:p>
            </p:txBody>
          </p:sp>
          <p:sp>
            <p:nvSpPr>
              <p:cNvPr id="17" name="CaixaDeTexto 16"/>
              <p:cNvSpPr txBox="1"/>
              <p:nvPr/>
            </p:nvSpPr>
            <p:spPr>
              <a:xfrm>
                <a:off x="651753" y="1197404"/>
                <a:ext cx="205972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dirty="0" smtClean="0">
                    <a:solidFill>
                      <a:schemeClr val="bg1"/>
                    </a:solidFill>
                  </a:rPr>
                  <a:t>Investimento</a:t>
                </a:r>
                <a:endParaRPr lang="pt-BR" dirty="0">
                  <a:solidFill>
                    <a:schemeClr val="bg1"/>
                  </a:solidFill>
                </a:endParaRPr>
              </a:p>
            </p:txBody>
          </p:sp>
        </p:grpSp>
        <p:sp>
          <p:nvSpPr>
            <p:cNvPr id="26" name="CaixaDeTexto 25"/>
            <p:cNvSpPr txBox="1"/>
            <p:nvPr/>
          </p:nvSpPr>
          <p:spPr>
            <a:xfrm>
              <a:off x="3143084" y="1516117"/>
              <a:ext cx="2372507" cy="296234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1600" b="1" dirty="0" smtClean="0">
                  <a:solidFill>
                    <a:schemeClr val="bg1"/>
                  </a:solidFill>
                </a:rPr>
                <a:t>HW/SW = R$ 245K 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pt-BR" sz="1600" dirty="0" smtClean="0">
                  <a:solidFill>
                    <a:schemeClr val="bg1"/>
                  </a:solidFill>
                </a:rPr>
                <a:t>7 Servidores 	(R$175)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pt-BR" sz="1600" dirty="0" smtClean="0">
                  <a:solidFill>
                    <a:schemeClr val="bg1"/>
                  </a:solidFill>
                </a:rPr>
                <a:t>5 Switches 	(R$70K)</a:t>
              </a:r>
            </a:p>
            <a:p>
              <a:endParaRPr lang="pt-BR" sz="1050" dirty="0" smtClean="0">
                <a:solidFill>
                  <a:schemeClr val="bg1"/>
                </a:solidFill>
              </a:endParaRPr>
            </a:p>
            <a:p>
              <a:r>
                <a:rPr lang="pt-BR" sz="1600" b="1" dirty="0" smtClean="0">
                  <a:solidFill>
                    <a:schemeClr val="bg1"/>
                  </a:solidFill>
                </a:rPr>
                <a:t>PS = R$ 25K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pt-BR" sz="1600" dirty="0" smtClean="0">
                  <a:solidFill>
                    <a:schemeClr val="bg1"/>
                  </a:solidFill>
                </a:rPr>
                <a:t>Contax IT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pt-BR" sz="1600" dirty="0" smtClean="0">
                  <a:solidFill>
                    <a:schemeClr val="bg1"/>
                  </a:solidFill>
                </a:rPr>
                <a:t>Viagens</a:t>
              </a:r>
            </a:p>
            <a:p>
              <a:endParaRPr lang="pt-BR" sz="1200" dirty="0" smtClean="0">
                <a:solidFill>
                  <a:schemeClr val="bg1"/>
                </a:solidFill>
              </a:endParaRPr>
            </a:p>
            <a:p>
              <a:r>
                <a:rPr lang="pt-BR" sz="1600" b="1" dirty="0" smtClean="0">
                  <a:solidFill>
                    <a:schemeClr val="bg1"/>
                  </a:solidFill>
                </a:rPr>
                <a:t>Total = R$ 270K</a:t>
              </a:r>
            </a:p>
            <a:p>
              <a:endParaRPr lang="pt-BR" sz="800" b="1" dirty="0" smtClean="0">
                <a:solidFill>
                  <a:schemeClr val="bg1"/>
                </a:solidFill>
              </a:endParaRPr>
            </a:p>
            <a:p>
              <a:r>
                <a:rPr lang="pt-BR" sz="1400" dirty="0" err="1" smtClean="0">
                  <a:solidFill>
                    <a:schemeClr val="bg1"/>
                  </a:solidFill>
                </a:rPr>
                <a:t>Saving</a:t>
              </a:r>
              <a:r>
                <a:rPr lang="pt-BR" sz="1400" dirty="0" smtClean="0">
                  <a:solidFill>
                    <a:schemeClr val="bg1"/>
                  </a:solidFill>
                </a:rPr>
                <a:t> = R$ 28K Switches  em estoque</a:t>
              </a:r>
            </a:p>
            <a:p>
              <a:r>
                <a:rPr lang="pt-BR" sz="1600" b="1" dirty="0" smtClean="0">
                  <a:solidFill>
                    <a:schemeClr val="bg1"/>
                  </a:solidFill>
                </a:rPr>
                <a:t>Total c/ </a:t>
              </a:r>
              <a:r>
                <a:rPr lang="pt-BR" sz="1600" b="1" dirty="0" err="1" smtClean="0">
                  <a:solidFill>
                    <a:schemeClr val="bg1"/>
                  </a:solidFill>
                </a:rPr>
                <a:t>Saving</a:t>
              </a:r>
              <a:r>
                <a:rPr lang="pt-BR" sz="1600" b="1" dirty="0" smtClean="0">
                  <a:solidFill>
                    <a:schemeClr val="bg1"/>
                  </a:solidFill>
                </a:rPr>
                <a:t> = R$ 242K</a:t>
              </a:r>
            </a:p>
          </p:txBody>
        </p:sp>
      </p:grpSp>
      <p:grpSp>
        <p:nvGrpSpPr>
          <p:cNvPr id="27" name="Grupo 26"/>
          <p:cNvGrpSpPr/>
          <p:nvPr/>
        </p:nvGrpSpPr>
        <p:grpSpPr>
          <a:xfrm>
            <a:off x="6009512" y="1059062"/>
            <a:ext cx="2806165" cy="3537804"/>
            <a:chOff x="6009512" y="1059062"/>
            <a:chExt cx="2806165" cy="3537804"/>
          </a:xfrm>
        </p:grpSpPr>
        <p:grpSp>
          <p:nvGrpSpPr>
            <p:cNvPr id="13" name="Grupo 12"/>
            <p:cNvGrpSpPr/>
            <p:nvPr/>
          </p:nvGrpSpPr>
          <p:grpSpPr>
            <a:xfrm>
              <a:off x="6016818" y="1059062"/>
              <a:ext cx="2607863" cy="3537804"/>
              <a:chOff x="651753" y="1127158"/>
              <a:chExt cx="2059725" cy="3537804"/>
            </a:xfrm>
          </p:grpSpPr>
          <p:sp>
            <p:nvSpPr>
              <p:cNvPr id="7" name="Retângulo de cantos arredondados 6"/>
              <p:cNvSpPr/>
              <p:nvPr/>
            </p:nvSpPr>
            <p:spPr>
              <a:xfrm>
                <a:off x="651753" y="1127158"/>
                <a:ext cx="2059725" cy="3537804"/>
              </a:xfrm>
              <a:prstGeom prst="roundRect">
                <a:avLst/>
              </a:prstGeom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dirty="0"/>
              </a:p>
            </p:txBody>
          </p:sp>
          <p:sp>
            <p:nvSpPr>
              <p:cNvPr id="12" name="CaixaDeTexto 11"/>
              <p:cNvSpPr txBox="1"/>
              <p:nvPr/>
            </p:nvSpPr>
            <p:spPr>
              <a:xfrm>
                <a:off x="651753" y="1197404"/>
                <a:ext cx="205972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dirty="0" smtClean="0">
                    <a:solidFill>
                      <a:schemeClr val="bg1"/>
                    </a:solidFill>
                  </a:rPr>
                  <a:t>Histograma</a:t>
                </a:r>
                <a:endParaRPr lang="pt-BR" dirty="0">
                  <a:solidFill>
                    <a:schemeClr val="bg1"/>
                  </a:solidFill>
                </a:endParaRPr>
              </a:p>
            </p:txBody>
          </p:sp>
        </p:grpSp>
        <p:sp>
          <p:nvSpPr>
            <p:cNvPr id="28" name="CaixaDeTexto 27"/>
            <p:cNvSpPr txBox="1"/>
            <p:nvPr/>
          </p:nvSpPr>
          <p:spPr>
            <a:xfrm>
              <a:off x="6009512" y="1435051"/>
              <a:ext cx="2806165" cy="284693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1400" dirty="0" err="1" smtClean="0">
                  <a:solidFill>
                    <a:schemeClr val="bg1"/>
                  </a:solidFill>
                </a:rPr>
                <a:t>Kick</a:t>
              </a:r>
              <a:r>
                <a:rPr lang="pt-BR" sz="1400" dirty="0" smtClean="0">
                  <a:solidFill>
                    <a:schemeClr val="bg1"/>
                  </a:solidFill>
                </a:rPr>
                <a:t> off		- 19/10/15</a:t>
              </a:r>
            </a:p>
            <a:p>
              <a:r>
                <a:rPr lang="pt-BR" sz="1400" dirty="0" smtClean="0">
                  <a:solidFill>
                    <a:schemeClr val="bg1"/>
                  </a:solidFill>
                </a:rPr>
                <a:t>Negociações		- 19/10~23/10</a:t>
              </a:r>
              <a:endParaRPr lang="pt-BR" sz="1400" dirty="0">
                <a:solidFill>
                  <a:schemeClr val="bg1"/>
                </a:solidFill>
              </a:endParaRPr>
            </a:p>
            <a:p>
              <a:r>
                <a:rPr lang="pt-BR" sz="1400" dirty="0" smtClean="0">
                  <a:solidFill>
                    <a:schemeClr val="bg1"/>
                  </a:solidFill>
                </a:rPr>
                <a:t>P.C.			- 26/10~30/10</a:t>
              </a:r>
            </a:p>
            <a:p>
              <a:r>
                <a:rPr lang="pt-BR" sz="1400" dirty="0" smtClean="0">
                  <a:solidFill>
                    <a:schemeClr val="bg1"/>
                  </a:solidFill>
                </a:rPr>
                <a:t>Entrega/FT (45D.C)	- 10/12/2015</a:t>
              </a:r>
            </a:p>
            <a:p>
              <a:r>
                <a:rPr lang="pt-BR" sz="1400" dirty="0" smtClean="0">
                  <a:solidFill>
                    <a:schemeClr val="bg1"/>
                  </a:solidFill>
                </a:rPr>
                <a:t>Implementação	- 11/12~22/01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pt-BR" sz="1100" dirty="0" smtClean="0">
                  <a:solidFill>
                    <a:schemeClr val="bg1"/>
                  </a:solidFill>
                </a:rPr>
                <a:t>Antártica	- 11/12~18/12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pt-BR" sz="1100" dirty="0" smtClean="0">
                  <a:solidFill>
                    <a:schemeClr val="bg1"/>
                  </a:solidFill>
                </a:rPr>
                <a:t>Lapa		- 21/12~25/12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pt-BR" sz="1100" dirty="0" err="1" smtClean="0">
                  <a:solidFill>
                    <a:schemeClr val="bg1"/>
                  </a:solidFill>
                </a:rPr>
                <a:t>Hicham</a:t>
              </a:r>
              <a:r>
                <a:rPr lang="pt-BR" sz="1100" dirty="0" smtClean="0">
                  <a:solidFill>
                    <a:schemeClr val="bg1"/>
                  </a:solidFill>
                </a:rPr>
                <a:t>	- 04/01~08/01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pt-BR" sz="1100" dirty="0" smtClean="0">
                  <a:solidFill>
                    <a:schemeClr val="bg1"/>
                  </a:solidFill>
                </a:rPr>
                <a:t>Joinville	- 11/01~15/01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pt-BR" sz="1100" dirty="0" err="1" smtClean="0">
                  <a:solidFill>
                    <a:schemeClr val="bg1"/>
                  </a:solidFill>
                </a:rPr>
                <a:t>Jpasa</a:t>
              </a:r>
              <a:r>
                <a:rPr lang="pt-BR" sz="1100" dirty="0" smtClean="0">
                  <a:solidFill>
                    <a:schemeClr val="bg1"/>
                  </a:solidFill>
                </a:rPr>
                <a:t>	- 18/01~22/01</a:t>
              </a:r>
            </a:p>
            <a:p>
              <a:endParaRPr lang="pt-BR" sz="1200" dirty="0" smtClean="0">
                <a:solidFill>
                  <a:schemeClr val="bg1"/>
                </a:solidFill>
              </a:endParaRPr>
            </a:p>
            <a:p>
              <a:r>
                <a:rPr lang="pt-BR" sz="1400" dirty="0" smtClean="0">
                  <a:solidFill>
                    <a:schemeClr val="bg1"/>
                  </a:solidFill>
                </a:rPr>
                <a:t>Treinamento	  - 11/12~30/01</a:t>
              </a:r>
            </a:p>
            <a:p>
              <a:r>
                <a:rPr lang="pt-BR" sz="1400" dirty="0" smtClean="0">
                  <a:solidFill>
                    <a:schemeClr val="bg1"/>
                  </a:solidFill>
                </a:rPr>
                <a:t>Desativar obsoleto       - 30/01/16</a:t>
              </a:r>
            </a:p>
            <a:p>
              <a:r>
                <a:rPr lang="pt-BR" sz="1400" dirty="0" smtClean="0">
                  <a:solidFill>
                    <a:schemeClr val="bg1"/>
                  </a:solidFill>
                </a:rPr>
                <a:t>Desembolso de caixa   - 08/02/16</a:t>
              </a:r>
            </a:p>
          </p:txBody>
        </p:sp>
      </p:grpSp>
      <p:sp>
        <p:nvSpPr>
          <p:cNvPr id="30" name="Title 1"/>
          <p:cNvSpPr txBox="1">
            <a:spLocks/>
          </p:cNvSpPr>
          <p:nvPr/>
        </p:nvSpPr>
        <p:spPr>
          <a:xfrm>
            <a:off x="2189256" y="19928"/>
            <a:ext cx="4800928" cy="5604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lnSpcReduction="100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buClr>
                <a:srgbClr val="800000"/>
              </a:buClr>
            </a:pPr>
            <a:r>
              <a:rPr lang="pt-BR" sz="3200" b="1" dirty="0" smtClean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4.2 Projeto Gravação</a:t>
            </a:r>
            <a:endParaRPr lang="pt-BR" sz="1900" b="1" dirty="0" smtClean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638560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/>
      <p:bldP spid="23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21333" y="289005"/>
            <a:ext cx="1603348" cy="291323"/>
          </a:xfrm>
          <a:prstGeom prst="rect">
            <a:avLst/>
          </a:prstGeom>
        </p:spPr>
      </p:pic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780" t="78172" r="18395" b="12686"/>
          <a:stretch/>
        </p:blipFill>
        <p:spPr bwMode="auto">
          <a:xfrm>
            <a:off x="8188658" y="4384319"/>
            <a:ext cx="955343" cy="7639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1" descr="t03-02.jpg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1368" b="84909"/>
          <a:stretch/>
        </p:blipFill>
        <p:spPr>
          <a:xfrm>
            <a:off x="0" y="0"/>
            <a:ext cx="789296" cy="776935"/>
          </a:xfrm>
          <a:prstGeom prst="rect">
            <a:avLst/>
          </a:prstGeom>
        </p:spPr>
      </p:pic>
      <p:sp>
        <p:nvSpPr>
          <p:cNvPr id="2" name="CaixaDeTexto 1"/>
          <p:cNvSpPr txBox="1"/>
          <p:nvPr/>
        </p:nvSpPr>
        <p:spPr>
          <a:xfrm>
            <a:off x="265065" y="580328"/>
            <a:ext cx="4175071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b="1" dirty="0" smtClean="0"/>
              <a:t>Problemas: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200" dirty="0" smtClean="0"/>
              <a:t>Perda de gravação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200" dirty="0" smtClean="0"/>
              <a:t>Não grava</a:t>
            </a:r>
            <a:endParaRPr lang="pt-BR" sz="1200" dirty="0"/>
          </a:p>
          <a:p>
            <a:endParaRPr lang="pt-BR" sz="1200" dirty="0" smtClean="0"/>
          </a:p>
          <a:p>
            <a:r>
              <a:rPr lang="pt-BR" sz="1200" b="1" dirty="0" smtClean="0"/>
              <a:t>Efeito: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200" dirty="0" smtClean="0"/>
              <a:t>Perda financeira (Informação disponível R$22M - JAN~JUN)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200" dirty="0" smtClean="0"/>
              <a:t>Perda de credibilidade</a:t>
            </a:r>
          </a:p>
          <a:p>
            <a:endParaRPr lang="pt-BR" sz="1200" dirty="0"/>
          </a:p>
          <a:p>
            <a:r>
              <a:rPr lang="pt-BR" sz="1200" b="1" dirty="0" smtClean="0"/>
              <a:t>Solução definitiva: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200" dirty="0" smtClean="0"/>
              <a:t>Utilizar polo de gravadores Contax 2.0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pt-BR" sz="1200" dirty="0" smtClean="0"/>
              <a:t>Dispõe de 3K licenças de gravação (Sem uso)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pt-BR" sz="1200" dirty="0" smtClean="0"/>
              <a:t>200TB de </a:t>
            </a:r>
            <a:r>
              <a:rPr lang="pt-BR" sz="1200" dirty="0" err="1" smtClean="0"/>
              <a:t>Storage</a:t>
            </a:r>
            <a:r>
              <a:rPr lang="pt-BR" sz="1200" dirty="0" smtClean="0"/>
              <a:t> centralizado (*3K P.A. em 1 Ano)</a:t>
            </a:r>
          </a:p>
          <a:p>
            <a:pPr lvl="1"/>
            <a:endParaRPr lang="pt-BR" sz="1200" dirty="0" smtClean="0"/>
          </a:p>
          <a:p>
            <a:r>
              <a:rPr lang="pt-BR" sz="1200" b="1" dirty="0" smtClean="0"/>
              <a:t>Investimento P/ 3k P.A.: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200" dirty="0" smtClean="0"/>
              <a:t>Compra de </a:t>
            </a:r>
            <a:r>
              <a:rPr lang="pt-BR" sz="1200" dirty="0" err="1" smtClean="0"/>
              <a:t>loggers</a:t>
            </a:r>
            <a:r>
              <a:rPr lang="pt-BR" sz="1200" dirty="0" smtClean="0"/>
              <a:t> para captura do áudio no site (R$25k P/ 500 P.A.);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200" dirty="0" smtClean="0"/>
              <a:t>Equipamentos de Rede para gravadores (A avaliar);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BR" sz="1200" dirty="0"/>
          </a:p>
          <a:p>
            <a:r>
              <a:rPr lang="pt-BR" sz="1200" b="1" dirty="0" smtClean="0"/>
              <a:t>Investimento migrar restante do parque 6.5K P.A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200" dirty="0" smtClean="0"/>
              <a:t>Negociar upgrade e migração das licenças da plataforma obsoleta para o polo Contax 2.0.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200" dirty="0" smtClean="0"/>
              <a:t>Upgrade de </a:t>
            </a:r>
            <a:r>
              <a:rPr lang="pt-BR" sz="1200" dirty="0" err="1" smtClean="0"/>
              <a:t>Storage</a:t>
            </a:r>
            <a:r>
              <a:rPr lang="pt-BR" sz="1200" dirty="0" smtClean="0"/>
              <a:t>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200" dirty="0" smtClean="0"/>
              <a:t>Compra de </a:t>
            </a:r>
            <a:r>
              <a:rPr lang="pt-BR" sz="1200" dirty="0" err="1" smtClean="0"/>
              <a:t>loggers</a:t>
            </a:r>
            <a:r>
              <a:rPr lang="pt-BR" sz="1200" dirty="0" smtClean="0"/>
              <a:t>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200" dirty="0" smtClean="0"/>
              <a:t>Equipamentos de Rede;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BR" sz="1200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BR" sz="1200" dirty="0" smtClean="0"/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pt-BR" sz="1200" dirty="0" smtClean="0"/>
          </a:p>
        </p:txBody>
      </p:sp>
      <p:sp>
        <p:nvSpPr>
          <p:cNvPr id="11" name="CaixaDeTexto 10"/>
          <p:cNvSpPr txBox="1"/>
          <p:nvPr/>
        </p:nvSpPr>
        <p:spPr>
          <a:xfrm>
            <a:off x="4705202" y="604903"/>
            <a:ext cx="4351258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b="1" dirty="0" smtClean="0"/>
              <a:t>1.	Prós</a:t>
            </a:r>
          </a:p>
          <a:p>
            <a:endParaRPr lang="pt-BR" sz="1200" b="1" dirty="0" smtClean="0"/>
          </a:p>
          <a:p>
            <a:r>
              <a:rPr lang="pt-BR" sz="1200" b="1" dirty="0" smtClean="0"/>
              <a:t>Soluciona os seguintes problemas: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sz="1200" dirty="0" smtClean="0"/>
              <a:t>Perda de gravação por armazenamento obsoleto;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sz="1200" dirty="0" smtClean="0"/>
              <a:t>Falta de contrato de manutenção com fornecedor;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sz="1200" dirty="0" smtClean="0"/>
              <a:t>Elimina a necessidade de </a:t>
            </a:r>
            <a:r>
              <a:rPr lang="pt-BR" sz="1200" dirty="0" err="1" smtClean="0"/>
              <a:t>retrieval</a:t>
            </a:r>
            <a:r>
              <a:rPr lang="pt-BR" sz="1200" dirty="0" smtClean="0"/>
              <a:t> por fita;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sz="1200" dirty="0" smtClean="0"/>
              <a:t>Bugs das plataformas atuais ( 8.x/3.0/3.1/3.4/3.5);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sz="1200" dirty="0" smtClean="0"/>
              <a:t>Permite a busca de chamadas por </a:t>
            </a:r>
            <a:r>
              <a:rPr lang="pt-BR" sz="1200" dirty="0" err="1" smtClean="0"/>
              <a:t>login</a:t>
            </a:r>
            <a:r>
              <a:rPr lang="pt-BR" sz="1200" dirty="0" smtClean="0"/>
              <a:t> </a:t>
            </a:r>
            <a:r>
              <a:rPr lang="pt-BR" sz="1200" dirty="0" err="1" smtClean="0"/>
              <a:t>full</a:t>
            </a:r>
            <a:r>
              <a:rPr lang="pt-BR" sz="1200" dirty="0" smtClean="0"/>
              <a:t>;</a:t>
            </a:r>
          </a:p>
          <a:p>
            <a:endParaRPr lang="pt-BR" sz="1200" dirty="0" smtClean="0"/>
          </a:p>
          <a:p>
            <a:r>
              <a:rPr lang="pt-BR" sz="1200" b="1" dirty="0" smtClean="0"/>
              <a:t>Ganhos</a:t>
            </a:r>
            <a:endParaRPr lang="pt-BR" sz="1200" dirty="0" smtClean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sz="1200" dirty="0" smtClean="0"/>
              <a:t>Reduz </a:t>
            </a:r>
            <a:r>
              <a:rPr lang="pt-BR" sz="1200" dirty="0"/>
              <a:t>a </a:t>
            </a:r>
            <a:r>
              <a:rPr lang="pt-BR" sz="1200" dirty="0" smtClean="0"/>
              <a:t>carga elétrica </a:t>
            </a:r>
            <a:r>
              <a:rPr lang="pt-BR" sz="1200" dirty="0"/>
              <a:t>no </a:t>
            </a:r>
            <a:r>
              <a:rPr lang="pt-BR" sz="1200" dirty="0" err="1" smtClean="0"/>
              <a:t>DataCenter</a:t>
            </a:r>
            <a:r>
              <a:rPr lang="pt-BR" sz="1200" dirty="0" smtClean="0"/>
              <a:t>;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sz="1200" dirty="0" smtClean="0"/>
              <a:t>Gerenciamento centralizado;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sz="1200" dirty="0" smtClean="0"/>
              <a:t>Padronização do Parque;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sz="1200" dirty="0" smtClean="0"/>
              <a:t>Maior disponibilidade;</a:t>
            </a:r>
            <a:endParaRPr lang="pt-BR" sz="1200" b="1" dirty="0" smtClean="0"/>
          </a:p>
          <a:p>
            <a:pPr marL="228600" indent="-228600">
              <a:buFont typeface="+mj-lt"/>
              <a:buAutoNum type="arabicPeriod"/>
            </a:pPr>
            <a:endParaRPr lang="pt-BR" sz="1200" b="1" dirty="0" smtClean="0"/>
          </a:p>
          <a:p>
            <a:r>
              <a:rPr lang="pt-BR" sz="1200" b="1" dirty="0" smtClean="0"/>
              <a:t>2.	Contras</a:t>
            </a:r>
            <a:endParaRPr lang="pt-BR" sz="1200" b="1" dirty="0"/>
          </a:p>
          <a:p>
            <a:pPr marL="171450" indent="-171450">
              <a:buFont typeface="Arial" panose="020B0604020202020204" pitchFamily="34" charset="0"/>
              <a:buChar char="•"/>
            </a:pPr>
            <a:endParaRPr lang="pt-BR" sz="1200" dirty="0" smtClean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sz="1200" dirty="0" smtClean="0"/>
              <a:t>Aumenta a necessidade de recursos de rede;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sz="1200" dirty="0" smtClean="0"/>
              <a:t>Demanda investimento;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sz="1200" dirty="0" smtClean="0"/>
              <a:t>Médio prazo de implementação;</a:t>
            </a:r>
          </a:p>
        </p:txBody>
      </p:sp>
      <p:sp>
        <p:nvSpPr>
          <p:cNvPr id="3" name="Retângulo 2"/>
          <p:cNvSpPr/>
          <p:nvPr/>
        </p:nvSpPr>
        <p:spPr>
          <a:xfrm>
            <a:off x="4698458" y="4880964"/>
            <a:ext cx="6068704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100" dirty="0" smtClean="0"/>
              <a:t>*Solução elaborada pelos times Engenharia IT/ CSE / Engenharia </a:t>
            </a:r>
            <a:endParaRPr lang="pt-BR" sz="1100" dirty="0"/>
          </a:p>
        </p:txBody>
      </p:sp>
      <p:sp>
        <p:nvSpPr>
          <p:cNvPr id="4" name="Retângulo de cantos arredondados 3"/>
          <p:cNvSpPr/>
          <p:nvPr/>
        </p:nvSpPr>
        <p:spPr>
          <a:xfrm>
            <a:off x="74075" y="510672"/>
            <a:ext cx="8550613" cy="4415972"/>
          </a:xfrm>
          <a:prstGeom prst="roundRect">
            <a:avLst/>
          </a:prstGeom>
          <a:solidFill>
            <a:srgbClr val="FFFFFF">
              <a:alpha val="8902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5" name="CaixaDeTexto 4"/>
          <p:cNvSpPr txBox="1"/>
          <p:nvPr/>
        </p:nvSpPr>
        <p:spPr>
          <a:xfrm>
            <a:off x="2357266" y="569704"/>
            <a:ext cx="49480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b="1" dirty="0" smtClean="0"/>
              <a:t>BUSINESS PLAN UPGRADE 7K LIC NICE + </a:t>
            </a:r>
            <a:r>
              <a:rPr lang="pt-BR" b="1" dirty="0" err="1" smtClean="0"/>
              <a:t>Saving</a:t>
            </a:r>
            <a:r>
              <a:rPr lang="pt-BR" b="1" dirty="0" smtClean="0"/>
              <a:t> 3K</a:t>
            </a:r>
          </a:p>
        </p:txBody>
      </p:sp>
      <p:sp>
        <p:nvSpPr>
          <p:cNvPr id="6" name="CaixaDeTexto 5"/>
          <p:cNvSpPr txBox="1"/>
          <p:nvPr/>
        </p:nvSpPr>
        <p:spPr>
          <a:xfrm>
            <a:off x="2039091" y="300128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pt-BR" dirty="0"/>
          </a:p>
        </p:txBody>
      </p:sp>
      <p:grpSp>
        <p:nvGrpSpPr>
          <p:cNvPr id="29" name="Grupo 28"/>
          <p:cNvGrpSpPr/>
          <p:nvPr/>
        </p:nvGrpSpPr>
        <p:grpSpPr>
          <a:xfrm>
            <a:off x="422035" y="1052996"/>
            <a:ext cx="8202653" cy="3558563"/>
            <a:chOff x="3143084" y="1052996"/>
            <a:chExt cx="2372507" cy="3558563"/>
          </a:xfrm>
        </p:grpSpPr>
        <p:grpSp>
          <p:nvGrpSpPr>
            <p:cNvPr id="15" name="Grupo 14"/>
            <p:cNvGrpSpPr/>
            <p:nvPr/>
          </p:nvGrpSpPr>
          <p:grpSpPr>
            <a:xfrm>
              <a:off x="3143084" y="1052996"/>
              <a:ext cx="2372507" cy="3537804"/>
              <a:chOff x="651753" y="1127158"/>
              <a:chExt cx="2059725" cy="3537804"/>
            </a:xfrm>
          </p:grpSpPr>
          <p:sp>
            <p:nvSpPr>
              <p:cNvPr id="16" name="Retângulo de cantos arredondados 15"/>
              <p:cNvSpPr/>
              <p:nvPr/>
            </p:nvSpPr>
            <p:spPr>
              <a:xfrm>
                <a:off x="651753" y="1127158"/>
                <a:ext cx="2059725" cy="3537804"/>
              </a:xfrm>
              <a:prstGeom prst="roundRect">
                <a:avLst/>
              </a:prstGeom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dirty="0"/>
              </a:p>
            </p:txBody>
          </p:sp>
          <p:sp>
            <p:nvSpPr>
              <p:cNvPr id="17" name="CaixaDeTexto 16"/>
              <p:cNvSpPr txBox="1"/>
              <p:nvPr/>
            </p:nvSpPr>
            <p:spPr>
              <a:xfrm>
                <a:off x="651753" y="1197404"/>
                <a:ext cx="205972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dirty="0" smtClean="0">
                    <a:solidFill>
                      <a:schemeClr val="bg1"/>
                    </a:solidFill>
                  </a:rPr>
                  <a:t>Investimento (Estudo preliminar)</a:t>
                </a:r>
                <a:endParaRPr lang="pt-BR" dirty="0">
                  <a:solidFill>
                    <a:schemeClr val="bg1"/>
                  </a:solidFill>
                </a:endParaRPr>
              </a:p>
            </p:txBody>
          </p:sp>
        </p:grpSp>
        <p:sp>
          <p:nvSpPr>
            <p:cNvPr id="26" name="CaixaDeTexto 25"/>
            <p:cNvSpPr txBox="1"/>
            <p:nvPr/>
          </p:nvSpPr>
          <p:spPr>
            <a:xfrm>
              <a:off x="4319941" y="1626126"/>
              <a:ext cx="1069534" cy="298543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1600" b="1" dirty="0" smtClean="0">
                  <a:solidFill>
                    <a:schemeClr val="bg1"/>
                  </a:solidFill>
                </a:rPr>
                <a:t>HW/SW = R$ 6.6M 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pt-BR" sz="1600" dirty="0" smtClean="0">
                  <a:solidFill>
                    <a:schemeClr val="bg1"/>
                  </a:solidFill>
                </a:rPr>
                <a:t>16 Servidores 			R$ 805K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pt-BR" sz="1600" dirty="0" smtClean="0">
                  <a:solidFill>
                    <a:schemeClr val="bg1"/>
                  </a:solidFill>
                </a:rPr>
                <a:t>16 Switches 	  			R$ 224K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pt-BR" sz="1600" dirty="0" smtClean="0">
                  <a:solidFill>
                    <a:schemeClr val="bg1"/>
                  </a:solidFill>
                </a:rPr>
                <a:t>Upgrade 7K </a:t>
              </a:r>
              <a:r>
                <a:rPr lang="pt-BR" sz="1600" dirty="0" err="1" smtClean="0">
                  <a:solidFill>
                    <a:schemeClr val="bg1"/>
                  </a:solidFill>
                </a:rPr>
                <a:t>lic.</a:t>
              </a:r>
              <a:r>
                <a:rPr lang="pt-BR" sz="1600" dirty="0" smtClean="0">
                  <a:solidFill>
                    <a:schemeClr val="bg1"/>
                  </a:solidFill>
                </a:rPr>
                <a:t> (US$ 1.5M)	R$ 5.6M</a:t>
              </a:r>
            </a:p>
            <a:p>
              <a:endParaRPr lang="pt-BR" sz="1200" dirty="0">
                <a:solidFill>
                  <a:schemeClr val="bg1"/>
                </a:solidFill>
              </a:endParaRPr>
            </a:p>
            <a:p>
              <a:r>
                <a:rPr lang="pt-BR" sz="1600" b="1" dirty="0">
                  <a:solidFill>
                    <a:schemeClr val="bg1"/>
                  </a:solidFill>
                </a:rPr>
                <a:t>PS = R$ </a:t>
              </a:r>
              <a:r>
                <a:rPr lang="pt-BR" sz="1600" b="1" dirty="0" smtClean="0">
                  <a:solidFill>
                    <a:schemeClr val="bg1"/>
                  </a:solidFill>
                </a:rPr>
                <a:t>1.4M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pt-BR" sz="1600" dirty="0" smtClean="0">
                  <a:solidFill>
                    <a:schemeClr val="bg1"/>
                  </a:solidFill>
                </a:rPr>
                <a:t>Nice (US$ 351K) 	R$ 1.3M</a:t>
              </a:r>
              <a:endParaRPr lang="pt-BR" sz="1600" dirty="0">
                <a:solidFill>
                  <a:schemeClr val="bg1"/>
                </a:solidFill>
              </a:endParaRP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pt-BR" sz="1600" dirty="0" smtClean="0">
                  <a:solidFill>
                    <a:schemeClr val="bg1"/>
                  </a:solidFill>
                </a:rPr>
                <a:t>Contax IT 		R$ 150K</a:t>
              </a:r>
            </a:p>
            <a:p>
              <a:endParaRPr lang="pt-BR" sz="1600" dirty="0" smtClean="0">
                <a:solidFill>
                  <a:schemeClr val="bg1"/>
                </a:solidFill>
              </a:endParaRPr>
            </a:p>
            <a:p>
              <a:r>
                <a:rPr lang="pt-BR" sz="1600" b="1" dirty="0" smtClean="0">
                  <a:solidFill>
                    <a:schemeClr val="bg1"/>
                  </a:solidFill>
                </a:rPr>
                <a:t>Total = R$ 8M</a:t>
              </a:r>
              <a:endParaRPr lang="pt-BR" sz="1600" b="1" dirty="0">
                <a:solidFill>
                  <a:schemeClr val="bg1"/>
                </a:solidFill>
              </a:endParaRPr>
            </a:p>
            <a:p>
              <a:r>
                <a:rPr lang="pt-BR" sz="1600" b="1" dirty="0" smtClean="0">
                  <a:solidFill>
                    <a:schemeClr val="bg1"/>
                  </a:solidFill>
                </a:rPr>
                <a:t>Manutenção e Garantia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pt-BR" sz="1600" dirty="0" smtClean="0">
                  <a:solidFill>
                    <a:schemeClr val="bg1"/>
                  </a:solidFill>
                </a:rPr>
                <a:t>Nice (US$ 261K)	R$ 1M (Anual)</a:t>
              </a:r>
            </a:p>
          </p:txBody>
        </p:sp>
      </p:grpSp>
      <p:pic>
        <p:nvPicPr>
          <p:cNvPr id="14" name="Imagem 1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5470" y="2003877"/>
            <a:ext cx="3361552" cy="950338"/>
          </a:xfrm>
          <a:prstGeom prst="rect">
            <a:avLst/>
          </a:prstGeom>
        </p:spPr>
      </p:pic>
      <p:sp>
        <p:nvSpPr>
          <p:cNvPr id="31" name="CaixaDeTexto 30"/>
          <p:cNvSpPr txBox="1"/>
          <p:nvPr/>
        </p:nvSpPr>
        <p:spPr>
          <a:xfrm>
            <a:off x="757935" y="1623921"/>
            <a:ext cx="28942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dirty="0" smtClean="0">
                <a:solidFill>
                  <a:schemeClr val="bg1"/>
                </a:solidFill>
              </a:rPr>
              <a:t>Proposta Nice</a:t>
            </a:r>
            <a:endParaRPr lang="pt-BR" dirty="0">
              <a:solidFill>
                <a:schemeClr val="bg1"/>
              </a:solidFill>
            </a:endParaRPr>
          </a:p>
        </p:txBody>
      </p:sp>
      <p:sp>
        <p:nvSpPr>
          <p:cNvPr id="33" name="CaixaDeTexto 32"/>
          <p:cNvSpPr txBox="1"/>
          <p:nvPr/>
        </p:nvSpPr>
        <p:spPr>
          <a:xfrm>
            <a:off x="795470" y="2973101"/>
            <a:ext cx="289423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dirty="0" smtClean="0">
                <a:solidFill>
                  <a:schemeClr val="bg1"/>
                </a:solidFill>
              </a:rPr>
              <a:t>Com este projeto eliminamos todas as plataformas obsoletas do Nice e realizamos o Upgrade para o Nice 6.3</a:t>
            </a:r>
            <a:endParaRPr lang="pt-BR" dirty="0">
              <a:solidFill>
                <a:schemeClr val="bg1"/>
              </a:solidFill>
            </a:endParaRPr>
          </a:p>
        </p:txBody>
      </p:sp>
      <p:sp>
        <p:nvSpPr>
          <p:cNvPr id="20" name="Title 1"/>
          <p:cNvSpPr txBox="1">
            <a:spLocks/>
          </p:cNvSpPr>
          <p:nvPr/>
        </p:nvSpPr>
        <p:spPr>
          <a:xfrm>
            <a:off x="2189256" y="19928"/>
            <a:ext cx="4800928" cy="5604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lnSpcReduction="100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buClr>
                <a:srgbClr val="800000"/>
              </a:buClr>
            </a:pPr>
            <a:r>
              <a:rPr lang="pt-BR" sz="3200" b="1" dirty="0" smtClean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4.2 Projeto Gravação</a:t>
            </a:r>
            <a:endParaRPr lang="pt-BR" sz="1900" b="1" dirty="0" smtClean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979155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21333" y="289005"/>
            <a:ext cx="1603348" cy="291323"/>
          </a:xfrm>
          <a:prstGeom prst="rect">
            <a:avLst/>
          </a:prstGeom>
        </p:spPr>
      </p:pic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780" t="78172" r="18395" b="12686"/>
          <a:stretch/>
        </p:blipFill>
        <p:spPr bwMode="auto">
          <a:xfrm>
            <a:off x="8188658" y="4384319"/>
            <a:ext cx="955343" cy="7639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1" descr="t03-02.jpg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1368" b="84909"/>
          <a:stretch/>
        </p:blipFill>
        <p:spPr>
          <a:xfrm>
            <a:off x="0" y="0"/>
            <a:ext cx="789296" cy="776935"/>
          </a:xfrm>
          <a:prstGeom prst="rect">
            <a:avLst/>
          </a:prstGeom>
        </p:spPr>
      </p:pic>
      <p:sp>
        <p:nvSpPr>
          <p:cNvPr id="9" name="Title 1"/>
          <p:cNvSpPr txBox="1">
            <a:spLocks/>
          </p:cNvSpPr>
          <p:nvPr/>
        </p:nvSpPr>
        <p:spPr>
          <a:xfrm>
            <a:off x="1844324" y="19420"/>
            <a:ext cx="4800928" cy="5604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70000" lnSpcReduction="200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buClr>
                <a:srgbClr val="800000"/>
              </a:buClr>
            </a:pPr>
            <a:r>
              <a:rPr lang="pt-BR" sz="3200" b="1" dirty="0" smtClean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4.2  Cronograma Projeto Gravação</a:t>
            </a:r>
            <a:endParaRPr lang="pt-BR" sz="1900" b="1" dirty="0" smtClean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3" name="Retângulo 12"/>
          <p:cNvSpPr/>
          <p:nvPr/>
        </p:nvSpPr>
        <p:spPr>
          <a:xfrm>
            <a:off x="4698458" y="4880964"/>
            <a:ext cx="6068704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100" dirty="0" smtClean="0"/>
              <a:t>*Solução elaborada pelos times Engenharia IT/ CSE / Engenharia </a:t>
            </a:r>
            <a:endParaRPr lang="pt-BR" sz="1100" dirty="0"/>
          </a:p>
        </p:txBody>
      </p:sp>
      <p:pic>
        <p:nvPicPr>
          <p:cNvPr id="2" name="Imagem 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990" y="775246"/>
            <a:ext cx="8401595" cy="3770210"/>
          </a:xfrm>
          <a:prstGeom prst="rect">
            <a:avLst/>
          </a:prstGeom>
        </p:spPr>
      </p:pic>
      <p:sp>
        <p:nvSpPr>
          <p:cNvPr id="11" name="Retângulo de cantos arredondados 10"/>
          <p:cNvSpPr/>
          <p:nvPr/>
        </p:nvSpPr>
        <p:spPr>
          <a:xfrm>
            <a:off x="2698861" y="874605"/>
            <a:ext cx="3255106" cy="391064"/>
          </a:xfrm>
          <a:prstGeom prst="roundRect">
            <a:avLst/>
          </a:prstGeom>
          <a:noFill/>
          <a:ln w="4445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2" name="Retângulo de cantos arredondados 11"/>
          <p:cNvSpPr/>
          <p:nvPr/>
        </p:nvSpPr>
        <p:spPr>
          <a:xfrm>
            <a:off x="6652383" y="1070137"/>
            <a:ext cx="2580825" cy="1129585"/>
          </a:xfrm>
          <a:prstGeom prst="roundRect">
            <a:avLst/>
          </a:prstGeom>
          <a:solidFill>
            <a:schemeClr val="accent1">
              <a:lumMod val="50000"/>
            </a:schemeClr>
          </a:solidFill>
          <a:effectLst>
            <a:outerShdw blurRad="40000" dist="23000" dir="5400000" rotWithShape="0">
              <a:srgbClr val="000000">
                <a:alpha val="35000"/>
              </a:srgbClr>
            </a:outerShdw>
            <a:softEdge rad="3175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600" dirty="0" smtClean="0"/>
              <a:t>Data de Início: 13 de Outubro 2015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600" dirty="0" smtClean="0"/>
              <a:t>Data Fim estimada: 19 Dezembro 2015  </a:t>
            </a:r>
            <a:endParaRPr lang="pt-BR" sz="1600" dirty="0"/>
          </a:p>
        </p:txBody>
      </p:sp>
    </p:spTree>
    <p:extLst>
      <p:ext uri="{BB962C8B-B14F-4D97-AF65-F5344CB8AC3E}">
        <p14:creationId xmlns:p14="http://schemas.microsoft.com/office/powerpoint/2010/main" val="37992220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21333" y="289005"/>
            <a:ext cx="1603348" cy="291323"/>
          </a:xfrm>
          <a:prstGeom prst="rect">
            <a:avLst/>
          </a:prstGeom>
        </p:spPr>
      </p:pic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780" t="78172" r="18395" b="12686"/>
          <a:stretch/>
        </p:blipFill>
        <p:spPr bwMode="auto">
          <a:xfrm>
            <a:off x="8188658" y="4384319"/>
            <a:ext cx="955343" cy="7639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1" descr="t03-02.jpg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1368" b="84909"/>
          <a:stretch/>
        </p:blipFill>
        <p:spPr>
          <a:xfrm>
            <a:off x="0" y="0"/>
            <a:ext cx="789296" cy="776935"/>
          </a:xfrm>
          <a:prstGeom prst="rect">
            <a:avLst/>
          </a:prstGeom>
        </p:spPr>
      </p:pic>
      <p:sp>
        <p:nvSpPr>
          <p:cNvPr id="9" name="Title 1"/>
          <p:cNvSpPr txBox="1">
            <a:spLocks/>
          </p:cNvSpPr>
          <p:nvPr/>
        </p:nvSpPr>
        <p:spPr>
          <a:xfrm>
            <a:off x="365761" y="7227"/>
            <a:ext cx="6535524" cy="693351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70000" lnSpcReduction="200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buClr>
                <a:srgbClr val="800000"/>
              </a:buClr>
            </a:pPr>
            <a:r>
              <a:rPr lang="pt-BR" sz="3200" b="1" dirty="0" smtClean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4.3 Cronograma Projeto </a:t>
            </a:r>
            <a:r>
              <a:rPr lang="pt-BR" sz="3200" b="1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Ura </a:t>
            </a:r>
            <a:r>
              <a:rPr lang="pt-BR" sz="3200" b="1" dirty="0" smtClean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Internalização</a:t>
            </a:r>
            <a:endParaRPr lang="pt-BR" sz="1900" b="1" dirty="0" smtClean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</p:txBody>
      </p:sp>
      <p:pic>
        <p:nvPicPr>
          <p:cNvPr id="3" name="Imagem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7968" y="1520642"/>
            <a:ext cx="8848165" cy="2485989"/>
          </a:xfrm>
          <a:prstGeom prst="rect">
            <a:avLst/>
          </a:prstGeom>
        </p:spPr>
      </p:pic>
      <p:sp>
        <p:nvSpPr>
          <p:cNvPr id="11" name="Retângulo de cantos arredondados 10"/>
          <p:cNvSpPr/>
          <p:nvPr/>
        </p:nvSpPr>
        <p:spPr>
          <a:xfrm>
            <a:off x="2674059" y="1746552"/>
            <a:ext cx="3255106" cy="391064"/>
          </a:xfrm>
          <a:prstGeom prst="roundRect">
            <a:avLst/>
          </a:prstGeom>
          <a:noFill/>
          <a:ln w="4445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" name="Retângulo de cantos arredondados 12"/>
          <p:cNvSpPr/>
          <p:nvPr/>
        </p:nvSpPr>
        <p:spPr>
          <a:xfrm>
            <a:off x="2206148" y="743741"/>
            <a:ext cx="4006466" cy="733739"/>
          </a:xfrm>
          <a:prstGeom prst="roundRect">
            <a:avLst/>
          </a:prstGeom>
          <a:solidFill>
            <a:schemeClr val="accent1">
              <a:lumMod val="50000"/>
            </a:schemeClr>
          </a:solidFill>
          <a:effectLst>
            <a:outerShdw blurRad="40000" dist="23000" dir="5400000" rotWithShape="0">
              <a:srgbClr val="000000">
                <a:alpha val="35000"/>
              </a:srgbClr>
            </a:outerShdw>
            <a:softEdge rad="3175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600" dirty="0" smtClean="0"/>
              <a:t>Data de Início: 14 de Outubro 2015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600" dirty="0" smtClean="0"/>
              <a:t>Data Fim estimada: 27 Dezembro 2015  </a:t>
            </a:r>
            <a:endParaRPr lang="pt-BR" sz="1600" dirty="0"/>
          </a:p>
        </p:txBody>
      </p:sp>
      <p:sp>
        <p:nvSpPr>
          <p:cNvPr id="14" name="Retângulo de cantos arredondados 13"/>
          <p:cNvSpPr/>
          <p:nvPr/>
        </p:nvSpPr>
        <p:spPr>
          <a:xfrm>
            <a:off x="1971198" y="3993931"/>
            <a:ext cx="4660829" cy="1098665"/>
          </a:xfrm>
          <a:prstGeom prst="roundRect">
            <a:avLst/>
          </a:prstGeom>
          <a:solidFill>
            <a:schemeClr val="accent1">
              <a:lumMod val="50000"/>
            </a:schemeClr>
          </a:solidFill>
          <a:effectLst>
            <a:outerShdw blurRad="40000" dist="23000" dir="5400000" rotWithShape="0">
              <a:srgbClr val="000000">
                <a:alpha val="35000"/>
              </a:srgbClr>
            </a:outerShdw>
            <a:softEdge rad="3175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600" dirty="0"/>
              <a:t>Fazer inventário do ambiente ( </a:t>
            </a:r>
            <a:r>
              <a:rPr lang="pt-BR" sz="1600" dirty="0" err="1" smtClean="0"/>
              <a:t>Tam</a:t>
            </a:r>
            <a:r>
              <a:rPr lang="pt-BR" sz="1600" dirty="0" smtClean="0"/>
              <a:t> e Santander)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600" dirty="0"/>
              <a:t>Avaliar o "gap" de serviço com a </a:t>
            </a:r>
            <a:r>
              <a:rPr lang="pt-BR" sz="1600" dirty="0" err="1" smtClean="0"/>
              <a:t>Infosys</a:t>
            </a:r>
            <a:endParaRPr lang="pt-BR" sz="1600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600" dirty="0"/>
              <a:t>Obter conhecimento e gestão sobre código </a:t>
            </a:r>
            <a:r>
              <a:rPr lang="pt-BR" sz="1600" dirty="0" smtClean="0"/>
              <a:t>fonte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600" dirty="0" smtClean="0"/>
              <a:t>Treinar </a:t>
            </a:r>
            <a:r>
              <a:rPr lang="pt-BR" sz="1600" dirty="0"/>
              <a:t>a equipe com novas </a:t>
            </a:r>
            <a:r>
              <a:rPr lang="pt-BR" sz="1600" dirty="0" smtClean="0"/>
              <a:t>valências </a:t>
            </a:r>
            <a:endParaRPr lang="pt-BR" sz="1600" dirty="0"/>
          </a:p>
        </p:txBody>
      </p:sp>
      <p:sp>
        <p:nvSpPr>
          <p:cNvPr id="15" name="Retângulo 14"/>
          <p:cNvSpPr/>
          <p:nvPr/>
        </p:nvSpPr>
        <p:spPr>
          <a:xfrm>
            <a:off x="4698458" y="4880964"/>
            <a:ext cx="6068704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100" dirty="0" smtClean="0"/>
              <a:t>*Solução elaborada pelos times Engenharia IT/ CSE / Engenharia </a:t>
            </a:r>
            <a:endParaRPr lang="pt-BR" sz="1100" dirty="0"/>
          </a:p>
        </p:txBody>
      </p:sp>
    </p:spTree>
    <p:extLst>
      <p:ext uri="{BB962C8B-B14F-4D97-AF65-F5344CB8AC3E}">
        <p14:creationId xmlns:p14="http://schemas.microsoft.com/office/powerpoint/2010/main" val="3088476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21333" y="289005"/>
            <a:ext cx="1603348" cy="291323"/>
          </a:xfrm>
          <a:prstGeom prst="rect">
            <a:avLst/>
          </a:prstGeom>
        </p:spPr>
      </p:pic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780" t="78172" r="18395" b="12686"/>
          <a:stretch/>
        </p:blipFill>
        <p:spPr bwMode="auto">
          <a:xfrm>
            <a:off x="8188658" y="4384319"/>
            <a:ext cx="955343" cy="7639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1" descr="t03-02.jpg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1368" b="84909"/>
          <a:stretch/>
        </p:blipFill>
        <p:spPr>
          <a:xfrm>
            <a:off x="0" y="0"/>
            <a:ext cx="789296" cy="776935"/>
          </a:xfrm>
          <a:prstGeom prst="rect">
            <a:avLst/>
          </a:prstGeom>
        </p:spPr>
      </p:pic>
      <p:sp>
        <p:nvSpPr>
          <p:cNvPr id="9" name="Title 1"/>
          <p:cNvSpPr txBox="1">
            <a:spLocks/>
          </p:cNvSpPr>
          <p:nvPr/>
        </p:nvSpPr>
        <p:spPr>
          <a:xfrm>
            <a:off x="1560576" y="7227"/>
            <a:ext cx="5340708" cy="675045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70000" lnSpcReduction="200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buClr>
                <a:srgbClr val="800000"/>
              </a:buClr>
            </a:pPr>
            <a:r>
              <a:rPr lang="pt-BR" sz="3200" b="1" dirty="0" smtClean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4.4 Cronograma Projeto Aspect 7.3</a:t>
            </a:r>
            <a:endParaRPr lang="pt-BR" sz="1900" b="1" dirty="0" smtClean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3" name="Retângulo de cantos arredondados 12"/>
          <p:cNvSpPr/>
          <p:nvPr/>
        </p:nvSpPr>
        <p:spPr>
          <a:xfrm>
            <a:off x="5137165" y="737727"/>
            <a:ext cx="3487516" cy="733739"/>
          </a:xfrm>
          <a:prstGeom prst="roundRect">
            <a:avLst/>
          </a:prstGeom>
          <a:solidFill>
            <a:schemeClr val="accent1">
              <a:lumMod val="50000"/>
            </a:schemeClr>
          </a:solidFill>
          <a:effectLst>
            <a:outerShdw blurRad="40000" dist="23000" dir="5400000" rotWithShape="0">
              <a:srgbClr val="000000">
                <a:alpha val="35000"/>
              </a:srgbClr>
            </a:outerShdw>
            <a:softEdge rad="3175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600" dirty="0" smtClean="0"/>
              <a:t>Data de Início: 3 Agosto 2015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600" dirty="0" smtClean="0"/>
              <a:t>Data Fim estimada: 1 Janeiro 2016  </a:t>
            </a:r>
            <a:endParaRPr lang="pt-BR" sz="1600" dirty="0"/>
          </a:p>
        </p:txBody>
      </p:sp>
      <p:pic>
        <p:nvPicPr>
          <p:cNvPr id="2" name="Imagem 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776935"/>
            <a:ext cx="4937042" cy="4331476"/>
          </a:xfrm>
          <a:prstGeom prst="rect">
            <a:avLst/>
          </a:prstGeom>
        </p:spPr>
      </p:pic>
      <p:sp>
        <p:nvSpPr>
          <p:cNvPr id="11" name="Retângulo de cantos arredondados 10"/>
          <p:cNvSpPr/>
          <p:nvPr/>
        </p:nvSpPr>
        <p:spPr>
          <a:xfrm>
            <a:off x="2633472" y="1044867"/>
            <a:ext cx="2303570" cy="391064"/>
          </a:xfrm>
          <a:prstGeom prst="roundRect">
            <a:avLst/>
          </a:prstGeom>
          <a:noFill/>
          <a:ln w="4445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CaixaDeTexto 4"/>
          <p:cNvSpPr txBox="1"/>
          <p:nvPr/>
        </p:nvSpPr>
        <p:spPr>
          <a:xfrm>
            <a:off x="4899748" y="1522602"/>
            <a:ext cx="4341070" cy="35702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dirty="0"/>
              <a:t>As atividades a serem priorizadas são:</a:t>
            </a:r>
          </a:p>
          <a:p>
            <a:pPr lvl="0"/>
            <a:r>
              <a:rPr lang="pt-BR" sz="1600" dirty="0"/>
              <a:t>Montar a topologia de Redes para instalação dos UMS – Previsão de início: 19/10 – prazo: 10 dias.</a:t>
            </a:r>
          </a:p>
          <a:p>
            <a:pPr lvl="0"/>
            <a:r>
              <a:rPr lang="pt-BR" sz="1600" dirty="0"/>
              <a:t>Adequação do cabeamento – Previsão de  início: 26/10 – Prazo: 5 dias.</a:t>
            </a:r>
          </a:p>
          <a:p>
            <a:r>
              <a:rPr lang="pt-BR" sz="1600" dirty="0"/>
              <a:t> </a:t>
            </a:r>
          </a:p>
          <a:p>
            <a:r>
              <a:rPr lang="pt-BR" sz="1600" u="sng" dirty="0"/>
              <a:t>Com as atividade acima conseguimos contornar a limitação de portas de Switch</a:t>
            </a:r>
            <a:r>
              <a:rPr lang="pt-BR" sz="1600" dirty="0"/>
              <a:t>.</a:t>
            </a:r>
          </a:p>
          <a:p>
            <a:r>
              <a:rPr lang="pt-BR" sz="1600" dirty="0"/>
              <a:t> </a:t>
            </a:r>
          </a:p>
          <a:p>
            <a:r>
              <a:rPr lang="pt-BR" sz="1600" dirty="0"/>
              <a:t>Mas recomendamos fortemente a compra de 2 switches para que no futuro não tenhamos limitação de portas de switch, pois serão instalados mais 7 UMS.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494473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ipse 1"/>
          <p:cNvSpPr/>
          <p:nvPr/>
        </p:nvSpPr>
        <p:spPr>
          <a:xfrm>
            <a:off x="1639008" y="3604452"/>
            <a:ext cx="4874276" cy="1129015"/>
          </a:xfrm>
          <a:prstGeom prst="ellipse">
            <a:avLst/>
          </a:prstGeom>
          <a:solidFill>
            <a:schemeClr val="bg1">
              <a:lumMod val="95000"/>
            </a:schemeClr>
          </a:solidFill>
          <a:ln w="15875">
            <a:solidFill>
              <a:schemeClr val="accent1"/>
            </a:solidFill>
            <a:prstDash val="dashDot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smtClean="0">
                <a:solidFill>
                  <a:schemeClr val="tx1"/>
                </a:solidFill>
              </a:rPr>
              <a:t>Projeto</a:t>
            </a:r>
            <a:r>
              <a:rPr lang="pt-BR" dirty="0">
                <a:solidFill>
                  <a:schemeClr val="tx1"/>
                </a:solidFill>
              </a:rPr>
              <a:t>: ZABBIX  Monitoração </a:t>
            </a:r>
            <a:r>
              <a:rPr lang="pt-BR" dirty="0" smtClean="0">
                <a:solidFill>
                  <a:schemeClr val="tx1"/>
                </a:solidFill>
              </a:rPr>
              <a:t>    efetiva </a:t>
            </a:r>
            <a:r>
              <a:rPr lang="pt-BR" dirty="0">
                <a:solidFill>
                  <a:schemeClr val="tx1"/>
                </a:solidFill>
              </a:rPr>
              <a:t>e </a:t>
            </a:r>
            <a:r>
              <a:rPr lang="pt-BR" dirty="0" smtClean="0">
                <a:solidFill>
                  <a:schemeClr val="tx1"/>
                </a:solidFill>
              </a:rPr>
              <a:t>proativa</a:t>
            </a:r>
            <a:endParaRPr lang="pt-BR" dirty="0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21333" y="289005"/>
            <a:ext cx="1603348" cy="291323"/>
          </a:xfrm>
          <a:prstGeom prst="rect">
            <a:avLst/>
          </a:prstGeom>
        </p:spPr>
      </p:pic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780" t="78172" r="18395" b="12686"/>
          <a:stretch/>
        </p:blipFill>
        <p:spPr bwMode="auto">
          <a:xfrm>
            <a:off x="8188658" y="4384319"/>
            <a:ext cx="955343" cy="7639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1" descr="t03-02.jpg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1368" b="84909"/>
          <a:stretch/>
        </p:blipFill>
        <p:spPr>
          <a:xfrm>
            <a:off x="0" y="-4738"/>
            <a:ext cx="789296" cy="776935"/>
          </a:xfrm>
          <a:prstGeom prst="rect">
            <a:avLst/>
          </a:prstGeom>
        </p:spPr>
      </p:pic>
      <p:sp>
        <p:nvSpPr>
          <p:cNvPr id="9" name="Title 1"/>
          <p:cNvSpPr txBox="1">
            <a:spLocks/>
          </p:cNvSpPr>
          <p:nvPr/>
        </p:nvSpPr>
        <p:spPr>
          <a:xfrm>
            <a:off x="1635529" y="124441"/>
            <a:ext cx="4800928" cy="5604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77500" lnSpcReduction="200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buClr>
                <a:srgbClr val="800000"/>
              </a:buClr>
            </a:pPr>
            <a:r>
              <a:rPr lang="pt-BR" sz="3200" b="1" dirty="0" smtClean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Projeção de Projetos e ações</a:t>
            </a:r>
            <a:endParaRPr lang="pt-BR" sz="1900" b="1" dirty="0" smtClean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</p:txBody>
      </p:sp>
      <p:grpSp>
        <p:nvGrpSpPr>
          <p:cNvPr id="19" name="Grupo 18"/>
          <p:cNvGrpSpPr/>
          <p:nvPr/>
        </p:nvGrpSpPr>
        <p:grpSpPr>
          <a:xfrm>
            <a:off x="249281" y="2823701"/>
            <a:ext cx="8552965" cy="491825"/>
            <a:chOff x="236119" y="2867237"/>
            <a:chExt cx="8552965" cy="491825"/>
          </a:xfrm>
        </p:grpSpPr>
        <p:graphicFrame>
          <p:nvGraphicFramePr>
            <p:cNvPr id="11" name="Diagrama 10"/>
            <p:cNvGraphicFramePr/>
            <p:nvPr>
              <p:extLst>
                <p:ext uri="{D42A27DB-BD31-4B8C-83A1-F6EECF244321}">
                  <p14:modId xmlns:p14="http://schemas.microsoft.com/office/powerpoint/2010/main" val="2139685997"/>
                </p:ext>
              </p:extLst>
            </p:nvPr>
          </p:nvGraphicFramePr>
          <p:xfrm>
            <a:off x="236119" y="2867237"/>
            <a:ext cx="6750509" cy="491825"/>
          </p:xfrm>
          <a:graphic>
            <a:graphicData uri="http://schemas.openxmlformats.org/drawingml/2006/diagram">
              <dgm:relIds xmlns:dgm="http://schemas.openxmlformats.org/drawingml/2006/diagram" xmlns:r="http://schemas.openxmlformats.org/officeDocument/2006/relationships" r:dm="rId5" r:lo="rId6" r:qs="rId7" r:cs="rId8"/>
            </a:graphicData>
          </a:graphic>
        </p:graphicFrame>
        <p:sp>
          <p:nvSpPr>
            <p:cNvPr id="18" name="Pentágono 17"/>
            <p:cNvSpPr/>
            <p:nvPr/>
          </p:nvSpPr>
          <p:spPr>
            <a:xfrm>
              <a:off x="7065687" y="2867237"/>
              <a:ext cx="1723397" cy="491825"/>
            </a:xfrm>
            <a:prstGeom prst="homePlat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 smtClean="0"/>
                <a:t>Janeiro 2016</a:t>
              </a:r>
              <a:endParaRPr lang="pt-BR" dirty="0"/>
            </a:p>
          </p:txBody>
        </p:sp>
      </p:grpSp>
      <p:grpSp>
        <p:nvGrpSpPr>
          <p:cNvPr id="16" name="Grupo 15"/>
          <p:cNvGrpSpPr/>
          <p:nvPr/>
        </p:nvGrpSpPr>
        <p:grpSpPr>
          <a:xfrm>
            <a:off x="2254276" y="3113149"/>
            <a:ext cx="2639503" cy="552510"/>
            <a:chOff x="2648387" y="3512059"/>
            <a:chExt cx="2639503" cy="552510"/>
          </a:xfrm>
        </p:grpSpPr>
        <p:sp>
          <p:nvSpPr>
            <p:cNvPr id="20" name="CaixaDeTexto 19"/>
            <p:cNvSpPr txBox="1"/>
            <p:nvPr/>
          </p:nvSpPr>
          <p:spPr>
            <a:xfrm>
              <a:off x="2739243" y="3790669"/>
              <a:ext cx="2548647" cy="2739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1050" b="1" i="1" dirty="0"/>
                <a:t>(GMUD) Troca do Power switch do Core</a:t>
              </a:r>
              <a:endParaRPr lang="pt-BR" sz="1050" dirty="0"/>
            </a:p>
          </p:txBody>
        </p:sp>
        <p:pic>
          <p:nvPicPr>
            <p:cNvPr id="29" name="Imagem 28"/>
            <p:cNvPicPr>
              <a:picLocks noChangeAspect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648387" y="3512059"/>
              <a:ext cx="181713" cy="491303"/>
            </a:xfrm>
            <a:prstGeom prst="rect">
              <a:avLst/>
            </a:prstGeom>
          </p:spPr>
        </p:pic>
      </p:grpSp>
      <p:grpSp>
        <p:nvGrpSpPr>
          <p:cNvPr id="13" name="Grupo 12"/>
          <p:cNvGrpSpPr/>
          <p:nvPr/>
        </p:nvGrpSpPr>
        <p:grpSpPr>
          <a:xfrm>
            <a:off x="814457" y="1162875"/>
            <a:ext cx="6758075" cy="1586883"/>
            <a:chOff x="762363" y="1179891"/>
            <a:chExt cx="6758075" cy="1586883"/>
          </a:xfrm>
        </p:grpSpPr>
        <p:sp>
          <p:nvSpPr>
            <p:cNvPr id="17" name="Pentágono 16"/>
            <p:cNvSpPr/>
            <p:nvPr/>
          </p:nvSpPr>
          <p:spPr>
            <a:xfrm>
              <a:off x="1555457" y="2221116"/>
              <a:ext cx="3437783" cy="545658"/>
            </a:xfrm>
            <a:prstGeom prst="homePlate">
              <a:avLst/>
            </a:prstGeom>
            <a:gradFill flip="none" rotWithShape="1">
              <a:gsLst>
                <a:gs pos="0">
                  <a:schemeClr val="accent4">
                    <a:lumMod val="110000"/>
                    <a:satMod val="105000"/>
                    <a:tint val="67000"/>
                  </a:schemeClr>
                </a:gs>
                <a:gs pos="50000">
                  <a:schemeClr val="accent4">
                    <a:lumMod val="105000"/>
                    <a:satMod val="103000"/>
                    <a:tint val="73000"/>
                  </a:schemeClr>
                </a:gs>
                <a:gs pos="100000">
                  <a:schemeClr val="accent4">
                    <a:lumMod val="105000"/>
                    <a:satMod val="109000"/>
                    <a:tint val="81000"/>
                  </a:schemeClr>
                </a:gs>
              </a:gsLst>
              <a:lin ang="10800000" scaled="1"/>
              <a:tileRect/>
            </a:gradFill>
            <a:effectLst>
              <a:outerShdw blurRad="50800" dist="38100" dir="10800000" algn="r" rotWithShape="0">
                <a:prstClr val="black">
                  <a:alpha val="36000"/>
                </a:prstClr>
              </a:outerShdw>
              <a:softEdge rad="63500"/>
            </a:effectLst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r>
                <a:rPr lang="pt-BR" sz="1400" b="1" i="1" dirty="0" err="1"/>
                <a:t>Proj</a:t>
              </a:r>
              <a:r>
                <a:rPr lang="pt-BR" sz="1400" b="1" i="1" dirty="0"/>
                <a:t>. Gravação</a:t>
              </a:r>
            </a:p>
            <a:p>
              <a:r>
                <a:rPr lang="pt-BR" sz="1200" dirty="0"/>
                <a:t>Beneficiados: Santander, ITAU, Bradesco, VIVO, </a:t>
              </a:r>
              <a:r>
                <a:rPr lang="pt-BR" sz="1200" dirty="0" smtClean="0"/>
                <a:t>OI</a:t>
              </a:r>
              <a:endParaRPr lang="pt-BR" sz="1200" dirty="0"/>
            </a:p>
          </p:txBody>
        </p:sp>
        <p:pic>
          <p:nvPicPr>
            <p:cNvPr id="4" name="Imagem 3"/>
            <p:cNvPicPr>
              <a:picLocks noChangeAspect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26755" y="1604666"/>
              <a:ext cx="493683" cy="506407"/>
            </a:xfrm>
            <a:prstGeom prst="rect">
              <a:avLst/>
            </a:prstGeom>
            <a:scene3d>
              <a:camera prst="orthographicFront">
                <a:rot lat="0" lon="11699976" rev="0"/>
              </a:camera>
              <a:lightRig rig="threePt" dir="t"/>
            </a:scene3d>
          </p:spPr>
        </p:pic>
        <p:sp>
          <p:nvSpPr>
            <p:cNvPr id="22" name="Pentágono 21"/>
            <p:cNvSpPr/>
            <p:nvPr/>
          </p:nvSpPr>
          <p:spPr>
            <a:xfrm>
              <a:off x="1555456" y="1689689"/>
              <a:ext cx="5359052" cy="545658"/>
            </a:xfrm>
            <a:prstGeom prst="homePlate">
              <a:avLst/>
            </a:prstGeom>
            <a:gradFill flip="none" rotWithShape="1">
              <a:gsLst>
                <a:gs pos="0">
                  <a:schemeClr val="accent4">
                    <a:lumMod val="110000"/>
                    <a:satMod val="105000"/>
                    <a:tint val="67000"/>
                  </a:schemeClr>
                </a:gs>
                <a:gs pos="50000">
                  <a:schemeClr val="accent4">
                    <a:lumMod val="105000"/>
                    <a:satMod val="103000"/>
                    <a:tint val="73000"/>
                  </a:schemeClr>
                </a:gs>
                <a:gs pos="100000">
                  <a:schemeClr val="accent4">
                    <a:lumMod val="105000"/>
                    <a:satMod val="109000"/>
                    <a:tint val="81000"/>
                  </a:schemeClr>
                </a:gs>
              </a:gsLst>
              <a:lin ang="10800000" scaled="1"/>
              <a:tileRect/>
            </a:gradFill>
            <a:effectLst>
              <a:outerShdw blurRad="50800" dist="38100" dir="10800000" algn="r" rotWithShape="0">
                <a:prstClr val="black">
                  <a:alpha val="36000"/>
                </a:prstClr>
              </a:outerShdw>
              <a:softEdge rad="63500"/>
            </a:effectLst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>
                <a:buClr>
                  <a:srgbClr val="800000"/>
                </a:buClr>
              </a:pPr>
              <a:r>
                <a:rPr lang="pt-BR" sz="1400" b="1" i="1" dirty="0" err="1"/>
                <a:t>Proj</a:t>
              </a:r>
              <a:r>
                <a:rPr lang="pt-BR" sz="1400" b="1" i="1" dirty="0"/>
                <a:t>. </a:t>
              </a:r>
              <a:r>
                <a:rPr lang="pt-BR" sz="1400" b="1" dirty="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rPr>
                <a:t>Ura Internalização</a:t>
              </a:r>
              <a:endParaRPr lang="pt-BR" sz="1050" b="1" dirty="0">
                <a:solidFill>
                  <a:schemeClr val="tx1"/>
                </a:solidFill>
                <a:latin typeface="Arial" pitchFamily="34" charset="0"/>
                <a:cs typeface="Arial" pitchFamily="34" charset="0"/>
              </a:endParaRPr>
            </a:p>
            <a:p>
              <a:r>
                <a:rPr lang="pt-BR" sz="1200" dirty="0" smtClean="0"/>
                <a:t>Beneficiados</a:t>
              </a:r>
              <a:r>
                <a:rPr lang="pt-BR" sz="1200" dirty="0"/>
                <a:t>: Santander CRC - SAC; TAM</a:t>
              </a:r>
            </a:p>
          </p:txBody>
        </p:sp>
        <p:pic>
          <p:nvPicPr>
            <p:cNvPr id="23" name="Imagem 22"/>
            <p:cNvPicPr>
              <a:picLocks noChangeAspect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62363" y="1689689"/>
              <a:ext cx="454649" cy="517020"/>
            </a:xfrm>
            <a:prstGeom prst="rect">
              <a:avLst/>
            </a:prstGeom>
          </p:spPr>
        </p:pic>
        <p:sp>
          <p:nvSpPr>
            <p:cNvPr id="24" name="Pentágono 23"/>
            <p:cNvSpPr/>
            <p:nvPr/>
          </p:nvSpPr>
          <p:spPr>
            <a:xfrm>
              <a:off x="1586914" y="1179892"/>
              <a:ext cx="5412876" cy="545658"/>
            </a:xfrm>
            <a:prstGeom prst="homePlate">
              <a:avLst/>
            </a:prstGeom>
            <a:gradFill flip="none" rotWithShape="1">
              <a:gsLst>
                <a:gs pos="0">
                  <a:schemeClr val="accent4">
                    <a:lumMod val="110000"/>
                    <a:satMod val="105000"/>
                    <a:tint val="67000"/>
                  </a:schemeClr>
                </a:gs>
                <a:gs pos="50000">
                  <a:schemeClr val="accent4">
                    <a:lumMod val="105000"/>
                    <a:satMod val="103000"/>
                    <a:tint val="73000"/>
                  </a:schemeClr>
                </a:gs>
                <a:gs pos="100000">
                  <a:schemeClr val="accent4">
                    <a:lumMod val="105000"/>
                    <a:satMod val="109000"/>
                    <a:tint val="81000"/>
                  </a:schemeClr>
                </a:gs>
              </a:gsLst>
              <a:lin ang="10800000" scaled="1"/>
              <a:tileRect/>
            </a:gradFill>
            <a:effectLst>
              <a:outerShdw blurRad="50800" dist="38100" dir="10800000" algn="r" rotWithShape="0">
                <a:prstClr val="black">
                  <a:alpha val="36000"/>
                </a:prstClr>
              </a:outerShdw>
              <a:softEdge rad="63500"/>
            </a:effectLst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>
                <a:buClr>
                  <a:srgbClr val="800000"/>
                </a:buClr>
              </a:pPr>
              <a:r>
                <a:rPr lang="pt-BR" sz="1400" b="1" i="1" dirty="0" err="1"/>
                <a:t>Proj</a:t>
              </a:r>
              <a:r>
                <a:rPr lang="pt-BR" sz="1400" b="1" i="1" dirty="0"/>
                <a:t>. </a:t>
              </a:r>
              <a:r>
                <a:rPr lang="pt-BR" sz="1400" b="1" dirty="0" smtClean="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rPr>
                <a:t>Aspect 7.3 (1° Fase – Instalar Infra)</a:t>
              </a:r>
            </a:p>
            <a:p>
              <a:pPr>
                <a:buClr>
                  <a:srgbClr val="800000"/>
                </a:buClr>
              </a:pPr>
              <a:r>
                <a:rPr lang="pt-BR" sz="1200" dirty="0" smtClean="0"/>
                <a:t>Beneficiados</a:t>
              </a:r>
              <a:r>
                <a:rPr lang="pt-BR" sz="1200" dirty="0"/>
                <a:t>: </a:t>
              </a:r>
              <a:r>
                <a:rPr lang="pt-BR" sz="1200" dirty="0" err="1" smtClean="0"/>
                <a:t>Credsystem</a:t>
              </a:r>
              <a:r>
                <a:rPr lang="pt-BR" sz="1200" dirty="0" smtClean="0"/>
                <a:t>/</a:t>
              </a:r>
              <a:r>
                <a:rPr lang="pt-BR" sz="1200" dirty="0" err="1" smtClean="0"/>
                <a:t>Cielo</a:t>
              </a:r>
              <a:r>
                <a:rPr lang="pt-BR" sz="1200" dirty="0" smtClean="0"/>
                <a:t>/SKY</a:t>
              </a:r>
              <a:endParaRPr lang="pt-BR" sz="1200" dirty="0"/>
            </a:p>
          </p:txBody>
        </p:sp>
        <p:sp>
          <p:nvSpPr>
            <p:cNvPr id="3" name="Chave esquerda 2"/>
            <p:cNvSpPr/>
            <p:nvPr/>
          </p:nvSpPr>
          <p:spPr>
            <a:xfrm>
              <a:off x="1254325" y="1179891"/>
              <a:ext cx="301131" cy="1576067"/>
            </a:xfrm>
            <a:prstGeom prst="leftBrac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</p:spTree>
    <p:extLst>
      <p:ext uri="{BB962C8B-B14F-4D97-AF65-F5344CB8AC3E}">
        <p14:creationId xmlns:p14="http://schemas.microsoft.com/office/powerpoint/2010/main" val="27229604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3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21333" y="289005"/>
            <a:ext cx="1603348" cy="291323"/>
          </a:xfrm>
          <a:prstGeom prst="rect">
            <a:avLst/>
          </a:prstGeom>
        </p:spPr>
      </p:pic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780" t="78172" r="18395" b="12686"/>
          <a:stretch/>
        </p:blipFill>
        <p:spPr bwMode="auto">
          <a:xfrm>
            <a:off x="8188658" y="4384319"/>
            <a:ext cx="955343" cy="7639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1" descr="t03-02.jpg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1368" b="84909"/>
          <a:stretch/>
        </p:blipFill>
        <p:spPr>
          <a:xfrm>
            <a:off x="0" y="0"/>
            <a:ext cx="789296" cy="776935"/>
          </a:xfrm>
          <a:prstGeom prst="rect">
            <a:avLst/>
          </a:prstGeom>
        </p:spPr>
      </p:pic>
      <p:sp>
        <p:nvSpPr>
          <p:cNvPr id="7" name="Title 1"/>
          <p:cNvSpPr txBox="1">
            <a:spLocks/>
          </p:cNvSpPr>
          <p:nvPr/>
        </p:nvSpPr>
        <p:spPr>
          <a:xfrm>
            <a:off x="272276" y="-65314"/>
            <a:ext cx="6422438" cy="8580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buClr>
                <a:srgbClr val="800000"/>
              </a:buClr>
            </a:pPr>
            <a:r>
              <a:rPr lang="pt-BR" sz="3200" b="1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5</a:t>
            </a:r>
            <a:r>
              <a:rPr lang="pt-BR" sz="3200" b="1" dirty="0" smtClean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. Ações previstas</a:t>
            </a:r>
            <a:endParaRPr lang="pt-PT" sz="3200" b="1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" name="Retângulo de cantos arredondados 1"/>
          <p:cNvSpPr/>
          <p:nvPr/>
        </p:nvSpPr>
        <p:spPr>
          <a:xfrm>
            <a:off x="1605114" y="1494491"/>
            <a:ext cx="5165557" cy="832439"/>
          </a:xfrm>
          <a:prstGeom prst="roundRect">
            <a:avLst/>
          </a:prstGeom>
          <a:solidFill>
            <a:schemeClr val="accent1">
              <a:lumMod val="50000"/>
            </a:schemeClr>
          </a:solidFill>
          <a:effectLst>
            <a:outerShdw blurRad="40000" dist="23000" dir="5400000" rotWithShape="0">
              <a:srgbClr val="000000">
                <a:alpha val="35000"/>
              </a:srgbClr>
            </a:outerShdw>
            <a:softEdge rad="3175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 smtClean="0"/>
              <a:t>Estruturação do processo de mudança</a:t>
            </a:r>
          </a:p>
        </p:txBody>
      </p:sp>
      <p:sp>
        <p:nvSpPr>
          <p:cNvPr id="9" name="Retângulo de cantos arredondados 8"/>
          <p:cNvSpPr/>
          <p:nvPr/>
        </p:nvSpPr>
        <p:spPr>
          <a:xfrm>
            <a:off x="1605114" y="2522139"/>
            <a:ext cx="5165556" cy="827235"/>
          </a:xfrm>
          <a:prstGeom prst="roundRect">
            <a:avLst/>
          </a:prstGeom>
          <a:solidFill>
            <a:schemeClr val="accent1">
              <a:lumMod val="50000"/>
            </a:schemeClr>
          </a:solidFill>
          <a:effectLst>
            <a:outerShdw blurRad="40000" dist="23000" dir="5400000" rotWithShape="0">
              <a:srgbClr val="000000">
                <a:alpha val="35000"/>
              </a:srgbClr>
            </a:outerShdw>
            <a:softEdge rad="3175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 smtClean="0"/>
              <a:t>Implantação do piloto de classificação via GUT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8899285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9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21333" y="289005"/>
            <a:ext cx="1603348" cy="291323"/>
          </a:xfrm>
          <a:prstGeom prst="rect">
            <a:avLst/>
          </a:prstGeom>
        </p:spPr>
      </p:pic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780" t="78172" r="18395" b="12686"/>
          <a:stretch/>
        </p:blipFill>
        <p:spPr bwMode="auto">
          <a:xfrm>
            <a:off x="8188658" y="4384319"/>
            <a:ext cx="955343" cy="7639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1" descr="t03-02.jpg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1368" b="84909"/>
          <a:stretch/>
        </p:blipFill>
        <p:spPr>
          <a:xfrm>
            <a:off x="0" y="0"/>
            <a:ext cx="789296" cy="776935"/>
          </a:xfrm>
          <a:prstGeom prst="rect">
            <a:avLst/>
          </a:prstGeom>
        </p:spPr>
      </p:pic>
      <p:sp>
        <p:nvSpPr>
          <p:cNvPr id="9" name="Title 1"/>
          <p:cNvSpPr txBox="1">
            <a:spLocks/>
          </p:cNvSpPr>
          <p:nvPr/>
        </p:nvSpPr>
        <p:spPr>
          <a:xfrm>
            <a:off x="1198656" y="120965"/>
            <a:ext cx="4800928" cy="8580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buClr>
                <a:srgbClr val="800000"/>
              </a:buClr>
            </a:pPr>
            <a:r>
              <a:rPr lang="pt-BR" sz="3200" b="1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6</a:t>
            </a:r>
            <a:r>
              <a:rPr lang="pt-BR" sz="3200" b="1" dirty="0" smtClean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. Alinhamento</a:t>
            </a:r>
            <a:endParaRPr lang="pt-BR" sz="1900" b="1" dirty="0" smtClean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0" y="1318581"/>
            <a:ext cx="4379232" cy="32844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1265021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21333" y="289005"/>
            <a:ext cx="1603348" cy="291323"/>
          </a:xfrm>
          <a:prstGeom prst="rect">
            <a:avLst/>
          </a:prstGeom>
        </p:spPr>
      </p:pic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780" t="78172" r="18395" b="12686"/>
          <a:stretch/>
        </p:blipFill>
        <p:spPr bwMode="auto">
          <a:xfrm>
            <a:off x="8188658" y="4384319"/>
            <a:ext cx="955343" cy="7639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1" descr="t03-02.jpg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1368" b="84909"/>
          <a:stretch/>
        </p:blipFill>
        <p:spPr>
          <a:xfrm>
            <a:off x="0" y="0"/>
            <a:ext cx="789296" cy="776935"/>
          </a:xfrm>
          <a:prstGeom prst="rect">
            <a:avLst/>
          </a:prstGeom>
        </p:spPr>
      </p:pic>
      <p:sp>
        <p:nvSpPr>
          <p:cNvPr id="7" name="Title 1"/>
          <p:cNvSpPr txBox="1">
            <a:spLocks/>
          </p:cNvSpPr>
          <p:nvPr/>
        </p:nvSpPr>
        <p:spPr>
          <a:xfrm>
            <a:off x="1198656" y="120965"/>
            <a:ext cx="5567904" cy="8580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buClr>
                <a:srgbClr val="800000"/>
              </a:buClr>
            </a:pPr>
            <a:r>
              <a:rPr lang="pt-BR" sz="3200" b="1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7</a:t>
            </a:r>
            <a:r>
              <a:rPr lang="pt-BR" sz="3200" b="1" dirty="0" smtClean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.0. Problemas</a:t>
            </a:r>
            <a:endParaRPr lang="pt-PT" sz="3200" b="1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3822" y="854943"/>
            <a:ext cx="8876356" cy="3438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96914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21333" y="289005"/>
            <a:ext cx="1603348" cy="291323"/>
          </a:xfrm>
          <a:prstGeom prst="rect">
            <a:avLst/>
          </a:prstGeom>
        </p:spPr>
      </p:pic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780" t="78172" r="18395" b="12686"/>
          <a:stretch/>
        </p:blipFill>
        <p:spPr bwMode="auto">
          <a:xfrm>
            <a:off x="8188658" y="4384319"/>
            <a:ext cx="955343" cy="7639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1" descr="t03-02.jpg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1368" b="84909"/>
          <a:stretch/>
        </p:blipFill>
        <p:spPr>
          <a:xfrm>
            <a:off x="0" y="0"/>
            <a:ext cx="789296" cy="776935"/>
          </a:xfrm>
          <a:prstGeom prst="rect">
            <a:avLst/>
          </a:prstGeom>
        </p:spPr>
      </p:pic>
      <p:sp>
        <p:nvSpPr>
          <p:cNvPr id="7" name="Title 1"/>
          <p:cNvSpPr txBox="1">
            <a:spLocks/>
          </p:cNvSpPr>
          <p:nvPr/>
        </p:nvSpPr>
        <p:spPr>
          <a:xfrm>
            <a:off x="465986" y="-277716"/>
            <a:ext cx="6993990" cy="8580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buClr>
                <a:srgbClr val="800000"/>
              </a:buClr>
            </a:pPr>
            <a:r>
              <a:rPr lang="pt-BR" sz="1400" b="1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7</a:t>
            </a:r>
            <a:r>
              <a:rPr lang="pt-BR" sz="1400" b="1" dirty="0" smtClean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.1. </a:t>
            </a:r>
            <a:r>
              <a:rPr lang="pt-BR" sz="1400" b="1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&gt; </a:t>
            </a:r>
            <a:r>
              <a:rPr lang="pt-BR" sz="1400" b="1" dirty="0" smtClean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NICE - Gravações </a:t>
            </a:r>
            <a:r>
              <a:rPr lang="pt-BR" sz="1400" b="1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&gt; Não grava e Perca de Gravação</a:t>
            </a:r>
            <a:endParaRPr lang="pt-PT" sz="1400" b="1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</p:txBody>
      </p:sp>
      <p:pic>
        <p:nvPicPr>
          <p:cNvPr id="2" name="Imagem 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5841" y="434666"/>
            <a:ext cx="6825492" cy="45752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75923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21333" y="289005"/>
            <a:ext cx="1603348" cy="291323"/>
          </a:xfrm>
          <a:prstGeom prst="rect">
            <a:avLst/>
          </a:prstGeom>
        </p:spPr>
      </p:pic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780" t="78172" r="18395" b="12686"/>
          <a:stretch/>
        </p:blipFill>
        <p:spPr bwMode="auto">
          <a:xfrm>
            <a:off x="8210429" y="4384319"/>
            <a:ext cx="955343" cy="7639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1" descr="t03-02.jpg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1368" b="84909"/>
          <a:stretch/>
        </p:blipFill>
        <p:spPr>
          <a:xfrm>
            <a:off x="0" y="0"/>
            <a:ext cx="789296" cy="776935"/>
          </a:xfrm>
          <a:prstGeom prst="rect">
            <a:avLst/>
          </a:prstGeom>
        </p:spPr>
      </p:pic>
      <p:sp>
        <p:nvSpPr>
          <p:cNvPr id="7" name="Title 1"/>
          <p:cNvSpPr txBox="1">
            <a:spLocks/>
          </p:cNvSpPr>
          <p:nvPr/>
        </p:nvSpPr>
        <p:spPr>
          <a:xfrm>
            <a:off x="337457" y="-277716"/>
            <a:ext cx="7249886" cy="8580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buClr>
                <a:srgbClr val="800000"/>
              </a:buClr>
            </a:pPr>
            <a:r>
              <a:rPr lang="pt-BR" sz="1400" b="1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7</a:t>
            </a:r>
            <a:r>
              <a:rPr lang="pt-BR" sz="1400" b="1" dirty="0" smtClean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.2. Aspect </a:t>
            </a:r>
            <a:r>
              <a:rPr lang="pt-BR" sz="1400" b="1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&gt; Discador &gt; ligação muda / caixa postal / número inexistente / queda </a:t>
            </a:r>
            <a:endParaRPr lang="pt-PT" sz="1400" b="1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</p:txBody>
      </p:sp>
      <p:pic>
        <p:nvPicPr>
          <p:cNvPr id="2" name="Imagem 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2957" y="879271"/>
            <a:ext cx="8518086" cy="33897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78260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21333" y="289005"/>
            <a:ext cx="1603348" cy="291323"/>
          </a:xfrm>
          <a:prstGeom prst="rect">
            <a:avLst/>
          </a:prstGeom>
        </p:spPr>
      </p:pic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780" t="78172" r="18395" b="12686"/>
          <a:stretch/>
        </p:blipFill>
        <p:spPr bwMode="auto">
          <a:xfrm>
            <a:off x="8188658" y="4384319"/>
            <a:ext cx="955343" cy="7639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1" descr="t03-02.jpg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1368" b="84909"/>
          <a:stretch/>
        </p:blipFill>
        <p:spPr>
          <a:xfrm>
            <a:off x="0" y="0"/>
            <a:ext cx="789296" cy="776935"/>
          </a:xfrm>
          <a:prstGeom prst="rect">
            <a:avLst/>
          </a:prstGeom>
        </p:spPr>
      </p:pic>
      <p:sp>
        <p:nvSpPr>
          <p:cNvPr id="7" name="Title 1"/>
          <p:cNvSpPr txBox="1">
            <a:spLocks/>
          </p:cNvSpPr>
          <p:nvPr/>
        </p:nvSpPr>
        <p:spPr>
          <a:xfrm>
            <a:off x="465986" y="-277716"/>
            <a:ext cx="6993990" cy="8580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buClr>
                <a:srgbClr val="800000"/>
              </a:buClr>
            </a:pPr>
            <a:r>
              <a:rPr lang="pt-BR" sz="1400" b="1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7</a:t>
            </a:r>
            <a:r>
              <a:rPr lang="pt-BR" sz="1400" b="1" dirty="0" smtClean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.3. </a:t>
            </a:r>
            <a:r>
              <a:rPr lang="pt-BR" sz="1400" b="1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&gt; </a:t>
            </a:r>
            <a:r>
              <a:rPr lang="en-US" sz="1400" b="1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Front End &gt; </a:t>
            </a:r>
            <a:r>
              <a:rPr lang="en-US" sz="1400" b="1" dirty="0" err="1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Falha</a:t>
            </a:r>
            <a:r>
              <a:rPr lang="en-US" sz="1400" b="1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 no Pop-Up/Explore </a:t>
            </a:r>
            <a:endParaRPr lang="pt-PT" sz="1400" b="1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</p:txBody>
      </p:sp>
      <p:pic>
        <p:nvPicPr>
          <p:cNvPr id="2" name="Imagem 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4329" y="1175264"/>
            <a:ext cx="7964329" cy="27977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76962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21333" y="289005"/>
            <a:ext cx="1603348" cy="291323"/>
          </a:xfrm>
          <a:prstGeom prst="rect">
            <a:avLst/>
          </a:prstGeom>
        </p:spPr>
      </p:pic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780" t="78172" r="18395" b="12686"/>
          <a:stretch/>
        </p:blipFill>
        <p:spPr bwMode="auto">
          <a:xfrm>
            <a:off x="8188658" y="4384319"/>
            <a:ext cx="955343" cy="7639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1" descr="t03-02.jpg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1368" b="84909"/>
          <a:stretch/>
        </p:blipFill>
        <p:spPr>
          <a:xfrm>
            <a:off x="0" y="0"/>
            <a:ext cx="789296" cy="776935"/>
          </a:xfrm>
          <a:prstGeom prst="rect">
            <a:avLst/>
          </a:prstGeom>
        </p:spPr>
      </p:pic>
      <p:sp>
        <p:nvSpPr>
          <p:cNvPr id="7" name="Title 1"/>
          <p:cNvSpPr txBox="1">
            <a:spLocks/>
          </p:cNvSpPr>
          <p:nvPr/>
        </p:nvSpPr>
        <p:spPr>
          <a:xfrm>
            <a:off x="394648" y="-140017"/>
            <a:ext cx="6993990" cy="8580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buClr>
                <a:srgbClr val="800000"/>
              </a:buClr>
            </a:pPr>
            <a:r>
              <a:rPr lang="pt-BR" sz="1400" b="1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7</a:t>
            </a:r>
            <a:r>
              <a:rPr lang="pt-BR" sz="1400" b="1" dirty="0" smtClean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.4. </a:t>
            </a:r>
            <a:r>
              <a:rPr lang="pt-BR" sz="1400" b="1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&gt; Discador &gt; Não disca (baixa qualidade da voz - </a:t>
            </a:r>
            <a:r>
              <a:rPr lang="pt-BR" sz="1400" b="1" dirty="0" err="1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picotamento</a:t>
            </a:r>
            <a:r>
              <a:rPr lang="pt-BR" sz="1400" b="1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 do operador para o cliente)</a:t>
            </a:r>
            <a:endParaRPr lang="pt-PT" sz="1400" b="1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</p:txBody>
      </p:sp>
      <p:pic>
        <p:nvPicPr>
          <p:cNvPr id="2" name="Imagem 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4648" y="1348401"/>
            <a:ext cx="7984176" cy="28116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06872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21333" y="289005"/>
            <a:ext cx="1603348" cy="291323"/>
          </a:xfrm>
          <a:prstGeom prst="rect">
            <a:avLst/>
          </a:prstGeom>
        </p:spPr>
      </p:pic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780" t="78172" r="18395" b="12686"/>
          <a:stretch/>
        </p:blipFill>
        <p:spPr bwMode="auto">
          <a:xfrm>
            <a:off x="8188658" y="4384319"/>
            <a:ext cx="955343" cy="7639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1" descr="t03-02.jpg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1368" b="84909"/>
          <a:stretch/>
        </p:blipFill>
        <p:spPr>
          <a:xfrm>
            <a:off x="0" y="0"/>
            <a:ext cx="789296" cy="776935"/>
          </a:xfrm>
          <a:prstGeom prst="rect">
            <a:avLst/>
          </a:prstGeom>
        </p:spPr>
      </p:pic>
      <p:sp>
        <p:nvSpPr>
          <p:cNvPr id="7" name="Title 1"/>
          <p:cNvSpPr txBox="1">
            <a:spLocks/>
          </p:cNvSpPr>
          <p:nvPr/>
        </p:nvSpPr>
        <p:spPr>
          <a:xfrm>
            <a:off x="465986" y="-192220"/>
            <a:ext cx="6993990" cy="8580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buClr>
                <a:srgbClr val="800000"/>
              </a:buClr>
            </a:pPr>
            <a:r>
              <a:rPr lang="pt-BR" sz="1400" b="1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7</a:t>
            </a:r>
            <a:r>
              <a:rPr lang="pt-BR" sz="1400" b="1" dirty="0" smtClean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.5. </a:t>
            </a:r>
            <a:r>
              <a:rPr lang="pt-BR" sz="1400" b="1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&gt; </a:t>
            </a:r>
            <a:r>
              <a:rPr lang="pt-BR" sz="1400" b="1" dirty="0" smtClean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Proxy </a:t>
            </a:r>
            <a:r>
              <a:rPr lang="pt-BR" sz="1400" b="1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&gt; Lentidão seguida de indisponibilidade total ao acesso aos sistemas da Internet para as operações VIVO SP e PB </a:t>
            </a:r>
            <a:endParaRPr lang="pt-PT" sz="1400" b="1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</p:txBody>
      </p:sp>
      <p:pic>
        <p:nvPicPr>
          <p:cNvPr id="2" name="Imagem 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2290" y="969155"/>
            <a:ext cx="7996903" cy="3633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34118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21333" y="289005"/>
            <a:ext cx="1603348" cy="291323"/>
          </a:xfrm>
          <a:prstGeom prst="rect">
            <a:avLst/>
          </a:prstGeom>
        </p:spPr>
      </p:pic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780" t="78172" r="18395" b="12686"/>
          <a:stretch/>
        </p:blipFill>
        <p:spPr bwMode="auto">
          <a:xfrm>
            <a:off x="8188658" y="4384319"/>
            <a:ext cx="955343" cy="7639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1" descr="t03-02.jpg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1368" b="84909"/>
          <a:stretch/>
        </p:blipFill>
        <p:spPr>
          <a:xfrm>
            <a:off x="0" y="0"/>
            <a:ext cx="789296" cy="776935"/>
          </a:xfrm>
          <a:prstGeom prst="rect">
            <a:avLst/>
          </a:prstGeom>
        </p:spPr>
      </p:pic>
      <p:sp>
        <p:nvSpPr>
          <p:cNvPr id="7" name="Title 1"/>
          <p:cNvSpPr txBox="1">
            <a:spLocks/>
          </p:cNvSpPr>
          <p:nvPr/>
        </p:nvSpPr>
        <p:spPr>
          <a:xfrm>
            <a:off x="465986" y="-277716"/>
            <a:ext cx="6993990" cy="8580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buClr>
                <a:srgbClr val="800000"/>
              </a:buClr>
            </a:pPr>
            <a:r>
              <a:rPr lang="pt-BR" sz="1400" b="1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7</a:t>
            </a:r>
            <a:r>
              <a:rPr lang="pt-BR" sz="1400" b="1" dirty="0" smtClean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.6. </a:t>
            </a:r>
            <a:r>
              <a:rPr lang="pt-BR" sz="1400" b="1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&gt; URA&gt;Santander | Não valida CPF | Não atende</a:t>
            </a:r>
            <a:endParaRPr lang="pt-PT" sz="1400" b="1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</p:txBody>
      </p:sp>
      <p:pic>
        <p:nvPicPr>
          <p:cNvPr id="2" name="Imagem 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2291" y="1147049"/>
            <a:ext cx="8313466" cy="32372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9670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21333" y="289005"/>
            <a:ext cx="1603348" cy="291323"/>
          </a:xfrm>
          <a:prstGeom prst="rect">
            <a:avLst/>
          </a:prstGeom>
        </p:spPr>
      </p:pic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780" t="78172" r="18395" b="12686"/>
          <a:stretch/>
        </p:blipFill>
        <p:spPr bwMode="auto">
          <a:xfrm>
            <a:off x="8188658" y="4384319"/>
            <a:ext cx="955343" cy="7639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1" descr="t03-02.jpg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1368" b="84909"/>
          <a:stretch/>
        </p:blipFill>
        <p:spPr>
          <a:xfrm>
            <a:off x="0" y="0"/>
            <a:ext cx="789296" cy="776935"/>
          </a:xfrm>
          <a:prstGeom prst="rect">
            <a:avLst/>
          </a:prstGeom>
        </p:spPr>
      </p:pic>
      <p:sp>
        <p:nvSpPr>
          <p:cNvPr id="7" name="Title 1"/>
          <p:cNvSpPr txBox="1">
            <a:spLocks/>
          </p:cNvSpPr>
          <p:nvPr/>
        </p:nvSpPr>
        <p:spPr>
          <a:xfrm>
            <a:off x="465986" y="-277716"/>
            <a:ext cx="6993990" cy="8580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buClr>
                <a:srgbClr val="800000"/>
              </a:buClr>
            </a:pPr>
            <a:r>
              <a:rPr lang="pt-BR" sz="1400" b="1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7</a:t>
            </a:r>
            <a:r>
              <a:rPr lang="pt-BR" sz="1400" b="1" dirty="0" smtClean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.7. </a:t>
            </a:r>
            <a:r>
              <a:rPr lang="pt-BR" sz="1400" b="1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&gt; Alta volumetria de incidentes classificados como Alto Impacto</a:t>
            </a:r>
            <a:endParaRPr lang="pt-PT" sz="1400" b="1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</p:txBody>
      </p:sp>
      <p:pic>
        <p:nvPicPr>
          <p:cNvPr id="2" name="Imagem 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3779" y="1126607"/>
            <a:ext cx="8517881" cy="30836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23331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21333" y="289005"/>
            <a:ext cx="1603348" cy="291323"/>
          </a:xfrm>
          <a:prstGeom prst="rect">
            <a:avLst/>
          </a:prstGeom>
        </p:spPr>
      </p:pic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780" t="78172" r="18395" b="12686"/>
          <a:stretch/>
        </p:blipFill>
        <p:spPr bwMode="auto">
          <a:xfrm>
            <a:off x="8188658" y="4384319"/>
            <a:ext cx="955343" cy="7639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1" descr="t03-02.jpg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1368" b="84909"/>
          <a:stretch/>
        </p:blipFill>
        <p:spPr>
          <a:xfrm>
            <a:off x="0" y="0"/>
            <a:ext cx="789296" cy="776935"/>
          </a:xfrm>
          <a:prstGeom prst="rect">
            <a:avLst/>
          </a:prstGeom>
        </p:spPr>
      </p:pic>
      <p:sp>
        <p:nvSpPr>
          <p:cNvPr id="7" name="Title 1"/>
          <p:cNvSpPr txBox="1">
            <a:spLocks/>
          </p:cNvSpPr>
          <p:nvPr/>
        </p:nvSpPr>
        <p:spPr>
          <a:xfrm>
            <a:off x="465986" y="-277716"/>
            <a:ext cx="6993990" cy="8580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buClr>
                <a:srgbClr val="800000"/>
              </a:buClr>
            </a:pPr>
            <a:r>
              <a:rPr lang="pt-BR" sz="1400" b="1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7</a:t>
            </a:r>
            <a:r>
              <a:rPr lang="pt-BR" sz="1400" b="1" dirty="0" smtClean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.8. </a:t>
            </a:r>
            <a:r>
              <a:rPr lang="pt-BR" sz="1400" b="1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&gt; Alta volumetria de incidentes classificados como Alto Impacto</a:t>
            </a:r>
            <a:endParaRPr lang="pt-PT" sz="1400" b="1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</p:txBody>
      </p:sp>
      <p:pic>
        <p:nvPicPr>
          <p:cNvPr id="3" name="Imagem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4648" y="858044"/>
            <a:ext cx="7614159" cy="4054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3211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21333" y="289005"/>
            <a:ext cx="1603348" cy="291323"/>
          </a:xfrm>
          <a:prstGeom prst="rect">
            <a:avLst/>
          </a:prstGeom>
        </p:spPr>
      </p:pic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780" t="78172" r="18395" b="12686"/>
          <a:stretch/>
        </p:blipFill>
        <p:spPr bwMode="auto">
          <a:xfrm>
            <a:off x="8188658" y="4384319"/>
            <a:ext cx="955343" cy="7639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1" descr="t03-02.jpg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1368" b="84909"/>
          <a:stretch/>
        </p:blipFill>
        <p:spPr>
          <a:xfrm>
            <a:off x="0" y="0"/>
            <a:ext cx="789296" cy="776935"/>
          </a:xfrm>
          <a:prstGeom prst="rect">
            <a:avLst/>
          </a:prstGeom>
        </p:spPr>
      </p:pic>
      <p:sp>
        <p:nvSpPr>
          <p:cNvPr id="7" name="Title 1"/>
          <p:cNvSpPr txBox="1">
            <a:spLocks/>
          </p:cNvSpPr>
          <p:nvPr/>
        </p:nvSpPr>
        <p:spPr>
          <a:xfrm>
            <a:off x="465986" y="-277716"/>
            <a:ext cx="6993990" cy="8580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buClr>
                <a:srgbClr val="800000"/>
              </a:buClr>
            </a:pPr>
            <a:r>
              <a:rPr lang="pt-BR" sz="1400" b="1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7</a:t>
            </a:r>
            <a:r>
              <a:rPr lang="pt-BR" sz="1400" b="1" dirty="0" smtClean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.9. </a:t>
            </a:r>
            <a:r>
              <a:rPr lang="pt-BR" sz="1400" b="1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&gt; Back </a:t>
            </a:r>
            <a:r>
              <a:rPr lang="pt-BR" sz="1400" b="1" dirty="0" err="1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up</a:t>
            </a:r>
            <a:r>
              <a:rPr lang="pt-BR" sz="1400" b="1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 - Todos os sites | Falta de backup de servidores críticos</a:t>
            </a:r>
            <a:endParaRPr lang="pt-PT" sz="1400" b="1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</p:txBody>
      </p:sp>
      <p:pic>
        <p:nvPicPr>
          <p:cNvPr id="5" name="Imagem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6137" y="434666"/>
            <a:ext cx="6768886" cy="46250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6121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Escritório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5_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7_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10_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Escritório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4761</TotalTime>
  <Words>1199</Words>
  <Application>Microsoft Office PowerPoint</Application>
  <PresentationFormat>Personalizar</PresentationFormat>
  <Paragraphs>325</Paragraphs>
  <Slides>34</Slides>
  <Notes>4</Notes>
  <HiddenSlides>0</HiddenSlides>
  <MMClips>0</MMClips>
  <ScaleCrop>false</ScaleCrop>
  <HeadingPairs>
    <vt:vector size="8" baseType="variant">
      <vt:variant>
        <vt:lpstr>Fontes usadas</vt:lpstr>
      </vt:variant>
      <vt:variant>
        <vt:i4>6</vt:i4>
      </vt:variant>
      <vt:variant>
        <vt:lpstr>Tema</vt:lpstr>
      </vt:variant>
      <vt:variant>
        <vt:i4>4</vt:i4>
      </vt:variant>
      <vt:variant>
        <vt:lpstr>Servidores OLE inseridos</vt:lpstr>
      </vt:variant>
      <vt:variant>
        <vt:i4>1</vt:i4>
      </vt:variant>
      <vt:variant>
        <vt:lpstr>Títulos de slides</vt:lpstr>
      </vt:variant>
      <vt:variant>
        <vt:i4>34</vt:i4>
      </vt:variant>
    </vt:vector>
  </HeadingPairs>
  <TitlesOfParts>
    <vt:vector size="45" baseType="lpstr">
      <vt:lpstr>Aharoni</vt:lpstr>
      <vt:lpstr>Arial</vt:lpstr>
      <vt:lpstr>Arial </vt:lpstr>
      <vt:lpstr>Arial Black</vt:lpstr>
      <vt:lpstr>Calibri</vt:lpstr>
      <vt:lpstr>Calibri Light</vt:lpstr>
      <vt:lpstr>Tema do Office</vt:lpstr>
      <vt:lpstr>5_Tema do Office</vt:lpstr>
      <vt:lpstr>7_Tema do Office</vt:lpstr>
      <vt:lpstr>10_Tema do Office</vt:lpstr>
      <vt:lpstr>Slide do think-cell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Home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Gustavo Nitzsche</dc:creator>
  <cp:lastModifiedBy>Luis Marçal</cp:lastModifiedBy>
  <cp:revision>379</cp:revision>
  <dcterms:created xsi:type="dcterms:W3CDTF">2015-08-20T14:57:26Z</dcterms:created>
  <dcterms:modified xsi:type="dcterms:W3CDTF">2015-10-16T17:26:50Z</dcterms:modified>
</cp:coreProperties>
</file>