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68" r:id="rId6"/>
    <p:sldMasterId id="2147483671" r:id="rId7"/>
    <p:sldMasterId id="2147483652" r:id="rId8"/>
  </p:sldMasterIdLst>
  <p:notesMasterIdLst>
    <p:notesMasterId r:id="rId12"/>
  </p:notesMasterIdLst>
  <p:sldIdLst>
    <p:sldId id="330" r:id="rId9"/>
    <p:sldId id="490" r:id="rId10"/>
    <p:sldId id="48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0130" autoAdjust="0"/>
  </p:normalViewPr>
  <p:slideViewPr>
    <p:cSldViewPr snapToGrid="0" snapToObjects="1">
      <p:cViewPr>
        <p:scale>
          <a:sx n="60" d="100"/>
          <a:sy n="60" d="100"/>
        </p:scale>
        <p:origin x="-1686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328C1-32DD-4424-948B-EFB98BF20FA7}" type="datetimeFigureOut">
              <a:rPr lang="en-US" smtClean="0"/>
              <a:pPr/>
              <a:t>9/1/2015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F6C8A-5433-49A1-AC9B-BF8CC3A8445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7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24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4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4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3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Font typeface="Arial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540000"/>
            <a:ext cx="382863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386596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000"/>
            <a:ext cx="408844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5228454" y="2540000"/>
            <a:ext cx="3531987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7" y="4027488"/>
            <a:ext cx="7787303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25882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3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172"/>
            <a:ext cx="7780749" cy="3373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73138" y="1983930"/>
            <a:ext cx="7780749" cy="3929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73138" y="1288627"/>
            <a:ext cx="7780749" cy="46248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112485"/>
            <a:ext cx="9143999" cy="49598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3128599" y="2623712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829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P/ Inte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/ Rod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063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81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08636" y="2172501"/>
            <a:ext cx="5280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9" name="Picture 8" descr="Apresentação-26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0" y="-141271"/>
            <a:ext cx="9143999" cy="7015984"/>
          </a:xfrm>
          <a:prstGeom prst="rect">
            <a:avLst/>
          </a:prstGeom>
        </p:spPr>
      </p:pic>
      <p:sp>
        <p:nvSpPr>
          <p:cNvPr id="4" name="Text Placeholder 13"/>
          <p:cNvSpPr txBox="1">
            <a:spLocks/>
          </p:cNvSpPr>
          <p:nvPr/>
        </p:nvSpPr>
        <p:spPr>
          <a:xfrm>
            <a:off x="2705623" y="2623712"/>
            <a:ext cx="6236402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 smtClean="0"/>
              <a:t>Reunião de Equipe Gestores Sala Técnica</a:t>
            </a:r>
          </a:p>
          <a:p>
            <a:r>
              <a:rPr lang="pt-BR" dirty="0" smtClean="0"/>
              <a:t>13/02/2014</a:t>
            </a:r>
          </a:p>
          <a:p>
            <a:r>
              <a:rPr lang="pt-BR" dirty="0" smtClean="0"/>
              <a:t>ATA N° 040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val="357991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6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rquivos_antigo-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6710" y="-1"/>
            <a:ext cx="9160710" cy="6865399"/>
          </a:xfrm>
          <a:prstGeom prst="rect">
            <a:avLst/>
          </a:prstGeom>
        </p:spPr>
      </p:pic>
      <p:pic>
        <p:nvPicPr>
          <p:cNvPr id="4" name="Picture 3" descr="Apresentação-26.jpg"/>
          <p:cNvPicPr>
            <a:picLocks noChangeAspect="1"/>
          </p:cNvPicPr>
          <p:nvPr/>
        </p:nvPicPr>
        <p:blipFill>
          <a:blip r:embed="rId17" cstate="print"/>
          <a:srcRect/>
          <a:stretch>
            <a:fillRect/>
          </a:stretch>
        </p:blipFill>
        <p:spPr>
          <a:xfrm>
            <a:off x="-16710" y="-177350"/>
            <a:ext cx="9160710" cy="71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9" r:id="rId4"/>
    <p:sldLayoutId id="2147483660" r:id="rId5"/>
    <p:sldLayoutId id="2147483661" r:id="rId6"/>
    <p:sldLayoutId id="2147483657" r:id="rId7"/>
    <p:sldLayoutId id="2147483656" r:id="rId8"/>
    <p:sldLayoutId id="2147483658" r:id="rId9"/>
    <p:sldLayoutId id="2147483662" r:id="rId10"/>
    <p:sldLayoutId id="2147483663" r:id="rId11"/>
    <p:sldLayoutId id="2147483664" r:id="rId12"/>
    <p:sldLayoutId id="2147483665" r:id="rId13"/>
    <p:sldLayoutId id="214748367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016684"/>
            <a:ext cx="9160193" cy="8413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332720" y="132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presentação-2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710" y="-76714"/>
            <a:ext cx="9160710" cy="69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4" t="18238" r="15035" b="53425"/>
          <a:stretch/>
        </p:blipFill>
        <p:spPr bwMode="auto">
          <a:xfrm>
            <a:off x="3081402" y="2415453"/>
            <a:ext cx="5849655" cy="2072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4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1174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6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2698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8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4222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10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5746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Text Placeholder 5"/>
          <p:cNvSpPr>
            <a:spLocks noGrp="1"/>
          </p:cNvSpPr>
          <p:nvPr/>
        </p:nvSpPr>
        <p:spPr>
          <a:xfrm>
            <a:off x="2755687" y="2266177"/>
            <a:ext cx="6388313" cy="1852298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400" b="1" dirty="0" smtClean="0">
                <a:solidFill>
                  <a:schemeClr val="tx2"/>
                </a:solidFill>
                <a:latin typeface="Century Gothic" pitchFamily="34" charset="0"/>
              </a:rPr>
              <a:t>INDICADORES DE TI</a:t>
            </a:r>
            <a:endParaRPr lang="pt-BR" sz="2400" b="1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pPr algn="r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7301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824786" y="177395"/>
            <a:ext cx="5813425" cy="510352"/>
          </a:xfrm>
        </p:spPr>
        <p:txBody>
          <a:bodyPr/>
          <a:lstStyle/>
          <a:p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Nível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entury Gothic" pitchFamily="34" charset="0"/>
              </a:rPr>
              <a:t>de </a:t>
            </a:r>
            <a:r>
              <a:rPr lang="en-US" dirty="0" err="1">
                <a:solidFill>
                  <a:schemeClr val="tx2"/>
                </a:solidFill>
                <a:latin typeface="Century Gothic" pitchFamily="34" charset="0"/>
              </a:rPr>
              <a:t>S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erviço</a:t>
            </a:r>
            <a:endParaRPr lang="en-US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04690"/>
              </p:ext>
            </p:extLst>
          </p:nvPr>
        </p:nvGraphicFramePr>
        <p:xfrm>
          <a:off x="247650" y="1670911"/>
          <a:ext cx="8782050" cy="3388516"/>
        </p:xfrm>
        <a:graphic>
          <a:graphicData uri="http://schemas.openxmlformats.org/drawingml/2006/table">
            <a:tbl>
              <a:tblPr/>
              <a:tblGrid>
                <a:gridCol w="1438275"/>
                <a:gridCol w="1978994"/>
                <a:gridCol w="1308224"/>
                <a:gridCol w="620978"/>
                <a:gridCol w="1063290"/>
                <a:gridCol w="1403194"/>
                <a:gridCol w="969095"/>
              </a:tblGrid>
              <a:tr h="511635">
                <a:tc gridSpan="2">
                  <a:txBody>
                    <a:bodyPr/>
                    <a:lstStyle/>
                    <a:p>
                      <a:pPr algn="l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30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COMPLEXIDADE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DESCRIÇÃO COMPLEXIDADE</a:t>
                      </a:r>
                      <a:r>
                        <a:rPr lang="pt-BR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 DO INCIDENTE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ALTO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Impacto TOTAL (indisponibilidade) ou impacto acima de </a:t>
                      </a:r>
                      <a:r>
                        <a:rPr lang="pt-B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30% 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da quantidade de posições de atendimento da operação.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86135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MÉDIO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Indisponibilidade de uma posição de atendimento ou um grupo de posições impactando a produtividade da operação, sem extrapolar o limite </a:t>
                      </a:r>
                      <a:r>
                        <a:rPr lang="pt-B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30% 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das posições de atendimento.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024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BAIXO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Sem impacto a geração de resultado da operação (produtividade).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3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77285" y="319899"/>
            <a:ext cx="5813425" cy="510352"/>
          </a:xfrm>
        </p:spPr>
        <p:txBody>
          <a:bodyPr/>
          <a:lstStyle/>
          <a:p>
            <a:r>
              <a:rPr lang="en-US" dirty="0" err="1">
                <a:solidFill>
                  <a:schemeClr val="tx2"/>
                </a:solidFill>
                <a:latin typeface="Century Gothic" pitchFamily="34" charset="0"/>
              </a:rPr>
              <a:t>N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Ível</a:t>
            </a:r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Century Gothic" pitchFamily="34" charset="0"/>
              </a:rPr>
              <a:t>S</a:t>
            </a:r>
            <a:r>
              <a:rPr lang="en-US" dirty="0" err="1" smtClean="0">
                <a:solidFill>
                  <a:schemeClr val="tx2"/>
                </a:solidFill>
                <a:latin typeface="Century Gothic" pitchFamily="34" charset="0"/>
              </a:rPr>
              <a:t>erviço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88808"/>
              </p:ext>
            </p:extLst>
          </p:nvPr>
        </p:nvGraphicFramePr>
        <p:xfrm>
          <a:off x="157227" y="840167"/>
          <a:ext cx="8849638" cy="5166950"/>
        </p:xfrm>
        <a:graphic>
          <a:graphicData uri="http://schemas.openxmlformats.org/drawingml/2006/table">
            <a:tbl>
              <a:tblPr/>
              <a:tblGrid>
                <a:gridCol w="1096249"/>
                <a:gridCol w="1695907"/>
                <a:gridCol w="2074205"/>
                <a:gridCol w="1014608"/>
                <a:gridCol w="738691"/>
                <a:gridCol w="576542"/>
                <a:gridCol w="931973"/>
                <a:gridCol w="721463"/>
              </a:tblGrid>
              <a:tr h="256589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38" marR="6538" marT="6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INDICADOR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O QUE É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COMO SERÁ MEDIDO OU APURADO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APURAÇÃO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NÍVEL DE SERVIÇO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88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SLA de atendimentos de incidentes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Porcentagem de chamados cujo o tempo total para solução foi atendido conforme o SLA definido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 medição deste indicador será a quantidade de incidentes atendidos dentro do tempo estipulado, dividido pela quantidade total de incidentes abertos por criticidade. complexidade.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MENSAL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IMPACTO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TEMPO DE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RECUPERAÇÃO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META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6858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ALTO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2 HORAS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95%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0330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MÉDIO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3 HORAS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85%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BAIXO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12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HORAS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75%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484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PESQUISA DE SATISFAÇÃO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Baseado na lista de chamados encerrados será enviados de forma aleatória pesquisas de satisfação 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Avaliação de um grau de satisfação mínimo na pesquisa de usuários, considerando bom ou excelente numa escala de 5 graus (péssimo, ruim, médio, bom, excelente).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MENSAL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BOM OU EXCELENTE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85%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81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REQUISIÇÃO DE SERVIÇOS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Solicitações de atividades de criação ou mudança de baixa complexidade.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 medição deste indicador será a quantidade de requisições atendidas dentro do tempo estipulado, dividido pela quantidade total de requisições.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MENSAL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 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SLA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 de TI desconsidera necessidade de aquisições que depende de processo de compra ou logístico 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48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HORAS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85%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33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Logo Grupo Conta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1139C90-FA66-45BF-95F5-438C4B1FB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83B94244-89C9-4E0E-B1DB-6B1A44EA3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492C84-DD8C-44DD-A88A-883CEE8F2250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35129</TotalTime>
  <Words>253</Words>
  <Application>Microsoft Office PowerPoint</Application>
  <PresentationFormat>Apresentação na tela (4:3)</PresentationFormat>
  <Paragraphs>45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Office Theme</vt:lpstr>
      <vt:lpstr>Custom Design</vt:lpstr>
      <vt:lpstr>Office Theme</vt:lpstr>
      <vt:lpstr>Office Theme</vt:lpstr>
      <vt:lpstr>Logo Grupo Contax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Daniel Donaire</cp:lastModifiedBy>
  <cp:revision>715</cp:revision>
  <dcterms:created xsi:type="dcterms:W3CDTF">2013-12-19T17:40:11Z</dcterms:created>
  <dcterms:modified xsi:type="dcterms:W3CDTF">2015-09-01T20:26:07Z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