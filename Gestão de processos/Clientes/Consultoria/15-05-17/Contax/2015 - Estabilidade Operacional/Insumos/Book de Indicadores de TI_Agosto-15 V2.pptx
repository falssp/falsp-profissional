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11"/>
  </p:notesMasterIdLst>
  <p:sldIdLst>
    <p:sldId id="257" r:id="rId3"/>
    <p:sldId id="283" r:id="rId4"/>
    <p:sldId id="400" r:id="rId5"/>
    <p:sldId id="396" r:id="rId6"/>
    <p:sldId id="397" r:id="rId7"/>
    <p:sldId id="398" r:id="rId8"/>
    <p:sldId id="399" r:id="rId9"/>
    <p:sldId id="401" r:id="rId10"/>
  </p:sldIdLst>
  <p:sldSz cx="9144000" cy="6858000" type="screen4x3"/>
  <p:notesSz cx="6858000" cy="9144000"/>
  <p:defaultTextStyle>
    <a:defPPr>
      <a:defRPr lang="pt-BR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  <a:srgbClr val="FFFF99"/>
    <a:srgbClr val="FFFFFF"/>
    <a:srgbClr val="FF9900"/>
    <a:srgbClr val="EAEAEA"/>
    <a:srgbClr val="00FF00"/>
    <a:srgbClr val="FF7C80"/>
    <a:srgbClr val="FF5050"/>
    <a:srgbClr val="F8F8F8"/>
    <a:srgbClr val="C6D9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26" autoAdjust="0"/>
    <p:restoredTop sz="94444" autoAdjust="0"/>
  </p:normalViewPr>
  <p:slideViewPr>
    <p:cSldViewPr>
      <p:cViewPr>
        <p:scale>
          <a:sx n="100" d="100"/>
          <a:sy n="100" d="100"/>
        </p:scale>
        <p:origin x="-438" y="-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Pasta3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Todo%20Roberto\CSC%20e%20CSE\Book%20RR%20do%20CSC\Para%20fazer%20graficos%20do%20Book%20RR%20do%20CSC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Todo%20Roberto\CSC%20e%20CSE\Book%20RR%20do%20CSC\Para%20fazer%20graficos%20do%20Book%20RR%20do%20CSC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C:\Todo%20Roberto\CSC%20e%20CSE\Book%20RR%20do%20CSC\Para%20fazer%20graficos%20do%20Book%20RR%20do%20CSC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Pasta3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C:\Todo%20Roberto\CSC%20e%20CSE\Book%20RR%20do%20CSC\Para%20fazer%20graficos%20do%20Book%20RR%20do%20CSC.xlsx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roberto.muto\AppData\Local\Microsoft\Windows\Temporary%20Internet%20Files\Content.Outlook\K16OV1SL\Indicadores%20de%20%20Mudan&#231;as_De%20Jan%20a%20Ago'15.xlsx" TargetMode="External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file:///C:\Users\roberto.muto\AppData\Local\Microsoft\Windows\Temporary%20Internet%20Files\Content.Outlook\K16OV1SL\Indicadores%20de%20%20Mudan&#231;as_De%20Jan%20a%20Ago'15%20(2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Incidentes!$B$5</c:f>
              <c:strCache>
                <c:ptCount val="1"/>
                <c:pt idx="0">
                  <c:v>Quantidade</c:v>
                </c:pt>
              </c:strCache>
            </c:strRef>
          </c:tx>
          <c:spPr>
            <a:gradFill>
              <a:gsLst>
                <a:gs pos="0">
                  <a:schemeClr val="accent5">
                    <a:lumMod val="75000"/>
                  </a:schemeClr>
                </a:gs>
                <a:gs pos="50000">
                  <a:schemeClr val="accent5">
                    <a:lumMod val="40000"/>
                    <a:lumOff val="6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lin ang="0" scaled="0"/>
            </a:gradFill>
          </c:spPr>
          <c:invertIfNegative val="0"/>
          <c:dLbls>
            <c:txPr>
              <a:bodyPr rot="-5400000" vert="horz"/>
              <a:lstStyle/>
              <a:p>
                <a:pPr>
                  <a:defRPr>
                    <a:solidFill>
                      <a:schemeClr val="tx1"/>
                    </a:solidFill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Incidentes!$C$4:$J$4</c:f>
              <c:numCache>
                <c:formatCode>mmm\-yy</c:formatCode>
                <c:ptCount val="8"/>
                <c:pt idx="0">
                  <c:v>42005</c:v>
                </c:pt>
                <c:pt idx="1">
                  <c:v>42036</c:v>
                </c:pt>
                <c:pt idx="2">
                  <c:v>42064</c:v>
                </c:pt>
                <c:pt idx="3">
                  <c:v>42095</c:v>
                </c:pt>
                <c:pt idx="4">
                  <c:v>42125</c:v>
                </c:pt>
                <c:pt idx="5">
                  <c:v>42156</c:v>
                </c:pt>
                <c:pt idx="6">
                  <c:v>42186</c:v>
                </c:pt>
                <c:pt idx="7">
                  <c:v>42217</c:v>
                </c:pt>
              </c:numCache>
            </c:numRef>
          </c:cat>
          <c:val>
            <c:numRef>
              <c:f>Incidentes!$C$5:$J$5</c:f>
              <c:numCache>
                <c:formatCode>#,##0</c:formatCode>
                <c:ptCount val="8"/>
                <c:pt idx="0">
                  <c:v>24899</c:v>
                </c:pt>
                <c:pt idx="1">
                  <c:v>21618</c:v>
                </c:pt>
                <c:pt idx="2">
                  <c:v>28066</c:v>
                </c:pt>
                <c:pt idx="3">
                  <c:v>22532</c:v>
                </c:pt>
                <c:pt idx="4">
                  <c:v>22919</c:v>
                </c:pt>
                <c:pt idx="5">
                  <c:v>18740</c:v>
                </c:pt>
                <c:pt idx="6">
                  <c:v>21574</c:v>
                </c:pt>
                <c:pt idx="7">
                  <c:v>14970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5872384"/>
        <c:axId val="85142912"/>
      </c:barChart>
      <c:dateAx>
        <c:axId val="105872384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85142912"/>
        <c:crosses val="autoZero"/>
        <c:auto val="1"/>
        <c:lblOffset val="100"/>
        <c:baseTimeUnit val="months"/>
      </c:dateAx>
      <c:valAx>
        <c:axId val="85142912"/>
        <c:scaling>
          <c:orientation val="minMax"/>
        </c:scaling>
        <c:delete val="1"/>
        <c:axPos val="l"/>
        <c:numFmt formatCode="#,##0" sourceLinked="1"/>
        <c:majorTickMark val="out"/>
        <c:minorTickMark val="none"/>
        <c:tickLblPos val="nextTo"/>
        <c:crossAx val="10587238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Incidentes!$B$7</c:f>
              <c:strCache>
                <c:ptCount val="1"/>
                <c:pt idx="0">
                  <c:v>SLA Alto Impacto</c:v>
                </c:pt>
              </c:strCache>
            </c:strRef>
          </c:tx>
          <c:spPr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50000">
                  <a:schemeClr val="accent5">
                    <a:lumMod val="40000"/>
                    <a:lumOff val="6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lin ang="0" scaled="1"/>
              <a:tileRect/>
            </a:gradFill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Incidentes!$C$4:$J$4</c:f>
              <c:numCache>
                <c:formatCode>mmm\-yy</c:formatCode>
                <c:ptCount val="8"/>
                <c:pt idx="0">
                  <c:v>42005</c:v>
                </c:pt>
                <c:pt idx="1">
                  <c:v>42036</c:v>
                </c:pt>
                <c:pt idx="2">
                  <c:v>42064</c:v>
                </c:pt>
                <c:pt idx="3">
                  <c:v>42095</c:v>
                </c:pt>
                <c:pt idx="4">
                  <c:v>42125</c:v>
                </c:pt>
                <c:pt idx="5">
                  <c:v>42156</c:v>
                </c:pt>
                <c:pt idx="6">
                  <c:v>42186</c:v>
                </c:pt>
                <c:pt idx="7">
                  <c:v>42217</c:v>
                </c:pt>
              </c:numCache>
            </c:numRef>
          </c:cat>
          <c:val>
            <c:numRef>
              <c:f>Incidentes!$C$7:$J$7</c:f>
              <c:numCache>
                <c:formatCode>0%</c:formatCode>
                <c:ptCount val="8"/>
                <c:pt idx="0">
                  <c:v>0.88275084554678696</c:v>
                </c:pt>
                <c:pt idx="1">
                  <c:v>0.95955165692007793</c:v>
                </c:pt>
                <c:pt idx="2">
                  <c:v>0.91992753623188406</c:v>
                </c:pt>
                <c:pt idx="3">
                  <c:v>0.96597880646960399</c:v>
                </c:pt>
                <c:pt idx="4">
                  <c:v>0.96816114359974004</c:v>
                </c:pt>
                <c:pt idx="5">
                  <c:v>0.96730632551528073</c:v>
                </c:pt>
                <c:pt idx="6">
                  <c:v>0.96646132785763172</c:v>
                </c:pt>
                <c:pt idx="7">
                  <c:v>0.95731707317073167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5871360"/>
        <c:axId val="85145216"/>
      </c:barChart>
      <c:barChart>
        <c:barDir val="col"/>
        <c:grouping val="clustered"/>
        <c:varyColors val="0"/>
        <c:ser>
          <c:idx val="1"/>
          <c:order val="1"/>
          <c:tx>
            <c:strRef>
              <c:f>Incidentes!$B$10</c:f>
              <c:strCache>
                <c:ptCount val="1"/>
                <c:pt idx="0">
                  <c:v>Quantidade Alto</c:v>
                </c:pt>
              </c:strCache>
            </c:strRef>
          </c:tx>
          <c:spPr>
            <a:noFill/>
          </c:spPr>
          <c:invertIfNegative val="0"/>
          <c:dLbls>
            <c:txPr>
              <a:bodyPr rot="-5400000" vert="horz"/>
              <a:lstStyle/>
              <a:p>
                <a:pPr>
                  <a:defRPr/>
                </a:pPr>
                <a:endParaRPr lang="pt-B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val>
            <c:numRef>
              <c:f>Incidentes!$C$10:$J$10</c:f>
              <c:numCache>
                <c:formatCode>#,##0</c:formatCode>
                <c:ptCount val="8"/>
                <c:pt idx="0">
                  <c:v>2714</c:v>
                </c:pt>
                <c:pt idx="1">
                  <c:v>2110</c:v>
                </c:pt>
                <c:pt idx="2">
                  <c:v>2814</c:v>
                </c:pt>
                <c:pt idx="3">
                  <c:v>1837</c:v>
                </c:pt>
                <c:pt idx="4">
                  <c:v>1570</c:v>
                </c:pt>
                <c:pt idx="5">
                  <c:v>1425</c:v>
                </c:pt>
                <c:pt idx="6">
                  <c:v>1504</c:v>
                </c:pt>
                <c:pt idx="7">
                  <c:v>1026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7077632"/>
        <c:axId val="85145792"/>
      </c:barChart>
      <c:dateAx>
        <c:axId val="105871360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85145216"/>
        <c:crosses val="autoZero"/>
        <c:auto val="1"/>
        <c:lblOffset val="100"/>
        <c:baseTimeUnit val="months"/>
      </c:dateAx>
      <c:valAx>
        <c:axId val="85145216"/>
        <c:scaling>
          <c:orientation val="minMax"/>
          <c:max val="1"/>
        </c:scaling>
        <c:delete val="1"/>
        <c:axPos val="l"/>
        <c:numFmt formatCode="0%" sourceLinked="1"/>
        <c:majorTickMark val="out"/>
        <c:minorTickMark val="none"/>
        <c:tickLblPos val="nextTo"/>
        <c:crossAx val="105871360"/>
        <c:crosses val="autoZero"/>
        <c:crossBetween val="between"/>
      </c:valAx>
      <c:valAx>
        <c:axId val="85145792"/>
        <c:scaling>
          <c:orientation val="minMax"/>
        </c:scaling>
        <c:delete val="1"/>
        <c:axPos val="r"/>
        <c:numFmt formatCode="#,##0" sourceLinked="1"/>
        <c:majorTickMark val="out"/>
        <c:minorTickMark val="none"/>
        <c:tickLblPos val="nextTo"/>
        <c:crossAx val="107077632"/>
        <c:crosses val="max"/>
        <c:crossBetween val="between"/>
      </c:valAx>
      <c:catAx>
        <c:axId val="107077632"/>
        <c:scaling>
          <c:orientation val="minMax"/>
        </c:scaling>
        <c:delete val="1"/>
        <c:axPos val="b"/>
        <c:majorTickMark val="out"/>
        <c:minorTickMark val="none"/>
        <c:tickLblPos val="nextTo"/>
        <c:crossAx val="85145792"/>
        <c:crosses val="autoZero"/>
        <c:auto val="1"/>
        <c:lblAlgn val="ctr"/>
        <c:lblOffset val="100"/>
        <c:noMultiLvlLbl val="0"/>
      </c:catAx>
    </c:plotArea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Incidentes!$B$8</c:f>
              <c:strCache>
                <c:ptCount val="1"/>
                <c:pt idx="0">
                  <c:v>SLA Médio Impacto</c:v>
                </c:pt>
              </c:strCache>
            </c:strRef>
          </c:tx>
          <c:spPr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50000">
                  <a:schemeClr val="accent5">
                    <a:lumMod val="40000"/>
                    <a:lumOff val="6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lin ang="0" scaled="1"/>
              <a:tileRect/>
            </a:gradFill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Incidentes!$C$4:$J$4</c:f>
              <c:numCache>
                <c:formatCode>mmm\-yy</c:formatCode>
                <c:ptCount val="8"/>
                <c:pt idx="0">
                  <c:v>42005</c:v>
                </c:pt>
                <c:pt idx="1">
                  <c:v>42036</c:v>
                </c:pt>
                <c:pt idx="2">
                  <c:v>42064</c:v>
                </c:pt>
                <c:pt idx="3">
                  <c:v>42095</c:v>
                </c:pt>
                <c:pt idx="4">
                  <c:v>42125</c:v>
                </c:pt>
                <c:pt idx="5">
                  <c:v>42156</c:v>
                </c:pt>
                <c:pt idx="6">
                  <c:v>42186</c:v>
                </c:pt>
                <c:pt idx="7">
                  <c:v>42217</c:v>
                </c:pt>
              </c:numCache>
            </c:numRef>
          </c:cat>
          <c:val>
            <c:numRef>
              <c:f>Incidentes!$C$8:$J$8</c:f>
              <c:numCache>
                <c:formatCode>0%</c:formatCode>
                <c:ptCount val="8"/>
                <c:pt idx="0">
                  <c:v>0.60050890585241734</c:v>
                </c:pt>
                <c:pt idx="1">
                  <c:v>0.67904509283819625</c:v>
                </c:pt>
                <c:pt idx="2">
                  <c:v>0.67351430667644896</c:v>
                </c:pt>
                <c:pt idx="3">
                  <c:v>0.77892403444453917</c:v>
                </c:pt>
                <c:pt idx="4">
                  <c:v>0.85138750860025991</c:v>
                </c:pt>
                <c:pt idx="5">
                  <c:v>0.87510596213619662</c:v>
                </c:pt>
                <c:pt idx="6">
                  <c:v>0.89628284554582349</c:v>
                </c:pt>
                <c:pt idx="7">
                  <c:v>0.88829686013320652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5870336"/>
        <c:axId val="104955904"/>
      </c:barChart>
      <c:barChart>
        <c:barDir val="col"/>
        <c:grouping val="clustered"/>
        <c:varyColors val="0"/>
        <c:ser>
          <c:idx val="1"/>
          <c:order val="1"/>
          <c:tx>
            <c:strRef>
              <c:f>Incidentes!$B$11</c:f>
              <c:strCache>
                <c:ptCount val="1"/>
                <c:pt idx="0">
                  <c:v>Quantidade Médio</c:v>
                </c:pt>
              </c:strCache>
            </c:strRef>
          </c:tx>
          <c:spPr>
            <a:noFill/>
          </c:spPr>
          <c:invertIfNegative val="0"/>
          <c:dLbls>
            <c:txPr>
              <a:bodyPr rot="-5400000" vert="horz"/>
              <a:lstStyle/>
              <a:p>
                <a:pPr>
                  <a:defRPr/>
                </a:pPr>
                <a:endParaRPr lang="pt-B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val>
            <c:numRef>
              <c:f>Incidentes!$C$11:$J$11</c:f>
              <c:numCache>
                <c:formatCode>#,##0</c:formatCode>
                <c:ptCount val="8"/>
                <c:pt idx="0">
                  <c:v>402</c:v>
                </c:pt>
                <c:pt idx="1">
                  <c:v>388</c:v>
                </c:pt>
                <c:pt idx="2">
                  <c:v>4136</c:v>
                </c:pt>
                <c:pt idx="3">
                  <c:v>11820</c:v>
                </c:pt>
                <c:pt idx="4">
                  <c:v>13129</c:v>
                </c:pt>
                <c:pt idx="5">
                  <c:v>10664</c:v>
                </c:pt>
                <c:pt idx="6">
                  <c:v>9573</c:v>
                </c:pt>
                <c:pt idx="7">
                  <c:v>5311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7079168"/>
        <c:axId val="104956480"/>
      </c:barChart>
      <c:dateAx>
        <c:axId val="105870336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104955904"/>
        <c:crosses val="autoZero"/>
        <c:auto val="1"/>
        <c:lblOffset val="100"/>
        <c:baseTimeUnit val="months"/>
      </c:dateAx>
      <c:valAx>
        <c:axId val="104955904"/>
        <c:scaling>
          <c:orientation val="minMax"/>
          <c:max val="1"/>
        </c:scaling>
        <c:delete val="0"/>
        <c:axPos val="l"/>
        <c:numFmt formatCode="0%" sourceLinked="1"/>
        <c:majorTickMark val="none"/>
        <c:minorTickMark val="none"/>
        <c:tickLblPos val="none"/>
        <c:spPr>
          <a:ln>
            <a:noFill/>
          </a:ln>
        </c:spPr>
        <c:crossAx val="105870336"/>
        <c:crosses val="autoZero"/>
        <c:crossBetween val="between"/>
      </c:valAx>
      <c:valAx>
        <c:axId val="104956480"/>
        <c:scaling>
          <c:orientation val="minMax"/>
        </c:scaling>
        <c:delete val="0"/>
        <c:axPos val="r"/>
        <c:numFmt formatCode="#,##0" sourceLinked="1"/>
        <c:majorTickMark val="none"/>
        <c:minorTickMark val="none"/>
        <c:tickLblPos val="none"/>
        <c:spPr>
          <a:ln>
            <a:noFill/>
          </a:ln>
        </c:spPr>
        <c:crossAx val="107079168"/>
        <c:crosses val="max"/>
        <c:crossBetween val="between"/>
      </c:valAx>
      <c:catAx>
        <c:axId val="107079168"/>
        <c:scaling>
          <c:orientation val="minMax"/>
        </c:scaling>
        <c:delete val="1"/>
        <c:axPos val="b"/>
        <c:majorTickMark val="out"/>
        <c:minorTickMark val="none"/>
        <c:tickLblPos val="nextTo"/>
        <c:crossAx val="104956480"/>
        <c:crosses val="autoZero"/>
        <c:auto val="1"/>
        <c:lblAlgn val="ctr"/>
        <c:lblOffset val="100"/>
        <c:noMultiLvlLbl val="0"/>
      </c:cat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Incidentes!$B$9</c:f>
              <c:strCache>
                <c:ptCount val="1"/>
                <c:pt idx="0">
                  <c:v>SLA Baixo Impacto</c:v>
                </c:pt>
              </c:strCache>
            </c:strRef>
          </c:tx>
          <c:spPr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50000">
                  <a:schemeClr val="accent5">
                    <a:lumMod val="40000"/>
                    <a:lumOff val="6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lin ang="0" scaled="1"/>
              <a:tileRect/>
            </a:gradFill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Incidentes!$C$4:$J$4</c:f>
              <c:numCache>
                <c:formatCode>mmm\-yy</c:formatCode>
                <c:ptCount val="8"/>
                <c:pt idx="0">
                  <c:v>42005</c:v>
                </c:pt>
                <c:pt idx="1">
                  <c:v>42036</c:v>
                </c:pt>
                <c:pt idx="2">
                  <c:v>42064</c:v>
                </c:pt>
                <c:pt idx="3">
                  <c:v>42095</c:v>
                </c:pt>
                <c:pt idx="4">
                  <c:v>42125</c:v>
                </c:pt>
                <c:pt idx="5">
                  <c:v>42156</c:v>
                </c:pt>
                <c:pt idx="6">
                  <c:v>42186</c:v>
                </c:pt>
                <c:pt idx="7">
                  <c:v>42217</c:v>
                </c:pt>
              </c:numCache>
            </c:numRef>
          </c:cat>
          <c:val>
            <c:numRef>
              <c:f>Incidentes!$C$9:$J$9</c:f>
              <c:numCache>
                <c:formatCode>0%</c:formatCode>
                <c:ptCount val="8"/>
                <c:pt idx="0">
                  <c:v>0.77840066716085987</c:v>
                </c:pt>
                <c:pt idx="1">
                  <c:v>0.84934474741069543</c:v>
                </c:pt>
                <c:pt idx="2">
                  <c:v>0.87119404409659251</c:v>
                </c:pt>
                <c:pt idx="3">
                  <c:v>0.94249713631156928</c:v>
                </c:pt>
                <c:pt idx="4">
                  <c:v>0.93590869183494296</c:v>
                </c:pt>
                <c:pt idx="5">
                  <c:v>0.94053971642018597</c:v>
                </c:pt>
                <c:pt idx="6">
                  <c:v>0.93708385602624722</c:v>
                </c:pt>
                <c:pt idx="7">
                  <c:v>0.89037558685446005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7078144"/>
        <c:axId val="104958208"/>
      </c:barChart>
      <c:barChart>
        <c:barDir val="col"/>
        <c:grouping val="clustered"/>
        <c:varyColors val="0"/>
        <c:ser>
          <c:idx val="1"/>
          <c:order val="1"/>
          <c:tx>
            <c:strRef>
              <c:f>Incidentes!$B$12</c:f>
              <c:strCache>
                <c:ptCount val="1"/>
                <c:pt idx="0">
                  <c:v>Quantidade Baixo</c:v>
                </c:pt>
              </c:strCache>
            </c:strRef>
          </c:tx>
          <c:spPr>
            <a:noFill/>
          </c:spPr>
          <c:invertIfNegative val="0"/>
          <c:dLbls>
            <c:txPr>
              <a:bodyPr rot="-5400000" vert="horz"/>
              <a:lstStyle/>
              <a:p>
                <a:pPr>
                  <a:defRPr/>
                </a:pPr>
                <a:endParaRPr lang="pt-B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val>
            <c:numRef>
              <c:f>Incidentes!$C$12:$J$12</c:f>
              <c:numCache>
                <c:formatCode>#,##0</c:formatCode>
                <c:ptCount val="8"/>
                <c:pt idx="0">
                  <c:v>21783</c:v>
                </c:pt>
                <c:pt idx="1">
                  <c:v>19120</c:v>
                </c:pt>
                <c:pt idx="2">
                  <c:v>21116</c:v>
                </c:pt>
                <c:pt idx="3">
                  <c:v>8875</c:v>
                </c:pt>
                <c:pt idx="4">
                  <c:v>8220</c:v>
                </c:pt>
                <c:pt idx="5">
                  <c:v>6651</c:v>
                </c:pt>
                <c:pt idx="6">
                  <c:v>10497</c:v>
                </c:pt>
                <c:pt idx="7">
                  <c:v>8633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7080704"/>
        <c:axId val="104958784"/>
      </c:barChart>
      <c:dateAx>
        <c:axId val="107078144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104958208"/>
        <c:crosses val="autoZero"/>
        <c:auto val="1"/>
        <c:lblOffset val="100"/>
        <c:baseTimeUnit val="months"/>
      </c:dateAx>
      <c:valAx>
        <c:axId val="104958208"/>
        <c:scaling>
          <c:orientation val="minMax"/>
          <c:max val="1"/>
        </c:scaling>
        <c:delete val="0"/>
        <c:axPos val="l"/>
        <c:numFmt formatCode="0%" sourceLinked="1"/>
        <c:majorTickMark val="none"/>
        <c:minorTickMark val="none"/>
        <c:tickLblPos val="none"/>
        <c:spPr>
          <a:ln>
            <a:noFill/>
          </a:ln>
        </c:spPr>
        <c:crossAx val="107078144"/>
        <c:crosses val="autoZero"/>
        <c:crossBetween val="between"/>
      </c:valAx>
      <c:valAx>
        <c:axId val="104958784"/>
        <c:scaling>
          <c:orientation val="minMax"/>
        </c:scaling>
        <c:delete val="0"/>
        <c:axPos val="r"/>
        <c:numFmt formatCode="#,##0" sourceLinked="1"/>
        <c:majorTickMark val="none"/>
        <c:minorTickMark val="none"/>
        <c:tickLblPos val="none"/>
        <c:spPr>
          <a:ln>
            <a:noFill/>
          </a:ln>
        </c:spPr>
        <c:crossAx val="107080704"/>
        <c:crosses val="max"/>
        <c:crossBetween val="between"/>
      </c:valAx>
      <c:catAx>
        <c:axId val="107080704"/>
        <c:scaling>
          <c:orientation val="minMax"/>
        </c:scaling>
        <c:delete val="1"/>
        <c:axPos val="b"/>
        <c:majorTickMark val="out"/>
        <c:minorTickMark val="none"/>
        <c:tickLblPos val="nextTo"/>
        <c:crossAx val="104958784"/>
        <c:crosses val="autoZero"/>
        <c:auto val="1"/>
        <c:lblAlgn val="ctr"/>
        <c:lblOffset val="100"/>
        <c:noMultiLvlLbl val="0"/>
      </c:cat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Requisições!$B$6</c:f>
              <c:strCache>
                <c:ptCount val="1"/>
                <c:pt idx="0">
                  <c:v>Quantidade</c:v>
                </c:pt>
              </c:strCache>
            </c:strRef>
          </c:tx>
          <c:spPr>
            <a:gradFill>
              <a:gsLst>
                <a:gs pos="0">
                  <a:schemeClr val="accent5">
                    <a:lumMod val="75000"/>
                  </a:schemeClr>
                </a:gs>
                <a:gs pos="50000">
                  <a:schemeClr val="accent5">
                    <a:lumMod val="40000"/>
                    <a:lumOff val="6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lin ang="0" scaled="1"/>
            </a:gradFill>
          </c:spPr>
          <c:invertIfNegative val="0"/>
          <c:dLbls>
            <c:txPr>
              <a:bodyPr rot="-5400000" vert="horz"/>
              <a:lstStyle/>
              <a:p>
                <a:pPr>
                  <a:defRPr/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Requisições!$C$5:$J$5</c:f>
              <c:numCache>
                <c:formatCode>mmm\-yy</c:formatCode>
                <c:ptCount val="8"/>
                <c:pt idx="0">
                  <c:v>42005</c:v>
                </c:pt>
                <c:pt idx="1">
                  <c:v>42036</c:v>
                </c:pt>
                <c:pt idx="2">
                  <c:v>42064</c:v>
                </c:pt>
                <c:pt idx="3">
                  <c:v>42095</c:v>
                </c:pt>
                <c:pt idx="4">
                  <c:v>42125</c:v>
                </c:pt>
                <c:pt idx="5">
                  <c:v>42156</c:v>
                </c:pt>
                <c:pt idx="6">
                  <c:v>42186</c:v>
                </c:pt>
                <c:pt idx="7">
                  <c:v>42217</c:v>
                </c:pt>
              </c:numCache>
            </c:numRef>
          </c:cat>
          <c:val>
            <c:numRef>
              <c:f>Requisições!$C$6:$J$6</c:f>
              <c:numCache>
                <c:formatCode>#,##0</c:formatCode>
                <c:ptCount val="8"/>
                <c:pt idx="0">
                  <c:v>16708</c:v>
                </c:pt>
                <c:pt idx="1">
                  <c:v>15793</c:v>
                </c:pt>
                <c:pt idx="2">
                  <c:v>18931</c:v>
                </c:pt>
                <c:pt idx="3">
                  <c:v>16197</c:v>
                </c:pt>
                <c:pt idx="4">
                  <c:v>15180</c:v>
                </c:pt>
                <c:pt idx="5">
                  <c:v>15557</c:v>
                </c:pt>
                <c:pt idx="6">
                  <c:v>13160</c:v>
                </c:pt>
                <c:pt idx="7">
                  <c:v>7616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5973248"/>
        <c:axId val="104959936"/>
      </c:barChart>
      <c:dateAx>
        <c:axId val="105973248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104959936"/>
        <c:crosses val="autoZero"/>
        <c:auto val="1"/>
        <c:lblOffset val="100"/>
        <c:baseTimeUnit val="months"/>
      </c:dateAx>
      <c:valAx>
        <c:axId val="104959936"/>
        <c:scaling>
          <c:orientation val="minMax"/>
        </c:scaling>
        <c:delete val="1"/>
        <c:axPos val="l"/>
        <c:numFmt formatCode="#,##0" sourceLinked="1"/>
        <c:majorTickMark val="out"/>
        <c:minorTickMark val="none"/>
        <c:tickLblPos val="nextTo"/>
        <c:crossAx val="105973248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Requisições!$B$7</c:f>
              <c:strCache>
                <c:ptCount val="1"/>
                <c:pt idx="0">
                  <c:v>SLA</c:v>
                </c:pt>
              </c:strCache>
            </c:strRef>
          </c:tx>
          <c:spPr>
            <a:gradFill>
              <a:gsLst>
                <a:gs pos="0">
                  <a:schemeClr val="accent5">
                    <a:lumMod val="75000"/>
                  </a:schemeClr>
                </a:gs>
                <a:gs pos="50000">
                  <a:schemeClr val="accent5">
                    <a:lumMod val="40000"/>
                    <a:lumOff val="6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lin ang="0" scaled="1"/>
            </a:gradFill>
          </c:spPr>
          <c:invertIfNegative val="0"/>
          <c:dLbls>
            <c:dLbl>
              <c:idx val="0"/>
              <c:layout>
                <c:manualLayout>
                  <c:x val="6.1728395061728392E-3"/>
                  <c:y val="1.542759961127310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6.1728395061728392E-3"/>
                  <c:y val="2.05697278911564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1.2345435987168271E-2"/>
                  <c:y val="-1.542800453514740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6.1725964809954308E-3"/>
                  <c:y val="-1.54280045351473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Requisições!$C$5:$J$5</c:f>
              <c:numCache>
                <c:formatCode>mmm\-yy</c:formatCode>
                <c:ptCount val="8"/>
                <c:pt idx="0">
                  <c:v>42005</c:v>
                </c:pt>
                <c:pt idx="1">
                  <c:v>42036</c:v>
                </c:pt>
                <c:pt idx="2">
                  <c:v>42064</c:v>
                </c:pt>
                <c:pt idx="3">
                  <c:v>42095</c:v>
                </c:pt>
                <c:pt idx="4">
                  <c:v>42125</c:v>
                </c:pt>
                <c:pt idx="5">
                  <c:v>42156</c:v>
                </c:pt>
                <c:pt idx="6">
                  <c:v>42186</c:v>
                </c:pt>
                <c:pt idx="7">
                  <c:v>42217</c:v>
                </c:pt>
              </c:numCache>
            </c:numRef>
          </c:cat>
          <c:val>
            <c:numRef>
              <c:f>Requisições!$C$7:$J$7</c:f>
              <c:numCache>
                <c:formatCode>0%</c:formatCode>
                <c:ptCount val="8"/>
                <c:pt idx="0">
                  <c:v>0.76739999999999997</c:v>
                </c:pt>
                <c:pt idx="1">
                  <c:v>0.77600000000000002</c:v>
                </c:pt>
                <c:pt idx="2">
                  <c:v>0.82010000000000005</c:v>
                </c:pt>
                <c:pt idx="3">
                  <c:v>0.81459999999999999</c:v>
                </c:pt>
                <c:pt idx="4">
                  <c:v>0.85309999999999997</c:v>
                </c:pt>
                <c:pt idx="5">
                  <c:v>0.84350000000000003</c:v>
                </c:pt>
                <c:pt idx="6">
                  <c:v>0.84930000000000005</c:v>
                </c:pt>
                <c:pt idx="7">
                  <c:v>0.85329999999999995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5973760"/>
        <c:axId val="104962816"/>
      </c:barChart>
      <c:barChart>
        <c:barDir val="col"/>
        <c:grouping val="clustered"/>
        <c:varyColors val="0"/>
        <c:ser>
          <c:idx val="1"/>
          <c:order val="1"/>
          <c:tx>
            <c:strRef>
              <c:f>Requisições!$B$6</c:f>
              <c:strCache>
                <c:ptCount val="1"/>
                <c:pt idx="0">
                  <c:v>Quantidade</c:v>
                </c:pt>
              </c:strCache>
            </c:strRef>
          </c:tx>
          <c:spPr>
            <a:noFill/>
          </c:spPr>
          <c:invertIfNegative val="0"/>
          <c:dLbls>
            <c:txPr>
              <a:bodyPr rot="-5400000" vert="horz"/>
              <a:lstStyle/>
              <a:p>
                <a:pPr>
                  <a:defRPr/>
                </a:pPr>
                <a:endParaRPr lang="pt-B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val>
            <c:numRef>
              <c:f>Requisições!$C$6:$J$6</c:f>
              <c:numCache>
                <c:formatCode>#,##0</c:formatCode>
                <c:ptCount val="8"/>
                <c:pt idx="0">
                  <c:v>16708</c:v>
                </c:pt>
                <c:pt idx="1">
                  <c:v>15793</c:v>
                </c:pt>
                <c:pt idx="2">
                  <c:v>18931</c:v>
                </c:pt>
                <c:pt idx="3">
                  <c:v>16197</c:v>
                </c:pt>
                <c:pt idx="4">
                  <c:v>15180</c:v>
                </c:pt>
                <c:pt idx="5">
                  <c:v>15557</c:v>
                </c:pt>
                <c:pt idx="6">
                  <c:v>13160</c:v>
                </c:pt>
                <c:pt idx="7">
                  <c:v>7616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05975296"/>
        <c:axId val="104963392"/>
      </c:barChart>
      <c:dateAx>
        <c:axId val="105973760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104962816"/>
        <c:crosses val="autoZero"/>
        <c:auto val="1"/>
        <c:lblOffset val="100"/>
        <c:baseTimeUnit val="months"/>
      </c:dateAx>
      <c:valAx>
        <c:axId val="104962816"/>
        <c:scaling>
          <c:orientation val="minMax"/>
          <c:max val="1"/>
        </c:scaling>
        <c:delete val="0"/>
        <c:axPos val="l"/>
        <c:numFmt formatCode="0%" sourceLinked="1"/>
        <c:majorTickMark val="none"/>
        <c:minorTickMark val="none"/>
        <c:tickLblPos val="none"/>
        <c:spPr>
          <a:ln>
            <a:noFill/>
          </a:ln>
        </c:spPr>
        <c:crossAx val="105973760"/>
        <c:crosses val="autoZero"/>
        <c:crossBetween val="between"/>
      </c:valAx>
      <c:valAx>
        <c:axId val="104963392"/>
        <c:scaling>
          <c:orientation val="minMax"/>
        </c:scaling>
        <c:delete val="0"/>
        <c:axPos val="r"/>
        <c:numFmt formatCode="#,##0" sourceLinked="1"/>
        <c:majorTickMark val="none"/>
        <c:minorTickMark val="none"/>
        <c:tickLblPos val="none"/>
        <c:spPr>
          <a:ln>
            <a:noFill/>
          </a:ln>
        </c:spPr>
        <c:crossAx val="105975296"/>
        <c:crosses val="max"/>
        <c:crossBetween val="between"/>
      </c:valAx>
      <c:catAx>
        <c:axId val="105975296"/>
        <c:scaling>
          <c:orientation val="minMax"/>
        </c:scaling>
        <c:delete val="1"/>
        <c:axPos val="b"/>
        <c:majorTickMark val="out"/>
        <c:minorTickMark val="none"/>
        <c:tickLblPos val="nextTo"/>
        <c:crossAx val="104963392"/>
        <c:crosses val="autoZero"/>
        <c:auto val="1"/>
        <c:lblAlgn val="ctr"/>
        <c:lblOffset val="100"/>
        <c:noMultiLvlLbl val="0"/>
      </c:catAx>
    </c:plotArea>
    <c:plotVisOnly val="1"/>
    <c:dispBlanksAs val="gap"/>
    <c:showDLblsOverMax val="0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rAngAx val="1"/>
    </c:view3D>
    <c:floor>
      <c:thickness val="0"/>
    </c:floor>
    <c:sideWall>
      <c:thickness val="0"/>
    </c:sideWall>
    <c:backWall>
      <c:thickness val="0"/>
    </c:backWall>
    <c:plotArea>
      <c:layout>
        <c:manualLayout>
          <c:layoutTarget val="inner"/>
          <c:xMode val="edge"/>
          <c:yMode val="edge"/>
          <c:x val="8.4167917726237537E-2"/>
          <c:y val="0.15449122751871583"/>
          <c:w val="0.61306826316131968"/>
          <c:h val="0.71911832020997379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'Indicadores Gmuds-Jan a Ago''15'!$B$30</c:f>
              <c:strCache>
                <c:ptCount val="1"/>
                <c:pt idx="0">
                  <c:v>Gmud Programas Canceladas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</c:spPr>
          <c:invertIfNegative val="0"/>
          <c:dLbls>
            <c:dLbl>
              <c:idx val="0"/>
              <c:layout>
                <c:manualLayout>
                  <c:x val="9.2776673293571907E-3"/>
                  <c:y val="-2.2831050228310501E-2"/>
                </c:manualLayout>
              </c:layout>
              <c:spPr>
                <a:noFill/>
              </c:spPr>
              <c:txPr>
                <a:bodyPr/>
                <a:lstStyle/>
                <a:p>
                  <a:pPr>
                    <a:defRPr sz="1200" b="1">
                      <a:solidFill>
                        <a:srgbClr val="FF0000"/>
                      </a:solidFill>
                    </a:defRPr>
                  </a:pPr>
                  <a:endParaRPr lang="pt-B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1.5904572564612373E-2"/>
                  <c:y val="-1.598173515981735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1.8555334658714381E-2"/>
                  <c:y val="-1.598173515981735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200" b="1">
                    <a:solidFill>
                      <a:srgbClr val="FF0000"/>
                    </a:solidFill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'Indicadores Gmuds-Jan a Ago''15'!$A$31:$A$34</c:f>
              <c:strCache>
                <c:ptCount val="4"/>
                <c:pt idx="0">
                  <c:v>Mai'15</c:v>
                </c:pt>
                <c:pt idx="1">
                  <c:v>Jun'15</c:v>
                </c:pt>
                <c:pt idx="2">
                  <c:v>Jul'15</c:v>
                </c:pt>
                <c:pt idx="3">
                  <c:v>Ago'15</c:v>
                </c:pt>
              </c:strCache>
            </c:strRef>
          </c:cat>
          <c:val>
            <c:numRef>
              <c:f>'Indicadores Gmuds-Jan a Ago''15'!$B$31:$B$34</c:f>
              <c:numCache>
                <c:formatCode>General</c:formatCode>
                <c:ptCount val="4"/>
                <c:pt idx="0">
                  <c:v>40</c:v>
                </c:pt>
                <c:pt idx="1">
                  <c:v>31</c:v>
                </c:pt>
                <c:pt idx="2">
                  <c:v>47</c:v>
                </c:pt>
                <c:pt idx="3">
                  <c:v>14</c:v>
                </c:pt>
              </c:numCache>
            </c:numRef>
          </c:val>
        </c:ser>
        <c:ser>
          <c:idx val="1"/>
          <c:order val="1"/>
          <c:tx>
            <c:strRef>
              <c:f>'Indicadores Gmuds-Jan a Ago''15'!$C$30</c:f>
              <c:strCache>
                <c:ptCount val="1"/>
                <c:pt idx="0">
                  <c:v>Gmuds Emerg.e Emerg.Informativas Canceladas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1.1928429423459268E-2"/>
                  <c:y val="-9.132420091324200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1.5904572564612324E-2"/>
                  <c:y val="-1.36986301369863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1.4579191517561299E-2"/>
                  <c:y val="-1.36986301369863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7.5973416881492638E-3"/>
                  <c:y val="-9.4197156313673933E-1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200" b="1">
                    <a:solidFill>
                      <a:srgbClr val="FF0000"/>
                    </a:solidFill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'Indicadores Gmuds-Jan a Ago''15'!$A$31:$A$34</c:f>
              <c:strCache>
                <c:ptCount val="4"/>
                <c:pt idx="0">
                  <c:v>Mai'15</c:v>
                </c:pt>
                <c:pt idx="1">
                  <c:v>Jun'15</c:v>
                </c:pt>
                <c:pt idx="2">
                  <c:v>Jul'15</c:v>
                </c:pt>
                <c:pt idx="3">
                  <c:v>Ago'15</c:v>
                </c:pt>
              </c:strCache>
            </c:strRef>
          </c:cat>
          <c:val>
            <c:numRef>
              <c:f>'Indicadores Gmuds-Jan a Ago''15'!$C$31:$C$34</c:f>
              <c:numCache>
                <c:formatCode>General</c:formatCode>
                <c:ptCount val="4"/>
                <c:pt idx="0">
                  <c:v>31</c:v>
                </c:pt>
                <c:pt idx="1">
                  <c:v>15</c:v>
                </c:pt>
                <c:pt idx="2">
                  <c:v>21</c:v>
                </c:pt>
                <c:pt idx="3">
                  <c:v>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06098176"/>
        <c:axId val="103294080"/>
        <c:axId val="0"/>
      </c:bar3DChart>
      <c:catAx>
        <c:axId val="106098176"/>
        <c:scaling>
          <c:orientation val="minMax"/>
        </c:scaling>
        <c:delete val="0"/>
        <c:axPos val="b"/>
        <c:majorTickMark val="out"/>
        <c:minorTickMark val="none"/>
        <c:tickLblPos val="nextTo"/>
        <c:crossAx val="103294080"/>
        <c:crosses val="autoZero"/>
        <c:auto val="1"/>
        <c:lblAlgn val="ctr"/>
        <c:lblOffset val="100"/>
        <c:noMultiLvlLbl val="0"/>
      </c:catAx>
      <c:valAx>
        <c:axId val="103294080"/>
        <c:scaling>
          <c:orientation val="minMax"/>
          <c:max val="7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crossAx val="10609817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10940162479690038"/>
          <c:y val="0.93747470886527529"/>
          <c:w val="0.51483854518185224"/>
          <c:h val="5.9976250541497848E-2"/>
        </c:manualLayout>
      </c:layout>
      <c:overlay val="0"/>
    </c:legend>
    <c:plotVisOnly val="1"/>
    <c:dispBlanksAs val="gap"/>
    <c:showDLblsOverMax val="0"/>
  </c:chart>
  <c:spPr>
    <a:ln w="25400" cap="sq">
      <a:solidFill>
        <a:schemeClr val="bg1">
          <a:lumMod val="85000"/>
        </a:schemeClr>
      </a:solidFill>
    </a:ln>
    <a:effectLst>
      <a:glow rad="63500">
        <a:schemeClr val="bg1">
          <a:lumMod val="75000"/>
          <a:alpha val="40000"/>
        </a:schemeClr>
      </a:glow>
      <a:softEdge rad="31750"/>
    </a:effec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3.877515764419253E-2"/>
          <c:y val="0.20225585721202"/>
          <c:w val="0.73833299547140163"/>
          <c:h val="0.71979270183443977"/>
        </c:manualLayout>
      </c:layout>
      <c:lineChart>
        <c:grouping val="standard"/>
        <c:varyColors val="0"/>
        <c:ser>
          <c:idx val="0"/>
          <c:order val="0"/>
          <c:tx>
            <c:strRef>
              <c:f>'Indicadores Gmuds-Jan a Ago''15'!$B$3</c:f>
              <c:strCache>
                <c:ptCount val="1"/>
                <c:pt idx="0">
                  <c:v>Gmud Programada</c:v>
                </c:pt>
              </c:strCache>
            </c:strRef>
          </c:tx>
          <c:dLbls>
            <c:dLbl>
              <c:idx val="0"/>
              <c:layout>
                <c:manualLayout>
                  <c:x val="-2.5921428985107169E-2"/>
                  <c:y val="-5.839415163413198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2.9161607608245564E-2"/>
                  <c:y val="-5.45012081918565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1.6200893115691981E-2"/>
                  <c:y val="-5.060826474958106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2.4451294276494031E-2"/>
                  <c:y val="-3.03212278731357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4.860267934707594E-3"/>
                  <c:y val="-4.282237786503011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2.4058246280468501E-2"/>
                  <c:y val="-1.964395714369129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b="1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'Indicadores Gmuds-Jan a Ago''15'!$A$4:$A$11</c:f>
              <c:strCache>
                <c:ptCount val="8"/>
                <c:pt idx="0">
                  <c:v>Jan'15</c:v>
                </c:pt>
                <c:pt idx="1">
                  <c:v>Fev'15</c:v>
                </c:pt>
                <c:pt idx="2">
                  <c:v>Mar'15</c:v>
                </c:pt>
                <c:pt idx="3">
                  <c:v>Abr'15</c:v>
                </c:pt>
                <c:pt idx="4">
                  <c:v>Mai'15</c:v>
                </c:pt>
                <c:pt idx="5">
                  <c:v>Jun'15</c:v>
                </c:pt>
                <c:pt idx="6">
                  <c:v>Jul'15</c:v>
                </c:pt>
                <c:pt idx="7">
                  <c:v>Ago'15</c:v>
                </c:pt>
              </c:strCache>
            </c:strRef>
          </c:cat>
          <c:val>
            <c:numRef>
              <c:f>'Indicadores Gmuds-Jan a Ago''15'!$B$4:$B$11</c:f>
              <c:numCache>
                <c:formatCode>General</c:formatCode>
                <c:ptCount val="8"/>
                <c:pt idx="0">
                  <c:v>89</c:v>
                </c:pt>
                <c:pt idx="1">
                  <c:v>52</c:v>
                </c:pt>
                <c:pt idx="2">
                  <c:v>108</c:v>
                </c:pt>
                <c:pt idx="3">
                  <c:v>111</c:v>
                </c:pt>
                <c:pt idx="4">
                  <c:v>117</c:v>
                </c:pt>
                <c:pt idx="5">
                  <c:v>155</c:v>
                </c:pt>
                <c:pt idx="6">
                  <c:v>177</c:v>
                </c:pt>
                <c:pt idx="7">
                  <c:v>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'Indicadores Gmuds-Jan a Ago''15'!$C$3</c:f>
              <c:strCache>
                <c:ptCount val="1"/>
                <c:pt idx="0">
                  <c:v>Gmud Emergencial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dLbls>
            <c:dLbl>
              <c:idx val="0"/>
              <c:layout>
                <c:manualLayout>
                  <c:x val="-2.1445883647841436E-2"/>
                  <c:y val="-3.809368403102416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1.321184504918349E-2"/>
                  <c:y val="-2.642850702591030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2.5921461848209326E-2"/>
                  <c:y val="-4.042397531866016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1.5249082271799235E-2"/>
                  <c:y val="-4.508455789393206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1.8639210742043118E-2"/>
                  <c:y val="-3.341938088881832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2.0259575815131371E-2"/>
                  <c:y val="-2.701044107257552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3.7986704653371322E-3"/>
                  <c:y val="-2.209945178665270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b="1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'Indicadores Gmuds-Jan a Ago''15'!$A$4:$A$11</c:f>
              <c:strCache>
                <c:ptCount val="8"/>
                <c:pt idx="0">
                  <c:v>Jan'15</c:v>
                </c:pt>
                <c:pt idx="1">
                  <c:v>Fev'15</c:v>
                </c:pt>
                <c:pt idx="2">
                  <c:v>Mar'15</c:v>
                </c:pt>
                <c:pt idx="3">
                  <c:v>Abr'15</c:v>
                </c:pt>
                <c:pt idx="4">
                  <c:v>Mai'15</c:v>
                </c:pt>
                <c:pt idx="5">
                  <c:v>Jun'15</c:v>
                </c:pt>
                <c:pt idx="6">
                  <c:v>Jul'15</c:v>
                </c:pt>
                <c:pt idx="7">
                  <c:v>Ago'15</c:v>
                </c:pt>
              </c:strCache>
            </c:strRef>
          </c:cat>
          <c:val>
            <c:numRef>
              <c:f>'Indicadores Gmuds-Jan a Ago''15'!$C$4:$C$11</c:f>
              <c:numCache>
                <c:formatCode>General</c:formatCode>
                <c:ptCount val="8"/>
                <c:pt idx="0">
                  <c:v>51</c:v>
                </c:pt>
                <c:pt idx="1">
                  <c:v>33</c:v>
                </c:pt>
                <c:pt idx="2">
                  <c:v>25</c:v>
                </c:pt>
                <c:pt idx="3">
                  <c:v>15</c:v>
                </c:pt>
                <c:pt idx="4">
                  <c:v>15</c:v>
                </c:pt>
                <c:pt idx="5">
                  <c:v>22</c:v>
                </c:pt>
                <c:pt idx="6">
                  <c:v>11</c:v>
                </c:pt>
                <c:pt idx="7">
                  <c:v>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'Indicadores Gmuds-Jan a Ago''15'!$D$3</c:f>
              <c:strCache>
                <c:ptCount val="1"/>
                <c:pt idx="0">
                  <c:v>Gmud Emerg.Informativa</c:v>
                </c:pt>
              </c:strCache>
            </c:strRef>
          </c:tx>
          <c:spPr>
            <a:ln>
              <a:solidFill>
                <a:schemeClr val="accent6">
                  <a:lumMod val="75000"/>
                </a:schemeClr>
              </a:solidFill>
            </a:ln>
          </c:spPr>
          <c:dLbls>
            <c:dLbl>
              <c:idx val="5"/>
              <c:layout>
                <c:manualLayout>
                  <c:x val="-2.5324469768914213E-3"/>
                  <c:y val="1.964395714369129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b="1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'Indicadores Gmuds-Jan a Ago''15'!$A$4:$A$11</c:f>
              <c:strCache>
                <c:ptCount val="8"/>
                <c:pt idx="0">
                  <c:v>Jan'15</c:v>
                </c:pt>
                <c:pt idx="1">
                  <c:v>Fev'15</c:v>
                </c:pt>
                <c:pt idx="2">
                  <c:v>Mar'15</c:v>
                </c:pt>
                <c:pt idx="3">
                  <c:v>Abr'15</c:v>
                </c:pt>
                <c:pt idx="4">
                  <c:v>Mai'15</c:v>
                </c:pt>
                <c:pt idx="5">
                  <c:v>Jun'15</c:v>
                </c:pt>
                <c:pt idx="6">
                  <c:v>Jul'15</c:v>
                </c:pt>
                <c:pt idx="7">
                  <c:v>Ago'15</c:v>
                </c:pt>
              </c:strCache>
            </c:strRef>
          </c:cat>
          <c:val>
            <c:numRef>
              <c:f>'Indicadores Gmuds-Jan a Ago''15'!$D$4:$D$11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5</c:v>
                </c:pt>
                <c:pt idx="5">
                  <c:v>13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6184704"/>
        <c:axId val="103296960"/>
      </c:lineChart>
      <c:catAx>
        <c:axId val="106184704"/>
        <c:scaling>
          <c:orientation val="minMax"/>
        </c:scaling>
        <c:delete val="0"/>
        <c:axPos val="b"/>
        <c:majorTickMark val="out"/>
        <c:minorTickMark val="none"/>
        <c:tickLblPos val="nextTo"/>
        <c:crossAx val="103296960"/>
        <c:crosses val="autoZero"/>
        <c:auto val="1"/>
        <c:lblAlgn val="ctr"/>
        <c:lblOffset val="100"/>
        <c:noMultiLvlLbl val="0"/>
      </c:catAx>
      <c:valAx>
        <c:axId val="103296960"/>
        <c:scaling>
          <c:orientation val="minMax"/>
          <c:max val="200"/>
          <c:min val="0"/>
        </c:scaling>
        <c:delete val="0"/>
        <c:axPos val="l"/>
        <c:majorGridlines>
          <c:spPr>
            <a:ln>
              <a:solidFill>
                <a:schemeClr val="bg1">
                  <a:lumMod val="95000"/>
                </a:schemeClr>
              </a:solidFill>
              <a:prstDash val="sysDash"/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chemeClr val="bg1"/>
            </a:solidFill>
            <a:prstDash val="sysDot"/>
          </a:ln>
        </c:spPr>
        <c:txPr>
          <a:bodyPr/>
          <a:lstStyle/>
          <a:p>
            <a:pPr>
              <a:defRPr sz="1000" baseline="0"/>
            </a:pPr>
            <a:endParaRPr lang="pt-BR"/>
          </a:p>
        </c:txPr>
        <c:crossAx val="106184704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79676596656665233"/>
          <c:y val="0.59968887665198234"/>
          <c:w val="0.19707529647092442"/>
          <c:h val="0.33523892559960844"/>
        </c:manualLayout>
      </c:layout>
      <c:overlay val="0"/>
      <c:spPr>
        <a:ln w="25400">
          <a:solidFill>
            <a:schemeClr val="bg1">
              <a:lumMod val="85000"/>
            </a:schemeClr>
          </a:solidFill>
          <a:prstDash val="sysDash"/>
        </a:ln>
      </c:spPr>
    </c:legend>
    <c:plotVisOnly val="1"/>
    <c:dispBlanksAs val="zero"/>
    <c:showDLblsOverMax val="0"/>
  </c:chart>
  <c:spPr>
    <a:ln w="6350">
      <a:solidFill>
        <a:schemeClr val="bg1">
          <a:lumMod val="85000"/>
        </a:schemeClr>
      </a:solidFill>
    </a:ln>
    <a:effectLst>
      <a:glow rad="63500">
        <a:schemeClr val="bg1">
          <a:lumMod val="75000"/>
          <a:alpha val="40000"/>
        </a:schemeClr>
      </a:glow>
      <a:outerShdw blurRad="50800" dist="38100" dir="2700000" algn="tl" rotWithShape="0">
        <a:prstClr val="black">
          <a:alpha val="40000"/>
        </a:prstClr>
      </a:outerShdw>
    </a:effectLst>
  </c:spPr>
  <c:externalData r:id="rId1">
    <c:autoUpdate val="0"/>
  </c:externalData>
  <c:userShapes r:id="rId2"/>
</c:chartSpac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0.0107</cdr:x>
      <cdr:y>0.02026</cdr:y>
    </cdr:from>
    <cdr:to>
      <cdr:x>0.97341</cdr:x>
      <cdr:y>0.13628</cdr:y>
    </cdr:to>
    <cdr:sp macro="" textlink="">
      <cdr:nvSpPr>
        <cdr:cNvPr id="2" name="Retângulo 1"/>
        <cdr:cNvSpPr/>
      </cdr:nvSpPr>
      <cdr:spPr>
        <a:xfrm xmlns:a="http://schemas.openxmlformats.org/drawingml/2006/main">
          <a:off x="107319" y="104786"/>
          <a:ext cx="9655806" cy="600064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 w="12700">
          <a:solidFill>
            <a:schemeClr val="bg1"/>
          </a:solidFill>
          <a:prstDash val="sysDot"/>
        </a:ln>
      </cdr:spPr>
      <cdr:style>
        <a:lnRef xmlns:a="http://schemas.openxmlformats.org/drawingml/2006/main" idx="2">
          <a:schemeClr val="accent1">
            <a:shade val="50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wrap="square" rtlCol="0" anchor="t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pt-BR" sz="1400" b="1" baseline="0">
              <a:solidFill>
                <a:schemeClr val="tx2">
                  <a:lumMod val="75000"/>
                </a:schemeClr>
              </a:solidFill>
              <a:latin typeface="Arial Narrow" pitchFamily="34" charset="0"/>
            </a:rPr>
            <a:t>           Total de </a:t>
          </a:r>
          <a:r>
            <a:rPr lang="pt-BR" sz="1400" b="1" baseline="0">
              <a:solidFill>
                <a:schemeClr val="tx2">
                  <a:lumMod val="75000"/>
                </a:schemeClr>
              </a:solidFill>
              <a:latin typeface="Calibri" pitchFamily="34" charset="0"/>
              <a:cs typeface="Calibri" pitchFamily="34" charset="0"/>
            </a:rPr>
            <a:t>Gmuds Implantadas em Produção - </a:t>
          </a:r>
          <a:r>
            <a:rPr lang="pt-BR" sz="1400" b="1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Programadas,</a:t>
          </a:r>
          <a:r>
            <a:rPr lang="pt-BR" sz="1400" b="1" baseline="0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 </a:t>
          </a:r>
          <a:r>
            <a:rPr lang="pt-BR" sz="1400" b="1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Emergenciais e Emergenciais</a:t>
          </a:r>
          <a:r>
            <a:rPr lang="pt-BR" sz="1400" b="1" baseline="0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 </a:t>
          </a:r>
          <a:r>
            <a:rPr lang="pt-BR" sz="1400" b="1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Informativas</a:t>
          </a:r>
          <a:r>
            <a:rPr lang="pt-BR" sz="1400" b="1" baseline="0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 </a:t>
          </a:r>
          <a:r>
            <a:rPr lang="pt-BR" sz="1400" b="1" baseline="0">
              <a:solidFill>
                <a:schemeClr val="tx2">
                  <a:lumMod val="75000"/>
                </a:schemeClr>
              </a:solidFill>
              <a:latin typeface="Calibri" pitchFamily="34" charset="0"/>
              <a:cs typeface="Calibri" pitchFamily="34" charset="0"/>
            </a:rPr>
            <a:t> </a:t>
          </a:r>
        </a:p>
        <a:p xmlns:a="http://schemas.openxmlformats.org/drawingml/2006/main">
          <a:pPr marL="0" marR="0" indent="0" algn="l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pt-BR" sz="1200" b="1" baseline="0">
              <a:solidFill>
                <a:schemeClr val="tx2">
                  <a:lumMod val="75000"/>
                </a:schemeClr>
              </a:solidFill>
              <a:latin typeface="Calibri" pitchFamily="34" charset="0"/>
              <a:cs typeface="Calibri" pitchFamily="34" charset="0"/>
            </a:rPr>
            <a:t>                                                        Período de  Jan'15 a Ago'15 -(</a:t>
          </a:r>
          <a:r>
            <a:rPr lang="pt-BR" sz="1200" b="1" i="1" baseline="0">
              <a:solidFill>
                <a:schemeClr val="tx2">
                  <a:lumMod val="75000"/>
                </a:schemeClr>
              </a:solidFill>
              <a:effectLst/>
              <a:latin typeface="Calibri" pitchFamily="34" charset="0"/>
              <a:ea typeface="+mn-ea"/>
              <a:cs typeface="Calibri" pitchFamily="34" charset="0"/>
            </a:rPr>
            <a:t>dados coletados até 19/08)</a:t>
          </a:r>
          <a:endParaRPr lang="pt-BR" sz="1200" b="1">
            <a:solidFill>
              <a:schemeClr val="tx2">
                <a:lumMod val="75000"/>
              </a:schemeClr>
            </a:solidFill>
            <a:effectLst/>
            <a:latin typeface="Calibri" pitchFamily="34" charset="0"/>
            <a:cs typeface="Calibri" pitchFamily="34" charset="0"/>
          </a:endParaRPr>
        </a:p>
        <a:p xmlns:a="http://schemas.openxmlformats.org/drawingml/2006/main">
          <a:pPr algn="l"/>
          <a:endParaRPr lang="pt-BR" sz="1400" b="1">
            <a:latin typeface="Calibri" pitchFamily="34" charset="0"/>
            <a:cs typeface="Calibri" pitchFamily="34" charset="0"/>
          </a:endParaRP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28142B-B55F-48BC-9A54-3D8431ABDBD5}" type="datetimeFigureOut">
              <a:rPr lang="pt-BR" smtClean="0"/>
              <a:pPr/>
              <a:t>24/08/2015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196AC3-C339-4514-A84B-08CA4726E2F2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8304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9963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70775" y="2698337"/>
            <a:ext cx="7583112" cy="1200329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54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170775" y="2698340"/>
            <a:ext cx="7583112" cy="2492990"/>
          </a:xfrm>
          <a:prstGeom prst="rect">
            <a:avLst/>
          </a:prstGeom>
          <a:noFill/>
        </p:spPr>
        <p:txBody>
          <a:bodyPr wrap="square" lIns="91425" tIns="45713" rIns="91425" bIns="45713" numCol="2" spcCol="215967" rtlCol="0">
            <a:sp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789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ês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170775" y="2698341"/>
            <a:ext cx="7583112" cy="3068035"/>
          </a:xfrm>
          <a:prstGeom prst="rect">
            <a:avLst/>
          </a:prstGeom>
          <a:noFill/>
        </p:spPr>
        <p:txBody>
          <a:bodyPr wrap="square" lIns="91425" tIns="45713" rIns="91425" bIns="45713" numCol="3" spcCol="215967" rtlCol="0">
            <a:sp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/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00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4" name="TextBox 3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170775" y="2698341"/>
            <a:ext cx="7583112" cy="2492990"/>
          </a:xfrm>
          <a:prstGeom prst="rect">
            <a:avLst/>
          </a:prstGeom>
          <a:noFill/>
        </p:spPr>
        <p:txBody>
          <a:bodyPr wrap="square" lIns="91425" tIns="45713" rIns="91425" bIns="45713" numCol="1" spcCol="215967" rtlCol="0">
            <a:spAutoFit/>
          </a:bodyPr>
          <a:lstStyle/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  <a:p>
            <a:pPr algn="just" defTabSz="457130">
              <a:buFont typeface="Arial"/>
              <a:buChar char="•"/>
              <a:defRPr/>
            </a:pP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1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1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1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877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D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 userDrawn="1"/>
        </p:nvSpPr>
        <p:spPr>
          <a:xfrm>
            <a:off x="1170775" y="2624167"/>
            <a:ext cx="3723948" cy="230832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9" name="TextBox 8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5033776" y="2698752"/>
            <a:ext cx="3828638" cy="2928564"/>
          </a:xfrm>
          <a:prstGeom prst="rect">
            <a:avLst/>
          </a:prstGeom>
        </p:spPr>
        <p:txBody>
          <a:bodyPr lIns="91425" tIns="45713" rIns="91425" bIns="45713"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831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Es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 userDrawn="1"/>
        </p:nvSpPr>
        <p:spPr>
          <a:xfrm>
            <a:off x="5155759" y="2587083"/>
            <a:ext cx="3723948" cy="230832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9" name="TextBox 8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1232948" y="2698752"/>
            <a:ext cx="3828638" cy="2928564"/>
          </a:xfrm>
          <a:prstGeom prst="rect">
            <a:avLst/>
          </a:prstGeom>
        </p:spPr>
        <p:txBody>
          <a:bodyPr lIns="91425" tIns="45713" rIns="91425" bIns="45713"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945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 userDrawn="1"/>
        </p:nvSpPr>
        <p:spPr>
          <a:xfrm>
            <a:off x="1170775" y="2698334"/>
            <a:ext cx="7583112" cy="1149006"/>
          </a:xfrm>
          <a:prstGeom prst="rect">
            <a:avLst/>
          </a:prstGeom>
          <a:noFill/>
        </p:spPr>
        <p:txBody>
          <a:bodyPr wrap="square" lIns="107984" tIns="46793" rIns="91425" bIns="45713" numCol="1" spcCol="215967" rtlCol="0">
            <a:no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Integer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quam a quam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molestie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nibh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cursus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9" name="TextBox 8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1169988" y="4027488"/>
            <a:ext cx="7583900" cy="1885950"/>
          </a:xfrm>
          <a:prstGeom prst="rect">
            <a:avLst/>
          </a:prstGeom>
        </p:spPr>
        <p:txBody>
          <a:bodyPr lIns="91425" tIns="45713" rIns="91425" bIns="45713"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51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 userDrawn="1"/>
        </p:nvSpPr>
        <p:spPr>
          <a:xfrm>
            <a:off x="1170775" y="2698334"/>
            <a:ext cx="7583112" cy="1149006"/>
          </a:xfrm>
          <a:prstGeom prst="rect">
            <a:avLst/>
          </a:prstGeom>
          <a:noFill/>
        </p:spPr>
        <p:txBody>
          <a:bodyPr wrap="square" lIns="107984" tIns="46793" rIns="91425" bIns="45713" numCol="2" spcCol="215967" rtlCol="0">
            <a:noAutofit/>
          </a:bodyPr>
          <a:lstStyle/>
          <a:p>
            <a:pPr algn="just" defTabSz="457130">
              <a:defRPr/>
            </a:pP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Lorem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ipsum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sit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amet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consectetur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Vestibulum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adipiscing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tristique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elementum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Donec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mauris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pulvinar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nisl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at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non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egestas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dolor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semper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Quisque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in lacus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Maecenas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risus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vel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rhoncus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tempor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Suspendisse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tortor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leo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,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quis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erat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Vivamus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gravida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est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vitae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elit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tincidunt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enim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commodo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Etiam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luctus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ligula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arcu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ultricies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aliquam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In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malesuada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justo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id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dapibus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ac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volutpat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massa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faucibus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.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Fusce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facilisis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metus</a:t>
            </a:r>
            <a:r>
              <a:rPr lang="en-US" sz="1200" dirty="0">
                <a:solidFill>
                  <a:srgbClr val="7F7F7F"/>
                </a:solidFill>
                <a:sym typeface="Gill Sans" charset="0"/>
              </a:rPr>
              <a:t> a </a:t>
            </a:r>
            <a:r>
              <a:rPr lang="en-US" sz="1200" dirty="0" err="1">
                <a:solidFill>
                  <a:srgbClr val="7F7F7F"/>
                </a:solidFill>
                <a:sym typeface="Gill Sans" charset="0"/>
              </a:rPr>
              <a:t>odio</a:t>
            </a:r>
            <a:endParaRPr lang="en-US" sz="1200" dirty="0">
              <a:solidFill>
                <a:srgbClr val="7F7F7F"/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170775" y="389369"/>
            <a:ext cx="4603600" cy="400110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pt-BR" sz="2000" cap="all" dirty="0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pt-BR" sz="2000" cap="all" dirty="0" err="1">
                <a:solidFill>
                  <a:prstClr val="black">
                    <a:lumMod val="75000"/>
                    <a:lumOff val="25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pt-BR" sz="2000" cap="all" dirty="0">
              <a:solidFill>
                <a:prstClr val="black">
                  <a:lumMod val="75000"/>
                  <a:lumOff val="25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1169988" y="1420640"/>
            <a:ext cx="5348507" cy="430887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Lorem</a:t>
            </a:r>
            <a:r>
              <a:rPr lang="en-US" sz="2200" dirty="0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 </a:t>
            </a:r>
            <a:r>
              <a:rPr lang="en-US" sz="2200" dirty="0" err="1">
                <a:solidFill>
                  <a:prstClr val="black">
                    <a:lumMod val="50000"/>
                    <a:lumOff val="50000"/>
                  </a:prstClr>
                </a:solidFill>
                <a:latin typeface="Tahoma"/>
                <a:cs typeface="Tahoma"/>
                <a:sym typeface="Gill Sans" charset="0"/>
              </a:rPr>
              <a:t>ipsum</a:t>
            </a:r>
            <a:endParaRPr lang="en-US" sz="2200" dirty="0">
              <a:solidFill>
                <a:prstClr val="black">
                  <a:lumMod val="50000"/>
                  <a:lumOff val="50000"/>
                </a:prstClr>
              </a:solidFill>
              <a:latin typeface="Tahoma"/>
              <a:cs typeface="Tahoma"/>
              <a:sym typeface="Gill Sans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1170778" y="2067366"/>
            <a:ext cx="5347719" cy="338554"/>
          </a:xfrm>
          <a:prstGeom prst="rect">
            <a:avLst/>
          </a:prstGeom>
          <a:noFill/>
        </p:spPr>
        <p:txBody>
          <a:bodyPr wrap="square" lIns="91425" tIns="45713" rIns="91425" bIns="45713" rtlCol="0">
            <a:spAutoFit/>
          </a:bodyPr>
          <a:lstStyle/>
          <a:p>
            <a:pPr defTabSz="457130"/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Lorem</a:t>
            </a:r>
            <a:r>
              <a:rPr lang="en-US" sz="1600" dirty="0">
                <a:solidFill>
                  <a:srgbClr val="4F81BD"/>
                </a:solidFill>
                <a:sym typeface="Gill Sans" charset="0"/>
              </a:rPr>
              <a:t> </a:t>
            </a:r>
            <a:r>
              <a:rPr lang="en-US" sz="1600" dirty="0" err="1">
                <a:solidFill>
                  <a:srgbClr val="4F81BD"/>
                </a:solidFill>
                <a:sym typeface="Gill Sans" charset="0"/>
              </a:rPr>
              <a:t>ipsum</a:t>
            </a:r>
            <a:endParaRPr lang="en-US" sz="1600" dirty="0">
              <a:solidFill>
                <a:srgbClr val="4F81BD"/>
              </a:solidFill>
              <a:sym typeface="Gill Sans" charset="0"/>
            </a:endParaRPr>
          </a:p>
        </p:txBody>
      </p:sp>
      <p:sp>
        <p:nvSpPr>
          <p:cNvPr id="21" name="Content Placeholder 2"/>
          <p:cNvSpPr>
            <a:spLocks noGrp="1"/>
          </p:cNvSpPr>
          <p:nvPr>
            <p:ph idx="1"/>
          </p:nvPr>
        </p:nvSpPr>
        <p:spPr>
          <a:xfrm>
            <a:off x="1169988" y="4027488"/>
            <a:ext cx="7583900" cy="1885950"/>
          </a:xfrm>
          <a:prstGeom prst="rect">
            <a:avLst/>
          </a:prstGeom>
        </p:spPr>
        <p:txBody>
          <a:bodyPr lIns="91425" tIns="45713" rIns="91425" bIns="45713"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640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ê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1" b="8274"/>
          <a:stretch>
            <a:fillRect/>
          </a:stretch>
        </p:blipFill>
        <p:spPr>
          <a:xfrm>
            <a:off x="0" y="1096986"/>
            <a:ext cx="9179390" cy="57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942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, Subtitulo e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1" b="8274"/>
          <a:stretch>
            <a:fillRect/>
          </a:stretch>
        </p:blipFill>
        <p:spPr>
          <a:xfrm>
            <a:off x="0" y="1106582"/>
            <a:ext cx="9179390" cy="57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60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,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1" b="8274"/>
          <a:stretch>
            <a:fillRect/>
          </a:stretch>
        </p:blipFill>
        <p:spPr>
          <a:xfrm>
            <a:off x="0" y="1096986"/>
            <a:ext cx="9179390" cy="57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243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1" b="8274"/>
          <a:stretch>
            <a:fillRect/>
          </a:stretch>
        </p:blipFill>
        <p:spPr>
          <a:xfrm>
            <a:off x="0" y="1096986"/>
            <a:ext cx="9179390" cy="57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008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Maior C\ Titulo,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1" b="8274"/>
          <a:stretch>
            <a:fillRect/>
          </a:stretch>
        </p:blipFill>
        <p:spPr>
          <a:xfrm>
            <a:off x="0" y="1087390"/>
            <a:ext cx="9179390" cy="57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2044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1" b="8274"/>
          <a:stretch>
            <a:fillRect/>
          </a:stretch>
        </p:blipFill>
        <p:spPr>
          <a:xfrm>
            <a:off x="0" y="897412"/>
            <a:ext cx="9179390" cy="575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425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apa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684" y="-49609"/>
            <a:ext cx="9223373" cy="6917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739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iming>
    <p:tnLst>
      <p:par>
        <p:cTn id="1" dur="indefinite" restart="never" nodeType="tmRoot"/>
      </p:par>
    </p:tnLst>
  </p:timing>
  <p:hf hdr="0" dt="0"/>
  <p:txStyles>
    <p:titleStyle>
      <a:lvl1pPr algn="ctr" defTabSz="457154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65" indent="-342865" algn="l" defTabSz="457154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74" indent="-285722" algn="l" defTabSz="457154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3" indent="-228576" algn="l" defTabSz="457154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36" indent="-228576" algn="l" defTabSz="457154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0" indent="-228576" algn="l" defTabSz="457154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6" algn="l" defTabSz="45715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6" algn="l" defTabSz="45715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6" algn="l" defTabSz="45715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2" indent="-228576" algn="l" defTabSz="45715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4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6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2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6" algn="l" defTabSz="4571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emplate_Conteudo.jpg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22896"/>
            <a:ext cx="9160193" cy="688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278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</p:sldLayoutIdLst>
  <p:hf hdr="0" dt="0"/>
  <p:txStyles>
    <p:titleStyle>
      <a:lvl1pPr algn="ctr" defTabSz="45713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48" indent="-342848" algn="l" defTabSz="45713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36" indent="-285707" algn="l" defTabSz="45713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24" indent="-228564" algn="l" defTabSz="45713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954" indent="-228564" algn="l" defTabSz="45713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085" indent="-228564" algn="l" defTabSz="45713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15" indent="-228564" algn="l" defTabSz="45713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44" indent="-228564" algn="l" defTabSz="45713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75" indent="-228564" algn="l" defTabSz="45713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03" indent="-228564" algn="l" defTabSz="45713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59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19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49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08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39" algn="l" defTabSz="457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112793" y="1751183"/>
            <a:ext cx="184698" cy="719903"/>
          </a:xfrm>
          <a:prstGeom prst="rect">
            <a:avLst/>
          </a:prstGeom>
          <a:noFill/>
        </p:spPr>
        <p:txBody>
          <a:bodyPr wrap="none" lIns="91421" tIns="45711" rIns="91421" bIns="45711" rtlCol="0">
            <a:spAutoFit/>
          </a:bodyPr>
          <a:lstStyle/>
          <a:p>
            <a:pPr defTabSz="457106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4100" dirty="0">
              <a:solidFill>
                <a:prstClr val="black"/>
              </a:solidFill>
              <a:latin typeface="Gill Sans" charset="0"/>
              <a:sym typeface="Gill Sans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12793" y="1751183"/>
            <a:ext cx="184698" cy="719903"/>
          </a:xfrm>
          <a:prstGeom prst="rect">
            <a:avLst/>
          </a:prstGeom>
          <a:noFill/>
        </p:spPr>
        <p:txBody>
          <a:bodyPr wrap="none" lIns="91421" tIns="45711" rIns="91421" bIns="45711" rtlCol="0">
            <a:spAutoFit/>
          </a:bodyPr>
          <a:lstStyle/>
          <a:p>
            <a:pPr defTabSz="457106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4100" dirty="0">
              <a:solidFill>
                <a:prstClr val="black"/>
              </a:solidFill>
              <a:latin typeface="Gill Sans" charset="0"/>
              <a:sym typeface="Gill Sans" charset="0"/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2339752" y="2289084"/>
            <a:ext cx="6537206" cy="1569642"/>
          </a:xfrm>
          <a:prstGeom prst="rect">
            <a:avLst/>
          </a:prstGeom>
          <a:noFill/>
        </p:spPr>
        <p:txBody>
          <a:bodyPr wrap="square" lIns="91421" tIns="45711" rIns="91421" bIns="45711" rtlCol="0">
            <a:spAutoFit/>
          </a:bodyPr>
          <a:lstStyle/>
          <a:p>
            <a:pPr algn="ctr" defTabSz="457106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4000" b="1" dirty="0" smtClean="0">
                <a:solidFill>
                  <a:srgbClr val="4F81BD">
                    <a:lumMod val="75000"/>
                  </a:srgbClr>
                </a:solidFill>
                <a:latin typeface="Arial" pitchFamily="34" charset="0"/>
                <a:cs typeface="Arial" pitchFamily="34" charset="0"/>
                <a:sym typeface="Gill Sans" charset="0"/>
              </a:rPr>
              <a:t>Book de Indicadores TI</a:t>
            </a:r>
          </a:p>
          <a:p>
            <a:pPr algn="ctr" defTabSz="457106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2800" b="1" dirty="0" smtClean="0">
              <a:solidFill>
                <a:srgbClr val="4F81BD">
                  <a:lumMod val="75000"/>
                </a:srgbClr>
              </a:solidFill>
              <a:latin typeface="Arial" pitchFamily="34" charset="0"/>
              <a:cs typeface="Arial" pitchFamily="34" charset="0"/>
              <a:sym typeface="Gill Sans" charset="0"/>
            </a:endParaRPr>
          </a:p>
          <a:p>
            <a:pPr algn="ctr" defTabSz="457106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2800" b="1" dirty="0" smtClean="0">
                <a:solidFill>
                  <a:srgbClr val="4F81BD">
                    <a:lumMod val="75000"/>
                  </a:srgbClr>
                </a:solidFill>
                <a:latin typeface="Arial" pitchFamily="34" charset="0"/>
                <a:cs typeface="Arial" pitchFamily="34" charset="0"/>
                <a:sym typeface="Gill Sans" charset="0"/>
              </a:rPr>
              <a:t>Agosto/2015</a:t>
            </a:r>
            <a:endParaRPr lang="pt-BR" sz="2800" b="1" dirty="0">
              <a:solidFill>
                <a:srgbClr val="4F81BD">
                  <a:lumMod val="75000"/>
                </a:srgbClr>
              </a:solidFill>
              <a:latin typeface="Arial" pitchFamily="34" charset="0"/>
              <a:cs typeface="Arial" pitchFamily="34" charset="0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596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0" descr="N3_JULIO_02"/>
          <p:cNvPicPr>
            <a:picLocks noChangeAspect="1" noChangeArrowheads="1"/>
          </p:cNvPicPr>
          <p:nvPr/>
        </p:nvPicPr>
        <p:blipFill>
          <a:blip r:embed="rId2" cstate="print"/>
          <a:srcRect l="35712" b="77570"/>
          <a:stretch>
            <a:fillRect/>
          </a:stretch>
        </p:blipFill>
        <p:spPr bwMode="auto">
          <a:xfrm>
            <a:off x="601663" y="806529"/>
            <a:ext cx="8542337" cy="1593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tângulo 23"/>
          <p:cNvSpPr>
            <a:spLocks noChangeArrowheads="1"/>
          </p:cNvSpPr>
          <p:nvPr/>
        </p:nvSpPr>
        <p:spPr bwMode="auto">
          <a:xfrm>
            <a:off x="873125" y="1439515"/>
            <a:ext cx="6327775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r">
              <a:lnSpc>
                <a:spcPct val="90000"/>
              </a:lnSpc>
              <a:spcAft>
                <a:spcPts val="600"/>
              </a:spcAft>
            </a:pPr>
            <a:r>
              <a:rPr lang="pt-BR" sz="3000" b="1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Índice</a:t>
            </a:r>
          </a:p>
        </p:txBody>
      </p:sp>
      <p:sp>
        <p:nvSpPr>
          <p:cNvPr id="4" name="TextBox 5"/>
          <p:cNvSpPr txBox="1">
            <a:spLocks noChangeArrowheads="1"/>
          </p:cNvSpPr>
          <p:nvPr/>
        </p:nvSpPr>
        <p:spPr bwMode="auto">
          <a:xfrm>
            <a:off x="2473888" y="2903760"/>
            <a:ext cx="4933056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1600" b="1" dirty="0" smtClean="0">
                <a:latin typeface="Arial" pitchFamily="34" charset="0"/>
                <a:cs typeface="Arial" pitchFamily="34" charset="0"/>
              </a:rPr>
              <a:t>TI Contax</a:t>
            </a:r>
            <a:r>
              <a:rPr lang="pt-BR" sz="1600" b="1" dirty="0">
                <a:latin typeface="Arial" pitchFamily="34" charset="0"/>
                <a:cs typeface="Arial" pitchFamily="34" charset="0"/>
              </a:rPr>
              <a:t> </a:t>
            </a:r>
            <a:r>
              <a:rPr lang="pt-BR" sz="1600" b="1" dirty="0" smtClean="0">
                <a:latin typeface="Arial" pitchFamily="34" charset="0"/>
                <a:cs typeface="Arial" pitchFamily="34" charset="0"/>
              </a:rPr>
              <a:t>– Indicadores</a:t>
            </a:r>
          </a:p>
          <a:p>
            <a:endParaRPr lang="pt-BR" sz="1600" dirty="0" smtClean="0">
              <a:latin typeface="Arial" pitchFamily="34" charset="0"/>
              <a:cs typeface="Arial" pitchFamily="34" charset="0"/>
            </a:endParaRPr>
          </a:p>
          <a:p>
            <a:pPr lvl="2">
              <a:buFont typeface="Wingdings" pitchFamily="2" charset="2"/>
              <a:buChar char="ü"/>
            </a:pPr>
            <a:r>
              <a:rPr lang="pt-BR" sz="1600" dirty="0" smtClean="0">
                <a:latin typeface="Arial" pitchFamily="34" charset="0"/>
                <a:cs typeface="Arial" pitchFamily="34" charset="0"/>
              </a:rPr>
              <a:t> Gerenciamento de Nível de Serviço</a:t>
            </a:r>
          </a:p>
          <a:p>
            <a:pPr lvl="2">
              <a:buFont typeface="Wingdings" pitchFamily="2" charset="2"/>
              <a:buChar char="ü"/>
            </a:pPr>
            <a:r>
              <a:rPr lang="pt-BR" sz="1600" dirty="0">
                <a:latin typeface="Arial" pitchFamily="34" charset="0"/>
                <a:cs typeface="Arial" pitchFamily="34" charset="0"/>
              </a:rPr>
              <a:t> </a:t>
            </a:r>
            <a:r>
              <a:rPr lang="pt-BR" sz="1600" dirty="0" smtClean="0">
                <a:latin typeface="Arial" pitchFamily="34" charset="0"/>
                <a:cs typeface="Arial" pitchFamily="34" charset="0"/>
              </a:rPr>
              <a:t>Gestão de Incidentes </a:t>
            </a:r>
          </a:p>
          <a:p>
            <a:pPr lvl="2">
              <a:buFont typeface="Wingdings" pitchFamily="2" charset="2"/>
              <a:buChar char="ü"/>
            </a:pPr>
            <a:r>
              <a:rPr lang="pt-BR" sz="1600" dirty="0" smtClean="0">
                <a:latin typeface="Arial" pitchFamily="34" charset="0"/>
                <a:cs typeface="Arial" pitchFamily="34" charset="0"/>
              </a:rPr>
              <a:t> Requisições de Serviço</a:t>
            </a:r>
          </a:p>
          <a:p>
            <a:pPr lvl="2">
              <a:buFont typeface="Wingdings" pitchFamily="2" charset="2"/>
              <a:buChar char="ü"/>
            </a:pPr>
            <a:r>
              <a:rPr lang="pt-BR" sz="1600" dirty="0" smtClean="0">
                <a:latin typeface="Arial" pitchFamily="34" charset="0"/>
                <a:cs typeface="Arial" pitchFamily="34" charset="0"/>
              </a:rPr>
              <a:t> Gestão de Mudanças</a:t>
            </a:r>
          </a:p>
          <a:p>
            <a:pPr lvl="2">
              <a:buFont typeface="Wingdings" pitchFamily="2" charset="2"/>
              <a:buChar char="ü"/>
            </a:pPr>
            <a:r>
              <a:rPr lang="pt-BR" sz="1600" dirty="0" smtClean="0">
                <a:latin typeface="Arial" pitchFamily="34" charset="0"/>
                <a:cs typeface="Arial" pitchFamily="34" charset="0"/>
              </a:rPr>
              <a:t> Gestão de Problemas</a:t>
            </a:r>
          </a:p>
          <a:p>
            <a:endParaRPr lang="pt-BR" sz="1600" dirty="0" smtClean="0">
              <a:latin typeface="Arial" pitchFamily="34" charset="0"/>
              <a:cs typeface="Arial" pitchFamily="34" charset="0"/>
            </a:endParaRPr>
          </a:p>
          <a:p>
            <a:pPr lvl="2"/>
            <a:endParaRPr lang="pt-BR" sz="16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605115" y="6165304"/>
            <a:ext cx="6199133" cy="338554"/>
          </a:xfrm>
          <a:prstGeom prst="rect">
            <a:avLst/>
          </a:prstGeom>
          <a:noFill/>
          <a:ln w="50800" cmpd="dbl"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600" b="0" i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itchFamily="34" charset="0"/>
                <a:cs typeface="Arial" pitchFamily="34" charset="0"/>
              </a:rPr>
              <a:t>Os dados do mês de agosto de 2015 foram coletados até o dia 19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4"/>
          <p:cNvSpPr txBox="1">
            <a:spLocks noChangeArrowheads="1"/>
          </p:cNvSpPr>
          <p:nvPr/>
        </p:nvSpPr>
        <p:spPr bwMode="auto">
          <a:xfrm>
            <a:off x="1698923" y="249846"/>
            <a:ext cx="481729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2000" b="1" i="0" dirty="0" smtClean="0">
                <a:solidFill>
                  <a:schemeClr val="bg1"/>
                </a:solidFill>
                <a:latin typeface="Calibri" pitchFamily="34" charset="0"/>
              </a:rPr>
              <a:t>SUPORTE _ Abertura de Incidente</a:t>
            </a:r>
            <a:endParaRPr lang="pt-BR" sz="2000" b="1" i="0" dirty="0">
              <a:solidFill>
                <a:schemeClr val="bg1"/>
              </a:solidFill>
              <a:latin typeface="Calibri" pitchFamily="34" charset="0"/>
            </a:endParaRPr>
          </a:p>
        </p:txBody>
      </p:sp>
      <p:grpSp>
        <p:nvGrpSpPr>
          <p:cNvPr id="18" name="Group 6"/>
          <p:cNvGrpSpPr>
            <a:grpSpLocks/>
          </p:cNvGrpSpPr>
          <p:nvPr/>
        </p:nvGrpSpPr>
        <p:grpSpPr bwMode="auto">
          <a:xfrm>
            <a:off x="827584" y="-660400"/>
            <a:ext cx="5688632" cy="1716088"/>
            <a:chOff x="0" y="-295326"/>
            <a:chExt cx="7524376" cy="1277955"/>
          </a:xfrm>
        </p:grpSpPr>
        <p:pic>
          <p:nvPicPr>
            <p:cNvPr id="23" name="Picture 25" descr="n36_JULIO_02"/>
            <p:cNvPicPr>
              <a:picLocks noChangeAspect="1" noChangeArrowheads="1"/>
            </p:cNvPicPr>
            <p:nvPr/>
          </p:nvPicPr>
          <p:blipFill>
            <a:blip r:embed="rId2" cstate="print"/>
            <a:srcRect r="46510" b="66551"/>
            <a:stretch>
              <a:fillRect/>
            </a:stretch>
          </p:blipFill>
          <p:spPr bwMode="auto">
            <a:xfrm>
              <a:off x="0" y="-295326"/>
              <a:ext cx="7281654" cy="12779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" name="TextBox 4"/>
            <p:cNvSpPr txBox="1">
              <a:spLocks noChangeArrowheads="1"/>
            </p:cNvSpPr>
            <p:nvPr/>
          </p:nvSpPr>
          <p:spPr bwMode="auto">
            <a:xfrm>
              <a:off x="1152524" y="382526"/>
              <a:ext cx="6371852" cy="275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pt-BR" b="1" i="0" dirty="0" smtClean="0">
                  <a:solidFill>
                    <a:schemeClr val="bg1"/>
                  </a:solidFill>
                  <a:cs typeface="Arial" pitchFamily="34" charset="0"/>
                </a:rPr>
                <a:t>Gerenciamento de Nível de Serviço</a:t>
              </a:r>
              <a:endParaRPr lang="pt-BR" b="1" i="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653876"/>
              </p:ext>
            </p:extLst>
          </p:nvPr>
        </p:nvGraphicFramePr>
        <p:xfrm>
          <a:off x="157227" y="998354"/>
          <a:ext cx="8849638" cy="5166950"/>
        </p:xfrm>
        <a:graphic>
          <a:graphicData uri="http://schemas.openxmlformats.org/drawingml/2006/table">
            <a:tbl>
              <a:tblPr/>
              <a:tblGrid>
                <a:gridCol w="1096249"/>
                <a:gridCol w="1695907"/>
                <a:gridCol w="2074205"/>
                <a:gridCol w="1014608"/>
                <a:gridCol w="738691"/>
                <a:gridCol w="576542"/>
                <a:gridCol w="931973"/>
                <a:gridCol w="721463"/>
              </a:tblGrid>
              <a:tr h="256589">
                <a:tc>
                  <a:txBody>
                    <a:bodyPr/>
                    <a:lstStyle/>
                    <a:p>
                      <a:pPr algn="l" fontAlgn="b"/>
                      <a:endParaRPr lang="pt-BR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8801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INDICADOR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O QUE É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COMO SERÁ MEDIDO OU APURADO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APURAÇÃO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NÍVEL DE SERVIÇO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378801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SLA de atendimentos de incidentes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Porcentagem de chamados cujo o tempo total para solução foi atendido conforme o SLA definido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 medição deste indicador será a quantidade de incidentes atendidos dentro do tempo estipulado, dividido pela quantidade total de incidentes abertos por criticidade. complexidade.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MENSAL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IMPACTO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TEMPO DE </a:t>
                      </a:r>
                      <a:r>
                        <a:rPr lang="pt-BR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RECUPERAÇÃO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META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</a:tr>
              <a:tr h="368585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ALTO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2 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95%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</a:tr>
              <a:tr h="30330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MÉDIO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3 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85%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BAIXO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12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75%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4841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PESQUISA DE SATISFAÇÃO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Baseado na lista de chamados encerrados será enviados de forma aleatória pesquisas de satisfação 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Avaliação de um grau de satisfação mínimo na pesquisa de usuários, considerando bom ou excelente numa escala de 5 graus (péssimo, ruim, médio, bom, excelente).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MENSAL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BOM OU EXCELENTE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85%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28175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REQUISIÇÃO DE SERVIÇOS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Solicitações de atividades de criação ou mudança de baixa complexidade.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 medição deste indicador será a quantidade de requisições atendidas dentro do tempo estipulado, dividido pela quantidade total de requisições.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MENSAL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 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SLA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 de TI desconsidera necessidade de aquisições que depende de processo de compra ou logístico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48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85%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8573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Conector de seta reta 25"/>
          <p:cNvCxnSpPr/>
          <p:nvPr/>
        </p:nvCxnSpPr>
        <p:spPr>
          <a:xfrm>
            <a:off x="4841316" y="4899024"/>
            <a:ext cx="3762396" cy="4149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aixaDeTexto 26"/>
          <p:cNvSpPr txBox="1"/>
          <p:nvPr/>
        </p:nvSpPr>
        <p:spPr>
          <a:xfrm>
            <a:off x="8450907" y="4738032"/>
            <a:ext cx="692818" cy="4001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b="0" i="0" dirty="0" smtClean="0">
                <a:solidFill>
                  <a:srgbClr val="C00000"/>
                </a:solidFill>
                <a:latin typeface="Tahoma"/>
                <a:cs typeface="Tahoma"/>
              </a:rPr>
              <a:t>75%</a:t>
            </a:r>
          </a:p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solidFill>
                  <a:srgbClr val="C00000"/>
                </a:solidFill>
                <a:latin typeface="Tahoma"/>
                <a:cs typeface="Tahoma"/>
              </a:rPr>
              <a:t>12 horas</a:t>
            </a:r>
            <a:endParaRPr lang="pt-BR" sz="1000" b="0" i="0" dirty="0" smtClean="0">
              <a:solidFill>
                <a:srgbClr val="C00000"/>
              </a:solidFill>
              <a:latin typeface="Tahoma"/>
              <a:cs typeface="Tahoma"/>
            </a:endParaRPr>
          </a:p>
        </p:txBody>
      </p:sp>
      <p:cxnSp>
        <p:nvCxnSpPr>
          <p:cNvPr id="22" name="Conector de seta reta 21"/>
          <p:cNvCxnSpPr/>
          <p:nvPr/>
        </p:nvCxnSpPr>
        <p:spPr>
          <a:xfrm>
            <a:off x="179512" y="4686242"/>
            <a:ext cx="3762396" cy="4149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/>
          <p:cNvSpPr txBox="1"/>
          <p:nvPr/>
        </p:nvSpPr>
        <p:spPr>
          <a:xfrm>
            <a:off x="3836560" y="4528170"/>
            <a:ext cx="604653" cy="4001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b="0" i="0" dirty="0" smtClean="0">
                <a:solidFill>
                  <a:srgbClr val="C00000"/>
                </a:solidFill>
                <a:latin typeface="Tahoma"/>
                <a:cs typeface="Tahoma"/>
              </a:rPr>
              <a:t>85%</a:t>
            </a:r>
          </a:p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solidFill>
                  <a:srgbClr val="C00000"/>
                </a:solidFill>
                <a:latin typeface="Tahoma"/>
                <a:cs typeface="Tahoma"/>
              </a:rPr>
              <a:t>3 horas</a:t>
            </a:r>
            <a:endParaRPr lang="pt-BR" sz="1000" b="0" i="0" dirty="0" smtClean="0">
              <a:solidFill>
                <a:srgbClr val="C00000"/>
              </a:solidFill>
              <a:latin typeface="Tahoma"/>
              <a:cs typeface="Tahoma"/>
            </a:endParaRPr>
          </a:p>
        </p:txBody>
      </p:sp>
      <p:cxnSp>
        <p:nvCxnSpPr>
          <p:cNvPr id="4" name="Conector de seta reta 3"/>
          <p:cNvCxnSpPr/>
          <p:nvPr/>
        </p:nvCxnSpPr>
        <p:spPr>
          <a:xfrm>
            <a:off x="4860032" y="2068671"/>
            <a:ext cx="3762396" cy="4149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4"/>
          <p:cNvSpPr txBox="1">
            <a:spLocks noChangeArrowheads="1"/>
          </p:cNvSpPr>
          <p:nvPr/>
        </p:nvSpPr>
        <p:spPr bwMode="auto">
          <a:xfrm>
            <a:off x="1698923" y="249846"/>
            <a:ext cx="481729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2000" b="1" i="0" dirty="0" smtClean="0">
                <a:solidFill>
                  <a:schemeClr val="bg1"/>
                </a:solidFill>
                <a:latin typeface="Calibri" pitchFamily="34" charset="0"/>
              </a:rPr>
              <a:t>SUPORTE _ Abertura de Incidente</a:t>
            </a:r>
            <a:endParaRPr lang="pt-BR" sz="2000" b="1" i="0" dirty="0">
              <a:solidFill>
                <a:schemeClr val="bg1"/>
              </a:solidFill>
              <a:latin typeface="Calibri" pitchFamily="34" charset="0"/>
            </a:endParaRPr>
          </a:p>
        </p:txBody>
      </p:sp>
      <p:grpSp>
        <p:nvGrpSpPr>
          <p:cNvPr id="18" name="Group 6"/>
          <p:cNvGrpSpPr>
            <a:grpSpLocks/>
          </p:cNvGrpSpPr>
          <p:nvPr/>
        </p:nvGrpSpPr>
        <p:grpSpPr bwMode="auto">
          <a:xfrm>
            <a:off x="827584" y="-660400"/>
            <a:ext cx="5688632" cy="1716088"/>
            <a:chOff x="0" y="-295326"/>
            <a:chExt cx="7524376" cy="1277955"/>
          </a:xfrm>
        </p:grpSpPr>
        <p:pic>
          <p:nvPicPr>
            <p:cNvPr id="23" name="Picture 25" descr="n36_JULIO_02"/>
            <p:cNvPicPr>
              <a:picLocks noChangeAspect="1" noChangeArrowheads="1"/>
            </p:cNvPicPr>
            <p:nvPr/>
          </p:nvPicPr>
          <p:blipFill>
            <a:blip r:embed="rId2" cstate="print"/>
            <a:srcRect r="46510" b="66551"/>
            <a:stretch>
              <a:fillRect/>
            </a:stretch>
          </p:blipFill>
          <p:spPr bwMode="auto">
            <a:xfrm>
              <a:off x="0" y="-295326"/>
              <a:ext cx="7281654" cy="12779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" name="TextBox 4"/>
            <p:cNvSpPr txBox="1">
              <a:spLocks noChangeArrowheads="1"/>
            </p:cNvSpPr>
            <p:nvPr/>
          </p:nvSpPr>
          <p:spPr bwMode="auto">
            <a:xfrm>
              <a:off x="1152524" y="382526"/>
              <a:ext cx="6371852" cy="275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pt-BR" b="1" i="0" dirty="0" smtClean="0">
                  <a:solidFill>
                    <a:schemeClr val="bg1"/>
                  </a:solidFill>
                  <a:cs typeface="Arial" pitchFamily="34" charset="0"/>
                </a:rPr>
                <a:t>Gerenciamento de Incidentes - Indicadores</a:t>
              </a:r>
              <a:endParaRPr lang="pt-BR" b="1" i="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aphicFrame>
        <p:nvGraphicFramePr>
          <p:cNvPr id="8" name="Gráfico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0423517"/>
              </p:ext>
            </p:extLst>
          </p:nvPr>
        </p:nvGraphicFramePr>
        <p:xfrm>
          <a:off x="179514" y="1412780"/>
          <a:ext cx="3703320" cy="22219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CaixaDeTexto 1"/>
          <p:cNvSpPr txBox="1"/>
          <p:nvPr/>
        </p:nvSpPr>
        <p:spPr>
          <a:xfrm>
            <a:off x="611560" y="1257678"/>
            <a:ext cx="28801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bg1">
                    <a:lumMod val="50000"/>
                  </a:schemeClr>
                </a:solidFill>
                <a:latin typeface="Tahoma"/>
                <a:cs typeface="Tahoma"/>
              </a:rPr>
              <a:t>Quantidade de chamados de Incidentes</a:t>
            </a:r>
          </a:p>
        </p:txBody>
      </p:sp>
      <p:sp>
        <p:nvSpPr>
          <p:cNvPr id="5" name="CaixaDeTexto 4"/>
          <p:cNvSpPr txBox="1"/>
          <p:nvPr/>
        </p:nvSpPr>
        <p:spPr>
          <a:xfrm>
            <a:off x="8500645" y="1886287"/>
            <a:ext cx="607859" cy="4001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b="0" i="0" dirty="0" smtClean="0">
                <a:solidFill>
                  <a:srgbClr val="C00000"/>
                </a:solidFill>
                <a:latin typeface="Tahoma"/>
                <a:cs typeface="Tahoma"/>
              </a:rPr>
              <a:t>95%</a:t>
            </a:r>
          </a:p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solidFill>
                  <a:srgbClr val="C00000"/>
                </a:solidFill>
                <a:latin typeface="Tahoma"/>
                <a:cs typeface="Tahoma"/>
              </a:rPr>
              <a:t>2 horas</a:t>
            </a:r>
            <a:endParaRPr lang="pt-BR" sz="1000" b="0" i="0" dirty="0" smtClean="0">
              <a:solidFill>
                <a:srgbClr val="C00000"/>
              </a:solidFill>
              <a:latin typeface="Tahoma"/>
              <a:cs typeface="Tahoma"/>
            </a:endParaRPr>
          </a:p>
        </p:txBody>
      </p:sp>
      <p:sp>
        <p:nvSpPr>
          <p:cNvPr id="15" name="CaixaDeTexto 14"/>
          <p:cNvSpPr txBox="1"/>
          <p:nvPr/>
        </p:nvSpPr>
        <p:spPr>
          <a:xfrm>
            <a:off x="5366603" y="1163157"/>
            <a:ext cx="25351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bg1">
                    <a:lumMod val="50000"/>
                  </a:schemeClr>
                </a:solidFill>
                <a:latin typeface="Tahoma"/>
                <a:cs typeface="Tahoma"/>
              </a:rPr>
              <a:t>SLA de Incidentes de Alto Impacto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96508" y="4104368"/>
            <a:ext cx="26759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bg1">
                    <a:lumMod val="50000"/>
                  </a:schemeClr>
                </a:solidFill>
                <a:latin typeface="Tahoma"/>
                <a:cs typeface="Tahoma"/>
              </a:rPr>
              <a:t>SLA de Incidentes de Médio Impacto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5384704" y="4016097"/>
            <a:ext cx="26379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bg1">
                    <a:lumMod val="50000"/>
                  </a:schemeClr>
                </a:solidFill>
                <a:latin typeface="Tahoma"/>
                <a:cs typeface="Tahoma"/>
              </a:rPr>
              <a:t>SLA de Incidentes de Baixo Impacto</a:t>
            </a:r>
          </a:p>
        </p:txBody>
      </p:sp>
      <p:graphicFrame>
        <p:nvGraphicFramePr>
          <p:cNvPr id="28" name="Gráfico 2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7255899"/>
              </p:ext>
            </p:extLst>
          </p:nvPr>
        </p:nvGraphicFramePr>
        <p:xfrm>
          <a:off x="4720388" y="1412776"/>
          <a:ext cx="3704400" cy="22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Gráfico 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1928465"/>
              </p:ext>
            </p:extLst>
          </p:nvPr>
        </p:nvGraphicFramePr>
        <p:xfrm>
          <a:off x="180152" y="4275631"/>
          <a:ext cx="3704400" cy="22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3" name="Gráfico 3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5347412"/>
              </p:ext>
            </p:extLst>
          </p:nvPr>
        </p:nvGraphicFramePr>
        <p:xfrm>
          <a:off x="4684024" y="4281898"/>
          <a:ext cx="3704400" cy="22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Conector de seta reta 12"/>
          <p:cNvCxnSpPr/>
          <p:nvPr/>
        </p:nvCxnSpPr>
        <p:spPr>
          <a:xfrm>
            <a:off x="4528868" y="3940371"/>
            <a:ext cx="4066218" cy="5031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4"/>
          <p:cNvSpPr txBox="1">
            <a:spLocks noChangeArrowheads="1"/>
          </p:cNvSpPr>
          <p:nvPr/>
        </p:nvSpPr>
        <p:spPr bwMode="auto">
          <a:xfrm>
            <a:off x="1698923" y="249846"/>
            <a:ext cx="481729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2000" b="1" i="0" dirty="0" smtClean="0">
                <a:solidFill>
                  <a:schemeClr val="bg1"/>
                </a:solidFill>
                <a:latin typeface="Calibri" pitchFamily="34" charset="0"/>
              </a:rPr>
              <a:t>SUPORTE _ Abertura de Incidente</a:t>
            </a:r>
            <a:endParaRPr lang="pt-BR" sz="2000" b="1" i="0" dirty="0">
              <a:solidFill>
                <a:schemeClr val="bg1"/>
              </a:solidFill>
              <a:latin typeface="Calibri" pitchFamily="34" charset="0"/>
            </a:endParaRPr>
          </a:p>
        </p:txBody>
      </p:sp>
      <p:grpSp>
        <p:nvGrpSpPr>
          <p:cNvPr id="18" name="Group 6"/>
          <p:cNvGrpSpPr>
            <a:grpSpLocks/>
          </p:cNvGrpSpPr>
          <p:nvPr/>
        </p:nvGrpSpPr>
        <p:grpSpPr bwMode="auto">
          <a:xfrm>
            <a:off x="827584" y="-660400"/>
            <a:ext cx="5688632" cy="1716088"/>
            <a:chOff x="0" y="-295326"/>
            <a:chExt cx="7524376" cy="1277955"/>
          </a:xfrm>
        </p:grpSpPr>
        <p:pic>
          <p:nvPicPr>
            <p:cNvPr id="23" name="Picture 25" descr="n36_JULIO_02"/>
            <p:cNvPicPr>
              <a:picLocks noChangeAspect="1" noChangeArrowheads="1"/>
            </p:cNvPicPr>
            <p:nvPr/>
          </p:nvPicPr>
          <p:blipFill>
            <a:blip r:embed="rId2" cstate="print"/>
            <a:srcRect r="46510" b="66551"/>
            <a:stretch>
              <a:fillRect/>
            </a:stretch>
          </p:blipFill>
          <p:spPr bwMode="auto">
            <a:xfrm>
              <a:off x="0" y="-295326"/>
              <a:ext cx="7281654" cy="12779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" name="TextBox 4"/>
            <p:cNvSpPr txBox="1">
              <a:spLocks noChangeArrowheads="1"/>
            </p:cNvSpPr>
            <p:nvPr/>
          </p:nvSpPr>
          <p:spPr bwMode="auto">
            <a:xfrm>
              <a:off x="1152524" y="382526"/>
              <a:ext cx="6371852" cy="2979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pt-BR" sz="2000" b="1" i="0" dirty="0" smtClean="0">
                  <a:solidFill>
                    <a:schemeClr val="bg1"/>
                  </a:solidFill>
                  <a:cs typeface="Arial" pitchFamily="34" charset="0"/>
                </a:rPr>
                <a:t>Gerenciamento de Requisições</a:t>
              </a:r>
              <a:endParaRPr lang="pt-BR" sz="2000" b="1" i="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aphicFrame>
        <p:nvGraphicFramePr>
          <p:cNvPr id="9" name="Gráfico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1331744"/>
              </p:ext>
            </p:extLst>
          </p:nvPr>
        </p:nvGraphicFramePr>
        <p:xfrm>
          <a:off x="179512" y="1328790"/>
          <a:ext cx="411480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CaixaDeTexto 10"/>
          <p:cNvSpPr txBox="1"/>
          <p:nvPr/>
        </p:nvSpPr>
        <p:spPr>
          <a:xfrm>
            <a:off x="786640" y="1216734"/>
            <a:ext cx="296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bg1">
                    <a:lumMod val="50000"/>
                  </a:schemeClr>
                </a:solidFill>
                <a:latin typeface="Tahoma"/>
                <a:cs typeface="Tahoma"/>
              </a:rPr>
              <a:t>Quantidade de chamados de Requisições</a:t>
            </a:r>
          </a:p>
        </p:txBody>
      </p:sp>
      <p:sp>
        <p:nvSpPr>
          <p:cNvPr id="12" name="CaixaDeTexto 11"/>
          <p:cNvSpPr txBox="1"/>
          <p:nvPr/>
        </p:nvSpPr>
        <p:spPr>
          <a:xfrm>
            <a:off x="5148064" y="3296017"/>
            <a:ext cx="22422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bg1">
                    <a:lumMod val="50000"/>
                  </a:schemeClr>
                </a:solidFill>
                <a:latin typeface="Tahoma"/>
                <a:cs typeface="Tahoma"/>
              </a:rPr>
              <a:t>SLA de Requisições de Serviço</a:t>
            </a:r>
          </a:p>
        </p:txBody>
      </p:sp>
      <p:sp>
        <p:nvSpPr>
          <p:cNvPr id="14" name="CaixaDeTexto 13"/>
          <p:cNvSpPr txBox="1"/>
          <p:nvPr/>
        </p:nvSpPr>
        <p:spPr>
          <a:xfrm>
            <a:off x="8388424" y="4509120"/>
            <a:ext cx="678391" cy="40011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b="0" i="0" dirty="0" smtClean="0">
                <a:solidFill>
                  <a:srgbClr val="C00000"/>
                </a:solidFill>
                <a:latin typeface="Tahoma"/>
                <a:cs typeface="Tahoma"/>
              </a:rPr>
              <a:t>85%</a:t>
            </a:r>
          </a:p>
          <a:p>
            <a: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solidFill>
                  <a:srgbClr val="C00000"/>
                </a:solidFill>
                <a:latin typeface="Tahoma"/>
                <a:cs typeface="Tahoma"/>
              </a:rPr>
              <a:t>48 horas</a:t>
            </a:r>
            <a:endParaRPr lang="pt-BR" sz="1000" b="0" i="0" dirty="0" smtClean="0">
              <a:solidFill>
                <a:srgbClr val="C00000"/>
              </a:solidFill>
              <a:latin typeface="Tahoma"/>
              <a:cs typeface="Tahoma"/>
            </a:endParaRPr>
          </a:p>
        </p:txBody>
      </p:sp>
      <p:graphicFrame>
        <p:nvGraphicFramePr>
          <p:cNvPr id="15" name="Gráfic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0239627"/>
              </p:ext>
            </p:extLst>
          </p:nvPr>
        </p:nvGraphicFramePr>
        <p:xfrm>
          <a:off x="4263015" y="3526886"/>
          <a:ext cx="4114800" cy="2469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864233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4"/>
          <p:cNvSpPr txBox="1">
            <a:spLocks noChangeArrowheads="1"/>
          </p:cNvSpPr>
          <p:nvPr/>
        </p:nvSpPr>
        <p:spPr bwMode="auto">
          <a:xfrm>
            <a:off x="1698923" y="249846"/>
            <a:ext cx="481729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2000" b="1" i="0" dirty="0" smtClean="0">
                <a:solidFill>
                  <a:schemeClr val="bg1"/>
                </a:solidFill>
                <a:latin typeface="Calibri" pitchFamily="34" charset="0"/>
              </a:rPr>
              <a:t>SUPORTE _ Abertura de Incidente</a:t>
            </a:r>
            <a:endParaRPr lang="pt-BR" sz="2000" b="1" i="0" dirty="0">
              <a:solidFill>
                <a:schemeClr val="bg1"/>
              </a:solidFill>
              <a:latin typeface="Calibri" pitchFamily="34" charset="0"/>
            </a:endParaRPr>
          </a:p>
        </p:txBody>
      </p:sp>
      <p:grpSp>
        <p:nvGrpSpPr>
          <p:cNvPr id="18" name="Group 6"/>
          <p:cNvGrpSpPr>
            <a:grpSpLocks/>
          </p:cNvGrpSpPr>
          <p:nvPr/>
        </p:nvGrpSpPr>
        <p:grpSpPr bwMode="auto">
          <a:xfrm>
            <a:off x="827584" y="-660400"/>
            <a:ext cx="5688632" cy="1716088"/>
            <a:chOff x="0" y="-295326"/>
            <a:chExt cx="7524376" cy="1277955"/>
          </a:xfrm>
        </p:grpSpPr>
        <p:pic>
          <p:nvPicPr>
            <p:cNvPr id="23" name="Picture 25" descr="n36_JULIO_02"/>
            <p:cNvPicPr>
              <a:picLocks noChangeAspect="1" noChangeArrowheads="1"/>
            </p:cNvPicPr>
            <p:nvPr/>
          </p:nvPicPr>
          <p:blipFill>
            <a:blip r:embed="rId2" cstate="print"/>
            <a:srcRect r="46510" b="66551"/>
            <a:stretch>
              <a:fillRect/>
            </a:stretch>
          </p:blipFill>
          <p:spPr bwMode="auto">
            <a:xfrm>
              <a:off x="0" y="-295326"/>
              <a:ext cx="7281654" cy="12779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" name="TextBox 4"/>
            <p:cNvSpPr txBox="1">
              <a:spLocks noChangeArrowheads="1"/>
            </p:cNvSpPr>
            <p:nvPr/>
          </p:nvSpPr>
          <p:spPr bwMode="auto">
            <a:xfrm>
              <a:off x="1152524" y="382526"/>
              <a:ext cx="6371852" cy="2979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pt-BR" sz="2000" b="1" i="0" dirty="0" smtClean="0">
                  <a:solidFill>
                    <a:schemeClr val="bg1"/>
                  </a:solidFill>
                  <a:cs typeface="Arial" pitchFamily="34" charset="0"/>
                </a:rPr>
                <a:t>Gerenciamento de Mudanças</a:t>
              </a:r>
              <a:endParaRPr lang="pt-BR" sz="2000" b="1" i="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2" name="CaixaDeTexto 1"/>
          <p:cNvSpPr txBox="1"/>
          <p:nvPr/>
        </p:nvSpPr>
        <p:spPr>
          <a:xfrm flipH="1">
            <a:off x="2062080" y="7400474"/>
            <a:ext cx="2405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rPr>
              <a:t>a</a:t>
            </a:r>
          </a:p>
        </p:txBody>
      </p:sp>
      <p:graphicFrame>
        <p:nvGraphicFramePr>
          <p:cNvPr id="11" name="Gráfico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8743390"/>
              </p:ext>
            </p:extLst>
          </p:nvPr>
        </p:nvGraphicFramePr>
        <p:xfrm>
          <a:off x="-1429" y="4437112"/>
          <a:ext cx="8389853" cy="21947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Retângulo 11"/>
          <p:cNvSpPr/>
          <p:nvPr/>
        </p:nvSpPr>
        <p:spPr>
          <a:xfrm>
            <a:off x="1586266" y="4540184"/>
            <a:ext cx="5753100" cy="523875"/>
          </a:xfrm>
          <a:prstGeom prst="rect">
            <a:avLst/>
          </a:prstGeom>
          <a:noFill/>
          <a:ln w="12700">
            <a:solidFill>
              <a:schemeClr val="bg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 dirty="0">
                <a:solidFill>
                  <a:schemeClr val="tx2">
                    <a:lumMod val="50000"/>
                  </a:schemeClr>
                </a:solidFill>
              </a:rPr>
              <a:t> Total de Mudanças Canceladas (Programadas e </a:t>
            </a:r>
            <a:r>
              <a:rPr lang="pt-BR" sz="1400" b="1" dirty="0" smtClean="0">
                <a:solidFill>
                  <a:schemeClr val="tx2">
                    <a:lumMod val="50000"/>
                  </a:schemeClr>
                </a:solidFill>
              </a:rPr>
              <a:t>Emergenciais) </a:t>
            </a:r>
            <a:endParaRPr lang="pt-BR" sz="1400" b="1" dirty="0">
              <a:solidFill>
                <a:schemeClr val="tx2">
                  <a:lumMod val="50000"/>
                </a:schemeClr>
              </a:solidFill>
            </a:endParaRPr>
          </a:p>
          <a:p>
            <a:pPr algn="ctr"/>
            <a:r>
              <a:rPr lang="pt-BR" sz="1200" b="0" dirty="0">
                <a:solidFill>
                  <a:schemeClr val="tx2">
                    <a:lumMod val="50000"/>
                  </a:schemeClr>
                </a:solidFill>
              </a:rPr>
              <a:t>     De </a:t>
            </a:r>
            <a:r>
              <a:rPr lang="pt-BR" sz="1200" b="0" baseline="0" dirty="0">
                <a:solidFill>
                  <a:schemeClr val="tx2">
                    <a:lumMod val="50000"/>
                  </a:schemeClr>
                </a:solidFill>
              </a:rPr>
              <a:t> Mai'15 a Ago'15 </a:t>
            </a:r>
            <a:r>
              <a:rPr lang="pt-BR" sz="1200" b="0" i="1" baseline="0" dirty="0">
                <a:solidFill>
                  <a:schemeClr val="tx2">
                    <a:lumMod val="50000"/>
                  </a:schemeClr>
                </a:solidFill>
              </a:rPr>
              <a:t>(dados coletados até 19/08)</a:t>
            </a:r>
          </a:p>
        </p:txBody>
      </p:sp>
      <p:sp>
        <p:nvSpPr>
          <p:cNvPr id="13" name="Retângulo 12"/>
          <p:cNvSpPr/>
          <p:nvPr/>
        </p:nvSpPr>
        <p:spPr>
          <a:xfrm>
            <a:off x="5772608" y="5170324"/>
            <a:ext cx="2981325" cy="1413380"/>
          </a:xfrm>
          <a:prstGeom prst="rect">
            <a:avLst/>
          </a:prstGeom>
          <a:noFill/>
          <a:ln w="12700">
            <a:solidFill>
              <a:schemeClr val="bg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1100" b="1" dirty="0">
                <a:solidFill>
                  <a:schemeClr val="tx2">
                    <a:lumMod val="50000"/>
                  </a:schemeClr>
                </a:solidFill>
              </a:rPr>
              <a:t> Principais Motivos para o</a:t>
            </a:r>
            <a:r>
              <a:rPr lang="pt-BR" sz="1100" b="1" baseline="0" dirty="0">
                <a:solidFill>
                  <a:schemeClr val="tx2">
                    <a:lumMod val="50000"/>
                  </a:schemeClr>
                </a:solidFill>
              </a:rPr>
              <a:t> Cancelamento</a:t>
            </a:r>
            <a:r>
              <a:rPr lang="pt-BR" sz="1100" b="1" dirty="0">
                <a:solidFill>
                  <a:schemeClr val="tx2">
                    <a:lumMod val="50000"/>
                  </a:schemeClr>
                </a:solidFill>
              </a:rPr>
              <a:t>:</a:t>
            </a:r>
          </a:p>
          <a:p>
            <a:pPr algn="l"/>
            <a:endParaRPr lang="pt-BR" sz="1100" b="1" dirty="0">
              <a:solidFill>
                <a:schemeClr val="tx2">
                  <a:lumMod val="50000"/>
                </a:schemeClr>
              </a:solidFill>
            </a:endParaRPr>
          </a:p>
          <a:p>
            <a:pPr algn="l"/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.  Retorno  para planejamento devido a falta  de   </a:t>
            </a:r>
          </a:p>
          <a:p>
            <a:pPr algn="l"/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   informação;</a:t>
            </a:r>
          </a:p>
          <a:p>
            <a:pPr algn="l"/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.  </a:t>
            </a:r>
            <a:r>
              <a:rPr lang="pt-BR" sz="1100" b="0" dirty="0" err="1">
                <a:solidFill>
                  <a:schemeClr val="tx2">
                    <a:lumMod val="50000"/>
                  </a:schemeClr>
                </a:solidFill>
              </a:rPr>
              <a:t>Gmuds</a:t>
            </a:r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 não </a:t>
            </a:r>
            <a:r>
              <a:rPr lang="pt-BR" sz="1100" b="0" dirty="0" smtClean="0">
                <a:solidFill>
                  <a:schemeClr val="tx2">
                    <a:lumMod val="50000"/>
                  </a:schemeClr>
                </a:solidFill>
              </a:rPr>
              <a:t>aprovadas </a:t>
            </a:r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pelos responsáveis;</a:t>
            </a:r>
          </a:p>
          <a:p>
            <a:pPr algn="l"/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.  </a:t>
            </a:r>
            <a:r>
              <a:rPr lang="pt-BR" sz="1100" b="0" dirty="0" err="1">
                <a:solidFill>
                  <a:schemeClr val="tx2">
                    <a:lumMod val="50000"/>
                  </a:schemeClr>
                </a:solidFill>
              </a:rPr>
              <a:t>Gmuds</a:t>
            </a:r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 não </a:t>
            </a:r>
            <a:r>
              <a:rPr lang="pt-BR" sz="1100" b="0" dirty="0" smtClean="0">
                <a:solidFill>
                  <a:schemeClr val="tx2">
                    <a:lumMod val="50000"/>
                  </a:schemeClr>
                </a:solidFill>
              </a:rPr>
              <a:t>negociadas </a:t>
            </a:r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no CCM</a:t>
            </a:r>
          </a:p>
          <a:p>
            <a:pPr algn="l"/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.  Ausência da aprovação do DIREX para as </a:t>
            </a:r>
            <a:r>
              <a:rPr lang="pt-BR" sz="1100" b="0" dirty="0" err="1">
                <a:solidFill>
                  <a:schemeClr val="tx2">
                    <a:lumMod val="50000"/>
                  </a:schemeClr>
                </a:solidFill>
              </a:rPr>
              <a:t>gmud</a:t>
            </a:r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l"/>
            <a:r>
              <a:rPr lang="pt-BR" sz="1100" b="0" dirty="0">
                <a:solidFill>
                  <a:schemeClr val="tx2">
                    <a:lumMod val="50000"/>
                  </a:schemeClr>
                </a:solidFill>
              </a:rPr>
              <a:t>   emergenciais</a:t>
            </a:r>
          </a:p>
          <a:p>
            <a:pPr algn="l"/>
            <a:endParaRPr lang="pt-BR" sz="1100" b="1" baseline="0" dirty="0">
              <a:solidFill>
                <a:schemeClr val="tx2">
                  <a:lumMod val="50000"/>
                </a:schemeClr>
              </a:solidFill>
            </a:endParaRPr>
          </a:p>
        </p:txBody>
      </p:sp>
      <p:graphicFrame>
        <p:nvGraphicFramePr>
          <p:cNvPr id="16" name="Gráfico 1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4610905"/>
              </p:ext>
            </p:extLst>
          </p:nvPr>
        </p:nvGraphicFramePr>
        <p:xfrm>
          <a:off x="409725" y="1081197"/>
          <a:ext cx="8398800" cy="326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CaixaDeTexto 3"/>
          <p:cNvSpPr txBox="1"/>
          <p:nvPr/>
        </p:nvSpPr>
        <p:spPr>
          <a:xfrm>
            <a:off x="9969734" y="3573016"/>
            <a:ext cx="264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899960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4"/>
          <p:cNvSpPr txBox="1">
            <a:spLocks noChangeArrowheads="1"/>
          </p:cNvSpPr>
          <p:nvPr/>
        </p:nvSpPr>
        <p:spPr bwMode="auto">
          <a:xfrm>
            <a:off x="1698923" y="249846"/>
            <a:ext cx="481729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2000" b="1" i="0" dirty="0" smtClean="0">
                <a:solidFill>
                  <a:schemeClr val="bg1"/>
                </a:solidFill>
                <a:latin typeface="Calibri" pitchFamily="34" charset="0"/>
              </a:rPr>
              <a:t>SUPORTE _ Abertura de Incidente</a:t>
            </a:r>
            <a:endParaRPr lang="pt-BR" sz="2000" b="1" i="0" dirty="0">
              <a:solidFill>
                <a:schemeClr val="bg1"/>
              </a:solidFill>
              <a:latin typeface="Calibri" pitchFamily="34" charset="0"/>
            </a:endParaRPr>
          </a:p>
        </p:txBody>
      </p:sp>
      <p:grpSp>
        <p:nvGrpSpPr>
          <p:cNvPr id="18" name="Group 6"/>
          <p:cNvGrpSpPr>
            <a:grpSpLocks/>
          </p:cNvGrpSpPr>
          <p:nvPr/>
        </p:nvGrpSpPr>
        <p:grpSpPr bwMode="auto">
          <a:xfrm>
            <a:off x="827584" y="-660400"/>
            <a:ext cx="5505128" cy="1716088"/>
            <a:chOff x="0" y="-295326"/>
            <a:chExt cx="7281654" cy="1277955"/>
          </a:xfrm>
        </p:grpSpPr>
        <p:pic>
          <p:nvPicPr>
            <p:cNvPr id="23" name="Picture 25" descr="n36_JULIO_02"/>
            <p:cNvPicPr>
              <a:picLocks noChangeAspect="1" noChangeArrowheads="1"/>
            </p:cNvPicPr>
            <p:nvPr/>
          </p:nvPicPr>
          <p:blipFill>
            <a:blip r:embed="rId2" cstate="print"/>
            <a:srcRect r="46510" b="66551"/>
            <a:stretch>
              <a:fillRect/>
            </a:stretch>
          </p:blipFill>
          <p:spPr bwMode="auto">
            <a:xfrm>
              <a:off x="0" y="-295326"/>
              <a:ext cx="7281654" cy="12779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" name="TextBox 4"/>
            <p:cNvSpPr txBox="1">
              <a:spLocks noChangeArrowheads="1"/>
            </p:cNvSpPr>
            <p:nvPr/>
          </p:nvSpPr>
          <p:spPr bwMode="auto">
            <a:xfrm>
              <a:off x="676297" y="414354"/>
              <a:ext cx="6371852" cy="2979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pt-BR" sz="2000" b="1" i="0" dirty="0" smtClean="0">
                  <a:solidFill>
                    <a:schemeClr val="bg1"/>
                  </a:solidFill>
                  <a:cs typeface="Arial" pitchFamily="34" charset="0"/>
                </a:rPr>
                <a:t>Gerenciamento de Incidentes - Ofensores</a:t>
              </a:r>
              <a:endParaRPr lang="pt-BR" sz="2000" b="1" i="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215" y="1086585"/>
            <a:ext cx="7781217" cy="48515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CaixaDeTexto 7"/>
          <p:cNvSpPr txBox="1"/>
          <p:nvPr/>
        </p:nvSpPr>
        <p:spPr>
          <a:xfrm>
            <a:off x="755576" y="6135687"/>
            <a:ext cx="7560840" cy="461665"/>
          </a:xfrm>
          <a:prstGeom prst="rect">
            <a:avLst/>
          </a:prstGeom>
          <a:noFill/>
          <a:ln w="50800" cmpd="dbl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rPr>
              <a:t>As aplicações que estão na cor laranja são de responsabilidade da Contax e as que estão em azul são de responsabilidade de Clientes da Contax</a:t>
            </a:r>
          </a:p>
        </p:txBody>
      </p:sp>
    </p:spTree>
    <p:extLst>
      <p:ext uri="{BB962C8B-B14F-4D97-AF65-F5344CB8AC3E}">
        <p14:creationId xmlns:p14="http://schemas.microsoft.com/office/powerpoint/2010/main" val="3876952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4"/>
          <p:cNvSpPr txBox="1">
            <a:spLocks noChangeArrowheads="1"/>
          </p:cNvSpPr>
          <p:nvPr/>
        </p:nvSpPr>
        <p:spPr bwMode="auto">
          <a:xfrm>
            <a:off x="1698923" y="249846"/>
            <a:ext cx="481729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BR" sz="2000" b="1" i="0" dirty="0" smtClean="0">
                <a:solidFill>
                  <a:schemeClr val="bg1"/>
                </a:solidFill>
                <a:latin typeface="Calibri" pitchFamily="34" charset="0"/>
              </a:rPr>
              <a:t>SUPORTE _ Abertura de Incidente</a:t>
            </a:r>
            <a:endParaRPr lang="pt-BR" sz="2000" b="1" i="0" dirty="0">
              <a:solidFill>
                <a:schemeClr val="bg1"/>
              </a:solidFill>
              <a:latin typeface="Calibri" pitchFamily="34" charset="0"/>
            </a:endParaRPr>
          </a:p>
        </p:txBody>
      </p:sp>
      <p:grpSp>
        <p:nvGrpSpPr>
          <p:cNvPr id="18" name="Group 6"/>
          <p:cNvGrpSpPr>
            <a:grpSpLocks/>
          </p:cNvGrpSpPr>
          <p:nvPr/>
        </p:nvGrpSpPr>
        <p:grpSpPr bwMode="auto">
          <a:xfrm>
            <a:off x="827584" y="-660400"/>
            <a:ext cx="5505128" cy="1716088"/>
            <a:chOff x="0" y="-295326"/>
            <a:chExt cx="7281654" cy="1277955"/>
          </a:xfrm>
        </p:grpSpPr>
        <p:pic>
          <p:nvPicPr>
            <p:cNvPr id="23" name="Picture 25" descr="n36_JULIO_02"/>
            <p:cNvPicPr>
              <a:picLocks noChangeAspect="1" noChangeArrowheads="1"/>
            </p:cNvPicPr>
            <p:nvPr/>
          </p:nvPicPr>
          <p:blipFill>
            <a:blip r:embed="rId2" cstate="print"/>
            <a:srcRect r="46510" b="66551"/>
            <a:stretch>
              <a:fillRect/>
            </a:stretch>
          </p:blipFill>
          <p:spPr bwMode="auto">
            <a:xfrm>
              <a:off x="0" y="-295326"/>
              <a:ext cx="7281654" cy="12779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4" name="TextBox 4"/>
            <p:cNvSpPr txBox="1">
              <a:spLocks noChangeArrowheads="1"/>
            </p:cNvSpPr>
            <p:nvPr/>
          </p:nvSpPr>
          <p:spPr bwMode="auto">
            <a:xfrm>
              <a:off x="676297" y="414354"/>
              <a:ext cx="6371852" cy="2979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pt-BR" sz="2000" b="1" i="0" dirty="0" smtClean="0">
                  <a:solidFill>
                    <a:schemeClr val="bg1"/>
                  </a:solidFill>
                  <a:cs typeface="Arial" pitchFamily="34" charset="0"/>
                </a:rPr>
                <a:t>Gerenciamento de Problemas</a:t>
              </a:r>
              <a:endParaRPr lang="pt-BR" sz="2000" b="1" i="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029" y="1484784"/>
            <a:ext cx="4867275" cy="3581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1484784"/>
            <a:ext cx="3476625" cy="2352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04" y="3933056"/>
            <a:ext cx="3476625" cy="1342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CaixaDeTexto 13"/>
          <p:cNvSpPr txBox="1"/>
          <p:nvPr/>
        </p:nvSpPr>
        <p:spPr>
          <a:xfrm>
            <a:off x="755576" y="6135687"/>
            <a:ext cx="7560840" cy="276999"/>
          </a:xfrm>
          <a:prstGeom prst="rect">
            <a:avLst/>
          </a:prstGeom>
          <a:noFill/>
          <a:ln w="50800" cmpd="dbl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marL="0" marR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pt-BR" sz="1200" b="0" i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rPr>
              <a:t>Processo de Gerenciamento de Problemas esta sendo reestruturado.</a:t>
            </a:r>
          </a:p>
        </p:txBody>
      </p:sp>
    </p:spTree>
    <p:extLst>
      <p:ext uri="{BB962C8B-B14F-4D97-AF65-F5344CB8AC3E}">
        <p14:creationId xmlns:p14="http://schemas.microsoft.com/office/powerpoint/2010/main" val="422198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marL="0" marR="0" indent="0" algn="just" defTabSz="4572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200" b="0" i="0" dirty="0" err="1" smtClean="0">
            <a:solidFill>
              <a:schemeClr val="tx1">
                <a:lumMod val="50000"/>
                <a:lumOff val="50000"/>
              </a:schemeClr>
            </a:solidFill>
            <a:latin typeface="Tahoma"/>
            <a:cs typeface="Tahom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20601</TotalTime>
  <Words>480</Words>
  <Application>Microsoft Office PowerPoint</Application>
  <PresentationFormat>Apresentação na tela (4:3)</PresentationFormat>
  <Paragraphs>113</Paragraphs>
  <Slides>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slides</vt:lpstr>
      </vt:variant>
      <vt:variant>
        <vt:i4>8</vt:i4>
      </vt:variant>
    </vt:vector>
  </HeadingPairs>
  <TitlesOfParts>
    <vt:vector size="10" baseType="lpstr">
      <vt:lpstr>Office Theme</vt:lpstr>
      <vt:lpstr>6_Custom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Rita FRangella</dc:creator>
  <cp:lastModifiedBy>Daniel Donaire</cp:lastModifiedBy>
  <cp:revision>1515</cp:revision>
  <dcterms:created xsi:type="dcterms:W3CDTF">2013-08-07T07:52:57Z</dcterms:created>
  <dcterms:modified xsi:type="dcterms:W3CDTF">2015-08-24T15:48:45Z</dcterms:modified>
</cp:coreProperties>
</file>