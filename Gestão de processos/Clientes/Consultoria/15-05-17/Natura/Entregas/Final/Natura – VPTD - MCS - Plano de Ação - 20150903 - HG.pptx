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91" r:id="rId3"/>
    <p:sldId id="304" r:id="rId4"/>
    <p:sldId id="305" r:id="rId5"/>
    <p:sldId id="303" r:id="rId6"/>
    <p:sldId id="298" r:id="rId7"/>
    <p:sldId id="257" r:id="rId8"/>
    <p:sldId id="276" r:id="rId9"/>
    <p:sldId id="277" r:id="rId10"/>
    <p:sldId id="278" r:id="rId11"/>
    <p:sldId id="297" r:id="rId12"/>
    <p:sldId id="279" r:id="rId13"/>
    <p:sldId id="299" r:id="rId14"/>
    <p:sldId id="300" r:id="rId15"/>
    <p:sldId id="302" r:id="rId16"/>
    <p:sldId id="301" r:id="rId17"/>
    <p:sldId id="283" r:id="rId18"/>
    <p:sldId id="284" r:id="rId19"/>
    <p:sldId id="285" r:id="rId20"/>
    <p:sldId id="306" r:id="rId2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9631BF"/>
    <a:srgbClr val="7FF6F9"/>
    <a:srgbClr val="8E9B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59" autoAdjust="0"/>
    <p:restoredTop sz="94660"/>
  </p:normalViewPr>
  <p:slideViewPr>
    <p:cSldViewPr snapToGrid="0">
      <p:cViewPr varScale="1">
        <p:scale>
          <a:sx n="65" d="100"/>
          <a:sy n="65" d="100"/>
        </p:scale>
        <p:origin x="64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ABD3B3-B6C9-412C-8596-1F292BBDA9A6}" type="doc">
      <dgm:prSet loTypeId="urn:microsoft.com/office/officeart/2005/8/layout/hProcess11" loCatId="process" qsTypeId="urn:microsoft.com/office/officeart/2005/8/quickstyle/3d4" qsCatId="3D" csTypeId="urn:microsoft.com/office/officeart/2005/8/colors/accent1_2" csCatId="accent1" phldr="1"/>
      <dgm:spPr/>
    </dgm:pt>
    <dgm:pt modelId="{C47CD97F-0F1B-4078-A42C-0F9A445E1153}">
      <dgm:prSet phldrT="[Texto]" custT="1"/>
      <dgm:spPr/>
      <dgm:t>
        <a:bodyPr/>
        <a:lstStyle/>
        <a:p>
          <a:r>
            <a:rPr lang="pt-BR" sz="1400" b="1" dirty="0" smtClean="0">
              <a:solidFill>
                <a:srgbClr val="0070C0"/>
              </a:solidFill>
            </a:rPr>
            <a:t>Setembro</a:t>
          </a:r>
          <a:endParaRPr lang="pt-BR" sz="1400" b="1" dirty="0">
            <a:solidFill>
              <a:srgbClr val="0070C0"/>
            </a:solidFill>
          </a:endParaRPr>
        </a:p>
      </dgm:t>
    </dgm:pt>
    <dgm:pt modelId="{EFB71E73-8C34-4DFA-8E37-DD1B7584E3AA}" type="parTrans" cxnId="{C7AE95F1-E69B-4B15-8569-E16B17222E65}">
      <dgm:prSet/>
      <dgm:spPr/>
      <dgm:t>
        <a:bodyPr/>
        <a:lstStyle/>
        <a:p>
          <a:endParaRPr lang="pt-BR" sz="1400">
            <a:solidFill>
              <a:srgbClr val="0070C0"/>
            </a:solidFill>
          </a:endParaRPr>
        </a:p>
      </dgm:t>
    </dgm:pt>
    <dgm:pt modelId="{EC025A84-E459-4F2A-8A1C-B807B7E413B3}" type="sibTrans" cxnId="{C7AE95F1-E69B-4B15-8569-E16B17222E65}">
      <dgm:prSet/>
      <dgm:spPr/>
      <dgm:t>
        <a:bodyPr/>
        <a:lstStyle/>
        <a:p>
          <a:endParaRPr lang="pt-BR" sz="1400">
            <a:solidFill>
              <a:srgbClr val="0070C0"/>
            </a:solidFill>
          </a:endParaRPr>
        </a:p>
      </dgm:t>
    </dgm:pt>
    <dgm:pt modelId="{55C2CEBF-2D0F-41AE-AC06-DB1ED52F3840}">
      <dgm:prSet phldrT="[Texto]" custT="1"/>
      <dgm:spPr/>
      <dgm:t>
        <a:bodyPr/>
        <a:lstStyle/>
        <a:p>
          <a:r>
            <a:rPr lang="pt-BR" sz="1400" b="1" dirty="0" smtClean="0">
              <a:solidFill>
                <a:srgbClr val="0070C0"/>
              </a:solidFill>
            </a:rPr>
            <a:t>Outubro</a:t>
          </a:r>
          <a:endParaRPr lang="pt-BR" sz="1400" b="1" dirty="0">
            <a:solidFill>
              <a:srgbClr val="0070C0"/>
            </a:solidFill>
          </a:endParaRPr>
        </a:p>
      </dgm:t>
    </dgm:pt>
    <dgm:pt modelId="{95124C2A-0797-44F4-A3FC-57F9A54FB0C6}" type="parTrans" cxnId="{B21CC5DE-F5CE-4E0C-BDBB-ED09C8496ECB}">
      <dgm:prSet/>
      <dgm:spPr/>
      <dgm:t>
        <a:bodyPr/>
        <a:lstStyle/>
        <a:p>
          <a:endParaRPr lang="pt-BR" sz="1400">
            <a:solidFill>
              <a:srgbClr val="0070C0"/>
            </a:solidFill>
          </a:endParaRPr>
        </a:p>
      </dgm:t>
    </dgm:pt>
    <dgm:pt modelId="{15C3B78A-F6EC-498D-8377-29BC33B7EF00}" type="sibTrans" cxnId="{B21CC5DE-F5CE-4E0C-BDBB-ED09C8496ECB}">
      <dgm:prSet/>
      <dgm:spPr/>
      <dgm:t>
        <a:bodyPr/>
        <a:lstStyle/>
        <a:p>
          <a:endParaRPr lang="pt-BR" sz="1400">
            <a:solidFill>
              <a:srgbClr val="0070C0"/>
            </a:solidFill>
          </a:endParaRPr>
        </a:p>
      </dgm:t>
    </dgm:pt>
    <dgm:pt modelId="{D5DEF5E5-3C3A-484E-8D80-C1E1E31F7287}">
      <dgm:prSet phldrT="[Texto]" custT="1"/>
      <dgm:spPr/>
      <dgm:t>
        <a:bodyPr/>
        <a:lstStyle/>
        <a:p>
          <a:r>
            <a:rPr lang="pt-BR" sz="1400" b="1" dirty="0" smtClean="0">
              <a:solidFill>
                <a:srgbClr val="0070C0"/>
              </a:solidFill>
            </a:rPr>
            <a:t>Novembro</a:t>
          </a:r>
          <a:endParaRPr lang="pt-BR" sz="1400" b="1" dirty="0">
            <a:solidFill>
              <a:srgbClr val="0070C0"/>
            </a:solidFill>
          </a:endParaRPr>
        </a:p>
      </dgm:t>
    </dgm:pt>
    <dgm:pt modelId="{91FD5B7A-911C-4349-987C-0CBB3F1B6422}" type="parTrans" cxnId="{562B8F37-F76B-4674-8450-0132F6D4FD0D}">
      <dgm:prSet/>
      <dgm:spPr/>
      <dgm:t>
        <a:bodyPr/>
        <a:lstStyle/>
        <a:p>
          <a:endParaRPr lang="pt-BR" sz="1400">
            <a:solidFill>
              <a:srgbClr val="0070C0"/>
            </a:solidFill>
          </a:endParaRPr>
        </a:p>
      </dgm:t>
    </dgm:pt>
    <dgm:pt modelId="{8C893BEB-06FE-4185-AE83-BDBE2F06811B}" type="sibTrans" cxnId="{562B8F37-F76B-4674-8450-0132F6D4FD0D}">
      <dgm:prSet/>
      <dgm:spPr/>
      <dgm:t>
        <a:bodyPr/>
        <a:lstStyle/>
        <a:p>
          <a:endParaRPr lang="pt-BR" sz="1400">
            <a:solidFill>
              <a:srgbClr val="0070C0"/>
            </a:solidFill>
          </a:endParaRPr>
        </a:p>
      </dgm:t>
    </dgm:pt>
    <dgm:pt modelId="{2A7B76FE-574D-488F-8A3B-3C16F6057607}">
      <dgm:prSet phldrT="[Texto]" custT="1"/>
      <dgm:spPr/>
      <dgm:t>
        <a:bodyPr/>
        <a:lstStyle/>
        <a:p>
          <a:r>
            <a:rPr lang="pt-BR" sz="1400" b="1" dirty="0" smtClean="0">
              <a:solidFill>
                <a:srgbClr val="0070C0"/>
              </a:solidFill>
            </a:rPr>
            <a:t>Dezembro</a:t>
          </a:r>
          <a:endParaRPr lang="pt-BR" sz="1400" b="1" dirty="0">
            <a:solidFill>
              <a:srgbClr val="0070C0"/>
            </a:solidFill>
          </a:endParaRPr>
        </a:p>
      </dgm:t>
    </dgm:pt>
    <dgm:pt modelId="{FF889F47-567E-4E3A-9FAF-82822A7C3AD4}" type="parTrans" cxnId="{BDD14A70-DEFF-42F3-9FD8-6225B7ACB586}">
      <dgm:prSet/>
      <dgm:spPr/>
      <dgm:t>
        <a:bodyPr/>
        <a:lstStyle/>
        <a:p>
          <a:endParaRPr lang="pt-BR" sz="1400">
            <a:solidFill>
              <a:srgbClr val="0070C0"/>
            </a:solidFill>
          </a:endParaRPr>
        </a:p>
      </dgm:t>
    </dgm:pt>
    <dgm:pt modelId="{B95E9E64-B9ED-417F-8443-58C26E625F41}" type="sibTrans" cxnId="{BDD14A70-DEFF-42F3-9FD8-6225B7ACB586}">
      <dgm:prSet/>
      <dgm:spPr/>
      <dgm:t>
        <a:bodyPr/>
        <a:lstStyle/>
        <a:p>
          <a:endParaRPr lang="pt-BR" sz="1400">
            <a:solidFill>
              <a:srgbClr val="0070C0"/>
            </a:solidFill>
          </a:endParaRPr>
        </a:p>
      </dgm:t>
    </dgm:pt>
    <dgm:pt modelId="{F6D01143-143F-44BC-9D16-601396B75879}" type="pres">
      <dgm:prSet presAssocID="{2BABD3B3-B6C9-412C-8596-1F292BBDA9A6}" presName="Name0" presStyleCnt="0">
        <dgm:presLayoutVars>
          <dgm:dir/>
          <dgm:resizeHandles val="exact"/>
        </dgm:presLayoutVars>
      </dgm:prSet>
      <dgm:spPr/>
    </dgm:pt>
    <dgm:pt modelId="{15B99AEC-7A53-4814-BEFF-513E8F3D5406}" type="pres">
      <dgm:prSet presAssocID="{2BABD3B3-B6C9-412C-8596-1F292BBDA9A6}" presName="arrow" presStyleLbl="bgShp" presStyleIdx="0" presStyleCnt="1"/>
      <dgm:spPr>
        <a:solidFill>
          <a:schemeClr val="bg1">
            <a:lumMod val="65000"/>
          </a:schemeClr>
        </a:solidFill>
      </dgm:spPr>
      <dgm:t>
        <a:bodyPr/>
        <a:lstStyle/>
        <a:p>
          <a:endParaRPr lang="pt-BR"/>
        </a:p>
      </dgm:t>
    </dgm:pt>
    <dgm:pt modelId="{F4A3BC03-A1CF-4C83-A354-CF261B7E7152}" type="pres">
      <dgm:prSet presAssocID="{2BABD3B3-B6C9-412C-8596-1F292BBDA9A6}" presName="points" presStyleCnt="0"/>
      <dgm:spPr/>
    </dgm:pt>
    <dgm:pt modelId="{E7393A65-A44F-42A4-8153-F3F1A2FD0987}" type="pres">
      <dgm:prSet presAssocID="{C47CD97F-0F1B-4078-A42C-0F9A445E1153}" presName="compositeA" presStyleCnt="0"/>
      <dgm:spPr/>
    </dgm:pt>
    <dgm:pt modelId="{6A3B4C8B-619A-4639-B5F2-F2641DA0D32B}" type="pres">
      <dgm:prSet presAssocID="{C47CD97F-0F1B-4078-A42C-0F9A445E1153}" presName="textA" presStyleLbl="revTx" presStyleIdx="0" presStyleCnt="4">
        <dgm:presLayoutVars>
          <dgm:bulletEnabled val="1"/>
        </dgm:presLayoutVars>
      </dgm:prSet>
      <dgm:spPr/>
      <dgm:t>
        <a:bodyPr/>
        <a:lstStyle/>
        <a:p>
          <a:endParaRPr lang="pt-BR"/>
        </a:p>
      </dgm:t>
    </dgm:pt>
    <dgm:pt modelId="{EE3B55E7-82E5-467D-8E74-4CD90BD3A754}" type="pres">
      <dgm:prSet presAssocID="{C47CD97F-0F1B-4078-A42C-0F9A445E1153}" presName="circleA" presStyleLbl="node1" presStyleIdx="0" presStyleCnt="4"/>
      <dgm:spPr>
        <a:solidFill>
          <a:srgbClr val="0070C0"/>
        </a:solidFill>
      </dgm:spPr>
    </dgm:pt>
    <dgm:pt modelId="{9137AF84-0EDD-4221-9BEB-37CCF68CB05E}" type="pres">
      <dgm:prSet presAssocID="{C47CD97F-0F1B-4078-A42C-0F9A445E1153}" presName="spaceA" presStyleCnt="0"/>
      <dgm:spPr/>
    </dgm:pt>
    <dgm:pt modelId="{15FB96B3-9D17-4C7B-AE68-91B120C115E1}" type="pres">
      <dgm:prSet presAssocID="{EC025A84-E459-4F2A-8A1C-B807B7E413B3}" presName="space" presStyleCnt="0"/>
      <dgm:spPr/>
    </dgm:pt>
    <dgm:pt modelId="{14BC01EF-9EF7-49FB-BEB0-F9ADD097C812}" type="pres">
      <dgm:prSet presAssocID="{55C2CEBF-2D0F-41AE-AC06-DB1ED52F3840}" presName="compositeB" presStyleCnt="0"/>
      <dgm:spPr/>
    </dgm:pt>
    <dgm:pt modelId="{F09B4BEE-2B05-4FB4-B9B5-62B399164DA4}" type="pres">
      <dgm:prSet presAssocID="{55C2CEBF-2D0F-41AE-AC06-DB1ED52F3840}" presName="textB" presStyleLbl="revTx" presStyleIdx="1" presStyleCnt="4">
        <dgm:presLayoutVars>
          <dgm:bulletEnabled val="1"/>
        </dgm:presLayoutVars>
      </dgm:prSet>
      <dgm:spPr/>
      <dgm:t>
        <a:bodyPr/>
        <a:lstStyle/>
        <a:p>
          <a:endParaRPr lang="pt-BR"/>
        </a:p>
      </dgm:t>
    </dgm:pt>
    <dgm:pt modelId="{D3AD4240-1F68-4D95-857F-52C817528629}" type="pres">
      <dgm:prSet presAssocID="{55C2CEBF-2D0F-41AE-AC06-DB1ED52F3840}" presName="circleB" presStyleLbl="node1" presStyleIdx="1" presStyleCnt="4"/>
      <dgm:spPr>
        <a:solidFill>
          <a:srgbClr val="0070C0"/>
        </a:solidFill>
      </dgm:spPr>
    </dgm:pt>
    <dgm:pt modelId="{072B2619-1E47-41CC-85B8-CBC306C0A0F1}" type="pres">
      <dgm:prSet presAssocID="{55C2CEBF-2D0F-41AE-AC06-DB1ED52F3840}" presName="spaceB" presStyleCnt="0"/>
      <dgm:spPr/>
    </dgm:pt>
    <dgm:pt modelId="{556AC52D-57C9-469A-938A-C18CA9262C90}" type="pres">
      <dgm:prSet presAssocID="{15C3B78A-F6EC-498D-8377-29BC33B7EF00}" presName="space" presStyleCnt="0"/>
      <dgm:spPr/>
    </dgm:pt>
    <dgm:pt modelId="{0394D81D-4B71-4D1B-9546-A4BB3CED6DF3}" type="pres">
      <dgm:prSet presAssocID="{D5DEF5E5-3C3A-484E-8D80-C1E1E31F7287}" presName="compositeA" presStyleCnt="0"/>
      <dgm:spPr/>
    </dgm:pt>
    <dgm:pt modelId="{5C793E08-6B71-4269-9477-AB43462748BB}" type="pres">
      <dgm:prSet presAssocID="{D5DEF5E5-3C3A-484E-8D80-C1E1E31F7287}" presName="textA" presStyleLbl="revTx" presStyleIdx="2" presStyleCnt="4">
        <dgm:presLayoutVars>
          <dgm:bulletEnabled val="1"/>
        </dgm:presLayoutVars>
      </dgm:prSet>
      <dgm:spPr/>
      <dgm:t>
        <a:bodyPr/>
        <a:lstStyle/>
        <a:p>
          <a:endParaRPr lang="pt-BR"/>
        </a:p>
      </dgm:t>
    </dgm:pt>
    <dgm:pt modelId="{68FE723C-7FB5-4300-AF71-13B538EA3C0B}" type="pres">
      <dgm:prSet presAssocID="{D5DEF5E5-3C3A-484E-8D80-C1E1E31F7287}" presName="circleA" presStyleLbl="node1" presStyleIdx="2" presStyleCnt="4"/>
      <dgm:spPr>
        <a:solidFill>
          <a:srgbClr val="0070C0"/>
        </a:solidFill>
      </dgm:spPr>
    </dgm:pt>
    <dgm:pt modelId="{9C1A1DC9-E7A4-4067-898F-E3D963254D70}" type="pres">
      <dgm:prSet presAssocID="{D5DEF5E5-3C3A-484E-8D80-C1E1E31F7287}" presName="spaceA" presStyleCnt="0"/>
      <dgm:spPr/>
    </dgm:pt>
    <dgm:pt modelId="{0DC8C521-129E-47A7-AC6E-A40163340614}" type="pres">
      <dgm:prSet presAssocID="{8C893BEB-06FE-4185-AE83-BDBE2F06811B}" presName="space" presStyleCnt="0"/>
      <dgm:spPr/>
    </dgm:pt>
    <dgm:pt modelId="{AFCEA87D-4193-4C6A-9A62-20AB78ED2047}" type="pres">
      <dgm:prSet presAssocID="{2A7B76FE-574D-488F-8A3B-3C16F6057607}" presName="compositeB" presStyleCnt="0"/>
      <dgm:spPr/>
    </dgm:pt>
    <dgm:pt modelId="{FC3FD9BD-80E6-4860-AE87-8A493ED7241C}" type="pres">
      <dgm:prSet presAssocID="{2A7B76FE-574D-488F-8A3B-3C16F6057607}" presName="textB" presStyleLbl="revTx" presStyleIdx="3" presStyleCnt="4">
        <dgm:presLayoutVars>
          <dgm:bulletEnabled val="1"/>
        </dgm:presLayoutVars>
      </dgm:prSet>
      <dgm:spPr/>
      <dgm:t>
        <a:bodyPr/>
        <a:lstStyle/>
        <a:p>
          <a:endParaRPr lang="pt-BR"/>
        </a:p>
      </dgm:t>
    </dgm:pt>
    <dgm:pt modelId="{34D21193-064F-451D-BC7E-3FFA8F319351}" type="pres">
      <dgm:prSet presAssocID="{2A7B76FE-574D-488F-8A3B-3C16F6057607}" presName="circleB" presStyleLbl="node1" presStyleIdx="3" presStyleCnt="4"/>
      <dgm:spPr>
        <a:solidFill>
          <a:srgbClr val="0070C0"/>
        </a:solidFill>
      </dgm:spPr>
    </dgm:pt>
    <dgm:pt modelId="{B2487D3B-C116-4CBD-BF32-E46326996FC1}" type="pres">
      <dgm:prSet presAssocID="{2A7B76FE-574D-488F-8A3B-3C16F6057607}" presName="spaceB" presStyleCnt="0"/>
      <dgm:spPr/>
    </dgm:pt>
  </dgm:ptLst>
  <dgm:cxnLst>
    <dgm:cxn modelId="{264A4A9D-A9EB-4936-A057-734DEFEC5AA8}" type="presOf" srcId="{55C2CEBF-2D0F-41AE-AC06-DB1ED52F3840}" destId="{F09B4BEE-2B05-4FB4-B9B5-62B399164DA4}" srcOrd="0" destOrd="0" presId="urn:microsoft.com/office/officeart/2005/8/layout/hProcess11"/>
    <dgm:cxn modelId="{76639D5E-97B5-45C9-B599-DA221C58C8DC}" type="presOf" srcId="{D5DEF5E5-3C3A-484E-8D80-C1E1E31F7287}" destId="{5C793E08-6B71-4269-9477-AB43462748BB}" srcOrd="0" destOrd="0" presId="urn:microsoft.com/office/officeart/2005/8/layout/hProcess11"/>
    <dgm:cxn modelId="{AC8C0A47-FBAC-42A9-920C-2F2B8A5ADA32}" type="presOf" srcId="{2A7B76FE-574D-488F-8A3B-3C16F6057607}" destId="{FC3FD9BD-80E6-4860-AE87-8A493ED7241C}" srcOrd="0" destOrd="0" presId="urn:microsoft.com/office/officeart/2005/8/layout/hProcess11"/>
    <dgm:cxn modelId="{114F083E-476F-4F06-B2EE-ACC458E3590F}" type="presOf" srcId="{C47CD97F-0F1B-4078-A42C-0F9A445E1153}" destId="{6A3B4C8B-619A-4639-B5F2-F2641DA0D32B}" srcOrd="0" destOrd="0" presId="urn:microsoft.com/office/officeart/2005/8/layout/hProcess11"/>
    <dgm:cxn modelId="{BDD14A70-DEFF-42F3-9FD8-6225B7ACB586}" srcId="{2BABD3B3-B6C9-412C-8596-1F292BBDA9A6}" destId="{2A7B76FE-574D-488F-8A3B-3C16F6057607}" srcOrd="3" destOrd="0" parTransId="{FF889F47-567E-4E3A-9FAF-82822A7C3AD4}" sibTransId="{B95E9E64-B9ED-417F-8443-58C26E625F41}"/>
    <dgm:cxn modelId="{B21CC5DE-F5CE-4E0C-BDBB-ED09C8496ECB}" srcId="{2BABD3B3-B6C9-412C-8596-1F292BBDA9A6}" destId="{55C2CEBF-2D0F-41AE-AC06-DB1ED52F3840}" srcOrd="1" destOrd="0" parTransId="{95124C2A-0797-44F4-A3FC-57F9A54FB0C6}" sibTransId="{15C3B78A-F6EC-498D-8377-29BC33B7EF00}"/>
    <dgm:cxn modelId="{562B8F37-F76B-4674-8450-0132F6D4FD0D}" srcId="{2BABD3B3-B6C9-412C-8596-1F292BBDA9A6}" destId="{D5DEF5E5-3C3A-484E-8D80-C1E1E31F7287}" srcOrd="2" destOrd="0" parTransId="{91FD5B7A-911C-4349-987C-0CBB3F1B6422}" sibTransId="{8C893BEB-06FE-4185-AE83-BDBE2F06811B}"/>
    <dgm:cxn modelId="{C7AE95F1-E69B-4B15-8569-E16B17222E65}" srcId="{2BABD3B3-B6C9-412C-8596-1F292BBDA9A6}" destId="{C47CD97F-0F1B-4078-A42C-0F9A445E1153}" srcOrd="0" destOrd="0" parTransId="{EFB71E73-8C34-4DFA-8E37-DD1B7584E3AA}" sibTransId="{EC025A84-E459-4F2A-8A1C-B807B7E413B3}"/>
    <dgm:cxn modelId="{FF896FA0-E00A-4523-BF6F-E82A69AB6666}" type="presOf" srcId="{2BABD3B3-B6C9-412C-8596-1F292BBDA9A6}" destId="{F6D01143-143F-44BC-9D16-601396B75879}" srcOrd="0" destOrd="0" presId="urn:microsoft.com/office/officeart/2005/8/layout/hProcess11"/>
    <dgm:cxn modelId="{2D6505C2-FF46-4CF7-A26E-935170EB2BAC}" type="presParOf" srcId="{F6D01143-143F-44BC-9D16-601396B75879}" destId="{15B99AEC-7A53-4814-BEFF-513E8F3D5406}" srcOrd="0" destOrd="0" presId="urn:microsoft.com/office/officeart/2005/8/layout/hProcess11"/>
    <dgm:cxn modelId="{DD3ECF1F-7E92-4F4A-A883-B19C993C1A8E}" type="presParOf" srcId="{F6D01143-143F-44BC-9D16-601396B75879}" destId="{F4A3BC03-A1CF-4C83-A354-CF261B7E7152}" srcOrd="1" destOrd="0" presId="urn:microsoft.com/office/officeart/2005/8/layout/hProcess11"/>
    <dgm:cxn modelId="{946000FD-6DD0-48BA-B872-65080555662D}" type="presParOf" srcId="{F4A3BC03-A1CF-4C83-A354-CF261B7E7152}" destId="{E7393A65-A44F-42A4-8153-F3F1A2FD0987}" srcOrd="0" destOrd="0" presId="urn:microsoft.com/office/officeart/2005/8/layout/hProcess11"/>
    <dgm:cxn modelId="{4E9D68EC-9B3C-4A61-B9A7-6A419262E52A}" type="presParOf" srcId="{E7393A65-A44F-42A4-8153-F3F1A2FD0987}" destId="{6A3B4C8B-619A-4639-B5F2-F2641DA0D32B}" srcOrd="0" destOrd="0" presId="urn:microsoft.com/office/officeart/2005/8/layout/hProcess11"/>
    <dgm:cxn modelId="{5FFE4F43-F681-414A-9420-146E953E9584}" type="presParOf" srcId="{E7393A65-A44F-42A4-8153-F3F1A2FD0987}" destId="{EE3B55E7-82E5-467D-8E74-4CD90BD3A754}" srcOrd="1" destOrd="0" presId="urn:microsoft.com/office/officeart/2005/8/layout/hProcess11"/>
    <dgm:cxn modelId="{D95DC803-F8A4-4D85-81F9-394EE88556A5}" type="presParOf" srcId="{E7393A65-A44F-42A4-8153-F3F1A2FD0987}" destId="{9137AF84-0EDD-4221-9BEB-37CCF68CB05E}" srcOrd="2" destOrd="0" presId="urn:microsoft.com/office/officeart/2005/8/layout/hProcess11"/>
    <dgm:cxn modelId="{2FA060A7-D172-4F0C-BE3C-70343B9638E8}" type="presParOf" srcId="{F4A3BC03-A1CF-4C83-A354-CF261B7E7152}" destId="{15FB96B3-9D17-4C7B-AE68-91B120C115E1}" srcOrd="1" destOrd="0" presId="urn:microsoft.com/office/officeart/2005/8/layout/hProcess11"/>
    <dgm:cxn modelId="{762D2A59-42BD-4C15-96B7-DD21A17FC76F}" type="presParOf" srcId="{F4A3BC03-A1CF-4C83-A354-CF261B7E7152}" destId="{14BC01EF-9EF7-49FB-BEB0-F9ADD097C812}" srcOrd="2" destOrd="0" presId="urn:microsoft.com/office/officeart/2005/8/layout/hProcess11"/>
    <dgm:cxn modelId="{790BBCD3-51F1-44C2-B343-2EE6D7E582A9}" type="presParOf" srcId="{14BC01EF-9EF7-49FB-BEB0-F9ADD097C812}" destId="{F09B4BEE-2B05-4FB4-B9B5-62B399164DA4}" srcOrd="0" destOrd="0" presId="urn:microsoft.com/office/officeart/2005/8/layout/hProcess11"/>
    <dgm:cxn modelId="{B61129C1-549A-4388-8921-BF8F5A5335B5}" type="presParOf" srcId="{14BC01EF-9EF7-49FB-BEB0-F9ADD097C812}" destId="{D3AD4240-1F68-4D95-857F-52C817528629}" srcOrd="1" destOrd="0" presId="urn:microsoft.com/office/officeart/2005/8/layout/hProcess11"/>
    <dgm:cxn modelId="{F4839BA3-8484-46A4-818B-6EAF49FFEE2A}" type="presParOf" srcId="{14BC01EF-9EF7-49FB-BEB0-F9ADD097C812}" destId="{072B2619-1E47-41CC-85B8-CBC306C0A0F1}" srcOrd="2" destOrd="0" presId="urn:microsoft.com/office/officeart/2005/8/layout/hProcess11"/>
    <dgm:cxn modelId="{74157AAE-5B78-4713-8CE4-40C682380F2B}" type="presParOf" srcId="{F4A3BC03-A1CF-4C83-A354-CF261B7E7152}" destId="{556AC52D-57C9-469A-938A-C18CA9262C90}" srcOrd="3" destOrd="0" presId="urn:microsoft.com/office/officeart/2005/8/layout/hProcess11"/>
    <dgm:cxn modelId="{4C94DD9E-FB90-4925-AA31-15519A20BA33}" type="presParOf" srcId="{F4A3BC03-A1CF-4C83-A354-CF261B7E7152}" destId="{0394D81D-4B71-4D1B-9546-A4BB3CED6DF3}" srcOrd="4" destOrd="0" presId="urn:microsoft.com/office/officeart/2005/8/layout/hProcess11"/>
    <dgm:cxn modelId="{6D6B38FA-A06A-4332-AFC4-19984BA1C087}" type="presParOf" srcId="{0394D81D-4B71-4D1B-9546-A4BB3CED6DF3}" destId="{5C793E08-6B71-4269-9477-AB43462748BB}" srcOrd="0" destOrd="0" presId="urn:microsoft.com/office/officeart/2005/8/layout/hProcess11"/>
    <dgm:cxn modelId="{00B0D994-BFDB-4FA9-B2EC-4D452970A93B}" type="presParOf" srcId="{0394D81D-4B71-4D1B-9546-A4BB3CED6DF3}" destId="{68FE723C-7FB5-4300-AF71-13B538EA3C0B}" srcOrd="1" destOrd="0" presId="urn:microsoft.com/office/officeart/2005/8/layout/hProcess11"/>
    <dgm:cxn modelId="{1F2C08F7-0D1E-4BC9-86EA-4412F6666F75}" type="presParOf" srcId="{0394D81D-4B71-4D1B-9546-A4BB3CED6DF3}" destId="{9C1A1DC9-E7A4-4067-898F-E3D963254D70}" srcOrd="2" destOrd="0" presId="urn:microsoft.com/office/officeart/2005/8/layout/hProcess11"/>
    <dgm:cxn modelId="{696EE68F-D31C-4188-8AEE-C2142F5C48AC}" type="presParOf" srcId="{F4A3BC03-A1CF-4C83-A354-CF261B7E7152}" destId="{0DC8C521-129E-47A7-AC6E-A40163340614}" srcOrd="5" destOrd="0" presId="urn:microsoft.com/office/officeart/2005/8/layout/hProcess11"/>
    <dgm:cxn modelId="{1CA3B5B5-D94A-4727-9C61-7B045A39C47E}" type="presParOf" srcId="{F4A3BC03-A1CF-4C83-A354-CF261B7E7152}" destId="{AFCEA87D-4193-4C6A-9A62-20AB78ED2047}" srcOrd="6" destOrd="0" presId="urn:microsoft.com/office/officeart/2005/8/layout/hProcess11"/>
    <dgm:cxn modelId="{5E79CD42-924C-43CB-B1C7-EE6274E69183}" type="presParOf" srcId="{AFCEA87D-4193-4C6A-9A62-20AB78ED2047}" destId="{FC3FD9BD-80E6-4860-AE87-8A493ED7241C}" srcOrd="0" destOrd="0" presId="urn:microsoft.com/office/officeart/2005/8/layout/hProcess11"/>
    <dgm:cxn modelId="{25E8C18E-A4BC-4B6F-8C22-A7685D003F64}" type="presParOf" srcId="{AFCEA87D-4193-4C6A-9A62-20AB78ED2047}" destId="{34D21193-064F-451D-BC7E-3FFA8F319351}" srcOrd="1" destOrd="0" presId="urn:microsoft.com/office/officeart/2005/8/layout/hProcess11"/>
    <dgm:cxn modelId="{54453055-772A-4837-8ECD-5567BA67F838}" type="presParOf" srcId="{AFCEA87D-4193-4C6A-9A62-20AB78ED2047}" destId="{B2487D3B-C116-4CBD-BF32-E46326996FC1}"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ABD3B3-B6C9-412C-8596-1F292BBDA9A6}" type="doc">
      <dgm:prSet loTypeId="urn:microsoft.com/office/officeart/2005/8/layout/hProcess11" loCatId="process" qsTypeId="urn:microsoft.com/office/officeart/2005/8/quickstyle/3d4" qsCatId="3D" csTypeId="urn:microsoft.com/office/officeart/2005/8/colors/accent1_2" csCatId="accent1" phldr="1"/>
      <dgm:spPr/>
    </dgm:pt>
    <dgm:pt modelId="{C47CD97F-0F1B-4078-A42C-0F9A445E1153}">
      <dgm:prSet phldrT="[Texto]" custT="1"/>
      <dgm:spPr/>
      <dgm:t>
        <a:bodyPr/>
        <a:lstStyle/>
        <a:p>
          <a:r>
            <a:rPr lang="pt-BR" sz="1400" b="1" dirty="0" smtClean="0">
              <a:solidFill>
                <a:srgbClr val="0070C0"/>
              </a:solidFill>
            </a:rPr>
            <a:t>Janeiro</a:t>
          </a:r>
          <a:endParaRPr lang="pt-BR" sz="1400" b="1" dirty="0">
            <a:solidFill>
              <a:srgbClr val="0070C0"/>
            </a:solidFill>
          </a:endParaRPr>
        </a:p>
      </dgm:t>
    </dgm:pt>
    <dgm:pt modelId="{EFB71E73-8C34-4DFA-8E37-DD1B7584E3AA}" type="parTrans" cxnId="{C7AE95F1-E69B-4B15-8569-E16B17222E65}">
      <dgm:prSet/>
      <dgm:spPr/>
      <dgm:t>
        <a:bodyPr/>
        <a:lstStyle/>
        <a:p>
          <a:endParaRPr lang="pt-BR" sz="1400">
            <a:solidFill>
              <a:srgbClr val="0070C0"/>
            </a:solidFill>
          </a:endParaRPr>
        </a:p>
      </dgm:t>
    </dgm:pt>
    <dgm:pt modelId="{EC025A84-E459-4F2A-8A1C-B807B7E413B3}" type="sibTrans" cxnId="{C7AE95F1-E69B-4B15-8569-E16B17222E65}">
      <dgm:prSet/>
      <dgm:spPr/>
      <dgm:t>
        <a:bodyPr/>
        <a:lstStyle/>
        <a:p>
          <a:endParaRPr lang="pt-BR" sz="1400">
            <a:solidFill>
              <a:srgbClr val="0070C0"/>
            </a:solidFill>
          </a:endParaRPr>
        </a:p>
      </dgm:t>
    </dgm:pt>
    <dgm:pt modelId="{16011096-CAF6-45A0-9BB1-0B15FE197959}">
      <dgm:prSet phldrT="[Texto]" custT="1"/>
      <dgm:spPr/>
      <dgm:t>
        <a:bodyPr/>
        <a:lstStyle/>
        <a:p>
          <a:r>
            <a:rPr lang="pt-BR" sz="1400" b="1" dirty="0" smtClean="0">
              <a:solidFill>
                <a:srgbClr val="0070C0"/>
              </a:solidFill>
            </a:rPr>
            <a:t>Fevereiro</a:t>
          </a:r>
          <a:endParaRPr lang="pt-BR" sz="1400" b="1" dirty="0">
            <a:solidFill>
              <a:srgbClr val="0070C0"/>
            </a:solidFill>
          </a:endParaRPr>
        </a:p>
      </dgm:t>
    </dgm:pt>
    <dgm:pt modelId="{615A3BDE-3755-4A74-8D05-256B7837665F}" type="parTrans" cxnId="{641BC1D9-B7FD-451E-B8DA-45B669753E09}">
      <dgm:prSet/>
      <dgm:spPr/>
      <dgm:t>
        <a:bodyPr/>
        <a:lstStyle/>
        <a:p>
          <a:endParaRPr lang="pt-BR"/>
        </a:p>
      </dgm:t>
    </dgm:pt>
    <dgm:pt modelId="{EE9ECF22-341A-4B60-9432-83040A9D8AB5}" type="sibTrans" cxnId="{641BC1D9-B7FD-451E-B8DA-45B669753E09}">
      <dgm:prSet/>
      <dgm:spPr/>
      <dgm:t>
        <a:bodyPr/>
        <a:lstStyle/>
        <a:p>
          <a:endParaRPr lang="pt-BR"/>
        </a:p>
      </dgm:t>
    </dgm:pt>
    <dgm:pt modelId="{152886C0-3BE0-45E8-8253-726B70710CA3}">
      <dgm:prSet phldrT="[Texto]" custT="1"/>
      <dgm:spPr/>
      <dgm:t>
        <a:bodyPr/>
        <a:lstStyle/>
        <a:p>
          <a:r>
            <a:rPr lang="pt-BR" sz="1400" b="1" dirty="0" smtClean="0">
              <a:solidFill>
                <a:srgbClr val="0070C0"/>
              </a:solidFill>
            </a:rPr>
            <a:t>Março</a:t>
          </a:r>
          <a:endParaRPr lang="pt-BR" sz="1400" b="1" dirty="0">
            <a:solidFill>
              <a:srgbClr val="0070C0"/>
            </a:solidFill>
          </a:endParaRPr>
        </a:p>
      </dgm:t>
    </dgm:pt>
    <dgm:pt modelId="{07EAEC1E-53CD-4626-96D7-429A7711C5ED}" type="parTrans" cxnId="{94F5E99A-BEDE-425B-900E-D641203F0EA6}">
      <dgm:prSet/>
      <dgm:spPr/>
      <dgm:t>
        <a:bodyPr/>
        <a:lstStyle/>
        <a:p>
          <a:endParaRPr lang="pt-BR"/>
        </a:p>
      </dgm:t>
    </dgm:pt>
    <dgm:pt modelId="{18955123-D870-4C0B-BFCE-8EDFC30E12DA}" type="sibTrans" cxnId="{94F5E99A-BEDE-425B-900E-D641203F0EA6}">
      <dgm:prSet/>
      <dgm:spPr/>
      <dgm:t>
        <a:bodyPr/>
        <a:lstStyle/>
        <a:p>
          <a:endParaRPr lang="pt-BR"/>
        </a:p>
      </dgm:t>
    </dgm:pt>
    <dgm:pt modelId="{2646148B-EF73-446B-ABE7-80DC7B939294}">
      <dgm:prSet phldrT="[Texto]" custT="1"/>
      <dgm:spPr/>
      <dgm:t>
        <a:bodyPr/>
        <a:lstStyle/>
        <a:p>
          <a:r>
            <a:rPr lang="pt-BR" sz="1400" b="1" dirty="0" smtClean="0">
              <a:solidFill>
                <a:srgbClr val="0070C0"/>
              </a:solidFill>
            </a:rPr>
            <a:t>Abril</a:t>
          </a:r>
          <a:endParaRPr lang="pt-BR" sz="1400" b="1" dirty="0">
            <a:solidFill>
              <a:srgbClr val="0070C0"/>
            </a:solidFill>
          </a:endParaRPr>
        </a:p>
      </dgm:t>
    </dgm:pt>
    <dgm:pt modelId="{4C3DAA3A-5A85-4B85-A315-524568072703}" type="parTrans" cxnId="{F34C1888-B48B-4857-A093-7F34F9DFE897}">
      <dgm:prSet/>
      <dgm:spPr/>
      <dgm:t>
        <a:bodyPr/>
        <a:lstStyle/>
        <a:p>
          <a:endParaRPr lang="pt-BR"/>
        </a:p>
      </dgm:t>
    </dgm:pt>
    <dgm:pt modelId="{915E8575-F42E-4CB4-800D-E78BFF61D509}" type="sibTrans" cxnId="{F34C1888-B48B-4857-A093-7F34F9DFE897}">
      <dgm:prSet/>
      <dgm:spPr/>
      <dgm:t>
        <a:bodyPr/>
        <a:lstStyle/>
        <a:p>
          <a:endParaRPr lang="pt-BR"/>
        </a:p>
      </dgm:t>
    </dgm:pt>
    <dgm:pt modelId="{516B3993-67CB-4070-A9A0-832E5E19FE5A}">
      <dgm:prSet phldrT="[Texto]" custT="1"/>
      <dgm:spPr/>
      <dgm:t>
        <a:bodyPr/>
        <a:lstStyle/>
        <a:p>
          <a:r>
            <a:rPr lang="pt-BR" sz="1400" b="1" dirty="0" smtClean="0">
              <a:solidFill>
                <a:srgbClr val="0070C0"/>
              </a:solidFill>
            </a:rPr>
            <a:t>Maio</a:t>
          </a:r>
          <a:endParaRPr lang="pt-BR" sz="1400" b="1" dirty="0">
            <a:solidFill>
              <a:srgbClr val="0070C0"/>
            </a:solidFill>
          </a:endParaRPr>
        </a:p>
      </dgm:t>
    </dgm:pt>
    <dgm:pt modelId="{6C438695-DAD2-44B7-A59D-3345A933C2A8}" type="parTrans" cxnId="{AEBB78F9-A64B-448A-BA10-5267D52D4A9A}">
      <dgm:prSet/>
      <dgm:spPr/>
      <dgm:t>
        <a:bodyPr/>
        <a:lstStyle/>
        <a:p>
          <a:endParaRPr lang="pt-BR"/>
        </a:p>
      </dgm:t>
    </dgm:pt>
    <dgm:pt modelId="{61AAF168-937C-4678-8E90-0DD9A4614CC4}" type="sibTrans" cxnId="{AEBB78F9-A64B-448A-BA10-5267D52D4A9A}">
      <dgm:prSet/>
      <dgm:spPr/>
      <dgm:t>
        <a:bodyPr/>
        <a:lstStyle/>
        <a:p>
          <a:endParaRPr lang="pt-BR"/>
        </a:p>
      </dgm:t>
    </dgm:pt>
    <dgm:pt modelId="{5A37416C-2FE7-4B30-A8F4-8D02D5A4B44E}">
      <dgm:prSet phldrT="[Texto]" custT="1"/>
      <dgm:spPr/>
      <dgm:t>
        <a:bodyPr/>
        <a:lstStyle/>
        <a:p>
          <a:r>
            <a:rPr lang="pt-BR" sz="1400" b="1" dirty="0" smtClean="0">
              <a:solidFill>
                <a:srgbClr val="0070C0"/>
              </a:solidFill>
            </a:rPr>
            <a:t>Junho</a:t>
          </a:r>
          <a:endParaRPr lang="pt-BR" sz="1400" b="1" dirty="0">
            <a:solidFill>
              <a:srgbClr val="0070C0"/>
            </a:solidFill>
          </a:endParaRPr>
        </a:p>
      </dgm:t>
    </dgm:pt>
    <dgm:pt modelId="{1A8C063B-18F0-4663-9699-CBDEF44776A3}" type="parTrans" cxnId="{8F1D740C-5301-4A96-BCD6-3F9A70061B98}">
      <dgm:prSet/>
      <dgm:spPr/>
      <dgm:t>
        <a:bodyPr/>
        <a:lstStyle/>
        <a:p>
          <a:endParaRPr lang="pt-BR"/>
        </a:p>
      </dgm:t>
    </dgm:pt>
    <dgm:pt modelId="{B8DBD398-FD4A-4B90-9C89-298BE10E4206}" type="sibTrans" cxnId="{8F1D740C-5301-4A96-BCD6-3F9A70061B98}">
      <dgm:prSet/>
      <dgm:spPr/>
      <dgm:t>
        <a:bodyPr/>
        <a:lstStyle/>
        <a:p>
          <a:endParaRPr lang="pt-BR"/>
        </a:p>
      </dgm:t>
    </dgm:pt>
    <dgm:pt modelId="{F6D01143-143F-44BC-9D16-601396B75879}" type="pres">
      <dgm:prSet presAssocID="{2BABD3B3-B6C9-412C-8596-1F292BBDA9A6}" presName="Name0" presStyleCnt="0">
        <dgm:presLayoutVars>
          <dgm:dir/>
          <dgm:resizeHandles val="exact"/>
        </dgm:presLayoutVars>
      </dgm:prSet>
      <dgm:spPr/>
    </dgm:pt>
    <dgm:pt modelId="{15B99AEC-7A53-4814-BEFF-513E8F3D5406}" type="pres">
      <dgm:prSet presAssocID="{2BABD3B3-B6C9-412C-8596-1F292BBDA9A6}" presName="arrow" presStyleLbl="bgShp" presStyleIdx="0" presStyleCnt="1"/>
      <dgm:spPr>
        <a:solidFill>
          <a:schemeClr val="bg1">
            <a:lumMod val="65000"/>
          </a:schemeClr>
        </a:solidFill>
      </dgm:spPr>
      <dgm:t>
        <a:bodyPr/>
        <a:lstStyle/>
        <a:p>
          <a:endParaRPr lang="pt-BR"/>
        </a:p>
      </dgm:t>
    </dgm:pt>
    <dgm:pt modelId="{F4A3BC03-A1CF-4C83-A354-CF261B7E7152}" type="pres">
      <dgm:prSet presAssocID="{2BABD3B3-B6C9-412C-8596-1F292BBDA9A6}" presName="points" presStyleCnt="0"/>
      <dgm:spPr/>
    </dgm:pt>
    <dgm:pt modelId="{E7393A65-A44F-42A4-8153-F3F1A2FD0987}" type="pres">
      <dgm:prSet presAssocID="{C47CD97F-0F1B-4078-A42C-0F9A445E1153}" presName="compositeA" presStyleCnt="0"/>
      <dgm:spPr/>
    </dgm:pt>
    <dgm:pt modelId="{6A3B4C8B-619A-4639-B5F2-F2641DA0D32B}" type="pres">
      <dgm:prSet presAssocID="{C47CD97F-0F1B-4078-A42C-0F9A445E1153}" presName="textA" presStyleLbl="revTx" presStyleIdx="0" presStyleCnt="6">
        <dgm:presLayoutVars>
          <dgm:bulletEnabled val="1"/>
        </dgm:presLayoutVars>
      </dgm:prSet>
      <dgm:spPr/>
      <dgm:t>
        <a:bodyPr/>
        <a:lstStyle/>
        <a:p>
          <a:endParaRPr lang="pt-BR"/>
        </a:p>
      </dgm:t>
    </dgm:pt>
    <dgm:pt modelId="{EE3B55E7-82E5-467D-8E74-4CD90BD3A754}" type="pres">
      <dgm:prSet presAssocID="{C47CD97F-0F1B-4078-A42C-0F9A445E1153}" presName="circleA" presStyleLbl="node1" presStyleIdx="0" presStyleCnt="6"/>
      <dgm:spPr>
        <a:solidFill>
          <a:srgbClr val="0070C0"/>
        </a:solidFill>
      </dgm:spPr>
    </dgm:pt>
    <dgm:pt modelId="{9137AF84-0EDD-4221-9BEB-37CCF68CB05E}" type="pres">
      <dgm:prSet presAssocID="{C47CD97F-0F1B-4078-A42C-0F9A445E1153}" presName="spaceA" presStyleCnt="0"/>
      <dgm:spPr/>
    </dgm:pt>
    <dgm:pt modelId="{15FB96B3-9D17-4C7B-AE68-91B120C115E1}" type="pres">
      <dgm:prSet presAssocID="{EC025A84-E459-4F2A-8A1C-B807B7E413B3}" presName="space" presStyleCnt="0"/>
      <dgm:spPr/>
    </dgm:pt>
    <dgm:pt modelId="{3174898D-2383-4A93-A81F-23939D13BC96}" type="pres">
      <dgm:prSet presAssocID="{16011096-CAF6-45A0-9BB1-0B15FE197959}" presName="compositeB" presStyleCnt="0"/>
      <dgm:spPr/>
    </dgm:pt>
    <dgm:pt modelId="{53ED5782-0A25-4A33-A4B3-7B4AF105C0D8}" type="pres">
      <dgm:prSet presAssocID="{16011096-CAF6-45A0-9BB1-0B15FE197959}" presName="textB" presStyleLbl="revTx" presStyleIdx="1" presStyleCnt="6">
        <dgm:presLayoutVars>
          <dgm:bulletEnabled val="1"/>
        </dgm:presLayoutVars>
      </dgm:prSet>
      <dgm:spPr/>
      <dgm:t>
        <a:bodyPr/>
        <a:lstStyle/>
        <a:p>
          <a:endParaRPr lang="pt-BR"/>
        </a:p>
      </dgm:t>
    </dgm:pt>
    <dgm:pt modelId="{DEA5A9C7-8D1F-46F1-922B-93A00A78B224}" type="pres">
      <dgm:prSet presAssocID="{16011096-CAF6-45A0-9BB1-0B15FE197959}" presName="circleB" presStyleLbl="node1" presStyleIdx="1" presStyleCnt="6"/>
      <dgm:spPr>
        <a:solidFill>
          <a:srgbClr val="0070C0"/>
        </a:solidFill>
      </dgm:spPr>
    </dgm:pt>
    <dgm:pt modelId="{A27FFBDB-3999-4655-9B76-FAF2735DD610}" type="pres">
      <dgm:prSet presAssocID="{16011096-CAF6-45A0-9BB1-0B15FE197959}" presName="spaceB" presStyleCnt="0"/>
      <dgm:spPr/>
    </dgm:pt>
    <dgm:pt modelId="{B10D56EF-ED16-4085-914C-4B6279069525}" type="pres">
      <dgm:prSet presAssocID="{EE9ECF22-341A-4B60-9432-83040A9D8AB5}" presName="space" presStyleCnt="0"/>
      <dgm:spPr/>
    </dgm:pt>
    <dgm:pt modelId="{DF7FC91B-CED7-42C7-856F-56975490F22C}" type="pres">
      <dgm:prSet presAssocID="{152886C0-3BE0-45E8-8253-726B70710CA3}" presName="compositeA" presStyleCnt="0"/>
      <dgm:spPr/>
    </dgm:pt>
    <dgm:pt modelId="{284F5F79-FF02-4271-9E30-5A59B9E79A61}" type="pres">
      <dgm:prSet presAssocID="{152886C0-3BE0-45E8-8253-726B70710CA3}" presName="textA" presStyleLbl="revTx" presStyleIdx="2" presStyleCnt="6">
        <dgm:presLayoutVars>
          <dgm:bulletEnabled val="1"/>
        </dgm:presLayoutVars>
      </dgm:prSet>
      <dgm:spPr/>
      <dgm:t>
        <a:bodyPr/>
        <a:lstStyle/>
        <a:p>
          <a:endParaRPr lang="pt-BR"/>
        </a:p>
      </dgm:t>
    </dgm:pt>
    <dgm:pt modelId="{C781E812-1138-4D87-A7BE-0525EF1A7B23}" type="pres">
      <dgm:prSet presAssocID="{152886C0-3BE0-45E8-8253-726B70710CA3}" presName="circleA" presStyleLbl="node1" presStyleIdx="2" presStyleCnt="6"/>
      <dgm:spPr>
        <a:solidFill>
          <a:srgbClr val="0070C0"/>
        </a:solidFill>
      </dgm:spPr>
    </dgm:pt>
    <dgm:pt modelId="{4BC04A4E-0441-4E7A-AA3E-4FB21A3CA395}" type="pres">
      <dgm:prSet presAssocID="{152886C0-3BE0-45E8-8253-726B70710CA3}" presName="spaceA" presStyleCnt="0"/>
      <dgm:spPr/>
    </dgm:pt>
    <dgm:pt modelId="{71DB5FFB-C8A8-4412-AE0C-CEC2BCC22F61}" type="pres">
      <dgm:prSet presAssocID="{18955123-D870-4C0B-BFCE-8EDFC30E12DA}" presName="space" presStyleCnt="0"/>
      <dgm:spPr/>
    </dgm:pt>
    <dgm:pt modelId="{D841D639-E839-4A8C-B7C2-4376F982C352}" type="pres">
      <dgm:prSet presAssocID="{2646148B-EF73-446B-ABE7-80DC7B939294}" presName="compositeB" presStyleCnt="0"/>
      <dgm:spPr/>
    </dgm:pt>
    <dgm:pt modelId="{E76AE77B-6D8F-4D94-B125-51A056CFFB5A}" type="pres">
      <dgm:prSet presAssocID="{2646148B-EF73-446B-ABE7-80DC7B939294}" presName="textB" presStyleLbl="revTx" presStyleIdx="3" presStyleCnt="6">
        <dgm:presLayoutVars>
          <dgm:bulletEnabled val="1"/>
        </dgm:presLayoutVars>
      </dgm:prSet>
      <dgm:spPr/>
      <dgm:t>
        <a:bodyPr/>
        <a:lstStyle/>
        <a:p>
          <a:endParaRPr lang="pt-BR"/>
        </a:p>
      </dgm:t>
    </dgm:pt>
    <dgm:pt modelId="{4E693B28-0300-44D5-9E6F-43F775F947FD}" type="pres">
      <dgm:prSet presAssocID="{2646148B-EF73-446B-ABE7-80DC7B939294}" presName="circleB" presStyleLbl="node1" presStyleIdx="3" presStyleCnt="6"/>
      <dgm:spPr>
        <a:solidFill>
          <a:srgbClr val="0070C0"/>
        </a:solidFill>
      </dgm:spPr>
    </dgm:pt>
    <dgm:pt modelId="{C97AE577-7E04-460B-87C3-6372756F8EC7}" type="pres">
      <dgm:prSet presAssocID="{2646148B-EF73-446B-ABE7-80DC7B939294}" presName="spaceB" presStyleCnt="0"/>
      <dgm:spPr/>
    </dgm:pt>
    <dgm:pt modelId="{FACC745B-AA0D-4D85-8BD2-70C7E500C386}" type="pres">
      <dgm:prSet presAssocID="{915E8575-F42E-4CB4-800D-E78BFF61D509}" presName="space" presStyleCnt="0"/>
      <dgm:spPr/>
    </dgm:pt>
    <dgm:pt modelId="{FF1B943F-06F0-4C8A-977E-D0415DAF7D9D}" type="pres">
      <dgm:prSet presAssocID="{516B3993-67CB-4070-A9A0-832E5E19FE5A}" presName="compositeA" presStyleCnt="0"/>
      <dgm:spPr/>
    </dgm:pt>
    <dgm:pt modelId="{FA0C5CCF-76E6-48A6-B649-CC46FB7363DD}" type="pres">
      <dgm:prSet presAssocID="{516B3993-67CB-4070-A9A0-832E5E19FE5A}" presName="textA" presStyleLbl="revTx" presStyleIdx="4" presStyleCnt="6">
        <dgm:presLayoutVars>
          <dgm:bulletEnabled val="1"/>
        </dgm:presLayoutVars>
      </dgm:prSet>
      <dgm:spPr/>
      <dgm:t>
        <a:bodyPr/>
        <a:lstStyle/>
        <a:p>
          <a:endParaRPr lang="pt-BR"/>
        </a:p>
      </dgm:t>
    </dgm:pt>
    <dgm:pt modelId="{CB22F214-8BF7-4805-ABB7-06961740D81C}" type="pres">
      <dgm:prSet presAssocID="{516B3993-67CB-4070-A9A0-832E5E19FE5A}" presName="circleA" presStyleLbl="node1" presStyleIdx="4" presStyleCnt="6"/>
      <dgm:spPr>
        <a:solidFill>
          <a:srgbClr val="0070C0"/>
        </a:solidFill>
      </dgm:spPr>
    </dgm:pt>
    <dgm:pt modelId="{A97ED6DE-4C31-42F6-B9EE-D26C066A6CA8}" type="pres">
      <dgm:prSet presAssocID="{516B3993-67CB-4070-A9A0-832E5E19FE5A}" presName="spaceA" presStyleCnt="0"/>
      <dgm:spPr/>
    </dgm:pt>
    <dgm:pt modelId="{FD36A62D-67AC-47D7-A669-18F5AB3F7F68}" type="pres">
      <dgm:prSet presAssocID="{61AAF168-937C-4678-8E90-0DD9A4614CC4}" presName="space" presStyleCnt="0"/>
      <dgm:spPr/>
    </dgm:pt>
    <dgm:pt modelId="{A1535856-EDD1-49FF-94BA-77961920963A}" type="pres">
      <dgm:prSet presAssocID="{5A37416C-2FE7-4B30-A8F4-8D02D5A4B44E}" presName="compositeB" presStyleCnt="0"/>
      <dgm:spPr/>
    </dgm:pt>
    <dgm:pt modelId="{16E96728-EF53-4E41-9EF6-2A9805DE30B9}" type="pres">
      <dgm:prSet presAssocID="{5A37416C-2FE7-4B30-A8F4-8D02D5A4B44E}" presName="textB" presStyleLbl="revTx" presStyleIdx="5" presStyleCnt="6">
        <dgm:presLayoutVars>
          <dgm:bulletEnabled val="1"/>
        </dgm:presLayoutVars>
      </dgm:prSet>
      <dgm:spPr/>
      <dgm:t>
        <a:bodyPr/>
        <a:lstStyle/>
        <a:p>
          <a:endParaRPr lang="pt-BR"/>
        </a:p>
      </dgm:t>
    </dgm:pt>
    <dgm:pt modelId="{312A3B62-FD41-4C7E-9DDD-28B3078571BD}" type="pres">
      <dgm:prSet presAssocID="{5A37416C-2FE7-4B30-A8F4-8D02D5A4B44E}" presName="circleB" presStyleLbl="node1" presStyleIdx="5" presStyleCnt="6"/>
      <dgm:spPr>
        <a:solidFill>
          <a:srgbClr val="0070C0"/>
        </a:solidFill>
      </dgm:spPr>
    </dgm:pt>
    <dgm:pt modelId="{68F32573-27C1-472C-BDF1-38135482E735}" type="pres">
      <dgm:prSet presAssocID="{5A37416C-2FE7-4B30-A8F4-8D02D5A4B44E}" presName="spaceB" presStyleCnt="0"/>
      <dgm:spPr/>
    </dgm:pt>
  </dgm:ptLst>
  <dgm:cxnLst>
    <dgm:cxn modelId="{F34C1888-B48B-4857-A093-7F34F9DFE897}" srcId="{2BABD3B3-B6C9-412C-8596-1F292BBDA9A6}" destId="{2646148B-EF73-446B-ABE7-80DC7B939294}" srcOrd="3" destOrd="0" parTransId="{4C3DAA3A-5A85-4B85-A315-524568072703}" sibTransId="{915E8575-F42E-4CB4-800D-E78BFF61D509}"/>
    <dgm:cxn modelId="{AEBB78F9-A64B-448A-BA10-5267D52D4A9A}" srcId="{2BABD3B3-B6C9-412C-8596-1F292BBDA9A6}" destId="{516B3993-67CB-4070-A9A0-832E5E19FE5A}" srcOrd="4" destOrd="0" parTransId="{6C438695-DAD2-44B7-A59D-3345A933C2A8}" sibTransId="{61AAF168-937C-4678-8E90-0DD9A4614CC4}"/>
    <dgm:cxn modelId="{21D6BE9B-8340-4E71-9E3B-47227C441424}" type="presOf" srcId="{2646148B-EF73-446B-ABE7-80DC7B939294}" destId="{E76AE77B-6D8F-4D94-B125-51A056CFFB5A}" srcOrd="0" destOrd="0" presId="urn:microsoft.com/office/officeart/2005/8/layout/hProcess11"/>
    <dgm:cxn modelId="{B4FFE4AE-3745-4788-B914-162BCE7724DB}" type="presOf" srcId="{2BABD3B3-B6C9-412C-8596-1F292BBDA9A6}" destId="{F6D01143-143F-44BC-9D16-601396B75879}" srcOrd="0" destOrd="0" presId="urn:microsoft.com/office/officeart/2005/8/layout/hProcess11"/>
    <dgm:cxn modelId="{8F1D740C-5301-4A96-BCD6-3F9A70061B98}" srcId="{2BABD3B3-B6C9-412C-8596-1F292BBDA9A6}" destId="{5A37416C-2FE7-4B30-A8F4-8D02D5A4B44E}" srcOrd="5" destOrd="0" parTransId="{1A8C063B-18F0-4663-9699-CBDEF44776A3}" sibTransId="{B8DBD398-FD4A-4B90-9C89-298BE10E4206}"/>
    <dgm:cxn modelId="{8BBC18F5-4E48-429C-9087-C65B1D58BBEA}" type="presOf" srcId="{16011096-CAF6-45A0-9BB1-0B15FE197959}" destId="{53ED5782-0A25-4A33-A4B3-7B4AF105C0D8}" srcOrd="0" destOrd="0" presId="urn:microsoft.com/office/officeart/2005/8/layout/hProcess11"/>
    <dgm:cxn modelId="{94F5E99A-BEDE-425B-900E-D641203F0EA6}" srcId="{2BABD3B3-B6C9-412C-8596-1F292BBDA9A6}" destId="{152886C0-3BE0-45E8-8253-726B70710CA3}" srcOrd="2" destOrd="0" parTransId="{07EAEC1E-53CD-4626-96D7-429A7711C5ED}" sibTransId="{18955123-D870-4C0B-BFCE-8EDFC30E12DA}"/>
    <dgm:cxn modelId="{C7AE95F1-E69B-4B15-8569-E16B17222E65}" srcId="{2BABD3B3-B6C9-412C-8596-1F292BBDA9A6}" destId="{C47CD97F-0F1B-4078-A42C-0F9A445E1153}" srcOrd="0" destOrd="0" parTransId="{EFB71E73-8C34-4DFA-8E37-DD1B7584E3AA}" sibTransId="{EC025A84-E459-4F2A-8A1C-B807B7E413B3}"/>
    <dgm:cxn modelId="{A1FEDFEA-29B2-4A15-AF46-95B7E2FC6D0A}" type="presOf" srcId="{5A37416C-2FE7-4B30-A8F4-8D02D5A4B44E}" destId="{16E96728-EF53-4E41-9EF6-2A9805DE30B9}" srcOrd="0" destOrd="0" presId="urn:microsoft.com/office/officeart/2005/8/layout/hProcess11"/>
    <dgm:cxn modelId="{CB74F9E0-8F0A-4B02-B771-4384CBC680C9}" type="presOf" srcId="{C47CD97F-0F1B-4078-A42C-0F9A445E1153}" destId="{6A3B4C8B-619A-4639-B5F2-F2641DA0D32B}" srcOrd="0" destOrd="0" presId="urn:microsoft.com/office/officeart/2005/8/layout/hProcess11"/>
    <dgm:cxn modelId="{641BC1D9-B7FD-451E-B8DA-45B669753E09}" srcId="{2BABD3B3-B6C9-412C-8596-1F292BBDA9A6}" destId="{16011096-CAF6-45A0-9BB1-0B15FE197959}" srcOrd="1" destOrd="0" parTransId="{615A3BDE-3755-4A74-8D05-256B7837665F}" sibTransId="{EE9ECF22-341A-4B60-9432-83040A9D8AB5}"/>
    <dgm:cxn modelId="{F7B8AECF-4CD9-4336-9960-42BD6A6EF612}" type="presOf" srcId="{516B3993-67CB-4070-A9A0-832E5E19FE5A}" destId="{FA0C5CCF-76E6-48A6-B649-CC46FB7363DD}" srcOrd="0" destOrd="0" presId="urn:microsoft.com/office/officeart/2005/8/layout/hProcess11"/>
    <dgm:cxn modelId="{C17DD5D0-25E6-49C3-B478-95C2F80156A4}" type="presOf" srcId="{152886C0-3BE0-45E8-8253-726B70710CA3}" destId="{284F5F79-FF02-4271-9E30-5A59B9E79A61}" srcOrd="0" destOrd="0" presId="urn:microsoft.com/office/officeart/2005/8/layout/hProcess11"/>
    <dgm:cxn modelId="{BEF12349-7C8E-4394-BF1E-584473688013}" type="presParOf" srcId="{F6D01143-143F-44BC-9D16-601396B75879}" destId="{15B99AEC-7A53-4814-BEFF-513E8F3D5406}" srcOrd="0" destOrd="0" presId="urn:microsoft.com/office/officeart/2005/8/layout/hProcess11"/>
    <dgm:cxn modelId="{07F57648-795C-4CE6-9CB0-398026A5C163}" type="presParOf" srcId="{F6D01143-143F-44BC-9D16-601396B75879}" destId="{F4A3BC03-A1CF-4C83-A354-CF261B7E7152}" srcOrd="1" destOrd="0" presId="urn:microsoft.com/office/officeart/2005/8/layout/hProcess11"/>
    <dgm:cxn modelId="{81B3355D-D921-4246-A13A-8079EB3A6ED5}" type="presParOf" srcId="{F4A3BC03-A1CF-4C83-A354-CF261B7E7152}" destId="{E7393A65-A44F-42A4-8153-F3F1A2FD0987}" srcOrd="0" destOrd="0" presId="urn:microsoft.com/office/officeart/2005/8/layout/hProcess11"/>
    <dgm:cxn modelId="{51145D30-12A3-4A34-8BE7-4161E1DF48D3}" type="presParOf" srcId="{E7393A65-A44F-42A4-8153-F3F1A2FD0987}" destId="{6A3B4C8B-619A-4639-B5F2-F2641DA0D32B}" srcOrd="0" destOrd="0" presId="urn:microsoft.com/office/officeart/2005/8/layout/hProcess11"/>
    <dgm:cxn modelId="{E5286245-2E6A-4688-B6FC-D8E1CB6551F6}" type="presParOf" srcId="{E7393A65-A44F-42A4-8153-F3F1A2FD0987}" destId="{EE3B55E7-82E5-467D-8E74-4CD90BD3A754}" srcOrd="1" destOrd="0" presId="urn:microsoft.com/office/officeart/2005/8/layout/hProcess11"/>
    <dgm:cxn modelId="{3F91923B-1A9B-4568-9D0A-0F6B561BBA59}" type="presParOf" srcId="{E7393A65-A44F-42A4-8153-F3F1A2FD0987}" destId="{9137AF84-0EDD-4221-9BEB-37CCF68CB05E}" srcOrd="2" destOrd="0" presId="urn:microsoft.com/office/officeart/2005/8/layout/hProcess11"/>
    <dgm:cxn modelId="{3901E849-B8D6-4678-BAE9-0633DA6B1BBC}" type="presParOf" srcId="{F4A3BC03-A1CF-4C83-A354-CF261B7E7152}" destId="{15FB96B3-9D17-4C7B-AE68-91B120C115E1}" srcOrd="1" destOrd="0" presId="urn:microsoft.com/office/officeart/2005/8/layout/hProcess11"/>
    <dgm:cxn modelId="{CE6F90FD-AE95-4E21-B2E4-792279B48A38}" type="presParOf" srcId="{F4A3BC03-A1CF-4C83-A354-CF261B7E7152}" destId="{3174898D-2383-4A93-A81F-23939D13BC96}" srcOrd="2" destOrd="0" presId="urn:microsoft.com/office/officeart/2005/8/layout/hProcess11"/>
    <dgm:cxn modelId="{23068635-FDB6-4A0E-9406-EA7FFB6E233E}" type="presParOf" srcId="{3174898D-2383-4A93-A81F-23939D13BC96}" destId="{53ED5782-0A25-4A33-A4B3-7B4AF105C0D8}" srcOrd="0" destOrd="0" presId="urn:microsoft.com/office/officeart/2005/8/layout/hProcess11"/>
    <dgm:cxn modelId="{B6031038-9EF1-4F64-91DC-D063C3F65F48}" type="presParOf" srcId="{3174898D-2383-4A93-A81F-23939D13BC96}" destId="{DEA5A9C7-8D1F-46F1-922B-93A00A78B224}" srcOrd="1" destOrd="0" presId="urn:microsoft.com/office/officeart/2005/8/layout/hProcess11"/>
    <dgm:cxn modelId="{1F6EE97B-DB18-41F7-B126-5050358A4038}" type="presParOf" srcId="{3174898D-2383-4A93-A81F-23939D13BC96}" destId="{A27FFBDB-3999-4655-9B76-FAF2735DD610}" srcOrd="2" destOrd="0" presId="urn:microsoft.com/office/officeart/2005/8/layout/hProcess11"/>
    <dgm:cxn modelId="{E5290ABA-092A-40C6-A329-6B9CC86730B7}" type="presParOf" srcId="{F4A3BC03-A1CF-4C83-A354-CF261B7E7152}" destId="{B10D56EF-ED16-4085-914C-4B6279069525}" srcOrd="3" destOrd="0" presId="urn:microsoft.com/office/officeart/2005/8/layout/hProcess11"/>
    <dgm:cxn modelId="{F8F9DF83-D1D5-4C66-8054-1B0F02065A1A}" type="presParOf" srcId="{F4A3BC03-A1CF-4C83-A354-CF261B7E7152}" destId="{DF7FC91B-CED7-42C7-856F-56975490F22C}" srcOrd="4" destOrd="0" presId="urn:microsoft.com/office/officeart/2005/8/layout/hProcess11"/>
    <dgm:cxn modelId="{034AC48C-240A-4385-80A2-A6E90A588731}" type="presParOf" srcId="{DF7FC91B-CED7-42C7-856F-56975490F22C}" destId="{284F5F79-FF02-4271-9E30-5A59B9E79A61}" srcOrd="0" destOrd="0" presId="urn:microsoft.com/office/officeart/2005/8/layout/hProcess11"/>
    <dgm:cxn modelId="{E13D887B-AB43-4598-A5FE-28FD318D0A80}" type="presParOf" srcId="{DF7FC91B-CED7-42C7-856F-56975490F22C}" destId="{C781E812-1138-4D87-A7BE-0525EF1A7B23}" srcOrd="1" destOrd="0" presId="urn:microsoft.com/office/officeart/2005/8/layout/hProcess11"/>
    <dgm:cxn modelId="{6CB9DD07-AE9D-469E-881E-0AA12F00A463}" type="presParOf" srcId="{DF7FC91B-CED7-42C7-856F-56975490F22C}" destId="{4BC04A4E-0441-4E7A-AA3E-4FB21A3CA395}" srcOrd="2" destOrd="0" presId="urn:microsoft.com/office/officeart/2005/8/layout/hProcess11"/>
    <dgm:cxn modelId="{FB814387-BD2D-4CB1-8464-E71715956323}" type="presParOf" srcId="{F4A3BC03-A1CF-4C83-A354-CF261B7E7152}" destId="{71DB5FFB-C8A8-4412-AE0C-CEC2BCC22F61}" srcOrd="5" destOrd="0" presId="urn:microsoft.com/office/officeart/2005/8/layout/hProcess11"/>
    <dgm:cxn modelId="{9B052BF5-171B-4F28-B789-271566E0F17B}" type="presParOf" srcId="{F4A3BC03-A1CF-4C83-A354-CF261B7E7152}" destId="{D841D639-E839-4A8C-B7C2-4376F982C352}" srcOrd="6" destOrd="0" presId="urn:microsoft.com/office/officeart/2005/8/layout/hProcess11"/>
    <dgm:cxn modelId="{AC5D304E-9D19-495E-9A45-9F1507A81CED}" type="presParOf" srcId="{D841D639-E839-4A8C-B7C2-4376F982C352}" destId="{E76AE77B-6D8F-4D94-B125-51A056CFFB5A}" srcOrd="0" destOrd="0" presId="urn:microsoft.com/office/officeart/2005/8/layout/hProcess11"/>
    <dgm:cxn modelId="{46802D8D-04AE-45BF-AB95-CCF787D1CFBD}" type="presParOf" srcId="{D841D639-E839-4A8C-B7C2-4376F982C352}" destId="{4E693B28-0300-44D5-9E6F-43F775F947FD}" srcOrd="1" destOrd="0" presId="urn:microsoft.com/office/officeart/2005/8/layout/hProcess11"/>
    <dgm:cxn modelId="{EE8DA56F-8240-4DC3-A44B-D0D792DBA7F7}" type="presParOf" srcId="{D841D639-E839-4A8C-B7C2-4376F982C352}" destId="{C97AE577-7E04-460B-87C3-6372756F8EC7}" srcOrd="2" destOrd="0" presId="urn:microsoft.com/office/officeart/2005/8/layout/hProcess11"/>
    <dgm:cxn modelId="{F11B344D-6347-4F60-B2A4-341C55A4993F}" type="presParOf" srcId="{F4A3BC03-A1CF-4C83-A354-CF261B7E7152}" destId="{FACC745B-AA0D-4D85-8BD2-70C7E500C386}" srcOrd="7" destOrd="0" presId="urn:microsoft.com/office/officeart/2005/8/layout/hProcess11"/>
    <dgm:cxn modelId="{C77617F0-B3B0-4D58-97DF-A8A778DB4084}" type="presParOf" srcId="{F4A3BC03-A1CF-4C83-A354-CF261B7E7152}" destId="{FF1B943F-06F0-4C8A-977E-D0415DAF7D9D}" srcOrd="8" destOrd="0" presId="urn:microsoft.com/office/officeart/2005/8/layout/hProcess11"/>
    <dgm:cxn modelId="{8285968E-0CDA-45D2-B7DE-7E1B9FD977D8}" type="presParOf" srcId="{FF1B943F-06F0-4C8A-977E-D0415DAF7D9D}" destId="{FA0C5CCF-76E6-48A6-B649-CC46FB7363DD}" srcOrd="0" destOrd="0" presId="urn:microsoft.com/office/officeart/2005/8/layout/hProcess11"/>
    <dgm:cxn modelId="{588ACED0-FEFD-4D95-B429-A1966233DB66}" type="presParOf" srcId="{FF1B943F-06F0-4C8A-977E-D0415DAF7D9D}" destId="{CB22F214-8BF7-4805-ABB7-06961740D81C}" srcOrd="1" destOrd="0" presId="urn:microsoft.com/office/officeart/2005/8/layout/hProcess11"/>
    <dgm:cxn modelId="{10323DA8-D9C4-4E88-B921-2C00E904DD65}" type="presParOf" srcId="{FF1B943F-06F0-4C8A-977E-D0415DAF7D9D}" destId="{A97ED6DE-4C31-42F6-B9EE-D26C066A6CA8}" srcOrd="2" destOrd="0" presId="urn:microsoft.com/office/officeart/2005/8/layout/hProcess11"/>
    <dgm:cxn modelId="{3678A9D1-1518-46BB-9E7A-C4A26875BED3}" type="presParOf" srcId="{F4A3BC03-A1CF-4C83-A354-CF261B7E7152}" destId="{FD36A62D-67AC-47D7-A669-18F5AB3F7F68}" srcOrd="9" destOrd="0" presId="urn:microsoft.com/office/officeart/2005/8/layout/hProcess11"/>
    <dgm:cxn modelId="{938774F9-4A98-41BB-B5FC-AF81DD842086}" type="presParOf" srcId="{F4A3BC03-A1CF-4C83-A354-CF261B7E7152}" destId="{A1535856-EDD1-49FF-94BA-77961920963A}" srcOrd="10" destOrd="0" presId="urn:microsoft.com/office/officeart/2005/8/layout/hProcess11"/>
    <dgm:cxn modelId="{55DDA01E-CF9F-4ECA-9019-FAE0EE775D1F}" type="presParOf" srcId="{A1535856-EDD1-49FF-94BA-77961920963A}" destId="{16E96728-EF53-4E41-9EF6-2A9805DE30B9}" srcOrd="0" destOrd="0" presId="urn:microsoft.com/office/officeart/2005/8/layout/hProcess11"/>
    <dgm:cxn modelId="{BB3D0C1F-3112-4848-926C-B2DF2791C33A}" type="presParOf" srcId="{A1535856-EDD1-49FF-94BA-77961920963A}" destId="{312A3B62-FD41-4C7E-9DDD-28B3078571BD}" srcOrd="1" destOrd="0" presId="urn:microsoft.com/office/officeart/2005/8/layout/hProcess11"/>
    <dgm:cxn modelId="{0B782ECC-71F7-4FFC-98C6-60848F78C417}" type="presParOf" srcId="{A1535856-EDD1-49FF-94BA-77961920963A}" destId="{68F32573-27C1-472C-BDF1-38135482E735}"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B99AEC-7A53-4814-BEFF-513E8F3D5406}">
      <dsp:nvSpPr>
        <dsp:cNvPr id="0" name=""/>
        <dsp:cNvSpPr/>
      </dsp:nvSpPr>
      <dsp:spPr>
        <a:xfrm>
          <a:off x="0" y="690727"/>
          <a:ext cx="11750856" cy="920970"/>
        </a:xfrm>
        <a:prstGeom prst="notchedRightArrow">
          <a:avLst/>
        </a:prstGeom>
        <a:solidFill>
          <a:schemeClr val="bg1">
            <a:lumMod val="6500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6A3B4C8B-619A-4639-B5F2-F2641DA0D32B}">
      <dsp:nvSpPr>
        <dsp:cNvPr id="0" name=""/>
        <dsp:cNvSpPr/>
      </dsp:nvSpPr>
      <dsp:spPr>
        <a:xfrm>
          <a:off x="5293" y="0"/>
          <a:ext cx="2545827"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pt-BR" sz="1400" b="1" kern="1200" dirty="0" smtClean="0">
              <a:solidFill>
                <a:srgbClr val="0070C0"/>
              </a:solidFill>
            </a:rPr>
            <a:t>Setembro</a:t>
          </a:r>
          <a:endParaRPr lang="pt-BR" sz="1400" b="1" kern="1200" dirty="0">
            <a:solidFill>
              <a:srgbClr val="0070C0"/>
            </a:solidFill>
          </a:endParaRPr>
        </a:p>
      </dsp:txBody>
      <dsp:txXfrm>
        <a:off x="5293" y="0"/>
        <a:ext cx="2545827" cy="920970"/>
      </dsp:txXfrm>
    </dsp:sp>
    <dsp:sp modelId="{EE3B55E7-82E5-467D-8E74-4CD90BD3A754}">
      <dsp:nvSpPr>
        <dsp:cNvPr id="0" name=""/>
        <dsp:cNvSpPr/>
      </dsp:nvSpPr>
      <dsp:spPr>
        <a:xfrm>
          <a:off x="1163085"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09B4BEE-2B05-4FB4-B9B5-62B399164DA4}">
      <dsp:nvSpPr>
        <dsp:cNvPr id="0" name=""/>
        <dsp:cNvSpPr/>
      </dsp:nvSpPr>
      <dsp:spPr>
        <a:xfrm>
          <a:off x="2678411" y="1381455"/>
          <a:ext cx="2545827"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90000"/>
            </a:lnSpc>
            <a:spcBef>
              <a:spcPct val="0"/>
            </a:spcBef>
            <a:spcAft>
              <a:spcPct val="35000"/>
            </a:spcAft>
          </a:pPr>
          <a:r>
            <a:rPr lang="pt-BR" sz="1400" b="1" kern="1200" dirty="0" smtClean="0">
              <a:solidFill>
                <a:srgbClr val="0070C0"/>
              </a:solidFill>
            </a:rPr>
            <a:t>Outubro</a:t>
          </a:r>
          <a:endParaRPr lang="pt-BR" sz="1400" b="1" kern="1200" dirty="0">
            <a:solidFill>
              <a:srgbClr val="0070C0"/>
            </a:solidFill>
          </a:endParaRPr>
        </a:p>
      </dsp:txBody>
      <dsp:txXfrm>
        <a:off x="2678411" y="1381455"/>
        <a:ext cx="2545827" cy="920970"/>
      </dsp:txXfrm>
    </dsp:sp>
    <dsp:sp modelId="{D3AD4240-1F68-4D95-857F-52C817528629}">
      <dsp:nvSpPr>
        <dsp:cNvPr id="0" name=""/>
        <dsp:cNvSpPr/>
      </dsp:nvSpPr>
      <dsp:spPr>
        <a:xfrm>
          <a:off x="3836204"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5C793E08-6B71-4269-9477-AB43462748BB}">
      <dsp:nvSpPr>
        <dsp:cNvPr id="0" name=""/>
        <dsp:cNvSpPr/>
      </dsp:nvSpPr>
      <dsp:spPr>
        <a:xfrm>
          <a:off x="5351530" y="0"/>
          <a:ext cx="2545827"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pt-BR" sz="1400" b="1" kern="1200" dirty="0" smtClean="0">
              <a:solidFill>
                <a:srgbClr val="0070C0"/>
              </a:solidFill>
            </a:rPr>
            <a:t>Novembro</a:t>
          </a:r>
          <a:endParaRPr lang="pt-BR" sz="1400" b="1" kern="1200" dirty="0">
            <a:solidFill>
              <a:srgbClr val="0070C0"/>
            </a:solidFill>
          </a:endParaRPr>
        </a:p>
      </dsp:txBody>
      <dsp:txXfrm>
        <a:off x="5351530" y="0"/>
        <a:ext cx="2545827" cy="920970"/>
      </dsp:txXfrm>
    </dsp:sp>
    <dsp:sp modelId="{68FE723C-7FB5-4300-AF71-13B538EA3C0B}">
      <dsp:nvSpPr>
        <dsp:cNvPr id="0" name=""/>
        <dsp:cNvSpPr/>
      </dsp:nvSpPr>
      <dsp:spPr>
        <a:xfrm>
          <a:off x="6509323"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C3FD9BD-80E6-4860-AE87-8A493ED7241C}">
      <dsp:nvSpPr>
        <dsp:cNvPr id="0" name=""/>
        <dsp:cNvSpPr/>
      </dsp:nvSpPr>
      <dsp:spPr>
        <a:xfrm>
          <a:off x="8024649" y="1381455"/>
          <a:ext cx="2545827"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90000"/>
            </a:lnSpc>
            <a:spcBef>
              <a:spcPct val="0"/>
            </a:spcBef>
            <a:spcAft>
              <a:spcPct val="35000"/>
            </a:spcAft>
          </a:pPr>
          <a:r>
            <a:rPr lang="pt-BR" sz="1400" b="1" kern="1200" dirty="0" smtClean="0">
              <a:solidFill>
                <a:srgbClr val="0070C0"/>
              </a:solidFill>
            </a:rPr>
            <a:t>Dezembro</a:t>
          </a:r>
          <a:endParaRPr lang="pt-BR" sz="1400" b="1" kern="1200" dirty="0">
            <a:solidFill>
              <a:srgbClr val="0070C0"/>
            </a:solidFill>
          </a:endParaRPr>
        </a:p>
      </dsp:txBody>
      <dsp:txXfrm>
        <a:off x="8024649" y="1381455"/>
        <a:ext cx="2545827" cy="920970"/>
      </dsp:txXfrm>
    </dsp:sp>
    <dsp:sp modelId="{34D21193-064F-451D-BC7E-3FFA8F319351}">
      <dsp:nvSpPr>
        <dsp:cNvPr id="0" name=""/>
        <dsp:cNvSpPr/>
      </dsp:nvSpPr>
      <dsp:spPr>
        <a:xfrm>
          <a:off x="9182442"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B99AEC-7A53-4814-BEFF-513E8F3D5406}">
      <dsp:nvSpPr>
        <dsp:cNvPr id="0" name=""/>
        <dsp:cNvSpPr/>
      </dsp:nvSpPr>
      <dsp:spPr>
        <a:xfrm>
          <a:off x="0" y="690727"/>
          <a:ext cx="11750856" cy="920970"/>
        </a:xfrm>
        <a:prstGeom prst="notchedRightArrow">
          <a:avLst/>
        </a:prstGeom>
        <a:solidFill>
          <a:schemeClr val="bg1">
            <a:lumMod val="6500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6A3B4C8B-619A-4639-B5F2-F2641DA0D32B}">
      <dsp:nvSpPr>
        <dsp:cNvPr id="0" name=""/>
        <dsp:cNvSpPr/>
      </dsp:nvSpPr>
      <dsp:spPr>
        <a:xfrm>
          <a:off x="2904" y="0"/>
          <a:ext cx="1691193"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pt-BR" sz="1400" b="1" kern="1200" dirty="0" smtClean="0">
              <a:solidFill>
                <a:srgbClr val="0070C0"/>
              </a:solidFill>
            </a:rPr>
            <a:t>Janeiro</a:t>
          </a:r>
          <a:endParaRPr lang="pt-BR" sz="1400" b="1" kern="1200" dirty="0">
            <a:solidFill>
              <a:srgbClr val="0070C0"/>
            </a:solidFill>
          </a:endParaRPr>
        </a:p>
      </dsp:txBody>
      <dsp:txXfrm>
        <a:off x="2904" y="0"/>
        <a:ext cx="1691193" cy="920970"/>
      </dsp:txXfrm>
    </dsp:sp>
    <dsp:sp modelId="{EE3B55E7-82E5-467D-8E74-4CD90BD3A754}">
      <dsp:nvSpPr>
        <dsp:cNvPr id="0" name=""/>
        <dsp:cNvSpPr/>
      </dsp:nvSpPr>
      <dsp:spPr>
        <a:xfrm>
          <a:off x="733380"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53ED5782-0A25-4A33-A4B3-7B4AF105C0D8}">
      <dsp:nvSpPr>
        <dsp:cNvPr id="0" name=""/>
        <dsp:cNvSpPr/>
      </dsp:nvSpPr>
      <dsp:spPr>
        <a:xfrm>
          <a:off x="1778658" y="1381455"/>
          <a:ext cx="1691193"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90000"/>
            </a:lnSpc>
            <a:spcBef>
              <a:spcPct val="0"/>
            </a:spcBef>
            <a:spcAft>
              <a:spcPct val="35000"/>
            </a:spcAft>
          </a:pPr>
          <a:r>
            <a:rPr lang="pt-BR" sz="1400" b="1" kern="1200" dirty="0" smtClean="0">
              <a:solidFill>
                <a:srgbClr val="0070C0"/>
              </a:solidFill>
            </a:rPr>
            <a:t>Fevereiro</a:t>
          </a:r>
          <a:endParaRPr lang="pt-BR" sz="1400" b="1" kern="1200" dirty="0">
            <a:solidFill>
              <a:srgbClr val="0070C0"/>
            </a:solidFill>
          </a:endParaRPr>
        </a:p>
      </dsp:txBody>
      <dsp:txXfrm>
        <a:off x="1778658" y="1381455"/>
        <a:ext cx="1691193" cy="920970"/>
      </dsp:txXfrm>
    </dsp:sp>
    <dsp:sp modelId="{DEA5A9C7-8D1F-46F1-922B-93A00A78B224}">
      <dsp:nvSpPr>
        <dsp:cNvPr id="0" name=""/>
        <dsp:cNvSpPr/>
      </dsp:nvSpPr>
      <dsp:spPr>
        <a:xfrm>
          <a:off x="2509133"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84F5F79-FF02-4271-9E30-5A59B9E79A61}">
      <dsp:nvSpPr>
        <dsp:cNvPr id="0" name=""/>
        <dsp:cNvSpPr/>
      </dsp:nvSpPr>
      <dsp:spPr>
        <a:xfrm>
          <a:off x="3554411" y="0"/>
          <a:ext cx="1691193"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pt-BR" sz="1400" b="1" kern="1200" dirty="0" smtClean="0">
              <a:solidFill>
                <a:srgbClr val="0070C0"/>
              </a:solidFill>
            </a:rPr>
            <a:t>Março</a:t>
          </a:r>
          <a:endParaRPr lang="pt-BR" sz="1400" b="1" kern="1200" dirty="0">
            <a:solidFill>
              <a:srgbClr val="0070C0"/>
            </a:solidFill>
          </a:endParaRPr>
        </a:p>
      </dsp:txBody>
      <dsp:txXfrm>
        <a:off x="3554411" y="0"/>
        <a:ext cx="1691193" cy="920970"/>
      </dsp:txXfrm>
    </dsp:sp>
    <dsp:sp modelId="{C781E812-1138-4D87-A7BE-0525EF1A7B23}">
      <dsp:nvSpPr>
        <dsp:cNvPr id="0" name=""/>
        <dsp:cNvSpPr/>
      </dsp:nvSpPr>
      <dsp:spPr>
        <a:xfrm>
          <a:off x="4284887"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E76AE77B-6D8F-4D94-B125-51A056CFFB5A}">
      <dsp:nvSpPr>
        <dsp:cNvPr id="0" name=""/>
        <dsp:cNvSpPr/>
      </dsp:nvSpPr>
      <dsp:spPr>
        <a:xfrm>
          <a:off x="5330165" y="1381455"/>
          <a:ext cx="1691193"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90000"/>
            </a:lnSpc>
            <a:spcBef>
              <a:spcPct val="0"/>
            </a:spcBef>
            <a:spcAft>
              <a:spcPct val="35000"/>
            </a:spcAft>
          </a:pPr>
          <a:r>
            <a:rPr lang="pt-BR" sz="1400" b="1" kern="1200" dirty="0" smtClean="0">
              <a:solidFill>
                <a:srgbClr val="0070C0"/>
              </a:solidFill>
            </a:rPr>
            <a:t>Abril</a:t>
          </a:r>
          <a:endParaRPr lang="pt-BR" sz="1400" b="1" kern="1200" dirty="0">
            <a:solidFill>
              <a:srgbClr val="0070C0"/>
            </a:solidFill>
          </a:endParaRPr>
        </a:p>
      </dsp:txBody>
      <dsp:txXfrm>
        <a:off x="5330165" y="1381455"/>
        <a:ext cx="1691193" cy="920970"/>
      </dsp:txXfrm>
    </dsp:sp>
    <dsp:sp modelId="{4E693B28-0300-44D5-9E6F-43F775F947FD}">
      <dsp:nvSpPr>
        <dsp:cNvPr id="0" name=""/>
        <dsp:cNvSpPr/>
      </dsp:nvSpPr>
      <dsp:spPr>
        <a:xfrm>
          <a:off x="6060640"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A0C5CCF-76E6-48A6-B649-CC46FB7363DD}">
      <dsp:nvSpPr>
        <dsp:cNvPr id="0" name=""/>
        <dsp:cNvSpPr/>
      </dsp:nvSpPr>
      <dsp:spPr>
        <a:xfrm>
          <a:off x="7105918" y="0"/>
          <a:ext cx="1691193"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pt-BR" sz="1400" b="1" kern="1200" dirty="0" smtClean="0">
              <a:solidFill>
                <a:srgbClr val="0070C0"/>
              </a:solidFill>
            </a:rPr>
            <a:t>Maio</a:t>
          </a:r>
          <a:endParaRPr lang="pt-BR" sz="1400" b="1" kern="1200" dirty="0">
            <a:solidFill>
              <a:srgbClr val="0070C0"/>
            </a:solidFill>
          </a:endParaRPr>
        </a:p>
      </dsp:txBody>
      <dsp:txXfrm>
        <a:off x="7105918" y="0"/>
        <a:ext cx="1691193" cy="920970"/>
      </dsp:txXfrm>
    </dsp:sp>
    <dsp:sp modelId="{CB22F214-8BF7-4805-ABB7-06961740D81C}">
      <dsp:nvSpPr>
        <dsp:cNvPr id="0" name=""/>
        <dsp:cNvSpPr/>
      </dsp:nvSpPr>
      <dsp:spPr>
        <a:xfrm>
          <a:off x="7836394"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16E96728-EF53-4E41-9EF6-2A9805DE30B9}">
      <dsp:nvSpPr>
        <dsp:cNvPr id="0" name=""/>
        <dsp:cNvSpPr/>
      </dsp:nvSpPr>
      <dsp:spPr>
        <a:xfrm>
          <a:off x="8881671" y="1381455"/>
          <a:ext cx="1691193" cy="92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90000"/>
            </a:lnSpc>
            <a:spcBef>
              <a:spcPct val="0"/>
            </a:spcBef>
            <a:spcAft>
              <a:spcPct val="35000"/>
            </a:spcAft>
          </a:pPr>
          <a:r>
            <a:rPr lang="pt-BR" sz="1400" b="1" kern="1200" dirty="0" smtClean="0">
              <a:solidFill>
                <a:srgbClr val="0070C0"/>
              </a:solidFill>
            </a:rPr>
            <a:t>Junho</a:t>
          </a:r>
          <a:endParaRPr lang="pt-BR" sz="1400" b="1" kern="1200" dirty="0">
            <a:solidFill>
              <a:srgbClr val="0070C0"/>
            </a:solidFill>
          </a:endParaRPr>
        </a:p>
      </dsp:txBody>
      <dsp:txXfrm>
        <a:off x="8881671" y="1381455"/>
        <a:ext cx="1691193" cy="920970"/>
      </dsp:txXfrm>
    </dsp:sp>
    <dsp:sp modelId="{312A3B62-FD41-4C7E-9DDD-28B3078571BD}">
      <dsp:nvSpPr>
        <dsp:cNvPr id="0" name=""/>
        <dsp:cNvSpPr/>
      </dsp:nvSpPr>
      <dsp:spPr>
        <a:xfrm>
          <a:off x="9612147" y="1036091"/>
          <a:ext cx="230242" cy="23024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7E338-1402-4AD6-B377-C4912CE3EA80}" type="datetimeFigureOut">
              <a:rPr lang="pt-BR" smtClean="0"/>
              <a:t>03/09/2015</a:t>
            </a:fld>
            <a:endParaRPr lang="pt-BR" dirty="0"/>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C90F68-6433-4224-8004-1E7841C66D03}" type="slidenum">
              <a:rPr lang="pt-BR" smtClean="0"/>
              <a:t>‹nº›</a:t>
            </a:fld>
            <a:endParaRPr lang="pt-BR" dirty="0"/>
          </a:p>
        </p:txBody>
      </p:sp>
    </p:spTree>
    <p:extLst>
      <p:ext uri="{BB962C8B-B14F-4D97-AF65-F5344CB8AC3E}">
        <p14:creationId xmlns:p14="http://schemas.microsoft.com/office/powerpoint/2010/main" val="3490720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a:t>
            </a:fld>
            <a:endParaRPr lang="pt-BR" dirty="0"/>
          </a:p>
        </p:txBody>
      </p:sp>
    </p:spTree>
    <p:extLst>
      <p:ext uri="{BB962C8B-B14F-4D97-AF65-F5344CB8AC3E}">
        <p14:creationId xmlns:p14="http://schemas.microsoft.com/office/powerpoint/2010/main" val="523279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2</a:t>
            </a:fld>
            <a:endParaRPr lang="pt-BR" dirty="0"/>
          </a:p>
        </p:txBody>
      </p:sp>
    </p:spTree>
    <p:extLst>
      <p:ext uri="{BB962C8B-B14F-4D97-AF65-F5344CB8AC3E}">
        <p14:creationId xmlns:p14="http://schemas.microsoft.com/office/powerpoint/2010/main" val="268902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3</a:t>
            </a:fld>
            <a:endParaRPr lang="pt-BR" dirty="0"/>
          </a:p>
        </p:txBody>
      </p:sp>
    </p:spTree>
    <p:extLst>
      <p:ext uri="{BB962C8B-B14F-4D97-AF65-F5344CB8AC3E}">
        <p14:creationId xmlns:p14="http://schemas.microsoft.com/office/powerpoint/2010/main" val="3146232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4</a:t>
            </a:fld>
            <a:endParaRPr lang="pt-BR" dirty="0"/>
          </a:p>
        </p:txBody>
      </p:sp>
    </p:spTree>
    <p:extLst>
      <p:ext uri="{BB962C8B-B14F-4D97-AF65-F5344CB8AC3E}">
        <p14:creationId xmlns:p14="http://schemas.microsoft.com/office/powerpoint/2010/main" val="3774368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5</a:t>
            </a:fld>
            <a:endParaRPr lang="pt-BR" dirty="0"/>
          </a:p>
        </p:txBody>
      </p:sp>
    </p:spTree>
    <p:extLst>
      <p:ext uri="{BB962C8B-B14F-4D97-AF65-F5344CB8AC3E}">
        <p14:creationId xmlns:p14="http://schemas.microsoft.com/office/powerpoint/2010/main" val="1204308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6</a:t>
            </a:fld>
            <a:endParaRPr lang="pt-BR" dirty="0"/>
          </a:p>
        </p:txBody>
      </p:sp>
    </p:spTree>
    <p:extLst>
      <p:ext uri="{BB962C8B-B14F-4D97-AF65-F5344CB8AC3E}">
        <p14:creationId xmlns:p14="http://schemas.microsoft.com/office/powerpoint/2010/main" val="3384141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7</a:t>
            </a:fld>
            <a:endParaRPr lang="pt-BR" dirty="0"/>
          </a:p>
        </p:txBody>
      </p:sp>
    </p:spTree>
    <p:extLst>
      <p:ext uri="{BB962C8B-B14F-4D97-AF65-F5344CB8AC3E}">
        <p14:creationId xmlns:p14="http://schemas.microsoft.com/office/powerpoint/2010/main" val="412171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8</a:t>
            </a:fld>
            <a:endParaRPr lang="pt-BR" dirty="0"/>
          </a:p>
        </p:txBody>
      </p:sp>
    </p:spTree>
    <p:extLst>
      <p:ext uri="{BB962C8B-B14F-4D97-AF65-F5344CB8AC3E}">
        <p14:creationId xmlns:p14="http://schemas.microsoft.com/office/powerpoint/2010/main" val="3979481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9</a:t>
            </a:fld>
            <a:endParaRPr lang="pt-BR" dirty="0"/>
          </a:p>
        </p:txBody>
      </p:sp>
    </p:spTree>
    <p:extLst>
      <p:ext uri="{BB962C8B-B14F-4D97-AF65-F5344CB8AC3E}">
        <p14:creationId xmlns:p14="http://schemas.microsoft.com/office/powerpoint/2010/main" val="3893061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10</a:t>
            </a:fld>
            <a:endParaRPr lang="pt-BR" dirty="0"/>
          </a:p>
        </p:txBody>
      </p:sp>
    </p:spTree>
    <p:extLst>
      <p:ext uri="{BB962C8B-B14F-4D97-AF65-F5344CB8AC3E}">
        <p14:creationId xmlns:p14="http://schemas.microsoft.com/office/powerpoint/2010/main" val="2316883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11</a:t>
            </a:fld>
            <a:endParaRPr lang="pt-BR" dirty="0"/>
          </a:p>
        </p:txBody>
      </p:sp>
    </p:spTree>
    <p:extLst>
      <p:ext uri="{BB962C8B-B14F-4D97-AF65-F5344CB8AC3E}">
        <p14:creationId xmlns:p14="http://schemas.microsoft.com/office/powerpoint/2010/main" val="585062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12</a:t>
            </a:fld>
            <a:endParaRPr lang="pt-BR" dirty="0"/>
          </a:p>
        </p:txBody>
      </p:sp>
    </p:spTree>
    <p:extLst>
      <p:ext uri="{BB962C8B-B14F-4D97-AF65-F5344CB8AC3E}">
        <p14:creationId xmlns:p14="http://schemas.microsoft.com/office/powerpoint/2010/main" val="1847614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13</a:t>
            </a:fld>
            <a:endParaRPr lang="pt-BR" dirty="0"/>
          </a:p>
        </p:txBody>
      </p:sp>
    </p:spTree>
    <p:extLst>
      <p:ext uri="{BB962C8B-B14F-4D97-AF65-F5344CB8AC3E}">
        <p14:creationId xmlns:p14="http://schemas.microsoft.com/office/powerpoint/2010/main" val="37104919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14</a:t>
            </a:fld>
            <a:endParaRPr lang="pt-BR" dirty="0"/>
          </a:p>
        </p:txBody>
      </p:sp>
    </p:spTree>
    <p:extLst>
      <p:ext uri="{BB962C8B-B14F-4D97-AF65-F5344CB8AC3E}">
        <p14:creationId xmlns:p14="http://schemas.microsoft.com/office/powerpoint/2010/main" val="3679705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15</a:t>
            </a:fld>
            <a:endParaRPr lang="pt-BR" dirty="0"/>
          </a:p>
        </p:txBody>
      </p:sp>
    </p:spTree>
    <p:extLst>
      <p:ext uri="{BB962C8B-B14F-4D97-AF65-F5344CB8AC3E}">
        <p14:creationId xmlns:p14="http://schemas.microsoft.com/office/powerpoint/2010/main" val="4282570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16</a:t>
            </a:fld>
            <a:endParaRPr lang="pt-BR" dirty="0"/>
          </a:p>
        </p:txBody>
      </p:sp>
    </p:spTree>
    <p:extLst>
      <p:ext uri="{BB962C8B-B14F-4D97-AF65-F5344CB8AC3E}">
        <p14:creationId xmlns:p14="http://schemas.microsoft.com/office/powerpoint/2010/main" val="2574159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17</a:t>
            </a:fld>
            <a:endParaRPr lang="pt-BR" dirty="0"/>
          </a:p>
        </p:txBody>
      </p:sp>
    </p:spTree>
    <p:extLst>
      <p:ext uri="{BB962C8B-B14F-4D97-AF65-F5344CB8AC3E}">
        <p14:creationId xmlns:p14="http://schemas.microsoft.com/office/powerpoint/2010/main" val="3728719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18</a:t>
            </a:fld>
            <a:endParaRPr lang="pt-BR" dirty="0"/>
          </a:p>
        </p:txBody>
      </p:sp>
    </p:spTree>
    <p:extLst>
      <p:ext uri="{BB962C8B-B14F-4D97-AF65-F5344CB8AC3E}">
        <p14:creationId xmlns:p14="http://schemas.microsoft.com/office/powerpoint/2010/main" val="713919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4C90F68-6433-4224-8004-1E7841C66D03}" type="slidenum">
              <a:rPr lang="pt-BR" smtClean="0"/>
              <a:t>19</a:t>
            </a:fld>
            <a:endParaRPr lang="pt-BR" dirty="0"/>
          </a:p>
        </p:txBody>
      </p:sp>
    </p:spTree>
    <p:extLst>
      <p:ext uri="{BB962C8B-B14F-4D97-AF65-F5344CB8AC3E}">
        <p14:creationId xmlns:p14="http://schemas.microsoft.com/office/powerpoint/2010/main" val="3621544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4D78FC1-7175-4FC0-9A71-4055CB288384}" type="slidenum">
              <a:rPr lang="pt-BR" smtClean="0"/>
              <a:t>20</a:t>
            </a:fld>
            <a:endParaRPr lang="pt-BR" dirty="0"/>
          </a:p>
        </p:txBody>
      </p:sp>
    </p:spTree>
    <p:extLst>
      <p:ext uri="{BB962C8B-B14F-4D97-AF65-F5344CB8AC3E}">
        <p14:creationId xmlns:p14="http://schemas.microsoft.com/office/powerpoint/2010/main" val="2169464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1267048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2381788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4024742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3696335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8" name="Espaço Reservado para Rodapé 7"/>
          <p:cNvSpPr>
            <a:spLocks noGrp="1"/>
          </p:cNvSpPr>
          <p:nvPr>
            <p:ph type="ftr" sz="quarter" idx="11"/>
          </p:nvPr>
        </p:nvSpPr>
        <p:spPr/>
        <p:txBody>
          <a:bodyPr/>
          <a:lstStyle/>
          <a:p>
            <a:endParaRPr lang="pt-BR" dirty="0"/>
          </a:p>
        </p:txBody>
      </p:sp>
      <p:sp>
        <p:nvSpPr>
          <p:cNvPr id="9" name="Espaço Reservado para Número de Slide 8"/>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262899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4" name="Espaço Reservado para Rodapé 3"/>
          <p:cNvSpPr>
            <a:spLocks noGrp="1"/>
          </p:cNvSpPr>
          <p:nvPr>
            <p:ph type="ftr" sz="quarter" idx="11"/>
          </p:nvPr>
        </p:nvSpPr>
        <p:spPr/>
        <p:txBody>
          <a:bodyPr/>
          <a:lstStyle/>
          <a:p>
            <a:endParaRPr lang="pt-BR" dirty="0"/>
          </a:p>
        </p:txBody>
      </p:sp>
      <p:sp>
        <p:nvSpPr>
          <p:cNvPr id="5" name="Espaço Reservado para Número de Slide 4"/>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766212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3" name="Espaço Reservado para Rodapé 2"/>
          <p:cNvSpPr>
            <a:spLocks noGrp="1"/>
          </p:cNvSpPr>
          <p:nvPr>
            <p:ph type="ftr" sz="quarter" idx="11"/>
          </p:nvPr>
        </p:nvSpPr>
        <p:spPr/>
        <p:txBody>
          <a:bodyPr/>
          <a:lstStyle/>
          <a:p>
            <a:endParaRPr lang="pt-BR" dirty="0"/>
          </a:p>
        </p:txBody>
      </p:sp>
      <p:sp>
        <p:nvSpPr>
          <p:cNvPr id="4" name="Espaço Reservado para Número de Slide 3"/>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2769602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208119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dirty="0"/>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2470801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1614246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F690D3F-1B07-4CC7-9487-A0D7387419ED}" type="datetimeFigureOut">
              <a:rPr lang="pt-BR" smtClean="0"/>
              <a:t>03/09/2015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A5796A59-3A02-4B47-9381-783F5BD351A0}" type="slidenum">
              <a:rPr lang="pt-BR" smtClean="0"/>
              <a:t>‹nº›</a:t>
            </a:fld>
            <a:endParaRPr lang="pt-BR" dirty="0"/>
          </a:p>
        </p:txBody>
      </p:sp>
    </p:spTree>
    <p:extLst>
      <p:ext uri="{BB962C8B-B14F-4D97-AF65-F5344CB8AC3E}">
        <p14:creationId xmlns:p14="http://schemas.microsoft.com/office/powerpoint/2010/main" val="4019479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690D3F-1B07-4CC7-9487-A0D7387419ED}" type="datetimeFigureOut">
              <a:rPr lang="pt-BR" smtClean="0"/>
              <a:t>03/09/2015</a:t>
            </a:fld>
            <a:endParaRPr lang="pt-BR" dirty="0"/>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96A59-3A02-4B47-9381-783F5BD351A0}" type="slidenum">
              <a:rPr lang="pt-BR" smtClean="0"/>
              <a:t>‹nº›</a:t>
            </a:fld>
            <a:endParaRPr lang="pt-BR" dirty="0"/>
          </a:p>
        </p:txBody>
      </p:sp>
    </p:spTree>
    <p:extLst>
      <p:ext uri="{BB962C8B-B14F-4D97-AF65-F5344CB8AC3E}">
        <p14:creationId xmlns:p14="http://schemas.microsoft.com/office/powerpoint/2010/main" val="1485908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hyperlink" Target="Natura%20-%20VPTD%20-%20MCS%20-%20Diagn&#243;stico%20-%2020150828.pptx"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slide" Target="slide18.xml"/><Relationship Id="rId3" Type="http://schemas.openxmlformats.org/officeDocument/2006/relationships/slide" Target="slide9.xml"/><Relationship Id="rId7" Type="http://schemas.openxmlformats.org/officeDocument/2006/relationships/diagramColors" Target="../diagrams/colors1.xml"/><Relationship Id="rId12" Type="http://schemas.openxmlformats.org/officeDocument/2006/relationships/slide" Target="slide17.xml"/><Relationship Id="rId17" Type="http://schemas.openxmlformats.org/officeDocument/2006/relationships/slide" Target="slide13.xml"/><Relationship Id="rId2" Type="http://schemas.openxmlformats.org/officeDocument/2006/relationships/notesSlide" Target="../notesSlides/notesSlide5.xml"/><Relationship Id="rId16" Type="http://schemas.openxmlformats.org/officeDocument/2006/relationships/slide" Target="slide11.xml"/><Relationship Id="rId1" Type="http://schemas.openxmlformats.org/officeDocument/2006/relationships/slideLayout" Target="../slideLayouts/slideLayout6.xml"/><Relationship Id="rId6" Type="http://schemas.openxmlformats.org/officeDocument/2006/relationships/diagramQuickStyle" Target="../diagrams/quickStyle1.xml"/><Relationship Id="rId11" Type="http://schemas.openxmlformats.org/officeDocument/2006/relationships/slide" Target="slide10.xml"/><Relationship Id="rId5" Type="http://schemas.openxmlformats.org/officeDocument/2006/relationships/diagramLayout" Target="../diagrams/layout1.xml"/><Relationship Id="rId15" Type="http://schemas.openxmlformats.org/officeDocument/2006/relationships/slide" Target="slide12.xml"/><Relationship Id="rId10" Type="http://schemas.openxmlformats.org/officeDocument/2006/relationships/slide" Target="slide8.xml"/><Relationship Id="rId4" Type="http://schemas.openxmlformats.org/officeDocument/2006/relationships/diagramData" Target="../diagrams/data1.xml"/><Relationship Id="rId9" Type="http://schemas.openxmlformats.org/officeDocument/2006/relationships/slide" Target="slide7.xml"/><Relationship Id="rId14" Type="http://schemas.openxmlformats.org/officeDocument/2006/relationships/slide" Target="slide19.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13" Type="http://schemas.openxmlformats.org/officeDocument/2006/relationships/slide" Target="slide16.xml"/><Relationship Id="rId3" Type="http://schemas.openxmlformats.org/officeDocument/2006/relationships/slide" Target="slide13.xml"/><Relationship Id="rId7" Type="http://schemas.openxmlformats.org/officeDocument/2006/relationships/diagramColors" Target="../diagrams/colors2.xml"/><Relationship Id="rId12" Type="http://schemas.openxmlformats.org/officeDocument/2006/relationships/slide" Target="slide11.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QuickStyle" Target="../diagrams/quickStyle2.xml"/><Relationship Id="rId11" Type="http://schemas.openxmlformats.org/officeDocument/2006/relationships/slide" Target="slide10.xml"/><Relationship Id="rId5" Type="http://schemas.openxmlformats.org/officeDocument/2006/relationships/diagramLayout" Target="../diagrams/layout2.xml"/><Relationship Id="rId10" Type="http://schemas.openxmlformats.org/officeDocument/2006/relationships/slide" Target="slide14.xml"/><Relationship Id="rId4" Type="http://schemas.openxmlformats.org/officeDocument/2006/relationships/diagramData" Target="../diagrams/data2.xml"/><Relationship Id="rId9" Type="http://schemas.openxmlformats.org/officeDocument/2006/relationships/slide" Target="slide15.xml"/></Relationships>
</file>

<file path=ppt/slides/_rels/slide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p:cNvGrpSpPr/>
          <p:nvPr/>
        </p:nvGrpSpPr>
        <p:grpSpPr>
          <a:xfrm>
            <a:off x="533076" y="1667435"/>
            <a:ext cx="3979068" cy="3691717"/>
            <a:chOff x="323657" y="916360"/>
            <a:chExt cx="3979068" cy="3691717"/>
          </a:xfrm>
          <a:solidFill>
            <a:srgbClr val="7030A0"/>
          </a:solidFill>
        </p:grpSpPr>
        <p:sp>
          <p:nvSpPr>
            <p:cNvPr id="6" name="Retângulo 5"/>
            <p:cNvSpPr/>
            <p:nvPr/>
          </p:nvSpPr>
          <p:spPr>
            <a:xfrm>
              <a:off x="323657" y="916360"/>
              <a:ext cx="3979068" cy="3691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89" rIns="68580" bIns="34289" rtlCol="0" anchor="ctr"/>
            <a:lstStyle/>
            <a:p>
              <a:pPr algn="ctr"/>
              <a:endParaRPr lang="es-ES_tradnl" dirty="0"/>
            </a:p>
          </p:txBody>
        </p:sp>
        <p:sp>
          <p:nvSpPr>
            <p:cNvPr id="7" name="CaixaDeTexto 6"/>
            <p:cNvSpPr txBox="1"/>
            <p:nvPr/>
          </p:nvSpPr>
          <p:spPr>
            <a:xfrm>
              <a:off x="483707" y="1107266"/>
              <a:ext cx="3658970" cy="2069411"/>
            </a:xfrm>
            <a:prstGeom prst="rect">
              <a:avLst/>
            </a:prstGeom>
            <a:solidFill>
              <a:srgbClr val="0070C0"/>
            </a:solidFill>
          </p:spPr>
          <p:txBody>
            <a:bodyPr wrap="square" lIns="68580" tIns="34289" rIns="68580" bIns="34289" rtlCol="0">
              <a:spAutoFit/>
            </a:bodyPr>
            <a:lstStyle/>
            <a:p>
              <a:pPr algn="ctr"/>
              <a:r>
                <a:rPr lang="pt-BR" sz="2000" b="1" dirty="0" smtClean="0">
                  <a:solidFill>
                    <a:schemeClr val="bg1"/>
                  </a:solidFill>
                  <a:effectLst>
                    <a:outerShdw blurRad="38100" dist="38100" dir="2700000" algn="tl">
                      <a:srgbClr val="000000">
                        <a:alpha val="43137"/>
                      </a:srgbClr>
                    </a:outerShdw>
                  </a:effectLst>
                  <a:latin typeface="Gill Sans Std ExtraBold" pitchFamily="34" charset="0"/>
                </a:rPr>
                <a:t>Projeto</a:t>
              </a:r>
            </a:p>
            <a:p>
              <a:pPr algn="ctr"/>
              <a:endParaRPr lang="pt-BR" sz="1000" b="1" dirty="0">
                <a:solidFill>
                  <a:schemeClr val="bg1"/>
                </a:solidFill>
                <a:effectLst>
                  <a:outerShdw blurRad="38100" dist="38100" dir="2700000" algn="tl">
                    <a:srgbClr val="000000">
                      <a:alpha val="43137"/>
                    </a:srgbClr>
                  </a:outerShdw>
                </a:effectLst>
                <a:latin typeface="Gill Sans Std ExtraBold" pitchFamily="34" charset="0"/>
              </a:endParaRPr>
            </a:p>
            <a:p>
              <a:pPr algn="ctr"/>
              <a:r>
                <a:rPr lang="pt-BR" sz="2399" b="1" dirty="0" smtClean="0">
                  <a:solidFill>
                    <a:schemeClr val="bg1"/>
                  </a:solidFill>
                  <a:effectLst>
                    <a:outerShdw blurRad="38100" dist="38100" dir="2700000" algn="tl">
                      <a:srgbClr val="000000">
                        <a:alpha val="43137"/>
                      </a:srgbClr>
                    </a:outerShdw>
                  </a:effectLst>
                  <a:latin typeface="Gill Sans Std Light" pitchFamily="34" charset="0"/>
                </a:rPr>
                <a:t>Melhoria </a:t>
              </a:r>
              <a:r>
                <a:rPr lang="pt-BR" sz="2399" b="1" dirty="0">
                  <a:solidFill>
                    <a:schemeClr val="bg1"/>
                  </a:solidFill>
                  <a:effectLst>
                    <a:outerShdw blurRad="38100" dist="38100" dir="2700000" algn="tl">
                      <a:srgbClr val="000000">
                        <a:alpha val="43137"/>
                      </a:srgbClr>
                    </a:outerShdw>
                  </a:effectLst>
                  <a:latin typeface="Gill Sans Std Light" pitchFamily="34" charset="0"/>
                </a:rPr>
                <a:t>Contínua dos Serviços de </a:t>
              </a:r>
              <a:r>
                <a:rPr lang="pt-BR" sz="2399" b="1" dirty="0" smtClean="0">
                  <a:solidFill>
                    <a:schemeClr val="bg1"/>
                  </a:solidFill>
                  <a:effectLst>
                    <a:outerShdw blurRad="38100" dist="38100" dir="2700000" algn="tl">
                      <a:srgbClr val="000000">
                        <a:alpha val="43137"/>
                      </a:srgbClr>
                    </a:outerShdw>
                  </a:effectLst>
                  <a:latin typeface="Gill Sans Std Light" pitchFamily="34" charset="0"/>
                </a:rPr>
                <a:t>TD</a:t>
              </a:r>
            </a:p>
            <a:p>
              <a:pPr algn="ctr"/>
              <a:endParaRPr lang="pt-BR" sz="1000" b="1" dirty="0" smtClean="0">
                <a:solidFill>
                  <a:schemeClr val="bg1"/>
                </a:solidFill>
                <a:effectLst>
                  <a:outerShdw blurRad="38100" dist="38100" dir="2700000" algn="tl">
                    <a:srgbClr val="000000">
                      <a:alpha val="43137"/>
                    </a:srgbClr>
                  </a:outerShdw>
                </a:effectLst>
                <a:latin typeface="Gill Sans Std Light" pitchFamily="34" charset="0"/>
              </a:endParaRPr>
            </a:p>
            <a:p>
              <a:pPr algn="ctr"/>
              <a:r>
                <a:rPr lang="pt-BR" b="1" dirty="0" smtClean="0">
                  <a:solidFill>
                    <a:schemeClr val="bg1"/>
                  </a:solidFill>
                  <a:effectLst>
                    <a:outerShdw blurRad="38100" dist="38100" dir="2700000" algn="tl">
                      <a:srgbClr val="000000">
                        <a:alpha val="43137"/>
                      </a:srgbClr>
                    </a:outerShdw>
                  </a:effectLst>
                  <a:latin typeface="Gill Sans Std Light" pitchFamily="34" charset="0"/>
                </a:rPr>
                <a:t>Plano de Ação</a:t>
              </a:r>
              <a:endParaRPr lang="pt-BR" b="1" dirty="0">
                <a:solidFill>
                  <a:schemeClr val="bg1"/>
                </a:solidFill>
                <a:effectLst>
                  <a:outerShdw blurRad="38100" dist="38100" dir="2700000" algn="tl">
                    <a:srgbClr val="000000">
                      <a:alpha val="43137"/>
                    </a:srgbClr>
                  </a:outerShdw>
                </a:effectLst>
                <a:latin typeface="Gill Sans Std Light" pitchFamily="34" charset="0"/>
              </a:endParaRPr>
            </a:p>
            <a:p>
              <a:pPr algn="ctr"/>
              <a:endParaRPr lang="pt-BR" sz="2399" b="1" dirty="0">
                <a:solidFill>
                  <a:schemeClr val="bg1"/>
                </a:solidFill>
                <a:effectLst>
                  <a:outerShdw blurRad="38100" dist="38100" dir="2700000" algn="tl">
                    <a:srgbClr val="000000">
                      <a:alpha val="43137"/>
                    </a:srgbClr>
                  </a:outerShdw>
                </a:effectLst>
                <a:latin typeface="Gill Sans Std ExtraBold" pitchFamily="34" charset="0"/>
              </a:endParaRPr>
            </a:p>
          </p:txBody>
        </p:sp>
        <p:grpSp>
          <p:nvGrpSpPr>
            <p:cNvPr id="8" name="Grupo 7"/>
            <p:cNvGrpSpPr/>
            <p:nvPr/>
          </p:nvGrpSpPr>
          <p:grpSpPr>
            <a:xfrm>
              <a:off x="539552" y="3294852"/>
              <a:ext cx="3363812" cy="809169"/>
              <a:chOff x="683568" y="3150836"/>
              <a:chExt cx="3363812" cy="809169"/>
            </a:xfrm>
            <a:grpFill/>
          </p:grpSpPr>
          <p:pic>
            <p:nvPicPr>
              <p:cNvPr id="10" name="Picture 8" descr="NAT_marca_branca_natura-01.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3217906"/>
                <a:ext cx="699516" cy="636843"/>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11" name="Conector reto 10"/>
              <p:cNvCxnSpPr/>
              <p:nvPr/>
            </p:nvCxnSpPr>
            <p:spPr>
              <a:xfrm>
                <a:off x="3215334" y="3150836"/>
                <a:ext cx="0" cy="809169"/>
              </a:xfrm>
              <a:prstGeom prst="line">
                <a:avLst/>
              </a:prstGeom>
              <a:grpFill/>
              <a:ln w="19050">
                <a:solidFill>
                  <a:schemeClr val="bg1"/>
                </a:solidFill>
              </a:ln>
              <a:effectLst>
                <a:innerShdw blurRad="63500" dist="50800" dir="162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12" name="CaixaDeTexto 11"/>
              <p:cNvSpPr txBox="1"/>
              <p:nvPr/>
            </p:nvSpPr>
            <p:spPr>
              <a:xfrm>
                <a:off x="683568" y="3217906"/>
                <a:ext cx="2520281" cy="584775"/>
              </a:xfrm>
              <a:prstGeom prst="rect">
                <a:avLst/>
              </a:prstGeom>
              <a:solidFill>
                <a:srgbClr val="0070C0"/>
              </a:solidFill>
            </p:spPr>
            <p:txBody>
              <a:bodyPr wrap="square" rtlCol="0">
                <a:spAutoFit/>
              </a:bodyPr>
              <a:lstStyle/>
              <a:p>
                <a:pPr algn="r"/>
                <a:r>
                  <a:rPr lang="pt-BR" sz="1600" dirty="0">
                    <a:solidFill>
                      <a:schemeClr val="bg1"/>
                    </a:solidFill>
                    <a:effectLst>
                      <a:outerShdw blurRad="38100" dist="38100" dir="2700000" algn="tl">
                        <a:srgbClr val="000000">
                          <a:alpha val="43137"/>
                        </a:srgbClr>
                      </a:outerShdw>
                    </a:effectLst>
                    <a:latin typeface="Gill Sans Std" pitchFamily="34" charset="0"/>
                  </a:rPr>
                  <a:t>Gerência de Governança</a:t>
                </a:r>
              </a:p>
              <a:p>
                <a:pPr algn="r"/>
                <a:r>
                  <a:rPr lang="pt-BR" sz="1600" dirty="0">
                    <a:solidFill>
                      <a:schemeClr val="bg1"/>
                    </a:solidFill>
                    <a:effectLst>
                      <a:outerShdw blurRad="38100" dist="38100" dir="2700000" algn="tl">
                        <a:srgbClr val="000000">
                          <a:alpha val="43137"/>
                        </a:srgbClr>
                      </a:outerShdw>
                    </a:effectLst>
                    <a:latin typeface="Gill Sans Std" pitchFamily="34" charset="0"/>
                  </a:rPr>
                  <a:t>VPTD</a:t>
                </a:r>
              </a:p>
            </p:txBody>
          </p:sp>
        </p:grpSp>
        <p:sp>
          <p:nvSpPr>
            <p:cNvPr id="9" name="CaixaDeTexto 8"/>
            <p:cNvSpPr txBox="1"/>
            <p:nvPr/>
          </p:nvSpPr>
          <p:spPr>
            <a:xfrm>
              <a:off x="2981837" y="4347985"/>
              <a:ext cx="1243260" cy="251704"/>
            </a:xfrm>
            <a:prstGeom prst="rect">
              <a:avLst/>
            </a:prstGeom>
            <a:solidFill>
              <a:srgbClr val="0070C0"/>
            </a:solidFill>
          </p:spPr>
          <p:txBody>
            <a:bodyPr wrap="square" lIns="81628" tIns="40815" rIns="81628" bIns="40815" rtlCol="0">
              <a:spAutoFit/>
            </a:bodyPr>
            <a:lstStyle/>
            <a:p>
              <a:pPr algn="ctr" defTabSz="816291"/>
              <a:r>
                <a:rPr lang="pt-BR" sz="1100" dirty="0" smtClean="0">
                  <a:solidFill>
                    <a:schemeClr val="bg1"/>
                  </a:solidFill>
                  <a:effectLst>
                    <a:outerShdw blurRad="38100" dist="38100" dir="2700000" algn="tl">
                      <a:srgbClr val="000000">
                        <a:alpha val="43137"/>
                      </a:srgbClr>
                    </a:outerShdw>
                  </a:effectLst>
                  <a:latin typeface="Gill Sans Std" pitchFamily="34" charset="0"/>
                </a:rPr>
                <a:t>2015, agosto</a:t>
              </a:r>
              <a:endParaRPr lang="pt-BR" sz="1100" b="1" i="1" dirty="0">
                <a:solidFill>
                  <a:schemeClr val="bg1"/>
                </a:solidFill>
                <a:latin typeface="Gill Sans Std" pitchFamily="34" charset="0"/>
              </a:endParaRPr>
            </a:p>
          </p:txBody>
        </p:sp>
      </p:grpSp>
      <p:pic>
        <p:nvPicPr>
          <p:cNvPr id="1026" name="Picture 2" descr="http://www.cpacrossings.com/portals/0/chess%20board.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673" y="1667435"/>
            <a:ext cx="6972777" cy="3691717"/>
          </a:xfrm>
          <a:prstGeom prst="rect">
            <a:avLst/>
          </a:prstGeom>
          <a:noFill/>
          <a:extLst>
            <a:ext uri="{909E8E84-426E-40DD-AFC4-6F175D3DCCD1}">
              <a14:hiddenFill xmlns:a14="http://schemas.microsoft.com/office/drawing/2010/main">
                <a:solidFill>
                  <a:srgbClr val="FFFFFF"/>
                </a:solidFill>
              </a14:hiddenFill>
            </a:ext>
          </a:extLst>
        </p:spPr>
      </p:pic>
      <p:sp>
        <p:nvSpPr>
          <p:cNvPr id="15" name="CaixaDeTexto 14"/>
          <p:cNvSpPr txBox="1"/>
          <p:nvPr/>
        </p:nvSpPr>
        <p:spPr>
          <a:xfrm rot="16200000">
            <a:off x="11158316" y="5828003"/>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Tree>
    <p:extLst>
      <p:ext uri="{BB962C8B-B14F-4D97-AF65-F5344CB8AC3E}">
        <p14:creationId xmlns:p14="http://schemas.microsoft.com/office/powerpoint/2010/main" val="23550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aixaDeTexto 15"/>
          <p:cNvSpPr txBox="1"/>
          <p:nvPr/>
        </p:nvSpPr>
        <p:spPr>
          <a:xfrm rot="16200000">
            <a:off x="11213181"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2" y="-14827"/>
            <a:ext cx="11203553"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Plano de Ação – Contexto</a:t>
            </a:r>
            <a:endParaRPr lang="pt-BR" sz="2400" b="1" dirty="0">
              <a:solidFill>
                <a:srgbClr val="0070C0"/>
              </a:solidFill>
            </a:endParaRPr>
          </a:p>
        </p:txBody>
      </p:sp>
      <p:sp>
        <p:nvSpPr>
          <p:cNvPr id="19" name="CaixaDeTexto 18"/>
          <p:cNvSpPr txBox="1"/>
          <p:nvPr/>
        </p:nvSpPr>
        <p:spPr>
          <a:xfrm>
            <a:off x="219384" y="1160248"/>
            <a:ext cx="11677649" cy="5355312"/>
          </a:xfrm>
          <a:prstGeom prst="rect">
            <a:avLst/>
          </a:prstGeom>
          <a:noFill/>
        </p:spPr>
        <p:txBody>
          <a:bodyPr wrap="square" rtlCol="0">
            <a:spAutoFit/>
          </a:bodyPr>
          <a:lstStyle/>
          <a:p>
            <a:pPr algn="just"/>
            <a:r>
              <a:rPr lang="pt-BR" dirty="0" smtClean="0">
                <a:solidFill>
                  <a:srgbClr val="0070C0"/>
                </a:solidFill>
              </a:rPr>
              <a:t>Resultado do </a:t>
            </a:r>
            <a:r>
              <a:rPr lang="pt-BR" b="1" dirty="0" smtClean="0">
                <a:solidFill>
                  <a:srgbClr val="0070C0"/>
                </a:solidFill>
              </a:rPr>
              <a:t>Projeto de Melhoria Continua dos Serviços da VPTD</a:t>
            </a:r>
            <a:r>
              <a:rPr lang="pt-BR" dirty="0" smtClean="0">
                <a:solidFill>
                  <a:srgbClr val="0070C0"/>
                </a:solidFill>
              </a:rPr>
              <a:t>, este documento apresenta as ações que devem ser desenvolvidas </a:t>
            </a:r>
            <a:r>
              <a:rPr lang="pt-BR" dirty="0">
                <a:solidFill>
                  <a:srgbClr val="0070C0"/>
                </a:solidFill>
              </a:rPr>
              <a:t>para que </a:t>
            </a:r>
            <a:r>
              <a:rPr lang="pt-BR" dirty="0" smtClean="0">
                <a:solidFill>
                  <a:srgbClr val="0070C0"/>
                </a:solidFill>
              </a:rPr>
              <a:t>“</a:t>
            </a:r>
            <a:r>
              <a:rPr lang="pt-BR" i="1" dirty="0" smtClean="0">
                <a:solidFill>
                  <a:srgbClr val="0070C0"/>
                </a:solidFill>
              </a:rPr>
              <a:t>a </a:t>
            </a:r>
            <a:r>
              <a:rPr lang="pt-BR" i="1" dirty="0">
                <a:solidFill>
                  <a:srgbClr val="0070C0"/>
                </a:solidFill>
              </a:rPr>
              <a:t>melhoria contínua se torne uma prática habitual, com evidente melhoria da qualidade dos serviços e soluções fornecidos ao </a:t>
            </a:r>
            <a:r>
              <a:rPr lang="pt-BR" i="1" dirty="0" smtClean="0">
                <a:solidFill>
                  <a:srgbClr val="0070C0"/>
                </a:solidFill>
              </a:rPr>
              <a:t>Negócio</a:t>
            </a:r>
            <a:r>
              <a:rPr lang="pt-BR" dirty="0" smtClean="0">
                <a:solidFill>
                  <a:srgbClr val="0070C0"/>
                </a:solidFill>
              </a:rPr>
              <a:t>”, conforme disposto no objetivo do projeto.</a:t>
            </a:r>
          </a:p>
          <a:p>
            <a:pPr algn="just"/>
            <a:endParaRPr lang="pt-BR" dirty="0">
              <a:solidFill>
                <a:srgbClr val="0070C0"/>
              </a:solidFill>
            </a:endParaRPr>
          </a:p>
          <a:p>
            <a:pPr algn="just"/>
            <a:r>
              <a:rPr lang="pt-BR" dirty="0" smtClean="0">
                <a:solidFill>
                  <a:srgbClr val="0070C0"/>
                </a:solidFill>
              </a:rPr>
              <a:t>O </a:t>
            </a:r>
            <a:r>
              <a:rPr lang="pt-BR" b="1" dirty="0" smtClean="0">
                <a:solidFill>
                  <a:srgbClr val="0070C0"/>
                </a:solidFill>
                <a:hlinkClick r:id="rId3" action="ppaction://hlinkpres?slideindex=1&amp;slidetitle="/>
              </a:rPr>
              <a:t>Diagnóstico</a:t>
            </a:r>
            <a:r>
              <a:rPr lang="pt-BR" dirty="0" smtClean="0">
                <a:solidFill>
                  <a:srgbClr val="0070C0"/>
                </a:solidFill>
              </a:rPr>
              <a:t> realizado entre junho e agosto de 2015 apresentou diversas oportunidades de melhoria, muitas já em desenvolvimento pela Governança de TI da VPTD. Não obstante, as ações relacionadas neste Plano de Ação se caracterizam como ações estruturantes e devem, portanto, ser executadas com o adequado rigor de gerenciamento. Visam, mais do que melhorar pontualmente um ou outro aspecto do Gerenciamento de Serviços, estabelecer as práticas que viabilizarão a transformação da organização de TI da Natura em um “</a:t>
            </a:r>
            <a:r>
              <a:rPr lang="pt-BR" b="1" dirty="0" smtClean="0">
                <a:solidFill>
                  <a:srgbClr val="0070C0"/>
                </a:solidFill>
              </a:rPr>
              <a:t>Provedor Interno de Serviços de TI</a:t>
            </a:r>
            <a:r>
              <a:rPr lang="pt-BR" dirty="0" smtClean="0">
                <a:solidFill>
                  <a:srgbClr val="0070C0"/>
                </a:solidFill>
              </a:rPr>
              <a:t>”, com atuação orientada à satisfação dos requerimentos de negócio e suporte efetivo à realização dos objetivos estratégicos da organização.</a:t>
            </a:r>
          </a:p>
          <a:p>
            <a:pPr algn="just"/>
            <a:endParaRPr lang="pt-BR" dirty="0">
              <a:solidFill>
                <a:srgbClr val="0070C0"/>
              </a:solidFill>
            </a:endParaRPr>
          </a:p>
          <a:p>
            <a:pPr algn="just"/>
            <a:r>
              <a:rPr lang="pt-BR" dirty="0" smtClean="0">
                <a:solidFill>
                  <a:srgbClr val="0070C0"/>
                </a:solidFill>
              </a:rPr>
              <a:t>Não pretendemos esgotar neste plano todas as ações que poderiam ser realizadas. Em relação ao Diagnóstico, nada foi </a:t>
            </a:r>
            <a:r>
              <a:rPr lang="pt-BR" dirty="0" smtClean="0">
                <a:solidFill>
                  <a:srgbClr val="0070C0"/>
                </a:solidFill>
              </a:rPr>
              <a:t>negligenciado, mas </a:t>
            </a:r>
            <a:r>
              <a:rPr lang="pt-BR" dirty="0" smtClean="0">
                <a:solidFill>
                  <a:srgbClr val="0070C0"/>
                </a:solidFill>
              </a:rPr>
              <a:t>compreendemos que a realização das ações aqui recomendadas colocarão a VPTD em um novo patamar de gestão, no qual novos requerimentos para Melhoria Contínua se tornarão prioritários e deverão ser oportunamente planejados, considerando as capacidades e limitações operacionais resultantes.</a:t>
            </a:r>
          </a:p>
          <a:p>
            <a:pPr algn="just"/>
            <a:endParaRPr lang="pt-BR" dirty="0">
              <a:solidFill>
                <a:srgbClr val="0070C0"/>
              </a:solidFill>
            </a:endParaRPr>
          </a:p>
          <a:p>
            <a:pPr algn="just"/>
            <a:r>
              <a:rPr lang="pt-BR" dirty="0" smtClean="0">
                <a:solidFill>
                  <a:srgbClr val="0070C0"/>
                </a:solidFill>
              </a:rPr>
              <a:t>Destacamos – dentre todas as ações recomendadas – aquelas relacionadas ao que convencionamos denominar “Dinâmica Operacional”, com alterações substanciais no modo como a VPTD organiza e gerencia seus profissionais e competências, pois uma nova dinâmica operacional é fator crítico de sucesso para a melhor orientação à Gestão de Serviços.</a:t>
            </a:r>
            <a:endParaRPr lang="pt-BR" dirty="0">
              <a:solidFill>
                <a:srgbClr val="0070C0"/>
              </a:solidFill>
            </a:endParaRPr>
          </a:p>
        </p:txBody>
      </p:sp>
    </p:spTree>
    <p:extLst>
      <p:ext uri="{BB962C8B-B14F-4D97-AF65-F5344CB8AC3E}">
        <p14:creationId xmlns:p14="http://schemas.microsoft.com/office/powerpoint/2010/main" val="24722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upo 35"/>
          <p:cNvGrpSpPr/>
          <p:nvPr/>
        </p:nvGrpSpPr>
        <p:grpSpPr>
          <a:xfrm>
            <a:off x="2801725" y="1621336"/>
            <a:ext cx="6706536" cy="3772427"/>
            <a:chOff x="2801768" y="1861636"/>
            <a:chExt cx="6096851" cy="3429479"/>
          </a:xfrm>
        </p:grpSpPr>
        <p:pic>
          <p:nvPicPr>
            <p:cNvPr id="34" name="Imagem 33"/>
            <p:cNvPicPr>
              <a:picLocks noChangeAspect="1"/>
            </p:cNvPicPr>
            <p:nvPr/>
          </p:nvPicPr>
          <p:blipFill>
            <a:blip r:embed="rId3"/>
            <a:stretch>
              <a:fillRect/>
            </a:stretch>
          </p:blipFill>
          <p:spPr>
            <a:xfrm>
              <a:off x="2801768" y="1861636"/>
              <a:ext cx="6096851" cy="3429479"/>
            </a:xfrm>
            <a:prstGeom prst="rect">
              <a:avLst/>
            </a:prstGeom>
          </p:spPr>
        </p:pic>
        <p:sp>
          <p:nvSpPr>
            <p:cNvPr id="35" name="CaixaDeTexto 34"/>
            <p:cNvSpPr txBox="1"/>
            <p:nvPr/>
          </p:nvSpPr>
          <p:spPr>
            <a:xfrm>
              <a:off x="8740877" y="4341718"/>
              <a:ext cx="157742" cy="949397"/>
            </a:xfrm>
            <a:prstGeom prst="rect">
              <a:avLst/>
            </a:prstGeom>
            <a:solidFill>
              <a:schemeClr val="bg1">
                <a:lumMod val="95000"/>
              </a:schemeClr>
            </a:solidFill>
          </p:spPr>
          <p:txBody>
            <a:bodyPr wrap="square" rtlCol="0">
              <a:spAutoFit/>
            </a:bodyPr>
            <a:lstStyle/>
            <a:p>
              <a:endParaRPr lang="pt-BR" dirty="0"/>
            </a:p>
          </p:txBody>
        </p:sp>
      </p:grpSp>
      <p:sp>
        <p:nvSpPr>
          <p:cNvPr id="16" name="CaixaDeTexto 15"/>
          <p:cNvSpPr txBox="1"/>
          <p:nvPr/>
        </p:nvSpPr>
        <p:spPr>
          <a:xfrm rot="16200000">
            <a:off x="11213181"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2" y="-14827"/>
            <a:ext cx="11203553"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Plano de Ação – Modo de Usar</a:t>
            </a:r>
            <a:endParaRPr lang="pt-BR" sz="2400" b="1" dirty="0">
              <a:solidFill>
                <a:srgbClr val="0070C0"/>
              </a:solidFill>
            </a:endParaRPr>
          </a:p>
        </p:txBody>
      </p:sp>
      <p:sp>
        <p:nvSpPr>
          <p:cNvPr id="10" name="CaixaDeTexto 9"/>
          <p:cNvSpPr txBox="1"/>
          <p:nvPr/>
        </p:nvSpPr>
        <p:spPr>
          <a:xfrm>
            <a:off x="476010" y="3784623"/>
            <a:ext cx="1350888" cy="369332"/>
          </a:xfrm>
          <a:prstGeom prst="rect">
            <a:avLst/>
          </a:prstGeom>
          <a:noFill/>
          <a:ln>
            <a:solidFill>
              <a:srgbClr val="0070C0"/>
            </a:solidFill>
          </a:ln>
        </p:spPr>
        <p:txBody>
          <a:bodyPr wrap="square" rtlCol="0">
            <a:spAutoFit/>
          </a:bodyPr>
          <a:lstStyle/>
          <a:p>
            <a:pPr algn="ctr"/>
            <a:r>
              <a:rPr lang="pt-BR" i="1" dirty="0" smtClean="0">
                <a:solidFill>
                  <a:srgbClr val="0070C0"/>
                </a:solidFill>
              </a:rPr>
              <a:t>Timeline.</a:t>
            </a:r>
            <a:endParaRPr lang="pt-BR" dirty="0">
              <a:solidFill>
                <a:srgbClr val="0070C0"/>
              </a:solidFill>
            </a:endParaRPr>
          </a:p>
        </p:txBody>
      </p:sp>
      <p:sp>
        <p:nvSpPr>
          <p:cNvPr id="18" name="CaixaDeTexto 17"/>
          <p:cNvSpPr txBox="1"/>
          <p:nvPr/>
        </p:nvSpPr>
        <p:spPr>
          <a:xfrm>
            <a:off x="7905129" y="1121338"/>
            <a:ext cx="4074328" cy="646331"/>
          </a:xfrm>
          <a:prstGeom prst="rect">
            <a:avLst/>
          </a:prstGeom>
          <a:noFill/>
          <a:ln>
            <a:solidFill>
              <a:srgbClr val="0070C0"/>
            </a:solidFill>
          </a:ln>
        </p:spPr>
        <p:txBody>
          <a:bodyPr wrap="square" rtlCol="0">
            <a:spAutoFit/>
          </a:bodyPr>
          <a:lstStyle/>
          <a:p>
            <a:pPr algn="ctr"/>
            <a:r>
              <a:rPr lang="pt-BR" dirty="0" smtClean="0">
                <a:solidFill>
                  <a:srgbClr val="0070C0"/>
                </a:solidFill>
              </a:rPr>
              <a:t>Ações, identificadas por título e número.</a:t>
            </a:r>
          </a:p>
          <a:p>
            <a:pPr algn="ctr"/>
            <a:r>
              <a:rPr lang="pt-BR" i="1" dirty="0" smtClean="0">
                <a:solidFill>
                  <a:srgbClr val="0070C0"/>
                </a:solidFill>
              </a:rPr>
              <a:t>Hyperlink</a:t>
            </a:r>
            <a:r>
              <a:rPr lang="pt-BR" dirty="0" smtClean="0">
                <a:solidFill>
                  <a:srgbClr val="0070C0"/>
                </a:solidFill>
              </a:rPr>
              <a:t> para o detalhamento da ação.</a:t>
            </a:r>
            <a:endParaRPr lang="pt-BR" dirty="0">
              <a:solidFill>
                <a:srgbClr val="0070C0"/>
              </a:solidFill>
            </a:endParaRPr>
          </a:p>
        </p:txBody>
      </p:sp>
      <p:cxnSp>
        <p:nvCxnSpPr>
          <p:cNvPr id="29" name="Conector de seta reta 28"/>
          <p:cNvCxnSpPr>
            <a:stCxn id="10" idx="3"/>
          </p:cNvCxnSpPr>
          <p:nvPr/>
        </p:nvCxnSpPr>
        <p:spPr>
          <a:xfrm>
            <a:off x="1826898" y="3969289"/>
            <a:ext cx="1116342" cy="2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Chave direita 4"/>
          <p:cNvSpPr/>
          <p:nvPr/>
        </p:nvSpPr>
        <p:spPr>
          <a:xfrm>
            <a:off x="8115149" y="4396895"/>
            <a:ext cx="963562" cy="94939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dirty="0"/>
          </a:p>
        </p:txBody>
      </p:sp>
      <p:sp>
        <p:nvSpPr>
          <p:cNvPr id="6" name="CaixaDeTexto 5"/>
          <p:cNvSpPr txBox="1"/>
          <p:nvPr/>
        </p:nvSpPr>
        <p:spPr>
          <a:xfrm>
            <a:off x="9078711" y="4493250"/>
            <a:ext cx="2887414" cy="646331"/>
          </a:xfrm>
          <a:prstGeom prst="rect">
            <a:avLst/>
          </a:prstGeom>
          <a:noFill/>
          <a:ln>
            <a:solidFill>
              <a:srgbClr val="0070C0"/>
            </a:solidFill>
          </a:ln>
        </p:spPr>
        <p:txBody>
          <a:bodyPr wrap="square" rtlCol="0">
            <a:spAutoFit/>
          </a:bodyPr>
          <a:lstStyle/>
          <a:p>
            <a:pPr algn="ctr"/>
            <a:r>
              <a:rPr lang="pt-BR" dirty="0" smtClean="0">
                <a:solidFill>
                  <a:srgbClr val="0070C0"/>
                </a:solidFill>
              </a:rPr>
              <a:t>Sequência recomendada para desenvolvimento</a:t>
            </a:r>
            <a:r>
              <a:rPr lang="pt-BR" dirty="0">
                <a:solidFill>
                  <a:srgbClr val="0070C0"/>
                </a:solidFill>
              </a:rPr>
              <a:t>.</a:t>
            </a:r>
          </a:p>
        </p:txBody>
      </p:sp>
      <p:cxnSp>
        <p:nvCxnSpPr>
          <p:cNvPr id="20" name="Conector angulado 19"/>
          <p:cNvCxnSpPr>
            <a:stCxn id="18" idx="1"/>
          </p:cNvCxnSpPr>
          <p:nvPr/>
        </p:nvCxnSpPr>
        <p:spPr>
          <a:xfrm rot="10800000" flipV="1">
            <a:off x="7364361" y="1444503"/>
            <a:ext cx="540768" cy="74808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6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upo 69"/>
          <p:cNvGrpSpPr/>
          <p:nvPr/>
        </p:nvGrpSpPr>
        <p:grpSpPr>
          <a:xfrm>
            <a:off x="2391379" y="1662774"/>
            <a:ext cx="6756864" cy="3772427"/>
            <a:chOff x="2391379" y="1662774"/>
            <a:chExt cx="6756864" cy="3772427"/>
          </a:xfrm>
        </p:grpSpPr>
        <p:pic>
          <p:nvPicPr>
            <p:cNvPr id="15" name="Imagem 14"/>
            <p:cNvPicPr>
              <a:picLocks noChangeAspect="1"/>
            </p:cNvPicPr>
            <p:nvPr/>
          </p:nvPicPr>
          <p:blipFill>
            <a:blip r:embed="rId3"/>
            <a:stretch>
              <a:fillRect/>
            </a:stretch>
          </p:blipFill>
          <p:spPr>
            <a:xfrm>
              <a:off x="2391379" y="1662774"/>
              <a:ext cx="6706537" cy="3772427"/>
            </a:xfrm>
            <a:prstGeom prst="rect">
              <a:avLst/>
            </a:prstGeom>
          </p:spPr>
        </p:pic>
        <p:sp>
          <p:nvSpPr>
            <p:cNvPr id="69" name="Retângulo 68"/>
            <p:cNvSpPr/>
            <p:nvPr/>
          </p:nvSpPr>
          <p:spPr>
            <a:xfrm>
              <a:off x="9016171" y="4499030"/>
              <a:ext cx="132072" cy="9063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6" name="CaixaDeTexto 15"/>
          <p:cNvSpPr txBox="1"/>
          <p:nvPr/>
        </p:nvSpPr>
        <p:spPr>
          <a:xfrm rot="16200000">
            <a:off x="11213181"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2" y="-14827"/>
            <a:ext cx="11203553"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Plano de Ação – Modo de Usar</a:t>
            </a:r>
            <a:endParaRPr lang="pt-BR" sz="2400" b="1" dirty="0">
              <a:solidFill>
                <a:srgbClr val="0070C0"/>
              </a:solidFill>
            </a:endParaRPr>
          </a:p>
        </p:txBody>
      </p:sp>
      <p:sp>
        <p:nvSpPr>
          <p:cNvPr id="12" name="CaixaDeTexto 11"/>
          <p:cNvSpPr txBox="1"/>
          <p:nvPr/>
        </p:nvSpPr>
        <p:spPr>
          <a:xfrm>
            <a:off x="9340639" y="525607"/>
            <a:ext cx="2507232" cy="646331"/>
          </a:xfrm>
          <a:prstGeom prst="rect">
            <a:avLst/>
          </a:prstGeom>
          <a:noFill/>
          <a:ln>
            <a:solidFill>
              <a:srgbClr val="0070C0"/>
            </a:solidFill>
          </a:ln>
        </p:spPr>
        <p:txBody>
          <a:bodyPr wrap="square" rtlCol="0">
            <a:spAutoFit/>
          </a:bodyPr>
          <a:lstStyle/>
          <a:p>
            <a:pPr algn="ctr"/>
            <a:r>
              <a:rPr lang="pt-BR" dirty="0" smtClean="0">
                <a:solidFill>
                  <a:srgbClr val="0070C0"/>
                </a:solidFill>
              </a:rPr>
              <a:t>Nº da Ação</a:t>
            </a:r>
          </a:p>
          <a:p>
            <a:pPr algn="ctr"/>
            <a:r>
              <a:rPr lang="pt-BR" i="1" dirty="0" smtClean="0">
                <a:solidFill>
                  <a:srgbClr val="0070C0"/>
                </a:solidFill>
              </a:rPr>
              <a:t>Hyperlink</a:t>
            </a:r>
            <a:r>
              <a:rPr lang="pt-BR" dirty="0" smtClean="0">
                <a:solidFill>
                  <a:srgbClr val="0070C0"/>
                </a:solidFill>
              </a:rPr>
              <a:t> para </a:t>
            </a:r>
            <a:r>
              <a:rPr lang="pt-BR" i="1" dirty="0" smtClean="0">
                <a:solidFill>
                  <a:srgbClr val="0070C0"/>
                </a:solidFill>
              </a:rPr>
              <a:t>Timeline</a:t>
            </a:r>
            <a:r>
              <a:rPr lang="pt-BR" dirty="0" smtClean="0">
                <a:solidFill>
                  <a:srgbClr val="0070C0"/>
                </a:solidFill>
              </a:rPr>
              <a:t>.</a:t>
            </a:r>
            <a:endParaRPr lang="pt-BR" dirty="0">
              <a:solidFill>
                <a:srgbClr val="0070C0"/>
              </a:solidFill>
            </a:endParaRPr>
          </a:p>
        </p:txBody>
      </p:sp>
      <p:cxnSp>
        <p:nvCxnSpPr>
          <p:cNvPr id="13" name="Conector angulado 12"/>
          <p:cNvCxnSpPr>
            <a:stCxn id="12" idx="1"/>
          </p:cNvCxnSpPr>
          <p:nvPr/>
        </p:nvCxnSpPr>
        <p:spPr>
          <a:xfrm rot="10800000" flipV="1">
            <a:off x="8813411" y="848772"/>
            <a:ext cx="527228" cy="8635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CaixaDeTexto 18"/>
          <p:cNvSpPr txBox="1"/>
          <p:nvPr/>
        </p:nvSpPr>
        <p:spPr>
          <a:xfrm>
            <a:off x="78656" y="2240958"/>
            <a:ext cx="1740310" cy="369332"/>
          </a:xfrm>
          <a:prstGeom prst="rect">
            <a:avLst/>
          </a:prstGeom>
          <a:noFill/>
          <a:ln>
            <a:solidFill>
              <a:srgbClr val="0070C0"/>
            </a:solidFill>
          </a:ln>
        </p:spPr>
        <p:txBody>
          <a:bodyPr wrap="square" rtlCol="0">
            <a:spAutoFit/>
          </a:bodyPr>
          <a:lstStyle/>
          <a:p>
            <a:pPr algn="ctr"/>
            <a:r>
              <a:rPr lang="pt-BR" dirty="0" smtClean="0">
                <a:solidFill>
                  <a:srgbClr val="0070C0"/>
                </a:solidFill>
              </a:rPr>
              <a:t>Nome da Ação.</a:t>
            </a:r>
            <a:endParaRPr lang="pt-BR" dirty="0">
              <a:solidFill>
                <a:srgbClr val="0070C0"/>
              </a:solidFill>
            </a:endParaRPr>
          </a:p>
        </p:txBody>
      </p:sp>
      <p:cxnSp>
        <p:nvCxnSpPr>
          <p:cNvPr id="21" name="Conector de seta reta 20"/>
          <p:cNvCxnSpPr>
            <a:stCxn id="19" idx="3"/>
          </p:cNvCxnSpPr>
          <p:nvPr/>
        </p:nvCxnSpPr>
        <p:spPr>
          <a:xfrm flipV="1">
            <a:off x="1818966" y="2418736"/>
            <a:ext cx="580103" cy="6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CaixaDeTexto 22"/>
          <p:cNvSpPr txBox="1"/>
          <p:nvPr/>
        </p:nvSpPr>
        <p:spPr>
          <a:xfrm>
            <a:off x="108152" y="3812293"/>
            <a:ext cx="1740310" cy="1200329"/>
          </a:xfrm>
          <a:prstGeom prst="rect">
            <a:avLst/>
          </a:prstGeom>
          <a:noFill/>
          <a:ln>
            <a:solidFill>
              <a:srgbClr val="0070C0"/>
            </a:solidFill>
          </a:ln>
        </p:spPr>
        <p:txBody>
          <a:bodyPr wrap="square" rtlCol="0">
            <a:spAutoFit/>
          </a:bodyPr>
          <a:lstStyle/>
          <a:p>
            <a:pPr algn="ctr"/>
            <a:r>
              <a:rPr lang="pt-BR" dirty="0" smtClean="0">
                <a:solidFill>
                  <a:srgbClr val="0070C0"/>
                </a:solidFill>
              </a:rPr>
              <a:t>Sequência de atividades para realização da Ação.</a:t>
            </a:r>
            <a:endParaRPr lang="pt-BR" dirty="0">
              <a:solidFill>
                <a:srgbClr val="0070C0"/>
              </a:solidFill>
            </a:endParaRPr>
          </a:p>
        </p:txBody>
      </p:sp>
      <p:sp>
        <p:nvSpPr>
          <p:cNvPr id="25" name="Chave esquerda 24"/>
          <p:cNvSpPr/>
          <p:nvPr/>
        </p:nvSpPr>
        <p:spPr>
          <a:xfrm>
            <a:off x="1897626" y="3657600"/>
            <a:ext cx="493753" cy="14945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dirty="0"/>
          </a:p>
        </p:txBody>
      </p:sp>
      <p:sp>
        <p:nvSpPr>
          <p:cNvPr id="26" name="CaixaDeTexto 25"/>
          <p:cNvSpPr txBox="1"/>
          <p:nvPr/>
        </p:nvSpPr>
        <p:spPr>
          <a:xfrm>
            <a:off x="9797846" y="2121602"/>
            <a:ext cx="1946788" cy="646331"/>
          </a:xfrm>
          <a:prstGeom prst="rect">
            <a:avLst/>
          </a:prstGeom>
          <a:noFill/>
          <a:ln>
            <a:solidFill>
              <a:srgbClr val="0070C0"/>
            </a:solidFill>
          </a:ln>
        </p:spPr>
        <p:txBody>
          <a:bodyPr wrap="square" rtlCol="0">
            <a:spAutoFit/>
          </a:bodyPr>
          <a:lstStyle/>
          <a:p>
            <a:pPr algn="ctr"/>
            <a:r>
              <a:rPr lang="pt-BR" dirty="0" smtClean="0">
                <a:solidFill>
                  <a:srgbClr val="0070C0"/>
                </a:solidFill>
              </a:rPr>
              <a:t>Declaração de Objetivo da Ação.</a:t>
            </a:r>
            <a:endParaRPr lang="pt-BR" dirty="0">
              <a:solidFill>
                <a:srgbClr val="0070C0"/>
              </a:solidFill>
            </a:endParaRPr>
          </a:p>
        </p:txBody>
      </p:sp>
      <p:cxnSp>
        <p:nvCxnSpPr>
          <p:cNvPr id="28" name="Conector de seta reta 27"/>
          <p:cNvCxnSpPr>
            <a:stCxn id="26" idx="1"/>
          </p:cNvCxnSpPr>
          <p:nvPr/>
        </p:nvCxnSpPr>
        <p:spPr>
          <a:xfrm flipH="1" flipV="1">
            <a:off x="8833075" y="2444767"/>
            <a:ext cx="9647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CaixaDeTexto 30"/>
          <p:cNvSpPr txBox="1"/>
          <p:nvPr/>
        </p:nvSpPr>
        <p:spPr>
          <a:xfrm>
            <a:off x="9797846" y="2902656"/>
            <a:ext cx="1814051" cy="646331"/>
          </a:xfrm>
          <a:prstGeom prst="rect">
            <a:avLst/>
          </a:prstGeom>
          <a:noFill/>
          <a:ln>
            <a:solidFill>
              <a:srgbClr val="0070C0"/>
            </a:solidFill>
          </a:ln>
        </p:spPr>
        <p:txBody>
          <a:bodyPr wrap="square" rtlCol="0">
            <a:spAutoFit/>
          </a:bodyPr>
          <a:lstStyle/>
          <a:p>
            <a:pPr algn="ctr"/>
            <a:r>
              <a:rPr lang="pt-BR" dirty="0" smtClean="0">
                <a:solidFill>
                  <a:srgbClr val="0070C0"/>
                </a:solidFill>
              </a:rPr>
              <a:t>Benefícios esperados.</a:t>
            </a:r>
            <a:endParaRPr lang="pt-BR" dirty="0">
              <a:solidFill>
                <a:srgbClr val="0070C0"/>
              </a:solidFill>
            </a:endParaRPr>
          </a:p>
        </p:txBody>
      </p:sp>
      <p:sp>
        <p:nvSpPr>
          <p:cNvPr id="35" name="Chave direita 34"/>
          <p:cNvSpPr/>
          <p:nvPr/>
        </p:nvSpPr>
        <p:spPr>
          <a:xfrm>
            <a:off x="9114501" y="2800893"/>
            <a:ext cx="668593" cy="8070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dirty="0"/>
          </a:p>
        </p:txBody>
      </p:sp>
      <p:sp>
        <p:nvSpPr>
          <p:cNvPr id="36" name="CaixaDeTexto 35"/>
          <p:cNvSpPr txBox="1"/>
          <p:nvPr/>
        </p:nvSpPr>
        <p:spPr>
          <a:xfrm>
            <a:off x="9797846" y="3761845"/>
            <a:ext cx="1646902" cy="646331"/>
          </a:xfrm>
          <a:prstGeom prst="rect">
            <a:avLst/>
          </a:prstGeom>
          <a:noFill/>
          <a:ln>
            <a:solidFill>
              <a:srgbClr val="0070C0"/>
            </a:solidFill>
          </a:ln>
        </p:spPr>
        <p:txBody>
          <a:bodyPr wrap="square" rtlCol="0">
            <a:spAutoFit/>
          </a:bodyPr>
          <a:lstStyle/>
          <a:p>
            <a:pPr algn="ctr"/>
            <a:r>
              <a:rPr lang="pt-BR" dirty="0" smtClean="0">
                <a:solidFill>
                  <a:srgbClr val="0070C0"/>
                </a:solidFill>
              </a:rPr>
              <a:t>Resultados, ou Entregas.</a:t>
            </a:r>
            <a:endParaRPr lang="pt-BR" dirty="0">
              <a:solidFill>
                <a:srgbClr val="0070C0"/>
              </a:solidFill>
            </a:endParaRPr>
          </a:p>
        </p:txBody>
      </p:sp>
      <p:sp>
        <p:nvSpPr>
          <p:cNvPr id="37" name="Chave direita 36"/>
          <p:cNvSpPr/>
          <p:nvPr/>
        </p:nvSpPr>
        <p:spPr>
          <a:xfrm>
            <a:off x="9114501" y="3660082"/>
            <a:ext cx="668593" cy="8070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dirty="0"/>
          </a:p>
        </p:txBody>
      </p:sp>
      <p:sp>
        <p:nvSpPr>
          <p:cNvPr id="39" name="CaixaDeTexto 38"/>
          <p:cNvSpPr txBox="1"/>
          <p:nvPr/>
        </p:nvSpPr>
        <p:spPr>
          <a:xfrm>
            <a:off x="658759" y="5909367"/>
            <a:ext cx="1740310" cy="646331"/>
          </a:xfrm>
          <a:prstGeom prst="rect">
            <a:avLst/>
          </a:prstGeom>
          <a:noFill/>
          <a:ln>
            <a:solidFill>
              <a:srgbClr val="0070C0"/>
            </a:solidFill>
          </a:ln>
        </p:spPr>
        <p:txBody>
          <a:bodyPr wrap="square" rtlCol="0">
            <a:spAutoFit/>
          </a:bodyPr>
          <a:lstStyle/>
          <a:p>
            <a:pPr algn="ctr"/>
            <a:r>
              <a:rPr lang="pt-BR" dirty="0" smtClean="0">
                <a:solidFill>
                  <a:srgbClr val="0070C0"/>
                </a:solidFill>
              </a:rPr>
              <a:t>Dependência crítica.</a:t>
            </a:r>
            <a:endParaRPr lang="pt-BR" dirty="0">
              <a:solidFill>
                <a:srgbClr val="0070C0"/>
              </a:solidFill>
            </a:endParaRPr>
          </a:p>
        </p:txBody>
      </p:sp>
      <p:cxnSp>
        <p:nvCxnSpPr>
          <p:cNvPr id="41" name="Conector angulado 40"/>
          <p:cNvCxnSpPr>
            <a:stCxn id="39" idx="3"/>
          </p:cNvCxnSpPr>
          <p:nvPr/>
        </p:nvCxnSpPr>
        <p:spPr>
          <a:xfrm flipV="1">
            <a:off x="2399069" y="5390299"/>
            <a:ext cx="691295" cy="84223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CaixaDeTexto 42"/>
          <p:cNvSpPr txBox="1"/>
          <p:nvPr/>
        </p:nvSpPr>
        <p:spPr>
          <a:xfrm>
            <a:off x="4830674" y="6047867"/>
            <a:ext cx="1740310" cy="369332"/>
          </a:xfrm>
          <a:prstGeom prst="rect">
            <a:avLst/>
          </a:prstGeom>
          <a:noFill/>
          <a:ln>
            <a:solidFill>
              <a:srgbClr val="0070C0"/>
            </a:solidFill>
          </a:ln>
        </p:spPr>
        <p:txBody>
          <a:bodyPr wrap="square" rtlCol="0">
            <a:spAutoFit/>
          </a:bodyPr>
          <a:lstStyle/>
          <a:p>
            <a:pPr algn="ctr"/>
            <a:r>
              <a:rPr lang="pt-BR" dirty="0" smtClean="0">
                <a:solidFill>
                  <a:srgbClr val="0070C0"/>
                </a:solidFill>
              </a:rPr>
              <a:t>O quê viabiliza.</a:t>
            </a:r>
            <a:endParaRPr lang="pt-BR" dirty="0">
              <a:solidFill>
                <a:srgbClr val="0070C0"/>
              </a:solidFill>
            </a:endParaRPr>
          </a:p>
        </p:txBody>
      </p:sp>
      <p:cxnSp>
        <p:nvCxnSpPr>
          <p:cNvPr id="44" name="Conector angulado 43"/>
          <p:cNvCxnSpPr>
            <a:stCxn id="43" idx="3"/>
          </p:cNvCxnSpPr>
          <p:nvPr/>
        </p:nvCxnSpPr>
        <p:spPr>
          <a:xfrm flipV="1">
            <a:off x="6570984" y="5393048"/>
            <a:ext cx="833907" cy="83948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CaixaDeTexto 51"/>
          <p:cNvSpPr txBox="1"/>
          <p:nvPr/>
        </p:nvSpPr>
        <p:spPr>
          <a:xfrm>
            <a:off x="10004324" y="5385257"/>
            <a:ext cx="1440424" cy="646331"/>
          </a:xfrm>
          <a:prstGeom prst="rect">
            <a:avLst/>
          </a:prstGeom>
          <a:noFill/>
          <a:ln>
            <a:solidFill>
              <a:srgbClr val="0070C0"/>
            </a:solidFill>
          </a:ln>
        </p:spPr>
        <p:txBody>
          <a:bodyPr wrap="square" rtlCol="0">
            <a:spAutoFit/>
          </a:bodyPr>
          <a:lstStyle/>
          <a:p>
            <a:pPr algn="ctr"/>
            <a:r>
              <a:rPr lang="pt-BR" dirty="0" smtClean="0">
                <a:solidFill>
                  <a:srgbClr val="0070C0"/>
                </a:solidFill>
              </a:rPr>
              <a:t>Prazo estimado.</a:t>
            </a:r>
            <a:endParaRPr lang="pt-BR" dirty="0">
              <a:solidFill>
                <a:srgbClr val="0070C0"/>
              </a:solidFill>
            </a:endParaRPr>
          </a:p>
        </p:txBody>
      </p:sp>
      <p:sp>
        <p:nvSpPr>
          <p:cNvPr id="53" name="CaixaDeTexto 52"/>
          <p:cNvSpPr txBox="1"/>
          <p:nvPr/>
        </p:nvSpPr>
        <p:spPr>
          <a:xfrm>
            <a:off x="10004324" y="4630464"/>
            <a:ext cx="1740310" cy="646331"/>
          </a:xfrm>
          <a:prstGeom prst="rect">
            <a:avLst/>
          </a:prstGeom>
          <a:noFill/>
          <a:ln>
            <a:solidFill>
              <a:srgbClr val="0070C0"/>
            </a:solidFill>
          </a:ln>
        </p:spPr>
        <p:txBody>
          <a:bodyPr wrap="square" rtlCol="0">
            <a:spAutoFit/>
          </a:bodyPr>
          <a:lstStyle/>
          <a:p>
            <a:pPr algn="ctr"/>
            <a:r>
              <a:rPr lang="pt-BR" dirty="0" smtClean="0">
                <a:solidFill>
                  <a:srgbClr val="0070C0"/>
                </a:solidFill>
              </a:rPr>
              <a:t>Prioridade para a VPTD.</a:t>
            </a:r>
            <a:endParaRPr lang="pt-BR" dirty="0">
              <a:solidFill>
                <a:srgbClr val="0070C0"/>
              </a:solidFill>
            </a:endParaRPr>
          </a:p>
        </p:txBody>
      </p:sp>
      <p:cxnSp>
        <p:nvCxnSpPr>
          <p:cNvPr id="55" name="Conector de seta reta 54"/>
          <p:cNvCxnSpPr>
            <a:stCxn id="53" idx="1"/>
          </p:cNvCxnSpPr>
          <p:nvPr/>
        </p:nvCxnSpPr>
        <p:spPr>
          <a:xfrm flipH="1" flipV="1">
            <a:off x="8833075" y="4712336"/>
            <a:ext cx="1171249" cy="241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ector de seta reta 55"/>
          <p:cNvCxnSpPr>
            <a:stCxn id="52" idx="1"/>
          </p:cNvCxnSpPr>
          <p:nvPr/>
        </p:nvCxnSpPr>
        <p:spPr>
          <a:xfrm flipH="1" flipV="1">
            <a:off x="7664930" y="4953630"/>
            <a:ext cx="2339394" cy="754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2031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aixaDeTexto 29">
            <a:hlinkClick r:id="rId3" action="ppaction://hlinksldjump"/>
          </p:cNvPr>
          <p:cNvSpPr txBox="1"/>
          <p:nvPr/>
        </p:nvSpPr>
        <p:spPr>
          <a:xfrm>
            <a:off x="4247535" y="1674137"/>
            <a:ext cx="5375193" cy="323165"/>
          </a:xfrm>
          <a:prstGeom prst="rect">
            <a:avLst/>
          </a:prstGeom>
          <a:solidFill>
            <a:srgbClr val="0070C0"/>
          </a:solidFill>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03 - Indicadores para Gestão de Serviços</a:t>
            </a:r>
            <a:endParaRPr lang="pt-BR" sz="1500" b="1" dirty="0">
              <a:solidFill>
                <a:schemeClr val="bg1"/>
              </a:solidFill>
            </a:endParaRPr>
          </a:p>
        </p:txBody>
      </p:sp>
      <p:sp>
        <p:nvSpPr>
          <p:cNvPr id="16" name="CaixaDeTexto 15"/>
          <p:cNvSpPr txBox="1"/>
          <p:nvPr/>
        </p:nvSpPr>
        <p:spPr>
          <a:xfrm rot="16200000">
            <a:off x="11213181"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2" y="-14827"/>
            <a:ext cx="11203553"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Plano de Ação – </a:t>
            </a:r>
            <a:r>
              <a:rPr lang="pt-BR" sz="2400" b="1" i="1" dirty="0" smtClean="0">
                <a:solidFill>
                  <a:srgbClr val="0070C0"/>
                </a:solidFill>
              </a:rPr>
              <a:t>Timeline</a:t>
            </a:r>
            <a:r>
              <a:rPr lang="pt-BR" sz="2400" b="1" dirty="0" smtClean="0">
                <a:solidFill>
                  <a:srgbClr val="0070C0"/>
                </a:solidFill>
              </a:rPr>
              <a:t> Proposto para 2015</a:t>
            </a:r>
            <a:endParaRPr lang="pt-BR" sz="2400" b="1" dirty="0">
              <a:solidFill>
                <a:srgbClr val="0070C0"/>
              </a:solidFill>
            </a:endParaRPr>
          </a:p>
        </p:txBody>
      </p:sp>
      <p:graphicFrame>
        <p:nvGraphicFramePr>
          <p:cNvPr id="9" name="Diagrama 8"/>
          <p:cNvGraphicFramePr/>
          <p:nvPr>
            <p:extLst/>
          </p:nvPr>
        </p:nvGraphicFramePr>
        <p:xfrm>
          <a:off x="228601" y="3144216"/>
          <a:ext cx="11750856" cy="23024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7" name="CaixaDeTexto 26">
            <a:hlinkClick r:id="rId9" action="ppaction://hlinksldjump"/>
          </p:cNvPr>
          <p:cNvSpPr txBox="1"/>
          <p:nvPr/>
        </p:nvSpPr>
        <p:spPr>
          <a:xfrm>
            <a:off x="1435510" y="860222"/>
            <a:ext cx="6695767" cy="327150"/>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01 - Catálogo de Serviços</a:t>
            </a:r>
          </a:p>
        </p:txBody>
      </p:sp>
      <p:sp>
        <p:nvSpPr>
          <p:cNvPr id="31" name="CaixaDeTexto 30">
            <a:hlinkClick r:id="rId10" action="ppaction://hlinksldjump"/>
          </p:cNvPr>
          <p:cNvSpPr txBox="1"/>
          <p:nvPr/>
        </p:nvSpPr>
        <p:spPr>
          <a:xfrm>
            <a:off x="2721122" y="1267460"/>
            <a:ext cx="6891134" cy="323165"/>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02- Classificação de Chamados</a:t>
            </a:r>
            <a:endParaRPr lang="pt-BR" sz="1500" b="1" dirty="0">
              <a:solidFill>
                <a:schemeClr val="bg1"/>
              </a:solidFill>
            </a:endParaRPr>
          </a:p>
        </p:txBody>
      </p:sp>
      <p:sp>
        <p:nvSpPr>
          <p:cNvPr id="32" name="CaixaDeTexto 31">
            <a:hlinkClick r:id="rId11" action="ppaction://hlinksldjump"/>
          </p:cNvPr>
          <p:cNvSpPr txBox="1"/>
          <p:nvPr/>
        </p:nvSpPr>
        <p:spPr>
          <a:xfrm>
            <a:off x="2721122" y="2084728"/>
            <a:ext cx="9676716" cy="323165"/>
          </a:xfrm>
          <a:prstGeom prst="rect">
            <a:avLst/>
          </a:prstGeom>
          <a:solidFill>
            <a:srgbClr val="0070C0"/>
          </a:solidFill>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04 – Configuração dos Serviços</a:t>
            </a:r>
            <a:endParaRPr lang="pt-BR" sz="1500" b="1" dirty="0">
              <a:solidFill>
                <a:schemeClr val="bg1"/>
              </a:solidFill>
            </a:endParaRPr>
          </a:p>
        </p:txBody>
      </p:sp>
      <p:sp>
        <p:nvSpPr>
          <p:cNvPr id="33" name="CaixaDeTexto 32">
            <a:hlinkClick r:id="rId12" action="ppaction://hlinksldjump"/>
          </p:cNvPr>
          <p:cNvSpPr txBox="1"/>
          <p:nvPr/>
        </p:nvSpPr>
        <p:spPr>
          <a:xfrm>
            <a:off x="1435509" y="5368298"/>
            <a:ext cx="8101779" cy="330043"/>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11 – Gestão por Competências</a:t>
            </a:r>
          </a:p>
        </p:txBody>
      </p:sp>
      <p:sp>
        <p:nvSpPr>
          <p:cNvPr id="34" name="CaixaDeTexto 33">
            <a:hlinkClick r:id="rId13" action="ppaction://hlinksldjump"/>
          </p:cNvPr>
          <p:cNvSpPr txBox="1"/>
          <p:nvPr/>
        </p:nvSpPr>
        <p:spPr>
          <a:xfrm>
            <a:off x="4149212" y="5782788"/>
            <a:ext cx="5388077" cy="323165"/>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12 – Dinâmica Operacional</a:t>
            </a:r>
          </a:p>
        </p:txBody>
      </p:sp>
      <p:sp>
        <p:nvSpPr>
          <p:cNvPr id="36" name="CaixaDeTexto 35">
            <a:hlinkClick r:id="rId14" action="ppaction://hlinksldjump"/>
          </p:cNvPr>
          <p:cNvSpPr txBox="1"/>
          <p:nvPr/>
        </p:nvSpPr>
        <p:spPr>
          <a:xfrm>
            <a:off x="4149212" y="6190400"/>
            <a:ext cx="5388077" cy="323165"/>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13 – Estrutura Organizacional Radial</a:t>
            </a:r>
          </a:p>
        </p:txBody>
      </p:sp>
      <p:sp>
        <p:nvSpPr>
          <p:cNvPr id="38" name="CaixaDeTexto 37">
            <a:hlinkClick r:id="rId15" action="ppaction://hlinksldjump"/>
          </p:cNvPr>
          <p:cNvSpPr txBox="1"/>
          <p:nvPr/>
        </p:nvSpPr>
        <p:spPr>
          <a:xfrm>
            <a:off x="4247536" y="2905704"/>
            <a:ext cx="7376076" cy="327553"/>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06 – Monitoração de Serviços de Negócios</a:t>
            </a:r>
          </a:p>
        </p:txBody>
      </p:sp>
      <p:sp>
        <p:nvSpPr>
          <p:cNvPr id="20" name="CaixaDeTexto 19"/>
          <p:cNvSpPr txBox="1"/>
          <p:nvPr/>
        </p:nvSpPr>
        <p:spPr>
          <a:xfrm rot="16200000">
            <a:off x="-197252" y="1767043"/>
            <a:ext cx="1400503" cy="553998"/>
          </a:xfrm>
          <a:prstGeom prst="rect">
            <a:avLst/>
          </a:prstGeom>
          <a:solidFill>
            <a:schemeClr val="bg2">
              <a:lumMod val="50000"/>
            </a:schemeClr>
          </a:solidFill>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Gestão de</a:t>
            </a:r>
          </a:p>
          <a:p>
            <a:pPr algn="ctr"/>
            <a:r>
              <a:rPr lang="pt-BR" sz="1500" b="1" dirty="0" smtClean="0">
                <a:solidFill>
                  <a:schemeClr val="bg1"/>
                </a:solidFill>
              </a:rPr>
              <a:t> Serviços</a:t>
            </a:r>
            <a:endParaRPr lang="pt-BR" sz="1500" b="1" dirty="0">
              <a:solidFill>
                <a:schemeClr val="bg1"/>
              </a:solidFill>
            </a:endParaRPr>
          </a:p>
        </p:txBody>
      </p:sp>
      <p:sp>
        <p:nvSpPr>
          <p:cNvPr id="2" name="CaixaDeTexto 1"/>
          <p:cNvSpPr txBox="1"/>
          <p:nvPr/>
        </p:nvSpPr>
        <p:spPr>
          <a:xfrm>
            <a:off x="11346425" y="4141539"/>
            <a:ext cx="554373" cy="307777"/>
          </a:xfrm>
          <a:prstGeom prst="rect">
            <a:avLst/>
          </a:prstGeom>
          <a:noFill/>
        </p:spPr>
        <p:txBody>
          <a:bodyPr wrap="square" rtlCol="0">
            <a:spAutoFit/>
          </a:bodyPr>
          <a:lstStyle/>
          <a:p>
            <a:r>
              <a:rPr lang="pt-BR" sz="1400" b="1" dirty="0" smtClean="0">
                <a:solidFill>
                  <a:srgbClr val="0070C0"/>
                </a:solidFill>
              </a:rPr>
              <a:t>2016</a:t>
            </a:r>
            <a:endParaRPr lang="pt-BR" sz="1400" b="1" dirty="0">
              <a:solidFill>
                <a:srgbClr val="0070C0"/>
              </a:solidFill>
            </a:endParaRPr>
          </a:p>
        </p:txBody>
      </p:sp>
      <p:sp>
        <p:nvSpPr>
          <p:cNvPr id="21" name="CaixaDeTexto 19"/>
          <p:cNvSpPr txBox="1"/>
          <p:nvPr/>
        </p:nvSpPr>
        <p:spPr>
          <a:xfrm rot="16200000">
            <a:off x="-242649" y="5675564"/>
            <a:ext cx="1400506" cy="553998"/>
          </a:xfrm>
          <a:prstGeom prst="rect">
            <a:avLst/>
          </a:prstGeom>
          <a:solidFill>
            <a:schemeClr val="bg2">
              <a:lumMod val="50000"/>
            </a:schemeClr>
          </a:solidFill>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Dinâmica Operacional</a:t>
            </a:r>
            <a:endParaRPr lang="pt-BR" sz="1500" b="1" dirty="0">
              <a:solidFill>
                <a:schemeClr val="bg1"/>
              </a:solidFill>
            </a:endParaRPr>
          </a:p>
        </p:txBody>
      </p:sp>
      <p:sp>
        <p:nvSpPr>
          <p:cNvPr id="22" name="CaixaDeTexto 21"/>
          <p:cNvSpPr txBox="1"/>
          <p:nvPr/>
        </p:nvSpPr>
        <p:spPr>
          <a:xfrm>
            <a:off x="457416" y="4141539"/>
            <a:ext cx="554373" cy="307777"/>
          </a:xfrm>
          <a:prstGeom prst="rect">
            <a:avLst/>
          </a:prstGeom>
          <a:noFill/>
        </p:spPr>
        <p:txBody>
          <a:bodyPr wrap="square" rtlCol="0">
            <a:spAutoFit/>
          </a:bodyPr>
          <a:lstStyle/>
          <a:p>
            <a:r>
              <a:rPr lang="pt-BR" sz="1400" b="1" dirty="0" smtClean="0">
                <a:solidFill>
                  <a:srgbClr val="0070C0"/>
                </a:solidFill>
              </a:rPr>
              <a:t>2015</a:t>
            </a:r>
            <a:endParaRPr lang="pt-BR" sz="1400" b="1" dirty="0">
              <a:solidFill>
                <a:srgbClr val="0070C0"/>
              </a:solidFill>
            </a:endParaRPr>
          </a:p>
        </p:txBody>
      </p:sp>
      <p:sp>
        <p:nvSpPr>
          <p:cNvPr id="23" name="CaixaDeTexto 22">
            <a:hlinkClick r:id="rId16" action="ppaction://hlinksldjump"/>
          </p:cNvPr>
          <p:cNvSpPr txBox="1"/>
          <p:nvPr/>
        </p:nvSpPr>
        <p:spPr>
          <a:xfrm>
            <a:off x="7022645" y="2491214"/>
            <a:ext cx="5375193" cy="323165"/>
          </a:xfrm>
          <a:prstGeom prst="rect">
            <a:avLst/>
          </a:prstGeom>
          <a:solidFill>
            <a:srgbClr val="0070C0"/>
          </a:solidFill>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05 – Gestão de Ativos e Licenças</a:t>
            </a:r>
            <a:endParaRPr lang="pt-BR" sz="1500" b="1" dirty="0">
              <a:solidFill>
                <a:schemeClr val="bg1"/>
              </a:solidFill>
            </a:endParaRPr>
          </a:p>
        </p:txBody>
      </p:sp>
      <p:sp>
        <p:nvSpPr>
          <p:cNvPr id="18" name="CaixaDeTexto 17">
            <a:hlinkClick r:id="rId17" action="ppaction://hlinksldjump"/>
          </p:cNvPr>
          <p:cNvSpPr txBox="1"/>
          <p:nvPr/>
        </p:nvSpPr>
        <p:spPr>
          <a:xfrm>
            <a:off x="6862916" y="3310186"/>
            <a:ext cx="5534922" cy="333662"/>
          </a:xfrm>
          <a:prstGeom prst="rect">
            <a:avLst/>
          </a:prstGeom>
          <a:solidFill>
            <a:srgbClr val="0070C0"/>
          </a:solidFill>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07 – Metrô de Processos</a:t>
            </a:r>
            <a:endParaRPr lang="pt-BR" sz="1500" b="1" dirty="0">
              <a:solidFill>
                <a:schemeClr val="bg1"/>
              </a:solidFill>
            </a:endParaRPr>
          </a:p>
        </p:txBody>
      </p:sp>
    </p:spTree>
    <p:extLst>
      <p:ext uri="{BB962C8B-B14F-4D97-AF65-F5344CB8AC3E}">
        <p14:creationId xmlns:p14="http://schemas.microsoft.com/office/powerpoint/2010/main" val="2899924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1000"/>
                                        <p:tgtEl>
                                          <p:spTgt spid="22"/>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childTnLst>
                          </p:cTn>
                        </p:par>
                        <p:par>
                          <p:cTn id="14" fill="hold">
                            <p:stCondLst>
                              <p:cond delay="1250"/>
                            </p:stCondLst>
                            <p:childTnLst>
                              <p:par>
                                <p:cTn id="15" presetID="10" presetClass="entr" presetSubtype="0" fill="hold" grpId="0" nodeType="afterEffect">
                                  <p:stCondLst>
                                    <p:cond delay="25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1000"/>
                                        <p:tgtEl>
                                          <p:spTgt spid="30"/>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1000"/>
                                        <p:tgtEl>
                                          <p:spTgt spid="27"/>
                                        </p:tgtEl>
                                      </p:cBhvr>
                                    </p:animEffect>
                                  </p:childTnLst>
                                </p:cTn>
                              </p:par>
                              <p:par>
                                <p:cTn id="21" presetID="10" presetClass="entr" presetSubtype="0" fill="hold" grpId="0" nodeType="withEffect">
                                  <p:stCondLst>
                                    <p:cond delay="25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1000"/>
                                        <p:tgtEl>
                                          <p:spTgt spid="31"/>
                                        </p:tgtEl>
                                      </p:cBhvr>
                                    </p:animEffect>
                                  </p:childTnLst>
                                </p:cTn>
                              </p:par>
                              <p:par>
                                <p:cTn id="24" presetID="10" presetClass="entr" presetSubtype="0" fill="hold" grpId="0" nodeType="withEffect">
                                  <p:stCondLst>
                                    <p:cond delay="25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1000"/>
                                        <p:tgtEl>
                                          <p:spTgt spid="32"/>
                                        </p:tgtEl>
                                      </p:cBhvr>
                                    </p:animEffect>
                                  </p:childTnLst>
                                </p:cTn>
                              </p:par>
                              <p:par>
                                <p:cTn id="27" presetID="10" presetClass="entr" presetSubtype="0" fill="hold" grpId="0" nodeType="withEffect">
                                  <p:stCondLst>
                                    <p:cond delay="25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1000"/>
                                        <p:tgtEl>
                                          <p:spTgt spid="38"/>
                                        </p:tgtEl>
                                      </p:cBhvr>
                                    </p:animEffect>
                                  </p:childTnLst>
                                </p:cTn>
                              </p:par>
                              <p:par>
                                <p:cTn id="30" presetID="10" presetClass="entr" presetSubtype="0" fill="hold" grpId="0" nodeType="withEffect">
                                  <p:stCondLst>
                                    <p:cond delay="25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childTnLst>
                                </p:cTn>
                              </p:par>
                              <p:par>
                                <p:cTn id="33" presetID="10" presetClass="entr" presetSubtype="0" fill="hold" grpId="0" nodeType="withEffect">
                                  <p:stCondLst>
                                    <p:cond delay="25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childTnLst>
                                </p:cTn>
                              </p:par>
                              <p:par>
                                <p:cTn id="36" presetID="10" presetClass="entr" presetSubtype="0" fill="hold" grpId="0" nodeType="withEffect">
                                  <p:stCondLst>
                                    <p:cond delay="25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1000"/>
                                        <p:tgtEl>
                                          <p:spTgt spid="18"/>
                                        </p:tgtEl>
                                      </p:cBhvr>
                                    </p:animEffect>
                                  </p:childTnLst>
                                </p:cTn>
                              </p:par>
                            </p:childTnLst>
                          </p:cTn>
                        </p:par>
                        <p:par>
                          <p:cTn id="39" fill="hold">
                            <p:stCondLst>
                              <p:cond delay="2500"/>
                            </p:stCondLst>
                            <p:childTnLst>
                              <p:par>
                                <p:cTn id="40" presetID="10" presetClass="entr" presetSubtype="0" fill="hold" grpId="0" nodeType="afterEffect">
                                  <p:stCondLst>
                                    <p:cond delay="25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1000"/>
                                        <p:tgtEl>
                                          <p:spTgt spid="33"/>
                                        </p:tgtEl>
                                      </p:cBhvr>
                                    </p:animEffect>
                                  </p:childTnLst>
                                </p:cTn>
                              </p:par>
                              <p:par>
                                <p:cTn id="43" presetID="10" presetClass="entr" presetSubtype="0" fill="hold" grpId="0" nodeType="withEffect">
                                  <p:stCondLst>
                                    <p:cond delay="25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1000"/>
                                        <p:tgtEl>
                                          <p:spTgt spid="34"/>
                                        </p:tgtEl>
                                      </p:cBhvr>
                                    </p:animEffect>
                                  </p:childTnLst>
                                </p:cTn>
                              </p:par>
                              <p:par>
                                <p:cTn id="46" presetID="10" presetClass="entr" presetSubtype="0" fill="hold" grpId="0" nodeType="withEffect">
                                  <p:stCondLst>
                                    <p:cond delay="25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1000"/>
                                        <p:tgtEl>
                                          <p:spTgt spid="36"/>
                                        </p:tgtEl>
                                      </p:cBhvr>
                                    </p:animEffect>
                                  </p:childTnLst>
                                </p:cTn>
                              </p:par>
                              <p:par>
                                <p:cTn id="49" presetID="10" presetClass="entr" presetSubtype="0" fill="hold" grpId="0" nodeType="withEffect">
                                  <p:stCondLst>
                                    <p:cond delay="25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Graphic spid="9" grpId="0">
        <p:bldAsOne/>
      </p:bldGraphic>
      <p:bldP spid="27" grpId="0" animBg="1"/>
      <p:bldP spid="31" grpId="0" animBg="1"/>
      <p:bldP spid="32" grpId="0" animBg="1"/>
      <p:bldP spid="33" grpId="0" animBg="1"/>
      <p:bldP spid="34" grpId="0" animBg="1"/>
      <p:bldP spid="36" grpId="0" animBg="1"/>
      <p:bldP spid="38" grpId="0" animBg="1"/>
      <p:bldP spid="20" grpId="0" animBg="1"/>
      <p:bldP spid="2" grpId="0"/>
      <p:bldP spid="21" grpId="0" animBg="1"/>
      <p:bldP spid="22" grpId="0"/>
      <p:bldP spid="23"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aixaDeTexto 29">
            <a:hlinkClick r:id="rId3" action="ppaction://hlinksldjump"/>
          </p:cNvPr>
          <p:cNvSpPr txBox="1"/>
          <p:nvPr/>
        </p:nvSpPr>
        <p:spPr>
          <a:xfrm>
            <a:off x="-268131" y="1985037"/>
            <a:ext cx="10218375" cy="321215"/>
          </a:xfrm>
          <a:prstGeom prst="rect">
            <a:avLst/>
          </a:prstGeom>
          <a:solidFill>
            <a:srgbClr val="0070C0"/>
          </a:solidFill>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07 – Metrô de Processos</a:t>
            </a:r>
            <a:endParaRPr lang="pt-BR" sz="1500" b="1" dirty="0">
              <a:solidFill>
                <a:schemeClr val="bg1"/>
              </a:solidFill>
            </a:endParaRPr>
          </a:p>
        </p:txBody>
      </p:sp>
      <p:sp>
        <p:nvSpPr>
          <p:cNvPr id="16" name="CaixaDeTexto 15"/>
          <p:cNvSpPr txBox="1"/>
          <p:nvPr/>
        </p:nvSpPr>
        <p:spPr>
          <a:xfrm rot="16200000">
            <a:off x="11213181"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graphicFrame>
        <p:nvGraphicFramePr>
          <p:cNvPr id="9" name="Diagrama 8"/>
          <p:cNvGraphicFramePr/>
          <p:nvPr>
            <p:extLst>
              <p:ext uri="{D42A27DB-BD31-4B8C-83A1-F6EECF244321}">
                <p14:modId xmlns:p14="http://schemas.microsoft.com/office/powerpoint/2010/main" val="2710804108"/>
              </p:ext>
            </p:extLst>
          </p:nvPr>
        </p:nvGraphicFramePr>
        <p:xfrm>
          <a:off x="228601" y="3163882"/>
          <a:ext cx="11750856" cy="23024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7" name="CaixaDeTexto 26">
            <a:hlinkClick r:id="rId9" action="ppaction://hlinksldjump"/>
          </p:cNvPr>
          <p:cNvSpPr txBox="1"/>
          <p:nvPr/>
        </p:nvSpPr>
        <p:spPr>
          <a:xfrm>
            <a:off x="2900517" y="2877644"/>
            <a:ext cx="7049727" cy="323165"/>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09 – Gestão Financeira dos Serviços</a:t>
            </a:r>
          </a:p>
        </p:txBody>
      </p:sp>
      <p:sp>
        <p:nvSpPr>
          <p:cNvPr id="31" name="CaixaDeTexto 30">
            <a:hlinkClick r:id="rId10" action="ppaction://hlinksldjump"/>
          </p:cNvPr>
          <p:cNvSpPr txBox="1"/>
          <p:nvPr/>
        </p:nvSpPr>
        <p:spPr>
          <a:xfrm>
            <a:off x="1109259" y="2434284"/>
            <a:ext cx="7090844" cy="323165"/>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08 – Portfólio de Serviços</a:t>
            </a:r>
            <a:endParaRPr lang="pt-BR" sz="1500" b="1" dirty="0">
              <a:solidFill>
                <a:schemeClr val="bg1"/>
              </a:solidFill>
            </a:endParaRPr>
          </a:p>
        </p:txBody>
      </p:sp>
      <p:sp>
        <p:nvSpPr>
          <p:cNvPr id="32" name="CaixaDeTexto 31">
            <a:hlinkClick r:id="rId11" action="ppaction://hlinksldjump"/>
          </p:cNvPr>
          <p:cNvSpPr txBox="1"/>
          <p:nvPr/>
        </p:nvSpPr>
        <p:spPr>
          <a:xfrm>
            <a:off x="-268130" y="1018950"/>
            <a:ext cx="4922811" cy="323165"/>
          </a:xfrm>
          <a:prstGeom prst="rect">
            <a:avLst/>
          </a:prstGeom>
          <a:solidFill>
            <a:srgbClr val="0070C0"/>
          </a:solidFill>
          <a:ln>
            <a:solidFill>
              <a:schemeClr val="bg1">
                <a:lumMod val="75000"/>
              </a:schemeClr>
            </a:solidFill>
            <a:prstDash val="sysDash"/>
          </a:ln>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04 – Configuração dos Serviços</a:t>
            </a:r>
            <a:endParaRPr lang="pt-BR" sz="1500" b="1" dirty="0">
              <a:solidFill>
                <a:schemeClr val="bg1"/>
              </a:solidFill>
            </a:endParaRPr>
          </a:p>
        </p:txBody>
      </p:sp>
      <p:sp>
        <p:nvSpPr>
          <p:cNvPr id="22" name="CaixaDeTexto 21"/>
          <p:cNvSpPr txBox="1"/>
          <p:nvPr/>
        </p:nvSpPr>
        <p:spPr>
          <a:xfrm>
            <a:off x="424124" y="4161206"/>
            <a:ext cx="554373" cy="307777"/>
          </a:xfrm>
          <a:prstGeom prst="rect">
            <a:avLst/>
          </a:prstGeom>
          <a:noFill/>
        </p:spPr>
        <p:txBody>
          <a:bodyPr wrap="square" rtlCol="0">
            <a:spAutoFit/>
          </a:bodyPr>
          <a:lstStyle/>
          <a:p>
            <a:r>
              <a:rPr lang="pt-BR" sz="1400" b="1" dirty="0" smtClean="0">
                <a:solidFill>
                  <a:srgbClr val="0070C0"/>
                </a:solidFill>
              </a:rPr>
              <a:t>2016</a:t>
            </a:r>
            <a:endParaRPr lang="pt-BR" sz="1400" b="1" dirty="0">
              <a:solidFill>
                <a:srgbClr val="0070C0"/>
              </a:solidFill>
            </a:endParaRPr>
          </a:p>
        </p:txBody>
      </p:sp>
      <p:sp>
        <p:nvSpPr>
          <p:cNvPr id="23" name="CaixaDeTexto 22">
            <a:hlinkClick r:id="rId12" action="ppaction://hlinksldjump"/>
          </p:cNvPr>
          <p:cNvSpPr txBox="1"/>
          <p:nvPr/>
        </p:nvSpPr>
        <p:spPr>
          <a:xfrm>
            <a:off x="-268130" y="1497852"/>
            <a:ext cx="3168647" cy="323165"/>
          </a:xfrm>
          <a:prstGeom prst="rect">
            <a:avLst/>
          </a:prstGeom>
          <a:solidFill>
            <a:srgbClr val="0070C0"/>
          </a:solidFill>
          <a:ln>
            <a:solidFill>
              <a:schemeClr val="bg1">
                <a:lumMod val="75000"/>
              </a:schemeClr>
            </a:solidFill>
            <a:prstDash val="sysDash"/>
          </a:ln>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05 – Gestão de Ativos e Licenças</a:t>
            </a:r>
            <a:endParaRPr lang="pt-BR" sz="1500" b="1" dirty="0">
              <a:solidFill>
                <a:schemeClr val="bg1"/>
              </a:solidFill>
            </a:endParaRPr>
          </a:p>
        </p:txBody>
      </p:sp>
      <p:sp>
        <p:nvSpPr>
          <p:cNvPr id="18" name="Título 1"/>
          <p:cNvSpPr txBox="1">
            <a:spLocks/>
          </p:cNvSpPr>
          <p:nvPr/>
        </p:nvSpPr>
        <p:spPr>
          <a:xfrm>
            <a:off x="142872" y="-14829"/>
            <a:ext cx="11203553"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Plano de Ação – </a:t>
            </a:r>
            <a:r>
              <a:rPr lang="pt-BR" sz="2400" b="1" i="1" dirty="0" smtClean="0">
                <a:solidFill>
                  <a:srgbClr val="0070C0"/>
                </a:solidFill>
              </a:rPr>
              <a:t>Timeline</a:t>
            </a:r>
            <a:r>
              <a:rPr lang="pt-BR" sz="2400" b="1" dirty="0" smtClean="0">
                <a:solidFill>
                  <a:srgbClr val="0070C0"/>
                </a:solidFill>
              </a:rPr>
              <a:t> Proposto para 2016</a:t>
            </a:r>
            <a:endParaRPr lang="pt-BR" sz="2400" b="1" dirty="0">
              <a:solidFill>
                <a:srgbClr val="0070C0"/>
              </a:solidFill>
            </a:endParaRPr>
          </a:p>
        </p:txBody>
      </p:sp>
      <p:sp>
        <p:nvSpPr>
          <p:cNvPr id="29" name="CaixaDeTexto 28"/>
          <p:cNvSpPr txBox="1"/>
          <p:nvPr/>
        </p:nvSpPr>
        <p:spPr>
          <a:xfrm rot="16200000">
            <a:off x="-194651" y="2186632"/>
            <a:ext cx="1400503" cy="553998"/>
          </a:xfrm>
          <a:prstGeom prst="rect">
            <a:avLst/>
          </a:prstGeom>
          <a:solidFill>
            <a:schemeClr val="bg2">
              <a:lumMod val="50000"/>
            </a:schemeClr>
          </a:solidFill>
          <a:scene3d>
            <a:camera prst="orthographicFront"/>
            <a:lightRig rig="threePt" dir="t"/>
          </a:scene3d>
          <a:sp3d>
            <a:bevelT/>
          </a:sp3d>
        </p:spPr>
        <p:txBody>
          <a:bodyPr wrap="square" rtlCol="0" anchor="ctr">
            <a:spAutoFit/>
          </a:bodyPr>
          <a:lstStyle/>
          <a:p>
            <a:pPr algn="ctr"/>
            <a:r>
              <a:rPr lang="pt-BR" sz="1500" b="1" dirty="0" smtClean="0">
                <a:solidFill>
                  <a:schemeClr val="bg1"/>
                </a:solidFill>
              </a:rPr>
              <a:t>Gestão de</a:t>
            </a:r>
          </a:p>
          <a:p>
            <a:pPr algn="ctr"/>
            <a:r>
              <a:rPr lang="pt-BR" sz="1500" b="1" dirty="0" smtClean="0">
                <a:solidFill>
                  <a:schemeClr val="bg1"/>
                </a:solidFill>
              </a:rPr>
              <a:t> Serviços</a:t>
            </a:r>
            <a:endParaRPr lang="pt-BR" sz="1500" b="1" dirty="0">
              <a:solidFill>
                <a:schemeClr val="bg1"/>
              </a:solidFill>
            </a:endParaRPr>
          </a:p>
        </p:txBody>
      </p:sp>
      <p:sp>
        <p:nvSpPr>
          <p:cNvPr id="37" name="CaixaDeTexto 36">
            <a:hlinkClick r:id="rId13" action="ppaction://hlinksldjump"/>
          </p:cNvPr>
          <p:cNvSpPr txBox="1"/>
          <p:nvPr/>
        </p:nvSpPr>
        <p:spPr>
          <a:xfrm>
            <a:off x="4552334" y="3316999"/>
            <a:ext cx="5427098" cy="323165"/>
          </a:xfrm>
          <a:prstGeom prst="rect">
            <a:avLst/>
          </a:prstGeom>
          <a:solidFill>
            <a:srgbClr val="0070C0"/>
          </a:solidFill>
          <a:scene3d>
            <a:camera prst="orthographicFront"/>
            <a:lightRig rig="threePt" dir="t"/>
          </a:scene3d>
          <a:sp3d>
            <a:bevelT/>
          </a:sp3d>
        </p:spPr>
        <p:txBody>
          <a:bodyPr wrap="square" rtlCol="0">
            <a:spAutoFit/>
          </a:bodyPr>
          <a:lstStyle/>
          <a:p>
            <a:pPr algn="ctr"/>
            <a:r>
              <a:rPr lang="pt-BR" sz="1500" b="1" dirty="0" smtClean="0">
                <a:solidFill>
                  <a:schemeClr val="bg1"/>
                </a:solidFill>
              </a:rPr>
              <a:t>10 – P&amp;D em Infraestrutura Digital</a:t>
            </a:r>
          </a:p>
        </p:txBody>
      </p:sp>
    </p:spTree>
    <p:extLst>
      <p:ext uri="{BB962C8B-B14F-4D97-AF65-F5344CB8AC3E}">
        <p14:creationId xmlns:p14="http://schemas.microsoft.com/office/powerpoint/2010/main" val="3482032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1000"/>
                                        <p:tgtEl>
                                          <p:spTgt spid="22"/>
                                        </p:tgtEl>
                                      </p:cBhvr>
                                    </p:animEffect>
                                  </p:childTnLst>
                                </p:cTn>
                              </p:par>
                            </p:childTnLst>
                          </p:cTn>
                        </p:par>
                        <p:par>
                          <p:cTn id="11" fill="hold">
                            <p:stCondLst>
                              <p:cond delay="1000"/>
                            </p:stCondLst>
                            <p:childTnLst>
                              <p:par>
                                <p:cTn id="12" presetID="10" presetClass="entr" presetSubtype="0" fill="hold" grpId="0" nodeType="afterEffect">
                                  <p:stCondLst>
                                    <p:cond delay="25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childTnLst>
                                </p:cTn>
                              </p:par>
                              <p:par>
                                <p:cTn id="15" presetID="10" presetClass="entr" presetSubtype="0" fill="hold" grpId="0" nodeType="withEffect">
                                  <p:stCondLst>
                                    <p:cond delay="25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1000"/>
                                        <p:tgtEl>
                                          <p:spTgt spid="29"/>
                                        </p:tgtEl>
                                      </p:cBhvr>
                                    </p:animEffect>
                                  </p:childTnLst>
                                </p:cTn>
                              </p:par>
                              <p:par>
                                <p:cTn id="21" presetID="10" presetClass="entr" presetSubtype="0"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1000"/>
                                        <p:tgtEl>
                                          <p:spTgt spid="30"/>
                                        </p:tgtEl>
                                      </p:cBhvr>
                                    </p:animEffect>
                                  </p:childTnLst>
                                </p:cTn>
                              </p:par>
                              <p:par>
                                <p:cTn id="24" presetID="10" presetClass="entr" presetSubtype="0" fill="hold" grpId="0" nodeType="withEffect">
                                  <p:stCondLst>
                                    <p:cond delay="25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1000"/>
                                        <p:tgtEl>
                                          <p:spTgt spid="27"/>
                                        </p:tgtEl>
                                      </p:cBhvr>
                                    </p:animEffect>
                                  </p:childTnLst>
                                </p:cTn>
                              </p:par>
                              <p:par>
                                <p:cTn id="27" presetID="10" presetClass="entr" presetSubtype="0" fill="hold" grpId="0" nodeType="withEffect">
                                  <p:stCondLst>
                                    <p:cond delay="25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childTnLst>
                                </p:cTn>
                              </p:par>
                              <p:par>
                                <p:cTn id="30" presetID="10" presetClass="entr" presetSubtype="0" fill="hold" grpId="0" nodeType="withEffect">
                                  <p:stCondLst>
                                    <p:cond delay="25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Graphic spid="9" grpId="0">
        <p:bldAsOne/>
      </p:bldGraphic>
      <p:bldP spid="27" grpId="0" animBg="1"/>
      <p:bldP spid="31" grpId="0" animBg="1"/>
      <p:bldP spid="32" grpId="0" animBg="1"/>
      <p:bldP spid="22" grpId="0"/>
      <p:bldP spid="23" grpId="0" animBg="1"/>
      <p:bldP spid="29" grpId="0" animBg="1"/>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42873" y="-14827"/>
            <a:ext cx="9991726" cy="863600"/>
          </a:xfrm>
        </p:spPr>
        <p:txBody>
          <a:bodyPr>
            <a:normAutofit/>
          </a:bodyPr>
          <a:lstStyle/>
          <a:p>
            <a:r>
              <a:rPr lang="pt-BR" sz="2400" b="1" dirty="0">
                <a:solidFill>
                  <a:srgbClr val="0070C0"/>
                </a:solidFill>
              </a:rPr>
              <a:t>Natura – VPTD – Gestão de Serviços – Plano de Ação</a:t>
            </a:r>
            <a:endParaRPr lang="pt-BR" sz="2400" b="1" dirty="0">
              <a:solidFill>
                <a:srgbClr val="7030A0"/>
              </a:solidFill>
            </a:endParaRPr>
          </a:p>
        </p:txBody>
      </p:sp>
      <p:sp>
        <p:nvSpPr>
          <p:cNvPr id="3" name="CaixaDeTexto 2"/>
          <p:cNvSpPr txBox="1"/>
          <p:nvPr/>
        </p:nvSpPr>
        <p:spPr>
          <a:xfrm>
            <a:off x="142873" y="848773"/>
            <a:ext cx="4962527"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Catálogo de Serviços</a:t>
            </a:r>
            <a:endParaRPr lang="pt-BR" sz="3000" dirty="0">
              <a:solidFill>
                <a:schemeClr val="bg1"/>
              </a:solidFill>
            </a:endParaRPr>
          </a:p>
        </p:txBody>
      </p:sp>
      <p:sp>
        <p:nvSpPr>
          <p:cNvPr id="4" name="CaixaDeTexto 3"/>
          <p:cNvSpPr txBox="1"/>
          <p:nvPr/>
        </p:nvSpPr>
        <p:spPr>
          <a:xfrm>
            <a:off x="5200650" y="848773"/>
            <a:ext cx="6819900"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Documentar os Serviços e suas Funcionalidades para uso nos processos de Gerenciamento de Serviços de TD. </a:t>
            </a:r>
            <a:endParaRPr lang="pt-BR" sz="1600" dirty="0"/>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Estabelecer o senso comum sobre os Serviços provisionados, o Valor para o Negócio e os critérios de Garantia (SLA).</a:t>
            </a:r>
          </a:p>
          <a:p>
            <a:pPr marL="285750" indent="-285750">
              <a:buFont typeface="Wingdings" panose="05000000000000000000" pitchFamily="2" charset="2"/>
              <a:buChar char="§"/>
            </a:pPr>
            <a:r>
              <a:rPr lang="pt-BR" sz="1600" dirty="0" smtClean="0"/>
              <a:t>Viabilizar o vínculo no registro dos chamados (incidentes, requisições, mudanças, problemas...) do serviço relacionado.</a:t>
            </a:r>
          </a:p>
          <a:p>
            <a:pPr marL="285750" indent="-285750">
              <a:buFont typeface="Wingdings" panose="05000000000000000000" pitchFamily="2" charset="2"/>
              <a:buChar char="§"/>
            </a:pPr>
            <a:r>
              <a:rPr lang="pt-BR" sz="1600" dirty="0" smtClean="0"/>
              <a:t>Possibilitar gerenciamento da Configuração, Capacidade, Disponibilidade e Financeiro para Serviços de TD.</a:t>
            </a:r>
          </a:p>
          <a:p>
            <a:pPr marL="285750" indent="-285750">
              <a:buFont typeface="Wingdings" panose="05000000000000000000" pitchFamily="2" charset="2"/>
              <a:buChar char="§"/>
            </a:pPr>
            <a:r>
              <a:rPr lang="pt-BR" sz="1600" dirty="0" smtClean="0"/>
              <a:t>Esclarecer responsabilidades (Dono do Serviço e Gestor SLM) na TD.</a:t>
            </a:r>
          </a:p>
          <a:p>
            <a:pPr marL="285750" indent="-285750">
              <a:buFont typeface="Wingdings" panose="05000000000000000000" pitchFamily="2" charset="2"/>
              <a:buChar char="§"/>
            </a:pPr>
            <a:r>
              <a:rPr lang="pt-BR" sz="1600" dirty="0" smtClean="0"/>
              <a:t>Facilitar a definição de Indicadores relacionados aos Serviços.</a:t>
            </a:r>
            <a:endParaRPr lang="pt-BR" sz="1600" dirty="0"/>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Listar os Serviços e funcionalidades.</a:t>
            </a:r>
          </a:p>
          <a:p>
            <a:pPr marL="342900" indent="-342900">
              <a:buFont typeface="+mj-lt"/>
              <a:buAutoNum type="arabicPeriod"/>
            </a:pPr>
            <a:r>
              <a:rPr lang="pt-BR" sz="1600" dirty="0" smtClean="0"/>
              <a:t>Priorizar os Serviços com gestores da TD e GRP utilizando matriz GUT.</a:t>
            </a:r>
          </a:p>
          <a:p>
            <a:pPr marL="342900" indent="-342900">
              <a:buFont typeface="+mj-lt"/>
              <a:buAutoNum type="arabicPeriod"/>
            </a:pPr>
            <a:r>
              <a:rPr lang="pt-BR" sz="1600" dirty="0" smtClean="0"/>
              <a:t>Selecionar serviços prioritários.</a:t>
            </a:r>
          </a:p>
          <a:p>
            <a:pPr marL="342900" indent="-342900">
              <a:buFont typeface="+mj-lt"/>
              <a:buAutoNum type="arabicPeriod"/>
            </a:pPr>
            <a:r>
              <a:rPr lang="pt-BR" sz="1600" dirty="0" smtClean="0"/>
              <a:t>Definir Ficha de Serviço e atributos de gerenciamento.</a:t>
            </a:r>
          </a:p>
          <a:p>
            <a:pPr marL="342900" indent="-342900">
              <a:buFont typeface="+mj-lt"/>
              <a:buAutoNum type="arabicPeriod"/>
            </a:pPr>
            <a:r>
              <a:rPr lang="pt-BR" sz="1600" dirty="0" smtClean="0"/>
              <a:t>Coletar informações e preencher Fichas de Serviço.</a:t>
            </a:r>
          </a:p>
          <a:p>
            <a:pPr marL="342900" indent="-342900">
              <a:buFont typeface="+mj-lt"/>
              <a:buAutoNum type="arabicPeriod"/>
            </a:pPr>
            <a:r>
              <a:rPr lang="pt-BR" sz="1600" dirty="0" smtClean="0"/>
              <a:t>Validar Fichas com Gestores da TD e GRP.</a:t>
            </a:r>
          </a:p>
          <a:p>
            <a:pPr marL="342900" indent="-342900">
              <a:buFont typeface="+mj-lt"/>
              <a:buAutoNum type="arabicPeriod"/>
            </a:pPr>
            <a:r>
              <a:rPr lang="pt-BR" sz="1600" dirty="0" smtClean="0"/>
              <a:t>Publicar o Catálogo no Portal de Tecnologia Digital.</a:t>
            </a:r>
          </a:p>
          <a:p>
            <a:pPr marL="342900" indent="-342900">
              <a:buFont typeface="+mj-lt"/>
              <a:buAutoNum type="arabicPeriod"/>
            </a:pPr>
            <a:r>
              <a:rPr lang="pt-BR" sz="1600" dirty="0" smtClean="0"/>
              <a:t>Criar campos “Serviço” e “Funcionalidade” nas ferramentas ITSM.</a:t>
            </a:r>
          </a:p>
          <a:p>
            <a:pPr marL="342900" indent="-342900">
              <a:buFont typeface="+mj-lt"/>
              <a:buAutoNum type="arabicPeriod"/>
            </a:pPr>
            <a:r>
              <a:rPr lang="pt-BR" sz="1600" dirty="0" smtClean="0"/>
              <a:t>Estabelecer controle no Gerenciamento de Mudanças.</a:t>
            </a:r>
            <a:endParaRPr lang="pt-BR" sz="1600" dirty="0"/>
          </a:p>
        </p:txBody>
      </p:sp>
      <p:sp>
        <p:nvSpPr>
          <p:cNvPr id="8" name="CaixaDeTexto 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Lista de serviços definida e publicada</a:t>
            </a:r>
          </a:p>
          <a:p>
            <a:pPr marL="285750" indent="-285750">
              <a:buFont typeface="Wingdings" panose="05000000000000000000" pitchFamily="2" charset="2"/>
              <a:buChar char="§"/>
            </a:pPr>
            <a:r>
              <a:rPr lang="pt-BR" sz="1600" b="1" dirty="0" smtClean="0"/>
              <a:t>Serviços priorizados</a:t>
            </a:r>
          </a:p>
          <a:p>
            <a:pPr marL="285750" indent="-285750">
              <a:buFont typeface="Wingdings" panose="05000000000000000000" pitchFamily="2" charset="2"/>
              <a:buChar char="§"/>
            </a:pPr>
            <a:r>
              <a:rPr lang="pt-BR" sz="1600" b="1" dirty="0" smtClean="0"/>
              <a:t>Serviços prioritários catalogados</a:t>
            </a:r>
          </a:p>
          <a:p>
            <a:pPr marL="285750" indent="-285750">
              <a:buFont typeface="Wingdings" panose="05000000000000000000" pitchFamily="2" charset="2"/>
              <a:buChar char="§"/>
            </a:pPr>
            <a:r>
              <a:rPr lang="pt-BR" sz="1600" b="1" dirty="0" smtClean="0"/>
              <a:t>Processo para atualização do catálogo</a:t>
            </a:r>
          </a:p>
          <a:p>
            <a:pPr marL="285750" indent="-285750">
              <a:buFont typeface="Wingdings" panose="05000000000000000000" pitchFamily="2" charset="2"/>
              <a:buChar char="§"/>
            </a:pPr>
            <a:endParaRPr lang="pt-BR" sz="1600" b="1" dirty="0"/>
          </a:p>
        </p:txBody>
      </p:sp>
      <p:sp>
        <p:nvSpPr>
          <p:cNvPr id="9" name="CaixaDeTexto 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2,5 meses</a:t>
            </a:r>
            <a:endParaRPr lang="pt-BR" sz="1600" dirty="0"/>
          </a:p>
        </p:txBody>
      </p:sp>
      <p:sp>
        <p:nvSpPr>
          <p:cNvPr id="11" name="CaixaDeTexto 10"/>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0 – Crítica</a:t>
            </a:r>
            <a:endParaRPr lang="pt-BR" sz="1600" dirty="0"/>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01</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 Análise da Ferramenta CA SDM </a:t>
            </a:r>
            <a:endParaRPr lang="pt-BR" sz="1600" dirty="0">
              <a:solidFill>
                <a:schemeClr val="bg1"/>
              </a:solidFill>
            </a:endParaRP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Catálogo de Serviços</a:t>
            </a:r>
            <a:endParaRPr lang="pt-BR" sz="1600" b="1" dirty="0">
              <a:solidFill>
                <a:schemeClr val="bg1"/>
              </a:solidFill>
            </a:endParaRP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br>
              <a:rPr lang="pt-BR" sz="1600" dirty="0" smtClean="0">
                <a:solidFill>
                  <a:schemeClr val="bg1"/>
                </a:solidFill>
              </a:rPr>
            </a:br>
            <a:r>
              <a:rPr lang="pt-BR" sz="1600" dirty="0" smtClean="0">
                <a:solidFill>
                  <a:schemeClr val="bg1"/>
                </a:solidFill>
              </a:rPr>
              <a:t>Classificação de Chamados no CA SDM</a:t>
            </a:r>
            <a:endParaRPr lang="pt-BR" sz="1600" dirty="0">
              <a:solidFill>
                <a:schemeClr val="bg1"/>
              </a:solidFill>
            </a:endParaRPr>
          </a:p>
        </p:txBody>
      </p:sp>
      <p:sp>
        <p:nvSpPr>
          <p:cNvPr id="16" name="CaixaDeTexto 15"/>
          <p:cNvSpPr txBox="1"/>
          <p:nvPr/>
        </p:nvSpPr>
        <p:spPr>
          <a:xfrm rot="16200000">
            <a:off x="11213180" y="5828003"/>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Tree>
    <p:extLst>
      <p:ext uri="{BB962C8B-B14F-4D97-AF65-F5344CB8AC3E}">
        <p14:creationId xmlns:p14="http://schemas.microsoft.com/office/powerpoint/2010/main" val="1676357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42873" y="-14827"/>
            <a:ext cx="9991726" cy="863600"/>
          </a:xfrm>
        </p:spPr>
        <p:txBody>
          <a:bodyPr>
            <a:normAutofit/>
          </a:bodyPr>
          <a:lstStyle/>
          <a:p>
            <a:r>
              <a:rPr lang="pt-BR" sz="2400" b="1" dirty="0">
                <a:solidFill>
                  <a:srgbClr val="0070C0"/>
                </a:solidFill>
              </a:rPr>
              <a:t>Natura – VPTD – Gestão de Serviços – Plano de </a:t>
            </a:r>
            <a:r>
              <a:rPr lang="pt-BR" sz="2400" b="1" dirty="0" smtClean="0">
                <a:solidFill>
                  <a:srgbClr val="0070C0"/>
                </a:solidFill>
              </a:rPr>
              <a:t>Ação</a:t>
            </a:r>
            <a:endParaRPr lang="pt-BR" sz="2400" b="1" dirty="0">
              <a:solidFill>
                <a:srgbClr val="0070C0"/>
              </a:solidFill>
            </a:endParaRPr>
          </a:p>
        </p:txBody>
      </p:sp>
      <p:sp>
        <p:nvSpPr>
          <p:cNvPr id="3" name="CaixaDeTexto 2"/>
          <p:cNvSpPr txBox="1"/>
          <p:nvPr/>
        </p:nvSpPr>
        <p:spPr>
          <a:xfrm>
            <a:off x="142873" y="848773"/>
            <a:ext cx="4962527"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Classificação de Chamados</a:t>
            </a:r>
            <a:endParaRPr lang="pt-BR" sz="3000" dirty="0">
              <a:solidFill>
                <a:schemeClr val="bg1"/>
              </a:solidFill>
            </a:endParaRPr>
          </a:p>
        </p:txBody>
      </p:sp>
      <p:sp>
        <p:nvSpPr>
          <p:cNvPr id="4" name="CaixaDeTexto 3"/>
          <p:cNvSpPr txBox="1"/>
          <p:nvPr/>
        </p:nvSpPr>
        <p:spPr>
          <a:xfrm>
            <a:off x="5200650" y="848773"/>
            <a:ext cx="6819900"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Redefinir toda a estrutura de Classificação de Chamados e grupos solucionadores definindo os sintomas para Incidentes e Requisições. </a:t>
            </a:r>
            <a:endParaRPr lang="pt-BR" sz="1600" dirty="0"/>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Tornar simples e intuitivo o registro de chamados para usuários e Service Desk.</a:t>
            </a:r>
          </a:p>
          <a:p>
            <a:pPr marL="285750" indent="-285750">
              <a:buFont typeface="Wingdings" panose="05000000000000000000" pitchFamily="2" charset="2"/>
              <a:buChar char="§"/>
            </a:pPr>
            <a:r>
              <a:rPr lang="pt-BR" sz="1600" dirty="0" smtClean="0"/>
              <a:t>Automatizar e simplificar o direcionamento de chamados aos grupos solucionadores designados, o SLA e as prioridades.</a:t>
            </a:r>
          </a:p>
          <a:p>
            <a:pPr marL="285750" indent="-285750">
              <a:buFont typeface="Wingdings" panose="05000000000000000000" pitchFamily="2" charset="2"/>
              <a:buChar char="§"/>
            </a:pPr>
            <a:r>
              <a:rPr lang="pt-BR" sz="1600" dirty="0" smtClean="0"/>
              <a:t>Identificar e gerenciar sintomas e requisições relacionados cada serviço específico.</a:t>
            </a:r>
          </a:p>
          <a:p>
            <a:pPr marL="285750" indent="-285750">
              <a:buFont typeface="Wingdings" panose="05000000000000000000" pitchFamily="2" charset="2"/>
              <a:buChar char="§"/>
            </a:pPr>
            <a:r>
              <a:rPr lang="pt-BR" sz="1600" dirty="0" smtClean="0"/>
              <a:t>Viabilizar a vinculação entre Incidentes e Problemas por sintomas. </a:t>
            </a:r>
          </a:p>
          <a:p>
            <a:pPr marL="285750" indent="-285750">
              <a:buFont typeface="Wingdings" panose="05000000000000000000" pitchFamily="2" charset="2"/>
              <a:buChar char="§"/>
            </a:pPr>
            <a:r>
              <a:rPr lang="pt-BR" sz="1600" dirty="0" smtClean="0"/>
              <a:t>Redefinir papéis e responsabilidades relacionados ao Suporte aos Serviços</a:t>
            </a:r>
            <a:r>
              <a:rPr lang="pt-BR" sz="1600" dirty="0"/>
              <a:t>.</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Identificar Serviços e Funcionalidades.</a:t>
            </a:r>
          </a:p>
          <a:p>
            <a:pPr marL="342900" indent="-342900">
              <a:buFont typeface="+mj-lt"/>
              <a:buAutoNum type="arabicPeriod"/>
            </a:pPr>
            <a:r>
              <a:rPr lang="pt-BR" sz="1600" dirty="0"/>
              <a:t>Definir </a:t>
            </a:r>
            <a:r>
              <a:rPr lang="pt-BR" sz="1600" dirty="0" smtClean="0"/>
              <a:t>atributos para registro de incidentes e requisições.</a:t>
            </a:r>
          </a:p>
          <a:p>
            <a:pPr marL="342900" indent="-342900">
              <a:buFont typeface="+mj-lt"/>
              <a:buAutoNum type="arabicPeriod"/>
            </a:pPr>
            <a:r>
              <a:rPr lang="pt-BR" sz="1600" dirty="0" smtClean="0"/>
              <a:t>Identificar e entrevistar solucionadores sobre sintomas e requisições habituais.</a:t>
            </a:r>
          </a:p>
          <a:p>
            <a:pPr marL="342900" indent="-342900">
              <a:buFont typeface="+mj-lt"/>
              <a:buAutoNum type="arabicPeriod"/>
            </a:pPr>
            <a:r>
              <a:rPr lang="pt-BR" sz="1600" dirty="0" smtClean="0"/>
              <a:t>Documentar a estrutura de classificação utilizando ferramenta de mapa mental.</a:t>
            </a:r>
          </a:p>
          <a:p>
            <a:pPr marL="342900" indent="-342900">
              <a:buFont typeface="+mj-lt"/>
              <a:buAutoNum type="arabicPeriod"/>
            </a:pPr>
            <a:r>
              <a:rPr lang="pt-BR" sz="1600" dirty="0" smtClean="0"/>
              <a:t>Revisar a classificação com representantes de usuários e do Service Desk.</a:t>
            </a:r>
          </a:p>
          <a:p>
            <a:pPr marL="342900" indent="-342900">
              <a:buFont typeface="+mj-lt"/>
              <a:buAutoNum type="arabicPeriod"/>
            </a:pPr>
            <a:r>
              <a:rPr lang="pt-BR" sz="1600" dirty="0" smtClean="0"/>
              <a:t>Cadastrar a estrutura de classificação na fermenta CA SDM.</a:t>
            </a:r>
          </a:p>
          <a:p>
            <a:pPr marL="342900" indent="-342900">
              <a:buFont typeface="+mj-lt"/>
              <a:buAutoNum type="arabicPeriod"/>
            </a:pPr>
            <a:r>
              <a:rPr lang="pt-BR" sz="1600" dirty="0" smtClean="0"/>
              <a:t>Treinar Service Desk, solucionadores e representantes de usuários.</a:t>
            </a:r>
          </a:p>
          <a:p>
            <a:pPr marL="342900" indent="-342900">
              <a:buFont typeface="+mj-lt"/>
              <a:buAutoNum type="arabicPeriod"/>
            </a:pPr>
            <a:r>
              <a:rPr lang="pt-BR" sz="1600" dirty="0" smtClean="0"/>
              <a:t>Implantar e gerenciar a estrutura de classificação e grupos solucionadores.</a:t>
            </a:r>
          </a:p>
          <a:p>
            <a:pPr marL="342900" indent="-342900">
              <a:buFont typeface="+mj-lt"/>
              <a:buAutoNum type="arabicPeriod"/>
            </a:pPr>
            <a:r>
              <a:rPr lang="pt-BR" sz="1600" dirty="0" smtClean="0"/>
              <a:t>Definir “gatilhos” nos processos para atualização.</a:t>
            </a:r>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02</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 Catálogo de Serviços</a:t>
            </a:r>
            <a:endParaRPr lang="pt-BR" sz="1600" dirty="0">
              <a:solidFill>
                <a:schemeClr val="bg1"/>
              </a:solidFill>
            </a:endParaRP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Classificação de Chamados</a:t>
            </a:r>
            <a:endParaRPr lang="pt-BR" sz="1600" b="1" dirty="0">
              <a:solidFill>
                <a:schemeClr val="bg1"/>
              </a:solidFill>
            </a:endParaRP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br>
              <a:rPr lang="pt-BR" sz="1600" dirty="0" smtClean="0">
                <a:solidFill>
                  <a:schemeClr val="bg1"/>
                </a:solidFill>
              </a:rPr>
            </a:br>
            <a:r>
              <a:rPr lang="pt-BR" sz="1600" dirty="0" smtClean="0">
                <a:solidFill>
                  <a:schemeClr val="bg1"/>
                </a:solidFill>
              </a:rPr>
              <a:t>Indicadores para Gestão de Serviços</a:t>
            </a:r>
            <a:endParaRPr lang="pt-BR" sz="1600" dirty="0">
              <a:solidFill>
                <a:schemeClr val="bg1"/>
              </a:solidFill>
            </a:endParaRPr>
          </a:p>
        </p:txBody>
      </p:sp>
      <p:sp>
        <p:nvSpPr>
          <p:cNvPr id="16" name="CaixaDeTexto 15"/>
          <p:cNvSpPr txBox="1"/>
          <p:nvPr/>
        </p:nvSpPr>
        <p:spPr>
          <a:xfrm rot="16200000">
            <a:off x="11213180" y="5828003"/>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CaixaDeTexto 16"/>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Registro simples e intuitivo dos chamados</a:t>
            </a:r>
          </a:p>
          <a:p>
            <a:pPr marL="285750" indent="-285750">
              <a:buFont typeface="Wingdings" panose="05000000000000000000" pitchFamily="2" charset="2"/>
              <a:buChar char="§"/>
            </a:pPr>
            <a:r>
              <a:rPr lang="pt-BR" sz="1600" b="1" dirty="0" smtClean="0"/>
              <a:t>Escalada funcional e prioridades (SLA) automatizadas</a:t>
            </a:r>
          </a:p>
          <a:p>
            <a:pPr marL="285750" indent="-285750">
              <a:buFont typeface="Wingdings" panose="05000000000000000000" pitchFamily="2" charset="2"/>
              <a:buChar char="§"/>
            </a:pPr>
            <a:r>
              <a:rPr lang="pt-BR" sz="1600" b="1" dirty="0" smtClean="0"/>
              <a:t>Gestão de Requisições, Incidentes e Problemas por Serviços</a:t>
            </a:r>
          </a:p>
        </p:txBody>
      </p:sp>
      <p:sp>
        <p:nvSpPr>
          <p:cNvPr id="18" name="CaixaDeTexto 17"/>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2,5 meses</a:t>
            </a:r>
            <a:endParaRPr lang="pt-BR" sz="1600" dirty="0"/>
          </a:p>
        </p:txBody>
      </p:sp>
      <p:sp>
        <p:nvSpPr>
          <p:cNvPr id="19" name="CaixaDeTexto 18"/>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0 – Crítica</a:t>
            </a:r>
            <a:endParaRPr lang="pt-BR" sz="1600" dirty="0"/>
          </a:p>
        </p:txBody>
      </p:sp>
    </p:spTree>
    <p:extLst>
      <p:ext uri="{BB962C8B-B14F-4D97-AF65-F5344CB8AC3E}">
        <p14:creationId xmlns:p14="http://schemas.microsoft.com/office/powerpoint/2010/main" val="54883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Indicadores para Gestão de Serviços</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Definir indicadores oficiais relacionados à Entrega de Soluções e ao Suporte aos Serviços.</a:t>
            </a:r>
            <a:endParaRPr lang="pt-BR" sz="1600" dirty="0"/>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Estabelecer visão uniforme e confiável sobre a qualidade dos serviços de TD.</a:t>
            </a:r>
          </a:p>
          <a:p>
            <a:pPr marL="285750" indent="-285750">
              <a:buFont typeface="Wingdings" panose="05000000000000000000" pitchFamily="2" charset="2"/>
              <a:buChar char="§"/>
            </a:pPr>
            <a:r>
              <a:rPr lang="pt-BR" sz="1600" dirty="0" smtClean="0"/>
              <a:t>Viabilizar a definição de metas comuns para melhoria dos serviços de TD e suporte à Estratégia.</a:t>
            </a:r>
          </a:p>
          <a:p>
            <a:pPr marL="285750" indent="-285750">
              <a:buFont typeface="Wingdings" panose="05000000000000000000" pitchFamily="2" charset="2"/>
              <a:buChar char="§"/>
            </a:pPr>
            <a:r>
              <a:rPr lang="pt-BR" sz="1600" dirty="0" smtClean="0"/>
              <a:t>Gerenciar objetivamente a qualidade dos serviços e prestar </a:t>
            </a:r>
            <a:r>
              <a:rPr lang="pt-BR" sz="1600" dirty="0"/>
              <a:t>contas aos gestores </a:t>
            </a:r>
            <a:r>
              <a:rPr lang="pt-BR" sz="1600" dirty="0" smtClean="0"/>
              <a:t>negócio.</a:t>
            </a:r>
          </a:p>
          <a:p>
            <a:pPr marL="285750" indent="-285750">
              <a:buFont typeface="Wingdings" panose="05000000000000000000" pitchFamily="2" charset="2"/>
              <a:buChar char="§"/>
            </a:pPr>
            <a:r>
              <a:rPr lang="pt-BR" sz="1600" dirty="0" smtClean="0"/>
              <a:t>Estruturar o </a:t>
            </a:r>
            <a:r>
              <a:rPr lang="pt-BR" sz="1600" i="1" dirty="0" smtClean="0"/>
              <a:t>Balanced Score Card </a:t>
            </a:r>
            <a:r>
              <a:rPr lang="pt-BR" sz="1600" dirty="0" smtClean="0"/>
              <a:t>da área de Tecnologia Digital.</a:t>
            </a:r>
          </a:p>
          <a:p>
            <a:pPr marL="285750" indent="-285750">
              <a:buFont typeface="Wingdings" panose="05000000000000000000" pitchFamily="2" charset="2"/>
              <a:buChar char="§"/>
            </a:pPr>
            <a:r>
              <a:rPr lang="pt-BR" sz="1600" dirty="0" smtClean="0"/>
              <a:t>Desestimular </a:t>
            </a:r>
            <a:r>
              <a:rPr lang="pt-BR" sz="1600" dirty="0"/>
              <a:t>a </a:t>
            </a:r>
            <a:r>
              <a:rPr lang="pt-BR" sz="1600" dirty="0" smtClean="0"/>
              <a:t>elaboração e divulgação de indicadores não oficiais.</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Definir aspectos a gerenciar (o que medir?).</a:t>
            </a:r>
          </a:p>
          <a:p>
            <a:pPr marL="342900" indent="-342900">
              <a:buFont typeface="+mj-lt"/>
              <a:buAutoNum type="arabicPeriod"/>
            </a:pPr>
            <a:r>
              <a:rPr lang="pt-BR" sz="1600" dirty="0" smtClean="0"/>
              <a:t>Definir </a:t>
            </a:r>
            <a:r>
              <a:rPr lang="pt-BR" sz="1600" dirty="0"/>
              <a:t>estrutura de Indicadores Estratégicos (Serviços e PEN), Táticos (Processos) e Operacionais (componentes).</a:t>
            </a:r>
          </a:p>
          <a:p>
            <a:pPr marL="342900" indent="-342900">
              <a:buFont typeface="+mj-lt"/>
              <a:buAutoNum type="arabicPeriod"/>
            </a:pPr>
            <a:r>
              <a:rPr lang="pt-BR" sz="1600" dirty="0"/>
              <a:t>Definir selo para identificação de indicadores oficiais.</a:t>
            </a:r>
          </a:p>
          <a:p>
            <a:pPr marL="342900" indent="-342900">
              <a:buFont typeface="+mj-lt"/>
              <a:buAutoNum type="arabicPeriod"/>
            </a:pPr>
            <a:r>
              <a:rPr lang="pt-BR" sz="1600" dirty="0"/>
              <a:t>Definir estrutura para registro e manutenção de </a:t>
            </a:r>
            <a:r>
              <a:rPr lang="pt-BR" sz="1600" dirty="0" smtClean="0"/>
              <a:t>indicadores.</a:t>
            </a:r>
          </a:p>
          <a:p>
            <a:pPr marL="342900" indent="-342900">
              <a:buFont typeface="+mj-lt"/>
              <a:buAutoNum type="arabicPeriod"/>
            </a:pPr>
            <a:r>
              <a:rPr lang="pt-BR" sz="1600" dirty="0" smtClean="0"/>
              <a:t>Definir periodicidade, audiência e propriedade sobre cada indicador.</a:t>
            </a:r>
          </a:p>
          <a:p>
            <a:pPr marL="342900" indent="-342900">
              <a:buFont typeface="+mj-lt"/>
              <a:buAutoNum type="arabicPeriod"/>
            </a:pPr>
            <a:r>
              <a:rPr lang="pt-BR" sz="1600" dirty="0" smtClean="0"/>
              <a:t>Produzir </a:t>
            </a:r>
            <a:r>
              <a:rPr lang="pt-BR" sz="1600" dirty="0"/>
              <a:t>indicadores de </a:t>
            </a:r>
            <a:r>
              <a:rPr lang="pt-BR" sz="1600" dirty="0" smtClean="0"/>
              <a:t>referência, validando e ajustando os indicadores.</a:t>
            </a:r>
            <a:endParaRPr lang="pt-BR" sz="1600" dirty="0"/>
          </a:p>
          <a:p>
            <a:pPr marL="342900" indent="-342900">
              <a:buFont typeface="+mj-lt"/>
              <a:buAutoNum type="arabicPeriod"/>
            </a:pPr>
            <a:r>
              <a:rPr lang="pt-BR" sz="1600" dirty="0"/>
              <a:t>Sistematizar a produção, </a:t>
            </a:r>
            <a:r>
              <a:rPr lang="pt-BR" sz="1600" dirty="0" smtClean="0"/>
              <a:t>análise </a:t>
            </a:r>
            <a:r>
              <a:rPr lang="pt-BR" sz="1600" dirty="0"/>
              <a:t>e </a:t>
            </a:r>
            <a:r>
              <a:rPr lang="pt-BR" sz="1600" dirty="0" smtClean="0"/>
              <a:t>a divulgação </a:t>
            </a:r>
            <a:r>
              <a:rPr lang="pt-BR" sz="1600" dirty="0"/>
              <a:t>de </a:t>
            </a:r>
            <a:r>
              <a:rPr lang="pt-BR" sz="1600" dirty="0" smtClean="0"/>
              <a:t>indicadores.</a:t>
            </a:r>
          </a:p>
          <a:p>
            <a:pPr marL="342900" indent="-342900">
              <a:buFont typeface="+mj-lt"/>
              <a:buAutoNum type="arabicPeriod"/>
            </a:pPr>
            <a:r>
              <a:rPr lang="pt-BR" sz="1600" dirty="0" smtClean="0"/>
              <a:t>Estabelecer </a:t>
            </a:r>
            <a:r>
              <a:rPr lang="pt-BR" sz="1600" i="1" dirty="0" smtClean="0"/>
              <a:t>dashboards</a:t>
            </a:r>
            <a:r>
              <a:rPr lang="pt-BR" sz="1600" dirty="0" smtClean="0"/>
              <a:t> para publicação real-time.</a:t>
            </a:r>
            <a:endParaRPr lang="pt-BR" sz="1600" dirty="0"/>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03</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 Classificação de Chamados</a:t>
            </a:r>
            <a:endParaRPr lang="pt-BR" sz="1600" dirty="0">
              <a:solidFill>
                <a:schemeClr val="bg1"/>
              </a:solidFill>
            </a:endParaRP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Indicadores para Gestão de Serviços</a:t>
            </a:r>
            <a:endParaRPr lang="pt-BR" sz="1600" b="1" dirty="0">
              <a:solidFill>
                <a:schemeClr val="bg1"/>
              </a:solidFill>
            </a:endParaRP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Monitoração de Serviços de Negócio</a:t>
            </a:r>
            <a:endParaRPr lang="pt-BR" sz="1600" dirty="0">
              <a:solidFill>
                <a:schemeClr val="bg1"/>
              </a:solidFill>
            </a:endParaRPr>
          </a:p>
        </p:txBody>
      </p:sp>
      <p:sp>
        <p:nvSpPr>
          <p:cNvPr id="16" name="CaixaDeTexto 15"/>
          <p:cNvSpPr txBox="1"/>
          <p:nvPr/>
        </p:nvSpPr>
        <p:spPr>
          <a:xfrm rot="16200000">
            <a:off x="11213180" y="5828003"/>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Gestão de Serviços – Plano de Ação</a:t>
            </a:r>
            <a:endParaRPr lang="pt-BR" sz="2400" b="1" dirty="0">
              <a:solidFill>
                <a:srgbClr val="0070C0"/>
              </a:solidFill>
            </a:endParaRPr>
          </a:p>
        </p:txBody>
      </p:sp>
      <p:sp>
        <p:nvSpPr>
          <p:cNvPr id="18" name="CaixaDeTexto 1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Indicadores oficiais catalogados</a:t>
            </a:r>
          </a:p>
          <a:p>
            <a:pPr marL="285750" indent="-285750">
              <a:buFont typeface="Wingdings" panose="05000000000000000000" pitchFamily="2" charset="2"/>
              <a:buChar char="§"/>
            </a:pPr>
            <a:r>
              <a:rPr lang="pt-BR" sz="1600" b="1" dirty="0" smtClean="0"/>
              <a:t>Indicadores orientados à qualidade dos Serviços</a:t>
            </a:r>
          </a:p>
          <a:p>
            <a:pPr marL="285750" indent="-285750">
              <a:buFont typeface="Wingdings" panose="05000000000000000000" pitchFamily="2" charset="2"/>
              <a:buChar char="§"/>
            </a:pPr>
            <a:r>
              <a:rPr lang="pt-BR" sz="1600" b="1" i="1" dirty="0" smtClean="0"/>
              <a:t>Baseline</a:t>
            </a:r>
            <a:r>
              <a:rPr lang="pt-BR" sz="1600" b="1" dirty="0" smtClean="0"/>
              <a:t> para definição de metas</a:t>
            </a:r>
          </a:p>
          <a:p>
            <a:pPr marL="285750" indent="-285750">
              <a:buFont typeface="Wingdings" panose="05000000000000000000" pitchFamily="2" charset="2"/>
              <a:buChar char="§"/>
            </a:pPr>
            <a:r>
              <a:rPr lang="pt-BR" sz="1600" b="1" dirty="0" smtClean="0"/>
              <a:t>BSC com indicadores vinculados ao PEN</a:t>
            </a:r>
            <a:endParaRPr lang="pt-BR" sz="1600" b="1" dirty="0"/>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2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0 – Crítica</a:t>
            </a:r>
            <a:endParaRPr lang="pt-BR" sz="1600" dirty="0"/>
          </a:p>
        </p:txBody>
      </p:sp>
    </p:spTree>
    <p:extLst>
      <p:ext uri="{BB962C8B-B14F-4D97-AF65-F5344CB8AC3E}">
        <p14:creationId xmlns:p14="http://schemas.microsoft.com/office/powerpoint/2010/main" val="2714317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Configuração dos Serviços</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Identificar e relacionar componentes críticos dos serviços e estabelecer o Sistema de Gerenciamento da Configuração – SGC.</a:t>
            </a:r>
            <a:endParaRPr lang="pt-BR" sz="1600" dirty="0"/>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Aumentar a agilidade das decisões e simplificar os processos de Gestão de Serviços de TD.</a:t>
            </a:r>
          </a:p>
          <a:p>
            <a:pPr marL="285750" indent="-285750">
              <a:buFont typeface="Wingdings" panose="05000000000000000000" pitchFamily="2" charset="2"/>
              <a:buChar char="§"/>
            </a:pPr>
            <a:r>
              <a:rPr lang="pt-BR" sz="1600" dirty="0" smtClean="0"/>
              <a:t>Viabilizar a monitoração das transações de serviços de negócios.</a:t>
            </a:r>
          </a:p>
          <a:p>
            <a:pPr marL="285750" indent="-285750">
              <a:buFont typeface="Wingdings" panose="05000000000000000000" pitchFamily="2" charset="2"/>
              <a:buChar char="§"/>
            </a:pPr>
            <a:r>
              <a:rPr lang="pt-BR" sz="1600" dirty="0" smtClean="0"/>
              <a:t>Viabilizar a Gestão Financeira dos Serviços de TD.</a:t>
            </a:r>
          </a:p>
          <a:p>
            <a:pPr marL="285750" indent="-285750">
              <a:buFont typeface="Wingdings" panose="05000000000000000000" pitchFamily="2" charset="2"/>
              <a:buChar char="§"/>
            </a:pPr>
            <a:r>
              <a:rPr lang="pt-BR" sz="1600" dirty="0" smtClean="0"/>
              <a:t>Facilitar a gestão de Ativos e Licenças.</a:t>
            </a:r>
          </a:p>
          <a:p>
            <a:pPr marL="285750" indent="-285750">
              <a:buFont typeface="Wingdings" panose="05000000000000000000" pitchFamily="2" charset="2"/>
              <a:buChar char="§"/>
            </a:pPr>
            <a:endParaRPr lang="pt-BR" sz="1600" dirty="0" smtClean="0"/>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Selecionar Serviço catalogado.</a:t>
            </a:r>
          </a:p>
          <a:p>
            <a:pPr marL="342900" indent="-342900">
              <a:buFont typeface="+mj-lt"/>
              <a:buAutoNum type="arabicPeriod"/>
            </a:pPr>
            <a:r>
              <a:rPr lang="pt-BR" sz="1600" dirty="0" smtClean="0"/>
              <a:t>Identificar principal sistema (ou sistemas) relacionado(s).</a:t>
            </a:r>
          </a:p>
          <a:p>
            <a:pPr marL="342900" indent="-342900">
              <a:buFont typeface="+mj-lt"/>
              <a:buAutoNum type="arabicPeriod"/>
            </a:pPr>
            <a:r>
              <a:rPr lang="pt-BR" sz="1600" dirty="0" smtClean="0"/>
              <a:t>Relacionar Sistema(s) à(s) funcionalidade(s) do serviço.</a:t>
            </a:r>
          </a:p>
          <a:p>
            <a:pPr marL="342900" indent="-342900">
              <a:buFont typeface="+mj-lt"/>
              <a:buAutoNum type="arabicPeriod"/>
            </a:pPr>
            <a:r>
              <a:rPr lang="pt-BR" sz="1600" dirty="0" smtClean="0"/>
              <a:t>Executar </a:t>
            </a:r>
            <a:r>
              <a:rPr lang="pt-BR" sz="1600" i="1" dirty="0" smtClean="0"/>
              <a:t>discovery</a:t>
            </a:r>
            <a:r>
              <a:rPr lang="pt-BR" sz="1600" dirty="0" smtClean="0"/>
              <a:t> para identificar componentes relacionados ao(s) sistema(s).</a:t>
            </a:r>
          </a:p>
          <a:p>
            <a:pPr marL="342900" indent="-342900">
              <a:buFont typeface="+mj-lt"/>
              <a:buAutoNum type="arabicPeriod"/>
            </a:pPr>
            <a:r>
              <a:rPr lang="pt-BR" sz="1600" dirty="0" smtClean="0"/>
              <a:t>Coletar e registrar atributos a gerenciar.</a:t>
            </a:r>
          </a:p>
          <a:p>
            <a:pPr marL="342900" indent="-342900">
              <a:buFont typeface="+mj-lt"/>
              <a:buAutoNum type="arabicPeriod"/>
            </a:pPr>
            <a:r>
              <a:rPr lang="pt-BR" sz="1600" dirty="0" smtClean="0"/>
              <a:t>Vincular SGC aos processos de gestão de serviços de TD.</a:t>
            </a:r>
          </a:p>
          <a:p>
            <a:pPr marL="342900" indent="-342900">
              <a:buFont typeface="+mj-lt"/>
              <a:buAutoNum type="arabicPeriod"/>
            </a:pPr>
            <a:r>
              <a:rPr lang="pt-BR" sz="1600" dirty="0" smtClean="0"/>
              <a:t>Definir processo de manutenção do SGC.</a:t>
            </a:r>
          </a:p>
          <a:p>
            <a:pPr marL="342900" indent="-342900">
              <a:buFont typeface="+mj-lt"/>
              <a:buAutoNum type="arabicPeriod"/>
            </a:pPr>
            <a:r>
              <a:rPr lang="pt-BR" sz="1600" dirty="0" smtClean="0"/>
              <a:t>Estabelecer controle no processo de Ger. de Mudanças.</a:t>
            </a:r>
          </a:p>
          <a:p>
            <a:pPr marL="342900" indent="-342900">
              <a:buFont typeface="+mj-lt"/>
              <a:buAutoNum type="arabicPeriod"/>
            </a:pPr>
            <a:endParaRPr lang="pt-BR" sz="1600" dirty="0" smtClean="0"/>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04</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 Catálogo de Serviços</a:t>
            </a:r>
            <a:endParaRPr lang="pt-BR" sz="1600" dirty="0">
              <a:solidFill>
                <a:schemeClr val="bg1"/>
              </a:solidFill>
            </a:endParaRP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Configuração dos Serviços</a:t>
            </a:r>
            <a:endParaRPr lang="pt-BR" sz="1600" b="1" dirty="0">
              <a:solidFill>
                <a:schemeClr val="bg1"/>
              </a:solidFill>
            </a:endParaRP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Suporte:</a:t>
            </a:r>
          </a:p>
          <a:p>
            <a:pPr algn="ctr"/>
            <a:r>
              <a:rPr lang="pt-BR" sz="1600" dirty="0" smtClean="0">
                <a:solidFill>
                  <a:schemeClr val="bg1"/>
                </a:solidFill>
              </a:rPr>
              <a:t>Gestão de Ativos e Licenças</a:t>
            </a:r>
          </a:p>
        </p:txBody>
      </p:sp>
      <p:sp>
        <p:nvSpPr>
          <p:cNvPr id="16" name="CaixaDeTexto 15"/>
          <p:cNvSpPr txBox="1"/>
          <p:nvPr/>
        </p:nvSpPr>
        <p:spPr>
          <a:xfrm rot="16200000">
            <a:off x="11213180" y="5828003"/>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Gestão de Serviços – Plano de Ação</a:t>
            </a:r>
            <a:endParaRPr lang="pt-BR" sz="2400" b="1" dirty="0">
              <a:solidFill>
                <a:srgbClr val="0070C0"/>
              </a:solidFill>
            </a:endParaRPr>
          </a:p>
        </p:txBody>
      </p:sp>
      <p:sp>
        <p:nvSpPr>
          <p:cNvPr id="18" name="CaixaDeTexto 1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SGC definido e vinculado aos processos</a:t>
            </a:r>
          </a:p>
          <a:p>
            <a:pPr marL="285750" indent="-285750">
              <a:buFont typeface="Wingdings" panose="05000000000000000000" pitchFamily="2" charset="2"/>
              <a:buChar char="§"/>
            </a:pPr>
            <a:r>
              <a:rPr lang="pt-BR" sz="1600" b="1" dirty="0" smtClean="0"/>
              <a:t>Processo de Ger. da Configuração definido</a:t>
            </a:r>
          </a:p>
          <a:p>
            <a:pPr marL="285750" indent="-285750">
              <a:buFont typeface="Wingdings" panose="05000000000000000000" pitchFamily="2" charset="2"/>
              <a:buChar char="§"/>
            </a:pPr>
            <a:r>
              <a:rPr lang="pt-BR" sz="1600" b="1" dirty="0" smtClean="0"/>
              <a:t>Redução de prazos dos processos de Gerenciamento de Serviços</a:t>
            </a:r>
          </a:p>
          <a:p>
            <a:pPr marL="285750" indent="-285750">
              <a:buFont typeface="Wingdings" panose="05000000000000000000" pitchFamily="2" charset="2"/>
              <a:buChar char="§"/>
            </a:pPr>
            <a:r>
              <a:rPr lang="pt-BR" sz="1600" b="1" dirty="0" smtClean="0"/>
              <a:t>Dados financeiros sobre os Ativos</a:t>
            </a:r>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5,5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0 – Crítica</a:t>
            </a:r>
            <a:endParaRPr lang="pt-BR" sz="1600" dirty="0"/>
          </a:p>
        </p:txBody>
      </p:sp>
    </p:spTree>
    <p:extLst>
      <p:ext uri="{BB962C8B-B14F-4D97-AF65-F5344CB8AC3E}">
        <p14:creationId xmlns:p14="http://schemas.microsoft.com/office/powerpoint/2010/main" val="1846685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Gestão de Ativos e Licenças</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Gerenciar a totalidade de Ativos sob Gestão da TD e a conformidade com contratos e licenças.</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Controle sobre os Ativos sob responsabilidade da VPTD.</a:t>
            </a:r>
          </a:p>
          <a:p>
            <a:pPr marL="285750" indent="-285750">
              <a:buFont typeface="Wingdings" panose="05000000000000000000" pitchFamily="2" charset="2"/>
              <a:buChar char="§"/>
            </a:pPr>
            <a:r>
              <a:rPr lang="pt-BR" sz="1600" dirty="0" smtClean="0"/>
              <a:t>Gerenciamento dos riscos relacionados a penalidades contratuais.</a:t>
            </a:r>
          </a:p>
          <a:p>
            <a:pPr marL="285750" indent="-285750">
              <a:buFont typeface="Wingdings" panose="05000000000000000000" pitchFamily="2" charset="2"/>
              <a:buChar char="§"/>
            </a:pPr>
            <a:r>
              <a:rPr lang="pt-BR" sz="1600" dirty="0" smtClean="0"/>
              <a:t>Suporte aos requerimentos de conformidade legal.</a:t>
            </a:r>
          </a:p>
          <a:p>
            <a:pPr marL="285750" indent="-285750">
              <a:buFont typeface="Wingdings" panose="05000000000000000000" pitchFamily="2" charset="2"/>
              <a:buChar char="§"/>
            </a:pPr>
            <a:r>
              <a:rPr lang="pt-BR" sz="1600" dirty="0" smtClean="0"/>
              <a:t>Informações consistentes para negociação contratual.</a:t>
            </a:r>
          </a:p>
          <a:p>
            <a:pPr marL="285750" indent="-285750">
              <a:buFont typeface="Wingdings" panose="05000000000000000000" pitchFamily="2" charset="2"/>
              <a:buChar char="§"/>
            </a:pPr>
            <a:r>
              <a:rPr lang="pt-BR" sz="1600" dirty="0" smtClean="0"/>
              <a:t>Controle sobre a obsolescência de hardware e software.</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Identificar Ativos a gerenciar.</a:t>
            </a:r>
          </a:p>
          <a:p>
            <a:pPr marL="342900" indent="-342900">
              <a:buFont typeface="+mj-lt"/>
              <a:buAutoNum type="arabicPeriod"/>
            </a:pPr>
            <a:r>
              <a:rPr lang="pt-BR" sz="1600" dirty="0" smtClean="0"/>
              <a:t>Definir processo para identificação e gerenciamento de uso, mal uso, planejamento da capacidade, controle sobre a obsolescência tecnológica, gatilhos para negociação contratual, oportunidades para redução de custos e de manutenção e avaliação da atualização tecnológica.</a:t>
            </a:r>
          </a:p>
          <a:p>
            <a:pPr marL="342900" indent="-342900">
              <a:buFont typeface="+mj-lt"/>
              <a:buAutoNum type="arabicPeriod"/>
            </a:pPr>
            <a:r>
              <a:rPr lang="pt-BR" sz="1600" dirty="0"/>
              <a:t>Coletar e manter informações no </a:t>
            </a:r>
            <a:r>
              <a:rPr lang="pt-BR" sz="1600" dirty="0" smtClean="0"/>
              <a:t>SGC, via processo de Gestão de Mudanças.</a:t>
            </a:r>
          </a:p>
          <a:p>
            <a:pPr marL="342900" indent="-342900">
              <a:buFont typeface="+mj-lt"/>
              <a:buAutoNum type="arabicPeriod"/>
            </a:pPr>
            <a:r>
              <a:rPr lang="pt-BR" sz="1600" dirty="0" smtClean="0"/>
              <a:t>Estabelecer ciclos de revisão tecnológica e contratual.</a:t>
            </a:r>
          </a:p>
          <a:p>
            <a:pPr marL="342900" indent="-342900">
              <a:buFont typeface="+mj-lt"/>
              <a:buAutoNum type="arabicPeriod"/>
            </a:pPr>
            <a:endParaRPr lang="pt-BR" sz="1600" dirty="0"/>
          </a:p>
          <a:p>
            <a:pPr marL="342900" indent="-342900">
              <a:buFont typeface="+mj-lt"/>
              <a:buAutoNum type="arabicPeriod"/>
            </a:pPr>
            <a:endParaRPr lang="pt-BR" sz="1600" dirty="0" smtClean="0"/>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05</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Configuração dos Serviços</a:t>
            </a: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Gestão de Ativos e Licenças</a:t>
            </a: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Gestão Financeira dos Serviços</a:t>
            </a:r>
            <a:endParaRPr lang="pt-BR" sz="1600" dirty="0">
              <a:solidFill>
                <a:schemeClr val="bg1"/>
              </a:solidFill>
            </a:endParaRPr>
          </a:p>
        </p:txBody>
      </p:sp>
      <p:sp>
        <p:nvSpPr>
          <p:cNvPr id="16" name="CaixaDeTexto 15"/>
          <p:cNvSpPr txBox="1"/>
          <p:nvPr/>
        </p:nvSpPr>
        <p:spPr>
          <a:xfrm rot="16200000">
            <a:off x="11213180"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Gestão de Serviços – Plano de Ação</a:t>
            </a:r>
            <a:endParaRPr lang="pt-BR" sz="2400" b="1" dirty="0">
              <a:solidFill>
                <a:srgbClr val="0070C0"/>
              </a:solidFill>
            </a:endParaRPr>
          </a:p>
        </p:txBody>
      </p:sp>
      <p:sp>
        <p:nvSpPr>
          <p:cNvPr id="18" name="CaixaDeTexto 1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a:t>Gestão sobre o Custo Total da Propriedade</a:t>
            </a:r>
          </a:p>
          <a:p>
            <a:pPr marL="285750" indent="-285750">
              <a:buFont typeface="Wingdings" panose="05000000000000000000" pitchFamily="2" charset="2"/>
              <a:buChar char="§"/>
            </a:pPr>
            <a:r>
              <a:rPr lang="pt-BR" sz="1600" b="1" dirty="0"/>
              <a:t>Gestão sobre a atualização tecnológica</a:t>
            </a:r>
          </a:p>
          <a:p>
            <a:pPr marL="285750" indent="-285750">
              <a:buFont typeface="Wingdings" panose="05000000000000000000" pitchFamily="2" charset="2"/>
              <a:buChar char="§"/>
            </a:pPr>
            <a:r>
              <a:rPr lang="pt-BR" sz="1600" b="1" dirty="0"/>
              <a:t>Gestão sobre a conformidade </a:t>
            </a:r>
            <a:r>
              <a:rPr lang="pt-BR" sz="1600" b="1" dirty="0" smtClean="0"/>
              <a:t>legal e contratual</a:t>
            </a:r>
          </a:p>
          <a:p>
            <a:pPr marL="285750" indent="-285750">
              <a:buFont typeface="Wingdings" panose="05000000000000000000" pitchFamily="2" charset="2"/>
              <a:buChar char="§"/>
            </a:pPr>
            <a:r>
              <a:rPr lang="pt-BR" sz="1600" b="1" dirty="0" smtClean="0"/>
              <a:t>Redução de riscos financeiros</a:t>
            </a:r>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3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1 – Alta</a:t>
            </a:r>
            <a:endParaRPr lang="pt-BR" sz="1600" dirty="0"/>
          </a:p>
        </p:txBody>
      </p:sp>
    </p:spTree>
    <p:extLst>
      <p:ext uri="{BB962C8B-B14F-4D97-AF65-F5344CB8AC3E}">
        <p14:creationId xmlns:p14="http://schemas.microsoft.com/office/powerpoint/2010/main" val="417014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Monitoração de Serviços de Negócio</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Relacionar o comportamento das transações de negócio à disponibilidade dos componentes relacionados no SGC.</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a:t>Viabilizar a monitoração do impacto de falhas nos padrões de atividade do negócio.</a:t>
            </a:r>
          </a:p>
          <a:p>
            <a:pPr marL="285750" indent="-285750">
              <a:buFont typeface="Wingdings" panose="05000000000000000000" pitchFamily="2" charset="2"/>
              <a:buChar char="§"/>
            </a:pPr>
            <a:r>
              <a:rPr lang="pt-BR" sz="1600" dirty="0" smtClean="0"/>
              <a:t>Garantir a antecipação da atuação das equipes de suporte sobre desvios de comportamento das transações de negócio.</a:t>
            </a:r>
          </a:p>
          <a:p>
            <a:pPr marL="285750" indent="-285750">
              <a:buFont typeface="Wingdings" panose="05000000000000000000" pitchFamily="2" charset="2"/>
              <a:buChar char="§"/>
            </a:pPr>
            <a:r>
              <a:rPr lang="pt-BR" sz="1600" dirty="0" smtClean="0"/>
              <a:t>Facilitar a decisão por investimentos na melhoria dos componentes críticos para suporte aos serviços do negócio.</a:t>
            </a:r>
          </a:p>
          <a:p>
            <a:pPr marL="285750" indent="-285750">
              <a:buFont typeface="Wingdings" panose="05000000000000000000" pitchFamily="2" charset="2"/>
              <a:buChar char="§"/>
            </a:pPr>
            <a:r>
              <a:rPr lang="pt-BR" sz="1600" dirty="0" smtClean="0"/>
              <a:t>Facilitar o registro automatizado de incidentes em serviços e as escaladas para resolução e comunicação.</a:t>
            </a:r>
          </a:p>
          <a:p>
            <a:pPr marL="285750" indent="-285750">
              <a:buFont typeface="Wingdings" panose="05000000000000000000" pitchFamily="2" charset="2"/>
              <a:buChar char="§"/>
            </a:pPr>
            <a:r>
              <a:rPr lang="pt-BR" sz="1600" dirty="0" smtClean="0"/>
              <a:t>Viabilizar a Gestão da Capacidade dos Serviços de Negócio.</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Selecionar transações a monitorar, considerando gráficos existentes.</a:t>
            </a:r>
          </a:p>
          <a:p>
            <a:pPr marL="342900" indent="-342900">
              <a:buFont typeface="+mj-lt"/>
              <a:buAutoNum type="arabicPeriod"/>
            </a:pPr>
            <a:r>
              <a:rPr lang="pt-BR" sz="1600" dirty="0" smtClean="0"/>
              <a:t>Documentar Padrões de Atividade do Negócio (PAN) para as transações selecionadas.</a:t>
            </a:r>
          </a:p>
          <a:p>
            <a:pPr marL="342900" indent="-342900">
              <a:buFont typeface="+mj-lt"/>
              <a:buAutoNum type="arabicPeriod"/>
            </a:pPr>
            <a:r>
              <a:rPr lang="pt-BR" sz="1600" dirty="0" smtClean="0"/>
              <a:t>Obter das áreas de negócio previsões de variações do PAN.</a:t>
            </a:r>
          </a:p>
          <a:p>
            <a:pPr marL="342900" indent="-342900">
              <a:buFont typeface="+mj-lt"/>
              <a:buAutoNum type="arabicPeriod"/>
            </a:pPr>
            <a:r>
              <a:rPr lang="pt-BR" sz="1600" dirty="0" smtClean="0"/>
              <a:t>Definir limites para monitoração e respectivos alertas.</a:t>
            </a:r>
          </a:p>
          <a:p>
            <a:pPr marL="342900" indent="-342900">
              <a:buFont typeface="+mj-lt"/>
              <a:buAutoNum type="arabicPeriod"/>
            </a:pPr>
            <a:r>
              <a:rPr lang="pt-BR" sz="1600" dirty="0" smtClean="0"/>
              <a:t>Desenvolver (ou contratar) sistemas de monitoração de serviços de negócio.</a:t>
            </a:r>
          </a:p>
          <a:p>
            <a:pPr marL="342900" indent="-342900">
              <a:buFont typeface="+mj-lt"/>
              <a:buAutoNum type="arabicPeriod"/>
            </a:pPr>
            <a:r>
              <a:rPr lang="pt-BR" sz="1600" dirty="0" smtClean="0"/>
              <a:t>Constituir (ou contratar) equipe dedicada para monitoração dos serviços.</a:t>
            </a:r>
          </a:p>
          <a:p>
            <a:pPr marL="342900" indent="-342900">
              <a:buFont typeface="+mj-lt"/>
              <a:buAutoNum type="arabicPeriod"/>
            </a:pPr>
            <a:r>
              <a:rPr lang="pt-BR" sz="1600" dirty="0" smtClean="0"/>
              <a:t>Definir processos automatizados para registro de incidentes.</a:t>
            </a:r>
          </a:p>
          <a:p>
            <a:pPr marL="342900" indent="-342900">
              <a:buFont typeface="+mj-lt"/>
              <a:buAutoNum type="arabicPeriod"/>
            </a:pPr>
            <a:r>
              <a:rPr lang="pt-BR" sz="1600" dirty="0" smtClean="0"/>
              <a:t>Implantar e gerenciar a monitoração.</a:t>
            </a:r>
          </a:p>
          <a:p>
            <a:pPr marL="342900" indent="-342900">
              <a:buFont typeface="+mj-lt"/>
              <a:buAutoNum type="arabicPeriod"/>
            </a:pPr>
            <a:endParaRPr lang="pt-BR" sz="1600" dirty="0" smtClean="0"/>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06</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Configuração dos Serviços</a:t>
            </a:r>
            <a:endParaRPr lang="pt-BR" sz="1600" dirty="0">
              <a:solidFill>
                <a:schemeClr val="bg1"/>
              </a:solidFill>
            </a:endParaRP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Monitoração de Serviços de Negócio</a:t>
            </a:r>
            <a:endParaRPr lang="pt-BR" sz="1600" b="1" dirty="0">
              <a:solidFill>
                <a:schemeClr val="bg1"/>
              </a:solidFill>
            </a:endParaRP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Metrô de Processos</a:t>
            </a:r>
            <a:endParaRPr lang="pt-BR" sz="1600" dirty="0">
              <a:solidFill>
                <a:schemeClr val="bg1"/>
              </a:solidFill>
            </a:endParaRPr>
          </a:p>
        </p:txBody>
      </p:sp>
      <p:sp>
        <p:nvSpPr>
          <p:cNvPr id="16" name="CaixaDeTexto 15"/>
          <p:cNvSpPr txBox="1"/>
          <p:nvPr/>
        </p:nvSpPr>
        <p:spPr>
          <a:xfrm rot="16200000">
            <a:off x="11213180" y="5828003"/>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Gestão de Serviços – Plano de Ação</a:t>
            </a:r>
            <a:endParaRPr lang="pt-BR" sz="2400" b="1" dirty="0">
              <a:solidFill>
                <a:srgbClr val="0070C0"/>
              </a:solidFill>
            </a:endParaRPr>
          </a:p>
        </p:txBody>
      </p:sp>
      <p:sp>
        <p:nvSpPr>
          <p:cNvPr id="18" name="CaixaDeTexto 1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Controle sobre Padrões de Atividade do Negócio</a:t>
            </a:r>
          </a:p>
          <a:p>
            <a:pPr marL="285750" indent="-285750">
              <a:buFont typeface="Wingdings" panose="05000000000000000000" pitchFamily="2" charset="2"/>
              <a:buChar char="§"/>
            </a:pPr>
            <a:r>
              <a:rPr lang="pt-BR" sz="1600" b="1" dirty="0" smtClean="0"/>
              <a:t>Gestão da Disponibilidade e Confiabilidade Aumento da conscientização sobre Serviços e impactos financeiros ao Negócio</a:t>
            </a:r>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3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1 – Alta</a:t>
            </a:r>
            <a:endParaRPr lang="pt-BR" sz="1600" dirty="0"/>
          </a:p>
        </p:txBody>
      </p:sp>
    </p:spTree>
    <p:extLst>
      <p:ext uri="{BB962C8B-B14F-4D97-AF65-F5344CB8AC3E}">
        <p14:creationId xmlns:p14="http://schemas.microsoft.com/office/powerpoint/2010/main" val="3595485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Metrô de Processos</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Consolidar o Metrô de Processos como prática, estabelecendo um modelo sustentável para Melhoria Contínua dos Serviços.   </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Aumentar a percepção de valor da utilização de processos de gestão.</a:t>
            </a:r>
          </a:p>
          <a:p>
            <a:pPr marL="285750" indent="-285750">
              <a:buFont typeface="Wingdings" panose="05000000000000000000" pitchFamily="2" charset="2"/>
              <a:buChar char="§"/>
            </a:pPr>
            <a:r>
              <a:rPr lang="pt-BR" sz="1600" dirty="0" smtClean="0"/>
              <a:t>Viabilizar a adesão em fases, priorizando a gestão dos Serviços.</a:t>
            </a:r>
          </a:p>
          <a:p>
            <a:pPr marL="285750" indent="-285750">
              <a:buFont typeface="Wingdings" panose="05000000000000000000" pitchFamily="2" charset="2"/>
              <a:buChar char="§"/>
            </a:pPr>
            <a:r>
              <a:rPr lang="pt-BR" sz="1600" dirty="0" smtClean="0"/>
              <a:t>Facilitar a definição de Papéis e Responsabilidades nos processos da VPTD.</a:t>
            </a:r>
          </a:p>
          <a:p>
            <a:pPr marL="285750" indent="-285750">
              <a:buFont typeface="Wingdings" panose="05000000000000000000" pitchFamily="2" charset="2"/>
              <a:buChar char="§"/>
            </a:pPr>
            <a:r>
              <a:rPr lang="pt-BR" sz="1600" dirty="0" smtClean="0"/>
              <a:t>Justificar investimentos para melhoria de Serviços.</a:t>
            </a:r>
          </a:p>
          <a:p>
            <a:pPr marL="285750" indent="-285750">
              <a:buFont typeface="Wingdings" panose="05000000000000000000" pitchFamily="2" charset="2"/>
              <a:buChar char="§"/>
            </a:pPr>
            <a:endParaRPr lang="pt-BR" sz="1600" dirty="0" smtClean="0"/>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Selecionar os processos prioritários para melhorar a qualidade dos Serviços da VPTD.</a:t>
            </a:r>
          </a:p>
          <a:p>
            <a:pPr marL="342900" indent="-342900">
              <a:buFont typeface="+mj-lt"/>
              <a:buAutoNum type="arabicPeriod"/>
            </a:pPr>
            <a:r>
              <a:rPr lang="pt-BR" sz="1600" dirty="0" smtClean="0"/>
              <a:t>Atribuir propriedade para cada processo.</a:t>
            </a:r>
          </a:p>
          <a:p>
            <a:pPr marL="342900" indent="-342900">
              <a:buFont typeface="+mj-lt"/>
              <a:buAutoNum type="arabicPeriod"/>
            </a:pPr>
            <a:r>
              <a:rPr lang="pt-BR" sz="1600" dirty="0" smtClean="0"/>
              <a:t>Revisar cada processo selecionado utilizando abordagem Lean.</a:t>
            </a:r>
          </a:p>
          <a:p>
            <a:pPr marL="342900" indent="-342900">
              <a:buFont typeface="+mj-lt"/>
              <a:buAutoNum type="arabicPeriod"/>
            </a:pPr>
            <a:r>
              <a:rPr lang="pt-BR" sz="1600" dirty="0" smtClean="0"/>
              <a:t>Revisar toda a documentação dos processos selecionados, simplificando-a.</a:t>
            </a:r>
          </a:p>
          <a:p>
            <a:pPr marL="342900" indent="-342900">
              <a:buFont typeface="+mj-lt"/>
              <a:buAutoNum type="arabicPeriod"/>
            </a:pPr>
            <a:r>
              <a:rPr lang="pt-BR" sz="1600" dirty="0" smtClean="0"/>
              <a:t>Redefinir a automação dos processos, extraindo poder das ferramentas.</a:t>
            </a:r>
          </a:p>
          <a:p>
            <a:pPr marL="342900" indent="-342900">
              <a:buFont typeface="+mj-lt"/>
              <a:buAutoNum type="arabicPeriod"/>
            </a:pPr>
            <a:r>
              <a:rPr lang="pt-BR" sz="1600" dirty="0" smtClean="0"/>
              <a:t>Definir papéis e responsabilidades para cada processo, considerando competências.</a:t>
            </a:r>
          </a:p>
          <a:p>
            <a:pPr marL="342900" indent="-342900">
              <a:buFont typeface="+mj-lt"/>
              <a:buAutoNum type="arabicPeriod"/>
            </a:pPr>
            <a:r>
              <a:rPr lang="pt-BR" sz="1600" dirty="0" smtClean="0"/>
              <a:t>Treinar todos os envolvidos e implantar os processos.</a:t>
            </a:r>
          </a:p>
          <a:p>
            <a:pPr marL="342900" indent="-342900">
              <a:buFont typeface="+mj-lt"/>
              <a:buAutoNum type="arabicPeriod"/>
            </a:pPr>
            <a:r>
              <a:rPr lang="pt-BR" sz="1600" dirty="0" smtClean="0"/>
              <a:t>Definir metas e produzir indicadores de eficácia e eficiência dos processos.</a:t>
            </a:r>
          </a:p>
          <a:p>
            <a:pPr marL="342900" indent="-342900">
              <a:buFont typeface="+mj-lt"/>
              <a:buAutoNum type="arabicPeriod"/>
            </a:pPr>
            <a:r>
              <a:rPr lang="pt-BR" sz="1600" dirty="0" smtClean="0"/>
              <a:t>Estabelecer ciclos de revisão para melhoria contínua, baseados em indicadores.</a:t>
            </a:r>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07</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Indicadores para Gestão de Serviços</a:t>
            </a: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Metrô de Processos</a:t>
            </a: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Gestão Financeira dos Serviços </a:t>
            </a:r>
            <a:endParaRPr lang="pt-BR" sz="1600" dirty="0">
              <a:solidFill>
                <a:schemeClr val="bg1"/>
              </a:solidFill>
            </a:endParaRPr>
          </a:p>
        </p:txBody>
      </p:sp>
      <p:sp>
        <p:nvSpPr>
          <p:cNvPr id="16" name="CaixaDeTexto 15"/>
          <p:cNvSpPr txBox="1"/>
          <p:nvPr/>
        </p:nvSpPr>
        <p:spPr>
          <a:xfrm rot="16200000">
            <a:off x="11213180"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Gestão de Serviços – Plano de Ação</a:t>
            </a:r>
            <a:endParaRPr lang="pt-BR" sz="2400" b="1" dirty="0">
              <a:solidFill>
                <a:srgbClr val="0070C0"/>
              </a:solidFill>
            </a:endParaRPr>
          </a:p>
        </p:txBody>
      </p:sp>
      <p:sp>
        <p:nvSpPr>
          <p:cNvPr id="18" name="CaixaDeTexto 1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Simplificação e automação dos processos</a:t>
            </a:r>
          </a:p>
          <a:p>
            <a:pPr marL="285750" indent="-285750">
              <a:buFont typeface="Wingdings" panose="05000000000000000000" pitchFamily="2" charset="2"/>
              <a:buChar char="§"/>
            </a:pPr>
            <a:r>
              <a:rPr lang="pt-BR" sz="1600" b="1" dirty="0" smtClean="0"/>
              <a:t>Priorização dos processos orientanda pela melhoria da qualidade dos Serviços</a:t>
            </a:r>
          </a:p>
          <a:p>
            <a:pPr marL="285750" indent="-285750">
              <a:buFont typeface="Wingdings" panose="05000000000000000000" pitchFamily="2" charset="2"/>
              <a:buChar char="§"/>
            </a:pPr>
            <a:r>
              <a:rPr lang="pt-BR" sz="1600" b="1" dirty="0" smtClean="0"/>
              <a:t>Propriedade sobre os processos definida</a:t>
            </a:r>
          </a:p>
          <a:p>
            <a:pPr marL="285750" indent="-285750">
              <a:buFont typeface="Wingdings" panose="05000000000000000000" pitchFamily="2" charset="2"/>
              <a:buChar char="§"/>
            </a:pPr>
            <a:r>
              <a:rPr lang="pt-BR" sz="1600" b="1" dirty="0" smtClean="0"/>
              <a:t>Ciclos de revisão implantados</a:t>
            </a:r>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6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2 – Média</a:t>
            </a:r>
            <a:endParaRPr lang="pt-BR" sz="1600" dirty="0"/>
          </a:p>
        </p:txBody>
      </p:sp>
    </p:spTree>
    <p:extLst>
      <p:ext uri="{BB962C8B-B14F-4D97-AF65-F5344CB8AC3E}">
        <p14:creationId xmlns:p14="http://schemas.microsoft.com/office/powerpoint/2010/main" val="4104258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a:solidFill>
                <a:schemeClr val="bg1"/>
              </a:solidFill>
            </a:endParaRPr>
          </a:p>
          <a:p>
            <a:r>
              <a:rPr lang="pt-BR" sz="3000" dirty="0" smtClean="0">
                <a:solidFill>
                  <a:schemeClr val="bg1"/>
                </a:solidFill>
              </a:rPr>
              <a:t>Portfólio de Serviços</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Estabelecer instrumentos e métodos para subsidiar decisões estratégicas e financeiras sobre serviços novos ou alterados.</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Aumentar o conhecimento controle sobre serviços em desenvolvimento, em produção e obsoletos provisionados pela VPTD.</a:t>
            </a:r>
          </a:p>
          <a:p>
            <a:pPr marL="285750" indent="-285750">
              <a:buFont typeface="Wingdings" panose="05000000000000000000" pitchFamily="2" charset="2"/>
              <a:buChar char="§"/>
            </a:pPr>
            <a:r>
              <a:rPr lang="pt-BR" sz="1600" dirty="0" smtClean="0"/>
              <a:t>Gerenciar demandas sob a perspectiva de serviços novos ou alterados.</a:t>
            </a:r>
          </a:p>
          <a:p>
            <a:pPr marL="285750" indent="-285750">
              <a:buFont typeface="Wingdings" panose="05000000000000000000" pitchFamily="2" charset="2"/>
              <a:buChar char="§"/>
            </a:pPr>
            <a:r>
              <a:rPr lang="pt-BR" sz="1600" dirty="0" smtClean="0"/>
              <a:t>Vincular Demandas, Projetos e Mudanças em dinâmica única, antecipando controles, decisões e compartilhamento do conhecimento.</a:t>
            </a:r>
          </a:p>
          <a:p>
            <a:pPr marL="285750" indent="-285750">
              <a:buFont typeface="Wingdings" panose="05000000000000000000" pitchFamily="2" charset="2"/>
              <a:buChar char="§"/>
            </a:pPr>
            <a:r>
              <a:rPr lang="pt-BR" sz="1600" dirty="0" smtClean="0"/>
              <a:t>Atuar como um Provedor Interno de Serviços, com gestão efetiva sobre o Valor dos Serviços para a estratégia dos Negócios.</a:t>
            </a:r>
          </a:p>
          <a:p>
            <a:pPr marL="285750" indent="-285750">
              <a:buFont typeface="Wingdings" panose="05000000000000000000" pitchFamily="2" charset="2"/>
              <a:buChar char="§"/>
            </a:pPr>
            <a:r>
              <a:rPr lang="pt-BR" sz="1600" dirty="0" smtClean="0"/>
              <a:t>Viabilizar o Gerenciamento Financeiro dos Serviços</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Definir, a partir do Catálogo de Serviços, a estrutura e os atributos do Portfólio de Serviços</a:t>
            </a:r>
          </a:p>
          <a:p>
            <a:pPr marL="342900" indent="-342900">
              <a:buFont typeface="+mj-lt"/>
              <a:buAutoNum type="arabicPeriod"/>
            </a:pPr>
            <a:r>
              <a:rPr lang="pt-BR" sz="1600" dirty="0" smtClean="0"/>
              <a:t>Redefinir processos de gestão das Demandas, de Projetos e de Mudanças, vinculando-os em uma única dinâmica uniforme</a:t>
            </a:r>
          </a:p>
          <a:p>
            <a:pPr marL="342900" indent="-342900">
              <a:buFont typeface="+mj-lt"/>
              <a:buAutoNum type="arabicPeriod"/>
            </a:pPr>
            <a:r>
              <a:rPr lang="pt-BR" sz="1600" dirty="0" smtClean="0"/>
              <a:t>Estabelecer critérios objetivos e instrumentos para suporte a tomada de decisão</a:t>
            </a:r>
          </a:p>
          <a:p>
            <a:pPr marL="342900" indent="-342900">
              <a:buFont typeface="+mj-lt"/>
              <a:buAutoNum type="arabicPeriod"/>
            </a:pPr>
            <a:r>
              <a:rPr lang="pt-BR" sz="1600" dirty="0"/>
              <a:t>Estabelecer </a:t>
            </a:r>
            <a:r>
              <a:rPr lang="pt-BR" sz="1600" dirty="0" smtClean="0"/>
              <a:t>um processo uniforme para </a:t>
            </a:r>
            <a:r>
              <a:rPr lang="pt-BR" sz="1600" dirty="0"/>
              <a:t>análise e decisão sobre quaisquer requerimentos por Serviços Novos ou Alterados (Utilidade e/ou Garantia</a:t>
            </a:r>
            <a:r>
              <a:rPr lang="pt-BR" sz="1600" dirty="0" smtClean="0"/>
              <a:t>)</a:t>
            </a:r>
          </a:p>
          <a:p>
            <a:pPr marL="342900" indent="-342900">
              <a:buFont typeface="+mj-lt"/>
              <a:buAutoNum type="arabicPeriod"/>
            </a:pPr>
            <a:r>
              <a:rPr lang="pt-BR" sz="1600" dirty="0" smtClean="0"/>
              <a:t>Negociar as prioridades do Portfólio de Serviços da VPTD com as áreas de Negócio, sob a perspectiva de alinhamento estratégico das demandas</a:t>
            </a:r>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08</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Catálogo de Serviços</a:t>
            </a: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Portfólio de Serviços</a:t>
            </a: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Gerenciamento Financeiro dos Serviços</a:t>
            </a:r>
            <a:endParaRPr lang="pt-BR" sz="1600" dirty="0">
              <a:solidFill>
                <a:schemeClr val="bg1"/>
              </a:solidFill>
            </a:endParaRPr>
          </a:p>
        </p:txBody>
      </p:sp>
      <p:sp>
        <p:nvSpPr>
          <p:cNvPr id="16" name="CaixaDeTexto 15"/>
          <p:cNvSpPr txBox="1"/>
          <p:nvPr/>
        </p:nvSpPr>
        <p:spPr>
          <a:xfrm rot="16200000">
            <a:off x="11213180"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Gestão de Serviços – Plano de Ação</a:t>
            </a:r>
            <a:endParaRPr lang="pt-BR" sz="2400" b="1" dirty="0">
              <a:solidFill>
                <a:srgbClr val="0070C0"/>
              </a:solidFill>
            </a:endParaRPr>
          </a:p>
        </p:txBody>
      </p:sp>
      <p:sp>
        <p:nvSpPr>
          <p:cNvPr id="18" name="CaixaDeTexto 1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Repositório único para todos os Serviços em desenvolvimento, em produção e obsoletos</a:t>
            </a:r>
          </a:p>
          <a:p>
            <a:pPr marL="285750" indent="-285750">
              <a:buFont typeface="Wingdings" panose="05000000000000000000" pitchFamily="2" charset="2"/>
              <a:buChar char="§"/>
            </a:pPr>
            <a:r>
              <a:rPr lang="pt-BR" sz="1600" b="1" dirty="0" smtClean="0"/>
              <a:t>Processo uniforme e abrangente para decisão e controle sobre Mudanças</a:t>
            </a:r>
          </a:p>
          <a:p>
            <a:pPr marL="285750" indent="-285750">
              <a:buFont typeface="Wingdings" panose="05000000000000000000" pitchFamily="2" charset="2"/>
              <a:buChar char="§"/>
            </a:pPr>
            <a:r>
              <a:rPr lang="pt-BR" sz="1600" b="1" dirty="0" smtClean="0"/>
              <a:t>VPTD agindo como “Provedor de Serviços”</a:t>
            </a:r>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a:t>4</a:t>
            </a:r>
            <a:r>
              <a:rPr lang="pt-BR" sz="1600" dirty="0" smtClean="0"/>
              <a:t>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3 – Baixa</a:t>
            </a:r>
            <a:endParaRPr lang="pt-BR" sz="1600" dirty="0"/>
          </a:p>
        </p:txBody>
      </p:sp>
    </p:spTree>
    <p:extLst>
      <p:ext uri="{BB962C8B-B14F-4D97-AF65-F5344CB8AC3E}">
        <p14:creationId xmlns:p14="http://schemas.microsoft.com/office/powerpoint/2010/main" val="39545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a:solidFill>
                <a:schemeClr val="bg1"/>
              </a:solidFill>
            </a:endParaRPr>
          </a:p>
          <a:p>
            <a:r>
              <a:rPr lang="pt-BR" sz="3000" dirty="0" smtClean="0">
                <a:solidFill>
                  <a:schemeClr val="bg1"/>
                </a:solidFill>
              </a:rPr>
              <a:t>Gestão Financeira dos Serviços</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Habilitar a Gestão Financeira da VPTD ao controle efetivo sobre investimentos e custos da qualidade dos Serviços.</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Justificar investimentos da VPTD à satisfação dos requerimentos de negócio.</a:t>
            </a:r>
          </a:p>
          <a:p>
            <a:pPr marL="285750" indent="-285750">
              <a:buFont typeface="Wingdings" panose="05000000000000000000" pitchFamily="2" charset="2"/>
              <a:buChar char="§"/>
            </a:pPr>
            <a:r>
              <a:rPr lang="pt-BR" sz="1600" dirty="0" smtClean="0"/>
              <a:t>Viabilizar a contabilidade sobre o consumo de Serviços e despesas para operação e manutenção.</a:t>
            </a:r>
          </a:p>
          <a:p>
            <a:pPr marL="285750" indent="-285750">
              <a:buFont typeface="Wingdings" panose="05000000000000000000" pitchFamily="2" charset="2"/>
              <a:buChar char="§"/>
            </a:pPr>
            <a:r>
              <a:rPr lang="pt-BR" sz="1600" dirty="0" smtClean="0"/>
              <a:t>Viabilizar a identificação das áreas usuárias para eventual prestação de contas e/ou faturamento gerencial.</a:t>
            </a:r>
          </a:p>
          <a:p>
            <a:pPr marL="285750" indent="-285750">
              <a:buFont typeface="Wingdings" panose="05000000000000000000" pitchFamily="2" charset="2"/>
              <a:buChar char="§"/>
            </a:pPr>
            <a:r>
              <a:rPr lang="pt-BR" sz="1600" dirty="0" smtClean="0"/>
              <a:t>Favorecer a conscientização da organização sobre a melhor utilização do orçamento, identificando oportunidades para </a:t>
            </a:r>
            <a:r>
              <a:rPr lang="pt-BR" sz="1600" i="1" dirty="0" smtClean="0"/>
              <a:t>saving.</a:t>
            </a:r>
          </a:p>
          <a:p>
            <a:pPr marL="285750" indent="-285750">
              <a:buFont typeface="Wingdings" panose="05000000000000000000" pitchFamily="2" charset="2"/>
              <a:buChar char="§"/>
            </a:pPr>
            <a:r>
              <a:rPr lang="pt-BR" sz="1600" dirty="0" smtClean="0"/>
              <a:t>Vincular investimentos da VPTD ao Planejamento Estratégico Natura. </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pPr marL="342900" indent="-342900">
              <a:buFont typeface="+mj-lt"/>
              <a:buAutoNum type="arabicPeriod"/>
            </a:pPr>
            <a:endParaRPr lang="pt-BR" sz="1600" dirty="0" smtClean="0"/>
          </a:p>
          <a:p>
            <a:r>
              <a:rPr lang="pt-BR" sz="1600" dirty="0" smtClean="0"/>
              <a:t>Atividades:</a:t>
            </a:r>
          </a:p>
          <a:p>
            <a:pPr marL="342900" indent="-342900">
              <a:buFont typeface="+mj-lt"/>
              <a:buAutoNum type="arabicPeriod"/>
            </a:pPr>
            <a:r>
              <a:rPr lang="pt-BR" sz="1600" dirty="0" smtClean="0"/>
              <a:t>Identificar, a partir do SGC, os custos dos componentes dos serviços e as unidades de negócio clientes dos Serviços. </a:t>
            </a:r>
          </a:p>
          <a:p>
            <a:pPr marL="342900" indent="-342900">
              <a:buFont typeface="+mj-lt"/>
              <a:buAutoNum type="arabicPeriod"/>
            </a:pPr>
            <a:r>
              <a:rPr lang="pt-BR" sz="1600" dirty="0" smtClean="0"/>
              <a:t>Desenvolver Modelo de Custos e Plano de Contas por Serviços.</a:t>
            </a:r>
          </a:p>
          <a:p>
            <a:pPr marL="342900" indent="-342900">
              <a:buFont typeface="+mj-lt"/>
              <a:buAutoNum type="arabicPeriod"/>
            </a:pPr>
            <a:r>
              <a:rPr lang="pt-BR" sz="1600" dirty="0" smtClean="0"/>
              <a:t>Estabelecer métricas e unidades de contabilidade para investimentos de projetos, atividades dos processos, operações continuadas, contratos de manutenção, alocação profissional eventual e demais custos da VPTD, classificando todas os custos. da VPTD.</a:t>
            </a:r>
          </a:p>
          <a:p>
            <a:pPr marL="342900" indent="-342900">
              <a:buFont typeface="+mj-lt"/>
              <a:buAutoNum type="arabicPeriod"/>
            </a:pPr>
            <a:r>
              <a:rPr lang="pt-BR" sz="1600" dirty="0" smtClean="0"/>
              <a:t>Elaborar orçamentos orientados aos Serviços. </a:t>
            </a:r>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09</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Configuração dos Serviços</a:t>
            </a: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Gestão Financeira dos Serviços</a:t>
            </a: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br>
              <a:rPr lang="pt-BR" sz="1600" dirty="0" smtClean="0">
                <a:solidFill>
                  <a:schemeClr val="bg1"/>
                </a:solidFill>
              </a:rPr>
            </a:br>
            <a:r>
              <a:rPr lang="pt-BR" sz="1600" dirty="0" smtClean="0">
                <a:solidFill>
                  <a:schemeClr val="bg1"/>
                </a:solidFill>
              </a:rPr>
              <a:t>Plano Estratégico Natura</a:t>
            </a:r>
            <a:endParaRPr lang="pt-BR" sz="1600" dirty="0">
              <a:solidFill>
                <a:schemeClr val="bg1"/>
              </a:solidFill>
            </a:endParaRPr>
          </a:p>
        </p:txBody>
      </p:sp>
      <p:sp>
        <p:nvSpPr>
          <p:cNvPr id="16" name="CaixaDeTexto 15"/>
          <p:cNvSpPr txBox="1"/>
          <p:nvPr/>
        </p:nvSpPr>
        <p:spPr>
          <a:xfrm rot="16200000">
            <a:off x="11213180"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Gestão de Serviços – Plano de Ação</a:t>
            </a:r>
            <a:endParaRPr lang="pt-BR" sz="2400" b="1" dirty="0">
              <a:solidFill>
                <a:srgbClr val="0070C0"/>
              </a:solidFill>
            </a:endParaRPr>
          </a:p>
        </p:txBody>
      </p:sp>
      <p:sp>
        <p:nvSpPr>
          <p:cNvPr id="18" name="CaixaDeTexto 1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Orçamento, contabilidade e opcionalmente cobrança vinculados aos Serviços.</a:t>
            </a:r>
          </a:p>
          <a:p>
            <a:pPr marL="285750" indent="-285750">
              <a:buFont typeface="Wingdings" panose="05000000000000000000" pitchFamily="2" charset="2"/>
              <a:buChar char="§"/>
            </a:pPr>
            <a:r>
              <a:rPr lang="pt-BR" sz="1600" b="1" dirty="0" smtClean="0"/>
              <a:t>Gestão e controles sobre os custos da qualidade da VPTD.</a:t>
            </a:r>
          </a:p>
          <a:p>
            <a:pPr marL="285750" indent="-285750">
              <a:buFont typeface="Wingdings" panose="05000000000000000000" pitchFamily="2" charset="2"/>
              <a:buChar char="§"/>
            </a:pPr>
            <a:endParaRPr lang="pt-BR" sz="1600" b="1" dirty="0" smtClean="0"/>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a:t>4</a:t>
            </a:r>
            <a:r>
              <a:rPr lang="pt-BR" sz="1600" dirty="0" smtClean="0"/>
              <a:t>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3 – Baixa</a:t>
            </a:r>
            <a:endParaRPr lang="pt-BR" sz="1600" dirty="0"/>
          </a:p>
        </p:txBody>
      </p:sp>
    </p:spTree>
    <p:extLst>
      <p:ext uri="{BB962C8B-B14F-4D97-AF65-F5344CB8AC3E}">
        <p14:creationId xmlns:p14="http://schemas.microsoft.com/office/powerpoint/2010/main" val="2241322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P&amp;D em Infraestrutura Digital</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Transformar as características da Infraestrutura tradicional para suportar o desenvolvimento do Plano Estratégico Natura.</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Estabelecer responsabilidades pela pesquisa e desenvolvimento permanente de soluções inovadoras em Infraestrutura.</a:t>
            </a:r>
          </a:p>
          <a:p>
            <a:pPr marL="285750" indent="-285750">
              <a:buFont typeface="Wingdings" panose="05000000000000000000" pitchFamily="2" charset="2"/>
              <a:buChar char="§"/>
            </a:pPr>
            <a:r>
              <a:rPr lang="pt-BR" sz="1600" dirty="0" smtClean="0"/>
              <a:t>Reduzir dependências das limitações de capacidade e performance dos componentes e das estruturas de suporte tradicionais de Infraestrutura, proporcionando escalabilidade ágil ao negócio.</a:t>
            </a:r>
          </a:p>
          <a:p>
            <a:pPr marL="285750" indent="-285750">
              <a:buFont typeface="Wingdings" panose="05000000000000000000" pitchFamily="2" charset="2"/>
              <a:buChar char="§"/>
            </a:pPr>
            <a:r>
              <a:rPr lang="pt-BR" sz="1600" dirty="0" smtClean="0"/>
              <a:t>Proporcionar a redução de custos com ativos e suporte à Infraestrutura.</a:t>
            </a:r>
          </a:p>
          <a:p>
            <a:pPr marL="285750" indent="-285750">
              <a:buFont typeface="Wingdings" panose="05000000000000000000" pitchFamily="2" charset="2"/>
              <a:buChar char="§"/>
            </a:pPr>
            <a:r>
              <a:rPr lang="pt-BR" sz="1600" dirty="0" smtClean="0"/>
              <a:t>Garantir atualização tecnológica.</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Definir responsabilidade pelo processo.</a:t>
            </a:r>
          </a:p>
          <a:p>
            <a:pPr marL="342900" indent="-342900">
              <a:buFont typeface="+mj-lt"/>
              <a:buAutoNum type="arabicPeriod"/>
            </a:pPr>
            <a:r>
              <a:rPr lang="pt-BR" sz="1600" dirty="0" smtClean="0"/>
              <a:t>Realizar pesquisa e benchmarking nos diferentes segmentos de negócio constantes do Plano Estratégico Natura.</a:t>
            </a:r>
          </a:p>
          <a:p>
            <a:pPr marL="342900" indent="-342900">
              <a:buFont typeface="+mj-lt"/>
              <a:buAutoNum type="arabicPeriod"/>
            </a:pPr>
            <a:r>
              <a:rPr lang="pt-BR" sz="1600" dirty="0" smtClean="0"/>
              <a:t>Buscar soluções inovadoras e econômicas em infraestrutura de alta disponibilidade.</a:t>
            </a:r>
          </a:p>
          <a:p>
            <a:pPr marL="342900" indent="-342900">
              <a:buFont typeface="+mj-lt"/>
              <a:buAutoNum type="arabicPeriod"/>
            </a:pPr>
            <a:r>
              <a:rPr lang="pt-BR" sz="1600" dirty="0" smtClean="0"/>
              <a:t>Elaborar </a:t>
            </a:r>
            <a:r>
              <a:rPr lang="pt-BR" sz="1600" i="1" dirty="0" smtClean="0"/>
              <a:t>Business Case</a:t>
            </a:r>
            <a:r>
              <a:rPr lang="pt-BR" sz="1600" dirty="0" smtClean="0"/>
              <a:t> para análise das alternativas.</a:t>
            </a:r>
          </a:p>
          <a:p>
            <a:pPr marL="342900" indent="-342900">
              <a:buFont typeface="+mj-lt"/>
              <a:buAutoNum type="arabicPeriod"/>
            </a:pPr>
            <a:r>
              <a:rPr lang="pt-BR" sz="1600" dirty="0" smtClean="0"/>
              <a:t>Selecionar a solução de melhor custo e benefício.</a:t>
            </a:r>
          </a:p>
          <a:p>
            <a:pPr marL="342900" indent="-342900">
              <a:buFont typeface="+mj-lt"/>
              <a:buAutoNum type="arabicPeriod"/>
            </a:pPr>
            <a:r>
              <a:rPr lang="pt-BR" sz="1600" dirty="0" smtClean="0"/>
              <a:t>Elaborar projeto para migração da Infraestrutura.</a:t>
            </a:r>
          </a:p>
          <a:p>
            <a:pPr marL="342900" indent="-342900">
              <a:buFont typeface="+mj-lt"/>
              <a:buAutoNum type="arabicPeriod"/>
            </a:pPr>
            <a:r>
              <a:rPr lang="pt-BR" sz="1600" dirty="0" smtClean="0"/>
              <a:t>Executar o projeto.</a:t>
            </a:r>
          </a:p>
          <a:p>
            <a:pPr marL="342900" indent="-342900">
              <a:buFont typeface="+mj-lt"/>
              <a:buAutoNum type="arabicPeriod"/>
            </a:pPr>
            <a:r>
              <a:rPr lang="pt-BR" sz="1600" dirty="0" smtClean="0"/>
              <a:t>Revisar periodicamente</a:t>
            </a:r>
            <a:r>
              <a:rPr lang="pt-BR" sz="1600" dirty="0"/>
              <a:t>.</a:t>
            </a:r>
            <a:endParaRPr lang="pt-BR" sz="1600" dirty="0" smtClean="0"/>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10</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Gestão da Configuração</a:t>
            </a: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P&amp;D em Infraestrutura Digital</a:t>
            </a: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Plano Estratégico Natura</a:t>
            </a:r>
            <a:endParaRPr lang="pt-BR" sz="1600" dirty="0">
              <a:solidFill>
                <a:schemeClr val="bg1"/>
              </a:solidFill>
            </a:endParaRPr>
          </a:p>
        </p:txBody>
      </p:sp>
      <p:sp>
        <p:nvSpPr>
          <p:cNvPr id="16" name="CaixaDeTexto 15"/>
          <p:cNvSpPr txBox="1"/>
          <p:nvPr/>
        </p:nvSpPr>
        <p:spPr>
          <a:xfrm rot="16200000">
            <a:off x="11213180"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Gestão de Serviços – Plano de Ação</a:t>
            </a:r>
            <a:endParaRPr lang="pt-BR" sz="2400" b="1" dirty="0">
              <a:solidFill>
                <a:srgbClr val="0070C0"/>
              </a:solidFill>
            </a:endParaRPr>
          </a:p>
        </p:txBody>
      </p:sp>
      <p:sp>
        <p:nvSpPr>
          <p:cNvPr id="21" name="CaixaDeTexto 20"/>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Aumento da Disponibilidade e Confiabilidade.</a:t>
            </a:r>
          </a:p>
          <a:p>
            <a:pPr marL="285750" indent="-285750">
              <a:buFont typeface="Wingdings" panose="05000000000000000000" pitchFamily="2" charset="2"/>
              <a:buChar char="§"/>
            </a:pPr>
            <a:r>
              <a:rPr lang="pt-BR" sz="1600" b="1" dirty="0" smtClean="0"/>
              <a:t>Redução de variações de desempenho relacionado a limitações de capacidade.</a:t>
            </a:r>
          </a:p>
          <a:p>
            <a:pPr marL="285750" indent="-285750">
              <a:buFont typeface="Wingdings" panose="05000000000000000000" pitchFamily="2" charset="2"/>
              <a:buChar char="§"/>
            </a:pPr>
            <a:r>
              <a:rPr lang="pt-BR" sz="1600" b="1" dirty="0" smtClean="0"/>
              <a:t>Oportunidade para redução de custos.</a:t>
            </a:r>
          </a:p>
        </p:txBody>
      </p:sp>
      <p:sp>
        <p:nvSpPr>
          <p:cNvPr id="22" name="CaixaDeTexto 21"/>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a:t>4</a:t>
            </a:r>
            <a:r>
              <a:rPr lang="pt-BR" sz="1600" dirty="0" smtClean="0"/>
              <a:t> meses</a:t>
            </a:r>
            <a:endParaRPr lang="pt-BR" sz="1600" dirty="0"/>
          </a:p>
        </p:txBody>
      </p:sp>
      <p:sp>
        <p:nvSpPr>
          <p:cNvPr id="23" name="CaixaDeTexto 22"/>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3 – Baixa</a:t>
            </a:r>
            <a:endParaRPr lang="pt-BR" sz="1600" dirty="0"/>
          </a:p>
        </p:txBody>
      </p:sp>
    </p:spTree>
    <p:extLst>
      <p:ext uri="{BB962C8B-B14F-4D97-AF65-F5344CB8AC3E}">
        <p14:creationId xmlns:p14="http://schemas.microsoft.com/office/powerpoint/2010/main" val="419745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Gestão por Competências</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Utilizar as competências e habilidades dos profissionais em benefício da Entrega de Soluções e Suporte aos Serviços.</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Identificar e gerenciar o conjunto de competências e habilidades incluindo supressão de </a:t>
            </a:r>
            <a:r>
              <a:rPr lang="pt-BR" sz="1600" i="1" dirty="0" smtClean="0"/>
              <a:t>gaps</a:t>
            </a:r>
            <a:r>
              <a:rPr lang="pt-BR" sz="1600" dirty="0" smtClean="0"/>
              <a:t>.</a:t>
            </a:r>
          </a:p>
          <a:p>
            <a:pPr marL="285750" indent="-285750">
              <a:buFont typeface="Wingdings" panose="05000000000000000000" pitchFamily="2" charset="2"/>
              <a:buChar char="§"/>
            </a:pPr>
            <a:r>
              <a:rPr lang="pt-BR" sz="1600" dirty="0" smtClean="0"/>
              <a:t>Melhorar o aproveitamento das competências de VPTD.</a:t>
            </a:r>
          </a:p>
          <a:p>
            <a:pPr marL="285750" indent="-285750">
              <a:buFont typeface="Wingdings" panose="05000000000000000000" pitchFamily="2" charset="2"/>
              <a:buChar char="§"/>
            </a:pPr>
            <a:r>
              <a:rPr lang="pt-BR" sz="1600" dirty="0" smtClean="0"/>
              <a:t>Otimizar a alocação de recursos em relação às prioridades do negócio.</a:t>
            </a:r>
          </a:p>
          <a:p>
            <a:pPr marL="285750" indent="-285750">
              <a:buFont typeface="Wingdings" panose="05000000000000000000" pitchFamily="2" charset="2"/>
              <a:buChar char="§"/>
            </a:pPr>
            <a:r>
              <a:rPr lang="pt-BR" sz="1600" dirty="0" smtClean="0"/>
              <a:t>Viabilizar a reestruturação organizacional.</a:t>
            </a:r>
          </a:p>
          <a:p>
            <a:pPr marL="285750" indent="-285750">
              <a:buFont typeface="Wingdings" panose="05000000000000000000" pitchFamily="2" charset="2"/>
              <a:buChar char="§"/>
            </a:pPr>
            <a:r>
              <a:rPr lang="pt-BR" sz="1600" dirty="0" smtClean="0"/>
              <a:t>Suportar o gerenciamento de contratos de alocação profissional.</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Solicitar ao RH análise de viabilidade do modelo.</a:t>
            </a:r>
          </a:p>
          <a:p>
            <a:pPr marL="342900" indent="-342900">
              <a:buFont typeface="+mj-lt"/>
              <a:buAutoNum type="arabicPeriod"/>
            </a:pPr>
            <a:r>
              <a:rPr lang="pt-BR" sz="1600" dirty="0" smtClean="0"/>
              <a:t>Atribuir a gestão centralizada de recursos e </a:t>
            </a:r>
            <a:r>
              <a:rPr lang="pt-BR" sz="1600" dirty="0"/>
              <a:t>competências à </a:t>
            </a:r>
            <a:r>
              <a:rPr lang="pt-BR" sz="1600" dirty="0" smtClean="0"/>
              <a:t>Governança.</a:t>
            </a:r>
          </a:p>
          <a:p>
            <a:pPr marL="342900" indent="-342900">
              <a:buFont typeface="+mj-lt"/>
              <a:buAutoNum type="arabicPeriod"/>
            </a:pPr>
            <a:r>
              <a:rPr lang="pt-BR" sz="1600" dirty="0" smtClean="0"/>
              <a:t>Realizar Censo de habilidades, formação e certificações.</a:t>
            </a:r>
          </a:p>
          <a:p>
            <a:pPr marL="342900" indent="-342900">
              <a:buFont typeface="+mj-lt"/>
              <a:buAutoNum type="arabicPeriod"/>
            </a:pPr>
            <a:r>
              <a:rPr lang="pt-BR" sz="1600" dirty="0" smtClean="0"/>
              <a:t>Identificar eventuais </a:t>
            </a:r>
            <a:r>
              <a:rPr lang="pt-BR" sz="1600" i="1" dirty="0" smtClean="0"/>
              <a:t>gaps</a:t>
            </a:r>
            <a:r>
              <a:rPr lang="pt-BR" sz="1600" dirty="0" smtClean="0"/>
              <a:t> de competências e capacitar recursos para suprimi-los.</a:t>
            </a:r>
          </a:p>
          <a:p>
            <a:pPr marL="342900" indent="-342900">
              <a:buFont typeface="+mj-lt"/>
              <a:buAutoNum type="arabicPeriod"/>
            </a:pPr>
            <a:r>
              <a:rPr lang="pt-BR" sz="1600" dirty="0" smtClean="0"/>
              <a:t>Desenvolver sistema de controle de alocação, vinculado ao CA SDM e Clarity PPM, para atendimento aos requerimentos de Entrega de Soluções e Suporte aos Serviços.</a:t>
            </a:r>
          </a:p>
          <a:p>
            <a:pPr marL="342900" indent="-342900">
              <a:buFont typeface="+mj-lt"/>
              <a:buAutoNum type="arabicPeriod"/>
            </a:pPr>
            <a:r>
              <a:rPr lang="pt-BR" sz="1600" dirty="0" smtClean="0"/>
              <a:t>Gerenciar a alocação, controlando horas trabalhadas em Entrega de Soluções e Suporte aos Serviços.</a:t>
            </a:r>
          </a:p>
          <a:p>
            <a:pPr marL="342900" indent="-342900">
              <a:buFont typeface="+mj-lt"/>
              <a:buAutoNum type="arabicPeriod"/>
            </a:pPr>
            <a:r>
              <a:rPr lang="pt-BR" sz="1600" dirty="0" smtClean="0"/>
              <a:t>Estabelecer processo e gatilhos para manutenção das informações.   </a:t>
            </a:r>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11</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Projetos e Processos de Gestão </a:t>
            </a: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Gestão por Competências</a:t>
            </a: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Dinâmica Operacional</a:t>
            </a:r>
            <a:endParaRPr lang="pt-BR" sz="1600" dirty="0">
              <a:solidFill>
                <a:schemeClr val="bg1"/>
              </a:solidFill>
            </a:endParaRPr>
          </a:p>
        </p:txBody>
      </p:sp>
      <p:sp>
        <p:nvSpPr>
          <p:cNvPr id="16" name="CaixaDeTexto 15"/>
          <p:cNvSpPr txBox="1"/>
          <p:nvPr/>
        </p:nvSpPr>
        <p:spPr>
          <a:xfrm rot="16200000">
            <a:off x="11213180"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Dinâmica Operacional – Plano de Ação</a:t>
            </a:r>
            <a:endParaRPr lang="pt-BR" sz="2400" b="1" dirty="0">
              <a:solidFill>
                <a:srgbClr val="0070C0"/>
              </a:solidFill>
            </a:endParaRPr>
          </a:p>
        </p:txBody>
      </p:sp>
      <p:sp>
        <p:nvSpPr>
          <p:cNvPr id="21" name="CaixaDeTexto 20"/>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Base de dados com informações sobre recursos e competências.</a:t>
            </a:r>
          </a:p>
          <a:p>
            <a:pPr marL="285750" indent="-285750">
              <a:buFont typeface="Wingdings" panose="05000000000000000000" pitchFamily="2" charset="2"/>
              <a:buChar char="§"/>
            </a:pPr>
            <a:r>
              <a:rPr lang="pt-BR" sz="1600" b="1" dirty="0" smtClean="0"/>
              <a:t>Lista de </a:t>
            </a:r>
            <a:r>
              <a:rPr lang="pt-BR" sz="1600" b="1" i="1" dirty="0" smtClean="0"/>
              <a:t>gaps</a:t>
            </a:r>
            <a:r>
              <a:rPr lang="pt-BR" sz="1600" b="1" dirty="0" smtClean="0"/>
              <a:t> de competências.</a:t>
            </a:r>
          </a:p>
          <a:p>
            <a:pPr marL="285750" indent="-285750">
              <a:buFont typeface="Wingdings" panose="05000000000000000000" pitchFamily="2" charset="2"/>
              <a:buChar char="§"/>
            </a:pPr>
            <a:r>
              <a:rPr lang="pt-BR" sz="1600" b="1" dirty="0" smtClean="0"/>
              <a:t>Sistema para controle de alocação. </a:t>
            </a:r>
          </a:p>
          <a:p>
            <a:pPr marL="285750" indent="-285750">
              <a:buFont typeface="Wingdings" panose="05000000000000000000" pitchFamily="2" charset="2"/>
              <a:buChar char="§"/>
            </a:pPr>
            <a:r>
              <a:rPr lang="pt-BR" sz="1600" b="1" dirty="0" smtClean="0"/>
              <a:t>Processo de manutenção da base.</a:t>
            </a:r>
          </a:p>
        </p:txBody>
      </p:sp>
      <p:sp>
        <p:nvSpPr>
          <p:cNvPr id="22" name="CaixaDeTexto 21"/>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2 meses</a:t>
            </a:r>
            <a:endParaRPr lang="pt-BR" sz="1600" dirty="0"/>
          </a:p>
        </p:txBody>
      </p:sp>
      <p:sp>
        <p:nvSpPr>
          <p:cNvPr id="23" name="CaixaDeTexto 22"/>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3 – Baixa</a:t>
            </a:r>
            <a:endParaRPr lang="pt-BR" sz="1600" dirty="0"/>
          </a:p>
        </p:txBody>
      </p:sp>
    </p:spTree>
    <p:extLst>
      <p:ext uri="{BB962C8B-B14F-4D97-AF65-F5344CB8AC3E}">
        <p14:creationId xmlns:p14="http://schemas.microsoft.com/office/powerpoint/2010/main" val="488146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Dinâmica Operacional</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Redefinir a dinâmica operacional estabelecendo estruturas para gestão de Entrega de Soluções e Suporte aos Serviços.</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Aumentar a integração entre recursos e habilidades especializados em Infraestrutura e Sistemas.</a:t>
            </a:r>
          </a:p>
          <a:p>
            <a:pPr marL="285750" indent="-285750">
              <a:buFont typeface="Wingdings" panose="05000000000000000000" pitchFamily="2" charset="2"/>
              <a:buChar char="§"/>
            </a:pPr>
            <a:r>
              <a:rPr lang="pt-BR" sz="1600" dirty="0" smtClean="0"/>
              <a:t>Favorecer o atendimento às prioridades do negócio, relacionadas a Entrega de Soluções e Suporte aos Serviços.</a:t>
            </a:r>
          </a:p>
          <a:p>
            <a:pPr marL="285750" indent="-285750">
              <a:buFont typeface="Wingdings" panose="05000000000000000000" pitchFamily="2" charset="2"/>
              <a:buChar char="§"/>
            </a:pPr>
            <a:r>
              <a:rPr lang="pt-BR" sz="1600" dirty="0" smtClean="0"/>
              <a:t>Atuar como um Provedor Interno de Serviços de TD para o negócio.</a:t>
            </a:r>
          </a:p>
          <a:p>
            <a:pPr marL="285750" indent="-285750">
              <a:buFont typeface="Wingdings" panose="05000000000000000000" pitchFamily="2" charset="2"/>
              <a:buChar char="§"/>
            </a:pPr>
            <a:r>
              <a:rPr lang="pt-BR" sz="1600" dirty="0" smtClean="0"/>
              <a:t>Reduzir ou eliminar conflitos de prioridades entre áreas funcionais.</a:t>
            </a:r>
          </a:p>
          <a:p>
            <a:pPr marL="285750" indent="-285750">
              <a:buFont typeface="Wingdings" panose="05000000000000000000" pitchFamily="2" charset="2"/>
              <a:buChar char="§"/>
            </a:pPr>
            <a:r>
              <a:rPr lang="pt-BR" sz="1600" dirty="0" smtClean="0"/>
              <a:t>Utilizar de forma plena os recursos e habilidades disponíveis em TD.</a:t>
            </a:r>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smtClean="0"/>
              <a:t>Solicitar ao RH análise de viabilidade do modelo.</a:t>
            </a:r>
          </a:p>
          <a:p>
            <a:pPr marL="342900" indent="-342900">
              <a:buFont typeface="+mj-lt"/>
              <a:buAutoNum type="arabicPeriod"/>
            </a:pPr>
            <a:r>
              <a:rPr lang="pt-BR" sz="1600" dirty="0" smtClean="0"/>
              <a:t>Inventariar e documentar pendências relacionadas a Projetos e processos de Gestão de Serviços.</a:t>
            </a:r>
          </a:p>
          <a:p>
            <a:pPr marL="342900" indent="-342900">
              <a:buFont typeface="+mj-lt"/>
              <a:buAutoNum type="arabicPeriod"/>
            </a:pPr>
            <a:r>
              <a:rPr lang="pt-BR" sz="1600" dirty="0" smtClean="0"/>
              <a:t>Definir responsabilidades para gestão de Entrega de Soluções e Suporte aos Serviços.</a:t>
            </a:r>
          </a:p>
          <a:p>
            <a:pPr marL="342900" indent="-342900">
              <a:buFont typeface="+mj-lt"/>
              <a:buAutoNum type="arabicPeriod"/>
            </a:pPr>
            <a:r>
              <a:rPr lang="pt-BR" sz="1600" dirty="0"/>
              <a:t>Definir </a:t>
            </a:r>
            <a:r>
              <a:rPr lang="pt-BR" sz="1600" dirty="0" smtClean="0"/>
              <a:t>responsabilidades para das </a:t>
            </a:r>
            <a:r>
              <a:rPr lang="pt-BR" sz="1600" dirty="0"/>
              <a:t>equipes operacionais (</a:t>
            </a:r>
            <a:r>
              <a:rPr lang="pt-BR" sz="1600" dirty="0" smtClean="0"/>
              <a:t>Monitoração, Operação Data Center e </a:t>
            </a:r>
            <a:r>
              <a:rPr lang="pt-BR" sz="1600" dirty="0"/>
              <a:t>Service </a:t>
            </a:r>
            <a:r>
              <a:rPr lang="pt-BR" sz="1600" dirty="0" smtClean="0"/>
              <a:t>Desk).</a:t>
            </a:r>
          </a:p>
          <a:p>
            <a:pPr marL="342900" indent="-342900">
              <a:buFont typeface="+mj-lt"/>
              <a:buAutoNum type="arabicPeriod"/>
            </a:pPr>
            <a:r>
              <a:rPr lang="pt-BR" sz="1600" dirty="0" smtClean="0"/>
              <a:t>Estabelecer processo para requerimentos de recursos e habilidades.</a:t>
            </a:r>
          </a:p>
          <a:p>
            <a:pPr marL="342900" indent="-342900">
              <a:buFont typeface="+mj-lt"/>
              <a:buAutoNum type="arabicPeriod"/>
            </a:pPr>
            <a:r>
              <a:rPr lang="pt-BR" sz="1600" dirty="0" smtClean="0"/>
              <a:t>Estabelecer controles sobre desempenho em Desenho, Transição, Operação e Melhoria Contínua de Serviços.</a:t>
            </a:r>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12</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Gestão por Competências</a:t>
            </a: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Dinâmica Operacional</a:t>
            </a: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Estrutura Organizacional Radial</a:t>
            </a:r>
            <a:endParaRPr lang="pt-BR" sz="1600" dirty="0">
              <a:solidFill>
                <a:schemeClr val="bg1"/>
              </a:solidFill>
            </a:endParaRPr>
          </a:p>
        </p:txBody>
      </p:sp>
      <p:sp>
        <p:nvSpPr>
          <p:cNvPr id="16" name="CaixaDeTexto 15"/>
          <p:cNvSpPr txBox="1"/>
          <p:nvPr/>
        </p:nvSpPr>
        <p:spPr>
          <a:xfrm rot="16200000">
            <a:off x="11213180"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Dinâmica Operacional – Plano de Ação</a:t>
            </a:r>
            <a:endParaRPr lang="pt-BR" sz="2400" b="1" dirty="0">
              <a:solidFill>
                <a:srgbClr val="0070C0"/>
              </a:solidFill>
            </a:endParaRPr>
          </a:p>
        </p:txBody>
      </p:sp>
      <p:sp>
        <p:nvSpPr>
          <p:cNvPr id="18" name="CaixaDeTexto 17"/>
          <p:cNvSpPr txBox="1"/>
          <p:nvPr/>
        </p:nvSpPr>
        <p:spPr>
          <a:xfrm>
            <a:off x="7829551" y="3667474"/>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Responsabilidades definidas.</a:t>
            </a:r>
          </a:p>
          <a:p>
            <a:pPr marL="285750" indent="-285750">
              <a:buFont typeface="Wingdings" panose="05000000000000000000" pitchFamily="2" charset="2"/>
              <a:buChar char="§"/>
            </a:pPr>
            <a:r>
              <a:rPr lang="pt-BR" sz="1600" b="1" dirty="0" smtClean="0"/>
              <a:t>Processo para requerimento e controle de competências.</a:t>
            </a:r>
          </a:p>
          <a:p>
            <a:pPr marL="285750" indent="-285750">
              <a:buFont typeface="Wingdings" panose="05000000000000000000" pitchFamily="2" charset="2"/>
              <a:buChar char="§"/>
            </a:pPr>
            <a:r>
              <a:rPr lang="pt-BR" sz="1600" b="1" dirty="0" smtClean="0"/>
              <a:t>Controles para desempenho das atividades em Entrega e Suporte.</a:t>
            </a:r>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2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3 – Baixa</a:t>
            </a:r>
            <a:endParaRPr lang="pt-BR" sz="1600" dirty="0"/>
          </a:p>
        </p:txBody>
      </p:sp>
    </p:spTree>
    <p:extLst>
      <p:ext uri="{BB962C8B-B14F-4D97-AF65-F5344CB8AC3E}">
        <p14:creationId xmlns:p14="http://schemas.microsoft.com/office/powerpoint/2010/main" val="615475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142872" y="848773"/>
            <a:ext cx="6132799" cy="1077218"/>
          </a:xfrm>
          <a:prstGeom prst="rect">
            <a:avLst/>
          </a:prstGeom>
          <a:solidFill>
            <a:srgbClr val="0070C0"/>
          </a:solidFill>
        </p:spPr>
        <p:txBody>
          <a:bodyPr wrap="square" rtlCol="0">
            <a:spAutoFit/>
          </a:bodyPr>
          <a:lstStyle/>
          <a:p>
            <a:r>
              <a:rPr lang="pt-BR" dirty="0" smtClean="0">
                <a:solidFill>
                  <a:schemeClr val="bg1"/>
                </a:solidFill>
              </a:rPr>
              <a:t>Ação:</a:t>
            </a:r>
          </a:p>
          <a:p>
            <a:endParaRPr lang="pt-BR" sz="1600" dirty="0" smtClean="0">
              <a:solidFill>
                <a:schemeClr val="bg1"/>
              </a:solidFill>
            </a:endParaRPr>
          </a:p>
          <a:p>
            <a:r>
              <a:rPr lang="pt-BR" sz="3000" dirty="0" smtClean="0">
                <a:solidFill>
                  <a:schemeClr val="bg1"/>
                </a:solidFill>
              </a:rPr>
              <a:t>Estrutura Organizacional Radial</a:t>
            </a:r>
            <a:endParaRPr lang="pt-BR" sz="3000" dirty="0">
              <a:solidFill>
                <a:schemeClr val="bg1"/>
              </a:solidFill>
            </a:endParaRPr>
          </a:p>
        </p:txBody>
      </p:sp>
      <p:sp>
        <p:nvSpPr>
          <p:cNvPr id="4" name="CaixaDeTexto 3"/>
          <p:cNvSpPr txBox="1"/>
          <p:nvPr/>
        </p:nvSpPr>
        <p:spPr>
          <a:xfrm>
            <a:off x="6410425" y="848773"/>
            <a:ext cx="5610124" cy="1077218"/>
          </a:xfrm>
          <a:prstGeom prst="rect">
            <a:avLst/>
          </a:prstGeom>
          <a:solidFill>
            <a:schemeClr val="accent5">
              <a:lumMod val="20000"/>
              <a:lumOff val="80000"/>
            </a:schemeClr>
          </a:solidFill>
        </p:spPr>
        <p:txBody>
          <a:bodyPr wrap="square" rtlCol="0">
            <a:spAutoFit/>
          </a:bodyPr>
          <a:lstStyle/>
          <a:p>
            <a:r>
              <a:rPr lang="pt-BR" sz="1600" dirty="0" smtClean="0"/>
              <a:t>Objetivo:</a:t>
            </a:r>
          </a:p>
          <a:p>
            <a:r>
              <a:rPr lang="pt-BR" sz="1600" dirty="0"/>
              <a:t> </a:t>
            </a:r>
            <a:endParaRPr lang="pt-BR" sz="1600" dirty="0" smtClean="0"/>
          </a:p>
          <a:p>
            <a:r>
              <a:rPr lang="pt-BR" sz="1600" dirty="0" smtClean="0"/>
              <a:t>Estruturar a VPTD para atuar como um Provedor de Serviços totalmente orientada à entrega de valor ao negócio.</a:t>
            </a:r>
          </a:p>
        </p:txBody>
      </p:sp>
      <p:sp>
        <p:nvSpPr>
          <p:cNvPr id="5" name="CaixaDeTexto 4"/>
          <p:cNvSpPr txBox="1"/>
          <p:nvPr/>
        </p:nvSpPr>
        <p:spPr>
          <a:xfrm>
            <a:off x="142872" y="2015052"/>
            <a:ext cx="11877678" cy="1569660"/>
          </a:xfrm>
          <a:prstGeom prst="rect">
            <a:avLst/>
          </a:prstGeom>
          <a:solidFill>
            <a:schemeClr val="accent5">
              <a:lumMod val="40000"/>
              <a:lumOff val="60000"/>
            </a:schemeClr>
          </a:solidFill>
        </p:spPr>
        <p:txBody>
          <a:bodyPr wrap="square" rtlCol="0">
            <a:spAutoFit/>
          </a:bodyPr>
          <a:lstStyle/>
          <a:p>
            <a:r>
              <a:rPr lang="pt-BR" sz="1600" dirty="0" smtClean="0"/>
              <a:t>Benefícios:</a:t>
            </a:r>
          </a:p>
          <a:p>
            <a:pPr marL="285750" indent="-285750">
              <a:buFont typeface="Wingdings" panose="05000000000000000000" pitchFamily="2" charset="2"/>
              <a:buChar char="§"/>
            </a:pPr>
            <a:r>
              <a:rPr lang="pt-BR" sz="1600" dirty="0" smtClean="0"/>
              <a:t>Aumentar a sinergia entre as diferentes áreas e competências.</a:t>
            </a:r>
          </a:p>
          <a:p>
            <a:pPr marL="285750" indent="-285750">
              <a:buFont typeface="Wingdings" panose="05000000000000000000" pitchFamily="2" charset="2"/>
              <a:buChar char="§"/>
            </a:pPr>
            <a:r>
              <a:rPr lang="pt-BR" sz="1600" dirty="0" smtClean="0"/>
              <a:t>Viabilizar a Gestão por Competências e a Dinâmica Operacional de Entrega de Soluções e Suporte aos Serviços.</a:t>
            </a:r>
            <a:endParaRPr lang="pt-BR" sz="1600" dirty="0"/>
          </a:p>
          <a:p>
            <a:pPr marL="285750" indent="-285750">
              <a:buFont typeface="Wingdings" panose="05000000000000000000" pitchFamily="2" charset="2"/>
              <a:buChar char="§"/>
            </a:pPr>
            <a:r>
              <a:rPr lang="pt-BR" sz="1600" dirty="0" smtClean="0"/>
              <a:t>Fornecer às áreas de negócio uma interação simplificada com a VPTD.</a:t>
            </a:r>
          </a:p>
          <a:p>
            <a:pPr marL="285750" indent="-285750">
              <a:buFont typeface="Wingdings" panose="05000000000000000000" pitchFamily="2" charset="2"/>
              <a:buChar char="§"/>
            </a:pPr>
            <a:r>
              <a:rPr lang="pt-BR" sz="1600" dirty="0" smtClean="0"/>
              <a:t>Colocar em evidência o compromisso da VPTD com Relacionamento com Parceiros, Operações Internacionais e Governança Corporativa.</a:t>
            </a:r>
          </a:p>
          <a:p>
            <a:pPr marL="285750" indent="-285750">
              <a:buFont typeface="Wingdings" panose="05000000000000000000" pitchFamily="2" charset="2"/>
              <a:buChar char="§"/>
            </a:pPr>
            <a:endParaRPr lang="pt-BR" sz="1600" dirty="0" smtClean="0"/>
          </a:p>
        </p:txBody>
      </p:sp>
      <p:sp>
        <p:nvSpPr>
          <p:cNvPr id="6" name="CaixaDeTexto 5"/>
          <p:cNvSpPr txBox="1"/>
          <p:nvPr/>
        </p:nvSpPr>
        <p:spPr>
          <a:xfrm>
            <a:off x="142872" y="3665677"/>
            <a:ext cx="7591427" cy="2554545"/>
          </a:xfrm>
          <a:prstGeom prst="rect">
            <a:avLst/>
          </a:prstGeom>
          <a:solidFill>
            <a:schemeClr val="accent5">
              <a:lumMod val="60000"/>
              <a:lumOff val="40000"/>
            </a:schemeClr>
          </a:solidFill>
        </p:spPr>
        <p:txBody>
          <a:bodyPr wrap="square" rtlCol="0">
            <a:spAutoFit/>
          </a:bodyPr>
          <a:lstStyle/>
          <a:p>
            <a:r>
              <a:rPr lang="pt-BR" sz="1600" dirty="0" smtClean="0"/>
              <a:t>Atividades:</a:t>
            </a:r>
          </a:p>
          <a:p>
            <a:pPr marL="342900" indent="-342900">
              <a:buFont typeface="+mj-lt"/>
              <a:buAutoNum type="arabicPeriod"/>
            </a:pPr>
            <a:r>
              <a:rPr lang="pt-BR" sz="1600" dirty="0"/>
              <a:t>Solicitar ao RH análise de viabilidade do modelo.</a:t>
            </a:r>
          </a:p>
          <a:p>
            <a:pPr marL="342900" indent="-342900">
              <a:buFont typeface="+mj-lt"/>
              <a:buAutoNum type="arabicPeriod"/>
            </a:pPr>
            <a:r>
              <a:rPr lang="pt-BR" sz="1600" dirty="0" smtClean="0"/>
              <a:t>Definir a estrutura organizacional.</a:t>
            </a:r>
          </a:p>
          <a:p>
            <a:pPr marL="342900" indent="-342900">
              <a:buFont typeface="+mj-lt"/>
              <a:buAutoNum type="arabicPeriod"/>
            </a:pPr>
            <a:r>
              <a:rPr lang="pt-BR" sz="1600" dirty="0" smtClean="0"/>
              <a:t>Definir lideranças para as dinâmicas.</a:t>
            </a:r>
          </a:p>
          <a:p>
            <a:pPr marL="342900" indent="-342900">
              <a:buFont typeface="+mj-lt"/>
              <a:buAutoNum type="arabicPeriod"/>
            </a:pPr>
            <a:r>
              <a:rPr lang="pt-BR" sz="1600" dirty="0" smtClean="0"/>
              <a:t>Divulgar e implantar a estrutura, executando a dinâmica operacional.</a:t>
            </a:r>
          </a:p>
          <a:p>
            <a:pPr marL="342900" indent="-342900">
              <a:buFont typeface="+mj-lt"/>
              <a:buAutoNum type="arabicPeriod"/>
            </a:pPr>
            <a:endParaRPr lang="pt-BR" sz="1600" dirty="0" smtClean="0"/>
          </a:p>
          <a:p>
            <a:pPr marL="342900" indent="-342900">
              <a:buFont typeface="+mj-lt"/>
              <a:buAutoNum type="arabicPeriod"/>
            </a:pPr>
            <a:endParaRPr lang="pt-BR" sz="1600" dirty="0"/>
          </a:p>
          <a:p>
            <a:pPr marL="342900" indent="-342900">
              <a:buFont typeface="+mj-lt"/>
              <a:buAutoNum type="arabicPeriod"/>
            </a:pPr>
            <a:endParaRPr lang="pt-BR" sz="1600" dirty="0" smtClean="0"/>
          </a:p>
          <a:p>
            <a:pPr marL="342900" indent="-342900">
              <a:buFont typeface="+mj-lt"/>
              <a:buAutoNum type="arabicPeriod"/>
            </a:pPr>
            <a:endParaRPr lang="pt-BR" sz="1600" dirty="0"/>
          </a:p>
          <a:p>
            <a:pPr marL="342900" indent="-342900">
              <a:buFont typeface="+mj-lt"/>
              <a:buAutoNum type="arabicPeriod"/>
            </a:pPr>
            <a:endParaRPr lang="pt-BR" sz="1600" dirty="0" smtClean="0"/>
          </a:p>
        </p:txBody>
      </p:sp>
      <p:sp>
        <p:nvSpPr>
          <p:cNvPr id="7" name="Fluxograma: Conector 6">
            <a:hlinkClick r:id="rId3" action="ppaction://hlinksldjump"/>
          </p:cNvPr>
          <p:cNvSpPr/>
          <p:nvPr/>
        </p:nvSpPr>
        <p:spPr>
          <a:xfrm>
            <a:off x="11319641" y="92435"/>
            <a:ext cx="700909" cy="649076"/>
          </a:xfrm>
          <a:prstGeom prst="flowChartConnector">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t>13</a:t>
            </a:r>
            <a:endParaRPr lang="pt-BR" sz="2400" b="1" dirty="0"/>
          </a:p>
        </p:txBody>
      </p:sp>
      <p:sp>
        <p:nvSpPr>
          <p:cNvPr id="13" name="Divisa 12"/>
          <p:cNvSpPr/>
          <p:nvPr/>
        </p:nvSpPr>
        <p:spPr>
          <a:xfrm>
            <a:off x="142872" y="6299514"/>
            <a:ext cx="3945652" cy="491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Dependência:</a:t>
            </a:r>
          </a:p>
          <a:p>
            <a:pPr algn="ctr"/>
            <a:r>
              <a:rPr lang="pt-BR" sz="1600" dirty="0" smtClean="0">
                <a:solidFill>
                  <a:schemeClr val="bg1"/>
                </a:solidFill>
              </a:rPr>
              <a:t>Estrutura Organizacional Radial</a:t>
            </a:r>
          </a:p>
        </p:txBody>
      </p:sp>
      <p:sp>
        <p:nvSpPr>
          <p:cNvPr id="14" name="Divisa 13"/>
          <p:cNvSpPr/>
          <p:nvPr/>
        </p:nvSpPr>
        <p:spPr>
          <a:xfrm>
            <a:off x="4108885" y="6299514"/>
            <a:ext cx="3945652" cy="491811"/>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smtClean="0">
                <a:solidFill>
                  <a:schemeClr val="bg1"/>
                </a:solidFill>
              </a:rPr>
              <a:t>Dinâmica Operacional</a:t>
            </a:r>
          </a:p>
        </p:txBody>
      </p:sp>
      <p:sp>
        <p:nvSpPr>
          <p:cNvPr id="15" name="Divisa 14"/>
          <p:cNvSpPr/>
          <p:nvPr/>
        </p:nvSpPr>
        <p:spPr>
          <a:xfrm>
            <a:off x="8054537" y="6299514"/>
            <a:ext cx="3945652" cy="491811"/>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smtClean="0">
                <a:solidFill>
                  <a:schemeClr val="bg1"/>
                </a:solidFill>
              </a:rPr>
              <a:t>Suporta:</a:t>
            </a:r>
          </a:p>
          <a:p>
            <a:pPr algn="ctr"/>
            <a:r>
              <a:rPr lang="pt-BR" sz="1600" dirty="0" smtClean="0">
                <a:solidFill>
                  <a:schemeClr val="bg1"/>
                </a:solidFill>
              </a:rPr>
              <a:t>Provedor de Serviços de TI</a:t>
            </a:r>
            <a:endParaRPr lang="pt-BR" sz="1600" dirty="0">
              <a:solidFill>
                <a:schemeClr val="bg1"/>
              </a:solidFill>
            </a:endParaRPr>
          </a:p>
        </p:txBody>
      </p:sp>
      <p:sp>
        <p:nvSpPr>
          <p:cNvPr id="16" name="CaixaDeTexto 15"/>
          <p:cNvSpPr txBox="1"/>
          <p:nvPr/>
        </p:nvSpPr>
        <p:spPr>
          <a:xfrm rot="16200000">
            <a:off x="11213180" y="5837147"/>
            <a:ext cx="1763385" cy="230832"/>
          </a:xfrm>
          <a:prstGeom prst="rect">
            <a:avLst/>
          </a:prstGeom>
          <a:noFill/>
        </p:spPr>
        <p:txBody>
          <a:bodyPr wrap="square" rtlCol="0">
            <a:spAutoFit/>
          </a:bodyPr>
          <a:lstStyle/>
          <a:p>
            <a:r>
              <a:rPr lang="pt-BR" sz="900" b="1" dirty="0">
                <a:solidFill>
                  <a:schemeClr val="accent1">
                    <a:lumMod val="75000"/>
                  </a:schemeClr>
                </a:solidFill>
              </a:rPr>
              <a:t>CHACON</a:t>
            </a:r>
            <a:r>
              <a:rPr lang="pt-BR" sz="900" dirty="0"/>
              <a:t> </a:t>
            </a:r>
            <a:r>
              <a:rPr lang="pt-BR" sz="900" b="1" dirty="0">
                <a:solidFill>
                  <a:schemeClr val="bg1">
                    <a:lumMod val="85000"/>
                  </a:schemeClr>
                </a:solidFill>
              </a:rPr>
              <a:t>|</a:t>
            </a:r>
            <a:r>
              <a:rPr lang="pt-BR" sz="900" dirty="0"/>
              <a:t> </a:t>
            </a:r>
            <a:r>
              <a:rPr lang="pt-BR" sz="900" b="1" dirty="0">
                <a:solidFill>
                  <a:schemeClr val="bg1">
                    <a:lumMod val="65000"/>
                  </a:schemeClr>
                </a:solidFill>
              </a:rPr>
              <a:t>Consultoria Ilimitada</a:t>
            </a:r>
          </a:p>
        </p:txBody>
      </p:sp>
      <p:sp>
        <p:nvSpPr>
          <p:cNvPr id="17" name="Título 1"/>
          <p:cNvSpPr txBox="1">
            <a:spLocks/>
          </p:cNvSpPr>
          <p:nvPr/>
        </p:nvSpPr>
        <p:spPr>
          <a:xfrm>
            <a:off x="142873" y="-14827"/>
            <a:ext cx="9991726" cy="863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b="1" dirty="0" smtClean="0">
                <a:solidFill>
                  <a:srgbClr val="0070C0"/>
                </a:solidFill>
              </a:rPr>
              <a:t>Natura – VPTD – Dinâmica Operacional – Plano de Ação</a:t>
            </a:r>
            <a:endParaRPr lang="pt-BR" sz="2400" b="1" dirty="0">
              <a:solidFill>
                <a:srgbClr val="0070C0"/>
              </a:solidFill>
            </a:endParaRPr>
          </a:p>
        </p:txBody>
      </p:sp>
      <p:sp>
        <p:nvSpPr>
          <p:cNvPr id="18" name="CaixaDeTexto 17"/>
          <p:cNvSpPr txBox="1"/>
          <p:nvPr/>
        </p:nvSpPr>
        <p:spPr>
          <a:xfrm>
            <a:off x="7829550" y="3665677"/>
            <a:ext cx="4190999" cy="1569660"/>
          </a:xfrm>
          <a:prstGeom prst="rect">
            <a:avLst/>
          </a:prstGeom>
          <a:solidFill>
            <a:schemeClr val="bg1">
              <a:lumMod val="85000"/>
            </a:schemeClr>
          </a:solidFill>
        </p:spPr>
        <p:txBody>
          <a:bodyPr wrap="square" rtlCol="0">
            <a:spAutoFit/>
          </a:bodyPr>
          <a:lstStyle/>
          <a:p>
            <a:r>
              <a:rPr lang="pt-BR" sz="1600" dirty="0" smtClean="0"/>
              <a:t>Resultados:</a:t>
            </a:r>
          </a:p>
          <a:p>
            <a:pPr marL="285750" indent="-285750">
              <a:buFont typeface="Wingdings" panose="05000000000000000000" pitchFamily="2" charset="2"/>
              <a:buChar char="§"/>
            </a:pPr>
            <a:r>
              <a:rPr lang="pt-BR" sz="1600" b="1" dirty="0" smtClean="0"/>
              <a:t>Nova estrutura organizacional </a:t>
            </a:r>
            <a:r>
              <a:rPr lang="pt-BR" sz="1600" b="1" dirty="0"/>
              <a:t>d</a:t>
            </a:r>
            <a:r>
              <a:rPr lang="pt-BR" sz="1600" b="1" dirty="0" smtClean="0"/>
              <a:t>ocumentada e divulgada.</a:t>
            </a:r>
          </a:p>
          <a:p>
            <a:pPr marL="285750" indent="-285750">
              <a:buFont typeface="Wingdings" panose="05000000000000000000" pitchFamily="2" charset="2"/>
              <a:buChar char="§"/>
            </a:pPr>
            <a:r>
              <a:rPr lang="pt-BR" sz="1600" b="1" dirty="0" smtClean="0"/>
              <a:t>Dinâmica operacional em execução. </a:t>
            </a:r>
          </a:p>
          <a:p>
            <a:pPr marL="285750" indent="-285750">
              <a:buFont typeface="Wingdings" panose="05000000000000000000" pitchFamily="2" charset="2"/>
              <a:buChar char="§"/>
            </a:pPr>
            <a:endParaRPr lang="pt-BR" sz="1600" b="1" dirty="0"/>
          </a:p>
          <a:p>
            <a:pPr marL="285750" indent="-285750">
              <a:buFont typeface="Wingdings" panose="05000000000000000000" pitchFamily="2" charset="2"/>
              <a:buChar char="§"/>
            </a:pPr>
            <a:endParaRPr lang="pt-BR" sz="1600" b="1" dirty="0" smtClean="0"/>
          </a:p>
        </p:txBody>
      </p:sp>
      <p:sp>
        <p:nvSpPr>
          <p:cNvPr id="19" name="CaixaDeTexto 18"/>
          <p:cNvSpPr txBox="1"/>
          <p:nvPr/>
        </p:nvSpPr>
        <p:spPr>
          <a:xfrm>
            <a:off x="7828237" y="5389225"/>
            <a:ext cx="2155277" cy="830997"/>
          </a:xfrm>
          <a:prstGeom prst="rect">
            <a:avLst/>
          </a:prstGeom>
          <a:solidFill>
            <a:schemeClr val="bg1">
              <a:lumMod val="85000"/>
            </a:schemeClr>
          </a:solidFill>
        </p:spPr>
        <p:txBody>
          <a:bodyPr wrap="square" rtlCol="0">
            <a:spAutoFit/>
          </a:bodyPr>
          <a:lstStyle/>
          <a:p>
            <a:r>
              <a:rPr lang="pt-BR" sz="1600" dirty="0" smtClean="0"/>
              <a:t>Prazo estimado:</a:t>
            </a:r>
          </a:p>
          <a:p>
            <a:endParaRPr lang="pt-BR" sz="1600" dirty="0"/>
          </a:p>
          <a:p>
            <a:pPr algn="ctr"/>
            <a:r>
              <a:rPr lang="pt-BR" sz="1600" dirty="0" smtClean="0"/>
              <a:t>2 meses</a:t>
            </a:r>
            <a:endParaRPr lang="pt-BR" sz="1600" dirty="0"/>
          </a:p>
        </p:txBody>
      </p:sp>
      <p:sp>
        <p:nvSpPr>
          <p:cNvPr id="20" name="CaixaDeTexto 19"/>
          <p:cNvSpPr txBox="1"/>
          <p:nvPr/>
        </p:nvSpPr>
        <p:spPr>
          <a:xfrm>
            <a:off x="10077452" y="5386716"/>
            <a:ext cx="1943098" cy="830997"/>
          </a:xfrm>
          <a:prstGeom prst="rect">
            <a:avLst/>
          </a:prstGeom>
          <a:solidFill>
            <a:schemeClr val="bg1">
              <a:lumMod val="85000"/>
            </a:schemeClr>
          </a:solidFill>
        </p:spPr>
        <p:txBody>
          <a:bodyPr wrap="square" rtlCol="0">
            <a:spAutoFit/>
          </a:bodyPr>
          <a:lstStyle/>
          <a:p>
            <a:r>
              <a:rPr lang="pt-BR" sz="1600" dirty="0" smtClean="0"/>
              <a:t>Prioridade:</a:t>
            </a:r>
          </a:p>
          <a:p>
            <a:pPr algn="ctr"/>
            <a:endParaRPr lang="pt-BR" sz="1600" dirty="0" smtClean="0"/>
          </a:p>
          <a:p>
            <a:pPr algn="ctr"/>
            <a:r>
              <a:rPr lang="pt-BR" sz="1600" dirty="0" smtClean="0"/>
              <a:t>3 – Baixa</a:t>
            </a:r>
            <a:endParaRPr lang="pt-BR" sz="1600" dirty="0"/>
          </a:p>
        </p:txBody>
      </p:sp>
    </p:spTree>
    <p:extLst>
      <p:ext uri="{BB962C8B-B14F-4D97-AF65-F5344CB8AC3E}">
        <p14:creationId xmlns:p14="http://schemas.microsoft.com/office/powerpoint/2010/main" val="1884586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1681124" y="2373210"/>
            <a:ext cx="9983054" cy="3731776"/>
            <a:chOff x="971789" y="2814436"/>
            <a:chExt cx="7489600" cy="2799697"/>
          </a:xfrm>
        </p:grpSpPr>
        <p:grpSp>
          <p:nvGrpSpPr>
            <p:cNvPr id="8" name="Grupo 7"/>
            <p:cNvGrpSpPr/>
            <p:nvPr/>
          </p:nvGrpSpPr>
          <p:grpSpPr>
            <a:xfrm>
              <a:off x="1882861" y="2814436"/>
              <a:ext cx="4802215" cy="1622675"/>
              <a:chOff x="1763688" y="2814436"/>
              <a:chExt cx="4802215" cy="1622675"/>
            </a:xfrm>
          </p:grpSpPr>
          <p:pic>
            <p:nvPicPr>
              <p:cNvPr id="13" name="Picture 15" descr="NAT_marca_laranja_natura-01.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3688" y="3369329"/>
                <a:ext cx="754773" cy="68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Imagem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2765" y="2814436"/>
                <a:ext cx="3723138" cy="1622675"/>
              </a:xfrm>
              <a:prstGeom prst="rect">
                <a:avLst/>
              </a:prstGeom>
            </p:spPr>
          </p:pic>
        </p:grpSp>
        <p:grpSp>
          <p:nvGrpSpPr>
            <p:cNvPr id="9" name="Grupo 8"/>
            <p:cNvGrpSpPr/>
            <p:nvPr/>
          </p:nvGrpSpPr>
          <p:grpSpPr>
            <a:xfrm>
              <a:off x="971789" y="4815109"/>
              <a:ext cx="7489600" cy="799024"/>
              <a:chOff x="971789" y="4815109"/>
              <a:chExt cx="7489600" cy="799024"/>
            </a:xfrm>
          </p:grpSpPr>
          <p:sp>
            <p:nvSpPr>
              <p:cNvPr id="10" name="Retângulo 9"/>
              <p:cNvSpPr/>
              <p:nvPr/>
            </p:nvSpPr>
            <p:spPr>
              <a:xfrm rot="1799664">
                <a:off x="6829487" y="4815109"/>
                <a:ext cx="1631902" cy="461539"/>
              </a:xfrm>
              <a:prstGeom prst="rect">
                <a:avLst/>
              </a:prstGeom>
              <a:noFill/>
              <a:ln>
                <a:noFill/>
              </a:ln>
            </p:spPr>
            <p:txBody>
              <a:bodyPr wrap="none" lIns="121882" tIns="60941" rIns="121882" bIns="60941">
                <a:spAutoFit/>
              </a:bodyPr>
              <a:lstStyle/>
              <a:p>
                <a:pPr algn="ctr"/>
                <a:r>
                  <a:rPr lang="pt-BR" sz="3198" b="1" spc="68" dirty="0">
                    <a:ln w="12700" cmpd="sng">
                      <a:noFill/>
                      <a:prstDash val="solid"/>
                    </a:ln>
                    <a:solidFill>
                      <a:srgbClr val="7030A0"/>
                    </a:solidFill>
                    <a:effectLst>
                      <a:glow rad="53100">
                        <a:schemeClr val="bg1">
                          <a:alpha val="30000"/>
                        </a:schemeClr>
                      </a:glow>
                    </a:effectLst>
                  </a:rPr>
                  <a:t>#pegaprasi</a:t>
                </a:r>
              </a:p>
            </p:txBody>
          </p:sp>
          <p:sp>
            <p:nvSpPr>
              <p:cNvPr id="11" name="Retângulo 10"/>
              <p:cNvSpPr/>
              <p:nvPr/>
            </p:nvSpPr>
            <p:spPr>
              <a:xfrm rot="19829581">
                <a:off x="971789" y="5152594"/>
                <a:ext cx="1749374" cy="461539"/>
              </a:xfrm>
              <a:prstGeom prst="rect">
                <a:avLst/>
              </a:prstGeom>
              <a:noFill/>
              <a:ln>
                <a:noFill/>
              </a:ln>
            </p:spPr>
            <p:txBody>
              <a:bodyPr wrap="none" lIns="121882" tIns="60941" rIns="121882" bIns="60941">
                <a:spAutoFit/>
              </a:bodyPr>
              <a:lstStyle/>
              <a:p>
                <a:pPr algn="ctr"/>
                <a:r>
                  <a:rPr lang="pt-BR" sz="3198" b="1" spc="68" dirty="0">
                    <a:ln w="12700" cmpd="sng">
                      <a:noFill/>
                      <a:prstDash val="solid"/>
                    </a:ln>
                    <a:solidFill>
                      <a:srgbClr val="FFC000"/>
                    </a:solidFill>
                    <a:effectLst>
                      <a:glow rad="53100">
                        <a:schemeClr val="bg1">
                          <a:alpha val="30000"/>
                        </a:schemeClr>
                      </a:glow>
                    </a:effectLst>
                  </a:rPr>
                  <a:t>#tamojunto</a:t>
                </a:r>
              </a:p>
            </p:txBody>
          </p:sp>
          <p:sp>
            <p:nvSpPr>
              <p:cNvPr id="12" name="Retângulo 11"/>
              <p:cNvSpPr/>
              <p:nvPr/>
            </p:nvSpPr>
            <p:spPr>
              <a:xfrm rot="20549306">
                <a:off x="3707926" y="4897878"/>
                <a:ext cx="2535264" cy="461539"/>
              </a:xfrm>
              <a:prstGeom prst="rect">
                <a:avLst/>
              </a:prstGeom>
              <a:noFill/>
              <a:ln>
                <a:noFill/>
              </a:ln>
            </p:spPr>
            <p:txBody>
              <a:bodyPr wrap="none" lIns="121882" tIns="60941" rIns="121882" bIns="60941">
                <a:spAutoFit/>
              </a:bodyPr>
              <a:lstStyle/>
              <a:p>
                <a:pPr algn="ctr"/>
                <a:r>
                  <a:rPr lang="pt-BR" sz="3198" b="1" spc="68" dirty="0">
                    <a:ln w="12700" cmpd="sng">
                      <a:noFill/>
                      <a:prstDash val="solid"/>
                    </a:ln>
                    <a:solidFill>
                      <a:srgbClr val="92D050"/>
                    </a:solidFill>
                    <a:effectLst>
                      <a:glow rad="53100">
                        <a:schemeClr val="bg1">
                          <a:alpha val="30000"/>
                        </a:schemeClr>
                      </a:glow>
                    </a:effectLst>
                  </a:rPr>
                  <a:t>#foconoresultado</a:t>
                </a:r>
              </a:p>
            </p:txBody>
          </p:sp>
        </p:grpSp>
      </p:grpSp>
      <p:sp>
        <p:nvSpPr>
          <p:cNvPr id="2" name="Retângulo 1"/>
          <p:cNvSpPr/>
          <p:nvPr/>
        </p:nvSpPr>
        <p:spPr>
          <a:xfrm rot="21061960">
            <a:off x="8623726" y="1233205"/>
            <a:ext cx="2726066" cy="584455"/>
          </a:xfrm>
          <a:prstGeom prst="rect">
            <a:avLst/>
          </a:prstGeom>
        </p:spPr>
        <p:txBody>
          <a:bodyPr wrap="none">
            <a:spAutoFit/>
          </a:bodyPr>
          <a:lstStyle/>
          <a:p>
            <a:pPr algn="ctr"/>
            <a:r>
              <a:rPr lang="pt-BR" sz="3198" b="1" spc="68" dirty="0">
                <a:ln w="12700" cmpd="sng">
                  <a:noFill/>
                  <a:prstDash val="solid"/>
                </a:ln>
                <a:solidFill>
                  <a:schemeClr val="accent6">
                    <a:lumMod val="75000"/>
                  </a:schemeClr>
                </a:solidFill>
                <a:effectLst>
                  <a:glow rad="53100">
                    <a:schemeClr val="bg1">
                      <a:alpha val="30000"/>
                    </a:schemeClr>
                  </a:glow>
                </a:effectLst>
              </a:rPr>
              <a:t>#</a:t>
            </a:r>
            <a:r>
              <a:rPr lang="pt-BR" sz="3198" b="1" spc="68" dirty="0" err="1">
                <a:ln w="12700" cmpd="sng">
                  <a:noFill/>
                  <a:prstDash val="solid"/>
                </a:ln>
                <a:solidFill>
                  <a:schemeClr val="accent6">
                    <a:lumMod val="75000"/>
                  </a:schemeClr>
                </a:solidFill>
                <a:effectLst>
                  <a:glow rad="53100">
                    <a:schemeClr val="bg1">
                      <a:alpha val="30000"/>
                    </a:schemeClr>
                  </a:glow>
                </a:effectLst>
              </a:rPr>
              <a:t>semmelindre</a:t>
            </a:r>
            <a:endParaRPr lang="pt-BR" sz="3198" b="1" spc="68" dirty="0">
              <a:ln w="12700" cmpd="sng">
                <a:noFill/>
                <a:prstDash val="solid"/>
              </a:ln>
              <a:solidFill>
                <a:schemeClr val="accent6">
                  <a:lumMod val="75000"/>
                </a:schemeClr>
              </a:solidFill>
              <a:effectLst>
                <a:glow rad="53100">
                  <a:schemeClr val="bg1">
                    <a:alpha val="30000"/>
                  </a:schemeClr>
                </a:glow>
              </a:effectLst>
            </a:endParaRPr>
          </a:p>
        </p:txBody>
      </p:sp>
      <p:sp>
        <p:nvSpPr>
          <p:cNvPr id="15" name="Retângulo 14"/>
          <p:cNvSpPr/>
          <p:nvPr/>
        </p:nvSpPr>
        <p:spPr>
          <a:xfrm rot="1585960">
            <a:off x="227345" y="3738973"/>
            <a:ext cx="2635401" cy="584455"/>
          </a:xfrm>
          <a:prstGeom prst="rect">
            <a:avLst/>
          </a:prstGeom>
          <a:ln>
            <a:noFill/>
          </a:ln>
        </p:spPr>
        <p:txBody>
          <a:bodyPr wrap="none">
            <a:spAutoFit/>
          </a:bodyPr>
          <a:lstStyle/>
          <a:p>
            <a:pPr algn="ctr"/>
            <a:r>
              <a:rPr lang="pt-BR" sz="3198" b="1" spc="68" dirty="0">
                <a:ln w="12700" cmpd="sng">
                  <a:noFill/>
                  <a:prstDash val="solid"/>
                </a:ln>
                <a:solidFill>
                  <a:srgbClr val="00AEC7"/>
                </a:solidFill>
                <a:effectLst>
                  <a:glow rad="53100">
                    <a:schemeClr val="bg1">
                      <a:alpha val="30000"/>
                    </a:schemeClr>
                  </a:glow>
                </a:effectLst>
              </a:rPr>
              <a:t>#</a:t>
            </a:r>
            <a:r>
              <a:rPr lang="pt-BR" sz="3198" b="1" spc="68" dirty="0" err="1">
                <a:ln w="12700" cmpd="sng">
                  <a:noFill/>
                  <a:prstDash val="solid"/>
                </a:ln>
                <a:solidFill>
                  <a:srgbClr val="00AEC7"/>
                </a:solidFill>
                <a:effectLst>
                  <a:glow rad="53100">
                    <a:schemeClr val="bg1">
                      <a:alpha val="30000"/>
                    </a:schemeClr>
                  </a:glow>
                </a:effectLst>
              </a:rPr>
              <a:t>menosémais</a:t>
            </a:r>
            <a:endParaRPr lang="pt-BR" sz="3198" b="1" spc="68" dirty="0">
              <a:ln w="12700" cmpd="sng">
                <a:noFill/>
                <a:prstDash val="solid"/>
              </a:ln>
              <a:solidFill>
                <a:srgbClr val="00AEC7"/>
              </a:solidFill>
              <a:effectLst>
                <a:glow rad="53100">
                  <a:schemeClr val="bg1">
                    <a:alpha val="30000"/>
                  </a:schemeClr>
                </a:glow>
              </a:effectLst>
            </a:endParaRPr>
          </a:p>
        </p:txBody>
      </p:sp>
      <p:sp>
        <p:nvSpPr>
          <p:cNvPr id="16" name="Retângulo 15"/>
          <p:cNvSpPr/>
          <p:nvPr/>
        </p:nvSpPr>
        <p:spPr>
          <a:xfrm rot="20313516">
            <a:off x="722319" y="1297877"/>
            <a:ext cx="3422604" cy="584455"/>
          </a:xfrm>
          <a:prstGeom prst="rect">
            <a:avLst/>
          </a:prstGeom>
        </p:spPr>
        <p:txBody>
          <a:bodyPr wrap="none">
            <a:spAutoFit/>
          </a:bodyPr>
          <a:lstStyle/>
          <a:p>
            <a:pPr algn="ctr"/>
            <a:r>
              <a:rPr lang="pt-BR" sz="3198" b="1" spc="68" dirty="0">
                <a:ln w="12700" cmpd="sng">
                  <a:noFill/>
                  <a:prstDash val="solid"/>
                </a:ln>
                <a:solidFill>
                  <a:srgbClr val="FF6699"/>
                </a:solidFill>
                <a:effectLst>
                  <a:glow rad="53100">
                    <a:schemeClr val="bg1">
                      <a:alpha val="30000"/>
                    </a:schemeClr>
                  </a:glow>
                </a:effectLst>
              </a:rPr>
              <a:t>#</a:t>
            </a:r>
            <a:r>
              <a:rPr lang="pt-BR" sz="3198" b="1" spc="68" dirty="0" err="1">
                <a:ln w="12700" cmpd="sng">
                  <a:noFill/>
                  <a:prstDash val="solid"/>
                </a:ln>
                <a:solidFill>
                  <a:srgbClr val="FF6699"/>
                </a:solidFill>
                <a:effectLst>
                  <a:glow rad="53100">
                    <a:schemeClr val="bg1">
                      <a:alpha val="30000"/>
                    </a:schemeClr>
                  </a:glow>
                </a:effectLst>
              </a:rPr>
              <a:t>promessaédívida</a:t>
            </a:r>
            <a:endParaRPr lang="pt-BR" sz="3198" b="1" spc="68" dirty="0">
              <a:ln w="12700" cmpd="sng">
                <a:noFill/>
                <a:prstDash val="solid"/>
              </a:ln>
              <a:solidFill>
                <a:srgbClr val="FF6699"/>
              </a:solidFill>
              <a:effectLst>
                <a:glow rad="53100">
                  <a:schemeClr val="bg1">
                    <a:alpha val="30000"/>
                  </a:schemeClr>
                </a:glow>
              </a:effectLst>
            </a:endParaRPr>
          </a:p>
        </p:txBody>
      </p:sp>
      <p:sp>
        <p:nvSpPr>
          <p:cNvPr id="17" name="CaixaDeTexto 16"/>
          <p:cNvSpPr txBox="1"/>
          <p:nvPr/>
        </p:nvSpPr>
        <p:spPr>
          <a:xfrm rot="16200000">
            <a:off x="10835282" y="5544276"/>
            <a:ext cx="2350455" cy="276999"/>
          </a:xfrm>
          <a:prstGeom prst="rect">
            <a:avLst/>
          </a:prstGeom>
          <a:noFill/>
        </p:spPr>
        <p:txBody>
          <a:bodyPr wrap="square" rtlCol="0">
            <a:spAutoFit/>
          </a:bodyPr>
          <a:lstStyle/>
          <a:p>
            <a:r>
              <a:rPr lang="pt-BR" sz="1200" b="1" dirty="0">
                <a:solidFill>
                  <a:schemeClr val="accent1">
                    <a:lumMod val="75000"/>
                  </a:schemeClr>
                </a:solidFill>
              </a:rPr>
              <a:t>CHACON</a:t>
            </a:r>
            <a:r>
              <a:rPr lang="pt-BR" sz="1200" dirty="0"/>
              <a:t> </a:t>
            </a:r>
            <a:r>
              <a:rPr lang="pt-BR" sz="1200" b="1" dirty="0">
                <a:solidFill>
                  <a:schemeClr val="bg1">
                    <a:lumMod val="85000"/>
                  </a:schemeClr>
                </a:solidFill>
              </a:rPr>
              <a:t>|</a:t>
            </a:r>
            <a:r>
              <a:rPr lang="pt-BR" sz="1200" dirty="0"/>
              <a:t> </a:t>
            </a:r>
            <a:r>
              <a:rPr lang="pt-BR" sz="1200" b="1" dirty="0">
                <a:solidFill>
                  <a:schemeClr val="bg1">
                    <a:lumMod val="65000"/>
                  </a:schemeClr>
                </a:solidFill>
              </a:rPr>
              <a:t>Consultoria Ilimitada</a:t>
            </a:r>
          </a:p>
        </p:txBody>
      </p:sp>
      <p:sp>
        <p:nvSpPr>
          <p:cNvPr id="18" name="Retângulo 17"/>
          <p:cNvSpPr/>
          <p:nvPr/>
        </p:nvSpPr>
        <p:spPr>
          <a:xfrm>
            <a:off x="4748216" y="108081"/>
            <a:ext cx="2593852" cy="707886"/>
          </a:xfrm>
          <a:prstGeom prst="rect">
            <a:avLst/>
          </a:prstGeom>
        </p:spPr>
        <p:txBody>
          <a:bodyPr wrap="none">
            <a:spAutoFit/>
          </a:bodyPr>
          <a:lstStyle/>
          <a:p>
            <a:pPr algn="ctr"/>
            <a:r>
              <a:rPr lang="pt-BR" sz="4000" b="1" spc="68" dirty="0" smtClean="0">
                <a:ln w="12700" cmpd="sng">
                  <a:noFill/>
                  <a:prstDash val="solid"/>
                </a:ln>
                <a:solidFill>
                  <a:srgbClr val="0070C0"/>
                </a:solidFill>
                <a:effectLst>
                  <a:glow rad="53100">
                    <a:schemeClr val="bg1">
                      <a:alpha val="30000"/>
                    </a:schemeClr>
                  </a:glow>
                </a:effectLst>
              </a:rPr>
              <a:t>#obrigado!</a:t>
            </a:r>
            <a:endParaRPr lang="pt-BR" sz="4000" b="1" spc="68" dirty="0">
              <a:ln w="12700" cmpd="sng">
                <a:noFill/>
                <a:prstDash val="solid"/>
              </a:ln>
              <a:solidFill>
                <a:srgbClr val="0070C0"/>
              </a:solidFill>
              <a:effectLst>
                <a:glow rad="53100">
                  <a:schemeClr val="bg1">
                    <a:alpha val="30000"/>
                  </a:schemeClr>
                </a:glow>
              </a:effectLst>
            </a:endParaRPr>
          </a:p>
        </p:txBody>
      </p:sp>
    </p:spTree>
    <p:extLst>
      <p:ext uri="{BB962C8B-B14F-4D97-AF65-F5344CB8AC3E}">
        <p14:creationId xmlns:p14="http://schemas.microsoft.com/office/powerpoint/2010/main" val="259390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3138</TotalTime>
  <Words>3584</Words>
  <Application>Microsoft Office PowerPoint</Application>
  <PresentationFormat>Widescreen</PresentationFormat>
  <Paragraphs>595</Paragraphs>
  <Slides>20</Slides>
  <Notes>20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20</vt:i4>
      </vt:variant>
    </vt:vector>
  </HeadingPairs>
  <TitlesOfParts>
    <vt:vector size="28" baseType="lpstr">
      <vt:lpstr>Arial</vt:lpstr>
      <vt:lpstr>Calibri</vt:lpstr>
      <vt:lpstr>Calibri Light</vt:lpstr>
      <vt:lpstr>Gill Sans Std</vt:lpstr>
      <vt:lpstr>Gill Sans Std ExtraBold</vt:lpstr>
      <vt:lpstr>Gill Sans Std Light</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Natura – VPTD – Gestão de Serviços – Plano de Ação</vt:lpstr>
      <vt:lpstr>Natura – VPTD – Gestão de Serviços – Plano de Ação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 - VPTD - MCS - Plano de Ação</dc:title>
  <dc:creator>Adolpho Chacon</dc:creator>
  <cp:lastModifiedBy>Adolpho Chacon</cp:lastModifiedBy>
  <cp:revision>201</cp:revision>
  <dcterms:created xsi:type="dcterms:W3CDTF">2015-08-24T15:37:53Z</dcterms:created>
  <dcterms:modified xsi:type="dcterms:W3CDTF">2015-09-03T13:19:09Z</dcterms:modified>
</cp:coreProperties>
</file>