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315" r:id="rId2"/>
    <p:sldId id="328" r:id="rId3"/>
    <p:sldId id="329" r:id="rId4"/>
    <p:sldId id="332" r:id="rId5"/>
    <p:sldId id="327" r:id="rId6"/>
    <p:sldId id="324" r:id="rId7"/>
    <p:sldId id="333" r:id="rId8"/>
  </p:sldIdLst>
  <p:sldSz cx="9144000" cy="5145088"/>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6E6259"/>
    <a:srgbClr val="FFFF66"/>
    <a:srgbClr val="009999"/>
    <a:srgbClr val="FFFFCC"/>
    <a:srgbClr val="FF3300"/>
    <a:srgbClr val="00AEC7"/>
    <a:srgbClr val="D9D9D6"/>
    <a:srgbClr val="7C6992"/>
    <a:srgbClr val="888B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15" autoAdjust="0"/>
    <p:restoredTop sz="97986" autoAdjust="0"/>
  </p:normalViewPr>
  <p:slideViewPr>
    <p:cSldViewPr>
      <p:cViewPr>
        <p:scale>
          <a:sx n="100" d="100"/>
          <a:sy n="100" d="100"/>
        </p:scale>
        <p:origin x="-480" y="-150"/>
      </p:cViewPr>
      <p:guideLst>
        <p:guide orient="horz" pos="1621"/>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9DE6E5-E07D-4B09-8E65-F65F958CE3EF}" type="datetimeFigureOut">
              <a:rPr lang="pt-BR" smtClean="0"/>
              <a:t>28/05/2015</a:t>
            </a:fld>
            <a:endParaRPr lang="pt-BR" dirty="0"/>
          </a:p>
        </p:txBody>
      </p:sp>
      <p:sp>
        <p:nvSpPr>
          <p:cNvPr id="4" name="Espaço Reservado para Imagem de Slide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dirty="0"/>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D78FC1-7175-4FC0-9A71-4055CB288384}" type="slidenum">
              <a:rPr lang="pt-BR" smtClean="0"/>
              <a:t>‹nº›</a:t>
            </a:fld>
            <a:endParaRPr lang="pt-BR" dirty="0"/>
          </a:p>
        </p:txBody>
      </p:sp>
    </p:spTree>
    <p:extLst>
      <p:ext uri="{BB962C8B-B14F-4D97-AF65-F5344CB8AC3E}">
        <p14:creationId xmlns:p14="http://schemas.microsoft.com/office/powerpoint/2010/main" val="967628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598313"/>
            <a:ext cx="7772400" cy="1102859"/>
          </a:xfrm>
        </p:spPr>
        <p:txBody>
          <a:bodyPr/>
          <a:lstStyle/>
          <a:p>
            <a:r>
              <a:rPr lang="pt-BR" smtClean="0"/>
              <a:t>Clique para editar o título mestre</a:t>
            </a:r>
            <a:endParaRPr lang="pt-BR"/>
          </a:p>
        </p:txBody>
      </p:sp>
      <p:sp>
        <p:nvSpPr>
          <p:cNvPr id="3" name="Subtítulo 2"/>
          <p:cNvSpPr>
            <a:spLocks noGrp="1"/>
          </p:cNvSpPr>
          <p:nvPr>
            <p:ph type="subTitle" idx="1"/>
          </p:nvPr>
        </p:nvSpPr>
        <p:spPr>
          <a:xfrm>
            <a:off x="1371600" y="2915550"/>
            <a:ext cx="6400800" cy="131485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97013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879326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3306196"/>
            <a:ext cx="7772400" cy="1021872"/>
          </a:xfrm>
        </p:spPr>
        <p:txBody>
          <a:bodyPr anchor="t"/>
          <a:lstStyle>
            <a:lvl1pPr algn="l">
              <a:defRPr sz="4000" b="1" cap="all"/>
            </a:lvl1pPr>
          </a:lstStyle>
          <a:p>
            <a:r>
              <a:rPr lang="pt-BR" smtClean="0"/>
              <a:t>Clique para editar o título mestre</a:t>
            </a:r>
            <a:endParaRPr lang="pt-BR"/>
          </a:p>
        </p:txBody>
      </p:sp>
      <p:sp>
        <p:nvSpPr>
          <p:cNvPr id="3" name="Espaço Reservado para Texto 2"/>
          <p:cNvSpPr>
            <a:spLocks noGrp="1"/>
          </p:cNvSpPr>
          <p:nvPr>
            <p:ph type="body" idx="1"/>
          </p:nvPr>
        </p:nvSpPr>
        <p:spPr>
          <a:xfrm>
            <a:off x="722313" y="2180708"/>
            <a:ext cx="7772400" cy="112548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299814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457200" y="900391"/>
            <a:ext cx="4038600" cy="254753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900391"/>
            <a:ext cx="4038600" cy="254753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1979657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06042"/>
            <a:ext cx="8229600" cy="857515"/>
          </a:xfrm>
        </p:spPr>
        <p:txBody>
          <a:bodyPr/>
          <a:lstStyle>
            <a:lvl1pPr>
              <a:defRPr/>
            </a:lvl1pPr>
          </a:lstStyle>
          <a:p>
            <a:r>
              <a:rPr lang="pt-BR" smtClean="0"/>
              <a:t>Clique para editar o título mestre</a:t>
            </a:r>
            <a:endParaRPr lang="pt-BR"/>
          </a:p>
        </p:txBody>
      </p:sp>
      <p:sp>
        <p:nvSpPr>
          <p:cNvPr id="3" name="Espaço Reservado para Texto 2"/>
          <p:cNvSpPr>
            <a:spLocks noGrp="1"/>
          </p:cNvSpPr>
          <p:nvPr>
            <p:ph type="body" idx="1"/>
          </p:nvPr>
        </p:nvSpPr>
        <p:spPr>
          <a:xfrm>
            <a:off x="457200" y="1151690"/>
            <a:ext cx="4040188"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457200" y="1631660"/>
            <a:ext cx="4040188"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6" y="1151690"/>
            <a:ext cx="4041775"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4645026" y="1631660"/>
            <a:ext cx="4041775"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8" name="Espaço Reservado para Rodapé 7"/>
          <p:cNvSpPr>
            <a:spLocks noGrp="1"/>
          </p:cNvSpPr>
          <p:nvPr>
            <p:ph type="ftr" sz="quarter" idx="11"/>
          </p:nvPr>
        </p:nvSpPr>
        <p:spPr/>
        <p:txBody>
          <a:bodyPr/>
          <a:lstStyle/>
          <a:p>
            <a:endParaRPr lang="pt-BR" dirty="0"/>
          </a:p>
        </p:txBody>
      </p:sp>
      <p:sp>
        <p:nvSpPr>
          <p:cNvPr id="9" name="Espaço Reservado para Número de Slide 8"/>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9548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4" name="Espaço Reservado para Rodapé 3"/>
          <p:cNvSpPr>
            <a:spLocks noGrp="1"/>
          </p:cNvSpPr>
          <p:nvPr>
            <p:ph type="ftr" sz="quarter" idx="11"/>
          </p:nvPr>
        </p:nvSpPr>
        <p:spPr/>
        <p:txBody>
          <a:bodyPr/>
          <a:lstStyle/>
          <a:p>
            <a:endParaRPr lang="pt-BR" dirty="0"/>
          </a:p>
        </p:txBody>
      </p:sp>
      <p:sp>
        <p:nvSpPr>
          <p:cNvPr id="5" name="Espaço Reservado para Número de Slide 4"/>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14479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3" name="Espaço Reservado para Rodapé 2"/>
          <p:cNvSpPr>
            <a:spLocks noGrp="1"/>
          </p:cNvSpPr>
          <p:nvPr>
            <p:ph type="ftr" sz="quarter" idx="11"/>
          </p:nvPr>
        </p:nvSpPr>
        <p:spPr/>
        <p:txBody>
          <a:bodyPr/>
          <a:lstStyle/>
          <a:p>
            <a:endParaRPr lang="pt-BR" dirty="0"/>
          </a:p>
        </p:txBody>
      </p:sp>
      <p:sp>
        <p:nvSpPr>
          <p:cNvPr id="4" name="Espaço Reservado para Número de Slide 3"/>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855565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1" y="204851"/>
            <a:ext cx="3008313" cy="871807"/>
          </a:xfrm>
        </p:spPr>
        <p:txBody>
          <a:bodyPr anchor="b"/>
          <a:lstStyle>
            <a:lvl1pPr algn="l">
              <a:defRPr sz="2000" b="1"/>
            </a:lvl1pPr>
          </a:lstStyle>
          <a:p>
            <a:r>
              <a:rPr lang="pt-BR" smtClean="0"/>
              <a:t>Clique para editar o título mestre</a:t>
            </a:r>
            <a:endParaRPr lang="pt-BR"/>
          </a:p>
        </p:txBody>
      </p:sp>
      <p:sp>
        <p:nvSpPr>
          <p:cNvPr id="3" name="Espaço Reservado para Conteúdo 2"/>
          <p:cNvSpPr>
            <a:spLocks noGrp="1"/>
          </p:cNvSpPr>
          <p:nvPr>
            <p:ph idx="1"/>
          </p:nvPr>
        </p:nvSpPr>
        <p:spPr>
          <a:xfrm>
            <a:off x="3575050" y="204851"/>
            <a:ext cx="5111750" cy="43911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1" y="1076658"/>
            <a:ext cx="3008313" cy="351938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285430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3601561"/>
            <a:ext cx="5486400" cy="425185"/>
          </a:xfrm>
        </p:spPr>
        <p:txBody>
          <a:bodyPr anchor="b"/>
          <a:lstStyle>
            <a:lvl1pPr algn="l">
              <a:defRPr sz="2000" b="1"/>
            </a:lvl1pPr>
          </a:lstStyle>
          <a:p>
            <a:r>
              <a:rPr lang="pt-BR" smtClean="0"/>
              <a:t>Clique para editar o título mestre</a:t>
            </a:r>
            <a:endParaRPr lang="pt-BR"/>
          </a:p>
        </p:txBody>
      </p:sp>
      <p:sp>
        <p:nvSpPr>
          <p:cNvPr id="3" name="Espaço Reservado para Imagem 2"/>
          <p:cNvSpPr>
            <a:spLocks noGrp="1"/>
          </p:cNvSpPr>
          <p:nvPr>
            <p:ph type="pic" idx="1"/>
          </p:nvPr>
        </p:nvSpPr>
        <p:spPr>
          <a:xfrm>
            <a:off x="1792288" y="459723"/>
            <a:ext cx="5486400" cy="30870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dirty="0"/>
          </a:p>
        </p:txBody>
      </p:sp>
      <p:sp>
        <p:nvSpPr>
          <p:cNvPr id="4" name="Espaço Reservado para Texto 3"/>
          <p:cNvSpPr>
            <a:spLocks noGrp="1"/>
          </p:cNvSpPr>
          <p:nvPr>
            <p:ph type="body" sz="half" idx="2"/>
          </p:nvPr>
        </p:nvSpPr>
        <p:spPr>
          <a:xfrm>
            <a:off x="1792288" y="4026746"/>
            <a:ext cx="5486400" cy="6038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2418187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1162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154829"/>
            <a:ext cx="2057400" cy="3293095"/>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457200" y="154829"/>
            <a:ext cx="6019800" cy="3293095"/>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AEE060FA-F017-416B-92AB-F93AA45D987F}" type="datetimeFigureOut">
              <a:rPr lang="pt-BR" smtClean="0"/>
              <a:t>28/05/2015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2322961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06042"/>
            <a:ext cx="8229600" cy="857515"/>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457200" y="1200521"/>
            <a:ext cx="8229600" cy="3395520"/>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4768735"/>
            <a:ext cx="2133600" cy="273928"/>
          </a:xfrm>
          <a:prstGeom prst="rect">
            <a:avLst/>
          </a:prstGeom>
        </p:spPr>
        <p:txBody>
          <a:bodyPr vert="horz" lIns="91440" tIns="45720" rIns="91440" bIns="45720" rtlCol="0" anchor="ctr"/>
          <a:lstStyle>
            <a:lvl1pPr algn="l">
              <a:defRPr sz="1200">
                <a:solidFill>
                  <a:schemeClr val="tx1">
                    <a:tint val="75000"/>
                  </a:schemeClr>
                </a:solidFill>
              </a:defRPr>
            </a:lvl1pPr>
          </a:lstStyle>
          <a:p>
            <a:fld id="{AEE060FA-F017-416B-92AB-F93AA45D987F}" type="datetimeFigureOut">
              <a:rPr lang="pt-BR" smtClean="0"/>
              <a:t>28/05/2015</a:t>
            </a:fld>
            <a:endParaRPr lang="pt-BR" dirty="0"/>
          </a:p>
        </p:txBody>
      </p:sp>
      <p:sp>
        <p:nvSpPr>
          <p:cNvPr id="5" name="Espaço Reservado para Rodapé 4"/>
          <p:cNvSpPr>
            <a:spLocks noGrp="1"/>
          </p:cNvSpPr>
          <p:nvPr>
            <p:ph type="ftr" sz="quarter" idx="3"/>
          </p:nvPr>
        </p:nvSpPr>
        <p:spPr>
          <a:xfrm>
            <a:off x="3124200" y="4768735"/>
            <a:ext cx="2895600" cy="273928"/>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Espaço Reservado para Número de Slide 5"/>
          <p:cNvSpPr>
            <a:spLocks noGrp="1"/>
          </p:cNvSpPr>
          <p:nvPr>
            <p:ph type="sldNum" sz="quarter" idx="4"/>
          </p:nvPr>
        </p:nvSpPr>
        <p:spPr>
          <a:xfrm>
            <a:off x="6553200" y="4768735"/>
            <a:ext cx="2133600" cy="273928"/>
          </a:xfrm>
          <a:prstGeom prst="rect">
            <a:avLst/>
          </a:prstGeom>
        </p:spPr>
        <p:txBody>
          <a:bodyPr vert="horz" lIns="91440" tIns="45720" rIns="91440" bIns="45720" rtlCol="0" anchor="ctr"/>
          <a:lstStyle>
            <a:lvl1pPr algn="r">
              <a:defRPr sz="1200">
                <a:solidFill>
                  <a:schemeClr val="tx1">
                    <a:tint val="75000"/>
                  </a:schemeClr>
                </a:solidFill>
              </a:defRPr>
            </a:lvl1pPr>
          </a:lstStyle>
          <a:p>
            <a:fld id="{34231A60-F3A3-4CCE-B6C5-97A8C15ACE94}" type="slidenum">
              <a:rPr lang="pt-BR" smtClean="0"/>
              <a:t>‹nº›</a:t>
            </a:fld>
            <a:endParaRPr lang="pt-BR" dirty="0"/>
          </a:p>
        </p:txBody>
      </p:sp>
    </p:spTree>
    <p:extLst>
      <p:ext uri="{BB962C8B-B14F-4D97-AF65-F5344CB8AC3E}">
        <p14:creationId xmlns:p14="http://schemas.microsoft.com/office/powerpoint/2010/main" val="1689299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0" y="0"/>
            <a:ext cx="9144000" cy="646331"/>
          </a:xfrm>
          <a:prstGeom prst="rect">
            <a:avLst/>
          </a:prstGeom>
          <a:solidFill>
            <a:schemeClr val="accent6"/>
          </a:solidFill>
        </p:spPr>
        <p:txBody>
          <a:bodyPr wrap="square" rtlCol="0">
            <a:spAutoFit/>
          </a:bodyPr>
          <a:lstStyle/>
          <a:p>
            <a:r>
              <a:rPr lang="pt-BR" b="1" dirty="0" smtClean="0">
                <a:solidFill>
                  <a:schemeClr val="bg1"/>
                </a:solidFill>
                <a:effectLst>
                  <a:outerShdw blurRad="38100" dist="38100" dir="2700000" algn="tl">
                    <a:srgbClr val="000000">
                      <a:alpha val="43137"/>
                    </a:srgbClr>
                  </a:outerShdw>
                </a:effectLst>
                <a:latin typeface="Gill Sans Std ExtraBold" pitchFamily="34" charset="0"/>
              </a:rPr>
              <a:t>Processo de Gestão de </a:t>
            </a:r>
            <a:r>
              <a:rPr lang="pt-BR" b="1" dirty="0" err="1" smtClean="0">
                <a:solidFill>
                  <a:schemeClr val="bg1"/>
                </a:solidFill>
                <a:effectLst>
                  <a:outerShdw blurRad="38100" dist="38100" dir="2700000" algn="tl">
                    <a:srgbClr val="000000">
                      <a:alpha val="43137"/>
                    </a:srgbClr>
                  </a:outerShdw>
                </a:effectLst>
                <a:latin typeface="Gill Sans Std ExtraBold" pitchFamily="34" charset="0"/>
              </a:rPr>
              <a:t>Nivel</a:t>
            </a:r>
            <a:r>
              <a:rPr lang="pt-BR" b="1" dirty="0" smtClean="0">
                <a:solidFill>
                  <a:schemeClr val="bg1"/>
                </a:solidFill>
                <a:effectLst>
                  <a:outerShdw blurRad="38100" dist="38100" dir="2700000" algn="tl">
                    <a:srgbClr val="000000">
                      <a:alpha val="43137"/>
                    </a:srgbClr>
                  </a:outerShdw>
                </a:effectLst>
                <a:latin typeface="Gill Sans Std ExtraBold" pitchFamily="34" charset="0"/>
              </a:rPr>
              <a:t> de Serviço</a:t>
            </a:r>
          </a:p>
          <a:p>
            <a:r>
              <a:rPr lang="pt-BR" b="1" dirty="0">
                <a:solidFill>
                  <a:schemeClr val="bg1"/>
                </a:solidFill>
                <a:effectLst>
                  <a:outerShdw blurRad="38100" dist="38100" dir="2700000" algn="tl">
                    <a:srgbClr val="000000">
                      <a:alpha val="43137"/>
                    </a:srgbClr>
                  </a:outerShdw>
                </a:effectLst>
                <a:latin typeface="Gill Sans Std Light" pitchFamily="34" charset="0"/>
              </a:rPr>
              <a:t>Gestão de Catálogo de Serviços e Grupos de Solução</a:t>
            </a:r>
          </a:p>
        </p:txBody>
      </p:sp>
      <p:pic>
        <p:nvPicPr>
          <p:cNvPr id="14" name="Picture 8" descr="NAT_marca_branca_natura-01.png"/>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432" y="19878"/>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aixaDeTexto 8"/>
          <p:cNvSpPr txBox="1">
            <a:spLocks noChangeArrowheads="1"/>
          </p:cNvSpPr>
          <p:nvPr/>
        </p:nvSpPr>
        <p:spPr bwMode="auto">
          <a:xfrm>
            <a:off x="683568" y="779235"/>
            <a:ext cx="5795320" cy="4024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45143" tIns="72571" rIns="145143" bIns="72571">
            <a:spAutoFit/>
          </a:bodyPr>
          <a:lstStyle>
            <a:lvl1pPr eaLnBrk="0" hangingPunct="0">
              <a:defRPr sz="3700">
                <a:solidFill>
                  <a:srgbClr val="000000"/>
                </a:solidFill>
                <a:latin typeface="Gill Sans"/>
                <a:ea typeface="ヒラギノ角ゴ ProN W3" charset="-128"/>
                <a:sym typeface="Gill Sans"/>
              </a:defRPr>
            </a:lvl1pPr>
            <a:lvl2pPr marL="742950" indent="-285750" eaLnBrk="0" hangingPunct="0">
              <a:defRPr sz="3700">
                <a:solidFill>
                  <a:srgbClr val="000000"/>
                </a:solidFill>
                <a:latin typeface="Gill Sans"/>
                <a:ea typeface="ヒラギノ角ゴ ProN W3" charset="-128"/>
                <a:sym typeface="Gill Sans"/>
              </a:defRPr>
            </a:lvl2pPr>
            <a:lvl3pPr marL="1143000" indent="-228600" eaLnBrk="0" hangingPunct="0">
              <a:defRPr sz="3700">
                <a:solidFill>
                  <a:srgbClr val="000000"/>
                </a:solidFill>
                <a:latin typeface="Gill Sans"/>
                <a:ea typeface="ヒラギノ角ゴ ProN W3" charset="-128"/>
                <a:sym typeface="Gill Sans"/>
              </a:defRPr>
            </a:lvl3pPr>
            <a:lvl4pPr marL="1600200" indent="-228600" eaLnBrk="0" hangingPunct="0">
              <a:defRPr sz="3700">
                <a:solidFill>
                  <a:srgbClr val="000000"/>
                </a:solidFill>
                <a:latin typeface="Gill Sans"/>
                <a:ea typeface="ヒラギノ角ゴ ProN W3" charset="-128"/>
                <a:sym typeface="Gill Sans"/>
              </a:defRPr>
            </a:lvl4pPr>
            <a:lvl5pPr marL="2057400" indent="-228600" eaLnBrk="0" hangingPunct="0">
              <a:defRPr sz="3700">
                <a:solidFill>
                  <a:srgbClr val="000000"/>
                </a:solidFill>
                <a:latin typeface="Gill Sans"/>
                <a:ea typeface="ヒラギノ角ゴ ProN W3" charset="-128"/>
                <a:sym typeface="Gill Sans"/>
              </a:defRPr>
            </a:lvl5pPr>
            <a:lvl6pPr marL="2514600" indent="-228600" eaLnBrk="0" fontAlgn="base" hangingPunct="0">
              <a:spcBef>
                <a:spcPct val="0"/>
              </a:spcBef>
              <a:spcAft>
                <a:spcPct val="0"/>
              </a:spcAft>
              <a:defRPr sz="3700">
                <a:solidFill>
                  <a:srgbClr val="000000"/>
                </a:solidFill>
                <a:latin typeface="Gill Sans"/>
                <a:ea typeface="ヒラギノ角ゴ ProN W3" charset="-128"/>
                <a:sym typeface="Gill Sans"/>
              </a:defRPr>
            </a:lvl6pPr>
            <a:lvl7pPr marL="2971800" indent="-228600" eaLnBrk="0" fontAlgn="base" hangingPunct="0">
              <a:spcBef>
                <a:spcPct val="0"/>
              </a:spcBef>
              <a:spcAft>
                <a:spcPct val="0"/>
              </a:spcAft>
              <a:defRPr sz="3700">
                <a:solidFill>
                  <a:srgbClr val="000000"/>
                </a:solidFill>
                <a:latin typeface="Gill Sans"/>
                <a:ea typeface="ヒラギノ角ゴ ProN W3" charset="-128"/>
                <a:sym typeface="Gill Sans"/>
              </a:defRPr>
            </a:lvl7pPr>
            <a:lvl8pPr marL="3429000" indent="-228600" eaLnBrk="0" fontAlgn="base" hangingPunct="0">
              <a:spcBef>
                <a:spcPct val="0"/>
              </a:spcBef>
              <a:spcAft>
                <a:spcPct val="0"/>
              </a:spcAft>
              <a:defRPr sz="3700">
                <a:solidFill>
                  <a:srgbClr val="000000"/>
                </a:solidFill>
                <a:latin typeface="Gill Sans"/>
                <a:ea typeface="ヒラギノ角ゴ ProN W3" charset="-128"/>
                <a:sym typeface="Gill Sans"/>
              </a:defRPr>
            </a:lvl8pPr>
            <a:lvl9pPr marL="3886200" indent="-228600" eaLnBrk="0" fontAlgn="base" hangingPunct="0">
              <a:spcBef>
                <a:spcPct val="0"/>
              </a:spcBef>
              <a:spcAft>
                <a:spcPct val="0"/>
              </a:spcAft>
              <a:defRPr sz="3700">
                <a:solidFill>
                  <a:srgbClr val="000000"/>
                </a:solidFill>
                <a:latin typeface="Gill Sans"/>
                <a:ea typeface="ヒラギノ角ゴ ProN W3" charset="-128"/>
                <a:sym typeface="Gill Sans"/>
              </a:defRPr>
            </a:lvl9pPr>
          </a:lstStyle>
          <a:p>
            <a:pPr marL="228600" lvl="0" indent="-228600" eaLnBrk="1" hangingPunct="1">
              <a:buFont typeface="+mj-lt"/>
              <a:buAutoNum type="arabicPeriod"/>
              <a:defRPr/>
            </a:pPr>
            <a:r>
              <a:rPr lang="pt-BR" sz="1050" b="1" dirty="0" smtClean="0">
                <a:solidFill>
                  <a:srgbClr val="6E6259"/>
                </a:solidFill>
                <a:latin typeface="Gill Sans Std Light" pitchFamily="34" charset="0"/>
                <a:ea typeface="+mn-ea"/>
              </a:rPr>
              <a:t>Gestão do Catálogo de Serviços</a:t>
            </a:r>
          </a:p>
          <a:p>
            <a:pPr marL="971550" lvl="1" indent="-228600" eaLnBrk="1" hangingPunct="1">
              <a:buFont typeface="+mj-lt"/>
              <a:buAutoNum type="romanUcPeriod"/>
              <a:defRPr/>
            </a:pPr>
            <a:r>
              <a:rPr lang="pt-BR" sz="1050" b="1" dirty="0" smtClean="0">
                <a:solidFill>
                  <a:srgbClr val="6E6259"/>
                </a:solidFill>
                <a:latin typeface="Gill Sans Std Light" pitchFamily="34" charset="0"/>
              </a:rPr>
              <a:t>Informações gerais</a:t>
            </a:r>
          </a:p>
          <a:p>
            <a:pPr marL="1371600" lvl="2" eaLnBrk="1" hangingPunct="1">
              <a:buFont typeface="+mj-lt"/>
              <a:buAutoNum type="alphaLcPeriod"/>
              <a:defRPr/>
            </a:pPr>
            <a:r>
              <a:rPr lang="pt-BR" sz="1050" b="1" dirty="0" smtClean="0">
                <a:solidFill>
                  <a:srgbClr val="6E6259"/>
                </a:solidFill>
                <a:latin typeface="Gill Sans Std Light" pitchFamily="34" charset="0"/>
              </a:rPr>
              <a:t>Turno </a:t>
            </a:r>
            <a:r>
              <a:rPr lang="pt-BR" sz="1050" b="1" dirty="0">
                <a:solidFill>
                  <a:srgbClr val="6E6259"/>
                </a:solidFill>
                <a:latin typeface="Gill Sans Std Light" pitchFamily="34" charset="0"/>
              </a:rPr>
              <a:t>de </a:t>
            </a:r>
            <a:r>
              <a:rPr lang="pt-BR" sz="1050" b="1" dirty="0" smtClean="0">
                <a:solidFill>
                  <a:srgbClr val="6E6259"/>
                </a:solidFill>
                <a:latin typeface="Gill Sans Std Light" pitchFamily="34" charset="0"/>
              </a:rPr>
              <a:t>trabalho da Categoria</a:t>
            </a:r>
          </a:p>
          <a:p>
            <a:pPr marL="1371600" lvl="2" eaLnBrk="1" hangingPunct="1">
              <a:buFont typeface="+mj-lt"/>
              <a:buAutoNum type="alphaLcPeriod"/>
              <a:defRPr/>
            </a:pPr>
            <a:r>
              <a:rPr lang="pt-BR" sz="1050" b="1" dirty="0" smtClean="0">
                <a:solidFill>
                  <a:srgbClr val="6E6259"/>
                </a:solidFill>
                <a:latin typeface="Gill Sans Std Light" pitchFamily="34" charset="0"/>
              </a:rPr>
              <a:t>SLA </a:t>
            </a:r>
            <a:r>
              <a:rPr lang="pt-BR" sz="1050" b="1" dirty="0">
                <a:solidFill>
                  <a:srgbClr val="6E6259"/>
                </a:solidFill>
                <a:latin typeface="Gill Sans Std Light" pitchFamily="34" charset="0"/>
              </a:rPr>
              <a:t>da </a:t>
            </a:r>
            <a:r>
              <a:rPr lang="pt-BR" sz="1050" b="1" dirty="0" smtClean="0">
                <a:solidFill>
                  <a:srgbClr val="6E6259"/>
                </a:solidFill>
                <a:latin typeface="Gill Sans Std Light" pitchFamily="34" charset="0"/>
              </a:rPr>
              <a:t>categoria</a:t>
            </a:r>
          </a:p>
          <a:p>
            <a:pPr marL="1371600" lvl="2" eaLnBrk="1" hangingPunct="1">
              <a:buFont typeface="+mj-lt"/>
              <a:buAutoNum type="alphaLcPeriod"/>
              <a:defRPr/>
            </a:pPr>
            <a:r>
              <a:rPr lang="pt-BR" sz="1050" b="1" dirty="0" smtClean="0">
                <a:solidFill>
                  <a:srgbClr val="6E6259"/>
                </a:solidFill>
                <a:latin typeface="Gill Sans Std Light" pitchFamily="34" charset="0"/>
              </a:rPr>
              <a:t>Diferença </a:t>
            </a:r>
            <a:r>
              <a:rPr lang="pt-BR" sz="1050" b="1" dirty="0">
                <a:solidFill>
                  <a:srgbClr val="6E6259"/>
                </a:solidFill>
                <a:latin typeface="Gill Sans Std Light" pitchFamily="34" charset="0"/>
              </a:rPr>
              <a:t>entre INC e </a:t>
            </a:r>
            <a:r>
              <a:rPr lang="pt-BR" sz="1050" b="1" dirty="0" smtClean="0">
                <a:solidFill>
                  <a:srgbClr val="6E6259"/>
                </a:solidFill>
                <a:latin typeface="Gill Sans Std Light" pitchFamily="34" charset="0"/>
              </a:rPr>
              <a:t>REQ</a:t>
            </a:r>
          </a:p>
          <a:p>
            <a:pPr marL="1371600" lvl="2" eaLnBrk="1" hangingPunct="1">
              <a:buFont typeface="+mj-lt"/>
              <a:buAutoNum type="alphaLcPeriod"/>
              <a:defRPr/>
            </a:pPr>
            <a:r>
              <a:rPr lang="pt-BR" sz="1050" b="1" dirty="0" smtClean="0">
                <a:solidFill>
                  <a:srgbClr val="6E6259"/>
                </a:solidFill>
                <a:latin typeface="Gill Sans Std Light" pitchFamily="34" charset="0"/>
              </a:rPr>
              <a:t>Atribuição automática por localidade, Item de Configuração</a:t>
            </a:r>
          </a:p>
          <a:p>
            <a:pPr marL="1371600" lvl="2" eaLnBrk="1" hangingPunct="1">
              <a:buFont typeface="+mj-lt"/>
              <a:buAutoNum type="alphaLcPeriod"/>
              <a:defRPr/>
            </a:pPr>
            <a:r>
              <a:rPr lang="pt-BR" sz="1050" b="1" dirty="0" smtClean="0">
                <a:solidFill>
                  <a:srgbClr val="6E6259"/>
                </a:solidFill>
                <a:latin typeface="Gill Sans Std Light" pitchFamily="34" charset="0"/>
              </a:rPr>
              <a:t>Multi-idioma</a:t>
            </a:r>
          </a:p>
          <a:p>
            <a:pPr marL="1371600" lvl="2" eaLnBrk="1" hangingPunct="1">
              <a:buFont typeface="+mj-lt"/>
              <a:buAutoNum type="alphaLcPeriod"/>
              <a:defRPr/>
            </a:pPr>
            <a:r>
              <a:rPr lang="pt-BR" sz="1050" b="1" dirty="0" smtClean="0">
                <a:solidFill>
                  <a:srgbClr val="6E6259"/>
                </a:solidFill>
                <a:latin typeface="Gill Sans Std Light" pitchFamily="34" charset="0"/>
              </a:rPr>
              <a:t>Padronização</a:t>
            </a:r>
            <a:endParaRPr lang="pt-BR" sz="1050" b="1" dirty="0">
              <a:solidFill>
                <a:srgbClr val="6E6259"/>
              </a:solidFill>
              <a:latin typeface="Gill Sans Std Light" pitchFamily="34" charset="0"/>
            </a:endParaRPr>
          </a:p>
          <a:p>
            <a:pPr marL="1028700" lvl="1" eaLnBrk="1" hangingPunct="1">
              <a:buFont typeface="+mj-lt"/>
              <a:buAutoNum type="romanUcPeriod"/>
              <a:defRPr/>
            </a:pPr>
            <a:endParaRPr lang="pt-BR" sz="1050" b="1" dirty="0" smtClean="0">
              <a:solidFill>
                <a:srgbClr val="6E6259"/>
              </a:solidFill>
              <a:latin typeface="Gill Sans Std Light" pitchFamily="34" charset="0"/>
              <a:ea typeface="+mn-ea"/>
            </a:endParaRPr>
          </a:p>
          <a:p>
            <a:pPr marL="1028700" lvl="1" eaLnBrk="1" hangingPunct="1">
              <a:buFont typeface="+mj-lt"/>
              <a:buAutoNum type="romanUcPeriod"/>
              <a:defRPr/>
            </a:pPr>
            <a:r>
              <a:rPr lang="pt-BR" sz="1050" b="1" dirty="0" smtClean="0">
                <a:solidFill>
                  <a:srgbClr val="6E6259"/>
                </a:solidFill>
                <a:latin typeface="Gill Sans Std Light" pitchFamily="34" charset="0"/>
                <a:ea typeface="+mn-ea"/>
              </a:rPr>
              <a:t>Processo de Solicitação de Serviço</a:t>
            </a:r>
          </a:p>
          <a:p>
            <a:pPr marL="1428750" lvl="2" eaLnBrk="1" hangingPunct="1">
              <a:buFont typeface="+mj-lt"/>
              <a:buAutoNum type="alphaLcPeriod"/>
              <a:defRPr/>
            </a:pPr>
            <a:r>
              <a:rPr lang="pt-BR" sz="1050" b="1" dirty="0" smtClean="0">
                <a:solidFill>
                  <a:srgbClr val="6E6259"/>
                </a:solidFill>
                <a:latin typeface="Gill Sans Std Light" pitchFamily="34" charset="0"/>
                <a:ea typeface="+mn-ea"/>
              </a:rPr>
              <a:t>Novo Serviço</a:t>
            </a:r>
          </a:p>
          <a:p>
            <a:pPr marL="1428750" lvl="2" eaLnBrk="1" hangingPunct="1">
              <a:buFont typeface="+mj-lt"/>
              <a:buAutoNum type="alphaLcPeriod"/>
              <a:defRPr/>
            </a:pPr>
            <a:r>
              <a:rPr lang="pt-BR" sz="1050" b="1" dirty="0" smtClean="0">
                <a:solidFill>
                  <a:srgbClr val="6E6259"/>
                </a:solidFill>
                <a:latin typeface="Gill Sans Std Light" pitchFamily="34" charset="0"/>
                <a:ea typeface="+mn-ea"/>
              </a:rPr>
              <a:t>Modificação de serviço</a:t>
            </a:r>
          </a:p>
          <a:p>
            <a:pPr marL="1428750" lvl="2" eaLnBrk="1" hangingPunct="1">
              <a:buFont typeface="+mj-lt"/>
              <a:buAutoNum type="alphaLcPeriod"/>
              <a:defRPr/>
            </a:pPr>
            <a:r>
              <a:rPr lang="pt-BR" sz="1050" b="1" dirty="0" smtClean="0">
                <a:solidFill>
                  <a:srgbClr val="6E6259"/>
                </a:solidFill>
                <a:latin typeface="Gill Sans Std Light" pitchFamily="34" charset="0"/>
                <a:ea typeface="+mn-ea"/>
              </a:rPr>
              <a:t>Inativação de Serviço</a:t>
            </a:r>
          </a:p>
          <a:p>
            <a:pPr marL="1200150" lvl="2" indent="0" eaLnBrk="1" hangingPunct="1">
              <a:defRPr/>
            </a:pPr>
            <a:endParaRPr lang="pt-BR" sz="1050" b="1" dirty="0" smtClean="0">
              <a:solidFill>
                <a:srgbClr val="6E6259"/>
              </a:solidFill>
              <a:latin typeface="Gill Sans Std Light" pitchFamily="34" charset="0"/>
              <a:ea typeface="+mn-ea"/>
            </a:endParaRPr>
          </a:p>
          <a:p>
            <a:pPr marL="285750" indent="-228600" eaLnBrk="1" hangingPunct="1">
              <a:buFont typeface="+mj-lt"/>
              <a:buAutoNum type="arabicPeriod"/>
              <a:defRPr/>
            </a:pPr>
            <a:r>
              <a:rPr lang="pt-BR" sz="1050" b="1" dirty="0" smtClean="0">
                <a:solidFill>
                  <a:srgbClr val="6E6259"/>
                </a:solidFill>
                <a:latin typeface="Gill Sans Std Light" pitchFamily="34" charset="0"/>
                <a:ea typeface="+mn-ea"/>
              </a:rPr>
              <a:t>Gestão de Grupos (filas de resolução de chamados)</a:t>
            </a:r>
          </a:p>
          <a:p>
            <a:pPr marL="1028700" lvl="1" indent="-228600" eaLnBrk="1" hangingPunct="1">
              <a:buFont typeface="+mj-lt"/>
              <a:buAutoNum type="romanUcPeriod"/>
              <a:defRPr/>
            </a:pPr>
            <a:r>
              <a:rPr lang="pt-BR" sz="1050" b="1" dirty="0">
                <a:solidFill>
                  <a:srgbClr val="6E6259"/>
                </a:solidFill>
                <a:latin typeface="Gill Sans Std Light" pitchFamily="34" charset="0"/>
                <a:ea typeface="+mn-ea"/>
              </a:rPr>
              <a:t>Informações</a:t>
            </a:r>
            <a:r>
              <a:rPr lang="pt-BR" sz="1050" b="1" dirty="0" smtClean="0">
                <a:solidFill>
                  <a:srgbClr val="6E6259"/>
                </a:solidFill>
                <a:latin typeface="Gill Sans Std Light" pitchFamily="34" charset="0"/>
              </a:rPr>
              <a:t> gerais</a:t>
            </a:r>
          </a:p>
          <a:p>
            <a:pPr marL="1428750" lvl="2" eaLnBrk="1" hangingPunct="1">
              <a:buFont typeface="+mj-lt"/>
              <a:buAutoNum type="alphaLcPeriod"/>
              <a:defRPr/>
            </a:pPr>
            <a:r>
              <a:rPr lang="pt-BR" sz="1050" b="1" dirty="0">
                <a:solidFill>
                  <a:srgbClr val="6E6259"/>
                </a:solidFill>
                <a:latin typeface="Gill Sans Std Light" pitchFamily="34" charset="0"/>
              </a:rPr>
              <a:t>Turno de trabalho </a:t>
            </a:r>
            <a:r>
              <a:rPr lang="pt-BR" sz="1050" b="1" dirty="0" smtClean="0">
                <a:solidFill>
                  <a:srgbClr val="6E6259"/>
                </a:solidFill>
                <a:latin typeface="Gill Sans Std Light" pitchFamily="34" charset="0"/>
              </a:rPr>
              <a:t>do Grupo</a:t>
            </a:r>
          </a:p>
          <a:p>
            <a:pPr marL="1428750" lvl="2" eaLnBrk="1" hangingPunct="1">
              <a:buFont typeface="+mj-lt"/>
              <a:buAutoNum type="alphaLcPeriod"/>
              <a:defRPr/>
            </a:pPr>
            <a:r>
              <a:rPr lang="pt-BR" sz="1050" b="1" dirty="0" smtClean="0">
                <a:solidFill>
                  <a:srgbClr val="6E6259"/>
                </a:solidFill>
                <a:latin typeface="Gill Sans Std Light" pitchFamily="34" charset="0"/>
              </a:rPr>
              <a:t>SLA de grupo</a:t>
            </a:r>
          </a:p>
          <a:p>
            <a:pPr marL="1428750" lvl="2" eaLnBrk="1" hangingPunct="1">
              <a:buFont typeface="+mj-lt"/>
              <a:buAutoNum type="alphaLcPeriod"/>
              <a:defRPr/>
            </a:pPr>
            <a:r>
              <a:rPr lang="pt-BR" sz="1050" b="1" dirty="0">
                <a:solidFill>
                  <a:srgbClr val="6E6259"/>
                </a:solidFill>
                <a:latin typeface="Gill Sans Std Light" pitchFamily="34" charset="0"/>
              </a:rPr>
              <a:t>Padronização</a:t>
            </a:r>
            <a:endParaRPr lang="pt-BR" sz="1050" b="1" dirty="0" smtClean="0">
              <a:solidFill>
                <a:srgbClr val="6E6259"/>
              </a:solidFill>
              <a:latin typeface="Gill Sans Std Light" pitchFamily="34" charset="0"/>
            </a:endParaRPr>
          </a:p>
          <a:p>
            <a:pPr marL="1428750" lvl="2" eaLnBrk="1" hangingPunct="1">
              <a:buFont typeface="+mj-lt"/>
              <a:buAutoNum type="alphaLcPeriod"/>
              <a:defRPr/>
            </a:pPr>
            <a:endParaRPr lang="pt-BR" sz="1050" b="1" dirty="0">
              <a:solidFill>
                <a:srgbClr val="6E6259"/>
              </a:solidFill>
              <a:latin typeface="Gill Sans Std Light" pitchFamily="34" charset="0"/>
            </a:endParaRPr>
          </a:p>
          <a:p>
            <a:pPr marL="1028700" lvl="1" eaLnBrk="1" hangingPunct="1">
              <a:buFont typeface="+mj-lt"/>
              <a:buAutoNum type="romanUcPeriod"/>
              <a:defRPr/>
            </a:pPr>
            <a:r>
              <a:rPr lang="pt-BR" sz="1050" b="1" dirty="0" smtClean="0">
                <a:solidFill>
                  <a:srgbClr val="6E6259"/>
                </a:solidFill>
                <a:latin typeface="Gill Sans Std Light" pitchFamily="34" charset="0"/>
              </a:rPr>
              <a:t>Processo </a:t>
            </a:r>
            <a:r>
              <a:rPr lang="pt-BR" sz="1050" b="1" dirty="0">
                <a:solidFill>
                  <a:srgbClr val="6E6259"/>
                </a:solidFill>
                <a:latin typeface="Gill Sans Std Light" pitchFamily="34" charset="0"/>
              </a:rPr>
              <a:t>de Solicitação de Serviço</a:t>
            </a:r>
          </a:p>
          <a:p>
            <a:pPr marL="1428750" lvl="2" eaLnBrk="1" hangingPunct="1">
              <a:buFont typeface="+mj-lt"/>
              <a:buAutoNum type="alphaLcPeriod"/>
              <a:defRPr/>
            </a:pPr>
            <a:r>
              <a:rPr lang="pt-BR" sz="1050" b="1" dirty="0">
                <a:solidFill>
                  <a:srgbClr val="6E6259"/>
                </a:solidFill>
                <a:latin typeface="Gill Sans Std Light" pitchFamily="34" charset="0"/>
              </a:rPr>
              <a:t>Novo Serviço</a:t>
            </a:r>
          </a:p>
          <a:p>
            <a:pPr marL="1428750" lvl="2" eaLnBrk="1" hangingPunct="1">
              <a:buFont typeface="+mj-lt"/>
              <a:buAutoNum type="alphaLcPeriod"/>
              <a:defRPr/>
            </a:pPr>
            <a:r>
              <a:rPr lang="pt-BR" sz="1050" b="1" dirty="0">
                <a:solidFill>
                  <a:srgbClr val="6E6259"/>
                </a:solidFill>
                <a:latin typeface="Gill Sans Std Light" pitchFamily="34" charset="0"/>
              </a:rPr>
              <a:t>Modificação de serviço</a:t>
            </a:r>
          </a:p>
          <a:p>
            <a:pPr marL="1428750" lvl="2" eaLnBrk="1" hangingPunct="1">
              <a:buFont typeface="+mj-lt"/>
              <a:buAutoNum type="alphaLcPeriod"/>
              <a:defRPr/>
            </a:pPr>
            <a:r>
              <a:rPr lang="pt-BR" sz="1050" b="1" dirty="0">
                <a:solidFill>
                  <a:srgbClr val="6E6259"/>
                </a:solidFill>
                <a:latin typeface="Gill Sans Std Light" pitchFamily="34" charset="0"/>
              </a:rPr>
              <a:t>Inativação de </a:t>
            </a:r>
            <a:r>
              <a:rPr lang="pt-BR" sz="1050" b="1" dirty="0" smtClean="0">
                <a:solidFill>
                  <a:srgbClr val="6E6259"/>
                </a:solidFill>
                <a:latin typeface="Gill Sans Std Light" pitchFamily="34" charset="0"/>
              </a:rPr>
              <a:t>Serviço</a:t>
            </a:r>
            <a:endParaRPr lang="pt-BR" sz="1050" b="1" dirty="0">
              <a:solidFill>
                <a:srgbClr val="6E6259"/>
              </a:solidFill>
              <a:latin typeface="Gill Sans Std Light" pitchFamily="34" charset="0"/>
              <a:ea typeface="+mn-ea"/>
            </a:endParaRPr>
          </a:p>
        </p:txBody>
      </p:sp>
    </p:spTree>
    <p:extLst>
      <p:ext uri="{BB962C8B-B14F-4D97-AF65-F5344CB8AC3E}">
        <p14:creationId xmlns:p14="http://schemas.microsoft.com/office/powerpoint/2010/main" val="37873980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0" y="0"/>
            <a:ext cx="9144000" cy="646331"/>
          </a:xfrm>
          <a:prstGeom prst="rect">
            <a:avLst/>
          </a:prstGeom>
          <a:solidFill>
            <a:schemeClr val="accent6"/>
          </a:solidFill>
        </p:spPr>
        <p:txBody>
          <a:bodyPr wrap="square" rtlCol="0">
            <a:spAutoFit/>
          </a:bodyPr>
          <a:lstStyle/>
          <a:p>
            <a:r>
              <a:rPr lang="pt-BR" b="1" dirty="0">
                <a:solidFill>
                  <a:schemeClr val="bg1"/>
                </a:solidFill>
                <a:effectLst>
                  <a:outerShdw blurRad="38100" dist="38100" dir="2700000" algn="tl">
                    <a:srgbClr val="000000">
                      <a:alpha val="43137"/>
                    </a:srgbClr>
                  </a:outerShdw>
                </a:effectLst>
                <a:latin typeface="Gill Sans Std ExtraBold" pitchFamily="34" charset="0"/>
              </a:rPr>
              <a:t>Processo de Gestão de </a:t>
            </a:r>
            <a:r>
              <a:rPr lang="pt-BR" b="1" dirty="0" err="1">
                <a:solidFill>
                  <a:schemeClr val="bg1"/>
                </a:solidFill>
                <a:effectLst>
                  <a:outerShdw blurRad="38100" dist="38100" dir="2700000" algn="tl">
                    <a:srgbClr val="000000">
                      <a:alpha val="43137"/>
                    </a:srgbClr>
                  </a:outerShdw>
                </a:effectLst>
                <a:latin typeface="Gill Sans Std ExtraBold" pitchFamily="34" charset="0"/>
              </a:rPr>
              <a:t>Nivel</a:t>
            </a:r>
            <a:r>
              <a:rPr lang="pt-BR" b="1" dirty="0">
                <a:solidFill>
                  <a:schemeClr val="bg1"/>
                </a:solidFill>
                <a:effectLst>
                  <a:outerShdw blurRad="38100" dist="38100" dir="2700000" algn="tl">
                    <a:srgbClr val="000000">
                      <a:alpha val="43137"/>
                    </a:srgbClr>
                  </a:outerShdw>
                </a:effectLst>
                <a:latin typeface="Gill Sans Std ExtraBold" pitchFamily="34" charset="0"/>
              </a:rPr>
              <a:t> de Serviço</a:t>
            </a:r>
          </a:p>
          <a:p>
            <a:r>
              <a:rPr lang="pt-BR" b="1" dirty="0" smtClean="0">
                <a:solidFill>
                  <a:schemeClr val="bg1"/>
                </a:solidFill>
                <a:effectLst>
                  <a:outerShdw blurRad="38100" dist="38100" dir="2700000" algn="tl">
                    <a:srgbClr val="000000">
                      <a:alpha val="43137"/>
                    </a:srgbClr>
                  </a:outerShdw>
                </a:effectLst>
                <a:latin typeface="Gill Sans Std Light" pitchFamily="34" charset="0"/>
              </a:rPr>
              <a:t>1. Gestão </a:t>
            </a:r>
            <a:r>
              <a:rPr lang="pt-BR" b="1" dirty="0">
                <a:solidFill>
                  <a:schemeClr val="bg1"/>
                </a:solidFill>
                <a:effectLst>
                  <a:outerShdw blurRad="38100" dist="38100" dir="2700000" algn="tl">
                    <a:srgbClr val="000000">
                      <a:alpha val="43137"/>
                    </a:srgbClr>
                  </a:outerShdw>
                </a:effectLst>
                <a:latin typeface="Gill Sans Std Light" pitchFamily="34" charset="0"/>
              </a:rPr>
              <a:t>do Catálogo de </a:t>
            </a:r>
            <a:r>
              <a:rPr lang="pt-BR" b="1" dirty="0" smtClean="0">
                <a:solidFill>
                  <a:schemeClr val="bg1"/>
                </a:solidFill>
                <a:effectLst>
                  <a:outerShdw blurRad="38100" dist="38100" dir="2700000" algn="tl">
                    <a:srgbClr val="000000">
                      <a:alpha val="43137"/>
                    </a:srgbClr>
                  </a:outerShdw>
                </a:effectLst>
                <a:latin typeface="Gill Sans Std Light" pitchFamily="34" charset="0"/>
              </a:rPr>
              <a:t>Serviços – Informações Gerais</a:t>
            </a:r>
            <a:endParaRPr lang="pt-BR" b="1" dirty="0">
              <a:solidFill>
                <a:schemeClr val="bg1"/>
              </a:solidFill>
              <a:effectLst>
                <a:outerShdw blurRad="38100" dist="38100" dir="2700000" algn="tl">
                  <a:srgbClr val="000000">
                    <a:alpha val="43137"/>
                  </a:srgbClr>
                </a:outerShdw>
              </a:effectLst>
              <a:latin typeface="Gill Sans Std Light" pitchFamily="34" charset="0"/>
            </a:endParaRPr>
          </a:p>
        </p:txBody>
      </p:sp>
      <p:pic>
        <p:nvPicPr>
          <p:cNvPr id="14" name="Picture 8" descr="NAT_marca_branca_natura-01.png"/>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432" y="19878"/>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aixaDeTexto 8"/>
          <p:cNvSpPr txBox="1">
            <a:spLocks noChangeArrowheads="1"/>
          </p:cNvSpPr>
          <p:nvPr/>
        </p:nvSpPr>
        <p:spPr bwMode="auto">
          <a:xfrm>
            <a:off x="323528" y="844352"/>
            <a:ext cx="8280920" cy="3839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45143" tIns="72571" rIns="145143" bIns="72571">
            <a:spAutoFit/>
          </a:bodyPr>
          <a:lstStyle>
            <a:lvl1pPr eaLnBrk="0" hangingPunct="0">
              <a:defRPr sz="3700">
                <a:solidFill>
                  <a:srgbClr val="000000"/>
                </a:solidFill>
                <a:latin typeface="Gill Sans"/>
                <a:ea typeface="ヒラギノ角ゴ ProN W3" charset="-128"/>
                <a:sym typeface="Gill Sans"/>
              </a:defRPr>
            </a:lvl1pPr>
            <a:lvl2pPr marL="742950" indent="-285750" eaLnBrk="0" hangingPunct="0">
              <a:defRPr sz="3700">
                <a:solidFill>
                  <a:srgbClr val="000000"/>
                </a:solidFill>
                <a:latin typeface="Gill Sans"/>
                <a:ea typeface="ヒラギノ角ゴ ProN W3" charset="-128"/>
                <a:sym typeface="Gill Sans"/>
              </a:defRPr>
            </a:lvl2pPr>
            <a:lvl3pPr marL="1143000" indent="-228600" eaLnBrk="0" hangingPunct="0">
              <a:defRPr sz="3700">
                <a:solidFill>
                  <a:srgbClr val="000000"/>
                </a:solidFill>
                <a:latin typeface="Gill Sans"/>
                <a:ea typeface="ヒラギノ角ゴ ProN W3" charset="-128"/>
                <a:sym typeface="Gill Sans"/>
              </a:defRPr>
            </a:lvl3pPr>
            <a:lvl4pPr marL="1600200" indent="-228600" eaLnBrk="0" hangingPunct="0">
              <a:defRPr sz="3700">
                <a:solidFill>
                  <a:srgbClr val="000000"/>
                </a:solidFill>
                <a:latin typeface="Gill Sans"/>
                <a:ea typeface="ヒラギノ角ゴ ProN W3" charset="-128"/>
                <a:sym typeface="Gill Sans"/>
              </a:defRPr>
            </a:lvl4pPr>
            <a:lvl5pPr marL="2057400" indent="-228600" eaLnBrk="0" hangingPunct="0">
              <a:defRPr sz="3700">
                <a:solidFill>
                  <a:srgbClr val="000000"/>
                </a:solidFill>
                <a:latin typeface="Gill Sans"/>
                <a:ea typeface="ヒラギノ角ゴ ProN W3" charset="-128"/>
                <a:sym typeface="Gill Sans"/>
              </a:defRPr>
            </a:lvl5pPr>
            <a:lvl6pPr marL="2514600" indent="-228600" eaLnBrk="0" fontAlgn="base" hangingPunct="0">
              <a:spcBef>
                <a:spcPct val="0"/>
              </a:spcBef>
              <a:spcAft>
                <a:spcPct val="0"/>
              </a:spcAft>
              <a:defRPr sz="3700">
                <a:solidFill>
                  <a:srgbClr val="000000"/>
                </a:solidFill>
                <a:latin typeface="Gill Sans"/>
                <a:ea typeface="ヒラギノ角ゴ ProN W3" charset="-128"/>
                <a:sym typeface="Gill Sans"/>
              </a:defRPr>
            </a:lvl6pPr>
            <a:lvl7pPr marL="2971800" indent="-228600" eaLnBrk="0" fontAlgn="base" hangingPunct="0">
              <a:spcBef>
                <a:spcPct val="0"/>
              </a:spcBef>
              <a:spcAft>
                <a:spcPct val="0"/>
              </a:spcAft>
              <a:defRPr sz="3700">
                <a:solidFill>
                  <a:srgbClr val="000000"/>
                </a:solidFill>
                <a:latin typeface="Gill Sans"/>
                <a:ea typeface="ヒラギノ角ゴ ProN W3" charset="-128"/>
                <a:sym typeface="Gill Sans"/>
              </a:defRPr>
            </a:lvl7pPr>
            <a:lvl8pPr marL="3429000" indent="-228600" eaLnBrk="0" fontAlgn="base" hangingPunct="0">
              <a:spcBef>
                <a:spcPct val="0"/>
              </a:spcBef>
              <a:spcAft>
                <a:spcPct val="0"/>
              </a:spcAft>
              <a:defRPr sz="3700">
                <a:solidFill>
                  <a:srgbClr val="000000"/>
                </a:solidFill>
                <a:latin typeface="Gill Sans"/>
                <a:ea typeface="ヒラギノ角ゴ ProN W3" charset="-128"/>
                <a:sym typeface="Gill Sans"/>
              </a:defRPr>
            </a:lvl8pPr>
            <a:lvl9pPr marL="3886200" indent="-228600" eaLnBrk="0" fontAlgn="base" hangingPunct="0">
              <a:spcBef>
                <a:spcPct val="0"/>
              </a:spcBef>
              <a:spcAft>
                <a:spcPct val="0"/>
              </a:spcAft>
              <a:defRPr sz="3700">
                <a:solidFill>
                  <a:srgbClr val="000000"/>
                </a:solidFill>
                <a:latin typeface="Gill Sans"/>
                <a:ea typeface="ヒラギノ角ゴ ProN W3" charset="-128"/>
                <a:sym typeface="Gill Sans"/>
              </a:defRPr>
            </a:lvl9pPr>
          </a:lstStyle>
          <a:p>
            <a:pPr marL="228600" indent="-228600" eaLnBrk="1" hangingPunct="1">
              <a:buFont typeface="+mj-lt"/>
              <a:buAutoNum type="romanUcPeriod"/>
              <a:defRPr/>
            </a:pPr>
            <a:r>
              <a:rPr lang="pt-BR" sz="1050" b="1" dirty="0">
                <a:solidFill>
                  <a:srgbClr val="6E6259"/>
                </a:solidFill>
                <a:latin typeface="Gill Sans Std Light" pitchFamily="34" charset="0"/>
              </a:rPr>
              <a:t>Informações gerais</a:t>
            </a:r>
          </a:p>
          <a:p>
            <a:pPr marL="971550" lvl="1" eaLnBrk="1" hangingPunct="1">
              <a:buFont typeface="+mj-lt"/>
              <a:buAutoNum type="alphaLcPeriod"/>
              <a:defRPr/>
            </a:pPr>
            <a:r>
              <a:rPr lang="pt-BR" sz="1050" b="1" dirty="0">
                <a:solidFill>
                  <a:srgbClr val="6E6259"/>
                </a:solidFill>
                <a:latin typeface="Gill Sans Std Light" pitchFamily="34" charset="0"/>
              </a:rPr>
              <a:t>Turno de trabalho da </a:t>
            </a:r>
            <a:r>
              <a:rPr lang="pt-BR" sz="1050" b="1" dirty="0" smtClean="0">
                <a:solidFill>
                  <a:srgbClr val="6E6259"/>
                </a:solidFill>
                <a:latin typeface="Gill Sans Std Light" pitchFamily="34" charset="0"/>
              </a:rPr>
              <a:t>Categoria</a:t>
            </a:r>
          </a:p>
          <a:p>
            <a:pPr lvl="1" indent="-57150" eaLnBrk="1" hangingPunct="1">
              <a:defRPr/>
            </a:pPr>
            <a:r>
              <a:rPr lang="pt-BR" sz="1050" b="1" dirty="0" smtClean="0">
                <a:solidFill>
                  <a:srgbClr val="6E6259"/>
                </a:solidFill>
                <a:latin typeface="Gill Sans Std Light" pitchFamily="34" charset="0"/>
              </a:rPr>
              <a:t>O turno de trabalho da categoria configura a cobertura de atendimento do serviço dos chamados. A configuração deste campo nas categorias é de extrema importância pois impacta diretamente no SLA do chamado, pois o SLA respeita o turno de trabalho. Isso quer dizer que se um serviço tem o turno de trabalho configurado para: Segunda a Sexta, das 08:00 as 17:00, o SLA respeitará essa cobertura e “pausará” o SLA do chamado enquanto estiver fora desta cobertura.</a:t>
            </a:r>
            <a:br>
              <a:rPr lang="pt-BR" sz="1050" b="1" dirty="0" smtClean="0">
                <a:solidFill>
                  <a:srgbClr val="6E6259"/>
                </a:solidFill>
                <a:latin typeface="Gill Sans Std Light" pitchFamily="34" charset="0"/>
              </a:rPr>
            </a:br>
            <a:endParaRPr lang="pt-BR" sz="1050" b="1" dirty="0">
              <a:solidFill>
                <a:srgbClr val="6E6259"/>
              </a:solidFill>
              <a:latin typeface="Gill Sans Std Light" pitchFamily="34" charset="0"/>
            </a:endParaRPr>
          </a:p>
          <a:p>
            <a:pPr marL="914400" lvl="1" indent="-228600" eaLnBrk="1" hangingPunct="1">
              <a:buFont typeface="+mj-lt"/>
              <a:buAutoNum type="alphaLcPeriod" startAt="2"/>
              <a:defRPr/>
            </a:pPr>
            <a:r>
              <a:rPr lang="pt-BR" sz="1050" b="1" dirty="0" smtClean="0">
                <a:solidFill>
                  <a:srgbClr val="6E6259"/>
                </a:solidFill>
                <a:latin typeface="Gill Sans Std Light" pitchFamily="34" charset="0"/>
              </a:rPr>
              <a:t>SLA </a:t>
            </a:r>
            <a:r>
              <a:rPr lang="pt-BR" sz="1050" b="1" dirty="0">
                <a:solidFill>
                  <a:srgbClr val="6E6259"/>
                </a:solidFill>
                <a:latin typeface="Gill Sans Std Light" pitchFamily="34" charset="0"/>
              </a:rPr>
              <a:t>da </a:t>
            </a:r>
            <a:r>
              <a:rPr lang="pt-BR" sz="1050" b="1" dirty="0" smtClean="0">
                <a:solidFill>
                  <a:srgbClr val="6E6259"/>
                </a:solidFill>
                <a:latin typeface="Gill Sans Std Light" pitchFamily="34" charset="0"/>
              </a:rPr>
              <a:t>categoria</a:t>
            </a:r>
          </a:p>
          <a:p>
            <a:pPr marL="685800" lvl="1" indent="0" eaLnBrk="1" hangingPunct="1">
              <a:defRPr/>
            </a:pPr>
            <a:r>
              <a:rPr lang="pt-BR" sz="1050" b="1" dirty="0" smtClean="0">
                <a:solidFill>
                  <a:srgbClr val="6E6259"/>
                </a:solidFill>
                <a:latin typeface="Gill Sans Std Light" pitchFamily="34" charset="0"/>
              </a:rPr>
              <a:t>SLA da categoria é o tempo (geralmente em horas) acordado para que o serviço seja entregue para o cliente, a partir da abertura do chamado. Todo chamado obrigatoriamente tem uma categoria de serviço associada e toda categoria tem um SLA associado.</a:t>
            </a:r>
            <a:br>
              <a:rPr lang="pt-BR" sz="1050" b="1" dirty="0" smtClean="0">
                <a:solidFill>
                  <a:srgbClr val="6E6259"/>
                </a:solidFill>
                <a:latin typeface="Gill Sans Std Light" pitchFamily="34" charset="0"/>
              </a:rPr>
            </a:br>
            <a:endParaRPr lang="pt-BR" sz="1050" b="1" dirty="0" smtClean="0">
              <a:solidFill>
                <a:srgbClr val="6E6259"/>
              </a:solidFill>
              <a:latin typeface="Gill Sans Std Light" pitchFamily="34" charset="0"/>
            </a:endParaRPr>
          </a:p>
          <a:p>
            <a:pPr marL="971550" lvl="1" eaLnBrk="1" hangingPunct="1">
              <a:buFont typeface="+mj-lt"/>
              <a:buAutoNum type="alphaLcPeriod" startAt="3"/>
              <a:defRPr/>
            </a:pPr>
            <a:r>
              <a:rPr lang="pt-BR" sz="1050" b="1" dirty="0" smtClean="0">
                <a:solidFill>
                  <a:srgbClr val="6E6259"/>
                </a:solidFill>
                <a:latin typeface="Gill Sans Std Light" pitchFamily="34" charset="0"/>
              </a:rPr>
              <a:t>Diferença </a:t>
            </a:r>
            <a:r>
              <a:rPr lang="pt-BR" sz="1050" b="1" dirty="0">
                <a:solidFill>
                  <a:srgbClr val="6E6259"/>
                </a:solidFill>
                <a:latin typeface="Gill Sans Std Light" pitchFamily="34" charset="0"/>
              </a:rPr>
              <a:t>entre INC e </a:t>
            </a:r>
            <a:r>
              <a:rPr lang="pt-BR" sz="1050" b="1" dirty="0" smtClean="0">
                <a:solidFill>
                  <a:srgbClr val="6E6259"/>
                </a:solidFill>
                <a:latin typeface="Gill Sans Std Light" pitchFamily="34" charset="0"/>
              </a:rPr>
              <a:t>REQ</a:t>
            </a:r>
          </a:p>
          <a:p>
            <a:pPr marL="685800" lvl="1" indent="0" eaLnBrk="1" hangingPunct="1">
              <a:defRPr/>
            </a:pPr>
            <a:r>
              <a:rPr lang="pt-BR" sz="1050" b="1" dirty="0">
                <a:solidFill>
                  <a:schemeClr val="tx1"/>
                </a:solidFill>
                <a:latin typeface="Gill Sans Std Light" pitchFamily="34" charset="0"/>
              </a:rPr>
              <a:t>Incidente:  </a:t>
            </a:r>
            <a:r>
              <a:rPr lang="pt-BR" sz="1050" b="1" dirty="0">
                <a:solidFill>
                  <a:srgbClr val="6E6259"/>
                </a:solidFill>
                <a:latin typeface="Gill Sans Std Light" pitchFamily="34" charset="0"/>
              </a:rPr>
              <a:t>trata-se de qualquer acontecimento que não faça parte do comportamento padrão e que cause, ou possa causar, uma interrupção ou redução da qualidade de um serviço. É definido como uma interrupção não planejada de um serviço de TI, redução da qualidade de um serviço ou uma falha de um CI que ainda não impactou um serviço de TI.</a:t>
            </a:r>
          </a:p>
          <a:p>
            <a:pPr marL="685800" lvl="1" indent="0" eaLnBrk="1" hangingPunct="1">
              <a:defRPr/>
            </a:pPr>
            <a:r>
              <a:rPr lang="pt-BR" sz="1050" b="1" dirty="0">
                <a:solidFill>
                  <a:schemeClr val="tx1"/>
                </a:solidFill>
                <a:latin typeface="Gill Sans Std Light" pitchFamily="34" charset="0"/>
              </a:rPr>
              <a:t>Requisição:  </a:t>
            </a:r>
            <a:r>
              <a:rPr lang="pt-BR" sz="1050" b="1" dirty="0">
                <a:solidFill>
                  <a:srgbClr val="6E6259"/>
                </a:solidFill>
                <a:latin typeface="Gill Sans Std Light" pitchFamily="34" charset="0"/>
              </a:rPr>
              <a:t>é</a:t>
            </a:r>
            <a:r>
              <a:rPr lang="pt-BR" sz="1050" b="1" dirty="0">
                <a:solidFill>
                  <a:srgbClr val="FF0000"/>
                </a:solidFill>
                <a:latin typeface="Gill Sans Std Light" pitchFamily="34" charset="0"/>
              </a:rPr>
              <a:t> </a:t>
            </a:r>
            <a:r>
              <a:rPr lang="pt-BR" sz="1050" b="1" dirty="0">
                <a:solidFill>
                  <a:srgbClr val="6E6259"/>
                </a:solidFill>
                <a:latin typeface="Gill Sans Std Light" pitchFamily="34" charset="0"/>
              </a:rPr>
              <a:t>a descrição genérica de vários tipos de demandas feitas pelos usuários para o departamento de TI. Muitas destas requisições são pequenas e de baixo risco, e ocorrem com grande frequência.</a:t>
            </a:r>
            <a:r>
              <a:rPr lang="pt-BR" sz="1050" b="1" dirty="0" smtClean="0">
                <a:solidFill>
                  <a:srgbClr val="6E6259"/>
                </a:solidFill>
                <a:latin typeface="Gill Sans Std Light" pitchFamily="34" charset="0"/>
              </a:rPr>
              <a:t/>
            </a:r>
            <a:br>
              <a:rPr lang="pt-BR" sz="1050" b="1" dirty="0" smtClean="0">
                <a:solidFill>
                  <a:srgbClr val="6E6259"/>
                </a:solidFill>
                <a:latin typeface="Gill Sans Std Light" pitchFamily="34" charset="0"/>
              </a:rPr>
            </a:br>
            <a:endParaRPr lang="pt-BR" sz="1050" b="1" dirty="0" smtClean="0">
              <a:solidFill>
                <a:srgbClr val="6E6259"/>
              </a:solidFill>
              <a:latin typeface="Gill Sans Std Light" pitchFamily="34" charset="0"/>
            </a:endParaRPr>
          </a:p>
          <a:p>
            <a:pPr marL="971550" lvl="1" eaLnBrk="1" hangingPunct="1">
              <a:buFont typeface="+mj-lt"/>
              <a:buAutoNum type="alphaLcPeriod" startAt="4"/>
              <a:defRPr/>
            </a:pPr>
            <a:r>
              <a:rPr lang="pt-BR" sz="1050" b="1" dirty="0" smtClean="0">
                <a:solidFill>
                  <a:srgbClr val="6E6259"/>
                </a:solidFill>
                <a:latin typeface="Gill Sans Std Light" pitchFamily="34" charset="0"/>
              </a:rPr>
              <a:t>Atribuição </a:t>
            </a:r>
            <a:r>
              <a:rPr lang="pt-BR" sz="1050" b="1" dirty="0">
                <a:solidFill>
                  <a:srgbClr val="6E6259"/>
                </a:solidFill>
                <a:latin typeface="Gill Sans Std Light" pitchFamily="34" charset="0"/>
              </a:rPr>
              <a:t>automática por </a:t>
            </a:r>
            <a:r>
              <a:rPr lang="pt-BR" sz="1050" b="1" dirty="0" smtClean="0">
                <a:solidFill>
                  <a:srgbClr val="6E6259"/>
                </a:solidFill>
                <a:latin typeface="Gill Sans Std Light" pitchFamily="34" charset="0"/>
              </a:rPr>
              <a:t>localidade</a:t>
            </a:r>
            <a:endParaRPr lang="pt-BR" sz="1050" b="1" dirty="0" smtClean="0">
              <a:solidFill>
                <a:srgbClr val="6E6259"/>
              </a:solidFill>
              <a:latin typeface="Gill Sans Std Light" pitchFamily="34" charset="0"/>
            </a:endParaRPr>
          </a:p>
          <a:p>
            <a:pPr marL="685800" lvl="1" indent="0" eaLnBrk="1" hangingPunct="1">
              <a:defRPr/>
            </a:pPr>
            <a:r>
              <a:rPr lang="pt-BR" sz="1050" b="1" dirty="0">
                <a:solidFill>
                  <a:srgbClr val="6E6259"/>
                </a:solidFill>
                <a:latin typeface="Gill Sans Std Light" pitchFamily="34" charset="0"/>
              </a:rPr>
              <a:t>Atribuição automática é uma funcionalidade pode ser utilizada para assinação de chamado para grupos específicos, de acordo com a localidade que o usuário </a:t>
            </a:r>
            <a:r>
              <a:rPr lang="pt-BR" sz="1050" b="1" dirty="0" smtClean="0">
                <a:solidFill>
                  <a:srgbClr val="6E6259"/>
                </a:solidFill>
                <a:latin typeface="Gill Sans Std Light" pitchFamily="34" charset="0"/>
              </a:rPr>
              <a:t>escolher. Esta funcionalidade é geralmente utilizada por equipes que fornecem suporte in loco para os usuários. </a:t>
            </a:r>
            <a:r>
              <a:rPr lang="pt-BR" sz="1050" b="1" dirty="0" smtClean="0">
                <a:solidFill>
                  <a:srgbClr val="6E6259"/>
                </a:solidFill>
                <a:latin typeface="Gill Sans Std Light" pitchFamily="34" charset="0"/>
              </a:rPr>
              <a:t>Caso </a:t>
            </a:r>
            <a:r>
              <a:rPr lang="pt-BR" sz="1050" b="1" dirty="0">
                <a:solidFill>
                  <a:srgbClr val="6E6259"/>
                </a:solidFill>
                <a:latin typeface="Gill Sans Std Light" pitchFamily="34" charset="0"/>
              </a:rPr>
              <a:t>seja utilizado a atribuição automática, deverá ser considerada um SLA por grupo e não por </a:t>
            </a:r>
            <a:r>
              <a:rPr lang="pt-BR" sz="1050" b="1" dirty="0" smtClean="0">
                <a:solidFill>
                  <a:srgbClr val="6E6259"/>
                </a:solidFill>
                <a:latin typeface="Gill Sans Std Light" pitchFamily="34" charset="0"/>
              </a:rPr>
              <a:t>categoria.</a:t>
            </a:r>
            <a:endParaRPr lang="pt-BR" sz="1050" b="1" dirty="0">
              <a:solidFill>
                <a:srgbClr val="6E6259"/>
              </a:solidFill>
              <a:latin typeface="Gill Sans Std Light" pitchFamily="34" charset="0"/>
            </a:endParaRPr>
          </a:p>
          <a:p>
            <a:pPr marL="685800" lvl="1" indent="0" eaLnBrk="1" hangingPunct="1">
              <a:defRPr/>
            </a:pPr>
            <a:endParaRPr lang="pt-BR" sz="900" b="1" dirty="0">
              <a:solidFill>
                <a:srgbClr val="FF0000"/>
              </a:solidFill>
              <a:latin typeface="Gill Sans Std Light" pitchFamily="34" charset="0"/>
              <a:ea typeface="+mn-ea"/>
            </a:endParaRPr>
          </a:p>
        </p:txBody>
      </p:sp>
    </p:spTree>
    <p:extLst>
      <p:ext uri="{BB962C8B-B14F-4D97-AF65-F5344CB8AC3E}">
        <p14:creationId xmlns:p14="http://schemas.microsoft.com/office/powerpoint/2010/main" val="7532990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0" y="0"/>
            <a:ext cx="9144000" cy="646331"/>
          </a:xfrm>
          <a:prstGeom prst="rect">
            <a:avLst/>
          </a:prstGeom>
          <a:solidFill>
            <a:schemeClr val="accent6"/>
          </a:solidFill>
        </p:spPr>
        <p:txBody>
          <a:bodyPr wrap="square" rtlCol="0">
            <a:spAutoFit/>
          </a:bodyPr>
          <a:lstStyle/>
          <a:p>
            <a:r>
              <a:rPr lang="pt-BR" b="1" dirty="0">
                <a:solidFill>
                  <a:schemeClr val="bg1"/>
                </a:solidFill>
                <a:effectLst>
                  <a:outerShdw blurRad="38100" dist="38100" dir="2700000" algn="tl">
                    <a:srgbClr val="000000">
                      <a:alpha val="43137"/>
                    </a:srgbClr>
                  </a:outerShdw>
                </a:effectLst>
                <a:latin typeface="Gill Sans Std ExtraBold" pitchFamily="34" charset="0"/>
              </a:rPr>
              <a:t>Processo de Gestão de </a:t>
            </a:r>
            <a:r>
              <a:rPr lang="pt-BR" b="1" dirty="0" err="1">
                <a:solidFill>
                  <a:schemeClr val="bg1"/>
                </a:solidFill>
                <a:effectLst>
                  <a:outerShdw blurRad="38100" dist="38100" dir="2700000" algn="tl">
                    <a:srgbClr val="000000">
                      <a:alpha val="43137"/>
                    </a:srgbClr>
                  </a:outerShdw>
                </a:effectLst>
                <a:latin typeface="Gill Sans Std ExtraBold" pitchFamily="34" charset="0"/>
              </a:rPr>
              <a:t>Nivel</a:t>
            </a:r>
            <a:r>
              <a:rPr lang="pt-BR" b="1" dirty="0">
                <a:solidFill>
                  <a:schemeClr val="bg1"/>
                </a:solidFill>
                <a:effectLst>
                  <a:outerShdw blurRad="38100" dist="38100" dir="2700000" algn="tl">
                    <a:srgbClr val="000000">
                      <a:alpha val="43137"/>
                    </a:srgbClr>
                  </a:outerShdw>
                </a:effectLst>
                <a:latin typeface="Gill Sans Std ExtraBold" pitchFamily="34" charset="0"/>
              </a:rPr>
              <a:t> de Serviço</a:t>
            </a:r>
          </a:p>
          <a:p>
            <a:r>
              <a:rPr lang="pt-BR" b="1" dirty="0" smtClean="0">
                <a:solidFill>
                  <a:schemeClr val="bg1"/>
                </a:solidFill>
                <a:effectLst>
                  <a:outerShdw blurRad="38100" dist="38100" dir="2700000" algn="tl">
                    <a:srgbClr val="000000">
                      <a:alpha val="43137"/>
                    </a:srgbClr>
                  </a:outerShdw>
                </a:effectLst>
                <a:latin typeface="Gill Sans Std Light" pitchFamily="34" charset="0"/>
              </a:rPr>
              <a:t>1. Gestão </a:t>
            </a:r>
            <a:r>
              <a:rPr lang="pt-BR" b="1" dirty="0">
                <a:solidFill>
                  <a:schemeClr val="bg1"/>
                </a:solidFill>
                <a:effectLst>
                  <a:outerShdw blurRad="38100" dist="38100" dir="2700000" algn="tl">
                    <a:srgbClr val="000000">
                      <a:alpha val="43137"/>
                    </a:srgbClr>
                  </a:outerShdw>
                </a:effectLst>
                <a:latin typeface="Gill Sans Std Light" pitchFamily="34" charset="0"/>
              </a:rPr>
              <a:t>do Catálogo de Serviços – Informações Gerais</a:t>
            </a:r>
          </a:p>
        </p:txBody>
      </p:sp>
      <p:pic>
        <p:nvPicPr>
          <p:cNvPr id="14" name="Picture 8" descr="NAT_marca_branca_natura-01.png"/>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432" y="19878"/>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aixaDeTexto 8"/>
          <p:cNvSpPr txBox="1">
            <a:spLocks noChangeArrowheads="1"/>
          </p:cNvSpPr>
          <p:nvPr/>
        </p:nvSpPr>
        <p:spPr bwMode="auto">
          <a:xfrm>
            <a:off x="251520" y="772344"/>
            <a:ext cx="8424936" cy="4024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45143" tIns="72571" rIns="145143" bIns="72571">
            <a:spAutoFit/>
          </a:bodyPr>
          <a:lstStyle>
            <a:lvl1pPr eaLnBrk="0" hangingPunct="0">
              <a:defRPr sz="3700">
                <a:solidFill>
                  <a:srgbClr val="000000"/>
                </a:solidFill>
                <a:latin typeface="Gill Sans"/>
                <a:ea typeface="ヒラギノ角ゴ ProN W3" charset="-128"/>
                <a:sym typeface="Gill Sans"/>
              </a:defRPr>
            </a:lvl1pPr>
            <a:lvl2pPr marL="742950" indent="-285750" eaLnBrk="0" hangingPunct="0">
              <a:defRPr sz="3700">
                <a:solidFill>
                  <a:srgbClr val="000000"/>
                </a:solidFill>
                <a:latin typeface="Gill Sans"/>
                <a:ea typeface="ヒラギノ角ゴ ProN W3" charset="-128"/>
                <a:sym typeface="Gill Sans"/>
              </a:defRPr>
            </a:lvl2pPr>
            <a:lvl3pPr marL="1143000" indent="-228600" eaLnBrk="0" hangingPunct="0">
              <a:defRPr sz="3700">
                <a:solidFill>
                  <a:srgbClr val="000000"/>
                </a:solidFill>
                <a:latin typeface="Gill Sans"/>
                <a:ea typeface="ヒラギノ角ゴ ProN W3" charset="-128"/>
                <a:sym typeface="Gill Sans"/>
              </a:defRPr>
            </a:lvl3pPr>
            <a:lvl4pPr marL="1600200" indent="-228600" eaLnBrk="0" hangingPunct="0">
              <a:defRPr sz="3700">
                <a:solidFill>
                  <a:srgbClr val="000000"/>
                </a:solidFill>
                <a:latin typeface="Gill Sans"/>
                <a:ea typeface="ヒラギノ角ゴ ProN W3" charset="-128"/>
                <a:sym typeface="Gill Sans"/>
              </a:defRPr>
            </a:lvl4pPr>
            <a:lvl5pPr marL="2057400" indent="-228600" eaLnBrk="0" hangingPunct="0">
              <a:defRPr sz="3700">
                <a:solidFill>
                  <a:srgbClr val="000000"/>
                </a:solidFill>
                <a:latin typeface="Gill Sans"/>
                <a:ea typeface="ヒラギノ角ゴ ProN W3" charset="-128"/>
                <a:sym typeface="Gill Sans"/>
              </a:defRPr>
            </a:lvl5pPr>
            <a:lvl6pPr marL="2514600" indent="-228600" eaLnBrk="0" fontAlgn="base" hangingPunct="0">
              <a:spcBef>
                <a:spcPct val="0"/>
              </a:spcBef>
              <a:spcAft>
                <a:spcPct val="0"/>
              </a:spcAft>
              <a:defRPr sz="3700">
                <a:solidFill>
                  <a:srgbClr val="000000"/>
                </a:solidFill>
                <a:latin typeface="Gill Sans"/>
                <a:ea typeface="ヒラギノ角ゴ ProN W3" charset="-128"/>
                <a:sym typeface="Gill Sans"/>
              </a:defRPr>
            </a:lvl6pPr>
            <a:lvl7pPr marL="2971800" indent="-228600" eaLnBrk="0" fontAlgn="base" hangingPunct="0">
              <a:spcBef>
                <a:spcPct val="0"/>
              </a:spcBef>
              <a:spcAft>
                <a:spcPct val="0"/>
              </a:spcAft>
              <a:defRPr sz="3700">
                <a:solidFill>
                  <a:srgbClr val="000000"/>
                </a:solidFill>
                <a:latin typeface="Gill Sans"/>
                <a:ea typeface="ヒラギノ角ゴ ProN W3" charset="-128"/>
                <a:sym typeface="Gill Sans"/>
              </a:defRPr>
            </a:lvl7pPr>
            <a:lvl8pPr marL="3429000" indent="-228600" eaLnBrk="0" fontAlgn="base" hangingPunct="0">
              <a:spcBef>
                <a:spcPct val="0"/>
              </a:spcBef>
              <a:spcAft>
                <a:spcPct val="0"/>
              </a:spcAft>
              <a:defRPr sz="3700">
                <a:solidFill>
                  <a:srgbClr val="000000"/>
                </a:solidFill>
                <a:latin typeface="Gill Sans"/>
                <a:ea typeface="ヒラギノ角ゴ ProN W3" charset="-128"/>
                <a:sym typeface="Gill Sans"/>
              </a:defRPr>
            </a:lvl8pPr>
            <a:lvl9pPr marL="3886200" indent="-228600" eaLnBrk="0" fontAlgn="base" hangingPunct="0">
              <a:spcBef>
                <a:spcPct val="0"/>
              </a:spcBef>
              <a:spcAft>
                <a:spcPct val="0"/>
              </a:spcAft>
              <a:defRPr sz="3700">
                <a:solidFill>
                  <a:srgbClr val="000000"/>
                </a:solidFill>
                <a:latin typeface="Gill Sans"/>
                <a:ea typeface="ヒラギノ角ゴ ProN W3" charset="-128"/>
                <a:sym typeface="Gill Sans"/>
              </a:defRPr>
            </a:lvl9pPr>
          </a:lstStyle>
          <a:p>
            <a:pPr marL="971550" lvl="1" eaLnBrk="1" hangingPunct="1">
              <a:buFont typeface="+mj-lt"/>
              <a:buAutoNum type="alphaLcPeriod" startAt="5"/>
              <a:defRPr/>
            </a:pPr>
            <a:r>
              <a:rPr lang="pt-BR" sz="1050" b="1" dirty="0" smtClean="0">
                <a:solidFill>
                  <a:srgbClr val="6E6259"/>
                </a:solidFill>
                <a:latin typeface="Gill Sans Std Light" pitchFamily="34" charset="0"/>
              </a:rPr>
              <a:t>Multi-idioma</a:t>
            </a:r>
          </a:p>
          <a:p>
            <a:pPr marL="685800" lvl="1" indent="0" eaLnBrk="1" hangingPunct="1">
              <a:defRPr/>
            </a:pPr>
            <a:r>
              <a:rPr lang="pt-BR" sz="1050" b="1" dirty="0" smtClean="0">
                <a:solidFill>
                  <a:srgbClr val="6E6259"/>
                </a:solidFill>
                <a:latin typeface="Gill Sans Std Light" pitchFamily="34" charset="0"/>
              </a:rPr>
              <a:t>Cada categoria de serviço é única dentro da ferramenta, ou seja, não existe duplicidade (caracteres) de serviços ativos. Uma das classificações das categorias é o idioma; atualmente existem categorias disponíveis em três idiomas (Português, Espanhol e Inglês).</a:t>
            </a:r>
          </a:p>
          <a:p>
            <a:pPr marL="685800" lvl="1" indent="0" eaLnBrk="1" hangingPunct="1">
              <a:defRPr/>
            </a:pPr>
            <a:r>
              <a:rPr lang="pt-BR" sz="1050" b="1" dirty="0" smtClean="0">
                <a:solidFill>
                  <a:srgbClr val="6E6259"/>
                </a:solidFill>
                <a:latin typeface="Gill Sans Std Light" pitchFamily="34" charset="0"/>
              </a:rPr>
              <a:t>É de </a:t>
            </a:r>
            <a:r>
              <a:rPr lang="pt-BR" sz="1050" b="1" u="sng" dirty="0" smtClean="0">
                <a:solidFill>
                  <a:srgbClr val="6E6259"/>
                </a:solidFill>
                <a:latin typeface="Gill Sans Std Light" pitchFamily="34" charset="0"/>
              </a:rPr>
              <a:t>responsabilidade do dono funcional do serviço, criar e manter as categorias de serviço que estão sob sua gestão</a:t>
            </a:r>
            <a:r>
              <a:rPr lang="pt-BR" sz="1050" b="1" dirty="0" smtClean="0">
                <a:solidFill>
                  <a:srgbClr val="6E6259"/>
                </a:solidFill>
                <a:latin typeface="Gill Sans Std Light" pitchFamily="34" charset="0"/>
              </a:rPr>
              <a:t>, isso quer dizer que se um serviço é entregue para o mercado Brasil e para o mercado Chile, o responsável (geralmente gerente ou coordenador de serviço) deve criar e manter uma categoria de serviço em Português e outra em Espanhol.</a:t>
            </a:r>
            <a:br>
              <a:rPr lang="pt-BR" sz="1050" b="1" dirty="0" smtClean="0">
                <a:solidFill>
                  <a:srgbClr val="6E6259"/>
                </a:solidFill>
                <a:latin typeface="Gill Sans Std Light" pitchFamily="34" charset="0"/>
              </a:rPr>
            </a:br>
            <a:endParaRPr lang="pt-BR" sz="1050" b="1" dirty="0" smtClean="0">
              <a:solidFill>
                <a:srgbClr val="6E6259"/>
              </a:solidFill>
              <a:latin typeface="Gill Sans Std Light" pitchFamily="34" charset="0"/>
            </a:endParaRPr>
          </a:p>
          <a:p>
            <a:pPr marL="971550" lvl="1" eaLnBrk="1" hangingPunct="1">
              <a:buFont typeface="+mj-lt"/>
              <a:buAutoNum type="alphaLcPeriod" startAt="6"/>
              <a:defRPr/>
            </a:pPr>
            <a:r>
              <a:rPr lang="pt-BR" sz="1050" b="1" dirty="0" smtClean="0">
                <a:solidFill>
                  <a:srgbClr val="6E6259"/>
                </a:solidFill>
                <a:latin typeface="Gill Sans Std Light" pitchFamily="34" charset="0"/>
              </a:rPr>
              <a:t>Padronização do serviço na ferramenta</a:t>
            </a: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O texto deverá estar </a:t>
            </a:r>
            <a:r>
              <a:rPr lang="pt-BR" sz="1050" b="1" dirty="0">
                <a:solidFill>
                  <a:srgbClr val="6E6259"/>
                </a:solidFill>
                <a:latin typeface="Gill Sans Std Light" pitchFamily="34" charset="0"/>
              </a:rPr>
              <a:t>em </a:t>
            </a:r>
            <a:r>
              <a:rPr lang="pt-BR" sz="1050" b="1" dirty="0" smtClean="0">
                <a:solidFill>
                  <a:srgbClr val="6E6259"/>
                </a:solidFill>
                <a:latin typeface="Gill Sans Std Light" pitchFamily="34" charset="0"/>
              </a:rPr>
              <a:t>Maiúsculo</a:t>
            </a: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Não poderá conter acentuação</a:t>
            </a: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Não poderá conter caractere especial</a:t>
            </a:r>
            <a:br>
              <a:rPr lang="pt-BR" sz="1050" b="1" dirty="0" smtClean="0">
                <a:solidFill>
                  <a:srgbClr val="6E6259"/>
                </a:solidFill>
                <a:latin typeface="Gill Sans Std Light" pitchFamily="34" charset="0"/>
              </a:rPr>
            </a:br>
            <a:endParaRPr lang="pt-BR" sz="1050" b="1" dirty="0" smtClean="0">
              <a:solidFill>
                <a:srgbClr val="6E6259"/>
              </a:solidFill>
              <a:latin typeface="Gill Sans Std Light" pitchFamily="34" charset="0"/>
            </a:endParaRPr>
          </a:p>
          <a:p>
            <a:pPr lvl="1" indent="0" eaLnBrk="1" hangingPunct="1">
              <a:defRPr/>
            </a:pPr>
            <a:r>
              <a:rPr lang="pt-BR" sz="1050" b="1" dirty="0" smtClean="0">
                <a:solidFill>
                  <a:srgbClr val="6E6259"/>
                </a:solidFill>
                <a:latin typeface="Gill Sans Std Light" pitchFamily="34" charset="0"/>
              </a:rPr>
              <a:t>Os níveis deverão ser preenchidos, conforme exemplificação abaixo:</a:t>
            </a: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Nível </a:t>
            </a:r>
            <a:r>
              <a:rPr lang="pt-BR" sz="1050" b="1" dirty="0">
                <a:solidFill>
                  <a:srgbClr val="6E6259"/>
                </a:solidFill>
                <a:latin typeface="Gill Sans Std Light" pitchFamily="34" charset="0"/>
              </a:rPr>
              <a:t>0: </a:t>
            </a:r>
            <a:r>
              <a:rPr lang="pt-BR" sz="1050" b="1" dirty="0" smtClean="0">
                <a:solidFill>
                  <a:srgbClr val="6E6259"/>
                </a:solidFill>
                <a:latin typeface="Gill Sans Std Light" pitchFamily="34" charset="0"/>
              </a:rPr>
              <a:t>“Infraestrutura” ou “</a:t>
            </a:r>
            <a:r>
              <a:rPr lang="pt-BR" sz="1050" b="1" dirty="0" err="1" smtClean="0">
                <a:solidFill>
                  <a:srgbClr val="6E6259"/>
                </a:solidFill>
                <a:latin typeface="Gill Sans Std Light" pitchFamily="34" charset="0"/>
              </a:rPr>
              <a:t>MicroInformática</a:t>
            </a:r>
            <a:r>
              <a:rPr lang="pt-BR" sz="1050" b="1" dirty="0" smtClean="0">
                <a:solidFill>
                  <a:srgbClr val="6E6259"/>
                </a:solidFill>
                <a:latin typeface="Gill Sans Std Light" pitchFamily="34" charset="0"/>
              </a:rPr>
              <a:t>” ou “Gestão </a:t>
            </a:r>
            <a:r>
              <a:rPr lang="pt-BR" sz="1050" b="1" dirty="0">
                <a:solidFill>
                  <a:srgbClr val="6E6259"/>
                </a:solidFill>
                <a:latin typeface="Gill Sans Std Light" pitchFamily="34" charset="0"/>
              </a:rPr>
              <a:t>de </a:t>
            </a:r>
            <a:r>
              <a:rPr lang="pt-BR" sz="1050" b="1" dirty="0" smtClean="0">
                <a:solidFill>
                  <a:srgbClr val="6E6259"/>
                </a:solidFill>
                <a:latin typeface="Gill Sans Std Light" pitchFamily="34" charset="0"/>
              </a:rPr>
              <a:t>Acesso” ou “Telefonia” ou “Service Desk” ou “Sistemas” ou “Experiência CN”</a:t>
            </a: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Nível </a:t>
            </a:r>
            <a:r>
              <a:rPr lang="pt-BR" sz="1050" b="1" dirty="0">
                <a:solidFill>
                  <a:srgbClr val="6E6259"/>
                </a:solidFill>
                <a:latin typeface="Gill Sans Std Light" pitchFamily="34" charset="0"/>
              </a:rPr>
              <a:t>1: </a:t>
            </a:r>
            <a:r>
              <a:rPr lang="pt-BR" sz="1050" b="1" dirty="0" smtClean="0">
                <a:solidFill>
                  <a:srgbClr val="6E6259"/>
                </a:solidFill>
                <a:latin typeface="Gill Sans Std Light" pitchFamily="34" charset="0"/>
              </a:rPr>
              <a:t>“SAP” ou “Hardware” ou “Software” ou outros.</a:t>
            </a: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Nível </a:t>
            </a:r>
            <a:r>
              <a:rPr lang="pt-BR" sz="1050" b="1" dirty="0">
                <a:solidFill>
                  <a:srgbClr val="6E6259"/>
                </a:solidFill>
                <a:latin typeface="Gill Sans Std Light" pitchFamily="34" charset="0"/>
              </a:rPr>
              <a:t>2: </a:t>
            </a:r>
            <a:r>
              <a:rPr lang="pt-BR" sz="1050" b="1" dirty="0" smtClean="0">
                <a:solidFill>
                  <a:srgbClr val="6E6259"/>
                </a:solidFill>
                <a:latin typeface="Gill Sans Std Light" pitchFamily="34" charset="0"/>
              </a:rPr>
              <a:t>“SAP PRD” ou “Servidor” ou “Roteador” ou “Windows” ou “Linux” ou outros.</a:t>
            </a: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Nível </a:t>
            </a:r>
            <a:r>
              <a:rPr lang="pt-BR" sz="1050" b="1" dirty="0">
                <a:solidFill>
                  <a:srgbClr val="6E6259"/>
                </a:solidFill>
                <a:latin typeface="Gill Sans Std Light" pitchFamily="34" charset="0"/>
              </a:rPr>
              <a:t>3: </a:t>
            </a:r>
            <a:r>
              <a:rPr lang="pt-BR" sz="1050" b="1" dirty="0" smtClean="0">
                <a:solidFill>
                  <a:srgbClr val="6E6259"/>
                </a:solidFill>
                <a:latin typeface="Gill Sans Std Light" pitchFamily="34" charset="0"/>
              </a:rPr>
              <a:t>“Windows 2008” ou “Microsoft Office” ou “Adobe Acrobat” ou “Criação” ou “Indisponibilidade”</a:t>
            </a: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Nível </a:t>
            </a:r>
            <a:r>
              <a:rPr lang="pt-BR" sz="1050" b="1" dirty="0">
                <a:solidFill>
                  <a:srgbClr val="6E6259"/>
                </a:solidFill>
                <a:latin typeface="Gill Sans Std Light" pitchFamily="34" charset="0"/>
              </a:rPr>
              <a:t>4: </a:t>
            </a:r>
            <a:r>
              <a:rPr lang="pt-BR" sz="1050" b="1" dirty="0" smtClean="0">
                <a:solidFill>
                  <a:srgbClr val="6E6259"/>
                </a:solidFill>
                <a:latin typeface="Gill Sans Std Light" pitchFamily="34" charset="0"/>
              </a:rPr>
              <a:t>idem 3 (sintoma ou produto), </a:t>
            </a:r>
            <a:r>
              <a:rPr lang="pt-BR" sz="1050" b="1" dirty="0">
                <a:solidFill>
                  <a:srgbClr val="6E6259"/>
                </a:solidFill>
                <a:latin typeface="Gill Sans Std Light" pitchFamily="34" charset="0"/>
              </a:rPr>
              <a:t>caso o 3 não seja </a:t>
            </a:r>
            <a:r>
              <a:rPr lang="pt-BR" sz="1050" b="1" dirty="0" smtClean="0">
                <a:solidFill>
                  <a:srgbClr val="6E6259"/>
                </a:solidFill>
                <a:latin typeface="Gill Sans Std Light" pitchFamily="34" charset="0"/>
              </a:rPr>
              <a:t>utilizado</a:t>
            </a: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Nível </a:t>
            </a:r>
            <a:r>
              <a:rPr lang="pt-BR" sz="1050" b="1" dirty="0">
                <a:solidFill>
                  <a:srgbClr val="6E6259"/>
                </a:solidFill>
                <a:latin typeface="Gill Sans Std Light" pitchFamily="34" charset="0"/>
              </a:rPr>
              <a:t>5: idem </a:t>
            </a:r>
            <a:r>
              <a:rPr lang="pt-BR" sz="1050" b="1" dirty="0" smtClean="0">
                <a:solidFill>
                  <a:srgbClr val="6E6259"/>
                </a:solidFill>
                <a:latin typeface="Gill Sans Std Light" pitchFamily="34" charset="0"/>
              </a:rPr>
              <a:t>3 e 4 </a:t>
            </a:r>
            <a:r>
              <a:rPr lang="pt-BR" sz="1050" b="1" dirty="0">
                <a:solidFill>
                  <a:srgbClr val="6E6259"/>
                </a:solidFill>
                <a:latin typeface="Gill Sans Std Light" pitchFamily="34" charset="0"/>
              </a:rPr>
              <a:t>(sintoma ou </a:t>
            </a:r>
            <a:r>
              <a:rPr lang="pt-BR" sz="1050" b="1" dirty="0" smtClean="0">
                <a:solidFill>
                  <a:srgbClr val="6E6259"/>
                </a:solidFill>
                <a:latin typeface="Gill Sans Std Light" pitchFamily="34" charset="0"/>
              </a:rPr>
              <a:t>produto), </a:t>
            </a:r>
            <a:r>
              <a:rPr lang="pt-BR" sz="1050" b="1" dirty="0">
                <a:solidFill>
                  <a:srgbClr val="6E6259"/>
                </a:solidFill>
                <a:latin typeface="Gill Sans Std Light" pitchFamily="34" charset="0"/>
              </a:rPr>
              <a:t>caso o </a:t>
            </a:r>
            <a:r>
              <a:rPr lang="pt-BR" sz="1050" b="1" dirty="0" smtClean="0">
                <a:solidFill>
                  <a:srgbClr val="6E6259"/>
                </a:solidFill>
                <a:latin typeface="Gill Sans Std Light" pitchFamily="34" charset="0"/>
              </a:rPr>
              <a:t>3 e 4 </a:t>
            </a:r>
            <a:r>
              <a:rPr lang="pt-BR" sz="1050" b="1" dirty="0">
                <a:solidFill>
                  <a:srgbClr val="6E6259"/>
                </a:solidFill>
                <a:latin typeface="Gill Sans Std Light" pitchFamily="34" charset="0"/>
              </a:rPr>
              <a:t>não </a:t>
            </a:r>
            <a:r>
              <a:rPr lang="pt-BR" sz="1050" b="1" dirty="0" smtClean="0">
                <a:solidFill>
                  <a:srgbClr val="6E6259"/>
                </a:solidFill>
                <a:latin typeface="Gill Sans Std Light" pitchFamily="34" charset="0"/>
              </a:rPr>
              <a:t>sejam utilizados, além de “</a:t>
            </a:r>
            <a:r>
              <a:rPr lang="pt-BR" sz="1050" b="1" dirty="0" err="1" smtClean="0">
                <a:solidFill>
                  <a:srgbClr val="6E6259"/>
                </a:solidFill>
                <a:latin typeface="Gill Sans Std Light" pitchFamily="34" charset="0"/>
              </a:rPr>
              <a:t>Prioridade.X</a:t>
            </a:r>
            <a:r>
              <a:rPr lang="pt-BR" sz="1050" b="1" dirty="0" smtClean="0">
                <a:solidFill>
                  <a:srgbClr val="6E6259"/>
                </a:solidFill>
                <a:latin typeface="Gill Sans Std Light" pitchFamily="34" charset="0"/>
              </a:rPr>
              <a:t>” no caso de Sistemas</a:t>
            </a:r>
            <a:endParaRPr lang="pt-BR" sz="1050" b="1" dirty="0">
              <a:solidFill>
                <a:srgbClr val="6E6259"/>
              </a:solidFill>
              <a:latin typeface="Gill Sans Std Light" pitchFamily="34" charset="0"/>
            </a:endParaRPr>
          </a:p>
          <a:p>
            <a:pPr marL="914400" lvl="1" indent="-171450" eaLnBrk="1" hangingPunct="1">
              <a:buFont typeface="Arial" pitchFamily="34" charset="0"/>
              <a:buChar char="•"/>
              <a:defRPr/>
            </a:pPr>
            <a:r>
              <a:rPr lang="pt-BR" sz="1050" b="1" dirty="0" smtClean="0">
                <a:solidFill>
                  <a:srgbClr val="6E6259"/>
                </a:solidFill>
                <a:latin typeface="Gill Sans Std Light" pitchFamily="34" charset="0"/>
              </a:rPr>
              <a:t>Nível </a:t>
            </a:r>
            <a:r>
              <a:rPr lang="pt-BR" sz="1050" b="1" dirty="0">
                <a:solidFill>
                  <a:srgbClr val="6E6259"/>
                </a:solidFill>
                <a:latin typeface="Gill Sans Std Light" pitchFamily="34" charset="0"/>
              </a:rPr>
              <a:t>6: Não liberado</a:t>
            </a:r>
          </a:p>
          <a:p>
            <a:pPr marL="971550" lvl="1" eaLnBrk="1" hangingPunct="1">
              <a:buFont typeface="+mj-lt"/>
              <a:buAutoNum type="alphaLcPeriod" startAt="6"/>
              <a:defRPr/>
            </a:pPr>
            <a:endParaRPr lang="pt-BR" sz="1050" b="1" dirty="0" smtClean="0">
              <a:solidFill>
                <a:srgbClr val="6E6259"/>
              </a:solidFill>
              <a:latin typeface="Gill Sans Std Light" pitchFamily="34" charset="0"/>
            </a:endParaRPr>
          </a:p>
          <a:p>
            <a:pPr eaLnBrk="1" hangingPunct="1">
              <a:defRPr/>
            </a:pPr>
            <a:r>
              <a:rPr lang="pt-BR" sz="1050" b="1" u="sng" dirty="0" smtClean="0">
                <a:solidFill>
                  <a:srgbClr val="6E6259"/>
                </a:solidFill>
                <a:latin typeface="Gill Sans Std Light" pitchFamily="34" charset="0"/>
              </a:rPr>
              <a:t>Importante: </a:t>
            </a:r>
            <a:r>
              <a:rPr lang="pt-BR" sz="1050" b="1" dirty="0" smtClean="0">
                <a:solidFill>
                  <a:srgbClr val="6E6259"/>
                </a:solidFill>
                <a:latin typeface="Gill Sans Std Light" pitchFamily="34" charset="0"/>
              </a:rPr>
              <a:t>Caso </a:t>
            </a:r>
            <a:r>
              <a:rPr lang="pt-BR" sz="1050" b="1" dirty="0">
                <a:solidFill>
                  <a:srgbClr val="6E6259"/>
                </a:solidFill>
                <a:latin typeface="Gill Sans Std Light" pitchFamily="34" charset="0"/>
              </a:rPr>
              <a:t>a solicitação seja para atender uma necessidade de projeto (antes do </a:t>
            </a:r>
            <a:r>
              <a:rPr lang="pt-BR" sz="1050" b="1" i="1" dirty="0" smtClean="0">
                <a:solidFill>
                  <a:srgbClr val="6E6259"/>
                </a:solidFill>
                <a:latin typeface="Gill Sans Std Light" pitchFamily="34" charset="0"/>
              </a:rPr>
              <a:t>go-</a:t>
            </a:r>
            <a:r>
              <a:rPr lang="pt-BR" sz="1050" b="1" i="1" dirty="0" err="1" smtClean="0">
                <a:solidFill>
                  <a:srgbClr val="6E6259"/>
                </a:solidFill>
                <a:latin typeface="Gill Sans Std Light" pitchFamily="34" charset="0"/>
              </a:rPr>
              <a:t>live</a:t>
            </a:r>
            <a:r>
              <a:rPr lang="pt-BR" sz="1050" b="1" dirty="0" smtClean="0">
                <a:solidFill>
                  <a:srgbClr val="6E6259"/>
                </a:solidFill>
                <a:latin typeface="Gill Sans Std Light" pitchFamily="34" charset="0"/>
              </a:rPr>
              <a:t>), </a:t>
            </a:r>
            <a:r>
              <a:rPr lang="pt-BR" sz="1050" b="1" dirty="0">
                <a:solidFill>
                  <a:srgbClr val="6E6259"/>
                </a:solidFill>
                <a:latin typeface="Gill Sans Std Light" pitchFamily="34" charset="0"/>
              </a:rPr>
              <a:t>é de responsabilidade do GP abrir uma nova solicitação para descontinuar ou alterar a</a:t>
            </a:r>
            <a:r>
              <a:rPr lang="pt-BR" sz="1050" b="1" dirty="0" smtClean="0">
                <a:solidFill>
                  <a:srgbClr val="6E6259"/>
                </a:solidFill>
                <a:latin typeface="Gill Sans Std Light" pitchFamily="34" charset="0"/>
              </a:rPr>
              <a:t> categoria, se aplicável.</a:t>
            </a:r>
            <a:endParaRPr lang="pt-BR" sz="1050" b="1" dirty="0">
              <a:solidFill>
                <a:srgbClr val="6E6259"/>
              </a:solidFill>
              <a:latin typeface="Gill Sans Std Light" pitchFamily="34" charset="0"/>
            </a:endParaRPr>
          </a:p>
        </p:txBody>
      </p:sp>
    </p:spTree>
    <p:extLst>
      <p:ext uri="{BB962C8B-B14F-4D97-AF65-F5344CB8AC3E}">
        <p14:creationId xmlns:p14="http://schemas.microsoft.com/office/powerpoint/2010/main" val="5739247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0" y="0"/>
            <a:ext cx="9144000" cy="646331"/>
          </a:xfrm>
          <a:prstGeom prst="rect">
            <a:avLst/>
          </a:prstGeom>
          <a:solidFill>
            <a:schemeClr val="accent6"/>
          </a:solidFill>
        </p:spPr>
        <p:txBody>
          <a:bodyPr wrap="square" rtlCol="0">
            <a:spAutoFit/>
          </a:bodyPr>
          <a:lstStyle/>
          <a:p>
            <a:r>
              <a:rPr lang="pt-BR" b="1" dirty="0">
                <a:solidFill>
                  <a:schemeClr val="bg1"/>
                </a:solidFill>
                <a:effectLst>
                  <a:outerShdw blurRad="38100" dist="38100" dir="2700000" algn="tl">
                    <a:srgbClr val="000000">
                      <a:alpha val="43137"/>
                    </a:srgbClr>
                  </a:outerShdw>
                </a:effectLst>
                <a:latin typeface="Gill Sans Std ExtraBold" pitchFamily="34" charset="0"/>
              </a:rPr>
              <a:t>Processo de Gestão de </a:t>
            </a:r>
            <a:r>
              <a:rPr lang="pt-BR" b="1" dirty="0" err="1">
                <a:solidFill>
                  <a:schemeClr val="bg1"/>
                </a:solidFill>
                <a:effectLst>
                  <a:outerShdw blurRad="38100" dist="38100" dir="2700000" algn="tl">
                    <a:srgbClr val="000000">
                      <a:alpha val="43137"/>
                    </a:srgbClr>
                  </a:outerShdw>
                </a:effectLst>
                <a:latin typeface="Gill Sans Std ExtraBold" pitchFamily="34" charset="0"/>
              </a:rPr>
              <a:t>Nivel</a:t>
            </a:r>
            <a:r>
              <a:rPr lang="pt-BR" b="1" dirty="0">
                <a:solidFill>
                  <a:schemeClr val="bg1"/>
                </a:solidFill>
                <a:effectLst>
                  <a:outerShdw blurRad="38100" dist="38100" dir="2700000" algn="tl">
                    <a:srgbClr val="000000">
                      <a:alpha val="43137"/>
                    </a:srgbClr>
                  </a:outerShdw>
                </a:effectLst>
                <a:latin typeface="Gill Sans Std ExtraBold" pitchFamily="34" charset="0"/>
              </a:rPr>
              <a:t> de Serviço</a:t>
            </a:r>
          </a:p>
          <a:p>
            <a:r>
              <a:rPr lang="pt-BR" b="1" dirty="0" smtClean="0">
                <a:solidFill>
                  <a:schemeClr val="bg1"/>
                </a:solidFill>
                <a:effectLst>
                  <a:outerShdw blurRad="38100" dist="38100" dir="2700000" algn="tl">
                    <a:srgbClr val="000000">
                      <a:alpha val="43137"/>
                    </a:srgbClr>
                  </a:outerShdw>
                </a:effectLst>
                <a:latin typeface="Gill Sans Std Light" pitchFamily="34" charset="0"/>
              </a:rPr>
              <a:t>1. Gestão </a:t>
            </a:r>
            <a:r>
              <a:rPr lang="pt-BR" b="1" dirty="0">
                <a:solidFill>
                  <a:schemeClr val="bg1"/>
                </a:solidFill>
                <a:effectLst>
                  <a:outerShdw blurRad="38100" dist="38100" dir="2700000" algn="tl">
                    <a:srgbClr val="000000">
                      <a:alpha val="43137"/>
                    </a:srgbClr>
                  </a:outerShdw>
                </a:effectLst>
                <a:latin typeface="Gill Sans Std Light" pitchFamily="34" charset="0"/>
              </a:rPr>
              <a:t>do Catálogo de </a:t>
            </a:r>
            <a:r>
              <a:rPr lang="pt-BR" b="1" dirty="0" smtClean="0">
                <a:solidFill>
                  <a:schemeClr val="bg1"/>
                </a:solidFill>
                <a:effectLst>
                  <a:outerShdw blurRad="38100" dist="38100" dir="2700000" algn="tl">
                    <a:srgbClr val="000000">
                      <a:alpha val="43137"/>
                    </a:srgbClr>
                  </a:outerShdw>
                </a:effectLst>
                <a:latin typeface="Gill Sans Std Light" pitchFamily="34" charset="0"/>
              </a:rPr>
              <a:t>Serviços – Processo de Solicitação de Serviço</a:t>
            </a:r>
            <a:endParaRPr lang="pt-BR" b="1" dirty="0">
              <a:solidFill>
                <a:schemeClr val="bg1"/>
              </a:solidFill>
              <a:effectLst>
                <a:outerShdw blurRad="38100" dist="38100" dir="2700000" algn="tl">
                  <a:srgbClr val="000000">
                    <a:alpha val="43137"/>
                  </a:srgbClr>
                </a:outerShdw>
              </a:effectLst>
              <a:latin typeface="Gill Sans Std Light" pitchFamily="34" charset="0"/>
            </a:endParaRPr>
          </a:p>
        </p:txBody>
      </p:sp>
      <p:pic>
        <p:nvPicPr>
          <p:cNvPr id="14" name="Picture 8" descr="NAT_marca_branca_natura-01.png"/>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432" y="19878"/>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aixaDeTexto 8"/>
          <p:cNvSpPr txBox="1">
            <a:spLocks noChangeArrowheads="1"/>
          </p:cNvSpPr>
          <p:nvPr/>
        </p:nvSpPr>
        <p:spPr bwMode="auto">
          <a:xfrm>
            <a:off x="251520" y="841803"/>
            <a:ext cx="8496912" cy="3962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45143" tIns="72571" rIns="145143" bIns="72571">
            <a:spAutoFit/>
          </a:bodyPr>
          <a:lstStyle>
            <a:lvl1pPr eaLnBrk="0" hangingPunct="0">
              <a:defRPr sz="3700">
                <a:solidFill>
                  <a:srgbClr val="000000"/>
                </a:solidFill>
                <a:latin typeface="Gill Sans"/>
                <a:ea typeface="ヒラギノ角ゴ ProN W3" charset="-128"/>
                <a:sym typeface="Gill Sans"/>
              </a:defRPr>
            </a:lvl1pPr>
            <a:lvl2pPr marL="742950" indent="-285750" eaLnBrk="0" hangingPunct="0">
              <a:defRPr sz="3700">
                <a:solidFill>
                  <a:srgbClr val="000000"/>
                </a:solidFill>
                <a:latin typeface="Gill Sans"/>
                <a:ea typeface="ヒラギノ角ゴ ProN W3" charset="-128"/>
                <a:sym typeface="Gill Sans"/>
              </a:defRPr>
            </a:lvl2pPr>
            <a:lvl3pPr marL="1143000" indent="-228600" eaLnBrk="0" hangingPunct="0">
              <a:defRPr sz="3700">
                <a:solidFill>
                  <a:srgbClr val="000000"/>
                </a:solidFill>
                <a:latin typeface="Gill Sans"/>
                <a:ea typeface="ヒラギノ角ゴ ProN W3" charset="-128"/>
                <a:sym typeface="Gill Sans"/>
              </a:defRPr>
            </a:lvl3pPr>
            <a:lvl4pPr marL="1600200" indent="-228600" eaLnBrk="0" hangingPunct="0">
              <a:defRPr sz="3700">
                <a:solidFill>
                  <a:srgbClr val="000000"/>
                </a:solidFill>
                <a:latin typeface="Gill Sans"/>
                <a:ea typeface="ヒラギノ角ゴ ProN W3" charset="-128"/>
                <a:sym typeface="Gill Sans"/>
              </a:defRPr>
            </a:lvl4pPr>
            <a:lvl5pPr marL="2057400" indent="-228600" eaLnBrk="0" hangingPunct="0">
              <a:defRPr sz="3700">
                <a:solidFill>
                  <a:srgbClr val="000000"/>
                </a:solidFill>
                <a:latin typeface="Gill Sans"/>
                <a:ea typeface="ヒラギノ角ゴ ProN W3" charset="-128"/>
                <a:sym typeface="Gill Sans"/>
              </a:defRPr>
            </a:lvl5pPr>
            <a:lvl6pPr marL="2514600" indent="-228600" eaLnBrk="0" fontAlgn="base" hangingPunct="0">
              <a:spcBef>
                <a:spcPct val="0"/>
              </a:spcBef>
              <a:spcAft>
                <a:spcPct val="0"/>
              </a:spcAft>
              <a:defRPr sz="3700">
                <a:solidFill>
                  <a:srgbClr val="000000"/>
                </a:solidFill>
                <a:latin typeface="Gill Sans"/>
                <a:ea typeface="ヒラギノ角ゴ ProN W3" charset="-128"/>
                <a:sym typeface="Gill Sans"/>
              </a:defRPr>
            </a:lvl6pPr>
            <a:lvl7pPr marL="2971800" indent="-228600" eaLnBrk="0" fontAlgn="base" hangingPunct="0">
              <a:spcBef>
                <a:spcPct val="0"/>
              </a:spcBef>
              <a:spcAft>
                <a:spcPct val="0"/>
              </a:spcAft>
              <a:defRPr sz="3700">
                <a:solidFill>
                  <a:srgbClr val="000000"/>
                </a:solidFill>
                <a:latin typeface="Gill Sans"/>
                <a:ea typeface="ヒラギノ角ゴ ProN W3" charset="-128"/>
                <a:sym typeface="Gill Sans"/>
              </a:defRPr>
            </a:lvl7pPr>
            <a:lvl8pPr marL="3429000" indent="-228600" eaLnBrk="0" fontAlgn="base" hangingPunct="0">
              <a:spcBef>
                <a:spcPct val="0"/>
              </a:spcBef>
              <a:spcAft>
                <a:spcPct val="0"/>
              </a:spcAft>
              <a:defRPr sz="3700">
                <a:solidFill>
                  <a:srgbClr val="000000"/>
                </a:solidFill>
                <a:latin typeface="Gill Sans"/>
                <a:ea typeface="ヒラギノ角ゴ ProN W3" charset="-128"/>
                <a:sym typeface="Gill Sans"/>
              </a:defRPr>
            </a:lvl8pPr>
            <a:lvl9pPr marL="3886200" indent="-228600" eaLnBrk="0" fontAlgn="base" hangingPunct="0">
              <a:spcBef>
                <a:spcPct val="0"/>
              </a:spcBef>
              <a:spcAft>
                <a:spcPct val="0"/>
              </a:spcAft>
              <a:defRPr sz="3700">
                <a:solidFill>
                  <a:srgbClr val="000000"/>
                </a:solidFill>
                <a:latin typeface="Gill Sans"/>
                <a:ea typeface="ヒラギノ角ゴ ProN W3" charset="-128"/>
                <a:sym typeface="Gill Sans"/>
              </a:defRPr>
            </a:lvl9pPr>
          </a:lstStyle>
          <a:p>
            <a:pPr marL="285750" indent="-285750" eaLnBrk="1" hangingPunct="1">
              <a:buFont typeface="+mj-lt"/>
              <a:buAutoNum type="romanUcPeriod" startAt="2"/>
              <a:defRPr/>
            </a:pPr>
            <a:r>
              <a:rPr lang="pt-BR" sz="1000" b="1" dirty="0">
                <a:solidFill>
                  <a:srgbClr val="6E6259"/>
                </a:solidFill>
                <a:latin typeface="Gill Sans Std Light" pitchFamily="34" charset="0"/>
                <a:ea typeface="+mn-ea"/>
              </a:rPr>
              <a:t>Processo de Solicitação de Serviço</a:t>
            </a:r>
          </a:p>
          <a:p>
            <a:pPr marL="971550" lvl="1" indent="-228600" eaLnBrk="1" hangingPunct="1">
              <a:buFont typeface="+mj-lt"/>
              <a:buAutoNum type="alphaLcPeriod"/>
              <a:defRPr/>
            </a:pPr>
            <a:r>
              <a:rPr lang="pt-BR" sz="1000" b="1" dirty="0" smtClean="0">
                <a:solidFill>
                  <a:srgbClr val="6E6259"/>
                </a:solidFill>
                <a:latin typeface="Gill Sans Std Light" pitchFamily="34" charset="0"/>
                <a:ea typeface="+mn-ea"/>
              </a:rPr>
              <a:t>Criação de Serviço – </a:t>
            </a:r>
            <a:r>
              <a:rPr lang="pt-BR" sz="1000" b="1" u="sng" dirty="0" smtClean="0">
                <a:solidFill>
                  <a:srgbClr val="FF0000"/>
                </a:solidFill>
                <a:latin typeface="Gill Sans Std Light" pitchFamily="34" charset="0"/>
                <a:ea typeface="+mn-ea"/>
              </a:rPr>
              <a:t>LINK TEMPLATE </a:t>
            </a:r>
          </a:p>
          <a:p>
            <a:pPr lvl="1" indent="0" eaLnBrk="1" hangingPunct="1">
              <a:defRPr/>
            </a:pPr>
            <a:r>
              <a:rPr lang="pt-BR" sz="1000" b="1" dirty="0" smtClean="0">
                <a:solidFill>
                  <a:srgbClr val="6E6259"/>
                </a:solidFill>
                <a:latin typeface="Gill Sans Std Light" pitchFamily="34" charset="0"/>
                <a:ea typeface="+mn-ea"/>
              </a:rPr>
              <a:t>Criação de serviço no catálogo. A visão do serviço pode estar disponível para o usuário final, para a comunidade TD (N1 e N2) ou ambos. Essa identificação precisa ser mapeada na criação da categoria.</a:t>
            </a:r>
          </a:p>
          <a:p>
            <a:pPr lvl="1" indent="0" eaLnBrk="1" hangingPunct="1">
              <a:defRPr/>
            </a:pPr>
            <a:r>
              <a:rPr lang="pt-BR" sz="1000" b="1" dirty="0" smtClean="0">
                <a:solidFill>
                  <a:srgbClr val="6E6259"/>
                </a:solidFill>
                <a:latin typeface="Gill Sans Std Light" pitchFamily="34" charset="0"/>
                <a:ea typeface="+mn-ea"/>
              </a:rPr>
              <a:t>As criações podem ser únicas ou massivas, dependendo da necessidade de criação do serviço. Para as criações massivas, a solicitação está limitada a </a:t>
            </a:r>
            <a:r>
              <a:rPr lang="pt-BR" sz="1000" b="1" u="sng" dirty="0">
                <a:solidFill>
                  <a:srgbClr val="6E6259"/>
                </a:solidFill>
                <a:latin typeface="Gill Sans Std Light" pitchFamily="34" charset="0"/>
                <a:ea typeface="+mn-ea"/>
              </a:rPr>
              <a:t>500</a:t>
            </a:r>
            <a:r>
              <a:rPr lang="pt-BR" sz="1000" b="1" dirty="0">
                <a:solidFill>
                  <a:srgbClr val="6E6259"/>
                </a:solidFill>
                <a:latin typeface="Gill Sans Std Light" pitchFamily="34" charset="0"/>
                <a:ea typeface="+mn-ea"/>
              </a:rPr>
              <a:t> </a:t>
            </a:r>
            <a:r>
              <a:rPr lang="pt-BR" sz="1000" b="1" dirty="0">
                <a:solidFill>
                  <a:srgbClr val="6E6259"/>
                </a:solidFill>
                <a:latin typeface="Gill Sans Std Light" pitchFamily="34" charset="0"/>
                <a:ea typeface="+mn-ea"/>
              </a:rPr>
              <a:t>linhas de serviço, mais do que isso, o solicitante deverá entrar em contato com a área solucionadora e combinar a entrega (que eventualmente será tratada por “projeto”)</a:t>
            </a:r>
          </a:p>
          <a:p>
            <a:pPr marL="971550" lvl="1" indent="-228600" eaLnBrk="1" hangingPunct="1">
              <a:buFont typeface="+mj-lt"/>
              <a:buAutoNum type="alphaLcPeriod"/>
              <a:defRPr/>
            </a:pPr>
            <a:endParaRPr lang="pt-BR" sz="1000" b="1" dirty="0">
              <a:solidFill>
                <a:srgbClr val="6E6259"/>
              </a:solidFill>
              <a:latin typeface="Gill Sans Std Light" pitchFamily="34" charset="0"/>
              <a:ea typeface="+mn-ea"/>
            </a:endParaRPr>
          </a:p>
          <a:p>
            <a:pPr lvl="2" eaLnBrk="1" hangingPunct="1">
              <a:defRPr/>
            </a:pPr>
            <a:r>
              <a:rPr lang="pt-BR" sz="1000" b="1" dirty="0" smtClean="0">
                <a:solidFill>
                  <a:srgbClr val="6E6259"/>
                </a:solidFill>
                <a:latin typeface="Gill Sans Std Light" pitchFamily="34" charset="0"/>
                <a:ea typeface="+mn-ea"/>
              </a:rPr>
              <a:t>SLA </a:t>
            </a:r>
            <a:r>
              <a:rPr lang="pt-BR" sz="1000" b="1" dirty="0">
                <a:solidFill>
                  <a:srgbClr val="6E6259"/>
                </a:solidFill>
                <a:latin typeface="Gill Sans Std Light" pitchFamily="34" charset="0"/>
                <a:ea typeface="+mn-ea"/>
              </a:rPr>
              <a:t>de Solicitação </a:t>
            </a:r>
            <a:r>
              <a:rPr lang="pt-BR" sz="1000" b="1" dirty="0" smtClean="0">
                <a:solidFill>
                  <a:srgbClr val="6E6259"/>
                </a:solidFill>
                <a:latin typeface="Gill Sans Std Light" pitchFamily="34" charset="0"/>
                <a:ea typeface="+mn-ea"/>
              </a:rPr>
              <a:t>Criação</a:t>
            </a:r>
            <a:r>
              <a:rPr lang="pt-BR" sz="1000" b="1" dirty="0" smtClean="0">
                <a:solidFill>
                  <a:srgbClr val="00B804"/>
                </a:solidFill>
                <a:latin typeface="Gill Sans Std Light" pitchFamily="34" charset="0"/>
                <a:ea typeface="+mn-ea"/>
              </a:rPr>
              <a:t>: </a:t>
            </a:r>
            <a:r>
              <a:rPr lang="pt-BR" sz="1000" b="1" dirty="0" smtClean="0">
                <a:solidFill>
                  <a:srgbClr val="6E6259"/>
                </a:solidFill>
                <a:latin typeface="Gill Sans Std Light" pitchFamily="34" charset="0"/>
                <a:ea typeface="+mn-ea"/>
              </a:rPr>
              <a:t>40 horas úteis</a:t>
            </a:r>
            <a:r>
              <a:rPr lang="pt-BR" sz="1000" b="1" dirty="0">
                <a:solidFill>
                  <a:srgbClr val="6E6259"/>
                </a:solidFill>
                <a:latin typeface="Gill Sans Std Light" pitchFamily="34" charset="0"/>
                <a:ea typeface="+mn-ea"/>
              </a:rPr>
              <a:t> </a:t>
            </a:r>
            <a:r>
              <a:rPr lang="pt-BR" sz="1000" b="1" dirty="0" smtClean="0">
                <a:solidFill>
                  <a:srgbClr val="6E6259"/>
                </a:solidFill>
                <a:latin typeface="Gill Sans Std Light" pitchFamily="34" charset="0"/>
                <a:ea typeface="+mn-ea"/>
              </a:rPr>
              <a:t>(500 linhas)</a:t>
            </a:r>
            <a:endParaRPr lang="pt-BR" sz="1000" b="1" dirty="0">
              <a:solidFill>
                <a:srgbClr val="6E6259"/>
              </a:solidFill>
              <a:latin typeface="Gill Sans Std Light" pitchFamily="34" charset="0"/>
              <a:ea typeface="+mn-ea"/>
            </a:endParaRPr>
          </a:p>
          <a:p>
            <a:pPr lvl="0" eaLnBrk="1" hangingPunct="1">
              <a:defRPr/>
            </a:pPr>
            <a:endParaRPr lang="pt-BR" sz="800" b="1" dirty="0">
              <a:solidFill>
                <a:srgbClr val="6E6259"/>
              </a:solidFill>
              <a:latin typeface="Gill Sans Std Light" pitchFamily="34" charset="0"/>
            </a:endParaRPr>
          </a:p>
          <a:p>
            <a:pPr marL="971550" lvl="1" indent="-228600" eaLnBrk="1" hangingPunct="1">
              <a:buFont typeface="+mj-lt"/>
              <a:buAutoNum type="alphaLcPeriod" startAt="2"/>
              <a:defRPr/>
            </a:pPr>
            <a:r>
              <a:rPr lang="pt-BR" sz="1000" b="1" dirty="0">
                <a:solidFill>
                  <a:srgbClr val="6E6259"/>
                </a:solidFill>
                <a:latin typeface="Gill Sans Std Light" pitchFamily="34" charset="0"/>
                <a:ea typeface="+mn-ea"/>
              </a:rPr>
              <a:t>Modificação de </a:t>
            </a:r>
            <a:r>
              <a:rPr lang="pt-BR" sz="1000" b="1" dirty="0" smtClean="0">
                <a:solidFill>
                  <a:srgbClr val="6E6259"/>
                </a:solidFill>
                <a:latin typeface="Gill Sans Std Light" pitchFamily="34" charset="0"/>
                <a:ea typeface="+mn-ea"/>
              </a:rPr>
              <a:t>Serviço - </a:t>
            </a:r>
            <a:r>
              <a:rPr lang="pt-BR" sz="1000" b="1" u="sng" dirty="0">
                <a:solidFill>
                  <a:srgbClr val="FF0000"/>
                </a:solidFill>
                <a:latin typeface="Gill Sans Std Light" pitchFamily="34" charset="0"/>
              </a:rPr>
              <a:t>LINK TEMPLATE </a:t>
            </a:r>
            <a:endParaRPr lang="pt-BR" sz="1000" b="1" dirty="0" smtClean="0">
              <a:solidFill>
                <a:srgbClr val="6E6259"/>
              </a:solidFill>
              <a:latin typeface="Gill Sans Std Light" pitchFamily="34" charset="0"/>
              <a:ea typeface="+mn-ea"/>
            </a:endParaRPr>
          </a:p>
          <a:p>
            <a:pPr lvl="1" indent="0" eaLnBrk="1" hangingPunct="1">
              <a:defRPr/>
            </a:pPr>
            <a:r>
              <a:rPr lang="pt-BR" sz="1000" b="1" dirty="0" smtClean="0">
                <a:solidFill>
                  <a:srgbClr val="6E6259"/>
                </a:solidFill>
                <a:latin typeface="Gill Sans Std Light" pitchFamily="34" charset="0"/>
                <a:ea typeface="+mn-ea"/>
              </a:rPr>
              <a:t>Modificação de serviço existente e ativo, geralmente a modificação compreende texto do serviço, propriedades da categoria, tipo, turno de trabalho e SLA.</a:t>
            </a:r>
          </a:p>
          <a:p>
            <a:pPr lvl="1" indent="0" eaLnBrk="1" hangingPunct="1">
              <a:defRPr/>
            </a:pPr>
            <a:endParaRPr lang="pt-BR" sz="1000" b="1" dirty="0">
              <a:solidFill>
                <a:srgbClr val="6E6259"/>
              </a:solidFill>
              <a:latin typeface="Gill Sans Std Light" pitchFamily="34" charset="0"/>
              <a:ea typeface="+mn-ea"/>
            </a:endParaRPr>
          </a:p>
          <a:p>
            <a:pPr lvl="2" eaLnBrk="1" hangingPunct="1">
              <a:defRPr/>
            </a:pPr>
            <a:r>
              <a:rPr lang="pt-BR" sz="1000" b="1" dirty="0" smtClean="0">
                <a:solidFill>
                  <a:srgbClr val="6E6259"/>
                </a:solidFill>
                <a:latin typeface="Gill Sans Std Light" pitchFamily="34" charset="0"/>
              </a:rPr>
              <a:t>SLA de Solicitação </a:t>
            </a:r>
            <a:r>
              <a:rPr lang="pt-BR" sz="1000" b="1" dirty="0">
                <a:solidFill>
                  <a:srgbClr val="6E6259"/>
                </a:solidFill>
                <a:latin typeface="Gill Sans Std Light" pitchFamily="34" charset="0"/>
              </a:rPr>
              <a:t>Modificação: </a:t>
            </a:r>
            <a:r>
              <a:rPr lang="pt-BR" sz="1000" b="1" dirty="0">
                <a:solidFill>
                  <a:srgbClr val="6E6259"/>
                </a:solidFill>
                <a:latin typeface="Gill Sans Std Light" pitchFamily="34" charset="0"/>
              </a:rPr>
              <a:t>40 horas úteis (500 linhas)</a:t>
            </a:r>
          </a:p>
          <a:p>
            <a:pPr lvl="2" eaLnBrk="1" hangingPunct="1">
              <a:defRPr/>
            </a:pPr>
            <a:endParaRPr lang="pt-BR" sz="1000" b="1" dirty="0">
              <a:solidFill>
                <a:srgbClr val="6E6259"/>
              </a:solidFill>
              <a:latin typeface="Gill Sans Std Light" pitchFamily="34" charset="0"/>
            </a:endParaRPr>
          </a:p>
          <a:p>
            <a:pPr marL="971550" lvl="1" indent="-228600" eaLnBrk="1" hangingPunct="1">
              <a:buFont typeface="+mj-lt"/>
              <a:buAutoNum type="alphaLcPeriod" startAt="3"/>
              <a:defRPr/>
            </a:pPr>
            <a:r>
              <a:rPr lang="pt-BR" sz="1000" b="1" dirty="0" smtClean="0">
                <a:solidFill>
                  <a:srgbClr val="6E6259"/>
                </a:solidFill>
                <a:latin typeface="Gill Sans Std Light" pitchFamily="34" charset="0"/>
                <a:ea typeface="+mn-ea"/>
              </a:rPr>
              <a:t>Inativação </a:t>
            </a:r>
            <a:r>
              <a:rPr lang="pt-BR" sz="1000" b="1" dirty="0">
                <a:solidFill>
                  <a:srgbClr val="6E6259"/>
                </a:solidFill>
                <a:latin typeface="Gill Sans Std Light" pitchFamily="34" charset="0"/>
                <a:ea typeface="+mn-ea"/>
              </a:rPr>
              <a:t>de </a:t>
            </a:r>
            <a:r>
              <a:rPr lang="pt-BR" sz="1000" b="1" dirty="0" smtClean="0">
                <a:solidFill>
                  <a:srgbClr val="6E6259"/>
                </a:solidFill>
                <a:latin typeface="Gill Sans Std Light" pitchFamily="34" charset="0"/>
                <a:ea typeface="+mn-ea"/>
              </a:rPr>
              <a:t>Serviço - </a:t>
            </a:r>
            <a:r>
              <a:rPr lang="pt-BR" sz="1000" b="1" u="sng" dirty="0">
                <a:solidFill>
                  <a:srgbClr val="FF0000"/>
                </a:solidFill>
                <a:latin typeface="Gill Sans Std Light" pitchFamily="34" charset="0"/>
              </a:rPr>
              <a:t>LINK TEMPLATE </a:t>
            </a:r>
            <a:endParaRPr lang="pt-BR" sz="1000" b="1" dirty="0" smtClean="0">
              <a:solidFill>
                <a:srgbClr val="6E6259"/>
              </a:solidFill>
              <a:latin typeface="Gill Sans Std Light" pitchFamily="34" charset="0"/>
              <a:ea typeface="+mn-ea"/>
            </a:endParaRPr>
          </a:p>
          <a:p>
            <a:pPr lvl="1" indent="0" eaLnBrk="1" hangingPunct="1">
              <a:defRPr/>
            </a:pPr>
            <a:r>
              <a:rPr lang="pt-BR" sz="1000" b="1" dirty="0" smtClean="0">
                <a:solidFill>
                  <a:srgbClr val="6E6259"/>
                </a:solidFill>
                <a:latin typeface="Gill Sans Std Light" pitchFamily="34" charset="0"/>
              </a:rPr>
              <a:t>Inativação de </a:t>
            </a:r>
            <a:r>
              <a:rPr lang="pt-BR" sz="1000" b="1" dirty="0">
                <a:solidFill>
                  <a:srgbClr val="6E6259"/>
                </a:solidFill>
                <a:latin typeface="Gill Sans Std Light" pitchFamily="34" charset="0"/>
              </a:rPr>
              <a:t>serviço existente e ativo, geralmente </a:t>
            </a:r>
            <a:r>
              <a:rPr lang="pt-BR" sz="1000" b="1" dirty="0" smtClean="0">
                <a:solidFill>
                  <a:srgbClr val="6E6259"/>
                </a:solidFill>
                <a:latin typeface="Gill Sans Std Light" pitchFamily="34" charset="0"/>
              </a:rPr>
              <a:t>quando um serviço não é mais oferecido pela TD. Antes de registrar a solicitação, o solicitante </a:t>
            </a:r>
            <a:r>
              <a:rPr lang="pt-BR" sz="1000" b="1" dirty="0">
                <a:solidFill>
                  <a:srgbClr val="6E6259"/>
                </a:solidFill>
                <a:latin typeface="Gill Sans Std Light" pitchFamily="34" charset="0"/>
              </a:rPr>
              <a:t>deverá revisar se há chamado </a:t>
            </a:r>
            <a:r>
              <a:rPr lang="pt-BR" sz="1000" b="1" dirty="0" smtClean="0">
                <a:solidFill>
                  <a:srgbClr val="6E6259"/>
                </a:solidFill>
                <a:latin typeface="Gill Sans Std Light" pitchFamily="34" charset="0"/>
              </a:rPr>
              <a:t>ativo relacionado a categoria que será inativada, </a:t>
            </a:r>
            <a:r>
              <a:rPr lang="pt-BR" sz="1000" b="1" dirty="0">
                <a:solidFill>
                  <a:srgbClr val="6E6259"/>
                </a:solidFill>
                <a:latin typeface="Gill Sans Std Light" pitchFamily="34" charset="0"/>
              </a:rPr>
              <a:t>e </a:t>
            </a:r>
            <a:r>
              <a:rPr lang="pt-BR" sz="1000" b="1" dirty="0" smtClean="0">
                <a:solidFill>
                  <a:srgbClr val="6E6259"/>
                </a:solidFill>
                <a:latin typeface="Gill Sans Std Light" pitchFamily="34" charset="0"/>
              </a:rPr>
              <a:t>ajustar para a categoria apropriada. Uma </a:t>
            </a:r>
            <a:r>
              <a:rPr lang="pt-BR" sz="1000" b="1" dirty="0">
                <a:solidFill>
                  <a:srgbClr val="6E6259"/>
                </a:solidFill>
                <a:latin typeface="Gill Sans Std Light" pitchFamily="34" charset="0"/>
              </a:rPr>
              <a:t>segunda validação será feita pelo manter (TD – Atendimento TD</a:t>
            </a:r>
            <a:r>
              <a:rPr lang="pt-BR" sz="1000" b="1" dirty="0" smtClean="0">
                <a:solidFill>
                  <a:srgbClr val="6E6259"/>
                </a:solidFill>
                <a:latin typeface="Gill Sans Std Light" pitchFamily="34" charset="0"/>
              </a:rPr>
              <a:t>).</a:t>
            </a:r>
            <a:endParaRPr lang="pt-BR" sz="1000" b="1" dirty="0">
              <a:solidFill>
                <a:srgbClr val="6E6259"/>
              </a:solidFill>
              <a:latin typeface="Gill Sans Std Light" pitchFamily="34" charset="0"/>
            </a:endParaRPr>
          </a:p>
          <a:p>
            <a:pPr lvl="2" eaLnBrk="1" hangingPunct="1">
              <a:defRPr/>
            </a:pPr>
            <a:endParaRPr lang="pt-BR" sz="1000" b="1" dirty="0" smtClean="0">
              <a:solidFill>
                <a:srgbClr val="6E6259"/>
              </a:solidFill>
              <a:latin typeface="Gill Sans Std Light" pitchFamily="34" charset="0"/>
            </a:endParaRPr>
          </a:p>
          <a:p>
            <a:pPr lvl="2" eaLnBrk="1" hangingPunct="1">
              <a:defRPr/>
            </a:pPr>
            <a:r>
              <a:rPr lang="pt-BR" sz="1000" b="1" dirty="0" smtClean="0">
                <a:solidFill>
                  <a:srgbClr val="6E6259"/>
                </a:solidFill>
                <a:latin typeface="Gill Sans Std Light" pitchFamily="34" charset="0"/>
              </a:rPr>
              <a:t>SLA </a:t>
            </a:r>
            <a:r>
              <a:rPr lang="pt-BR" sz="1000" b="1" dirty="0">
                <a:solidFill>
                  <a:srgbClr val="6E6259"/>
                </a:solidFill>
                <a:latin typeface="Gill Sans Std Light" pitchFamily="34" charset="0"/>
              </a:rPr>
              <a:t>de Solicitação </a:t>
            </a:r>
            <a:r>
              <a:rPr lang="pt-BR" sz="1000" b="1" dirty="0" smtClean="0">
                <a:solidFill>
                  <a:srgbClr val="6E6259"/>
                </a:solidFill>
                <a:latin typeface="Gill Sans Std Light" pitchFamily="34" charset="0"/>
              </a:rPr>
              <a:t>Inativação: </a:t>
            </a:r>
            <a:r>
              <a:rPr lang="pt-BR" sz="1000" b="1" dirty="0">
                <a:solidFill>
                  <a:srgbClr val="6E6259"/>
                </a:solidFill>
                <a:latin typeface="Gill Sans Std Light" pitchFamily="34" charset="0"/>
              </a:rPr>
              <a:t>40 horas úteis (500 linhas)</a:t>
            </a:r>
          </a:p>
          <a:p>
            <a:pPr lvl="2" eaLnBrk="1" hangingPunct="1">
              <a:defRPr/>
            </a:pPr>
            <a:endParaRPr lang="pt-BR" sz="1000" b="1" dirty="0" smtClean="0">
              <a:solidFill>
                <a:srgbClr val="6E6259"/>
              </a:solidFill>
              <a:latin typeface="Gill Sans Std Light" pitchFamily="34" charset="0"/>
            </a:endParaRPr>
          </a:p>
          <a:p>
            <a:pPr eaLnBrk="1" hangingPunct="1">
              <a:defRPr/>
            </a:pPr>
            <a:r>
              <a:rPr lang="pt-BR" sz="1000" b="1" u="sng" dirty="0" smtClean="0">
                <a:solidFill>
                  <a:srgbClr val="6E6259"/>
                </a:solidFill>
                <a:latin typeface="Gill Sans Std Light" pitchFamily="34" charset="0"/>
              </a:rPr>
              <a:t>Importante: </a:t>
            </a:r>
            <a:r>
              <a:rPr lang="pt-BR" sz="1000" b="1" dirty="0" smtClean="0">
                <a:solidFill>
                  <a:srgbClr val="6E6259"/>
                </a:solidFill>
                <a:latin typeface="Gill Sans Std Light" pitchFamily="34" charset="0"/>
              </a:rPr>
              <a:t>Toda solicitação de serviço (catálogo), passará por uma validação funcional feita pelo Service Desk e Governança (ver slide 5) antes de ser atendida pela equipe de ferramentas. Isso se faz necessário para que exista padronização e que aspectos de qualidade sejam observados.</a:t>
            </a:r>
            <a:endParaRPr lang="pt-BR" sz="1000" b="1" dirty="0">
              <a:solidFill>
                <a:srgbClr val="6E6259"/>
              </a:solidFill>
              <a:latin typeface="Gill Sans Std Light" pitchFamily="34" charset="0"/>
            </a:endParaRPr>
          </a:p>
        </p:txBody>
      </p:sp>
    </p:spTree>
    <p:extLst>
      <p:ext uri="{BB962C8B-B14F-4D97-AF65-F5344CB8AC3E}">
        <p14:creationId xmlns:p14="http://schemas.microsoft.com/office/powerpoint/2010/main" val="16184751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0" y="0"/>
            <a:ext cx="9144000" cy="646331"/>
          </a:xfrm>
          <a:prstGeom prst="rect">
            <a:avLst/>
          </a:prstGeom>
          <a:solidFill>
            <a:schemeClr val="accent6"/>
          </a:solidFill>
        </p:spPr>
        <p:txBody>
          <a:bodyPr wrap="square" rtlCol="0">
            <a:spAutoFit/>
          </a:bodyPr>
          <a:lstStyle/>
          <a:p>
            <a:r>
              <a:rPr lang="pt-BR" b="1" dirty="0">
                <a:solidFill>
                  <a:schemeClr val="bg1"/>
                </a:solidFill>
                <a:effectLst>
                  <a:outerShdw blurRad="38100" dist="38100" dir="2700000" algn="tl">
                    <a:srgbClr val="000000">
                      <a:alpha val="43137"/>
                    </a:srgbClr>
                  </a:outerShdw>
                </a:effectLst>
                <a:latin typeface="Gill Sans Std ExtraBold" pitchFamily="34" charset="0"/>
              </a:rPr>
              <a:t>Processo de Gestão de </a:t>
            </a:r>
            <a:r>
              <a:rPr lang="pt-BR" b="1" dirty="0" err="1">
                <a:solidFill>
                  <a:schemeClr val="bg1"/>
                </a:solidFill>
                <a:effectLst>
                  <a:outerShdw blurRad="38100" dist="38100" dir="2700000" algn="tl">
                    <a:srgbClr val="000000">
                      <a:alpha val="43137"/>
                    </a:srgbClr>
                  </a:outerShdw>
                </a:effectLst>
                <a:latin typeface="Gill Sans Std ExtraBold" pitchFamily="34" charset="0"/>
              </a:rPr>
              <a:t>Nivel</a:t>
            </a:r>
            <a:r>
              <a:rPr lang="pt-BR" b="1" dirty="0">
                <a:solidFill>
                  <a:schemeClr val="bg1"/>
                </a:solidFill>
                <a:effectLst>
                  <a:outerShdw blurRad="38100" dist="38100" dir="2700000" algn="tl">
                    <a:srgbClr val="000000">
                      <a:alpha val="43137"/>
                    </a:srgbClr>
                  </a:outerShdw>
                </a:effectLst>
                <a:latin typeface="Gill Sans Std ExtraBold" pitchFamily="34" charset="0"/>
              </a:rPr>
              <a:t> de Serviço</a:t>
            </a:r>
          </a:p>
          <a:p>
            <a:r>
              <a:rPr lang="pt-BR" b="1" dirty="0" smtClean="0">
                <a:solidFill>
                  <a:schemeClr val="bg1"/>
                </a:solidFill>
                <a:effectLst>
                  <a:outerShdw blurRad="38100" dist="38100" dir="2700000" algn="tl">
                    <a:srgbClr val="000000">
                      <a:alpha val="43137"/>
                    </a:srgbClr>
                  </a:outerShdw>
                </a:effectLst>
                <a:latin typeface="Gill Sans Std Light" pitchFamily="34" charset="0"/>
              </a:rPr>
              <a:t>1. Gestão </a:t>
            </a:r>
            <a:r>
              <a:rPr lang="pt-BR" b="1" dirty="0">
                <a:solidFill>
                  <a:schemeClr val="bg1"/>
                </a:solidFill>
                <a:effectLst>
                  <a:outerShdw blurRad="38100" dist="38100" dir="2700000" algn="tl">
                    <a:srgbClr val="000000">
                      <a:alpha val="43137"/>
                    </a:srgbClr>
                  </a:outerShdw>
                </a:effectLst>
                <a:latin typeface="Gill Sans Std Light" pitchFamily="34" charset="0"/>
              </a:rPr>
              <a:t>do Catálogo de Serviços – </a:t>
            </a:r>
            <a:r>
              <a:rPr lang="pt-BR" b="1" dirty="0" smtClean="0">
                <a:solidFill>
                  <a:schemeClr val="bg1"/>
                </a:solidFill>
                <a:effectLst>
                  <a:outerShdw blurRad="38100" dist="38100" dir="2700000" algn="tl">
                    <a:srgbClr val="000000">
                      <a:alpha val="43137"/>
                    </a:srgbClr>
                  </a:outerShdw>
                </a:effectLst>
                <a:latin typeface="Gill Sans Std Light" pitchFamily="34" charset="0"/>
              </a:rPr>
              <a:t>Etapas da Validação do chamado</a:t>
            </a:r>
            <a:endParaRPr lang="pt-BR" b="1" dirty="0">
              <a:solidFill>
                <a:schemeClr val="bg1"/>
              </a:solidFill>
              <a:effectLst>
                <a:outerShdw blurRad="38100" dist="38100" dir="2700000" algn="tl">
                  <a:srgbClr val="000000">
                    <a:alpha val="43137"/>
                  </a:srgbClr>
                </a:outerShdw>
              </a:effectLst>
              <a:latin typeface="Gill Sans Std Light" pitchFamily="34" charset="0"/>
            </a:endParaRPr>
          </a:p>
        </p:txBody>
      </p:sp>
      <p:pic>
        <p:nvPicPr>
          <p:cNvPr id="14" name="Picture 8" descr="NAT_marca_branca_natura-01.png"/>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432" y="19878"/>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aixaDeTexto 8"/>
          <p:cNvSpPr txBox="1">
            <a:spLocks noChangeArrowheads="1"/>
          </p:cNvSpPr>
          <p:nvPr/>
        </p:nvSpPr>
        <p:spPr bwMode="auto">
          <a:xfrm>
            <a:off x="395536" y="779235"/>
            <a:ext cx="8531624" cy="4024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45143" tIns="72571" rIns="145143" bIns="72571">
            <a:spAutoFit/>
          </a:bodyPr>
          <a:lstStyle>
            <a:lvl1pPr eaLnBrk="0" hangingPunct="0">
              <a:defRPr sz="3700">
                <a:solidFill>
                  <a:srgbClr val="000000"/>
                </a:solidFill>
                <a:latin typeface="Gill Sans"/>
                <a:ea typeface="ヒラギノ角ゴ ProN W3" charset="-128"/>
                <a:sym typeface="Gill Sans"/>
              </a:defRPr>
            </a:lvl1pPr>
            <a:lvl2pPr marL="742950" indent="-285750" eaLnBrk="0" hangingPunct="0">
              <a:defRPr sz="3700">
                <a:solidFill>
                  <a:srgbClr val="000000"/>
                </a:solidFill>
                <a:latin typeface="Gill Sans"/>
                <a:ea typeface="ヒラギノ角ゴ ProN W3" charset="-128"/>
                <a:sym typeface="Gill Sans"/>
              </a:defRPr>
            </a:lvl2pPr>
            <a:lvl3pPr marL="1143000" indent="-228600" eaLnBrk="0" hangingPunct="0">
              <a:defRPr sz="3700">
                <a:solidFill>
                  <a:srgbClr val="000000"/>
                </a:solidFill>
                <a:latin typeface="Gill Sans"/>
                <a:ea typeface="ヒラギノ角ゴ ProN W3" charset="-128"/>
                <a:sym typeface="Gill Sans"/>
              </a:defRPr>
            </a:lvl3pPr>
            <a:lvl4pPr marL="1600200" indent="-228600" eaLnBrk="0" hangingPunct="0">
              <a:defRPr sz="3700">
                <a:solidFill>
                  <a:srgbClr val="000000"/>
                </a:solidFill>
                <a:latin typeface="Gill Sans"/>
                <a:ea typeface="ヒラギノ角ゴ ProN W3" charset="-128"/>
                <a:sym typeface="Gill Sans"/>
              </a:defRPr>
            </a:lvl4pPr>
            <a:lvl5pPr marL="2057400" indent="-228600" eaLnBrk="0" hangingPunct="0">
              <a:defRPr sz="3700">
                <a:solidFill>
                  <a:srgbClr val="000000"/>
                </a:solidFill>
                <a:latin typeface="Gill Sans"/>
                <a:ea typeface="ヒラギノ角ゴ ProN W3" charset="-128"/>
                <a:sym typeface="Gill Sans"/>
              </a:defRPr>
            </a:lvl5pPr>
            <a:lvl6pPr marL="2514600" indent="-228600" eaLnBrk="0" fontAlgn="base" hangingPunct="0">
              <a:spcBef>
                <a:spcPct val="0"/>
              </a:spcBef>
              <a:spcAft>
                <a:spcPct val="0"/>
              </a:spcAft>
              <a:defRPr sz="3700">
                <a:solidFill>
                  <a:srgbClr val="000000"/>
                </a:solidFill>
                <a:latin typeface="Gill Sans"/>
                <a:ea typeface="ヒラギノ角ゴ ProN W3" charset="-128"/>
                <a:sym typeface="Gill Sans"/>
              </a:defRPr>
            </a:lvl6pPr>
            <a:lvl7pPr marL="2971800" indent="-228600" eaLnBrk="0" fontAlgn="base" hangingPunct="0">
              <a:spcBef>
                <a:spcPct val="0"/>
              </a:spcBef>
              <a:spcAft>
                <a:spcPct val="0"/>
              </a:spcAft>
              <a:defRPr sz="3700">
                <a:solidFill>
                  <a:srgbClr val="000000"/>
                </a:solidFill>
                <a:latin typeface="Gill Sans"/>
                <a:ea typeface="ヒラギノ角ゴ ProN W3" charset="-128"/>
                <a:sym typeface="Gill Sans"/>
              </a:defRPr>
            </a:lvl7pPr>
            <a:lvl8pPr marL="3429000" indent="-228600" eaLnBrk="0" fontAlgn="base" hangingPunct="0">
              <a:spcBef>
                <a:spcPct val="0"/>
              </a:spcBef>
              <a:spcAft>
                <a:spcPct val="0"/>
              </a:spcAft>
              <a:defRPr sz="3700">
                <a:solidFill>
                  <a:srgbClr val="000000"/>
                </a:solidFill>
                <a:latin typeface="Gill Sans"/>
                <a:ea typeface="ヒラギノ角ゴ ProN W3" charset="-128"/>
                <a:sym typeface="Gill Sans"/>
              </a:defRPr>
            </a:lvl8pPr>
            <a:lvl9pPr marL="3886200" indent="-228600" eaLnBrk="0" fontAlgn="base" hangingPunct="0">
              <a:spcBef>
                <a:spcPct val="0"/>
              </a:spcBef>
              <a:spcAft>
                <a:spcPct val="0"/>
              </a:spcAft>
              <a:defRPr sz="3700">
                <a:solidFill>
                  <a:srgbClr val="000000"/>
                </a:solidFill>
                <a:latin typeface="Gill Sans"/>
                <a:ea typeface="ヒラギノ角ゴ ProN W3" charset="-128"/>
                <a:sym typeface="Gill Sans"/>
              </a:defRPr>
            </a:lvl9pPr>
          </a:lstStyle>
          <a:p>
            <a:pPr eaLnBrk="1" hangingPunct="1">
              <a:defRPr/>
            </a:pPr>
            <a:r>
              <a:rPr lang="pt-BR" sz="1050" b="1" dirty="0" smtClean="0">
                <a:solidFill>
                  <a:srgbClr val="6E6259"/>
                </a:solidFill>
                <a:latin typeface="Gill Sans Std Light" pitchFamily="34" charset="0"/>
              </a:rPr>
              <a:t>Todo chamado de solicitação de serviço passará por um workflow de aprovação pelas equipes do Service Desk e Governança, objetivando padronização e qualidade da informação.</a:t>
            </a:r>
          </a:p>
          <a:p>
            <a:pPr eaLnBrk="1" hangingPunct="1">
              <a:defRPr/>
            </a:pPr>
            <a:endParaRPr lang="pt-BR" sz="1050" b="1" dirty="0">
              <a:solidFill>
                <a:srgbClr val="6E6259"/>
              </a:solidFill>
              <a:latin typeface="Gill Sans Std Light" pitchFamily="34" charset="0"/>
            </a:endParaRPr>
          </a:p>
          <a:p>
            <a:pPr eaLnBrk="1" hangingPunct="1">
              <a:defRPr/>
            </a:pPr>
            <a:r>
              <a:rPr lang="pt-BR" sz="1050" b="1" dirty="0" smtClean="0">
                <a:solidFill>
                  <a:srgbClr val="6E6259"/>
                </a:solidFill>
                <a:latin typeface="Gill Sans Std Light" pitchFamily="34" charset="0"/>
              </a:rPr>
              <a:t>O SLA do workflow, considerando as duas aprovações é de 24 horas úteis, considerando uma cobertura de Segunda a Sexta das 08:00 as 17:00.</a:t>
            </a:r>
          </a:p>
          <a:p>
            <a:pPr eaLnBrk="1" hangingPunct="1">
              <a:defRPr/>
            </a:pPr>
            <a:endParaRPr lang="pt-BR" sz="1050" b="1" dirty="0">
              <a:solidFill>
                <a:srgbClr val="6E6259"/>
              </a:solidFill>
              <a:latin typeface="Gill Sans Std Light" pitchFamily="34" charset="0"/>
            </a:endParaRPr>
          </a:p>
          <a:p>
            <a:pPr eaLnBrk="1" hangingPunct="1">
              <a:defRPr/>
            </a:pPr>
            <a:r>
              <a:rPr lang="pt-BR" sz="1050" b="1" dirty="0" smtClean="0">
                <a:solidFill>
                  <a:srgbClr val="6E6259"/>
                </a:solidFill>
                <a:latin typeface="Gill Sans Std Light" pitchFamily="34" charset="0"/>
              </a:rPr>
              <a:t>Abaixo o </a:t>
            </a:r>
            <a:r>
              <a:rPr lang="pt-BR" sz="1050" b="1" i="1" dirty="0" err="1" smtClean="0">
                <a:solidFill>
                  <a:srgbClr val="6E6259"/>
                </a:solidFill>
                <a:latin typeface="Gill Sans Std Light" pitchFamily="34" charset="0"/>
              </a:rPr>
              <a:t>check-list</a:t>
            </a:r>
            <a:r>
              <a:rPr lang="pt-BR" sz="1050" b="1" dirty="0" smtClean="0">
                <a:solidFill>
                  <a:srgbClr val="6E6259"/>
                </a:solidFill>
                <a:latin typeface="Gill Sans Std Light" pitchFamily="34" charset="0"/>
              </a:rPr>
              <a:t> que deve ser efetuado durante a validação do chamado:</a:t>
            </a:r>
          </a:p>
          <a:p>
            <a:pPr lvl="0" eaLnBrk="1" hangingPunct="1">
              <a:defRPr/>
            </a:pPr>
            <a:endParaRPr lang="pt-BR" sz="1050" b="1" dirty="0">
              <a:solidFill>
                <a:srgbClr val="6E6259"/>
              </a:solidFill>
              <a:latin typeface="Gill Sans Std Light" pitchFamily="34" charset="0"/>
            </a:endParaRPr>
          </a:p>
          <a:p>
            <a:pPr marL="171450" lvl="0" indent="-171450" eaLnBrk="1" hangingPunct="1">
              <a:buFont typeface="Wingdings" pitchFamily="2" charset="2"/>
              <a:buChar char="Ø"/>
              <a:defRPr/>
            </a:pPr>
            <a:r>
              <a:rPr lang="pt-BR" sz="1050" b="1" dirty="0" smtClean="0">
                <a:solidFill>
                  <a:srgbClr val="6E6259"/>
                </a:solidFill>
                <a:latin typeface="Gill Sans Std Light" pitchFamily="34" charset="0"/>
              </a:rPr>
              <a:t>Service </a:t>
            </a:r>
            <a:r>
              <a:rPr lang="pt-BR" sz="1050" b="1" dirty="0">
                <a:solidFill>
                  <a:srgbClr val="6E6259"/>
                </a:solidFill>
                <a:latin typeface="Gill Sans Std Light" pitchFamily="34" charset="0"/>
              </a:rPr>
              <a:t>Desk (Grupo: </a:t>
            </a:r>
            <a:r>
              <a:rPr lang="pt-BR" sz="1050" b="1" i="1" dirty="0" smtClean="0">
                <a:solidFill>
                  <a:srgbClr val="6E6259"/>
                </a:solidFill>
                <a:latin typeface="Gill Sans Std Light" pitchFamily="34" charset="0"/>
              </a:rPr>
              <a:t>TD-SD Processo Validar</a:t>
            </a:r>
            <a:r>
              <a:rPr lang="pt-BR" sz="1050" b="1" dirty="0" smtClean="0">
                <a:solidFill>
                  <a:srgbClr val="6E6259"/>
                </a:solidFill>
                <a:latin typeface="Gill Sans Std Light" pitchFamily="34" charset="0"/>
              </a:rPr>
              <a:t>)</a:t>
            </a:r>
            <a:endParaRPr lang="pt-BR" sz="1050" b="1" dirty="0">
              <a:solidFill>
                <a:srgbClr val="6E6259"/>
              </a:solidFill>
              <a:latin typeface="Gill Sans Std Light" pitchFamily="34" charset="0"/>
            </a:endParaRPr>
          </a:p>
          <a:p>
            <a:pPr marL="914400" lvl="1" indent="-171450" eaLnBrk="1" hangingPunct="1">
              <a:buFont typeface="Wingdings" pitchFamily="2" charset="2"/>
              <a:buChar char="Ø"/>
              <a:defRPr/>
            </a:pPr>
            <a:r>
              <a:rPr lang="pt-BR" sz="1050" b="1" dirty="0">
                <a:solidFill>
                  <a:srgbClr val="6E6259"/>
                </a:solidFill>
                <a:latin typeface="Gill Sans Std Light" pitchFamily="34" charset="0"/>
              </a:rPr>
              <a:t>Revisão categoria do serviço (massivo ou não massivo – Fila ITSM)</a:t>
            </a:r>
          </a:p>
          <a:p>
            <a:pPr marL="914400" lvl="1" indent="-171450" eaLnBrk="1" hangingPunct="1">
              <a:buFont typeface="Wingdings" pitchFamily="2" charset="2"/>
              <a:buChar char="Ø"/>
              <a:defRPr/>
            </a:pPr>
            <a:r>
              <a:rPr lang="pt-BR" sz="1050" b="1" dirty="0">
                <a:solidFill>
                  <a:srgbClr val="6E6259"/>
                </a:solidFill>
                <a:latin typeface="Gill Sans Std Light" pitchFamily="34" charset="0"/>
              </a:rPr>
              <a:t>Validação </a:t>
            </a:r>
            <a:r>
              <a:rPr lang="pt-BR" sz="1050" b="1" dirty="0" smtClean="0">
                <a:solidFill>
                  <a:srgbClr val="6E6259"/>
                </a:solidFill>
                <a:latin typeface="Gill Sans Std Light" pitchFamily="34" charset="0"/>
              </a:rPr>
              <a:t> de propriedades </a:t>
            </a:r>
            <a:r>
              <a:rPr lang="pt-BR" sz="1050" b="1" dirty="0">
                <a:solidFill>
                  <a:srgbClr val="6E6259"/>
                </a:solidFill>
                <a:latin typeface="Gill Sans Std Light" pitchFamily="34" charset="0"/>
              </a:rPr>
              <a:t>da </a:t>
            </a:r>
            <a:r>
              <a:rPr lang="pt-BR" sz="1050" b="1" dirty="0" smtClean="0">
                <a:solidFill>
                  <a:srgbClr val="6E6259"/>
                </a:solidFill>
                <a:latin typeface="Gill Sans Std Light" pitchFamily="34" charset="0"/>
              </a:rPr>
              <a:t>categoria de serviço</a:t>
            </a:r>
            <a:endParaRPr lang="pt-BR" sz="1050" b="1" dirty="0">
              <a:solidFill>
                <a:srgbClr val="6E6259"/>
              </a:solidFill>
              <a:latin typeface="Gill Sans Std Light" pitchFamily="34" charset="0"/>
            </a:endParaRPr>
          </a:p>
          <a:p>
            <a:pPr marL="914400" lvl="1" indent="-171450" eaLnBrk="1" hangingPunct="1">
              <a:buFont typeface="Wingdings" pitchFamily="2" charset="2"/>
              <a:buChar char="Ø"/>
              <a:defRPr/>
            </a:pPr>
            <a:r>
              <a:rPr lang="pt-BR" sz="1050" b="1" dirty="0">
                <a:solidFill>
                  <a:srgbClr val="6E6259"/>
                </a:solidFill>
                <a:latin typeface="Gill Sans Std Light" pitchFamily="34" charset="0"/>
              </a:rPr>
              <a:t>Visão usuário VS visão técnica </a:t>
            </a:r>
            <a:r>
              <a:rPr lang="pt-BR" sz="1050" b="1" dirty="0" smtClean="0">
                <a:solidFill>
                  <a:srgbClr val="6E6259"/>
                </a:solidFill>
                <a:latin typeface="Gill Sans Std Light" pitchFamily="34" charset="0"/>
              </a:rPr>
              <a:t>(visível </a:t>
            </a:r>
            <a:r>
              <a:rPr lang="pt-BR" sz="1050" b="1" dirty="0">
                <a:solidFill>
                  <a:srgbClr val="6E6259"/>
                </a:solidFill>
                <a:latin typeface="Gill Sans Std Light" pitchFamily="34" charset="0"/>
              </a:rPr>
              <a:t>para </a:t>
            </a:r>
            <a:r>
              <a:rPr lang="pt-BR" sz="1050" b="1" dirty="0" smtClean="0">
                <a:solidFill>
                  <a:srgbClr val="6E6259"/>
                </a:solidFill>
                <a:latin typeface="Gill Sans Std Light" pitchFamily="34" charset="0"/>
              </a:rPr>
              <a:t>usuário: sim </a:t>
            </a:r>
            <a:r>
              <a:rPr lang="pt-BR" sz="1050" b="1" dirty="0">
                <a:solidFill>
                  <a:srgbClr val="6E6259"/>
                </a:solidFill>
                <a:latin typeface="Gill Sans Std Light" pitchFamily="34" charset="0"/>
              </a:rPr>
              <a:t>ou </a:t>
            </a:r>
            <a:r>
              <a:rPr lang="pt-BR" sz="1050" b="1" dirty="0" smtClean="0">
                <a:solidFill>
                  <a:srgbClr val="6E6259"/>
                </a:solidFill>
                <a:latin typeface="Gill Sans Std Light" pitchFamily="34" charset="0"/>
              </a:rPr>
              <a:t>não), considerando clareza do texto e idioma</a:t>
            </a:r>
            <a:endParaRPr lang="pt-BR" sz="1050" b="1" dirty="0">
              <a:solidFill>
                <a:srgbClr val="6E6259"/>
              </a:solidFill>
              <a:latin typeface="Gill Sans Std Light" pitchFamily="34" charset="0"/>
            </a:endParaRPr>
          </a:p>
          <a:p>
            <a:pPr marL="914400" lvl="1" indent="-171450" eaLnBrk="1" hangingPunct="1">
              <a:buFont typeface="Wingdings" pitchFamily="2" charset="2"/>
              <a:buChar char="Ø"/>
              <a:defRPr/>
            </a:pPr>
            <a:r>
              <a:rPr lang="pt-BR" sz="1050" b="1" dirty="0" smtClean="0">
                <a:solidFill>
                  <a:srgbClr val="6E6259"/>
                </a:solidFill>
                <a:latin typeface="Gill Sans Std Light" pitchFamily="34" charset="0"/>
              </a:rPr>
              <a:t>Validação do Grupo Solucionador que </a:t>
            </a:r>
            <a:r>
              <a:rPr lang="pt-BR" sz="1050" b="1" dirty="0">
                <a:solidFill>
                  <a:srgbClr val="6E6259"/>
                </a:solidFill>
                <a:latin typeface="Gill Sans Std Light" pitchFamily="34" charset="0"/>
              </a:rPr>
              <a:t>irá receber </a:t>
            </a:r>
            <a:r>
              <a:rPr lang="pt-BR" sz="1050" b="1" dirty="0" smtClean="0">
                <a:solidFill>
                  <a:srgbClr val="6E6259"/>
                </a:solidFill>
                <a:latin typeface="Gill Sans Std Light" pitchFamily="34" charset="0"/>
              </a:rPr>
              <a:t>o chamado da categoria solicitada</a:t>
            </a:r>
          </a:p>
          <a:p>
            <a:pPr marL="914400" lvl="1" indent="-171450" eaLnBrk="1" hangingPunct="1">
              <a:buFont typeface="Wingdings" pitchFamily="2" charset="2"/>
              <a:buChar char="Ø"/>
              <a:defRPr/>
            </a:pPr>
            <a:r>
              <a:rPr lang="pt-BR" sz="1050" b="1" dirty="0">
                <a:solidFill>
                  <a:srgbClr val="6E6259"/>
                </a:solidFill>
                <a:latin typeface="Gill Sans Std Light" pitchFamily="34" charset="0"/>
              </a:rPr>
              <a:t>Existência e validação de script de atendimento do Nível </a:t>
            </a:r>
            <a:r>
              <a:rPr lang="pt-BR" sz="1050" b="1" dirty="0" smtClean="0">
                <a:solidFill>
                  <a:srgbClr val="6E6259"/>
                </a:solidFill>
                <a:latin typeface="Gill Sans Std Light" pitchFamily="34" charset="0"/>
              </a:rPr>
              <a:t>1</a:t>
            </a:r>
          </a:p>
          <a:p>
            <a:pPr marL="914400" lvl="1" indent="-171450" eaLnBrk="1" hangingPunct="1">
              <a:buFont typeface="Wingdings" pitchFamily="2" charset="2"/>
              <a:buChar char="Ø"/>
              <a:defRPr/>
            </a:pPr>
            <a:r>
              <a:rPr lang="pt-BR" sz="1050" b="1" dirty="0" smtClean="0">
                <a:solidFill>
                  <a:srgbClr val="6E6259"/>
                </a:solidFill>
                <a:latin typeface="Gill Sans Std Light" pitchFamily="34" charset="0"/>
              </a:rPr>
              <a:t>Workflow de aprovação (quando aplicável)</a:t>
            </a:r>
          </a:p>
          <a:p>
            <a:pPr marL="914400" lvl="1" indent="-171450" eaLnBrk="1" hangingPunct="1">
              <a:buFont typeface="Wingdings" pitchFamily="2" charset="2"/>
              <a:buChar char="Ø"/>
              <a:defRPr/>
            </a:pPr>
            <a:r>
              <a:rPr lang="pt-BR" sz="1050" b="1" dirty="0">
                <a:solidFill>
                  <a:srgbClr val="6E6259"/>
                </a:solidFill>
                <a:latin typeface="Gill Sans Std Light" pitchFamily="34" charset="0"/>
              </a:rPr>
              <a:t>SLA e Turno de Trabalho</a:t>
            </a:r>
          </a:p>
          <a:p>
            <a:pPr marL="914400" lvl="1" indent="-171450" eaLnBrk="1" hangingPunct="1">
              <a:buFont typeface="Wingdings" pitchFamily="2" charset="2"/>
              <a:buChar char="Ø"/>
              <a:defRPr/>
            </a:pPr>
            <a:endParaRPr lang="pt-BR" sz="1050" b="1" dirty="0">
              <a:solidFill>
                <a:srgbClr val="6E6259"/>
              </a:solidFill>
              <a:latin typeface="Gill Sans Std Light" pitchFamily="34" charset="0"/>
            </a:endParaRPr>
          </a:p>
          <a:p>
            <a:pPr marL="171450" lvl="0" indent="-171450" eaLnBrk="1" hangingPunct="1">
              <a:buFont typeface="Wingdings" pitchFamily="2" charset="2"/>
              <a:buChar char="Ø"/>
              <a:defRPr/>
            </a:pPr>
            <a:r>
              <a:rPr lang="pt-BR" sz="1050" b="1" dirty="0" smtClean="0">
                <a:solidFill>
                  <a:srgbClr val="6E6259"/>
                </a:solidFill>
                <a:latin typeface="Gill Sans Std Light" pitchFamily="34" charset="0"/>
              </a:rPr>
              <a:t>Governança </a:t>
            </a:r>
            <a:r>
              <a:rPr lang="pt-BR" sz="1050" b="1" dirty="0">
                <a:solidFill>
                  <a:srgbClr val="6E6259"/>
                </a:solidFill>
                <a:latin typeface="Gill Sans Std Light" pitchFamily="34" charset="0"/>
              </a:rPr>
              <a:t>(Grupo: </a:t>
            </a:r>
            <a:r>
              <a:rPr lang="pt-BR" sz="1050" b="1" dirty="0">
                <a:solidFill>
                  <a:srgbClr val="FF0000"/>
                </a:solidFill>
                <a:latin typeface="Gill Sans Std Light" pitchFamily="34" charset="0"/>
              </a:rPr>
              <a:t>XXXXXX</a:t>
            </a:r>
            <a:r>
              <a:rPr lang="pt-BR" sz="1050" b="1" dirty="0">
                <a:solidFill>
                  <a:srgbClr val="6E6259"/>
                </a:solidFill>
                <a:latin typeface="Gill Sans Std Light" pitchFamily="34" charset="0"/>
              </a:rPr>
              <a:t>)</a:t>
            </a:r>
          </a:p>
          <a:p>
            <a:pPr marL="914400" lvl="1" indent="-171450" eaLnBrk="1" hangingPunct="1">
              <a:buFont typeface="Wingdings" pitchFamily="2" charset="2"/>
              <a:buChar char="Ø"/>
              <a:defRPr/>
            </a:pPr>
            <a:r>
              <a:rPr lang="pt-BR" sz="1050" b="1" dirty="0" smtClean="0">
                <a:solidFill>
                  <a:srgbClr val="6E6259"/>
                </a:solidFill>
                <a:latin typeface="Gill Sans Std Light" pitchFamily="34" charset="0"/>
              </a:rPr>
              <a:t>SLA e Turno de Trabalho</a:t>
            </a:r>
            <a:endParaRPr lang="pt-BR" sz="1050" b="1" dirty="0">
              <a:solidFill>
                <a:srgbClr val="6E6259"/>
              </a:solidFill>
              <a:latin typeface="Gill Sans Std Light" pitchFamily="34" charset="0"/>
            </a:endParaRPr>
          </a:p>
          <a:p>
            <a:pPr marL="914400" lvl="1" indent="-171450" eaLnBrk="1" hangingPunct="1">
              <a:buFont typeface="Wingdings" pitchFamily="2" charset="2"/>
              <a:buChar char="Ø"/>
              <a:defRPr/>
            </a:pPr>
            <a:r>
              <a:rPr lang="pt-BR" sz="1050" b="1" dirty="0">
                <a:solidFill>
                  <a:srgbClr val="6E6259"/>
                </a:solidFill>
                <a:latin typeface="Gill Sans Std Light" pitchFamily="34" charset="0"/>
              </a:rPr>
              <a:t>Gestão de serviços</a:t>
            </a:r>
          </a:p>
          <a:p>
            <a:pPr marL="914400" lvl="1" indent="-171450" eaLnBrk="1" hangingPunct="1">
              <a:buFont typeface="Wingdings" pitchFamily="2" charset="2"/>
              <a:buChar char="Ø"/>
              <a:defRPr/>
            </a:pPr>
            <a:r>
              <a:rPr lang="pt-BR" sz="1050" b="1" i="1" dirty="0" err="1">
                <a:solidFill>
                  <a:srgbClr val="6E6259"/>
                </a:solidFill>
                <a:latin typeface="Gill Sans Std Light" pitchFamily="34" charset="0"/>
              </a:rPr>
              <a:t>Quality</a:t>
            </a:r>
            <a:r>
              <a:rPr lang="pt-BR" sz="1050" b="1" i="1" dirty="0">
                <a:solidFill>
                  <a:srgbClr val="6E6259"/>
                </a:solidFill>
                <a:latin typeface="Gill Sans Std Light" pitchFamily="34" charset="0"/>
              </a:rPr>
              <a:t> </a:t>
            </a:r>
            <a:r>
              <a:rPr lang="pt-BR" sz="1050" b="1" i="1" dirty="0" err="1">
                <a:solidFill>
                  <a:srgbClr val="6E6259"/>
                </a:solidFill>
                <a:latin typeface="Gill Sans Std Light" pitchFamily="34" charset="0"/>
              </a:rPr>
              <a:t>Assurance</a:t>
            </a:r>
            <a:endParaRPr lang="pt-BR" sz="1050" b="1" i="1" dirty="0">
              <a:solidFill>
                <a:srgbClr val="6E6259"/>
              </a:solidFill>
              <a:latin typeface="Gill Sans Std Light" pitchFamily="34" charset="0"/>
            </a:endParaRPr>
          </a:p>
          <a:p>
            <a:pPr marL="914400" lvl="1" indent="-171450" eaLnBrk="1" hangingPunct="1">
              <a:buFont typeface="Wingdings" pitchFamily="2" charset="2"/>
              <a:buChar char="Ø"/>
              <a:defRPr/>
            </a:pPr>
            <a:r>
              <a:rPr lang="pt-BR" sz="1050" b="1" dirty="0" smtClean="0">
                <a:solidFill>
                  <a:srgbClr val="6E6259"/>
                </a:solidFill>
                <a:latin typeface="Gill Sans Std Light" pitchFamily="34" charset="0"/>
              </a:rPr>
              <a:t>Necessidade de comunicação TD e usuário final</a:t>
            </a:r>
            <a:endParaRPr lang="pt-BR" sz="1050" b="1" dirty="0">
              <a:solidFill>
                <a:srgbClr val="6E6259"/>
              </a:solidFill>
              <a:latin typeface="Gill Sans Std Light" pitchFamily="34" charset="0"/>
            </a:endParaRPr>
          </a:p>
          <a:p>
            <a:pPr marL="914400" lvl="1" indent="-171450" eaLnBrk="1" hangingPunct="1">
              <a:buFont typeface="Wingdings" pitchFamily="2" charset="2"/>
              <a:buChar char="Ø"/>
              <a:defRPr/>
            </a:pPr>
            <a:r>
              <a:rPr lang="pt-BR" sz="1050" b="1" dirty="0">
                <a:solidFill>
                  <a:srgbClr val="6E6259"/>
                </a:solidFill>
                <a:latin typeface="Gill Sans Std Light" pitchFamily="34" charset="0"/>
              </a:rPr>
              <a:t>Validação das premissas do procedimento da equipe </a:t>
            </a:r>
            <a:r>
              <a:rPr lang="pt-BR" sz="1050" b="1" dirty="0" smtClean="0">
                <a:solidFill>
                  <a:srgbClr val="6E6259"/>
                </a:solidFill>
                <a:latin typeface="Gill Sans Std Light" pitchFamily="34" charset="0"/>
              </a:rPr>
              <a:t>ITSM (a definir)</a:t>
            </a:r>
            <a:endParaRPr lang="pt-BR" sz="1050" b="1" dirty="0">
              <a:solidFill>
                <a:srgbClr val="6E6259"/>
              </a:solidFill>
              <a:latin typeface="Gill Sans Std Light" pitchFamily="34" charset="0"/>
            </a:endParaRPr>
          </a:p>
          <a:p>
            <a:pPr eaLnBrk="1" hangingPunct="1">
              <a:defRPr/>
            </a:pPr>
            <a:endParaRPr lang="pt-BR" sz="1050" b="1" dirty="0">
              <a:solidFill>
                <a:srgbClr val="6E6259"/>
              </a:solidFill>
              <a:latin typeface="Gill Sans Std Light" pitchFamily="34" charset="0"/>
            </a:endParaRPr>
          </a:p>
          <a:p>
            <a:pPr eaLnBrk="1" hangingPunct="1">
              <a:defRPr/>
            </a:pPr>
            <a:r>
              <a:rPr lang="pt-BR" sz="1050" b="1" u="sng" dirty="0" smtClean="0">
                <a:solidFill>
                  <a:srgbClr val="6E6259"/>
                </a:solidFill>
                <a:latin typeface="Gill Sans Std Light" pitchFamily="34" charset="0"/>
              </a:rPr>
              <a:t>Importante: </a:t>
            </a:r>
            <a:r>
              <a:rPr lang="pt-BR" sz="1050" b="1" dirty="0" smtClean="0">
                <a:solidFill>
                  <a:srgbClr val="6E6259"/>
                </a:solidFill>
                <a:latin typeface="Gill Sans Std Light" pitchFamily="34" charset="0"/>
              </a:rPr>
              <a:t>Caso </a:t>
            </a:r>
            <a:r>
              <a:rPr lang="pt-BR" sz="1050" b="1" dirty="0">
                <a:solidFill>
                  <a:srgbClr val="6E6259"/>
                </a:solidFill>
                <a:latin typeface="Gill Sans Std Light" pitchFamily="34" charset="0"/>
              </a:rPr>
              <a:t>a solicitação seja negada, um </a:t>
            </a:r>
            <a:r>
              <a:rPr lang="pt-BR" sz="1050" b="1" dirty="0" smtClean="0">
                <a:solidFill>
                  <a:srgbClr val="6E6259"/>
                </a:solidFill>
                <a:latin typeface="Gill Sans Std Light" pitchFamily="34" charset="0"/>
              </a:rPr>
              <a:t>e-mail padrão será </a:t>
            </a:r>
            <a:r>
              <a:rPr lang="pt-BR" sz="1050" b="1" dirty="0">
                <a:solidFill>
                  <a:srgbClr val="6E6259"/>
                </a:solidFill>
                <a:latin typeface="Gill Sans Std Light" pitchFamily="34" charset="0"/>
              </a:rPr>
              <a:t>enviado ao solicitando com a justificativa da negação.</a:t>
            </a:r>
          </a:p>
        </p:txBody>
      </p:sp>
    </p:spTree>
    <p:extLst>
      <p:ext uri="{BB962C8B-B14F-4D97-AF65-F5344CB8AC3E}">
        <p14:creationId xmlns:p14="http://schemas.microsoft.com/office/powerpoint/2010/main" val="41479433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0" y="0"/>
            <a:ext cx="9144000" cy="646331"/>
          </a:xfrm>
          <a:prstGeom prst="rect">
            <a:avLst/>
          </a:prstGeom>
          <a:solidFill>
            <a:schemeClr val="accent6"/>
          </a:solidFill>
        </p:spPr>
        <p:txBody>
          <a:bodyPr wrap="square" rtlCol="0">
            <a:spAutoFit/>
          </a:bodyPr>
          <a:lstStyle/>
          <a:p>
            <a:r>
              <a:rPr lang="pt-BR" b="1" dirty="0" smtClean="0">
                <a:solidFill>
                  <a:schemeClr val="bg1"/>
                </a:solidFill>
                <a:effectLst>
                  <a:outerShdw blurRad="38100" dist="38100" dir="2700000" algn="tl">
                    <a:srgbClr val="000000">
                      <a:alpha val="43137"/>
                    </a:srgbClr>
                  </a:outerShdw>
                </a:effectLst>
                <a:latin typeface="Gill Sans Std ExtraBold" pitchFamily="34" charset="0"/>
              </a:rPr>
              <a:t>Gestão de Chamados</a:t>
            </a:r>
          </a:p>
          <a:p>
            <a:r>
              <a:rPr lang="pt-BR" b="1" dirty="0" smtClean="0">
                <a:solidFill>
                  <a:schemeClr val="bg1"/>
                </a:solidFill>
                <a:effectLst>
                  <a:outerShdw blurRad="38100" dist="38100" dir="2700000" algn="tl">
                    <a:srgbClr val="000000">
                      <a:alpha val="43137"/>
                    </a:srgbClr>
                  </a:outerShdw>
                </a:effectLst>
                <a:latin typeface="Gill Sans Std Light" pitchFamily="34" charset="0"/>
              </a:rPr>
              <a:t>2. Gestão </a:t>
            </a:r>
            <a:r>
              <a:rPr lang="pt-BR" b="1" dirty="0">
                <a:solidFill>
                  <a:schemeClr val="bg1"/>
                </a:solidFill>
                <a:effectLst>
                  <a:outerShdw blurRad="38100" dist="38100" dir="2700000" algn="tl">
                    <a:srgbClr val="000000">
                      <a:alpha val="43137"/>
                    </a:srgbClr>
                  </a:outerShdw>
                </a:effectLst>
                <a:latin typeface="Gill Sans Std Light" pitchFamily="34" charset="0"/>
              </a:rPr>
              <a:t>de Grupos d</a:t>
            </a:r>
            <a:r>
              <a:rPr lang="pt-BR" b="1" dirty="0" smtClean="0">
                <a:solidFill>
                  <a:schemeClr val="bg1"/>
                </a:solidFill>
                <a:effectLst>
                  <a:outerShdw blurRad="38100" dist="38100" dir="2700000" algn="tl">
                    <a:srgbClr val="000000">
                      <a:alpha val="43137"/>
                    </a:srgbClr>
                  </a:outerShdw>
                </a:effectLst>
                <a:latin typeface="Gill Sans Std Light" pitchFamily="34" charset="0"/>
              </a:rPr>
              <a:t>e </a:t>
            </a:r>
            <a:r>
              <a:rPr lang="pt-BR" b="1" dirty="0">
                <a:solidFill>
                  <a:schemeClr val="bg1"/>
                </a:solidFill>
                <a:effectLst>
                  <a:outerShdw blurRad="38100" dist="38100" dir="2700000" algn="tl">
                    <a:srgbClr val="000000">
                      <a:alpha val="43137"/>
                    </a:srgbClr>
                  </a:outerShdw>
                </a:effectLst>
                <a:latin typeface="Gill Sans Std Light" pitchFamily="34" charset="0"/>
              </a:rPr>
              <a:t>resolução de </a:t>
            </a:r>
            <a:r>
              <a:rPr lang="pt-BR" b="1" dirty="0" smtClean="0">
                <a:solidFill>
                  <a:schemeClr val="bg1"/>
                </a:solidFill>
                <a:effectLst>
                  <a:outerShdw blurRad="38100" dist="38100" dir="2700000" algn="tl">
                    <a:srgbClr val="000000">
                      <a:alpha val="43137"/>
                    </a:srgbClr>
                  </a:outerShdw>
                </a:effectLst>
                <a:latin typeface="Gill Sans Std Light" pitchFamily="34" charset="0"/>
              </a:rPr>
              <a:t>chamados – Informações Gerais</a:t>
            </a:r>
            <a:endParaRPr lang="pt-BR" b="1" dirty="0">
              <a:solidFill>
                <a:schemeClr val="bg1"/>
              </a:solidFill>
              <a:effectLst>
                <a:outerShdw blurRad="38100" dist="38100" dir="2700000" algn="tl">
                  <a:srgbClr val="000000">
                    <a:alpha val="43137"/>
                  </a:srgbClr>
                </a:outerShdw>
              </a:effectLst>
              <a:latin typeface="Gill Sans Std Light" pitchFamily="34" charset="0"/>
            </a:endParaRPr>
          </a:p>
        </p:txBody>
      </p:sp>
      <p:pic>
        <p:nvPicPr>
          <p:cNvPr id="14" name="Picture 8" descr="NAT_marca_branca_natura-01.png"/>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432" y="19878"/>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tângulo 1"/>
          <p:cNvSpPr/>
          <p:nvPr/>
        </p:nvSpPr>
        <p:spPr>
          <a:xfrm>
            <a:off x="107504" y="700336"/>
            <a:ext cx="8784976" cy="3870290"/>
          </a:xfrm>
          <a:prstGeom prst="rect">
            <a:avLst/>
          </a:prstGeom>
        </p:spPr>
        <p:txBody>
          <a:bodyPr wrap="square">
            <a:spAutoFit/>
          </a:bodyPr>
          <a:lstStyle/>
          <a:p>
            <a:pPr marL="285750" indent="-228600">
              <a:buFont typeface="+mj-lt"/>
              <a:buAutoNum type="arabicPeriod" startAt="2"/>
              <a:defRPr/>
            </a:pPr>
            <a:r>
              <a:rPr lang="pt-BR" sz="1050" b="1" dirty="0">
                <a:solidFill>
                  <a:srgbClr val="6E6259"/>
                </a:solidFill>
                <a:latin typeface="Gill Sans Std Light" pitchFamily="34" charset="0"/>
              </a:rPr>
              <a:t>Gestão de Grupos (filas de resolução de chamados</a:t>
            </a:r>
            <a:r>
              <a:rPr lang="pt-BR" sz="1050" b="1" dirty="0" smtClean="0">
                <a:solidFill>
                  <a:srgbClr val="6E6259"/>
                </a:solidFill>
                <a:latin typeface="Gill Sans Std Light" pitchFamily="34" charset="0"/>
              </a:rPr>
              <a:t>)</a:t>
            </a:r>
          </a:p>
          <a:p>
            <a:pPr marL="1028700" lvl="1" indent="-228600">
              <a:buFont typeface="+mj-lt"/>
              <a:buAutoNum type="romanUcPeriod"/>
              <a:defRPr/>
            </a:pPr>
            <a:endParaRPr lang="pt-BR" sz="400" b="1" dirty="0" smtClean="0">
              <a:solidFill>
                <a:srgbClr val="6E6259"/>
              </a:solidFill>
              <a:latin typeface="Gill Sans Std Light" pitchFamily="34" charset="0"/>
            </a:endParaRPr>
          </a:p>
          <a:p>
            <a:pPr marL="1028700" lvl="1" indent="-228600">
              <a:buFont typeface="+mj-lt"/>
              <a:buAutoNum type="romanUcPeriod"/>
              <a:defRPr/>
            </a:pPr>
            <a:r>
              <a:rPr lang="pt-BR" sz="1050" b="1" dirty="0" smtClean="0">
                <a:solidFill>
                  <a:srgbClr val="6E6259"/>
                </a:solidFill>
                <a:latin typeface="Gill Sans Std Light" pitchFamily="34" charset="0"/>
              </a:rPr>
              <a:t>Informações </a:t>
            </a:r>
            <a:r>
              <a:rPr lang="pt-BR" sz="1050" b="1" dirty="0" smtClean="0">
                <a:solidFill>
                  <a:srgbClr val="6E6259"/>
                </a:solidFill>
                <a:latin typeface="Gill Sans Std Light" pitchFamily="34" charset="0"/>
              </a:rPr>
              <a:t>gerais</a:t>
            </a:r>
            <a:endParaRPr lang="pt-BR" sz="1050" b="1" dirty="0">
              <a:solidFill>
                <a:srgbClr val="6E6259"/>
              </a:solidFill>
              <a:latin typeface="Gill Sans Std Light" pitchFamily="34" charset="0"/>
            </a:endParaRPr>
          </a:p>
          <a:p>
            <a:pPr marL="1657350" lvl="2" indent="-228600">
              <a:buFont typeface="+mj-lt"/>
              <a:buAutoNum type="alphaLcParenR"/>
              <a:defRPr/>
            </a:pPr>
            <a:r>
              <a:rPr lang="pt-BR" sz="1050" b="1" dirty="0" smtClean="0">
                <a:solidFill>
                  <a:srgbClr val="6E6259"/>
                </a:solidFill>
                <a:latin typeface="Gill Sans Std Light" pitchFamily="34" charset="0"/>
              </a:rPr>
              <a:t>Turno </a:t>
            </a:r>
            <a:r>
              <a:rPr lang="pt-BR" sz="1050" b="1" dirty="0">
                <a:solidFill>
                  <a:srgbClr val="6E6259"/>
                </a:solidFill>
                <a:latin typeface="Gill Sans Std Light" pitchFamily="34" charset="0"/>
              </a:rPr>
              <a:t>de trabalho do </a:t>
            </a:r>
            <a:r>
              <a:rPr lang="pt-BR" sz="1050" b="1" dirty="0" smtClean="0">
                <a:solidFill>
                  <a:srgbClr val="6E6259"/>
                </a:solidFill>
                <a:latin typeface="Gill Sans Std Light" pitchFamily="34" charset="0"/>
              </a:rPr>
              <a:t>Grupo</a:t>
            </a:r>
            <a:endParaRPr lang="pt-BR" sz="1050" b="1" dirty="0">
              <a:solidFill>
                <a:srgbClr val="6E6259"/>
              </a:solidFill>
              <a:latin typeface="Gill Sans Std Light" pitchFamily="34" charset="0"/>
            </a:endParaRPr>
          </a:p>
          <a:p>
            <a:pPr marL="971550" lvl="1">
              <a:defRPr/>
            </a:pPr>
            <a:r>
              <a:rPr lang="pt-BR" sz="1050" b="1" dirty="0" smtClean="0">
                <a:solidFill>
                  <a:srgbClr val="6E6259"/>
                </a:solidFill>
                <a:latin typeface="Gill Sans Std Light" pitchFamily="34" charset="0"/>
              </a:rPr>
              <a:t>Informação </a:t>
            </a:r>
            <a:r>
              <a:rPr lang="pt-BR" sz="1050" b="1" dirty="0">
                <a:solidFill>
                  <a:srgbClr val="6E6259"/>
                </a:solidFill>
                <a:latin typeface="Gill Sans Std Light" pitchFamily="34" charset="0"/>
              </a:rPr>
              <a:t>que deve ser cadastrada na ferramenta, para facilitar escalação de chamados e eventualmente gestão de SLA, caso essa configuração (SLA) esteja no grupo e não na </a:t>
            </a:r>
            <a:r>
              <a:rPr lang="pt-BR" sz="1050" b="1" dirty="0" smtClean="0">
                <a:solidFill>
                  <a:srgbClr val="6E6259"/>
                </a:solidFill>
                <a:latin typeface="Gill Sans Std Light" pitchFamily="34" charset="0"/>
              </a:rPr>
              <a:t>categoria.</a:t>
            </a:r>
          </a:p>
          <a:p>
            <a:pPr marL="971550" lvl="1">
              <a:defRPr/>
            </a:pPr>
            <a:endParaRPr lang="pt-BR" sz="1050" b="1" dirty="0">
              <a:solidFill>
                <a:srgbClr val="6E6259"/>
              </a:solidFill>
              <a:latin typeface="Gill Sans Std Light" pitchFamily="34" charset="0"/>
            </a:endParaRPr>
          </a:p>
          <a:p>
            <a:pPr marL="1657350" lvl="2" indent="-228600">
              <a:buFont typeface="+mj-lt"/>
              <a:buAutoNum type="alphaLcParenR" startAt="2"/>
              <a:defRPr/>
            </a:pPr>
            <a:r>
              <a:rPr lang="pt-BR" sz="1050" b="1" dirty="0" smtClean="0">
                <a:solidFill>
                  <a:srgbClr val="6E6259"/>
                </a:solidFill>
                <a:latin typeface="Gill Sans Std Light" pitchFamily="34" charset="0"/>
              </a:rPr>
              <a:t>Padronização de Nome de Grupo</a:t>
            </a:r>
            <a:endParaRPr lang="pt-BR" sz="1050" b="1" dirty="0">
              <a:solidFill>
                <a:srgbClr val="6E6259"/>
              </a:solidFill>
              <a:latin typeface="Gill Sans Std Light" pitchFamily="34" charset="0"/>
            </a:endParaRPr>
          </a:p>
          <a:p>
            <a:pPr marL="971550" lvl="1">
              <a:defRPr/>
            </a:pPr>
            <a:r>
              <a:rPr lang="pt-BR" sz="1050" b="1" dirty="0" smtClean="0">
                <a:solidFill>
                  <a:srgbClr val="6E6259"/>
                </a:solidFill>
                <a:latin typeface="Gill Sans Std Light" pitchFamily="34" charset="0"/>
              </a:rPr>
              <a:t>Os grupos devem seguir um padrão, para facilitar a visualização e gestão. Abaixo estrutura e exemplos de grupos:</a:t>
            </a:r>
          </a:p>
          <a:p>
            <a:pPr marL="971550" lvl="1">
              <a:defRPr/>
            </a:pPr>
            <a:endParaRPr lang="pt-BR" sz="1050" b="1" dirty="0">
              <a:solidFill>
                <a:srgbClr val="6E6259"/>
              </a:solidFill>
              <a:latin typeface="Gill Sans Std Light" pitchFamily="34" charset="0"/>
            </a:endParaRPr>
          </a:p>
          <a:p>
            <a:pPr marL="971550" lvl="1">
              <a:defRPr/>
            </a:pPr>
            <a:r>
              <a:rPr lang="pt-BR" sz="1050" b="1" u="sng" dirty="0" smtClean="0">
                <a:solidFill>
                  <a:srgbClr val="6E6259"/>
                </a:solidFill>
                <a:latin typeface="Gill Sans Std Light" pitchFamily="34" charset="0"/>
              </a:rPr>
              <a:t>Incidente e Requisição:</a:t>
            </a:r>
            <a:endParaRPr lang="pt-BR" sz="1050" b="1" u="sng" dirty="0">
              <a:solidFill>
                <a:srgbClr val="6E6259"/>
              </a:solidFill>
              <a:latin typeface="Gill Sans Std Light" pitchFamily="34" charset="0"/>
            </a:endParaRPr>
          </a:p>
          <a:p>
            <a:pPr marL="971550" lvl="1">
              <a:defRPr/>
            </a:pPr>
            <a:r>
              <a:rPr lang="pt-BR" sz="1050" b="1" dirty="0" smtClean="0">
                <a:solidFill>
                  <a:srgbClr val="6E6259"/>
                </a:solidFill>
                <a:latin typeface="Gill Sans Std Light" pitchFamily="34" charset="0"/>
              </a:rPr>
              <a:t>Regra: TD-[sigla do grupo ou sigla do fornecedor]-[Sigla do Serviço Macro]-[SS para sustentação ou PS para projetos]</a:t>
            </a:r>
            <a:br>
              <a:rPr lang="pt-BR" sz="1050" b="1" dirty="0" smtClean="0">
                <a:solidFill>
                  <a:srgbClr val="6E6259"/>
                </a:solidFill>
                <a:latin typeface="Gill Sans Std Light" pitchFamily="34" charset="0"/>
              </a:rPr>
            </a:br>
            <a:r>
              <a:rPr lang="pt-BR" sz="1050" b="1" dirty="0" smtClean="0">
                <a:solidFill>
                  <a:srgbClr val="6E6259"/>
                </a:solidFill>
                <a:latin typeface="Gill Sans Std Light" pitchFamily="34" charset="0"/>
              </a:rPr>
              <a:t>Exemplo 1: TD-ACCT-MKT-SS</a:t>
            </a:r>
          </a:p>
          <a:p>
            <a:pPr marL="971550" lvl="1">
              <a:defRPr/>
            </a:pPr>
            <a:r>
              <a:rPr lang="pt-BR" sz="1050" b="1" dirty="0">
                <a:solidFill>
                  <a:srgbClr val="6E6259"/>
                </a:solidFill>
                <a:latin typeface="Gill Sans Std Light" pitchFamily="34" charset="0"/>
              </a:rPr>
              <a:t>Exemplo </a:t>
            </a:r>
            <a:r>
              <a:rPr lang="pt-BR" sz="1050" b="1" dirty="0" smtClean="0">
                <a:solidFill>
                  <a:srgbClr val="6E6259"/>
                </a:solidFill>
                <a:latin typeface="Gill Sans Std Light" pitchFamily="34" charset="0"/>
              </a:rPr>
              <a:t>2: TD-SD-SUPORTNET</a:t>
            </a:r>
          </a:p>
          <a:p>
            <a:pPr marL="971550" lvl="1">
              <a:defRPr/>
            </a:pPr>
            <a:r>
              <a:rPr lang="pt-BR" sz="1050" b="1" dirty="0" smtClean="0">
                <a:solidFill>
                  <a:srgbClr val="6E6259"/>
                </a:solidFill>
                <a:latin typeface="Gill Sans Std Light" pitchFamily="34" charset="0"/>
              </a:rPr>
              <a:t>Exemplo 3: TD-SAN STORAGE-NIVEL1</a:t>
            </a:r>
          </a:p>
          <a:p>
            <a:pPr marL="971550" lvl="1">
              <a:defRPr/>
            </a:pPr>
            <a:endParaRPr lang="pt-BR" sz="1050" b="1" dirty="0">
              <a:solidFill>
                <a:srgbClr val="6E6259"/>
              </a:solidFill>
              <a:latin typeface="Gill Sans Std Light" pitchFamily="34" charset="0"/>
            </a:endParaRPr>
          </a:p>
          <a:p>
            <a:pPr marL="971550" lvl="1">
              <a:defRPr/>
            </a:pPr>
            <a:r>
              <a:rPr lang="pt-BR" sz="1050" b="1" u="sng" dirty="0" smtClean="0">
                <a:solidFill>
                  <a:srgbClr val="6E6259"/>
                </a:solidFill>
                <a:latin typeface="Gill Sans Std Light" pitchFamily="34" charset="0"/>
              </a:rPr>
              <a:t>Mudança:</a:t>
            </a:r>
            <a:r>
              <a:rPr lang="pt-BR" sz="1050" b="1" dirty="0" smtClean="0">
                <a:solidFill>
                  <a:srgbClr val="6E6259"/>
                </a:solidFill>
                <a:latin typeface="Gill Sans Std Light" pitchFamily="34" charset="0"/>
              </a:rPr>
              <a:t/>
            </a:r>
            <a:br>
              <a:rPr lang="pt-BR" sz="1050" b="1" dirty="0" smtClean="0">
                <a:solidFill>
                  <a:srgbClr val="6E6259"/>
                </a:solidFill>
                <a:latin typeface="Gill Sans Std Light" pitchFamily="34" charset="0"/>
              </a:rPr>
            </a:br>
            <a:r>
              <a:rPr lang="pt-BR" sz="1050" b="1" dirty="0" smtClean="0">
                <a:solidFill>
                  <a:srgbClr val="6E6259"/>
                </a:solidFill>
                <a:latin typeface="Gill Sans Std Light" pitchFamily="34" charset="0"/>
              </a:rPr>
              <a:t>Regra: TD-[EXEC ou APROV]-[Sigla da equipe ou função]-[Sigla da equipe ou função]-</a:t>
            </a:r>
            <a:r>
              <a:rPr lang="pt-BR" sz="1050" b="1" dirty="0">
                <a:solidFill>
                  <a:srgbClr val="6E6259"/>
                </a:solidFill>
                <a:latin typeface="Gill Sans Std Light" pitchFamily="34" charset="0"/>
              </a:rPr>
              <a:t>[Sigla da equipe ou função]-</a:t>
            </a:r>
            <a:r>
              <a:rPr lang="pt-BR" sz="1050" b="1" dirty="0" smtClean="0">
                <a:solidFill>
                  <a:srgbClr val="6E6259"/>
                </a:solidFill>
                <a:latin typeface="Gill Sans Std Light" pitchFamily="34" charset="0"/>
              </a:rPr>
              <a:t/>
            </a:r>
            <a:br>
              <a:rPr lang="pt-BR" sz="1050" b="1" dirty="0" smtClean="0">
                <a:solidFill>
                  <a:srgbClr val="6E6259"/>
                </a:solidFill>
                <a:latin typeface="Gill Sans Std Light" pitchFamily="34" charset="0"/>
              </a:rPr>
            </a:br>
            <a:r>
              <a:rPr lang="pt-BR" sz="1050" b="1" dirty="0" smtClean="0">
                <a:solidFill>
                  <a:srgbClr val="6E6259"/>
                </a:solidFill>
                <a:latin typeface="Gill Sans Std Light" pitchFamily="34" charset="0"/>
              </a:rPr>
              <a:t>Exemplo 1: TD_EXEC_GIB_GSS_STO_BKP</a:t>
            </a:r>
            <a:endParaRPr lang="pt-BR" sz="1050" b="1" dirty="0">
              <a:solidFill>
                <a:srgbClr val="6E6259"/>
              </a:solidFill>
              <a:latin typeface="Gill Sans Std Light" pitchFamily="34" charset="0"/>
            </a:endParaRPr>
          </a:p>
          <a:p>
            <a:pPr marL="971550" lvl="1">
              <a:defRPr/>
            </a:pPr>
            <a:r>
              <a:rPr lang="pt-BR" sz="1050" b="1" dirty="0" smtClean="0">
                <a:solidFill>
                  <a:srgbClr val="6E6259"/>
                </a:solidFill>
                <a:latin typeface="Gill Sans Std Light" pitchFamily="34" charset="0"/>
              </a:rPr>
              <a:t>Exemplo </a:t>
            </a:r>
            <a:r>
              <a:rPr lang="pt-BR" sz="1050" b="1" dirty="0">
                <a:solidFill>
                  <a:srgbClr val="6E6259"/>
                </a:solidFill>
                <a:latin typeface="Gill Sans Std Light" pitchFamily="34" charset="0"/>
              </a:rPr>
              <a:t>2: TD_EXEC_GIB_GSS_UNIX</a:t>
            </a:r>
          </a:p>
          <a:p>
            <a:pPr marL="971550" lvl="1">
              <a:defRPr/>
            </a:pPr>
            <a:r>
              <a:rPr lang="pt-BR" sz="1050" b="1" dirty="0" smtClean="0">
                <a:solidFill>
                  <a:srgbClr val="6E6259"/>
                </a:solidFill>
                <a:latin typeface="Gill Sans Std Light" pitchFamily="34" charset="0"/>
              </a:rPr>
              <a:t>Exemplo </a:t>
            </a:r>
            <a:r>
              <a:rPr lang="pt-BR" sz="1050" b="1" dirty="0">
                <a:solidFill>
                  <a:srgbClr val="6E6259"/>
                </a:solidFill>
                <a:latin typeface="Gill Sans Std Light" pitchFamily="34" charset="0"/>
              </a:rPr>
              <a:t>3: TD_APROV_SUSTENTAÇÃO </a:t>
            </a:r>
            <a:r>
              <a:rPr lang="pt-BR" sz="1050" b="1" dirty="0" smtClean="0">
                <a:solidFill>
                  <a:srgbClr val="6E6259"/>
                </a:solidFill>
                <a:latin typeface="Gill Sans Std Light" pitchFamily="34" charset="0"/>
              </a:rPr>
              <a:t>APLICAÇÕES</a:t>
            </a:r>
          </a:p>
          <a:p>
            <a:pPr marL="971550" lvl="1">
              <a:defRPr/>
            </a:pPr>
            <a:endParaRPr lang="pt-BR" sz="1050" b="1" dirty="0">
              <a:solidFill>
                <a:srgbClr val="6E6259"/>
              </a:solidFill>
              <a:latin typeface="Gill Sans Std Light" pitchFamily="34" charset="0"/>
            </a:endParaRPr>
          </a:p>
          <a:p>
            <a:pPr marL="971550" lvl="1">
              <a:defRPr/>
            </a:pPr>
            <a:r>
              <a:rPr lang="pt-BR" sz="1050" b="1" u="sng" dirty="0" smtClean="0">
                <a:solidFill>
                  <a:srgbClr val="6E6259"/>
                </a:solidFill>
                <a:latin typeface="Gill Sans Std Light" pitchFamily="34" charset="0"/>
              </a:rPr>
              <a:t>Problema:</a:t>
            </a:r>
          </a:p>
          <a:p>
            <a:pPr marL="971550" lvl="1">
              <a:defRPr/>
            </a:pPr>
            <a:r>
              <a:rPr lang="pt-BR" sz="1050" b="1" i="1" dirty="0">
                <a:solidFill>
                  <a:srgbClr val="6E6259"/>
                </a:solidFill>
                <a:latin typeface="Gill Sans Std Light" pitchFamily="34" charset="0"/>
              </a:rPr>
              <a:t>Os grupos de Problema devem seguir a mesma regra de </a:t>
            </a:r>
            <a:r>
              <a:rPr lang="pt-BR" sz="1050" b="1" i="1" dirty="0" smtClean="0">
                <a:solidFill>
                  <a:srgbClr val="6E6259"/>
                </a:solidFill>
                <a:latin typeface="Gill Sans Std Light" pitchFamily="34" charset="0"/>
              </a:rPr>
              <a:t>Mudança</a:t>
            </a:r>
            <a:endParaRPr lang="pt-BR" sz="1050" b="1" i="1" dirty="0">
              <a:solidFill>
                <a:srgbClr val="6E6259"/>
              </a:solidFill>
              <a:latin typeface="Gill Sans Std Light" pitchFamily="34" charset="0"/>
            </a:endParaRPr>
          </a:p>
        </p:txBody>
      </p:sp>
    </p:spTree>
    <p:extLst>
      <p:ext uri="{BB962C8B-B14F-4D97-AF65-F5344CB8AC3E}">
        <p14:creationId xmlns:p14="http://schemas.microsoft.com/office/powerpoint/2010/main" val="15255616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0" y="0"/>
            <a:ext cx="9144000" cy="646331"/>
          </a:xfrm>
          <a:prstGeom prst="rect">
            <a:avLst/>
          </a:prstGeom>
          <a:solidFill>
            <a:schemeClr val="accent6"/>
          </a:solidFill>
        </p:spPr>
        <p:txBody>
          <a:bodyPr wrap="square" rtlCol="0">
            <a:spAutoFit/>
          </a:bodyPr>
          <a:lstStyle/>
          <a:p>
            <a:r>
              <a:rPr lang="pt-BR" b="1" dirty="0" smtClean="0">
                <a:solidFill>
                  <a:schemeClr val="bg1"/>
                </a:solidFill>
                <a:effectLst>
                  <a:outerShdw blurRad="38100" dist="38100" dir="2700000" algn="tl">
                    <a:srgbClr val="000000">
                      <a:alpha val="43137"/>
                    </a:srgbClr>
                  </a:outerShdw>
                </a:effectLst>
                <a:latin typeface="Gill Sans Std ExtraBold" pitchFamily="34" charset="0"/>
              </a:rPr>
              <a:t>Gestão de Chamados</a:t>
            </a:r>
          </a:p>
          <a:p>
            <a:pPr marL="0" lvl="1"/>
            <a:r>
              <a:rPr lang="pt-BR" b="1" dirty="0" smtClean="0">
                <a:solidFill>
                  <a:schemeClr val="bg1"/>
                </a:solidFill>
                <a:effectLst>
                  <a:outerShdw blurRad="38100" dist="38100" dir="2700000" algn="tl">
                    <a:srgbClr val="000000">
                      <a:alpha val="43137"/>
                    </a:srgbClr>
                  </a:outerShdw>
                </a:effectLst>
                <a:latin typeface="Gill Sans Std Light" pitchFamily="34" charset="0"/>
              </a:rPr>
              <a:t>2. Gestão </a:t>
            </a:r>
            <a:r>
              <a:rPr lang="pt-BR" b="1" dirty="0">
                <a:solidFill>
                  <a:schemeClr val="bg1"/>
                </a:solidFill>
                <a:effectLst>
                  <a:outerShdw blurRad="38100" dist="38100" dir="2700000" algn="tl">
                    <a:srgbClr val="000000">
                      <a:alpha val="43137"/>
                    </a:srgbClr>
                  </a:outerShdw>
                </a:effectLst>
                <a:latin typeface="Gill Sans Std Light" pitchFamily="34" charset="0"/>
              </a:rPr>
              <a:t>de Grupos </a:t>
            </a:r>
            <a:r>
              <a:rPr lang="pt-BR" b="1" dirty="0" smtClean="0">
                <a:solidFill>
                  <a:schemeClr val="bg1"/>
                </a:solidFill>
                <a:effectLst>
                  <a:outerShdw blurRad="38100" dist="38100" dir="2700000" algn="tl">
                    <a:srgbClr val="000000">
                      <a:alpha val="43137"/>
                    </a:srgbClr>
                  </a:outerShdw>
                </a:effectLst>
                <a:latin typeface="Gill Sans Std Light" pitchFamily="34" charset="0"/>
              </a:rPr>
              <a:t>de resolução </a:t>
            </a:r>
            <a:r>
              <a:rPr lang="pt-BR" b="1" dirty="0">
                <a:solidFill>
                  <a:schemeClr val="bg1"/>
                </a:solidFill>
                <a:effectLst>
                  <a:outerShdw blurRad="38100" dist="38100" dir="2700000" algn="tl">
                    <a:srgbClr val="000000">
                      <a:alpha val="43137"/>
                    </a:srgbClr>
                  </a:outerShdw>
                </a:effectLst>
                <a:latin typeface="Gill Sans Std Light" pitchFamily="34" charset="0"/>
              </a:rPr>
              <a:t>de </a:t>
            </a:r>
            <a:r>
              <a:rPr lang="pt-BR" b="1" dirty="0" smtClean="0">
                <a:solidFill>
                  <a:schemeClr val="bg1"/>
                </a:solidFill>
                <a:effectLst>
                  <a:outerShdw blurRad="38100" dist="38100" dir="2700000" algn="tl">
                    <a:srgbClr val="000000">
                      <a:alpha val="43137"/>
                    </a:srgbClr>
                  </a:outerShdw>
                </a:effectLst>
                <a:latin typeface="Gill Sans Std Light" pitchFamily="34" charset="0"/>
              </a:rPr>
              <a:t>chamados - </a:t>
            </a:r>
            <a:r>
              <a:rPr lang="pt-BR" b="1" dirty="0">
                <a:solidFill>
                  <a:schemeClr val="bg1"/>
                </a:solidFill>
                <a:effectLst>
                  <a:outerShdw blurRad="38100" dist="38100" dir="2700000" algn="tl">
                    <a:srgbClr val="000000">
                      <a:alpha val="43137"/>
                    </a:srgbClr>
                  </a:outerShdw>
                </a:effectLst>
                <a:latin typeface="Gill Sans Std Light" pitchFamily="34" charset="0"/>
              </a:rPr>
              <a:t>Processo de Solicitação de Serviço</a:t>
            </a:r>
          </a:p>
        </p:txBody>
      </p:sp>
      <p:pic>
        <p:nvPicPr>
          <p:cNvPr id="14" name="Picture 8" descr="NAT_marca_branca_natura-01.png"/>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432" y="19878"/>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aixaDeTexto 4"/>
          <p:cNvSpPr txBox="1">
            <a:spLocks noChangeArrowheads="1"/>
          </p:cNvSpPr>
          <p:nvPr/>
        </p:nvSpPr>
        <p:spPr bwMode="auto">
          <a:xfrm>
            <a:off x="107504" y="700336"/>
            <a:ext cx="8856984" cy="423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45143" tIns="72571" rIns="145143" bIns="72571">
            <a:spAutoFit/>
          </a:bodyPr>
          <a:lstStyle>
            <a:lvl1pPr eaLnBrk="0" hangingPunct="0">
              <a:defRPr sz="3700">
                <a:solidFill>
                  <a:srgbClr val="000000"/>
                </a:solidFill>
                <a:latin typeface="Gill Sans"/>
                <a:ea typeface="ヒラギノ角ゴ ProN W3" charset="-128"/>
                <a:sym typeface="Gill Sans"/>
              </a:defRPr>
            </a:lvl1pPr>
            <a:lvl2pPr marL="742950" indent="-285750" eaLnBrk="0" hangingPunct="0">
              <a:defRPr sz="3700">
                <a:solidFill>
                  <a:srgbClr val="000000"/>
                </a:solidFill>
                <a:latin typeface="Gill Sans"/>
                <a:ea typeface="ヒラギノ角ゴ ProN W3" charset="-128"/>
                <a:sym typeface="Gill Sans"/>
              </a:defRPr>
            </a:lvl2pPr>
            <a:lvl3pPr marL="1143000" indent="-228600" eaLnBrk="0" hangingPunct="0">
              <a:defRPr sz="3700">
                <a:solidFill>
                  <a:srgbClr val="000000"/>
                </a:solidFill>
                <a:latin typeface="Gill Sans"/>
                <a:ea typeface="ヒラギノ角ゴ ProN W3" charset="-128"/>
                <a:sym typeface="Gill Sans"/>
              </a:defRPr>
            </a:lvl3pPr>
            <a:lvl4pPr marL="1600200" indent="-228600" eaLnBrk="0" hangingPunct="0">
              <a:defRPr sz="3700">
                <a:solidFill>
                  <a:srgbClr val="000000"/>
                </a:solidFill>
                <a:latin typeface="Gill Sans"/>
                <a:ea typeface="ヒラギノ角ゴ ProN W3" charset="-128"/>
                <a:sym typeface="Gill Sans"/>
              </a:defRPr>
            </a:lvl4pPr>
            <a:lvl5pPr marL="2057400" indent="-228600" eaLnBrk="0" hangingPunct="0">
              <a:defRPr sz="3700">
                <a:solidFill>
                  <a:srgbClr val="000000"/>
                </a:solidFill>
                <a:latin typeface="Gill Sans"/>
                <a:ea typeface="ヒラギノ角ゴ ProN W3" charset="-128"/>
                <a:sym typeface="Gill Sans"/>
              </a:defRPr>
            </a:lvl5pPr>
            <a:lvl6pPr marL="2514600" indent="-228600" eaLnBrk="0" fontAlgn="base" hangingPunct="0">
              <a:spcBef>
                <a:spcPct val="0"/>
              </a:spcBef>
              <a:spcAft>
                <a:spcPct val="0"/>
              </a:spcAft>
              <a:defRPr sz="3700">
                <a:solidFill>
                  <a:srgbClr val="000000"/>
                </a:solidFill>
                <a:latin typeface="Gill Sans"/>
                <a:ea typeface="ヒラギノ角ゴ ProN W3" charset="-128"/>
                <a:sym typeface="Gill Sans"/>
              </a:defRPr>
            </a:lvl6pPr>
            <a:lvl7pPr marL="2971800" indent="-228600" eaLnBrk="0" fontAlgn="base" hangingPunct="0">
              <a:spcBef>
                <a:spcPct val="0"/>
              </a:spcBef>
              <a:spcAft>
                <a:spcPct val="0"/>
              </a:spcAft>
              <a:defRPr sz="3700">
                <a:solidFill>
                  <a:srgbClr val="000000"/>
                </a:solidFill>
                <a:latin typeface="Gill Sans"/>
                <a:ea typeface="ヒラギノ角ゴ ProN W3" charset="-128"/>
                <a:sym typeface="Gill Sans"/>
              </a:defRPr>
            </a:lvl7pPr>
            <a:lvl8pPr marL="3429000" indent="-228600" eaLnBrk="0" fontAlgn="base" hangingPunct="0">
              <a:spcBef>
                <a:spcPct val="0"/>
              </a:spcBef>
              <a:spcAft>
                <a:spcPct val="0"/>
              </a:spcAft>
              <a:defRPr sz="3700">
                <a:solidFill>
                  <a:srgbClr val="000000"/>
                </a:solidFill>
                <a:latin typeface="Gill Sans"/>
                <a:ea typeface="ヒラギノ角ゴ ProN W3" charset="-128"/>
                <a:sym typeface="Gill Sans"/>
              </a:defRPr>
            </a:lvl8pPr>
            <a:lvl9pPr marL="3886200" indent="-228600" eaLnBrk="0" fontAlgn="base" hangingPunct="0">
              <a:spcBef>
                <a:spcPct val="0"/>
              </a:spcBef>
              <a:spcAft>
                <a:spcPct val="0"/>
              </a:spcAft>
              <a:defRPr sz="3700">
                <a:solidFill>
                  <a:srgbClr val="000000"/>
                </a:solidFill>
                <a:latin typeface="Gill Sans"/>
                <a:ea typeface="ヒラギノ角ゴ ProN W3" charset="-128"/>
                <a:sym typeface="Gill Sans"/>
              </a:defRPr>
            </a:lvl9pPr>
          </a:lstStyle>
          <a:p>
            <a:pPr marL="914400" lvl="1" indent="-171450" eaLnBrk="1" hangingPunct="1">
              <a:buFont typeface="Arial" pitchFamily="34" charset="0"/>
              <a:buChar char="•"/>
              <a:defRPr/>
            </a:pPr>
            <a:endParaRPr lang="pt-BR" sz="900" b="1" dirty="0">
              <a:solidFill>
                <a:srgbClr val="6E6259"/>
              </a:solidFill>
              <a:latin typeface="Gill Sans Std Light" pitchFamily="34" charset="0"/>
              <a:ea typeface="+mn-ea"/>
            </a:endParaRPr>
          </a:p>
          <a:p>
            <a:pPr marL="171450" lvl="0" indent="-171450" eaLnBrk="1" hangingPunct="1">
              <a:buFont typeface="Arial" pitchFamily="34" charset="0"/>
              <a:buChar char="•"/>
              <a:defRPr/>
            </a:pPr>
            <a:endParaRPr lang="pt-BR" sz="900" b="1" dirty="0">
              <a:solidFill>
                <a:srgbClr val="6E6259"/>
              </a:solidFill>
              <a:latin typeface="Gill Sans Std Light" pitchFamily="34" charset="0"/>
              <a:ea typeface="+mn-ea"/>
            </a:endParaRPr>
          </a:p>
        </p:txBody>
      </p:sp>
      <p:sp>
        <p:nvSpPr>
          <p:cNvPr id="2" name="Retângulo 1"/>
          <p:cNvSpPr/>
          <p:nvPr/>
        </p:nvSpPr>
        <p:spPr>
          <a:xfrm>
            <a:off x="251520" y="844352"/>
            <a:ext cx="8496912" cy="3046988"/>
          </a:xfrm>
          <a:prstGeom prst="rect">
            <a:avLst/>
          </a:prstGeom>
        </p:spPr>
        <p:txBody>
          <a:bodyPr wrap="square">
            <a:spAutoFit/>
          </a:bodyPr>
          <a:lstStyle/>
          <a:p>
            <a:pPr marL="285750" indent="-228600">
              <a:buFont typeface="+mj-lt"/>
              <a:buAutoNum type="arabicPeriod" startAt="2"/>
              <a:defRPr/>
            </a:pPr>
            <a:r>
              <a:rPr lang="pt-BR" sz="1050" b="1" dirty="0">
                <a:solidFill>
                  <a:srgbClr val="6E6259"/>
                </a:solidFill>
                <a:latin typeface="Gill Sans Std Light" pitchFamily="34" charset="0"/>
              </a:rPr>
              <a:t>Processo de Solicitação de Serviço</a:t>
            </a:r>
          </a:p>
          <a:p>
            <a:pPr marL="971550" lvl="1" indent="-228600">
              <a:buFont typeface="+mj-lt"/>
              <a:buAutoNum type="alphaLcPeriod"/>
              <a:defRPr/>
            </a:pPr>
            <a:r>
              <a:rPr lang="pt-BR" sz="1050" b="1" dirty="0" smtClean="0">
                <a:solidFill>
                  <a:srgbClr val="6E6259"/>
                </a:solidFill>
                <a:latin typeface="Gill Sans Std Light" pitchFamily="34" charset="0"/>
              </a:rPr>
              <a:t>Criação de Grupo </a:t>
            </a:r>
            <a:r>
              <a:rPr lang="pt-BR" sz="1000" b="1" dirty="0" smtClean="0">
                <a:solidFill>
                  <a:srgbClr val="6E6259"/>
                </a:solidFill>
                <a:latin typeface="Gill Sans Std Light" pitchFamily="34" charset="0"/>
              </a:rPr>
              <a:t>– </a:t>
            </a:r>
            <a:r>
              <a:rPr lang="pt-BR" sz="1000" b="1" u="sng" dirty="0">
                <a:solidFill>
                  <a:srgbClr val="FF0000"/>
                </a:solidFill>
                <a:latin typeface="Gill Sans Std Light" pitchFamily="34" charset="0"/>
              </a:rPr>
              <a:t>LINK TEMPLATE </a:t>
            </a:r>
            <a:br>
              <a:rPr lang="pt-BR" sz="1000" b="1" u="sng" dirty="0">
                <a:solidFill>
                  <a:srgbClr val="FF0000"/>
                </a:solidFill>
                <a:latin typeface="Gill Sans Std Light" pitchFamily="34" charset="0"/>
              </a:rPr>
            </a:br>
            <a:r>
              <a:rPr lang="pt-BR" sz="1000" b="1" dirty="0">
                <a:solidFill>
                  <a:srgbClr val="6E6259"/>
                </a:solidFill>
                <a:latin typeface="Gill Sans Std Light" pitchFamily="34" charset="0"/>
                <a:sym typeface="Gill Sans"/>
              </a:rPr>
              <a:t>SLA de Solicitação </a:t>
            </a:r>
            <a:r>
              <a:rPr lang="pt-BR" sz="1000" b="1" dirty="0" smtClean="0">
                <a:solidFill>
                  <a:srgbClr val="6E6259"/>
                </a:solidFill>
                <a:latin typeface="Gill Sans Std Light" pitchFamily="34" charset="0"/>
                <a:sym typeface="Gill Sans"/>
              </a:rPr>
              <a:t>Criação: </a:t>
            </a:r>
            <a:r>
              <a:rPr lang="pt-BR" sz="1000" b="1" dirty="0">
                <a:solidFill>
                  <a:srgbClr val="6E6259"/>
                </a:solidFill>
                <a:latin typeface="Gill Sans Std Light" pitchFamily="34" charset="0"/>
                <a:sym typeface="Gill Sans"/>
              </a:rPr>
              <a:t>16h</a:t>
            </a:r>
            <a:r>
              <a:rPr lang="pt-BR" sz="1000" b="1" dirty="0" smtClean="0">
                <a:solidFill>
                  <a:srgbClr val="00B804"/>
                </a:solidFill>
                <a:latin typeface="Gill Sans Std Light" pitchFamily="34" charset="0"/>
                <a:sym typeface="Gill Sans"/>
              </a:rPr>
              <a:t> </a:t>
            </a:r>
            <a:r>
              <a:rPr lang="pt-BR" sz="1000" b="1" dirty="0">
                <a:solidFill>
                  <a:srgbClr val="6E6259"/>
                </a:solidFill>
                <a:latin typeface="Gill Sans Std Light" pitchFamily="34" charset="0"/>
                <a:sym typeface="Gill Sans"/>
              </a:rPr>
              <a:t>úteis</a:t>
            </a:r>
          </a:p>
          <a:p>
            <a:pPr marL="971550" lvl="1" indent="-228600">
              <a:buFont typeface="+mj-lt"/>
              <a:buAutoNum type="alphaLcPeriod"/>
              <a:defRPr/>
            </a:pPr>
            <a:endParaRPr lang="pt-BR" sz="1000" b="1" u="sng" dirty="0">
              <a:solidFill>
                <a:srgbClr val="FF0000"/>
              </a:solidFill>
              <a:latin typeface="Gill Sans Std Light" pitchFamily="34" charset="0"/>
            </a:endParaRPr>
          </a:p>
          <a:p>
            <a:pPr marL="971550" lvl="1" indent="-228600">
              <a:buFont typeface="+mj-lt"/>
              <a:buAutoNum type="alphaLcPeriod"/>
              <a:defRPr/>
            </a:pPr>
            <a:r>
              <a:rPr lang="pt-BR" sz="1000" b="1" dirty="0" smtClean="0">
                <a:solidFill>
                  <a:srgbClr val="6E6259"/>
                </a:solidFill>
                <a:latin typeface="Gill Sans Std Light" pitchFamily="34" charset="0"/>
              </a:rPr>
              <a:t>Modificação de Grupo</a:t>
            </a:r>
            <a:br>
              <a:rPr lang="pt-BR" sz="1000" b="1" dirty="0" smtClean="0">
                <a:solidFill>
                  <a:srgbClr val="6E6259"/>
                </a:solidFill>
                <a:latin typeface="Gill Sans Std Light" pitchFamily="34" charset="0"/>
              </a:rPr>
            </a:br>
            <a:r>
              <a:rPr lang="pt-BR" sz="1000" b="1" dirty="0">
                <a:solidFill>
                  <a:srgbClr val="6E6259"/>
                </a:solidFill>
                <a:latin typeface="Gill Sans Std Light" pitchFamily="34" charset="0"/>
                <a:sym typeface="Gill Sans"/>
              </a:rPr>
              <a:t>SLA de Solicitação </a:t>
            </a:r>
            <a:r>
              <a:rPr lang="pt-BR" sz="1000" b="1" dirty="0" smtClean="0">
                <a:solidFill>
                  <a:srgbClr val="6E6259"/>
                </a:solidFill>
                <a:latin typeface="Gill Sans Std Light" pitchFamily="34" charset="0"/>
                <a:sym typeface="Gill Sans"/>
              </a:rPr>
              <a:t>de Modificação: </a:t>
            </a:r>
            <a:r>
              <a:rPr lang="pt-BR" sz="1000" b="1" dirty="0">
                <a:solidFill>
                  <a:srgbClr val="6E6259"/>
                </a:solidFill>
                <a:latin typeface="Gill Sans Std Light" pitchFamily="34" charset="0"/>
                <a:sym typeface="Gill Sans"/>
              </a:rPr>
              <a:t>16h</a:t>
            </a:r>
            <a:r>
              <a:rPr lang="pt-BR" sz="1000" b="1" dirty="0" smtClean="0">
                <a:solidFill>
                  <a:srgbClr val="00B804"/>
                </a:solidFill>
                <a:latin typeface="Gill Sans Std Light" pitchFamily="34" charset="0"/>
                <a:sym typeface="Gill Sans"/>
              </a:rPr>
              <a:t> </a:t>
            </a:r>
            <a:r>
              <a:rPr lang="pt-BR" sz="1000" b="1" dirty="0">
                <a:solidFill>
                  <a:srgbClr val="6E6259"/>
                </a:solidFill>
                <a:latin typeface="Gill Sans Std Light" pitchFamily="34" charset="0"/>
                <a:sym typeface="Gill Sans"/>
              </a:rPr>
              <a:t>úteis</a:t>
            </a:r>
          </a:p>
          <a:p>
            <a:pPr marL="971550" lvl="1" indent="-228600">
              <a:buFont typeface="+mj-lt"/>
              <a:buAutoNum type="alphaLcPeriod"/>
              <a:defRPr/>
            </a:pPr>
            <a:endParaRPr lang="pt-BR" sz="1000" b="1" dirty="0" smtClean="0">
              <a:solidFill>
                <a:srgbClr val="6E6259"/>
              </a:solidFill>
              <a:latin typeface="Gill Sans Std Light" pitchFamily="34" charset="0"/>
            </a:endParaRPr>
          </a:p>
          <a:p>
            <a:pPr marL="971550" lvl="1" indent="-228600">
              <a:buFont typeface="+mj-lt"/>
              <a:buAutoNum type="alphaLcPeriod"/>
              <a:defRPr/>
            </a:pPr>
            <a:r>
              <a:rPr lang="pt-BR" sz="1000" b="1" dirty="0" smtClean="0">
                <a:solidFill>
                  <a:srgbClr val="6E6259"/>
                </a:solidFill>
                <a:latin typeface="Gill Sans Std Light" pitchFamily="34" charset="0"/>
              </a:rPr>
              <a:t>Inativação de Grupo</a:t>
            </a:r>
          </a:p>
          <a:p>
            <a:pPr lvl="2">
              <a:defRPr/>
            </a:pPr>
            <a:r>
              <a:rPr lang="pt-BR" sz="1000" b="1" dirty="0">
                <a:solidFill>
                  <a:srgbClr val="6E6259"/>
                </a:solidFill>
                <a:latin typeface="Gill Sans Std Light" pitchFamily="34" charset="0"/>
                <a:sym typeface="Gill Sans"/>
              </a:rPr>
              <a:t>SLA de Solicitação </a:t>
            </a:r>
            <a:r>
              <a:rPr lang="pt-BR" sz="1000" b="1" dirty="0" smtClean="0">
                <a:solidFill>
                  <a:srgbClr val="6E6259"/>
                </a:solidFill>
                <a:latin typeface="Gill Sans Std Light" pitchFamily="34" charset="0"/>
                <a:sym typeface="Gill Sans"/>
              </a:rPr>
              <a:t>de Inativação: </a:t>
            </a:r>
            <a:r>
              <a:rPr lang="pt-BR" sz="1000" b="1" dirty="0">
                <a:solidFill>
                  <a:srgbClr val="6E6259"/>
                </a:solidFill>
                <a:latin typeface="Gill Sans Std Light" pitchFamily="34" charset="0"/>
                <a:sym typeface="Gill Sans"/>
              </a:rPr>
              <a:t>16h</a:t>
            </a:r>
            <a:r>
              <a:rPr lang="pt-BR" sz="1000" b="1" dirty="0" smtClean="0">
                <a:solidFill>
                  <a:srgbClr val="00B804"/>
                </a:solidFill>
                <a:latin typeface="Gill Sans Std Light" pitchFamily="34" charset="0"/>
                <a:sym typeface="Gill Sans"/>
              </a:rPr>
              <a:t> </a:t>
            </a:r>
            <a:r>
              <a:rPr lang="pt-BR" sz="1000" b="1" dirty="0">
                <a:solidFill>
                  <a:srgbClr val="6E6259"/>
                </a:solidFill>
                <a:latin typeface="Gill Sans Std Light" pitchFamily="34" charset="0"/>
                <a:sym typeface="Gill Sans"/>
              </a:rPr>
              <a:t>úteis</a:t>
            </a:r>
          </a:p>
          <a:p>
            <a:pPr lvl="2">
              <a:defRPr/>
            </a:pPr>
            <a:endParaRPr lang="pt-BR" sz="1000" b="1" dirty="0">
              <a:solidFill>
                <a:srgbClr val="6E6259"/>
              </a:solidFill>
              <a:latin typeface="Gill Sans Std Light" pitchFamily="34" charset="0"/>
              <a:sym typeface="Gill Sans"/>
            </a:endParaRPr>
          </a:p>
          <a:p>
            <a:pPr>
              <a:defRPr/>
            </a:pPr>
            <a:r>
              <a:rPr lang="pt-BR" sz="1000" b="1" u="sng" dirty="0">
                <a:solidFill>
                  <a:srgbClr val="6E6259"/>
                </a:solidFill>
                <a:latin typeface="Gill Sans Std Light" pitchFamily="34" charset="0"/>
              </a:rPr>
              <a:t>Importante: </a:t>
            </a:r>
            <a:r>
              <a:rPr lang="pt-BR" sz="1000" b="1" dirty="0">
                <a:solidFill>
                  <a:srgbClr val="6E6259"/>
                </a:solidFill>
                <a:latin typeface="Gill Sans Std Light" pitchFamily="34" charset="0"/>
              </a:rPr>
              <a:t>Toda solicitação de </a:t>
            </a:r>
            <a:r>
              <a:rPr lang="pt-BR" sz="1000" b="1" dirty="0" smtClean="0">
                <a:solidFill>
                  <a:srgbClr val="6E6259"/>
                </a:solidFill>
                <a:latin typeface="Gill Sans Std Light" pitchFamily="34" charset="0"/>
              </a:rPr>
              <a:t>grupo (criação, modificação, inativação), </a:t>
            </a:r>
            <a:r>
              <a:rPr lang="pt-BR" sz="1000" b="1" dirty="0">
                <a:solidFill>
                  <a:srgbClr val="6E6259"/>
                </a:solidFill>
                <a:latin typeface="Gill Sans Std Light" pitchFamily="34" charset="0"/>
              </a:rPr>
              <a:t>passará por uma validação funcional feita pelo Service Desk e Governança </a:t>
            </a:r>
            <a:r>
              <a:rPr lang="pt-BR" sz="1000" b="1" dirty="0" smtClean="0">
                <a:solidFill>
                  <a:srgbClr val="6E6259"/>
                </a:solidFill>
                <a:latin typeface="Gill Sans Std Light" pitchFamily="34" charset="0"/>
              </a:rPr>
              <a:t>antes </a:t>
            </a:r>
            <a:r>
              <a:rPr lang="pt-BR" sz="1000" b="1" dirty="0">
                <a:solidFill>
                  <a:srgbClr val="6E6259"/>
                </a:solidFill>
                <a:latin typeface="Gill Sans Std Light" pitchFamily="34" charset="0"/>
              </a:rPr>
              <a:t>de ser atendida pela equipe de ferramentas. </a:t>
            </a:r>
            <a:r>
              <a:rPr lang="pt-BR" sz="1000" b="1" dirty="0" smtClean="0">
                <a:solidFill>
                  <a:srgbClr val="6E6259"/>
                </a:solidFill>
                <a:latin typeface="Gill Sans Std Light" pitchFamily="34" charset="0"/>
              </a:rPr>
              <a:t>Isso </a:t>
            </a:r>
            <a:r>
              <a:rPr lang="pt-BR" sz="1000" b="1" dirty="0">
                <a:solidFill>
                  <a:srgbClr val="6E6259"/>
                </a:solidFill>
                <a:latin typeface="Gill Sans Std Light" pitchFamily="34" charset="0"/>
              </a:rPr>
              <a:t>se faz necessário para que exista padronização e que aspectos de qualidade sejam </a:t>
            </a:r>
            <a:r>
              <a:rPr lang="pt-BR" sz="1000" b="1" dirty="0" smtClean="0">
                <a:solidFill>
                  <a:srgbClr val="6E6259"/>
                </a:solidFill>
                <a:latin typeface="Gill Sans Std Light" pitchFamily="34" charset="0"/>
              </a:rPr>
              <a:t>observados, como por exemplo a atualização do processo de escalonamento hierárquico do Service Desk. </a:t>
            </a:r>
          </a:p>
          <a:p>
            <a:pPr>
              <a:defRPr/>
            </a:pPr>
            <a:r>
              <a:rPr lang="pt-BR" sz="1000" b="1" dirty="0" smtClean="0">
                <a:solidFill>
                  <a:srgbClr val="6E6259"/>
                </a:solidFill>
                <a:latin typeface="Gill Sans Std Light" pitchFamily="34" charset="0"/>
              </a:rPr>
              <a:t>O </a:t>
            </a:r>
            <a:r>
              <a:rPr lang="pt-BR" sz="1000" b="1" dirty="0">
                <a:solidFill>
                  <a:srgbClr val="6E6259"/>
                </a:solidFill>
                <a:latin typeface="Gill Sans Std Light" pitchFamily="34" charset="0"/>
              </a:rPr>
              <a:t>SLA do workflow, considerando as duas aprovações é de 24 horas úteis, considerando uma cobertura de Segunda a Sexta das 08:00 as 17:00</a:t>
            </a:r>
            <a:r>
              <a:rPr lang="pt-BR" sz="1000" b="1" dirty="0" smtClean="0">
                <a:solidFill>
                  <a:srgbClr val="6E6259"/>
                </a:solidFill>
                <a:latin typeface="Gill Sans Std Light" pitchFamily="34" charset="0"/>
              </a:rPr>
              <a:t>.</a:t>
            </a:r>
          </a:p>
          <a:p>
            <a:pPr lvl="0">
              <a:defRPr/>
            </a:pPr>
            <a:r>
              <a:rPr lang="pt-BR" sz="1000" b="1" dirty="0">
                <a:solidFill>
                  <a:srgbClr val="6E6259"/>
                </a:solidFill>
                <a:latin typeface="Gill Sans Std Light" pitchFamily="34" charset="0"/>
              </a:rPr>
              <a:t>Caso a solicitação seja negada, um e-mail padrão será enviado ao solicitando com a justificativa da negação.</a:t>
            </a:r>
          </a:p>
          <a:p>
            <a:pPr lvl="2">
              <a:defRPr/>
            </a:pPr>
            <a:endParaRPr lang="pt-BR" sz="1000" b="1" dirty="0">
              <a:solidFill>
                <a:srgbClr val="6E6259"/>
              </a:solidFill>
              <a:latin typeface="Gill Sans Std Light" pitchFamily="34" charset="0"/>
              <a:sym typeface="Gill Sans"/>
            </a:endParaRPr>
          </a:p>
          <a:p>
            <a:pPr lvl="0">
              <a:defRPr/>
            </a:pPr>
            <a:r>
              <a:rPr lang="pt-BR" sz="1050" b="1" u="sng" dirty="0" smtClean="0">
                <a:solidFill>
                  <a:srgbClr val="6E6259"/>
                </a:solidFill>
                <a:latin typeface="Gill Sans Std Light" pitchFamily="34" charset="0"/>
              </a:rPr>
              <a:t>Nota: </a:t>
            </a:r>
            <a:r>
              <a:rPr lang="pt-BR" sz="1050" b="1" dirty="0">
                <a:solidFill>
                  <a:srgbClr val="6E6259"/>
                </a:solidFill>
                <a:latin typeface="Gill Sans Std Light" pitchFamily="34" charset="0"/>
              </a:rPr>
              <a:t>Caso a solicitação seja para atender uma necessidade de projeto (antes do </a:t>
            </a:r>
            <a:r>
              <a:rPr lang="pt-BR" sz="1050" b="1" i="1" dirty="0">
                <a:solidFill>
                  <a:srgbClr val="6E6259"/>
                </a:solidFill>
                <a:latin typeface="Gill Sans Std Light" pitchFamily="34" charset="0"/>
              </a:rPr>
              <a:t>go-</a:t>
            </a:r>
            <a:r>
              <a:rPr lang="pt-BR" sz="1050" b="1" i="1" dirty="0" err="1">
                <a:solidFill>
                  <a:srgbClr val="6E6259"/>
                </a:solidFill>
                <a:latin typeface="Gill Sans Std Light" pitchFamily="34" charset="0"/>
              </a:rPr>
              <a:t>live</a:t>
            </a:r>
            <a:r>
              <a:rPr lang="pt-BR" sz="1050" b="1" dirty="0">
                <a:solidFill>
                  <a:srgbClr val="6E6259"/>
                </a:solidFill>
                <a:latin typeface="Gill Sans Std Light" pitchFamily="34" charset="0"/>
              </a:rPr>
              <a:t>), é de responsabilidade do GP abrir uma nova solicitação para descontinuar ou alterar </a:t>
            </a:r>
            <a:r>
              <a:rPr lang="pt-BR" sz="1050" b="1" dirty="0" smtClean="0">
                <a:solidFill>
                  <a:srgbClr val="6E6259"/>
                </a:solidFill>
                <a:latin typeface="Gill Sans Std Light" pitchFamily="34" charset="0"/>
              </a:rPr>
              <a:t>o grupo, </a:t>
            </a:r>
            <a:r>
              <a:rPr lang="pt-BR" sz="1050" b="1" dirty="0">
                <a:solidFill>
                  <a:srgbClr val="6E6259"/>
                </a:solidFill>
                <a:latin typeface="Gill Sans Std Light" pitchFamily="34" charset="0"/>
              </a:rPr>
              <a:t>se aplicável.</a:t>
            </a:r>
          </a:p>
          <a:p>
            <a:pPr lvl="2">
              <a:defRPr/>
            </a:pPr>
            <a:endParaRPr lang="pt-BR" sz="1000" b="1" dirty="0" smtClean="0">
              <a:solidFill>
                <a:srgbClr val="6E6259"/>
              </a:solidFill>
              <a:latin typeface="Gill Sans Std Light" pitchFamily="34" charset="0"/>
              <a:sym typeface="Gill Sans"/>
            </a:endParaRPr>
          </a:p>
        </p:txBody>
      </p:sp>
    </p:spTree>
    <p:extLst>
      <p:ext uri="{BB962C8B-B14F-4D97-AF65-F5344CB8AC3E}">
        <p14:creationId xmlns:p14="http://schemas.microsoft.com/office/powerpoint/2010/main" val="248819400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17320</TotalTime>
  <Words>1022</Words>
  <Application>Microsoft Office PowerPoint</Application>
  <PresentationFormat>Personalizar</PresentationFormat>
  <Paragraphs>139</Paragraphs>
  <Slides>7</Slides>
  <Notes>0</Notes>
  <HiddenSlides>0</HiddenSlides>
  <MMClips>0</MMClips>
  <ScaleCrop>false</ScaleCrop>
  <HeadingPairs>
    <vt:vector size="4" baseType="variant">
      <vt:variant>
        <vt:lpstr>Tema</vt:lpstr>
      </vt:variant>
      <vt:variant>
        <vt:i4>1</vt:i4>
      </vt:variant>
      <vt:variant>
        <vt:lpstr>Títulos de slides</vt:lpstr>
      </vt:variant>
      <vt:variant>
        <vt:i4>7</vt:i4>
      </vt:variant>
    </vt:vector>
  </HeadingPairs>
  <TitlesOfParts>
    <vt:vector size="8" baseType="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Natura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BR92457</dc:creator>
  <cp:lastModifiedBy>br93826</cp:lastModifiedBy>
  <cp:revision>439</cp:revision>
  <dcterms:created xsi:type="dcterms:W3CDTF">2014-10-02T13:42:42Z</dcterms:created>
  <dcterms:modified xsi:type="dcterms:W3CDTF">2015-05-28T19:46:01Z</dcterms:modified>
</cp:coreProperties>
</file>