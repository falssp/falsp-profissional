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52" r:id="rId4"/>
  </p:sldMasterIdLst>
  <p:notesMasterIdLst>
    <p:notesMasterId r:id="rId10"/>
  </p:notesMasterIdLst>
  <p:handoutMasterIdLst>
    <p:handoutMasterId r:id="rId11"/>
  </p:handoutMasterIdLst>
  <p:sldIdLst>
    <p:sldId id="3444" r:id="rId5"/>
    <p:sldId id="3447" r:id="rId6"/>
    <p:sldId id="3451" r:id="rId7"/>
    <p:sldId id="3452" r:id="rId8"/>
    <p:sldId id="3456" r:id="rId9"/>
  </p:sldIdLst>
  <p:sldSz cx="16256000" cy="9145588"/>
  <p:notesSz cx="6797675" cy="9982200"/>
  <p:defaultTextStyle>
    <a:defPPr>
      <a:defRPr lang="pt-BR"/>
    </a:defPPr>
    <a:lvl1pPr marL="0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CCECFF"/>
    <a:srgbClr val="CCFFFF"/>
    <a:srgbClr val="FFFFFF"/>
    <a:srgbClr val="CCC0DA"/>
    <a:srgbClr val="FFFF00"/>
    <a:srgbClr val="62568B"/>
    <a:srgbClr val="86A44A"/>
    <a:srgbClr val="CDC8DE"/>
    <a:srgbClr val="EDF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9112" autoAdjust="0"/>
  </p:normalViewPr>
  <p:slideViewPr>
    <p:cSldViewPr>
      <p:cViewPr>
        <p:scale>
          <a:sx n="70" d="100"/>
          <a:sy n="70" d="100"/>
        </p:scale>
        <p:origin x="-420" y="-18"/>
      </p:cViewPr>
      <p:guideLst>
        <p:guide orient="horz" pos="4195"/>
        <p:guide pos="2262"/>
      </p:guideLst>
    </p:cSldViewPr>
  </p:slideViewPr>
  <p:outlineViewPr>
    <p:cViewPr>
      <p:scale>
        <a:sx n="33" d="100"/>
        <a:sy n="33" d="100"/>
      </p:scale>
      <p:origin x="0" y="157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howGuides="1">
      <p:cViewPr varScale="1">
        <p:scale>
          <a:sx n="48" d="100"/>
          <a:sy n="48" d="100"/>
        </p:scale>
        <p:origin x="-2988" y="-114"/>
      </p:cViewPr>
      <p:guideLst>
        <p:guide orient="horz" pos="3144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FB739-17A0-4E52-BBD7-E644B2EDBDA2}" type="datetimeFigureOut">
              <a:rPr lang="pt-BR" smtClean="0"/>
              <a:t>21/05/2015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49688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62ED5-D228-4ECC-88BB-9351BE3DAF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435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699C7-48F2-4252-B10C-724663DF5BEF}" type="datetimeFigureOut">
              <a:rPr lang="pt-BR" smtClean="0"/>
              <a:t>21/05/2015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47713"/>
            <a:ext cx="6654800" cy="3744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4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82272-1339-4175-9DEB-3773CC33C63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69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1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1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406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50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805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14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495152" y="122762"/>
            <a:ext cx="14630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343792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auto">
          <a:xfrm>
            <a:off x="-9640" y="8677250"/>
            <a:ext cx="16265640" cy="476387"/>
          </a:xfrm>
          <a:prstGeom prst="rect">
            <a:avLst/>
          </a:prstGeom>
          <a:solidFill>
            <a:schemeClr val="accent3">
              <a:alpha val="7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9" name="AcnStamp_ID_1119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15520463" y="1647781"/>
            <a:ext cx="737381" cy="34245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29" rIns="0" bIns="40029">
            <a:spAutoFit/>
          </a:bodyPr>
          <a:lstStyle/>
          <a:p>
            <a:pPr algn="r" defTabSz="14410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9"/>
            </p:custDataLst>
          </p:nvPr>
        </p:nvCxnSpPr>
        <p:spPr bwMode="gray">
          <a:xfrm>
            <a:off x="15520463" y="164778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10"/>
            </p:custDataLst>
          </p:nvPr>
        </p:nvCxnSpPr>
        <p:spPr bwMode="gray">
          <a:xfrm>
            <a:off x="15520463" y="199023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154" indent="-848154" defTabSz="144104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154" indent="-848154" defTabSz="144104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7223"/>
            <a:ext cx="14630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040" eaLnBrk="1" latinLnBrk="0" hangingPunct="1">
              <a:buNone/>
            </a:pP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099" tIns="72036" rIns="144099" bIns="72036" rtlCol="0">
            <a:normAutofit/>
          </a:bodyPr>
          <a:lstStyle/>
          <a:p>
            <a:pPr marL="540419" lvl="0" indent="-540419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0885" lvl="1" indent="-450350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324" lvl="2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1840" lvl="3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2384" lvl="4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0" name="CaixaDeTexto 23"/>
          <p:cNvSpPr txBox="1"/>
          <p:nvPr/>
        </p:nvSpPr>
        <p:spPr>
          <a:xfrm>
            <a:off x="15011886" y="8779797"/>
            <a:ext cx="1181010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fld id="{84127208-933E-4CB5-A4D6-BB9F8A4745D6}" type="slidenum">
              <a:rPr lang="en-US" sz="1600">
                <a:solidFill>
                  <a:srgbClr val="000000"/>
                </a:solidFill>
                <a:latin typeface="Gill Sans Std" pitchFamily="34" charset="0"/>
              </a:rPr>
              <a:pPr algn="r"/>
              <a:t>‹nº›</a:t>
            </a:fld>
            <a:endParaRPr lang="en-US" sz="1600" dirty="0">
              <a:solidFill>
                <a:srgbClr val="000000"/>
              </a:solidFill>
              <a:latin typeface="Gill Sans Std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-3484" y="8749258"/>
            <a:ext cx="12235940" cy="338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45152" tIns="72576" rIns="145152" bIns="72576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400" b="1" kern="1200" dirty="0">
              <a:solidFill>
                <a:srgbClr val="62568B"/>
              </a:solidFill>
              <a:latin typeface="Gill Sans MT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146" name="Picture 2" descr="E:\Users\cilima\Pictures\NAT_marca_lilas_tododia-01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018" y="108298"/>
            <a:ext cx="791870" cy="79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41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0513" r:id="rId1"/>
    <p:sldLayoutId id="2147489380" r:id="rId2"/>
    <p:sldLayoutId id="2147489381" r:id="rId3"/>
    <p:sldLayoutId id="2147489382" r:id="rId4"/>
    <p:sldLayoutId id="2147490560" r:id="rId5"/>
    <p:sldLayoutId id="21474905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600" b="0" kern="1200" smtClean="0">
          <a:solidFill>
            <a:srgbClr val="62568B"/>
          </a:solidFill>
          <a:latin typeface="Gill Sans Std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55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04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157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10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272" indent="-3602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041" indent="-35526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313" indent="-3577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55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8831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934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6pPr>
      <a:lvl7pPr marL="323989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7pPr>
      <a:lvl8pPr marL="396041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8pPr>
      <a:lvl9pPr marL="4680939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553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04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157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109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264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3171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3702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423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Gestão a Vista – Governança VP TD 2015</a:t>
            </a:r>
            <a:endParaRPr lang="pt-BR" dirty="0"/>
          </a:p>
        </p:txBody>
      </p:sp>
      <p:sp>
        <p:nvSpPr>
          <p:cNvPr id="15" name="CaixaDeTexto 14"/>
          <p:cNvSpPr txBox="1">
            <a:spLocks noChangeArrowheads="1"/>
          </p:cNvSpPr>
          <p:nvPr/>
        </p:nvSpPr>
        <p:spPr bwMode="auto">
          <a:xfrm>
            <a:off x="639168" y="1044402"/>
            <a:ext cx="14329592" cy="6794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pt-B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Porque fazer Gestão a Vista?</a:t>
            </a:r>
            <a:endParaRPr lang="pt-BR" sz="1200" dirty="0" smtClean="0">
              <a:solidFill>
                <a:schemeClr val="bg2"/>
              </a:solidFill>
              <a:latin typeface="Gill Sans Std" pitchFamily="34" charset="0"/>
            </a:endParaRP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O sucesso da VP TD depende das suas pessoas. Elas fazem a diferença para entregar um modelo de gestão de serviço adequada em um contexto de desafio contínuo.</a:t>
            </a: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 Gestão a Vista é um habilitador chave para nossas pessoas e a VP TD para vencer na realidade complexa em que estamos situados.  O objetivo é ajudar aa áreas da VP TD a se organizarem melhor e ter maior visibilidade do cenário em que a VP se encontra, para que ações possam ser criadas para melhoria contínua.  Na prática,  iremos possibilitar maior identificação  e consequentemente eliminação de atividades que não geram valor agregado para nossos clientes, enquanto acelerando as atividades que geram valor. Este modelo simplifica a identificação de </a:t>
            </a:r>
            <a:r>
              <a:rPr lang="pt-BR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GAPs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processos,  fazendo com que as áreas sejam mais rápidas e ágeis.</a:t>
            </a: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Este é um passo importante para outras implantações e evoluções de práticas de ‘</a:t>
            </a:r>
            <a:r>
              <a:rPr lang="pt-BR" sz="18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Lean</a:t>
            </a:r>
            <a:r>
              <a:rPr lang="pt-BR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Office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’.</a:t>
            </a: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Missão da Gestão a Vista</a:t>
            </a:r>
          </a:p>
          <a:p>
            <a:endParaRPr lang="pt-BR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Equipar e </a:t>
            </a:r>
            <a:r>
              <a:rPr lang="pt-BR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empoderar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pessoas para fazer a diferença.  A Gestão a Vista cria as condições para agilidade, criatividade e empreendedorismo em todos os níveis da VP TD. Ela ajuda a transformação de estratégias em execuções operacionais de forma eficiente.</a:t>
            </a: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Ao mesmo tempo, a gestão a vista pavimenta o caminho para outras implantações de práticas de ‘</a:t>
            </a:r>
            <a:r>
              <a:rPr lang="pt-BR" sz="18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Lean</a:t>
            </a:r>
            <a:r>
              <a:rPr lang="pt-BR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Office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’.</a:t>
            </a:r>
          </a:p>
          <a:p>
            <a:endParaRPr lang="pt-BR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pt-B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</a:rPr>
              <a:t>Objetivos da Gestão a Vista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Fortalecimento de práticas comuns, como gestão de problemas.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Alavancar gestão de performance, através de comunicação e engajamento das áreas para indicadores que agregam valor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Provocar necessidade de disciplina nas operações, disponibilizando tempo para atividades de maior valor agregado</a:t>
            </a: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403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21739" y="919539"/>
            <a:ext cx="148336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Estratégia de Implantação</a:t>
            </a:r>
          </a:p>
          <a:p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cs typeface="Arial" charset="0"/>
            </a:endParaRP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estratégia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implantação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da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a vista 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foi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desenhada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para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garantir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foco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na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implantação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uma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curva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aprendizado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nas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pessoas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envolvidas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.</a:t>
            </a:r>
          </a:p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cs typeface="Arial" charset="0"/>
            </a:endParaRPr>
          </a:p>
          <a:p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Também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possibilita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entregar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alguns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benefícios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um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estágio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inicial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.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Ajudará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no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treinamento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e coaching das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pessoas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comportamentos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ferramentas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que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,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quando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inseridos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em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nossa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rotina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,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possibilite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melhoria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contínua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Arial" charset="0"/>
              </a:rPr>
              <a:t>.</a:t>
            </a:r>
            <a:endParaRPr lang="en-US" sz="3200" dirty="0"/>
          </a:p>
        </p:txBody>
      </p:sp>
      <p:sp>
        <p:nvSpPr>
          <p:cNvPr id="5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Gestão a Vista – Governança VP TD 2015</a:t>
            </a:r>
            <a:endParaRPr lang="pt-BR" dirty="0"/>
          </a:p>
        </p:txBody>
      </p:sp>
      <p:sp>
        <p:nvSpPr>
          <p:cNvPr id="6" name="CaixaDeTexto 5"/>
          <p:cNvSpPr txBox="1">
            <a:spLocks noChangeArrowheads="1"/>
          </p:cNvSpPr>
          <p:nvPr/>
        </p:nvSpPr>
        <p:spPr bwMode="auto">
          <a:xfrm>
            <a:off x="421740" y="2887927"/>
            <a:ext cx="9506460" cy="57173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pt-BR" sz="1800" b="1" dirty="0">
                <a:solidFill>
                  <a:srgbClr val="002060"/>
                </a:solidFill>
                <a:latin typeface="Gill Sans Std" pitchFamily="34" charset="0"/>
              </a:rPr>
              <a:t>Preparação</a:t>
            </a:r>
          </a:p>
          <a:p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(~1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mês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) Plano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sucesso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	</a:t>
            </a:r>
          </a:p>
          <a:p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Configuração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do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escopo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implantação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Vista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Garantir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entendimento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patrocínio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(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gerentes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diretoria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Criação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competências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sucesso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(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Pilar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Vista;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Pilar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Problema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) </a:t>
            </a:r>
          </a:p>
          <a:p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	</a:t>
            </a:r>
          </a:p>
          <a:p>
            <a:r>
              <a:rPr lang="pt-BR" sz="1800" b="1" dirty="0">
                <a:solidFill>
                  <a:srgbClr val="002060"/>
                </a:solidFill>
                <a:latin typeface="Gill Sans Std" pitchFamily="34" charset="0"/>
              </a:rPr>
              <a:t>Implantação da Gestão a Vista</a:t>
            </a:r>
          </a:p>
          <a:p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(~2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meses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)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Aprender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entregar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engajar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pessoas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Planejar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marcos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chaves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acordo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com 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estratégia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implantação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necessidades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 TD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</a:b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Desenvolver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competências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nos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Pilares</a:t>
            </a: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Garantir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que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práticas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Vista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estão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sendo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construídas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ou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melhoradas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mind-set de “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melhoria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contínua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” e “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causa-raíz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”</a:t>
            </a:r>
          </a:p>
          <a:p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	</a:t>
            </a:r>
          </a:p>
          <a:p>
            <a:r>
              <a:rPr lang="en-US" sz="1800" b="1" dirty="0" err="1" smtClean="0">
                <a:solidFill>
                  <a:srgbClr val="002060"/>
                </a:solidFill>
                <a:latin typeface="Gill Sans Std" pitchFamily="34" charset="0"/>
              </a:rPr>
              <a:t>Melhorar</a:t>
            </a:r>
            <a:r>
              <a:rPr lang="en-US" sz="1800" b="1" dirty="0" smtClean="0">
                <a:solidFill>
                  <a:srgbClr val="002060"/>
                </a:solidFill>
                <a:latin typeface="Gill Sans Std" pitchFamily="34" charset="0"/>
              </a:rPr>
              <a:t> a </a:t>
            </a:r>
            <a:r>
              <a:rPr lang="en-US" sz="1800" b="1" dirty="0" err="1" smtClean="0">
                <a:solidFill>
                  <a:srgbClr val="002060"/>
                </a:solidFill>
                <a:latin typeface="Gill Sans Std" pitchFamily="34" charset="0"/>
              </a:rPr>
              <a:t>Gestão</a:t>
            </a:r>
            <a:r>
              <a:rPr lang="en-US" sz="1800" b="1" dirty="0" smtClean="0">
                <a:solidFill>
                  <a:srgbClr val="002060"/>
                </a:solidFill>
                <a:latin typeface="Gill Sans Std" pitchFamily="34" charset="0"/>
              </a:rPr>
              <a:t> a Vista </a:t>
            </a:r>
            <a:r>
              <a:rPr lang="en-US" sz="1800" b="1" dirty="0" err="1" smtClean="0">
                <a:solidFill>
                  <a:srgbClr val="002060"/>
                </a:solidFill>
                <a:latin typeface="Gill Sans Std" pitchFamily="34" charset="0"/>
              </a:rPr>
              <a:t>existente</a:t>
            </a:r>
            <a:endParaRPr lang="en-US" sz="1800" b="1" dirty="0">
              <a:solidFill>
                <a:srgbClr val="002060"/>
              </a:solidFill>
              <a:latin typeface="Gill Sans Std" pitchFamily="34" charset="0"/>
            </a:endParaRPr>
          </a:p>
          <a:p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(~8 a10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meses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)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Desenvolver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nível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maturidade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das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práticas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Vista da TD de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uma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maneira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que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atenda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realidade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as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prioridades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das </a:t>
            </a:r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áreas</a:t>
            </a:r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Introdução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práticas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mais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avançadas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Problemas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Conhecimento</a:t>
            </a:r>
            <a:endParaRPr lang="pt-BR" sz="1600" dirty="0" smtClean="0"/>
          </a:p>
          <a:p>
            <a:r>
              <a:rPr lang="en-US" sz="1600" i="1" dirty="0" smtClean="0"/>
              <a:t> </a:t>
            </a:r>
            <a:endParaRPr lang="pt-B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sym typeface="Wingdings" pitchFamily="2" charset="2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84232"/>
              </p:ext>
            </p:extLst>
          </p:nvPr>
        </p:nvGraphicFramePr>
        <p:xfrm>
          <a:off x="10144224" y="2891704"/>
          <a:ext cx="5760640" cy="5713537"/>
        </p:xfrm>
        <a:graphic>
          <a:graphicData uri="http://schemas.openxmlformats.org/drawingml/2006/table">
            <a:tbl>
              <a:tblPr/>
              <a:tblGrid>
                <a:gridCol w="5760640"/>
              </a:tblGrid>
              <a:tr h="8008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Atividades Macro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1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 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Criação de ciência da implantação da gestão a vista no time de liderança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2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 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Criação de material de treinamento e ferramentas de gestão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3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Selecionar e treinar Pilares de Gestão a Vista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4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Mapear e acordar no escopo da Implantação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5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 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Criação do Plano de Implantação de Gestão a Vista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  <a:tr h="81878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6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.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Criação e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s</a:t>
                      </a:r>
                      <a:r>
                        <a:rPr lang="pt-BR" sz="18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et-up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 da revisão do progresso de implantação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6828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152" y="122762"/>
            <a:ext cx="14630400" cy="553998"/>
          </a:xfrm>
        </p:spPr>
        <p:txBody>
          <a:bodyPr/>
          <a:lstStyle/>
          <a:p>
            <a:r>
              <a:rPr lang="pt-BR" dirty="0"/>
              <a:t>Gestão a Vista – </a:t>
            </a:r>
            <a:r>
              <a:rPr lang="pt-BR" dirty="0" smtClean="0"/>
              <a:t>O que queremos com isso?</a:t>
            </a:r>
            <a:endParaRPr lang="pt-BR" dirty="0"/>
          </a:p>
        </p:txBody>
      </p:sp>
      <p:grpSp>
        <p:nvGrpSpPr>
          <p:cNvPr id="25" name="Group 3"/>
          <p:cNvGrpSpPr>
            <a:grpSpLocks/>
          </p:cNvGrpSpPr>
          <p:nvPr/>
        </p:nvGrpSpPr>
        <p:grpSpPr bwMode="auto">
          <a:xfrm>
            <a:off x="2007320" y="1458343"/>
            <a:ext cx="9303424" cy="4248472"/>
            <a:chOff x="1785916" y="1714488"/>
            <a:chExt cx="5715042" cy="3643338"/>
          </a:xfrm>
        </p:grpSpPr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6072198" y="1785926"/>
              <a:ext cx="1428760" cy="2571768"/>
            </a:xfrm>
            <a:custGeom>
              <a:avLst/>
              <a:gdLst>
                <a:gd name="T0" fmla="*/ 0 w 894"/>
                <a:gd name="T1" fmla="*/ 0 h 1769"/>
                <a:gd name="T2" fmla="*/ 2147483647 w 894"/>
                <a:gd name="T3" fmla="*/ 2147483647 h 1769"/>
                <a:gd name="T4" fmla="*/ 2147483647 w 894"/>
                <a:gd name="T5" fmla="*/ 0 h 1769"/>
                <a:gd name="T6" fmla="*/ 0 w 894"/>
                <a:gd name="T7" fmla="*/ 0 h 17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1769"/>
                <a:gd name="T14" fmla="*/ 894 w 894"/>
                <a:gd name="T15" fmla="*/ 1769 h 17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1769">
                  <a:moveTo>
                    <a:pt x="0" y="0"/>
                  </a:moveTo>
                  <a:cubicBezTo>
                    <a:pt x="14" y="865"/>
                    <a:pt x="866" y="633"/>
                    <a:pt x="894" y="1769"/>
                  </a:cubicBezTo>
                  <a:cubicBezTo>
                    <a:pt x="894" y="884"/>
                    <a:pt x="894" y="0"/>
                    <a:pt x="894" y="0"/>
                  </a:cubicBezTo>
                  <a:cubicBezTo>
                    <a:pt x="894" y="0"/>
                    <a:pt x="447" y="0"/>
                    <a:pt x="0" y="0"/>
                  </a:cubicBezTo>
                  <a:close/>
                </a:path>
              </a:pathLst>
            </a:custGeom>
            <a:solidFill>
              <a:srgbClr val="9AC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823045" y="1714488"/>
              <a:ext cx="1677386" cy="2739068"/>
            </a:xfrm>
            <a:custGeom>
              <a:avLst/>
              <a:gdLst>
                <a:gd name="T0" fmla="*/ 2147483647 w 1216"/>
                <a:gd name="T1" fmla="*/ 0 h 1861"/>
                <a:gd name="T2" fmla="*/ 2147483647 w 1216"/>
                <a:gd name="T3" fmla="*/ 2147483647 h 1861"/>
                <a:gd name="T4" fmla="*/ 2147483647 w 1216"/>
                <a:gd name="T5" fmla="*/ 2147483647 h 1861"/>
                <a:gd name="T6" fmla="*/ 2147483647 w 1216"/>
                <a:gd name="T7" fmla="*/ 0 h 1861"/>
                <a:gd name="T8" fmla="*/ 2147483647 w 1216"/>
                <a:gd name="T9" fmla="*/ 0 h 18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6"/>
                <a:gd name="T16" fmla="*/ 0 h 1861"/>
                <a:gd name="T17" fmla="*/ 1216 w 1216"/>
                <a:gd name="T18" fmla="*/ 1861 h 18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6" h="1861">
                  <a:moveTo>
                    <a:pt x="2" y="0"/>
                  </a:moveTo>
                  <a:cubicBezTo>
                    <a:pt x="0" y="347"/>
                    <a:pt x="5" y="935"/>
                    <a:pt x="4" y="1861"/>
                  </a:cubicBezTo>
                  <a:cubicBezTo>
                    <a:pt x="244" y="1861"/>
                    <a:pt x="902" y="1857"/>
                    <a:pt x="1216" y="1860"/>
                  </a:cubicBezTo>
                  <a:cubicBezTo>
                    <a:pt x="1208" y="1071"/>
                    <a:pt x="480" y="1079"/>
                    <a:pt x="455" y="0"/>
                  </a:cubicBezTo>
                  <a:cubicBezTo>
                    <a:pt x="228" y="0"/>
                    <a:pt x="2" y="0"/>
                    <a:pt x="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4C373"/>
                </a:gs>
                <a:gs pos="100000">
                  <a:srgbClr val="B0D9A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2849410" y="1714488"/>
              <a:ext cx="4651548" cy="3439929"/>
            </a:xfrm>
            <a:custGeom>
              <a:avLst/>
              <a:gdLst>
                <a:gd name="T0" fmla="*/ 0 w 2990"/>
                <a:gd name="T1" fmla="*/ 2147483647 h 1852"/>
                <a:gd name="T2" fmla="*/ 2147483647 w 2990"/>
                <a:gd name="T3" fmla="*/ 2147483647 h 1852"/>
                <a:gd name="T4" fmla="*/ 2147483647 w 2990"/>
                <a:gd name="T5" fmla="*/ 2147483647 h 1852"/>
                <a:gd name="T6" fmla="*/ 2147483647 w 2990"/>
                <a:gd name="T7" fmla="*/ 2147483647 h 1852"/>
                <a:gd name="T8" fmla="*/ 0 w 2990"/>
                <a:gd name="T9" fmla="*/ 2147483647 h 18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90"/>
                <a:gd name="T16" fmla="*/ 0 h 1852"/>
                <a:gd name="T17" fmla="*/ 2990 w 2990"/>
                <a:gd name="T18" fmla="*/ 1852 h 18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90" h="1852">
                  <a:moveTo>
                    <a:pt x="0" y="3"/>
                  </a:moveTo>
                  <a:cubicBezTo>
                    <a:pt x="36" y="1116"/>
                    <a:pt x="2894" y="1220"/>
                    <a:pt x="2973" y="1852"/>
                  </a:cubicBezTo>
                  <a:cubicBezTo>
                    <a:pt x="2969" y="1548"/>
                    <a:pt x="2977" y="1452"/>
                    <a:pt x="2977" y="1220"/>
                  </a:cubicBezTo>
                  <a:cubicBezTo>
                    <a:pt x="2990" y="468"/>
                    <a:pt x="2093" y="568"/>
                    <a:pt x="2082" y="4"/>
                  </a:cubicBezTo>
                  <a:cubicBezTo>
                    <a:pt x="1526" y="4"/>
                    <a:pt x="635" y="0"/>
                    <a:pt x="0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876"/>
                </a:gs>
                <a:gs pos="100000">
                  <a:srgbClr val="D3E6A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2071670" y="1714488"/>
              <a:ext cx="4685792" cy="2773538"/>
            </a:xfrm>
            <a:custGeom>
              <a:avLst/>
              <a:gdLst>
                <a:gd name="T0" fmla="*/ 2147483647 w 3596"/>
                <a:gd name="T1" fmla="*/ 2147483647 h 1864"/>
                <a:gd name="T2" fmla="*/ 2147483647 w 3596"/>
                <a:gd name="T3" fmla="*/ 2147483647 h 1864"/>
                <a:gd name="T4" fmla="*/ 2147483647 w 3596"/>
                <a:gd name="T5" fmla="*/ 2147483647 h 1864"/>
                <a:gd name="T6" fmla="*/ 2147483647 w 3596"/>
                <a:gd name="T7" fmla="*/ 2147483647 h 1864"/>
                <a:gd name="T8" fmla="*/ 2147483647 w 3596"/>
                <a:gd name="T9" fmla="*/ 2147483647 h 1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96"/>
                <a:gd name="T16" fmla="*/ 0 h 1864"/>
                <a:gd name="T17" fmla="*/ 3596 w 3596"/>
                <a:gd name="T18" fmla="*/ 1864 h 1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96" h="1864">
                  <a:moveTo>
                    <a:pt x="236" y="3"/>
                  </a:moveTo>
                  <a:cubicBezTo>
                    <a:pt x="220" y="1003"/>
                    <a:pt x="1008" y="1163"/>
                    <a:pt x="1000" y="1864"/>
                  </a:cubicBezTo>
                  <a:cubicBezTo>
                    <a:pt x="1664" y="1864"/>
                    <a:pt x="2726" y="1860"/>
                    <a:pt x="3596" y="1863"/>
                  </a:cubicBezTo>
                  <a:cubicBezTo>
                    <a:pt x="3579" y="1237"/>
                    <a:pt x="696" y="1118"/>
                    <a:pt x="629" y="3"/>
                  </a:cubicBezTo>
                  <a:cubicBezTo>
                    <a:pt x="0" y="3"/>
                    <a:pt x="399" y="0"/>
                    <a:pt x="23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59A145"/>
                </a:gs>
                <a:gs pos="100000">
                  <a:srgbClr val="95C38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1872977" y="1842907"/>
              <a:ext cx="482483" cy="55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10%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Rotina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2350309" y="1842907"/>
              <a:ext cx="864369" cy="825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10%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Fire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  Fighting</a:t>
              </a: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3359127" y="1821405"/>
              <a:ext cx="2928978" cy="794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60%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noProof="0" dirty="0" err="1" smtClean="0">
                  <a:solidFill>
                    <a:srgbClr val="000000"/>
                  </a:solidFill>
                  <a:latin typeface="Arial Narrow" pitchFamily="34" charset="0"/>
                </a:rPr>
                <a:t>Melhoria</a:t>
              </a:r>
              <a:r>
                <a:rPr lang="en-US" sz="1600" kern="0" noProof="0" dirty="0" smtClean="0">
                  <a:solidFill>
                    <a:srgbClr val="000000"/>
                  </a:solidFill>
                  <a:latin typeface="Arial Narrow" pitchFamily="34" charset="0"/>
                </a:rPr>
                <a:t> </a:t>
              </a:r>
              <a:r>
                <a:rPr lang="en-US" sz="1600" kern="0" noProof="0" dirty="0" err="1" smtClean="0">
                  <a:solidFill>
                    <a:srgbClr val="000000"/>
                  </a:solidFill>
                  <a:latin typeface="Arial Narrow" pitchFamily="34" charset="0"/>
                </a:rPr>
                <a:t>Contínua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cs typeface="Arial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(</a:t>
              </a:r>
              <a:r>
                <a:rPr kumimoji="0" lang="en-US" sz="16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Empreendedorismo</a:t>
              </a: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 &amp; </a:t>
              </a:r>
              <a:r>
                <a:rPr kumimoji="0" lang="en-US" sz="16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Criatividade</a:t>
              </a: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)</a:t>
              </a:r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6590956" y="1842907"/>
              <a:ext cx="677927" cy="55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20%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pitchFamily="34" charset="0"/>
                </a:rPr>
                <a:t>Estratégia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34" name="AutoShape 20"/>
            <p:cNvSpPr>
              <a:spLocks noChangeArrowheads="1"/>
            </p:cNvSpPr>
            <p:nvPr/>
          </p:nvSpPr>
          <p:spPr bwMode="auto">
            <a:xfrm>
              <a:off x="2359025" y="4013200"/>
              <a:ext cx="258763" cy="130175"/>
            </a:xfrm>
            <a:prstGeom prst="triangle">
              <a:avLst>
                <a:gd name="adj" fmla="val 50000"/>
              </a:avLst>
            </a:prstGeom>
            <a:solidFill>
              <a:srgbClr val="63B3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AutoShape 21"/>
            <p:cNvSpPr>
              <a:spLocks noChangeArrowheads="1"/>
            </p:cNvSpPr>
            <p:nvPr/>
          </p:nvSpPr>
          <p:spPr bwMode="auto">
            <a:xfrm>
              <a:off x="2359025" y="4143375"/>
              <a:ext cx="258763" cy="130175"/>
            </a:xfrm>
            <a:prstGeom prst="triangle">
              <a:avLst>
                <a:gd name="adj" fmla="val 50000"/>
              </a:avLst>
            </a:prstGeom>
            <a:solidFill>
              <a:srgbClr val="63B3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AutoShape 22"/>
            <p:cNvSpPr>
              <a:spLocks noChangeArrowheads="1"/>
            </p:cNvSpPr>
            <p:nvPr/>
          </p:nvSpPr>
          <p:spPr bwMode="auto">
            <a:xfrm>
              <a:off x="4894263" y="4013200"/>
              <a:ext cx="260350" cy="130175"/>
            </a:xfrm>
            <a:prstGeom prst="triangle">
              <a:avLst>
                <a:gd name="adj" fmla="val 50000"/>
              </a:avLst>
            </a:prstGeom>
            <a:solidFill>
              <a:srgbClr val="C9E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AutoShape 23"/>
            <p:cNvSpPr>
              <a:spLocks noChangeArrowheads="1"/>
            </p:cNvSpPr>
            <p:nvPr/>
          </p:nvSpPr>
          <p:spPr bwMode="auto">
            <a:xfrm>
              <a:off x="4894263" y="4143375"/>
              <a:ext cx="260350" cy="130175"/>
            </a:xfrm>
            <a:prstGeom prst="triangle">
              <a:avLst>
                <a:gd name="adj" fmla="val 50000"/>
              </a:avLst>
            </a:prstGeom>
            <a:solidFill>
              <a:srgbClr val="C9E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4"/>
            <p:cNvSpPr>
              <a:spLocks noChangeArrowheads="1"/>
            </p:cNvSpPr>
            <p:nvPr/>
          </p:nvSpPr>
          <p:spPr bwMode="auto">
            <a:xfrm>
              <a:off x="6757462" y="4447785"/>
              <a:ext cx="743496" cy="910041"/>
            </a:xfrm>
            <a:prstGeom prst="rect">
              <a:avLst/>
            </a:prstGeom>
            <a:solidFill>
              <a:srgbClr val="B8D6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lvl="0" algn="ctr" defTabSz="914400"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10%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/>
              </a:r>
              <a:b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</a:br>
              <a:r>
                <a:rPr lang="en-US" sz="1200" kern="0" dirty="0" err="1">
                  <a:solidFill>
                    <a:srgbClr val="000000"/>
                  </a:solidFill>
                  <a:latin typeface="Arial Narrow" pitchFamily="34" charset="0"/>
                  <a:cs typeface="Arial" pitchFamily="34" charset="0"/>
                </a:rPr>
                <a:t>Empreendedorismo</a:t>
              </a:r>
              <a:r>
                <a:rPr lang="en-US" sz="1200" kern="0" dirty="0">
                  <a:solidFill>
                    <a:srgbClr val="000000"/>
                  </a:solidFill>
                  <a:latin typeface="Arial Narrow" pitchFamily="34" charset="0"/>
                  <a:cs typeface="Arial" pitchFamily="34" charset="0"/>
                </a:rPr>
                <a:t> </a:t>
              </a:r>
              <a:endParaRPr lang="en-US" sz="1200" kern="0" dirty="0" smtClean="0">
                <a:solidFill>
                  <a:srgbClr val="000000"/>
                </a:solidFill>
                <a:latin typeface="Arial Narrow" pitchFamily="34" charset="0"/>
                <a:cs typeface="Arial" pitchFamily="34" charset="0"/>
              </a:endParaRPr>
            </a:p>
            <a:p>
              <a:pPr lvl="0" algn="ctr" defTabSz="914400"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Arial Narrow" pitchFamily="34" charset="0"/>
                  <a:cs typeface="Arial" pitchFamily="34" charset="0"/>
                </a:rPr>
                <a:t>&amp; </a:t>
              </a:r>
              <a:r>
                <a:rPr lang="en-US" sz="1200" kern="0" dirty="0" err="1">
                  <a:solidFill>
                    <a:srgbClr val="000000"/>
                  </a:solidFill>
                  <a:latin typeface="Arial Narrow" pitchFamily="34" charset="0"/>
                  <a:cs typeface="Arial" pitchFamily="34" charset="0"/>
                </a:rPr>
                <a:t>Criatividade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cs typeface="Arial" charset="0"/>
              </a:endParaRPr>
            </a:p>
          </p:txBody>
        </p:sp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>
              <a:off x="3428993" y="4448189"/>
              <a:ext cx="3328469" cy="909637"/>
            </a:xfrm>
            <a:prstGeom prst="rect">
              <a:avLst/>
            </a:prstGeom>
            <a:solidFill>
              <a:srgbClr val="59A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</a:rPr>
                <a:t>50%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</a:rPr>
                <a:t>Fire Fighting</a:t>
              </a:r>
            </a:p>
          </p:txBody>
        </p:sp>
        <p:sp>
          <p:nvSpPr>
            <p:cNvPr id="40" name="Rectangle 4"/>
            <p:cNvSpPr>
              <a:spLocks noChangeArrowheads="1"/>
            </p:cNvSpPr>
            <p:nvPr/>
          </p:nvSpPr>
          <p:spPr bwMode="auto">
            <a:xfrm>
              <a:off x="1825625" y="4448189"/>
              <a:ext cx="1603367" cy="909637"/>
            </a:xfrm>
            <a:prstGeom prst="rect">
              <a:avLst/>
            </a:prstGeom>
            <a:solidFill>
              <a:srgbClr val="84C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</a:rPr>
                <a:t>40%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itchFamily="34" charset="0"/>
                </a:rPr>
                <a:t>Rotina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itchFamily="34" charset="0"/>
              </a:endParaRPr>
            </a:p>
          </p:txBody>
        </p:sp>
        <p:sp>
          <p:nvSpPr>
            <p:cNvPr id="41" name="Rectangle 22"/>
            <p:cNvSpPr/>
            <p:nvPr/>
          </p:nvSpPr>
          <p:spPr>
            <a:xfrm>
              <a:off x="7454920" y="1785957"/>
              <a:ext cx="46038" cy="357186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2" name="Rectangle 23"/>
            <p:cNvSpPr/>
            <p:nvPr/>
          </p:nvSpPr>
          <p:spPr>
            <a:xfrm rot="5400000">
              <a:off x="4607702" y="-1107298"/>
              <a:ext cx="71469" cy="571504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43" name="Group 25"/>
          <p:cNvGrpSpPr>
            <a:grpSpLocks/>
          </p:cNvGrpSpPr>
          <p:nvPr/>
        </p:nvGrpSpPr>
        <p:grpSpPr bwMode="auto">
          <a:xfrm>
            <a:off x="11310436" y="1498105"/>
            <a:ext cx="854075" cy="4208709"/>
            <a:chOff x="7432675" y="1643063"/>
            <a:chExt cx="854075" cy="3501013"/>
          </a:xfrm>
        </p:grpSpPr>
        <p:sp>
          <p:nvSpPr>
            <p:cNvPr id="44" name="AutoShape 32"/>
            <p:cNvSpPr>
              <a:spLocks noChangeArrowheads="1"/>
            </p:cNvSpPr>
            <p:nvPr/>
          </p:nvSpPr>
          <p:spPr bwMode="auto">
            <a:xfrm>
              <a:off x="7432675" y="1643063"/>
              <a:ext cx="854075" cy="3501013"/>
            </a:xfrm>
            <a:prstGeom prst="upArrow">
              <a:avLst>
                <a:gd name="adj1" fmla="val 50000"/>
                <a:gd name="adj2" fmla="val 61905"/>
              </a:avLst>
            </a:prstGeom>
            <a:gradFill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6000000"/>
            </a:gra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800" b="0" i="0" u="none" strike="noStrike" kern="0" cap="none" spc="0" normalizeH="0" baseline="0" noProof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Text Box 30"/>
            <p:cNvSpPr txBox="1">
              <a:spLocks noChangeArrowheads="1"/>
            </p:cNvSpPr>
            <p:nvPr/>
          </p:nvSpPr>
          <p:spPr bwMode="auto">
            <a:xfrm rot="16200000">
              <a:off x="6168061" y="3311112"/>
              <a:ext cx="33581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Jornada</a:t>
              </a:r>
              <a:r>
                <a:rPr kumimoji="0" lang="en-GB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 de </a:t>
              </a:r>
              <a:r>
                <a:rPr kumimoji="0" lang="en-GB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Gestão</a:t>
              </a:r>
              <a:r>
                <a:rPr kumimoji="0" lang="en-GB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 a Vista</a:t>
              </a:r>
            </a:p>
          </p:txBody>
        </p:sp>
      </p:grpSp>
      <p:sp>
        <p:nvSpPr>
          <p:cNvPr id="46" name="Rectangle 28"/>
          <p:cNvSpPr>
            <a:spLocks noChangeArrowheads="1"/>
          </p:cNvSpPr>
          <p:nvPr/>
        </p:nvSpPr>
        <p:spPr bwMode="auto">
          <a:xfrm>
            <a:off x="2067762" y="5994847"/>
            <a:ext cx="9811023" cy="738187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Criação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de Valor é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feito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através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de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redução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de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desperdício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, e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consequentemente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</a:t>
            </a:r>
            <a:r>
              <a:rPr kumimoji="0" lang="en-US" sz="18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liberando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tempo </a:t>
            </a:r>
            <a:r>
              <a:rPr kumimoji="0" lang="en-US" sz="18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para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</a:t>
            </a:r>
            <a:r>
              <a:rPr kumimoji="0" lang="en-US" sz="18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empreendedorismo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e </a:t>
            </a:r>
            <a:r>
              <a:rPr kumimoji="0" lang="en-US" sz="18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atividades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 </a:t>
            </a:r>
            <a:r>
              <a:rPr kumimoji="0" lang="en-US" sz="1800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Arial"/>
              </a:rPr>
              <a:t>criatvas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itchFamily="34" charset="-128"/>
              <a:cs typeface="Arial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2426287" y="4714789"/>
            <a:ext cx="26453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Onde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estamos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hoje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? 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Gill Sans Std" pitchFamily="34" charset="0"/>
            </a:endParaRPr>
          </a:p>
          <a:p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*a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maioria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das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empresas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vivenciam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essa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realidade</a:t>
            </a:r>
            <a:endParaRPr lang="pt-BR" dirty="0"/>
          </a:p>
        </p:txBody>
      </p:sp>
      <p:sp>
        <p:nvSpPr>
          <p:cNvPr id="47" name="Retângulo 46"/>
          <p:cNvSpPr/>
          <p:nvPr/>
        </p:nvSpPr>
        <p:spPr>
          <a:xfrm>
            <a:off x="12426287" y="1861828"/>
            <a:ext cx="2320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Onde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queremos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estar</a:t>
            </a:r>
            <a:r>
              <a:rPr lang="en-US" sz="1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Gill Sans Std" pitchFamily="34" charset="0"/>
              </a:rPr>
              <a:t>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1842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152" y="122762"/>
            <a:ext cx="14630400" cy="553998"/>
          </a:xfrm>
        </p:spPr>
        <p:txBody>
          <a:bodyPr/>
          <a:lstStyle/>
          <a:p>
            <a:r>
              <a:rPr lang="pt-BR" dirty="0"/>
              <a:t>Gestão a Vista – </a:t>
            </a:r>
            <a:r>
              <a:rPr lang="pt-BR" dirty="0" smtClean="0"/>
              <a:t>Os 4 </a:t>
            </a:r>
            <a:r>
              <a:rPr lang="pt-BR" dirty="0" err="1" smtClean="0"/>
              <a:t>príncipios</a:t>
            </a:r>
            <a:r>
              <a:rPr lang="pt-BR" dirty="0" smtClean="0"/>
              <a:t> que nos norteiam</a:t>
            </a:r>
            <a:endParaRPr lang="pt-BR" dirty="0"/>
          </a:p>
        </p:txBody>
      </p:sp>
      <p:pic>
        <p:nvPicPr>
          <p:cNvPr id="19" name="Imag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480" y="2412653"/>
            <a:ext cx="11176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030" y="3457228"/>
            <a:ext cx="10160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Imag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030" y="4295456"/>
            <a:ext cx="1016000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Connecteur droit 34"/>
          <p:cNvCxnSpPr>
            <a:cxnSpLocks noChangeShapeType="1"/>
          </p:cNvCxnSpPr>
          <p:nvPr/>
        </p:nvCxnSpPr>
        <p:spPr bwMode="auto">
          <a:xfrm rot="10800000">
            <a:off x="3606230" y="3304828"/>
            <a:ext cx="7696200" cy="0"/>
          </a:xfrm>
          <a:prstGeom prst="line">
            <a:avLst/>
          </a:prstGeom>
          <a:noFill/>
          <a:ln w="12700">
            <a:solidFill>
              <a:srgbClr val="407631"/>
            </a:solidFill>
            <a:prstDash val="sysDot"/>
            <a:round/>
            <a:headEnd type="none" w="sm" len="sm"/>
            <a:tailEnd type="none" w="sm" len="sm"/>
          </a:ln>
          <a:effectLst>
            <a:outerShdw dist="12700" dir="16200000" algn="t" rotWithShape="0">
              <a:srgbClr val="808080">
                <a:alpha val="42999"/>
              </a:srgbClr>
            </a:outerShdw>
          </a:effectLst>
        </p:spPr>
      </p:cxnSp>
      <p:cxnSp>
        <p:nvCxnSpPr>
          <p:cNvPr id="24" name="Connecteur droit 36"/>
          <p:cNvCxnSpPr>
            <a:cxnSpLocks noChangeShapeType="1"/>
          </p:cNvCxnSpPr>
          <p:nvPr/>
        </p:nvCxnSpPr>
        <p:spPr bwMode="auto">
          <a:xfrm rot="10800000">
            <a:off x="3606230" y="4227166"/>
            <a:ext cx="7696200" cy="0"/>
          </a:xfrm>
          <a:prstGeom prst="line">
            <a:avLst/>
          </a:prstGeom>
          <a:noFill/>
          <a:ln w="12700">
            <a:solidFill>
              <a:srgbClr val="407631"/>
            </a:solidFill>
            <a:prstDash val="sysDot"/>
            <a:round/>
            <a:headEnd type="none" w="sm" len="sm"/>
            <a:tailEnd type="none" w="sm" len="sm"/>
          </a:ln>
          <a:effectLst>
            <a:outerShdw dist="12700" dir="16200000" algn="t" rotWithShape="0">
              <a:srgbClr val="808080">
                <a:alpha val="42999"/>
              </a:srgbClr>
            </a:outerShdw>
          </a:effectLst>
        </p:spPr>
      </p:cxnSp>
      <p:cxnSp>
        <p:nvCxnSpPr>
          <p:cNvPr id="26" name="Connecteur droit 38"/>
          <p:cNvCxnSpPr>
            <a:cxnSpLocks noChangeShapeType="1"/>
          </p:cNvCxnSpPr>
          <p:nvPr/>
        </p:nvCxnSpPr>
        <p:spPr bwMode="auto">
          <a:xfrm rot="10800000">
            <a:off x="3606230" y="5217912"/>
            <a:ext cx="7696200" cy="0"/>
          </a:xfrm>
          <a:prstGeom prst="line">
            <a:avLst/>
          </a:prstGeom>
          <a:noFill/>
          <a:ln w="12700">
            <a:solidFill>
              <a:srgbClr val="407631"/>
            </a:solidFill>
            <a:prstDash val="sysDot"/>
            <a:round/>
            <a:headEnd type="none" w="sm" len="sm"/>
            <a:tailEnd type="none" w="sm" len="sm"/>
          </a:ln>
          <a:effectLst>
            <a:outerShdw dist="12700" dir="16200000" algn="t" rotWithShape="0">
              <a:srgbClr val="808080">
                <a:alpha val="42999"/>
              </a:srgbClr>
            </a:outerShdw>
          </a:effectLst>
        </p:spPr>
      </p:cxnSp>
      <p:sp>
        <p:nvSpPr>
          <p:cNvPr id="27" name="ZoneTexte 45"/>
          <p:cNvSpPr txBox="1"/>
          <p:nvPr/>
        </p:nvSpPr>
        <p:spPr>
          <a:xfrm>
            <a:off x="4596830" y="2412554"/>
            <a:ext cx="6680200" cy="751488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00" cap="all" spc="1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ENGAJAMENTO DAS PESSOAS</a:t>
            </a:r>
            <a:endParaRPr kumimoji="0" lang="en-US" sz="1400" b="0" i="0" u="none" strike="noStrike" kern="100" cap="all" spc="110" normalizeH="0" baseline="0" noProof="0" dirty="0">
              <a:ln>
                <a:noFill/>
              </a:ln>
              <a:solidFill>
                <a:srgbClr val="417632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Desenvolvimento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empoderamento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envolvimento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nossas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pessoas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suporte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criação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valor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para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nossos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clientes</a:t>
            </a:r>
            <a:endParaRPr kumimoji="0" lang="en-US" sz="1400" b="0" i="0" u="none" strike="noStrike" kern="100" cap="none" spc="1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ZoneTexte 46"/>
          <p:cNvSpPr txBox="1"/>
          <p:nvPr/>
        </p:nvSpPr>
        <p:spPr>
          <a:xfrm>
            <a:off x="4596830" y="3460686"/>
            <a:ext cx="6343164" cy="53604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00" cap="all" spc="1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ENTENDIMENTO DE VALOR</a:t>
            </a:r>
            <a:endParaRPr kumimoji="0" lang="en-US" sz="1400" b="1" i="0" u="none" strike="noStrike" kern="100" cap="all" spc="1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lang="en-US" sz="1400" kern="100" spc="110" dirty="0" err="1" smtClean="0">
                <a:solidFill>
                  <a:srgbClr val="000000"/>
                </a:solidFill>
              </a:rPr>
              <a:t>Percebido</a:t>
            </a:r>
            <a:r>
              <a:rPr lang="en-US" sz="1400" kern="100" spc="110" dirty="0" smtClean="0">
                <a:solidFill>
                  <a:srgbClr val="000000"/>
                </a:solidFill>
              </a:rPr>
              <a:t> </a:t>
            </a:r>
            <a:r>
              <a:rPr lang="en-US" sz="1400" kern="100" spc="110" dirty="0" err="1" smtClean="0">
                <a:solidFill>
                  <a:srgbClr val="000000"/>
                </a:solidFill>
              </a:rPr>
              <a:t>pelo</a:t>
            </a:r>
            <a:r>
              <a:rPr lang="en-US" sz="1400" kern="100" spc="110" dirty="0" smtClean="0">
                <a:solidFill>
                  <a:srgbClr val="000000"/>
                </a:solidFill>
              </a:rPr>
              <a:t> </a:t>
            </a:r>
            <a:r>
              <a:rPr lang="en-US" sz="1400" kern="100" spc="110" dirty="0" err="1" smtClean="0">
                <a:solidFill>
                  <a:srgbClr val="000000"/>
                </a:solidFill>
              </a:rPr>
              <a:t>cliente</a:t>
            </a:r>
            <a:endParaRPr kumimoji="0" lang="en-US" sz="1400" b="0" i="0" u="none" strike="noStrike" kern="100" cap="none" spc="1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ZoneTexte 48"/>
          <p:cNvSpPr txBox="1"/>
          <p:nvPr/>
        </p:nvSpPr>
        <p:spPr>
          <a:xfrm>
            <a:off x="4596830" y="4443589"/>
            <a:ext cx="7458550" cy="53604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00" cap="all" spc="1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ELIMINAÇÃO DE ATIVIDADES QUE NÃO GERAM VALOR AGREGADO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Investimento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tempo e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recursos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atividades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que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geram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valor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agregado</a:t>
            </a:r>
            <a:endParaRPr kumimoji="0" lang="en-US" sz="1400" b="0" i="0" u="none" strike="noStrike" kern="100" cap="none" spc="1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ZoneTexte 49"/>
          <p:cNvSpPr txBox="1"/>
          <p:nvPr/>
        </p:nvSpPr>
        <p:spPr>
          <a:xfrm>
            <a:off x="4596830" y="5330817"/>
            <a:ext cx="7458550" cy="53604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00" cap="all" spc="1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EVOLUÇÃO CONTÍNUA DA CRIAÇÃO DE VALOR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Persistentemente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perseguir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eliminação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atividades</a:t>
            </a:r>
            <a:r>
              <a:rPr kumimoji="0" lang="en-US" sz="1400" b="0" i="0" u="none" strike="noStrike" kern="100" cap="none" spc="11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que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não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400" b="0" i="0" u="none" strike="noStrike" kern="100" cap="none" spc="11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geram</a:t>
            </a:r>
            <a:r>
              <a:rPr kumimoji="0" lang="en-US" sz="1400" b="0" i="0" u="none" strike="noStrike" kern="100" cap="none" spc="11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valor</a:t>
            </a:r>
            <a:endParaRPr kumimoji="0" lang="en-US" sz="1400" b="0" i="0" u="none" strike="noStrike" kern="100" cap="none" spc="1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804667" y="5392536"/>
            <a:ext cx="48736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reflection blurRad="6350" stA="32000" endA="300" endPos="20000" dir="5400000" sy="-100000" algn="bl" rotWithShape="0"/>
          </a:effectLst>
        </p:spPr>
      </p:pic>
      <p:sp>
        <p:nvSpPr>
          <p:cNvPr id="33" name="Title 10"/>
          <p:cNvSpPr txBox="1">
            <a:spLocks/>
          </p:cNvSpPr>
          <p:nvPr/>
        </p:nvSpPr>
        <p:spPr>
          <a:xfrm>
            <a:off x="3926458" y="1562722"/>
            <a:ext cx="8362950" cy="868362"/>
          </a:xfrm>
          <a:prstGeom prst="rect">
            <a:avLst/>
          </a:prstGeom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H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0326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152" y="122762"/>
            <a:ext cx="14630400" cy="553998"/>
          </a:xfrm>
        </p:spPr>
        <p:txBody>
          <a:bodyPr/>
          <a:lstStyle/>
          <a:p>
            <a:r>
              <a:rPr lang="pt-BR" dirty="0"/>
              <a:t>Gestão a Vista – </a:t>
            </a:r>
            <a:r>
              <a:rPr lang="pt-BR" dirty="0" smtClean="0"/>
              <a:t>Entregáveis</a:t>
            </a:r>
            <a:endParaRPr lang="pt-BR" dirty="0"/>
          </a:p>
        </p:txBody>
      </p:sp>
      <p:sp>
        <p:nvSpPr>
          <p:cNvPr id="15" name="CaixaDeTexto 14"/>
          <p:cNvSpPr txBox="1">
            <a:spLocks noChangeArrowheads="1"/>
          </p:cNvSpPr>
          <p:nvPr/>
        </p:nvSpPr>
        <p:spPr bwMode="auto">
          <a:xfrm>
            <a:off x="855192" y="1044402"/>
            <a:ext cx="12673408" cy="7625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pt-B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Comportamento</a:t>
            </a:r>
            <a:endParaRPr lang="pt-BR" sz="1200" dirty="0">
              <a:solidFill>
                <a:schemeClr val="bg2"/>
              </a:solidFill>
              <a:latin typeface="Gill Sans Std" pitchFamily="34" charset="0"/>
            </a:endParaRPr>
          </a:p>
          <a:p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Transformação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cultural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nas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equipes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 TD,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resutado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redução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desperdício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identificação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valor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agredado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cliente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. Para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que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isso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seja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possível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é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necessário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manter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uma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estrutura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funcional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das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práticas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vista,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compreendendo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manutenção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disseminação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conceito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princípios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práticas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ferramentas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apoio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.</a:t>
            </a:r>
          </a:p>
          <a:p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Ferramental</a:t>
            </a:r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pPr marL="285750" indent="-285750">
              <a:buFontTx/>
              <a:buChar char="-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Quadro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Revisão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Operacional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(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frequência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diária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semanal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, mensal e trimestral)</a:t>
            </a:r>
          </a:p>
          <a:p>
            <a:pPr marL="285750" indent="-285750">
              <a:buFontTx/>
              <a:buChar char="-"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Plano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Mestre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Operacional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Pareto</a:t>
            </a:r>
          </a:p>
          <a:p>
            <a:pPr marL="285750" indent="-285750">
              <a:buFontTx/>
              <a:buChar char="-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Formulário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para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resolução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problemas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baixa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complexidade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</a:endParaRPr>
          </a:p>
          <a:p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r>
              <a:rPr lang="en-US" sz="1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Legado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:</a:t>
            </a:r>
          </a:p>
          <a:p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Conhecimento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dos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Membros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do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Pilar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a Vista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nas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seguintes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competências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Pareto</a:t>
            </a:r>
          </a:p>
          <a:p>
            <a:pPr marL="285750" indent="-285750">
              <a:buFontTx/>
              <a:buChar char="-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Problema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pPr marL="285750" indent="-285750">
              <a:buFontTx/>
              <a:buChar char="-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por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Indicadores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(KPI)</a:t>
            </a:r>
          </a:p>
          <a:p>
            <a:pPr marL="285750" indent="-285750">
              <a:buFontTx/>
              <a:buChar char="-"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Gestão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por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resultado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pPr marL="285750" indent="-285750">
              <a:buFontTx/>
              <a:buChar char="-"/>
            </a:pPr>
            <a:r>
              <a:rPr lang="en-US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Mind-set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de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causa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raíz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pPr marL="285750" indent="-285750">
              <a:buFontTx/>
              <a:buChar char="-"/>
            </a:pPr>
            <a:r>
              <a:rPr lang="en-US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ヒラギノ角ゴ ProN W3" charset="-128"/>
                <a:cs typeface="+mn-cs"/>
                <a:sym typeface="Gill Sans"/>
              </a:rPr>
              <a:t>Lean Value Stream Map</a:t>
            </a:r>
          </a:p>
          <a:p>
            <a:pPr marL="285750" indent="-285750">
              <a:buFontTx/>
              <a:buChar char="-"/>
            </a:pPr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ea typeface="ヒラギノ角ゴ ProN W3" charset="-128"/>
              <a:cs typeface="+mn-cs"/>
              <a:sym typeface="Gill Sans"/>
            </a:endParaRPr>
          </a:p>
          <a:p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808198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heme/theme1.xml><?xml version="1.0" encoding="utf-8"?>
<a:theme xmlns:a="http://schemas.openxmlformats.org/drawingml/2006/main" name="4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BAA5ED8EE6388645B769626151DBEE91" ma:contentTypeVersion="0" ma:contentTypeDescription="Crie uma nova pasta." ma:contentTypeScope="" ma:versionID="c362ef125ec5f6e96bd642d33998fa8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B8FB9-CA55-4FE3-979B-7DC49693F7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BCBDA6-2E36-4CB7-B64B-EBB9C7049DE9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C9E1019-BF80-48D8-AEA7-3A4187FBE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46501</TotalTime>
  <Words>725</Words>
  <Application>Microsoft Office PowerPoint</Application>
  <PresentationFormat>Personalizar</PresentationFormat>
  <Paragraphs>108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40_6096</vt:lpstr>
      <vt:lpstr>Gestão a Vista – Governança VP TD 2015</vt:lpstr>
      <vt:lpstr>Gestão a Vista – Governança VP TD 2015</vt:lpstr>
      <vt:lpstr>Gestão a Vista – O que queremos com isso?</vt:lpstr>
      <vt:lpstr>Gestão a Vista – Os 4 príncipios que nos norteiam</vt:lpstr>
      <vt:lpstr>Gestão a Vista – Entregáveis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BR92449</dc:creator>
  <cp:lastModifiedBy>br93826</cp:lastModifiedBy>
  <cp:revision>2753</cp:revision>
  <cp:lastPrinted>2014-05-15T19:48:27Z</cp:lastPrinted>
  <dcterms:created xsi:type="dcterms:W3CDTF">2013-06-28T13:33:22Z</dcterms:created>
  <dcterms:modified xsi:type="dcterms:W3CDTF">2015-05-26T18:18:30Z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0x012000BAA5ED8EE6388645B769626151DBEE91</vt:lpwstr>
  </property>
</Properties>
</file>