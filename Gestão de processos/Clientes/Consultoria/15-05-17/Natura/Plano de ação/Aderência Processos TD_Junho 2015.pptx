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15" r:id="rId2"/>
    <p:sldId id="321" r:id="rId3"/>
    <p:sldId id="324" r:id="rId4"/>
    <p:sldId id="319" r:id="rId5"/>
    <p:sldId id="316" r:id="rId6"/>
    <p:sldId id="317" r:id="rId7"/>
    <p:sldId id="325" r:id="rId8"/>
    <p:sldId id="318" r:id="rId9"/>
    <p:sldId id="323" r:id="rId10"/>
    <p:sldId id="294" r:id="rId11"/>
    <p:sldId id="322" r:id="rId12"/>
    <p:sldId id="320" r:id="rId13"/>
  </p:sldIdLst>
  <p:sldSz cx="9144000" cy="5145088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3333CC"/>
    <a:srgbClr val="6E6259"/>
    <a:srgbClr val="FFFF66"/>
    <a:srgbClr val="009999"/>
    <a:srgbClr val="FFFFCC"/>
    <a:srgbClr val="00AEC7"/>
    <a:srgbClr val="D9D9D6"/>
    <a:srgbClr val="7C6992"/>
    <a:srgbClr val="888B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7610" autoAdjust="0"/>
    <p:restoredTop sz="98046" autoAdjust="0"/>
  </p:normalViewPr>
  <p:slideViewPr>
    <p:cSldViewPr>
      <p:cViewPr>
        <p:scale>
          <a:sx n="100" d="100"/>
          <a:sy n="100" d="100"/>
        </p:scale>
        <p:origin x="-930" y="-408"/>
      </p:cViewPr>
      <p:guideLst>
        <p:guide orient="horz" pos="162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DE6E5-E07D-4B09-8E65-F65F958CE3EF}" type="datetimeFigureOut">
              <a:rPr lang="pt-BR" smtClean="0"/>
              <a:t>10/06/2015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78FC1-7175-4FC0-9A71-4055CB28838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762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013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932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981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965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10/06/2015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48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10/06/2015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79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10/06/2015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556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543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818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2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829"/>
            <a:ext cx="2057400" cy="329309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829"/>
            <a:ext cx="6019800" cy="329309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10/06/2015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2961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060FA-F017-416B-92AB-F93AA45D987F}" type="datetimeFigureOut">
              <a:rPr lang="pt-BR" smtClean="0"/>
              <a:t>10/06/2015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929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5" Type="http://schemas.openxmlformats.org/officeDocument/2006/relationships/slide" Target="slide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" Target="slide5.xml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slide" Target="slide8.xml"/><Relationship Id="rId5" Type="http://schemas.openxmlformats.org/officeDocument/2006/relationships/image" Target="../media/image7.png"/><Relationship Id="rId10" Type="http://schemas.openxmlformats.org/officeDocument/2006/relationships/slide" Target="slide6.xml"/><Relationship Id="rId4" Type="http://schemas.openxmlformats.org/officeDocument/2006/relationships/image" Target="../media/image6.png"/><Relationship Id="rId9" Type="http://schemas.openxmlformats.org/officeDocument/2006/relationships/slide" Target="slide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slide" Target="slide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slide" Target="slide4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Dados Gerais – Gestão de Chamados (Incidente e Requisição)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8"/>
          <p:cNvSpPr txBox="1">
            <a:spLocks noChangeArrowheads="1"/>
          </p:cNvSpPr>
          <p:nvPr/>
        </p:nvSpPr>
        <p:spPr bwMode="auto">
          <a:xfrm>
            <a:off x="6025808" y="2948026"/>
            <a:ext cx="3010624" cy="1808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Fatos e Dados:</a:t>
            </a:r>
            <a:r>
              <a:rPr lang="pt-BR" sz="1200" b="1" dirty="0">
                <a:solidFill>
                  <a:srgbClr val="6E6259"/>
                </a:solidFill>
                <a:latin typeface="Gill Sans Std Light" pitchFamily="34" charset="0"/>
              </a:rPr>
              <a:t/>
            </a:r>
            <a:br>
              <a:rPr lang="pt-BR" sz="1200" b="1" dirty="0">
                <a:solidFill>
                  <a:srgbClr val="6E6259"/>
                </a:solidFill>
                <a:latin typeface="Gill Sans Std Light" pitchFamily="34" charset="0"/>
              </a:rPr>
            </a:br>
            <a:endParaRPr lang="pt-BR" sz="1200" b="1" dirty="0" smtClean="0">
              <a:solidFill>
                <a:srgbClr val="6E6259"/>
              </a:solidFill>
              <a:latin typeface="Gill Sans Std Light" pitchFamily="34" charset="0"/>
            </a:endParaRPr>
          </a:p>
          <a:p>
            <a:pPr marL="285750" indent="-285750" eaLnBrk="1" hangingPunct="1">
              <a:buFont typeface="Courier New" pitchFamily="49" charset="0"/>
              <a:buChar char="o"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~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10.500 usuários ativos (BR + </a:t>
            </a:r>
            <a:r>
              <a:rPr lang="pt-BR" sz="1200" dirty="0" err="1">
                <a:solidFill>
                  <a:srgbClr val="6E6259"/>
                </a:solidFill>
                <a:latin typeface="Gill Sans Std Light" pitchFamily="34" charset="0"/>
                <a:ea typeface="+mn-ea"/>
              </a:rPr>
              <a:t>OIs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)</a:t>
            </a:r>
          </a:p>
          <a:p>
            <a:pPr marL="285750" lvl="0" indent="-285750" eaLnBrk="1" hangingPunct="1">
              <a:buFont typeface="Courier New" pitchFamily="49" charset="0"/>
              <a:buChar char="o"/>
            </a:pP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TD-SD - 1 NIVEL é o maior grupo solucionador,  com uma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média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de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4 k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chamados / mês representando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~20%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da TD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Mais de 400 grupos Solucionadores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existentes e ativos </a:t>
            </a:r>
          </a:p>
        </p:txBody>
      </p:sp>
      <p:sp>
        <p:nvSpPr>
          <p:cNvPr id="9" name="CaixaDeTexto 8"/>
          <p:cNvSpPr txBox="1">
            <a:spLocks noChangeArrowheads="1"/>
          </p:cNvSpPr>
          <p:nvPr/>
        </p:nvSpPr>
        <p:spPr bwMode="auto">
          <a:xfrm>
            <a:off x="174179" y="2996239"/>
            <a:ext cx="5765974" cy="1993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Principais </a:t>
            </a:r>
            <a:r>
              <a:rPr lang="pt-BR" sz="1200" b="1" dirty="0" err="1">
                <a:solidFill>
                  <a:srgbClr val="6E6259"/>
                </a:solidFill>
                <a:latin typeface="Gill Sans Std Light" pitchFamily="34" charset="0"/>
                <a:ea typeface="+mn-ea"/>
              </a:rPr>
              <a:t>GAPs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:</a:t>
            </a:r>
            <a:b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</a:br>
            <a:endParaRPr lang="pt-BR" sz="1200" b="1" dirty="0" smtClean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Inexistência de processo de gestão de Chamados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Ineficiência na gestão da prioridade (impacto x urgência) dos chamados (INC e REQ)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Contratos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com fornecedores não favorece SLA de usuário (e sim </a:t>
            </a:r>
            <a:r>
              <a:rPr lang="pt-BR" sz="1200" dirty="0" err="1">
                <a:solidFill>
                  <a:srgbClr val="6E6259"/>
                </a:solidFill>
                <a:latin typeface="Gill Sans Std Light" pitchFamily="34" charset="0"/>
                <a:ea typeface="+mn-ea"/>
              </a:rPr>
              <a:t>SLOs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 contratuais)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Comunicação e Gestão ineficientes (objetivos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e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resultados)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– Gestão a Vista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Gestão da Configuração – Processo e Controles ineficientes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Falta de visibilidade com relação a maturidade de processos na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TD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Complexidade para gerar relatórios e indicadores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itchFamily="49" charset="0"/>
              <a:buChar char="o"/>
              <a:tabLst/>
              <a:defRPr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Duplicidade de base de Incidente (Sharepoint ITSM e CA SDM)</a:t>
            </a:r>
            <a:endParaRPr lang="pt-BR" sz="1200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</p:txBody>
      </p:sp>
      <p:cxnSp>
        <p:nvCxnSpPr>
          <p:cNvPr id="11" name="Conector reto 10"/>
          <p:cNvCxnSpPr/>
          <p:nvPr/>
        </p:nvCxnSpPr>
        <p:spPr bwMode="auto">
          <a:xfrm flipH="1" flipV="1">
            <a:off x="174179" y="2820889"/>
            <a:ext cx="8784976" cy="11112"/>
          </a:xfrm>
          <a:prstGeom prst="line">
            <a:avLst/>
          </a:prstGeom>
          <a:noFill/>
          <a:ln w="31750" cap="flat" cmpd="sng" algn="ctr">
            <a:solidFill>
              <a:srgbClr val="D5D5D5"/>
            </a:solidFill>
            <a:prstDash val="solid"/>
            <a:headEnd type="none" w="med" len="med"/>
            <a:tailEnd type="none" w="med" len="med"/>
          </a:ln>
          <a:effectLst/>
          <a:extLst/>
        </p:spPr>
      </p:cxnSp>
      <p:cxnSp>
        <p:nvCxnSpPr>
          <p:cNvPr id="12" name="Conector reto 11"/>
          <p:cNvCxnSpPr/>
          <p:nvPr/>
        </p:nvCxnSpPr>
        <p:spPr>
          <a:xfrm>
            <a:off x="5949608" y="2996239"/>
            <a:ext cx="0" cy="1883214"/>
          </a:xfrm>
          <a:prstGeom prst="line">
            <a:avLst/>
          </a:prstGeom>
          <a:noFill/>
          <a:ln w="31750" cap="flat" cmpd="sng" algn="ctr">
            <a:solidFill>
              <a:srgbClr val="D5D5D5"/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2" name="Retângulo 1"/>
          <p:cNvSpPr/>
          <p:nvPr/>
        </p:nvSpPr>
        <p:spPr>
          <a:xfrm>
            <a:off x="5897952" y="2528416"/>
            <a:ext cx="300114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50" b="1" dirty="0" smtClean="0">
                <a:solidFill>
                  <a:srgbClr val="6E6259"/>
                </a:solidFill>
                <a:latin typeface="Gill Sans Std Light" pitchFamily="34" charset="0"/>
              </a:rPr>
              <a:t>*metas definidas conforme benchmarking externo</a:t>
            </a:r>
            <a:endParaRPr lang="pt-BR" sz="1050" dirty="0"/>
          </a:p>
        </p:txBody>
      </p:sp>
      <p:sp>
        <p:nvSpPr>
          <p:cNvPr id="7" name="Texto explicativo em seta para cima 6">
            <a:hlinkClick r:id="rId3" action="ppaction://hlinksldjump"/>
          </p:cNvPr>
          <p:cNvSpPr/>
          <p:nvPr/>
        </p:nvSpPr>
        <p:spPr>
          <a:xfrm>
            <a:off x="359491" y="2490539"/>
            <a:ext cx="1872208" cy="298029"/>
          </a:xfrm>
          <a:prstGeom prst="upArrowCallou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Clique para detalhes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59" y="785564"/>
            <a:ext cx="2133600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005" y="776039"/>
            <a:ext cx="653415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739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Dados Gerais – Gestão de Chamados (Incidente e Requisição)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6" name="Retângulo de cantos arredondados 5"/>
          <p:cNvSpPr/>
          <p:nvPr/>
        </p:nvSpPr>
        <p:spPr>
          <a:xfrm>
            <a:off x="3165748" y="3002495"/>
            <a:ext cx="278506" cy="216955"/>
          </a:xfrm>
          <a:prstGeom prst="roundRect">
            <a:avLst/>
          </a:prstGeom>
          <a:noFill/>
          <a:ln w="19050">
            <a:solidFill>
              <a:srgbClr val="FF0000">
                <a:alpha val="53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de seta reta 8"/>
          <p:cNvCxnSpPr/>
          <p:nvPr/>
        </p:nvCxnSpPr>
        <p:spPr>
          <a:xfrm flipH="1">
            <a:off x="1588604" y="3201566"/>
            <a:ext cx="1517092" cy="1093836"/>
          </a:xfrm>
          <a:prstGeom prst="straightConnector1">
            <a:avLst/>
          </a:prstGeom>
          <a:noFill/>
          <a:ln w="19050">
            <a:solidFill>
              <a:srgbClr val="FF0000">
                <a:alpha val="53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ector de seta reta 44"/>
          <p:cNvCxnSpPr>
            <a:endCxn id="46" idx="3"/>
          </p:cNvCxnSpPr>
          <p:nvPr/>
        </p:nvCxnSpPr>
        <p:spPr>
          <a:xfrm flipH="1" flipV="1">
            <a:off x="5527154" y="3110496"/>
            <a:ext cx="917054" cy="232827"/>
          </a:xfrm>
          <a:prstGeom prst="straightConnector1">
            <a:avLst/>
          </a:prstGeom>
          <a:noFill/>
          <a:ln w="19050">
            <a:solidFill>
              <a:srgbClr val="00B050">
                <a:alpha val="53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Retângulo de cantos arredondados 45"/>
          <p:cNvSpPr/>
          <p:nvPr/>
        </p:nvSpPr>
        <p:spPr>
          <a:xfrm>
            <a:off x="5222503" y="3028950"/>
            <a:ext cx="304651" cy="163091"/>
          </a:xfrm>
          <a:prstGeom prst="roundRect">
            <a:avLst/>
          </a:prstGeom>
          <a:noFill/>
          <a:ln w="19050">
            <a:solidFill>
              <a:srgbClr val="00B050">
                <a:alpha val="53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Seta para a direita listrada 64">
            <a:hlinkClick r:id="rId2" action="ppaction://hlinksldjump"/>
          </p:cNvPr>
          <p:cNvSpPr/>
          <p:nvPr/>
        </p:nvSpPr>
        <p:spPr>
          <a:xfrm rot="10800000">
            <a:off x="8532440" y="709861"/>
            <a:ext cx="504056" cy="436931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CaixaDeTexto 65"/>
          <p:cNvSpPr txBox="1"/>
          <p:nvPr/>
        </p:nvSpPr>
        <p:spPr>
          <a:xfrm>
            <a:off x="8518215" y="1130218"/>
            <a:ext cx="638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3333CC"/>
                </a:solidFill>
              </a:rPr>
              <a:t>Voltar</a:t>
            </a:r>
            <a:endParaRPr lang="pt-BR" sz="1200" b="1" dirty="0">
              <a:solidFill>
                <a:srgbClr val="3333CC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04" y="690811"/>
            <a:ext cx="6543675" cy="187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8" y="2567236"/>
            <a:ext cx="6524625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321457"/>
              </p:ext>
            </p:extLst>
          </p:nvPr>
        </p:nvGraphicFramePr>
        <p:xfrm>
          <a:off x="6690668" y="2932584"/>
          <a:ext cx="2304255" cy="1123950"/>
        </p:xfrm>
        <a:graphic>
          <a:graphicData uri="http://schemas.openxmlformats.org/drawingml/2006/table">
            <a:tbl>
              <a:tblPr/>
              <a:tblGrid>
                <a:gridCol w="1368151"/>
                <a:gridCol w="432048"/>
                <a:gridCol w="504056"/>
              </a:tblGrid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 smtClean="0">
                          <a:effectLst/>
                          <a:latin typeface="Arial"/>
                        </a:rPr>
                        <a:t>Grupo</a:t>
                      </a:r>
                    </a:p>
                    <a:p>
                      <a:pPr algn="ctr" fontAlgn="b"/>
                      <a:endParaRPr lang="pt-BR" sz="1000" b="1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 smtClean="0">
                          <a:effectLst/>
                          <a:latin typeface="Arial"/>
                        </a:rPr>
                        <a:t>Total</a:t>
                      </a:r>
                    </a:p>
                    <a:p>
                      <a:pPr algn="ctr" fontAlgn="b"/>
                      <a:endParaRPr lang="pt-BR" sz="1000" b="1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>
                          <a:effectLst/>
                          <a:latin typeface="Arial"/>
                        </a:rPr>
                        <a:t>% do 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TD-EXPCN - NIVEL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3638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23,9%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TD-SD - 1 NIVEL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3195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21,0%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TD-GAC-ISAM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948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6,2%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TD-GAC-SAP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4,6%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TD-SD - SUPORTNET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515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3,4%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eta para baixo 16"/>
          <p:cNvSpPr/>
          <p:nvPr/>
        </p:nvSpPr>
        <p:spPr bwMode="auto">
          <a:xfrm rot="16200000">
            <a:off x="6341806" y="3312799"/>
            <a:ext cx="279201" cy="400527"/>
          </a:xfrm>
          <a:prstGeom prst="downArrow">
            <a:avLst/>
          </a:prstGeom>
          <a:solidFill>
            <a:schemeClr val="tx1">
              <a:lumMod val="95000"/>
              <a:lumOff val="5000"/>
              <a:alpha val="25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defTabSz="89535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pt-BR" sz="1200" b="1">
              <a:latin typeface="Arial" charset="0"/>
            </a:endParaRPr>
          </a:p>
        </p:txBody>
      </p:sp>
      <p:sp>
        <p:nvSpPr>
          <p:cNvPr id="10" name="Retângulo de cantos arredondados 9"/>
          <p:cNvSpPr/>
          <p:nvPr/>
        </p:nvSpPr>
        <p:spPr>
          <a:xfrm>
            <a:off x="3635895" y="1111168"/>
            <a:ext cx="384423" cy="3132468"/>
          </a:xfrm>
          <a:prstGeom prst="roundRect">
            <a:avLst/>
          </a:prstGeom>
          <a:solidFill>
            <a:schemeClr val="tx1">
              <a:lumMod val="95000"/>
              <a:lumOff val="5000"/>
              <a:alpha val="25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defTabSz="89535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pt-BR" sz="1200" b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2" name="Texto explicativo em seta para cima 11">
            <a:hlinkClick r:id="rId5" action="ppaction://hlinksldjump"/>
          </p:cNvPr>
          <p:cNvSpPr/>
          <p:nvPr/>
        </p:nvSpPr>
        <p:spPr>
          <a:xfrm>
            <a:off x="2800944" y="4330731"/>
            <a:ext cx="2016223" cy="618077"/>
          </a:xfrm>
          <a:prstGeom prst="upArrowCallou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GAP abertura x resolvidos </a:t>
            </a:r>
            <a:br>
              <a:rPr lang="pt-B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pt-B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Clique 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para detalhes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080334"/>
              </p:ext>
            </p:extLst>
          </p:nvPr>
        </p:nvGraphicFramePr>
        <p:xfrm>
          <a:off x="5374828" y="4516760"/>
          <a:ext cx="3657600" cy="48577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61925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Saldo</a:t>
                      </a:r>
                      <a:r>
                        <a:rPr lang="pt-BR" sz="1000" b="1" i="0" u="none" strike="noStrike" dirty="0">
                          <a:effectLst/>
                          <a:latin typeface="Arial"/>
                        </a:rPr>
                        <a:t> </a:t>
                      </a:r>
                      <a:r>
                        <a:rPr lang="pt-BR" sz="1000" b="1" i="0" u="none" strike="noStrike" dirty="0" err="1">
                          <a:effectLst/>
                          <a:latin typeface="Arial"/>
                        </a:rPr>
                        <a:t>backlog</a:t>
                      </a:r>
                      <a:r>
                        <a:rPr lang="pt-BR" sz="1000" b="1" i="0" u="none" strike="noStrike" dirty="0">
                          <a:effectLst/>
                          <a:latin typeface="Arial"/>
                        </a:rPr>
                        <a:t>, por mês de abertura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Jan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Fev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Março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Abril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Maio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148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216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846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2637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4341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8188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Retângulo 12"/>
          <p:cNvSpPr/>
          <p:nvPr/>
        </p:nvSpPr>
        <p:spPr>
          <a:xfrm>
            <a:off x="4355976" y="2567236"/>
            <a:ext cx="4680520" cy="172816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/>
          <p:cNvSpPr txBox="1"/>
          <p:nvPr/>
        </p:nvSpPr>
        <p:spPr>
          <a:xfrm>
            <a:off x="4932040" y="4463802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!!</a:t>
            </a:r>
            <a:endParaRPr lang="pt-BR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4960614" y="4447801"/>
            <a:ext cx="4116709" cy="60077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555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477290"/>
              </p:ext>
            </p:extLst>
          </p:nvPr>
        </p:nvGraphicFramePr>
        <p:xfrm>
          <a:off x="409253" y="1060377"/>
          <a:ext cx="3456384" cy="1781175"/>
        </p:xfrm>
        <a:graphic>
          <a:graphicData uri="http://schemas.openxmlformats.org/drawingml/2006/table">
            <a:tbl>
              <a:tblPr/>
              <a:tblGrid>
                <a:gridCol w="2088232"/>
                <a:gridCol w="576064"/>
                <a:gridCol w="792088"/>
              </a:tblGrid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effectLst/>
                          <a:latin typeface="Arial"/>
                        </a:rPr>
                        <a:t>Usuário final afetado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>
                          <a:effectLst/>
                          <a:latin typeface="Arial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>
                          <a:effectLst/>
                          <a:latin typeface="Arial"/>
                        </a:rPr>
                        <a:t>% do 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UC4USER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6179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22%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MONITORAÇÃO NATURA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1153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4,1%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ServiceDesk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648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2,3%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CENTRAL DE COMANDO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592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2,1%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BACKOFFICE AFV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368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1,3%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EXPCN - TATIANA MAGLIO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282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BACKOFFICE ATO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229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0,8%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Service Desk AD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0,7%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EXPCN - MICHAEL </a:t>
                      </a:r>
                      <a:r>
                        <a:rPr lang="pt-BR" sz="1000" b="0" i="0" u="none" strike="noStrike" dirty="0" smtClean="0">
                          <a:effectLst/>
                          <a:latin typeface="Arial"/>
                        </a:rPr>
                        <a:t>FREITAS</a:t>
                      </a:r>
                      <a:endParaRPr lang="pt-BR" sz="10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0,7%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PRODUCAO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0,5%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657006"/>
              </p:ext>
            </p:extLst>
          </p:nvPr>
        </p:nvGraphicFramePr>
        <p:xfrm>
          <a:off x="3955008" y="1636441"/>
          <a:ext cx="5081488" cy="809625"/>
        </p:xfrm>
        <a:graphic>
          <a:graphicData uri="http://schemas.openxmlformats.org/drawingml/2006/table">
            <a:tbl>
              <a:tblPr/>
              <a:tblGrid>
                <a:gridCol w="3785344"/>
                <a:gridCol w="360040"/>
                <a:gridCol w="936104"/>
              </a:tblGrid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effectLst/>
                          <a:latin typeface="Arial"/>
                        </a:rPr>
                        <a:t>Categoria do Chamado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0" u="none" strike="noStrike">
                          <a:effectLst/>
                          <a:latin typeface="Arial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0" u="none" strike="noStrike">
                          <a:effectLst/>
                          <a:latin typeface="Arial"/>
                        </a:rPr>
                        <a:t>% do total UC4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SISTEMAS.SAP.SAP-SD FATURAMENTO CN.JOBS.Prioridade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2045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33,1%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SISTEMAS.ETL.JOBS.Prioridade 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793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12,8%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SISTEMAS.SAP.SAP-SD TRANSPORTES.JOBS.Prioridade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537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8,7%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SISTEMAS.SAP.SAP-SD </a:t>
                      </a:r>
                      <a:r>
                        <a:rPr lang="pt-BR" sz="1000" b="0" i="0" u="none" strike="noStrike" dirty="0" err="1">
                          <a:effectLst/>
                          <a:latin typeface="Arial"/>
                        </a:rPr>
                        <a:t>SEPARAÇÃO.JOBS.Prioridade</a:t>
                      </a:r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381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6,2%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1430"/>
              </p:ext>
            </p:extLst>
          </p:nvPr>
        </p:nvGraphicFramePr>
        <p:xfrm>
          <a:off x="395536" y="3148609"/>
          <a:ext cx="3456384" cy="1781175"/>
        </p:xfrm>
        <a:graphic>
          <a:graphicData uri="http://schemas.openxmlformats.org/drawingml/2006/table">
            <a:tbl>
              <a:tblPr/>
              <a:tblGrid>
                <a:gridCol w="2088232"/>
                <a:gridCol w="576064"/>
                <a:gridCol w="792088"/>
              </a:tblGrid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effectLst/>
                          <a:latin typeface="Arial"/>
                        </a:rPr>
                        <a:t>Usuário final afetado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>
                          <a:effectLst/>
                          <a:latin typeface="Arial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effectLst/>
                          <a:latin typeface="Arial"/>
                        </a:rPr>
                        <a:t>% do 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UC4USER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2335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9,7%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MONITORAÇÃO NATURA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1081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4,5%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ServiceDesk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642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2,7%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CENTRAL DE COMANDO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641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2,7%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BACKOFFICE AFV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418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EXPCN - TATIANA MAGLIO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284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BACKOFFICE ATO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234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1,0%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Service Desk AD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0,8%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EXPCN - MICHAEL </a:t>
                      </a:r>
                      <a:r>
                        <a:rPr lang="pt-BR" sz="1000" b="0" i="0" u="none" strike="noStrike" dirty="0" smtClean="0">
                          <a:effectLst/>
                          <a:latin typeface="Arial"/>
                        </a:rPr>
                        <a:t>FREITAS</a:t>
                      </a:r>
                      <a:endParaRPr lang="pt-BR" sz="1000" b="0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0,8%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PRODUCAO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0,6%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eta para baixo 7"/>
          <p:cNvSpPr/>
          <p:nvPr/>
        </p:nvSpPr>
        <p:spPr bwMode="auto">
          <a:xfrm rot="18424985">
            <a:off x="3956259" y="1334738"/>
            <a:ext cx="279201" cy="400528"/>
          </a:xfrm>
          <a:prstGeom prst="downArrow">
            <a:avLst/>
          </a:prstGeom>
          <a:solidFill>
            <a:srgbClr val="FF0000">
              <a:alpha val="14000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defTabSz="89535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pt-BR" sz="1200" b="1">
              <a:latin typeface="Arial" charset="0"/>
            </a:endParaRPr>
          </a:p>
        </p:txBody>
      </p:sp>
      <p:sp>
        <p:nvSpPr>
          <p:cNvPr id="9" name="Retângulo de cantos arredondados 8"/>
          <p:cNvSpPr/>
          <p:nvPr/>
        </p:nvSpPr>
        <p:spPr bwMode="auto">
          <a:xfrm>
            <a:off x="2483768" y="1194868"/>
            <a:ext cx="1368152" cy="216024"/>
          </a:xfrm>
          <a:prstGeom prst="roundRect">
            <a:avLst/>
          </a:prstGeom>
          <a:solidFill>
            <a:srgbClr val="FF0000">
              <a:alpha val="14000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endParaRPr kumimoji="0" lang="pt-B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922078"/>
              </p:ext>
            </p:extLst>
          </p:nvPr>
        </p:nvGraphicFramePr>
        <p:xfrm>
          <a:off x="3990212" y="3707136"/>
          <a:ext cx="4974276" cy="809625"/>
        </p:xfrm>
        <a:graphic>
          <a:graphicData uri="http://schemas.openxmlformats.org/drawingml/2006/table">
            <a:tbl>
              <a:tblPr/>
              <a:tblGrid>
                <a:gridCol w="3606124"/>
                <a:gridCol w="369570"/>
                <a:gridCol w="998582"/>
              </a:tblGrid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0" u="none" strike="noStrike" dirty="0">
                          <a:effectLst/>
                          <a:latin typeface="Arial"/>
                        </a:rPr>
                        <a:t>Categoria do Chamado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0" u="none" strike="noStrike">
                          <a:effectLst/>
                          <a:latin typeface="Arial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0" u="none" strike="noStrike">
                          <a:effectLst/>
                          <a:latin typeface="Arial"/>
                        </a:rPr>
                        <a:t>% do total UC4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SISTEMAS.SAP.SAP FI.JOBS.Prioridade 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366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15,7%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SISTEMAS.MONITORACAO.JOBS.ALERTA DE JOB CRITICO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294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12,6%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SISTEMAS.ETL.JOBS.Prioridade 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212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9,1%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SISTEMAS.CAPTAÇÃO.JOBS.Prioridade 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192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8,2%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eta para baixo 11"/>
          <p:cNvSpPr/>
          <p:nvPr/>
        </p:nvSpPr>
        <p:spPr bwMode="auto">
          <a:xfrm rot="18628743">
            <a:off x="3955273" y="3338219"/>
            <a:ext cx="279201" cy="400528"/>
          </a:xfrm>
          <a:prstGeom prst="downArrow">
            <a:avLst/>
          </a:prstGeom>
          <a:solidFill>
            <a:srgbClr val="FF0000">
              <a:alpha val="14000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defTabSz="89535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pt-BR" sz="1200" b="1">
              <a:latin typeface="Arial" charset="0"/>
            </a:endParaRP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2483768" y="3292625"/>
            <a:ext cx="1368152" cy="216024"/>
          </a:xfrm>
          <a:prstGeom prst="roundRect">
            <a:avLst/>
          </a:prstGeom>
          <a:solidFill>
            <a:srgbClr val="FF0000">
              <a:alpha val="14000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endParaRPr kumimoji="0" lang="pt-B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CaixaDeTexto 8"/>
          <p:cNvSpPr txBox="1">
            <a:spLocks noChangeArrowheads="1"/>
          </p:cNvSpPr>
          <p:nvPr/>
        </p:nvSpPr>
        <p:spPr bwMode="auto">
          <a:xfrm rot="16200000">
            <a:off x="-701095" y="1779474"/>
            <a:ext cx="1800199" cy="362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algn="ctr"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Abertura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</p:txBody>
      </p:sp>
      <p:sp>
        <p:nvSpPr>
          <p:cNvPr id="16" name="CaixaDeTexto 8"/>
          <p:cNvSpPr txBox="1">
            <a:spLocks noChangeArrowheads="1"/>
          </p:cNvSpPr>
          <p:nvPr/>
        </p:nvSpPr>
        <p:spPr bwMode="auto">
          <a:xfrm rot="16200000">
            <a:off x="-695091" y="3867707"/>
            <a:ext cx="1800199" cy="362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algn="ctr"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Resolução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Dados Gerais – GAP abertura x resolução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18" name="Seta para a direita listrada 17">
            <a:hlinkClick r:id="rId2" action="ppaction://hlinksldjump"/>
          </p:cNvPr>
          <p:cNvSpPr/>
          <p:nvPr/>
        </p:nvSpPr>
        <p:spPr>
          <a:xfrm rot="10800000">
            <a:off x="8532440" y="709861"/>
            <a:ext cx="504056" cy="436931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8518215" y="1130218"/>
            <a:ext cx="638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3333CC"/>
                </a:solidFill>
              </a:rPr>
              <a:t>Voltar</a:t>
            </a:r>
            <a:endParaRPr lang="pt-BR" sz="1200" b="1" dirty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68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Gestão de Chamados (Incidente e Requisição)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have direita 1"/>
          <p:cNvSpPr/>
          <p:nvPr/>
        </p:nvSpPr>
        <p:spPr>
          <a:xfrm>
            <a:off x="7020272" y="935301"/>
            <a:ext cx="288032" cy="3434954"/>
          </a:xfrm>
          <a:prstGeom prst="rightBrace">
            <a:avLst/>
          </a:prstGeom>
          <a:noFill/>
          <a:ln w="31750" cap="flat" cmpd="sng" algn="ctr">
            <a:solidFill>
              <a:srgbClr val="D5D5D5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8"/>
          <p:cNvSpPr txBox="1">
            <a:spLocks noChangeArrowheads="1"/>
          </p:cNvSpPr>
          <p:nvPr/>
        </p:nvSpPr>
        <p:spPr bwMode="auto">
          <a:xfrm>
            <a:off x="7380312" y="2046752"/>
            <a:ext cx="1368120" cy="1223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Indicadores do GTD.05 e Indicadores de Apoio Operacional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</p:txBody>
      </p:sp>
      <p:sp>
        <p:nvSpPr>
          <p:cNvPr id="5" name="Texto explicativo retangular 4"/>
          <p:cNvSpPr/>
          <p:nvPr/>
        </p:nvSpPr>
        <p:spPr>
          <a:xfrm>
            <a:off x="467544" y="4545336"/>
            <a:ext cx="1962532" cy="441037"/>
          </a:xfrm>
          <a:prstGeom prst="wedgeRectCallout">
            <a:avLst>
              <a:gd name="adj1" fmla="val -34043"/>
              <a:gd name="adj2" fmla="val -76606"/>
            </a:avLst>
          </a:prstGeom>
          <a:noFill/>
          <a:ln w="12700">
            <a:solidFill>
              <a:schemeClr val="tx1">
                <a:lumMod val="85000"/>
                <a:lumOff val="15000"/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smtClean="0">
                <a:solidFill>
                  <a:schemeClr val="tx1"/>
                </a:solidFill>
              </a:rPr>
              <a:t>Indicador considera chamados abertos por usuário, aberto para as equipes de DI N1 e N2</a:t>
            </a:r>
            <a:endParaRPr lang="pt-BR" sz="900" dirty="0">
              <a:solidFill>
                <a:schemeClr val="tx1"/>
              </a:solidFill>
            </a:endParaRPr>
          </a:p>
        </p:txBody>
      </p:sp>
      <p:sp>
        <p:nvSpPr>
          <p:cNvPr id="19" name="Texto explicativo retangular 18"/>
          <p:cNvSpPr/>
          <p:nvPr/>
        </p:nvSpPr>
        <p:spPr>
          <a:xfrm>
            <a:off x="4860032" y="2733498"/>
            <a:ext cx="2016224" cy="576064"/>
          </a:xfrm>
          <a:prstGeom prst="wedgeRectCallout">
            <a:avLst>
              <a:gd name="adj1" fmla="val -34043"/>
              <a:gd name="adj2" fmla="val -66685"/>
            </a:avLst>
          </a:prstGeom>
          <a:noFill/>
          <a:ln w="12700">
            <a:solidFill>
              <a:schemeClr val="tx1">
                <a:lumMod val="85000"/>
                <a:lumOff val="15000"/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Indicador considera  média de dias em que os chamados demoraram para serem resolvidos, independente de turno de trabalho ou pausas</a:t>
            </a:r>
          </a:p>
        </p:txBody>
      </p:sp>
      <p:sp>
        <p:nvSpPr>
          <p:cNvPr id="21" name="Texto explicativo em seta para cima 20">
            <a:hlinkClick r:id="rId3" action="ppaction://hlinksldjump"/>
          </p:cNvPr>
          <p:cNvSpPr/>
          <p:nvPr/>
        </p:nvSpPr>
        <p:spPr>
          <a:xfrm rot="5400000">
            <a:off x="-641627" y="1643536"/>
            <a:ext cx="1714500" cy="298029"/>
          </a:xfrm>
          <a:prstGeom prst="upArrowCallou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Clique para detalhes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819" y="954545"/>
            <a:ext cx="2152650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665" y="945020"/>
            <a:ext cx="2084484" cy="1694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469" y="944140"/>
            <a:ext cx="2143125" cy="1694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665" y="2703553"/>
            <a:ext cx="2094154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674" y="2714448"/>
            <a:ext cx="2008188" cy="1709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Texto explicativo retangular 22"/>
          <p:cNvSpPr/>
          <p:nvPr/>
        </p:nvSpPr>
        <p:spPr>
          <a:xfrm>
            <a:off x="2486819" y="4517926"/>
            <a:ext cx="2008043" cy="576064"/>
          </a:xfrm>
          <a:prstGeom prst="wedgeRectCallout">
            <a:avLst>
              <a:gd name="adj1" fmla="val -34043"/>
              <a:gd name="adj2" fmla="val -66685"/>
            </a:avLst>
          </a:prstGeom>
          <a:noFill/>
          <a:ln w="12700">
            <a:solidFill>
              <a:schemeClr val="tx1">
                <a:lumMod val="85000"/>
                <a:lumOff val="15000"/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Indicador </a:t>
            </a:r>
            <a:r>
              <a:rPr lang="pt-BR" sz="900" dirty="0" smtClean="0">
                <a:solidFill>
                  <a:schemeClr val="tx1"/>
                </a:solidFill>
              </a:rPr>
              <a:t>compreende # de respostas positivas obtidas VS respostas obtidas, excluindo as respostas “não se aplica”</a:t>
            </a:r>
            <a:endParaRPr lang="pt-BR" sz="900" dirty="0">
              <a:solidFill>
                <a:schemeClr val="tx1"/>
              </a:solidFill>
            </a:endParaRPr>
          </a:p>
        </p:txBody>
      </p:sp>
      <p:sp>
        <p:nvSpPr>
          <p:cNvPr id="24" name="Arredondar Retângulo em um Canto Único 23">
            <a:hlinkClick r:id="rId9" action="ppaction://hlinksldjump"/>
          </p:cNvPr>
          <p:cNvSpPr/>
          <p:nvPr/>
        </p:nvSpPr>
        <p:spPr>
          <a:xfrm>
            <a:off x="2477149" y="656736"/>
            <a:ext cx="2162320" cy="2046817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 explicativo em seta para baixo 5"/>
          <p:cNvSpPr/>
          <p:nvPr/>
        </p:nvSpPr>
        <p:spPr>
          <a:xfrm>
            <a:off x="2541712" y="666261"/>
            <a:ext cx="2030288" cy="297809"/>
          </a:xfrm>
          <a:prstGeom prst="downArrowCallou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Clique para detalhes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Texto explicativo em seta para baixo 25"/>
          <p:cNvSpPr/>
          <p:nvPr/>
        </p:nvSpPr>
        <p:spPr>
          <a:xfrm>
            <a:off x="4716016" y="671509"/>
            <a:ext cx="2016224" cy="297809"/>
          </a:xfrm>
          <a:prstGeom prst="downArrowCallou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Clique para detalhes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Arredondar Retângulo em um Canto Único 26">
            <a:hlinkClick r:id="rId10" action="ppaction://hlinksldjump"/>
          </p:cNvPr>
          <p:cNvSpPr/>
          <p:nvPr/>
        </p:nvSpPr>
        <p:spPr>
          <a:xfrm>
            <a:off x="4644008" y="565845"/>
            <a:ext cx="2162320" cy="2046817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Texto explicativo em seta para baixo 27"/>
          <p:cNvSpPr/>
          <p:nvPr/>
        </p:nvSpPr>
        <p:spPr>
          <a:xfrm rot="5400000">
            <a:off x="3825387" y="3402973"/>
            <a:ext cx="1636758" cy="297809"/>
          </a:xfrm>
          <a:prstGeom prst="downArrowCallou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Clique para detalhes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Arredondar Retângulo em um Canto Único 28">
            <a:hlinkClick r:id="rId11" action="ppaction://hlinksldjump"/>
          </p:cNvPr>
          <p:cNvSpPr/>
          <p:nvPr/>
        </p:nvSpPr>
        <p:spPr>
          <a:xfrm>
            <a:off x="2475695" y="2639110"/>
            <a:ext cx="2316975" cy="2046817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Arredondar Retângulo em um Canto Único 2">
            <a:hlinkClick r:id="rId3" action="ppaction://hlinksldjump"/>
          </p:cNvPr>
          <p:cNvSpPr/>
          <p:nvPr/>
        </p:nvSpPr>
        <p:spPr>
          <a:xfrm>
            <a:off x="58738" y="795671"/>
            <a:ext cx="2371338" cy="1848881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8847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SLA - Visão Geral e Visão Usuários</a:t>
            </a: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Seta para a direita listrada 81">
            <a:hlinkClick r:id="rId3" action="ppaction://hlinksldjump"/>
          </p:cNvPr>
          <p:cNvSpPr/>
          <p:nvPr/>
        </p:nvSpPr>
        <p:spPr>
          <a:xfrm rot="10800000">
            <a:off x="8532440" y="709861"/>
            <a:ext cx="504056" cy="436931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CaixaDeTexto 82"/>
          <p:cNvSpPr txBox="1"/>
          <p:nvPr/>
        </p:nvSpPr>
        <p:spPr>
          <a:xfrm>
            <a:off x="8518215" y="1130218"/>
            <a:ext cx="638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3333CC"/>
                </a:solidFill>
              </a:rPr>
              <a:t>Voltar</a:t>
            </a:r>
            <a:endParaRPr lang="pt-BR" sz="1200" b="1" dirty="0">
              <a:solidFill>
                <a:srgbClr val="3333CC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87" y="655856"/>
            <a:ext cx="5472608" cy="447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685233"/>
              </p:ext>
            </p:extLst>
          </p:nvPr>
        </p:nvGraphicFramePr>
        <p:xfrm>
          <a:off x="5806738" y="1492424"/>
          <a:ext cx="3244616" cy="1781175"/>
        </p:xfrm>
        <a:graphic>
          <a:graphicData uri="http://schemas.openxmlformats.org/drawingml/2006/table">
            <a:tbl>
              <a:tblPr/>
              <a:tblGrid>
                <a:gridCol w="2884576"/>
                <a:gridCol w="360040"/>
              </a:tblGrid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 smtClean="0">
                          <a:effectLst/>
                          <a:latin typeface="Arial"/>
                        </a:rPr>
                        <a:t>Top 10 grupos com incidente</a:t>
                      </a:r>
                      <a:r>
                        <a:rPr lang="pt-BR" sz="1000" b="1" i="0" u="none" strike="noStrike" baseline="0" dirty="0" smtClean="0">
                          <a:effectLst/>
                          <a:latin typeface="Arial"/>
                        </a:rPr>
                        <a:t> violado</a:t>
                      </a:r>
                      <a:endParaRPr lang="pt-BR" sz="1000" b="1" i="0" u="none" strike="noStrike" dirty="0"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effectLst/>
                          <a:latin typeface="Arial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TD-ACCT-SS-DSC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364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TD-ACCT-SS-MKT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313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TD-ACCT-SS-FINANC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218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TD-ACCT-SS-O_L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150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TD-SD - FOLLOW UP PENDENTE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effectLst/>
                          <a:latin typeface="Arial"/>
                        </a:rPr>
                        <a:t>TD-SISTEMA OPERACIONAL WINTEL - NIVEL 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TD-DELOITTE-SAP-HUBSP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TD-EPIUSE-PS-PONTO-ELETRONICO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TD-SD - RDM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0" i="0" u="none" strike="noStrike">
                          <a:effectLst/>
                          <a:latin typeface="Arial"/>
                        </a:rPr>
                        <a:t>TD-SNDA-BR-FS-CAJAMAR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effectLst/>
                          <a:latin typeface="Arial"/>
                        </a:rPr>
                        <a:t>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Retângulo de cantos arredondados 9"/>
          <p:cNvSpPr/>
          <p:nvPr/>
        </p:nvSpPr>
        <p:spPr>
          <a:xfrm>
            <a:off x="3107457" y="2524919"/>
            <a:ext cx="312415" cy="964860"/>
          </a:xfrm>
          <a:prstGeom prst="roundRect">
            <a:avLst/>
          </a:prstGeom>
          <a:solidFill>
            <a:srgbClr val="FF0000">
              <a:alpha val="25000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defTabSz="89535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pt-BR" sz="1200" b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1" name="Seta para baixo 10"/>
          <p:cNvSpPr/>
          <p:nvPr/>
        </p:nvSpPr>
        <p:spPr bwMode="auto">
          <a:xfrm rot="16200000">
            <a:off x="4530886" y="1702336"/>
            <a:ext cx="279201" cy="2232247"/>
          </a:xfrm>
          <a:prstGeom prst="downArrow">
            <a:avLst/>
          </a:prstGeom>
          <a:solidFill>
            <a:srgbClr val="FF0000">
              <a:alpha val="25000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defTabSz="89535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pt-BR" sz="1200" b="1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981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Aging - Visão Geral e Visão Usuários</a:t>
            </a: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Seta para a direita listrada 50">
            <a:hlinkClick r:id="rId3" action="ppaction://hlinksldjump"/>
          </p:cNvPr>
          <p:cNvSpPr/>
          <p:nvPr/>
        </p:nvSpPr>
        <p:spPr>
          <a:xfrm rot="10800000">
            <a:off x="8532440" y="709861"/>
            <a:ext cx="504056" cy="436931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/>
          <p:cNvSpPr txBox="1"/>
          <p:nvPr/>
        </p:nvSpPr>
        <p:spPr>
          <a:xfrm>
            <a:off x="8469957" y="1165843"/>
            <a:ext cx="63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rgbClr val="3333CC"/>
                </a:solidFill>
              </a:rPr>
              <a:t>Voltar</a:t>
            </a:r>
            <a:endParaRPr lang="pt-BR" sz="1200" b="1" dirty="0">
              <a:solidFill>
                <a:srgbClr val="3333CC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4" y="702643"/>
            <a:ext cx="6712644" cy="3490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o explicativo em seta para cima 9">
            <a:hlinkClick r:id="rId5" action="ppaction://hlinksldjump"/>
          </p:cNvPr>
          <p:cNvSpPr/>
          <p:nvPr/>
        </p:nvSpPr>
        <p:spPr>
          <a:xfrm>
            <a:off x="2627784" y="4246261"/>
            <a:ext cx="2664296" cy="567682"/>
          </a:xfrm>
          <a:prstGeom prst="upArrowCallou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GAP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r>
              <a:rPr lang="pt-B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ging</a:t>
            </a:r>
            <a:r>
              <a:rPr lang="pt-B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INC &gt; chamados de usuário</a:t>
            </a:r>
          </a:p>
          <a:p>
            <a:pPr algn="ctr"/>
            <a:r>
              <a:rPr lang="pt-B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Clique 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para detalhes</a:t>
            </a:r>
          </a:p>
        </p:txBody>
      </p:sp>
      <p:sp>
        <p:nvSpPr>
          <p:cNvPr id="11" name="Retângulo de cantos arredondados 10">
            <a:hlinkClick r:id="rId5" action="ppaction://hlinksldjump"/>
          </p:cNvPr>
          <p:cNvSpPr/>
          <p:nvPr/>
        </p:nvSpPr>
        <p:spPr>
          <a:xfrm>
            <a:off x="3767720" y="2932584"/>
            <a:ext cx="384423" cy="1284784"/>
          </a:xfrm>
          <a:prstGeom prst="roundRect">
            <a:avLst/>
          </a:prstGeom>
          <a:solidFill>
            <a:srgbClr val="FF0000">
              <a:alpha val="25000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defTabSz="89535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pt-BR" sz="1200" b="1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156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397488"/>
              </p:ext>
            </p:extLst>
          </p:nvPr>
        </p:nvGraphicFramePr>
        <p:xfrm>
          <a:off x="175320" y="417637"/>
          <a:ext cx="5760640" cy="2286000"/>
        </p:xfrm>
        <a:graphic>
          <a:graphicData uri="http://schemas.openxmlformats.org/drawingml/2006/table">
            <a:tbl>
              <a:tblPr/>
              <a:tblGrid>
                <a:gridCol w="4104456"/>
                <a:gridCol w="864096"/>
                <a:gridCol w="792088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 10: AGING - Maio INC, por grupo </a:t>
                      </a:r>
                      <a:r>
                        <a:rPr lang="pt-BR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qtd</a:t>
                      </a: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chamado de usuário &gt;= 5 dias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# chamados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% do 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TD-ACCT-SS-DSC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14,4%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TD-ACCT-SS-MKT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11,4%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TD-MOBILIDADE -  2 NIVEL - SOLICITACOES GERAIS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8,5%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TD-ACCT-SS-FINANC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8,4%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TD-SD - FOLLOW UP PENDENTE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6,9%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TD-ACCT-SS-O_L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5,1%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TD-EPIUSE-PS-PONTO-ELETRONICO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TD-SSI (SCHAEFER)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TD-MOBILIDADE - 2 NIVEL - MOBILE FACILITIES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3,1%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TD-SNDA-BR-FS-CAJAMAR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1185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938223"/>
              </p:ext>
            </p:extLst>
          </p:nvPr>
        </p:nvGraphicFramePr>
        <p:xfrm>
          <a:off x="6084168" y="2572544"/>
          <a:ext cx="2952328" cy="2476500"/>
        </p:xfrm>
        <a:graphic>
          <a:graphicData uri="http://schemas.openxmlformats.org/drawingml/2006/table">
            <a:tbl>
              <a:tblPr/>
              <a:tblGrid>
                <a:gridCol w="1368152"/>
                <a:gridCol w="936104"/>
                <a:gridCol w="648072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Grupo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SLA Violado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 rowSpan="3"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TD-ACCT-SS-DSC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Não Violado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Violado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149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 rowSpan="3"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TD-ACCT-SS-MKT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Não Violado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Violado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124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 rowSpan="3"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TD-ACCT-SS-FINANC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Não Violado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Violado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92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 rowSpan="3"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TD-ACCT-SS-O_L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Não Violado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Violado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etângulo de cantos arredondados 6"/>
          <p:cNvSpPr/>
          <p:nvPr/>
        </p:nvSpPr>
        <p:spPr>
          <a:xfrm rot="16200000">
            <a:off x="2843808" y="-2151411"/>
            <a:ext cx="432049" cy="5904657"/>
          </a:xfrm>
          <a:prstGeom prst="roundRect">
            <a:avLst/>
          </a:prstGeom>
          <a:solidFill>
            <a:srgbClr val="FF0000">
              <a:alpha val="25000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defTabSz="89535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pt-BR" sz="1200" b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tângulo de cantos arredondados 7"/>
          <p:cNvSpPr/>
          <p:nvPr/>
        </p:nvSpPr>
        <p:spPr>
          <a:xfrm rot="16200000">
            <a:off x="2961347" y="-1683358"/>
            <a:ext cx="216024" cy="5904657"/>
          </a:xfrm>
          <a:prstGeom prst="roundRect">
            <a:avLst/>
          </a:prstGeom>
          <a:solidFill>
            <a:srgbClr val="FF0000">
              <a:alpha val="25000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defTabSz="89535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pt-BR" sz="1200" b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" name="Retângulo de cantos arredondados 8"/>
          <p:cNvSpPr/>
          <p:nvPr/>
        </p:nvSpPr>
        <p:spPr>
          <a:xfrm rot="16200000">
            <a:off x="2951819" y="-1292833"/>
            <a:ext cx="216024" cy="5904657"/>
          </a:xfrm>
          <a:prstGeom prst="roundRect">
            <a:avLst/>
          </a:prstGeom>
          <a:solidFill>
            <a:srgbClr val="FF0000">
              <a:alpha val="25000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defTabSz="89535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pt-BR" sz="1200" b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" name="Seta para baixo 9"/>
          <p:cNvSpPr/>
          <p:nvPr/>
        </p:nvSpPr>
        <p:spPr bwMode="auto">
          <a:xfrm rot="19893472">
            <a:off x="6147725" y="1954748"/>
            <a:ext cx="279201" cy="600025"/>
          </a:xfrm>
          <a:prstGeom prst="downArrow">
            <a:avLst/>
          </a:prstGeom>
          <a:solidFill>
            <a:srgbClr val="FF0000">
              <a:alpha val="25000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defTabSz="89535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pt-BR" sz="1200" b="1">
              <a:latin typeface="Arial" charset="0"/>
            </a:endParaRPr>
          </a:p>
        </p:txBody>
      </p:sp>
      <p:sp>
        <p:nvSpPr>
          <p:cNvPr id="11" name="Chave direita 10"/>
          <p:cNvSpPr/>
          <p:nvPr/>
        </p:nvSpPr>
        <p:spPr>
          <a:xfrm>
            <a:off x="6021688" y="412304"/>
            <a:ext cx="288032" cy="2246336"/>
          </a:xfrm>
          <a:prstGeom prst="rightBrace">
            <a:avLst/>
          </a:prstGeom>
          <a:noFill/>
          <a:ln w="31750" cap="flat" cmpd="sng" algn="ctr">
            <a:solidFill>
              <a:srgbClr val="D5D5D5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8"/>
          <p:cNvSpPr txBox="1">
            <a:spLocks noChangeArrowheads="1"/>
          </p:cNvSpPr>
          <p:nvPr/>
        </p:nvSpPr>
        <p:spPr bwMode="auto">
          <a:xfrm>
            <a:off x="6403404" y="1031305"/>
            <a:ext cx="2592288" cy="1008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Top 10 grupos, correspondem a 68% do total de grupos com Incidente de Usuário com &gt;= 5 dias de </a:t>
            </a:r>
            <a:r>
              <a:rPr lang="pt-BR" sz="1400" b="1" dirty="0" err="1" smtClean="0">
                <a:solidFill>
                  <a:srgbClr val="6E6259"/>
                </a:solidFill>
                <a:latin typeface="Gill Sans Std Light" pitchFamily="34" charset="0"/>
              </a:rPr>
              <a:t>aging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</p:txBody>
      </p:sp>
      <p:sp>
        <p:nvSpPr>
          <p:cNvPr id="13" name="Seta para a direita listrada 12">
            <a:hlinkClick r:id="rId2" action="ppaction://hlinksldjump"/>
          </p:cNvPr>
          <p:cNvSpPr/>
          <p:nvPr/>
        </p:nvSpPr>
        <p:spPr>
          <a:xfrm rot="10800000">
            <a:off x="8532440" y="268288"/>
            <a:ext cx="504056" cy="436931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/>
          <p:cNvSpPr txBox="1"/>
          <p:nvPr/>
        </p:nvSpPr>
        <p:spPr>
          <a:xfrm>
            <a:off x="8518215" y="688645"/>
            <a:ext cx="638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3333CC"/>
                </a:solidFill>
              </a:rPr>
              <a:t>Voltar</a:t>
            </a:r>
            <a:endParaRPr lang="pt-BR" sz="1200" b="1" dirty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692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12" y="702885"/>
            <a:ext cx="2403972" cy="2076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877498"/>
            <a:ext cx="3328987" cy="209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Avaliação Positiva - Visão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eta para baixo 11"/>
          <p:cNvSpPr/>
          <p:nvPr/>
        </p:nvSpPr>
        <p:spPr bwMode="auto">
          <a:xfrm rot="15922379">
            <a:off x="2459608" y="900110"/>
            <a:ext cx="279201" cy="801056"/>
          </a:xfrm>
          <a:prstGeom prst="downArrow">
            <a:avLst/>
          </a:prstGeom>
          <a:solidFill>
            <a:srgbClr val="FF0000">
              <a:alpha val="14000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defTabSz="89535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pt-BR" sz="1200" b="1">
              <a:latin typeface="Arial" charset="0"/>
            </a:endParaRP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1845221" y="1281021"/>
            <a:ext cx="268928" cy="139636"/>
          </a:xfrm>
          <a:prstGeom prst="roundRect">
            <a:avLst/>
          </a:prstGeom>
          <a:solidFill>
            <a:srgbClr val="FF0000">
              <a:alpha val="14000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endParaRPr kumimoji="0" lang="pt-B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Seta para cima e para baixo 8"/>
          <p:cNvSpPr/>
          <p:nvPr/>
        </p:nvSpPr>
        <p:spPr>
          <a:xfrm>
            <a:off x="1322909" y="2572544"/>
            <a:ext cx="288032" cy="504056"/>
          </a:xfrm>
          <a:prstGeom prst="upDownArrow">
            <a:avLst/>
          </a:prstGeom>
          <a:solidFill>
            <a:schemeClr val="bg2">
              <a:lumMod val="25000"/>
              <a:alpha val="14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defTabSz="89535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pt-BR" sz="1200" b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2" name="Explosão 1 21"/>
          <p:cNvSpPr/>
          <p:nvPr/>
        </p:nvSpPr>
        <p:spPr bwMode="auto">
          <a:xfrm>
            <a:off x="1907704" y="2572544"/>
            <a:ext cx="1872208" cy="1008112"/>
          </a:xfrm>
          <a:prstGeom prst="irregularSeal1">
            <a:avLst/>
          </a:prstGeom>
          <a:solidFill>
            <a:schemeClr val="bg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pt-BR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Baixa aderência nas respostas</a:t>
            </a:r>
          </a:p>
        </p:txBody>
      </p:sp>
      <p:sp>
        <p:nvSpPr>
          <p:cNvPr id="17" name="Seta para a direita listrada 16">
            <a:hlinkClick r:id="rId5" action="ppaction://hlinksldjump"/>
          </p:cNvPr>
          <p:cNvSpPr/>
          <p:nvPr/>
        </p:nvSpPr>
        <p:spPr>
          <a:xfrm rot="10800000">
            <a:off x="8570540" y="656903"/>
            <a:ext cx="504056" cy="436931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>
            <a:off x="8508057" y="1112885"/>
            <a:ext cx="63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rgbClr val="3333CC"/>
                </a:solidFill>
              </a:rPr>
              <a:t>Voltar</a:t>
            </a:r>
            <a:endParaRPr lang="pt-BR" sz="1200" b="1" dirty="0">
              <a:solidFill>
                <a:srgbClr val="3333CC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3707904" y="3923521"/>
            <a:ext cx="4752528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1200" i="1" dirty="0"/>
              <a:t>“O chamado foi fechado sem ao menos a equipe técnica entrar em contato com o usuário e validar a solução</a:t>
            </a:r>
            <a:r>
              <a:rPr lang="pt-BR" sz="1200" i="1" dirty="0" smtClean="0"/>
              <a:t>.”</a:t>
            </a:r>
          </a:p>
          <a:p>
            <a:endParaRPr lang="pt-BR" sz="1200" i="1" dirty="0" smtClean="0"/>
          </a:p>
          <a:p>
            <a:r>
              <a:rPr lang="pt-BR" sz="1200" i="1" dirty="0"/>
              <a:t>“Foram quase 3 meses para a solução do problema</a:t>
            </a:r>
            <a:r>
              <a:rPr lang="pt-BR" sz="1200" i="1" dirty="0" smtClean="0"/>
              <a:t>.”</a:t>
            </a:r>
          </a:p>
          <a:p>
            <a:endParaRPr lang="pt-BR" sz="1200" i="1" dirty="0" smtClean="0"/>
          </a:p>
          <a:p>
            <a:r>
              <a:rPr lang="pt-BR" sz="1200" i="1" dirty="0"/>
              <a:t>“Mais uma vez, o chamado NÃO FOI RESOLVIDO</a:t>
            </a:r>
            <a:r>
              <a:rPr lang="pt-BR" sz="1200" i="1" dirty="0" smtClean="0"/>
              <a:t>!”</a:t>
            </a:r>
            <a:endParaRPr lang="pt-BR" sz="1200" i="1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4716016" y="2328406"/>
            <a:ext cx="4320416" cy="13849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200" i="1"/>
            </a:lvl1pPr>
          </a:lstStyle>
          <a:p>
            <a:r>
              <a:rPr lang="pt-BR" dirty="0" smtClean="0"/>
              <a:t>“</a:t>
            </a:r>
            <a:r>
              <a:rPr lang="pt-BR" dirty="0"/>
              <a:t>Agradeço atenção da analista Erica, sempre dedicada a tirar todas as dúvidas e encerrar o chamado de forma satisfatória</a:t>
            </a:r>
            <a:r>
              <a:rPr lang="pt-BR" dirty="0" smtClean="0"/>
              <a:t>.”</a:t>
            </a:r>
          </a:p>
          <a:p>
            <a:r>
              <a:rPr lang="pt-BR" dirty="0"/>
              <a:t/>
            </a:r>
            <a:br>
              <a:rPr lang="pt-BR" dirty="0"/>
            </a:br>
            <a:r>
              <a:rPr lang="pt-BR" dirty="0"/>
              <a:t>“Atendimento muito eficaz.”</a:t>
            </a:r>
            <a:br>
              <a:rPr lang="pt-BR" dirty="0"/>
            </a:br>
            <a:endParaRPr lang="pt-BR" dirty="0" smtClean="0"/>
          </a:p>
          <a:p>
            <a:r>
              <a:rPr lang="pt-BR" dirty="0" smtClean="0"/>
              <a:t>“</a:t>
            </a:r>
            <a:r>
              <a:rPr lang="pt-BR" dirty="0"/>
              <a:t>O colaborador que realizou o remanejamento, foi ótimo muito </a:t>
            </a:r>
            <a:r>
              <a:rPr lang="pt-BR" dirty="0" smtClean="0"/>
              <a:t>prestativo </a:t>
            </a:r>
            <a:r>
              <a:rPr lang="pt-BR" dirty="0"/>
              <a:t>e educado.</a:t>
            </a:r>
          </a:p>
        </p:txBody>
      </p:sp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561" y="2367300"/>
            <a:ext cx="591326" cy="598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037" y="3726175"/>
            <a:ext cx="698806" cy="650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693" y="709861"/>
            <a:ext cx="4810125" cy="157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CaixaDeTexto 8"/>
          <p:cNvSpPr txBox="1">
            <a:spLocks noChangeArrowheads="1"/>
          </p:cNvSpPr>
          <p:nvPr/>
        </p:nvSpPr>
        <p:spPr bwMode="auto">
          <a:xfrm>
            <a:off x="8069750" y="1325407"/>
            <a:ext cx="1144669" cy="792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050" b="1" dirty="0" smtClean="0">
                <a:solidFill>
                  <a:srgbClr val="6E6259"/>
                </a:solidFill>
                <a:latin typeface="Gill Sans Std Light" pitchFamily="34" charset="0"/>
              </a:rPr>
              <a:t>Top 7 grupos que mais receberam resposta</a:t>
            </a:r>
            <a:endParaRPr lang="pt-BR" sz="1050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</p:txBody>
      </p:sp>
      <p:sp>
        <p:nvSpPr>
          <p:cNvPr id="24" name="Chave direita 23"/>
          <p:cNvSpPr/>
          <p:nvPr/>
        </p:nvSpPr>
        <p:spPr>
          <a:xfrm>
            <a:off x="7829344" y="771997"/>
            <a:ext cx="288032" cy="1469082"/>
          </a:xfrm>
          <a:prstGeom prst="rightBrace">
            <a:avLst/>
          </a:prstGeom>
          <a:noFill/>
          <a:ln w="31750" cap="flat" cmpd="sng" algn="ctr">
            <a:solidFill>
              <a:srgbClr val="D5D5D5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204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23" y="1486618"/>
            <a:ext cx="8601076" cy="2393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KPI 2 - % SM que geraram INC SEV0</a:t>
            </a:r>
          </a:p>
        </p:txBody>
      </p:sp>
      <p:sp>
        <p:nvSpPr>
          <p:cNvPr id="4" name="Seta para a direita listrada 3">
            <a:hlinkClick r:id="rId3" action="ppaction://hlinksldjump"/>
          </p:cNvPr>
          <p:cNvSpPr/>
          <p:nvPr/>
        </p:nvSpPr>
        <p:spPr>
          <a:xfrm rot="10800000">
            <a:off x="8532440" y="709861"/>
            <a:ext cx="504056" cy="436931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8469957" y="1165843"/>
            <a:ext cx="63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rgbClr val="3333CC"/>
                </a:solidFill>
              </a:rPr>
              <a:t>Voltar</a:t>
            </a:r>
            <a:endParaRPr lang="pt-BR" sz="1200" b="1" dirty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86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Users\mvmarque\AppData\Local\Microsoft\Windows\Temporary Internet Files\Content.IE5\VRWSDO03\customer-service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296"/>
            <a:ext cx="9144000" cy="519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323528" y="1708448"/>
            <a:ext cx="619502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54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UltraBold" pitchFamily="34" charset="0"/>
              </a:rPr>
              <a:t>Fim. Obrigado</a:t>
            </a:r>
            <a:endParaRPr lang="pt-BR" sz="54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UltraBold" pitchFamily="34" charset="0"/>
            </a:endParaRPr>
          </a:p>
        </p:txBody>
      </p:sp>
      <p:pic>
        <p:nvPicPr>
          <p:cNvPr id="8" name="Picture 8" descr="NAT_marca_branca_natura-0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196280"/>
            <a:ext cx="792783" cy="721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902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Dados Gerais – Gestão de Chamados (Incidente e Requisição)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79512" y="772344"/>
            <a:ext cx="54726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KPI: </a:t>
            </a:r>
            <a:r>
              <a:rPr lang="pt-BR" sz="1200" dirty="0" err="1" smtClean="0"/>
              <a:t>Vol</a:t>
            </a:r>
            <a:r>
              <a:rPr lang="pt-BR" sz="1200" dirty="0" smtClean="0"/>
              <a:t> Chamados sem prioridade cadastrada na resolução – Target = XX?</a:t>
            </a:r>
          </a:p>
          <a:p>
            <a:r>
              <a:rPr lang="pt-BR" sz="1200" dirty="0" smtClean="0"/>
              <a:t>Report: </a:t>
            </a:r>
            <a:r>
              <a:rPr lang="pt-BR" sz="1200" dirty="0" err="1" smtClean="0"/>
              <a:t>Vol</a:t>
            </a:r>
            <a:r>
              <a:rPr lang="pt-BR" sz="1200" dirty="0" smtClean="0"/>
              <a:t> </a:t>
            </a:r>
            <a:r>
              <a:rPr lang="pt-BR" sz="1200" dirty="0" err="1" smtClean="0"/>
              <a:t>Req</a:t>
            </a:r>
            <a:r>
              <a:rPr lang="pt-BR" sz="1200" dirty="0" smtClean="0"/>
              <a:t> sem prioridade cadastrada na resolução</a:t>
            </a:r>
          </a:p>
          <a:p>
            <a:r>
              <a:rPr lang="pt-BR" sz="1200" dirty="0"/>
              <a:t>Report: </a:t>
            </a:r>
            <a:r>
              <a:rPr lang="pt-BR" sz="1200" dirty="0" err="1"/>
              <a:t>Vol</a:t>
            </a:r>
            <a:r>
              <a:rPr lang="pt-BR" sz="1200" dirty="0"/>
              <a:t> </a:t>
            </a:r>
            <a:r>
              <a:rPr lang="pt-BR" sz="1200" dirty="0" smtClean="0"/>
              <a:t>INC </a:t>
            </a:r>
            <a:r>
              <a:rPr lang="pt-BR" sz="1200" dirty="0"/>
              <a:t>sem prioridade cadastrada na </a:t>
            </a:r>
            <a:r>
              <a:rPr lang="pt-BR" sz="1200" dirty="0" smtClean="0"/>
              <a:t>resolução</a:t>
            </a:r>
          </a:p>
          <a:p>
            <a:endParaRPr lang="pt-BR" sz="1200" dirty="0"/>
          </a:p>
          <a:p>
            <a:r>
              <a:rPr lang="pt-BR" sz="1200" dirty="0" smtClean="0"/>
              <a:t>Report: </a:t>
            </a:r>
            <a:r>
              <a:rPr lang="pt-BR" sz="1200" dirty="0" err="1" smtClean="0"/>
              <a:t>Vol</a:t>
            </a:r>
            <a:r>
              <a:rPr lang="pt-BR" sz="1200" dirty="0" smtClean="0"/>
              <a:t> INC por prioridade na resolução</a:t>
            </a:r>
          </a:p>
          <a:p>
            <a:endParaRPr lang="pt-BR" sz="1200" dirty="0"/>
          </a:p>
          <a:p>
            <a:r>
              <a:rPr lang="pt-BR" sz="1200" dirty="0" smtClean="0"/>
              <a:t>Report: </a:t>
            </a:r>
            <a:r>
              <a:rPr lang="pt-BR" sz="1200" dirty="0" err="1" smtClean="0"/>
              <a:t>Vol</a:t>
            </a:r>
            <a:r>
              <a:rPr lang="pt-BR" sz="1200" dirty="0" smtClean="0"/>
              <a:t> INC por prioridade com PROB associado</a:t>
            </a:r>
          </a:p>
          <a:p>
            <a:endParaRPr lang="pt-BR" sz="1200" dirty="0" smtClean="0"/>
          </a:p>
          <a:p>
            <a:r>
              <a:rPr lang="pt-BR" sz="1200" dirty="0"/>
              <a:t>Report: </a:t>
            </a:r>
            <a:r>
              <a:rPr lang="pt-BR" sz="1200" dirty="0" err="1"/>
              <a:t>Vol</a:t>
            </a:r>
            <a:r>
              <a:rPr lang="pt-BR" sz="1200" dirty="0"/>
              <a:t> </a:t>
            </a:r>
            <a:r>
              <a:rPr lang="pt-BR" sz="1200" dirty="0" smtClean="0"/>
              <a:t>PROB com INC associado e # de </a:t>
            </a:r>
            <a:r>
              <a:rPr lang="pt-BR" sz="1200" dirty="0" err="1" smtClean="0"/>
              <a:t>INCs</a:t>
            </a:r>
            <a:r>
              <a:rPr lang="pt-BR" sz="1200" dirty="0" smtClean="0"/>
              <a:t> por PROB</a:t>
            </a:r>
          </a:p>
          <a:p>
            <a:endParaRPr lang="pt-BR" sz="1200" dirty="0"/>
          </a:p>
          <a:p>
            <a:r>
              <a:rPr lang="pt-BR" sz="1200" dirty="0" smtClean="0"/>
              <a:t>Report ou </a:t>
            </a:r>
            <a:r>
              <a:rPr lang="pt-BR" sz="1200" dirty="0" err="1" smtClean="0"/>
              <a:t>Table</a:t>
            </a:r>
            <a:r>
              <a:rPr lang="pt-BR" sz="1200" dirty="0" smtClean="0"/>
              <a:t>: INC P1, P2, P3 &gt; PROB associado &gt; </a:t>
            </a:r>
            <a:r>
              <a:rPr lang="pt-BR" sz="1200" dirty="0" err="1" smtClean="0"/>
              <a:t>Aging</a:t>
            </a:r>
            <a:r>
              <a:rPr lang="pt-BR" sz="1200" dirty="0" smtClean="0"/>
              <a:t> </a:t>
            </a:r>
            <a:r>
              <a:rPr lang="pt-BR" sz="1200" dirty="0" err="1" smtClean="0"/>
              <a:t>Prob</a:t>
            </a:r>
            <a:r>
              <a:rPr lang="pt-BR" sz="1200" dirty="0" smtClean="0"/>
              <a:t> &gt; Status </a:t>
            </a:r>
            <a:r>
              <a:rPr lang="pt-BR" sz="1200" dirty="0" err="1" smtClean="0"/>
              <a:t>Prob</a:t>
            </a:r>
            <a:endParaRPr lang="pt-BR" sz="1200" dirty="0" smtClean="0"/>
          </a:p>
          <a:p>
            <a:endParaRPr lang="pt-BR" sz="1200" dirty="0"/>
          </a:p>
          <a:p>
            <a:r>
              <a:rPr lang="pt-BR" sz="1200" dirty="0"/>
              <a:t>Report: </a:t>
            </a:r>
            <a:r>
              <a:rPr lang="pt-BR" sz="1200" dirty="0" err="1"/>
              <a:t>Vol</a:t>
            </a:r>
            <a:r>
              <a:rPr lang="pt-BR" sz="1200" dirty="0"/>
              <a:t> INC </a:t>
            </a:r>
            <a:r>
              <a:rPr lang="pt-BR" sz="1200" dirty="0" smtClean="0"/>
              <a:t>por </a:t>
            </a:r>
            <a:r>
              <a:rPr lang="pt-BR" sz="1200" dirty="0" err="1" smtClean="0"/>
              <a:t>Aging</a:t>
            </a:r>
            <a:r>
              <a:rPr lang="pt-BR" sz="1200" dirty="0" smtClean="0"/>
              <a:t> e por prioridade </a:t>
            </a:r>
            <a:r>
              <a:rPr lang="pt-BR" sz="1200" dirty="0"/>
              <a:t>na </a:t>
            </a:r>
            <a:r>
              <a:rPr lang="pt-BR" sz="1200" dirty="0" smtClean="0"/>
              <a:t>resolução</a:t>
            </a:r>
          </a:p>
          <a:p>
            <a:endParaRPr lang="pt-BR" sz="1200" dirty="0"/>
          </a:p>
          <a:p>
            <a:r>
              <a:rPr lang="pt-BR" sz="1200" dirty="0"/>
              <a:t>Report ou </a:t>
            </a:r>
            <a:r>
              <a:rPr lang="pt-BR" sz="1200" dirty="0" err="1"/>
              <a:t>Table</a:t>
            </a:r>
            <a:r>
              <a:rPr lang="pt-BR" sz="1200" dirty="0"/>
              <a:t>: </a:t>
            </a:r>
            <a:r>
              <a:rPr lang="pt-BR" sz="1200" dirty="0" err="1" smtClean="0"/>
              <a:t>Vol</a:t>
            </a:r>
            <a:r>
              <a:rPr lang="pt-BR" sz="1200" dirty="0" smtClean="0"/>
              <a:t> PROB por prioridade de INC e </a:t>
            </a:r>
            <a:r>
              <a:rPr lang="pt-BR" sz="1200" dirty="0" err="1" smtClean="0"/>
              <a:t>Aging</a:t>
            </a:r>
            <a:r>
              <a:rPr lang="pt-BR" sz="1200" dirty="0" smtClean="0"/>
              <a:t> PROB</a:t>
            </a:r>
            <a:endParaRPr lang="pt-BR" sz="1200" dirty="0"/>
          </a:p>
          <a:p>
            <a:endParaRPr lang="pt-BR" sz="1200" dirty="0" smtClean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 smtClean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76684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Gestão de Chamados (Incidente e Requisição)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have direita 1"/>
          <p:cNvSpPr/>
          <p:nvPr/>
        </p:nvSpPr>
        <p:spPr>
          <a:xfrm>
            <a:off x="7020272" y="988368"/>
            <a:ext cx="288032" cy="1885950"/>
          </a:xfrm>
          <a:prstGeom prst="rightBrace">
            <a:avLst/>
          </a:prstGeom>
          <a:noFill/>
          <a:ln w="31750" cap="flat" cmpd="sng" algn="ctr">
            <a:solidFill>
              <a:srgbClr val="D5D5D5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8"/>
          <p:cNvSpPr txBox="1">
            <a:spLocks noChangeArrowheads="1"/>
          </p:cNvSpPr>
          <p:nvPr/>
        </p:nvSpPr>
        <p:spPr bwMode="auto">
          <a:xfrm>
            <a:off x="7380312" y="1319454"/>
            <a:ext cx="1368120" cy="1223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Indicadores do GTD.05 e Indicadores de Apoio Operacional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</p:txBody>
      </p:sp>
      <p:sp>
        <p:nvSpPr>
          <p:cNvPr id="11" name="Texto explicativo retangular 10"/>
          <p:cNvSpPr/>
          <p:nvPr/>
        </p:nvSpPr>
        <p:spPr>
          <a:xfrm>
            <a:off x="2636168" y="3075854"/>
            <a:ext cx="2016224" cy="1152873"/>
          </a:xfrm>
          <a:prstGeom prst="wedgeRectCallout">
            <a:avLst>
              <a:gd name="adj1" fmla="val -34043"/>
              <a:gd name="adj2" fmla="val -66685"/>
            </a:avLst>
          </a:prstGeom>
          <a:noFill/>
          <a:ln w="12700">
            <a:solidFill>
              <a:schemeClr val="tx1">
                <a:lumMod val="85000"/>
                <a:lumOff val="15000"/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Indicador </a:t>
            </a:r>
            <a:r>
              <a:rPr lang="pt-BR" sz="900" dirty="0" smtClean="0">
                <a:solidFill>
                  <a:schemeClr val="tx1"/>
                </a:solidFill>
              </a:rPr>
              <a:t>compreende chamados originados por telefone, chat, elegíveis de resolução do SD e resolvidos pelo SD, sem nenhuma transferência de grupo VS chamados originados por telefone, chat e despachados para outros grupos solucionadores</a:t>
            </a:r>
            <a:endParaRPr lang="pt-BR" sz="900" dirty="0">
              <a:solidFill>
                <a:schemeClr val="tx1"/>
              </a:solidFill>
            </a:endParaRPr>
          </a:p>
        </p:txBody>
      </p:sp>
      <p:sp>
        <p:nvSpPr>
          <p:cNvPr id="12" name="Texto explicativo retangular 11"/>
          <p:cNvSpPr/>
          <p:nvPr/>
        </p:nvSpPr>
        <p:spPr>
          <a:xfrm>
            <a:off x="4804792" y="3022154"/>
            <a:ext cx="2016224" cy="918542"/>
          </a:xfrm>
          <a:prstGeom prst="wedgeRectCallout">
            <a:avLst>
              <a:gd name="adj1" fmla="val -34043"/>
              <a:gd name="adj2" fmla="val -66685"/>
            </a:avLst>
          </a:prstGeom>
          <a:noFill/>
          <a:ln w="12700">
            <a:solidFill>
              <a:schemeClr val="tx1">
                <a:lumMod val="85000"/>
                <a:lumOff val="15000"/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Indicador </a:t>
            </a:r>
            <a:r>
              <a:rPr lang="pt-BR" sz="900" dirty="0" smtClean="0">
                <a:solidFill>
                  <a:schemeClr val="tx1"/>
                </a:solidFill>
              </a:rPr>
              <a:t>compreende chamados resolvidos por qualquer fila do Service Desk, independente da elegibilidade do escopo de atendimento VS total chamados  de usuário (não compreende chamados de monitoria)</a:t>
            </a:r>
            <a:endParaRPr lang="pt-BR" sz="900" dirty="0">
              <a:solidFill>
                <a:schemeClr val="tx1"/>
              </a:solidFill>
            </a:endParaRPr>
          </a:p>
        </p:txBody>
      </p:sp>
      <p:sp>
        <p:nvSpPr>
          <p:cNvPr id="16" name="Arredondar Retângulo em um Canto Único 15">
            <a:hlinkClick r:id="rId3" action="ppaction://hlinksldjump"/>
          </p:cNvPr>
          <p:cNvSpPr/>
          <p:nvPr/>
        </p:nvSpPr>
        <p:spPr>
          <a:xfrm>
            <a:off x="149811" y="844353"/>
            <a:ext cx="2371338" cy="2016222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o explicativo em seta para cima 16">
            <a:hlinkClick r:id="rId3" action="ppaction://hlinksldjump"/>
          </p:cNvPr>
          <p:cNvSpPr/>
          <p:nvPr/>
        </p:nvSpPr>
        <p:spPr>
          <a:xfrm rot="5400000">
            <a:off x="-728741" y="1776722"/>
            <a:ext cx="1869678" cy="298029"/>
          </a:xfrm>
          <a:prstGeom prst="upArrowCallou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Clique para detalhes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876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17767</TotalTime>
  <Words>926</Words>
  <Application>Microsoft Office PowerPoint</Application>
  <PresentationFormat>Personalizar</PresentationFormat>
  <Paragraphs>305</Paragraphs>
  <Slides>12</Slides>
  <Notes>0</Notes>
  <HiddenSlides>9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BR92457</dc:creator>
  <cp:lastModifiedBy>br93826</cp:lastModifiedBy>
  <cp:revision>407</cp:revision>
  <dcterms:created xsi:type="dcterms:W3CDTF">2014-10-02T13:42:42Z</dcterms:created>
  <dcterms:modified xsi:type="dcterms:W3CDTF">2015-06-10T17:05:27Z</dcterms:modified>
</cp:coreProperties>
</file>