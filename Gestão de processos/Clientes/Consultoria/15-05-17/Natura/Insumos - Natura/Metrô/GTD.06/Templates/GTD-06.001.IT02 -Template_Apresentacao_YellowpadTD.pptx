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83" r:id="rId6"/>
    <p:sldId id="284" r:id="rId7"/>
    <p:sldId id="286" r:id="rId8"/>
    <p:sldId id="290" r:id="rId9"/>
    <p:sldId id="291" r:id="rId10"/>
    <p:sldId id="287" r:id="rId11"/>
    <p:sldId id="292" r:id="rId12"/>
  </p:sldIdLst>
  <p:sldSz cx="9001125" cy="5400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99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55" autoAdjust="0"/>
  </p:normalViewPr>
  <p:slideViewPr>
    <p:cSldViewPr>
      <p:cViewPr>
        <p:scale>
          <a:sx n="80" d="100"/>
          <a:sy n="80" d="100"/>
        </p:scale>
        <p:origin x="-72" y="-72"/>
      </p:cViewPr>
      <p:guideLst>
        <p:guide orient="horz" pos="1701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927-49ED-4498-8AAB-9E2FDF065844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85BFE-0C8A-4915-AADD-2E276EF314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buFont typeface="+mj-lt"/>
              <a:buNone/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1. Dinâmica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avaliação técnica das novas demandas para alinhamento do Esboço da Solução de TD.</a:t>
            </a:r>
          </a:p>
          <a:p>
            <a:pPr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2.  Matrícula das Demandas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Confirmar com a Governança de TD -&gt; sharepoint </a:t>
            </a:r>
            <a:r>
              <a:rPr lang="pt-BR" sz="1200" kern="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gov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com calendário,</a:t>
            </a:r>
            <a:r>
              <a:rPr lang="pt-BR" sz="1200" kern="0" baseline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pauta e ata.</a:t>
            </a:r>
            <a:endParaRPr lang="pt-BR" sz="1000" kern="0" dirty="0" smtClean="0">
              <a:solidFill>
                <a:prstClr val="black">
                  <a:lumMod val="75000"/>
                  <a:lumOff val="25000"/>
                </a:prstClr>
              </a:solidFill>
              <a:ea typeface="MS PGothic" pitchFamily="34" charset="-128"/>
              <a:sym typeface="GillSans" pitchFamily="34" charset="0"/>
            </a:endParaRPr>
          </a:p>
          <a:p>
            <a:pPr marL="0" indent="0" algn="l">
              <a:buFontTx/>
              <a:buNone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3.  Apresentar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Esboço da Solução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Software </a:t>
            </a:r>
            <a:r>
              <a:rPr lang="pt-BR" sz="1200" dirty="0" err="1" smtClean="0">
                <a:latin typeface="Gill Sans Std" pitchFamily="34" charset="0"/>
              </a:rPr>
              <a:t>Selection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Plataformas envolvidas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Interdependências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Estimativa Prazo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1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1677710"/>
            <a:ext cx="7650956" cy="115764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060385"/>
            <a:ext cx="6300788" cy="13801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3470436"/>
            <a:ext cx="7650956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1027" y="2289039"/>
            <a:ext cx="7650956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0058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5573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6" y="1208903"/>
            <a:ext cx="3977060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056" y="1712715"/>
            <a:ext cx="3977060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572448" y="1208903"/>
            <a:ext cx="3978623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572448" y="1712715"/>
            <a:ext cx="3978623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7" y="215029"/>
            <a:ext cx="2961308" cy="9151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19191" y="215027"/>
            <a:ext cx="5031879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057" y="1130142"/>
            <a:ext cx="2961308" cy="36942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5" y="3780475"/>
            <a:ext cx="5400675" cy="4463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64285" y="482563"/>
            <a:ext cx="5400675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64285" y="4226780"/>
            <a:ext cx="5400675" cy="6338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6" y="216278"/>
            <a:ext cx="2025253" cy="460807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0057" y="216278"/>
            <a:ext cx="5925741" cy="460807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677397"/>
            <a:ext cx="7650956" cy="11579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3060382"/>
            <a:ext cx="6300788" cy="1380173"/>
          </a:xfrm>
        </p:spPr>
        <p:txBody>
          <a:bodyPr/>
          <a:lstStyle>
            <a:lvl1pPr marL="0" indent="0" algn="ctr">
              <a:buNone/>
              <a:defRPr/>
            </a:lvl1pPr>
            <a:lvl2pPr marL="259232" indent="0" algn="ctr">
              <a:buNone/>
              <a:defRPr/>
            </a:lvl2pPr>
            <a:lvl3pPr marL="518465" indent="0" algn="ctr">
              <a:buNone/>
              <a:defRPr/>
            </a:lvl3pPr>
            <a:lvl4pPr marL="777697" indent="0" algn="ctr">
              <a:buNone/>
              <a:defRPr/>
            </a:lvl4pPr>
            <a:lvl5pPr marL="1036930" indent="0" algn="ctr">
              <a:buNone/>
              <a:defRPr/>
            </a:lvl5pPr>
            <a:lvl6pPr marL="1296162" indent="0" algn="ctr">
              <a:buNone/>
              <a:defRPr/>
            </a:lvl6pPr>
            <a:lvl7pPr marL="1555394" indent="0" algn="ctr">
              <a:buNone/>
              <a:defRPr/>
            </a:lvl7pPr>
            <a:lvl8pPr marL="1814627" indent="0" algn="ctr">
              <a:buNone/>
              <a:defRPr/>
            </a:lvl8pPr>
            <a:lvl9pPr marL="207385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15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24" y="3470122"/>
            <a:ext cx="7650956" cy="1072634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124" y="2288724"/>
            <a:ext cx="7650956" cy="1181398"/>
          </a:xfrm>
        </p:spPr>
        <p:txBody>
          <a:bodyPr anchor="b"/>
          <a:lstStyle>
            <a:lvl1pPr marL="0" indent="0">
              <a:buNone/>
              <a:defRPr sz="1100"/>
            </a:lvl1pPr>
            <a:lvl2pPr marL="259232" indent="0">
              <a:buNone/>
              <a:defRPr sz="1000"/>
            </a:lvl2pPr>
            <a:lvl3pPr marL="518465" indent="0">
              <a:buNone/>
              <a:defRPr sz="900"/>
            </a:lvl3pPr>
            <a:lvl4pPr marL="777697" indent="0">
              <a:buNone/>
              <a:defRPr sz="800"/>
            </a:lvl4pPr>
            <a:lvl5pPr marL="1036930" indent="0">
              <a:buNone/>
              <a:defRPr sz="800"/>
            </a:lvl5pPr>
            <a:lvl6pPr marL="1296162" indent="0">
              <a:buNone/>
              <a:defRPr sz="800"/>
            </a:lvl6pPr>
            <a:lvl7pPr marL="1555394" indent="0">
              <a:buNone/>
              <a:defRPr sz="800"/>
            </a:lvl7pPr>
            <a:lvl8pPr marL="1814627" indent="0">
              <a:buNone/>
              <a:defRPr sz="800"/>
            </a:lvl8pPr>
            <a:lvl9pPr marL="207385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359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4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9239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671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6590"/>
            <a:ext cx="8101013" cy="90011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1208589"/>
            <a:ext cx="3976669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713027"/>
            <a:ext cx="3976669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642" y="1208589"/>
            <a:ext cx="3978427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642" y="1713027"/>
            <a:ext cx="3978427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98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6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3287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4715"/>
            <a:ext cx="2961406" cy="91511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581" y="214715"/>
            <a:ext cx="5031488" cy="46093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6" y="1129829"/>
            <a:ext cx="2961406" cy="3694212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5552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186" y="3780472"/>
            <a:ext cx="5400675" cy="44630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186" y="482873"/>
            <a:ext cx="5400675" cy="3240405"/>
          </a:xfrm>
        </p:spPr>
        <p:txBody>
          <a:bodyPr/>
          <a:lstStyle>
            <a:lvl1pPr marL="0" indent="0">
              <a:buNone/>
              <a:defRPr sz="1800"/>
            </a:lvl1pPr>
            <a:lvl2pPr marL="259232" indent="0">
              <a:buNone/>
              <a:defRPr sz="1600"/>
            </a:lvl2pPr>
            <a:lvl3pPr marL="518465" indent="0">
              <a:buNone/>
              <a:defRPr sz="1400"/>
            </a:lvl3pPr>
            <a:lvl4pPr marL="777697" indent="0">
              <a:buNone/>
              <a:defRPr sz="1100"/>
            </a:lvl4pPr>
            <a:lvl5pPr marL="1036930" indent="0">
              <a:buNone/>
              <a:defRPr sz="1100"/>
            </a:lvl5pPr>
            <a:lvl6pPr marL="1296162" indent="0">
              <a:buNone/>
              <a:defRPr sz="1100"/>
            </a:lvl6pPr>
            <a:lvl7pPr marL="1555394" indent="0">
              <a:buNone/>
              <a:defRPr sz="1100"/>
            </a:lvl7pPr>
            <a:lvl8pPr marL="1814627" indent="0">
              <a:buNone/>
              <a:defRPr sz="1100"/>
            </a:lvl8pPr>
            <a:lvl9pPr marL="2073859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186" y="4226778"/>
            <a:ext cx="5400675" cy="633829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8692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199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5608" y="142518"/>
            <a:ext cx="1928561" cy="47630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4" y="142518"/>
            <a:ext cx="5701299" cy="476309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82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0057" y="216278"/>
            <a:ext cx="8101013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7" y="1260159"/>
            <a:ext cx="8101013" cy="356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005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03/12/2013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75385" y="5005628"/>
            <a:ext cx="285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080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9924" y="142518"/>
            <a:ext cx="7714245" cy="135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924" y="1537692"/>
            <a:ext cx="7714245" cy="336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9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923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846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769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36930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605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6167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7291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11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6573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24966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84198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43430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102663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769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93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16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5394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1462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73859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41317-0413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8" r="22798"/>
          <a:stretch>
            <a:fillRect/>
          </a:stretch>
        </p:blipFill>
        <p:spPr bwMode="auto">
          <a:xfrm>
            <a:off x="0" y="0"/>
            <a:ext cx="90011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7"/>
          <p:cNvSpPr txBox="1">
            <a:spLocks noChangeArrowheads="1"/>
          </p:cNvSpPr>
          <p:nvPr/>
        </p:nvSpPr>
        <p:spPr bwMode="auto">
          <a:xfrm>
            <a:off x="487562" y="3162896"/>
            <a:ext cx="7210276" cy="97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Área / Responsável</a:t>
            </a:r>
          </a:p>
          <a:p>
            <a:pPr eaLnBrk="1" hangingPunct="1"/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Xx/2013</a:t>
            </a:r>
            <a:endParaRPr lang="en-US" sz="29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28"/>
          <p:cNvSpPr txBox="1">
            <a:spLocks noChangeArrowheads="1"/>
          </p:cNvSpPr>
          <p:nvPr/>
        </p:nvSpPr>
        <p:spPr bwMode="auto">
          <a:xfrm>
            <a:off x="450056" y="1500188"/>
            <a:ext cx="7247782" cy="162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5900" b="1" dirty="0" smtClean="0">
                <a:solidFill>
                  <a:schemeClr val="tx2"/>
                </a:solidFill>
                <a:latin typeface="Gill Sans Std ExtraBold" pitchFamily="34" charset="0"/>
              </a:rPr>
              <a:t>Nome da </a:t>
            </a:r>
            <a:r>
              <a:rPr lang="en-US" sz="59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TD</a:t>
            </a:r>
            <a:endParaRPr lang="en-US" sz="59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13318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8" y="2280285"/>
            <a:ext cx="737592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470376" y="4500537"/>
            <a:ext cx="4083554" cy="51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// VP TD</a:t>
            </a:r>
            <a:endParaRPr lang="en-US" sz="1400" b="1" dirty="0">
              <a:solidFill>
                <a:schemeClr val="bg1"/>
              </a:solidFill>
              <a:latin typeface="Gill Sans Std" pitchFamily="34" charset="0"/>
            </a:endParaRPr>
          </a:p>
          <a:p>
            <a:pPr eaLnBrk="1" hangingPunct="1"/>
            <a:r>
              <a:rPr lang="en-US" sz="1400" dirty="0" smtClean="0">
                <a:solidFill>
                  <a:schemeClr val="bg1"/>
                </a:solidFill>
                <a:latin typeface="Gill Sans Std" pitchFamily="34" charset="0"/>
              </a:rPr>
              <a:t>// </a:t>
            </a:r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forum de yellow pad - novas demandas de TD</a:t>
            </a:r>
            <a:endParaRPr lang="en-US" sz="1400" dirty="0">
              <a:solidFill>
                <a:schemeClr val="bg1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70"/>
            <a:ext cx="9001124" cy="4032448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ctangle 3"/>
          <p:cNvSpPr>
            <a:spLocks/>
          </p:cNvSpPr>
          <p:nvPr/>
        </p:nvSpPr>
        <p:spPr bwMode="auto">
          <a:xfrm>
            <a:off x="332652" y="544742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tx2"/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CONTEXTO</a:t>
            </a:r>
            <a:endParaRPr lang="en-US" sz="3800" dirty="0">
              <a:solidFill>
                <a:schemeClr val="tx2"/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0082" y="2763876"/>
            <a:ext cx="4320481" cy="1861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>
              <a:lnSpc>
                <a:spcPts val="1980"/>
              </a:lnSpc>
              <a:defRPr/>
            </a:pPr>
            <a:r>
              <a:rPr lang="pt-BR" sz="18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Explicar sobre a situação atual da nova demanda de TD que atende a área/ diretoria/ processo que será modificado pelo projeto e porque o mesmo é necessário. </a:t>
            </a:r>
          </a:p>
          <a:p>
            <a:pPr eaLnBrk="1" hangingPunct="1">
              <a:lnSpc>
                <a:spcPts val="1980"/>
              </a:lnSpc>
              <a:defRPr/>
            </a:pPr>
            <a:endParaRPr lang="pt-BR" sz="18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Gill Sans Std ExtraBold"/>
            </a:endParaRPr>
          </a:p>
          <a:p>
            <a:pPr eaLnBrk="1" hangingPunct="1">
              <a:lnSpc>
                <a:spcPts val="1980"/>
              </a:lnSpc>
              <a:defRPr/>
            </a:pPr>
            <a:endParaRPr lang="pt-BR" sz="18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 ExtraBold"/>
              <a:ea typeface="MS PGothic" charset="0"/>
              <a:cs typeface="Gill Sans Std ExtraBold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308" y="59181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08767"/>
              </p:ext>
            </p:extLst>
          </p:nvPr>
        </p:nvGraphicFramePr>
        <p:xfrm>
          <a:off x="198797" y="1332185"/>
          <a:ext cx="4442428" cy="944880"/>
        </p:xfrm>
        <a:graphic>
          <a:graphicData uri="http://schemas.openxmlformats.org/drawingml/2006/table">
            <a:tbl>
              <a:tblPr/>
              <a:tblGrid>
                <a:gridCol w="1571998"/>
                <a:gridCol w="2870430"/>
              </a:tblGrid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Solicitante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&lt;nome </a:t>
                      </a:r>
                      <a:r>
                        <a:rPr lang="pt-B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do Solicitante da Área de </a:t>
                      </a:r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Negócio&gt;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604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Negócio 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&lt;nome </a:t>
                      </a:r>
                      <a:r>
                        <a:rPr lang="pt-B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da Área de Negócio </a:t>
                      </a:r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atendida&gt;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</a:t>
                      </a:r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&lt;nome </a:t>
                      </a:r>
                      <a:r>
                        <a:rPr lang="pt-B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da Área de </a:t>
                      </a:r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 </a:t>
                      </a:r>
                      <a:r>
                        <a:rPr lang="pt-B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responsável pela </a:t>
                      </a:r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solução&gt;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&lt;Nome 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da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TD&gt;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</a:t>
            </a: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BJETIVOS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52090" y="1514996"/>
            <a:ext cx="4536504" cy="835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ts val="1980"/>
              </a:lnSpc>
              <a:defRPr/>
            </a:pPr>
            <a:r>
              <a:rPr lang="pt-BR" sz="1600" b="1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O QUE SERÁ DESENVOLVIDO E O QUE QUEREMOS ENTREGAR</a:t>
            </a:r>
          </a:p>
          <a:p>
            <a:pPr algn="l" eaLnBrk="1" hangingPunct="1">
              <a:lnSpc>
                <a:spcPts val="1980"/>
              </a:lnSpc>
              <a:defRPr/>
            </a:pPr>
            <a:r>
              <a:rPr lang="pt-BR" sz="16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(PRODUTO FINAL).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84709" y="2844353"/>
            <a:ext cx="3301768" cy="113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A</a:t>
            </a: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Gill Sans Std ExtraBold"/>
              </a:rPr>
              <a:t>ções</a:t>
            </a:r>
            <a:endParaRPr lang="pt-BR" sz="16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Gill Sans Std ExtraBold"/>
            </a:endParaRPr>
          </a:p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Também é importante falar sobre o que pretende-se fazer e como isso será viabilizado. 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573795" y="1336486"/>
            <a:ext cx="3301768" cy="82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3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Briefing: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</a:rPr>
              <a:t>Link sharepoint do briefing cadastrado</a:t>
            </a:r>
          </a:p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 smtClean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</a:rPr>
              <a:t>Link planilha de requerimentos</a:t>
            </a:r>
            <a:endParaRPr lang="pt-BR" sz="1600" dirty="0">
              <a:solidFill>
                <a:srgbClr val="0070C0"/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pic>
        <p:nvPicPr>
          <p:cNvPr id="3074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&lt;Nome 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da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TD&gt;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					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Apresentar Esboço conceitual</a:t>
            </a:r>
            <a:r>
              <a:rPr lang="en-US" dirty="0" smtClean="0"/>
              <a:t>                       </a:t>
            </a:r>
          </a:p>
          <a:p>
            <a:pPr algn="ctr"/>
            <a:r>
              <a:rPr lang="en-US" dirty="0"/>
              <a:t>	</a:t>
            </a:r>
            <a:r>
              <a:rPr lang="en-US" dirty="0" smtClean="0"/>
              <a:t>			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Detalhar Duvidas 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	      Alternativas Solução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		Fornecedores envolvidos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</a:rPr>
              <a:t>				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06" y="1547719"/>
            <a:ext cx="4344466" cy="324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tângulo 2"/>
          <p:cNvSpPr/>
          <p:nvPr/>
        </p:nvSpPr>
        <p:spPr>
          <a:xfrm>
            <a:off x="756146" y="2238672"/>
            <a:ext cx="35060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pt-BR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MODELO</a:t>
            </a:r>
            <a:endParaRPr lang="pt-BR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&lt;Nome 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da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TD&gt;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9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INTERDEPENDÊNCIAS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5" name="Rectangle 3"/>
          <p:cNvSpPr>
            <a:spLocks/>
          </p:cNvSpPr>
          <p:nvPr/>
        </p:nvSpPr>
        <p:spPr bwMode="auto">
          <a:xfrm>
            <a:off x="243587" y="3526194"/>
            <a:ext cx="540060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Plataformas Envolvidas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Rectangle 3"/>
          <p:cNvSpPr>
            <a:spLocks/>
          </p:cNvSpPr>
          <p:nvPr/>
        </p:nvSpPr>
        <p:spPr bwMode="auto">
          <a:xfrm>
            <a:off x="252090" y="1332185"/>
            <a:ext cx="828092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2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Dependências</a:t>
            </a:r>
            <a:endParaRPr lang="en-US" sz="32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75635" y="4031746"/>
            <a:ext cx="712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núcleo principal, núcleos impactados e recursos envolvidos na demanda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836538" y="1837737"/>
            <a:ext cx="700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Demandante/  demandando –  Descrever as Dependências de Entrega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&lt;Nome 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da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TD&gt;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828154" y="2403013"/>
            <a:ext cx="3004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rPr>
              <a:t>Projetos / SEs  impactadas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1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15873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ESTIMATIVA DE RECURSOS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357136"/>
              </p:ext>
            </p:extLst>
          </p:nvPr>
        </p:nvGraphicFramePr>
        <p:xfrm>
          <a:off x="4788594" y="1796201"/>
          <a:ext cx="3576440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48272"/>
                <a:gridCol w="1128168"/>
              </a:tblGrid>
              <a:tr h="11735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Identificação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Valor R$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Desenvolvimento</a:t>
                      </a:r>
                      <a:endParaRPr lang="pt-BR" sz="1400" strike="sngStrike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x,00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Serviços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 Infra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x,00</a:t>
                      </a: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Despesas </a:t>
                      </a:r>
                      <a:endParaRPr lang="pt-BR" sz="1400" strike="sng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...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Total</a:t>
                      </a:r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soma</a:t>
                      </a:r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3"/>
          <p:cNvSpPr>
            <a:spLocks/>
          </p:cNvSpPr>
          <p:nvPr/>
        </p:nvSpPr>
        <p:spPr bwMode="auto">
          <a:xfrm>
            <a:off x="5580682" y="1211181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Custos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284074"/>
              </p:ext>
            </p:extLst>
          </p:nvPr>
        </p:nvGraphicFramePr>
        <p:xfrm>
          <a:off x="108074" y="1764233"/>
          <a:ext cx="3117353" cy="20059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20080"/>
                <a:gridCol w="1368152"/>
                <a:gridCol w="1029121"/>
              </a:tblGrid>
              <a:tr h="201882"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Área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Recurso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Respons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3"/>
          <p:cNvSpPr>
            <a:spLocks/>
          </p:cNvSpPr>
          <p:nvPr/>
        </p:nvSpPr>
        <p:spPr bwMode="auto">
          <a:xfrm>
            <a:off x="684138" y="122379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Recursos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2141785" y="4140497"/>
            <a:ext cx="4086969" cy="8617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Detalhar a Expectativa de Prazos:</a:t>
            </a:r>
            <a:b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</a:b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Data estimada para apresentação do P0:</a:t>
            </a:r>
          </a:p>
          <a:p>
            <a:pPr>
              <a:lnSpc>
                <a:spcPts val="1980"/>
              </a:lnSpc>
              <a:defRPr/>
            </a:pPr>
            <a:r>
              <a:rPr lang="pt-BR" sz="1400" spc="14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charset="0"/>
                <a:ea typeface="MS PGothic" charset="0"/>
                <a:cs typeface="MS PGothic" charset="0"/>
              </a:rPr>
              <a:t>Data estimada para apresentação do P1:</a:t>
            </a:r>
            <a:endParaRPr lang="pt-BR" sz="14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MS PGothic" charset="0"/>
            </a:endParaRPr>
          </a:p>
        </p:txBody>
      </p:sp>
      <p:sp>
        <p:nvSpPr>
          <p:cNvPr id="21" name="Rectangle 3"/>
          <p:cNvSpPr>
            <a:spLocks/>
          </p:cNvSpPr>
          <p:nvPr/>
        </p:nvSpPr>
        <p:spPr bwMode="auto">
          <a:xfrm>
            <a:off x="308414" y="451624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Prazo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068514" y="107792"/>
            <a:ext cx="3675173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&lt;Nome 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da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 de </a:t>
            </a:r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TD&gt;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2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76219" y="2125580"/>
            <a:ext cx="7193868" cy="9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3" tIns="41147" rIns="82293" bIns="41147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5600" b="1" dirty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fim. obrigado.</a:t>
            </a: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98" y="2280285"/>
            <a:ext cx="738374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451619" y="4826854"/>
            <a:ext cx="2009653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900" b="1" dirty="0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900" dirty="0">
                <a:solidFill>
                  <a:schemeClr val="bg1"/>
                </a:solidFill>
                <a:latin typeface="Verdana" charset="0"/>
              </a:rPr>
              <a:t> ADICIONAIS </a:t>
            </a:r>
          </a:p>
        </p:txBody>
      </p:sp>
    </p:spTree>
    <p:extLst>
      <p:ext uri="{BB962C8B-B14F-4D97-AF65-F5344CB8AC3E}">
        <p14:creationId xmlns:p14="http://schemas.microsoft.com/office/powerpoint/2010/main" val="3437031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C313B8850C42248B2A2BE610EA033BA" ma:contentTypeVersion="0" ma:contentTypeDescription="Crie um novo documento." ma:contentTypeScope="" ma:versionID="b5c4efacdbf300a640df34cd0181153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1B5668-FDC7-46F5-AA50-4AD034CFB597}"/>
</file>

<file path=customXml/itemProps2.xml><?xml version="1.0" encoding="utf-8"?>
<ds:datastoreItem xmlns:ds="http://schemas.openxmlformats.org/officeDocument/2006/customXml" ds:itemID="{345142BF-2FD8-4361-B6CE-C714ACDDB28C}"/>
</file>

<file path=customXml/itemProps3.xml><?xml version="1.0" encoding="utf-8"?>
<ds:datastoreItem xmlns:ds="http://schemas.openxmlformats.org/officeDocument/2006/customXml" ds:itemID="{F123B346-4C39-4470-9725-0145E70DA245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817</TotalTime>
  <Words>343</Words>
  <Application>Microsoft Office PowerPoint</Application>
  <PresentationFormat>Personalizar</PresentationFormat>
  <Paragraphs>74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Blank</vt:lpstr>
      <vt:lpstr>Title &amp; Bullets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 – Aprovação da Ideia</dc:title>
  <dc:creator>br92025</dc:creator>
  <cp:lastModifiedBy>THALITA MENDES MAINA BEGLIOMINI</cp:lastModifiedBy>
  <cp:revision>57</cp:revision>
  <dcterms:created xsi:type="dcterms:W3CDTF">2013-05-14T22:09:27Z</dcterms:created>
  <dcterms:modified xsi:type="dcterms:W3CDTF">2013-12-03T16:02:22Z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0x0101005C313B8850C42248B2A2BE610EA033BA</vt:lpwstr>
  </property>
</Properties>
</file>