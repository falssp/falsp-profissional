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3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72" r:id="rId2"/>
    <p:sldMasterId id="2147483684" r:id="rId3"/>
  </p:sldMasterIdLst>
  <p:notesMasterIdLst>
    <p:notesMasterId r:id="rId17"/>
  </p:notesMasterIdLst>
  <p:sldIdLst>
    <p:sldId id="328" r:id="rId4"/>
    <p:sldId id="283" r:id="rId5"/>
    <p:sldId id="318" r:id="rId6"/>
    <p:sldId id="319" r:id="rId7"/>
    <p:sldId id="331" r:id="rId8"/>
    <p:sldId id="327" r:id="rId9"/>
    <p:sldId id="330" r:id="rId10"/>
    <p:sldId id="320" r:id="rId11"/>
    <p:sldId id="323" r:id="rId12"/>
    <p:sldId id="322" r:id="rId13"/>
    <p:sldId id="324" r:id="rId14"/>
    <p:sldId id="332" r:id="rId15"/>
    <p:sldId id="279" r:id="rId16"/>
  </p:sldIdLst>
  <p:sldSz cx="9144000" cy="5143500" type="screen16x9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0FA72"/>
    <a:srgbClr val="FFFF00"/>
    <a:srgbClr val="FF9900"/>
    <a:srgbClr val="FFFF99"/>
    <a:srgbClr val="F9EEE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3837" autoAdjust="0"/>
  </p:normalViewPr>
  <p:slideViewPr>
    <p:cSldViewPr>
      <p:cViewPr>
        <p:scale>
          <a:sx n="80" d="100"/>
          <a:sy n="80" d="100"/>
        </p:scale>
        <p:origin x="-1074" y="-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21" Type="http://schemas.openxmlformats.org/officeDocument/2006/relationships/tableStyles" Target="tableStyles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10" Type="http://schemas.openxmlformats.org/officeDocument/2006/relationships/slide" Target="slides/slide7.xml"/><Relationship Id="rId19" Type="http://schemas.openxmlformats.org/officeDocument/2006/relationships/viewProps" Target="viewProp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84D842D-88CA-4DF7-8B95-BDD9DD6F5F6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F7AB66E-BDE0-4846-87FF-00D9514E233C}">
      <dgm:prSet phldrT="[Texto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>
        <a:solidFill>
          <a:srgbClr val="FFFF00"/>
        </a:solidFill>
      </dgm:spPr>
      <dgm:t>
        <a:bodyPr/>
        <a:lstStyle/>
        <a:p>
          <a:r>
            <a:rPr lang="pt-BR" b="1" dirty="0" smtClean="0">
              <a:solidFill>
                <a:schemeClr val="tx1"/>
              </a:solidFill>
            </a:rPr>
            <a:t>Identificação</a:t>
          </a:r>
          <a:endParaRPr lang="pt-BR" b="1" dirty="0">
            <a:solidFill>
              <a:schemeClr val="tx1"/>
            </a:solidFill>
          </a:endParaRPr>
        </a:p>
      </dgm:t>
    </dgm:pt>
    <dgm:pt modelId="{DB69B17C-D26C-46F8-A0A5-FB7DC2644BC0}" type="parTrans" cxnId="{91FDD4A7-3781-4035-8175-F327B422997E}">
      <dgm:prSet/>
      <dgm:spPr/>
      <dgm:t>
        <a:bodyPr/>
        <a:lstStyle/>
        <a:p>
          <a:endParaRPr lang="pt-BR"/>
        </a:p>
      </dgm:t>
    </dgm:pt>
    <dgm:pt modelId="{3EDAA467-DF3B-4D7C-BEEB-EFDBC692151D}" type="sibTrans" cxnId="{91FDD4A7-3781-4035-8175-F327B422997E}">
      <dgm:prSet/>
      <dgm:spPr/>
      <dgm:t>
        <a:bodyPr/>
        <a:lstStyle/>
        <a:p>
          <a:endParaRPr lang="pt-BR"/>
        </a:p>
      </dgm:t>
    </dgm:pt>
    <dgm:pt modelId="{58AFEB18-2673-4627-8DC8-1BF1224410B2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Registro</a:t>
          </a:r>
          <a:endParaRPr lang="pt-BR" b="1" dirty="0"/>
        </a:p>
      </dgm:t>
    </dgm:pt>
    <dgm:pt modelId="{3DD0B710-03BF-4BB0-8ACA-16EE2E5849F4}" type="parTrans" cxnId="{2060EF26-1C61-4949-88F5-A72E41032DFD}">
      <dgm:prSet/>
      <dgm:spPr/>
      <dgm:t>
        <a:bodyPr/>
        <a:lstStyle/>
        <a:p>
          <a:endParaRPr lang="pt-BR"/>
        </a:p>
      </dgm:t>
    </dgm:pt>
    <dgm:pt modelId="{63CD0960-0C6A-4944-B96F-6EC362147816}" type="sibTrans" cxnId="{2060EF26-1C61-4949-88F5-A72E41032DFD}">
      <dgm:prSet/>
      <dgm:spPr/>
      <dgm:t>
        <a:bodyPr/>
        <a:lstStyle/>
        <a:p>
          <a:endParaRPr lang="pt-BR"/>
        </a:p>
      </dgm:t>
    </dgm:pt>
    <dgm:pt modelId="{51EB73BC-72CD-428C-8ABC-4EA20D8BD6CB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Categorização</a:t>
          </a:r>
          <a:endParaRPr lang="pt-BR" b="1" dirty="0"/>
        </a:p>
      </dgm:t>
    </dgm:pt>
    <dgm:pt modelId="{20624BBE-7592-457A-8356-3EDC7DED91E8}" type="parTrans" cxnId="{7ECECD20-A82B-40F1-804E-1F246C53A867}">
      <dgm:prSet/>
      <dgm:spPr/>
      <dgm:t>
        <a:bodyPr/>
        <a:lstStyle/>
        <a:p>
          <a:endParaRPr lang="pt-BR"/>
        </a:p>
      </dgm:t>
    </dgm:pt>
    <dgm:pt modelId="{EB99C829-687D-45CA-8253-59367E771E04}" type="sibTrans" cxnId="{7ECECD20-A82B-40F1-804E-1F246C53A867}">
      <dgm:prSet/>
      <dgm:spPr/>
      <dgm:t>
        <a:bodyPr/>
        <a:lstStyle/>
        <a:p>
          <a:endParaRPr lang="pt-BR"/>
        </a:p>
      </dgm:t>
    </dgm:pt>
    <dgm:pt modelId="{11DD4492-A39B-42E3-9412-35EA00F50971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Diagnóstico Inicial</a:t>
          </a:r>
          <a:endParaRPr lang="pt-BR" b="1" dirty="0"/>
        </a:p>
      </dgm:t>
    </dgm:pt>
    <dgm:pt modelId="{0AADE72A-6F66-4350-B214-736E67375218}" type="parTrans" cxnId="{87CBC76C-E2BA-4040-8252-D4964D482C31}">
      <dgm:prSet/>
      <dgm:spPr/>
      <dgm:t>
        <a:bodyPr/>
        <a:lstStyle/>
        <a:p>
          <a:endParaRPr lang="pt-BR"/>
        </a:p>
      </dgm:t>
    </dgm:pt>
    <dgm:pt modelId="{59B025FA-F45B-49E6-80E1-CE07E2A4CC15}" type="sibTrans" cxnId="{87CBC76C-E2BA-4040-8252-D4964D482C31}">
      <dgm:prSet/>
      <dgm:spPr/>
      <dgm:t>
        <a:bodyPr/>
        <a:lstStyle/>
        <a:p>
          <a:endParaRPr lang="pt-BR"/>
        </a:p>
      </dgm:t>
    </dgm:pt>
    <dgm:pt modelId="{DF0A6621-0E45-433B-8FB3-052438E443B7}">
      <dgm:prSet phldrT="[Texto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Priorização</a:t>
          </a:r>
          <a:endParaRPr lang="pt-BR" b="1" dirty="0"/>
        </a:p>
      </dgm:t>
    </dgm:pt>
    <dgm:pt modelId="{BB217690-33D7-4930-A0E5-44B1D127CDF9}" type="parTrans" cxnId="{DB0D2595-C051-4376-B050-87221C9DBD23}">
      <dgm:prSet/>
      <dgm:spPr/>
      <dgm:t>
        <a:bodyPr/>
        <a:lstStyle/>
        <a:p>
          <a:endParaRPr lang="pt-BR"/>
        </a:p>
      </dgm:t>
    </dgm:pt>
    <dgm:pt modelId="{7D8D8A47-1F70-4469-A5ED-7D71D53B094D}" type="sibTrans" cxnId="{DB0D2595-C051-4376-B050-87221C9DBD23}">
      <dgm:prSet/>
      <dgm:spPr/>
      <dgm:t>
        <a:bodyPr/>
        <a:lstStyle/>
        <a:p>
          <a:endParaRPr lang="pt-BR"/>
        </a:p>
      </dgm:t>
    </dgm:pt>
    <dgm:pt modelId="{9876F82A-0317-458B-BF2B-B5DC8609E830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Investigação e Diagnóstico</a:t>
          </a:r>
          <a:endParaRPr lang="pt-BR" b="1" dirty="0"/>
        </a:p>
      </dgm:t>
    </dgm:pt>
    <dgm:pt modelId="{487656CE-D8FB-4145-85E2-A4911EC92F75}" type="parTrans" cxnId="{47A7CCBB-B134-45D0-B5ED-88987E04B771}">
      <dgm:prSet/>
      <dgm:spPr/>
      <dgm:t>
        <a:bodyPr/>
        <a:lstStyle/>
        <a:p>
          <a:endParaRPr lang="pt-BR"/>
        </a:p>
      </dgm:t>
    </dgm:pt>
    <dgm:pt modelId="{CEAB1B94-66EB-4CC9-B256-B3CFC61DC22D}" type="sibTrans" cxnId="{47A7CCBB-B134-45D0-B5ED-88987E04B771}">
      <dgm:prSet/>
      <dgm:spPr/>
      <dgm:t>
        <a:bodyPr/>
        <a:lstStyle/>
        <a:p>
          <a:endParaRPr lang="pt-BR"/>
        </a:p>
      </dgm:t>
    </dgm:pt>
    <dgm:pt modelId="{A034C743-2047-4009-8B2A-3B9C9300AA91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Resolução e Recuperação</a:t>
          </a:r>
          <a:endParaRPr lang="pt-BR" b="1" dirty="0"/>
        </a:p>
      </dgm:t>
    </dgm:pt>
    <dgm:pt modelId="{38C127D4-EF7F-4932-9F32-3C220C32246A}" type="parTrans" cxnId="{9910FC01-D78B-4A2C-9028-F444FE1963E5}">
      <dgm:prSet/>
      <dgm:spPr/>
      <dgm:t>
        <a:bodyPr/>
        <a:lstStyle/>
        <a:p>
          <a:endParaRPr lang="pt-BR"/>
        </a:p>
      </dgm:t>
    </dgm:pt>
    <dgm:pt modelId="{74628534-22A8-42B2-9A81-46BFE6480099}" type="sibTrans" cxnId="{9910FC01-D78B-4A2C-9028-F444FE1963E5}">
      <dgm:prSet/>
      <dgm:spPr/>
      <dgm:t>
        <a:bodyPr/>
        <a:lstStyle/>
        <a:p>
          <a:endParaRPr lang="pt-BR"/>
        </a:p>
      </dgm:t>
    </dgm:pt>
    <dgm:pt modelId="{3F56CB0A-E774-4D0B-8F3B-E842BCCA4916}">
      <dgm:prSet phldrT="[Texto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b="1" dirty="0" smtClean="0"/>
            <a:t>Fechamento do Incidente</a:t>
          </a:r>
          <a:endParaRPr lang="pt-BR" b="1" dirty="0"/>
        </a:p>
      </dgm:t>
    </dgm:pt>
    <dgm:pt modelId="{723EBBC6-950D-4510-BF48-2C616E07F5E0}" type="parTrans" cxnId="{04BF8E50-FD1D-416F-9855-827740A48C35}">
      <dgm:prSet/>
      <dgm:spPr/>
      <dgm:t>
        <a:bodyPr/>
        <a:lstStyle/>
        <a:p>
          <a:endParaRPr lang="pt-BR"/>
        </a:p>
      </dgm:t>
    </dgm:pt>
    <dgm:pt modelId="{E1E79779-9C2C-48A1-A409-430E6DE0FD2E}" type="sibTrans" cxnId="{04BF8E50-FD1D-416F-9855-827740A48C35}">
      <dgm:prSet/>
      <dgm:spPr/>
      <dgm:t>
        <a:bodyPr/>
        <a:lstStyle/>
        <a:p>
          <a:endParaRPr lang="pt-BR"/>
        </a:p>
      </dgm:t>
    </dgm:pt>
    <dgm:pt modelId="{F860A790-A1FF-4913-B466-036EBC1DDF60}" type="pres">
      <dgm:prSet presAssocID="{484D842D-88CA-4DF7-8B95-BDD9DD6F5F6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A8134A67-01BD-4D72-B0CC-BCAD9E8CBEEA}" type="pres">
      <dgm:prSet presAssocID="{EF7AB66E-BDE0-4846-87FF-00D9514E233C}" presName="parTxOnly" presStyleLbl="node1" presStyleIdx="0" presStyleCnt="8" custScaleY="1011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820DC4C-1D9B-43C8-B743-E602EB806359}" type="pres">
      <dgm:prSet presAssocID="{3EDAA467-DF3B-4D7C-BEEB-EFDBC692151D}" presName="parTxOnlySpace" presStyleCnt="0"/>
      <dgm:spPr/>
    </dgm:pt>
    <dgm:pt modelId="{F4164DE3-7A8A-4EB5-9E0D-00A8281DDFB0}" type="pres">
      <dgm:prSet presAssocID="{58AFEB18-2673-4627-8DC8-1BF1224410B2}" presName="parTxOnly" presStyleLbl="node1" presStyleIdx="1" presStyleCnt="8" custScaleY="1011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63D043C-34FD-4034-B8D8-833872ACB1A1}" type="pres">
      <dgm:prSet presAssocID="{63CD0960-0C6A-4944-B96F-6EC362147816}" presName="parTxOnlySpace" presStyleCnt="0"/>
      <dgm:spPr/>
    </dgm:pt>
    <dgm:pt modelId="{EA5AD6DE-AED9-423A-B74C-32A50B1A2F71}" type="pres">
      <dgm:prSet presAssocID="{51EB73BC-72CD-428C-8ABC-4EA20D8BD6CB}" presName="parTxOnly" presStyleLbl="node1" presStyleIdx="2" presStyleCnt="8" custScaleY="1011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57D5694-2AFB-40D3-9A83-B82369A61F1B}" type="pres">
      <dgm:prSet presAssocID="{EB99C829-687D-45CA-8253-59367E771E04}" presName="parTxOnlySpace" presStyleCnt="0"/>
      <dgm:spPr/>
    </dgm:pt>
    <dgm:pt modelId="{4F87A1D2-1CA1-4F23-BB26-B8F17A985C4F}" type="pres">
      <dgm:prSet presAssocID="{DF0A6621-0E45-433B-8FB3-052438E443B7}" presName="parTxOnly" presStyleLbl="node1" presStyleIdx="3" presStyleCnt="8" custScaleY="103557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5264289-C900-433C-99D1-DB07300CAA9D}" type="pres">
      <dgm:prSet presAssocID="{7D8D8A47-1F70-4469-A5ED-7D71D53B094D}" presName="parTxOnlySpace" presStyleCnt="0"/>
      <dgm:spPr/>
    </dgm:pt>
    <dgm:pt modelId="{ED16F0D0-1763-4147-8153-58C819D1BADD}" type="pres">
      <dgm:prSet presAssocID="{11DD4492-A39B-42E3-9412-35EA00F50971}" presName="parTxOnly" presStyleLbl="node1" presStyleIdx="4" presStyleCnt="8" custScaleY="101160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63FF1A4-9058-4D94-A56A-C662B338B0FC}" type="pres">
      <dgm:prSet presAssocID="{59B025FA-F45B-49E6-80E1-CE07E2A4CC15}" presName="parTxOnlySpace" presStyleCnt="0"/>
      <dgm:spPr/>
    </dgm:pt>
    <dgm:pt modelId="{774FF8EF-53B4-41B2-826A-F45218B24F9C}" type="pres">
      <dgm:prSet presAssocID="{9876F82A-0317-458B-BF2B-B5DC8609E830}" presName="parTxOnly" presStyleLbl="node1" presStyleIdx="5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05017D0B-EFCE-4697-BADE-F67A14F9EEB8}" type="pres">
      <dgm:prSet presAssocID="{CEAB1B94-66EB-4CC9-B256-B3CFC61DC22D}" presName="parTxOnlySpace" presStyleCnt="0"/>
      <dgm:spPr/>
    </dgm:pt>
    <dgm:pt modelId="{DE56ADC1-C67C-4A7D-9B3F-E6F832161B4B}" type="pres">
      <dgm:prSet presAssocID="{A034C743-2047-4009-8B2A-3B9C9300AA91}" presName="parTxOnly" presStyleLbl="node1" presStyleIdx="6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1B47390-7726-4D55-9AF9-4D833AC67759}" type="pres">
      <dgm:prSet presAssocID="{74628534-22A8-42B2-9A81-46BFE6480099}" presName="parTxOnlySpace" presStyleCnt="0"/>
      <dgm:spPr/>
    </dgm:pt>
    <dgm:pt modelId="{1F21EC40-30E4-4CE3-B8DF-144BBD22EC6C}" type="pres">
      <dgm:prSet presAssocID="{3F56CB0A-E774-4D0B-8F3B-E842BCCA4916}" presName="parTxOnly" presStyleLbl="node1" presStyleIdx="7" presStyleCnt="8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7CBC76C-E2BA-4040-8252-D4964D482C31}" srcId="{484D842D-88CA-4DF7-8B95-BDD9DD6F5F60}" destId="{11DD4492-A39B-42E3-9412-35EA00F50971}" srcOrd="4" destOrd="0" parTransId="{0AADE72A-6F66-4350-B214-736E67375218}" sibTransId="{59B025FA-F45B-49E6-80E1-CE07E2A4CC15}"/>
    <dgm:cxn modelId="{D5B13AD2-13EE-4F5B-A2B2-DEBF0BE4914C}" type="presOf" srcId="{EF7AB66E-BDE0-4846-87FF-00D9514E233C}" destId="{A8134A67-01BD-4D72-B0CC-BCAD9E8CBEEA}" srcOrd="0" destOrd="0" presId="urn:microsoft.com/office/officeart/2005/8/layout/chevron1"/>
    <dgm:cxn modelId="{3D9EE76A-8298-4FA1-B82B-160A6A27DBAD}" type="presOf" srcId="{9876F82A-0317-458B-BF2B-B5DC8609E830}" destId="{774FF8EF-53B4-41B2-826A-F45218B24F9C}" srcOrd="0" destOrd="0" presId="urn:microsoft.com/office/officeart/2005/8/layout/chevron1"/>
    <dgm:cxn modelId="{898B50BC-8987-4348-96C9-A13DFC81F3F0}" type="presOf" srcId="{DF0A6621-0E45-433B-8FB3-052438E443B7}" destId="{4F87A1D2-1CA1-4F23-BB26-B8F17A985C4F}" srcOrd="0" destOrd="0" presId="urn:microsoft.com/office/officeart/2005/8/layout/chevron1"/>
    <dgm:cxn modelId="{07F1C1AD-D042-46EF-9071-6B0610620927}" type="presOf" srcId="{A034C743-2047-4009-8B2A-3B9C9300AA91}" destId="{DE56ADC1-C67C-4A7D-9B3F-E6F832161B4B}" srcOrd="0" destOrd="0" presId="urn:microsoft.com/office/officeart/2005/8/layout/chevron1"/>
    <dgm:cxn modelId="{47A7CCBB-B134-45D0-B5ED-88987E04B771}" srcId="{484D842D-88CA-4DF7-8B95-BDD9DD6F5F60}" destId="{9876F82A-0317-458B-BF2B-B5DC8609E830}" srcOrd="5" destOrd="0" parTransId="{487656CE-D8FB-4145-85E2-A4911EC92F75}" sibTransId="{CEAB1B94-66EB-4CC9-B256-B3CFC61DC22D}"/>
    <dgm:cxn modelId="{22F2572D-F275-42E8-9EFC-B618D3AFA4F8}" type="presOf" srcId="{58AFEB18-2673-4627-8DC8-1BF1224410B2}" destId="{F4164DE3-7A8A-4EB5-9E0D-00A8281DDFB0}" srcOrd="0" destOrd="0" presId="urn:microsoft.com/office/officeart/2005/8/layout/chevron1"/>
    <dgm:cxn modelId="{DB0D2595-C051-4376-B050-87221C9DBD23}" srcId="{484D842D-88CA-4DF7-8B95-BDD9DD6F5F60}" destId="{DF0A6621-0E45-433B-8FB3-052438E443B7}" srcOrd="3" destOrd="0" parTransId="{BB217690-33D7-4930-A0E5-44B1D127CDF9}" sibTransId="{7D8D8A47-1F70-4469-A5ED-7D71D53B094D}"/>
    <dgm:cxn modelId="{874ED14F-5AF2-4280-B5CD-697B14D1E609}" type="presOf" srcId="{11DD4492-A39B-42E3-9412-35EA00F50971}" destId="{ED16F0D0-1763-4147-8153-58C819D1BADD}" srcOrd="0" destOrd="0" presId="urn:microsoft.com/office/officeart/2005/8/layout/chevron1"/>
    <dgm:cxn modelId="{04BF8E50-FD1D-416F-9855-827740A48C35}" srcId="{484D842D-88CA-4DF7-8B95-BDD9DD6F5F60}" destId="{3F56CB0A-E774-4D0B-8F3B-E842BCCA4916}" srcOrd="7" destOrd="0" parTransId="{723EBBC6-950D-4510-BF48-2C616E07F5E0}" sibTransId="{E1E79779-9C2C-48A1-A409-430E6DE0FD2E}"/>
    <dgm:cxn modelId="{9910FC01-D78B-4A2C-9028-F444FE1963E5}" srcId="{484D842D-88CA-4DF7-8B95-BDD9DD6F5F60}" destId="{A034C743-2047-4009-8B2A-3B9C9300AA91}" srcOrd="6" destOrd="0" parTransId="{38C127D4-EF7F-4932-9F32-3C220C32246A}" sibTransId="{74628534-22A8-42B2-9A81-46BFE6480099}"/>
    <dgm:cxn modelId="{11F91ED3-008B-46FB-9A0A-27ABDB66D972}" type="presOf" srcId="{484D842D-88CA-4DF7-8B95-BDD9DD6F5F60}" destId="{F860A790-A1FF-4913-B466-036EBC1DDF60}" srcOrd="0" destOrd="0" presId="urn:microsoft.com/office/officeart/2005/8/layout/chevron1"/>
    <dgm:cxn modelId="{91FDD4A7-3781-4035-8175-F327B422997E}" srcId="{484D842D-88CA-4DF7-8B95-BDD9DD6F5F60}" destId="{EF7AB66E-BDE0-4846-87FF-00D9514E233C}" srcOrd="0" destOrd="0" parTransId="{DB69B17C-D26C-46F8-A0A5-FB7DC2644BC0}" sibTransId="{3EDAA467-DF3B-4D7C-BEEB-EFDBC692151D}"/>
    <dgm:cxn modelId="{9EA27EF9-4B66-4C58-92D8-32B2FC11E8BB}" type="presOf" srcId="{3F56CB0A-E774-4D0B-8F3B-E842BCCA4916}" destId="{1F21EC40-30E4-4CE3-B8DF-144BBD22EC6C}" srcOrd="0" destOrd="0" presId="urn:microsoft.com/office/officeart/2005/8/layout/chevron1"/>
    <dgm:cxn modelId="{4E2214AD-9002-4181-A2C4-3A38709FD36B}" type="presOf" srcId="{51EB73BC-72CD-428C-8ABC-4EA20D8BD6CB}" destId="{EA5AD6DE-AED9-423A-B74C-32A50B1A2F71}" srcOrd="0" destOrd="0" presId="urn:microsoft.com/office/officeart/2005/8/layout/chevron1"/>
    <dgm:cxn modelId="{2060EF26-1C61-4949-88F5-A72E41032DFD}" srcId="{484D842D-88CA-4DF7-8B95-BDD9DD6F5F60}" destId="{58AFEB18-2673-4627-8DC8-1BF1224410B2}" srcOrd="1" destOrd="0" parTransId="{3DD0B710-03BF-4BB0-8ACA-16EE2E5849F4}" sibTransId="{63CD0960-0C6A-4944-B96F-6EC362147816}"/>
    <dgm:cxn modelId="{7ECECD20-A82B-40F1-804E-1F246C53A867}" srcId="{484D842D-88CA-4DF7-8B95-BDD9DD6F5F60}" destId="{51EB73BC-72CD-428C-8ABC-4EA20D8BD6CB}" srcOrd="2" destOrd="0" parTransId="{20624BBE-7592-457A-8356-3EDC7DED91E8}" sibTransId="{EB99C829-687D-45CA-8253-59367E771E04}"/>
    <dgm:cxn modelId="{A1F11F34-580A-4AE1-BD81-477A5F11DECE}" type="presParOf" srcId="{F860A790-A1FF-4913-B466-036EBC1DDF60}" destId="{A8134A67-01BD-4D72-B0CC-BCAD9E8CBEEA}" srcOrd="0" destOrd="0" presId="urn:microsoft.com/office/officeart/2005/8/layout/chevron1"/>
    <dgm:cxn modelId="{DA535464-70E5-4109-BD63-1E12051CC2E6}" type="presParOf" srcId="{F860A790-A1FF-4913-B466-036EBC1DDF60}" destId="{E820DC4C-1D9B-43C8-B743-E602EB806359}" srcOrd="1" destOrd="0" presId="urn:microsoft.com/office/officeart/2005/8/layout/chevron1"/>
    <dgm:cxn modelId="{5B744308-143E-41C6-8382-3665A8A91D11}" type="presParOf" srcId="{F860A790-A1FF-4913-B466-036EBC1DDF60}" destId="{F4164DE3-7A8A-4EB5-9E0D-00A8281DDFB0}" srcOrd="2" destOrd="0" presId="urn:microsoft.com/office/officeart/2005/8/layout/chevron1"/>
    <dgm:cxn modelId="{FD59256D-53D2-4EDC-BCFD-3026A61AFA19}" type="presParOf" srcId="{F860A790-A1FF-4913-B466-036EBC1DDF60}" destId="{F63D043C-34FD-4034-B8D8-833872ACB1A1}" srcOrd="3" destOrd="0" presId="urn:microsoft.com/office/officeart/2005/8/layout/chevron1"/>
    <dgm:cxn modelId="{880503DC-4811-47F7-8F83-62B410CE6CD3}" type="presParOf" srcId="{F860A790-A1FF-4913-B466-036EBC1DDF60}" destId="{EA5AD6DE-AED9-423A-B74C-32A50B1A2F71}" srcOrd="4" destOrd="0" presId="urn:microsoft.com/office/officeart/2005/8/layout/chevron1"/>
    <dgm:cxn modelId="{CB0762FD-5139-4A03-AFE3-057B41600841}" type="presParOf" srcId="{F860A790-A1FF-4913-B466-036EBC1DDF60}" destId="{857D5694-2AFB-40D3-9A83-B82369A61F1B}" srcOrd="5" destOrd="0" presId="urn:microsoft.com/office/officeart/2005/8/layout/chevron1"/>
    <dgm:cxn modelId="{1FE9DF76-6E36-451A-B83D-72DC8623A024}" type="presParOf" srcId="{F860A790-A1FF-4913-B466-036EBC1DDF60}" destId="{4F87A1D2-1CA1-4F23-BB26-B8F17A985C4F}" srcOrd="6" destOrd="0" presId="urn:microsoft.com/office/officeart/2005/8/layout/chevron1"/>
    <dgm:cxn modelId="{24352580-FE5E-48C5-9876-A63FDB1AE9B9}" type="presParOf" srcId="{F860A790-A1FF-4913-B466-036EBC1DDF60}" destId="{A5264289-C900-433C-99D1-DB07300CAA9D}" srcOrd="7" destOrd="0" presId="urn:microsoft.com/office/officeart/2005/8/layout/chevron1"/>
    <dgm:cxn modelId="{209E9A0A-322A-485C-9B36-8C3D229C6840}" type="presParOf" srcId="{F860A790-A1FF-4913-B466-036EBC1DDF60}" destId="{ED16F0D0-1763-4147-8153-58C819D1BADD}" srcOrd="8" destOrd="0" presId="urn:microsoft.com/office/officeart/2005/8/layout/chevron1"/>
    <dgm:cxn modelId="{9D85823E-4F34-43C2-AE7C-D80D0B434435}" type="presParOf" srcId="{F860A790-A1FF-4913-B466-036EBC1DDF60}" destId="{E63FF1A4-9058-4D94-A56A-C662B338B0FC}" srcOrd="9" destOrd="0" presId="urn:microsoft.com/office/officeart/2005/8/layout/chevron1"/>
    <dgm:cxn modelId="{1AEA748C-A70F-4900-A480-EA249F9F61BC}" type="presParOf" srcId="{F860A790-A1FF-4913-B466-036EBC1DDF60}" destId="{774FF8EF-53B4-41B2-826A-F45218B24F9C}" srcOrd="10" destOrd="0" presId="urn:microsoft.com/office/officeart/2005/8/layout/chevron1"/>
    <dgm:cxn modelId="{DBB4C664-FA34-4795-B03E-321091AE505C}" type="presParOf" srcId="{F860A790-A1FF-4913-B466-036EBC1DDF60}" destId="{05017D0B-EFCE-4697-BADE-F67A14F9EEB8}" srcOrd="11" destOrd="0" presId="urn:microsoft.com/office/officeart/2005/8/layout/chevron1"/>
    <dgm:cxn modelId="{64273C6C-06AF-4A32-84F8-5268C396A9B7}" type="presParOf" srcId="{F860A790-A1FF-4913-B466-036EBC1DDF60}" destId="{DE56ADC1-C67C-4A7D-9B3F-E6F832161B4B}" srcOrd="12" destOrd="0" presId="urn:microsoft.com/office/officeart/2005/8/layout/chevron1"/>
    <dgm:cxn modelId="{D9B0B690-4D34-4935-95B1-4B44D650901F}" type="presParOf" srcId="{F860A790-A1FF-4913-B466-036EBC1DDF60}" destId="{11B47390-7726-4D55-9AF9-4D833AC67759}" srcOrd="13" destOrd="0" presId="urn:microsoft.com/office/officeart/2005/8/layout/chevron1"/>
    <dgm:cxn modelId="{4522A212-D212-4836-8F42-E96A9F49E3E2}" type="presParOf" srcId="{F860A790-A1FF-4913-B466-036EBC1DDF60}" destId="{1F21EC40-30E4-4CE3-B8DF-144BBD22EC6C}" srcOrd="14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CB67515-BE50-4140-A773-CDA95EAF644E}" type="doc">
      <dgm:prSet loTypeId="urn:microsoft.com/office/officeart/2005/8/layout/hProcess11" loCatId="process" qsTypeId="urn:microsoft.com/office/officeart/2005/8/quickstyle/simple1" qsCatId="simple" csTypeId="urn:microsoft.com/office/officeart/2005/8/colors/accent1_2" csCatId="accent1" phldr="1"/>
      <dgm:spPr/>
    </dgm:pt>
    <dgm:pt modelId="{1E872A79-C0D4-444E-8DD6-0CADB61E08F8}">
      <dgm:prSet phldrT="[Texto]" custT="1"/>
      <dgm:spPr/>
      <dgm:t>
        <a:bodyPr/>
        <a:lstStyle/>
        <a:p>
          <a:r>
            <a:rPr lang="pt-BR" sz="700" dirty="0" smtClean="0">
              <a:latin typeface="Gill Sans MT" pitchFamily="34" charset="0"/>
            </a:rPr>
            <a:t>04/Mar – Alinhamento Escopo Plano</a:t>
          </a:r>
          <a:endParaRPr lang="pt-BR" sz="700" dirty="0">
            <a:latin typeface="Gill Sans MT" pitchFamily="34" charset="0"/>
          </a:endParaRPr>
        </a:p>
      </dgm:t>
    </dgm:pt>
    <dgm:pt modelId="{76AA3009-18ED-4684-9843-BAB8E27A23F4}" type="parTrans" cxnId="{4AC0D48F-2F78-41C2-806D-48E1250C0172}">
      <dgm:prSet/>
      <dgm:spPr/>
      <dgm:t>
        <a:bodyPr/>
        <a:lstStyle/>
        <a:p>
          <a:endParaRPr lang="pt-BR" sz="1000"/>
        </a:p>
      </dgm:t>
    </dgm:pt>
    <dgm:pt modelId="{87CE6913-9AC0-4D24-B9E6-00EF5611ED7E}" type="sibTrans" cxnId="{4AC0D48F-2F78-41C2-806D-48E1250C0172}">
      <dgm:prSet/>
      <dgm:spPr/>
      <dgm:t>
        <a:bodyPr/>
        <a:lstStyle/>
        <a:p>
          <a:endParaRPr lang="pt-BR" sz="1000"/>
        </a:p>
      </dgm:t>
    </dgm:pt>
    <dgm:pt modelId="{9CE3661F-C208-44C3-9BCE-D87F7105A7BA}">
      <dgm:prSet phldrT="[Texto]" custT="1"/>
      <dgm:spPr/>
      <dgm:t>
        <a:bodyPr/>
        <a:lstStyle/>
        <a:p>
          <a:r>
            <a:rPr lang="pt-BR" sz="700" dirty="0" smtClean="0">
              <a:latin typeface="Gill Sans MT" pitchFamily="34" charset="0"/>
            </a:rPr>
            <a:t>04/Mar – Alinhamento Plano com Processos</a:t>
          </a:r>
          <a:endParaRPr lang="pt-BR" sz="700" dirty="0">
            <a:latin typeface="Gill Sans MT" pitchFamily="34" charset="0"/>
          </a:endParaRPr>
        </a:p>
      </dgm:t>
    </dgm:pt>
    <dgm:pt modelId="{B92C2A32-F2EF-4063-8F09-D336ECCE8598}" type="parTrans" cxnId="{4E58572D-1F73-47EB-A9B1-9270BAD85AE9}">
      <dgm:prSet/>
      <dgm:spPr/>
      <dgm:t>
        <a:bodyPr/>
        <a:lstStyle/>
        <a:p>
          <a:endParaRPr lang="pt-BR" sz="1000"/>
        </a:p>
      </dgm:t>
    </dgm:pt>
    <dgm:pt modelId="{5E8B8E3D-9158-47F9-B7C7-B6A64C92AFE1}" type="sibTrans" cxnId="{4E58572D-1F73-47EB-A9B1-9270BAD85AE9}">
      <dgm:prSet/>
      <dgm:spPr/>
      <dgm:t>
        <a:bodyPr/>
        <a:lstStyle/>
        <a:p>
          <a:endParaRPr lang="pt-BR" sz="1000"/>
        </a:p>
      </dgm:t>
    </dgm:pt>
    <dgm:pt modelId="{CFBB9A53-4D0B-4008-AA11-955BC6CBBCA2}">
      <dgm:prSet phldrT="[Texto]" custT="1"/>
      <dgm:spPr/>
      <dgm:t>
        <a:bodyPr/>
        <a:lstStyle/>
        <a:p>
          <a:r>
            <a:rPr lang="pt-BR" sz="700" dirty="0" smtClean="0">
              <a:latin typeface="Gill Sans MT" pitchFamily="34" charset="0"/>
            </a:rPr>
            <a:t>05/Mar – Alteração do Diário de Bordo destacando </a:t>
          </a:r>
          <a:r>
            <a:rPr lang="pt-BR" sz="700" dirty="0" err="1" smtClean="0">
              <a:latin typeface="Gill Sans MT" pitchFamily="34" charset="0"/>
            </a:rPr>
            <a:t>ICs</a:t>
          </a:r>
          <a:r>
            <a:rPr lang="pt-BR" sz="700" dirty="0" smtClean="0">
              <a:latin typeface="Gill Sans MT" pitchFamily="34" charset="0"/>
            </a:rPr>
            <a:t> pendentes.</a:t>
          </a:r>
          <a:endParaRPr lang="pt-BR" sz="700" dirty="0">
            <a:latin typeface="Gill Sans MT" pitchFamily="34" charset="0"/>
          </a:endParaRPr>
        </a:p>
      </dgm:t>
    </dgm:pt>
    <dgm:pt modelId="{0E4E2251-EAAB-4DC3-B56D-ADB480CE9074}" type="parTrans" cxnId="{23D316D4-8940-4F46-9EAE-6F5C292FD650}">
      <dgm:prSet/>
      <dgm:spPr/>
      <dgm:t>
        <a:bodyPr/>
        <a:lstStyle/>
        <a:p>
          <a:endParaRPr lang="pt-BR" sz="1000"/>
        </a:p>
      </dgm:t>
    </dgm:pt>
    <dgm:pt modelId="{E6B09CA6-F98A-4230-8ADD-DFA21A8F43E3}" type="sibTrans" cxnId="{23D316D4-8940-4F46-9EAE-6F5C292FD650}">
      <dgm:prSet/>
      <dgm:spPr/>
      <dgm:t>
        <a:bodyPr/>
        <a:lstStyle/>
        <a:p>
          <a:endParaRPr lang="pt-BR" sz="1000"/>
        </a:p>
      </dgm:t>
    </dgm:pt>
    <dgm:pt modelId="{943BFEF1-8FE8-4205-BE2F-9FBBE489A3C1}">
      <dgm:prSet phldrT="[Texto]" custT="1"/>
      <dgm:spPr/>
      <dgm:t>
        <a:bodyPr/>
        <a:lstStyle/>
        <a:p>
          <a:r>
            <a:rPr lang="pt-BR" sz="700" dirty="0" smtClean="0">
              <a:latin typeface="Gill Sans MT" pitchFamily="34" charset="0"/>
            </a:rPr>
            <a:t>11/Mar – Implementação do novo Diário de Bordo</a:t>
          </a:r>
          <a:endParaRPr lang="pt-BR" sz="700" dirty="0">
            <a:latin typeface="Gill Sans MT" pitchFamily="34" charset="0"/>
          </a:endParaRPr>
        </a:p>
      </dgm:t>
    </dgm:pt>
    <dgm:pt modelId="{8830BF7C-A0A7-4557-BFAD-3FBF20362311}" type="parTrans" cxnId="{865DBBAA-E6C9-4149-827F-2EFA09AD3FDA}">
      <dgm:prSet/>
      <dgm:spPr/>
      <dgm:t>
        <a:bodyPr/>
        <a:lstStyle/>
        <a:p>
          <a:endParaRPr lang="pt-BR" sz="1000"/>
        </a:p>
      </dgm:t>
    </dgm:pt>
    <dgm:pt modelId="{F4D1CEDC-0BE0-4573-A885-246F12652A9D}" type="sibTrans" cxnId="{865DBBAA-E6C9-4149-827F-2EFA09AD3FDA}">
      <dgm:prSet/>
      <dgm:spPr/>
      <dgm:t>
        <a:bodyPr/>
        <a:lstStyle/>
        <a:p>
          <a:endParaRPr lang="pt-BR" sz="1000"/>
        </a:p>
      </dgm:t>
    </dgm:pt>
    <dgm:pt modelId="{041554BF-D34D-4338-873B-C23D6977D83A}">
      <dgm:prSet phldrT="[Texto]" custT="1"/>
      <dgm:spPr/>
      <dgm:t>
        <a:bodyPr/>
        <a:lstStyle/>
        <a:p>
          <a:r>
            <a:rPr lang="pt-BR" sz="700" strike="sngStrike" dirty="0" smtClean="0">
              <a:latin typeface="Gill Sans MT" pitchFamily="34" charset="0"/>
            </a:rPr>
            <a:t>20/Ma</a:t>
          </a:r>
          <a:r>
            <a:rPr lang="pt-BR" sz="700" dirty="0" smtClean="0">
              <a:latin typeface="Gill Sans MT" pitchFamily="34" charset="0"/>
            </a:rPr>
            <a:t>r – 13/</a:t>
          </a:r>
          <a:r>
            <a:rPr lang="pt-BR" sz="700" dirty="0" err="1" smtClean="0">
              <a:latin typeface="Gill Sans MT" pitchFamily="34" charset="0"/>
            </a:rPr>
            <a:t>Abr</a:t>
          </a:r>
          <a:r>
            <a:rPr lang="pt-BR" sz="700" dirty="0" smtClean="0">
              <a:latin typeface="Gill Sans MT" pitchFamily="34" charset="0"/>
            </a:rPr>
            <a:t> Implementação do Diário de Bordo Semanal (Resumo, MTTR e MTBF)</a:t>
          </a:r>
          <a:endParaRPr lang="pt-BR" sz="700" dirty="0">
            <a:latin typeface="Gill Sans MT" pitchFamily="34" charset="0"/>
          </a:endParaRPr>
        </a:p>
      </dgm:t>
    </dgm:pt>
    <dgm:pt modelId="{AAECF681-C80F-42D6-AEEC-4AA132056BC5}" type="parTrans" cxnId="{09FBE579-0559-4DB0-BD5E-2BB08D8D0752}">
      <dgm:prSet/>
      <dgm:spPr/>
      <dgm:t>
        <a:bodyPr/>
        <a:lstStyle/>
        <a:p>
          <a:endParaRPr lang="pt-BR" sz="1000"/>
        </a:p>
      </dgm:t>
    </dgm:pt>
    <dgm:pt modelId="{BE3103A4-6D05-4BD0-9FC4-751C18C445F4}" type="sibTrans" cxnId="{09FBE579-0559-4DB0-BD5E-2BB08D8D0752}">
      <dgm:prSet/>
      <dgm:spPr/>
      <dgm:t>
        <a:bodyPr/>
        <a:lstStyle/>
        <a:p>
          <a:endParaRPr lang="pt-BR" sz="1000"/>
        </a:p>
      </dgm:t>
    </dgm:pt>
    <dgm:pt modelId="{075A2981-4B5F-4AE8-96B6-27CE4171A773}">
      <dgm:prSet phldrT="[Texto]" custT="1"/>
      <dgm:spPr/>
      <dgm:t>
        <a:bodyPr/>
        <a:lstStyle/>
        <a:p>
          <a:r>
            <a:rPr lang="pt-BR" sz="700" strike="sngStrike" dirty="0" smtClean="0">
              <a:latin typeface="Gill Sans MT" pitchFamily="34" charset="0"/>
            </a:rPr>
            <a:t>31/Mar</a:t>
          </a:r>
          <a:r>
            <a:rPr lang="pt-BR" sz="700" dirty="0" smtClean="0">
              <a:latin typeface="Gill Sans MT" pitchFamily="34" charset="0"/>
            </a:rPr>
            <a:t> –27/05</a:t>
          </a:r>
        </a:p>
        <a:p>
          <a:r>
            <a:rPr lang="pt-BR" sz="700" dirty="0" smtClean="0">
              <a:latin typeface="Gill Sans MT" pitchFamily="34" charset="0"/>
            </a:rPr>
            <a:t>Revisão das aplicações IC1 e IC0</a:t>
          </a:r>
          <a:endParaRPr lang="pt-BR" sz="700" dirty="0">
            <a:latin typeface="Gill Sans MT" pitchFamily="34" charset="0"/>
          </a:endParaRPr>
        </a:p>
      </dgm:t>
    </dgm:pt>
    <dgm:pt modelId="{4A7A9328-8669-4922-873F-971F7C0AFB33}" type="parTrans" cxnId="{FA55C321-FF80-4975-AE9E-58DCEAEB53B6}">
      <dgm:prSet/>
      <dgm:spPr/>
      <dgm:t>
        <a:bodyPr/>
        <a:lstStyle/>
        <a:p>
          <a:endParaRPr lang="pt-BR" sz="1000"/>
        </a:p>
      </dgm:t>
    </dgm:pt>
    <dgm:pt modelId="{39D1F873-E191-400A-9366-646B9207A95B}" type="sibTrans" cxnId="{FA55C321-FF80-4975-AE9E-58DCEAEB53B6}">
      <dgm:prSet/>
      <dgm:spPr/>
      <dgm:t>
        <a:bodyPr/>
        <a:lstStyle/>
        <a:p>
          <a:endParaRPr lang="pt-BR" sz="1000"/>
        </a:p>
      </dgm:t>
    </dgm:pt>
    <dgm:pt modelId="{18F73FEC-B37B-4FF0-B518-7B881F9BA6BD}">
      <dgm:prSet phldrT="[Texto]" custT="1"/>
      <dgm:spPr/>
      <dgm:t>
        <a:bodyPr/>
        <a:lstStyle/>
        <a:p>
          <a:r>
            <a:rPr lang="pt-BR" sz="700" dirty="0" smtClean="0">
              <a:latin typeface="Gill Sans MT" pitchFamily="34" charset="0"/>
            </a:rPr>
            <a:t>05/Mar – reforço na comunicação do Bom dia TD (Participação, Escopo) e revisão da lista de distribuição</a:t>
          </a:r>
          <a:endParaRPr lang="pt-BR" sz="700" dirty="0">
            <a:latin typeface="Gill Sans MT" pitchFamily="34" charset="0"/>
          </a:endParaRPr>
        </a:p>
      </dgm:t>
    </dgm:pt>
    <dgm:pt modelId="{4E0CDF52-52C4-4F02-8510-6F2F879D3FFA}" type="parTrans" cxnId="{660B22FA-D9A4-4A00-9C1D-62DFD8976D06}">
      <dgm:prSet/>
      <dgm:spPr/>
      <dgm:t>
        <a:bodyPr/>
        <a:lstStyle/>
        <a:p>
          <a:endParaRPr lang="pt-BR" sz="1000"/>
        </a:p>
      </dgm:t>
    </dgm:pt>
    <dgm:pt modelId="{36B49BB4-089F-4C4B-A089-4111BF39010A}" type="sibTrans" cxnId="{660B22FA-D9A4-4A00-9C1D-62DFD8976D06}">
      <dgm:prSet/>
      <dgm:spPr/>
      <dgm:t>
        <a:bodyPr/>
        <a:lstStyle/>
        <a:p>
          <a:endParaRPr lang="pt-BR" sz="1000"/>
        </a:p>
      </dgm:t>
    </dgm:pt>
    <dgm:pt modelId="{0D3F47C6-CC80-49AD-86E0-25C42CB9A2D1}" type="pres">
      <dgm:prSet presAssocID="{7CB67515-BE50-4140-A773-CDA95EAF644E}" presName="Name0" presStyleCnt="0">
        <dgm:presLayoutVars>
          <dgm:dir/>
          <dgm:resizeHandles val="exact"/>
        </dgm:presLayoutVars>
      </dgm:prSet>
      <dgm:spPr/>
    </dgm:pt>
    <dgm:pt modelId="{951E5CA3-66A9-4D7A-AC56-CDE59491A35A}" type="pres">
      <dgm:prSet presAssocID="{7CB67515-BE50-4140-A773-CDA95EAF644E}" presName="arrow" presStyleLbl="bgShp" presStyleIdx="0" presStyleCnt="1" custScaleY="66892"/>
      <dgm:spPr/>
    </dgm:pt>
    <dgm:pt modelId="{2941F5C0-4BAA-4440-85A5-08BACFFD733E}" type="pres">
      <dgm:prSet presAssocID="{7CB67515-BE50-4140-A773-CDA95EAF644E}" presName="points" presStyleCnt="0"/>
      <dgm:spPr/>
    </dgm:pt>
    <dgm:pt modelId="{B3792429-EDA1-46D5-8066-5A650EDF3D3C}" type="pres">
      <dgm:prSet presAssocID="{1E872A79-C0D4-444E-8DD6-0CADB61E08F8}" presName="compositeA" presStyleCnt="0"/>
      <dgm:spPr/>
    </dgm:pt>
    <dgm:pt modelId="{9EE26B5A-BE04-4115-B911-0F465FD84ECB}" type="pres">
      <dgm:prSet presAssocID="{1E872A79-C0D4-444E-8DD6-0CADB61E08F8}" presName="textA" presStyleLbl="revTx" presStyleIdx="0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CC5AED10-27FA-4AE2-99EF-5A534E5075D3}" type="pres">
      <dgm:prSet presAssocID="{1E872A79-C0D4-444E-8DD6-0CADB61E08F8}" presName="circleA" presStyleLbl="node1" presStyleIdx="0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endParaRPr lang="pt-BR"/>
        </a:p>
      </dgm:t>
    </dgm:pt>
    <dgm:pt modelId="{16E077DE-AB55-4EA6-90A5-A1016E4A3DEC}" type="pres">
      <dgm:prSet presAssocID="{1E872A79-C0D4-444E-8DD6-0CADB61E08F8}" presName="spaceA" presStyleCnt="0"/>
      <dgm:spPr/>
    </dgm:pt>
    <dgm:pt modelId="{602C606E-62FC-4FF8-AC80-740FC327D113}" type="pres">
      <dgm:prSet presAssocID="{87CE6913-9AC0-4D24-B9E6-00EF5611ED7E}" presName="space" presStyleCnt="0"/>
      <dgm:spPr/>
    </dgm:pt>
    <dgm:pt modelId="{27FBD3DE-A189-4A5B-BBD1-2AB29BEAF0E5}" type="pres">
      <dgm:prSet presAssocID="{9CE3661F-C208-44C3-9BCE-D87F7105A7BA}" presName="compositeB" presStyleCnt="0"/>
      <dgm:spPr/>
    </dgm:pt>
    <dgm:pt modelId="{A174C16A-7523-415A-8C7E-211AF9C355A3}" type="pres">
      <dgm:prSet presAssocID="{9CE3661F-C208-44C3-9BCE-D87F7105A7BA}" presName="textB" presStyleLbl="revTx" presStyleIdx="1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6EDB76AC-E82B-4354-86F5-F2A7927FEC7D}" type="pres">
      <dgm:prSet presAssocID="{9CE3661F-C208-44C3-9BCE-D87F7105A7BA}" presName="circleB" presStyleLbl="node1" presStyleIdx="1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</dgm:pt>
    <dgm:pt modelId="{48004750-48C5-4924-BAC9-C736EDA6A3FB}" type="pres">
      <dgm:prSet presAssocID="{9CE3661F-C208-44C3-9BCE-D87F7105A7BA}" presName="spaceB" presStyleCnt="0"/>
      <dgm:spPr/>
    </dgm:pt>
    <dgm:pt modelId="{4E2EFFDA-D0BB-482C-A4F8-3A6803D0C9DA}" type="pres">
      <dgm:prSet presAssocID="{5E8B8E3D-9158-47F9-B7C7-B6A64C92AFE1}" presName="space" presStyleCnt="0"/>
      <dgm:spPr/>
    </dgm:pt>
    <dgm:pt modelId="{8695EB9D-4F4F-4E28-959B-0843D0EE730B}" type="pres">
      <dgm:prSet presAssocID="{CFBB9A53-4D0B-4008-AA11-955BC6CBBCA2}" presName="compositeA" presStyleCnt="0"/>
      <dgm:spPr/>
    </dgm:pt>
    <dgm:pt modelId="{BAEEECED-20B7-4EC4-B870-0256AC280661}" type="pres">
      <dgm:prSet presAssocID="{CFBB9A53-4D0B-4008-AA11-955BC6CBBCA2}" presName="textA" presStyleLbl="revTx" presStyleIdx="2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49C6ED58-0B20-4769-BE5B-8EB0A7622580}" type="pres">
      <dgm:prSet presAssocID="{CFBB9A53-4D0B-4008-AA11-955BC6CBBCA2}" presName="circleA" presStyleLbl="node1" presStyleIdx="2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</dgm:pt>
    <dgm:pt modelId="{87F2EEEF-AF1A-439F-99B9-BE3572560387}" type="pres">
      <dgm:prSet presAssocID="{CFBB9A53-4D0B-4008-AA11-955BC6CBBCA2}" presName="spaceA" presStyleCnt="0"/>
      <dgm:spPr/>
    </dgm:pt>
    <dgm:pt modelId="{020B99A9-28D8-4570-8383-F0026537AE47}" type="pres">
      <dgm:prSet presAssocID="{E6B09CA6-F98A-4230-8ADD-DFA21A8F43E3}" presName="space" presStyleCnt="0"/>
      <dgm:spPr/>
    </dgm:pt>
    <dgm:pt modelId="{006CCE29-8B90-415B-B73E-AC30467CB894}" type="pres">
      <dgm:prSet presAssocID="{18F73FEC-B37B-4FF0-B518-7B881F9BA6BD}" presName="compositeB" presStyleCnt="0"/>
      <dgm:spPr/>
    </dgm:pt>
    <dgm:pt modelId="{B24AE32E-9F8F-4E72-9628-CF3FDBDFD399}" type="pres">
      <dgm:prSet presAssocID="{18F73FEC-B37B-4FF0-B518-7B881F9BA6BD}" presName="textB" presStyleLbl="revTx" presStyleIdx="3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3A3F4BC-852A-42D1-8B10-A3077E3A9351}" type="pres">
      <dgm:prSet presAssocID="{18F73FEC-B37B-4FF0-B518-7B881F9BA6BD}" presName="circleB" presStyleLbl="node1" presStyleIdx="3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</dgm:pt>
    <dgm:pt modelId="{DD39D249-D9E4-4296-BD9E-EAAFB421592F}" type="pres">
      <dgm:prSet presAssocID="{18F73FEC-B37B-4FF0-B518-7B881F9BA6BD}" presName="spaceB" presStyleCnt="0"/>
      <dgm:spPr/>
    </dgm:pt>
    <dgm:pt modelId="{10790CB1-9793-4147-B089-4B2E4976C8EB}" type="pres">
      <dgm:prSet presAssocID="{36B49BB4-089F-4C4B-A089-4111BF39010A}" presName="space" presStyleCnt="0"/>
      <dgm:spPr/>
    </dgm:pt>
    <dgm:pt modelId="{FB097D0A-19CA-4D00-8217-72DF0AFCA624}" type="pres">
      <dgm:prSet presAssocID="{943BFEF1-8FE8-4205-BE2F-9FBBE489A3C1}" presName="compositeA" presStyleCnt="0"/>
      <dgm:spPr/>
    </dgm:pt>
    <dgm:pt modelId="{1E453F90-A55C-4840-91B5-B50820217E7A}" type="pres">
      <dgm:prSet presAssocID="{943BFEF1-8FE8-4205-BE2F-9FBBE489A3C1}" presName="textA" presStyleLbl="revTx" presStyleIdx="4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51245E5-F570-4692-B261-FFE574EF38C6}" type="pres">
      <dgm:prSet presAssocID="{943BFEF1-8FE8-4205-BE2F-9FBBE489A3C1}" presName="circleA" presStyleLbl="node1" presStyleIdx="4" presStyleCnt="7">
        <dgm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dgm:style>
      </dgm:prSet>
      <dgm:spPr/>
    </dgm:pt>
    <dgm:pt modelId="{5EA8FD7E-2228-423B-8606-FBAD446BC565}" type="pres">
      <dgm:prSet presAssocID="{943BFEF1-8FE8-4205-BE2F-9FBBE489A3C1}" presName="spaceA" presStyleCnt="0"/>
      <dgm:spPr/>
    </dgm:pt>
    <dgm:pt modelId="{9227A1D6-C0C8-4F8A-8F0E-CAD82C1B9F65}" type="pres">
      <dgm:prSet presAssocID="{F4D1CEDC-0BE0-4573-A885-246F12652A9D}" presName="space" presStyleCnt="0"/>
      <dgm:spPr/>
    </dgm:pt>
    <dgm:pt modelId="{8FBD8765-876E-42BE-B379-F770B6CB657A}" type="pres">
      <dgm:prSet presAssocID="{041554BF-D34D-4338-873B-C23D6977D83A}" presName="compositeB" presStyleCnt="0"/>
      <dgm:spPr/>
    </dgm:pt>
    <dgm:pt modelId="{EB4C330D-5656-4F61-BB45-54BAF3F999B7}" type="pres">
      <dgm:prSet presAssocID="{041554BF-D34D-4338-873B-C23D6977D83A}" presName="textB" presStyleLbl="revTx" presStyleIdx="5" presStyleCnt="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3FFB43BF-147D-4855-9C09-692B9EDAF6E3}" type="pres">
      <dgm:prSet presAssocID="{041554BF-D34D-4338-873B-C23D6977D83A}" presName="circleB" presStyleLbl="node1" presStyleIdx="5" presStyleCnt="7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</dgm:pt>
    <dgm:pt modelId="{82DC57B0-2275-4176-B3F6-B60649EB9DA3}" type="pres">
      <dgm:prSet presAssocID="{041554BF-D34D-4338-873B-C23D6977D83A}" presName="spaceB" presStyleCnt="0"/>
      <dgm:spPr/>
    </dgm:pt>
    <dgm:pt modelId="{18DC9C1C-8934-4DEB-8B17-CE24D3164BCB}" type="pres">
      <dgm:prSet presAssocID="{BE3103A4-6D05-4BD0-9FC4-751C18C445F4}" presName="space" presStyleCnt="0"/>
      <dgm:spPr/>
    </dgm:pt>
    <dgm:pt modelId="{24FB4673-4C2C-4FBC-838D-5D0392099C84}" type="pres">
      <dgm:prSet presAssocID="{075A2981-4B5F-4AE8-96B6-27CE4171A773}" presName="compositeA" presStyleCnt="0"/>
      <dgm:spPr/>
    </dgm:pt>
    <dgm:pt modelId="{B3880E71-A2D3-4D54-93E4-8D4E2F038FCE}" type="pres">
      <dgm:prSet presAssocID="{075A2981-4B5F-4AE8-96B6-27CE4171A773}" presName="textA" presStyleLbl="revTx" presStyleIdx="6" presStyleCnt="7" custScaleX="13398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5CFC2357-174B-4749-A904-FCAD589433CB}" type="pres">
      <dgm:prSet presAssocID="{075A2981-4B5F-4AE8-96B6-27CE4171A773}" presName="circleA" presStyleLbl="node1" presStyleIdx="6" presStyleCnt="7">
        <dgm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dgm:style>
      </dgm:prSet>
      <dgm:spPr/>
    </dgm:pt>
    <dgm:pt modelId="{5D66FFE6-DA74-4A10-A966-F90A0900AAD8}" type="pres">
      <dgm:prSet presAssocID="{075A2981-4B5F-4AE8-96B6-27CE4171A773}" presName="spaceA" presStyleCnt="0"/>
      <dgm:spPr/>
    </dgm:pt>
  </dgm:ptLst>
  <dgm:cxnLst>
    <dgm:cxn modelId="{865DBBAA-E6C9-4149-827F-2EFA09AD3FDA}" srcId="{7CB67515-BE50-4140-A773-CDA95EAF644E}" destId="{943BFEF1-8FE8-4205-BE2F-9FBBE489A3C1}" srcOrd="4" destOrd="0" parTransId="{8830BF7C-A0A7-4557-BFAD-3FBF20362311}" sibTransId="{F4D1CEDC-0BE0-4573-A885-246F12652A9D}"/>
    <dgm:cxn modelId="{32E028B6-0981-42BE-90CD-3350DBDCB89F}" type="presOf" srcId="{943BFEF1-8FE8-4205-BE2F-9FBBE489A3C1}" destId="{1E453F90-A55C-4840-91B5-B50820217E7A}" srcOrd="0" destOrd="0" presId="urn:microsoft.com/office/officeart/2005/8/layout/hProcess11"/>
    <dgm:cxn modelId="{FB068135-34F5-4EC1-8C4D-33E78586BFD7}" type="presOf" srcId="{9CE3661F-C208-44C3-9BCE-D87F7105A7BA}" destId="{A174C16A-7523-415A-8C7E-211AF9C355A3}" srcOrd="0" destOrd="0" presId="urn:microsoft.com/office/officeart/2005/8/layout/hProcess11"/>
    <dgm:cxn modelId="{F236AC0A-D230-46D8-B1DF-B33F29E92D4C}" type="presOf" srcId="{18F73FEC-B37B-4FF0-B518-7B881F9BA6BD}" destId="{B24AE32E-9F8F-4E72-9628-CF3FDBDFD399}" srcOrd="0" destOrd="0" presId="urn:microsoft.com/office/officeart/2005/8/layout/hProcess11"/>
    <dgm:cxn modelId="{09FBE579-0559-4DB0-BD5E-2BB08D8D0752}" srcId="{7CB67515-BE50-4140-A773-CDA95EAF644E}" destId="{041554BF-D34D-4338-873B-C23D6977D83A}" srcOrd="5" destOrd="0" parTransId="{AAECF681-C80F-42D6-AEEC-4AA132056BC5}" sibTransId="{BE3103A4-6D05-4BD0-9FC4-751C18C445F4}"/>
    <dgm:cxn modelId="{FA55C321-FF80-4975-AE9E-58DCEAEB53B6}" srcId="{7CB67515-BE50-4140-A773-CDA95EAF644E}" destId="{075A2981-4B5F-4AE8-96B6-27CE4171A773}" srcOrd="6" destOrd="0" parTransId="{4A7A9328-8669-4922-873F-971F7C0AFB33}" sibTransId="{39D1F873-E191-400A-9366-646B9207A95B}"/>
    <dgm:cxn modelId="{0F72737C-0B5C-491B-AA8F-EA9DA195E240}" type="presOf" srcId="{1E872A79-C0D4-444E-8DD6-0CADB61E08F8}" destId="{9EE26B5A-BE04-4115-B911-0F465FD84ECB}" srcOrd="0" destOrd="0" presId="urn:microsoft.com/office/officeart/2005/8/layout/hProcess11"/>
    <dgm:cxn modelId="{05971016-803E-4C36-8453-D83CC4B75D0A}" type="presOf" srcId="{075A2981-4B5F-4AE8-96B6-27CE4171A773}" destId="{B3880E71-A2D3-4D54-93E4-8D4E2F038FCE}" srcOrd="0" destOrd="0" presId="urn:microsoft.com/office/officeart/2005/8/layout/hProcess11"/>
    <dgm:cxn modelId="{F1DB9676-82A6-4AAC-9DD2-68004E6E1BE1}" type="presOf" srcId="{041554BF-D34D-4338-873B-C23D6977D83A}" destId="{EB4C330D-5656-4F61-BB45-54BAF3F999B7}" srcOrd="0" destOrd="0" presId="urn:microsoft.com/office/officeart/2005/8/layout/hProcess11"/>
    <dgm:cxn modelId="{4E58572D-1F73-47EB-A9B1-9270BAD85AE9}" srcId="{7CB67515-BE50-4140-A773-CDA95EAF644E}" destId="{9CE3661F-C208-44C3-9BCE-D87F7105A7BA}" srcOrd="1" destOrd="0" parTransId="{B92C2A32-F2EF-4063-8F09-D336ECCE8598}" sibTransId="{5E8B8E3D-9158-47F9-B7C7-B6A64C92AFE1}"/>
    <dgm:cxn modelId="{23D316D4-8940-4F46-9EAE-6F5C292FD650}" srcId="{7CB67515-BE50-4140-A773-CDA95EAF644E}" destId="{CFBB9A53-4D0B-4008-AA11-955BC6CBBCA2}" srcOrd="2" destOrd="0" parTransId="{0E4E2251-EAAB-4DC3-B56D-ADB480CE9074}" sibTransId="{E6B09CA6-F98A-4230-8ADD-DFA21A8F43E3}"/>
    <dgm:cxn modelId="{3934A0E4-91E8-4DF3-89E9-7532DBF00DD0}" type="presOf" srcId="{CFBB9A53-4D0B-4008-AA11-955BC6CBBCA2}" destId="{BAEEECED-20B7-4EC4-B870-0256AC280661}" srcOrd="0" destOrd="0" presId="urn:microsoft.com/office/officeart/2005/8/layout/hProcess11"/>
    <dgm:cxn modelId="{6F6EFC8B-B136-49FD-89A5-48EE750D9105}" type="presOf" srcId="{7CB67515-BE50-4140-A773-CDA95EAF644E}" destId="{0D3F47C6-CC80-49AD-86E0-25C42CB9A2D1}" srcOrd="0" destOrd="0" presId="urn:microsoft.com/office/officeart/2005/8/layout/hProcess11"/>
    <dgm:cxn modelId="{660B22FA-D9A4-4A00-9C1D-62DFD8976D06}" srcId="{7CB67515-BE50-4140-A773-CDA95EAF644E}" destId="{18F73FEC-B37B-4FF0-B518-7B881F9BA6BD}" srcOrd="3" destOrd="0" parTransId="{4E0CDF52-52C4-4F02-8510-6F2F879D3FFA}" sibTransId="{36B49BB4-089F-4C4B-A089-4111BF39010A}"/>
    <dgm:cxn modelId="{4AC0D48F-2F78-41C2-806D-48E1250C0172}" srcId="{7CB67515-BE50-4140-A773-CDA95EAF644E}" destId="{1E872A79-C0D4-444E-8DD6-0CADB61E08F8}" srcOrd="0" destOrd="0" parTransId="{76AA3009-18ED-4684-9843-BAB8E27A23F4}" sibTransId="{87CE6913-9AC0-4D24-B9E6-00EF5611ED7E}"/>
    <dgm:cxn modelId="{7D5099D3-9CA0-4BC8-BA7D-27C82E77439A}" type="presParOf" srcId="{0D3F47C6-CC80-49AD-86E0-25C42CB9A2D1}" destId="{951E5CA3-66A9-4D7A-AC56-CDE59491A35A}" srcOrd="0" destOrd="0" presId="urn:microsoft.com/office/officeart/2005/8/layout/hProcess11"/>
    <dgm:cxn modelId="{C89FF735-E7BD-4F48-850A-B44243927B51}" type="presParOf" srcId="{0D3F47C6-CC80-49AD-86E0-25C42CB9A2D1}" destId="{2941F5C0-4BAA-4440-85A5-08BACFFD733E}" srcOrd="1" destOrd="0" presId="urn:microsoft.com/office/officeart/2005/8/layout/hProcess11"/>
    <dgm:cxn modelId="{8906B689-D830-4395-88BF-2946E8C44898}" type="presParOf" srcId="{2941F5C0-4BAA-4440-85A5-08BACFFD733E}" destId="{B3792429-EDA1-46D5-8066-5A650EDF3D3C}" srcOrd="0" destOrd="0" presId="urn:microsoft.com/office/officeart/2005/8/layout/hProcess11"/>
    <dgm:cxn modelId="{43012074-23BA-48AA-B879-C87A88764636}" type="presParOf" srcId="{B3792429-EDA1-46D5-8066-5A650EDF3D3C}" destId="{9EE26B5A-BE04-4115-B911-0F465FD84ECB}" srcOrd="0" destOrd="0" presId="urn:microsoft.com/office/officeart/2005/8/layout/hProcess11"/>
    <dgm:cxn modelId="{EC2B8CE2-CA5E-46BA-920C-166EA9AF3B62}" type="presParOf" srcId="{B3792429-EDA1-46D5-8066-5A650EDF3D3C}" destId="{CC5AED10-27FA-4AE2-99EF-5A534E5075D3}" srcOrd="1" destOrd="0" presId="urn:microsoft.com/office/officeart/2005/8/layout/hProcess11"/>
    <dgm:cxn modelId="{03C7BC22-FF94-41F3-9E76-81ECBBC0E1F6}" type="presParOf" srcId="{B3792429-EDA1-46D5-8066-5A650EDF3D3C}" destId="{16E077DE-AB55-4EA6-90A5-A1016E4A3DEC}" srcOrd="2" destOrd="0" presId="urn:microsoft.com/office/officeart/2005/8/layout/hProcess11"/>
    <dgm:cxn modelId="{2D238462-6BF5-4747-8D42-8EDE5C8EDC91}" type="presParOf" srcId="{2941F5C0-4BAA-4440-85A5-08BACFFD733E}" destId="{602C606E-62FC-4FF8-AC80-740FC327D113}" srcOrd="1" destOrd="0" presId="urn:microsoft.com/office/officeart/2005/8/layout/hProcess11"/>
    <dgm:cxn modelId="{EC1C7CBF-8D3A-4C69-AFC8-49E0B72D32E5}" type="presParOf" srcId="{2941F5C0-4BAA-4440-85A5-08BACFFD733E}" destId="{27FBD3DE-A189-4A5B-BBD1-2AB29BEAF0E5}" srcOrd="2" destOrd="0" presId="urn:microsoft.com/office/officeart/2005/8/layout/hProcess11"/>
    <dgm:cxn modelId="{88767917-B2D6-4CDA-A276-32DC533FA497}" type="presParOf" srcId="{27FBD3DE-A189-4A5B-BBD1-2AB29BEAF0E5}" destId="{A174C16A-7523-415A-8C7E-211AF9C355A3}" srcOrd="0" destOrd="0" presId="urn:microsoft.com/office/officeart/2005/8/layout/hProcess11"/>
    <dgm:cxn modelId="{DBAF28D2-4085-4F13-88B0-7380171C154B}" type="presParOf" srcId="{27FBD3DE-A189-4A5B-BBD1-2AB29BEAF0E5}" destId="{6EDB76AC-E82B-4354-86F5-F2A7927FEC7D}" srcOrd="1" destOrd="0" presId="urn:microsoft.com/office/officeart/2005/8/layout/hProcess11"/>
    <dgm:cxn modelId="{54F4F8C1-F903-4551-8571-80B913600DCA}" type="presParOf" srcId="{27FBD3DE-A189-4A5B-BBD1-2AB29BEAF0E5}" destId="{48004750-48C5-4924-BAC9-C736EDA6A3FB}" srcOrd="2" destOrd="0" presId="urn:microsoft.com/office/officeart/2005/8/layout/hProcess11"/>
    <dgm:cxn modelId="{CB97116F-4B85-4286-BD95-60814BC7F647}" type="presParOf" srcId="{2941F5C0-4BAA-4440-85A5-08BACFFD733E}" destId="{4E2EFFDA-D0BB-482C-A4F8-3A6803D0C9DA}" srcOrd="3" destOrd="0" presId="urn:microsoft.com/office/officeart/2005/8/layout/hProcess11"/>
    <dgm:cxn modelId="{95E71BEB-6CD5-4DF7-A05F-EEFF4E18BC39}" type="presParOf" srcId="{2941F5C0-4BAA-4440-85A5-08BACFFD733E}" destId="{8695EB9D-4F4F-4E28-959B-0843D0EE730B}" srcOrd="4" destOrd="0" presId="urn:microsoft.com/office/officeart/2005/8/layout/hProcess11"/>
    <dgm:cxn modelId="{F1488AF1-D30A-4F6B-973C-2491DC6BA942}" type="presParOf" srcId="{8695EB9D-4F4F-4E28-959B-0843D0EE730B}" destId="{BAEEECED-20B7-4EC4-B870-0256AC280661}" srcOrd="0" destOrd="0" presId="urn:microsoft.com/office/officeart/2005/8/layout/hProcess11"/>
    <dgm:cxn modelId="{A4FA8E0E-2E0C-4071-95F9-A2BFAEE9FFC9}" type="presParOf" srcId="{8695EB9D-4F4F-4E28-959B-0843D0EE730B}" destId="{49C6ED58-0B20-4769-BE5B-8EB0A7622580}" srcOrd="1" destOrd="0" presId="urn:microsoft.com/office/officeart/2005/8/layout/hProcess11"/>
    <dgm:cxn modelId="{E18FC202-5F39-4076-A542-4BE1FF40BC2B}" type="presParOf" srcId="{8695EB9D-4F4F-4E28-959B-0843D0EE730B}" destId="{87F2EEEF-AF1A-439F-99B9-BE3572560387}" srcOrd="2" destOrd="0" presId="urn:microsoft.com/office/officeart/2005/8/layout/hProcess11"/>
    <dgm:cxn modelId="{0DD45E83-A534-4394-BDB8-871BA1FFEC4E}" type="presParOf" srcId="{2941F5C0-4BAA-4440-85A5-08BACFFD733E}" destId="{020B99A9-28D8-4570-8383-F0026537AE47}" srcOrd="5" destOrd="0" presId="urn:microsoft.com/office/officeart/2005/8/layout/hProcess11"/>
    <dgm:cxn modelId="{EA8905AC-63F7-4B6F-A888-3E368DCD2BF1}" type="presParOf" srcId="{2941F5C0-4BAA-4440-85A5-08BACFFD733E}" destId="{006CCE29-8B90-415B-B73E-AC30467CB894}" srcOrd="6" destOrd="0" presId="urn:microsoft.com/office/officeart/2005/8/layout/hProcess11"/>
    <dgm:cxn modelId="{DFF241F6-FCFB-414E-9095-FF76CFD8DAE6}" type="presParOf" srcId="{006CCE29-8B90-415B-B73E-AC30467CB894}" destId="{B24AE32E-9F8F-4E72-9628-CF3FDBDFD399}" srcOrd="0" destOrd="0" presId="urn:microsoft.com/office/officeart/2005/8/layout/hProcess11"/>
    <dgm:cxn modelId="{4329AD98-D81A-466B-859E-74D2B109B198}" type="presParOf" srcId="{006CCE29-8B90-415B-B73E-AC30467CB894}" destId="{13A3F4BC-852A-42D1-8B10-A3077E3A9351}" srcOrd="1" destOrd="0" presId="urn:microsoft.com/office/officeart/2005/8/layout/hProcess11"/>
    <dgm:cxn modelId="{17D8303F-EA82-4DAA-9FE9-EF881519B873}" type="presParOf" srcId="{006CCE29-8B90-415B-B73E-AC30467CB894}" destId="{DD39D249-D9E4-4296-BD9E-EAAFB421592F}" srcOrd="2" destOrd="0" presId="urn:microsoft.com/office/officeart/2005/8/layout/hProcess11"/>
    <dgm:cxn modelId="{5BE8EABD-2D5B-47C5-B2D8-8DC679A6B848}" type="presParOf" srcId="{2941F5C0-4BAA-4440-85A5-08BACFFD733E}" destId="{10790CB1-9793-4147-B089-4B2E4976C8EB}" srcOrd="7" destOrd="0" presId="urn:microsoft.com/office/officeart/2005/8/layout/hProcess11"/>
    <dgm:cxn modelId="{48DD9694-CCA3-47B4-8BDB-35AF1F00CF38}" type="presParOf" srcId="{2941F5C0-4BAA-4440-85A5-08BACFFD733E}" destId="{FB097D0A-19CA-4D00-8217-72DF0AFCA624}" srcOrd="8" destOrd="0" presId="urn:microsoft.com/office/officeart/2005/8/layout/hProcess11"/>
    <dgm:cxn modelId="{97658F1F-51F2-41ED-B930-4054B8F344EA}" type="presParOf" srcId="{FB097D0A-19CA-4D00-8217-72DF0AFCA624}" destId="{1E453F90-A55C-4840-91B5-B50820217E7A}" srcOrd="0" destOrd="0" presId="urn:microsoft.com/office/officeart/2005/8/layout/hProcess11"/>
    <dgm:cxn modelId="{28F631DF-6BBA-4B5F-A51D-2B52267C6348}" type="presParOf" srcId="{FB097D0A-19CA-4D00-8217-72DF0AFCA624}" destId="{151245E5-F570-4692-B261-FFE574EF38C6}" srcOrd="1" destOrd="0" presId="urn:microsoft.com/office/officeart/2005/8/layout/hProcess11"/>
    <dgm:cxn modelId="{C8E5405B-2FFE-4476-8292-002C017BF0FC}" type="presParOf" srcId="{FB097D0A-19CA-4D00-8217-72DF0AFCA624}" destId="{5EA8FD7E-2228-423B-8606-FBAD446BC565}" srcOrd="2" destOrd="0" presId="urn:microsoft.com/office/officeart/2005/8/layout/hProcess11"/>
    <dgm:cxn modelId="{80C7C778-3EF8-4C65-9666-332D840BC5B1}" type="presParOf" srcId="{2941F5C0-4BAA-4440-85A5-08BACFFD733E}" destId="{9227A1D6-C0C8-4F8A-8F0E-CAD82C1B9F65}" srcOrd="9" destOrd="0" presId="urn:microsoft.com/office/officeart/2005/8/layout/hProcess11"/>
    <dgm:cxn modelId="{B849F7AF-C676-4AB2-BB39-06E0AEAF149F}" type="presParOf" srcId="{2941F5C0-4BAA-4440-85A5-08BACFFD733E}" destId="{8FBD8765-876E-42BE-B379-F770B6CB657A}" srcOrd="10" destOrd="0" presId="urn:microsoft.com/office/officeart/2005/8/layout/hProcess11"/>
    <dgm:cxn modelId="{C96B2CDD-FB84-457B-A161-D9B3F4248F93}" type="presParOf" srcId="{8FBD8765-876E-42BE-B379-F770B6CB657A}" destId="{EB4C330D-5656-4F61-BB45-54BAF3F999B7}" srcOrd="0" destOrd="0" presId="urn:microsoft.com/office/officeart/2005/8/layout/hProcess11"/>
    <dgm:cxn modelId="{239D4CBC-6C28-44AD-83A0-CD886D113EDA}" type="presParOf" srcId="{8FBD8765-876E-42BE-B379-F770B6CB657A}" destId="{3FFB43BF-147D-4855-9C09-692B9EDAF6E3}" srcOrd="1" destOrd="0" presId="urn:microsoft.com/office/officeart/2005/8/layout/hProcess11"/>
    <dgm:cxn modelId="{69ECC81E-A55D-49E0-80D6-4830C9DEDFE6}" type="presParOf" srcId="{8FBD8765-876E-42BE-B379-F770B6CB657A}" destId="{82DC57B0-2275-4176-B3F6-B60649EB9DA3}" srcOrd="2" destOrd="0" presId="urn:microsoft.com/office/officeart/2005/8/layout/hProcess11"/>
    <dgm:cxn modelId="{06BA8872-726A-437D-91E4-F29909FE5012}" type="presParOf" srcId="{2941F5C0-4BAA-4440-85A5-08BACFFD733E}" destId="{18DC9C1C-8934-4DEB-8B17-CE24D3164BCB}" srcOrd="11" destOrd="0" presId="urn:microsoft.com/office/officeart/2005/8/layout/hProcess11"/>
    <dgm:cxn modelId="{8B5D1AEC-A6A6-40BA-B4CE-FDBB1DD34523}" type="presParOf" srcId="{2941F5C0-4BAA-4440-85A5-08BACFFD733E}" destId="{24FB4673-4C2C-4FBC-838D-5D0392099C84}" srcOrd="12" destOrd="0" presId="urn:microsoft.com/office/officeart/2005/8/layout/hProcess11"/>
    <dgm:cxn modelId="{C53F6EAA-6DD0-43E9-9F09-A5EEF98DF0A9}" type="presParOf" srcId="{24FB4673-4C2C-4FBC-838D-5D0392099C84}" destId="{B3880E71-A2D3-4D54-93E4-8D4E2F038FCE}" srcOrd="0" destOrd="0" presId="urn:microsoft.com/office/officeart/2005/8/layout/hProcess11"/>
    <dgm:cxn modelId="{2F43BD05-C1C6-40D1-8EB2-43127F33FA01}" type="presParOf" srcId="{24FB4673-4C2C-4FBC-838D-5D0392099C84}" destId="{5CFC2357-174B-4749-A904-FCAD589433CB}" srcOrd="1" destOrd="0" presId="urn:microsoft.com/office/officeart/2005/8/layout/hProcess11"/>
    <dgm:cxn modelId="{675B4DFF-2D24-4AA3-87BB-F0256BF4CA66}" type="presParOf" srcId="{24FB4673-4C2C-4FBC-838D-5D0392099C84}" destId="{5D66FFE6-DA74-4A10-A966-F90A0900AAD8}" srcOrd="2" destOrd="0" presId="urn:microsoft.com/office/officeart/2005/8/layout/hProcess11"/>
  </dgm:cxnLst>
  <dgm:bg>
    <a:solidFill>
      <a:schemeClr val="bg1"/>
    </a:solidFill>
  </dgm:bg>
  <dgm:whole/>
  <dgm:extLst>
    <a:ext uri="http://schemas.microsoft.com/office/drawing/2008/diagram">
      <dsp:dataModelExt xmlns:dsp="http://schemas.microsoft.com/office/drawing/2008/diagram" relId="rId9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484D842D-88CA-4DF7-8B95-BDD9DD6F5F60}" type="doc">
      <dgm:prSet loTypeId="urn:microsoft.com/office/officeart/2005/8/layout/chevron1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EF7AB66E-BDE0-4846-87FF-00D9514E233C}">
      <dgm:prSet phldrT="[Texto]">
        <dgm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Fabricação</a:t>
          </a:r>
          <a:endParaRPr lang="pt-BR" dirty="0"/>
        </a:p>
      </dgm:t>
    </dgm:pt>
    <dgm:pt modelId="{DB69B17C-D26C-46F8-A0A5-FB7DC2644BC0}" type="parTrans" cxnId="{91FDD4A7-3781-4035-8175-F327B422997E}">
      <dgm:prSet/>
      <dgm:spPr/>
      <dgm:t>
        <a:bodyPr/>
        <a:lstStyle/>
        <a:p>
          <a:endParaRPr lang="pt-BR"/>
        </a:p>
      </dgm:t>
    </dgm:pt>
    <dgm:pt modelId="{3EDAA467-DF3B-4D7C-BEEB-EFDBC692151D}" type="sibTrans" cxnId="{91FDD4A7-3781-4035-8175-F327B422997E}">
      <dgm:prSet/>
      <dgm:spPr/>
      <dgm:t>
        <a:bodyPr/>
        <a:lstStyle/>
        <a:p>
          <a:endParaRPr lang="pt-BR"/>
        </a:p>
      </dgm:t>
    </dgm:pt>
    <dgm:pt modelId="{58AFEB18-2673-4627-8DC8-1BF1224410B2}">
      <dgm:prSet phldrT="[Texto]">
        <dgm:style>
          <a:lnRef idx="0">
            <a:schemeClr val="accent4"/>
          </a:lnRef>
          <a:fillRef idx="3">
            <a:schemeClr val="accent4"/>
          </a:fillRef>
          <a:effectRef idx="3">
            <a:schemeClr val="accent4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Captação</a:t>
          </a:r>
          <a:endParaRPr lang="pt-BR" dirty="0"/>
        </a:p>
      </dgm:t>
    </dgm:pt>
    <dgm:pt modelId="{3DD0B710-03BF-4BB0-8ACA-16EE2E5849F4}" type="parTrans" cxnId="{2060EF26-1C61-4949-88F5-A72E41032DFD}">
      <dgm:prSet/>
      <dgm:spPr/>
      <dgm:t>
        <a:bodyPr/>
        <a:lstStyle/>
        <a:p>
          <a:endParaRPr lang="pt-BR"/>
        </a:p>
      </dgm:t>
    </dgm:pt>
    <dgm:pt modelId="{63CD0960-0C6A-4944-B96F-6EC362147816}" type="sibTrans" cxnId="{2060EF26-1C61-4949-88F5-A72E41032DFD}">
      <dgm:prSet/>
      <dgm:spPr/>
      <dgm:t>
        <a:bodyPr/>
        <a:lstStyle/>
        <a:p>
          <a:endParaRPr lang="pt-BR"/>
        </a:p>
      </dgm:t>
    </dgm:pt>
    <dgm:pt modelId="{51EB73BC-72CD-428C-8ABC-4EA20D8BD6CB}">
      <dgm:prSet phldrT="[Texto]">
        <dgm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Disponibilização de Produtos</a:t>
          </a:r>
          <a:endParaRPr lang="pt-BR" dirty="0"/>
        </a:p>
      </dgm:t>
    </dgm:pt>
    <dgm:pt modelId="{20624BBE-7592-457A-8356-3EDC7DED91E8}" type="parTrans" cxnId="{7ECECD20-A82B-40F1-804E-1F246C53A867}">
      <dgm:prSet/>
      <dgm:spPr/>
      <dgm:t>
        <a:bodyPr/>
        <a:lstStyle/>
        <a:p>
          <a:endParaRPr lang="pt-BR"/>
        </a:p>
      </dgm:t>
    </dgm:pt>
    <dgm:pt modelId="{EB99C829-687D-45CA-8253-59367E771E04}" type="sibTrans" cxnId="{7ECECD20-A82B-40F1-804E-1F246C53A867}">
      <dgm:prSet/>
      <dgm:spPr/>
      <dgm:t>
        <a:bodyPr/>
        <a:lstStyle/>
        <a:p>
          <a:endParaRPr lang="pt-BR"/>
        </a:p>
      </dgm:t>
    </dgm:pt>
    <dgm:pt modelId="{11DD4492-A39B-42E3-9412-35EA00F50971}">
      <dgm:prSet phldrT="[Texto]">
        <dgm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dirty="0" smtClean="0"/>
            <a:t>Faturamento</a:t>
          </a:r>
          <a:endParaRPr lang="pt-BR" dirty="0"/>
        </a:p>
      </dgm:t>
    </dgm:pt>
    <dgm:pt modelId="{0AADE72A-6F66-4350-B214-736E67375218}" type="parTrans" cxnId="{87CBC76C-E2BA-4040-8252-D4964D482C31}">
      <dgm:prSet/>
      <dgm:spPr/>
      <dgm:t>
        <a:bodyPr/>
        <a:lstStyle/>
        <a:p>
          <a:endParaRPr lang="pt-BR"/>
        </a:p>
      </dgm:t>
    </dgm:pt>
    <dgm:pt modelId="{59B025FA-F45B-49E6-80E1-CE07E2A4CC15}" type="sibTrans" cxnId="{87CBC76C-E2BA-4040-8252-D4964D482C31}">
      <dgm:prSet/>
      <dgm:spPr/>
      <dgm:t>
        <a:bodyPr/>
        <a:lstStyle/>
        <a:p>
          <a:endParaRPr lang="pt-BR"/>
        </a:p>
      </dgm:t>
    </dgm:pt>
    <dgm:pt modelId="{DF0A6621-0E45-433B-8FB3-052438E443B7}">
      <dgm:prSet phldrT="[Texto]">
        <dgm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dgm:style>
      </dgm:prSet>
      <dgm:spPr/>
      <dgm:t>
        <a:bodyPr/>
        <a:lstStyle/>
        <a:p>
          <a:r>
            <a:rPr lang="pt-BR" smtClean="0"/>
            <a:t>Separação</a:t>
          </a:r>
          <a:endParaRPr lang="pt-BR" dirty="0"/>
        </a:p>
      </dgm:t>
    </dgm:pt>
    <dgm:pt modelId="{BB217690-33D7-4930-A0E5-44B1D127CDF9}" type="parTrans" cxnId="{DB0D2595-C051-4376-B050-87221C9DBD23}">
      <dgm:prSet/>
      <dgm:spPr/>
      <dgm:t>
        <a:bodyPr/>
        <a:lstStyle/>
        <a:p>
          <a:endParaRPr lang="pt-BR"/>
        </a:p>
      </dgm:t>
    </dgm:pt>
    <dgm:pt modelId="{7D8D8A47-1F70-4469-A5ED-7D71D53B094D}" type="sibTrans" cxnId="{DB0D2595-C051-4376-B050-87221C9DBD23}">
      <dgm:prSet/>
      <dgm:spPr/>
      <dgm:t>
        <a:bodyPr/>
        <a:lstStyle/>
        <a:p>
          <a:endParaRPr lang="pt-BR"/>
        </a:p>
      </dgm:t>
    </dgm:pt>
    <dgm:pt modelId="{F860A790-A1FF-4913-B466-036EBC1DDF60}" type="pres">
      <dgm:prSet presAssocID="{484D842D-88CA-4DF7-8B95-BDD9DD6F5F60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A8134A67-01BD-4D72-B0CC-BCAD9E8CBEEA}" type="pres">
      <dgm:prSet presAssocID="{EF7AB66E-BDE0-4846-87FF-00D9514E233C}" presName="parTxOnly" presStyleLbl="node1" presStyleIdx="0" presStyleCnt="5" custScaleY="83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820DC4C-1D9B-43C8-B743-E602EB806359}" type="pres">
      <dgm:prSet presAssocID="{3EDAA467-DF3B-4D7C-BEEB-EFDBC692151D}" presName="parTxOnlySpace" presStyleCnt="0"/>
      <dgm:spPr/>
    </dgm:pt>
    <dgm:pt modelId="{F4164DE3-7A8A-4EB5-9E0D-00A8281DDFB0}" type="pres">
      <dgm:prSet presAssocID="{58AFEB18-2673-4627-8DC8-1BF1224410B2}" presName="parTxOnly" presStyleLbl="node1" presStyleIdx="1" presStyleCnt="5" custScaleY="83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F63D043C-34FD-4034-B8D8-833872ACB1A1}" type="pres">
      <dgm:prSet presAssocID="{63CD0960-0C6A-4944-B96F-6EC362147816}" presName="parTxOnlySpace" presStyleCnt="0"/>
      <dgm:spPr/>
    </dgm:pt>
    <dgm:pt modelId="{EA5AD6DE-AED9-423A-B74C-32A50B1A2F71}" type="pres">
      <dgm:prSet presAssocID="{51EB73BC-72CD-428C-8ABC-4EA20D8BD6CB}" presName="parTxOnly" presStyleLbl="node1" presStyleIdx="2" presStyleCnt="5" custScaleY="83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857D5694-2AFB-40D3-9A83-B82369A61F1B}" type="pres">
      <dgm:prSet presAssocID="{EB99C829-687D-45CA-8253-59367E771E04}" presName="parTxOnlySpace" presStyleCnt="0"/>
      <dgm:spPr/>
    </dgm:pt>
    <dgm:pt modelId="{4F87A1D2-1CA1-4F23-BB26-B8F17A985C4F}" type="pres">
      <dgm:prSet presAssocID="{DF0A6621-0E45-433B-8FB3-052438E443B7}" presName="parTxOnly" presStyleLbl="node1" presStyleIdx="3" presStyleCnt="5" custScaleY="85585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A5264289-C900-433C-99D1-DB07300CAA9D}" type="pres">
      <dgm:prSet presAssocID="{7D8D8A47-1F70-4469-A5ED-7D71D53B094D}" presName="parTxOnlySpace" presStyleCnt="0"/>
      <dgm:spPr/>
    </dgm:pt>
    <dgm:pt modelId="{ED16F0D0-1763-4147-8153-58C819D1BADD}" type="pres">
      <dgm:prSet presAssocID="{11DD4492-A39B-42E3-9412-35EA00F50971}" presName="parTxOnly" presStyleLbl="node1" presStyleIdx="4" presStyleCnt="5" custScaleY="83604">
        <dgm:presLayoutVars>
          <dgm:chMax val="0"/>
          <dgm:chPref val="0"/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87CBC76C-E2BA-4040-8252-D4964D482C31}" srcId="{484D842D-88CA-4DF7-8B95-BDD9DD6F5F60}" destId="{11DD4492-A39B-42E3-9412-35EA00F50971}" srcOrd="4" destOrd="0" parTransId="{0AADE72A-6F66-4350-B214-736E67375218}" sibTransId="{59B025FA-F45B-49E6-80E1-CE07E2A4CC15}"/>
    <dgm:cxn modelId="{2EDD3295-E2FF-41A9-9643-6D8F6CFACCA9}" type="presOf" srcId="{58AFEB18-2673-4627-8DC8-1BF1224410B2}" destId="{F4164DE3-7A8A-4EB5-9E0D-00A8281DDFB0}" srcOrd="0" destOrd="0" presId="urn:microsoft.com/office/officeart/2005/8/layout/chevron1"/>
    <dgm:cxn modelId="{1B9BC758-667E-4AA6-BD84-543E39F44D2C}" type="presOf" srcId="{51EB73BC-72CD-428C-8ABC-4EA20D8BD6CB}" destId="{EA5AD6DE-AED9-423A-B74C-32A50B1A2F71}" srcOrd="0" destOrd="0" presId="urn:microsoft.com/office/officeart/2005/8/layout/chevron1"/>
    <dgm:cxn modelId="{DB0D2595-C051-4376-B050-87221C9DBD23}" srcId="{484D842D-88CA-4DF7-8B95-BDD9DD6F5F60}" destId="{DF0A6621-0E45-433B-8FB3-052438E443B7}" srcOrd="3" destOrd="0" parTransId="{BB217690-33D7-4930-A0E5-44B1D127CDF9}" sibTransId="{7D8D8A47-1F70-4469-A5ED-7D71D53B094D}"/>
    <dgm:cxn modelId="{7D7E3EFE-AAFF-4C67-BC05-C8C58279806E}" type="presOf" srcId="{EF7AB66E-BDE0-4846-87FF-00D9514E233C}" destId="{A8134A67-01BD-4D72-B0CC-BCAD9E8CBEEA}" srcOrd="0" destOrd="0" presId="urn:microsoft.com/office/officeart/2005/8/layout/chevron1"/>
    <dgm:cxn modelId="{7463F208-7714-4027-9120-5B026A4B26C2}" type="presOf" srcId="{484D842D-88CA-4DF7-8B95-BDD9DD6F5F60}" destId="{F860A790-A1FF-4913-B466-036EBC1DDF60}" srcOrd="0" destOrd="0" presId="urn:microsoft.com/office/officeart/2005/8/layout/chevron1"/>
    <dgm:cxn modelId="{91FDD4A7-3781-4035-8175-F327B422997E}" srcId="{484D842D-88CA-4DF7-8B95-BDD9DD6F5F60}" destId="{EF7AB66E-BDE0-4846-87FF-00D9514E233C}" srcOrd="0" destOrd="0" parTransId="{DB69B17C-D26C-46F8-A0A5-FB7DC2644BC0}" sibTransId="{3EDAA467-DF3B-4D7C-BEEB-EFDBC692151D}"/>
    <dgm:cxn modelId="{227D1B46-43BB-4BC4-BBBC-32D17E37B309}" type="presOf" srcId="{11DD4492-A39B-42E3-9412-35EA00F50971}" destId="{ED16F0D0-1763-4147-8153-58C819D1BADD}" srcOrd="0" destOrd="0" presId="urn:microsoft.com/office/officeart/2005/8/layout/chevron1"/>
    <dgm:cxn modelId="{2060EF26-1C61-4949-88F5-A72E41032DFD}" srcId="{484D842D-88CA-4DF7-8B95-BDD9DD6F5F60}" destId="{58AFEB18-2673-4627-8DC8-1BF1224410B2}" srcOrd="1" destOrd="0" parTransId="{3DD0B710-03BF-4BB0-8ACA-16EE2E5849F4}" sibTransId="{63CD0960-0C6A-4944-B96F-6EC362147816}"/>
    <dgm:cxn modelId="{7ECECD20-A82B-40F1-804E-1F246C53A867}" srcId="{484D842D-88CA-4DF7-8B95-BDD9DD6F5F60}" destId="{51EB73BC-72CD-428C-8ABC-4EA20D8BD6CB}" srcOrd="2" destOrd="0" parTransId="{20624BBE-7592-457A-8356-3EDC7DED91E8}" sibTransId="{EB99C829-687D-45CA-8253-59367E771E04}"/>
    <dgm:cxn modelId="{08CF726C-2129-4CFE-8419-319889D62A66}" type="presOf" srcId="{DF0A6621-0E45-433B-8FB3-052438E443B7}" destId="{4F87A1D2-1CA1-4F23-BB26-B8F17A985C4F}" srcOrd="0" destOrd="0" presId="urn:microsoft.com/office/officeart/2005/8/layout/chevron1"/>
    <dgm:cxn modelId="{6A672671-4AEA-4610-AA82-3FB2DD3D918B}" type="presParOf" srcId="{F860A790-A1FF-4913-B466-036EBC1DDF60}" destId="{A8134A67-01BD-4D72-B0CC-BCAD9E8CBEEA}" srcOrd="0" destOrd="0" presId="urn:microsoft.com/office/officeart/2005/8/layout/chevron1"/>
    <dgm:cxn modelId="{28511D6B-543D-49CE-9A89-2848D28A2887}" type="presParOf" srcId="{F860A790-A1FF-4913-B466-036EBC1DDF60}" destId="{E820DC4C-1D9B-43C8-B743-E602EB806359}" srcOrd="1" destOrd="0" presId="urn:microsoft.com/office/officeart/2005/8/layout/chevron1"/>
    <dgm:cxn modelId="{7169D1C0-64AF-4D1F-A9E4-4E623A041AC1}" type="presParOf" srcId="{F860A790-A1FF-4913-B466-036EBC1DDF60}" destId="{F4164DE3-7A8A-4EB5-9E0D-00A8281DDFB0}" srcOrd="2" destOrd="0" presId="urn:microsoft.com/office/officeart/2005/8/layout/chevron1"/>
    <dgm:cxn modelId="{C34F578D-3F9C-4BB6-A75D-0870670BC93A}" type="presParOf" srcId="{F860A790-A1FF-4913-B466-036EBC1DDF60}" destId="{F63D043C-34FD-4034-B8D8-833872ACB1A1}" srcOrd="3" destOrd="0" presId="urn:microsoft.com/office/officeart/2005/8/layout/chevron1"/>
    <dgm:cxn modelId="{21BE5247-9A3E-479A-BF74-1C8DBEFFECEF}" type="presParOf" srcId="{F860A790-A1FF-4913-B466-036EBC1DDF60}" destId="{EA5AD6DE-AED9-423A-B74C-32A50B1A2F71}" srcOrd="4" destOrd="0" presId="urn:microsoft.com/office/officeart/2005/8/layout/chevron1"/>
    <dgm:cxn modelId="{3C8C759D-759F-4979-8774-CE25CBA028F9}" type="presParOf" srcId="{F860A790-A1FF-4913-B466-036EBC1DDF60}" destId="{857D5694-2AFB-40D3-9A83-B82369A61F1B}" srcOrd="5" destOrd="0" presId="urn:microsoft.com/office/officeart/2005/8/layout/chevron1"/>
    <dgm:cxn modelId="{B7C70977-FF64-420D-8E5F-4C6D978942A2}" type="presParOf" srcId="{F860A790-A1FF-4913-B466-036EBC1DDF60}" destId="{4F87A1D2-1CA1-4F23-BB26-B8F17A985C4F}" srcOrd="6" destOrd="0" presId="urn:microsoft.com/office/officeart/2005/8/layout/chevron1"/>
    <dgm:cxn modelId="{94988CDD-5FDA-4E63-A6EB-084700F47207}" type="presParOf" srcId="{F860A790-A1FF-4913-B466-036EBC1DDF60}" destId="{A5264289-C900-433C-99D1-DB07300CAA9D}" srcOrd="7" destOrd="0" presId="urn:microsoft.com/office/officeart/2005/8/layout/chevron1"/>
    <dgm:cxn modelId="{74C35021-97BA-49B2-A83C-04D9C3272896}" type="presParOf" srcId="{F860A790-A1FF-4913-B466-036EBC1DDF60}" destId="{ED16F0D0-1763-4147-8153-58C819D1BADD}" srcOrd="8" destOrd="0" presId="urn:microsoft.com/office/officeart/2005/8/layout/chevron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34A67-01BD-4D72-B0CC-BCAD9E8CBEEA}">
      <dsp:nvSpPr>
        <dsp:cNvPr id="0" name=""/>
        <dsp:cNvSpPr/>
      </dsp:nvSpPr>
      <dsp:spPr>
        <a:xfrm>
          <a:off x="744" y="1538532"/>
          <a:ext cx="1193353" cy="482878"/>
        </a:xfrm>
        <a:prstGeom prst="chevron">
          <a:avLst/>
        </a:prstGeom>
        <a:solidFill>
          <a:srgbClr val="FFFF00"/>
        </a:soli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>
              <a:solidFill>
                <a:schemeClr val="tx1"/>
              </a:solidFill>
            </a:rPr>
            <a:t>Identificação</a:t>
          </a:r>
          <a:endParaRPr lang="pt-BR" sz="800" b="1" kern="1200" dirty="0">
            <a:solidFill>
              <a:schemeClr val="tx1"/>
            </a:solidFill>
          </a:endParaRPr>
        </a:p>
      </dsp:txBody>
      <dsp:txXfrm>
        <a:off x="242183" y="1538532"/>
        <a:ext cx="710475" cy="482878"/>
      </dsp:txXfrm>
    </dsp:sp>
    <dsp:sp modelId="{F4164DE3-7A8A-4EB5-9E0D-00A8281DDFB0}">
      <dsp:nvSpPr>
        <dsp:cNvPr id="0" name=""/>
        <dsp:cNvSpPr/>
      </dsp:nvSpPr>
      <dsp:spPr>
        <a:xfrm>
          <a:off x="1074762" y="1538532"/>
          <a:ext cx="1193353" cy="482878"/>
        </a:xfrm>
        <a:prstGeom prst="chevron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Registro</a:t>
          </a:r>
          <a:endParaRPr lang="pt-BR" sz="800" b="1" kern="1200" dirty="0"/>
        </a:p>
      </dsp:txBody>
      <dsp:txXfrm>
        <a:off x="1316201" y="1538532"/>
        <a:ext cx="710475" cy="482878"/>
      </dsp:txXfrm>
    </dsp:sp>
    <dsp:sp modelId="{EA5AD6DE-AED9-423A-B74C-32A50B1A2F71}">
      <dsp:nvSpPr>
        <dsp:cNvPr id="0" name=""/>
        <dsp:cNvSpPr/>
      </dsp:nvSpPr>
      <dsp:spPr>
        <a:xfrm>
          <a:off x="2148780" y="1538532"/>
          <a:ext cx="1193353" cy="482878"/>
        </a:xfrm>
        <a:prstGeom prst="chevron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Categorização</a:t>
          </a:r>
          <a:endParaRPr lang="pt-BR" sz="800" b="1" kern="1200" dirty="0"/>
        </a:p>
      </dsp:txBody>
      <dsp:txXfrm>
        <a:off x="2390219" y="1538532"/>
        <a:ext cx="710475" cy="482878"/>
      </dsp:txXfrm>
    </dsp:sp>
    <dsp:sp modelId="{4F87A1D2-1CA1-4F23-BB26-B8F17A985C4F}">
      <dsp:nvSpPr>
        <dsp:cNvPr id="0" name=""/>
        <dsp:cNvSpPr/>
      </dsp:nvSpPr>
      <dsp:spPr>
        <a:xfrm>
          <a:off x="3222798" y="1532811"/>
          <a:ext cx="1193353" cy="494320"/>
        </a:xfrm>
        <a:prstGeom prst="chevron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Priorização</a:t>
          </a:r>
          <a:endParaRPr lang="pt-BR" sz="800" b="1" kern="1200" dirty="0"/>
        </a:p>
      </dsp:txBody>
      <dsp:txXfrm>
        <a:off x="3469958" y="1532811"/>
        <a:ext cx="699033" cy="494320"/>
      </dsp:txXfrm>
    </dsp:sp>
    <dsp:sp modelId="{ED16F0D0-1763-4147-8153-58C819D1BADD}">
      <dsp:nvSpPr>
        <dsp:cNvPr id="0" name=""/>
        <dsp:cNvSpPr/>
      </dsp:nvSpPr>
      <dsp:spPr>
        <a:xfrm>
          <a:off x="4296816" y="1538532"/>
          <a:ext cx="1193353" cy="482878"/>
        </a:xfrm>
        <a:prstGeom prst="chevron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Diagnóstico Inicial</a:t>
          </a:r>
          <a:endParaRPr lang="pt-BR" sz="800" b="1" kern="1200" dirty="0"/>
        </a:p>
      </dsp:txBody>
      <dsp:txXfrm>
        <a:off x="4538255" y="1538532"/>
        <a:ext cx="710475" cy="482878"/>
      </dsp:txXfrm>
    </dsp:sp>
    <dsp:sp modelId="{774FF8EF-53B4-41B2-826A-F45218B24F9C}">
      <dsp:nvSpPr>
        <dsp:cNvPr id="0" name=""/>
        <dsp:cNvSpPr/>
      </dsp:nvSpPr>
      <dsp:spPr>
        <a:xfrm>
          <a:off x="5370834" y="1541301"/>
          <a:ext cx="1193353" cy="477341"/>
        </a:xfrm>
        <a:prstGeom prst="chevron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Investigação e Diagnóstico</a:t>
          </a:r>
          <a:endParaRPr lang="pt-BR" sz="800" b="1" kern="1200" dirty="0"/>
        </a:p>
      </dsp:txBody>
      <dsp:txXfrm>
        <a:off x="5609505" y="1541301"/>
        <a:ext cx="716012" cy="477341"/>
      </dsp:txXfrm>
    </dsp:sp>
    <dsp:sp modelId="{DE56ADC1-C67C-4A7D-9B3F-E6F832161B4B}">
      <dsp:nvSpPr>
        <dsp:cNvPr id="0" name=""/>
        <dsp:cNvSpPr/>
      </dsp:nvSpPr>
      <dsp:spPr>
        <a:xfrm>
          <a:off x="6444852" y="1541301"/>
          <a:ext cx="1193353" cy="477341"/>
        </a:xfrm>
        <a:prstGeom prst="chevron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Resolução e Recuperação</a:t>
          </a:r>
          <a:endParaRPr lang="pt-BR" sz="800" b="1" kern="1200" dirty="0"/>
        </a:p>
      </dsp:txBody>
      <dsp:txXfrm>
        <a:off x="6683523" y="1541301"/>
        <a:ext cx="716012" cy="477341"/>
      </dsp:txXfrm>
    </dsp:sp>
    <dsp:sp modelId="{1F21EC40-30E4-4CE3-B8DF-144BBD22EC6C}">
      <dsp:nvSpPr>
        <dsp:cNvPr id="0" name=""/>
        <dsp:cNvSpPr/>
      </dsp:nvSpPr>
      <dsp:spPr>
        <a:xfrm>
          <a:off x="7518870" y="1541301"/>
          <a:ext cx="1193353" cy="477341"/>
        </a:xfrm>
        <a:prstGeom prst="chevron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32004" tIns="10668" rIns="10668" bIns="10668" numCol="1" spcCol="1270" anchor="ctr" anchorCtr="0">
          <a:noAutofit/>
        </a:bodyPr>
        <a:lstStyle/>
        <a:p>
          <a:pPr lvl="0" algn="ctr" defTabSz="3556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800" b="1" kern="1200" dirty="0" smtClean="0"/>
            <a:t>Fechamento do Incidente</a:t>
          </a:r>
          <a:endParaRPr lang="pt-BR" sz="800" b="1" kern="1200" dirty="0"/>
        </a:p>
      </dsp:txBody>
      <dsp:txXfrm>
        <a:off x="7757541" y="1541301"/>
        <a:ext cx="716012" cy="477341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51E5CA3-66A9-4D7A-AC56-CDE59491A35A}">
      <dsp:nvSpPr>
        <dsp:cNvPr id="0" name=""/>
        <dsp:cNvSpPr/>
      </dsp:nvSpPr>
      <dsp:spPr>
        <a:xfrm>
          <a:off x="0" y="515784"/>
          <a:ext cx="8920622" cy="376847"/>
        </a:xfrm>
        <a:prstGeom prst="notchedRightArrow">
          <a:avLst/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E26B5A-BE04-4115-B911-0F465FD84ECB}">
      <dsp:nvSpPr>
        <dsp:cNvPr id="0" name=""/>
        <dsp:cNvSpPr/>
      </dsp:nvSpPr>
      <dsp:spPr>
        <a:xfrm>
          <a:off x="1019" y="0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b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04/Mar – Alinhamento Escopo Plano</a:t>
          </a:r>
          <a:endParaRPr lang="pt-BR" sz="700" kern="1200" dirty="0">
            <a:latin typeface="Gill Sans MT" pitchFamily="34" charset="0"/>
          </a:endParaRPr>
        </a:p>
      </dsp:txBody>
      <dsp:txXfrm>
        <a:off x="1019" y="0"/>
        <a:ext cx="1050612" cy="563366"/>
      </dsp:txXfrm>
    </dsp:sp>
    <dsp:sp modelId="{CC5AED10-27FA-4AE2-99EF-5A534E5075D3}">
      <dsp:nvSpPr>
        <dsp:cNvPr id="0" name=""/>
        <dsp:cNvSpPr/>
      </dsp:nvSpPr>
      <dsp:spPr>
        <a:xfrm>
          <a:off x="455905" y="633787"/>
          <a:ext cx="140841" cy="140841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A174C16A-7523-415A-8C7E-211AF9C355A3}">
      <dsp:nvSpPr>
        <dsp:cNvPr id="0" name=""/>
        <dsp:cNvSpPr/>
      </dsp:nvSpPr>
      <dsp:spPr>
        <a:xfrm>
          <a:off x="1104162" y="845049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04/Mar – Alinhamento Plano com Processos</a:t>
          </a:r>
          <a:endParaRPr lang="pt-BR" sz="700" kern="1200" dirty="0">
            <a:latin typeface="Gill Sans MT" pitchFamily="34" charset="0"/>
          </a:endParaRPr>
        </a:p>
      </dsp:txBody>
      <dsp:txXfrm>
        <a:off x="1104162" y="845049"/>
        <a:ext cx="1050612" cy="563366"/>
      </dsp:txXfrm>
    </dsp:sp>
    <dsp:sp modelId="{6EDB76AC-E82B-4354-86F5-F2A7927FEC7D}">
      <dsp:nvSpPr>
        <dsp:cNvPr id="0" name=""/>
        <dsp:cNvSpPr/>
      </dsp:nvSpPr>
      <dsp:spPr>
        <a:xfrm>
          <a:off x="1559047" y="633787"/>
          <a:ext cx="140841" cy="140841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BAEEECED-20B7-4EC4-B870-0256AC280661}">
      <dsp:nvSpPr>
        <dsp:cNvPr id="0" name=""/>
        <dsp:cNvSpPr/>
      </dsp:nvSpPr>
      <dsp:spPr>
        <a:xfrm>
          <a:off x="2207305" y="0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b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05/Mar – Alteração do Diário de Bordo destacando </a:t>
          </a:r>
          <a:r>
            <a:rPr lang="pt-BR" sz="700" kern="1200" dirty="0" err="1" smtClean="0">
              <a:latin typeface="Gill Sans MT" pitchFamily="34" charset="0"/>
            </a:rPr>
            <a:t>ICs</a:t>
          </a:r>
          <a:r>
            <a:rPr lang="pt-BR" sz="700" kern="1200" dirty="0" smtClean="0">
              <a:latin typeface="Gill Sans MT" pitchFamily="34" charset="0"/>
            </a:rPr>
            <a:t> pendentes.</a:t>
          </a:r>
          <a:endParaRPr lang="pt-BR" sz="700" kern="1200" dirty="0">
            <a:latin typeface="Gill Sans MT" pitchFamily="34" charset="0"/>
          </a:endParaRPr>
        </a:p>
      </dsp:txBody>
      <dsp:txXfrm>
        <a:off x="2207305" y="0"/>
        <a:ext cx="1050612" cy="563366"/>
      </dsp:txXfrm>
    </dsp:sp>
    <dsp:sp modelId="{49C6ED58-0B20-4769-BE5B-8EB0A7622580}">
      <dsp:nvSpPr>
        <dsp:cNvPr id="0" name=""/>
        <dsp:cNvSpPr/>
      </dsp:nvSpPr>
      <dsp:spPr>
        <a:xfrm>
          <a:off x="2662190" y="633787"/>
          <a:ext cx="140841" cy="140841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B24AE32E-9F8F-4E72-9628-CF3FDBDFD399}">
      <dsp:nvSpPr>
        <dsp:cNvPr id="0" name=""/>
        <dsp:cNvSpPr/>
      </dsp:nvSpPr>
      <dsp:spPr>
        <a:xfrm>
          <a:off x="3310448" y="845049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05/Mar – reforço na comunicação do Bom dia TD (Participação, Escopo) e revisão da lista de distribuição</a:t>
          </a:r>
          <a:endParaRPr lang="pt-BR" sz="700" kern="1200" dirty="0">
            <a:latin typeface="Gill Sans MT" pitchFamily="34" charset="0"/>
          </a:endParaRPr>
        </a:p>
      </dsp:txBody>
      <dsp:txXfrm>
        <a:off x="3310448" y="845049"/>
        <a:ext cx="1050612" cy="563366"/>
      </dsp:txXfrm>
    </dsp:sp>
    <dsp:sp modelId="{13A3F4BC-852A-42D1-8B10-A3077E3A9351}">
      <dsp:nvSpPr>
        <dsp:cNvPr id="0" name=""/>
        <dsp:cNvSpPr/>
      </dsp:nvSpPr>
      <dsp:spPr>
        <a:xfrm>
          <a:off x="3765333" y="633787"/>
          <a:ext cx="140841" cy="140841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1E453F90-A55C-4840-91B5-B50820217E7A}">
      <dsp:nvSpPr>
        <dsp:cNvPr id="0" name=""/>
        <dsp:cNvSpPr/>
      </dsp:nvSpPr>
      <dsp:spPr>
        <a:xfrm>
          <a:off x="4413591" y="0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b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11/Mar – Implementação do novo Diário de Bordo</a:t>
          </a:r>
          <a:endParaRPr lang="pt-BR" sz="700" kern="1200" dirty="0">
            <a:latin typeface="Gill Sans MT" pitchFamily="34" charset="0"/>
          </a:endParaRPr>
        </a:p>
      </dsp:txBody>
      <dsp:txXfrm>
        <a:off x="4413591" y="0"/>
        <a:ext cx="1050612" cy="563366"/>
      </dsp:txXfrm>
    </dsp:sp>
    <dsp:sp modelId="{151245E5-F570-4692-B261-FFE574EF38C6}">
      <dsp:nvSpPr>
        <dsp:cNvPr id="0" name=""/>
        <dsp:cNvSpPr/>
      </dsp:nvSpPr>
      <dsp:spPr>
        <a:xfrm>
          <a:off x="4868476" y="633787"/>
          <a:ext cx="140841" cy="140841"/>
        </a:xfrm>
        <a:prstGeom prst="ellipse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3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3"/>
        </a:lnRef>
        <a:fillRef idx="3">
          <a:schemeClr val="accent3"/>
        </a:fillRef>
        <a:effectRef idx="2">
          <a:schemeClr val="accent3"/>
        </a:effectRef>
        <a:fontRef idx="minor">
          <a:schemeClr val="lt1"/>
        </a:fontRef>
      </dsp:style>
    </dsp:sp>
    <dsp:sp modelId="{EB4C330D-5656-4F61-BB45-54BAF3F999B7}">
      <dsp:nvSpPr>
        <dsp:cNvPr id="0" name=""/>
        <dsp:cNvSpPr/>
      </dsp:nvSpPr>
      <dsp:spPr>
        <a:xfrm>
          <a:off x="5516734" y="845049"/>
          <a:ext cx="105061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t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strike="sngStrike" kern="1200" dirty="0" smtClean="0">
              <a:latin typeface="Gill Sans MT" pitchFamily="34" charset="0"/>
            </a:rPr>
            <a:t>20/Ma</a:t>
          </a:r>
          <a:r>
            <a:rPr lang="pt-BR" sz="700" kern="1200" dirty="0" smtClean="0">
              <a:latin typeface="Gill Sans MT" pitchFamily="34" charset="0"/>
            </a:rPr>
            <a:t>r – 13/</a:t>
          </a:r>
          <a:r>
            <a:rPr lang="pt-BR" sz="700" kern="1200" dirty="0" err="1" smtClean="0">
              <a:latin typeface="Gill Sans MT" pitchFamily="34" charset="0"/>
            </a:rPr>
            <a:t>Abr</a:t>
          </a:r>
          <a:r>
            <a:rPr lang="pt-BR" sz="700" kern="1200" dirty="0" smtClean="0">
              <a:latin typeface="Gill Sans MT" pitchFamily="34" charset="0"/>
            </a:rPr>
            <a:t> Implementação do Diário de Bordo Semanal (Resumo, MTTR e MTBF)</a:t>
          </a:r>
          <a:endParaRPr lang="pt-BR" sz="700" kern="1200" dirty="0">
            <a:latin typeface="Gill Sans MT" pitchFamily="34" charset="0"/>
          </a:endParaRPr>
        </a:p>
      </dsp:txBody>
      <dsp:txXfrm>
        <a:off x="5516734" y="845049"/>
        <a:ext cx="1050612" cy="563366"/>
      </dsp:txXfrm>
    </dsp:sp>
    <dsp:sp modelId="{3FFB43BF-147D-4855-9C09-692B9EDAF6E3}">
      <dsp:nvSpPr>
        <dsp:cNvPr id="0" name=""/>
        <dsp:cNvSpPr/>
      </dsp:nvSpPr>
      <dsp:spPr>
        <a:xfrm>
          <a:off x="5971619" y="633787"/>
          <a:ext cx="140841" cy="140841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</dsp:sp>
    <dsp:sp modelId="{B3880E71-A2D3-4D54-93E4-8D4E2F038FCE}">
      <dsp:nvSpPr>
        <dsp:cNvPr id="0" name=""/>
        <dsp:cNvSpPr/>
      </dsp:nvSpPr>
      <dsp:spPr>
        <a:xfrm>
          <a:off x="6619877" y="0"/>
          <a:ext cx="1407662" cy="56336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784" tIns="49784" rIns="49784" bIns="49784" numCol="1" spcCol="1270" anchor="b" anchorCtr="0">
          <a:noAutofit/>
        </a:bodyPr>
        <a:lstStyle/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strike="sngStrike" kern="1200" dirty="0" smtClean="0">
              <a:latin typeface="Gill Sans MT" pitchFamily="34" charset="0"/>
            </a:rPr>
            <a:t>31/Mar</a:t>
          </a:r>
          <a:r>
            <a:rPr lang="pt-BR" sz="700" kern="1200" dirty="0" smtClean="0">
              <a:latin typeface="Gill Sans MT" pitchFamily="34" charset="0"/>
            </a:rPr>
            <a:t> –27/05</a:t>
          </a:r>
        </a:p>
        <a:p>
          <a:pPr lvl="0" algn="ctr" defTabSz="3111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700" kern="1200" dirty="0" smtClean="0">
              <a:latin typeface="Gill Sans MT" pitchFamily="34" charset="0"/>
            </a:rPr>
            <a:t>Revisão das aplicações IC1 e IC0</a:t>
          </a:r>
          <a:endParaRPr lang="pt-BR" sz="700" kern="1200" dirty="0">
            <a:latin typeface="Gill Sans MT" pitchFamily="34" charset="0"/>
          </a:endParaRPr>
        </a:p>
      </dsp:txBody>
      <dsp:txXfrm>
        <a:off x="6619877" y="0"/>
        <a:ext cx="1407662" cy="563366"/>
      </dsp:txXfrm>
    </dsp:sp>
    <dsp:sp modelId="{5CFC2357-174B-4749-A904-FCAD589433CB}">
      <dsp:nvSpPr>
        <dsp:cNvPr id="0" name=""/>
        <dsp:cNvSpPr/>
      </dsp:nvSpPr>
      <dsp:spPr>
        <a:xfrm>
          <a:off x="7253287" y="633787"/>
          <a:ext cx="140841" cy="140841"/>
        </a:xfrm>
        <a:prstGeom prst="ellipse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 w="9525" cap="flat" cmpd="sng" algn="ctr">
          <a:solidFill>
            <a:schemeClr val="accent6">
              <a:shade val="95000"/>
              <a:satMod val="105000"/>
            </a:schemeClr>
          </a:solidFill>
          <a:prstDash val="solid"/>
        </a:ln>
        <a:effectLst>
          <a:outerShdw blurRad="40000" dist="23000" dir="5400000" rotWithShape="0">
            <a:srgbClr val="000000">
              <a:alpha val="35000"/>
            </a:srgbClr>
          </a:outerShdw>
        </a:effectLst>
      </dsp:spPr>
      <dsp:style>
        <a:lnRef idx="1">
          <a:schemeClr val="accent6"/>
        </a:lnRef>
        <a:fillRef idx="3">
          <a:schemeClr val="accent6"/>
        </a:fillRef>
        <a:effectRef idx="2">
          <a:schemeClr val="accent6"/>
        </a:effectRef>
        <a:fontRef idx="minor">
          <a:schemeClr val="lt1"/>
        </a:fontRef>
      </dsp:style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134A67-01BD-4D72-B0CC-BCAD9E8CBEEA}">
      <dsp:nvSpPr>
        <dsp:cNvPr id="0" name=""/>
        <dsp:cNvSpPr/>
      </dsp:nvSpPr>
      <dsp:spPr>
        <a:xfrm>
          <a:off x="2004" y="1481727"/>
          <a:ext cx="1783674" cy="596489"/>
        </a:xfrm>
        <a:prstGeom prst="chevron">
          <a:avLst/>
        </a:prstGeom>
        <a:gradFill rotWithShape="1">
          <a:gsLst>
            <a:gs pos="0">
              <a:schemeClr val="accent3">
                <a:shade val="51000"/>
                <a:satMod val="130000"/>
              </a:schemeClr>
            </a:gs>
            <a:gs pos="80000">
              <a:schemeClr val="accent3">
                <a:shade val="93000"/>
                <a:satMod val="130000"/>
              </a:schemeClr>
            </a:gs>
            <a:gs pos="100000">
              <a:schemeClr val="accent3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3"/>
        </a:lnRef>
        <a:fillRef idx="3">
          <a:schemeClr val="accent3"/>
        </a:fillRef>
        <a:effectRef idx="3">
          <a:schemeClr val="accent3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Fabricação</a:t>
          </a:r>
          <a:endParaRPr lang="pt-BR" sz="1300" kern="1200" dirty="0"/>
        </a:p>
      </dsp:txBody>
      <dsp:txXfrm>
        <a:off x="300249" y="1481727"/>
        <a:ext cx="1187185" cy="596489"/>
      </dsp:txXfrm>
    </dsp:sp>
    <dsp:sp modelId="{F4164DE3-7A8A-4EB5-9E0D-00A8281DDFB0}">
      <dsp:nvSpPr>
        <dsp:cNvPr id="0" name=""/>
        <dsp:cNvSpPr/>
      </dsp:nvSpPr>
      <dsp:spPr>
        <a:xfrm>
          <a:off x="1607311" y="1481727"/>
          <a:ext cx="1783674" cy="596489"/>
        </a:xfrm>
        <a:prstGeom prst="chevron">
          <a:avLst/>
        </a:prstGeom>
        <a:gradFill rotWithShape="1">
          <a:gsLst>
            <a:gs pos="0">
              <a:schemeClr val="accent4">
                <a:shade val="51000"/>
                <a:satMod val="130000"/>
              </a:schemeClr>
            </a:gs>
            <a:gs pos="80000">
              <a:schemeClr val="accent4">
                <a:shade val="93000"/>
                <a:satMod val="130000"/>
              </a:schemeClr>
            </a:gs>
            <a:gs pos="100000">
              <a:schemeClr val="accent4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4"/>
        </a:lnRef>
        <a:fillRef idx="3">
          <a:schemeClr val="accent4"/>
        </a:fillRef>
        <a:effectRef idx="3">
          <a:schemeClr val="accent4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Captação</a:t>
          </a:r>
          <a:endParaRPr lang="pt-BR" sz="1300" kern="1200" dirty="0"/>
        </a:p>
      </dsp:txBody>
      <dsp:txXfrm>
        <a:off x="1905556" y="1481727"/>
        <a:ext cx="1187185" cy="596489"/>
      </dsp:txXfrm>
    </dsp:sp>
    <dsp:sp modelId="{EA5AD6DE-AED9-423A-B74C-32A50B1A2F71}">
      <dsp:nvSpPr>
        <dsp:cNvPr id="0" name=""/>
        <dsp:cNvSpPr/>
      </dsp:nvSpPr>
      <dsp:spPr>
        <a:xfrm>
          <a:off x="3212618" y="1481727"/>
          <a:ext cx="1783674" cy="596489"/>
        </a:xfrm>
        <a:prstGeom prst="chevron">
          <a:avLst/>
        </a:prstGeom>
        <a:gradFill rotWithShape="1">
          <a:gsLst>
            <a:gs pos="0">
              <a:schemeClr val="accent1">
                <a:shade val="51000"/>
                <a:satMod val="130000"/>
              </a:schemeClr>
            </a:gs>
            <a:gs pos="80000">
              <a:schemeClr val="accent1">
                <a:shade val="93000"/>
                <a:satMod val="130000"/>
              </a:schemeClr>
            </a:gs>
            <a:gs pos="100000">
              <a:schemeClr val="accent1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1"/>
        </a:lnRef>
        <a:fillRef idx="3">
          <a:schemeClr val="accent1"/>
        </a:fillRef>
        <a:effectRef idx="3">
          <a:schemeClr val="accent1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Disponibilização de Produtos</a:t>
          </a:r>
          <a:endParaRPr lang="pt-BR" sz="1300" kern="1200" dirty="0"/>
        </a:p>
      </dsp:txBody>
      <dsp:txXfrm>
        <a:off x="3510863" y="1481727"/>
        <a:ext cx="1187185" cy="596489"/>
      </dsp:txXfrm>
    </dsp:sp>
    <dsp:sp modelId="{4F87A1D2-1CA1-4F23-BB26-B8F17A985C4F}">
      <dsp:nvSpPr>
        <dsp:cNvPr id="0" name=""/>
        <dsp:cNvSpPr/>
      </dsp:nvSpPr>
      <dsp:spPr>
        <a:xfrm>
          <a:off x="4817925" y="1474660"/>
          <a:ext cx="1783674" cy="610623"/>
        </a:xfrm>
        <a:prstGeom prst="chevron">
          <a:avLst/>
        </a:prstGeom>
        <a:gradFill rotWithShape="1">
          <a:gsLst>
            <a:gs pos="0">
              <a:schemeClr val="accent6">
                <a:shade val="51000"/>
                <a:satMod val="130000"/>
              </a:schemeClr>
            </a:gs>
            <a:gs pos="80000">
              <a:schemeClr val="accent6">
                <a:shade val="93000"/>
                <a:satMod val="130000"/>
              </a:schemeClr>
            </a:gs>
            <a:gs pos="100000">
              <a:schemeClr val="accent6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6"/>
        </a:lnRef>
        <a:fillRef idx="3">
          <a:schemeClr val="accent6"/>
        </a:fillRef>
        <a:effectRef idx="3">
          <a:schemeClr val="accent6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smtClean="0"/>
            <a:t>Separação</a:t>
          </a:r>
          <a:endParaRPr lang="pt-BR" sz="1300" kern="1200" dirty="0"/>
        </a:p>
      </dsp:txBody>
      <dsp:txXfrm>
        <a:off x="5123237" y="1474660"/>
        <a:ext cx="1173051" cy="610623"/>
      </dsp:txXfrm>
    </dsp:sp>
    <dsp:sp modelId="{ED16F0D0-1763-4147-8153-58C819D1BADD}">
      <dsp:nvSpPr>
        <dsp:cNvPr id="0" name=""/>
        <dsp:cNvSpPr/>
      </dsp:nvSpPr>
      <dsp:spPr>
        <a:xfrm>
          <a:off x="6423233" y="1481727"/>
          <a:ext cx="1783674" cy="596489"/>
        </a:xfrm>
        <a:prstGeom prst="chevron">
          <a:avLst/>
        </a:prstGeom>
        <a:gradFill rotWithShape="1">
          <a:gsLst>
            <a:gs pos="0">
              <a:schemeClr val="accent2">
                <a:shade val="51000"/>
                <a:satMod val="130000"/>
              </a:schemeClr>
            </a:gs>
            <a:gs pos="80000">
              <a:schemeClr val="accent2">
                <a:shade val="93000"/>
                <a:satMod val="130000"/>
              </a:schemeClr>
            </a:gs>
            <a:gs pos="100000">
              <a:schemeClr val="accent2"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hemeClr val="accent2"/>
        </a:lnRef>
        <a:fillRef idx="3">
          <a:schemeClr val="accent2"/>
        </a:fillRef>
        <a:effectRef idx="3">
          <a:schemeClr val="accent2"/>
        </a:effectRef>
        <a:fontRef idx="minor">
          <a:schemeClr val="lt1"/>
        </a:fontRef>
      </dsp:style>
      <dsp:txBody>
        <a:bodyPr spcFirstLastPara="0" vert="horz" wrap="square" lIns="52007" tIns="17336" rIns="17336" bIns="17336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/>
            <a:t>Faturamento</a:t>
          </a:r>
          <a:endParaRPr lang="pt-BR" sz="1300" kern="1200" dirty="0"/>
        </a:p>
      </dsp:txBody>
      <dsp:txXfrm>
        <a:off x="6721478" y="1481727"/>
        <a:ext cx="1187185" cy="59648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Process11">
  <dgm:title val=""/>
  <dgm:desc val=""/>
  <dgm:catLst>
    <dgm:cat type="process" pri="8000"/>
    <dgm:cat type="convert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1">
      <dgm:if name="Name2" func="var" arg="dir" op="equ" val="norm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l" for="ch" forName="arrow"/>
          <dgm:constr type="w" for="ch" forName="points" refType="w" fact="0.9"/>
          <dgm:constr type="h" for="ch" forName="points" refType="h"/>
          <dgm:constr type="t" for="ch" forName="points"/>
          <dgm:constr type="l" for="ch" forName="points"/>
        </dgm:constrLst>
      </dgm:if>
      <dgm:else name="Name3">
        <dgm:constrLst>
          <dgm:constr type="w" for="ch" forName="arrow" refType="w"/>
          <dgm:constr type="h" for="ch" forName="arrow" refType="h" fact="0.4"/>
          <dgm:constr type="ctrY" for="ch" forName="arrow" refType="h" fact="0.5"/>
          <dgm:constr type="r" for="ch" forName="arrow" refType="w"/>
          <dgm:constr type="w" for="ch" forName="points" refType="w" fact="0.9"/>
          <dgm:constr type="h" for="ch" forName="points" refType="h"/>
          <dgm:constr type="t" for="ch" forName="points"/>
          <dgm:constr type="r" for="ch" forName="points" refType="w"/>
        </dgm:constrLst>
      </dgm:else>
    </dgm:choose>
    <dgm:ruleLst/>
    <dgm:layoutNode name="arrow" styleLbl="bgShp">
      <dgm:alg type="sp"/>
      <dgm:choose name="Name4">
        <dgm:if name="Name5" func="var" arg="dir" op="equ" val="norm">
          <dgm:shape xmlns:r="http://schemas.openxmlformats.org/officeDocument/2006/relationships" type="notchedRightArrow" r:blip="">
            <dgm:adjLst/>
          </dgm:shape>
        </dgm:if>
        <dgm:else name="Name6">
          <dgm:shape xmlns:r="http://schemas.openxmlformats.org/officeDocument/2006/relationships" rot="180" type="notchedRightArrow" r:blip="">
            <dgm:adjLst/>
          </dgm:shape>
        </dgm:else>
      </dgm:choose>
      <dgm:presOf/>
      <dgm:constrLst/>
      <dgm:ruleLst/>
    </dgm:layoutNode>
    <dgm:layoutNode name="points">
      <dgm:choose name="Name7">
        <dgm:if name="Name8" func="var" arg="dir" op="equ" val="norm">
          <dgm:alg type="lin">
            <dgm:param type="linDir" val="fromL"/>
          </dgm:alg>
        </dgm:if>
        <dgm:else name="Name9">
          <dgm:alg type="lin">
            <dgm:param type="linDir" val="from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ositeA" refType="w"/>
        <dgm:constr type="h" for="ch" forName="compositeA" refType="h"/>
        <dgm:constr type="w" for="ch" forName="compositeB" refType="w" refFor="ch" refForName="compositeA" op="equ"/>
        <dgm:constr type="h" for="ch" forName="compositeB" refType="h" refFor="ch" refForName="compositeA" op="equ"/>
        <dgm:constr type="primFontSz" for="des" ptType="node" op="equ" val="65"/>
        <dgm:constr type="w" for="ch" forName="space" refType="w" refFor="ch" refForName="compositeA" op="equ" fact="0.05"/>
      </dgm:constrLst>
      <dgm:ruleLst/>
      <dgm:forEach name="Name10" axis="ch" ptType="node">
        <dgm:choose name="Name11">
          <dgm:if name="Name12" axis="self" ptType="node" func="posOdd" op="equ" val="1">
            <dgm:layoutNode name="compositeA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A" refType="w"/>
                <dgm:constr type="h" for="ch" forName="textA" refType="h" fact="0.4"/>
                <dgm:constr type="t" for="ch" forName="textA"/>
                <dgm:constr type="l" for="ch" forName="textA"/>
                <dgm:constr type="h" for="ch" forName="circleA" refType="h" fact="0.1"/>
                <dgm:constr type="h" for="ch" forName="circleA" refType="w" op="lte"/>
                <dgm:constr type="w" for="ch" forName="circleA" refType="h" refFor="ch" refForName="circleA" op="equ"/>
                <dgm:constr type="ctrY" for="ch" forName="circleA" refType="h" fact="0.5"/>
                <dgm:constr type="ctrX" for="ch" forName="circleA" refType="w" refFor="ch" refForName="textA" fact="0.5"/>
                <dgm:constr type="w" for="ch" forName="spaceA" refType="w"/>
                <dgm:constr type="h" for="ch" forName="spaceA" refType="h" fact="0.4"/>
                <dgm:constr type="b" for="ch" forName="spaceA" refType="h"/>
                <dgm:constr type="l" for="ch" forName="spaceA"/>
              </dgm:constrLst>
              <dgm:ruleLst/>
              <dgm:layoutNode name="textA" styleLbl="revTx">
                <dgm:varLst>
                  <dgm:bulletEnabled val="1"/>
                </dgm:varLst>
                <dgm:alg type="tx">
                  <dgm:param type="txAnchorVert" val="b"/>
                  <dgm:param type="txAnchorVertCh" val="b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A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A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if>
          <dgm:else name="Name13">
            <dgm:layoutNode name="compositeB">
              <dgm:alg type="composite"/>
              <dgm:shape xmlns:r="http://schemas.openxmlformats.org/officeDocument/2006/relationships" r:blip="">
                <dgm:adjLst/>
              </dgm:shape>
              <dgm:presOf/>
              <dgm:constrLst>
                <dgm:constr type="w" for="ch" forName="textB" refType="w"/>
                <dgm:constr type="h" for="ch" forName="textB" refType="h" fact="0.4"/>
                <dgm:constr type="b" for="ch" forName="textB" refType="h"/>
                <dgm:constr type="l" for="ch" forName="textB"/>
                <dgm:constr type="h" for="ch" forName="circleB" refType="h" fact="0.1"/>
                <dgm:constr type="w" for="ch" forName="circleB" refType="h" refFor="ch" refForName="circleB" op="equ"/>
                <dgm:constr type="h" for="ch" forName="circleB" refType="w" op="lte"/>
                <dgm:constr type="ctrY" for="ch" forName="circleB" refType="h" fact="0.5"/>
                <dgm:constr type="ctrX" for="ch" forName="circleB" refType="w" refFor="ch" refForName="textB" fact="0.5"/>
                <dgm:constr type="w" for="ch" forName="spaceB" refType="w"/>
                <dgm:constr type="h" for="ch" forName="spaceB" refType="h" fact="0.4"/>
                <dgm:constr type="t" for="ch" forName="spaceB"/>
                <dgm:constr type="l" for="ch" forName="spaceB"/>
              </dgm:constrLst>
              <dgm:ruleLst/>
              <dgm:layoutNode name="textB" styleLbl="revTx">
                <dgm:varLst>
                  <dgm:bulletEnabled val="1"/>
                </dgm:varLst>
                <dgm:alg type="tx">
                  <dgm:param type="txAnchorVert" val="t"/>
                  <dgm:param type="txAnchorVertCh" val="t"/>
                  <dgm:param type="txAnchorHorzCh" val="ctr"/>
                </dgm:alg>
                <dgm:shape xmlns:r="http://schemas.openxmlformats.org/officeDocument/2006/relationships" type="rect" r:blip="">
                  <dgm:adjLst/>
                </dgm:shape>
                <dgm:presOf axis="desOrSelf" ptType="node"/>
                <dgm:constrLst/>
                <dgm:ruleLst>
                  <dgm:rule type="primFontSz" val="5" fact="NaN" max="NaN"/>
                </dgm:ruleLst>
              </dgm:layoutNode>
              <dgm:layoutNode name="circleB">
                <dgm:alg type="sp"/>
                <dgm:shape xmlns:r="http://schemas.openxmlformats.org/officeDocument/2006/relationships" type="ellipse" r:blip="">
                  <dgm:adjLst/>
                </dgm:shape>
                <dgm:presOf/>
                <dgm:constrLst/>
                <dgm:ruleLst/>
              </dgm:layoutNode>
              <dgm:layoutNode name="spaceB">
                <dgm:alg type="sp"/>
                <dgm:shape xmlns:r="http://schemas.openxmlformats.org/officeDocument/2006/relationships" r:blip="">
                  <dgm:adjLst/>
                </dgm:shape>
                <dgm:presOf/>
                <dgm:constrLst/>
                <dgm:ruleLst/>
              </dgm:layoutNode>
            </dgm:layoutNode>
          </dgm:else>
        </dgm:choose>
        <dgm:forEach name="Name14" axis="followSib" ptType="sibTrans" cnt="1">
          <dgm:layoutNode name="space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forEach>
      </dgm:forEach>
    </dgm:layoutNod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chevron1">
  <dgm:title val=""/>
  <dgm:desc val=""/>
  <dgm:catLst>
    <dgm:cat type="process" pri="9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des" func="maxDepth" op="gte" val="2">
        <dgm:constrLst>
          <dgm:constr type="h" for="ch" forName="composite" refType="h"/>
          <dgm:constr type="w" for="ch" forName="composite" refType="w"/>
          <dgm:constr type="w" for="des" forName="parTx"/>
          <dgm:constr type="h" for="des" forName="parTx" op="equ"/>
          <dgm:constr type="w" for="des" forName="desTx"/>
          <dgm:constr type="h" for="des" forName="desTx" op="equ"/>
          <dgm:constr type="primFontSz" for="des" forName="parTx" val="65"/>
          <dgm:constr type="secFontSz" for="des" forName="desTx" refType="primFontSz" refFor="des" refForName="parTx" op="equ"/>
          <dgm:constr type="h" for="des" forName="parTx" refType="primFontSz" refFor="des" refForName="parTx" fact="1.5"/>
          <dgm:constr type="h" for="des" forName="desTx" refType="primFontSz" refFor="des" refForName="parTx" fact="0.5"/>
          <dgm:constr type="w" for="ch" forName="space" op="equ" val="-6"/>
        </dgm:constrLst>
        <dgm:ruleLst>
          <dgm:rule type="w" for="ch" forName="composite" val="0" fact="NaN" max="NaN"/>
          <dgm:rule type="primFontSz" for="des" forName="parTx" val="5" fact="NaN" max="NaN"/>
        </dgm:ruleLst>
        <dgm:forEach name="Name6" axis="ch" ptType="node"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hoose name="Name7">
              <dgm:if name="Name8" func="var" arg="dir" op="equ" val="norm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if>
              <dgm:else name="Name9">
                <dgm:constrLst>
                  <dgm:constr type="l" for="ch" forName="parTx"/>
                  <dgm:constr type="w" for="ch" forName="parTx" refType="w"/>
                  <dgm:constr type="t" for="ch" forName="parTx"/>
                  <dgm:constr type="l" for="ch" forName="desTx" refType="w" fact="0.2"/>
                  <dgm:constr type="w" for="ch" forName="desTx" refType="w" refFor="ch" refForName="parTx" fact="0.8"/>
                  <dgm:constr type="t" for="ch" forName="desTx" refType="h" refFor="ch" refForName="parTx" fact="1.125"/>
                </dgm:constrLst>
              </dgm:else>
            </dgm:choose>
            <dgm:ruleLst>
              <dgm:rule type="h" val="INF" fact="NaN" max="NaN"/>
            </dgm:ruleLst>
            <dgm:layoutNode name="parTx">
              <dgm:varLst>
                <dgm:chMax val="0"/>
                <dgm:chPref val="0"/>
                <dgm:bulletEnabled val="1"/>
              </dgm:varLst>
              <dgm:alg type="tx"/>
              <dgm:choose name="Name10">
                <dgm:if name="Name11" func="var" arg="dir" op="equ" val="norm">
                  <dgm:shape xmlns:r="http://schemas.openxmlformats.org/officeDocument/2006/relationships" type="chevron" r:blip="">
                    <dgm:adjLst/>
                  </dgm:shape>
                </dgm:if>
                <dgm:else name="Name12">
                  <dgm:shape xmlns:r="http://schemas.openxmlformats.org/officeDocument/2006/relationships" rot="180" type="chevron" r:blip="">
                    <dgm:adjLst/>
                  </dgm:shape>
                </dgm:else>
              </dgm:choose>
              <dgm:presOf axis="self" ptType="node"/>
              <dgm:choose name="Name13">
                <dgm:if name="Name14" func="var" arg="dir" op="equ" val="norm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315"/>
                    <dgm:constr type="rMarg" refType="primFontSz" fact="0.105"/>
                  </dgm:constrLst>
                </dgm:if>
                <dgm:else name="Name15">
                  <dgm:constrLst>
                    <dgm:constr type="h" refType="w" op="lte" fact="0.4"/>
                    <dgm:constr type="h"/>
                    <dgm:constr type="tMarg" refType="primFontSz" fact="0.105"/>
                    <dgm:constr type="bMarg" refType="primFontSz" fact="0.105"/>
                    <dgm:constr type="lMarg" refType="primFontSz" fact="0.105"/>
                    <dgm:constr type="rMarg" refType="primFontSz" fact="0.315"/>
                  </dgm:constrLst>
                </dgm:else>
              </dgm:choose>
              <dgm:ruleLst>
                <dgm:rule type="h" val="INF" fact="NaN" max="NaN"/>
              </dgm:ruleLst>
            </dgm:layoutNode>
            <dgm:layoutNode name="desTx" styleLbl="revTx">
              <dgm:varLst>
                <dgm:bulletEnabled val="1"/>
              </dgm:varLst>
              <dgm:alg type="tx">
                <dgm:param type="stBulletLvl" val="1"/>
              </dgm:alg>
              <dgm:choose name="Name16">
                <dgm:if name="Name17" axis="ch" ptType="node" func="cnt" op="gte" val="1">
                  <dgm:shape xmlns:r="http://schemas.openxmlformats.org/officeDocument/2006/relationships" type="rect" r:blip="">
                    <dgm:adjLst/>
                  </dgm:shape>
                </dgm:if>
                <dgm:else name="Name18">
                  <dgm:shape xmlns:r="http://schemas.openxmlformats.org/officeDocument/2006/relationships" type="rect" r:blip="" hideGeom="1">
                    <dgm:adjLst/>
                  </dgm:shape>
                </dgm:else>
              </dgm:choose>
              <dgm:presOf axis="des" ptType="node"/>
              <dgm:constrLst>
                <dgm:constr type="secFontSz" val="65"/>
                <dgm:constr type="primFontSz" refType="secFontSz"/>
                <dgm:constr type="h"/>
                <dgm:constr type="tMarg"/>
                <dgm:constr type="bMarg"/>
                <dgm:constr type="rMarg"/>
                <dgm:constr type="lMarg"/>
              </dgm:constrLst>
              <dgm:ruleLst>
                <dgm:rule type="h" val="INF" fact="NaN" max="NaN"/>
              </dgm:ruleLst>
            </dgm:layoutNode>
          </dgm:layoutNode>
          <dgm:forEach name="Name19" axis="followSib" ptType="sibTrans" cnt="1">
            <dgm:layoutNode name="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if>
      <dgm:else name="Name20">
        <dgm:constrLst>
          <dgm:constr type="w" for="ch" forName="parTxOnly" refType="w"/>
          <dgm:constr type="h" for="des" forName="parTxOnly" op="equ"/>
          <dgm:constr type="primFontSz" for="des" forName="parTxOnly" op="equ" val="65"/>
          <dgm:constr type="w" for="ch" forName="parTxOnlySpace" refType="w" refFor="ch" refForName="parTxOnly" fact="-0.1"/>
        </dgm:constrLst>
        <dgm:ruleLst/>
        <dgm:forEach name="Name21" axis="ch" ptType="node">
          <dgm:layoutNode name="parTxOnly">
            <dgm:varLst>
              <dgm:chMax val="0"/>
              <dgm:chPref val="0"/>
              <dgm:bulletEnabled val="1"/>
            </dgm:varLst>
            <dgm:alg type="tx"/>
            <dgm:choose name="Name22">
              <dgm:if name="Name23" func="var" arg="dir" op="equ" val="norm">
                <dgm:shape xmlns:r="http://schemas.openxmlformats.org/officeDocument/2006/relationships" type="chevron" r:blip="">
                  <dgm:adjLst/>
                </dgm:shape>
              </dgm:if>
              <dgm:else name="Name24">
                <dgm:shape xmlns:r="http://schemas.openxmlformats.org/officeDocument/2006/relationships" rot="180" type="chevron" r:blip="">
                  <dgm:adjLst/>
                </dgm:shape>
              </dgm:else>
            </dgm:choose>
            <dgm:presOf axis="self" ptType="node"/>
            <dgm:choose name="Name25">
              <dgm:if name="Name26" func="var" arg="dir" op="equ" val="norm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315"/>
                  <dgm:constr type="rMarg" refType="primFontSz" fact="0.105"/>
                </dgm:constrLst>
              </dgm:if>
              <dgm:else name="Name27">
                <dgm:constrLst>
                  <dgm:constr type="h" refType="w" op="equ" fact="0.4"/>
                  <dgm:constr type="tMarg" refType="primFontSz" fact="0.105"/>
                  <dgm:constr type="bMarg" refType="primFontSz" fact="0.105"/>
                  <dgm:constr type="lMarg" refType="primFontSz" fact="0.105"/>
                  <dgm:constr type="rMarg" refType="primFontSz" fact="0.315"/>
                </dgm:constrLst>
              </dgm:else>
            </dgm:choose>
            <dgm:ruleLst>
              <dgm:rule type="primFontSz" val="5" fact="NaN" max="NaN"/>
            </dgm:ruleLst>
          </dgm:layoutNode>
          <dgm:forEach name="Name28" axis="followSib" ptType="sibTrans" cnt="1">
            <dgm:layoutNode name="parTxOnlySpace">
              <dgm:alg type="sp"/>
              <dgm:shape xmlns:r="http://schemas.openxmlformats.org/officeDocument/2006/relationships" r:blip="">
                <dgm:adjLst/>
              </dgm:shape>
              <dgm:presOf/>
              <dgm:constrLst/>
              <dgm:ruleLst/>
            </dgm:layoutNode>
          </dgm:forEach>
        </dgm:forEach>
      </dgm:else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D735271-3A07-4704-8BFA-4155130747F9}" type="datetimeFigureOut">
              <a:rPr lang="pt-BR" smtClean="0"/>
              <a:t>10/06/2015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96345B2-DCA9-43EC-B83C-C037F76C940E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226916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8473830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Inserir as volumetrias, análise de quantidade de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Ics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por severidade,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app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etc.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Inserir as volumetrias, análise de quantidade de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Ics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por severidade,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app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etc.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Inserir as volumetrias, análise de quantidade de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Ics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por severidade,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app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etc.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Inserir as volumetrias, análise de quantidade de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Ics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por severidade, </a:t>
            </a:r>
            <a:r>
              <a:rPr lang="pt-BR" sz="1200" b="1" dirty="0" err="1" smtClean="0">
                <a:solidFill>
                  <a:srgbClr val="FF0000"/>
                </a:solidFill>
                <a:latin typeface="Gill Sans Std" pitchFamily="34" charset="0"/>
              </a:rPr>
              <a:t>app</a:t>
            </a:r>
            <a:r>
              <a:rPr lang="pt-BR" sz="1200" b="1" dirty="0" smtClean="0">
                <a:solidFill>
                  <a:srgbClr val="FF0000"/>
                </a:solidFill>
                <a:latin typeface="Gill Sans Std" pitchFamily="34" charset="0"/>
              </a:rPr>
              <a:t> etc.</a:t>
            </a:r>
          </a:p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79413" y="684213"/>
            <a:ext cx="6099175" cy="34305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BA9293-5130-4489-A93D-B23970105E72}" type="slidenum">
              <a:rPr lang="en-US" smtClean="0">
                <a:solidFill>
                  <a:prstClr val="black"/>
                </a:solidFill>
              </a:rPr>
              <a:pPr/>
              <a:t>9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1768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>
          <a:xfrm>
            <a:off x="379413" y="684213"/>
            <a:ext cx="6099175" cy="3430587"/>
          </a:xfrm>
        </p:spPr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BBA9293-5130-4489-A93D-B23970105E72}" type="slidenum">
              <a:rPr lang="en-US" smtClean="0">
                <a:solidFill>
                  <a:prstClr val="black"/>
                </a:solidFill>
              </a:rPr>
              <a:pPr/>
              <a:t>10</a:t>
            </a:fld>
            <a:endParaRPr lang="en-US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417687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96345B2-DCA9-43EC-B83C-C037F76C940E}" type="slidenum">
              <a:rPr lang="pt-BR" smtClean="0"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120158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.emf"/><Relationship Id="rId3" Type="http://schemas.openxmlformats.org/officeDocument/2006/relationships/tags" Target="../tags/tag2.xml"/><Relationship Id="rId7" Type="http://schemas.openxmlformats.org/officeDocument/2006/relationships/oleObject" Target="../embeddings/oleObject1.bin"/><Relationship Id="rId2" Type="http://schemas.openxmlformats.org/officeDocument/2006/relationships/tags" Target="../tags/tag1.xml"/><Relationship Id="rId1" Type="http://schemas.openxmlformats.org/officeDocument/2006/relationships/vmlDrawing" Target="../drawings/vmlDrawing1.vml"/><Relationship Id="rId6" Type="http://schemas.openxmlformats.org/officeDocument/2006/relationships/slideMaster" Target="../slideMasters/slideMaster3.xml"/><Relationship Id="rId5" Type="http://schemas.openxmlformats.org/officeDocument/2006/relationships/tags" Target="../tags/tag4.xml"/><Relationship Id="rId10" Type="http://schemas.openxmlformats.org/officeDocument/2006/relationships/image" Target="../media/image3.png"/><Relationship Id="rId4" Type="http://schemas.openxmlformats.org/officeDocument/2006/relationships/tags" Target="../tags/tag3.xml"/><Relationship Id="rId9" Type="http://schemas.openxmlformats.org/officeDocument/2006/relationships/image" Target="../media/image2.jpeg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2.bin"/><Relationship Id="rId3" Type="http://schemas.openxmlformats.org/officeDocument/2006/relationships/tags" Target="../tags/tag6.xml"/><Relationship Id="rId7" Type="http://schemas.openxmlformats.org/officeDocument/2006/relationships/slideMaster" Target="../slideMasters/slideMaster3.xml"/><Relationship Id="rId2" Type="http://schemas.openxmlformats.org/officeDocument/2006/relationships/tags" Target="../tags/tag5.xml"/><Relationship Id="rId1" Type="http://schemas.openxmlformats.org/officeDocument/2006/relationships/vmlDrawing" Target="../drawings/vmlDrawing2.vml"/><Relationship Id="rId6" Type="http://schemas.openxmlformats.org/officeDocument/2006/relationships/tags" Target="../tags/tag9.xml"/><Relationship Id="rId5" Type="http://schemas.openxmlformats.org/officeDocument/2006/relationships/tags" Target="../tags/tag8.xml"/><Relationship Id="rId10" Type="http://schemas.openxmlformats.org/officeDocument/2006/relationships/image" Target="../media/image4.png"/><Relationship Id="rId4" Type="http://schemas.openxmlformats.org/officeDocument/2006/relationships/tags" Target="../tags/tag7.xml"/><Relationship Id="rId9" Type="http://schemas.openxmlformats.org/officeDocument/2006/relationships/image" Target="../media/image1.emf"/></Relationships>
</file>

<file path=ppt/slideLayouts/_rels/slideLayout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tags" Target="../tags/tag11.xml"/><Relationship Id="rId2" Type="http://schemas.openxmlformats.org/officeDocument/2006/relationships/tags" Target="../tags/tag10.xml"/><Relationship Id="rId1" Type="http://schemas.openxmlformats.org/officeDocument/2006/relationships/vmlDrawing" Target="../drawings/vmlDrawing3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3.bin"/><Relationship Id="rId4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tags" Target="../tags/tag13.xml"/><Relationship Id="rId2" Type="http://schemas.openxmlformats.org/officeDocument/2006/relationships/tags" Target="../tags/tag12.xml"/><Relationship Id="rId1" Type="http://schemas.openxmlformats.org/officeDocument/2006/relationships/vmlDrawing" Target="../drawings/vmlDrawing4.vml"/><Relationship Id="rId6" Type="http://schemas.openxmlformats.org/officeDocument/2006/relationships/image" Target="../media/image1.emf"/><Relationship Id="rId5" Type="http://schemas.openxmlformats.org/officeDocument/2006/relationships/oleObject" Target="../embeddings/oleObject4.bin"/><Relationship Id="rId4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2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742364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431644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5110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222621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32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32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702031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8126107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073871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9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882327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6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285900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05237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142648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7861617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28961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896452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762184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4645028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4645028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66339980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7856461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8301217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57203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457203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872238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0207619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90155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031940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2082017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4" y="4"/>
          <a:ext cx="111622" cy="8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97" name="think-cell Slide" r:id="rId7" imgW="270" imgH="270" progId="TCLayout.ActiveDocument.1">
                  <p:embed/>
                </p:oleObj>
              </mc:Choice>
              <mc:Fallback>
                <p:oleObj name="think-cell Slide" r:id="rId7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8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4"/>
                        <a:ext cx="111622" cy="837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pic>
        <p:nvPicPr>
          <p:cNvPr id="5" name="Picture 1" descr="DanielPinheiro_JB_0080.jpg"/>
          <p:cNvPicPr>
            <a:picLocks noChangeAspect="1"/>
          </p:cNvPicPr>
          <p:nvPr userDrawn="1">
            <p:custDataLst>
              <p:tags r:id="rId3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Rectangle 3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8" descr="NAT_marca_branca_natura-01.png"/>
          <p:cNvPicPr>
            <a:picLocks noChangeAspect="1"/>
          </p:cNvPicPr>
          <p:nvPr userDrawn="1">
            <p:custDataLst>
              <p:tags r:id="rId5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itle 13"/>
          <p:cNvSpPr>
            <a:spLocks noGrp="1"/>
          </p:cNvSpPr>
          <p:nvPr>
            <p:ph type="title"/>
          </p:nvPr>
        </p:nvSpPr>
        <p:spPr>
          <a:xfrm>
            <a:off x="535785" y="635131"/>
            <a:ext cx="8228708" cy="1936622"/>
          </a:xfrm>
          <a:prstGeom prst="rect">
            <a:avLst/>
          </a:prstGeom>
        </p:spPr>
        <p:txBody>
          <a:bodyPr lIns="57302" tIns="28650" rIns="57302" bIns="28650"/>
          <a:lstStyle>
            <a:lvl1pPr algn="l">
              <a:defRPr lang="en-US" sz="6000" kern="12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7" name="Text Placeholder 16"/>
          <p:cNvSpPr>
            <a:spLocks noGrp="1"/>
          </p:cNvSpPr>
          <p:nvPr>
            <p:ph type="body" sz="quarter" idx="10"/>
          </p:nvPr>
        </p:nvSpPr>
        <p:spPr>
          <a:xfrm>
            <a:off x="522390" y="2849694"/>
            <a:ext cx="8238753" cy="433648"/>
          </a:xfrm>
          <a:prstGeom prst="rect">
            <a:avLst/>
          </a:prstGeom>
        </p:spPr>
        <p:txBody>
          <a:bodyPr lIns="57302" tIns="28650" rIns="57302" bIns="28650">
            <a:normAutofit/>
          </a:bodyPr>
          <a:lstStyle>
            <a:lvl1pPr marL="0" indent="0" algn="l" rtl="0" fontAlgn="base">
              <a:spcBef>
                <a:spcPct val="0"/>
              </a:spcBef>
              <a:spcAft>
                <a:spcPct val="0"/>
              </a:spcAft>
              <a:buNone/>
              <a:defRPr lang="en-US" sz="1500" kern="1200" dirty="0" smtClean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6453585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6" hidden="1"/>
          <p:cNvGraphicFramePr>
            <a:graphicFrameLocks noChangeAspect="1"/>
          </p:cNvGraphicFramePr>
          <p:nvPr userDrawn="1">
            <p:custDataLst>
              <p:tags r:id="rId2"/>
            </p:custDataLst>
          </p:nvPr>
        </p:nvGraphicFramePr>
        <p:xfrm>
          <a:off x="4" y="4"/>
          <a:ext cx="111622" cy="8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121" name="think-cell Slide" r:id="rId8" imgW="270" imgH="270" progId="TCLayout.ActiveDocument.1">
                  <p:embed/>
                </p:oleObj>
              </mc:Choice>
              <mc:Fallback>
                <p:oleObj name="think-cell Slide" r:id="rId8" imgW="270" imgH="270" progId="TCLayout.ActiveDocument.1">
                  <p:embed/>
                  <p:pic>
                    <p:nvPicPr>
                      <p:cNvPr id="0" name="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9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4"/>
                        <a:ext cx="111622" cy="837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2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1" y="214313"/>
            <a:ext cx="6000751" cy="4714875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15"/>
          <p:cNvSpPr>
            <a:spLocks/>
          </p:cNvSpPr>
          <p:nvPr userDrawn="1">
            <p:custDataLst>
              <p:tags r:id="rId4"/>
            </p:custDataLst>
          </p:nvPr>
        </p:nvSpPr>
        <p:spPr bwMode="auto">
          <a:xfrm>
            <a:off x="500068" y="421938"/>
            <a:ext cx="5402461" cy="40853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22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agenda</a:t>
            </a:r>
          </a:p>
        </p:txBody>
      </p:sp>
      <p:sp>
        <p:nvSpPr>
          <p:cNvPr id="6" name="Rectangle 3"/>
          <p:cNvSpPr>
            <a:spLocks/>
          </p:cNvSpPr>
          <p:nvPr userDrawn="1">
            <p:custDataLst>
              <p:tags r:id="rId5"/>
            </p:custDataLst>
          </p:nvPr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5" descr="NAT_marca_oficial_natura.png"/>
          <p:cNvPicPr>
            <a:picLocks noChangeAspect="1"/>
          </p:cNvPicPr>
          <p:nvPr userDrawn="1">
            <p:custDataLst>
              <p:tags r:id="rId6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530351" y="1687715"/>
            <a:ext cx="2510691" cy="388442"/>
          </a:xfrm>
          <a:prstGeom prst="rect">
            <a:avLst/>
          </a:prstGeom>
        </p:spPr>
        <p:txBody>
          <a:bodyPr lIns="57302" tIns="28650" rIns="57302" bIns="28650"/>
          <a:lstStyle>
            <a:lvl1pPr algn="l">
              <a:defRPr lang="en-US" sz="1500" kern="1200" dirty="0" smtClean="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26882084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302" tIns="28650" rIns="57302" bIns="2865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6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57653" y="1684965"/>
            <a:ext cx="6516439" cy="8572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501" bIns="0" anchor="t"/>
          <a:lstStyle>
            <a:lvl1pPr algn="l">
              <a:defRPr lang="pt-BR" sz="620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52997043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4" y="4"/>
          <a:ext cx="111622" cy="8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45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4"/>
                        <a:ext cx="111622" cy="837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0" y="407706"/>
            <a:ext cx="8809136" cy="4100401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31" y="468359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81097135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1" y="468359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7240471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1" hidden="1"/>
          <p:cNvGraphicFramePr>
            <a:graphicFrameLocks/>
          </p:cNvGraphicFramePr>
          <p:nvPr userDrawn="1">
            <p:custDataLst>
              <p:tags r:id="rId2"/>
            </p:custDataLst>
          </p:nvPr>
        </p:nvGraphicFramePr>
        <p:xfrm>
          <a:off x="4" y="4"/>
          <a:ext cx="111622" cy="8371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69" name="think-cell Slide" r:id="rId5" imgW="270" imgH="270" progId="TCLayout.ActiveDocument.1">
                  <p:embed/>
                </p:oleObj>
              </mc:Choice>
              <mc:Fallback>
                <p:oleObj name="think-cell Slide" r:id="rId5" imgW="270" imgH="270" progId="TCLayout.ActiveDocument.1">
                  <p:embed/>
                  <p:pic>
                    <p:nvPicPr>
                      <p:cNvPr id="0" name=""/>
                      <p:cNvPicPr>
                        <a:picLocks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4" y="4"/>
                        <a:ext cx="111622" cy="8371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Rectangle 4"/>
          <p:cNvSpPr>
            <a:spLocks/>
          </p:cNvSpPr>
          <p:nvPr userDrawn="1">
            <p:custDataLst>
              <p:tags r:id="rId3"/>
            </p:custDataLst>
          </p:nvPr>
        </p:nvSpPr>
        <p:spPr bwMode="auto">
          <a:xfrm>
            <a:off x="167440" y="407699"/>
            <a:ext cx="8809136" cy="4594324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319028" y="468359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6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6976505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28" y="468359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413962646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535787" y="421935"/>
            <a:ext cx="5402461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4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87" y="719119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8" y="1664280"/>
            <a:ext cx="7175004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7439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4" y="1271646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6501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523654429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3"/>
          <p:cNvSpPr>
            <a:spLocks/>
          </p:cNvSpPr>
          <p:nvPr userDrawn="1"/>
        </p:nvSpPr>
        <p:spPr bwMode="auto">
          <a:xfrm>
            <a:off x="46886" y="5027140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sp>
        <p:nvSpPr>
          <p:cNvPr id="5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8F993E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311" tIns="28655" rIns="57311" bIns="28655"/>
          <a:lstStyle/>
          <a:p>
            <a:pPr algn="ctr" defTabSz="514209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5"/>
          <p:cNvSpPr>
            <a:spLocks/>
          </p:cNvSpPr>
          <p:nvPr userDrawn="1"/>
        </p:nvSpPr>
        <p:spPr bwMode="auto">
          <a:xfrm>
            <a:off x="500068" y="4671345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prstClr val="whit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0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35787" y="421938"/>
            <a:ext cx="5402461" cy="408533"/>
          </a:xfrm>
          <a:prstGeom prst="rect">
            <a:avLst/>
          </a:prstGeom>
        </p:spPr>
        <p:txBody>
          <a:bodyPr lIns="57311" tIns="28655" rIns="57311" bIns="28655"/>
          <a:lstStyle>
            <a:lvl1pPr algn="l" rtl="0" fontAlgn="base">
              <a:spcBef>
                <a:spcPct val="0"/>
              </a:spcBef>
              <a:spcAft>
                <a:spcPct val="0"/>
              </a:spcAft>
              <a:defRPr lang="pt-BR" sz="2200" kern="1200" dirty="0">
                <a:solidFill>
                  <a:srgbClr val="FFFFFF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r>
              <a:rPr lang="en-US" dirty="0" smtClean="0"/>
              <a:t>Click to edit Master title style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7807493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3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75787A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13" name="Picture 17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10"/>
          <p:cNvSpPr>
            <a:spLocks noGrp="1"/>
          </p:cNvSpPr>
          <p:nvPr>
            <p:ph type="title"/>
          </p:nvPr>
        </p:nvSpPr>
        <p:spPr>
          <a:xfrm>
            <a:off x="535787" y="421935"/>
            <a:ext cx="5402461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8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87" y="719119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rgbClr val="4E5B3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9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5" y="1670142"/>
            <a:ext cx="4947571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7439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0" name="Text Placeholder 17"/>
          <p:cNvSpPr>
            <a:spLocks noGrp="1"/>
          </p:cNvSpPr>
          <p:nvPr>
            <p:ph type="body" sz="quarter" idx="12"/>
          </p:nvPr>
        </p:nvSpPr>
        <p:spPr>
          <a:xfrm>
            <a:off x="535784" y="1271646"/>
            <a:ext cx="2518172" cy="38844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5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sym typeface="GillSans" pitchFamily="34" charset="0"/>
              </a:defRPr>
            </a:lvl1pPr>
            <a:lvl2pPr marL="286501" indent="0">
              <a:buNone/>
              <a:defRPr/>
            </a:lvl2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12" name="Text Placeholder 11"/>
          <p:cNvSpPr>
            <a:spLocks noGrp="1"/>
          </p:cNvSpPr>
          <p:nvPr>
            <p:ph type="body" sz="quarter" idx="13"/>
          </p:nvPr>
        </p:nvSpPr>
        <p:spPr>
          <a:xfrm>
            <a:off x="5888398" y="1670142"/>
            <a:ext cx="2683372" cy="2312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</a:defRPr>
            </a:lvl1pPr>
            <a:lvl2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23701909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6" y="214317"/>
            <a:ext cx="5679282" cy="4728269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6" name="Rectangle 2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7" name="Picture 3" descr="NAT_marca_oficial_natura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" name="Title 12"/>
          <p:cNvSpPr>
            <a:spLocks noGrp="1"/>
          </p:cNvSpPr>
          <p:nvPr>
            <p:ph type="title"/>
          </p:nvPr>
        </p:nvSpPr>
        <p:spPr>
          <a:xfrm>
            <a:off x="534666" y="196899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501" bIns="0"/>
          <a:lstStyle>
            <a:lvl1pPr>
              <a:defRPr lang="pt-BR" sz="6200" dirty="0">
                <a:solidFill>
                  <a:srgbClr val="8F993E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8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191" y="2223500"/>
            <a:ext cx="2705695" cy="354955"/>
          </a:xfrm>
          <a:prstGeom prst="rect">
            <a:avLst/>
          </a:prstGeom>
        </p:spPr>
        <p:txBody>
          <a:bodyPr lIns="57302" tIns="28650" rIns="57302" bIns="28650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2836" algn="l"/>
                <a:tab pos="445671" algn="l"/>
                <a:tab pos="668509" algn="l"/>
                <a:tab pos="891344" algn="l"/>
                <a:tab pos="1114181" algn="l"/>
                <a:tab pos="1337018" algn="l"/>
                <a:tab pos="1559852" algn="l"/>
                <a:tab pos="1782688" algn="l"/>
                <a:tab pos="2005523" algn="l"/>
                <a:tab pos="2228359" algn="l"/>
                <a:tab pos="2451194" algn="l"/>
                <a:tab pos="2674030" algn="l"/>
                <a:tab pos="2865033" algn="l"/>
              </a:tabLst>
              <a:defRPr lang="pt-BR" sz="1300" kern="1200" dirty="0">
                <a:solidFill>
                  <a:srgbClr val="4E5B31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20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191" y="2589635"/>
            <a:ext cx="2705695" cy="1101701"/>
          </a:xfrm>
          <a:prstGeom prst="rect">
            <a:avLst/>
          </a:prstGeom>
        </p:spPr>
        <p:txBody>
          <a:bodyPr lIns="57302" tIns="28650" rIns="57302" bIns="28650"/>
          <a:lstStyle>
            <a:lvl1pPr marL="0" indent="0">
              <a:buNone/>
              <a:defRPr lang="pt-BR" sz="13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80895713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1"/>
          <p:cNvSpPr>
            <a:spLocks/>
          </p:cNvSpPr>
          <p:nvPr userDrawn="1"/>
        </p:nvSpPr>
        <p:spPr bwMode="auto">
          <a:xfrm>
            <a:off x="-35716" y="214317"/>
            <a:ext cx="5679282" cy="4728269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pic>
        <p:nvPicPr>
          <p:cNvPr id="6" name="Picture 2"/>
          <p:cNvPicPr>
            <a:picLocks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2411" y="4252766"/>
            <a:ext cx="714375" cy="490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10" descr="NAT_marca_oficial_natura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Title 12"/>
          <p:cNvSpPr>
            <a:spLocks noGrp="1"/>
          </p:cNvSpPr>
          <p:nvPr>
            <p:ph type="title"/>
          </p:nvPr>
        </p:nvSpPr>
        <p:spPr>
          <a:xfrm>
            <a:off x="534666" y="1968997"/>
            <a:ext cx="4138911" cy="1285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86501" bIns="0"/>
          <a:lstStyle>
            <a:lvl1pPr algn="l" rtl="0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  <a:defRPr lang="pt-BR" sz="6200" kern="1200" dirty="0">
                <a:solidFill>
                  <a:srgbClr val="FFFFFF"/>
                </a:solidFill>
                <a:latin typeface="Gill Sans Std ExtraBol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dirty="0" smtClean="0"/>
              <a:t>Click to edit Master title style</a:t>
            </a:r>
            <a:endParaRPr lang="pt-BR" dirty="0"/>
          </a:p>
        </p:txBody>
      </p:sp>
      <p:sp>
        <p:nvSpPr>
          <p:cNvPr id="16" name="Text Placeholder 17"/>
          <p:cNvSpPr>
            <a:spLocks noGrp="1"/>
          </p:cNvSpPr>
          <p:nvPr>
            <p:ph type="body" sz="quarter" idx="10"/>
          </p:nvPr>
        </p:nvSpPr>
        <p:spPr>
          <a:xfrm>
            <a:off x="6072191" y="2223500"/>
            <a:ext cx="2705695" cy="354955"/>
          </a:xfrm>
          <a:prstGeom prst="rect">
            <a:avLst/>
          </a:prstGeom>
        </p:spPr>
        <p:txBody>
          <a:bodyPr lIns="57302" tIns="28650" rIns="57302" bIns="28650"/>
          <a:lstStyle>
            <a:lvl1pPr marL="0" indent="0" algn="l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None/>
              <a:tabLst>
                <a:tab pos="222836" algn="l"/>
                <a:tab pos="445671" algn="l"/>
                <a:tab pos="668509" algn="l"/>
                <a:tab pos="891344" algn="l"/>
                <a:tab pos="1114181" algn="l"/>
                <a:tab pos="1337018" algn="l"/>
                <a:tab pos="1559852" algn="l"/>
                <a:tab pos="1782688" algn="l"/>
                <a:tab pos="2005523" algn="l"/>
                <a:tab pos="2228359" algn="l"/>
                <a:tab pos="2451194" algn="l"/>
                <a:tab pos="2674030" algn="l"/>
                <a:tab pos="2865033" algn="l"/>
              </a:tabLst>
              <a:defRPr lang="pt-BR" sz="1300" kern="1200" dirty="0">
                <a:solidFill>
                  <a:srgbClr val="4E3629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  <p:sp>
        <p:nvSpPr>
          <p:cNvPr id="17" name="Text Placeholder 19"/>
          <p:cNvSpPr>
            <a:spLocks noGrp="1"/>
          </p:cNvSpPr>
          <p:nvPr>
            <p:ph type="body" sz="quarter" idx="11"/>
          </p:nvPr>
        </p:nvSpPr>
        <p:spPr>
          <a:xfrm>
            <a:off x="6072191" y="2589635"/>
            <a:ext cx="2705695" cy="1101701"/>
          </a:xfrm>
          <a:prstGeom prst="rect">
            <a:avLst/>
          </a:prstGeom>
        </p:spPr>
        <p:txBody>
          <a:bodyPr lIns="57302" tIns="28650" rIns="57302" bIns="28650"/>
          <a:lstStyle>
            <a:lvl1pPr marL="0" indent="0">
              <a:buNone/>
              <a:defRPr lang="pt-BR" sz="1300" kern="1200" dirty="0">
                <a:solidFill>
                  <a:srgbClr val="75787A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56051892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1" descr="COMPOSICOES.jpg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Rectangle 2"/>
          <p:cNvSpPr>
            <a:spLocks/>
          </p:cNvSpPr>
          <p:nvPr userDrawn="1"/>
        </p:nvSpPr>
        <p:spPr bwMode="auto">
          <a:xfrm>
            <a:off x="3143261" y="214313"/>
            <a:ext cx="6000751" cy="4714875"/>
          </a:xfrm>
          <a:prstGeom prst="rect">
            <a:avLst/>
          </a:prstGeom>
          <a:solidFill>
            <a:srgbClr val="4E5B31">
              <a:alpha val="79999"/>
            </a:srgb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D9D9D6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6" name="Picture 7" descr="NAT_marca_branca_natura-01.png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3429011" y="1024686"/>
            <a:ext cx="5572125" cy="3368725"/>
          </a:xfrm>
          <a:prstGeom prst="rect">
            <a:avLst/>
          </a:prstGeom>
          <a:noFill/>
          <a:ln w="25400" cap="flat">
            <a:noFill/>
            <a:miter lim="800000"/>
            <a:headEnd type="none" w="med" len="med"/>
            <a:tailEnd type="none" w="med" len="med"/>
          </a:ln>
        </p:spPr>
        <p:txBody>
          <a:bodyPr lIns="0" tIns="0" rIns="0" bIns="0" anchor="ctr"/>
          <a:lstStyle>
            <a:lvl1pPr>
              <a:defRPr lang="pt-BR" sz="4000">
                <a:solidFill>
                  <a:srgbClr val="8F993E"/>
                </a:solidFill>
                <a:latin typeface="Gill Sans Std Light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12938322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4E5B31"/>
          </a:solidFill>
          <a:ln>
            <a:noFill/>
          </a:ln>
          <a:extLs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lIns="57302" tIns="28650" rIns="57302" bIns="2865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7" name="Rectangle 3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FFFFFF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8" name="Picture 8" descr="NAT_marca_branca_natura-01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Title 10"/>
          <p:cNvSpPr>
            <a:spLocks noGrp="1"/>
          </p:cNvSpPr>
          <p:nvPr>
            <p:ph type="title"/>
          </p:nvPr>
        </p:nvSpPr>
        <p:spPr>
          <a:xfrm>
            <a:off x="535787" y="421935"/>
            <a:ext cx="5402461" cy="28914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19" name="Text Placeholder 13"/>
          <p:cNvSpPr>
            <a:spLocks noGrp="1"/>
          </p:cNvSpPr>
          <p:nvPr>
            <p:ph type="body" sz="quarter" idx="10"/>
          </p:nvPr>
        </p:nvSpPr>
        <p:spPr>
          <a:xfrm>
            <a:off x="535787" y="719119"/>
            <a:ext cx="5403578" cy="19003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pt-BR" sz="1200" dirty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</a:defRPr>
            </a:lvl1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15"/>
          <p:cNvSpPr>
            <a:spLocks noGrp="1"/>
          </p:cNvSpPr>
          <p:nvPr>
            <p:ph type="body" sz="quarter" idx="11"/>
          </p:nvPr>
        </p:nvSpPr>
        <p:spPr>
          <a:xfrm>
            <a:off x="535785" y="1508517"/>
            <a:ext cx="3746251" cy="2467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7439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  <p:sp>
        <p:nvSpPr>
          <p:cNvPr id="22" name="Text Placeholder 15"/>
          <p:cNvSpPr>
            <a:spLocks noGrp="1"/>
          </p:cNvSpPr>
          <p:nvPr>
            <p:ph type="body" sz="quarter" idx="12"/>
          </p:nvPr>
        </p:nvSpPr>
        <p:spPr>
          <a:xfrm>
            <a:off x="4774943" y="1508517"/>
            <a:ext cx="3746251" cy="24679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marL="0" indent="0">
              <a:buNone/>
              <a:defRPr lang="en-US" sz="1500" smtClean="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sym typeface="GillSans" pitchFamily="34" charset="0"/>
              </a:defRPr>
            </a:lvl1pPr>
            <a:lvl2pPr marL="107439" indent="0">
              <a:buNone/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2pPr>
            <a:lvl3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3pPr>
            <a:lvl4pPr>
              <a:defRPr lang="en-US" sz="2700" smtClean="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4pPr>
            <a:lvl5pPr>
              <a:defRPr lang="pt-BR" sz="2700">
                <a:solidFill>
                  <a:srgbClr val="000000"/>
                </a:solidFill>
                <a:latin typeface="GillSans" pitchFamily="34" charset="0"/>
                <a:ea typeface="ヒラギノ角ゴ ProN W3" charset="-128"/>
                <a:sym typeface="GillSans" pitchFamily="34" charset="0"/>
              </a:defRPr>
            </a:lvl5pPr>
          </a:lstStyle>
          <a:p>
            <a:pPr lvl="0"/>
            <a:r>
              <a:rPr lang="en-US" dirty="0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0245155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0"/>
          <p:cNvSpPr>
            <a:spLocks noChangeArrowheads="1"/>
          </p:cNvSpPr>
          <p:nvPr userDrawn="1"/>
        </p:nvSpPr>
        <p:spPr bwMode="auto">
          <a:xfrm>
            <a:off x="0" y="0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7302" tIns="28650" rIns="57302" bIns="2865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000000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3" name="Rectangle 3"/>
          <p:cNvSpPr>
            <a:spLocks/>
          </p:cNvSpPr>
          <p:nvPr userDrawn="1"/>
        </p:nvSpPr>
        <p:spPr bwMode="auto">
          <a:xfrm>
            <a:off x="535787" y="1580557"/>
            <a:ext cx="7822407" cy="19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 defTabSz="572071" fontAlgn="base">
              <a:lnSpc>
                <a:spcPct val="80000"/>
              </a:lnSpc>
              <a:spcBef>
                <a:spcPct val="0"/>
              </a:spcBef>
              <a:spcAft>
                <a:spcPct val="0"/>
              </a:spcAft>
            </a:pPr>
            <a:r>
              <a:rPr lang="en-US" sz="9000" dirty="0">
                <a:solidFill>
                  <a:srgbClr val="8F993E"/>
                </a:solidFill>
                <a:latin typeface="Gill Sans Std Light" pitchFamily="34" charset="0"/>
                <a:ea typeface="MS PGothic" pitchFamily="34" charset="-128"/>
                <a:sym typeface="Gill Sans Std Light" pitchFamily="34" charset="0"/>
              </a:rPr>
              <a:t>obrigado</a:t>
            </a:r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500068" y="4671348"/>
            <a:ext cx="973337" cy="736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5464" bIns="0"/>
          <a:lstStyle/>
          <a:p>
            <a:pPr marL="23878" defTabSz="572071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  <p:pic>
        <p:nvPicPr>
          <p:cNvPr id="5" name="Picture 1" descr="NAT_marca_verde_gramado.pn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6" y="4253604"/>
            <a:ext cx="704329" cy="482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117822533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0" y="407706"/>
            <a:ext cx="8809136" cy="410040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31" y="468359"/>
            <a:ext cx="5734534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5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282895750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4"/>
          <p:cNvSpPr>
            <a:spLocks/>
          </p:cNvSpPr>
          <p:nvPr userDrawn="1"/>
        </p:nvSpPr>
        <p:spPr bwMode="auto">
          <a:xfrm>
            <a:off x="167440" y="407703"/>
            <a:ext cx="8809136" cy="4595161"/>
          </a:xfrm>
          <a:prstGeom prst="rect">
            <a:avLst/>
          </a:prstGeom>
          <a:solidFill>
            <a:srgbClr val="4E3629"/>
          </a:solidFill>
          <a:ln w="9525">
            <a:noFill/>
            <a:miter lim="800000"/>
            <a:headEnd/>
            <a:tailEnd/>
          </a:ln>
        </p:spPr>
        <p:txBody>
          <a:bodyPr lIns="0" tIns="0" rIns="0" bIns="0"/>
          <a:lstStyle/>
          <a:p>
            <a:pPr algn="ctr" defTabSz="572071" fontAlgn="base">
              <a:spcBef>
                <a:spcPct val="0"/>
              </a:spcBef>
              <a:spcAft>
                <a:spcPct val="0"/>
              </a:spcAft>
            </a:pPr>
            <a:endParaRPr lang="pt-BR" sz="2700" dirty="0">
              <a:solidFill>
                <a:srgbClr val="B7A99A"/>
              </a:solidFill>
              <a:latin typeface="GillSans" pitchFamily="34" charset="0"/>
              <a:ea typeface="MS PGothic" pitchFamily="34" charset="-128"/>
              <a:sym typeface="GillSans" pitchFamily="34" charset="0"/>
            </a:endParaRPr>
          </a:p>
        </p:txBody>
      </p:sp>
      <p:sp>
        <p:nvSpPr>
          <p:cNvPr id="11" name="Title 9"/>
          <p:cNvSpPr>
            <a:spLocks noGrp="1"/>
          </p:cNvSpPr>
          <p:nvPr>
            <p:ph type="title"/>
          </p:nvPr>
        </p:nvSpPr>
        <p:spPr>
          <a:xfrm>
            <a:off x="319028" y="468359"/>
            <a:ext cx="8496000" cy="461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 algn="l">
              <a:defRPr lang="pt-BR" sz="2200">
                <a:solidFill>
                  <a:schemeClr val="bg1"/>
                </a:solidFill>
                <a:latin typeface="Gill Sans Std" pitchFamily="34" charset="0"/>
                <a:ea typeface="ヒラギノ角ゴ ProN W3" charset="-128"/>
                <a:cs typeface="+mn-cs"/>
                <a:sym typeface="GillSans" pitchFamily="34" charset="0"/>
              </a:defRPr>
            </a:lvl1pPr>
          </a:lstStyle>
          <a:p>
            <a:pPr lvl="0"/>
            <a:r>
              <a:rPr lang="en-US" smtClean="0"/>
              <a:t>Click to edit Master title style</a:t>
            </a:r>
            <a:endParaRPr lang="pt-BR" dirty="0"/>
          </a:p>
        </p:txBody>
      </p:sp>
      <p:sp>
        <p:nvSpPr>
          <p:cNvPr id="4" name="Rectangle 5"/>
          <p:cNvSpPr>
            <a:spLocks/>
          </p:cNvSpPr>
          <p:nvPr userDrawn="1"/>
        </p:nvSpPr>
        <p:spPr bwMode="auto">
          <a:xfrm>
            <a:off x="7851640" y="293374"/>
            <a:ext cx="973337" cy="736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0" tIns="0" rIns="25468" bIns="0"/>
          <a:lstStyle/>
          <a:p>
            <a:pPr marL="24873" defTabSz="514209" fontAlgn="base">
              <a:spcBef>
                <a:spcPct val="0"/>
              </a:spcBef>
              <a:spcAft>
                <a:spcPct val="0"/>
              </a:spcAft>
            </a:pPr>
            <a:r>
              <a:rPr lang="en-US" sz="700" dirty="0">
                <a:solidFill>
                  <a:srgbClr val="8F993E"/>
                </a:solidFill>
                <a:latin typeface="Gill Sans Std" pitchFamily="34" charset="0"/>
                <a:ea typeface="MS PGothic" pitchFamily="34" charset="-128"/>
                <a:sym typeface="Gill Sans Std" pitchFamily="34" charset="0"/>
              </a:rPr>
              <a:t>[ CONFIDENCIAL ]</a:t>
            </a:r>
          </a:p>
        </p:txBody>
      </p:sp>
    </p:spTree>
    <p:extLst>
      <p:ext uri="{BB962C8B-B14F-4D97-AF65-F5344CB8AC3E}">
        <p14:creationId xmlns:p14="http://schemas.microsoft.com/office/powerpoint/2010/main" val="118978164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5741961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/>
          <a:lstStyle/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/>
          <a:lstStyle/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805228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31.xml"/><Relationship Id="rId13" Type="http://schemas.openxmlformats.org/officeDocument/2006/relationships/slideLayout" Target="../slideLayouts/slideLayout36.xml"/><Relationship Id="rId18" Type="http://schemas.openxmlformats.org/officeDocument/2006/relationships/slideLayout" Target="../slideLayouts/slideLayout41.xml"/><Relationship Id="rId3" Type="http://schemas.openxmlformats.org/officeDocument/2006/relationships/slideLayout" Target="../slideLayouts/slideLayout26.xml"/><Relationship Id="rId7" Type="http://schemas.openxmlformats.org/officeDocument/2006/relationships/slideLayout" Target="../slideLayouts/slideLayout30.xml"/><Relationship Id="rId12" Type="http://schemas.openxmlformats.org/officeDocument/2006/relationships/slideLayout" Target="../slideLayouts/slideLayout35.xml"/><Relationship Id="rId17" Type="http://schemas.openxmlformats.org/officeDocument/2006/relationships/slideLayout" Target="../slideLayouts/slideLayout40.xml"/><Relationship Id="rId2" Type="http://schemas.openxmlformats.org/officeDocument/2006/relationships/slideLayout" Target="../slideLayouts/slideLayout25.xml"/><Relationship Id="rId16" Type="http://schemas.openxmlformats.org/officeDocument/2006/relationships/slideLayout" Target="../slideLayouts/slideLayout39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34.xml"/><Relationship Id="rId5" Type="http://schemas.openxmlformats.org/officeDocument/2006/relationships/slideLayout" Target="../slideLayouts/slideLayout28.xml"/><Relationship Id="rId1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33.xml"/><Relationship Id="rId19" Type="http://schemas.openxmlformats.org/officeDocument/2006/relationships/slideLayout" Target="../slideLayouts/slideLayout42.xml"/><Relationship Id="rId4" Type="http://schemas.openxmlformats.org/officeDocument/2006/relationships/slideLayout" Target="../slideLayouts/slideLayout27.xml"/><Relationship Id="rId9" Type="http://schemas.openxmlformats.org/officeDocument/2006/relationships/slideLayout" Target="../slideLayouts/slideLayout32.xml"/><Relationship Id="rId14" Type="http://schemas.openxmlformats.org/officeDocument/2006/relationships/slideLayout" Target="../slideLayouts/slideLayout3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97956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457200" y="205978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74601C-BCAA-4713-AB57-1F2604E67E0C}" type="datetimeFigureOut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10/06/2015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8B6EE-C3C9-46BA-BFA8-C5BBF4EB745D}" type="slidenum">
              <a:rPr lang="pt-BR" smtClean="0">
                <a:solidFill>
                  <a:prstClr val="black">
                    <a:tint val="75000"/>
                  </a:prstClr>
                </a:solidFill>
              </a:rPr>
              <a:pPr/>
              <a:t>‹nº›</a:t>
            </a:fld>
            <a:endParaRPr lang="pt-BR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392514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703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465776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  <p:sldLayoutId id="2147483702" r:id="rId18"/>
    <p:sldLayoutId id="2147483704" r:id="rId19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27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5pPr>
      <a:lvl6pPr marL="286519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6pPr>
      <a:lvl7pPr marL="573034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7pPr>
      <a:lvl8pPr marL="859556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8pPr>
      <a:lvl9pPr marL="1146073" algn="ctr" rtl="0" fontAlgn="base">
        <a:spcBef>
          <a:spcPct val="0"/>
        </a:spcBef>
        <a:spcAft>
          <a:spcPct val="0"/>
        </a:spcAft>
        <a:defRPr sz="2700">
          <a:solidFill>
            <a:schemeClr val="tx1"/>
          </a:solidFill>
          <a:latin typeface="Calibri" pitchFamily="34" charset="0"/>
        </a:defRPr>
      </a:lvl9pPr>
    </p:titleStyle>
    <p:bodyStyle>
      <a:lvl1pPr marL="213905" indent="-213905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64622" indent="-178088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15336" indent="-14227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001869" indent="-14227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88402" indent="-142272" algn="l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75852" indent="-143258" algn="l" defTabSz="573034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62366" indent="-143258" algn="l" defTabSz="573034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86" indent="-143258" algn="l" defTabSz="573034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5406" indent="-143258" algn="l" defTabSz="573034" rtl="0" eaLnBrk="1" latinLnBrk="0" hangingPunct="1">
        <a:spcBef>
          <a:spcPct val="20000"/>
        </a:spcBef>
        <a:buFont typeface="Arial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286519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573034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859556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146073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432591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719108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005625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292146" algn="l" defTabSz="573034" rtl="0" eaLnBrk="1" latinLnBrk="0" hangingPunct="1"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12.png"/></Relationships>
</file>

<file path=ppt/slides/_rels/slide3.xml.rels><?xml version="1.0" encoding="UTF-8" standalone="yes"?>
<Relationships xmlns="http://schemas.openxmlformats.org/package/2006/relationships"><Relationship Id="rId8" Type="http://schemas.microsoft.com/office/2007/relationships/diagramDrawing" Target="../diagrams/drawing1.xml"/><Relationship Id="rId13" Type="http://schemas.openxmlformats.org/officeDocument/2006/relationships/image" Target="../media/image17.jpeg"/><Relationship Id="rId3" Type="http://schemas.openxmlformats.org/officeDocument/2006/relationships/slide" Target="slide4.xml"/><Relationship Id="rId7" Type="http://schemas.openxmlformats.org/officeDocument/2006/relationships/diagramColors" Target="../diagrams/colors1.xml"/><Relationship Id="rId12" Type="http://schemas.openxmlformats.org/officeDocument/2006/relationships/image" Target="../media/image16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Relationship Id="rId6" Type="http://schemas.openxmlformats.org/officeDocument/2006/relationships/diagramQuickStyle" Target="../diagrams/quickStyle1.xml"/><Relationship Id="rId11" Type="http://schemas.openxmlformats.org/officeDocument/2006/relationships/image" Target="../media/image15.png"/><Relationship Id="rId5" Type="http://schemas.openxmlformats.org/officeDocument/2006/relationships/diagramLayout" Target="../diagrams/layout1.xml"/><Relationship Id="rId10" Type="http://schemas.openxmlformats.org/officeDocument/2006/relationships/image" Target="../media/image14.png"/><Relationship Id="rId4" Type="http://schemas.openxmlformats.org/officeDocument/2006/relationships/diagramData" Target="../diagrams/data1.xml"/><Relationship Id="rId9" Type="http://schemas.openxmlformats.org/officeDocument/2006/relationships/image" Target="../media/image13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jpeg"/><Relationship Id="rId3" Type="http://schemas.openxmlformats.org/officeDocument/2006/relationships/image" Target="../media/image18.jpg"/><Relationship Id="rId7" Type="http://schemas.openxmlformats.org/officeDocument/2006/relationships/image" Target="../media/image2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9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diagramColors" Target="../diagrams/colors2.xml"/><Relationship Id="rId3" Type="http://schemas.openxmlformats.org/officeDocument/2006/relationships/image" Target="../media/image31.png"/><Relationship Id="rId7" Type="http://schemas.openxmlformats.org/officeDocument/2006/relationships/diagramQuickStyle" Target="../diagrams/quickStyl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3.xml"/><Relationship Id="rId6" Type="http://schemas.openxmlformats.org/officeDocument/2006/relationships/diagramLayout" Target="../diagrams/layout2.xml"/><Relationship Id="rId5" Type="http://schemas.openxmlformats.org/officeDocument/2006/relationships/diagramData" Target="../diagrams/data2.xml"/><Relationship Id="rId4" Type="http://schemas.openxmlformats.org/officeDocument/2006/relationships/slide" Target="slide2.xml"/><Relationship Id="rId9" Type="http://schemas.microsoft.com/office/2007/relationships/diagramDrawing" Target="../diagrams/drawing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7" Type="http://schemas.microsoft.com/office/2007/relationships/diagramDrawing" Target="../diagrams/drawing3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2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 hidden="1"/>
          <p:cNvSpPr/>
          <p:nvPr/>
        </p:nvSpPr>
        <p:spPr>
          <a:xfrm>
            <a:off x="0" y="0"/>
            <a:ext cx="9144000" cy="51444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>
              <a:solidFill>
                <a:prstClr val="white"/>
              </a:solidFill>
            </a:endParaRPr>
          </a:p>
        </p:txBody>
      </p:sp>
      <p:pic>
        <p:nvPicPr>
          <p:cNvPr id="6" name="Imagem 5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7280" y="676275"/>
            <a:ext cx="514350" cy="3790950"/>
          </a:xfrm>
          <a:prstGeom prst="rect">
            <a:avLst/>
          </a:prstGeom>
        </p:spPr>
      </p:pic>
      <p:sp>
        <p:nvSpPr>
          <p:cNvPr id="42" name="CaixaDeTexto 41"/>
          <p:cNvSpPr txBox="1"/>
          <p:nvPr/>
        </p:nvSpPr>
        <p:spPr>
          <a:xfrm>
            <a:off x="1849776" y="1806669"/>
            <a:ext cx="6564233" cy="89255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pt-BR" sz="3200" dirty="0" smtClean="0">
                <a:solidFill>
                  <a:prstClr val="white"/>
                </a:solidFill>
                <a:latin typeface="Gill Sans Std ExtraBold" pitchFamily="34" charset="0"/>
              </a:rPr>
              <a:t>Gestão de Incidentes Natura</a:t>
            </a:r>
          </a:p>
          <a:p>
            <a:pPr algn="r"/>
            <a:r>
              <a:rPr lang="pt-BR" dirty="0" smtClean="0">
                <a:solidFill>
                  <a:prstClr val="white"/>
                </a:solidFill>
                <a:latin typeface="Gill Sans Std ExtraBold" pitchFamily="34" charset="0"/>
              </a:rPr>
              <a:t>ITIL v3</a:t>
            </a:r>
            <a:endParaRPr lang="pt-BR" dirty="0">
              <a:solidFill>
                <a:prstClr val="white"/>
              </a:solidFill>
              <a:latin typeface="Gill Sans Std ExtraBold" pitchFamily="34" charset="0"/>
            </a:endParaRPr>
          </a:p>
        </p:txBody>
      </p:sp>
      <p:grpSp>
        <p:nvGrpSpPr>
          <p:cNvPr id="43" name="Grupo 42"/>
          <p:cNvGrpSpPr/>
          <p:nvPr/>
        </p:nvGrpSpPr>
        <p:grpSpPr>
          <a:xfrm>
            <a:off x="7444045" y="3922924"/>
            <a:ext cx="933450" cy="854075"/>
            <a:chOff x="6775450" y="676275"/>
            <a:chExt cx="933450" cy="854075"/>
          </a:xfrm>
        </p:grpSpPr>
        <p:sp>
          <p:nvSpPr>
            <p:cNvPr id="44" name="Freeform 5"/>
            <p:cNvSpPr>
              <a:spLocks noEditPoints="1"/>
            </p:cNvSpPr>
            <p:nvPr/>
          </p:nvSpPr>
          <p:spPr bwMode="auto">
            <a:xfrm>
              <a:off x="677545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4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8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8 w 40"/>
                <a:gd name="T45" fmla="*/ 60 h 68"/>
                <a:gd name="T46" fmla="*/ 18 w 40"/>
                <a:gd name="T47" fmla="*/ 60 h 68"/>
                <a:gd name="T48" fmla="*/ 22 w 40"/>
                <a:gd name="T49" fmla="*/ 58 h 68"/>
                <a:gd name="T50" fmla="*/ 28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8 w 40"/>
                <a:gd name="T61" fmla="*/ 34 h 68"/>
                <a:gd name="T62" fmla="*/ 24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4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4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8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8" y="60"/>
                  </a:lnTo>
                  <a:lnTo>
                    <a:pt x="18" y="60"/>
                  </a:lnTo>
                  <a:lnTo>
                    <a:pt x="22" y="58"/>
                  </a:lnTo>
                  <a:lnTo>
                    <a:pt x="28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8" y="34"/>
                  </a:lnTo>
                  <a:lnTo>
                    <a:pt x="24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4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5" name="Freeform 6"/>
            <p:cNvSpPr>
              <a:spLocks noEditPoints="1"/>
            </p:cNvSpPr>
            <p:nvPr/>
          </p:nvSpPr>
          <p:spPr bwMode="auto">
            <a:xfrm>
              <a:off x="6851650" y="1457325"/>
              <a:ext cx="63500" cy="73025"/>
            </a:xfrm>
            <a:custGeom>
              <a:avLst/>
              <a:gdLst>
                <a:gd name="T0" fmla="*/ 38 w 40"/>
                <a:gd name="T1" fmla="*/ 40 h 46"/>
                <a:gd name="T2" fmla="*/ 38 w 40"/>
                <a:gd name="T3" fmla="*/ 40 h 46"/>
                <a:gd name="T4" fmla="*/ 30 w 40"/>
                <a:gd name="T5" fmla="*/ 44 h 46"/>
                <a:gd name="T6" fmla="*/ 20 w 40"/>
                <a:gd name="T7" fmla="*/ 46 h 46"/>
                <a:gd name="T8" fmla="*/ 20 w 40"/>
                <a:gd name="T9" fmla="*/ 46 h 46"/>
                <a:gd name="T10" fmla="*/ 12 w 40"/>
                <a:gd name="T11" fmla="*/ 44 h 46"/>
                <a:gd name="T12" fmla="*/ 4 w 40"/>
                <a:gd name="T13" fmla="*/ 38 h 46"/>
                <a:gd name="T14" fmla="*/ 0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0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0 w 40"/>
                <a:gd name="T27" fmla="*/ 0 h 46"/>
                <a:gd name="T28" fmla="*/ 20 w 40"/>
                <a:gd name="T29" fmla="*/ 0 h 46"/>
                <a:gd name="T30" fmla="*/ 28 w 40"/>
                <a:gd name="T31" fmla="*/ 2 h 46"/>
                <a:gd name="T32" fmla="*/ 34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8 w 40"/>
                <a:gd name="T39" fmla="*/ 24 h 46"/>
                <a:gd name="T40" fmla="*/ 8 w 40"/>
                <a:gd name="T41" fmla="*/ 24 h 46"/>
                <a:gd name="T42" fmla="*/ 10 w 40"/>
                <a:gd name="T43" fmla="*/ 30 h 46"/>
                <a:gd name="T44" fmla="*/ 12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0 w 40"/>
                <a:gd name="T53" fmla="*/ 36 h 46"/>
                <a:gd name="T54" fmla="*/ 38 w 40"/>
                <a:gd name="T55" fmla="*/ 32 h 46"/>
                <a:gd name="T56" fmla="*/ 38 w 40"/>
                <a:gd name="T57" fmla="*/ 40 h 46"/>
                <a:gd name="T58" fmla="*/ 30 w 40"/>
                <a:gd name="T59" fmla="*/ 18 h 46"/>
                <a:gd name="T60" fmla="*/ 30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4 w 40"/>
                <a:gd name="T67" fmla="*/ 8 h 46"/>
                <a:gd name="T68" fmla="*/ 20 w 40"/>
                <a:gd name="T69" fmla="*/ 8 h 46"/>
                <a:gd name="T70" fmla="*/ 20 w 40"/>
                <a:gd name="T71" fmla="*/ 8 h 46"/>
                <a:gd name="T72" fmla="*/ 16 w 40"/>
                <a:gd name="T73" fmla="*/ 8 h 46"/>
                <a:gd name="T74" fmla="*/ 12 w 40"/>
                <a:gd name="T75" fmla="*/ 10 h 46"/>
                <a:gd name="T76" fmla="*/ 10 w 40"/>
                <a:gd name="T77" fmla="*/ 14 h 46"/>
                <a:gd name="T78" fmla="*/ 8 w 40"/>
                <a:gd name="T79" fmla="*/ 18 h 46"/>
                <a:gd name="T80" fmla="*/ 30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38" y="40"/>
                  </a:moveTo>
                  <a:lnTo>
                    <a:pt x="38" y="40"/>
                  </a:lnTo>
                  <a:lnTo>
                    <a:pt x="30" y="44"/>
                  </a:lnTo>
                  <a:lnTo>
                    <a:pt x="20" y="46"/>
                  </a:lnTo>
                  <a:lnTo>
                    <a:pt x="20" y="46"/>
                  </a:lnTo>
                  <a:lnTo>
                    <a:pt x="12" y="44"/>
                  </a:lnTo>
                  <a:lnTo>
                    <a:pt x="4" y="38"/>
                  </a:lnTo>
                  <a:lnTo>
                    <a:pt x="0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0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0" y="0"/>
                  </a:lnTo>
                  <a:lnTo>
                    <a:pt x="20" y="0"/>
                  </a:lnTo>
                  <a:lnTo>
                    <a:pt x="28" y="2"/>
                  </a:lnTo>
                  <a:lnTo>
                    <a:pt x="34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8" y="24"/>
                  </a:lnTo>
                  <a:lnTo>
                    <a:pt x="8" y="24"/>
                  </a:lnTo>
                  <a:lnTo>
                    <a:pt x="10" y="30"/>
                  </a:lnTo>
                  <a:lnTo>
                    <a:pt x="12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0" y="36"/>
                  </a:lnTo>
                  <a:lnTo>
                    <a:pt x="38" y="32"/>
                  </a:lnTo>
                  <a:lnTo>
                    <a:pt x="38" y="40"/>
                  </a:lnTo>
                  <a:close/>
                  <a:moveTo>
                    <a:pt x="30" y="18"/>
                  </a:moveTo>
                  <a:lnTo>
                    <a:pt x="30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6" y="8"/>
                  </a:lnTo>
                  <a:lnTo>
                    <a:pt x="12" y="10"/>
                  </a:lnTo>
                  <a:lnTo>
                    <a:pt x="10" y="14"/>
                  </a:lnTo>
                  <a:lnTo>
                    <a:pt x="8" y="18"/>
                  </a:lnTo>
                  <a:lnTo>
                    <a:pt x="30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6" name="Freeform 7"/>
            <p:cNvSpPr>
              <a:spLocks/>
            </p:cNvSpPr>
            <p:nvPr/>
          </p:nvSpPr>
          <p:spPr bwMode="auto">
            <a:xfrm>
              <a:off x="6927850" y="1457325"/>
              <a:ext cx="101600" cy="69850"/>
            </a:xfrm>
            <a:custGeom>
              <a:avLst/>
              <a:gdLst>
                <a:gd name="T0" fmla="*/ 10 w 64"/>
                <a:gd name="T1" fmla="*/ 0 h 44"/>
                <a:gd name="T2" fmla="*/ 10 w 64"/>
                <a:gd name="T3" fmla="*/ 6 h 44"/>
                <a:gd name="T4" fmla="*/ 10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6 w 64"/>
                <a:gd name="T15" fmla="*/ 8 h 44"/>
                <a:gd name="T16" fmla="*/ 36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6 w 64"/>
                <a:gd name="T43" fmla="*/ 14 h 44"/>
                <a:gd name="T44" fmla="*/ 54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8 w 64"/>
                <a:gd name="T55" fmla="*/ 12 h 44"/>
                <a:gd name="T56" fmla="*/ 38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8 w 64"/>
                <a:gd name="T65" fmla="*/ 12 h 44"/>
                <a:gd name="T66" fmla="*/ 26 w 64"/>
                <a:gd name="T67" fmla="*/ 10 h 44"/>
                <a:gd name="T68" fmla="*/ 24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10 w 64"/>
                <a:gd name="T77" fmla="*/ 12 h 44"/>
                <a:gd name="T78" fmla="*/ 10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10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10" y="0"/>
                  </a:moveTo>
                  <a:lnTo>
                    <a:pt x="10" y="6"/>
                  </a:lnTo>
                  <a:lnTo>
                    <a:pt x="10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8"/>
                  </a:lnTo>
                  <a:lnTo>
                    <a:pt x="36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6" y="14"/>
                  </a:lnTo>
                  <a:lnTo>
                    <a:pt x="54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8" y="12"/>
                  </a:lnTo>
                  <a:lnTo>
                    <a:pt x="38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8" y="12"/>
                  </a:lnTo>
                  <a:lnTo>
                    <a:pt x="26" y="10"/>
                  </a:lnTo>
                  <a:lnTo>
                    <a:pt x="24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0" y="12"/>
                  </a:lnTo>
                  <a:lnTo>
                    <a:pt x="10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10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7" name="Freeform 8"/>
            <p:cNvSpPr>
              <a:spLocks noEditPoints="1"/>
            </p:cNvSpPr>
            <p:nvPr/>
          </p:nvSpPr>
          <p:spPr bwMode="auto">
            <a:xfrm>
              <a:off x="708977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2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2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28 w 40"/>
                <a:gd name="T31" fmla="*/ 2 h 46"/>
                <a:gd name="T32" fmla="*/ 36 w 40"/>
                <a:gd name="T33" fmla="*/ 6 h 46"/>
                <a:gd name="T34" fmla="*/ 38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0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0 w 40"/>
                <a:gd name="T63" fmla="*/ 14 h 46"/>
                <a:gd name="T64" fmla="*/ 28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6 w 40"/>
                <a:gd name="T73" fmla="*/ 8 h 46"/>
                <a:gd name="T74" fmla="*/ 14 w 40"/>
                <a:gd name="T75" fmla="*/ 10 h 46"/>
                <a:gd name="T76" fmla="*/ 10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2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2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8" y="2"/>
                  </a:lnTo>
                  <a:lnTo>
                    <a:pt x="36" y="6"/>
                  </a:lnTo>
                  <a:lnTo>
                    <a:pt x="38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0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0" y="14"/>
                  </a:lnTo>
                  <a:lnTo>
                    <a:pt x="28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6" y="8"/>
                  </a:lnTo>
                  <a:lnTo>
                    <a:pt x="14" y="10"/>
                  </a:lnTo>
                  <a:lnTo>
                    <a:pt x="10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8" name="Freeform 9"/>
            <p:cNvSpPr>
              <a:spLocks/>
            </p:cNvSpPr>
            <p:nvPr/>
          </p:nvSpPr>
          <p:spPr bwMode="auto">
            <a:xfrm>
              <a:off x="7165975" y="1457325"/>
              <a:ext cx="47625" cy="73025"/>
            </a:xfrm>
            <a:custGeom>
              <a:avLst/>
              <a:gdLst>
                <a:gd name="T0" fmla="*/ 28 w 30"/>
                <a:gd name="T1" fmla="*/ 12 h 46"/>
                <a:gd name="T2" fmla="*/ 28 w 30"/>
                <a:gd name="T3" fmla="*/ 12 h 46"/>
                <a:gd name="T4" fmla="*/ 20 w 30"/>
                <a:gd name="T5" fmla="*/ 8 h 46"/>
                <a:gd name="T6" fmla="*/ 14 w 30"/>
                <a:gd name="T7" fmla="*/ 8 h 46"/>
                <a:gd name="T8" fmla="*/ 14 w 30"/>
                <a:gd name="T9" fmla="*/ 8 h 46"/>
                <a:gd name="T10" fmla="*/ 10 w 30"/>
                <a:gd name="T11" fmla="*/ 8 h 46"/>
                <a:gd name="T12" fmla="*/ 8 w 30"/>
                <a:gd name="T13" fmla="*/ 12 h 46"/>
                <a:gd name="T14" fmla="*/ 8 w 30"/>
                <a:gd name="T15" fmla="*/ 12 h 46"/>
                <a:gd name="T16" fmla="*/ 12 w 30"/>
                <a:gd name="T17" fmla="*/ 14 h 46"/>
                <a:gd name="T18" fmla="*/ 20 w 30"/>
                <a:gd name="T19" fmla="*/ 20 h 46"/>
                <a:gd name="T20" fmla="*/ 20 w 30"/>
                <a:gd name="T21" fmla="*/ 20 h 46"/>
                <a:gd name="T22" fmla="*/ 28 w 30"/>
                <a:gd name="T23" fmla="*/ 26 h 46"/>
                <a:gd name="T24" fmla="*/ 30 w 30"/>
                <a:gd name="T25" fmla="*/ 30 h 46"/>
                <a:gd name="T26" fmla="*/ 30 w 30"/>
                <a:gd name="T27" fmla="*/ 32 h 46"/>
                <a:gd name="T28" fmla="*/ 30 w 30"/>
                <a:gd name="T29" fmla="*/ 32 h 46"/>
                <a:gd name="T30" fmla="*/ 28 w 30"/>
                <a:gd name="T31" fmla="*/ 38 h 46"/>
                <a:gd name="T32" fmla="*/ 26 w 30"/>
                <a:gd name="T33" fmla="*/ 42 h 46"/>
                <a:gd name="T34" fmla="*/ 20 w 30"/>
                <a:gd name="T35" fmla="*/ 44 h 46"/>
                <a:gd name="T36" fmla="*/ 16 w 30"/>
                <a:gd name="T37" fmla="*/ 46 h 46"/>
                <a:gd name="T38" fmla="*/ 16 w 30"/>
                <a:gd name="T39" fmla="*/ 46 h 46"/>
                <a:gd name="T40" fmla="*/ 8 w 30"/>
                <a:gd name="T41" fmla="*/ 44 h 46"/>
                <a:gd name="T42" fmla="*/ 0 w 30"/>
                <a:gd name="T43" fmla="*/ 42 h 46"/>
                <a:gd name="T44" fmla="*/ 0 w 30"/>
                <a:gd name="T45" fmla="*/ 32 h 46"/>
                <a:gd name="T46" fmla="*/ 0 w 30"/>
                <a:gd name="T47" fmla="*/ 32 h 46"/>
                <a:gd name="T48" fmla="*/ 8 w 30"/>
                <a:gd name="T49" fmla="*/ 36 h 46"/>
                <a:gd name="T50" fmla="*/ 14 w 30"/>
                <a:gd name="T51" fmla="*/ 38 h 46"/>
                <a:gd name="T52" fmla="*/ 14 w 30"/>
                <a:gd name="T53" fmla="*/ 38 h 46"/>
                <a:gd name="T54" fmla="*/ 18 w 30"/>
                <a:gd name="T55" fmla="*/ 36 h 46"/>
                <a:gd name="T56" fmla="*/ 20 w 30"/>
                <a:gd name="T57" fmla="*/ 34 h 46"/>
                <a:gd name="T58" fmla="*/ 20 w 30"/>
                <a:gd name="T59" fmla="*/ 34 h 46"/>
                <a:gd name="T60" fmla="*/ 20 w 30"/>
                <a:gd name="T61" fmla="*/ 30 h 46"/>
                <a:gd name="T62" fmla="*/ 18 w 30"/>
                <a:gd name="T63" fmla="*/ 28 h 46"/>
                <a:gd name="T64" fmla="*/ 10 w 30"/>
                <a:gd name="T65" fmla="*/ 24 h 46"/>
                <a:gd name="T66" fmla="*/ 4 w 30"/>
                <a:gd name="T67" fmla="*/ 20 h 46"/>
                <a:gd name="T68" fmla="*/ 0 w 30"/>
                <a:gd name="T69" fmla="*/ 16 h 46"/>
                <a:gd name="T70" fmla="*/ 0 w 30"/>
                <a:gd name="T71" fmla="*/ 12 h 46"/>
                <a:gd name="T72" fmla="*/ 0 w 30"/>
                <a:gd name="T73" fmla="*/ 12 h 46"/>
                <a:gd name="T74" fmla="*/ 0 w 30"/>
                <a:gd name="T75" fmla="*/ 6 h 46"/>
                <a:gd name="T76" fmla="*/ 4 w 30"/>
                <a:gd name="T77" fmla="*/ 2 h 46"/>
                <a:gd name="T78" fmla="*/ 8 w 30"/>
                <a:gd name="T79" fmla="*/ 0 h 46"/>
                <a:gd name="T80" fmla="*/ 14 w 30"/>
                <a:gd name="T81" fmla="*/ 0 h 46"/>
                <a:gd name="T82" fmla="*/ 14 w 30"/>
                <a:gd name="T83" fmla="*/ 0 h 46"/>
                <a:gd name="T84" fmla="*/ 20 w 30"/>
                <a:gd name="T85" fmla="*/ 0 h 46"/>
                <a:gd name="T86" fmla="*/ 28 w 30"/>
                <a:gd name="T87" fmla="*/ 4 h 46"/>
                <a:gd name="T88" fmla="*/ 28 w 30"/>
                <a:gd name="T89" fmla="*/ 12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30" h="46">
                  <a:moveTo>
                    <a:pt x="28" y="12"/>
                  </a:moveTo>
                  <a:lnTo>
                    <a:pt x="28" y="12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10" y="8"/>
                  </a:lnTo>
                  <a:lnTo>
                    <a:pt x="8" y="12"/>
                  </a:lnTo>
                  <a:lnTo>
                    <a:pt x="8" y="12"/>
                  </a:lnTo>
                  <a:lnTo>
                    <a:pt x="12" y="14"/>
                  </a:lnTo>
                  <a:lnTo>
                    <a:pt x="20" y="20"/>
                  </a:lnTo>
                  <a:lnTo>
                    <a:pt x="20" y="20"/>
                  </a:lnTo>
                  <a:lnTo>
                    <a:pt x="28" y="26"/>
                  </a:lnTo>
                  <a:lnTo>
                    <a:pt x="30" y="30"/>
                  </a:lnTo>
                  <a:lnTo>
                    <a:pt x="30" y="32"/>
                  </a:lnTo>
                  <a:lnTo>
                    <a:pt x="30" y="32"/>
                  </a:lnTo>
                  <a:lnTo>
                    <a:pt x="28" y="38"/>
                  </a:lnTo>
                  <a:lnTo>
                    <a:pt x="26" y="42"/>
                  </a:lnTo>
                  <a:lnTo>
                    <a:pt x="20" y="44"/>
                  </a:lnTo>
                  <a:lnTo>
                    <a:pt x="16" y="46"/>
                  </a:lnTo>
                  <a:lnTo>
                    <a:pt x="16" y="46"/>
                  </a:lnTo>
                  <a:lnTo>
                    <a:pt x="8" y="44"/>
                  </a:lnTo>
                  <a:lnTo>
                    <a:pt x="0" y="42"/>
                  </a:lnTo>
                  <a:lnTo>
                    <a:pt x="0" y="32"/>
                  </a:lnTo>
                  <a:lnTo>
                    <a:pt x="0" y="32"/>
                  </a:lnTo>
                  <a:lnTo>
                    <a:pt x="8" y="36"/>
                  </a:lnTo>
                  <a:lnTo>
                    <a:pt x="14" y="38"/>
                  </a:lnTo>
                  <a:lnTo>
                    <a:pt x="14" y="38"/>
                  </a:lnTo>
                  <a:lnTo>
                    <a:pt x="18" y="36"/>
                  </a:lnTo>
                  <a:lnTo>
                    <a:pt x="20" y="34"/>
                  </a:lnTo>
                  <a:lnTo>
                    <a:pt x="20" y="34"/>
                  </a:lnTo>
                  <a:lnTo>
                    <a:pt x="20" y="30"/>
                  </a:lnTo>
                  <a:lnTo>
                    <a:pt x="18" y="28"/>
                  </a:lnTo>
                  <a:lnTo>
                    <a:pt x="10" y="24"/>
                  </a:lnTo>
                  <a:lnTo>
                    <a:pt x="4" y="20"/>
                  </a:lnTo>
                  <a:lnTo>
                    <a:pt x="0" y="16"/>
                  </a:lnTo>
                  <a:lnTo>
                    <a:pt x="0" y="12"/>
                  </a:lnTo>
                  <a:lnTo>
                    <a:pt x="0" y="12"/>
                  </a:lnTo>
                  <a:lnTo>
                    <a:pt x="0" y="6"/>
                  </a:lnTo>
                  <a:lnTo>
                    <a:pt x="4" y="2"/>
                  </a:lnTo>
                  <a:lnTo>
                    <a:pt x="8" y="0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8" y="4"/>
                  </a:lnTo>
                  <a:lnTo>
                    <a:pt x="28" y="1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49" name="Freeform 10"/>
            <p:cNvSpPr>
              <a:spLocks/>
            </p:cNvSpPr>
            <p:nvPr/>
          </p:nvSpPr>
          <p:spPr bwMode="auto">
            <a:xfrm>
              <a:off x="7219950" y="1444625"/>
              <a:ext cx="50800" cy="85725"/>
            </a:xfrm>
            <a:custGeom>
              <a:avLst/>
              <a:gdLst>
                <a:gd name="T0" fmla="*/ 16 w 32"/>
                <a:gd name="T1" fmla="*/ 8 h 54"/>
                <a:gd name="T2" fmla="*/ 30 w 32"/>
                <a:gd name="T3" fmla="*/ 8 h 54"/>
                <a:gd name="T4" fmla="*/ 30 w 32"/>
                <a:gd name="T5" fmla="*/ 16 h 54"/>
                <a:gd name="T6" fmla="*/ 16 w 32"/>
                <a:gd name="T7" fmla="*/ 16 h 54"/>
                <a:gd name="T8" fmla="*/ 16 w 32"/>
                <a:gd name="T9" fmla="*/ 40 h 54"/>
                <a:gd name="T10" fmla="*/ 16 w 32"/>
                <a:gd name="T11" fmla="*/ 40 h 54"/>
                <a:gd name="T12" fmla="*/ 16 w 32"/>
                <a:gd name="T13" fmla="*/ 42 h 54"/>
                <a:gd name="T14" fmla="*/ 18 w 32"/>
                <a:gd name="T15" fmla="*/ 44 h 54"/>
                <a:gd name="T16" fmla="*/ 22 w 32"/>
                <a:gd name="T17" fmla="*/ 46 h 54"/>
                <a:gd name="T18" fmla="*/ 22 w 32"/>
                <a:gd name="T19" fmla="*/ 46 h 54"/>
                <a:gd name="T20" fmla="*/ 28 w 32"/>
                <a:gd name="T21" fmla="*/ 46 h 54"/>
                <a:gd name="T22" fmla="*/ 32 w 32"/>
                <a:gd name="T23" fmla="*/ 42 h 54"/>
                <a:gd name="T24" fmla="*/ 32 w 32"/>
                <a:gd name="T25" fmla="*/ 50 h 54"/>
                <a:gd name="T26" fmla="*/ 32 w 32"/>
                <a:gd name="T27" fmla="*/ 50 h 54"/>
                <a:gd name="T28" fmla="*/ 22 w 32"/>
                <a:gd name="T29" fmla="*/ 54 h 54"/>
                <a:gd name="T30" fmla="*/ 22 w 32"/>
                <a:gd name="T31" fmla="*/ 54 h 54"/>
                <a:gd name="T32" fmla="*/ 16 w 32"/>
                <a:gd name="T33" fmla="*/ 52 h 54"/>
                <a:gd name="T34" fmla="*/ 10 w 32"/>
                <a:gd name="T35" fmla="*/ 50 h 54"/>
                <a:gd name="T36" fmla="*/ 8 w 32"/>
                <a:gd name="T37" fmla="*/ 46 h 54"/>
                <a:gd name="T38" fmla="*/ 8 w 32"/>
                <a:gd name="T39" fmla="*/ 40 h 54"/>
                <a:gd name="T40" fmla="*/ 8 w 32"/>
                <a:gd name="T41" fmla="*/ 16 h 54"/>
                <a:gd name="T42" fmla="*/ 0 w 32"/>
                <a:gd name="T43" fmla="*/ 16 h 54"/>
                <a:gd name="T44" fmla="*/ 0 w 32"/>
                <a:gd name="T45" fmla="*/ 16 h 54"/>
                <a:gd name="T46" fmla="*/ 16 w 32"/>
                <a:gd name="T47" fmla="*/ 0 h 54"/>
                <a:gd name="T48" fmla="*/ 16 w 32"/>
                <a:gd name="T49" fmla="*/ 8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32" h="54">
                  <a:moveTo>
                    <a:pt x="16" y="8"/>
                  </a:moveTo>
                  <a:lnTo>
                    <a:pt x="30" y="8"/>
                  </a:lnTo>
                  <a:lnTo>
                    <a:pt x="30" y="16"/>
                  </a:lnTo>
                  <a:lnTo>
                    <a:pt x="16" y="16"/>
                  </a:lnTo>
                  <a:lnTo>
                    <a:pt x="16" y="40"/>
                  </a:lnTo>
                  <a:lnTo>
                    <a:pt x="16" y="40"/>
                  </a:lnTo>
                  <a:lnTo>
                    <a:pt x="16" y="42"/>
                  </a:lnTo>
                  <a:lnTo>
                    <a:pt x="18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28" y="46"/>
                  </a:lnTo>
                  <a:lnTo>
                    <a:pt x="32" y="42"/>
                  </a:lnTo>
                  <a:lnTo>
                    <a:pt x="32" y="50"/>
                  </a:lnTo>
                  <a:lnTo>
                    <a:pt x="32" y="50"/>
                  </a:lnTo>
                  <a:lnTo>
                    <a:pt x="22" y="54"/>
                  </a:lnTo>
                  <a:lnTo>
                    <a:pt x="22" y="54"/>
                  </a:lnTo>
                  <a:lnTo>
                    <a:pt x="16" y="52"/>
                  </a:lnTo>
                  <a:lnTo>
                    <a:pt x="10" y="50"/>
                  </a:lnTo>
                  <a:lnTo>
                    <a:pt x="8" y="46"/>
                  </a:lnTo>
                  <a:lnTo>
                    <a:pt x="8" y="40"/>
                  </a:lnTo>
                  <a:lnTo>
                    <a:pt x="8" y="16"/>
                  </a:lnTo>
                  <a:lnTo>
                    <a:pt x="0" y="16"/>
                  </a:lnTo>
                  <a:lnTo>
                    <a:pt x="0" y="16"/>
                  </a:lnTo>
                  <a:lnTo>
                    <a:pt x="16" y="0"/>
                  </a:lnTo>
                  <a:lnTo>
                    <a:pt x="16" y="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0" name="Freeform 11"/>
            <p:cNvSpPr>
              <a:spLocks noEditPoints="1"/>
            </p:cNvSpPr>
            <p:nvPr/>
          </p:nvSpPr>
          <p:spPr bwMode="auto">
            <a:xfrm>
              <a:off x="7277100" y="1457325"/>
              <a:ext cx="60325" cy="73025"/>
            </a:xfrm>
            <a:custGeom>
              <a:avLst/>
              <a:gdLst>
                <a:gd name="T0" fmla="*/ 38 w 38"/>
                <a:gd name="T1" fmla="*/ 42 h 46"/>
                <a:gd name="T2" fmla="*/ 38 w 38"/>
                <a:gd name="T3" fmla="*/ 42 h 46"/>
                <a:gd name="T4" fmla="*/ 32 w 38"/>
                <a:gd name="T5" fmla="*/ 46 h 46"/>
                <a:gd name="T6" fmla="*/ 28 w 38"/>
                <a:gd name="T7" fmla="*/ 46 h 46"/>
                <a:gd name="T8" fmla="*/ 28 w 38"/>
                <a:gd name="T9" fmla="*/ 46 h 46"/>
                <a:gd name="T10" fmla="*/ 24 w 38"/>
                <a:gd name="T11" fmla="*/ 44 h 46"/>
                <a:gd name="T12" fmla="*/ 22 w 38"/>
                <a:gd name="T13" fmla="*/ 42 h 46"/>
                <a:gd name="T14" fmla="*/ 22 w 38"/>
                <a:gd name="T15" fmla="*/ 42 h 46"/>
                <a:gd name="T16" fmla="*/ 16 w 38"/>
                <a:gd name="T17" fmla="*/ 44 h 46"/>
                <a:gd name="T18" fmla="*/ 10 w 38"/>
                <a:gd name="T19" fmla="*/ 46 h 46"/>
                <a:gd name="T20" fmla="*/ 10 w 38"/>
                <a:gd name="T21" fmla="*/ 46 h 46"/>
                <a:gd name="T22" fmla="*/ 6 w 38"/>
                <a:gd name="T23" fmla="*/ 44 h 46"/>
                <a:gd name="T24" fmla="*/ 2 w 38"/>
                <a:gd name="T25" fmla="*/ 42 h 46"/>
                <a:gd name="T26" fmla="*/ 0 w 38"/>
                <a:gd name="T27" fmla="*/ 40 h 46"/>
                <a:gd name="T28" fmla="*/ 0 w 38"/>
                <a:gd name="T29" fmla="*/ 36 h 46"/>
                <a:gd name="T30" fmla="*/ 0 w 38"/>
                <a:gd name="T31" fmla="*/ 36 h 46"/>
                <a:gd name="T32" fmla="*/ 0 w 38"/>
                <a:gd name="T33" fmla="*/ 30 h 46"/>
                <a:gd name="T34" fmla="*/ 4 w 38"/>
                <a:gd name="T35" fmla="*/ 26 h 46"/>
                <a:gd name="T36" fmla="*/ 14 w 38"/>
                <a:gd name="T37" fmla="*/ 20 h 46"/>
                <a:gd name="T38" fmla="*/ 22 w 38"/>
                <a:gd name="T39" fmla="*/ 18 h 46"/>
                <a:gd name="T40" fmla="*/ 22 w 38"/>
                <a:gd name="T41" fmla="*/ 16 h 46"/>
                <a:gd name="T42" fmla="*/ 22 w 38"/>
                <a:gd name="T43" fmla="*/ 16 h 46"/>
                <a:gd name="T44" fmla="*/ 22 w 38"/>
                <a:gd name="T45" fmla="*/ 12 h 46"/>
                <a:gd name="T46" fmla="*/ 20 w 38"/>
                <a:gd name="T47" fmla="*/ 10 h 46"/>
                <a:gd name="T48" fmla="*/ 18 w 38"/>
                <a:gd name="T49" fmla="*/ 8 h 46"/>
                <a:gd name="T50" fmla="*/ 14 w 38"/>
                <a:gd name="T51" fmla="*/ 8 h 46"/>
                <a:gd name="T52" fmla="*/ 14 w 38"/>
                <a:gd name="T53" fmla="*/ 8 h 46"/>
                <a:gd name="T54" fmla="*/ 6 w 38"/>
                <a:gd name="T55" fmla="*/ 10 h 46"/>
                <a:gd name="T56" fmla="*/ 0 w 38"/>
                <a:gd name="T57" fmla="*/ 16 h 46"/>
                <a:gd name="T58" fmla="*/ 0 w 38"/>
                <a:gd name="T59" fmla="*/ 6 h 46"/>
                <a:gd name="T60" fmla="*/ 0 w 38"/>
                <a:gd name="T61" fmla="*/ 6 h 46"/>
                <a:gd name="T62" fmla="*/ 6 w 38"/>
                <a:gd name="T63" fmla="*/ 2 h 46"/>
                <a:gd name="T64" fmla="*/ 14 w 38"/>
                <a:gd name="T65" fmla="*/ 0 h 46"/>
                <a:gd name="T66" fmla="*/ 14 w 38"/>
                <a:gd name="T67" fmla="*/ 0 h 46"/>
                <a:gd name="T68" fmla="*/ 20 w 38"/>
                <a:gd name="T69" fmla="*/ 0 h 46"/>
                <a:gd name="T70" fmla="*/ 26 w 38"/>
                <a:gd name="T71" fmla="*/ 4 h 46"/>
                <a:gd name="T72" fmla="*/ 30 w 38"/>
                <a:gd name="T73" fmla="*/ 8 h 46"/>
                <a:gd name="T74" fmla="*/ 30 w 38"/>
                <a:gd name="T75" fmla="*/ 14 h 46"/>
                <a:gd name="T76" fmla="*/ 30 w 38"/>
                <a:gd name="T77" fmla="*/ 38 h 46"/>
                <a:gd name="T78" fmla="*/ 30 w 38"/>
                <a:gd name="T79" fmla="*/ 38 h 46"/>
                <a:gd name="T80" fmla="*/ 32 w 38"/>
                <a:gd name="T81" fmla="*/ 38 h 46"/>
                <a:gd name="T82" fmla="*/ 32 w 38"/>
                <a:gd name="T83" fmla="*/ 40 h 46"/>
                <a:gd name="T84" fmla="*/ 32 w 38"/>
                <a:gd name="T85" fmla="*/ 40 h 46"/>
                <a:gd name="T86" fmla="*/ 38 w 38"/>
                <a:gd name="T87" fmla="*/ 38 h 46"/>
                <a:gd name="T88" fmla="*/ 38 w 38"/>
                <a:gd name="T89" fmla="*/ 42 h 46"/>
                <a:gd name="T90" fmla="*/ 22 w 38"/>
                <a:gd name="T91" fmla="*/ 24 h 46"/>
                <a:gd name="T92" fmla="*/ 22 w 38"/>
                <a:gd name="T93" fmla="*/ 24 h 46"/>
                <a:gd name="T94" fmla="*/ 12 w 38"/>
                <a:gd name="T95" fmla="*/ 28 h 46"/>
                <a:gd name="T96" fmla="*/ 10 w 38"/>
                <a:gd name="T97" fmla="*/ 30 h 46"/>
                <a:gd name="T98" fmla="*/ 8 w 38"/>
                <a:gd name="T99" fmla="*/ 34 h 46"/>
                <a:gd name="T100" fmla="*/ 8 w 38"/>
                <a:gd name="T101" fmla="*/ 34 h 46"/>
                <a:gd name="T102" fmla="*/ 10 w 38"/>
                <a:gd name="T103" fmla="*/ 38 h 46"/>
                <a:gd name="T104" fmla="*/ 14 w 38"/>
                <a:gd name="T105" fmla="*/ 40 h 46"/>
                <a:gd name="T106" fmla="*/ 14 w 38"/>
                <a:gd name="T107" fmla="*/ 40 h 46"/>
                <a:gd name="T108" fmla="*/ 18 w 38"/>
                <a:gd name="T109" fmla="*/ 38 h 46"/>
                <a:gd name="T110" fmla="*/ 22 w 38"/>
                <a:gd name="T111" fmla="*/ 36 h 46"/>
                <a:gd name="T112" fmla="*/ 22 w 38"/>
                <a:gd name="T113" fmla="*/ 24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</a:cxnLst>
              <a:rect l="0" t="0" r="r" b="b"/>
              <a:pathLst>
                <a:path w="38" h="46">
                  <a:moveTo>
                    <a:pt x="38" y="42"/>
                  </a:moveTo>
                  <a:lnTo>
                    <a:pt x="38" y="42"/>
                  </a:lnTo>
                  <a:lnTo>
                    <a:pt x="32" y="46"/>
                  </a:lnTo>
                  <a:lnTo>
                    <a:pt x="28" y="46"/>
                  </a:lnTo>
                  <a:lnTo>
                    <a:pt x="28" y="46"/>
                  </a:lnTo>
                  <a:lnTo>
                    <a:pt x="24" y="44"/>
                  </a:lnTo>
                  <a:lnTo>
                    <a:pt x="22" y="42"/>
                  </a:lnTo>
                  <a:lnTo>
                    <a:pt x="22" y="42"/>
                  </a:lnTo>
                  <a:lnTo>
                    <a:pt x="16" y="44"/>
                  </a:lnTo>
                  <a:lnTo>
                    <a:pt x="10" y="46"/>
                  </a:lnTo>
                  <a:lnTo>
                    <a:pt x="10" y="46"/>
                  </a:lnTo>
                  <a:lnTo>
                    <a:pt x="6" y="44"/>
                  </a:lnTo>
                  <a:lnTo>
                    <a:pt x="2" y="42"/>
                  </a:lnTo>
                  <a:lnTo>
                    <a:pt x="0" y="4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30"/>
                  </a:lnTo>
                  <a:lnTo>
                    <a:pt x="4" y="26"/>
                  </a:lnTo>
                  <a:lnTo>
                    <a:pt x="14" y="20"/>
                  </a:lnTo>
                  <a:lnTo>
                    <a:pt x="22" y="18"/>
                  </a:lnTo>
                  <a:lnTo>
                    <a:pt x="22" y="16"/>
                  </a:lnTo>
                  <a:lnTo>
                    <a:pt x="22" y="16"/>
                  </a:lnTo>
                  <a:lnTo>
                    <a:pt x="22" y="12"/>
                  </a:lnTo>
                  <a:lnTo>
                    <a:pt x="20" y="10"/>
                  </a:lnTo>
                  <a:lnTo>
                    <a:pt x="18" y="8"/>
                  </a:lnTo>
                  <a:lnTo>
                    <a:pt x="14" y="8"/>
                  </a:lnTo>
                  <a:lnTo>
                    <a:pt x="14" y="8"/>
                  </a:lnTo>
                  <a:lnTo>
                    <a:pt x="6" y="10"/>
                  </a:lnTo>
                  <a:lnTo>
                    <a:pt x="0" y="16"/>
                  </a:lnTo>
                  <a:lnTo>
                    <a:pt x="0" y="6"/>
                  </a:lnTo>
                  <a:lnTo>
                    <a:pt x="0" y="6"/>
                  </a:lnTo>
                  <a:lnTo>
                    <a:pt x="6" y="2"/>
                  </a:lnTo>
                  <a:lnTo>
                    <a:pt x="14" y="0"/>
                  </a:lnTo>
                  <a:lnTo>
                    <a:pt x="14" y="0"/>
                  </a:lnTo>
                  <a:lnTo>
                    <a:pt x="20" y="0"/>
                  </a:lnTo>
                  <a:lnTo>
                    <a:pt x="26" y="4"/>
                  </a:lnTo>
                  <a:lnTo>
                    <a:pt x="30" y="8"/>
                  </a:lnTo>
                  <a:lnTo>
                    <a:pt x="30" y="14"/>
                  </a:lnTo>
                  <a:lnTo>
                    <a:pt x="30" y="38"/>
                  </a:lnTo>
                  <a:lnTo>
                    <a:pt x="30" y="38"/>
                  </a:lnTo>
                  <a:lnTo>
                    <a:pt x="32" y="38"/>
                  </a:lnTo>
                  <a:lnTo>
                    <a:pt x="32" y="40"/>
                  </a:lnTo>
                  <a:lnTo>
                    <a:pt x="32" y="40"/>
                  </a:lnTo>
                  <a:lnTo>
                    <a:pt x="38" y="38"/>
                  </a:lnTo>
                  <a:lnTo>
                    <a:pt x="38" y="42"/>
                  </a:lnTo>
                  <a:close/>
                  <a:moveTo>
                    <a:pt x="22" y="24"/>
                  </a:moveTo>
                  <a:lnTo>
                    <a:pt x="22" y="24"/>
                  </a:lnTo>
                  <a:lnTo>
                    <a:pt x="12" y="28"/>
                  </a:lnTo>
                  <a:lnTo>
                    <a:pt x="10" y="30"/>
                  </a:lnTo>
                  <a:lnTo>
                    <a:pt x="8" y="34"/>
                  </a:lnTo>
                  <a:lnTo>
                    <a:pt x="8" y="34"/>
                  </a:lnTo>
                  <a:lnTo>
                    <a:pt x="10" y="38"/>
                  </a:lnTo>
                  <a:lnTo>
                    <a:pt x="14" y="40"/>
                  </a:lnTo>
                  <a:lnTo>
                    <a:pt x="14" y="40"/>
                  </a:lnTo>
                  <a:lnTo>
                    <a:pt x="18" y="38"/>
                  </a:lnTo>
                  <a:lnTo>
                    <a:pt x="22" y="36"/>
                  </a:lnTo>
                  <a:lnTo>
                    <a:pt x="22" y="2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1" name="Freeform 12"/>
            <p:cNvSpPr>
              <a:spLocks/>
            </p:cNvSpPr>
            <p:nvPr/>
          </p:nvSpPr>
          <p:spPr bwMode="auto">
            <a:xfrm>
              <a:off x="7350125" y="1457325"/>
              <a:ext cx="50800" cy="69850"/>
            </a:xfrm>
            <a:custGeom>
              <a:avLst/>
              <a:gdLst>
                <a:gd name="T0" fmla="*/ 8 w 32"/>
                <a:gd name="T1" fmla="*/ 0 h 44"/>
                <a:gd name="T2" fmla="*/ 8 w 32"/>
                <a:gd name="T3" fmla="*/ 10 h 44"/>
                <a:gd name="T4" fmla="*/ 8 w 32"/>
                <a:gd name="T5" fmla="*/ 10 h 44"/>
                <a:gd name="T6" fmla="*/ 8 w 32"/>
                <a:gd name="T7" fmla="*/ 10 h 44"/>
                <a:gd name="T8" fmla="*/ 14 w 32"/>
                <a:gd name="T9" fmla="*/ 2 h 44"/>
                <a:gd name="T10" fmla="*/ 18 w 32"/>
                <a:gd name="T11" fmla="*/ 0 h 44"/>
                <a:gd name="T12" fmla="*/ 22 w 32"/>
                <a:gd name="T13" fmla="*/ 0 h 44"/>
                <a:gd name="T14" fmla="*/ 22 w 32"/>
                <a:gd name="T15" fmla="*/ 0 h 44"/>
                <a:gd name="T16" fmla="*/ 26 w 32"/>
                <a:gd name="T17" fmla="*/ 2 h 44"/>
                <a:gd name="T18" fmla="*/ 32 w 32"/>
                <a:gd name="T19" fmla="*/ 4 h 44"/>
                <a:gd name="T20" fmla="*/ 28 w 32"/>
                <a:gd name="T21" fmla="*/ 12 h 44"/>
                <a:gd name="T22" fmla="*/ 28 w 32"/>
                <a:gd name="T23" fmla="*/ 12 h 44"/>
                <a:gd name="T24" fmla="*/ 22 w 32"/>
                <a:gd name="T25" fmla="*/ 10 h 44"/>
                <a:gd name="T26" fmla="*/ 20 w 32"/>
                <a:gd name="T27" fmla="*/ 8 h 44"/>
                <a:gd name="T28" fmla="*/ 20 w 32"/>
                <a:gd name="T29" fmla="*/ 8 h 44"/>
                <a:gd name="T30" fmla="*/ 14 w 32"/>
                <a:gd name="T31" fmla="*/ 10 h 44"/>
                <a:gd name="T32" fmla="*/ 12 w 32"/>
                <a:gd name="T33" fmla="*/ 12 h 44"/>
                <a:gd name="T34" fmla="*/ 10 w 32"/>
                <a:gd name="T35" fmla="*/ 16 h 44"/>
                <a:gd name="T36" fmla="*/ 8 w 32"/>
                <a:gd name="T37" fmla="*/ 22 h 44"/>
                <a:gd name="T38" fmla="*/ 8 w 32"/>
                <a:gd name="T39" fmla="*/ 44 h 44"/>
                <a:gd name="T40" fmla="*/ 0 w 32"/>
                <a:gd name="T41" fmla="*/ 44 h 44"/>
                <a:gd name="T42" fmla="*/ 0 w 32"/>
                <a:gd name="T43" fmla="*/ 0 h 44"/>
                <a:gd name="T44" fmla="*/ 8 w 32"/>
                <a:gd name="T4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2" h="44">
                  <a:moveTo>
                    <a:pt x="8" y="0"/>
                  </a:moveTo>
                  <a:lnTo>
                    <a:pt x="8" y="10"/>
                  </a:lnTo>
                  <a:lnTo>
                    <a:pt x="8" y="10"/>
                  </a:lnTo>
                  <a:lnTo>
                    <a:pt x="8" y="10"/>
                  </a:lnTo>
                  <a:lnTo>
                    <a:pt x="14" y="2"/>
                  </a:lnTo>
                  <a:lnTo>
                    <a:pt x="18" y="0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26" y="2"/>
                  </a:lnTo>
                  <a:lnTo>
                    <a:pt x="32" y="4"/>
                  </a:lnTo>
                  <a:lnTo>
                    <a:pt x="28" y="12"/>
                  </a:lnTo>
                  <a:lnTo>
                    <a:pt x="28" y="12"/>
                  </a:lnTo>
                  <a:lnTo>
                    <a:pt x="22" y="10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10"/>
                  </a:lnTo>
                  <a:lnTo>
                    <a:pt x="12" y="12"/>
                  </a:lnTo>
                  <a:lnTo>
                    <a:pt x="10" y="16"/>
                  </a:lnTo>
                  <a:lnTo>
                    <a:pt x="8" y="2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2" name="Freeform 13"/>
            <p:cNvSpPr>
              <a:spLocks noEditPoints="1"/>
            </p:cNvSpPr>
            <p:nvPr/>
          </p:nvSpPr>
          <p:spPr bwMode="auto">
            <a:xfrm>
              <a:off x="7454900" y="1422400"/>
              <a:ext cx="63500" cy="107950"/>
            </a:xfrm>
            <a:custGeom>
              <a:avLst/>
              <a:gdLst>
                <a:gd name="T0" fmla="*/ 8 w 40"/>
                <a:gd name="T1" fmla="*/ 26 h 68"/>
                <a:gd name="T2" fmla="*/ 8 w 40"/>
                <a:gd name="T3" fmla="*/ 26 h 68"/>
                <a:gd name="T4" fmla="*/ 14 w 40"/>
                <a:gd name="T5" fmla="*/ 22 h 68"/>
                <a:gd name="T6" fmla="*/ 20 w 40"/>
                <a:gd name="T7" fmla="*/ 22 h 68"/>
                <a:gd name="T8" fmla="*/ 20 w 40"/>
                <a:gd name="T9" fmla="*/ 22 h 68"/>
                <a:gd name="T10" fmla="*/ 28 w 40"/>
                <a:gd name="T11" fmla="*/ 24 h 68"/>
                <a:gd name="T12" fmla="*/ 34 w 40"/>
                <a:gd name="T13" fmla="*/ 28 h 68"/>
                <a:gd name="T14" fmla="*/ 38 w 40"/>
                <a:gd name="T15" fmla="*/ 36 h 68"/>
                <a:gd name="T16" fmla="*/ 40 w 40"/>
                <a:gd name="T17" fmla="*/ 44 h 68"/>
                <a:gd name="T18" fmla="*/ 40 w 40"/>
                <a:gd name="T19" fmla="*/ 44 h 68"/>
                <a:gd name="T20" fmla="*/ 38 w 40"/>
                <a:gd name="T21" fmla="*/ 54 h 68"/>
                <a:gd name="T22" fmla="*/ 32 w 40"/>
                <a:gd name="T23" fmla="*/ 62 h 68"/>
                <a:gd name="T24" fmla="*/ 26 w 40"/>
                <a:gd name="T25" fmla="*/ 66 h 68"/>
                <a:gd name="T26" fmla="*/ 16 w 40"/>
                <a:gd name="T27" fmla="*/ 68 h 68"/>
                <a:gd name="T28" fmla="*/ 16 w 40"/>
                <a:gd name="T29" fmla="*/ 68 h 68"/>
                <a:gd name="T30" fmla="*/ 6 w 40"/>
                <a:gd name="T31" fmla="*/ 66 h 68"/>
                <a:gd name="T32" fmla="*/ 0 w 40"/>
                <a:gd name="T33" fmla="*/ 64 h 68"/>
                <a:gd name="T34" fmla="*/ 0 w 40"/>
                <a:gd name="T35" fmla="*/ 0 h 68"/>
                <a:gd name="T36" fmla="*/ 8 w 40"/>
                <a:gd name="T37" fmla="*/ 0 h 68"/>
                <a:gd name="T38" fmla="*/ 8 w 40"/>
                <a:gd name="T39" fmla="*/ 26 h 68"/>
                <a:gd name="T40" fmla="*/ 8 w 40"/>
                <a:gd name="T41" fmla="*/ 58 h 68"/>
                <a:gd name="T42" fmla="*/ 8 w 40"/>
                <a:gd name="T43" fmla="*/ 58 h 68"/>
                <a:gd name="T44" fmla="*/ 16 w 40"/>
                <a:gd name="T45" fmla="*/ 60 h 68"/>
                <a:gd name="T46" fmla="*/ 16 w 40"/>
                <a:gd name="T47" fmla="*/ 60 h 68"/>
                <a:gd name="T48" fmla="*/ 22 w 40"/>
                <a:gd name="T49" fmla="*/ 58 h 68"/>
                <a:gd name="T50" fmla="*/ 26 w 40"/>
                <a:gd name="T51" fmla="*/ 56 h 68"/>
                <a:gd name="T52" fmla="*/ 30 w 40"/>
                <a:gd name="T53" fmla="*/ 50 h 68"/>
                <a:gd name="T54" fmla="*/ 30 w 40"/>
                <a:gd name="T55" fmla="*/ 46 h 68"/>
                <a:gd name="T56" fmla="*/ 30 w 40"/>
                <a:gd name="T57" fmla="*/ 46 h 68"/>
                <a:gd name="T58" fmla="*/ 30 w 40"/>
                <a:gd name="T59" fmla="*/ 38 h 68"/>
                <a:gd name="T60" fmla="*/ 26 w 40"/>
                <a:gd name="T61" fmla="*/ 34 h 68"/>
                <a:gd name="T62" fmla="*/ 22 w 40"/>
                <a:gd name="T63" fmla="*/ 30 h 68"/>
                <a:gd name="T64" fmla="*/ 18 w 40"/>
                <a:gd name="T65" fmla="*/ 30 h 68"/>
                <a:gd name="T66" fmla="*/ 18 w 40"/>
                <a:gd name="T67" fmla="*/ 30 h 68"/>
                <a:gd name="T68" fmla="*/ 12 w 40"/>
                <a:gd name="T69" fmla="*/ 30 h 68"/>
                <a:gd name="T70" fmla="*/ 8 w 40"/>
                <a:gd name="T71" fmla="*/ 34 h 68"/>
                <a:gd name="T72" fmla="*/ 8 w 40"/>
                <a:gd name="T73" fmla="*/ 58 h 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40" h="68">
                  <a:moveTo>
                    <a:pt x="8" y="26"/>
                  </a:moveTo>
                  <a:lnTo>
                    <a:pt x="8" y="26"/>
                  </a:lnTo>
                  <a:lnTo>
                    <a:pt x="14" y="22"/>
                  </a:lnTo>
                  <a:lnTo>
                    <a:pt x="20" y="22"/>
                  </a:lnTo>
                  <a:lnTo>
                    <a:pt x="20" y="22"/>
                  </a:lnTo>
                  <a:lnTo>
                    <a:pt x="28" y="24"/>
                  </a:lnTo>
                  <a:lnTo>
                    <a:pt x="34" y="28"/>
                  </a:lnTo>
                  <a:lnTo>
                    <a:pt x="38" y="36"/>
                  </a:lnTo>
                  <a:lnTo>
                    <a:pt x="40" y="44"/>
                  </a:lnTo>
                  <a:lnTo>
                    <a:pt x="40" y="44"/>
                  </a:lnTo>
                  <a:lnTo>
                    <a:pt x="38" y="54"/>
                  </a:lnTo>
                  <a:lnTo>
                    <a:pt x="32" y="62"/>
                  </a:lnTo>
                  <a:lnTo>
                    <a:pt x="26" y="66"/>
                  </a:lnTo>
                  <a:lnTo>
                    <a:pt x="16" y="68"/>
                  </a:lnTo>
                  <a:lnTo>
                    <a:pt x="16" y="68"/>
                  </a:lnTo>
                  <a:lnTo>
                    <a:pt x="6" y="66"/>
                  </a:lnTo>
                  <a:lnTo>
                    <a:pt x="0" y="64"/>
                  </a:lnTo>
                  <a:lnTo>
                    <a:pt x="0" y="0"/>
                  </a:lnTo>
                  <a:lnTo>
                    <a:pt x="8" y="0"/>
                  </a:lnTo>
                  <a:lnTo>
                    <a:pt x="8" y="26"/>
                  </a:lnTo>
                  <a:close/>
                  <a:moveTo>
                    <a:pt x="8" y="58"/>
                  </a:moveTo>
                  <a:lnTo>
                    <a:pt x="8" y="58"/>
                  </a:lnTo>
                  <a:lnTo>
                    <a:pt x="16" y="60"/>
                  </a:lnTo>
                  <a:lnTo>
                    <a:pt x="16" y="60"/>
                  </a:lnTo>
                  <a:lnTo>
                    <a:pt x="22" y="58"/>
                  </a:lnTo>
                  <a:lnTo>
                    <a:pt x="26" y="56"/>
                  </a:lnTo>
                  <a:lnTo>
                    <a:pt x="30" y="50"/>
                  </a:lnTo>
                  <a:lnTo>
                    <a:pt x="30" y="46"/>
                  </a:lnTo>
                  <a:lnTo>
                    <a:pt x="30" y="46"/>
                  </a:lnTo>
                  <a:lnTo>
                    <a:pt x="30" y="38"/>
                  </a:lnTo>
                  <a:lnTo>
                    <a:pt x="26" y="34"/>
                  </a:lnTo>
                  <a:lnTo>
                    <a:pt x="22" y="30"/>
                  </a:lnTo>
                  <a:lnTo>
                    <a:pt x="18" y="30"/>
                  </a:lnTo>
                  <a:lnTo>
                    <a:pt x="18" y="30"/>
                  </a:lnTo>
                  <a:lnTo>
                    <a:pt x="12" y="30"/>
                  </a:lnTo>
                  <a:lnTo>
                    <a:pt x="8" y="34"/>
                  </a:lnTo>
                  <a:lnTo>
                    <a:pt x="8" y="5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3" name="Freeform 14"/>
            <p:cNvSpPr>
              <a:spLocks noEditPoints="1"/>
            </p:cNvSpPr>
            <p:nvPr/>
          </p:nvSpPr>
          <p:spPr bwMode="auto">
            <a:xfrm>
              <a:off x="7527925" y="1457325"/>
              <a:ext cx="63500" cy="73025"/>
            </a:xfrm>
            <a:custGeom>
              <a:avLst/>
              <a:gdLst>
                <a:gd name="T0" fmla="*/ 40 w 40"/>
                <a:gd name="T1" fmla="*/ 40 h 46"/>
                <a:gd name="T2" fmla="*/ 40 w 40"/>
                <a:gd name="T3" fmla="*/ 40 h 46"/>
                <a:gd name="T4" fmla="*/ 32 w 40"/>
                <a:gd name="T5" fmla="*/ 44 h 46"/>
                <a:gd name="T6" fmla="*/ 22 w 40"/>
                <a:gd name="T7" fmla="*/ 46 h 46"/>
                <a:gd name="T8" fmla="*/ 22 w 40"/>
                <a:gd name="T9" fmla="*/ 46 h 46"/>
                <a:gd name="T10" fmla="*/ 14 w 40"/>
                <a:gd name="T11" fmla="*/ 44 h 46"/>
                <a:gd name="T12" fmla="*/ 6 w 40"/>
                <a:gd name="T13" fmla="*/ 38 h 46"/>
                <a:gd name="T14" fmla="*/ 2 w 40"/>
                <a:gd name="T15" fmla="*/ 32 h 46"/>
                <a:gd name="T16" fmla="*/ 0 w 40"/>
                <a:gd name="T17" fmla="*/ 22 h 46"/>
                <a:gd name="T18" fmla="*/ 0 w 40"/>
                <a:gd name="T19" fmla="*/ 22 h 46"/>
                <a:gd name="T20" fmla="*/ 2 w 40"/>
                <a:gd name="T21" fmla="*/ 14 h 46"/>
                <a:gd name="T22" fmla="*/ 6 w 40"/>
                <a:gd name="T23" fmla="*/ 6 h 46"/>
                <a:gd name="T24" fmla="*/ 14 w 40"/>
                <a:gd name="T25" fmla="*/ 2 h 46"/>
                <a:gd name="T26" fmla="*/ 22 w 40"/>
                <a:gd name="T27" fmla="*/ 0 h 46"/>
                <a:gd name="T28" fmla="*/ 22 w 40"/>
                <a:gd name="T29" fmla="*/ 0 h 46"/>
                <a:gd name="T30" fmla="*/ 30 w 40"/>
                <a:gd name="T31" fmla="*/ 2 h 46"/>
                <a:gd name="T32" fmla="*/ 36 w 40"/>
                <a:gd name="T33" fmla="*/ 6 h 46"/>
                <a:gd name="T34" fmla="*/ 40 w 40"/>
                <a:gd name="T35" fmla="*/ 14 h 46"/>
                <a:gd name="T36" fmla="*/ 40 w 40"/>
                <a:gd name="T37" fmla="*/ 24 h 46"/>
                <a:gd name="T38" fmla="*/ 10 w 40"/>
                <a:gd name="T39" fmla="*/ 24 h 46"/>
                <a:gd name="T40" fmla="*/ 10 w 40"/>
                <a:gd name="T41" fmla="*/ 24 h 46"/>
                <a:gd name="T42" fmla="*/ 12 w 40"/>
                <a:gd name="T43" fmla="*/ 30 h 46"/>
                <a:gd name="T44" fmla="*/ 14 w 40"/>
                <a:gd name="T45" fmla="*/ 34 h 46"/>
                <a:gd name="T46" fmla="*/ 18 w 40"/>
                <a:gd name="T47" fmla="*/ 36 h 46"/>
                <a:gd name="T48" fmla="*/ 24 w 40"/>
                <a:gd name="T49" fmla="*/ 38 h 46"/>
                <a:gd name="T50" fmla="*/ 24 w 40"/>
                <a:gd name="T51" fmla="*/ 38 h 46"/>
                <a:gd name="T52" fmla="*/ 32 w 40"/>
                <a:gd name="T53" fmla="*/ 36 h 46"/>
                <a:gd name="T54" fmla="*/ 40 w 40"/>
                <a:gd name="T55" fmla="*/ 32 h 46"/>
                <a:gd name="T56" fmla="*/ 40 w 40"/>
                <a:gd name="T57" fmla="*/ 40 h 46"/>
                <a:gd name="T58" fmla="*/ 32 w 40"/>
                <a:gd name="T59" fmla="*/ 18 h 46"/>
                <a:gd name="T60" fmla="*/ 32 w 40"/>
                <a:gd name="T61" fmla="*/ 18 h 46"/>
                <a:gd name="T62" fmla="*/ 32 w 40"/>
                <a:gd name="T63" fmla="*/ 14 h 46"/>
                <a:gd name="T64" fmla="*/ 30 w 40"/>
                <a:gd name="T65" fmla="*/ 10 h 46"/>
                <a:gd name="T66" fmla="*/ 26 w 40"/>
                <a:gd name="T67" fmla="*/ 8 h 46"/>
                <a:gd name="T68" fmla="*/ 22 w 40"/>
                <a:gd name="T69" fmla="*/ 8 h 46"/>
                <a:gd name="T70" fmla="*/ 22 w 40"/>
                <a:gd name="T71" fmla="*/ 8 h 46"/>
                <a:gd name="T72" fmla="*/ 18 w 40"/>
                <a:gd name="T73" fmla="*/ 8 h 46"/>
                <a:gd name="T74" fmla="*/ 14 w 40"/>
                <a:gd name="T75" fmla="*/ 10 h 46"/>
                <a:gd name="T76" fmla="*/ 12 w 40"/>
                <a:gd name="T77" fmla="*/ 14 h 46"/>
                <a:gd name="T78" fmla="*/ 10 w 40"/>
                <a:gd name="T79" fmla="*/ 18 h 46"/>
                <a:gd name="T80" fmla="*/ 32 w 40"/>
                <a:gd name="T81" fmla="*/ 18 h 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</a:cxnLst>
              <a:rect l="0" t="0" r="r" b="b"/>
              <a:pathLst>
                <a:path w="40" h="46">
                  <a:moveTo>
                    <a:pt x="40" y="40"/>
                  </a:moveTo>
                  <a:lnTo>
                    <a:pt x="40" y="40"/>
                  </a:lnTo>
                  <a:lnTo>
                    <a:pt x="32" y="44"/>
                  </a:lnTo>
                  <a:lnTo>
                    <a:pt x="22" y="46"/>
                  </a:lnTo>
                  <a:lnTo>
                    <a:pt x="22" y="46"/>
                  </a:lnTo>
                  <a:lnTo>
                    <a:pt x="14" y="44"/>
                  </a:lnTo>
                  <a:lnTo>
                    <a:pt x="6" y="38"/>
                  </a:lnTo>
                  <a:lnTo>
                    <a:pt x="2" y="32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14"/>
                  </a:lnTo>
                  <a:lnTo>
                    <a:pt x="6" y="6"/>
                  </a:lnTo>
                  <a:lnTo>
                    <a:pt x="14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6" y="6"/>
                  </a:lnTo>
                  <a:lnTo>
                    <a:pt x="40" y="14"/>
                  </a:lnTo>
                  <a:lnTo>
                    <a:pt x="40" y="24"/>
                  </a:lnTo>
                  <a:lnTo>
                    <a:pt x="10" y="24"/>
                  </a:lnTo>
                  <a:lnTo>
                    <a:pt x="10" y="24"/>
                  </a:lnTo>
                  <a:lnTo>
                    <a:pt x="12" y="30"/>
                  </a:lnTo>
                  <a:lnTo>
                    <a:pt x="14" y="34"/>
                  </a:lnTo>
                  <a:lnTo>
                    <a:pt x="18" y="36"/>
                  </a:lnTo>
                  <a:lnTo>
                    <a:pt x="24" y="38"/>
                  </a:lnTo>
                  <a:lnTo>
                    <a:pt x="24" y="38"/>
                  </a:lnTo>
                  <a:lnTo>
                    <a:pt x="32" y="36"/>
                  </a:lnTo>
                  <a:lnTo>
                    <a:pt x="40" y="32"/>
                  </a:lnTo>
                  <a:lnTo>
                    <a:pt x="40" y="40"/>
                  </a:lnTo>
                  <a:close/>
                  <a:moveTo>
                    <a:pt x="32" y="18"/>
                  </a:moveTo>
                  <a:lnTo>
                    <a:pt x="32" y="18"/>
                  </a:lnTo>
                  <a:lnTo>
                    <a:pt x="32" y="14"/>
                  </a:lnTo>
                  <a:lnTo>
                    <a:pt x="30" y="10"/>
                  </a:lnTo>
                  <a:lnTo>
                    <a:pt x="26" y="8"/>
                  </a:lnTo>
                  <a:lnTo>
                    <a:pt x="22" y="8"/>
                  </a:lnTo>
                  <a:lnTo>
                    <a:pt x="22" y="8"/>
                  </a:lnTo>
                  <a:lnTo>
                    <a:pt x="18" y="8"/>
                  </a:lnTo>
                  <a:lnTo>
                    <a:pt x="14" y="10"/>
                  </a:lnTo>
                  <a:lnTo>
                    <a:pt x="12" y="14"/>
                  </a:lnTo>
                  <a:lnTo>
                    <a:pt x="10" y="18"/>
                  </a:lnTo>
                  <a:lnTo>
                    <a:pt x="32" y="1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4" name="Freeform 15"/>
            <p:cNvSpPr>
              <a:spLocks/>
            </p:cNvSpPr>
            <p:nvPr/>
          </p:nvSpPr>
          <p:spPr bwMode="auto">
            <a:xfrm>
              <a:off x="7607300" y="1457325"/>
              <a:ext cx="101600" cy="69850"/>
            </a:xfrm>
            <a:custGeom>
              <a:avLst/>
              <a:gdLst>
                <a:gd name="T0" fmla="*/ 8 w 64"/>
                <a:gd name="T1" fmla="*/ 0 h 44"/>
                <a:gd name="T2" fmla="*/ 8 w 64"/>
                <a:gd name="T3" fmla="*/ 6 h 44"/>
                <a:gd name="T4" fmla="*/ 8 w 64"/>
                <a:gd name="T5" fmla="*/ 6 h 44"/>
                <a:gd name="T6" fmla="*/ 16 w 64"/>
                <a:gd name="T7" fmla="*/ 2 h 44"/>
                <a:gd name="T8" fmla="*/ 22 w 64"/>
                <a:gd name="T9" fmla="*/ 0 h 44"/>
                <a:gd name="T10" fmla="*/ 22 w 64"/>
                <a:gd name="T11" fmla="*/ 0 h 44"/>
                <a:gd name="T12" fmla="*/ 30 w 64"/>
                <a:gd name="T13" fmla="*/ 2 h 44"/>
                <a:gd name="T14" fmla="*/ 34 w 64"/>
                <a:gd name="T15" fmla="*/ 8 h 44"/>
                <a:gd name="T16" fmla="*/ 34 w 64"/>
                <a:gd name="T17" fmla="*/ 8 h 44"/>
                <a:gd name="T18" fmla="*/ 42 w 64"/>
                <a:gd name="T19" fmla="*/ 2 h 44"/>
                <a:gd name="T20" fmla="*/ 46 w 64"/>
                <a:gd name="T21" fmla="*/ 0 h 44"/>
                <a:gd name="T22" fmla="*/ 50 w 64"/>
                <a:gd name="T23" fmla="*/ 0 h 44"/>
                <a:gd name="T24" fmla="*/ 50 w 64"/>
                <a:gd name="T25" fmla="*/ 0 h 44"/>
                <a:gd name="T26" fmla="*/ 56 w 64"/>
                <a:gd name="T27" fmla="*/ 0 h 44"/>
                <a:gd name="T28" fmla="*/ 60 w 64"/>
                <a:gd name="T29" fmla="*/ 4 h 44"/>
                <a:gd name="T30" fmla="*/ 64 w 64"/>
                <a:gd name="T31" fmla="*/ 10 h 44"/>
                <a:gd name="T32" fmla="*/ 64 w 64"/>
                <a:gd name="T33" fmla="*/ 18 h 44"/>
                <a:gd name="T34" fmla="*/ 64 w 64"/>
                <a:gd name="T35" fmla="*/ 44 h 44"/>
                <a:gd name="T36" fmla="*/ 56 w 64"/>
                <a:gd name="T37" fmla="*/ 44 h 44"/>
                <a:gd name="T38" fmla="*/ 56 w 64"/>
                <a:gd name="T39" fmla="*/ 18 h 44"/>
                <a:gd name="T40" fmla="*/ 56 w 64"/>
                <a:gd name="T41" fmla="*/ 18 h 44"/>
                <a:gd name="T42" fmla="*/ 54 w 64"/>
                <a:gd name="T43" fmla="*/ 14 h 44"/>
                <a:gd name="T44" fmla="*/ 52 w 64"/>
                <a:gd name="T45" fmla="*/ 10 h 44"/>
                <a:gd name="T46" fmla="*/ 50 w 64"/>
                <a:gd name="T47" fmla="*/ 8 h 44"/>
                <a:gd name="T48" fmla="*/ 46 w 64"/>
                <a:gd name="T49" fmla="*/ 8 h 44"/>
                <a:gd name="T50" fmla="*/ 46 w 64"/>
                <a:gd name="T51" fmla="*/ 8 h 44"/>
                <a:gd name="T52" fmla="*/ 42 w 64"/>
                <a:gd name="T53" fmla="*/ 8 h 44"/>
                <a:gd name="T54" fmla="*/ 36 w 64"/>
                <a:gd name="T55" fmla="*/ 12 h 44"/>
                <a:gd name="T56" fmla="*/ 36 w 64"/>
                <a:gd name="T57" fmla="*/ 44 h 44"/>
                <a:gd name="T58" fmla="*/ 28 w 64"/>
                <a:gd name="T59" fmla="*/ 44 h 44"/>
                <a:gd name="T60" fmla="*/ 28 w 64"/>
                <a:gd name="T61" fmla="*/ 18 h 44"/>
                <a:gd name="T62" fmla="*/ 28 w 64"/>
                <a:gd name="T63" fmla="*/ 18 h 44"/>
                <a:gd name="T64" fmla="*/ 26 w 64"/>
                <a:gd name="T65" fmla="*/ 12 h 44"/>
                <a:gd name="T66" fmla="*/ 26 w 64"/>
                <a:gd name="T67" fmla="*/ 10 h 44"/>
                <a:gd name="T68" fmla="*/ 22 w 64"/>
                <a:gd name="T69" fmla="*/ 8 h 44"/>
                <a:gd name="T70" fmla="*/ 20 w 64"/>
                <a:gd name="T71" fmla="*/ 8 h 44"/>
                <a:gd name="T72" fmla="*/ 20 w 64"/>
                <a:gd name="T73" fmla="*/ 8 h 44"/>
                <a:gd name="T74" fmla="*/ 14 w 64"/>
                <a:gd name="T75" fmla="*/ 8 h 44"/>
                <a:gd name="T76" fmla="*/ 8 w 64"/>
                <a:gd name="T77" fmla="*/ 12 h 44"/>
                <a:gd name="T78" fmla="*/ 8 w 64"/>
                <a:gd name="T79" fmla="*/ 44 h 44"/>
                <a:gd name="T80" fmla="*/ 0 w 64"/>
                <a:gd name="T81" fmla="*/ 44 h 44"/>
                <a:gd name="T82" fmla="*/ 0 w 64"/>
                <a:gd name="T83" fmla="*/ 0 h 44"/>
                <a:gd name="T84" fmla="*/ 8 w 64"/>
                <a:gd name="T85" fmla="*/ 0 h 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64" h="44">
                  <a:moveTo>
                    <a:pt x="8" y="0"/>
                  </a:moveTo>
                  <a:lnTo>
                    <a:pt x="8" y="6"/>
                  </a:lnTo>
                  <a:lnTo>
                    <a:pt x="8" y="6"/>
                  </a:lnTo>
                  <a:lnTo>
                    <a:pt x="16" y="2"/>
                  </a:lnTo>
                  <a:lnTo>
                    <a:pt x="22" y="0"/>
                  </a:lnTo>
                  <a:lnTo>
                    <a:pt x="22" y="0"/>
                  </a:lnTo>
                  <a:lnTo>
                    <a:pt x="30" y="2"/>
                  </a:lnTo>
                  <a:lnTo>
                    <a:pt x="34" y="8"/>
                  </a:lnTo>
                  <a:lnTo>
                    <a:pt x="34" y="8"/>
                  </a:lnTo>
                  <a:lnTo>
                    <a:pt x="42" y="2"/>
                  </a:lnTo>
                  <a:lnTo>
                    <a:pt x="46" y="0"/>
                  </a:lnTo>
                  <a:lnTo>
                    <a:pt x="50" y="0"/>
                  </a:lnTo>
                  <a:lnTo>
                    <a:pt x="50" y="0"/>
                  </a:lnTo>
                  <a:lnTo>
                    <a:pt x="56" y="0"/>
                  </a:lnTo>
                  <a:lnTo>
                    <a:pt x="60" y="4"/>
                  </a:lnTo>
                  <a:lnTo>
                    <a:pt x="64" y="10"/>
                  </a:lnTo>
                  <a:lnTo>
                    <a:pt x="64" y="18"/>
                  </a:lnTo>
                  <a:lnTo>
                    <a:pt x="64" y="44"/>
                  </a:lnTo>
                  <a:lnTo>
                    <a:pt x="56" y="44"/>
                  </a:lnTo>
                  <a:lnTo>
                    <a:pt x="56" y="18"/>
                  </a:lnTo>
                  <a:lnTo>
                    <a:pt x="56" y="18"/>
                  </a:lnTo>
                  <a:lnTo>
                    <a:pt x="54" y="14"/>
                  </a:lnTo>
                  <a:lnTo>
                    <a:pt x="52" y="10"/>
                  </a:lnTo>
                  <a:lnTo>
                    <a:pt x="50" y="8"/>
                  </a:lnTo>
                  <a:lnTo>
                    <a:pt x="46" y="8"/>
                  </a:lnTo>
                  <a:lnTo>
                    <a:pt x="46" y="8"/>
                  </a:lnTo>
                  <a:lnTo>
                    <a:pt x="42" y="8"/>
                  </a:lnTo>
                  <a:lnTo>
                    <a:pt x="36" y="12"/>
                  </a:lnTo>
                  <a:lnTo>
                    <a:pt x="36" y="44"/>
                  </a:lnTo>
                  <a:lnTo>
                    <a:pt x="28" y="44"/>
                  </a:lnTo>
                  <a:lnTo>
                    <a:pt x="28" y="18"/>
                  </a:lnTo>
                  <a:lnTo>
                    <a:pt x="28" y="18"/>
                  </a:lnTo>
                  <a:lnTo>
                    <a:pt x="26" y="12"/>
                  </a:lnTo>
                  <a:lnTo>
                    <a:pt x="26" y="10"/>
                  </a:lnTo>
                  <a:lnTo>
                    <a:pt x="22" y="8"/>
                  </a:lnTo>
                  <a:lnTo>
                    <a:pt x="20" y="8"/>
                  </a:lnTo>
                  <a:lnTo>
                    <a:pt x="20" y="8"/>
                  </a:lnTo>
                  <a:lnTo>
                    <a:pt x="14" y="8"/>
                  </a:lnTo>
                  <a:lnTo>
                    <a:pt x="8" y="12"/>
                  </a:lnTo>
                  <a:lnTo>
                    <a:pt x="8" y="44"/>
                  </a:lnTo>
                  <a:lnTo>
                    <a:pt x="0" y="44"/>
                  </a:lnTo>
                  <a:lnTo>
                    <a:pt x="0" y="0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5" name="Freeform 16"/>
            <p:cNvSpPr>
              <a:spLocks/>
            </p:cNvSpPr>
            <p:nvPr/>
          </p:nvSpPr>
          <p:spPr bwMode="auto">
            <a:xfrm>
              <a:off x="6775450" y="1209675"/>
              <a:ext cx="165100" cy="142875"/>
            </a:xfrm>
            <a:custGeom>
              <a:avLst/>
              <a:gdLst>
                <a:gd name="T0" fmla="*/ 52 w 104"/>
                <a:gd name="T1" fmla="*/ 0 h 90"/>
                <a:gd name="T2" fmla="*/ 52 w 104"/>
                <a:gd name="T3" fmla="*/ 0 h 90"/>
                <a:gd name="T4" fmla="*/ 42 w 104"/>
                <a:gd name="T5" fmla="*/ 0 h 90"/>
                <a:gd name="T6" fmla="*/ 32 w 104"/>
                <a:gd name="T7" fmla="*/ 2 h 90"/>
                <a:gd name="T8" fmla="*/ 24 w 104"/>
                <a:gd name="T9" fmla="*/ 6 h 90"/>
                <a:gd name="T10" fmla="*/ 16 w 104"/>
                <a:gd name="T11" fmla="*/ 10 h 90"/>
                <a:gd name="T12" fmla="*/ 10 w 104"/>
                <a:gd name="T13" fmla="*/ 16 h 90"/>
                <a:gd name="T14" fmla="*/ 4 w 104"/>
                <a:gd name="T15" fmla="*/ 24 h 90"/>
                <a:gd name="T16" fmla="*/ 2 w 104"/>
                <a:gd name="T17" fmla="*/ 32 h 90"/>
                <a:gd name="T18" fmla="*/ 0 w 104"/>
                <a:gd name="T19" fmla="*/ 40 h 90"/>
                <a:gd name="T20" fmla="*/ 0 w 104"/>
                <a:gd name="T21" fmla="*/ 90 h 90"/>
                <a:gd name="T22" fmla="*/ 22 w 104"/>
                <a:gd name="T23" fmla="*/ 90 h 90"/>
                <a:gd name="T24" fmla="*/ 22 w 104"/>
                <a:gd name="T25" fmla="*/ 38 h 90"/>
                <a:gd name="T26" fmla="*/ 22 w 104"/>
                <a:gd name="T27" fmla="*/ 38 h 90"/>
                <a:gd name="T28" fmla="*/ 26 w 104"/>
                <a:gd name="T29" fmla="*/ 26 h 90"/>
                <a:gd name="T30" fmla="*/ 32 w 104"/>
                <a:gd name="T31" fmla="*/ 16 h 90"/>
                <a:gd name="T32" fmla="*/ 40 w 104"/>
                <a:gd name="T33" fmla="*/ 10 h 90"/>
                <a:gd name="T34" fmla="*/ 52 w 104"/>
                <a:gd name="T35" fmla="*/ 8 h 90"/>
                <a:gd name="T36" fmla="*/ 52 w 104"/>
                <a:gd name="T37" fmla="*/ 8 h 90"/>
                <a:gd name="T38" fmla="*/ 64 w 104"/>
                <a:gd name="T39" fmla="*/ 10 h 90"/>
                <a:gd name="T40" fmla="*/ 72 w 104"/>
                <a:gd name="T41" fmla="*/ 16 h 90"/>
                <a:gd name="T42" fmla="*/ 78 w 104"/>
                <a:gd name="T43" fmla="*/ 26 h 90"/>
                <a:gd name="T44" fmla="*/ 80 w 104"/>
                <a:gd name="T45" fmla="*/ 38 h 90"/>
                <a:gd name="T46" fmla="*/ 80 w 104"/>
                <a:gd name="T47" fmla="*/ 90 h 90"/>
                <a:gd name="T48" fmla="*/ 104 w 104"/>
                <a:gd name="T49" fmla="*/ 90 h 90"/>
                <a:gd name="T50" fmla="*/ 104 w 104"/>
                <a:gd name="T51" fmla="*/ 40 h 90"/>
                <a:gd name="T52" fmla="*/ 104 w 104"/>
                <a:gd name="T53" fmla="*/ 40 h 90"/>
                <a:gd name="T54" fmla="*/ 102 w 104"/>
                <a:gd name="T55" fmla="*/ 32 h 90"/>
                <a:gd name="T56" fmla="*/ 100 w 104"/>
                <a:gd name="T57" fmla="*/ 24 h 90"/>
                <a:gd name="T58" fmla="*/ 94 w 104"/>
                <a:gd name="T59" fmla="*/ 16 h 90"/>
                <a:gd name="T60" fmla="*/ 88 w 104"/>
                <a:gd name="T61" fmla="*/ 10 h 90"/>
                <a:gd name="T62" fmla="*/ 80 w 104"/>
                <a:gd name="T63" fmla="*/ 6 h 90"/>
                <a:gd name="T64" fmla="*/ 72 w 104"/>
                <a:gd name="T65" fmla="*/ 2 h 90"/>
                <a:gd name="T66" fmla="*/ 62 w 104"/>
                <a:gd name="T67" fmla="*/ 0 h 90"/>
                <a:gd name="T68" fmla="*/ 52 w 104"/>
                <a:gd name="T69" fmla="*/ 0 h 90"/>
                <a:gd name="T70" fmla="*/ 52 w 104"/>
                <a:gd name="T71" fmla="*/ 0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4" h="90">
                  <a:moveTo>
                    <a:pt x="52" y="0"/>
                  </a:moveTo>
                  <a:lnTo>
                    <a:pt x="52" y="0"/>
                  </a:lnTo>
                  <a:lnTo>
                    <a:pt x="42" y="0"/>
                  </a:lnTo>
                  <a:lnTo>
                    <a:pt x="32" y="2"/>
                  </a:lnTo>
                  <a:lnTo>
                    <a:pt x="24" y="6"/>
                  </a:lnTo>
                  <a:lnTo>
                    <a:pt x="16" y="10"/>
                  </a:lnTo>
                  <a:lnTo>
                    <a:pt x="10" y="16"/>
                  </a:lnTo>
                  <a:lnTo>
                    <a:pt x="4" y="24"/>
                  </a:lnTo>
                  <a:lnTo>
                    <a:pt x="2" y="32"/>
                  </a:lnTo>
                  <a:lnTo>
                    <a:pt x="0" y="40"/>
                  </a:lnTo>
                  <a:lnTo>
                    <a:pt x="0" y="90"/>
                  </a:lnTo>
                  <a:lnTo>
                    <a:pt x="22" y="90"/>
                  </a:lnTo>
                  <a:lnTo>
                    <a:pt x="22" y="38"/>
                  </a:lnTo>
                  <a:lnTo>
                    <a:pt x="22" y="38"/>
                  </a:lnTo>
                  <a:lnTo>
                    <a:pt x="26" y="26"/>
                  </a:lnTo>
                  <a:lnTo>
                    <a:pt x="32" y="16"/>
                  </a:lnTo>
                  <a:lnTo>
                    <a:pt x="40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4" y="10"/>
                  </a:lnTo>
                  <a:lnTo>
                    <a:pt x="72" y="16"/>
                  </a:lnTo>
                  <a:lnTo>
                    <a:pt x="78" y="26"/>
                  </a:lnTo>
                  <a:lnTo>
                    <a:pt x="80" y="38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40"/>
                  </a:lnTo>
                  <a:lnTo>
                    <a:pt x="104" y="40"/>
                  </a:lnTo>
                  <a:lnTo>
                    <a:pt x="102" y="32"/>
                  </a:lnTo>
                  <a:lnTo>
                    <a:pt x="100" y="24"/>
                  </a:lnTo>
                  <a:lnTo>
                    <a:pt x="94" y="16"/>
                  </a:lnTo>
                  <a:lnTo>
                    <a:pt x="88" y="10"/>
                  </a:lnTo>
                  <a:lnTo>
                    <a:pt x="80" y="6"/>
                  </a:lnTo>
                  <a:lnTo>
                    <a:pt x="72" y="2"/>
                  </a:lnTo>
                  <a:lnTo>
                    <a:pt x="62" y="0"/>
                  </a:lnTo>
                  <a:lnTo>
                    <a:pt x="52" y="0"/>
                  </a:lnTo>
                  <a:lnTo>
                    <a:pt x="52" y="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6" name="Freeform 17"/>
            <p:cNvSpPr>
              <a:spLocks/>
            </p:cNvSpPr>
            <p:nvPr/>
          </p:nvSpPr>
          <p:spPr bwMode="auto">
            <a:xfrm>
              <a:off x="7264400" y="1209675"/>
              <a:ext cx="161925" cy="146050"/>
            </a:xfrm>
            <a:custGeom>
              <a:avLst/>
              <a:gdLst>
                <a:gd name="T0" fmla="*/ 50 w 102"/>
                <a:gd name="T1" fmla="*/ 92 h 92"/>
                <a:gd name="T2" fmla="*/ 50 w 102"/>
                <a:gd name="T3" fmla="*/ 92 h 92"/>
                <a:gd name="T4" fmla="*/ 62 w 102"/>
                <a:gd name="T5" fmla="*/ 92 h 92"/>
                <a:gd name="T6" fmla="*/ 70 w 102"/>
                <a:gd name="T7" fmla="*/ 88 h 92"/>
                <a:gd name="T8" fmla="*/ 80 w 102"/>
                <a:gd name="T9" fmla="*/ 86 h 92"/>
                <a:gd name="T10" fmla="*/ 88 w 102"/>
                <a:gd name="T11" fmla="*/ 80 h 92"/>
                <a:gd name="T12" fmla="*/ 94 w 102"/>
                <a:gd name="T13" fmla="*/ 74 h 92"/>
                <a:gd name="T14" fmla="*/ 98 w 102"/>
                <a:gd name="T15" fmla="*/ 68 h 92"/>
                <a:gd name="T16" fmla="*/ 102 w 102"/>
                <a:gd name="T17" fmla="*/ 60 h 92"/>
                <a:gd name="T18" fmla="*/ 102 w 102"/>
                <a:gd name="T19" fmla="*/ 52 h 92"/>
                <a:gd name="T20" fmla="*/ 102 w 102"/>
                <a:gd name="T21" fmla="*/ 0 h 92"/>
                <a:gd name="T22" fmla="*/ 80 w 102"/>
                <a:gd name="T23" fmla="*/ 0 h 92"/>
                <a:gd name="T24" fmla="*/ 80 w 102"/>
                <a:gd name="T25" fmla="*/ 54 h 92"/>
                <a:gd name="T26" fmla="*/ 80 w 102"/>
                <a:gd name="T27" fmla="*/ 54 h 92"/>
                <a:gd name="T28" fmla="*/ 78 w 102"/>
                <a:gd name="T29" fmla="*/ 66 h 92"/>
                <a:gd name="T30" fmla="*/ 72 w 102"/>
                <a:gd name="T31" fmla="*/ 74 h 92"/>
                <a:gd name="T32" fmla="*/ 62 w 102"/>
                <a:gd name="T33" fmla="*/ 80 h 92"/>
                <a:gd name="T34" fmla="*/ 50 w 102"/>
                <a:gd name="T35" fmla="*/ 84 h 92"/>
                <a:gd name="T36" fmla="*/ 50 w 102"/>
                <a:gd name="T37" fmla="*/ 84 h 92"/>
                <a:gd name="T38" fmla="*/ 40 w 102"/>
                <a:gd name="T39" fmla="*/ 80 h 92"/>
                <a:gd name="T40" fmla="*/ 30 w 102"/>
                <a:gd name="T41" fmla="*/ 74 h 92"/>
                <a:gd name="T42" fmla="*/ 24 w 102"/>
                <a:gd name="T43" fmla="*/ 66 h 92"/>
                <a:gd name="T44" fmla="*/ 22 w 102"/>
                <a:gd name="T45" fmla="*/ 54 h 92"/>
                <a:gd name="T46" fmla="*/ 22 w 102"/>
                <a:gd name="T47" fmla="*/ 0 h 92"/>
                <a:gd name="T48" fmla="*/ 0 w 102"/>
                <a:gd name="T49" fmla="*/ 0 h 92"/>
                <a:gd name="T50" fmla="*/ 0 w 102"/>
                <a:gd name="T51" fmla="*/ 52 h 92"/>
                <a:gd name="T52" fmla="*/ 0 w 102"/>
                <a:gd name="T53" fmla="*/ 52 h 92"/>
                <a:gd name="T54" fmla="*/ 0 w 102"/>
                <a:gd name="T55" fmla="*/ 60 h 92"/>
                <a:gd name="T56" fmla="*/ 4 w 102"/>
                <a:gd name="T57" fmla="*/ 68 h 92"/>
                <a:gd name="T58" fmla="*/ 8 w 102"/>
                <a:gd name="T59" fmla="*/ 74 h 92"/>
                <a:gd name="T60" fmla="*/ 14 w 102"/>
                <a:gd name="T61" fmla="*/ 80 h 92"/>
                <a:gd name="T62" fmla="*/ 22 w 102"/>
                <a:gd name="T63" fmla="*/ 86 h 92"/>
                <a:gd name="T64" fmla="*/ 30 w 102"/>
                <a:gd name="T65" fmla="*/ 88 h 92"/>
                <a:gd name="T66" fmla="*/ 40 w 102"/>
                <a:gd name="T67" fmla="*/ 92 h 92"/>
                <a:gd name="T68" fmla="*/ 50 w 102"/>
                <a:gd name="T69" fmla="*/ 92 h 92"/>
                <a:gd name="T70" fmla="*/ 50 w 102"/>
                <a:gd name="T71" fmla="*/ 92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2" h="92">
                  <a:moveTo>
                    <a:pt x="50" y="92"/>
                  </a:moveTo>
                  <a:lnTo>
                    <a:pt x="50" y="92"/>
                  </a:lnTo>
                  <a:lnTo>
                    <a:pt x="62" y="92"/>
                  </a:lnTo>
                  <a:lnTo>
                    <a:pt x="70" y="88"/>
                  </a:lnTo>
                  <a:lnTo>
                    <a:pt x="80" y="86"/>
                  </a:lnTo>
                  <a:lnTo>
                    <a:pt x="88" y="80"/>
                  </a:lnTo>
                  <a:lnTo>
                    <a:pt x="94" y="74"/>
                  </a:lnTo>
                  <a:lnTo>
                    <a:pt x="98" y="68"/>
                  </a:lnTo>
                  <a:lnTo>
                    <a:pt x="102" y="60"/>
                  </a:lnTo>
                  <a:lnTo>
                    <a:pt x="102" y="52"/>
                  </a:lnTo>
                  <a:lnTo>
                    <a:pt x="102" y="0"/>
                  </a:lnTo>
                  <a:lnTo>
                    <a:pt x="80" y="0"/>
                  </a:lnTo>
                  <a:lnTo>
                    <a:pt x="80" y="54"/>
                  </a:lnTo>
                  <a:lnTo>
                    <a:pt x="80" y="54"/>
                  </a:lnTo>
                  <a:lnTo>
                    <a:pt x="78" y="66"/>
                  </a:lnTo>
                  <a:lnTo>
                    <a:pt x="72" y="74"/>
                  </a:lnTo>
                  <a:lnTo>
                    <a:pt x="62" y="80"/>
                  </a:lnTo>
                  <a:lnTo>
                    <a:pt x="50" y="84"/>
                  </a:lnTo>
                  <a:lnTo>
                    <a:pt x="50" y="84"/>
                  </a:lnTo>
                  <a:lnTo>
                    <a:pt x="40" y="80"/>
                  </a:lnTo>
                  <a:lnTo>
                    <a:pt x="30" y="74"/>
                  </a:lnTo>
                  <a:lnTo>
                    <a:pt x="24" y="66"/>
                  </a:lnTo>
                  <a:lnTo>
                    <a:pt x="22" y="54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52"/>
                  </a:lnTo>
                  <a:lnTo>
                    <a:pt x="0" y="52"/>
                  </a:lnTo>
                  <a:lnTo>
                    <a:pt x="0" y="60"/>
                  </a:lnTo>
                  <a:lnTo>
                    <a:pt x="4" y="68"/>
                  </a:lnTo>
                  <a:lnTo>
                    <a:pt x="8" y="74"/>
                  </a:lnTo>
                  <a:lnTo>
                    <a:pt x="14" y="80"/>
                  </a:lnTo>
                  <a:lnTo>
                    <a:pt x="22" y="86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7" name="Freeform 18"/>
            <p:cNvSpPr>
              <a:spLocks/>
            </p:cNvSpPr>
            <p:nvPr/>
          </p:nvSpPr>
          <p:spPr bwMode="auto">
            <a:xfrm>
              <a:off x="696595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2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4 w 104"/>
                <a:gd name="T31" fmla="*/ 76 h 92"/>
                <a:gd name="T32" fmla="*/ 70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2 w 104"/>
                <a:gd name="T57" fmla="*/ 52 h 92"/>
                <a:gd name="T58" fmla="*/ 82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2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2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2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6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2" y="84"/>
                  </a:lnTo>
                  <a:lnTo>
                    <a:pt x="30" y="88"/>
                  </a:lnTo>
                  <a:lnTo>
                    <a:pt x="40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4" y="84"/>
                  </a:lnTo>
                  <a:lnTo>
                    <a:pt x="74" y="76"/>
                  </a:lnTo>
                  <a:lnTo>
                    <a:pt x="74" y="76"/>
                  </a:lnTo>
                  <a:lnTo>
                    <a:pt x="70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30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4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8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2" y="52"/>
                  </a:lnTo>
                  <a:lnTo>
                    <a:pt x="82" y="52"/>
                  </a:lnTo>
                  <a:lnTo>
                    <a:pt x="82" y="80"/>
                  </a:lnTo>
                  <a:lnTo>
                    <a:pt x="82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8" name="Freeform 19"/>
            <p:cNvSpPr>
              <a:spLocks/>
            </p:cNvSpPr>
            <p:nvPr/>
          </p:nvSpPr>
          <p:spPr bwMode="auto">
            <a:xfrm>
              <a:off x="7543800" y="1209675"/>
              <a:ext cx="165100" cy="146050"/>
            </a:xfrm>
            <a:custGeom>
              <a:avLst/>
              <a:gdLst>
                <a:gd name="T0" fmla="*/ 102 w 104"/>
                <a:gd name="T1" fmla="*/ 36 h 92"/>
                <a:gd name="T2" fmla="*/ 96 w 104"/>
                <a:gd name="T3" fmla="*/ 22 h 92"/>
                <a:gd name="T4" fmla="*/ 84 w 104"/>
                <a:gd name="T5" fmla="*/ 10 h 92"/>
                <a:gd name="T6" fmla="*/ 70 w 104"/>
                <a:gd name="T7" fmla="*/ 2 h 92"/>
                <a:gd name="T8" fmla="*/ 52 w 104"/>
                <a:gd name="T9" fmla="*/ 0 h 92"/>
                <a:gd name="T10" fmla="*/ 40 w 104"/>
                <a:gd name="T11" fmla="*/ 2 h 92"/>
                <a:gd name="T12" fmla="*/ 22 w 104"/>
                <a:gd name="T13" fmla="*/ 8 h 92"/>
                <a:gd name="T14" fmla="*/ 8 w 104"/>
                <a:gd name="T15" fmla="*/ 20 h 92"/>
                <a:gd name="T16" fmla="*/ 0 w 104"/>
                <a:gd name="T17" fmla="*/ 38 h 92"/>
                <a:gd name="T18" fmla="*/ 0 w 104"/>
                <a:gd name="T19" fmla="*/ 46 h 92"/>
                <a:gd name="T20" fmla="*/ 4 w 104"/>
                <a:gd name="T21" fmla="*/ 64 h 92"/>
                <a:gd name="T22" fmla="*/ 14 w 104"/>
                <a:gd name="T23" fmla="*/ 78 h 92"/>
                <a:gd name="T24" fmla="*/ 30 w 104"/>
                <a:gd name="T25" fmla="*/ 88 h 92"/>
                <a:gd name="T26" fmla="*/ 50 w 104"/>
                <a:gd name="T27" fmla="*/ 92 h 92"/>
                <a:gd name="T28" fmla="*/ 62 w 104"/>
                <a:gd name="T29" fmla="*/ 90 h 92"/>
                <a:gd name="T30" fmla="*/ 72 w 104"/>
                <a:gd name="T31" fmla="*/ 76 h 92"/>
                <a:gd name="T32" fmla="*/ 68 w 104"/>
                <a:gd name="T33" fmla="*/ 78 h 92"/>
                <a:gd name="T34" fmla="*/ 52 w 104"/>
                <a:gd name="T35" fmla="*/ 80 h 92"/>
                <a:gd name="T36" fmla="*/ 44 w 104"/>
                <a:gd name="T37" fmla="*/ 80 h 92"/>
                <a:gd name="T38" fmla="*/ 32 w 104"/>
                <a:gd name="T39" fmla="*/ 74 h 92"/>
                <a:gd name="T40" fmla="*/ 24 w 104"/>
                <a:gd name="T41" fmla="*/ 56 h 92"/>
                <a:gd name="T42" fmla="*/ 24 w 104"/>
                <a:gd name="T43" fmla="*/ 46 h 92"/>
                <a:gd name="T44" fmla="*/ 28 w 104"/>
                <a:gd name="T45" fmla="*/ 22 h 92"/>
                <a:gd name="T46" fmla="*/ 36 w 104"/>
                <a:gd name="T47" fmla="*/ 12 h 92"/>
                <a:gd name="T48" fmla="*/ 52 w 104"/>
                <a:gd name="T49" fmla="*/ 8 h 92"/>
                <a:gd name="T50" fmla="*/ 60 w 104"/>
                <a:gd name="T51" fmla="*/ 10 h 92"/>
                <a:gd name="T52" fmla="*/ 72 w 104"/>
                <a:gd name="T53" fmla="*/ 16 h 92"/>
                <a:gd name="T54" fmla="*/ 78 w 104"/>
                <a:gd name="T55" fmla="*/ 26 h 92"/>
                <a:gd name="T56" fmla="*/ 80 w 104"/>
                <a:gd name="T57" fmla="*/ 52 h 92"/>
                <a:gd name="T58" fmla="*/ 80 w 104"/>
                <a:gd name="T59" fmla="*/ 80 h 92"/>
                <a:gd name="T60" fmla="*/ 104 w 104"/>
                <a:gd name="T61" fmla="*/ 90 h 92"/>
                <a:gd name="T62" fmla="*/ 104 w 104"/>
                <a:gd name="T63" fmla="*/ 50 h 92"/>
                <a:gd name="T64" fmla="*/ 102 w 104"/>
                <a:gd name="T65" fmla="*/ 36 h 9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04" h="92">
                  <a:moveTo>
                    <a:pt x="102" y="36"/>
                  </a:moveTo>
                  <a:lnTo>
                    <a:pt x="102" y="36"/>
                  </a:lnTo>
                  <a:lnTo>
                    <a:pt x="100" y="28"/>
                  </a:lnTo>
                  <a:lnTo>
                    <a:pt x="96" y="22"/>
                  </a:lnTo>
                  <a:lnTo>
                    <a:pt x="90" y="16"/>
                  </a:lnTo>
                  <a:lnTo>
                    <a:pt x="84" y="10"/>
                  </a:lnTo>
                  <a:lnTo>
                    <a:pt x="78" y="6"/>
                  </a:lnTo>
                  <a:lnTo>
                    <a:pt x="70" y="2"/>
                  </a:lnTo>
                  <a:lnTo>
                    <a:pt x="60" y="2"/>
                  </a:lnTo>
                  <a:lnTo>
                    <a:pt x="52" y="0"/>
                  </a:lnTo>
                  <a:lnTo>
                    <a:pt x="52" y="0"/>
                  </a:lnTo>
                  <a:lnTo>
                    <a:pt x="40" y="2"/>
                  </a:lnTo>
                  <a:lnTo>
                    <a:pt x="32" y="4"/>
                  </a:lnTo>
                  <a:lnTo>
                    <a:pt x="22" y="8"/>
                  </a:lnTo>
                  <a:lnTo>
                    <a:pt x="14" y="14"/>
                  </a:lnTo>
                  <a:lnTo>
                    <a:pt x="8" y="20"/>
                  </a:lnTo>
                  <a:lnTo>
                    <a:pt x="4" y="28"/>
                  </a:lnTo>
                  <a:lnTo>
                    <a:pt x="0" y="38"/>
                  </a:lnTo>
                  <a:lnTo>
                    <a:pt x="0" y="46"/>
                  </a:lnTo>
                  <a:lnTo>
                    <a:pt x="0" y="46"/>
                  </a:lnTo>
                  <a:lnTo>
                    <a:pt x="0" y="56"/>
                  </a:lnTo>
                  <a:lnTo>
                    <a:pt x="4" y="64"/>
                  </a:lnTo>
                  <a:lnTo>
                    <a:pt x="8" y="72"/>
                  </a:lnTo>
                  <a:lnTo>
                    <a:pt x="14" y="78"/>
                  </a:lnTo>
                  <a:lnTo>
                    <a:pt x="20" y="84"/>
                  </a:lnTo>
                  <a:lnTo>
                    <a:pt x="30" y="88"/>
                  </a:lnTo>
                  <a:lnTo>
                    <a:pt x="38" y="92"/>
                  </a:lnTo>
                  <a:lnTo>
                    <a:pt x="50" y="92"/>
                  </a:lnTo>
                  <a:lnTo>
                    <a:pt x="50" y="92"/>
                  </a:lnTo>
                  <a:lnTo>
                    <a:pt x="62" y="90"/>
                  </a:lnTo>
                  <a:lnTo>
                    <a:pt x="72" y="84"/>
                  </a:lnTo>
                  <a:lnTo>
                    <a:pt x="72" y="76"/>
                  </a:lnTo>
                  <a:lnTo>
                    <a:pt x="72" y="76"/>
                  </a:lnTo>
                  <a:lnTo>
                    <a:pt x="68" y="78"/>
                  </a:lnTo>
                  <a:lnTo>
                    <a:pt x="62" y="80"/>
                  </a:lnTo>
                  <a:lnTo>
                    <a:pt x="52" y="80"/>
                  </a:lnTo>
                  <a:lnTo>
                    <a:pt x="52" y="80"/>
                  </a:lnTo>
                  <a:lnTo>
                    <a:pt x="44" y="80"/>
                  </a:lnTo>
                  <a:lnTo>
                    <a:pt x="38" y="78"/>
                  </a:lnTo>
                  <a:lnTo>
                    <a:pt x="32" y="74"/>
                  </a:lnTo>
                  <a:lnTo>
                    <a:pt x="28" y="68"/>
                  </a:lnTo>
                  <a:lnTo>
                    <a:pt x="24" y="56"/>
                  </a:lnTo>
                  <a:lnTo>
                    <a:pt x="24" y="46"/>
                  </a:lnTo>
                  <a:lnTo>
                    <a:pt x="24" y="46"/>
                  </a:lnTo>
                  <a:lnTo>
                    <a:pt x="24" y="36"/>
                  </a:lnTo>
                  <a:lnTo>
                    <a:pt x="28" y="22"/>
                  </a:lnTo>
                  <a:lnTo>
                    <a:pt x="32" y="18"/>
                  </a:lnTo>
                  <a:lnTo>
                    <a:pt x="36" y="12"/>
                  </a:lnTo>
                  <a:lnTo>
                    <a:pt x="42" y="10"/>
                  </a:lnTo>
                  <a:lnTo>
                    <a:pt x="52" y="8"/>
                  </a:lnTo>
                  <a:lnTo>
                    <a:pt x="52" y="8"/>
                  </a:lnTo>
                  <a:lnTo>
                    <a:pt x="60" y="10"/>
                  </a:lnTo>
                  <a:lnTo>
                    <a:pt x="66" y="12"/>
                  </a:lnTo>
                  <a:lnTo>
                    <a:pt x="72" y="16"/>
                  </a:lnTo>
                  <a:lnTo>
                    <a:pt x="76" y="20"/>
                  </a:lnTo>
                  <a:lnTo>
                    <a:pt x="78" y="26"/>
                  </a:lnTo>
                  <a:lnTo>
                    <a:pt x="80" y="34"/>
                  </a:lnTo>
                  <a:lnTo>
                    <a:pt x="80" y="52"/>
                  </a:lnTo>
                  <a:lnTo>
                    <a:pt x="80" y="52"/>
                  </a:lnTo>
                  <a:lnTo>
                    <a:pt x="80" y="80"/>
                  </a:lnTo>
                  <a:lnTo>
                    <a:pt x="80" y="90"/>
                  </a:lnTo>
                  <a:lnTo>
                    <a:pt x="104" y="90"/>
                  </a:lnTo>
                  <a:lnTo>
                    <a:pt x="104" y="50"/>
                  </a:lnTo>
                  <a:lnTo>
                    <a:pt x="104" y="50"/>
                  </a:lnTo>
                  <a:lnTo>
                    <a:pt x="102" y="36"/>
                  </a:lnTo>
                  <a:lnTo>
                    <a:pt x="10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59" name="Freeform 20"/>
            <p:cNvSpPr>
              <a:spLocks/>
            </p:cNvSpPr>
            <p:nvPr/>
          </p:nvSpPr>
          <p:spPr bwMode="auto">
            <a:xfrm>
              <a:off x="7165975" y="1146175"/>
              <a:ext cx="73025" cy="228600"/>
            </a:xfrm>
            <a:custGeom>
              <a:avLst/>
              <a:gdLst>
                <a:gd name="T0" fmla="*/ 22 w 46"/>
                <a:gd name="T1" fmla="*/ 110 h 144"/>
                <a:gd name="T2" fmla="*/ 22 w 46"/>
                <a:gd name="T3" fmla="*/ 110 h 144"/>
                <a:gd name="T4" fmla="*/ 22 w 46"/>
                <a:gd name="T5" fmla="*/ 54 h 144"/>
                <a:gd name="T6" fmla="*/ 42 w 46"/>
                <a:gd name="T7" fmla="*/ 54 h 144"/>
                <a:gd name="T8" fmla="*/ 42 w 46"/>
                <a:gd name="T9" fmla="*/ 40 h 144"/>
                <a:gd name="T10" fmla="*/ 22 w 46"/>
                <a:gd name="T11" fmla="*/ 40 h 144"/>
                <a:gd name="T12" fmla="*/ 22 w 46"/>
                <a:gd name="T13" fmla="*/ 40 h 144"/>
                <a:gd name="T14" fmla="*/ 22 w 46"/>
                <a:gd name="T15" fmla="*/ 0 h 144"/>
                <a:gd name="T16" fmla="*/ 0 w 46"/>
                <a:gd name="T17" fmla="*/ 0 h 144"/>
                <a:gd name="T18" fmla="*/ 0 w 46"/>
                <a:gd name="T19" fmla="*/ 0 h 144"/>
                <a:gd name="T20" fmla="*/ 0 w 46"/>
                <a:gd name="T21" fmla="*/ 110 h 144"/>
                <a:gd name="T22" fmla="*/ 0 w 46"/>
                <a:gd name="T23" fmla="*/ 110 h 144"/>
                <a:gd name="T24" fmla="*/ 2 w 46"/>
                <a:gd name="T25" fmla="*/ 124 h 144"/>
                <a:gd name="T26" fmla="*/ 6 w 46"/>
                <a:gd name="T27" fmla="*/ 134 h 144"/>
                <a:gd name="T28" fmla="*/ 14 w 46"/>
                <a:gd name="T29" fmla="*/ 140 h 144"/>
                <a:gd name="T30" fmla="*/ 24 w 46"/>
                <a:gd name="T31" fmla="*/ 144 h 144"/>
                <a:gd name="T32" fmla="*/ 32 w 46"/>
                <a:gd name="T33" fmla="*/ 144 h 144"/>
                <a:gd name="T34" fmla="*/ 40 w 46"/>
                <a:gd name="T35" fmla="*/ 144 h 144"/>
                <a:gd name="T36" fmla="*/ 46 w 46"/>
                <a:gd name="T37" fmla="*/ 144 h 144"/>
                <a:gd name="T38" fmla="*/ 46 w 46"/>
                <a:gd name="T39" fmla="*/ 136 h 144"/>
                <a:gd name="T40" fmla="*/ 46 w 46"/>
                <a:gd name="T41" fmla="*/ 136 h 144"/>
                <a:gd name="T42" fmla="*/ 42 w 46"/>
                <a:gd name="T43" fmla="*/ 138 h 144"/>
                <a:gd name="T44" fmla="*/ 34 w 46"/>
                <a:gd name="T45" fmla="*/ 136 h 144"/>
                <a:gd name="T46" fmla="*/ 30 w 46"/>
                <a:gd name="T47" fmla="*/ 134 h 144"/>
                <a:gd name="T48" fmla="*/ 26 w 46"/>
                <a:gd name="T49" fmla="*/ 128 h 144"/>
                <a:gd name="T50" fmla="*/ 24 w 46"/>
                <a:gd name="T51" fmla="*/ 120 h 144"/>
                <a:gd name="T52" fmla="*/ 22 w 46"/>
                <a:gd name="T53" fmla="*/ 110 h 144"/>
                <a:gd name="T54" fmla="*/ 22 w 46"/>
                <a:gd name="T55" fmla="*/ 110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</a:cxnLst>
              <a:rect l="0" t="0" r="r" b="b"/>
              <a:pathLst>
                <a:path w="46" h="144">
                  <a:moveTo>
                    <a:pt x="22" y="110"/>
                  </a:moveTo>
                  <a:lnTo>
                    <a:pt x="22" y="110"/>
                  </a:lnTo>
                  <a:lnTo>
                    <a:pt x="22" y="54"/>
                  </a:lnTo>
                  <a:lnTo>
                    <a:pt x="42" y="54"/>
                  </a:lnTo>
                  <a:lnTo>
                    <a:pt x="42" y="40"/>
                  </a:lnTo>
                  <a:lnTo>
                    <a:pt x="22" y="40"/>
                  </a:lnTo>
                  <a:lnTo>
                    <a:pt x="22" y="40"/>
                  </a:lnTo>
                  <a:lnTo>
                    <a:pt x="22" y="0"/>
                  </a:lnTo>
                  <a:lnTo>
                    <a:pt x="0" y="0"/>
                  </a:lnTo>
                  <a:lnTo>
                    <a:pt x="0" y="0"/>
                  </a:lnTo>
                  <a:lnTo>
                    <a:pt x="0" y="110"/>
                  </a:lnTo>
                  <a:lnTo>
                    <a:pt x="0" y="110"/>
                  </a:lnTo>
                  <a:lnTo>
                    <a:pt x="2" y="124"/>
                  </a:lnTo>
                  <a:lnTo>
                    <a:pt x="6" y="134"/>
                  </a:lnTo>
                  <a:lnTo>
                    <a:pt x="14" y="140"/>
                  </a:lnTo>
                  <a:lnTo>
                    <a:pt x="24" y="144"/>
                  </a:lnTo>
                  <a:lnTo>
                    <a:pt x="32" y="144"/>
                  </a:lnTo>
                  <a:lnTo>
                    <a:pt x="40" y="144"/>
                  </a:lnTo>
                  <a:lnTo>
                    <a:pt x="46" y="144"/>
                  </a:lnTo>
                  <a:lnTo>
                    <a:pt x="46" y="136"/>
                  </a:lnTo>
                  <a:lnTo>
                    <a:pt x="46" y="136"/>
                  </a:lnTo>
                  <a:lnTo>
                    <a:pt x="42" y="138"/>
                  </a:lnTo>
                  <a:lnTo>
                    <a:pt x="34" y="136"/>
                  </a:lnTo>
                  <a:lnTo>
                    <a:pt x="30" y="134"/>
                  </a:lnTo>
                  <a:lnTo>
                    <a:pt x="26" y="128"/>
                  </a:lnTo>
                  <a:lnTo>
                    <a:pt x="24" y="120"/>
                  </a:lnTo>
                  <a:lnTo>
                    <a:pt x="22" y="110"/>
                  </a:lnTo>
                  <a:lnTo>
                    <a:pt x="22" y="110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60" name="Freeform 21"/>
            <p:cNvSpPr>
              <a:spLocks/>
            </p:cNvSpPr>
            <p:nvPr/>
          </p:nvSpPr>
          <p:spPr bwMode="auto">
            <a:xfrm>
              <a:off x="7461250" y="1209675"/>
              <a:ext cx="79375" cy="142875"/>
            </a:xfrm>
            <a:custGeom>
              <a:avLst/>
              <a:gdLst>
                <a:gd name="T0" fmla="*/ 22 w 50"/>
                <a:gd name="T1" fmla="*/ 36 h 90"/>
                <a:gd name="T2" fmla="*/ 22 w 50"/>
                <a:gd name="T3" fmla="*/ 36 h 90"/>
                <a:gd name="T4" fmla="*/ 22 w 50"/>
                <a:gd name="T5" fmla="*/ 90 h 90"/>
                <a:gd name="T6" fmla="*/ 0 w 50"/>
                <a:gd name="T7" fmla="*/ 90 h 90"/>
                <a:gd name="T8" fmla="*/ 0 w 50"/>
                <a:gd name="T9" fmla="*/ 90 h 90"/>
                <a:gd name="T10" fmla="*/ 0 w 50"/>
                <a:gd name="T11" fmla="*/ 36 h 90"/>
                <a:gd name="T12" fmla="*/ 0 w 50"/>
                <a:gd name="T13" fmla="*/ 36 h 90"/>
                <a:gd name="T14" fmla="*/ 0 w 50"/>
                <a:gd name="T15" fmla="*/ 28 h 90"/>
                <a:gd name="T16" fmla="*/ 2 w 50"/>
                <a:gd name="T17" fmla="*/ 22 h 90"/>
                <a:gd name="T18" fmla="*/ 4 w 50"/>
                <a:gd name="T19" fmla="*/ 16 h 90"/>
                <a:gd name="T20" fmla="*/ 8 w 50"/>
                <a:gd name="T21" fmla="*/ 12 h 90"/>
                <a:gd name="T22" fmla="*/ 16 w 50"/>
                <a:gd name="T23" fmla="*/ 6 h 90"/>
                <a:gd name="T24" fmla="*/ 24 w 50"/>
                <a:gd name="T25" fmla="*/ 2 h 90"/>
                <a:gd name="T26" fmla="*/ 34 w 50"/>
                <a:gd name="T27" fmla="*/ 0 h 90"/>
                <a:gd name="T28" fmla="*/ 42 w 50"/>
                <a:gd name="T29" fmla="*/ 0 h 90"/>
                <a:gd name="T30" fmla="*/ 50 w 50"/>
                <a:gd name="T31" fmla="*/ 2 h 90"/>
                <a:gd name="T32" fmla="*/ 50 w 50"/>
                <a:gd name="T33" fmla="*/ 10 h 90"/>
                <a:gd name="T34" fmla="*/ 50 w 50"/>
                <a:gd name="T35" fmla="*/ 10 h 90"/>
                <a:gd name="T36" fmla="*/ 46 w 50"/>
                <a:gd name="T37" fmla="*/ 8 h 90"/>
                <a:gd name="T38" fmla="*/ 36 w 50"/>
                <a:gd name="T39" fmla="*/ 10 h 90"/>
                <a:gd name="T40" fmla="*/ 32 w 50"/>
                <a:gd name="T41" fmla="*/ 12 h 90"/>
                <a:gd name="T42" fmla="*/ 26 w 50"/>
                <a:gd name="T43" fmla="*/ 16 h 90"/>
                <a:gd name="T44" fmla="*/ 24 w 50"/>
                <a:gd name="T45" fmla="*/ 24 h 90"/>
                <a:gd name="T46" fmla="*/ 22 w 50"/>
                <a:gd name="T47" fmla="*/ 36 h 90"/>
                <a:gd name="T48" fmla="*/ 22 w 50"/>
                <a:gd name="T49" fmla="*/ 36 h 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50" h="90">
                  <a:moveTo>
                    <a:pt x="22" y="36"/>
                  </a:moveTo>
                  <a:lnTo>
                    <a:pt x="22" y="36"/>
                  </a:lnTo>
                  <a:lnTo>
                    <a:pt x="22" y="90"/>
                  </a:lnTo>
                  <a:lnTo>
                    <a:pt x="0" y="90"/>
                  </a:lnTo>
                  <a:lnTo>
                    <a:pt x="0" y="90"/>
                  </a:lnTo>
                  <a:lnTo>
                    <a:pt x="0" y="36"/>
                  </a:lnTo>
                  <a:lnTo>
                    <a:pt x="0" y="36"/>
                  </a:lnTo>
                  <a:lnTo>
                    <a:pt x="0" y="28"/>
                  </a:lnTo>
                  <a:lnTo>
                    <a:pt x="2" y="22"/>
                  </a:lnTo>
                  <a:lnTo>
                    <a:pt x="4" y="16"/>
                  </a:lnTo>
                  <a:lnTo>
                    <a:pt x="8" y="12"/>
                  </a:lnTo>
                  <a:lnTo>
                    <a:pt x="16" y="6"/>
                  </a:lnTo>
                  <a:lnTo>
                    <a:pt x="24" y="2"/>
                  </a:lnTo>
                  <a:lnTo>
                    <a:pt x="34" y="0"/>
                  </a:lnTo>
                  <a:lnTo>
                    <a:pt x="42" y="0"/>
                  </a:lnTo>
                  <a:lnTo>
                    <a:pt x="50" y="2"/>
                  </a:lnTo>
                  <a:lnTo>
                    <a:pt x="50" y="10"/>
                  </a:lnTo>
                  <a:lnTo>
                    <a:pt x="50" y="10"/>
                  </a:lnTo>
                  <a:lnTo>
                    <a:pt x="46" y="8"/>
                  </a:lnTo>
                  <a:lnTo>
                    <a:pt x="36" y="10"/>
                  </a:lnTo>
                  <a:lnTo>
                    <a:pt x="32" y="12"/>
                  </a:lnTo>
                  <a:lnTo>
                    <a:pt x="26" y="16"/>
                  </a:lnTo>
                  <a:lnTo>
                    <a:pt x="24" y="24"/>
                  </a:lnTo>
                  <a:lnTo>
                    <a:pt x="22" y="36"/>
                  </a:lnTo>
                  <a:lnTo>
                    <a:pt x="22" y="36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  <p:sp>
          <p:nvSpPr>
            <p:cNvPr id="61" name="Freeform 22"/>
            <p:cNvSpPr>
              <a:spLocks noEditPoints="1"/>
            </p:cNvSpPr>
            <p:nvPr/>
          </p:nvSpPr>
          <p:spPr bwMode="auto">
            <a:xfrm>
              <a:off x="6937375" y="676275"/>
              <a:ext cx="603250" cy="425450"/>
            </a:xfrm>
            <a:custGeom>
              <a:avLst/>
              <a:gdLst>
                <a:gd name="T0" fmla="*/ 368 w 380"/>
                <a:gd name="T1" fmla="*/ 100 h 268"/>
                <a:gd name="T2" fmla="*/ 328 w 380"/>
                <a:gd name="T3" fmla="*/ 104 h 268"/>
                <a:gd name="T4" fmla="*/ 296 w 380"/>
                <a:gd name="T5" fmla="*/ 104 h 268"/>
                <a:gd name="T6" fmla="*/ 300 w 380"/>
                <a:gd name="T7" fmla="*/ 42 h 268"/>
                <a:gd name="T8" fmla="*/ 272 w 380"/>
                <a:gd name="T9" fmla="*/ 8 h 268"/>
                <a:gd name="T10" fmla="*/ 230 w 380"/>
                <a:gd name="T11" fmla="*/ 0 h 268"/>
                <a:gd name="T12" fmla="*/ 194 w 380"/>
                <a:gd name="T13" fmla="*/ 20 h 268"/>
                <a:gd name="T14" fmla="*/ 164 w 380"/>
                <a:gd name="T15" fmla="*/ 78 h 268"/>
                <a:gd name="T16" fmla="*/ 140 w 380"/>
                <a:gd name="T17" fmla="*/ 66 h 268"/>
                <a:gd name="T18" fmla="*/ 88 w 380"/>
                <a:gd name="T19" fmla="*/ 28 h 268"/>
                <a:gd name="T20" fmla="*/ 46 w 380"/>
                <a:gd name="T21" fmla="*/ 34 h 268"/>
                <a:gd name="T22" fmla="*/ 26 w 380"/>
                <a:gd name="T23" fmla="*/ 60 h 268"/>
                <a:gd name="T24" fmla="*/ 32 w 380"/>
                <a:gd name="T25" fmla="*/ 108 h 268"/>
                <a:gd name="T26" fmla="*/ 62 w 380"/>
                <a:gd name="T27" fmla="*/ 154 h 268"/>
                <a:gd name="T28" fmla="*/ 10 w 380"/>
                <a:gd name="T29" fmla="*/ 146 h 268"/>
                <a:gd name="T30" fmla="*/ 0 w 380"/>
                <a:gd name="T31" fmla="*/ 158 h 268"/>
                <a:gd name="T32" fmla="*/ 20 w 380"/>
                <a:gd name="T33" fmla="*/ 194 h 268"/>
                <a:gd name="T34" fmla="*/ 80 w 380"/>
                <a:gd name="T35" fmla="*/ 230 h 268"/>
                <a:gd name="T36" fmla="*/ 94 w 380"/>
                <a:gd name="T37" fmla="*/ 242 h 268"/>
                <a:gd name="T38" fmla="*/ 124 w 380"/>
                <a:gd name="T39" fmla="*/ 264 h 268"/>
                <a:gd name="T40" fmla="*/ 182 w 380"/>
                <a:gd name="T41" fmla="*/ 268 h 268"/>
                <a:gd name="T42" fmla="*/ 208 w 380"/>
                <a:gd name="T43" fmla="*/ 260 h 268"/>
                <a:gd name="T44" fmla="*/ 230 w 380"/>
                <a:gd name="T45" fmla="*/ 260 h 268"/>
                <a:gd name="T46" fmla="*/ 272 w 380"/>
                <a:gd name="T47" fmla="*/ 254 h 268"/>
                <a:gd name="T48" fmla="*/ 326 w 380"/>
                <a:gd name="T49" fmla="*/ 222 h 268"/>
                <a:gd name="T50" fmla="*/ 322 w 380"/>
                <a:gd name="T51" fmla="*/ 212 h 268"/>
                <a:gd name="T52" fmla="*/ 304 w 380"/>
                <a:gd name="T53" fmla="*/ 206 h 268"/>
                <a:gd name="T54" fmla="*/ 350 w 380"/>
                <a:gd name="T55" fmla="*/ 178 h 268"/>
                <a:gd name="T56" fmla="*/ 380 w 380"/>
                <a:gd name="T57" fmla="*/ 130 h 268"/>
                <a:gd name="T58" fmla="*/ 376 w 380"/>
                <a:gd name="T59" fmla="*/ 106 h 268"/>
                <a:gd name="T60" fmla="*/ 272 w 380"/>
                <a:gd name="T61" fmla="*/ 220 h 268"/>
                <a:gd name="T62" fmla="*/ 302 w 380"/>
                <a:gd name="T63" fmla="*/ 228 h 268"/>
                <a:gd name="T64" fmla="*/ 282 w 380"/>
                <a:gd name="T65" fmla="*/ 242 h 268"/>
                <a:gd name="T66" fmla="*/ 224 w 380"/>
                <a:gd name="T67" fmla="*/ 250 h 268"/>
                <a:gd name="T68" fmla="*/ 200 w 380"/>
                <a:gd name="T69" fmla="*/ 246 h 268"/>
                <a:gd name="T70" fmla="*/ 188 w 380"/>
                <a:gd name="T71" fmla="*/ 254 h 268"/>
                <a:gd name="T72" fmla="*/ 152 w 380"/>
                <a:gd name="T73" fmla="*/ 260 h 268"/>
                <a:gd name="T74" fmla="*/ 118 w 380"/>
                <a:gd name="T75" fmla="*/ 250 h 268"/>
                <a:gd name="T76" fmla="*/ 124 w 380"/>
                <a:gd name="T77" fmla="*/ 230 h 268"/>
                <a:gd name="T78" fmla="*/ 72 w 380"/>
                <a:gd name="T79" fmla="*/ 216 h 268"/>
                <a:gd name="T80" fmla="*/ 30 w 380"/>
                <a:gd name="T81" fmla="*/ 188 h 268"/>
                <a:gd name="T82" fmla="*/ 26 w 380"/>
                <a:gd name="T83" fmla="*/ 170 h 268"/>
                <a:gd name="T84" fmla="*/ 60 w 380"/>
                <a:gd name="T85" fmla="*/ 172 h 268"/>
                <a:gd name="T86" fmla="*/ 102 w 380"/>
                <a:gd name="T87" fmla="*/ 174 h 268"/>
                <a:gd name="T88" fmla="*/ 92 w 380"/>
                <a:gd name="T89" fmla="*/ 156 h 268"/>
                <a:gd name="T90" fmla="*/ 52 w 380"/>
                <a:gd name="T91" fmla="*/ 96 h 268"/>
                <a:gd name="T92" fmla="*/ 66 w 380"/>
                <a:gd name="T93" fmla="*/ 68 h 268"/>
                <a:gd name="T94" fmla="*/ 88 w 380"/>
                <a:gd name="T95" fmla="*/ 64 h 268"/>
                <a:gd name="T96" fmla="*/ 124 w 380"/>
                <a:gd name="T97" fmla="*/ 92 h 268"/>
                <a:gd name="T98" fmla="*/ 168 w 380"/>
                <a:gd name="T99" fmla="*/ 134 h 268"/>
                <a:gd name="T100" fmla="*/ 184 w 380"/>
                <a:gd name="T101" fmla="*/ 116 h 268"/>
                <a:gd name="T102" fmla="*/ 210 w 380"/>
                <a:gd name="T103" fmla="*/ 50 h 268"/>
                <a:gd name="T104" fmla="*/ 242 w 380"/>
                <a:gd name="T105" fmla="*/ 40 h 268"/>
                <a:gd name="T106" fmla="*/ 268 w 380"/>
                <a:gd name="T107" fmla="*/ 54 h 268"/>
                <a:gd name="T108" fmla="*/ 270 w 380"/>
                <a:gd name="T109" fmla="*/ 96 h 268"/>
                <a:gd name="T110" fmla="*/ 252 w 380"/>
                <a:gd name="T111" fmla="*/ 152 h 268"/>
                <a:gd name="T112" fmla="*/ 260 w 380"/>
                <a:gd name="T113" fmla="*/ 158 h 268"/>
                <a:gd name="T114" fmla="*/ 322 w 380"/>
                <a:gd name="T115" fmla="*/ 132 h 268"/>
                <a:gd name="T116" fmla="*/ 352 w 380"/>
                <a:gd name="T117" fmla="*/ 132 h 268"/>
                <a:gd name="T118" fmla="*/ 354 w 380"/>
                <a:gd name="T119" fmla="*/ 154 h 268"/>
                <a:gd name="T120" fmla="*/ 314 w 380"/>
                <a:gd name="T121" fmla="*/ 188 h 268"/>
                <a:gd name="T122" fmla="*/ 266 w 380"/>
                <a:gd name="T123" fmla="*/ 214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80" h="268">
                  <a:moveTo>
                    <a:pt x="376" y="106"/>
                  </a:moveTo>
                  <a:lnTo>
                    <a:pt x="376" y="106"/>
                  </a:lnTo>
                  <a:lnTo>
                    <a:pt x="372" y="102"/>
                  </a:lnTo>
                  <a:lnTo>
                    <a:pt x="368" y="100"/>
                  </a:lnTo>
                  <a:lnTo>
                    <a:pt x="362" y="98"/>
                  </a:lnTo>
                  <a:lnTo>
                    <a:pt x="356" y="98"/>
                  </a:lnTo>
                  <a:lnTo>
                    <a:pt x="342" y="100"/>
                  </a:lnTo>
                  <a:lnTo>
                    <a:pt x="328" y="104"/>
                  </a:lnTo>
                  <a:lnTo>
                    <a:pt x="302" y="116"/>
                  </a:lnTo>
                  <a:lnTo>
                    <a:pt x="290" y="120"/>
                  </a:lnTo>
                  <a:lnTo>
                    <a:pt x="290" y="120"/>
                  </a:lnTo>
                  <a:lnTo>
                    <a:pt x="296" y="104"/>
                  </a:lnTo>
                  <a:lnTo>
                    <a:pt x="300" y="86"/>
                  </a:lnTo>
                  <a:lnTo>
                    <a:pt x="302" y="64"/>
                  </a:lnTo>
                  <a:lnTo>
                    <a:pt x="302" y="52"/>
                  </a:lnTo>
                  <a:lnTo>
                    <a:pt x="300" y="42"/>
                  </a:lnTo>
                  <a:lnTo>
                    <a:pt x="296" y="32"/>
                  </a:lnTo>
                  <a:lnTo>
                    <a:pt x="290" y="22"/>
                  </a:lnTo>
                  <a:lnTo>
                    <a:pt x="282" y="14"/>
                  </a:lnTo>
                  <a:lnTo>
                    <a:pt x="272" y="8"/>
                  </a:lnTo>
                  <a:lnTo>
                    <a:pt x="260" y="4"/>
                  </a:lnTo>
                  <a:lnTo>
                    <a:pt x="244" y="0"/>
                  </a:lnTo>
                  <a:lnTo>
                    <a:pt x="244" y="0"/>
                  </a:lnTo>
                  <a:lnTo>
                    <a:pt x="230" y="0"/>
                  </a:lnTo>
                  <a:lnTo>
                    <a:pt x="220" y="2"/>
                  </a:lnTo>
                  <a:lnTo>
                    <a:pt x="210" y="6"/>
                  </a:lnTo>
                  <a:lnTo>
                    <a:pt x="202" y="12"/>
                  </a:lnTo>
                  <a:lnTo>
                    <a:pt x="194" y="20"/>
                  </a:lnTo>
                  <a:lnTo>
                    <a:pt x="186" y="28"/>
                  </a:lnTo>
                  <a:lnTo>
                    <a:pt x="176" y="44"/>
                  </a:lnTo>
                  <a:lnTo>
                    <a:pt x="168" y="62"/>
                  </a:lnTo>
                  <a:lnTo>
                    <a:pt x="164" y="78"/>
                  </a:lnTo>
                  <a:lnTo>
                    <a:pt x="160" y="94"/>
                  </a:lnTo>
                  <a:lnTo>
                    <a:pt x="160" y="94"/>
                  </a:lnTo>
                  <a:lnTo>
                    <a:pt x="150" y="80"/>
                  </a:lnTo>
                  <a:lnTo>
                    <a:pt x="140" y="66"/>
                  </a:lnTo>
                  <a:lnTo>
                    <a:pt x="124" y="50"/>
                  </a:lnTo>
                  <a:lnTo>
                    <a:pt x="108" y="38"/>
                  </a:lnTo>
                  <a:lnTo>
                    <a:pt x="98" y="32"/>
                  </a:lnTo>
                  <a:lnTo>
                    <a:pt x="88" y="28"/>
                  </a:lnTo>
                  <a:lnTo>
                    <a:pt x="78" y="26"/>
                  </a:lnTo>
                  <a:lnTo>
                    <a:pt x="68" y="26"/>
                  </a:lnTo>
                  <a:lnTo>
                    <a:pt x="58" y="30"/>
                  </a:lnTo>
                  <a:lnTo>
                    <a:pt x="46" y="34"/>
                  </a:lnTo>
                  <a:lnTo>
                    <a:pt x="46" y="34"/>
                  </a:lnTo>
                  <a:lnTo>
                    <a:pt x="36" y="42"/>
                  </a:lnTo>
                  <a:lnTo>
                    <a:pt x="30" y="50"/>
                  </a:lnTo>
                  <a:lnTo>
                    <a:pt x="26" y="60"/>
                  </a:lnTo>
                  <a:lnTo>
                    <a:pt x="24" y="70"/>
                  </a:lnTo>
                  <a:lnTo>
                    <a:pt x="24" y="80"/>
                  </a:lnTo>
                  <a:lnTo>
                    <a:pt x="24" y="88"/>
                  </a:lnTo>
                  <a:lnTo>
                    <a:pt x="32" y="108"/>
                  </a:lnTo>
                  <a:lnTo>
                    <a:pt x="42" y="126"/>
                  </a:lnTo>
                  <a:lnTo>
                    <a:pt x="52" y="140"/>
                  </a:lnTo>
                  <a:lnTo>
                    <a:pt x="62" y="154"/>
                  </a:lnTo>
                  <a:lnTo>
                    <a:pt x="62" y="154"/>
                  </a:lnTo>
                  <a:lnTo>
                    <a:pt x="52" y="150"/>
                  </a:lnTo>
                  <a:lnTo>
                    <a:pt x="30" y="146"/>
                  </a:lnTo>
                  <a:lnTo>
                    <a:pt x="20" y="144"/>
                  </a:lnTo>
                  <a:lnTo>
                    <a:pt x="10" y="146"/>
                  </a:lnTo>
                  <a:lnTo>
                    <a:pt x="6" y="148"/>
                  </a:lnTo>
                  <a:lnTo>
                    <a:pt x="2" y="150"/>
                  </a:lnTo>
                  <a:lnTo>
                    <a:pt x="0" y="152"/>
                  </a:lnTo>
                  <a:lnTo>
                    <a:pt x="0" y="158"/>
                  </a:lnTo>
                  <a:lnTo>
                    <a:pt x="0" y="158"/>
                  </a:lnTo>
                  <a:lnTo>
                    <a:pt x="2" y="170"/>
                  </a:lnTo>
                  <a:lnTo>
                    <a:pt x="10" y="182"/>
                  </a:lnTo>
                  <a:lnTo>
                    <a:pt x="20" y="194"/>
                  </a:lnTo>
                  <a:lnTo>
                    <a:pt x="32" y="206"/>
                  </a:lnTo>
                  <a:lnTo>
                    <a:pt x="48" y="214"/>
                  </a:lnTo>
                  <a:lnTo>
                    <a:pt x="64" y="222"/>
                  </a:lnTo>
                  <a:lnTo>
                    <a:pt x="80" y="230"/>
                  </a:lnTo>
                  <a:lnTo>
                    <a:pt x="94" y="234"/>
                  </a:lnTo>
                  <a:lnTo>
                    <a:pt x="94" y="234"/>
                  </a:lnTo>
                  <a:lnTo>
                    <a:pt x="94" y="238"/>
                  </a:lnTo>
                  <a:lnTo>
                    <a:pt x="94" y="242"/>
                  </a:lnTo>
                  <a:lnTo>
                    <a:pt x="96" y="248"/>
                  </a:lnTo>
                  <a:lnTo>
                    <a:pt x="100" y="254"/>
                  </a:lnTo>
                  <a:lnTo>
                    <a:pt x="110" y="258"/>
                  </a:lnTo>
                  <a:lnTo>
                    <a:pt x="124" y="264"/>
                  </a:lnTo>
                  <a:lnTo>
                    <a:pt x="146" y="266"/>
                  </a:lnTo>
                  <a:lnTo>
                    <a:pt x="146" y="266"/>
                  </a:lnTo>
                  <a:lnTo>
                    <a:pt x="166" y="268"/>
                  </a:lnTo>
                  <a:lnTo>
                    <a:pt x="182" y="268"/>
                  </a:lnTo>
                  <a:lnTo>
                    <a:pt x="192" y="266"/>
                  </a:lnTo>
                  <a:lnTo>
                    <a:pt x="200" y="264"/>
                  </a:lnTo>
                  <a:lnTo>
                    <a:pt x="206" y="262"/>
                  </a:lnTo>
                  <a:lnTo>
                    <a:pt x="208" y="260"/>
                  </a:lnTo>
                  <a:lnTo>
                    <a:pt x="210" y="256"/>
                  </a:lnTo>
                  <a:lnTo>
                    <a:pt x="210" y="256"/>
                  </a:lnTo>
                  <a:lnTo>
                    <a:pt x="214" y="258"/>
                  </a:lnTo>
                  <a:lnTo>
                    <a:pt x="230" y="260"/>
                  </a:lnTo>
                  <a:lnTo>
                    <a:pt x="250" y="260"/>
                  </a:lnTo>
                  <a:lnTo>
                    <a:pt x="260" y="258"/>
                  </a:lnTo>
                  <a:lnTo>
                    <a:pt x="272" y="254"/>
                  </a:lnTo>
                  <a:lnTo>
                    <a:pt x="272" y="254"/>
                  </a:lnTo>
                  <a:lnTo>
                    <a:pt x="288" y="248"/>
                  </a:lnTo>
                  <a:lnTo>
                    <a:pt x="306" y="238"/>
                  </a:lnTo>
                  <a:lnTo>
                    <a:pt x="322" y="226"/>
                  </a:lnTo>
                  <a:lnTo>
                    <a:pt x="326" y="222"/>
                  </a:lnTo>
                  <a:lnTo>
                    <a:pt x="326" y="216"/>
                  </a:lnTo>
                  <a:lnTo>
                    <a:pt x="326" y="216"/>
                  </a:lnTo>
                  <a:lnTo>
                    <a:pt x="324" y="214"/>
                  </a:lnTo>
                  <a:lnTo>
                    <a:pt x="322" y="212"/>
                  </a:lnTo>
                  <a:lnTo>
                    <a:pt x="312" y="210"/>
                  </a:lnTo>
                  <a:lnTo>
                    <a:pt x="304" y="210"/>
                  </a:lnTo>
                  <a:lnTo>
                    <a:pt x="302" y="208"/>
                  </a:lnTo>
                  <a:lnTo>
                    <a:pt x="304" y="206"/>
                  </a:lnTo>
                  <a:lnTo>
                    <a:pt x="304" y="206"/>
                  </a:lnTo>
                  <a:lnTo>
                    <a:pt x="320" y="200"/>
                  </a:lnTo>
                  <a:lnTo>
                    <a:pt x="334" y="190"/>
                  </a:lnTo>
                  <a:lnTo>
                    <a:pt x="350" y="178"/>
                  </a:lnTo>
                  <a:lnTo>
                    <a:pt x="362" y="166"/>
                  </a:lnTo>
                  <a:lnTo>
                    <a:pt x="372" y="152"/>
                  </a:lnTo>
                  <a:lnTo>
                    <a:pt x="380" y="136"/>
                  </a:lnTo>
                  <a:lnTo>
                    <a:pt x="380" y="130"/>
                  </a:lnTo>
                  <a:lnTo>
                    <a:pt x="380" y="122"/>
                  </a:lnTo>
                  <a:lnTo>
                    <a:pt x="378" y="114"/>
                  </a:lnTo>
                  <a:lnTo>
                    <a:pt x="376" y="106"/>
                  </a:lnTo>
                  <a:lnTo>
                    <a:pt x="376" y="106"/>
                  </a:lnTo>
                  <a:close/>
                  <a:moveTo>
                    <a:pt x="266" y="214"/>
                  </a:moveTo>
                  <a:lnTo>
                    <a:pt x="266" y="214"/>
                  </a:lnTo>
                  <a:lnTo>
                    <a:pt x="268" y="218"/>
                  </a:lnTo>
                  <a:lnTo>
                    <a:pt x="272" y="220"/>
                  </a:lnTo>
                  <a:lnTo>
                    <a:pt x="284" y="224"/>
                  </a:lnTo>
                  <a:lnTo>
                    <a:pt x="296" y="224"/>
                  </a:lnTo>
                  <a:lnTo>
                    <a:pt x="300" y="226"/>
                  </a:lnTo>
                  <a:lnTo>
                    <a:pt x="302" y="228"/>
                  </a:lnTo>
                  <a:lnTo>
                    <a:pt x="302" y="228"/>
                  </a:lnTo>
                  <a:lnTo>
                    <a:pt x="298" y="232"/>
                  </a:lnTo>
                  <a:lnTo>
                    <a:pt x="292" y="238"/>
                  </a:lnTo>
                  <a:lnTo>
                    <a:pt x="282" y="242"/>
                  </a:lnTo>
                  <a:lnTo>
                    <a:pt x="268" y="246"/>
                  </a:lnTo>
                  <a:lnTo>
                    <a:pt x="254" y="250"/>
                  </a:lnTo>
                  <a:lnTo>
                    <a:pt x="240" y="250"/>
                  </a:lnTo>
                  <a:lnTo>
                    <a:pt x="224" y="250"/>
                  </a:lnTo>
                  <a:lnTo>
                    <a:pt x="212" y="248"/>
                  </a:lnTo>
                  <a:lnTo>
                    <a:pt x="212" y="248"/>
                  </a:lnTo>
                  <a:lnTo>
                    <a:pt x="206" y="246"/>
                  </a:lnTo>
                  <a:lnTo>
                    <a:pt x="200" y="246"/>
                  </a:lnTo>
                  <a:lnTo>
                    <a:pt x="200" y="246"/>
                  </a:lnTo>
                  <a:lnTo>
                    <a:pt x="198" y="246"/>
                  </a:lnTo>
                  <a:lnTo>
                    <a:pt x="194" y="248"/>
                  </a:lnTo>
                  <a:lnTo>
                    <a:pt x="188" y="254"/>
                  </a:lnTo>
                  <a:lnTo>
                    <a:pt x="184" y="258"/>
                  </a:lnTo>
                  <a:lnTo>
                    <a:pt x="176" y="260"/>
                  </a:lnTo>
                  <a:lnTo>
                    <a:pt x="166" y="262"/>
                  </a:lnTo>
                  <a:lnTo>
                    <a:pt x="152" y="260"/>
                  </a:lnTo>
                  <a:lnTo>
                    <a:pt x="152" y="260"/>
                  </a:lnTo>
                  <a:lnTo>
                    <a:pt x="134" y="258"/>
                  </a:lnTo>
                  <a:lnTo>
                    <a:pt x="122" y="254"/>
                  </a:lnTo>
                  <a:lnTo>
                    <a:pt x="118" y="250"/>
                  </a:lnTo>
                  <a:lnTo>
                    <a:pt x="118" y="246"/>
                  </a:lnTo>
                  <a:lnTo>
                    <a:pt x="124" y="240"/>
                  </a:lnTo>
                  <a:lnTo>
                    <a:pt x="126" y="236"/>
                  </a:lnTo>
                  <a:lnTo>
                    <a:pt x="124" y="230"/>
                  </a:lnTo>
                  <a:lnTo>
                    <a:pt x="124" y="230"/>
                  </a:lnTo>
                  <a:lnTo>
                    <a:pt x="118" y="228"/>
                  </a:lnTo>
                  <a:lnTo>
                    <a:pt x="106" y="224"/>
                  </a:lnTo>
                  <a:lnTo>
                    <a:pt x="72" y="216"/>
                  </a:lnTo>
                  <a:lnTo>
                    <a:pt x="56" y="208"/>
                  </a:lnTo>
                  <a:lnTo>
                    <a:pt x="40" y="200"/>
                  </a:lnTo>
                  <a:lnTo>
                    <a:pt x="34" y="194"/>
                  </a:lnTo>
                  <a:lnTo>
                    <a:pt x="30" y="188"/>
                  </a:lnTo>
                  <a:lnTo>
                    <a:pt x="26" y="182"/>
                  </a:lnTo>
                  <a:lnTo>
                    <a:pt x="24" y="174"/>
                  </a:lnTo>
                  <a:lnTo>
                    <a:pt x="24" y="174"/>
                  </a:lnTo>
                  <a:lnTo>
                    <a:pt x="26" y="170"/>
                  </a:lnTo>
                  <a:lnTo>
                    <a:pt x="28" y="168"/>
                  </a:lnTo>
                  <a:lnTo>
                    <a:pt x="36" y="168"/>
                  </a:lnTo>
                  <a:lnTo>
                    <a:pt x="46" y="170"/>
                  </a:lnTo>
                  <a:lnTo>
                    <a:pt x="60" y="172"/>
                  </a:lnTo>
                  <a:lnTo>
                    <a:pt x="86" y="178"/>
                  </a:lnTo>
                  <a:lnTo>
                    <a:pt x="96" y="178"/>
                  </a:lnTo>
                  <a:lnTo>
                    <a:pt x="100" y="176"/>
                  </a:lnTo>
                  <a:lnTo>
                    <a:pt x="102" y="174"/>
                  </a:lnTo>
                  <a:lnTo>
                    <a:pt x="102" y="174"/>
                  </a:lnTo>
                  <a:lnTo>
                    <a:pt x="102" y="172"/>
                  </a:lnTo>
                  <a:lnTo>
                    <a:pt x="100" y="168"/>
                  </a:lnTo>
                  <a:lnTo>
                    <a:pt x="92" y="156"/>
                  </a:lnTo>
                  <a:lnTo>
                    <a:pt x="68" y="128"/>
                  </a:lnTo>
                  <a:lnTo>
                    <a:pt x="58" y="112"/>
                  </a:lnTo>
                  <a:lnTo>
                    <a:pt x="54" y="104"/>
                  </a:lnTo>
                  <a:lnTo>
                    <a:pt x="52" y="96"/>
                  </a:lnTo>
                  <a:lnTo>
                    <a:pt x="52" y="88"/>
                  </a:lnTo>
                  <a:lnTo>
                    <a:pt x="54" y="82"/>
                  </a:lnTo>
                  <a:lnTo>
                    <a:pt x="58" y="74"/>
                  </a:lnTo>
                  <a:lnTo>
                    <a:pt x="66" y="68"/>
                  </a:lnTo>
                  <a:lnTo>
                    <a:pt x="66" y="68"/>
                  </a:lnTo>
                  <a:lnTo>
                    <a:pt x="74" y="64"/>
                  </a:lnTo>
                  <a:lnTo>
                    <a:pt x="82" y="62"/>
                  </a:lnTo>
                  <a:lnTo>
                    <a:pt x="88" y="64"/>
                  </a:lnTo>
                  <a:lnTo>
                    <a:pt x="96" y="66"/>
                  </a:lnTo>
                  <a:lnTo>
                    <a:pt x="104" y="70"/>
                  </a:lnTo>
                  <a:lnTo>
                    <a:pt x="110" y="76"/>
                  </a:lnTo>
                  <a:lnTo>
                    <a:pt x="124" y="92"/>
                  </a:lnTo>
                  <a:lnTo>
                    <a:pt x="148" y="122"/>
                  </a:lnTo>
                  <a:lnTo>
                    <a:pt x="158" y="132"/>
                  </a:lnTo>
                  <a:lnTo>
                    <a:pt x="164" y="134"/>
                  </a:lnTo>
                  <a:lnTo>
                    <a:pt x="168" y="134"/>
                  </a:lnTo>
                  <a:lnTo>
                    <a:pt x="168" y="134"/>
                  </a:lnTo>
                  <a:lnTo>
                    <a:pt x="172" y="132"/>
                  </a:lnTo>
                  <a:lnTo>
                    <a:pt x="176" y="128"/>
                  </a:lnTo>
                  <a:lnTo>
                    <a:pt x="184" y="116"/>
                  </a:lnTo>
                  <a:lnTo>
                    <a:pt x="194" y="82"/>
                  </a:lnTo>
                  <a:lnTo>
                    <a:pt x="200" y="64"/>
                  </a:lnTo>
                  <a:lnTo>
                    <a:pt x="204" y="56"/>
                  </a:lnTo>
                  <a:lnTo>
                    <a:pt x="210" y="50"/>
                  </a:lnTo>
                  <a:lnTo>
                    <a:pt x="216" y="44"/>
                  </a:lnTo>
                  <a:lnTo>
                    <a:pt x="222" y="40"/>
                  </a:lnTo>
                  <a:lnTo>
                    <a:pt x="232" y="40"/>
                  </a:lnTo>
                  <a:lnTo>
                    <a:pt x="242" y="40"/>
                  </a:lnTo>
                  <a:lnTo>
                    <a:pt x="242" y="40"/>
                  </a:lnTo>
                  <a:lnTo>
                    <a:pt x="254" y="44"/>
                  </a:lnTo>
                  <a:lnTo>
                    <a:pt x="262" y="48"/>
                  </a:lnTo>
                  <a:lnTo>
                    <a:pt x="268" y="54"/>
                  </a:lnTo>
                  <a:lnTo>
                    <a:pt x="272" y="60"/>
                  </a:lnTo>
                  <a:lnTo>
                    <a:pt x="274" y="68"/>
                  </a:lnTo>
                  <a:lnTo>
                    <a:pt x="274" y="78"/>
                  </a:lnTo>
                  <a:lnTo>
                    <a:pt x="270" y="96"/>
                  </a:lnTo>
                  <a:lnTo>
                    <a:pt x="264" y="114"/>
                  </a:lnTo>
                  <a:lnTo>
                    <a:pt x="256" y="132"/>
                  </a:lnTo>
                  <a:lnTo>
                    <a:pt x="252" y="146"/>
                  </a:lnTo>
                  <a:lnTo>
                    <a:pt x="252" y="152"/>
                  </a:lnTo>
                  <a:lnTo>
                    <a:pt x="254" y="156"/>
                  </a:lnTo>
                  <a:lnTo>
                    <a:pt x="254" y="156"/>
                  </a:lnTo>
                  <a:lnTo>
                    <a:pt x="256" y="158"/>
                  </a:lnTo>
                  <a:lnTo>
                    <a:pt x="260" y="158"/>
                  </a:lnTo>
                  <a:lnTo>
                    <a:pt x="274" y="156"/>
                  </a:lnTo>
                  <a:lnTo>
                    <a:pt x="288" y="148"/>
                  </a:lnTo>
                  <a:lnTo>
                    <a:pt x="306" y="140"/>
                  </a:lnTo>
                  <a:lnTo>
                    <a:pt x="322" y="132"/>
                  </a:lnTo>
                  <a:lnTo>
                    <a:pt x="338" y="128"/>
                  </a:lnTo>
                  <a:lnTo>
                    <a:pt x="344" y="128"/>
                  </a:lnTo>
                  <a:lnTo>
                    <a:pt x="348" y="128"/>
                  </a:lnTo>
                  <a:lnTo>
                    <a:pt x="352" y="132"/>
                  </a:lnTo>
                  <a:lnTo>
                    <a:pt x="354" y="138"/>
                  </a:lnTo>
                  <a:lnTo>
                    <a:pt x="354" y="138"/>
                  </a:lnTo>
                  <a:lnTo>
                    <a:pt x="354" y="146"/>
                  </a:lnTo>
                  <a:lnTo>
                    <a:pt x="354" y="154"/>
                  </a:lnTo>
                  <a:lnTo>
                    <a:pt x="350" y="160"/>
                  </a:lnTo>
                  <a:lnTo>
                    <a:pt x="344" y="166"/>
                  </a:lnTo>
                  <a:lnTo>
                    <a:pt x="330" y="178"/>
                  </a:lnTo>
                  <a:lnTo>
                    <a:pt x="314" y="188"/>
                  </a:lnTo>
                  <a:lnTo>
                    <a:pt x="282" y="202"/>
                  </a:lnTo>
                  <a:lnTo>
                    <a:pt x="270" y="208"/>
                  </a:lnTo>
                  <a:lnTo>
                    <a:pt x="268" y="210"/>
                  </a:lnTo>
                  <a:lnTo>
                    <a:pt x="266" y="214"/>
                  </a:lnTo>
                  <a:lnTo>
                    <a:pt x="266" y="214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pt-BR" dirty="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5177955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2870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Gestão Incidentes TD Natura</a:t>
            </a:r>
          </a:p>
        </p:txBody>
      </p:sp>
      <p:sp>
        <p:nvSpPr>
          <p:cNvPr id="10" name="CaixaDeTexto 9"/>
          <p:cNvSpPr txBox="1"/>
          <p:nvPr/>
        </p:nvSpPr>
        <p:spPr>
          <a:xfrm>
            <a:off x="725489" y="884203"/>
            <a:ext cx="4753731" cy="3631763"/>
          </a:xfrm>
          <a:prstGeom prst="rect">
            <a:avLst/>
          </a:prstGeom>
        </p:spPr>
        <p:txBody>
          <a:bodyPr wrap="square" rtlCol="0">
            <a:spAutoFit/>
          </a:bodyPr>
          <a:lstStyle/>
          <a:p>
            <a:r>
              <a:rPr lang="pt-BR" sz="1000" dirty="0" smtClean="0">
                <a:solidFill>
                  <a:srgbClr val="5F5F5F"/>
                </a:solidFill>
                <a:latin typeface="Gill Sans Std Light" pitchFamily="34" charset="0"/>
              </a:rPr>
              <a:t>A Natura utiliza as boas práticas do ITIL v3 para a de gestão de incidentes críticos. A primeira versão de gestão de incidentes críticos iniciou em 2010 e desde então vem sofrendo melhorias nos processos com base nas necessidades da Natura.</a:t>
            </a:r>
          </a:p>
          <a:p>
            <a:endParaRPr lang="pt-BR" sz="1000" dirty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000" b="1" dirty="0">
                <a:solidFill>
                  <a:srgbClr val="5F5F5F"/>
                </a:solidFill>
                <a:latin typeface="Gill Sans Std Light" pitchFamily="34" charset="0"/>
              </a:rPr>
              <a:t>Sobre o ITIL v3</a:t>
            </a:r>
          </a:p>
          <a:p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Um conjunto de Melhores Práticas que orientam o Gerenciamento de Serviço de TI. ITIL é de propriedade do OGC e consiste de uma série de publicações que fornecem recomendações para o provisionamento da Qualidade dos Serviços de TI, e dos Processos e recursos necessários para suportá-los.</a:t>
            </a:r>
          </a:p>
          <a:p>
            <a:endParaRPr lang="pt-BR" sz="1000" dirty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OGC É um departamento do governo britânico que suporta a entrega da agenda de aquisições do governo através de seu trabalho colaborativo de aquisição e no aumento do nível de habilidades de aquisição com os departamentos. Também fornece suporte para projetos complexos do setor público.</a:t>
            </a:r>
          </a:p>
          <a:p>
            <a:endParaRPr lang="pt-BR" sz="1000" dirty="0">
              <a:solidFill>
                <a:srgbClr val="5F5F5F"/>
              </a:solidFill>
              <a:latin typeface="Gill Sans Std Light" pitchFamily="34" charset="0"/>
            </a:endParaRP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Uma fonte de Boas Práticas no Gerenciamento de Serviço;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Usado para estabelecer e melhorar as capacidades no Gerenciamento de Serviço; 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Não é um padrão;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ISO/IEC 20000 apresenta um padrão formal e universal para Organizações que buscam ter as capacidades do Gerenciamento de Serviço auditadas e certificadas;</a:t>
            </a:r>
          </a:p>
          <a:p>
            <a:pPr marL="742950" lvl="1" indent="-285750">
              <a:buFont typeface="Arial" pitchFamily="34" charset="0"/>
              <a:buChar char="•"/>
            </a:pPr>
            <a:r>
              <a:rPr lang="pt-BR" sz="1000" dirty="0">
                <a:solidFill>
                  <a:srgbClr val="5F5F5F"/>
                </a:solidFill>
                <a:latin typeface="Gill Sans Std Light" pitchFamily="34" charset="0"/>
              </a:rPr>
              <a:t>ITIL® oferece insumos para aderência à ISO/IEC 20000</a:t>
            </a:r>
            <a:r>
              <a:rPr lang="pt-BR" sz="1000" dirty="0" smtClean="0">
                <a:solidFill>
                  <a:srgbClr val="5F5F5F"/>
                </a:solidFill>
                <a:latin typeface="Gill Sans Std Light" pitchFamily="34" charset="0"/>
              </a:rPr>
              <a:t>.</a:t>
            </a:r>
          </a:p>
        </p:txBody>
      </p:sp>
      <p:pic>
        <p:nvPicPr>
          <p:cNvPr id="4" name="Picture 4" descr="SM Lifecycle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07755" y="854217"/>
            <a:ext cx="2110842" cy="21318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5" name="Picture 8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3849" y="3003798"/>
            <a:ext cx="1419526" cy="12964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0091995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Retângulo 54">
            <a:hlinkClick r:id="rId3" action="ppaction://hlinksldjump"/>
          </p:cNvPr>
          <p:cNvSpPr/>
          <p:nvPr/>
        </p:nvSpPr>
        <p:spPr>
          <a:xfrm>
            <a:off x="7956376" y="3278439"/>
            <a:ext cx="932747" cy="152555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graphicFrame>
        <p:nvGraphicFramePr>
          <p:cNvPr id="20" name="Diagrama 19"/>
          <p:cNvGraphicFramePr/>
          <p:nvPr>
            <p:extLst>
              <p:ext uri="{D42A27DB-BD31-4B8C-83A1-F6EECF244321}">
                <p14:modId xmlns:p14="http://schemas.microsoft.com/office/powerpoint/2010/main" val="1154435175"/>
              </p:ext>
            </p:extLst>
          </p:nvPr>
        </p:nvGraphicFramePr>
        <p:xfrm>
          <a:off x="251520" y="-772169"/>
          <a:ext cx="8712968" cy="3559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IC - Linha do Tempo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19" name="Retângulo 18"/>
          <p:cNvSpPr/>
          <p:nvPr/>
        </p:nvSpPr>
        <p:spPr>
          <a:xfrm>
            <a:off x="3508827" y="1290225"/>
            <a:ext cx="919157" cy="1785581"/>
          </a:xfrm>
          <a:prstGeom prst="rect">
            <a:avLst/>
          </a:prstGeom>
          <a:solidFill>
            <a:srgbClr val="FFC000">
              <a:alpha val="48000"/>
            </a:srgb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Definição da Gravidade do IC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275270" y="1278668"/>
            <a:ext cx="919157" cy="1785581"/>
          </a:xfrm>
          <a:prstGeom prst="rect">
            <a:avLst/>
          </a:prstGeom>
          <a:solidFill>
            <a:srgbClr val="FFFF00">
              <a:alpha val="48000"/>
            </a:srgb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000" dirty="0" smtClean="0">
                <a:solidFill>
                  <a:schemeClr val="tx1"/>
                </a:solidFill>
              </a:rPr>
              <a:t>- Eventos</a:t>
            </a:r>
          </a:p>
          <a:p>
            <a:pPr algn="ctr">
              <a:lnSpc>
                <a:spcPct val="150000"/>
              </a:lnSpc>
            </a:pPr>
            <a:r>
              <a:rPr lang="pt-BR" sz="1000" dirty="0" smtClean="0">
                <a:solidFill>
                  <a:schemeClr val="tx1"/>
                </a:solidFill>
              </a:rPr>
              <a:t>- Monitoração</a:t>
            </a:r>
          </a:p>
          <a:p>
            <a:pPr algn="ctr">
              <a:lnSpc>
                <a:spcPct val="150000"/>
              </a:lnSpc>
            </a:pPr>
            <a:r>
              <a:rPr lang="pt-BR" sz="1000" dirty="0" smtClean="0">
                <a:solidFill>
                  <a:schemeClr val="tx1"/>
                </a:solidFill>
              </a:rPr>
              <a:t>- Usuário</a:t>
            </a:r>
            <a:endParaRPr lang="pt-BR" sz="1000" dirty="0">
              <a:solidFill>
                <a:schemeClr val="tx1"/>
              </a:solidFill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1351742" y="1290225"/>
            <a:ext cx="1996122" cy="1785581"/>
          </a:xfrm>
          <a:prstGeom prst="rect">
            <a:avLst/>
          </a:prstGeom>
          <a:solidFill>
            <a:schemeClr val="accent4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lnSpc>
                <a:spcPct val="150000"/>
              </a:lnSpc>
            </a:pPr>
            <a:r>
              <a:rPr lang="pt-BR" sz="1100" dirty="0" smtClean="0">
                <a:solidFill>
                  <a:schemeClr val="tx1"/>
                </a:solidFill>
              </a:rPr>
              <a:t>Registro na </a:t>
            </a:r>
            <a:r>
              <a:rPr lang="pt-BR" sz="1100" b="1" dirty="0" smtClean="0">
                <a:solidFill>
                  <a:schemeClr val="tx1"/>
                </a:solidFill>
              </a:rPr>
              <a:t>Ferramenta de Gestão</a:t>
            </a:r>
            <a:endParaRPr lang="pt-BR" sz="1100" b="1" dirty="0">
              <a:solidFill>
                <a:schemeClr val="tx1"/>
              </a:solidFill>
            </a:endParaRPr>
          </a:p>
        </p:txBody>
      </p:sp>
      <p:sp>
        <p:nvSpPr>
          <p:cNvPr id="24" name="Retângulo 23"/>
          <p:cNvSpPr/>
          <p:nvPr/>
        </p:nvSpPr>
        <p:spPr>
          <a:xfrm>
            <a:off x="4588724" y="1290225"/>
            <a:ext cx="3079619" cy="1785581"/>
          </a:xfrm>
          <a:prstGeom prst="rect">
            <a:avLst/>
          </a:prstGeom>
          <a:solidFill>
            <a:schemeClr val="accent2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100" dirty="0" smtClean="0">
                <a:solidFill>
                  <a:schemeClr val="tx1"/>
                </a:solidFill>
              </a:rPr>
              <a:t>- Envolvimento Time Técnico (Infraestrutura\aplicação)</a:t>
            </a:r>
          </a:p>
          <a:p>
            <a:pPr algn="ctr"/>
            <a:endParaRPr lang="pt-BR" sz="1100" dirty="0" smtClean="0">
              <a:solidFill>
                <a:schemeClr val="tx1"/>
              </a:solidFill>
            </a:endParaRPr>
          </a:p>
          <a:p>
            <a:pPr algn="ctr"/>
            <a:r>
              <a:rPr lang="pt-BR" sz="1100" dirty="0" smtClean="0">
                <a:solidFill>
                  <a:schemeClr val="tx1"/>
                </a:solidFill>
              </a:rPr>
              <a:t>- Abertura conferência Técnica</a:t>
            </a:r>
            <a:endParaRPr lang="pt-BR" sz="1100" dirty="0">
              <a:solidFill>
                <a:schemeClr val="tx1"/>
              </a:solidFill>
            </a:endParaRPr>
          </a:p>
        </p:txBody>
      </p:sp>
      <p:sp>
        <p:nvSpPr>
          <p:cNvPr id="25" name="Retângulo 24"/>
          <p:cNvSpPr/>
          <p:nvPr/>
        </p:nvSpPr>
        <p:spPr>
          <a:xfrm>
            <a:off x="7800485" y="1290224"/>
            <a:ext cx="919157" cy="1785581"/>
          </a:xfrm>
          <a:prstGeom prst="rect">
            <a:avLst/>
          </a:prstGeom>
          <a:solidFill>
            <a:schemeClr val="accent3">
              <a:lumMod val="60000"/>
              <a:lumOff val="40000"/>
              <a:alpha val="48000"/>
            </a:schemeClr>
          </a:solidFill>
          <a:ln>
            <a:noFill/>
          </a:ln>
        </p:spPr>
        <p:style>
          <a:lnRef idx="1">
            <a:schemeClr val="accent6"/>
          </a:lnRef>
          <a:fillRef idx="3">
            <a:schemeClr val="accent6"/>
          </a:fillRef>
          <a:effectRef idx="2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Validação</a:t>
            </a:r>
          </a:p>
          <a:p>
            <a:pPr algn="ctr"/>
            <a:endParaRPr lang="pt-BR" sz="1200" dirty="0">
              <a:solidFill>
                <a:schemeClr val="tx1"/>
              </a:solidFill>
            </a:endParaRPr>
          </a:p>
          <a:p>
            <a:pPr algn="ctr"/>
            <a:r>
              <a:rPr lang="pt-BR" sz="1200" dirty="0" smtClean="0">
                <a:solidFill>
                  <a:schemeClr val="tx1"/>
                </a:solidFill>
              </a:rPr>
              <a:t>Abertura </a:t>
            </a:r>
            <a:r>
              <a:rPr lang="pt-BR" sz="1200" b="1" dirty="0" smtClean="0">
                <a:solidFill>
                  <a:schemeClr val="tx1"/>
                </a:solidFill>
              </a:rPr>
              <a:t>Problema</a:t>
            </a:r>
          </a:p>
        </p:txBody>
      </p:sp>
      <p:grpSp>
        <p:nvGrpSpPr>
          <p:cNvPr id="50" name="Grupo 49"/>
          <p:cNvGrpSpPr/>
          <p:nvPr/>
        </p:nvGrpSpPr>
        <p:grpSpPr>
          <a:xfrm>
            <a:off x="3961418" y="3063253"/>
            <a:ext cx="472433" cy="1272719"/>
            <a:chOff x="3968405" y="3059684"/>
            <a:chExt cx="884273" cy="826193"/>
          </a:xfrm>
        </p:grpSpPr>
        <p:cxnSp>
          <p:nvCxnSpPr>
            <p:cNvPr id="46" name="Conector reto 45"/>
            <p:cNvCxnSpPr/>
            <p:nvPr/>
          </p:nvCxnSpPr>
          <p:spPr>
            <a:xfrm flipH="1">
              <a:off x="3968405" y="3059684"/>
              <a:ext cx="2" cy="826193"/>
            </a:xfrm>
            <a:prstGeom prst="line">
              <a:avLst/>
            </a:prstGeom>
            <a:ln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8" name="Conector de seta reta 47"/>
            <p:cNvCxnSpPr/>
            <p:nvPr/>
          </p:nvCxnSpPr>
          <p:spPr>
            <a:xfrm>
              <a:off x="3979437" y="3282251"/>
              <a:ext cx="86333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49" name="Conector de seta reta 48"/>
            <p:cNvCxnSpPr/>
            <p:nvPr/>
          </p:nvCxnSpPr>
          <p:spPr>
            <a:xfrm>
              <a:off x="3989339" y="3885638"/>
              <a:ext cx="863339" cy="0"/>
            </a:xfrm>
            <a:prstGeom prst="straightConnector1">
              <a:avLst/>
            </a:prstGeom>
            <a:ln>
              <a:tailEnd type="arrow"/>
            </a:ln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1" name="CaixaDeTexto 50"/>
          <p:cNvSpPr txBox="1"/>
          <p:nvPr/>
        </p:nvSpPr>
        <p:spPr>
          <a:xfrm>
            <a:off x="4370125" y="3278439"/>
            <a:ext cx="4169119" cy="90024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 smtClean="0">
                <a:solidFill>
                  <a:srgbClr val="5F5F5F"/>
                </a:solidFill>
                <a:latin typeface="Gill Sans Std" pitchFamily="34" charset="0"/>
              </a:rPr>
              <a:t>IC0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 – Acionamento imediato da Gerência Sênior, Diretoria e VP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Fabricação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Captação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Distribuição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Faturamento e Separação</a:t>
            </a:r>
          </a:p>
        </p:txBody>
      </p:sp>
      <p:sp>
        <p:nvSpPr>
          <p:cNvPr id="52" name="CaixaDeTexto 51"/>
          <p:cNvSpPr txBox="1"/>
          <p:nvPr/>
        </p:nvSpPr>
        <p:spPr>
          <a:xfrm>
            <a:off x="4367851" y="4203426"/>
            <a:ext cx="368806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50" b="1" dirty="0" smtClean="0">
                <a:solidFill>
                  <a:srgbClr val="5F5F5F"/>
                </a:solidFill>
                <a:latin typeface="Gill Sans Std" pitchFamily="34" charset="0"/>
              </a:rPr>
              <a:t>IC1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 ou</a:t>
            </a:r>
            <a:r>
              <a:rPr lang="pt-BR" sz="1050" b="1" dirty="0" smtClean="0">
                <a:solidFill>
                  <a:srgbClr val="5F5F5F"/>
                </a:solidFill>
                <a:latin typeface="Gill Sans Std" pitchFamily="34" charset="0"/>
              </a:rPr>
              <a:t> IC2 </a:t>
            </a: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– Acionamento Gerência Sênior e Diretoria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Demais aplicações não relacionadas no IC0 com impacto no negócio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050" dirty="0" smtClean="0">
                <a:solidFill>
                  <a:srgbClr val="5F5F5F"/>
                </a:solidFill>
                <a:latin typeface="Gill Sans Std" pitchFamily="34" charset="0"/>
              </a:rPr>
              <a:t>IC1 – Indisponibilidade e IC2 - Lentidão</a:t>
            </a:r>
          </a:p>
        </p:txBody>
      </p:sp>
      <p:grpSp>
        <p:nvGrpSpPr>
          <p:cNvPr id="54" name="Grupo 53"/>
          <p:cNvGrpSpPr/>
          <p:nvPr/>
        </p:nvGrpSpPr>
        <p:grpSpPr>
          <a:xfrm>
            <a:off x="7884368" y="3388446"/>
            <a:ext cx="1004755" cy="1319794"/>
            <a:chOff x="7884368" y="3388446"/>
            <a:chExt cx="1004755" cy="1319794"/>
          </a:xfrm>
        </p:grpSpPr>
        <p:pic>
          <p:nvPicPr>
            <p:cNvPr id="5122" name="Picture 2" descr="E:\Users\br89699\AppData\Local\Microsoft\Windows\Temporary Internet Files\Content.IE5\WLWH5GDU\boca_megafone1[1].jpg">
              <a:hlinkClick r:id="rId3" action="ppaction://hlinksldjump"/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175724" y="3388446"/>
              <a:ext cx="558972" cy="56014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4" name="Picture 4" descr="E:\Users\br89699\AppData\Local\Microsoft\Windows\Temporary Internet Files\Content.IE5\3IRTJVVQ\Galaxy-S4-Hero[1].png"/>
            <p:cNvPicPr>
              <a:picLocks noChangeAspect="1" noChangeArrowheads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84368" y="3948590"/>
              <a:ext cx="606576" cy="35681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5" name="Picture 5" descr="E:\Users\br89699\AppData\Local\Microsoft\Windows\Temporary Internet Files\Content.IE5\3IRTJVVQ\sms-gratis[1].png"/>
            <p:cNvPicPr>
              <a:picLocks noChangeAspect="1" noChangeArrowheads="1"/>
            </p:cNvPicPr>
            <p:nvPr/>
          </p:nvPicPr>
          <p:blipFill>
            <a:blip r:embed="rId11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81240" y="4336768"/>
              <a:ext cx="371472" cy="371472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6" name="Picture 6" descr="E:\Users\br89699\AppData\Local\Microsoft\Windows\Temporary Internet Files\Content.IE5\WLWH5GDU\email_icon-295x300[1].jpg"/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82301" y="4306093"/>
              <a:ext cx="299485" cy="30456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5123" name="Picture 3" descr="E:\Users\br89699\AppData\Local\Microsoft\Windows\Temporary Internet Files\Content.IE5\X3HA5SB5\whatsapp[1].jpg"/>
            <p:cNvPicPr>
              <a:picLocks noChangeAspect="1" noChangeArrowheads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41380" y="3948590"/>
              <a:ext cx="547743" cy="35211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53" name="Mais 52"/>
            <p:cNvSpPr/>
            <p:nvPr/>
          </p:nvSpPr>
          <p:spPr>
            <a:xfrm>
              <a:off x="8278540" y="4170369"/>
              <a:ext cx="216024" cy="173714"/>
            </a:xfrm>
            <a:prstGeom prst="mathPlus">
              <a:avLst/>
            </a:prstGeom>
          </p:spPr>
          <p:style>
            <a:lnRef idx="1">
              <a:schemeClr val="accent6"/>
            </a:lnRef>
            <a:fillRef idx="3">
              <a:schemeClr val="accent6"/>
            </a:fillRef>
            <a:effectRef idx="2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</p:spTree>
    <p:extLst>
      <p:ext uri="{BB962C8B-B14F-4D97-AF65-F5344CB8AC3E}">
        <p14:creationId xmlns:p14="http://schemas.microsoft.com/office/powerpoint/2010/main" val="136206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Comunicação Gerencial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pic>
        <p:nvPicPr>
          <p:cNvPr id="11" name="Imagem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97441" y="555526"/>
            <a:ext cx="3623031" cy="4374984"/>
          </a:xfrm>
          <a:prstGeom prst="rect">
            <a:avLst/>
          </a:prstGeom>
        </p:spPr>
      </p:pic>
      <p:pic>
        <p:nvPicPr>
          <p:cNvPr id="13" name="Picture 2" descr="E:\Users\br89699\AppData\Local\Microsoft\Windows\Temporary Internet Files\Content.IE5\WLWH5GDU\boca_megafone1[1].jpg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871" y="523827"/>
            <a:ext cx="738567" cy="7401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4" descr="E:\Users\br89699\AppData\Local\Microsoft\Windows\Temporary Internet Files\Content.IE5\3IRTJVVQ\Galaxy-S4-Hero[1]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559" y="1362807"/>
            <a:ext cx="958668" cy="56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5" descr="E:\Users\br89699\AppData\Local\Microsoft\Windows\Temporary Internet Files\Content.IE5\3IRTJVVQ\sms-gratis[1].png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8364" y="2771341"/>
            <a:ext cx="587099" cy="587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6" descr="E:\Users\br89699\AppData\Local\Microsoft\Windows\Temporary Internet Files\Content.IE5\WLWH5GDU\email_icon-295x300[1].jp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624" y="3758950"/>
            <a:ext cx="473328" cy="481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3" descr="E:\Users\br89699\AppData\Local\Microsoft\Windows\Temporary Internet Files\Content.IE5\X3HA5SB5\whatsapp[1].jpg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2770" y="2085006"/>
            <a:ext cx="865684" cy="5565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895838" y="1312747"/>
            <a:ext cx="418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Meio de comunicação interna na TD, com acionamento telefônico para os times técnico e gerencial. Para o caso de IC0 a VP TD é acionada em até 30 minutos.</a:t>
            </a:r>
          </a:p>
        </p:txBody>
      </p:sp>
      <p:sp>
        <p:nvSpPr>
          <p:cNvPr id="19" name="CaixaDeTexto 18"/>
          <p:cNvSpPr txBox="1"/>
          <p:nvPr/>
        </p:nvSpPr>
        <p:spPr>
          <a:xfrm>
            <a:off x="904689" y="2037506"/>
            <a:ext cx="41802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Existem dois grupos na VP TD separados em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IC0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IC1\IC2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, o objetivo do grupo é detalhar as ações que estão em andamento para acompanhamento das evoluções\impacto.</a:t>
            </a:r>
          </a:p>
        </p:txBody>
      </p:sp>
      <p:sp>
        <p:nvSpPr>
          <p:cNvPr id="20" name="CaixaDeTexto 19"/>
          <p:cNvSpPr txBox="1"/>
          <p:nvPr/>
        </p:nvSpPr>
        <p:spPr>
          <a:xfrm>
            <a:off x="912785" y="2747911"/>
            <a:ext cx="41802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Recurso em avaliação de continuidade. É utilizado para comunicação simples de um IC (0, 1 ou 2) com impacto, previsão, status etc. Utilizado para os públicos da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TD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e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Negócio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.</a:t>
            </a:r>
          </a:p>
        </p:txBody>
      </p:sp>
      <p:sp>
        <p:nvSpPr>
          <p:cNvPr id="21" name="CaixaDeTexto 20"/>
          <p:cNvSpPr txBox="1"/>
          <p:nvPr/>
        </p:nvSpPr>
        <p:spPr>
          <a:xfrm>
            <a:off x="923342" y="3684969"/>
            <a:ext cx="418021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Utilizado para comunicação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detalhada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tanto para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TD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como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Negócio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com ações e previsão. Temos como objetivo um número reduzido de comunicação com este canal focando em: comunicar (1) início do problema, (2) informar previsão de solução e (3) encerramento</a:t>
            </a:r>
          </a:p>
        </p:txBody>
      </p:sp>
    </p:spTree>
    <p:extLst>
      <p:ext uri="{BB962C8B-B14F-4D97-AF65-F5344CB8AC3E}">
        <p14:creationId xmlns:p14="http://schemas.microsoft.com/office/powerpoint/2010/main" val="564035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Análise processo atual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pic>
        <p:nvPicPr>
          <p:cNvPr id="5126" name="Picture 6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36759" y="860137"/>
            <a:ext cx="3035641" cy="182138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9" name="Picture 9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714" y="2781852"/>
            <a:ext cx="3338901" cy="18781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Seta para a direita 9"/>
          <p:cNvSpPr/>
          <p:nvPr/>
        </p:nvSpPr>
        <p:spPr>
          <a:xfrm>
            <a:off x="4679633" y="1743577"/>
            <a:ext cx="648072" cy="24120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28" name="Seta para a direita 27"/>
          <p:cNvSpPr/>
          <p:nvPr/>
        </p:nvSpPr>
        <p:spPr>
          <a:xfrm rot="8681372">
            <a:off x="4299946" y="2617751"/>
            <a:ext cx="684179" cy="286696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2" name="CaixaDeTexto 11"/>
          <p:cNvSpPr txBox="1"/>
          <p:nvPr/>
        </p:nvSpPr>
        <p:spPr>
          <a:xfrm>
            <a:off x="4679633" y="3435846"/>
            <a:ext cx="421284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Temos oportunidade em redução </a:t>
            </a:r>
            <a:r>
              <a:rPr lang="pt-BR" sz="1200" dirty="0">
                <a:solidFill>
                  <a:srgbClr val="5F5F5F"/>
                </a:solidFill>
                <a:latin typeface="Gill Sans Std" pitchFamily="34" charset="0"/>
              </a:rPr>
              <a:t>de apenas 10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% dos </a:t>
            </a:r>
            <a:r>
              <a:rPr lang="pt-BR" sz="1200" dirty="0" err="1" smtClean="0">
                <a:solidFill>
                  <a:srgbClr val="5F5F5F"/>
                </a:solidFill>
                <a:latin typeface="Gill Sans Std" pitchFamily="34" charset="0"/>
              </a:rPr>
              <a:t>ICs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 escalonados como IC0, no trabalho de revisão em andamento</a:t>
            </a:r>
          </a:p>
        </p:txBody>
      </p:sp>
      <p:sp>
        <p:nvSpPr>
          <p:cNvPr id="30" name="Seta para a direita 29"/>
          <p:cNvSpPr/>
          <p:nvPr/>
        </p:nvSpPr>
        <p:spPr>
          <a:xfrm>
            <a:off x="4139952" y="3507854"/>
            <a:ext cx="426702" cy="241200"/>
          </a:xfrm>
          <a:prstGeom prst="righ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5130" name="Picture 10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1223" y="891420"/>
            <a:ext cx="3994753" cy="17086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0847170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Análise processo atual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9880" y="812481"/>
            <a:ext cx="4097883" cy="161891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3396" y="2715766"/>
            <a:ext cx="4310852" cy="17054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CaixaDeTexto 10"/>
          <p:cNvSpPr txBox="1"/>
          <p:nvPr/>
        </p:nvSpPr>
        <p:spPr>
          <a:xfrm>
            <a:off x="4788024" y="2643758"/>
            <a:ext cx="421284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Na comparação histórica constatamos que nas ações anteriores de redução dos incidentes críticos foram reduzidos refletindo o impacto real para o Negócio</a:t>
            </a:r>
          </a:p>
          <a:p>
            <a:pPr marL="171450" indent="-171450">
              <a:buFont typeface="Arial" pitchFamily="34" charset="0"/>
              <a:buChar char="•"/>
            </a:pPr>
            <a:endParaRPr lang="pt-BR" sz="1200" dirty="0">
              <a:solidFill>
                <a:srgbClr val="5F5F5F"/>
              </a:solidFill>
              <a:latin typeface="Gill Sans Std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A redução dos incidentes está muito atrelado á gestão de problemas atacando as causas e evitando os incidentes</a:t>
            </a:r>
          </a:p>
          <a:p>
            <a:pPr marL="171450" indent="-171450">
              <a:buFont typeface="Arial" pitchFamily="34" charset="0"/>
              <a:buChar char="•"/>
            </a:pPr>
            <a:endParaRPr lang="pt-BR" sz="1200" dirty="0">
              <a:solidFill>
                <a:srgbClr val="5F5F5F"/>
              </a:solidFill>
              <a:latin typeface="Gill Sans Std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A quantidade de comunicados por IC está em 4,2, podemos realizar um trabalho para reduzir para 3 comunicados contemplando: 1º início IC, 2º Previsão e 3º Encerramento, para tal, precisamos: mais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precisão na previsão</a:t>
            </a:r>
            <a:r>
              <a:rPr lang="pt-BR" sz="1200" dirty="0" smtClean="0">
                <a:solidFill>
                  <a:srgbClr val="5F5F5F"/>
                </a:solidFill>
                <a:latin typeface="Gill Sans Std" pitchFamily="34" charset="0"/>
              </a:rPr>
              <a:t>, não utilizar o comunicado de </a:t>
            </a:r>
            <a:r>
              <a:rPr lang="pt-BR" sz="1200" b="1" dirty="0" smtClean="0">
                <a:solidFill>
                  <a:srgbClr val="5F5F5F"/>
                </a:solidFill>
                <a:latin typeface="Gill Sans Std" pitchFamily="34" charset="0"/>
              </a:rPr>
              <a:t>monitoração</a:t>
            </a:r>
          </a:p>
        </p:txBody>
      </p:sp>
      <p:sp>
        <p:nvSpPr>
          <p:cNvPr id="3" name="Chave direita 2"/>
          <p:cNvSpPr/>
          <p:nvPr/>
        </p:nvSpPr>
        <p:spPr>
          <a:xfrm>
            <a:off x="4437763" y="699542"/>
            <a:ext cx="422269" cy="4051031"/>
          </a:xfrm>
          <a:prstGeom prst="rightBrace">
            <a:avLst>
              <a:gd name="adj1" fmla="val 8333"/>
              <a:gd name="adj2" fmla="val 17754"/>
            </a:avLst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6149" name="Picture 5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65539" y="700405"/>
            <a:ext cx="3494861" cy="18502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148565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Análise processo atual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1520" y="771550"/>
            <a:ext cx="3639420" cy="37782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CaixaDeTexto 1"/>
          <p:cNvSpPr txBox="1"/>
          <p:nvPr/>
        </p:nvSpPr>
        <p:spPr>
          <a:xfrm>
            <a:off x="4355976" y="843558"/>
            <a:ext cx="42484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Avaliando as aplicações afetadas tanto Infra como </a:t>
            </a:r>
            <a:r>
              <a:rPr lang="pt-BR" sz="1400" dirty="0" err="1" smtClean="0">
                <a:solidFill>
                  <a:srgbClr val="5F5F5F"/>
                </a:solidFill>
                <a:latin typeface="Gill Sans Std" pitchFamily="34" charset="0"/>
              </a:rPr>
              <a:t>App</a:t>
            </a:r>
            <a:r>
              <a:rPr lang="pt-BR" sz="1400" dirty="0" smtClean="0">
                <a:solidFill>
                  <a:srgbClr val="5F5F5F"/>
                </a:solidFill>
                <a:latin typeface="Gill Sans Std" pitchFamily="34" charset="0"/>
              </a:rPr>
              <a:t> (na visão de IC0) constatamos que está pulverizado, não sendo possível apontar os ofensores.</a:t>
            </a:r>
          </a:p>
          <a:p>
            <a:endParaRPr lang="pt-BR" sz="1400" dirty="0">
              <a:solidFill>
                <a:srgbClr val="5F5F5F"/>
              </a:solidFill>
              <a:latin typeface="Gill Sans Std" pitchFamily="34" charset="0"/>
            </a:endParaRPr>
          </a:p>
        </p:txBody>
      </p:sp>
      <p:sp>
        <p:nvSpPr>
          <p:cNvPr id="5" name="CaixaDeTexto 4"/>
          <p:cNvSpPr txBox="1"/>
          <p:nvPr/>
        </p:nvSpPr>
        <p:spPr>
          <a:xfrm>
            <a:off x="4427984" y="2067694"/>
            <a:ext cx="4032448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pt-BR" dirty="0" smtClean="0">
                <a:solidFill>
                  <a:srgbClr val="C00000"/>
                </a:solidFill>
                <a:latin typeface="Gill Sans Std" pitchFamily="34" charset="0"/>
              </a:rPr>
              <a:t>Inserir quebra de infra e </a:t>
            </a:r>
            <a:r>
              <a:rPr lang="pt-BR" dirty="0" err="1" smtClean="0">
                <a:solidFill>
                  <a:srgbClr val="C00000"/>
                </a:solidFill>
                <a:latin typeface="Gill Sans Std" pitchFamily="34" charset="0"/>
              </a:rPr>
              <a:t>app</a:t>
            </a:r>
            <a:r>
              <a:rPr lang="pt-BR" dirty="0" smtClean="0">
                <a:solidFill>
                  <a:srgbClr val="C00000"/>
                </a:solidFill>
                <a:latin typeface="Gill Sans Std" pitchFamily="34" charset="0"/>
              </a:rPr>
              <a:t> por sistema afetado.</a:t>
            </a:r>
          </a:p>
          <a:p>
            <a:pPr marL="457200" indent="-457200">
              <a:buFont typeface="+mj-lt"/>
              <a:buAutoNum type="arabicPeriod"/>
            </a:pPr>
            <a:endParaRPr lang="pt-BR" dirty="0">
              <a:solidFill>
                <a:srgbClr val="C00000"/>
              </a:solidFill>
              <a:latin typeface="Gill Sans Std" pitchFamily="34" charset="0"/>
            </a:endParaRPr>
          </a:p>
          <a:p>
            <a:pPr marL="457200" indent="-457200">
              <a:buFont typeface="+mj-lt"/>
              <a:buAutoNum type="arabicPeriod"/>
            </a:pPr>
            <a:r>
              <a:rPr lang="pt-BR" dirty="0" smtClean="0">
                <a:solidFill>
                  <a:srgbClr val="C00000"/>
                </a:solidFill>
                <a:latin typeface="Gill Sans Std" pitchFamily="34" charset="0"/>
              </a:rPr>
              <a:t>Indicador de Reincidência.</a:t>
            </a:r>
          </a:p>
          <a:p>
            <a:pPr marL="457200" indent="-457200">
              <a:buFont typeface="+mj-lt"/>
              <a:buAutoNum type="arabicPeriod"/>
            </a:pPr>
            <a:endParaRPr lang="pt-BR" sz="2000" b="1" dirty="0">
              <a:solidFill>
                <a:srgbClr val="C00000"/>
              </a:solidFill>
              <a:latin typeface="Gill Sans Std" pitchFamily="34" charset="0"/>
            </a:endParaRPr>
          </a:p>
          <a:p>
            <a:r>
              <a:rPr lang="pt-BR" sz="2000" b="1" dirty="0" smtClean="0">
                <a:solidFill>
                  <a:srgbClr val="C00000"/>
                </a:solidFill>
                <a:latin typeface="Gill Sans Std" pitchFamily="34" charset="0"/>
              </a:rPr>
              <a:t>Time de Processos realizando esta atividade!</a:t>
            </a:r>
          </a:p>
        </p:txBody>
      </p:sp>
    </p:spTree>
    <p:extLst>
      <p:ext uri="{BB962C8B-B14F-4D97-AF65-F5344CB8AC3E}">
        <p14:creationId xmlns:p14="http://schemas.microsoft.com/office/powerpoint/2010/main" val="14331782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err="1" smtClean="0">
                <a:solidFill>
                  <a:srgbClr val="004F71"/>
                </a:solidFill>
                <a:latin typeface="Gill Sans Std ExtraBold" pitchFamily="34" charset="0"/>
              </a:rPr>
              <a:t>GAPs</a:t>
            </a:r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 do processo atual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3" name="CaixaDeTexto 2"/>
          <p:cNvSpPr txBox="1"/>
          <p:nvPr/>
        </p:nvSpPr>
        <p:spPr>
          <a:xfrm>
            <a:off x="1187624" y="1275606"/>
            <a:ext cx="691276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200" b="1" dirty="0" smtClean="0">
                <a:latin typeface="Gill Sans Std" pitchFamily="34" charset="0"/>
              </a:rPr>
              <a:t>Inserir os </a:t>
            </a:r>
            <a:r>
              <a:rPr lang="pt-BR" sz="1200" b="1" dirty="0" err="1" smtClean="0">
                <a:latin typeface="Gill Sans Std" pitchFamily="34" charset="0"/>
              </a:rPr>
              <a:t>GAPs</a:t>
            </a:r>
            <a:r>
              <a:rPr lang="pt-BR" sz="1200" b="1" dirty="0" smtClean="0">
                <a:latin typeface="Gill Sans Std" pitchFamily="34" charset="0"/>
              </a:rPr>
              <a:t> identificados na análise do processo.</a:t>
            </a:r>
          </a:p>
          <a:p>
            <a:endParaRPr lang="pt-BR" sz="1200" dirty="0">
              <a:latin typeface="Gill Sans Std" pitchFamily="34" charset="0"/>
            </a:endParaRP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Muitos comunicados no IC0</a:t>
            </a:r>
          </a:p>
          <a:p>
            <a:pPr marL="1085850" lvl="2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Problema: Todo mundo recebendo tudo (Caos)</a:t>
            </a:r>
          </a:p>
          <a:p>
            <a:pPr marL="628650" lvl="1" indent="-171450">
              <a:buFont typeface="Arial" pitchFamily="34" charset="0"/>
              <a:buChar char="•"/>
            </a:pPr>
            <a:endParaRPr lang="pt-BR" sz="1200" dirty="0">
              <a:latin typeface="Gill Sans Std" pitchFamily="34" charset="0"/>
            </a:endParaRP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Qualidade no mapeamento de impacto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Qualidade no mapeamento do problema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Ausência de Matriz de Papel e Responsabilidade (RACI)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Ausência de critério para definição de </a:t>
            </a:r>
            <a:r>
              <a:rPr lang="pt-BR" sz="1200" dirty="0" err="1" smtClean="0">
                <a:latin typeface="Gill Sans Std" pitchFamily="34" charset="0"/>
              </a:rPr>
              <a:t>apps</a:t>
            </a:r>
            <a:r>
              <a:rPr lang="pt-BR" sz="1200" dirty="0" smtClean="0">
                <a:latin typeface="Gill Sans Std" pitchFamily="34" charset="0"/>
              </a:rPr>
              <a:t> IC0</a:t>
            </a:r>
          </a:p>
          <a:p>
            <a:endParaRPr lang="pt-BR" sz="1200" dirty="0" smtClean="0">
              <a:latin typeface="Gill Sans Std" pitchFamily="34" charset="0"/>
            </a:endParaRPr>
          </a:p>
          <a:p>
            <a:r>
              <a:rPr lang="pt-BR" sz="1200" b="1" dirty="0" smtClean="0">
                <a:latin typeface="Gill Sans Std" pitchFamily="34" charset="0"/>
              </a:rPr>
              <a:t>Controle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Ausência de categorias e subcategorias no controle do IC para rastreabilidade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Falha na contabilização da duração dos </a:t>
            </a:r>
            <a:r>
              <a:rPr lang="pt-BR" sz="1200" dirty="0" err="1" smtClean="0">
                <a:latin typeface="Gill Sans Std" pitchFamily="34" charset="0"/>
              </a:rPr>
              <a:t>ICs</a:t>
            </a:r>
            <a:r>
              <a:rPr lang="pt-BR" sz="1200" dirty="0" smtClean="0">
                <a:latin typeface="Gill Sans Std" pitchFamily="34" charset="0"/>
              </a:rPr>
              <a:t> e duração do Impacto</a:t>
            </a:r>
          </a:p>
          <a:p>
            <a:pPr marL="628650" lvl="1" indent="-171450">
              <a:buFont typeface="Arial" pitchFamily="34" charset="0"/>
              <a:buChar char="•"/>
            </a:pPr>
            <a:r>
              <a:rPr lang="pt-BR" sz="1200" dirty="0" smtClean="0">
                <a:latin typeface="Gill Sans Std" pitchFamily="34" charset="0"/>
              </a:rPr>
              <a:t>Qualidade no preenchimento do Ofensor</a:t>
            </a:r>
          </a:p>
          <a:p>
            <a:pPr marL="171450" indent="-171450">
              <a:buFont typeface="Arial" pitchFamily="34" charset="0"/>
              <a:buChar char="•"/>
            </a:pPr>
            <a:endParaRPr lang="pt-BR" sz="1200" b="1" dirty="0" smtClean="0">
              <a:solidFill>
                <a:srgbClr val="FF0000"/>
              </a:solidFill>
              <a:latin typeface="Gill Sans Std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endParaRPr lang="pt-BR" sz="1200" b="1" dirty="0" smtClean="0">
              <a:solidFill>
                <a:srgbClr val="FF0000"/>
              </a:solidFill>
              <a:latin typeface="Gill Sans Std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71163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26" tIns="25713" rIns="51426" bIns="25713" rtlCol="0" anchor="ctr"/>
          <a:lstStyle/>
          <a:p>
            <a:pPr algn="ctr"/>
            <a:endParaRPr lang="pt-BR" sz="600" dirty="0">
              <a:solidFill>
                <a:schemeClr val="bg1"/>
              </a:solidFill>
              <a:latin typeface="Gill Sans MT" pitchFamily="34" charset="0"/>
            </a:endParaRPr>
          </a:p>
          <a:p>
            <a:pPr algn="ctr"/>
            <a:endParaRPr lang="pt-BR" sz="600" dirty="0">
              <a:solidFill>
                <a:schemeClr val="bg1"/>
              </a:solidFill>
              <a:latin typeface="Gill Sans MT" pitchFamily="34" charset="0"/>
            </a:endParaRPr>
          </a:p>
        </p:txBody>
      </p:sp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772" y="156243"/>
            <a:ext cx="456307" cy="38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" name="Rectangle 3"/>
          <p:cNvSpPr>
            <a:spLocks/>
          </p:cNvSpPr>
          <p:nvPr/>
        </p:nvSpPr>
        <p:spPr bwMode="auto">
          <a:xfrm>
            <a:off x="122004" y="87521"/>
            <a:ext cx="8176414" cy="45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 defTabSz="511815">
              <a:tabLst>
                <a:tab pos="199034" algn="l"/>
                <a:tab pos="398090" algn="l"/>
                <a:tab pos="597122" algn="l"/>
                <a:tab pos="796160" algn="l"/>
                <a:tab pos="995206" algn="l"/>
                <a:tab pos="1194250" algn="l"/>
                <a:tab pos="1393293" algn="l"/>
                <a:tab pos="1592335" algn="l"/>
                <a:tab pos="1791382" algn="l"/>
                <a:tab pos="1990419" algn="l"/>
                <a:tab pos="2189459" algn="l"/>
                <a:tab pos="2388500" algn="l"/>
                <a:tab pos="2559104" algn="l"/>
              </a:tabLst>
            </a:pPr>
            <a:r>
              <a:rPr lang="pt-BR" sz="1600" dirty="0">
                <a:solidFill>
                  <a:schemeClr val="bg1"/>
                </a:solidFill>
                <a:latin typeface="Gill Sans Std" charset="0"/>
                <a:ea typeface="ＭＳ Ｐゴシック" charset="0"/>
                <a:cs typeface="ＭＳ Ｐゴシック" charset="0"/>
                <a:sym typeface="Gill Sans Std" charset="0"/>
              </a:rPr>
              <a:t>Gestão de Incidentes - Revisão</a:t>
            </a:r>
            <a:endParaRPr lang="en-US" sz="1600" dirty="0">
              <a:solidFill>
                <a:schemeClr val="bg1"/>
              </a:solidFill>
              <a:latin typeface="Gill Sans Std" charset="0"/>
              <a:ea typeface="ＭＳ Ｐゴシック" charset="0"/>
              <a:cs typeface="ＭＳ Ｐゴシック" charset="0"/>
              <a:sym typeface="Gill Sans Std" charset="0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16505" y="627871"/>
            <a:ext cx="4424637" cy="9718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en-US"/>
            </a:defPPr>
            <a:lvl1pPr algn="just" defTabSz="91440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300" u="none" kern="0">
                <a:solidFill>
                  <a:srgbClr val="4BACC6">
                    <a:lumMod val="25000"/>
                  </a:srgb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Alto volume de Incidentes Críticos devido a deficiência de critérios (IC1 e IC0)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Demora na solução de Incidentes que se requer processamento de Dados\Informações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Falta de visibilidade dos Incidentes em andamento superior (d+1)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Deficiência no Follow-Up </a:t>
            </a:r>
            <a:endParaRPr lang="pt-BR" sz="800" dirty="0">
              <a:latin typeface="Gill Sans MT" pitchFamily="34" charset="0"/>
            </a:endParaRP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116519" y="425384"/>
            <a:ext cx="4423956" cy="23484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259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8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CENÁRIO ATUAL</a:t>
            </a:r>
            <a:endParaRPr lang="pt-BR" sz="8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1" name="Text Box 4"/>
          <p:cNvSpPr txBox="1">
            <a:spLocks noChangeArrowheads="1"/>
          </p:cNvSpPr>
          <p:nvPr/>
        </p:nvSpPr>
        <p:spPr bwMode="auto">
          <a:xfrm>
            <a:off x="4612505" y="627871"/>
            <a:ext cx="4424637" cy="97185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en-US"/>
            </a:defPPr>
            <a:lvl1pPr algn="just" defTabSz="91440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300" u="none" kern="0">
                <a:solidFill>
                  <a:srgbClr val="4BACC6">
                    <a:lumMod val="25000"/>
                  </a:srgb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marL="160706" indent="-160706">
              <a:buFont typeface="Arial" pitchFamily="34" charset="0"/>
              <a:buChar char="•"/>
            </a:pPr>
            <a:r>
              <a:rPr lang="pt-BR" sz="700" dirty="0" smtClean="0">
                <a:latin typeface="Gill Sans MT" pitchFamily="34" charset="0"/>
              </a:rPr>
              <a:t>Escalonar adequadamente os Incidentes Críticos com base em uma lista pré-definida e validada pela GRP e Negócio visando dar visibilidade e esforço de Gestão de Incidentes no que realmente é Crítico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700" dirty="0" smtClean="0">
                <a:latin typeface="Gill Sans MT" pitchFamily="34" charset="0"/>
              </a:rPr>
              <a:t>Dar visão no Diário de Bordo quanto a evolução dos Incidentes Críticos destacando aqueles que estão com problema na evolução (FUP e Escalonamento)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700" dirty="0" smtClean="0">
                <a:latin typeface="Gill Sans MT" pitchFamily="34" charset="0"/>
              </a:rPr>
              <a:t>Apresentar semanalmente a evolução de disponibilidade (aumento do MTBF) das aplicações bem como redução do tempo de solução (MTTR)</a:t>
            </a:r>
          </a:p>
          <a:p>
            <a:pPr marL="160706" indent="-160706">
              <a:buFont typeface="Arial" pitchFamily="34" charset="0"/>
              <a:buChar char="•"/>
            </a:pPr>
            <a:endParaRPr lang="pt-BR" sz="700" dirty="0">
              <a:latin typeface="Gill Sans MT" pitchFamily="34" charset="0"/>
            </a:endParaRPr>
          </a:p>
        </p:txBody>
      </p:sp>
      <p:sp>
        <p:nvSpPr>
          <p:cNvPr id="33" name="Text Box 4"/>
          <p:cNvSpPr txBox="1">
            <a:spLocks noChangeArrowheads="1"/>
          </p:cNvSpPr>
          <p:nvPr/>
        </p:nvSpPr>
        <p:spPr bwMode="auto">
          <a:xfrm>
            <a:off x="4612505" y="425384"/>
            <a:ext cx="4424637" cy="2024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259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8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OBJETIVOS</a:t>
            </a:r>
            <a:endParaRPr lang="pt-BR" sz="8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5" name="Text Box 4"/>
          <p:cNvSpPr txBox="1">
            <a:spLocks noChangeArrowheads="1"/>
          </p:cNvSpPr>
          <p:nvPr/>
        </p:nvSpPr>
        <p:spPr bwMode="auto">
          <a:xfrm>
            <a:off x="116505" y="1842796"/>
            <a:ext cx="4424637" cy="1593051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en-US"/>
            </a:defPPr>
            <a:lvl1pPr algn="just" defTabSz="91440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300" u="none" kern="0">
                <a:solidFill>
                  <a:srgbClr val="4BACC6">
                    <a:lumMod val="25000"/>
                  </a:srgb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Revisão da Severidade por aplicação (IC0 e IC1)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Definição e entrega de um novo Diário de Bordo (Diário, Semanal e Mensal)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Realizar o </a:t>
            </a:r>
            <a:r>
              <a:rPr lang="pt-BR" sz="800" dirty="0" err="1" smtClean="0">
                <a:latin typeface="Gill Sans MT" pitchFamily="34" charset="0"/>
              </a:rPr>
              <a:t>Follow</a:t>
            </a:r>
            <a:r>
              <a:rPr lang="pt-BR" sz="800" dirty="0" smtClean="0">
                <a:latin typeface="Gill Sans MT" pitchFamily="34" charset="0"/>
              </a:rPr>
              <a:t> </a:t>
            </a:r>
            <a:r>
              <a:rPr lang="pt-BR" sz="800" dirty="0" err="1" smtClean="0">
                <a:latin typeface="Gill Sans MT" pitchFamily="34" charset="0"/>
              </a:rPr>
              <a:t>Up</a:t>
            </a:r>
            <a:r>
              <a:rPr lang="pt-BR" sz="800" dirty="0" smtClean="0">
                <a:latin typeface="Gill Sans MT" pitchFamily="34" charset="0"/>
              </a:rPr>
              <a:t> dos incidentes junto aos agentes de solução</a:t>
            </a:r>
          </a:p>
          <a:p>
            <a:pPr marL="160706" indent="-160706">
              <a:buFont typeface="Arial" pitchFamily="34" charset="0"/>
              <a:buChar char="•"/>
            </a:pPr>
            <a:r>
              <a:rPr lang="pt-BR" sz="800" dirty="0" smtClean="0">
                <a:latin typeface="Gill Sans MT" pitchFamily="34" charset="0"/>
              </a:rPr>
              <a:t>Comunicação do Processo de Incidentes Críticos (Diário de Bordo, Bom dia TD, </a:t>
            </a:r>
            <a:r>
              <a:rPr lang="pt-BR" sz="800" dirty="0" err="1" smtClean="0">
                <a:latin typeface="Gill Sans MT" pitchFamily="34" charset="0"/>
              </a:rPr>
              <a:t>Follow-UP</a:t>
            </a:r>
            <a:r>
              <a:rPr lang="pt-BR" sz="800" dirty="0" smtClean="0">
                <a:latin typeface="Gill Sans MT" pitchFamily="34" charset="0"/>
              </a:rPr>
              <a:t> e entrada do processo de Problemas) </a:t>
            </a:r>
          </a:p>
        </p:txBody>
      </p:sp>
      <p:sp>
        <p:nvSpPr>
          <p:cNvPr id="36" name="Text Box 4"/>
          <p:cNvSpPr txBox="1">
            <a:spLocks noChangeArrowheads="1"/>
          </p:cNvSpPr>
          <p:nvPr/>
        </p:nvSpPr>
        <p:spPr bwMode="auto">
          <a:xfrm>
            <a:off x="116505" y="1640308"/>
            <a:ext cx="4424637" cy="2024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259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8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ESCOPO DE ATUAÇÃO EM IMPLEMENTAÇÃO</a:t>
            </a:r>
            <a:endParaRPr lang="pt-BR" sz="8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39" name="Text Box 4"/>
          <p:cNvSpPr txBox="1">
            <a:spLocks noChangeArrowheads="1"/>
          </p:cNvSpPr>
          <p:nvPr/>
        </p:nvSpPr>
        <p:spPr bwMode="auto">
          <a:xfrm>
            <a:off x="4612505" y="1640308"/>
            <a:ext cx="4424637" cy="2024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259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8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PARCEIROS DE NEGÓCIOS</a:t>
            </a:r>
            <a:endParaRPr lang="pt-BR" sz="8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grpSp>
        <p:nvGrpSpPr>
          <p:cNvPr id="41" name="Grupo 40"/>
          <p:cNvGrpSpPr/>
          <p:nvPr/>
        </p:nvGrpSpPr>
        <p:grpSpPr>
          <a:xfrm>
            <a:off x="5736504" y="1842797"/>
            <a:ext cx="1052640" cy="1593050"/>
            <a:chOff x="1188244" y="2128189"/>
            <a:chExt cx="2880320" cy="5252693"/>
          </a:xfrm>
        </p:grpSpPr>
        <p:sp>
          <p:nvSpPr>
            <p:cNvPr id="42" name="Retângulo 41"/>
            <p:cNvSpPr/>
            <p:nvPr/>
          </p:nvSpPr>
          <p:spPr>
            <a:xfrm>
              <a:off x="1188244" y="2128189"/>
              <a:ext cx="2880320" cy="705506"/>
            </a:xfrm>
            <a:prstGeom prst="rect">
              <a:avLst/>
            </a:prstGeom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dirty="0">
                  <a:solidFill>
                    <a:schemeClr val="bg1"/>
                  </a:solidFill>
                  <a:latin typeface="Gill Sans MT" pitchFamily="34" charset="0"/>
                </a:rPr>
                <a:t>MARCAS E NEGÓCIOS</a:t>
              </a:r>
            </a:p>
          </p:txBody>
        </p:sp>
        <p:sp>
          <p:nvSpPr>
            <p:cNvPr id="43" name="Retângulo 42"/>
            <p:cNvSpPr/>
            <p:nvPr/>
          </p:nvSpPr>
          <p:spPr>
            <a:xfrm>
              <a:off x="1188244" y="2833695"/>
              <a:ext cx="2880320" cy="45471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VP Inovação e CIB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VP Novos Negócios, UNs, e Dir. Marca e Consumidor</a:t>
              </a:r>
            </a:p>
          </p:txBody>
        </p:sp>
      </p:grpSp>
      <p:grpSp>
        <p:nvGrpSpPr>
          <p:cNvPr id="44" name="Grupo 43"/>
          <p:cNvGrpSpPr/>
          <p:nvPr/>
        </p:nvGrpSpPr>
        <p:grpSpPr>
          <a:xfrm>
            <a:off x="6860504" y="1842797"/>
            <a:ext cx="1052640" cy="1593050"/>
            <a:chOff x="1188244" y="2128189"/>
            <a:chExt cx="2880320" cy="5252693"/>
          </a:xfrm>
        </p:grpSpPr>
        <p:sp>
          <p:nvSpPr>
            <p:cNvPr id="45" name="Retângulo 44"/>
            <p:cNvSpPr/>
            <p:nvPr/>
          </p:nvSpPr>
          <p:spPr>
            <a:xfrm>
              <a:off x="1188244" y="2128189"/>
              <a:ext cx="2880320" cy="705506"/>
            </a:xfrm>
            <a:prstGeom prst="rect">
              <a:avLst/>
            </a:prstGeom>
            <a:solidFill>
              <a:srgbClr val="B8000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dirty="0">
                  <a:solidFill>
                    <a:schemeClr val="bg1"/>
                  </a:solidFill>
                  <a:latin typeface="Gill Sans MT" pitchFamily="34" charset="0"/>
                </a:rPr>
                <a:t>CORPORATIVO</a:t>
              </a:r>
            </a:p>
          </p:txBody>
        </p:sp>
        <p:sp>
          <p:nvSpPr>
            <p:cNvPr id="46" name="Retângulo 45"/>
            <p:cNvSpPr/>
            <p:nvPr/>
          </p:nvSpPr>
          <p:spPr>
            <a:xfrm>
              <a:off x="1188244" y="2833695"/>
              <a:ext cx="2880320" cy="45471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Relacionamento e Desempenho, Cadastros, Contabilidade, Contas a Pagar, Contas a Receber, Espaços e Frotas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​Fiscal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​Comercial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Finanças: Tesouraria</a:t>
              </a:r>
            </a:p>
          </p:txBody>
        </p:sp>
      </p:grpSp>
      <p:grpSp>
        <p:nvGrpSpPr>
          <p:cNvPr id="47" name="Grupo 46"/>
          <p:cNvGrpSpPr/>
          <p:nvPr/>
        </p:nvGrpSpPr>
        <p:grpSpPr>
          <a:xfrm>
            <a:off x="7984502" y="1842797"/>
            <a:ext cx="1052640" cy="1593050"/>
            <a:chOff x="1188244" y="2128189"/>
            <a:chExt cx="2880320" cy="5252693"/>
          </a:xfrm>
        </p:grpSpPr>
        <p:sp>
          <p:nvSpPr>
            <p:cNvPr id="48" name="Retângulo 47"/>
            <p:cNvSpPr/>
            <p:nvPr/>
          </p:nvSpPr>
          <p:spPr>
            <a:xfrm>
              <a:off x="1188244" y="2128189"/>
              <a:ext cx="2880320" cy="705506"/>
            </a:xfrm>
            <a:prstGeom prst="rect">
              <a:avLst/>
            </a:prstGeom>
            <a:solidFill>
              <a:srgbClr val="92D050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dirty="0">
                  <a:solidFill>
                    <a:schemeClr val="bg1"/>
                  </a:solidFill>
                  <a:latin typeface="Gill Sans MT" pitchFamily="34" charset="0"/>
                </a:rPr>
                <a:t>REDES</a:t>
              </a:r>
            </a:p>
          </p:txBody>
        </p:sp>
        <p:sp>
          <p:nvSpPr>
            <p:cNvPr id="49" name="Retângulo 48"/>
            <p:cNvSpPr/>
            <p:nvPr/>
          </p:nvSpPr>
          <p:spPr>
            <a:xfrm>
              <a:off x="1188244" y="2833695"/>
              <a:ext cx="2880320" cy="4547187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Inovação Comercial, CRM, Relacionamento, Sustentabilidade 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Comercialização, Mkt Ativação, </a:t>
              </a:r>
              <a:r>
                <a:rPr lang="pt-BR" sz="600" dirty="0" err="1">
                  <a:solidFill>
                    <a:schemeClr val="tx1"/>
                  </a:solidFill>
                  <a:latin typeface="Gill Sans MT" pitchFamily="34" charset="0"/>
                </a:rPr>
                <a:t>URs</a:t>
              </a: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grpSp>
        <p:nvGrpSpPr>
          <p:cNvPr id="50" name="Grupo 49"/>
          <p:cNvGrpSpPr/>
          <p:nvPr/>
        </p:nvGrpSpPr>
        <p:grpSpPr>
          <a:xfrm>
            <a:off x="4612505" y="1842797"/>
            <a:ext cx="1052640" cy="1593050"/>
            <a:chOff x="1188244" y="2128189"/>
            <a:chExt cx="2880320" cy="5252693"/>
          </a:xfrm>
        </p:grpSpPr>
        <p:sp>
          <p:nvSpPr>
            <p:cNvPr id="51" name="Retângulo 50"/>
            <p:cNvSpPr/>
            <p:nvPr/>
          </p:nvSpPr>
          <p:spPr>
            <a:xfrm>
              <a:off x="1188244" y="2128189"/>
              <a:ext cx="2880320" cy="705506"/>
            </a:xfrm>
            <a:prstGeom prst="rect">
              <a:avLst/>
            </a:prstGeom>
            <a:solidFill>
              <a:schemeClr val="accent4">
                <a:lumMod val="75000"/>
              </a:schemeClr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600" dirty="0">
                  <a:solidFill>
                    <a:schemeClr val="bg1"/>
                  </a:solidFill>
                  <a:latin typeface="Gill Sans MT" pitchFamily="34" charset="0"/>
                </a:rPr>
                <a:t>O&amp;L</a:t>
              </a:r>
            </a:p>
          </p:txBody>
        </p:sp>
        <p:sp>
          <p:nvSpPr>
            <p:cNvPr id="52" name="Retângulo 51"/>
            <p:cNvSpPr/>
            <p:nvPr/>
          </p:nvSpPr>
          <p:spPr>
            <a:xfrm>
              <a:off x="1188244" y="2833694"/>
              <a:ext cx="2880320" cy="4547188"/>
            </a:xfrm>
            <a:prstGeom prst="rect">
              <a:avLst/>
            </a:prstGeom>
            <a:solidFill>
              <a:schemeClr val="bg1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Planejamento Logístico e Suprimentos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Industrial, Qualidade e DIL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CP: Distribuição e NCN</a:t>
              </a:r>
            </a:p>
            <a:p>
              <a:pPr marL="160706" indent="-160706">
                <a:buFont typeface="Arial" pitchFamily="34" charset="0"/>
                <a:buChar char="•"/>
              </a:pPr>
              <a:endParaRPr lang="pt-BR" sz="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>
                <a:buFont typeface="Arial" pitchFamily="34" charset="0"/>
                <a:buChar char="•"/>
              </a:pPr>
              <a:r>
                <a:rPr lang="pt-BR" sz="600" dirty="0">
                  <a:solidFill>
                    <a:schemeClr val="tx1"/>
                  </a:solidFill>
                  <a:latin typeface="Gill Sans MT" pitchFamily="34" charset="0"/>
                </a:rPr>
                <a:t>CP: Atendimento e Planejamento</a:t>
              </a:r>
              <a:endParaRPr lang="pt-BR" sz="1600" dirty="0">
                <a:solidFill>
                  <a:schemeClr val="tx1"/>
                </a:solidFill>
                <a:latin typeface="Gill Sans MT" pitchFamily="34" charset="0"/>
              </a:endParaRPr>
            </a:p>
            <a:p>
              <a:pPr marL="160706" indent="-160706" algn="just">
                <a:buFont typeface="Arial" pitchFamily="34" charset="0"/>
                <a:buChar char="•"/>
              </a:pPr>
              <a:endParaRPr lang="pt-BR" sz="1600" dirty="0">
                <a:solidFill>
                  <a:schemeClr val="tx1"/>
                </a:solidFill>
                <a:latin typeface="Gill Sans MT" pitchFamily="34" charset="0"/>
              </a:endParaRPr>
            </a:p>
          </p:txBody>
        </p:sp>
      </p:grpSp>
      <p:graphicFrame>
        <p:nvGraphicFramePr>
          <p:cNvPr id="53" name="Diagrama 52">
            <a:hlinkClick r:id="rId4" action="ppaction://hlinksldjump"/>
          </p:cNvPr>
          <p:cNvGraphicFramePr/>
          <p:nvPr>
            <p:extLst>
              <p:ext uri="{D42A27DB-BD31-4B8C-83A1-F6EECF244321}">
                <p14:modId xmlns:p14="http://schemas.microsoft.com/office/powerpoint/2010/main" val="1993351047"/>
              </p:ext>
            </p:extLst>
          </p:nvPr>
        </p:nvGraphicFramePr>
        <p:xfrm>
          <a:off x="116519" y="3675990"/>
          <a:ext cx="8920622" cy="140841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5" r:lo="rId6" r:qs="rId7" r:cs="rId8"/>
          </a:graphicData>
        </a:graphic>
      </p:graphicFrame>
      <p:sp>
        <p:nvSpPr>
          <p:cNvPr id="54" name="Text Box 4"/>
          <p:cNvSpPr txBox="1">
            <a:spLocks noChangeArrowheads="1"/>
          </p:cNvSpPr>
          <p:nvPr/>
        </p:nvSpPr>
        <p:spPr bwMode="auto">
          <a:xfrm>
            <a:off x="116519" y="3484104"/>
            <a:ext cx="8920623" cy="20248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26" tIns="25713" rIns="51426" bIns="25713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259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8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TIMELINE DE IMPLEMENTAÇÃO – PROJETO PILOTO</a:t>
            </a:r>
            <a:endParaRPr lang="pt-BR" sz="8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exto explicativo retangular 1"/>
          <p:cNvSpPr/>
          <p:nvPr/>
        </p:nvSpPr>
        <p:spPr>
          <a:xfrm>
            <a:off x="6851636" y="4610520"/>
            <a:ext cx="911352" cy="473886"/>
          </a:xfrm>
          <a:prstGeom prst="wedgeRectCallout">
            <a:avLst>
              <a:gd name="adj1" fmla="val -80190"/>
              <a:gd name="adj2" fmla="val 863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1426" tIns="25713" rIns="51426" bIns="25713"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Data alterada decorrente ao volume de aplicações a serem estudadas para fechar o MTTR e MTBF de cada </a:t>
            </a:r>
            <a:r>
              <a:rPr lang="pt-BR" sz="500" dirty="0" err="1">
                <a:solidFill>
                  <a:schemeClr val="tx1"/>
                </a:solidFill>
              </a:rPr>
              <a:t>App</a:t>
            </a:r>
            <a:endParaRPr lang="pt-BR" sz="500" dirty="0">
              <a:solidFill>
                <a:schemeClr val="tx1"/>
              </a:solidFill>
            </a:endParaRPr>
          </a:p>
        </p:txBody>
      </p:sp>
      <p:sp>
        <p:nvSpPr>
          <p:cNvPr id="27" name="Texto explicativo retangular 26"/>
          <p:cNvSpPr/>
          <p:nvPr/>
        </p:nvSpPr>
        <p:spPr>
          <a:xfrm>
            <a:off x="8125790" y="3894408"/>
            <a:ext cx="911352" cy="473886"/>
          </a:xfrm>
          <a:prstGeom prst="wedgeRectCallout">
            <a:avLst>
              <a:gd name="adj1" fmla="val -86028"/>
              <a:gd name="adj2" fmla="val -2593"/>
            </a:avLst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51426" tIns="25713" rIns="51426" bIns="25713" rtlCol="0" anchor="ctr"/>
          <a:lstStyle/>
          <a:p>
            <a:pPr algn="ctr"/>
            <a:r>
              <a:rPr lang="pt-BR" sz="500" dirty="0">
                <a:solidFill>
                  <a:schemeClr val="tx1"/>
                </a:solidFill>
              </a:rPr>
              <a:t>Atraso no início da atividade.</a:t>
            </a:r>
          </a:p>
        </p:txBody>
      </p:sp>
      <p:sp>
        <p:nvSpPr>
          <p:cNvPr id="3" name="CaixaDeTexto 2"/>
          <p:cNvSpPr txBox="1"/>
          <p:nvPr/>
        </p:nvSpPr>
        <p:spPr>
          <a:xfrm rot="19303442">
            <a:off x="1403648" y="1741551"/>
            <a:ext cx="5184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solidFill>
                  <a:srgbClr val="FF0000"/>
                </a:solidFill>
                <a:latin typeface="Gill Sans Std" pitchFamily="34" charset="0"/>
              </a:rPr>
              <a:t>Em atualização</a:t>
            </a:r>
          </a:p>
        </p:txBody>
      </p:sp>
    </p:spTree>
    <p:extLst>
      <p:ext uri="{BB962C8B-B14F-4D97-AF65-F5344CB8AC3E}">
        <p14:creationId xmlns:p14="http://schemas.microsoft.com/office/powerpoint/2010/main" val="69709958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Retângulo 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17" tIns="25709" rIns="51417" bIns="25709" rtlCol="0" anchor="ctr"/>
          <a:lstStyle/>
          <a:p>
            <a:pPr algn="ctr" defTabSz="407117" fontAlgn="base">
              <a:spcBef>
                <a:spcPct val="0"/>
              </a:spcBef>
              <a:spcAft>
                <a:spcPct val="0"/>
              </a:spcAft>
            </a:pPr>
            <a:endParaRPr lang="pt-BR" sz="700" dirty="0">
              <a:solidFill>
                <a:prstClr val="white"/>
              </a:solidFill>
              <a:latin typeface="Gill Sans MT" pitchFamily="34" charset="0"/>
            </a:endParaRPr>
          </a:p>
          <a:p>
            <a:pPr algn="ctr" defTabSz="407117" fontAlgn="base">
              <a:spcBef>
                <a:spcPct val="0"/>
              </a:spcBef>
              <a:spcAft>
                <a:spcPct val="0"/>
              </a:spcAft>
            </a:pPr>
            <a:endParaRPr lang="pt-BR" sz="700" dirty="0">
              <a:solidFill>
                <a:prstClr val="white"/>
              </a:solidFill>
              <a:latin typeface="Gill Sans MT" pitchFamily="34" charset="0"/>
            </a:endParaRPr>
          </a:p>
        </p:txBody>
      </p:sp>
      <p:sp>
        <p:nvSpPr>
          <p:cNvPr id="17" name="Rectangle 3"/>
          <p:cNvSpPr>
            <a:spLocks/>
          </p:cNvSpPr>
          <p:nvPr/>
        </p:nvSpPr>
        <p:spPr bwMode="auto">
          <a:xfrm>
            <a:off x="122004" y="87522"/>
            <a:ext cx="8176414" cy="45798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t"/>
          <a:lstStyle/>
          <a:p>
            <a:pPr defTabSz="511731" fontAlgn="base">
              <a:spcBef>
                <a:spcPct val="0"/>
              </a:spcBef>
              <a:spcAft>
                <a:spcPct val="0"/>
              </a:spcAft>
              <a:tabLst>
                <a:tab pos="199001" algn="l"/>
                <a:tab pos="398024" algn="l"/>
                <a:tab pos="597023" algn="l"/>
                <a:tab pos="796028" algn="l"/>
                <a:tab pos="995041" algn="l"/>
                <a:tab pos="1194053" algn="l"/>
                <a:tab pos="1393063" algn="l"/>
                <a:tab pos="1592072" algn="l"/>
                <a:tab pos="1791086" algn="l"/>
                <a:tab pos="1990090" algn="l"/>
                <a:tab pos="2189097" algn="l"/>
                <a:tab pos="2388105" algn="l"/>
                <a:tab pos="2558681" algn="l"/>
              </a:tabLst>
            </a:pPr>
            <a:r>
              <a:rPr lang="pt-BR" sz="1700" dirty="0">
                <a:solidFill>
                  <a:prstClr val="white"/>
                </a:solidFill>
                <a:latin typeface="Gill Sans Std" charset="0"/>
                <a:ea typeface="ＭＳ Ｐゴシック" charset="0"/>
                <a:cs typeface="ＭＳ Ｐゴシック" charset="0"/>
                <a:sym typeface="Gill Sans Std" charset="0"/>
              </a:rPr>
              <a:t>Gestão de Incidentes - Revisão</a:t>
            </a:r>
            <a:endParaRPr lang="en-US" sz="1700" dirty="0">
              <a:solidFill>
                <a:prstClr val="white"/>
              </a:solidFill>
              <a:latin typeface="Gill Sans Std" charset="0"/>
              <a:ea typeface="ＭＳ Ｐゴシック" charset="0"/>
              <a:cs typeface="ＭＳ Ｐゴシック" charset="0"/>
              <a:sym typeface="Gill Sans Std" charset="0"/>
            </a:endParaRPr>
          </a:p>
        </p:txBody>
      </p:sp>
      <p:sp>
        <p:nvSpPr>
          <p:cNvPr id="28" name="Text Box 4"/>
          <p:cNvSpPr txBox="1">
            <a:spLocks noChangeArrowheads="1"/>
          </p:cNvSpPr>
          <p:nvPr/>
        </p:nvSpPr>
        <p:spPr bwMode="auto">
          <a:xfrm>
            <a:off x="126223" y="750714"/>
            <a:ext cx="8910990" cy="4250884"/>
          </a:xfrm>
          <a:prstGeom prst="rec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  <a:effectLst/>
          <a:extLst/>
        </p:spPr>
        <p:txBody>
          <a:bodyPr wrap="square" lIns="51417" tIns="25709" rIns="51417" bIns="25709">
            <a:noAutofit/>
          </a:bodyPr>
          <a:lstStyle>
            <a:defPPr>
              <a:defRPr lang="en-US"/>
            </a:defPPr>
            <a:lvl1pPr algn="just" defTabSz="914400" eaLnBrk="0" fontAlgn="auto" hangingPunct="0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defRPr sz="1300" u="none" kern="0">
                <a:solidFill>
                  <a:srgbClr val="4BACC6">
                    <a:lumMod val="25000"/>
                  </a:srgbClr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pPr>
              <a:spcAft>
                <a:spcPts val="0"/>
              </a:spcAft>
            </a:pPr>
            <a:r>
              <a:rPr lang="pt-BR" sz="700" b="1" dirty="0" err="1">
                <a:latin typeface="Gill Sans MT" pitchFamily="34" charset="0"/>
              </a:rPr>
              <a:t>ICs</a:t>
            </a:r>
            <a:r>
              <a:rPr lang="pt-BR" sz="700" b="1" dirty="0">
                <a:latin typeface="Gill Sans MT" pitchFamily="34" charset="0"/>
              </a:rPr>
              <a:t>:</a:t>
            </a:r>
            <a:r>
              <a:rPr lang="pt-BR" sz="700" dirty="0">
                <a:latin typeface="Gill Sans MT" pitchFamily="34" charset="0"/>
              </a:rPr>
              <a:t> Precisamos </a:t>
            </a:r>
            <a:r>
              <a:rPr lang="pt-BR" sz="700" b="1" dirty="0">
                <a:latin typeface="Gill Sans MT" pitchFamily="34" charset="0"/>
              </a:rPr>
              <a:t>rever</a:t>
            </a:r>
            <a:r>
              <a:rPr lang="pt-BR" sz="700" dirty="0">
                <a:latin typeface="Gill Sans MT" pitchFamily="34" charset="0"/>
              </a:rPr>
              <a:t> a s</a:t>
            </a:r>
            <a:r>
              <a:rPr lang="pt-BR" sz="700" b="1" dirty="0">
                <a:latin typeface="Gill Sans MT" pitchFamily="34" charset="0"/>
              </a:rPr>
              <a:t>everidade dos incidentes</a:t>
            </a:r>
            <a:r>
              <a:rPr lang="pt-BR" sz="700" dirty="0">
                <a:latin typeface="Gill Sans MT" pitchFamily="34" charset="0"/>
              </a:rPr>
              <a:t>, os </a:t>
            </a:r>
            <a:r>
              <a:rPr lang="pt-BR" sz="700" b="1" dirty="0">
                <a:latin typeface="Gill Sans MT" pitchFamily="34" charset="0"/>
              </a:rPr>
              <a:t>prazos de solução</a:t>
            </a:r>
            <a:r>
              <a:rPr lang="pt-BR" sz="700" dirty="0">
                <a:latin typeface="Gill Sans MT" pitchFamily="34" charset="0"/>
              </a:rPr>
              <a:t>, o </a:t>
            </a:r>
            <a:r>
              <a:rPr lang="pt-BR" sz="700" b="1" dirty="0">
                <a:latin typeface="Gill Sans MT" pitchFamily="34" charset="0"/>
              </a:rPr>
              <a:t>FUP</a:t>
            </a:r>
            <a:r>
              <a:rPr lang="pt-BR" sz="700" dirty="0">
                <a:solidFill>
                  <a:srgbClr val="1F497D"/>
                </a:solidFill>
                <a:latin typeface="Gill Sans MT" pitchFamily="34" charset="0"/>
              </a:rPr>
              <a:t> </a:t>
            </a:r>
            <a:r>
              <a:rPr lang="pt-BR" sz="700" dirty="0">
                <a:solidFill>
                  <a:srgbClr val="000000"/>
                </a:solidFill>
                <a:latin typeface="Gill Sans MT" pitchFamily="34" charset="0"/>
              </a:rPr>
              <a:t>e</a:t>
            </a:r>
            <a:r>
              <a:rPr lang="pt-BR" sz="700" dirty="0">
                <a:solidFill>
                  <a:srgbClr val="1F497D"/>
                </a:solidFill>
                <a:latin typeface="Gill Sans MT" pitchFamily="34" charset="0"/>
              </a:rPr>
              <a:t> </a:t>
            </a:r>
            <a:r>
              <a:rPr lang="pt-BR" sz="700" dirty="0">
                <a:latin typeface="Gill Sans MT" pitchFamily="34" charset="0"/>
              </a:rPr>
              <a:t>elaborar um</a:t>
            </a:r>
            <a:r>
              <a:rPr lang="pt-BR" sz="700" b="1" dirty="0">
                <a:latin typeface="Gill Sans MT" pitchFamily="34" charset="0"/>
              </a:rPr>
              <a:t> reporte diário dos </a:t>
            </a:r>
            <a:r>
              <a:rPr lang="pt-BR" sz="700" b="1" dirty="0" err="1">
                <a:latin typeface="Gill Sans MT" pitchFamily="34" charset="0"/>
              </a:rPr>
              <a:t>ICs</a:t>
            </a:r>
            <a:r>
              <a:rPr lang="pt-BR" sz="700" b="1" dirty="0">
                <a:latin typeface="Gill Sans MT" pitchFamily="34" charset="0"/>
              </a:rPr>
              <a:t> em tratativas</a:t>
            </a:r>
            <a:r>
              <a:rPr lang="pt-BR" sz="700" dirty="0">
                <a:solidFill>
                  <a:srgbClr val="1F497D"/>
                </a:solidFill>
                <a:latin typeface="Gill Sans MT" pitchFamily="34" charset="0"/>
              </a:rPr>
              <a:t>.</a:t>
            </a:r>
            <a:endParaRPr lang="pt-BR" sz="700" dirty="0">
              <a:latin typeface="Gill Sans MT" pitchFamily="34" charset="0"/>
            </a:endParaRPr>
          </a:p>
          <a:p>
            <a:pPr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700" b="1" dirty="0">
                <a:latin typeface="Gill Sans MT" pitchFamily="34" charset="0"/>
              </a:rPr>
              <a:t>Responsável:</a:t>
            </a:r>
            <a:r>
              <a:rPr lang="pt-BR" sz="700" dirty="0">
                <a:latin typeface="Gill Sans MT" pitchFamily="34" charset="0"/>
              </a:rPr>
              <a:t> Wagner Gebrin e Fabio Koreeda</a:t>
            </a:r>
          </a:p>
          <a:p>
            <a:pPr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Concluído - Alinhamento Escopo do Plano (04/Mar) - Hugo Melo, Wagner Gebrin e Fabio Koreeda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Concluído - Alinhamento do Plano com Processos (04/Mar) - Hugo Melo, Marcus Marques e Solange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Concluído - Formatação do Plano - (05/Mar) - Hugo Melo</a:t>
            </a:r>
          </a:p>
          <a:p>
            <a:pPr marL="192815"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700" b="1" dirty="0">
                <a:latin typeface="Gill Sans MT" pitchFamily="34" charset="0"/>
              </a:rPr>
              <a:t>Escopo:</a:t>
            </a:r>
            <a:endParaRPr lang="pt-BR" sz="700" dirty="0">
              <a:latin typeface="Gill Sans MT" pitchFamily="34" charset="0"/>
            </a:endParaRP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Revisão na classificação das aplicações por severidade S1 e S0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Melhoria de Prazo na solução e FUP dos </a:t>
            </a:r>
            <a:r>
              <a:rPr lang="pt-BR" sz="700" dirty="0" err="1">
                <a:latin typeface="Gill Sans MT" pitchFamily="34" charset="0"/>
              </a:rPr>
              <a:t>Ics</a:t>
            </a:r>
            <a:r>
              <a:rPr lang="pt-BR" sz="700" dirty="0">
                <a:latin typeface="Gill Sans MT" pitchFamily="34" charset="0"/>
              </a:rPr>
              <a:t> que avançam na solução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Definição e entrega de um novo Diário de Bordo (Diário, Semanal e Mensal)</a:t>
            </a:r>
          </a:p>
          <a:p>
            <a:pPr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>
              <a:spcAft>
                <a:spcPts val="0"/>
              </a:spcAft>
            </a:pPr>
            <a:r>
              <a:rPr lang="pt-BR" sz="700" b="1" dirty="0">
                <a:latin typeface="Gill Sans MT" pitchFamily="34" charset="0"/>
              </a:rPr>
              <a:t>1º definir</a:t>
            </a:r>
            <a:r>
              <a:rPr lang="pt-BR" sz="700" dirty="0">
                <a:latin typeface="Gill Sans MT" pitchFamily="34" charset="0"/>
              </a:rPr>
              <a:t> o que se espera de cada item:</a:t>
            </a:r>
          </a:p>
          <a:p>
            <a:pPr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O que se entende como</a:t>
            </a:r>
            <a:r>
              <a:rPr lang="pt-BR" sz="700" b="1" dirty="0">
                <a:latin typeface="Gill Sans MT" pitchFamily="34" charset="0"/>
              </a:rPr>
              <a:t> Severidade dos Incidentes</a:t>
            </a:r>
            <a:r>
              <a:rPr lang="pt-BR" sz="700" dirty="0">
                <a:latin typeface="Gill Sans MT" pitchFamily="34" charset="0"/>
              </a:rPr>
              <a:t> = S1 e S0?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S1 - Rever o que existe hoje e fechar a listagem para que não vire um S0 no futuro - </a:t>
            </a:r>
            <a:r>
              <a:rPr lang="pt-BR" sz="700" dirty="0">
                <a:solidFill>
                  <a:srgbClr val="FF0000"/>
                </a:solidFill>
                <a:latin typeface="Gill Sans MT" pitchFamily="34" charset="0"/>
                <a:ea typeface="MS PGothic" pitchFamily="34" charset="-128"/>
              </a:rPr>
              <a:t>(27/05) 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-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Caurin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\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Moncayo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e GRPS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S0 - Rever o que existe hoje e fechar a listagem - </a:t>
            </a:r>
            <a:r>
              <a:rPr lang="pt-BR" sz="700" dirty="0">
                <a:solidFill>
                  <a:srgbClr val="FF0000"/>
                </a:solidFill>
                <a:latin typeface="Gill Sans MT" pitchFamily="34" charset="0"/>
                <a:ea typeface="MS PGothic" pitchFamily="34" charset="-128"/>
              </a:rPr>
              <a:t>(27/05) 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-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Caurin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\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Moncayo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e GRPS</a:t>
            </a:r>
          </a:p>
          <a:p>
            <a:pPr marL="257087" lvl="1" defTabSz="407117" fontAlgn="ctr"/>
            <a:endParaRPr lang="pt-BR" sz="700" dirty="0">
              <a:solidFill>
                <a:prstClr val="black"/>
              </a:solidFill>
              <a:latin typeface="Gill Sans MT" pitchFamily="34" charset="0"/>
              <a:ea typeface="MS PGothic" pitchFamily="34" charset="-128"/>
            </a:endParaRPr>
          </a:p>
          <a:p>
            <a:pPr marL="385630">
              <a:spcAft>
                <a:spcPts val="0"/>
              </a:spcAft>
            </a:pPr>
            <a:r>
              <a:rPr lang="pt-BR" sz="700" b="1" dirty="0">
                <a:solidFill>
                  <a:srgbClr val="00B050"/>
                </a:solidFill>
                <a:latin typeface="Gill Sans MT" pitchFamily="34" charset="0"/>
              </a:rPr>
              <a:t>novo!</a:t>
            </a:r>
            <a:r>
              <a:rPr lang="pt-BR" sz="700" dirty="0">
                <a:latin typeface="Gill Sans MT" pitchFamily="34" charset="0"/>
              </a:rPr>
              <a:t> – Revisão da Lista de distribuição de comunicados e aplicações para Força de Vendas – (19/</a:t>
            </a:r>
            <a:r>
              <a:rPr lang="pt-BR" sz="700" dirty="0" err="1">
                <a:latin typeface="Gill Sans MT" pitchFamily="34" charset="0"/>
              </a:rPr>
              <a:t>mai</a:t>
            </a:r>
            <a:r>
              <a:rPr lang="pt-BR" sz="700" dirty="0">
                <a:latin typeface="Gill Sans MT" pitchFamily="34" charset="0"/>
              </a:rPr>
              <a:t>) – Luciana </a:t>
            </a:r>
            <a:r>
              <a:rPr lang="pt-BR" sz="700" dirty="0" err="1">
                <a:latin typeface="Gill Sans MT" pitchFamily="34" charset="0"/>
              </a:rPr>
              <a:t>Kaneko</a:t>
            </a:r>
            <a:r>
              <a:rPr lang="pt-BR" sz="700" dirty="0">
                <a:latin typeface="Gill Sans MT" pitchFamily="34" charset="0"/>
              </a:rPr>
              <a:t> / Luciana </a:t>
            </a:r>
            <a:r>
              <a:rPr lang="pt-BR" sz="700" dirty="0" err="1">
                <a:latin typeface="Gill Sans MT" pitchFamily="34" charset="0"/>
              </a:rPr>
              <a:t>Kirche</a:t>
            </a:r>
            <a:r>
              <a:rPr lang="pt-BR" sz="700" dirty="0">
                <a:latin typeface="Gill Sans MT" pitchFamily="34" charset="0"/>
              </a:rPr>
              <a:t> (Concluído)</a:t>
            </a:r>
          </a:p>
          <a:p>
            <a:pPr marL="385630">
              <a:spcAft>
                <a:spcPts val="0"/>
              </a:spcAft>
            </a:pPr>
            <a:r>
              <a:rPr lang="pt-BR" sz="700" b="1" dirty="0">
                <a:solidFill>
                  <a:srgbClr val="00B050"/>
                </a:solidFill>
                <a:latin typeface="Gill Sans MT" pitchFamily="34" charset="0"/>
              </a:rPr>
              <a:t>novo!</a:t>
            </a:r>
            <a:r>
              <a:rPr lang="pt-BR" sz="700" dirty="0">
                <a:latin typeface="Gill Sans MT" pitchFamily="34" charset="0"/>
              </a:rPr>
              <a:t> – Revisão da Lista de distribuição para demais grupos – (5/</a:t>
            </a:r>
            <a:r>
              <a:rPr lang="pt-BR" sz="700" dirty="0" err="1">
                <a:latin typeface="Gill Sans MT" pitchFamily="34" charset="0"/>
              </a:rPr>
              <a:t>jun</a:t>
            </a:r>
            <a:r>
              <a:rPr lang="pt-BR" sz="700" dirty="0">
                <a:latin typeface="Gill Sans MT" pitchFamily="34" charset="0"/>
              </a:rPr>
              <a:t>) – Luciana </a:t>
            </a:r>
            <a:r>
              <a:rPr lang="pt-BR" sz="700" dirty="0" err="1">
                <a:latin typeface="Gill Sans MT" pitchFamily="34" charset="0"/>
              </a:rPr>
              <a:t>Kaneko</a:t>
            </a:r>
            <a:r>
              <a:rPr lang="pt-BR" sz="700" dirty="0">
                <a:latin typeface="Gill Sans MT" pitchFamily="34" charset="0"/>
              </a:rPr>
              <a:t> / </a:t>
            </a:r>
            <a:r>
              <a:rPr lang="pt-BR" sz="700" dirty="0" err="1">
                <a:latin typeface="Gill Sans MT" pitchFamily="34" charset="0"/>
              </a:rPr>
              <a:t>GRPs</a:t>
            </a:r>
            <a:r>
              <a:rPr lang="pt-BR" sz="700" dirty="0">
                <a:latin typeface="Gill Sans MT" pitchFamily="34" charset="0"/>
              </a:rPr>
              <a:t> (em andamento)</a:t>
            </a:r>
          </a:p>
          <a:p>
            <a:pPr marL="385630"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O que se espera da revisão de </a:t>
            </a:r>
            <a:r>
              <a:rPr lang="pt-BR" sz="700" b="1" dirty="0">
                <a:latin typeface="Gill Sans MT" pitchFamily="34" charset="0"/>
              </a:rPr>
              <a:t>Prazos de Solução</a:t>
            </a:r>
            <a:r>
              <a:rPr lang="pt-BR" sz="700" dirty="0">
                <a:latin typeface="Gill Sans MT" pitchFamily="34" charset="0"/>
              </a:rPr>
              <a:t> ?</a:t>
            </a:r>
          </a:p>
          <a:p>
            <a:pPr marL="385630">
              <a:spcAft>
                <a:spcPts val="0"/>
              </a:spcAft>
            </a:pPr>
            <a:r>
              <a:rPr lang="pt-BR" sz="700" b="1" dirty="0">
                <a:latin typeface="Gill Sans MT" pitchFamily="34" charset="0"/>
              </a:rPr>
              <a:t>O problema:</a:t>
            </a:r>
            <a:r>
              <a:rPr lang="pt-BR" sz="700" dirty="0">
                <a:latin typeface="Gill Sans MT" pitchFamily="34" charset="0"/>
              </a:rPr>
              <a:t> Os incidentes que estão relacionados a </a:t>
            </a:r>
            <a:r>
              <a:rPr lang="pt-BR" sz="700" dirty="0" err="1">
                <a:latin typeface="Gill Sans MT" pitchFamily="34" charset="0"/>
              </a:rPr>
              <a:t>Bacth</a:t>
            </a:r>
            <a:r>
              <a:rPr lang="pt-BR" sz="700" dirty="0">
                <a:latin typeface="Gill Sans MT" pitchFamily="34" charset="0"/>
              </a:rPr>
              <a:t>\Relatórios </a:t>
            </a:r>
            <a:r>
              <a:rPr lang="pt-BR" sz="700" dirty="0" err="1">
                <a:latin typeface="Gill Sans MT" pitchFamily="34" charset="0"/>
              </a:rPr>
              <a:t>etc</a:t>
            </a:r>
            <a:r>
              <a:rPr lang="pt-BR" sz="700" dirty="0">
                <a:latin typeface="Gill Sans MT" pitchFamily="34" charset="0"/>
              </a:rPr>
              <a:t>, demoram muito;</a:t>
            </a:r>
          </a:p>
          <a:p>
            <a:pPr marL="385630"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Está relacionado ao FUP.</a:t>
            </a:r>
          </a:p>
          <a:p>
            <a:pPr marL="385630"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O </a:t>
            </a:r>
            <a:r>
              <a:rPr lang="pt-BR" sz="700" b="1" dirty="0">
                <a:latin typeface="Gill Sans MT" pitchFamily="34" charset="0"/>
              </a:rPr>
              <a:t>Follow-Up</a:t>
            </a:r>
            <a:r>
              <a:rPr lang="pt-BR" sz="700" dirty="0">
                <a:latin typeface="Gill Sans MT" pitchFamily="34" charset="0"/>
              </a:rPr>
              <a:t> está relacionado à central de comando ou ao grupo solucionador do IC?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Está relacionado ao </a:t>
            </a:r>
            <a:r>
              <a:rPr lang="pt-BR" sz="700" b="1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Prazo de Solução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. Rever o diário de bordo.</a:t>
            </a:r>
          </a:p>
          <a:p>
            <a:pPr marL="385630">
              <a:spcAft>
                <a:spcPts val="0"/>
              </a:spcAft>
            </a:pPr>
            <a:r>
              <a:rPr lang="pt-BR" sz="700" dirty="0">
                <a:latin typeface="Gill Sans MT" pitchFamily="34" charset="0"/>
              </a:rPr>
              <a:t> 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dirty="0">
                <a:latin typeface="Gill Sans MT" pitchFamily="34" charset="0"/>
              </a:rPr>
              <a:t>Quais informações são necessárias para o </a:t>
            </a:r>
            <a:r>
              <a:rPr lang="pt-BR" sz="700" b="1" dirty="0">
                <a:latin typeface="Gill Sans MT" pitchFamily="34" charset="0"/>
              </a:rPr>
              <a:t>Diário de Bordo de </a:t>
            </a:r>
            <a:r>
              <a:rPr lang="pt-BR" sz="700" b="1" dirty="0" err="1">
                <a:latin typeface="Gill Sans MT" pitchFamily="34" charset="0"/>
              </a:rPr>
              <a:t>ICs</a:t>
            </a:r>
            <a:r>
              <a:rPr lang="pt-BR" sz="700" b="1" dirty="0">
                <a:latin typeface="Gill Sans MT" pitchFamily="34" charset="0"/>
              </a:rPr>
              <a:t> em andamento</a:t>
            </a:r>
            <a:r>
              <a:rPr lang="pt-BR" sz="700" dirty="0">
                <a:latin typeface="Gill Sans MT" pitchFamily="34" charset="0"/>
              </a:rPr>
              <a:t>? O que se espera de informações no diário além dos que estão em andamento?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Destacar os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ICs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em andamento (de um dia para outro - </a:t>
            </a:r>
            <a:r>
              <a:rPr lang="pt-BR" sz="700" b="1" dirty="0">
                <a:solidFill>
                  <a:srgbClr val="FF0000"/>
                </a:solidFill>
                <a:latin typeface="Gill Sans MT" pitchFamily="34" charset="0"/>
                <a:ea typeface="MS PGothic" pitchFamily="34" charset="-128"/>
              </a:rPr>
              <a:t>SEMÁFORO VERMELHO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)</a:t>
            </a:r>
          </a:p>
          <a:p>
            <a:pPr marL="642717" lvl="2" indent="-128544" defTabSz="407117" fontAlgn="ctr">
              <a:buFont typeface="Arial"/>
              <a:buChar char="•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Incluir o Semáforo vermelho na frente dos em aberto, Verde concluído amarelo em monitoração (05/Mar) – Solange (Concluído)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Resgatar o modelo passado de controle dos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Ics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, adicionar o contorno (11/Mar) – Solange (Concluído)</a:t>
            </a:r>
          </a:p>
          <a:p>
            <a:pPr marL="417766" lvl="1" indent="-160679" defTabSz="407117" fontAlgn="ctr">
              <a:buFont typeface="Courier New"/>
              <a:buChar char="o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Apresentar um consolidado Semanal (</a:t>
            </a:r>
            <a:r>
              <a:rPr lang="pt-BR" sz="700" b="1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como foi a semana?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) - (13/Mar) - Solange</a:t>
            </a:r>
          </a:p>
          <a:p>
            <a:pPr marL="642717" lvl="2" indent="-128544" defTabSz="407117" fontAlgn="ctr">
              <a:buFont typeface="Arial"/>
              <a:buChar char="•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Estudar implementação do MTBF por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App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(piloto base nos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Ics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0) - (20/Mar) – Solange  (entregue no prazo para análise)</a:t>
            </a:r>
          </a:p>
          <a:p>
            <a:pPr marL="642717" lvl="2" indent="-128544" defTabSz="407117" fontAlgn="ctr">
              <a:buFont typeface="Arial"/>
              <a:buChar char="•"/>
            </a:pP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Estudar implementação do MTTR por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App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(piloto base nos </a:t>
            </a:r>
            <a:r>
              <a:rPr lang="pt-BR" sz="700" dirty="0" err="1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Ics</a:t>
            </a:r>
            <a:r>
              <a:rPr lang="pt-BR" sz="700" dirty="0">
                <a:solidFill>
                  <a:prstClr val="black"/>
                </a:solidFill>
                <a:latin typeface="Gill Sans MT" pitchFamily="34" charset="0"/>
                <a:ea typeface="MS PGothic" pitchFamily="34" charset="-128"/>
              </a:rPr>
              <a:t> 0) - (20/Mar) – Solange (entregue no prazo para análise)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b="1" dirty="0">
                <a:solidFill>
                  <a:srgbClr val="00B050"/>
                </a:solidFill>
                <a:latin typeface="Gill Sans MT" pitchFamily="34" charset="0"/>
              </a:rPr>
              <a:t>novo!</a:t>
            </a:r>
            <a:r>
              <a:rPr lang="pt-BR" sz="700" dirty="0">
                <a:latin typeface="Gill Sans MT" pitchFamily="34" charset="0"/>
              </a:rPr>
              <a:t> - Reforçar a Participação no Bom dia TD e alterar a hora para 9h AM - (05/Mar) – Solange (Concluído)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b="1" dirty="0">
                <a:solidFill>
                  <a:srgbClr val="00B050"/>
                </a:solidFill>
                <a:latin typeface="Gill Sans MT" pitchFamily="34" charset="0"/>
              </a:rPr>
              <a:t>novo!</a:t>
            </a:r>
            <a:r>
              <a:rPr lang="pt-BR" sz="700" dirty="0">
                <a:latin typeface="Gill Sans MT" pitchFamily="34" charset="0"/>
              </a:rPr>
              <a:t> - Reforçar o escopo e responsabilidade dos participantes - (05/Mar) – Solange (Concluído)</a:t>
            </a:r>
          </a:p>
          <a:p>
            <a:pPr marL="192815" fontAlgn="ctr">
              <a:spcAft>
                <a:spcPts val="0"/>
              </a:spcAft>
              <a:buFont typeface="Arial"/>
              <a:buChar char="•"/>
            </a:pPr>
            <a:r>
              <a:rPr lang="pt-BR" sz="700" b="1" dirty="0">
                <a:solidFill>
                  <a:srgbClr val="00B050"/>
                </a:solidFill>
                <a:latin typeface="Gill Sans MT" pitchFamily="34" charset="0"/>
              </a:rPr>
              <a:t>novo!</a:t>
            </a:r>
            <a:r>
              <a:rPr lang="pt-BR" sz="700" dirty="0">
                <a:latin typeface="Gill Sans MT" pitchFamily="34" charset="0"/>
              </a:rPr>
              <a:t> - Revisar a lista de distribuição do Bom dia TD - (05/Mar) – Solange (Concluído)</a:t>
            </a:r>
          </a:p>
        </p:txBody>
      </p:sp>
      <p:sp>
        <p:nvSpPr>
          <p:cNvPr id="29" name="Text Box 4"/>
          <p:cNvSpPr txBox="1">
            <a:spLocks noChangeArrowheads="1"/>
          </p:cNvSpPr>
          <p:nvPr/>
        </p:nvSpPr>
        <p:spPr bwMode="auto">
          <a:xfrm>
            <a:off x="123053" y="316517"/>
            <a:ext cx="8910976" cy="43419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wrap="square" lIns="51417" tIns="25709" rIns="51417" bIns="25709">
            <a:noAutofit/>
          </a:bodyPr>
          <a:lstStyle>
            <a:defPPr>
              <a:defRPr lang="pt-BR"/>
            </a:defPPr>
            <a:lvl1pPr eaLnBrk="0" hangingPunct="0">
              <a:lnSpc>
                <a:spcPts val="1300"/>
              </a:lnSpc>
              <a:defRPr sz="1400" u="none">
                <a:solidFill>
                  <a:schemeClr val="tx1">
                    <a:lumMod val="65000"/>
                    <a:lumOff val="35000"/>
                  </a:schemeClr>
                </a:solidFill>
                <a:latin typeface="Gill Sans Std" pitchFamily="34" charset="0"/>
              </a:defRPr>
            </a:lvl1pPr>
          </a:lstStyle>
          <a:p>
            <a:pPr defTabSz="514174">
              <a:lnSpc>
                <a:spcPct val="100000"/>
              </a:lnSpc>
              <a:spcAft>
                <a:spcPts val="337"/>
              </a:spcAft>
              <a:defRPr/>
            </a:pPr>
            <a:r>
              <a:rPr lang="pt-BR" sz="900" b="1" kern="0" dirty="0">
                <a:solidFill>
                  <a:prstClr val="black"/>
                </a:solidFill>
                <a:latin typeface="Gill Sans MT" pitchFamily="34" charset="0"/>
                <a:ea typeface="Verdana" pitchFamily="34" charset="0"/>
                <a:cs typeface="Verdana" pitchFamily="34" charset="0"/>
              </a:rPr>
              <a:t>Plano Resumido</a:t>
            </a:r>
            <a:endParaRPr lang="pt-BR" sz="900" kern="0" dirty="0">
              <a:solidFill>
                <a:prstClr val="black"/>
              </a:solidFill>
              <a:latin typeface="Gill Sans MT" pitchFamily="34" charset="0"/>
              <a:ea typeface="Verdana" pitchFamily="34" charset="0"/>
              <a:cs typeface="Verdana" pitchFamily="34" charset="0"/>
            </a:endParaRPr>
          </a:p>
        </p:txBody>
      </p:sp>
      <p:pic>
        <p:nvPicPr>
          <p:cNvPr id="25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61772" y="316515"/>
            <a:ext cx="456307" cy="38926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CaixaDeTexto 7"/>
          <p:cNvSpPr txBox="1"/>
          <p:nvPr/>
        </p:nvSpPr>
        <p:spPr>
          <a:xfrm rot="19303442">
            <a:off x="1403648" y="1741551"/>
            <a:ext cx="518457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4000" b="1" dirty="0" smtClean="0">
                <a:solidFill>
                  <a:srgbClr val="FF0000"/>
                </a:solidFill>
                <a:latin typeface="Gill Sans Std" pitchFamily="34" charset="0"/>
              </a:rPr>
              <a:t>Em atualização</a:t>
            </a:r>
          </a:p>
        </p:txBody>
      </p:sp>
    </p:spTree>
    <p:extLst>
      <p:ext uri="{BB962C8B-B14F-4D97-AF65-F5344CB8AC3E}">
        <p14:creationId xmlns:p14="http://schemas.microsoft.com/office/powerpoint/2010/main" val="275004571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Revisão IC0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2" name="Retângulo 1"/>
          <p:cNvSpPr/>
          <p:nvPr/>
        </p:nvSpPr>
        <p:spPr>
          <a:xfrm>
            <a:off x="948108" y="125137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 Light" pitchFamily="34" charset="0"/>
              </a:rPr>
              <a:t>Primeira Versão - ago’14</a:t>
            </a:r>
            <a:endParaRPr lang="pt-BR" dirty="0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3833" y="1596554"/>
            <a:ext cx="3133569" cy="189334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4" name="Retângulo 13"/>
          <p:cNvSpPr/>
          <p:nvPr/>
        </p:nvSpPr>
        <p:spPr>
          <a:xfrm>
            <a:off x="4392488" y="1251372"/>
            <a:ext cx="4572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pt-BR" dirty="0" smtClean="0">
                <a:solidFill>
                  <a:srgbClr val="5F5F5F"/>
                </a:solidFill>
                <a:latin typeface="Gill Sans Std Light" pitchFamily="34" charset="0"/>
              </a:rPr>
              <a:t>Atual – jun’15 (Base </a:t>
            </a:r>
            <a:r>
              <a:rPr lang="pt-BR" dirty="0" err="1" smtClean="0">
                <a:solidFill>
                  <a:srgbClr val="5F5F5F"/>
                </a:solidFill>
                <a:latin typeface="Gill Sans Std Light" pitchFamily="34" charset="0"/>
              </a:rPr>
              <a:t>ICs</a:t>
            </a:r>
            <a:r>
              <a:rPr lang="pt-BR" dirty="0" smtClean="0">
                <a:solidFill>
                  <a:srgbClr val="5F5F5F"/>
                </a:solidFill>
                <a:latin typeface="Gill Sans Std Light" pitchFamily="34" charset="0"/>
              </a:rPr>
              <a:t> escalonados)</a:t>
            </a:r>
            <a:endParaRPr lang="pt-BR" dirty="0"/>
          </a:p>
        </p:txBody>
      </p:sp>
      <p:sp>
        <p:nvSpPr>
          <p:cNvPr id="5" name="Retângulo de cantos arredondados 4"/>
          <p:cNvSpPr/>
          <p:nvPr/>
        </p:nvSpPr>
        <p:spPr>
          <a:xfrm>
            <a:off x="4439988" y="1620704"/>
            <a:ext cx="3888432" cy="1869199"/>
          </a:xfrm>
          <a:prstGeom prst="roundRect">
            <a:avLst/>
          </a:prstGeom>
          <a:solidFill>
            <a:srgbClr val="F0FA72"/>
          </a:soli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endParaRPr lang="pt-BR" sz="800" dirty="0">
              <a:solidFill>
                <a:schemeClr val="tx1"/>
              </a:solidFill>
            </a:endParaRPr>
          </a:p>
        </p:txBody>
      </p:sp>
      <p:sp>
        <p:nvSpPr>
          <p:cNvPr id="7" name="CaixaDeTexto 6"/>
          <p:cNvSpPr txBox="1"/>
          <p:nvPr/>
        </p:nvSpPr>
        <p:spPr>
          <a:xfrm>
            <a:off x="7334328" y="1719045"/>
            <a:ext cx="99409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900" b="1" dirty="0" err="1">
                <a:solidFill>
                  <a:srgbClr val="FF0000"/>
                </a:solidFill>
                <a:latin typeface="Gill Sans MT" pitchFamily="34" charset="0"/>
              </a:rPr>
              <a:t>Wifi</a:t>
            </a:r>
            <a:r>
              <a:rPr lang="pt-BR" sz="900" b="1" dirty="0">
                <a:solidFill>
                  <a:srgbClr val="FF0000"/>
                </a:solidFill>
                <a:latin typeface="Gill Sans MT" pitchFamily="34" charset="0"/>
              </a:rPr>
              <a:t> </a:t>
            </a:r>
          </a:p>
          <a:p>
            <a:r>
              <a:rPr lang="pt-BR" sz="900" b="1" dirty="0" err="1">
                <a:solidFill>
                  <a:srgbClr val="0070C0"/>
                </a:solidFill>
                <a:latin typeface="Gill Sans MT" pitchFamily="34" charset="0"/>
              </a:rPr>
              <a:t>Wamas</a:t>
            </a:r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 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SAP PRD 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SAP/PQM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SAP/KISOFT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SAP SD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RF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UC4</a:t>
            </a:r>
          </a:p>
          <a:p>
            <a:r>
              <a:rPr lang="pt-BR" sz="900" b="1" dirty="0">
                <a:solidFill>
                  <a:srgbClr val="0070C0"/>
                </a:solidFill>
                <a:latin typeface="Gill Sans MT" pitchFamily="34" charset="0"/>
              </a:rPr>
              <a:t>SAP NFE</a:t>
            </a:r>
          </a:p>
          <a:p>
            <a:endParaRPr lang="pt-BR" sz="900" b="1" dirty="0">
              <a:latin typeface="Gill Sans MT" pitchFamily="34" charset="0"/>
            </a:endParaRPr>
          </a:p>
        </p:txBody>
      </p:sp>
      <p:sp>
        <p:nvSpPr>
          <p:cNvPr id="19" name="CaixaDeTexto 18"/>
          <p:cNvSpPr txBox="1"/>
          <p:nvPr/>
        </p:nvSpPr>
        <p:spPr>
          <a:xfrm>
            <a:off x="4572000" y="1712878"/>
            <a:ext cx="155408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000" b="1" dirty="0" smtClean="0">
                <a:latin typeface="Gill Sans MT" pitchFamily="34" charset="0"/>
              </a:rPr>
              <a:t>Cobrança NET</a:t>
            </a:r>
            <a:endParaRPr lang="pt-BR" sz="1000" b="1" dirty="0">
              <a:latin typeface="Gill Sans MT" pitchFamily="34" charset="0"/>
            </a:endParaRPr>
          </a:p>
          <a:p>
            <a:r>
              <a:rPr lang="pt-BR" sz="1000" b="1" dirty="0" smtClean="0">
                <a:latin typeface="Gill Sans MT" pitchFamily="34" charset="0"/>
              </a:rPr>
              <a:t>Sites CF/CN/CNO/FV</a:t>
            </a:r>
            <a:endParaRPr lang="pt-BR" sz="1000" b="1" dirty="0">
              <a:latin typeface="Gill Sans MT" pitchFamily="34" charset="0"/>
            </a:endParaRPr>
          </a:p>
          <a:p>
            <a:r>
              <a:rPr lang="pt-BR" sz="1000" b="1" dirty="0" smtClean="0">
                <a:latin typeface="Gill Sans MT" pitchFamily="34" charset="0"/>
              </a:rPr>
              <a:t>Captação de Pedidos</a:t>
            </a:r>
            <a:endParaRPr lang="pt-BR" sz="1000" b="1" dirty="0">
              <a:latin typeface="Gill Sans MT" pitchFamily="34" charset="0"/>
            </a:endParaRPr>
          </a:p>
          <a:p>
            <a:r>
              <a:rPr lang="pt-BR" sz="1000" b="1" dirty="0">
                <a:solidFill>
                  <a:srgbClr val="FF0000"/>
                </a:solidFill>
                <a:latin typeface="Gill Sans MT" pitchFamily="34" charset="0"/>
              </a:rPr>
              <a:t>SAP CRM </a:t>
            </a:r>
          </a:p>
          <a:p>
            <a:r>
              <a:rPr lang="pt-BR" sz="1000" b="1" dirty="0">
                <a:solidFill>
                  <a:srgbClr val="FF0000"/>
                </a:solidFill>
                <a:latin typeface="Gill Sans MT" pitchFamily="34" charset="0"/>
              </a:rPr>
              <a:t>Fabricação </a:t>
            </a:r>
            <a:endParaRPr lang="pt-BR" sz="1000" b="1" dirty="0" smtClean="0">
              <a:solidFill>
                <a:srgbClr val="FF0000"/>
              </a:solidFill>
              <a:latin typeface="Gill Sans MT" pitchFamily="34" charset="0"/>
            </a:endParaRPr>
          </a:p>
          <a:p>
            <a:r>
              <a:rPr lang="pt-BR" sz="1000" b="1" dirty="0" smtClean="0">
                <a:latin typeface="Gill Sans MT" pitchFamily="34" charset="0"/>
              </a:rPr>
              <a:t>Faturamento</a:t>
            </a:r>
          </a:p>
          <a:p>
            <a:r>
              <a:rPr lang="pt-BR" sz="1000" b="1" dirty="0" smtClean="0">
                <a:latin typeface="Gill Sans MT" pitchFamily="34" charset="0"/>
              </a:rPr>
              <a:t>Separação</a:t>
            </a:r>
          </a:p>
          <a:p>
            <a:r>
              <a:rPr lang="pt-BR" sz="1000" b="1" dirty="0" smtClean="0">
                <a:latin typeface="Gill Sans MT" pitchFamily="34" charset="0"/>
              </a:rPr>
              <a:t>Rede (CAPTA, CAD e ADM)</a:t>
            </a:r>
          </a:p>
          <a:p>
            <a:r>
              <a:rPr lang="pt-BR" sz="1000" b="1" dirty="0" smtClean="0">
                <a:solidFill>
                  <a:srgbClr val="0070C0"/>
                </a:solidFill>
                <a:latin typeface="Gill Sans MT" pitchFamily="34" charset="0"/>
              </a:rPr>
              <a:t>SAP MM</a:t>
            </a:r>
          </a:p>
          <a:p>
            <a:r>
              <a:rPr lang="pt-BR" sz="1000" b="1" dirty="0" err="1" smtClean="0">
                <a:solidFill>
                  <a:srgbClr val="FF0000"/>
                </a:solidFill>
                <a:latin typeface="Gill Sans MT" pitchFamily="34" charset="0"/>
              </a:rPr>
              <a:t>Evolutio</a:t>
            </a:r>
            <a:endParaRPr lang="pt-BR" sz="1000" b="1" dirty="0">
              <a:solidFill>
                <a:srgbClr val="FF0000"/>
              </a:solidFill>
              <a:latin typeface="Gill Sans MT" pitchFamily="34" charset="0"/>
            </a:endParaRPr>
          </a:p>
          <a:p>
            <a:endParaRPr lang="pt-BR" sz="1000" b="1" dirty="0">
              <a:latin typeface="Gill Sans MT" pitchFamily="34" charset="0"/>
            </a:endParaRPr>
          </a:p>
        </p:txBody>
      </p:sp>
      <p:sp>
        <p:nvSpPr>
          <p:cNvPr id="9" name="Retângulo 8"/>
          <p:cNvSpPr/>
          <p:nvPr/>
        </p:nvSpPr>
        <p:spPr>
          <a:xfrm>
            <a:off x="6063579" y="1710671"/>
            <a:ext cx="1539949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GTA</a:t>
            </a:r>
          </a:p>
          <a:p>
            <a:r>
              <a:rPr lang="pt-BR" sz="1000" b="1" dirty="0">
                <a:solidFill>
                  <a:srgbClr val="FF0000"/>
                </a:solidFill>
                <a:latin typeface="Gill Sans MT" pitchFamily="34" charset="0"/>
              </a:rPr>
              <a:t>Cadastro </a:t>
            </a:r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CN e CND</a:t>
            </a:r>
          </a:p>
          <a:p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QCC</a:t>
            </a:r>
          </a:p>
          <a:p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Office365</a:t>
            </a:r>
          </a:p>
          <a:p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Estatística</a:t>
            </a:r>
          </a:p>
          <a:p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Conecta</a:t>
            </a:r>
            <a:b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</a:br>
            <a:r>
              <a:rPr lang="pt-BR" sz="1000" b="1" dirty="0" smtClean="0">
                <a:solidFill>
                  <a:srgbClr val="FF0000"/>
                </a:solidFill>
                <a:latin typeface="Gill Sans MT" pitchFamily="34" charset="0"/>
              </a:rPr>
              <a:t>Carta Convite</a:t>
            </a:r>
          </a:p>
          <a:p>
            <a:r>
              <a:rPr lang="pt-BR" sz="1000" b="1" dirty="0" smtClean="0">
                <a:solidFill>
                  <a:srgbClr val="0070C0"/>
                </a:solidFill>
                <a:latin typeface="Gill Sans MT" pitchFamily="34" charset="0"/>
              </a:rPr>
              <a:t>SAP FI</a:t>
            </a:r>
            <a:endParaRPr lang="pt-BR" sz="1000" b="1" dirty="0">
              <a:solidFill>
                <a:srgbClr val="0070C0"/>
              </a:solidFill>
              <a:latin typeface="Gill Sans M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51807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830305060"/>
              </p:ext>
            </p:extLst>
          </p:nvPr>
        </p:nvGraphicFramePr>
        <p:xfrm>
          <a:off x="611560" y="-740618"/>
          <a:ext cx="8208912" cy="35599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44" name="CaixaDeTexto 43"/>
          <p:cNvSpPr txBox="1"/>
          <p:nvPr/>
        </p:nvSpPr>
        <p:spPr>
          <a:xfrm>
            <a:off x="0" y="3212"/>
            <a:ext cx="9144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dirty="0" smtClean="0">
                <a:solidFill>
                  <a:srgbClr val="004F71"/>
                </a:solidFill>
                <a:latin typeface="Gill Sans Std ExtraBold" pitchFamily="34" charset="0"/>
              </a:rPr>
              <a:t>Proposta IC0</a:t>
            </a:r>
            <a:endParaRPr lang="pt-BR" sz="1600" dirty="0">
              <a:solidFill>
                <a:srgbClr val="004F71"/>
              </a:solidFill>
              <a:latin typeface="Gill Sans Std ExtraBold" pitchFamily="34" charset="0"/>
            </a:endParaRPr>
          </a:p>
        </p:txBody>
      </p:sp>
      <p:sp>
        <p:nvSpPr>
          <p:cNvPr id="18" name="Retângulo 17"/>
          <p:cNvSpPr/>
          <p:nvPr/>
        </p:nvSpPr>
        <p:spPr>
          <a:xfrm>
            <a:off x="527677" y="1383296"/>
            <a:ext cx="1656184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Evolutio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GTA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SAP MM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RFs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Impressão de  Etiquetas</a:t>
            </a:r>
            <a:endParaRPr lang="pt-BR" sz="1200" dirty="0">
              <a:solidFill>
                <a:srgbClr val="5F5F5F"/>
              </a:solidFill>
              <a:latin typeface="Gill Sans Std Light" pitchFamily="34" charset="0"/>
            </a:endParaRPr>
          </a:p>
        </p:txBody>
      </p:sp>
      <p:sp>
        <p:nvSpPr>
          <p:cNvPr id="20" name="Retângulo 19"/>
          <p:cNvSpPr/>
          <p:nvPr/>
        </p:nvSpPr>
        <p:spPr>
          <a:xfrm>
            <a:off x="2136361" y="1359489"/>
            <a:ext cx="1589005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Capta Web / CAN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Conecta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Rede Natura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Site CF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Site FV</a:t>
            </a:r>
          </a:p>
        </p:txBody>
      </p:sp>
      <p:sp>
        <p:nvSpPr>
          <p:cNvPr id="21" name="Retângulo 20"/>
          <p:cNvSpPr/>
          <p:nvPr/>
        </p:nvSpPr>
        <p:spPr>
          <a:xfrm>
            <a:off x="3730949" y="1358647"/>
            <a:ext cx="1470248" cy="27699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SAP APO</a:t>
            </a:r>
          </a:p>
        </p:txBody>
      </p:sp>
      <p:sp>
        <p:nvSpPr>
          <p:cNvPr id="22" name="Retângulo 21"/>
          <p:cNvSpPr/>
          <p:nvPr/>
        </p:nvSpPr>
        <p:spPr>
          <a:xfrm>
            <a:off x="5364088" y="1347614"/>
            <a:ext cx="1584176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SAP </a:t>
            </a:r>
            <a:r>
              <a:rPr lang="pt-BR" sz="1200" dirty="0">
                <a:solidFill>
                  <a:srgbClr val="5F5F5F"/>
                </a:solidFill>
                <a:latin typeface="Gill Sans Std Light" pitchFamily="34" charset="0"/>
              </a:rPr>
              <a:t>PRD / PI</a:t>
            </a:r>
          </a:p>
          <a:p>
            <a:r>
              <a:rPr lang="pt-BR" sz="1200" dirty="0" err="1" smtClean="0">
                <a:solidFill>
                  <a:srgbClr val="5F5F5F"/>
                </a:solidFill>
                <a:latin typeface="Gill Sans Std Light" pitchFamily="34" charset="0"/>
              </a:rPr>
              <a:t>Wamas</a:t>
            </a:r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 </a:t>
            </a:r>
            <a:r>
              <a:rPr lang="pt-BR" sz="1200" dirty="0">
                <a:solidFill>
                  <a:srgbClr val="5F5F5F"/>
                </a:solidFill>
                <a:latin typeface="Gill Sans Std Light" pitchFamily="34" charset="0"/>
              </a:rPr>
              <a:t>/ C, </a:t>
            </a:r>
            <a:endParaRPr lang="pt-BR" sz="1200" dirty="0" smtClean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200" dirty="0" err="1" smtClean="0">
                <a:solidFill>
                  <a:srgbClr val="5F5F5F"/>
                </a:solidFill>
                <a:latin typeface="Gill Sans Std Light" pitchFamily="34" charset="0"/>
              </a:rPr>
              <a:t>Convey</a:t>
            </a:r>
            <a:endParaRPr lang="pt-BR" sz="1200" dirty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200" dirty="0" err="1" smtClean="0">
                <a:solidFill>
                  <a:srgbClr val="5F5F5F"/>
                </a:solidFill>
                <a:latin typeface="Gill Sans Std Light" pitchFamily="34" charset="0"/>
              </a:rPr>
              <a:t>Kisoft</a:t>
            </a:r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,</a:t>
            </a:r>
          </a:p>
          <a:p>
            <a:r>
              <a:rPr lang="pt-BR" sz="1200" dirty="0" err="1" smtClean="0">
                <a:solidFill>
                  <a:srgbClr val="5F5F5F"/>
                </a:solidFill>
                <a:latin typeface="Gill Sans Std Light" pitchFamily="34" charset="0"/>
              </a:rPr>
              <a:t>RFs</a:t>
            </a:r>
            <a:endParaRPr lang="pt-BR" sz="1200" dirty="0" smtClean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UC4 </a:t>
            </a:r>
            <a:r>
              <a:rPr lang="pt-BR" sz="1200" dirty="0">
                <a:solidFill>
                  <a:srgbClr val="5F5F5F"/>
                </a:solidFill>
                <a:latin typeface="Gill Sans Std Light" pitchFamily="34" charset="0"/>
              </a:rPr>
              <a:t>(apenas se parar o envio de pedido para linha)</a:t>
            </a:r>
          </a:p>
          <a:p>
            <a:endParaRPr lang="pt-BR" sz="1200" dirty="0">
              <a:solidFill>
                <a:srgbClr val="5F5F5F"/>
              </a:solidFill>
              <a:latin typeface="Gill Sans Std Light" pitchFamily="34" charset="0"/>
            </a:endParaRPr>
          </a:p>
        </p:txBody>
      </p:sp>
      <p:sp>
        <p:nvSpPr>
          <p:cNvPr id="23" name="Retângulo 22"/>
          <p:cNvSpPr/>
          <p:nvPr/>
        </p:nvSpPr>
        <p:spPr>
          <a:xfrm>
            <a:off x="6930051" y="1347614"/>
            <a:ext cx="1542256" cy="212365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CDs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Hubs (exceto quando for Sefaz)</a:t>
            </a:r>
          </a:p>
          <a:p>
            <a:r>
              <a:rPr lang="pt-BR" sz="1200" dirty="0">
                <a:solidFill>
                  <a:srgbClr val="5F5F5F"/>
                </a:solidFill>
                <a:latin typeface="Gill Sans Std Light" pitchFamily="34" charset="0"/>
              </a:rPr>
              <a:t>SAP </a:t>
            </a:r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PRD / GRC / NFE / PI </a:t>
            </a:r>
            <a:endParaRPr lang="pt-BR" sz="1200" dirty="0">
              <a:solidFill>
                <a:srgbClr val="5F5F5F"/>
              </a:solidFill>
              <a:latin typeface="Gill Sans Std Light" pitchFamily="34" charset="0"/>
            </a:endParaRP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PQM</a:t>
            </a:r>
          </a:p>
          <a:p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Impressão NF</a:t>
            </a:r>
          </a:p>
          <a:p>
            <a:r>
              <a:rPr lang="pt-BR" sz="1200" dirty="0">
                <a:solidFill>
                  <a:srgbClr val="5F5F5F"/>
                </a:solidFill>
                <a:latin typeface="Gill Sans Std Light" pitchFamily="34" charset="0"/>
              </a:rPr>
              <a:t>UC4 (apenas se parar o </a:t>
            </a:r>
            <a:r>
              <a:rPr lang="pt-BR" sz="1200" dirty="0" smtClean="0">
                <a:solidFill>
                  <a:srgbClr val="5F5F5F"/>
                </a:solidFill>
                <a:latin typeface="Gill Sans Std Light" pitchFamily="34" charset="0"/>
              </a:rPr>
              <a:t>envio para faturamento)</a:t>
            </a:r>
            <a:endParaRPr lang="pt-BR" sz="1200" dirty="0">
              <a:solidFill>
                <a:srgbClr val="5F5F5F"/>
              </a:solidFill>
              <a:latin typeface="Gill Sans Std Light" pitchFamily="34" charset="0"/>
            </a:endParaRPr>
          </a:p>
          <a:p>
            <a:endParaRPr lang="pt-BR" sz="1200" dirty="0" smtClean="0">
              <a:solidFill>
                <a:srgbClr val="5F5F5F"/>
              </a:solidFill>
              <a:latin typeface="Gill Sans Std Light" pitchFamily="34" charset="0"/>
            </a:endParaRPr>
          </a:p>
        </p:txBody>
      </p:sp>
      <p:sp>
        <p:nvSpPr>
          <p:cNvPr id="6" name="Retângulo 5"/>
          <p:cNvSpPr/>
          <p:nvPr/>
        </p:nvSpPr>
        <p:spPr>
          <a:xfrm>
            <a:off x="527676" y="3230912"/>
            <a:ext cx="8364803" cy="178510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1100" b="1" dirty="0" smtClean="0">
                <a:solidFill>
                  <a:srgbClr val="5F5F5F"/>
                </a:solidFill>
                <a:latin typeface="Gill Sans Std Light" pitchFamily="34" charset="0"/>
              </a:rPr>
              <a:t>IMPORTANTE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>
                <a:solidFill>
                  <a:srgbClr val="5F5F5F"/>
                </a:solidFill>
                <a:latin typeface="Gill Sans Std Light" pitchFamily="34" charset="0"/>
              </a:rPr>
              <a:t>O</a:t>
            </a:r>
            <a:r>
              <a:rPr lang="pt-BR" sz="1100" dirty="0" smtClean="0">
                <a:solidFill>
                  <a:srgbClr val="5F5F5F"/>
                </a:solidFill>
                <a:latin typeface="Gill Sans Std Light" pitchFamily="34" charset="0"/>
              </a:rPr>
              <a:t>utro(s</a:t>
            </a:r>
            <a:r>
              <a:rPr lang="pt-BR" sz="1100" dirty="0">
                <a:solidFill>
                  <a:srgbClr val="5F5F5F"/>
                </a:solidFill>
                <a:latin typeface="Gill Sans Std Light" pitchFamily="34" charset="0"/>
              </a:rPr>
              <a:t>) caso(s) que devem ser reportados como IC0:</a:t>
            </a:r>
          </a:p>
          <a:p>
            <a:pPr lvl="1"/>
            <a:r>
              <a:rPr lang="pt-BR" sz="1100" dirty="0">
                <a:solidFill>
                  <a:srgbClr val="5F5F5F"/>
                </a:solidFill>
                <a:latin typeface="Gill Sans Std Light" pitchFamily="34" charset="0"/>
              </a:rPr>
              <a:t>1 – Problemas generalizados com alcance para toda companhia.</a:t>
            </a:r>
          </a:p>
          <a:p>
            <a:pPr lvl="1"/>
            <a:r>
              <a:rPr lang="pt-BR" sz="1100" dirty="0">
                <a:solidFill>
                  <a:srgbClr val="5F5F5F"/>
                </a:solidFill>
                <a:latin typeface="Gill Sans Std Light" pitchFamily="34" charset="0"/>
              </a:rPr>
              <a:t>	Exemplo: Indisponibilidade / Lentidão Rede, e-mail</a:t>
            </a:r>
            <a:r>
              <a:rPr lang="pt-BR" sz="1100" dirty="0" smtClean="0">
                <a:solidFill>
                  <a:srgbClr val="5F5F5F"/>
                </a:solidFill>
                <a:latin typeface="Gill Sans Std Light" pitchFamily="34" charset="0"/>
              </a:rPr>
              <a:t>;</a:t>
            </a:r>
          </a:p>
          <a:p>
            <a:pPr lvl="1"/>
            <a:endParaRPr lang="pt-BR" sz="1100" dirty="0">
              <a:solidFill>
                <a:srgbClr val="5F5F5F"/>
              </a:solidFill>
              <a:latin typeface="Gill Sans Std Light" pitchFamily="34" charset="0"/>
            </a:endParaRPr>
          </a:p>
          <a:p>
            <a:pPr marL="171450" indent="-171450">
              <a:buFont typeface="Arial" pitchFamily="34" charset="0"/>
              <a:buChar char="•"/>
            </a:pPr>
            <a:r>
              <a:rPr lang="pt-BR" sz="1100" dirty="0" smtClean="0">
                <a:solidFill>
                  <a:srgbClr val="5F5F5F"/>
                </a:solidFill>
                <a:latin typeface="Gill Sans Std Light" pitchFamily="34" charset="0"/>
              </a:rPr>
              <a:t>As aplicações abaixo foram retiradas do IC0 e passam a ser IC1</a:t>
            </a:r>
          </a:p>
          <a:p>
            <a:pPr lvl="1"/>
            <a:r>
              <a:rPr lang="pt-BR" sz="1100" dirty="0" smtClean="0">
                <a:solidFill>
                  <a:srgbClr val="5F5F5F"/>
                </a:solidFill>
                <a:latin typeface="Gill Sans Std Light" pitchFamily="34" charset="0"/>
              </a:rPr>
              <a:t>Site CN e Site CNO – Dado à tela de contingência criada para captação</a:t>
            </a:r>
          </a:p>
          <a:p>
            <a:pPr lvl="1"/>
            <a:r>
              <a:rPr lang="pt-BR" sz="1100" dirty="0" smtClean="0">
                <a:solidFill>
                  <a:srgbClr val="5F5F5F"/>
                </a:solidFill>
                <a:latin typeface="Gill Sans Std Light" pitchFamily="34" charset="0"/>
              </a:rPr>
              <a:t>Cobrança Net – Dado ao fato de não impactar diretamente a captação, o sistema teria de ficar 2 dias indisponível para gerar impacto na captação</a:t>
            </a:r>
            <a:endParaRPr lang="pt-BR" sz="1100" dirty="0">
              <a:solidFill>
                <a:srgbClr val="5F5F5F"/>
              </a:solidFill>
              <a:latin typeface="Gill Sans Std Light" pitchFamily="34" charset="0"/>
            </a:endParaRPr>
          </a:p>
          <a:p>
            <a:pPr lvl="2"/>
            <a:endParaRPr lang="pt-BR" sz="1100" dirty="0" smtClean="0">
              <a:solidFill>
                <a:srgbClr val="5F5F5F"/>
              </a:solidFill>
              <a:latin typeface="Gill Sans Std Light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193919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10"/>
          <p:cNvSpPr>
            <a:spLocks noChangeArrowheads="1"/>
          </p:cNvSpPr>
          <p:nvPr/>
        </p:nvSpPr>
        <p:spPr bwMode="auto">
          <a:xfrm>
            <a:off x="3" y="2"/>
            <a:ext cx="9144000" cy="5143500"/>
          </a:xfrm>
          <a:prstGeom prst="rect">
            <a:avLst/>
          </a:prstGeom>
          <a:solidFill>
            <a:srgbClr val="4E362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51343" tIns="25675" rIns="51343" bIns="25675"/>
          <a:lstStyle/>
          <a:p>
            <a:pPr algn="ctr"/>
            <a:endParaRPr lang="pt-BR"/>
          </a:p>
        </p:txBody>
      </p:sp>
      <p:sp>
        <p:nvSpPr>
          <p:cNvPr id="31747" name="Rectangle 3"/>
          <p:cNvSpPr>
            <a:spLocks/>
          </p:cNvSpPr>
          <p:nvPr/>
        </p:nvSpPr>
        <p:spPr bwMode="auto">
          <a:xfrm>
            <a:off x="535782" y="1580557"/>
            <a:ext cx="7822406" cy="1989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 anchor="ctr"/>
          <a:lstStyle/>
          <a:p>
            <a:pPr>
              <a:lnSpc>
                <a:spcPct val="80000"/>
              </a:lnSpc>
            </a:pPr>
            <a:r>
              <a:rPr lang="en-US" sz="8200" dirty="0" smtClean="0">
                <a:solidFill>
                  <a:srgbClr val="8F993E"/>
                </a:solidFill>
                <a:latin typeface="Gill Sans Std Light" pitchFamily="34" charset="0"/>
                <a:sym typeface="Gill Sans Std Light" pitchFamily="34" charset="0"/>
              </a:rPr>
              <a:t>obrigado</a:t>
            </a:r>
            <a:endParaRPr lang="en-US" sz="8200" dirty="0">
              <a:solidFill>
                <a:srgbClr val="8F993E"/>
              </a:solidFill>
              <a:latin typeface="Gill Sans Std Light" pitchFamily="34" charset="0"/>
              <a:sym typeface="Gill Sans Std Light" pitchFamily="34" charset="0"/>
            </a:endParaRPr>
          </a:p>
        </p:txBody>
      </p:sp>
      <p:sp>
        <p:nvSpPr>
          <p:cNvPr id="31748" name="Rectangle 5"/>
          <p:cNvSpPr>
            <a:spLocks/>
          </p:cNvSpPr>
          <p:nvPr/>
        </p:nvSpPr>
        <p:spPr bwMode="auto">
          <a:xfrm>
            <a:off x="500062" y="4671352"/>
            <a:ext cx="973337" cy="73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22817" bIns="0"/>
          <a:lstStyle/>
          <a:p>
            <a:pPr marL="22283"/>
            <a:r>
              <a:rPr lang="en-US" sz="600">
                <a:solidFill>
                  <a:srgbClr val="8F993E"/>
                </a:solidFill>
                <a:latin typeface="Gill Sans Std" pitchFamily="34" charset="0"/>
                <a:sym typeface="Gill Sans Std" pitchFamily="34" charset="0"/>
              </a:rPr>
              <a:t>[ CONFIDENCIAL ]</a:t>
            </a:r>
          </a:p>
        </p:txBody>
      </p:sp>
      <p:pic>
        <p:nvPicPr>
          <p:cNvPr id="31749" name="Picture 1" descr="NAT_marca_verde_gramado.png"/>
          <p:cNvPicPr>
            <a:picLocks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26871" y="4064001"/>
            <a:ext cx="828000" cy="7565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41787321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4LwxSTTJz0W_.xCqbnGuKQ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Hu89_n4oyk2jQ0XZXRkakA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E..tTY2_JESzO8hnY2k73A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md20_uYcAU6u75Od9W8lSg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65C6dX4TZkG0pHWBAf73Bw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nUh0jwRozE2kxicXj.oQig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KLi2d3jnE0e4g5Amg6okJg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pF_41AMJj5USOJvgttnnISw"/>
</p:tagLst>
</file>

<file path=ppt/theme/theme1.xml><?xml version="1.0" encoding="utf-8"?>
<a:theme xmlns:a="http://schemas.openxmlformats.org/drawingml/2006/main" name="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1_Tema do Office">
  <a:themeElements>
    <a:clrScheme name="Hiperlink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4F71"/>
      </a:hlink>
      <a:folHlink>
        <a:srgbClr val="00AAF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lnDef>
      <a:spPr>
        <a:ln w="76200">
          <a:solidFill>
            <a:srgbClr val="D4BA2E"/>
          </a:solidFill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1200" dirty="0" smtClean="0">
            <a:solidFill>
              <a:srgbClr val="5F5F5F"/>
            </a:solidFill>
            <a:latin typeface="Gill Sans Std" pitchFamily="34" charset="0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6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19362</TotalTime>
  <Words>1358</Words>
  <Application>Microsoft Office PowerPoint</Application>
  <PresentationFormat>Apresentação na tela (16:9)</PresentationFormat>
  <Paragraphs>256</Paragraphs>
  <Slides>13</Slides>
  <Notes>12</Notes>
  <HiddenSlides>1</HiddenSlides>
  <MMClips>0</MMClips>
  <ScaleCrop>false</ScaleCrop>
  <HeadingPairs>
    <vt:vector size="6" baseType="variant">
      <vt:variant>
        <vt:lpstr>Tema</vt:lpstr>
      </vt:variant>
      <vt:variant>
        <vt:i4>3</vt:i4>
      </vt:variant>
      <vt:variant>
        <vt:lpstr>Servidores OLE incorporados</vt:lpstr>
      </vt:variant>
      <vt:variant>
        <vt:i4>1</vt:i4>
      </vt:variant>
      <vt:variant>
        <vt:lpstr>Títulos de slides</vt:lpstr>
      </vt:variant>
      <vt:variant>
        <vt:i4>13</vt:i4>
      </vt:variant>
    </vt:vector>
  </HeadingPairs>
  <TitlesOfParts>
    <vt:vector size="17" baseType="lpstr">
      <vt:lpstr>Tema do Office</vt:lpstr>
      <vt:lpstr>1_Tema do Office</vt:lpstr>
      <vt:lpstr>6_Custom Design</vt:lpstr>
      <vt:lpstr>think-cell Slide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Natura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br89699</dc:creator>
  <cp:lastModifiedBy>mvmarque</cp:lastModifiedBy>
  <cp:revision>355</cp:revision>
  <dcterms:created xsi:type="dcterms:W3CDTF">2014-06-26T12:55:32Z</dcterms:created>
  <dcterms:modified xsi:type="dcterms:W3CDTF">2015-06-10T11:17:55Z</dcterms:modified>
</cp:coreProperties>
</file>