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21" r:id="rId2"/>
    <p:sldId id="351" r:id="rId3"/>
    <p:sldId id="373" r:id="rId4"/>
    <p:sldId id="359" r:id="rId5"/>
    <p:sldId id="371" r:id="rId6"/>
    <p:sldId id="370" r:id="rId7"/>
    <p:sldId id="366" r:id="rId8"/>
    <p:sldId id="357" r:id="rId9"/>
    <p:sldId id="352" r:id="rId10"/>
    <p:sldId id="353" r:id="rId11"/>
    <p:sldId id="374" r:id="rId12"/>
    <p:sldId id="362" r:id="rId13"/>
    <p:sldId id="355" r:id="rId14"/>
    <p:sldId id="356" r:id="rId15"/>
    <p:sldId id="365" r:id="rId16"/>
    <p:sldId id="372" r:id="rId17"/>
    <p:sldId id="375" r:id="rId18"/>
    <p:sldId id="363" r:id="rId19"/>
  </p:sldIdLst>
  <p:sldSz cx="9144000" cy="5145088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312E"/>
    <a:srgbClr val="BE3A24"/>
    <a:srgbClr val="86A44A"/>
    <a:srgbClr val="7C6992"/>
    <a:srgbClr val="FFFFCC"/>
    <a:srgbClr val="6E6259"/>
    <a:srgbClr val="FFFF66"/>
    <a:srgbClr val="009999"/>
    <a:srgbClr val="FF3300"/>
    <a:srgbClr val="00AE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5" autoAdjust="0"/>
    <p:restoredTop sz="98007" autoAdjust="0"/>
  </p:normalViewPr>
  <p:slideViewPr>
    <p:cSldViewPr>
      <p:cViewPr varScale="1">
        <p:scale>
          <a:sx n="86" d="100"/>
          <a:sy n="86" d="100"/>
        </p:scale>
        <p:origin x="744" y="90"/>
      </p:cViewPr>
      <p:guideLst>
        <p:guide orient="horz" pos="162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DE6E5-E07D-4B09-8E65-F65F958CE3EF}" type="datetimeFigureOut">
              <a:rPr lang="pt-BR" smtClean="0"/>
              <a:t>11/06/2015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78FC1-7175-4FC0-9A71-4055CB28838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762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81781-342B-4DE8-B23F-A8BE0A6A0156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9370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78FC1-7175-4FC0-9A71-4055CB288384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85927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B8AA46C2-DF76-4655-9279-129C2DA078F7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3813" y="381000"/>
            <a:ext cx="6905626" cy="3886200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dirty="0" smtClean="0">
              <a:latin typeface="Arial" pitchFamily="34" charset="0"/>
              <a:ea typeface="ヒラギノ角ゴ Pro W3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3457041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8313"/>
            <a:ext cx="7772400" cy="110285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11/06/2015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013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11/06/2015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932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11/06/2015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981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11/06/2015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965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660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6" y="1151690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1631660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11/06/2015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48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11/06/2015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796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11/06/2015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556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851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851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1" y="1076658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11/06/2015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543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1561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723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6746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11/06/2015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818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11/06/2015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2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54829"/>
            <a:ext cx="2057400" cy="329309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829"/>
            <a:ext cx="6019800" cy="329309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11/06/2015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2961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060FA-F017-416B-92AB-F93AA45D987F}" type="datetimeFigureOut">
              <a:rPr lang="pt-BR" smtClean="0"/>
              <a:t>11/06/2015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929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E:\Users\BR92457\Documents\Treinamento Requisitos\Fotos\WIL_0967.jpg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14542" r="7754" b="5856"/>
          <a:stretch/>
        </p:blipFill>
        <p:spPr bwMode="auto">
          <a:xfrm flipH="1">
            <a:off x="-1" y="1"/>
            <a:ext cx="9143999" cy="514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F377-FF4E-4DB0-BA25-7D8400C0382B}" type="slidenum">
              <a:rPr lang="pt-BR" smtClean="0"/>
              <a:t>1</a:t>
            </a:fld>
            <a:endParaRPr lang="pt-BR" dirty="0"/>
          </a:p>
        </p:txBody>
      </p:sp>
      <p:grpSp>
        <p:nvGrpSpPr>
          <p:cNvPr id="6" name="Grupo 5"/>
          <p:cNvGrpSpPr/>
          <p:nvPr/>
        </p:nvGrpSpPr>
        <p:grpSpPr>
          <a:xfrm>
            <a:off x="323657" y="700336"/>
            <a:ext cx="3979068" cy="3691717"/>
            <a:chOff x="323657" y="916360"/>
            <a:chExt cx="3979068" cy="3691717"/>
          </a:xfrm>
        </p:grpSpPr>
        <p:sp>
          <p:nvSpPr>
            <p:cNvPr id="4" name="Retângulo 3"/>
            <p:cNvSpPr/>
            <p:nvPr/>
          </p:nvSpPr>
          <p:spPr>
            <a:xfrm>
              <a:off x="323657" y="916360"/>
              <a:ext cx="3979068" cy="3691717"/>
            </a:xfrm>
            <a:prstGeom prst="rect">
              <a:avLst/>
            </a:prstGeom>
            <a:solidFill>
              <a:srgbClr val="FE5000">
                <a:alpha val="6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s-ES_tradnl" dirty="0"/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483706" y="1107267"/>
              <a:ext cx="3658970" cy="1731243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/>
              <a:r>
                <a:rPr lang="pt-BR" sz="24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ExtraBold" pitchFamily="34" charset="0"/>
                </a:rPr>
                <a:t>Projeto</a:t>
              </a:r>
            </a:p>
            <a:p>
              <a:pPr algn="ctr"/>
              <a:endParaRPr lang="pt-BR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endParaRPr>
            </a:p>
            <a:p>
              <a:pPr algn="ctr"/>
              <a:r>
                <a:rPr lang="pt-BR" sz="24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Light" pitchFamily="34" charset="0"/>
                </a:rPr>
                <a:t>Melhoria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Light" pitchFamily="34" charset="0"/>
                </a:rPr>
                <a:t>Contínua dos Serviços de TD</a:t>
              </a:r>
            </a:p>
            <a:p>
              <a:pPr algn="ctr"/>
              <a:endParaRPr 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endParaRPr>
            </a:p>
          </p:txBody>
        </p:sp>
        <p:grpSp>
          <p:nvGrpSpPr>
            <p:cNvPr id="5" name="Grupo 4"/>
            <p:cNvGrpSpPr/>
            <p:nvPr/>
          </p:nvGrpSpPr>
          <p:grpSpPr>
            <a:xfrm>
              <a:off x="416100" y="2987511"/>
              <a:ext cx="3363812" cy="809169"/>
              <a:chOff x="560116" y="2843495"/>
              <a:chExt cx="3363812" cy="809169"/>
            </a:xfrm>
          </p:grpSpPr>
          <p:pic>
            <p:nvPicPr>
              <p:cNvPr id="7" name="Picture 8" descr="NAT_marca_branca_natura-01.png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4412" y="2910565"/>
                <a:ext cx="699516" cy="6368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8" name="Conector reto 7"/>
              <p:cNvCxnSpPr/>
              <p:nvPr/>
            </p:nvCxnSpPr>
            <p:spPr>
              <a:xfrm>
                <a:off x="3091882" y="2843495"/>
                <a:ext cx="0" cy="809169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CaixaDeTexto 8"/>
              <p:cNvSpPr txBox="1"/>
              <p:nvPr/>
            </p:nvSpPr>
            <p:spPr>
              <a:xfrm>
                <a:off x="560116" y="2910565"/>
                <a:ext cx="25202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BR" sz="1600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ill Sans Std" pitchFamily="34" charset="0"/>
                  </a:rPr>
                  <a:t>Gerência de Governança</a:t>
                </a:r>
              </a:p>
              <a:p>
                <a:pPr algn="r"/>
                <a:r>
                  <a:rPr lang="pt-BR" sz="1600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ill Sans Std" pitchFamily="34" charset="0"/>
                  </a:rPr>
                  <a:t>VPTD</a:t>
                </a:r>
                <a:endParaRPr lang="pt-BR" sz="1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" pitchFamily="34" charset="0"/>
                </a:endParaRPr>
              </a:p>
            </p:txBody>
          </p:sp>
        </p:grpSp>
        <p:sp>
          <p:nvSpPr>
            <p:cNvPr id="14" name="CaixaDeTexto 13"/>
            <p:cNvSpPr txBox="1"/>
            <p:nvPr/>
          </p:nvSpPr>
          <p:spPr>
            <a:xfrm>
              <a:off x="3275857" y="4228728"/>
              <a:ext cx="949240" cy="251702"/>
            </a:xfrm>
            <a:prstGeom prst="rect">
              <a:avLst/>
            </a:prstGeom>
            <a:noFill/>
          </p:spPr>
          <p:txBody>
            <a:bodyPr wrap="square" lIns="81628" tIns="40814" rIns="81628" bIns="40814" rtlCol="0">
              <a:spAutoFit/>
            </a:bodyPr>
            <a:lstStyle/>
            <a:p>
              <a:pPr algn="ctr" defTabSz="816277"/>
              <a:r>
                <a:rPr lang="pt-BR" sz="11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" pitchFamily="34" charset="0"/>
                </a:rPr>
                <a:t>Junho 2015</a:t>
              </a:r>
              <a:endParaRPr lang="pt-BR" sz="1100" b="1" i="1" dirty="0">
                <a:solidFill>
                  <a:schemeClr val="bg1"/>
                </a:solidFill>
                <a:latin typeface="Gill Sans Std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41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0" y="772344"/>
            <a:ext cx="51090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Como a Natura entende a Melhoria Contínua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grpSp>
        <p:nvGrpSpPr>
          <p:cNvPr id="33" name="Grupo 32"/>
          <p:cNvGrpSpPr/>
          <p:nvPr/>
        </p:nvGrpSpPr>
        <p:grpSpPr>
          <a:xfrm>
            <a:off x="683568" y="1216448"/>
            <a:ext cx="7631248" cy="3899550"/>
            <a:chOff x="2007320" y="1458343"/>
            <a:chExt cx="10157191" cy="5190302"/>
          </a:xfrm>
        </p:grpSpPr>
        <p:grpSp>
          <p:nvGrpSpPr>
            <p:cNvPr id="34" name="Group 3"/>
            <p:cNvGrpSpPr>
              <a:grpSpLocks/>
            </p:cNvGrpSpPr>
            <p:nvPr/>
          </p:nvGrpSpPr>
          <p:grpSpPr bwMode="auto">
            <a:xfrm>
              <a:off x="2007320" y="1458343"/>
              <a:ext cx="9303424" cy="4248472"/>
              <a:chOff x="1785916" y="1714488"/>
              <a:chExt cx="5715042" cy="3643338"/>
            </a:xfrm>
          </p:grpSpPr>
          <p:sp>
            <p:nvSpPr>
              <p:cNvPr id="39" name="Freeform 10"/>
              <p:cNvSpPr>
                <a:spLocks/>
              </p:cNvSpPr>
              <p:nvPr/>
            </p:nvSpPr>
            <p:spPr bwMode="auto">
              <a:xfrm>
                <a:off x="6072198" y="1785926"/>
                <a:ext cx="1428760" cy="2571768"/>
              </a:xfrm>
              <a:custGeom>
                <a:avLst/>
                <a:gdLst>
                  <a:gd name="T0" fmla="*/ 0 w 894"/>
                  <a:gd name="T1" fmla="*/ 0 h 1769"/>
                  <a:gd name="T2" fmla="*/ 2147483647 w 894"/>
                  <a:gd name="T3" fmla="*/ 2147483647 h 1769"/>
                  <a:gd name="T4" fmla="*/ 2147483647 w 894"/>
                  <a:gd name="T5" fmla="*/ 0 h 1769"/>
                  <a:gd name="T6" fmla="*/ 0 w 894"/>
                  <a:gd name="T7" fmla="*/ 0 h 176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94"/>
                  <a:gd name="T13" fmla="*/ 0 h 1769"/>
                  <a:gd name="T14" fmla="*/ 894 w 894"/>
                  <a:gd name="T15" fmla="*/ 1769 h 176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94" h="1769">
                    <a:moveTo>
                      <a:pt x="0" y="0"/>
                    </a:moveTo>
                    <a:cubicBezTo>
                      <a:pt x="14" y="865"/>
                      <a:pt x="866" y="633"/>
                      <a:pt x="894" y="1769"/>
                    </a:cubicBezTo>
                    <a:cubicBezTo>
                      <a:pt x="894" y="884"/>
                      <a:pt x="894" y="0"/>
                      <a:pt x="894" y="0"/>
                    </a:cubicBezTo>
                    <a:cubicBezTo>
                      <a:pt x="894" y="0"/>
                      <a:pt x="447" y="0"/>
                      <a:pt x="0" y="0"/>
                    </a:cubicBezTo>
                    <a:close/>
                  </a:path>
                </a:pathLst>
              </a:custGeom>
              <a:solidFill>
                <a:srgbClr val="9AC6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2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40" name="Freeform 9"/>
              <p:cNvSpPr>
                <a:spLocks/>
              </p:cNvSpPr>
              <p:nvPr/>
            </p:nvSpPr>
            <p:spPr bwMode="auto">
              <a:xfrm>
                <a:off x="1823045" y="1714488"/>
                <a:ext cx="1677386" cy="2739068"/>
              </a:xfrm>
              <a:custGeom>
                <a:avLst/>
                <a:gdLst>
                  <a:gd name="T0" fmla="*/ 2147483647 w 1216"/>
                  <a:gd name="T1" fmla="*/ 0 h 1861"/>
                  <a:gd name="T2" fmla="*/ 2147483647 w 1216"/>
                  <a:gd name="T3" fmla="*/ 2147483647 h 1861"/>
                  <a:gd name="T4" fmla="*/ 2147483647 w 1216"/>
                  <a:gd name="T5" fmla="*/ 2147483647 h 1861"/>
                  <a:gd name="T6" fmla="*/ 2147483647 w 1216"/>
                  <a:gd name="T7" fmla="*/ 0 h 1861"/>
                  <a:gd name="T8" fmla="*/ 2147483647 w 1216"/>
                  <a:gd name="T9" fmla="*/ 0 h 18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16"/>
                  <a:gd name="T16" fmla="*/ 0 h 1861"/>
                  <a:gd name="T17" fmla="*/ 1216 w 1216"/>
                  <a:gd name="T18" fmla="*/ 1861 h 18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16" h="1861">
                    <a:moveTo>
                      <a:pt x="2" y="0"/>
                    </a:moveTo>
                    <a:cubicBezTo>
                      <a:pt x="0" y="347"/>
                      <a:pt x="5" y="935"/>
                      <a:pt x="4" y="1861"/>
                    </a:cubicBezTo>
                    <a:cubicBezTo>
                      <a:pt x="244" y="1861"/>
                      <a:pt x="902" y="1857"/>
                      <a:pt x="1216" y="1860"/>
                    </a:cubicBezTo>
                    <a:cubicBezTo>
                      <a:pt x="1208" y="1071"/>
                      <a:pt x="480" y="1079"/>
                      <a:pt x="455" y="0"/>
                    </a:cubicBezTo>
                    <a:cubicBezTo>
                      <a:pt x="228" y="0"/>
                      <a:pt x="2" y="0"/>
                      <a:pt x="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4C373"/>
                  </a:gs>
                  <a:gs pos="100000">
                    <a:srgbClr val="B0D9A6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2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41" name="Freeform 7"/>
              <p:cNvSpPr>
                <a:spLocks/>
              </p:cNvSpPr>
              <p:nvPr/>
            </p:nvSpPr>
            <p:spPr bwMode="auto">
              <a:xfrm>
                <a:off x="2849410" y="1714488"/>
                <a:ext cx="4651548" cy="3439929"/>
              </a:xfrm>
              <a:custGeom>
                <a:avLst/>
                <a:gdLst>
                  <a:gd name="T0" fmla="*/ 0 w 2990"/>
                  <a:gd name="T1" fmla="*/ 2147483647 h 1852"/>
                  <a:gd name="T2" fmla="*/ 2147483647 w 2990"/>
                  <a:gd name="T3" fmla="*/ 2147483647 h 1852"/>
                  <a:gd name="T4" fmla="*/ 2147483647 w 2990"/>
                  <a:gd name="T5" fmla="*/ 2147483647 h 1852"/>
                  <a:gd name="T6" fmla="*/ 2147483647 w 2990"/>
                  <a:gd name="T7" fmla="*/ 2147483647 h 1852"/>
                  <a:gd name="T8" fmla="*/ 0 w 2990"/>
                  <a:gd name="T9" fmla="*/ 2147483647 h 18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90"/>
                  <a:gd name="T16" fmla="*/ 0 h 1852"/>
                  <a:gd name="T17" fmla="*/ 2990 w 2990"/>
                  <a:gd name="T18" fmla="*/ 1852 h 18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90" h="1852">
                    <a:moveTo>
                      <a:pt x="0" y="3"/>
                    </a:moveTo>
                    <a:cubicBezTo>
                      <a:pt x="36" y="1116"/>
                      <a:pt x="2894" y="1220"/>
                      <a:pt x="2973" y="1852"/>
                    </a:cubicBezTo>
                    <a:cubicBezTo>
                      <a:pt x="2969" y="1548"/>
                      <a:pt x="2977" y="1452"/>
                      <a:pt x="2977" y="1220"/>
                    </a:cubicBezTo>
                    <a:cubicBezTo>
                      <a:pt x="2990" y="468"/>
                      <a:pt x="2093" y="568"/>
                      <a:pt x="2082" y="4"/>
                    </a:cubicBezTo>
                    <a:cubicBezTo>
                      <a:pt x="1526" y="4"/>
                      <a:pt x="635" y="0"/>
                      <a:pt x="0" y="3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AD876"/>
                  </a:gs>
                  <a:gs pos="100000">
                    <a:srgbClr val="D3E6A7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2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42" name="Freeform 8"/>
              <p:cNvSpPr>
                <a:spLocks/>
              </p:cNvSpPr>
              <p:nvPr/>
            </p:nvSpPr>
            <p:spPr bwMode="auto">
              <a:xfrm>
                <a:off x="2071670" y="1714488"/>
                <a:ext cx="4685792" cy="2773538"/>
              </a:xfrm>
              <a:custGeom>
                <a:avLst/>
                <a:gdLst>
                  <a:gd name="T0" fmla="*/ 2147483647 w 3596"/>
                  <a:gd name="T1" fmla="*/ 2147483647 h 1864"/>
                  <a:gd name="T2" fmla="*/ 2147483647 w 3596"/>
                  <a:gd name="T3" fmla="*/ 2147483647 h 1864"/>
                  <a:gd name="T4" fmla="*/ 2147483647 w 3596"/>
                  <a:gd name="T5" fmla="*/ 2147483647 h 1864"/>
                  <a:gd name="T6" fmla="*/ 2147483647 w 3596"/>
                  <a:gd name="T7" fmla="*/ 2147483647 h 1864"/>
                  <a:gd name="T8" fmla="*/ 2147483647 w 3596"/>
                  <a:gd name="T9" fmla="*/ 2147483647 h 18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96"/>
                  <a:gd name="T16" fmla="*/ 0 h 1864"/>
                  <a:gd name="T17" fmla="*/ 3596 w 3596"/>
                  <a:gd name="T18" fmla="*/ 1864 h 18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96" h="1864">
                    <a:moveTo>
                      <a:pt x="236" y="3"/>
                    </a:moveTo>
                    <a:cubicBezTo>
                      <a:pt x="220" y="1003"/>
                      <a:pt x="1008" y="1163"/>
                      <a:pt x="1000" y="1864"/>
                    </a:cubicBezTo>
                    <a:cubicBezTo>
                      <a:pt x="1664" y="1864"/>
                      <a:pt x="2726" y="1860"/>
                      <a:pt x="3596" y="1863"/>
                    </a:cubicBezTo>
                    <a:cubicBezTo>
                      <a:pt x="3579" y="1237"/>
                      <a:pt x="696" y="1118"/>
                      <a:pt x="629" y="3"/>
                    </a:cubicBezTo>
                    <a:cubicBezTo>
                      <a:pt x="0" y="3"/>
                      <a:pt x="399" y="0"/>
                      <a:pt x="236" y="3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59A145"/>
                  </a:gs>
                  <a:gs pos="100000">
                    <a:srgbClr val="95C388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2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43" name="Text Box 11"/>
              <p:cNvSpPr txBox="1">
                <a:spLocks noChangeArrowheads="1"/>
              </p:cNvSpPr>
              <p:nvPr/>
            </p:nvSpPr>
            <p:spPr bwMode="auto">
              <a:xfrm>
                <a:off x="1872926" y="1842907"/>
                <a:ext cx="482584" cy="5269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10%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err="1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Rotina</a:t>
                </a:r>
                <a:endPara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44" name="Text Box 12"/>
              <p:cNvSpPr txBox="1">
                <a:spLocks noChangeArrowheads="1"/>
              </p:cNvSpPr>
              <p:nvPr/>
            </p:nvSpPr>
            <p:spPr bwMode="auto">
              <a:xfrm>
                <a:off x="2476979" y="1842907"/>
                <a:ext cx="611028" cy="7377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10%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Fire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  Fighting</a:t>
                </a:r>
              </a:p>
            </p:txBody>
          </p:sp>
          <p:sp>
            <p:nvSpPr>
              <p:cNvPr id="45" name="Text Box 13"/>
              <p:cNvSpPr txBox="1">
                <a:spLocks noChangeArrowheads="1"/>
              </p:cNvSpPr>
              <p:nvPr/>
            </p:nvSpPr>
            <p:spPr bwMode="auto">
              <a:xfrm>
                <a:off x="3359127" y="1821405"/>
                <a:ext cx="2928978" cy="7377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60%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0" noProof="0" dirty="0" err="1" smtClean="0">
                    <a:solidFill>
                      <a:srgbClr val="000000"/>
                    </a:solidFill>
                    <a:latin typeface="Gill Sans MT" panose="020B0502020104020203" pitchFamily="34" charset="0"/>
                  </a:rPr>
                  <a:t>Melhoria</a:t>
                </a:r>
                <a:r>
                  <a:rPr lang="en-US" sz="1200" kern="0" noProof="0" dirty="0" smtClean="0">
                    <a:solidFill>
                      <a:srgbClr val="000000"/>
                    </a:solidFill>
                    <a:latin typeface="Gill Sans MT" panose="020B0502020104020203" pitchFamily="34" charset="0"/>
                  </a:rPr>
                  <a:t> </a:t>
                </a:r>
                <a:r>
                  <a:rPr lang="en-US" sz="1200" kern="0" noProof="0" dirty="0" err="1" smtClean="0">
                    <a:solidFill>
                      <a:srgbClr val="000000"/>
                    </a:solidFill>
                    <a:latin typeface="Gill Sans MT" panose="020B0502020104020203" pitchFamily="34" charset="0"/>
                  </a:rPr>
                  <a:t>Contínua</a:t>
                </a:r>
                <a:endPara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(</a:t>
                </a:r>
                <a:r>
                  <a:rPr kumimoji="0" lang="en-US" sz="1200" b="0" i="0" u="none" strike="noStrike" kern="0" cap="none" spc="0" normalizeH="0" baseline="0" noProof="0" dirty="0" err="1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Empreender</a:t>
                </a: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 &amp; </a:t>
                </a:r>
                <a:r>
                  <a:rPr kumimoji="0" lang="en-US" sz="1200" b="0" i="0" u="none" strike="noStrike" kern="0" cap="none" spc="0" normalizeH="0" baseline="0" noProof="0" dirty="0" err="1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Criar</a:t>
                </a: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)</a:t>
                </a:r>
              </a:p>
            </p:txBody>
          </p:sp>
          <p:sp>
            <p:nvSpPr>
              <p:cNvPr id="46" name="Text Box 14"/>
              <p:cNvSpPr txBox="1">
                <a:spLocks noChangeArrowheads="1"/>
              </p:cNvSpPr>
              <p:nvPr/>
            </p:nvSpPr>
            <p:spPr bwMode="auto">
              <a:xfrm>
                <a:off x="6607366" y="1842907"/>
                <a:ext cx="645106" cy="5269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20%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err="1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Estratégia</a:t>
                </a:r>
                <a:endPara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47" name="AutoShape 20"/>
              <p:cNvSpPr>
                <a:spLocks noChangeArrowheads="1"/>
              </p:cNvSpPr>
              <p:nvPr/>
            </p:nvSpPr>
            <p:spPr bwMode="auto">
              <a:xfrm>
                <a:off x="2359025" y="4013200"/>
                <a:ext cx="258763" cy="130175"/>
              </a:xfrm>
              <a:prstGeom prst="triangle">
                <a:avLst>
                  <a:gd name="adj" fmla="val 50000"/>
                </a:avLst>
              </a:prstGeom>
              <a:solidFill>
                <a:srgbClr val="63B3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2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48" name="AutoShape 21"/>
              <p:cNvSpPr>
                <a:spLocks noChangeArrowheads="1"/>
              </p:cNvSpPr>
              <p:nvPr/>
            </p:nvSpPr>
            <p:spPr bwMode="auto">
              <a:xfrm>
                <a:off x="2359025" y="4143375"/>
                <a:ext cx="258763" cy="130175"/>
              </a:xfrm>
              <a:prstGeom prst="triangle">
                <a:avLst>
                  <a:gd name="adj" fmla="val 50000"/>
                </a:avLst>
              </a:prstGeom>
              <a:solidFill>
                <a:srgbClr val="63B3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2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49" name="AutoShape 22"/>
              <p:cNvSpPr>
                <a:spLocks noChangeArrowheads="1"/>
              </p:cNvSpPr>
              <p:nvPr/>
            </p:nvSpPr>
            <p:spPr bwMode="auto">
              <a:xfrm>
                <a:off x="4894263" y="4013200"/>
                <a:ext cx="260350" cy="130175"/>
              </a:xfrm>
              <a:prstGeom prst="triangle">
                <a:avLst>
                  <a:gd name="adj" fmla="val 50000"/>
                </a:avLst>
              </a:prstGeom>
              <a:solidFill>
                <a:srgbClr val="C9E5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2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50" name="AutoShape 23"/>
              <p:cNvSpPr>
                <a:spLocks noChangeArrowheads="1"/>
              </p:cNvSpPr>
              <p:nvPr/>
            </p:nvSpPr>
            <p:spPr bwMode="auto">
              <a:xfrm>
                <a:off x="4894263" y="4143375"/>
                <a:ext cx="260350" cy="130175"/>
              </a:xfrm>
              <a:prstGeom prst="triangle">
                <a:avLst>
                  <a:gd name="adj" fmla="val 50000"/>
                </a:avLst>
              </a:prstGeom>
              <a:solidFill>
                <a:srgbClr val="C9E5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2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51" name="Rectangle 4"/>
              <p:cNvSpPr>
                <a:spLocks noChangeArrowheads="1"/>
              </p:cNvSpPr>
              <p:nvPr/>
            </p:nvSpPr>
            <p:spPr bwMode="auto">
              <a:xfrm>
                <a:off x="6757462" y="4447785"/>
                <a:ext cx="743496" cy="910041"/>
              </a:xfrm>
              <a:prstGeom prst="rect">
                <a:avLst/>
              </a:prstGeom>
              <a:solidFill>
                <a:srgbClr val="B8D67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lvl="0" algn="ctr" defTabSz="914400"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ill Sans MT" panose="020B0502020104020203" pitchFamily="34" charset="0"/>
                    <a:cs typeface="Arial" charset="0"/>
                  </a:rPr>
                  <a:t>10%</a:t>
                </a:r>
                <a:b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ill Sans MT" panose="020B0502020104020203" pitchFamily="34" charset="0"/>
                    <a:cs typeface="Arial" charset="0"/>
                  </a:rPr>
                </a:br>
                <a:r>
                  <a:rPr lang="en-US" sz="1200" kern="0" dirty="0" err="1" smtClean="0">
                    <a:solidFill>
                      <a:srgbClr val="000000"/>
                    </a:solidFill>
                    <a:latin typeface="Gill Sans MT" panose="020B0502020104020203" pitchFamily="34" charset="0"/>
                    <a:cs typeface="Arial" pitchFamily="34" charset="0"/>
                  </a:rPr>
                  <a:t>Empreender</a:t>
                </a:r>
                <a:r>
                  <a:rPr lang="en-US" sz="1200" kern="0" dirty="0" smtClean="0">
                    <a:solidFill>
                      <a:srgbClr val="000000"/>
                    </a:solidFill>
                    <a:latin typeface="Gill Sans MT" panose="020B0502020104020203" pitchFamily="34" charset="0"/>
                    <a:cs typeface="Arial" pitchFamily="34" charset="0"/>
                  </a:rPr>
                  <a:t> </a:t>
                </a:r>
              </a:p>
              <a:p>
                <a:pPr lvl="0" algn="ctr" defTabSz="914400">
                  <a:defRPr/>
                </a:pPr>
                <a:r>
                  <a:rPr lang="en-US" sz="1200" kern="0" dirty="0" smtClean="0">
                    <a:solidFill>
                      <a:srgbClr val="000000"/>
                    </a:solidFill>
                    <a:latin typeface="Gill Sans MT" panose="020B0502020104020203" pitchFamily="34" charset="0"/>
                    <a:cs typeface="Arial" pitchFamily="34" charset="0"/>
                  </a:rPr>
                  <a:t>&amp; </a:t>
                </a:r>
                <a:r>
                  <a:rPr lang="en-US" sz="1200" kern="0" dirty="0" err="1" smtClean="0">
                    <a:solidFill>
                      <a:srgbClr val="000000"/>
                    </a:solidFill>
                    <a:latin typeface="Gill Sans MT" panose="020B0502020104020203" pitchFamily="34" charset="0"/>
                    <a:cs typeface="Arial" pitchFamily="34" charset="0"/>
                  </a:rPr>
                  <a:t>Criar</a:t>
                </a:r>
                <a:endPara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 MT" panose="020B0502020104020203" pitchFamily="34" charset="0"/>
                  <a:cs typeface="Arial" charset="0"/>
                </a:endParaRPr>
              </a:p>
            </p:txBody>
          </p:sp>
          <p:sp>
            <p:nvSpPr>
              <p:cNvPr id="52" name="Rectangle 5"/>
              <p:cNvSpPr>
                <a:spLocks noChangeArrowheads="1"/>
              </p:cNvSpPr>
              <p:nvPr/>
            </p:nvSpPr>
            <p:spPr bwMode="auto">
              <a:xfrm>
                <a:off x="3428993" y="4448189"/>
                <a:ext cx="3328469" cy="909637"/>
              </a:xfrm>
              <a:prstGeom prst="rect">
                <a:avLst/>
              </a:prstGeom>
              <a:solidFill>
                <a:srgbClr val="59A1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50%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Fire Fighting</a:t>
                </a:r>
              </a:p>
            </p:txBody>
          </p:sp>
          <p:sp>
            <p:nvSpPr>
              <p:cNvPr id="53" name="Rectangle 4"/>
              <p:cNvSpPr>
                <a:spLocks noChangeArrowheads="1"/>
              </p:cNvSpPr>
              <p:nvPr/>
            </p:nvSpPr>
            <p:spPr bwMode="auto">
              <a:xfrm>
                <a:off x="1825625" y="4448189"/>
                <a:ext cx="1603367" cy="909637"/>
              </a:xfrm>
              <a:prstGeom prst="rect">
                <a:avLst/>
              </a:prstGeom>
              <a:solidFill>
                <a:srgbClr val="84C37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40%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err="1" smtClean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Rotina</a:t>
                </a:r>
                <a:endParaRPr kumimoji="0" 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54" name="Rectangle 22"/>
              <p:cNvSpPr/>
              <p:nvPr/>
            </p:nvSpPr>
            <p:spPr>
              <a:xfrm>
                <a:off x="7454920" y="1785957"/>
                <a:ext cx="46038" cy="3571869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H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 panose="020B0502020104020203" pitchFamily="34" charset="0"/>
                  <a:cs typeface="Arial"/>
                </a:endParaRPr>
              </a:p>
            </p:txBody>
          </p:sp>
          <p:sp>
            <p:nvSpPr>
              <p:cNvPr id="55" name="Rectangle 23"/>
              <p:cNvSpPr/>
              <p:nvPr/>
            </p:nvSpPr>
            <p:spPr>
              <a:xfrm rot="5400000">
                <a:off x="4607702" y="-1107298"/>
                <a:ext cx="71469" cy="5715042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H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ill Sans MT" panose="020B0502020104020203" pitchFamily="34" charset="0"/>
                  <a:cs typeface="Arial"/>
                </a:endParaRPr>
              </a:p>
            </p:txBody>
          </p:sp>
        </p:grpSp>
        <p:grpSp>
          <p:nvGrpSpPr>
            <p:cNvPr id="35" name="Group 25"/>
            <p:cNvGrpSpPr>
              <a:grpSpLocks/>
            </p:cNvGrpSpPr>
            <p:nvPr/>
          </p:nvGrpSpPr>
          <p:grpSpPr bwMode="auto">
            <a:xfrm>
              <a:off x="11310436" y="1498105"/>
              <a:ext cx="854075" cy="4208709"/>
              <a:chOff x="7432675" y="1643063"/>
              <a:chExt cx="854075" cy="3501013"/>
            </a:xfrm>
          </p:grpSpPr>
          <p:sp>
            <p:nvSpPr>
              <p:cNvPr id="37" name="AutoShape 32"/>
              <p:cNvSpPr>
                <a:spLocks noChangeArrowheads="1"/>
              </p:cNvSpPr>
              <p:nvPr/>
            </p:nvSpPr>
            <p:spPr bwMode="auto">
              <a:xfrm>
                <a:off x="7432675" y="1643063"/>
                <a:ext cx="854075" cy="3501013"/>
              </a:xfrm>
              <a:prstGeom prst="upArrow">
                <a:avLst>
                  <a:gd name="adj1" fmla="val 50000"/>
                  <a:gd name="adj2" fmla="val 61905"/>
                </a:avLst>
              </a:prstGeom>
              <a:gradFill rotWithShape="1">
                <a:gsLst>
                  <a:gs pos="0">
                    <a:srgbClr val="DDEBCF"/>
                  </a:gs>
                  <a:gs pos="50000">
                    <a:srgbClr val="9CB86E"/>
                  </a:gs>
                  <a:gs pos="100000">
                    <a:srgbClr val="156B13"/>
                  </a:gs>
                </a:gsLst>
                <a:lin ang="6000000"/>
              </a:gra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H" sz="1200" b="0" i="0" u="none" strike="noStrike" kern="0" cap="none" spc="0" normalizeH="0" baseline="0" noProof="0" smtClean="0">
                  <a:ln>
                    <a:noFill/>
                  </a:ln>
                  <a:solidFill>
                    <a:srgbClr val="696261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  <p:sp>
            <p:nvSpPr>
              <p:cNvPr id="38" name="Text Box 30"/>
              <p:cNvSpPr txBox="1">
                <a:spLocks noChangeArrowheads="1"/>
              </p:cNvSpPr>
              <p:nvPr/>
            </p:nvSpPr>
            <p:spPr bwMode="auto">
              <a:xfrm rot="16200000">
                <a:off x="6168061" y="3280657"/>
                <a:ext cx="3358149" cy="3686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cs typeface="Arial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i="0" u="none" strike="noStrike" kern="0" cap="none" spc="0" normalizeH="0" baseline="0" noProof="0" dirty="0" err="1" smtClean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Gill Sans MT" panose="020B0502020104020203" pitchFamily="34" charset="0"/>
                  </a:rPr>
                  <a:t>Visão</a:t>
                </a:r>
                <a:endParaRPr kumimoji="0" lang="en-GB" sz="120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Gill Sans MT" panose="020B0502020104020203" pitchFamily="34" charset="0"/>
                </a:endParaRPr>
              </a:p>
            </p:txBody>
          </p:sp>
        </p:grpSp>
        <p:sp>
          <p:nvSpPr>
            <p:cNvPr id="36" name="Rectangle 28"/>
            <p:cNvSpPr>
              <a:spLocks noChangeArrowheads="1"/>
            </p:cNvSpPr>
            <p:nvPr/>
          </p:nvSpPr>
          <p:spPr bwMode="auto">
            <a:xfrm>
              <a:off x="2067762" y="5910458"/>
              <a:ext cx="9811023" cy="738187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Melhoria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</a:t>
              </a: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Contínua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</a:t>
              </a: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está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</a:t>
              </a: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ralacionada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à </a:t>
              </a: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Criação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de Valor e é </a:t>
              </a: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obtida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</a:t>
              </a: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através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de </a:t>
              </a: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redução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de </a:t>
              </a: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desperdício</a:t>
              </a: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e da </a:t>
              </a:r>
              <a:r>
                <a:rPr kumimoji="0" lang="en-US" sz="1400" b="0" i="0" u="none" strike="noStrike" kern="0" cap="none" spc="0" normalizeH="0" baseline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consequente</a:t>
              </a:r>
              <a:r>
                <a:rPr kumimoji="0" lang="en-US" sz="1400" b="0" i="0" u="none" strike="noStrike" kern="0" cap="none" spc="0" normalizeH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</a:t>
              </a:r>
              <a:r>
                <a:rPr kumimoji="0" lang="en-US" sz="1400" b="0" i="0" u="none" strike="noStrike" kern="0" cap="none" spc="0" normalizeH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liberaçao</a:t>
              </a:r>
              <a:r>
                <a:rPr kumimoji="0" lang="en-US" sz="1400" b="0" i="0" u="none" strike="noStrike" kern="0" cap="none" spc="0" normalizeH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de tempo para </a:t>
              </a:r>
              <a:r>
                <a:rPr kumimoji="0" lang="en-US" sz="1400" b="0" i="0" u="none" strike="noStrike" kern="0" cap="none" spc="0" normalizeH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empreender</a:t>
              </a:r>
              <a:r>
                <a:rPr kumimoji="0" lang="en-US" sz="1400" b="0" i="0" u="none" strike="noStrike" kern="0" cap="none" spc="0" normalizeH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, </a:t>
              </a:r>
              <a:r>
                <a:rPr kumimoji="0" lang="en-US" sz="1400" b="0" i="0" u="none" strike="noStrike" kern="0" cap="none" spc="0" normalizeH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inovar</a:t>
              </a:r>
              <a:r>
                <a:rPr kumimoji="0" lang="en-US" sz="1400" b="0" i="0" u="none" strike="noStrike" kern="0" cap="none" spc="0" normalizeH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 e </a:t>
              </a:r>
              <a:r>
                <a:rPr kumimoji="0" lang="en-US" sz="1400" b="0" i="0" u="none" strike="noStrike" kern="0" cap="none" spc="0" normalizeH="0" noProof="0" dirty="0" err="1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criar</a:t>
              </a:r>
              <a:r>
                <a:rPr kumimoji="0" lang="en-US" sz="1400" b="0" i="0" u="none" strike="noStrike" kern="0" cap="none" spc="0" normalizeH="0" noProof="0" dirty="0" smtClean="0">
                  <a:ln>
                    <a:noFill/>
                  </a:ln>
                  <a:solidFill>
                    <a:srgbClr val="86A44A"/>
                  </a:solidFill>
                  <a:effectLst/>
                  <a:uLnTx/>
                  <a:uFillTx/>
                  <a:latin typeface="Gill Sans MT" panose="020B0502020104020203" pitchFamily="34" charset="0"/>
                  <a:ea typeface="MS PGothic" pitchFamily="34" charset="-128"/>
                  <a:cs typeface="Arial"/>
                </a:rPr>
                <a:t>.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86A44A"/>
                </a:solidFill>
                <a:effectLst/>
                <a:uLnTx/>
                <a:uFillTx/>
                <a:latin typeface="Gill Sans MT" panose="020B0502020104020203" pitchFamily="34" charset="0"/>
                <a:ea typeface="MS PGothic" pitchFamily="34" charset="-128"/>
                <a:cs typeface="Arial"/>
              </a:endParaRPr>
            </a:p>
          </p:txBody>
        </p:sp>
      </p:grpSp>
      <p:sp>
        <p:nvSpPr>
          <p:cNvPr id="56" name="AutoShape 22"/>
          <p:cNvSpPr>
            <a:spLocks noChangeArrowheads="1"/>
          </p:cNvSpPr>
          <p:nvPr/>
        </p:nvSpPr>
        <p:spPr bwMode="auto">
          <a:xfrm>
            <a:off x="7057087" y="3230356"/>
            <a:ext cx="318422" cy="114047"/>
          </a:xfrm>
          <a:prstGeom prst="triangle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  <a:ex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7" name="AutoShape 23"/>
          <p:cNvSpPr>
            <a:spLocks noChangeArrowheads="1"/>
          </p:cNvSpPr>
          <p:nvPr/>
        </p:nvSpPr>
        <p:spPr bwMode="auto">
          <a:xfrm>
            <a:off x="7057087" y="3344403"/>
            <a:ext cx="318422" cy="114047"/>
          </a:xfrm>
          <a:prstGeom prst="triangle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  <a:ex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78586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0" y="772344"/>
            <a:ext cx="3929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Contexto – Razão para um projeto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434123" y="1204392"/>
            <a:ext cx="8280888" cy="3926330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algn="just"/>
            <a:r>
              <a:rPr lang="pt-BR" sz="1600" b="1" dirty="0"/>
              <a:t>A TD busca uma transformação</a:t>
            </a:r>
            <a:r>
              <a:rPr lang="pt-BR" sz="1600" dirty="0"/>
              <a:t>, com ganhos substanciais de </a:t>
            </a:r>
            <a:r>
              <a:rPr lang="pt-BR" sz="1600" b="1" dirty="0"/>
              <a:t>sinergia</a:t>
            </a:r>
            <a:r>
              <a:rPr lang="pt-BR" sz="1600" dirty="0"/>
              <a:t> entre suas áreas de competências.</a:t>
            </a:r>
          </a:p>
          <a:p>
            <a:pPr algn="just"/>
            <a:endParaRPr lang="pt-BR" sz="1600" dirty="0" smtClean="0"/>
          </a:p>
          <a:p>
            <a:pPr algn="just"/>
            <a:endParaRPr lang="pt-BR" sz="1600" dirty="0"/>
          </a:p>
          <a:p>
            <a:pPr algn="just"/>
            <a:endParaRPr lang="pt-BR" sz="1600" dirty="0" smtClean="0"/>
          </a:p>
          <a:p>
            <a:pPr algn="just"/>
            <a:endParaRPr lang="pt-BR" sz="1600" dirty="0"/>
          </a:p>
          <a:p>
            <a:pPr algn="just"/>
            <a:endParaRPr lang="pt-BR" sz="1600" dirty="0" smtClean="0"/>
          </a:p>
          <a:p>
            <a:pPr algn="just"/>
            <a:endParaRPr lang="pt-BR" sz="1600" dirty="0"/>
          </a:p>
          <a:p>
            <a:pPr algn="just"/>
            <a:endParaRPr lang="pt-BR" sz="1600" dirty="0" smtClean="0"/>
          </a:p>
          <a:p>
            <a:pPr algn="just"/>
            <a:endParaRPr lang="pt-BR" sz="1600" dirty="0" smtClean="0"/>
          </a:p>
          <a:p>
            <a:pPr algn="just"/>
            <a:endParaRPr lang="pt-BR" sz="1600" dirty="0"/>
          </a:p>
          <a:p>
            <a:pPr algn="just"/>
            <a:endParaRPr lang="pt-BR" sz="1600" dirty="0"/>
          </a:p>
          <a:p>
            <a:pPr algn="just"/>
            <a:r>
              <a:rPr lang="pt-BR" sz="1400" dirty="0" smtClean="0"/>
              <a:t>A </a:t>
            </a:r>
            <a:r>
              <a:rPr lang="pt-BR" sz="1400" dirty="0"/>
              <a:t>Tecnologia Digital da Natura busca desenvolver e manter </a:t>
            </a:r>
            <a:r>
              <a:rPr lang="pt-BR" sz="1400" dirty="0" smtClean="0"/>
              <a:t>práticas </a:t>
            </a:r>
            <a:r>
              <a:rPr lang="pt-BR" sz="1400" dirty="0"/>
              <a:t>de atuação baseadas em processos, que proporcionem uma evolução permanente dos resultados de Governança e Gestão de Serviços de TI e sucessivas melhorias de eficiência e eficácia de seus profissionais, de modo a </a:t>
            </a:r>
            <a:r>
              <a:rPr lang="pt-BR" sz="1400" b="1" dirty="0"/>
              <a:t>aumentar de forma gradual e sustentável a contribuição da Tecnologia Digital para a consecução dos objetivos da estratégia de negócios da Natura</a:t>
            </a:r>
            <a:r>
              <a:rPr lang="pt-BR" sz="1400" dirty="0"/>
              <a:t>. </a:t>
            </a:r>
            <a:endParaRPr lang="pt-BR" sz="1400" dirty="0" smtClean="0"/>
          </a:p>
        </p:txBody>
      </p:sp>
      <p:pic>
        <p:nvPicPr>
          <p:cNvPr id="6" name="Picture 2" descr="http://f1banter.files.wordpress.com/2010/03/a_pit_stop_for_kimi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230" y="1917908"/>
            <a:ext cx="3371170" cy="189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6"/>
          <p:cNvSpPr/>
          <p:nvPr/>
        </p:nvSpPr>
        <p:spPr>
          <a:xfrm>
            <a:off x="508348" y="2117914"/>
            <a:ext cx="4660271" cy="1494895"/>
          </a:xfrm>
          <a:prstGeom prst="rect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08837" tIns="54419" rIns="108837" bIns="54419">
            <a:spAutoFit/>
          </a:bodyPr>
          <a:lstStyle/>
          <a:p>
            <a:pPr algn="just"/>
            <a:r>
              <a:rPr lang="pt-BR" sz="2000" b="1" dirty="0" smtClean="0">
                <a:solidFill>
                  <a:srgbClr val="FF0000"/>
                </a:solidFill>
              </a:rPr>
              <a:t>Evolução </a:t>
            </a:r>
            <a:r>
              <a:rPr lang="pt-BR" sz="2000" b="1" dirty="0">
                <a:solidFill>
                  <a:srgbClr val="FF0000"/>
                </a:solidFill>
              </a:rPr>
              <a:t>– e não revolução – é a tônica da transformação pretendida</a:t>
            </a:r>
            <a:r>
              <a:rPr lang="pt-BR" sz="1600" dirty="0">
                <a:solidFill>
                  <a:srgbClr val="FF0000"/>
                </a:solidFill>
              </a:rPr>
              <a:t>. </a:t>
            </a:r>
            <a:endParaRPr lang="pt-BR" sz="1600" dirty="0" smtClean="0">
              <a:solidFill>
                <a:srgbClr val="FF0000"/>
              </a:solidFill>
            </a:endParaRPr>
          </a:p>
          <a:p>
            <a:pPr algn="just"/>
            <a:endParaRPr lang="pt-BR" sz="1600" dirty="0">
              <a:solidFill>
                <a:srgbClr val="FF0000"/>
              </a:solidFill>
              <a:latin typeface="Gill Sans Std Light" pitchFamily="34" charset="0"/>
            </a:endParaRPr>
          </a:p>
          <a:p>
            <a:pPr algn="just"/>
            <a:r>
              <a:rPr lang="pt-BR" sz="1500" b="1" dirty="0" smtClean="0">
                <a:solidFill>
                  <a:srgbClr val="FF0000"/>
                </a:solidFill>
                <a:latin typeface="Gill Sans Std Light" pitchFamily="34" charset="0"/>
              </a:rPr>
              <a:t>Não </a:t>
            </a:r>
            <a:r>
              <a:rPr lang="pt-BR" sz="1500" b="1" dirty="0" smtClean="0">
                <a:solidFill>
                  <a:srgbClr val="FF0000"/>
                </a:solidFill>
                <a:latin typeface="Gill Sans Std Light" pitchFamily="34" charset="0"/>
              </a:rPr>
              <a:t>é sobre Tecnologia. </a:t>
            </a:r>
          </a:p>
          <a:p>
            <a:pPr algn="r"/>
            <a:r>
              <a:rPr lang="pt-BR" b="1" dirty="0" smtClean="0">
                <a:solidFill>
                  <a:srgbClr val="FF0000"/>
                </a:solidFill>
                <a:latin typeface="Gill Sans Std Light" pitchFamily="34" charset="0"/>
              </a:rPr>
              <a:t>É sobre Negócios!</a:t>
            </a:r>
          </a:p>
        </p:txBody>
      </p:sp>
    </p:spTree>
    <p:extLst>
      <p:ext uri="{BB962C8B-B14F-4D97-AF65-F5344CB8AC3E}">
        <p14:creationId xmlns:p14="http://schemas.microsoft.com/office/powerpoint/2010/main" val="1799851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539552" y="930166"/>
            <a:ext cx="7776864" cy="3946634"/>
            <a:chOff x="539552" y="930166"/>
            <a:chExt cx="7776864" cy="3946634"/>
          </a:xfrm>
        </p:grpSpPr>
        <p:sp>
          <p:nvSpPr>
            <p:cNvPr id="6" name="Rectangle 2"/>
            <p:cNvSpPr>
              <a:spLocks noChangeArrowheads="1"/>
            </p:cNvSpPr>
            <p:nvPr/>
          </p:nvSpPr>
          <p:spPr bwMode="auto">
            <a:xfrm>
              <a:off x="539552" y="930166"/>
              <a:ext cx="7776864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rgbClr val="E4720A">
                  <a:gamma/>
                  <a:shade val="60000"/>
                  <a:invGamma/>
                </a:srgbClr>
              </a:prstShdw>
            </a:effectLst>
          </p:spPr>
          <p:txBody>
            <a:bodyPr wrap="square" anchor="ctr">
              <a:spAutoFit/>
            </a:bodyPr>
            <a:lstStyle/>
            <a:p>
              <a:pPr marL="0" marR="0" lvl="0" indent="0" algn="just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kern="0" dirty="0">
                  <a:solidFill>
                    <a:srgbClr val="0070C0"/>
                  </a:solidFill>
                  <a:ea typeface="Calibri" pitchFamily="34" charset="0"/>
                </a:rPr>
                <a:t>Os maiores </a:t>
              </a:r>
              <a:r>
                <a:rPr lang="pt-BR" kern="0" dirty="0" smtClean="0">
                  <a:solidFill>
                    <a:srgbClr val="0070C0"/>
                  </a:solidFill>
                  <a:ea typeface="Calibri" pitchFamily="34" charset="0"/>
                </a:rPr>
                <a:t>fatores </a:t>
              </a:r>
              <a:r>
                <a:rPr lang="pt-BR" kern="0" dirty="0">
                  <a:solidFill>
                    <a:srgbClr val="0070C0"/>
                  </a:solidFill>
                  <a:ea typeface="Calibri" pitchFamily="34" charset="0"/>
                </a:rPr>
                <a:t>inibidores (barreiras) para a adoção de modelo de processos baseados em boas </a:t>
              </a:r>
              <a:r>
                <a:rPr lang="pt-BR" kern="0" dirty="0" smtClean="0">
                  <a:solidFill>
                    <a:srgbClr val="0070C0"/>
                  </a:solidFill>
                  <a:ea typeface="Calibri" pitchFamily="34" charset="0"/>
                </a:rPr>
                <a:t>práticas:</a:t>
              </a:r>
              <a:endParaRPr lang="pt-BR" kern="0" dirty="0">
                <a:solidFill>
                  <a:srgbClr val="0070C0"/>
                </a:solidFill>
                <a:ea typeface="Calibri" pitchFamily="34" charset="0"/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552821" y="4138136"/>
              <a:ext cx="7750323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just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O </a:t>
              </a:r>
              <a:r>
                <a:rPr kumimoji="0" lang="pt-BR" sz="1400" b="0" i="0" u="none" strike="noStrike" kern="0" cap="none" spc="0" normalizeH="0" baseline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Gartner</a:t>
              </a:r>
              <a:r>
                <a:rPr kumimoji="0" lang="pt-BR" sz="1400" b="0" i="0" u="none" strike="noStrike" kern="0" cap="none" spc="0" normalizeH="0" baseline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 realizou</a:t>
              </a:r>
              <a:r>
                <a:rPr kumimoji="0" lang="pt-BR" sz="1400" b="0" i="0" u="none" strike="noStrike" kern="0" cap="none" spc="0" normalizeH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 uma pesquisa com grandes empresas de TI nas Américas e Europa e nos centros Asiáticos que suportam operações de diferentes empresas ao redor do mundo (off-</a:t>
              </a:r>
              <a:r>
                <a:rPr kumimoji="0" lang="pt-BR" sz="1400" b="0" i="0" u="none" strike="noStrike" kern="0" cap="none" spc="0" normalizeH="0" dirty="0" err="1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shore</a:t>
              </a:r>
              <a:r>
                <a:rPr kumimoji="0" lang="pt-BR" sz="1400" b="0" i="0" u="none" strike="noStrike" kern="0" cap="none" spc="0" normalizeH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)</a:t>
              </a:r>
              <a:r>
                <a:rPr kumimoji="0" lang="pt-BR" sz="1400" b="0" i="0" u="none" strike="noStrike" kern="0" cap="none" spc="0" normalizeH="0" baseline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. Podemos fazer uma análise entre a</a:t>
              </a:r>
              <a:r>
                <a:rPr kumimoji="0" lang="pt-BR" sz="1400" b="0" i="0" u="none" strike="noStrike" kern="0" cap="none" spc="0" normalizeH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rPr>
                <a:t> TD e organizações externas com relação a adoção a processos.</a:t>
              </a:r>
            </a:p>
          </p:txBody>
        </p:sp>
        <p:grpSp>
          <p:nvGrpSpPr>
            <p:cNvPr id="2" name="Grupo 1"/>
            <p:cNvGrpSpPr/>
            <p:nvPr/>
          </p:nvGrpSpPr>
          <p:grpSpPr>
            <a:xfrm>
              <a:off x="1442739" y="1857533"/>
              <a:ext cx="6729661" cy="2011155"/>
              <a:chOff x="1479996" y="1586424"/>
              <a:chExt cx="6729661" cy="2011155"/>
            </a:xfrm>
          </p:grpSpPr>
          <p:sp>
            <p:nvSpPr>
              <p:cNvPr id="8" name="Rectangle 5"/>
              <p:cNvSpPr>
                <a:spLocks noChangeArrowheads="1"/>
              </p:cNvSpPr>
              <p:nvPr/>
            </p:nvSpPr>
            <p:spPr bwMode="auto">
              <a:xfrm>
                <a:off x="4860032" y="3335641"/>
                <a:ext cx="3349625" cy="2619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prstShdw prst="shdw17" dist="17961" dir="2700000">
                  <a:srgbClr val="E4720A">
                    <a:gamma/>
                    <a:shade val="60000"/>
                    <a:invGamma/>
                  </a:srgbClr>
                </a:prstShdw>
              </a:effectLst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100" i="0" u="none" strike="noStrike" kern="0" cap="none" spc="0" normalizeH="0" baseline="0" dirty="0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ea typeface="Calibri" pitchFamily="34" charset="0"/>
                  </a:rPr>
                  <a:t>Fonte: </a:t>
                </a:r>
                <a:r>
                  <a:rPr kumimoji="0" lang="pt-BR" sz="1100" i="0" u="none" strike="noStrike" kern="0" cap="none" spc="0" normalizeH="0" baseline="0" dirty="0" err="1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ea typeface="Calibri" pitchFamily="34" charset="0"/>
                  </a:rPr>
                  <a:t>Gartner</a:t>
                </a:r>
                <a:r>
                  <a:rPr kumimoji="0" lang="pt-BR" sz="1100" i="0" u="none" strike="noStrike" kern="0" cap="none" spc="0" normalizeH="0" baseline="0" dirty="0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ea typeface="Calibri" pitchFamily="34" charset="0"/>
                  </a:rPr>
                  <a:t> </a:t>
                </a:r>
                <a:r>
                  <a:rPr kumimoji="0" lang="pt-BR" sz="1100" i="0" u="none" strike="noStrike" kern="0" cap="none" spc="0" normalizeH="0" baseline="0" dirty="0" err="1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ea typeface="Calibri" pitchFamily="34" charset="0"/>
                  </a:rPr>
                  <a:t>Research</a:t>
                </a:r>
                <a:r>
                  <a:rPr kumimoji="0" lang="pt-BR" sz="1100" i="0" u="none" strike="noStrike" kern="0" cap="none" spc="0" normalizeH="0" baseline="0" dirty="0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ea typeface="Calibri" pitchFamily="34" charset="0"/>
                  </a:rPr>
                  <a:t> (129 </a:t>
                </a:r>
                <a:r>
                  <a:rPr kumimoji="0" lang="pt-BR" sz="1100" i="0" u="none" strike="noStrike" kern="0" cap="none" spc="0" normalizeH="0" baseline="0" dirty="0" err="1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ea typeface="Calibri" pitchFamily="34" charset="0"/>
                  </a:rPr>
                  <a:t>companies</a:t>
                </a:r>
                <a:r>
                  <a:rPr kumimoji="0" lang="pt-BR" sz="1100" i="0" u="none" strike="noStrike" kern="0" cap="none" spc="0" normalizeH="0" baseline="0" dirty="0" smtClean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ea typeface="Calibri" pitchFamily="34" charset="0"/>
                  </a:rPr>
                  <a:t>)</a:t>
                </a:r>
                <a:endParaRPr kumimoji="0" lang="pt-BR" sz="1800" i="0" u="none" strike="noStrike" kern="0" cap="none" spc="0" normalizeH="0" baseline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9" name="Picture 6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79996" y="1586424"/>
                <a:ext cx="5895975" cy="1828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10" name="CaixaDeTexto 9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539552" y="929593"/>
            <a:ext cx="8514335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kern="0" dirty="0" smtClean="0">
                <a:solidFill>
                  <a:srgbClr val="0070C0"/>
                </a:solidFill>
                <a:ea typeface="Calibri" pitchFamily="34" charset="0"/>
              </a:rPr>
              <a:t>Podemos incluir </a:t>
            </a:r>
            <a:r>
              <a:rPr lang="pt-BR" kern="0" dirty="0">
                <a:solidFill>
                  <a:srgbClr val="0070C0"/>
                </a:solidFill>
                <a:ea typeface="Calibri" pitchFamily="34" charset="0"/>
              </a:rPr>
              <a:t>mais alguns fatores que consideramos </a:t>
            </a:r>
            <a:r>
              <a:rPr lang="pt-BR" kern="0" dirty="0" smtClean="0">
                <a:solidFill>
                  <a:srgbClr val="0070C0"/>
                </a:solidFill>
                <a:ea typeface="Calibri" pitchFamily="34" charset="0"/>
              </a:rPr>
              <a:t>relevantes</a:t>
            </a:r>
            <a:r>
              <a:rPr lang="pt-BR" kern="0" dirty="0">
                <a:solidFill>
                  <a:srgbClr val="0070C0"/>
                </a:solidFill>
                <a:ea typeface="Calibri" pitchFamily="34" charset="0"/>
              </a:rPr>
              <a:t>:</a:t>
            </a:r>
          </a:p>
          <a:p>
            <a:pPr marL="0" marR="0" lvl="0" indent="0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1431925" indent="-352425" algn="just" eaLnBrk="0" hangingPunct="0">
              <a:buFont typeface="Arial" panose="020B0604020202020204" pitchFamily="34" charset="0"/>
              <a:buChar char="•"/>
              <a:defRPr/>
            </a:pPr>
            <a:r>
              <a:rPr lang="pt-BR" kern="0" dirty="0" smtClean="0">
                <a:solidFill>
                  <a:srgbClr val="0070C0"/>
                </a:solidFill>
              </a:rPr>
              <a:t>Ausência de </a:t>
            </a:r>
            <a:r>
              <a:rPr lang="pt-BR" b="1" kern="0" dirty="0">
                <a:solidFill>
                  <a:srgbClr val="0070C0"/>
                </a:solidFill>
              </a:rPr>
              <a:t>propriedade </a:t>
            </a:r>
            <a:r>
              <a:rPr lang="pt-BR" b="1" kern="0" dirty="0" smtClean="0">
                <a:solidFill>
                  <a:srgbClr val="0070C0"/>
                </a:solidFill>
              </a:rPr>
              <a:t>e autoridade</a:t>
            </a:r>
            <a:r>
              <a:rPr lang="pt-BR" kern="0" dirty="0" smtClean="0">
                <a:solidFill>
                  <a:srgbClr val="0070C0"/>
                </a:solidFill>
              </a:rPr>
              <a:t> sobre </a:t>
            </a:r>
            <a:r>
              <a:rPr lang="pt-BR" kern="0" dirty="0">
                <a:solidFill>
                  <a:srgbClr val="0070C0"/>
                </a:solidFill>
              </a:rPr>
              <a:t>os </a:t>
            </a:r>
            <a:r>
              <a:rPr lang="pt-BR" kern="0" dirty="0" smtClean="0">
                <a:solidFill>
                  <a:srgbClr val="0070C0"/>
                </a:solidFill>
              </a:rPr>
              <a:t>processos.</a:t>
            </a:r>
          </a:p>
          <a:p>
            <a:pPr marL="1431925" marR="0" lvl="0" indent="-352425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b="0" i="0" u="none" strike="noStrike" kern="0" cap="none" spc="0" normalizeH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Falta de </a:t>
            </a:r>
            <a:r>
              <a:rPr kumimoji="0" lang="pt-BR" b="1" i="0" u="none" strike="noStrike" kern="0" cap="none" spc="0" normalizeH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revisão periódica</a:t>
            </a:r>
            <a:r>
              <a:rPr kumimoji="0" lang="pt-BR" b="0" i="0" u="none" strike="noStrike" kern="0" cap="none" spc="0" normalizeH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 dos processos definidos.</a:t>
            </a:r>
          </a:p>
          <a:p>
            <a:pPr marL="1431925" marR="0" lvl="0" indent="-352425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kern="0" dirty="0" smtClean="0">
                <a:solidFill>
                  <a:srgbClr val="0070C0"/>
                </a:solidFill>
              </a:rPr>
              <a:t>Dificuldade para se </a:t>
            </a:r>
            <a:r>
              <a:rPr lang="pt-BR" b="1" kern="0" dirty="0" smtClean="0">
                <a:solidFill>
                  <a:srgbClr val="0070C0"/>
                </a:solidFill>
              </a:rPr>
              <a:t>manter disciplinado</a:t>
            </a:r>
            <a:r>
              <a:rPr lang="pt-BR" kern="0" dirty="0" smtClean="0">
                <a:solidFill>
                  <a:srgbClr val="0070C0"/>
                </a:solidFill>
              </a:rPr>
              <a:t>.</a:t>
            </a:r>
          </a:p>
          <a:p>
            <a:pPr marL="1431925" indent="-352425" algn="just" eaLnBrk="0" hangingPunct="0">
              <a:buFont typeface="Arial" panose="020B0604020202020204" pitchFamily="34" charset="0"/>
              <a:buChar char="•"/>
              <a:defRPr/>
            </a:pPr>
            <a:r>
              <a:rPr lang="pt-BR" kern="0" dirty="0">
                <a:solidFill>
                  <a:srgbClr val="0070C0"/>
                </a:solidFill>
              </a:rPr>
              <a:t>Hábitos, usos e costumes e a </a:t>
            </a:r>
            <a:r>
              <a:rPr lang="pt-BR" b="1" kern="0" dirty="0">
                <a:solidFill>
                  <a:srgbClr val="0070C0"/>
                </a:solidFill>
              </a:rPr>
              <a:t>natural resistência às </a:t>
            </a:r>
            <a:r>
              <a:rPr lang="pt-BR" b="1" kern="0" dirty="0" smtClean="0">
                <a:solidFill>
                  <a:srgbClr val="0070C0"/>
                </a:solidFill>
              </a:rPr>
              <a:t>mudanças</a:t>
            </a:r>
            <a:r>
              <a:rPr lang="pt-BR" kern="0" dirty="0" smtClean="0">
                <a:solidFill>
                  <a:srgbClr val="0070C0"/>
                </a:solidFill>
              </a:rPr>
              <a:t>.</a:t>
            </a:r>
            <a:endParaRPr kumimoji="0" lang="pt-BR" b="1" i="0" u="none" strike="noStrike" kern="0" cap="none" spc="0" normalizeH="0" baseline="0" dirty="0" smtClean="0">
              <a:ln>
                <a:noFill/>
              </a:ln>
              <a:solidFill>
                <a:srgbClr val="7030A0"/>
              </a:solidFill>
              <a:effectLst/>
              <a:uLnTx/>
              <a:uFillTx/>
            </a:endParaRPr>
          </a:p>
        </p:txBody>
      </p:sp>
      <p:pic>
        <p:nvPicPr>
          <p:cNvPr id="1028" name="Picture 4" descr="http://static.portaleducacao.com.br/arquivos/imagens_artigos/07102013150646PSICOLOGI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393" y="2788568"/>
            <a:ext cx="1987196" cy="2383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4218347" y="3676471"/>
            <a:ext cx="408479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1" i="0" u="none" strike="noStrike" kern="0" cap="none" spc="0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</a:rPr>
              <a:t>E você, </a:t>
            </a:r>
            <a:r>
              <a:rPr kumimoji="0" lang="pt-BR" b="1" i="0" u="none" strike="noStrike" kern="0" cap="none" spc="0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</a:rPr>
              <a:t>como pode contribuir para superarmos estes obstáculos?</a:t>
            </a:r>
            <a:endParaRPr kumimoji="0" lang="pt-BR" b="1" i="0" u="none" strike="noStrike" kern="0" cap="none" spc="0" normalizeH="0" dirty="0" smtClean="0">
              <a:ln>
                <a:noFill/>
              </a:ln>
              <a:solidFill>
                <a:srgbClr val="7030A0"/>
              </a:solidFill>
              <a:effectLst/>
              <a:uLnTx/>
              <a:uFillTx/>
            </a:endParaRPr>
          </a:p>
          <a:p>
            <a:pPr marL="0" marR="0" lvl="0" indent="0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1" kern="0" baseline="0" dirty="0">
              <a:solidFill>
                <a:srgbClr val="7030A0"/>
              </a:solidFill>
            </a:endParaRPr>
          </a:p>
          <a:p>
            <a:pPr marL="0" marR="0" lvl="0" indent="0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1" i="0" u="none" strike="noStrike" kern="0" cap="none" spc="0" normalizeH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</a:rPr>
              <a:t>Queremos </a:t>
            </a:r>
            <a:r>
              <a:rPr kumimoji="0" lang="pt-BR" b="1" i="0" u="none" strike="noStrike" kern="0" cap="none" spc="0" normalizeH="0" dirty="0" err="1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</a:rPr>
              <a:t>ouví-lo</a:t>
            </a:r>
            <a:r>
              <a:rPr kumimoji="0" lang="pt-BR" b="1" i="0" u="none" strike="noStrike" kern="0" cap="none" spc="0" normalizeH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</a:rPr>
              <a:t>.</a:t>
            </a:r>
            <a:endParaRPr kumimoji="0" lang="pt-BR" b="1" i="0" u="none" strike="noStrike" kern="0" cap="none" spc="0" normalizeH="0" baseline="0" dirty="0" smtClean="0">
              <a:ln>
                <a:noFill/>
              </a:ln>
              <a:solidFill>
                <a:srgbClr val="7030A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54788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52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835696" y="1492424"/>
            <a:ext cx="7452320" cy="3348096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pt-BR" sz="2251" b="1" u="sng" dirty="0">
                <a:solidFill>
                  <a:srgbClr val="3333FF"/>
                </a:solidFill>
                <a:latin typeface="Calibri" pitchFamily="34" charset="0"/>
                <a:cs typeface="Calibri" pitchFamily="34" charset="0"/>
              </a:rPr>
              <a:t>Leia as cores das palavras, não as </a:t>
            </a:r>
            <a:r>
              <a:rPr lang="pt-BR" sz="2251" b="1" u="sng" dirty="0" smtClean="0">
                <a:solidFill>
                  <a:srgbClr val="3333FF"/>
                </a:solidFill>
                <a:latin typeface="Calibri" pitchFamily="34" charset="0"/>
                <a:cs typeface="Calibri" pitchFamily="34" charset="0"/>
              </a:rPr>
              <a:t>palavras</a:t>
            </a:r>
            <a:r>
              <a:rPr lang="pt-BR" sz="2251" b="1" dirty="0" smtClean="0">
                <a:solidFill>
                  <a:srgbClr val="3333FF"/>
                </a:solidFill>
                <a:latin typeface="Calibri" pitchFamily="34" charset="0"/>
                <a:cs typeface="Calibri" pitchFamily="34" charset="0"/>
              </a:rPr>
              <a:t>!</a:t>
            </a:r>
            <a:endParaRPr lang="pt-BR" sz="2251" b="1" dirty="0">
              <a:solidFill>
                <a:srgbClr val="3333FF"/>
              </a:solidFill>
              <a:latin typeface="Calibri" pitchFamily="34" charset="0"/>
              <a:cs typeface="Calibri" pitchFamily="34" charset="0"/>
            </a:endParaRPr>
          </a:p>
          <a:p>
            <a:pPr algn="ctr" eaLnBrk="0" hangingPunct="0">
              <a:spcBef>
                <a:spcPct val="20000"/>
              </a:spcBef>
              <a:defRPr/>
            </a:pPr>
            <a:endParaRPr lang="pt-BR" sz="2251" b="1" i="1" dirty="0">
              <a:solidFill>
                <a:srgbClr val="0000CC"/>
              </a:solidFill>
              <a:latin typeface="Calibri" pitchFamily="34" charset="0"/>
              <a:cs typeface="Calibri" pitchFamily="34" charset="0"/>
            </a:endParaRPr>
          </a:p>
          <a:p>
            <a:pPr algn="ctr" eaLnBrk="0" hangingPunct="0">
              <a:spcBef>
                <a:spcPct val="20000"/>
              </a:spcBef>
              <a:defRPr/>
            </a:pPr>
            <a:r>
              <a:rPr lang="pt-BR" sz="2251" b="1" i="1" dirty="0">
                <a:solidFill>
                  <a:srgbClr val="0000CC"/>
                </a:solidFill>
                <a:latin typeface="Calibri" pitchFamily="34" charset="0"/>
                <a:cs typeface="Calibri" pitchFamily="34" charset="0"/>
              </a:rPr>
              <a:t>vermelho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azul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preto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cs typeface="Calibri" pitchFamily="34" charset="0"/>
              </a:rPr>
              <a:t>amarelo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 </a:t>
            </a:r>
            <a:r>
              <a:rPr lang="pt-BR" sz="2251" b="1" i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preto</a:t>
            </a:r>
          </a:p>
          <a:p>
            <a:pPr algn="ctr" eaLnBrk="0" hangingPunct="0">
              <a:spcBef>
                <a:spcPct val="20000"/>
              </a:spcBef>
              <a:defRPr/>
            </a:pPr>
            <a:r>
              <a:rPr lang="pt-BR" sz="2251" b="1" i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2251" b="1" i="1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vermelho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verde – </a:t>
            </a:r>
            <a:r>
              <a:rPr lang="pt-BR" sz="2251" b="1" i="1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cinza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azul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660066"/>
                </a:solidFill>
                <a:latin typeface="Calibri" pitchFamily="34" charset="0"/>
                <a:cs typeface="Calibri" pitchFamily="34" charset="0"/>
              </a:rPr>
              <a:t>amarelo</a:t>
            </a:r>
          </a:p>
          <a:p>
            <a:pPr algn="ctr" eaLnBrk="0" hangingPunct="0">
              <a:spcBef>
                <a:spcPct val="20000"/>
              </a:spcBef>
              <a:defRPr/>
            </a:pPr>
            <a:r>
              <a:rPr lang="pt-BR" sz="2251" b="1" i="1" dirty="0">
                <a:solidFill>
                  <a:srgbClr val="0000CC"/>
                </a:solidFill>
                <a:latin typeface="Calibri" pitchFamily="34" charset="0"/>
                <a:cs typeface="Calibri" pitchFamily="34" charset="0"/>
              </a:rPr>
              <a:t>laranja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roxo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roxo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branco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663300"/>
                </a:solidFill>
                <a:latin typeface="Calibri" pitchFamily="34" charset="0"/>
                <a:cs typeface="Calibri" pitchFamily="34" charset="0"/>
              </a:rPr>
              <a:t>vermelho</a:t>
            </a:r>
          </a:p>
          <a:p>
            <a:pPr algn="ctr" eaLnBrk="0" hangingPunct="0">
              <a:spcBef>
                <a:spcPct val="20000"/>
              </a:spcBef>
              <a:defRPr/>
            </a:pPr>
            <a:r>
              <a:rPr lang="pt-BR" sz="2251" b="1" i="1" dirty="0">
                <a:solidFill>
                  <a:srgbClr val="006600"/>
                </a:solidFill>
                <a:latin typeface="Calibri" pitchFamily="34" charset="0"/>
                <a:cs typeface="Calibri" pitchFamily="34" charset="0"/>
              </a:rPr>
              <a:t>verde 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– </a:t>
            </a:r>
            <a:r>
              <a:rPr lang="pt-BR" sz="2251" b="1" i="1" dirty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preto</a:t>
            </a:r>
            <a:r>
              <a:rPr lang="pt-BR" sz="2251" b="1" i="1" dirty="0">
                <a:solidFill>
                  <a:srgbClr val="FFFF66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–</a:t>
            </a:r>
            <a:r>
              <a:rPr lang="pt-BR" sz="2251" b="1" i="1" dirty="0">
                <a:solidFill>
                  <a:srgbClr val="FFFF66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2251" b="1" i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verde</a:t>
            </a:r>
            <a:r>
              <a:rPr lang="pt-BR" sz="2251" b="1" i="1" dirty="0">
                <a:solidFill>
                  <a:srgbClr val="FFFF66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– </a:t>
            </a:r>
            <a:r>
              <a:rPr lang="pt-BR" sz="2251" b="1" i="1" dirty="0">
                <a:solidFill>
                  <a:srgbClr val="FF6600"/>
                </a:solidFill>
                <a:latin typeface="Calibri" pitchFamily="34" charset="0"/>
                <a:cs typeface="Calibri" pitchFamily="34" charset="0"/>
              </a:rPr>
              <a:t>azul</a:t>
            </a:r>
            <a:r>
              <a:rPr lang="pt-BR" sz="2251" b="1" i="1" dirty="0">
                <a:solidFill>
                  <a:srgbClr val="FFFF66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– </a:t>
            </a:r>
            <a:r>
              <a:rPr lang="pt-BR" sz="2251" b="1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itchFamily="34" charset="0"/>
                <a:cs typeface="Calibri" pitchFamily="34" charset="0"/>
              </a:rPr>
              <a:t>vermelho</a:t>
            </a:r>
          </a:p>
          <a:p>
            <a:pPr algn="ctr" eaLnBrk="0" hangingPunct="0">
              <a:spcBef>
                <a:spcPct val="20000"/>
              </a:spcBef>
              <a:defRPr/>
            </a:pPr>
            <a:r>
              <a:rPr lang="pt-BR" sz="2251" b="1" i="1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azul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amarelo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branco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vermelho</a:t>
            </a:r>
            <a:r>
              <a:rPr lang="pt-BR" sz="2251" b="1" i="1" dirty="0">
                <a:latin typeface="Calibri" pitchFamily="34" charset="0"/>
                <a:cs typeface="Calibri" pitchFamily="34" charset="0"/>
              </a:rPr>
              <a:t> – </a:t>
            </a:r>
            <a:r>
              <a:rPr lang="pt-BR" sz="2251" b="1" i="1" dirty="0">
                <a:solidFill>
                  <a:srgbClr val="0000CC"/>
                </a:solidFill>
                <a:latin typeface="Calibri" pitchFamily="34" charset="0"/>
                <a:cs typeface="Calibri" pitchFamily="34" charset="0"/>
              </a:rPr>
              <a:t>cinza</a:t>
            </a:r>
            <a:endParaRPr lang="pt-BR" sz="2251" b="1" i="1" dirty="0">
              <a:solidFill>
                <a:srgbClr val="FFFF66"/>
              </a:solidFill>
              <a:latin typeface="Calibri" pitchFamily="34" charset="0"/>
              <a:cs typeface="Calibri" pitchFamily="34" charset="0"/>
            </a:endParaRPr>
          </a:p>
          <a:p>
            <a:pPr>
              <a:spcBef>
                <a:spcPct val="20000"/>
              </a:spcBef>
              <a:defRPr/>
            </a:pPr>
            <a:endParaRPr lang="pt-BR" sz="2251" b="1" i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Título 1"/>
          <p:cNvSpPr txBox="1">
            <a:spLocks/>
          </p:cNvSpPr>
          <p:nvPr/>
        </p:nvSpPr>
        <p:spPr>
          <a:xfrm>
            <a:off x="107504" y="772344"/>
            <a:ext cx="3899337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pt-BR"/>
            </a:defPPr>
            <a:lvl1pPr defTabSz="1088369">
              <a:defRPr b="1">
                <a:solidFill>
                  <a:srgbClr val="473729"/>
                </a:solidFill>
                <a:latin typeface="Gill Sans Std Light" pitchFamily="34" charset="0"/>
              </a:defRPr>
            </a:lvl1pPr>
          </a:lstStyle>
          <a:p>
            <a:r>
              <a:rPr lang="en-US" dirty="0" err="1"/>
              <a:t>Tstee</a:t>
            </a:r>
            <a:r>
              <a:rPr lang="en-US" dirty="0"/>
              <a:t>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rnisêtecsia</a:t>
            </a:r>
            <a:r>
              <a:rPr lang="en-US" dirty="0"/>
              <a:t> a </a:t>
            </a:r>
            <a:r>
              <a:rPr lang="en-US" dirty="0" err="1"/>
              <a:t>mdunaças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015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14" name="Título 1"/>
          <p:cNvSpPr txBox="1">
            <a:spLocks/>
          </p:cNvSpPr>
          <p:nvPr/>
        </p:nvSpPr>
        <p:spPr>
          <a:xfrm>
            <a:off x="179512" y="792335"/>
            <a:ext cx="1915909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pt-BR"/>
            </a:defPPr>
            <a:lvl1pPr defTabSz="1088369">
              <a:defRPr b="1">
                <a:solidFill>
                  <a:srgbClr val="473729"/>
                </a:solidFill>
                <a:latin typeface="Gill Sans Std Light" pitchFamily="34" charset="0"/>
              </a:defRPr>
            </a:lvl1pPr>
          </a:lstStyle>
          <a:p>
            <a:r>
              <a:rPr lang="en-US" dirty="0"/>
              <a:t>É </a:t>
            </a:r>
            <a:r>
              <a:rPr lang="en-US" dirty="0" err="1"/>
              <a:t>difícil</a:t>
            </a:r>
            <a:r>
              <a:rPr lang="en-US" dirty="0"/>
              <a:t> </a:t>
            </a:r>
            <a:r>
              <a:rPr lang="en-US" dirty="0" err="1"/>
              <a:t>mudar</a:t>
            </a:r>
            <a:r>
              <a:rPr lang="en-US" dirty="0"/>
              <a:t>?</a:t>
            </a:r>
            <a:endParaRPr lang="pt-BR" dirty="0"/>
          </a:p>
        </p:txBody>
      </p:sp>
      <p:grpSp>
        <p:nvGrpSpPr>
          <p:cNvPr id="3" name="Grupo 2"/>
          <p:cNvGrpSpPr/>
          <p:nvPr/>
        </p:nvGrpSpPr>
        <p:grpSpPr>
          <a:xfrm>
            <a:off x="3262962" y="646331"/>
            <a:ext cx="2584219" cy="1938974"/>
            <a:chOff x="3404198" y="872416"/>
            <a:chExt cx="2349290" cy="1762704"/>
          </a:xfrm>
        </p:grpSpPr>
        <p:pic>
          <p:nvPicPr>
            <p:cNvPr id="15" name="Espaço Reservado para Conteúdo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4198" y="872416"/>
              <a:ext cx="2148295" cy="1762704"/>
            </a:xfrm>
            <a:prstGeom prst="rect">
              <a:avLst/>
            </a:prstGeom>
          </p:spPr>
        </p:pic>
        <p:sp>
          <p:nvSpPr>
            <p:cNvPr id="16" name="CaixaDeTexto 15"/>
            <p:cNvSpPr txBox="1"/>
            <p:nvPr/>
          </p:nvSpPr>
          <p:spPr>
            <a:xfrm rot="16200000">
              <a:off x="5101423" y="1540282"/>
              <a:ext cx="996354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 smtClean="0">
                  <a:solidFill>
                    <a:srgbClr val="0070C0"/>
                  </a:solidFill>
                </a:rPr>
                <a:t>Pessoas</a:t>
              </a:r>
              <a:endParaRPr lang="pt-BR" sz="16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5846179" y="2421242"/>
            <a:ext cx="1925508" cy="1364149"/>
            <a:chOff x="6217359" y="3060811"/>
            <a:chExt cx="2819137" cy="1997251"/>
          </a:xfrm>
        </p:grpSpPr>
        <p:pic>
          <p:nvPicPr>
            <p:cNvPr id="18" name="Imagem 1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7359" y="3060811"/>
              <a:ext cx="2819137" cy="1997251"/>
            </a:xfrm>
            <a:prstGeom prst="rect">
              <a:avLst/>
            </a:prstGeom>
          </p:spPr>
        </p:pic>
        <p:sp>
          <p:nvSpPr>
            <p:cNvPr id="19" name="CaixaDeTexto 18"/>
            <p:cNvSpPr txBox="1"/>
            <p:nvPr/>
          </p:nvSpPr>
          <p:spPr>
            <a:xfrm rot="18175943">
              <a:off x="7495605" y="3604668"/>
              <a:ext cx="1479633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 smtClean="0">
                  <a:solidFill>
                    <a:schemeClr val="bg1"/>
                  </a:solidFill>
                </a:rPr>
                <a:t>Produtos</a:t>
              </a:r>
              <a:endParaRPr lang="pt-BR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upo 19"/>
          <p:cNvGrpSpPr/>
          <p:nvPr/>
        </p:nvGrpSpPr>
        <p:grpSpPr>
          <a:xfrm>
            <a:off x="3673239" y="3758915"/>
            <a:ext cx="1424335" cy="1314772"/>
            <a:chOff x="3450735" y="4636391"/>
            <a:chExt cx="2085370" cy="1924957"/>
          </a:xfrm>
        </p:grpSpPr>
        <p:pic>
          <p:nvPicPr>
            <p:cNvPr id="21" name="Imagem 2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50735" y="4636391"/>
              <a:ext cx="2085370" cy="1924957"/>
            </a:xfrm>
            <a:prstGeom prst="rect">
              <a:avLst/>
            </a:prstGeom>
          </p:spPr>
        </p:pic>
        <p:sp>
          <p:nvSpPr>
            <p:cNvPr id="22" name="CaixaDeTexto 21"/>
            <p:cNvSpPr txBox="1"/>
            <p:nvPr/>
          </p:nvSpPr>
          <p:spPr>
            <a:xfrm rot="17730074">
              <a:off x="3395158" y="5273654"/>
              <a:ext cx="1479632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 smtClean="0">
                  <a:solidFill>
                    <a:srgbClr val="7A5724"/>
                  </a:solidFill>
                </a:rPr>
                <a:t>Parceiros</a:t>
              </a:r>
              <a:endParaRPr lang="pt-BR" sz="1600" b="1" dirty="0">
                <a:solidFill>
                  <a:srgbClr val="7A5724"/>
                </a:solidFill>
              </a:endParaRPr>
            </a:p>
          </p:txBody>
        </p:sp>
      </p:grpSp>
      <p:grpSp>
        <p:nvGrpSpPr>
          <p:cNvPr id="23" name="Grupo 22"/>
          <p:cNvGrpSpPr/>
          <p:nvPr/>
        </p:nvGrpSpPr>
        <p:grpSpPr>
          <a:xfrm>
            <a:off x="1365033" y="2442008"/>
            <a:ext cx="1779918" cy="1252254"/>
            <a:chOff x="262642" y="3095899"/>
            <a:chExt cx="2605979" cy="1833425"/>
          </a:xfrm>
        </p:grpSpPr>
        <p:pic>
          <p:nvPicPr>
            <p:cNvPr id="24" name="Imagem 2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642" y="3095899"/>
              <a:ext cx="2473154" cy="1833425"/>
            </a:xfrm>
            <a:prstGeom prst="rect">
              <a:avLst/>
            </a:prstGeom>
          </p:spPr>
        </p:pic>
        <p:sp>
          <p:nvSpPr>
            <p:cNvPr id="25" name="CaixaDeTexto 24"/>
            <p:cNvSpPr txBox="1"/>
            <p:nvPr/>
          </p:nvSpPr>
          <p:spPr>
            <a:xfrm rot="19767345">
              <a:off x="1326302" y="4095171"/>
              <a:ext cx="1542319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 smtClean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Processos</a:t>
              </a:r>
              <a:endParaRPr lang="pt-BR" sz="1600" b="1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26" name="Setas cruzadas 25"/>
          <p:cNvSpPr/>
          <p:nvPr/>
        </p:nvSpPr>
        <p:spPr>
          <a:xfrm>
            <a:off x="4074663" y="2601359"/>
            <a:ext cx="915203" cy="923062"/>
          </a:xfrm>
          <a:prstGeom prst="quadArrow">
            <a:avLst/>
          </a:prstGeom>
          <a:solidFill>
            <a:srgbClr val="7030A0"/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60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2987824" y="2918565"/>
            <a:ext cx="5887168" cy="18160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pt-BR" sz="2400" i="1" dirty="0">
                <a:solidFill>
                  <a:srgbClr val="3333FF"/>
                </a:solidFill>
                <a:latin typeface="Calibri" pitchFamily="34" charset="0"/>
              </a:rPr>
              <a:t>“Fazer sempre as mesmas coisas,</a:t>
            </a:r>
            <a:br>
              <a:rPr lang="pt-BR" sz="2400" i="1" dirty="0">
                <a:solidFill>
                  <a:srgbClr val="3333FF"/>
                </a:solidFill>
                <a:latin typeface="Calibri" pitchFamily="34" charset="0"/>
              </a:rPr>
            </a:br>
            <a:r>
              <a:rPr lang="pt-BR" sz="2400" i="1" dirty="0">
                <a:solidFill>
                  <a:srgbClr val="3333FF"/>
                </a:solidFill>
                <a:latin typeface="Calibri" pitchFamily="34" charset="0"/>
              </a:rPr>
              <a:t>esperando resultados diferentes é </a:t>
            </a:r>
            <a:r>
              <a:rPr lang="pt-BR" sz="2400" i="1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insanidade</a:t>
            </a:r>
            <a:r>
              <a:rPr lang="pt-BR" sz="2400" i="1" dirty="0" smtClean="0">
                <a:solidFill>
                  <a:srgbClr val="3333FF"/>
                </a:solidFill>
                <a:latin typeface="Calibri" pitchFamily="34" charset="0"/>
              </a:rPr>
              <a:t>!”</a:t>
            </a:r>
            <a:endParaRPr lang="pt-BR" sz="2400" dirty="0">
              <a:solidFill>
                <a:srgbClr val="3333FF"/>
              </a:solidFill>
              <a:latin typeface="Calibri" pitchFamily="34" charset="0"/>
            </a:endParaRPr>
          </a:p>
          <a:p>
            <a:pPr algn="r"/>
            <a:endParaRPr lang="pt-BR" sz="2401" dirty="0">
              <a:latin typeface="Calibri" pitchFamily="34" charset="0"/>
            </a:endParaRPr>
          </a:p>
          <a:p>
            <a:pPr algn="r"/>
            <a:r>
              <a:rPr lang="pt-BR" sz="1600" i="1" dirty="0" smtClean="0">
                <a:solidFill>
                  <a:srgbClr val="3333FF"/>
                </a:solidFill>
                <a:latin typeface="Calibri" pitchFamily="34" charset="0"/>
              </a:rPr>
              <a:t>Albert </a:t>
            </a:r>
            <a:r>
              <a:rPr lang="pt-BR" sz="1600" i="1" dirty="0">
                <a:solidFill>
                  <a:srgbClr val="3333FF"/>
                </a:solidFill>
                <a:latin typeface="Calibri" pitchFamily="34" charset="0"/>
              </a:rPr>
              <a:t>Einstein</a:t>
            </a:r>
            <a:endParaRPr lang="pt-BR" sz="1600" b="1" i="1" dirty="0">
              <a:solidFill>
                <a:srgbClr val="3333FF"/>
              </a:solidFill>
              <a:latin typeface="Calibri" pitchFamily="34" charset="0"/>
            </a:endParaRP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1928764"/>
            <a:ext cx="2817443" cy="2990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ítulo 1"/>
          <p:cNvSpPr txBox="1">
            <a:spLocks/>
          </p:cNvSpPr>
          <p:nvPr/>
        </p:nvSpPr>
        <p:spPr>
          <a:xfrm>
            <a:off x="179512" y="845368"/>
            <a:ext cx="3942105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pt-BR"/>
            </a:defPPr>
            <a:lvl1pPr defTabSz="1088369">
              <a:defRPr b="1">
                <a:solidFill>
                  <a:srgbClr val="473729"/>
                </a:solidFill>
                <a:latin typeface="Gill Sans Std Light" pitchFamily="34" charset="0"/>
              </a:defRPr>
            </a:lvl1pPr>
          </a:lstStyle>
          <a:p>
            <a:r>
              <a:rPr lang="en-US" dirty="0" smtClean="0"/>
              <a:t>É </a:t>
            </a:r>
            <a:r>
              <a:rPr lang="en-US" dirty="0" err="1" smtClean="0"/>
              <a:t>possível</a:t>
            </a:r>
            <a:r>
              <a:rPr lang="en-US" dirty="0" smtClean="0"/>
              <a:t> </a:t>
            </a:r>
            <a:r>
              <a:rPr lang="en-US" dirty="0" err="1" smtClean="0"/>
              <a:t>melhorar</a:t>
            </a:r>
            <a:r>
              <a:rPr lang="en-US" dirty="0" smtClean="0"/>
              <a:t> </a:t>
            </a:r>
            <a:r>
              <a:rPr lang="en-US" dirty="0" err="1" smtClean="0"/>
              <a:t>sem</a:t>
            </a:r>
            <a:r>
              <a:rPr lang="en-US" dirty="0" smtClean="0"/>
              <a:t> </a:t>
            </a:r>
            <a:r>
              <a:rPr lang="en-US" dirty="0" err="1" smtClean="0"/>
              <a:t>mudar</a:t>
            </a:r>
            <a:r>
              <a:rPr lang="en-US" dirty="0" smtClean="0"/>
              <a:t>?</a:t>
            </a:r>
            <a:endParaRPr lang="pt-BR" dirty="0"/>
          </a:p>
        </p:txBody>
      </p:sp>
      <p:pic>
        <p:nvPicPr>
          <p:cNvPr id="6" name="Picture 2" descr="http://2.bp.blogspot.com/-lBTxgsITso4/UOgbH_IFD4I/AAAAAAAABTY/XEMvo-MD-20/s1600/SejaVoceMesm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928764"/>
            <a:ext cx="2990862" cy="299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669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6" presetClass="entr" presetSubtype="16" fill="hold" nodeType="after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aixaDeTexto 3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37" name="Retângulo 36"/>
          <p:cNvSpPr/>
          <p:nvPr/>
        </p:nvSpPr>
        <p:spPr>
          <a:xfrm>
            <a:off x="0" y="713442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Algumas hipóteses...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50" name="Retângulo de cantos arredondados 49"/>
          <p:cNvSpPr/>
          <p:nvPr/>
        </p:nvSpPr>
        <p:spPr>
          <a:xfrm>
            <a:off x="6036675" y="770797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rtika" panose="02020503030404060203" pitchFamily="18" charset="0"/>
              </a:rPr>
              <a:t>Catálogo de Ofertas e </a:t>
            </a:r>
            <a:r>
              <a:rPr lang="pt-BR" sz="16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rtika" panose="02020503030404060203" pitchFamily="18" charset="0"/>
              </a:rPr>
              <a:t>Serviços</a:t>
            </a:r>
            <a:endParaRPr kumimoji="0" lang="pt-BR" sz="1600" b="1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Kartika" panose="02020503030404060203" pitchFamily="18" charset="0"/>
            </a:endParaRPr>
          </a:p>
        </p:txBody>
      </p:sp>
      <p:sp>
        <p:nvSpPr>
          <p:cNvPr id="51" name="Retângulo de cantos arredondados 50"/>
          <p:cNvSpPr/>
          <p:nvPr/>
        </p:nvSpPr>
        <p:spPr>
          <a:xfrm>
            <a:off x="1007455" y="3939202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Eficácia </a:t>
            </a:r>
            <a:r>
              <a:rPr lang="pt-BR" sz="1600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rtika" panose="02020503030404060203" pitchFamily="18" charset="0"/>
              </a:rPr>
              <a:t>dos controles </a:t>
            </a:r>
            <a:r>
              <a:rPr kumimoji="0" lang="pt-BR" sz="1600" b="0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de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 </a:t>
            </a: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Mudanças</a:t>
            </a:r>
          </a:p>
        </p:txBody>
      </p:sp>
      <p:sp>
        <p:nvSpPr>
          <p:cNvPr id="52" name="Retângulo de cantos arredondados 51"/>
          <p:cNvSpPr/>
          <p:nvPr/>
        </p:nvSpPr>
        <p:spPr>
          <a:xfrm>
            <a:off x="6706143" y="2977842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Gestão do </a:t>
            </a: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Conhecimento</a:t>
            </a:r>
            <a:endParaRPr kumimoji="0" lang="pt-BR" sz="1600" b="1" i="1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Kartika" panose="02020503030404060203" pitchFamily="18" charset="0"/>
            </a:endParaRPr>
          </a:p>
        </p:txBody>
      </p:sp>
      <p:sp>
        <p:nvSpPr>
          <p:cNvPr id="53" name="Retângulo de cantos arredondados 52"/>
          <p:cNvSpPr/>
          <p:nvPr/>
        </p:nvSpPr>
        <p:spPr>
          <a:xfrm>
            <a:off x="5818213" y="4186323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Demandas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  e Insumos para Projetos</a:t>
            </a:r>
          </a:p>
        </p:txBody>
      </p:sp>
      <p:sp>
        <p:nvSpPr>
          <p:cNvPr id="54" name="Retângulo de cantos arredondados 53"/>
          <p:cNvSpPr/>
          <p:nvPr/>
        </p:nvSpPr>
        <p:spPr>
          <a:xfrm>
            <a:off x="386685" y="2707233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Prazos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/>
            </a:r>
            <a:b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</a:br>
            <a:r>
              <a:rPr kumimoji="0" lang="pt-BR" sz="1600" b="0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SLA; OLA; UC.</a:t>
            </a:r>
            <a:endParaRPr kumimoji="0" lang="pt-BR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Kartika" panose="02020503030404060203" pitchFamily="18" charset="0"/>
            </a:endParaRPr>
          </a:p>
        </p:txBody>
      </p:sp>
      <p:sp>
        <p:nvSpPr>
          <p:cNvPr id="55" name="Retângulo de cantos arredondados 54"/>
          <p:cNvSpPr/>
          <p:nvPr/>
        </p:nvSpPr>
        <p:spPr>
          <a:xfrm>
            <a:off x="3238954" y="4297298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Indicadores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 que suportam a Decisão</a:t>
            </a:r>
          </a:p>
        </p:txBody>
      </p:sp>
      <p:sp>
        <p:nvSpPr>
          <p:cNvPr id="56" name="Retângulo de cantos arredondados 55"/>
          <p:cNvSpPr/>
          <p:nvPr/>
        </p:nvSpPr>
        <p:spPr>
          <a:xfrm>
            <a:off x="742230" y="1418472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Tratamento de </a:t>
            </a: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Incidentes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 e Requisições</a:t>
            </a:r>
          </a:p>
        </p:txBody>
      </p:sp>
      <p:sp>
        <p:nvSpPr>
          <p:cNvPr id="57" name="Seta para a esquerda 56"/>
          <p:cNvSpPr/>
          <p:nvPr/>
        </p:nvSpPr>
        <p:spPr>
          <a:xfrm rot="1661700">
            <a:off x="2903333" y="1834400"/>
            <a:ext cx="348343" cy="298845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Kartika" panose="02020503030404060203" pitchFamily="18" charset="0"/>
            </a:endParaRPr>
          </a:p>
        </p:txBody>
      </p:sp>
      <p:sp>
        <p:nvSpPr>
          <p:cNvPr id="58" name="Seta para a esquerda 57"/>
          <p:cNvSpPr/>
          <p:nvPr/>
        </p:nvSpPr>
        <p:spPr>
          <a:xfrm rot="19181624">
            <a:off x="2940170" y="3617582"/>
            <a:ext cx="348343" cy="298845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Kartika" panose="02020503030404060203" pitchFamily="18" charset="0"/>
            </a:endParaRPr>
          </a:p>
        </p:txBody>
      </p:sp>
      <p:sp>
        <p:nvSpPr>
          <p:cNvPr id="59" name="Seta para a esquerda 58"/>
          <p:cNvSpPr/>
          <p:nvPr/>
        </p:nvSpPr>
        <p:spPr>
          <a:xfrm>
            <a:off x="2536518" y="2937866"/>
            <a:ext cx="348343" cy="298845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Kartika" panose="02020503030404060203" pitchFamily="18" charset="0"/>
            </a:endParaRPr>
          </a:p>
        </p:txBody>
      </p:sp>
      <p:sp>
        <p:nvSpPr>
          <p:cNvPr id="60" name="Seta para a direita 59"/>
          <p:cNvSpPr/>
          <p:nvPr/>
        </p:nvSpPr>
        <p:spPr>
          <a:xfrm rot="672241">
            <a:off x="6223405" y="3202437"/>
            <a:ext cx="320672" cy="298845"/>
          </a:xfrm>
          <a:prstGeom prst="rightArrow">
            <a:avLst>
              <a:gd name="adj1" fmla="val 50000"/>
              <a:gd name="adj2" fmla="val 28870"/>
            </a:avLst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Kartika" panose="02020503030404060203" pitchFamily="18" charset="0"/>
            </a:endParaRPr>
          </a:p>
        </p:txBody>
      </p:sp>
      <p:sp>
        <p:nvSpPr>
          <p:cNvPr id="61" name="Seta para a direita 60"/>
          <p:cNvSpPr/>
          <p:nvPr/>
        </p:nvSpPr>
        <p:spPr>
          <a:xfrm rot="1924002">
            <a:off x="5528896" y="3838395"/>
            <a:ext cx="320672" cy="298845"/>
          </a:xfrm>
          <a:prstGeom prst="rightArrow">
            <a:avLst>
              <a:gd name="adj1" fmla="val 50000"/>
              <a:gd name="adj2" fmla="val 28870"/>
            </a:avLst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Kartika" panose="02020503030404060203" pitchFamily="18" charset="0"/>
            </a:endParaRPr>
          </a:p>
        </p:txBody>
      </p:sp>
      <p:sp>
        <p:nvSpPr>
          <p:cNvPr id="62" name="Seta para a esquerda 61"/>
          <p:cNvSpPr/>
          <p:nvPr/>
        </p:nvSpPr>
        <p:spPr>
          <a:xfrm rot="16926708">
            <a:off x="4153999" y="3878478"/>
            <a:ext cx="348343" cy="298845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Kartika" panose="02020503030404060203" pitchFamily="18" charset="0"/>
            </a:endParaRPr>
          </a:p>
        </p:txBody>
      </p:sp>
      <p:sp>
        <p:nvSpPr>
          <p:cNvPr id="63" name="Retângulo de cantos arredondados 62"/>
          <p:cNvSpPr/>
          <p:nvPr/>
        </p:nvSpPr>
        <p:spPr>
          <a:xfrm>
            <a:off x="6937885" y="1911707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Problemas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 e </a:t>
            </a:r>
            <a:r>
              <a:rPr kumimoji="0" lang="pt-BR" sz="1600" b="0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Root Cause </a:t>
            </a:r>
            <a:r>
              <a:rPr kumimoji="0" lang="pt-BR" sz="1600" b="0" i="1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Kartika" panose="02020503030404060203" pitchFamily="18" charset="0"/>
              </a:rPr>
              <a:t>Analysis</a:t>
            </a:r>
            <a:endParaRPr kumimoji="0" lang="pt-BR" sz="1600" b="0" i="1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Kartika" panose="02020503030404060203" pitchFamily="18" charset="0"/>
            </a:endParaRPr>
          </a:p>
        </p:txBody>
      </p:sp>
      <p:sp>
        <p:nvSpPr>
          <p:cNvPr id="64" name="Seta para a direita 63"/>
          <p:cNvSpPr/>
          <p:nvPr/>
        </p:nvSpPr>
        <p:spPr>
          <a:xfrm rot="20038822">
            <a:off x="6433038" y="2258463"/>
            <a:ext cx="320672" cy="298845"/>
          </a:xfrm>
          <a:prstGeom prst="righ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cs typeface="Kartika" panose="02020503030404060203" pitchFamily="18" charset="0"/>
            </a:endParaRPr>
          </a:p>
        </p:txBody>
      </p:sp>
      <p:pic>
        <p:nvPicPr>
          <p:cNvPr id="6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844" y="1605273"/>
            <a:ext cx="2089259" cy="1924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" name="Seta para a direita 65"/>
          <p:cNvSpPr/>
          <p:nvPr/>
        </p:nvSpPr>
        <p:spPr>
          <a:xfrm rot="19496181">
            <a:off x="5604830" y="1348626"/>
            <a:ext cx="320672" cy="298845"/>
          </a:xfrm>
          <a:prstGeom prst="rightArrow">
            <a:avLst/>
          </a:prstGeom>
          <a:solidFill>
            <a:schemeClr val="accent4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7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2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7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7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5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0" y="772344"/>
            <a:ext cx="2339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Desafios do projeto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467545" y="1204392"/>
            <a:ext cx="8280888" cy="3803220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/>
              <a:t>Avaliar </a:t>
            </a:r>
            <a:r>
              <a:rPr lang="pt-BR" sz="1600" dirty="0"/>
              <a:t>a </a:t>
            </a:r>
            <a:r>
              <a:rPr lang="pt-BR" sz="1600" b="1" dirty="0"/>
              <a:t>qualidade e a conformidade</a:t>
            </a:r>
            <a:r>
              <a:rPr lang="pt-BR" sz="1600" dirty="0"/>
              <a:t> dos processos de gerenciamento de serviços de TI da TD, abrangendo toda a dinâmica do </a:t>
            </a:r>
            <a:r>
              <a:rPr lang="pt-BR" sz="1600" b="1" dirty="0"/>
              <a:t>framework </a:t>
            </a:r>
            <a:r>
              <a:rPr lang="pt-BR" sz="1600" b="1" i="1" dirty="0"/>
              <a:t>Metrô</a:t>
            </a:r>
            <a:r>
              <a:rPr lang="pt-BR" sz="1600" dirty="0"/>
              <a:t>, tanto para o Brasil quanto para as Operações Internacionais;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/>
              <a:t>Identificar </a:t>
            </a:r>
            <a:r>
              <a:rPr lang="pt-BR" sz="1600" dirty="0"/>
              <a:t>os GAP de conformidade, eventuais limitações dos processos e de suas ferramentas de automação, </a:t>
            </a:r>
            <a:r>
              <a:rPr lang="pt-BR" sz="1600" b="1" dirty="0"/>
              <a:t>priorizando todas as oportunidades de melhorias</a:t>
            </a:r>
            <a:r>
              <a:rPr lang="pt-BR" sz="1600" dirty="0"/>
              <a:t>;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/>
              <a:t>Elaborar </a:t>
            </a:r>
            <a:r>
              <a:rPr lang="pt-BR" sz="1600" dirty="0"/>
              <a:t>e executar </a:t>
            </a:r>
            <a:r>
              <a:rPr lang="pt-BR" sz="1600" b="1" dirty="0"/>
              <a:t>Planos de Ação</a:t>
            </a:r>
            <a:r>
              <a:rPr lang="pt-BR" sz="1600" dirty="0"/>
              <a:t> para suprimir os GAP e consolidar as melhorias, estabelecendo </a:t>
            </a:r>
            <a:r>
              <a:rPr lang="pt-BR" sz="1600" b="1" dirty="0"/>
              <a:t>ciclos de </a:t>
            </a:r>
            <a:r>
              <a:rPr lang="pt-BR" sz="1600" b="1" dirty="0" smtClean="0"/>
              <a:t>melhoria </a:t>
            </a:r>
            <a:r>
              <a:rPr lang="pt-BR" sz="1600" dirty="0"/>
              <a:t>orientados aos processos;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/>
              <a:t>Identificar</a:t>
            </a:r>
            <a:r>
              <a:rPr lang="pt-BR" sz="1600" dirty="0"/>
              <a:t>, analisar, compreender e eliminar </a:t>
            </a:r>
            <a:r>
              <a:rPr lang="pt-BR" sz="1600" b="1" dirty="0"/>
              <a:t>atitudes e comportamentos não condizentes</a:t>
            </a:r>
            <a:r>
              <a:rPr lang="pt-BR" sz="1600" dirty="0"/>
              <a:t> com os objetivos de gerenciamento da TD;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/>
              <a:t>Implantar </a:t>
            </a:r>
            <a:r>
              <a:rPr lang="pt-BR" sz="1600" dirty="0"/>
              <a:t>e executar práticas e controles para engajamento e responsabilização dos profissionais, estimulando a adesão às práticas de gerenciamento, a </a:t>
            </a:r>
            <a:r>
              <a:rPr lang="pt-BR" sz="1600" b="1" dirty="0"/>
              <a:t>conformidade inegociável para com os processos definidos e o comprometimento com a qualidade dos serviços da TD</a:t>
            </a:r>
            <a:r>
              <a:rPr lang="pt-BR" sz="1600" dirty="0"/>
              <a:t>;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/>
              <a:t>Monitorar</a:t>
            </a:r>
            <a:r>
              <a:rPr lang="pt-BR" sz="1600" dirty="0"/>
              <a:t>, medir e divulgar </a:t>
            </a:r>
            <a:r>
              <a:rPr lang="pt-BR" sz="1600" dirty="0" smtClean="0"/>
              <a:t>resultados, produzindo </a:t>
            </a:r>
            <a:r>
              <a:rPr lang="pt-BR" sz="1600" b="1" dirty="0" smtClean="0"/>
              <a:t>indicadores </a:t>
            </a:r>
            <a:r>
              <a:rPr lang="pt-BR" sz="1600" b="1" dirty="0"/>
              <a:t>que favoreçam uma rápida, precisa e eficaz tomada de decisão</a:t>
            </a:r>
            <a:r>
              <a:rPr lang="pt-BR" sz="1600" dirty="0"/>
              <a:t>. 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467544" y="1204392"/>
            <a:ext cx="8280888" cy="3803220"/>
          </a:xfrm>
          <a:prstGeom prst="rect">
            <a:avLst/>
          </a:prstGeom>
          <a:solidFill>
            <a:schemeClr val="bg1"/>
          </a:solidFill>
        </p:spPr>
        <p:txBody>
          <a:bodyPr wrap="square" lIns="108837" tIns="54419" rIns="108837" bIns="54419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chemeClr val="bg1"/>
                </a:solidFill>
              </a:rPr>
              <a:t>Avaliar </a:t>
            </a:r>
            <a:r>
              <a:rPr lang="pt-BR" sz="1600" dirty="0">
                <a:solidFill>
                  <a:schemeClr val="bg1"/>
                </a:solidFill>
              </a:rPr>
              <a:t>a </a:t>
            </a:r>
            <a:r>
              <a:rPr lang="pt-BR" sz="1600" b="1" dirty="0">
                <a:solidFill>
                  <a:schemeClr val="tx2"/>
                </a:solidFill>
              </a:rPr>
              <a:t>qualidade e a conformidade</a:t>
            </a:r>
            <a:r>
              <a:rPr lang="pt-BR" sz="1600" dirty="0"/>
              <a:t> </a:t>
            </a:r>
            <a:r>
              <a:rPr lang="pt-BR" sz="1600" dirty="0">
                <a:solidFill>
                  <a:schemeClr val="bg1"/>
                </a:solidFill>
              </a:rPr>
              <a:t>dos processos de gerenciamento de serviços de TI da TD, abrangendo toda a dinâmica do </a:t>
            </a:r>
            <a:r>
              <a:rPr lang="pt-BR" sz="1600" b="1" dirty="0">
                <a:solidFill>
                  <a:srgbClr val="7030A0"/>
                </a:solidFill>
              </a:rPr>
              <a:t>framework </a:t>
            </a:r>
            <a:r>
              <a:rPr lang="pt-BR" sz="1600" b="1" i="1" dirty="0">
                <a:solidFill>
                  <a:srgbClr val="7030A0"/>
                </a:solidFill>
              </a:rPr>
              <a:t>Metrô</a:t>
            </a:r>
            <a:r>
              <a:rPr lang="pt-BR" sz="1600" dirty="0">
                <a:solidFill>
                  <a:schemeClr val="bg1"/>
                </a:solidFill>
              </a:rPr>
              <a:t>,</a:t>
            </a:r>
            <a:r>
              <a:rPr lang="pt-BR" sz="1600" dirty="0"/>
              <a:t> </a:t>
            </a:r>
            <a:r>
              <a:rPr lang="pt-BR" sz="1600" dirty="0">
                <a:solidFill>
                  <a:schemeClr val="bg1"/>
                </a:solidFill>
              </a:rPr>
              <a:t>tanto para o Brasil quanto para as Operações Internacionais;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chemeClr val="bg1"/>
                </a:solidFill>
              </a:rPr>
              <a:t>Identificar </a:t>
            </a:r>
            <a:r>
              <a:rPr lang="pt-BR" sz="1600" dirty="0">
                <a:solidFill>
                  <a:schemeClr val="bg1"/>
                </a:solidFill>
              </a:rPr>
              <a:t>os GAP de conformidade, eventuais limitações dos processos e de suas ferramentas de automação, </a:t>
            </a:r>
            <a:r>
              <a:rPr lang="pt-BR" sz="1600" b="1" dirty="0">
                <a:solidFill>
                  <a:schemeClr val="bg1"/>
                </a:solidFill>
              </a:rPr>
              <a:t>priorizando todas as </a:t>
            </a:r>
            <a:r>
              <a:rPr lang="pt-BR" sz="1600" b="1" dirty="0">
                <a:solidFill>
                  <a:schemeClr val="accent3">
                    <a:lumMod val="75000"/>
                  </a:schemeClr>
                </a:solidFill>
              </a:rPr>
              <a:t>oportunidades de melhorias</a:t>
            </a:r>
            <a:r>
              <a:rPr lang="pt-BR" sz="1600" dirty="0">
                <a:solidFill>
                  <a:schemeClr val="bg1"/>
                </a:solidFill>
              </a:rPr>
              <a:t>;</a:t>
            </a:r>
            <a:r>
              <a:rPr lang="pt-BR" sz="1600" dirty="0"/>
              <a:t>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chemeClr val="bg1"/>
                </a:solidFill>
              </a:rPr>
              <a:t>Elaborar </a:t>
            </a:r>
            <a:r>
              <a:rPr lang="pt-BR" sz="1600" dirty="0">
                <a:solidFill>
                  <a:schemeClr val="bg1"/>
                </a:solidFill>
              </a:rPr>
              <a:t>e </a:t>
            </a:r>
            <a:r>
              <a:rPr lang="pt-BR" sz="1600" dirty="0" smtClean="0">
                <a:solidFill>
                  <a:schemeClr val="bg1"/>
                </a:solidFill>
              </a:rPr>
              <a:t>execut</a:t>
            </a:r>
            <a:r>
              <a:rPr lang="pt-BR" sz="1600" dirty="0">
                <a:solidFill>
                  <a:schemeClr val="bg1"/>
                </a:solidFill>
              </a:rPr>
              <a:t>a</a:t>
            </a:r>
            <a:r>
              <a:rPr lang="pt-BR" sz="1600" dirty="0" smtClean="0">
                <a:solidFill>
                  <a:schemeClr val="bg1"/>
                </a:solidFill>
              </a:rPr>
              <a:t>r </a:t>
            </a:r>
            <a:r>
              <a:rPr lang="pt-BR" sz="1600" b="1" dirty="0">
                <a:solidFill>
                  <a:srgbClr val="FF0000"/>
                </a:solidFill>
              </a:rPr>
              <a:t>Planos de Ação</a:t>
            </a:r>
            <a:r>
              <a:rPr lang="pt-BR" sz="1600" dirty="0"/>
              <a:t> </a:t>
            </a:r>
            <a:r>
              <a:rPr lang="pt-BR" sz="1600" dirty="0">
                <a:solidFill>
                  <a:schemeClr val="bg1"/>
                </a:solidFill>
              </a:rPr>
              <a:t>para suprimir os GAP e consolidar as melhorias, estabelecendo </a:t>
            </a:r>
            <a:r>
              <a:rPr lang="pt-BR" sz="1600" b="1" dirty="0">
                <a:solidFill>
                  <a:schemeClr val="accent6">
                    <a:lumMod val="75000"/>
                  </a:schemeClr>
                </a:solidFill>
              </a:rPr>
              <a:t>ciclos de </a:t>
            </a:r>
            <a:r>
              <a:rPr lang="pt-BR" sz="1600" b="1" dirty="0" smtClean="0">
                <a:solidFill>
                  <a:schemeClr val="accent6">
                    <a:lumMod val="75000"/>
                  </a:schemeClr>
                </a:solidFill>
              </a:rPr>
              <a:t>melhoria</a:t>
            </a:r>
            <a:r>
              <a:rPr lang="pt-BR" sz="1600" b="1" dirty="0" smtClean="0"/>
              <a:t> </a:t>
            </a:r>
            <a:r>
              <a:rPr lang="pt-BR" sz="1600" dirty="0">
                <a:solidFill>
                  <a:schemeClr val="bg1"/>
                </a:solidFill>
              </a:rPr>
              <a:t>orientados aos processos;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chemeClr val="bg1"/>
                </a:solidFill>
              </a:rPr>
              <a:t>Identificar</a:t>
            </a:r>
            <a:r>
              <a:rPr lang="pt-BR" sz="1600" dirty="0">
                <a:solidFill>
                  <a:schemeClr val="bg1"/>
                </a:solidFill>
              </a:rPr>
              <a:t>, analisar, compreender e eliminar</a:t>
            </a:r>
            <a:r>
              <a:rPr lang="pt-BR" sz="1600" dirty="0"/>
              <a:t> </a:t>
            </a:r>
            <a:r>
              <a:rPr lang="pt-BR" sz="1600" b="1" dirty="0">
                <a:solidFill>
                  <a:srgbClr val="0070C0"/>
                </a:solidFill>
              </a:rPr>
              <a:t>atitudes e comportamentos</a:t>
            </a:r>
            <a:r>
              <a:rPr lang="pt-BR" sz="1600" b="1" dirty="0"/>
              <a:t> </a:t>
            </a:r>
            <a:r>
              <a:rPr lang="pt-BR" sz="1600" b="1" dirty="0">
                <a:solidFill>
                  <a:schemeClr val="bg1"/>
                </a:solidFill>
              </a:rPr>
              <a:t>não condizentes</a:t>
            </a:r>
            <a:r>
              <a:rPr lang="pt-BR" sz="1600" dirty="0">
                <a:solidFill>
                  <a:schemeClr val="bg1"/>
                </a:solidFill>
              </a:rPr>
              <a:t> com os objetivos de gerenciamento da TD;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chemeClr val="bg1"/>
                </a:solidFill>
              </a:rPr>
              <a:t>Implantar </a:t>
            </a:r>
            <a:r>
              <a:rPr lang="pt-BR" sz="1600" dirty="0">
                <a:solidFill>
                  <a:schemeClr val="bg1"/>
                </a:solidFill>
              </a:rPr>
              <a:t>e executar práticas e controles para engajamento e responsabilização dos profissionais, estimulando a adesão às práticas de gerenciamento, a </a:t>
            </a:r>
            <a:r>
              <a:rPr lang="pt-BR" sz="1600" b="1" dirty="0">
                <a:solidFill>
                  <a:srgbClr val="00B050"/>
                </a:solidFill>
              </a:rPr>
              <a:t>conformidade inegociável para com os processos definidos e o comprometimento com a qualidade dos serviços da TD</a:t>
            </a:r>
            <a:r>
              <a:rPr lang="pt-BR" sz="1600" dirty="0">
                <a:solidFill>
                  <a:schemeClr val="bg1"/>
                </a:solidFill>
              </a:rPr>
              <a:t>;</a:t>
            </a:r>
            <a:r>
              <a:rPr lang="pt-BR" sz="1600" dirty="0"/>
              <a:t>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chemeClr val="bg1"/>
                </a:solidFill>
              </a:rPr>
              <a:t>Monitorar</a:t>
            </a:r>
            <a:r>
              <a:rPr lang="pt-BR" sz="1600" dirty="0">
                <a:solidFill>
                  <a:schemeClr val="bg1"/>
                </a:solidFill>
              </a:rPr>
              <a:t>, medir e divulgar </a:t>
            </a:r>
            <a:r>
              <a:rPr lang="pt-BR" sz="1600" dirty="0" smtClean="0">
                <a:solidFill>
                  <a:schemeClr val="bg1"/>
                </a:solidFill>
              </a:rPr>
              <a:t>resultados, produzindo </a:t>
            </a:r>
            <a:r>
              <a:rPr lang="pt-BR" sz="1600" b="1" dirty="0" smtClean="0">
                <a:solidFill>
                  <a:srgbClr val="C00000"/>
                </a:solidFill>
              </a:rPr>
              <a:t>indicadores </a:t>
            </a:r>
            <a:r>
              <a:rPr lang="pt-BR" sz="1600" b="1" dirty="0">
                <a:solidFill>
                  <a:srgbClr val="C00000"/>
                </a:solidFill>
              </a:rPr>
              <a:t>que favoreçam uma rápida, precisa e eficaz tomada de decisão</a:t>
            </a:r>
            <a:r>
              <a:rPr lang="pt-BR" sz="1600" dirty="0">
                <a:solidFill>
                  <a:schemeClr val="bg1"/>
                </a:solidFill>
              </a:rPr>
              <a:t>.</a:t>
            </a:r>
            <a:r>
              <a:rPr lang="pt-BR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0035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54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0" y="763052"/>
            <a:ext cx="27879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Abrangência do Projeto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503548" y="1708448"/>
            <a:ext cx="8136903" cy="3356944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algn="just"/>
            <a:r>
              <a:rPr lang="pt-BR" b="1" dirty="0" smtClean="0">
                <a:solidFill>
                  <a:srgbClr val="002060"/>
                </a:solidFill>
              </a:rPr>
              <a:t>Diagnóstico e Plano de Ação</a:t>
            </a:r>
            <a:endParaRPr lang="pt-BR" b="1" dirty="0">
              <a:solidFill>
                <a:srgbClr val="002060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/>
              <a:t>Validação de hipóteses, baseadas em </a:t>
            </a:r>
            <a:r>
              <a:rPr lang="pt-BR" sz="1600" b="1" dirty="0" smtClean="0"/>
              <a:t>entrevistas, análise de evidências e observação da operação</a:t>
            </a:r>
            <a:r>
              <a:rPr lang="pt-BR" sz="1600" dirty="0" smtClean="0"/>
              <a:t>;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b="1" dirty="0" smtClean="0"/>
              <a:t>Análise sobre todos os processos e </a:t>
            </a:r>
            <a:r>
              <a:rPr lang="pt-BR" sz="1600" b="1" dirty="0" err="1" smtClean="0"/>
              <a:t>subprocessos</a:t>
            </a:r>
            <a:r>
              <a:rPr lang="pt-BR" sz="1600" b="1" dirty="0" smtClean="0"/>
              <a:t> do Metrô</a:t>
            </a:r>
            <a:r>
              <a:rPr lang="pt-BR" sz="1600" dirty="0" smtClean="0"/>
              <a:t>, conhecidos como </a:t>
            </a:r>
            <a:r>
              <a:rPr lang="pt-BR" sz="1600" dirty="0" err="1" smtClean="0"/>
              <a:t>GTDs</a:t>
            </a:r>
            <a:r>
              <a:rPr lang="pt-BR" sz="1600" dirty="0" smtClean="0"/>
              <a:t>;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b="1" dirty="0" smtClean="0"/>
              <a:t>Análise sobre  as áreas</a:t>
            </a:r>
            <a:r>
              <a:rPr lang="pt-BR" sz="1600" dirty="0" smtClean="0"/>
              <a:t> de Governança, GRP, Diretoria de Aplicações, Diretoria de Infraestrutura e Diretoria SAP Global, Operação Internacional;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b="1" dirty="0" smtClean="0"/>
              <a:t>Análise de Riscos e GAP</a:t>
            </a:r>
            <a:r>
              <a:rPr lang="pt-BR" sz="1600" dirty="0" smtClean="0"/>
              <a:t> estruturais, processuais, ferramentais e intelectuais;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b="1" dirty="0" smtClean="0"/>
              <a:t>Elaboração </a:t>
            </a:r>
            <a:r>
              <a:rPr lang="pt-BR" sz="1600" b="1" dirty="0" smtClean="0"/>
              <a:t>de </a:t>
            </a:r>
            <a:r>
              <a:rPr lang="pt-BR" sz="1600" b="1" dirty="0" smtClean="0"/>
              <a:t>Plano de Ação</a:t>
            </a:r>
            <a:r>
              <a:rPr lang="pt-BR" sz="1600" dirty="0" smtClean="0"/>
              <a:t> </a:t>
            </a:r>
            <a:r>
              <a:rPr lang="pt-BR" sz="1600" dirty="0" smtClean="0"/>
              <a:t>(execução de </a:t>
            </a:r>
            <a:r>
              <a:rPr lang="pt-BR" sz="1600" i="1" dirty="0" err="1" smtClean="0"/>
              <a:t>quick-wins</a:t>
            </a:r>
            <a:r>
              <a:rPr lang="pt-BR" sz="1600" dirty="0" smtClean="0"/>
              <a:t> e planejamento de ações </a:t>
            </a:r>
            <a:r>
              <a:rPr lang="pt-BR" sz="1600" dirty="0" smtClean="0"/>
              <a:t>de curto e médio prazo);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/>
              <a:t>Transferência de </a:t>
            </a:r>
            <a:r>
              <a:rPr lang="pt-BR" sz="1600" b="1" dirty="0" smtClean="0"/>
              <a:t>conhecimento</a:t>
            </a:r>
            <a:r>
              <a:rPr lang="pt-BR" sz="1600" dirty="0" smtClean="0"/>
              <a:t>, em eventos, palestras e workshops;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 smtClean="0"/>
              <a:t>Implantação de conjunto de </a:t>
            </a:r>
            <a:r>
              <a:rPr lang="pt-BR" sz="1600" b="1" dirty="0" smtClean="0"/>
              <a:t>indicadores chave</a:t>
            </a:r>
            <a:r>
              <a:rPr lang="pt-BR" sz="1600" dirty="0" smtClean="0"/>
              <a:t>, para controle essencial das operações</a:t>
            </a:r>
            <a:r>
              <a:rPr lang="pt-BR" sz="1600" dirty="0" smtClean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pt-BR" sz="1600" dirty="0"/>
          </a:p>
          <a:p>
            <a:pPr algn="just"/>
            <a:r>
              <a:rPr lang="pt-BR" sz="1700" dirty="0" smtClean="0"/>
              <a:t>O principal resultado não é a avaliação, mas sim a </a:t>
            </a:r>
            <a:r>
              <a:rPr lang="pt-BR" sz="1700" b="1" dirty="0" smtClean="0"/>
              <a:t>transformação para melhoria contínua</a:t>
            </a:r>
            <a:r>
              <a:rPr lang="pt-BR" sz="1700" dirty="0" smtClean="0"/>
              <a:t>.</a:t>
            </a:r>
            <a:endParaRPr lang="pt-BR" sz="17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6051" y="693672"/>
            <a:ext cx="2299937" cy="1248161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>
                <a:alpha val="26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4425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41"/>
          <p:cNvSpPr>
            <a:spLocks noChangeShapeType="1"/>
          </p:cNvSpPr>
          <p:nvPr/>
        </p:nvSpPr>
        <p:spPr bwMode="auto">
          <a:xfrm>
            <a:off x="846262" y="2224469"/>
            <a:ext cx="7326138" cy="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" name="Line 41"/>
          <p:cNvSpPr>
            <a:spLocks noChangeShapeType="1"/>
          </p:cNvSpPr>
          <p:nvPr/>
        </p:nvSpPr>
        <p:spPr bwMode="auto">
          <a:xfrm>
            <a:off x="846261" y="3939938"/>
            <a:ext cx="7326139" cy="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" name="Line 41"/>
          <p:cNvSpPr>
            <a:spLocks noChangeShapeType="1"/>
          </p:cNvSpPr>
          <p:nvPr/>
        </p:nvSpPr>
        <p:spPr bwMode="auto">
          <a:xfrm>
            <a:off x="846262" y="3027584"/>
            <a:ext cx="7326138" cy="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gray">
          <a:xfrm>
            <a:off x="1745976" y="1773225"/>
            <a:ext cx="6419621" cy="285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0" rIns="36000" bIns="36000"/>
          <a:lstStyle/>
          <a:p>
            <a:pPr>
              <a:spcAft>
                <a:spcPct val="20000"/>
              </a:spcAft>
            </a:pPr>
            <a:r>
              <a:rPr lang="pt-BR" sz="1600" noProof="1" smtClean="0"/>
              <a:t>Relatório de </a:t>
            </a:r>
            <a:r>
              <a:rPr lang="pt-BR" sz="1600" noProof="1"/>
              <a:t>Assessment, </a:t>
            </a:r>
            <a:r>
              <a:rPr lang="pt-BR" sz="1600" noProof="1" smtClean="0"/>
              <a:t>contendo lista </a:t>
            </a:r>
            <a:r>
              <a:rPr lang="pt-BR" sz="1600" noProof="1"/>
              <a:t>de </a:t>
            </a:r>
            <a:r>
              <a:rPr lang="pt-BR" sz="1600" b="1" noProof="1"/>
              <a:t>GAPs e </a:t>
            </a:r>
            <a:r>
              <a:rPr lang="pt-BR" sz="1600" b="1" noProof="1" smtClean="0"/>
              <a:t>Riscos</a:t>
            </a:r>
            <a:endParaRPr lang="pt-BR" sz="1600" b="1" noProof="1"/>
          </a:p>
          <a:p>
            <a:pPr>
              <a:spcAft>
                <a:spcPct val="20000"/>
              </a:spcAft>
            </a:pPr>
            <a:endParaRPr lang="pt-BR" sz="1600" noProof="1"/>
          </a:p>
        </p:txBody>
      </p:sp>
      <p:grpSp>
        <p:nvGrpSpPr>
          <p:cNvPr id="11" name="Group 26"/>
          <p:cNvGrpSpPr>
            <a:grpSpLocks/>
          </p:cNvGrpSpPr>
          <p:nvPr/>
        </p:nvGrpSpPr>
        <p:grpSpPr bwMode="auto">
          <a:xfrm>
            <a:off x="1353865" y="1694369"/>
            <a:ext cx="349250" cy="349250"/>
            <a:chOff x="406400" y="3100388"/>
            <a:chExt cx="349250" cy="349250"/>
          </a:xfrm>
        </p:grpSpPr>
        <p:sp>
          <p:nvSpPr>
            <p:cNvPr id="12" name="Rectangle 26"/>
            <p:cNvSpPr>
              <a:spLocks noChangeArrowheads="1"/>
            </p:cNvSpPr>
            <p:nvPr/>
          </p:nvSpPr>
          <p:spPr bwMode="gray">
            <a:xfrm>
              <a:off x="406400" y="3100388"/>
              <a:ext cx="349250" cy="349250"/>
            </a:xfrm>
            <a:prstGeom prst="rect">
              <a:avLst/>
            </a:prstGeom>
            <a:gradFill rotWithShape="1">
              <a:gsLst>
                <a:gs pos="0">
                  <a:srgbClr val="C6C7C8"/>
                </a:gs>
                <a:gs pos="100000">
                  <a:srgbClr val="C6C7C8">
                    <a:gamma/>
                    <a:tint val="10196"/>
                    <a:invGamma/>
                  </a:srgbClr>
                </a:gs>
              </a:gsLst>
              <a:lin ang="5400000" scaled="1"/>
            </a:gradFill>
            <a:ln w="12700">
              <a:solidFill>
                <a:srgbClr val="DDDDDD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808080">
                  <a:alpha val="50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endParaRPr lang="pt-BR" sz="1400" b="1">
                <a:solidFill>
                  <a:srgbClr val="C40505"/>
                </a:solidFill>
                <a:latin typeface="Arial" charset="0"/>
              </a:endParaRPr>
            </a:p>
          </p:txBody>
        </p:sp>
        <p:sp>
          <p:nvSpPr>
            <p:cNvPr id="13" name="WordArt 28"/>
            <p:cNvSpPr>
              <a:spLocks noChangeArrowheads="1" noChangeShapeType="1" noTextEdit="1"/>
            </p:cNvSpPr>
            <p:nvPr/>
          </p:nvSpPr>
          <p:spPr bwMode="gray">
            <a:xfrm rot="2618651" flipV="1">
              <a:off x="490538" y="3108325"/>
              <a:ext cx="225425" cy="2952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pt-BR" sz="1400" kern="10">
                  <a:ln w="19050">
                    <a:solidFill>
                      <a:srgbClr val="4C7013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9DB17E"/>
                      </a:gs>
                      <a:gs pos="50000">
                        <a:srgbClr val="4C7013"/>
                      </a:gs>
                      <a:gs pos="100000">
                        <a:srgbClr val="9DB17E"/>
                      </a:gs>
                    </a:gsLst>
                    <a:lin ang="5400000" scaled="1"/>
                  </a:gradFill>
                  <a:effectLst>
                    <a:outerShdw dist="53882" dir="2700000" algn="ctr" rotWithShape="0">
                      <a:srgbClr val="808080">
                        <a:alpha val="50000"/>
                      </a:srgbClr>
                    </a:outerShdw>
                  </a:effectLst>
                  <a:latin typeface="Wingdings"/>
                </a:rPr>
                <a:t>ê</a:t>
              </a:r>
            </a:p>
          </p:txBody>
        </p:sp>
      </p:grpSp>
      <p:grpSp>
        <p:nvGrpSpPr>
          <p:cNvPr id="14" name="Group 27"/>
          <p:cNvGrpSpPr>
            <a:grpSpLocks/>
          </p:cNvGrpSpPr>
          <p:nvPr/>
        </p:nvGrpSpPr>
        <p:grpSpPr bwMode="auto">
          <a:xfrm>
            <a:off x="1331640" y="2468119"/>
            <a:ext cx="349250" cy="349250"/>
            <a:chOff x="406400" y="3100388"/>
            <a:chExt cx="349250" cy="349250"/>
          </a:xfrm>
        </p:grpSpPr>
        <p:sp>
          <p:nvSpPr>
            <p:cNvPr id="15" name="Rectangle 26"/>
            <p:cNvSpPr>
              <a:spLocks noChangeArrowheads="1"/>
            </p:cNvSpPr>
            <p:nvPr/>
          </p:nvSpPr>
          <p:spPr bwMode="gray">
            <a:xfrm>
              <a:off x="406400" y="3100388"/>
              <a:ext cx="349250" cy="349250"/>
            </a:xfrm>
            <a:prstGeom prst="rect">
              <a:avLst/>
            </a:prstGeom>
            <a:gradFill rotWithShape="1">
              <a:gsLst>
                <a:gs pos="0">
                  <a:srgbClr val="C6C7C8"/>
                </a:gs>
                <a:gs pos="100000">
                  <a:srgbClr val="C6C7C8">
                    <a:gamma/>
                    <a:tint val="10196"/>
                    <a:invGamma/>
                  </a:srgbClr>
                </a:gs>
              </a:gsLst>
              <a:lin ang="5400000" scaled="1"/>
            </a:gradFill>
            <a:ln w="12700">
              <a:solidFill>
                <a:srgbClr val="DDDDDD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808080">
                  <a:alpha val="50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endParaRPr lang="pt-BR" sz="1400" b="1">
                <a:solidFill>
                  <a:srgbClr val="C40505"/>
                </a:solidFill>
                <a:latin typeface="Arial" charset="0"/>
              </a:endParaRPr>
            </a:p>
          </p:txBody>
        </p:sp>
        <p:sp>
          <p:nvSpPr>
            <p:cNvPr id="16" name="WordArt 28"/>
            <p:cNvSpPr>
              <a:spLocks noChangeArrowheads="1" noChangeShapeType="1" noTextEdit="1"/>
            </p:cNvSpPr>
            <p:nvPr/>
          </p:nvSpPr>
          <p:spPr bwMode="gray">
            <a:xfrm rot="2618651" flipV="1">
              <a:off x="490538" y="3108325"/>
              <a:ext cx="225425" cy="2952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pt-BR" sz="1400" kern="10">
                  <a:ln w="19050">
                    <a:solidFill>
                      <a:srgbClr val="4C7013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9DB17E"/>
                      </a:gs>
                      <a:gs pos="50000">
                        <a:srgbClr val="4C7013"/>
                      </a:gs>
                      <a:gs pos="100000">
                        <a:srgbClr val="9DB17E"/>
                      </a:gs>
                    </a:gsLst>
                    <a:lin ang="5400000" scaled="1"/>
                  </a:gradFill>
                  <a:effectLst>
                    <a:outerShdw dist="53882" dir="2700000" algn="ctr" rotWithShape="0">
                      <a:srgbClr val="808080">
                        <a:alpha val="50000"/>
                      </a:srgbClr>
                    </a:outerShdw>
                  </a:effectLst>
                  <a:latin typeface="Wingdings"/>
                </a:rPr>
                <a:t>ê</a:t>
              </a:r>
            </a:p>
          </p:txBody>
        </p:sp>
      </p:grpSp>
      <p:grpSp>
        <p:nvGrpSpPr>
          <p:cNvPr id="21" name="Group 27"/>
          <p:cNvGrpSpPr>
            <a:grpSpLocks/>
          </p:cNvGrpSpPr>
          <p:nvPr/>
        </p:nvGrpSpPr>
        <p:grpSpPr bwMode="auto">
          <a:xfrm>
            <a:off x="1343565" y="3327491"/>
            <a:ext cx="349250" cy="349250"/>
            <a:chOff x="406400" y="3100388"/>
            <a:chExt cx="349250" cy="349250"/>
          </a:xfrm>
        </p:grpSpPr>
        <p:sp>
          <p:nvSpPr>
            <p:cNvPr id="22" name="Rectangle 26"/>
            <p:cNvSpPr>
              <a:spLocks noChangeArrowheads="1"/>
            </p:cNvSpPr>
            <p:nvPr/>
          </p:nvSpPr>
          <p:spPr bwMode="gray">
            <a:xfrm>
              <a:off x="406400" y="3100388"/>
              <a:ext cx="349250" cy="349250"/>
            </a:xfrm>
            <a:prstGeom prst="rect">
              <a:avLst/>
            </a:prstGeom>
            <a:gradFill rotWithShape="1">
              <a:gsLst>
                <a:gs pos="0">
                  <a:srgbClr val="C6C7C8"/>
                </a:gs>
                <a:gs pos="100000">
                  <a:srgbClr val="C6C7C8">
                    <a:gamma/>
                    <a:tint val="10196"/>
                    <a:invGamma/>
                  </a:srgbClr>
                </a:gs>
              </a:gsLst>
              <a:lin ang="5400000" scaled="1"/>
            </a:gradFill>
            <a:ln w="12700">
              <a:solidFill>
                <a:srgbClr val="DDDDDD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808080">
                  <a:alpha val="50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endParaRPr lang="pt-BR" sz="1400" b="1">
                <a:solidFill>
                  <a:srgbClr val="C40505"/>
                </a:solidFill>
                <a:latin typeface="Arial" charset="0"/>
              </a:endParaRPr>
            </a:p>
          </p:txBody>
        </p:sp>
        <p:sp>
          <p:nvSpPr>
            <p:cNvPr id="23" name="WordArt 28"/>
            <p:cNvSpPr>
              <a:spLocks noChangeArrowheads="1" noChangeShapeType="1" noTextEdit="1"/>
            </p:cNvSpPr>
            <p:nvPr/>
          </p:nvSpPr>
          <p:spPr bwMode="gray">
            <a:xfrm rot="2618651" flipV="1">
              <a:off x="490538" y="3108325"/>
              <a:ext cx="225425" cy="2952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pt-BR" sz="1400" kern="10">
                  <a:ln w="19050">
                    <a:solidFill>
                      <a:srgbClr val="4C7013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9DB17E"/>
                      </a:gs>
                      <a:gs pos="50000">
                        <a:srgbClr val="4C7013"/>
                      </a:gs>
                      <a:gs pos="100000">
                        <a:srgbClr val="9DB17E"/>
                      </a:gs>
                    </a:gsLst>
                    <a:lin ang="5400000" scaled="1"/>
                  </a:gradFill>
                  <a:effectLst>
                    <a:outerShdw dist="53882" dir="2700000" algn="ctr" rotWithShape="0">
                      <a:srgbClr val="808080">
                        <a:alpha val="50000"/>
                      </a:srgbClr>
                    </a:outerShdw>
                  </a:effectLst>
                  <a:latin typeface="Wingdings"/>
                </a:rPr>
                <a:t>ê</a:t>
              </a:r>
            </a:p>
          </p:txBody>
        </p:sp>
      </p:grpSp>
      <p:sp>
        <p:nvSpPr>
          <p:cNvPr id="28" name="Rectangle 14"/>
          <p:cNvSpPr>
            <a:spLocks noChangeArrowheads="1"/>
          </p:cNvSpPr>
          <p:nvPr/>
        </p:nvSpPr>
        <p:spPr bwMode="gray">
          <a:xfrm>
            <a:off x="1712210" y="2397779"/>
            <a:ext cx="6930479" cy="243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0" rIns="36000" bIns="36000"/>
          <a:lstStyle/>
          <a:p>
            <a:pPr>
              <a:spcAft>
                <a:spcPct val="20000"/>
              </a:spcAft>
            </a:pPr>
            <a:r>
              <a:rPr lang="pt-BR" sz="1600" noProof="1" smtClean="0"/>
              <a:t>Recomendações </a:t>
            </a:r>
            <a:r>
              <a:rPr lang="pt-BR" sz="1600" noProof="1"/>
              <a:t>para os </a:t>
            </a:r>
            <a:r>
              <a:rPr lang="pt-BR" sz="1600" noProof="1" smtClean="0"/>
              <a:t>GAPs e Riscos, estabelecendo</a:t>
            </a:r>
            <a:br>
              <a:rPr lang="pt-BR" sz="1600" noProof="1" smtClean="0"/>
            </a:br>
            <a:r>
              <a:rPr lang="pt-BR" sz="1600" noProof="1" smtClean="0"/>
              <a:t>Prioridade + Prazos + Benefícios + </a:t>
            </a:r>
            <a:r>
              <a:rPr lang="pt-BR" sz="1600" b="1" noProof="1" smtClean="0"/>
              <a:t>Plano de Ação</a:t>
            </a:r>
            <a:endParaRPr lang="pt-BR" sz="1600" b="1" noProof="1"/>
          </a:p>
        </p:txBody>
      </p:sp>
      <p:grpSp>
        <p:nvGrpSpPr>
          <p:cNvPr id="29" name="Group 26"/>
          <p:cNvGrpSpPr>
            <a:grpSpLocks/>
          </p:cNvGrpSpPr>
          <p:nvPr/>
        </p:nvGrpSpPr>
        <p:grpSpPr bwMode="auto">
          <a:xfrm>
            <a:off x="1370874" y="4155962"/>
            <a:ext cx="349250" cy="349250"/>
            <a:chOff x="406400" y="3100388"/>
            <a:chExt cx="349250" cy="349250"/>
          </a:xfrm>
        </p:grpSpPr>
        <p:sp>
          <p:nvSpPr>
            <p:cNvPr id="30" name="Rectangle 26"/>
            <p:cNvSpPr>
              <a:spLocks noChangeArrowheads="1"/>
            </p:cNvSpPr>
            <p:nvPr/>
          </p:nvSpPr>
          <p:spPr bwMode="gray">
            <a:xfrm>
              <a:off x="406400" y="3100388"/>
              <a:ext cx="349250" cy="349250"/>
            </a:xfrm>
            <a:prstGeom prst="rect">
              <a:avLst/>
            </a:prstGeom>
            <a:gradFill rotWithShape="1">
              <a:gsLst>
                <a:gs pos="0">
                  <a:srgbClr val="C6C7C8"/>
                </a:gs>
                <a:gs pos="100000">
                  <a:srgbClr val="C6C7C8">
                    <a:gamma/>
                    <a:tint val="10196"/>
                    <a:invGamma/>
                  </a:srgbClr>
                </a:gs>
              </a:gsLst>
              <a:lin ang="5400000" scaled="1"/>
            </a:gradFill>
            <a:ln w="12700">
              <a:solidFill>
                <a:srgbClr val="DDDDDD"/>
              </a:solidFill>
              <a:miter lim="800000"/>
              <a:headEnd/>
              <a:tailEnd/>
            </a:ln>
            <a:effectLst>
              <a:outerShdw dist="53882" dir="2700000" algn="ctr" rotWithShape="0">
                <a:srgbClr val="808080">
                  <a:alpha val="50000"/>
                </a:srgbClr>
              </a:outerShdw>
            </a:effectLst>
          </p:spPr>
          <p:txBody>
            <a:bodyPr lIns="0" tIns="0" rIns="0" bIns="0" anchor="ctr"/>
            <a:lstStyle/>
            <a:p>
              <a:pPr algn="ctr">
                <a:defRPr/>
              </a:pPr>
              <a:endParaRPr lang="pt-BR" sz="1400" b="1">
                <a:solidFill>
                  <a:srgbClr val="C40505"/>
                </a:solidFill>
                <a:latin typeface="Arial" charset="0"/>
              </a:endParaRPr>
            </a:p>
          </p:txBody>
        </p:sp>
        <p:sp>
          <p:nvSpPr>
            <p:cNvPr id="31" name="WordArt 28"/>
            <p:cNvSpPr>
              <a:spLocks noChangeArrowheads="1" noChangeShapeType="1" noTextEdit="1"/>
            </p:cNvSpPr>
            <p:nvPr/>
          </p:nvSpPr>
          <p:spPr bwMode="gray">
            <a:xfrm rot="2618651" flipV="1">
              <a:off x="490538" y="3108325"/>
              <a:ext cx="225425" cy="2952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pt-BR" sz="1400" kern="10">
                  <a:ln w="19050">
                    <a:solidFill>
                      <a:srgbClr val="4C7013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9DB17E"/>
                      </a:gs>
                      <a:gs pos="50000">
                        <a:srgbClr val="4C7013"/>
                      </a:gs>
                      <a:gs pos="100000">
                        <a:srgbClr val="9DB17E"/>
                      </a:gs>
                    </a:gsLst>
                    <a:lin ang="5400000" scaled="1"/>
                  </a:gradFill>
                  <a:effectLst>
                    <a:outerShdw dist="53882" dir="2700000" algn="ctr" rotWithShape="0">
                      <a:srgbClr val="808080">
                        <a:alpha val="50000"/>
                      </a:srgbClr>
                    </a:outerShdw>
                  </a:effectLst>
                  <a:latin typeface="Wingdings"/>
                </a:rPr>
                <a:t>ê</a:t>
              </a:r>
            </a:p>
          </p:txBody>
        </p:sp>
      </p:grpSp>
      <p:sp>
        <p:nvSpPr>
          <p:cNvPr id="32" name="Rectangle 14"/>
          <p:cNvSpPr>
            <a:spLocks noChangeArrowheads="1"/>
          </p:cNvSpPr>
          <p:nvPr/>
        </p:nvSpPr>
        <p:spPr bwMode="gray">
          <a:xfrm>
            <a:off x="1742004" y="4217843"/>
            <a:ext cx="6224240" cy="2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0" rIns="36000" bIns="36000"/>
          <a:lstStyle/>
          <a:p>
            <a:pPr>
              <a:spcAft>
                <a:spcPct val="20000"/>
              </a:spcAft>
            </a:pPr>
            <a:r>
              <a:rPr lang="pt-BR" sz="1600" noProof="1" smtClean="0"/>
              <a:t>Estabelecimento de um </a:t>
            </a:r>
            <a:r>
              <a:rPr lang="pt-BR" sz="1600" b="1" noProof="1" smtClean="0"/>
              <a:t>processo para melhoria contínua</a:t>
            </a:r>
            <a:endParaRPr lang="pt-BR" sz="1600" noProof="1"/>
          </a:p>
        </p:txBody>
      </p:sp>
      <p:sp>
        <p:nvSpPr>
          <p:cNvPr id="35" name="Line 41"/>
          <p:cNvSpPr>
            <a:spLocks noChangeShapeType="1"/>
          </p:cNvSpPr>
          <p:nvPr/>
        </p:nvSpPr>
        <p:spPr bwMode="auto">
          <a:xfrm>
            <a:off x="839459" y="4732784"/>
            <a:ext cx="7326139" cy="0"/>
          </a:xfrm>
          <a:prstGeom prst="line">
            <a:avLst/>
          </a:prstGeom>
          <a:noFill/>
          <a:ln w="19050">
            <a:solidFill>
              <a:srgbClr val="96969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6" name="CaixaDeTexto 3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37" name="Retângulo 36"/>
          <p:cNvSpPr/>
          <p:nvPr/>
        </p:nvSpPr>
        <p:spPr>
          <a:xfrm>
            <a:off x="0" y="763052"/>
            <a:ext cx="16614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Entregas Chave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24" name="Rectangle 14"/>
          <p:cNvSpPr>
            <a:spLocks noChangeArrowheads="1"/>
          </p:cNvSpPr>
          <p:nvPr/>
        </p:nvSpPr>
        <p:spPr bwMode="gray">
          <a:xfrm>
            <a:off x="1754478" y="3389372"/>
            <a:ext cx="6224240" cy="2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0" tIns="0" rIns="36000" bIns="36000"/>
          <a:lstStyle/>
          <a:p>
            <a:pPr>
              <a:spcAft>
                <a:spcPct val="20000"/>
              </a:spcAft>
            </a:pPr>
            <a:r>
              <a:rPr lang="pt-BR" sz="1600" b="1" noProof="1" smtClean="0"/>
              <a:t>Melhorias imediatas</a:t>
            </a:r>
            <a:r>
              <a:rPr lang="pt-BR" sz="1600" noProof="1" smtClean="0"/>
              <a:t> nas práticas e processos</a:t>
            </a:r>
            <a:endParaRPr lang="pt-BR" sz="1600" noProof="1"/>
          </a:p>
        </p:txBody>
      </p:sp>
    </p:spTree>
    <p:extLst>
      <p:ext uri="{BB962C8B-B14F-4D97-AF65-F5344CB8AC3E}">
        <p14:creationId xmlns:p14="http://schemas.microsoft.com/office/powerpoint/2010/main" val="4276855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944251"/>
            <a:ext cx="7365087" cy="4138910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0" y="763052"/>
            <a:ext cx="17812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Time do Projeto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graphicFrame>
        <p:nvGraphicFramePr>
          <p:cNvPr id="2048" name="Tabela 20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933718"/>
              </p:ext>
            </p:extLst>
          </p:nvPr>
        </p:nvGraphicFramePr>
        <p:xfrm>
          <a:off x="79597" y="4084712"/>
          <a:ext cx="2204589" cy="598170"/>
        </p:xfrm>
        <a:graphic>
          <a:graphicData uri="http://schemas.openxmlformats.org/drawingml/2006/table">
            <a:tbl>
              <a:tblPr/>
              <a:tblGrid>
                <a:gridCol w="1062632"/>
                <a:gridCol w="512695"/>
                <a:gridCol w="629262"/>
              </a:tblGrid>
              <a:tr h="15240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Esforço necessário dos recursos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Quem?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min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máx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4"/>
                    </a:solidFill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Recurso Chave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 horas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8 horas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Recurso backup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N/A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52" name="Tabela 20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95746"/>
              </p:ext>
            </p:extLst>
          </p:nvPr>
        </p:nvGraphicFramePr>
        <p:xfrm>
          <a:off x="88454" y="1614334"/>
          <a:ext cx="2186207" cy="2177415"/>
        </p:xfrm>
        <a:graphic>
          <a:graphicData uri="http://schemas.openxmlformats.org/drawingml/2006/table">
            <a:tbl>
              <a:tblPr/>
              <a:tblGrid>
                <a:gridCol w="434803"/>
                <a:gridCol w="698937"/>
                <a:gridCol w="544520"/>
                <a:gridCol w="507947"/>
              </a:tblGrid>
              <a:tr h="144016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Perfil dos recursos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Comprometimento com a </a:t>
                      </a:r>
                      <a:r>
                        <a:rPr lang="pt-B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causa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Influenciador de boas </a:t>
                      </a:r>
                      <a:r>
                        <a:rPr lang="pt-B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práticas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Disponibilidade para escrever </a:t>
                      </a:r>
                      <a:r>
                        <a:rPr lang="pt-B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e desafiar processos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Olhar isento de julgamento prévio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Imparcialidade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Orientação para processos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Paixão pela Natura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400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Expectativa do Recurso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Necessário ter disponibilidade para trabalhar nas demandas do projeto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42875">
                <a:tc gridSpan="4"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Pessoas interessadas, comprometidas com o propósito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056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0" y="763052"/>
            <a:ext cx="35074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Plano de Comunicação do Projeto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467545" y="1174625"/>
            <a:ext cx="8280888" cy="602343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pt-BR" sz="1600" dirty="0"/>
              <a:t>Comunicação é parte integrante </a:t>
            </a:r>
            <a:r>
              <a:rPr lang="pt-BR" sz="1600" dirty="0" smtClean="0"/>
              <a:t>do </a:t>
            </a:r>
            <a:r>
              <a:rPr lang="pt-BR" sz="1600" dirty="0"/>
              <a:t>projeto e deverá ser realizada durante toda a sua </a:t>
            </a:r>
            <a:r>
              <a:rPr lang="pt-BR" sz="1600" dirty="0" smtClean="0"/>
              <a:t>execução. No entanto, são necessárias algumas comunicações pontuais, conforme abaixo: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  <a:b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</a:b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385623"/>
              </p:ext>
            </p:extLst>
          </p:nvPr>
        </p:nvGraphicFramePr>
        <p:xfrm>
          <a:off x="395536" y="1776968"/>
          <a:ext cx="8424936" cy="324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/>
                <a:gridCol w="1584176"/>
                <a:gridCol w="1584176"/>
                <a:gridCol w="1872208"/>
                <a:gridCol w="1800200"/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O que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Audiência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 smtClean="0"/>
                        <a:t>Quem</a:t>
                      </a:r>
                      <a:r>
                        <a:rPr lang="pt-BR" sz="1600" baseline="0" dirty="0" smtClean="0"/>
                        <a:t> comunica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Como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Quando</a:t>
                      </a:r>
                      <a:endParaRPr lang="pt-BR" sz="1600" dirty="0"/>
                    </a:p>
                  </a:txBody>
                  <a:tcPr/>
                </a:tc>
              </a:tr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pt-BR" sz="1400" baseline="0" dirty="0" smtClean="0"/>
                        <a:t>Awareness do Projeto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Toda TD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Agenor Leão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E-mail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Go-Live do projeto</a:t>
                      </a:r>
                      <a:endParaRPr lang="pt-BR" sz="1400" dirty="0"/>
                    </a:p>
                  </a:txBody>
                  <a:tcPr/>
                </a:tc>
              </a:tr>
              <a:tr h="561960">
                <a:tc>
                  <a:txBody>
                    <a:bodyPr/>
                    <a:lstStyle/>
                    <a:p>
                      <a:pPr algn="ctr"/>
                      <a:r>
                        <a:rPr lang="pt-BR" sz="1400" baseline="0" dirty="0" smtClean="0"/>
                        <a:t>Awareness do Projeto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Toda TD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Henrique Gherardi Júnior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Pessoalmente. Reunião TD (trimestral)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Agosto</a:t>
                      </a:r>
                      <a:endParaRPr lang="pt-BR" sz="1400" dirty="0"/>
                    </a:p>
                  </a:txBody>
                  <a:tcPr/>
                </a:tc>
              </a:tr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Status Report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Steering Committee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GP – Marcus Marques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E-mail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Semanalmente</a:t>
                      </a:r>
                      <a:endParaRPr lang="pt-BR" sz="1400" dirty="0"/>
                    </a:p>
                  </a:txBody>
                  <a:tcPr/>
                </a:tc>
              </a:tr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pt-BR" sz="1400" i="1" dirty="0" err="1" smtClean="0"/>
                        <a:t>Buy</a:t>
                      </a:r>
                      <a:r>
                        <a:rPr lang="pt-BR" sz="1400" i="1" dirty="0" smtClean="0"/>
                        <a:t>-In</a:t>
                      </a:r>
                      <a:endParaRPr lang="pt-BR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Analistas e Coordenadores 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Marcus Marques / Adolpho Chacon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Workshop - Game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Go-Live do projeto</a:t>
                      </a:r>
                    </a:p>
                    <a:p>
                      <a:pPr algn="ctr"/>
                      <a:endParaRPr lang="pt-BR" sz="1400" dirty="0"/>
                    </a:p>
                  </a:txBody>
                  <a:tcPr/>
                </a:tc>
              </a:tr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pt-BR" sz="1400" i="1" dirty="0" smtClean="0"/>
                        <a:t>Status </a:t>
                      </a:r>
                      <a:r>
                        <a:rPr lang="pt-BR" sz="1400" i="1" dirty="0" err="1" smtClean="0"/>
                        <a:t>Report</a:t>
                      </a:r>
                      <a:endParaRPr lang="pt-BR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Time</a:t>
                      </a:r>
                      <a:r>
                        <a:rPr lang="pt-BR" sz="1400" baseline="0" dirty="0" smtClean="0"/>
                        <a:t> do Projeto</a:t>
                      </a:r>
                      <a:endParaRPr lang="pt-BR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smtClean="0"/>
                        <a:t>Marcus Marques / Adolpho Chacon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Apresentação</a:t>
                      </a:r>
                      <a:endParaRPr lang="pt-B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/>
                        <a:t>Quinzenal</a:t>
                      </a:r>
                      <a:endParaRPr lang="pt-BR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237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8"/>
          <p:cNvSpPr>
            <a:spLocks noChangeArrowheads="1"/>
          </p:cNvSpPr>
          <p:nvPr/>
        </p:nvSpPr>
        <p:spPr bwMode="auto">
          <a:xfrm>
            <a:off x="361950" y="2505869"/>
            <a:ext cx="865188" cy="504825"/>
          </a:xfrm>
          <a:prstGeom prst="flowChartAlternateProcess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3" name="Group 9"/>
          <p:cNvGrpSpPr>
            <a:grpSpLocks noChangeAspect="1"/>
          </p:cNvGrpSpPr>
          <p:nvPr/>
        </p:nvGrpSpPr>
        <p:grpSpPr bwMode="auto">
          <a:xfrm>
            <a:off x="722313" y="1526837"/>
            <a:ext cx="7591425" cy="2845907"/>
            <a:chOff x="3501" y="1427"/>
            <a:chExt cx="8298" cy="6208"/>
          </a:xfrm>
        </p:grpSpPr>
        <p:sp>
          <p:nvSpPr>
            <p:cNvPr id="34" name="AutoShape 10"/>
            <p:cNvSpPr>
              <a:spLocks noChangeAspect="1" noChangeArrowheads="1"/>
            </p:cNvSpPr>
            <p:nvPr/>
          </p:nvSpPr>
          <p:spPr bwMode="auto">
            <a:xfrm>
              <a:off x="3501" y="1427"/>
              <a:ext cx="8298" cy="6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Rectangle 11"/>
            <p:cNvSpPr>
              <a:spLocks noChangeArrowheads="1"/>
            </p:cNvSpPr>
            <p:nvPr/>
          </p:nvSpPr>
          <p:spPr bwMode="auto">
            <a:xfrm>
              <a:off x="6822" y="1427"/>
              <a:ext cx="1719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DDDDDD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Rectangle 12">
              <a:hlinkClick r:id="" action="ppaction://noaction"/>
            </p:cNvPr>
            <p:cNvSpPr>
              <a:spLocks noChangeArrowheads="1"/>
            </p:cNvSpPr>
            <p:nvPr/>
          </p:nvSpPr>
          <p:spPr bwMode="auto">
            <a:xfrm>
              <a:off x="8541" y="1427"/>
              <a:ext cx="1620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DDDDDD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Rectangle 13"/>
            <p:cNvSpPr>
              <a:spLocks noChangeArrowheads="1"/>
            </p:cNvSpPr>
            <p:nvPr/>
          </p:nvSpPr>
          <p:spPr bwMode="auto">
            <a:xfrm>
              <a:off x="10161" y="1427"/>
              <a:ext cx="1638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DDDDDD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Rectangle 14"/>
            <p:cNvSpPr>
              <a:spLocks noChangeArrowheads="1"/>
            </p:cNvSpPr>
            <p:nvPr/>
          </p:nvSpPr>
          <p:spPr bwMode="auto">
            <a:xfrm>
              <a:off x="5202" y="1427"/>
              <a:ext cx="1719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DDDDDD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Rectangle 15"/>
            <p:cNvSpPr>
              <a:spLocks noChangeArrowheads="1"/>
            </p:cNvSpPr>
            <p:nvPr/>
          </p:nvSpPr>
          <p:spPr bwMode="auto">
            <a:xfrm>
              <a:off x="3501" y="1427"/>
              <a:ext cx="1719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DDDDDD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0" name="Group 20"/>
          <p:cNvGrpSpPr>
            <a:grpSpLocks/>
          </p:cNvGrpSpPr>
          <p:nvPr/>
        </p:nvGrpSpPr>
        <p:grpSpPr bwMode="auto">
          <a:xfrm>
            <a:off x="700088" y="1526837"/>
            <a:ext cx="415528" cy="2845907"/>
            <a:chOff x="1248" y="768"/>
            <a:chExt cx="192" cy="3216"/>
          </a:xfrm>
        </p:grpSpPr>
        <p:sp>
          <p:nvSpPr>
            <p:cNvPr id="41" name="Line 21"/>
            <p:cNvSpPr>
              <a:spLocks noChangeShapeType="1"/>
            </p:cNvSpPr>
            <p:nvPr/>
          </p:nvSpPr>
          <p:spPr bwMode="auto">
            <a:xfrm>
              <a:off x="1344" y="864"/>
              <a:ext cx="0" cy="312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AutoShape 22"/>
            <p:cNvSpPr>
              <a:spLocks noChangeArrowheads="1"/>
            </p:cNvSpPr>
            <p:nvPr/>
          </p:nvSpPr>
          <p:spPr bwMode="auto">
            <a:xfrm flipV="1">
              <a:off x="1248" y="768"/>
              <a:ext cx="192" cy="14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127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3" name="Line 23"/>
          <p:cNvSpPr>
            <a:spLocks noChangeShapeType="1"/>
          </p:cNvSpPr>
          <p:nvPr/>
        </p:nvSpPr>
        <p:spPr bwMode="auto">
          <a:xfrm flipH="1">
            <a:off x="1509712" y="1526837"/>
            <a:ext cx="0" cy="2845907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" name="Line 24"/>
          <p:cNvSpPr>
            <a:spLocks noChangeShapeType="1"/>
          </p:cNvSpPr>
          <p:nvPr/>
        </p:nvSpPr>
        <p:spPr bwMode="auto">
          <a:xfrm>
            <a:off x="3064786" y="1504105"/>
            <a:ext cx="10202" cy="2982145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5" name="Line 25"/>
          <p:cNvSpPr>
            <a:spLocks noChangeShapeType="1"/>
          </p:cNvSpPr>
          <p:nvPr/>
        </p:nvSpPr>
        <p:spPr bwMode="auto">
          <a:xfrm>
            <a:off x="4598989" y="1526837"/>
            <a:ext cx="0" cy="2845907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6" name="Line 26"/>
          <p:cNvSpPr>
            <a:spLocks noChangeShapeType="1"/>
          </p:cNvSpPr>
          <p:nvPr/>
        </p:nvSpPr>
        <p:spPr bwMode="auto">
          <a:xfrm>
            <a:off x="6074185" y="1526837"/>
            <a:ext cx="10703" cy="2959413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7" name="Line 27"/>
          <p:cNvSpPr>
            <a:spLocks noChangeShapeType="1"/>
          </p:cNvSpPr>
          <p:nvPr/>
        </p:nvSpPr>
        <p:spPr bwMode="auto">
          <a:xfrm>
            <a:off x="7600156" y="1526837"/>
            <a:ext cx="23019" cy="2845907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8" name="AutoShape 29"/>
          <p:cNvSpPr>
            <a:spLocks noChangeArrowheads="1"/>
          </p:cNvSpPr>
          <p:nvPr/>
        </p:nvSpPr>
        <p:spPr bwMode="auto">
          <a:xfrm>
            <a:off x="1023007" y="1933687"/>
            <a:ext cx="1255465" cy="311150"/>
          </a:xfrm>
          <a:prstGeom prst="homePlate">
            <a:avLst>
              <a:gd name="adj" fmla="val 20998"/>
            </a:avLst>
          </a:prstGeom>
          <a:gradFill rotWithShape="0">
            <a:gsLst>
              <a:gs pos="0">
                <a:srgbClr val="89A5C7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526377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Planejamento</a:t>
            </a: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e</a:t>
            </a:r>
            <a:r>
              <a:rPr kumimoji="0" lang="en-US" sz="1100" b="1" i="0" u="none" strike="noStrike" kern="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US" sz="1100" b="1" i="0" u="none" strike="noStrike" kern="0" cap="none" spc="0" normalizeH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Estratégia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9" name="AutoShape 31"/>
          <p:cNvSpPr>
            <a:spLocks noChangeArrowheads="1"/>
          </p:cNvSpPr>
          <p:nvPr/>
        </p:nvSpPr>
        <p:spPr bwMode="auto">
          <a:xfrm>
            <a:off x="1508626" y="2354998"/>
            <a:ext cx="3567430" cy="217545"/>
          </a:xfrm>
          <a:prstGeom prst="homePlate">
            <a:avLst>
              <a:gd name="adj" fmla="val 37959"/>
            </a:avLst>
          </a:prstGeom>
          <a:gradFill rotWithShape="0">
            <a:gsLst>
              <a:gs pos="0">
                <a:srgbClr val="89A5C7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526377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Assessment</a:t>
            </a:r>
          </a:p>
        </p:txBody>
      </p:sp>
      <p:grpSp>
        <p:nvGrpSpPr>
          <p:cNvPr id="51" name="Group 40"/>
          <p:cNvGrpSpPr>
            <a:grpSpLocks/>
          </p:cNvGrpSpPr>
          <p:nvPr/>
        </p:nvGrpSpPr>
        <p:grpSpPr bwMode="auto">
          <a:xfrm>
            <a:off x="8085138" y="1526837"/>
            <a:ext cx="192087" cy="2845907"/>
            <a:chOff x="1248" y="768"/>
            <a:chExt cx="192" cy="3216"/>
          </a:xfrm>
        </p:grpSpPr>
        <p:sp>
          <p:nvSpPr>
            <p:cNvPr id="52" name="Line 41"/>
            <p:cNvSpPr>
              <a:spLocks noChangeShapeType="1"/>
            </p:cNvSpPr>
            <p:nvPr/>
          </p:nvSpPr>
          <p:spPr bwMode="auto">
            <a:xfrm>
              <a:off x="1344" y="864"/>
              <a:ext cx="0" cy="312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AutoShape 42"/>
            <p:cNvSpPr>
              <a:spLocks noChangeArrowheads="1"/>
            </p:cNvSpPr>
            <p:nvPr/>
          </p:nvSpPr>
          <p:spPr bwMode="auto">
            <a:xfrm flipV="1">
              <a:off x="1248" y="768"/>
              <a:ext cx="192" cy="14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127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54" name="Rectangle 16"/>
          <p:cNvSpPr>
            <a:spLocks noChangeArrowheads="1"/>
          </p:cNvSpPr>
          <p:nvPr/>
        </p:nvSpPr>
        <p:spPr bwMode="auto">
          <a:xfrm>
            <a:off x="722313" y="4372744"/>
            <a:ext cx="7597775" cy="227012"/>
          </a:xfrm>
          <a:prstGeom prst="rect">
            <a:avLst/>
          </a:prstGeom>
          <a:gradFill rotWithShape="0">
            <a:gsLst>
              <a:gs pos="0">
                <a:srgbClr val="FF3300"/>
              </a:gs>
              <a:gs pos="50000">
                <a:srgbClr val="FFEAE5"/>
              </a:gs>
              <a:gs pos="100000">
                <a:srgbClr val="FF3300"/>
              </a:gs>
            </a:gsLst>
            <a:lin ang="5400000" scaled="1"/>
          </a:gradFill>
          <a:ln w="9525">
            <a:solidFill>
              <a:srgbClr val="696261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Arial" pitchFamily="34" charset="0"/>
              </a:rPr>
              <a:t>10 semanas</a:t>
            </a:r>
          </a:p>
        </p:txBody>
      </p:sp>
      <p:sp>
        <p:nvSpPr>
          <p:cNvPr id="55" name="AutoShape 28"/>
          <p:cNvSpPr>
            <a:spLocks noChangeArrowheads="1"/>
          </p:cNvSpPr>
          <p:nvPr/>
        </p:nvSpPr>
        <p:spPr bwMode="auto">
          <a:xfrm>
            <a:off x="1023007" y="1670387"/>
            <a:ext cx="7062132" cy="208756"/>
          </a:xfrm>
          <a:prstGeom prst="homePlate">
            <a:avLst>
              <a:gd name="adj" fmla="val 59781"/>
            </a:avLst>
          </a:prstGeom>
          <a:gradFill rotWithShape="0">
            <a:gsLst>
              <a:gs pos="0">
                <a:srgbClr val="89A5C7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526377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Gestão do Projeto</a:t>
            </a:r>
          </a:p>
        </p:txBody>
      </p:sp>
      <p:sp>
        <p:nvSpPr>
          <p:cNvPr id="57" name="AutoShape 32"/>
          <p:cNvSpPr>
            <a:spLocks noChangeArrowheads="1"/>
          </p:cNvSpPr>
          <p:nvPr/>
        </p:nvSpPr>
        <p:spPr bwMode="auto">
          <a:xfrm>
            <a:off x="3851099" y="2801392"/>
            <a:ext cx="3457205" cy="317052"/>
          </a:xfrm>
          <a:prstGeom prst="homePlate">
            <a:avLst>
              <a:gd name="adj" fmla="val 74036"/>
            </a:avLst>
          </a:prstGeom>
          <a:gradFill rotWithShape="0">
            <a:gsLst>
              <a:gs pos="0">
                <a:srgbClr val="E4720A"/>
              </a:gs>
              <a:gs pos="100000">
                <a:srgbClr val="FFFFFF"/>
              </a:gs>
            </a:gsLst>
            <a:lin ang="0" scaled="1"/>
          </a:gradFill>
          <a:ln w="11176" algn="ctr">
            <a:noFill/>
            <a:miter lim="800000"/>
            <a:headEnd/>
            <a:tailEnd/>
          </a:ln>
          <a:effectLst>
            <a:prstShdw prst="shdw17" dist="17961" dir="2700000">
              <a:srgbClr val="E4720A">
                <a:gamma/>
                <a:shade val="60000"/>
                <a:invGamma/>
              </a:srgbClr>
            </a:prstShdw>
          </a:effectLst>
        </p:spPr>
        <p:txBody>
          <a:bodyPr anchor="ctr" anchorCtr="1"/>
          <a:lstStyle/>
          <a:p>
            <a:pPr algn="ctr">
              <a:lnSpc>
                <a:spcPct val="90000"/>
              </a:lnSpc>
            </a:pPr>
            <a:r>
              <a:rPr lang="en-US" sz="1100" b="1" kern="0" dirty="0">
                <a:solidFill>
                  <a:sysClr val="windowText" lastClr="000000"/>
                </a:solidFill>
                <a:latin typeface="Arial" charset="0"/>
              </a:rPr>
              <a:t>Plano de </a:t>
            </a:r>
            <a:r>
              <a:rPr lang="en-US" sz="1100" b="1" kern="0" dirty="0" err="1">
                <a:solidFill>
                  <a:sysClr val="windowText" lastClr="000000"/>
                </a:solidFill>
                <a:latin typeface="Arial" charset="0"/>
              </a:rPr>
              <a:t>Ação</a:t>
            </a:r>
            <a:endParaRPr lang="en-US" sz="1100" b="1" kern="0" dirty="0">
              <a:solidFill>
                <a:sysClr val="windowText" lastClr="000000"/>
              </a:solidFill>
              <a:latin typeface="Arial" charset="0"/>
            </a:endParaRPr>
          </a:p>
        </p:txBody>
      </p:sp>
      <p:sp>
        <p:nvSpPr>
          <p:cNvPr id="58" name="AutoShape 34"/>
          <p:cNvSpPr>
            <a:spLocks noChangeArrowheads="1"/>
          </p:cNvSpPr>
          <p:nvPr/>
        </p:nvSpPr>
        <p:spPr bwMode="auto">
          <a:xfrm>
            <a:off x="6130057" y="3724672"/>
            <a:ext cx="1538287" cy="404813"/>
          </a:xfrm>
          <a:prstGeom prst="homePlate">
            <a:avLst>
              <a:gd name="adj" fmla="val 36099"/>
            </a:avLst>
          </a:prstGeom>
          <a:gradFill rotWithShape="0">
            <a:gsLst>
              <a:gs pos="0">
                <a:srgbClr val="00FF0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009900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lvl="0" algn="ctr">
              <a:lnSpc>
                <a:spcPct val="90000"/>
              </a:lnSpc>
            </a:pPr>
            <a:r>
              <a:rPr lang="pt-BR" sz="1100" b="1" kern="0" dirty="0">
                <a:solidFill>
                  <a:sysClr val="windowText" lastClr="000000"/>
                </a:solidFill>
              </a:rPr>
              <a:t>Workshop </a:t>
            </a:r>
            <a:r>
              <a:rPr lang="pt-BR" sz="1100" b="1" kern="0" dirty="0" smtClean="0">
                <a:solidFill>
                  <a:sysClr val="windowText" lastClr="000000"/>
                </a:solidFill>
              </a:rPr>
              <a:t>- </a:t>
            </a:r>
            <a:r>
              <a:rPr lang="pt-BR" sz="1100" b="1" kern="0" dirty="0">
                <a:solidFill>
                  <a:sysClr val="windowText" lastClr="000000"/>
                </a:solidFill>
              </a:rPr>
              <a:t>Processo de Melhoria </a:t>
            </a:r>
            <a:r>
              <a:rPr lang="pt-BR" sz="1100" b="1" kern="0" dirty="0" smtClean="0">
                <a:solidFill>
                  <a:sysClr val="windowText" lastClr="000000"/>
                </a:solidFill>
              </a:rPr>
              <a:t>Contínua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9" name="TextBox 29"/>
          <p:cNvSpPr txBox="1">
            <a:spLocks noChangeArrowheads="1"/>
          </p:cNvSpPr>
          <p:nvPr/>
        </p:nvSpPr>
        <p:spPr bwMode="auto">
          <a:xfrm>
            <a:off x="375444" y="1211718"/>
            <a:ext cx="134458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Arial" pitchFamily="34" charset="0"/>
              </a:rPr>
              <a:t>09/</a:t>
            </a:r>
            <a:r>
              <a:rPr kumimoji="0" lang="pt-BR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Arial" pitchFamily="34" charset="0"/>
              </a:rPr>
              <a:t>Jun</a:t>
            </a: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Arial" pitchFamily="34" charset="0"/>
              </a:rPr>
              <a:t>/2015</a:t>
            </a:r>
          </a:p>
        </p:txBody>
      </p:sp>
      <p:sp>
        <p:nvSpPr>
          <p:cNvPr id="60" name="TextBox 30"/>
          <p:cNvSpPr txBox="1">
            <a:spLocks noChangeArrowheads="1"/>
          </p:cNvSpPr>
          <p:nvPr/>
        </p:nvSpPr>
        <p:spPr bwMode="auto">
          <a:xfrm>
            <a:off x="7546181" y="1195049"/>
            <a:ext cx="120228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Arial" pitchFamily="34" charset="0"/>
              </a:rPr>
              <a:t>18/</a:t>
            </a:r>
            <a:r>
              <a:rPr kumimoji="0" lang="pt-BR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Arial" pitchFamily="34" charset="0"/>
              </a:rPr>
              <a:t>Ago</a:t>
            </a: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Arial" pitchFamily="34" charset="0"/>
              </a:rPr>
              <a:t>/2015</a:t>
            </a:r>
          </a:p>
        </p:txBody>
      </p:sp>
      <p:sp>
        <p:nvSpPr>
          <p:cNvPr id="63" name="CaixaDeTexto 6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64" name="Texto explicativo retangular 63"/>
          <p:cNvSpPr/>
          <p:nvPr/>
        </p:nvSpPr>
        <p:spPr>
          <a:xfrm>
            <a:off x="4013969" y="1996480"/>
            <a:ext cx="1008112" cy="265737"/>
          </a:xfrm>
          <a:prstGeom prst="wedgeRectCallout">
            <a:avLst>
              <a:gd name="adj1" fmla="val -31226"/>
              <a:gd name="adj2" fmla="val 112681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kern="0" dirty="0" smtClean="0">
                <a:solidFill>
                  <a:sysClr val="windowText" lastClr="000000"/>
                </a:solidFill>
              </a:rPr>
              <a:t>Riscos e </a:t>
            </a:r>
            <a:r>
              <a:rPr lang="pt-BR" sz="1050" kern="0" dirty="0" err="1" smtClean="0">
                <a:solidFill>
                  <a:sysClr val="windowText" lastClr="000000"/>
                </a:solidFill>
              </a:rPr>
              <a:t>GAPs</a:t>
            </a:r>
            <a:endParaRPr lang="pt-BR" sz="1050" kern="0" dirty="0">
              <a:solidFill>
                <a:sysClr val="windowText" lastClr="000000"/>
              </a:solidFill>
            </a:endParaRPr>
          </a:p>
        </p:txBody>
      </p:sp>
      <p:sp>
        <p:nvSpPr>
          <p:cNvPr id="65" name="Texto explicativo retangular 64"/>
          <p:cNvSpPr/>
          <p:nvPr/>
        </p:nvSpPr>
        <p:spPr>
          <a:xfrm>
            <a:off x="4829101" y="2414617"/>
            <a:ext cx="1008112" cy="265737"/>
          </a:xfrm>
          <a:prstGeom prst="wedgeRectCallout">
            <a:avLst>
              <a:gd name="adj1" fmla="val -31226"/>
              <a:gd name="adj2" fmla="val 112681"/>
            </a:avLst>
          </a:prstGeom>
          <a:gradFill rotWithShape="0">
            <a:gsLst>
              <a:gs pos="0">
                <a:srgbClr val="E4720A">
                  <a:alpha val="21000"/>
                  <a:lumMod val="14000"/>
                  <a:lumOff val="86000"/>
                </a:srgbClr>
              </a:gs>
              <a:gs pos="100000">
                <a:srgbClr val="FFFFFF"/>
              </a:gs>
            </a:gsLst>
            <a:lin ang="0" scaled="1"/>
          </a:gradFill>
          <a:ln w="11176" algn="ctr">
            <a:noFill/>
            <a:miter lim="800000"/>
            <a:headEnd/>
            <a:tailEnd/>
          </a:ln>
          <a:effectLst>
            <a:prstShdw prst="shdw17" dist="17961" dir="2700000">
              <a:srgbClr val="E4720A">
                <a:gamma/>
                <a:shade val="60000"/>
                <a:invGamma/>
              </a:srgbClr>
            </a:prstShdw>
          </a:effectLst>
        </p:spPr>
        <p:txBody>
          <a:bodyPr anchor="ctr" anchorCtr="1"/>
          <a:lstStyle/>
          <a:p>
            <a:pPr algn="ctr">
              <a:lnSpc>
                <a:spcPct val="90000"/>
              </a:lnSpc>
            </a:pPr>
            <a:r>
              <a:rPr lang="pt-BR" sz="1050" i="1" kern="0" dirty="0" err="1">
                <a:solidFill>
                  <a:sysClr val="windowText" lastClr="000000"/>
                </a:solidFill>
              </a:rPr>
              <a:t>Quick-Wins</a:t>
            </a:r>
            <a:r>
              <a:rPr lang="pt-BR" sz="1050" i="1" kern="0" dirty="0">
                <a:solidFill>
                  <a:sysClr val="windowText" lastClr="000000"/>
                </a:solidFill>
              </a:rPr>
              <a:t>!</a:t>
            </a:r>
          </a:p>
        </p:txBody>
      </p:sp>
      <p:sp>
        <p:nvSpPr>
          <p:cNvPr id="66" name="Texto explicativo retangular 65"/>
          <p:cNvSpPr/>
          <p:nvPr/>
        </p:nvSpPr>
        <p:spPr>
          <a:xfrm>
            <a:off x="5543697" y="3170903"/>
            <a:ext cx="1008112" cy="265737"/>
          </a:xfrm>
          <a:prstGeom prst="wedgeRectCallout">
            <a:avLst>
              <a:gd name="adj1" fmla="val -24612"/>
              <a:gd name="adj2" fmla="val -88044"/>
            </a:avLst>
          </a:prstGeom>
          <a:gradFill rotWithShape="0">
            <a:gsLst>
              <a:gs pos="0">
                <a:srgbClr val="E4720A">
                  <a:alpha val="21000"/>
                  <a:lumMod val="14000"/>
                  <a:lumOff val="86000"/>
                </a:srgbClr>
              </a:gs>
              <a:gs pos="100000">
                <a:srgbClr val="FFFFFF"/>
              </a:gs>
            </a:gsLst>
            <a:lin ang="0" scaled="1"/>
          </a:gradFill>
          <a:ln w="11176" algn="ctr">
            <a:noFill/>
            <a:miter lim="800000"/>
            <a:headEnd/>
            <a:tailEnd/>
          </a:ln>
          <a:effectLst>
            <a:prstShdw prst="shdw17" dist="17961" dir="2700000">
              <a:srgbClr val="E4720A">
                <a:gamma/>
                <a:shade val="60000"/>
                <a:invGamma/>
              </a:srgbClr>
            </a:prstShdw>
          </a:effectLst>
        </p:spPr>
        <p:txBody>
          <a:bodyPr anchor="ctr" anchorCtr="1"/>
          <a:lstStyle/>
          <a:p>
            <a:pPr algn="ctr">
              <a:lnSpc>
                <a:spcPct val="90000"/>
              </a:lnSpc>
            </a:pPr>
            <a:r>
              <a:rPr lang="pt-BR" sz="1050" kern="0" dirty="0" smtClean="0">
                <a:solidFill>
                  <a:sysClr val="windowText" lastClr="000000"/>
                </a:solidFill>
              </a:rPr>
              <a:t>Indicadores</a:t>
            </a:r>
            <a:endParaRPr lang="pt-BR" sz="1050" kern="0" dirty="0">
              <a:solidFill>
                <a:sysClr val="windowText" lastClr="000000"/>
              </a:solidFill>
            </a:endParaRPr>
          </a:p>
        </p:txBody>
      </p:sp>
      <p:sp>
        <p:nvSpPr>
          <p:cNvPr id="67" name="Retângulo 66"/>
          <p:cNvSpPr/>
          <p:nvPr/>
        </p:nvSpPr>
        <p:spPr>
          <a:xfrm>
            <a:off x="0" y="763052"/>
            <a:ext cx="23221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err="1" smtClean="0">
                <a:solidFill>
                  <a:srgbClr val="473729"/>
                </a:solidFill>
                <a:latin typeface="Gill Sans Std Light" pitchFamily="34" charset="0"/>
              </a:rPr>
              <a:t>Timeline</a:t>
            </a:r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 do Projeto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979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aixaDeTexto 6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sp>
        <p:nvSpPr>
          <p:cNvPr id="67" name="Retângulo 66"/>
          <p:cNvSpPr/>
          <p:nvPr/>
        </p:nvSpPr>
        <p:spPr>
          <a:xfrm>
            <a:off x="0" y="770665"/>
            <a:ext cx="2646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b="1" dirty="0" smtClean="0">
                <a:solidFill>
                  <a:srgbClr val="473729"/>
                </a:solidFill>
                <a:latin typeface="Gill Sans Std Light" pitchFamily="34" charset="0"/>
              </a:rPr>
              <a:t>Agenda de entrevistas</a:t>
            </a:r>
            <a:endParaRPr lang="pt-BR" b="1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pic>
        <p:nvPicPr>
          <p:cNvPr id="1026" name="Picture 2" descr="http://www.nitmantiqueira.org.br/portal/images/noticias/evento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348408"/>
            <a:ext cx="3440807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upo 2"/>
          <p:cNvGrpSpPr/>
          <p:nvPr/>
        </p:nvGrpSpPr>
        <p:grpSpPr>
          <a:xfrm>
            <a:off x="874441" y="1453164"/>
            <a:ext cx="2985213" cy="3163045"/>
            <a:chOff x="963370" y="1408334"/>
            <a:chExt cx="2985213" cy="3163045"/>
          </a:xfrm>
        </p:grpSpPr>
        <p:pic>
          <p:nvPicPr>
            <p:cNvPr id="2" name="Picture 2" descr="http://apub.org.br/wp-content/uploads/2012/04/CARIMBO-CONFIDENCIAL1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590065">
              <a:off x="963370" y="1873128"/>
              <a:ext cx="2985213" cy="21732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tângulo 4"/>
            <p:cNvSpPr/>
            <p:nvPr/>
          </p:nvSpPr>
          <p:spPr>
            <a:xfrm rot="18858517">
              <a:off x="874452" y="2759024"/>
              <a:ext cx="316304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defTabSz="1088369"/>
              <a:r>
                <a:rPr lang="pt-BR" sz="2400" b="1" dirty="0" smtClean="0">
                  <a:solidFill>
                    <a:srgbClr val="BE3A2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tencil" panose="040409050D0802020404" pitchFamily="82" charset="0"/>
                </a:rPr>
                <a:t>Escolha uma data!</a:t>
              </a:r>
              <a:endParaRPr lang="pt-BR" sz="2400" b="1" dirty="0">
                <a:solidFill>
                  <a:srgbClr val="BE3A2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tencil" panose="040409050D0802020404" pitchFamily="82" charset="0"/>
              </a:endParaRPr>
            </a:p>
          </p:txBody>
        </p:sp>
      </p:grpSp>
      <p:sp>
        <p:nvSpPr>
          <p:cNvPr id="8" name="Retângulo 7"/>
          <p:cNvSpPr/>
          <p:nvPr/>
        </p:nvSpPr>
        <p:spPr>
          <a:xfrm>
            <a:off x="783379" y="4411368"/>
            <a:ext cx="37269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88369"/>
            <a:r>
              <a:rPr lang="pt-BR" b="1" dirty="0" smtClean="0">
                <a:solidFill>
                  <a:srgbClr val="B4312E"/>
                </a:solidFill>
                <a:latin typeface="Gill Sans Std Light" pitchFamily="34" charset="0"/>
              </a:rPr>
              <a:t>e comunique-a </a:t>
            </a:r>
            <a:r>
              <a:rPr lang="pt-BR" b="1" dirty="0" smtClean="0">
                <a:solidFill>
                  <a:srgbClr val="B4312E"/>
                </a:solidFill>
                <a:latin typeface="Gill Sans Std Light" pitchFamily="34" charset="0"/>
              </a:rPr>
              <a:t>ainda hoje </a:t>
            </a:r>
            <a:r>
              <a:rPr lang="pt-BR" b="1" dirty="0" smtClean="0">
                <a:solidFill>
                  <a:srgbClr val="B4312E"/>
                </a:solidFill>
                <a:latin typeface="Gill Sans Std Light" pitchFamily="34" charset="0"/>
              </a:rPr>
              <a:t>a: MarcusMarques@natura.net</a:t>
            </a:r>
            <a:endParaRPr lang="pt-BR" b="1" dirty="0">
              <a:solidFill>
                <a:srgbClr val="B4312E"/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958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aixaDeTexto 6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Projeto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Melhoria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Contínua dos Serviços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4" name="Espaço Reservado para Conteúdo 4" descr="Barco furado 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13407" y="741450"/>
            <a:ext cx="5776346" cy="43179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5" name="Texto explicativo em elipse 4"/>
          <p:cNvSpPr/>
          <p:nvPr/>
        </p:nvSpPr>
        <p:spPr bwMode="auto">
          <a:xfrm>
            <a:off x="5048652" y="789884"/>
            <a:ext cx="2304256" cy="1647653"/>
          </a:xfrm>
          <a:prstGeom prst="wedgeEllipseCallout">
            <a:avLst>
              <a:gd name="adj1" fmla="val -51996"/>
              <a:gd name="adj2" fmla="val 55283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pt-BR" sz="1800" b="1" dirty="0" smtClean="0">
                <a:solidFill>
                  <a:srgbClr val="3366FF"/>
                </a:solidFill>
                <a:latin typeface="Calibri" pitchFamily="34" charset="0"/>
              </a:rPr>
              <a:t>Mas </a:t>
            </a:r>
            <a:r>
              <a:rPr lang="pt-BR" sz="1800" b="1" dirty="0">
                <a:solidFill>
                  <a:srgbClr val="3366FF"/>
                </a:solidFill>
                <a:latin typeface="Calibri" pitchFamily="34" charset="0"/>
              </a:rPr>
              <a:t>eu não </a:t>
            </a:r>
            <a:r>
              <a:rPr lang="pt-BR" sz="1800" b="1" dirty="0" smtClean="0">
                <a:solidFill>
                  <a:srgbClr val="3366FF"/>
                </a:solidFill>
                <a:latin typeface="Calibri" pitchFamily="34" charset="0"/>
              </a:rPr>
              <a:t>tenho</a:t>
            </a:r>
          </a:p>
          <a:p>
            <a:pPr algn="ctr">
              <a:defRPr/>
            </a:pPr>
            <a:r>
              <a:rPr lang="pt-BR" sz="1800" b="1" dirty="0" smtClean="0">
                <a:solidFill>
                  <a:srgbClr val="3366FF"/>
                </a:solidFill>
                <a:latin typeface="Calibri" pitchFamily="34" charset="0"/>
              </a:rPr>
              <a:t>nada </a:t>
            </a:r>
            <a:r>
              <a:rPr lang="pt-BR" sz="1800" b="1" dirty="0">
                <a:solidFill>
                  <a:srgbClr val="3366FF"/>
                </a:solidFill>
                <a:latin typeface="Calibri" pitchFamily="34" charset="0"/>
              </a:rPr>
              <a:t>com </a:t>
            </a:r>
            <a:r>
              <a:rPr lang="pt-BR" sz="1800" b="1" dirty="0" smtClean="0">
                <a:solidFill>
                  <a:srgbClr val="3366FF"/>
                </a:solidFill>
                <a:latin typeface="Calibri" pitchFamily="34" charset="0"/>
              </a:rPr>
              <a:t>isso.</a:t>
            </a:r>
          </a:p>
          <a:p>
            <a:pPr algn="ctr">
              <a:defRPr/>
            </a:pPr>
            <a:r>
              <a:rPr lang="pt-BR" sz="1800" b="1" dirty="0" smtClean="0">
                <a:solidFill>
                  <a:srgbClr val="3366FF"/>
                </a:solidFill>
                <a:latin typeface="Calibri" pitchFamily="34" charset="0"/>
              </a:rPr>
              <a:t>O </a:t>
            </a:r>
            <a:r>
              <a:rPr lang="pt-BR" sz="1800" b="1" dirty="0">
                <a:solidFill>
                  <a:srgbClr val="3366FF"/>
                </a:solidFill>
                <a:latin typeface="Calibri" pitchFamily="34" charset="0"/>
              </a:rPr>
              <a:t>FURO É DO SEU</a:t>
            </a:r>
          </a:p>
          <a:p>
            <a:pPr algn="ctr">
              <a:defRPr/>
            </a:pPr>
            <a:r>
              <a:rPr lang="pt-BR" sz="1800" b="1" dirty="0">
                <a:solidFill>
                  <a:srgbClr val="3366FF"/>
                </a:solidFill>
                <a:latin typeface="Calibri" pitchFamily="34" charset="0"/>
              </a:rPr>
              <a:t>LADO DO BARCO!</a:t>
            </a:r>
          </a:p>
        </p:txBody>
      </p:sp>
      <p:sp>
        <p:nvSpPr>
          <p:cNvPr id="6" name="Texto explicativo em elipse 5"/>
          <p:cNvSpPr/>
          <p:nvPr/>
        </p:nvSpPr>
        <p:spPr bwMode="auto">
          <a:xfrm>
            <a:off x="1835696" y="1026049"/>
            <a:ext cx="1928812" cy="1428750"/>
          </a:xfrm>
          <a:prstGeom prst="wedgeEllipseCallout">
            <a:avLst>
              <a:gd name="adj1" fmla="val 77945"/>
              <a:gd name="adj2" fmla="val 59476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pt-BR" sz="1800" b="1" dirty="0" smtClean="0">
                <a:solidFill>
                  <a:srgbClr val="3366FF"/>
                </a:solidFill>
                <a:latin typeface="Calibri" pitchFamily="34" charset="0"/>
              </a:rPr>
              <a:t>Me ajuda.</a:t>
            </a:r>
            <a:br>
              <a:rPr lang="pt-BR" sz="1800" b="1" dirty="0" smtClean="0">
                <a:solidFill>
                  <a:srgbClr val="3366FF"/>
                </a:solidFill>
                <a:latin typeface="Calibri" pitchFamily="34" charset="0"/>
              </a:rPr>
            </a:br>
            <a:r>
              <a:rPr lang="pt-BR" sz="1800" b="1" dirty="0" smtClean="0">
                <a:solidFill>
                  <a:srgbClr val="3366FF"/>
                </a:solidFill>
                <a:latin typeface="Calibri" pitchFamily="34" charset="0"/>
              </a:rPr>
              <a:t>Precisamos sair</a:t>
            </a:r>
            <a:br>
              <a:rPr lang="pt-BR" sz="1800" b="1" dirty="0" smtClean="0">
                <a:solidFill>
                  <a:srgbClr val="3366FF"/>
                </a:solidFill>
                <a:latin typeface="Calibri" pitchFamily="34" charset="0"/>
              </a:rPr>
            </a:br>
            <a:r>
              <a:rPr lang="pt-BR" sz="1800" b="1" dirty="0" smtClean="0">
                <a:solidFill>
                  <a:srgbClr val="3366FF"/>
                </a:solidFill>
                <a:latin typeface="Calibri" pitchFamily="34" charset="0"/>
              </a:rPr>
              <a:t>dessa</a:t>
            </a:r>
          </a:p>
          <a:p>
            <a:pPr algn="ctr">
              <a:defRPr/>
            </a:pPr>
            <a:r>
              <a:rPr lang="pt-BR" b="1" dirty="0">
                <a:solidFill>
                  <a:srgbClr val="3366FF"/>
                </a:solidFill>
                <a:latin typeface="Calibri" pitchFamily="34" charset="0"/>
              </a:rPr>
              <a:t>s</a:t>
            </a:r>
            <a:r>
              <a:rPr lang="pt-BR" b="1" dirty="0" smtClean="0">
                <a:solidFill>
                  <a:srgbClr val="3366FF"/>
                </a:solidFill>
                <a:latin typeface="Calibri" pitchFamily="34" charset="0"/>
              </a:rPr>
              <a:t>ituação!</a:t>
            </a:r>
            <a:endParaRPr lang="pt-BR" sz="1800" b="1" dirty="0">
              <a:solidFill>
                <a:srgbClr val="3366FF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32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aixaDeTexto 62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Obrigado!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611560" y="1780456"/>
            <a:ext cx="7920880" cy="2126732"/>
            <a:chOff x="323528" y="2814436"/>
            <a:chExt cx="7920880" cy="2126732"/>
          </a:xfrm>
        </p:grpSpPr>
        <p:grpSp>
          <p:nvGrpSpPr>
            <p:cNvPr id="8" name="Grupo 7"/>
            <p:cNvGrpSpPr/>
            <p:nvPr/>
          </p:nvGrpSpPr>
          <p:grpSpPr>
            <a:xfrm>
              <a:off x="1882861" y="2814436"/>
              <a:ext cx="4802215" cy="1622675"/>
              <a:chOff x="1763688" y="2814436"/>
              <a:chExt cx="4802215" cy="1622675"/>
            </a:xfrm>
          </p:grpSpPr>
          <p:pic>
            <p:nvPicPr>
              <p:cNvPr id="13" name="Picture 15" descr="NAT_marca_laranja_natura-01.png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63688" y="3369329"/>
                <a:ext cx="754773" cy="6889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" name="Imagem 13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42765" y="2814436"/>
                <a:ext cx="3723138" cy="1622675"/>
              </a:xfrm>
              <a:prstGeom prst="rect">
                <a:avLst/>
              </a:prstGeom>
            </p:spPr>
          </p:pic>
        </p:grpSp>
        <p:grpSp>
          <p:nvGrpSpPr>
            <p:cNvPr id="9" name="Grupo 8"/>
            <p:cNvGrpSpPr/>
            <p:nvPr/>
          </p:nvGrpSpPr>
          <p:grpSpPr>
            <a:xfrm>
              <a:off x="323528" y="4473116"/>
              <a:ext cx="7920880" cy="468052"/>
              <a:chOff x="323528" y="4473116"/>
              <a:chExt cx="7920880" cy="468052"/>
            </a:xfrm>
          </p:grpSpPr>
          <p:sp>
            <p:nvSpPr>
              <p:cNvPr id="10" name="Retângulo 9"/>
              <p:cNvSpPr/>
              <p:nvPr/>
            </p:nvSpPr>
            <p:spPr>
              <a:xfrm>
                <a:off x="2627784" y="4473116"/>
                <a:ext cx="2217275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2400" b="1" spc="50" dirty="0" smtClean="0">
                    <a:ln w="12700" cmpd="sng">
                      <a:solidFill>
                        <a:srgbClr val="7030A0"/>
                      </a:solidFill>
                      <a:prstDash val="solid"/>
                    </a:ln>
                    <a:solidFill>
                      <a:srgbClr val="7030A0"/>
                    </a:solidFill>
                    <a:effectLst>
                      <a:glow rad="53100">
                        <a:schemeClr val="bg1">
                          <a:alpha val="30000"/>
                        </a:schemeClr>
                      </a:glow>
                    </a:effectLst>
                  </a:rPr>
                  <a:t>#pegaprasi</a:t>
                </a:r>
                <a:endParaRPr lang="pt-BR" sz="2400" b="1" cap="none" spc="50" dirty="0">
                  <a:ln w="12700" cmpd="sng">
                    <a:solidFill>
                      <a:srgbClr val="7030A0"/>
                    </a:solidFill>
                    <a:prstDash val="solid"/>
                  </a:ln>
                  <a:solidFill>
                    <a:srgbClr val="7030A0"/>
                  </a:solidFill>
                  <a:effectLst>
                    <a:glow rad="53100">
                      <a:schemeClr val="bg1">
                        <a:alpha val="30000"/>
                      </a:schemeClr>
                    </a:glow>
                  </a:effectLst>
                </a:endParaRPr>
              </a:p>
            </p:txBody>
          </p:sp>
          <p:sp>
            <p:nvSpPr>
              <p:cNvPr id="11" name="Retângulo 10"/>
              <p:cNvSpPr/>
              <p:nvPr/>
            </p:nvSpPr>
            <p:spPr>
              <a:xfrm>
                <a:off x="323528" y="4473116"/>
                <a:ext cx="2311851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2400" b="1" spc="50" dirty="0" smtClean="0">
                    <a:ln w="12700" cmpd="sng">
                      <a:solidFill>
                        <a:srgbClr val="FFC000"/>
                      </a:solidFill>
                      <a:prstDash val="solid"/>
                    </a:ln>
                    <a:solidFill>
                      <a:srgbClr val="FFC000"/>
                    </a:solidFill>
                    <a:effectLst>
                      <a:glow rad="53100">
                        <a:schemeClr val="bg1">
                          <a:alpha val="30000"/>
                        </a:schemeClr>
                      </a:glow>
                    </a:effectLst>
                  </a:rPr>
                  <a:t>#tamojunto</a:t>
                </a:r>
                <a:endParaRPr lang="pt-BR" sz="2400" b="1" cap="none" spc="50" dirty="0">
                  <a:ln w="12700" cmpd="sng">
                    <a:solidFill>
                      <a:srgbClr val="FFC000"/>
                    </a:solidFill>
                    <a:prstDash val="solid"/>
                  </a:ln>
                  <a:solidFill>
                    <a:srgbClr val="FFC000"/>
                  </a:solidFill>
                  <a:effectLst>
                    <a:glow rad="53100">
                      <a:schemeClr val="bg1">
                        <a:alpha val="30000"/>
                      </a:schemeClr>
                    </a:glow>
                  </a:effectLst>
                </a:endParaRPr>
              </a:p>
            </p:txBody>
          </p:sp>
          <p:sp>
            <p:nvSpPr>
              <p:cNvPr id="12" name="Retângulo 11"/>
              <p:cNvSpPr/>
              <p:nvPr/>
            </p:nvSpPr>
            <p:spPr>
              <a:xfrm>
                <a:off x="4887399" y="4479503"/>
                <a:ext cx="3357009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2400" b="1" spc="50" dirty="0" smtClean="0">
                    <a:ln w="12700" cmpd="sng">
                      <a:solidFill>
                        <a:srgbClr val="92D050"/>
                      </a:solidFill>
                      <a:prstDash val="solid"/>
                    </a:ln>
                    <a:solidFill>
                      <a:srgbClr val="92D050"/>
                    </a:solidFill>
                    <a:effectLst>
                      <a:glow rad="53100">
                        <a:schemeClr val="bg1">
                          <a:alpha val="30000"/>
                        </a:schemeClr>
                      </a:glow>
                    </a:effectLst>
                  </a:rPr>
                  <a:t>#foconoresultado</a:t>
                </a:r>
                <a:endParaRPr lang="pt-BR" sz="2400" b="1" cap="none" spc="50" dirty="0">
                  <a:ln w="12700" cmpd="sng">
                    <a:solidFill>
                      <a:srgbClr val="92D050"/>
                    </a:solidFill>
                    <a:prstDash val="solid"/>
                  </a:ln>
                  <a:solidFill>
                    <a:srgbClr val="92D050"/>
                  </a:solidFill>
                  <a:effectLst>
                    <a:glow rad="53100">
                      <a:schemeClr val="bg1">
                        <a:alpha val="30000"/>
                      </a:schemeClr>
                    </a:glo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0866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Freeform 3"/>
          <p:cNvSpPr>
            <a:spLocks/>
          </p:cNvSpPr>
          <p:nvPr>
            <p:custDataLst>
              <p:tags r:id="rId1"/>
            </p:custDataLst>
          </p:nvPr>
        </p:nvSpPr>
        <p:spPr bwMode="gray">
          <a:xfrm>
            <a:off x="1065216" y="1805545"/>
            <a:ext cx="1704975" cy="2804788"/>
          </a:xfrm>
          <a:custGeom>
            <a:avLst/>
            <a:gdLst/>
            <a:ahLst/>
            <a:cxnLst>
              <a:cxn ang="0">
                <a:pos x="111" y="296"/>
              </a:cxn>
              <a:cxn ang="0">
                <a:pos x="113" y="295"/>
              </a:cxn>
              <a:cxn ang="0">
                <a:pos x="141" y="289"/>
              </a:cxn>
              <a:cxn ang="0">
                <a:pos x="46" y="95"/>
              </a:cxn>
              <a:cxn ang="0">
                <a:pos x="56" y="26"/>
              </a:cxn>
              <a:cxn ang="0">
                <a:pos x="40" y="0"/>
              </a:cxn>
              <a:cxn ang="0">
                <a:pos x="12" y="12"/>
              </a:cxn>
              <a:cxn ang="0">
                <a:pos x="0" y="95"/>
              </a:cxn>
              <a:cxn ang="0">
                <a:pos x="114" y="326"/>
              </a:cxn>
              <a:cxn ang="0">
                <a:pos x="111" y="298"/>
              </a:cxn>
              <a:cxn ang="0">
                <a:pos x="111" y="296"/>
              </a:cxn>
            </a:cxnLst>
            <a:rect l="0" t="0" r="r" b="b"/>
            <a:pathLst>
              <a:path w="141" h="326">
                <a:moveTo>
                  <a:pt x="111" y="296"/>
                </a:moveTo>
                <a:cubicBezTo>
                  <a:pt x="113" y="295"/>
                  <a:pt x="113" y="295"/>
                  <a:pt x="113" y="295"/>
                </a:cubicBezTo>
                <a:cubicBezTo>
                  <a:pt x="141" y="289"/>
                  <a:pt x="141" y="289"/>
                  <a:pt x="141" y="289"/>
                </a:cubicBezTo>
                <a:cubicBezTo>
                  <a:pt x="83" y="244"/>
                  <a:pt x="46" y="174"/>
                  <a:pt x="46" y="95"/>
                </a:cubicBezTo>
                <a:cubicBezTo>
                  <a:pt x="46" y="71"/>
                  <a:pt x="49" y="48"/>
                  <a:pt x="56" y="26"/>
                </a:cubicBezTo>
                <a:cubicBezTo>
                  <a:pt x="40" y="0"/>
                  <a:pt x="40" y="0"/>
                  <a:pt x="40" y="0"/>
                </a:cubicBezTo>
                <a:cubicBezTo>
                  <a:pt x="12" y="12"/>
                  <a:pt x="12" y="12"/>
                  <a:pt x="12" y="12"/>
                </a:cubicBezTo>
                <a:cubicBezTo>
                  <a:pt x="4" y="39"/>
                  <a:pt x="0" y="66"/>
                  <a:pt x="0" y="95"/>
                </a:cubicBezTo>
                <a:cubicBezTo>
                  <a:pt x="0" y="189"/>
                  <a:pt x="45" y="273"/>
                  <a:pt x="114" y="326"/>
                </a:cubicBezTo>
                <a:cubicBezTo>
                  <a:pt x="111" y="298"/>
                  <a:pt x="111" y="298"/>
                  <a:pt x="111" y="298"/>
                </a:cubicBezTo>
                <a:lnTo>
                  <a:pt x="111" y="296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eaLnBrk="0" hangingPunct="0">
              <a:defRPr/>
            </a:pPr>
            <a:endParaRPr lang="pt-BR">
              <a:latin typeface="Arial" charset="0"/>
              <a:cs typeface="Arial" charset="0"/>
            </a:endParaRPr>
          </a:p>
        </p:txBody>
      </p:sp>
      <p:sp>
        <p:nvSpPr>
          <p:cNvPr id="12292" name="Freeform 4"/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4643441" y="107191"/>
            <a:ext cx="3227387" cy="1888914"/>
          </a:xfrm>
          <a:custGeom>
            <a:avLst/>
            <a:gdLst/>
            <a:ahLst/>
            <a:cxnLst>
              <a:cxn ang="0">
                <a:pos x="21" y="23"/>
              </a:cxn>
              <a:cxn ang="0">
                <a:pos x="19" y="25"/>
              </a:cxn>
              <a:cxn ang="0">
                <a:pos x="1" y="46"/>
              </a:cxn>
              <a:cxn ang="0">
                <a:pos x="224" y="208"/>
              </a:cxn>
              <a:cxn ang="0">
                <a:pos x="252" y="220"/>
              </a:cxn>
              <a:cxn ang="0">
                <a:pos x="268" y="194"/>
              </a:cxn>
              <a:cxn ang="0">
                <a:pos x="0" y="0"/>
              </a:cxn>
              <a:cxn ang="0">
                <a:pos x="19" y="21"/>
              </a:cxn>
              <a:cxn ang="0">
                <a:pos x="21" y="23"/>
              </a:cxn>
            </a:cxnLst>
            <a:rect l="0" t="0" r="r" b="b"/>
            <a:pathLst>
              <a:path w="268" h="220">
                <a:moveTo>
                  <a:pt x="21" y="23"/>
                </a:moveTo>
                <a:cubicBezTo>
                  <a:pt x="19" y="25"/>
                  <a:pt x="19" y="25"/>
                  <a:pt x="19" y="25"/>
                </a:cubicBezTo>
                <a:cubicBezTo>
                  <a:pt x="1" y="46"/>
                  <a:pt x="1" y="46"/>
                  <a:pt x="1" y="46"/>
                </a:cubicBezTo>
                <a:cubicBezTo>
                  <a:pt x="104" y="50"/>
                  <a:pt x="190" y="116"/>
                  <a:pt x="224" y="208"/>
                </a:cubicBezTo>
                <a:cubicBezTo>
                  <a:pt x="252" y="220"/>
                  <a:pt x="252" y="220"/>
                  <a:pt x="252" y="220"/>
                </a:cubicBezTo>
                <a:cubicBezTo>
                  <a:pt x="268" y="194"/>
                  <a:pt x="268" y="194"/>
                  <a:pt x="268" y="194"/>
                </a:cubicBezTo>
                <a:cubicBezTo>
                  <a:pt x="228" y="83"/>
                  <a:pt x="124" y="4"/>
                  <a:pt x="0" y="0"/>
                </a:cubicBezTo>
                <a:cubicBezTo>
                  <a:pt x="19" y="21"/>
                  <a:pt x="19" y="21"/>
                  <a:pt x="19" y="21"/>
                </a:cubicBezTo>
                <a:lnTo>
                  <a:pt x="21" y="2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eaLnBrk="0" hangingPunct="0">
              <a:defRPr/>
            </a:pPr>
            <a:endParaRPr lang="pt-BR">
              <a:latin typeface="Arial" charset="0"/>
              <a:cs typeface="Arial" charset="0"/>
            </a:endParaRPr>
          </a:p>
        </p:txBody>
      </p:sp>
      <p:sp>
        <p:nvSpPr>
          <p:cNvPr id="12293" name="Freeform 5"/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260478" y="107189"/>
            <a:ext cx="3440113" cy="1787680"/>
          </a:xfrm>
          <a:custGeom>
            <a:avLst/>
            <a:gdLst/>
            <a:ahLst/>
            <a:cxnLst>
              <a:cxn ang="0">
                <a:pos x="29" y="181"/>
              </a:cxn>
              <a:cxn ang="0">
                <a:pos x="30" y="184"/>
              </a:cxn>
              <a:cxn ang="0">
                <a:pos x="44" y="208"/>
              </a:cxn>
              <a:cxn ang="0">
                <a:pos x="267" y="46"/>
              </a:cxn>
              <a:cxn ang="0">
                <a:pos x="287" y="23"/>
              </a:cxn>
              <a:cxn ang="0">
                <a:pos x="267" y="0"/>
              </a:cxn>
              <a:cxn ang="0">
                <a:pos x="0" y="194"/>
              </a:cxn>
              <a:cxn ang="0">
                <a:pos x="26" y="183"/>
              </a:cxn>
              <a:cxn ang="0">
                <a:pos x="29" y="181"/>
              </a:cxn>
            </a:cxnLst>
            <a:rect l="0" t="0" r="r" b="b"/>
            <a:pathLst>
              <a:path w="287" h="208">
                <a:moveTo>
                  <a:pt x="29" y="181"/>
                </a:moveTo>
                <a:cubicBezTo>
                  <a:pt x="30" y="184"/>
                  <a:pt x="30" y="184"/>
                  <a:pt x="30" y="184"/>
                </a:cubicBezTo>
                <a:cubicBezTo>
                  <a:pt x="44" y="208"/>
                  <a:pt x="44" y="208"/>
                  <a:pt x="44" y="208"/>
                </a:cubicBezTo>
                <a:cubicBezTo>
                  <a:pt x="78" y="116"/>
                  <a:pt x="165" y="50"/>
                  <a:pt x="267" y="46"/>
                </a:cubicBezTo>
                <a:cubicBezTo>
                  <a:pt x="287" y="23"/>
                  <a:pt x="287" y="23"/>
                  <a:pt x="287" y="23"/>
                </a:cubicBezTo>
                <a:cubicBezTo>
                  <a:pt x="267" y="0"/>
                  <a:pt x="267" y="0"/>
                  <a:pt x="267" y="0"/>
                </a:cubicBezTo>
                <a:cubicBezTo>
                  <a:pt x="144" y="4"/>
                  <a:pt x="40" y="83"/>
                  <a:pt x="0" y="194"/>
                </a:cubicBezTo>
                <a:cubicBezTo>
                  <a:pt x="26" y="183"/>
                  <a:pt x="26" y="183"/>
                  <a:pt x="26" y="183"/>
                </a:cubicBezTo>
                <a:lnTo>
                  <a:pt x="29" y="181"/>
                </a:lnTo>
                <a:close/>
              </a:path>
            </a:pathLst>
          </a:cu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eaLnBrk="0" hangingPunct="0">
              <a:defRPr/>
            </a:pPr>
            <a:endParaRPr lang="pt-BR">
              <a:latin typeface="Arial" charset="0"/>
              <a:cs typeface="Arial" charset="0"/>
            </a:endParaRPr>
          </a:p>
        </p:txBody>
      </p:sp>
      <p:sp>
        <p:nvSpPr>
          <p:cNvPr id="12294" name="Freeform 6"/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2555875" y="4375708"/>
            <a:ext cx="3994150" cy="769381"/>
          </a:xfrm>
          <a:custGeom>
            <a:avLst/>
            <a:gdLst/>
            <a:ahLst/>
            <a:cxnLst>
              <a:cxn ang="0">
                <a:pos x="303" y="31"/>
              </a:cxn>
              <a:cxn ang="0">
                <a:pos x="303" y="28"/>
              </a:cxn>
              <a:cxn ang="0">
                <a:pos x="306" y="0"/>
              </a:cxn>
              <a:cxn ang="0">
                <a:pos x="168" y="43"/>
              </a:cxn>
              <a:cxn ang="0">
                <a:pos x="30" y="0"/>
              </a:cxn>
              <a:cxn ang="0">
                <a:pos x="0" y="7"/>
              </a:cxn>
              <a:cxn ang="0">
                <a:pos x="3" y="38"/>
              </a:cxn>
              <a:cxn ang="0">
                <a:pos x="168" y="89"/>
              </a:cxn>
              <a:cxn ang="0">
                <a:pos x="333" y="38"/>
              </a:cxn>
              <a:cxn ang="0">
                <a:pos x="306" y="32"/>
              </a:cxn>
              <a:cxn ang="0">
                <a:pos x="303" y="31"/>
              </a:cxn>
            </a:cxnLst>
            <a:rect l="0" t="0" r="r" b="b"/>
            <a:pathLst>
              <a:path w="333" h="89">
                <a:moveTo>
                  <a:pt x="303" y="31"/>
                </a:moveTo>
                <a:cubicBezTo>
                  <a:pt x="303" y="28"/>
                  <a:pt x="303" y="28"/>
                  <a:pt x="303" y="28"/>
                </a:cubicBezTo>
                <a:cubicBezTo>
                  <a:pt x="306" y="0"/>
                  <a:pt x="306" y="0"/>
                  <a:pt x="306" y="0"/>
                </a:cubicBezTo>
                <a:cubicBezTo>
                  <a:pt x="266" y="27"/>
                  <a:pt x="219" y="43"/>
                  <a:pt x="168" y="43"/>
                </a:cubicBezTo>
                <a:cubicBezTo>
                  <a:pt x="117" y="43"/>
                  <a:pt x="69" y="27"/>
                  <a:pt x="30" y="0"/>
                </a:cubicBezTo>
                <a:cubicBezTo>
                  <a:pt x="0" y="7"/>
                  <a:pt x="0" y="7"/>
                  <a:pt x="0" y="7"/>
                </a:cubicBezTo>
                <a:cubicBezTo>
                  <a:pt x="3" y="38"/>
                  <a:pt x="3" y="38"/>
                  <a:pt x="3" y="38"/>
                </a:cubicBezTo>
                <a:cubicBezTo>
                  <a:pt x="50" y="70"/>
                  <a:pt x="107" y="89"/>
                  <a:pt x="168" y="89"/>
                </a:cubicBezTo>
                <a:cubicBezTo>
                  <a:pt x="229" y="89"/>
                  <a:pt x="286" y="70"/>
                  <a:pt x="333" y="38"/>
                </a:cubicBezTo>
                <a:cubicBezTo>
                  <a:pt x="306" y="32"/>
                  <a:pt x="306" y="32"/>
                  <a:pt x="306" y="32"/>
                </a:cubicBezTo>
                <a:lnTo>
                  <a:pt x="303" y="31"/>
                </a:lnTo>
                <a:close/>
              </a:path>
            </a:pathLst>
          </a:cu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eaLnBrk="0" hangingPunct="0">
              <a:defRPr/>
            </a:pPr>
            <a:endParaRPr lang="pt-BR">
              <a:latin typeface="Arial" charset="0"/>
              <a:cs typeface="Arial" charset="0"/>
            </a:endParaRPr>
          </a:p>
        </p:txBody>
      </p:sp>
      <p:sp>
        <p:nvSpPr>
          <p:cNvPr id="12295" name="Freeform 7"/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6335716" y="1918691"/>
            <a:ext cx="1735137" cy="2698789"/>
          </a:xfrm>
          <a:custGeom>
            <a:avLst/>
            <a:gdLst/>
            <a:ahLst/>
            <a:cxnLst>
              <a:cxn ang="0">
                <a:pos x="144" y="82"/>
              </a:cxn>
              <a:cxn ang="0">
                <a:pos x="132" y="0"/>
              </a:cxn>
              <a:cxn ang="0">
                <a:pos x="118" y="24"/>
              </a:cxn>
              <a:cxn ang="0">
                <a:pos x="116" y="26"/>
              </a:cxn>
              <a:cxn ang="0">
                <a:pos x="114" y="25"/>
              </a:cxn>
              <a:cxn ang="0">
                <a:pos x="88" y="14"/>
              </a:cxn>
              <a:cxn ang="0">
                <a:pos x="98" y="82"/>
              </a:cxn>
              <a:cxn ang="0">
                <a:pos x="3" y="276"/>
              </a:cxn>
              <a:cxn ang="0">
                <a:pos x="0" y="307"/>
              </a:cxn>
              <a:cxn ang="0">
                <a:pos x="30" y="314"/>
              </a:cxn>
              <a:cxn ang="0">
                <a:pos x="144" y="82"/>
              </a:cxn>
            </a:cxnLst>
            <a:rect l="0" t="0" r="r" b="b"/>
            <a:pathLst>
              <a:path w="144" h="314">
                <a:moveTo>
                  <a:pt x="144" y="82"/>
                </a:moveTo>
                <a:cubicBezTo>
                  <a:pt x="144" y="53"/>
                  <a:pt x="140" y="26"/>
                  <a:pt x="132" y="0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6" y="26"/>
                  <a:pt x="116" y="26"/>
                  <a:pt x="116" y="26"/>
                </a:cubicBezTo>
                <a:cubicBezTo>
                  <a:pt x="114" y="25"/>
                  <a:pt x="114" y="25"/>
                  <a:pt x="114" y="25"/>
                </a:cubicBezTo>
                <a:cubicBezTo>
                  <a:pt x="88" y="14"/>
                  <a:pt x="88" y="14"/>
                  <a:pt x="88" y="14"/>
                </a:cubicBezTo>
                <a:cubicBezTo>
                  <a:pt x="94" y="35"/>
                  <a:pt x="98" y="58"/>
                  <a:pt x="98" y="82"/>
                </a:cubicBezTo>
                <a:cubicBezTo>
                  <a:pt x="98" y="161"/>
                  <a:pt x="61" y="231"/>
                  <a:pt x="3" y="276"/>
                </a:cubicBezTo>
                <a:cubicBezTo>
                  <a:pt x="0" y="307"/>
                  <a:pt x="0" y="307"/>
                  <a:pt x="0" y="307"/>
                </a:cubicBezTo>
                <a:cubicBezTo>
                  <a:pt x="30" y="314"/>
                  <a:pt x="30" y="314"/>
                  <a:pt x="30" y="314"/>
                </a:cubicBezTo>
                <a:cubicBezTo>
                  <a:pt x="99" y="260"/>
                  <a:pt x="144" y="176"/>
                  <a:pt x="144" y="82"/>
                </a:cubicBezTo>
                <a:close/>
              </a:path>
            </a:pathLst>
          </a:custGeom>
          <a:solidFill>
            <a:srgbClr val="0070C0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/>
          <a:p>
            <a:pPr eaLnBrk="0" hangingPunct="0">
              <a:defRPr/>
            </a:pPr>
            <a:endParaRPr lang="pt-BR">
              <a:latin typeface="Arial" charset="0"/>
              <a:cs typeface="Arial" charset="0"/>
            </a:endParaRPr>
          </a:p>
        </p:txBody>
      </p:sp>
      <p:sp>
        <p:nvSpPr>
          <p:cNvPr id="6151" name="Line 8"/>
          <p:cNvSpPr>
            <a:spLocks noChangeShapeType="1"/>
          </p:cNvSpPr>
          <p:nvPr/>
        </p:nvSpPr>
        <p:spPr bwMode="auto">
          <a:xfrm>
            <a:off x="4500563" y="1600694"/>
            <a:ext cx="0" cy="647900"/>
          </a:xfrm>
          <a:prstGeom prst="line">
            <a:avLst/>
          </a:prstGeom>
          <a:noFill/>
          <a:ln w="28575">
            <a:solidFill>
              <a:schemeClr val="tx2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152" name="Line 9"/>
          <p:cNvSpPr>
            <a:spLocks noChangeShapeType="1"/>
          </p:cNvSpPr>
          <p:nvPr/>
        </p:nvSpPr>
        <p:spPr bwMode="auto">
          <a:xfrm>
            <a:off x="4498185" y="2798253"/>
            <a:ext cx="0" cy="550528"/>
          </a:xfrm>
          <a:prstGeom prst="line">
            <a:avLst/>
          </a:prstGeom>
          <a:noFill/>
          <a:ln w="28575">
            <a:solidFill>
              <a:schemeClr val="tx2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2297" name="Rectangle 10"/>
          <p:cNvSpPr>
            <a:spLocks noChangeArrowheads="1"/>
          </p:cNvSpPr>
          <p:nvPr/>
        </p:nvSpPr>
        <p:spPr bwMode="auto">
          <a:xfrm>
            <a:off x="4093650" y="2030644"/>
            <a:ext cx="80906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ctr" eaLnBrk="0" hangingPunct="0"/>
            <a:r>
              <a:rPr lang="pt-BR" sz="1200" b="1" smtClean="0">
                <a:solidFill>
                  <a:schemeClr val="bg1"/>
                </a:solidFill>
              </a:rPr>
              <a:t>Team Leader</a:t>
            </a:r>
            <a:endParaRPr lang="pt-BR" sz="1200" b="1">
              <a:solidFill>
                <a:schemeClr val="bg1"/>
              </a:solidFill>
            </a:endParaRPr>
          </a:p>
        </p:txBody>
      </p:sp>
      <p:sp>
        <p:nvSpPr>
          <p:cNvPr id="6154" name="Line 13"/>
          <p:cNvSpPr>
            <a:spLocks noChangeShapeType="1"/>
          </p:cNvSpPr>
          <p:nvPr/>
        </p:nvSpPr>
        <p:spPr bwMode="auto">
          <a:xfrm flipV="1">
            <a:off x="2843733" y="2761318"/>
            <a:ext cx="936106" cy="1432166"/>
          </a:xfrm>
          <a:prstGeom prst="line">
            <a:avLst/>
          </a:prstGeom>
          <a:noFill/>
          <a:ln w="9525">
            <a:solidFill>
              <a:schemeClr val="tx2">
                <a:lumMod val="75000"/>
              </a:schemeClr>
            </a:solidFill>
            <a:prstDash val="dash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155" name="Line 14"/>
          <p:cNvSpPr>
            <a:spLocks noChangeShapeType="1"/>
          </p:cNvSpPr>
          <p:nvPr/>
        </p:nvSpPr>
        <p:spPr bwMode="auto">
          <a:xfrm>
            <a:off x="3347864" y="2177762"/>
            <a:ext cx="431974" cy="394783"/>
          </a:xfrm>
          <a:prstGeom prst="line">
            <a:avLst/>
          </a:prstGeom>
          <a:noFill/>
          <a:ln w="28575">
            <a:solidFill>
              <a:schemeClr val="tx2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2303" name="Rectangle 15"/>
          <p:cNvSpPr>
            <a:spLocks noChangeArrowheads="1"/>
          </p:cNvSpPr>
          <p:nvPr/>
        </p:nvSpPr>
        <p:spPr bwMode="auto">
          <a:xfrm>
            <a:off x="1249415" y="3976725"/>
            <a:ext cx="1656658" cy="377545"/>
          </a:xfrm>
          <a:prstGeom prst="rect">
            <a:avLst/>
          </a:prstGeom>
          <a:solidFill>
            <a:srgbClr val="0070C0"/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eaLnBrk="0" hangingPunct="0">
              <a:defRPr/>
            </a:pPr>
            <a:r>
              <a:rPr lang="pt-BR" sz="1400" b="1" i="1" dirty="0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  <a:cs typeface="+mn-cs"/>
              </a:rPr>
              <a:t>QA </a:t>
            </a:r>
            <a:endParaRPr lang="pt-BR" sz="600" b="1" dirty="0">
              <a:solidFill>
                <a:schemeClr val="bg1"/>
              </a:solidFill>
              <a:latin typeface="Arial" charset="0"/>
              <a:ea typeface="ヒラギノ角ゴ Pro W3" pitchFamily="1" charset="-128"/>
              <a:cs typeface="+mn-cs"/>
            </a:endParaRPr>
          </a:p>
        </p:txBody>
      </p:sp>
      <p:sp>
        <p:nvSpPr>
          <p:cNvPr id="12304" name="Rectangle 16"/>
          <p:cNvSpPr>
            <a:spLocks noChangeArrowheads="1"/>
          </p:cNvSpPr>
          <p:nvPr/>
        </p:nvSpPr>
        <p:spPr bwMode="auto">
          <a:xfrm>
            <a:off x="1248324" y="4375708"/>
            <a:ext cx="1655067" cy="594305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2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eaLnBrk="0" hangingPunct="0">
              <a:defRPr/>
            </a:pPr>
            <a:r>
              <a:rPr lang="pt-BR" sz="900" i="1" dirty="0" err="1" smtClean="0">
                <a:latin typeface="Arial" charset="0"/>
                <a:cs typeface="Arial" charset="0"/>
              </a:rPr>
              <a:t>Antonio</a:t>
            </a:r>
            <a:r>
              <a:rPr lang="pt-BR" sz="900" i="1" dirty="0" smtClean="0">
                <a:latin typeface="Arial" charset="0"/>
                <a:cs typeface="Arial" charset="0"/>
              </a:rPr>
              <a:t> Rodrigues - </a:t>
            </a:r>
          </a:p>
          <a:p>
            <a:pPr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Consultor externo</a:t>
            </a:r>
          </a:p>
          <a:p>
            <a:pPr eaLnBrk="0" hangingPunct="0">
              <a:defRPr/>
            </a:pPr>
            <a:endParaRPr lang="pt-BR" sz="900" i="1" dirty="0" smtClean="0">
              <a:latin typeface="Arial" charset="0"/>
              <a:cs typeface="Arial" charset="0"/>
            </a:endParaRPr>
          </a:p>
          <a:p>
            <a:pPr eaLnBrk="0" hangingPunct="0">
              <a:defRPr/>
            </a:pPr>
            <a:endParaRPr lang="pt-BR" sz="900" i="1" dirty="0">
              <a:latin typeface="Arial" charset="0"/>
              <a:cs typeface="Arial" charset="0"/>
            </a:endParaRPr>
          </a:p>
        </p:txBody>
      </p:sp>
      <p:sp>
        <p:nvSpPr>
          <p:cNvPr id="12305" name="Rectangle 17"/>
          <p:cNvSpPr>
            <a:spLocks noChangeArrowheads="1"/>
          </p:cNvSpPr>
          <p:nvPr/>
        </p:nvSpPr>
        <p:spPr bwMode="auto">
          <a:xfrm>
            <a:off x="3779841" y="1869860"/>
            <a:ext cx="1584325" cy="540711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eaLnBrk="0" hangingPunct="0">
              <a:defRPr/>
            </a:pPr>
            <a:r>
              <a:rPr lang="pt-BR" sz="1400" b="1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Project Manager </a:t>
            </a:r>
            <a:r>
              <a:rPr lang="pt-BR" sz="600" b="1" smtClean="0">
                <a:solidFill>
                  <a:schemeClr val="bg1"/>
                </a:solidFill>
                <a:latin typeface="Arial" charset="0"/>
                <a:cs typeface="Arial" charset="0"/>
              </a:rPr>
              <a:t>Criação de plano de trabalho, controle e verificação de escopo e gestão do progresso  e entrega do projeto</a:t>
            </a:r>
            <a:endParaRPr lang="pt-BR" sz="600" b="1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12306" name="Rectangle 18"/>
          <p:cNvSpPr>
            <a:spLocks noChangeArrowheads="1"/>
          </p:cNvSpPr>
          <p:nvPr/>
        </p:nvSpPr>
        <p:spPr bwMode="auto">
          <a:xfrm>
            <a:off x="3779838" y="2421305"/>
            <a:ext cx="1582737" cy="515982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2">
                <a:lumMod val="50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0"/>
          <a:lstStyle/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Marcus Marques – Natura</a:t>
            </a:r>
          </a:p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Adolpho Chacon - Consultoria</a:t>
            </a:r>
            <a:endParaRPr lang="pt-BR" sz="900" i="1" dirty="0">
              <a:latin typeface="Arial" charset="0"/>
              <a:cs typeface="Arial" charset="0"/>
            </a:endParaRPr>
          </a:p>
        </p:txBody>
      </p:sp>
      <p:sp>
        <p:nvSpPr>
          <p:cNvPr id="12309" name="Rectangle 21"/>
          <p:cNvSpPr>
            <a:spLocks noChangeArrowheads="1"/>
          </p:cNvSpPr>
          <p:nvPr/>
        </p:nvSpPr>
        <p:spPr bwMode="auto">
          <a:xfrm>
            <a:off x="7199316" y="8337"/>
            <a:ext cx="1584325" cy="559767"/>
          </a:xfrm>
          <a:prstGeom prst="rect">
            <a:avLst/>
          </a:prstGeom>
          <a:solidFill>
            <a:schemeClr val="tx2">
              <a:lumMod val="50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eaLnBrk="0" hangingPunct="0">
              <a:defRPr/>
            </a:pPr>
            <a:r>
              <a:rPr lang="pt-BR" sz="1400" b="1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Sponsors</a:t>
            </a:r>
            <a:endParaRPr lang="pt-BR" sz="1400" b="1"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12310" name="Rectangle 22"/>
          <p:cNvSpPr>
            <a:spLocks noChangeArrowheads="1"/>
          </p:cNvSpPr>
          <p:nvPr/>
        </p:nvSpPr>
        <p:spPr bwMode="auto">
          <a:xfrm>
            <a:off x="7221541" y="639563"/>
            <a:ext cx="1582737" cy="412085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2">
                <a:lumMod val="50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Agenor Leão</a:t>
            </a:r>
          </a:p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Henrique Gherardi Júnior</a:t>
            </a:r>
          </a:p>
          <a:p>
            <a:pPr algn="ctr" eaLnBrk="0" hangingPunct="0">
              <a:defRPr/>
            </a:pPr>
            <a:endParaRPr lang="pt-BR" sz="900" i="1" dirty="0">
              <a:solidFill>
                <a:schemeClr val="bg2"/>
              </a:solidFill>
              <a:latin typeface="Arial" charset="0"/>
              <a:cs typeface="Arial" charset="0"/>
            </a:endParaRPr>
          </a:p>
        </p:txBody>
      </p:sp>
      <p:sp>
        <p:nvSpPr>
          <p:cNvPr id="12311" name="Rectangle 23"/>
          <p:cNvSpPr>
            <a:spLocks noChangeArrowheads="1"/>
          </p:cNvSpPr>
          <p:nvPr/>
        </p:nvSpPr>
        <p:spPr bwMode="auto">
          <a:xfrm>
            <a:off x="3708400" y="695105"/>
            <a:ext cx="1582738" cy="21676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pt-BR" sz="1400" b="1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D. Aplicação</a:t>
            </a:r>
            <a:endParaRPr lang="pt-BR" sz="1400" b="1">
              <a:solidFill>
                <a:schemeClr val="bg1"/>
              </a:solidFill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12312" name="Rectangle 24"/>
          <p:cNvSpPr>
            <a:spLocks noChangeArrowheads="1"/>
          </p:cNvSpPr>
          <p:nvPr/>
        </p:nvSpPr>
        <p:spPr bwMode="auto">
          <a:xfrm>
            <a:off x="3779837" y="3650393"/>
            <a:ext cx="1582738" cy="959940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Gilson </a:t>
            </a:r>
            <a:r>
              <a:rPr lang="pt-BR" sz="900" i="1" dirty="0" err="1" smtClean="0">
                <a:latin typeface="Arial" charset="0"/>
                <a:cs typeface="Arial" charset="0"/>
              </a:rPr>
              <a:t>Manfio</a:t>
            </a:r>
            <a:endParaRPr lang="pt-BR" sz="900" i="1" dirty="0" smtClean="0">
              <a:latin typeface="Arial" charset="0"/>
              <a:cs typeface="Arial" charset="0"/>
            </a:endParaRP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Sílvio Almeida</a:t>
            </a: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Thalita </a:t>
            </a:r>
            <a:r>
              <a:rPr lang="pt-BR" sz="900" i="1" dirty="0" err="1" smtClean="0">
                <a:latin typeface="Arial" charset="0"/>
                <a:cs typeface="Arial" charset="0"/>
              </a:rPr>
              <a:t>Begliomini</a:t>
            </a:r>
            <a:endParaRPr lang="pt-BR" sz="900" i="1" dirty="0" smtClean="0">
              <a:latin typeface="Arial" charset="0"/>
              <a:cs typeface="Arial" charset="0"/>
            </a:endParaRP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Fernanda Cipriano</a:t>
            </a: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Eduardo </a:t>
            </a:r>
            <a:r>
              <a:rPr lang="pt-BR" sz="900" i="1" dirty="0" err="1" smtClean="0">
                <a:latin typeface="Arial" charset="0"/>
                <a:cs typeface="Arial" charset="0"/>
              </a:rPr>
              <a:t>Mascára</a:t>
            </a:r>
            <a:endParaRPr lang="pt-BR" sz="900" i="1" dirty="0" smtClean="0">
              <a:latin typeface="Arial" charset="0"/>
              <a:cs typeface="Arial" charset="0"/>
            </a:endParaRP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Solange Dias</a:t>
            </a:r>
          </a:p>
          <a:p>
            <a:pPr algn="ctr" eaLnBrk="0" hangingPunct="0"/>
            <a:endParaRPr lang="pt-BR" sz="900" i="1" dirty="0">
              <a:latin typeface="Arial" charset="0"/>
              <a:cs typeface="Arial" charset="0"/>
            </a:endParaRPr>
          </a:p>
        </p:txBody>
      </p:sp>
      <p:sp>
        <p:nvSpPr>
          <p:cNvPr id="12315" name="Rectangle 27"/>
          <p:cNvSpPr>
            <a:spLocks noChangeArrowheads="1"/>
          </p:cNvSpPr>
          <p:nvPr/>
        </p:nvSpPr>
        <p:spPr bwMode="auto">
          <a:xfrm>
            <a:off x="3789366" y="3382945"/>
            <a:ext cx="1584325" cy="21676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pt-BR" sz="1400" b="1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Governança</a:t>
            </a:r>
            <a:endParaRPr lang="pt-BR" sz="1400" b="1">
              <a:solidFill>
                <a:schemeClr val="bg1"/>
              </a:solidFill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12316" name="Rectangle 28"/>
          <p:cNvSpPr>
            <a:spLocks noChangeArrowheads="1"/>
          </p:cNvSpPr>
          <p:nvPr/>
        </p:nvSpPr>
        <p:spPr bwMode="auto">
          <a:xfrm>
            <a:off x="3701926" y="941552"/>
            <a:ext cx="1582737" cy="594305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Carlos </a:t>
            </a:r>
            <a:r>
              <a:rPr lang="pt-BR" sz="900" i="1" dirty="0" err="1" smtClean="0">
                <a:latin typeface="Arial" charset="0"/>
                <a:cs typeface="Arial" charset="0"/>
              </a:rPr>
              <a:t>Kida</a:t>
            </a:r>
            <a:endParaRPr lang="pt-BR" sz="900" i="1" dirty="0" smtClean="0">
              <a:latin typeface="Arial" charset="0"/>
              <a:cs typeface="Arial" charset="0"/>
            </a:endParaRP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Luciano Abrantes</a:t>
            </a: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Weslley Figueiredo</a:t>
            </a:r>
          </a:p>
          <a:p>
            <a:pPr algn="ctr" eaLnBrk="0" hangingPunct="0"/>
            <a:endParaRPr lang="pt-BR" sz="900" i="1" dirty="0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sp>
        <p:nvSpPr>
          <p:cNvPr id="12317" name="Rectangle 29"/>
          <p:cNvSpPr>
            <a:spLocks noChangeArrowheads="1"/>
          </p:cNvSpPr>
          <p:nvPr/>
        </p:nvSpPr>
        <p:spPr bwMode="auto">
          <a:xfrm>
            <a:off x="1917702" y="2421304"/>
            <a:ext cx="1395674" cy="356687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eaLnBrk="0" hangingPunct="0">
              <a:defRPr/>
            </a:pPr>
            <a:r>
              <a:rPr lang="pt-BR" sz="1400" b="1" smtClean="0">
                <a:solidFill>
                  <a:schemeClr val="bg1"/>
                </a:solidFill>
                <a:latin typeface="Arial" charset="0"/>
                <a:cs typeface="Arial" charset="0"/>
              </a:rPr>
              <a:t>  </a:t>
            </a:r>
          </a:p>
          <a:p>
            <a:pPr algn="ctr" eaLnBrk="0" hangingPunct="0">
              <a:defRPr/>
            </a:pPr>
            <a:r>
              <a:rPr lang="pt-BR" sz="1400" b="1" smtClean="0">
                <a:solidFill>
                  <a:schemeClr val="bg1"/>
                </a:solidFill>
                <a:latin typeface="Arial" charset="0"/>
                <a:cs typeface="Arial" charset="0"/>
              </a:rPr>
              <a:t>Time Chacon</a:t>
            </a:r>
          </a:p>
          <a:p>
            <a:pPr eaLnBrk="0" hangingPunct="0">
              <a:defRPr/>
            </a:pPr>
            <a:endParaRPr lang="pt-BR" sz="1400" b="1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12318" name="Rectangle 30"/>
          <p:cNvSpPr>
            <a:spLocks noChangeArrowheads="1"/>
          </p:cNvSpPr>
          <p:nvPr/>
        </p:nvSpPr>
        <p:spPr bwMode="auto">
          <a:xfrm>
            <a:off x="1917702" y="2813723"/>
            <a:ext cx="1394083" cy="361459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2">
                <a:lumMod val="75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Sergio </a:t>
            </a:r>
            <a:r>
              <a:rPr lang="pt-BR" sz="900" i="1" dirty="0" err="1" smtClean="0">
                <a:latin typeface="Arial" charset="0"/>
                <a:cs typeface="Arial" charset="0"/>
              </a:rPr>
              <a:t>Bertasi</a:t>
            </a:r>
            <a:endParaRPr lang="pt-BR" sz="900" i="1" dirty="0" smtClean="0">
              <a:latin typeface="Arial" charset="0"/>
              <a:cs typeface="Arial" charset="0"/>
            </a:endParaRPr>
          </a:p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Felipe Lima</a:t>
            </a:r>
          </a:p>
        </p:txBody>
      </p:sp>
      <p:sp>
        <p:nvSpPr>
          <p:cNvPr id="12319" name="Rectangle 31"/>
          <p:cNvSpPr>
            <a:spLocks noChangeArrowheads="1"/>
          </p:cNvSpPr>
          <p:nvPr/>
        </p:nvSpPr>
        <p:spPr bwMode="auto">
          <a:xfrm>
            <a:off x="2051571" y="1636440"/>
            <a:ext cx="1584325" cy="21676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pt-BR" sz="1400" b="1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SAP Global</a:t>
            </a:r>
            <a:endParaRPr lang="pt-BR" sz="1400" b="1">
              <a:solidFill>
                <a:schemeClr val="bg1"/>
              </a:solidFill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12320" name="Rectangle 32"/>
          <p:cNvSpPr>
            <a:spLocks noChangeArrowheads="1"/>
          </p:cNvSpPr>
          <p:nvPr/>
        </p:nvSpPr>
        <p:spPr bwMode="auto">
          <a:xfrm>
            <a:off x="2051571" y="1892504"/>
            <a:ext cx="1582737" cy="251362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Daniel Mathias</a:t>
            </a:r>
            <a:endParaRPr lang="pt-BR" sz="900" i="1" dirty="0">
              <a:latin typeface="Arial" charset="0"/>
              <a:cs typeface="Arial" charset="0"/>
            </a:endParaRPr>
          </a:p>
        </p:txBody>
      </p:sp>
      <p:sp>
        <p:nvSpPr>
          <p:cNvPr id="30" name="Rectangle 21"/>
          <p:cNvSpPr>
            <a:spLocks noChangeArrowheads="1"/>
          </p:cNvSpPr>
          <p:nvPr/>
        </p:nvSpPr>
        <p:spPr bwMode="auto">
          <a:xfrm>
            <a:off x="7278691" y="2354594"/>
            <a:ext cx="1584325" cy="89919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eaLnBrk="0" hangingPunct="0">
              <a:defRPr/>
            </a:pPr>
            <a:r>
              <a:rPr lang="pt-BR" sz="1400" b="1" dirty="0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Steering Committee</a:t>
            </a:r>
          </a:p>
          <a:p>
            <a:pPr eaLnBrk="0" hangingPunct="0">
              <a:defRPr/>
            </a:pPr>
            <a:r>
              <a:rPr lang="pt-BR" sz="600" b="1" dirty="0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Responsáveis por aprovar o projeto e /ou modificações de escopo, de acordo com as demandas. Responsáveis por garantir alocação de recursos.</a:t>
            </a:r>
            <a:endParaRPr lang="pt-BR" sz="600" b="1" dirty="0">
              <a:solidFill>
                <a:schemeClr val="bg1"/>
              </a:solidFill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7280275" y="3309769"/>
            <a:ext cx="1582738" cy="883715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tx2">
                <a:lumMod val="75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Agenor Leão</a:t>
            </a:r>
          </a:p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Henrique Gherardi Júnior</a:t>
            </a:r>
          </a:p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Fábio Koreeda</a:t>
            </a:r>
          </a:p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Mário Santiago</a:t>
            </a:r>
          </a:p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Luiz Mussini</a:t>
            </a:r>
          </a:p>
          <a:p>
            <a:pPr algn="ctr" eaLnBrk="0" hangingPunct="0">
              <a:defRPr/>
            </a:pPr>
            <a:r>
              <a:rPr lang="pt-BR" sz="900" i="1" dirty="0" smtClean="0">
                <a:latin typeface="Arial" charset="0"/>
                <a:cs typeface="Arial" charset="0"/>
              </a:rPr>
              <a:t>Mário Esquerdo</a:t>
            </a:r>
          </a:p>
          <a:p>
            <a:pPr algn="ctr" eaLnBrk="0" hangingPunct="0">
              <a:defRPr/>
            </a:pPr>
            <a:endParaRPr lang="pt-BR" sz="900" i="1" dirty="0" smtClean="0">
              <a:latin typeface="Arial" charset="0"/>
              <a:cs typeface="Arial" charset="0"/>
            </a:endParaRPr>
          </a:p>
          <a:p>
            <a:pPr algn="ctr" eaLnBrk="0" hangingPunct="0">
              <a:defRPr/>
            </a:pPr>
            <a:endParaRPr lang="pt-BR" sz="900" i="1" dirty="0">
              <a:solidFill>
                <a:schemeClr val="bg2"/>
              </a:solidFill>
              <a:latin typeface="Arial" charset="0"/>
              <a:cs typeface="Arial" charset="0"/>
            </a:endParaRP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5465765" y="1492424"/>
            <a:ext cx="1584325" cy="21676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pt-BR" sz="1400" b="1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GRP</a:t>
            </a:r>
            <a:endParaRPr lang="pt-BR" sz="1400" b="1">
              <a:solidFill>
                <a:schemeClr val="bg1"/>
              </a:solidFill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33" name="Rectangle 32"/>
          <p:cNvSpPr>
            <a:spLocks noChangeArrowheads="1"/>
          </p:cNvSpPr>
          <p:nvPr/>
        </p:nvSpPr>
        <p:spPr bwMode="auto">
          <a:xfrm>
            <a:off x="5465765" y="1748488"/>
            <a:ext cx="1582737" cy="500106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Alexandre Azevedo</a:t>
            </a: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Anna </a:t>
            </a:r>
            <a:r>
              <a:rPr lang="pt-BR" sz="900" i="1" dirty="0" err="1" smtClean="0">
                <a:latin typeface="Arial" charset="0"/>
                <a:cs typeface="Arial" charset="0"/>
              </a:rPr>
              <a:t>Santanna</a:t>
            </a:r>
            <a:endParaRPr lang="pt-BR" sz="900" i="1" dirty="0" smtClean="0">
              <a:latin typeface="Arial" charset="0"/>
              <a:cs typeface="Arial" charset="0"/>
            </a:endParaRP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Danielle </a:t>
            </a:r>
            <a:r>
              <a:rPr lang="pt-BR" sz="900" i="1" dirty="0" err="1" smtClean="0">
                <a:latin typeface="Arial" charset="0"/>
                <a:cs typeface="Arial" charset="0"/>
              </a:rPr>
              <a:t>Langer</a:t>
            </a:r>
            <a:endParaRPr lang="pt-BR" sz="900" i="1" dirty="0">
              <a:latin typeface="Arial" charset="0"/>
              <a:cs typeface="Arial" charset="0"/>
            </a:endParaRPr>
          </a:p>
        </p:txBody>
      </p:sp>
      <p:sp>
        <p:nvSpPr>
          <p:cNvPr id="34" name="Rectangle 31"/>
          <p:cNvSpPr>
            <a:spLocks noChangeArrowheads="1"/>
          </p:cNvSpPr>
          <p:nvPr/>
        </p:nvSpPr>
        <p:spPr bwMode="auto">
          <a:xfrm>
            <a:off x="5484814" y="2623197"/>
            <a:ext cx="1584325" cy="21676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algn="ctr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/>
            <a:r>
              <a:rPr lang="pt-BR" sz="1400" b="1" smtClean="0">
                <a:solidFill>
                  <a:schemeClr val="bg1"/>
                </a:solidFill>
                <a:latin typeface="Arial" charset="0"/>
                <a:ea typeface="ヒラギノ角ゴ Pro W3" pitchFamily="1" charset="-128"/>
              </a:rPr>
              <a:t>D. Infraestrutura</a:t>
            </a:r>
            <a:endParaRPr lang="pt-BR" sz="1400" b="1">
              <a:solidFill>
                <a:schemeClr val="bg1"/>
              </a:solidFill>
              <a:latin typeface="Arial" charset="0"/>
              <a:ea typeface="ヒラギノ角ゴ Pro W3" pitchFamily="1" charset="-128"/>
            </a:endParaRPr>
          </a:p>
        </p:txBody>
      </p:sp>
      <p:sp>
        <p:nvSpPr>
          <p:cNvPr id="35" name="Rectangle 32"/>
          <p:cNvSpPr>
            <a:spLocks noChangeArrowheads="1"/>
          </p:cNvSpPr>
          <p:nvPr/>
        </p:nvSpPr>
        <p:spPr bwMode="auto">
          <a:xfrm>
            <a:off x="5484814" y="2879260"/>
            <a:ext cx="1582737" cy="928345"/>
          </a:xfrm>
          <a:prstGeom prst="rect">
            <a:avLst/>
          </a:prstGeom>
          <a:solidFill>
            <a:schemeClr val="bg1"/>
          </a:solidFill>
          <a:ln w="25400" algn="ctr">
            <a:solidFill>
              <a:schemeClr val="accent6">
                <a:lumMod val="75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/>
          <a:lstStyle/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Hugo Melo</a:t>
            </a:r>
          </a:p>
          <a:p>
            <a:pPr algn="ctr" eaLnBrk="0" hangingPunct="0"/>
            <a:r>
              <a:rPr lang="pt-BR" sz="900" i="1" dirty="0" err="1" smtClean="0">
                <a:latin typeface="Arial" charset="0"/>
                <a:cs typeface="Arial" charset="0"/>
              </a:rPr>
              <a:t>Igohr</a:t>
            </a:r>
            <a:r>
              <a:rPr lang="pt-BR" sz="900" i="1" dirty="0" smtClean="0">
                <a:latin typeface="Arial" charset="0"/>
                <a:cs typeface="Arial" charset="0"/>
              </a:rPr>
              <a:t> Schultz</a:t>
            </a: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Edson Fidalgo</a:t>
            </a: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Ricardo </a:t>
            </a:r>
            <a:r>
              <a:rPr lang="pt-BR" sz="900" i="1" dirty="0" err="1" smtClean="0">
                <a:latin typeface="Arial" charset="0"/>
                <a:cs typeface="Arial" charset="0"/>
              </a:rPr>
              <a:t>Caurin</a:t>
            </a:r>
            <a:endParaRPr lang="pt-BR" sz="900" i="1" dirty="0" smtClean="0">
              <a:latin typeface="Arial" charset="0"/>
              <a:cs typeface="Arial" charset="0"/>
            </a:endParaRP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Claudinei Cardoso</a:t>
            </a:r>
          </a:p>
          <a:p>
            <a:pPr algn="ctr" eaLnBrk="0" hangingPunct="0"/>
            <a:r>
              <a:rPr lang="pt-BR" sz="900" i="1" dirty="0" smtClean="0">
                <a:latin typeface="Arial" charset="0"/>
                <a:cs typeface="Arial" charset="0"/>
              </a:rPr>
              <a:t>Filipe </a:t>
            </a:r>
            <a:r>
              <a:rPr lang="pt-BR" sz="900" i="1" dirty="0" err="1" smtClean="0">
                <a:latin typeface="Arial" charset="0"/>
                <a:cs typeface="Arial" charset="0"/>
              </a:rPr>
              <a:t>Jaske</a:t>
            </a:r>
            <a:endParaRPr lang="pt-BR" sz="900" i="1" dirty="0">
              <a:latin typeface="Arial" charset="0"/>
              <a:cs typeface="Arial" charset="0"/>
            </a:endParaRPr>
          </a:p>
        </p:txBody>
      </p:sp>
      <p:sp>
        <p:nvSpPr>
          <p:cNvPr id="36" name="Line 9"/>
          <p:cNvSpPr>
            <a:spLocks noChangeShapeType="1"/>
          </p:cNvSpPr>
          <p:nvPr/>
        </p:nvSpPr>
        <p:spPr bwMode="auto">
          <a:xfrm>
            <a:off x="5379246" y="2630737"/>
            <a:ext cx="105568" cy="422990"/>
          </a:xfrm>
          <a:prstGeom prst="line">
            <a:avLst/>
          </a:prstGeom>
          <a:noFill/>
          <a:ln w="28575">
            <a:solidFill>
              <a:schemeClr val="tx2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7" name="Line 9"/>
          <p:cNvSpPr>
            <a:spLocks noChangeShapeType="1"/>
          </p:cNvSpPr>
          <p:nvPr/>
        </p:nvSpPr>
        <p:spPr bwMode="auto">
          <a:xfrm flipV="1">
            <a:off x="5360195" y="2140215"/>
            <a:ext cx="105568" cy="75095"/>
          </a:xfrm>
          <a:prstGeom prst="line">
            <a:avLst/>
          </a:prstGeom>
          <a:noFill/>
          <a:ln w="28575">
            <a:solidFill>
              <a:schemeClr val="tx2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9" name="Line 14"/>
          <p:cNvSpPr>
            <a:spLocks noChangeShapeType="1"/>
          </p:cNvSpPr>
          <p:nvPr/>
        </p:nvSpPr>
        <p:spPr bwMode="auto">
          <a:xfrm flipV="1">
            <a:off x="3311786" y="2630736"/>
            <a:ext cx="468051" cy="248523"/>
          </a:xfrm>
          <a:prstGeom prst="line">
            <a:avLst/>
          </a:prstGeom>
          <a:noFill/>
          <a:ln w="28575">
            <a:solidFill>
              <a:schemeClr val="tx2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817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kUdgx6OtUmKLA_Ty4LaG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.OoI4bTakKefsF6xs3cE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3pkx0LTkUSPIAb4fnF4Y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ZXuwAC_kyMdtLHMQcOf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Rj1d3xcr0G5PIgKgot5jg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11154</TotalTime>
  <Words>1430</Words>
  <Application>Microsoft Office PowerPoint</Application>
  <PresentationFormat>Personalizar</PresentationFormat>
  <Paragraphs>271</Paragraphs>
  <Slides>18</Slides>
  <Notes>3</Notes>
  <HiddenSlides>2</HiddenSlides>
  <MMClips>0</MMClips>
  <ScaleCrop>false</ScaleCrop>
  <HeadingPairs>
    <vt:vector size="6" baseType="variant">
      <vt:variant>
        <vt:lpstr>Fontes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32" baseType="lpstr">
      <vt:lpstr>MS PGothic</vt:lpstr>
      <vt:lpstr>Arial</vt:lpstr>
      <vt:lpstr>Calibri</vt:lpstr>
      <vt:lpstr>Gill Sans MT</vt:lpstr>
      <vt:lpstr>Gill Sans Std</vt:lpstr>
      <vt:lpstr>Gill Sans Std ExtraBold</vt:lpstr>
      <vt:lpstr>Gill Sans Std Light</vt:lpstr>
      <vt:lpstr>Kartika</vt:lpstr>
      <vt:lpstr>Stencil</vt:lpstr>
      <vt:lpstr>Tahoma</vt:lpstr>
      <vt:lpstr>Verdana</vt:lpstr>
      <vt:lpstr>Wingdings</vt:lpstr>
      <vt:lpstr>ヒラギノ角ゴ Pro W3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BR92457</dc:creator>
  <cp:lastModifiedBy>Adolpho Chacon</cp:lastModifiedBy>
  <cp:revision>477</cp:revision>
  <dcterms:created xsi:type="dcterms:W3CDTF">2014-10-02T13:42:42Z</dcterms:created>
  <dcterms:modified xsi:type="dcterms:W3CDTF">2015-06-12T01:21:55Z</dcterms:modified>
</cp:coreProperties>
</file>