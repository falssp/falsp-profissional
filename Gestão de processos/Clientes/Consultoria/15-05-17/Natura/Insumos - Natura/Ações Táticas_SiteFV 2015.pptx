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9"/>
  </p:notesMasterIdLst>
  <p:sldIdLst>
    <p:sldId id="1542" r:id="rId5"/>
    <p:sldId id="1543" r:id="rId6"/>
    <p:sldId id="1544" r:id="rId7"/>
    <p:sldId id="1545" r:id="rId8"/>
  </p:sldIdLst>
  <p:sldSz cx="16256000" cy="9144000"/>
  <p:notesSz cx="6797675" cy="9982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393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588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787" algn="ctr" rtl="0" fontAlgn="base">
      <a:spcBef>
        <a:spcPct val="0"/>
      </a:spcBef>
      <a:spcAft>
        <a:spcPct val="0"/>
      </a:spcAft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5980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177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375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569" algn="l" defTabSz="457200" rtl="0" eaLnBrk="1" latinLnBrk="0" hangingPunct="1">
      <a:defRPr sz="37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07">
          <p15:clr>
            <a:srgbClr val="A4A3A4"/>
          </p15:clr>
        </p15:guide>
        <p15:guide id="2" orient="horz" pos="5759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4831">
          <p15:clr>
            <a:srgbClr val="A4A3A4"/>
          </p15:clr>
        </p15:guide>
        <p15:guide id="5" orient="horz" pos="2200">
          <p15:clr>
            <a:srgbClr val="A4A3A4"/>
          </p15:clr>
        </p15:guide>
        <p15:guide id="6" orient="horz" pos="5012">
          <p15:clr>
            <a:srgbClr val="A4A3A4"/>
          </p15:clr>
        </p15:guide>
        <p15:guide id="7" orient="horz" pos="5193">
          <p15:clr>
            <a:srgbClr val="A4A3A4"/>
          </p15:clr>
        </p15:guide>
        <p15:guide id="8" orient="horz" pos="5057">
          <p15:clr>
            <a:srgbClr val="A4A3A4"/>
          </p15:clr>
        </p15:guide>
        <p15:guide id="9" pos="130">
          <p15:clr>
            <a:srgbClr val="A4A3A4"/>
          </p15:clr>
        </p15:guide>
        <p15:guide id="10" pos="10110">
          <p15:clr>
            <a:srgbClr val="A4A3A4"/>
          </p15:clr>
        </p15:guide>
        <p15:guide id="11" pos="5099">
          <p15:clr>
            <a:srgbClr val="A4A3A4"/>
          </p15:clr>
        </p15:guide>
        <p15:guide id="12" pos="86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FF"/>
    <a:srgbClr val="A50021"/>
    <a:srgbClr val="395426"/>
    <a:srgbClr val="FF8200"/>
    <a:srgbClr val="FF9933"/>
    <a:srgbClr val="4D1D40"/>
    <a:srgbClr val="FF9900"/>
    <a:srgbClr val="910048"/>
    <a:srgbClr val="B7A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65" autoAdjust="0"/>
    <p:restoredTop sz="98757" autoAdjust="0"/>
  </p:normalViewPr>
  <p:slideViewPr>
    <p:cSldViewPr showGuides="1">
      <p:cViewPr>
        <p:scale>
          <a:sx n="60" d="100"/>
          <a:sy n="60" d="100"/>
        </p:scale>
        <p:origin x="-666" y="-72"/>
      </p:cViewPr>
      <p:guideLst>
        <p:guide orient="horz" pos="3107"/>
        <p:guide orient="horz" pos="5759"/>
        <p:guide orient="horz"/>
        <p:guide orient="horz" pos="4831"/>
        <p:guide orient="horz" pos="2200"/>
        <p:guide orient="horz" pos="5012"/>
        <p:guide orient="horz" pos="5193"/>
        <p:guide orient="horz" pos="5057"/>
        <p:guide pos="130"/>
        <p:guide pos="10110"/>
        <p:guide pos="5099"/>
        <p:guide pos="86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51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87EA54C-D2EB-0F48-8889-9EC27629332B}" type="datetime1">
              <a:rPr lang="en-US"/>
              <a:pPr/>
              <a:t>6/18/2015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49300"/>
            <a:ext cx="66548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pt-B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1358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81358"/>
            <a:ext cx="2945659" cy="49911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668CF1-2823-3C4F-B0E3-AB53265DAE43}" type="slidenum">
              <a:rPr lang="en-US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1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393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588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787" algn="l" defTabSz="457200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5980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3177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00375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7569" algn="l" defTabSz="4572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1438" y="749300"/>
            <a:ext cx="6654800" cy="37433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32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1438" y="749300"/>
            <a:ext cx="6654800" cy="37433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32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1438" y="749300"/>
            <a:ext cx="6654800" cy="37433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32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71438" y="749300"/>
            <a:ext cx="6654800" cy="3743325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668CF1-2823-3C4F-B0E3-AB53265DAE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3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6" name="Título 15"/>
          <p:cNvSpPr>
            <a:spLocks noGrp="1"/>
          </p:cNvSpPr>
          <p:nvPr>
            <p:ph type="title" hasCustomPrompt="1"/>
          </p:nvPr>
        </p:nvSpPr>
        <p:spPr>
          <a:xfrm>
            <a:off x="323851" y="323528"/>
            <a:ext cx="139319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29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1" y="971601"/>
            <a:ext cx="13931900" cy="6286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7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76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4002" y="8424488"/>
            <a:ext cx="594916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0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0" y="1536703"/>
            <a:ext cx="13931900" cy="3086100"/>
          </a:xfrm>
          <a:prstGeom prst="rect">
            <a:avLst/>
          </a:prstGeom>
        </p:spPr>
        <p:txBody>
          <a:bodyPr lIns="91440" tIns="45721" rIns="91440" bIns="45721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700" y="4711702"/>
            <a:ext cx="13931900" cy="1054100"/>
          </a:xfrm>
          <a:prstGeom prst="rect">
            <a:avLst/>
          </a:prstGeom>
        </p:spPr>
        <p:txBody>
          <a:bodyPr lIns="91440" tIns="45721" rIns="91440" bIns="45721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659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5"/>
          <p:cNvSpPr>
            <a:spLocks noGrp="1"/>
          </p:cNvSpPr>
          <p:nvPr>
            <p:ph type="title" hasCustomPrompt="1"/>
          </p:nvPr>
        </p:nvSpPr>
        <p:spPr>
          <a:xfrm>
            <a:off x="323851" y="323528"/>
            <a:ext cx="13931900" cy="61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>
              <a:defRPr lang="pt-BR" sz="2900" b="0" kern="120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6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1" y="971601"/>
            <a:ext cx="13931900" cy="6286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0" indent="0">
              <a:buFontTx/>
              <a:buNone/>
              <a:defRPr lang="pt-BR" sz="1700" b="0" kern="1200" smtClean="0">
                <a:solidFill>
                  <a:srgbClr val="910048"/>
                </a:solidFill>
                <a:latin typeface="Verdana"/>
                <a:ea typeface="ＭＳ Ｐゴシック" charset="0"/>
                <a:cs typeface="Verdana"/>
              </a:defRPr>
            </a:lvl1pPr>
            <a:lvl2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2pPr>
            <a:lvl3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3pPr>
            <a:lvl4pPr>
              <a:defRPr lang="pt-BR" sz="7600" kern="1200" smtClean="0">
                <a:latin typeface="Gill Sans" charset="0"/>
                <a:ea typeface="ヒラギノ角ゴ ProN W3" charset="0"/>
                <a:cs typeface="ヒラギノ角ゴ ProN W3" charset="0"/>
              </a:defRPr>
            </a:lvl4pPr>
            <a:lvl5pPr>
              <a:defRPr lang="pt-BR" sz="7600" kern="1200">
                <a:latin typeface="Gill Sans" charset="0"/>
                <a:ea typeface="ヒラギノ角ゴ ProN W3" charset="0"/>
                <a:cs typeface="ヒラギノ角ゴ ProN W3" charset="0"/>
              </a:defRPr>
            </a:lvl5pPr>
          </a:lstStyle>
          <a:p>
            <a:pPr lvl="0" algn="l">
              <a:lnSpc>
                <a:spcPct val="90000"/>
              </a:lnSpc>
              <a:spcAft>
                <a:spcPts val="600"/>
              </a:spcAft>
              <a:tabLst>
                <a:tab pos="355600" algn="l"/>
                <a:tab pos="711198" algn="l"/>
                <a:tab pos="1066793" algn="l"/>
                <a:tab pos="1422387" algn="l"/>
                <a:tab pos="1777987" algn="l"/>
                <a:tab pos="2133584" algn="l"/>
                <a:tab pos="2489180" algn="l"/>
                <a:tab pos="2844775" algn="l"/>
                <a:tab pos="3200375" algn="l"/>
                <a:tab pos="3555973" algn="l"/>
                <a:tab pos="3911568" algn="l"/>
                <a:tab pos="4267166" algn="l"/>
                <a:tab pos="4571962" algn="l"/>
              </a:tabLst>
            </a:pPr>
            <a:r>
              <a:rPr lang="pt-BR" dirty="0" smtClean="0"/>
              <a:t>&gt; Clique para editar o texto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2744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de cantos arredondados 16"/>
          <p:cNvSpPr>
            <a:spLocks noChangeArrowheads="1"/>
          </p:cNvSpPr>
          <p:nvPr userDrawn="1"/>
        </p:nvSpPr>
        <p:spPr bwMode="auto">
          <a:xfrm>
            <a:off x="203200" y="1065213"/>
            <a:ext cx="15849600" cy="7850187"/>
          </a:xfrm>
          <a:prstGeom prst="roundRect">
            <a:avLst>
              <a:gd name="adj" fmla="val 8218"/>
            </a:avLst>
          </a:prstGeom>
          <a:solidFill>
            <a:schemeClr val="bg1"/>
          </a:solidFill>
          <a:ln w="3175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lIns="91440" tIns="45721" rIns="91440" bIns="45721"/>
          <a:lstStyle/>
          <a:p>
            <a:pPr>
              <a:defRPr/>
            </a:pPr>
            <a:endParaRPr lang="pt-BR" sz="130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7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91" y="76203"/>
            <a:ext cx="6111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Espaço Reservado para Texto 19"/>
          <p:cNvSpPr>
            <a:spLocks noGrp="1"/>
          </p:cNvSpPr>
          <p:nvPr>
            <p:ph type="body" sz="quarter" idx="10"/>
          </p:nvPr>
        </p:nvSpPr>
        <p:spPr>
          <a:xfrm>
            <a:off x="717550" y="877339"/>
            <a:ext cx="5248799" cy="41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36000" tIns="45721" rIns="36000" bIns="45721">
            <a:spAutoFit/>
          </a:bodyPr>
          <a:lstStyle>
            <a:lvl1pPr marL="165100" indent="0">
              <a:buNone/>
              <a:defRPr lang="pt-BR" sz="2100" b="1" kern="1200" dirty="0" smtClean="0">
                <a:solidFill>
                  <a:schemeClr val="accent6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1"/>
          </p:nvPr>
        </p:nvSpPr>
        <p:spPr>
          <a:xfrm>
            <a:off x="401200" y="1295014"/>
            <a:ext cx="15423001" cy="7391799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1440" tIns="45721" rIns="91440" bIns="45721" anchor="t"/>
          <a:lstStyle>
            <a:lvl1pPr>
              <a:def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5513614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4"/>
          </p:nvPr>
        </p:nvSpPr>
        <p:spPr>
          <a:xfrm>
            <a:off x="12238414" y="8478723"/>
            <a:ext cx="3792537" cy="485775"/>
          </a:xfrm>
          <a:prstGeom prst="rect">
            <a:avLst/>
          </a:prstGeom>
        </p:spPr>
        <p:txBody>
          <a:bodyPr vert="horz" lIns="91440" tIns="45721" rIns="91440" bIns="45721" rtlCol="0" anchor="b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8F5F4-4191-4F34-96FE-68815E4D7AED}" type="slidenum">
              <a:rPr lang="pt-BR" smtClean="0"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3" r:id="rId2"/>
    <p:sldLayoutId id="2147483675" r:id="rId3"/>
    <p:sldLayoutId id="2147483676" r:id="rId4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393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588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787" algn="ctr" rtl="0" eaLnBrk="1" fontAlgn="base" hangingPunct="1">
        <a:spcBef>
          <a:spcPct val="0"/>
        </a:spcBef>
        <a:spcAft>
          <a:spcPct val="0"/>
        </a:spcAft>
        <a:defRPr sz="76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1" fontAlgn="base" hangingPunct="1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742950" indent="-285751" algn="ctr" rtl="0" eaLnBrk="1" fontAlgn="base" hangingPunct="1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1142993" indent="-228600" algn="ctr" rtl="0" eaLnBrk="1" fontAlgn="base" hangingPunct="1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1600187" indent="-228600" algn="ctr" rtl="0" eaLnBrk="1" fontAlgn="base" hangingPunct="1">
        <a:spcBef>
          <a:spcPct val="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2057384" indent="-228600" algn="ctr" rtl="0" eaLnBrk="1" fontAlgn="base" hangingPunct="1">
        <a:spcBef>
          <a:spcPct val="0"/>
        </a:spcBef>
        <a:spcAft>
          <a:spcPct val="0"/>
        </a:spcAft>
        <a:buChar char="»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393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588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787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3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8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7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7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5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9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496" y="1104485"/>
            <a:ext cx="9169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>
          <a:xfrm>
            <a:off x="12238414" y="8241746"/>
            <a:ext cx="3792537" cy="485775"/>
          </a:xfrm>
        </p:spPr>
        <p:txBody>
          <a:bodyPr/>
          <a:lstStyle/>
          <a:p>
            <a:fld id="{3488F5F4-4191-4F34-96FE-68815E4D7AED}" type="slidenum">
              <a:rPr lang="pt-BR" smtClean="0">
                <a:solidFill>
                  <a:srgbClr val="6E6259">
                    <a:tint val="75000"/>
                  </a:srgbClr>
                </a:solidFill>
              </a:rPr>
              <a:pPr/>
              <a:t>1</a:t>
            </a:fld>
            <a:endParaRPr lang="pt-BR" dirty="0">
              <a:solidFill>
                <a:srgbClr val="6E6259">
                  <a:tint val="75000"/>
                </a:srgbClr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23851" y="16446"/>
            <a:ext cx="13931900" cy="612000"/>
          </a:xfrm>
        </p:spPr>
        <p:txBody>
          <a:bodyPr/>
          <a:lstStyle/>
          <a:p>
            <a:pPr algn="l"/>
            <a:r>
              <a:rPr lang="pt-BR" dirty="0" smtClean="0"/>
              <a:t>ONE PAGE – Plano de Ação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>
          <a:xfrm>
            <a:off x="399212" y="664518"/>
            <a:ext cx="13931900" cy="504056"/>
          </a:xfrm>
        </p:spPr>
        <p:txBody>
          <a:bodyPr/>
          <a:lstStyle/>
          <a:p>
            <a:pPr algn="l"/>
            <a:r>
              <a:rPr lang="pt-BR" dirty="0" smtClean="0">
                <a:latin typeface="Gill Sans MT" pitchFamily="34" charset="0"/>
              </a:rPr>
              <a:t>Jun’15 – Relacionamento  – </a:t>
            </a:r>
            <a:r>
              <a:rPr lang="pt-BR" dirty="0" smtClean="0">
                <a:latin typeface="Gill Sans MT" pitchFamily="34" charset="0"/>
              </a:rPr>
              <a:t>Site FV</a:t>
            </a:r>
            <a:endParaRPr lang="pt-BR" dirty="0">
              <a:latin typeface="Gill Sans MT" pitchFamily="34" charset="0"/>
            </a:endParaRPr>
          </a:p>
        </p:txBody>
      </p:sp>
      <p:graphicFrame>
        <p:nvGraphicFramePr>
          <p:cNvPr id="27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865506"/>
              </p:ext>
            </p:extLst>
          </p:nvPr>
        </p:nvGraphicFramePr>
        <p:xfrm>
          <a:off x="567160" y="5436096"/>
          <a:ext cx="14654015" cy="1077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615"/>
                <a:gridCol w="1080120"/>
                <a:gridCol w="2592288"/>
                <a:gridCol w="2512646"/>
                <a:gridCol w="2207784"/>
                <a:gridCol w="1964736"/>
                <a:gridCol w="1121913"/>
                <a:gridCol w="1121913"/>
              </a:tblGrid>
              <a:tr h="345659"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Duração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Solução Contorno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Causa-Raiz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Plano de 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Responsável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Data Sol.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1.1 – 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81592 - SITE FV-Intermitência no acesso ao Site FV - Brasil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05/Março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23 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minutos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Reinicialização do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Banco de Dados 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67143- Parametrização ineficiente das estatísticas do banco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Melhoria estrutural em BD Estatística (SM4266)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</a:t>
                      </a:r>
                      <a:r>
                        <a:rPr lang="pt-BR" sz="1400" kern="1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de </a:t>
                      </a:r>
                      <a:r>
                        <a:rPr lang="pt-BR" sz="1400" kern="12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30/Abril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Concluído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Elipse 10"/>
          <p:cNvSpPr/>
          <p:nvPr/>
        </p:nvSpPr>
        <p:spPr bwMode="auto">
          <a:xfrm>
            <a:off x="6321341" y="2346172"/>
            <a:ext cx="290185" cy="301968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100" b="1" dirty="0" smtClean="0">
                <a:solidFill>
                  <a:srgbClr val="000000"/>
                </a:solidFill>
              </a:rPr>
              <a:t>1</a:t>
            </a:r>
            <a:endParaRPr lang="pt-BR" sz="11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6966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136" y="1259632"/>
            <a:ext cx="9169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>
          <a:xfrm>
            <a:off x="12238414" y="8241746"/>
            <a:ext cx="3792537" cy="485775"/>
          </a:xfrm>
        </p:spPr>
        <p:txBody>
          <a:bodyPr/>
          <a:lstStyle/>
          <a:p>
            <a:fld id="{3488F5F4-4191-4F34-96FE-68815E4D7AED}" type="slidenum">
              <a:rPr lang="pt-BR" smtClean="0">
                <a:solidFill>
                  <a:srgbClr val="6E6259">
                    <a:tint val="75000"/>
                  </a:srgbClr>
                </a:solidFill>
              </a:rPr>
              <a:pPr/>
              <a:t>2</a:t>
            </a:fld>
            <a:endParaRPr lang="pt-BR" dirty="0">
              <a:solidFill>
                <a:srgbClr val="6E6259">
                  <a:tint val="75000"/>
                </a:srgbClr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23851" y="16446"/>
            <a:ext cx="13931900" cy="612000"/>
          </a:xfrm>
        </p:spPr>
        <p:txBody>
          <a:bodyPr/>
          <a:lstStyle/>
          <a:p>
            <a:pPr algn="l"/>
            <a:r>
              <a:rPr lang="pt-BR" dirty="0" smtClean="0"/>
              <a:t>ONE PAGE – Plano de Ação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>
          <a:xfrm>
            <a:off x="399212" y="664518"/>
            <a:ext cx="13931900" cy="504056"/>
          </a:xfrm>
        </p:spPr>
        <p:txBody>
          <a:bodyPr/>
          <a:lstStyle/>
          <a:p>
            <a:pPr algn="l"/>
            <a:r>
              <a:rPr lang="pt-BR" dirty="0" smtClean="0">
                <a:latin typeface="Gill Sans MT" pitchFamily="34" charset="0"/>
              </a:rPr>
              <a:t>Jun’15 – Relacionamento  – </a:t>
            </a:r>
            <a:r>
              <a:rPr lang="pt-BR" dirty="0" smtClean="0">
                <a:latin typeface="Gill Sans MT" pitchFamily="34" charset="0"/>
              </a:rPr>
              <a:t>Site FV</a:t>
            </a:r>
            <a:endParaRPr lang="pt-BR" dirty="0">
              <a:latin typeface="Gill Sans MT" pitchFamily="34" charset="0"/>
            </a:endParaRPr>
          </a:p>
        </p:txBody>
      </p:sp>
      <p:graphicFrame>
        <p:nvGraphicFramePr>
          <p:cNvPr id="27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62935"/>
              </p:ext>
            </p:extLst>
          </p:nvPr>
        </p:nvGraphicFramePr>
        <p:xfrm>
          <a:off x="711176" y="5511045"/>
          <a:ext cx="14654015" cy="1077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615"/>
                <a:gridCol w="1080120"/>
                <a:gridCol w="2592288"/>
                <a:gridCol w="2512646"/>
                <a:gridCol w="2207784"/>
                <a:gridCol w="1964736"/>
                <a:gridCol w="1121913"/>
                <a:gridCol w="1121913"/>
              </a:tblGrid>
              <a:tr h="345659"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Duração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Solução Contorno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Causa-Raiz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Plano de 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Responsável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Data Sol.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2.1 - 127835 -  SITE FV  Intermitência no acesso ao Site FV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14/Abril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17 minutos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Reinicializada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a aplicação (Site FV)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189328  - Em análise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Não se aplica.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TBD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Em andamento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Elipse 9"/>
          <p:cNvSpPr/>
          <p:nvPr/>
        </p:nvSpPr>
        <p:spPr bwMode="auto">
          <a:xfrm>
            <a:off x="7039262" y="1975142"/>
            <a:ext cx="290185" cy="301968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100" b="1" dirty="0" smtClean="0">
                <a:solidFill>
                  <a:srgbClr val="000000"/>
                </a:solidFill>
              </a:rPr>
              <a:t>2</a:t>
            </a:r>
            <a:endParaRPr lang="pt-BR" sz="11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506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552" y="1104485"/>
            <a:ext cx="9169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>
          <a:xfrm>
            <a:off x="12238414" y="8241746"/>
            <a:ext cx="3792537" cy="485775"/>
          </a:xfrm>
        </p:spPr>
        <p:txBody>
          <a:bodyPr/>
          <a:lstStyle/>
          <a:p>
            <a:fld id="{3488F5F4-4191-4F34-96FE-68815E4D7AED}" type="slidenum">
              <a:rPr lang="pt-BR" smtClean="0">
                <a:solidFill>
                  <a:srgbClr val="6E6259">
                    <a:tint val="75000"/>
                  </a:srgbClr>
                </a:solidFill>
              </a:rPr>
              <a:pPr/>
              <a:t>3</a:t>
            </a:fld>
            <a:endParaRPr lang="pt-BR" dirty="0">
              <a:solidFill>
                <a:srgbClr val="6E6259">
                  <a:tint val="75000"/>
                </a:srgbClr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23851" y="16446"/>
            <a:ext cx="13931900" cy="612000"/>
          </a:xfrm>
        </p:spPr>
        <p:txBody>
          <a:bodyPr/>
          <a:lstStyle/>
          <a:p>
            <a:pPr algn="l"/>
            <a:r>
              <a:rPr lang="pt-BR" dirty="0" smtClean="0"/>
              <a:t>ONE PAGE – Plano de Ação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>
          <a:xfrm>
            <a:off x="399212" y="664518"/>
            <a:ext cx="13931900" cy="504056"/>
          </a:xfrm>
        </p:spPr>
        <p:txBody>
          <a:bodyPr/>
          <a:lstStyle/>
          <a:p>
            <a:pPr algn="l"/>
            <a:r>
              <a:rPr lang="pt-BR" dirty="0" smtClean="0">
                <a:latin typeface="Gill Sans MT" pitchFamily="34" charset="0"/>
              </a:rPr>
              <a:t>Jun’15 – Relacionamento  – </a:t>
            </a:r>
            <a:r>
              <a:rPr lang="pt-BR" dirty="0" smtClean="0">
                <a:latin typeface="Gill Sans MT" pitchFamily="34" charset="0"/>
              </a:rPr>
              <a:t>Site FV</a:t>
            </a:r>
            <a:endParaRPr lang="pt-BR" dirty="0">
              <a:latin typeface="Gill Sans MT" pitchFamily="34" charset="0"/>
            </a:endParaRPr>
          </a:p>
        </p:txBody>
      </p:sp>
      <p:graphicFrame>
        <p:nvGraphicFramePr>
          <p:cNvPr id="27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995299"/>
              </p:ext>
            </p:extLst>
          </p:nvPr>
        </p:nvGraphicFramePr>
        <p:xfrm>
          <a:off x="619061" y="5292080"/>
          <a:ext cx="14654015" cy="2235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615"/>
                <a:gridCol w="1080120"/>
                <a:gridCol w="2592288"/>
                <a:gridCol w="2512646"/>
                <a:gridCol w="2207784"/>
                <a:gridCol w="1964736"/>
                <a:gridCol w="1121913"/>
                <a:gridCol w="1121913"/>
              </a:tblGrid>
              <a:tr h="345659"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Duração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Solução Contorno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Causa-Raiz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Plano de 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Responsável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Data Sol.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3.1 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- 164327 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- Indisponibilidade e Intermitência nos acessos das aplicações Natura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14/Maio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75 minutos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Reinicialização do DNS (Rede) e das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aplicações.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166161- Em análise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Não se aplica.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TBD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Em andamento.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3.2 - 168059 - Indisponibilidade nos acessos das aplicações Natura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17/Maio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520 minutos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Reinicialização do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Banco de Dados e OSB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168609- Inconsistência 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de parâmetros do Banco de Dados Oracle.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 – Reconfiguração dos parâmetros incorretos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de 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17/Mai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Concluído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Elipse 11"/>
          <p:cNvSpPr/>
          <p:nvPr/>
        </p:nvSpPr>
        <p:spPr bwMode="auto">
          <a:xfrm>
            <a:off x="7760424" y="3679700"/>
            <a:ext cx="290185" cy="301968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100" b="1" dirty="0" smtClean="0">
                <a:solidFill>
                  <a:srgbClr val="000000"/>
                </a:solidFill>
              </a:rPr>
              <a:t>3</a:t>
            </a:r>
            <a:endParaRPr lang="pt-BR" sz="11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506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544" y="1113656"/>
            <a:ext cx="91694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>
          <a:xfrm>
            <a:off x="12238414" y="8241746"/>
            <a:ext cx="3792537" cy="485775"/>
          </a:xfrm>
        </p:spPr>
        <p:txBody>
          <a:bodyPr/>
          <a:lstStyle/>
          <a:p>
            <a:fld id="{3488F5F4-4191-4F34-96FE-68815E4D7AED}" type="slidenum">
              <a:rPr lang="pt-BR" smtClean="0">
                <a:solidFill>
                  <a:srgbClr val="6E6259">
                    <a:tint val="75000"/>
                  </a:srgbClr>
                </a:solidFill>
              </a:rPr>
              <a:pPr/>
              <a:t>4</a:t>
            </a:fld>
            <a:endParaRPr lang="pt-BR" dirty="0">
              <a:solidFill>
                <a:srgbClr val="6E6259">
                  <a:tint val="75000"/>
                </a:srgbClr>
              </a:solidFill>
            </a:endParaRP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23851" y="16446"/>
            <a:ext cx="13931900" cy="612000"/>
          </a:xfrm>
        </p:spPr>
        <p:txBody>
          <a:bodyPr/>
          <a:lstStyle/>
          <a:p>
            <a:pPr algn="l"/>
            <a:r>
              <a:rPr lang="pt-BR" dirty="0" smtClean="0"/>
              <a:t>ONE PAGE – Plano de Ação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1"/>
          </p:nvPr>
        </p:nvSpPr>
        <p:spPr>
          <a:xfrm>
            <a:off x="399212" y="664518"/>
            <a:ext cx="13931900" cy="504056"/>
          </a:xfrm>
        </p:spPr>
        <p:txBody>
          <a:bodyPr/>
          <a:lstStyle/>
          <a:p>
            <a:pPr algn="l"/>
            <a:r>
              <a:rPr lang="pt-BR" dirty="0" smtClean="0">
                <a:latin typeface="Gill Sans MT" pitchFamily="34" charset="0"/>
              </a:rPr>
              <a:t>Jun’15 – Relacionamento  – </a:t>
            </a:r>
            <a:r>
              <a:rPr lang="pt-BR" dirty="0" smtClean="0">
                <a:latin typeface="Gill Sans MT" pitchFamily="34" charset="0"/>
              </a:rPr>
              <a:t>Site FV</a:t>
            </a:r>
            <a:endParaRPr lang="pt-BR" dirty="0">
              <a:latin typeface="Gill Sans MT" pitchFamily="34" charset="0"/>
            </a:endParaRPr>
          </a:p>
        </p:txBody>
      </p:sp>
      <p:graphicFrame>
        <p:nvGraphicFramePr>
          <p:cNvPr id="27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007440"/>
              </p:ext>
            </p:extLst>
          </p:nvPr>
        </p:nvGraphicFramePr>
        <p:xfrm>
          <a:off x="611395" y="5245967"/>
          <a:ext cx="14654015" cy="2710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615"/>
                <a:gridCol w="1080120"/>
                <a:gridCol w="2592288"/>
                <a:gridCol w="2512646"/>
                <a:gridCol w="2207784"/>
                <a:gridCol w="1964736"/>
                <a:gridCol w="1121913"/>
                <a:gridCol w="1121913"/>
              </a:tblGrid>
              <a:tr h="345659"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Duração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Solução Contorno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Causa-Raiz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Plano de Ação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Responsável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Data Sol.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 smtClean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pt-BR" sz="15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4.1 - 188142 - SITE FV - Intermitência na aplicação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01/Junho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87 minutos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Reinicializada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a aplicação (Site FV)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189328  - Em análise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Não se aplica.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TBD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Em andamento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4.2 - 200778 - SITE FV - Intermitência para </a:t>
                      </a:r>
                      <a:r>
                        <a:rPr lang="pt-BR" sz="1400" kern="1200" dirty="0" err="1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logar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 no site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12/Junho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4 minutos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Reinicializada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a aplicação (Site FV)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189328  - Em análise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Não se aplica.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Infraestrutura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TBD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Em andamento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35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4.3 - 205767 - SITE FV, SITE CNO, CAD CN/CNO - Intermitência de acesso ao site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16/Junho</a:t>
                      </a:r>
                    </a:p>
                    <a:p>
                      <a:pPr algn="ctr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29 minutos</a:t>
                      </a:r>
                      <a:endParaRPr lang="pt-BR" sz="1400" kern="12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Reinicializada</a:t>
                      </a:r>
                      <a:r>
                        <a:rPr lang="pt-BR" sz="1400" baseline="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 a aplicação (Site FV)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208458 – Em análise</a:t>
                      </a:r>
                      <a:endParaRPr lang="pt-BR" sz="1400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</a:rPr>
                        <a:t>Não se aplica.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VP TD</a:t>
                      </a:r>
                    </a:p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Diretoria </a:t>
                      </a:r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Aplicação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TBD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pt-BR" sz="1400" kern="1200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Gill Sans MT" pitchFamily="34" charset="0"/>
                          <a:ea typeface="+mn-ea"/>
                          <a:cs typeface="+mn-cs"/>
                        </a:rPr>
                        <a:t>Em andamento</a:t>
                      </a:r>
                      <a:endParaRPr lang="pt-BR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Gill Sans MT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Elipse 12"/>
          <p:cNvSpPr/>
          <p:nvPr/>
        </p:nvSpPr>
        <p:spPr bwMode="auto">
          <a:xfrm>
            <a:off x="8686190" y="2204359"/>
            <a:ext cx="290185" cy="301968"/>
          </a:xfrm>
          <a:prstGeom prst="ellipse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100" b="1" dirty="0" smtClean="0">
                <a:solidFill>
                  <a:srgbClr val="000000"/>
                </a:solidFill>
              </a:rPr>
              <a:t>4</a:t>
            </a:r>
            <a:endParaRPr lang="pt-BR" sz="1100" b="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2952536" y="4624263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*Junho, até dia 16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2905061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lo wide Natura">
  <a:themeElements>
    <a:clrScheme name="Natura">
      <a:dk1>
        <a:srgbClr val="6E6259"/>
      </a:dk1>
      <a:lt1>
        <a:srgbClr val="FFFFFF"/>
      </a:lt1>
      <a:dk2>
        <a:srgbClr val="4E3629"/>
      </a:dk2>
      <a:lt2>
        <a:srgbClr val="DFD1A7"/>
      </a:lt2>
      <a:accent1>
        <a:srgbClr val="FBE122"/>
      </a:accent1>
      <a:accent2>
        <a:srgbClr val="94795D"/>
      </a:accent2>
      <a:accent3>
        <a:srgbClr val="4E5B3B"/>
      </a:accent3>
      <a:accent4>
        <a:srgbClr val="004F71"/>
      </a:accent4>
      <a:accent5>
        <a:srgbClr val="8F993E"/>
      </a:accent5>
      <a:accent6>
        <a:srgbClr val="DE005A"/>
      </a:accent6>
      <a:hlink>
        <a:srgbClr val="C8102E"/>
      </a:hlink>
      <a:folHlink>
        <a:srgbClr val="AA8066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A50021"/>
          </a:solidFill>
          <a:prstDash val="dash"/>
          <a:round/>
          <a:headEnd type="none" w="med" len="med"/>
          <a:tailEnd type="none" w="med" len="med"/>
        </a:ln>
        <a:effectLst/>
        <a:ex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1F537827C1AA4C8099964EABAD3D37" ma:contentTypeVersion="0" ma:contentTypeDescription="Crie um novo documento." ma:contentTypeScope="" ma:versionID="194de4944f1879fea74879509b55023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910725-2B37-4F16-9743-AD18F3B1B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EB9F75F-2C58-496C-8961-93D584B9F406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4E574F5-003F-40C2-88F8-7754559B0E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modelo wide Natura</Template>
  <TotalTime>21804</TotalTime>
  <Pages>0</Pages>
  <Words>396</Words>
  <Characters>0</Characters>
  <Application>Microsoft Office PowerPoint</Application>
  <PresentationFormat>Personalizar</PresentationFormat>
  <Lines>0</Lines>
  <Paragraphs>123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modelo wide Natura</vt:lpstr>
      <vt:lpstr>ONE PAGE – Plano de Ação</vt:lpstr>
      <vt:lpstr>ONE PAGE – Plano de Ação</vt:lpstr>
      <vt:lpstr>ONE PAGE – Plano de Ação</vt:lpstr>
      <vt:lpstr>ONE PAGE – Plano de Ação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ANDREA SANTOS</dc:creator>
  <cp:lastModifiedBy>br93826</cp:lastModifiedBy>
  <cp:revision>1038</cp:revision>
  <cp:lastPrinted>2013-04-09T23:37:40Z</cp:lastPrinted>
  <dcterms:created xsi:type="dcterms:W3CDTF">2012-11-06T23:42:17Z</dcterms:created>
  <dcterms:modified xsi:type="dcterms:W3CDTF">2015-06-18T18:57:58Z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0x0101003D1F537827C1AA4C8099964EABAD3D37</vt:lpwstr>
  </property>
</Properties>
</file>