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662" r:id="rId5"/>
    <p:sldMasterId id="2147483790" r:id="rId6"/>
  </p:sldMasterIdLst>
  <p:notesMasterIdLst>
    <p:notesMasterId r:id="rId14"/>
  </p:notesMasterIdLst>
  <p:sldIdLst>
    <p:sldId id="634" r:id="rId7"/>
    <p:sldId id="846" r:id="rId8"/>
    <p:sldId id="818" r:id="rId9"/>
    <p:sldId id="841" r:id="rId10"/>
    <p:sldId id="849" r:id="rId11"/>
    <p:sldId id="853" r:id="rId12"/>
    <p:sldId id="852" r:id="rId13"/>
  </p:sldIdLst>
  <p:sldSz cx="9144000" cy="5143500" type="screen16x9"/>
  <p:notesSz cx="9309100" cy="7023100"/>
  <p:embeddedFontLst>
    <p:embeddedFont>
      <p:font typeface="MS PGothic" pitchFamily="34" charset="-128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Verdana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4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49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73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98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22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47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71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95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38F1F7F-DE78-46A6-8725-6F8AFA4BE9AB}">
          <p14:sldIdLst>
            <p14:sldId id="634"/>
            <p14:sldId id="846"/>
            <p14:sldId id="818"/>
            <p14:sldId id="841"/>
            <p14:sldId id="849"/>
            <p14:sldId id="853"/>
            <p14:sldId id="85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660033"/>
    <a:srgbClr val="3399FF"/>
    <a:srgbClr val="CDF2FF"/>
    <a:srgbClr val="D5F4FF"/>
    <a:srgbClr val="009BD2"/>
    <a:srgbClr val="F9A763"/>
    <a:srgbClr val="F89F56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85" autoAdjust="0"/>
    <p:restoredTop sz="53631" autoAdjust="0"/>
  </p:normalViewPr>
  <p:slideViewPr>
    <p:cSldViewPr snapToGrid="0" snapToObjects="1">
      <p:cViewPr varScale="1">
        <p:scale>
          <a:sx n="94" d="100"/>
          <a:sy n="94" d="100"/>
        </p:scale>
        <p:origin x="-1146" y="-90"/>
      </p:cViewPr>
      <p:guideLst>
        <p:guide orient="horz" pos="3120"/>
        <p:guide orient="horz" pos="1316"/>
        <p:guide orient="horz" pos="118"/>
        <p:guide pos="56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93" d="100"/>
        <a:sy n="93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876" y="-90"/>
      </p:cViewPr>
      <p:guideLst>
        <p:guide orient="horz" pos="2212"/>
        <p:guide pos="29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4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>
                <a:latin typeface="Gill Sans Std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273003" y="0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>
                <a:latin typeface="Gill Sans Std"/>
              </a:defRPr>
            </a:lvl1pPr>
          </a:lstStyle>
          <a:p>
            <a:fld id="{F10F8125-F4A7-406C-852D-E20F4C419143}" type="datetimeFigureOut">
              <a:rPr lang="pt-BR" smtClean="0"/>
              <a:pPr/>
              <a:t>02/07/2015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14575" y="527050"/>
            <a:ext cx="4679950" cy="2633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30910" y="3335973"/>
            <a:ext cx="7447280" cy="31603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670726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>
                <a:latin typeface="Gill Sans Std"/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273003" y="6670726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>
                <a:latin typeface="Gill Sans Std"/>
              </a:defRPr>
            </a:lvl1pPr>
          </a:lstStyle>
          <a:p>
            <a:fld id="{5BBD5387-6C63-4ECE-AB2A-B1A8ACB0701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700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1pPr>
    <a:lvl2pPr marL="457124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2pPr>
    <a:lvl3pPr marL="914249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3pPr>
    <a:lvl4pPr marL="1371373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4pPr>
    <a:lvl5pPr marL="1828498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5pPr>
    <a:lvl6pPr marL="2285622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47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71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95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 soma da 369</a:t>
            </a:r>
            <a:r>
              <a:rPr lang="pt-BR" baseline="0" dirty="0" smtClean="0"/>
              <a:t> e não 411, os chamados da Nextel estão todos dentro do SLA?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900" b="0" dirty="0" smtClean="0"/>
              <a:t>Backlog de fechamento Reflete quanto tivemos de back</a:t>
            </a:r>
            <a:r>
              <a:rPr lang="pt-BR" sz="900" b="0" baseline="0" dirty="0" smtClean="0"/>
              <a:t> no ultimo dia de Abril?</a:t>
            </a:r>
            <a:endParaRPr lang="pt-BR" sz="900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dirty="0" smtClean="0"/>
              <a:t>Por que não mantemos uma constância nos </a:t>
            </a:r>
            <a:r>
              <a:rPr lang="pt-BR" sz="1000" dirty="0" err="1" smtClean="0"/>
              <a:t>Fups</a:t>
            </a:r>
            <a:r>
              <a:rPr lang="pt-BR" sz="1000" dirty="0" smtClean="0"/>
              <a:t>?</a:t>
            </a:r>
            <a:endParaRPr lang="pt-BR" sz="1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4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6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3"/>
            <a:ext cx="7772400" cy="1102519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Std"/>
              </a:defRPr>
            </a:lvl1pPr>
            <a:lvl2pPr marL="457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25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56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  <a:prstGeom prst="rect">
            <a:avLst/>
          </a:prstGeom>
        </p:spPr>
        <p:txBody>
          <a:bodyPr lIns="91425" tIns="45712" rIns="91425" bIns="45712" anchor="t"/>
          <a:lstStyle>
            <a:lvl1pPr algn="l">
              <a:defRPr sz="4000" b="1" cap="all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Std"/>
              </a:defRPr>
            </a:lvl1pPr>
            <a:lvl2pPr marL="4571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3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6" y="900115"/>
            <a:ext cx="4038601" cy="254555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>
                <a:latin typeface="Gill Sans Std"/>
              </a:defRPr>
            </a:lvl1pPr>
            <a:lvl2pPr>
              <a:defRPr sz="2400">
                <a:latin typeface="Gill Sans Std"/>
              </a:defRPr>
            </a:lvl2pPr>
            <a:lvl3pPr>
              <a:defRPr sz="2000">
                <a:latin typeface="Gill Sans Std"/>
              </a:defRPr>
            </a:lvl3pPr>
            <a:lvl4pPr>
              <a:defRPr sz="1800">
                <a:latin typeface="Gill Sans Std"/>
              </a:defRPr>
            </a:lvl4pPr>
            <a:lvl5pPr>
              <a:defRPr sz="1800">
                <a:latin typeface="Gill Sans Std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4" y="900115"/>
            <a:ext cx="4038601" cy="254555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>
                <a:latin typeface="Gill Sans Std"/>
              </a:defRPr>
            </a:lvl1pPr>
            <a:lvl2pPr>
              <a:defRPr sz="2400">
                <a:latin typeface="Gill Sans Std"/>
              </a:defRPr>
            </a:lvl2pPr>
            <a:lvl3pPr>
              <a:defRPr sz="2000">
                <a:latin typeface="Gill Sans Std"/>
              </a:defRPr>
            </a:lvl3pPr>
            <a:lvl4pPr>
              <a:defRPr sz="1800">
                <a:latin typeface="Gill Sans Std"/>
              </a:defRPr>
            </a:lvl4pPr>
            <a:lvl5pPr>
              <a:defRPr sz="1800">
                <a:latin typeface="Gill Sans Std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1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>
                <a:latin typeface="Gill Sans Std"/>
              </a:defRPr>
            </a:lvl1pPr>
            <a:lvl2pPr marL="457124" indent="0">
              <a:buNone/>
              <a:defRPr sz="2000" b="1"/>
            </a:lvl2pPr>
            <a:lvl3pPr marL="914249" indent="0">
              <a:buNone/>
              <a:defRPr sz="1800" b="1"/>
            </a:lvl3pPr>
            <a:lvl4pPr marL="1371373" indent="0">
              <a:buNone/>
              <a:defRPr sz="1600" b="1"/>
            </a:lvl4pPr>
            <a:lvl5pPr marL="1828498" indent="0">
              <a:buNone/>
              <a:defRPr sz="1600" b="1"/>
            </a:lvl5pPr>
            <a:lvl6pPr marL="2285622" indent="0">
              <a:buNone/>
              <a:defRPr sz="1600" b="1"/>
            </a:lvl6pPr>
            <a:lvl7pPr marL="2742747" indent="0">
              <a:buNone/>
              <a:defRPr sz="1600" b="1"/>
            </a:lvl7pPr>
            <a:lvl8pPr marL="3199871" indent="0">
              <a:buNone/>
              <a:defRPr sz="1600" b="1"/>
            </a:lvl8pPr>
            <a:lvl9pPr marL="3656995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>
                <a:latin typeface="Gill Sans Std"/>
              </a:defRPr>
            </a:lvl1pPr>
            <a:lvl2pPr>
              <a:defRPr sz="2000">
                <a:latin typeface="Gill Sans Std"/>
              </a:defRPr>
            </a:lvl2pPr>
            <a:lvl3pPr>
              <a:defRPr sz="1800">
                <a:latin typeface="Gill Sans Std"/>
              </a:defRPr>
            </a:lvl3pPr>
            <a:lvl4pPr>
              <a:defRPr sz="1600">
                <a:latin typeface="Gill Sans Std"/>
              </a:defRPr>
            </a:lvl4pPr>
            <a:lvl5pPr>
              <a:defRPr sz="1600">
                <a:latin typeface="Gill Sans Std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4" cy="479822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>
                <a:latin typeface="Gill Sans Std"/>
              </a:defRPr>
            </a:lvl1pPr>
            <a:lvl2pPr marL="457124" indent="0">
              <a:buNone/>
              <a:defRPr sz="2000" b="1"/>
            </a:lvl2pPr>
            <a:lvl3pPr marL="914249" indent="0">
              <a:buNone/>
              <a:defRPr sz="1800" b="1"/>
            </a:lvl3pPr>
            <a:lvl4pPr marL="1371373" indent="0">
              <a:buNone/>
              <a:defRPr sz="1600" b="1"/>
            </a:lvl4pPr>
            <a:lvl5pPr marL="1828498" indent="0">
              <a:buNone/>
              <a:defRPr sz="1600" b="1"/>
            </a:lvl5pPr>
            <a:lvl6pPr marL="2285622" indent="0">
              <a:buNone/>
              <a:defRPr sz="1600" b="1"/>
            </a:lvl6pPr>
            <a:lvl7pPr marL="2742747" indent="0">
              <a:buNone/>
              <a:defRPr sz="1600" b="1"/>
            </a:lvl7pPr>
            <a:lvl8pPr marL="3199871" indent="0">
              <a:buNone/>
              <a:defRPr sz="1600" b="1"/>
            </a:lvl8pPr>
            <a:lvl9pPr marL="3656995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4" cy="296346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>
                <a:latin typeface="Gill Sans Std"/>
              </a:defRPr>
            </a:lvl1pPr>
            <a:lvl2pPr>
              <a:defRPr sz="2000">
                <a:latin typeface="Gill Sans Std"/>
              </a:defRPr>
            </a:lvl2pPr>
            <a:lvl3pPr>
              <a:defRPr sz="1800">
                <a:latin typeface="Gill Sans Std"/>
              </a:defRPr>
            </a:lvl3pPr>
            <a:lvl4pPr>
              <a:defRPr sz="1600">
                <a:latin typeface="Gill Sans Std"/>
              </a:defRPr>
            </a:lvl4pPr>
            <a:lvl5pPr>
              <a:defRPr sz="1600">
                <a:latin typeface="Gill Sans Std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60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02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469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6" y="204791"/>
            <a:ext cx="5111749" cy="438983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3200">
                <a:latin typeface="Gill Sans Std"/>
              </a:defRPr>
            </a:lvl1pPr>
            <a:lvl2pPr>
              <a:defRPr sz="2800">
                <a:latin typeface="Gill Sans Std"/>
              </a:defRPr>
            </a:lvl2pPr>
            <a:lvl3pPr>
              <a:defRPr sz="2400">
                <a:latin typeface="Gill Sans Std"/>
              </a:defRPr>
            </a:lvl3pPr>
            <a:lvl4pPr>
              <a:defRPr sz="2000">
                <a:latin typeface="Gill Sans Std"/>
              </a:defRPr>
            </a:lvl4pPr>
            <a:lvl5pPr>
              <a:defRPr sz="2000">
                <a:latin typeface="Gill Sans Std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>
                <a:latin typeface="Gill Sans Std"/>
              </a:defRPr>
            </a:lvl1pPr>
            <a:lvl2pPr marL="457124" indent="0">
              <a:buNone/>
              <a:defRPr sz="1200"/>
            </a:lvl2pPr>
            <a:lvl3pPr marL="914249" indent="0">
              <a:buNone/>
              <a:defRPr sz="1000"/>
            </a:lvl3pPr>
            <a:lvl4pPr marL="1371373" indent="0">
              <a:buNone/>
              <a:defRPr sz="900"/>
            </a:lvl4pPr>
            <a:lvl5pPr marL="1828498" indent="0">
              <a:buNone/>
              <a:defRPr sz="900"/>
            </a:lvl5pPr>
            <a:lvl6pPr marL="2285622" indent="0">
              <a:buNone/>
              <a:defRPr sz="900"/>
            </a:lvl6pPr>
            <a:lvl7pPr marL="2742747" indent="0">
              <a:buNone/>
              <a:defRPr sz="900"/>
            </a:lvl7pPr>
            <a:lvl8pPr marL="3199871" indent="0">
              <a:buNone/>
              <a:defRPr sz="900"/>
            </a:lvl8pPr>
            <a:lvl9pPr marL="3656995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46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3200">
                <a:latin typeface="Gill Sans Std"/>
              </a:defRPr>
            </a:lvl1pPr>
            <a:lvl2pPr marL="457124" indent="0">
              <a:buNone/>
              <a:defRPr sz="2800"/>
            </a:lvl2pPr>
            <a:lvl3pPr marL="914249" indent="0">
              <a:buNone/>
              <a:defRPr sz="2400"/>
            </a:lvl3pPr>
            <a:lvl4pPr marL="1371373" indent="0">
              <a:buNone/>
              <a:defRPr sz="2000"/>
            </a:lvl4pPr>
            <a:lvl5pPr marL="1828498" indent="0">
              <a:buNone/>
              <a:defRPr sz="2000"/>
            </a:lvl5pPr>
            <a:lvl6pPr marL="2285622" indent="0">
              <a:buNone/>
              <a:defRPr sz="2000"/>
            </a:lvl6pPr>
            <a:lvl7pPr marL="2742747" indent="0">
              <a:buNone/>
              <a:defRPr sz="2000"/>
            </a:lvl7pPr>
            <a:lvl8pPr marL="3199871" indent="0">
              <a:buNone/>
              <a:defRPr sz="2000"/>
            </a:lvl8pPr>
            <a:lvl9pPr marL="3656995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>
                <a:latin typeface="Gill Sans Std"/>
              </a:defRPr>
            </a:lvl1pPr>
            <a:lvl2pPr marL="457124" indent="0">
              <a:buNone/>
              <a:defRPr sz="1200"/>
            </a:lvl2pPr>
            <a:lvl3pPr marL="914249" indent="0">
              <a:buNone/>
              <a:defRPr sz="1000"/>
            </a:lvl3pPr>
            <a:lvl4pPr marL="1371373" indent="0">
              <a:buNone/>
              <a:defRPr sz="900"/>
            </a:lvl4pPr>
            <a:lvl5pPr marL="1828498" indent="0">
              <a:buNone/>
              <a:defRPr sz="900"/>
            </a:lvl5pPr>
            <a:lvl6pPr marL="2285622" indent="0">
              <a:buNone/>
              <a:defRPr sz="900"/>
            </a:lvl6pPr>
            <a:lvl7pPr marL="2742747" indent="0">
              <a:buNone/>
              <a:defRPr sz="900"/>
            </a:lvl7pPr>
            <a:lvl8pPr marL="3199871" indent="0">
              <a:buNone/>
              <a:defRPr sz="900"/>
            </a:lvl8pPr>
            <a:lvl9pPr marL="3656995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520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753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4" y="154783"/>
            <a:ext cx="2057401" cy="3290888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5" y="154783"/>
            <a:ext cx="6019801" cy="3290888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3194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4"/>
          <a:ext cx="161628" cy="1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"/>
                        <a:ext cx="161628" cy="12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96221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5214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750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6125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564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4786316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4904188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32100891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1680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0981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92819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891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79816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3"/>
          <a:ext cx="161628" cy="1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"/>
                        <a:ext cx="161628" cy="12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61227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9940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84145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5297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0792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4786315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4904187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24495506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8261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207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180166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8402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3224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0" y="1066800"/>
              <a:ext cx="9144000" cy="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 flipV="1">
              <a:off x="458216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50800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862584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0" y="4626610"/>
              <a:ext cx="9144000" cy="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>
              <a:latin typeface="Gill Sans Std"/>
            </a:endParaRPr>
          </a:p>
        </p:txBody>
      </p:sp>
    </p:spTree>
    <p:extLst>
      <p:ext uri="{BB962C8B-B14F-4D97-AF65-F5344CB8AC3E}">
        <p14:creationId xmlns:p14="http://schemas.microsoft.com/office/powerpoint/2010/main" val="128223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45712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4" indent="-342844" algn="l" defTabSz="457124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27" indent="-285703" algn="l" defTabSz="457124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1" indent="-228562" algn="l" defTabSz="457124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36" indent="-228562" algn="l" defTabSz="457124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0" indent="-228562" algn="l" defTabSz="457124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4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9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3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7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9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8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2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7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1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5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cK 1. On-page tracker" hidden="1"/>
          <p:cNvSpPr>
            <a:spLocks noChangeArrowheads="1"/>
          </p:cNvSpPr>
          <p:nvPr/>
        </p:nvSpPr>
        <p:spPr bwMode="auto">
          <a:xfrm>
            <a:off x="121448" y="20539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121450" y="407195"/>
            <a:ext cx="373082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1200" dirty="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Unit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of</a:t>
            </a:r>
            <a:r>
              <a:rPr lang="pt-BR" sz="1200" dirty="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measure</a:t>
            </a:r>
            <a:endParaRPr lang="pt-BR" sz="1200" dirty="0">
              <a:solidFill>
                <a:srgbClr val="808080"/>
              </a:solidFill>
              <a:ea typeface="MS PGothic" pitchFamily="34" charset="-128"/>
              <a:sym typeface="GillSans" pitchFamily="34" charset="0"/>
            </a:endParaRPr>
          </a:p>
        </p:txBody>
      </p:sp>
      <p:grpSp>
        <p:nvGrpSpPr>
          <p:cNvPr id="13316" name="ACET" hidden="1"/>
          <p:cNvGrpSpPr>
            <a:grpSpLocks/>
          </p:cNvGrpSpPr>
          <p:nvPr/>
        </p:nvGrpSpPr>
        <p:grpSpPr bwMode="auto">
          <a:xfrm>
            <a:off x="1482332" y="864479"/>
            <a:ext cx="4351437" cy="387465"/>
            <a:chOff x="915" y="712"/>
            <a:chExt cx="2686" cy="318"/>
          </a:xfrm>
        </p:grpSpPr>
        <p:cxnSp>
          <p:nvCxnSpPr>
            <p:cNvPr id="13317" name="AutoShape 11" hidden="1"/>
            <p:cNvCxnSpPr>
              <a:cxnSpLocks noChangeShapeType="1"/>
              <a:stCxn id="14342" idx="4"/>
              <a:endCxn id="14342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2" name="AutoShape 12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1pPr>
              <a:lvl2pPr marL="742950" indent="-28575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2pPr>
              <a:lvl3pPr marL="11430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3pPr>
              <a:lvl4pPr marL="16002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4pPr>
              <a:lvl5pPr marL="20574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5pPr>
              <a:lvl6pPr marL="25146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6pPr>
              <a:lvl7pPr marL="29718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7pPr>
              <a:lvl8pPr marL="34290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8pPr>
              <a:lvl9pPr marL="38862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b="1" dirty="0" err="1" smtClean="0">
                  <a:latin typeface="Arial" pitchFamily="34" charset="0"/>
                  <a:sym typeface="GillSans"/>
                </a:rPr>
                <a:t>Title</a:t>
              </a:r>
              <a:endParaRPr lang="pt-BR" altLang="es-ES" sz="1200" b="1" dirty="0" smtClean="0">
                <a:latin typeface="Arial" pitchFamily="34" charset="0"/>
                <a:sym typeface="GillSans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Unit of </a:t>
              </a:r>
              <a:r>
                <a:rPr lang="pt-BR" altLang="es-ES" sz="1200" dirty="0" err="1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measure</a:t>
              </a:r>
              <a:endPara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31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2pPr>
      <a:lvl3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3pPr>
      <a:lvl4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4pPr>
      <a:lvl5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5pPr>
      <a:lvl6pPr marL="371897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6pPr>
      <a:lvl7pPr marL="743789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7pPr>
      <a:lvl8pPr marL="1115691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8pPr>
      <a:lvl9pPr marL="1487590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89245" indent="-18924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53537" indent="-152646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1200">
          <a:solidFill>
            <a:schemeClr val="tx1"/>
          </a:solidFill>
          <a:latin typeface="+mn-lt"/>
          <a:cs typeface="+mn-cs"/>
        </a:defRPr>
      </a:lvl2pPr>
      <a:lvl3pPr marL="367777" indent="-20888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1200">
          <a:solidFill>
            <a:schemeClr val="tx1"/>
          </a:solidFill>
          <a:latin typeface="+mn-lt"/>
          <a:cs typeface="+mn-cs"/>
        </a:defRPr>
      </a:lvl3pPr>
      <a:lvl4pPr marL="496320" indent="-12229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1200">
          <a:solidFill>
            <a:schemeClr val="tx1"/>
          </a:solidFill>
          <a:latin typeface="+mn-lt"/>
          <a:cs typeface="+mn-cs"/>
        </a:defRPr>
      </a:lvl4pPr>
      <a:lvl5pPr marL="603440" indent="-10176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1200">
          <a:solidFill>
            <a:schemeClr val="tx1"/>
          </a:solidFill>
          <a:latin typeface="+mn-lt"/>
          <a:cs typeface="+mn-cs"/>
        </a:defRPr>
      </a:lvl5pPr>
      <a:lvl6pPr marL="978809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6pPr>
      <a:lvl7pPr marL="1350706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7pPr>
      <a:lvl8pPr marL="1722605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8pPr>
      <a:lvl9pPr marL="2094501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897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789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691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759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9482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13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32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5173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cK 1. On-page tracker" hidden="1"/>
          <p:cNvSpPr>
            <a:spLocks noChangeArrowheads="1"/>
          </p:cNvSpPr>
          <p:nvPr/>
        </p:nvSpPr>
        <p:spPr bwMode="auto">
          <a:xfrm>
            <a:off x="121447" y="20539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121448" y="407195"/>
            <a:ext cx="373082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120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Unit of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measure</a:t>
            </a:r>
            <a:endParaRPr lang="pt-BR" sz="1200" dirty="0">
              <a:solidFill>
                <a:srgbClr val="808080"/>
              </a:solidFill>
              <a:ea typeface="MS PGothic" pitchFamily="34" charset="-128"/>
              <a:sym typeface="GillSans" pitchFamily="34" charset="0"/>
            </a:endParaRPr>
          </a:p>
        </p:txBody>
      </p:sp>
      <p:grpSp>
        <p:nvGrpSpPr>
          <p:cNvPr id="13316" name="ACET" hidden="1"/>
          <p:cNvGrpSpPr>
            <a:grpSpLocks/>
          </p:cNvGrpSpPr>
          <p:nvPr/>
        </p:nvGrpSpPr>
        <p:grpSpPr bwMode="auto">
          <a:xfrm>
            <a:off x="1482330" y="864479"/>
            <a:ext cx="4351437" cy="387465"/>
            <a:chOff x="915" y="712"/>
            <a:chExt cx="2686" cy="318"/>
          </a:xfrm>
        </p:grpSpPr>
        <p:cxnSp>
          <p:nvCxnSpPr>
            <p:cNvPr id="13317" name="AutoShape 11" hidden="1"/>
            <p:cNvCxnSpPr>
              <a:cxnSpLocks noChangeShapeType="1"/>
              <a:stCxn id="14342" idx="4"/>
              <a:endCxn id="14342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2" name="AutoShape 12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1pPr>
              <a:lvl2pPr marL="742950" indent="-28575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2pPr>
              <a:lvl3pPr marL="11430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3pPr>
              <a:lvl4pPr marL="16002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4pPr>
              <a:lvl5pPr marL="20574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5pPr>
              <a:lvl6pPr marL="25146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6pPr>
              <a:lvl7pPr marL="29718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7pPr>
              <a:lvl8pPr marL="34290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8pPr>
              <a:lvl9pPr marL="38862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b="1" dirty="0" err="1" smtClean="0">
                  <a:latin typeface="Arial" pitchFamily="34" charset="0"/>
                  <a:sym typeface="GillSans"/>
                </a:rPr>
                <a:t>Title</a:t>
              </a:r>
              <a:endParaRPr lang="pt-BR" altLang="es-ES" sz="1200" b="1" dirty="0" smtClean="0">
                <a:latin typeface="Arial" pitchFamily="34" charset="0"/>
                <a:sym typeface="GillSans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Unit of </a:t>
              </a:r>
              <a:r>
                <a:rPr lang="pt-BR" altLang="es-ES" sz="1200" dirty="0" err="1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measure</a:t>
              </a:r>
              <a:endPara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442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2pPr>
      <a:lvl3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3pPr>
      <a:lvl4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4pPr>
      <a:lvl5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5pPr>
      <a:lvl6pPr marL="371897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6pPr>
      <a:lvl7pPr marL="743789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7pPr>
      <a:lvl8pPr marL="1115691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8pPr>
      <a:lvl9pPr marL="1487590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89245" indent="-18924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53537" indent="-152646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1200">
          <a:solidFill>
            <a:schemeClr val="tx1"/>
          </a:solidFill>
          <a:latin typeface="+mn-lt"/>
          <a:cs typeface="+mn-cs"/>
        </a:defRPr>
      </a:lvl2pPr>
      <a:lvl3pPr marL="367777" indent="-20888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1200">
          <a:solidFill>
            <a:schemeClr val="tx1"/>
          </a:solidFill>
          <a:latin typeface="+mn-lt"/>
          <a:cs typeface="+mn-cs"/>
        </a:defRPr>
      </a:lvl3pPr>
      <a:lvl4pPr marL="496320" indent="-12229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1200">
          <a:solidFill>
            <a:schemeClr val="tx1"/>
          </a:solidFill>
          <a:latin typeface="+mn-lt"/>
          <a:cs typeface="+mn-cs"/>
        </a:defRPr>
      </a:lvl4pPr>
      <a:lvl5pPr marL="603440" indent="-10176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1200">
          <a:solidFill>
            <a:schemeClr val="tx1"/>
          </a:solidFill>
          <a:latin typeface="+mn-lt"/>
          <a:cs typeface="+mn-cs"/>
        </a:defRPr>
      </a:lvl5pPr>
      <a:lvl6pPr marL="978809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6pPr>
      <a:lvl7pPr marL="1350706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7pPr>
      <a:lvl8pPr marL="1722605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8pPr>
      <a:lvl9pPr marL="2094501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897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789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691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759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9482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13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32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5173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/>
          </p:cNvSpPr>
          <p:nvPr/>
        </p:nvSpPr>
        <p:spPr bwMode="auto">
          <a:xfrm>
            <a:off x="383018" y="2713723"/>
            <a:ext cx="8309725" cy="18452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pt-BR" sz="4000" b="1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//Mobilidade</a:t>
            </a:r>
            <a:endParaRPr lang="pt-BR" sz="4000" b="1" dirty="0" smtClean="0">
              <a:solidFill>
                <a:schemeClr val="bg1"/>
              </a:solidFill>
              <a:latin typeface="Gill Sans Std ExtraBold" pitchFamily="34" charset="0"/>
              <a:sym typeface="Verdana" pitchFamily="34" charset="0"/>
            </a:endParaRPr>
          </a:p>
          <a:p>
            <a:pPr>
              <a:lnSpc>
                <a:spcPts val="1000"/>
              </a:lnSpc>
            </a:pPr>
            <a:r>
              <a:rPr lang="pt-BR" sz="4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-</a:t>
            </a:r>
          </a:p>
          <a:p>
            <a:pPr>
              <a:lnSpc>
                <a:spcPts val="1000"/>
              </a:lnSpc>
            </a:pPr>
            <a:r>
              <a:rPr lang="pt-BR" sz="16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  GRU | </a:t>
            </a:r>
            <a:r>
              <a:rPr lang="pt-BR" sz="1600" dirty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 </a:t>
            </a:r>
            <a:r>
              <a:rPr lang="pt-BR" sz="16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Julho </a:t>
            </a:r>
            <a:r>
              <a:rPr lang="pt-BR" sz="16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2015</a:t>
            </a:r>
            <a:endParaRPr lang="pt-BR" sz="16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 SLA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1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4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SLA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No mês de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Junho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atendemos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100%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(</a:t>
            </a:r>
            <a:r>
              <a:rPr lang="pt-BR" sz="11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305 chamados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) das </a:t>
            </a:r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solicitações dentro do SLA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em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horas úteis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.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40" y="1576586"/>
            <a:ext cx="6301740" cy="3499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45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 ATENDIMENTO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7" name="2 Rectángulo"/>
          <p:cNvSpPr/>
          <p:nvPr/>
        </p:nvSpPr>
        <p:spPr>
          <a:xfrm>
            <a:off x="349334" y="532134"/>
            <a:ext cx="8580907" cy="1146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8" name="9 Rectángulo"/>
          <p:cNvSpPr/>
          <p:nvPr/>
        </p:nvSpPr>
        <p:spPr>
          <a:xfrm>
            <a:off x="344383" y="540601"/>
            <a:ext cx="8417780" cy="1138757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ATENDIMENTO DE SOLICITAÇÕES</a:t>
            </a:r>
          </a:p>
          <a:p>
            <a:endParaRPr lang="pt-BR" sz="8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Foram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abertos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299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chamados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no mês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Junho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.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Redução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16%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se comparado ao mês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Maio 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(360)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chamados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Média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15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solicitações por dia.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3" y="1937657"/>
            <a:ext cx="8549108" cy="3059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 ATENDIMENTO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7" name="2 Rectángulo"/>
          <p:cNvSpPr/>
          <p:nvPr/>
        </p:nvSpPr>
        <p:spPr>
          <a:xfrm>
            <a:off x="349334" y="532135"/>
            <a:ext cx="8580907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8" name="9 Rectángulo"/>
          <p:cNvSpPr/>
          <p:nvPr/>
        </p:nvSpPr>
        <p:spPr>
          <a:xfrm>
            <a:off x="344384" y="486811"/>
            <a:ext cx="8585858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ATENDIMENTO DE SOLICITAÇÕES</a:t>
            </a:r>
          </a:p>
          <a:p>
            <a:endParaRPr lang="pt-BR" sz="6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Follow Up das solicitações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refere-se a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Manutenção de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equipamentos e testes com usuários (Falhas de dados, configuração de aparelho, Cobrança operadora, etc).  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4" y="1588648"/>
            <a:ext cx="8580908" cy="3439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671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 PESQUISA DE SATISFAÇÃO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2" name="2 Rectángulo"/>
          <p:cNvSpPr/>
          <p:nvPr/>
        </p:nvSpPr>
        <p:spPr>
          <a:xfrm>
            <a:off x="349335" y="381825"/>
            <a:ext cx="8134598" cy="977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3" name="9 Rectángulo"/>
          <p:cNvSpPr/>
          <p:nvPr/>
        </p:nvSpPr>
        <p:spPr>
          <a:xfrm>
            <a:off x="344384" y="381824"/>
            <a:ext cx="8139549" cy="80020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Pesquisa de </a:t>
            </a:r>
            <a:r>
              <a:rPr lang="pt-B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Satisfação: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Total Respondido: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8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–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(2 </a:t>
            </a:r>
            <a:r>
              <a:rPr lang="pt-BR" sz="1400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Bom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/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5 Ótimo / 1 Ruim)</a:t>
            </a:r>
            <a:endParaRPr lang="pt-BR" sz="11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Segue descrição do chamado avaliado como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Ruim: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colaborador não ficou satisfeito com o tempo dado pela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VIVO para transferir sua linha do plano Pessoal para o Plano Mobilidade os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rádios solicitados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chamado: </a:t>
            </a:r>
            <a:r>
              <a:rPr lang="pt-BR" sz="1400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137127</a:t>
            </a:r>
            <a:endParaRPr lang="pt-BR" sz="1400" b="1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02" y="1672545"/>
            <a:ext cx="3910069" cy="3128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821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521218" y="138714"/>
            <a:ext cx="8475680" cy="680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548165" y="86892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lvl="0"/>
            <a:r>
              <a:rPr lang="es-A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RFP </a:t>
            </a:r>
            <a:r>
              <a:rPr lang="es-AR" sz="16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CONTRATO DE </a:t>
            </a:r>
            <a:r>
              <a:rPr lang="es-A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TELEFONIA FIXA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Status:			</a:t>
            </a:r>
            <a:r>
              <a:rPr lang="pt-BR" sz="1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Voz já aprovada, empresa ganhadora Embratel. (Redução de 32%).</a:t>
            </a:r>
            <a:endParaRPr lang="pt-BR" sz="1200" dirty="0">
              <a:solidFill>
                <a:prstClr val="black">
                  <a:lumMod val="65000"/>
                  <a:lumOff val="35000"/>
                </a:prstClr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Próximos passos:		</a:t>
            </a:r>
            <a:r>
              <a:rPr lang="pt-BR" sz="1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Aguardando finalização de Dados para divulgação de resultados.</a:t>
            </a:r>
            <a:endParaRPr lang="pt-BR" sz="1200" dirty="0">
              <a:solidFill>
                <a:prstClr val="black">
                  <a:lumMod val="65000"/>
                  <a:lumOff val="35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20" name="3 Rectángulo"/>
          <p:cNvSpPr/>
          <p:nvPr/>
        </p:nvSpPr>
        <p:spPr>
          <a:xfrm>
            <a:off x="6" y="0"/>
            <a:ext cx="510357" cy="51435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s-AR" dirty="0"/>
          </a:p>
        </p:txBody>
      </p:sp>
      <p:sp>
        <p:nvSpPr>
          <p:cNvPr id="21" name="1 Título"/>
          <p:cNvSpPr txBox="1">
            <a:spLocks/>
          </p:cNvSpPr>
          <p:nvPr/>
        </p:nvSpPr>
        <p:spPr>
          <a:xfrm rot="16200000">
            <a:off x="-1424000" y="2242739"/>
            <a:ext cx="3539693" cy="691694"/>
          </a:xfrm>
          <a:prstGeom prst="rect">
            <a:avLst/>
          </a:prstGeom>
        </p:spPr>
        <p:txBody>
          <a:bodyPr lIns="91425" tIns="45712" rIns="91425" bIns="45712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ill Sans Std"/>
                <a:ea typeface="+mj-ea"/>
                <a:cs typeface="+mj-cs"/>
              </a:defRPr>
            </a:lvl1pPr>
          </a:lstStyle>
          <a:p>
            <a:pPr algn="l"/>
            <a:r>
              <a:rPr lang="es-AR" sz="2800" dirty="0" smtClean="0">
                <a:solidFill>
                  <a:schemeClr val="bg1"/>
                </a:solidFill>
                <a:latin typeface="Gill Sans Std Light" pitchFamily="34" charset="0"/>
              </a:rPr>
              <a:t>AÇÕES MOBILIDADE</a:t>
            </a:r>
            <a:endParaRPr lang="es-AR" sz="2800" dirty="0">
              <a:solidFill>
                <a:schemeClr val="bg1"/>
              </a:solidFill>
              <a:latin typeface="Gill Sans Std Light" pitchFamily="34" charset="0"/>
            </a:endParaRPr>
          </a:p>
        </p:txBody>
      </p:sp>
      <p:sp>
        <p:nvSpPr>
          <p:cNvPr id="22" name="2 Rectángulo"/>
          <p:cNvSpPr/>
          <p:nvPr/>
        </p:nvSpPr>
        <p:spPr>
          <a:xfrm>
            <a:off x="524171" y="870458"/>
            <a:ext cx="8475680" cy="901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23" name="9 Rectángulo"/>
          <p:cNvSpPr/>
          <p:nvPr/>
        </p:nvSpPr>
        <p:spPr>
          <a:xfrm>
            <a:off x="551118" y="818636"/>
            <a:ext cx="8139549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RFP CONTRATO DE TELEFONIA MÓVEL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RFP Lançada no mercado em 12/06. Apresentação para empresas realizada em 15/06.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Aguardando elaboração das propostas comerciais pelos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proponentes para análise. Data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09/07/2015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.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				Data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final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para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assinatura de contrato prevista para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05/08/2015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24" name="2 Rectángulo"/>
          <p:cNvSpPr/>
          <p:nvPr/>
        </p:nvSpPr>
        <p:spPr>
          <a:xfrm>
            <a:off x="515906" y="1812625"/>
            <a:ext cx="8475680" cy="660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26" name="2 Rectángulo"/>
          <p:cNvSpPr/>
          <p:nvPr/>
        </p:nvSpPr>
        <p:spPr>
          <a:xfrm>
            <a:off x="519444" y="2523688"/>
            <a:ext cx="8475680" cy="716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27" name="9 Rectángulo"/>
          <p:cNvSpPr/>
          <p:nvPr/>
        </p:nvSpPr>
        <p:spPr>
          <a:xfrm>
            <a:off x="546391" y="2532154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RFP CONTRATO SUPORTE TELEFONIA MOVEL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Solicitado junto a suprimentos, novo processo para lançamento da RFP de suporte (Portal e contas).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Inicio da elaboração da RFP.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28" name="2 Rectángulo"/>
          <p:cNvSpPr/>
          <p:nvPr/>
        </p:nvSpPr>
        <p:spPr>
          <a:xfrm>
            <a:off x="522982" y="3295039"/>
            <a:ext cx="8475680" cy="72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30" name="9 Rectángulo"/>
          <p:cNvSpPr/>
          <p:nvPr/>
        </p:nvSpPr>
        <p:spPr>
          <a:xfrm>
            <a:off x="549948" y="3314157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PLANO DE AÇÃO ENTREGA IPHONE ER 2015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Plano de ação em fase de finalização, para entrega de equipamentos no ER 2015.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Definição do modelo a ser adotado e criação de procedimentos e acompanhamento.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5" name="9 Rectángulo"/>
          <p:cNvSpPr/>
          <p:nvPr/>
        </p:nvSpPr>
        <p:spPr>
          <a:xfrm>
            <a:off x="572894" y="1764828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RFP CONTRATO DE MENSAGERIA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Definição do processo agendado para hoje em conjunto com suprimentos.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Aguardando definição de suprimentos para elaboração de documentação necessária.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6" name="2 Rectángulo"/>
          <p:cNvSpPr/>
          <p:nvPr/>
        </p:nvSpPr>
        <p:spPr>
          <a:xfrm>
            <a:off x="524662" y="4060367"/>
            <a:ext cx="8475680" cy="983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8" name="9 Rectángulo"/>
          <p:cNvSpPr/>
          <p:nvPr/>
        </p:nvSpPr>
        <p:spPr>
          <a:xfrm>
            <a:off x="551628" y="4079485"/>
            <a:ext cx="8439958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HUB ITUPEVA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Aguardando finalização da instalação E1. Aumento do Link atual </a:t>
            </a:r>
            <a:r>
              <a:rPr lang="pt-BR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(4 MG para 6MG),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2 MG dedicado para 					voz.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Configuração e redirecionamentos para chamadas locais saírem pelo E1. Previsão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30/07.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4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9_Template-Afrodite_FFC_NJ1781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_Template-Afrodite_FFC_NJ1781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58C9855F079479465BFE95401F868" ma:contentTypeVersion="0" ma:contentTypeDescription="Crie um novo documento." ma:contentTypeScope="" ma:versionID="baab7201a50aee63eb54bbdccf5fcde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EB81CE-0E75-4A18-A49C-4EBB6DA01960}">
  <ds:schemaRefs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0FDB43-E95A-4CE0-9664-9FEB79BE88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231EAAC-76A0-497E-AC77-6F19640591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54959</TotalTime>
  <Words>245</Words>
  <Application>Microsoft Office PowerPoint</Application>
  <PresentationFormat>Apresentação na tela (16:9)</PresentationFormat>
  <Paragraphs>47</Paragraphs>
  <Slides>7</Slides>
  <Notes>5</Notes>
  <HiddenSlides>1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20" baseType="lpstr">
      <vt:lpstr>Arial</vt:lpstr>
      <vt:lpstr>ヒラギノ角ゴ ProN W3</vt:lpstr>
      <vt:lpstr>Gill Sans Std</vt:lpstr>
      <vt:lpstr>GillSans</vt:lpstr>
      <vt:lpstr>Gill Sans Std Light</vt:lpstr>
      <vt:lpstr>MS PGothic</vt:lpstr>
      <vt:lpstr>Calibri</vt:lpstr>
      <vt:lpstr>Verdana</vt:lpstr>
      <vt:lpstr>Gill Sans Std ExtraBold</vt:lpstr>
      <vt:lpstr>Office Theme</vt:lpstr>
      <vt:lpstr>19_Template-Afrodite_FFC_NJ1781</vt:lpstr>
      <vt:lpstr>20_Template-Afrodite_FFC_NJ1781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Marcelo Blanck</dc:creator>
  <cp:lastModifiedBy>br93892</cp:lastModifiedBy>
  <cp:revision>1864</cp:revision>
  <cp:lastPrinted>2015-02-06T13:13:07Z</cp:lastPrinted>
  <dcterms:created xsi:type="dcterms:W3CDTF">2012-05-21T20:56:23Z</dcterms:created>
  <dcterms:modified xsi:type="dcterms:W3CDTF">2015-07-02T12:12:23Z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0x0101009BB58C9855F079479465BFE95401F868</vt:lpwstr>
  </property>
</Properties>
</file>