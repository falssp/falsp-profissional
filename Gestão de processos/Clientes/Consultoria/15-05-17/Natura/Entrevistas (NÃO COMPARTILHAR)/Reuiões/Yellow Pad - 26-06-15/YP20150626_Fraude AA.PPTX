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6"/>
  </p:notesMasterIdLst>
  <p:sldIdLst>
    <p:sldId id="283" r:id="rId6"/>
    <p:sldId id="284" r:id="rId7"/>
    <p:sldId id="286" r:id="rId8"/>
    <p:sldId id="290" r:id="rId9"/>
    <p:sldId id="296" r:id="rId10"/>
    <p:sldId id="297" r:id="rId11"/>
    <p:sldId id="291" r:id="rId12"/>
    <p:sldId id="295" r:id="rId13"/>
    <p:sldId id="287" r:id="rId14"/>
    <p:sldId id="292" r:id="rId15"/>
  </p:sldIdLst>
  <p:sldSz cx="9001125" cy="5400675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99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455" autoAdjust="0"/>
  </p:normalViewPr>
  <p:slideViewPr>
    <p:cSldViewPr>
      <p:cViewPr>
        <p:scale>
          <a:sx n="80" d="100"/>
          <a:sy n="80" d="100"/>
        </p:scale>
        <p:origin x="-498" y="198"/>
      </p:cViewPr>
      <p:guideLst>
        <p:guide orient="horz" pos="1701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21927-49ED-4498-8AAB-9E2FDF065844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85BFE-0C8A-4915-AADD-2E276EF314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0808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 defTabSz="1384733" fontAlgn="auto">
              <a:lnSpc>
                <a:spcPct val="100000"/>
              </a:lnSpc>
              <a:spcBef>
                <a:spcPts val="151"/>
              </a:spcBef>
              <a:spcAft>
                <a:spcPts val="151"/>
              </a:spcAft>
              <a:buFont typeface="+mj-lt"/>
              <a:buNone/>
              <a:defRPr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1. Dinâmica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avaliação técnica das novas demandas para alinhamento do Esboço da Solução de TD.</a:t>
            </a:r>
          </a:p>
          <a:p>
            <a:pPr algn="l" defTabSz="1384733" fontAlgn="auto">
              <a:lnSpc>
                <a:spcPct val="100000"/>
              </a:lnSpc>
              <a:spcBef>
                <a:spcPts val="151"/>
              </a:spcBef>
              <a:spcAft>
                <a:spcPts val="151"/>
              </a:spcAft>
              <a:defRPr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2.  Matrícula das Demandas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Confirmar com a Governança de TD -&gt; sharepoint </a:t>
            </a:r>
            <a:r>
              <a:rPr lang="pt-BR" sz="1200" kern="0" dirty="0" err="1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gov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 com calendário,</a:t>
            </a:r>
            <a:r>
              <a:rPr lang="pt-BR" sz="1200" kern="0" baseline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 pauta e ata.</a:t>
            </a:r>
            <a:endParaRPr lang="pt-BR" sz="1000" kern="0" dirty="0" smtClean="0">
              <a:solidFill>
                <a:prstClr val="black">
                  <a:lumMod val="75000"/>
                  <a:lumOff val="25000"/>
                </a:prstClr>
              </a:solidFill>
              <a:ea typeface="MS PGothic" pitchFamily="34" charset="-128"/>
              <a:sym typeface="GillSans" pitchFamily="34" charset="0"/>
            </a:endParaRPr>
          </a:p>
          <a:p>
            <a:pPr marL="0" indent="0" algn="l">
              <a:buFontTx/>
              <a:buNone/>
            </a:pPr>
            <a:r>
              <a:rPr lang="pt-BR" sz="1200" b="1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3.  Apresentar</a:t>
            </a:r>
            <a:r>
              <a:rPr lang="pt-BR" sz="1200" kern="0" dirty="0" smtClean="0">
                <a:solidFill>
                  <a:prstClr val="black">
                    <a:lumMod val="75000"/>
                    <a:lumOff val="25000"/>
                  </a:prstClr>
                </a:solidFill>
                <a:ea typeface="MS PGothic" pitchFamily="34" charset="-128"/>
                <a:sym typeface="GillSans" pitchFamily="34" charset="0"/>
              </a:rPr>
              <a:t>: </a:t>
            </a:r>
            <a:endParaRPr lang="pt-BR" sz="1200" dirty="0" smtClean="0">
              <a:latin typeface="Gill Sans Std" pitchFamily="34" charset="0"/>
            </a:endParaRP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Esboço da Solução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Software </a:t>
            </a:r>
            <a:r>
              <a:rPr lang="pt-BR" sz="1200" dirty="0" err="1" smtClean="0">
                <a:latin typeface="Gill Sans Std" pitchFamily="34" charset="0"/>
              </a:rPr>
              <a:t>Selection</a:t>
            </a:r>
            <a:endParaRPr lang="pt-BR" sz="1200" dirty="0" smtClean="0">
              <a:latin typeface="Gill Sans Std" pitchFamily="34" charset="0"/>
            </a:endParaRP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Plataformas envolvidas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Interdependências</a:t>
            </a:r>
          </a:p>
          <a:p>
            <a:pPr marL="171450" indent="-171450" algn="l">
              <a:buFontTx/>
              <a:buChar char="-"/>
            </a:pPr>
            <a:r>
              <a:rPr lang="pt-BR" sz="1200" dirty="0" smtClean="0">
                <a:latin typeface="Gill Sans Std" pitchFamily="34" charset="0"/>
              </a:rPr>
              <a:t>Estimativa Prazo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85BFE-0C8A-4915-AADD-2E276EF314E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310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E85BFE-0C8A-4915-AADD-2E276EF314E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8318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75085" y="1677710"/>
            <a:ext cx="7650956" cy="115764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50169" y="3060385"/>
            <a:ext cx="6300788" cy="13801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57830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690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11027" y="3470436"/>
            <a:ext cx="7650956" cy="107263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11027" y="2289039"/>
            <a:ext cx="7650956" cy="118139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3649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0058" y="1260159"/>
            <a:ext cx="3975497" cy="35641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5573" y="1260159"/>
            <a:ext cx="3975497" cy="35641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454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0056" y="1208903"/>
            <a:ext cx="3977060" cy="5038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0056" y="1712715"/>
            <a:ext cx="3977060" cy="31116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572448" y="1208903"/>
            <a:ext cx="3978623" cy="5038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572448" y="1712715"/>
            <a:ext cx="3978623" cy="31116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1268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8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57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0057" y="215029"/>
            <a:ext cx="2961308" cy="91511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19191" y="215027"/>
            <a:ext cx="5031879" cy="460932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0057" y="1130142"/>
            <a:ext cx="2961308" cy="36942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91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64285" y="3780475"/>
            <a:ext cx="5400675" cy="44630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64285" y="482563"/>
            <a:ext cx="5400675" cy="32404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64285" y="4226780"/>
            <a:ext cx="5400675" cy="63382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0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01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25816" y="216278"/>
            <a:ext cx="2025253" cy="4608076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0057" y="216278"/>
            <a:ext cx="5925741" cy="4608076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8116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5" y="1677397"/>
            <a:ext cx="7650956" cy="11579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169" y="3060382"/>
            <a:ext cx="6300788" cy="1380173"/>
          </a:xfrm>
        </p:spPr>
        <p:txBody>
          <a:bodyPr/>
          <a:lstStyle>
            <a:lvl1pPr marL="0" indent="0" algn="ctr">
              <a:buNone/>
              <a:defRPr/>
            </a:lvl1pPr>
            <a:lvl2pPr marL="259232" indent="0" algn="ctr">
              <a:buNone/>
              <a:defRPr/>
            </a:lvl2pPr>
            <a:lvl3pPr marL="518465" indent="0" algn="ctr">
              <a:buNone/>
              <a:defRPr/>
            </a:lvl3pPr>
            <a:lvl4pPr marL="777697" indent="0" algn="ctr">
              <a:buNone/>
              <a:defRPr/>
            </a:lvl4pPr>
            <a:lvl5pPr marL="1036930" indent="0" algn="ctr">
              <a:buNone/>
              <a:defRPr/>
            </a:lvl5pPr>
            <a:lvl6pPr marL="1296162" indent="0" algn="ctr">
              <a:buNone/>
              <a:defRPr/>
            </a:lvl6pPr>
            <a:lvl7pPr marL="1555394" indent="0" algn="ctr">
              <a:buNone/>
              <a:defRPr/>
            </a:lvl7pPr>
            <a:lvl8pPr marL="1814627" indent="0" algn="ctr">
              <a:buNone/>
              <a:defRPr/>
            </a:lvl8pPr>
            <a:lvl9pPr marL="2073859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2158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0151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124" y="3470122"/>
            <a:ext cx="7650956" cy="1072634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124" y="2288724"/>
            <a:ext cx="7650956" cy="1181398"/>
          </a:xfrm>
        </p:spPr>
        <p:txBody>
          <a:bodyPr anchor="b"/>
          <a:lstStyle>
            <a:lvl1pPr marL="0" indent="0">
              <a:buNone/>
              <a:defRPr sz="1100"/>
            </a:lvl1pPr>
            <a:lvl2pPr marL="259232" indent="0">
              <a:buNone/>
              <a:defRPr sz="1000"/>
            </a:lvl2pPr>
            <a:lvl3pPr marL="518465" indent="0">
              <a:buNone/>
              <a:defRPr sz="900"/>
            </a:lvl3pPr>
            <a:lvl4pPr marL="777697" indent="0">
              <a:buNone/>
              <a:defRPr sz="800"/>
            </a:lvl4pPr>
            <a:lvl5pPr marL="1036930" indent="0">
              <a:buNone/>
              <a:defRPr sz="800"/>
            </a:lvl5pPr>
            <a:lvl6pPr marL="1296162" indent="0">
              <a:buNone/>
              <a:defRPr sz="800"/>
            </a:lvl6pPr>
            <a:lvl7pPr marL="1555394" indent="0">
              <a:buNone/>
              <a:defRPr sz="800"/>
            </a:lvl7pPr>
            <a:lvl8pPr marL="1814627" indent="0">
              <a:buNone/>
              <a:defRPr sz="800"/>
            </a:lvl8pPr>
            <a:lvl9pPr marL="2073859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5359747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9924" y="1537692"/>
            <a:ext cx="3814930" cy="336792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9239" y="1537692"/>
            <a:ext cx="3814930" cy="3367921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6715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6" y="216590"/>
            <a:ext cx="8101013" cy="900113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0056" y="1208589"/>
            <a:ext cx="3976669" cy="50443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9232" indent="0">
              <a:buNone/>
              <a:defRPr sz="1100" b="1"/>
            </a:lvl2pPr>
            <a:lvl3pPr marL="518465" indent="0">
              <a:buNone/>
              <a:defRPr sz="1000" b="1"/>
            </a:lvl3pPr>
            <a:lvl4pPr marL="777697" indent="0">
              <a:buNone/>
              <a:defRPr sz="900" b="1"/>
            </a:lvl4pPr>
            <a:lvl5pPr marL="1036930" indent="0">
              <a:buNone/>
              <a:defRPr sz="900" b="1"/>
            </a:lvl5pPr>
            <a:lvl6pPr marL="1296162" indent="0">
              <a:buNone/>
              <a:defRPr sz="900" b="1"/>
            </a:lvl6pPr>
            <a:lvl7pPr marL="1555394" indent="0">
              <a:buNone/>
              <a:defRPr sz="900" b="1"/>
            </a:lvl7pPr>
            <a:lvl8pPr marL="1814627" indent="0">
              <a:buNone/>
              <a:defRPr sz="900" b="1"/>
            </a:lvl8pPr>
            <a:lvl9pPr marL="2073859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056" y="1713027"/>
            <a:ext cx="3976669" cy="3111014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642" y="1208589"/>
            <a:ext cx="3978427" cy="504438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59232" indent="0">
              <a:buNone/>
              <a:defRPr sz="1100" b="1"/>
            </a:lvl2pPr>
            <a:lvl3pPr marL="518465" indent="0">
              <a:buNone/>
              <a:defRPr sz="1000" b="1"/>
            </a:lvl3pPr>
            <a:lvl4pPr marL="777697" indent="0">
              <a:buNone/>
              <a:defRPr sz="900" b="1"/>
            </a:lvl4pPr>
            <a:lvl5pPr marL="1036930" indent="0">
              <a:buNone/>
              <a:defRPr sz="900" b="1"/>
            </a:lvl5pPr>
            <a:lvl6pPr marL="1296162" indent="0">
              <a:buNone/>
              <a:defRPr sz="900" b="1"/>
            </a:lvl6pPr>
            <a:lvl7pPr marL="1555394" indent="0">
              <a:buNone/>
              <a:defRPr sz="900" b="1"/>
            </a:lvl7pPr>
            <a:lvl8pPr marL="1814627" indent="0">
              <a:buNone/>
              <a:defRPr sz="900" b="1"/>
            </a:lvl8pPr>
            <a:lvl9pPr marL="2073859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642" y="1713027"/>
            <a:ext cx="3978427" cy="3111014"/>
          </a:xfrm>
        </p:spPr>
        <p:txBody>
          <a:bodyPr/>
          <a:lstStyle>
            <a:lvl1pPr>
              <a:defRPr sz="14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43984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8685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32873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56" y="214715"/>
            <a:ext cx="2961406" cy="915114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9581" y="214715"/>
            <a:ext cx="5031488" cy="460932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0056" y="1129829"/>
            <a:ext cx="2961406" cy="3694212"/>
          </a:xfrm>
        </p:spPr>
        <p:txBody>
          <a:bodyPr/>
          <a:lstStyle>
            <a:lvl1pPr marL="0" indent="0">
              <a:buNone/>
              <a:defRPr sz="800"/>
            </a:lvl1pPr>
            <a:lvl2pPr marL="259232" indent="0">
              <a:buNone/>
              <a:defRPr sz="700"/>
            </a:lvl2pPr>
            <a:lvl3pPr marL="518465" indent="0">
              <a:buNone/>
              <a:defRPr sz="600"/>
            </a:lvl3pPr>
            <a:lvl4pPr marL="777697" indent="0">
              <a:buNone/>
              <a:defRPr sz="500"/>
            </a:lvl4pPr>
            <a:lvl5pPr marL="1036930" indent="0">
              <a:buNone/>
              <a:defRPr sz="500"/>
            </a:lvl5pPr>
            <a:lvl6pPr marL="1296162" indent="0">
              <a:buNone/>
              <a:defRPr sz="500"/>
            </a:lvl6pPr>
            <a:lvl7pPr marL="1555394" indent="0">
              <a:buNone/>
              <a:defRPr sz="500"/>
            </a:lvl7pPr>
            <a:lvl8pPr marL="1814627" indent="0">
              <a:buNone/>
              <a:defRPr sz="500"/>
            </a:lvl8pPr>
            <a:lvl9pPr marL="2073859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355521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186" y="3780472"/>
            <a:ext cx="5400675" cy="446306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64186" y="482873"/>
            <a:ext cx="5400675" cy="3240405"/>
          </a:xfrm>
        </p:spPr>
        <p:txBody>
          <a:bodyPr/>
          <a:lstStyle>
            <a:lvl1pPr marL="0" indent="0">
              <a:buNone/>
              <a:defRPr sz="1800"/>
            </a:lvl1pPr>
            <a:lvl2pPr marL="259232" indent="0">
              <a:buNone/>
              <a:defRPr sz="1600"/>
            </a:lvl2pPr>
            <a:lvl3pPr marL="518465" indent="0">
              <a:buNone/>
              <a:defRPr sz="1400"/>
            </a:lvl3pPr>
            <a:lvl4pPr marL="777697" indent="0">
              <a:buNone/>
              <a:defRPr sz="1100"/>
            </a:lvl4pPr>
            <a:lvl5pPr marL="1036930" indent="0">
              <a:buNone/>
              <a:defRPr sz="1100"/>
            </a:lvl5pPr>
            <a:lvl6pPr marL="1296162" indent="0">
              <a:buNone/>
              <a:defRPr sz="1100"/>
            </a:lvl6pPr>
            <a:lvl7pPr marL="1555394" indent="0">
              <a:buNone/>
              <a:defRPr sz="1100"/>
            </a:lvl7pPr>
            <a:lvl8pPr marL="1814627" indent="0">
              <a:buNone/>
              <a:defRPr sz="1100"/>
            </a:lvl8pPr>
            <a:lvl9pPr marL="2073859" indent="0">
              <a:buNone/>
              <a:defRPr sz="1100"/>
            </a:lvl9pPr>
          </a:lstStyle>
          <a:p>
            <a:pPr lvl="0"/>
            <a:endParaRPr lang="en-US" noProof="0" smtClean="0">
              <a:sym typeface="Gill Sans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4186" y="4226778"/>
            <a:ext cx="5400675" cy="633829"/>
          </a:xfrm>
        </p:spPr>
        <p:txBody>
          <a:bodyPr/>
          <a:lstStyle>
            <a:lvl1pPr marL="0" indent="0">
              <a:buNone/>
              <a:defRPr sz="800"/>
            </a:lvl1pPr>
            <a:lvl2pPr marL="259232" indent="0">
              <a:buNone/>
              <a:defRPr sz="700"/>
            </a:lvl2pPr>
            <a:lvl3pPr marL="518465" indent="0">
              <a:buNone/>
              <a:defRPr sz="600"/>
            </a:lvl3pPr>
            <a:lvl4pPr marL="777697" indent="0">
              <a:buNone/>
              <a:defRPr sz="500"/>
            </a:lvl4pPr>
            <a:lvl5pPr marL="1036930" indent="0">
              <a:buNone/>
              <a:defRPr sz="500"/>
            </a:lvl5pPr>
            <a:lvl6pPr marL="1296162" indent="0">
              <a:buNone/>
              <a:defRPr sz="500"/>
            </a:lvl6pPr>
            <a:lvl7pPr marL="1555394" indent="0">
              <a:buNone/>
              <a:defRPr sz="500"/>
            </a:lvl7pPr>
            <a:lvl8pPr marL="1814627" indent="0">
              <a:buNone/>
              <a:defRPr sz="500"/>
            </a:lvl8pPr>
            <a:lvl9pPr marL="2073859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386927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741995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25608" y="142518"/>
            <a:ext cx="1928561" cy="47630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9924" y="142518"/>
            <a:ext cx="5701299" cy="476309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2824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0057" y="216278"/>
            <a:ext cx="8101013" cy="900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0057" y="1260159"/>
            <a:ext cx="8101013" cy="35641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0057" y="5005628"/>
            <a:ext cx="210026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793EF-9FB5-4406-A656-BF1DB2720DA9}" type="datetimeFigureOut">
              <a:rPr lang="pt-BR" smtClean="0"/>
              <a:t>25/06/2015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75385" y="5005628"/>
            <a:ext cx="2850356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0807" y="5005628"/>
            <a:ext cx="2100263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F3B88-FBDB-4B41-AEC8-C7729B2B2A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906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39924" y="142518"/>
            <a:ext cx="7714245" cy="1357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804" tIns="28804" rIns="28804" bIns="288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9924" y="1537692"/>
            <a:ext cx="7714245" cy="336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28804" tIns="28804" rIns="28804" bIns="288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charset="0"/>
              </a:rPr>
              <a:t>Click to edit Master text styles</a:t>
            </a:r>
          </a:p>
          <a:p>
            <a:pPr lvl="1"/>
            <a:r>
              <a:rPr lang="en-US">
                <a:sym typeface="Gill Sans" charset="0"/>
              </a:rPr>
              <a:t>Second level</a:t>
            </a:r>
          </a:p>
          <a:p>
            <a:pPr lvl="2"/>
            <a:r>
              <a:rPr lang="en-US">
                <a:sym typeface="Gill Sans" charset="0"/>
              </a:rPr>
              <a:t>Third level</a:t>
            </a:r>
          </a:p>
          <a:p>
            <a:pPr lvl="3"/>
            <a:r>
              <a:rPr lang="en-US">
                <a:sym typeface="Gill Sans" charset="0"/>
              </a:rPr>
              <a:t>Fourth level</a:t>
            </a:r>
          </a:p>
          <a:p>
            <a:pPr lvl="4"/>
            <a:r>
              <a:rPr lang="en-US">
                <a:sym typeface="Gill Sans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849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+mj-lt"/>
          <a:ea typeface="+mj-ea"/>
          <a:cs typeface="+mj-cs"/>
          <a:sym typeface="Gill Sans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5pPr>
      <a:lvl6pPr marL="259232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6pPr>
      <a:lvl7pPr marL="518465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7pPr>
      <a:lvl8pPr marL="777697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8pPr>
      <a:lvl9pPr marL="1036930" algn="ctr" rtl="0" fontAlgn="base">
        <a:spcBef>
          <a:spcPct val="0"/>
        </a:spcBef>
        <a:spcAft>
          <a:spcPct val="0"/>
        </a:spcAft>
        <a:defRPr sz="4300">
          <a:solidFill>
            <a:schemeClr val="tx1"/>
          </a:solidFill>
          <a:latin typeface="Gill Sans" charset="0"/>
          <a:ea typeface="ヒラギノ角ゴ ProN W3" charset="0"/>
          <a:cs typeface="ヒラギノ角ゴ ProN W3" charset="0"/>
          <a:sym typeface="Gill Sans" charset="0"/>
        </a:defRPr>
      </a:lvl9pPr>
    </p:titleStyle>
    <p:bodyStyle>
      <a:lvl1pPr marL="396050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1pPr>
      <a:lvl2pPr marL="561670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2pPr>
      <a:lvl3pPr marL="727291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3pPr>
      <a:lvl4pPr marL="900113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4pPr>
      <a:lvl5pPr marL="1065733" indent="-302438" algn="l" rtl="0" eaLnBrk="0" fontAlgn="base" hangingPunct="0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5pPr>
      <a:lvl6pPr marL="1324966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6pPr>
      <a:lvl7pPr marL="1584198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7pPr>
      <a:lvl8pPr marL="1843430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8pPr>
      <a:lvl9pPr marL="2102663" indent="-302438" algn="l" rtl="0" fontAlgn="base">
        <a:spcBef>
          <a:spcPts val="1985"/>
        </a:spcBef>
        <a:spcAft>
          <a:spcPct val="0"/>
        </a:spcAft>
        <a:buSzPct val="171000"/>
        <a:buFont typeface="Gill Sans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  <a:sym typeface="Gill Sans" charset="0"/>
        </a:defRPr>
      </a:lvl9pPr>
    </p:bodyStyle>
    <p:otherStyle>
      <a:defPPr>
        <a:defRPr lang="en-US"/>
      </a:defPPr>
      <a:lvl1pPr marL="0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9232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8465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7697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36930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96162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55394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14627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73859" algn="l" defTabSz="259232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" descr="41317-041317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858" r="22798"/>
          <a:stretch>
            <a:fillRect/>
          </a:stretch>
        </p:blipFill>
        <p:spPr bwMode="auto">
          <a:xfrm>
            <a:off x="0" y="0"/>
            <a:ext cx="9001125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TextBox 27"/>
          <p:cNvSpPr txBox="1">
            <a:spLocks noChangeArrowheads="1"/>
          </p:cNvSpPr>
          <p:nvPr/>
        </p:nvSpPr>
        <p:spPr bwMode="auto">
          <a:xfrm>
            <a:off x="487562" y="3162896"/>
            <a:ext cx="7585322" cy="529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2900" dirty="0" err="1" smtClean="0">
                <a:solidFill>
                  <a:schemeClr val="bg1"/>
                </a:solidFill>
                <a:latin typeface="Verdana" charset="0"/>
              </a:rPr>
              <a:t>Interatividade</a:t>
            </a:r>
            <a:r>
              <a:rPr lang="en-US" sz="2900" dirty="0" smtClean="0">
                <a:solidFill>
                  <a:schemeClr val="bg1"/>
                </a:solidFill>
                <a:latin typeface="Verdana" charset="0"/>
              </a:rPr>
              <a:t> - DA/R. </a:t>
            </a:r>
            <a:r>
              <a:rPr lang="en-US" sz="2900" dirty="0" err="1" smtClean="0">
                <a:solidFill>
                  <a:schemeClr val="bg1"/>
                </a:solidFill>
                <a:latin typeface="Verdana" charset="0"/>
              </a:rPr>
              <a:t>Sardinha</a:t>
            </a:r>
            <a:r>
              <a:rPr lang="en-US" sz="2900" dirty="0" smtClean="0">
                <a:solidFill>
                  <a:schemeClr val="bg1"/>
                </a:solidFill>
                <a:latin typeface="Verdana" charset="0"/>
              </a:rPr>
              <a:t>/2015 </a:t>
            </a:r>
            <a:endParaRPr lang="en-US" sz="2900" dirty="0">
              <a:solidFill>
                <a:schemeClr val="bg1"/>
              </a:solidFill>
              <a:latin typeface="Verdana" charset="0"/>
            </a:endParaRPr>
          </a:p>
        </p:txBody>
      </p:sp>
      <p:sp>
        <p:nvSpPr>
          <p:cNvPr id="13317" name="TextBox 28"/>
          <p:cNvSpPr txBox="1">
            <a:spLocks noChangeArrowheads="1"/>
          </p:cNvSpPr>
          <p:nvPr/>
        </p:nvSpPr>
        <p:spPr bwMode="auto">
          <a:xfrm>
            <a:off x="450055" y="1500188"/>
            <a:ext cx="8551069" cy="1626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sz="5900" b="1" dirty="0" smtClean="0">
                <a:solidFill>
                  <a:schemeClr val="tx2"/>
                </a:solidFill>
                <a:latin typeface="Gill Sans Std ExtraBold" pitchFamily="34" charset="0"/>
              </a:rPr>
              <a:t>Anti-</a:t>
            </a:r>
            <a:r>
              <a:rPr lang="en-US" sz="5900" b="1" dirty="0" err="1" smtClean="0">
                <a:solidFill>
                  <a:schemeClr val="tx2"/>
                </a:solidFill>
                <a:latin typeface="Gill Sans Std ExtraBold" pitchFamily="34" charset="0"/>
              </a:rPr>
              <a:t>fraude</a:t>
            </a:r>
            <a:r>
              <a:rPr lang="en-US" sz="5900" b="1" dirty="0" smtClean="0">
                <a:solidFill>
                  <a:schemeClr val="tx2"/>
                </a:solidFill>
                <a:latin typeface="Gill Sans Std ExtraBold" pitchFamily="34" charset="0"/>
              </a:rPr>
              <a:t> Auto Atendimento</a:t>
            </a:r>
            <a:endParaRPr lang="en-US" sz="59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  <p:pic>
        <p:nvPicPr>
          <p:cNvPr id="13318" name="Picture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088" y="2280285"/>
            <a:ext cx="737592" cy="54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"/>
          <p:cNvSpPr txBox="1">
            <a:spLocks noChangeArrowheads="1"/>
          </p:cNvSpPr>
          <p:nvPr/>
        </p:nvSpPr>
        <p:spPr bwMode="auto">
          <a:xfrm>
            <a:off x="470376" y="4500537"/>
            <a:ext cx="4083554" cy="51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1400" b="1" dirty="0" smtClean="0">
                <a:solidFill>
                  <a:schemeClr val="bg1"/>
                </a:solidFill>
                <a:latin typeface="Gill Sans Std" pitchFamily="34" charset="0"/>
              </a:rPr>
              <a:t>// VP TD</a:t>
            </a:r>
            <a:endParaRPr lang="en-US" sz="1400" b="1" dirty="0">
              <a:solidFill>
                <a:schemeClr val="bg1"/>
              </a:solidFill>
              <a:latin typeface="Gill Sans Std" pitchFamily="34" charset="0"/>
            </a:endParaRPr>
          </a:p>
          <a:p>
            <a:pPr eaLnBrk="1" hangingPunct="1"/>
            <a:r>
              <a:rPr lang="en-US" sz="1400" dirty="0" smtClean="0">
                <a:solidFill>
                  <a:schemeClr val="bg1"/>
                </a:solidFill>
                <a:latin typeface="Gill Sans Std" pitchFamily="34" charset="0"/>
              </a:rPr>
              <a:t>// </a:t>
            </a:r>
            <a:r>
              <a:rPr lang="en-US" sz="1400" b="1" dirty="0" smtClean="0">
                <a:solidFill>
                  <a:schemeClr val="bg1"/>
                </a:solidFill>
                <a:latin typeface="Gill Sans Std" pitchFamily="34" charset="0"/>
              </a:rPr>
              <a:t>forum de yellow pad - novas demandas de TD</a:t>
            </a:r>
            <a:endParaRPr lang="en-US" sz="1400" dirty="0">
              <a:solidFill>
                <a:schemeClr val="bg1"/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34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70"/>
            <a:ext cx="9001124" cy="4032448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8" name="Rectangle 3"/>
          <p:cNvSpPr>
            <a:spLocks/>
          </p:cNvSpPr>
          <p:nvPr/>
        </p:nvSpPr>
        <p:spPr bwMode="auto">
          <a:xfrm>
            <a:off x="332652" y="544742"/>
            <a:ext cx="3329575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tx2"/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CONTEXTO</a:t>
            </a:r>
            <a:endParaRPr lang="en-US" sz="3800" dirty="0">
              <a:solidFill>
                <a:schemeClr val="tx2"/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80082" y="2196281"/>
            <a:ext cx="8480138" cy="1984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lvl="0"/>
            <a:r>
              <a:rPr lang="pt-BR" sz="1200" b="1" dirty="0"/>
              <a:t>Conceito e Histórico da ação:</a:t>
            </a:r>
            <a:endParaRPr lang="pt-BR" sz="1200" dirty="0"/>
          </a:p>
          <a:p>
            <a:r>
              <a:rPr lang="pt-BR" sz="1200" dirty="0" smtClean="0"/>
              <a:t>Atualmente </a:t>
            </a:r>
            <a:r>
              <a:rPr lang="pt-BR" sz="1200" dirty="0"/>
              <a:t>o sistema de criação de reclamações utilizado pelo site Autoatendimento, SAP CRM,</a:t>
            </a:r>
          </a:p>
          <a:p>
            <a:r>
              <a:rPr lang="pt-BR" sz="1200" dirty="0"/>
              <a:t>permite que, através de requisições simultâneas, um usuário crie a mesma reclamação diversas</a:t>
            </a:r>
          </a:p>
          <a:p>
            <a:r>
              <a:rPr lang="pt-BR" sz="1200" dirty="0"/>
              <a:t>vezes, gerando ônus financeiro para a Natura.</a:t>
            </a:r>
            <a:endParaRPr lang="pt-BR" sz="1200" dirty="0" smtClean="0"/>
          </a:p>
          <a:p>
            <a:endParaRPr lang="pt-BR" sz="1200" dirty="0"/>
          </a:p>
          <a:p>
            <a:pPr lvl="0"/>
            <a:r>
              <a:rPr lang="pt-BR" sz="1200" b="1" dirty="0"/>
              <a:t>Público alvo:</a:t>
            </a:r>
            <a:endParaRPr lang="pt-BR" sz="1200" dirty="0"/>
          </a:p>
          <a:p>
            <a:pPr lvl="0"/>
            <a:r>
              <a:rPr lang="pt-BR" sz="1200" dirty="0" err="1" smtClean="0"/>
              <a:t>CNs</a:t>
            </a:r>
            <a:r>
              <a:rPr lang="pt-BR" sz="1200" dirty="0" smtClean="0"/>
              <a:t> - </a:t>
            </a:r>
            <a:r>
              <a:rPr lang="pt-BR" sz="1200" dirty="0"/>
              <a:t>Público do site Autoatendimento.</a:t>
            </a:r>
          </a:p>
          <a:p>
            <a:endParaRPr lang="pt-BR" sz="1200" dirty="0">
              <a:solidFill>
                <a:schemeClr val="tx2"/>
              </a:solidFill>
              <a:latin typeface="+mj-lt"/>
            </a:endParaRPr>
          </a:p>
          <a:p>
            <a:r>
              <a:rPr lang="pt-BR" sz="1200" dirty="0"/>
              <a:t> </a:t>
            </a:r>
            <a:endParaRPr lang="pt-BR" sz="12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" charset="0"/>
              <a:ea typeface="MS PGothic" charset="0"/>
              <a:cs typeface="Gill Sans Std ExtraBold"/>
            </a:endParaRPr>
          </a:p>
          <a:p>
            <a:pPr eaLnBrk="1" hangingPunct="1">
              <a:lnSpc>
                <a:spcPts val="1980"/>
              </a:lnSpc>
              <a:defRPr/>
            </a:pPr>
            <a:endParaRPr lang="pt-BR" sz="1200" spc="140" dirty="0">
              <a:solidFill>
                <a:schemeClr val="tx1">
                  <a:lumMod val="65000"/>
                  <a:lumOff val="35000"/>
                </a:schemeClr>
              </a:solidFill>
              <a:latin typeface="Gill Sans Std ExtraBold"/>
              <a:ea typeface="MS PGothic" charset="0"/>
              <a:cs typeface="Gill Sans Std ExtraBold"/>
            </a:endParaRPr>
          </a:p>
        </p:txBody>
      </p:sp>
      <p:pic>
        <p:nvPicPr>
          <p:cNvPr id="15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2308" y="59181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540956"/>
              </p:ext>
            </p:extLst>
          </p:nvPr>
        </p:nvGraphicFramePr>
        <p:xfrm>
          <a:off x="198797" y="1332185"/>
          <a:ext cx="4442428" cy="777240"/>
        </p:xfrm>
        <a:graphic>
          <a:graphicData uri="http://schemas.openxmlformats.org/drawingml/2006/table">
            <a:tbl>
              <a:tblPr/>
              <a:tblGrid>
                <a:gridCol w="1571998"/>
                <a:gridCol w="2870430"/>
              </a:tblGrid>
              <a:tr h="165498">
                <a:tc>
                  <a:txBody>
                    <a:bodyPr/>
                    <a:lstStyle/>
                    <a:p>
                      <a:r>
                        <a:rPr lang="pt-B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Solicitante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GRP REDES – KEITH (anterior CAIO)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6604">
                <a:tc>
                  <a:txBody>
                    <a:bodyPr/>
                    <a:lstStyle/>
                    <a:p>
                      <a:r>
                        <a:rPr lang="pt-BR" sz="11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Área de Negócio 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MKT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5498">
                <a:tc>
                  <a:txBody>
                    <a:bodyPr/>
                    <a:lstStyle/>
                    <a:p>
                      <a:r>
                        <a:rPr lang="pt-BR" sz="11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Área de </a:t>
                      </a:r>
                      <a:r>
                        <a:rPr lang="pt-BR" sz="11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TD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 Std" pitchFamily="34" charset="0"/>
                        </a:rPr>
                        <a:t>interatividade</a:t>
                      </a:r>
                      <a:endParaRPr lang="pt-BR" sz="1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 Std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Retângulo 3"/>
          <p:cNvSpPr/>
          <p:nvPr/>
        </p:nvSpPr>
        <p:spPr>
          <a:xfrm>
            <a:off x="4068514" y="107792"/>
            <a:ext cx="4142737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Anti-</a:t>
            </a:r>
            <a:r>
              <a:rPr lang="en-US" b="1" dirty="0" err="1" smtClean="0">
                <a:solidFill>
                  <a:schemeClr val="tx2"/>
                </a:solidFill>
                <a:latin typeface="Gill Sans Std ExtraBold" pitchFamily="34" charset="0"/>
              </a:rPr>
              <a:t>fraude</a:t>
            </a:r>
            <a:r>
              <a:rPr lang="en-US" b="1" dirty="0" smtClean="0">
                <a:solidFill>
                  <a:schemeClr val="tx2"/>
                </a:solidFill>
                <a:latin typeface="Gill Sans Std ExtraBold" pitchFamily="34" charset="0"/>
              </a:rPr>
              <a:t> Auto Atendimento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72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3329575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O</a:t>
            </a: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BJETIVOS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1" name="Text Box 3"/>
          <p:cNvSpPr txBox="1">
            <a:spLocks noChangeArrowheads="1"/>
          </p:cNvSpPr>
          <p:nvPr/>
        </p:nvSpPr>
        <p:spPr bwMode="auto">
          <a:xfrm>
            <a:off x="252090" y="1514996"/>
            <a:ext cx="5184576" cy="804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r>
              <a:rPr lang="pt-BR" sz="1600" dirty="0" smtClean="0"/>
              <a:t>Desenvolver um </a:t>
            </a:r>
            <a:r>
              <a:rPr lang="pt-BR" sz="1600" dirty="0"/>
              <a:t>mecanismo que evite fraudes, intencionais ou não, na criação de reclamações através do </a:t>
            </a:r>
            <a:r>
              <a:rPr lang="pt-BR" sz="1600" dirty="0" smtClean="0"/>
              <a:t>site Autoatendimento </a:t>
            </a:r>
            <a:endParaRPr lang="pt-BR" sz="1600" dirty="0"/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18638" y="2484313"/>
            <a:ext cx="8590854" cy="2035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lvl="0"/>
            <a:r>
              <a:rPr lang="pt-BR" sz="1600" b="1" dirty="0"/>
              <a:t>Objetivos </a:t>
            </a:r>
            <a:endParaRPr lang="pt-BR" sz="1600" dirty="0"/>
          </a:p>
          <a:p>
            <a:r>
              <a:rPr lang="pt-BR" sz="1600" dirty="0" smtClean="0"/>
              <a:t>Editar tabela do banco de dados do OWCS existente admitindo novos dados, gravar as requisições realizadas pelas </a:t>
            </a:r>
            <a:r>
              <a:rPr lang="pt-BR" sz="1600" dirty="0" err="1" smtClean="0"/>
              <a:t>cns</a:t>
            </a:r>
            <a:r>
              <a:rPr lang="pt-BR" sz="1600" dirty="0" smtClean="0"/>
              <a:t> para </a:t>
            </a:r>
            <a:r>
              <a:rPr lang="pt-BR" sz="1600" dirty="0"/>
              <a:t>que o sistema </a:t>
            </a:r>
            <a:r>
              <a:rPr lang="pt-BR" sz="1600" dirty="0" smtClean="0"/>
              <a:t>tenha condições de validar as requisições e verificar </a:t>
            </a:r>
            <a:r>
              <a:rPr lang="pt-BR" sz="1600" dirty="0"/>
              <a:t>se existe uma requisição ao serviço em curso para um determinado </a:t>
            </a:r>
            <a:r>
              <a:rPr lang="pt-BR" sz="1600" dirty="0" smtClean="0"/>
              <a:t>usuário.</a:t>
            </a:r>
            <a:endParaRPr lang="pt-BR" sz="1600" dirty="0" smtClean="0"/>
          </a:p>
          <a:p>
            <a:endParaRPr lang="pt-BR" sz="1600" b="1" dirty="0" smtClean="0"/>
          </a:p>
          <a:p>
            <a:r>
              <a:rPr lang="pt-BR" sz="1600" b="1" dirty="0" smtClean="0"/>
              <a:t>Volume</a:t>
            </a:r>
          </a:p>
          <a:p>
            <a:r>
              <a:rPr lang="pt-BR" sz="1600" dirty="0" smtClean="0"/>
              <a:t>3 mil requisições </a:t>
            </a:r>
            <a:r>
              <a:rPr lang="pt-BR" sz="1600" dirty="0" err="1" smtClean="0"/>
              <a:t>spor</a:t>
            </a:r>
            <a:r>
              <a:rPr lang="pt-BR" sz="1600" dirty="0" smtClean="0"/>
              <a:t> mês ou 15% do total dos acessos do AA são para este fim.</a:t>
            </a:r>
            <a:endParaRPr lang="pt-BR" sz="1600" dirty="0"/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5573795" y="1336486"/>
            <a:ext cx="3301768" cy="82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62658" tIns="32582" rIns="62658" bIns="32582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algn="l" eaLnBrk="1" hangingPunct="1">
              <a:lnSpc>
                <a:spcPct val="110000"/>
              </a:lnSpc>
              <a:defRPr/>
            </a:pPr>
            <a:r>
              <a:rPr lang="pt-BR" sz="1300" b="1" spc="140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  <a:ea typeface="MS PGothic" charset="0"/>
                <a:cs typeface="MS PGothic" charset="0"/>
              </a:rPr>
              <a:t>Briefing: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pt-BR" sz="1600" dirty="0">
                <a:solidFill>
                  <a:srgbClr val="0070C0"/>
                </a:solidFill>
                <a:latin typeface="Gill Sans Std" pitchFamily="34" charset="0"/>
                <a:ea typeface="MS PGothic" charset="0"/>
                <a:cs typeface="MS PGothic" charset="0"/>
              </a:rPr>
              <a:t>Link sharepoint do briefing cadastrado</a:t>
            </a:r>
          </a:p>
          <a:p>
            <a:pPr algn="l" eaLnBrk="1" hangingPunct="1">
              <a:lnSpc>
                <a:spcPct val="110000"/>
              </a:lnSpc>
              <a:defRPr/>
            </a:pPr>
            <a:r>
              <a:rPr lang="pt-BR" sz="1600" dirty="0" smtClean="0">
                <a:solidFill>
                  <a:srgbClr val="0070C0"/>
                </a:solidFill>
                <a:latin typeface="Gill Sans Std" pitchFamily="34" charset="0"/>
                <a:ea typeface="MS PGothic" charset="0"/>
                <a:cs typeface="MS PGothic" charset="0"/>
              </a:rPr>
              <a:t>Link planilha de requerimentos</a:t>
            </a:r>
            <a:endParaRPr lang="pt-BR" sz="1600" dirty="0">
              <a:solidFill>
                <a:srgbClr val="0070C0"/>
              </a:solidFill>
              <a:latin typeface="Gill Sans Std" pitchFamily="34" charset="0"/>
              <a:ea typeface="MS PGothic" charset="0"/>
              <a:cs typeface="MS PGothic" charset="0"/>
            </a:endParaRPr>
          </a:p>
        </p:txBody>
      </p:sp>
      <p:pic>
        <p:nvPicPr>
          <p:cNvPr id="3074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4068514" y="107792"/>
            <a:ext cx="4142737" cy="328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Anti-</a:t>
            </a:r>
            <a:r>
              <a:rPr lang="en-US" b="1" dirty="0" err="1">
                <a:solidFill>
                  <a:schemeClr val="tx2"/>
                </a:solidFill>
                <a:latin typeface="Gill Sans Std ExtraBold" pitchFamily="34" charset="0"/>
              </a:rPr>
              <a:t>fraude</a:t>
            </a: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 Auto Atendimento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73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dirty="0">
                <a:solidFill>
                  <a:schemeClr val="tx1"/>
                </a:solidFill>
              </a:rPr>
              <a:t> </a:t>
            </a:r>
          </a:p>
          <a:p>
            <a:r>
              <a:rPr lang="pt-BR" sz="1200" b="1" dirty="0" smtClean="0">
                <a:solidFill>
                  <a:schemeClr val="tx1"/>
                </a:solidFill>
              </a:rPr>
              <a:t>Criar </a:t>
            </a:r>
            <a:r>
              <a:rPr lang="pt-BR" sz="1200" b="1" dirty="0" smtClean="0">
                <a:solidFill>
                  <a:schemeClr val="tx1"/>
                </a:solidFill>
              </a:rPr>
              <a:t>em  um banco de dados </a:t>
            </a:r>
            <a:r>
              <a:rPr lang="pt-BR" sz="1200" b="1" dirty="0" err="1" smtClean="0">
                <a:solidFill>
                  <a:schemeClr val="tx1"/>
                </a:solidFill>
              </a:rPr>
              <a:t>wcs</a:t>
            </a:r>
            <a:r>
              <a:rPr lang="pt-BR" sz="1200" b="1" dirty="0" smtClean="0">
                <a:solidFill>
                  <a:schemeClr val="tx1"/>
                </a:solidFill>
              </a:rPr>
              <a:t> uma </a:t>
            </a:r>
            <a:r>
              <a:rPr lang="pt-BR" sz="1200" b="1" dirty="0">
                <a:solidFill>
                  <a:schemeClr val="tx1"/>
                </a:solidFill>
              </a:rPr>
              <a:t>“</a:t>
            </a:r>
            <a:r>
              <a:rPr lang="pt-BR" sz="1200" b="1" dirty="0" smtClean="0">
                <a:solidFill>
                  <a:schemeClr val="tx1"/>
                </a:solidFill>
              </a:rPr>
              <a:t>fila de registros” </a:t>
            </a:r>
            <a:r>
              <a:rPr lang="pt-BR" sz="1200" b="1" dirty="0">
                <a:solidFill>
                  <a:schemeClr val="tx1"/>
                </a:solidFill>
              </a:rPr>
              <a:t>de requisições</a:t>
            </a:r>
          </a:p>
          <a:p>
            <a:endParaRPr lang="pt-BR" sz="1200" dirty="0" smtClean="0">
              <a:solidFill>
                <a:schemeClr val="tx1"/>
              </a:solidFill>
            </a:endParaRPr>
          </a:p>
          <a:p>
            <a:r>
              <a:rPr lang="pt-BR" sz="1200" dirty="0" smtClean="0">
                <a:solidFill>
                  <a:schemeClr val="tx1"/>
                </a:solidFill>
              </a:rPr>
              <a:t>Antes </a:t>
            </a:r>
            <a:r>
              <a:rPr lang="pt-BR" sz="1200" dirty="0">
                <a:solidFill>
                  <a:schemeClr val="tx1"/>
                </a:solidFill>
              </a:rPr>
              <a:t>de fazer uma requisição ao serviço </a:t>
            </a:r>
            <a:r>
              <a:rPr lang="pt-BR" sz="1200" b="1" i="1" dirty="0" err="1">
                <a:solidFill>
                  <a:schemeClr val="tx1"/>
                </a:solidFill>
              </a:rPr>
              <a:t>CreateRequest</a:t>
            </a:r>
            <a:r>
              <a:rPr lang="pt-BR" sz="1200" b="1" i="1" dirty="0">
                <a:solidFill>
                  <a:schemeClr val="tx1"/>
                </a:solidFill>
              </a:rPr>
              <a:t> </a:t>
            </a:r>
            <a:r>
              <a:rPr lang="pt-BR" sz="1200" dirty="0">
                <a:solidFill>
                  <a:schemeClr val="tx1"/>
                </a:solidFill>
              </a:rPr>
              <a:t>o sistema irá </a:t>
            </a:r>
            <a:r>
              <a:rPr lang="pt-BR" sz="1200" b="1" dirty="0">
                <a:solidFill>
                  <a:schemeClr val="tx1"/>
                </a:solidFill>
              </a:rPr>
              <a:t>verificar</a:t>
            </a:r>
            <a:r>
              <a:rPr lang="pt-BR" sz="1200" dirty="0">
                <a:solidFill>
                  <a:schemeClr val="tx1"/>
                </a:solidFill>
              </a:rPr>
              <a:t>, através do</a:t>
            </a:r>
          </a:p>
          <a:p>
            <a:r>
              <a:rPr lang="pt-BR" sz="1200" b="1" dirty="0" smtClean="0">
                <a:solidFill>
                  <a:schemeClr val="tx1"/>
                </a:solidFill>
              </a:rPr>
              <a:t>Banco que editaremos</a:t>
            </a:r>
            <a:r>
              <a:rPr lang="pt-BR" sz="1200" dirty="0" smtClean="0">
                <a:solidFill>
                  <a:schemeClr val="tx1"/>
                </a:solidFill>
              </a:rPr>
              <a:t>, </a:t>
            </a:r>
            <a:r>
              <a:rPr lang="pt-BR" sz="1200" dirty="0">
                <a:solidFill>
                  <a:schemeClr val="tx1"/>
                </a:solidFill>
              </a:rPr>
              <a:t>se o usuário que está fazendo a requisição já possui uma requisição em curso antes de</a:t>
            </a:r>
          </a:p>
          <a:p>
            <a:r>
              <a:rPr lang="pt-BR" sz="1200" dirty="0">
                <a:solidFill>
                  <a:schemeClr val="tx1"/>
                </a:solidFill>
              </a:rPr>
              <a:t>criar uma nova</a:t>
            </a:r>
            <a:r>
              <a:rPr lang="pt-BR" sz="1200" dirty="0" smtClean="0">
                <a:solidFill>
                  <a:schemeClr val="tx1"/>
                </a:solidFill>
              </a:rPr>
              <a:t>.</a:t>
            </a:r>
          </a:p>
          <a:p>
            <a:endParaRPr lang="pt-BR" sz="1200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solidFill>
                  <a:schemeClr val="tx1"/>
                </a:solidFill>
              </a:rPr>
              <a:t>• Para cada requisição feita será incluída uma entrada no cache</a:t>
            </a:r>
            <a:r>
              <a:rPr lang="pt-BR" sz="1200" dirty="0" smtClean="0">
                <a:solidFill>
                  <a:schemeClr val="tx1"/>
                </a:solidFill>
              </a:rPr>
              <a:t>;</a:t>
            </a:r>
          </a:p>
          <a:p>
            <a:pPr marL="228600" indent="-228600">
              <a:buFont typeface="+mj-lt"/>
              <a:buAutoNum type="arabicPeriod"/>
            </a:pPr>
            <a:endParaRPr lang="pt-BR" sz="1200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solidFill>
                  <a:schemeClr val="tx1"/>
                </a:solidFill>
              </a:rPr>
              <a:t>o A entrada do cache será composta pelo pela seguinte combinação de chave/valor: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solidFill>
                  <a:schemeClr val="tx1"/>
                </a:solidFill>
              </a:rPr>
              <a:t>ID da CN/</a:t>
            </a:r>
            <a:r>
              <a:rPr lang="pt-BR" sz="1200" i="1" dirty="0" err="1">
                <a:solidFill>
                  <a:schemeClr val="tx1"/>
                </a:solidFill>
              </a:rPr>
              <a:t>Timestamp</a:t>
            </a:r>
            <a:r>
              <a:rPr lang="pt-BR" sz="1200" i="1" dirty="0">
                <a:solidFill>
                  <a:schemeClr val="tx1"/>
                </a:solidFill>
              </a:rPr>
              <a:t> </a:t>
            </a:r>
            <a:r>
              <a:rPr lang="pt-BR" sz="1200" dirty="0">
                <a:solidFill>
                  <a:schemeClr val="tx1"/>
                </a:solidFill>
              </a:rPr>
              <a:t>da Requisição</a:t>
            </a:r>
            <a:r>
              <a:rPr lang="pt-BR" sz="1200" dirty="0" smtClean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pt-BR" sz="1200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solidFill>
                  <a:schemeClr val="tx1"/>
                </a:solidFill>
              </a:rPr>
              <a:t>• Caso não exista uma entrada no cache indicando que aquele usuário possui uma </a:t>
            </a:r>
            <a:r>
              <a:rPr lang="pt-BR" sz="1200" dirty="0" smtClean="0">
                <a:solidFill>
                  <a:schemeClr val="tx1"/>
                </a:solidFill>
              </a:rPr>
              <a:t>requisição</a:t>
            </a:r>
          </a:p>
          <a:p>
            <a:pPr marL="228600" indent="-228600">
              <a:buFont typeface="+mj-lt"/>
              <a:buAutoNum type="arabicPeriod"/>
            </a:pPr>
            <a:endParaRPr lang="pt-BR" sz="1200" dirty="0">
              <a:solidFill>
                <a:schemeClr val="tx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1200" dirty="0">
                <a:solidFill>
                  <a:schemeClr val="tx1"/>
                </a:solidFill>
              </a:rPr>
              <a:t>em curso, a requisição será feita normalmente;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en-US" sz="1400" dirty="0" smtClean="0">
                <a:solidFill>
                  <a:srgbClr val="FF0000"/>
                </a:solidFill>
              </a:rPr>
              <a:t>				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669674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ESBOÇO DA SOLUÇÃO DE TD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pic>
        <p:nvPicPr>
          <p:cNvPr id="15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4068514" y="107792"/>
            <a:ext cx="4142737" cy="328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Anti-</a:t>
            </a:r>
            <a:r>
              <a:rPr lang="en-US" b="1" dirty="0" err="1">
                <a:solidFill>
                  <a:schemeClr val="tx2"/>
                </a:solidFill>
                <a:latin typeface="Gill Sans Std ExtraBold" pitchFamily="34" charset="0"/>
              </a:rPr>
              <a:t>fraude</a:t>
            </a: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 Auto Atendimento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95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dirty="0">
                <a:solidFill>
                  <a:schemeClr val="tx1"/>
                </a:solidFill>
              </a:rPr>
              <a:t> </a:t>
            </a:r>
          </a:p>
          <a:p>
            <a:r>
              <a:rPr lang="pt-BR" sz="1200" dirty="0" smtClean="0">
                <a:solidFill>
                  <a:schemeClr val="tx1"/>
                </a:solidFill>
              </a:rPr>
              <a:t>6- Caso </a:t>
            </a:r>
            <a:r>
              <a:rPr lang="pt-BR" sz="1200" dirty="0">
                <a:solidFill>
                  <a:schemeClr val="tx1"/>
                </a:solidFill>
              </a:rPr>
              <a:t>já exista uma entrada no cache indicando que aquele usuário possui uma requisição</a:t>
            </a:r>
          </a:p>
          <a:p>
            <a:r>
              <a:rPr lang="pt-BR" sz="1200" dirty="0">
                <a:solidFill>
                  <a:schemeClr val="tx1"/>
                </a:solidFill>
              </a:rPr>
              <a:t>em curso, o sistema irá retornar uma mensagem, configurável através de parâmetro de</a:t>
            </a:r>
          </a:p>
          <a:p>
            <a:r>
              <a:rPr lang="pt-BR" sz="1200" dirty="0">
                <a:solidFill>
                  <a:schemeClr val="tx1"/>
                </a:solidFill>
              </a:rPr>
              <a:t>configuração, indicando que a nova requisição não poderá ser completada</a:t>
            </a:r>
            <a:r>
              <a:rPr lang="pt-BR" sz="1200" dirty="0" smtClean="0">
                <a:solidFill>
                  <a:schemeClr val="tx1"/>
                </a:solidFill>
              </a:rPr>
              <a:t>.</a:t>
            </a:r>
          </a:p>
          <a:p>
            <a:endParaRPr lang="pt-BR" sz="1200" dirty="0">
              <a:solidFill>
                <a:schemeClr val="tx1"/>
              </a:solidFill>
            </a:endParaRPr>
          </a:p>
          <a:p>
            <a:r>
              <a:rPr lang="pt-BR" sz="1200" dirty="0" smtClean="0">
                <a:solidFill>
                  <a:schemeClr val="tx1"/>
                </a:solidFill>
              </a:rPr>
              <a:t>7-Ao </a:t>
            </a:r>
            <a:r>
              <a:rPr lang="pt-BR" sz="1200" dirty="0">
                <a:solidFill>
                  <a:schemeClr val="tx1"/>
                </a:solidFill>
              </a:rPr>
              <a:t>final de uma requisição, a respectiva entrada no cache deverá ser removida</a:t>
            </a:r>
            <a:r>
              <a:rPr lang="pt-BR" sz="1200" dirty="0" smtClean="0">
                <a:solidFill>
                  <a:schemeClr val="tx1"/>
                </a:solidFill>
              </a:rPr>
              <a:t>.</a:t>
            </a:r>
          </a:p>
          <a:p>
            <a:endParaRPr lang="pt-BR" sz="1200" dirty="0">
              <a:solidFill>
                <a:schemeClr val="tx1"/>
              </a:solidFill>
            </a:endParaRPr>
          </a:p>
          <a:p>
            <a:r>
              <a:rPr lang="pt-BR" sz="1200" dirty="0" smtClean="0">
                <a:solidFill>
                  <a:schemeClr val="tx1"/>
                </a:solidFill>
              </a:rPr>
              <a:t>8- Em </a:t>
            </a:r>
            <a:r>
              <a:rPr lang="pt-BR" sz="1200" dirty="0">
                <a:solidFill>
                  <a:schemeClr val="tx1"/>
                </a:solidFill>
              </a:rPr>
              <a:t>caso indisponibilidade ou erro retornado pelo serviço, a respectiva entrada no cache</a:t>
            </a:r>
          </a:p>
          <a:p>
            <a:r>
              <a:rPr lang="pt-BR" sz="1200" dirty="0">
                <a:solidFill>
                  <a:schemeClr val="tx1"/>
                </a:solidFill>
              </a:rPr>
              <a:t>deverá ser removida</a:t>
            </a:r>
            <a:r>
              <a:rPr lang="pt-BR" sz="1200" dirty="0" smtClean="0">
                <a:solidFill>
                  <a:schemeClr val="tx1"/>
                </a:solidFill>
              </a:rPr>
              <a:t>.</a:t>
            </a:r>
          </a:p>
          <a:p>
            <a:endParaRPr lang="pt-BR" sz="1200" dirty="0">
              <a:solidFill>
                <a:schemeClr val="tx1"/>
              </a:solidFill>
            </a:endParaRPr>
          </a:p>
          <a:p>
            <a:r>
              <a:rPr lang="pt-BR" sz="1200" dirty="0" smtClean="0">
                <a:solidFill>
                  <a:schemeClr val="tx1"/>
                </a:solidFill>
              </a:rPr>
              <a:t>9- Caso </a:t>
            </a:r>
            <a:r>
              <a:rPr lang="pt-BR" sz="1200" dirty="0">
                <a:solidFill>
                  <a:schemeClr val="tx1"/>
                </a:solidFill>
              </a:rPr>
              <a:t>exista uma entrada no cache e a diferença entre o horário da entrada e da nova</a:t>
            </a:r>
          </a:p>
          <a:p>
            <a:r>
              <a:rPr lang="pt-BR" sz="1200" dirty="0">
                <a:solidFill>
                  <a:schemeClr val="tx1"/>
                </a:solidFill>
              </a:rPr>
              <a:t>requisição seja maior que um intervalo cadastrado via parâmetro de configuração (exemplo:</a:t>
            </a:r>
          </a:p>
          <a:p>
            <a:r>
              <a:rPr lang="pt-BR" sz="1200" dirty="0">
                <a:solidFill>
                  <a:schemeClr val="tx1"/>
                </a:solidFill>
              </a:rPr>
              <a:t>10 minutos), a entrada será atualizada com o novo horário e a requisição será feita</a:t>
            </a:r>
          </a:p>
          <a:p>
            <a:r>
              <a:rPr lang="pt-BR" sz="1200" dirty="0">
                <a:solidFill>
                  <a:schemeClr val="tx1"/>
                </a:solidFill>
              </a:rPr>
              <a:t>normalmente. A intenção dessa ação é evitar que uma queda repentina do sistema bloqueie</a:t>
            </a:r>
          </a:p>
          <a:p>
            <a:r>
              <a:rPr lang="pt-BR" sz="1200" dirty="0">
                <a:solidFill>
                  <a:schemeClr val="tx1"/>
                </a:solidFill>
              </a:rPr>
              <a:t>requisições legitimas feitas no futuro.</a:t>
            </a:r>
            <a:r>
              <a:rPr lang="pt-BR" sz="1400" dirty="0">
                <a:solidFill>
                  <a:schemeClr val="tx1"/>
                </a:solidFill>
              </a:rPr>
              <a:t> 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en-US" sz="1400" dirty="0" smtClean="0">
                <a:solidFill>
                  <a:srgbClr val="FF0000"/>
                </a:solidFill>
              </a:rPr>
              <a:t>				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669674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ESBOÇO DA SOLUÇÃO DE TD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pic>
        <p:nvPicPr>
          <p:cNvPr id="15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4068514" y="107792"/>
            <a:ext cx="4142737" cy="328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Anti-</a:t>
            </a:r>
            <a:r>
              <a:rPr lang="en-US" b="1" dirty="0" err="1">
                <a:solidFill>
                  <a:schemeClr val="tx2"/>
                </a:solidFill>
                <a:latin typeface="Gill Sans Std ExtraBold" pitchFamily="34" charset="0"/>
              </a:rPr>
              <a:t>fraude</a:t>
            </a: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 Auto Atendimento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06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4212506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dirty="0">
                <a:solidFill>
                  <a:schemeClr val="tx1"/>
                </a:solidFill>
              </a:rPr>
              <a:t> 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		</a:t>
            </a:r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en-US" sz="1400" dirty="0" smtClean="0">
                <a:solidFill>
                  <a:srgbClr val="FF0000"/>
                </a:solidFill>
              </a:rPr>
              <a:t>				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669674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ESBOÇO DA SOLUÇÃO DE TD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pic>
        <p:nvPicPr>
          <p:cNvPr id="15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4068514" y="107792"/>
            <a:ext cx="4142737" cy="328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Anti-</a:t>
            </a:r>
            <a:r>
              <a:rPr lang="en-US" b="1" dirty="0" err="1">
                <a:solidFill>
                  <a:schemeClr val="tx2"/>
                </a:solidFill>
                <a:latin typeface="Gill Sans Std ExtraBold" pitchFamily="34" charset="0"/>
              </a:rPr>
              <a:t>fraude</a:t>
            </a: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 Auto Atendimento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  <p:pic>
        <p:nvPicPr>
          <p:cNvPr id="2" name="Picture 2" descr="image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218" y="1060577"/>
            <a:ext cx="5742048" cy="4215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204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597666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INTERDEPENDÊNCIAS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1" name="Rectangle 3"/>
          <p:cNvSpPr>
            <a:spLocks/>
          </p:cNvSpPr>
          <p:nvPr/>
        </p:nvSpPr>
        <p:spPr bwMode="auto">
          <a:xfrm>
            <a:off x="252090" y="1332185"/>
            <a:ext cx="8136904" cy="252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Dependências</a:t>
            </a:r>
            <a:endParaRPr lang="en-US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80082" y="1664637"/>
            <a:ext cx="8615855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 smtClean="0"/>
              <a:t>Cadastro </a:t>
            </a:r>
            <a:r>
              <a:rPr lang="pt-BR" sz="1100" b="1" dirty="0"/>
              <a:t>de conteúdo</a:t>
            </a:r>
          </a:p>
          <a:p>
            <a:r>
              <a:rPr lang="pt-BR" sz="1100" dirty="0"/>
              <a:t>O cadastro do conteúdo já estão implantados atualmente no OWCS para o projeto Plataforma de</a:t>
            </a:r>
          </a:p>
          <a:p>
            <a:r>
              <a:rPr lang="pt-BR" sz="1100" dirty="0"/>
              <a:t>Relacionamento, acessando a interface de “</a:t>
            </a:r>
            <a:r>
              <a:rPr lang="pt-BR" sz="1100" i="1" dirty="0" err="1"/>
              <a:t>Contributor</a:t>
            </a:r>
            <a:r>
              <a:rPr lang="pt-BR" sz="1100" i="1" dirty="0"/>
              <a:t>” </a:t>
            </a:r>
            <a:r>
              <a:rPr lang="pt-BR" sz="1100" dirty="0"/>
              <a:t>do site “</a:t>
            </a:r>
            <a:r>
              <a:rPr lang="pt-BR" sz="1100" dirty="0" err="1"/>
              <a:t>Www</a:t>
            </a:r>
            <a:r>
              <a:rPr lang="pt-BR" sz="1100" dirty="0"/>
              <a:t>”, assim não consta como</a:t>
            </a:r>
          </a:p>
          <a:p>
            <a:r>
              <a:rPr lang="pt-BR" sz="1100" dirty="0"/>
              <a:t>parte da implementação do projeto tal funcionalidade, bem como o treinamento para utilização da</a:t>
            </a:r>
          </a:p>
          <a:p>
            <a:r>
              <a:rPr lang="pt-BR" sz="1100" dirty="0"/>
              <a:t>interface do “</a:t>
            </a:r>
            <a:r>
              <a:rPr lang="pt-BR" sz="1100" i="1" dirty="0" err="1"/>
              <a:t>Contributor</a:t>
            </a:r>
            <a:r>
              <a:rPr lang="pt-BR" sz="1100" i="1" dirty="0"/>
              <a:t>” </a:t>
            </a:r>
            <a:r>
              <a:rPr lang="pt-BR" sz="1100" dirty="0"/>
              <a:t>para cadastro de conteúdo</a:t>
            </a:r>
            <a:r>
              <a:rPr lang="pt-BR" sz="1100" dirty="0" smtClean="0"/>
              <a:t>.</a:t>
            </a:r>
          </a:p>
          <a:p>
            <a:endParaRPr lang="pt-BR" sz="1100" dirty="0"/>
          </a:p>
          <a:p>
            <a:r>
              <a:rPr lang="pt-BR" sz="1100" b="1" dirty="0" smtClean="0"/>
              <a:t>Volume </a:t>
            </a:r>
            <a:r>
              <a:rPr lang="pt-BR" sz="1100" b="1" dirty="0"/>
              <a:t>de acessos</a:t>
            </a:r>
          </a:p>
          <a:p>
            <a:r>
              <a:rPr lang="pt-BR" sz="1100" dirty="0"/>
              <a:t>O volume de acessos não deve ultrapassar o dimensionamento inicial previsto para o site</a:t>
            </a:r>
          </a:p>
          <a:p>
            <a:r>
              <a:rPr lang="pt-BR" sz="1100" dirty="0"/>
              <a:t>Autoatendimento</a:t>
            </a:r>
            <a:r>
              <a:rPr lang="pt-BR" sz="1100" dirty="0" smtClean="0"/>
              <a:t>.</a:t>
            </a:r>
          </a:p>
          <a:p>
            <a:endParaRPr lang="pt-BR" sz="1100" dirty="0"/>
          </a:p>
          <a:p>
            <a:r>
              <a:rPr lang="pt-BR" sz="1100" b="1" dirty="0" smtClean="0"/>
              <a:t>Disponibilidade </a:t>
            </a:r>
            <a:r>
              <a:rPr lang="pt-BR" sz="1100" b="1" dirty="0"/>
              <a:t>do </a:t>
            </a:r>
            <a:r>
              <a:rPr lang="pt-BR" sz="1100" b="1" dirty="0" smtClean="0"/>
              <a:t>DB</a:t>
            </a:r>
            <a:endParaRPr lang="pt-BR" sz="1100" b="1" dirty="0"/>
          </a:p>
          <a:p>
            <a:r>
              <a:rPr lang="pt-BR" sz="1100" dirty="0"/>
              <a:t>O </a:t>
            </a:r>
            <a:r>
              <a:rPr lang="pt-BR" sz="1100" dirty="0" smtClean="0"/>
              <a:t>Banco </a:t>
            </a:r>
            <a:r>
              <a:rPr lang="pt-BR" sz="1100" dirty="0"/>
              <a:t>deve estar disponível e configurado corretamente, de acordo com as necessidades de</a:t>
            </a:r>
          </a:p>
          <a:p>
            <a:r>
              <a:rPr lang="pt-BR" sz="1100" i="1" dirty="0" err="1"/>
              <a:t>clusterização</a:t>
            </a:r>
            <a:r>
              <a:rPr lang="pt-BR" sz="1100" dirty="0" smtClean="0"/>
              <a:t>.</a:t>
            </a:r>
          </a:p>
          <a:p>
            <a:endParaRPr lang="pt-BR" sz="1100" dirty="0"/>
          </a:p>
          <a:p>
            <a:r>
              <a:rPr lang="pt-BR" sz="1100" b="1" dirty="0" smtClean="0"/>
              <a:t>SM</a:t>
            </a:r>
          </a:p>
          <a:p>
            <a:r>
              <a:rPr lang="pt-BR" sz="1100" dirty="0" smtClean="0"/>
              <a:t>Solicitação de mudança aprovada em </a:t>
            </a:r>
            <a:r>
              <a:rPr lang="pt-BR" sz="1100" dirty="0" err="1" smtClean="0"/>
              <a:t>comite</a:t>
            </a:r>
            <a:endParaRPr lang="pt-BR" sz="1100" dirty="0"/>
          </a:p>
          <a:p>
            <a:endParaRPr lang="pt-BR" sz="100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pt-BR" sz="1100" dirty="0">
              <a:solidFill>
                <a:schemeClr val="tx1">
                  <a:lumMod val="65000"/>
                  <a:lumOff val="35000"/>
                </a:schemeClr>
              </a:solidFill>
              <a:latin typeface="Gill Sans Std" pitchFamily="34" charset="0"/>
            </a:endParaRPr>
          </a:p>
        </p:txBody>
      </p:sp>
      <p:pic>
        <p:nvPicPr>
          <p:cNvPr id="17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4068514" y="107792"/>
            <a:ext cx="4142737" cy="328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Anti-</a:t>
            </a:r>
            <a:r>
              <a:rPr lang="en-US" b="1" dirty="0" err="1">
                <a:solidFill>
                  <a:schemeClr val="tx2"/>
                </a:solidFill>
                <a:latin typeface="Gill Sans Std ExtraBold" pitchFamily="34" charset="0"/>
              </a:rPr>
              <a:t>fraude</a:t>
            </a: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 Auto Atendimento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41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597666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IMPACTOS - </a:t>
            </a:r>
            <a:r>
              <a:rPr lang="en-US" sz="3800" dirty="0" err="1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orientação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15" name="Rectangle 3"/>
          <p:cNvSpPr>
            <a:spLocks/>
          </p:cNvSpPr>
          <p:nvPr/>
        </p:nvSpPr>
        <p:spPr bwMode="auto">
          <a:xfrm>
            <a:off x="108074" y="1476201"/>
            <a:ext cx="5400600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20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Plataformas Envolvidas</a:t>
            </a:r>
            <a:endParaRPr lang="en-US" sz="2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pic>
        <p:nvPicPr>
          <p:cNvPr id="17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80474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yellow pad -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4068514" y="107792"/>
            <a:ext cx="4142737" cy="328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Anti-</a:t>
            </a:r>
            <a:r>
              <a:rPr lang="en-US" b="1" dirty="0" err="1">
                <a:solidFill>
                  <a:schemeClr val="tx2"/>
                </a:solidFill>
                <a:latin typeface="Gill Sans Std ExtraBold" pitchFamily="34" charset="0"/>
              </a:rPr>
              <a:t>fraude</a:t>
            </a: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 Auto Atendimento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88765" y="1981753"/>
            <a:ext cx="32889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smtClean="0"/>
              <a:t>-Oracle </a:t>
            </a:r>
            <a:r>
              <a:rPr lang="pt-BR" sz="1400" dirty="0" err="1"/>
              <a:t>WebCenter</a:t>
            </a:r>
            <a:r>
              <a:rPr lang="pt-BR" sz="1400" dirty="0"/>
              <a:t> Sites 11.1.1.6 </a:t>
            </a:r>
            <a:endParaRPr lang="pt-BR" sz="1400" dirty="0" smtClean="0"/>
          </a:p>
          <a:p>
            <a:r>
              <a:rPr lang="pt-BR" sz="1400" dirty="0" smtClean="0"/>
              <a:t>-Banco de dados do </a:t>
            </a:r>
            <a:r>
              <a:rPr lang="pt-BR" sz="1400" dirty="0" err="1" smtClean="0"/>
              <a:t>wcs</a:t>
            </a:r>
            <a:endParaRPr lang="pt-BR" sz="1400" dirty="0" smtClean="0"/>
          </a:p>
        </p:txBody>
      </p:sp>
    </p:spTree>
    <p:extLst>
      <p:ext uri="{BB962C8B-B14F-4D97-AF65-F5344CB8AC3E}">
        <p14:creationId xmlns:p14="http://schemas.microsoft.com/office/powerpoint/2010/main" val="1707587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/>
          <p:nvPr/>
        </p:nvSpPr>
        <p:spPr>
          <a:xfrm>
            <a:off x="1" y="1188169"/>
            <a:ext cx="9001124" cy="3960499"/>
          </a:xfrm>
          <a:prstGeom prst="rect">
            <a:avLst/>
          </a:prstGeom>
          <a:solidFill>
            <a:schemeClr val="bg1">
              <a:lumMod val="95000"/>
              <a:alpha val="83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8" name="TextBox 1"/>
          <p:cNvSpPr txBox="1">
            <a:spLocks noChangeArrowheads="1"/>
          </p:cNvSpPr>
          <p:nvPr/>
        </p:nvSpPr>
        <p:spPr bwMode="auto">
          <a:xfrm>
            <a:off x="437555" y="176273"/>
            <a:ext cx="2158732" cy="190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700" b="1" dirty="0">
                <a:solidFill>
                  <a:srgbClr val="7F7F7F"/>
                </a:solidFill>
                <a:latin typeface="Verdana" charset="0"/>
              </a:rPr>
              <a:t>#01 </a:t>
            </a:r>
            <a:r>
              <a:rPr lang="en-US" sz="700" dirty="0">
                <a:solidFill>
                  <a:srgbClr val="7F7F7F"/>
                </a:solidFill>
                <a:latin typeface="Verdana" charset="0"/>
              </a:rPr>
              <a:t>// </a:t>
            </a:r>
            <a:r>
              <a:rPr lang="en-US" sz="700" b="1" dirty="0" smtClean="0">
                <a:solidFill>
                  <a:srgbClr val="7F7F7F"/>
                </a:solidFill>
                <a:latin typeface="Verdana" charset="0"/>
              </a:rPr>
              <a:t>forum de novas demandas de TD</a:t>
            </a:r>
            <a:endParaRPr lang="en-US" sz="700" dirty="0">
              <a:solidFill>
                <a:srgbClr val="7F7F7F"/>
              </a:solidFill>
              <a:latin typeface="Verdana" charset="0"/>
            </a:endParaRPr>
          </a:p>
        </p:txBody>
      </p:sp>
      <p:sp>
        <p:nvSpPr>
          <p:cNvPr id="10" name="Rectangle 3"/>
          <p:cNvSpPr>
            <a:spLocks/>
          </p:cNvSpPr>
          <p:nvPr/>
        </p:nvSpPr>
        <p:spPr bwMode="auto">
          <a:xfrm>
            <a:off x="252090" y="544725"/>
            <a:ext cx="5976664" cy="41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7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3800" dirty="0" smtClean="0">
                <a:solidFill>
                  <a:schemeClr val="accent5">
                    <a:lumMod val="50000"/>
                  </a:schemeClr>
                </a:solidFill>
                <a:latin typeface="Gill Sans Std" pitchFamily="34" charset="0"/>
                <a:ea typeface="MS PGothic" charset="0"/>
                <a:cs typeface="Gill Sans Std UltraBold"/>
                <a:sym typeface="Gill Sans Std Light" charset="0"/>
              </a:rPr>
              <a:t>ESTIMATIVA DE RECURSOS</a:t>
            </a:r>
            <a:endParaRPr lang="en-US" sz="3800" dirty="0">
              <a:solidFill>
                <a:schemeClr val="accent5">
                  <a:lumMod val="50000"/>
                </a:schemeClr>
              </a:solidFill>
              <a:latin typeface="Gill Sans Std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743928"/>
              </p:ext>
            </p:extLst>
          </p:nvPr>
        </p:nvGraphicFramePr>
        <p:xfrm>
          <a:off x="4788594" y="1796201"/>
          <a:ext cx="3960440" cy="230505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711141"/>
                <a:gridCol w="1249299"/>
              </a:tblGrid>
              <a:tr h="11735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Identificação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Valor R$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Desenvolvimento TQI</a:t>
                      </a:r>
                      <a:endParaRPr lang="pt-BR" sz="1200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15.000,00</a:t>
                      </a:r>
                      <a:endParaRPr lang="pt-BR" sz="1200" dirty="0"/>
                    </a:p>
                  </a:txBody>
                  <a:tcPr marL="9525" marR="9525" marT="9525" marB="0" anchor="ctr"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Massa</a:t>
                      </a:r>
                      <a:r>
                        <a:rPr lang="pt-BR" sz="1200" baseline="0" dirty="0" smtClean="0"/>
                        <a:t> testes Accenture</a:t>
                      </a:r>
                      <a:endParaRPr lang="pt-BR" sz="1200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pt-BR" sz="1200" dirty="0" smtClean="0"/>
                        <a:t>1.500,00</a:t>
                      </a:r>
                      <a:endParaRPr lang="pt-BR" sz="1200" dirty="0"/>
                    </a:p>
                  </a:txBody>
                  <a:tcPr marL="9525" marR="9525" marT="9525" marB="0" anchor="ctr"/>
                </a:tc>
              </a:tr>
              <a:tr h="33337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 marL="9525" marR="9525" marT="9525" marB="0" anchor="ctr"/>
                </a:tc>
              </a:tr>
              <a:tr h="333375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 marL="9525" marR="9525" marT="9525" marB="0" anchor="ctr"/>
                </a:tc>
              </a:tr>
              <a:tr h="333375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 marL="9525" marR="9525" marT="9525" marB="0" anchor="ctr"/>
                </a:tc>
              </a:tr>
              <a:tr h="33337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Gill Sans Std"/>
                        </a:rPr>
                        <a:t>TOTAL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Gill Sans Std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16.500,00</a:t>
                      </a:r>
                      <a:endParaRPr lang="pt-BR" sz="1000" dirty="0"/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9" name="Rectangle 3"/>
          <p:cNvSpPr>
            <a:spLocks/>
          </p:cNvSpPr>
          <p:nvPr/>
        </p:nvSpPr>
        <p:spPr bwMode="auto">
          <a:xfrm>
            <a:off x="5580682" y="1211181"/>
            <a:ext cx="2032098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4000" dirty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Custos</a:t>
            </a:r>
            <a:endParaRPr lang="en-US" sz="4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64580"/>
              </p:ext>
            </p:extLst>
          </p:nvPr>
        </p:nvGraphicFramePr>
        <p:xfrm>
          <a:off x="145278" y="1716733"/>
          <a:ext cx="4355285" cy="191833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006031"/>
                <a:gridCol w="1911459"/>
                <a:gridCol w="1437795"/>
              </a:tblGrid>
              <a:tr h="201882">
                <a:tc>
                  <a:txBody>
                    <a:bodyPr/>
                    <a:lstStyle/>
                    <a:p>
                      <a:pPr algn="ctr"/>
                      <a:r>
                        <a:rPr lang="pt-BR" sz="105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Área</a:t>
                      </a:r>
                      <a:endParaRPr lang="pt-BR" sz="105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Recurso</a:t>
                      </a:r>
                      <a:endParaRPr lang="pt-BR" sz="105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b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Respons</a:t>
                      </a:r>
                      <a:endParaRPr lang="pt-BR" sz="105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05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interatividade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GP natura</a:t>
                      </a:r>
                      <a:endParaRPr lang="pt-BR" sz="105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Sardinha</a:t>
                      </a:r>
                      <a:endParaRPr lang="pt-BR" sz="105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05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TQI</a:t>
                      </a:r>
                      <a:endParaRPr lang="pt-BR" sz="105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Equipe </a:t>
                      </a:r>
                      <a:r>
                        <a:rPr lang="pt-BR" sz="1050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Dev</a:t>
                      </a:r>
                      <a:endParaRPr lang="pt-BR" sz="105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Sardinha</a:t>
                      </a:r>
                      <a:endParaRPr lang="pt-BR" sz="105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05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agencia</a:t>
                      </a:r>
                      <a:endParaRPr lang="pt-BR" sz="105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Equipe criativa</a:t>
                      </a:r>
                      <a:endParaRPr lang="pt-BR" sz="105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Sardinha</a:t>
                      </a:r>
                      <a:endParaRPr lang="pt-BR" sz="105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endParaRPr lang="pt-BR" sz="105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5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05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lang="pt-BR" sz="105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infra</a:t>
                      </a:r>
                      <a:endParaRPr lang="pt-BR" sz="105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Executor </a:t>
                      </a:r>
                      <a:r>
                        <a:rPr lang="pt-BR" sz="1050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wcs</a:t>
                      </a:r>
                      <a:endParaRPr lang="pt-BR" sz="105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Gill Sans"/>
                        </a:rPr>
                        <a:t>Chico</a:t>
                      </a:r>
                      <a:endParaRPr lang="pt-BR" sz="105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ll San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ectangle 3"/>
          <p:cNvSpPr>
            <a:spLocks/>
          </p:cNvSpPr>
          <p:nvPr/>
        </p:nvSpPr>
        <p:spPr bwMode="auto">
          <a:xfrm>
            <a:off x="684138" y="1223794"/>
            <a:ext cx="2032098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40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Recursos</a:t>
            </a:r>
            <a:endParaRPr lang="en-US" sz="40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pic>
        <p:nvPicPr>
          <p:cNvPr id="17" name="Picture 2" descr="E:\Users\br92954\Downloads\NAT_marca_azul_kaiak-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738" y="64630"/>
            <a:ext cx="615825" cy="61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3"/>
          <p:cNvSpPr>
            <a:spLocks/>
          </p:cNvSpPr>
          <p:nvPr/>
        </p:nvSpPr>
        <p:spPr bwMode="auto">
          <a:xfrm>
            <a:off x="17074" y="4516244"/>
            <a:ext cx="8731960" cy="505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>
              <a:lnSpc>
                <a:spcPct val="80000"/>
              </a:lnSpc>
              <a:tabLst>
                <a:tab pos="247569" algn="l"/>
                <a:tab pos="495137" algn="l"/>
                <a:tab pos="742706" algn="l"/>
                <a:tab pos="990275" algn="l"/>
                <a:tab pos="1237844" algn="l"/>
                <a:tab pos="1485412" algn="l"/>
                <a:tab pos="1732981" algn="l"/>
                <a:tab pos="1980550" algn="l"/>
                <a:tab pos="2228118" algn="l"/>
                <a:tab pos="2475687" algn="l"/>
                <a:tab pos="2723256" algn="l"/>
                <a:tab pos="2970825" algn="l"/>
                <a:tab pos="3183026" algn="l"/>
                <a:tab pos="5092842" algn="l"/>
              </a:tabLst>
            </a:pPr>
            <a:r>
              <a:rPr lang="en-US" sz="2400" dirty="0" err="1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Prazo</a:t>
            </a:r>
            <a:r>
              <a:rPr lang="en-US" sz="24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: 10 </a:t>
            </a:r>
            <a:r>
              <a:rPr lang="en-US" sz="2400" dirty="0" err="1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Dus</a:t>
            </a:r>
            <a:r>
              <a:rPr lang="en-US" sz="24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 </a:t>
            </a:r>
            <a:r>
              <a:rPr lang="en-US" sz="2400" dirty="0" err="1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criação</a:t>
            </a:r>
            <a:r>
              <a:rPr lang="en-US" sz="24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 + 48 </a:t>
            </a:r>
            <a:r>
              <a:rPr lang="en-US" sz="2400" dirty="0" err="1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dias</a:t>
            </a:r>
            <a:r>
              <a:rPr lang="en-US" sz="24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 </a:t>
            </a:r>
            <a:r>
              <a:rPr lang="en-US" sz="2400" dirty="0" err="1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uteis</a:t>
            </a:r>
            <a:r>
              <a:rPr lang="en-US" sz="2400" dirty="0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 de </a:t>
            </a:r>
            <a:r>
              <a:rPr lang="en-US" sz="2400" dirty="0" err="1" smtClean="0">
                <a:solidFill>
                  <a:srgbClr val="00B050"/>
                </a:solidFill>
                <a:latin typeface="Gill Sans Std Light" pitchFamily="34" charset="0"/>
                <a:ea typeface="MS PGothic" charset="0"/>
                <a:cs typeface="Gill Sans Std UltraBold"/>
                <a:sym typeface="Gill Sans Std Light" charset="0"/>
              </a:rPr>
              <a:t>desenvolvimento</a:t>
            </a:r>
            <a:endParaRPr lang="en-US" sz="2400" dirty="0">
              <a:solidFill>
                <a:srgbClr val="00B050"/>
              </a:solidFill>
              <a:latin typeface="Gill Sans Std Light" pitchFamily="34" charset="0"/>
              <a:ea typeface="MS PGothic" charset="0"/>
              <a:cs typeface="Gill Sans Std UltraBold"/>
              <a:sym typeface="Gill Sans Std" charset="0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4068514" y="107792"/>
            <a:ext cx="4142737" cy="328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Anti-</a:t>
            </a:r>
            <a:r>
              <a:rPr lang="en-US" b="1" dirty="0" err="1">
                <a:solidFill>
                  <a:schemeClr val="tx2"/>
                </a:solidFill>
                <a:latin typeface="Gill Sans Std ExtraBold" pitchFamily="34" charset="0"/>
              </a:rPr>
              <a:t>fraude</a:t>
            </a:r>
            <a:r>
              <a:rPr lang="en-US" b="1" dirty="0">
                <a:solidFill>
                  <a:schemeClr val="tx2"/>
                </a:solidFill>
                <a:latin typeface="Gill Sans Std ExtraBold" pitchFamily="34" charset="0"/>
              </a:rPr>
              <a:t> Auto Atendimento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62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8"/>
          <p:cNvSpPr txBox="1">
            <a:spLocks noChangeArrowheads="1"/>
          </p:cNvSpPr>
          <p:nvPr/>
        </p:nvSpPr>
        <p:spPr bwMode="auto">
          <a:xfrm>
            <a:off x="376219" y="2125580"/>
            <a:ext cx="7193868" cy="97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93" tIns="41147" rIns="82293" bIns="41147">
            <a:spAutoFit/>
          </a:bodyPr>
          <a:lstStyle>
            <a:lvl1pPr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eaLnBrk="0" hangingPunct="0"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5600" b="1" dirty="0">
                <a:solidFill>
                  <a:srgbClr val="002060"/>
                </a:solidFill>
                <a:latin typeface="Verdana" pitchFamily="34" charset="0"/>
                <a:ea typeface="MS PGothic" pitchFamily="34" charset="-128"/>
              </a:rPr>
              <a:t>fim. obrigado.</a:t>
            </a:r>
          </a:p>
        </p:txBody>
      </p:sp>
      <p:pic>
        <p:nvPicPr>
          <p:cNvPr id="31748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698" y="2280285"/>
            <a:ext cx="738374" cy="54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451619" y="4826854"/>
            <a:ext cx="2009653" cy="2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296" tIns="41148" rIns="82296" bIns="4114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900" b="1" dirty="0">
                <a:solidFill>
                  <a:schemeClr val="bg1"/>
                </a:solidFill>
                <a:latin typeface="Verdana" charset="0"/>
              </a:rPr>
              <a:t>INFORMAÇÕES</a:t>
            </a:r>
            <a:r>
              <a:rPr lang="en-US" sz="900" dirty="0">
                <a:solidFill>
                  <a:schemeClr val="bg1"/>
                </a:solidFill>
                <a:latin typeface="Verdana" charset="0"/>
              </a:rPr>
              <a:t> ADICIONAIS </a:t>
            </a:r>
          </a:p>
        </p:txBody>
      </p:sp>
    </p:spTree>
    <p:extLst>
      <p:ext uri="{BB962C8B-B14F-4D97-AF65-F5344CB8AC3E}">
        <p14:creationId xmlns:p14="http://schemas.microsoft.com/office/powerpoint/2010/main" val="34370317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ank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itle &amp; Bullets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C0037"/>
      </a:accent1>
      <a:accent2>
        <a:srgbClr val="333399"/>
      </a:accent2>
      <a:accent3>
        <a:srgbClr val="FFFFFF"/>
      </a:accent3>
      <a:accent4>
        <a:srgbClr val="000000"/>
      </a:accent4>
      <a:accent5>
        <a:srgbClr val="BFAAAE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566E7B9F93237478EA8D944643E4D26" ma:contentTypeVersion="0" ma:contentTypeDescription="Crie um novo documento." ma:contentTypeScope="" ma:versionID="e7e6c8ac1ce87c7ce66ee0e28519793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993FCE-2A51-4977-BE12-DC8A28CD6ED6}"/>
</file>

<file path=customXml/itemProps2.xml><?xml version="1.0" encoding="utf-8"?>
<ds:datastoreItem xmlns:ds="http://schemas.openxmlformats.org/officeDocument/2006/customXml" ds:itemID="{345142BF-2FD8-4361-B6CE-C714ACDDB28C}"/>
</file>

<file path=customXml/itemProps3.xml><?xml version="1.0" encoding="utf-8"?>
<ds:datastoreItem xmlns:ds="http://schemas.openxmlformats.org/officeDocument/2006/customXml" ds:itemID="{F123B346-4C39-4470-9725-0145E70DA245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1522</TotalTime>
  <Words>557</Words>
  <Application>Microsoft Office PowerPoint</Application>
  <PresentationFormat>Personalizar</PresentationFormat>
  <Paragraphs>144</Paragraphs>
  <Slides>10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Blank</vt:lpstr>
      <vt:lpstr>Title &amp; Bullets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 – Aprovação da Ideia</dc:title>
  <dc:creator>br92025</dc:creator>
  <cp:lastModifiedBy>br93009</cp:lastModifiedBy>
  <cp:revision>144</cp:revision>
  <dcterms:created xsi:type="dcterms:W3CDTF">2013-05-14T22:09:27Z</dcterms:created>
  <dcterms:modified xsi:type="dcterms:W3CDTF">2015-06-25T14:03:06Z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0x0101008566E7B9F93237478EA8D944643E4D26</vt:lpwstr>
  </property>
</Properties>
</file>