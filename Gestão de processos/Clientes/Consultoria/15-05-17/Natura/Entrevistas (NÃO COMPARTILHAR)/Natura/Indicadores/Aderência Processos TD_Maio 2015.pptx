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5" r:id="rId2"/>
    <p:sldId id="321" r:id="rId3"/>
    <p:sldId id="319" r:id="rId4"/>
    <p:sldId id="320" r:id="rId5"/>
    <p:sldId id="316" r:id="rId6"/>
    <p:sldId id="317" r:id="rId7"/>
    <p:sldId id="318" r:id="rId8"/>
    <p:sldId id="294" r:id="rId9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CC"/>
    <a:srgbClr val="6E6259"/>
    <a:srgbClr val="FFFF66"/>
    <a:srgbClr val="009999"/>
    <a:srgbClr val="FFFFCC"/>
    <a:srgbClr val="00AEC7"/>
    <a:srgbClr val="D9D9D6"/>
    <a:srgbClr val="7C6992"/>
    <a:srgbClr val="88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5" autoAdjust="0"/>
    <p:restoredTop sz="98046" autoAdjust="0"/>
  </p:normalViewPr>
  <p:slideViewPr>
    <p:cSldViewPr>
      <p:cViewPr>
        <p:scale>
          <a:sx n="100" d="100"/>
          <a:sy n="100" d="100"/>
        </p:scale>
        <p:origin x="-1056" y="-420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06/05/2015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slide" Target="slide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8"/>
          <p:cNvSpPr txBox="1">
            <a:spLocks noChangeArrowheads="1"/>
          </p:cNvSpPr>
          <p:nvPr/>
        </p:nvSpPr>
        <p:spPr bwMode="auto">
          <a:xfrm>
            <a:off x="6025808" y="2948026"/>
            <a:ext cx="3010624" cy="180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Fatos e Dados: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/>
            </a:r>
            <a:b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</a:b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eaLnBrk="1" hangingPunct="1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10.500 usuários ativos (BR + </a:t>
            </a:r>
            <a:r>
              <a:rPr lang="pt-BR" sz="12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OIs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)</a:t>
            </a:r>
          </a:p>
          <a:p>
            <a:pPr marL="285750" lvl="0" indent="-285750" eaLnBrk="1" hangingPunct="1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TD-SD - 1 NIVEL é o maior grupo solucionador,  com uma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média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de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4 k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chamados / mês representando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~20%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da TD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Mais de 200 grupos Solucionadores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existentes e ativos </a:t>
            </a:r>
          </a:p>
        </p:txBody>
      </p:sp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271659" y="2996239"/>
            <a:ext cx="5668494" cy="180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Principais </a:t>
            </a:r>
            <a:r>
              <a:rPr lang="pt-BR" sz="1200" b="1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GAPs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:</a:t>
            </a:r>
            <a:b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</a:br>
            <a:endParaRPr lang="pt-BR" sz="1200" b="1" dirty="0" smtClean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Inexistência de processo de gestão de Chamados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Problemas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 </a:t>
            </a:r>
            <a:r>
              <a:rPr lang="pt-BR" sz="12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SLAs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 cadastrados no CA SDM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Problemas com categorias de serviço cadastrados no CA SDM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Contratos com fornecedores não favorece SLA de usuário (e sim </a:t>
            </a:r>
            <a:r>
              <a:rPr lang="pt-BR" sz="12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SLOs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 contratuais)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Comunicação e Gestão ineficientes (objetivos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resultados)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– Gestão a Vista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Gestão da Configuração – Processo e Controles ineficientes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Falta de visibilidade com relação a maturidade de processos na TD</a:t>
            </a:r>
          </a:p>
        </p:txBody>
      </p:sp>
      <p:cxnSp>
        <p:nvCxnSpPr>
          <p:cNvPr id="11" name="Conector reto 10"/>
          <p:cNvCxnSpPr/>
          <p:nvPr/>
        </p:nvCxnSpPr>
        <p:spPr bwMode="auto">
          <a:xfrm flipH="1" flipV="1">
            <a:off x="174179" y="2820889"/>
            <a:ext cx="8784976" cy="11112"/>
          </a:xfrm>
          <a:prstGeom prst="lin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  <a:extLst/>
        </p:spPr>
      </p:cxnSp>
      <p:cxnSp>
        <p:nvCxnSpPr>
          <p:cNvPr id="12" name="Conector reto 11"/>
          <p:cNvCxnSpPr/>
          <p:nvPr/>
        </p:nvCxnSpPr>
        <p:spPr>
          <a:xfrm>
            <a:off x="5949608" y="2996239"/>
            <a:ext cx="0" cy="1883214"/>
          </a:xfrm>
          <a:prstGeom prst="lin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2050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33" y="800100"/>
            <a:ext cx="214312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897952" y="2528416"/>
            <a:ext cx="30011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0" b="1" dirty="0" smtClean="0">
                <a:solidFill>
                  <a:srgbClr val="6E6259"/>
                </a:solidFill>
                <a:latin typeface="Gill Sans Std Light" pitchFamily="34" charset="0"/>
              </a:rPr>
              <a:t>*metas definidas conforme benchmarking externo</a:t>
            </a:r>
            <a:endParaRPr lang="pt-BR" sz="105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16" y="795337"/>
            <a:ext cx="6543675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o explicativo em seta para cima 6">
            <a:hlinkClick r:id="rId3" action="ppaction://hlinksldjump"/>
          </p:cNvPr>
          <p:cNvSpPr/>
          <p:nvPr/>
        </p:nvSpPr>
        <p:spPr>
          <a:xfrm>
            <a:off x="359491" y="2490539"/>
            <a:ext cx="1872208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39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884176"/>
              </p:ext>
            </p:extLst>
          </p:nvPr>
        </p:nvGraphicFramePr>
        <p:xfrm>
          <a:off x="3384207" y="4116612"/>
          <a:ext cx="5630491" cy="960120"/>
        </p:xfrm>
        <a:graphic>
          <a:graphicData uri="http://schemas.openxmlformats.org/drawingml/2006/table">
            <a:tbl>
              <a:tblPr/>
              <a:tblGrid>
                <a:gridCol w="2030091"/>
                <a:gridCol w="576064"/>
                <a:gridCol w="648072"/>
                <a:gridCol w="576064"/>
                <a:gridCol w="576064"/>
                <a:gridCol w="648072"/>
                <a:gridCol w="576064"/>
              </a:tblGrid>
              <a:tr h="136145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Categoria do chamado na resolução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Abr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média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Backlog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61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SISTEMAS.ALERTA DE JOB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4737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3312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SISTEMAS.ALERTA DE JOB CRITICO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1153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1138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SISTEMAS.MAXRUN DE JOB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1092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FF3300"/>
                          </a:solidFill>
                          <a:effectLst/>
                          <a:latin typeface="Calibri"/>
                        </a:rPr>
                        <a:t>1036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EXPERIENCIACN.FORCA DE VENDAS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990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4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EXPERIENCIACN.REDE.NATURA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582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4" y="2486819"/>
            <a:ext cx="6111314" cy="1601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" y="677094"/>
            <a:ext cx="6120208" cy="1770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de cantos arredondados 5"/>
          <p:cNvSpPr/>
          <p:nvPr/>
        </p:nvSpPr>
        <p:spPr>
          <a:xfrm>
            <a:off x="3165748" y="3002495"/>
            <a:ext cx="278506" cy="216955"/>
          </a:xfrm>
          <a:prstGeom prst="roundRect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179512" y="4295402"/>
            <a:ext cx="281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5322</a:t>
            </a:r>
            <a:r>
              <a:rPr lang="pt-BR" sz="1200" dirty="0" smtClean="0"/>
              <a:t> incidentes (abertos indevidamente) de JOB encerrados massivamente</a:t>
            </a:r>
            <a:endParaRPr lang="pt-BR" sz="12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79512" y="4266828"/>
            <a:ext cx="2664296" cy="505197"/>
          </a:xfrm>
          <a:prstGeom prst="roundRect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/>
          <p:cNvCxnSpPr>
            <a:endCxn id="7" idx="0"/>
          </p:cNvCxnSpPr>
          <p:nvPr/>
        </p:nvCxnSpPr>
        <p:spPr>
          <a:xfrm flipH="1">
            <a:off x="1588604" y="3201566"/>
            <a:ext cx="1517092" cy="1093836"/>
          </a:xfrm>
          <a:prstGeom prst="straightConnector1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ector de seta reta 13"/>
          <p:cNvCxnSpPr>
            <a:endCxn id="11" idx="3"/>
          </p:cNvCxnSpPr>
          <p:nvPr/>
        </p:nvCxnSpPr>
        <p:spPr>
          <a:xfrm flipH="1">
            <a:off x="2843808" y="4372744"/>
            <a:ext cx="720080" cy="146683"/>
          </a:xfrm>
          <a:prstGeom prst="straightConnector1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de seta reta 16"/>
          <p:cNvCxnSpPr>
            <a:endCxn id="11" idx="3"/>
          </p:cNvCxnSpPr>
          <p:nvPr/>
        </p:nvCxnSpPr>
        <p:spPr>
          <a:xfrm flipH="1">
            <a:off x="2843808" y="4516760"/>
            <a:ext cx="720080" cy="2667"/>
          </a:xfrm>
          <a:prstGeom prst="straightConnector1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CaixaDeTexto 41"/>
          <p:cNvSpPr txBox="1"/>
          <p:nvPr/>
        </p:nvSpPr>
        <p:spPr>
          <a:xfrm>
            <a:off x="6444208" y="2824693"/>
            <a:ext cx="2664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Monitoria da célula de Experiência CN:</a:t>
            </a:r>
          </a:p>
          <a:p>
            <a:pPr marL="171450" indent="-171450">
              <a:buFontTx/>
              <a:buChar char="-"/>
            </a:pPr>
            <a:r>
              <a:rPr lang="pt-BR" sz="1200" dirty="0" smtClean="0"/>
              <a:t>Ajuda com pedidos, navegação no site, </a:t>
            </a:r>
            <a:r>
              <a:rPr lang="pt-BR" sz="1200" dirty="0" err="1" smtClean="0"/>
              <a:t>etc</a:t>
            </a:r>
            <a:endParaRPr lang="pt-BR" sz="1200" dirty="0" smtClean="0"/>
          </a:p>
          <a:p>
            <a:pPr marL="171450" indent="-171450">
              <a:buFontTx/>
              <a:buChar char="-"/>
            </a:pPr>
            <a:r>
              <a:rPr lang="pt-BR" sz="1200" dirty="0" smtClean="0"/>
              <a:t>Dúvida / ajuda com cadastro, taxas, </a:t>
            </a:r>
            <a:r>
              <a:rPr lang="pt-BR" sz="1200" dirty="0" err="1" smtClean="0"/>
              <a:t>moip</a:t>
            </a:r>
            <a:r>
              <a:rPr lang="pt-BR" sz="1200" dirty="0" smtClean="0"/>
              <a:t>, </a:t>
            </a:r>
            <a:r>
              <a:rPr lang="pt-BR" sz="1200" dirty="0" err="1" smtClean="0"/>
              <a:t>etc</a:t>
            </a:r>
            <a:endParaRPr lang="pt-BR" sz="1200" dirty="0"/>
          </a:p>
        </p:txBody>
      </p:sp>
      <p:sp>
        <p:nvSpPr>
          <p:cNvPr id="43" name="Retângulo de cantos arredondados 42"/>
          <p:cNvSpPr/>
          <p:nvPr/>
        </p:nvSpPr>
        <p:spPr>
          <a:xfrm>
            <a:off x="6444208" y="2796119"/>
            <a:ext cx="2518811" cy="1094407"/>
          </a:xfrm>
          <a:prstGeom prst="roundRect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de seta reta 43"/>
          <p:cNvCxnSpPr>
            <a:stCxn id="42" idx="1"/>
          </p:cNvCxnSpPr>
          <p:nvPr/>
        </p:nvCxnSpPr>
        <p:spPr>
          <a:xfrm flipH="1">
            <a:off x="5220074" y="3332525"/>
            <a:ext cx="1224134" cy="1504751"/>
          </a:xfrm>
          <a:prstGeom prst="straightConnector1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de seta reta 44"/>
          <p:cNvCxnSpPr>
            <a:stCxn id="43" idx="1"/>
            <a:endCxn id="46" idx="3"/>
          </p:cNvCxnSpPr>
          <p:nvPr/>
        </p:nvCxnSpPr>
        <p:spPr>
          <a:xfrm flipH="1" flipV="1">
            <a:off x="5527154" y="3110496"/>
            <a:ext cx="917054" cy="232827"/>
          </a:xfrm>
          <a:prstGeom prst="straightConnector1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Retângulo de cantos arredondados 45"/>
          <p:cNvSpPr/>
          <p:nvPr/>
        </p:nvSpPr>
        <p:spPr>
          <a:xfrm>
            <a:off x="5222503" y="3028950"/>
            <a:ext cx="304651" cy="163091"/>
          </a:xfrm>
          <a:prstGeom prst="roundRect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de seta reta 49"/>
          <p:cNvCxnSpPr>
            <a:stCxn id="43" idx="1"/>
          </p:cNvCxnSpPr>
          <p:nvPr/>
        </p:nvCxnSpPr>
        <p:spPr>
          <a:xfrm flipH="1">
            <a:off x="5220074" y="3343323"/>
            <a:ext cx="1224134" cy="1646353"/>
          </a:xfrm>
          <a:prstGeom prst="straightConnector1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de seta reta 58"/>
          <p:cNvCxnSpPr/>
          <p:nvPr/>
        </p:nvCxnSpPr>
        <p:spPr>
          <a:xfrm flipH="1">
            <a:off x="3115221" y="4700402"/>
            <a:ext cx="591542" cy="165449"/>
          </a:xfrm>
          <a:prstGeom prst="straightConnector1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49" name="Retângulo 1048"/>
          <p:cNvSpPr/>
          <p:nvPr/>
        </p:nvSpPr>
        <p:spPr>
          <a:xfrm>
            <a:off x="2818044" y="4800038"/>
            <a:ext cx="2680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</a:rPr>
              <a:t>?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65" name="Seta para a direita listrada 64">
            <a:hlinkClick r:id="rId4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8518215" y="1130218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558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06726"/>
            <a:ext cx="288032" cy="3434954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8"/>
          <p:cNvSpPr txBox="1">
            <a:spLocks noChangeArrowheads="1"/>
          </p:cNvSpPr>
          <p:nvPr/>
        </p:nvSpPr>
        <p:spPr bwMode="auto">
          <a:xfrm>
            <a:off x="7380312" y="2018177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8" name="CaixaDeTexto 8"/>
          <p:cNvSpPr txBox="1">
            <a:spLocks noChangeArrowheads="1"/>
          </p:cNvSpPr>
          <p:nvPr/>
        </p:nvSpPr>
        <p:spPr bwMode="auto">
          <a:xfrm>
            <a:off x="7524328" y="4641961"/>
            <a:ext cx="1475046" cy="31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100" b="1" dirty="0" smtClean="0">
                <a:solidFill>
                  <a:srgbClr val="6E6259"/>
                </a:solidFill>
                <a:latin typeface="Gill Sans Std Light" pitchFamily="34" charset="0"/>
              </a:rPr>
              <a:t>Continua...</a:t>
            </a:r>
            <a:endParaRPr lang="pt-BR" sz="11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1277"/>
            <a:ext cx="655320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o explicativo retangular 4"/>
          <p:cNvSpPr/>
          <p:nvPr/>
        </p:nvSpPr>
        <p:spPr>
          <a:xfrm>
            <a:off x="2555776" y="4516761"/>
            <a:ext cx="2016224" cy="441037"/>
          </a:xfrm>
          <a:prstGeom prst="wedgeRectCallout">
            <a:avLst>
              <a:gd name="adj1" fmla="val -34043"/>
              <a:gd name="adj2" fmla="val -76606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</a:rPr>
              <a:t>Indicador considera chamados abertos por usuário, aberto para as equipes de DI N1 e N2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9" name="Texto explicativo retangular 18"/>
          <p:cNvSpPr/>
          <p:nvPr/>
        </p:nvSpPr>
        <p:spPr>
          <a:xfrm>
            <a:off x="355114" y="4463803"/>
            <a:ext cx="2016224" cy="576064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considera  média de dias em que os chamados demoraram para serem resolvidos, independente de turno de trabalho ou pausas</a:t>
            </a:r>
          </a:p>
        </p:txBody>
      </p:sp>
      <p:sp>
        <p:nvSpPr>
          <p:cNvPr id="3" name="Arredondar Retângulo em um Canto Único 2">
            <a:hlinkClick r:id="rId4" action="ppaction://hlinksldjump"/>
          </p:cNvPr>
          <p:cNvSpPr/>
          <p:nvPr/>
        </p:nvSpPr>
        <p:spPr>
          <a:xfrm>
            <a:off x="149811" y="772343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edondar Retângulo em um Canto Único 19">
            <a:hlinkClick r:id="rId5" action="ppaction://hlinksldjump"/>
          </p:cNvPr>
          <p:cNvSpPr/>
          <p:nvPr/>
        </p:nvSpPr>
        <p:spPr>
          <a:xfrm>
            <a:off x="9203" y="2640470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 em seta para cima 20">
            <a:hlinkClick r:id="rId4" action="ppaction://hlinksldjump"/>
          </p:cNvPr>
          <p:cNvSpPr/>
          <p:nvPr/>
        </p:nvSpPr>
        <p:spPr>
          <a:xfrm rot="5400000">
            <a:off x="-651152" y="1614961"/>
            <a:ext cx="1714500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o explicativo em seta para cima 21">
            <a:hlinkClick r:id="rId5" action="ppaction://hlinksldjump"/>
          </p:cNvPr>
          <p:cNvSpPr/>
          <p:nvPr/>
        </p:nvSpPr>
        <p:spPr>
          <a:xfrm rot="5400000">
            <a:off x="-654162" y="3379130"/>
            <a:ext cx="1714500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84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88368"/>
            <a:ext cx="288032" cy="1885950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8"/>
          <p:cNvSpPr txBox="1">
            <a:spLocks noChangeArrowheads="1"/>
          </p:cNvSpPr>
          <p:nvPr/>
        </p:nvSpPr>
        <p:spPr bwMode="auto">
          <a:xfrm>
            <a:off x="7380312" y="1319454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8368"/>
            <a:ext cx="65341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o explicativo retangular 9"/>
          <p:cNvSpPr/>
          <p:nvPr/>
        </p:nvSpPr>
        <p:spPr>
          <a:xfrm>
            <a:off x="467544" y="3004592"/>
            <a:ext cx="2016224" cy="576064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# de respostas positivas obtidas VS respostas obtidas, excluindo as respostas “não se aplica”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1" name="Texto explicativo retangular 10"/>
          <p:cNvSpPr/>
          <p:nvPr/>
        </p:nvSpPr>
        <p:spPr>
          <a:xfrm>
            <a:off x="2636168" y="3075854"/>
            <a:ext cx="2016224" cy="1152873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chamados originados por telefone, chat, elegíveis de resolução do SD e resolvidos pelo SD, sem nenhuma transferência de grupo VS chamados originados por telefone, chat e despachados para outros grupos solucionadores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2" name="Texto explicativo retangular 11"/>
          <p:cNvSpPr/>
          <p:nvPr/>
        </p:nvSpPr>
        <p:spPr>
          <a:xfrm>
            <a:off x="4804792" y="3022154"/>
            <a:ext cx="2016224" cy="918542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chamados resolvidos por qualquer fila do Service Desk, independente da elegibilidade do escopo de atendimento VS total chamados  de usuário (não compreende chamados de monitoria)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6" name="Arredondar Retângulo em um Canto Único 15">
            <a:hlinkClick r:id="rId4" action="ppaction://hlinksldjump"/>
          </p:cNvPr>
          <p:cNvSpPr/>
          <p:nvPr/>
        </p:nvSpPr>
        <p:spPr>
          <a:xfrm>
            <a:off x="149811" y="844353"/>
            <a:ext cx="2371338" cy="2016222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o explicativo em seta para cima 16">
            <a:hlinkClick r:id="rId4" action="ppaction://hlinksldjump"/>
          </p:cNvPr>
          <p:cNvSpPr/>
          <p:nvPr/>
        </p:nvSpPr>
        <p:spPr>
          <a:xfrm rot="5400000">
            <a:off x="-728741" y="1776722"/>
            <a:ext cx="1869678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87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SLA - Visão 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Seta para a direita listrada 81">
            <a:hlinkClick r:id="rId3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/>
          <p:cNvSpPr txBox="1"/>
          <p:nvPr/>
        </p:nvSpPr>
        <p:spPr>
          <a:xfrm>
            <a:off x="8518215" y="1130218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4" y="975827"/>
            <a:ext cx="8490190" cy="3905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598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Aging - Visão 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Seta para a direita listrada 50">
            <a:hlinkClick r:id="rId3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4" y="928327"/>
            <a:ext cx="8854132" cy="403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815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52" y="799029"/>
            <a:ext cx="2321715" cy="202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80" y="2971035"/>
            <a:ext cx="3328987" cy="209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Avaliação Positiva - Visão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eta para baixo 11"/>
          <p:cNvSpPr/>
          <p:nvPr/>
        </p:nvSpPr>
        <p:spPr bwMode="auto">
          <a:xfrm rot="15922379">
            <a:off x="2076238" y="1312803"/>
            <a:ext cx="503317" cy="801056"/>
          </a:xfrm>
          <a:prstGeom prst="downArrow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1438057" y="1276400"/>
            <a:ext cx="268928" cy="1344824"/>
          </a:xfrm>
          <a:prstGeom prst="roundRect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eta para cima e para baixo 8"/>
          <p:cNvSpPr/>
          <p:nvPr/>
        </p:nvSpPr>
        <p:spPr>
          <a:xfrm>
            <a:off x="1322909" y="2749301"/>
            <a:ext cx="288032" cy="504056"/>
          </a:xfrm>
          <a:prstGeom prst="upDownArrow">
            <a:avLst/>
          </a:prstGeom>
          <a:solidFill>
            <a:schemeClr val="bg2">
              <a:lumMod val="25000"/>
              <a:alpha val="14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2" name="Explosão 1 21"/>
          <p:cNvSpPr/>
          <p:nvPr/>
        </p:nvSpPr>
        <p:spPr bwMode="auto">
          <a:xfrm>
            <a:off x="1886174" y="2716560"/>
            <a:ext cx="1872208" cy="1008112"/>
          </a:xfrm>
          <a:prstGeom prst="irregularSeal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Baixa aderência nas respostas</a:t>
            </a:r>
          </a:p>
        </p:txBody>
      </p:sp>
      <p:sp>
        <p:nvSpPr>
          <p:cNvPr id="17" name="Seta para a direita listrada 16">
            <a:hlinkClick r:id="rId5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707904" y="3438515"/>
            <a:ext cx="475252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i="1" dirty="0" smtClean="0"/>
              <a:t>“Precisamos </a:t>
            </a:r>
            <a:r>
              <a:rPr lang="pt-BR" sz="1200" i="1" dirty="0" err="1"/>
              <a:t>refaturar</a:t>
            </a:r>
            <a:r>
              <a:rPr lang="pt-BR" sz="1200" i="1" dirty="0"/>
              <a:t> mais </a:t>
            </a:r>
            <a:r>
              <a:rPr lang="pt-BR" sz="1200" i="1" dirty="0" smtClean="0"/>
              <a:t>rápido</a:t>
            </a:r>
            <a:r>
              <a:rPr lang="pt-BR" sz="1200" i="1" dirty="0"/>
              <a:t>, os pedidos </a:t>
            </a:r>
            <a:r>
              <a:rPr lang="pt-BR" sz="1200" i="1" dirty="0" smtClean="0"/>
              <a:t>já </a:t>
            </a:r>
            <a:r>
              <a:rPr lang="pt-BR" sz="1200" i="1" dirty="0"/>
              <a:t>possuem reclamação</a:t>
            </a:r>
            <a:r>
              <a:rPr lang="pt-BR" sz="1200" i="1" dirty="0" smtClean="0"/>
              <a:t>!”</a:t>
            </a:r>
          </a:p>
          <a:p>
            <a:r>
              <a:rPr lang="pt-BR" sz="1200" i="1" dirty="0" smtClean="0"/>
              <a:t>“</a:t>
            </a:r>
            <a:r>
              <a:rPr lang="pt-BR" sz="1200" i="1" dirty="0"/>
              <a:t>CATI no soluciono </a:t>
            </a:r>
            <a:r>
              <a:rPr lang="pt-BR" sz="1200" i="1" dirty="0" err="1"/>
              <a:t>ningun</a:t>
            </a:r>
            <a:r>
              <a:rPr lang="pt-BR" sz="1200" i="1" dirty="0"/>
              <a:t> problema, </a:t>
            </a:r>
            <a:r>
              <a:rPr lang="pt-BR" sz="1200" i="1" dirty="0" err="1"/>
              <a:t>personalmente</a:t>
            </a:r>
            <a:r>
              <a:rPr lang="pt-BR" sz="1200" i="1" dirty="0"/>
              <a:t> </a:t>
            </a:r>
            <a:r>
              <a:rPr lang="pt-BR" sz="1200" i="1" dirty="0" err="1"/>
              <a:t>tuve</a:t>
            </a:r>
            <a:r>
              <a:rPr lang="pt-BR" sz="1200" i="1" dirty="0"/>
              <a:t> que </a:t>
            </a:r>
            <a:r>
              <a:rPr lang="pt-BR" sz="1200" i="1" dirty="0" err="1"/>
              <a:t>busvar</a:t>
            </a:r>
            <a:r>
              <a:rPr lang="pt-BR" sz="1200" i="1" dirty="0"/>
              <a:t> </a:t>
            </a:r>
            <a:r>
              <a:rPr lang="pt-BR" sz="1200" i="1" dirty="0" err="1"/>
              <a:t>la</a:t>
            </a:r>
            <a:r>
              <a:rPr lang="pt-BR" sz="1200" i="1" dirty="0"/>
              <a:t> </a:t>
            </a:r>
            <a:r>
              <a:rPr lang="pt-BR" sz="1200" i="1" dirty="0" err="1"/>
              <a:t>solucion</a:t>
            </a:r>
            <a:r>
              <a:rPr lang="pt-BR" sz="1200" i="1" dirty="0"/>
              <a:t> </a:t>
            </a:r>
            <a:r>
              <a:rPr lang="pt-BR" sz="1200" i="1" dirty="0" err="1"/>
              <a:t>en</a:t>
            </a:r>
            <a:r>
              <a:rPr lang="pt-BR" sz="1200" i="1" dirty="0"/>
              <a:t> forma paralela y una vez solucionado desde CATI </a:t>
            </a:r>
            <a:r>
              <a:rPr lang="pt-BR" sz="1200" i="1" dirty="0" err="1"/>
              <a:t>aun</a:t>
            </a:r>
            <a:r>
              <a:rPr lang="pt-BR" sz="1200" i="1" dirty="0"/>
              <a:t> </a:t>
            </a:r>
            <a:r>
              <a:rPr lang="pt-BR" sz="1200" i="1" dirty="0" err="1"/>
              <a:t>pedian</a:t>
            </a:r>
            <a:r>
              <a:rPr lang="pt-BR" sz="1200" i="1" dirty="0"/>
              <a:t> </a:t>
            </a:r>
            <a:r>
              <a:rPr lang="pt-BR" sz="1200" i="1" dirty="0" err="1"/>
              <a:t>informaciones</a:t>
            </a:r>
            <a:r>
              <a:rPr lang="pt-BR" sz="1200" i="1" dirty="0"/>
              <a:t> para </a:t>
            </a:r>
            <a:r>
              <a:rPr lang="pt-BR" sz="1200" i="1" dirty="0" err="1" smtClean="0"/>
              <a:t>avanzar</a:t>
            </a:r>
            <a:r>
              <a:rPr lang="pt-BR" sz="1200" i="1" dirty="0" smtClean="0"/>
              <a:t>”</a:t>
            </a:r>
          </a:p>
          <a:p>
            <a:r>
              <a:rPr lang="pt-BR" sz="1200" i="1" dirty="0" smtClean="0"/>
              <a:t>“</a:t>
            </a:r>
            <a:r>
              <a:rPr lang="pt-BR" sz="1200" i="1" dirty="0"/>
              <a:t>Muita morosidade no atendimento dos chamados, por vezes os analistas não tem a devida orientação/</a:t>
            </a:r>
            <a:r>
              <a:rPr lang="pt-BR" sz="1200" i="1" dirty="0" err="1"/>
              <a:t>skill</a:t>
            </a:r>
            <a:r>
              <a:rPr lang="pt-BR" sz="1200" i="1" dirty="0" smtClean="0"/>
              <a:t>.”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4716016" y="2614935"/>
            <a:ext cx="3384376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200" i="1"/>
            </a:lvl1pPr>
          </a:lstStyle>
          <a:p>
            <a:r>
              <a:rPr lang="pt-BR" dirty="0"/>
              <a:t>“Agradeço pela agilidade e </a:t>
            </a:r>
            <a:r>
              <a:rPr lang="pt-BR" dirty="0" err="1"/>
              <a:t>eficiencia</a:t>
            </a:r>
            <a:r>
              <a:rPr lang="pt-BR" dirty="0"/>
              <a:t> da Analista!”</a:t>
            </a:r>
          </a:p>
          <a:p>
            <a:r>
              <a:rPr lang="pt-BR" dirty="0"/>
              <a:t>“Atendimento excelente! Obrigada</a:t>
            </a:r>
            <a:r>
              <a:rPr lang="pt-BR" dirty="0" smtClean="0"/>
              <a:t>!”</a:t>
            </a:r>
            <a:endParaRPr lang="pt-BR" dirty="0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236" y="2379400"/>
            <a:ext cx="591326" cy="59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037" y="3241169"/>
            <a:ext cx="698806" cy="65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96722"/>
              </p:ext>
            </p:extLst>
          </p:nvPr>
        </p:nvGraphicFramePr>
        <p:xfrm>
          <a:off x="2915816" y="824122"/>
          <a:ext cx="4876800" cy="1457325"/>
        </p:xfrm>
        <a:graphic>
          <a:graphicData uri="http://schemas.openxmlformats.org/drawingml/2006/table">
            <a:tbl>
              <a:tblPr/>
              <a:tblGrid>
                <a:gridCol w="2159000"/>
                <a:gridCol w="558800"/>
                <a:gridCol w="1549400"/>
                <a:gridCol w="609600"/>
              </a:tblGrid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Grupo </a:t>
                      </a:r>
                      <a:r>
                        <a:rPr lang="pt-B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Resolvedor</a:t>
                      </a:r>
                      <a:endParaRPr lang="pt-BR" sz="10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 chamados resolvidos pelo grupo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869B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TD-GAC-SAP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811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TD-SD - 1 NIVEL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3805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TD-NETWORK - NIVEL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5,5%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TD-MICRO-INFORMATICA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TD-GAC-ISAM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1159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TD-NETWORK SECURITY - NIVEL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18,8%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TD-ACCT-SS-FINANC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738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04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8455</TotalTime>
  <Words>488</Words>
  <Application>Microsoft Office PowerPoint</Application>
  <PresentationFormat>Personalizar</PresentationFormat>
  <Paragraphs>129</Paragraphs>
  <Slides>8</Slides>
  <Notes>0</Notes>
  <HiddenSlides>4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385</cp:revision>
  <dcterms:created xsi:type="dcterms:W3CDTF">2014-10-02T13:42:42Z</dcterms:created>
  <dcterms:modified xsi:type="dcterms:W3CDTF">2015-05-06T23:08:42Z</dcterms:modified>
</cp:coreProperties>
</file>