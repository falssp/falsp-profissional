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0"/>
  </p:notesMasterIdLst>
  <p:handoutMasterIdLst>
    <p:handoutMasterId r:id="rId21"/>
  </p:handoutMasterIdLst>
  <p:sldIdLst>
    <p:sldId id="580" r:id="rId5"/>
    <p:sldId id="595" r:id="rId6"/>
    <p:sldId id="605" r:id="rId7"/>
    <p:sldId id="608" r:id="rId8"/>
    <p:sldId id="606" r:id="rId9"/>
    <p:sldId id="609" r:id="rId10"/>
    <p:sldId id="594" r:id="rId11"/>
    <p:sldId id="607" r:id="rId12"/>
    <p:sldId id="611" r:id="rId13"/>
    <p:sldId id="612" r:id="rId14"/>
    <p:sldId id="613" r:id="rId15"/>
    <p:sldId id="614" r:id="rId16"/>
    <p:sldId id="615" r:id="rId17"/>
    <p:sldId id="597" r:id="rId18"/>
    <p:sldId id="534" r:id="rId19"/>
  </p:sldIdLst>
  <p:sldSz cx="9906000" cy="6858000" type="A4"/>
  <p:notesSz cx="9101138" cy="6858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99"/>
    <a:srgbClr val="008080"/>
    <a:srgbClr val="FF6600"/>
    <a:srgbClr val="F79646"/>
    <a:srgbClr val="AA0001"/>
    <a:srgbClr val="D1FFFF"/>
    <a:srgbClr val="006666"/>
    <a:srgbClr val="A59F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Estilo Médio 1 - Ênfas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118" autoAdjust="0"/>
    <p:restoredTop sz="97513" autoAdjust="0"/>
  </p:normalViewPr>
  <p:slideViewPr>
    <p:cSldViewPr>
      <p:cViewPr>
        <p:scale>
          <a:sx n="90" d="100"/>
          <a:sy n="90" d="100"/>
        </p:scale>
        <p:origin x="-1254" y="-102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582"/>
    </p:cViewPr>
  </p:sorterViewPr>
  <p:notesViewPr>
    <p:cSldViewPr>
      <p:cViewPr varScale="1">
        <p:scale>
          <a:sx n="57" d="100"/>
          <a:sy n="57" d="100"/>
        </p:scale>
        <p:origin x="-2472" y="-84"/>
      </p:cViewPr>
      <p:guideLst>
        <p:guide orient="horz" pos="2161"/>
        <p:guide pos="2867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44938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5154613" y="0"/>
            <a:ext cx="3944937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1EAE59AA-9047-49FD-8607-F22D858B85D3}" type="datetimeFigureOut">
              <a:rPr lang="pt-BR"/>
              <a:pPr>
                <a:defRPr/>
              </a:pPr>
              <a:t>23/01/2015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3944938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5154613" y="6513513"/>
            <a:ext cx="3944937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0B756206-90C1-463A-9977-851987A844A1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7626418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44938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5154613" y="0"/>
            <a:ext cx="3944937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fld id="{BBBDD1F3-0B26-4461-8DA0-14D4007651CE}" type="datetimeFigureOut">
              <a:rPr lang="pt-BR"/>
              <a:pPr>
                <a:defRPr/>
              </a:pPr>
              <a:t>23/01/2015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693988" y="514350"/>
            <a:ext cx="3713162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pt-BR" noProof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909638" y="3257550"/>
            <a:ext cx="7281862" cy="3086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noProof="0" smtClean="0"/>
              <a:t>Clique para editar os estilos do texto mestre</a:t>
            </a:r>
          </a:p>
          <a:p>
            <a:pPr lvl="1"/>
            <a:r>
              <a:rPr lang="pt-BR" noProof="0" smtClean="0"/>
              <a:t>Segundo nível</a:t>
            </a:r>
          </a:p>
          <a:p>
            <a:pPr lvl="2"/>
            <a:r>
              <a:rPr lang="pt-BR" noProof="0" smtClean="0"/>
              <a:t>Terceiro nível</a:t>
            </a:r>
          </a:p>
          <a:p>
            <a:pPr lvl="3"/>
            <a:r>
              <a:rPr lang="pt-BR" noProof="0" smtClean="0"/>
              <a:t>Quarto nível</a:t>
            </a:r>
          </a:p>
          <a:p>
            <a:pPr lvl="4"/>
            <a:r>
              <a:rPr lang="pt-BR" noProof="0" smtClean="0"/>
              <a:t>Quinto nível</a:t>
            </a:r>
            <a:endParaRPr lang="pt-BR" noProof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44938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5154613" y="6513513"/>
            <a:ext cx="3944937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fld id="{1110D859-36F9-4DD5-8CE9-56952883E984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7343254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2130426"/>
            <a:ext cx="84201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82607F-1BAE-4E49-A1D3-72B48AADB535}" type="datetimeFigureOut">
              <a:rPr lang="en-US"/>
              <a:pPr>
                <a:defRPr/>
              </a:pPr>
              <a:t>1/23/2015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DB182-8704-4FCF-8099-DECABCC531CE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1366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74FC2C-3130-4454-AE2F-83E388DDE4F9}" type="datetimeFigureOut">
              <a:rPr lang="en-US"/>
              <a:pPr>
                <a:defRPr/>
              </a:pPr>
              <a:t>1/23/2015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ADA675-C499-42BA-9DAB-F16CCC204A67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950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506" y="4406901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118D54-1DE1-4D7E-87DB-2F03E7A241D3}" type="datetimeFigureOut">
              <a:rPr lang="en-US"/>
              <a:pPr>
                <a:defRPr/>
              </a:pPr>
              <a:t>1/23/2015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0E5146-B6EA-4165-82EE-32F77E2E5589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3432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5300" y="1600201"/>
            <a:ext cx="43751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35550" y="1600201"/>
            <a:ext cx="43751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4DD1B1-B61E-4408-892C-0D170FF8B3D6}" type="datetimeFigureOut">
              <a:rPr lang="en-US"/>
              <a:pPr>
                <a:defRPr/>
              </a:pPr>
              <a:t>1/23/2015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1048E8-4A75-4C62-905F-BBD0F6904EAF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8219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32111" y="1535113"/>
            <a:ext cx="437859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32111" y="2174875"/>
            <a:ext cx="437859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FDA950-7083-4D4C-8C20-52D2741046A6}" type="datetimeFigureOut">
              <a:rPr lang="en-US"/>
              <a:pPr>
                <a:defRPr/>
              </a:pPr>
              <a:t>1/23/2015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F392BD-18D6-42A8-9D1A-2259ADEB4829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521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62BEF1-454C-41E6-9D03-9DE88E8AFCFF}" type="datetimeFigureOut">
              <a:rPr lang="en-US"/>
              <a:pPr>
                <a:defRPr/>
              </a:pPr>
              <a:t>1/23/2015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95C765-6628-4286-9CBE-27BC77559B54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7270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A157D2-F3EC-4A82-80AC-1580C07E68A4}" type="datetimeFigureOut">
              <a:rPr lang="en-US"/>
              <a:pPr>
                <a:defRPr/>
              </a:pPr>
              <a:t>1/23/2015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F356B9-D566-45C5-868E-A0D77C9D587F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3451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006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72971" y="273051"/>
            <a:ext cx="5537729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300" y="1435101"/>
            <a:ext cx="3259006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5B606B-CAFE-4693-A87A-C436BAD7541D}" type="datetimeFigureOut">
              <a:rPr lang="en-US"/>
              <a:pPr>
                <a:defRPr/>
              </a:pPr>
              <a:t>1/23/2015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5546D3-2A93-4BB5-A575-00E2379276EE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1334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C5CC2F-EF43-40E2-B8BB-29184E5A7CBF}" type="datetimeFigureOut">
              <a:rPr lang="en-US"/>
              <a:pPr>
                <a:defRPr/>
              </a:pPr>
              <a:t>1/23/2015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5E4A18-0034-431B-8179-CA35656F1472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5281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48CD03-1E34-47EE-A6F5-EDEECF66248C}" type="datetimeFigureOut">
              <a:rPr lang="en-US"/>
              <a:pPr>
                <a:defRPr/>
              </a:pPr>
              <a:t>1/23/2015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EFFE05-4032-4498-9EA4-23DE30E53EEF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9103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81850" y="274639"/>
            <a:ext cx="222885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95300" y="274639"/>
            <a:ext cx="652145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71C535-B2C9-4716-9B8F-3CB672A522A1}" type="datetimeFigureOut">
              <a:rPr lang="en-US"/>
              <a:pPr>
                <a:defRPr/>
              </a:pPr>
              <a:t>1/23/2015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10A548-1114-454F-B466-7B2141A232AB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2960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/>
          </p:nvPr>
        </p:nvSpPr>
        <p:spPr>
          <a:xfrm>
            <a:off x="495300" y="274639"/>
            <a:ext cx="8915400" cy="5851525"/>
          </a:xfrm>
        </p:spPr>
        <p:txBody>
          <a:bodyPr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EB13F6-3CF7-4F79-846E-2024684AF671}" type="datetimeFigureOut">
              <a:rPr lang="en-US"/>
              <a:pPr>
                <a:defRPr/>
              </a:pPr>
              <a:t>1/23/2015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7B67B2-F619-48F9-9867-0B630C2C1A5D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6681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Placeholder 1"/>
          <p:cNvSpPr>
            <a:spLocks noGrp="1"/>
          </p:cNvSpPr>
          <p:nvPr>
            <p:ph type="title"/>
          </p:nvPr>
        </p:nvSpPr>
        <p:spPr bwMode="auto">
          <a:xfrm>
            <a:off x="495300" y="274638"/>
            <a:ext cx="8915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307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95300" y="1600200"/>
            <a:ext cx="89154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Calibri" pitchFamily="34" charset="0"/>
                <a:cs typeface="+mn-cs"/>
              </a:defRPr>
            </a:lvl1pPr>
          </a:lstStyle>
          <a:p>
            <a:pPr>
              <a:defRPr/>
            </a:pPr>
            <a:fld id="{9703E449-A981-4B18-87AB-6F17993DC0AD}" type="datetimeFigureOut">
              <a:rPr lang="en-US"/>
              <a:pPr>
                <a:defRPr/>
              </a:pPr>
              <a:t>1/23/2015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84550" y="6356350"/>
            <a:ext cx="31369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898989"/>
                </a:solidFill>
                <a:latin typeface="Calibri" pitchFamily="34" charset="0"/>
                <a:cs typeface="+mn-cs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99300" y="6356350"/>
            <a:ext cx="23114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Calibri" pitchFamily="34" charset="0"/>
                <a:cs typeface="+mn-cs"/>
              </a:defRPr>
            </a:lvl1pPr>
          </a:lstStyle>
          <a:p>
            <a:pPr>
              <a:defRPr/>
            </a:pPr>
            <a:fld id="{DEBBEBC4-F299-4C8E-872C-C024D0A9918C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" Target="slide1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5"/>
          <p:cNvSpPr>
            <a:spLocks noChangeArrowheads="1"/>
          </p:cNvSpPr>
          <p:nvPr/>
        </p:nvSpPr>
        <p:spPr bwMode="auto">
          <a:xfrm>
            <a:off x="0" y="0"/>
            <a:ext cx="9906000" cy="6858000"/>
          </a:xfrm>
          <a:prstGeom prst="rect">
            <a:avLst/>
          </a:prstGeom>
          <a:solidFill>
            <a:srgbClr val="D9D9D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4281" tIns="32141" rIns="64281" bIns="32141"/>
          <a:lstStyle/>
          <a:p>
            <a:endParaRPr lang="pt-BR"/>
          </a:p>
        </p:txBody>
      </p:sp>
      <p:sp>
        <p:nvSpPr>
          <p:cNvPr id="13" name="Retângulo de cantos arredondados 12"/>
          <p:cNvSpPr/>
          <p:nvPr/>
        </p:nvSpPr>
        <p:spPr>
          <a:xfrm>
            <a:off x="2612903" y="1768078"/>
            <a:ext cx="2261741" cy="2366962"/>
          </a:xfrm>
          <a:prstGeom prst="roundRect">
            <a:avLst>
              <a:gd name="adj" fmla="val 5807"/>
            </a:avLst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6" tIns="45712" rIns="91426" bIns="45712" anchor="ctr"/>
          <a:lstStyle/>
          <a:p>
            <a:pPr>
              <a:defRPr/>
            </a:pPr>
            <a:endParaRPr lang="pt-BR">
              <a:solidFill>
                <a:prstClr val="white"/>
              </a:solidFill>
            </a:endParaRPr>
          </a:p>
        </p:txBody>
      </p:sp>
      <p:sp>
        <p:nvSpPr>
          <p:cNvPr id="14" name="Retângulo de cantos arredondados 13"/>
          <p:cNvSpPr/>
          <p:nvPr/>
        </p:nvSpPr>
        <p:spPr>
          <a:xfrm>
            <a:off x="5031360" y="1747838"/>
            <a:ext cx="2261741" cy="2366962"/>
          </a:xfrm>
          <a:prstGeom prst="roundRect">
            <a:avLst>
              <a:gd name="adj" fmla="val 5807"/>
            </a:avLst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6" tIns="45712" rIns="91426" bIns="45712" anchor="ctr"/>
          <a:lstStyle/>
          <a:p>
            <a:pPr>
              <a:defRPr/>
            </a:pPr>
            <a:endParaRPr lang="pt-BR">
              <a:solidFill>
                <a:prstClr val="white"/>
              </a:solidFill>
            </a:endParaRPr>
          </a:p>
        </p:txBody>
      </p:sp>
      <p:sp>
        <p:nvSpPr>
          <p:cNvPr id="17" name="Retângulo de cantos arredondados 16"/>
          <p:cNvSpPr/>
          <p:nvPr/>
        </p:nvSpPr>
        <p:spPr>
          <a:xfrm>
            <a:off x="7448848" y="1782366"/>
            <a:ext cx="2262709" cy="2366962"/>
          </a:xfrm>
          <a:prstGeom prst="roundRect">
            <a:avLst>
              <a:gd name="adj" fmla="val 5807"/>
            </a:avLst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6" tIns="45712" rIns="91426" bIns="45712" anchor="ctr"/>
          <a:lstStyle/>
          <a:p>
            <a:pPr>
              <a:defRPr/>
            </a:pPr>
            <a:endParaRPr lang="pt-BR">
              <a:solidFill>
                <a:prstClr val="white"/>
              </a:solidFill>
            </a:endParaRPr>
          </a:p>
        </p:txBody>
      </p:sp>
      <p:sp>
        <p:nvSpPr>
          <p:cNvPr id="18" name="Retângulo de cantos arredondados 17"/>
          <p:cNvSpPr/>
          <p:nvPr/>
        </p:nvSpPr>
        <p:spPr>
          <a:xfrm>
            <a:off x="194444" y="1782366"/>
            <a:ext cx="2262709" cy="2366962"/>
          </a:xfrm>
          <a:prstGeom prst="roundRect">
            <a:avLst>
              <a:gd name="adj" fmla="val 5807"/>
            </a:avLst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6" tIns="45712" rIns="91426" bIns="45712" anchor="ctr"/>
          <a:lstStyle/>
          <a:p>
            <a:pPr>
              <a:defRPr/>
            </a:pPr>
            <a:endParaRPr lang="pt-BR">
              <a:solidFill>
                <a:prstClr val="white"/>
              </a:solidFill>
            </a:endParaRPr>
          </a:p>
        </p:txBody>
      </p:sp>
      <p:sp>
        <p:nvSpPr>
          <p:cNvPr id="39" name="Retângulo de cantos arredondados 38"/>
          <p:cNvSpPr/>
          <p:nvPr/>
        </p:nvSpPr>
        <p:spPr>
          <a:xfrm>
            <a:off x="511747" y="1515666"/>
            <a:ext cx="2046015" cy="4191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6" tIns="45712" rIns="91426" bIns="45712" anchor="ctr"/>
          <a:lstStyle/>
          <a:p>
            <a:pPr>
              <a:defRPr/>
            </a:pPr>
            <a:endParaRPr lang="pt-BR"/>
          </a:p>
        </p:txBody>
      </p:sp>
      <p:sp>
        <p:nvSpPr>
          <p:cNvPr id="40" name="Retângulo de cantos arredondados 39"/>
          <p:cNvSpPr/>
          <p:nvPr/>
        </p:nvSpPr>
        <p:spPr>
          <a:xfrm>
            <a:off x="2907954" y="1512094"/>
            <a:ext cx="2045047" cy="41791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6" tIns="45712" rIns="91426" bIns="45712" anchor="ctr"/>
          <a:lstStyle/>
          <a:p>
            <a:pPr>
              <a:defRPr/>
            </a:pPr>
            <a:endParaRPr lang="pt-BR"/>
          </a:p>
        </p:txBody>
      </p:sp>
      <p:sp>
        <p:nvSpPr>
          <p:cNvPr id="41" name="Retângulo de cantos arredondados 40"/>
          <p:cNvSpPr/>
          <p:nvPr/>
        </p:nvSpPr>
        <p:spPr>
          <a:xfrm>
            <a:off x="5325443" y="1498999"/>
            <a:ext cx="2046015" cy="417909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6" tIns="45712" rIns="91426" bIns="45712" anchor="ctr"/>
          <a:lstStyle/>
          <a:p>
            <a:pPr>
              <a:defRPr/>
            </a:pPr>
            <a:endParaRPr lang="pt-BR"/>
          </a:p>
        </p:txBody>
      </p:sp>
      <p:sp>
        <p:nvSpPr>
          <p:cNvPr id="42" name="Retângulo de cantos arredondados 41"/>
          <p:cNvSpPr/>
          <p:nvPr/>
        </p:nvSpPr>
        <p:spPr>
          <a:xfrm>
            <a:off x="7777759" y="1515666"/>
            <a:ext cx="2045047" cy="4191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6" tIns="45712" rIns="91426" bIns="45712" anchor="ctr"/>
          <a:lstStyle/>
          <a:p>
            <a:pPr>
              <a:defRPr/>
            </a:pPr>
            <a:endParaRPr lang="pt-BR"/>
          </a:p>
        </p:txBody>
      </p:sp>
      <p:sp>
        <p:nvSpPr>
          <p:cNvPr id="12" name="Rectangle 3"/>
          <p:cNvSpPr>
            <a:spLocks/>
          </p:cNvSpPr>
          <p:nvPr/>
        </p:nvSpPr>
        <p:spPr bwMode="auto">
          <a:xfrm>
            <a:off x="194445" y="260747"/>
            <a:ext cx="7098655" cy="171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321406" bIns="0"/>
          <a:lstStyle/>
          <a:p>
            <a:pPr algn="l">
              <a:lnSpc>
                <a:spcPct val="80000"/>
              </a:lnSpc>
              <a:defRPr/>
            </a:pPr>
            <a:r>
              <a:rPr lang="en-US" sz="3200" dirty="0">
                <a:solidFill>
                  <a:schemeClr val="bg2">
                    <a:lumMod val="50000"/>
                  </a:schemeClr>
                </a:solidFill>
                <a:latin typeface="Gill Sans Std ExtraBold" pitchFamily="34" charset="0"/>
                <a:sym typeface="Gill Sans Std ExtraBold" pitchFamily="34" charset="0"/>
              </a:rPr>
              <a:t>6 </a:t>
            </a:r>
            <a:r>
              <a:rPr lang="en-US" sz="3200" dirty="0" err="1">
                <a:solidFill>
                  <a:schemeClr val="bg2">
                    <a:lumMod val="50000"/>
                  </a:schemeClr>
                </a:solidFill>
                <a:latin typeface="Gill Sans Std ExtraBold" pitchFamily="34" charset="0"/>
                <a:sym typeface="Gill Sans Std ExtraBold" pitchFamily="34" charset="0"/>
              </a:rPr>
              <a:t>estratégias</a:t>
            </a:r>
            <a:endParaRPr lang="en-US" sz="3200" dirty="0">
              <a:solidFill>
                <a:schemeClr val="bg2">
                  <a:lumMod val="50000"/>
                </a:schemeClr>
              </a:solidFill>
              <a:latin typeface="Gill Sans Std ExtraBold" pitchFamily="34" charset="0"/>
              <a:sym typeface="Gill Sans Std ExtraBold" pitchFamily="34" charset="0"/>
            </a:endParaRPr>
          </a:p>
          <a:p>
            <a:pPr algn="r">
              <a:lnSpc>
                <a:spcPct val="80000"/>
              </a:lnSpc>
              <a:defRPr/>
            </a:pPr>
            <a:r>
              <a:rPr lang="en-US" sz="3200" b="1" dirty="0">
                <a:solidFill>
                  <a:schemeClr val="bg2">
                    <a:lumMod val="50000"/>
                  </a:schemeClr>
                </a:solidFill>
                <a:latin typeface="Gill Sans Std Light" pitchFamily="34" charset="0"/>
                <a:sym typeface="Gill Sans Std Light" pitchFamily="34" charset="0"/>
              </a:rPr>
              <a:t>PARA UMA NOVA TD</a:t>
            </a:r>
          </a:p>
        </p:txBody>
      </p:sp>
      <p:pic>
        <p:nvPicPr>
          <p:cNvPr id="18444" name="Imagem 20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586782" y="1334692"/>
            <a:ext cx="970285" cy="8941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45" name="Imagem 26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036195" y="1334692"/>
            <a:ext cx="893862" cy="8941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46" name="Imagem 27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461425" y="1334692"/>
            <a:ext cx="894829" cy="8941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47" name="Imagem 28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49946" y="1334692"/>
            <a:ext cx="970284" cy="8941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" name="Retângulo de cantos arredondados 32"/>
          <p:cNvSpPr/>
          <p:nvPr/>
        </p:nvSpPr>
        <p:spPr>
          <a:xfrm>
            <a:off x="272802" y="4446985"/>
            <a:ext cx="9392320" cy="853678"/>
          </a:xfrm>
          <a:prstGeom prst="roundRect">
            <a:avLst>
              <a:gd name="adj" fmla="val 5807"/>
            </a:avLst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6" tIns="45712" rIns="91426" bIns="45712" anchor="ctr"/>
          <a:lstStyle/>
          <a:p>
            <a:pPr>
              <a:defRPr/>
            </a:pPr>
            <a:endParaRPr lang="pt-BR">
              <a:solidFill>
                <a:prstClr val="white"/>
              </a:solidFill>
            </a:endParaRPr>
          </a:p>
        </p:txBody>
      </p:sp>
      <p:sp>
        <p:nvSpPr>
          <p:cNvPr id="18449" name="Rectangle 7"/>
          <p:cNvSpPr>
            <a:spLocks/>
          </p:cNvSpPr>
          <p:nvPr/>
        </p:nvSpPr>
        <p:spPr bwMode="auto">
          <a:xfrm>
            <a:off x="257324" y="4436269"/>
            <a:ext cx="9454233" cy="8679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/>
          <a:p>
            <a:pPr>
              <a:lnSpc>
                <a:spcPct val="90000"/>
              </a:lnSpc>
              <a:tabLst>
                <a:tab pos="248992" algn="l"/>
                <a:tab pos="498983" algn="l"/>
                <a:tab pos="748975" algn="l"/>
                <a:tab pos="998967" algn="l"/>
                <a:tab pos="1248958" algn="l"/>
                <a:tab pos="1498950" algn="l"/>
                <a:tab pos="1748941" algn="l"/>
                <a:tab pos="1998933" algn="l"/>
                <a:tab pos="2248924" algn="l"/>
                <a:tab pos="2498916" algn="l"/>
                <a:tab pos="2748908" algn="l"/>
                <a:tab pos="2998899" algn="l"/>
                <a:tab pos="3213892" algn="l"/>
              </a:tabLst>
            </a:pPr>
            <a:endParaRPr lang="pt-BR" sz="1600" b="1">
              <a:solidFill>
                <a:srgbClr val="FF8200"/>
              </a:solidFill>
              <a:latin typeface="Gill Sans Std" pitchFamily="34" charset="0"/>
              <a:sym typeface="Gill Sans Std" pitchFamily="34" charset="0"/>
            </a:endParaRPr>
          </a:p>
        </p:txBody>
      </p:sp>
      <p:sp>
        <p:nvSpPr>
          <p:cNvPr id="35" name="Retângulo de cantos arredondados 34"/>
          <p:cNvSpPr/>
          <p:nvPr/>
        </p:nvSpPr>
        <p:spPr>
          <a:xfrm>
            <a:off x="287315" y="5526883"/>
            <a:ext cx="9392319" cy="854869"/>
          </a:xfrm>
          <a:prstGeom prst="roundRect">
            <a:avLst>
              <a:gd name="adj" fmla="val 5807"/>
            </a:avLst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6" tIns="45712" rIns="91426" bIns="45712" anchor="ctr"/>
          <a:lstStyle/>
          <a:p>
            <a:pPr>
              <a:defRPr/>
            </a:pPr>
            <a:endParaRPr lang="pt-BR">
              <a:solidFill>
                <a:prstClr val="white"/>
              </a:solidFill>
            </a:endParaRPr>
          </a:p>
        </p:txBody>
      </p:sp>
      <p:sp>
        <p:nvSpPr>
          <p:cNvPr id="18451" name="Rectangle 7"/>
          <p:cNvSpPr>
            <a:spLocks/>
          </p:cNvSpPr>
          <p:nvPr/>
        </p:nvSpPr>
        <p:spPr bwMode="auto">
          <a:xfrm>
            <a:off x="272802" y="5513786"/>
            <a:ext cx="9453265" cy="8679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/>
          <a:p>
            <a:pPr>
              <a:lnSpc>
                <a:spcPct val="90000"/>
              </a:lnSpc>
              <a:tabLst>
                <a:tab pos="248992" algn="l"/>
                <a:tab pos="498983" algn="l"/>
                <a:tab pos="748975" algn="l"/>
                <a:tab pos="998967" algn="l"/>
                <a:tab pos="1248958" algn="l"/>
                <a:tab pos="1498950" algn="l"/>
                <a:tab pos="1748941" algn="l"/>
                <a:tab pos="1998933" algn="l"/>
                <a:tab pos="2248924" algn="l"/>
                <a:tab pos="2498916" algn="l"/>
                <a:tab pos="2748908" algn="l"/>
                <a:tab pos="2998899" algn="l"/>
                <a:tab pos="3213892" algn="l"/>
              </a:tabLst>
            </a:pPr>
            <a:endParaRPr lang="pt-BR" sz="1600" b="1">
              <a:solidFill>
                <a:srgbClr val="FF8200"/>
              </a:solidFill>
              <a:latin typeface="Gill Sans Std" pitchFamily="34" charset="0"/>
              <a:sym typeface="Gill Sans Std" pitchFamily="34" charset="0"/>
            </a:endParaRPr>
          </a:p>
        </p:txBody>
      </p:sp>
      <p:pic>
        <p:nvPicPr>
          <p:cNvPr id="18452" name="Picture 1" descr="NAT_marca_laranja_natura-01.png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658076" y="260747"/>
            <a:ext cx="763266" cy="642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53" name="Rectangle 7"/>
          <p:cNvSpPr>
            <a:spLocks/>
          </p:cNvSpPr>
          <p:nvPr/>
        </p:nvSpPr>
        <p:spPr bwMode="auto">
          <a:xfrm>
            <a:off x="210890" y="1416844"/>
            <a:ext cx="2277219" cy="644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/>
          <a:p>
            <a:pPr algn="r">
              <a:lnSpc>
                <a:spcPct val="90000"/>
              </a:lnSpc>
              <a:tabLst>
                <a:tab pos="248992" algn="l"/>
                <a:tab pos="498983" algn="l"/>
                <a:tab pos="748975" algn="l"/>
                <a:tab pos="998967" algn="l"/>
                <a:tab pos="1248958" algn="l"/>
                <a:tab pos="1498950" algn="l"/>
                <a:tab pos="1748941" algn="l"/>
                <a:tab pos="1998933" algn="l"/>
                <a:tab pos="2248924" algn="l"/>
                <a:tab pos="2498916" algn="l"/>
                <a:tab pos="2748908" algn="l"/>
                <a:tab pos="2998899" algn="l"/>
                <a:tab pos="3213892" algn="l"/>
              </a:tabLst>
            </a:pPr>
            <a:r>
              <a:rPr lang="en-US" sz="1200" b="1">
                <a:solidFill>
                  <a:srgbClr val="FF8200"/>
                </a:solidFill>
                <a:latin typeface="Gill Sans Std Light" pitchFamily="34" charset="0"/>
                <a:sym typeface="Gill Sans Std Light" pitchFamily="34" charset="0"/>
              </a:rPr>
              <a:t>RELACIONAMENTO </a:t>
            </a:r>
            <a:r>
              <a:rPr lang="en-US" sz="1300" b="1">
                <a:solidFill>
                  <a:srgbClr val="FF8200"/>
                </a:solidFill>
                <a:latin typeface="Gill Sans Std Light" pitchFamily="34" charset="0"/>
                <a:sym typeface="Gill Sans Std Light" pitchFamily="34" charset="0"/>
              </a:rPr>
              <a:t>MULTICANAL</a:t>
            </a:r>
          </a:p>
        </p:txBody>
      </p:sp>
      <p:sp>
        <p:nvSpPr>
          <p:cNvPr id="18454" name="Rectangle 7"/>
          <p:cNvSpPr>
            <a:spLocks/>
          </p:cNvSpPr>
          <p:nvPr/>
        </p:nvSpPr>
        <p:spPr bwMode="auto">
          <a:xfrm>
            <a:off x="2646759" y="1398985"/>
            <a:ext cx="2276252" cy="644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/>
          <a:p>
            <a:pPr algn="r">
              <a:lnSpc>
                <a:spcPct val="90000"/>
              </a:lnSpc>
              <a:tabLst>
                <a:tab pos="248992" algn="l"/>
                <a:tab pos="498983" algn="l"/>
                <a:tab pos="748975" algn="l"/>
                <a:tab pos="998967" algn="l"/>
                <a:tab pos="1248958" algn="l"/>
                <a:tab pos="1498950" algn="l"/>
                <a:tab pos="1748941" algn="l"/>
                <a:tab pos="1998933" algn="l"/>
                <a:tab pos="2248924" algn="l"/>
                <a:tab pos="2498916" algn="l"/>
                <a:tab pos="2748908" algn="l"/>
                <a:tab pos="2998899" algn="l"/>
                <a:tab pos="3213892" algn="l"/>
              </a:tabLst>
            </a:pPr>
            <a:r>
              <a:rPr lang="en-US" sz="1400" b="1" dirty="0">
                <a:solidFill>
                  <a:srgbClr val="FF8200"/>
                </a:solidFill>
                <a:latin typeface="Gill Sans Std Light" pitchFamily="34" charset="0"/>
                <a:sym typeface="Gill Sans Std Light" pitchFamily="34" charset="0"/>
              </a:rPr>
              <a:t>	ARQUITETURA           FLEXÍVEL</a:t>
            </a:r>
          </a:p>
        </p:txBody>
      </p:sp>
      <p:sp>
        <p:nvSpPr>
          <p:cNvPr id="18455" name="Rectangle 7"/>
          <p:cNvSpPr>
            <a:spLocks/>
          </p:cNvSpPr>
          <p:nvPr/>
        </p:nvSpPr>
        <p:spPr bwMode="auto">
          <a:xfrm>
            <a:off x="5064251" y="1385888"/>
            <a:ext cx="2277219" cy="644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/>
          <a:p>
            <a:pPr algn="r">
              <a:lnSpc>
                <a:spcPct val="90000"/>
              </a:lnSpc>
              <a:tabLst>
                <a:tab pos="248992" algn="l"/>
                <a:tab pos="498983" algn="l"/>
                <a:tab pos="748975" algn="l"/>
                <a:tab pos="998967" algn="l"/>
                <a:tab pos="1248958" algn="l"/>
                <a:tab pos="1498950" algn="l"/>
                <a:tab pos="1748941" algn="l"/>
                <a:tab pos="1998933" algn="l"/>
                <a:tab pos="2248924" algn="l"/>
                <a:tab pos="2498916" algn="l"/>
                <a:tab pos="2748908" algn="l"/>
                <a:tab pos="2998899" algn="l"/>
                <a:tab pos="3213892" algn="l"/>
              </a:tabLst>
            </a:pPr>
            <a:r>
              <a:rPr lang="en-US" sz="1400" b="1">
                <a:solidFill>
                  <a:srgbClr val="FF8200"/>
                </a:solidFill>
                <a:latin typeface="Gill Sans Std Light" pitchFamily="34" charset="0"/>
                <a:sym typeface="Gill Sans Std Light" pitchFamily="34" charset="0"/>
              </a:rPr>
              <a:t>	</a:t>
            </a:r>
            <a:r>
              <a:rPr lang="en-US" sz="1300" b="1">
                <a:solidFill>
                  <a:srgbClr val="FF8200"/>
                </a:solidFill>
                <a:latin typeface="Gill Sans Std Light" pitchFamily="34" charset="0"/>
                <a:sym typeface="Gill Sans Std Light" pitchFamily="34" charset="0"/>
              </a:rPr>
              <a:t>INFRAESTRUTURA</a:t>
            </a:r>
            <a:r>
              <a:rPr lang="en-US" sz="1400" b="1">
                <a:solidFill>
                  <a:srgbClr val="FF8200"/>
                </a:solidFill>
                <a:latin typeface="Gill Sans Std Light" pitchFamily="34" charset="0"/>
                <a:sym typeface="Gill Sans Std Light" pitchFamily="34" charset="0"/>
              </a:rPr>
              <a:t> ROBUSTA</a:t>
            </a:r>
          </a:p>
        </p:txBody>
      </p:sp>
      <p:sp>
        <p:nvSpPr>
          <p:cNvPr id="18456" name="Rectangle 7"/>
          <p:cNvSpPr>
            <a:spLocks/>
          </p:cNvSpPr>
          <p:nvPr/>
        </p:nvSpPr>
        <p:spPr bwMode="auto">
          <a:xfrm>
            <a:off x="7493348" y="1395413"/>
            <a:ext cx="2277219" cy="644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/>
          <a:p>
            <a:pPr algn="r">
              <a:lnSpc>
                <a:spcPct val="90000"/>
              </a:lnSpc>
              <a:tabLst>
                <a:tab pos="248992" algn="l"/>
                <a:tab pos="498983" algn="l"/>
                <a:tab pos="748975" algn="l"/>
                <a:tab pos="998967" algn="l"/>
                <a:tab pos="1248958" algn="l"/>
                <a:tab pos="1498950" algn="l"/>
                <a:tab pos="1748941" algn="l"/>
                <a:tab pos="1998933" algn="l"/>
                <a:tab pos="2248924" algn="l"/>
                <a:tab pos="2498916" algn="l"/>
                <a:tab pos="2748908" algn="l"/>
                <a:tab pos="2998899" algn="l"/>
                <a:tab pos="3213892" algn="l"/>
              </a:tabLst>
            </a:pPr>
            <a:r>
              <a:rPr lang="en-US" sz="1400" b="1">
                <a:solidFill>
                  <a:srgbClr val="FF8200"/>
                </a:solidFill>
                <a:latin typeface="Gill Sans Std Light" pitchFamily="34" charset="0"/>
                <a:sym typeface="Gill Sans Std Light" pitchFamily="34" charset="0"/>
              </a:rPr>
              <a:t>	EFICIÊNCIA                </a:t>
            </a:r>
            <a:r>
              <a:rPr lang="en-US" sz="1300" b="1">
                <a:solidFill>
                  <a:srgbClr val="FF8200"/>
                </a:solidFill>
                <a:latin typeface="Gill Sans Std Light" pitchFamily="34" charset="0"/>
                <a:sym typeface="Gill Sans Std Light" pitchFamily="34" charset="0"/>
              </a:rPr>
              <a:t>NOS PROCESSOS</a:t>
            </a:r>
          </a:p>
        </p:txBody>
      </p:sp>
      <p:sp>
        <p:nvSpPr>
          <p:cNvPr id="58" name="Rectangle 7"/>
          <p:cNvSpPr>
            <a:spLocks/>
          </p:cNvSpPr>
          <p:nvPr/>
        </p:nvSpPr>
        <p:spPr bwMode="auto">
          <a:xfrm>
            <a:off x="179934" y="1768079"/>
            <a:ext cx="2277219" cy="2381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/>
          <a:p>
            <a:pPr>
              <a:lnSpc>
                <a:spcPct val="90000"/>
              </a:lnSpc>
              <a:tabLst>
                <a:tab pos="248992" algn="l"/>
                <a:tab pos="498983" algn="l"/>
                <a:tab pos="748975" algn="l"/>
                <a:tab pos="998967" algn="l"/>
                <a:tab pos="1248958" algn="l"/>
                <a:tab pos="1498950" algn="l"/>
                <a:tab pos="1748941" algn="l"/>
                <a:tab pos="1998933" algn="l"/>
                <a:tab pos="2248924" algn="l"/>
                <a:tab pos="2498916" algn="l"/>
                <a:tab pos="2748908" algn="l"/>
                <a:tab pos="2998899" algn="l"/>
                <a:tab pos="3213892" algn="l"/>
              </a:tabLst>
            </a:pPr>
            <a:endParaRPr lang="pt-BR" sz="1400" dirty="0">
              <a:solidFill>
                <a:srgbClr val="666666"/>
              </a:solidFill>
              <a:latin typeface="Gill Sans Std" pitchFamily="34" charset="0"/>
              <a:sym typeface="Gill Sans Std" pitchFamily="34" charset="0"/>
            </a:endParaRPr>
          </a:p>
          <a:p>
            <a:pPr algn="ctr">
              <a:lnSpc>
                <a:spcPct val="90000"/>
              </a:lnSpc>
              <a:tabLst>
                <a:tab pos="248992" algn="l"/>
                <a:tab pos="498983" algn="l"/>
                <a:tab pos="748975" algn="l"/>
                <a:tab pos="998967" algn="l"/>
                <a:tab pos="1248958" algn="l"/>
                <a:tab pos="1498950" algn="l"/>
                <a:tab pos="1748941" algn="l"/>
                <a:tab pos="1998933" algn="l"/>
                <a:tab pos="2248924" algn="l"/>
                <a:tab pos="2498916" algn="l"/>
                <a:tab pos="2748908" algn="l"/>
                <a:tab pos="2998899" algn="l"/>
                <a:tab pos="3213892" algn="l"/>
              </a:tabLst>
            </a:pPr>
            <a:r>
              <a:rPr lang="pt-BR" sz="1400" dirty="0">
                <a:solidFill>
                  <a:srgbClr val="666666"/>
                </a:solidFill>
                <a:latin typeface="Gill Sans Std" pitchFamily="34" charset="0"/>
                <a:sym typeface="Gill Sans Std" pitchFamily="34" charset="0"/>
              </a:rPr>
              <a:t>Viabilizar </a:t>
            </a:r>
            <a:r>
              <a:rPr lang="pt-BR" sz="1400" b="1" dirty="0">
                <a:solidFill>
                  <a:srgbClr val="666666"/>
                </a:solidFill>
                <a:latin typeface="Gill Sans Std" pitchFamily="34" charset="0"/>
                <a:sym typeface="Gill Sans Std" pitchFamily="34" charset="0"/>
              </a:rPr>
              <a:t>formas de relacionamento individualizadas</a:t>
            </a:r>
            <a:r>
              <a:rPr lang="pt-BR" sz="1400" dirty="0">
                <a:solidFill>
                  <a:srgbClr val="666666"/>
                </a:solidFill>
                <a:latin typeface="Gill Sans Std" pitchFamily="34" charset="0"/>
                <a:sym typeface="Gill Sans Std" pitchFamily="34" charset="0"/>
              </a:rPr>
              <a:t>, num ambiente </a:t>
            </a:r>
            <a:r>
              <a:rPr lang="pt-BR" sz="1400" b="1" dirty="0" err="1">
                <a:solidFill>
                  <a:srgbClr val="666666"/>
                </a:solidFill>
                <a:latin typeface="Gill Sans Std" pitchFamily="34" charset="0"/>
                <a:sym typeface="Gill Sans Std" pitchFamily="34" charset="0"/>
              </a:rPr>
              <a:t>omnichannel</a:t>
            </a:r>
            <a:r>
              <a:rPr lang="pt-BR" sz="1400" dirty="0">
                <a:solidFill>
                  <a:srgbClr val="666666"/>
                </a:solidFill>
                <a:latin typeface="Gill Sans Std" pitchFamily="34" charset="0"/>
                <a:sym typeface="Gill Sans Std" pitchFamily="34" charset="0"/>
              </a:rPr>
              <a:t>, </a:t>
            </a:r>
            <a:r>
              <a:rPr lang="pt-BR" sz="1400" dirty="0" err="1">
                <a:solidFill>
                  <a:srgbClr val="666666"/>
                </a:solidFill>
                <a:latin typeface="Gill Sans Std" pitchFamily="34" charset="0"/>
                <a:sym typeface="Gill Sans Std" pitchFamily="34" charset="0"/>
              </a:rPr>
              <a:t>multidispositivo</a:t>
            </a:r>
            <a:r>
              <a:rPr lang="pt-BR" sz="1400" dirty="0">
                <a:solidFill>
                  <a:srgbClr val="666666"/>
                </a:solidFill>
                <a:latin typeface="Gill Sans Std" pitchFamily="34" charset="0"/>
                <a:sym typeface="Gill Sans Std" pitchFamily="34" charset="0"/>
              </a:rPr>
              <a:t>  (priorizando o </a:t>
            </a:r>
            <a:r>
              <a:rPr lang="pt-BR" sz="1400" b="1" dirty="0">
                <a:solidFill>
                  <a:srgbClr val="666666"/>
                </a:solidFill>
                <a:latin typeface="Gill Sans Std" pitchFamily="34" charset="0"/>
                <a:sym typeface="Gill Sans Std" pitchFamily="34" charset="0"/>
              </a:rPr>
              <a:t>mobile</a:t>
            </a:r>
            <a:r>
              <a:rPr lang="pt-BR" sz="1400" dirty="0">
                <a:solidFill>
                  <a:srgbClr val="666666"/>
                </a:solidFill>
                <a:latin typeface="Gill Sans Std" pitchFamily="34" charset="0"/>
                <a:sym typeface="Gill Sans Std" pitchFamily="34" charset="0"/>
              </a:rPr>
              <a:t>)  e segmentado, alinhado às ambições de relacionamento, gerando </a:t>
            </a:r>
            <a:r>
              <a:rPr lang="pt-BR" sz="1400" b="1" dirty="0">
                <a:solidFill>
                  <a:srgbClr val="666666"/>
                </a:solidFill>
                <a:latin typeface="Gill Sans Std" pitchFamily="34" charset="0"/>
                <a:sym typeface="Gill Sans Std" pitchFamily="34" charset="0"/>
              </a:rPr>
              <a:t>relevância</a:t>
            </a:r>
            <a:r>
              <a:rPr lang="pt-BR" sz="1400" dirty="0">
                <a:solidFill>
                  <a:srgbClr val="666666"/>
                </a:solidFill>
                <a:latin typeface="Gill Sans Std" pitchFamily="34" charset="0"/>
                <a:sym typeface="Gill Sans Std" pitchFamily="34" charset="0"/>
              </a:rPr>
              <a:t> e diferenciação.</a:t>
            </a:r>
          </a:p>
        </p:txBody>
      </p:sp>
      <p:sp>
        <p:nvSpPr>
          <p:cNvPr id="59" name="Rectangle 7"/>
          <p:cNvSpPr>
            <a:spLocks/>
          </p:cNvSpPr>
          <p:nvPr/>
        </p:nvSpPr>
        <p:spPr bwMode="auto">
          <a:xfrm>
            <a:off x="2598390" y="1772842"/>
            <a:ext cx="2276252" cy="2381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/>
          <a:p>
            <a:pPr>
              <a:lnSpc>
                <a:spcPct val="90000"/>
              </a:lnSpc>
              <a:tabLst>
                <a:tab pos="248992" algn="l"/>
                <a:tab pos="498983" algn="l"/>
                <a:tab pos="748975" algn="l"/>
                <a:tab pos="998967" algn="l"/>
                <a:tab pos="1248958" algn="l"/>
                <a:tab pos="1498950" algn="l"/>
                <a:tab pos="1748941" algn="l"/>
                <a:tab pos="1998933" algn="l"/>
                <a:tab pos="2248924" algn="l"/>
                <a:tab pos="2498916" algn="l"/>
                <a:tab pos="2748908" algn="l"/>
                <a:tab pos="2998899" algn="l"/>
                <a:tab pos="3213892" algn="l"/>
              </a:tabLst>
            </a:pPr>
            <a:endParaRPr lang="pt-BR" sz="1400" dirty="0">
              <a:solidFill>
                <a:srgbClr val="666666"/>
              </a:solidFill>
              <a:latin typeface="Gill Sans Std" pitchFamily="34" charset="0"/>
              <a:sym typeface="Gill Sans Std" pitchFamily="34" charset="0"/>
            </a:endParaRPr>
          </a:p>
          <a:p>
            <a:pPr algn="ctr">
              <a:lnSpc>
                <a:spcPct val="90000"/>
              </a:lnSpc>
              <a:tabLst>
                <a:tab pos="248992" algn="l"/>
                <a:tab pos="498983" algn="l"/>
                <a:tab pos="748975" algn="l"/>
                <a:tab pos="998967" algn="l"/>
                <a:tab pos="1248958" algn="l"/>
                <a:tab pos="1498950" algn="l"/>
                <a:tab pos="1748941" algn="l"/>
                <a:tab pos="1998933" algn="l"/>
                <a:tab pos="2248924" algn="l"/>
                <a:tab pos="2498916" algn="l"/>
                <a:tab pos="2748908" algn="l"/>
                <a:tab pos="2998899" algn="l"/>
                <a:tab pos="3213892" algn="l"/>
              </a:tabLst>
            </a:pPr>
            <a:r>
              <a:rPr lang="pt-BR" sz="1400" dirty="0">
                <a:solidFill>
                  <a:srgbClr val="666666"/>
                </a:solidFill>
                <a:latin typeface="Gill Sans Std" pitchFamily="34" charset="0"/>
                <a:sym typeface="Gill Sans Std" pitchFamily="34" charset="0"/>
              </a:rPr>
              <a:t>Desenvolver </a:t>
            </a:r>
            <a:r>
              <a:rPr lang="pt-BR" sz="1400" b="1" dirty="0">
                <a:solidFill>
                  <a:srgbClr val="666666"/>
                </a:solidFill>
                <a:latin typeface="Gill Sans Std" pitchFamily="34" charset="0"/>
                <a:sym typeface="Gill Sans Std" pitchFamily="34" charset="0"/>
              </a:rPr>
              <a:t>arquitetura flexível</a:t>
            </a:r>
            <a:r>
              <a:rPr lang="pt-BR" sz="1400" dirty="0">
                <a:solidFill>
                  <a:srgbClr val="666666"/>
                </a:solidFill>
                <a:latin typeface="Gill Sans Std" pitchFamily="34" charset="0"/>
                <a:sym typeface="Gill Sans Std" pitchFamily="34" charset="0"/>
              </a:rPr>
              <a:t> e capaz de ser adaptada de forma </a:t>
            </a:r>
            <a:r>
              <a:rPr lang="pt-BR" sz="1400" b="1" dirty="0">
                <a:solidFill>
                  <a:srgbClr val="666666"/>
                </a:solidFill>
                <a:latin typeface="Gill Sans Std" pitchFamily="34" charset="0"/>
                <a:sym typeface="Gill Sans Std" pitchFamily="34" charset="0"/>
              </a:rPr>
              <a:t>ágil</a:t>
            </a:r>
            <a:r>
              <a:rPr lang="pt-BR" sz="1400" dirty="0">
                <a:solidFill>
                  <a:srgbClr val="666666"/>
                </a:solidFill>
                <a:latin typeface="Gill Sans Std" pitchFamily="34" charset="0"/>
                <a:sym typeface="Gill Sans Std" pitchFamily="34" charset="0"/>
              </a:rPr>
              <a:t>, que possa incorporar </a:t>
            </a:r>
            <a:r>
              <a:rPr lang="pt-BR" sz="1400" b="1" dirty="0">
                <a:solidFill>
                  <a:srgbClr val="666666"/>
                </a:solidFill>
                <a:latin typeface="Gill Sans Std" pitchFamily="34" charset="0"/>
                <a:sym typeface="Gill Sans Std" pitchFamily="34" charset="0"/>
              </a:rPr>
              <a:t>colaboração externa </a:t>
            </a:r>
            <a:r>
              <a:rPr lang="pt-BR" sz="1400" dirty="0">
                <a:solidFill>
                  <a:srgbClr val="666666"/>
                </a:solidFill>
                <a:latin typeface="Gill Sans Std" pitchFamily="34" charset="0"/>
                <a:sym typeface="Gill Sans Std" pitchFamily="34" charset="0"/>
              </a:rPr>
              <a:t>e simplificar os desenvolvimentos futuros.                </a:t>
            </a:r>
          </a:p>
        </p:txBody>
      </p:sp>
      <p:sp>
        <p:nvSpPr>
          <p:cNvPr id="60" name="Rectangle 7"/>
          <p:cNvSpPr>
            <a:spLocks/>
          </p:cNvSpPr>
          <p:nvPr/>
        </p:nvSpPr>
        <p:spPr bwMode="auto">
          <a:xfrm>
            <a:off x="5015881" y="1745456"/>
            <a:ext cx="2277219" cy="2381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/>
          <a:p>
            <a:pPr>
              <a:lnSpc>
                <a:spcPct val="90000"/>
              </a:lnSpc>
              <a:tabLst>
                <a:tab pos="248992" algn="l"/>
                <a:tab pos="498983" algn="l"/>
                <a:tab pos="748975" algn="l"/>
                <a:tab pos="998967" algn="l"/>
                <a:tab pos="1248958" algn="l"/>
                <a:tab pos="1498950" algn="l"/>
                <a:tab pos="1748941" algn="l"/>
                <a:tab pos="1998933" algn="l"/>
                <a:tab pos="2248924" algn="l"/>
                <a:tab pos="2498916" algn="l"/>
                <a:tab pos="2748908" algn="l"/>
                <a:tab pos="2998899" algn="l"/>
                <a:tab pos="3213892" algn="l"/>
              </a:tabLst>
            </a:pPr>
            <a:endParaRPr lang="pt-BR" sz="1400" dirty="0">
              <a:solidFill>
                <a:srgbClr val="666666"/>
              </a:solidFill>
              <a:latin typeface="Gill Sans Std" pitchFamily="34" charset="0"/>
              <a:sym typeface="Gill Sans Std" pitchFamily="34" charset="0"/>
            </a:endParaRPr>
          </a:p>
          <a:p>
            <a:pPr algn="ctr">
              <a:lnSpc>
                <a:spcPct val="90000"/>
              </a:lnSpc>
              <a:tabLst>
                <a:tab pos="248992" algn="l"/>
                <a:tab pos="498983" algn="l"/>
                <a:tab pos="748975" algn="l"/>
                <a:tab pos="998967" algn="l"/>
                <a:tab pos="1248958" algn="l"/>
                <a:tab pos="1498950" algn="l"/>
                <a:tab pos="1748941" algn="l"/>
                <a:tab pos="1998933" algn="l"/>
                <a:tab pos="2248924" algn="l"/>
                <a:tab pos="2498916" algn="l"/>
                <a:tab pos="2748908" algn="l"/>
                <a:tab pos="2998899" algn="l"/>
                <a:tab pos="3213892" algn="l"/>
              </a:tabLst>
            </a:pPr>
            <a:r>
              <a:rPr lang="pt-BR" sz="1400" dirty="0">
                <a:solidFill>
                  <a:srgbClr val="666666"/>
                </a:solidFill>
                <a:latin typeface="Gill Sans Std" pitchFamily="34" charset="0"/>
                <a:sym typeface="Gill Sans Std" pitchFamily="34" charset="0"/>
              </a:rPr>
              <a:t>Habilitar a organização   para suas ambições através de uma </a:t>
            </a:r>
            <a:r>
              <a:rPr lang="pt-BR" sz="1400" b="1" dirty="0">
                <a:solidFill>
                  <a:srgbClr val="666666"/>
                </a:solidFill>
                <a:latin typeface="Gill Sans Std" pitchFamily="34" charset="0"/>
                <a:sym typeface="Gill Sans Std" pitchFamily="34" charset="0"/>
              </a:rPr>
              <a:t>infraestrutura</a:t>
            </a:r>
            <a:r>
              <a:rPr lang="pt-BR" sz="1400" dirty="0">
                <a:solidFill>
                  <a:srgbClr val="666666"/>
                </a:solidFill>
                <a:latin typeface="Gill Sans Std" pitchFamily="34" charset="0"/>
                <a:sym typeface="Gill Sans Std" pitchFamily="34" charset="0"/>
              </a:rPr>
              <a:t>    de TI, </a:t>
            </a:r>
            <a:r>
              <a:rPr lang="pt-BR" sz="1400" b="1" dirty="0">
                <a:solidFill>
                  <a:srgbClr val="666666"/>
                </a:solidFill>
                <a:latin typeface="Gill Sans Std" pitchFamily="34" charset="0"/>
                <a:sym typeface="Gill Sans Std" pitchFamily="34" charset="0"/>
              </a:rPr>
              <a:t>robusta e escalável</a:t>
            </a:r>
            <a:r>
              <a:rPr lang="pt-BR" sz="1400" dirty="0">
                <a:solidFill>
                  <a:srgbClr val="666666"/>
                </a:solidFill>
                <a:latin typeface="Gill Sans Std" pitchFamily="34" charset="0"/>
                <a:sym typeface="Gill Sans Std" pitchFamily="34" charset="0"/>
              </a:rPr>
              <a:t>, com flexibilidade, agilidade e abertura.</a:t>
            </a:r>
          </a:p>
        </p:txBody>
      </p:sp>
      <p:sp>
        <p:nvSpPr>
          <p:cNvPr id="61" name="Rectangle 7"/>
          <p:cNvSpPr>
            <a:spLocks/>
          </p:cNvSpPr>
          <p:nvPr/>
        </p:nvSpPr>
        <p:spPr bwMode="auto">
          <a:xfrm>
            <a:off x="7434338" y="1754982"/>
            <a:ext cx="2277219" cy="2381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/>
          <a:p>
            <a:pPr>
              <a:lnSpc>
                <a:spcPct val="90000"/>
              </a:lnSpc>
              <a:tabLst>
                <a:tab pos="248992" algn="l"/>
                <a:tab pos="498983" algn="l"/>
                <a:tab pos="748975" algn="l"/>
                <a:tab pos="998967" algn="l"/>
                <a:tab pos="1248958" algn="l"/>
                <a:tab pos="1498950" algn="l"/>
                <a:tab pos="1748941" algn="l"/>
                <a:tab pos="1998933" algn="l"/>
                <a:tab pos="2248924" algn="l"/>
                <a:tab pos="2498916" algn="l"/>
                <a:tab pos="2748908" algn="l"/>
                <a:tab pos="2998899" algn="l"/>
                <a:tab pos="3213892" algn="l"/>
              </a:tabLst>
            </a:pPr>
            <a:endParaRPr lang="pt-BR" sz="1400" dirty="0">
              <a:solidFill>
                <a:srgbClr val="666666"/>
              </a:solidFill>
              <a:latin typeface="Gill Sans Std" pitchFamily="34" charset="0"/>
              <a:sym typeface="Gill Sans Std" pitchFamily="34" charset="0"/>
            </a:endParaRPr>
          </a:p>
          <a:p>
            <a:pPr algn="ctr">
              <a:lnSpc>
                <a:spcPct val="90000"/>
              </a:lnSpc>
              <a:tabLst>
                <a:tab pos="248992" algn="l"/>
                <a:tab pos="498983" algn="l"/>
                <a:tab pos="748975" algn="l"/>
                <a:tab pos="998967" algn="l"/>
                <a:tab pos="1248958" algn="l"/>
                <a:tab pos="1498950" algn="l"/>
                <a:tab pos="1748941" algn="l"/>
                <a:tab pos="1998933" algn="l"/>
                <a:tab pos="2248924" algn="l"/>
                <a:tab pos="2498916" algn="l"/>
                <a:tab pos="2748908" algn="l"/>
                <a:tab pos="2998899" algn="l"/>
                <a:tab pos="3213892" algn="l"/>
              </a:tabLst>
            </a:pPr>
            <a:r>
              <a:rPr lang="pt-BR" sz="1400" dirty="0">
                <a:solidFill>
                  <a:srgbClr val="666666"/>
                </a:solidFill>
                <a:latin typeface="Gill Sans Std" pitchFamily="34" charset="0"/>
                <a:sym typeface="Gill Sans Std" pitchFamily="34" charset="0"/>
              </a:rPr>
              <a:t>Proporcionar </a:t>
            </a:r>
            <a:r>
              <a:rPr lang="pt-BR" sz="1400" b="1" dirty="0">
                <a:solidFill>
                  <a:srgbClr val="666666"/>
                </a:solidFill>
                <a:latin typeface="Gill Sans Std" pitchFamily="34" charset="0"/>
                <a:sym typeface="Gill Sans Std" pitchFamily="34" charset="0"/>
              </a:rPr>
              <a:t>eficiência  </a:t>
            </a:r>
            <a:r>
              <a:rPr lang="pt-BR" sz="1400" dirty="0">
                <a:solidFill>
                  <a:srgbClr val="666666"/>
                </a:solidFill>
                <a:latin typeface="Gill Sans Std" pitchFamily="34" charset="0"/>
                <a:sym typeface="Gill Sans Std" pitchFamily="34" charset="0"/>
              </a:rPr>
              <a:t>nos</a:t>
            </a:r>
            <a:r>
              <a:rPr lang="pt-BR" sz="1400" b="1" dirty="0">
                <a:solidFill>
                  <a:srgbClr val="666666"/>
                </a:solidFill>
                <a:latin typeface="Gill Sans Std" pitchFamily="34" charset="0"/>
                <a:sym typeface="Gill Sans Std" pitchFamily="34" charset="0"/>
              </a:rPr>
              <a:t> processos de negócio </a:t>
            </a:r>
            <a:r>
              <a:rPr lang="pt-BR" sz="1400" dirty="0">
                <a:solidFill>
                  <a:srgbClr val="666666"/>
                </a:solidFill>
                <a:latin typeface="Gill Sans Std" pitchFamily="34" charset="0"/>
                <a:sym typeface="Gill Sans Std" pitchFamily="34" charset="0"/>
              </a:rPr>
              <a:t>através de soluções tecnológicas adequadas.                </a:t>
            </a:r>
          </a:p>
        </p:txBody>
      </p:sp>
      <p:sp>
        <p:nvSpPr>
          <p:cNvPr id="62" name="Rectangle 7"/>
          <p:cNvSpPr>
            <a:spLocks/>
          </p:cNvSpPr>
          <p:nvPr/>
        </p:nvSpPr>
        <p:spPr bwMode="auto">
          <a:xfrm>
            <a:off x="3943053" y="4288633"/>
            <a:ext cx="4910435" cy="947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/>
          <a:p>
            <a:pPr>
              <a:lnSpc>
                <a:spcPct val="90000"/>
              </a:lnSpc>
              <a:tabLst>
                <a:tab pos="248992" algn="l"/>
                <a:tab pos="498983" algn="l"/>
                <a:tab pos="748975" algn="l"/>
                <a:tab pos="998967" algn="l"/>
                <a:tab pos="1248958" algn="l"/>
                <a:tab pos="1498950" algn="l"/>
                <a:tab pos="1748941" algn="l"/>
                <a:tab pos="1998933" algn="l"/>
                <a:tab pos="2248924" algn="l"/>
                <a:tab pos="2498916" algn="l"/>
                <a:tab pos="2748908" algn="l"/>
                <a:tab pos="2998899" algn="l"/>
                <a:tab pos="3213892" algn="l"/>
              </a:tabLst>
            </a:pPr>
            <a:endParaRPr lang="pt-BR" sz="1400">
              <a:solidFill>
                <a:srgbClr val="666666"/>
              </a:solidFill>
              <a:latin typeface="Gill Sans Std" pitchFamily="34" charset="0"/>
              <a:sym typeface="Gill Sans Std" pitchFamily="34" charset="0"/>
            </a:endParaRPr>
          </a:p>
          <a:p>
            <a:pPr>
              <a:lnSpc>
                <a:spcPct val="90000"/>
              </a:lnSpc>
              <a:tabLst>
                <a:tab pos="248992" algn="l"/>
                <a:tab pos="498983" algn="l"/>
                <a:tab pos="748975" algn="l"/>
                <a:tab pos="998967" algn="l"/>
                <a:tab pos="1248958" algn="l"/>
                <a:tab pos="1498950" algn="l"/>
                <a:tab pos="1748941" algn="l"/>
                <a:tab pos="1998933" algn="l"/>
                <a:tab pos="2248924" algn="l"/>
                <a:tab pos="2498916" algn="l"/>
                <a:tab pos="2748908" algn="l"/>
                <a:tab pos="2998899" algn="l"/>
                <a:tab pos="3213892" algn="l"/>
              </a:tabLst>
            </a:pPr>
            <a:r>
              <a:rPr lang="pt-BR" sz="1400">
                <a:solidFill>
                  <a:srgbClr val="666666"/>
                </a:solidFill>
                <a:latin typeface="Gill Sans Std" pitchFamily="34" charset="0"/>
                <a:sym typeface="Gill Sans Std" pitchFamily="34" charset="0"/>
              </a:rPr>
              <a:t>Estabelecer uma </a:t>
            </a:r>
            <a:r>
              <a:rPr lang="pt-BR" sz="1400" b="1">
                <a:solidFill>
                  <a:srgbClr val="666666"/>
                </a:solidFill>
                <a:latin typeface="Gill Sans Std" pitchFamily="34" charset="0"/>
                <a:sym typeface="Gill Sans Std" pitchFamily="34" charset="0"/>
              </a:rPr>
              <a:t>nova organização de TD </a:t>
            </a:r>
            <a:r>
              <a:rPr lang="pt-BR" sz="1400">
                <a:solidFill>
                  <a:srgbClr val="666666"/>
                </a:solidFill>
                <a:latin typeface="Gill Sans Std" pitchFamily="34" charset="0"/>
                <a:sym typeface="Gill Sans Std" pitchFamily="34" charset="0"/>
              </a:rPr>
              <a:t>que possibilite ser um </a:t>
            </a:r>
            <a:r>
              <a:rPr lang="pt-BR" sz="1400" b="1">
                <a:solidFill>
                  <a:srgbClr val="666666"/>
                </a:solidFill>
                <a:latin typeface="Gill Sans Std" pitchFamily="34" charset="0"/>
                <a:sym typeface="Gill Sans Std" pitchFamily="34" charset="0"/>
              </a:rPr>
              <a:t>habilitador de vantagem competitiva </a:t>
            </a:r>
            <a:r>
              <a:rPr lang="pt-BR" sz="1400">
                <a:solidFill>
                  <a:srgbClr val="666666"/>
                </a:solidFill>
                <a:latin typeface="Gill Sans Std" pitchFamily="34" charset="0"/>
                <a:sym typeface="Gill Sans Std" pitchFamily="34" charset="0"/>
              </a:rPr>
              <a:t>significativa através da transformação do negócio pela utilização diferenciada da </a:t>
            </a:r>
            <a:r>
              <a:rPr lang="pt-BR" sz="1400" b="1">
                <a:solidFill>
                  <a:srgbClr val="666666"/>
                </a:solidFill>
                <a:latin typeface="Gill Sans Std" pitchFamily="34" charset="0"/>
                <a:sym typeface="Gill Sans Std" pitchFamily="34" charset="0"/>
              </a:rPr>
              <a:t>tecnologia da informação.</a:t>
            </a:r>
          </a:p>
        </p:txBody>
      </p:sp>
      <p:sp>
        <p:nvSpPr>
          <p:cNvPr id="63" name="Rectangle 7"/>
          <p:cNvSpPr>
            <a:spLocks/>
          </p:cNvSpPr>
          <p:nvPr/>
        </p:nvSpPr>
        <p:spPr bwMode="auto">
          <a:xfrm>
            <a:off x="405333" y="5388770"/>
            <a:ext cx="5424116" cy="9465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/>
          <a:p>
            <a:pPr algn="r">
              <a:lnSpc>
                <a:spcPct val="90000"/>
              </a:lnSpc>
              <a:tabLst>
                <a:tab pos="248992" algn="l"/>
                <a:tab pos="498983" algn="l"/>
                <a:tab pos="748975" algn="l"/>
                <a:tab pos="998967" algn="l"/>
                <a:tab pos="1248958" algn="l"/>
                <a:tab pos="1498950" algn="l"/>
                <a:tab pos="1748941" algn="l"/>
                <a:tab pos="1998933" algn="l"/>
                <a:tab pos="2248924" algn="l"/>
                <a:tab pos="2498916" algn="l"/>
                <a:tab pos="2748908" algn="l"/>
                <a:tab pos="2998899" algn="l"/>
                <a:tab pos="3213892" algn="l"/>
              </a:tabLst>
            </a:pPr>
            <a:endParaRPr lang="pt-BR" sz="1400" dirty="0">
              <a:solidFill>
                <a:srgbClr val="666666"/>
              </a:solidFill>
              <a:latin typeface="Gill Sans Std" pitchFamily="34" charset="0"/>
              <a:sym typeface="Gill Sans Std" pitchFamily="34" charset="0"/>
            </a:endParaRPr>
          </a:p>
          <a:p>
            <a:pPr algn="r">
              <a:lnSpc>
                <a:spcPct val="90000"/>
              </a:lnSpc>
              <a:tabLst>
                <a:tab pos="248992" algn="l"/>
                <a:tab pos="498983" algn="l"/>
                <a:tab pos="748975" algn="l"/>
                <a:tab pos="998967" algn="l"/>
                <a:tab pos="1248958" algn="l"/>
                <a:tab pos="1498950" algn="l"/>
                <a:tab pos="1748941" algn="l"/>
                <a:tab pos="1998933" algn="l"/>
                <a:tab pos="2248924" algn="l"/>
                <a:tab pos="2498916" algn="l"/>
                <a:tab pos="2748908" algn="l"/>
                <a:tab pos="2998899" algn="l"/>
                <a:tab pos="3213892" algn="l"/>
              </a:tabLst>
            </a:pPr>
            <a:r>
              <a:rPr lang="pt-BR" sz="1400" b="1" dirty="0">
                <a:solidFill>
                  <a:srgbClr val="666666"/>
                </a:solidFill>
                <a:latin typeface="Gill Sans Std" pitchFamily="34" charset="0"/>
                <a:sym typeface="Gill Sans Std" pitchFamily="34" charset="0"/>
              </a:rPr>
              <a:t>Atrair, engajar e desenvolver colaboradores e parceiros,   </a:t>
            </a:r>
            <a:r>
              <a:rPr lang="pt-BR" sz="1400" dirty="0">
                <a:solidFill>
                  <a:srgbClr val="666666"/>
                </a:solidFill>
                <a:latin typeface="Gill Sans Std" pitchFamily="34" charset="0"/>
                <a:sym typeface="Gill Sans Std" pitchFamily="34" charset="0"/>
              </a:rPr>
              <a:t> que se identifiquem com a ambição e visão estratégica </a:t>
            </a:r>
          </a:p>
          <a:p>
            <a:pPr algn="r">
              <a:lnSpc>
                <a:spcPct val="90000"/>
              </a:lnSpc>
              <a:tabLst>
                <a:tab pos="248992" algn="l"/>
                <a:tab pos="498983" algn="l"/>
                <a:tab pos="748975" algn="l"/>
                <a:tab pos="998967" algn="l"/>
                <a:tab pos="1248958" algn="l"/>
                <a:tab pos="1498950" algn="l"/>
                <a:tab pos="1748941" algn="l"/>
                <a:tab pos="1998933" algn="l"/>
                <a:tab pos="2248924" algn="l"/>
                <a:tab pos="2498916" algn="l"/>
                <a:tab pos="2748908" algn="l"/>
                <a:tab pos="2998899" algn="l"/>
                <a:tab pos="3213892" algn="l"/>
              </a:tabLst>
            </a:pPr>
            <a:r>
              <a:rPr lang="pt-BR" sz="1400" dirty="0">
                <a:solidFill>
                  <a:srgbClr val="666666"/>
                </a:solidFill>
                <a:latin typeface="Gill Sans Std" pitchFamily="34" charset="0"/>
                <a:sym typeface="Gill Sans Std" pitchFamily="34" charset="0"/>
              </a:rPr>
              <a:t>                   de Tecnologia Digital, conectadas em rede, construindo           relações de confiança, em ambiente de aprendizagem contínua.</a:t>
            </a:r>
          </a:p>
        </p:txBody>
      </p:sp>
      <p:sp>
        <p:nvSpPr>
          <p:cNvPr id="53" name="Retângulo de cantos arredondados 52"/>
          <p:cNvSpPr/>
          <p:nvPr/>
        </p:nvSpPr>
        <p:spPr>
          <a:xfrm>
            <a:off x="1846735" y="4321969"/>
            <a:ext cx="2045047" cy="4191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6" tIns="45712" rIns="91426" bIns="45712" anchor="ctr"/>
          <a:lstStyle/>
          <a:p>
            <a:pPr>
              <a:defRPr/>
            </a:pPr>
            <a:endParaRPr lang="pt-BR"/>
          </a:p>
        </p:txBody>
      </p:sp>
      <p:sp>
        <p:nvSpPr>
          <p:cNvPr id="54" name="Retângulo de cantos arredondados 53"/>
          <p:cNvSpPr/>
          <p:nvPr/>
        </p:nvSpPr>
        <p:spPr>
          <a:xfrm>
            <a:off x="6000676" y="5510213"/>
            <a:ext cx="2046015" cy="41791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6" tIns="45712" rIns="91426" bIns="45712" anchor="ctr"/>
          <a:lstStyle/>
          <a:p>
            <a:pPr>
              <a:defRPr/>
            </a:pPr>
            <a:endParaRPr lang="pt-BR"/>
          </a:p>
        </p:txBody>
      </p:sp>
      <p:sp>
        <p:nvSpPr>
          <p:cNvPr id="18465" name="Rectangle 7"/>
          <p:cNvSpPr>
            <a:spLocks/>
          </p:cNvSpPr>
          <p:nvPr/>
        </p:nvSpPr>
        <p:spPr bwMode="auto">
          <a:xfrm>
            <a:off x="1566194" y="4213622"/>
            <a:ext cx="2277219" cy="644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/>
          <a:p>
            <a:pPr algn="r">
              <a:lnSpc>
                <a:spcPct val="90000"/>
              </a:lnSpc>
              <a:tabLst>
                <a:tab pos="248992" algn="l"/>
                <a:tab pos="498983" algn="l"/>
                <a:tab pos="748975" algn="l"/>
                <a:tab pos="998967" algn="l"/>
                <a:tab pos="1248958" algn="l"/>
                <a:tab pos="1498950" algn="l"/>
                <a:tab pos="1748941" algn="l"/>
                <a:tab pos="1998933" algn="l"/>
                <a:tab pos="2248924" algn="l"/>
                <a:tab pos="2498916" algn="l"/>
                <a:tab pos="2748908" algn="l"/>
                <a:tab pos="2998899" algn="l"/>
                <a:tab pos="3213892" algn="l"/>
              </a:tabLst>
            </a:pPr>
            <a:r>
              <a:rPr lang="en-US" sz="1400" b="1">
                <a:solidFill>
                  <a:srgbClr val="FF8200"/>
                </a:solidFill>
                <a:latin typeface="Gill Sans Std Light" pitchFamily="34" charset="0"/>
                <a:sym typeface="Gill Sans Std Light" pitchFamily="34" charset="0"/>
              </a:rPr>
              <a:t>	NOVA                ORGANIZAÇÃO</a:t>
            </a:r>
          </a:p>
        </p:txBody>
      </p:sp>
      <p:sp>
        <p:nvSpPr>
          <p:cNvPr id="18466" name="Rectangle 7"/>
          <p:cNvSpPr>
            <a:spLocks/>
          </p:cNvSpPr>
          <p:nvPr/>
        </p:nvSpPr>
        <p:spPr bwMode="auto">
          <a:xfrm>
            <a:off x="5313835" y="5414964"/>
            <a:ext cx="2277219" cy="6453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/>
          <a:p>
            <a:pPr algn="r">
              <a:lnSpc>
                <a:spcPct val="90000"/>
              </a:lnSpc>
              <a:tabLst>
                <a:tab pos="248992" algn="l"/>
                <a:tab pos="498983" algn="l"/>
                <a:tab pos="748975" algn="l"/>
                <a:tab pos="998967" algn="l"/>
                <a:tab pos="1248958" algn="l"/>
                <a:tab pos="1498950" algn="l"/>
                <a:tab pos="1748941" algn="l"/>
                <a:tab pos="1998933" algn="l"/>
                <a:tab pos="2248924" algn="l"/>
                <a:tab pos="2498916" algn="l"/>
                <a:tab pos="2748908" algn="l"/>
                <a:tab pos="2998899" algn="l"/>
                <a:tab pos="3213892" algn="l"/>
              </a:tabLst>
            </a:pPr>
            <a:r>
              <a:rPr lang="en-US" sz="1400" b="1">
                <a:solidFill>
                  <a:srgbClr val="FF8200"/>
                </a:solidFill>
                <a:latin typeface="Gill Sans Std Light" pitchFamily="34" charset="0"/>
                <a:sym typeface="Gill Sans Std Light" pitchFamily="34" charset="0"/>
              </a:rPr>
              <a:t>	ATRAIR, ENGAJAR                                    E DESENVOLVER</a:t>
            </a:r>
            <a:endParaRPr lang="en-US" sz="1300" b="1">
              <a:solidFill>
                <a:srgbClr val="FF8200"/>
              </a:solidFill>
              <a:latin typeface="Gill Sans Std Light" pitchFamily="34" charset="0"/>
              <a:sym typeface="Gill Sans Std Light" pitchFamily="34" charset="0"/>
            </a:endParaRPr>
          </a:p>
        </p:txBody>
      </p:sp>
      <p:pic>
        <p:nvPicPr>
          <p:cNvPr id="18467" name="Picture 7" descr="coorp-03.pn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260500" y="3864769"/>
            <a:ext cx="1462683" cy="13489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68" name="Picture 5" descr="ima-03.png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297936" y="5035154"/>
            <a:ext cx="1482030" cy="13680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08046991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de cantos arredondados 8"/>
          <p:cNvSpPr/>
          <p:nvPr/>
        </p:nvSpPr>
        <p:spPr>
          <a:xfrm>
            <a:off x="68424" y="727619"/>
            <a:ext cx="8773008" cy="648072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>
            <a:noFill/>
            <a:miter lim="800000"/>
            <a:headEnd/>
            <a:tailEnd/>
          </a:ln>
        </p:spPr>
        <p:txBody>
          <a:bodyPr rot="10800000" wrap="none" anchor="ctr"/>
          <a:lstStyle/>
          <a:p>
            <a:pPr eaLnBrk="0" hangingPunct="0">
              <a:defRPr/>
            </a:pPr>
            <a:endParaRPr lang="pt-BR" sz="2000" b="1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4" name="Text Box 12"/>
          <p:cNvSpPr txBox="1">
            <a:spLocks noChangeArrowheads="1"/>
          </p:cNvSpPr>
          <p:nvPr/>
        </p:nvSpPr>
        <p:spPr bwMode="auto">
          <a:xfrm>
            <a:off x="198635" y="851600"/>
            <a:ext cx="878681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pt-BR" sz="2000" b="1" dirty="0" smtClean="0">
                <a:latin typeface="Gill Sans MT" pitchFamily="34" charset="0"/>
              </a:rPr>
              <a:t>Meta </a:t>
            </a:r>
            <a:r>
              <a:rPr lang="pt-BR" sz="2000" b="1" dirty="0">
                <a:latin typeface="Gill Sans MT" pitchFamily="34" charset="0"/>
              </a:rPr>
              <a:t>TD – Realizado 2014</a:t>
            </a:r>
            <a:endParaRPr lang="pt-BR" sz="2000" b="1" dirty="0">
              <a:latin typeface="Gill Sans MT" pitchFamily="34" charset="0"/>
            </a:endParaRPr>
          </a:p>
        </p:txBody>
      </p:sp>
      <p:pic>
        <p:nvPicPr>
          <p:cNvPr id="6" name="Picture 69" descr="E:\Users\BR89654\AppData\Local\Microsoft\Windows\Temporary Internet Files\Content.IE5\2K7H9CC1\image[1]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47301"/>
          <a:stretch>
            <a:fillRect/>
          </a:stretch>
        </p:blipFill>
        <p:spPr bwMode="auto">
          <a:xfrm>
            <a:off x="8946359" y="134544"/>
            <a:ext cx="703288" cy="8227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788" y="1556792"/>
            <a:ext cx="9496425" cy="2105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Retângulo 7"/>
          <p:cNvSpPr>
            <a:spLocks noChangeArrowheads="1"/>
          </p:cNvSpPr>
          <p:nvPr/>
        </p:nvSpPr>
        <p:spPr bwMode="auto">
          <a:xfrm>
            <a:off x="1424608" y="4338961"/>
            <a:ext cx="568863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pt-BR" dirty="0" smtClean="0">
                <a:latin typeface="Gill Sans MT" pitchFamily="34" charset="0"/>
              </a:rPr>
              <a:t>Resultado atingido em 2014 foi de </a:t>
            </a:r>
            <a:r>
              <a:rPr lang="pt-BR" u="sng" dirty="0" smtClean="0">
                <a:latin typeface="Gill Sans MT" pitchFamily="34" charset="0"/>
              </a:rPr>
              <a:t>99,53%</a:t>
            </a:r>
            <a:r>
              <a:rPr lang="pt-BR" dirty="0" smtClean="0">
                <a:latin typeface="Gill Sans MT" pitchFamily="34" charset="0"/>
              </a:rPr>
              <a:t> = mínimo</a:t>
            </a:r>
            <a:endParaRPr lang="pt-BR" dirty="0" smtClean="0">
              <a:latin typeface="Gill Sans MT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5927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de cantos arredondados 9"/>
          <p:cNvSpPr/>
          <p:nvPr/>
        </p:nvSpPr>
        <p:spPr>
          <a:xfrm>
            <a:off x="140432" y="727619"/>
            <a:ext cx="2580320" cy="648072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>
            <a:noFill/>
            <a:miter lim="800000"/>
            <a:headEnd/>
            <a:tailEnd/>
          </a:ln>
        </p:spPr>
        <p:txBody>
          <a:bodyPr rot="10800000" wrap="none" anchor="ctr"/>
          <a:lstStyle/>
          <a:p>
            <a:pPr eaLnBrk="0" hangingPunct="0">
              <a:defRPr/>
            </a:pPr>
            <a:endParaRPr lang="pt-BR" sz="2000" b="1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8895" y="153984"/>
            <a:ext cx="6524625" cy="6572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 Box 12"/>
          <p:cNvSpPr txBox="1">
            <a:spLocks noChangeArrowheads="1"/>
          </p:cNvSpPr>
          <p:nvPr/>
        </p:nvSpPr>
        <p:spPr bwMode="auto">
          <a:xfrm>
            <a:off x="198635" y="704890"/>
            <a:ext cx="2594125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pt-BR" sz="2000" b="1" dirty="0" smtClean="0">
                <a:latin typeface="Gill Sans MT" pitchFamily="34" charset="0"/>
              </a:rPr>
              <a:t>Matriz de Metas</a:t>
            </a:r>
          </a:p>
          <a:p>
            <a:pPr eaLnBrk="1" hangingPunct="1"/>
            <a:r>
              <a:rPr lang="pt-BR" sz="2000" b="1" dirty="0" smtClean="0">
                <a:latin typeface="Gill Sans MT" pitchFamily="34" charset="0"/>
              </a:rPr>
              <a:t>Proposta 2015 - BR</a:t>
            </a:r>
            <a:endParaRPr lang="pt-BR" sz="2000" b="1" dirty="0">
              <a:latin typeface="Gill Sans MT" pitchFamily="34" charset="0"/>
            </a:endParaRPr>
          </a:p>
        </p:txBody>
      </p:sp>
      <p:sp>
        <p:nvSpPr>
          <p:cNvPr id="7" name="Retângulo 6"/>
          <p:cNvSpPr>
            <a:spLocks noChangeArrowheads="1"/>
          </p:cNvSpPr>
          <p:nvPr/>
        </p:nvSpPr>
        <p:spPr bwMode="auto">
          <a:xfrm>
            <a:off x="198635" y="2060848"/>
            <a:ext cx="2738141" cy="37548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pt-BR" sz="1400" dirty="0" smtClean="0">
                <a:latin typeface="Gill Sans MT" pitchFamily="34" charset="0"/>
              </a:rPr>
              <a:t>Mudanças para 2015 comparado com 2014:</a:t>
            </a:r>
          </a:p>
          <a:p>
            <a:endParaRPr lang="pt-BR" sz="1400" dirty="0" smtClean="0">
              <a:latin typeface="Gill Sans MT" pitchFamily="34" charset="0"/>
            </a:endParaRPr>
          </a:p>
          <a:p>
            <a:pPr marL="342900" indent="-342900">
              <a:buAutoNum type="arabicPeriod"/>
            </a:pPr>
            <a:r>
              <a:rPr lang="pt-BR" sz="1400" dirty="0" err="1" smtClean="0">
                <a:latin typeface="Gill Sans MT" pitchFamily="34" charset="0"/>
              </a:rPr>
              <a:t>Disp</a:t>
            </a:r>
            <a:r>
              <a:rPr lang="pt-BR" sz="1400" dirty="0" smtClean="0">
                <a:latin typeface="Gill Sans MT" pitchFamily="34" charset="0"/>
              </a:rPr>
              <a:t>. REDE para compor a </a:t>
            </a:r>
            <a:r>
              <a:rPr lang="pt-BR" sz="1400" dirty="0" err="1" smtClean="0">
                <a:latin typeface="Gill Sans MT" pitchFamily="34" charset="0"/>
              </a:rPr>
              <a:t>disp</a:t>
            </a:r>
            <a:r>
              <a:rPr lang="pt-BR" sz="1400" dirty="0" smtClean="0">
                <a:latin typeface="Gill Sans MT" pitchFamily="34" charset="0"/>
              </a:rPr>
              <a:t>.  da CAPTAÇÃO</a:t>
            </a:r>
          </a:p>
          <a:p>
            <a:pPr marL="342900" indent="-342900">
              <a:buAutoNum type="arabicPeriod"/>
            </a:pPr>
            <a:r>
              <a:rPr lang="pt-BR" sz="1400" dirty="0" err="1" smtClean="0">
                <a:latin typeface="Gill Sans MT" pitchFamily="34" charset="0"/>
              </a:rPr>
              <a:t>Disp</a:t>
            </a:r>
            <a:r>
              <a:rPr lang="pt-BR" sz="1400" dirty="0" smtClean="0">
                <a:latin typeface="Gill Sans MT" pitchFamily="34" charset="0"/>
              </a:rPr>
              <a:t>. Cadastro CND e Painel CND para compor a </a:t>
            </a:r>
            <a:r>
              <a:rPr lang="pt-BR" sz="1400" dirty="0" err="1" smtClean="0">
                <a:latin typeface="Gill Sans MT" pitchFamily="34" charset="0"/>
              </a:rPr>
              <a:t>disp</a:t>
            </a:r>
            <a:r>
              <a:rPr lang="pt-BR" sz="1400" dirty="0" smtClean="0">
                <a:latin typeface="Gill Sans MT" pitchFamily="34" charset="0"/>
              </a:rPr>
              <a:t>.  do Relacionamento</a:t>
            </a:r>
          </a:p>
          <a:p>
            <a:pPr marL="342900" indent="-342900">
              <a:buAutoNum type="arabicPeriod"/>
            </a:pPr>
            <a:r>
              <a:rPr lang="pt-BR" sz="1400" dirty="0" smtClean="0">
                <a:latin typeface="Gill Sans MT" pitchFamily="34" charset="0"/>
              </a:rPr>
              <a:t>Inclusão da medição da </a:t>
            </a:r>
            <a:r>
              <a:rPr lang="pt-BR" sz="1400" dirty="0" err="1" smtClean="0">
                <a:latin typeface="Gill Sans MT" pitchFamily="34" charset="0"/>
              </a:rPr>
              <a:t>Disp</a:t>
            </a:r>
            <a:r>
              <a:rPr lang="pt-BR" sz="1400" dirty="0" smtClean="0">
                <a:latin typeface="Gill Sans MT" pitchFamily="34" charset="0"/>
              </a:rPr>
              <a:t>. </a:t>
            </a:r>
            <a:r>
              <a:rPr lang="pt-BR" sz="1400" dirty="0">
                <a:latin typeface="Gill Sans MT" pitchFamily="34" charset="0"/>
              </a:rPr>
              <a:t> </a:t>
            </a:r>
            <a:r>
              <a:rPr lang="pt-BR" sz="1400" dirty="0" smtClean="0">
                <a:latin typeface="Gill Sans MT" pitchFamily="34" charset="0"/>
              </a:rPr>
              <a:t>da Separação</a:t>
            </a:r>
          </a:p>
          <a:p>
            <a:pPr marL="342900" indent="-342900">
              <a:buAutoNum type="arabicPeriod"/>
            </a:pPr>
            <a:r>
              <a:rPr lang="pt-BR" sz="1400" dirty="0" smtClean="0">
                <a:latin typeface="Gill Sans MT" pitchFamily="34" charset="0"/>
              </a:rPr>
              <a:t>Agrupar Faturamento e Separação em um único bloco</a:t>
            </a:r>
          </a:p>
          <a:p>
            <a:pPr marL="342900" indent="-342900">
              <a:buAutoNum type="arabicPeriod"/>
            </a:pPr>
            <a:r>
              <a:rPr lang="pt-BR" sz="1400" dirty="0" smtClean="0">
                <a:latin typeface="Gill Sans MT" pitchFamily="34" charset="0"/>
              </a:rPr>
              <a:t>Inclusão da medição da Experiência do Usuário</a:t>
            </a:r>
          </a:p>
          <a:p>
            <a:pPr marL="342900" indent="-342900">
              <a:buAutoNum type="arabicPeriod"/>
            </a:pPr>
            <a:endParaRPr lang="pt-BR" sz="1400" dirty="0" smtClean="0">
              <a:latin typeface="Gill Sans MT" pitchFamily="34" charset="0"/>
            </a:endParaRPr>
          </a:p>
          <a:p>
            <a:pPr marL="342900" indent="-342900">
              <a:buAutoNum type="arabicPeriod"/>
            </a:pPr>
            <a:endParaRPr lang="pt-BR" sz="1400" dirty="0" smtClean="0">
              <a:latin typeface="Gill Sans MT" pitchFamily="34" charset="0"/>
            </a:endParaRPr>
          </a:p>
          <a:p>
            <a:pPr marL="342900" indent="-342900">
              <a:buAutoNum type="arabicPeriod"/>
            </a:pPr>
            <a:endParaRPr lang="pt-BR" sz="1400" dirty="0" smtClean="0">
              <a:latin typeface="Gill Sans MT" pitchFamily="34" charset="0"/>
            </a:endParaRPr>
          </a:p>
        </p:txBody>
      </p:sp>
      <p:sp>
        <p:nvSpPr>
          <p:cNvPr id="8" name="Estrela de 5 pontas 7"/>
          <p:cNvSpPr/>
          <p:nvPr/>
        </p:nvSpPr>
        <p:spPr>
          <a:xfrm>
            <a:off x="218128" y="6186570"/>
            <a:ext cx="114300" cy="104775"/>
          </a:xfrm>
          <a:prstGeom prst="star5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/>
          </a:p>
        </p:txBody>
      </p:sp>
      <p:sp>
        <p:nvSpPr>
          <p:cNvPr id="4" name="Retângulo 3"/>
          <p:cNvSpPr/>
          <p:nvPr/>
        </p:nvSpPr>
        <p:spPr>
          <a:xfrm>
            <a:off x="389778" y="6014878"/>
            <a:ext cx="2619006" cy="4384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100" dirty="0"/>
              <a:t>Novos indicadores para compor a Meta </a:t>
            </a:r>
            <a:r>
              <a:rPr lang="pt-BR" sz="1100" dirty="0" smtClean="0"/>
              <a:t>TD 2015</a:t>
            </a:r>
            <a:r>
              <a:rPr lang="pt-BR" sz="11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224746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tângulo de cantos arredondados 12"/>
          <p:cNvSpPr/>
          <p:nvPr/>
        </p:nvSpPr>
        <p:spPr>
          <a:xfrm>
            <a:off x="88904" y="548680"/>
            <a:ext cx="9769152" cy="648072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>
            <a:noFill/>
            <a:miter lim="800000"/>
            <a:headEnd/>
            <a:tailEnd/>
          </a:ln>
        </p:spPr>
        <p:txBody>
          <a:bodyPr rot="10800000" wrap="none" anchor="ctr"/>
          <a:lstStyle/>
          <a:p>
            <a:pPr eaLnBrk="0" hangingPunct="0">
              <a:defRPr/>
            </a:pPr>
            <a:endParaRPr lang="pt-BR" sz="2000" b="1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17410" name="Picture 7" descr="C:\Documents and Settings\Isabel\Desktop\logo4cores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59500"/>
            <a:ext cx="1006475" cy="698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4" name="Text Box 12"/>
          <p:cNvSpPr txBox="1">
            <a:spLocks noChangeArrowheads="1"/>
          </p:cNvSpPr>
          <p:nvPr/>
        </p:nvSpPr>
        <p:spPr bwMode="auto">
          <a:xfrm>
            <a:off x="128648" y="672661"/>
            <a:ext cx="878681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pt-BR" sz="2000" b="1" dirty="0" smtClean="0">
                <a:latin typeface="Gill Sans MT" pitchFamily="34" charset="0"/>
              </a:rPr>
              <a:t>Composição dos Serviços Críticos</a:t>
            </a:r>
            <a:endParaRPr lang="pt-BR" sz="2000" b="1" dirty="0">
              <a:latin typeface="Gill Sans MT" pitchFamily="34" charset="0"/>
            </a:endParaRPr>
          </a:p>
        </p:txBody>
      </p:sp>
      <p:sp>
        <p:nvSpPr>
          <p:cNvPr id="11" name="Retângulo 10"/>
          <p:cNvSpPr>
            <a:spLocks noChangeArrowheads="1"/>
          </p:cNvSpPr>
          <p:nvPr/>
        </p:nvSpPr>
        <p:spPr bwMode="auto">
          <a:xfrm>
            <a:off x="128648" y="1918573"/>
            <a:ext cx="9745144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pt-BR" sz="1200" b="1" dirty="0" smtClean="0">
                <a:latin typeface="Gill Sans MT" pitchFamily="34" charset="0"/>
              </a:rPr>
              <a:t>TD </a:t>
            </a:r>
            <a:r>
              <a:rPr lang="pt-BR" sz="1200" b="1" dirty="0" smtClean="0">
                <a:latin typeface="Gill Sans MT" pitchFamily="34" charset="0"/>
              </a:rPr>
              <a:t>Brasil</a:t>
            </a:r>
          </a:p>
          <a:p>
            <a:endParaRPr lang="pt-BR" sz="1200" b="1" dirty="0" smtClean="0">
              <a:latin typeface="Gill Sans MT" pitchFamily="34" charset="0"/>
            </a:endParaRPr>
          </a:p>
          <a:p>
            <a:r>
              <a:rPr lang="pt-BR" sz="1200" dirty="0" smtClean="0">
                <a:latin typeface="Gill Sans MT" pitchFamily="34" charset="0"/>
              </a:rPr>
              <a:t>Consiste em </a:t>
            </a:r>
            <a:r>
              <a:rPr lang="pt-BR" sz="1200" dirty="0" smtClean="0">
                <a:latin typeface="Gill Sans MT" pitchFamily="34" charset="0"/>
              </a:rPr>
              <a:t>4 (quatro) </a:t>
            </a:r>
            <a:r>
              <a:rPr lang="pt-BR" sz="1200" b="1" dirty="0" smtClean="0">
                <a:latin typeface="Gill Sans MT" pitchFamily="34" charset="0"/>
              </a:rPr>
              <a:t>Serviços Crítico</a:t>
            </a:r>
            <a:r>
              <a:rPr lang="pt-BR" sz="1200" dirty="0" smtClean="0">
                <a:latin typeface="Gill Sans MT" pitchFamily="34" charset="0"/>
              </a:rPr>
              <a:t>s, sendo: </a:t>
            </a:r>
            <a:r>
              <a:rPr lang="pt-BR" sz="1200" b="1" dirty="0" smtClean="0">
                <a:latin typeface="Gill Sans MT" pitchFamily="34" charset="0"/>
              </a:rPr>
              <a:t>Captação de Pedidos</a:t>
            </a:r>
            <a:r>
              <a:rPr lang="pt-BR" sz="1200" dirty="0" smtClean="0">
                <a:latin typeface="Gill Sans MT" pitchFamily="34" charset="0"/>
              </a:rPr>
              <a:t>, </a:t>
            </a:r>
            <a:r>
              <a:rPr lang="pt-BR" sz="1200" b="1" dirty="0" smtClean="0">
                <a:latin typeface="Gill Sans MT" pitchFamily="34" charset="0"/>
              </a:rPr>
              <a:t>Sistemas de </a:t>
            </a:r>
            <a:r>
              <a:rPr lang="pt-BR" sz="1200" b="1" dirty="0" smtClean="0">
                <a:latin typeface="Gill Sans MT" pitchFamily="34" charset="0"/>
              </a:rPr>
              <a:t>Relacionamento,</a:t>
            </a:r>
            <a:r>
              <a:rPr lang="pt-BR" sz="1200" dirty="0" smtClean="0">
                <a:latin typeface="Gill Sans MT" pitchFamily="34" charset="0"/>
              </a:rPr>
              <a:t> </a:t>
            </a:r>
            <a:r>
              <a:rPr lang="pt-BR" sz="1200" b="1" dirty="0" smtClean="0">
                <a:latin typeface="Gill Sans MT" pitchFamily="34" charset="0"/>
              </a:rPr>
              <a:t>Faturamento </a:t>
            </a:r>
            <a:r>
              <a:rPr lang="pt-BR" sz="1200" b="1" dirty="0" smtClean="0">
                <a:latin typeface="Gill Sans MT" pitchFamily="34" charset="0"/>
              </a:rPr>
              <a:t>CN e Separação e Experiência do Usuário</a:t>
            </a:r>
            <a:r>
              <a:rPr lang="pt-BR" sz="1200" dirty="0" smtClean="0">
                <a:latin typeface="Gill Sans MT" pitchFamily="34" charset="0"/>
              </a:rPr>
              <a:t>.  </a:t>
            </a:r>
            <a:r>
              <a:rPr lang="pt-BR" sz="1200" dirty="0" smtClean="0">
                <a:latin typeface="Gill Sans MT" pitchFamily="34" charset="0"/>
              </a:rPr>
              <a:t>Também foi estipulado peso para cada um dos Serviços Críticos onde somados atingem 100%, conforme representado abaixo:</a:t>
            </a:r>
          </a:p>
        </p:txBody>
      </p:sp>
      <p:grpSp>
        <p:nvGrpSpPr>
          <p:cNvPr id="29" name="Grupo 28"/>
          <p:cNvGrpSpPr/>
          <p:nvPr/>
        </p:nvGrpSpPr>
        <p:grpSpPr>
          <a:xfrm>
            <a:off x="416497" y="3356992"/>
            <a:ext cx="9171206" cy="2376264"/>
            <a:chOff x="1068374" y="2204864"/>
            <a:chExt cx="9171206" cy="2376264"/>
          </a:xfrm>
        </p:grpSpPr>
        <p:sp>
          <p:nvSpPr>
            <p:cNvPr id="8" name="Retângulo de cantos arredondados 7"/>
            <p:cNvSpPr/>
            <p:nvPr/>
          </p:nvSpPr>
          <p:spPr bwMode="auto">
            <a:xfrm>
              <a:off x="1068374" y="2204864"/>
              <a:ext cx="1512168" cy="2376264"/>
            </a:xfrm>
            <a:prstGeom prst="roundRect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pt-BR" sz="1200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tx1"/>
                </a:solidFill>
              </a:endParaRPr>
            </a:p>
          </p:txBody>
        </p:sp>
        <p:sp>
          <p:nvSpPr>
            <p:cNvPr id="23" name="Retângulo de cantos arredondados 22"/>
            <p:cNvSpPr/>
            <p:nvPr/>
          </p:nvSpPr>
          <p:spPr bwMode="auto">
            <a:xfrm>
              <a:off x="3084597" y="2204864"/>
              <a:ext cx="1526901" cy="2376264"/>
            </a:xfrm>
            <a:prstGeom prst="roundRect">
              <a:avLst/>
            </a:prstGeom>
            <a:ln/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200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endParaRPr>
            </a:p>
          </p:txBody>
        </p:sp>
        <p:sp>
          <p:nvSpPr>
            <p:cNvPr id="24" name="Retângulo de cantos arredondados 23"/>
            <p:cNvSpPr/>
            <p:nvPr/>
          </p:nvSpPr>
          <p:spPr bwMode="auto">
            <a:xfrm>
              <a:off x="5172829" y="2204864"/>
              <a:ext cx="1383437" cy="2376264"/>
            </a:xfrm>
            <a:prstGeom prst="roundRect">
              <a:avLst/>
            </a:prstGeom>
            <a:ln/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200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endParaRPr>
            </a:p>
          </p:txBody>
        </p:sp>
        <p:sp>
          <p:nvSpPr>
            <p:cNvPr id="9" name="Mais 8"/>
            <p:cNvSpPr/>
            <p:nvPr/>
          </p:nvSpPr>
          <p:spPr bwMode="auto">
            <a:xfrm>
              <a:off x="2540432" y="3140968"/>
              <a:ext cx="576064" cy="504056"/>
            </a:xfrm>
            <a:prstGeom prst="mathPlus">
              <a:avLst/>
            </a:prstGeom>
            <a:ln/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200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endParaRPr>
            </a:p>
          </p:txBody>
        </p:sp>
        <p:sp>
          <p:nvSpPr>
            <p:cNvPr id="14" name="Igual 13"/>
            <p:cNvSpPr/>
            <p:nvPr/>
          </p:nvSpPr>
          <p:spPr bwMode="auto">
            <a:xfrm>
              <a:off x="8449338" y="3116904"/>
              <a:ext cx="489173" cy="504056"/>
            </a:xfrm>
            <a:prstGeom prst="mathEqual">
              <a:avLst/>
            </a:prstGeom>
            <a:ln/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200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endParaRPr>
            </a:p>
          </p:txBody>
        </p:sp>
        <p:sp>
          <p:nvSpPr>
            <p:cNvPr id="17" name="CaixaDeTexto 16"/>
            <p:cNvSpPr txBox="1"/>
            <p:nvPr/>
          </p:nvSpPr>
          <p:spPr>
            <a:xfrm>
              <a:off x="1101584" y="2692077"/>
              <a:ext cx="1406949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200" b="1" dirty="0" smtClean="0">
                  <a:latin typeface="Gill Sans MT" pitchFamily="34" charset="0"/>
                </a:rPr>
                <a:t>Captação</a:t>
              </a:r>
            </a:p>
            <a:p>
              <a:pPr algn="ctr"/>
              <a:endParaRPr lang="pt-BR" sz="1200" b="1" dirty="0" smtClean="0">
                <a:latin typeface="Gill Sans MT" pitchFamily="34" charset="0"/>
              </a:endParaRPr>
            </a:p>
            <a:p>
              <a:pPr algn="ctr"/>
              <a:r>
                <a:rPr lang="pt-BR" sz="1200" dirty="0" smtClean="0">
                  <a:latin typeface="Gill Sans MT" pitchFamily="34" charset="0"/>
                </a:rPr>
                <a:t>Web</a:t>
              </a:r>
            </a:p>
            <a:p>
              <a:pPr algn="ctr"/>
              <a:r>
                <a:rPr lang="pt-BR" sz="1200" dirty="0" smtClean="0">
                  <a:latin typeface="Gill Sans MT" pitchFamily="34" charset="0"/>
                </a:rPr>
                <a:t>CAN</a:t>
              </a:r>
            </a:p>
            <a:p>
              <a:pPr algn="ctr"/>
              <a:r>
                <a:rPr lang="pt-BR" sz="1200" dirty="0" smtClean="0">
                  <a:latin typeface="Gill Sans MT" pitchFamily="34" charset="0"/>
                </a:rPr>
                <a:t>REDE</a:t>
              </a:r>
              <a:endParaRPr lang="pt-BR" sz="1200" dirty="0">
                <a:latin typeface="Gill Sans MT" pitchFamily="34" charset="0"/>
              </a:endParaRPr>
            </a:p>
          </p:txBody>
        </p:sp>
        <p:sp>
          <p:nvSpPr>
            <p:cNvPr id="26" name="CaixaDeTexto 25"/>
            <p:cNvSpPr txBox="1"/>
            <p:nvPr/>
          </p:nvSpPr>
          <p:spPr>
            <a:xfrm>
              <a:off x="3099330" y="2276872"/>
              <a:ext cx="1539669" cy="18004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200" b="1" dirty="0" smtClean="0">
                  <a:latin typeface="Gill Sans MT" pitchFamily="34" charset="0"/>
                </a:rPr>
                <a:t>Relacionamento</a:t>
              </a:r>
            </a:p>
            <a:p>
              <a:pPr algn="ctr"/>
              <a:r>
                <a:rPr lang="pt-BR" sz="1100" dirty="0" smtClean="0">
                  <a:latin typeface="Gill Sans MT" pitchFamily="34" charset="0"/>
                </a:rPr>
                <a:t>Site CN</a:t>
              </a:r>
            </a:p>
            <a:p>
              <a:pPr algn="ctr"/>
              <a:r>
                <a:rPr lang="pt-BR" sz="1100" dirty="0" smtClean="0">
                  <a:latin typeface="Gill Sans MT" pitchFamily="34" charset="0"/>
                </a:rPr>
                <a:t>Site CNO</a:t>
              </a:r>
            </a:p>
            <a:p>
              <a:pPr algn="ctr"/>
              <a:r>
                <a:rPr lang="pt-BR" sz="1100" dirty="0" smtClean="0">
                  <a:latin typeface="Gill Sans MT" pitchFamily="34" charset="0"/>
                </a:rPr>
                <a:t>Site FV</a:t>
              </a:r>
            </a:p>
            <a:p>
              <a:pPr algn="ctr"/>
              <a:r>
                <a:rPr lang="pt-BR" sz="1100" dirty="0" smtClean="0">
                  <a:latin typeface="Gill Sans MT" pitchFamily="34" charset="0"/>
                </a:rPr>
                <a:t>Natura.net</a:t>
              </a:r>
            </a:p>
            <a:p>
              <a:pPr algn="ctr"/>
              <a:r>
                <a:rPr lang="pt-BR" sz="1100" dirty="0" smtClean="0">
                  <a:latin typeface="Gill Sans MT" pitchFamily="34" charset="0"/>
                </a:rPr>
                <a:t>SNAC- Plusoft</a:t>
              </a:r>
            </a:p>
            <a:p>
              <a:pPr algn="ctr"/>
              <a:r>
                <a:rPr lang="pt-BR" sz="1100" dirty="0" smtClean="0">
                  <a:latin typeface="Gill Sans MT" pitchFamily="34" charset="0"/>
                </a:rPr>
                <a:t>SAP CRM</a:t>
              </a:r>
            </a:p>
            <a:p>
              <a:pPr algn="ctr"/>
              <a:r>
                <a:rPr lang="pt-BR" sz="1100" dirty="0" smtClean="0">
                  <a:latin typeface="Gill Sans MT" pitchFamily="34" charset="0"/>
                </a:rPr>
                <a:t>Crédito e </a:t>
              </a:r>
              <a:r>
                <a:rPr lang="pt-BR" sz="1100" dirty="0" smtClean="0">
                  <a:latin typeface="Gill Sans MT" pitchFamily="34" charset="0"/>
                </a:rPr>
                <a:t>Cobrança</a:t>
              </a:r>
            </a:p>
            <a:p>
              <a:pPr algn="ctr"/>
              <a:r>
                <a:rPr lang="pt-BR" sz="1100" dirty="0" smtClean="0">
                  <a:latin typeface="Gill Sans MT" pitchFamily="34" charset="0"/>
                </a:rPr>
                <a:t>Cadastro CND</a:t>
              </a:r>
            </a:p>
            <a:p>
              <a:pPr algn="ctr"/>
              <a:r>
                <a:rPr lang="pt-BR" sz="1100" dirty="0" smtClean="0">
                  <a:latin typeface="Gill Sans MT" pitchFamily="34" charset="0"/>
                </a:rPr>
                <a:t>Painel CND</a:t>
              </a:r>
              <a:endParaRPr lang="pt-BR" sz="1100" dirty="0" smtClean="0">
                <a:latin typeface="Gill Sans MT" pitchFamily="34" charset="0"/>
              </a:endParaRPr>
            </a:p>
          </p:txBody>
        </p:sp>
        <p:sp>
          <p:nvSpPr>
            <p:cNvPr id="27" name="CaixaDeTexto 26"/>
            <p:cNvSpPr txBox="1"/>
            <p:nvPr/>
          </p:nvSpPr>
          <p:spPr>
            <a:xfrm>
              <a:off x="5198151" y="2754329"/>
              <a:ext cx="1332792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200" b="1" dirty="0" smtClean="0">
                  <a:latin typeface="Gill Sans MT" pitchFamily="34" charset="0"/>
                </a:rPr>
                <a:t>Faturamento </a:t>
              </a:r>
              <a:r>
                <a:rPr lang="pt-BR" sz="1200" b="1" dirty="0" smtClean="0">
                  <a:latin typeface="Gill Sans MT" pitchFamily="34" charset="0"/>
                </a:rPr>
                <a:t>CN</a:t>
              </a:r>
            </a:p>
            <a:p>
              <a:pPr algn="ctr"/>
              <a:endParaRPr lang="pt-BR" sz="1200" b="1" dirty="0">
                <a:latin typeface="Gill Sans MT" pitchFamily="34" charset="0"/>
              </a:endParaRPr>
            </a:p>
            <a:p>
              <a:pPr algn="ctr"/>
              <a:r>
                <a:rPr lang="pt-BR" sz="1200" b="1" dirty="0" smtClean="0">
                  <a:latin typeface="Gill Sans MT" pitchFamily="34" charset="0"/>
                </a:rPr>
                <a:t>Separação</a:t>
              </a:r>
              <a:endParaRPr lang="pt-BR" sz="1200" b="1" dirty="0" smtClean="0">
                <a:latin typeface="Gill Sans MT" pitchFamily="34" charset="0"/>
              </a:endParaRPr>
            </a:p>
          </p:txBody>
        </p:sp>
        <p:sp>
          <p:nvSpPr>
            <p:cNvPr id="28" name="Mais 27"/>
            <p:cNvSpPr/>
            <p:nvPr/>
          </p:nvSpPr>
          <p:spPr bwMode="auto">
            <a:xfrm>
              <a:off x="4600129" y="3140968"/>
              <a:ext cx="576064" cy="504056"/>
            </a:xfrm>
            <a:prstGeom prst="mathPlus">
              <a:avLst/>
            </a:prstGeom>
            <a:ln/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200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endParaRPr>
            </a:p>
          </p:txBody>
        </p:sp>
        <p:sp>
          <p:nvSpPr>
            <p:cNvPr id="18" name="CaixaDeTexto 17"/>
            <p:cNvSpPr txBox="1"/>
            <p:nvPr/>
          </p:nvSpPr>
          <p:spPr>
            <a:xfrm>
              <a:off x="8799420" y="2994298"/>
              <a:ext cx="144016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4000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Gill Sans MT" pitchFamily="34" charset="0"/>
                </a:rPr>
                <a:t>100%</a:t>
              </a:r>
              <a:endParaRPr lang="pt-BR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MT" pitchFamily="34" charset="0"/>
              </a:endParaRPr>
            </a:p>
          </p:txBody>
        </p:sp>
        <p:sp>
          <p:nvSpPr>
            <p:cNvPr id="30" name="CaixaDeTexto 29"/>
            <p:cNvSpPr txBox="1"/>
            <p:nvPr/>
          </p:nvSpPr>
          <p:spPr>
            <a:xfrm>
              <a:off x="1212389" y="3846532"/>
              <a:ext cx="1231503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4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Gill Sans MT" pitchFamily="34" charset="0"/>
                </a:rPr>
                <a:t>5</a:t>
              </a:r>
              <a:r>
                <a:rPr lang="pt-BR" sz="4000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Gill Sans MT" pitchFamily="34" charset="0"/>
                </a:rPr>
                <a:t>0</a:t>
              </a:r>
              <a:r>
                <a:rPr lang="pt-BR" sz="4000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Gill Sans MT" pitchFamily="34" charset="0"/>
                </a:rPr>
                <a:t>%</a:t>
              </a:r>
              <a:endParaRPr lang="pt-BR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MT" pitchFamily="34" charset="0"/>
              </a:endParaRPr>
            </a:p>
          </p:txBody>
        </p:sp>
        <p:sp>
          <p:nvSpPr>
            <p:cNvPr id="31" name="CaixaDeTexto 30"/>
            <p:cNvSpPr txBox="1"/>
            <p:nvPr/>
          </p:nvSpPr>
          <p:spPr>
            <a:xfrm>
              <a:off x="3292234" y="3849016"/>
              <a:ext cx="1143349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4000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Gill Sans MT" pitchFamily="34" charset="0"/>
                </a:rPr>
                <a:t>20%</a:t>
              </a:r>
              <a:endParaRPr lang="pt-BR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MT" pitchFamily="34" charset="0"/>
              </a:endParaRPr>
            </a:p>
          </p:txBody>
        </p:sp>
        <p:sp>
          <p:nvSpPr>
            <p:cNvPr id="32" name="CaixaDeTexto 31"/>
            <p:cNvSpPr txBox="1"/>
            <p:nvPr/>
          </p:nvSpPr>
          <p:spPr>
            <a:xfrm>
              <a:off x="5208247" y="3832043"/>
              <a:ext cx="144016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4000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Gill Sans MT" pitchFamily="34" charset="0"/>
                </a:rPr>
                <a:t>25%</a:t>
              </a:r>
              <a:endParaRPr lang="pt-BR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MT" pitchFamily="34" charset="0"/>
              </a:endParaRPr>
            </a:p>
          </p:txBody>
        </p:sp>
      </p:grpSp>
      <p:sp>
        <p:nvSpPr>
          <p:cNvPr id="34" name="Retângulo de cantos arredondados 33"/>
          <p:cNvSpPr/>
          <p:nvPr/>
        </p:nvSpPr>
        <p:spPr bwMode="auto">
          <a:xfrm>
            <a:off x="6411293" y="3356992"/>
            <a:ext cx="1383437" cy="2376264"/>
          </a:xfrm>
          <a:prstGeom prst="roundRect">
            <a:avLst/>
          </a:prstGeom>
          <a:ln/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b="1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noFill/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35" name="CaixaDeTexto 34"/>
          <p:cNvSpPr txBox="1"/>
          <p:nvPr/>
        </p:nvSpPr>
        <p:spPr>
          <a:xfrm>
            <a:off x="6436615" y="4222829"/>
            <a:ext cx="13327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 smtClean="0">
                <a:latin typeface="Gill Sans MT" pitchFamily="34" charset="0"/>
              </a:rPr>
              <a:t>Experiência </a:t>
            </a:r>
          </a:p>
          <a:p>
            <a:pPr algn="ctr"/>
            <a:r>
              <a:rPr lang="pt-BR" sz="1200" b="1" dirty="0">
                <a:latin typeface="Gill Sans MT" pitchFamily="34" charset="0"/>
              </a:rPr>
              <a:t>d</a:t>
            </a:r>
            <a:r>
              <a:rPr lang="pt-BR" sz="1200" b="1" dirty="0" smtClean="0">
                <a:latin typeface="Gill Sans MT" pitchFamily="34" charset="0"/>
              </a:rPr>
              <a:t>o</a:t>
            </a:r>
          </a:p>
          <a:p>
            <a:pPr algn="ctr"/>
            <a:r>
              <a:rPr lang="pt-BR" sz="1200" b="1" dirty="0" smtClean="0">
                <a:latin typeface="Gill Sans MT" pitchFamily="34" charset="0"/>
              </a:rPr>
              <a:t>Usuário</a:t>
            </a:r>
            <a:endParaRPr lang="pt-BR" sz="1200" b="1" dirty="0" smtClean="0">
              <a:latin typeface="Gill Sans MT" pitchFamily="34" charset="0"/>
            </a:endParaRPr>
          </a:p>
        </p:txBody>
      </p:sp>
      <p:sp>
        <p:nvSpPr>
          <p:cNvPr id="37" name="CaixaDeTexto 36"/>
          <p:cNvSpPr txBox="1"/>
          <p:nvPr/>
        </p:nvSpPr>
        <p:spPr>
          <a:xfrm>
            <a:off x="6446711" y="4984171"/>
            <a:ext cx="14401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MT" pitchFamily="34" charset="0"/>
              </a:rPr>
              <a:t>5%</a:t>
            </a:r>
            <a:endParaRPr lang="pt-BR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MT" pitchFamily="34" charset="0"/>
            </a:endParaRPr>
          </a:p>
        </p:txBody>
      </p:sp>
      <p:sp>
        <p:nvSpPr>
          <p:cNvPr id="38" name="Mais 37"/>
          <p:cNvSpPr/>
          <p:nvPr/>
        </p:nvSpPr>
        <p:spPr bwMode="auto">
          <a:xfrm>
            <a:off x="5865871" y="4293963"/>
            <a:ext cx="576064" cy="504056"/>
          </a:xfrm>
          <a:prstGeom prst="mathPlus">
            <a:avLst/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b="1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noFill/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031888871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de cantos arredondados 9"/>
          <p:cNvSpPr/>
          <p:nvPr/>
        </p:nvSpPr>
        <p:spPr>
          <a:xfrm>
            <a:off x="68424" y="559313"/>
            <a:ext cx="8773008" cy="648072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>
            <a:noFill/>
            <a:miter lim="800000"/>
            <a:headEnd/>
            <a:tailEnd/>
          </a:ln>
        </p:spPr>
        <p:txBody>
          <a:bodyPr rot="10800000" wrap="none" anchor="ctr"/>
          <a:lstStyle/>
          <a:p>
            <a:pPr eaLnBrk="0" hangingPunct="0">
              <a:defRPr/>
            </a:pPr>
            <a:endParaRPr lang="pt-BR" sz="2000" b="1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5" name="Text Box 12"/>
          <p:cNvSpPr txBox="1">
            <a:spLocks noChangeArrowheads="1"/>
          </p:cNvSpPr>
          <p:nvPr/>
        </p:nvSpPr>
        <p:spPr bwMode="auto">
          <a:xfrm>
            <a:off x="198635" y="724634"/>
            <a:ext cx="720263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pt-BR" sz="2000" b="1" dirty="0" smtClean="0">
                <a:latin typeface="Gill Sans MT" pitchFamily="34" charset="0"/>
              </a:rPr>
              <a:t>Matriz de Metas </a:t>
            </a:r>
            <a:r>
              <a:rPr lang="pt-BR" sz="2000" b="1" dirty="0" smtClean="0">
                <a:latin typeface="Gill Sans MT" pitchFamily="34" charset="0"/>
              </a:rPr>
              <a:t>Proposta 2015 - </a:t>
            </a:r>
            <a:r>
              <a:rPr lang="pt-BR" sz="2000" b="1" dirty="0" err="1" smtClean="0">
                <a:latin typeface="Gill Sans MT" pitchFamily="34" charset="0"/>
              </a:rPr>
              <a:t>OIs</a:t>
            </a:r>
            <a:endParaRPr lang="pt-BR" sz="2000" b="1" dirty="0">
              <a:latin typeface="Gill Sans MT" pitchFamily="34" charset="0"/>
            </a:endParaRPr>
          </a:p>
        </p:txBody>
      </p:sp>
      <p:sp>
        <p:nvSpPr>
          <p:cNvPr id="7" name="Retângulo 6"/>
          <p:cNvSpPr>
            <a:spLocks noChangeArrowheads="1"/>
          </p:cNvSpPr>
          <p:nvPr/>
        </p:nvSpPr>
        <p:spPr bwMode="auto">
          <a:xfrm>
            <a:off x="1640631" y="3703091"/>
            <a:ext cx="6505575" cy="2462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pt-BR" sz="1400" dirty="0" smtClean="0">
                <a:latin typeface="Gill Sans MT" pitchFamily="34" charset="0"/>
              </a:rPr>
              <a:t>Definição de pesos </a:t>
            </a:r>
            <a:r>
              <a:rPr lang="pt-BR" sz="1400" dirty="0">
                <a:latin typeface="Gill Sans MT" pitchFamily="34" charset="0"/>
              </a:rPr>
              <a:t>por </a:t>
            </a:r>
            <a:r>
              <a:rPr lang="pt-BR" sz="1400" dirty="0" smtClean="0">
                <a:latin typeface="Gill Sans MT" pitchFamily="34" charset="0"/>
              </a:rPr>
              <a:t>país para 2015,  de acordo com o faturamento obtido:</a:t>
            </a:r>
          </a:p>
          <a:p>
            <a:endParaRPr lang="pt-BR" sz="1400" dirty="0">
              <a:latin typeface="Gill Sans MT" pitchFamily="34" charset="0"/>
            </a:endParaRPr>
          </a:p>
          <a:p>
            <a:r>
              <a:rPr lang="pt-BR" sz="1400" dirty="0">
                <a:latin typeface="Gill Sans MT" pitchFamily="34" charset="0"/>
              </a:rPr>
              <a:t>Argentina	</a:t>
            </a:r>
            <a:r>
              <a:rPr lang="pt-BR" sz="1400" dirty="0" smtClean="0">
                <a:latin typeface="Gill Sans MT" pitchFamily="34" charset="0"/>
              </a:rPr>
              <a:t>	30,11</a:t>
            </a:r>
            <a:r>
              <a:rPr lang="pt-BR" sz="1400" dirty="0">
                <a:latin typeface="Gill Sans MT" pitchFamily="34" charset="0"/>
              </a:rPr>
              <a:t>%</a:t>
            </a:r>
          </a:p>
          <a:p>
            <a:r>
              <a:rPr lang="pt-BR" sz="1400" dirty="0">
                <a:latin typeface="Gill Sans MT" pitchFamily="34" charset="0"/>
              </a:rPr>
              <a:t>México		21,84%</a:t>
            </a:r>
          </a:p>
          <a:p>
            <a:r>
              <a:rPr lang="pt-BR" sz="1400" dirty="0">
                <a:latin typeface="Gill Sans MT" pitchFamily="34" charset="0"/>
              </a:rPr>
              <a:t>Peru		18,12%</a:t>
            </a:r>
          </a:p>
          <a:p>
            <a:r>
              <a:rPr lang="pt-BR" sz="1400" dirty="0" smtClean="0">
                <a:latin typeface="Gill Sans MT" pitchFamily="34" charset="0"/>
              </a:rPr>
              <a:t>Chile</a:t>
            </a:r>
            <a:r>
              <a:rPr lang="pt-BR" sz="1400" dirty="0">
                <a:latin typeface="Gill Sans MT" pitchFamily="34" charset="0"/>
              </a:rPr>
              <a:t>		16,72%</a:t>
            </a:r>
          </a:p>
          <a:p>
            <a:r>
              <a:rPr lang="pt-BR" sz="1400" dirty="0">
                <a:latin typeface="Gill Sans MT" pitchFamily="34" charset="0"/>
              </a:rPr>
              <a:t>Colômbia	</a:t>
            </a:r>
            <a:r>
              <a:rPr lang="pt-BR" sz="1400" dirty="0" smtClean="0">
                <a:latin typeface="Gill Sans MT" pitchFamily="34" charset="0"/>
              </a:rPr>
              <a:t>	12,67</a:t>
            </a:r>
            <a:r>
              <a:rPr lang="pt-BR" sz="1400" dirty="0">
                <a:latin typeface="Gill Sans MT" pitchFamily="34" charset="0"/>
              </a:rPr>
              <a:t>%</a:t>
            </a:r>
          </a:p>
          <a:p>
            <a:r>
              <a:rPr lang="pt-BR" sz="1400" dirty="0" smtClean="0">
                <a:latin typeface="Gill Sans MT" pitchFamily="34" charset="0"/>
              </a:rPr>
              <a:t>França</a:t>
            </a:r>
            <a:r>
              <a:rPr lang="pt-BR" sz="1400" dirty="0">
                <a:latin typeface="Gill Sans MT" pitchFamily="34" charset="0"/>
              </a:rPr>
              <a:t>		0,53%</a:t>
            </a:r>
          </a:p>
          <a:p>
            <a:endParaRPr lang="pt-BR" sz="1400" dirty="0" smtClean="0">
              <a:latin typeface="Gill Sans MT" pitchFamily="34" charset="0"/>
            </a:endParaRPr>
          </a:p>
          <a:p>
            <a:pPr marL="342900" indent="-342900">
              <a:buAutoNum type="arabicPeriod"/>
            </a:pPr>
            <a:endParaRPr lang="pt-BR" sz="1400" dirty="0" smtClean="0">
              <a:latin typeface="Gill Sans MT" pitchFamily="34" charset="0"/>
            </a:endParaRPr>
          </a:p>
          <a:p>
            <a:pPr marL="342900" indent="-342900">
              <a:buAutoNum type="arabicPeriod"/>
            </a:pPr>
            <a:endParaRPr lang="pt-BR" sz="1400" dirty="0" smtClean="0">
              <a:latin typeface="Gill Sans MT" pitchFamily="34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0632" y="1484784"/>
            <a:ext cx="6505575" cy="1771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Picture 69" descr="E:\Users\BR89654\AppData\Local\Microsoft\Windows\Temporary Internet Files\Content.IE5\2K7H9CC1\image[1]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47301"/>
          <a:stretch>
            <a:fillRect/>
          </a:stretch>
        </p:blipFill>
        <p:spPr bwMode="auto">
          <a:xfrm>
            <a:off x="8946359" y="134544"/>
            <a:ext cx="703288" cy="8227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698514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tângulo de cantos arredondados 12"/>
          <p:cNvSpPr/>
          <p:nvPr/>
        </p:nvSpPr>
        <p:spPr>
          <a:xfrm>
            <a:off x="88904" y="548680"/>
            <a:ext cx="9769152" cy="648072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>
            <a:noFill/>
            <a:miter lim="800000"/>
            <a:headEnd/>
            <a:tailEnd/>
          </a:ln>
        </p:spPr>
        <p:txBody>
          <a:bodyPr rot="10800000" wrap="none" anchor="ctr"/>
          <a:lstStyle/>
          <a:p>
            <a:pPr eaLnBrk="0" hangingPunct="0">
              <a:defRPr/>
            </a:pPr>
            <a:endParaRPr lang="pt-BR" sz="2000" b="1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17410" name="Picture 7" descr="C:\Documents and Settings\Isabel\Desktop\logo4cores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59500"/>
            <a:ext cx="1006475" cy="698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4" name="Text Box 12"/>
          <p:cNvSpPr txBox="1">
            <a:spLocks noChangeArrowheads="1"/>
          </p:cNvSpPr>
          <p:nvPr/>
        </p:nvSpPr>
        <p:spPr bwMode="auto">
          <a:xfrm>
            <a:off x="128648" y="672661"/>
            <a:ext cx="878681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pt-BR" sz="2000" b="1" dirty="0" smtClean="0">
                <a:latin typeface="Gill Sans MT" pitchFamily="34" charset="0"/>
              </a:rPr>
              <a:t>Composição dos Serviços Críticos</a:t>
            </a:r>
            <a:endParaRPr lang="pt-BR" sz="2000" b="1" dirty="0">
              <a:latin typeface="Gill Sans MT" pitchFamily="34" charset="0"/>
            </a:endParaRPr>
          </a:p>
        </p:txBody>
      </p:sp>
      <p:sp>
        <p:nvSpPr>
          <p:cNvPr id="11" name="Retângulo 10"/>
          <p:cNvSpPr>
            <a:spLocks noChangeArrowheads="1"/>
          </p:cNvSpPr>
          <p:nvPr/>
        </p:nvSpPr>
        <p:spPr bwMode="auto">
          <a:xfrm>
            <a:off x="128648" y="1806456"/>
            <a:ext cx="9745144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pt-BR" sz="1200" b="1" dirty="0" smtClean="0">
                <a:latin typeface="Gill Sans MT" pitchFamily="34" charset="0"/>
              </a:rPr>
              <a:t>TD </a:t>
            </a:r>
            <a:r>
              <a:rPr lang="pt-BR" sz="1200" b="1" dirty="0">
                <a:latin typeface="Gill Sans MT" pitchFamily="34" charset="0"/>
              </a:rPr>
              <a:t>Operação </a:t>
            </a:r>
            <a:r>
              <a:rPr lang="pt-BR" sz="1200" b="1" dirty="0" smtClean="0">
                <a:latin typeface="Gill Sans MT" pitchFamily="34" charset="0"/>
              </a:rPr>
              <a:t>Internacional</a:t>
            </a:r>
          </a:p>
          <a:p>
            <a:endParaRPr lang="pt-BR" sz="1200" b="1" dirty="0">
              <a:latin typeface="Gill Sans MT" pitchFamily="34" charset="0"/>
            </a:endParaRPr>
          </a:p>
          <a:p>
            <a:r>
              <a:rPr lang="pt-BR" sz="1200" dirty="0">
                <a:latin typeface="Gill Sans MT" pitchFamily="34" charset="0"/>
              </a:rPr>
              <a:t>Consiste em 3 (três) </a:t>
            </a:r>
            <a:r>
              <a:rPr lang="pt-BR" sz="1200" b="1" dirty="0">
                <a:latin typeface="Gill Sans MT" pitchFamily="34" charset="0"/>
              </a:rPr>
              <a:t>Serviços Crítico</a:t>
            </a:r>
            <a:r>
              <a:rPr lang="pt-BR" sz="1200" dirty="0">
                <a:latin typeface="Gill Sans MT" pitchFamily="34" charset="0"/>
              </a:rPr>
              <a:t>s, sendo: </a:t>
            </a:r>
            <a:r>
              <a:rPr lang="pt-BR" sz="1200" b="1" dirty="0">
                <a:latin typeface="Gill Sans MT" pitchFamily="34" charset="0"/>
              </a:rPr>
              <a:t>Captação de Pedidos</a:t>
            </a:r>
            <a:r>
              <a:rPr lang="pt-BR" sz="1200" dirty="0">
                <a:latin typeface="Gill Sans MT" pitchFamily="34" charset="0"/>
              </a:rPr>
              <a:t>, </a:t>
            </a:r>
            <a:r>
              <a:rPr lang="pt-BR" sz="1200" b="1" dirty="0">
                <a:latin typeface="Gill Sans MT" pitchFamily="34" charset="0"/>
              </a:rPr>
              <a:t>Separação </a:t>
            </a:r>
            <a:r>
              <a:rPr lang="pt-BR" sz="1200" dirty="0">
                <a:latin typeface="Gill Sans MT" pitchFamily="34" charset="0"/>
              </a:rPr>
              <a:t>e </a:t>
            </a:r>
            <a:r>
              <a:rPr lang="pt-BR" sz="1200" b="1" dirty="0">
                <a:latin typeface="Gill Sans MT" pitchFamily="34" charset="0"/>
              </a:rPr>
              <a:t>Faturamento</a:t>
            </a:r>
            <a:r>
              <a:rPr lang="pt-BR" sz="1200" dirty="0">
                <a:latin typeface="Gill Sans MT" pitchFamily="34" charset="0"/>
              </a:rPr>
              <a:t>.  O indicador consolidado consiste na soma da meta/resultado dividido por 3 (três), conforme ilustrado abaixo:</a:t>
            </a:r>
          </a:p>
        </p:txBody>
      </p:sp>
      <p:grpSp>
        <p:nvGrpSpPr>
          <p:cNvPr id="25" name="Grupo 24"/>
          <p:cNvGrpSpPr/>
          <p:nvPr/>
        </p:nvGrpSpPr>
        <p:grpSpPr>
          <a:xfrm>
            <a:off x="848544" y="3248743"/>
            <a:ext cx="8886033" cy="2412505"/>
            <a:chOff x="615503" y="1952601"/>
            <a:chExt cx="8886033" cy="2412505"/>
          </a:xfrm>
        </p:grpSpPr>
        <p:sp>
          <p:nvSpPr>
            <p:cNvPr id="33" name="Retângulo de cantos arredondados 32"/>
            <p:cNvSpPr/>
            <p:nvPr/>
          </p:nvSpPr>
          <p:spPr bwMode="auto">
            <a:xfrm>
              <a:off x="1068373" y="2204864"/>
              <a:ext cx="1220331" cy="1800200"/>
            </a:xfrm>
            <a:prstGeom prst="roundRect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pt-BR" sz="1200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tx1"/>
                </a:solidFill>
              </a:endParaRPr>
            </a:p>
          </p:txBody>
        </p:sp>
        <p:sp>
          <p:nvSpPr>
            <p:cNvPr id="36" name="Mais 35"/>
            <p:cNvSpPr/>
            <p:nvPr/>
          </p:nvSpPr>
          <p:spPr bwMode="auto">
            <a:xfrm>
              <a:off x="2289624" y="2871483"/>
              <a:ext cx="576064" cy="504056"/>
            </a:xfrm>
            <a:prstGeom prst="mathPlus">
              <a:avLst/>
            </a:prstGeom>
            <a:ln/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200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endParaRPr>
            </a:p>
          </p:txBody>
        </p:sp>
        <p:sp>
          <p:nvSpPr>
            <p:cNvPr id="39" name="Igual 38"/>
            <p:cNvSpPr/>
            <p:nvPr/>
          </p:nvSpPr>
          <p:spPr bwMode="auto">
            <a:xfrm>
              <a:off x="7617296" y="2853120"/>
              <a:ext cx="489173" cy="504056"/>
            </a:xfrm>
            <a:prstGeom prst="mathEqual">
              <a:avLst/>
            </a:prstGeom>
            <a:ln/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200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endParaRPr>
            </a:p>
          </p:txBody>
        </p:sp>
        <p:sp>
          <p:nvSpPr>
            <p:cNvPr id="40" name="CaixaDeTexto 39"/>
            <p:cNvSpPr txBox="1"/>
            <p:nvPr/>
          </p:nvSpPr>
          <p:spPr>
            <a:xfrm>
              <a:off x="785804" y="3002468"/>
              <a:ext cx="178546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200" b="1" dirty="0" smtClean="0">
                  <a:latin typeface="Gill Sans MT" pitchFamily="34" charset="0"/>
                </a:rPr>
                <a:t>Captação</a:t>
              </a:r>
            </a:p>
          </p:txBody>
        </p:sp>
        <p:sp>
          <p:nvSpPr>
            <p:cNvPr id="41" name="Mais 40"/>
            <p:cNvSpPr/>
            <p:nvPr/>
          </p:nvSpPr>
          <p:spPr bwMode="auto">
            <a:xfrm>
              <a:off x="4088904" y="2888939"/>
              <a:ext cx="576064" cy="504056"/>
            </a:xfrm>
            <a:prstGeom prst="mathPlus">
              <a:avLst/>
            </a:prstGeom>
            <a:ln/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200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endParaRPr>
            </a:p>
          </p:txBody>
        </p:sp>
        <p:sp>
          <p:nvSpPr>
            <p:cNvPr id="42" name="CaixaDeTexto 41"/>
            <p:cNvSpPr txBox="1"/>
            <p:nvPr/>
          </p:nvSpPr>
          <p:spPr>
            <a:xfrm>
              <a:off x="8061376" y="2733146"/>
              <a:ext cx="144016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4000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Gill Sans MT" pitchFamily="34" charset="0"/>
                </a:rPr>
                <a:t>100%</a:t>
              </a:r>
              <a:endParaRPr lang="pt-BR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MT" pitchFamily="34" charset="0"/>
              </a:endParaRPr>
            </a:p>
          </p:txBody>
        </p:sp>
        <p:sp>
          <p:nvSpPr>
            <p:cNvPr id="43" name="Semicírculos 42"/>
            <p:cNvSpPr/>
            <p:nvPr/>
          </p:nvSpPr>
          <p:spPr bwMode="auto">
            <a:xfrm rot="16200000">
              <a:off x="-75652" y="2687541"/>
              <a:ext cx="2296709" cy="914399"/>
            </a:xfrm>
            <a:prstGeom prst="blockArc">
              <a:avLst/>
            </a:prstGeom>
            <a:ln/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200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endParaRPr>
            </a:p>
          </p:txBody>
        </p:sp>
        <p:sp>
          <p:nvSpPr>
            <p:cNvPr id="44" name="Semicírculos 43"/>
            <p:cNvSpPr/>
            <p:nvPr/>
          </p:nvSpPr>
          <p:spPr bwMode="auto">
            <a:xfrm rot="5400000">
              <a:off x="4679046" y="2701654"/>
              <a:ext cx="2412505" cy="914400"/>
            </a:xfrm>
            <a:prstGeom prst="blockArc">
              <a:avLst/>
            </a:prstGeom>
            <a:ln/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200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endParaRPr>
            </a:p>
          </p:txBody>
        </p:sp>
        <p:sp>
          <p:nvSpPr>
            <p:cNvPr id="45" name="Retângulo de cantos arredondados 44"/>
            <p:cNvSpPr/>
            <p:nvPr/>
          </p:nvSpPr>
          <p:spPr bwMode="auto">
            <a:xfrm>
              <a:off x="2878978" y="2204864"/>
              <a:ext cx="1220331" cy="1800200"/>
            </a:xfrm>
            <a:prstGeom prst="roundRect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pt-BR" sz="1200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tx1"/>
                </a:solidFill>
              </a:endParaRPr>
            </a:p>
          </p:txBody>
        </p:sp>
        <p:sp>
          <p:nvSpPr>
            <p:cNvPr id="46" name="Retângulo de cantos arredondados 45"/>
            <p:cNvSpPr/>
            <p:nvPr/>
          </p:nvSpPr>
          <p:spPr bwMode="auto">
            <a:xfrm>
              <a:off x="4664968" y="2240867"/>
              <a:ext cx="1220331" cy="1800200"/>
            </a:xfrm>
            <a:prstGeom prst="roundRect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pt-BR" sz="1200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tx1"/>
                </a:solidFill>
              </a:endParaRPr>
            </a:p>
          </p:txBody>
        </p:sp>
        <p:sp>
          <p:nvSpPr>
            <p:cNvPr id="47" name="CaixaDeTexto 46"/>
            <p:cNvSpPr txBox="1"/>
            <p:nvPr/>
          </p:nvSpPr>
          <p:spPr>
            <a:xfrm>
              <a:off x="2577656" y="2978404"/>
              <a:ext cx="189910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200" b="1" dirty="0" smtClean="0">
                  <a:latin typeface="Gill Sans MT" pitchFamily="34" charset="0"/>
                </a:rPr>
                <a:t>Separação</a:t>
              </a:r>
            </a:p>
          </p:txBody>
        </p:sp>
        <p:sp>
          <p:nvSpPr>
            <p:cNvPr id="48" name="CaixaDeTexto 47"/>
            <p:cNvSpPr txBox="1"/>
            <p:nvPr/>
          </p:nvSpPr>
          <p:spPr>
            <a:xfrm>
              <a:off x="4351951" y="2985338"/>
              <a:ext cx="178546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200" b="1" dirty="0" smtClean="0">
                  <a:latin typeface="Gill Sans MT" pitchFamily="34" charset="0"/>
                </a:rPr>
                <a:t>Faturamento</a:t>
              </a:r>
            </a:p>
          </p:txBody>
        </p:sp>
        <p:sp>
          <p:nvSpPr>
            <p:cNvPr id="49" name="Divisão 48"/>
            <p:cNvSpPr/>
            <p:nvPr/>
          </p:nvSpPr>
          <p:spPr bwMode="auto">
            <a:xfrm>
              <a:off x="6609184" y="2985338"/>
              <a:ext cx="487039" cy="276999"/>
            </a:xfrm>
            <a:prstGeom prst="mathDivide">
              <a:avLst/>
            </a:prstGeom>
            <a:ln/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200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endParaRPr>
            </a:p>
          </p:txBody>
        </p:sp>
        <p:sp>
          <p:nvSpPr>
            <p:cNvPr id="50" name="CaixaDeTexto 49"/>
            <p:cNvSpPr txBox="1"/>
            <p:nvPr/>
          </p:nvSpPr>
          <p:spPr>
            <a:xfrm>
              <a:off x="7157583" y="2745269"/>
              <a:ext cx="144016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4000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Gill Sans MT" pitchFamily="34" charset="0"/>
                </a:rPr>
                <a:t>3</a:t>
              </a:r>
              <a:endParaRPr lang="pt-BR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MT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05759850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3"/>
          <p:cNvSpPr>
            <a:spLocks noChangeShapeType="1"/>
          </p:cNvSpPr>
          <p:nvPr/>
        </p:nvSpPr>
        <p:spPr bwMode="auto">
          <a:xfrm>
            <a:off x="221533" y="1107281"/>
            <a:ext cx="9455200" cy="0"/>
          </a:xfrm>
          <a:prstGeom prst="line">
            <a:avLst/>
          </a:prstGeom>
          <a:noFill/>
          <a:ln w="12700">
            <a:solidFill>
              <a:srgbClr val="5E6263"/>
            </a:solidFill>
            <a:round/>
            <a:headEnd/>
            <a:tailEnd/>
          </a:ln>
          <a:effectLst>
            <a:outerShdw blurRad="38100" dist="19999" dir="5400000" algn="ctr" rotWithShape="0">
              <a:schemeClr val="bg2">
                <a:alpha val="37999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pPr algn="ctr" defTabSz="600240">
              <a:defRPr/>
            </a:pPr>
            <a:endParaRPr lang="pt-BR" sz="2800" dirty="0">
              <a:solidFill>
                <a:srgbClr val="000000"/>
              </a:solidFill>
              <a:latin typeface="Gill Sans" charset="0"/>
              <a:sym typeface="Gill Sans" charset="0"/>
            </a:endParaRPr>
          </a:p>
        </p:txBody>
      </p:sp>
      <p:sp>
        <p:nvSpPr>
          <p:cNvPr id="3" name="Line 5"/>
          <p:cNvSpPr>
            <a:spLocks noChangeShapeType="1"/>
          </p:cNvSpPr>
          <p:nvPr/>
        </p:nvSpPr>
        <p:spPr bwMode="auto">
          <a:xfrm>
            <a:off x="221533" y="6093296"/>
            <a:ext cx="9455200" cy="0"/>
          </a:xfrm>
          <a:prstGeom prst="line">
            <a:avLst/>
          </a:prstGeom>
          <a:noFill/>
          <a:ln w="12700">
            <a:solidFill>
              <a:srgbClr val="5E6263"/>
            </a:solidFill>
            <a:round/>
            <a:headEnd/>
            <a:tailEnd/>
          </a:ln>
          <a:effectLst>
            <a:outerShdw blurRad="38100" dist="19999" dir="5400000" algn="ctr" rotWithShape="0">
              <a:schemeClr val="bg2">
                <a:alpha val="37999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pPr algn="ctr" defTabSz="600240">
              <a:defRPr/>
            </a:pPr>
            <a:endParaRPr lang="pt-BR" sz="2800" dirty="0">
              <a:solidFill>
                <a:srgbClr val="000000"/>
              </a:solidFill>
              <a:latin typeface="Gill Sans" charset="0"/>
              <a:sym typeface="Gill Sans" charset="0"/>
            </a:endParaRPr>
          </a:p>
        </p:txBody>
      </p:sp>
      <p:pic>
        <p:nvPicPr>
          <p:cNvPr id="10252" name="Picture 69" descr="E:\Users\BR89654\AppData\Local\Microsoft\Windows\Temporary Internet Files\Content.IE5\2K7H9CC1\image[1]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47301"/>
          <a:stretch>
            <a:fillRect/>
          </a:stretch>
        </p:blipFill>
        <p:spPr bwMode="auto">
          <a:xfrm>
            <a:off x="8946359" y="134544"/>
            <a:ext cx="703288" cy="8227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itle 5"/>
          <p:cNvSpPr txBox="1">
            <a:spLocks/>
          </p:cNvSpPr>
          <p:nvPr/>
        </p:nvSpPr>
        <p:spPr>
          <a:xfrm>
            <a:off x="126214" y="513184"/>
            <a:ext cx="6554978" cy="363145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defPPr>
              <a:defRPr lang="en-US"/>
            </a:defPPr>
            <a:lvl1pPr defTabSz="1448569" eaLnBrk="1" fontAlgn="auto" latinLnBrk="0" hangingPunct="1">
              <a:lnSpc>
                <a:spcPct val="95000"/>
              </a:lnSpc>
              <a:spcAft>
                <a:spcPts val="0"/>
              </a:spcAft>
              <a:buNone/>
              <a:defRPr sz="2600" b="0" i="1" spc="-238">
                <a:solidFill>
                  <a:srgbClr val="000000"/>
                </a:solidFill>
                <a:latin typeface="Gill Sans Std" pitchFamily="34" charset="0"/>
                <a:ea typeface="+mj-ea"/>
                <a:cs typeface="+mj-cs"/>
              </a:defRPr>
            </a:lvl1pPr>
          </a:lstStyle>
          <a:p>
            <a:r>
              <a:rPr lang="en-US" sz="2100" dirty="0" smtClean="0"/>
              <a:t>INDICADOR_DISPONIBILIDADE </a:t>
            </a:r>
            <a:r>
              <a:rPr lang="en-US" sz="2100" dirty="0"/>
              <a:t>DE SERVIÇOS CRÍTICOS – MARCA NATURA</a:t>
            </a:r>
          </a:p>
        </p:txBody>
      </p:sp>
      <p:sp>
        <p:nvSpPr>
          <p:cNvPr id="9" name="Rectangle 3"/>
          <p:cNvSpPr>
            <a:spLocks/>
          </p:cNvSpPr>
          <p:nvPr/>
        </p:nvSpPr>
        <p:spPr bwMode="auto">
          <a:xfrm>
            <a:off x="170097" y="79267"/>
            <a:ext cx="8688215" cy="6499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t"/>
          <a:lstStyle/>
          <a:p>
            <a:pPr defTabSz="598976">
              <a:tabLst>
                <a:tab pos="232927" algn="l"/>
                <a:tab pos="465879" algn="l"/>
                <a:tab pos="698803" algn="l"/>
                <a:tab pos="931749" algn="l"/>
                <a:tab pos="1164693" algn="l"/>
                <a:tab pos="1397627" algn="l"/>
                <a:tab pos="1630573" algn="l"/>
                <a:tab pos="1863509" algn="l"/>
                <a:tab pos="2096452" algn="l"/>
                <a:tab pos="2329384" algn="l"/>
                <a:tab pos="2562325" algn="l"/>
                <a:tab pos="2795263" algn="l"/>
                <a:tab pos="2994920" algn="l"/>
              </a:tabLst>
            </a:pPr>
            <a:r>
              <a:rPr lang="en-US" dirty="0" smtClean="0">
                <a:latin typeface="Gill Sans Std" charset="0"/>
                <a:ea typeface="ＭＳ Ｐゴシック" charset="0"/>
                <a:cs typeface="ＭＳ Ｐゴシック" charset="0"/>
                <a:sym typeface="Gill Sans Std" charset="0"/>
              </a:rPr>
              <a:t>INDICADORES </a:t>
            </a:r>
            <a:r>
              <a:rPr lang="en-US" dirty="0">
                <a:solidFill>
                  <a:srgbClr val="FFC000"/>
                </a:solidFill>
                <a:latin typeface="Gill Sans Std ExtraBold" pitchFamily="34" charset="0"/>
                <a:ea typeface="ＭＳ Ｐゴシック" charset="0"/>
                <a:cs typeface="ＭＳ Ｐゴシック" charset="0"/>
                <a:sym typeface="Gill Sans Std" charset="0"/>
              </a:rPr>
              <a:t>//HABILITADOR INFRAESTRUTURA DIGITAL</a:t>
            </a:r>
          </a:p>
        </p:txBody>
      </p:sp>
      <p:sp>
        <p:nvSpPr>
          <p:cNvPr id="17" name="Retângulo 16"/>
          <p:cNvSpPr/>
          <p:nvPr/>
        </p:nvSpPr>
        <p:spPr>
          <a:xfrm>
            <a:off x="6225517" y="1146022"/>
            <a:ext cx="3685912" cy="4895648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txBody>
          <a:bodyPr wrap="square" lIns="33729" tIns="16863" rIns="33729" bIns="16863" anchor="t">
            <a:noAutofit/>
          </a:bodyPr>
          <a:lstStyle/>
          <a:p>
            <a:pPr marL="33976" defTabSz="266077" eaLnBrk="0" hangingPunct="0">
              <a:buClr>
                <a:prstClr val="white">
                  <a:lumMod val="50000"/>
                </a:prstClr>
              </a:buClr>
            </a:pPr>
            <a:r>
              <a:rPr lang="pt-BR" sz="1300" b="1" dirty="0">
                <a:solidFill>
                  <a:prstClr val="black"/>
                </a:solidFill>
                <a:latin typeface="Gill Sans Std" pitchFamily="34" charset="0"/>
                <a:ea typeface="ＭＳ Ｐゴシック" pitchFamily="2" charset="-128"/>
                <a:cs typeface="Times New Roman" pitchFamily="18" charset="0"/>
              </a:rPr>
              <a:t>RESPONSÁVEL PELO INDICADOR: </a:t>
            </a:r>
            <a:r>
              <a:rPr lang="pt-BR" sz="1300" dirty="0">
                <a:solidFill>
                  <a:prstClr val="black"/>
                </a:solidFill>
                <a:latin typeface="Gill Sans Std" pitchFamily="34" charset="0"/>
                <a:ea typeface="ＭＳ Ｐゴシック" pitchFamily="2" charset="-128"/>
                <a:cs typeface="Times New Roman" pitchFamily="18" charset="0"/>
              </a:rPr>
              <a:t> </a:t>
            </a:r>
          </a:p>
          <a:p>
            <a:pPr marL="33976" defTabSz="266077" eaLnBrk="0" hangingPunct="0">
              <a:buClr>
                <a:prstClr val="white">
                  <a:lumMod val="50000"/>
                </a:prstClr>
              </a:buClr>
            </a:pPr>
            <a:r>
              <a:rPr lang="pt-BR" sz="1300" dirty="0">
                <a:solidFill>
                  <a:prstClr val="black"/>
                </a:solidFill>
                <a:latin typeface="Gill Sans Std" pitchFamily="34" charset="0"/>
                <a:ea typeface="ＭＳ Ｐゴシック" pitchFamily="2" charset="-128"/>
                <a:cs typeface="Times New Roman" pitchFamily="18" charset="0"/>
              </a:rPr>
              <a:t>Fábio Koreeda</a:t>
            </a:r>
          </a:p>
          <a:p>
            <a:pPr marL="33976" defTabSz="266077" eaLnBrk="0" hangingPunct="0">
              <a:buClr>
                <a:prstClr val="white">
                  <a:lumMod val="50000"/>
                </a:prstClr>
              </a:buClr>
            </a:pPr>
            <a:r>
              <a:rPr lang="pt-BR" sz="1300" b="1" dirty="0">
                <a:solidFill>
                  <a:prstClr val="black"/>
                </a:solidFill>
                <a:latin typeface="Gill Sans Std" pitchFamily="34" charset="0"/>
                <a:ea typeface="ＭＳ Ｐゴシック" pitchFamily="2" charset="-128"/>
                <a:cs typeface="Times New Roman" pitchFamily="18" charset="0"/>
              </a:rPr>
              <a:t>ABRANGÊNCIA: </a:t>
            </a:r>
          </a:p>
          <a:p>
            <a:pPr marL="33976" defTabSz="266077" eaLnBrk="0" hangingPunct="0">
              <a:buClr>
                <a:prstClr val="white">
                  <a:lumMod val="50000"/>
                </a:prstClr>
              </a:buClr>
            </a:pPr>
            <a:r>
              <a:rPr lang="pt-BR" sz="1300" dirty="0">
                <a:solidFill>
                  <a:prstClr val="black"/>
                </a:solidFill>
                <a:latin typeface="Gill Sans Std" pitchFamily="34" charset="0"/>
                <a:ea typeface="ＭＳ Ｐゴシック" pitchFamily="2" charset="-128"/>
                <a:cs typeface="Times New Roman" pitchFamily="18" charset="0"/>
              </a:rPr>
              <a:t>Marca Natura - Brasil e OIs</a:t>
            </a:r>
          </a:p>
          <a:p>
            <a:pPr marL="33976" defTabSz="266077" eaLnBrk="0" hangingPunct="0">
              <a:buClr>
                <a:prstClr val="white">
                  <a:lumMod val="50000"/>
                </a:prstClr>
              </a:buClr>
            </a:pPr>
            <a:r>
              <a:rPr lang="pt-BR" sz="1300" b="1" dirty="0">
                <a:solidFill>
                  <a:prstClr val="black"/>
                </a:solidFill>
                <a:latin typeface="Gill Sans Std" pitchFamily="34" charset="0"/>
                <a:ea typeface="ＭＳ Ｐゴシック" pitchFamily="2" charset="-128"/>
                <a:cs typeface="Times New Roman" pitchFamily="18" charset="0"/>
              </a:rPr>
              <a:t>2014</a:t>
            </a:r>
            <a:r>
              <a:rPr lang="pt-BR" sz="1300" b="1" dirty="0">
                <a:solidFill>
                  <a:srgbClr val="000000"/>
                </a:solidFill>
                <a:latin typeface="Gill Sans Std" pitchFamily="34" charset="0"/>
                <a:ea typeface="ＭＳ Ｐゴシック" pitchFamily="2" charset="-128"/>
                <a:cs typeface="Times New Roman" pitchFamily="18" charset="0"/>
              </a:rPr>
              <a:t>: </a:t>
            </a:r>
            <a:r>
              <a:rPr lang="pt-BR" sz="1300" dirty="0">
                <a:solidFill>
                  <a:srgbClr val="000000"/>
                </a:solidFill>
                <a:latin typeface="Gill Sans Std" pitchFamily="34" charset="0"/>
                <a:ea typeface="ＭＳ Ｐゴシック" pitchFamily="2" charset="-128"/>
                <a:cs typeface="Times New Roman" pitchFamily="18" charset="0"/>
              </a:rPr>
              <a:t>Meta 99,57 / Realizado 99,67 / 99,47 (1 Sem)</a:t>
            </a:r>
          </a:p>
          <a:p>
            <a:pPr marL="33976" defTabSz="266077" eaLnBrk="0" hangingPunct="0">
              <a:buClr>
                <a:prstClr val="white">
                  <a:lumMod val="50000"/>
                </a:prstClr>
              </a:buClr>
            </a:pPr>
            <a:r>
              <a:rPr lang="pt-BR" sz="1300" b="1" dirty="0">
                <a:solidFill>
                  <a:prstClr val="black"/>
                </a:solidFill>
                <a:latin typeface="Gill Sans Std" pitchFamily="34" charset="0"/>
                <a:ea typeface="ＭＳ Ｐゴシック" pitchFamily="2" charset="-128"/>
                <a:cs typeface="Times New Roman" pitchFamily="18" charset="0"/>
              </a:rPr>
              <a:t>OBS</a:t>
            </a:r>
            <a:r>
              <a:rPr lang="pt-BR" sz="1300" dirty="0">
                <a:solidFill>
                  <a:prstClr val="black"/>
                </a:solidFill>
                <a:latin typeface="Gill Sans Std" pitchFamily="34" charset="0"/>
                <a:ea typeface="ＭＳ Ｐゴシック" pitchFamily="2" charset="-128"/>
                <a:cs typeface="Times New Roman" pitchFamily="18" charset="0"/>
              </a:rPr>
              <a:t>:  Alteração da forma de consolidação  de pontuação para % em 2014: Brasil peso 87% e OIs 13%. Integra 3 Serviços Críticos com diferentes pesos: Captação de Pedidos (BR 60%/OIs 33%), Faturamento (BR 20%/OIs 33%) e Relacionamento (BR 20%/OIs 33%); não contabiliza paradas programadas planejadas e acordadas com parceiros de negócio.</a:t>
            </a:r>
          </a:p>
          <a:p>
            <a:pPr marL="33976" defTabSz="266077" eaLnBrk="0" hangingPunct="0">
              <a:buClr>
                <a:prstClr val="white">
                  <a:lumMod val="50000"/>
                </a:prstClr>
              </a:buClr>
            </a:pPr>
            <a:r>
              <a:rPr lang="pt-BR" sz="1300" b="1" dirty="0">
                <a:solidFill>
                  <a:prstClr val="black"/>
                </a:solidFill>
                <a:latin typeface="Gill Sans Std" pitchFamily="34" charset="0"/>
                <a:ea typeface="ＭＳ Ｐゴシック" pitchFamily="2" charset="-128"/>
                <a:cs typeface="Times New Roman" pitchFamily="18" charset="0"/>
              </a:rPr>
              <a:t>PREMISSAS PARA AMBIÇÕES 2015-2019: </a:t>
            </a:r>
          </a:p>
          <a:p>
            <a:r>
              <a:rPr lang="pt-BR" sz="1300" dirty="0">
                <a:solidFill>
                  <a:srgbClr val="000000"/>
                </a:solidFill>
                <a:latin typeface="Gill Sans Std" pitchFamily="34" charset="0"/>
              </a:rPr>
              <a:t>_ Estratégia de evolução de infraestrutura/ sistemas considera incremento de investimentos a partir de 2016.</a:t>
            </a:r>
          </a:p>
          <a:p>
            <a:r>
              <a:rPr lang="pt-BR" sz="1300" dirty="0">
                <a:solidFill>
                  <a:srgbClr val="000000"/>
                </a:solidFill>
                <a:latin typeface="Gill Sans Std" pitchFamily="34" charset="0"/>
              </a:rPr>
              <a:t>_ Ganhos de nível de serviço na disponibilização dos Projeto BES – Infraestrutura (2014-2015), Capta on-line, SAP CRM e Plusoft.</a:t>
            </a:r>
          </a:p>
          <a:p>
            <a:r>
              <a:rPr lang="pt-BR" sz="1300" dirty="0">
                <a:solidFill>
                  <a:srgbClr val="000000"/>
                </a:solidFill>
                <a:latin typeface="Gill Sans Std" pitchFamily="34" charset="0"/>
              </a:rPr>
              <a:t>_ Ganhos adicionais com Projeto BES – Aplicações (2015) e execução do roadmap de evolução infraestrutura/arquitetura de sistemas (Mapa de Sistemas TO BE 2015-2018</a:t>
            </a:r>
            <a:r>
              <a:rPr lang="pt-BR" sz="1300" dirty="0" smtClean="0">
                <a:solidFill>
                  <a:srgbClr val="000000"/>
                </a:solidFill>
                <a:latin typeface="Gill Sans Std" pitchFamily="34" charset="0"/>
              </a:rPr>
              <a:t>).</a:t>
            </a:r>
            <a:endParaRPr lang="pt-BR" sz="1300" dirty="0">
              <a:solidFill>
                <a:srgbClr val="000000"/>
              </a:solidFill>
              <a:latin typeface="Gill Sans Std" pitchFamily="34" charset="0"/>
              <a:ea typeface="ＭＳ Ｐゴシック" pitchFamily="2" charset="-128"/>
              <a:cs typeface="Times New Roman" pitchFamily="18" charset="0"/>
            </a:endParaRPr>
          </a:p>
          <a:p>
            <a:pPr defTabSz="938773"/>
            <a:endParaRPr lang="pt-BR" sz="1300" dirty="0">
              <a:solidFill>
                <a:srgbClr val="000000"/>
              </a:solidFill>
              <a:latin typeface="Gill Sans Std" pitchFamily="34" charset="0"/>
              <a:ea typeface="ＭＳ Ｐゴシック" pitchFamily="2" charset="-128"/>
              <a:cs typeface="Times New Roman" pitchFamily="18" charset="0"/>
            </a:endParaRPr>
          </a:p>
        </p:txBody>
      </p:sp>
      <p:pic>
        <p:nvPicPr>
          <p:cNvPr id="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187" y="1146010"/>
            <a:ext cx="5926001" cy="44655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9" name="CaixaDeTexto 18"/>
          <p:cNvSpPr txBox="1"/>
          <p:nvPr/>
        </p:nvSpPr>
        <p:spPr>
          <a:xfrm>
            <a:off x="488504" y="5611603"/>
            <a:ext cx="5595684" cy="43006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lIns="60137" tIns="30074" rIns="60137" bIns="30074" rtlCol="0">
            <a:spAutoFit/>
          </a:bodyPr>
          <a:lstStyle/>
          <a:p>
            <a:r>
              <a:rPr lang="pt-BR" sz="1200" dirty="0">
                <a:solidFill>
                  <a:srgbClr val="000000"/>
                </a:solidFill>
              </a:rPr>
              <a:t>Curva de ambição projetada no PEN anterior (métrica de números absolutos) não é comparável à projeção 2015-2019 (métrica ponderada).</a:t>
            </a:r>
          </a:p>
        </p:txBody>
      </p:sp>
      <p:pic>
        <p:nvPicPr>
          <p:cNvPr id="4097" name="Picture 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6603" y="6165304"/>
            <a:ext cx="5038725" cy="447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" name="Text Box 12"/>
          <p:cNvSpPr txBox="1">
            <a:spLocks noChangeArrowheads="1"/>
          </p:cNvSpPr>
          <p:nvPr/>
        </p:nvSpPr>
        <p:spPr bwMode="auto">
          <a:xfrm>
            <a:off x="890177" y="6189086"/>
            <a:ext cx="197459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pt-BR" sz="2000" b="1" dirty="0" smtClean="0">
                <a:solidFill>
                  <a:srgbClr val="009999"/>
                </a:solidFill>
                <a:latin typeface="Gill Sans MT" pitchFamily="34" charset="0"/>
              </a:rPr>
              <a:t>Objetivo 2015:</a:t>
            </a:r>
            <a:endParaRPr lang="pt-BR" sz="2000" b="1" dirty="0">
              <a:solidFill>
                <a:srgbClr val="009999"/>
              </a:solidFill>
              <a:latin typeface="Gill Sans MT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8757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de cantos arredondados 2"/>
          <p:cNvSpPr/>
          <p:nvPr/>
        </p:nvSpPr>
        <p:spPr bwMode="auto">
          <a:xfrm>
            <a:off x="344488" y="3994431"/>
            <a:ext cx="9145016" cy="2503448"/>
          </a:xfrm>
          <a:prstGeom prst="roundRect">
            <a:avLst/>
          </a:prstGeom>
          <a:solidFill>
            <a:schemeClr val="accent5">
              <a:lumMod val="40000"/>
              <a:lumOff val="60000"/>
              <a:alpha val="0"/>
            </a:schemeClr>
          </a:solidFill>
          <a:ln w="12700">
            <a:solidFill>
              <a:schemeClr val="tx2">
                <a:alpha val="71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b="1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noFill/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6" name="Retângulo de cantos arredondados 5"/>
          <p:cNvSpPr/>
          <p:nvPr/>
        </p:nvSpPr>
        <p:spPr>
          <a:xfrm>
            <a:off x="88904" y="116632"/>
            <a:ext cx="9769152" cy="648072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>
            <a:noFill/>
            <a:miter lim="800000"/>
            <a:headEnd/>
            <a:tailEnd/>
          </a:ln>
        </p:spPr>
        <p:txBody>
          <a:bodyPr rot="10800000" wrap="none" anchor="ctr"/>
          <a:lstStyle/>
          <a:p>
            <a:pPr eaLnBrk="0" hangingPunct="0">
              <a:defRPr/>
            </a:pPr>
            <a:endParaRPr lang="pt-BR" sz="2000" b="1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488504" y="260648"/>
            <a:ext cx="9001000" cy="62478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pt-BR" sz="2000" b="1" dirty="0" smtClean="0">
                <a:latin typeface="Gill Sans MT" pitchFamily="34" charset="0"/>
              </a:rPr>
              <a:t>Medição - Captação</a:t>
            </a:r>
            <a:endParaRPr lang="pt-BR" sz="2000" b="1" dirty="0">
              <a:latin typeface="Gill Sans MT" pitchFamily="34" charset="0"/>
            </a:endParaRPr>
          </a:p>
          <a:p>
            <a:r>
              <a:rPr lang="pt-BR" dirty="0"/>
              <a:t> </a:t>
            </a:r>
          </a:p>
          <a:p>
            <a:r>
              <a:rPr lang="pt-BR" sz="1400" b="1" dirty="0">
                <a:latin typeface="Gill Sans MT" pitchFamily="34" charset="0"/>
              </a:rPr>
              <a:t>Objetivo: </a:t>
            </a:r>
            <a:r>
              <a:rPr lang="pt-BR" sz="1400" dirty="0" smtClean="0">
                <a:latin typeface="Gill Sans MT" pitchFamily="34" charset="0"/>
              </a:rPr>
              <a:t> Mensurar </a:t>
            </a:r>
            <a:r>
              <a:rPr lang="pt-BR" sz="1400" dirty="0">
                <a:latin typeface="Gill Sans MT" pitchFamily="34" charset="0"/>
              </a:rPr>
              <a:t>a disponibilidade da Captação de Pedidos, que é composta </a:t>
            </a:r>
            <a:r>
              <a:rPr lang="pt-BR" sz="1400" dirty="0" smtClean="0">
                <a:latin typeface="Gill Sans MT" pitchFamily="34" charset="0"/>
              </a:rPr>
              <a:t>pelos sistemas/interfaces listadas abaixo.</a:t>
            </a:r>
          </a:p>
          <a:p>
            <a:endParaRPr lang="pt-BR" sz="1400" dirty="0">
              <a:latin typeface="Gill Sans MT" pitchFamily="34" charset="0"/>
            </a:endParaRPr>
          </a:p>
          <a:p>
            <a:r>
              <a:rPr lang="pt-BR" sz="1400" b="1" dirty="0">
                <a:latin typeface="Gill Sans MT" pitchFamily="34" charset="0"/>
              </a:rPr>
              <a:t>Racional: </a:t>
            </a:r>
            <a:r>
              <a:rPr lang="pt-BR" sz="1400" dirty="0">
                <a:latin typeface="Gill Sans MT" pitchFamily="34" charset="0"/>
              </a:rPr>
              <a:t>O peso de cada </a:t>
            </a:r>
            <a:r>
              <a:rPr lang="pt-BR" sz="1400" dirty="0" smtClean="0">
                <a:latin typeface="Gill Sans MT" pitchFamily="34" charset="0"/>
              </a:rPr>
              <a:t>sistema será </a:t>
            </a:r>
            <a:r>
              <a:rPr lang="pt-BR" sz="1400" dirty="0">
                <a:latin typeface="Gill Sans MT" pitchFamily="34" charset="0"/>
              </a:rPr>
              <a:t>multiplicado pelo indicador individual </a:t>
            </a:r>
            <a:r>
              <a:rPr lang="pt-BR" sz="1400" dirty="0" smtClean="0">
                <a:latin typeface="Gill Sans MT" pitchFamily="34" charset="0"/>
              </a:rPr>
              <a:t>apurado</a:t>
            </a:r>
            <a:endParaRPr lang="pt-BR" sz="1400" dirty="0">
              <a:latin typeface="Gill Sans MT" pitchFamily="34" charset="0"/>
            </a:endParaRPr>
          </a:p>
          <a:p>
            <a:r>
              <a:rPr lang="pt-BR" sz="1400" i="1" dirty="0">
                <a:latin typeface="Gill Sans MT" pitchFamily="34" charset="0"/>
              </a:rPr>
              <a:t>=(Indicador Disponibilidade </a:t>
            </a:r>
            <a:r>
              <a:rPr lang="pt-BR" sz="1400" i="1" dirty="0" err="1">
                <a:latin typeface="Gill Sans MT" pitchFamily="34" charset="0"/>
              </a:rPr>
              <a:t>CaptaCan</a:t>
            </a:r>
            <a:r>
              <a:rPr lang="pt-BR" sz="1400" i="1" dirty="0">
                <a:latin typeface="Gill Sans MT" pitchFamily="34" charset="0"/>
              </a:rPr>
              <a:t> * Peso </a:t>
            </a:r>
            <a:r>
              <a:rPr lang="pt-BR" sz="1400" i="1" dirty="0" err="1">
                <a:latin typeface="Gill Sans MT" pitchFamily="34" charset="0"/>
              </a:rPr>
              <a:t>CaptaCan</a:t>
            </a:r>
            <a:r>
              <a:rPr lang="pt-BR" sz="1400" i="1" dirty="0">
                <a:latin typeface="Gill Sans MT" pitchFamily="34" charset="0"/>
              </a:rPr>
              <a:t>) + (Indicador Disponibilidade </a:t>
            </a:r>
            <a:r>
              <a:rPr lang="pt-BR" sz="1400" i="1" dirty="0" err="1">
                <a:latin typeface="Gill Sans MT" pitchFamily="34" charset="0"/>
              </a:rPr>
              <a:t>CaptaWEB</a:t>
            </a:r>
            <a:r>
              <a:rPr lang="pt-BR" sz="1400" i="1" dirty="0">
                <a:latin typeface="Gill Sans MT" pitchFamily="34" charset="0"/>
              </a:rPr>
              <a:t> * Peso </a:t>
            </a:r>
            <a:r>
              <a:rPr lang="pt-BR" sz="1400" i="1" dirty="0" err="1">
                <a:latin typeface="Gill Sans MT" pitchFamily="34" charset="0"/>
              </a:rPr>
              <a:t>CaptaWEB</a:t>
            </a:r>
            <a:r>
              <a:rPr lang="pt-BR" sz="1400" i="1" dirty="0">
                <a:latin typeface="Gill Sans MT" pitchFamily="34" charset="0"/>
              </a:rPr>
              <a:t>)+ (Indicador Disponibilidade </a:t>
            </a:r>
            <a:r>
              <a:rPr lang="pt-BR" sz="1400" i="1" dirty="0" smtClean="0">
                <a:latin typeface="Gill Sans MT" pitchFamily="34" charset="0"/>
              </a:rPr>
              <a:t>Rede </a:t>
            </a:r>
            <a:r>
              <a:rPr lang="pt-BR" sz="1400" i="1" dirty="0">
                <a:latin typeface="Gill Sans MT" pitchFamily="34" charset="0"/>
              </a:rPr>
              <a:t>* Peso </a:t>
            </a:r>
            <a:r>
              <a:rPr lang="pt-BR" sz="1400" i="1" dirty="0" smtClean="0">
                <a:latin typeface="Gill Sans MT" pitchFamily="34" charset="0"/>
              </a:rPr>
              <a:t>Rede</a:t>
            </a:r>
            <a:r>
              <a:rPr lang="pt-BR" sz="1400" i="1" dirty="0">
                <a:latin typeface="Gill Sans MT" pitchFamily="34" charset="0"/>
              </a:rPr>
              <a:t>)</a:t>
            </a:r>
          </a:p>
          <a:p>
            <a:r>
              <a:rPr lang="pt-BR" sz="1400" dirty="0">
                <a:latin typeface="Gill Sans MT" pitchFamily="34" charset="0"/>
              </a:rPr>
              <a:t> </a:t>
            </a:r>
          </a:p>
          <a:p>
            <a:r>
              <a:rPr lang="pt-BR" sz="1400" b="1" dirty="0">
                <a:latin typeface="Gill Sans MT" pitchFamily="34" charset="0"/>
              </a:rPr>
              <a:t>Nota: </a:t>
            </a:r>
            <a:r>
              <a:rPr lang="pt-BR" sz="1400" dirty="0" smtClean="0">
                <a:latin typeface="Gill Sans MT" pitchFamily="34" charset="0"/>
              </a:rPr>
              <a:t>Pesos </a:t>
            </a:r>
            <a:r>
              <a:rPr lang="pt-BR" sz="1400" dirty="0">
                <a:latin typeface="Gill Sans MT" pitchFamily="34" charset="0"/>
              </a:rPr>
              <a:t>para cada </a:t>
            </a:r>
            <a:r>
              <a:rPr lang="pt-BR" sz="1400" dirty="0" smtClean="0">
                <a:latin typeface="Gill Sans MT" pitchFamily="34" charset="0"/>
              </a:rPr>
              <a:t>sistema conforme </a:t>
            </a:r>
            <a:r>
              <a:rPr lang="pt-BR" sz="1400" dirty="0">
                <a:latin typeface="Gill Sans MT" pitchFamily="34" charset="0"/>
              </a:rPr>
              <a:t>a representatividade sobre o total de Pedidos Captados no ano de </a:t>
            </a:r>
            <a:r>
              <a:rPr lang="pt-BR" sz="1400" dirty="0" smtClean="0">
                <a:latin typeface="Gill Sans MT" pitchFamily="34" charset="0"/>
              </a:rPr>
              <a:t>2014, conforme abaixo:</a:t>
            </a:r>
            <a:endParaRPr lang="pt-BR" sz="1400" dirty="0">
              <a:latin typeface="Gill Sans MT" pitchFamily="34" charset="0"/>
            </a:endParaRPr>
          </a:p>
          <a:p>
            <a:pPr lvl="1"/>
            <a:r>
              <a:rPr lang="pt-BR" sz="1400" dirty="0" err="1">
                <a:latin typeface="Gill Sans MT" pitchFamily="34" charset="0"/>
              </a:rPr>
              <a:t>CaptaCAN</a:t>
            </a:r>
            <a:r>
              <a:rPr lang="pt-BR" sz="1400" dirty="0">
                <a:latin typeface="Gill Sans MT" pitchFamily="34" charset="0"/>
              </a:rPr>
              <a:t> </a:t>
            </a:r>
            <a:r>
              <a:rPr lang="pt-BR" sz="1400" dirty="0" smtClean="0">
                <a:latin typeface="Gill Sans MT" pitchFamily="34" charset="0"/>
              </a:rPr>
              <a:t>1%</a:t>
            </a:r>
            <a:endParaRPr lang="pt-BR" sz="1400" dirty="0">
              <a:latin typeface="Gill Sans MT" pitchFamily="34" charset="0"/>
            </a:endParaRPr>
          </a:p>
          <a:p>
            <a:pPr lvl="1"/>
            <a:r>
              <a:rPr lang="pt-BR" sz="1400" dirty="0">
                <a:latin typeface="Gill Sans MT" pitchFamily="34" charset="0"/>
              </a:rPr>
              <a:t>Rede </a:t>
            </a:r>
            <a:r>
              <a:rPr lang="pt-BR" sz="1400" dirty="0" smtClean="0">
                <a:latin typeface="Gill Sans MT" pitchFamily="34" charset="0"/>
              </a:rPr>
              <a:t>         1</a:t>
            </a:r>
            <a:r>
              <a:rPr lang="pt-BR" sz="1400" dirty="0">
                <a:latin typeface="Gill Sans MT" pitchFamily="34" charset="0"/>
              </a:rPr>
              <a:t>% </a:t>
            </a:r>
            <a:r>
              <a:rPr lang="pt-BR" sz="1200" dirty="0">
                <a:latin typeface="Gill Sans MT" pitchFamily="34" charset="0"/>
              </a:rPr>
              <a:t>(Arredondado, pois representatividade real do REDE para a captação geral de pedidos Natura foi de 0,5% em </a:t>
            </a:r>
            <a:r>
              <a:rPr lang="pt-BR" sz="1200" dirty="0" smtClean="0">
                <a:latin typeface="Gill Sans MT" pitchFamily="34" charset="0"/>
              </a:rPr>
              <a:t>2014)</a:t>
            </a:r>
            <a:endParaRPr lang="pt-BR" sz="1400" dirty="0">
              <a:latin typeface="Gill Sans MT" pitchFamily="34" charset="0"/>
            </a:endParaRPr>
          </a:p>
          <a:p>
            <a:pPr lvl="1"/>
            <a:r>
              <a:rPr lang="pt-BR" sz="1400" dirty="0" err="1" smtClean="0">
                <a:latin typeface="Gill Sans MT" pitchFamily="34" charset="0"/>
              </a:rPr>
              <a:t>CaptaWEB</a:t>
            </a:r>
            <a:r>
              <a:rPr lang="pt-BR" sz="1400" dirty="0" smtClean="0">
                <a:latin typeface="Gill Sans MT" pitchFamily="34" charset="0"/>
              </a:rPr>
              <a:t> 98%</a:t>
            </a:r>
            <a:endParaRPr lang="pt-BR" sz="1400" dirty="0">
              <a:latin typeface="Gill Sans MT" pitchFamily="34" charset="0"/>
            </a:endParaRPr>
          </a:p>
          <a:p>
            <a:pPr lvl="1"/>
            <a:endParaRPr lang="pt-BR" sz="1400" dirty="0">
              <a:latin typeface="Gill Sans MT" pitchFamily="34" charset="0"/>
            </a:endParaRPr>
          </a:p>
          <a:p>
            <a:pPr lvl="0"/>
            <a:r>
              <a:rPr lang="pt-BR" sz="1400" dirty="0" smtClean="0">
                <a:latin typeface="Gill Sans MT" pitchFamily="34" charset="0"/>
              </a:rPr>
              <a:t>Verificação </a:t>
            </a:r>
            <a:r>
              <a:rPr lang="pt-BR" sz="1400" dirty="0">
                <a:latin typeface="Gill Sans MT" pitchFamily="34" charset="0"/>
              </a:rPr>
              <a:t>de tempo de indisponibilidade apurado no incidente pelo NCC, através do output gerado pelas ferramentas “Mercury” e “</a:t>
            </a:r>
            <a:r>
              <a:rPr lang="pt-BR" sz="1400" dirty="0" err="1">
                <a:latin typeface="Gill Sans MT" pitchFamily="34" charset="0"/>
              </a:rPr>
              <a:t>Nisoft</a:t>
            </a:r>
            <a:r>
              <a:rPr lang="pt-BR" sz="1400" dirty="0">
                <a:latin typeface="Gill Sans MT" pitchFamily="34" charset="0"/>
              </a:rPr>
              <a:t>”.</a:t>
            </a:r>
          </a:p>
          <a:p>
            <a:pPr lvl="1"/>
            <a:endParaRPr lang="pt-BR" sz="1200" dirty="0">
              <a:latin typeface="Gill Sans MT" pitchFamily="34" charset="0"/>
            </a:endParaRPr>
          </a:p>
          <a:p>
            <a:r>
              <a:rPr lang="pt-BR" sz="1400" dirty="0">
                <a:solidFill>
                  <a:schemeClr val="accent6">
                    <a:lumMod val="75000"/>
                  </a:schemeClr>
                </a:solidFill>
                <a:latin typeface="Gill Sans MT" pitchFamily="34" charset="0"/>
              </a:rPr>
              <a:t>Capta CAN (Disponibilidade)</a:t>
            </a:r>
          </a:p>
          <a:p>
            <a:r>
              <a:rPr lang="pt-BR" sz="1200" dirty="0">
                <a:latin typeface="Gill Sans MT" pitchFamily="34" charset="0"/>
              </a:rPr>
              <a:t>O </a:t>
            </a:r>
            <a:r>
              <a:rPr lang="pt-BR" sz="1200" dirty="0">
                <a:latin typeface="Gill Sans MT" pitchFamily="34" charset="0"/>
              </a:rPr>
              <a:t>Tempo Máximo Disponibilidade Dia do Capta CAN é de 840 minutos (08:00 as 22:00) de segunda a sexta-feira e de 720 minutos ( 08:00 as 20:00 ) aos sábados.  Calculo para porcentagem de disponibilidade:</a:t>
            </a:r>
          </a:p>
          <a:p>
            <a:r>
              <a:rPr lang="pt-BR" sz="1200" dirty="0">
                <a:latin typeface="Gill Sans MT" pitchFamily="34" charset="0"/>
              </a:rPr>
              <a:t>=(tempo máximo de disponibilidade dia – tempo de indisponibilidade dia) ÷ (tempo máximo de disponibilidade dia</a:t>
            </a:r>
            <a:r>
              <a:rPr lang="pt-BR" sz="1200" dirty="0" smtClean="0">
                <a:latin typeface="Gill Sans MT" pitchFamily="34" charset="0"/>
              </a:rPr>
              <a:t>)</a:t>
            </a:r>
            <a:endParaRPr lang="pt-BR" sz="1100" dirty="0">
              <a:latin typeface="Gill Sans MT" pitchFamily="34" charset="0"/>
            </a:endParaRPr>
          </a:p>
          <a:p>
            <a:endParaRPr lang="pt-BR" sz="1400" dirty="0">
              <a:solidFill>
                <a:schemeClr val="accent6">
                  <a:lumMod val="75000"/>
                </a:schemeClr>
              </a:solidFill>
              <a:latin typeface="Gill Sans MT" pitchFamily="34" charset="0"/>
            </a:endParaRPr>
          </a:p>
          <a:p>
            <a:r>
              <a:rPr lang="pt-BR" sz="1400" dirty="0" smtClean="0">
                <a:solidFill>
                  <a:schemeClr val="accent6">
                    <a:lumMod val="75000"/>
                  </a:schemeClr>
                </a:solidFill>
                <a:latin typeface="Gill Sans MT" pitchFamily="34" charset="0"/>
              </a:rPr>
              <a:t>CAPTA </a:t>
            </a:r>
            <a:r>
              <a:rPr lang="pt-BR" sz="1400" dirty="0">
                <a:solidFill>
                  <a:schemeClr val="accent6">
                    <a:lumMod val="75000"/>
                  </a:schemeClr>
                </a:solidFill>
                <a:latin typeface="Gill Sans MT" pitchFamily="34" charset="0"/>
              </a:rPr>
              <a:t>WEB (</a:t>
            </a:r>
            <a:r>
              <a:rPr lang="pt-BR" sz="1400" dirty="0" smtClean="0">
                <a:solidFill>
                  <a:schemeClr val="accent6">
                    <a:lumMod val="75000"/>
                  </a:schemeClr>
                </a:solidFill>
                <a:latin typeface="Gill Sans MT" pitchFamily="34" charset="0"/>
              </a:rPr>
              <a:t>Disponibilidade)</a:t>
            </a:r>
          </a:p>
          <a:p>
            <a:r>
              <a:rPr lang="pt-BR" sz="1200" dirty="0">
                <a:latin typeface="Gill Sans MT" pitchFamily="34" charset="0"/>
              </a:rPr>
              <a:t>O Tempo Máximo Disponibilidade Dia do Capta Web é de 1440 minutos (24x7). </a:t>
            </a:r>
            <a:r>
              <a:rPr lang="pt-BR" sz="1200" dirty="0">
                <a:latin typeface="Gill Sans MT" pitchFamily="34" charset="0"/>
              </a:rPr>
              <a:t>Calculo para porcentagem de </a:t>
            </a:r>
            <a:r>
              <a:rPr lang="pt-BR" sz="1200" dirty="0" smtClean="0">
                <a:latin typeface="Gill Sans MT" pitchFamily="34" charset="0"/>
              </a:rPr>
              <a:t>disponibilidade:</a:t>
            </a:r>
          </a:p>
          <a:p>
            <a:r>
              <a:rPr lang="pt-BR" sz="1200" dirty="0">
                <a:latin typeface="Gill Sans MT" pitchFamily="34" charset="0"/>
              </a:rPr>
              <a:t>=(tempo máximo de disponibilidade dia – tempo de indisponibilidade dia) ÷ (tempo máximo de disponibilidade dia</a:t>
            </a:r>
            <a:r>
              <a:rPr lang="pt-BR" sz="1200" dirty="0" smtClean="0">
                <a:latin typeface="Gill Sans MT" pitchFamily="34" charset="0"/>
              </a:rPr>
              <a:t>)</a:t>
            </a:r>
          </a:p>
          <a:p>
            <a:pPr lvl="0"/>
            <a:endParaRPr lang="pt-BR" sz="1400" dirty="0" smtClean="0">
              <a:solidFill>
                <a:schemeClr val="accent6">
                  <a:lumMod val="75000"/>
                </a:schemeClr>
              </a:solidFill>
              <a:latin typeface="Gill Sans MT" pitchFamily="34" charset="0"/>
            </a:endParaRPr>
          </a:p>
          <a:p>
            <a:pPr lvl="0"/>
            <a:r>
              <a:rPr lang="pt-BR" sz="1400" dirty="0" smtClean="0">
                <a:solidFill>
                  <a:schemeClr val="accent6">
                    <a:lumMod val="75000"/>
                  </a:schemeClr>
                </a:solidFill>
                <a:latin typeface="Gill Sans MT" pitchFamily="34" charset="0"/>
              </a:rPr>
              <a:t>REDE (</a:t>
            </a:r>
            <a:r>
              <a:rPr lang="pt-BR" sz="1400" dirty="0">
                <a:solidFill>
                  <a:schemeClr val="accent6">
                    <a:lumMod val="75000"/>
                  </a:schemeClr>
                </a:solidFill>
                <a:latin typeface="Gill Sans MT" pitchFamily="34" charset="0"/>
              </a:rPr>
              <a:t>Disponibilidade)</a:t>
            </a:r>
          </a:p>
          <a:p>
            <a:r>
              <a:rPr lang="pt-BR" sz="1200" dirty="0">
                <a:latin typeface="Gill Sans MT" pitchFamily="34" charset="0"/>
              </a:rPr>
              <a:t>O Tempo Máximo Disponibilidade Dia do Rede Capta é de 1440 minutos (24x7). Calculo para porcentagem de disponibilidade:</a:t>
            </a:r>
          </a:p>
          <a:p>
            <a:r>
              <a:rPr lang="pt-BR" sz="1200" dirty="0">
                <a:latin typeface="Gill Sans MT" pitchFamily="34" charset="0"/>
              </a:rPr>
              <a:t> </a:t>
            </a:r>
            <a:r>
              <a:rPr lang="pt-BR" sz="1200" dirty="0">
                <a:latin typeface="Gill Sans MT" pitchFamily="34" charset="0"/>
              </a:rPr>
              <a:t>=(</a:t>
            </a:r>
            <a:r>
              <a:rPr lang="pt-BR" sz="1200" dirty="0">
                <a:latin typeface="Gill Sans MT" pitchFamily="34" charset="0"/>
              </a:rPr>
              <a:t>tempo máximo de disponibilidade dia – tempo de indisponibilidade dia) ÷ (tempo máximo de disponibilidade dia</a:t>
            </a:r>
            <a:r>
              <a:rPr lang="pt-BR" sz="1200" dirty="0" smtClean="0">
                <a:latin typeface="Gill Sans MT" pitchFamily="34" charset="0"/>
              </a:rPr>
              <a:t>)</a:t>
            </a:r>
            <a:endParaRPr lang="pt-BR" sz="1200" dirty="0">
              <a:latin typeface="Gill Sans MT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78896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de cantos arredondados 2"/>
          <p:cNvSpPr/>
          <p:nvPr/>
        </p:nvSpPr>
        <p:spPr bwMode="auto">
          <a:xfrm>
            <a:off x="344488" y="4047595"/>
            <a:ext cx="9145016" cy="1882841"/>
          </a:xfrm>
          <a:prstGeom prst="roundRect">
            <a:avLst/>
          </a:prstGeom>
          <a:solidFill>
            <a:schemeClr val="accent5">
              <a:lumMod val="40000"/>
              <a:lumOff val="60000"/>
              <a:alpha val="0"/>
            </a:schemeClr>
          </a:solidFill>
          <a:ln w="12700">
            <a:solidFill>
              <a:schemeClr val="tx2">
                <a:alpha val="71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b="1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noFill/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6" name="Retângulo de cantos arredondados 5"/>
          <p:cNvSpPr/>
          <p:nvPr/>
        </p:nvSpPr>
        <p:spPr>
          <a:xfrm>
            <a:off x="88904" y="116632"/>
            <a:ext cx="9769152" cy="648072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>
            <a:noFill/>
            <a:miter lim="800000"/>
            <a:headEnd/>
            <a:tailEnd/>
          </a:ln>
        </p:spPr>
        <p:txBody>
          <a:bodyPr rot="10800000" wrap="none" anchor="ctr"/>
          <a:lstStyle/>
          <a:p>
            <a:pPr eaLnBrk="0" hangingPunct="0">
              <a:defRPr/>
            </a:pPr>
            <a:endParaRPr lang="pt-BR" sz="2000" b="1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488504" y="260648"/>
            <a:ext cx="9001000" cy="61247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pt-BR" sz="2000" b="1" dirty="0" smtClean="0">
                <a:latin typeface="Gill Sans MT" pitchFamily="34" charset="0"/>
              </a:rPr>
              <a:t>Medição – Sistemas de Relacionamento</a:t>
            </a:r>
            <a:endParaRPr lang="pt-BR" sz="2000" b="1" dirty="0">
              <a:latin typeface="Gill Sans MT" pitchFamily="34" charset="0"/>
            </a:endParaRPr>
          </a:p>
          <a:p>
            <a:r>
              <a:rPr lang="pt-BR" dirty="0"/>
              <a:t> </a:t>
            </a:r>
          </a:p>
          <a:p>
            <a:r>
              <a:rPr lang="pt-BR" sz="1400" b="1" dirty="0" smtClean="0">
                <a:latin typeface="Gill Sans MT" pitchFamily="34" charset="0"/>
              </a:rPr>
              <a:t>Objetivo: </a:t>
            </a:r>
            <a:r>
              <a:rPr lang="pt-BR" sz="1400" dirty="0">
                <a:latin typeface="Gill Sans MT" pitchFamily="34" charset="0"/>
              </a:rPr>
              <a:t> Mensurar a disponibilidade </a:t>
            </a:r>
            <a:r>
              <a:rPr lang="pt-BR" sz="1400" dirty="0" smtClean="0">
                <a:latin typeface="Gill Sans MT" pitchFamily="34" charset="0"/>
              </a:rPr>
              <a:t>dos sistemas/interfaces que compõem os Sistemas de Relacionamento.</a:t>
            </a:r>
            <a:endParaRPr lang="pt-BR" sz="1400" dirty="0">
              <a:latin typeface="Gill Sans MT" pitchFamily="34" charset="0"/>
            </a:endParaRPr>
          </a:p>
          <a:p>
            <a:endParaRPr lang="pt-BR" sz="1400" dirty="0">
              <a:latin typeface="Gill Sans MT" pitchFamily="34" charset="0"/>
            </a:endParaRPr>
          </a:p>
          <a:p>
            <a:r>
              <a:rPr lang="pt-BR" sz="1400" b="1" dirty="0">
                <a:latin typeface="Gill Sans MT" pitchFamily="34" charset="0"/>
              </a:rPr>
              <a:t>Racional: </a:t>
            </a:r>
            <a:r>
              <a:rPr lang="pt-BR" sz="1400" dirty="0">
                <a:latin typeface="Gill Sans MT" pitchFamily="34" charset="0"/>
              </a:rPr>
              <a:t>O peso de cada </a:t>
            </a:r>
            <a:r>
              <a:rPr lang="pt-BR" sz="1400" dirty="0" smtClean="0">
                <a:latin typeface="Gill Sans MT" pitchFamily="34" charset="0"/>
              </a:rPr>
              <a:t>sistema será </a:t>
            </a:r>
            <a:r>
              <a:rPr lang="pt-BR" sz="1400" dirty="0">
                <a:latin typeface="Gill Sans MT" pitchFamily="34" charset="0"/>
              </a:rPr>
              <a:t>multiplicado pelo indicador individual </a:t>
            </a:r>
            <a:r>
              <a:rPr lang="pt-BR" sz="1400" dirty="0" smtClean="0">
                <a:latin typeface="Gill Sans MT" pitchFamily="34" charset="0"/>
              </a:rPr>
              <a:t>apurado</a:t>
            </a:r>
            <a:endParaRPr lang="pt-BR" sz="1400" dirty="0">
              <a:latin typeface="Gill Sans MT" pitchFamily="34" charset="0"/>
            </a:endParaRPr>
          </a:p>
          <a:p>
            <a:r>
              <a:rPr lang="pt-BR" sz="1400" i="1" dirty="0">
                <a:latin typeface="Gill Sans MT" pitchFamily="34" charset="0"/>
              </a:rPr>
              <a:t>=(Indicador Disponibilidade </a:t>
            </a:r>
            <a:r>
              <a:rPr lang="pt-BR" sz="1400" i="1" dirty="0" err="1" smtClean="0">
                <a:latin typeface="Gill Sans MT" pitchFamily="34" charset="0"/>
              </a:rPr>
              <a:t>SiteCN</a:t>
            </a:r>
            <a:r>
              <a:rPr lang="pt-BR" sz="1400" i="1" dirty="0" smtClean="0">
                <a:latin typeface="Gill Sans MT" pitchFamily="34" charset="0"/>
              </a:rPr>
              <a:t> </a:t>
            </a:r>
            <a:r>
              <a:rPr lang="pt-BR" sz="1400" i="1" dirty="0">
                <a:latin typeface="Gill Sans MT" pitchFamily="34" charset="0"/>
              </a:rPr>
              <a:t>* Peso </a:t>
            </a:r>
            <a:r>
              <a:rPr lang="pt-BR" sz="1400" i="1" dirty="0" err="1" smtClean="0">
                <a:latin typeface="Gill Sans MT" pitchFamily="34" charset="0"/>
              </a:rPr>
              <a:t>SiteCN</a:t>
            </a:r>
            <a:r>
              <a:rPr lang="pt-BR" sz="1400" i="1" dirty="0" smtClean="0">
                <a:latin typeface="Gill Sans MT" pitchFamily="34" charset="0"/>
              </a:rPr>
              <a:t>) </a:t>
            </a:r>
            <a:r>
              <a:rPr lang="pt-BR" sz="1400" i="1" dirty="0">
                <a:latin typeface="Gill Sans MT" pitchFamily="34" charset="0"/>
              </a:rPr>
              <a:t>+ (Indicador Disponibilidade </a:t>
            </a:r>
            <a:r>
              <a:rPr lang="pt-BR" sz="1400" i="1" dirty="0" err="1" smtClean="0">
                <a:latin typeface="Gill Sans MT" pitchFamily="34" charset="0"/>
              </a:rPr>
              <a:t>SiteCNO</a:t>
            </a:r>
            <a:r>
              <a:rPr lang="pt-BR" sz="1400" i="1" dirty="0" smtClean="0">
                <a:latin typeface="Gill Sans MT" pitchFamily="34" charset="0"/>
              </a:rPr>
              <a:t> </a:t>
            </a:r>
            <a:r>
              <a:rPr lang="pt-BR" sz="1400" i="1" dirty="0">
                <a:latin typeface="Gill Sans MT" pitchFamily="34" charset="0"/>
              </a:rPr>
              <a:t>* Peso </a:t>
            </a:r>
            <a:r>
              <a:rPr lang="pt-BR" sz="1400" i="1" dirty="0" err="1" smtClean="0">
                <a:latin typeface="Gill Sans MT" pitchFamily="34" charset="0"/>
              </a:rPr>
              <a:t>SiteCNO</a:t>
            </a:r>
            <a:r>
              <a:rPr lang="pt-BR" sz="1400" i="1" dirty="0" smtClean="0">
                <a:latin typeface="Gill Sans MT" pitchFamily="34" charset="0"/>
              </a:rPr>
              <a:t>)+ </a:t>
            </a:r>
            <a:r>
              <a:rPr lang="pt-BR" sz="1400" i="1" dirty="0">
                <a:latin typeface="Gill Sans MT" pitchFamily="34" charset="0"/>
              </a:rPr>
              <a:t>(Indicador Disponibilidade </a:t>
            </a:r>
            <a:r>
              <a:rPr lang="pt-BR" sz="1400" i="1" dirty="0" err="1" smtClean="0">
                <a:latin typeface="Gill Sans MT" pitchFamily="34" charset="0"/>
              </a:rPr>
              <a:t>SiteFV</a:t>
            </a:r>
            <a:r>
              <a:rPr lang="pt-BR" sz="1400" i="1" dirty="0" smtClean="0">
                <a:latin typeface="Gill Sans MT" pitchFamily="34" charset="0"/>
              </a:rPr>
              <a:t> </a:t>
            </a:r>
            <a:r>
              <a:rPr lang="pt-BR" sz="1400" i="1" dirty="0">
                <a:latin typeface="Gill Sans MT" pitchFamily="34" charset="0"/>
              </a:rPr>
              <a:t>* Peso </a:t>
            </a:r>
            <a:r>
              <a:rPr lang="pt-BR" sz="1400" i="1" dirty="0" err="1" smtClean="0">
                <a:latin typeface="Gill Sans MT" pitchFamily="34" charset="0"/>
              </a:rPr>
              <a:t>SiteFV</a:t>
            </a:r>
            <a:r>
              <a:rPr lang="pt-BR" sz="1400" i="1" dirty="0" smtClean="0">
                <a:latin typeface="Gill Sans MT" pitchFamily="34" charset="0"/>
              </a:rPr>
              <a:t>) </a:t>
            </a:r>
            <a:r>
              <a:rPr lang="pt-BR" sz="1400" i="1" dirty="0">
                <a:latin typeface="Gill Sans MT" pitchFamily="34" charset="0"/>
              </a:rPr>
              <a:t>+ (Indicador Disponibilidade </a:t>
            </a:r>
            <a:r>
              <a:rPr lang="pt-BR" sz="1400" i="1" dirty="0" smtClean="0">
                <a:latin typeface="Gill Sans MT" pitchFamily="34" charset="0"/>
              </a:rPr>
              <a:t>Natura.net </a:t>
            </a:r>
            <a:r>
              <a:rPr lang="pt-BR" sz="1400" i="1" dirty="0">
                <a:latin typeface="Gill Sans MT" pitchFamily="34" charset="0"/>
              </a:rPr>
              <a:t>* Peso </a:t>
            </a:r>
            <a:r>
              <a:rPr lang="pt-BR" sz="1400" i="1" dirty="0" smtClean="0">
                <a:latin typeface="Gill Sans MT" pitchFamily="34" charset="0"/>
              </a:rPr>
              <a:t>Natura.net) </a:t>
            </a:r>
            <a:r>
              <a:rPr lang="pt-BR" sz="1400" i="1" dirty="0">
                <a:latin typeface="Gill Sans MT" pitchFamily="34" charset="0"/>
              </a:rPr>
              <a:t>+ (Indicador Disponibilidade </a:t>
            </a:r>
            <a:r>
              <a:rPr lang="pt-BR" sz="1400" i="1" dirty="0" smtClean="0">
                <a:latin typeface="Gill Sans MT" pitchFamily="34" charset="0"/>
              </a:rPr>
              <a:t>SNAC </a:t>
            </a:r>
            <a:r>
              <a:rPr lang="pt-BR" sz="1400" i="1" dirty="0">
                <a:latin typeface="Gill Sans MT" pitchFamily="34" charset="0"/>
              </a:rPr>
              <a:t>* Peso </a:t>
            </a:r>
            <a:r>
              <a:rPr lang="pt-BR" sz="1400" i="1" dirty="0" smtClean="0">
                <a:latin typeface="Gill Sans MT" pitchFamily="34" charset="0"/>
              </a:rPr>
              <a:t>SNAC) </a:t>
            </a:r>
            <a:r>
              <a:rPr lang="pt-BR" sz="1400" i="1" dirty="0">
                <a:latin typeface="Gill Sans MT" pitchFamily="34" charset="0"/>
              </a:rPr>
              <a:t>+ (Indicador Disponibilidade </a:t>
            </a:r>
            <a:r>
              <a:rPr lang="pt-BR" sz="1400" i="1" dirty="0" smtClean="0">
                <a:latin typeface="Gill Sans MT" pitchFamily="34" charset="0"/>
              </a:rPr>
              <a:t>SAP CRM* </a:t>
            </a:r>
            <a:r>
              <a:rPr lang="pt-BR" sz="1400" i="1" dirty="0">
                <a:latin typeface="Gill Sans MT" pitchFamily="34" charset="0"/>
              </a:rPr>
              <a:t>Peso </a:t>
            </a:r>
            <a:r>
              <a:rPr lang="pt-BR" sz="1400" i="1" dirty="0" smtClean="0">
                <a:latin typeface="Gill Sans MT" pitchFamily="34" charset="0"/>
              </a:rPr>
              <a:t>SAP CRM) </a:t>
            </a:r>
            <a:r>
              <a:rPr lang="pt-BR" sz="1400" i="1" dirty="0">
                <a:latin typeface="Gill Sans MT" pitchFamily="34" charset="0"/>
              </a:rPr>
              <a:t>+ (Indicador Disponibilidade </a:t>
            </a:r>
            <a:r>
              <a:rPr lang="pt-BR" sz="1400" i="1" dirty="0" smtClean="0">
                <a:latin typeface="Gill Sans MT" pitchFamily="34" charset="0"/>
              </a:rPr>
              <a:t>Crédito e Cobrança </a:t>
            </a:r>
            <a:r>
              <a:rPr lang="pt-BR" sz="1400" i="1" dirty="0">
                <a:latin typeface="Gill Sans MT" pitchFamily="34" charset="0"/>
              </a:rPr>
              <a:t>* Peso </a:t>
            </a:r>
            <a:r>
              <a:rPr lang="pt-BR" sz="1400" i="1" dirty="0" smtClean="0">
                <a:latin typeface="Gill Sans MT" pitchFamily="34" charset="0"/>
              </a:rPr>
              <a:t>Crédito e Cobrança) </a:t>
            </a:r>
            <a:r>
              <a:rPr lang="pt-BR" sz="1400" i="1" dirty="0">
                <a:latin typeface="Gill Sans MT" pitchFamily="34" charset="0"/>
              </a:rPr>
              <a:t>+ (Indicador Disponibilidade </a:t>
            </a:r>
            <a:r>
              <a:rPr lang="pt-BR" sz="1400" i="1" dirty="0" err="1" smtClean="0">
                <a:latin typeface="Gill Sans MT" pitchFamily="34" charset="0"/>
              </a:rPr>
              <a:t>CadastroCND</a:t>
            </a:r>
            <a:r>
              <a:rPr lang="pt-BR" sz="1400" i="1" dirty="0" smtClean="0">
                <a:latin typeface="Gill Sans MT" pitchFamily="34" charset="0"/>
              </a:rPr>
              <a:t>* </a:t>
            </a:r>
            <a:r>
              <a:rPr lang="pt-BR" sz="1400" i="1" dirty="0">
                <a:latin typeface="Gill Sans MT" pitchFamily="34" charset="0"/>
              </a:rPr>
              <a:t>Peso </a:t>
            </a:r>
            <a:r>
              <a:rPr lang="pt-BR" sz="1400" i="1" dirty="0" err="1" smtClean="0">
                <a:latin typeface="Gill Sans MT" pitchFamily="34" charset="0"/>
              </a:rPr>
              <a:t>CadastroCND</a:t>
            </a:r>
            <a:r>
              <a:rPr lang="pt-BR" sz="1400" i="1" dirty="0" smtClean="0">
                <a:latin typeface="Gill Sans MT" pitchFamily="34" charset="0"/>
              </a:rPr>
              <a:t>) </a:t>
            </a:r>
            <a:r>
              <a:rPr lang="pt-BR" sz="1400" i="1" dirty="0">
                <a:latin typeface="Gill Sans MT" pitchFamily="34" charset="0"/>
              </a:rPr>
              <a:t>+ (Indicador Disponibilidade </a:t>
            </a:r>
            <a:r>
              <a:rPr lang="pt-BR" sz="1400" i="1" dirty="0" err="1" smtClean="0">
                <a:latin typeface="Gill Sans MT" pitchFamily="34" charset="0"/>
              </a:rPr>
              <a:t>CadastroCND</a:t>
            </a:r>
            <a:r>
              <a:rPr lang="pt-BR" sz="1400" i="1" dirty="0" smtClean="0">
                <a:latin typeface="Gill Sans MT" pitchFamily="34" charset="0"/>
              </a:rPr>
              <a:t> </a:t>
            </a:r>
            <a:r>
              <a:rPr lang="pt-BR" sz="1400" i="1" dirty="0">
                <a:latin typeface="Gill Sans MT" pitchFamily="34" charset="0"/>
              </a:rPr>
              <a:t>* Peso </a:t>
            </a:r>
            <a:r>
              <a:rPr lang="pt-BR" sz="1400" i="1" dirty="0" err="1" smtClean="0">
                <a:latin typeface="Gill Sans MT" pitchFamily="34" charset="0"/>
              </a:rPr>
              <a:t>PainelCND</a:t>
            </a:r>
            <a:r>
              <a:rPr lang="pt-BR" sz="1400" i="1" dirty="0" smtClean="0">
                <a:latin typeface="Gill Sans MT" pitchFamily="34" charset="0"/>
              </a:rPr>
              <a:t>)</a:t>
            </a:r>
            <a:endParaRPr lang="pt-BR" sz="1400" i="1" dirty="0">
              <a:latin typeface="Gill Sans MT" pitchFamily="34" charset="0"/>
            </a:endParaRPr>
          </a:p>
          <a:p>
            <a:r>
              <a:rPr lang="pt-BR" sz="1400" dirty="0">
                <a:latin typeface="Gill Sans MT" pitchFamily="34" charset="0"/>
              </a:rPr>
              <a:t> </a:t>
            </a:r>
          </a:p>
          <a:p>
            <a:r>
              <a:rPr lang="pt-BR" sz="1400" b="1" dirty="0">
                <a:latin typeface="Gill Sans MT" pitchFamily="34" charset="0"/>
              </a:rPr>
              <a:t>Nota: </a:t>
            </a:r>
            <a:r>
              <a:rPr lang="pt-BR" sz="1400" dirty="0" smtClean="0">
                <a:latin typeface="Gill Sans MT" pitchFamily="34" charset="0"/>
              </a:rPr>
              <a:t>Cada sistema tem o peso igual a 11,11% e são divididos igualmente entre os 09 sistemas</a:t>
            </a:r>
            <a:endParaRPr lang="pt-BR" sz="1400" dirty="0">
              <a:latin typeface="Gill Sans MT" pitchFamily="34" charset="0"/>
            </a:endParaRPr>
          </a:p>
          <a:p>
            <a:pPr lvl="1"/>
            <a:endParaRPr lang="pt-BR" sz="1400" dirty="0">
              <a:latin typeface="Gill Sans MT" pitchFamily="34" charset="0"/>
            </a:endParaRPr>
          </a:p>
          <a:p>
            <a:pPr lvl="0"/>
            <a:r>
              <a:rPr lang="pt-BR" sz="1400" dirty="0" smtClean="0">
                <a:latin typeface="Gill Sans MT" pitchFamily="34" charset="0"/>
              </a:rPr>
              <a:t>Verificação </a:t>
            </a:r>
            <a:r>
              <a:rPr lang="pt-BR" sz="1400" dirty="0">
                <a:latin typeface="Gill Sans MT" pitchFamily="34" charset="0"/>
              </a:rPr>
              <a:t>de tempo de indisponibilidade apurado no incidente pelo NCC, através do output gerado pelas ferramentas “Mercury” e “</a:t>
            </a:r>
            <a:r>
              <a:rPr lang="pt-BR" sz="1400" dirty="0" err="1">
                <a:latin typeface="Gill Sans MT" pitchFamily="34" charset="0"/>
              </a:rPr>
              <a:t>Nisoft</a:t>
            </a:r>
            <a:r>
              <a:rPr lang="pt-BR" sz="1400" dirty="0">
                <a:latin typeface="Gill Sans MT" pitchFamily="34" charset="0"/>
              </a:rPr>
              <a:t>”.</a:t>
            </a:r>
          </a:p>
          <a:p>
            <a:pPr lvl="1"/>
            <a:endParaRPr lang="pt-BR" sz="1200" dirty="0">
              <a:latin typeface="Gill Sans MT" pitchFamily="34" charset="0"/>
            </a:endParaRPr>
          </a:p>
          <a:p>
            <a:endParaRPr lang="pt-BR" sz="1400" dirty="0" smtClean="0">
              <a:solidFill>
                <a:schemeClr val="accent6">
                  <a:lumMod val="75000"/>
                </a:schemeClr>
              </a:solidFill>
              <a:latin typeface="Gill Sans MT" pitchFamily="34" charset="0"/>
            </a:endParaRPr>
          </a:p>
          <a:p>
            <a:endParaRPr lang="pt-BR" sz="1400" dirty="0">
              <a:solidFill>
                <a:schemeClr val="accent6">
                  <a:lumMod val="75000"/>
                </a:schemeClr>
              </a:solidFill>
              <a:latin typeface="Gill Sans MT" pitchFamily="34" charset="0"/>
            </a:endParaRPr>
          </a:p>
          <a:p>
            <a:r>
              <a:rPr lang="pt-BR" sz="1400" dirty="0">
                <a:solidFill>
                  <a:schemeClr val="accent6">
                    <a:lumMod val="75000"/>
                  </a:schemeClr>
                </a:solidFill>
                <a:latin typeface="Gill Sans MT" pitchFamily="34" charset="0"/>
              </a:rPr>
              <a:t>Site </a:t>
            </a:r>
            <a:r>
              <a:rPr lang="pt-BR" sz="1400" dirty="0" smtClean="0">
                <a:solidFill>
                  <a:schemeClr val="accent6">
                    <a:lumMod val="75000"/>
                  </a:schemeClr>
                </a:solidFill>
                <a:latin typeface="Gill Sans MT" pitchFamily="34" charset="0"/>
              </a:rPr>
              <a:t>CN, Site CNO, Site FV, Natura.net,  SAP CRM, Crédito </a:t>
            </a:r>
            <a:r>
              <a:rPr lang="pt-BR" sz="1400" dirty="0">
                <a:solidFill>
                  <a:schemeClr val="accent6">
                    <a:lumMod val="75000"/>
                  </a:schemeClr>
                </a:solidFill>
                <a:latin typeface="Gill Sans MT" pitchFamily="34" charset="0"/>
              </a:rPr>
              <a:t>e </a:t>
            </a:r>
            <a:r>
              <a:rPr lang="pt-BR" sz="1400" dirty="0" smtClean="0">
                <a:solidFill>
                  <a:schemeClr val="accent6">
                    <a:lumMod val="75000"/>
                  </a:schemeClr>
                </a:solidFill>
                <a:latin typeface="Gill Sans MT" pitchFamily="34" charset="0"/>
              </a:rPr>
              <a:t>Cobrança, Cadastro CND,  Painel CND (Disponibilidade)</a:t>
            </a:r>
          </a:p>
          <a:p>
            <a:r>
              <a:rPr lang="pt-BR" sz="1200" dirty="0" smtClean="0">
                <a:latin typeface="Gill Sans MT" pitchFamily="34" charset="0"/>
              </a:rPr>
              <a:t>O </a:t>
            </a:r>
            <a:r>
              <a:rPr lang="pt-BR" sz="1200" dirty="0">
                <a:latin typeface="Gill Sans MT" pitchFamily="34" charset="0"/>
              </a:rPr>
              <a:t>Tempo Máximo Disponibilidade Dia </a:t>
            </a:r>
            <a:r>
              <a:rPr lang="pt-BR" sz="1200" dirty="0" smtClean="0">
                <a:latin typeface="Gill Sans MT" pitchFamily="34" charset="0"/>
              </a:rPr>
              <a:t>dos sistemas de relacionamento é </a:t>
            </a:r>
            <a:r>
              <a:rPr lang="pt-BR" sz="1200" dirty="0">
                <a:latin typeface="Gill Sans MT" pitchFamily="34" charset="0"/>
              </a:rPr>
              <a:t>de </a:t>
            </a:r>
            <a:r>
              <a:rPr lang="pt-BR" sz="1200" dirty="0" smtClean="0">
                <a:latin typeface="Gill Sans MT" pitchFamily="34" charset="0"/>
              </a:rPr>
              <a:t>1</a:t>
            </a:r>
            <a:r>
              <a:rPr lang="pt-BR" sz="1100" dirty="0" smtClean="0">
                <a:latin typeface="Gill Sans MT" pitchFamily="34" charset="0"/>
              </a:rPr>
              <a:t>.440 </a:t>
            </a:r>
            <a:r>
              <a:rPr lang="pt-BR" sz="1100" dirty="0">
                <a:latin typeface="Gill Sans MT" pitchFamily="34" charset="0"/>
              </a:rPr>
              <a:t>minutos </a:t>
            </a:r>
            <a:r>
              <a:rPr lang="pt-BR" sz="1100" dirty="0" smtClean="0">
                <a:latin typeface="Gill Sans MT" pitchFamily="34" charset="0"/>
              </a:rPr>
              <a:t>(24 x 7). Cálculo </a:t>
            </a:r>
            <a:r>
              <a:rPr lang="pt-BR" sz="1100" dirty="0">
                <a:latin typeface="Gill Sans MT" pitchFamily="34" charset="0"/>
              </a:rPr>
              <a:t>para porcentagem de disponibilidade:</a:t>
            </a:r>
          </a:p>
          <a:p>
            <a:r>
              <a:rPr lang="pt-BR" sz="1100" dirty="0">
                <a:latin typeface="Gill Sans MT" pitchFamily="34" charset="0"/>
              </a:rPr>
              <a:t>=(tempo máximo de disponibilidade dia – tempo de indisponibilidade dia) ÷ (tempo máximo de disponibilidade dia)</a:t>
            </a:r>
          </a:p>
          <a:p>
            <a:endParaRPr lang="pt-BR" sz="1100" dirty="0" smtClean="0">
              <a:latin typeface="Gill Sans MT" pitchFamily="34" charset="0"/>
            </a:endParaRPr>
          </a:p>
          <a:p>
            <a:r>
              <a:rPr lang="pt-BR" sz="1400" dirty="0">
                <a:solidFill>
                  <a:schemeClr val="accent6">
                    <a:lumMod val="75000"/>
                  </a:schemeClr>
                </a:solidFill>
                <a:latin typeface="Gill Sans MT" pitchFamily="34" charset="0"/>
              </a:rPr>
              <a:t>SNAC- Plusoft</a:t>
            </a:r>
          </a:p>
          <a:p>
            <a:r>
              <a:rPr lang="pt-BR" sz="1100" dirty="0">
                <a:latin typeface="Gill Sans MT" pitchFamily="34" charset="0"/>
              </a:rPr>
              <a:t>O Tempo Máximo Disponibilidade Dia do Plusoft é de 720 minutos de segunda a sexta-feira ( 08:00 as 20:00 ) e 420 minutos aos sábados.  </a:t>
            </a:r>
            <a:r>
              <a:rPr lang="pt-BR" sz="1100" dirty="0" smtClean="0">
                <a:latin typeface="Gill Sans MT" pitchFamily="34" charset="0"/>
              </a:rPr>
              <a:t>Cálculo </a:t>
            </a:r>
            <a:r>
              <a:rPr lang="pt-BR" sz="1100" dirty="0">
                <a:latin typeface="Gill Sans MT" pitchFamily="34" charset="0"/>
              </a:rPr>
              <a:t>para porcentagem de disponibilidade:</a:t>
            </a:r>
          </a:p>
          <a:p>
            <a:r>
              <a:rPr lang="pt-BR" sz="1100" dirty="0">
                <a:latin typeface="Gill Sans MT" pitchFamily="34" charset="0"/>
              </a:rPr>
              <a:t>=(tempo máximo de disponibilidade dia) – tempo de indisponibilidade dia) ÷ (tempo máximo de disponibilidade dia)</a:t>
            </a:r>
          </a:p>
          <a:p>
            <a:endParaRPr lang="pt-BR" sz="1100" dirty="0" smtClean="0">
              <a:latin typeface="Gill Sans MT" pitchFamily="34" charset="0"/>
            </a:endParaRPr>
          </a:p>
          <a:p>
            <a:endParaRPr lang="pt-BR" sz="1200" dirty="0">
              <a:latin typeface="Gill Sans MT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06589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de cantos arredondados 2"/>
          <p:cNvSpPr/>
          <p:nvPr/>
        </p:nvSpPr>
        <p:spPr bwMode="auto">
          <a:xfrm>
            <a:off x="344488" y="4437112"/>
            <a:ext cx="9145016" cy="2187828"/>
          </a:xfrm>
          <a:prstGeom prst="roundRect">
            <a:avLst/>
          </a:prstGeom>
          <a:solidFill>
            <a:schemeClr val="accent5">
              <a:lumMod val="40000"/>
              <a:lumOff val="60000"/>
              <a:alpha val="0"/>
            </a:schemeClr>
          </a:solidFill>
          <a:ln w="12700">
            <a:solidFill>
              <a:schemeClr val="tx2">
                <a:alpha val="71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b="1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noFill/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6" name="Retângulo de cantos arredondados 5"/>
          <p:cNvSpPr/>
          <p:nvPr/>
        </p:nvSpPr>
        <p:spPr>
          <a:xfrm>
            <a:off x="88904" y="116632"/>
            <a:ext cx="9769152" cy="648072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>
            <a:noFill/>
            <a:miter lim="800000"/>
            <a:headEnd/>
            <a:tailEnd/>
          </a:ln>
        </p:spPr>
        <p:txBody>
          <a:bodyPr rot="10800000" wrap="none" anchor="ctr"/>
          <a:lstStyle/>
          <a:p>
            <a:pPr eaLnBrk="0" hangingPunct="0">
              <a:defRPr/>
            </a:pPr>
            <a:endParaRPr lang="pt-BR" sz="2000" b="1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488504" y="260648"/>
            <a:ext cx="9001000" cy="65864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pt-BR" sz="2000" b="1" dirty="0">
                <a:latin typeface="Gill Sans MT" pitchFamily="34" charset="0"/>
              </a:rPr>
              <a:t>Medição – Faturamento </a:t>
            </a:r>
            <a:r>
              <a:rPr lang="pt-BR" sz="2000" b="1" dirty="0" smtClean="0">
                <a:latin typeface="Gill Sans MT" pitchFamily="34" charset="0"/>
              </a:rPr>
              <a:t>CN e Separação</a:t>
            </a:r>
            <a:endParaRPr lang="pt-BR" sz="2000" b="1" dirty="0">
              <a:latin typeface="Gill Sans MT" pitchFamily="34" charset="0"/>
            </a:endParaRPr>
          </a:p>
          <a:p>
            <a:pPr lvl="0"/>
            <a:endParaRPr lang="pt-BR" b="1" dirty="0" smtClean="0">
              <a:latin typeface="Gill Sans MT" pitchFamily="34" charset="0"/>
            </a:endParaRPr>
          </a:p>
          <a:p>
            <a:r>
              <a:rPr lang="pt-BR" sz="1400" b="1" dirty="0">
                <a:latin typeface="Gill Sans MT" pitchFamily="34" charset="0"/>
              </a:rPr>
              <a:t>Faturamento CN</a:t>
            </a:r>
          </a:p>
          <a:p>
            <a:r>
              <a:rPr lang="pt-BR" sz="1400" b="1" dirty="0" smtClean="0"/>
              <a:t>Objetivo</a:t>
            </a:r>
            <a:r>
              <a:rPr lang="pt-BR" sz="1400" b="1" dirty="0"/>
              <a:t>: </a:t>
            </a:r>
            <a:r>
              <a:rPr lang="pt-BR" sz="1400" dirty="0"/>
              <a:t>Mensurar a disponibilidade do Faturamento através das seguintes sistemas/interfaces para cada Centro de </a:t>
            </a:r>
            <a:r>
              <a:rPr lang="pt-BR" sz="1400" dirty="0" smtClean="0"/>
              <a:t>Distribuição e HUB: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pt-BR" sz="1400" dirty="0" smtClean="0"/>
              <a:t>SAP </a:t>
            </a:r>
            <a:r>
              <a:rPr lang="pt-BR" sz="1400" dirty="0"/>
              <a:t>PRD (ECC)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pt-BR" sz="1400" dirty="0"/>
              <a:t>Link de Dados (LAN, WAN)</a:t>
            </a:r>
          </a:p>
          <a:p>
            <a:endParaRPr lang="pt-BR" sz="1000" dirty="0"/>
          </a:p>
          <a:p>
            <a:r>
              <a:rPr lang="pt-BR" sz="1400" b="1" dirty="0" smtClean="0">
                <a:latin typeface="Gill Sans MT" pitchFamily="34" charset="0"/>
              </a:rPr>
              <a:t>Separação</a:t>
            </a:r>
            <a:endParaRPr lang="pt-BR" sz="1400" b="1" dirty="0">
              <a:latin typeface="Gill Sans MT" pitchFamily="34" charset="0"/>
            </a:endParaRPr>
          </a:p>
          <a:p>
            <a:r>
              <a:rPr lang="pt-BR" sz="1400" b="1" dirty="0"/>
              <a:t>Objetivo: </a:t>
            </a:r>
            <a:r>
              <a:rPr lang="pt-BR" sz="1400" dirty="0"/>
              <a:t>Mensurar a disponibilidade da Separação através dos seguintes sistemas/interfaces para cada Centro de Distribuição </a:t>
            </a:r>
            <a:r>
              <a:rPr lang="pt-BR" sz="1400" dirty="0" smtClean="0"/>
              <a:t>e </a:t>
            </a:r>
            <a:r>
              <a:rPr lang="pt-BR" sz="1400" dirty="0" err="1"/>
              <a:t>HUBs</a:t>
            </a:r>
            <a:r>
              <a:rPr lang="pt-BR" sz="1400" dirty="0" smtClean="0"/>
              <a:t>:</a:t>
            </a:r>
            <a:endParaRPr lang="pt-BR" sz="1400" dirty="0"/>
          </a:p>
          <a:p>
            <a:pPr marL="742950" lvl="1" indent="-285750">
              <a:buFont typeface="Arial" pitchFamily="34" charset="0"/>
              <a:buChar char="•"/>
            </a:pPr>
            <a:r>
              <a:rPr lang="pt-BR" sz="1400" dirty="0" smtClean="0"/>
              <a:t>SAP SD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pt-BR" sz="1400" dirty="0" smtClean="0"/>
              <a:t>SAP </a:t>
            </a:r>
            <a:r>
              <a:rPr lang="pt-BR" sz="1400" dirty="0"/>
              <a:t>PRD (ECC)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pt-BR" sz="1400" dirty="0"/>
              <a:t>Link de Dados (LAN, </a:t>
            </a:r>
            <a:r>
              <a:rPr lang="pt-BR" sz="1400" dirty="0" smtClean="0"/>
              <a:t>WAN)</a:t>
            </a:r>
          </a:p>
          <a:p>
            <a:endParaRPr lang="pt-BR" sz="900" b="1" dirty="0" smtClean="0">
              <a:latin typeface="Gill Sans MT" pitchFamily="34" charset="0"/>
            </a:endParaRPr>
          </a:p>
          <a:p>
            <a:r>
              <a:rPr lang="pt-BR" sz="1400" b="1" dirty="0" smtClean="0">
                <a:latin typeface="Gill Sans MT" pitchFamily="34" charset="0"/>
              </a:rPr>
              <a:t>Nota</a:t>
            </a:r>
            <a:r>
              <a:rPr lang="pt-BR" sz="1400" b="1" dirty="0">
                <a:latin typeface="Gill Sans MT" pitchFamily="34" charset="0"/>
              </a:rPr>
              <a:t>: </a:t>
            </a:r>
            <a:r>
              <a:rPr lang="pt-BR" sz="1400" dirty="0">
                <a:latin typeface="Gill Sans MT" pitchFamily="34" charset="0"/>
              </a:rPr>
              <a:t>Cada sistema tem o peso igual a </a:t>
            </a:r>
            <a:r>
              <a:rPr lang="pt-BR" sz="1400" dirty="0" smtClean="0">
                <a:latin typeface="Gill Sans MT" pitchFamily="34" charset="0"/>
              </a:rPr>
              <a:t>50% </a:t>
            </a:r>
            <a:r>
              <a:rPr lang="pt-BR" sz="1400" dirty="0">
                <a:latin typeface="Gill Sans MT" pitchFamily="34" charset="0"/>
              </a:rPr>
              <a:t>e são divididos igualmente entre os </a:t>
            </a:r>
            <a:r>
              <a:rPr lang="pt-BR" sz="1400" dirty="0" smtClean="0">
                <a:latin typeface="Gill Sans MT" pitchFamily="34" charset="0"/>
              </a:rPr>
              <a:t>02 sistemas</a:t>
            </a:r>
          </a:p>
          <a:p>
            <a:endParaRPr lang="pt-BR" sz="1200" dirty="0">
              <a:latin typeface="Gill Sans MT" pitchFamily="34" charset="0"/>
            </a:endParaRPr>
          </a:p>
          <a:p>
            <a:pPr lvl="0"/>
            <a:r>
              <a:rPr lang="pt-BR" sz="1400" dirty="0" smtClean="0">
                <a:latin typeface="Gill Sans MT" pitchFamily="34" charset="0"/>
              </a:rPr>
              <a:t>Verificação </a:t>
            </a:r>
            <a:r>
              <a:rPr lang="pt-BR" sz="1400" dirty="0">
                <a:latin typeface="Gill Sans MT" pitchFamily="34" charset="0"/>
              </a:rPr>
              <a:t>de tempo de indisponibilidade apurado no incidente pelo NCC, através do output gerado pelas ferramentas “Mercury” e “</a:t>
            </a:r>
            <a:r>
              <a:rPr lang="pt-BR" sz="1400" dirty="0" err="1">
                <a:latin typeface="Gill Sans MT" pitchFamily="34" charset="0"/>
              </a:rPr>
              <a:t>Nisoft</a:t>
            </a:r>
            <a:r>
              <a:rPr lang="pt-BR" sz="1400" dirty="0">
                <a:latin typeface="Gill Sans MT" pitchFamily="34" charset="0"/>
              </a:rPr>
              <a:t>”.</a:t>
            </a:r>
          </a:p>
          <a:p>
            <a:pPr lvl="1"/>
            <a:endParaRPr lang="pt-BR" sz="1200" dirty="0">
              <a:latin typeface="Gill Sans MT" pitchFamily="34" charset="0"/>
            </a:endParaRPr>
          </a:p>
          <a:p>
            <a:r>
              <a:rPr lang="pt-BR" sz="1400" dirty="0" smtClean="0">
                <a:solidFill>
                  <a:schemeClr val="accent6">
                    <a:lumMod val="75000"/>
                  </a:schemeClr>
                </a:solidFill>
                <a:latin typeface="Gill Sans MT" pitchFamily="34" charset="0"/>
              </a:rPr>
              <a:t>Faturamento CN (Disponibilidade</a:t>
            </a:r>
            <a:r>
              <a:rPr lang="pt-BR" sz="1400" dirty="0">
                <a:solidFill>
                  <a:schemeClr val="accent6">
                    <a:lumMod val="75000"/>
                  </a:schemeClr>
                </a:solidFill>
                <a:latin typeface="Gill Sans MT" pitchFamily="34" charset="0"/>
              </a:rPr>
              <a:t>)</a:t>
            </a:r>
          </a:p>
          <a:p>
            <a:r>
              <a:rPr lang="pt-BR" sz="1100" dirty="0">
                <a:latin typeface="Gill Sans MT" pitchFamily="34" charset="0"/>
              </a:rPr>
              <a:t>O Tempo Máximo Disponibilidade Dia  do Faturamento será determinado pela escalada de trabalho de cada CD ou HUB que é informado todo inicio do mês através de e-mail. </a:t>
            </a:r>
            <a:r>
              <a:rPr lang="pt-BR" sz="1100" dirty="0">
                <a:latin typeface="Gill Sans MT" pitchFamily="34" charset="0"/>
              </a:rPr>
              <a:t>Cálculo </a:t>
            </a:r>
            <a:r>
              <a:rPr lang="pt-BR" sz="1100" dirty="0">
                <a:latin typeface="Gill Sans MT" pitchFamily="34" charset="0"/>
              </a:rPr>
              <a:t>para porcentagem de disponibilidade:</a:t>
            </a:r>
          </a:p>
          <a:p>
            <a:r>
              <a:rPr lang="pt-BR" sz="1100" dirty="0">
                <a:latin typeface="Gill Sans MT" pitchFamily="34" charset="0"/>
              </a:rPr>
              <a:t> </a:t>
            </a:r>
            <a:r>
              <a:rPr lang="pt-BR" sz="1100" dirty="0" smtClean="0">
                <a:latin typeface="Gill Sans MT" pitchFamily="34" charset="0"/>
              </a:rPr>
              <a:t>=(</a:t>
            </a:r>
            <a:r>
              <a:rPr lang="pt-BR" sz="1100" dirty="0">
                <a:latin typeface="Gill Sans MT" pitchFamily="34" charset="0"/>
              </a:rPr>
              <a:t>Soma tempo máximo de disponibilidade dia (CDs e </a:t>
            </a:r>
            <a:r>
              <a:rPr lang="pt-BR" sz="1100" dirty="0" err="1">
                <a:latin typeface="Gill Sans MT" pitchFamily="34" charset="0"/>
              </a:rPr>
              <a:t>HUBs</a:t>
            </a:r>
            <a:r>
              <a:rPr lang="pt-BR" sz="1100" dirty="0">
                <a:latin typeface="Gill Sans MT" pitchFamily="34" charset="0"/>
              </a:rPr>
              <a:t>) – Soma de tempo de indisponibilidade dia(CDs e Hubs)) ÷ (Soma tempo máximo de disponibilidade dia (CDs e </a:t>
            </a:r>
            <a:r>
              <a:rPr lang="pt-BR" sz="1100" dirty="0" err="1">
                <a:latin typeface="Gill Sans MT" pitchFamily="34" charset="0"/>
              </a:rPr>
              <a:t>HUBs</a:t>
            </a:r>
            <a:r>
              <a:rPr lang="pt-BR" sz="1100" dirty="0">
                <a:latin typeface="Gill Sans MT" pitchFamily="34" charset="0"/>
              </a:rPr>
              <a:t>)</a:t>
            </a:r>
          </a:p>
          <a:p>
            <a:endParaRPr lang="pt-BR" sz="1100" dirty="0" smtClean="0">
              <a:latin typeface="Gill Sans MT" pitchFamily="34" charset="0"/>
            </a:endParaRPr>
          </a:p>
          <a:p>
            <a:r>
              <a:rPr lang="pt-BR" sz="1400" dirty="0" smtClean="0">
                <a:solidFill>
                  <a:schemeClr val="accent6">
                    <a:lumMod val="75000"/>
                  </a:schemeClr>
                </a:solidFill>
                <a:latin typeface="Gill Sans MT" pitchFamily="34" charset="0"/>
              </a:rPr>
              <a:t>Separação </a:t>
            </a:r>
            <a:r>
              <a:rPr lang="pt-BR" sz="1400" dirty="0">
                <a:solidFill>
                  <a:schemeClr val="accent6">
                    <a:lumMod val="75000"/>
                  </a:schemeClr>
                </a:solidFill>
                <a:latin typeface="Gill Sans MT" pitchFamily="34" charset="0"/>
              </a:rPr>
              <a:t>(Disponibilidade)</a:t>
            </a:r>
          </a:p>
          <a:p>
            <a:r>
              <a:rPr lang="pt-BR" sz="1200" dirty="0" smtClean="0">
                <a:latin typeface="Gill Sans MT" pitchFamily="34" charset="0"/>
              </a:rPr>
              <a:t>O </a:t>
            </a:r>
            <a:r>
              <a:rPr lang="pt-BR" sz="1200" dirty="0">
                <a:latin typeface="Gill Sans MT" pitchFamily="34" charset="0"/>
              </a:rPr>
              <a:t>Tempo Máximo Disponibilidade Dia  do Faturamento será determinado pela escalada de trabalho de cada CD ou HUB que é informado todo inicio do mês através de e-mail. Calculo para porcentagem de disponibilidade:</a:t>
            </a:r>
          </a:p>
          <a:p>
            <a:r>
              <a:rPr lang="pt-BR" sz="1200" dirty="0" smtClean="0">
                <a:latin typeface="Gill Sans MT" pitchFamily="34" charset="0"/>
              </a:rPr>
              <a:t>=(</a:t>
            </a:r>
            <a:r>
              <a:rPr lang="pt-BR" sz="1200" dirty="0">
                <a:latin typeface="Gill Sans MT" pitchFamily="34" charset="0"/>
              </a:rPr>
              <a:t>Soma tempo máximo de disponibilidade dia (CDs) – Soma de tempo de indisponibilidade dia(CDs)) ÷ (Soma tempo máximo de disponibilidade dia (CDs)</a:t>
            </a:r>
          </a:p>
          <a:p>
            <a:endParaRPr lang="pt-BR" sz="1200" dirty="0">
              <a:latin typeface="Gill Sans MT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16246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de cantos arredondados 5"/>
          <p:cNvSpPr/>
          <p:nvPr/>
        </p:nvSpPr>
        <p:spPr>
          <a:xfrm>
            <a:off x="88904" y="116632"/>
            <a:ext cx="9769152" cy="648072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>
            <a:noFill/>
            <a:miter lim="800000"/>
            <a:headEnd/>
            <a:tailEnd/>
          </a:ln>
        </p:spPr>
        <p:txBody>
          <a:bodyPr rot="10800000" wrap="none" anchor="ctr"/>
          <a:lstStyle/>
          <a:p>
            <a:pPr eaLnBrk="0" hangingPunct="0">
              <a:defRPr/>
            </a:pPr>
            <a:endParaRPr lang="pt-BR" sz="2000" b="1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488504" y="260648"/>
            <a:ext cx="9001000" cy="56938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pt-BR" sz="2000" b="1" dirty="0">
                <a:latin typeface="Gill Sans MT" pitchFamily="34" charset="0"/>
              </a:rPr>
              <a:t>Medição – </a:t>
            </a:r>
            <a:r>
              <a:rPr lang="pt-BR" sz="2000" b="1" dirty="0" smtClean="0">
                <a:latin typeface="Gill Sans MT" pitchFamily="34" charset="0"/>
              </a:rPr>
              <a:t>Experiência do Usuário</a:t>
            </a:r>
            <a:endParaRPr lang="pt-BR" sz="2000" b="1" dirty="0">
              <a:latin typeface="Gill Sans MT" pitchFamily="34" charset="0"/>
            </a:endParaRPr>
          </a:p>
          <a:p>
            <a:pPr lvl="0"/>
            <a:endParaRPr lang="pt-BR" b="1" dirty="0" smtClean="0">
              <a:latin typeface="Gill Sans MT" pitchFamily="34" charset="0"/>
            </a:endParaRPr>
          </a:p>
          <a:p>
            <a:pPr lvl="0"/>
            <a:endParaRPr lang="pt-BR" b="1" dirty="0" smtClean="0">
              <a:latin typeface="Gill Sans MT" pitchFamily="34" charset="0"/>
            </a:endParaRPr>
          </a:p>
          <a:p>
            <a:r>
              <a:rPr lang="pt-BR" sz="1400" b="1" dirty="0">
                <a:latin typeface="Gill Sans MT" pitchFamily="34" charset="0"/>
              </a:rPr>
              <a:t>Objetivo: </a:t>
            </a:r>
            <a:r>
              <a:rPr lang="pt-BR" sz="1400" dirty="0" smtClean="0">
                <a:latin typeface="Gill Sans MT" pitchFamily="34" charset="0"/>
              </a:rPr>
              <a:t> Mensurar </a:t>
            </a:r>
            <a:r>
              <a:rPr lang="pt-BR" sz="1400" dirty="0">
                <a:latin typeface="Gill Sans MT" pitchFamily="34" charset="0"/>
              </a:rPr>
              <a:t>a experiência dos usuários </a:t>
            </a:r>
            <a:r>
              <a:rPr lang="pt-BR" sz="1400" dirty="0" smtClean="0">
                <a:latin typeface="Gill Sans MT" pitchFamily="34" charset="0"/>
              </a:rPr>
              <a:t>nos sites críticos </a:t>
            </a:r>
            <a:r>
              <a:rPr lang="pt-BR" sz="1400" dirty="0">
                <a:latin typeface="Gill Sans MT" pitchFamily="34" charset="0"/>
              </a:rPr>
              <a:t>da </a:t>
            </a:r>
            <a:r>
              <a:rPr lang="pt-BR" sz="1400" dirty="0" smtClean="0">
                <a:latin typeface="Gill Sans MT" pitchFamily="34" charset="0"/>
              </a:rPr>
              <a:t>Natura</a:t>
            </a:r>
            <a:endParaRPr lang="pt-BR" sz="1400" dirty="0">
              <a:latin typeface="Gill Sans MT" pitchFamily="34" charset="0"/>
            </a:endParaRPr>
          </a:p>
          <a:p>
            <a:endParaRPr lang="pt-BR" sz="1400" b="1" dirty="0" smtClean="0">
              <a:latin typeface="Gill Sans MT" pitchFamily="34" charset="0"/>
            </a:endParaRPr>
          </a:p>
          <a:p>
            <a:r>
              <a:rPr lang="pt-BR" sz="1400" b="1" dirty="0" smtClean="0">
                <a:latin typeface="Gill Sans MT" pitchFamily="34" charset="0"/>
              </a:rPr>
              <a:t>Nota</a:t>
            </a:r>
            <a:r>
              <a:rPr lang="pt-BR" sz="1400" b="1" dirty="0">
                <a:latin typeface="Gill Sans MT" pitchFamily="34" charset="0"/>
              </a:rPr>
              <a:t>: </a:t>
            </a:r>
            <a:r>
              <a:rPr lang="pt-BR" sz="1400" dirty="0">
                <a:latin typeface="Gill Sans MT" pitchFamily="34" charset="0"/>
              </a:rPr>
              <a:t>Cada </a:t>
            </a:r>
            <a:r>
              <a:rPr lang="pt-BR" sz="1400" dirty="0" smtClean="0">
                <a:latin typeface="Gill Sans MT" pitchFamily="34" charset="0"/>
              </a:rPr>
              <a:t>experiência tem </a:t>
            </a:r>
            <a:r>
              <a:rPr lang="pt-BR" sz="1400" dirty="0">
                <a:latin typeface="Gill Sans MT" pitchFamily="34" charset="0"/>
              </a:rPr>
              <a:t>o peso igual a </a:t>
            </a:r>
            <a:r>
              <a:rPr lang="pt-BR" sz="1400" dirty="0" smtClean="0">
                <a:latin typeface="Gill Sans MT" pitchFamily="34" charset="0"/>
              </a:rPr>
              <a:t>10% </a:t>
            </a:r>
            <a:r>
              <a:rPr lang="pt-BR" sz="1400" dirty="0">
                <a:latin typeface="Gill Sans MT" pitchFamily="34" charset="0"/>
              </a:rPr>
              <a:t>e são divididos igualmente entre </a:t>
            </a:r>
            <a:r>
              <a:rPr lang="pt-BR" sz="1400" dirty="0" smtClean="0">
                <a:latin typeface="Gill Sans MT" pitchFamily="34" charset="0"/>
              </a:rPr>
              <a:t>as 10 experiências</a:t>
            </a:r>
          </a:p>
          <a:p>
            <a:endParaRPr lang="pt-BR" sz="1400" dirty="0">
              <a:latin typeface="Gill Sans MT" pitchFamily="34" charset="0"/>
            </a:endParaRPr>
          </a:p>
          <a:p>
            <a:pPr lvl="0"/>
            <a:r>
              <a:rPr lang="pt-BR" sz="1400" dirty="0" smtClean="0">
                <a:latin typeface="Gill Sans MT" pitchFamily="34" charset="0"/>
              </a:rPr>
              <a:t>Verificação </a:t>
            </a:r>
            <a:r>
              <a:rPr lang="pt-BR" sz="1400" dirty="0">
                <a:latin typeface="Gill Sans MT" pitchFamily="34" charset="0"/>
              </a:rPr>
              <a:t>de tempo de indisponibilidade apurado no incidente pelo NCC, através do output gerado </a:t>
            </a:r>
            <a:r>
              <a:rPr lang="pt-BR" sz="1400" dirty="0" smtClean="0">
                <a:latin typeface="Gill Sans MT" pitchFamily="34" charset="0"/>
              </a:rPr>
              <a:t>pela ferramenta “</a:t>
            </a:r>
            <a:r>
              <a:rPr lang="pt-BR" sz="1400" dirty="0" err="1" smtClean="0">
                <a:latin typeface="Gill Sans MT" pitchFamily="34" charset="0"/>
              </a:rPr>
              <a:t>dynaTrace</a:t>
            </a:r>
            <a:r>
              <a:rPr lang="pt-BR" sz="1400" dirty="0" smtClean="0">
                <a:latin typeface="Gill Sans MT" pitchFamily="34" charset="0"/>
              </a:rPr>
              <a:t>”</a:t>
            </a:r>
            <a:endParaRPr lang="pt-BR" sz="1400" dirty="0">
              <a:latin typeface="Gill Sans MT" pitchFamily="34" charset="0"/>
            </a:endParaRPr>
          </a:p>
          <a:p>
            <a:pPr lvl="0"/>
            <a:endParaRPr lang="pt-BR" sz="1400" dirty="0">
              <a:latin typeface="Gill Sans MT" pitchFamily="34" charset="0"/>
            </a:endParaRPr>
          </a:p>
          <a:p>
            <a:pPr lvl="0"/>
            <a:r>
              <a:rPr lang="pt-BR" sz="1400" dirty="0" smtClean="0">
                <a:latin typeface="Gill Sans MT" pitchFamily="34" charset="0"/>
              </a:rPr>
              <a:t>Racional </a:t>
            </a:r>
            <a:r>
              <a:rPr lang="pt-BR" sz="1400" dirty="0">
                <a:latin typeface="Gill Sans MT" pitchFamily="34" charset="0"/>
              </a:rPr>
              <a:t>da medição da experiência do usuário:</a:t>
            </a:r>
          </a:p>
          <a:p>
            <a:pPr marL="628650" lvl="1" indent="-171450">
              <a:buFont typeface="Arial" pitchFamily="34" charset="0"/>
              <a:buChar char="•"/>
            </a:pPr>
            <a:r>
              <a:rPr lang="pt-BR" sz="1400" dirty="0">
                <a:latin typeface="Gill Sans MT" pitchFamily="34" charset="0"/>
              </a:rPr>
              <a:t>Os usuários têm uma experiência </a:t>
            </a:r>
            <a:r>
              <a:rPr lang="pt-BR" sz="1400" dirty="0">
                <a:solidFill>
                  <a:srgbClr val="00B050"/>
                </a:solidFill>
                <a:latin typeface="Gill Sans MT" pitchFamily="34" charset="0"/>
              </a:rPr>
              <a:t>satisfatória</a:t>
            </a:r>
            <a:r>
              <a:rPr lang="pt-BR" sz="1400" dirty="0">
                <a:latin typeface="Gill Sans MT" pitchFamily="34" charset="0"/>
              </a:rPr>
              <a:t> se:</a:t>
            </a:r>
          </a:p>
          <a:p>
            <a:pPr lvl="1"/>
            <a:r>
              <a:rPr lang="pt-BR" sz="1400" dirty="0">
                <a:latin typeface="Gill Sans MT" pitchFamily="34" charset="0"/>
              </a:rPr>
              <a:t>- Nenhuma ação falhou</a:t>
            </a:r>
          </a:p>
          <a:p>
            <a:pPr lvl="1"/>
            <a:r>
              <a:rPr lang="pt-BR" sz="1400" dirty="0">
                <a:latin typeface="Gill Sans MT" pitchFamily="34" charset="0"/>
              </a:rPr>
              <a:t>- Mais de 50% de todas as ações de página estão satisfazendo</a:t>
            </a:r>
          </a:p>
          <a:p>
            <a:pPr lvl="1"/>
            <a:endParaRPr lang="pt-BR" sz="1400" dirty="0">
              <a:latin typeface="Gill Sans MT" pitchFamily="34" charset="0"/>
            </a:endParaRPr>
          </a:p>
          <a:p>
            <a:pPr lvl="1"/>
            <a:r>
              <a:rPr lang="pt-BR" sz="1400" dirty="0">
                <a:latin typeface="Gill Sans MT" pitchFamily="34" charset="0"/>
              </a:rPr>
              <a:t>• Os usuários têm uma experiência </a:t>
            </a:r>
            <a:r>
              <a:rPr lang="pt-BR" sz="1400" dirty="0">
                <a:solidFill>
                  <a:srgbClr val="FF0000"/>
                </a:solidFill>
                <a:latin typeface="Gill Sans MT" pitchFamily="34" charset="0"/>
              </a:rPr>
              <a:t>frustrante</a:t>
            </a:r>
            <a:r>
              <a:rPr lang="pt-BR" sz="1400" dirty="0">
                <a:latin typeface="Gill Sans MT" pitchFamily="34" charset="0"/>
              </a:rPr>
              <a:t> se:</a:t>
            </a:r>
          </a:p>
          <a:p>
            <a:pPr lvl="1"/>
            <a:r>
              <a:rPr lang="pt-BR" sz="1400" dirty="0">
                <a:latin typeface="Gill Sans MT" pitchFamily="34" charset="0"/>
              </a:rPr>
              <a:t>- Última ação falhou</a:t>
            </a:r>
          </a:p>
          <a:p>
            <a:pPr lvl="1"/>
            <a:r>
              <a:rPr lang="pt-BR" sz="1400" dirty="0">
                <a:latin typeface="Gill Sans MT" pitchFamily="34" charset="0"/>
              </a:rPr>
              <a:t>- Última ação foi frustrada</a:t>
            </a:r>
          </a:p>
          <a:p>
            <a:pPr lvl="1"/>
            <a:r>
              <a:rPr lang="pt-BR" sz="1400" dirty="0">
                <a:latin typeface="Gill Sans MT" pitchFamily="34" charset="0"/>
              </a:rPr>
              <a:t>- Mais de 50% de todas as ações foram frustrantes</a:t>
            </a:r>
          </a:p>
          <a:p>
            <a:pPr lvl="1"/>
            <a:endParaRPr lang="pt-BR" sz="1400" dirty="0">
              <a:latin typeface="Gill Sans MT" pitchFamily="34" charset="0"/>
            </a:endParaRPr>
          </a:p>
          <a:p>
            <a:pPr lvl="1"/>
            <a:r>
              <a:rPr lang="pt-BR" sz="1400" dirty="0">
                <a:latin typeface="Gill Sans MT" pitchFamily="34" charset="0"/>
              </a:rPr>
              <a:t>• Os usuários têm uma experiência </a:t>
            </a:r>
            <a:r>
              <a:rPr lang="pt-BR" sz="1400" dirty="0">
                <a:solidFill>
                  <a:srgbClr val="FFC000"/>
                </a:solidFill>
                <a:latin typeface="Gill Sans MT" pitchFamily="34" charset="0"/>
              </a:rPr>
              <a:t>tolerante</a:t>
            </a:r>
            <a:r>
              <a:rPr lang="pt-BR" sz="1400" dirty="0">
                <a:latin typeface="Gill Sans MT" pitchFamily="34" charset="0"/>
              </a:rPr>
              <a:t> se:</a:t>
            </a:r>
          </a:p>
          <a:p>
            <a:pPr lvl="1"/>
            <a:r>
              <a:rPr lang="pt-BR" sz="1400" dirty="0">
                <a:latin typeface="Gill Sans MT" pitchFamily="34" charset="0"/>
              </a:rPr>
              <a:t>- Última ação não foi frustrante ou não falhou</a:t>
            </a:r>
          </a:p>
          <a:p>
            <a:pPr lvl="1"/>
            <a:r>
              <a:rPr lang="pt-BR" sz="1400" dirty="0">
                <a:latin typeface="Gill Sans MT" pitchFamily="34" charset="0"/>
              </a:rPr>
              <a:t>- Menos de 50% de todas as ações foram satisfatórias</a:t>
            </a:r>
          </a:p>
          <a:p>
            <a:pPr lvl="1"/>
            <a:r>
              <a:rPr lang="pt-BR" sz="1400" dirty="0">
                <a:latin typeface="Gill Sans MT" pitchFamily="34" charset="0"/>
              </a:rPr>
              <a:t>- Mais do que 50% de todas as ações foram, pelo menos, tolerante.</a:t>
            </a:r>
          </a:p>
          <a:p>
            <a:pPr lvl="1"/>
            <a:endParaRPr lang="pt-BR" sz="1200" dirty="0" smtClean="0">
              <a:latin typeface="Gill Sans MT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53886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de cantos arredondados 5"/>
          <p:cNvSpPr/>
          <p:nvPr/>
        </p:nvSpPr>
        <p:spPr>
          <a:xfrm>
            <a:off x="88904" y="116632"/>
            <a:ext cx="9769152" cy="648072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>
            <a:noFill/>
            <a:miter lim="800000"/>
            <a:headEnd/>
            <a:tailEnd/>
          </a:ln>
        </p:spPr>
        <p:txBody>
          <a:bodyPr rot="10800000" wrap="none" anchor="ctr"/>
          <a:lstStyle/>
          <a:p>
            <a:pPr eaLnBrk="0" hangingPunct="0">
              <a:defRPr/>
            </a:pPr>
            <a:endParaRPr lang="pt-BR" sz="2000" b="1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488504" y="260648"/>
            <a:ext cx="9001000" cy="5170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pt-BR" sz="2000" b="1" dirty="0">
                <a:latin typeface="Gill Sans MT" pitchFamily="34" charset="0"/>
              </a:rPr>
              <a:t>Medição – </a:t>
            </a:r>
            <a:r>
              <a:rPr lang="pt-BR" sz="2000" b="1" dirty="0" smtClean="0">
                <a:latin typeface="Gill Sans MT" pitchFamily="34" charset="0"/>
              </a:rPr>
              <a:t>Experiência do Usuário</a:t>
            </a:r>
            <a:endParaRPr lang="pt-BR" sz="2000" b="1" dirty="0">
              <a:latin typeface="Gill Sans MT" pitchFamily="34" charset="0"/>
            </a:endParaRPr>
          </a:p>
          <a:p>
            <a:pPr lvl="0"/>
            <a:endParaRPr lang="pt-BR" b="1" dirty="0" smtClean="0">
              <a:latin typeface="Gill Sans MT" pitchFamily="34" charset="0"/>
            </a:endParaRPr>
          </a:p>
          <a:p>
            <a:r>
              <a:rPr lang="pt-BR" sz="1400" b="1" dirty="0">
                <a:latin typeface="Gill Sans MT" pitchFamily="34" charset="0"/>
              </a:rPr>
              <a:t>Definição dos objetivos:</a:t>
            </a:r>
          </a:p>
          <a:p>
            <a:endParaRPr lang="pt-BR" sz="1400" dirty="0">
              <a:latin typeface="Gill Sans MT" pitchFamily="34" charset="0"/>
            </a:endParaRPr>
          </a:p>
          <a:p>
            <a:r>
              <a:rPr lang="pt-BR" sz="1400" dirty="0" smtClean="0">
                <a:latin typeface="Gill Sans MT" pitchFamily="34" charset="0"/>
              </a:rPr>
              <a:t>1. Cálculo da </a:t>
            </a:r>
            <a:r>
              <a:rPr lang="pt-BR" sz="1400" dirty="0">
                <a:latin typeface="Gill Sans MT" pitchFamily="34" charset="0"/>
              </a:rPr>
              <a:t>média histórica de cada “site</a:t>
            </a:r>
            <a:r>
              <a:rPr lang="pt-BR" sz="1400" dirty="0" smtClean="0">
                <a:latin typeface="Gill Sans MT" pitchFamily="34" charset="0"/>
              </a:rPr>
              <a:t>”. Registro da </a:t>
            </a:r>
            <a:r>
              <a:rPr lang="pt-BR" sz="1400" dirty="0">
                <a:latin typeface="Gill Sans MT" pitchFamily="34" charset="0"/>
              </a:rPr>
              <a:t>melhor performance obtida (benchmarking)</a:t>
            </a:r>
          </a:p>
          <a:p>
            <a:r>
              <a:rPr lang="pt-BR" sz="1400" dirty="0" smtClean="0">
                <a:latin typeface="Gill Sans MT" pitchFamily="34" charset="0"/>
              </a:rPr>
              <a:t>2. Definição do GAP. GAP = </a:t>
            </a:r>
            <a:r>
              <a:rPr lang="pt-BR" sz="1400" dirty="0">
                <a:latin typeface="Gill Sans MT" pitchFamily="34" charset="0"/>
              </a:rPr>
              <a:t>(benchmarking - média)</a:t>
            </a:r>
          </a:p>
          <a:p>
            <a:r>
              <a:rPr lang="pt-BR" sz="1400" dirty="0" smtClean="0">
                <a:latin typeface="Gill Sans MT" pitchFamily="34" charset="0"/>
              </a:rPr>
              <a:t>3. Definição do </a:t>
            </a:r>
            <a:r>
              <a:rPr lang="pt-BR" sz="1400" dirty="0">
                <a:latin typeface="Gill Sans MT" pitchFamily="34" charset="0"/>
              </a:rPr>
              <a:t>valor de redução / melhoria do GAP</a:t>
            </a:r>
          </a:p>
          <a:p>
            <a:r>
              <a:rPr lang="pt-BR" sz="1400" dirty="0" smtClean="0">
                <a:latin typeface="Gill Sans MT" pitchFamily="34" charset="0"/>
              </a:rPr>
              <a:t>4. Definição do </a:t>
            </a:r>
            <a:r>
              <a:rPr lang="pt-BR" sz="1400" dirty="0">
                <a:latin typeface="Gill Sans MT" pitchFamily="34" charset="0"/>
              </a:rPr>
              <a:t>objetivo que é a </a:t>
            </a:r>
            <a:r>
              <a:rPr lang="pt-BR" sz="1400" dirty="0" smtClean="0">
                <a:latin typeface="Gill Sans MT" pitchFamily="34" charset="0"/>
              </a:rPr>
              <a:t>média </a:t>
            </a:r>
            <a:r>
              <a:rPr lang="pt-BR" sz="1400" dirty="0">
                <a:latin typeface="Gill Sans MT" pitchFamily="34" charset="0"/>
              </a:rPr>
              <a:t>+ a % de redução do GAP</a:t>
            </a:r>
          </a:p>
          <a:p>
            <a:r>
              <a:rPr lang="pt-BR" sz="1400" dirty="0">
                <a:latin typeface="Gill Sans MT" pitchFamily="34" charset="0"/>
              </a:rPr>
              <a:t> </a:t>
            </a:r>
          </a:p>
          <a:p>
            <a:r>
              <a:rPr lang="pt-BR" sz="1400" dirty="0">
                <a:latin typeface="Gill Sans MT" pitchFamily="34" charset="0"/>
              </a:rPr>
              <a:t>Com esse trabalho concluído e traduzimos a informação em:</a:t>
            </a:r>
          </a:p>
          <a:p>
            <a:r>
              <a:rPr lang="pt-BR" sz="1400" dirty="0">
                <a:latin typeface="Gill Sans MT" pitchFamily="34" charset="0"/>
              </a:rPr>
              <a:t>Mínimo = média </a:t>
            </a:r>
            <a:r>
              <a:rPr lang="pt-BR" sz="1400" dirty="0" smtClean="0">
                <a:latin typeface="Gill Sans MT" pitchFamily="34" charset="0"/>
              </a:rPr>
              <a:t>2014 - </a:t>
            </a:r>
            <a:r>
              <a:rPr lang="pt-BR" sz="1400" dirty="0">
                <a:latin typeface="Gill Sans MT" pitchFamily="34" charset="0"/>
              </a:rPr>
              <a:t>% de redução do GAP </a:t>
            </a:r>
            <a:endParaRPr lang="pt-BR" sz="1400" dirty="0" smtClean="0">
              <a:latin typeface="Gill Sans MT" pitchFamily="34" charset="0"/>
            </a:endParaRPr>
          </a:p>
          <a:p>
            <a:r>
              <a:rPr lang="pt-BR" sz="1400" dirty="0" smtClean="0">
                <a:latin typeface="Gill Sans MT" pitchFamily="34" charset="0"/>
              </a:rPr>
              <a:t>Meta </a:t>
            </a:r>
            <a:r>
              <a:rPr lang="pt-BR" sz="1400" dirty="0">
                <a:latin typeface="Gill Sans MT" pitchFamily="34" charset="0"/>
              </a:rPr>
              <a:t>= média </a:t>
            </a:r>
            <a:r>
              <a:rPr lang="pt-BR" sz="1400" dirty="0" smtClean="0">
                <a:latin typeface="Gill Sans MT" pitchFamily="34" charset="0"/>
              </a:rPr>
              <a:t>2014</a:t>
            </a:r>
          </a:p>
          <a:p>
            <a:r>
              <a:rPr lang="pt-BR" sz="1400" dirty="0" smtClean="0">
                <a:latin typeface="Gill Sans MT" pitchFamily="34" charset="0"/>
              </a:rPr>
              <a:t>Desafio </a:t>
            </a:r>
            <a:r>
              <a:rPr lang="pt-BR" sz="1400" dirty="0">
                <a:latin typeface="Gill Sans MT" pitchFamily="34" charset="0"/>
              </a:rPr>
              <a:t>= média </a:t>
            </a:r>
            <a:r>
              <a:rPr lang="pt-BR" sz="1400" dirty="0" smtClean="0">
                <a:latin typeface="Gill Sans MT" pitchFamily="34" charset="0"/>
              </a:rPr>
              <a:t>2014 + </a:t>
            </a:r>
            <a:r>
              <a:rPr lang="pt-BR" sz="1400" dirty="0">
                <a:latin typeface="Gill Sans MT" pitchFamily="34" charset="0"/>
              </a:rPr>
              <a:t>% de redução do GAP</a:t>
            </a:r>
          </a:p>
          <a:p>
            <a:endParaRPr lang="pt-BR" sz="1400" dirty="0" smtClean="0">
              <a:latin typeface="Gill Sans MT" pitchFamily="34" charset="0"/>
            </a:endParaRPr>
          </a:p>
          <a:p>
            <a:endParaRPr lang="pt-BR" sz="1400" dirty="0">
              <a:latin typeface="Gill Sans MT" pitchFamily="34" charset="0"/>
            </a:endParaRPr>
          </a:p>
          <a:p>
            <a:r>
              <a:rPr lang="pt-BR" sz="1400" b="1" dirty="0">
                <a:latin typeface="Gill Sans MT" pitchFamily="34" charset="0"/>
              </a:rPr>
              <a:t>Nota </a:t>
            </a:r>
            <a:r>
              <a:rPr lang="pt-BR" sz="1400" b="1" dirty="0">
                <a:latin typeface="Gill Sans MT" pitchFamily="34" charset="0"/>
              </a:rPr>
              <a:t>I: </a:t>
            </a:r>
            <a:r>
              <a:rPr lang="pt-BR" sz="1400" dirty="0">
                <a:latin typeface="Gill Sans MT" pitchFamily="34" charset="0"/>
              </a:rPr>
              <a:t>O percentual de redução do GAP de todos os “sites” foi de 40%, com exceção do Rede Capta que foi de </a:t>
            </a:r>
            <a:r>
              <a:rPr lang="pt-BR" sz="1400" dirty="0" smtClean="0">
                <a:latin typeface="Gill Sans MT" pitchFamily="34" charset="0"/>
              </a:rPr>
              <a:t>76%.</a:t>
            </a:r>
            <a:endParaRPr lang="pt-BR" sz="1400" dirty="0">
              <a:latin typeface="Gill Sans MT" pitchFamily="34" charset="0"/>
            </a:endParaRPr>
          </a:p>
          <a:p>
            <a:r>
              <a:rPr lang="pt-BR" sz="1400" b="1" dirty="0" smtClean="0">
                <a:latin typeface="Gill Sans MT" pitchFamily="34" charset="0"/>
              </a:rPr>
              <a:t>Nota II: </a:t>
            </a:r>
            <a:r>
              <a:rPr lang="pt-BR" sz="1400" dirty="0">
                <a:latin typeface="Gill Sans MT" pitchFamily="34" charset="0"/>
              </a:rPr>
              <a:t>O peso das experiências será igual entre cada experiência (10% cada uma)</a:t>
            </a:r>
          </a:p>
          <a:p>
            <a:endParaRPr lang="pt-BR" sz="1400" dirty="0" smtClean="0">
              <a:latin typeface="Gill Sans MT" pitchFamily="34" charset="0"/>
            </a:endParaRPr>
          </a:p>
          <a:p>
            <a:endParaRPr lang="pt-BR" sz="1400" dirty="0">
              <a:latin typeface="Gill Sans MT" pitchFamily="34" charset="0"/>
            </a:endParaRPr>
          </a:p>
          <a:p>
            <a:endParaRPr lang="pt-BR" sz="1400" dirty="0" smtClean="0">
              <a:latin typeface="Gill Sans MT" pitchFamily="34" charset="0"/>
            </a:endParaRPr>
          </a:p>
          <a:p>
            <a:endParaRPr lang="pt-BR" sz="1400" dirty="0" smtClean="0">
              <a:latin typeface="Gill Sans MT" pitchFamily="34" charset="0"/>
            </a:endParaRPr>
          </a:p>
          <a:p>
            <a:r>
              <a:rPr lang="pt-BR" sz="1400" dirty="0" smtClean="0">
                <a:latin typeface="Gill Sans MT" pitchFamily="34" charset="0"/>
              </a:rPr>
              <a:t>Definição </a:t>
            </a:r>
            <a:r>
              <a:rPr lang="pt-BR" sz="1400" dirty="0">
                <a:latin typeface="Gill Sans MT" pitchFamily="34" charset="0"/>
              </a:rPr>
              <a:t>proposta 2015 para aplicações </a:t>
            </a:r>
            <a:r>
              <a:rPr lang="pt-BR" sz="1400" dirty="0" smtClean="0">
                <a:latin typeface="Gill Sans MT" pitchFamily="34" charset="0"/>
              </a:rPr>
              <a:t>críticas (ver </a:t>
            </a:r>
            <a:r>
              <a:rPr lang="pt-BR" sz="1400" dirty="0" smtClean="0">
                <a:latin typeface="Gill Sans MT" pitchFamily="34" charset="0"/>
                <a:hlinkClick r:id="rId2" action="ppaction://hlinksldjump"/>
              </a:rPr>
              <a:t>próximo slide</a:t>
            </a:r>
            <a:r>
              <a:rPr lang="pt-BR" sz="1400" dirty="0" smtClean="0">
                <a:latin typeface="Gill Sans MT" pitchFamily="34" charset="0"/>
              </a:rPr>
              <a:t>)</a:t>
            </a:r>
            <a:endParaRPr lang="pt-BR" sz="1400" dirty="0">
              <a:latin typeface="Gill Sans MT" pitchFamily="34" charset="0"/>
            </a:endParaRPr>
          </a:p>
          <a:p>
            <a:pPr lvl="1"/>
            <a:endParaRPr lang="pt-BR" sz="1200" dirty="0" smtClean="0">
              <a:latin typeface="Gill Sans MT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80767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480" y="1005938"/>
            <a:ext cx="9418190" cy="53753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etângulo de cantos arredondados 5"/>
          <p:cNvSpPr/>
          <p:nvPr/>
        </p:nvSpPr>
        <p:spPr>
          <a:xfrm>
            <a:off x="88904" y="116632"/>
            <a:ext cx="9769152" cy="648072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>
            <a:noFill/>
            <a:miter lim="800000"/>
            <a:headEnd/>
            <a:tailEnd/>
          </a:ln>
        </p:spPr>
        <p:txBody>
          <a:bodyPr rot="10800000" wrap="none" anchor="ctr"/>
          <a:lstStyle/>
          <a:p>
            <a:pPr eaLnBrk="0" hangingPunct="0">
              <a:defRPr/>
            </a:pPr>
            <a:endParaRPr lang="pt-BR" sz="2000" b="1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5" name="Retângulo 4"/>
          <p:cNvSpPr/>
          <p:nvPr/>
        </p:nvSpPr>
        <p:spPr>
          <a:xfrm>
            <a:off x="416496" y="256002"/>
            <a:ext cx="38427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pt-BR" b="1" dirty="0">
                <a:latin typeface="Gill Sans MT" pitchFamily="34" charset="0"/>
              </a:rPr>
              <a:t>Medição – Experiência do Usuário</a:t>
            </a:r>
            <a:endParaRPr lang="pt-BR" b="1" dirty="0">
              <a:latin typeface="Gill Sans MT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01090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7" descr="C:\Documents and Settings\Isabel\Desktop\logo4cores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59500"/>
            <a:ext cx="1006475" cy="698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6" name="Tabela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3095311"/>
              </p:ext>
            </p:extLst>
          </p:nvPr>
        </p:nvGraphicFramePr>
        <p:xfrm>
          <a:off x="1856656" y="1556792"/>
          <a:ext cx="4471303" cy="2286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32287"/>
                <a:gridCol w="1739016"/>
              </a:tblGrid>
              <a:tr h="190500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pt-BR" sz="1100" b="1" u="none" strike="noStrike" dirty="0" smtClean="0">
                          <a:effectLst/>
                        </a:rPr>
                        <a:t>Aplicação / Sistema</a:t>
                      </a:r>
                      <a:endParaRPr lang="pt-B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1" u="none" strike="noStrike" dirty="0">
                          <a:effectLst/>
                        </a:rPr>
                        <a:t>por </a:t>
                      </a:r>
                      <a:r>
                        <a:rPr lang="pt-BR" sz="1100" b="1" u="none" strike="noStrike" dirty="0" smtClean="0">
                          <a:effectLst/>
                        </a:rPr>
                        <a:t>Hora *</a:t>
                      </a:r>
                      <a:endParaRPr lang="pt-B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1" u="none" strike="noStrike" dirty="0">
                          <a:effectLst/>
                        </a:rPr>
                        <a:t>registro mais antigo</a:t>
                      </a:r>
                      <a:endParaRPr lang="pt-B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>
                          <a:effectLst/>
                        </a:rPr>
                        <a:t>cadastro.rede.natura.net (Rede CAD)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u="none" strike="noStrike">
                          <a:effectLst/>
                        </a:rPr>
                        <a:t>12/nov/14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>
                          <a:effectLst/>
                        </a:rPr>
                        <a:t>cobrancanet.natura.net (credito e Cobrança)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u="none" strike="noStrike">
                          <a:effectLst/>
                        </a:rPr>
                        <a:t>09/nov/14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>
                          <a:effectLst/>
                        </a:rPr>
                        <a:t>painel.rede.natura.net (Rede ADM)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u="none" strike="noStrike">
                          <a:effectLst/>
                        </a:rPr>
                        <a:t>09/nov/14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>
                          <a:effectLst/>
                        </a:rPr>
                        <a:t>pedidos2.natura.net (Capta Web)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u="none" strike="noStrike">
                          <a:effectLst/>
                        </a:rPr>
                        <a:t>09/nov/14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>
                          <a:effectLst/>
                        </a:rPr>
                        <a:t>pedidoscan.natura.net (Capta CAN)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u="none" strike="noStrike">
                          <a:effectLst/>
                        </a:rPr>
                        <a:t>09/nov/14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>
                          <a:effectLst/>
                        </a:rPr>
                        <a:t>rede.natura.net (Rede Capta)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u="none" strike="noStrike">
                          <a:effectLst/>
                        </a:rPr>
                        <a:t>09/nov/14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>
                          <a:effectLst/>
                        </a:rPr>
                        <a:t>sfv.natura.net (site GR)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u="none" strike="noStrike">
                          <a:effectLst/>
                        </a:rPr>
                        <a:t>09/nov/14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>
                          <a:effectLst/>
                        </a:rPr>
                        <a:t>sitecf (site CF)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u="none" strike="noStrike">
                          <a:effectLst/>
                        </a:rPr>
                        <a:t>09/nov/14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 dirty="0" err="1">
                          <a:effectLst/>
                        </a:rPr>
                        <a:t>sitecn</a:t>
                      </a:r>
                      <a:r>
                        <a:rPr lang="pt-BR" sz="1100" u="none" strike="noStrike" dirty="0">
                          <a:effectLst/>
                        </a:rPr>
                        <a:t> (Site CN)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u="none" strike="noStrike">
                          <a:effectLst/>
                        </a:rPr>
                        <a:t>09/nov/14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>
                          <a:effectLst/>
                        </a:rPr>
                        <a:t>scnob.natura.net (Site CNO)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u="none" strike="noStrike" dirty="0">
                          <a:effectLst/>
                        </a:rPr>
                        <a:t>09/</a:t>
                      </a:r>
                      <a:r>
                        <a:rPr lang="pt-BR" sz="1100" u="none" strike="noStrike" dirty="0" err="1">
                          <a:effectLst/>
                        </a:rPr>
                        <a:t>nov</a:t>
                      </a:r>
                      <a:r>
                        <a:rPr lang="pt-BR" sz="1100" u="none" strike="noStrike" dirty="0">
                          <a:effectLst/>
                        </a:rPr>
                        <a:t>/14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  <p:sp>
        <p:nvSpPr>
          <p:cNvPr id="7" name="Retângulo 6"/>
          <p:cNvSpPr/>
          <p:nvPr/>
        </p:nvSpPr>
        <p:spPr>
          <a:xfrm>
            <a:off x="791269" y="620689"/>
            <a:ext cx="862622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b="1" dirty="0" smtClean="0">
                <a:latin typeface="Gill Sans MT" pitchFamily="34" charset="0"/>
              </a:rPr>
              <a:t>Aplicações / Sistemas – histórico utilizado para confecção dos indicadores</a:t>
            </a:r>
            <a:endParaRPr lang="pt-BR" dirty="0"/>
          </a:p>
        </p:txBody>
      </p:sp>
      <p:sp>
        <p:nvSpPr>
          <p:cNvPr id="8" name="Retângulo 7"/>
          <p:cNvSpPr/>
          <p:nvPr/>
        </p:nvSpPr>
        <p:spPr>
          <a:xfrm>
            <a:off x="1856656" y="4077072"/>
            <a:ext cx="485902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"/>
            <a:r>
              <a:rPr lang="pt-BR" sz="1200" dirty="0" smtClean="0"/>
              <a:t>* Informação extraída do </a:t>
            </a:r>
            <a:r>
              <a:rPr lang="pt-BR" sz="1200" dirty="0" err="1" smtClean="0"/>
              <a:t>dynatrace</a:t>
            </a:r>
            <a:r>
              <a:rPr lang="pt-BR" sz="1200" dirty="0" smtClean="0"/>
              <a:t> (dados mais antigos disponíveis)</a:t>
            </a:r>
            <a:endParaRPr lang="pt-BR" sz="1200" dirty="0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607135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906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3" name="TextBox 5"/>
          <p:cNvSpPr txBox="1">
            <a:spLocks noChangeArrowheads="1"/>
          </p:cNvSpPr>
          <p:nvPr/>
        </p:nvSpPr>
        <p:spPr bwMode="auto">
          <a:xfrm>
            <a:off x="414470" y="2698750"/>
            <a:ext cx="7916201" cy="1036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sz="6200" b="1">
                <a:solidFill>
                  <a:schemeClr val="bg1"/>
                </a:solidFill>
                <a:latin typeface="Verdana" charset="0"/>
              </a:rPr>
              <a:t>fim. </a:t>
            </a:r>
            <a:r>
              <a:rPr lang="en-US" sz="6200" b="1">
                <a:solidFill>
                  <a:srgbClr val="8ECCDF"/>
                </a:solidFill>
                <a:latin typeface="Verdana" charset="0"/>
              </a:rPr>
              <a:t>obrigado.</a:t>
            </a:r>
          </a:p>
        </p:txBody>
      </p:sp>
      <p:pic>
        <p:nvPicPr>
          <p:cNvPr id="20485" name="Picture 7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478573" y="2895600"/>
            <a:ext cx="811742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429922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5">
            <a:lumMod val="40000"/>
            <a:lumOff val="60000"/>
            <a:alpha val="0"/>
          </a:schemeClr>
        </a:solidFill>
        <a:ln>
          <a:noFill/>
        </a:ln>
      </a:spPr>
      <a:bodyPr anchor="ctr"/>
      <a:lstStyle>
        <a:defPPr algn="ctr">
          <a:defRPr sz="1200" b="1" dirty="0">
            <a:ln w="18000">
              <a:solidFill>
                <a:schemeClr val="accent2">
                  <a:satMod val="140000"/>
                </a:schemeClr>
              </a:solidFill>
              <a:prstDash val="solid"/>
              <a:miter lim="800000"/>
            </a:ln>
            <a:noFill/>
            <a:effectLst>
              <a:outerShdw blurRad="25500" dist="23000" dir="7020000" algn="tl">
                <a:srgbClr val="000000">
                  <a:alpha val="50000"/>
                </a:srgbClr>
              </a:outerShdw>
            </a:effectLst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84749FBCA3E65145B799FE91F434A599" ma:contentTypeVersion="1" ma:contentTypeDescription="Crie um novo documento." ma:contentTypeScope="" ma:versionID="5c27fe7b0d0116561977fca6aad1ec17">
  <xsd:schema xmlns:xsd="http://www.w3.org/2001/XMLSchema" xmlns:xs="http://www.w3.org/2001/XMLSchema" xmlns:p="http://schemas.microsoft.com/office/2006/metadata/properties" xmlns:ns2="867f0935-838b-48e9-bcd8-c60de706455f" targetNamespace="http://schemas.microsoft.com/office/2006/metadata/properties" ma:root="true" ma:fieldsID="a8ee3b5201f5a47bf7acf586e5b50831" ns2:_="">
    <xsd:import namespace="867f0935-838b-48e9-bcd8-c60de706455f"/>
    <xsd:element name="properties">
      <xsd:complexType>
        <xsd:sequence>
          <xsd:element name="documentManagement">
            <xsd:complexType>
              <xsd:all>
                <xsd:element ref="ns2:Categori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67f0935-838b-48e9-bcd8-c60de706455f" elementFormDefault="qualified">
    <xsd:import namespace="http://schemas.microsoft.com/office/2006/documentManagement/types"/>
    <xsd:import namespace="http://schemas.microsoft.com/office/infopath/2007/PartnerControls"/>
    <xsd:element name="Categoria" ma:index="2" nillable="true" ma:displayName="Categoria" ma:default="Gestao de Problemas" ma:format="Dropdown" ma:internalName="Categoria">
      <xsd:simpleType>
        <xsd:restriction base="dms:Choice">
          <xsd:enumeration value="Gestao de Problemas"/>
          <xsd:enumeration value="Controles"/>
          <xsd:enumeration value="Gestão de Mudanças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Tipo de Conteúdo"/>
        <xsd:element ref="dc:title" minOccurs="0" maxOccurs="1" ma:index="1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Categoria xmlns="867f0935-838b-48e9-bcd8-c60de706455f">Gestao de Problemas</Categoria>
  </documentManagement>
</p:properties>
</file>

<file path=customXml/itemProps1.xml><?xml version="1.0" encoding="utf-8"?>
<ds:datastoreItem xmlns:ds="http://schemas.openxmlformats.org/officeDocument/2006/customXml" ds:itemID="{BC96BB8A-EF09-4FA0-AC4C-2F4C27962A6C}"/>
</file>

<file path=customXml/itemProps2.xml><?xml version="1.0" encoding="utf-8"?>
<ds:datastoreItem xmlns:ds="http://schemas.openxmlformats.org/officeDocument/2006/customXml" ds:itemID="{8A0FB36B-82B5-4C44-892F-8276623F54ED}"/>
</file>

<file path=customXml/itemProps3.xml><?xml version="1.0" encoding="utf-8"?>
<ds:datastoreItem xmlns:ds="http://schemas.openxmlformats.org/officeDocument/2006/customXml" ds:itemID="{DC24815A-2D80-41F3-9453-B3CAF7F080E0}"/>
</file>

<file path=docProps/app.xml><?xml version="1.0" encoding="utf-8"?>
<Properties xmlns="http://schemas.openxmlformats.org/officeDocument/2006/extended-properties" xmlns:vt="http://schemas.openxmlformats.org/officeDocument/2006/docPropsVTypes">
  <TotalTime>57185</TotalTime>
  <Words>1006</Words>
  <Application>Microsoft Office PowerPoint</Application>
  <PresentationFormat>Papel A4 (210 x 297 mm)</PresentationFormat>
  <Paragraphs>238</Paragraphs>
  <Slides>15</Slides>
  <Notes>0</Notes>
  <HiddenSlides>1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16" baseType="lpstr"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>MARCIO GOMES</Manager>
  <Company>NATURA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Indicadores de TI para Elissa</dc:title>
  <dc:creator>Paulo Cazella;HUGO MELCHIADES SALGADO DE MELO/NATURA</dc:creator>
  <cp:lastModifiedBy>br93826</cp:lastModifiedBy>
  <cp:revision>2037</cp:revision>
  <dcterms:created xsi:type="dcterms:W3CDTF">2007-11-04T19:27:17Z</dcterms:created>
  <dcterms:modified xsi:type="dcterms:W3CDTF">2015-01-26T15:58:05Z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0x01010084749FBCA3E65145B799FE91F434A599</vt:lpwstr>
  </property>
  <property fmtid="{D5CDD505-2E9C-101B-9397-08002B2CF9AE}" pid="3" name="Order">
    <vt:r8>22500</vt:r8>
  </property>
  <property fmtid="{D5CDD505-2E9C-101B-9397-08002B2CF9AE}" pid="4" name="TemplateUrl">
    <vt:lpwstr/>
  </property>
  <property fmtid="{D5CDD505-2E9C-101B-9397-08002B2CF9AE}" pid="5" name="_SourceUrl">
    <vt:lpwstr/>
  </property>
  <property fmtid="{D5CDD505-2E9C-101B-9397-08002B2CF9AE}" pid="6" name="_SharedFileIndex">
    <vt:lpwstr/>
  </property>
  <property fmtid="{D5CDD505-2E9C-101B-9397-08002B2CF9AE}" pid="7" name="xd_Signature">
    <vt:bool>false</vt:bool>
  </property>
  <property fmtid="{D5CDD505-2E9C-101B-9397-08002B2CF9AE}" pid="8" name="xd_ProgID">
    <vt:lpwstr/>
  </property>
</Properties>
</file>