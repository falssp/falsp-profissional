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rts/chart7.xml" ContentType="application/vnd.openxmlformats-officedocument.drawingml.chart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321" r:id="rId2"/>
    <p:sldId id="262" r:id="rId3"/>
    <p:sldId id="263" r:id="rId4"/>
    <p:sldId id="311" r:id="rId5"/>
    <p:sldId id="328" r:id="rId6"/>
    <p:sldId id="350" r:id="rId7"/>
    <p:sldId id="330" r:id="rId8"/>
    <p:sldId id="331" r:id="rId9"/>
    <p:sldId id="332" r:id="rId10"/>
    <p:sldId id="333" r:id="rId11"/>
    <p:sldId id="351" r:id="rId12"/>
    <p:sldId id="316" r:id="rId13"/>
    <p:sldId id="317" r:id="rId14"/>
    <p:sldId id="318" r:id="rId15"/>
    <p:sldId id="319" r:id="rId16"/>
    <p:sldId id="322" r:id="rId17"/>
    <p:sldId id="323" r:id="rId18"/>
    <p:sldId id="324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7" r:id="rId27"/>
    <p:sldId id="348" r:id="rId28"/>
    <p:sldId id="349" r:id="rId29"/>
    <p:sldId id="294" r:id="rId30"/>
    <p:sldId id="325" r:id="rId31"/>
    <p:sldId id="327" r:id="rId32"/>
    <p:sldId id="326" r:id="rId33"/>
    <p:sldId id="341" r:id="rId34"/>
    <p:sldId id="345" r:id="rId35"/>
    <p:sldId id="346" r:id="rId36"/>
  </p:sldIdLst>
  <p:sldSz cx="9144000" cy="5145088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E6259"/>
    <a:srgbClr val="FFFF66"/>
    <a:srgbClr val="009999"/>
    <a:srgbClr val="FFFFCC"/>
    <a:srgbClr val="FF3300"/>
    <a:srgbClr val="00AEC7"/>
    <a:srgbClr val="D9D9D6"/>
    <a:srgbClr val="7C6992"/>
    <a:srgbClr val="888B8D"/>
    <a:srgbClr val="B9D3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6445" autoAdjust="0"/>
    <p:restoredTop sz="98046" autoAdjust="0"/>
  </p:normalViewPr>
  <p:slideViewPr>
    <p:cSldViewPr>
      <p:cViewPr>
        <p:scale>
          <a:sx n="80" d="100"/>
          <a:sy n="80" d="100"/>
        </p:scale>
        <p:origin x="-852" y="-360"/>
      </p:cViewPr>
      <p:guideLst>
        <p:guide orient="horz" pos="162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rts/_rels/chart1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Planilha_do_Microsoft_Excel1.xlsx"/><Relationship Id="rId1" Type="http://schemas.openxmlformats.org/officeDocument/2006/relationships/themeOverride" Target="../theme/themeOverride1.xml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Planilha_do_Microsoft_Excel2.xlsx"/><Relationship Id="rId1" Type="http://schemas.openxmlformats.org/officeDocument/2006/relationships/themeOverride" Target="../theme/themeOverride2.xml"/></Relationships>
</file>

<file path=ppt/charts/_rels/chart3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Planilha_do_Microsoft_Excel3.xlsx"/><Relationship Id="rId1" Type="http://schemas.openxmlformats.org/officeDocument/2006/relationships/themeOverride" Target="../theme/themeOverride3.xml"/></Relationships>
</file>

<file path=ppt/charts/_rels/chart4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Planilha_do_Microsoft_Excel4.xlsx"/><Relationship Id="rId1" Type="http://schemas.openxmlformats.org/officeDocument/2006/relationships/themeOverride" Target="../theme/themeOverride4.xml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2K05BR\AREAS\Deptos\TI\GOVERNANCA%20E%20PMO\2.PMO%20e%20Portfolio\Portf&#243;lio%202015\COMITE%20CARTEIRA%20TD\04%20-%20ABRIL%20-%2013-03-2015\CARTEIRA%20TD%20-%20PROJETOS%202015%20-v10-04-2015%20-%20RealMar%20vf.xlsx" TargetMode="Externa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2K05BR\AREAS\Deptos\TI\GOVERNANCA%20E%20PMO\2.PMO%20e%20Portfolio\Portf&#243;lio%202015\COMITE%20CARTEIRA%20TD\04%20-%20ABRIL%20-%2013-03-2015\CARTEIRA%20TD%20-%20PROJETOS%202015%20-v10-04-2015%20-%20RealMar%20vf.xlsx" TargetMode="Externa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oleObject" Target="file:///\\FS2K05BR\AREAS\Deptos\TI\GOVERNANCA%20E%20PMO\2.PMO%20e%20Portfolio\Portf&#243;lio%202015\COMITE%20CARTEIRA%20TD\04%20-%20ABRIL%20-%2013-03-2015\CARTEIRA%20TD%20-%20PROJETOS%202015%20-v10-04-2015%20-%20RealMar%20vf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18"/>
    </mc:Choice>
    <mc:Fallback>
      <c:style val="18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dPt>
            <c:idx val="1"/>
            <c:bubble3D val="0"/>
            <c:spPr>
              <a:solidFill>
                <a:srgbClr val="00B050"/>
              </a:solidFill>
            </c:spPr>
          </c:dPt>
          <c:dPt>
            <c:idx val="2"/>
            <c:bubble3D val="0"/>
            <c:spPr>
              <a:solidFill>
                <a:schemeClr val="accent6">
                  <a:lumMod val="75000"/>
                </a:schemeClr>
              </a:solidFill>
            </c:spPr>
          </c:dPt>
          <c:dLbls>
            <c:txPr>
              <a:bodyPr/>
              <a:lstStyle/>
              <a:p>
                <a:pPr>
                  <a:defRPr sz="1100">
                    <a:solidFill>
                      <a:schemeClr val="bg1"/>
                    </a:solidFill>
                  </a:defRPr>
                </a:pPr>
                <a:endParaRPr lang="pt-BR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</c:dLbls>
          <c:cat>
            <c:strRef>
              <c:f>'DASHBOARD '!$B$197:$B$198</c:f>
              <c:strCache>
                <c:ptCount val="2"/>
                <c:pt idx="0">
                  <c:v>Briefings - Ideias Registradas</c:v>
                </c:pt>
                <c:pt idx="1">
                  <c:v>Demandas Priorizadas</c:v>
                </c:pt>
              </c:strCache>
            </c:strRef>
          </c:cat>
          <c:val>
            <c:numRef>
              <c:f>'DASHBOARD '!$C$197:$C$198</c:f>
              <c:numCache>
                <c:formatCode>General</c:formatCode>
                <c:ptCount val="2"/>
                <c:pt idx="0">
                  <c:v>147</c:v>
                </c:pt>
                <c:pt idx="1">
                  <c:v>134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</c:plotArea>
    <c:legend>
      <c:legendPos val="r"/>
      <c:layout>
        <c:manualLayout>
          <c:xMode val="edge"/>
          <c:yMode val="edge"/>
          <c:x val="0.62536114808479604"/>
          <c:y val="0.16836994690538609"/>
          <c:w val="0.34986530387066306"/>
          <c:h val="0.78859452689451237"/>
        </c:manualLayout>
      </c:layout>
      <c:overlay val="0"/>
      <c:txPr>
        <a:bodyPr/>
        <a:lstStyle/>
        <a:p>
          <a:pPr>
            <a:defRPr sz="1100" b="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>
          <a:latin typeface="Gill Sans Std" pitchFamily="34" charset="0"/>
        </a:defRPr>
      </a:pPr>
      <a:endParaRPr lang="pt-BR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200">
                <a:solidFill>
                  <a:schemeClr val="tx1"/>
                </a:solidFill>
              </a:defRPr>
            </a:pPr>
            <a:r>
              <a:rPr lang="pt-BR" sz="1200" dirty="0">
                <a:solidFill>
                  <a:schemeClr val="tx1"/>
                </a:solidFill>
              </a:rPr>
              <a:t>Demandas em Abril/15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38100" cap="flat" cmpd="sng" algn="ctr">
              <a:solidFill>
                <a:schemeClr val="lt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Pt>
            <c:idx val="1"/>
            <c:invertIfNegative val="0"/>
            <c:bubble3D val="0"/>
            <c:spPr>
              <a:solidFill>
                <a:schemeClr val="accent3"/>
              </a:solidFill>
              <a:ln w="38100" cap="flat" cmpd="sng" algn="ctr">
                <a:solidFill>
                  <a:schemeClr val="lt1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txPr>
              <a:bodyPr/>
              <a:lstStyle/>
              <a:p>
                <a:pPr>
                  <a:defRPr sz="1000" b="1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'DASHBOARD '!$B$231:$B$233</c:f>
              <c:strCache>
                <c:ptCount val="3"/>
                <c:pt idx="0">
                  <c:v>DEMANDAS ABERTAS no MÊS</c:v>
                </c:pt>
                <c:pt idx="1">
                  <c:v>DEMANDAS PRIORIZADAS NO FORUM TD no Mês</c:v>
                </c:pt>
                <c:pt idx="2">
                  <c:v>DEMANDAS FECHADAS no MÊS</c:v>
                </c:pt>
              </c:strCache>
            </c:strRef>
          </c:cat>
          <c:val>
            <c:numRef>
              <c:f>'DASHBOARD '!$C$231:$C$233</c:f>
              <c:numCache>
                <c:formatCode>General</c:formatCode>
                <c:ptCount val="3"/>
                <c:pt idx="0">
                  <c:v>51</c:v>
                </c:pt>
                <c:pt idx="1">
                  <c:v>12</c:v>
                </c:pt>
                <c:pt idx="2">
                  <c:v>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89836544"/>
        <c:axId val="92480256"/>
      </c:barChart>
      <c:catAx>
        <c:axId val="8983654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900">
                <a:latin typeface="Gill Sans Std" pitchFamily="34" charset="0"/>
              </a:defRPr>
            </a:pPr>
            <a:endParaRPr lang="pt-BR"/>
          </a:p>
        </c:txPr>
        <c:crossAx val="92480256"/>
        <c:crosses val="autoZero"/>
        <c:auto val="1"/>
        <c:lblAlgn val="ctr"/>
        <c:lblOffset val="100"/>
        <c:noMultiLvlLbl val="0"/>
      </c:catAx>
      <c:valAx>
        <c:axId val="9248025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8983654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latin typeface="Gill Sans Std" pitchFamily="34" charset="0"/>
        </a:defRPr>
      </a:pPr>
      <a:endParaRPr lang="pt-BR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r>
              <a:rPr lang="pt-BR" sz="1200" baseline="0" dirty="0"/>
              <a:t> CAD TD </a:t>
            </a:r>
            <a:r>
              <a:rPr lang="pt-BR" sz="1200" baseline="0" dirty="0" smtClean="0"/>
              <a:t>– 2015</a:t>
            </a:r>
            <a:br>
              <a:rPr lang="pt-BR" sz="1200" baseline="0" dirty="0" smtClean="0"/>
            </a:br>
            <a:r>
              <a:rPr lang="pt-BR" sz="1200" b="0" baseline="0" dirty="0" smtClean="0"/>
              <a:t>(Jan </a:t>
            </a:r>
            <a:r>
              <a:rPr lang="pt-BR" sz="1200" b="0" baseline="0" dirty="0" smtClean="0"/>
              <a:t>a </a:t>
            </a:r>
            <a:r>
              <a:rPr lang="pt-BR" sz="1200" b="0" baseline="0" dirty="0" err="1" smtClean="0"/>
              <a:t>Abr</a:t>
            </a:r>
            <a:r>
              <a:rPr lang="pt-BR" sz="1200" b="0" baseline="0" dirty="0" smtClean="0"/>
              <a:t>)</a:t>
            </a:r>
            <a:endParaRPr lang="pt-BR" sz="1200" b="0" dirty="0"/>
          </a:p>
        </c:rich>
      </c:tx>
      <c:layout/>
      <c:overlay val="0"/>
    </c:title>
    <c:autoTitleDeleted val="0"/>
    <c:view3D>
      <c:rotX val="0"/>
      <c:rotY val="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'DASHBOARD '!$C$230</c:f>
              <c:strCache>
                <c:ptCount val="1"/>
                <c:pt idx="0">
                  <c:v>INSCRITAS</c:v>
                </c:pt>
              </c:strCache>
            </c:strRef>
          </c:tx>
          <c:spPr>
            <a:solidFill>
              <a:schemeClr val="accent1"/>
            </a:solidFill>
            <a:ln w="38100" cap="flat" cmpd="sng" algn="ctr">
              <a:solidFill>
                <a:schemeClr val="lt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Pt>
            <c:idx val="1"/>
            <c:invertIfNegative val="0"/>
            <c:bubble3D val="0"/>
            <c:spPr>
              <a:solidFill>
                <a:schemeClr val="accent3"/>
              </a:solidFill>
              <a:ln w="38100" cap="flat" cmpd="sng" algn="ctr">
                <a:solidFill>
                  <a:schemeClr val="lt1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txPr>
              <a:bodyPr/>
              <a:lstStyle/>
              <a:p>
                <a:pPr>
                  <a:defRPr sz="1000" b="1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'DASHBOARD '!$B$252:$B$253</c:f>
              <c:strCache>
                <c:ptCount val="2"/>
                <c:pt idx="0">
                  <c:v>P1 Matriculados no CAD</c:v>
                </c:pt>
                <c:pt idx="1">
                  <c:v>P1 Aprovados no CAD</c:v>
                </c:pt>
              </c:strCache>
            </c:strRef>
          </c:cat>
          <c:val>
            <c:numRef>
              <c:f>'DASHBOARD '!$C$252:$C$253</c:f>
              <c:numCache>
                <c:formatCode>General</c:formatCode>
                <c:ptCount val="2"/>
                <c:pt idx="0">
                  <c:v>108</c:v>
                </c:pt>
                <c:pt idx="1">
                  <c:v>75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208468224"/>
        <c:axId val="208498688"/>
        <c:axId val="0"/>
      </c:bar3DChart>
      <c:catAx>
        <c:axId val="208468224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200"/>
            </a:pPr>
            <a:endParaRPr lang="pt-BR"/>
          </a:p>
        </c:txPr>
        <c:crossAx val="208498688"/>
        <c:crosses val="autoZero"/>
        <c:auto val="1"/>
        <c:lblAlgn val="ctr"/>
        <c:lblOffset val="100"/>
        <c:noMultiLvlLbl val="0"/>
      </c:catAx>
      <c:valAx>
        <c:axId val="2084986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8468224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>
          <a:latin typeface="Gill Sans Std" pitchFamily="34" charset="0"/>
        </a:defRPr>
      </a:pPr>
      <a:endParaRPr lang="pt-BR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 sz="1200"/>
            </a:pPr>
            <a:r>
              <a:rPr lang="pt-BR" sz="1200"/>
              <a:t>Demandas de TD - Rituais Abril/2015</a:t>
            </a:r>
          </a:p>
        </c:rich>
      </c:tx>
      <c:layout/>
      <c:overlay val="1"/>
    </c:title>
    <c:autoTitleDeleted val="0"/>
    <c:view3D>
      <c:rotX val="0"/>
      <c:rotY val="0"/>
      <c:rAngAx val="0"/>
      <c:perspective val="0"/>
    </c:view3D>
    <c:floor>
      <c:thickness val="0"/>
    </c:floor>
    <c:sideWall>
      <c:thickness val="0"/>
    </c:sideWall>
    <c:backWall>
      <c:thickness val="0"/>
    </c:backWall>
    <c:plotArea>
      <c:layout>
        <c:manualLayout>
          <c:layoutTarget val="inner"/>
          <c:xMode val="edge"/>
          <c:yMode val="edge"/>
          <c:x val="6.8998139241593148E-2"/>
          <c:y val="0.30354605206405322"/>
          <c:w val="0.90195390189214641"/>
          <c:h val="0.51850780260606799"/>
        </c:manualLayout>
      </c:layout>
      <c:bar3DChart>
        <c:barDir val="col"/>
        <c:grouping val="clustered"/>
        <c:varyColors val="0"/>
        <c:ser>
          <c:idx val="0"/>
          <c:order val="0"/>
          <c:tx>
            <c:strRef>
              <c:f>'DASHBOARD '!$C$230</c:f>
              <c:strCache>
                <c:ptCount val="1"/>
                <c:pt idx="0">
                  <c:v>MATRICULADAS</c:v>
                </c:pt>
              </c:strCache>
            </c:strRef>
          </c:tx>
          <c:spPr>
            <a:solidFill>
              <a:schemeClr val="accent1"/>
            </a:solidFill>
            <a:ln w="38100" cap="flat" cmpd="sng" algn="ctr">
              <a:solidFill>
                <a:schemeClr val="lt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txPr>
              <a:bodyPr/>
              <a:lstStyle/>
              <a:p>
                <a:pPr>
                  <a:defRPr sz="1000" b="1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'DASHBOARD '!$B$231:$B$233</c:f>
              <c:strCache>
                <c:ptCount val="3"/>
                <c:pt idx="0">
                  <c:v>DEMANDAS YELLOW PAD </c:v>
                </c:pt>
                <c:pt idx="1">
                  <c:v>P1 PRÉ-CAD TD</c:v>
                </c:pt>
                <c:pt idx="2">
                  <c:v>P1 CAD TD</c:v>
                </c:pt>
              </c:strCache>
            </c:strRef>
          </c:cat>
          <c:val>
            <c:numRef>
              <c:f>'DASHBOARD '!$C$231:$C$233</c:f>
              <c:numCache>
                <c:formatCode>General</c:formatCode>
                <c:ptCount val="3"/>
                <c:pt idx="0">
                  <c:v>6</c:v>
                </c:pt>
                <c:pt idx="1">
                  <c:v>49</c:v>
                </c:pt>
                <c:pt idx="2">
                  <c:v>34</c:v>
                </c:pt>
              </c:numCache>
            </c:numRef>
          </c:val>
        </c:ser>
        <c:ser>
          <c:idx val="1"/>
          <c:order val="1"/>
          <c:tx>
            <c:strRef>
              <c:f>'DASHBOARD '!$D$230</c:f>
              <c:strCache>
                <c:ptCount val="1"/>
                <c:pt idx="0">
                  <c:v>APROVADAS</c:v>
                </c:pt>
              </c:strCache>
            </c:strRef>
          </c:tx>
          <c:spPr>
            <a:solidFill>
              <a:srgbClr val="9BBB59"/>
            </a:solidFill>
            <a:ln w="38100" cap="flat" cmpd="sng" algn="ctr">
              <a:solidFill>
                <a:sysClr val="window" lastClr="FFFFFF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txPr>
              <a:bodyPr/>
              <a:lstStyle/>
              <a:p>
                <a:pPr>
                  <a:defRPr sz="1000" b="1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'DASHBOARD '!$B$231:$B$233</c:f>
              <c:strCache>
                <c:ptCount val="3"/>
                <c:pt idx="0">
                  <c:v>DEMANDAS YELLOW PAD </c:v>
                </c:pt>
                <c:pt idx="1">
                  <c:v>P1 PRÉ-CAD TD</c:v>
                </c:pt>
                <c:pt idx="2">
                  <c:v>P1 CAD TD</c:v>
                </c:pt>
              </c:strCache>
            </c:strRef>
          </c:cat>
          <c:val>
            <c:numRef>
              <c:f>'DASHBOARD '!$D$231:$D$233</c:f>
              <c:numCache>
                <c:formatCode>General</c:formatCode>
                <c:ptCount val="3"/>
                <c:pt idx="0">
                  <c:v>5</c:v>
                </c:pt>
                <c:pt idx="1">
                  <c:v>34</c:v>
                </c:pt>
                <c:pt idx="2">
                  <c:v>27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75"/>
        <c:shape val="box"/>
        <c:axId val="150674816"/>
        <c:axId val="167163776"/>
        <c:axId val="0"/>
      </c:bar3DChart>
      <c:catAx>
        <c:axId val="15067481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pt-BR"/>
          </a:p>
        </c:txPr>
        <c:crossAx val="167163776"/>
        <c:crosses val="autoZero"/>
        <c:auto val="1"/>
        <c:lblAlgn val="ctr"/>
        <c:lblOffset val="100"/>
        <c:noMultiLvlLbl val="0"/>
      </c:catAx>
      <c:valAx>
        <c:axId val="16716377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50674816"/>
        <c:crosses val="autoZero"/>
        <c:crossBetween val="between"/>
      </c:valAx>
    </c:plotArea>
    <c:legend>
      <c:legendPos val="b"/>
      <c:layout>
        <c:manualLayout>
          <c:xMode val="edge"/>
          <c:yMode val="edge"/>
          <c:x val="8.5368842029083472E-2"/>
          <c:y val="0.16514775023760805"/>
          <c:w val="0.78103854297023856"/>
          <c:h val="0.10844017331407621"/>
        </c:manualLayout>
      </c:layout>
      <c:overlay val="0"/>
      <c:txPr>
        <a:bodyPr/>
        <a:lstStyle/>
        <a:p>
          <a:pPr>
            <a:defRPr sz="110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400">
          <a:latin typeface="Gill Sans Std" pitchFamily="34" charset="0"/>
        </a:defRPr>
      </a:pPr>
      <a:endParaRPr lang="pt-BR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pt-BR" sz="1200"/>
              <a:t>Projetos em Execução No Prazo  (SPI)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3.1676409940361278E-2"/>
          <c:y val="0.34573782989629503"/>
          <c:w val="0.93664718011927739"/>
          <c:h val="0.51941087005658371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'DASHBOARD '!$B$277</c:f>
              <c:strCache>
                <c:ptCount val="1"/>
                <c:pt idx="0">
                  <c:v>PROJETOS NO PRAZO (SPI)</c:v>
                </c:pt>
              </c:strCache>
            </c:strRef>
          </c:tx>
          <c:spPr>
            <a:solidFill>
              <a:schemeClr val="accent3"/>
            </a:solidFill>
            <a:ln w="38100" cap="flat" cmpd="sng" algn="ctr">
              <a:solidFill>
                <a:schemeClr val="lt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Pt>
            <c:idx val="1"/>
            <c:invertIfNegative val="0"/>
            <c:bubble3D val="0"/>
          </c:dPt>
          <c:dLbls>
            <c:txPr>
              <a:bodyPr/>
              <a:lstStyle/>
              <a:p>
                <a:pPr>
                  <a:defRPr sz="1000" b="1">
                    <a:solidFill>
                      <a:schemeClr val="tx1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'DASHBOARD '!$C$276:$D$276</c:f>
              <c:strCache>
                <c:ptCount val="2"/>
                <c:pt idx="0">
                  <c:v>Carteira TD</c:v>
                </c:pt>
                <c:pt idx="1">
                  <c:v>Carteira Negócio com TD</c:v>
                </c:pt>
              </c:strCache>
            </c:strRef>
          </c:cat>
          <c:val>
            <c:numRef>
              <c:f>'DASHBOARD '!$C$277:$D$277</c:f>
              <c:numCache>
                <c:formatCode>0%</c:formatCode>
                <c:ptCount val="2"/>
                <c:pt idx="0">
                  <c:v>0.6</c:v>
                </c:pt>
                <c:pt idx="1">
                  <c:v>0.78260869565217395</c:v>
                </c:pt>
              </c:numCache>
            </c:numRef>
          </c:val>
        </c:ser>
        <c:ser>
          <c:idx val="1"/>
          <c:order val="1"/>
          <c:tx>
            <c:strRef>
              <c:f>'DASHBOARD '!$B$278</c:f>
              <c:strCache>
                <c:ptCount val="1"/>
                <c:pt idx="0">
                  <c:v>PROJETOS ATRASADOS (SPI)</c:v>
                </c:pt>
              </c:strCache>
            </c:strRef>
          </c:tx>
          <c:spPr>
            <a:solidFill>
              <a:schemeClr val="accent2"/>
            </a:solidFill>
            <a:ln w="38100" cap="flat" cmpd="sng" algn="ctr">
              <a:solidFill>
                <a:schemeClr val="lt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Lbls>
            <c:txPr>
              <a:bodyPr/>
              <a:lstStyle/>
              <a:p>
                <a:pPr>
                  <a:defRPr sz="1000" b="1">
                    <a:solidFill>
                      <a:schemeClr val="bg1"/>
                    </a:solidFill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'DASHBOARD '!$C$276:$D$276</c:f>
              <c:strCache>
                <c:ptCount val="2"/>
                <c:pt idx="0">
                  <c:v>Carteira TD</c:v>
                </c:pt>
                <c:pt idx="1">
                  <c:v>Carteira Negócio com TD</c:v>
                </c:pt>
              </c:strCache>
            </c:strRef>
          </c:cat>
          <c:val>
            <c:numRef>
              <c:f>'DASHBOARD '!$C$278:$D$278</c:f>
              <c:numCache>
                <c:formatCode>0%</c:formatCode>
                <c:ptCount val="2"/>
                <c:pt idx="0">
                  <c:v>0.4</c:v>
                </c:pt>
                <c:pt idx="1">
                  <c:v>0.21739130434782608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5"/>
        <c:overlap val="100"/>
        <c:axId val="224842496"/>
        <c:axId val="224844032"/>
      </c:barChart>
      <c:catAx>
        <c:axId val="22484249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pt-BR"/>
          </a:p>
        </c:txPr>
        <c:crossAx val="224844032"/>
        <c:crosses val="autoZero"/>
        <c:auto val="1"/>
        <c:lblAlgn val="ctr"/>
        <c:lblOffset val="100"/>
        <c:noMultiLvlLbl val="0"/>
      </c:catAx>
      <c:valAx>
        <c:axId val="224844032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224842496"/>
        <c:crosses val="autoZero"/>
        <c:crossBetween val="between"/>
      </c:valAx>
    </c:plotArea>
    <c:legend>
      <c:legendPos val="t"/>
      <c:layout/>
      <c:overlay val="0"/>
      <c:txPr>
        <a:bodyPr/>
        <a:lstStyle/>
        <a:p>
          <a:pPr>
            <a:defRPr sz="1000" b="0"/>
          </a:pPr>
          <a:endParaRPr lang="pt-BR"/>
        </a:p>
      </c:txPr>
    </c:legend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latin typeface="Gill Sans Std" pitchFamily="34" charset="0"/>
        </a:defRPr>
      </a:pPr>
      <a:endParaRPr lang="pt-BR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pt-BR" sz="1200" dirty="0"/>
              <a:t>Carteira de TD </a:t>
            </a:r>
            <a:r>
              <a:rPr lang="pt-BR" sz="1200" dirty="0" smtClean="0"/>
              <a:t>– Índice Geral </a:t>
            </a:r>
            <a:r>
              <a:rPr lang="pt-BR" sz="1200" dirty="0"/>
              <a:t>dos Projetos (IGP) 2015</a:t>
            </a:r>
          </a:p>
        </c:rich>
      </c:tx>
      <c:layout>
        <c:manualLayout>
          <c:xMode val="edge"/>
          <c:yMode val="edge"/>
          <c:x val="0.15022777904321691"/>
          <c:y val="6.2813045131914812E-3"/>
        </c:manualLayout>
      </c:layout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38100" cap="flat" cmpd="sng" algn="ctr">
              <a:solidFill>
                <a:schemeClr val="lt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Pt>
            <c:idx val="1"/>
            <c:invertIfNegative val="0"/>
            <c:bubble3D val="0"/>
            <c:spPr>
              <a:solidFill>
                <a:schemeClr val="accent3"/>
              </a:solidFill>
              <a:ln w="38100" cap="flat" cmpd="sng" algn="ctr">
                <a:solidFill>
                  <a:schemeClr val="lt1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txPr>
              <a:bodyPr/>
              <a:lstStyle/>
              <a:p>
                <a:pPr>
                  <a:defRPr sz="1000" b="1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'DASHBOARD '!$H$292:$I$292</c:f>
              <c:strCache>
                <c:ptCount val="2"/>
                <c:pt idx="0">
                  <c:v>META 2015</c:v>
                </c:pt>
                <c:pt idx="1">
                  <c:v>REAL. TD - Abril/15</c:v>
                </c:pt>
              </c:strCache>
            </c:strRef>
          </c:cat>
          <c:val>
            <c:numRef>
              <c:f>'DASHBOARD '!$H$293:$I$293</c:f>
              <c:numCache>
                <c:formatCode>0%</c:formatCode>
                <c:ptCount val="2"/>
                <c:pt idx="0">
                  <c:v>0.97</c:v>
                </c:pt>
                <c:pt idx="1">
                  <c:v>0.94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14734336"/>
        <c:axId val="214735872"/>
      </c:barChart>
      <c:catAx>
        <c:axId val="214734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pt-BR"/>
          </a:p>
        </c:txPr>
        <c:crossAx val="214735872"/>
        <c:crosses val="autoZero"/>
        <c:auto val="1"/>
        <c:lblAlgn val="ctr"/>
        <c:lblOffset val="100"/>
        <c:noMultiLvlLbl val="0"/>
      </c:catAx>
      <c:valAx>
        <c:axId val="214735872"/>
        <c:scaling>
          <c:orientation val="minMax"/>
        </c:scaling>
        <c:delete val="1"/>
        <c:axPos val="l"/>
        <c:numFmt formatCode="0%" sourceLinked="1"/>
        <c:majorTickMark val="out"/>
        <c:minorTickMark val="none"/>
        <c:tickLblPos val="nextTo"/>
        <c:crossAx val="214734336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latin typeface="Gill Sans Std" pitchFamily="34" charset="0"/>
        </a:defRPr>
      </a:pPr>
      <a:endParaRPr lang="pt-B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 sz="1200"/>
            </a:pPr>
            <a:r>
              <a:rPr lang="pt-BR" sz="1200"/>
              <a:t>P3 - Apresentação de Benefícios</a:t>
            </a:r>
          </a:p>
          <a:p>
            <a:pPr>
              <a:defRPr sz="1200"/>
            </a:pPr>
            <a:r>
              <a:rPr lang="pt-BR" sz="1200"/>
              <a:t>2014/15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3"/>
            </a:solidFill>
            <a:ln w="38100" cap="flat" cmpd="sng" algn="ctr">
              <a:solidFill>
                <a:schemeClr val="lt1"/>
              </a:solidFill>
              <a:prstDash val="solid"/>
            </a:ln>
            <a:effectLst>
              <a:outerShdw blurRad="40000" dist="20000" dir="5400000" rotWithShape="0">
                <a:srgbClr val="000000">
                  <a:alpha val="38000"/>
                </a:srgbClr>
              </a:outerShdw>
            </a:effectLst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38100" cap="flat" cmpd="sng" algn="ctr">
                <a:solidFill>
                  <a:schemeClr val="lt1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Pt>
            <c:idx val="1"/>
            <c:invertIfNegative val="0"/>
            <c:bubble3D val="0"/>
          </c:dPt>
          <c:dPt>
            <c:idx val="2"/>
            <c:invertIfNegative val="0"/>
            <c:bubble3D val="0"/>
            <c:spPr>
              <a:solidFill>
                <a:schemeClr val="accent2"/>
              </a:solidFill>
              <a:ln w="38100" cap="flat" cmpd="sng" algn="ctr">
                <a:solidFill>
                  <a:schemeClr val="lt1"/>
                </a:solidFill>
                <a:prstDash val="solid"/>
              </a:ln>
              <a:effectLst>
                <a:outerShdw blurRad="40000" dist="20000" dir="5400000" rotWithShape="0">
                  <a:srgbClr val="000000">
                    <a:alpha val="38000"/>
                  </a:srgbClr>
                </a:outerShdw>
              </a:effectLst>
            </c:spPr>
          </c:dPt>
          <c:dLbls>
            <c:dLbl>
              <c:idx val="2"/>
              <c:spPr/>
              <c:txPr>
                <a:bodyPr/>
                <a:lstStyle/>
                <a:p>
                  <a:pPr>
                    <a:defRPr sz="1000" b="1">
                      <a:solidFill>
                        <a:srgbClr val="C00000"/>
                      </a:solidFill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txPr>
              <a:bodyPr/>
              <a:lstStyle/>
              <a:p>
                <a:pPr>
                  <a:defRPr sz="1000" b="1"/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'DASHBOARD '!$H$319:$K$319</c:f>
              <c:strCache>
                <c:ptCount val="4"/>
                <c:pt idx="0">
                  <c:v>Total P3 TD</c:v>
                </c:pt>
                <c:pt idx="1">
                  <c:v>P3 Apresentados</c:v>
                </c:pt>
                <c:pt idx="2">
                  <c:v>P3 Agendados - Fora do Prazo</c:v>
                </c:pt>
                <c:pt idx="3">
                  <c:v>P3 Agendados - No Prazo</c:v>
                </c:pt>
              </c:strCache>
            </c:strRef>
          </c:cat>
          <c:val>
            <c:numRef>
              <c:f>'DASHBOARD '!$H$320:$K$320</c:f>
              <c:numCache>
                <c:formatCode>General</c:formatCode>
                <c:ptCount val="4"/>
                <c:pt idx="0">
                  <c:v>38</c:v>
                </c:pt>
                <c:pt idx="1">
                  <c:v>9</c:v>
                </c:pt>
                <c:pt idx="2">
                  <c:v>23</c:v>
                </c:pt>
                <c:pt idx="3">
                  <c:v>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30951552"/>
        <c:axId val="230961536"/>
      </c:barChart>
      <c:catAx>
        <c:axId val="2309515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pt-BR"/>
          </a:p>
        </c:txPr>
        <c:crossAx val="230961536"/>
        <c:crosses val="autoZero"/>
        <c:auto val="1"/>
        <c:lblAlgn val="ctr"/>
        <c:lblOffset val="100"/>
        <c:noMultiLvlLbl val="0"/>
      </c:catAx>
      <c:valAx>
        <c:axId val="230961536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230951552"/>
        <c:crosses val="autoZero"/>
        <c:crossBetween val="between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latin typeface="Gill Sans Std" pitchFamily="34" charset="0"/>
        </a:defRPr>
      </a:pPr>
      <a:endParaRPr lang="pt-BR"/>
    </a:p>
  </c:tx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BFC7418-CB07-4635-9347-6E3591D8A269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pt-BR"/>
        </a:p>
      </dgm:t>
    </dgm:pt>
    <dgm:pt modelId="{69590F68-2B32-4F3F-B024-187EF2894AF4}">
      <dgm:prSet phldrT="[Texto]"/>
      <dgm:spPr/>
      <dgm:t>
        <a:bodyPr/>
        <a:lstStyle/>
        <a:p>
          <a:r>
            <a:rPr lang="pt-BR" dirty="0" smtClean="0"/>
            <a:t>1. Planejamento Estratégico e Comunicação</a:t>
          </a:r>
          <a:endParaRPr lang="pt-BR" dirty="0"/>
        </a:p>
      </dgm:t>
    </dgm:pt>
    <dgm:pt modelId="{48D40A40-0A1D-4F70-8C3E-BEF23C8DF302}" type="parTrans" cxnId="{4E72F1D1-875A-4F4D-BD33-BC6FD7A5131E}">
      <dgm:prSet/>
      <dgm:spPr/>
      <dgm:t>
        <a:bodyPr/>
        <a:lstStyle/>
        <a:p>
          <a:endParaRPr lang="pt-BR"/>
        </a:p>
      </dgm:t>
    </dgm:pt>
    <dgm:pt modelId="{2B4C6F32-F5BE-4926-9CEB-266D90E3FA80}" type="sibTrans" cxnId="{4E72F1D1-875A-4F4D-BD33-BC6FD7A5131E}">
      <dgm:prSet/>
      <dgm:spPr/>
      <dgm:t>
        <a:bodyPr/>
        <a:lstStyle/>
        <a:p>
          <a:endParaRPr lang="pt-BR"/>
        </a:p>
      </dgm:t>
    </dgm:pt>
    <dgm:pt modelId="{A6FE5F67-B1B2-4FBA-8873-E4A951EDECF8}">
      <dgm:prSet phldrT="[Texto]"/>
      <dgm:spPr/>
      <dgm:t>
        <a:bodyPr/>
        <a:lstStyle/>
        <a:p>
          <a:r>
            <a:rPr lang="pt-BR" dirty="0" smtClean="0"/>
            <a:t>2. Demandas e Releases</a:t>
          </a:r>
          <a:endParaRPr lang="pt-BR" dirty="0"/>
        </a:p>
      </dgm:t>
    </dgm:pt>
    <dgm:pt modelId="{D2978EAB-BE54-40BE-964C-142D393AC4F3}" type="parTrans" cxnId="{ADC4B766-CE31-4135-B5DF-42ABFDDF52E6}">
      <dgm:prSet/>
      <dgm:spPr/>
      <dgm:t>
        <a:bodyPr/>
        <a:lstStyle/>
        <a:p>
          <a:endParaRPr lang="pt-BR"/>
        </a:p>
      </dgm:t>
    </dgm:pt>
    <dgm:pt modelId="{15534F30-55A2-4075-BB00-418F11CEEAD1}" type="sibTrans" cxnId="{ADC4B766-CE31-4135-B5DF-42ABFDDF52E6}">
      <dgm:prSet/>
      <dgm:spPr/>
      <dgm:t>
        <a:bodyPr/>
        <a:lstStyle/>
        <a:p>
          <a:endParaRPr lang="pt-BR"/>
        </a:p>
      </dgm:t>
    </dgm:pt>
    <dgm:pt modelId="{3801E8E3-0249-4F28-A16E-31B550CBACB5}">
      <dgm:prSet phldrT="[Texto]"/>
      <dgm:spPr/>
      <dgm:t>
        <a:bodyPr/>
        <a:lstStyle/>
        <a:p>
          <a:r>
            <a:rPr lang="pt-BR" dirty="0" smtClean="0"/>
            <a:t>3. Portfólio e PMO</a:t>
          </a:r>
          <a:endParaRPr lang="pt-BR" dirty="0"/>
        </a:p>
      </dgm:t>
    </dgm:pt>
    <dgm:pt modelId="{F4559555-B539-45EB-A2B5-DC8724FCEA02}" type="parTrans" cxnId="{B3DBCDED-55B3-4171-9677-BBF8B45222FE}">
      <dgm:prSet/>
      <dgm:spPr/>
      <dgm:t>
        <a:bodyPr/>
        <a:lstStyle/>
        <a:p>
          <a:endParaRPr lang="pt-BR"/>
        </a:p>
      </dgm:t>
    </dgm:pt>
    <dgm:pt modelId="{F51E8C70-D56B-4A79-8B5B-644FA6D5B1C2}" type="sibTrans" cxnId="{B3DBCDED-55B3-4171-9677-BBF8B45222FE}">
      <dgm:prSet/>
      <dgm:spPr/>
      <dgm:t>
        <a:bodyPr/>
        <a:lstStyle/>
        <a:p>
          <a:endParaRPr lang="pt-BR"/>
        </a:p>
      </dgm:t>
    </dgm:pt>
    <dgm:pt modelId="{49878711-15DC-4280-91F4-E77110D5082F}">
      <dgm:prSet phldrT="[Texto]"/>
      <dgm:spPr/>
      <dgm:t>
        <a:bodyPr/>
        <a:lstStyle/>
        <a:p>
          <a:r>
            <a:rPr lang="pt-BR" dirty="0" smtClean="0"/>
            <a:t>4. Contratos e Licenças</a:t>
          </a:r>
          <a:endParaRPr lang="pt-BR" dirty="0"/>
        </a:p>
      </dgm:t>
    </dgm:pt>
    <dgm:pt modelId="{6116B6BB-D90C-403C-B163-BD4B40A3B244}" type="parTrans" cxnId="{62BFAA1C-1607-474E-8F2A-9C10792CD1FF}">
      <dgm:prSet/>
      <dgm:spPr/>
      <dgm:t>
        <a:bodyPr/>
        <a:lstStyle/>
        <a:p>
          <a:endParaRPr lang="pt-BR"/>
        </a:p>
      </dgm:t>
    </dgm:pt>
    <dgm:pt modelId="{C1ED257A-6201-473C-9C7F-B6D58C336744}" type="sibTrans" cxnId="{62BFAA1C-1607-474E-8F2A-9C10792CD1FF}">
      <dgm:prSet/>
      <dgm:spPr/>
      <dgm:t>
        <a:bodyPr/>
        <a:lstStyle/>
        <a:p>
          <a:endParaRPr lang="pt-BR"/>
        </a:p>
      </dgm:t>
    </dgm:pt>
    <dgm:pt modelId="{8151F45B-97F5-44B8-A95D-0B132F305494}">
      <dgm:prSet phldrT="[Texto]"/>
      <dgm:spPr/>
      <dgm:t>
        <a:bodyPr/>
        <a:lstStyle/>
        <a:p>
          <a:r>
            <a:rPr lang="pt-BR" dirty="0" smtClean="0"/>
            <a:t>5. Processos e Performance</a:t>
          </a:r>
          <a:endParaRPr lang="pt-BR" dirty="0"/>
        </a:p>
      </dgm:t>
    </dgm:pt>
    <dgm:pt modelId="{E8231215-AF7F-48CC-B4D5-2F95CDA89C60}" type="parTrans" cxnId="{1AB1D6B3-86CD-4A93-B9AA-F1E665664DED}">
      <dgm:prSet/>
      <dgm:spPr/>
      <dgm:t>
        <a:bodyPr/>
        <a:lstStyle/>
        <a:p>
          <a:endParaRPr lang="pt-BR"/>
        </a:p>
      </dgm:t>
    </dgm:pt>
    <dgm:pt modelId="{46694AD4-7A18-4189-BB08-078956AB04FC}" type="sibTrans" cxnId="{1AB1D6B3-86CD-4A93-B9AA-F1E665664DED}">
      <dgm:prSet/>
      <dgm:spPr/>
      <dgm:t>
        <a:bodyPr/>
        <a:lstStyle/>
        <a:p>
          <a:endParaRPr lang="pt-BR"/>
        </a:p>
      </dgm:t>
    </dgm:pt>
    <dgm:pt modelId="{8784D365-A035-4065-B0C8-0B4B513AC863}" type="pres">
      <dgm:prSet presAssocID="{2BFC7418-CB07-4635-9347-6E3591D8A269}" presName="Name0" presStyleCnt="0">
        <dgm:presLayoutVars>
          <dgm:dir/>
          <dgm:resizeHandles val="exact"/>
        </dgm:presLayoutVars>
      </dgm:prSet>
      <dgm:spPr/>
    </dgm:pt>
    <dgm:pt modelId="{2B80CFFD-B840-4777-A670-62DE9447BA31}" type="pres">
      <dgm:prSet presAssocID="{2BFC7418-CB07-4635-9347-6E3591D8A269}" presName="cycle" presStyleCnt="0"/>
      <dgm:spPr/>
    </dgm:pt>
    <dgm:pt modelId="{9EB148D5-99C5-4530-B296-1121C41A4616}" type="pres">
      <dgm:prSet presAssocID="{69590F68-2B32-4F3F-B024-187EF2894AF4}" presName="nodeFirstNode" presStyleLbl="node1" presStyleIdx="0" presStyleCnt="5" custRadScaleRad="10472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5706E4C-E4FB-4EA5-A0AC-3A12C759B2AE}" type="pres">
      <dgm:prSet presAssocID="{2B4C6F32-F5BE-4926-9CEB-266D90E3FA80}" presName="sibTransFirstNode" presStyleLbl="bgShp" presStyleIdx="0" presStyleCnt="1"/>
      <dgm:spPr/>
    </dgm:pt>
    <dgm:pt modelId="{A7F7A1A4-CFFA-466D-A9FB-4BD609D76E8E}" type="pres">
      <dgm:prSet presAssocID="{A6FE5F67-B1B2-4FBA-8873-E4A951EDECF8}" presName="nodeFollowingNodes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1A576FA-9336-4621-A860-7BB396116B56}" type="pres">
      <dgm:prSet presAssocID="{3801E8E3-0249-4F28-A16E-31B550CBACB5}" presName="nodeFollowingNodes" presStyleLbl="node1" presStyleIdx="2" presStyleCnt="5">
        <dgm:presLayoutVars>
          <dgm:bulletEnabled val="1"/>
        </dgm:presLayoutVars>
      </dgm:prSet>
      <dgm:spPr/>
    </dgm:pt>
    <dgm:pt modelId="{C6455DD2-58EC-4006-B5D4-321BBFA901F2}" type="pres">
      <dgm:prSet presAssocID="{49878711-15DC-4280-91F4-E77110D5082F}" presName="nodeFollowingNodes" presStyleLbl="node1" presStyleIdx="3" presStyleCnt="5">
        <dgm:presLayoutVars>
          <dgm:bulletEnabled val="1"/>
        </dgm:presLayoutVars>
      </dgm:prSet>
      <dgm:spPr/>
    </dgm:pt>
    <dgm:pt modelId="{5FBC2DBB-ABCC-46F0-8DAB-68F2A402E7A9}" type="pres">
      <dgm:prSet presAssocID="{8151F45B-97F5-44B8-A95D-0B132F305494}" presName="nodeFollowingNodes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8C63B78C-3D2C-416F-B3FB-4E13AAC5BCA2}" type="presOf" srcId="{2B4C6F32-F5BE-4926-9CEB-266D90E3FA80}" destId="{D5706E4C-E4FB-4EA5-A0AC-3A12C759B2AE}" srcOrd="0" destOrd="0" presId="urn:microsoft.com/office/officeart/2005/8/layout/cycle3"/>
    <dgm:cxn modelId="{ADC4B766-CE31-4135-B5DF-42ABFDDF52E6}" srcId="{2BFC7418-CB07-4635-9347-6E3591D8A269}" destId="{A6FE5F67-B1B2-4FBA-8873-E4A951EDECF8}" srcOrd="1" destOrd="0" parTransId="{D2978EAB-BE54-40BE-964C-142D393AC4F3}" sibTransId="{15534F30-55A2-4075-BB00-418F11CEEAD1}"/>
    <dgm:cxn modelId="{62BFAA1C-1607-474E-8F2A-9C10792CD1FF}" srcId="{2BFC7418-CB07-4635-9347-6E3591D8A269}" destId="{49878711-15DC-4280-91F4-E77110D5082F}" srcOrd="3" destOrd="0" parTransId="{6116B6BB-D90C-403C-B163-BD4B40A3B244}" sibTransId="{C1ED257A-6201-473C-9C7F-B6D58C336744}"/>
    <dgm:cxn modelId="{DA0F72AD-14CE-44F6-A049-2457A9E16307}" type="presOf" srcId="{69590F68-2B32-4F3F-B024-187EF2894AF4}" destId="{9EB148D5-99C5-4530-B296-1121C41A4616}" srcOrd="0" destOrd="0" presId="urn:microsoft.com/office/officeart/2005/8/layout/cycle3"/>
    <dgm:cxn modelId="{25246032-3CD8-410B-9C71-B28223C1F5FD}" type="presOf" srcId="{2BFC7418-CB07-4635-9347-6E3591D8A269}" destId="{8784D365-A035-4065-B0C8-0B4B513AC863}" srcOrd="0" destOrd="0" presId="urn:microsoft.com/office/officeart/2005/8/layout/cycle3"/>
    <dgm:cxn modelId="{0511B741-0736-42BC-BDF4-497D9AD59B65}" type="presOf" srcId="{49878711-15DC-4280-91F4-E77110D5082F}" destId="{C6455DD2-58EC-4006-B5D4-321BBFA901F2}" srcOrd="0" destOrd="0" presId="urn:microsoft.com/office/officeart/2005/8/layout/cycle3"/>
    <dgm:cxn modelId="{079DC80D-4226-430B-826B-92857AC51638}" type="presOf" srcId="{8151F45B-97F5-44B8-A95D-0B132F305494}" destId="{5FBC2DBB-ABCC-46F0-8DAB-68F2A402E7A9}" srcOrd="0" destOrd="0" presId="urn:microsoft.com/office/officeart/2005/8/layout/cycle3"/>
    <dgm:cxn modelId="{73BB9A1B-6167-41E5-87D2-B5D2AA1FCC90}" type="presOf" srcId="{A6FE5F67-B1B2-4FBA-8873-E4A951EDECF8}" destId="{A7F7A1A4-CFFA-466D-A9FB-4BD609D76E8E}" srcOrd="0" destOrd="0" presId="urn:microsoft.com/office/officeart/2005/8/layout/cycle3"/>
    <dgm:cxn modelId="{1AB1D6B3-86CD-4A93-B9AA-F1E665664DED}" srcId="{2BFC7418-CB07-4635-9347-6E3591D8A269}" destId="{8151F45B-97F5-44B8-A95D-0B132F305494}" srcOrd="4" destOrd="0" parTransId="{E8231215-AF7F-48CC-B4D5-2F95CDA89C60}" sibTransId="{46694AD4-7A18-4189-BB08-078956AB04FC}"/>
    <dgm:cxn modelId="{4E72F1D1-875A-4F4D-BD33-BC6FD7A5131E}" srcId="{2BFC7418-CB07-4635-9347-6E3591D8A269}" destId="{69590F68-2B32-4F3F-B024-187EF2894AF4}" srcOrd="0" destOrd="0" parTransId="{48D40A40-0A1D-4F70-8C3E-BEF23C8DF302}" sibTransId="{2B4C6F32-F5BE-4926-9CEB-266D90E3FA80}"/>
    <dgm:cxn modelId="{B3DBCDED-55B3-4171-9677-BBF8B45222FE}" srcId="{2BFC7418-CB07-4635-9347-6E3591D8A269}" destId="{3801E8E3-0249-4F28-A16E-31B550CBACB5}" srcOrd="2" destOrd="0" parTransId="{F4559555-B539-45EB-A2B5-DC8724FCEA02}" sibTransId="{F51E8C70-D56B-4A79-8B5B-644FA6D5B1C2}"/>
    <dgm:cxn modelId="{F1229744-4C07-4E00-92CF-A94D56DB5A59}" type="presOf" srcId="{3801E8E3-0249-4F28-A16E-31B550CBACB5}" destId="{A1A576FA-9336-4621-A860-7BB396116B56}" srcOrd="0" destOrd="0" presId="urn:microsoft.com/office/officeart/2005/8/layout/cycle3"/>
    <dgm:cxn modelId="{B02E6E99-3C7B-4F7D-B8E7-BCC397AE4EFF}" type="presParOf" srcId="{8784D365-A035-4065-B0C8-0B4B513AC863}" destId="{2B80CFFD-B840-4777-A670-62DE9447BA31}" srcOrd="0" destOrd="0" presId="urn:microsoft.com/office/officeart/2005/8/layout/cycle3"/>
    <dgm:cxn modelId="{BFB8C1C8-ADD7-4CCE-8D6E-9A583AF82A23}" type="presParOf" srcId="{2B80CFFD-B840-4777-A670-62DE9447BA31}" destId="{9EB148D5-99C5-4530-B296-1121C41A4616}" srcOrd="0" destOrd="0" presId="urn:microsoft.com/office/officeart/2005/8/layout/cycle3"/>
    <dgm:cxn modelId="{EAA9AE91-1AE6-4683-A0C8-9FCF98F00CDC}" type="presParOf" srcId="{2B80CFFD-B840-4777-A670-62DE9447BA31}" destId="{D5706E4C-E4FB-4EA5-A0AC-3A12C759B2AE}" srcOrd="1" destOrd="0" presId="urn:microsoft.com/office/officeart/2005/8/layout/cycle3"/>
    <dgm:cxn modelId="{4AF8D546-4659-4081-9C90-9F2092C995A3}" type="presParOf" srcId="{2B80CFFD-B840-4777-A670-62DE9447BA31}" destId="{A7F7A1A4-CFFA-466D-A9FB-4BD609D76E8E}" srcOrd="2" destOrd="0" presId="urn:microsoft.com/office/officeart/2005/8/layout/cycle3"/>
    <dgm:cxn modelId="{E465111D-9740-4004-8B81-A2F282286993}" type="presParOf" srcId="{2B80CFFD-B840-4777-A670-62DE9447BA31}" destId="{A1A576FA-9336-4621-A860-7BB396116B56}" srcOrd="3" destOrd="0" presId="urn:microsoft.com/office/officeart/2005/8/layout/cycle3"/>
    <dgm:cxn modelId="{2ADEAE7B-96BE-4364-8FC6-52737E16818E}" type="presParOf" srcId="{2B80CFFD-B840-4777-A670-62DE9447BA31}" destId="{C6455DD2-58EC-4006-B5D4-321BBFA901F2}" srcOrd="4" destOrd="0" presId="urn:microsoft.com/office/officeart/2005/8/layout/cycle3"/>
    <dgm:cxn modelId="{00D92A43-FC67-4A8F-B843-E9B281945F0C}" type="presParOf" srcId="{2B80CFFD-B840-4777-A670-62DE9447BA31}" destId="{5FBC2DBB-ABCC-46F0-8DAB-68F2A402E7A9}" srcOrd="5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CF7FF4-7E08-416C-8A21-A671F903DB77}" type="doc">
      <dgm:prSet loTypeId="urn:microsoft.com/office/officeart/2005/8/layout/hProcess9" loCatId="process" qsTypeId="urn:microsoft.com/office/officeart/2005/8/quickstyle/simple1" qsCatId="simple" csTypeId="urn:microsoft.com/office/officeart/2005/8/colors/accent0_3" csCatId="mainScheme" phldr="1"/>
      <dgm:spPr/>
    </dgm:pt>
    <dgm:pt modelId="{28AD5230-7D30-401A-8043-57C6C868D2F8}">
      <dgm:prSet phldrT="[Texto]" custT="1"/>
      <dgm:spPr/>
      <dgm:t>
        <a:bodyPr/>
        <a:lstStyle/>
        <a:p>
          <a:r>
            <a:rPr lang="pt-BR" sz="1200" b="1" dirty="0" smtClean="0"/>
            <a:t>Priorização de DEMANDAS</a:t>
          </a:r>
          <a:endParaRPr lang="pt-BR" sz="1200" b="1" dirty="0"/>
        </a:p>
      </dgm:t>
    </dgm:pt>
    <dgm:pt modelId="{7DE3C601-F0AB-459C-A1EA-B1C92FF548D0}" type="parTrans" cxnId="{1FF9BF27-9674-40E0-8DBF-EDE37C3F6EBB}">
      <dgm:prSet/>
      <dgm:spPr/>
      <dgm:t>
        <a:bodyPr/>
        <a:lstStyle/>
        <a:p>
          <a:endParaRPr lang="pt-BR"/>
        </a:p>
      </dgm:t>
    </dgm:pt>
    <dgm:pt modelId="{AA80B022-2823-40C4-B23F-D0143FC8A83E}" type="sibTrans" cxnId="{1FF9BF27-9674-40E0-8DBF-EDE37C3F6EBB}">
      <dgm:prSet/>
      <dgm:spPr/>
      <dgm:t>
        <a:bodyPr/>
        <a:lstStyle/>
        <a:p>
          <a:endParaRPr lang="pt-BR"/>
        </a:p>
      </dgm:t>
    </dgm:pt>
    <dgm:pt modelId="{36E7C834-45B4-4F1D-8E64-5698D587335A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Yellow PAD TD</a:t>
          </a:r>
          <a:endParaRPr lang="pt-BR" sz="1200" dirty="0"/>
        </a:p>
      </dgm:t>
    </dgm:pt>
    <dgm:pt modelId="{19231A65-1A49-4CC3-B118-0595AE2C3296}" type="parTrans" cxnId="{B6B5F9C5-B40B-44E8-AE74-B3F09F253D48}">
      <dgm:prSet/>
      <dgm:spPr/>
      <dgm:t>
        <a:bodyPr/>
        <a:lstStyle/>
        <a:p>
          <a:endParaRPr lang="pt-BR"/>
        </a:p>
      </dgm:t>
    </dgm:pt>
    <dgm:pt modelId="{95689F4C-2378-4EB6-A164-64CF57F9F408}" type="sibTrans" cxnId="{B6B5F9C5-B40B-44E8-AE74-B3F09F253D48}">
      <dgm:prSet/>
      <dgm:spPr/>
      <dgm:t>
        <a:bodyPr/>
        <a:lstStyle/>
        <a:p>
          <a:endParaRPr lang="pt-BR"/>
        </a:p>
      </dgm:t>
    </dgm:pt>
    <dgm:pt modelId="{75DCA845-9FE4-4CB8-9EDB-0C0A570998BB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Aprovação CAD </a:t>
          </a:r>
          <a:endParaRPr lang="pt-BR" sz="1200" dirty="0"/>
        </a:p>
      </dgm:t>
    </dgm:pt>
    <dgm:pt modelId="{320131EB-D15B-4ECF-BA32-CD1B8B8C24F7}" type="parTrans" cxnId="{D3DB5BF7-EEA4-4BF8-B46F-9EBB84A53829}">
      <dgm:prSet/>
      <dgm:spPr/>
      <dgm:t>
        <a:bodyPr/>
        <a:lstStyle/>
        <a:p>
          <a:endParaRPr lang="pt-BR"/>
        </a:p>
      </dgm:t>
    </dgm:pt>
    <dgm:pt modelId="{4917CA2F-156F-42F2-B27A-D5088BCDA6BE}" type="sibTrans" cxnId="{D3DB5BF7-EEA4-4BF8-B46F-9EBB84A53829}">
      <dgm:prSet/>
      <dgm:spPr/>
      <dgm:t>
        <a:bodyPr/>
        <a:lstStyle/>
        <a:p>
          <a:endParaRPr lang="pt-BR"/>
        </a:p>
      </dgm:t>
    </dgm:pt>
    <dgm:pt modelId="{D88026E4-8C5A-49AE-9402-CBD64511FF7A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Desenv.</a:t>
          </a:r>
          <a:endParaRPr lang="pt-BR" sz="1200" dirty="0"/>
        </a:p>
      </dgm:t>
    </dgm:pt>
    <dgm:pt modelId="{FCC77CC3-D532-4E0E-9F4F-F4452EB6210A}" type="parTrans" cxnId="{22A9C401-7BCF-4375-B1D9-5A367C218618}">
      <dgm:prSet/>
      <dgm:spPr/>
      <dgm:t>
        <a:bodyPr/>
        <a:lstStyle/>
        <a:p>
          <a:endParaRPr lang="pt-BR"/>
        </a:p>
      </dgm:t>
    </dgm:pt>
    <dgm:pt modelId="{ECB9DB59-28A7-413D-BFF9-12AAE045E11E}" type="sibTrans" cxnId="{22A9C401-7BCF-4375-B1D9-5A367C218618}">
      <dgm:prSet/>
      <dgm:spPr/>
      <dgm:t>
        <a:bodyPr/>
        <a:lstStyle/>
        <a:p>
          <a:endParaRPr lang="pt-BR"/>
        </a:p>
      </dgm:t>
    </dgm:pt>
    <dgm:pt modelId="{0C39BA51-1140-4A10-AC85-1E0D4E470911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Entrega (Releases)</a:t>
          </a:r>
          <a:endParaRPr lang="pt-BR" sz="1200" dirty="0"/>
        </a:p>
      </dgm:t>
    </dgm:pt>
    <dgm:pt modelId="{41FBB8C2-D522-4138-9C03-724D1496FF6F}" type="parTrans" cxnId="{A2FCEB2B-01E4-449D-86A7-C5C961E25D62}">
      <dgm:prSet/>
      <dgm:spPr/>
      <dgm:t>
        <a:bodyPr/>
        <a:lstStyle/>
        <a:p>
          <a:endParaRPr lang="pt-BR"/>
        </a:p>
      </dgm:t>
    </dgm:pt>
    <dgm:pt modelId="{9B362A72-DCF9-4FE4-BDF9-FF057D70B01C}" type="sibTrans" cxnId="{A2FCEB2B-01E4-449D-86A7-C5C961E25D62}">
      <dgm:prSet/>
      <dgm:spPr/>
      <dgm:t>
        <a:bodyPr/>
        <a:lstStyle/>
        <a:p>
          <a:endParaRPr lang="pt-BR"/>
        </a:p>
      </dgm:t>
    </dgm:pt>
    <dgm:pt modelId="{D7BB7C9F-FF7C-4562-8427-2B656279091F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Resultados e Benefícios</a:t>
          </a:r>
          <a:endParaRPr lang="pt-BR" sz="1200" dirty="0"/>
        </a:p>
      </dgm:t>
    </dgm:pt>
    <dgm:pt modelId="{5B3DF836-A497-4975-A200-7374AFE9CA85}" type="parTrans" cxnId="{54FABC61-5066-48D7-8C9B-DEA18BB9339D}">
      <dgm:prSet/>
      <dgm:spPr/>
      <dgm:t>
        <a:bodyPr/>
        <a:lstStyle/>
        <a:p>
          <a:endParaRPr lang="pt-BR"/>
        </a:p>
      </dgm:t>
    </dgm:pt>
    <dgm:pt modelId="{A90A861C-3FC6-4714-A876-745F5F20DF1E}" type="sibTrans" cxnId="{54FABC61-5066-48D7-8C9B-DEA18BB9339D}">
      <dgm:prSet/>
      <dgm:spPr/>
      <dgm:t>
        <a:bodyPr/>
        <a:lstStyle/>
        <a:p>
          <a:endParaRPr lang="pt-BR"/>
        </a:p>
      </dgm:t>
    </dgm:pt>
    <dgm:pt modelId="{81FDA21C-6333-40D8-954D-1C8C5A67DF55}" type="pres">
      <dgm:prSet presAssocID="{22CF7FF4-7E08-416C-8A21-A671F903DB77}" presName="CompostProcess" presStyleCnt="0">
        <dgm:presLayoutVars>
          <dgm:dir/>
          <dgm:resizeHandles val="exact"/>
        </dgm:presLayoutVars>
      </dgm:prSet>
      <dgm:spPr/>
    </dgm:pt>
    <dgm:pt modelId="{EB1DCED8-E706-4E44-9BD2-5062E8398E27}" type="pres">
      <dgm:prSet presAssocID="{22CF7FF4-7E08-416C-8A21-A671F903DB77}" presName="arrow" presStyleLbl="bgShp" presStyleIdx="0" presStyleCnt="1"/>
      <dgm:spPr/>
    </dgm:pt>
    <dgm:pt modelId="{C1EF2DFA-FBDE-40A8-B2CB-83F5196B542E}" type="pres">
      <dgm:prSet presAssocID="{22CF7FF4-7E08-416C-8A21-A671F903DB77}" presName="linearProcess" presStyleCnt="0"/>
      <dgm:spPr/>
    </dgm:pt>
    <dgm:pt modelId="{EFDC334E-8FB5-4D7D-B547-C7DBD956DB7F}" type="pres">
      <dgm:prSet presAssocID="{28AD5230-7D30-401A-8043-57C6C868D2F8}" presName="textNode" presStyleLbl="node1" presStyleIdx="0" presStyleCnt="6" custLinFactNeighborX="-66098" custLinFactNeighborY="-267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EF4683F-6001-4654-8912-391F2EAD0289}" type="pres">
      <dgm:prSet presAssocID="{AA80B022-2823-40C4-B23F-D0143FC8A83E}" presName="sibTrans" presStyleCnt="0"/>
      <dgm:spPr/>
    </dgm:pt>
    <dgm:pt modelId="{7CBAD77C-4711-4895-A672-82BE29D6C485}" type="pres">
      <dgm:prSet presAssocID="{36E7C834-45B4-4F1D-8E64-5698D587335A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B4C94D9-58E7-4AEC-B75F-EB6D33DD3B2B}" type="pres">
      <dgm:prSet presAssocID="{95689F4C-2378-4EB6-A164-64CF57F9F408}" presName="sibTrans" presStyleCnt="0"/>
      <dgm:spPr/>
    </dgm:pt>
    <dgm:pt modelId="{6A5CA203-57A8-4716-9467-B1C8723F90CF}" type="pres">
      <dgm:prSet presAssocID="{75DCA845-9FE4-4CB8-9EDB-0C0A570998BB}" presName="textNode" presStyleLbl="node1" presStyleIdx="2" presStyleCnt="6" custLinFactNeighborX="-12347" custLinFactNeighborY="-260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53AA202-1CC2-4B73-A014-2691BF353BCF}" type="pres">
      <dgm:prSet presAssocID="{4917CA2F-156F-42F2-B27A-D5088BCDA6BE}" presName="sibTrans" presStyleCnt="0"/>
      <dgm:spPr/>
    </dgm:pt>
    <dgm:pt modelId="{00AF47E0-622D-435D-BB37-AA62C6D913D3}" type="pres">
      <dgm:prSet presAssocID="{D88026E4-8C5A-49AE-9402-CBD64511FF7A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D61626F-86BC-47B9-A6B2-F1CBD1DF1F81}" type="pres">
      <dgm:prSet presAssocID="{ECB9DB59-28A7-413D-BFF9-12AAE045E11E}" presName="sibTrans" presStyleCnt="0"/>
      <dgm:spPr/>
    </dgm:pt>
    <dgm:pt modelId="{30AD0969-DF00-41D0-8A48-403F5FC87A68}" type="pres">
      <dgm:prSet presAssocID="{0C39BA51-1140-4A10-AC85-1E0D4E470911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12D26FE-3CC3-4507-9486-73457EC64865}" type="pres">
      <dgm:prSet presAssocID="{9B362A72-DCF9-4FE4-BDF9-FF057D70B01C}" presName="sibTrans" presStyleCnt="0"/>
      <dgm:spPr/>
    </dgm:pt>
    <dgm:pt modelId="{715663FE-76C0-46D1-86C5-B11510ADA03C}" type="pres">
      <dgm:prSet presAssocID="{D7BB7C9F-FF7C-4562-8427-2B656279091F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C29A3579-42A6-41B4-A90A-3F1B3279A792}" type="presOf" srcId="{75DCA845-9FE4-4CB8-9EDB-0C0A570998BB}" destId="{6A5CA203-57A8-4716-9467-B1C8723F90CF}" srcOrd="0" destOrd="0" presId="urn:microsoft.com/office/officeart/2005/8/layout/hProcess9"/>
    <dgm:cxn modelId="{22A9C401-7BCF-4375-B1D9-5A367C218618}" srcId="{22CF7FF4-7E08-416C-8A21-A671F903DB77}" destId="{D88026E4-8C5A-49AE-9402-CBD64511FF7A}" srcOrd="3" destOrd="0" parTransId="{FCC77CC3-D532-4E0E-9F4F-F4452EB6210A}" sibTransId="{ECB9DB59-28A7-413D-BFF9-12AAE045E11E}"/>
    <dgm:cxn modelId="{AC8F28B9-89D5-4B1C-8C26-F109072957CE}" type="presOf" srcId="{22CF7FF4-7E08-416C-8A21-A671F903DB77}" destId="{81FDA21C-6333-40D8-954D-1C8C5A67DF55}" srcOrd="0" destOrd="0" presId="urn:microsoft.com/office/officeart/2005/8/layout/hProcess9"/>
    <dgm:cxn modelId="{1FF9BF27-9674-40E0-8DBF-EDE37C3F6EBB}" srcId="{22CF7FF4-7E08-416C-8A21-A671F903DB77}" destId="{28AD5230-7D30-401A-8043-57C6C868D2F8}" srcOrd="0" destOrd="0" parTransId="{7DE3C601-F0AB-459C-A1EA-B1C92FF548D0}" sibTransId="{AA80B022-2823-40C4-B23F-D0143FC8A83E}"/>
    <dgm:cxn modelId="{651DD377-7B2A-48E4-AEC3-6EB0DC579E9F}" type="presOf" srcId="{D7BB7C9F-FF7C-4562-8427-2B656279091F}" destId="{715663FE-76C0-46D1-86C5-B11510ADA03C}" srcOrd="0" destOrd="0" presId="urn:microsoft.com/office/officeart/2005/8/layout/hProcess9"/>
    <dgm:cxn modelId="{DE32EB89-BEDF-462A-981C-5FFF0F81B36D}" type="presOf" srcId="{28AD5230-7D30-401A-8043-57C6C868D2F8}" destId="{EFDC334E-8FB5-4D7D-B547-C7DBD956DB7F}" srcOrd="0" destOrd="0" presId="urn:microsoft.com/office/officeart/2005/8/layout/hProcess9"/>
    <dgm:cxn modelId="{37A1F4ED-86E3-497B-A1D6-2B93B4B96021}" type="presOf" srcId="{36E7C834-45B4-4F1D-8E64-5698D587335A}" destId="{7CBAD77C-4711-4895-A672-82BE29D6C485}" srcOrd="0" destOrd="0" presId="urn:microsoft.com/office/officeart/2005/8/layout/hProcess9"/>
    <dgm:cxn modelId="{54FABC61-5066-48D7-8C9B-DEA18BB9339D}" srcId="{22CF7FF4-7E08-416C-8A21-A671F903DB77}" destId="{D7BB7C9F-FF7C-4562-8427-2B656279091F}" srcOrd="5" destOrd="0" parTransId="{5B3DF836-A497-4975-A200-7374AFE9CA85}" sibTransId="{A90A861C-3FC6-4714-A876-745F5F20DF1E}"/>
    <dgm:cxn modelId="{D3DB5BF7-EEA4-4BF8-B46F-9EBB84A53829}" srcId="{22CF7FF4-7E08-416C-8A21-A671F903DB77}" destId="{75DCA845-9FE4-4CB8-9EDB-0C0A570998BB}" srcOrd="2" destOrd="0" parTransId="{320131EB-D15B-4ECF-BA32-CD1B8B8C24F7}" sibTransId="{4917CA2F-156F-42F2-B27A-D5088BCDA6BE}"/>
    <dgm:cxn modelId="{62501177-9ED2-4F32-9301-3A6900CAB2D9}" type="presOf" srcId="{0C39BA51-1140-4A10-AC85-1E0D4E470911}" destId="{30AD0969-DF00-41D0-8A48-403F5FC87A68}" srcOrd="0" destOrd="0" presId="urn:microsoft.com/office/officeart/2005/8/layout/hProcess9"/>
    <dgm:cxn modelId="{B6B5F9C5-B40B-44E8-AE74-B3F09F253D48}" srcId="{22CF7FF4-7E08-416C-8A21-A671F903DB77}" destId="{36E7C834-45B4-4F1D-8E64-5698D587335A}" srcOrd="1" destOrd="0" parTransId="{19231A65-1A49-4CC3-B118-0595AE2C3296}" sibTransId="{95689F4C-2378-4EB6-A164-64CF57F9F408}"/>
    <dgm:cxn modelId="{A2FCEB2B-01E4-449D-86A7-C5C961E25D62}" srcId="{22CF7FF4-7E08-416C-8A21-A671F903DB77}" destId="{0C39BA51-1140-4A10-AC85-1E0D4E470911}" srcOrd="4" destOrd="0" parTransId="{41FBB8C2-D522-4138-9C03-724D1496FF6F}" sibTransId="{9B362A72-DCF9-4FE4-BDF9-FF057D70B01C}"/>
    <dgm:cxn modelId="{4547B6E6-39E7-4280-8D0A-CB03712530D1}" type="presOf" srcId="{D88026E4-8C5A-49AE-9402-CBD64511FF7A}" destId="{00AF47E0-622D-435D-BB37-AA62C6D913D3}" srcOrd="0" destOrd="0" presId="urn:microsoft.com/office/officeart/2005/8/layout/hProcess9"/>
    <dgm:cxn modelId="{741A0C95-96D1-4321-9629-6A4C19C72D7B}" type="presParOf" srcId="{81FDA21C-6333-40D8-954D-1C8C5A67DF55}" destId="{EB1DCED8-E706-4E44-9BD2-5062E8398E27}" srcOrd="0" destOrd="0" presId="urn:microsoft.com/office/officeart/2005/8/layout/hProcess9"/>
    <dgm:cxn modelId="{32F26A83-E581-4BEF-9FCE-AA5363D326DB}" type="presParOf" srcId="{81FDA21C-6333-40D8-954D-1C8C5A67DF55}" destId="{C1EF2DFA-FBDE-40A8-B2CB-83F5196B542E}" srcOrd="1" destOrd="0" presId="urn:microsoft.com/office/officeart/2005/8/layout/hProcess9"/>
    <dgm:cxn modelId="{334ED40F-C220-407F-9DBA-AE702F56921A}" type="presParOf" srcId="{C1EF2DFA-FBDE-40A8-B2CB-83F5196B542E}" destId="{EFDC334E-8FB5-4D7D-B547-C7DBD956DB7F}" srcOrd="0" destOrd="0" presId="urn:microsoft.com/office/officeart/2005/8/layout/hProcess9"/>
    <dgm:cxn modelId="{016A344D-33AF-4F0A-AC05-1D1333E0ADE6}" type="presParOf" srcId="{C1EF2DFA-FBDE-40A8-B2CB-83F5196B542E}" destId="{6EF4683F-6001-4654-8912-391F2EAD0289}" srcOrd="1" destOrd="0" presId="urn:microsoft.com/office/officeart/2005/8/layout/hProcess9"/>
    <dgm:cxn modelId="{0216F6B9-91E0-497B-A45E-8F638BAFB988}" type="presParOf" srcId="{C1EF2DFA-FBDE-40A8-B2CB-83F5196B542E}" destId="{7CBAD77C-4711-4895-A672-82BE29D6C485}" srcOrd="2" destOrd="0" presId="urn:microsoft.com/office/officeart/2005/8/layout/hProcess9"/>
    <dgm:cxn modelId="{08AEC2EC-4DDC-4E43-BB54-923C4F102144}" type="presParOf" srcId="{C1EF2DFA-FBDE-40A8-B2CB-83F5196B542E}" destId="{1B4C94D9-58E7-4AEC-B75F-EB6D33DD3B2B}" srcOrd="3" destOrd="0" presId="urn:microsoft.com/office/officeart/2005/8/layout/hProcess9"/>
    <dgm:cxn modelId="{816310A8-3334-450F-B5E8-E69B14363146}" type="presParOf" srcId="{C1EF2DFA-FBDE-40A8-B2CB-83F5196B542E}" destId="{6A5CA203-57A8-4716-9467-B1C8723F90CF}" srcOrd="4" destOrd="0" presId="urn:microsoft.com/office/officeart/2005/8/layout/hProcess9"/>
    <dgm:cxn modelId="{02070B46-A69D-4DDC-9A07-0E3BD571026C}" type="presParOf" srcId="{C1EF2DFA-FBDE-40A8-B2CB-83F5196B542E}" destId="{953AA202-1CC2-4B73-A014-2691BF353BCF}" srcOrd="5" destOrd="0" presId="urn:microsoft.com/office/officeart/2005/8/layout/hProcess9"/>
    <dgm:cxn modelId="{F860C90A-3D0B-4087-B007-97E6B6E43090}" type="presParOf" srcId="{C1EF2DFA-FBDE-40A8-B2CB-83F5196B542E}" destId="{00AF47E0-622D-435D-BB37-AA62C6D913D3}" srcOrd="6" destOrd="0" presId="urn:microsoft.com/office/officeart/2005/8/layout/hProcess9"/>
    <dgm:cxn modelId="{DF2D6FB9-7CEE-4FA2-9701-017C4366A2DB}" type="presParOf" srcId="{C1EF2DFA-FBDE-40A8-B2CB-83F5196B542E}" destId="{1D61626F-86BC-47B9-A6B2-F1CBD1DF1F81}" srcOrd="7" destOrd="0" presId="urn:microsoft.com/office/officeart/2005/8/layout/hProcess9"/>
    <dgm:cxn modelId="{EE7996C5-98DD-4B78-B575-31D1699D0EDC}" type="presParOf" srcId="{C1EF2DFA-FBDE-40A8-B2CB-83F5196B542E}" destId="{30AD0969-DF00-41D0-8A48-403F5FC87A68}" srcOrd="8" destOrd="0" presId="urn:microsoft.com/office/officeart/2005/8/layout/hProcess9"/>
    <dgm:cxn modelId="{C7D55B27-B6F1-4FE5-A4CA-051120BCE99B}" type="presParOf" srcId="{C1EF2DFA-FBDE-40A8-B2CB-83F5196B542E}" destId="{912D26FE-3CC3-4507-9486-73457EC64865}" srcOrd="9" destOrd="0" presId="urn:microsoft.com/office/officeart/2005/8/layout/hProcess9"/>
    <dgm:cxn modelId="{0A82A4AD-DFF1-41E6-9991-1B673BFE454C}" type="presParOf" srcId="{C1EF2DFA-FBDE-40A8-B2CB-83F5196B542E}" destId="{715663FE-76C0-46D1-86C5-B11510ADA03C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CF7FF4-7E08-416C-8A21-A671F903DB77}" type="doc">
      <dgm:prSet loTypeId="urn:microsoft.com/office/officeart/2005/8/layout/hProcess9" loCatId="process" qsTypeId="urn:microsoft.com/office/officeart/2005/8/quickstyle/simple1" qsCatId="simple" csTypeId="urn:microsoft.com/office/officeart/2005/8/colors/accent0_3" csCatId="mainScheme" phldr="1"/>
      <dgm:spPr/>
    </dgm:pt>
    <dgm:pt modelId="{28AD5230-7D30-401A-8043-57C6C868D2F8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b="0" dirty="0" smtClean="0"/>
            <a:t>Priorização de DEMANDAS</a:t>
          </a:r>
          <a:endParaRPr lang="pt-BR" sz="1200" b="0" dirty="0"/>
        </a:p>
      </dgm:t>
    </dgm:pt>
    <dgm:pt modelId="{7DE3C601-F0AB-459C-A1EA-B1C92FF548D0}" type="parTrans" cxnId="{1FF9BF27-9674-40E0-8DBF-EDE37C3F6EBB}">
      <dgm:prSet/>
      <dgm:spPr/>
      <dgm:t>
        <a:bodyPr/>
        <a:lstStyle/>
        <a:p>
          <a:endParaRPr lang="pt-BR"/>
        </a:p>
      </dgm:t>
    </dgm:pt>
    <dgm:pt modelId="{AA80B022-2823-40C4-B23F-D0143FC8A83E}" type="sibTrans" cxnId="{1FF9BF27-9674-40E0-8DBF-EDE37C3F6EBB}">
      <dgm:prSet/>
      <dgm:spPr/>
      <dgm:t>
        <a:bodyPr/>
        <a:lstStyle/>
        <a:p>
          <a:endParaRPr lang="pt-BR"/>
        </a:p>
      </dgm:t>
    </dgm:pt>
    <dgm:pt modelId="{36E7C834-45B4-4F1D-8E64-5698D587335A}">
      <dgm:prSet phldrT="[Texto]" custT="1"/>
      <dgm:spPr>
        <a:solidFill>
          <a:schemeClr val="tx2"/>
        </a:solidFill>
      </dgm:spPr>
      <dgm:t>
        <a:bodyPr/>
        <a:lstStyle/>
        <a:p>
          <a:r>
            <a:rPr lang="pt-BR" sz="1200" b="1" dirty="0" smtClean="0"/>
            <a:t>Yellow PAD TD</a:t>
          </a:r>
          <a:endParaRPr lang="pt-BR" sz="1200" b="1" dirty="0"/>
        </a:p>
      </dgm:t>
    </dgm:pt>
    <dgm:pt modelId="{19231A65-1A49-4CC3-B118-0595AE2C3296}" type="parTrans" cxnId="{B6B5F9C5-B40B-44E8-AE74-B3F09F253D48}">
      <dgm:prSet/>
      <dgm:spPr/>
      <dgm:t>
        <a:bodyPr/>
        <a:lstStyle/>
        <a:p>
          <a:endParaRPr lang="pt-BR"/>
        </a:p>
      </dgm:t>
    </dgm:pt>
    <dgm:pt modelId="{95689F4C-2378-4EB6-A164-64CF57F9F408}" type="sibTrans" cxnId="{B6B5F9C5-B40B-44E8-AE74-B3F09F253D48}">
      <dgm:prSet/>
      <dgm:spPr/>
      <dgm:t>
        <a:bodyPr/>
        <a:lstStyle/>
        <a:p>
          <a:endParaRPr lang="pt-BR"/>
        </a:p>
      </dgm:t>
    </dgm:pt>
    <dgm:pt modelId="{75DCA845-9FE4-4CB8-9EDB-0C0A570998BB}">
      <dgm:prSet phldrT="[Texto]" custT="1"/>
      <dgm:spPr>
        <a:solidFill>
          <a:schemeClr val="tx2"/>
        </a:solidFill>
      </dgm:spPr>
      <dgm:t>
        <a:bodyPr/>
        <a:lstStyle/>
        <a:p>
          <a:r>
            <a:rPr lang="pt-BR" sz="1200" b="1" dirty="0" smtClean="0"/>
            <a:t>Aprovação CAD </a:t>
          </a:r>
          <a:endParaRPr lang="pt-BR" sz="1200" b="1" dirty="0"/>
        </a:p>
      </dgm:t>
    </dgm:pt>
    <dgm:pt modelId="{320131EB-D15B-4ECF-BA32-CD1B8B8C24F7}" type="parTrans" cxnId="{D3DB5BF7-EEA4-4BF8-B46F-9EBB84A53829}">
      <dgm:prSet/>
      <dgm:spPr/>
      <dgm:t>
        <a:bodyPr/>
        <a:lstStyle/>
        <a:p>
          <a:endParaRPr lang="pt-BR"/>
        </a:p>
      </dgm:t>
    </dgm:pt>
    <dgm:pt modelId="{4917CA2F-156F-42F2-B27A-D5088BCDA6BE}" type="sibTrans" cxnId="{D3DB5BF7-EEA4-4BF8-B46F-9EBB84A53829}">
      <dgm:prSet/>
      <dgm:spPr/>
      <dgm:t>
        <a:bodyPr/>
        <a:lstStyle/>
        <a:p>
          <a:endParaRPr lang="pt-BR"/>
        </a:p>
      </dgm:t>
    </dgm:pt>
    <dgm:pt modelId="{D88026E4-8C5A-49AE-9402-CBD64511FF7A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Desenv.</a:t>
          </a:r>
          <a:endParaRPr lang="pt-BR" sz="1200" dirty="0"/>
        </a:p>
      </dgm:t>
    </dgm:pt>
    <dgm:pt modelId="{FCC77CC3-D532-4E0E-9F4F-F4452EB6210A}" type="parTrans" cxnId="{22A9C401-7BCF-4375-B1D9-5A367C218618}">
      <dgm:prSet/>
      <dgm:spPr/>
      <dgm:t>
        <a:bodyPr/>
        <a:lstStyle/>
        <a:p>
          <a:endParaRPr lang="pt-BR"/>
        </a:p>
      </dgm:t>
    </dgm:pt>
    <dgm:pt modelId="{ECB9DB59-28A7-413D-BFF9-12AAE045E11E}" type="sibTrans" cxnId="{22A9C401-7BCF-4375-B1D9-5A367C218618}">
      <dgm:prSet/>
      <dgm:spPr/>
      <dgm:t>
        <a:bodyPr/>
        <a:lstStyle/>
        <a:p>
          <a:endParaRPr lang="pt-BR"/>
        </a:p>
      </dgm:t>
    </dgm:pt>
    <dgm:pt modelId="{0C39BA51-1140-4A10-AC85-1E0D4E470911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Entrega (Releases)</a:t>
          </a:r>
          <a:endParaRPr lang="pt-BR" sz="1200" dirty="0"/>
        </a:p>
      </dgm:t>
    </dgm:pt>
    <dgm:pt modelId="{41FBB8C2-D522-4138-9C03-724D1496FF6F}" type="parTrans" cxnId="{A2FCEB2B-01E4-449D-86A7-C5C961E25D62}">
      <dgm:prSet/>
      <dgm:spPr/>
      <dgm:t>
        <a:bodyPr/>
        <a:lstStyle/>
        <a:p>
          <a:endParaRPr lang="pt-BR"/>
        </a:p>
      </dgm:t>
    </dgm:pt>
    <dgm:pt modelId="{9B362A72-DCF9-4FE4-BDF9-FF057D70B01C}" type="sibTrans" cxnId="{A2FCEB2B-01E4-449D-86A7-C5C961E25D62}">
      <dgm:prSet/>
      <dgm:spPr/>
      <dgm:t>
        <a:bodyPr/>
        <a:lstStyle/>
        <a:p>
          <a:endParaRPr lang="pt-BR"/>
        </a:p>
      </dgm:t>
    </dgm:pt>
    <dgm:pt modelId="{D7BB7C9F-FF7C-4562-8427-2B656279091F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Resultados e Benefícios</a:t>
          </a:r>
          <a:endParaRPr lang="pt-BR" sz="1200" dirty="0"/>
        </a:p>
      </dgm:t>
    </dgm:pt>
    <dgm:pt modelId="{5B3DF836-A497-4975-A200-7374AFE9CA85}" type="parTrans" cxnId="{54FABC61-5066-48D7-8C9B-DEA18BB9339D}">
      <dgm:prSet/>
      <dgm:spPr/>
      <dgm:t>
        <a:bodyPr/>
        <a:lstStyle/>
        <a:p>
          <a:endParaRPr lang="pt-BR"/>
        </a:p>
      </dgm:t>
    </dgm:pt>
    <dgm:pt modelId="{A90A861C-3FC6-4714-A876-745F5F20DF1E}" type="sibTrans" cxnId="{54FABC61-5066-48D7-8C9B-DEA18BB9339D}">
      <dgm:prSet/>
      <dgm:spPr/>
      <dgm:t>
        <a:bodyPr/>
        <a:lstStyle/>
        <a:p>
          <a:endParaRPr lang="pt-BR"/>
        </a:p>
      </dgm:t>
    </dgm:pt>
    <dgm:pt modelId="{81FDA21C-6333-40D8-954D-1C8C5A67DF55}" type="pres">
      <dgm:prSet presAssocID="{22CF7FF4-7E08-416C-8A21-A671F903DB77}" presName="CompostProcess" presStyleCnt="0">
        <dgm:presLayoutVars>
          <dgm:dir/>
          <dgm:resizeHandles val="exact"/>
        </dgm:presLayoutVars>
      </dgm:prSet>
      <dgm:spPr/>
    </dgm:pt>
    <dgm:pt modelId="{EB1DCED8-E706-4E44-9BD2-5062E8398E27}" type="pres">
      <dgm:prSet presAssocID="{22CF7FF4-7E08-416C-8A21-A671F903DB77}" presName="arrow" presStyleLbl="bgShp" presStyleIdx="0" presStyleCnt="1"/>
      <dgm:spPr/>
    </dgm:pt>
    <dgm:pt modelId="{C1EF2DFA-FBDE-40A8-B2CB-83F5196B542E}" type="pres">
      <dgm:prSet presAssocID="{22CF7FF4-7E08-416C-8A21-A671F903DB77}" presName="linearProcess" presStyleCnt="0"/>
      <dgm:spPr/>
    </dgm:pt>
    <dgm:pt modelId="{EFDC334E-8FB5-4D7D-B547-C7DBD956DB7F}" type="pres">
      <dgm:prSet presAssocID="{28AD5230-7D30-401A-8043-57C6C868D2F8}" presName="textNode" presStyleLbl="node1" presStyleIdx="0" presStyleCnt="6" custLinFactNeighborX="-66098" custLinFactNeighborY="-267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EF4683F-6001-4654-8912-391F2EAD0289}" type="pres">
      <dgm:prSet presAssocID="{AA80B022-2823-40C4-B23F-D0143FC8A83E}" presName="sibTrans" presStyleCnt="0"/>
      <dgm:spPr/>
    </dgm:pt>
    <dgm:pt modelId="{7CBAD77C-4711-4895-A672-82BE29D6C485}" type="pres">
      <dgm:prSet presAssocID="{36E7C834-45B4-4F1D-8E64-5698D587335A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B4C94D9-58E7-4AEC-B75F-EB6D33DD3B2B}" type="pres">
      <dgm:prSet presAssocID="{95689F4C-2378-4EB6-A164-64CF57F9F408}" presName="sibTrans" presStyleCnt="0"/>
      <dgm:spPr/>
    </dgm:pt>
    <dgm:pt modelId="{6A5CA203-57A8-4716-9467-B1C8723F90CF}" type="pres">
      <dgm:prSet presAssocID="{75DCA845-9FE4-4CB8-9EDB-0C0A570998BB}" presName="textNode" presStyleLbl="node1" presStyleIdx="2" presStyleCnt="6" custLinFactNeighborX="-12347" custLinFactNeighborY="-260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53AA202-1CC2-4B73-A014-2691BF353BCF}" type="pres">
      <dgm:prSet presAssocID="{4917CA2F-156F-42F2-B27A-D5088BCDA6BE}" presName="sibTrans" presStyleCnt="0"/>
      <dgm:spPr/>
    </dgm:pt>
    <dgm:pt modelId="{00AF47E0-622D-435D-BB37-AA62C6D913D3}" type="pres">
      <dgm:prSet presAssocID="{D88026E4-8C5A-49AE-9402-CBD64511FF7A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D61626F-86BC-47B9-A6B2-F1CBD1DF1F81}" type="pres">
      <dgm:prSet presAssocID="{ECB9DB59-28A7-413D-BFF9-12AAE045E11E}" presName="sibTrans" presStyleCnt="0"/>
      <dgm:spPr/>
    </dgm:pt>
    <dgm:pt modelId="{30AD0969-DF00-41D0-8A48-403F5FC87A68}" type="pres">
      <dgm:prSet presAssocID="{0C39BA51-1140-4A10-AC85-1E0D4E470911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12D26FE-3CC3-4507-9486-73457EC64865}" type="pres">
      <dgm:prSet presAssocID="{9B362A72-DCF9-4FE4-BDF9-FF057D70B01C}" presName="sibTrans" presStyleCnt="0"/>
      <dgm:spPr/>
    </dgm:pt>
    <dgm:pt modelId="{715663FE-76C0-46D1-86C5-B11510ADA03C}" type="pres">
      <dgm:prSet presAssocID="{D7BB7C9F-FF7C-4562-8427-2B656279091F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668EB460-98AA-4050-B2DE-896FEBE9D0D8}" type="presOf" srcId="{D88026E4-8C5A-49AE-9402-CBD64511FF7A}" destId="{00AF47E0-622D-435D-BB37-AA62C6D913D3}" srcOrd="0" destOrd="0" presId="urn:microsoft.com/office/officeart/2005/8/layout/hProcess9"/>
    <dgm:cxn modelId="{54FABC61-5066-48D7-8C9B-DEA18BB9339D}" srcId="{22CF7FF4-7E08-416C-8A21-A671F903DB77}" destId="{D7BB7C9F-FF7C-4562-8427-2B656279091F}" srcOrd="5" destOrd="0" parTransId="{5B3DF836-A497-4975-A200-7374AFE9CA85}" sibTransId="{A90A861C-3FC6-4714-A876-745F5F20DF1E}"/>
    <dgm:cxn modelId="{503D92B2-ACDD-4CAD-9497-9D97BA34F49C}" type="presOf" srcId="{0C39BA51-1140-4A10-AC85-1E0D4E470911}" destId="{30AD0969-DF00-41D0-8A48-403F5FC87A68}" srcOrd="0" destOrd="0" presId="urn:microsoft.com/office/officeart/2005/8/layout/hProcess9"/>
    <dgm:cxn modelId="{22A9C401-7BCF-4375-B1D9-5A367C218618}" srcId="{22CF7FF4-7E08-416C-8A21-A671F903DB77}" destId="{D88026E4-8C5A-49AE-9402-CBD64511FF7A}" srcOrd="3" destOrd="0" parTransId="{FCC77CC3-D532-4E0E-9F4F-F4452EB6210A}" sibTransId="{ECB9DB59-28A7-413D-BFF9-12AAE045E11E}"/>
    <dgm:cxn modelId="{A2FCEB2B-01E4-449D-86A7-C5C961E25D62}" srcId="{22CF7FF4-7E08-416C-8A21-A671F903DB77}" destId="{0C39BA51-1140-4A10-AC85-1E0D4E470911}" srcOrd="4" destOrd="0" parTransId="{41FBB8C2-D522-4138-9C03-724D1496FF6F}" sibTransId="{9B362A72-DCF9-4FE4-BDF9-FF057D70B01C}"/>
    <dgm:cxn modelId="{1FF9BF27-9674-40E0-8DBF-EDE37C3F6EBB}" srcId="{22CF7FF4-7E08-416C-8A21-A671F903DB77}" destId="{28AD5230-7D30-401A-8043-57C6C868D2F8}" srcOrd="0" destOrd="0" parTransId="{7DE3C601-F0AB-459C-A1EA-B1C92FF548D0}" sibTransId="{AA80B022-2823-40C4-B23F-D0143FC8A83E}"/>
    <dgm:cxn modelId="{9E15D3FA-2C4E-4D02-86AA-CC5495809DE1}" type="presOf" srcId="{22CF7FF4-7E08-416C-8A21-A671F903DB77}" destId="{81FDA21C-6333-40D8-954D-1C8C5A67DF55}" srcOrd="0" destOrd="0" presId="urn:microsoft.com/office/officeart/2005/8/layout/hProcess9"/>
    <dgm:cxn modelId="{D3DB5BF7-EEA4-4BF8-B46F-9EBB84A53829}" srcId="{22CF7FF4-7E08-416C-8A21-A671F903DB77}" destId="{75DCA845-9FE4-4CB8-9EDB-0C0A570998BB}" srcOrd="2" destOrd="0" parTransId="{320131EB-D15B-4ECF-BA32-CD1B8B8C24F7}" sibTransId="{4917CA2F-156F-42F2-B27A-D5088BCDA6BE}"/>
    <dgm:cxn modelId="{456F92D9-25C7-4D70-BB77-925AA5E11140}" type="presOf" srcId="{75DCA845-9FE4-4CB8-9EDB-0C0A570998BB}" destId="{6A5CA203-57A8-4716-9467-B1C8723F90CF}" srcOrd="0" destOrd="0" presId="urn:microsoft.com/office/officeart/2005/8/layout/hProcess9"/>
    <dgm:cxn modelId="{899B1853-7039-4696-A9FB-7218DFF5CE1B}" type="presOf" srcId="{36E7C834-45B4-4F1D-8E64-5698D587335A}" destId="{7CBAD77C-4711-4895-A672-82BE29D6C485}" srcOrd="0" destOrd="0" presId="urn:microsoft.com/office/officeart/2005/8/layout/hProcess9"/>
    <dgm:cxn modelId="{DFC41E97-C8F9-42F6-9E71-024CCD58568C}" type="presOf" srcId="{28AD5230-7D30-401A-8043-57C6C868D2F8}" destId="{EFDC334E-8FB5-4D7D-B547-C7DBD956DB7F}" srcOrd="0" destOrd="0" presId="urn:microsoft.com/office/officeart/2005/8/layout/hProcess9"/>
    <dgm:cxn modelId="{26F81B32-4165-45C1-BA6A-CBE1DAB7930B}" type="presOf" srcId="{D7BB7C9F-FF7C-4562-8427-2B656279091F}" destId="{715663FE-76C0-46D1-86C5-B11510ADA03C}" srcOrd="0" destOrd="0" presId="urn:microsoft.com/office/officeart/2005/8/layout/hProcess9"/>
    <dgm:cxn modelId="{B6B5F9C5-B40B-44E8-AE74-B3F09F253D48}" srcId="{22CF7FF4-7E08-416C-8A21-A671F903DB77}" destId="{36E7C834-45B4-4F1D-8E64-5698D587335A}" srcOrd="1" destOrd="0" parTransId="{19231A65-1A49-4CC3-B118-0595AE2C3296}" sibTransId="{95689F4C-2378-4EB6-A164-64CF57F9F408}"/>
    <dgm:cxn modelId="{8289834A-9F4C-4AD6-B5A2-75C092D45D0C}" type="presParOf" srcId="{81FDA21C-6333-40D8-954D-1C8C5A67DF55}" destId="{EB1DCED8-E706-4E44-9BD2-5062E8398E27}" srcOrd="0" destOrd="0" presId="urn:microsoft.com/office/officeart/2005/8/layout/hProcess9"/>
    <dgm:cxn modelId="{DD3E0C91-A02D-46A1-8930-DC7581E53A5E}" type="presParOf" srcId="{81FDA21C-6333-40D8-954D-1C8C5A67DF55}" destId="{C1EF2DFA-FBDE-40A8-B2CB-83F5196B542E}" srcOrd="1" destOrd="0" presId="urn:microsoft.com/office/officeart/2005/8/layout/hProcess9"/>
    <dgm:cxn modelId="{303D657E-DFB5-4770-A1DF-C022EAD56DD4}" type="presParOf" srcId="{C1EF2DFA-FBDE-40A8-B2CB-83F5196B542E}" destId="{EFDC334E-8FB5-4D7D-B547-C7DBD956DB7F}" srcOrd="0" destOrd="0" presId="urn:microsoft.com/office/officeart/2005/8/layout/hProcess9"/>
    <dgm:cxn modelId="{5DD3639A-73F9-41AC-AB29-57211E8FB206}" type="presParOf" srcId="{C1EF2DFA-FBDE-40A8-B2CB-83F5196B542E}" destId="{6EF4683F-6001-4654-8912-391F2EAD0289}" srcOrd="1" destOrd="0" presId="urn:microsoft.com/office/officeart/2005/8/layout/hProcess9"/>
    <dgm:cxn modelId="{C987316C-94A8-4769-8BDA-3141116116F7}" type="presParOf" srcId="{C1EF2DFA-FBDE-40A8-B2CB-83F5196B542E}" destId="{7CBAD77C-4711-4895-A672-82BE29D6C485}" srcOrd="2" destOrd="0" presId="urn:microsoft.com/office/officeart/2005/8/layout/hProcess9"/>
    <dgm:cxn modelId="{0CA5EE35-6D79-4390-95E6-76AA5501F4DA}" type="presParOf" srcId="{C1EF2DFA-FBDE-40A8-B2CB-83F5196B542E}" destId="{1B4C94D9-58E7-4AEC-B75F-EB6D33DD3B2B}" srcOrd="3" destOrd="0" presId="urn:microsoft.com/office/officeart/2005/8/layout/hProcess9"/>
    <dgm:cxn modelId="{BFD1FA41-D2F1-4810-B0B2-565FFF3B67E8}" type="presParOf" srcId="{C1EF2DFA-FBDE-40A8-B2CB-83F5196B542E}" destId="{6A5CA203-57A8-4716-9467-B1C8723F90CF}" srcOrd="4" destOrd="0" presId="urn:microsoft.com/office/officeart/2005/8/layout/hProcess9"/>
    <dgm:cxn modelId="{65940B64-B7B7-43D7-867F-D8A90836C5F0}" type="presParOf" srcId="{C1EF2DFA-FBDE-40A8-B2CB-83F5196B542E}" destId="{953AA202-1CC2-4B73-A014-2691BF353BCF}" srcOrd="5" destOrd="0" presId="urn:microsoft.com/office/officeart/2005/8/layout/hProcess9"/>
    <dgm:cxn modelId="{D7960CA1-9963-45B2-AF7E-8BF2063D1471}" type="presParOf" srcId="{C1EF2DFA-FBDE-40A8-B2CB-83F5196B542E}" destId="{00AF47E0-622D-435D-BB37-AA62C6D913D3}" srcOrd="6" destOrd="0" presId="urn:microsoft.com/office/officeart/2005/8/layout/hProcess9"/>
    <dgm:cxn modelId="{7BC79DB1-161C-42F5-973D-58BCBAC0BC09}" type="presParOf" srcId="{C1EF2DFA-FBDE-40A8-B2CB-83F5196B542E}" destId="{1D61626F-86BC-47B9-A6B2-F1CBD1DF1F81}" srcOrd="7" destOrd="0" presId="urn:microsoft.com/office/officeart/2005/8/layout/hProcess9"/>
    <dgm:cxn modelId="{9F460945-BFC5-42D4-A20B-98F470159E76}" type="presParOf" srcId="{C1EF2DFA-FBDE-40A8-B2CB-83F5196B542E}" destId="{30AD0969-DF00-41D0-8A48-403F5FC87A68}" srcOrd="8" destOrd="0" presId="urn:microsoft.com/office/officeart/2005/8/layout/hProcess9"/>
    <dgm:cxn modelId="{218AC635-58D3-4ADF-9CAE-D13F83B822AA}" type="presParOf" srcId="{C1EF2DFA-FBDE-40A8-B2CB-83F5196B542E}" destId="{912D26FE-3CC3-4507-9486-73457EC64865}" srcOrd="9" destOrd="0" presId="urn:microsoft.com/office/officeart/2005/8/layout/hProcess9"/>
    <dgm:cxn modelId="{464A165B-ACF9-4E11-B3BC-FBE052F35BE7}" type="presParOf" srcId="{C1EF2DFA-FBDE-40A8-B2CB-83F5196B542E}" destId="{715663FE-76C0-46D1-86C5-B11510ADA03C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2CF7FF4-7E08-416C-8A21-A671F903DB77}" type="doc">
      <dgm:prSet loTypeId="urn:microsoft.com/office/officeart/2005/8/layout/hProcess9" loCatId="process" qsTypeId="urn:microsoft.com/office/officeart/2005/8/quickstyle/simple1" qsCatId="simple" csTypeId="urn:microsoft.com/office/officeart/2005/8/colors/accent0_3" csCatId="mainScheme" phldr="1"/>
      <dgm:spPr/>
    </dgm:pt>
    <dgm:pt modelId="{28AD5230-7D30-401A-8043-57C6C868D2F8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b="0" dirty="0" smtClean="0"/>
            <a:t>Priorização de DEMANDAS</a:t>
          </a:r>
          <a:endParaRPr lang="pt-BR" sz="1200" b="0" dirty="0"/>
        </a:p>
      </dgm:t>
    </dgm:pt>
    <dgm:pt modelId="{7DE3C601-F0AB-459C-A1EA-B1C92FF548D0}" type="parTrans" cxnId="{1FF9BF27-9674-40E0-8DBF-EDE37C3F6EBB}">
      <dgm:prSet/>
      <dgm:spPr/>
      <dgm:t>
        <a:bodyPr/>
        <a:lstStyle/>
        <a:p>
          <a:endParaRPr lang="pt-BR"/>
        </a:p>
      </dgm:t>
    </dgm:pt>
    <dgm:pt modelId="{AA80B022-2823-40C4-B23F-D0143FC8A83E}" type="sibTrans" cxnId="{1FF9BF27-9674-40E0-8DBF-EDE37C3F6EBB}">
      <dgm:prSet/>
      <dgm:spPr/>
      <dgm:t>
        <a:bodyPr/>
        <a:lstStyle/>
        <a:p>
          <a:endParaRPr lang="pt-BR"/>
        </a:p>
      </dgm:t>
    </dgm:pt>
    <dgm:pt modelId="{36E7C834-45B4-4F1D-8E64-5698D587335A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Yellow PAD TD</a:t>
          </a:r>
          <a:endParaRPr lang="pt-BR" sz="1200" dirty="0"/>
        </a:p>
      </dgm:t>
    </dgm:pt>
    <dgm:pt modelId="{19231A65-1A49-4CC3-B118-0595AE2C3296}" type="parTrans" cxnId="{B6B5F9C5-B40B-44E8-AE74-B3F09F253D48}">
      <dgm:prSet/>
      <dgm:spPr/>
      <dgm:t>
        <a:bodyPr/>
        <a:lstStyle/>
        <a:p>
          <a:endParaRPr lang="pt-BR"/>
        </a:p>
      </dgm:t>
    </dgm:pt>
    <dgm:pt modelId="{95689F4C-2378-4EB6-A164-64CF57F9F408}" type="sibTrans" cxnId="{B6B5F9C5-B40B-44E8-AE74-B3F09F253D48}">
      <dgm:prSet/>
      <dgm:spPr/>
      <dgm:t>
        <a:bodyPr/>
        <a:lstStyle/>
        <a:p>
          <a:endParaRPr lang="pt-BR"/>
        </a:p>
      </dgm:t>
    </dgm:pt>
    <dgm:pt modelId="{75DCA845-9FE4-4CB8-9EDB-0C0A570998BB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Aprovação CAD </a:t>
          </a:r>
          <a:endParaRPr lang="pt-BR" sz="1200" dirty="0"/>
        </a:p>
      </dgm:t>
    </dgm:pt>
    <dgm:pt modelId="{320131EB-D15B-4ECF-BA32-CD1B8B8C24F7}" type="parTrans" cxnId="{D3DB5BF7-EEA4-4BF8-B46F-9EBB84A53829}">
      <dgm:prSet/>
      <dgm:spPr/>
      <dgm:t>
        <a:bodyPr/>
        <a:lstStyle/>
        <a:p>
          <a:endParaRPr lang="pt-BR"/>
        </a:p>
      </dgm:t>
    </dgm:pt>
    <dgm:pt modelId="{4917CA2F-156F-42F2-B27A-D5088BCDA6BE}" type="sibTrans" cxnId="{D3DB5BF7-EEA4-4BF8-B46F-9EBB84A53829}">
      <dgm:prSet/>
      <dgm:spPr/>
      <dgm:t>
        <a:bodyPr/>
        <a:lstStyle/>
        <a:p>
          <a:endParaRPr lang="pt-BR"/>
        </a:p>
      </dgm:t>
    </dgm:pt>
    <dgm:pt modelId="{D88026E4-8C5A-49AE-9402-CBD64511FF7A}">
      <dgm:prSet phldrT="[Texto]" custT="1"/>
      <dgm:spPr>
        <a:solidFill>
          <a:schemeClr val="tx2"/>
        </a:solidFill>
      </dgm:spPr>
      <dgm:t>
        <a:bodyPr/>
        <a:lstStyle/>
        <a:p>
          <a:r>
            <a:rPr lang="pt-BR" sz="1200" b="1" dirty="0" smtClean="0"/>
            <a:t>Desenv</a:t>
          </a:r>
          <a:r>
            <a:rPr lang="pt-BR" sz="1200" dirty="0" smtClean="0"/>
            <a:t>.</a:t>
          </a:r>
          <a:endParaRPr lang="pt-BR" sz="1200" dirty="0"/>
        </a:p>
      </dgm:t>
    </dgm:pt>
    <dgm:pt modelId="{FCC77CC3-D532-4E0E-9F4F-F4452EB6210A}" type="parTrans" cxnId="{22A9C401-7BCF-4375-B1D9-5A367C218618}">
      <dgm:prSet/>
      <dgm:spPr/>
      <dgm:t>
        <a:bodyPr/>
        <a:lstStyle/>
        <a:p>
          <a:endParaRPr lang="pt-BR"/>
        </a:p>
      </dgm:t>
    </dgm:pt>
    <dgm:pt modelId="{ECB9DB59-28A7-413D-BFF9-12AAE045E11E}" type="sibTrans" cxnId="{22A9C401-7BCF-4375-B1D9-5A367C218618}">
      <dgm:prSet/>
      <dgm:spPr/>
      <dgm:t>
        <a:bodyPr/>
        <a:lstStyle/>
        <a:p>
          <a:endParaRPr lang="pt-BR"/>
        </a:p>
      </dgm:t>
    </dgm:pt>
    <dgm:pt modelId="{0C39BA51-1140-4A10-AC85-1E0D4E470911}">
      <dgm:prSet phldrT="[Texto]" custT="1"/>
      <dgm:spPr>
        <a:solidFill>
          <a:schemeClr val="tx2"/>
        </a:solidFill>
      </dgm:spPr>
      <dgm:t>
        <a:bodyPr/>
        <a:lstStyle/>
        <a:p>
          <a:r>
            <a:rPr lang="pt-BR" sz="1200" b="1" dirty="0" smtClean="0"/>
            <a:t>Entrega (Releases)</a:t>
          </a:r>
          <a:endParaRPr lang="pt-BR" sz="1200" b="1" dirty="0"/>
        </a:p>
      </dgm:t>
    </dgm:pt>
    <dgm:pt modelId="{41FBB8C2-D522-4138-9C03-724D1496FF6F}" type="parTrans" cxnId="{A2FCEB2B-01E4-449D-86A7-C5C961E25D62}">
      <dgm:prSet/>
      <dgm:spPr/>
      <dgm:t>
        <a:bodyPr/>
        <a:lstStyle/>
        <a:p>
          <a:endParaRPr lang="pt-BR"/>
        </a:p>
      </dgm:t>
    </dgm:pt>
    <dgm:pt modelId="{9B362A72-DCF9-4FE4-BDF9-FF057D70B01C}" type="sibTrans" cxnId="{A2FCEB2B-01E4-449D-86A7-C5C961E25D62}">
      <dgm:prSet/>
      <dgm:spPr/>
      <dgm:t>
        <a:bodyPr/>
        <a:lstStyle/>
        <a:p>
          <a:endParaRPr lang="pt-BR"/>
        </a:p>
      </dgm:t>
    </dgm:pt>
    <dgm:pt modelId="{D7BB7C9F-FF7C-4562-8427-2B656279091F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Resultados e Benefícios</a:t>
          </a:r>
          <a:endParaRPr lang="pt-BR" sz="1200" dirty="0"/>
        </a:p>
      </dgm:t>
    </dgm:pt>
    <dgm:pt modelId="{5B3DF836-A497-4975-A200-7374AFE9CA85}" type="parTrans" cxnId="{54FABC61-5066-48D7-8C9B-DEA18BB9339D}">
      <dgm:prSet/>
      <dgm:spPr/>
      <dgm:t>
        <a:bodyPr/>
        <a:lstStyle/>
        <a:p>
          <a:endParaRPr lang="pt-BR"/>
        </a:p>
      </dgm:t>
    </dgm:pt>
    <dgm:pt modelId="{A90A861C-3FC6-4714-A876-745F5F20DF1E}" type="sibTrans" cxnId="{54FABC61-5066-48D7-8C9B-DEA18BB9339D}">
      <dgm:prSet/>
      <dgm:spPr/>
      <dgm:t>
        <a:bodyPr/>
        <a:lstStyle/>
        <a:p>
          <a:endParaRPr lang="pt-BR"/>
        </a:p>
      </dgm:t>
    </dgm:pt>
    <dgm:pt modelId="{81FDA21C-6333-40D8-954D-1C8C5A67DF55}" type="pres">
      <dgm:prSet presAssocID="{22CF7FF4-7E08-416C-8A21-A671F903DB77}" presName="CompostProcess" presStyleCnt="0">
        <dgm:presLayoutVars>
          <dgm:dir/>
          <dgm:resizeHandles val="exact"/>
        </dgm:presLayoutVars>
      </dgm:prSet>
      <dgm:spPr/>
    </dgm:pt>
    <dgm:pt modelId="{EB1DCED8-E706-4E44-9BD2-5062E8398E27}" type="pres">
      <dgm:prSet presAssocID="{22CF7FF4-7E08-416C-8A21-A671F903DB77}" presName="arrow" presStyleLbl="bgShp" presStyleIdx="0" presStyleCnt="1"/>
      <dgm:spPr/>
    </dgm:pt>
    <dgm:pt modelId="{C1EF2DFA-FBDE-40A8-B2CB-83F5196B542E}" type="pres">
      <dgm:prSet presAssocID="{22CF7FF4-7E08-416C-8A21-A671F903DB77}" presName="linearProcess" presStyleCnt="0"/>
      <dgm:spPr/>
    </dgm:pt>
    <dgm:pt modelId="{EFDC334E-8FB5-4D7D-B547-C7DBD956DB7F}" type="pres">
      <dgm:prSet presAssocID="{28AD5230-7D30-401A-8043-57C6C868D2F8}" presName="textNode" presStyleLbl="node1" presStyleIdx="0" presStyleCnt="6" custLinFactNeighborX="-66098" custLinFactNeighborY="-267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EF4683F-6001-4654-8912-391F2EAD0289}" type="pres">
      <dgm:prSet presAssocID="{AA80B022-2823-40C4-B23F-D0143FC8A83E}" presName="sibTrans" presStyleCnt="0"/>
      <dgm:spPr/>
    </dgm:pt>
    <dgm:pt modelId="{7CBAD77C-4711-4895-A672-82BE29D6C485}" type="pres">
      <dgm:prSet presAssocID="{36E7C834-45B4-4F1D-8E64-5698D587335A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B4C94D9-58E7-4AEC-B75F-EB6D33DD3B2B}" type="pres">
      <dgm:prSet presAssocID="{95689F4C-2378-4EB6-A164-64CF57F9F408}" presName="sibTrans" presStyleCnt="0"/>
      <dgm:spPr/>
    </dgm:pt>
    <dgm:pt modelId="{6A5CA203-57A8-4716-9467-B1C8723F90CF}" type="pres">
      <dgm:prSet presAssocID="{75DCA845-9FE4-4CB8-9EDB-0C0A570998BB}" presName="textNode" presStyleLbl="node1" presStyleIdx="2" presStyleCnt="6" custLinFactNeighborX="-12347" custLinFactNeighborY="-260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53AA202-1CC2-4B73-A014-2691BF353BCF}" type="pres">
      <dgm:prSet presAssocID="{4917CA2F-156F-42F2-B27A-D5088BCDA6BE}" presName="sibTrans" presStyleCnt="0"/>
      <dgm:spPr/>
    </dgm:pt>
    <dgm:pt modelId="{00AF47E0-622D-435D-BB37-AA62C6D913D3}" type="pres">
      <dgm:prSet presAssocID="{D88026E4-8C5A-49AE-9402-CBD64511FF7A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D61626F-86BC-47B9-A6B2-F1CBD1DF1F81}" type="pres">
      <dgm:prSet presAssocID="{ECB9DB59-28A7-413D-BFF9-12AAE045E11E}" presName="sibTrans" presStyleCnt="0"/>
      <dgm:spPr/>
    </dgm:pt>
    <dgm:pt modelId="{30AD0969-DF00-41D0-8A48-403F5FC87A68}" type="pres">
      <dgm:prSet presAssocID="{0C39BA51-1140-4A10-AC85-1E0D4E470911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12D26FE-3CC3-4507-9486-73457EC64865}" type="pres">
      <dgm:prSet presAssocID="{9B362A72-DCF9-4FE4-BDF9-FF057D70B01C}" presName="sibTrans" presStyleCnt="0"/>
      <dgm:spPr/>
    </dgm:pt>
    <dgm:pt modelId="{715663FE-76C0-46D1-86C5-B11510ADA03C}" type="pres">
      <dgm:prSet presAssocID="{D7BB7C9F-FF7C-4562-8427-2B656279091F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4FABC61-5066-48D7-8C9B-DEA18BB9339D}" srcId="{22CF7FF4-7E08-416C-8A21-A671F903DB77}" destId="{D7BB7C9F-FF7C-4562-8427-2B656279091F}" srcOrd="5" destOrd="0" parTransId="{5B3DF836-A497-4975-A200-7374AFE9CA85}" sibTransId="{A90A861C-3FC6-4714-A876-745F5F20DF1E}"/>
    <dgm:cxn modelId="{22A9C401-7BCF-4375-B1D9-5A367C218618}" srcId="{22CF7FF4-7E08-416C-8A21-A671F903DB77}" destId="{D88026E4-8C5A-49AE-9402-CBD64511FF7A}" srcOrd="3" destOrd="0" parTransId="{FCC77CC3-D532-4E0E-9F4F-F4452EB6210A}" sibTransId="{ECB9DB59-28A7-413D-BFF9-12AAE045E11E}"/>
    <dgm:cxn modelId="{B4CF71A4-79FB-49C3-A697-EBFD81F0F0D2}" type="presOf" srcId="{D7BB7C9F-FF7C-4562-8427-2B656279091F}" destId="{715663FE-76C0-46D1-86C5-B11510ADA03C}" srcOrd="0" destOrd="0" presId="urn:microsoft.com/office/officeart/2005/8/layout/hProcess9"/>
    <dgm:cxn modelId="{A2FCEB2B-01E4-449D-86A7-C5C961E25D62}" srcId="{22CF7FF4-7E08-416C-8A21-A671F903DB77}" destId="{0C39BA51-1140-4A10-AC85-1E0D4E470911}" srcOrd="4" destOrd="0" parTransId="{41FBB8C2-D522-4138-9C03-724D1496FF6F}" sibTransId="{9B362A72-DCF9-4FE4-BDF9-FF057D70B01C}"/>
    <dgm:cxn modelId="{1FF9BF27-9674-40E0-8DBF-EDE37C3F6EBB}" srcId="{22CF7FF4-7E08-416C-8A21-A671F903DB77}" destId="{28AD5230-7D30-401A-8043-57C6C868D2F8}" srcOrd="0" destOrd="0" parTransId="{7DE3C601-F0AB-459C-A1EA-B1C92FF548D0}" sibTransId="{AA80B022-2823-40C4-B23F-D0143FC8A83E}"/>
    <dgm:cxn modelId="{15E764ED-50D8-492F-B6D9-5C4D10A46B72}" type="presOf" srcId="{0C39BA51-1140-4A10-AC85-1E0D4E470911}" destId="{30AD0969-DF00-41D0-8A48-403F5FC87A68}" srcOrd="0" destOrd="0" presId="urn:microsoft.com/office/officeart/2005/8/layout/hProcess9"/>
    <dgm:cxn modelId="{6EAE77E4-3892-4FA2-A65E-293EDAE24F97}" type="presOf" srcId="{22CF7FF4-7E08-416C-8A21-A671F903DB77}" destId="{81FDA21C-6333-40D8-954D-1C8C5A67DF55}" srcOrd="0" destOrd="0" presId="urn:microsoft.com/office/officeart/2005/8/layout/hProcess9"/>
    <dgm:cxn modelId="{D3DB5BF7-EEA4-4BF8-B46F-9EBB84A53829}" srcId="{22CF7FF4-7E08-416C-8A21-A671F903DB77}" destId="{75DCA845-9FE4-4CB8-9EDB-0C0A570998BB}" srcOrd="2" destOrd="0" parTransId="{320131EB-D15B-4ECF-BA32-CD1B8B8C24F7}" sibTransId="{4917CA2F-156F-42F2-B27A-D5088BCDA6BE}"/>
    <dgm:cxn modelId="{1283D346-FA60-428F-9562-4332A2B3B60A}" type="presOf" srcId="{28AD5230-7D30-401A-8043-57C6C868D2F8}" destId="{EFDC334E-8FB5-4D7D-B547-C7DBD956DB7F}" srcOrd="0" destOrd="0" presId="urn:microsoft.com/office/officeart/2005/8/layout/hProcess9"/>
    <dgm:cxn modelId="{DE406549-1015-450A-AF6B-DA23E0A0B6C5}" type="presOf" srcId="{D88026E4-8C5A-49AE-9402-CBD64511FF7A}" destId="{00AF47E0-622D-435D-BB37-AA62C6D913D3}" srcOrd="0" destOrd="0" presId="urn:microsoft.com/office/officeart/2005/8/layout/hProcess9"/>
    <dgm:cxn modelId="{0E6A724C-A142-4555-A2FB-B248FA017B8A}" type="presOf" srcId="{75DCA845-9FE4-4CB8-9EDB-0C0A570998BB}" destId="{6A5CA203-57A8-4716-9467-B1C8723F90CF}" srcOrd="0" destOrd="0" presId="urn:microsoft.com/office/officeart/2005/8/layout/hProcess9"/>
    <dgm:cxn modelId="{401CEE0C-A9AC-42DA-B31A-16CEA56D87DD}" type="presOf" srcId="{36E7C834-45B4-4F1D-8E64-5698D587335A}" destId="{7CBAD77C-4711-4895-A672-82BE29D6C485}" srcOrd="0" destOrd="0" presId="urn:microsoft.com/office/officeart/2005/8/layout/hProcess9"/>
    <dgm:cxn modelId="{B6B5F9C5-B40B-44E8-AE74-B3F09F253D48}" srcId="{22CF7FF4-7E08-416C-8A21-A671F903DB77}" destId="{36E7C834-45B4-4F1D-8E64-5698D587335A}" srcOrd="1" destOrd="0" parTransId="{19231A65-1A49-4CC3-B118-0595AE2C3296}" sibTransId="{95689F4C-2378-4EB6-A164-64CF57F9F408}"/>
    <dgm:cxn modelId="{DF9CC244-DED2-491C-B238-74E59DC419C2}" type="presParOf" srcId="{81FDA21C-6333-40D8-954D-1C8C5A67DF55}" destId="{EB1DCED8-E706-4E44-9BD2-5062E8398E27}" srcOrd="0" destOrd="0" presId="urn:microsoft.com/office/officeart/2005/8/layout/hProcess9"/>
    <dgm:cxn modelId="{9763F2FE-9E2B-4B4D-A2B1-FCE40BC5A3E2}" type="presParOf" srcId="{81FDA21C-6333-40D8-954D-1C8C5A67DF55}" destId="{C1EF2DFA-FBDE-40A8-B2CB-83F5196B542E}" srcOrd="1" destOrd="0" presId="urn:microsoft.com/office/officeart/2005/8/layout/hProcess9"/>
    <dgm:cxn modelId="{F6A6216D-E032-4B42-9FA0-87BF01043FED}" type="presParOf" srcId="{C1EF2DFA-FBDE-40A8-B2CB-83F5196B542E}" destId="{EFDC334E-8FB5-4D7D-B547-C7DBD956DB7F}" srcOrd="0" destOrd="0" presId="urn:microsoft.com/office/officeart/2005/8/layout/hProcess9"/>
    <dgm:cxn modelId="{8C0CD5D9-AD45-484A-98ED-FB256C11E68A}" type="presParOf" srcId="{C1EF2DFA-FBDE-40A8-B2CB-83F5196B542E}" destId="{6EF4683F-6001-4654-8912-391F2EAD0289}" srcOrd="1" destOrd="0" presId="urn:microsoft.com/office/officeart/2005/8/layout/hProcess9"/>
    <dgm:cxn modelId="{E68BBD0A-F947-4488-853B-E3AB409CD586}" type="presParOf" srcId="{C1EF2DFA-FBDE-40A8-B2CB-83F5196B542E}" destId="{7CBAD77C-4711-4895-A672-82BE29D6C485}" srcOrd="2" destOrd="0" presId="urn:microsoft.com/office/officeart/2005/8/layout/hProcess9"/>
    <dgm:cxn modelId="{85BC9BF2-FEED-47D1-BF82-662FD0E7AA18}" type="presParOf" srcId="{C1EF2DFA-FBDE-40A8-B2CB-83F5196B542E}" destId="{1B4C94D9-58E7-4AEC-B75F-EB6D33DD3B2B}" srcOrd="3" destOrd="0" presId="urn:microsoft.com/office/officeart/2005/8/layout/hProcess9"/>
    <dgm:cxn modelId="{9827C8E8-C199-4116-AD49-0CFA5E070E0F}" type="presParOf" srcId="{C1EF2DFA-FBDE-40A8-B2CB-83F5196B542E}" destId="{6A5CA203-57A8-4716-9467-B1C8723F90CF}" srcOrd="4" destOrd="0" presId="urn:microsoft.com/office/officeart/2005/8/layout/hProcess9"/>
    <dgm:cxn modelId="{3AFA6734-182A-46AC-90BF-28A479B941EC}" type="presParOf" srcId="{C1EF2DFA-FBDE-40A8-B2CB-83F5196B542E}" destId="{953AA202-1CC2-4B73-A014-2691BF353BCF}" srcOrd="5" destOrd="0" presId="urn:microsoft.com/office/officeart/2005/8/layout/hProcess9"/>
    <dgm:cxn modelId="{0969F81E-662E-4F2C-BAE8-6898E39A8799}" type="presParOf" srcId="{C1EF2DFA-FBDE-40A8-B2CB-83F5196B542E}" destId="{00AF47E0-622D-435D-BB37-AA62C6D913D3}" srcOrd="6" destOrd="0" presId="urn:microsoft.com/office/officeart/2005/8/layout/hProcess9"/>
    <dgm:cxn modelId="{2C53226D-17F1-47E1-9E92-30D7BB7C816B}" type="presParOf" srcId="{C1EF2DFA-FBDE-40A8-B2CB-83F5196B542E}" destId="{1D61626F-86BC-47B9-A6B2-F1CBD1DF1F81}" srcOrd="7" destOrd="0" presId="urn:microsoft.com/office/officeart/2005/8/layout/hProcess9"/>
    <dgm:cxn modelId="{C39795B8-C0BC-4872-88C2-4D8B614AE5A0}" type="presParOf" srcId="{C1EF2DFA-FBDE-40A8-B2CB-83F5196B542E}" destId="{30AD0969-DF00-41D0-8A48-403F5FC87A68}" srcOrd="8" destOrd="0" presId="urn:microsoft.com/office/officeart/2005/8/layout/hProcess9"/>
    <dgm:cxn modelId="{685B6ABE-A9B1-435E-8BA4-41EB90DAB71C}" type="presParOf" srcId="{C1EF2DFA-FBDE-40A8-B2CB-83F5196B542E}" destId="{912D26FE-3CC3-4507-9486-73457EC64865}" srcOrd="9" destOrd="0" presId="urn:microsoft.com/office/officeart/2005/8/layout/hProcess9"/>
    <dgm:cxn modelId="{7DFAFB05-79D2-4408-8E73-83577043619D}" type="presParOf" srcId="{C1EF2DFA-FBDE-40A8-B2CB-83F5196B542E}" destId="{715663FE-76C0-46D1-86C5-B11510ADA03C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2CF7FF4-7E08-416C-8A21-A671F903DB77}" type="doc">
      <dgm:prSet loTypeId="urn:microsoft.com/office/officeart/2005/8/layout/hProcess9" loCatId="process" qsTypeId="urn:microsoft.com/office/officeart/2005/8/quickstyle/simple1" qsCatId="simple" csTypeId="urn:microsoft.com/office/officeart/2005/8/colors/accent0_3" csCatId="mainScheme" phldr="1"/>
      <dgm:spPr/>
    </dgm:pt>
    <dgm:pt modelId="{28AD5230-7D30-401A-8043-57C6C868D2F8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b="0" dirty="0" smtClean="0"/>
            <a:t>Priorização de DEMANDAS</a:t>
          </a:r>
          <a:endParaRPr lang="pt-BR" sz="1200" b="0" dirty="0"/>
        </a:p>
      </dgm:t>
    </dgm:pt>
    <dgm:pt modelId="{7DE3C601-F0AB-459C-A1EA-B1C92FF548D0}" type="parTrans" cxnId="{1FF9BF27-9674-40E0-8DBF-EDE37C3F6EBB}">
      <dgm:prSet/>
      <dgm:spPr/>
      <dgm:t>
        <a:bodyPr/>
        <a:lstStyle/>
        <a:p>
          <a:endParaRPr lang="pt-BR"/>
        </a:p>
      </dgm:t>
    </dgm:pt>
    <dgm:pt modelId="{AA80B022-2823-40C4-B23F-D0143FC8A83E}" type="sibTrans" cxnId="{1FF9BF27-9674-40E0-8DBF-EDE37C3F6EBB}">
      <dgm:prSet/>
      <dgm:spPr/>
      <dgm:t>
        <a:bodyPr/>
        <a:lstStyle/>
        <a:p>
          <a:endParaRPr lang="pt-BR"/>
        </a:p>
      </dgm:t>
    </dgm:pt>
    <dgm:pt modelId="{36E7C834-45B4-4F1D-8E64-5698D587335A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Yellow PAD TD</a:t>
          </a:r>
          <a:endParaRPr lang="pt-BR" sz="1200" dirty="0"/>
        </a:p>
      </dgm:t>
    </dgm:pt>
    <dgm:pt modelId="{19231A65-1A49-4CC3-B118-0595AE2C3296}" type="parTrans" cxnId="{B6B5F9C5-B40B-44E8-AE74-B3F09F253D48}">
      <dgm:prSet/>
      <dgm:spPr/>
      <dgm:t>
        <a:bodyPr/>
        <a:lstStyle/>
        <a:p>
          <a:endParaRPr lang="pt-BR"/>
        </a:p>
      </dgm:t>
    </dgm:pt>
    <dgm:pt modelId="{95689F4C-2378-4EB6-A164-64CF57F9F408}" type="sibTrans" cxnId="{B6B5F9C5-B40B-44E8-AE74-B3F09F253D48}">
      <dgm:prSet/>
      <dgm:spPr/>
      <dgm:t>
        <a:bodyPr/>
        <a:lstStyle/>
        <a:p>
          <a:endParaRPr lang="pt-BR"/>
        </a:p>
      </dgm:t>
    </dgm:pt>
    <dgm:pt modelId="{75DCA845-9FE4-4CB8-9EDB-0C0A570998BB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Aprovação CAD </a:t>
          </a:r>
          <a:endParaRPr lang="pt-BR" sz="1200" dirty="0"/>
        </a:p>
      </dgm:t>
    </dgm:pt>
    <dgm:pt modelId="{320131EB-D15B-4ECF-BA32-CD1B8B8C24F7}" type="parTrans" cxnId="{D3DB5BF7-EEA4-4BF8-B46F-9EBB84A53829}">
      <dgm:prSet/>
      <dgm:spPr/>
      <dgm:t>
        <a:bodyPr/>
        <a:lstStyle/>
        <a:p>
          <a:endParaRPr lang="pt-BR"/>
        </a:p>
      </dgm:t>
    </dgm:pt>
    <dgm:pt modelId="{4917CA2F-156F-42F2-B27A-D5088BCDA6BE}" type="sibTrans" cxnId="{D3DB5BF7-EEA4-4BF8-B46F-9EBB84A53829}">
      <dgm:prSet/>
      <dgm:spPr/>
      <dgm:t>
        <a:bodyPr/>
        <a:lstStyle/>
        <a:p>
          <a:endParaRPr lang="pt-BR"/>
        </a:p>
      </dgm:t>
    </dgm:pt>
    <dgm:pt modelId="{D88026E4-8C5A-49AE-9402-CBD64511FF7A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Desenv.</a:t>
          </a:r>
          <a:endParaRPr lang="pt-BR" sz="1200" dirty="0"/>
        </a:p>
      </dgm:t>
    </dgm:pt>
    <dgm:pt modelId="{FCC77CC3-D532-4E0E-9F4F-F4452EB6210A}" type="parTrans" cxnId="{22A9C401-7BCF-4375-B1D9-5A367C218618}">
      <dgm:prSet/>
      <dgm:spPr/>
      <dgm:t>
        <a:bodyPr/>
        <a:lstStyle/>
        <a:p>
          <a:endParaRPr lang="pt-BR"/>
        </a:p>
      </dgm:t>
    </dgm:pt>
    <dgm:pt modelId="{ECB9DB59-28A7-413D-BFF9-12AAE045E11E}" type="sibTrans" cxnId="{22A9C401-7BCF-4375-B1D9-5A367C218618}">
      <dgm:prSet/>
      <dgm:spPr/>
      <dgm:t>
        <a:bodyPr/>
        <a:lstStyle/>
        <a:p>
          <a:endParaRPr lang="pt-BR"/>
        </a:p>
      </dgm:t>
    </dgm:pt>
    <dgm:pt modelId="{0C39BA51-1140-4A10-AC85-1E0D4E470911}">
      <dgm:prSet phldrT="[Texto]" custT="1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pt-BR" sz="1200" dirty="0" smtClean="0"/>
            <a:t>Entrega (Releases)</a:t>
          </a:r>
          <a:endParaRPr lang="pt-BR" sz="1200" dirty="0"/>
        </a:p>
      </dgm:t>
    </dgm:pt>
    <dgm:pt modelId="{41FBB8C2-D522-4138-9C03-724D1496FF6F}" type="parTrans" cxnId="{A2FCEB2B-01E4-449D-86A7-C5C961E25D62}">
      <dgm:prSet/>
      <dgm:spPr/>
      <dgm:t>
        <a:bodyPr/>
        <a:lstStyle/>
        <a:p>
          <a:endParaRPr lang="pt-BR"/>
        </a:p>
      </dgm:t>
    </dgm:pt>
    <dgm:pt modelId="{9B362A72-DCF9-4FE4-BDF9-FF057D70B01C}" type="sibTrans" cxnId="{A2FCEB2B-01E4-449D-86A7-C5C961E25D62}">
      <dgm:prSet/>
      <dgm:spPr/>
      <dgm:t>
        <a:bodyPr/>
        <a:lstStyle/>
        <a:p>
          <a:endParaRPr lang="pt-BR"/>
        </a:p>
      </dgm:t>
    </dgm:pt>
    <dgm:pt modelId="{D7BB7C9F-FF7C-4562-8427-2B656279091F}">
      <dgm:prSet phldrT="[Texto]" custT="1"/>
      <dgm:spPr>
        <a:solidFill>
          <a:schemeClr val="tx2"/>
        </a:solidFill>
      </dgm:spPr>
      <dgm:t>
        <a:bodyPr/>
        <a:lstStyle/>
        <a:p>
          <a:r>
            <a:rPr lang="pt-BR" sz="1200" b="1" dirty="0" smtClean="0"/>
            <a:t>Resultados e Benefícios</a:t>
          </a:r>
          <a:endParaRPr lang="pt-BR" sz="1200" b="1" dirty="0"/>
        </a:p>
      </dgm:t>
    </dgm:pt>
    <dgm:pt modelId="{5B3DF836-A497-4975-A200-7374AFE9CA85}" type="parTrans" cxnId="{54FABC61-5066-48D7-8C9B-DEA18BB9339D}">
      <dgm:prSet/>
      <dgm:spPr/>
      <dgm:t>
        <a:bodyPr/>
        <a:lstStyle/>
        <a:p>
          <a:endParaRPr lang="pt-BR"/>
        </a:p>
      </dgm:t>
    </dgm:pt>
    <dgm:pt modelId="{A90A861C-3FC6-4714-A876-745F5F20DF1E}" type="sibTrans" cxnId="{54FABC61-5066-48D7-8C9B-DEA18BB9339D}">
      <dgm:prSet/>
      <dgm:spPr/>
      <dgm:t>
        <a:bodyPr/>
        <a:lstStyle/>
        <a:p>
          <a:endParaRPr lang="pt-BR"/>
        </a:p>
      </dgm:t>
    </dgm:pt>
    <dgm:pt modelId="{81FDA21C-6333-40D8-954D-1C8C5A67DF55}" type="pres">
      <dgm:prSet presAssocID="{22CF7FF4-7E08-416C-8A21-A671F903DB77}" presName="CompostProcess" presStyleCnt="0">
        <dgm:presLayoutVars>
          <dgm:dir/>
          <dgm:resizeHandles val="exact"/>
        </dgm:presLayoutVars>
      </dgm:prSet>
      <dgm:spPr/>
    </dgm:pt>
    <dgm:pt modelId="{EB1DCED8-E706-4E44-9BD2-5062E8398E27}" type="pres">
      <dgm:prSet presAssocID="{22CF7FF4-7E08-416C-8A21-A671F903DB77}" presName="arrow" presStyleLbl="bgShp" presStyleIdx="0" presStyleCnt="1"/>
      <dgm:spPr/>
    </dgm:pt>
    <dgm:pt modelId="{C1EF2DFA-FBDE-40A8-B2CB-83F5196B542E}" type="pres">
      <dgm:prSet presAssocID="{22CF7FF4-7E08-416C-8A21-A671F903DB77}" presName="linearProcess" presStyleCnt="0"/>
      <dgm:spPr/>
    </dgm:pt>
    <dgm:pt modelId="{EFDC334E-8FB5-4D7D-B547-C7DBD956DB7F}" type="pres">
      <dgm:prSet presAssocID="{28AD5230-7D30-401A-8043-57C6C868D2F8}" presName="textNode" presStyleLbl="node1" presStyleIdx="0" presStyleCnt="6" custLinFactNeighborX="-66098" custLinFactNeighborY="-2671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EF4683F-6001-4654-8912-391F2EAD0289}" type="pres">
      <dgm:prSet presAssocID="{AA80B022-2823-40C4-B23F-D0143FC8A83E}" presName="sibTrans" presStyleCnt="0"/>
      <dgm:spPr/>
    </dgm:pt>
    <dgm:pt modelId="{7CBAD77C-4711-4895-A672-82BE29D6C485}" type="pres">
      <dgm:prSet presAssocID="{36E7C834-45B4-4F1D-8E64-5698D587335A}" presName="textNode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B4C94D9-58E7-4AEC-B75F-EB6D33DD3B2B}" type="pres">
      <dgm:prSet presAssocID="{95689F4C-2378-4EB6-A164-64CF57F9F408}" presName="sibTrans" presStyleCnt="0"/>
      <dgm:spPr/>
    </dgm:pt>
    <dgm:pt modelId="{6A5CA203-57A8-4716-9467-B1C8723F90CF}" type="pres">
      <dgm:prSet presAssocID="{75DCA845-9FE4-4CB8-9EDB-0C0A570998BB}" presName="textNode" presStyleLbl="node1" presStyleIdx="2" presStyleCnt="6" custLinFactNeighborX="-12347" custLinFactNeighborY="-2602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53AA202-1CC2-4B73-A014-2691BF353BCF}" type="pres">
      <dgm:prSet presAssocID="{4917CA2F-156F-42F2-B27A-D5088BCDA6BE}" presName="sibTrans" presStyleCnt="0"/>
      <dgm:spPr/>
    </dgm:pt>
    <dgm:pt modelId="{00AF47E0-622D-435D-BB37-AA62C6D913D3}" type="pres">
      <dgm:prSet presAssocID="{D88026E4-8C5A-49AE-9402-CBD64511FF7A}" presName="textNode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D61626F-86BC-47B9-A6B2-F1CBD1DF1F81}" type="pres">
      <dgm:prSet presAssocID="{ECB9DB59-28A7-413D-BFF9-12AAE045E11E}" presName="sibTrans" presStyleCnt="0"/>
      <dgm:spPr/>
    </dgm:pt>
    <dgm:pt modelId="{30AD0969-DF00-41D0-8A48-403F5FC87A68}" type="pres">
      <dgm:prSet presAssocID="{0C39BA51-1140-4A10-AC85-1E0D4E470911}" presName="textNode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912D26FE-3CC3-4507-9486-73457EC64865}" type="pres">
      <dgm:prSet presAssocID="{9B362A72-DCF9-4FE4-BDF9-FF057D70B01C}" presName="sibTrans" presStyleCnt="0"/>
      <dgm:spPr/>
    </dgm:pt>
    <dgm:pt modelId="{715663FE-76C0-46D1-86C5-B11510ADA03C}" type="pres">
      <dgm:prSet presAssocID="{D7BB7C9F-FF7C-4562-8427-2B656279091F}" presName="textNode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54FABC61-5066-48D7-8C9B-DEA18BB9339D}" srcId="{22CF7FF4-7E08-416C-8A21-A671F903DB77}" destId="{D7BB7C9F-FF7C-4562-8427-2B656279091F}" srcOrd="5" destOrd="0" parTransId="{5B3DF836-A497-4975-A200-7374AFE9CA85}" sibTransId="{A90A861C-3FC6-4714-A876-745F5F20DF1E}"/>
    <dgm:cxn modelId="{47E71048-96F3-4609-9B1B-48C7A11CE6EF}" type="presOf" srcId="{0C39BA51-1140-4A10-AC85-1E0D4E470911}" destId="{30AD0969-DF00-41D0-8A48-403F5FC87A68}" srcOrd="0" destOrd="0" presId="urn:microsoft.com/office/officeart/2005/8/layout/hProcess9"/>
    <dgm:cxn modelId="{22A9C401-7BCF-4375-B1D9-5A367C218618}" srcId="{22CF7FF4-7E08-416C-8A21-A671F903DB77}" destId="{D88026E4-8C5A-49AE-9402-CBD64511FF7A}" srcOrd="3" destOrd="0" parTransId="{FCC77CC3-D532-4E0E-9F4F-F4452EB6210A}" sibTransId="{ECB9DB59-28A7-413D-BFF9-12AAE045E11E}"/>
    <dgm:cxn modelId="{A2FCEB2B-01E4-449D-86A7-C5C961E25D62}" srcId="{22CF7FF4-7E08-416C-8A21-A671F903DB77}" destId="{0C39BA51-1140-4A10-AC85-1E0D4E470911}" srcOrd="4" destOrd="0" parTransId="{41FBB8C2-D522-4138-9C03-724D1496FF6F}" sibTransId="{9B362A72-DCF9-4FE4-BDF9-FF057D70B01C}"/>
    <dgm:cxn modelId="{4BA00B80-6339-49C9-96EA-D5690D2E1D4F}" type="presOf" srcId="{D7BB7C9F-FF7C-4562-8427-2B656279091F}" destId="{715663FE-76C0-46D1-86C5-B11510ADA03C}" srcOrd="0" destOrd="0" presId="urn:microsoft.com/office/officeart/2005/8/layout/hProcess9"/>
    <dgm:cxn modelId="{BAF7458C-E16F-43A5-839D-FC683F5B3AA8}" type="presOf" srcId="{36E7C834-45B4-4F1D-8E64-5698D587335A}" destId="{7CBAD77C-4711-4895-A672-82BE29D6C485}" srcOrd="0" destOrd="0" presId="urn:microsoft.com/office/officeart/2005/8/layout/hProcess9"/>
    <dgm:cxn modelId="{1FF9BF27-9674-40E0-8DBF-EDE37C3F6EBB}" srcId="{22CF7FF4-7E08-416C-8A21-A671F903DB77}" destId="{28AD5230-7D30-401A-8043-57C6C868D2F8}" srcOrd="0" destOrd="0" parTransId="{7DE3C601-F0AB-459C-A1EA-B1C92FF548D0}" sibTransId="{AA80B022-2823-40C4-B23F-D0143FC8A83E}"/>
    <dgm:cxn modelId="{0F57CE9F-BDC9-46D2-A176-5406823DC78B}" type="presOf" srcId="{75DCA845-9FE4-4CB8-9EDB-0C0A570998BB}" destId="{6A5CA203-57A8-4716-9467-B1C8723F90CF}" srcOrd="0" destOrd="0" presId="urn:microsoft.com/office/officeart/2005/8/layout/hProcess9"/>
    <dgm:cxn modelId="{6EF04CB3-A898-4F8B-85BC-0B4E83DAE240}" type="presOf" srcId="{28AD5230-7D30-401A-8043-57C6C868D2F8}" destId="{EFDC334E-8FB5-4D7D-B547-C7DBD956DB7F}" srcOrd="0" destOrd="0" presId="urn:microsoft.com/office/officeart/2005/8/layout/hProcess9"/>
    <dgm:cxn modelId="{D3DB5BF7-EEA4-4BF8-B46F-9EBB84A53829}" srcId="{22CF7FF4-7E08-416C-8A21-A671F903DB77}" destId="{75DCA845-9FE4-4CB8-9EDB-0C0A570998BB}" srcOrd="2" destOrd="0" parTransId="{320131EB-D15B-4ECF-BA32-CD1B8B8C24F7}" sibTransId="{4917CA2F-156F-42F2-B27A-D5088BCDA6BE}"/>
    <dgm:cxn modelId="{DDE7543A-1B27-40D4-961A-FEFE2BB7C2E8}" type="presOf" srcId="{D88026E4-8C5A-49AE-9402-CBD64511FF7A}" destId="{00AF47E0-622D-435D-BB37-AA62C6D913D3}" srcOrd="0" destOrd="0" presId="urn:microsoft.com/office/officeart/2005/8/layout/hProcess9"/>
    <dgm:cxn modelId="{B6B5F9C5-B40B-44E8-AE74-B3F09F253D48}" srcId="{22CF7FF4-7E08-416C-8A21-A671F903DB77}" destId="{36E7C834-45B4-4F1D-8E64-5698D587335A}" srcOrd="1" destOrd="0" parTransId="{19231A65-1A49-4CC3-B118-0595AE2C3296}" sibTransId="{95689F4C-2378-4EB6-A164-64CF57F9F408}"/>
    <dgm:cxn modelId="{7C8C0561-9374-4D23-AA2B-36149F6276AA}" type="presOf" srcId="{22CF7FF4-7E08-416C-8A21-A671F903DB77}" destId="{81FDA21C-6333-40D8-954D-1C8C5A67DF55}" srcOrd="0" destOrd="0" presId="urn:microsoft.com/office/officeart/2005/8/layout/hProcess9"/>
    <dgm:cxn modelId="{1FA73DF5-1A81-4904-8FB7-AC3D88A57F6E}" type="presParOf" srcId="{81FDA21C-6333-40D8-954D-1C8C5A67DF55}" destId="{EB1DCED8-E706-4E44-9BD2-5062E8398E27}" srcOrd="0" destOrd="0" presId="urn:microsoft.com/office/officeart/2005/8/layout/hProcess9"/>
    <dgm:cxn modelId="{50936937-AB4A-4CC2-9B89-6FB634FF69EB}" type="presParOf" srcId="{81FDA21C-6333-40D8-954D-1C8C5A67DF55}" destId="{C1EF2DFA-FBDE-40A8-B2CB-83F5196B542E}" srcOrd="1" destOrd="0" presId="urn:microsoft.com/office/officeart/2005/8/layout/hProcess9"/>
    <dgm:cxn modelId="{B7D35009-D495-4D4F-A81F-7C9D426B937D}" type="presParOf" srcId="{C1EF2DFA-FBDE-40A8-B2CB-83F5196B542E}" destId="{EFDC334E-8FB5-4D7D-B547-C7DBD956DB7F}" srcOrd="0" destOrd="0" presId="urn:microsoft.com/office/officeart/2005/8/layout/hProcess9"/>
    <dgm:cxn modelId="{A1A20B7F-299B-4E11-A81B-BF55564BA297}" type="presParOf" srcId="{C1EF2DFA-FBDE-40A8-B2CB-83F5196B542E}" destId="{6EF4683F-6001-4654-8912-391F2EAD0289}" srcOrd="1" destOrd="0" presId="urn:microsoft.com/office/officeart/2005/8/layout/hProcess9"/>
    <dgm:cxn modelId="{48AF275D-941A-4350-BE2D-FDCFD2CCB0F8}" type="presParOf" srcId="{C1EF2DFA-FBDE-40A8-B2CB-83F5196B542E}" destId="{7CBAD77C-4711-4895-A672-82BE29D6C485}" srcOrd="2" destOrd="0" presId="urn:microsoft.com/office/officeart/2005/8/layout/hProcess9"/>
    <dgm:cxn modelId="{D56922AD-BF32-4A64-A399-824B263DF6CE}" type="presParOf" srcId="{C1EF2DFA-FBDE-40A8-B2CB-83F5196B542E}" destId="{1B4C94D9-58E7-4AEC-B75F-EB6D33DD3B2B}" srcOrd="3" destOrd="0" presId="urn:microsoft.com/office/officeart/2005/8/layout/hProcess9"/>
    <dgm:cxn modelId="{F15D1524-39D3-40FA-873E-8DEF9B2C89A4}" type="presParOf" srcId="{C1EF2DFA-FBDE-40A8-B2CB-83F5196B542E}" destId="{6A5CA203-57A8-4716-9467-B1C8723F90CF}" srcOrd="4" destOrd="0" presId="urn:microsoft.com/office/officeart/2005/8/layout/hProcess9"/>
    <dgm:cxn modelId="{C3B6DEA7-F5DA-4E78-B057-EE63F7639BDC}" type="presParOf" srcId="{C1EF2DFA-FBDE-40A8-B2CB-83F5196B542E}" destId="{953AA202-1CC2-4B73-A014-2691BF353BCF}" srcOrd="5" destOrd="0" presId="urn:microsoft.com/office/officeart/2005/8/layout/hProcess9"/>
    <dgm:cxn modelId="{35D653F5-5315-4658-A078-965FB4005DF5}" type="presParOf" srcId="{C1EF2DFA-FBDE-40A8-B2CB-83F5196B542E}" destId="{00AF47E0-622D-435D-BB37-AA62C6D913D3}" srcOrd="6" destOrd="0" presId="urn:microsoft.com/office/officeart/2005/8/layout/hProcess9"/>
    <dgm:cxn modelId="{907B813B-38B1-4132-B05F-84E5DCD4B241}" type="presParOf" srcId="{C1EF2DFA-FBDE-40A8-B2CB-83F5196B542E}" destId="{1D61626F-86BC-47B9-A6B2-F1CBD1DF1F81}" srcOrd="7" destOrd="0" presId="urn:microsoft.com/office/officeart/2005/8/layout/hProcess9"/>
    <dgm:cxn modelId="{B1CB5D9C-7688-4855-9F84-4F1D56450B7A}" type="presParOf" srcId="{C1EF2DFA-FBDE-40A8-B2CB-83F5196B542E}" destId="{30AD0969-DF00-41D0-8A48-403F5FC87A68}" srcOrd="8" destOrd="0" presId="urn:microsoft.com/office/officeart/2005/8/layout/hProcess9"/>
    <dgm:cxn modelId="{92FE50D1-0EE7-4EBD-BEC3-90771AB42FFA}" type="presParOf" srcId="{C1EF2DFA-FBDE-40A8-B2CB-83F5196B542E}" destId="{912D26FE-3CC3-4507-9486-73457EC64865}" srcOrd="9" destOrd="0" presId="urn:microsoft.com/office/officeart/2005/8/layout/hProcess9"/>
    <dgm:cxn modelId="{CA827D15-565A-4AB5-AA34-46266B4442E0}" type="presParOf" srcId="{C1EF2DFA-FBDE-40A8-B2CB-83F5196B542E}" destId="{715663FE-76C0-46D1-86C5-B11510ADA03C}" srcOrd="10" destOrd="0" presId="urn:microsoft.com/office/officeart/2005/8/layout/hProcess9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706E4C-E4FB-4EA5-A0AC-3A12C759B2AE}">
      <dsp:nvSpPr>
        <dsp:cNvPr id="0" name=""/>
        <dsp:cNvSpPr/>
      </dsp:nvSpPr>
      <dsp:spPr>
        <a:xfrm>
          <a:off x="886996" y="-19647"/>
          <a:ext cx="3554599" cy="3554599"/>
        </a:xfrm>
        <a:prstGeom prst="circularArrow">
          <a:avLst>
            <a:gd name="adj1" fmla="val 5544"/>
            <a:gd name="adj2" fmla="val 330680"/>
            <a:gd name="adj3" fmla="val 13843464"/>
            <a:gd name="adj4" fmla="val 17344996"/>
            <a:gd name="adj5" fmla="val 575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B148D5-99C5-4530-B296-1121C41A4616}">
      <dsp:nvSpPr>
        <dsp:cNvPr id="0" name=""/>
        <dsp:cNvSpPr/>
      </dsp:nvSpPr>
      <dsp:spPr>
        <a:xfrm>
          <a:off x="1856421" y="0"/>
          <a:ext cx="1615749" cy="8078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1. Planejamento Estratégico e Comunicação</a:t>
          </a:r>
          <a:endParaRPr lang="pt-BR" sz="1400" kern="1200" dirty="0"/>
        </a:p>
      </dsp:txBody>
      <dsp:txXfrm>
        <a:off x="1895858" y="39437"/>
        <a:ext cx="1536875" cy="729000"/>
      </dsp:txXfrm>
    </dsp:sp>
    <dsp:sp modelId="{A7F7A1A4-CFFA-466D-A9FB-4BD609D76E8E}">
      <dsp:nvSpPr>
        <dsp:cNvPr id="0" name=""/>
        <dsp:cNvSpPr/>
      </dsp:nvSpPr>
      <dsp:spPr>
        <a:xfrm>
          <a:off x="3298052" y="1048593"/>
          <a:ext cx="1615749" cy="807874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2. Demandas e Releases</a:t>
          </a:r>
          <a:endParaRPr lang="pt-BR" sz="1400" kern="1200" dirty="0"/>
        </a:p>
      </dsp:txBody>
      <dsp:txXfrm>
        <a:off x="3337489" y="1088030"/>
        <a:ext cx="1536875" cy="729000"/>
      </dsp:txXfrm>
    </dsp:sp>
    <dsp:sp modelId="{A1A576FA-9336-4621-A860-7BB396116B56}">
      <dsp:nvSpPr>
        <dsp:cNvPr id="0" name=""/>
        <dsp:cNvSpPr/>
      </dsp:nvSpPr>
      <dsp:spPr>
        <a:xfrm>
          <a:off x="2747398" y="2743332"/>
          <a:ext cx="1615749" cy="807874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3. Portfólio e PMO</a:t>
          </a:r>
          <a:endParaRPr lang="pt-BR" sz="1400" kern="1200" dirty="0"/>
        </a:p>
      </dsp:txBody>
      <dsp:txXfrm>
        <a:off x="2786835" y="2782769"/>
        <a:ext cx="1536875" cy="729000"/>
      </dsp:txXfrm>
    </dsp:sp>
    <dsp:sp modelId="{C6455DD2-58EC-4006-B5D4-321BBFA901F2}">
      <dsp:nvSpPr>
        <dsp:cNvPr id="0" name=""/>
        <dsp:cNvSpPr/>
      </dsp:nvSpPr>
      <dsp:spPr>
        <a:xfrm>
          <a:off x="965443" y="2743332"/>
          <a:ext cx="1615749" cy="807874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4. Contratos e Licenças</a:t>
          </a:r>
          <a:endParaRPr lang="pt-BR" sz="1400" kern="1200" dirty="0"/>
        </a:p>
      </dsp:txBody>
      <dsp:txXfrm>
        <a:off x="1004880" y="2782769"/>
        <a:ext cx="1536875" cy="729000"/>
      </dsp:txXfrm>
    </dsp:sp>
    <dsp:sp modelId="{5FBC2DBB-ABCC-46F0-8DAB-68F2A402E7A9}">
      <dsp:nvSpPr>
        <dsp:cNvPr id="0" name=""/>
        <dsp:cNvSpPr/>
      </dsp:nvSpPr>
      <dsp:spPr>
        <a:xfrm>
          <a:off x="414789" y="1048593"/>
          <a:ext cx="1615749" cy="807874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5. Processos e Performance</a:t>
          </a:r>
          <a:endParaRPr lang="pt-BR" sz="1400" kern="1200" dirty="0"/>
        </a:p>
      </dsp:txBody>
      <dsp:txXfrm>
        <a:off x="454226" y="1088030"/>
        <a:ext cx="1536875" cy="729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DCED8-E706-4E44-9BD2-5062E8398E27}">
      <dsp:nvSpPr>
        <dsp:cNvPr id="0" name=""/>
        <dsp:cNvSpPr/>
      </dsp:nvSpPr>
      <dsp:spPr>
        <a:xfrm>
          <a:off x="617018" y="0"/>
          <a:ext cx="6992876" cy="1366441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C334E-8FB5-4D7D-B547-C7DBD956DB7F}">
      <dsp:nvSpPr>
        <dsp:cNvPr id="0" name=""/>
        <dsp:cNvSpPr/>
      </dsp:nvSpPr>
      <dsp:spPr>
        <a:xfrm>
          <a:off x="0" y="395333"/>
          <a:ext cx="1203909" cy="546576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Priorização de DEMANDAS</a:t>
          </a:r>
          <a:endParaRPr lang="pt-BR" sz="1200" b="1" kern="1200" dirty="0"/>
        </a:p>
      </dsp:txBody>
      <dsp:txXfrm>
        <a:off x="26682" y="422015"/>
        <a:ext cx="1150545" cy="493212"/>
      </dsp:txXfrm>
    </dsp:sp>
    <dsp:sp modelId="{7CBAD77C-4711-4895-A672-82BE29D6C485}">
      <dsp:nvSpPr>
        <dsp:cNvPr id="0" name=""/>
        <dsp:cNvSpPr/>
      </dsp:nvSpPr>
      <dsp:spPr>
        <a:xfrm>
          <a:off x="1404661" y="409932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Yellow PAD TD</a:t>
          </a:r>
          <a:endParaRPr lang="pt-BR" sz="1200" kern="1200" dirty="0"/>
        </a:p>
      </dsp:txBody>
      <dsp:txXfrm>
        <a:off x="1431343" y="436614"/>
        <a:ext cx="1150545" cy="493212"/>
      </dsp:txXfrm>
    </dsp:sp>
    <dsp:sp modelId="{6A5CA203-57A8-4716-9467-B1C8723F90CF}">
      <dsp:nvSpPr>
        <dsp:cNvPr id="0" name=""/>
        <dsp:cNvSpPr/>
      </dsp:nvSpPr>
      <dsp:spPr>
        <a:xfrm>
          <a:off x="2784447" y="395710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Aprovação CAD </a:t>
          </a:r>
          <a:endParaRPr lang="pt-BR" sz="1200" kern="1200" dirty="0"/>
        </a:p>
      </dsp:txBody>
      <dsp:txXfrm>
        <a:off x="2811129" y="422392"/>
        <a:ext cx="1150545" cy="493212"/>
      </dsp:txXfrm>
    </dsp:sp>
    <dsp:sp modelId="{00AF47E0-622D-435D-BB37-AA62C6D913D3}">
      <dsp:nvSpPr>
        <dsp:cNvPr id="0" name=""/>
        <dsp:cNvSpPr/>
      </dsp:nvSpPr>
      <dsp:spPr>
        <a:xfrm>
          <a:off x="4213782" y="409932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Desenv.</a:t>
          </a:r>
          <a:endParaRPr lang="pt-BR" sz="1200" kern="1200" dirty="0"/>
        </a:p>
      </dsp:txBody>
      <dsp:txXfrm>
        <a:off x="4240464" y="436614"/>
        <a:ext cx="1150545" cy="493212"/>
      </dsp:txXfrm>
    </dsp:sp>
    <dsp:sp modelId="{30AD0969-DF00-41D0-8A48-403F5FC87A68}">
      <dsp:nvSpPr>
        <dsp:cNvPr id="0" name=""/>
        <dsp:cNvSpPr/>
      </dsp:nvSpPr>
      <dsp:spPr>
        <a:xfrm>
          <a:off x="5618343" y="409932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Entrega (Releases)</a:t>
          </a:r>
          <a:endParaRPr lang="pt-BR" sz="1200" kern="1200" dirty="0"/>
        </a:p>
      </dsp:txBody>
      <dsp:txXfrm>
        <a:off x="5645025" y="436614"/>
        <a:ext cx="1150545" cy="493212"/>
      </dsp:txXfrm>
    </dsp:sp>
    <dsp:sp modelId="{715663FE-76C0-46D1-86C5-B11510ADA03C}">
      <dsp:nvSpPr>
        <dsp:cNvPr id="0" name=""/>
        <dsp:cNvSpPr/>
      </dsp:nvSpPr>
      <dsp:spPr>
        <a:xfrm>
          <a:off x="7022904" y="409932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Resultados e Benefícios</a:t>
          </a:r>
          <a:endParaRPr lang="pt-BR" sz="1200" kern="1200" dirty="0"/>
        </a:p>
      </dsp:txBody>
      <dsp:txXfrm>
        <a:off x="7049586" y="436614"/>
        <a:ext cx="1150545" cy="49321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DCED8-E706-4E44-9BD2-5062E8398E27}">
      <dsp:nvSpPr>
        <dsp:cNvPr id="0" name=""/>
        <dsp:cNvSpPr/>
      </dsp:nvSpPr>
      <dsp:spPr>
        <a:xfrm>
          <a:off x="617018" y="0"/>
          <a:ext cx="6992876" cy="1366441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C334E-8FB5-4D7D-B547-C7DBD956DB7F}">
      <dsp:nvSpPr>
        <dsp:cNvPr id="0" name=""/>
        <dsp:cNvSpPr/>
      </dsp:nvSpPr>
      <dsp:spPr>
        <a:xfrm>
          <a:off x="0" y="395333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0" kern="1200" dirty="0" smtClean="0"/>
            <a:t>Priorização de DEMANDAS</a:t>
          </a:r>
          <a:endParaRPr lang="pt-BR" sz="1200" b="0" kern="1200" dirty="0"/>
        </a:p>
      </dsp:txBody>
      <dsp:txXfrm>
        <a:off x="26682" y="422015"/>
        <a:ext cx="1150545" cy="493212"/>
      </dsp:txXfrm>
    </dsp:sp>
    <dsp:sp modelId="{7CBAD77C-4711-4895-A672-82BE29D6C485}">
      <dsp:nvSpPr>
        <dsp:cNvPr id="0" name=""/>
        <dsp:cNvSpPr/>
      </dsp:nvSpPr>
      <dsp:spPr>
        <a:xfrm>
          <a:off x="1404661" y="409932"/>
          <a:ext cx="1203909" cy="546576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Yellow PAD TD</a:t>
          </a:r>
          <a:endParaRPr lang="pt-BR" sz="1200" b="1" kern="1200" dirty="0"/>
        </a:p>
      </dsp:txBody>
      <dsp:txXfrm>
        <a:off x="1431343" y="436614"/>
        <a:ext cx="1150545" cy="493212"/>
      </dsp:txXfrm>
    </dsp:sp>
    <dsp:sp modelId="{6A5CA203-57A8-4716-9467-B1C8723F90CF}">
      <dsp:nvSpPr>
        <dsp:cNvPr id="0" name=""/>
        <dsp:cNvSpPr/>
      </dsp:nvSpPr>
      <dsp:spPr>
        <a:xfrm>
          <a:off x="2784447" y="395710"/>
          <a:ext cx="1203909" cy="546576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Aprovação CAD </a:t>
          </a:r>
          <a:endParaRPr lang="pt-BR" sz="1200" b="1" kern="1200" dirty="0"/>
        </a:p>
      </dsp:txBody>
      <dsp:txXfrm>
        <a:off x="2811129" y="422392"/>
        <a:ext cx="1150545" cy="493212"/>
      </dsp:txXfrm>
    </dsp:sp>
    <dsp:sp modelId="{00AF47E0-622D-435D-BB37-AA62C6D913D3}">
      <dsp:nvSpPr>
        <dsp:cNvPr id="0" name=""/>
        <dsp:cNvSpPr/>
      </dsp:nvSpPr>
      <dsp:spPr>
        <a:xfrm>
          <a:off x="4213782" y="409932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Desenv.</a:t>
          </a:r>
          <a:endParaRPr lang="pt-BR" sz="1200" kern="1200" dirty="0"/>
        </a:p>
      </dsp:txBody>
      <dsp:txXfrm>
        <a:off x="4240464" y="436614"/>
        <a:ext cx="1150545" cy="493212"/>
      </dsp:txXfrm>
    </dsp:sp>
    <dsp:sp modelId="{30AD0969-DF00-41D0-8A48-403F5FC87A68}">
      <dsp:nvSpPr>
        <dsp:cNvPr id="0" name=""/>
        <dsp:cNvSpPr/>
      </dsp:nvSpPr>
      <dsp:spPr>
        <a:xfrm>
          <a:off x="5618343" y="409932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Entrega (Releases)</a:t>
          </a:r>
          <a:endParaRPr lang="pt-BR" sz="1200" kern="1200" dirty="0"/>
        </a:p>
      </dsp:txBody>
      <dsp:txXfrm>
        <a:off x="5645025" y="436614"/>
        <a:ext cx="1150545" cy="493212"/>
      </dsp:txXfrm>
    </dsp:sp>
    <dsp:sp modelId="{715663FE-76C0-46D1-86C5-B11510ADA03C}">
      <dsp:nvSpPr>
        <dsp:cNvPr id="0" name=""/>
        <dsp:cNvSpPr/>
      </dsp:nvSpPr>
      <dsp:spPr>
        <a:xfrm>
          <a:off x="7022904" y="409932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Resultados e Benefícios</a:t>
          </a:r>
          <a:endParaRPr lang="pt-BR" sz="1200" kern="1200" dirty="0"/>
        </a:p>
      </dsp:txBody>
      <dsp:txXfrm>
        <a:off x="7049586" y="436614"/>
        <a:ext cx="1150545" cy="49321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DCED8-E706-4E44-9BD2-5062E8398E27}">
      <dsp:nvSpPr>
        <dsp:cNvPr id="0" name=""/>
        <dsp:cNvSpPr/>
      </dsp:nvSpPr>
      <dsp:spPr>
        <a:xfrm>
          <a:off x="617018" y="0"/>
          <a:ext cx="6992876" cy="1366441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C334E-8FB5-4D7D-B547-C7DBD956DB7F}">
      <dsp:nvSpPr>
        <dsp:cNvPr id="0" name=""/>
        <dsp:cNvSpPr/>
      </dsp:nvSpPr>
      <dsp:spPr>
        <a:xfrm>
          <a:off x="0" y="395333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0" kern="1200" dirty="0" smtClean="0"/>
            <a:t>Priorização de DEMANDAS</a:t>
          </a:r>
          <a:endParaRPr lang="pt-BR" sz="1200" b="0" kern="1200" dirty="0"/>
        </a:p>
      </dsp:txBody>
      <dsp:txXfrm>
        <a:off x="26682" y="422015"/>
        <a:ext cx="1150545" cy="493212"/>
      </dsp:txXfrm>
    </dsp:sp>
    <dsp:sp modelId="{7CBAD77C-4711-4895-A672-82BE29D6C485}">
      <dsp:nvSpPr>
        <dsp:cNvPr id="0" name=""/>
        <dsp:cNvSpPr/>
      </dsp:nvSpPr>
      <dsp:spPr>
        <a:xfrm>
          <a:off x="1404661" y="409932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Yellow PAD TD</a:t>
          </a:r>
          <a:endParaRPr lang="pt-BR" sz="1200" kern="1200" dirty="0"/>
        </a:p>
      </dsp:txBody>
      <dsp:txXfrm>
        <a:off x="1431343" y="436614"/>
        <a:ext cx="1150545" cy="493212"/>
      </dsp:txXfrm>
    </dsp:sp>
    <dsp:sp modelId="{6A5CA203-57A8-4716-9467-B1C8723F90CF}">
      <dsp:nvSpPr>
        <dsp:cNvPr id="0" name=""/>
        <dsp:cNvSpPr/>
      </dsp:nvSpPr>
      <dsp:spPr>
        <a:xfrm>
          <a:off x="2784447" y="395710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Aprovação CAD </a:t>
          </a:r>
          <a:endParaRPr lang="pt-BR" sz="1200" kern="1200" dirty="0"/>
        </a:p>
      </dsp:txBody>
      <dsp:txXfrm>
        <a:off x="2811129" y="422392"/>
        <a:ext cx="1150545" cy="493212"/>
      </dsp:txXfrm>
    </dsp:sp>
    <dsp:sp modelId="{00AF47E0-622D-435D-BB37-AA62C6D913D3}">
      <dsp:nvSpPr>
        <dsp:cNvPr id="0" name=""/>
        <dsp:cNvSpPr/>
      </dsp:nvSpPr>
      <dsp:spPr>
        <a:xfrm>
          <a:off x="4213782" y="409932"/>
          <a:ext cx="1203909" cy="546576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Desenv</a:t>
          </a:r>
          <a:r>
            <a:rPr lang="pt-BR" sz="1200" kern="1200" dirty="0" smtClean="0"/>
            <a:t>.</a:t>
          </a:r>
          <a:endParaRPr lang="pt-BR" sz="1200" kern="1200" dirty="0"/>
        </a:p>
      </dsp:txBody>
      <dsp:txXfrm>
        <a:off x="4240464" y="436614"/>
        <a:ext cx="1150545" cy="493212"/>
      </dsp:txXfrm>
    </dsp:sp>
    <dsp:sp modelId="{30AD0969-DF00-41D0-8A48-403F5FC87A68}">
      <dsp:nvSpPr>
        <dsp:cNvPr id="0" name=""/>
        <dsp:cNvSpPr/>
      </dsp:nvSpPr>
      <dsp:spPr>
        <a:xfrm>
          <a:off x="5618343" y="409932"/>
          <a:ext cx="1203909" cy="546576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Entrega (Releases)</a:t>
          </a:r>
          <a:endParaRPr lang="pt-BR" sz="1200" b="1" kern="1200" dirty="0"/>
        </a:p>
      </dsp:txBody>
      <dsp:txXfrm>
        <a:off x="5645025" y="436614"/>
        <a:ext cx="1150545" cy="493212"/>
      </dsp:txXfrm>
    </dsp:sp>
    <dsp:sp modelId="{715663FE-76C0-46D1-86C5-B11510ADA03C}">
      <dsp:nvSpPr>
        <dsp:cNvPr id="0" name=""/>
        <dsp:cNvSpPr/>
      </dsp:nvSpPr>
      <dsp:spPr>
        <a:xfrm>
          <a:off x="7022904" y="409932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Resultados e Benefícios</a:t>
          </a:r>
          <a:endParaRPr lang="pt-BR" sz="1200" kern="1200" dirty="0"/>
        </a:p>
      </dsp:txBody>
      <dsp:txXfrm>
        <a:off x="7049586" y="436614"/>
        <a:ext cx="1150545" cy="49321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1DCED8-E706-4E44-9BD2-5062E8398E27}">
      <dsp:nvSpPr>
        <dsp:cNvPr id="0" name=""/>
        <dsp:cNvSpPr/>
      </dsp:nvSpPr>
      <dsp:spPr>
        <a:xfrm>
          <a:off x="617018" y="0"/>
          <a:ext cx="6992876" cy="1366441"/>
        </a:xfrm>
        <a:prstGeom prst="rightArrow">
          <a:avLst/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DC334E-8FB5-4D7D-B547-C7DBD956DB7F}">
      <dsp:nvSpPr>
        <dsp:cNvPr id="0" name=""/>
        <dsp:cNvSpPr/>
      </dsp:nvSpPr>
      <dsp:spPr>
        <a:xfrm>
          <a:off x="0" y="395333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0" kern="1200" dirty="0" smtClean="0"/>
            <a:t>Priorização de DEMANDAS</a:t>
          </a:r>
          <a:endParaRPr lang="pt-BR" sz="1200" b="0" kern="1200" dirty="0"/>
        </a:p>
      </dsp:txBody>
      <dsp:txXfrm>
        <a:off x="26682" y="422015"/>
        <a:ext cx="1150545" cy="493212"/>
      </dsp:txXfrm>
    </dsp:sp>
    <dsp:sp modelId="{7CBAD77C-4711-4895-A672-82BE29D6C485}">
      <dsp:nvSpPr>
        <dsp:cNvPr id="0" name=""/>
        <dsp:cNvSpPr/>
      </dsp:nvSpPr>
      <dsp:spPr>
        <a:xfrm>
          <a:off x="1404661" y="409932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Yellow PAD TD</a:t>
          </a:r>
          <a:endParaRPr lang="pt-BR" sz="1200" kern="1200" dirty="0"/>
        </a:p>
      </dsp:txBody>
      <dsp:txXfrm>
        <a:off x="1431343" y="436614"/>
        <a:ext cx="1150545" cy="493212"/>
      </dsp:txXfrm>
    </dsp:sp>
    <dsp:sp modelId="{6A5CA203-57A8-4716-9467-B1C8723F90CF}">
      <dsp:nvSpPr>
        <dsp:cNvPr id="0" name=""/>
        <dsp:cNvSpPr/>
      </dsp:nvSpPr>
      <dsp:spPr>
        <a:xfrm>
          <a:off x="2784447" y="395710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Aprovação CAD </a:t>
          </a:r>
          <a:endParaRPr lang="pt-BR" sz="1200" kern="1200" dirty="0"/>
        </a:p>
      </dsp:txBody>
      <dsp:txXfrm>
        <a:off x="2811129" y="422392"/>
        <a:ext cx="1150545" cy="493212"/>
      </dsp:txXfrm>
    </dsp:sp>
    <dsp:sp modelId="{00AF47E0-622D-435D-BB37-AA62C6D913D3}">
      <dsp:nvSpPr>
        <dsp:cNvPr id="0" name=""/>
        <dsp:cNvSpPr/>
      </dsp:nvSpPr>
      <dsp:spPr>
        <a:xfrm>
          <a:off x="4213782" y="409932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Desenv.</a:t>
          </a:r>
          <a:endParaRPr lang="pt-BR" sz="1200" kern="1200" dirty="0"/>
        </a:p>
      </dsp:txBody>
      <dsp:txXfrm>
        <a:off x="4240464" y="436614"/>
        <a:ext cx="1150545" cy="493212"/>
      </dsp:txXfrm>
    </dsp:sp>
    <dsp:sp modelId="{30AD0969-DF00-41D0-8A48-403F5FC87A68}">
      <dsp:nvSpPr>
        <dsp:cNvPr id="0" name=""/>
        <dsp:cNvSpPr/>
      </dsp:nvSpPr>
      <dsp:spPr>
        <a:xfrm>
          <a:off x="5618343" y="409932"/>
          <a:ext cx="1203909" cy="546576"/>
        </a:xfrm>
        <a:prstGeom prst="roundRect">
          <a:avLst/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kern="1200" dirty="0" smtClean="0"/>
            <a:t>Entrega (Releases)</a:t>
          </a:r>
          <a:endParaRPr lang="pt-BR" sz="1200" kern="1200" dirty="0"/>
        </a:p>
      </dsp:txBody>
      <dsp:txXfrm>
        <a:off x="5645025" y="436614"/>
        <a:ext cx="1150545" cy="493212"/>
      </dsp:txXfrm>
    </dsp:sp>
    <dsp:sp modelId="{715663FE-76C0-46D1-86C5-B11510ADA03C}">
      <dsp:nvSpPr>
        <dsp:cNvPr id="0" name=""/>
        <dsp:cNvSpPr/>
      </dsp:nvSpPr>
      <dsp:spPr>
        <a:xfrm>
          <a:off x="7022904" y="409932"/>
          <a:ext cx="1203909" cy="546576"/>
        </a:xfrm>
        <a:prstGeom prst="roundRect">
          <a:avLst/>
        </a:prstGeom>
        <a:solidFill>
          <a:schemeClr val="tx2"/>
        </a:solidFill>
        <a:ln w="254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200" b="1" kern="1200" dirty="0" smtClean="0"/>
            <a:t>Resultados e Benefícios</a:t>
          </a:r>
          <a:endParaRPr lang="pt-BR" sz="1200" b="1" kern="1200" dirty="0"/>
        </a:p>
      </dsp:txBody>
      <dsp:txXfrm>
        <a:off x="7049586" y="436614"/>
        <a:ext cx="1150545" cy="4932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Process9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horzAlign" val="ctr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DE6E5-E07D-4B09-8E65-F65F958CE3E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D78FC1-7175-4FC0-9A71-4055CB28838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67628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A81781-342B-4DE8-B23F-A8BE0A6A0156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9370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8313"/>
            <a:ext cx="7772400" cy="110285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5550"/>
            <a:ext cx="6400800" cy="131485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70130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9326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6196"/>
            <a:ext cx="7772400" cy="10218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708"/>
            <a:ext cx="7772400" cy="112548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99814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900391"/>
            <a:ext cx="4038600" cy="254753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9657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</p:spPr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690"/>
            <a:ext cx="4040188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660"/>
            <a:ext cx="4040188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6" y="1151690"/>
            <a:ext cx="4041775" cy="47997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6" y="1631660"/>
            <a:ext cx="4041775" cy="296438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548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479660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55565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04851"/>
            <a:ext cx="3008313" cy="87180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851"/>
            <a:ext cx="5111750" cy="439119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1" y="1076658"/>
            <a:ext cx="3008313" cy="351938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85430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1561"/>
            <a:ext cx="5486400" cy="42518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723"/>
            <a:ext cx="5486400" cy="30870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6746"/>
            <a:ext cx="5486400" cy="6038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18187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246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154829"/>
            <a:ext cx="2057400" cy="3293095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54829"/>
            <a:ext cx="6019800" cy="3293095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60FA-F017-416B-92AB-F93AA45D987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22961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6042"/>
            <a:ext cx="8229600" cy="8575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521"/>
            <a:ext cx="8229600" cy="33955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060FA-F017-416B-92AB-F93AA45D987F}" type="datetimeFigureOut">
              <a:rPr lang="pt-BR" smtClean="0"/>
              <a:t>27/04/2015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8735"/>
            <a:ext cx="2895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8735"/>
            <a:ext cx="2133600" cy="2739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31A60-F3A3-4CCE-B6C5-97A8C15ACE94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89299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equipes.natura.net/vptd/processo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mailto:atendimentoTD@natura.net" TargetMode="External"/><Relationship Id="rId3" Type="http://schemas.openxmlformats.org/officeDocument/2006/relationships/hyperlink" Target="http://timetd.natura.net/pt-br/blog" TargetMode="External"/><Relationship Id="rId7" Type="http://schemas.openxmlformats.org/officeDocument/2006/relationships/hyperlink" Target="http://equipes.natura.net/vptd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timetd.natura.net/" TargetMode="External"/><Relationship Id="rId5" Type="http://schemas.openxmlformats.org/officeDocument/2006/relationships/hyperlink" Target="mailto:GrupoTD@natura.net" TargetMode="External"/><Relationship Id="rId10" Type="http://schemas.openxmlformats.org/officeDocument/2006/relationships/hyperlink" Target="mailto:releasestd@natura.net" TargetMode="External"/><Relationship Id="rId4" Type="http://schemas.openxmlformats.org/officeDocument/2006/relationships/hyperlink" Target="mailto:imetd@natura.net" TargetMode="External"/><Relationship Id="rId9" Type="http://schemas.openxmlformats.org/officeDocument/2006/relationships/hyperlink" Target="mailto:GMUD@natura.net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acebook.com/groups/tdnatura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hyperlink" Target="https://www.youtube.com/user/TimeTDNatura/video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timetd.natura.net/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Relationship Id="rId9" Type="http://schemas.openxmlformats.org/officeDocument/2006/relationships/chart" Target="../charts/chart2.xml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chart" Target="../charts/chart3.xml"/><Relationship Id="rId7" Type="http://schemas.openxmlformats.org/officeDocument/2006/relationships/diagramColors" Target="../diagrams/colors3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Relationship Id="rId9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chart" Target="../charts/chart5.xml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chart" Target="../charts/chart6.xml"/><Relationship Id="rId9" Type="http://schemas.microsoft.com/office/2007/relationships/diagramDrawing" Target="../diagrams/drawing4.xml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chart" Target="../charts/chart7.xml"/><Relationship Id="rId7" Type="http://schemas.openxmlformats.org/officeDocument/2006/relationships/diagramColors" Target="../diagrams/colors5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slide" Target="slide32.xml"/><Relationship Id="rId3" Type="http://schemas.openxmlformats.org/officeDocument/2006/relationships/image" Target="../media/image5.png"/><Relationship Id="rId7" Type="http://schemas.openxmlformats.org/officeDocument/2006/relationships/slide" Target="slide3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slide" Target="slide3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4" Type="http://schemas.openxmlformats.org/officeDocument/2006/relationships/slide" Target="slide3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slide" Target="slide17.xml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slide" Target="slide1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slide" Target="slide2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slide" Target="slide24.xml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9" name="Picture 5" descr="E:\Users\BR92457\Documents\Treinamento Requisitos\Fotos\WIL_0967.jpg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14542" r="7754" b="5856"/>
          <a:stretch/>
        </p:blipFill>
        <p:spPr bwMode="auto">
          <a:xfrm flipH="1">
            <a:off x="-1" y="1"/>
            <a:ext cx="9143999" cy="5145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D3F377-FF4E-4DB0-BA25-7D8400C0382B}" type="slidenum">
              <a:rPr lang="pt-BR" smtClean="0"/>
              <a:t>1</a:t>
            </a:fld>
            <a:endParaRPr lang="pt-BR"/>
          </a:p>
        </p:txBody>
      </p:sp>
      <p:grpSp>
        <p:nvGrpSpPr>
          <p:cNvPr id="6" name="Grupo 5"/>
          <p:cNvGrpSpPr/>
          <p:nvPr/>
        </p:nvGrpSpPr>
        <p:grpSpPr>
          <a:xfrm>
            <a:off x="323657" y="700336"/>
            <a:ext cx="3979068" cy="3691717"/>
            <a:chOff x="323657" y="916360"/>
            <a:chExt cx="3979068" cy="3691717"/>
          </a:xfrm>
        </p:grpSpPr>
        <p:sp>
          <p:nvSpPr>
            <p:cNvPr id="4" name="Retângulo 3"/>
            <p:cNvSpPr/>
            <p:nvPr/>
          </p:nvSpPr>
          <p:spPr>
            <a:xfrm>
              <a:off x="323657" y="916360"/>
              <a:ext cx="3979068" cy="3691717"/>
            </a:xfrm>
            <a:prstGeom prst="rect">
              <a:avLst/>
            </a:prstGeom>
            <a:solidFill>
              <a:srgbClr val="FE5000">
                <a:alpha val="66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es-ES_tradnl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483706" y="1107267"/>
              <a:ext cx="3658970" cy="1177245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pPr algn="ctr"/>
              <a:r>
                <a:rPr lang="pt-BR" sz="24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 ExtraBold" pitchFamily="34" charset="0"/>
                </a:rPr>
                <a:t>Avaliação de Aderência aos Processos de TD </a:t>
              </a:r>
            </a:p>
          </p:txBody>
        </p:sp>
        <p:grpSp>
          <p:nvGrpSpPr>
            <p:cNvPr id="5" name="Grupo 4"/>
            <p:cNvGrpSpPr/>
            <p:nvPr/>
          </p:nvGrpSpPr>
          <p:grpSpPr>
            <a:xfrm>
              <a:off x="416100" y="2771487"/>
              <a:ext cx="3363812" cy="809169"/>
              <a:chOff x="560116" y="2627471"/>
              <a:chExt cx="3363812" cy="809169"/>
            </a:xfrm>
          </p:grpSpPr>
          <p:pic>
            <p:nvPicPr>
              <p:cNvPr id="7" name="Picture 8" descr="NAT_marca_branca_natura-01.png"/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4412" y="2694541"/>
                <a:ext cx="699516" cy="63684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8" name="Conector reto 7"/>
              <p:cNvCxnSpPr/>
              <p:nvPr/>
            </p:nvCxnSpPr>
            <p:spPr>
              <a:xfrm>
                <a:off x="3091882" y="2627471"/>
                <a:ext cx="0" cy="809169"/>
              </a:xfrm>
              <a:prstGeom prst="line">
                <a:avLst/>
              </a:prstGeom>
              <a:ln w="19050">
                <a:solidFill>
                  <a:schemeClr val="bg1"/>
                </a:solidFill>
              </a:ln>
              <a:effectLst>
                <a:innerShdw blurRad="63500" dist="50800" dir="162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CaixaDeTexto 8"/>
              <p:cNvSpPr txBox="1"/>
              <p:nvPr/>
            </p:nvSpPr>
            <p:spPr>
              <a:xfrm>
                <a:off x="560116" y="2694541"/>
                <a:ext cx="252028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pt-BR" sz="160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Gerência de Governança</a:t>
                </a:r>
              </a:p>
              <a:p>
                <a:pPr algn="r"/>
                <a:r>
                  <a:rPr lang="pt-BR" sz="1600" dirty="0" smtClean="0">
                    <a:solidFill>
                      <a:schemeClr val="bg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Gill Sans Std" pitchFamily="34" charset="0"/>
                  </a:rPr>
                  <a:t>VPTD</a:t>
                </a:r>
                <a:endParaRPr lang="pt-BR" sz="16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endParaRPr>
              </a:p>
            </p:txBody>
          </p:sp>
        </p:grpSp>
        <p:sp>
          <p:nvSpPr>
            <p:cNvPr id="14" name="CaixaDeTexto 13"/>
            <p:cNvSpPr txBox="1"/>
            <p:nvPr/>
          </p:nvSpPr>
          <p:spPr>
            <a:xfrm>
              <a:off x="3366463" y="4228728"/>
              <a:ext cx="858633" cy="251702"/>
            </a:xfrm>
            <a:prstGeom prst="rect">
              <a:avLst/>
            </a:prstGeom>
            <a:noFill/>
          </p:spPr>
          <p:txBody>
            <a:bodyPr wrap="square" lIns="81628" tIns="40814" rIns="81628" bIns="40814" rtlCol="0">
              <a:spAutoFit/>
            </a:bodyPr>
            <a:lstStyle/>
            <a:p>
              <a:pPr algn="ctr" defTabSz="816277"/>
              <a:r>
                <a:rPr lang="pt-BR" sz="1100" dirty="0" smtClean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Gill Sans Std" pitchFamily="34" charset="0"/>
                </a:rPr>
                <a:t>Abril 2015</a:t>
              </a:r>
              <a:endParaRPr lang="pt-BR" sz="1100" b="1" i="1" dirty="0">
                <a:solidFill>
                  <a:schemeClr val="bg1"/>
                </a:solidFill>
                <a:latin typeface="Gill Sans Std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41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E:\Users\BR92457\Desktop\Apresentação TD\Fotos\EK_Ciclo18-14_0014.jpg"/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27488"/>
          <a:stretch/>
        </p:blipFill>
        <p:spPr bwMode="auto">
          <a:xfrm>
            <a:off x="7694986" y="3850706"/>
            <a:ext cx="1413518" cy="12421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79512" y="4444752"/>
            <a:ext cx="71287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b="1" i="1" dirty="0" smtClean="0">
                <a:solidFill>
                  <a:srgbClr val="6E6259"/>
                </a:solidFill>
                <a:latin typeface="Gill Sans Std" pitchFamily="34" charset="0"/>
              </a:rPr>
              <a:t>#tamojunto,  #foconoresultado, #</a:t>
            </a:r>
            <a:r>
              <a:rPr lang="pt-BR" sz="1600" b="1" i="1" dirty="0" smtClean="0">
                <a:solidFill>
                  <a:srgbClr val="6E6259"/>
                </a:solidFill>
                <a:latin typeface="Gill Sans Std" pitchFamily="34" charset="0"/>
              </a:rPr>
              <a:t>semmelindre, #somostodos</a:t>
            </a:r>
            <a:r>
              <a:rPr lang="pt-BR" sz="1600" b="1" i="1" dirty="0" smtClean="0">
                <a:solidFill>
                  <a:srgbClr val="6E6259"/>
                </a:solidFill>
                <a:latin typeface="Gill Sans Std" pitchFamily="34" charset="0"/>
              </a:rPr>
              <a:t>governanca</a:t>
            </a:r>
            <a:endParaRPr lang="pt-BR" sz="1600" b="1" i="1" dirty="0">
              <a:solidFill>
                <a:srgbClr val="6E6259"/>
              </a:solidFill>
              <a:latin typeface="Gill Sans Std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251520" y="268288"/>
            <a:ext cx="14154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smtClean="0">
                <a:solidFill>
                  <a:srgbClr val="6E6259"/>
                </a:solidFill>
                <a:latin typeface="Gill Sans Std ExtraBold" pitchFamily="34" charset="0"/>
              </a:rPr>
              <a:t>OBJETIVO</a:t>
            </a:r>
            <a:endParaRPr lang="pt-BR" b="1" dirty="0">
              <a:solidFill>
                <a:srgbClr val="6E6259"/>
              </a:solidFill>
              <a:latin typeface="Gill Sans Std ExtraBold" pitchFamily="34" charset="0"/>
            </a:endParaRPr>
          </a:p>
        </p:txBody>
      </p:sp>
      <p:pic>
        <p:nvPicPr>
          <p:cNvPr id="6" name="Picture 6" descr="E:\Users\BR92457\Desktop\Apresentação TD\Fotos\CINZA_MORNO.png"/>
          <p:cNvPicPr preferRelativeResize="0">
            <a:picLocks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639"/>
          <a:stretch/>
        </p:blipFill>
        <p:spPr bwMode="auto">
          <a:xfrm>
            <a:off x="8244408" y="124352"/>
            <a:ext cx="7200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51519" y="916360"/>
            <a:ext cx="7961865" cy="738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just" eaLnBrk="1" hangingPunct="1"/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Este documento tem por objetivo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prover uma visão unificada da aderência dos colaboradores à cadeia de Processos de TD, bem como os </a:t>
            </a:r>
            <a:r>
              <a:rPr lang="pt-BR" sz="1400" dirty="0" smtClean="0">
                <a:solidFill>
                  <a:srgbClr val="6E6259"/>
                </a:solidFill>
                <a:latin typeface="Gill Sans Std Light" pitchFamily="34" charset="0"/>
              </a:rPr>
              <a:t>respectivos indicadores, gaps e os principais problemas existentes que impactam no atendimento.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30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CADEIA DE PROCESSOS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graphicFrame>
        <p:nvGraphicFramePr>
          <p:cNvPr id="2" name="Diagrama 1"/>
          <p:cNvGraphicFramePr/>
          <p:nvPr>
            <p:extLst>
              <p:ext uri="{D42A27DB-BD31-4B8C-83A1-F6EECF244321}">
                <p14:modId xmlns:p14="http://schemas.microsoft.com/office/powerpoint/2010/main" val="2989056687"/>
              </p:ext>
            </p:extLst>
          </p:nvPr>
        </p:nvGraphicFramePr>
        <p:xfrm>
          <a:off x="1835696" y="1060376"/>
          <a:ext cx="5328592" cy="35523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03474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PLANEJAMENTO ESTRATÉGICO E COMUNICAÇÃO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tângulo 3"/>
          <p:cNvSpPr/>
          <p:nvPr/>
        </p:nvSpPr>
        <p:spPr>
          <a:xfrm>
            <a:off x="0" y="772344"/>
            <a:ext cx="32226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dirty="0">
                <a:solidFill>
                  <a:srgbClr val="473729"/>
                </a:solidFill>
                <a:latin typeface="Gill Sans Std" pitchFamily="34" charset="0"/>
              </a:rPr>
              <a:t>MAPA METRÔ DE PROCESSOS</a:t>
            </a:r>
            <a:endParaRPr lang="pt-BR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0520" y="1420416"/>
            <a:ext cx="5311960" cy="2882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tângulo 8"/>
          <p:cNvSpPr/>
          <p:nvPr/>
        </p:nvSpPr>
        <p:spPr>
          <a:xfrm>
            <a:off x="134008" y="1780456"/>
            <a:ext cx="3357872" cy="2048893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revisado em </a:t>
            </a:r>
            <a:r>
              <a:rPr lang="pt-BR" sz="1400" dirty="0" err="1" smtClean="0">
                <a:solidFill>
                  <a:srgbClr val="473729"/>
                </a:solidFill>
                <a:latin typeface="Gill Sans Std Light" pitchFamily="34" charset="0"/>
              </a:rPr>
              <a:t>abr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/2015 para incluir novas definições de </a:t>
            </a:r>
            <a:r>
              <a:rPr lang="pt-BR" sz="1400" dirty="0">
                <a:solidFill>
                  <a:srgbClr val="473729"/>
                </a:solidFill>
                <a:latin typeface="Gill Sans Std Light" pitchFamily="34" charset="0"/>
              </a:rPr>
              <a:t>G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estão de Demandas (implantação </a:t>
            </a:r>
            <a:r>
              <a:rPr lang="pt-BR" sz="1400" dirty="0" err="1" smtClean="0">
                <a:solidFill>
                  <a:srgbClr val="473729"/>
                </a:solidFill>
                <a:latin typeface="Gill Sans Std Light" pitchFamily="34" charset="0"/>
              </a:rPr>
              <a:t>Clarity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), inserção dos fóruns relevantes e evoluções da melhoria contínua 2014</a:t>
            </a:r>
          </a:p>
          <a:p>
            <a:pPr defTabSz="1088369"/>
            <a:endParaRPr lang="pt-BR" sz="14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disponível em português e espanhol para todos os colaboradores TD (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  <a:hlinkClick r:id="rId4"/>
              </a:rPr>
              <a:t>equipes.natura.net/</a:t>
            </a:r>
            <a:r>
              <a:rPr lang="pt-BR" sz="1400" dirty="0" err="1" smtClean="0">
                <a:solidFill>
                  <a:srgbClr val="473729"/>
                </a:solidFill>
                <a:latin typeface="Gill Sans Std Light" pitchFamily="34" charset="0"/>
                <a:hlinkClick r:id="rId4"/>
              </a:rPr>
              <a:t>vptd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  <a:hlinkClick r:id="rId4"/>
              </a:rPr>
              <a:t>/processos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52722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PLANEJAMENTO ESTRATÉGICO E COMUNICAÇÃO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tângulo 12"/>
          <p:cNvSpPr/>
          <p:nvPr/>
        </p:nvSpPr>
        <p:spPr>
          <a:xfrm>
            <a:off x="21039" y="1187842"/>
            <a:ext cx="9015393" cy="540788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figura como um processo de TD, mas é gerido pelo time corporativo de Planejamento Estratégico, que propõem o modelo, dinâmica, cronograma e formatos</a:t>
            </a:r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8024" y="2168141"/>
            <a:ext cx="4182905" cy="22766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Retângulo de cantos arredondados 15"/>
          <p:cNvSpPr/>
          <p:nvPr/>
        </p:nvSpPr>
        <p:spPr>
          <a:xfrm>
            <a:off x="4867731" y="3004592"/>
            <a:ext cx="712381" cy="1512168"/>
          </a:xfrm>
          <a:prstGeom prst="roundRect">
            <a:avLst/>
          </a:prstGeom>
          <a:noFill/>
          <a:ln>
            <a:solidFill>
              <a:srgbClr val="E6242F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_tradnl"/>
          </a:p>
        </p:txBody>
      </p:sp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65" y="2024125"/>
            <a:ext cx="4558475" cy="2564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772344"/>
            <a:ext cx="20360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dirty="0" smtClean="0">
                <a:solidFill>
                  <a:srgbClr val="473729"/>
                </a:solidFill>
                <a:latin typeface="Gill Sans Std" pitchFamily="34" charset="0"/>
              </a:rPr>
              <a:t>PROCESSO ATUAL</a:t>
            </a:r>
            <a:endParaRPr lang="pt-BR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790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PLANEJAMENTO ESTRATÉGICO E COMUNICAÇÃO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etângulo 17"/>
          <p:cNvSpPr/>
          <p:nvPr/>
        </p:nvSpPr>
        <p:spPr>
          <a:xfrm>
            <a:off x="0" y="772344"/>
            <a:ext cx="203607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dirty="0" smtClean="0">
                <a:solidFill>
                  <a:srgbClr val="473729"/>
                </a:solidFill>
                <a:latin typeface="Gill Sans Std" pitchFamily="34" charset="0"/>
              </a:rPr>
              <a:t>PROCESSO ATUAL</a:t>
            </a:r>
            <a:endParaRPr lang="pt-BR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0" y="1359581"/>
            <a:ext cx="3695221" cy="1618006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2014 trouxe uma evolução, com a proposta de simplificar o modelo e integrar ações em “habilitadores estratégicos”, com gestão compartilhada dos objetivos</a:t>
            </a:r>
          </a:p>
          <a:p>
            <a:pPr defTabSz="1088369"/>
            <a:endParaRPr lang="pt-BR" sz="14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atuação de TD está ligada ao habilitador “</a:t>
            </a:r>
            <a:r>
              <a:rPr lang="pt-BR" sz="1400" dirty="0">
                <a:solidFill>
                  <a:srgbClr val="473729"/>
                </a:solidFill>
                <a:latin typeface="Gill Sans Std Light" pitchFamily="34" charset="0"/>
              </a:rPr>
              <a:t>i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nfraestrutura digital”</a:t>
            </a: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1373103"/>
            <a:ext cx="5459643" cy="30716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3052618"/>
            <a:ext cx="2697502" cy="13921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9500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PLANEJAMENTO ESTRATÉGICO E COMUNICAÇÃO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72344"/>
            <a:ext cx="17316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dirty="0" smtClean="0">
                <a:solidFill>
                  <a:srgbClr val="473729"/>
                </a:solidFill>
                <a:latin typeface="Gill Sans Std" pitchFamily="34" charset="0"/>
              </a:rPr>
              <a:t>DIFICULDADES</a:t>
            </a:r>
            <a:endParaRPr lang="pt-BR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1" name="Retângulo 10"/>
          <p:cNvSpPr/>
          <p:nvPr/>
        </p:nvSpPr>
        <p:spPr>
          <a:xfrm>
            <a:off x="107505" y="1276400"/>
            <a:ext cx="4176464" cy="3772442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apesar do novo modelo ser mais simples, </a:t>
            </a:r>
            <a:r>
              <a:rPr lang="pt-BR" sz="1400" b="1" dirty="0" smtClean="0">
                <a:solidFill>
                  <a:srgbClr val="473729"/>
                </a:solidFill>
                <a:latin typeface="Gill Sans Std Light" pitchFamily="34" charset="0"/>
              </a:rPr>
              <a:t>a construção e execução foi fragmentada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 </a:t>
            </a:r>
            <a:r>
              <a:rPr lang="pt-BR" sz="1400" dirty="0">
                <a:solidFill>
                  <a:srgbClr val="473729"/>
                </a:solidFill>
                <a:latin typeface="Gill Sans Std Light" pitchFamily="34" charset="0"/>
              </a:rPr>
              <a:t>- cada 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grupo construiu </a:t>
            </a:r>
            <a:r>
              <a:rPr lang="pt-BR" sz="1400" dirty="0">
                <a:solidFill>
                  <a:srgbClr val="473729"/>
                </a:solidFill>
                <a:latin typeface="Gill Sans Std Light" pitchFamily="34" charset="0"/>
              </a:rPr>
              <a:t>sua 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parte específica, </a:t>
            </a:r>
            <a:r>
              <a:rPr lang="pt-BR" sz="1400" dirty="0">
                <a:solidFill>
                  <a:srgbClr val="473729"/>
                </a:solidFill>
                <a:latin typeface="Gill Sans Std Light" pitchFamily="34" charset="0"/>
              </a:rPr>
              <a:t>endereçando 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seu “habilitador estratégico”, e o conteúdo gerado foi consolidado pelo time do processo</a:t>
            </a:r>
            <a:endParaRPr lang="pt-BR" sz="14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endParaRPr lang="pt-BR" sz="14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foi </a:t>
            </a:r>
            <a:r>
              <a:rPr lang="pt-BR" sz="1400" b="1" dirty="0" smtClean="0">
                <a:solidFill>
                  <a:srgbClr val="473729"/>
                </a:solidFill>
                <a:latin typeface="Gill Sans Std Light" pitchFamily="34" charset="0"/>
              </a:rPr>
              <a:t>difícil </a:t>
            </a:r>
            <a:r>
              <a:rPr lang="pt-BR" sz="1400" b="1" dirty="0">
                <a:solidFill>
                  <a:srgbClr val="473729"/>
                </a:solidFill>
                <a:latin typeface="Gill Sans Std Light" pitchFamily="34" charset="0"/>
              </a:rPr>
              <a:t>propor ou construir entregas transversais de maior valor</a:t>
            </a:r>
            <a:r>
              <a:rPr lang="pt-BR" sz="1400" dirty="0">
                <a:solidFill>
                  <a:srgbClr val="473729"/>
                </a:solidFill>
                <a:latin typeface="Gill Sans Std Light" pitchFamily="34" charset="0"/>
              </a:rPr>
              <a:t> para a organização, ou mesmo questionar o direcionamento estratégico de outras áreas/frentes do negócio, devido 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ao modelo e dinâmica </a:t>
            </a:r>
            <a:r>
              <a:rPr lang="pt-BR" sz="1400" dirty="0">
                <a:solidFill>
                  <a:srgbClr val="473729"/>
                </a:solidFill>
                <a:latin typeface="Gill Sans Std Light" pitchFamily="34" charset="0"/>
              </a:rPr>
              <a:t>fragmentada</a:t>
            </a:r>
          </a:p>
          <a:p>
            <a:pPr defTabSz="1088369"/>
            <a:endParaRPr lang="pt-BR" sz="14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400" dirty="0">
                <a:solidFill>
                  <a:srgbClr val="473729"/>
                </a:solidFill>
                <a:latin typeface="Gill Sans Std Light" pitchFamily="34" charset="0"/>
              </a:rPr>
              <a:t>após a construção, 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áreas desdobraram e iniciaram </a:t>
            </a:r>
            <a:r>
              <a:rPr lang="pt-BR" sz="1400" b="1" dirty="0" smtClean="0">
                <a:solidFill>
                  <a:srgbClr val="473729"/>
                </a:solidFill>
                <a:latin typeface="Gill Sans Std Light" pitchFamily="34" charset="0"/>
              </a:rPr>
              <a:t>execução de projetos/iniciativas para entregas específicas de forma individualizada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, </a:t>
            </a:r>
            <a:r>
              <a:rPr lang="pt-BR" sz="1400" b="1" dirty="0" smtClean="0">
                <a:solidFill>
                  <a:srgbClr val="473729"/>
                </a:solidFill>
                <a:latin typeface="Gill Sans Std Light" pitchFamily="34" charset="0"/>
              </a:rPr>
              <a:t>sem integração e gestão compartilhada de objetivos 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com outras áreas do negócio</a:t>
            </a:r>
            <a:endParaRPr lang="pt-BR" sz="1400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2" name="Retângulo 11"/>
          <p:cNvSpPr/>
          <p:nvPr/>
        </p:nvSpPr>
        <p:spPr>
          <a:xfrm>
            <a:off x="4499993" y="1276400"/>
            <a:ext cx="4536440" cy="2695224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400" b="1" dirty="0" smtClean="0">
                <a:solidFill>
                  <a:srgbClr val="473729"/>
                </a:solidFill>
                <a:latin typeface="Gill Sans Std Light" pitchFamily="34" charset="0"/>
              </a:rPr>
              <a:t>propostas para evolução 2015</a:t>
            </a:r>
          </a:p>
          <a:p>
            <a:pPr defTabSz="1088369"/>
            <a:endParaRPr lang="pt-BR" sz="1400" dirty="0">
              <a:solidFill>
                <a:srgbClr val="473729"/>
              </a:solidFill>
              <a:latin typeface="Gill Sans Std Light" pitchFamily="34" charset="0"/>
            </a:endParaRPr>
          </a:p>
          <a:p>
            <a:pPr marL="285750" indent="-285750" defTabSz="1088369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maior participação de colaboradores de diferentes áreas na discussão das avaliações internas e externas</a:t>
            </a:r>
          </a:p>
          <a:p>
            <a:pPr marL="285750" indent="-285750" defTabSz="1088369">
              <a:buFont typeface="Arial" pitchFamily="34" charset="0"/>
              <a:buChar char="•"/>
            </a:pPr>
            <a:endParaRPr lang="pt-BR" sz="14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marL="285750" indent="-285750" defTabSz="1088369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des-hierarquização do processo e maior abertura para co-construção de ações transversais envolvendo colaboradores de diferentes áreas</a:t>
            </a:r>
          </a:p>
          <a:p>
            <a:pPr marL="285750" indent="-285750" defTabSz="1088369">
              <a:buFont typeface="Arial" pitchFamily="34" charset="0"/>
              <a:buChar char="•"/>
            </a:pPr>
            <a:endParaRPr lang="pt-BR" sz="1400" dirty="0">
              <a:solidFill>
                <a:srgbClr val="473729"/>
              </a:solidFill>
              <a:latin typeface="Gill Sans Std Light" pitchFamily="34" charset="0"/>
            </a:endParaRPr>
          </a:p>
          <a:p>
            <a:pPr marL="285750" indent="-285750" defTabSz="1088369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implantar um processo de construção e evolução contínua do PEN, no lugar de uma movimentação única por ano</a:t>
            </a:r>
          </a:p>
        </p:txBody>
      </p:sp>
    </p:spTree>
    <p:extLst>
      <p:ext uri="{BB962C8B-B14F-4D97-AF65-F5344CB8AC3E}">
        <p14:creationId xmlns:p14="http://schemas.microsoft.com/office/powerpoint/2010/main" val="2860831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PLANEJAMENTO ESTRATÉGICO E COMUNICAÇÃO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0" y="772344"/>
            <a:ext cx="5636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dirty="0" smtClean="0">
                <a:solidFill>
                  <a:srgbClr val="473729"/>
                </a:solidFill>
                <a:latin typeface="Gill Sans Std" pitchFamily="34" charset="0"/>
              </a:rPr>
              <a:t>COMUNICAÇÃO TD: CANAIS, PÚBLICOS E NÚMEROS</a:t>
            </a:r>
            <a:endParaRPr lang="pt-BR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107504" y="1276400"/>
            <a:ext cx="4752528" cy="3064556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hoje, temos 3 canais principais de comunicação interna em TD</a:t>
            </a:r>
          </a:p>
          <a:p>
            <a:pPr defTabSz="1088369"/>
            <a:endParaRPr lang="pt-BR" sz="12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200" dirty="0">
                <a:solidFill>
                  <a:srgbClr val="473729"/>
                </a:solidFill>
                <a:latin typeface="Gill Sans Std Light" pitchFamily="34" charset="0"/>
              </a:rPr>
              <a:t>Blog </a:t>
            </a:r>
            <a:r>
              <a:rPr lang="pt-BR" sz="1200" dirty="0" smtClean="0">
                <a:solidFill>
                  <a:schemeClr val="accent5">
                    <a:lumMod val="75000"/>
                  </a:schemeClr>
                </a:solidFill>
                <a:latin typeface="Gill Sans Std Light" pitchFamily="34" charset="0"/>
              </a:rPr>
              <a:t>#tecnologiadigital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 -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  <a:hlinkClick r:id="rId3"/>
              </a:rPr>
              <a:t>timetd.natura.net/</a:t>
            </a:r>
            <a:r>
              <a:rPr lang="pt-BR" sz="1200" dirty="0" err="1" smtClean="0">
                <a:solidFill>
                  <a:srgbClr val="473729"/>
                </a:solidFill>
                <a:latin typeface="Gill Sans Std Light" pitchFamily="34" charset="0"/>
                <a:hlinkClick r:id="rId3"/>
              </a:rPr>
              <a:t>pt-br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  <a:hlinkClick r:id="rId3"/>
              </a:rPr>
              <a:t>/blog</a:t>
            </a:r>
            <a:endParaRPr lang="pt-BR" sz="12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aberto a todos os Colaboradores TD BR, OIs e também a colaboradores de outras áreas</a:t>
            </a: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lançado em 10 outubro 2014</a:t>
            </a: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49 postagens (~7/mês) BR e OIs</a:t>
            </a:r>
          </a:p>
          <a:p>
            <a:pPr defTabSz="1088369"/>
            <a:endParaRPr lang="pt-BR" sz="12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conta t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  <a:hlinkClick r:id="rId4"/>
              </a:rPr>
              <a:t>imetd@natura.net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 e mailing </a:t>
            </a:r>
            <a:r>
              <a:rPr lang="pt-BR" sz="1200" dirty="0" err="1" smtClean="0">
                <a:solidFill>
                  <a:srgbClr val="473729"/>
                </a:solidFill>
                <a:latin typeface="Gill Sans Std Light" pitchFamily="34" charset="0"/>
              </a:rPr>
              <a:t>list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  <a:hlinkClick r:id="rId5"/>
              </a:rPr>
              <a:t>grupotd@natura.net</a:t>
            </a:r>
            <a:endParaRPr lang="pt-BR" sz="12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integra todos os Colaboradores TD, exceto terceiros (atualização mensal dos integrantes com RH TD)</a:t>
            </a: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Agenor Leao; </a:t>
            </a:r>
            <a:r>
              <a:rPr lang="pt-BR" sz="1200" dirty="0">
                <a:solidFill>
                  <a:srgbClr val="473729"/>
                </a:solidFill>
                <a:latin typeface="Gill Sans Std Light" pitchFamily="34" charset="0"/>
              </a:rPr>
              <a:t>GFA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TD; </a:t>
            </a:r>
            <a:r>
              <a:rPr lang="pt-BR" sz="1200" dirty="0">
                <a:solidFill>
                  <a:srgbClr val="473729"/>
                </a:solidFill>
                <a:latin typeface="Gill Sans Std Light" pitchFamily="34" charset="0"/>
              </a:rPr>
              <a:t>RH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TD; </a:t>
            </a:r>
            <a:r>
              <a:rPr lang="pt-BR" sz="1200" dirty="0">
                <a:solidFill>
                  <a:srgbClr val="473729"/>
                </a:solidFill>
                <a:latin typeface="Gill Sans Std Light" pitchFamily="34" charset="0"/>
              </a:rPr>
              <a:t>Sandra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Domenico; TD-</a:t>
            </a:r>
            <a:r>
              <a:rPr lang="pt-BR" sz="1200" dirty="0" err="1" smtClean="0">
                <a:solidFill>
                  <a:srgbClr val="473729"/>
                </a:solidFill>
                <a:latin typeface="Gill Sans Std Light" pitchFamily="34" charset="0"/>
              </a:rPr>
              <a:t>OI's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; TD_BR</a:t>
            </a:r>
          </a:p>
          <a:p>
            <a:pPr lvl="1" defTabSz="1088369"/>
            <a:endParaRPr lang="pt-BR" sz="12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site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  <a:hlinkClick r:id="rId6"/>
              </a:rPr>
              <a:t>timetd.natura.net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 (futuramente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  <a:hlinkClick r:id="rId7"/>
              </a:rPr>
              <a:t>equipes.natura.net/</a:t>
            </a:r>
            <a:r>
              <a:rPr lang="pt-BR" sz="1200" dirty="0" err="1" smtClean="0">
                <a:solidFill>
                  <a:srgbClr val="473729"/>
                </a:solidFill>
                <a:latin typeface="Gill Sans Std Light" pitchFamily="34" charset="0"/>
                <a:hlinkClick r:id="rId7"/>
              </a:rPr>
              <a:t>vptd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)</a:t>
            </a: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conteúdos da estratégia, processos, gestão de projetos, </a:t>
            </a:r>
            <a:r>
              <a:rPr lang="pt-BR" sz="1200" dirty="0" err="1" smtClean="0">
                <a:solidFill>
                  <a:srgbClr val="473729"/>
                </a:solidFill>
                <a:latin typeface="Gill Sans Std Light" pitchFamily="34" charset="0"/>
              </a:rPr>
              <a:t>subsites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 de áreas e acervo de </a:t>
            </a:r>
            <a:r>
              <a:rPr lang="pt-BR" sz="1200" dirty="0" err="1" smtClean="0">
                <a:solidFill>
                  <a:srgbClr val="473729"/>
                </a:solidFill>
                <a:latin typeface="Gill Sans Std Light" pitchFamily="34" charset="0"/>
              </a:rPr>
              <a:t>templates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, apresentações, imagens e vídeos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5004048" y="1132384"/>
            <a:ext cx="4032448" cy="4187940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+4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canais específicos de comunicação de processos e operação TD</a:t>
            </a:r>
          </a:p>
          <a:p>
            <a:pPr defTabSz="1088369"/>
            <a:endParaRPr lang="pt-BR" sz="12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conta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  <a:hlinkClick r:id="rId8"/>
              </a:rPr>
              <a:t>atendimentotd@natura.net</a:t>
            </a:r>
            <a:endParaRPr lang="pt-BR" sz="12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comunicados e devolutivas sobre chamados dos Colaboradores</a:t>
            </a: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endereça colaboradores TD e Natura como um todo</a:t>
            </a:r>
          </a:p>
          <a:p>
            <a:pPr lvl="1" defTabSz="1088369"/>
            <a:endParaRPr lang="pt-BR" sz="12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conta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  <a:hlinkClick r:id="rId9"/>
              </a:rPr>
              <a:t>GMUD@natura.net</a:t>
            </a:r>
            <a:endParaRPr lang="pt-BR" sz="12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comunicados de Gestão de Mudanças - Dir. Infraestrutura</a:t>
            </a: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endereça times e parceiros envolvidos no processo GMUD</a:t>
            </a:r>
          </a:p>
          <a:p>
            <a:pPr lvl="1" defTabSz="1088369"/>
            <a:endParaRPr lang="pt-BR" sz="12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conta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  <a:hlinkClick r:id="rId10"/>
              </a:rPr>
              <a:t>releasestd@natura.net</a:t>
            </a:r>
            <a:endParaRPr lang="pt-BR" sz="12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comunicados de gestão de Releases TD</a:t>
            </a:r>
          </a:p>
          <a:p>
            <a:pPr lvl="1" defTabSz="1088369"/>
            <a:r>
              <a:rPr lang="pt-BR" sz="1200" dirty="0">
                <a:solidFill>
                  <a:srgbClr val="473729"/>
                </a:solidFill>
                <a:latin typeface="Gill Sans Std Light" pitchFamily="34" charset="0"/>
              </a:rPr>
              <a:t>endereça times e parceiros envolvidos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nos pacotes de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Releases</a:t>
            </a:r>
          </a:p>
          <a:p>
            <a:pPr defTabSz="1088369"/>
            <a:r>
              <a:rPr lang="pt-BR" sz="1200" dirty="0">
                <a:solidFill>
                  <a:srgbClr val="473729"/>
                </a:solidFill>
                <a:latin typeface="Gill Sans Std Light" pitchFamily="34" charset="0"/>
              </a:rPr>
              <a:t>conta </a:t>
            </a:r>
            <a:r>
              <a:rPr lang="pt-BR" sz="1200" dirty="0">
                <a:solidFill>
                  <a:srgbClr val="473729"/>
                </a:solidFill>
                <a:latin typeface="Gill Sans Std Light" pitchFamily="34" charset="0"/>
                <a:hlinkClick r:id="rId10"/>
              </a:rPr>
              <a:t>pmotd@natura.net</a:t>
            </a:r>
            <a:endParaRPr lang="pt-BR" sz="1200" dirty="0">
              <a:solidFill>
                <a:srgbClr val="473729"/>
              </a:solidFill>
              <a:latin typeface="Gill Sans Std Light" pitchFamily="34" charset="0"/>
            </a:endParaRPr>
          </a:p>
          <a:p>
            <a:pPr lvl="1" defTabSz="1088369"/>
            <a:r>
              <a:rPr lang="pt-BR" sz="1200" dirty="0">
                <a:solidFill>
                  <a:srgbClr val="473729"/>
                </a:solidFill>
                <a:latin typeface="Gill Sans Std Light" pitchFamily="34" charset="0"/>
              </a:rPr>
              <a:t>comunicados de operacionalização das Releases TD</a:t>
            </a:r>
          </a:p>
          <a:p>
            <a:pPr lvl="1" defTabSz="1088369"/>
            <a:r>
              <a:rPr lang="pt-BR" sz="1200" dirty="0">
                <a:solidFill>
                  <a:srgbClr val="473729"/>
                </a:solidFill>
                <a:latin typeface="Gill Sans Std Light" pitchFamily="34" charset="0"/>
              </a:rPr>
              <a:t>endereça times de Projeto das  Releases</a:t>
            </a:r>
          </a:p>
          <a:p>
            <a:pPr lvl="1" defTabSz="1088369"/>
            <a:endParaRPr lang="pt-BR" sz="1300" dirty="0" smtClean="0">
              <a:solidFill>
                <a:srgbClr val="47372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98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PLANEJAMENTO ESTRATÉGICO E COMUNICAÇÃO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59" y="2284512"/>
            <a:ext cx="8615521" cy="1224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443" y="1442310"/>
            <a:ext cx="7776864" cy="5184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" name="CaixaDeTexto 12"/>
          <p:cNvSpPr txBox="1"/>
          <p:nvPr/>
        </p:nvSpPr>
        <p:spPr>
          <a:xfrm>
            <a:off x="179512" y="4072529"/>
            <a:ext cx="54727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ill Sans Std Light" pitchFamily="34" charset="0"/>
              </a:rPr>
              <a:t>acesso frequente nos 4 primeiros meses pós-lançamento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ill Sans Std Light" pitchFamily="34" charset="0"/>
              </a:rPr>
              <a:t>35 postagens no período</a:t>
            </a:r>
            <a:endParaRPr lang="es-ES_tradnl" sz="1400" dirty="0">
              <a:solidFill>
                <a:schemeClr val="tx1">
                  <a:lumMod val="85000"/>
                  <a:lumOff val="15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5094490" y="4072529"/>
            <a:ext cx="40924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ill Sans Std Light" pitchFamily="34" charset="0"/>
              </a:rPr>
              <a:t>13 postagens no período (05 </a:t>
            </a:r>
            <a:r>
              <a:rPr lang="pt-BR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Gill Sans Std Light" pitchFamily="34" charset="0"/>
              </a:rPr>
              <a:t>fev</a:t>
            </a:r>
            <a:r>
              <a:rPr lang="pt-B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ill Sans Std Light" pitchFamily="34" charset="0"/>
              </a:rPr>
              <a:t>, 05 mar, 03/</a:t>
            </a:r>
            <a:r>
              <a:rPr lang="pt-BR" sz="1400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Gill Sans Std Light" pitchFamily="34" charset="0"/>
              </a:rPr>
              <a:t>abr</a:t>
            </a:r>
            <a:r>
              <a:rPr lang="pt-B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ill Sans Std Light" pitchFamily="34" charset="0"/>
              </a:rPr>
              <a:t>)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pt-BR" sz="14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Gill Sans Std Light" pitchFamily="34" charset="0"/>
              </a:rPr>
              <a:t>concomitante queda de acessos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0" y="772344"/>
            <a:ext cx="56362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dirty="0" smtClean="0">
                <a:solidFill>
                  <a:srgbClr val="473729"/>
                </a:solidFill>
                <a:latin typeface="Gill Sans Std" pitchFamily="34" charset="0"/>
              </a:rPr>
              <a:t>COMUNICAÇÃO TD: CANAIS, PÚBLICOS E NÚMEROS</a:t>
            </a:r>
            <a:endParaRPr lang="pt-BR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0981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PLANEJAMENTO ESTRATÉGICO E COMUNICAÇÃO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tângulo 15"/>
          <p:cNvSpPr/>
          <p:nvPr/>
        </p:nvSpPr>
        <p:spPr>
          <a:xfrm>
            <a:off x="0" y="772344"/>
            <a:ext cx="459209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dirty="0" smtClean="0">
                <a:solidFill>
                  <a:srgbClr val="473729"/>
                </a:solidFill>
                <a:latin typeface="Gill Sans Std" pitchFamily="34" charset="0"/>
              </a:rPr>
              <a:t>COMUNICAÇÃO TD: CANAIS “INFORMAIS”</a:t>
            </a:r>
            <a:endParaRPr lang="pt-BR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17924" y="1219302"/>
            <a:ext cx="3761988" cy="3156889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temos também um canal no Facebook</a:t>
            </a:r>
          </a:p>
          <a:p>
            <a:pPr lvl="1" defTabSz="1088369"/>
            <a:endParaRPr lang="pt-BR" sz="12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200" dirty="0">
                <a:solidFill>
                  <a:srgbClr val="473729"/>
                </a:solidFill>
                <a:latin typeface="Gill Sans Std Light" pitchFamily="34" charset="0"/>
              </a:rPr>
              <a:t>TD Natura -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  <a:hlinkClick r:id="rId3"/>
              </a:rPr>
              <a:t>www.facebook.com/groups/tdnatura/</a:t>
            </a:r>
            <a:endParaRPr lang="pt-BR" sz="12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espaço </a:t>
            </a:r>
            <a:r>
              <a:rPr lang="pt-BR" sz="1200" dirty="0">
                <a:solidFill>
                  <a:srgbClr val="473729"/>
                </a:solidFill>
                <a:latin typeface="Gill Sans Std Light" pitchFamily="34" charset="0"/>
              </a:rPr>
              <a:t>de compartilhamento de ideias, acontecimentos e tendências do mundo digital que se conectam ao negócio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Natura</a:t>
            </a: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criado em 09 julho 2014</a:t>
            </a: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183 Colaboradores Natura - TD e outras áreas</a:t>
            </a: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centenas de postagens</a:t>
            </a:r>
          </a:p>
          <a:p>
            <a:pPr defTabSz="1088369"/>
            <a:endParaRPr lang="pt-BR" sz="12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e um </a:t>
            </a:r>
            <a:r>
              <a:rPr lang="pt-BR" sz="1200" dirty="0">
                <a:solidFill>
                  <a:srgbClr val="473729"/>
                </a:solidFill>
                <a:latin typeface="Gill Sans Std Light" pitchFamily="34" charset="0"/>
              </a:rPr>
              <a:t>canal no Youtube - </a:t>
            </a:r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  <a:hlinkClick r:id="rId4"/>
              </a:rPr>
              <a:t>www.youtube.com/user/TimeTDNatura/videos</a:t>
            </a:r>
            <a:endParaRPr lang="pt-BR" sz="12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lvl="1" defTabSz="1088369"/>
            <a:r>
              <a:rPr lang="pt-BR" sz="1200" dirty="0" smtClean="0">
                <a:solidFill>
                  <a:srgbClr val="473729"/>
                </a:solidFill>
                <a:latin typeface="Gill Sans Std Light" pitchFamily="34" charset="0"/>
              </a:rPr>
              <a:t>11 vídeos</a:t>
            </a:r>
          </a:p>
          <a:p>
            <a:pPr defTabSz="1088369"/>
            <a:endParaRPr lang="pt-BR" sz="1400" dirty="0">
              <a:solidFill>
                <a:srgbClr val="473729"/>
              </a:solidFill>
              <a:latin typeface="Gill Sans Std" pitchFamily="34" charset="0"/>
            </a:endParaRPr>
          </a:p>
          <a:p>
            <a:pPr defTabSz="1088369"/>
            <a:endParaRPr lang="pt-BR" sz="1400" dirty="0">
              <a:solidFill>
                <a:srgbClr val="473729"/>
              </a:solidFill>
              <a:latin typeface="Gill Sans Std" pitchFamily="34" charset="0"/>
            </a:endParaRPr>
          </a:p>
          <a:p>
            <a:pPr lvl="1" defTabSz="1088369"/>
            <a:endParaRPr lang="pt-BR" sz="1400" dirty="0" smtClean="0">
              <a:solidFill>
                <a:srgbClr val="473729"/>
              </a:solidFill>
              <a:latin typeface="Gill Sans Std" pitchFamily="34" charset="0"/>
            </a:endParaRPr>
          </a:p>
        </p:txBody>
      </p:sp>
      <p:pic>
        <p:nvPicPr>
          <p:cNvPr id="18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06" t="17075" r="27039" b="4504"/>
          <a:stretch/>
        </p:blipFill>
        <p:spPr bwMode="auto">
          <a:xfrm>
            <a:off x="4492747" y="1219302"/>
            <a:ext cx="4219952" cy="30521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9" name="Picture 3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7475" r="1480" b="6226"/>
          <a:stretch/>
        </p:blipFill>
        <p:spPr bwMode="auto">
          <a:xfrm>
            <a:off x="2839778" y="3627872"/>
            <a:ext cx="3305938" cy="14401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312349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PLANEJAMENTO ESTRATÉGICO E COMUNICAÇÃO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Retângulo 15"/>
          <p:cNvSpPr/>
          <p:nvPr/>
        </p:nvSpPr>
        <p:spPr>
          <a:xfrm>
            <a:off x="0" y="772344"/>
            <a:ext cx="53917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1088369"/>
            <a:r>
              <a:rPr lang="pt-BR" dirty="0" smtClean="0">
                <a:solidFill>
                  <a:srgbClr val="473729"/>
                </a:solidFill>
                <a:latin typeface="Gill Sans Std" pitchFamily="34" charset="0"/>
              </a:rPr>
              <a:t>COMUNICAÇÃO TD: DIFICULDADES E PROPOSTAS</a:t>
            </a:r>
            <a:endParaRPr lang="pt-BR" dirty="0">
              <a:solidFill>
                <a:srgbClr val="473729"/>
              </a:solidFill>
              <a:latin typeface="Gill Sans Std Light" pitchFamily="34" charset="0"/>
            </a:endParaRPr>
          </a:p>
        </p:txBody>
      </p:sp>
      <p:sp>
        <p:nvSpPr>
          <p:cNvPr id="10" name="Retângulo 9"/>
          <p:cNvSpPr/>
          <p:nvPr/>
        </p:nvSpPr>
        <p:spPr>
          <a:xfrm>
            <a:off x="4960242" y="1348408"/>
            <a:ext cx="4004246" cy="3556998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não temos canal de comunicação para “terceiros”</a:t>
            </a:r>
          </a:p>
          <a:p>
            <a:pPr marL="742740" lvl="1" indent="-285750" defTabSz="1088369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a difusão de comunicados gerais é mediada pelos gestores específicos de cada time, gerando inconsistência na comunicação</a:t>
            </a:r>
          </a:p>
          <a:p>
            <a:pPr marL="742740" lvl="1" indent="-285750" defTabSz="1088369">
              <a:buFont typeface="Arial" pitchFamily="34" charset="0"/>
              <a:buChar char="•"/>
            </a:pPr>
            <a:endParaRPr lang="pt-BR" sz="14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áreas internas não se apropriam dos canais existentes para endereçar comunicações aos times</a:t>
            </a:r>
          </a:p>
          <a:p>
            <a:pPr marL="742740" lvl="1" indent="-285750" defTabSz="1088369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ausência de postagens no Blog TD</a:t>
            </a:r>
          </a:p>
          <a:p>
            <a:pPr marL="742740" lvl="1" indent="-285750" defTabSz="1088369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não há solicitações de peças de comunicação para projetos e lançamentos</a:t>
            </a:r>
          </a:p>
          <a:p>
            <a:pPr marL="742740" lvl="1" indent="-285750" defTabSz="1088369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algumas exceções (p.ex., time SAP Global, atendimentoTD)</a:t>
            </a:r>
          </a:p>
          <a:p>
            <a:pPr defTabSz="1088369"/>
            <a:endParaRPr lang="pt-BR" sz="14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400" b="1" dirty="0" smtClean="0">
                <a:solidFill>
                  <a:srgbClr val="473729"/>
                </a:solidFill>
                <a:latin typeface="Gill Sans Std Light" pitchFamily="34" charset="0"/>
              </a:rPr>
              <a:t>proposta 2015 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- reativação de ações no site TD Lapa, kit “Bem Vindo TD”, ativação dos canais digitais (novo portal e piloto do </a:t>
            </a:r>
            <a:r>
              <a:rPr lang="pt-BR" sz="1400" dirty="0" err="1" smtClean="0">
                <a:solidFill>
                  <a:srgbClr val="473729"/>
                </a:solidFill>
                <a:latin typeface="Gill Sans Std Light" pitchFamily="34" charset="0"/>
              </a:rPr>
              <a:t>Cards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 de Tecnologia)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107504" y="1348408"/>
            <a:ext cx="4536504" cy="3556998"/>
          </a:xfrm>
          <a:prstGeom prst="rect">
            <a:avLst/>
          </a:prstGeom>
        </p:spPr>
        <p:txBody>
          <a:bodyPr wrap="square" lIns="108837" tIns="54419" rIns="108837" bIns="54419">
            <a:spAutoFit/>
          </a:bodyPr>
          <a:lstStyle/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organização do portal TD atual (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  <a:hlinkClick r:id="rId3"/>
              </a:rPr>
              <a:t>timetd.natura.net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) é complexo e não facilita visualização e acesso aos conteúdos</a:t>
            </a:r>
          </a:p>
          <a:p>
            <a:pPr marL="742740" lvl="1" indent="-285750" defTabSz="1088369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lançaremos novo site com organização e navegação simplificada (atraso no deadline março/2015 por concorrência com demanda 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prioritária)</a:t>
            </a:r>
            <a:endParaRPr lang="pt-BR" sz="1400" dirty="0" smtClean="0">
              <a:solidFill>
                <a:srgbClr val="473729"/>
              </a:solidFill>
              <a:latin typeface="Gill Sans Std Light" pitchFamily="34" charset="0"/>
            </a:endParaRPr>
          </a:p>
          <a:p>
            <a:pPr marL="285750" indent="-285750" defTabSz="1088369">
              <a:buFont typeface="Arial" pitchFamily="34" charset="0"/>
              <a:buChar char="•"/>
            </a:pPr>
            <a:endParaRPr lang="pt-BR" sz="14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comunicação deficiente com </a:t>
            </a:r>
            <a:r>
              <a:rPr lang="pt-BR" sz="1400" dirty="0">
                <a:solidFill>
                  <a:srgbClr val="473729"/>
                </a:solidFill>
                <a:latin typeface="Gill Sans Std Light" pitchFamily="34" charset="0"/>
              </a:rPr>
              <a:t>C</a:t>
            </a: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olaboradores TD que atuam prioritariamente em outros sites (p.ex., GRPs)</a:t>
            </a:r>
          </a:p>
          <a:p>
            <a:pPr marL="742740" lvl="1" indent="-285750" defTabSz="1088369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colaboradores não tem acesso a comunicações de reuniões presenciais e ações no espaço TD Lapa</a:t>
            </a:r>
          </a:p>
          <a:p>
            <a:pPr marL="742740" lvl="1" indent="-285750" defTabSz="1088369">
              <a:buFont typeface="Arial" pitchFamily="34" charset="0"/>
              <a:buChar char="•"/>
            </a:pPr>
            <a:endParaRPr lang="pt-BR" sz="1400" dirty="0">
              <a:solidFill>
                <a:srgbClr val="473729"/>
              </a:solidFill>
              <a:latin typeface="Gill Sans Std Light" pitchFamily="34" charset="0"/>
            </a:endParaRPr>
          </a:p>
          <a:p>
            <a:pPr defTabSz="1088369"/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restrições no uso do Mural de Comunicação Corporativa</a:t>
            </a:r>
          </a:p>
          <a:p>
            <a:pPr marL="742740" lvl="1" indent="-285750" defTabSz="1088369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alternativa - mural digital nas TVs digitais no espaço TD (em protótipo)</a:t>
            </a:r>
          </a:p>
          <a:p>
            <a:pPr marL="742740" lvl="1" indent="-285750" defTabSz="1088369">
              <a:buFont typeface="Arial" pitchFamily="34" charset="0"/>
              <a:buChar char="•"/>
            </a:pPr>
            <a:r>
              <a:rPr lang="pt-BR" sz="1400" dirty="0" smtClean="0">
                <a:solidFill>
                  <a:srgbClr val="473729"/>
                </a:solidFill>
                <a:latin typeface="Gill Sans Std Light" pitchFamily="34" charset="0"/>
              </a:rPr>
              <a:t>inserir mural digital no novo Portal TD</a:t>
            </a:r>
          </a:p>
        </p:txBody>
      </p:sp>
    </p:spTree>
    <p:extLst>
      <p:ext uri="{BB962C8B-B14F-4D97-AF65-F5344CB8AC3E}">
        <p14:creationId xmlns:p14="http://schemas.microsoft.com/office/powerpoint/2010/main" val="1865080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DEMANDAS</a:t>
            </a:r>
            <a:endParaRPr lang="pt-BR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2540290275"/>
              </p:ext>
            </p:extLst>
          </p:nvPr>
        </p:nvGraphicFramePr>
        <p:xfrm>
          <a:off x="305526" y="702047"/>
          <a:ext cx="8226914" cy="1366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Retângulo 4"/>
          <p:cNvSpPr/>
          <p:nvPr/>
        </p:nvSpPr>
        <p:spPr>
          <a:xfrm>
            <a:off x="116505" y="4747248"/>
            <a:ext cx="8919927" cy="273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506" tIns="25756" rIns="51506" bIns="25756" rtlCol="0" anchor="ctr"/>
          <a:lstStyle/>
          <a:p>
            <a:r>
              <a:rPr lang="pt-BR" sz="12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ill Sans Std Light" pitchFamily="34" charset="0"/>
              </a:rPr>
              <a:t>2015 =&gt; Base de demandas ferramenta Clarity – PPM CA</a:t>
            </a:r>
            <a:endParaRPr lang="pt-BR" sz="1200" b="1" dirty="0">
              <a:solidFill>
                <a:schemeClr val="tx1">
                  <a:lumMod val="50000"/>
                  <a:lumOff val="50000"/>
                </a:schemeClr>
              </a:solidFill>
              <a:latin typeface="Gill Sans Std Light" pitchFamily="34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761994" y="2449102"/>
            <a:ext cx="2801894" cy="1851634"/>
            <a:chOff x="-25991" y="1103366"/>
            <a:chExt cx="3627053" cy="2936031"/>
          </a:xfrm>
        </p:grpSpPr>
        <p:graphicFrame>
          <p:nvGraphicFramePr>
            <p:cNvPr id="7" name="Gráfico 6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939118284"/>
                </p:ext>
              </p:extLst>
            </p:nvPr>
          </p:nvGraphicFramePr>
          <p:xfrm>
            <a:off x="-25991" y="1103366"/>
            <a:ext cx="3627053" cy="293603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8"/>
            </a:graphicData>
          </a:graphic>
        </p:graphicFrame>
        <p:sp>
          <p:nvSpPr>
            <p:cNvPr id="9" name="Retângulo 8"/>
            <p:cNvSpPr/>
            <p:nvPr/>
          </p:nvSpPr>
          <p:spPr>
            <a:xfrm>
              <a:off x="819499" y="2278567"/>
              <a:ext cx="730846" cy="58562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pt-BR" b="1" kern="0" dirty="0">
                  <a:latin typeface="Gill Sans Std" pitchFamily="34" charset="0"/>
                  <a:cs typeface="Arial" pitchFamily="34" charset="0"/>
                </a:rPr>
                <a:t>281</a:t>
              </a:r>
              <a:endParaRPr lang="pt-BR" dirty="0"/>
            </a:p>
          </p:txBody>
        </p:sp>
      </p:grpSp>
      <p:sp>
        <p:nvSpPr>
          <p:cNvPr id="10" name="Elipse 9"/>
          <p:cNvSpPr/>
          <p:nvPr/>
        </p:nvSpPr>
        <p:spPr bwMode="auto">
          <a:xfrm>
            <a:off x="4139952" y="1459082"/>
            <a:ext cx="540807" cy="3369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rgbClr val="4C0026"/>
                </a:solidFill>
                <a:ea typeface="ヒラギノ角ゴ ProN W3" charset="0"/>
              </a:rPr>
              <a:t>P1</a:t>
            </a:r>
          </a:p>
        </p:txBody>
      </p:sp>
      <p:sp>
        <p:nvSpPr>
          <p:cNvPr id="11" name="Elipse 10"/>
          <p:cNvSpPr/>
          <p:nvPr/>
        </p:nvSpPr>
        <p:spPr bwMode="auto">
          <a:xfrm>
            <a:off x="6948264" y="1459082"/>
            <a:ext cx="540807" cy="3369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rgbClr val="4C0026"/>
                </a:solidFill>
                <a:ea typeface="ヒラギノ角ゴ ProN W3" charset="0"/>
              </a:rPr>
              <a:t>P2</a:t>
            </a:r>
          </a:p>
        </p:txBody>
      </p:sp>
      <p:sp>
        <p:nvSpPr>
          <p:cNvPr id="12" name="Elipse 11"/>
          <p:cNvSpPr/>
          <p:nvPr/>
        </p:nvSpPr>
        <p:spPr bwMode="auto">
          <a:xfrm>
            <a:off x="8244408" y="1459082"/>
            <a:ext cx="540807" cy="3369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BR" sz="1100" b="1" dirty="0" smtClean="0">
                <a:solidFill>
                  <a:srgbClr val="4C0026"/>
                </a:solidFill>
                <a:ea typeface="ヒラギノ角ゴ ProN W3" charset="0"/>
              </a:rPr>
              <a:t>P3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830751" y="2212504"/>
            <a:ext cx="16530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1200" b="1" kern="0" dirty="0" smtClean="0">
                <a:latin typeface="Gill Sans Std" pitchFamily="34" charset="0"/>
                <a:cs typeface="Arial" pitchFamily="34" charset="0"/>
              </a:rPr>
              <a:t>Total </a:t>
            </a:r>
            <a:br>
              <a:rPr lang="pt-BR" sz="1200" b="1" kern="0" dirty="0" smtClean="0">
                <a:latin typeface="Gill Sans Std" pitchFamily="34" charset="0"/>
                <a:cs typeface="Arial" pitchFamily="34" charset="0"/>
              </a:rPr>
            </a:br>
            <a:r>
              <a:rPr lang="pt-BR" sz="1200" b="1" kern="0" dirty="0" smtClean="0">
                <a:latin typeface="Gill Sans Std" pitchFamily="34" charset="0"/>
                <a:cs typeface="Arial" pitchFamily="34" charset="0"/>
              </a:rPr>
              <a:t>Demandas TD 2015 </a:t>
            </a:r>
            <a:endParaRPr lang="pt-BR" sz="1200" b="1" dirty="0"/>
          </a:p>
        </p:txBody>
      </p:sp>
      <p:graphicFrame>
        <p:nvGraphicFramePr>
          <p:cNvPr id="15" name="Gráfico 1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2621951"/>
              </p:ext>
            </p:extLst>
          </p:nvPr>
        </p:nvGraphicFramePr>
        <p:xfrm>
          <a:off x="4565515" y="2212504"/>
          <a:ext cx="3565143" cy="21390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7" name="Elipse 16"/>
          <p:cNvSpPr/>
          <p:nvPr/>
        </p:nvSpPr>
        <p:spPr bwMode="auto">
          <a:xfrm>
            <a:off x="1330893" y="1459082"/>
            <a:ext cx="540807" cy="336926"/>
          </a:xfrm>
          <a:prstGeom prst="ellipse">
            <a:avLst/>
          </a:prstGeom>
          <a:solidFill>
            <a:schemeClr val="tx2"/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chemeClr val="bg1"/>
                </a:solidFill>
                <a:ea typeface="ヒラギノ角ゴ ProN W3" charset="0"/>
              </a:rPr>
              <a:t>P0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5508104" y="2894470"/>
            <a:ext cx="907125" cy="367376"/>
            <a:chOff x="5033027" y="2894470"/>
            <a:chExt cx="907125" cy="367376"/>
          </a:xfrm>
        </p:grpSpPr>
        <p:sp>
          <p:nvSpPr>
            <p:cNvPr id="16" name="Seta em curva para baixo 15"/>
            <p:cNvSpPr/>
            <p:nvPr/>
          </p:nvSpPr>
          <p:spPr>
            <a:xfrm>
              <a:off x="5033027" y="2894470"/>
              <a:ext cx="907125" cy="326146"/>
            </a:xfrm>
            <a:prstGeom prst="curved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8" name="CaixaDeTexto 17"/>
            <p:cNvSpPr txBox="1"/>
            <p:nvPr/>
          </p:nvSpPr>
          <p:spPr>
            <a:xfrm>
              <a:off x="5159456" y="2914333"/>
              <a:ext cx="593400" cy="347513"/>
            </a:xfrm>
            <a:prstGeom prst="rect">
              <a:avLst/>
            </a:prstGeom>
            <a:noFill/>
          </p:spPr>
          <p:txBody>
            <a:bodyPr wrap="none" lIns="161274" tIns="80636" rIns="161274" bIns="80636" rtlCol="0">
              <a:spAutoFit/>
            </a:bodyPr>
            <a:lstStyle/>
            <a:p>
              <a:pPr defTabSz="1612737"/>
              <a:r>
                <a:rPr lang="pt-BR" sz="1200" dirty="0" smtClean="0">
                  <a:solidFill>
                    <a:srgbClr val="92D050"/>
                  </a:solidFill>
                </a:rPr>
                <a:t>23%</a:t>
              </a:r>
              <a:endParaRPr lang="pt-BR" sz="1200" dirty="0">
                <a:solidFill>
                  <a:srgbClr val="92D05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7478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tângulo 46"/>
          <p:cNvSpPr/>
          <p:nvPr/>
        </p:nvSpPr>
        <p:spPr>
          <a:xfrm>
            <a:off x="116505" y="4747248"/>
            <a:ext cx="8919927" cy="273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506" tIns="25756" rIns="51506" bIns="25756" rtlCol="0" anchor="ctr"/>
          <a:lstStyle/>
          <a:p>
            <a:endParaRPr lang="pt-BR" sz="1200" b="1" dirty="0">
              <a:solidFill>
                <a:schemeClr val="tx1">
                  <a:lumMod val="50000"/>
                  <a:lumOff val="50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DEMANDAS</a:t>
            </a:r>
            <a:endParaRPr lang="pt-BR" b="1" dirty="0" smtClean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ExtraBold" pitchFamily="34" charset="0"/>
            </a:endParaRP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riângulo isósceles 21"/>
          <p:cNvSpPr/>
          <p:nvPr/>
        </p:nvSpPr>
        <p:spPr>
          <a:xfrm rot="5400000">
            <a:off x="8842810" y="4742880"/>
            <a:ext cx="156570" cy="163906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506" tIns="25756" rIns="51506" bIns="25756" rtlCol="0" anchor="ctr"/>
          <a:lstStyle/>
          <a:p>
            <a:pPr algn="ctr"/>
            <a:endParaRPr lang="pt-BR"/>
          </a:p>
        </p:txBody>
      </p:sp>
      <p:sp>
        <p:nvSpPr>
          <p:cNvPr id="29" name="Retângulo 28"/>
          <p:cNvSpPr/>
          <p:nvPr/>
        </p:nvSpPr>
        <p:spPr>
          <a:xfrm>
            <a:off x="1567154" y="4743817"/>
            <a:ext cx="1213794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pt-BR" sz="900" dirty="0" smtClean="0">
                <a:latin typeface="Gill Sans Std" pitchFamily="34" charset="0"/>
              </a:rPr>
              <a:t>75 P1´s </a:t>
            </a:r>
            <a:r>
              <a:rPr lang="pt-BR" sz="900" dirty="0" smtClean="0">
                <a:latin typeface="Gill Sans Std" pitchFamily="34" charset="0"/>
              </a:rPr>
              <a:t>TD =&gt; 80MM</a:t>
            </a:r>
            <a:endParaRPr lang="pt-BR" sz="900" dirty="0">
              <a:latin typeface="Gill Sans Std" pitchFamily="34" charset="0"/>
            </a:endParaRPr>
          </a:p>
        </p:txBody>
      </p:sp>
      <p:grpSp>
        <p:nvGrpSpPr>
          <p:cNvPr id="7" name="Grupo 6"/>
          <p:cNvGrpSpPr/>
          <p:nvPr/>
        </p:nvGrpSpPr>
        <p:grpSpPr>
          <a:xfrm>
            <a:off x="893941" y="2103300"/>
            <a:ext cx="2638914" cy="2312977"/>
            <a:chOff x="893941" y="2103300"/>
            <a:chExt cx="2638914" cy="2312977"/>
          </a:xfrm>
        </p:grpSpPr>
        <p:graphicFrame>
          <p:nvGraphicFramePr>
            <p:cNvPr id="20" name="Gráfico 19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4283251072"/>
                </p:ext>
              </p:extLst>
            </p:nvPr>
          </p:nvGraphicFramePr>
          <p:xfrm>
            <a:off x="893941" y="2103300"/>
            <a:ext cx="2638914" cy="231297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grpSp>
          <p:nvGrpSpPr>
            <p:cNvPr id="2" name="Grupo 1"/>
            <p:cNvGrpSpPr/>
            <p:nvPr/>
          </p:nvGrpSpPr>
          <p:grpSpPr>
            <a:xfrm>
              <a:off x="1766653" y="2715890"/>
              <a:ext cx="907125" cy="347513"/>
              <a:chOff x="1421650" y="2481740"/>
              <a:chExt cx="907125" cy="347513"/>
            </a:xfrm>
          </p:grpSpPr>
          <p:sp>
            <p:nvSpPr>
              <p:cNvPr id="27" name="Seta em curva para baixo 26"/>
              <p:cNvSpPr/>
              <p:nvPr/>
            </p:nvSpPr>
            <p:spPr>
              <a:xfrm>
                <a:off x="1421650" y="2481740"/>
                <a:ext cx="907125" cy="326146"/>
              </a:xfrm>
              <a:prstGeom prst="curved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CaixaDeTexto 32"/>
              <p:cNvSpPr txBox="1"/>
              <p:nvPr/>
            </p:nvSpPr>
            <p:spPr>
              <a:xfrm>
                <a:off x="1550055" y="2481740"/>
                <a:ext cx="593400" cy="347513"/>
              </a:xfrm>
              <a:prstGeom prst="rect">
                <a:avLst/>
              </a:prstGeom>
              <a:noFill/>
            </p:spPr>
            <p:txBody>
              <a:bodyPr wrap="none" lIns="161274" tIns="80636" rIns="161274" bIns="80636" rtlCol="0">
                <a:spAutoFit/>
              </a:bodyPr>
              <a:lstStyle/>
              <a:p>
                <a:pPr defTabSz="1612737"/>
                <a:r>
                  <a:rPr lang="pt-BR" sz="1200" dirty="0" smtClean="0">
                    <a:solidFill>
                      <a:srgbClr val="92D050"/>
                    </a:solidFill>
                  </a:rPr>
                  <a:t>70%</a:t>
                </a:r>
                <a:endParaRPr lang="pt-BR" sz="1200" dirty="0">
                  <a:solidFill>
                    <a:srgbClr val="92D050"/>
                  </a:solidFill>
                </a:endParaRPr>
              </a:p>
            </p:txBody>
          </p:sp>
        </p:grpSp>
      </p:grpSp>
      <p:sp>
        <p:nvSpPr>
          <p:cNvPr id="34" name="CaixaDeTexto 33"/>
          <p:cNvSpPr txBox="1"/>
          <p:nvPr/>
        </p:nvSpPr>
        <p:spPr>
          <a:xfrm>
            <a:off x="4605480" y="4660776"/>
            <a:ext cx="4287000" cy="439846"/>
          </a:xfrm>
          <a:prstGeom prst="rect">
            <a:avLst/>
          </a:prstGeom>
          <a:noFill/>
        </p:spPr>
        <p:txBody>
          <a:bodyPr wrap="square" lIns="161274" tIns="80636" rIns="161274" bIns="80636" rtlCol="0">
            <a:spAutoFit/>
          </a:bodyPr>
          <a:lstStyle/>
          <a:p>
            <a:pPr algn="ctr" defTabSz="1612737"/>
            <a:r>
              <a:rPr lang="pt-BR" sz="900" dirty="0">
                <a:solidFill>
                  <a:srgbClr val="C00000"/>
                </a:solidFill>
              </a:rPr>
              <a:t>3</a:t>
            </a:r>
            <a:r>
              <a:rPr lang="pt-BR" sz="900" dirty="0" smtClean="0">
                <a:solidFill>
                  <a:srgbClr val="C00000"/>
                </a:solidFill>
              </a:rPr>
              <a:t>0% dos P1´s aprovados não seguiram a  sequencia de alçada</a:t>
            </a:r>
            <a:r>
              <a:rPr lang="pt-BR" sz="900" dirty="0">
                <a:solidFill>
                  <a:srgbClr val="C00000"/>
                </a:solidFill>
              </a:rPr>
              <a:t> </a:t>
            </a:r>
            <a:r>
              <a:rPr lang="pt-BR" sz="900" dirty="0" smtClean="0">
                <a:solidFill>
                  <a:srgbClr val="C00000"/>
                </a:solidFill>
              </a:rPr>
              <a:t>de aprovação:</a:t>
            </a:r>
          </a:p>
          <a:p>
            <a:pPr algn="ctr" defTabSz="1612737"/>
            <a:r>
              <a:rPr lang="pt-BR" sz="900" dirty="0" smtClean="0">
                <a:solidFill>
                  <a:srgbClr val="C00000"/>
                </a:solidFill>
              </a:rPr>
              <a:t>CAD TD&gt;Comitês CIC, COMEX. Destes 10% já haviam iniciado as atividades.</a:t>
            </a:r>
            <a:endParaRPr lang="pt-BR" sz="900" dirty="0">
              <a:solidFill>
                <a:srgbClr val="C00000"/>
              </a:solidFill>
            </a:endParaRPr>
          </a:p>
        </p:txBody>
      </p:sp>
      <p:graphicFrame>
        <p:nvGraphicFramePr>
          <p:cNvPr id="35" name="Diagrama 34"/>
          <p:cNvGraphicFramePr/>
          <p:nvPr>
            <p:extLst>
              <p:ext uri="{D42A27DB-BD31-4B8C-83A1-F6EECF244321}">
                <p14:modId xmlns:p14="http://schemas.microsoft.com/office/powerpoint/2010/main" val="4204118806"/>
              </p:ext>
            </p:extLst>
          </p:nvPr>
        </p:nvGraphicFramePr>
        <p:xfrm>
          <a:off x="305526" y="702047"/>
          <a:ext cx="8226914" cy="1366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36" name="Elipse 35"/>
          <p:cNvSpPr/>
          <p:nvPr/>
        </p:nvSpPr>
        <p:spPr bwMode="auto">
          <a:xfrm>
            <a:off x="1339646" y="1459082"/>
            <a:ext cx="540807" cy="3369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rgbClr val="4C0026"/>
                </a:solidFill>
                <a:ea typeface="ヒラギノ角ゴ ProN W3" charset="0"/>
              </a:rPr>
              <a:t>P0</a:t>
            </a:r>
            <a:endParaRPr lang="pt-BR" sz="1100" b="1" dirty="0" smtClean="0">
              <a:solidFill>
                <a:srgbClr val="4C0026"/>
              </a:solidFill>
              <a:ea typeface="ヒラギノ角ゴ ProN W3" charset="0"/>
            </a:endParaRPr>
          </a:p>
        </p:txBody>
      </p:sp>
      <p:sp>
        <p:nvSpPr>
          <p:cNvPr id="37" name="Elipse 36"/>
          <p:cNvSpPr/>
          <p:nvPr/>
        </p:nvSpPr>
        <p:spPr bwMode="auto">
          <a:xfrm>
            <a:off x="6948264" y="1459082"/>
            <a:ext cx="540807" cy="3369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rgbClr val="4C0026"/>
                </a:solidFill>
                <a:ea typeface="ヒラギノ角ゴ ProN W3" charset="0"/>
              </a:rPr>
              <a:t>P2</a:t>
            </a:r>
          </a:p>
        </p:txBody>
      </p:sp>
      <p:sp>
        <p:nvSpPr>
          <p:cNvPr id="38" name="Elipse 37"/>
          <p:cNvSpPr/>
          <p:nvPr/>
        </p:nvSpPr>
        <p:spPr bwMode="auto">
          <a:xfrm>
            <a:off x="8244408" y="1459082"/>
            <a:ext cx="540807" cy="3369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BR" sz="1100" b="1" dirty="0" smtClean="0">
                <a:solidFill>
                  <a:srgbClr val="4C0026"/>
                </a:solidFill>
                <a:ea typeface="ヒラギノ角ゴ ProN W3" charset="0"/>
              </a:rPr>
              <a:t>P3</a:t>
            </a:r>
          </a:p>
        </p:txBody>
      </p:sp>
      <p:sp>
        <p:nvSpPr>
          <p:cNvPr id="39" name="Elipse 38"/>
          <p:cNvSpPr/>
          <p:nvPr/>
        </p:nvSpPr>
        <p:spPr bwMode="auto">
          <a:xfrm>
            <a:off x="4139952" y="1459082"/>
            <a:ext cx="540807" cy="336926"/>
          </a:xfrm>
          <a:prstGeom prst="ellipse">
            <a:avLst/>
          </a:prstGeom>
          <a:solidFill>
            <a:schemeClr val="tx2"/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chemeClr val="bg1"/>
                </a:solidFill>
                <a:ea typeface="ヒラギノ角ゴ ProN W3" charset="0"/>
              </a:rPr>
              <a:t>P1</a:t>
            </a:r>
            <a:endParaRPr lang="pt-BR" sz="1100" b="1" dirty="0" smtClean="0">
              <a:solidFill>
                <a:schemeClr val="bg1"/>
              </a:solidFill>
              <a:ea typeface="ヒラギノ角ゴ ProN W3" charset="0"/>
            </a:endParaRPr>
          </a:p>
        </p:txBody>
      </p:sp>
      <p:grpSp>
        <p:nvGrpSpPr>
          <p:cNvPr id="6" name="Grupo 5"/>
          <p:cNvGrpSpPr/>
          <p:nvPr/>
        </p:nvGrpSpPr>
        <p:grpSpPr>
          <a:xfrm>
            <a:off x="4283968" y="2151872"/>
            <a:ext cx="4023728" cy="2215834"/>
            <a:chOff x="4540769" y="2151872"/>
            <a:chExt cx="4023728" cy="2215834"/>
          </a:xfrm>
        </p:grpSpPr>
        <p:graphicFrame>
          <p:nvGraphicFramePr>
            <p:cNvPr id="41" name="Gráfico 40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863975766"/>
                </p:ext>
              </p:extLst>
            </p:nvPr>
          </p:nvGraphicFramePr>
          <p:xfrm>
            <a:off x="4540769" y="2151872"/>
            <a:ext cx="4023728" cy="221583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9"/>
            </a:graphicData>
          </a:graphic>
        </p:graphicFrame>
        <p:grpSp>
          <p:nvGrpSpPr>
            <p:cNvPr id="5" name="Grupo 4"/>
            <p:cNvGrpSpPr/>
            <p:nvPr/>
          </p:nvGrpSpPr>
          <p:grpSpPr>
            <a:xfrm>
              <a:off x="6560035" y="2716560"/>
              <a:ext cx="604253" cy="347513"/>
              <a:chOff x="6560035" y="2801095"/>
              <a:chExt cx="604253" cy="347513"/>
            </a:xfrm>
          </p:grpSpPr>
          <p:sp>
            <p:nvSpPr>
              <p:cNvPr id="43" name="Seta em curva para baixo 42"/>
              <p:cNvSpPr/>
              <p:nvPr/>
            </p:nvSpPr>
            <p:spPr>
              <a:xfrm rot="299091">
                <a:off x="6560035" y="2858674"/>
                <a:ext cx="587820" cy="231663"/>
              </a:xfrm>
              <a:prstGeom prst="curvedDownArrow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CaixaDeTexto 43"/>
              <p:cNvSpPr txBox="1"/>
              <p:nvPr/>
            </p:nvSpPr>
            <p:spPr>
              <a:xfrm>
                <a:off x="6570888" y="2801095"/>
                <a:ext cx="593400" cy="347513"/>
              </a:xfrm>
              <a:prstGeom prst="rect">
                <a:avLst/>
              </a:prstGeom>
              <a:noFill/>
            </p:spPr>
            <p:txBody>
              <a:bodyPr wrap="none" lIns="161274" tIns="80636" rIns="161274" bIns="80636" rtlCol="0">
                <a:spAutoFit/>
              </a:bodyPr>
              <a:lstStyle/>
              <a:p>
                <a:pPr defTabSz="1612737"/>
                <a:r>
                  <a:rPr lang="pt-BR" sz="1200" dirty="0" smtClean="0">
                    <a:solidFill>
                      <a:srgbClr val="92D050"/>
                    </a:solidFill>
                  </a:rPr>
                  <a:t>60%</a:t>
                </a:r>
                <a:endParaRPr lang="pt-BR" sz="1200" dirty="0">
                  <a:solidFill>
                    <a:srgbClr val="92D050"/>
                  </a:solidFill>
                </a:endParaRPr>
              </a:p>
            </p:txBody>
          </p:sp>
        </p:grpSp>
        <p:sp>
          <p:nvSpPr>
            <p:cNvPr id="45" name="CaixaDeTexto 44"/>
            <p:cNvSpPr txBox="1"/>
            <p:nvPr/>
          </p:nvSpPr>
          <p:spPr>
            <a:xfrm>
              <a:off x="7723016" y="2932584"/>
              <a:ext cx="593400" cy="347513"/>
            </a:xfrm>
            <a:prstGeom prst="rect">
              <a:avLst/>
            </a:prstGeom>
            <a:noFill/>
          </p:spPr>
          <p:txBody>
            <a:bodyPr wrap="none" lIns="161274" tIns="80636" rIns="161274" bIns="80636" rtlCol="0">
              <a:spAutoFit/>
            </a:bodyPr>
            <a:lstStyle/>
            <a:p>
              <a:pPr defTabSz="1612737"/>
              <a:r>
                <a:rPr lang="pt-BR" sz="1200" dirty="0">
                  <a:solidFill>
                    <a:srgbClr val="92D050"/>
                  </a:solidFill>
                </a:rPr>
                <a:t>8</a:t>
              </a:r>
              <a:r>
                <a:rPr lang="pt-BR" sz="1200" dirty="0" smtClean="0">
                  <a:solidFill>
                    <a:srgbClr val="92D050"/>
                  </a:solidFill>
                </a:rPr>
                <a:t>0%</a:t>
              </a:r>
              <a:endParaRPr lang="pt-BR" sz="1200" dirty="0">
                <a:solidFill>
                  <a:srgbClr val="92D050"/>
                </a:solidFill>
              </a:endParaRPr>
            </a:p>
          </p:txBody>
        </p:sp>
        <p:sp>
          <p:nvSpPr>
            <p:cNvPr id="46" name="Seta em curva para baixo 45"/>
            <p:cNvSpPr/>
            <p:nvPr/>
          </p:nvSpPr>
          <p:spPr>
            <a:xfrm rot="299091">
              <a:off x="7720588" y="2949268"/>
              <a:ext cx="587820" cy="231663"/>
            </a:xfrm>
            <a:prstGeom prst="curvedDownArrow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6050997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PORTFÓLIO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 PMO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riângulo isósceles 4"/>
          <p:cNvSpPr/>
          <p:nvPr/>
        </p:nvSpPr>
        <p:spPr>
          <a:xfrm rot="5400000">
            <a:off x="8842810" y="4742880"/>
            <a:ext cx="156570" cy="163906"/>
          </a:xfrm>
          <a:prstGeom prst="triangl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506" tIns="25756" rIns="51506" bIns="25756" rtlCol="0" anchor="ctr"/>
          <a:lstStyle/>
          <a:p>
            <a:pPr algn="ctr"/>
            <a:endParaRPr lang="pt-BR"/>
          </a:p>
        </p:txBody>
      </p:sp>
      <p:grpSp>
        <p:nvGrpSpPr>
          <p:cNvPr id="3" name="Grupo 2"/>
          <p:cNvGrpSpPr/>
          <p:nvPr/>
        </p:nvGrpSpPr>
        <p:grpSpPr>
          <a:xfrm>
            <a:off x="4614945" y="2212504"/>
            <a:ext cx="3897433" cy="2306784"/>
            <a:chOff x="4617378" y="2031690"/>
            <a:chExt cx="3897433" cy="2306784"/>
          </a:xfrm>
        </p:grpSpPr>
        <p:graphicFrame>
          <p:nvGraphicFramePr>
            <p:cNvPr id="12" name="Gráfico 11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234648540"/>
                </p:ext>
              </p:extLst>
            </p:nvPr>
          </p:nvGraphicFramePr>
          <p:xfrm>
            <a:off x="4617378" y="2031690"/>
            <a:ext cx="3897433" cy="2306784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13" name="Retângulo 12"/>
            <p:cNvSpPr/>
            <p:nvPr/>
          </p:nvSpPr>
          <p:spPr>
            <a:xfrm>
              <a:off x="5220072" y="2788568"/>
              <a:ext cx="846707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100" dirty="0" smtClean="0">
                  <a:latin typeface="Gill Sans Std" pitchFamily="34" charset="0"/>
                  <a:ea typeface="Verdana" pitchFamily="34" charset="0"/>
                  <a:cs typeface="Verdana" pitchFamily="34" charset="0"/>
                </a:rPr>
                <a:t>18 projetos</a:t>
              </a:r>
              <a:endParaRPr lang="pt-BR" sz="1100" dirty="0">
                <a:latin typeface="Gill Sans Std" pitchFamily="34" charset="0"/>
              </a:endParaRP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6981175" y="2814990"/>
              <a:ext cx="1119217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100" dirty="0" smtClean="0">
                  <a:latin typeface="Gill Sans Std" pitchFamily="34" charset="0"/>
                  <a:ea typeface="Verdana" pitchFamily="34" charset="0"/>
                  <a:cs typeface="Verdana" pitchFamily="34" charset="0"/>
                </a:rPr>
                <a:t>Top 30 projetos</a:t>
              </a:r>
              <a:endParaRPr lang="pt-BR" sz="1100" dirty="0">
                <a:latin typeface="Gill Sans Std" pitchFamily="34" charset="0"/>
              </a:endParaRPr>
            </a:p>
          </p:txBody>
        </p:sp>
      </p:grpSp>
      <p:grpSp>
        <p:nvGrpSpPr>
          <p:cNvPr id="21" name="Grupo 20"/>
          <p:cNvGrpSpPr/>
          <p:nvPr/>
        </p:nvGrpSpPr>
        <p:grpSpPr>
          <a:xfrm>
            <a:off x="539972" y="2350871"/>
            <a:ext cx="3599980" cy="2021873"/>
            <a:chOff x="395536" y="2227468"/>
            <a:chExt cx="3599980" cy="2021873"/>
          </a:xfrm>
        </p:grpSpPr>
        <p:graphicFrame>
          <p:nvGraphicFramePr>
            <p:cNvPr id="11" name="Gráfico 10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605571501"/>
                </p:ext>
              </p:extLst>
            </p:nvPr>
          </p:nvGraphicFramePr>
          <p:xfrm>
            <a:off x="395536" y="2227468"/>
            <a:ext cx="3599980" cy="2021873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4"/>
            </a:graphicData>
          </a:graphic>
        </p:graphicFrame>
        <p:sp>
          <p:nvSpPr>
            <p:cNvPr id="2" name="CaixaDeTexto 1"/>
            <p:cNvSpPr txBox="1"/>
            <p:nvPr/>
          </p:nvSpPr>
          <p:spPr>
            <a:xfrm>
              <a:off x="1587241" y="2557736"/>
              <a:ext cx="96853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900" dirty="0" smtClean="0">
                  <a:latin typeface="Gill Sans Std" pitchFamily="34" charset="0"/>
                </a:rPr>
                <a:t>(</a:t>
              </a:r>
              <a:r>
                <a:rPr lang="pt-BR" sz="900" dirty="0" smtClean="0">
                  <a:latin typeface="Gill Sans Std" pitchFamily="34" charset="0"/>
                </a:rPr>
                <a:t>Prazo e Custo)</a:t>
              </a:r>
              <a:endParaRPr lang="pt-BR" sz="900" dirty="0">
                <a:latin typeface="Gill Sans Std" pitchFamily="34" charset="0"/>
              </a:endParaRPr>
            </a:p>
          </p:txBody>
        </p:sp>
      </p:grpSp>
      <p:graphicFrame>
        <p:nvGraphicFramePr>
          <p:cNvPr id="16" name="Diagrama 15"/>
          <p:cNvGraphicFramePr/>
          <p:nvPr>
            <p:extLst>
              <p:ext uri="{D42A27DB-BD31-4B8C-83A1-F6EECF244321}">
                <p14:modId xmlns:p14="http://schemas.microsoft.com/office/powerpoint/2010/main" val="259217417"/>
              </p:ext>
            </p:extLst>
          </p:nvPr>
        </p:nvGraphicFramePr>
        <p:xfrm>
          <a:off x="305526" y="702047"/>
          <a:ext cx="8226914" cy="1366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17" name="Elipse 16"/>
          <p:cNvSpPr/>
          <p:nvPr/>
        </p:nvSpPr>
        <p:spPr bwMode="auto">
          <a:xfrm>
            <a:off x="4139952" y="1492424"/>
            <a:ext cx="540807" cy="3369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rgbClr val="4C0026"/>
                </a:solidFill>
                <a:ea typeface="ヒラギノ角ゴ ProN W3" charset="0"/>
              </a:rPr>
              <a:t>P1</a:t>
            </a:r>
          </a:p>
        </p:txBody>
      </p:sp>
      <p:sp>
        <p:nvSpPr>
          <p:cNvPr id="18" name="Elipse 17"/>
          <p:cNvSpPr/>
          <p:nvPr/>
        </p:nvSpPr>
        <p:spPr bwMode="auto">
          <a:xfrm>
            <a:off x="1331640" y="1492424"/>
            <a:ext cx="540807" cy="3369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rgbClr val="4C0026"/>
                </a:solidFill>
                <a:ea typeface="ヒラギノ角ゴ ProN W3" charset="0"/>
              </a:rPr>
              <a:t>P0</a:t>
            </a:r>
            <a:endParaRPr lang="pt-BR" sz="1100" b="1" dirty="0" smtClean="0">
              <a:solidFill>
                <a:srgbClr val="4C0026"/>
              </a:solidFill>
              <a:ea typeface="ヒラギノ角ゴ ProN W3" charset="0"/>
            </a:endParaRPr>
          </a:p>
        </p:txBody>
      </p:sp>
      <p:sp>
        <p:nvSpPr>
          <p:cNvPr id="19" name="Elipse 18"/>
          <p:cNvSpPr/>
          <p:nvPr/>
        </p:nvSpPr>
        <p:spPr bwMode="auto">
          <a:xfrm>
            <a:off x="8244408" y="1492424"/>
            <a:ext cx="540807" cy="3369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BR" sz="1100" b="1" dirty="0" smtClean="0">
                <a:solidFill>
                  <a:srgbClr val="4C0026"/>
                </a:solidFill>
                <a:ea typeface="ヒラギノ角ゴ ProN W3" charset="0"/>
              </a:rPr>
              <a:t>P3</a:t>
            </a:r>
          </a:p>
        </p:txBody>
      </p:sp>
      <p:sp>
        <p:nvSpPr>
          <p:cNvPr id="20" name="Elipse 19"/>
          <p:cNvSpPr/>
          <p:nvPr/>
        </p:nvSpPr>
        <p:spPr bwMode="auto">
          <a:xfrm>
            <a:off x="6996592" y="1492424"/>
            <a:ext cx="540807" cy="336926"/>
          </a:xfrm>
          <a:prstGeom prst="ellipse">
            <a:avLst/>
          </a:prstGeom>
          <a:solidFill>
            <a:schemeClr val="tx2"/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chemeClr val="bg1"/>
                </a:solidFill>
                <a:ea typeface="ヒラギノ角ゴ ProN W3" charset="0"/>
              </a:rPr>
              <a:t>P2</a:t>
            </a:r>
            <a:endParaRPr lang="pt-BR" sz="1100" b="1" dirty="0" smtClean="0">
              <a:solidFill>
                <a:schemeClr val="bg1"/>
              </a:solidFill>
              <a:ea typeface="ヒラギノ角ゴ ProN W3" charset="0"/>
            </a:endParaRPr>
          </a:p>
        </p:txBody>
      </p:sp>
      <p:sp>
        <p:nvSpPr>
          <p:cNvPr id="22" name="Retângulo 21"/>
          <p:cNvSpPr/>
          <p:nvPr/>
        </p:nvSpPr>
        <p:spPr>
          <a:xfrm>
            <a:off x="116505" y="4747248"/>
            <a:ext cx="8919927" cy="273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506" tIns="25756" rIns="51506" bIns="25756" rtlCol="0" anchor="ctr"/>
          <a:lstStyle/>
          <a:p>
            <a:endParaRPr lang="pt-BR" sz="1200" b="1" dirty="0">
              <a:solidFill>
                <a:schemeClr val="tx1">
                  <a:lumMod val="50000"/>
                  <a:lumOff val="50000"/>
                </a:schemeClr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1789077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PORTFÓLIO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 PMO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Governança TD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upo 2"/>
          <p:cNvGrpSpPr/>
          <p:nvPr/>
        </p:nvGrpSpPr>
        <p:grpSpPr>
          <a:xfrm>
            <a:off x="1377018" y="2356520"/>
            <a:ext cx="6075302" cy="2285460"/>
            <a:chOff x="656938" y="2356520"/>
            <a:chExt cx="6075302" cy="2285460"/>
          </a:xfrm>
        </p:grpSpPr>
        <p:graphicFrame>
          <p:nvGraphicFramePr>
            <p:cNvPr id="11" name="Gráfico 10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327135845"/>
                </p:ext>
              </p:extLst>
            </p:nvPr>
          </p:nvGraphicFramePr>
          <p:xfrm>
            <a:off x="656938" y="2356520"/>
            <a:ext cx="6075302" cy="2285460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  <p:sp>
          <p:nvSpPr>
            <p:cNvPr id="2" name="Retângulo 1"/>
            <p:cNvSpPr/>
            <p:nvPr/>
          </p:nvSpPr>
          <p:spPr>
            <a:xfrm>
              <a:off x="4139952" y="3643372"/>
              <a:ext cx="57259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dirty="0" smtClean="0">
                  <a:solidFill>
                    <a:schemeClr val="bg1"/>
                  </a:solidFill>
                  <a:latin typeface="Gill Sans Std" pitchFamily="34" charset="0"/>
                </a:rPr>
                <a:t>60%</a:t>
              </a:r>
              <a:endParaRPr lang="pt-BR" dirty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12" name="Diagrama 11"/>
          <p:cNvGraphicFramePr/>
          <p:nvPr>
            <p:extLst>
              <p:ext uri="{D42A27DB-BD31-4B8C-83A1-F6EECF244321}">
                <p14:modId xmlns:p14="http://schemas.microsoft.com/office/powerpoint/2010/main" val="1666473259"/>
              </p:ext>
            </p:extLst>
          </p:nvPr>
        </p:nvGraphicFramePr>
        <p:xfrm>
          <a:off x="305526" y="702047"/>
          <a:ext cx="8226914" cy="13664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3" name="Elipse 12"/>
          <p:cNvSpPr/>
          <p:nvPr/>
        </p:nvSpPr>
        <p:spPr bwMode="auto">
          <a:xfrm>
            <a:off x="4139952" y="1492424"/>
            <a:ext cx="540807" cy="3369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rgbClr val="4C0026"/>
                </a:solidFill>
                <a:ea typeface="ヒラギノ角ゴ ProN W3" charset="0"/>
              </a:rPr>
              <a:t>P1</a:t>
            </a:r>
          </a:p>
        </p:txBody>
      </p:sp>
      <p:sp>
        <p:nvSpPr>
          <p:cNvPr id="15" name="Elipse 14"/>
          <p:cNvSpPr/>
          <p:nvPr/>
        </p:nvSpPr>
        <p:spPr bwMode="auto">
          <a:xfrm>
            <a:off x="1331640" y="1492424"/>
            <a:ext cx="540807" cy="3369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rgbClr val="4C0026"/>
                </a:solidFill>
                <a:ea typeface="ヒラギノ角ゴ ProN W3" charset="0"/>
              </a:rPr>
              <a:t>P0</a:t>
            </a:r>
            <a:endParaRPr lang="pt-BR" sz="1100" b="1" dirty="0" smtClean="0">
              <a:solidFill>
                <a:srgbClr val="4C0026"/>
              </a:solidFill>
              <a:ea typeface="ヒラギノ角ゴ ProN W3" charset="0"/>
            </a:endParaRPr>
          </a:p>
        </p:txBody>
      </p:sp>
      <p:sp>
        <p:nvSpPr>
          <p:cNvPr id="16" name="Elipse 15"/>
          <p:cNvSpPr/>
          <p:nvPr/>
        </p:nvSpPr>
        <p:spPr bwMode="auto">
          <a:xfrm>
            <a:off x="6948264" y="1492424"/>
            <a:ext cx="540807" cy="33692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pt-BR" sz="1100" b="1" dirty="0" smtClean="0">
                <a:solidFill>
                  <a:srgbClr val="4C0026"/>
                </a:solidFill>
                <a:ea typeface="ヒラギノ角ゴ ProN W3" charset="0"/>
              </a:rPr>
              <a:t>P2</a:t>
            </a:r>
            <a:endParaRPr lang="pt-BR" sz="1100" b="1" dirty="0" smtClean="0">
              <a:solidFill>
                <a:srgbClr val="4C0026"/>
              </a:solidFill>
              <a:ea typeface="ヒラギノ角ゴ ProN W3" charset="0"/>
            </a:endParaRPr>
          </a:p>
        </p:txBody>
      </p:sp>
      <p:sp>
        <p:nvSpPr>
          <p:cNvPr id="17" name="Elipse 16"/>
          <p:cNvSpPr/>
          <p:nvPr/>
        </p:nvSpPr>
        <p:spPr bwMode="auto">
          <a:xfrm>
            <a:off x="8298333" y="1492424"/>
            <a:ext cx="540807" cy="336926"/>
          </a:xfrm>
          <a:prstGeom prst="ellipse">
            <a:avLst/>
          </a:prstGeom>
          <a:solidFill>
            <a:schemeClr val="tx2"/>
          </a:solidFill>
          <a:ln>
            <a:headEnd type="none" w="med" len="med"/>
            <a:tailEnd type="none" w="med" len="med"/>
          </a:ln>
          <a:extLst/>
        </p:spPr>
        <p:style>
          <a:lnRef idx="0">
            <a:schemeClr val="dk1"/>
          </a:lnRef>
          <a:fillRef idx="3">
            <a:schemeClr val="dk1"/>
          </a:fillRef>
          <a:effectRef idx="3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 smtClean="0">
                <a:solidFill>
                  <a:schemeClr val="bg1"/>
                </a:solidFill>
                <a:ea typeface="ヒラギノ角ゴ ProN W3" charset="0"/>
              </a:rPr>
              <a:t>P3</a:t>
            </a:r>
            <a:endParaRPr lang="pt-BR" sz="1100" b="1" dirty="0" smtClean="0">
              <a:solidFill>
                <a:schemeClr val="bg1"/>
              </a:solidFill>
              <a:ea typeface="ヒラギノ角ゴ ProN W3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116505" y="4747248"/>
            <a:ext cx="8919927" cy="27356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506" tIns="25756" rIns="51506" bIns="25756" rtlCol="0" anchor="ctr"/>
          <a:lstStyle/>
          <a:p>
            <a:endParaRPr lang="pt-BR" sz="1200" b="1" dirty="0">
              <a:solidFill>
                <a:schemeClr val="tx1">
                  <a:lumMod val="50000"/>
                  <a:lumOff val="50000"/>
                </a:schemeClr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782881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Dados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Gerais: Incidente e Requisição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CaixaDeTexto 8"/>
          <p:cNvSpPr txBox="1">
            <a:spLocks noChangeArrowheads="1"/>
          </p:cNvSpPr>
          <p:nvPr/>
        </p:nvSpPr>
        <p:spPr bwMode="auto">
          <a:xfrm>
            <a:off x="6012160" y="2791829"/>
            <a:ext cx="3010624" cy="2300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400" b="1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Fatos e Dados: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/>
            </a:r>
            <a:b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</a:br>
            <a:endParaRPr lang="pt-BR" sz="14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  <a:p>
            <a:pPr indent="-285750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~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10.500 usuários ativos (BR + </a:t>
            </a:r>
            <a:r>
              <a:rPr lang="pt-BR" sz="1400" dirty="0" err="1">
                <a:solidFill>
                  <a:srgbClr val="6E6259"/>
                </a:solidFill>
                <a:latin typeface="Gill Sans Std Light" pitchFamily="34" charset="0"/>
                <a:ea typeface="+mn-ea"/>
              </a:rPr>
              <a:t>OIs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)</a:t>
            </a:r>
          </a:p>
          <a:p>
            <a:pPr lvl="0" indent="-285750" eaLnBrk="1" hangingPunct="1">
              <a:buFont typeface="Arial" pitchFamily="34" charset="0"/>
              <a:buChar char="•"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TD-SD - 1 NIVEL é o maior grupo solucionador,  com uma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média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de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4 k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chamados / mês representando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~20%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da TD</a:t>
            </a:r>
          </a:p>
          <a:p>
            <a:pPr marR="0" lvl="0" indent="-28575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Mais de 200 grupos Solucionadores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existentes e ativos </a:t>
            </a:r>
          </a:p>
        </p:txBody>
      </p:sp>
      <p:sp>
        <p:nvSpPr>
          <p:cNvPr id="9" name="CaixaDeTexto 8"/>
          <p:cNvSpPr txBox="1">
            <a:spLocks noChangeArrowheads="1"/>
          </p:cNvSpPr>
          <p:nvPr/>
        </p:nvSpPr>
        <p:spPr bwMode="auto">
          <a:xfrm>
            <a:off x="334393" y="2791829"/>
            <a:ext cx="5668494" cy="2300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marR="0" lvl="0" indent="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400" b="1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Principais GAPs</a:t>
            </a:r>
            <a:r>
              <a:rPr lang="pt-BR" sz="1400" b="1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: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/>
            </a:r>
            <a:b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</a:br>
            <a:endParaRPr lang="pt-BR" sz="14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  <a:p>
            <a:pPr marR="0" lvl="0" indent="-28575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Inexistência de processo de gestão de 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Chamados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  <a:p>
            <a:pPr marR="0" lvl="0" indent="-28575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Problemas com SLAs cadastrados no CA SDM</a:t>
            </a:r>
          </a:p>
          <a:p>
            <a:pPr marR="0" lvl="0" indent="-28575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Problemas com categorias de serviço cadastrados no CA SDM</a:t>
            </a:r>
          </a:p>
          <a:p>
            <a:pPr marR="0" lvl="0" indent="-28575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Contratos com fornecedores não favorece SLA de usuário (e sim </a:t>
            </a:r>
            <a:r>
              <a:rPr lang="pt-BR" sz="1400" dirty="0" err="1">
                <a:solidFill>
                  <a:srgbClr val="6E6259"/>
                </a:solidFill>
                <a:latin typeface="Gill Sans Std Light" pitchFamily="34" charset="0"/>
                <a:ea typeface="+mn-ea"/>
              </a:rPr>
              <a:t>SLOs</a:t>
            </a: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 contratuais)</a:t>
            </a:r>
          </a:p>
          <a:p>
            <a:pPr marR="0" lvl="0" indent="-28575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Comunicação ineficiente de objetivos e resultados – Gestão a Vista</a:t>
            </a:r>
          </a:p>
          <a:p>
            <a:pPr marR="0" lvl="0" indent="-28575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Gestão da Configuração – Processo e Controles ineficientes</a:t>
            </a:r>
          </a:p>
          <a:p>
            <a:pPr marR="0" lvl="0" indent="-28575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lang="pt-BR" sz="1400" dirty="0">
                <a:solidFill>
                  <a:srgbClr val="6E6259"/>
                </a:solidFill>
                <a:latin typeface="Gill Sans Std Light" pitchFamily="34" charset="0"/>
                <a:ea typeface="+mn-ea"/>
              </a:rPr>
              <a:t>Falta de visibilidade com relação a maturidade de processos na TD</a:t>
            </a:r>
          </a:p>
        </p:txBody>
      </p:sp>
      <p:cxnSp>
        <p:nvCxnSpPr>
          <p:cNvPr id="12" name="Conector reto 11"/>
          <p:cNvCxnSpPr/>
          <p:nvPr/>
        </p:nvCxnSpPr>
        <p:spPr>
          <a:xfrm>
            <a:off x="5940152" y="2860576"/>
            <a:ext cx="0" cy="2085552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cxnSp>
        <p:nvCxnSpPr>
          <p:cNvPr id="17" name="Conector reto 16"/>
          <p:cNvCxnSpPr/>
          <p:nvPr/>
        </p:nvCxnSpPr>
        <p:spPr>
          <a:xfrm>
            <a:off x="261517" y="2716560"/>
            <a:ext cx="8558955" cy="0"/>
          </a:xfrm>
          <a:prstGeom prst="line">
            <a:avLst/>
          </a:prstGeom>
          <a:noFill/>
          <a:ln w="3175" cap="flat" cmpd="sng" algn="ctr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none" w="med" len="med"/>
          </a:ln>
          <a:effectLst/>
        </p:spPr>
      </p:cxnSp>
      <p:sp>
        <p:nvSpPr>
          <p:cNvPr id="20" name="CaixaDeTexto 8"/>
          <p:cNvSpPr txBox="1">
            <a:spLocks noChangeArrowheads="1"/>
          </p:cNvSpPr>
          <p:nvPr/>
        </p:nvSpPr>
        <p:spPr bwMode="auto">
          <a:xfrm>
            <a:off x="7363885" y="2400723"/>
            <a:ext cx="1475046" cy="31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100" b="1" dirty="0" smtClean="0">
                <a:solidFill>
                  <a:srgbClr val="6E6259"/>
                </a:solidFill>
                <a:latin typeface="Gill Sans Std Light" pitchFamily="34" charset="0"/>
              </a:rPr>
              <a:t>*Abril, até o dia 17</a:t>
            </a:r>
            <a:endParaRPr lang="pt-BR" sz="1100" b="1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pic>
        <p:nvPicPr>
          <p:cNvPr id="2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424" y="754570"/>
            <a:ext cx="6543675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099" y="754570"/>
            <a:ext cx="2249056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548056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26" y="906726"/>
            <a:ext cx="4314825" cy="1714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Chamados: Incidente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Requisição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926" y="2636705"/>
            <a:ext cx="6553200" cy="1704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have direita 1"/>
          <p:cNvSpPr/>
          <p:nvPr/>
        </p:nvSpPr>
        <p:spPr>
          <a:xfrm>
            <a:off x="7020272" y="906726"/>
            <a:ext cx="288032" cy="3434954"/>
          </a:xfrm>
          <a:prstGeom prst="rightBrace">
            <a:avLst/>
          </a:prstGeom>
          <a:noFill/>
          <a:ln w="31750" cap="flat" cmpd="sng" algn="ctr">
            <a:solidFill>
              <a:srgbClr val="D5D5D5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8"/>
          <p:cNvSpPr txBox="1">
            <a:spLocks noChangeArrowheads="1"/>
          </p:cNvSpPr>
          <p:nvPr/>
        </p:nvSpPr>
        <p:spPr bwMode="auto">
          <a:xfrm>
            <a:off x="7380312" y="2018177"/>
            <a:ext cx="1368120" cy="122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Indicadores do GTD.05 e Indicadores de Apoio Operacional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sp>
        <p:nvSpPr>
          <p:cNvPr id="13" name="CaixaDeTexto 8"/>
          <p:cNvSpPr txBox="1">
            <a:spLocks noChangeArrowheads="1"/>
          </p:cNvSpPr>
          <p:nvPr/>
        </p:nvSpPr>
        <p:spPr bwMode="auto">
          <a:xfrm>
            <a:off x="5292080" y="4360578"/>
            <a:ext cx="1475046" cy="31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100" b="1" dirty="0" smtClean="0">
                <a:solidFill>
                  <a:srgbClr val="6E6259"/>
                </a:solidFill>
                <a:latin typeface="Gill Sans Std Light" pitchFamily="34" charset="0"/>
              </a:rPr>
              <a:t>*Abril, até o dia 17</a:t>
            </a:r>
            <a:endParaRPr lang="pt-BR" sz="1100" b="1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6411" y="906726"/>
            <a:ext cx="2240715" cy="1714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Arredondar Retângulo em um Canto Único 2">
            <a:hlinkClick r:id="rId6" action="ppaction://hlinksldjump"/>
          </p:cNvPr>
          <p:cNvSpPr/>
          <p:nvPr/>
        </p:nvSpPr>
        <p:spPr>
          <a:xfrm>
            <a:off x="0" y="772344"/>
            <a:ext cx="2371338" cy="1848881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Arredondar Retângulo em um Canto Único 15">
            <a:hlinkClick r:id="rId7" action="ppaction://hlinksldjump"/>
          </p:cNvPr>
          <p:cNvSpPr/>
          <p:nvPr/>
        </p:nvSpPr>
        <p:spPr>
          <a:xfrm>
            <a:off x="4526411" y="772344"/>
            <a:ext cx="2371338" cy="1848881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Arredondar Retângulo em um Canto Único 16">
            <a:hlinkClick r:id="rId8" action="ppaction://hlinksldjump"/>
          </p:cNvPr>
          <p:cNvSpPr/>
          <p:nvPr/>
        </p:nvSpPr>
        <p:spPr>
          <a:xfrm>
            <a:off x="0" y="2599939"/>
            <a:ext cx="2371338" cy="1848881"/>
          </a:xfrm>
          <a:prstGeom prst="round1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8"/>
          <p:cNvSpPr txBox="1">
            <a:spLocks noChangeArrowheads="1"/>
          </p:cNvSpPr>
          <p:nvPr/>
        </p:nvSpPr>
        <p:spPr bwMode="auto">
          <a:xfrm>
            <a:off x="7524328" y="4641961"/>
            <a:ext cx="1475046" cy="31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100" b="1" dirty="0" smtClean="0">
                <a:solidFill>
                  <a:srgbClr val="6E6259"/>
                </a:solidFill>
                <a:latin typeface="Gill Sans Std Light" pitchFamily="34" charset="0"/>
              </a:rPr>
              <a:t>Continua...</a:t>
            </a:r>
            <a:endParaRPr lang="pt-BR" sz="1100" b="1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sp>
        <p:nvSpPr>
          <p:cNvPr id="4" name="CaixaDeTexto 3"/>
          <p:cNvSpPr txBox="1"/>
          <p:nvPr/>
        </p:nvSpPr>
        <p:spPr>
          <a:xfrm>
            <a:off x="1579282" y="1668857"/>
            <a:ext cx="792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ill Sans Std Light" pitchFamily="34" charset="0"/>
              </a:rPr>
              <a:t>Clique para o detalhe</a:t>
            </a:r>
            <a:endParaRPr lang="pt-BR" sz="700" b="1" dirty="0">
              <a:solidFill>
                <a:schemeClr val="tx1">
                  <a:lumMod val="50000"/>
                  <a:lumOff val="50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5" name="CaixaDeTexto 14"/>
          <p:cNvSpPr txBox="1"/>
          <p:nvPr/>
        </p:nvSpPr>
        <p:spPr>
          <a:xfrm>
            <a:off x="5975070" y="1668857"/>
            <a:ext cx="792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Gill Sans Std Light" pitchFamily="34" charset="0"/>
              </a:rPr>
              <a:t>Clique para o detalhe</a:t>
            </a:r>
            <a:endParaRPr lang="pt-BR" sz="700" b="1" dirty="0">
              <a:solidFill>
                <a:schemeClr val="tx1">
                  <a:lumMod val="50000"/>
                  <a:lumOff val="50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1566964" y="3652664"/>
            <a:ext cx="792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Light" pitchFamily="34" charset="0"/>
              </a:rPr>
              <a:t>Clique para o detalhe</a:t>
            </a:r>
            <a:endParaRPr lang="pt-BR" sz="700" b="1" dirty="0">
              <a:solidFill>
                <a:schemeClr val="tx1">
                  <a:lumMod val="50000"/>
                  <a:lumOff val="50000"/>
                </a:schemeClr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4483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E PERFORMANCE</a:t>
            </a:r>
          </a:p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de Chamados: Incidente e Requisição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have direita 1"/>
          <p:cNvSpPr/>
          <p:nvPr/>
        </p:nvSpPr>
        <p:spPr>
          <a:xfrm>
            <a:off x="7020272" y="906726"/>
            <a:ext cx="288032" cy="3434954"/>
          </a:xfrm>
          <a:prstGeom prst="rightBrace">
            <a:avLst/>
          </a:prstGeom>
          <a:noFill/>
          <a:ln w="3175" cap="flat" cmpd="sng" algn="ctr">
            <a:solidFill>
              <a:srgbClr val="6E6259"/>
            </a:solidFill>
            <a:prstDash val="solid"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CaixaDeTexto 8"/>
          <p:cNvSpPr txBox="1">
            <a:spLocks noChangeArrowheads="1"/>
          </p:cNvSpPr>
          <p:nvPr/>
        </p:nvSpPr>
        <p:spPr bwMode="auto">
          <a:xfrm>
            <a:off x="5292080" y="4360578"/>
            <a:ext cx="1475046" cy="315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100" b="1" dirty="0" smtClean="0">
                <a:solidFill>
                  <a:srgbClr val="6E6259"/>
                </a:solidFill>
                <a:latin typeface="Gill Sans Std Light" pitchFamily="34" charset="0"/>
              </a:rPr>
              <a:t>*Abril, até o dia 17</a:t>
            </a:r>
            <a:endParaRPr lang="pt-BR" sz="1100" b="1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sp>
        <p:nvSpPr>
          <p:cNvPr id="15" name="CaixaDeTexto 8"/>
          <p:cNvSpPr txBox="1">
            <a:spLocks noChangeArrowheads="1"/>
          </p:cNvSpPr>
          <p:nvPr/>
        </p:nvSpPr>
        <p:spPr bwMode="auto">
          <a:xfrm>
            <a:off x="7380312" y="2015530"/>
            <a:ext cx="1368120" cy="1223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45143" tIns="72571" rIns="145143" bIns="72571">
            <a:spAutoFit/>
          </a:bodyPr>
          <a:lstStyle>
            <a:lvl1pPr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1pPr>
            <a:lvl2pPr marL="742950" indent="-28575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2pPr>
            <a:lvl3pPr marL="11430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3pPr>
            <a:lvl4pPr marL="16002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4pPr>
            <a:lvl5pPr marL="2057400" indent="-228600" eaLnBrk="0" hangingPunct="0"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700">
                <a:solidFill>
                  <a:srgbClr val="000000"/>
                </a:solidFill>
                <a:latin typeface="Gill Sans"/>
                <a:ea typeface="ヒラギノ角ゴ ProN W3" charset="-128"/>
                <a:sym typeface="Gill Sans"/>
              </a:defRPr>
            </a:lvl9pPr>
          </a:lstStyle>
          <a:p>
            <a:pPr eaLnBrk="1" hangingPunct="1"/>
            <a:r>
              <a:rPr lang="pt-BR" sz="1400" b="1" dirty="0" smtClean="0">
                <a:solidFill>
                  <a:srgbClr val="6E6259"/>
                </a:solidFill>
                <a:latin typeface="Gill Sans Std Light" pitchFamily="34" charset="0"/>
              </a:rPr>
              <a:t>Indicadores do GTD.05 e Indicadores de Apoio Operacional</a:t>
            </a:r>
            <a:endParaRPr lang="pt-BR" sz="1400" dirty="0">
              <a:solidFill>
                <a:srgbClr val="6E6259"/>
              </a:solidFill>
              <a:latin typeface="Gill Sans Std Light" pitchFamily="34" charset="0"/>
              <a:ea typeface="+mn-ea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627418"/>
            <a:ext cx="6543675" cy="1673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5586" y="948653"/>
            <a:ext cx="4400550" cy="1698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149321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663699"/>
            <a:ext cx="8599487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de Incidentes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de cantos arredondados 4"/>
          <p:cNvSpPr/>
          <p:nvPr/>
        </p:nvSpPr>
        <p:spPr>
          <a:xfrm>
            <a:off x="1115616" y="1132384"/>
            <a:ext cx="7344816" cy="3600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 para a direita 14"/>
          <p:cNvSpPr/>
          <p:nvPr/>
        </p:nvSpPr>
        <p:spPr>
          <a:xfrm>
            <a:off x="5762244" y="3659821"/>
            <a:ext cx="432048" cy="29301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/>
          <p:cNvSpPr/>
          <p:nvPr/>
        </p:nvSpPr>
        <p:spPr>
          <a:xfrm>
            <a:off x="4920165" y="3821188"/>
            <a:ext cx="720080" cy="216024"/>
          </a:xfrm>
          <a:prstGeom prst="ellipse">
            <a:avLst/>
          </a:prstGeom>
          <a:noFill/>
          <a:ln>
            <a:solidFill>
              <a:srgbClr val="FF33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2017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043569"/>
            <a:ext cx="5686425" cy="340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de Incidentes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tângulo de cantos arredondados 4"/>
          <p:cNvSpPr/>
          <p:nvPr/>
        </p:nvSpPr>
        <p:spPr>
          <a:xfrm>
            <a:off x="1115616" y="1132384"/>
            <a:ext cx="7344816" cy="36004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 12"/>
          <p:cNvSpPr/>
          <p:nvPr/>
        </p:nvSpPr>
        <p:spPr>
          <a:xfrm>
            <a:off x="5436096" y="1636440"/>
            <a:ext cx="3456383" cy="2376264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pt-BR" sz="1300" dirty="0" smtClean="0">
                <a:solidFill>
                  <a:schemeClr val="tx1"/>
                </a:solidFill>
                <a:latin typeface="Gill Sans Std Light" pitchFamily="34" charset="0"/>
                <a:cs typeface="Calibri" pitchFamily="34" charset="0"/>
              </a:rPr>
              <a:t> </a:t>
            </a:r>
            <a:endParaRPr lang="pt-BR" sz="1300" dirty="0" smtClean="0">
              <a:solidFill>
                <a:schemeClr val="tx1"/>
              </a:solidFill>
              <a:latin typeface="Gill Sans Std Light" pitchFamily="34" charset="0"/>
              <a:cs typeface="Calibri" pitchFamily="34" charset="0"/>
            </a:endParaRPr>
          </a:p>
          <a:p>
            <a:pPr marL="171450" indent="-171450" algn="just">
              <a:buFont typeface="Arial" pitchFamily="34" charset="0"/>
              <a:buChar char="•"/>
            </a:pPr>
            <a:r>
              <a:rPr lang="pt-BR" sz="1300" b="1" dirty="0" smtClean="0">
                <a:solidFill>
                  <a:schemeClr val="tx1"/>
                </a:solidFill>
                <a:latin typeface="Gill Sans Std Light" pitchFamily="34" charset="0"/>
                <a:cs typeface="Calibri" pitchFamily="34" charset="0"/>
              </a:rPr>
              <a:t>Ritual Bom Dia TD:  </a:t>
            </a:r>
            <a:r>
              <a:rPr lang="pt-BR" sz="1300" dirty="0" smtClean="0">
                <a:solidFill>
                  <a:schemeClr val="tx1"/>
                </a:solidFill>
                <a:latin typeface="Gill Sans Std Light" pitchFamily="34" charset="0"/>
                <a:cs typeface="Calibri" pitchFamily="34" charset="0"/>
              </a:rPr>
              <a:t>o percentual da participação no ritual melhorou, porém não  está sendo efetiva. Em muitas ocasiões, os participantes não estão providos das informações  para prestar os devidos esclarecimentos quanto a tratativa dos incidentes, como também sinalizar os responsáveis pela abertura de Problema, quando há tal necessidade. </a:t>
            </a:r>
            <a:endParaRPr lang="pt-BR" sz="1300" dirty="0" smtClean="0">
              <a:solidFill>
                <a:schemeClr val="tx1"/>
              </a:solidFill>
              <a:latin typeface="Gill Sans Std Light" pitchFamily="34" charset="0"/>
              <a:cs typeface="Calibri" pitchFamily="34" charset="0"/>
            </a:endParaRPr>
          </a:p>
          <a:p>
            <a:pPr marL="171450" indent="-171450" algn="just">
              <a:buFont typeface="Arial" pitchFamily="34" charset="0"/>
              <a:buChar char="•"/>
            </a:pPr>
            <a:endParaRPr lang="pt-BR" sz="1300" dirty="0">
              <a:solidFill>
                <a:schemeClr val="tx1"/>
              </a:solidFill>
              <a:latin typeface="Gill Sans Std Light" pitchFamily="34" charset="0"/>
              <a:cs typeface="Calibri" pitchFamily="34" charset="0"/>
            </a:endParaRPr>
          </a:p>
          <a:p>
            <a:pPr algn="just"/>
            <a:r>
              <a:rPr lang="pt-BR" sz="1300" dirty="0" smtClean="0">
                <a:solidFill>
                  <a:schemeClr val="tx1"/>
                </a:solidFill>
                <a:latin typeface="Gill Sans Std Light" pitchFamily="34" charset="0"/>
                <a:cs typeface="Calibri" pitchFamily="34" charset="0"/>
              </a:rPr>
              <a:t>*Período de Jan a Abril/15</a:t>
            </a:r>
            <a:endParaRPr lang="pt-BR" sz="1300" dirty="0" smtClean="0">
              <a:solidFill>
                <a:schemeClr val="tx1"/>
              </a:solidFill>
              <a:latin typeface="Gill Sans Std Light" pitchFamily="34" charset="0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958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663699"/>
            <a:ext cx="8599487" cy="442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de Problemas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Seta para a direita 10"/>
          <p:cNvSpPr/>
          <p:nvPr/>
        </p:nvSpPr>
        <p:spPr>
          <a:xfrm>
            <a:off x="2843808" y="1852464"/>
            <a:ext cx="432048" cy="29301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hlinkClick r:id="rId4" action="ppaction://hlinksldjump"/>
          </p:cNvPr>
          <p:cNvSpPr/>
          <p:nvPr/>
        </p:nvSpPr>
        <p:spPr>
          <a:xfrm>
            <a:off x="395536" y="2932584"/>
            <a:ext cx="8370148" cy="2120185"/>
          </a:xfrm>
          <a:prstGeom prst="rect">
            <a:avLst/>
          </a:prstGeom>
          <a:noFill/>
          <a:ln w="47625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Seta para a direita 19"/>
          <p:cNvSpPr/>
          <p:nvPr/>
        </p:nvSpPr>
        <p:spPr>
          <a:xfrm rot="5400000">
            <a:off x="8313925" y="2498045"/>
            <a:ext cx="432048" cy="293014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/>
          <p:cNvSpPr/>
          <p:nvPr/>
        </p:nvSpPr>
        <p:spPr>
          <a:xfrm>
            <a:off x="-180528" y="2644552"/>
            <a:ext cx="8370148" cy="212018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/>
          <p:cNvSpPr txBox="1"/>
          <p:nvPr/>
        </p:nvSpPr>
        <p:spPr>
          <a:xfrm>
            <a:off x="6084168" y="4610848"/>
            <a:ext cx="792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Light" pitchFamily="34" charset="0"/>
              </a:rPr>
              <a:t>Clique para o detalhe</a:t>
            </a:r>
            <a:endParaRPr lang="pt-BR" sz="700" b="1" dirty="0">
              <a:solidFill>
                <a:schemeClr val="tx1">
                  <a:lumMod val="50000"/>
                  <a:lumOff val="50000"/>
                </a:schemeClr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42141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de Problemas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3" y="644649"/>
            <a:ext cx="8599487" cy="4476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tângulo 8">
            <a:hlinkClick r:id="rId4" action="ppaction://hlinksldjump"/>
          </p:cNvPr>
          <p:cNvSpPr/>
          <p:nvPr/>
        </p:nvSpPr>
        <p:spPr>
          <a:xfrm>
            <a:off x="395536" y="2883024"/>
            <a:ext cx="8370148" cy="2102985"/>
          </a:xfrm>
          <a:prstGeom prst="rect">
            <a:avLst/>
          </a:prstGeom>
          <a:noFill/>
          <a:ln w="47625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14"/>
          <p:cNvSpPr txBox="1"/>
          <p:nvPr/>
        </p:nvSpPr>
        <p:spPr>
          <a:xfrm>
            <a:off x="2051720" y="3436640"/>
            <a:ext cx="792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Light" pitchFamily="34" charset="0"/>
              </a:rPr>
              <a:t>Clique para o detalhe</a:t>
            </a:r>
            <a:endParaRPr lang="pt-BR" sz="700" b="1" dirty="0">
              <a:solidFill>
                <a:schemeClr val="tx1">
                  <a:lumMod val="50000"/>
                  <a:lumOff val="50000"/>
                </a:schemeClr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32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80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682749"/>
            <a:ext cx="8589963" cy="441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de Mudanças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eta para a direita 14"/>
          <p:cNvSpPr/>
          <p:nvPr/>
        </p:nvSpPr>
        <p:spPr>
          <a:xfrm>
            <a:off x="2915816" y="2428528"/>
            <a:ext cx="432048" cy="29301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 para a direita 15"/>
          <p:cNvSpPr/>
          <p:nvPr/>
        </p:nvSpPr>
        <p:spPr>
          <a:xfrm>
            <a:off x="5724128" y="2423546"/>
            <a:ext cx="432048" cy="29301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 para a direita 16"/>
          <p:cNvSpPr/>
          <p:nvPr/>
        </p:nvSpPr>
        <p:spPr>
          <a:xfrm>
            <a:off x="2884454" y="3575674"/>
            <a:ext cx="295095" cy="293014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Retângulo 18"/>
          <p:cNvSpPr/>
          <p:nvPr/>
        </p:nvSpPr>
        <p:spPr>
          <a:xfrm>
            <a:off x="3203848" y="2932585"/>
            <a:ext cx="5544616" cy="2088232"/>
          </a:xfrm>
          <a:prstGeom prst="rect">
            <a:avLst/>
          </a:prstGeom>
          <a:noFill/>
          <a:ln w="47625" cmpd="sng">
            <a:solidFill>
              <a:srgbClr val="FFC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Elipse 2"/>
          <p:cNvSpPr/>
          <p:nvPr/>
        </p:nvSpPr>
        <p:spPr>
          <a:xfrm>
            <a:off x="2267744" y="3580656"/>
            <a:ext cx="576064" cy="288032"/>
          </a:xfrm>
          <a:prstGeom prst="ellipse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2" name="Seta para a direita 21"/>
          <p:cNvSpPr/>
          <p:nvPr/>
        </p:nvSpPr>
        <p:spPr>
          <a:xfrm>
            <a:off x="5876528" y="4741168"/>
            <a:ext cx="432048" cy="293014"/>
          </a:xfrm>
          <a:prstGeom prst="rightArrow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3387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544695"/>
            <a:ext cx="8472207" cy="4660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de Mudanças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Seta para a direita 11"/>
          <p:cNvSpPr/>
          <p:nvPr/>
        </p:nvSpPr>
        <p:spPr>
          <a:xfrm>
            <a:off x="2915816" y="2403344"/>
            <a:ext cx="432048" cy="293014"/>
          </a:xfrm>
          <a:prstGeom prst="righ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Retângulo 1">
            <a:hlinkClick r:id="rId4" action="ppaction://hlinksldjump"/>
          </p:cNvPr>
          <p:cNvSpPr/>
          <p:nvPr/>
        </p:nvSpPr>
        <p:spPr>
          <a:xfrm>
            <a:off x="395537" y="708961"/>
            <a:ext cx="8280919" cy="2192193"/>
          </a:xfrm>
          <a:prstGeom prst="rect">
            <a:avLst/>
          </a:prstGeom>
          <a:noFill/>
          <a:ln w="47625" cmpd="sng">
            <a:solidFill>
              <a:srgbClr val="00B05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9" name="Seta para a direita 18"/>
          <p:cNvSpPr/>
          <p:nvPr/>
        </p:nvSpPr>
        <p:spPr>
          <a:xfrm>
            <a:off x="5724128" y="4444752"/>
            <a:ext cx="432048" cy="293014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539552" y="2542469"/>
            <a:ext cx="792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Light" pitchFamily="34" charset="0"/>
              </a:rPr>
              <a:t>Clique para o detalhe</a:t>
            </a:r>
            <a:endParaRPr lang="pt-BR" sz="700" b="1" dirty="0">
              <a:solidFill>
                <a:schemeClr val="tx1">
                  <a:lumMod val="50000"/>
                  <a:lumOff val="50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0" name="CaixaDeTexto 9"/>
          <p:cNvSpPr txBox="1"/>
          <p:nvPr/>
        </p:nvSpPr>
        <p:spPr>
          <a:xfrm>
            <a:off x="3563888" y="2525658"/>
            <a:ext cx="792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Light" pitchFamily="34" charset="0"/>
              </a:rPr>
              <a:t>Clique para o detalhe</a:t>
            </a:r>
            <a:endParaRPr lang="pt-BR" sz="700" b="1" dirty="0">
              <a:solidFill>
                <a:schemeClr val="tx1">
                  <a:lumMod val="50000"/>
                  <a:lumOff val="50000"/>
                </a:schemeClr>
              </a:solidFill>
              <a:latin typeface="Gill Sans Std Light" pitchFamily="34" charset="0"/>
            </a:endParaRPr>
          </a:p>
        </p:txBody>
      </p:sp>
      <p:sp>
        <p:nvSpPr>
          <p:cNvPr id="11" name="CaixaDeTexto 10"/>
          <p:cNvSpPr txBox="1"/>
          <p:nvPr/>
        </p:nvSpPr>
        <p:spPr>
          <a:xfrm>
            <a:off x="5962704" y="2525657"/>
            <a:ext cx="792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Gill Sans Std Light" pitchFamily="34" charset="0"/>
              </a:rPr>
              <a:t>Clique para o detalhe</a:t>
            </a:r>
            <a:endParaRPr lang="pt-BR" sz="700" b="1" dirty="0">
              <a:solidFill>
                <a:schemeClr val="tx1">
                  <a:lumMod val="50000"/>
                  <a:lumOff val="50000"/>
                </a:schemeClr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470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de Mudanças</a:t>
            </a: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88" y="702568"/>
            <a:ext cx="9113837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845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Auditorias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026685"/>
            <a:ext cx="6840760" cy="2274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aixaDeTexto 4"/>
          <p:cNvSpPr txBox="1"/>
          <p:nvPr/>
        </p:nvSpPr>
        <p:spPr>
          <a:xfrm>
            <a:off x="1187624" y="2839796"/>
            <a:ext cx="20120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latin typeface="Gill Sans Std Light" pitchFamily="34" charset="0"/>
                <a:cs typeface="Calibri" pitchFamily="34" charset="0"/>
              </a:rPr>
              <a:t>TOTAL: 38 pontos a serem</a:t>
            </a:r>
          </a:p>
          <a:p>
            <a:r>
              <a:rPr lang="pt-BR" sz="1200" b="1" dirty="0">
                <a:latin typeface="Gill Sans Std Light" pitchFamily="34" charset="0"/>
                <a:cs typeface="Calibri" pitchFamily="34" charset="0"/>
              </a:rPr>
              <a:t>t</a:t>
            </a:r>
            <a:r>
              <a:rPr lang="pt-BR" sz="1200" b="1" dirty="0" smtClean="0">
                <a:latin typeface="Gill Sans Std Light" pitchFamily="34" charset="0"/>
                <a:cs typeface="Calibri" pitchFamily="34" charset="0"/>
              </a:rPr>
              <a:t>ratados pelas áreas</a:t>
            </a:r>
            <a:endParaRPr lang="pt-BR" sz="1200" b="1" dirty="0">
              <a:latin typeface="Gill Sans Std Light" pitchFamily="34" charset="0"/>
              <a:cs typeface="Calibri" pitchFamily="34" charset="0"/>
            </a:endParaRPr>
          </a:p>
        </p:txBody>
      </p:sp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419" y="3580656"/>
            <a:ext cx="7039162" cy="1145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CaixaDeTexto 8"/>
          <p:cNvSpPr txBox="1"/>
          <p:nvPr/>
        </p:nvSpPr>
        <p:spPr>
          <a:xfrm>
            <a:off x="4429372" y="3601561"/>
            <a:ext cx="266290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000" i="1" dirty="0" smtClean="0">
                <a:solidFill>
                  <a:srgbClr val="FF0000"/>
                </a:solidFill>
                <a:latin typeface="Calibri" pitchFamily="34" charset="0"/>
                <a:cs typeface="Calibri" pitchFamily="34" charset="0"/>
              </a:rPr>
              <a:t>* Aguardando confirmação da Auditoria/Riscos</a:t>
            </a:r>
            <a:r>
              <a:rPr lang="pt-BR" sz="1000" i="1" dirty="0" smtClean="0">
                <a:latin typeface="Calibri" pitchFamily="34" charset="0"/>
                <a:cs typeface="Calibri" pitchFamily="34" charset="0"/>
              </a:rPr>
              <a:t>.</a:t>
            </a:r>
            <a:endParaRPr lang="pt-BR" sz="1000" i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222551" y="647611"/>
            <a:ext cx="859883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3200">
                <a:solidFill>
                  <a:srgbClr val="000000"/>
                </a:solidFill>
                <a:latin typeface="GillSans" pitchFamily="34" charset="0"/>
                <a:ea typeface="ヒラギノ角ゴ ProN W3"/>
                <a:cs typeface="ヒラギノ角ゴ ProN W3"/>
                <a:sym typeface="GillSans" pitchFamily="34" charset="0"/>
              </a:defRPr>
            </a:lvl1pPr>
            <a:lvl2pPr marL="742950" indent="-285750" eaLnBrk="0" hangingPunct="0">
              <a:defRPr sz="3200">
                <a:solidFill>
                  <a:srgbClr val="000000"/>
                </a:solidFill>
                <a:latin typeface="GillSans" pitchFamily="34" charset="0"/>
                <a:ea typeface="ヒラギノ角ゴ ProN W3"/>
                <a:cs typeface="ヒラギノ角ゴ ProN W3"/>
                <a:sym typeface="GillSans" pitchFamily="34" charset="0"/>
              </a:defRPr>
            </a:lvl2pPr>
            <a:lvl3pPr marL="1143000" indent="-228600" eaLnBrk="0" hangingPunct="0">
              <a:defRPr sz="3200">
                <a:solidFill>
                  <a:srgbClr val="000000"/>
                </a:solidFill>
                <a:latin typeface="GillSans" pitchFamily="34" charset="0"/>
                <a:ea typeface="ヒラギノ角ゴ ProN W3"/>
                <a:cs typeface="ヒラギノ角ゴ ProN W3"/>
                <a:sym typeface="GillSans" pitchFamily="34" charset="0"/>
              </a:defRPr>
            </a:lvl3pPr>
            <a:lvl4pPr marL="1600200" indent="-228600" eaLnBrk="0" hangingPunct="0">
              <a:defRPr sz="3200">
                <a:solidFill>
                  <a:srgbClr val="000000"/>
                </a:solidFill>
                <a:latin typeface="GillSans" pitchFamily="34" charset="0"/>
                <a:ea typeface="ヒラギノ角ゴ ProN W3"/>
                <a:cs typeface="ヒラギノ角ゴ ProN W3"/>
                <a:sym typeface="GillSans" pitchFamily="34" charset="0"/>
              </a:defRPr>
            </a:lvl4pPr>
            <a:lvl5pPr marL="2057400" indent="-228600" eaLnBrk="0" hangingPunct="0">
              <a:defRPr sz="3200">
                <a:solidFill>
                  <a:srgbClr val="000000"/>
                </a:solidFill>
                <a:latin typeface="GillSans" pitchFamily="34" charset="0"/>
                <a:ea typeface="ヒラギノ角ゴ ProN W3"/>
                <a:cs typeface="ヒラギノ角ゴ ProN W3"/>
                <a:sym typeface="GillSans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GillSans" pitchFamily="34" charset="0"/>
                <a:ea typeface="ヒラギノ角ゴ ProN W3"/>
                <a:cs typeface="ヒラギノ角ゴ ProN W3"/>
                <a:sym typeface="GillSans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GillSans" pitchFamily="34" charset="0"/>
                <a:ea typeface="ヒラギノ角ゴ ProN W3"/>
                <a:cs typeface="ヒラギノ角ゴ ProN W3"/>
                <a:sym typeface="GillSans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GillSans" pitchFamily="34" charset="0"/>
                <a:ea typeface="ヒラギノ角ゴ ProN W3"/>
                <a:cs typeface="ヒラギノ角ゴ ProN W3"/>
                <a:sym typeface="GillSans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000000"/>
                </a:solidFill>
                <a:latin typeface="GillSans" pitchFamily="34" charset="0"/>
                <a:ea typeface="ヒラギノ角ゴ ProN W3"/>
                <a:cs typeface="ヒラギノ角ゴ ProN W3"/>
                <a:sym typeface="GillSans" pitchFamily="34" charset="0"/>
              </a:defRPr>
            </a:lvl9pPr>
          </a:lstStyle>
          <a:p>
            <a:pPr eaLnBrk="1" hangingPunct="1"/>
            <a:r>
              <a:rPr lang="pt-BR" sz="1800" b="1" dirty="0" smtClean="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Calibri" pitchFamily="34" charset="0"/>
              </a:rPr>
              <a:t>Sumário executivo das Auditorias vigentes - </a:t>
            </a:r>
            <a:r>
              <a:rPr lang="pt-BR" sz="1800" dirty="0" smtClean="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Calibri" pitchFamily="34" charset="0"/>
              </a:rPr>
              <a:t>Visão geral das ações</a:t>
            </a:r>
            <a:endParaRPr lang="pt-BR" sz="1800" dirty="0">
              <a:solidFill>
                <a:schemeClr val="tx1"/>
              </a:solidFill>
              <a:latin typeface="Calibri" pitchFamily="34" charset="0"/>
              <a:ea typeface="MS PGothic" pitchFamily="34" charset="-128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38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Auditorias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30" y="679856"/>
            <a:ext cx="7852352" cy="4407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38460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Auditorias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382" y="656634"/>
            <a:ext cx="7895648" cy="43641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8990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E:\Users\mvmarque\AppData\Local\Microsoft\Windows\Temporary Internet Files\Content.IE5\VRWSDO03\customer-service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4296"/>
            <a:ext cx="9144000" cy="51991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tângulo 1"/>
          <p:cNvSpPr/>
          <p:nvPr/>
        </p:nvSpPr>
        <p:spPr>
          <a:xfrm>
            <a:off x="323528" y="1708448"/>
            <a:ext cx="6195029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54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UltraBold" pitchFamily="34" charset="0"/>
              </a:rPr>
              <a:t>Fim. Obrigado</a:t>
            </a:r>
            <a:endParaRPr lang="pt-BR" sz="54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UltraBold" pitchFamily="34" charset="0"/>
            </a:endParaRP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6376" y="196280"/>
            <a:ext cx="792783" cy="7217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79023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SLA: Visão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Geral e Visão Usuários</a:t>
            </a: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928" y="844352"/>
            <a:ext cx="6626320" cy="4176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" name="Seta para a direita listrada 81">
            <a:hlinkClick r:id="rId4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3" name="CaixaDeTexto 82"/>
          <p:cNvSpPr txBox="1"/>
          <p:nvPr/>
        </p:nvSpPr>
        <p:spPr>
          <a:xfrm>
            <a:off x="8469957" y="1165843"/>
            <a:ext cx="63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8385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147926"/>
            <a:ext cx="2973089" cy="18728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Avaliação Positiva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: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Visão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6" name="Tabela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22169"/>
              </p:ext>
            </p:extLst>
          </p:nvPr>
        </p:nvGraphicFramePr>
        <p:xfrm>
          <a:off x="2747421" y="958143"/>
          <a:ext cx="3514270" cy="1191603"/>
        </p:xfrm>
        <a:graphic>
          <a:graphicData uri="http://schemas.openxmlformats.org/drawingml/2006/table">
            <a:tbl>
              <a:tblPr/>
              <a:tblGrid>
                <a:gridCol w="1994306"/>
                <a:gridCol w="1047560"/>
                <a:gridCol w="472404"/>
              </a:tblGrid>
              <a:tr h="24989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Top Grupo</a:t>
                      </a:r>
                      <a:endParaRPr lang="pt-BR" sz="1100" dirty="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 b="1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Qtde atendimento</a:t>
                      </a:r>
                      <a:endParaRPr lang="pt-BR" sz="1100" dirty="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 b="1" dirty="0" smtClean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%</a:t>
                      </a:r>
                      <a:endParaRPr lang="pt-BR" sz="1100" dirty="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99"/>
                    </a:solidFill>
                  </a:tcPr>
                </a:tc>
              </a:tr>
              <a:tr h="1438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TD-NETWORK - NIVEL 2</a:t>
                      </a: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</a:t>
                      </a:r>
                      <a:endParaRPr lang="pt-BR" sz="1100" dirty="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12%</a:t>
                      </a: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177278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TD-GAC-SAP</a:t>
                      </a: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</a:t>
                      </a:r>
                      <a:endParaRPr lang="pt-BR" sz="1100" dirty="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10%</a:t>
                      </a: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177431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TD-NETWORK SECURITY - NIVEL 2</a:t>
                      </a: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6</a:t>
                      </a:r>
                      <a:endParaRPr lang="pt-BR" sz="1100" dirty="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10%</a:t>
                      </a: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1438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TD-ACCT-SS-FINANC</a:t>
                      </a: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</a:t>
                      </a:r>
                      <a:endParaRPr lang="pt-BR" sz="1100" dirty="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8%</a:t>
                      </a:r>
                      <a:endParaRPr lang="pt-BR" sz="1100" dirty="0">
                        <a:effectLst/>
                        <a:latin typeface="Calibri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1438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TD-SD - 1 NIVEL</a:t>
                      </a: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5</a:t>
                      </a: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8%</a:t>
                      </a:r>
                      <a:endParaRPr lang="pt-BR" sz="1100" dirty="0">
                        <a:effectLst/>
                        <a:latin typeface="Calibri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  <a:tr h="14386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TD-MICRO-INFORMATICA</a:t>
                      </a:r>
                      <a:endParaRPr lang="pt-BR" sz="110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4</a:t>
                      </a:r>
                      <a:endParaRPr lang="pt-BR" sz="1100" dirty="0">
                        <a:effectLst/>
                        <a:latin typeface="Calibri"/>
                      </a:endParaRPr>
                    </a:p>
                  </a:txBody>
                  <a:tcPr marL="28575" marR="2857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pt-BR" sz="900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7%</a:t>
                      </a:r>
                      <a:endParaRPr lang="pt-BR" sz="1100" dirty="0">
                        <a:effectLst/>
                        <a:latin typeface="Calibri"/>
                      </a:endParaRPr>
                    </a:p>
                  </a:txBody>
                  <a:tcPr marL="28575" marR="28575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CFF"/>
                    </a:solidFill>
                  </a:tcPr>
                </a:tc>
              </a:tr>
            </a:tbl>
          </a:graphicData>
        </a:graphic>
      </p:graphicFrame>
      <p:pic>
        <p:nvPicPr>
          <p:cNvPr id="11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273" y="906725"/>
            <a:ext cx="2240715" cy="17144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Seta para baixo 11"/>
          <p:cNvSpPr/>
          <p:nvPr/>
        </p:nvSpPr>
        <p:spPr bwMode="auto">
          <a:xfrm rot="15922379">
            <a:off x="2076238" y="1312803"/>
            <a:ext cx="503317" cy="801056"/>
          </a:xfrm>
          <a:prstGeom prst="downArrow">
            <a:avLst/>
          </a:prstGeom>
          <a:solidFill>
            <a:srgbClr val="FF0000">
              <a:alpha val="14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latin typeface="Arial" charset="0"/>
            </a:endParaRPr>
          </a:p>
        </p:txBody>
      </p:sp>
      <p:sp>
        <p:nvSpPr>
          <p:cNvPr id="13" name="Retângulo de cantos arredondados 12"/>
          <p:cNvSpPr/>
          <p:nvPr/>
        </p:nvSpPr>
        <p:spPr bwMode="auto">
          <a:xfrm>
            <a:off x="1424409" y="1276400"/>
            <a:ext cx="268928" cy="1344824"/>
          </a:xfrm>
          <a:prstGeom prst="roundRect">
            <a:avLst/>
          </a:prstGeom>
          <a:solidFill>
            <a:srgbClr val="FF0000">
              <a:alpha val="14000"/>
            </a:srgb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endParaRPr kumimoji="0" lang="pt-BR" sz="12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Seta para cima e para baixo 8"/>
          <p:cNvSpPr/>
          <p:nvPr/>
        </p:nvSpPr>
        <p:spPr>
          <a:xfrm>
            <a:off x="1094362" y="2615977"/>
            <a:ext cx="288032" cy="504056"/>
          </a:xfrm>
          <a:prstGeom prst="upDownArrow">
            <a:avLst/>
          </a:prstGeom>
          <a:solidFill>
            <a:schemeClr val="bg2">
              <a:lumMod val="25000"/>
              <a:alpha val="14000"/>
            </a:schemeClr>
          </a:solidFill>
          <a:ln w="317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defTabSz="895350" eaLnBrk="0" fontAlgn="base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</a:pPr>
            <a:endParaRPr lang="pt-BR" sz="1200" b="1">
              <a:solidFill>
                <a:schemeClr val="tx1"/>
              </a:solidFill>
              <a:latin typeface="Arial" charset="0"/>
            </a:endParaRPr>
          </a:p>
        </p:txBody>
      </p:sp>
      <p:sp>
        <p:nvSpPr>
          <p:cNvPr id="22" name="Explosão 1 21"/>
          <p:cNvSpPr/>
          <p:nvPr/>
        </p:nvSpPr>
        <p:spPr bwMode="auto">
          <a:xfrm>
            <a:off x="1886174" y="2716560"/>
            <a:ext cx="1872208" cy="1008112"/>
          </a:xfrm>
          <a:prstGeom prst="irregularSeal1">
            <a:avLst/>
          </a:prstGeom>
          <a:solidFill>
            <a:schemeClr val="bg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45720" tIns="54864" rIns="0" bIns="54864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895350" rtl="0" eaLnBrk="0" fontAlgn="base" latinLnBrk="0" hangingPunct="0">
              <a:lnSpc>
                <a:spcPct val="95000"/>
              </a:lnSpc>
              <a:spcBef>
                <a:spcPct val="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tabLst/>
            </a:pPr>
            <a:r>
              <a:rPr kumimoji="0" lang="pt-BR" sz="11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Baixa aderência nas respostas</a:t>
            </a:r>
          </a:p>
        </p:txBody>
      </p:sp>
      <p:sp>
        <p:nvSpPr>
          <p:cNvPr id="17" name="Seta para a direita listrada 16">
            <a:hlinkClick r:id="rId5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>
            <a:off x="8469957" y="1165843"/>
            <a:ext cx="63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  <p:sp>
        <p:nvSpPr>
          <p:cNvPr id="23" name="CaixaDeTexto 22"/>
          <p:cNvSpPr txBox="1"/>
          <p:nvPr/>
        </p:nvSpPr>
        <p:spPr>
          <a:xfrm>
            <a:off x="3707904" y="3438515"/>
            <a:ext cx="4752528" cy="133882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1200" i="1" dirty="0" smtClean="0"/>
              <a:t>“Precisamos </a:t>
            </a:r>
            <a:r>
              <a:rPr lang="pt-BR" sz="1200" i="1" dirty="0"/>
              <a:t>refaturar mais </a:t>
            </a:r>
            <a:r>
              <a:rPr lang="pt-BR" sz="1200" i="1" dirty="0" smtClean="0"/>
              <a:t>rápido</a:t>
            </a:r>
            <a:r>
              <a:rPr lang="pt-BR" sz="1200" i="1" dirty="0"/>
              <a:t>, os pedidos </a:t>
            </a:r>
            <a:r>
              <a:rPr lang="pt-BR" sz="1200" i="1" dirty="0" smtClean="0"/>
              <a:t>já </a:t>
            </a:r>
            <a:r>
              <a:rPr lang="pt-BR" sz="1200" i="1" dirty="0"/>
              <a:t>possuem reclamação</a:t>
            </a:r>
            <a:r>
              <a:rPr lang="pt-BR" sz="1200" i="1" dirty="0" smtClean="0"/>
              <a:t>!”</a:t>
            </a:r>
          </a:p>
          <a:p>
            <a:endParaRPr lang="pt-BR" sz="200" i="1" dirty="0" smtClean="0"/>
          </a:p>
          <a:p>
            <a:endParaRPr lang="pt-BR" sz="200" i="1" dirty="0" smtClean="0"/>
          </a:p>
          <a:p>
            <a:r>
              <a:rPr lang="pt-BR" sz="1200" i="1" dirty="0" smtClean="0"/>
              <a:t>“</a:t>
            </a:r>
            <a:r>
              <a:rPr lang="pt-BR" sz="1200" i="1" dirty="0"/>
              <a:t>CATI no soluciono </a:t>
            </a:r>
            <a:r>
              <a:rPr lang="pt-BR" sz="1200" i="1" dirty="0" err="1" smtClean="0"/>
              <a:t>ningún</a:t>
            </a:r>
            <a:r>
              <a:rPr lang="pt-BR" sz="1200" i="1" dirty="0" smtClean="0"/>
              <a:t> </a:t>
            </a:r>
            <a:r>
              <a:rPr lang="pt-BR" sz="1200" i="1" dirty="0"/>
              <a:t>problema, </a:t>
            </a:r>
            <a:r>
              <a:rPr lang="pt-BR" sz="1200" i="1" dirty="0" err="1"/>
              <a:t>personalmente</a:t>
            </a:r>
            <a:r>
              <a:rPr lang="pt-BR" sz="1200" i="1" dirty="0"/>
              <a:t> </a:t>
            </a:r>
            <a:r>
              <a:rPr lang="pt-BR" sz="1200" i="1" dirty="0" err="1"/>
              <a:t>tuve</a:t>
            </a:r>
            <a:r>
              <a:rPr lang="pt-BR" sz="1200" i="1" dirty="0"/>
              <a:t> que </a:t>
            </a:r>
            <a:r>
              <a:rPr lang="pt-BR" sz="1200" i="1" dirty="0" smtClean="0"/>
              <a:t>buscar </a:t>
            </a:r>
            <a:r>
              <a:rPr lang="pt-BR" sz="1200" i="1" dirty="0" err="1"/>
              <a:t>la</a:t>
            </a:r>
            <a:r>
              <a:rPr lang="pt-BR" sz="1200" i="1" dirty="0"/>
              <a:t> </a:t>
            </a:r>
            <a:r>
              <a:rPr lang="pt-BR" sz="1200" i="1" dirty="0" err="1" smtClean="0"/>
              <a:t>solución</a:t>
            </a:r>
            <a:r>
              <a:rPr lang="pt-BR" sz="1200" i="1" dirty="0" smtClean="0"/>
              <a:t> </a:t>
            </a:r>
            <a:r>
              <a:rPr lang="pt-BR" sz="1200" i="1" dirty="0" err="1"/>
              <a:t>en</a:t>
            </a:r>
            <a:r>
              <a:rPr lang="pt-BR" sz="1200" i="1" dirty="0"/>
              <a:t> forma paralela y una vez solucionado desde CATI </a:t>
            </a:r>
            <a:r>
              <a:rPr lang="pt-BR" sz="1200" i="1" dirty="0" err="1" smtClean="0"/>
              <a:t>aún</a:t>
            </a:r>
            <a:r>
              <a:rPr lang="pt-BR" sz="1200" i="1" dirty="0" smtClean="0"/>
              <a:t> </a:t>
            </a:r>
            <a:r>
              <a:rPr lang="pt-BR" sz="1200" i="1" dirty="0" err="1"/>
              <a:t>pedian</a:t>
            </a:r>
            <a:r>
              <a:rPr lang="pt-BR" sz="1200" i="1" dirty="0"/>
              <a:t> </a:t>
            </a:r>
            <a:r>
              <a:rPr lang="pt-BR" sz="1200" i="1" dirty="0" err="1"/>
              <a:t>informaciones</a:t>
            </a:r>
            <a:r>
              <a:rPr lang="pt-BR" sz="1200" i="1" dirty="0"/>
              <a:t> para </a:t>
            </a:r>
            <a:r>
              <a:rPr lang="pt-BR" sz="1200" i="1" dirty="0" err="1" smtClean="0"/>
              <a:t>avanzar</a:t>
            </a:r>
            <a:r>
              <a:rPr lang="pt-BR" sz="1200" i="1" dirty="0" smtClean="0"/>
              <a:t>”</a:t>
            </a:r>
          </a:p>
          <a:p>
            <a:endParaRPr lang="pt-BR" sz="300" i="1" dirty="0" smtClean="0"/>
          </a:p>
          <a:p>
            <a:endParaRPr lang="pt-BR" sz="200" i="1" dirty="0" smtClean="0"/>
          </a:p>
          <a:p>
            <a:r>
              <a:rPr lang="pt-BR" sz="1200" i="1" dirty="0" smtClean="0"/>
              <a:t>“</a:t>
            </a:r>
            <a:r>
              <a:rPr lang="pt-BR" sz="1200" i="1" dirty="0"/>
              <a:t>Muita morosidade no atendimento dos chamados, por vezes os analistas não tem a devida orientação/</a:t>
            </a:r>
            <a:r>
              <a:rPr lang="pt-BR" sz="1200" i="1" dirty="0" err="1"/>
              <a:t>skill</a:t>
            </a:r>
            <a:r>
              <a:rPr lang="pt-BR" sz="1200" i="1" dirty="0" smtClean="0"/>
              <a:t>.”</a:t>
            </a:r>
            <a:endParaRPr lang="pt-BR" dirty="0"/>
          </a:p>
        </p:txBody>
      </p:sp>
      <p:sp>
        <p:nvSpPr>
          <p:cNvPr id="28" name="CaixaDeTexto 27"/>
          <p:cNvSpPr txBox="1"/>
          <p:nvPr/>
        </p:nvSpPr>
        <p:spPr>
          <a:xfrm>
            <a:off x="4599012" y="2518469"/>
            <a:ext cx="3384376" cy="507831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200" i="1"/>
            </a:lvl1pPr>
          </a:lstStyle>
          <a:p>
            <a:r>
              <a:rPr lang="pt-BR" dirty="0"/>
              <a:t>“Agradeço pela agilidade e </a:t>
            </a:r>
            <a:r>
              <a:rPr lang="pt-BR" dirty="0" smtClean="0"/>
              <a:t>eficiência </a:t>
            </a:r>
            <a:r>
              <a:rPr lang="pt-BR" dirty="0"/>
              <a:t>da Analista</a:t>
            </a:r>
            <a:r>
              <a:rPr lang="pt-BR" dirty="0" smtClean="0"/>
              <a:t>!”</a:t>
            </a:r>
          </a:p>
          <a:p>
            <a:endParaRPr lang="pt-BR" sz="300" dirty="0"/>
          </a:p>
          <a:p>
            <a:r>
              <a:rPr lang="pt-BR" dirty="0"/>
              <a:t>“Atendimento excelente! Obrigada</a:t>
            </a:r>
            <a:r>
              <a:rPr lang="pt-BR" dirty="0" smtClean="0"/>
              <a:t>!”</a:t>
            </a:r>
            <a:endParaRPr lang="pt-BR" dirty="0"/>
          </a:p>
        </p:txBody>
      </p:sp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232" y="2282934"/>
            <a:ext cx="591326" cy="5980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8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690" y="3362652"/>
            <a:ext cx="698806" cy="6500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tângulo 1"/>
          <p:cNvSpPr/>
          <p:nvPr/>
        </p:nvSpPr>
        <p:spPr>
          <a:xfrm>
            <a:off x="4860032" y="3035950"/>
            <a:ext cx="25379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dirty="0" smtClean="0"/>
              <a:t>Comentários de Pesquisa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84354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5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. 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Aging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: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 </a:t>
            </a:r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Visão Geral e Visão Usuários</a:t>
            </a: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332" y="845940"/>
            <a:ext cx="8642924" cy="40308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1" name="Seta para a direita listrada 50">
            <a:hlinkClick r:id="rId4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/>
          <p:cNvSpPr txBox="1"/>
          <p:nvPr/>
        </p:nvSpPr>
        <p:spPr>
          <a:xfrm>
            <a:off x="8469957" y="1165843"/>
            <a:ext cx="63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2561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de Problemas 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060" y="1467619"/>
            <a:ext cx="4522980" cy="26891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CaixaDeTexto 4"/>
          <p:cNvSpPr txBox="1"/>
          <p:nvPr/>
        </p:nvSpPr>
        <p:spPr>
          <a:xfrm>
            <a:off x="4860032" y="1852464"/>
            <a:ext cx="4104456" cy="1800200"/>
          </a:xfrm>
          <a:prstGeom prst="rect">
            <a:avLst/>
          </a:prstGeom>
          <a:solidFill>
            <a:schemeClr val="lt1"/>
          </a:solidFill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1200" dirty="0" smtClean="0">
              <a:solidFill>
                <a:schemeClr val="dk1"/>
              </a:solidFill>
              <a:effectLst/>
              <a:latin typeface="Gill Sans Std Light" pitchFamily="34" charset="0"/>
            </a:endParaRPr>
          </a:p>
          <a:p>
            <a:r>
              <a:rPr lang="pt-BR" sz="1200" dirty="0" smtClean="0">
                <a:solidFill>
                  <a:schemeClr val="dk1"/>
                </a:solidFill>
                <a:effectLst/>
                <a:latin typeface="Gill Sans Std Light" pitchFamily="34" charset="0"/>
              </a:rPr>
              <a:t>Dos</a:t>
            </a:r>
            <a:r>
              <a:rPr lang="pt-BR" sz="1200" baseline="0" dirty="0" smtClean="0">
                <a:solidFill>
                  <a:schemeClr val="dk1"/>
                </a:solidFill>
                <a:effectLst/>
                <a:latin typeface="Gill Sans Std Light" pitchFamily="34" charset="0"/>
              </a:rPr>
              <a:t> </a:t>
            </a:r>
            <a:r>
              <a:rPr lang="pt-BR" sz="1200" baseline="0" dirty="0">
                <a:solidFill>
                  <a:schemeClr val="dk1"/>
                </a:solidFill>
                <a:effectLst/>
                <a:latin typeface="Gill Sans Std Light" pitchFamily="34" charset="0"/>
              </a:rPr>
              <a:t>problemas ativos na ferramenta (CA e ITSM), em suas diferentes fases, </a:t>
            </a:r>
            <a:r>
              <a:rPr lang="pt-BR" sz="1200" b="1" baseline="0" dirty="0">
                <a:solidFill>
                  <a:schemeClr val="dk1"/>
                </a:solidFill>
                <a:effectLst/>
                <a:latin typeface="Gill Sans Std Light" pitchFamily="34" charset="0"/>
              </a:rPr>
              <a:t>81%</a:t>
            </a:r>
            <a:r>
              <a:rPr lang="pt-BR" sz="1200" baseline="0" dirty="0">
                <a:solidFill>
                  <a:schemeClr val="dk1"/>
                </a:solidFill>
                <a:effectLst/>
                <a:latin typeface="Gill Sans Std Light" pitchFamily="34" charset="0"/>
              </a:rPr>
              <a:t> estão em atraso necessitando da análise das equipes técnicas conforme apresentado.  Em relação a semana anterior, houve aumento de </a:t>
            </a:r>
            <a:r>
              <a:rPr lang="pt-BR" sz="1200" b="1" baseline="0" dirty="0">
                <a:solidFill>
                  <a:schemeClr val="dk1"/>
                </a:solidFill>
                <a:effectLst/>
                <a:latin typeface="Gill Sans Std Light" pitchFamily="34" charset="0"/>
              </a:rPr>
              <a:t>10%</a:t>
            </a:r>
            <a:r>
              <a:rPr lang="pt-BR" sz="1200" baseline="0" dirty="0">
                <a:solidFill>
                  <a:schemeClr val="dk1"/>
                </a:solidFill>
                <a:effectLst/>
                <a:latin typeface="Gill Sans Std Light" pitchFamily="34" charset="0"/>
              </a:rPr>
              <a:t> dos problemas em atraso.</a:t>
            </a:r>
            <a:endParaRPr lang="pt-BR" sz="1200" dirty="0">
              <a:effectLst/>
              <a:latin typeface="Gill Sans Std Light" pitchFamily="34" charset="0"/>
            </a:endParaRPr>
          </a:p>
          <a:p>
            <a:endParaRPr lang="pt-BR" sz="1200" baseline="0" dirty="0">
              <a:solidFill>
                <a:schemeClr val="dk1"/>
              </a:solidFill>
              <a:effectLst/>
              <a:latin typeface="Gill Sans Std Light" pitchFamily="34" charset="0"/>
            </a:endParaRPr>
          </a:p>
          <a:p>
            <a:r>
              <a:rPr lang="pt-BR" sz="1200" baseline="0" dirty="0">
                <a:solidFill>
                  <a:schemeClr val="dk1"/>
                </a:solidFill>
                <a:effectLst/>
                <a:latin typeface="Gill Sans Std Light" pitchFamily="34" charset="0"/>
              </a:rPr>
              <a:t>Reuniões semanais estão sendo realizadas para o acompanhamento das devidas tratativas para diminuição do backlog</a:t>
            </a:r>
            <a:r>
              <a:rPr lang="pt-BR" sz="1200" baseline="0" dirty="0" smtClean="0">
                <a:solidFill>
                  <a:schemeClr val="dk1"/>
                </a:solidFill>
                <a:effectLst/>
                <a:latin typeface="Gill Sans Std Light" pitchFamily="34" charset="0"/>
              </a:rPr>
              <a:t>.</a:t>
            </a:r>
            <a:endParaRPr lang="pt-BR" sz="1100" dirty="0"/>
          </a:p>
        </p:txBody>
      </p:sp>
      <p:sp>
        <p:nvSpPr>
          <p:cNvPr id="7" name="Seta para a direita listrada 6">
            <a:hlinkClick r:id="rId4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8469957" y="1165843"/>
            <a:ext cx="63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6176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Problemas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3" y="648841"/>
            <a:ext cx="6465887" cy="437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eta para a direita listrada 4">
            <a:hlinkClick r:id="rId4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/>
          <p:cNvSpPr txBox="1"/>
          <p:nvPr/>
        </p:nvSpPr>
        <p:spPr>
          <a:xfrm>
            <a:off x="8469957" y="1165843"/>
            <a:ext cx="63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8776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/>
          <p:cNvSpPr txBox="1"/>
          <p:nvPr/>
        </p:nvSpPr>
        <p:spPr>
          <a:xfrm>
            <a:off x="0" y="0"/>
            <a:ext cx="9144000" cy="646331"/>
          </a:xfrm>
          <a:prstGeom prst="rect">
            <a:avLst/>
          </a:prstGeom>
          <a:solidFill>
            <a:schemeClr val="accent6"/>
          </a:solidFill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ExtraBold" pitchFamily="34" charset="0"/>
              </a:rPr>
              <a:t>PROCESSOS E PERFORMANCE</a:t>
            </a:r>
          </a:p>
          <a:p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Gestão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de </a:t>
            </a:r>
            <a:r>
              <a:rPr lang="pt-BR" b="1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Std Light" pitchFamily="34" charset="0"/>
              </a:rPr>
              <a:t>Mudanças</a:t>
            </a:r>
            <a:endParaRPr lang="pt-BR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ill Sans Std Light" pitchFamily="34" charset="0"/>
            </a:endParaRPr>
          </a:p>
        </p:txBody>
      </p:sp>
      <p:pic>
        <p:nvPicPr>
          <p:cNvPr id="14" name="Picture 8" descr="NAT_marca_branca_natura-01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0432" y="19878"/>
            <a:ext cx="576000" cy="57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2932585"/>
            <a:ext cx="3456383" cy="20334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46331"/>
            <a:ext cx="3877539" cy="2286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1960" y="1564432"/>
            <a:ext cx="3475568" cy="20882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Seta para a direita listrada 6">
            <a:hlinkClick r:id="rId6" action="ppaction://hlinksldjump"/>
          </p:cNvPr>
          <p:cNvSpPr/>
          <p:nvPr/>
        </p:nvSpPr>
        <p:spPr>
          <a:xfrm rot="10800000">
            <a:off x="8532440" y="709861"/>
            <a:ext cx="504056" cy="436931"/>
          </a:xfrm>
          <a:prstGeom prst="striped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CaixaDeTexto 8"/>
          <p:cNvSpPr txBox="1"/>
          <p:nvPr/>
        </p:nvSpPr>
        <p:spPr>
          <a:xfrm>
            <a:off x="8469957" y="1165843"/>
            <a:ext cx="6385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 smtClean="0">
                <a:solidFill>
                  <a:srgbClr val="3333CC"/>
                </a:solidFill>
              </a:rPr>
              <a:t>Voltar</a:t>
            </a:r>
            <a:endParaRPr lang="pt-BR" sz="1200" b="1" dirty="0">
              <a:solidFill>
                <a:srgbClr val="3333C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909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2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3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ppt/theme/themeOverride4.xml><?xml version="1.0" encoding="utf-8"?>
<a:themeOverride xmlns:a="http://schemas.openxmlformats.org/drawingml/2006/main">
  <a:clrScheme name="Escritório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  <a:fontScheme name="Escritório">
    <a:majorFont>
      <a:latin typeface="Cambria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Escritório">
    <a:fillStyleLst>
      <a:solidFill>
        <a:schemeClr val="phClr"/>
      </a:solidFill>
      <a:gradFill rotWithShape="1">
        <a:gsLst>
          <a:gs pos="0">
            <a:schemeClr val="phClr">
              <a:tint val="50000"/>
              <a:satMod val="300000"/>
            </a:schemeClr>
          </a:gs>
          <a:gs pos="35000">
            <a:schemeClr val="phClr">
              <a:tint val="37000"/>
              <a:satMod val="300000"/>
            </a:schemeClr>
          </a:gs>
          <a:gs pos="100000">
            <a:schemeClr val="phClr">
              <a:tint val="15000"/>
              <a:satMod val="350000"/>
            </a:schemeClr>
          </a:gs>
        </a:gsLst>
        <a:lin ang="16200000" scaled="1"/>
      </a:gradFill>
      <a:gradFill rotWithShape="1">
        <a:gsLst>
          <a:gs pos="0">
            <a:schemeClr val="phClr">
              <a:shade val="51000"/>
              <a:satMod val="130000"/>
            </a:schemeClr>
          </a:gs>
          <a:gs pos="80000">
            <a:schemeClr val="phClr">
              <a:shade val="93000"/>
              <a:satMod val="130000"/>
            </a:schemeClr>
          </a:gs>
          <a:gs pos="100000">
            <a:schemeClr val="phClr">
              <a:shade val="94000"/>
              <a:satMod val="135000"/>
            </a:schemeClr>
          </a:gs>
        </a:gsLst>
        <a:lin ang="16200000" scaled="0"/>
      </a:gradFill>
    </a:fillStyleLst>
    <a:lnStyleLst>
      <a:ln w="9525" cap="flat" cmpd="sng" algn="ctr">
        <a:solidFill>
          <a:schemeClr val="phClr">
            <a:shade val="95000"/>
            <a:satMod val="105000"/>
          </a:schemeClr>
        </a:solidFill>
        <a:prstDash val="solid"/>
      </a:ln>
      <a:ln w="25400" cap="flat" cmpd="sng" algn="ctr">
        <a:solidFill>
          <a:schemeClr val="phClr"/>
        </a:solidFill>
        <a:prstDash val="solid"/>
      </a:ln>
      <a:ln w="38100" cap="flat" cmpd="sng" algn="ctr">
        <a:solidFill>
          <a:schemeClr val="phClr"/>
        </a:solidFill>
        <a:prstDash val="solid"/>
      </a:ln>
    </a:lnStyleLst>
    <a:effectStyleLst>
      <a:effectStyle>
        <a:effectLst>
          <a:outerShdw blurRad="40000" dist="20000" dir="5400000" rotWithShape="0">
            <a:srgbClr val="000000">
              <a:alpha val="38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</a:effectStyle>
      <a:effectStyle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a:effectStyle>
    </a:effectStyleLst>
    <a:bgFillStyleLst>
      <a:solidFill>
        <a:schemeClr val="phClr"/>
      </a:solidFill>
      <a:gradFill rotWithShape="1">
        <a:gsLst>
          <a:gs pos="0">
            <a:schemeClr val="phClr">
              <a:tint val="40000"/>
              <a:satMod val="350000"/>
            </a:schemeClr>
          </a:gs>
          <a:gs pos="40000">
            <a:schemeClr val="phClr">
              <a:tint val="45000"/>
              <a:shade val="99000"/>
              <a:satMod val="350000"/>
            </a:schemeClr>
          </a:gs>
          <a:gs pos="100000">
            <a:schemeClr val="phClr">
              <a:shade val="20000"/>
              <a:satMod val="255000"/>
            </a:schemeClr>
          </a:gs>
        </a:gsLst>
        <a:path path="circle">
          <a:fillToRect l="50000" t="-80000" r="50000" b="180000"/>
        </a:path>
      </a:gradFill>
      <a:gradFill rotWithShape="1">
        <a:gsLst>
          <a:gs pos="0">
            <a:schemeClr val="phClr">
              <a:tint val="80000"/>
              <a:satMod val="300000"/>
            </a:schemeClr>
          </a:gs>
          <a:gs pos="100000">
            <a:schemeClr val="phClr">
              <a:shade val="30000"/>
              <a:satMod val="200000"/>
            </a:schemeClr>
          </a:gs>
        </a:gsLst>
        <a:path path="circle">
          <a:fillToRect l="50000" t="50000" r="50000" b="50000"/>
        </a:path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9416</TotalTime>
  <Words>1601</Words>
  <Application>Microsoft Office PowerPoint</Application>
  <PresentationFormat>Personalizar</PresentationFormat>
  <Paragraphs>308</Paragraphs>
  <Slides>35</Slides>
  <Notes>1</Notes>
  <HiddenSlides>6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35</vt:i4>
      </vt:variant>
    </vt:vector>
  </HeadingPairs>
  <TitlesOfParts>
    <vt:vector size="36" baseType="lpstr"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BR92457</dc:creator>
  <cp:lastModifiedBy>mvmarque</cp:lastModifiedBy>
  <cp:revision>383</cp:revision>
  <dcterms:created xsi:type="dcterms:W3CDTF">2014-10-02T13:42:42Z</dcterms:created>
  <dcterms:modified xsi:type="dcterms:W3CDTF">2015-04-28T17:07:12Z</dcterms:modified>
</cp:coreProperties>
</file>