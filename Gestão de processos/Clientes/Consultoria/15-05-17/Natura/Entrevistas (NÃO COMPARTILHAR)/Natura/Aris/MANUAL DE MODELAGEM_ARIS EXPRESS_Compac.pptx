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39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38.xml" ContentType="application/vnd.openxmlformats-officedocument.presentationml.slide+xml"/>
  <Override PartName="/ppt/slides/slide2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306" r:id="rId3"/>
    <p:sldId id="311" r:id="rId4"/>
    <p:sldId id="272" r:id="rId5"/>
    <p:sldId id="310" r:id="rId6"/>
    <p:sldId id="305" r:id="rId7"/>
    <p:sldId id="307" r:id="rId8"/>
    <p:sldId id="309" r:id="rId9"/>
    <p:sldId id="274" r:id="rId10"/>
    <p:sldId id="312" r:id="rId11"/>
    <p:sldId id="313" r:id="rId12"/>
    <p:sldId id="314" r:id="rId13"/>
    <p:sldId id="315" r:id="rId14"/>
    <p:sldId id="316" r:id="rId15"/>
    <p:sldId id="277" r:id="rId16"/>
    <p:sldId id="278" r:id="rId17"/>
    <p:sldId id="280" r:id="rId18"/>
    <p:sldId id="282" r:id="rId19"/>
    <p:sldId id="283" r:id="rId20"/>
    <p:sldId id="284" r:id="rId21"/>
    <p:sldId id="285" r:id="rId22"/>
    <p:sldId id="286" r:id="rId23"/>
    <p:sldId id="287" r:id="rId24"/>
    <p:sldId id="304" r:id="rId25"/>
    <p:sldId id="288" r:id="rId26"/>
    <p:sldId id="289" r:id="rId27"/>
    <p:sldId id="290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17" r:id="rId38"/>
    <p:sldId id="318" r:id="rId39"/>
    <p:sldId id="270" r:id="rId4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038" autoAdjust="0"/>
  </p:normalViewPr>
  <p:slideViewPr>
    <p:cSldViewPr snapToObjects="1">
      <p:cViewPr>
        <p:scale>
          <a:sx n="64" d="100"/>
          <a:sy n="64" d="100"/>
        </p:scale>
        <p:origin x="-1566" y="-312"/>
      </p:cViewPr>
      <p:guideLst>
        <p:guide orient="horz" pos="22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C03768F-8A41-47E9-91A6-CD5375266A68}" type="datetimeFigureOut">
              <a:rPr lang="pt-BR"/>
              <a:pPr>
                <a:defRPr/>
              </a:pPr>
              <a:t>10/03/2011</a:t>
            </a:fld>
            <a:endParaRPr lang="pt-B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840C352-FFF9-4288-A938-B1C51D5F778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475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17514A98-903C-494A-A950-75843CDFE298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4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5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6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7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FB4BAD-F3A0-4B94-A039-15B4B01FCB5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8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0EF5B925-BA3A-41E9-A7A3-7CFBF83E0BF2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9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0EF5B925-BA3A-41E9-A7A3-7CFBF83E0BF2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10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0FE61628-2B62-4D0A-AC25-CA1625F99472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15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A4B7E237-06C3-4072-8579-B2E953418BE1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16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9022BE00-FE8F-40E6-A2BF-BF187E797D1A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17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9CE53A62-94AE-481F-9EE7-7959C4B7E2C0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18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0A1343C0-CD8A-4FBC-9361-A6D33FE0CAFC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19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784E881E-784A-4A9D-99C5-70AB6D035686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20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2C8A247-F939-4316-B334-0EB8E96A0F84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21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18D32AC0-16DB-4D2B-B1E8-AF9B9E07CE76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22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D888AA-EE02-4F54-93D7-9D4DBBCF3E3B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23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DD888AA-EE02-4F54-93D7-9D4DBBCF3E3B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24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5EE24D11-CF76-43F7-ADA3-F150969F5FD5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25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2C350F72-34CE-4DDB-85AA-00F6339B15C8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26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CFCE0A75-899B-4FF8-B204-A9F88416C727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27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B7975D87-B3BE-4944-950B-14D414BB4CB9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28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938FE17C-AAEA-4F08-8D25-B2D8EBB7DCEE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29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60145B70-C861-47DF-B1D3-3208DF2C3216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30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2507BFC9-7509-4A3E-BC05-62E41ACC2DA5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31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4C619A55-66CC-4412-B50F-A97EB48936DE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32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4BB1DD50-3770-4BC4-B8EF-D6A2D3D5B862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33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710D7D78-09B5-4858-8EB1-5E90E0609BA0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34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D7E782A3-E160-4B42-9E80-1B67F3856F9E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35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84" tIns="45691" rIns="91384" bIns="45691" anchor="b"/>
          <a:lstStyle/>
          <a:p>
            <a:pPr algn="r" defTabSz="914400"/>
            <a:fld id="{6973782E-DDF8-4EF1-868D-0D88477E781D}" type="slidenum">
              <a:rPr lang="pt-BR" sz="1200">
                <a:latin typeface="Arial" charset="0"/>
                <a:ea typeface="Geneva"/>
                <a:cs typeface="Geneva"/>
              </a:rPr>
              <a:pPr algn="r" defTabSz="914400"/>
              <a:t>36</a:t>
            </a:fld>
            <a:endParaRPr lang="pt-BR" sz="1200">
              <a:latin typeface="Arial" charset="0"/>
              <a:ea typeface="Geneva"/>
              <a:cs typeface="Geneva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2000" cy="34290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84" tIns="45691" rIns="91384" bIns="45691"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A10E7-4A17-4679-99AA-4CF3F036A194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A3F92-8EF6-4F5F-A2B1-30760EF31EB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59A98-C42F-4BDB-A994-0F96963ED127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4F7FB-4B44-4162-AA71-85F71325D90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BA6D0-B78D-4A22-BF9C-69466E44E065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71579-C6BB-4193-BBFF-2E8876B07E9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84CCB-4CA4-4DB8-BE5A-AB1561BC1EB0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7411C-4EE2-4210-983C-9B7511A7AD3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80C07-9569-4072-978F-AFB9D870F473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E1429-34C5-41B5-9D09-83735A7B086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92FB7-7EC9-43E0-8D9D-21414B37BAE8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C4AB8-A379-4573-92F3-4D7BB86EB0B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A30A2-6736-4C7F-B61A-B3521629CCE4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EAF7C-D528-426E-9B11-1436096683F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A15F4-4B20-4F07-86C8-F9293C2A5C3C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E6653-BA50-4189-AC18-BE857A1DCCD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7ED54-6FE1-44F4-AD40-11AF08E17C52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525E7-BD9C-4903-8BA0-B998B1AC94E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CC05D-F93B-44C8-AAB7-BE5415BF986F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DFA83-55D3-4B4A-967B-42E093A0E24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E9CFE3-FBC4-4B82-AC0C-66BADB16A297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BF32C-3C6D-4E46-893E-C3AE050830B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1693B254-A3CC-4E38-9F9E-39F71DA1090E}" type="datetime1">
              <a:rPr lang="en-US"/>
              <a:pPr>
                <a:defRPr/>
              </a:pPr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C8CF897-C236-4E44-8C2F-2447236E3F6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grpSp>
        <p:nvGrpSpPr>
          <p:cNvPr id="1031" name="Group 9"/>
          <p:cNvGrpSpPr>
            <a:grpSpLocks/>
          </p:cNvGrpSpPr>
          <p:nvPr userDrawn="1"/>
        </p:nvGrpSpPr>
        <p:grpSpPr bwMode="auto">
          <a:xfrm>
            <a:off x="0" y="0"/>
            <a:ext cx="9144000" cy="1000125"/>
            <a:chOff x="0" y="0"/>
            <a:chExt cx="5760" cy="630"/>
          </a:xfrm>
        </p:grpSpPr>
        <p:pic>
          <p:nvPicPr>
            <p:cNvPr id="1032" name="Picture 2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0" y="0"/>
              <a:ext cx="5760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3" name="Picture 7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5232" y="119"/>
              <a:ext cx="472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9144000" cy="685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8" name="TextBox 2"/>
          <p:cNvSpPr txBox="1">
            <a:spLocks noChangeArrowheads="1"/>
          </p:cNvSpPr>
          <p:nvPr/>
        </p:nvSpPr>
        <p:spPr bwMode="auto">
          <a:xfrm>
            <a:off x="457200" y="6129338"/>
            <a:ext cx="1250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</a:rPr>
              <a:t>Fevereiro</a:t>
            </a:r>
            <a:r>
              <a:rPr lang="en-US" sz="1000" dirty="0">
                <a:solidFill>
                  <a:schemeClr val="bg1"/>
                </a:solidFill>
              </a:rPr>
              <a:t> / 2011</a:t>
            </a:r>
          </a:p>
        </p:txBody>
      </p:sp>
      <p:sp>
        <p:nvSpPr>
          <p:cNvPr id="14339" name="TextBox 3"/>
          <p:cNvSpPr txBox="1">
            <a:spLocks noChangeArrowheads="1"/>
          </p:cNvSpPr>
          <p:nvPr/>
        </p:nvSpPr>
        <p:spPr bwMode="auto">
          <a:xfrm>
            <a:off x="295938" y="4016375"/>
            <a:ext cx="7324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Modelagem</a:t>
            </a:r>
            <a:r>
              <a:rPr lang="en-US" sz="3200" dirty="0" smtClean="0">
                <a:solidFill>
                  <a:schemeClr val="bg1"/>
                </a:solidFill>
              </a:rPr>
              <a:t> de </a:t>
            </a:r>
            <a:r>
              <a:rPr lang="en-US" sz="3200" dirty="0" err="1" smtClean="0">
                <a:solidFill>
                  <a:schemeClr val="bg1"/>
                </a:solidFill>
              </a:rPr>
              <a:t>Processos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340" name="TextBox 4"/>
          <p:cNvSpPr txBox="1">
            <a:spLocks noChangeArrowheads="1"/>
          </p:cNvSpPr>
          <p:nvPr/>
        </p:nvSpPr>
        <p:spPr bwMode="auto">
          <a:xfrm>
            <a:off x="323528" y="1905000"/>
            <a:ext cx="609600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6600" b="1" dirty="0">
                <a:solidFill>
                  <a:schemeClr val="bg1"/>
                </a:solidFill>
              </a:rPr>
              <a:t>ARIS Express</a:t>
            </a:r>
            <a:endParaRPr lang="en-US" sz="6600" dirty="0">
              <a:solidFill>
                <a:schemeClr val="bg1"/>
              </a:solidFill>
            </a:endParaRPr>
          </a:p>
        </p:txBody>
      </p:sp>
      <p:pic>
        <p:nvPicPr>
          <p:cNvPr id="14341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26375" y="2895600"/>
            <a:ext cx="749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TextBox 2"/>
          <p:cNvSpPr txBox="1">
            <a:spLocks noChangeArrowheads="1"/>
          </p:cNvSpPr>
          <p:nvPr/>
        </p:nvSpPr>
        <p:spPr bwMode="auto">
          <a:xfrm>
            <a:off x="539750" y="4595813"/>
            <a:ext cx="944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b="1" dirty="0" err="1">
                <a:solidFill>
                  <a:schemeClr val="bg1"/>
                </a:solidFill>
              </a:rPr>
              <a:t>Versão</a:t>
            </a:r>
            <a:r>
              <a:rPr lang="en-US" sz="1000" b="1" dirty="0">
                <a:solidFill>
                  <a:schemeClr val="bg1"/>
                </a:solidFill>
              </a:rPr>
              <a:t>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60497" y="1041512"/>
            <a:ext cx="8970791" cy="23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 modelo </a:t>
            </a:r>
            <a:r>
              <a:rPr lang="pt-BR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pt-BR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Landscape</a:t>
            </a: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é usado para estruturação de uma visão macro dos processos da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Natura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É aplicável aos seguintes níveis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da hierarquia de processos : </a:t>
            </a:r>
          </a:p>
          <a:p>
            <a:pPr marL="742950" lvl="1" indent="-285750" defTabSz="968375">
              <a:spcBef>
                <a:spcPct val="20000"/>
              </a:spcBef>
              <a:buFont typeface="Arial" pitchFamily="34" charset="0"/>
              <a:buChar char="•"/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Cadeia de processos (Nível 0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)</a:t>
            </a:r>
          </a:p>
          <a:p>
            <a:pPr marL="742950" lvl="1" indent="-285750" defTabSz="968375">
              <a:spcBef>
                <a:spcPct val="20000"/>
              </a:spcBef>
              <a:buFont typeface="Arial" pitchFamily="34" charset="0"/>
              <a:buChar char="•"/>
            </a:pP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Processos (Nível 1)</a:t>
            </a:r>
          </a:p>
          <a:p>
            <a:pPr marL="742950" lvl="1" indent="-285750" defTabSz="968375">
              <a:spcBef>
                <a:spcPct val="20000"/>
              </a:spcBef>
              <a:buFont typeface="Arial" pitchFamily="34" charset="0"/>
              <a:buChar char="•"/>
            </a:pPr>
            <a:r>
              <a:rPr lang="pt-BR" sz="1600" dirty="0" err="1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Subprocessos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(Nível 2)</a:t>
            </a:r>
          </a:p>
          <a:p>
            <a:pPr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25" y="3573016"/>
            <a:ext cx="5821363" cy="259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530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Objeto utilizado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1029" y="1767241"/>
            <a:ext cx="24607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Objeto </a:t>
            </a:r>
            <a:r>
              <a:rPr lang="pt-BR" sz="1600" dirty="0" err="1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195736" y="3003523"/>
            <a:ext cx="6624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 um macro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,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ou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subprocesso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na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hierarquia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de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processos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da </a:t>
            </a:r>
            <a:r>
              <a:rPr lang="en-US" sz="1600" dirty="0" err="1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Natura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20441"/>
            <a:ext cx="1714500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8948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5135BF2-D7A2-44C8-93ED-1F8DB7081079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4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7410" name="TextBox 11"/>
          <p:cNvSpPr txBox="1">
            <a:spLocks noChangeArrowheads="1"/>
          </p:cNvSpPr>
          <p:nvPr/>
        </p:nvSpPr>
        <p:spPr bwMode="auto">
          <a:xfrm>
            <a:off x="866775" y="1236663"/>
            <a:ext cx="7939088" cy="2027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717" tIns="48359" rIns="96717" bIns="48359">
            <a:spAutoFit/>
          </a:bodyPr>
          <a:lstStyle/>
          <a:p>
            <a:pPr marL="358775" indent="-358775" defTabSz="968375">
              <a:spcBef>
                <a:spcPct val="20000"/>
              </a:spcBef>
              <a:buFontTx/>
              <a:buChar char="•"/>
            </a:pPr>
            <a:r>
              <a:rPr lang="pt-BR" sz="1900" dirty="0">
                <a:solidFill>
                  <a:srgbClr val="002B5C"/>
                </a:solidFill>
                <a:ea typeface="Geneva"/>
                <a:cs typeface="Geneva"/>
              </a:rPr>
              <a:t>Não podem existir processos com apenas um </a:t>
            </a:r>
            <a:r>
              <a:rPr lang="pt-BR" sz="1900" dirty="0" err="1">
                <a:solidFill>
                  <a:srgbClr val="002B5C"/>
                </a:solidFill>
                <a:ea typeface="Geneva"/>
                <a:cs typeface="Geneva"/>
              </a:rPr>
              <a:t>subprocesso</a:t>
            </a:r>
            <a:endParaRPr lang="pt-BR" sz="19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358775" indent="-358775" defTabSz="968375">
              <a:spcBef>
                <a:spcPct val="20000"/>
              </a:spcBef>
              <a:buFontTx/>
              <a:buChar char="•"/>
            </a:pPr>
            <a:endParaRPr lang="pt-BR" sz="19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358775" indent="-358775" defTabSz="968375">
              <a:spcBef>
                <a:spcPct val="20000"/>
              </a:spcBef>
              <a:buFontTx/>
              <a:buChar char="•"/>
            </a:pP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Os nomes dos processos </a:t>
            </a:r>
            <a:r>
              <a:rPr lang="pt-BR" sz="1900" dirty="0">
                <a:solidFill>
                  <a:srgbClr val="002B5C"/>
                </a:solidFill>
                <a:ea typeface="Geneva"/>
                <a:cs typeface="Geneva"/>
              </a:rPr>
              <a:t>não </a:t>
            </a: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deverão </a:t>
            </a:r>
            <a:r>
              <a:rPr lang="pt-BR" sz="1900" dirty="0">
                <a:solidFill>
                  <a:srgbClr val="002B5C"/>
                </a:solidFill>
                <a:ea typeface="Geneva"/>
                <a:cs typeface="Geneva"/>
              </a:rPr>
              <a:t>começar por verbo no </a:t>
            </a: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infinitivo</a:t>
            </a:r>
          </a:p>
          <a:p>
            <a:pPr marL="358775" indent="-358775" defTabSz="968375">
              <a:spcBef>
                <a:spcPct val="20000"/>
              </a:spcBef>
              <a:buFontTx/>
              <a:buChar char="•"/>
            </a:pP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Verbos </a:t>
            </a:r>
            <a:r>
              <a:rPr lang="pt-BR" sz="1900" dirty="0">
                <a:solidFill>
                  <a:srgbClr val="002B5C"/>
                </a:solidFill>
                <a:ea typeface="Geneva"/>
                <a:cs typeface="Geneva"/>
              </a:rPr>
              <a:t>no </a:t>
            </a: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infinitivo no início deverão ser usados </a:t>
            </a:r>
            <a:r>
              <a:rPr lang="pt-BR" sz="1900" dirty="0">
                <a:solidFill>
                  <a:srgbClr val="002B5C"/>
                </a:solidFill>
                <a:ea typeface="Geneva"/>
                <a:cs typeface="Geneva"/>
              </a:rPr>
              <a:t>apenas em </a:t>
            </a:r>
            <a:r>
              <a:rPr lang="pt-BR" sz="1900" dirty="0" smtClean="0">
                <a:solidFill>
                  <a:srgbClr val="002B5C"/>
                </a:solidFill>
                <a:ea typeface="Geneva"/>
                <a:cs typeface="Geneva"/>
              </a:rPr>
              <a:t>atividades, no diagrama EPC</a:t>
            </a:r>
            <a:endParaRPr lang="pt-BR" sz="19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7411" name="Título 1"/>
          <p:cNvSpPr>
            <a:spLocks/>
          </p:cNvSpPr>
          <p:nvPr/>
        </p:nvSpPr>
        <p:spPr bwMode="auto">
          <a:xfrm>
            <a:off x="-1" y="0"/>
            <a:ext cx="8805863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1858963" y="3878263"/>
            <a:ext cx="15065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FF0000"/>
                </a:solidFill>
                <a:latin typeface="Arial" charset="0"/>
                <a:ea typeface="Geneva"/>
                <a:cs typeface="Geneva"/>
              </a:rPr>
              <a:t>ERRADO</a:t>
            </a:r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5292725" y="3876675"/>
            <a:ext cx="1250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8000"/>
                </a:solidFill>
                <a:latin typeface="Arial" charset="0"/>
                <a:ea typeface="Geneva"/>
                <a:cs typeface="Geneva"/>
              </a:rPr>
              <a:t>CERTO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1" y="4335463"/>
            <a:ext cx="4846637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5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Nível 1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1016792"/>
            <a:ext cx="907036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A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figura a seguir ilustra o formato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atual de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representação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do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Nível 1 da hierarquia de </a:t>
            </a: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processos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2492896"/>
            <a:ext cx="7124700" cy="3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8858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6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Nível 1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-21586" y="1000125"/>
            <a:ext cx="9144000" cy="5607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Para transcrever o conteúdo do nível 1 para o ARIS Express, siga os passos a seguir:</a:t>
            </a:r>
          </a:p>
          <a:p>
            <a:pPr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546100" defTabSz="968375">
              <a:spcBef>
                <a:spcPct val="20000"/>
              </a:spcBef>
              <a:buFont typeface="+mj-lt"/>
              <a:buAutoNum type="arabicPeriod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Crie um diagrama do tipo </a:t>
            </a:r>
            <a:r>
              <a:rPr lang="pt-BR" sz="1600" dirty="0" err="1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 err="1">
                <a:solidFill>
                  <a:srgbClr val="002B5C"/>
                </a:solidFill>
                <a:ea typeface="Geneva"/>
                <a:cs typeface="Geneva"/>
              </a:rPr>
              <a:t>Landscape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358775" defTabSz="968375">
              <a:spcBef>
                <a:spcPct val="20000"/>
              </a:spcBef>
              <a:buFont typeface="+mj-lt"/>
              <a:buAutoNum type="arabicPeriod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546100" defTabSz="968375">
              <a:spcBef>
                <a:spcPct val="20000"/>
              </a:spcBef>
              <a:buFont typeface="+mj-lt"/>
              <a:buAutoNum type="arabicPeriod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Crie um objeto </a:t>
            </a:r>
            <a:r>
              <a:rPr lang="pt-BR" sz="1600" dirty="0" err="1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             para cada um dos processos representados </a:t>
            </a: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inicialmente pelo símbolo            </a:t>
            </a: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 Conecte os objetos como no modelo original, atentando-se para correta representação de sequenciamento e paralelismo.</a:t>
            </a: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Após realizar todos os passos descritos, temos o diagrama finalizado, conforme </a:t>
            </a:r>
          </a:p>
          <a:p>
            <a:pPr marL="269875" lvl="1"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figura abaixo</a:t>
            </a: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629" y="2132856"/>
            <a:ext cx="7540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716" y="2793974"/>
            <a:ext cx="6318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869160"/>
            <a:ext cx="5554663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0360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7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Nível 2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0" y="104361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 Nível 2 da hierarquia de processos é atualmente representado pela matriz de responsabilidades, conforme exemplo ilustrado na figura a seguir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988840"/>
            <a:ext cx="8420100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064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/>
          <p:cNvSpPr txBox="1">
            <a:spLocks noGrp="1"/>
          </p:cNvSpPr>
          <p:nvPr/>
        </p:nvSpPr>
        <p:spPr bwMode="auto">
          <a:xfrm>
            <a:off x="8305800" y="64944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9C925D9B-9364-42B4-9436-0D02904B3D1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8</a:t>
            </a:fld>
            <a:endParaRPr lang="pt-BR" sz="1400" dirty="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5362" name="Título 1"/>
          <p:cNvSpPr>
            <a:spLocks/>
          </p:cNvSpPr>
          <p:nvPr/>
        </p:nvSpPr>
        <p:spPr bwMode="auto">
          <a:xfrm>
            <a:off x="0" y="0"/>
            <a:ext cx="866854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err="1" smtClean="0">
                <a:solidFill>
                  <a:srgbClr val="8ECCDF"/>
                </a:solidFill>
              </a:rPr>
              <a:t>Process</a:t>
            </a:r>
            <a:r>
              <a:rPr lang="pt-BR" sz="2600" b="1" dirty="0" smtClean="0">
                <a:solidFill>
                  <a:srgbClr val="8ECCDF"/>
                </a:solidFill>
              </a:rPr>
              <a:t> </a:t>
            </a:r>
            <a:r>
              <a:rPr lang="pt-BR" sz="2600" b="1" dirty="0" err="1" smtClean="0">
                <a:solidFill>
                  <a:srgbClr val="8ECCDF"/>
                </a:solidFill>
              </a:rPr>
              <a:t>Landscape</a:t>
            </a:r>
            <a:r>
              <a:rPr lang="pt-BR" sz="2600" b="1" dirty="0" smtClean="0">
                <a:solidFill>
                  <a:srgbClr val="8ECCDF"/>
                </a:solidFill>
              </a:rPr>
              <a:t> – Nível 2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0" y="1041211"/>
            <a:ext cx="9144000" cy="5558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Para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transcrever o conteúdo do nível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2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para o ARIS Express, siga os passos a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seguir: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lvl="1" defTabSz="968375">
              <a:spcBef>
                <a:spcPct val="20000"/>
              </a:spcBef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lvl="1" defTabSz="968375">
              <a:spcBef>
                <a:spcPct val="20000"/>
              </a:spcBef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546100" defTabSz="968375">
              <a:spcBef>
                <a:spcPct val="20000"/>
              </a:spcBef>
              <a:buFont typeface="+mj-lt"/>
              <a:buAutoNum type="arabicPeriod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Crie um diagrama do tipo </a:t>
            </a:r>
            <a:r>
              <a:rPr lang="pt-BR" sz="1600" dirty="0" err="1" smtClean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 err="1" smtClean="0">
                <a:solidFill>
                  <a:srgbClr val="002B5C"/>
                </a:solidFill>
                <a:ea typeface="Geneva"/>
                <a:cs typeface="Geneva"/>
              </a:rPr>
              <a:t>Landscape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358775" defTabSz="968375">
              <a:spcBef>
                <a:spcPct val="20000"/>
              </a:spcBef>
              <a:buFont typeface="+mj-lt"/>
              <a:buAutoNum type="arabicPeriod"/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815975" lvl="1" indent="-546100" defTabSz="968375">
              <a:spcBef>
                <a:spcPct val="20000"/>
              </a:spcBef>
              <a:buFont typeface="+mj-lt"/>
              <a:buAutoNum type="arabicPeriod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Crie um objeto </a:t>
            </a:r>
            <a:r>
              <a:rPr lang="pt-BR" sz="1600" dirty="0" err="1" smtClean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             para cada das linhas da matriz de </a:t>
            </a:r>
          </a:p>
          <a:p>
            <a:pPr marL="269875" lvl="1"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Responsabilidades. Cada objeto deve representar um bloco de atividades e não deve iniciar com verbos no infinitivo.</a:t>
            </a: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 Estabeleça as conexões entre os processos, atentando-se para a correta representação de sequenciamento e paralelismo</a:t>
            </a:r>
          </a:p>
          <a:p>
            <a:pPr marL="269875" lvl="1" defTabSz="968375">
              <a:spcBef>
                <a:spcPct val="20000"/>
              </a:spcBef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Após realizar todos os passos descritos, temos o diagrama finalizado, conforme </a:t>
            </a:r>
          </a:p>
          <a:p>
            <a:pPr marL="269875" lvl="1"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figura abaixo</a:t>
            </a: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612775" lvl="1" indent="-342900" defTabSz="968375">
              <a:spcBef>
                <a:spcPct val="20000"/>
              </a:spcBef>
              <a:buAutoNum type="arabicPeriod" startAt="3"/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 smtClean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69875" lvl="1"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189" y="2492896"/>
            <a:ext cx="7540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5143918"/>
            <a:ext cx="5897563" cy="145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97736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866CB1BF-55FD-49E4-8435-375511474545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9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21506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Nível 3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83768" y="1595021"/>
            <a:ext cx="6184776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  <a:buFont typeface="Wingdings" pitchFamily="2" charset="2"/>
              <a:buNone/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Apresenta uma visão detalhada do processo, através de funções realizadas, regras de negócio (operadores lógicos) e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eventos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  <a:buFont typeface="Wingdings" pitchFamily="2" charset="2"/>
              <a:buNone/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Propicia também a ligação/dependência lógica entre os processos, mostrando a sua integração através do objeto </a:t>
            </a:r>
            <a:r>
              <a:rPr lang="pt-BR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Interface</a:t>
            </a:r>
          </a:p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É aplicável ao Nível 3 (Fluxograma) da hierarquia de processos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Natura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  <a:buFont typeface="Wingdings" pitchFamily="2" charset="2"/>
              <a:buNone/>
            </a:pP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32122"/>
            <a:ext cx="1951037" cy="532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866CB1BF-55FD-49E4-8435-375511474545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10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891434" y="1412776"/>
            <a:ext cx="6357197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O detalhamento dos fluxogramas é obrigatório somente para os processos </a:t>
            </a:r>
            <a:r>
              <a:rPr lang="pt-BR" sz="1500" dirty="0" smtClean="0">
                <a:solidFill>
                  <a:srgbClr val="002B5C"/>
                </a:solidFill>
                <a:ea typeface="Geneva"/>
                <a:cs typeface="Geneva"/>
              </a:rPr>
              <a:t>críticos</a:t>
            </a:r>
          </a:p>
          <a:p>
            <a:endParaRPr lang="pt-BR" sz="1500" dirty="0">
              <a:solidFill>
                <a:srgbClr val="002B5C"/>
              </a:solidFill>
              <a:ea typeface="Geneva"/>
              <a:cs typeface="Geneva"/>
            </a:endParaRPr>
          </a:p>
          <a:p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Um processo é considerado crítico quando apresenta ao menos uma das seguintes características</a:t>
            </a:r>
            <a:r>
              <a:rPr lang="pt-BR" sz="1500" dirty="0" smtClean="0">
                <a:solidFill>
                  <a:srgbClr val="002B5C"/>
                </a:solidFill>
                <a:ea typeface="Geneva"/>
                <a:cs typeface="Geneva"/>
              </a:rPr>
              <a:t>:</a:t>
            </a:r>
          </a:p>
          <a:p>
            <a:endParaRPr lang="pt-BR" sz="1500" b="1" dirty="0">
              <a:solidFill>
                <a:srgbClr val="002B5C"/>
              </a:solidFill>
              <a:ea typeface="Geneva"/>
              <a:cs typeface="Genev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Impacta resultados de indicadores do processo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Há riscos associados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Complexidade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Muitas pessoas envolvidas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Frequência de execução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Gestão do conhecimento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pt-BR" sz="1500" b="1" dirty="0">
                <a:solidFill>
                  <a:srgbClr val="002B5C"/>
                </a:solidFill>
                <a:ea typeface="Geneva"/>
                <a:cs typeface="Geneva"/>
              </a:rPr>
              <a:t>Transação SAP</a:t>
            </a:r>
          </a:p>
          <a:p>
            <a:endParaRPr lang="pt-BR" sz="1500" b="1" dirty="0">
              <a:solidFill>
                <a:srgbClr val="002B5C"/>
              </a:solidFill>
              <a:ea typeface="Geneva"/>
              <a:cs typeface="Geneva"/>
            </a:endParaRPr>
          </a:p>
          <a:p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Além da criticidade, outro fator que pode demandar o detalhamento dos fluxogramas é uma </a:t>
            </a:r>
            <a:r>
              <a:rPr lang="pt-BR" sz="1500" dirty="0" smtClean="0">
                <a:solidFill>
                  <a:srgbClr val="002B5C"/>
                </a:solidFill>
                <a:ea typeface="Geneva"/>
                <a:cs typeface="Geneva"/>
              </a:rPr>
              <a:t>solicitação </a:t>
            </a:r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do gestor para atendimento à uma demanda específica.</a:t>
            </a:r>
          </a:p>
          <a:p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Cada uma das linhas </a:t>
            </a:r>
            <a:r>
              <a:rPr lang="pt-BR" sz="1500" dirty="0" smtClean="0">
                <a:solidFill>
                  <a:srgbClr val="002B5C"/>
                </a:solidFill>
                <a:ea typeface="Geneva"/>
                <a:cs typeface="Geneva"/>
              </a:rPr>
              <a:t>críticas da </a:t>
            </a:r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matriz de responsabilidades dará origem a um </a:t>
            </a:r>
            <a:r>
              <a:rPr lang="pt-BR" sz="1500" dirty="0" smtClean="0">
                <a:solidFill>
                  <a:srgbClr val="002B5C"/>
                </a:solidFill>
                <a:ea typeface="Geneva"/>
                <a:cs typeface="Geneva"/>
              </a:rPr>
              <a:t>fluxograma</a:t>
            </a:r>
            <a:endParaRPr lang="pt-BR" sz="1500" dirty="0">
              <a:solidFill>
                <a:srgbClr val="002B5C"/>
              </a:solidFill>
              <a:ea typeface="Geneva"/>
              <a:cs typeface="Geneva"/>
            </a:endParaRPr>
          </a:p>
          <a:p>
            <a:r>
              <a:rPr lang="pt-BR" sz="1500" dirty="0">
                <a:solidFill>
                  <a:srgbClr val="002B5C"/>
                </a:solidFill>
                <a:ea typeface="Geneva"/>
                <a:cs typeface="Geneva"/>
              </a:rPr>
              <a:t> </a:t>
            </a:r>
          </a:p>
        </p:txBody>
      </p:sp>
      <p:sp>
        <p:nvSpPr>
          <p:cNvPr id="6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2697163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567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2021266" y="2427012"/>
            <a:ext cx="6697662" cy="333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o início, fim ou status relevante para o entendimento do processo.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Descreve o resultado de uma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atividade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Identificam ocorrências temporais ou mudanças importantes nas informações empresariais, que controlam ou influenciam os próximos procedimentos do processo de negócio. O nome de um evento deve ser composto por: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substantivo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+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Verbo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no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particípio</a:t>
            </a:r>
            <a:endParaRPr lang="en-US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Exemplo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: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Cliente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cadastrado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no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sistema</a:t>
            </a:r>
            <a:endParaRPr lang="en-US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/>
            <a:endParaRPr lang="en-US" b="1" dirty="0">
              <a:solidFill>
                <a:srgbClr val="003366"/>
              </a:solidFill>
              <a:ea typeface="Geneva"/>
              <a:cs typeface="Geneva"/>
            </a:endParaRPr>
          </a:p>
          <a:p>
            <a:pPr defTabSz="968375" eaLnBrk="0" hangingPunct="0"/>
            <a:endParaRPr lang="pt-BR" b="1" dirty="0" smtClean="0">
              <a:solidFill>
                <a:srgbClr val="003366"/>
              </a:solidFill>
              <a:ea typeface="Geneva"/>
              <a:cs typeface="Geneva"/>
            </a:endParaRPr>
          </a:p>
          <a:p>
            <a:pPr defTabSz="968375" eaLnBrk="0" hangingPunct="0"/>
            <a:endParaRPr lang="pt-BR" b="1" dirty="0">
              <a:solidFill>
                <a:srgbClr val="003366"/>
              </a:solidFill>
              <a:ea typeface="Geneva"/>
              <a:cs typeface="Geneva"/>
            </a:endParaRPr>
          </a:p>
        </p:txBody>
      </p:sp>
      <p:sp>
        <p:nvSpPr>
          <p:cNvPr id="11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Objetos utilizados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994537" y="1000125"/>
            <a:ext cx="6697662" cy="183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uma atividade executada no processo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nome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de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uma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atividade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deve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ser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composto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por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: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verbo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no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infinitivo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(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ação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) +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substantivo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(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objeto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)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Exemplo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: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Cadastar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cliente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no </a:t>
            </a:r>
            <a:r>
              <a:rPr lang="en-US" sz="1600" dirty="0" err="1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sistema</a:t>
            </a:r>
            <a:endParaRPr lang="en-US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/>
            <a:endParaRPr lang="en-US" b="1" dirty="0">
              <a:solidFill>
                <a:srgbClr val="003366"/>
              </a:solidFill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096750" y="5124544"/>
            <a:ext cx="6697662" cy="17173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a interface entre os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processos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Trata-se de uma indicação de um outro processo que complementa o processo em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questão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OU</a:t>
            </a:r>
          </a:p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interface com processo externo, isto é, não executado pela Organização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4245"/>
            <a:ext cx="1203325" cy="504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04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2240638" y="1268760"/>
            <a:ext cx="6697662" cy="1963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operador lógico E</a:t>
            </a:r>
          </a:p>
          <a:p>
            <a:pPr defTabSz="968375"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Quando dividir o fluxo: indica que todos os caminhos precisam ser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percorridos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Quando </a:t>
            </a: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unir o fluxo: indica que todos os caminhos foram percorridos antes que a atividade seguinte possa ser iniciada, ou seja, ocorreram todos os eventos "origem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"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47473" name="Rectangle 17"/>
          <p:cNvSpPr>
            <a:spLocks noChangeArrowheads="1"/>
          </p:cNvSpPr>
          <p:nvPr/>
        </p:nvSpPr>
        <p:spPr bwMode="auto">
          <a:xfrm>
            <a:off x="2236422" y="4448610"/>
            <a:ext cx="6534150" cy="16681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Representa operador lógico OU Exclusivo</a:t>
            </a:r>
          </a:p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Quando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dividir o fluxo: indica que apenas um dos caminhos precisa ser percorrido, ou seja, apenas ocorrerá um dos eventos "destino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"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Quando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unir o fluxo: indica que apenas um dos caminhos executados é suficiente para iniciar a atividade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seguinte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0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Objetos utilizados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860425" cy="375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6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2218848" y="3784312"/>
            <a:ext cx="6697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o risco que poderá ocorrer em um processo ou </a:t>
            </a:r>
            <a:r>
              <a:rPr lang="pt-BR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atividade</a:t>
            </a:r>
            <a:r>
              <a:rPr lang="en-US" sz="1600" dirty="0" smtClean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195513" y="5572975"/>
            <a:ext cx="6697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uma área da organização responsável pela execução do processo ou por etapas de um processo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48495" name="Rectangle 15"/>
          <p:cNvSpPr>
            <a:spLocks noChangeArrowheads="1"/>
          </p:cNvSpPr>
          <p:nvPr/>
        </p:nvSpPr>
        <p:spPr bwMode="auto">
          <a:xfrm>
            <a:off x="2218848" y="1111250"/>
            <a:ext cx="6534150" cy="166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Representa o operador lógico E/Ou</a:t>
            </a:r>
          </a:p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Quando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dividir o fluxo: indica que pelo menos um dos caminhos precisa ser executado, ou seja, ocorrerá no mínimo um dos eventos "destino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"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>
              <a:spcBef>
                <a:spcPct val="20000"/>
              </a:spcBef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Quando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unir o fluxo: indica que pelo menos um dos caminhos executados é suficiente para iniciar a atividade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seguinte 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Objetos utilizados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92933"/>
            <a:ext cx="1249363" cy="459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055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2208734" y="1570336"/>
            <a:ext cx="66976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uma função (perfil)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52594" name="Text Box 18"/>
          <p:cNvSpPr txBox="1">
            <a:spLocks noChangeArrowheads="1"/>
          </p:cNvSpPr>
          <p:nvPr/>
        </p:nvSpPr>
        <p:spPr bwMode="auto">
          <a:xfrm>
            <a:off x="2228583" y="3210668"/>
            <a:ext cx="6697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os sistemas e aplicativos que suportam a execução dos processos / atividades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52596" name="Text Box 20"/>
          <p:cNvSpPr txBox="1">
            <a:spLocks noChangeArrowheads="1"/>
          </p:cNvSpPr>
          <p:nvPr/>
        </p:nvSpPr>
        <p:spPr bwMode="auto">
          <a:xfrm>
            <a:off x="2228583" y="5085184"/>
            <a:ext cx="6697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68375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Representa informações obtidas ou enviadas através de documento físico ou imagem em formato eletrônico</a:t>
            </a:r>
            <a:r>
              <a:rPr lang="en-US" sz="1600" dirty="0">
                <a:solidFill>
                  <a:srgbClr val="002B5C"/>
                </a:solidFill>
                <a:latin typeface="Verdana" pitchFamily="34" charset="0"/>
                <a:ea typeface="Geneva"/>
                <a:cs typeface="Geneva"/>
              </a:rPr>
              <a:t> </a:t>
            </a:r>
            <a:endParaRPr lang="pt-BR" sz="1600" dirty="0">
              <a:solidFill>
                <a:srgbClr val="002B5C"/>
              </a:solidFill>
              <a:latin typeface="Verdana" pitchFamily="34" charset="0"/>
              <a:ea typeface="Geneva"/>
              <a:cs typeface="Geneva"/>
            </a:endParaRP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Objetos utilizados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07132"/>
            <a:ext cx="12350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89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BD81141D-2E84-494B-A84D-4580A33E5DEF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15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27650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10425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/>
            <a:endParaRPr lang="pt-BR" sz="2400" b="1" dirty="0" smtClean="0"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Dentro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de um mesmo modelo não devem existir processos em paralelo sem uma relação entre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si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62000" y="1066800"/>
            <a:ext cx="8153400" cy="673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Não podem existir processos com apenas uma atividade</a:t>
            </a:r>
          </a:p>
          <a:p>
            <a:pPr defTabSz="968375">
              <a:spcBef>
                <a:spcPct val="20000"/>
              </a:spcBef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5" name="Título 1"/>
          <p:cNvSpPr>
            <a:spLocks/>
          </p:cNvSpPr>
          <p:nvPr/>
        </p:nvSpPr>
        <p:spPr bwMode="auto">
          <a:xfrm>
            <a:off x="59032" y="66675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2636272"/>
            <a:ext cx="7932737" cy="380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E091FBF9-8082-48FB-BEF1-D709C9F61E1A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16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29699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3593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Não deve existir processo sem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saída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772816"/>
            <a:ext cx="7124700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38" y="2816359"/>
            <a:ext cx="5851525" cy="374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3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71A0798-C33E-42C1-8E0D-0F025BFB4E3F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17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2260600" y="2851150"/>
            <a:ext cx="1462088" cy="5302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pt-BR" sz="1400" b="1">
                <a:ea typeface="Geneva"/>
                <a:cs typeface="Geneva"/>
              </a:rPr>
              <a:t>Evitar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abreviações</a:t>
            </a:r>
            <a:r>
              <a:rPr lang="pt-BR" sz="1400" b="1">
                <a:ea typeface="Geneva"/>
                <a:cs typeface="Geneva"/>
              </a:rPr>
              <a:t>!</a:t>
            </a:r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2260600" y="4129088"/>
            <a:ext cx="1916113" cy="9556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pt-BR" sz="1400" b="1" dirty="0">
                <a:solidFill>
                  <a:srgbClr val="323937"/>
                </a:solidFill>
                <a:ea typeface="Geneva"/>
                <a:cs typeface="Geneva"/>
              </a:rPr>
              <a:t>Informação do objeto imprecisa!</a:t>
            </a:r>
            <a:endParaRPr lang="pt-BR" sz="1400" b="1" dirty="0">
              <a:ea typeface="Geneva"/>
              <a:cs typeface="Geneva"/>
            </a:endParaRPr>
          </a:p>
          <a:p>
            <a:pPr eaLnBrk="0" hangingPunct="0"/>
            <a:r>
              <a:rPr lang="pt-BR" sz="1400" b="1" dirty="0">
                <a:solidFill>
                  <a:srgbClr val="323937"/>
                </a:solidFill>
                <a:ea typeface="Geneva"/>
                <a:cs typeface="Geneva"/>
              </a:rPr>
              <a:t>Qual ordem?</a:t>
            </a:r>
            <a:r>
              <a:rPr lang="pt-BR" sz="1400" b="1" dirty="0">
                <a:ea typeface="Geneva"/>
                <a:cs typeface="Geneva"/>
              </a:rPr>
              <a:t> 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6748463" y="4292600"/>
            <a:ext cx="1138237" cy="5302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Excesso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de verbo!</a:t>
            </a:r>
            <a:endParaRPr lang="pt-BR" sz="1400" b="1">
              <a:ea typeface="Geneva"/>
              <a:cs typeface="Geneva"/>
            </a:endParaRPr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6748463" y="5575300"/>
            <a:ext cx="1574800" cy="7429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Construção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incorreta!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Falta o verbo!</a:t>
            </a:r>
            <a:endParaRPr lang="pt-BR" sz="1400" b="1">
              <a:ea typeface="Geneva"/>
              <a:cs typeface="Geneva"/>
            </a:endParaRPr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2260600" y="5478463"/>
            <a:ext cx="2166938" cy="11684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Tempo do verbo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incorreto!</a:t>
            </a:r>
            <a:endParaRPr lang="pt-BR" sz="1400" b="1">
              <a:ea typeface="Geneva"/>
              <a:cs typeface="Geneva"/>
            </a:endParaRP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Executante</a:t>
            </a:r>
          </a:p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descrito na atividade!</a:t>
            </a:r>
            <a:endParaRPr lang="pt-BR" sz="1400" b="1">
              <a:ea typeface="Geneva"/>
              <a:cs typeface="Geneva"/>
            </a:endParaRP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6654800" y="2947988"/>
            <a:ext cx="1635125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pt-BR" sz="1400" b="1">
                <a:solidFill>
                  <a:srgbClr val="323937"/>
                </a:solidFill>
                <a:ea typeface="Geneva"/>
                <a:cs typeface="Geneva"/>
              </a:rPr>
              <a:t>Falta o verbo!</a:t>
            </a:r>
            <a:r>
              <a:rPr lang="pt-BR" sz="1400" b="1">
                <a:ea typeface="Geneva"/>
                <a:cs typeface="Geneva"/>
              </a:rPr>
              <a:t> </a:t>
            </a:r>
          </a:p>
        </p:txBody>
      </p:sp>
      <p:sp>
        <p:nvSpPr>
          <p:cNvPr id="33807" name="Text Box 49"/>
          <p:cNvSpPr txBox="1">
            <a:spLocks noChangeArrowheads="1"/>
          </p:cNvSpPr>
          <p:nvPr/>
        </p:nvSpPr>
        <p:spPr bwMode="auto">
          <a:xfrm>
            <a:off x="762000" y="1066800"/>
            <a:ext cx="8153400" cy="16888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Nos nomes das atividades não usar textos pouco detalhados como “Aprovar” ou “Reprovar”, mas sim “Aprovar requisição de material”. O objeto deve ser auto explicativo, qualquer leitor deve ser capaz de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entendê-lo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</a:p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Evitar abreviações de palavras e siglas no nome da atividade</a:t>
            </a:r>
          </a:p>
        </p:txBody>
      </p:sp>
      <p:sp>
        <p:nvSpPr>
          <p:cNvPr id="17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16" y="1412776"/>
            <a:ext cx="7864475" cy="379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89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FE0C562-A355-402C-827C-1A152C6C757F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18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37890" name="Text Box 35"/>
          <p:cNvSpPr txBox="1">
            <a:spLocks noChangeArrowheads="1"/>
          </p:cNvSpPr>
          <p:nvPr/>
        </p:nvSpPr>
        <p:spPr bwMode="auto">
          <a:xfrm>
            <a:off x="2843213" y="1306513"/>
            <a:ext cx="5919787" cy="16304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>
              <a:spcBef>
                <a:spcPct val="20000"/>
              </a:spcBef>
            </a:pPr>
            <a:endParaRPr lang="pt-BR" sz="1000" b="1" dirty="0">
              <a:solidFill>
                <a:srgbClr val="003366"/>
              </a:solidFill>
              <a:ea typeface="Geneva"/>
              <a:cs typeface="Geneva"/>
            </a:endParaRPr>
          </a:p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Após decisões ou atividades de verificação:</a:t>
            </a:r>
          </a:p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0" lvl="1"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Não utilizar: “Verificação Executada" ou " Verificação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concluída“, 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mas sim os possíveis resultados dessa verificação</a:t>
            </a:r>
          </a:p>
        </p:txBody>
      </p:sp>
      <p:sp>
        <p:nvSpPr>
          <p:cNvPr id="37896" name="Text Box 35"/>
          <p:cNvSpPr txBox="1">
            <a:spLocks noChangeArrowheads="1"/>
          </p:cNvSpPr>
          <p:nvPr/>
        </p:nvSpPr>
        <p:spPr bwMode="auto">
          <a:xfrm>
            <a:off x="2843213" y="5703888"/>
            <a:ext cx="5919787" cy="7286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Atividades como: avaliar, verificar, analisar, testar, etc. tem pelo menos 2 eventos de resultado</a:t>
            </a:r>
          </a:p>
          <a:p>
            <a:pPr defTabSz="968375"/>
            <a:endParaRPr lang="pt-BR" sz="900" b="1" dirty="0">
              <a:solidFill>
                <a:srgbClr val="003366"/>
              </a:solidFill>
              <a:ea typeface="Geneva"/>
              <a:cs typeface="Geneva"/>
            </a:endParaRP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B568BB77-31F7-4310-87EA-ABB48BE47E63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19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39938" name="Text Box 49"/>
          <p:cNvSpPr txBox="1">
            <a:spLocks noChangeArrowheads="1"/>
          </p:cNvSpPr>
          <p:nvPr/>
        </p:nvSpPr>
        <p:spPr bwMode="auto">
          <a:xfrm>
            <a:off x="765411" y="1340768"/>
            <a:ext cx="8153400" cy="336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Sempre utilizar eventos para demonstrar graficamente as ramificações e/ou resultados das decisões que ocorrem durante o fluxo do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processo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Os eventos são utilizados no início e fim dos processos e sempre que houver uma regra de negócio envolvida (utilização de operador lógico)</a:t>
            </a: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Iniciar  o processo sempre com evento, caso seja resultado de outro processo, registrá-lo precedido do objeto “</a:t>
            </a:r>
            <a:r>
              <a:rPr lang="pt-BR" sz="1600" dirty="0" err="1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Interface” </a:t>
            </a: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Eventos nunca estabelecem relacionamentos entre si. Eles sempre disparam a execução de ações/processos ou descrevem o resultado de uma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atividade/processo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5" name="Título 1"/>
          <p:cNvSpPr>
            <a:spLocks/>
          </p:cNvSpPr>
          <p:nvPr/>
        </p:nvSpPr>
        <p:spPr bwMode="auto">
          <a:xfrm>
            <a:off x="3905" y="2826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84ED735-EE9D-447B-A206-0E6A3CB3582B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20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41986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1458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Todo EPC deve começar com pelo menos um evento inicial ou </a:t>
            </a:r>
            <a:r>
              <a:rPr lang="en-US" sz="1600" dirty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interface</a:t>
            </a:r>
          </a:p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Todo EPC deve terminar com pelo menos um evento final ou </a:t>
            </a:r>
            <a:r>
              <a:rPr lang="en-US" sz="1600" dirty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interface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buFontTx/>
              <a:buChar char="•"/>
            </a:pPr>
            <a:endParaRPr lang="pt-BR" sz="1700" b="1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7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8" y="2407891"/>
            <a:ext cx="87852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CC54E940-B957-4CB3-B8BE-9E9E4BF379F6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21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44034" name="Text Box 49"/>
          <p:cNvSpPr txBox="1">
            <a:spLocks noChangeArrowheads="1"/>
          </p:cNvSpPr>
          <p:nvPr/>
        </p:nvSpPr>
        <p:spPr bwMode="auto">
          <a:xfrm>
            <a:off x="762000" y="1196975"/>
            <a:ext cx="8153400" cy="6209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Um evento deve ser seguido por uma função ou um operador lógico (exceto o evento final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)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1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1916832"/>
            <a:ext cx="7535863" cy="473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49499D96-41B4-4107-B571-8EBA19CC1F87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22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46083" name="Text Box 49"/>
          <p:cNvSpPr txBox="1">
            <a:spLocks noChangeArrowheads="1"/>
          </p:cNvSpPr>
          <p:nvPr/>
        </p:nvSpPr>
        <p:spPr bwMode="auto">
          <a:xfrm>
            <a:off x="762000" y="1125538"/>
            <a:ext cx="8153400" cy="8517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Por via de regra, deve-se inserir um evento para cada atividade realizada, porém para atividades sequenciais, sem regra de negócio (operador lógico) a utilização do eventos torna-se redundante 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desnecessária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7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65" y="2161430"/>
            <a:ext cx="6240463" cy="457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ítulo 1"/>
          <p:cNvSpPr>
            <a:spLocks/>
          </p:cNvSpPr>
          <p:nvPr/>
        </p:nvSpPr>
        <p:spPr bwMode="auto">
          <a:xfrm>
            <a:off x="0" y="0"/>
            <a:ext cx="9031288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>
                <a:solidFill>
                  <a:srgbClr val="8ECCDF"/>
                </a:solidFill>
              </a:rPr>
              <a:t>Regras de modelagem </a:t>
            </a:r>
            <a:r>
              <a:rPr lang="pt-BR" sz="2600" b="1" dirty="0" smtClean="0">
                <a:solidFill>
                  <a:srgbClr val="8ECCDF"/>
                </a:solidFill>
              </a:rPr>
              <a:t>EPC - Operador </a:t>
            </a:r>
            <a:r>
              <a:rPr lang="pt-BR" sz="2600" b="1" dirty="0">
                <a:solidFill>
                  <a:srgbClr val="8ECCDF"/>
                </a:solidFill>
              </a:rPr>
              <a:t>lógico</a:t>
            </a:r>
          </a:p>
        </p:txBody>
      </p:sp>
      <p:sp>
        <p:nvSpPr>
          <p:cNvPr id="48150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89132C8E-4EE8-4B3B-8481-123D11A4A1AA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23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196752"/>
            <a:ext cx="7589837" cy="562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0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89132C8E-4EE8-4B3B-8481-123D11A4A1AA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24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48132" name="Text Box 29"/>
          <p:cNvSpPr txBox="1">
            <a:spLocks noChangeArrowheads="1"/>
          </p:cNvSpPr>
          <p:nvPr/>
        </p:nvSpPr>
        <p:spPr bwMode="auto">
          <a:xfrm>
            <a:off x="3571874" y="1860506"/>
            <a:ext cx="5320606" cy="211670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3300"/>
            </a:solidFill>
            <a:miter lim="800000"/>
            <a:headEnd/>
            <a:tailEnd/>
          </a:ln>
        </p:spPr>
        <p:txBody>
          <a:bodyPr wrap="square" lIns="96747" tIns="48373" rIns="96747" bIns="48373">
            <a:spAutoFit/>
          </a:bodyPr>
          <a:lstStyle/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 operador lógico define os possíveis caminhos</a:t>
            </a: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Aqui temos um exemplo</a:t>
            </a: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em que os caminhos tiveram</a:t>
            </a: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desdobramentos independentes, e portanto, não foi necessário repetir</a:t>
            </a: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operador para fechar os caminhos como no exemplo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anterior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9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98" y="1246188"/>
            <a:ext cx="2971800" cy="531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1063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1" y="1096095"/>
            <a:ext cx="7064375" cy="575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79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C4029AD9-40A1-4B90-8D06-4E2A4FBA1886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25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50182" name="Rectangle 43"/>
          <p:cNvSpPr>
            <a:spLocks noChangeArrowheads="1"/>
          </p:cNvSpPr>
          <p:nvPr/>
        </p:nvSpPr>
        <p:spPr bwMode="auto">
          <a:xfrm>
            <a:off x="6588125" y="5473700"/>
            <a:ext cx="2124075" cy="762488"/>
          </a:xfrm>
          <a:prstGeom prst="rect">
            <a:avLst/>
          </a:prstGeom>
          <a:noFill/>
          <a:ln w="9525" algn="ctr">
            <a:solidFill>
              <a:srgbClr val="003366"/>
            </a:solidFill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Não utilizar OU, E/Ou após 1  (UM) evento!</a:t>
            </a: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-11174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2ECD3B0-1871-4626-AA40-FDE84E3CBFAE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26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13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102568"/>
            <a:ext cx="8504237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2E130616-1539-468C-8B5F-D348542528B2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27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54275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5547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Operadores lógicos podem ser combinados (quantos forem necessários) para representar fielmente as regras de negócio de um processo. </a:t>
            </a:r>
          </a:p>
        </p:txBody>
      </p:sp>
      <p:sp>
        <p:nvSpPr>
          <p:cNvPr id="5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4778BE2-ACFE-4745-8103-535A8773D62B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28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56322" name="Text Box 49"/>
          <p:cNvSpPr txBox="1">
            <a:spLocks noChangeArrowheads="1"/>
          </p:cNvSpPr>
          <p:nvPr/>
        </p:nvSpPr>
        <p:spPr bwMode="auto">
          <a:xfrm>
            <a:off x="515144" y="1124744"/>
            <a:ext cx="8153400" cy="5901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O </a:t>
            </a:r>
            <a:r>
              <a:rPr lang="pt-BR" sz="1600" dirty="0" err="1" smtClean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Interface indica o processo predecessor ou sucessor</a:t>
            </a:r>
          </a:p>
          <a:p>
            <a:pPr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O </a:t>
            </a:r>
            <a:r>
              <a:rPr lang="pt-BR" sz="1600" dirty="0" err="1" smtClean="0">
                <a:solidFill>
                  <a:srgbClr val="002B5C"/>
                </a:solidFill>
                <a:ea typeface="Geneva"/>
                <a:cs typeface="Geneva"/>
              </a:rPr>
              <a:t>Process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I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nterface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pode ocorrer também no meio do processo</a:t>
            </a:r>
          </a:p>
        </p:txBody>
      </p:sp>
      <p:sp>
        <p:nvSpPr>
          <p:cNvPr id="6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4" y="1899515"/>
            <a:ext cx="1668463" cy="464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22722074-3B2D-40BA-86BE-66A9BA57D0FF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29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58371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5685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Interfaces entre dois processos não deve ser representada num terceiro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modelo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2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471" y="1829064"/>
            <a:ext cx="6637337" cy="498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87" y="1610868"/>
            <a:ext cx="7192963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18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BC3809CB-0B0E-43A1-8255-5B06ACC1055C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30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60419" name="Text Box 49"/>
          <p:cNvSpPr txBox="1">
            <a:spLocks noChangeArrowheads="1"/>
          </p:cNvSpPr>
          <p:nvPr/>
        </p:nvSpPr>
        <p:spPr bwMode="auto">
          <a:xfrm>
            <a:off x="520295" y="1253379"/>
            <a:ext cx="8153400" cy="319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Não deve existir interface de um processo para ele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mesmo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60422" name="Rectangle 9"/>
          <p:cNvSpPr>
            <a:spLocks noChangeArrowheads="1"/>
          </p:cNvSpPr>
          <p:nvPr/>
        </p:nvSpPr>
        <p:spPr bwMode="auto">
          <a:xfrm>
            <a:off x="674688" y="1655763"/>
            <a:ext cx="3382962" cy="5157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0423" name="Text Box 10"/>
          <p:cNvSpPr txBox="1">
            <a:spLocks noChangeArrowheads="1"/>
          </p:cNvSpPr>
          <p:nvPr/>
        </p:nvSpPr>
        <p:spPr bwMode="auto">
          <a:xfrm>
            <a:off x="898525" y="1663700"/>
            <a:ext cx="10318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100">
                <a:solidFill>
                  <a:srgbClr val="003366"/>
                </a:solidFill>
                <a:ea typeface="Geneva"/>
                <a:cs typeface="Geneva"/>
              </a:rPr>
              <a:t>Processo A1</a:t>
            </a:r>
          </a:p>
        </p:txBody>
      </p:sp>
      <p:sp>
        <p:nvSpPr>
          <p:cNvPr id="14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601B0D15-1E32-475B-807C-A61D3B5A1D9D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31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62468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5685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Toda função (atividade) deve ter somente uma conexão de entrada e somente uma conexão de saída.</a:t>
            </a:r>
          </a:p>
        </p:txBody>
      </p:sp>
      <p:sp>
        <p:nvSpPr>
          <p:cNvPr id="14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44824"/>
            <a:ext cx="8382000" cy="457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/>
          <p:cNvSpPr txBox="1">
            <a:spLocks noGrp="1"/>
          </p:cNvSpPr>
          <p:nvPr/>
        </p:nvSpPr>
        <p:spPr bwMode="auto">
          <a:xfrm>
            <a:off x="2411760" y="6103852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16DD1804-1033-4291-B8C5-7B244CE35A3A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32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64515" name="Text Box 49"/>
          <p:cNvSpPr txBox="1">
            <a:spLocks noChangeArrowheads="1"/>
          </p:cNvSpPr>
          <p:nvPr/>
        </p:nvSpPr>
        <p:spPr bwMode="auto">
          <a:xfrm>
            <a:off x="762000" y="1260475"/>
            <a:ext cx="8153400" cy="5685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700" b="1" dirty="0">
                <a:solidFill>
                  <a:srgbClr val="003366"/>
                </a:solidFill>
                <a:ea typeface="Geneva"/>
                <a:cs typeface="Geneva"/>
              </a:rPr>
              <a:t> </a:t>
            </a: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Todo evento deve ter somente uma conexão de entrada e somente uma conexão de </a:t>
            </a:r>
            <a:r>
              <a:rPr lang="pt-BR" sz="1600" dirty="0" smtClean="0">
                <a:solidFill>
                  <a:srgbClr val="002B5C"/>
                </a:solidFill>
                <a:ea typeface="Geneva"/>
                <a:cs typeface="Geneva"/>
              </a:rPr>
              <a:t>saída</a:t>
            </a: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</p:txBody>
      </p:sp>
      <p:sp>
        <p:nvSpPr>
          <p:cNvPr id="11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894384" y="5920387"/>
            <a:ext cx="813690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475" indent="-117475" defTabSz="968375" eaLnBrk="0" hangingPunct="0"/>
            <a:r>
              <a:rPr lang="pt-BR" u="sng" dirty="0">
                <a:solidFill>
                  <a:srgbClr val="002B5C"/>
                </a:solidFill>
                <a:ea typeface="Geneva"/>
                <a:cs typeface="Geneva"/>
              </a:rPr>
              <a:t>Nota:</a:t>
            </a:r>
          </a:p>
          <a:p>
            <a:pPr marL="117475" indent="-117475" defTabSz="968375" eaLnBrk="0" hangingPunct="0"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Para eventos iniciais ou finais, há apenas uma conexão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2204864"/>
            <a:ext cx="71247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996376"/>
            <a:ext cx="5661025" cy="385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62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A4EB95C2-D77A-4106-86C0-4FEF6C36ACBF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33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66563" name="Text Box 49"/>
          <p:cNvSpPr txBox="1">
            <a:spLocks noChangeArrowheads="1"/>
          </p:cNvSpPr>
          <p:nvPr/>
        </p:nvSpPr>
        <p:spPr bwMode="auto">
          <a:xfrm>
            <a:off x="762000" y="1230313"/>
            <a:ext cx="8153400" cy="1328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117475" indent="-117475" defTabSz="968375" eaLnBrk="0" hangingPunct="0"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Um operador lógico deve ter:</a:t>
            </a:r>
          </a:p>
          <a:p>
            <a:pPr marL="117475" indent="-117475" defTabSz="968375" eaLnBrk="0" hangingPunct="0">
              <a:buFontTx/>
              <a:buChar char="•"/>
            </a:pPr>
            <a:endParaRPr lang="pt-BR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117475" lvl="1" indent="-117475" defTabSz="968375" eaLnBrk="0" hangingPunct="0"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Múltiplas conexões de entrada e uma única conexão de saída,</a:t>
            </a:r>
          </a:p>
          <a:p>
            <a:pPr marL="0" lvl="1" defTabSz="968375" eaLnBrk="0" hangingPunct="0"/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					Ou</a:t>
            </a:r>
          </a:p>
          <a:p>
            <a:pPr marL="117475" lvl="1" indent="-117475" defTabSz="968375" eaLnBrk="0" hangingPunct="0"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Uma única conexão de entrada e múltiplas conexões de saída.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81000" y="3509963"/>
            <a:ext cx="2614613" cy="1870484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117475" indent="-117475" defTabSz="968375" eaLnBrk="0" hangingPunct="0">
              <a:lnSpc>
                <a:spcPct val="90000"/>
              </a:lnSpc>
              <a:buFontTx/>
              <a:buChar char="•"/>
            </a:pPr>
            <a:r>
              <a:rPr lang="de-DE" sz="1600" dirty="0">
                <a:solidFill>
                  <a:srgbClr val="002B5C"/>
                </a:solidFill>
                <a:ea typeface="Geneva"/>
                <a:cs typeface="Geneva"/>
              </a:rPr>
              <a:t>Múltiplas conexões de entradas e saídas para um único operador lógico!</a:t>
            </a:r>
          </a:p>
          <a:p>
            <a:pPr marL="117475" indent="-117475" defTabSz="968375" eaLnBrk="0" hangingPunct="0">
              <a:lnSpc>
                <a:spcPct val="90000"/>
              </a:lnSpc>
              <a:buFontTx/>
              <a:buChar char="•"/>
            </a:pPr>
            <a:endParaRPr lang="de-DE" sz="1600" dirty="0">
              <a:solidFill>
                <a:srgbClr val="002B5C"/>
              </a:solidFill>
              <a:ea typeface="Geneva"/>
              <a:cs typeface="Geneva"/>
            </a:endParaRPr>
          </a:p>
          <a:p>
            <a:pPr marL="117475" indent="-117475" defTabSz="968375" eaLnBrk="0" hangingPunct="0">
              <a:lnSpc>
                <a:spcPct val="90000"/>
              </a:lnSpc>
              <a:buFontTx/>
              <a:buChar char="•"/>
            </a:pPr>
            <a:r>
              <a:rPr lang="de-DE" sz="1600" dirty="0">
                <a:solidFill>
                  <a:srgbClr val="002B5C"/>
                </a:solidFill>
                <a:ea typeface="Geneva"/>
                <a:cs typeface="Geneva"/>
              </a:rPr>
              <a:t>Qual evento inicia qual função (atividade)?</a:t>
            </a: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2995613" y="4281488"/>
            <a:ext cx="635000" cy="2079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14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Text Box 49"/>
          <p:cNvSpPr txBox="1">
            <a:spLocks noChangeArrowheads="1"/>
          </p:cNvSpPr>
          <p:nvPr/>
        </p:nvSpPr>
        <p:spPr bwMode="auto">
          <a:xfrm>
            <a:off x="662051" y="1230313"/>
            <a:ext cx="8153400" cy="319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Os objetos abaixo têm apenas 1 entrada e 1 saída</a:t>
            </a:r>
          </a:p>
        </p:txBody>
      </p:sp>
      <p:sp>
        <p:nvSpPr>
          <p:cNvPr id="68616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6C7E4463-A4EF-4879-BFE8-7318F2EC532E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34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68627" name="Text Box 49"/>
          <p:cNvSpPr txBox="1">
            <a:spLocks noChangeArrowheads="1"/>
          </p:cNvSpPr>
          <p:nvPr/>
        </p:nvSpPr>
        <p:spPr bwMode="auto">
          <a:xfrm>
            <a:off x="323850" y="5445125"/>
            <a:ext cx="8707438" cy="8609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>
              <a:lnSpc>
                <a:spcPct val="90000"/>
              </a:lnSpc>
              <a:spcBef>
                <a:spcPct val="20000"/>
              </a:spcBef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Nota:</a:t>
            </a:r>
          </a:p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Para eventos iniciais ou finais, há apenas uma conexão</a:t>
            </a:r>
          </a:p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Para interfaces de processos iniciais ou finais, há apenas uma conexão</a:t>
            </a:r>
          </a:p>
        </p:txBody>
      </p:sp>
      <p:sp>
        <p:nvSpPr>
          <p:cNvPr id="21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2430463"/>
            <a:ext cx="7635875" cy="200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49"/>
          <p:cNvSpPr txBox="1">
            <a:spLocks noChangeArrowheads="1"/>
          </p:cNvSpPr>
          <p:nvPr/>
        </p:nvSpPr>
        <p:spPr bwMode="auto">
          <a:xfrm>
            <a:off x="762000" y="1230313"/>
            <a:ext cx="8153400" cy="3593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defTabSz="968375" eaLnBrk="0" hangingPunct="0"/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Os operadores lógicos abaixo podem ter</a:t>
            </a:r>
            <a:r>
              <a:rPr lang="pt-BR" sz="1700" b="1" dirty="0">
                <a:solidFill>
                  <a:srgbClr val="002B5C"/>
                </a:solidFill>
                <a:ea typeface="Geneva"/>
                <a:cs typeface="Geneva"/>
              </a:rPr>
              <a:t>:</a:t>
            </a:r>
          </a:p>
        </p:txBody>
      </p:sp>
      <p:sp>
        <p:nvSpPr>
          <p:cNvPr id="70659" name="Text Box 49"/>
          <p:cNvSpPr txBox="1">
            <a:spLocks noChangeArrowheads="1"/>
          </p:cNvSpPr>
          <p:nvPr/>
        </p:nvSpPr>
        <p:spPr bwMode="auto">
          <a:xfrm>
            <a:off x="519360" y="2105740"/>
            <a:ext cx="8153400" cy="319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1 entrada e N saídas</a:t>
            </a:r>
          </a:p>
        </p:txBody>
      </p:sp>
      <p:sp>
        <p:nvSpPr>
          <p:cNvPr id="27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1" y="2924944"/>
            <a:ext cx="7894637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8305800" y="6278563"/>
            <a:ext cx="72548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28" tIns="43615" rIns="87228" bIns="43615"/>
          <a:lstStyle/>
          <a:p>
            <a:pPr algn="r" defTabSz="869950"/>
            <a:fld id="{4A0A52B3-B6F4-4773-83B4-8273D83F17AA}" type="slidenum">
              <a:rPr lang="pt-BR" sz="1400">
                <a:solidFill>
                  <a:schemeClr val="bg2"/>
                </a:solidFill>
                <a:latin typeface="Arial Narrow" pitchFamily="34" charset="0"/>
                <a:ea typeface="Geneva"/>
                <a:cs typeface="Geneva"/>
              </a:rPr>
              <a:pPr algn="r" defTabSz="869950"/>
              <a:t>36</a:t>
            </a:fld>
            <a:endParaRPr lang="pt-BR" sz="1400">
              <a:solidFill>
                <a:schemeClr val="bg2"/>
              </a:solidFill>
              <a:latin typeface="Arial Narrow" pitchFamily="34" charset="0"/>
              <a:ea typeface="Geneva"/>
              <a:cs typeface="Geneva"/>
            </a:endParaRPr>
          </a:p>
        </p:txBody>
      </p:sp>
      <p:sp>
        <p:nvSpPr>
          <p:cNvPr id="72709" name="Text Box 49"/>
          <p:cNvSpPr txBox="1">
            <a:spLocks noChangeArrowheads="1"/>
          </p:cNvSpPr>
          <p:nvPr/>
        </p:nvSpPr>
        <p:spPr bwMode="auto">
          <a:xfrm>
            <a:off x="762000" y="1230313"/>
            <a:ext cx="8153400" cy="319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Os operadores lógicos abaixo podem ter:</a:t>
            </a:r>
          </a:p>
        </p:txBody>
      </p:sp>
      <p:sp>
        <p:nvSpPr>
          <p:cNvPr id="72710" name="Text Box 49"/>
          <p:cNvSpPr txBox="1">
            <a:spLocks noChangeArrowheads="1"/>
          </p:cNvSpPr>
          <p:nvPr/>
        </p:nvSpPr>
        <p:spPr bwMode="auto">
          <a:xfrm>
            <a:off x="739775" y="2133600"/>
            <a:ext cx="8153400" cy="319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6747" tIns="48373" rIns="96747" bIns="48373">
            <a:spAutoFit/>
          </a:bodyPr>
          <a:lstStyle/>
          <a:p>
            <a:pPr marL="285750" indent="-285750" defTabSz="968375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pt-BR" sz="1600" dirty="0">
                <a:solidFill>
                  <a:srgbClr val="002B5C"/>
                </a:solidFill>
                <a:ea typeface="Geneva"/>
                <a:cs typeface="Geneva"/>
              </a:rPr>
              <a:t> N entradas e 1 saídas</a:t>
            </a:r>
          </a:p>
        </p:txBody>
      </p:sp>
      <p:sp>
        <p:nvSpPr>
          <p:cNvPr id="27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EPC – Regras de modelagem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19" y="3356992"/>
            <a:ext cx="8099425" cy="225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20602"/>
              </p:ext>
            </p:extLst>
          </p:nvPr>
        </p:nvGraphicFramePr>
        <p:xfrm>
          <a:off x="539750" y="1341438"/>
          <a:ext cx="8208963" cy="5032376"/>
        </p:xfrm>
        <a:graphic>
          <a:graphicData uri="http://schemas.openxmlformats.org/drawingml/2006/table">
            <a:tbl>
              <a:tblPr/>
              <a:tblGrid>
                <a:gridCol w="2736850"/>
                <a:gridCol w="5472113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Objeto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Atributo Obrigatório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1271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do processo ou 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subprocesso</a:t>
                      </a:r>
                      <a:endParaRPr lang="pt-BR" sz="1600" kern="1200" dirty="0" smtClean="0">
                        <a:solidFill>
                          <a:srgbClr val="002B5C"/>
                        </a:solidFill>
                        <a:latin typeface="Verdana" pitchFamily="34" charset="0"/>
                        <a:ea typeface="Geneva"/>
                        <a:cs typeface="Geneva"/>
                      </a:endParaRPr>
                    </a:p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Description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Definiton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Objetivo/Descrição detalhada do processo/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subprocesso</a:t>
                      </a:r>
                      <a:endParaRPr lang="pt-BR" sz="1600" kern="1200" dirty="0" smtClean="0">
                        <a:solidFill>
                          <a:srgbClr val="002B5C"/>
                        </a:solidFill>
                        <a:latin typeface="Verdana" pitchFamily="34" charset="0"/>
                        <a:ea typeface="Geneva"/>
                        <a:cs typeface="Genev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23963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do evento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50938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da atividade</a:t>
                      </a:r>
                    </a:p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Description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Definiton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Descrição detalhada da atividade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985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do processo de interface</a:t>
                      </a:r>
                    </a:p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Tabela de objetos e atributos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21640"/>
            <a:ext cx="1363663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Conector reto 2"/>
          <p:cNvCxnSpPr/>
          <p:nvPr/>
        </p:nvCxnSpPr>
        <p:spPr>
          <a:xfrm>
            <a:off x="827584" y="2894964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827584" y="4116158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827584" y="5271228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52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144705"/>
              </p:ext>
            </p:extLst>
          </p:nvPr>
        </p:nvGraphicFramePr>
        <p:xfrm>
          <a:off x="539750" y="1196752"/>
          <a:ext cx="8208963" cy="5414550"/>
        </p:xfrm>
        <a:graphic>
          <a:graphicData uri="http://schemas.openxmlformats.org/drawingml/2006/table">
            <a:tbl>
              <a:tblPr/>
              <a:tblGrid>
                <a:gridCol w="2736850"/>
                <a:gridCol w="5472113"/>
              </a:tblGrid>
              <a:tr h="36291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Objeto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Atributo Obrigatório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935682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Nome/código do risco</a:t>
                      </a:r>
                    </a:p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Description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Definiton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Descrição detalhada do risco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36104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da área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49424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da função/perfil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985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do sistema</a:t>
                      </a:r>
                    </a:p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Description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Definiton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Descrição detalhada do sistema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985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Name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Nome do documento</a:t>
                      </a:r>
                    </a:p>
                    <a:p>
                      <a:pPr marL="0" marR="0" lvl="0" indent="0" algn="l" defTabSz="9683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Description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/</a:t>
                      </a:r>
                      <a:r>
                        <a:rPr lang="pt-BR" sz="1600" kern="1200" dirty="0" err="1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Definiton</a:t>
                      </a:r>
                      <a:r>
                        <a:rPr lang="pt-BR" sz="1600" kern="1200" dirty="0" smtClean="0">
                          <a:solidFill>
                            <a:srgbClr val="002B5C"/>
                          </a:solidFill>
                          <a:latin typeface="Verdana" pitchFamily="34" charset="0"/>
                          <a:ea typeface="Geneva"/>
                          <a:cs typeface="Geneva"/>
                        </a:rPr>
                        <a:t>: Descrição detalhada do documento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ítulo 1"/>
          <p:cNvSpPr>
            <a:spLocks/>
          </p:cNvSpPr>
          <p:nvPr/>
        </p:nvSpPr>
        <p:spPr bwMode="auto">
          <a:xfrm>
            <a:off x="0" y="0"/>
            <a:ext cx="7143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600" b="1" dirty="0" smtClean="0">
                <a:solidFill>
                  <a:srgbClr val="8ECCDF"/>
                </a:solidFill>
              </a:rPr>
              <a:t>Tabela de objetos e atributos</a:t>
            </a:r>
            <a:endParaRPr lang="pt-BR" sz="2600" b="1" dirty="0">
              <a:solidFill>
                <a:srgbClr val="8ECCDF"/>
              </a:solidFill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00808"/>
            <a:ext cx="1249363" cy="47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Conector reto 9"/>
          <p:cNvCxnSpPr/>
          <p:nvPr/>
        </p:nvCxnSpPr>
        <p:spPr>
          <a:xfrm>
            <a:off x="827584" y="2522876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827584" y="3458980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827584" y="4407132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827584" y="5502242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20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4" name="TextBox 5"/>
          <p:cNvSpPr txBox="1">
            <a:spLocks noChangeArrowheads="1"/>
          </p:cNvSpPr>
          <p:nvPr/>
        </p:nvSpPr>
        <p:spPr bwMode="auto">
          <a:xfrm>
            <a:off x="382588" y="2698750"/>
            <a:ext cx="730726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200" b="1">
                <a:solidFill>
                  <a:schemeClr val="bg1"/>
                </a:solidFill>
              </a:rPr>
              <a:t>fim. </a:t>
            </a:r>
            <a:r>
              <a:rPr lang="en-US" sz="6200" b="1">
                <a:solidFill>
                  <a:srgbClr val="8ECCDF"/>
                </a:solidFill>
              </a:rPr>
              <a:t>obrigado.</a:t>
            </a:r>
          </a:p>
        </p:txBody>
      </p:sp>
      <p:sp>
        <p:nvSpPr>
          <p:cNvPr id="74755" name="TextBox 6"/>
          <p:cNvSpPr txBox="1">
            <a:spLocks noChangeArrowheads="1"/>
          </p:cNvSpPr>
          <p:nvPr/>
        </p:nvSpPr>
        <p:spPr bwMode="auto">
          <a:xfrm>
            <a:off x="458788" y="6129338"/>
            <a:ext cx="3109912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INFORMAÇÕES</a:t>
            </a:r>
            <a:r>
              <a:rPr lang="en-US" sz="1000">
                <a:solidFill>
                  <a:schemeClr val="bg1"/>
                </a:solidFill>
              </a:rPr>
              <a:t> ADICIONAIS _ MAIO / 2010</a:t>
            </a:r>
          </a:p>
        </p:txBody>
      </p:sp>
      <p:pic>
        <p:nvPicPr>
          <p:cNvPr id="74756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26375" y="2895600"/>
            <a:ext cx="749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3FE694E62A4844B131044C62216FF6" ma:contentTypeVersion="0" ma:contentTypeDescription="Crie um novo documento." ma:contentTypeScope="" ma:versionID="f311176f7a662ae3e1d4e1d6f872de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E6AB9-BFDA-4DAF-B4B6-35BF7E87EE04}"/>
</file>

<file path=customXml/itemProps2.xml><?xml version="1.0" encoding="utf-8"?>
<ds:datastoreItem xmlns:ds="http://schemas.openxmlformats.org/officeDocument/2006/customXml" ds:itemID="{28022247-BAC1-428F-BDA3-EA6B5EBB7251}"/>
</file>

<file path=customXml/itemProps3.xml><?xml version="1.0" encoding="utf-8"?>
<ds:datastoreItem xmlns:ds="http://schemas.openxmlformats.org/officeDocument/2006/customXml" ds:itemID="{91E14FF9-2C24-4A0E-A5D1-F50F49BA87D5}"/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1718</Words>
  <Application>Microsoft Office PowerPoint</Application>
  <PresentationFormat>Apresentação na tela (4:3)</PresentationFormat>
  <Paragraphs>288</Paragraphs>
  <Slides>39</Slides>
  <Notes>31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GABRIEL ALVES</dc:creator>
  <cp:lastModifiedBy>br89768</cp:lastModifiedBy>
  <cp:revision>8</cp:revision>
  <dcterms:created xsi:type="dcterms:W3CDTF">2010-06-25T21:35:53Z</dcterms:created>
  <dcterms:modified xsi:type="dcterms:W3CDTF">2011-03-10T12:56:22Z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0x010100933FE694E62A4844B131044C62216FF6</vt:lpwstr>
  </property>
</Properties>
</file>