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3"/>
  </p:notesMasterIdLst>
  <p:sldIdLst>
    <p:sldId id="283" r:id="rId6"/>
    <p:sldId id="284" r:id="rId7"/>
    <p:sldId id="286" r:id="rId8"/>
    <p:sldId id="293" r:id="rId9"/>
    <p:sldId id="291" r:id="rId10"/>
    <p:sldId id="287" r:id="rId11"/>
    <p:sldId id="292" r:id="rId12"/>
  </p:sldIdLst>
  <p:sldSz cx="9001125" cy="5400675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9933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455" autoAdjust="0"/>
  </p:normalViewPr>
  <p:slideViewPr>
    <p:cSldViewPr>
      <p:cViewPr>
        <p:scale>
          <a:sx n="80" d="100"/>
          <a:sy n="80" d="100"/>
        </p:scale>
        <p:origin x="-912" y="14"/>
      </p:cViewPr>
      <p:guideLst>
        <p:guide orient="horz" pos="1701"/>
        <p:guide pos="2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E21927-49ED-4498-8AAB-9E2FDF065844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85BFE-0C8A-4915-AADD-2E276EF314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0808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 defTabSz="1384733" fontAlgn="auto">
              <a:lnSpc>
                <a:spcPct val="100000"/>
              </a:lnSpc>
              <a:spcBef>
                <a:spcPts val="151"/>
              </a:spcBef>
              <a:spcAft>
                <a:spcPts val="151"/>
              </a:spcAft>
              <a:buFont typeface="+mj-lt"/>
              <a:buNone/>
              <a:defRPr/>
            </a:pPr>
            <a:r>
              <a:rPr lang="pt-BR" sz="1200" b="1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1. Dinâmica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: avaliação técnica das novas demandas para alinhamento do Esboço da Solução de TD.</a:t>
            </a:r>
          </a:p>
          <a:p>
            <a:pPr algn="l" defTabSz="1384733" fontAlgn="auto">
              <a:lnSpc>
                <a:spcPct val="100000"/>
              </a:lnSpc>
              <a:spcBef>
                <a:spcPts val="151"/>
              </a:spcBef>
              <a:spcAft>
                <a:spcPts val="151"/>
              </a:spcAft>
              <a:defRPr/>
            </a:pPr>
            <a:r>
              <a:rPr lang="pt-BR" sz="1200" b="1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2.  Matrícula das Demandas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: Confirmar com a Governança de TD -&gt; sharepoint </a:t>
            </a:r>
            <a:r>
              <a:rPr lang="pt-BR" sz="1200" kern="0" dirty="0" err="1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gov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 com calendário,</a:t>
            </a:r>
            <a:r>
              <a:rPr lang="pt-BR" sz="1200" kern="0" baseline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 pauta e ata.</a:t>
            </a:r>
            <a:endParaRPr lang="pt-BR" sz="1000" kern="0" dirty="0" smtClean="0">
              <a:solidFill>
                <a:prstClr val="black">
                  <a:lumMod val="75000"/>
                  <a:lumOff val="25000"/>
                </a:prstClr>
              </a:solidFill>
              <a:ea typeface="MS PGothic" pitchFamily="34" charset="-128"/>
              <a:sym typeface="GillSans" pitchFamily="34" charset="0"/>
            </a:endParaRPr>
          </a:p>
          <a:p>
            <a:pPr marL="0" indent="0" algn="l">
              <a:buFontTx/>
              <a:buNone/>
            </a:pPr>
            <a:r>
              <a:rPr lang="pt-BR" sz="1200" b="1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3.  Apresentar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: </a:t>
            </a:r>
            <a:endParaRPr lang="pt-BR" sz="1200" dirty="0" smtClean="0">
              <a:latin typeface="Gill Sans Std" pitchFamily="34" charset="0"/>
            </a:endParaRP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Esboço da Solução</a:t>
            </a: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Software </a:t>
            </a:r>
            <a:r>
              <a:rPr lang="pt-BR" sz="1200" dirty="0" err="1" smtClean="0">
                <a:latin typeface="Gill Sans Std" pitchFamily="34" charset="0"/>
              </a:rPr>
              <a:t>Selection</a:t>
            </a:r>
            <a:endParaRPr lang="pt-BR" sz="1200" dirty="0" smtClean="0">
              <a:latin typeface="Gill Sans Std" pitchFamily="34" charset="0"/>
            </a:endParaRP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Plataformas envolvidas</a:t>
            </a: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Interdependências</a:t>
            </a: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Estimativa Prazo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E85BFE-0C8A-4915-AADD-2E276EF314E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310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75085" y="1677710"/>
            <a:ext cx="7650956" cy="115764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50169" y="3060385"/>
            <a:ext cx="6300788" cy="138017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57830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6904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1027" y="3470436"/>
            <a:ext cx="7650956" cy="107263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11027" y="2289039"/>
            <a:ext cx="7650956" cy="118139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3649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0058" y="1260159"/>
            <a:ext cx="3975497" cy="35641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5573" y="1260159"/>
            <a:ext cx="3975497" cy="35641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0454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0056" y="1208903"/>
            <a:ext cx="3977060" cy="5038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0056" y="1712715"/>
            <a:ext cx="3977060" cy="31116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572448" y="1208903"/>
            <a:ext cx="3978623" cy="5038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572448" y="1712715"/>
            <a:ext cx="3978623" cy="31116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1268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85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7574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0057" y="215029"/>
            <a:ext cx="2961308" cy="91511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19191" y="215027"/>
            <a:ext cx="5031879" cy="460932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0057" y="1130142"/>
            <a:ext cx="2961308" cy="36942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910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64285" y="3780475"/>
            <a:ext cx="5400675" cy="44630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64285" y="482563"/>
            <a:ext cx="5400675" cy="32404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64285" y="4226780"/>
            <a:ext cx="5400675" cy="63382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00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7012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25816" y="216278"/>
            <a:ext cx="2025253" cy="4608076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0057" y="216278"/>
            <a:ext cx="5925741" cy="4608076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8116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5085" y="1677397"/>
            <a:ext cx="7650956" cy="11579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169" y="3060382"/>
            <a:ext cx="6300788" cy="1380173"/>
          </a:xfrm>
        </p:spPr>
        <p:txBody>
          <a:bodyPr/>
          <a:lstStyle>
            <a:lvl1pPr marL="0" indent="0" algn="ctr">
              <a:buNone/>
              <a:defRPr/>
            </a:lvl1pPr>
            <a:lvl2pPr marL="259232" indent="0" algn="ctr">
              <a:buNone/>
              <a:defRPr/>
            </a:lvl2pPr>
            <a:lvl3pPr marL="518465" indent="0" algn="ctr">
              <a:buNone/>
              <a:defRPr/>
            </a:lvl3pPr>
            <a:lvl4pPr marL="777697" indent="0" algn="ctr">
              <a:buNone/>
              <a:defRPr/>
            </a:lvl4pPr>
            <a:lvl5pPr marL="1036930" indent="0" algn="ctr">
              <a:buNone/>
              <a:defRPr/>
            </a:lvl5pPr>
            <a:lvl6pPr marL="1296162" indent="0" algn="ctr">
              <a:buNone/>
              <a:defRPr/>
            </a:lvl6pPr>
            <a:lvl7pPr marL="1555394" indent="0" algn="ctr">
              <a:buNone/>
              <a:defRPr/>
            </a:lvl7pPr>
            <a:lvl8pPr marL="1814627" indent="0" algn="ctr">
              <a:buNone/>
              <a:defRPr/>
            </a:lvl8pPr>
            <a:lvl9pPr marL="2073859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2158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901517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124" y="3470122"/>
            <a:ext cx="7650956" cy="1072634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124" y="2288724"/>
            <a:ext cx="7650956" cy="1181398"/>
          </a:xfrm>
        </p:spPr>
        <p:txBody>
          <a:bodyPr anchor="b"/>
          <a:lstStyle>
            <a:lvl1pPr marL="0" indent="0">
              <a:buNone/>
              <a:defRPr sz="1100"/>
            </a:lvl1pPr>
            <a:lvl2pPr marL="259232" indent="0">
              <a:buNone/>
              <a:defRPr sz="1000"/>
            </a:lvl2pPr>
            <a:lvl3pPr marL="518465" indent="0">
              <a:buNone/>
              <a:defRPr sz="900"/>
            </a:lvl3pPr>
            <a:lvl4pPr marL="777697" indent="0">
              <a:buNone/>
              <a:defRPr sz="800"/>
            </a:lvl4pPr>
            <a:lvl5pPr marL="1036930" indent="0">
              <a:buNone/>
              <a:defRPr sz="800"/>
            </a:lvl5pPr>
            <a:lvl6pPr marL="1296162" indent="0">
              <a:buNone/>
              <a:defRPr sz="800"/>
            </a:lvl6pPr>
            <a:lvl7pPr marL="1555394" indent="0">
              <a:buNone/>
              <a:defRPr sz="800"/>
            </a:lvl7pPr>
            <a:lvl8pPr marL="1814627" indent="0">
              <a:buNone/>
              <a:defRPr sz="800"/>
            </a:lvl8pPr>
            <a:lvl9pPr marL="2073859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5359747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9924" y="1537692"/>
            <a:ext cx="3814930" cy="336792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9239" y="1537692"/>
            <a:ext cx="3814930" cy="336792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367154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056" y="216590"/>
            <a:ext cx="8101013" cy="900113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056" y="1208589"/>
            <a:ext cx="3976669" cy="504438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9232" indent="0">
              <a:buNone/>
              <a:defRPr sz="1100" b="1"/>
            </a:lvl2pPr>
            <a:lvl3pPr marL="518465" indent="0">
              <a:buNone/>
              <a:defRPr sz="1000" b="1"/>
            </a:lvl3pPr>
            <a:lvl4pPr marL="777697" indent="0">
              <a:buNone/>
              <a:defRPr sz="900" b="1"/>
            </a:lvl4pPr>
            <a:lvl5pPr marL="1036930" indent="0">
              <a:buNone/>
              <a:defRPr sz="900" b="1"/>
            </a:lvl5pPr>
            <a:lvl6pPr marL="1296162" indent="0">
              <a:buNone/>
              <a:defRPr sz="900" b="1"/>
            </a:lvl6pPr>
            <a:lvl7pPr marL="1555394" indent="0">
              <a:buNone/>
              <a:defRPr sz="900" b="1"/>
            </a:lvl7pPr>
            <a:lvl8pPr marL="1814627" indent="0">
              <a:buNone/>
              <a:defRPr sz="900" b="1"/>
            </a:lvl8pPr>
            <a:lvl9pPr marL="2073859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056" y="1713027"/>
            <a:ext cx="3976669" cy="3111014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642" y="1208589"/>
            <a:ext cx="3978427" cy="504438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9232" indent="0">
              <a:buNone/>
              <a:defRPr sz="1100" b="1"/>
            </a:lvl2pPr>
            <a:lvl3pPr marL="518465" indent="0">
              <a:buNone/>
              <a:defRPr sz="1000" b="1"/>
            </a:lvl3pPr>
            <a:lvl4pPr marL="777697" indent="0">
              <a:buNone/>
              <a:defRPr sz="900" b="1"/>
            </a:lvl4pPr>
            <a:lvl5pPr marL="1036930" indent="0">
              <a:buNone/>
              <a:defRPr sz="900" b="1"/>
            </a:lvl5pPr>
            <a:lvl6pPr marL="1296162" indent="0">
              <a:buNone/>
              <a:defRPr sz="900" b="1"/>
            </a:lvl6pPr>
            <a:lvl7pPr marL="1555394" indent="0">
              <a:buNone/>
              <a:defRPr sz="900" b="1"/>
            </a:lvl7pPr>
            <a:lvl8pPr marL="1814627" indent="0">
              <a:buNone/>
              <a:defRPr sz="900" b="1"/>
            </a:lvl8pPr>
            <a:lvl9pPr marL="2073859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642" y="1713027"/>
            <a:ext cx="3978427" cy="3111014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439847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8685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32873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056" y="214715"/>
            <a:ext cx="2961406" cy="915114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9581" y="214715"/>
            <a:ext cx="5031488" cy="460932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0056" y="1129829"/>
            <a:ext cx="2961406" cy="3694212"/>
          </a:xfrm>
        </p:spPr>
        <p:txBody>
          <a:bodyPr/>
          <a:lstStyle>
            <a:lvl1pPr marL="0" indent="0">
              <a:buNone/>
              <a:defRPr sz="800"/>
            </a:lvl1pPr>
            <a:lvl2pPr marL="259232" indent="0">
              <a:buNone/>
              <a:defRPr sz="700"/>
            </a:lvl2pPr>
            <a:lvl3pPr marL="518465" indent="0">
              <a:buNone/>
              <a:defRPr sz="600"/>
            </a:lvl3pPr>
            <a:lvl4pPr marL="777697" indent="0">
              <a:buNone/>
              <a:defRPr sz="500"/>
            </a:lvl4pPr>
            <a:lvl5pPr marL="1036930" indent="0">
              <a:buNone/>
              <a:defRPr sz="500"/>
            </a:lvl5pPr>
            <a:lvl6pPr marL="1296162" indent="0">
              <a:buNone/>
              <a:defRPr sz="500"/>
            </a:lvl6pPr>
            <a:lvl7pPr marL="1555394" indent="0">
              <a:buNone/>
              <a:defRPr sz="500"/>
            </a:lvl7pPr>
            <a:lvl8pPr marL="1814627" indent="0">
              <a:buNone/>
              <a:defRPr sz="500"/>
            </a:lvl8pPr>
            <a:lvl9pPr marL="2073859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3555214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4186" y="3780472"/>
            <a:ext cx="5400675" cy="446306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64186" y="482873"/>
            <a:ext cx="5400675" cy="3240405"/>
          </a:xfrm>
        </p:spPr>
        <p:txBody>
          <a:bodyPr/>
          <a:lstStyle>
            <a:lvl1pPr marL="0" indent="0">
              <a:buNone/>
              <a:defRPr sz="1800"/>
            </a:lvl1pPr>
            <a:lvl2pPr marL="259232" indent="0">
              <a:buNone/>
              <a:defRPr sz="1600"/>
            </a:lvl2pPr>
            <a:lvl3pPr marL="518465" indent="0">
              <a:buNone/>
              <a:defRPr sz="1400"/>
            </a:lvl3pPr>
            <a:lvl4pPr marL="777697" indent="0">
              <a:buNone/>
              <a:defRPr sz="1100"/>
            </a:lvl4pPr>
            <a:lvl5pPr marL="1036930" indent="0">
              <a:buNone/>
              <a:defRPr sz="1100"/>
            </a:lvl5pPr>
            <a:lvl6pPr marL="1296162" indent="0">
              <a:buNone/>
              <a:defRPr sz="1100"/>
            </a:lvl6pPr>
            <a:lvl7pPr marL="1555394" indent="0">
              <a:buNone/>
              <a:defRPr sz="1100"/>
            </a:lvl7pPr>
            <a:lvl8pPr marL="1814627" indent="0">
              <a:buNone/>
              <a:defRPr sz="1100"/>
            </a:lvl8pPr>
            <a:lvl9pPr marL="2073859" indent="0">
              <a:buNone/>
              <a:defRPr sz="1100"/>
            </a:lvl9pPr>
          </a:lstStyle>
          <a:p>
            <a:pPr lvl="0"/>
            <a:endParaRPr lang="en-US" noProof="0" smtClean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64186" y="4226778"/>
            <a:ext cx="5400675" cy="633829"/>
          </a:xfrm>
        </p:spPr>
        <p:txBody>
          <a:bodyPr/>
          <a:lstStyle>
            <a:lvl1pPr marL="0" indent="0">
              <a:buNone/>
              <a:defRPr sz="800"/>
            </a:lvl1pPr>
            <a:lvl2pPr marL="259232" indent="0">
              <a:buNone/>
              <a:defRPr sz="700"/>
            </a:lvl2pPr>
            <a:lvl3pPr marL="518465" indent="0">
              <a:buNone/>
              <a:defRPr sz="600"/>
            </a:lvl3pPr>
            <a:lvl4pPr marL="777697" indent="0">
              <a:buNone/>
              <a:defRPr sz="500"/>
            </a:lvl4pPr>
            <a:lvl5pPr marL="1036930" indent="0">
              <a:buNone/>
              <a:defRPr sz="500"/>
            </a:lvl5pPr>
            <a:lvl6pPr marL="1296162" indent="0">
              <a:buNone/>
              <a:defRPr sz="500"/>
            </a:lvl6pPr>
            <a:lvl7pPr marL="1555394" indent="0">
              <a:buNone/>
              <a:defRPr sz="500"/>
            </a:lvl7pPr>
            <a:lvl8pPr marL="1814627" indent="0">
              <a:buNone/>
              <a:defRPr sz="500"/>
            </a:lvl8pPr>
            <a:lvl9pPr marL="2073859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6386927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741995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25608" y="142518"/>
            <a:ext cx="1928561" cy="47630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9924" y="142518"/>
            <a:ext cx="5701299" cy="476309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2824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0057" y="216278"/>
            <a:ext cx="8101013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0057" y="1260159"/>
            <a:ext cx="8101013" cy="35641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0057" y="5005628"/>
            <a:ext cx="2100263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75385" y="5005628"/>
            <a:ext cx="2850356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0807" y="5005628"/>
            <a:ext cx="2100263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9068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39924" y="142518"/>
            <a:ext cx="7714245" cy="1357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28804" tIns="28804" rIns="28804" bIns="2880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title style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9924" y="1537692"/>
            <a:ext cx="7714245" cy="3367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28804" tIns="28804" rIns="28804" bIns="2880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text styles</a:t>
            </a:r>
          </a:p>
          <a:p>
            <a:pPr lvl="1"/>
            <a:r>
              <a:rPr lang="en-US">
                <a:sym typeface="Gill Sans" charset="0"/>
              </a:rPr>
              <a:t>Second level</a:t>
            </a:r>
          </a:p>
          <a:p>
            <a:pPr lvl="2"/>
            <a:r>
              <a:rPr lang="en-US">
                <a:sym typeface="Gill Sans" charset="0"/>
              </a:rPr>
              <a:t>Third level</a:t>
            </a:r>
          </a:p>
          <a:p>
            <a:pPr lvl="3"/>
            <a:r>
              <a:rPr lang="en-US">
                <a:sym typeface="Gill Sans" charset="0"/>
              </a:rPr>
              <a:t>Fourth level</a:t>
            </a:r>
          </a:p>
          <a:p>
            <a:pPr lvl="4"/>
            <a:r>
              <a:rPr lang="en-US">
                <a:sym typeface="Gill Sans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8493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259232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518465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777697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036930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96050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561670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727291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900113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1065733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1324966" indent="-302438" algn="l" rtl="0" fontAlgn="base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1584198" indent="-302438" algn="l" rtl="0" fontAlgn="base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843430" indent="-302438" algn="l" rtl="0" fontAlgn="base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2102663" indent="-302438" algn="l" rtl="0" fontAlgn="base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9232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8465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7697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36930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96162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55394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14627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73859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" descr="41317-041317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58" r="22798"/>
          <a:stretch>
            <a:fillRect/>
          </a:stretch>
        </p:blipFill>
        <p:spPr bwMode="auto">
          <a:xfrm>
            <a:off x="0" y="0"/>
            <a:ext cx="9001125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TextBox 27"/>
          <p:cNvSpPr txBox="1">
            <a:spLocks noChangeArrowheads="1"/>
          </p:cNvSpPr>
          <p:nvPr/>
        </p:nvSpPr>
        <p:spPr bwMode="auto">
          <a:xfrm>
            <a:off x="487562" y="3162896"/>
            <a:ext cx="7210276" cy="97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2900" dirty="0" err="1" smtClean="0">
                <a:solidFill>
                  <a:schemeClr val="bg1"/>
                </a:solidFill>
                <a:latin typeface="Verdana" charset="0"/>
              </a:rPr>
              <a:t>Gestão</a:t>
            </a:r>
            <a:r>
              <a:rPr lang="en-US" sz="2900" dirty="0" smtClean="0">
                <a:solidFill>
                  <a:schemeClr val="bg1"/>
                </a:solidFill>
                <a:latin typeface="Verdana" charset="0"/>
              </a:rPr>
              <a:t> </a:t>
            </a:r>
            <a:r>
              <a:rPr lang="en-US" sz="2900" dirty="0" err="1" smtClean="0">
                <a:solidFill>
                  <a:schemeClr val="bg1"/>
                </a:solidFill>
                <a:latin typeface="Verdana" charset="0"/>
              </a:rPr>
              <a:t>Comercial</a:t>
            </a:r>
            <a:r>
              <a:rPr lang="en-US" sz="2900" dirty="0" smtClean="0">
                <a:solidFill>
                  <a:schemeClr val="bg1"/>
                </a:solidFill>
                <a:latin typeface="Verdana" charset="0"/>
              </a:rPr>
              <a:t> / Pang Cheng</a:t>
            </a:r>
          </a:p>
          <a:p>
            <a:pPr eaLnBrk="1" hangingPunct="1"/>
            <a:r>
              <a:rPr lang="en-US" sz="2900" dirty="0" smtClean="0">
                <a:solidFill>
                  <a:schemeClr val="bg1"/>
                </a:solidFill>
                <a:latin typeface="Verdana" charset="0"/>
              </a:rPr>
              <a:t>05/2015</a:t>
            </a:r>
            <a:endParaRPr lang="en-US" sz="2900" dirty="0">
              <a:solidFill>
                <a:schemeClr val="bg1"/>
              </a:solidFill>
              <a:latin typeface="Verdana" charset="0"/>
            </a:endParaRPr>
          </a:p>
        </p:txBody>
      </p:sp>
      <p:sp>
        <p:nvSpPr>
          <p:cNvPr id="13317" name="TextBox 28"/>
          <p:cNvSpPr txBox="1">
            <a:spLocks noChangeArrowheads="1"/>
          </p:cNvSpPr>
          <p:nvPr/>
        </p:nvSpPr>
        <p:spPr bwMode="auto">
          <a:xfrm>
            <a:off x="450056" y="1500188"/>
            <a:ext cx="8442994" cy="1627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sz="5900" b="1" dirty="0" smtClean="0">
                <a:solidFill>
                  <a:schemeClr val="tx2"/>
                </a:solidFill>
                <a:latin typeface="Gill Sans Std ExtraBold" pitchFamily="34" charset="0"/>
              </a:rPr>
              <a:t>TOKEN GR</a:t>
            </a:r>
          </a:p>
          <a:p>
            <a:pPr eaLnBrk="1" hangingPunct="1">
              <a:lnSpc>
                <a:spcPct val="85000"/>
              </a:lnSpc>
            </a:pPr>
            <a:r>
              <a:rPr lang="en-US" sz="5900" b="1" dirty="0" smtClean="0">
                <a:solidFill>
                  <a:schemeClr val="tx2"/>
                </a:solidFill>
                <a:latin typeface="Gill Sans Std ExtraBold" pitchFamily="34" charset="0"/>
              </a:rPr>
              <a:t>Site FV</a:t>
            </a:r>
            <a:endParaRPr lang="en-US" sz="59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  <p:pic>
        <p:nvPicPr>
          <p:cNvPr id="13318" name="Picture 2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4088" y="2280285"/>
            <a:ext cx="737592" cy="540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"/>
          <p:cNvSpPr txBox="1">
            <a:spLocks noChangeArrowheads="1"/>
          </p:cNvSpPr>
          <p:nvPr/>
        </p:nvSpPr>
        <p:spPr bwMode="auto">
          <a:xfrm>
            <a:off x="470376" y="4500537"/>
            <a:ext cx="4083554" cy="51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1400" b="1" dirty="0" smtClean="0">
                <a:solidFill>
                  <a:schemeClr val="bg1"/>
                </a:solidFill>
                <a:latin typeface="Gill Sans Std" pitchFamily="34" charset="0"/>
              </a:rPr>
              <a:t>// VP TD</a:t>
            </a:r>
            <a:endParaRPr lang="en-US" sz="1400" b="1" dirty="0">
              <a:solidFill>
                <a:schemeClr val="bg1"/>
              </a:solidFill>
              <a:latin typeface="Gill Sans Std" pitchFamily="34" charset="0"/>
            </a:endParaRPr>
          </a:p>
          <a:p>
            <a:pPr eaLnBrk="1" hangingPunct="1"/>
            <a:r>
              <a:rPr lang="en-US" sz="1400" dirty="0" smtClean="0">
                <a:solidFill>
                  <a:schemeClr val="bg1"/>
                </a:solidFill>
                <a:latin typeface="Gill Sans Std" pitchFamily="34" charset="0"/>
              </a:rPr>
              <a:t>// </a:t>
            </a:r>
            <a:r>
              <a:rPr lang="en-US" sz="1400" b="1" dirty="0" smtClean="0">
                <a:solidFill>
                  <a:schemeClr val="bg1"/>
                </a:solidFill>
                <a:latin typeface="Gill Sans Std" pitchFamily="34" charset="0"/>
              </a:rPr>
              <a:t>forum de yellow pad - novas demandas de TD</a:t>
            </a:r>
            <a:endParaRPr lang="en-US" sz="1400" dirty="0">
              <a:solidFill>
                <a:schemeClr val="bg1"/>
              </a:solidFill>
              <a:latin typeface="Gill Sans St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34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70"/>
            <a:ext cx="9001124" cy="4032448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58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8" name="Rectangle 3"/>
          <p:cNvSpPr>
            <a:spLocks/>
          </p:cNvSpPr>
          <p:nvPr/>
        </p:nvSpPr>
        <p:spPr bwMode="auto">
          <a:xfrm>
            <a:off x="332652" y="544742"/>
            <a:ext cx="3329575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 smtClean="0">
                <a:solidFill>
                  <a:schemeClr val="tx2"/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CONTEXTO</a:t>
            </a:r>
            <a:endParaRPr lang="en-US" sz="3800" dirty="0">
              <a:solidFill>
                <a:schemeClr val="tx2"/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80082" y="2763876"/>
            <a:ext cx="4320481" cy="1348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62658" tIns="32582" rIns="62658" bIns="32582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eaLnBrk="1" hangingPunct="1">
              <a:lnSpc>
                <a:spcPts val="1980"/>
              </a:lnSpc>
              <a:defRPr/>
            </a:pPr>
            <a:r>
              <a:rPr lang="pt-BR" sz="18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  <a:t>Risco de fraude no acesso do Site FV.</a:t>
            </a:r>
          </a:p>
          <a:p>
            <a:pPr eaLnBrk="1" hangingPunct="1">
              <a:lnSpc>
                <a:spcPts val="1980"/>
              </a:lnSpc>
              <a:defRPr/>
            </a:pPr>
            <a:endParaRPr lang="pt-BR" sz="1800" spc="140" dirty="0">
              <a:solidFill>
                <a:schemeClr val="tx1">
                  <a:lumMod val="65000"/>
                  <a:lumOff val="35000"/>
                </a:schemeClr>
              </a:solidFill>
              <a:latin typeface="Gill Sans Std" charset="0"/>
              <a:ea typeface="MS PGothic" charset="0"/>
              <a:cs typeface="MS PGothic" charset="0"/>
            </a:endParaRPr>
          </a:p>
          <a:p>
            <a:pPr eaLnBrk="1" hangingPunct="1">
              <a:lnSpc>
                <a:spcPts val="1980"/>
              </a:lnSpc>
              <a:defRPr/>
            </a:pPr>
            <a:r>
              <a:rPr lang="pt-BR" sz="18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  <a:t>Ponto crítico de auditoria.</a:t>
            </a:r>
          </a:p>
          <a:p>
            <a:pPr eaLnBrk="1" hangingPunct="1">
              <a:lnSpc>
                <a:spcPts val="1980"/>
              </a:lnSpc>
              <a:defRPr/>
            </a:pPr>
            <a:endParaRPr lang="pt-BR" sz="1800" spc="140" dirty="0">
              <a:solidFill>
                <a:schemeClr val="tx1">
                  <a:lumMod val="65000"/>
                  <a:lumOff val="35000"/>
                </a:schemeClr>
              </a:solidFill>
              <a:latin typeface="Gill Sans Std" charset="0"/>
              <a:ea typeface="MS PGothic" charset="0"/>
              <a:cs typeface="Gill Sans Std ExtraBold"/>
            </a:endParaRPr>
          </a:p>
          <a:p>
            <a:pPr eaLnBrk="1" hangingPunct="1">
              <a:lnSpc>
                <a:spcPts val="1980"/>
              </a:lnSpc>
              <a:defRPr/>
            </a:pPr>
            <a:endParaRPr lang="pt-BR" sz="1800" spc="140" dirty="0">
              <a:solidFill>
                <a:schemeClr val="tx1">
                  <a:lumMod val="65000"/>
                  <a:lumOff val="35000"/>
                </a:schemeClr>
              </a:solidFill>
              <a:latin typeface="Gill Sans Std ExtraBold"/>
              <a:ea typeface="MS PGothic" charset="0"/>
              <a:cs typeface="Gill Sans Std ExtraBold"/>
            </a:endParaRPr>
          </a:p>
        </p:txBody>
      </p:sp>
      <p:pic>
        <p:nvPicPr>
          <p:cNvPr id="15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2308" y="59181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69616"/>
              </p:ext>
            </p:extLst>
          </p:nvPr>
        </p:nvGraphicFramePr>
        <p:xfrm>
          <a:off x="198797" y="1332185"/>
          <a:ext cx="4442428" cy="777240"/>
        </p:xfrm>
        <a:graphic>
          <a:graphicData uri="http://schemas.openxmlformats.org/drawingml/2006/table">
            <a:tbl>
              <a:tblPr/>
              <a:tblGrid>
                <a:gridCol w="1571998"/>
                <a:gridCol w="2870430"/>
              </a:tblGrid>
              <a:tr h="165498">
                <a:tc>
                  <a:txBody>
                    <a:bodyPr/>
                    <a:lstStyle/>
                    <a:p>
                      <a:r>
                        <a:rPr lang="pt-BR" sz="11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Solicitante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Marcia Regina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6604">
                <a:tc>
                  <a:txBody>
                    <a:bodyPr/>
                    <a:lstStyle/>
                    <a:p>
                      <a:r>
                        <a:rPr lang="pt-BR" sz="11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Área de Negócio 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Auditoria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5498">
                <a:tc>
                  <a:txBody>
                    <a:bodyPr/>
                    <a:lstStyle/>
                    <a:p>
                      <a:r>
                        <a:rPr lang="pt-BR" sz="11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Área de </a:t>
                      </a:r>
                      <a:r>
                        <a:rPr lang="pt-BR" sz="11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TD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GCC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Retângulo 3"/>
          <p:cNvSpPr/>
          <p:nvPr/>
        </p:nvSpPr>
        <p:spPr>
          <a:xfrm>
            <a:off x="4068514" y="107792"/>
            <a:ext cx="2532360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Token GR – Site FV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727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69"/>
            <a:ext cx="9001124" cy="3960499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252090" y="544725"/>
            <a:ext cx="3329575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O</a:t>
            </a: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BJETIVOS</a:t>
            </a:r>
            <a:endParaRPr lang="en-US" sz="38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252090" y="1514996"/>
            <a:ext cx="4536504" cy="1348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62658" tIns="32582" rIns="62658" bIns="32582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algn="l" eaLnBrk="1" hangingPunct="1">
              <a:lnSpc>
                <a:spcPts val="1980"/>
              </a:lnSpc>
              <a:defRPr/>
            </a:pPr>
            <a:r>
              <a:rPr lang="pt-BR" sz="1600" b="1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O QUE SERÁ DESENVOLVIDO E O QUE QUEREMOS ENTREGAR</a:t>
            </a:r>
          </a:p>
          <a:p>
            <a:pPr algn="l" eaLnBrk="1" hangingPunct="1">
              <a:lnSpc>
                <a:spcPts val="1980"/>
              </a:lnSpc>
              <a:defRPr/>
            </a:pPr>
            <a:r>
              <a:rPr lang="pt-BR" sz="16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Gill Sans Std ExtraBold"/>
              </a:rPr>
              <a:t>A solução proposta envolve um passo a mais na autenticação do Site FV, por preenchimento de um nº de Token.</a:t>
            </a:r>
            <a:endParaRPr lang="pt-BR" sz="1600" spc="140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  <a:ea typeface="MS PGothic" charset="0"/>
              <a:cs typeface="Gill Sans Std ExtraBold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284708" y="3204393"/>
            <a:ext cx="5800029" cy="1420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62658" tIns="32582" rIns="62658" bIns="32582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algn="l" eaLnBrk="1" hangingPunct="1">
              <a:lnSpc>
                <a:spcPct val="110000"/>
              </a:lnSpc>
              <a:defRPr/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Gill Sans Std ExtraBold"/>
              </a:rPr>
              <a:t>A</a:t>
            </a:r>
            <a:r>
              <a:rPr lang="pt-B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Gill Sans Std ExtraBold"/>
              </a:rPr>
              <a:t>ções</a:t>
            </a:r>
            <a:endParaRPr lang="pt-BR" sz="1600" spc="140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  <a:ea typeface="MS PGothic" charset="0"/>
              <a:cs typeface="Gill Sans Std ExtraBold"/>
            </a:endParaRPr>
          </a:p>
          <a:p>
            <a:pPr algn="l" eaLnBrk="1" hangingPunct="1">
              <a:lnSpc>
                <a:spcPct val="110000"/>
              </a:lnSpc>
              <a:defRPr/>
            </a:pPr>
            <a:r>
              <a:rPr lang="pt-B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A disponibilização do Token, será feita pelo download de um aplicativo (que será vinculado ao cadastro do Usuário), assim ao acessar o Site FV, caso esse usuário esteja relacionado à necessidade de digitação do Token,  será direcionado para preenchimento do nº.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  <a:ea typeface="MS PGothic" charset="0"/>
              <a:cs typeface="MS PGothic" charset="0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5573795" y="1336486"/>
            <a:ext cx="3301768" cy="80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62658" tIns="32582" rIns="62658" bIns="32582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algn="l" eaLnBrk="1" hangingPunct="1">
              <a:lnSpc>
                <a:spcPct val="110000"/>
              </a:lnSpc>
              <a:defRPr/>
            </a:pPr>
            <a:r>
              <a:rPr lang="pt-BR" sz="1300" b="1" spc="14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Briefing:</a:t>
            </a:r>
          </a:p>
          <a:p>
            <a:endParaRPr lang="pt-BR" sz="1600" dirty="0"/>
          </a:p>
          <a:p>
            <a:pPr algn="l" eaLnBrk="1" hangingPunct="1">
              <a:lnSpc>
                <a:spcPct val="110000"/>
              </a:lnSpc>
              <a:defRPr/>
            </a:pPr>
            <a:r>
              <a:rPr lang="pt-BR" sz="1600" dirty="0" smtClean="0">
                <a:solidFill>
                  <a:srgbClr val="0070C0"/>
                </a:solidFill>
                <a:latin typeface="Gill Sans Std" pitchFamily="34" charset="0"/>
                <a:ea typeface="MS PGothic" charset="0"/>
                <a:cs typeface="MS PGothic" charset="0"/>
              </a:rPr>
              <a:t>Link planilha de requerimentos</a:t>
            </a:r>
            <a:endParaRPr lang="pt-BR" sz="1600" dirty="0">
              <a:solidFill>
                <a:srgbClr val="0070C0"/>
              </a:solidFill>
              <a:latin typeface="Gill Sans Std" pitchFamily="34" charset="0"/>
              <a:ea typeface="MS PGothic" charset="0"/>
              <a:cs typeface="MS PGothic" charset="0"/>
            </a:endParaRPr>
          </a:p>
        </p:txBody>
      </p:sp>
      <p:pic>
        <p:nvPicPr>
          <p:cNvPr id="3074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4068514" y="107792"/>
            <a:ext cx="2532360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Token GR – Site FV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347590"/>
              </p:ext>
            </p:extLst>
          </p:nvPr>
        </p:nvGraphicFramePr>
        <p:xfrm>
          <a:off x="5652690" y="1640725"/>
          <a:ext cx="2156916" cy="130429"/>
        </p:xfrm>
        <a:graphic>
          <a:graphicData uri="http://schemas.openxmlformats.org/drawingml/2006/table">
            <a:tbl>
              <a:tblPr/>
              <a:tblGrid>
                <a:gridCol w="862766"/>
                <a:gridCol w="1294150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80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10000010</a:t>
                      </a: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8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Token (site GR)</a:t>
                      </a:r>
                      <a:endParaRPr lang="pt-BR" sz="1100" dirty="0">
                        <a:effectLst/>
                        <a:latin typeface="Calibri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6735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-7367" y="1458630"/>
            <a:ext cx="9001124" cy="3960499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					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252090" y="544725"/>
            <a:ext cx="6696744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ESBOÇO DA SOLUÇÃO DE TD</a:t>
            </a:r>
          </a:p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Upgrade OAM</a:t>
            </a:r>
            <a:endParaRPr lang="en-US" sz="38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pic>
        <p:nvPicPr>
          <p:cNvPr id="15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4068514" y="107792"/>
            <a:ext cx="2532360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Token GR – Site FV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7164858" y="1541819"/>
            <a:ext cx="192672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Parceiros:</a:t>
            </a:r>
          </a:p>
          <a:p>
            <a:endParaRPr lang="pt-BR" dirty="0"/>
          </a:p>
          <a:p>
            <a:r>
              <a:rPr lang="pt-BR" sz="1300" dirty="0" smtClean="0"/>
              <a:t>Accenture (</a:t>
            </a:r>
            <a:r>
              <a:rPr lang="pt-BR" sz="1300" dirty="0" err="1" smtClean="0"/>
              <a:t>login</a:t>
            </a:r>
            <a:r>
              <a:rPr lang="pt-BR" sz="1300" dirty="0" smtClean="0"/>
              <a:t>)</a:t>
            </a:r>
          </a:p>
          <a:p>
            <a:r>
              <a:rPr lang="pt-BR" sz="1300" dirty="0" smtClean="0"/>
              <a:t>Oracle (OAM)</a:t>
            </a:r>
          </a:p>
          <a:p>
            <a:r>
              <a:rPr lang="pt-BR" sz="1300" dirty="0" smtClean="0"/>
              <a:t>Sysmap (Serviços)</a:t>
            </a:r>
          </a:p>
          <a:p>
            <a:r>
              <a:rPr lang="pt-BR" sz="1300" dirty="0" smtClean="0"/>
              <a:t>ZUP (</a:t>
            </a:r>
            <a:r>
              <a:rPr lang="pt-BR" sz="1300" dirty="0" err="1" smtClean="0"/>
              <a:t>App’s</a:t>
            </a:r>
            <a:r>
              <a:rPr lang="pt-BR" sz="1300" dirty="0" smtClean="0"/>
              <a:t>)</a:t>
            </a:r>
            <a:endParaRPr lang="pt-BR" sz="1300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6" y="1541819"/>
            <a:ext cx="7172325" cy="366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1" name="Grupo 10"/>
          <p:cNvGrpSpPr/>
          <p:nvPr/>
        </p:nvGrpSpPr>
        <p:grpSpPr>
          <a:xfrm>
            <a:off x="7145808" y="3844443"/>
            <a:ext cx="1777900" cy="872118"/>
            <a:chOff x="778697" y="5468670"/>
            <a:chExt cx="1777900" cy="872118"/>
          </a:xfrm>
        </p:grpSpPr>
        <p:sp>
          <p:nvSpPr>
            <p:cNvPr id="12" name="Retângulo de cantos arredondados 11"/>
            <p:cNvSpPr/>
            <p:nvPr/>
          </p:nvSpPr>
          <p:spPr>
            <a:xfrm>
              <a:off x="778697" y="5468670"/>
              <a:ext cx="1777899" cy="872118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14" name="Conector de seta reta 13"/>
            <p:cNvCxnSpPr/>
            <p:nvPr/>
          </p:nvCxnSpPr>
          <p:spPr>
            <a:xfrm>
              <a:off x="859433" y="5661248"/>
              <a:ext cx="329011" cy="0"/>
            </a:xfrm>
            <a:prstGeom prst="straightConnector1">
              <a:avLst/>
            </a:prstGeom>
            <a:ln w="1270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/>
            <p:nvPr/>
          </p:nvCxnSpPr>
          <p:spPr>
            <a:xfrm>
              <a:off x="862753" y="5910010"/>
              <a:ext cx="325691" cy="0"/>
            </a:xfrm>
            <a:prstGeom prst="straightConnector1">
              <a:avLst/>
            </a:prstGeom>
            <a:ln w="12700" cmpd="sng">
              <a:solidFill>
                <a:schemeClr val="accent6">
                  <a:lumMod val="75000"/>
                </a:schemeClr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/>
            <p:cNvCxnSpPr/>
            <p:nvPr/>
          </p:nvCxnSpPr>
          <p:spPr>
            <a:xfrm>
              <a:off x="862753" y="6138584"/>
              <a:ext cx="325691" cy="0"/>
            </a:xfrm>
            <a:prstGeom prst="straightConnector1">
              <a:avLst/>
            </a:prstGeom>
            <a:ln w="12700">
              <a:solidFill>
                <a:schemeClr val="accent1">
                  <a:lumMod val="20000"/>
                  <a:lumOff val="80000"/>
                </a:schemeClr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CaixaDeTexto 18"/>
            <p:cNvSpPr txBox="1"/>
            <p:nvPr/>
          </p:nvSpPr>
          <p:spPr>
            <a:xfrm>
              <a:off x="1116436" y="5544870"/>
              <a:ext cx="14401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 smtClean="0"/>
                <a:t>Autenticação</a:t>
              </a:r>
              <a:endParaRPr lang="pt-BR" sz="1000" dirty="0"/>
            </a:p>
          </p:txBody>
        </p:sp>
        <p:sp>
          <p:nvSpPr>
            <p:cNvPr id="20" name="CaixaDeTexto 19"/>
            <p:cNvSpPr txBox="1"/>
            <p:nvPr/>
          </p:nvSpPr>
          <p:spPr>
            <a:xfrm>
              <a:off x="1131295" y="5783079"/>
              <a:ext cx="142530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 smtClean="0"/>
                <a:t>Necessidade Token</a:t>
              </a:r>
              <a:endParaRPr lang="pt-BR" sz="1000" dirty="0"/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1135487" y="6033011"/>
              <a:ext cx="142111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 smtClean="0"/>
                <a:t>Validação Token</a:t>
              </a:r>
              <a:endParaRPr lang="pt-BR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79691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69"/>
            <a:ext cx="9001124" cy="3960499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252090" y="544725"/>
            <a:ext cx="5976664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INTERDEPENDÊNCIAS</a:t>
            </a:r>
            <a:endParaRPr lang="en-US" sz="38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15" name="Rectangle 3"/>
          <p:cNvSpPr>
            <a:spLocks/>
          </p:cNvSpPr>
          <p:nvPr/>
        </p:nvSpPr>
        <p:spPr bwMode="auto">
          <a:xfrm>
            <a:off x="243587" y="2916361"/>
            <a:ext cx="5400600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2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Plataformas Envolvidas</a:t>
            </a:r>
            <a:endParaRPr lang="en-US" sz="32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11" name="Rectangle 3"/>
          <p:cNvSpPr>
            <a:spLocks/>
          </p:cNvSpPr>
          <p:nvPr/>
        </p:nvSpPr>
        <p:spPr bwMode="auto">
          <a:xfrm>
            <a:off x="252090" y="1332185"/>
            <a:ext cx="8280920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2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Dependências</a:t>
            </a:r>
            <a:endParaRPr lang="en-US" sz="32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675636" y="3492425"/>
            <a:ext cx="8199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Site </a:t>
            </a: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FV;</a:t>
            </a:r>
            <a:endParaRPr lang="pt-BR" dirty="0" smtClean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pt-BR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APP’s</a:t>
            </a: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 (Meu Encontro e outros)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468114" y="1837737"/>
            <a:ext cx="8407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Atualização dos </a:t>
            </a:r>
            <a:r>
              <a:rPr lang="pt-BR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APP’s</a:t>
            </a: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 para interagir com a nova tela de digitação de Token;</a:t>
            </a:r>
            <a:endParaRPr lang="pt-BR" dirty="0" smtClean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</a:endParaRPr>
          </a:p>
        </p:txBody>
      </p:sp>
      <p:pic>
        <p:nvPicPr>
          <p:cNvPr id="17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4068514" y="107792"/>
            <a:ext cx="2532360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Token GR – Site FV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41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69"/>
            <a:ext cx="9001124" cy="3960499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58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15873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252090" y="544725"/>
            <a:ext cx="5976664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ESTIMATIVA DE RECURSOS</a:t>
            </a:r>
            <a:endParaRPr lang="en-US" sz="38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357136"/>
              </p:ext>
            </p:extLst>
          </p:nvPr>
        </p:nvGraphicFramePr>
        <p:xfrm>
          <a:off x="4788594" y="1796201"/>
          <a:ext cx="3576440" cy="200596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448272"/>
                <a:gridCol w="1128168"/>
              </a:tblGrid>
              <a:tr h="11735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Identificação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Valor R$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Desenvolvimento</a:t>
                      </a:r>
                      <a:endParaRPr lang="pt-BR" sz="1400" strike="sng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 x,00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Serviços</a:t>
                      </a:r>
                      <a:r>
                        <a:rPr lang="pt-BR" sz="140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 Infra</a:t>
                      </a:r>
                      <a:endParaRPr lang="pt-BR" sz="1400" strike="sng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x,00</a:t>
                      </a: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Despesas </a:t>
                      </a:r>
                      <a:endParaRPr lang="pt-BR" sz="1400" strike="sng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...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6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Total</a:t>
                      </a:r>
                      <a:endParaRPr lang="pt-B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soma</a:t>
                      </a:r>
                      <a:endParaRPr lang="pt-B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ectangle 3"/>
          <p:cNvSpPr>
            <a:spLocks/>
          </p:cNvSpPr>
          <p:nvPr/>
        </p:nvSpPr>
        <p:spPr bwMode="auto">
          <a:xfrm>
            <a:off x="5580682" y="1211181"/>
            <a:ext cx="2032098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4000" dirty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Custos</a:t>
            </a:r>
            <a:endParaRPr lang="en-US" sz="40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graphicFrame>
        <p:nvGraphicFramePr>
          <p:cNvPr id="14" name="Tabe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284074"/>
              </p:ext>
            </p:extLst>
          </p:nvPr>
        </p:nvGraphicFramePr>
        <p:xfrm>
          <a:off x="108074" y="1764233"/>
          <a:ext cx="3117353" cy="200596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720080"/>
                <a:gridCol w="1368152"/>
                <a:gridCol w="1029121"/>
              </a:tblGrid>
              <a:tr h="201882">
                <a:tc>
                  <a:txBody>
                    <a:bodyPr/>
                    <a:lstStyle/>
                    <a:p>
                      <a:pPr algn="ctr"/>
                      <a:r>
                        <a:rPr lang="pt-BR" sz="14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Área</a:t>
                      </a:r>
                      <a:endParaRPr lang="pt-BR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Recurso</a:t>
                      </a:r>
                      <a:endParaRPr lang="pt-BR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Respons</a:t>
                      </a:r>
                      <a:endParaRPr lang="pt-BR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endParaRPr lang="pt-BR" sz="14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endParaRPr lang="pt-B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Rectangle 3"/>
          <p:cNvSpPr>
            <a:spLocks/>
          </p:cNvSpPr>
          <p:nvPr/>
        </p:nvSpPr>
        <p:spPr bwMode="auto">
          <a:xfrm>
            <a:off x="684138" y="1223794"/>
            <a:ext cx="2032098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40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Recursos</a:t>
            </a:r>
            <a:endParaRPr lang="en-US" sz="40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pic>
        <p:nvPicPr>
          <p:cNvPr id="17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2141785" y="4140497"/>
            <a:ext cx="4086969" cy="86177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980"/>
              </a:lnSpc>
              <a:defRPr/>
            </a:pPr>
            <a:r>
              <a:rPr lang="pt-BR" sz="14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  <a:t>Detalhar a Expectativa de Prazos:</a:t>
            </a:r>
            <a:br>
              <a:rPr lang="pt-BR" sz="14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</a:br>
            <a:r>
              <a:rPr lang="pt-BR" sz="14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  <a:t>Data estimada para apresentação do P0:</a:t>
            </a:r>
          </a:p>
          <a:p>
            <a:pPr>
              <a:lnSpc>
                <a:spcPts val="1980"/>
              </a:lnSpc>
              <a:defRPr/>
            </a:pPr>
            <a:r>
              <a:rPr lang="pt-BR" sz="14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  <a:t>Data estimada para apresentação do P1:</a:t>
            </a:r>
            <a:endParaRPr lang="pt-BR" sz="1400" spc="140" dirty="0">
              <a:solidFill>
                <a:schemeClr val="tx1">
                  <a:lumMod val="65000"/>
                  <a:lumOff val="35000"/>
                </a:schemeClr>
              </a:solidFill>
              <a:latin typeface="Gill Sans Std" charset="0"/>
              <a:ea typeface="MS PGothic" charset="0"/>
              <a:cs typeface="MS PGothic" charset="0"/>
            </a:endParaRPr>
          </a:p>
        </p:txBody>
      </p:sp>
      <p:sp>
        <p:nvSpPr>
          <p:cNvPr id="21" name="Rectangle 3"/>
          <p:cNvSpPr>
            <a:spLocks/>
          </p:cNvSpPr>
          <p:nvPr/>
        </p:nvSpPr>
        <p:spPr bwMode="auto">
          <a:xfrm>
            <a:off x="308414" y="4516244"/>
            <a:ext cx="2032098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40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Prazo</a:t>
            </a:r>
            <a:endParaRPr lang="en-US" sz="40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4068514" y="107792"/>
            <a:ext cx="2532360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Token GR – Site FV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625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Box 8"/>
          <p:cNvSpPr txBox="1">
            <a:spLocks noChangeArrowheads="1"/>
          </p:cNvSpPr>
          <p:nvPr/>
        </p:nvSpPr>
        <p:spPr bwMode="auto">
          <a:xfrm>
            <a:off x="376219" y="2125580"/>
            <a:ext cx="7193868" cy="976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293" tIns="41147" rIns="82293" bIns="41147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5600" b="1" dirty="0">
                <a:solidFill>
                  <a:srgbClr val="002060"/>
                </a:solidFill>
                <a:latin typeface="Verdana" pitchFamily="34" charset="0"/>
                <a:ea typeface="MS PGothic" pitchFamily="34" charset="-128"/>
              </a:rPr>
              <a:t>fim. obrigado.</a:t>
            </a:r>
          </a:p>
        </p:txBody>
      </p:sp>
      <p:pic>
        <p:nvPicPr>
          <p:cNvPr id="31748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3698" y="2280285"/>
            <a:ext cx="738374" cy="540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451619" y="4826854"/>
            <a:ext cx="2009653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900" b="1" dirty="0">
                <a:solidFill>
                  <a:schemeClr val="bg1"/>
                </a:solidFill>
                <a:latin typeface="Verdana" charset="0"/>
              </a:rPr>
              <a:t>INFORMAÇÕES</a:t>
            </a:r>
            <a:r>
              <a:rPr lang="en-US" sz="900" dirty="0">
                <a:solidFill>
                  <a:schemeClr val="bg1"/>
                </a:solidFill>
                <a:latin typeface="Verdana" charset="0"/>
              </a:rPr>
              <a:t> ADICIONAIS </a:t>
            </a:r>
          </a:p>
        </p:txBody>
      </p:sp>
    </p:spTree>
    <p:extLst>
      <p:ext uri="{BB962C8B-B14F-4D97-AF65-F5344CB8AC3E}">
        <p14:creationId xmlns:p14="http://schemas.microsoft.com/office/powerpoint/2010/main" val="34370317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nk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o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tle &amp; Bullets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C0037"/>
      </a:accent1>
      <a:accent2>
        <a:srgbClr val="333399"/>
      </a:accent2>
      <a:accent3>
        <a:srgbClr val="FFFFFF"/>
      </a:accent3>
      <a:accent4>
        <a:srgbClr val="000000"/>
      </a:accent4>
      <a:accent5>
        <a:srgbClr val="BFAAAE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566E7B9F93237478EA8D944643E4D26" ma:contentTypeVersion="0" ma:contentTypeDescription="Crie um novo documento." ma:contentTypeScope="" ma:versionID="e7e6c8ac1ce87c7ce66ee0e28519793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b358bd3c4937f8c29cf3e1e721863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AF67336-3608-4B41-89AA-AE2FF91AB3B3}"/>
</file>

<file path=customXml/itemProps2.xml><?xml version="1.0" encoding="utf-8"?>
<ds:datastoreItem xmlns:ds="http://schemas.openxmlformats.org/officeDocument/2006/customXml" ds:itemID="{345142BF-2FD8-4361-B6CE-C714ACDDB28C}"/>
</file>

<file path=customXml/itemProps3.xml><?xml version="1.0" encoding="utf-8"?>
<ds:datastoreItem xmlns:ds="http://schemas.openxmlformats.org/officeDocument/2006/customXml" ds:itemID="{F123B346-4C39-4470-9725-0145E70DA245}"/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3849</TotalTime>
  <Words>371</Words>
  <Application>Microsoft Office PowerPoint</Application>
  <PresentationFormat>Personalizar</PresentationFormat>
  <Paragraphs>84</Paragraphs>
  <Slides>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Blank</vt:lpstr>
      <vt:lpstr>Title &amp; Bullets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P0 – Aprovação da Ideia</dc:title>
  <dc:creator>br92025</dc:creator>
  <cp:lastModifiedBy>br93315</cp:lastModifiedBy>
  <cp:revision>72</cp:revision>
  <dcterms:created xsi:type="dcterms:W3CDTF">2013-05-14T22:09:27Z</dcterms:created>
  <dcterms:modified xsi:type="dcterms:W3CDTF">2015-06-25T14:09:10Z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0x0101008566E7B9F93237478EA8D944643E4D26</vt:lpwstr>
  </property>
</Properties>
</file>