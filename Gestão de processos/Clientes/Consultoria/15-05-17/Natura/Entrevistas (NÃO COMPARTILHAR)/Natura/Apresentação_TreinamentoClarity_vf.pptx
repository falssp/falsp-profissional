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pptx" ContentType="application/vnd.openxmlformats-officedocument.presentationml.presentation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6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80" r:id="rId6"/>
    <p:sldMasterId id="2147483692" r:id="rId7"/>
    <p:sldMasterId id="2147483705" r:id="rId8"/>
    <p:sldMasterId id="2147483717" r:id="rId9"/>
    <p:sldMasterId id="2147483730" r:id="rId10"/>
  </p:sldMasterIdLst>
  <p:notesMasterIdLst>
    <p:notesMasterId r:id="rId163"/>
  </p:notesMasterIdLst>
  <p:sldIdLst>
    <p:sldId id="561" r:id="rId11"/>
    <p:sldId id="586" r:id="rId12"/>
    <p:sldId id="587" r:id="rId13"/>
    <p:sldId id="588" r:id="rId14"/>
    <p:sldId id="593" r:id="rId15"/>
    <p:sldId id="558" r:id="rId16"/>
    <p:sldId id="573" r:id="rId17"/>
    <p:sldId id="574" r:id="rId18"/>
    <p:sldId id="572" r:id="rId19"/>
    <p:sldId id="512" r:id="rId20"/>
    <p:sldId id="513" r:id="rId21"/>
    <p:sldId id="518" r:id="rId22"/>
    <p:sldId id="519" r:id="rId23"/>
    <p:sldId id="560" r:id="rId24"/>
    <p:sldId id="552" r:id="rId25"/>
    <p:sldId id="524" r:id="rId26"/>
    <p:sldId id="553" r:id="rId27"/>
    <p:sldId id="564" r:id="rId28"/>
    <p:sldId id="526" r:id="rId29"/>
    <p:sldId id="528" r:id="rId30"/>
    <p:sldId id="525" r:id="rId31"/>
    <p:sldId id="451" r:id="rId32"/>
    <p:sldId id="578" r:id="rId33"/>
    <p:sldId id="450" r:id="rId34"/>
    <p:sldId id="533" r:id="rId35"/>
    <p:sldId id="411" r:id="rId36"/>
    <p:sldId id="412" r:id="rId37"/>
    <p:sldId id="413" r:id="rId38"/>
    <p:sldId id="414" r:id="rId39"/>
    <p:sldId id="415" r:id="rId40"/>
    <p:sldId id="416" r:id="rId41"/>
    <p:sldId id="548" r:id="rId42"/>
    <p:sldId id="418" r:id="rId43"/>
    <p:sldId id="419" r:id="rId44"/>
    <p:sldId id="421" r:id="rId45"/>
    <p:sldId id="358" r:id="rId46"/>
    <p:sldId id="576" r:id="rId47"/>
    <p:sldId id="577" r:id="rId48"/>
    <p:sldId id="589" r:id="rId49"/>
    <p:sldId id="497" r:id="rId50"/>
    <p:sldId id="370" r:id="rId51"/>
    <p:sldId id="385" r:id="rId52"/>
    <p:sldId id="400" r:id="rId53"/>
    <p:sldId id="401" r:id="rId54"/>
    <p:sldId id="402" r:id="rId55"/>
    <p:sldId id="541" r:id="rId56"/>
    <p:sldId id="498" r:id="rId57"/>
    <p:sldId id="371" r:id="rId58"/>
    <p:sldId id="391" r:id="rId59"/>
    <p:sldId id="394" r:id="rId60"/>
    <p:sldId id="408" r:id="rId61"/>
    <p:sldId id="404" r:id="rId62"/>
    <p:sldId id="405" r:id="rId63"/>
    <p:sldId id="407" r:id="rId64"/>
    <p:sldId id="542" r:id="rId65"/>
    <p:sldId id="499" r:id="rId66"/>
    <p:sldId id="374" r:id="rId67"/>
    <p:sldId id="409" r:id="rId68"/>
    <p:sldId id="395" r:id="rId69"/>
    <p:sldId id="543" r:id="rId70"/>
    <p:sldId id="500" r:id="rId71"/>
    <p:sldId id="372" r:id="rId72"/>
    <p:sldId id="387" r:id="rId73"/>
    <p:sldId id="427" r:id="rId74"/>
    <p:sldId id="398" r:id="rId75"/>
    <p:sldId id="428" r:id="rId76"/>
    <p:sldId id="544" r:id="rId77"/>
    <p:sldId id="501" r:id="rId78"/>
    <p:sldId id="373" r:id="rId79"/>
    <p:sldId id="423" r:id="rId80"/>
    <p:sldId id="399" r:id="rId81"/>
    <p:sldId id="430" r:id="rId82"/>
    <p:sldId id="425" r:id="rId83"/>
    <p:sldId id="380" r:id="rId84"/>
    <p:sldId id="502" r:id="rId85"/>
    <p:sldId id="377" r:id="rId86"/>
    <p:sldId id="426" r:id="rId87"/>
    <p:sldId id="431" r:id="rId88"/>
    <p:sldId id="432" r:id="rId89"/>
    <p:sldId id="441" r:id="rId90"/>
    <p:sldId id="429" r:id="rId91"/>
    <p:sldId id="545" r:id="rId92"/>
    <p:sldId id="503" r:id="rId93"/>
    <p:sldId id="381" r:id="rId94"/>
    <p:sldId id="438" r:id="rId95"/>
    <p:sldId id="468" r:id="rId96"/>
    <p:sldId id="534" r:id="rId97"/>
    <p:sldId id="580" r:id="rId98"/>
    <p:sldId id="581" r:id="rId99"/>
    <p:sldId id="467" r:id="rId100"/>
    <p:sldId id="436" r:id="rId101"/>
    <p:sldId id="439" r:id="rId102"/>
    <p:sldId id="440" r:id="rId103"/>
    <p:sldId id="546" r:id="rId104"/>
    <p:sldId id="504" r:id="rId105"/>
    <p:sldId id="378" r:id="rId106"/>
    <p:sldId id="382" r:id="rId107"/>
    <p:sldId id="445" r:id="rId108"/>
    <p:sldId id="449" r:id="rId109"/>
    <p:sldId id="447" r:id="rId110"/>
    <p:sldId id="442" r:id="rId111"/>
    <p:sldId id="479" r:id="rId112"/>
    <p:sldId id="446" r:id="rId113"/>
    <p:sldId id="444" r:id="rId114"/>
    <p:sldId id="443" r:id="rId115"/>
    <p:sldId id="452" r:id="rId116"/>
    <p:sldId id="453" r:id="rId117"/>
    <p:sldId id="473" r:id="rId118"/>
    <p:sldId id="547" r:id="rId119"/>
    <p:sldId id="505" r:id="rId120"/>
    <p:sldId id="379" r:id="rId121"/>
    <p:sldId id="459" r:id="rId122"/>
    <p:sldId id="540" r:id="rId123"/>
    <p:sldId id="506" r:id="rId124"/>
    <p:sldId id="433" r:id="rId125"/>
    <p:sldId id="460" r:id="rId126"/>
    <p:sldId id="464" r:id="rId127"/>
    <p:sldId id="466" r:id="rId128"/>
    <p:sldId id="470" r:id="rId129"/>
    <p:sldId id="480" r:id="rId130"/>
    <p:sldId id="539" r:id="rId131"/>
    <p:sldId id="507" r:id="rId132"/>
    <p:sldId id="434" r:id="rId133"/>
    <p:sldId id="461" r:id="rId134"/>
    <p:sldId id="582" r:id="rId135"/>
    <p:sldId id="457" r:id="rId136"/>
    <p:sldId id="484" r:id="rId137"/>
    <p:sldId id="485" r:id="rId138"/>
    <p:sldId id="486" r:id="rId139"/>
    <p:sldId id="487" r:id="rId140"/>
    <p:sldId id="491" r:id="rId141"/>
    <p:sldId id="481" r:id="rId142"/>
    <p:sldId id="538" r:id="rId143"/>
    <p:sldId id="508" r:id="rId144"/>
    <p:sldId id="489" r:id="rId145"/>
    <p:sldId id="494" r:id="rId146"/>
    <p:sldId id="462" r:id="rId147"/>
    <p:sldId id="465" r:id="rId148"/>
    <p:sldId id="483" r:id="rId149"/>
    <p:sldId id="482" r:id="rId150"/>
    <p:sldId id="551" r:id="rId151"/>
    <p:sldId id="495" r:id="rId152"/>
    <p:sldId id="496" r:id="rId153"/>
    <p:sldId id="493" r:id="rId154"/>
    <p:sldId id="594" r:id="rId155"/>
    <p:sldId id="590" r:id="rId156"/>
    <p:sldId id="596" r:id="rId157"/>
    <p:sldId id="591" r:id="rId158"/>
    <p:sldId id="549" r:id="rId159"/>
    <p:sldId id="550" r:id="rId160"/>
    <p:sldId id="595" r:id="rId161"/>
    <p:sldId id="584" r:id="rId162"/>
  </p:sldIdLst>
  <p:sldSz cx="9144000" cy="5143500" type="screen16x9"/>
  <p:notesSz cx="9926638" cy="6797675"/>
  <p:defaultTextStyle>
    <a:defPPr>
      <a:defRPr lang="pt-BR"/>
    </a:defPPr>
    <a:lvl1pPr marL="0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4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drões" id="{12DD4983-7521-49DD-8E06-B42A24180C9C}">
          <p14:sldIdLst>
            <p14:sldId id="561"/>
            <p14:sldId id="586"/>
            <p14:sldId id="587"/>
            <p14:sldId id="588"/>
            <p14:sldId id="593"/>
            <p14:sldId id="558"/>
            <p14:sldId id="573"/>
            <p14:sldId id="574"/>
            <p14:sldId id="572"/>
            <p14:sldId id="512"/>
            <p14:sldId id="513"/>
            <p14:sldId id="518"/>
            <p14:sldId id="519"/>
            <p14:sldId id="560"/>
            <p14:sldId id="552"/>
            <p14:sldId id="524"/>
            <p14:sldId id="553"/>
            <p14:sldId id="564"/>
            <p14:sldId id="526"/>
            <p14:sldId id="528"/>
            <p14:sldId id="525"/>
            <p14:sldId id="451"/>
            <p14:sldId id="578"/>
            <p14:sldId id="450"/>
            <p14:sldId id="533"/>
            <p14:sldId id="411"/>
            <p14:sldId id="412"/>
            <p14:sldId id="413"/>
            <p14:sldId id="414"/>
            <p14:sldId id="415"/>
            <p14:sldId id="416"/>
            <p14:sldId id="548"/>
            <p14:sldId id="418"/>
            <p14:sldId id="419"/>
            <p14:sldId id="421"/>
            <p14:sldId id="358"/>
            <p14:sldId id="576"/>
            <p14:sldId id="577"/>
            <p14:sldId id="589"/>
            <p14:sldId id="497"/>
            <p14:sldId id="370"/>
            <p14:sldId id="385"/>
            <p14:sldId id="400"/>
            <p14:sldId id="401"/>
            <p14:sldId id="402"/>
            <p14:sldId id="541"/>
            <p14:sldId id="498"/>
            <p14:sldId id="371"/>
            <p14:sldId id="391"/>
            <p14:sldId id="394"/>
            <p14:sldId id="408"/>
            <p14:sldId id="404"/>
            <p14:sldId id="405"/>
            <p14:sldId id="407"/>
            <p14:sldId id="542"/>
            <p14:sldId id="499"/>
            <p14:sldId id="374"/>
            <p14:sldId id="409"/>
            <p14:sldId id="395"/>
            <p14:sldId id="543"/>
            <p14:sldId id="500"/>
            <p14:sldId id="372"/>
            <p14:sldId id="387"/>
            <p14:sldId id="427"/>
            <p14:sldId id="398"/>
            <p14:sldId id="428"/>
            <p14:sldId id="544"/>
            <p14:sldId id="501"/>
            <p14:sldId id="373"/>
            <p14:sldId id="423"/>
            <p14:sldId id="399"/>
            <p14:sldId id="430"/>
            <p14:sldId id="425"/>
            <p14:sldId id="380"/>
            <p14:sldId id="502"/>
            <p14:sldId id="377"/>
            <p14:sldId id="426"/>
            <p14:sldId id="431"/>
            <p14:sldId id="432"/>
            <p14:sldId id="441"/>
            <p14:sldId id="429"/>
            <p14:sldId id="545"/>
            <p14:sldId id="503"/>
            <p14:sldId id="381"/>
            <p14:sldId id="438"/>
            <p14:sldId id="468"/>
            <p14:sldId id="534"/>
            <p14:sldId id="580"/>
            <p14:sldId id="581"/>
            <p14:sldId id="467"/>
            <p14:sldId id="436"/>
            <p14:sldId id="439"/>
            <p14:sldId id="440"/>
            <p14:sldId id="546"/>
            <p14:sldId id="504"/>
            <p14:sldId id="378"/>
            <p14:sldId id="382"/>
            <p14:sldId id="445"/>
            <p14:sldId id="449"/>
            <p14:sldId id="447"/>
            <p14:sldId id="442"/>
            <p14:sldId id="479"/>
            <p14:sldId id="446"/>
            <p14:sldId id="444"/>
            <p14:sldId id="443"/>
            <p14:sldId id="452"/>
            <p14:sldId id="453"/>
            <p14:sldId id="473"/>
            <p14:sldId id="547"/>
            <p14:sldId id="505"/>
            <p14:sldId id="379"/>
            <p14:sldId id="459"/>
            <p14:sldId id="540"/>
            <p14:sldId id="506"/>
            <p14:sldId id="433"/>
            <p14:sldId id="460"/>
            <p14:sldId id="464"/>
            <p14:sldId id="466"/>
            <p14:sldId id="470"/>
            <p14:sldId id="480"/>
            <p14:sldId id="539"/>
            <p14:sldId id="507"/>
            <p14:sldId id="434"/>
            <p14:sldId id="461"/>
            <p14:sldId id="582"/>
            <p14:sldId id="457"/>
            <p14:sldId id="484"/>
            <p14:sldId id="485"/>
            <p14:sldId id="486"/>
            <p14:sldId id="487"/>
            <p14:sldId id="491"/>
            <p14:sldId id="481"/>
            <p14:sldId id="538"/>
            <p14:sldId id="508"/>
            <p14:sldId id="489"/>
            <p14:sldId id="494"/>
            <p14:sldId id="462"/>
            <p14:sldId id="465"/>
            <p14:sldId id="483"/>
            <p14:sldId id="482"/>
            <p14:sldId id="551"/>
            <p14:sldId id="495"/>
            <p14:sldId id="496"/>
            <p14:sldId id="493"/>
            <p14:sldId id="594"/>
            <p14:sldId id="590"/>
            <p14:sldId id="596"/>
            <p14:sldId id="591"/>
            <p14:sldId id="549"/>
            <p14:sldId id="550"/>
            <p14:sldId id="595"/>
            <p14:sldId id="584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orient="horz" pos="229">
          <p15:clr>
            <a:srgbClr val="A4A3A4"/>
          </p15:clr>
        </p15:guide>
        <p15:guide id="3" orient="horz" pos="3013">
          <p15:clr>
            <a:srgbClr val="A4A3A4"/>
          </p15:clr>
        </p15:guide>
        <p15:guide id="4" pos="2880">
          <p15:clr>
            <a:srgbClr val="A4A3A4"/>
          </p15:clr>
        </p15:guide>
        <p15:guide id="5" pos="228">
          <p15:clr>
            <a:srgbClr val="A4A3A4"/>
          </p15:clr>
        </p15:guide>
        <p15:guide id="6" pos="5533">
          <p15:clr>
            <a:srgbClr val="A4A3A4"/>
          </p15:clr>
        </p15:guide>
        <p15:guide id="7" pos="457">
          <p15:clr>
            <a:srgbClr val="A4A3A4"/>
          </p15:clr>
        </p15:guide>
        <p15:guide id="8" pos="5307">
          <p15:clr>
            <a:srgbClr val="A4A3A4"/>
          </p15:clr>
        </p15:guide>
        <p15:guide id="9" pos="2653">
          <p15:clr>
            <a:srgbClr val="A4A3A4"/>
          </p15:clr>
        </p15:guide>
        <p15:guide id="10" pos="31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66"/>
    <a:srgbClr val="004F71"/>
    <a:srgbClr val="5F5F5F"/>
    <a:srgbClr val="FDF3A5"/>
    <a:srgbClr val="FCFDFE"/>
    <a:srgbClr val="F0F9E7"/>
    <a:srgbClr val="CEEAB0"/>
    <a:srgbClr val="FBE122"/>
    <a:srgbClr val="FFFFFF"/>
    <a:srgbClr val="2AE2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07" autoAdjust="0"/>
    <p:restoredTop sz="94799" autoAdjust="0"/>
  </p:normalViewPr>
  <p:slideViewPr>
    <p:cSldViewPr>
      <p:cViewPr>
        <p:scale>
          <a:sx n="100" d="100"/>
          <a:sy n="100" d="100"/>
        </p:scale>
        <p:origin x="-156" y="-66"/>
      </p:cViewPr>
      <p:guideLst>
        <p:guide orient="horz" pos="1620"/>
        <p:guide orient="horz" pos="229"/>
        <p:guide orient="horz" pos="3013"/>
        <p:guide pos="2880"/>
        <p:guide pos="228"/>
        <p:guide pos="5533"/>
        <p:guide pos="457"/>
        <p:guide pos="5307"/>
        <p:guide pos="2653"/>
        <p:guide pos="31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6.xml"/><Relationship Id="rId117" Type="http://schemas.openxmlformats.org/officeDocument/2006/relationships/slide" Target="slides/slide107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63" Type="http://schemas.openxmlformats.org/officeDocument/2006/relationships/slide" Target="slides/slide53.xml"/><Relationship Id="rId68" Type="http://schemas.openxmlformats.org/officeDocument/2006/relationships/slide" Target="slides/slide58.xml"/><Relationship Id="rId84" Type="http://schemas.openxmlformats.org/officeDocument/2006/relationships/slide" Target="slides/slide74.xml"/><Relationship Id="rId89" Type="http://schemas.openxmlformats.org/officeDocument/2006/relationships/slide" Target="slides/slide79.xml"/><Relationship Id="rId112" Type="http://schemas.openxmlformats.org/officeDocument/2006/relationships/slide" Target="slides/slide102.xml"/><Relationship Id="rId133" Type="http://schemas.openxmlformats.org/officeDocument/2006/relationships/slide" Target="slides/slide123.xml"/><Relationship Id="rId138" Type="http://schemas.openxmlformats.org/officeDocument/2006/relationships/slide" Target="slides/slide128.xml"/><Relationship Id="rId154" Type="http://schemas.openxmlformats.org/officeDocument/2006/relationships/slide" Target="slides/slide144.xml"/><Relationship Id="rId159" Type="http://schemas.openxmlformats.org/officeDocument/2006/relationships/slide" Target="slides/slide149.xml"/><Relationship Id="rId16" Type="http://schemas.openxmlformats.org/officeDocument/2006/relationships/slide" Target="slides/slide6.xml"/><Relationship Id="rId107" Type="http://schemas.openxmlformats.org/officeDocument/2006/relationships/slide" Target="slides/slide97.xml"/><Relationship Id="rId11" Type="http://schemas.openxmlformats.org/officeDocument/2006/relationships/slide" Target="slides/slide1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74" Type="http://schemas.openxmlformats.org/officeDocument/2006/relationships/slide" Target="slides/slide64.xml"/><Relationship Id="rId79" Type="http://schemas.openxmlformats.org/officeDocument/2006/relationships/slide" Target="slides/slide69.xml"/><Relationship Id="rId102" Type="http://schemas.openxmlformats.org/officeDocument/2006/relationships/slide" Target="slides/slide92.xml"/><Relationship Id="rId123" Type="http://schemas.openxmlformats.org/officeDocument/2006/relationships/slide" Target="slides/slide113.xml"/><Relationship Id="rId128" Type="http://schemas.openxmlformats.org/officeDocument/2006/relationships/slide" Target="slides/slide118.xml"/><Relationship Id="rId144" Type="http://schemas.openxmlformats.org/officeDocument/2006/relationships/slide" Target="slides/slide134.xml"/><Relationship Id="rId149" Type="http://schemas.openxmlformats.org/officeDocument/2006/relationships/slide" Target="slides/slide139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0.xml"/><Relationship Id="rId95" Type="http://schemas.openxmlformats.org/officeDocument/2006/relationships/slide" Target="slides/slide85.xml"/><Relationship Id="rId160" Type="http://schemas.openxmlformats.org/officeDocument/2006/relationships/slide" Target="slides/slide150.xml"/><Relationship Id="rId165" Type="http://schemas.openxmlformats.org/officeDocument/2006/relationships/viewProps" Target="viewProps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64" Type="http://schemas.openxmlformats.org/officeDocument/2006/relationships/slide" Target="slides/slide54.xml"/><Relationship Id="rId69" Type="http://schemas.openxmlformats.org/officeDocument/2006/relationships/slide" Target="slides/slide59.xml"/><Relationship Id="rId113" Type="http://schemas.openxmlformats.org/officeDocument/2006/relationships/slide" Target="slides/slide103.xml"/><Relationship Id="rId118" Type="http://schemas.openxmlformats.org/officeDocument/2006/relationships/slide" Target="slides/slide108.xml"/><Relationship Id="rId134" Type="http://schemas.openxmlformats.org/officeDocument/2006/relationships/slide" Target="slides/slide124.xml"/><Relationship Id="rId139" Type="http://schemas.openxmlformats.org/officeDocument/2006/relationships/slide" Target="slides/slide129.xml"/><Relationship Id="rId80" Type="http://schemas.openxmlformats.org/officeDocument/2006/relationships/slide" Target="slides/slide70.xml"/><Relationship Id="rId85" Type="http://schemas.openxmlformats.org/officeDocument/2006/relationships/slide" Target="slides/slide75.xml"/><Relationship Id="rId150" Type="http://schemas.openxmlformats.org/officeDocument/2006/relationships/slide" Target="slides/slide140.xml"/><Relationship Id="rId155" Type="http://schemas.openxmlformats.org/officeDocument/2006/relationships/slide" Target="slides/slide145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59" Type="http://schemas.openxmlformats.org/officeDocument/2006/relationships/slide" Target="slides/slide49.xml"/><Relationship Id="rId103" Type="http://schemas.openxmlformats.org/officeDocument/2006/relationships/slide" Target="slides/slide93.xml"/><Relationship Id="rId108" Type="http://schemas.openxmlformats.org/officeDocument/2006/relationships/slide" Target="slides/slide98.xml"/><Relationship Id="rId124" Type="http://schemas.openxmlformats.org/officeDocument/2006/relationships/slide" Target="slides/slide114.xml"/><Relationship Id="rId129" Type="http://schemas.openxmlformats.org/officeDocument/2006/relationships/slide" Target="slides/slide119.xml"/><Relationship Id="rId54" Type="http://schemas.openxmlformats.org/officeDocument/2006/relationships/slide" Target="slides/slide44.xml"/><Relationship Id="rId70" Type="http://schemas.openxmlformats.org/officeDocument/2006/relationships/slide" Target="slides/slide60.xml"/><Relationship Id="rId75" Type="http://schemas.openxmlformats.org/officeDocument/2006/relationships/slide" Target="slides/slide65.xml"/><Relationship Id="rId91" Type="http://schemas.openxmlformats.org/officeDocument/2006/relationships/slide" Target="slides/slide81.xml"/><Relationship Id="rId96" Type="http://schemas.openxmlformats.org/officeDocument/2006/relationships/slide" Target="slides/slide86.xml"/><Relationship Id="rId140" Type="http://schemas.openxmlformats.org/officeDocument/2006/relationships/slide" Target="slides/slide130.xml"/><Relationship Id="rId145" Type="http://schemas.openxmlformats.org/officeDocument/2006/relationships/slide" Target="slides/slide135.xml"/><Relationship Id="rId161" Type="http://schemas.openxmlformats.org/officeDocument/2006/relationships/slide" Target="slides/slide151.xml"/><Relationship Id="rId16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106" Type="http://schemas.openxmlformats.org/officeDocument/2006/relationships/slide" Target="slides/slide96.xml"/><Relationship Id="rId114" Type="http://schemas.openxmlformats.org/officeDocument/2006/relationships/slide" Target="slides/slide104.xml"/><Relationship Id="rId119" Type="http://schemas.openxmlformats.org/officeDocument/2006/relationships/slide" Target="slides/slide109.xml"/><Relationship Id="rId127" Type="http://schemas.openxmlformats.org/officeDocument/2006/relationships/slide" Target="slides/slide117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73" Type="http://schemas.openxmlformats.org/officeDocument/2006/relationships/slide" Target="slides/slide63.xml"/><Relationship Id="rId78" Type="http://schemas.openxmlformats.org/officeDocument/2006/relationships/slide" Target="slides/slide68.xml"/><Relationship Id="rId81" Type="http://schemas.openxmlformats.org/officeDocument/2006/relationships/slide" Target="slides/slide71.xml"/><Relationship Id="rId86" Type="http://schemas.openxmlformats.org/officeDocument/2006/relationships/slide" Target="slides/slide76.xml"/><Relationship Id="rId94" Type="http://schemas.openxmlformats.org/officeDocument/2006/relationships/slide" Target="slides/slide84.xml"/><Relationship Id="rId99" Type="http://schemas.openxmlformats.org/officeDocument/2006/relationships/slide" Target="slides/slide89.xml"/><Relationship Id="rId101" Type="http://schemas.openxmlformats.org/officeDocument/2006/relationships/slide" Target="slides/slide91.xml"/><Relationship Id="rId122" Type="http://schemas.openxmlformats.org/officeDocument/2006/relationships/slide" Target="slides/slide112.xml"/><Relationship Id="rId130" Type="http://schemas.openxmlformats.org/officeDocument/2006/relationships/slide" Target="slides/slide120.xml"/><Relationship Id="rId135" Type="http://schemas.openxmlformats.org/officeDocument/2006/relationships/slide" Target="slides/slide125.xml"/><Relationship Id="rId143" Type="http://schemas.openxmlformats.org/officeDocument/2006/relationships/slide" Target="slides/slide133.xml"/><Relationship Id="rId148" Type="http://schemas.openxmlformats.org/officeDocument/2006/relationships/slide" Target="slides/slide138.xml"/><Relationship Id="rId151" Type="http://schemas.openxmlformats.org/officeDocument/2006/relationships/slide" Target="slides/slide141.xml"/><Relationship Id="rId156" Type="http://schemas.openxmlformats.org/officeDocument/2006/relationships/slide" Target="slides/slide146.xml"/><Relationship Id="rId16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109" Type="http://schemas.openxmlformats.org/officeDocument/2006/relationships/slide" Target="slides/slide9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6" Type="http://schemas.openxmlformats.org/officeDocument/2006/relationships/slide" Target="slides/slide66.xml"/><Relationship Id="rId97" Type="http://schemas.openxmlformats.org/officeDocument/2006/relationships/slide" Target="slides/slide87.xml"/><Relationship Id="rId104" Type="http://schemas.openxmlformats.org/officeDocument/2006/relationships/slide" Target="slides/slide94.xml"/><Relationship Id="rId120" Type="http://schemas.openxmlformats.org/officeDocument/2006/relationships/slide" Target="slides/slide110.xml"/><Relationship Id="rId125" Type="http://schemas.openxmlformats.org/officeDocument/2006/relationships/slide" Target="slides/slide115.xml"/><Relationship Id="rId141" Type="http://schemas.openxmlformats.org/officeDocument/2006/relationships/slide" Target="slides/slide131.xml"/><Relationship Id="rId146" Type="http://schemas.openxmlformats.org/officeDocument/2006/relationships/slide" Target="slides/slide136.xml"/><Relationship Id="rId167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1.xml"/><Relationship Id="rId92" Type="http://schemas.openxmlformats.org/officeDocument/2006/relationships/slide" Target="slides/slide82.xml"/><Relationship Id="rId162" Type="http://schemas.openxmlformats.org/officeDocument/2006/relationships/slide" Target="slides/slide152.xml"/><Relationship Id="rId2" Type="http://schemas.openxmlformats.org/officeDocument/2006/relationships/customXml" Target="../customXml/item2.xml"/><Relationship Id="rId29" Type="http://schemas.openxmlformats.org/officeDocument/2006/relationships/slide" Target="slides/slide19.xml"/><Relationship Id="rId24" Type="http://schemas.openxmlformats.org/officeDocument/2006/relationships/slide" Target="slides/slide14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66" Type="http://schemas.openxmlformats.org/officeDocument/2006/relationships/slide" Target="slides/slide56.xml"/><Relationship Id="rId87" Type="http://schemas.openxmlformats.org/officeDocument/2006/relationships/slide" Target="slides/slide77.xml"/><Relationship Id="rId110" Type="http://schemas.openxmlformats.org/officeDocument/2006/relationships/slide" Target="slides/slide100.xml"/><Relationship Id="rId115" Type="http://schemas.openxmlformats.org/officeDocument/2006/relationships/slide" Target="slides/slide105.xml"/><Relationship Id="rId131" Type="http://schemas.openxmlformats.org/officeDocument/2006/relationships/slide" Target="slides/slide121.xml"/><Relationship Id="rId136" Type="http://schemas.openxmlformats.org/officeDocument/2006/relationships/slide" Target="slides/slide126.xml"/><Relationship Id="rId157" Type="http://schemas.openxmlformats.org/officeDocument/2006/relationships/slide" Target="slides/slide147.xml"/><Relationship Id="rId61" Type="http://schemas.openxmlformats.org/officeDocument/2006/relationships/slide" Target="slides/slide51.xml"/><Relationship Id="rId82" Type="http://schemas.openxmlformats.org/officeDocument/2006/relationships/slide" Target="slides/slide72.xml"/><Relationship Id="rId152" Type="http://schemas.openxmlformats.org/officeDocument/2006/relationships/slide" Target="slides/slide142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56" Type="http://schemas.openxmlformats.org/officeDocument/2006/relationships/slide" Target="slides/slide46.xml"/><Relationship Id="rId77" Type="http://schemas.openxmlformats.org/officeDocument/2006/relationships/slide" Target="slides/slide67.xml"/><Relationship Id="rId100" Type="http://schemas.openxmlformats.org/officeDocument/2006/relationships/slide" Target="slides/slide90.xml"/><Relationship Id="rId105" Type="http://schemas.openxmlformats.org/officeDocument/2006/relationships/slide" Target="slides/slide95.xml"/><Relationship Id="rId126" Type="http://schemas.openxmlformats.org/officeDocument/2006/relationships/slide" Target="slides/slide116.xml"/><Relationship Id="rId147" Type="http://schemas.openxmlformats.org/officeDocument/2006/relationships/slide" Target="slides/slide137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1.xml"/><Relationship Id="rId72" Type="http://schemas.openxmlformats.org/officeDocument/2006/relationships/slide" Target="slides/slide62.xml"/><Relationship Id="rId93" Type="http://schemas.openxmlformats.org/officeDocument/2006/relationships/slide" Target="slides/slide83.xml"/><Relationship Id="rId98" Type="http://schemas.openxmlformats.org/officeDocument/2006/relationships/slide" Target="slides/slide88.xml"/><Relationship Id="rId121" Type="http://schemas.openxmlformats.org/officeDocument/2006/relationships/slide" Target="slides/slide111.xml"/><Relationship Id="rId142" Type="http://schemas.openxmlformats.org/officeDocument/2006/relationships/slide" Target="slides/slide132.xml"/><Relationship Id="rId16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5" Type="http://schemas.openxmlformats.org/officeDocument/2006/relationships/slide" Target="slides/slide15.xml"/><Relationship Id="rId46" Type="http://schemas.openxmlformats.org/officeDocument/2006/relationships/slide" Target="slides/slide36.xml"/><Relationship Id="rId67" Type="http://schemas.openxmlformats.org/officeDocument/2006/relationships/slide" Target="slides/slide57.xml"/><Relationship Id="rId116" Type="http://schemas.openxmlformats.org/officeDocument/2006/relationships/slide" Target="slides/slide106.xml"/><Relationship Id="rId137" Type="http://schemas.openxmlformats.org/officeDocument/2006/relationships/slide" Target="slides/slide127.xml"/><Relationship Id="rId158" Type="http://schemas.openxmlformats.org/officeDocument/2006/relationships/slide" Target="slides/slide148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62" Type="http://schemas.openxmlformats.org/officeDocument/2006/relationships/slide" Target="slides/slide52.xml"/><Relationship Id="rId83" Type="http://schemas.openxmlformats.org/officeDocument/2006/relationships/slide" Target="slides/slide73.xml"/><Relationship Id="rId88" Type="http://schemas.openxmlformats.org/officeDocument/2006/relationships/slide" Target="slides/slide78.xml"/><Relationship Id="rId111" Type="http://schemas.openxmlformats.org/officeDocument/2006/relationships/slide" Target="slides/slide101.xml"/><Relationship Id="rId132" Type="http://schemas.openxmlformats.org/officeDocument/2006/relationships/slide" Target="slides/slide122.xml"/><Relationship Id="rId153" Type="http://schemas.openxmlformats.org/officeDocument/2006/relationships/slide" Target="slides/slide14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CF7FF4-7E08-416C-8A21-A671F903DB77}" type="doc">
      <dgm:prSet loTypeId="urn:microsoft.com/office/officeart/2005/8/layout/hProcess9" loCatId="process" qsTypeId="urn:microsoft.com/office/officeart/2005/8/quickstyle/simple1" qsCatId="simple" csTypeId="urn:microsoft.com/office/officeart/2005/8/colors/colorful4" csCatId="colorful" phldr="1"/>
      <dgm:spPr/>
    </dgm:pt>
    <dgm:pt modelId="{28AD5230-7D30-401A-8043-57C6C868D2F8}">
      <dgm:prSet phldrT="[Texto]"/>
      <dgm:spPr/>
      <dgm:t>
        <a:bodyPr/>
        <a:lstStyle/>
        <a:p>
          <a:r>
            <a:rPr lang="pt-BR" dirty="0" smtClean="0"/>
            <a:t>Revisão do Processo</a:t>
          </a:r>
          <a:endParaRPr lang="pt-BR" dirty="0"/>
        </a:p>
      </dgm:t>
    </dgm:pt>
    <dgm:pt modelId="{7DE3C601-F0AB-459C-A1EA-B1C92FF548D0}" type="parTrans" cxnId="{1FF9BF27-9674-40E0-8DBF-EDE37C3F6EBB}">
      <dgm:prSet/>
      <dgm:spPr/>
      <dgm:t>
        <a:bodyPr/>
        <a:lstStyle/>
        <a:p>
          <a:endParaRPr lang="pt-BR"/>
        </a:p>
      </dgm:t>
    </dgm:pt>
    <dgm:pt modelId="{AA80B022-2823-40C4-B23F-D0143FC8A83E}" type="sibTrans" cxnId="{1FF9BF27-9674-40E0-8DBF-EDE37C3F6EBB}">
      <dgm:prSet/>
      <dgm:spPr/>
      <dgm:t>
        <a:bodyPr/>
        <a:lstStyle/>
        <a:p>
          <a:endParaRPr lang="pt-BR"/>
        </a:p>
      </dgm:t>
    </dgm:pt>
    <dgm:pt modelId="{36E7C834-45B4-4F1D-8E64-5698D587335A}">
      <dgm:prSet phldrT="[Texto]"/>
      <dgm:spPr/>
      <dgm:t>
        <a:bodyPr/>
        <a:lstStyle/>
        <a:p>
          <a:r>
            <a:rPr lang="pt-BR" dirty="0" smtClean="0"/>
            <a:t>Detalhamento das Etapas</a:t>
          </a:r>
          <a:endParaRPr lang="pt-BR" dirty="0"/>
        </a:p>
      </dgm:t>
    </dgm:pt>
    <dgm:pt modelId="{19231A65-1A49-4CC3-B118-0595AE2C3296}" type="parTrans" cxnId="{B6B5F9C5-B40B-44E8-AE74-B3F09F253D48}">
      <dgm:prSet/>
      <dgm:spPr/>
      <dgm:t>
        <a:bodyPr/>
        <a:lstStyle/>
        <a:p>
          <a:endParaRPr lang="pt-BR"/>
        </a:p>
      </dgm:t>
    </dgm:pt>
    <dgm:pt modelId="{95689F4C-2378-4EB6-A164-64CF57F9F408}" type="sibTrans" cxnId="{B6B5F9C5-B40B-44E8-AE74-B3F09F253D48}">
      <dgm:prSet/>
      <dgm:spPr/>
      <dgm:t>
        <a:bodyPr/>
        <a:lstStyle/>
        <a:p>
          <a:endParaRPr lang="pt-BR"/>
        </a:p>
      </dgm:t>
    </dgm:pt>
    <dgm:pt modelId="{75DCA845-9FE4-4CB8-9EDB-0C0A570998BB}">
      <dgm:prSet phldrT="[Texto]"/>
      <dgm:spPr/>
      <dgm:t>
        <a:bodyPr/>
        <a:lstStyle/>
        <a:p>
          <a:r>
            <a:rPr lang="pt-BR" dirty="0" smtClean="0"/>
            <a:t>Seleção de Ferramenta</a:t>
          </a:r>
          <a:endParaRPr lang="pt-BR" dirty="0"/>
        </a:p>
      </dgm:t>
    </dgm:pt>
    <dgm:pt modelId="{320131EB-D15B-4ECF-BA32-CD1B8B8C24F7}" type="parTrans" cxnId="{D3DB5BF7-EEA4-4BF8-B46F-9EBB84A53829}">
      <dgm:prSet/>
      <dgm:spPr/>
      <dgm:t>
        <a:bodyPr/>
        <a:lstStyle/>
        <a:p>
          <a:endParaRPr lang="pt-BR"/>
        </a:p>
      </dgm:t>
    </dgm:pt>
    <dgm:pt modelId="{4917CA2F-156F-42F2-B27A-D5088BCDA6BE}" type="sibTrans" cxnId="{D3DB5BF7-EEA4-4BF8-B46F-9EBB84A53829}">
      <dgm:prSet/>
      <dgm:spPr/>
      <dgm:t>
        <a:bodyPr/>
        <a:lstStyle/>
        <a:p>
          <a:endParaRPr lang="pt-BR"/>
        </a:p>
      </dgm:t>
    </dgm:pt>
    <dgm:pt modelId="{D88026E4-8C5A-49AE-9402-CBD64511FF7A}">
      <dgm:prSet phldrT="[Texto]"/>
      <dgm:spPr/>
      <dgm:t>
        <a:bodyPr/>
        <a:lstStyle/>
        <a:p>
          <a:r>
            <a:rPr lang="pt-BR" dirty="0" smtClean="0"/>
            <a:t>Configuração da Ferramenta</a:t>
          </a:r>
          <a:endParaRPr lang="pt-BR" dirty="0"/>
        </a:p>
      </dgm:t>
    </dgm:pt>
    <dgm:pt modelId="{FCC77CC3-D532-4E0E-9F4F-F4452EB6210A}" type="parTrans" cxnId="{22A9C401-7BCF-4375-B1D9-5A367C218618}">
      <dgm:prSet/>
      <dgm:spPr/>
      <dgm:t>
        <a:bodyPr/>
        <a:lstStyle/>
        <a:p>
          <a:endParaRPr lang="pt-BR"/>
        </a:p>
      </dgm:t>
    </dgm:pt>
    <dgm:pt modelId="{ECB9DB59-28A7-413D-BFF9-12AAE045E11E}" type="sibTrans" cxnId="{22A9C401-7BCF-4375-B1D9-5A367C218618}">
      <dgm:prSet/>
      <dgm:spPr/>
      <dgm:t>
        <a:bodyPr/>
        <a:lstStyle/>
        <a:p>
          <a:endParaRPr lang="pt-BR"/>
        </a:p>
      </dgm:t>
    </dgm:pt>
    <dgm:pt modelId="{0C39BA51-1140-4A10-AC85-1E0D4E470911}">
      <dgm:prSet phldrT="[Texto]"/>
      <dgm:spPr/>
      <dgm:t>
        <a:bodyPr/>
        <a:lstStyle/>
        <a:p>
          <a:r>
            <a:rPr lang="pt-BR" dirty="0" smtClean="0"/>
            <a:t>Treinamento dos Times</a:t>
          </a:r>
          <a:endParaRPr lang="pt-BR" dirty="0"/>
        </a:p>
      </dgm:t>
    </dgm:pt>
    <dgm:pt modelId="{41FBB8C2-D522-4138-9C03-724D1496FF6F}" type="parTrans" cxnId="{A2FCEB2B-01E4-449D-86A7-C5C961E25D62}">
      <dgm:prSet/>
      <dgm:spPr/>
      <dgm:t>
        <a:bodyPr/>
        <a:lstStyle/>
        <a:p>
          <a:endParaRPr lang="pt-BR"/>
        </a:p>
      </dgm:t>
    </dgm:pt>
    <dgm:pt modelId="{9B362A72-DCF9-4FE4-BDF9-FF057D70B01C}" type="sibTrans" cxnId="{A2FCEB2B-01E4-449D-86A7-C5C961E25D62}">
      <dgm:prSet/>
      <dgm:spPr/>
      <dgm:t>
        <a:bodyPr/>
        <a:lstStyle/>
        <a:p>
          <a:endParaRPr lang="pt-BR"/>
        </a:p>
      </dgm:t>
    </dgm:pt>
    <dgm:pt modelId="{D7BB7C9F-FF7C-4562-8427-2B656279091F}">
      <dgm:prSet phldrT="[Texto]"/>
      <dgm:spPr/>
      <dgm:t>
        <a:bodyPr/>
        <a:lstStyle/>
        <a:p>
          <a:r>
            <a:rPr lang="pt-BR" dirty="0" smtClean="0"/>
            <a:t>Piloto da Ferramenta em TD</a:t>
          </a:r>
          <a:endParaRPr lang="pt-BR" dirty="0"/>
        </a:p>
      </dgm:t>
    </dgm:pt>
    <dgm:pt modelId="{5B3DF836-A497-4975-A200-7374AFE9CA85}" type="parTrans" cxnId="{54FABC61-5066-48D7-8C9B-DEA18BB9339D}">
      <dgm:prSet/>
      <dgm:spPr/>
      <dgm:t>
        <a:bodyPr/>
        <a:lstStyle/>
        <a:p>
          <a:endParaRPr lang="pt-BR"/>
        </a:p>
      </dgm:t>
    </dgm:pt>
    <dgm:pt modelId="{A90A861C-3FC6-4714-A876-745F5F20DF1E}" type="sibTrans" cxnId="{54FABC61-5066-48D7-8C9B-DEA18BB9339D}">
      <dgm:prSet/>
      <dgm:spPr/>
      <dgm:t>
        <a:bodyPr/>
        <a:lstStyle/>
        <a:p>
          <a:endParaRPr lang="pt-BR"/>
        </a:p>
      </dgm:t>
    </dgm:pt>
    <dgm:pt modelId="{81FDA21C-6333-40D8-954D-1C8C5A67DF55}" type="pres">
      <dgm:prSet presAssocID="{22CF7FF4-7E08-416C-8A21-A671F903DB77}" presName="CompostProcess" presStyleCnt="0">
        <dgm:presLayoutVars>
          <dgm:dir/>
          <dgm:resizeHandles val="exact"/>
        </dgm:presLayoutVars>
      </dgm:prSet>
      <dgm:spPr/>
    </dgm:pt>
    <dgm:pt modelId="{EB1DCED8-E706-4E44-9BD2-5062E8398E27}" type="pres">
      <dgm:prSet presAssocID="{22CF7FF4-7E08-416C-8A21-A671F903DB77}" presName="arrow" presStyleLbl="bgShp" presStyleIdx="0" presStyleCnt="1"/>
      <dgm:spPr/>
    </dgm:pt>
    <dgm:pt modelId="{C1EF2DFA-FBDE-40A8-B2CB-83F5196B542E}" type="pres">
      <dgm:prSet presAssocID="{22CF7FF4-7E08-416C-8A21-A671F903DB77}" presName="linearProcess" presStyleCnt="0"/>
      <dgm:spPr/>
    </dgm:pt>
    <dgm:pt modelId="{EFDC334E-8FB5-4D7D-B547-C7DBD956DB7F}" type="pres">
      <dgm:prSet presAssocID="{28AD5230-7D30-401A-8043-57C6C868D2F8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EF4683F-6001-4654-8912-391F2EAD0289}" type="pres">
      <dgm:prSet presAssocID="{AA80B022-2823-40C4-B23F-D0143FC8A83E}" presName="sibTrans" presStyleCnt="0"/>
      <dgm:spPr/>
    </dgm:pt>
    <dgm:pt modelId="{7CBAD77C-4711-4895-A672-82BE29D6C485}" type="pres">
      <dgm:prSet presAssocID="{36E7C834-45B4-4F1D-8E64-5698D587335A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B4C94D9-58E7-4AEC-B75F-EB6D33DD3B2B}" type="pres">
      <dgm:prSet presAssocID="{95689F4C-2378-4EB6-A164-64CF57F9F408}" presName="sibTrans" presStyleCnt="0"/>
      <dgm:spPr/>
    </dgm:pt>
    <dgm:pt modelId="{6A5CA203-57A8-4716-9467-B1C8723F90CF}" type="pres">
      <dgm:prSet presAssocID="{75DCA845-9FE4-4CB8-9EDB-0C0A570998BB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53AA202-1CC2-4B73-A014-2691BF353BCF}" type="pres">
      <dgm:prSet presAssocID="{4917CA2F-156F-42F2-B27A-D5088BCDA6BE}" presName="sibTrans" presStyleCnt="0"/>
      <dgm:spPr/>
    </dgm:pt>
    <dgm:pt modelId="{00AF47E0-622D-435D-BB37-AA62C6D913D3}" type="pres">
      <dgm:prSet presAssocID="{D88026E4-8C5A-49AE-9402-CBD64511FF7A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D61626F-86BC-47B9-A6B2-F1CBD1DF1F81}" type="pres">
      <dgm:prSet presAssocID="{ECB9DB59-28A7-413D-BFF9-12AAE045E11E}" presName="sibTrans" presStyleCnt="0"/>
      <dgm:spPr/>
    </dgm:pt>
    <dgm:pt modelId="{30AD0969-DF00-41D0-8A48-403F5FC87A68}" type="pres">
      <dgm:prSet presAssocID="{0C39BA51-1140-4A10-AC85-1E0D4E470911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12D26FE-3CC3-4507-9486-73457EC64865}" type="pres">
      <dgm:prSet presAssocID="{9B362A72-DCF9-4FE4-BDF9-FF057D70B01C}" presName="sibTrans" presStyleCnt="0"/>
      <dgm:spPr/>
    </dgm:pt>
    <dgm:pt modelId="{715663FE-76C0-46D1-86C5-B11510ADA03C}" type="pres">
      <dgm:prSet presAssocID="{D7BB7C9F-FF7C-4562-8427-2B656279091F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7E8002D2-4514-4DE7-AB22-CC1F024901EB}" type="presOf" srcId="{22CF7FF4-7E08-416C-8A21-A671F903DB77}" destId="{81FDA21C-6333-40D8-954D-1C8C5A67DF55}" srcOrd="0" destOrd="0" presId="urn:microsoft.com/office/officeart/2005/8/layout/hProcess9"/>
    <dgm:cxn modelId="{FBDF60D8-1249-40B5-9D6A-941FDBF68379}" type="presOf" srcId="{0C39BA51-1140-4A10-AC85-1E0D4E470911}" destId="{30AD0969-DF00-41D0-8A48-403F5FC87A68}" srcOrd="0" destOrd="0" presId="urn:microsoft.com/office/officeart/2005/8/layout/hProcess9"/>
    <dgm:cxn modelId="{076CD702-439E-427A-80D9-22CCA79D76EA}" type="presOf" srcId="{D7BB7C9F-FF7C-4562-8427-2B656279091F}" destId="{715663FE-76C0-46D1-86C5-B11510ADA03C}" srcOrd="0" destOrd="0" presId="urn:microsoft.com/office/officeart/2005/8/layout/hProcess9"/>
    <dgm:cxn modelId="{22A9C401-7BCF-4375-B1D9-5A367C218618}" srcId="{22CF7FF4-7E08-416C-8A21-A671F903DB77}" destId="{D88026E4-8C5A-49AE-9402-CBD64511FF7A}" srcOrd="3" destOrd="0" parTransId="{FCC77CC3-D532-4E0E-9F4F-F4452EB6210A}" sibTransId="{ECB9DB59-28A7-413D-BFF9-12AAE045E11E}"/>
    <dgm:cxn modelId="{1FF9BF27-9674-40E0-8DBF-EDE37C3F6EBB}" srcId="{22CF7FF4-7E08-416C-8A21-A671F903DB77}" destId="{28AD5230-7D30-401A-8043-57C6C868D2F8}" srcOrd="0" destOrd="0" parTransId="{7DE3C601-F0AB-459C-A1EA-B1C92FF548D0}" sibTransId="{AA80B022-2823-40C4-B23F-D0143FC8A83E}"/>
    <dgm:cxn modelId="{2275DA4A-997C-4304-8251-872BCC94EEC1}" type="presOf" srcId="{28AD5230-7D30-401A-8043-57C6C868D2F8}" destId="{EFDC334E-8FB5-4D7D-B547-C7DBD956DB7F}" srcOrd="0" destOrd="0" presId="urn:microsoft.com/office/officeart/2005/8/layout/hProcess9"/>
    <dgm:cxn modelId="{54FABC61-5066-48D7-8C9B-DEA18BB9339D}" srcId="{22CF7FF4-7E08-416C-8A21-A671F903DB77}" destId="{D7BB7C9F-FF7C-4562-8427-2B656279091F}" srcOrd="5" destOrd="0" parTransId="{5B3DF836-A497-4975-A200-7374AFE9CA85}" sibTransId="{A90A861C-3FC6-4714-A876-745F5F20DF1E}"/>
    <dgm:cxn modelId="{99F872B6-C191-4CF7-9B16-3073871B3111}" type="presOf" srcId="{75DCA845-9FE4-4CB8-9EDB-0C0A570998BB}" destId="{6A5CA203-57A8-4716-9467-B1C8723F90CF}" srcOrd="0" destOrd="0" presId="urn:microsoft.com/office/officeart/2005/8/layout/hProcess9"/>
    <dgm:cxn modelId="{D3DB5BF7-EEA4-4BF8-B46F-9EBB84A53829}" srcId="{22CF7FF4-7E08-416C-8A21-A671F903DB77}" destId="{75DCA845-9FE4-4CB8-9EDB-0C0A570998BB}" srcOrd="2" destOrd="0" parTransId="{320131EB-D15B-4ECF-BA32-CD1B8B8C24F7}" sibTransId="{4917CA2F-156F-42F2-B27A-D5088BCDA6BE}"/>
    <dgm:cxn modelId="{B6B5F9C5-B40B-44E8-AE74-B3F09F253D48}" srcId="{22CF7FF4-7E08-416C-8A21-A671F903DB77}" destId="{36E7C834-45B4-4F1D-8E64-5698D587335A}" srcOrd="1" destOrd="0" parTransId="{19231A65-1A49-4CC3-B118-0595AE2C3296}" sibTransId="{95689F4C-2378-4EB6-A164-64CF57F9F408}"/>
    <dgm:cxn modelId="{A2FCEB2B-01E4-449D-86A7-C5C961E25D62}" srcId="{22CF7FF4-7E08-416C-8A21-A671F903DB77}" destId="{0C39BA51-1140-4A10-AC85-1E0D4E470911}" srcOrd="4" destOrd="0" parTransId="{41FBB8C2-D522-4138-9C03-724D1496FF6F}" sibTransId="{9B362A72-DCF9-4FE4-BDF9-FF057D70B01C}"/>
    <dgm:cxn modelId="{F75E0412-CABB-4DF9-A74F-50994C5F4F22}" type="presOf" srcId="{36E7C834-45B4-4F1D-8E64-5698D587335A}" destId="{7CBAD77C-4711-4895-A672-82BE29D6C485}" srcOrd="0" destOrd="0" presId="urn:microsoft.com/office/officeart/2005/8/layout/hProcess9"/>
    <dgm:cxn modelId="{78E0EE8A-C2C7-42F9-B6A5-0E7FFA64E2E4}" type="presOf" srcId="{D88026E4-8C5A-49AE-9402-CBD64511FF7A}" destId="{00AF47E0-622D-435D-BB37-AA62C6D913D3}" srcOrd="0" destOrd="0" presId="urn:microsoft.com/office/officeart/2005/8/layout/hProcess9"/>
    <dgm:cxn modelId="{7CE2B42D-86EF-4E77-9110-4EBBF7A6A025}" type="presParOf" srcId="{81FDA21C-6333-40D8-954D-1C8C5A67DF55}" destId="{EB1DCED8-E706-4E44-9BD2-5062E8398E27}" srcOrd="0" destOrd="0" presId="urn:microsoft.com/office/officeart/2005/8/layout/hProcess9"/>
    <dgm:cxn modelId="{2E1D39E0-1646-45D5-A909-4EE6CF9071DD}" type="presParOf" srcId="{81FDA21C-6333-40D8-954D-1C8C5A67DF55}" destId="{C1EF2DFA-FBDE-40A8-B2CB-83F5196B542E}" srcOrd="1" destOrd="0" presId="urn:microsoft.com/office/officeart/2005/8/layout/hProcess9"/>
    <dgm:cxn modelId="{8D291314-7173-4146-8A78-E33DADB47AF3}" type="presParOf" srcId="{C1EF2DFA-FBDE-40A8-B2CB-83F5196B542E}" destId="{EFDC334E-8FB5-4D7D-B547-C7DBD956DB7F}" srcOrd="0" destOrd="0" presId="urn:microsoft.com/office/officeart/2005/8/layout/hProcess9"/>
    <dgm:cxn modelId="{42119741-181B-4A08-B228-5D68A8F8EEF8}" type="presParOf" srcId="{C1EF2DFA-FBDE-40A8-B2CB-83F5196B542E}" destId="{6EF4683F-6001-4654-8912-391F2EAD0289}" srcOrd="1" destOrd="0" presId="urn:microsoft.com/office/officeart/2005/8/layout/hProcess9"/>
    <dgm:cxn modelId="{8417623E-C57E-4BAB-9C34-A47061E3CB4E}" type="presParOf" srcId="{C1EF2DFA-FBDE-40A8-B2CB-83F5196B542E}" destId="{7CBAD77C-4711-4895-A672-82BE29D6C485}" srcOrd="2" destOrd="0" presId="urn:microsoft.com/office/officeart/2005/8/layout/hProcess9"/>
    <dgm:cxn modelId="{148114FC-9F0A-48F1-BCB3-12C14374DFEE}" type="presParOf" srcId="{C1EF2DFA-FBDE-40A8-B2CB-83F5196B542E}" destId="{1B4C94D9-58E7-4AEC-B75F-EB6D33DD3B2B}" srcOrd="3" destOrd="0" presId="urn:microsoft.com/office/officeart/2005/8/layout/hProcess9"/>
    <dgm:cxn modelId="{57E8F74F-BB74-43AB-89FA-4B9C733F28D4}" type="presParOf" srcId="{C1EF2DFA-FBDE-40A8-B2CB-83F5196B542E}" destId="{6A5CA203-57A8-4716-9467-B1C8723F90CF}" srcOrd="4" destOrd="0" presId="urn:microsoft.com/office/officeart/2005/8/layout/hProcess9"/>
    <dgm:cxn modelId="{09D36C6E-F4CB-488D-BF29-5AE57E9C06DB}" type="presParOf" srcId="{C1EF2DFA-FBDE-40A8-B2CB-83F5196B542E}" destId="{953AA202-1CC2-4B73-A014-2691BF353BCF}" srcOrd="5" destOrd="0" presId="urn:microsoft.com/office/officeart/2005/8/layout/hProcess9"/>
    <dgm:cxn modelId="{C6C600FF-4A53-450A-89C1-D45B806A6B27}" type="presParOf" srcId="{C1EF2DFA-FBDE-40A8-B2CB-83F5196B542E}" destId="{00AF47E0-622D-435D-BB37-AA62C6D913D3}" srcOrd="6" destOrd="0" presId="urn:microsoft.com/office/officeart/2005/8/layout/hProcess9"/>
    <dgm:cxn modelId="{97FA48F7-E3AA-4ABC-B4F6-E6960157B46E}" type="presParOf" srcId="{C1EF2DFA-FBDE-40A8-B2CB-83F5196B542E}" destId="{1D61626F-86BC-47B9-A6B2-F1CBD1DF1F81}" srcOrd="7" destOrd="0" presId="urn:microsoft.com/office/officeart/2005/8/layout/hProcess9"/>
    <dgm:cxn modelId="{DA116E14-AF49-4EB6-89E2-504063398743}" type="presParOf" srcId="{C1EF2DFA-FBDE-40A8-B2CB-83F5196B542E}" destId="{30AD0969-DF00-41D0-8A48-403F5FC87A68}" srcOrd="8" destOrd="0" presId="urn:microsoft.com/office/officeart/2005/8/layout/hProcess9"/>
    <dgm:cxn modelId="{04F931A1-DBFD-4D21-A2CF-782C6F9DE252}" type="presParOf" srcId="{C1EF2DFA-FBDE-40A8-B2CB-83F5196B542E}" destId="{912D26FE-3CC3-4507-9486-73457EC64865}" srcOrd="9" destOrd="0" presId="urn:microsoft.com/office/officeart/2005/8/layout/hProcess9"/>
    <dgm:cxn modelId="{8AA14A0F-C631-4174-BFB4-A1F217669492}" type="presParOf" srcId="{C1EF2DFA-FBDE-40A8-B2CB-83F5196B542E}" destId="{715663FE-76C0-46D1-86C5-B11510ADA03C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0FBB7B-9505-4044-B961-7E0299225E5D}" type="doc">
      <dgm:prSet loTypeId="urn:microsoft.com/office/officeart/2005/8/layout/hList6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pt-BR"/>
        </a:p>
      </dgm:t>
    </dgm:pt>
    <dgm:pt modelId="{80535552-2067-49A4-B69C-7283E3457C1E}">
      <dgm:prSet phldrT="[Texto]"/>
      <dgm:spPr/>
      <dgm:t>
        <a:bodyPr/>
        <a:lstStyle/>
        <a:p>
          <a:r>
            <a:rPr lang="pt-BR" dirty="0" smtClean="0"/>
            <a:t>Visão Geral do Clarity</a:t>
          </a:r>
          <a:endParaRPr lang="pt-BR" dirty="0"/>
        </a:p>
      </dgm:t>
    </dgm:pt>
    <dgm:pt modelId="{5B57F48C-224A-4C41-83E9-800AF35ACFA5}" type="parTrans" cxnId="{4DD8B9B8-F7D8-4F24-B664-84A243DEDBFC}">
      <dgm:prSet/>
      <dgm:spPr/>
      <dgm:t>
        <a:bodyPr/>
        <a:lstStyle/>
        <a:p>
          <a:endParaRPr lang="pt-BR"/>
        </a:p>
      </dgm:t>
    </dgm:pt>
    <dgm:pt modelId="{BCF19BEB-BDE9-4ED4-8B38-437EC9EA6076}" type="sibTrans" cxnId="{4DD8B9B8-F7D8-4F24-B664-84A243DEDBFC}">
      <dgm:prSet/>
      <dgm:spPr/>
      <dgm:t>
        <a:bodyPr/>
        <a:lstStyle/>
        <a:p>
          <a:endParaRPr lang="pt-BR"/>
        </a:p>
      </dgm:t>
    </dgm:pt>
    <dgm:pt modelId="{594B6EDC-A0E7-4F37-B6D0-502EBEF46646}">
      <dgm:prSet phldrT="[Texto]"/>
      <dgm:spPr/>
      <dgm:t>
        <a:bodyPr/>
        <a:lstStyle/>
        <a:p>
          <a:r>
            <a:rPr lang="pt-BR" dirty="0" smtClean="0"/>
            <a:t>O Processo de Gestão de Demandas</a:t>
          </a:r>
          <a:endParaRPr lang="pt-BR" dirty="0"/>
        </a:p>
      </dgm:t>
    </dgm:pt>
    <dgm:pt modelId="{9A3EE58D-C593-4367-8468-CC68956DD85A}" type="parTrans" cxnId="{09EE0B47-3D98-4832-B316-EAE0B7F8FF38}">
      <dgm:prSet/>
      <dgm:spPr/>
      <dgm:t>
        <a:bodyPr/>
        <a:lstStyle/>
        <a:p>
          <a:endParaRPr lang="pt-BR"/>
        </a:p>
      </dgm:t>
    </dgm:pt>
    <dgm:pt modelId="{D87354B5-3F00-4CFB-BE12-DF461FE7A7F3}" type="sibTrans" cxnId="{09EE0B47-3D98-4832-B316-EAE0B7F8FF38}">
      <dgm:prSet/>
      <dgm:spPr/>
      <dgm:t>
        <a:bodyPr/>
        <a:lstStyle/>
        <a:p>
          <a:endParaRPr lang="pt-BR"/>
        </a:p>
      </dgm:t>
    </dgm:pt>
    <dgm:pt modelId="{FA96350F-6C95-453D-ABCB-F9CCDD9850C4}">
      <dgm:prSet phldrT="[Texto]"/>
      <dgm:spPr/>
      <dgm:t>
        <a:bodyPr/>
        <a:lstStyle/>
        <a:p>
          <a:r>
            <a:rPr lang="pt-BR" dirty="0" smtClean="0"/>
            <a:t>Etapas</a:t>
          </a:r>
          <a:endParaRPr lang="pt-BR" dirty="0"/>
        </a:p>
      </dgm:t>
    </dgm:pt>
    <dgm:pt modelId="{1E5AC691-3786-4690-84F3-F040C8657DBD}" type="parTrans" cxnId="{2CB0470B-85AF-4472-9B20-B87634BDFF82}">
      <dgm:prSet/>
      <dgm:spPr/>
      <dgm:t>
        <a:bodyPr/>
        <a:lstStyle/>
        <a:p>
          <a:endParaRPr lang="pt-BR"/>
        </a:p>
      </dgm:t>
    </dgm:pt>
    <dgm:pt modelId="{B8C5C5E0-2292-4DE6-A7A4-ED3D5EFCCC12}" type="sibTrans" cxnId="{2CB0470B-85AF-4472-9B20-B87634BDFF82}">
      <dgm:prSet/>
      <dgm:spPr/>
      <dgm:t>
        <a:bodyPr/>
        <a:lstStyle/>
        <a:p>
          <a:endParaRPr lang="pt-BR"/>
        </a:p>
      </dgm:t>
    </dgm:pt>
    <dgm:pt modelId="{75500D4A-582D-4653-ADE5-D45B89B999EE}">
      <dgm:prSet phldrT="[Texto]"/>
      <dgm:spPr/>
      <dgm:t>
        <a:bodyPr/>
        <a:lstStyle/>
        <a:p>
          <a:r>
            <a:rPr lang="pt-BR" dirty="0" smtClean="0"/>
            <a:t>Fluxo</a:t>
          </a:r>
          <a:endParaRPr lang="pt-BR" dirty="0"/>
        </a:p>
      </dgm:t>
    </dgm:pt>
    <dgm:pt modelId="{4654F68D-1207-4552-B6AC-C7FBFB6475CA}" type="parTrans" cxnId="{57B5A6F6-1BF3-4CC6-9901-703F2DB08289}">
      <dgm:prSet/>
      <dgm:spPr/>
      <dgm:t>
        <a:bodyPr/>
        <a:lstStyle/>
        <a:p>
          <a:endParaRPr lang="pt-BR"/>
        </a:p>
      </dgm:t>
    </dgm:pt>
    <dgm:pt modelId="{C8FAC980-1916-4AD9-891A-BFAA1FF53B48}" type="sibTrans" cxnId="{57B5A6F6-1BF3-4CC6-9901-703F2DB08289}">
      <dgm:prSet/>
      <dgm:spPr/>
      <dgm:t>
        <a:bodyPr/>
        <a:lstStyle/>
        <a:p>
          <a:endParaRPr lang="pt-BR"/>
        </a:p>
      </dgm:t>
    </dgm:pt>
    <dgm:pt modelId="{6CDEF961-84A6-43CA-8485-47FD3D9CF2A7}">
      <dgm:prSet phldrT="[Texto]"/>
      <dgm:spPr/>
      <dgm:t>
        <a:bodyPr/>
        <a:lstStyle/>
        <a:p>
          <a:r>
            <a:rPr lang="pt-BR" dirty="0" smtClean="0"/>
            <a:t>Documentos</a:t>
          </a:r>
          <a:endParaRPr lang="pt-BR" dirty="0"/>
        </a:p>
      </dgm:t>
    </dgm:pt>
    <dgm:pt modelId="{77C48080-C20E-4352-BCBD-4EC1FF2EB52D}" type="parTrans" cxnId="{9E2AB8D5-186C-4CA8-8A92-8DFCDDDCFD00}">
      <dgm:prSet/>
      <dgm:spPr/>
      <dgm:t>
        <a:bodyPr/>
        <a:lstStyle/>
        <a:p>
          <a:endParaRPr lang="pt-BR"/>
        </a:p>
      </dgm:t>
    </dgm:pt>
    <dgm:pt modelId="{787C3970-5125-4913-830A-5BD6DE7A9FE6}" type="sibTrans" cxnId="{9E2AB8D5-186C-4CA8-8A92-8DFCDDDCFD00}">
      <dgm:prSet/>
      <dgm:spPr/>
      <dgm:t>
        <a:bodyPr/>
        <a:lstStyle/>
        <a:p>
          <a:endParaRPr lang="pt-BR"/>
        </a:p>
      </dgm:t>
    </dgm:pt>
    <dgm:pt modelId="{B8F8556F-7E72-47CB-96DC-FAAFF26EE72E}">
      <dgm:prSet phldrT="[Texto]"/>
      <dgm:spPr/>
      <dgm:t>
        <a:bodyPr/>
        <a:lstStyle/>
        <a:p>
          <a:r>
            <a:rPr lang="pt-BR" dirty="0" smtClean="0"/>
            <a:t>Como fazer na Ferramenta</a:t>
          </a:r>
          <a:endParaRPr lang="pt-BR" dirty="0"/>
        </a:p>
      </dgm:t>
    </dgm:pt>
    <dgm:pt modelId="{F8EE3C9E-1F0E-47B8-87DF-8D29B507F7A6}" type="parTrans" cxnId="{10CDEB0F-CBC5-4E46-AE94-049373D2B442}">
      <dgm:prSet/>
      <dgm:spPr/>
      <dgm:t>
        <a:bodyPr/>
        <a:lstStyle/>
        <a:p>
          <a:endParaRPr lang="pt-BR"/>
        </a:p>
      </dgm:t>
    </dgm:pt>
    <dgm:pt modelId="{A5E8E0D6-29C7-4F97-B070-28D864F8B441}" type="sibTrans" cxnId="{10CDEB0F-CBC5-4E46-AE94-049373D2B442}">
      <dgm:prSet/>
      <dgm:spPr/>
      <dgm:t>
        <a:bodyPr/>
        <a:lstStyle/>
        <a:p>
          <a:endParaRPr lang="pt-BR"/>
        </a:p>
      </dgm:t>
    </dgm:pt>
    <dgm:pt modelId="{27530250-8F99-4518-9433-096FC3412752}" type="pres">
      <dgm:prSet presAssocID="{D10FBB7B-9505-4044-B961-7E0299225E5D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F5A136F7-3EC3-4F47-AD46-8DA889DC2ED2}" type="pres">
      <dgm:prSet presAssocID="{80535552-2067-49A4-B69C-7283E3457C1E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8E80C98-49DE-44C1-B0F8-EA114697A73F}" type="pres">
      <dgm:prSet presAssocID="{BCF19BEB-BDE9-4ED4-8B38-437EC9EA6076}" presName="sibTrans" presStyleCnt="0"/>
      <dgm:spPr/>
    </dgm:pt>
    <dgm:pt modelId="{512345BE-E8EA-4462-BC26-E56359841C66}" type="pres">
      <dgm:prSet presAssocID="{594B6EDC-A0E7-4F37-B6D0-502EBEF46646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655DC24-BB10-4710-832A-01772C415583}" type="pres">
      <dgm:prSet presAssocID="{D87354B5-3F00-4CFB-BE12-DF461FE7A7F3}" presName="sibTrans" presStyleCnt="0"/>
      <dgm:spPr/>
    </dgm:pt>
    <dgm:pt modelId="{96B1E4DE-32F4-4EBC-8292-CA1C20CDE8E7}" type="pres">
      <dgm:prSet presAssocID="{FA96350F-6C95-453D-ABCB-F9CCDD9850C4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468FD92-7E2B-4342-A647-68E5F8D56E97}" type="pres">
      <dgm:prSet presAssocID="{B8C5C5E0-2292-4DE6-A7A4-ED3D5EFCCC12}" presName="sibTrans" presStyleCnt="0"/>
      <dgm:spPr/>
    </dgm:pt>
    <dgm:pt modelId="{4B9ABB1A-C96F-40C7-9074-371270EE7C98}" type="pres">
      <dgm:prSet presAssocID="{75500D4A-582D-4653-ADE5-D45B89B999EE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9FCEDF5-7354-4A78-AFE5-66597C9EAA66}" type="pres">
      <dgm:prSet presAssocID="{C8FAC980-1916-4AD9-891A-BFAA1FF53B48}" presName="sibTrans" presStyleCnt="0"/>
      <dgm:spPr/>
    </dgm:pt>
    <dgm:pt modelId="{BA2BB3A1-5A48-45AD-8398-952CB94BD103}" type="pres">
      <dgm:prSet presAssocID="{6CDEF961-84A6-43CA-8485-47FD3D9CF2A7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B9ADE5A-38B9-4949-A0A9-9E196E10A1DA}" type="pres">
      <dgm:prSet presAssocID="{787C3970-5125-4913-830A-5BD6DE7A9FE6}" presName="sibTrans" presStyleCnt="0"/>
      <dgm:spPr/>
    </dgm:pt>
    <dgm:pt modelId="{7EDD76D6-9DE0-4FF0-A1CF-CCAC082FF432}" type="pres">
      <dgm:prSet presAssocID="{B8F8556F-7E72-47CB-96DC-FAAFF26EE72E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30666200-BA4F-4749-A4E3-4F5502C0A724}" type="presOf" srcId="{594B6EDC-A0E7-4F37-B6D0-502EBEF46646}" destId="{512345BE-E8EA-4462-BC26-E56359841C66}" srcOrd="0" destOrd="0" presId="urn:microsoft.com/office/officeart/2005/8/layout/hList6"/>
    <dgm:cxn modelId="{824175F0-3FA3-44AD-99BB-38D441BCB3A8}" type="presOf" srcId="{80535552-2067-49A4-B69C-7283E3457C1E}" destId="{F5A136F7-3EC3-4F47-AD46-8DA889DC2ED2}" srcOrd="0" destOrd="0" presId="urn:microsoft.com/office/officeart/2005/8/layout/hList6"/>
    <dgm:cxn modelId="{F37FAF47-FA64-477F-930C-61269E756DC9}" type="presOf" srcId="{D10FBB7B-9505-4044-B961-7E0299225E5D}" destId="{27530250-8F99-4518-9433-096FC3412752}" srcOrd="0" destOrd="0" presId="urn:microsoft.com/office/officeart/2005/8/layout/hList6"/>
    <dgm:cxn modelId="{2CB0470B-85AF-4472-9B20-B87634BDFF82}" srcId="{D10FBB7B-9505-4044-B961-7E0299225E5D}" destId="{FA96350F-6C95-453D-ABCB-F9CCDD9850C4}" srcOrd="2" destOrd="0" parTransId="{1E5AC691-3786-4690-84F3-F040C8657DBD}" sibTransId="{B8C5C5E0-2292-4DE6-A7A4-ED3D5EFCCC12}"/>
    <dgm:cxn modelId="{34B9398C-12F7-4DBF-8E69-C242B1359CF2}" type="presOf" srcId="{75500D4A-582D-4653-ADE5-D45B89B999EE}" destId="{4B9ABB1A-C96F-40C7-9074-371270EE7C98}" srcOrd="0" destOrd="0" presId="urn:microsoft.com/office/officeart/2005/8/layout/hList6"/>
    <dgm:cxn modelId="{4BD7EA5B-34AB-4FFE-B0C2-ADAF317FB1C7}" type="presOf" srcId="{6CDEF961-84A6-43CA-8485-47FD3D9CF2A7}" destId="{BA2BB3A1-5A48-45AD-8398-952CB94BD103}" srcOrd="0" destOrd="0" presId="urn:microsoft.com/office/officeart/2005/8/layout/hList6"/>
    <dgm:cxn modelId="{28561626-1914-431A-8B1E-517E28318717}" type="presOf" srcId="{B8F8556F-7E72-47CB-96DC-FAAFF26EE72E}" destId="{7EDD76D6-9DE0-4FF0-A1CF-CCAC082FF432}" srcOrd="0" destOrd="0" presId="urn:microsoft.com/office/officeart/2005/8/layout/hList6"/>
    <dgm:cxn modelId="{4DD8B9B8-F7D8-4F24-B664-84A243DEDBFC}" srcId="{D10FBB7B-9505-4044-B961-7E0299225E5D}" destId="{80535552-2067-49A4-B69C-7283E3457C1E}" srcOrd="0" destOrd="0" parTransId="{5B57F48C-224A-4C41-83E9-800AF35ACFA5}" sibTransId="{BCF19BEB-BDE9-4ED4-8B38-437EC9EA6076}"/>
    <dgm:cxn modelId="{10CDEB0F-CBC5-4E46-AE94-049373D2B442}" srcId="{D10FBB7B-9505-4044-B961-7E0299225E5D}" destId="{B8F8556F-7E72-47CB-96DC-FAAFF26EE72E}" srcOrd="5" destOrd="0" parTransId="{F8EE3C9E-1F0E-47B8-87DF-8D29B507F7A6}" sibTransId="{A5E8E0D6-29C7-4F97-B070-28D864F8B441}"/>
    <dgm:cxn modelId="{09EE0B47-3D98-4832-B316-EAE0B7F8FF38}" srcId="{D10FBB7B-9505-4044-B961-7E0299225E5D}" destId="{594B6EDC-A0E7-4F37-B6D0-502EBEF46646}" srcOrd="1" destOrd="0" parTransId="{9A3EE58D-C593-4367-8468-CC68956DD85A}" sibTransId="{D87354B5-3F00-4CFB-BE12-DF461FE7A7F3}"/>
    <dgm:cxn modelId="{57B5A6F6-1BF3-4CC6-9901-703F2DB08289}" srcId="{D10FBB7B-9505-4044-B961-7E0299225E5D}" destId="{75500D4A-582D-4653-ADE5-D45B89B999EE}" srcOrd="3" destOrd="0" parTransId="{4654F68D-1207-4552-B6AC-C7FBFB6475CA}" sibTransId="{C8FAC980-1916-4AD9-891A-BFAA1FF53B48}"/>
    <dgm:cxn modelId="{F22C0E64-E079-4C64-854A-5CD6D00F93BB}" type="presOf" srcId="{FA96350F-6C95-453D-ABCB-F9CCDD9850C4}" destId="{96B1E4DE-32F4-4EBC-8292-CA1C20CDE8E7}" srcOrd="0" destOrd="0" presId="urn:microsoft.com/office/officeart/2005/8/layout/hList6"/>
    <dgm:cxn modelId="{9E2AB8D5-186C-4CA8-8A92-8DFCDDDCFD00}" srcId="{D10FBB7B-9505-4044-B961-7E0299225E5D}" destId="{6CDEF961-84A6-43CA-8485-47FD3D9CF2A7}" srcOrd="4" destOrd="0" parTransId="{77C48080-C20E-4352-BCBD-4EC1FF2EB52D}" sibTransId="{787C3970-5125-4913-830A-5BD6DE7A9FE6}"/>
    <dgm:cxn modelId="{C2968DD4-27FA-4136-B7EC-BDA36ACB1507}" type="presParOf" srcId="{27530250-8F99-4518-9433-096FC3412752}" destId="{F5A136F7-3EC3-4F47-AD46-8DA889DC2ED2}" srcOrd="0" destOrd="0" presId="urn:microsoft.com/office/officeart/2005/8/layout/hList6"/>
    <dgm:cxn modelId="{DD20D515-ACCC-4FB7-AB8C-FEF82C8A2E4C}" type="presParOf" srcId="{27530250-8F99-4518-9433-096FC3412752}" destId="{C8E80C98-49DE-44C1-B0F8-EA114697A73F}" srcOrd="1" destOrd="0" presId="urn:microsoft.com/office/officeart/2005/8/layout/hList6"/>
    <dgm:cxn modelId="{B5C7EB13-754E-46B8-A0AF-835280F5E998}" type="presParOf" srcId="{27530250-8F99-4518-9433-096FC3412752}" destId="{512345BE-E8EA-4462-BC26-E56359841C66}" srcOrd="2" destOrd="0" presId="urn:microsoft.com/office/officeart/2005/8/layout/hList6"/>
    <dgm:cxn modelId="{AE4199A5-2B4C-4E64-AE5D-003825214C6D}" type="presParOf" srcId="{27530250-8F99-4518-9433-096FC3412752}" destId="{2655DC24-BB10-4710-832A-01772C415583}" srcOrd="3" destOrd="0" presId="urn:microsoft.com/office/officeart/2005/8/layout/hList6"/>
    <dgm:cxn modelId="{8A08C1E8-BA17-4DEF-8B78-5DCF9B059248}" type="presParOf" srcId="{27530250-8F99-4518-9433-096FC3412752}" destId="{96B1E4DE-32F4-4EBC-8292-CA1C20CDE8E7}" srcOrd="4" destOrd="0" presId="urn:microsoft.com/office/officeart/2005/8/layout/hList6"/>
    <dgm:cxn modelId="{E5803726-8BAA-466A-B8B5-B52CF346EBAC}" type="presParOf" srcId="{27530250-8F99-4518-9433-096FC3412752}" destId="{5468FD92-7E2B-4342-A647-68E5F8D56E97}" srcOrd="5" destOrd="0" presId="urn:microsoft.com/office/officeart/2005/8/layout/hList6"/>
    <dgm:cxn modelId="{1E236C70-E8D7-4390-BB9A-314D9DAF60D9}" type="presParOf" srcId="{27530250-8F99-4518-9433-096FC3412752}" destId="{4B9ABB1A-C96F-40C7-9074-371270EE7C98}" srcOrd="6" destOrd="0" presId="urn:microsoft.com/office/officeart/2005/8/layout/hList6"/>
    <dgm:cxn modelId="{7D3465F2-84F4-45EA-8F09-09DBB3DCFBF5}" type="presParOf" srcId="{27530250-8F99-4518-9433-096FC3412752}" destId="{49FCEDF5-7354-4A78-AFE5-66597C9EAA66}" srcOrd="7" destOrd="0" presId="urn:microsoft.com/office/officeart/2005/8/layout/hList6"/>
    <dgm:cxn modelId="{5867C1C9-3DBC-4213-9F6A-A800F2AB6789}" type="presParOf" srcId="{27530250-8F99-4518-9433-096FC3412752}" destId="{BA2BB3A1-5A48-45AD-8398-952CB94BD103}" srcOrd="8" destOrd="0" presId="urn:microsoft.com/office/officeart/2005/8/layout/hList6"/>
    <dgm:cxn modelId="{C008DA22-4DFE-4A69-A527-E7B81A312CE4}" type="presParOf" srcId="{27530250-8F99-4518-9433-096FC3412752}" destId="{3B9ADE5A-38B9-4949-A0A9-9E196E10A1DA}" srcOrd="9" destOrd="0" presId="urn:microsoft.com/office/officeart/2005/8/layout/hList6"/>
    <dgm:cxn modelId="{58B76163-3EE9-4F9F-A375-2E3EC4084D19}" type="presParOf" srcId="{27530250-8F99-4518-9433-096FC3412752}" destId="{7EDD76D6-9DE0-4FF0-A1CF-CCAC082FF432}" srcOrd="10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1620D8-4C8B-4B60-9D6A-9638900AD877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0E510F92-DBB6-4B77-8E9D-27A9F8BDFCA6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1400" dirty="0" smtClean="0">
              <a:solidFill>
                <a:schemeClr val="tx1"/>
              </a:solidFill>
            </a:rPr>
            <a:t>Infraestrutura</a:t>
          </a:r>
          <a:endParaRPr lang="pt-BR" sz="1400" dirty="0">
            <a:solidFill>
              <a:schemeClr val="tx1"/>
            </a:solidFill>
          </a:endParaRPr>
        </a:p>
      </dgm:t>
    </dgm:pt>
    <dgm:pt modelId="{A1A6793A-0379-4001-B805-20566BF2480F}" type="parTrans" cxnId="{A38ABD28-43E9-4582-AC5E-6E8EB87A6A1A}">
      <dgm:prSet custT="1"/>
      <dgm:spPr/>
      <dgm:t>
        <a:bodyPr/>
        <a:lstStyle/>
        <a:p>
          <a:endParaRPr lang="pt-BR" sz="1400"/>
        </a:p>
      </dgm:t>
    </dgm:pt>
    <dgm:pt modelId="{C4375262-3B58-4C95-B730-C8782F8F27EA}" type="sibTrans" cxnId="{A38ABD28-43E9-4582-AC5E-6E8EB87A6A1A}">
      <dgm:prSet/>
      <dgm:spPr/>
      <dgm:t>
        <a:bodyPr/>
        <a:lstStyle/>
        <a:p>
          <a:endParaRPr lang="pt-BR" sz="1400"/>
        </a:p>
      </dgm:t>
    </dgm:pt>
    <dgm:pt modelId="{39CD82F6-C07A-45A1-8124-079F05CE7A36}">
      <dgm:prSet phldrT="[Texto]"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pt-BR" sz="1400" dirty="0" smtClean="0">
              <a:solidFill>
                <a:schemeClr val="tx1"/>
              </a:solidFill>
            </a:rPr>
            <a:t>Aplicações</a:t>
          </a:r>
          <a:endParaRPr lang="pt-BR" sz="1400" dirty="0">
            <a:solidFill>
              <a:schemeClr val="tx1"/>
            </a:solidFill>
          </a:endParaRPr>
        </a:p>
      </dgm:t>
    </dgm:pt>
    <dgm:pt modelId="{3852D75C-2099-4498-ADEF-41E4739DF8D8}" type="parTrans" cxnId="{199CCE35-51BA-444B-8E62-554B93259D23}">
      <dgm:prSet custT="1"/>
      <dgm:spPr/>
      <dgm:t>
        <a:bodyPr/>
        <a:lstStyle/>
        <a:p>
          <a:endParaRPr lang="pt-BR" sz="1400"/>
        </a:p>
      </dgm:t>
    </dgm:pt>
    <dgm:pt modelId="{F415C9D7-0286-4ECE-8D47-531538D73635}" type="sibTrans" cxnId="{199CCE35-51BA-444B-8E62-554B93259D23}">
      <dgm:prSet/>
      <dgm:spPr/>
      <dgm:t>
        <a:bodyPr/>
        <a:lstStyle/>
        <a:p>
          <a:endParaRPr lang="pt-BR" sz="1400"/>
        </a:p>
      </dgm:t>
    </dgm:pt>
    <dgm:pt modelId="{FD16D37D-56A0-43F4-A05E-35C888AC48C3}">
      <dgm:prSet phldrT="[Texto]" custT="1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pt-BR" sz="1400" dirty="0" smtClean="0">
              <a:solidFill>
                <a:schemeClr val="tx1"/>
              </a:solidFill>
            </a:rPr>
            <a:t>Arquitetura</a:t>
          </a:r>
          <a:endParaRPr lang="pt-BR" sz="1400" dirty="0">
            <a:solidFill>
              <a:schemeClr val="tx1"/>
            </a:solidFill>
          </a:endParaRPr>
        </a:p>
      </dgm:t>
    </dgm:pt>
    <dgm:pt modelId="{79AF898F-13BD-4E65-92D2-67281E80F6CD}" type="parTrans" cxnId="{C374ED31-AFC6-405D-AD05-50A26FBA8B79}">
      <dgm:prSet custT="1"/>
      <dgm:spPr/>
      <dgm:t>
        <a:bodyPr/>
        <a:lstStyle/>
        <a:p>
          <a:endParaRPr lang="pt-BR" sz="1400"/>
        </a:p>
      </dgm:t>
    </dgm:pt>
    <dgm:pt modelId="{DD68D8CC-7E85-4C71-847C-70B0312B3927}" type="sibTrans" cxnId="{C374ED31-AFC6-405D-AD05-50A26FBA8B79}">
      <dgm:prSet/>
      <dgm:spPr/>
      <dgm:t>
        <a:bodyPr/>
        <a:lstStyle/>
        <a:p>
          <a:endParaRPr lang="pt-BR" sz="1400"/>
        </a:p>
      </dgm:t>
    </dgm:pt>
    <dgm:pt modelId="{BB3C1BF0-4EC6-4133-A7CD-332CF48BF8BA}">
      <dgm:prSet phldrT="[Texto]" custT="1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pt-BR" sz="1400" dirty="0" smtClean="0">
              <a:solidFill>
                <a:schemeClr val="tx1"/>
              </a:solidFill>
            </a:rPr>
            <a:t>Gestão VP e Governança TD</a:t>
          </a:r>
          <a:endParaRPr lang="pt-BR" sz="1400" dirty="0">
            <a:solidFill>
              <a:schemeClr val="tx1"/>
            </a:solidFill>
          </a:endParaRPr>
        </a:p>
      </dgm:t>
    </dgm:pt>
    <dgm:pt modelId="{FAA32A0A-6455-492D-9FD1-9F8E6E459FF1}" type="sibTrans" cxnId="{0B3721D8-1ECD-4BAD-892D-8A3D7519B916}">
      <dgm:prSet/>
      <dgm:spPr/>
      <dgm:t>
        <a:bodyPr/>
        <a:lstStyle/>
        <a:p>
          <a:endParaRPr lang="pt-BR" sz="1400"/>
        </a:p>
      </dgm:t>
    </dgm:pt>
    <dgm:pt modelId="{0794491E-FE9E-417E-B65D-7419B5584904}" type="parTrans" cxnId="{0B3721D8-1ECD-4BAD-892D-8A3D7519B916}">
      <dgm:prSet/>
      <dgm:spPr/>
      <dgm:t>
        <a:bodyPr/>
        <a:lstStyle/>
        <a:p>
          <a:endParaRPr lang="pt-BR" sz="1400"/>
        </a:p>
      </dgm:t>
    </dgm:pt>
    <dgm:pt modelId="{2B3B6E45-B901-4533-BA70-932F0913D8F2}" type="pres">
      <dgm:prSet presAssocID="{D61620D8-4C8B-4B60-9D6A-9638900AD877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5737155D-5681-418A-9F31-9F406D3EED65}" type="pres">
      <dgm:prSet presAssocID="{BB3C1BF0-4EC6-4133-A7CD-332CF48BF8BA}" presName="root1" presStyleCnt="0"/>
      <dgm:spPr/>
    </dgm:pt>
    <dgm:pt modelId="{10E3F803-EB7B-4971-96B2-15424862851B}" type="pres">
      <dgm:prSet presAssocID="{BB3C1BF0-4EC6-4133-A7CD-332CF48BF8BA}" presName="LevelOneTextNode" presStyleLbl="node0" presStyleIdx="0" presStyleCnt="1" custScaleY="10000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4660015C-49AD-45AA-B687-0CB93A679836}" type="pres">
      <dgm:prSet presAssocID="{BB3C1BF0-4EC6-4133-A7CD-332CF48BF8BA}" presName="level2hierChild" presStyleCnt="0"/>
      <dgm:spPr/>
    </dgm:pt>
    <dgm:pt modelId="{9108EA65-535B-4957-954F-DA57F3F9B904}" type="pres">
      <dgm:prSet presAssocID="{79AF898F-13BD-4E65-92D2-67281E80F6CD}" presName="conn2-1" presStyleLbl="parChTrans1D2" presStyleIdx="0" presStyleCnt="3"/>
      <dgm:spPr/>
      <dgm:t>
        <a:bodyPr/>
        <a:lstStyle/>
        <a:p>
          <a:endParaRPr lang="pt-BR"/>
        </a:p>
      </dgm:t>
    </dgm:pt>
    <dgm:pt modelId="{7B842F4E-A8E5-4808-824B-86F4C76A4930}" type="pres">
      <dgm:prSet presAssocID="{79AF898F-13BD-4E65-92D2-67281E80F6CD}" presName="connTx" presStyleLbl="parChTrans1D2" presStyleIdx="0" presStyleCnt="3"/>
      <dgm:spPr/>
      <dgm:t>
        <a:bodyPr/>
        <a:lstStyle/>
        <a:p>
          <a:endParaRPr lang="pt-BR"/>
        </a:p>
      </dgm:t>
    </dgm:pt>
    <dgm:pt modelId="{C972DEC0-90E8-48AB-8B5C-E643E0AFEC3C}" type="pres">
      <dgm:prSet presAssocID="{FD16D37D-56A0-43F4-A05E-35C888AC48C3}" presName="root2" presStyleCnt="0"/>
      <dgm:spPr/>
    </dgm:pt>
    <dgm:pt modelId="{C3E0ED10-6FAD-41D5-A833-55BC8A2B0A32}" type="pres">
      <dgm:prSet presAssocID="{FD16D37D-56A0-43F4-A05E-35C888AC48C3}" presName="LevelTwoTextNode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B2AFF475-103C-40B2-B759-A49EAFD8DD6F}" type="pres">
      <dgm:prSet presAssocID="{FD16D37D-56A0-43F4-A05E-35C888AC48C3}" presName="level3hierChild" presStyleCnt="0"/>
      <dgm:spPr/>
    </dgm:pt>
    <dgm:pt modelId="{EEF313FE-9600-45D1-9FA5-F50BA2FF9DA6}" type="pres">
      <dgm:prSet presAssocID="{A1A6793A-0379-4001-B805-20566BF2480F}" presName="conn2-1" presStyleLbl="parChTrans1D2" presStyleIdx="1" presStyleCnt="3"/>
      <dgm:spPr/>
      <dgm:t>
        <a:bodyPr/>
        <a:lstStyle/>
        <a:p>
          <a:endParaRPr lang="pt-BR"/>
        </a:p>
      </dgm:t>
    </dgm:pt>
    <dgm:pt modelId="{868FB70F-4851-42F0-A889-E02A75FFD764}" type="pres">
      <dgm:prSet presAssocID="{A1A6793A-0379-4001-B805-20566BF2480F}" presName="connTx" presStyleLbl="parChTrans1D2" presStyleIdx="1" presStyleCnt="3"/>
      <dgm:spPr/>
      <dgm:t>
        <a:bodyPr/>
        <a:lstStyle/>
        <a:p>
          <a:endParaRPr lang="pt-BR"/>
        </a:p>
      </dgm:t>
    </dgm:pt>
    <dgm:pt modelId="{D9D5DC49-2EA3-41F0-BC08-0598C696EA12}" type="pres">
      <dgm:prSet presAssocID="{0E510F92-DBB6-4B77-8E9D-27A9F8BDFCA6}" presName="root2" presStyleCnt="0"/>
      <dgm:spPr/>
    </dgm:pt>
    <dgm:pt modelId="{7360FD07-3C24-42FB-8D78-7AB8143F982C}" type="pres">
      <dgm:prSet presAssocID="{0E510F92-DBB6-4B77-8E9D-27A9F8BDFCA6}" presName="LevelTwoTextNode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31F66B04-0383-47EB-9A37-CFC51A676DC4}" type="pres">
      <dgm:prSet presAssocID="{0E510F92-DBB6-4B77-8E9D-27A9F8BDFCA6}" presName="level3hierChild" presStyleCnt="0"/>
      <dgm:spPr/>
    </dgm:pt>
    <dgm:pt modelId="{A75078F8-CB1B-47D0-9DE0-CCD32A33C64A}" type="pres">
      <dgm:prSet presAssocID="{3852D75C-2099-4498-ADEF-41E4739DF8D8}" presName="conn2-1" presStyleLbl="parChTrans1D2" presStyleIdx="2" presStyleCnt="3"/>
      <dgm:spPr/>
      <dgm:t>
        <a:bodyPr/>
        <a:lstStyle/>
        <a:p>
          <a:endParaRPr lang="pt-BR"/>
        </a:p>
      </dgm:t>
    </dgm:pt>
    <dgm:pt modelId="{09395DBC-2B66-4D64-AA97-B2B2C0A1AE1C}" type="pres">
      <dgm:prSet presAssocID="{3852D75C-2099-4498-ADEF-41E4739DF8D8}" presName="connTx" presStyleLbl="parChTrans1D2" presStyleIdx="2" presStyleCnt="3"/>
      <dgm:spPr/>
      <dgm:t>
        <a:bodyPr/>
        <a:lstStyle/>
        <a:p>
          <a:endParaRPr lang="pt-BR"/>
        </a:p>
      </dgm:t>
    </dgm:pt>
    <dgm:pt modelId="{B0F65FB2-CDCB-4ADF-88E9-01FA8FF8AB1A}" type="pres">
      <dgm:prSet presAssocID="{39CD82F6-C07A-45A1-8124-079F05CE7A36}" presName="root2" presStyleCnt="0"/>
      <dgm:spPr/>
    </dgm:pt>
    <dgm:pt modelId="{218283E1-793C-4B7F-B800-BD890B0048F2}" type="pres">
      <dgm:prSet presAssocID="{39CD82F6-C07A-45A1-8124-079F05CE7A36}" presName="LevelTwoTextNode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7A9CF314-660A-41AC-AFB8-F107FDEB0831}" type="pres">
      <dgm:prSet presAssocID="{39CD82F6-C07A-45A1-8124-079F05CE7A36}" presName="level3hierChild" presStyleCnt="0"/>
      <dgm:spPr/>
    </dgm:pt>
  </dgm:ptLst>
  <dgm:cxnLst>
    <dgm:cxn modelId="{C4772DC8-CB53-49DC-A18E-CAD03649C714}" type="presOf" srcId="{0E510F92-DBB6-4B77-8E9D-27A9F8BDFCA6}" destId="{7360FD07-3C24-42FB-8D78-7AB8143F982C}" srcOrd="0" destOrd="0" presId="urn:microsoft.com/office/officeart/2008/layout/HorizontalMultiLevelHierarchy"/>
    <dgm:cxn modelId="{19F0B120-4C0A-44BA-9505-7E02D2E9DAA3}" type="presOf" srcId="{79AF898F-13BD-4E65-92D2-67281E80F6CD}" destId="{9108EA65-535B-4957-954F-DA57F3F9B904}" srcOrd="0" destOrd="0" presId="urn:microsoft.com/office/officeart/2008/layout/HorizontalMultiLevelHierarchy"/>
    <dgm:cxn modelId="{F1A97041-F635-4457-B77D-70EFA302A0C2}" type="presOf" srcId="{39CD82F6-C07A-45A1-8124-079F05CE7A36}" destId="{218283E1-793C-4B7F-B800-BD890B0048F2}" srcOrd="0" destOrd="0" presId="urn:microsoft.com/office/officeart/2008/layout/HorizontalMultiLevelHierarchy"/>
    <dgm:cxn modelId="{09E649D3-23DB-49CC-89F3-43A0A3E2E55E}" type="presOf" srcId="{A1A6793A-0379-4001-B805-20566BF2480F}" destId="{868FB70F-4851-42F0-A889-E02A75FFD764}" srcOrd="1" destOrd="0" presId="urn:microsoft.com/office/officeart/2008/layout/HorizontalMultiLevelHierarchy"/>
    <dgm:cxn modelId="{40A30D9A-5226-46A4-A4C6-DE31211CD319}" type="presOf" srcId="{3852D75C-2099-4498-ADEF-41E4739DF8D8}" destId="{A75078F8-CB1B-47D0-9DE0-CCD32A33C64A}" srcOrd="0" destOrd="0" presId="urn:microsoft.com/office/officeart/2008/layout/HorizontalMultiLevelHierarchy"/>
    <dgm:cxn modelId="{CFA52A13-C077-477A-9A39-9540CF1430A9}" type="presOf" srcId="{D61620D8-4C8B-4B60-9D6A-9638900AD877}" destId="{2B3B6E45-B901-4533-BA70-932F0913D8F2}" srcOrd="0" destOrd="0" presId="urn:microsoft.com/office/officeart/2008/layout/HorizontalMultiLevelHierarchy"/>
    <dgm:cxn modelId="{199CCE35-51BA-444B-8E62-554B93259D23}" srcId="{BB3C1BF0-4EC6-4133-A7CD-332CF48BF8BA}" destId="{39CD82F6-C07A-45A1-8124-079F05CE7A36}" srcOrd="2" destOrd="0" parTransId="{3852D75C-2099-4498-ADEF-41E4739DF8D8}" sibTransId="{F415C9D7-0286-4ECE-8D47-531538D73635}"/>
    <dgm:cxn modelId="{5059D730-1E9D-4489-B1D2-B825D1795C98}" type="presOf" srcId="{FD16D37D-56A0-43F4-A05E-35C888AC48C3}" destId="{C3E0ED10-6FAD-41D5-A833-55BC8A2B0A32}" srcOrd="0" destOrd="0" presId="urn:microsoft.com/office/officeart/2008/layout/HorizontalMultiLevelHierarchy"/>
    <dgm:cxn modelId="{8F64944A-81C0-43FF-AFDC-5A973DC59A95}" type="presOf" srcId="{A1A6793A-0379-4001-B805-20566BF2480F}" destId="{EEF313FE-9600-45D1-9FA5-F50BA2FF9DA6}" srcOrd="0" destOrd="0" presId="urn:microsoft.com/office/officeart/2008/layout/HorizontalMultiLevelHierarchy"/>
    <dgm:cxn modelId="{0B3721D8-1ECD-4BAD-892D-8A3D7519B916}" srcId="{D61620D8-4C8B-4B60-9D6A-9638900AD877}" destId="{BB3C1BF0-4EC6-4133-A7CD-332CF48BF8BA}" srcOrd="0" destOrd="0" parTransId="{0794491E-FE9E-417E-B65D-7419B5584904}" sibTransId="{FAA32A0A-6455-492D-9FD1-9F8E6E459FF1}"/>
    <dgm:cxn modelId="{C374ED31-AFC6-405D-AD05-50A26FBA8B79}" srcId="{BB3C1BF0-4EC6-4133-A7CD-332CF48BF8BA}" destId="{FD16D37D-56A0-43F4-A05E-35C888AC48C3}" srcOrd="0" destOrd="0" parTransId="{79AF898F-13BD-4E65-92D2-67281E80F6CD}" sibTransId="{DD68D8CC-7E85-4C71-847C-70B0312B3927}"/>
    <dgm:cxn modelId="{AAF2872D-874B-4C6C-BFD6-78B3854FFA6A}" type="presOf" srcId="{BB3C1BF0-4EC6-4133-A7CD-332CF48BF8BA}" destId="{10E3F803-EB7B-4971-96B2-15424862851B}" srcOrd="0" destOrd="0" presId="urn:microsoft.com/office/officeart/2008/layout/HorizontalMultiLevelHierarchy"/>
    <dgm:cxn modelId="{A38ABD28-43E9-4582-AC5E-6E8EB87A6A1A}" srcId="{BB3C1BF0-4EC6-4133-A7CD-332CF48BF8BA}" destId="{0E510F92-DBB6-4B77-8E9D-27A9F8BDFCA6}" srcOrd="1" destOrd="0" parTransId="{A1A6793A-0379-4001-B805-20566BF2480F}" sibTransId="{C4375262-3B58-4C95-B730-C8782F8F27EA}"/>
    <dgm:cxn modelId="{1E65F690-3D51-4BDF-918F-FEC9832D37B8}" type="presOf" srcId="{79AF898F-13BD-4E65-92D2-67281E80F6CD}" destId="{7B842F4E-A8E5-4808-824B-86F4C76A4930}" srcOrd="1" destOrd="0" presId="urn:microsoft.com/office/officeart/2008/layout/HorizontalMultiLevelHierarchy"/>
    <dgm:cxn modelId="{C6571641-C891-4615-8E8D-E2A612E7A1C3}" type="presOf" srcId="{3852D75C-2099-4498-ADEF-41E4739DF8D8}" destId="{09395DBC-2B66-4D64-AA97-B2B2C0A1AE1C}" srcOrd="1" destOrd="0" presId="urn:microsoft.com/office/officeart/2008/layout/HorizontalMultiLevelHierarchy"/>
    <dgm:cxn modelId="{EB7C23AF-764F-4678-A187-A551CE120CBC}" type="presParOf" srcId="{2B3B6E45-B901-4533-BA70-932F0913D8F2}" destId="{5737155D-5681-418A-9F31-9F406D3EED65}" srcOrd="0" destOrd="0" presId="urn:microsoft.com/office/officeart/2008/layout/HorizontalMultiLevelHierarchy"/>
    <dgm:cxn modelId="{EA6121FE-2651-4991-9D83-B708A7870BCF}" type="presParOf" srcId="{5737155D-5681-418A-9F31-9F406D3EED65}" destId="{10E3F803-EB7B-4971-96B2-15424862851B}" srcOrd="0" destOrd="0" presId="urn:microsoft.com/office/officeart/2008/layout/HorizontalMultiLevelHierarchy"/>
    <dgm:cxn modelId="{C3D8A623-B950-4800-A4E7-E876E7E4D1CB}" type="presParOf" srcId="{5737155D-5681-418A-9F31-9F406D3EED65}" destId="{4660015C-49AD-45AA-B687-0CB93A679836}" srcOrd="1" destOrd="0" presId="urn:microsoft.com/office/officeart/2008/layout/HorizontalMultiLevelHierarchy"/>
    <dgm:cxn modelId="{322CC598-6E43-478F-BDF2-7AA8270F8F0B}" type="presParOf" srcId="{4660015C-49AD-45AA-B687-0CB93A679836}" destId="{9108EA65-535B-4957-954F-DA57F3F9B904}" srcOrd="0" destOrd="0" presId="urn:microsoft.com/office/officeart/2008/layout/HorizontalMultiLevelHierarchy"/>
    <dgm:cxn modelId="{8421CD4A-B9F2-42D2-9D1A-6CCAC6C4DF95}" type="presParOf" srcId="{9108EA65-535B-4957-954F-DA57F3F9B904}" destId="{7B842F4E-A8E5-4808-824B-86F4C76A4930}" srcOrd="0" destOrd="0" presId="urn:microsoft.com/office/officeart/2008/layout/HorizontalMultiLevelHierarchy"/>
    <dgm:cxn modelId="{54264BE3-E378-44C9-86FF-1CD89BAFE822}" type="presParOf" srcId="{4660015C-49AD-45AA-B687-0CB93A679836}" destId="{C972DEC0-90E8-48AB-8B5C-E643E0AFEC3C}" srcOrd="1" destOrd="0" presId="urn:microsoft.com/office/officeart/2008/layout/HorizontalMultiLevelHierarchy"/>
    <dgm:cxn modelId="{8843008C-34E6-4739-ABD8-2DD0A2FCF5AC}" type="presParOf" srcId="{C972DEC0-90E8-48AB-8B5C-E643E0AFEC3C}" destId="{C3E0ED10-6FAD-41D5-A833-55BC8A2B0A32}" srcOrd="0" destOrd="0" presId="urn:microsoft.com/office/officeart/2008/layout/HorizontalMultiLevelHierarchy"/>
    <dgm:cxn modelId="{22A136CB-2660-4D90-8821-ADE37E52DDB4}" type="presParOf" srcId="{C972DEC0-90E8-48AB-8B5C-E643E0AFEC3C}" destId="{B2AFF475-103C-40B2-B759-A49EAFD8DD6F}" srcOrd="1" destOrd="0" presId="urn:microsoft.com/office/officeart/2008/layout/HorizontalMultiLevelHierarchy"/>
    <dgm:cxn modelId="{153ADF1D-B8D2-4148-9625-E565F60049F9}" type="presParOf" srcId="{4660015C-49AD-45AA-B687-0CB93A679836}" destId="{EEF313FE-9600-45D1-9FA5-F50BA2FF9DA6}" srcOrd="2" destOrd="0" presId="urn:microsoft.com/office/officeart/2008/layout/HorizontalMultiLevelHierarchy"/>
    <dgm:cxn modelId="{D83B7261-8355-4E63-B623-8CCA4EB49802}" type="presParOf" srcId="{EEF313FE-9600-45D1-9FA5-F50BA2FF9DA6}" destId="{868FB70F-4851-42F0-A889-E02A75FFD764}" srcOrd="0" destOrd="0" presId="urn:microsoft.com/office/officeart/2008/layout/HorizontalMultiLevelHierarchy"/>
    <dgm:cxn modelId="{BFBF63BD-83C0-433D-AF6B-A4C84260ED33}" type="presParOf" srcId="{4660015C-49AD-45AA-B687-0CB93A679836}" destId="{D9D5DC49-2EA3-41F0-BC08-0598C696EA12}" srcOrd="3" destOrd="0" presId="urn:microsoft.com/office/officeart/2008/layout/HorizontalMultiLevelHierarchy"/>
    <dgm:cxn modelId="{EA6C5713-4FF0-47E7-B889-B240BE726A51}" type="presParOf" srcId="{D9D5DC49-2EA3-41F0-BC08-0598C696EA12}" destId="{7360FD07-3C24-42FB-8D78-7AB8143F982C}" srcOrd="0" destOrd="0" presId="urn:microsoft.com/office/officeart/2008/layout/HorizontalMultiLevelHierarchy"/>
    <dgm:cxn modelId="{0023F54F-2791-494D-A3BE-6F9D5683C283}" type="presParOf" srcId="{D9D5DC49-2EA3-41F0-BC08-0598C696EA12}" destId="{31F66B04-0383-47EB-9A37-CFC51A676DC4}" srcOrd="1" destOrd="0" presId="urn:microsoft.com/office/officeart/2008/layout/HorizontalMultiLevelHierarchy"/>
    <dgm:cxn modelId="{803D863D-EBBC-4270-8A68-23FC7747250A}" type="presParOf" srcId="{4660015C-49AD-45AA-B687-0CB93A679836}" destId="{A75078F8-CB1B-47D0-9DE0-CCD32A33C64A}" srcOrd="4" destOrd="0" presId="urn:microsoft.com/office/officeart/2008/layout/HorizontalMultiLevelHierarchy"/>
    <dgm:cxn modelId="{5668135F-D5AB-4B6A-902E-0EEEB71F36C0}" type="presParOf" srcId="{A75078F8-CB1B-47D0-9DE0-CCD32A33C64A}" destId="{09395DBC-2B66-4D64-AA97-B2B2C0A1AE1C}" srcOrd="0" destOrd="0" presId="urn:microsoft.com/office/officeart/2008/layout/HorizontalMultiLevelHierarchy"/>
    <dgm:cxn modelId="{6D92DA30-F0E4-46E7-8014-F6A345D2CB52}" type="presParOf" srcId="{4660015C-49AD-45AA-B687-0CB93A679836}" destId="{B0F65FB2-CDCB-4ADF-88E9-01FA8FF8AB1A}" srcOrd="5" destOrd="0" presId="urn:microsoft.com/office/officeart/2008/layout/HorizontalMultiLevelHierarchy"/>
    <dgm:cxn modelId="{7D4CFAE6-F615-4404-905B-52BB6425A990}" type="presParOf" srcId="{B0F65FB2-CDCB-4ADF-88E9-01FA8FF8AB1A}" destId="{218283E1-793C-4B7F-B800-BD890B0048F2}" srcOrd="0" destOrd="0" presId="urn:microsoft.com/office/officeart/2008/layout/HorizontalMultiLevelHierarchy"/>
    <dgm:cxn modelId="{1A38BCC2-3479-4E86-9535-C7642F5E6D13}" type="presParOf" srcId="{B0F65FB2-CDCB-4ADF-88E9-01FA8FF8AB1A}" destId="{7A9CF314-660A-41AC-AFB8-F107FDEB0831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62009B-980E-4922-A389-98CF45334A92}" type="doc">
      <dgm:prSet loTypeId="urn:microsoft.com/office/officeart/2005/8/layout/radial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763E2EA3-D81A-4AF6-9396-AD27B863F1E7}">
      <dgm:prSet phldrT="[Texto]" custT="1"/>
      <dgm:spPr/>
      <dgm:t>
        <a:bodyPr/>
        <a:lstStyle/>
        <a:p>
          <a:r>
            <a:rPr lang="pt-BR" sz="1200" dirty="0" smtClean="0"/>
            <a:t>Core Team do Projeto</a:t>
          </a:r>
          <a:endParaRPr lang="pt-BR" sz="1200" dirty="0"/>
        </a:p>
      </dgm:t>
    </dgm:pt>
    <dgm:pt modelId="{C57F7074-593C-4884-BF73-F90B008503E6}" type="parTrans" cxnId="{9385B8F5-A41C-4A73-AA57-C2DF0CF52E4B}">
      <dgm:prSet/>
      <dgm:spPr/>
      <dgm:t>
        <a:bodyPr/>
        <a:lstStyle/>
        <a:p>
          <a:endParaRPr lang="pt-BR" sz="1200"/>
        </a:p>
      </dgm:t>
    </dgm:pt>
    <dgm:pt modelId="{5420CE37-76C0-44B2-ABC9-A0FADEAAC2C1}" type="sibTrans" cxnId="{9385B8F5-A41C-4A73-AA57-C2DF0CF52E4B}">
      <dgm:prSet/>
      <dgm:spPr/>
      <dgm:t>
        <a:bodyPr/>
        <a:lstStyle/>
        <a:p>
          <a:endParaRPr lang="pt-BR" sz="1200"/>
        </a:p>
      </dgm:t>
    </dgm:pt>
    <dgm:pt modelId="{93DEB9CC-FBC6-488B-A80B-5FA01E210A75}">
      <dgm:prSet phldrT="[Texto]" custT="1"/>
      <dgm:spPr>
        <a:solidFill>
          <a:schemeClr val="bg1">
            <a:lumMod val="50000"/>
            <a:alpha val="50000"/>
          </a:schemeClr>
        </a:solidFill>
      </dgm:spPr>
      <dgm:t>
        <a:bodyPr/>
        <a:lstStyle/>
        <a:p>
          <a:r>
            <a:rPr lang="pt-BR" sz="1200" dirty="0" smtClean="0"/>
            <a:t>GRP</a:t>
          </a:r>
          <a:endParaRPr lang="pt-BR" sz="1200" dirty="0"/>
        </a:p>
      </dgm:t>
    </dgm:pt>
    <dgm:pt modelId="{DECB078D-82FC-4014-AC04-22AC529E6955}" type="parTrans" cxnId="{EA07EE60-569C-4D9D-9A26-DE73CCD508D4}">
      <dgm:prSet/>
      <dgm:spPr/>
      <dgm:t>
        <a:bodyPr/>
        <a:lstStyle/>
        <a:p>
          <a:endParaRPr lang="pt-BR" sz="1200"/>
        </a:p>
      </dgm:t>
    </dgm:pt>
    <dgm:pt modelId="{023AFABE-2CC2-43F8-9FDF-7CE55A7CB20C}" type="sibTrans" cxnId="{EA07EE60-569C-4D9D-9A26-DE73CCD508D4}">
      <dgm:prSet/>
      <dgm:spPr/>
      <dgm:t>
        <a:bodyPr/>
        <a:lstStyle/>
        <a:p>
          <a:endParaRPr lang="pt-BR" sz="1200"/>
        </a:p>
      </dgm:t>
    </dgm:pt>
    <dgm:pt modelId="{3C54030D-AB84-4FC9-8B40-648AEF13655A}">
      <dgm:prSet phldrT="[Texto]" custT="1"/>
      <dgm:spPr/>
      <dgm:t>
        <a:bodyPr/>
        <a:lstStyle/>
        <a:p>
          <a:r>
            <a:rPr lang="pt-BR" sz="1200" dirty="0" smtClean="0"/>
            <a:t> Plataforma 1</a:t>
          </a:r>
          <a:endParaRPr lang="pt-BR" sz="1200" dirty="0"/>
        </a:p>
      </dgm:t>
    </dgm:pt>
    <dgm:pt modelId="{DB8725FA-7A0F-4382-99DE-536102A087FB}" type="parTrans" cxnId="{99D885CE-71B3-437B-8A79-69B3873B1F32}">
      <dgm:prSet/>
      <dgm:spPr/>
      <dgm:t>
        <a:bodyPr/>
        <a:lstStyle/>
        <a:p>
          <a:endParaRPr lang="pt-BR" sz="1200"/>
        </a:p>
      </dgm:t>
    </dgm:pt>
    <dgm:pt modelId="{412C45DC-4BBA-4B14-94D1-A80AF55F54CD}" type="sibTrans" cxnId="{99D885CE-71B3-437B-8A79-69B3873B1F32}">
      <dgm:prSet/>
      <dgm:spPr/>
      <dgm:t>
        <a:bodyPr/>
        <a:lstStyle/>
        <a:p>
          <a:endParaRPr lang="pt-BR" sz="1200"/>
        </a:p>
      </dgm:t>
    </dgm:pt>
    <dgm:pt modelId="{8640C82C-B554-4BE5-A252-4366FA2A63E0}">
      <dgm:prSet phldrT="[Texto]" custT="1"/>
      <dgm:spPr/>
      <dgm:t>
        <a:bodyPr/>
        <a:lstStyle/>
        <a:p>
          <a:r>
            <a:rPr lang="pt-BR" sz="1200" dirty="0" smtClean="0"/>
            <a:t> Plataforma 2</a:t>
          </a:r>
          <a:endParaRPr lang="pt-BR" sz="1200" dirty="0"/>
        </a:p>
      </dgm:t>
    </dgm:pt>
    <dgm:pt modelId="{1DC7DD7D-AC98-4192-8E83-7A9C512BCE0D}" type="parTrans" cxnId="{05D16EC9-D7BB-4B7F-AB47-86B54DFB1D8B}">
      <dgm:prSet/>
      <dgm:spPr/>
      <dgm:t>
        <a:bodyPr/>
        <a:lstStyle/>
        <a:p>
          <a:endParaRPr lang="pt-BR" sz="1200"/>
        </a:p>
      </dgm:t>
    </dgm:pt>
    <dgm:pt modelId="{8A7848BD-ECB0-4D56-A7D4-17B40985D702}" type="sibTrans" cxnId="{05D16EC9-D7BB-4B7F-AB47-86B54DFB1D8B}">
      <dgm:prSet/>
      <dgm:spPr/>
      <dgm:t>
        <a:bodyPr/>
        <a:lstStyle/>
        <a:p>
          <a:endParaRPr lang="pt-BR" sz="1200"/>
        </a:p>
      </dgm:t>
    </dgm:pt>
    <dgm:pt modelId="{9B034ACD-2130-46B2-BA15-78CE0BA30A25}">
      <dgm:prSet phldrT="[Texto]" custT="1"/>
      <dgm:spPr>
        <a:solidFill>
          <a:schemeClr val="bg1">
            <a:lumMod val="50000"/>
            <a:alpha val="50000"/>
          </a:schemeClr>
        </a:solidFill>
      </dgm:spPr>
      <dgm:t>
        <a:bodyPr/>
        <a:lstStyle/>
        <a:p>
          <a:r>
            <a:rPr lang="pt-BR" sz="1100" dirty="0" smtClean="0"/>
            <a:t>Arquitetura Corporativa</a:t>
          </a:r>
          <a:endParaRPr lang="pt-BR" sz="1100" dirty="0"/>
        </a:p>
      </dgm:t>
    </dgm:pt>
    <dgm:pt modelId="{1ECEC506-DC9E-4F8D-A8B0-7BC05F26B505}" type="parTrans" cxnId="{6F33075B-823C-460F-9C80-0D78326EDE82}">
      <dgm:prSet/>
      <dgm:spPr/>
      <dgm:t>
        <a:bodyPr/>
        <a:lstStyle/>
        <a:p>
          <a:endParaRPr lang="pt-BR" sz="1200"/>
        </a:p>
      </dgm:t>
    </dgm:pt>
    <dgm:pt modelId="{984A0FDF-8307-4FF5-B8DA-AB035851D30B}" type="sibTrans" cxnId="{6F33075B-823C-460F-9C80-0D78326EDE82}">
      <dgm:prSet/>
      <dgm:spPr/>
      <dgm:t>
        <a:bodyPr/>
        <a:lstStyle/>
        <a:p>
          <a:endParaRPr lang="pt-BR" sz="1200"/>
        </a:p>
      </dgm:t>
    </dgm:pt>
    <dgm:pt modelId="{002D2DFA-2377-48B0-8120-B8A7B1435EB9}">
      <dgm:prSet phldrT="[Texto]" custT="1"/>
      <dgm:spPr>
        <a:solidFill>
          <a:schemeClr val="bg1">
            <a:lumMod val="50000"/>
            <a:alpha val="50000"/>
          </a:schemeClr>
        </a:solidFill>
      </dgm:spPr>
      <dgm:t>
        <a:bodyPr/>
        <a:lstStyle/>
        <a:p>
          <a:r>
            <a:rPr lang="pt-BR" sz="1200" dirty="0" smtClean="0"/>
            <a:t>Testes</a:t>
          </a:r>
          <a:endParaRPr lang="pt-BR" sz="1200" dirty="0"/>
        </a:p>
      </dgm:t>
    </dgm:pt>
    <dgm:pt modelId="{32202BE3-FA7A-400A-9092-13E4323BC90E}" type="parTrans" cxnId="{B6B6C261-B338-4402-9D8C-1716CCE110DD}">
      <dgm:prSet/>
      <dgm:spPr/>
      <dgm:t>
        <a:bodyPr/>
        <a:lstStyle/>
        <a:p>
          <a:endParaRPr lang="pt-BR" sz="1200"/>
        </a:p>
      </dgm:t>
    </dgm:pt>
    <dgm:pt modelId="{944CBD48-5107-43A5-8805-C600487F6BBA}" type="sibTrans" cxnId="{B6B6C261-B338-4402-9D8C-1716CCE110DD}">
      <dgm:prSet/>
      <dgm:spPr/>
      <dgm:t>
        <a:bodyPr/>
        <a:lstStyle/>
        <a:p>
          <a:endParaRPr lang="pt-BR" sz="1200"/>
        </a:p>
      </dgm:t>
    </dgm:pt>
    <dgm:pt modelId="{5ACFD191-E245-4400-B511-7440730E6001}">
      <dgm:prSet phldrT="[Texto]" custT="1"/>
      <dgm:spPr>
        <a:solidFill>
          <a:schemeClr val="bg1">
            <a:lumMod val="50000"/>
            <a:alpha val="50000"/>
          </a:schemeClr>
        </a:solidFill>
      </dgm:spPr>
      <dgm:t>
        <a:bodyPr/>
        <a:lstStyle/>
        <a:p>
          <a:r>
            <a:rPr lang="pt-BR" sz="1100" dirty="0" smtClean="0"/>
            <a:t>Arquitetura Infraestrutura</a:t>
          </a:r>
          <a:endParaRPr lang="pt-BR" sz="1100" dirty="0"/>
        </a:p>
      </dgm:t>
    </dgm:pt>
    <dgm:pt modelId="{4547F1D4-0FA3-41E3-9188-02CD37470FFD}" type="parTrans" cxnId="{9534A3DA-BA2D-4F22-BD4F-3DAAA2A8C875}">
      <dgm:prSet/>
      <dgm:spPr/>
      <dgm:t>
        <a:bodyPr/>
        <a:lstStyle/>
        <a:p>
          <a:endParaRPr lang="pt-BR" sz="1200"/>
        </a:p>
      </dgm:t>
    </dgm:pt>
    <dgm:pt modelId="{E909BC75-A63B-4C43-9A0B-C1219B1C47B9}" type="sibTrans" cxnId="{9534A3DA-BA2D-4F22-BD4F-3DAAA2A8C875}">
      <dgm:prSet/>
      <dgm:spPr/>
      <dgm:t>
        <a:bodyPr/>
        <a:lstStyle/>
        <a:p>
          <a:endParaRPr lang="pt-BR" sz="1200"/>
        </a:p>
      </dgm:t>
    </dgm:pt>
    <dgm:pt modelId="{94C3AF5F-125C-496D-80BA-DADDABB4E815}">
      <dgm:prSet phldrT="[Texto]" custT="1"/>
      <dgm:spPr>
        <a:solidFill>
          <a:schemeClr val="bg1">
            <a:lumMod val="50000"/>
            <a:alpha val="50000"/>
          </a:schemeClr>
        </a:solidFill>
      </dgm:spPr>
      <dgm:t>
        <a:bodyPr/>
        <a:lstStyle/>
        <a:p>
          <a:r>
            <a:rPr lang="pt-BR" sz="1200" dirty="0" smtClean="0"/>
            <a:t>Manter</a:t>
          </a:r>
          <a:endParaRPr lang="pt-BR" sz="1200" dirty="0"/>
        </a:p>
      </dgm:t>
    </dgm:pt>
    <dgm:pt modelId="{33113528-0B18-4908-B9ED-8ABC5628639E}" type="parTrans" cxnId="{FB0B3D80-D2F0-4196-B698-6CA81C184B03}">
      <dgm:prSet/>
      <dgm:spPr/>
      <dgm:t>
        <a:bodyPr/>
        <a:lstStyle/>
        <a:p>
          <a:endParaRPr lang="pt-BR" sz="1200"/>
        </a:p>
      </dgm:t>
    </dgm:pt>
    <dgm:pt modelId="{01C2D233-476E-4954-B503-AFFA6C496548}" type="sibTrans" cxnId="{FB0B3D80-D2F0-4196-B698-6CA81C184B03}">
      <dgm:prSet/>
      <dgm:spPr/>
      <dgm:t>
        <a:bodyPr/>
        <a:lstStyle/>
        <a:p>
          <a:endParaRPr lang="pt-BR" sz="1200"/>
        </a:p>
      </dgm:t>
    </dgm:pt>
    <dgm:pt modelId="{20984D1A-3616-49F2-BD28-8E6C54DE1211}">
      <dgm:prSet phldrT="[Texto]" custT="1"/>
      <dgm:spPr/>
      <dgm:t>
        <a:bodyPr/>
        <a:lstStyle/>
        <a:p>
          <a:r>
            <a:rPr lang="pt-BR" sz="1200" dirty="0" smtClean="0"/>
            <a:t>Gerente do Projeto</a:t>
          </a:r>
          <a:endParaRPr lang="pt-BR" sz="1200" dirty="0"/>
        </a:p>
      </dgm:t>
    </dgm:pt>
    <dgm:pt modelId="{07BC9050-4CB4-47E2-9425-CD06756CF0CE}" type="parTrans" cxnId="{AE77A63E-1817-4002-B467-DE5CC6EEEC80}">
      <dgm:prSet/>
      <dgm:spPr/>
      <dgm:t>
        <a:bodyPr/>
        <a:lstStyle/>
        <a:p>
          <a:endParaRPr lang="pt-BR" sz="1200"/>
        </a:p>
      </dgm:t>
    </dgm:pt>
    <dgm:pt modelId="{2300E965-0910-49E1-86A5-BEFE579868CD}" type="sibTrans" cxnId="{AE77A63E-1817-4002-B467-DE5CC6EEEC80}">
      <dgm:prSet/>
      <dgm:spPr/>
      <dgm:t>
        <a:bodyPr/>
        <a:lstStyle/>
        <a:p>
          <a:endParaRPr lang="pt-BR" sz="1200"/>
        </a:p>
      </dgm:t>
    </dgm:pt>
    <dgm:pt modelId="{B075AAD9-D2E0-4256-BB77-A9803308EDBE}">
      <dgm:prSet phldrT="[Texto]" custT="1"/>
      <dgm:spPr/>
      <dgm:t>
        <a:bodyPr/>
        <a:lstStyle/>
        <a:p>
          <a:r>
            <a:rPr lang="pt-BR" sz="1100" dirty="0" smtClean="0"/>
            <a:t>Gerente de Infraestrutura</a:t>
          </a:r>
          <a:endParaRPr lang="pt-BR" sz="1100" dirty="0"/>
        </a:p>
      </dgm:t>
    </dgm:pt>
    <dgm:pt modelId="{6992879B-125D-4B20-83BF-610E91FE9C88}" type="parTrans" cxnId="{08B0DFCE-4B44-4FF9-9809-627094C0350A}">
      <dgm:prSet/>
      <dgm:spPr/>
      <dgm:t>
        <a:bodyPr/>
        <a:lstStyle/>
        <a:p>
          <a:endParaRPr lang="pt-BR"/>
        </a:p>
      </dgm:t>
    </dgm:pt>
    <dgm:pt modelId="{72317958-5B0C-4C11-B255-3245998CFEA1}" type="sibTrans" cxnId="{08B0DFCE-4B44-4FF9-9809-627094C0350A}">
      <dgm:prSet/>
      <dgm:spPr/>
      <dgm:t>
        <a:bodyPr/>
        <a:lstStyle/>
        <a:p>
          <a:endParaRPr lang="pt-BR"/>
        </a:p>
      </dgm:t>
    </dgm:pt>
    <dgm:pt modelId="{CE98177A-D171-414A-B405-4BCAEDD1FFCE}" type="pres">
      <dgm:prSet presAssocID="{6862009B-980E-4922-A389-98CF45334A92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EC9AEDF5-9EFE-4550-AD39-3270ECFD0130}" type="pres">
      <dgm:prSet presAssocID="{6862009B-980E-4922-A389-98CF45334A92}" presName="radial" presStyleCnt="0">
        <dgm:presLayoutVars>
          <dgm:animLvl val="ctr"/>
        </dgm:presLayoutVars>
      </dgm:prSet>
      <dgm:spPr/>
    </dgm:pt>
    <dgm:pt modelId="{404FC3FA-6B37-41A2-A30B-1504C0D5FFFE}" type="pres">
      <dgm:prSet presAssocID="{763E2EA3-D81A-4AF6-9396-AD27B863F1E7}" presName="centerShape" presStyleLbl="vennNode1" presStyleIdx="0" presStyleCnt="10"/>
      <dgm:spPr/>
      <dgm:t>
        <a:bodyPr/>
        <a:lstStyle/>
        <a:p>
          <a:endParaRPr lang="pt-BR"/>
        </a:p>
      </dgm:t>
    </dgm:pt>
    <dgm:pt modelId="{691F9F07-575E-448D-B206-CDF91AFA6AF9}" type="pres">
      <dgm:prSet presAssocID="{20984D1A-3616-49F2-BD28-8E6C54DE1211}" presName="node" presStyleLbl="vennNode1" presStyleIdx="1" presStyleCnt="1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8F5EFF3-0071-4636-A4C6-322AA017965A}" type="pres">
      <dgm:prSet presAssocID="{93DEB9CC-FBC6-488B-A80B-5FA01E210A75}" presName="node" presStyleLbl="vennNode1" presStyleIdx="2" presStyleCnt="1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DD03E72-0627-4C4F-A4FF-C07C41CCDE6A}" type="pres">
      <dgm:prSet presAssocID="{3C54030D-AB84-4FC9-8B40-648AEF13655A}" presName="node" presStyleLbl="vennNode1" presStyleIdx="3" presStyleCnt="1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A0FCFBF-E20A-429E-9BD5-CA9C4319F1A1}" type="pres">
      <dgm:prSet presAssocID="{8640C82C-B554-4BE5-A252-4366FA2A63E0}" presName="node" presStyleLbl="vennNode1" presStyleIdx="4" presStyleCnt="1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3F77C1F-F24D-434F-84FB-F1D64F4CF69B}" type="pres">
      <dgm:prSet presAssocID="{B075AAD9-D2E0-4256-BB77-A9803308EDBE}" presName="node" presStyleLbl="vennNode1" presStyleIdx="5" presStyleCnt="1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1C448CB-C12E-4B5D-B5D3-740FB6970B66}" type="pres">
      <dgm:prSet presAssocID="{9B034ACD-2130-46B2-BA15-78CE0BA30A25}" presName="node" presStyleLbl="vennNode1" presStyleIdx="6" presStyleCnt="1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F1681CA-9955-4375-B462-877614233251}" type="pres">
      <dgm:prSet presAssocID="{5ACFD191-E245-4400-B511-7440730E6001}" presName="node" presStyleLbl="vennNode1" presStyleIdx="7" presStyleCnt="1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3322A2D-E196-4B03-862E-491C4BD7ABCA}" type="pres">
      <dgm:prSet presAssocID="{94C3AF5F-125C-496D-80BA-DADDABB4E815}" presName="node" presStyleLbl="vennNode1" presStyleIdx="8" presStyleCnt="1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BD24B86-67A6-4B55-98E0-86C9FCEE9A83}" type="pres">
      <dgm:prSet presAssocID="{002D2DFA-2377-48B0-8120-B8A7B1435EB9}" presName="node" presStyleLbl="vennNode1" presStyleIdx="9" presStyleCnt="1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68DCB40C-37FB-4E7E-B943-47A190B2958B}" type="presOf" srcId="{763E2EA3-D81A-4AF6-9396-AD27B863F1E7}" destId="{404FC3FA-6B37-41A2-A30B-1504C0D5FFFE}" srcOrd="0" destOrd="0" presId="urn:microsoft.com/office/officeart/2005/8/layout/radial3"/>
    <dgm:cxn modelId="{05D16EC9-D7BB-4B7F-AB47-86B54DFB1D8B}" srcId="{763E2EA3-D81A-4AF6-9396-AD27B863F1E7}" destId="{8640C82C-B554-4BE5-A252-4366FA2A63E0}" srcOrd="3" destOrd="0" parTransId="{1DC7DD7D-AC98-4192-8E83-7A9C512BCE0D}" sibTransId="{8A7848BD-ECB0-4D56-A7D4-17B40985D702}"/>
    <dgm:cxn modelId="{9385B8F5-A41C-4A73-AA57-C2DF0CF52E4B}" srcId="{6862009B-980E-4922-A389-98CF45334A92}" destId="{763E2EA3-D81A-4AF6-9396-AD27B863F1E7}" srcOrd="0" destOrd="0" parTransId="{C57F7074-593C-4884-BF73-F90B008503E6}" sibTransId="{5420CE37-76C0-44B2-ABC9-A0FADEAAC2C1}"/>
    <dgm:cxn modelId="{99D885CE-71B3-437B-8A79-69B3873B1F32}" srcId="{763E2EA3-D81A-4AF6-9396-AD27B863F1E7}" destId="{3C54030D-AB84-4FC9-8B40-648AEF13655A}" srcOrd="2" destOrd="0" parTransId="{DB8725FA-7A0F-4382-99DE-536102A087FB}" sibTransId="{412C45DC-4BBA-4B14-94D1-A80AF55F54CD}"/>
    <dgm:cxn modelId="{EA07EE60-569C-4D9D-9A26-DE73CCD508D4}" srcId="{763E2EA3-D81A-4AF6-9396-AD27B863F1E7}" destId="{93DEB9CC-FBC6-488B-A80B-5FA01E210A75}" srcOrd="1" destOrd="0" parTransId="{DECB078D-82FC-4014-AC04-22AC529E6955}" sibTransId="{023AFABE-2CC2-43F8-9FDF-7CE55A7CB20C}"/>
    <dgm:cxn modelId="{45EB808A-CB4C-4B53-A5A6-D7E1A4A80219}" type="presOf" srcId="{002D2DFA-2377-48B0-8120-B8A7B1435EB9}" destId="{8BD24B86-67A6-4B55-98E0-86C9FCEE9A83}" srcOrd="0" destOrd="0" presId="urn:microsoft.com/office/officeart/2005/8/layout/radial3"/>
    <dgm:cxn modelId="{3207B565-34AA-4811-8763-FFC9FA46E8DD}" type="presOf" srcId="{5ACFD191-E245-4400-B511-7440730E6001}" destId="{2F1681CA-9955-4375-B462-877614233251}" srcOrd="0" destOrd="0" presId="urn:microsoft.com/office/officeart/2005/8/layout/radial3"/>
    <dgm:cxn modelId="{B6B6C261-B338-4402-9D8C-1716CCE110DD}" srcId="{763E2EA3-D81A-4AF6-9396-AD27B863F1E7}" destId="{002D2DFA-2377-48B0-8120-B8A7B1435EB9}" srcOrd="8" destOrd="0" parTransId="{32202BE3-FA7A-400A-9092-13E4323BC90E}" sibTransId="{944CBD48-5107-43A5-8805-C600487F6BBA}"/>
    <dgm:cxn modelId="{08B0DFCE-4B44-4FF9-9809-627094C0350A}" srcId="{763E2EA3-D81A-4AF6-9396-AD27B863F1E7}" destId="{B075AAD9-D2E0-4256-BB77-A9803308EDBE}" srcOrd="4" destOrd="0" parTransId="{6992879B-125D-4B20-83BF-610E91FE9C88}" sibTransId="{72317958-5B0C-4C11-B255-3245998CFEA1}"/>
    <dgm:cxn modelId="{9B275E28-8032-4CEC-AAC4-0E261B2D9F18}" type="presOf" srcId="{B075AAD9-D2E0-4256-BB77-A9803308EDBE}" destId="{D3F77C1F-F24D-434F-84FB-F1D64F4CF69B}" srcOrd="0" destOrd="0" presId="urn:microsoft.com/office/officeart/2005/8/layout/radial3"/>
    <dgm:cxn modelId="{E59A0CE0-B6B8-4B7D-926F-C5FE9DB0601D}" type="presOf" srcId="{8640C82C-B554-4BE5-A252-4366FA2A63E0}" destId="{0A0FCFBF-E20A-429E-9BD5-CA9C4319F1A1}" srcOrd="0" destOrd="0" presId="urn:microsoft.com/office/officeart/2005/8/layout/radial3"/>
    <dgm:cxn modelId="{8151C887-A151-4AB6-ABD3-A1971D7ED71B}" type="presOf" srcId="{9B034ACD-2130-46B2-BA15-78CE0BA30A25}" destId="{D1C448CB-C12E-4B5D-B5D3-740FB6970B66}" srcOrd="0" destOrd="0" presId="urn:microsoft.com/office/officeart/2005/8/layout/radial3"/>
    <dgm:cxn modelId="{AE77A63E-1817-4002-B467-DE5CC6EEEC80}" srcId="{763E2EA3-D81A-4AF6-9396-AD27B863F1E7}" destId="{20984D1A-3616-49F2-BD28-8E6C54DE1211}" srcOrd="0" destOrd="0" parTransId="{07BC9050-4CB4-47E2-9425-CD06756CF0CE}" sibTransId="{2300E965-0910-49E1-86A5-BEFE579868CD}"/>
    <dgm:cxn modelId="{FB0B3D80-D2F0-4196-B698-6CA81C184B03}" srcId="{763E2EA3-D81A-4AF6-9396-AD27B863F1E7}" destId="{94C3AF5F-125C-496D-80BA-DADDABB4E815}" srcOrd="7" destOrd="0" parTransId="{33113528-0B18-4908-B9ED-8ABC5628639E}" sibTransId="{01C2D233-476E-4954-B503-AFFA6C496548}"/>
    <dgm:cxn modelId="{9534A3DA-BA2D-4F22-BD4F-3DAAA2A8C875}" srcId="{763E2EA3-D81A-4AF6-9396-AD27B863F1E7}" destId="{5ACFD191-E245-4400-B511-7440730E6001}" srcOrd="6" destOrd="0" parTransId="{4547F1D4-0FA3-41E3-9188-02CD37470FFD}" sibTransId="{E909BC75-A63B-4C43-9A0B-C1219B1C47B9}"/>
    <dgm:cxn modelId="{863543CE-C2FE-4137-8048-DA2041006771}" type="presOf" srcId="{94C3AF5F-125C-496D-80BA-DADDABB4E815}" destId="{A3322A2D-E196-4B03-862E-491C4BD7ABCA}" srcOrd="0" destOrd="0" presId="urn:microsoft.com/office/officeart/2005/8/layout/radial3"/>
    <dgm:cxn modelId="{5F3EB734-3043-4953-8335-617F8558C935}" type="presOf" srcId="{20984D1A-3616-49F2-BD28-8E6C54DE1211}" destId="{691F9F07-575E-448D-B206-CDF91AFA6AF9}" srcOrd="0" destOrd="0" presId="urn:microsoft.com/office/officeart/2005/8/layout/radial3"/>
    <dgm:cxn modelId="{B3504883-AF46-4763-857E-EFC1CA188D43}" type="presOf" srcId="{3C54030D-AB84-4FC9-8B40-648AEF13655A}" destId="{7DD03E72-0627-4C4F-A4FF-C07C41CCDE6A}" srcOrd="0" destOrd="0" presId="urn:microsoft.com/office/officeart/2005/8/layout/radial3"/>
    <dgm:cxn modelId="{856FD5DF-9CB7-4417-8846-780AD98C36E5}" type="presOf" srcId="{93DEB9CC-FBC6-488B-A80B-5FA01E210A75}" destId="{58F5EFF3-0071-4636-A4C6-322AA017965A}" srcOrd="0" destOrd="0" presId="urn:microsoft.com/office/officeart/2005/8/layout/radial3"/>
    <dgm:cxn modelId="{42DE1C79-E4AF-4084-8970-6ACD8FD63078}" type="presOf" srcId="{6862009B-980E-4922-A389-98CF45334A92}" destId="{CE98177A-D171-414A-B405-4BCAEDD1FFCE}" srcOrd="0" destOrd="0" presId="urn:microsoft.com/office/officeart/2005/8/layout/radial3"/>
    <dgm:cxn modelId="{6F33075B-823C-460F-9C80-0D78326EDE82}" srcId="{763E2EA3-D81A-4AF6-9396-AD27B863F1E7}" destId="{9B034ACD-2130-46B2-BA15-78CE0BA30A25}" srcOrd="5" destOrd="0" parTransId="{1ECEC506-DC9E-4F8D-A8B0-7BC05F26B505}" sibTransId="{984A0FDF-8307-4FF5-B8DA-AB035851D30B}"/>
    <dgm:cxn modelId="{F15AB6BD-13F1-4338-BA59-899A1A719377}" type="presParOf" srcId="{CE98177A-D171-414A-B405-4BCAEDD1FFCE}" destId="{EC9AEDF5-9EFE-4550-AD39-3270ECFD0130}" srcOrd="0" destOrd="0" presId="urn:microsoft.com/office/officeart/2005/8/layout/radial3"/>
    <dgm:cxn modelId="{2F685971-74EA-4FDA-9EE5-F0F9B6C4CD25}" type="presParOf" srcId="{EC9AEDF5-9EFE-4550-AD39-3270ECFD0130}" destId="{404FC3FA-6B37-41A2-A30B-1504C0D5FFFE}" srcOrd="0" destOrd="0" presId="urn:microsoft.com/office/officeart/2005/8/layout/radial3"/>
    <dgm:cxn modelId="{BC3D75FF-D9B7-4602-9C9F-939F1F986DDC}" type="presParOf" srcId="{EC9AEDF5-9EFE-4550-AD39-3270ECFD0130}" destId="{691F9F07-575E-448D-B206-CDF91AFA6AF9}" srcOrd="1" destOrd="0" presId="urn:microsoft.com/office/officeart/2005/8/layout/radial3"/>
    <dgm:cxn modelId="{A207DD19-6BC2-44D2-B044-DEFF0919B5E8}" type="presParOf" srcId="{EC9AEDF5-9EFE-4550-AD39-3270ECFD0130}" destId="{58F5EFF3-0071-4636-A4C6-322AA017965A}" srcOrd="2" destOrd="0" presId="urn:microsoft.com/office/officeart/2005/8/layout/radial3"/>
    <dgm:cxn modelId="{CE6DCAD0-38B1-4E3C-90A1-C1B0FD7CDF75}" type="presParOf" srcId="{EC9AEDF5-9EFE-4550-AD39-3270ECFD0130}" destId="{7DD03E72-0627-4C4F-A4FF-C07C41CCDE6A}" srcOrd="3" destOrd="0" presId="urn:microsoft.com/office/officeart/2005/8/layout/radial3"/>
    <dgm:cxn modelId="{82EE2D9C-DF25-4873-9A55-43A20519D80A}" type="presParOf" srcId="{EC9AEDF5-9EFE-4550-AD39-3270ECFD0130}" destId="{0A0FCFBF-E20A-429E-9BD5-CA9C4319F1A1}" srcOrd="4" destOrd="0" presId="urn:microsoft.com/office/officeart/2005/8/layout/radial3"/>
    <dgm:cxn modelId="{1150E40D-BDF3-412D-AD07-8E94B58ADD71}" type="presParOf" srcId="{EC9AEDF5-9EFE-4550-AD39-3270ECFD0130}" destId="{D3F77C1F-F24D-434F-84FB-F1D64F4CF69B}" srcOrd="5" destOrd="0" presId="urn:microsoft.com/office/officeart/2005/8/layout/radial3"/>
    <dgm:cxn modelId="{535A3A46-585D-4645-913D-763F367A2929}" type="presParOf" srcId="{EC9AEDF5-9EFE-4550-AD39-3270ECFD0130}" destId="{D1C448CB-C12E-4B5D-B5D3-740FB6970B66}" srcOrd="6" destOrd="0" presId="urn:microsoft.com/office/officeart/2005/8/layout/radial3"/>
    <dgm:cxn modelId="{D29E4323-4F7B-4E92-9D88-C27AABF12E5C}" type="presParOf" srcId="{EC9AEDF5-9EFE-4550-AD39-3270ECFD0130}" destId="{2F1681CA-9955-4375-B462-877614233251}" srcOrd="7" destOrd="0" presId="urn:microsoft.com/office/officeart/2005/8/layout/radial3"/>
    <dgm:cxn modelId="{B0B8B9EB-24AC-4B4C-945D-768E7D601E10}" type="presParOf" srcId="{EC9AEDF5-9EFE-4550-AD39-3270ECFD0130}" destId="{A3322A2D-E196-4B03-862E-491C4BD7ABCA}" srcOrd="8" destOrd="0" presId="urn:microsoft.com/office/officeart/2005/8/layout/radial3"/>
    <dgm:cxn modelId="{0CE170D4-DA27-4F75-A887-491A9B093AB0}" type="presParOf" srcId="{EC9AEDF5-9EFE-4550-AD39-3270ECFD0130}" destId="{8BD24B86-67A6-4B55-98E0-86C9FCEE9A83}" srcOrd="9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862009B-980E-4922-A389-98CF45334A92}" type="doc">
      <dgm:prSet loTypeId="urn:microsoft.com/office/officeart/2005/8/layout/radial3" loCatId="cycle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pt-BR"/>
        </a:p>
      </dgm:t>
    </dgm:pt>
    <dgm:pt modelId="{763E2EA3-D81A-4AF6-9396-AD27B863F1E7}">
      <dgm:prSet phldrT="[Texto]" custT="1"/>
      <dgm:spPr/>
      <dgm:t>
        <a:bodyPr/>
        <a:lstStyle/>
        <a:p>
          <a:r>
            <a:rPr lang="pt-BR" sz="1600" dirty="0" smtClean="0">
              <a:latin typeface="Gill Sans MT" pitchFamily="34" charset="0"/>
            </a:rPr>
            <a:t>Core Team Projeto</a:t>
          </a:r>
          <a:endParaRPr lang="pt-BR" sz="1600" dirty="0">
            <a:latin typeface="Gill Sans MT" pitchFamily="34" charset="0"/>
          </a:endParaRPr>
        </a:p>
      </dgm:t>
    </dgm:pt>
    <dgm:pt modelId="{C57F7074-593C-4884-BF73-F90B008503E6}" type="parTrans" cxnId="{9385B8F5-A41C-4A73-AA57-C2DF0CF52E4B}">
      <dgm:prSet/>
      <dgm:spPr/>
      <dgm:t>
        <a:bodyPr/>
        <a:lstStyle/>
        <a:p>
          <a:endParaRPr lang="pt-BR" sz="1400">
            <a:latin typeface="Gill Sans MT" pitchFamily="34" charset="0"/>
          </a:endParaRPr>
        </a:p>
      </dgm:t>
    </dgm:pt>
    <dgm:pt modelId="{5420CE37-76C0-44B2-ABC9-A0FADEAAC2C1}" type="sibTrans" cxnId="{9385B8F5-A41C-4A73-AA57-C2DF0CF52E4B}">
      <dgm:prSet/>
      <dgm:spPr/>
      <dgm:t>
        <a:bodyPr/>
        <a:lstStyle/>
        <a:p>
          <a:endParaRPr lang="pt-BR" sz="1400">
            <a:latin typeface="Gill Sans MT" pitchFamily="34" charset="0"/>
          </a:endParaRPr>
        </a:p>
      </dgm:t>
    </dgm:pt>
    <dgm:pt modelId="{93DEB9CC-FBC6-488B-A80B-5FA01E210A75}">
      <dgm:prSet phldrT="[Texto]" custT="1"/>
      <dgm:spPr/>
      <dgm:t>
        <a:bodyPr/>
        <a:lstStyle/>
        <a:p>
          <a:r>
            <a:rPr lang="pt-BR" sz="1200" dirty="0" smtClean="0">
              <a:latin typeface="Gill Sans MT" pitchFamily="34" charset="0"/>
            </a:rPr>
            <a:t>GRP</a:t>
          </a:r>
          <a:endParaRPr lang="pt-BR" sz="1200" dirty="0">
            <a:latin typeface="Gill Sans MT" pitchFamily="34" charset="0"/>
          </a:endParaRPr>
        </a:p>
      </dgm:t>
    </dgm:pt>
    <dgm:pt modelId="{DECB078D-82FC-4014-AC04-22AC529E6955}" type="parTrans" cxnId="{EA07EE60-569C-4D9D-9A26-DE73CCD508D4}">
      <dgm:prSet/>
      <dgm:spPr/>
      <dgm:t>
        <a:bodyPr/>
        <a:lstStyle/>
        <a:p>
          <a:endParaRPr lang="pt-BR" sz="1400">
            <a:latin typeface="Gill Sans MT" pitchFamily="34" charset="0"/>
          </a:endParaRPr>
        </a:p>
      </dgm:t>
    </dgm:pt>
    <dgm:pt modelId="{023AFABE-2CC2-43F8-9FDF-7CE55A7CB20C}" type="sibTrans" cxnId="{EA07EE60-569C-4D9D-9A26-DE73CCD508D4}">
      <dgm:prSet/>
      <dgm:spPr/>
      <dgm:t>
        <a:bodyPr/>
        <a:lstStyle/>
        <a:p>
          <a:endParaRPr lang="pt-BR" sz="1400">
            <a:latin typeface="Gill Sans MT" pitchFamily="34" charset="0"/>
          </a:endParaRPr>
        </a:p>
      </dgm:t>
    </dgm:pt>
    <dgm:pt modelId="{3C54030D-AB84-4FC9-8B40-648AEF13655A}">
      <dgm:prSet phldrT="[Texto]" custT="1"/>
      <dgm:spPr/>
      <dgm:t>
        <a:bodyPr/>
        <a:lstStyle/>
        <a:p>
          <a:r>
            <a:rPr lang="pt-BR" sz="1200" dirty="0" smtClean="0">
              <a:latin typeface="Gill Sans MT" pitchFamily="34" charset="0"/>
            </a:rPr>
            <a:t> Plataforma 1</a:t>
          </a:r>
          <a:endParaRPr lang="pt-BR" sz="1200" dirty="0">
            <a:latin typeface="Gill Sans MT" pitchFamily="34" charset="0"/>
          </a:endParaRPr>
        </a:p>
      </dgm:t>
    </dgm:pt>
    <dgm:pt modelId="{DB8725FA-7A0F-4382-99DE-536102A087FB}" type="parTrans" cxnId="{99D885CE-71B3-437B-8A79-69B3873B1F32}">
      <dgm:prSet/>
      <dgm:spPr/>
      <dgm:t>
        <a:bodyPr/>
        <a:lstStyle/>
        <a:p>
          <a:endParaRPr lang="pt-BR" sz="1400">
            <a:latin typeface="Gill Sans MT" pitchFamily="34" charset="0"/>
          </a:endParaRPr>
        </a:p>
      </dgm:t>
    </dgm:pt>
    <dgm:pt modelId="{412C45DC-4BBA-4B14-94D1-A80AF55F54CD}" type="sibTrans" cxnId="{99D885CE-71B3-437B-8A79-69B3873B1F32}">
      <dgm:prSet/>
      <dgm:spPr/>
      <dgm:t>
        <a:bodyPr/>
        <a:lstStyle/>
        <a:p>
          <a:endParaRPr lang="pt-BR" sz="1400">
            <a:latin typeface="Gill Sans MT" pitchFamily="34" charset="0"/>
          </a:endParaRPr>
        </a:p>
      </dgm:t>
    </dgm:pt>
    <dgm:pt modelId="{8640C82C-B554-4BE5-A252-4366FA2A63E0}">
      <dgm:prSet phldrT="[Texto]" custT="1"/>
      <dgm:spPr/>
      <dgm:t>
        <a:bodyPr/>
        <a:lstStyle/>
        <a:p>
          <a:r>
            <a:rPr lang="pt-BR" sz="1200" dirty="0" smtClean="0">
              <a:latin typeface="Gill Sans MT" pitchFamily="34" charset="0"/>
            </a:rPr>
            <a:t> Plataforma 2</a:t>
          </a:r>
          <a:endParaRPr lang="pt-BR" sz="1200" dirty="0">
            <a:latin typeface="Gill Sans MT" pitchFamily="34" charset="0"/>
          </a:endParaRPr>
        </a:p>
      </dgm:t>
    </dgm:pt>
    <dgm:pt modelId="{1DC7DD7D-AC98-4192-8E83-7A9C512BCE0D}" type="parTrans" cxnId="{05D16EC9-D7BB-4B7F-AB47-86B54DFB1D8B}">
      <dgm:prSet/>
      <dgm:spPr/>
      <dgm:t>
        <a:bodyPr/>
        <a:lstStyle/>
        <a:p>
          <a:endParaRPr lang="pt-BR" sz="1400">
            <a:latin typeface="Gill Sans MT" pitchFamily="34" charset="0"/>
          </a:endParaRPr>
        </a:p>
      </dgm:t>
    </dgm:pt>
    <dgm:pt modelId="{8A7848BD-ECB0-4D56-A7D4-17B40985D702}" type="sibTrans" cxnId="{05D16EC9-D7BB-4B7F-AB47-86B54DFB1D8B}">
      <dgm:prSet/>
      <dgm:spPr/>
      <dgm:t>
        <a:bodyPr/>
        <a:lstStyle/>
        <a:p>
          <a:endParaRPr lang="pt-BR" sz="1400">
            <a:latin typeface="Gill Sans MT" pitchFamily="34" charset="0"/>
          </a:endParaRPr>
        </a:p>
      </dgm:t>
    </dgm:pt>
    <dgm:pt modelId="{9B034ACD-2130-46B2-BA15-78CE0BA30A25}">
      <dgm:prSet phldrT="[Texto]" custT="1"/>
      <dgm:spPr/>
      <dgm:t>
        <a:bodyPr/>
        <a:lstStyle/>
        <a:p>
          <a:r>
            <a:rPr lang="pt-BR" sz="1200" dirty="0" smtClean="0">
              <a:latin typeface="Gill Sans MT" pitchFamily="34" charset="0"/>
            </a:rPr>
            <a:t>Arquitetura Corporativa</a:t>
          </a:r>
          <a:endParaRPr lang="pt-BR" sz="1200" dirty="0">
            <a:latin typeface="Gill Sans MT" pitchFamily="34" charset="0"/>
          </a:endParaRPr>
        </a:p>
      </dgm:t>
    </dgm:pt>
    <dgm:pt modelId="{1ECEC506-DC9E-4F8D-A8B0-7BC05F26B505}" type="parTrans" cxnId="{6F33075B-823C-460F-9C80-0D78326EDE82}">
      <dgm:prSet/>
      <dgm:spPr/>
      <dgm:t>
        <a:bodyPr/>
        <a:lstStyle/>
        <a:p>
          <a:endParaRPr lang="pt-BR" sz="1400">
            <a:latin typeface="Gill Sans MT" pitchFamily="34" charset="0"/>
          </a:endParaRPr>
        </a:p>
      </dgm:t>
    </dgm:pt>
    <dgm:pt modelId="{984A0FDF-8307-4FF5-B8DA-AB035851D30B}" type="sibTrans" cxnId="{6F33075B-823C-460F-9C80-0D78326EDE82}">
      <dgm:prSet/>
      <dgm:spPr/>
      <dgm:t>
        <a:bodyPr/>
        <a:lstStyle/>
        <a:p>
          <a:endParaRPr lang="pt-BR" sz="1400">
            <a:latin typeface="Gill Sans MT" pitchFamily="34" charset="0"/>
          </a:endParaRPr>
        </a:p>
      </dgm:t>
    </dgm:pt>
    <dgm:pt modelId="{5ACFD191-E245-4400-B511-7440730E6001}">
      <dgm:prSet phldrT="[Texto]" custT="1"/>
      <dgm:spPr/>
      <dgm:t>
        <a:bodyPr/>
        <a:lstStyle/>
        <a:p>
          <a:r>
            <a:rPr lang="pt-BR" sz="1200" dirty="0" smtClean="0">
              <a:latin typeface="Gill Sans MT" pitchFamily="34" charset="0"/>
            </a:rPr>
            <a:t>Arquitetura </a:t>
          </a:r>
          <a:r>
            <a:rPr lang="pt-BR" sz="1100" dirty="0" smtClean="0">
              <a:latin typeface="Gill Sans MT" pitchFamily="34" charset="0"/>
            </a:rPr>
            <a:t>Infraestrutura</a:t>
          </a:r>
          <a:endParaRPr lang="pt-BR" sz="1100" dirty="0">
            <a:latin typeface="Gill Sans MT" pitchFamily="34" charset="0"/>
          </a:endParaRPr>
        </a:p>
      </dgm:t>
    </dgm:pt>
    <dgm:pt modelId="{4547F1D4-0FA3-41E3-9188-02CD37470FFD}" type="parTrans" cxnId="{9534A3DA-BA2D-4F22-BD4F-3DAAA2A8C875}">
      <dgm:prSet/>
      <dgm:spPr/>
      <dgm:t>
        <a:bodyPr/>
        <a:lstStyle/>
        <a:p>
          <a:endParaRPr lang="pt-BR" sz="1400">
            <a:latin typeface="Gill Sans MT" pitchFamily="34" charset="0"/>
          </a:endParaRPr>
        </a:p>
      </dgm:t>
    </dgm:pt>
    <dgm:pt modelId="{E909BC75-A63B-4C43-9A0B-C1219B1C47B9}" type="sibTrans" cxnId="{9534A3DA-BA2D-4F22-BD4F-3DAAA2A8C875}">
      <dgm:prSet/>
      <dgm:spPr/>
      <dgm:t>
        <a:bodyPr/>
        <a:lstStyle/>
        <a:p>
          <a:endParaRPr lang="pt-BR" sz="1400">
            <a:latin typeface="Gill Sans MT" pitchFamily="34" charset="0"/>
          </a:endParaRPr>
        </a:p>
      </dgm:t>
    </dgm:pt>
    <dgm:pt modelId="{20984D1A-3616-49F2-BD28-8E6C54DE1211}">
      <dgm:prSet phldrT="[Texto]" custT="1"/>
      <dgm:spPr/>
      <dgm:t>
        <a:bodyPr/>
        <a:lstStyle/>
        <a:p>
          <a:r>
            <a:rPr lang="pt-BR" sz="1200" dirty="0" smtClean="0">
              <a:latin typeface="Gill Sans MT" pitchFamily="34" charset="0"/>
            </a:rPr>
            <a:t>Gerente do Projeto</a:t>
          </a:r>
          <a:endParaRPr lang="pt-BR" sz="1200" dirty="0">
            <a:latin typeface="Gill Sans MT" pitchFamily="34" charset="0"/>
          </a:endParaRPr>
        </a:p>
      </dgm:t>
    </dgm:pt>
    <dgm:pt modelId="{07BC9050-4CB4-47E2-9425-CD06756CF0CE}" type="parTrans" cxnId="{AE77A63E-1817-4002-B467-DE5CC6EEEC80}">
      <dgm:prSet/>
      <dgm:spPr/>
      <dgm:t>
        <a:bodyPr/>
        <a:lstStyle/>
        <a:p>
          <a:endParaRPr lang="pt-BR" sz="1400">
            <a:latin typeface="Gill Sans MT" pitchFamily="34" charset="0"/>
          </a:endParaRPr>
        </a:p>
      </dgm:t>
    </dgm:pt>
    <dgm:pt modelId="{2300E965-0910-49E1-86A5-BEFE579868CD}" type="sibTrans" cxnId="{AE77A63E-1817-4002-B467-DE5CC6EEEC80}">
      <dgm:prSet/>
      <dgm:spPr/>
      <dgm:t>
        <a:bodyPr/>
        <a:lstStyle/>
        <a:p>
          <a:endParaRPr lang="pt-BR" sz="1400">
            <a:latin typeface="Gill Sans MT" pitchFamily="34" charset="0"/>
          </a:endParaRPr>
        </a:p>
      </dgm:t>
    </dgm:pt>
    <dgm:pt modelId="{92A01E4D-7241-4E81-8ED2-72BD3E2E8848}">
      <dgm:prSet phldrT="[Texto]" custT="1"/>
      <dgm:spPr/>
      <dgm:t>
        <a:bodyPr/>
        <a:lstStyle/>
        <a:p>
          <a:r>
            <a:rPr lang="pt-BR" sz="1200" dirty="0" smtClean="0">
              <a:latin typeface="Gill Sans MT" pitchFamily="34" charset="0"/>
            </a:rPr>
            <a:t>Fornecedor 1</a:t>
          </a:r>
          <a:endParaRPr lang="pt-BR" sz="1200" dirty="0">
            <a:latin typeface="Gill Sans MT" pitchFamily="34" charset="0"/>
          </a:endParaRPr>
        </a:p>
      </dgm:t>
    </dgm:pt>
    <dgm:pt modelId="{DDA5AA25-646E-4446-953E-9641BA39FBB1}" type="parTrans" cxnId="{E694E8A4-AA0F-4425-B12F-B88487B72911}">
      <dgm:prSet/>
      <dgm:spPr/>
      <dgm:t>
        <a:bodyPr/>
        <a:lstStyle/>
        <a:p>
          <a:endParaRPr lang="pt-BR" sz="1400">
            <a:latin typeface="Gill Sans MT" pitchFamily="34" charset="0"/>
          </a:endParaRPr>
        </a:p>
      </dgm:t>
    </dgm:pt>
    <dgm:pt modelId="{4DD8F81A-BB6D-49BB-A276-FCA550DB30BB}" type="sibTrans" cxnId="{E694E8A4-AA0F-4425-B12F-B88487B72911}">
      <dgm:prSet/>
      <dgm:spPr/>
      <dgm:t>
        <a:bodyPr/>
        <a:lstStyle/>
        <a:p>
          <a:endParaRPr lang="pt-BR" sz="1400">
            <a:latin typeface="Gill Sans MT" pitchFamily="34" charset="0"/>
          </a:endParaRPr>
        </a:p>
      </dgm:t>
    </dgm:pt>
    <dgm:pt modelId="{640A8AD7-E2E2-42F7-BAA6-4207F893453F}">
      <dgm:prSet phldrT="[Texto]" custT="1"/>
      <dgm:spPr/>
      <dgm:t>
        <a:bodyPr/>
        <a:lstStyle/>
        <a:p>
          <a:r>
            <a:rPr lang="pt-BR" sz="1200" dirty="0" smtClean="0">
              <a:latin typeface="Gill Sans MT" pitchFamily="34" charset="0"/>
            </a:rPr>
            <a:t>Fornecedor 2</a:t>
          </a:r>
          <a:endParaRPr lang="pt-BR" sz="1200" dirty="0">
            <a:latin typeface="Gill Sans MT" pitchFamily="34" charset="0"/>
          </a:endParaRPr>
        </a:p>
      </dgm:t>
    </dgm:pt>
    <dgm:pt modelId="{91887E13-5E4E-4972-AC66-CCF7632F5193}" type="parTrans" cxnId="{F6C3E90A-0E7C-4BC5-9343-E3534487B845}">
      <dgm:prSet/>
      <dgm:spPr/>
      <dgm:t>
        <a:bodyPr/>
        <a:lstStyle/>
        <a:p>
          <a:endParaRPr lang="pt-BR" sz="1600">
            <a:latin typeface="Gill Sans MT" pitchFamily="34" charset="0"/>
          </a:endParaRPr>
        </a:p>
      </dgm:t>
    </dgm:pt>
    <dgm:pt modelId="{7CBA0A12-E27B-4D28-BC91-8BC9AF4BD366}" type="sibTrans" cxnId="{F6C3E90A-0E7C-4BC5-9343-E3534487B845}">
      <dgm:prSet/>
      <dgm:spPr/>
      <dgm:t>
        <a:bodyPr/>
        <a:lstStyle/>
        <a:p>
          <a:endParaRPr lang="pt-BR" sz="1600">
            <a:latin typeface="Gill Sans MT" pitchFamily="34" charset="0"/>
          </a:endParaRPr>
        </a:p>
      </dgm:t>
    </dgm:pt>
    <dgm:pt modelId="{48141CB1-7364-4ED7-8199-C42A250FF260}">
      <dgm:prSet phldrT="[Texto]" custT="1"/>
      <dgm:spPr/>
      <dgm:t>
        <a:bodyPr/>
        <a:lstStyle/>
        <a:p>
          <a:r>
            <a:rPr lang="pt-BR" sz="1200" dirty="0" smtClean="0">
              <a:latin typeface="Gill Sans MT" pitchFamily="34" charset="0"/>
            </a:rPr>
            <a:t>Plataforma 3</a:t>
          </a:r>
          <a:endParaRPr lang="pt-BR" sz="1200" dirty="0">
            <a:latin typeface="Gill Sans MT" pitchFamily="34" charset="0"/>
          </a:endParaRPr>
        </a:p>
      </dgm:t>
    </dgm:pt>
    <dgm:pt modelId="{D5740172-6AB1-4E91-9567-5558B8F8EA4E}" type="parTrans" cxnId="{CD49F9F7-9FE7-450B-8DE8-E598B1031266}">
      <dgm:prSet/>
      <dgm:spPr/>
      <dgm:t>
        <a:bodyPr/>
        <a:lstStyle/>
        <a:p>
          <a:endParaRPr lang="pt-BR" sz="1600">
            <a:latin typeface="Gill Sans MT" pitchFamily="34" charset="0"/>
          </a:endParaRPr>
        </a:p>
      </dgm:t>
    </dgm:pt>
    <dgm:pt modelId="{6D075477-09E1-4C67-A5D0-5C909537F14A}" type="sibTrans" cxnId="{CD49F9F7-9FE7-450B-8DE8-E598B1031266}">
      <dgm:prSet/>
      <dgm:spPr/>
      <dgm:t>
        <a:bodyPr/>
        <a:lstStyle/>
        <a:p>
          <a:endParaRPr lang="pt-BR" sz="1600">
            <a:latin typeface="Gill Sans MT" pitchFamily="34" charset="0"/>
          </a:endParaRPr>
        </a:p>
      </dgm:t>
    </dgm:pt>
    <dgm:pt modelId="{53891245-E0CD-482D-A5F2-C5FC92C50086}">
      <dgm:prSet phldrT="[Texto]" custT="1"/>
      <dgm:spPr/>
      <dgm:t>
        <a:bodyPr/>
        <a:lstStyle/>
        <a:p>
          <a:r>
            <a:rPr lang="pt-BR" sz="1200" dirty="0" smtClean="0">
              <a:latin typeface="Gill Sans MT" pitchFamily="34" charset="0"/>
            </a:rPr>
            <a:t>Fornecedor 3</a:t>
          </a:r>
          <a:endParaRPr lang="pt-BR" sz="1200" dirty="0">
            <a:latin typeface="Gill Sans MT" pitchFamily="34" charset="0"/>
          </a:endParaRPr>
        </a:p>
      </dgm:t>
    </dgm:pt>
    <dgm:pt modelId="{11DEA6EA-AFF2-4A28-9B29-BE475BD83E9C}" type="parTrans" cxnId="{77EDB9B6-1224-4DBE-BE0D-03EDC83AC6DC}">
      <dgm:prSet/>
      <dgm:spPr/>
      <dgm:t>
        <a:bodyPr/>
        <a:lstStyle/>
        <a:p>
          <a:endParaRPr lang="pt-BR" sz="1600">
            <a:latin typeface="Gill Sans MT" pitchFamily="34" charset="0"/>
          </a:endParaRPr>
        </a:p>
      </dgm:t>
    </dgm:pt>
    <dgm:pt modelId="{9341C0CD-6DF8-4972-B22B-2CB0E12DB093}" type="sibTrans" cxnId="{77EDB9B6-1224-4DBE-BE0D-03EDC83AC6DC}">
      <dgm:prSet/>
      <dgm:spPr/>
      <dgm:t>
        <a:bodyPr/>
        <a:lstStyle/>
        <a:p>
          <a:endParaRPr lang="pt-BR" sz="1600">
            <a:latin typeface="Gill Sans MT" pitchFamily="34" charset="0"/>
          </a:endParaRPr>
        </a:p>
      </dgm:t>
    </dgm:pt>
    <dgm:pt modelId="{CE98177A-D171-414A-B405-4BCAEDD1FFCE}" type="pres">
      <dgm:prSet presAssocID="{6862009B-980E-4922-A389-98CF45334A92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EC9AEDF5-9EFE-4550-AD39-3270ECFD0130}" type="pres">
      <dgm:prSet presAssocID="{6862009B-980E-4922-A389-98CF45334A92}" presName="radial" presStyleCnt="0">
        <dgm:presLayoutVars>
          <dgm:animLvl val="ctr"/>
        </dgm:presLayoutVars>
      </dgm:prSet>
      <dgm:spPr/>
      <dgm:t>
        <a:bodyPr/>
        <a:lstStyle/>
        <a:p>
          <a:endParaRPr lang="pt-BR"/>
        </a:p>
      </dgm:t>
    </dgm:pt>
    <dgm:pt modelId="{404FC3FA-6B37-41A2-A30B-1504C0D5FFFE}" type="pres">
      <dgm:prSet presAssocID="{763E2EA3-D81A-4AF6-9396-AD27B863F1E7}" presName="centerShape" presStyleLbl="vennNode1" presStyleIdx="0" presStyleCnt="11"/>
      <dgm:spPr/>
      <dgm:t>
        <a:bodyPr/>
        <a:lstStyle/>
        <a:p>
          <a:endParaRPr lang="pt-BR"/>
        </a:p>
      </dgm:t>
    </dgm:pt>
    <dgm:pt modelId="{691F9F07-575E-448D-B206-CDF91AFA6AF9}" type="pres">
      <dgm:prSet presAssocID="{20984D1A-3616-49F2-BD28-8E6C54DE1211}" presName="node" presStyleLbl="vennNode1" presStyleIdx="1" presStyleCnt="1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8F5EFF3-0071-4636-A4C6-322AA017965A}" type="pres">
      <dgm:prSet presAssocID="{93DEB9CC-FBC6-488B-A80B-5FA01E210A75}" presName="node" presStyleLbl="vennNode1" presStyleIdx="2" presStyleCnt="1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DD03E72-0627-4C4F-A4FF-C07C41CCDE6A}" type="pres">
      <dgm:prSet presAssocID="{3C54030D-AB84-4FC9-8B40-648AEF13655A}" presName="node" presStyleLbl="vennNode1" presStyleIdx="3" presStyleCnt="1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A0FCFBF-E20A-429E-9BD5-CA9C4319F1A1}" type="pres">
      <dgm:prSet presAssocID="{8640C82C-B554-4BE5-A252-4366FA2A63E0}" presName="node" presStyleLbl="vennNode1" presStyleIdx="4" presStyleCnt="1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A00AF09-B060-48A9-80B7-E4114E2D9124}" type="pres">
      <dgm:prSet presAssocID="{48141CB1-7364-4ED7-8199-C42A250FF260}" presName="node" presStyleLbl="vennNode1" presStyleIdx="5" presStyleCnt="1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1C448CB-C12E-4B5D-B5D3-740FB6970B66}" type="pres">
      <dgm:prSet presAssocID="{9B034ACD-2130-46B2-BA15-78CE0BA30A25}" presName="node" presStyleLbl="vennNode1" presStyleIdx="6" presStyleCnt="1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F1681CA-9955-4375-B462-877614233251}" type="pres">
      <dgm:prSet presAssocID="{5ACFD191-E245-4400-B511-7440730E6001}" presName="node" presStyleLbl="vennNode1" presStyleIdx="7" presStyleCnt="1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85374FB-D7E1-441F-8B49-77EE04D9E9DD}" type="pres">
      <dgm:prSet presAssocID="{92A01E4D-7241-4E81-8ED2-72BD3E2E8848}" presName="node" presStyleLbl="vennNode1" presStyleIdx="8" presStyleCnt="1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8F0662F-F4BD-484D-81C0-C160A3E6FE31}" type="pres">
      <dgm:prSet presAssocID="{640A8AD7-E2E2-42F7-BAA6-4207F893453F}" presName="node" presStyleLbl="vennNode1" presStyleIdx="9" presStyleCnt="1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CCC2F4F-EB35-4DB5-B85E-E39FC2C42C86}" type="pres">
      <dgm:prSet presAssocID="{53891245-E0CD-482D-A5F2-C5FC92C50086}" presName="node" presStyleLbl="vennNode1" presStyleIdx="10" presStyleCnt="1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E694E8A4-AA0F-4425-B12F-B88487B72911}" srcId="{763E2EA3-D81A-4AF6-9396-AD27B863F1E7}" destId="{92A01E4D-7241-4E81-8ED2-72BD3E2E8848}" srcOrd="7" destOrd="0" parTransId="{DDA5AA25-646E-4446-953E-9641BA39FBB1}" sibTransId="{4DD8F81A-BB6D-49BB-A276-FCA550DB30BB}"/>
    <dgm:cxn modelId="{05D16EC9-D7BB-4B7F-AB47-86B54DFB1D8B}" srcId="{763E2EA3-D81A-4AF6-9396-AD27B863F1E7}" destId="{8640C82C-B554-4BE5-A252-4366FA2A63E0}" srcOrd="3" destOrd="0" parTransId="{1DC7DD7D-AC98-4192-8E83-7A9C512BCE0D}" sibTransId="{8A7848BD-ECB0-4D56-A7D4-17B40985D702}"/>
    <dgm:cxn modelId="{EE704BEB-1439-4388-8DB0-CD030B72DE7A}" type="presOf" srcId="{93DEB9CC-FBC6-488B-A80B-5FA01E210A75}" destId="{58F5EFF3-0071-4636-A4C6-322AA017965A}" srcOrd="0" destOrd="0" presId="urn:microsoft.com/office/officeart/2005/8/layout/radial3"/>
    <dgm:cxn modelId="{9385B8F5-A41C-4A73-AA57-C2DF0CF52E4B}" srcId="{6862009B-980E-4922-A389-98CF45334A92}" destId="{763E2EA3-D81A-4AF6-9396-AD27B863F1E7}" srcOrd="0" destOrd="0" parTransId="{C57F7074-593C-4884-BF73-F90B008503E6}" sibTransId="{5420CE37-76C0-44B2-ABC9-A0FADEAAC2C1}"/>
    <dgm:cxn modelId="{F3469B2E-5B90-483B-9110-14E4C2E4B3A1}" type="presOf" srcId="{763E2EA3-D81A-4AF6-9396-AD27B863F1E7}" destId="{404FC3FA-6B37-41A2-A30B-1504C0D5FFFE}" srcOrd="0" destOrd="0" presId="urn:microsoft.com/office/officeart/2005/8/layout/radial3"/>
    <dgm:cxn modelId="{7FD1E503-211E-4C7B-AFDA-44064803CB07}" type="presOf" srcId="{53891245-E0CD-482D-A5F2-C5FC92C50086}" destId="{2CCC2F4F-EB35-4DB5-B85E-E39FC2C42C86}" srcOrd="0" destOrd="0" presId="urn:microsoft.com/office/officeart/2005/8/layout/radial3"/>
    <dgm:cxn modelId="{99D885CE-71B3-437B-8A79-69B3873B1F32}" srcId="{763E2EA3-D81A-4AF6-9396-AD27B863F1E7}" destId="{3C54030D-AB84-4FC9-8B40-648AEF13655A}" srcOrd="2" destOrd="0" parTransId="{DB8725FA-7A0F-4382-99DE-536102A087FB}" sibTransId="{412C45DC-4BBA-4B14-94D1-A80AF55F54CD}"/>
    <dgm:cxn modelId="{EA07EE60-569C-4D9D-9A26-DE73CCD508D4}" srcId="{763E2EA3-D81A-4AF6-9396-AD27B863F1E7}" destId="{93DEB9CC-FBC6-488B-A80B-5FA01E210A75}" srcOrd="1" destOrd="0" parTransId="{DECB078D-82FC-4014-AC04-22AC529E6955}" sibTransId="{023AFABE-2CC2-43F8-9FDF-7CE55A7CB20C}"/>
    <dgm:cxn modelId="{86E65148-DC0D-4E89-9B4D-436EC78E4E2C}" type="presOf" srcId="{5ACFD191-E245-4400-B511-7440730E6001}" destId="{2F1681CA-9955-4375-B462-877614233251}" srcOrd="0" destOrd="0" presId="urn:microsoft.com/office/officeart/2005/8/layout/radial3"/>
    <dgm:cxn modelId="{4CB4F4DD-8D99-4696-AE33-A63410EB29E2}" type="presOf" srcId="{48141CB1-7364-4ED7-8199-C42A250FF260}" destId="{7A00AF09-B060-48A9-80B7-E4114E2D9124}" srcOrd="0" destOrd="0" presId="urn:microsoft.com/office/officeart/2005/8/layout/radial3"/>
    <dgm:cxn modelId="{AE77A63E-1817-4002-B467-DE5CC6EEEC80}" srcId="{763E2EA3-D81A-4AF6-9396-AD27B863F1E7}" destId="{20984D1A-3616-49F2-BD28-8E6C54DE1211}" srcOrd="0" destOrd="0" parTransId="{07BC9050-4CB4-47E2-9425-CD06756CF0CE}" sibTransId="{2300E965-0910-49E1-86A5-BEFE579868CD}"/>
    <dgm:cxn modelId="{A3BC3DDB-3E45-41CD-96FD-3C2D72777B3D}" type="presOf" srcId="{3C54030D-AB84-4FC9-8B40-648AEF13655A}" destId="{7DD03E72-0627-4C4F-A4FF-C07C41CCDE6A}" srcOrd="0" destOrd="0" presId="urn:microsoft.com/office/officeart/2005/8/layout/radial3"/>
    <dgm:cxn modelId="{77EDB9B6-1224-4DBE-BE0D-03EDC83AC6DC}" srcId="{763E2EA3-D81A-4AF6-9396-AD27B863F1E7}" destId="{53891245-E0CD-482D-A5F2-C5FC92C50086}" srcOrd="9" destOrd="0" parTransId="{11DEA6EA-AFF2-4A28-9B29-BE475BD83E9C}" sibTransId="{9341C0CD-6DF8-4972-B22B-2CB0E12DB093}"/>
    <dgm:cxn modelId="{9534A3DA-BA2D-4F22-BD4F-3DAAA2A8C875}" srcId="{763E2EA3-D81A-4AF6-9396-AD27B863F1E7}" destId="{5ACFD191-E245-4400-B511-7440730E6001}" srcOrd="6" destOrd="0" parTransId="{4547F1D4-0FA3-41E3-9188-02CD37470FFD}" sibTransId="{E909BC75-A63B-4C43-9A0B-C1219B1C47B9}"/>
    <dgm:cxn modelId="{5F822D62-A358-47D9-8113-D4F724266E24}" type="presOf" srcId="{20984D1A-3616-49F2-BD28-8E6C54DE1211}" destId="{691F9F07-575E-448D-B206-CDF91AFA6AF9}" srcOrd="0" destOrd="0" presId="urn:microsoft.com/office/officeart/2005/8/layout/radial3"/>
    <dgm:cxn modelId="{804B0575-22BF-4FFC-895D-F483E7716388}" type="presOf" srcId="{92A01E4D-7241-4E81-8ED2-72BD3E2E8848}" destId="{085374FB-D7E1-441F-8B49-77EE04D9E9DD}" srcOrd="0" destOrd="0" presId="urn:microsoft.com/office/officeart/2005/8/layout/radial3"/>
    <dgm:cxn modelId="{9FC99EFF-98C4-40C3-8852-B2C1B8B5EFB0}" type="presOf" srcId="{6862009B-980E-4922-A389-98CF45334A92}" destId="{CE98177A-D171-414A-B405-4BCAEDD1FFCE}" srcOrd="0" destOrd="0" presId="urn:microsoft.com/office/officeart/2005/8/layout/radial3"/>
    <dgm:cxn modelId="{F6C3E90A-0E7C-4BC5-9343-E3534487B845}" srcId="{763E2EA3-D81A-4AF6-9396-AD27B863F1E7}" destId="{640A8AD7-E2E2-42F7-BAA6-4207F893453F}" srcOrd="8" destOrd="0" parTransId="{91887E13-5E4E-4972-AC66-CCF7632F5193}" sibTransId="{7CBA0A12-E27B-4D28-BC91-8BC9AF4BD366}"/>
    <dgm:cxn modelId="{34D1EE5B-AA65-4C12-8B08-3552B06C6A8A}" type="presOf" srcId="{640A8AD7-E2E2-42F7-BAA6-4207F893453F}" destId="{98F0662F-F4BD-484D-81C0-C160A3E6FE31}" srcOrd="0" destOrd="0" presId="urn:microsoft.com/office/officeart/2005/8/layout/radial3"/>
    <dgm:cxn modelId="{CD49F9F7-9FE7-450B-8DE8-E598B1031266}" srcId="{763E2EA3-D81A-4AF6-9396-AD27B863F1E7}" destId="{48141CB1-7364-4ED7-8199-C42A250FF260}" srcOrd="4" destOrd="0" parTransId="{D5740172-6AB1-4E91-9567-5558B8F8EA4E}" sibTransId="{6D075477-09E1-4C67-A5D0-5C909537F14A}"/>
    <dgm:cxn modelId="{F079F5F2-FB20-4D27-9599-D3C1CF39919B}" type="presOf" srcId="{8640C82C-B554-4BE5-A252-4366FA2A63E0}" destId="{0A0FCFBF-E20A-429E-9BD5-CA9C4319F1A1}" srcOrd="0" destOrd="0" presId="urn:microsoft.com/office/officeart/2005/8/layout/radial3"/>
    <dgm:cxn modelId="{6F33075B-823C-460F-9C80-0D78326EDE82}" srcId="{763E2EA3-D81A-4AF6-9396-AD27B863F1E7}" destId="{9B034ACD-2130-46B2-BA15-78CE0BA30A25}" srcOrd="5" destOrd="0" parTransId="{1ECEC506-DC9E-4F8D-A8B0-7BC05F26B505}" sibTransId="{984A0FDF-8307-4FF5-B8DA-AB035851D30B}"/>
    <dgm:cxn modelId="{A0FD0ED0-D548-4A0D-BDA4-817E3A59C407}" type="presOf" srcId="{9B034ACD-2130-46B2-BA15-78CE0BA30A25}" destId="{D1C448CB-C12E-4B5D-B5D3-740FB6970B66}" srcOrd="0" destOrd="0" presId="urn:microsoft.com/office/officeart/2005/8/layout/radial3"/>
    <dgm:cxn modelId="{604AA641-1F08-4F62-A7CF-8E748CE4ED33}" type="presParOf" srcId="{CE98177A-D171-414A-B405-4BCAEDD1FFCE}" destId="{EC9AEDF5-9EFE-4550-AD39-3270ECFD0130}" srcOrd="0" destOrd="0" presId="urn:microsoft.com/office/officeart/2005/8/layout/radial3"/>
    <dgm:cxn modelId="{A9947D73-990B-42AA-8248-6DA4357C41C3}" type="presParOf" srcId="{EC9AEDF5-9EFE-4550-AD39-3270ECFD0130}" destId="{404FC3FA-6B37-41A2-A30B-1504C0D5FFFE}" srcOrd="0" destOrd="0" presId="urn:microsoft.com/office/officeart/2005/8/layout/radial3"/>
    <dgm:cxn modelId="{DB85BB59-0C4C-415E-BF14-AD6E8046A34D}" type="presParOf" srcId="{EC9AEDF5-9EFE-4550-AD39-3270ECFD0130}" destId="{691F9F07-575E-448D-B206-CDF91AFA6AF9}" srcOrd="1" destOrd="0" presId="urn:microsoft.com/office/officeart/2005/8/layout/radial3"/>
    <dgm:cxn modelId="{533BF25F-F0FE-456B-AEDD-87C2A3F03313}" type="presParOf" srcId="{EC9AEDF5-9EFE-4550-AD39-3270ECFD0130}" destId="{58F5EFF3-0071-4636-A4C6-322AA017965A}" srcOrd="2" destOrd="0" presId="urn:microsoft.com/office/officeart/2005/8/layout/radial3"/>
    <dgm:cxn modelId="{9267F799-0343-4606-9409-E726A1648A4E}" type="presParOf" srcId="{EC9AEDF5-9EFE-4550-AD39-3270ECFD0130}" destId="{7DD03E72-0627-4C4F-A4FF-C07C41CCDE6A}" srcOrd="3" destOrd="0" presId="urn:microsoft.com/office/officeart/2005/8/layout/radial3"/>
    <dgm:cxn modelId="{97CF14DC-B352-49C6-8606-C1B916DC05C2}" type="presParOf" srcId="{EC9AEDF5-9EFE-4550-AD39-3270ECFD0130}" destId="{0A0FCFBF-E20A-429E-9BD5-CA9C4319F1A1}" srcOrd="4" destOrd="0" presId="urn:microsoft.com/office/officeart/2005/8/layout/radial3"/>
    <dgm:cxn modelId="{74E13B94-5198-44D9-B731-026FB3DF4860}" type="presParOf" srcId="{EC9AEDF5-9EFE-4550-AD39-3270ECFD0130}" destId="{7A00AF09-B060-48A9-80B7-E4114E2D9124}" srcOrd="5" destOrd="0" presId="urn:microsoft.com/office/officeart/2005/8/layout/radial3"/>
    <dgm:cxn modelId="{783F9909-2704-4A2F-8149-123D3FAB613F}" type="presParOf" srcId="{EC9AEDF5-9EFE-4550-AD39-3270ECFD0130}" destId="{D1C448CB-C12E-4B5D-B5D3-740FB6970B66}" srcOrd="6" destOrd="0" presId="urn:microsoft.com/office/officeart/2005/8/layout/radial3"/>
    <dgm:cxn modelId="{0E865D36-5213-4508-81EB-8ED93F23D325}" type="presParOf" srcId="{EC9AEDF5-9EFE-4550-AD39-3270ECFD0130}" destId="{2F1681CA-9955-4375-B462-877614233251}" srcOrd="7" destOrd="0" presId="urn:microsoft.com/office/officeart/2005/8/layout/radial3"/>
    <dgm:cxn modelId="{FD141591-71FC-4666-9F96-A6F03628AEC1}" type="presParOf" srcId="{EC9AEDF5-9EFE-4550-AD39-3270ECFD0130}" destId="{085374FB-D7E1-441F-8B49-77EE04D9E9DD}" srcOrd="8" destOrd="0" presId="urn:microsoft.com/office/officeart/2005/8/layout/radial3"/>
    <dgm:cxn modelId="{D913055C-8E23-47D3-9080-AA1452E53DAE}" type="presParOf" srcId="{EC9AEDF5-9EFE-4550-AD39-3270ECFD0130}" destId="{98F0662F-F4BD-484D-81C0-C160A3E6FE31}" srcOrd="9" destOrd="0" presId="urn:microsoft.com/office/officeart/2005/8/layout/radial3"/>
    <dgm:cxn modelId="{4FF3FB8B-71A2-498C-ADC8-0D3E3141F2BF}" type="presParOf" srcId="{EC9AEDF5-9EFE-4550-AD39-3270ECFD0130}" destId="{2CCC2F4F-EB35-4DB5-B85E-E39FC2C42C86}" srcOrd="10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F84FA42-CBA9-4DA4-B896-6B38B58492D3}" type="doc">
      <dgm:prSet loTypeId="urn:microsoft.com/office/officeart/2005/8/layout/hChevron3" loCatId="process" qsTypeId="urn:microsoft.com/office/officeart/2005/8/quickstyle/simple4" qsCatId="simple" csTypeId="urn:microsoft.com/office/officeart/2005/8/colors/accent1_4" csCatId="accent1" phldr="1"/>
      <dgm:spPr/>
    </dgm:pt>
    <dgm:pt modelId="{4733E8BC-4C32-4641-B415-006926B7C310}">
      <dgm:prSet phldrT="[Texto]"/>
      <dgm:spPr/>
      <dgm:t>
        <a:bodyPr/>
        <a:lstStyle/>
        <a:p>
          <a:r>
            <a:rPr lang="pt-BR" b="1" dirty="0" smtClean="0"/>
            <a:t>Segunda</a:t>
          </a:r>
          <a:endParaRPr lang="pt-BR" b="1" dirty="0"/>
        </a:p>
      </dgm:t>
    </dgm:pt>
    <dgm:pt modelId="{7855C668-A7F0-4311-BF6D-0D17907AA1E3}" type="parTrans" cxnId="{830F6771-B9EA-4683-B68E-245A01A818CF}">
      <dgm:prSet/>
      <dgm:spPr/>
      <dgm:t>
        <a:bodyPr/>
        <a:lstStyle/>
        <a:p>
          <a:endParaRPr lang="pt-BR" b="1"/>
        </a:p>
      </dgm:t>
    </dgm:pt>
    <dgm:pt modelId="{358552B1-A7F7-4104-A533-5EFF0F9AB94C}" type="sibTrans" cxnId="{830F6771-B9EA-4683-B68E-245A01A818CF}">
      <dgm:prSet/>
      <dgm:spPr/>
      <dgm:t>
        <a:bodyPr/>
        <a:lstStyle/>
        <a:p>
          <a:endParaRPr lang="pt-BR" b="1"/>
        </a:p>
      </dgm:t>
    </dgm:pt>
    <dgm:pt modelId="{7C3A44E2-3CEF-424D-9029-6FB0CF7294D3}">
      <dgm:prSet phldrT="[Texto]"/>
      <dgm:spPr/>
      <dgm:t>
        <a:bodyPr/>
        <a:lstStyle/>
        <a:p>
          <a:r>
            <a:rPr lang="pt-BR" b="1" dirty="0" smtClean="0"/>
            <a:t>Terça</a:t>
          </a:r>
          <a:endParaRPr lang="pt-BR" b="1" dirty="0"/>
        </a:p>
      </dgm:t>
    </dgm:pt>
    <dgm:pt modelId="{911BDF0D-1EE8-437E-8B1A-B6167C9963FF}" type="parTrans" cxnId="{3DDDB301-C023-4F1F-B1A6-00CD5E650B76}">
      <dgm:prSet/>
      <dgm:spPr/>
      <dgm:t>
        <a:bodyPr/>
        <a:lstStyle/>
        <a:p>
          <a:endParaRPr lang="pt-BR" b="1"/>
        </a:p>
      </dgm:t>
    </dgm:pt>
    <dgm:pt modelId="{D8252E33-B9B2-4B15-A739-4B681D3BF1A3}" type="sibTrans" cxnId="{3DDDB301-C023-4F1F-B1A6-00CD5E650B76}">
      <dgm:prSet/>
      <dgm:spPr/>
      <dgm:t>
        <a:bodyPr/>
        <a:lstStyle/>
        <a:p>
          <a:endParaRPr lang="pt-BR" b="1"/>
        </a:p>
      </dgm:t>
    </dgm:pt>
    <dgm:pt modelId="{80781642-CD09-4157-B09A-C97A93F046EA}">
      <dgm:prSet phldrT="[Texto]"/>
      <dgm:spPr/>
      <dgm:t>
        <a:bodyPr/>
        <a:lstStyle/>
        <a:p>
          <a:r>
            <a:rPr lang="pt-BR" b="1" dirty="0" smtClean="0"/>
            <a:t>Quarta</a:t>
          </a:r>
          <a:endParaRPr lang="pt-BR" b="1" dirty="0"/>
        </a:p>
      </dgm:t>
    </dgm:pt>
    <dgm:pt modelId="{C7EB6E08-A95D-437B-9E0F-3EA6D53CA8E8}" type="parTrans" cxnId="{CBE1BF0A-739B-41DF-8CBF-93AA9C654098}">
      <dgm:prSet/>
      <dgm:spPr/>
      <dgm:t>
        <a:bodyPr/>
        <a:lstStyle/>
        <a:p>
          <a:endParaRPr lang="pt-BR" b="1"/>
        </a:p>
      </dgm:t>
    </dgm:pt>
    <dgm:pt modelId="{A33A28D5-8F84-4B13-B586-A8772BCB3048}" type="sibTrans" cxnId="{CBE1BF0A-739B-41DF-8CBF-93AA9C654098}">
      <dgm:prSet/>
      <dgm:spPr/>
      <dgm:t>
        <a:bodyPr/>
        <a:lstStyle/>
        <a:p>
          <a:endParaRPr lang="pt-BR" b="1"/>
        </a:p>
      </dgm:t>
    </dgm:pt>
    <dgm:pt modelId="{FF883791-D83A-4C91-AE54-3DAB3644FBE1}">
      <dgm:prSet phldrT="[Texto]"/>
      <dgm:spPr/>
      <dgm:t>
        <a:bodyPr/>
        <a:lstStyle/>
        <a:p>
          <a:r>
            <a:rPr lang="pt-BR" b="1" dirty="0" smtClean="0"/>
            <a:t>Quinta</a:t>
          </a:r>
          <a:endParaRPr lang="pt-BR" b="1" dirty="0"/>
        </a:p>
      </dgm:t>
    </dgm:pt>
    <dgm:pt modelId="{DEB62979-9E24-4E14-98A0-2ECDFABDCB77}" type="parTrans" cxnId="{320061B9-56F1-44AC-B4C0-1D952C11C298}">
      <dgm:prSet/>
      <dgm:spPr/>
      <dgm:t>
        <a:bodyPr/>
        <a:lstStyle/>
        <a:p>
          <a:endParaRPr lang="pt-BR" b="1"/>
        </a:p>
      </dgm:t>
    </dgm:pt>
    <dgm:pt modelId="{48FC6055-CA78-4B03-A7DD-A1C7ADED31D7}" type="sibTrans" cxnId="{320061B9-56F1-44AC-B4C0-1D952C11C298}">
      <dgm:prSet/>
      <dgm:spPr/>
      <dgm:t>
        <a:bodyPr/>
        <a:lstStyle/>
        <a:p>
          <a:endParaRPr lang="pt-BR" b="1"/>
        </a:p>
      </dgm:t>
    </dgm:pt>
    <dgm:pt modelId="{F9264118-81DF-4ABD-8603-5729AAA2E44E}">
      <dgm:prSet phldrT="[Texto]"/>
      <dgm:spPr/>
      <dgm:t>
        <a:bodyPr/>
        <a:lstStyle/>
        <a:p>
          <a:r>
            <a:rPr lang="pt-BR" b="1" dirty="0" smtClean="0"/>
            <a:t>Sexta</a:t>
          </a:r>
          <a:endParaRPr lang="pt-BR" b="1" dirty="0"/>
        </a:p>
      </dgm:t>
    </dgm:pt>
    <dgm:pt modelId="{C29A40DC-C1B3-460C-8E6F-1E7DEBB3303B}" type="parTrans" cxnId="{A955FE83-8252-4998-A0FA-659AB3C158B4}">
      <dgm:prSet/>
      <dgm:spPr/>
      <dgm:t>
        <a:bodyPr/>
        <a:lstStyle/>
        <a:p>
          <a:endParaRPr lang="pt-BR" b="1"/>
        </a:p>
      </dgm:t>
    </dgm:pt>
    <dgm:pt modelId="{810695BA-8296-4496-965E-4CA43B490F14}" type="sibTrans" cxnId="{A955FE83-8252-4998-A0FA-659AB3C158B4}">
      <dgm:prSet/>
      <dgm:spPr/>
      <dgm:t>
        <a:bodyPr/>
        <a:lstStyle/>
        <a:p>
          <a:endParaRPr lang="pt-BR" b="1"/>
        </a:p>
      </dgm:t>
    </dgm:pt>
    <dgm:pt modelId="{3EB3003A-04E0-4216-B0C4-C4ACC67B577E}" type="pres">
      <dgm:prSet presAssocID="{BF84FA42-CBA9-4DA4-B896-6B38B58492D3}" presName="Name0" presStyleCnt="0">
        <dgm:presLayoutVars>
          <dgm:dir/>
          <dgm:resizeHandles val="exact"/>
        </dgm:presLayoutVars>
      </dgm:prSet>
      <dgm:spPr/>
    </dgm:pt>
    <dgm:pt modelId="{5BDD67D2-DB0C-463B-A298-8C1D43FDD5CC}" type="pres">
      <dgm:prSet presAssocID="{4733E8BC-4C32-4641-B415-006926B7C310}" presName="parTxOnly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2782D86-A865-476C-A2F4-F204171D3CEF}" type="pres">
      <dgm:prSet presAssocID="{358552B1-A7F7-4104-A533-5EFF0F9AB94C}" presName="parSpace" presStyleCnt="0"/>
      <dgm:spPr/>
    </dgm:pt>
    <dgm:pt modelId="{8AA24F0F-1E52-4E1F-8A8A-11881EBAC3C7}" type="pres">
      <dgm:prSet presAssocID="{7C3A44E2-3CEF-424D-9029-6FB0CF7294D3}" presName="parTxOnly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1832F2F-CBD4-4F46-84F9-E84D38A64D50}" type="pres">
      <dgm:prSet presAssocID="{D8252E33-B9B2-4B15-A739-4B681D3BF1A3}" presName="parSpace" presStyleCnt="0"/>
      <dgm:spPr/>
    </dgm:pt>
    <dgm:pt modelId="{E0E00450-DC78-4331-8645-E253643C57EF}" type="pres">
      <dgm:prSet presAssocID="{80781642-CD09-4157-B09A-C97A93F046EA}" presName="parTxOnly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81655BC-8F83-46B6-9489-3B93F8FB5427}" type="pres">
      <dgm:prSet presAssocID="{A33A28D5-8F84-4B13-B586-A8772BCB3048}" presName="parSpace" presStyleCnt="0"/>
      <dgm:spPr/>
    </dgm:pt>
    <dgm:pt modelId="{45A5D9A1-5D23-41DB-9CFC-09C690AFCA6A}" type="pres">
      <dgm:prSet presAssocID="{FF883791-D83A-4C91-AE54-3DAB3644FBE1}" presName="parTxOnly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38D5C61-87A5-4C76-87E1-4C3073ED3AEC}" type="pres">
      <dgm:prSet presAssocID="{48FC6055-CA78-4B03-A7DD-A1C7ADED31D7}" presName="parSpace" presStyleCnt="0"/>
      <dgm:spPr/>
    </dgm:pt>
    <dgm:pt modelId="{AFC11CB6-1124-445D-B11C-BAA282FA497E}" type="pres">
      <dgm:prSet presAssocID="{F9264118-81DF-4ABD-8603-5729AAA2E44E}" presName="parTxOnly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27952F9B-3F3F-489B-A9EE-A48A66EF202B}" type="presOf" srcId="{4733E8BC-4C32-4641-B415-006926B7C310}" destId="{5BDD67D2-DB0C-463B-A298-8C1D43FDD5CC}" srcOrd="0" destOrd="0" presId="urn:microsoft.com/office/officeart/2005/8/layout/hChevron3"/>
    <dgm:cxn modelId="{5F35E954-F9D7-4BE2-84F3-F3077122DB7F}" type="presOf" srcId="{BF84FA42-CBA9-4DA4-B896-6B38B58492D3}" destId="{3EB3003A-04E0-4216-B0C4-C4ACC67B577E}" srcOrd="0" destOrd="0" presId="urn:microsoft.com/office/officeart/2005/8/layout/hChevron3"/>
    <dgm:cxn modelId="{1524CF45-59A5-43FC-88E1-3D6EE27044DB}" type="presOf" srcId="{FF883791-D83A-4C91-AE54-3DAB3644FBE1}" destId="{45A5D9A1-5D23-41DB-9CFC-09C690AFCA6A}" srcOrd="0" destOrd="0" presId="urn:microsoft.com/office/officeart/2005/8/layout/hChevron3"/>
    <dgm:cxn modelId="{0AC722E7-6005-42F1-A452-69C01E72B21A}" type="presOf" srcId="{7C3A44E2-3CEF-424D-9029-6FB0CF7294D3}" destId="{8AA24F0F-1E52-4E1F-8A8A-11881EBAC3C7}" srcOrd="0" destOrd="0" presId="urn:microsoft.com/office/officeart/2005/8/layout/hChevron3"/>
    <dgm:cxn modelId="{320061B9-56F1-44AC-B4C0-1D952C11C298}" srcId="{BF84FA42-CBA9-4DA4-B896-6B38B58492D3}" destId="{FF883791-D83A-4C91-AE54-3DAB3644FBE1}" srcOrd="3" destOrd="0" parTransId="{DEB62979-9E24-4E14-98A0-2ECDFABDCB77}" sibTransId="{48FC6055-CA78-4B03-A7DD-A1C7ADED31D7}"/>
    <dgm:cxn modelId="{CBE1BF0A-739B-41DF-8CBF-93AA9C654098}" srcId="{BF84FA42-CBA9-4DA4-B896-6B38B58492D3}" destId="{80781642-CD09-4157-B09A-C97A93F046EA}" srcOrd="2" destOrd="0" parTransId="{C7EB6E08-A95D-437B-9E0F-3EA6D53CA8E8}" sibTransId="{A33A28D5-8F84-4B13-B586-A8772BCB3048}"/>
    <dgm:cxn modelId="{B7ECAA97-2258-4713-8318-03118EAE36D4}" type="presOf" srcId="{80781642-CD09-4157-B09A-C97A93F046EA}" destId="{E0E00450-DC78-4331-8645-E253643C57EF}" srcOrd="0" destOrd="0" presId="urn:microsoft.com/office/officeart/2005/8/layout/hChevron3"/>
    <dgm:cxn modelId="{A955FE83-8252-4998-A0FA-659AB3C158B4}" srcId="{BF84FA42-CBA9-4DA4-B896-6B38B58492D3}" destId="{F9264118-81DF-4ABD-8603-5729AAA2E44E}" srcOrd="4" destOrd="0" parTransId="{C29A40DC-C1B3-460C-8E6F-1E7DEBB3303B}" sibTransId="{810695BA-8296-4496-965E-4CA43B490F14}"/>
    <dgm:cxn modelId="{830F6771-B9EA-4683-B68E-245A01A818CF}" srcId="{BF84FA42-CBA9-4DA4-B896-6B38B58492D3}" destId="{4733E8BC-4C32-4641-B415-006926B7C310}" srcOrd="0" destOrd="0" parTransId="{7855C668-A7F0-4311-BF6D-0D17907AA1E3}" sibTransId="{358552B1-A7F7-4104-A533-5EFF0F9AB94C}"/>
    <dgm:cxn modelId="{6CDE29B7-39C0-4CE9-BC3C-E5D0C7515E8C}" type="presOf" srcId="{F9264118-81DF-4ABD-8603-5729AAA2E44E}" destId="{AFC11CB6-1124-445D-B11C-BAA282FA497E}" srcOrd="0" destOrd="0" presId="urn:microsoft.com/office/officeart/2005/8/layout/hChevron3"/>
    <dgm:cxn modelId="{3DDDB301-C023-4F1F-B1A6-00CD5E650B76}" srcId="{BF84FA42-CBA9-4DA4-B896-6B38B58492D3}" destId="{7C3A44E2-3CEF-424D-9029-6FB0CF7294D3}" srcOrd="1" destOrd="0" parTransId="{911BDF0D-1EE8-437E-8B1A-B6167C9963FF}" sibTransId="{D8252E33-B9B2-4B15-A739-4B681D3BF1A3}"/>
    <dgm:cxn modelId="{6967D29D-ED35-433F-B0C6-1F9350D2B19A}" type="presParOf" srcId="{3EB3003A-04E0-4216-B0C4-C4ACC67B577E}" destId="{5BDD67D2-DB0C-463B-A298-8C1D43FDD5CC}" srcOrd="0" destOrd="0" presId="urn:microsoft.com/office/officeart/2005/8/layout/hChevron3"/>
    <dgm:cxn modelId="{59D8A2C3-A299-4B52-998A-7087929045D6}" type="presParOf" srcId="{3EB3003A-04E0-4216-B0C4-C4ACC67B577E}" destId="{32782D86-A865-476C-A2F4-F204171D3CEF}" srcOrd="1" destOrd="0" presId="urn:microsoft.com/office/officeart/2005/8/layout/hChevron3"/>
    <dgm:cxn modelId="{FF6913F1-890F-4D4B-A0B3-92A54618975A}" type="presParOf" srcId="{3EB3003A-04E0-4216-B0C4-C4ACC67B577E}" destId="{8AA24F0F-1E52-4E1F-8A8A-11881EBAC3C7}" srcOrd="2" destOrd="0" presId="urn:microsoft.com/office/officeart/2005/8/layout/hChevron3"/>
    <dgm:cxn modelId="{4F5F8E35-2FFC-4DBA-B6B4-01270AA22550}" type="presParOf" srcId="{3EB3003A-04E0-4216-B0C4-C4ACC67B577E}" destId="{71832F2F-CBD4-4F46-84F9-E84D38A64D50}" srcOrd="3" destOrd="0" presId="urn:microsoft.com/office/officeart/2005/8/layout/hChevron3"/>
    <dgm:cxn modelId="{5A7BEEBB-1E40-4235-9567-4C276D5F4CD0}" type="presParOf" srcId="{3EB3003A-04E0-4216-B0C4-C4ACC67B577E}" destId="{E0E00450-DC78-4331-8645-E253643C57EF}" srcOrd="4" destOrd="0" presId="urn:microsoft.com/office/officeart/2005/8/layout/hChevron3"/>
    <dgm:cxn modelId="{99729FC4-E2CF-4527-97F6-9D1BFE690DC7}" type="presParOf" srcId="{3EB3003A-04E0-4216-B0C4-C4ACC67B577E}" destId="{D81655BC-8F83-46B6-9489-3B93F8FB5427}" srcOrd="5" destOrd="0" presId="urn:microsoft.com/office/officeart/2005/8/layout/hChevron3"/>
    <dgm:cxn modelId="{560C7563-3DA6-4941-BD75-8EC50654D614}" type="presParOf" srcId="{3EB3003A-04E0-4216-B0C4-C4ACC67B577E}" destId="{45A5D9A1-5D23-41DB-9CFC-09C690AFCA6A}" srcOrd="6" destOrd="0" presId="urn:microsoft.com/office/officeart/2005/8/layout/hChevron3"/>
    <dgm:cxn modelId="{C14825F6-C523-48F2-AA45-4B1ECC7385A0}" type="presParOf" srcId="{3EB3003A-04E0-4216-B0C4-C4ACC67B577E}" destId="{438D5C61-87A5-4C76-87E1-4C3073ED3AEC}" srcOrd="7" destOrd="0" presId="urn:microsoft.com/office/officeart/2005/8/layout/hChevron3"/>
    <dgm:cxn modelId="{E772B16D-62F1-4C3C-84FF-376B57BCCA08}" type="presParOf" srcId="{3EB3003A-04E0-4216-B0C4-C4ACC67B577E}" destId="{AFC11CB6-1124-445D-B11C-BAA282FA497E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1DCED8-E706-4E44-9BD2-5062E8398E27}">
      <dsp:nvSpPr>
        <dsp:cNvPr id="0" name=""/>
        <dsp:cNvSpPr/>
      </dsp:nvSpPr>
      <dsp:spPr>
        <a:xfrm>
          <a:off x="644696" y="0"/>
          <a:ext cx="7306561" cy="4064000"/>
        </a:xfrm>
        <a:prstGeom prst="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DC334E-8FB5-4D7D-B547-C7DBD956DB7F}">
      <dsp:nvSpPr>
        <dsp:cNvPr id="0" name=""/>
        <dsp:cNvSpPr/>
      </dsp:nvSpPr>
      <dsp:spPr>
        <a:xfrm>
          <a:off x="2360" y="1219199"/>
          <a:ext cx="1374597" cy="16256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Revisão do Processo</a:t>
          </a:r>
          <a:endParaRPr lang="pt-BR" sz="1400" kern="1200" dirty="0"/>
        </a:p>
      </dsp:txBody>
      <dsp:txXfrm>
        <a:off x="69462" y="1286301"/>
        <a:ext cx="1240393" cy="1491396"/>
      </dsp:txXfrm>
    </dsp:sp>
    <dsp:sp modelId="{7CBAD77C-4711-4895-A672-82BE29D6C485}">
      <dsp:nvSpPr>
        <dsp:cNvPr id="0" name=""/>
        <dsp:cNvSpPr/>
      </dsp:nvSpPr>
      <dsp:spPr>
        <a:xfrm>
          <a:off x="1445688" y="1219199"/>
          <a:ext cx="1374597" cy="1625600"/>
        </a:xfrm>
        <a:prstGeom prst="roundRect">
          <a:avLst/>
        </a:prstGeom>
        <a:solidFill>
          <a:schemeClr val="accent4">
            <a:hueOff val="-892954"/>
            <a:satOff val="5380"/>
            <a:lumOff val="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Detalhamento das Etapas</a:t>
          </a:r>
          <a:endParaRPr lang="pt-BR" sz="1400" kern="1200" dirty="0"/>
        </a:p>
      </dsp:txBody>
      <dsp:txXfrm>
        <a:off x="1512790" y="1286301"/>
        <a:ext cx="1240393" cy="1491396"/>
      </dsp:txXfrm>
    </dsp:sp>
    <dsp:sp modelId="{6A5CA203-57A8-4716-9467-B1C8723F90CF}">
      <dsp:nvSpPr>
        <dsp:cNvPr id="0" name=""/>
        <dsp:cNvSpPr/>
      </dsp:nvSpPr>
      <dsp:spPr>
        <a:xfrm>
          <a:off x="2889015" y="1219199"/>
          <a:ext cx="1374597" cy="1625600"/>
        </a:xfrm>
        <a:prstGeom prst="roundRect">
          <a:avLst/>
        </a:prstGeom>
        <a:solidFill>
          <a:schemeClr val="accent4">
            <a:hueOff val="-1785908"/>
            <a:satOff val="10760"/>
            <a:lumOff val="86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Seleção de Ferramenta</a:t>
          </a:r>
          <a:endParaRPr lang="pt-BR" sz="1400" kern="1200" dirty="0"/>
        </a:p>
      </dsp:txBody>
      <dsp:txXfrm>
        <a:off x="2956117" y="1286301"/>
        <a:ext cx="1240393" cy="1491396"/>
      </dsp:txXfrm>
    </dsp:sp>
    <dsp:sp modelId="{00AF47E0-622D-435D-BB37-AA62C6D913D3}">
      <dsp:nvSpPr>
        <dsp:cNvPr id="0" name=""/>
        <dsp:cNvSpPr/>
      </dsp:nvSpPr>
      <dsp:spPr>
        <a:xfrm>
          <a:off x="4332342" y="1219199"/>
          <a:ext cx="1374597" cy="1625600"/>
        </a:xfrm>
        <a:prstGeom prst="roundRect">
          <a:avLst/>
        </a:prstGeom>
        <a:solidFill>
          <a:schemeClr val="accent4">
            <a:hueOff val="-2678862"/>
            <a:satOff val="16139"/>
            <a:lumOff val="129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Configuração da Ferramenta</a:t>
          </a:r>
          <a:endParaRPr lang="pt-BR" sz="1400" kern="1200" dirty="0"/>
        </a:p>
      </dsp:txBody>
      <dsp:txXfrm>
        <a:off x="4399444" y="1286301"/>
        <a:ext cx="1240393" cy="1491396"/>
      </dsp:txXfrm>
    </dsp:sp>
    <dsp:sp modelId="{30AD0969-DF00-41D0-8A48-403F5FC87A68}">
      <dsp:nvSpPr>
        <dsp:cNvPr id="0" name=""/>
        <dsp:cNvSpPr/>
      </dsp:nvSpPr>
      <dsp:spPr>
        <a:xfrm>
          <a:off x="5775669" y="1219199"/>
          <a:ext cx="1374597" cy="1625600"/>
        </a:xfrm>
        <a:prstGeom prst="roundRect">
          <a:avLst/>
        </a:prstGeom>
        <a:solidFill>
          <a:schemeClr val="accent4">
            <a:hueOff val="-3571816"/>
            <a:satOff val="21519"/>
            <a:lumOff val="172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Treinamento dos Times</a:t>
          </a:r>
          <a:endParaRPr lang="pt-BR" sz="1400" kern="1200" dirty="0"/>
        </a:p>
      </dsp:txBody>
      <dsp:txXfrm>
        <a:off x="5842771" y="1286301"/>
        <a:ext cx="1240393" cy="1491396"/>
      </dsp:txXfrm>
    </dsp:sp>
    <dsp:sp modelId="{715663FE-76C0-46D1-86C5-B11510ADA03C}">
      <dsp:nvSpPr>
        <dsp:cNvPr id="0" name=""/>
        <dsp:cNvSpPr/>
      </dsp:nvSpPr>
      <dsp:spPr>
        <a:xfrm>
          <a:off x="7218996" y="1219199"/>
          <a:ext cx="1374597" cy="1625600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Piloto da Ferramenta em TD</a:t>
          </a:r>
          <a:endParaRPr lang="pt-BR" sz="1400" kern="1200" dirty="0"/>
        </a:p>
      </dsp:txBody>
      <dsp:txXfrm>
        <a:off x="7286098" y="1286301"/>
        <a:ext cx="1240393" cy="14913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A136F7-3EC3-4F47-AD46-8DA889DC2ED2}">
      <dsp:nvSpPr>
        <dsp:cNvPr id="0" name=""/>
        <dsp:cNvSpPr/>
      </dsp:nvSpPr>
      <dsp:spPr>
        <a:xfrm rot="16200000">
          <a:off x="-639826" y="643307"/>
          <a:ext cx="2662070" cy="1375454"/>
        </a:xfrm>
        <a:prstGeom prst="flowChartManualOperati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4758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Visão Geral do Clarity</a:t>
          </a:r>
          <a:endParaRPr lang="pt-BR" sz="1600" kern="1200" dirty="0"/>
        </a:p>
      </dsp:txBody>
      <dsp:txXfrm rot="5400000">
        <a:off x="3482" y="532413"/>
        <a:ext cx="1375454" cy="1597242"/>
      </dsp:txXfrm>
    </dsp:sp>
    <dsp:sp modelId="{512345BE-E8EA-4462-BC26-E56359841C66}">
      <dsp:nvSpPr>
        <dsp:cNvPr id="0" name=""/>
        <dsp:cNvSpPr/>
      </dsp:nvSpPr>
      <dsp:spPr>
        <a:xfrm rot="16200000">
          <a:off x="838786" y="643307"/>
          <a:ext cx="2662070" cy="1375454"/>
        </a:xfrm>
        <a:prstGeom prst="flowChartManualOperation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4758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O Processo de Gestão de Demandas</a:t>
          </a:r>
          <a:endParaRPr lang="pt-BR" sz="1600" kern="1200" dirty="0"/>
        </a:p>
      </dsp:txBody>
      <dsp:txXfrm rot="5400000">
        <a:off x="1482094" y="532413"/>
        <a:ext cx="1375454" cy="1597242"/>
      </dsp:txXfrm>
    </dsp:sp>
    <dsp:sp modelId="{96B1E4DE-32F4-4EBC-8292-CA1C20CDE8E7}">
      <dsp:nvSpPr>
        <dsp:cNvPr id="0" name=""/>
        <dsp:cNvSpPr/>
      </dsp:nvSpPr>
      <dsp:spPr>
        <a:xfrm rot="16200000">
          <a:off x="2317400" y="643307"/>
          <a:ext cx="2662070" cy="1375454"/>
        </a:xfrm>
        <a:prstGeom prst="flowChartManualOperation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4758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Etapas</a:t>
          </a:r>
          <a:endParaRPr lang="pt-BR" sz="1600" kern="1200" dirty="0"/>
        </a:p>
      </dsp:txBody>
      <dsp:txXfrm rot="5400000">
        <a:off x="2960708" y="532413"/>
        <a:ext cx="1375454" cy="1597242"/>
      </dsp:txXfrm>
    </dsp:sp>
    <dsp:sp modelId="{4B9ABB1A-C96F-40C7-9074-371270EE7C98}">
      <dsp:nvSpPr>
        <dsp:cNvPr id="0" name=""/>
        <dsp:cNvSpPr/>
      </dsp:nvSpPr>
      <dsp:spPr>
        <a:xfrm rot="16200000">
          <a:off x="3796013" y="643307"/>
          <a:ext cx="2662070" cy="1375454"/>
        </a:xfrm>
        <a:prstGeom prst="flowChartManualOperation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4758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Fluxo</a:t>
          </a:r>
          <a:endParaRPr lang="pt-BR" sz="1600" kern="1200" dirty="0"/>
        </a:p>
      </dsp:txBody>
      <dsp:txXfrm rot="5400000">
        <a:off x="4439321" y="532413"/>
        <a:ext cx="1375454" cy="1597242"/>
      </dsp:txXfrm>
    </dsp:sp>
    <dsp:sp modelId="{BA2BB3A1-5A48-45AD-8398-952CB94BD103}">
      <dsp:nvSpPr>
        <dsp:cNvPr id="0" name=""/>
        <dsp:cNvSpPr/>
      </dsp:nvSpPr>
      <dsp:spPr>
        <a:xfrm rot="16200000">
          <a:off x="5274627" y="643307"/>
          <a:ext cx="2662070" cy="1375454"/>
        </a:xfrm>
        <a:prstGeom prst="flowChartManualOperation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4758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Documentos</a:t>
          </a:r>
          <a:endParaRPr lang="pt-BR" sz="1600" kern="1200" dirty="0"/>
        </a:p>
      </dsp:txBody>
      <dsp:txXfrm rot="5400000">
        <a:off x="5917935" y="532413"/>
        <a:ext cx="1375454" cy="1597242"/>
      </dsp:txXfrm>
    </dsp:sp>
    <dsp:sp modelId="{7EDD76D6-9DE0-4FF0-A1CF-CCAC082FF432}">
      <dsp:nvSpPr>
        <dsp:cNvPr id="0" name=""/>
        <dsp:cNvSpPr/>
      </dsp:nvSpPr>
      <dsp:spPr>
        <a:xfrm rot="16200000">
          <a:off x="6753240" y="643307"/>
          <a:ext cx="2662070" cy="1375454"/>
        </a:xfrm>
        <a:prstGeom prst="flowChartManualOperation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4758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Como fazer na Ferramenta</a:t>
          </a:r>
          <a:endParaRPr lang="pt-BR" sz="1600" kern="1200" dirty="0"/>
        </a:p>
      </dsp:txBody>
      <dsp:txXfrm rot="5400000">
        <a:off x="7396548" y="532413"/>
        <a:ext cx="1375454" cy="15972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5078F8-CB1B-47D0-9DE0-CCD32A33C64A}">
      <dsp:nvSpPr>
        <dsp:cNvPr id="0" name=""/>
        <dsp:cNvSpPr/>
      </dsp:nvSpPr>
      <dsp:spPr>
        <a:xfrm>
          <a:off x="1094438" y="1781503"/>
          <a:ext cx="444093" cy="8462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2046" y="0"/>
              </a:lnTo>
              <a:lnTo>
                <a:pt x="222046" y="846213"/>
              </a:lnTo>
              <a:lnTo>
                <a:pt x="444093" y="846213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>
        <a:off x="1292593" y="2180718"/>
        <a:ext cx="47783" cy="47783"/>
      </dsp:txXfrm>
    </dsp:sp>
    <dsp:sp modelId="{EEF313FE-9600-45D1-9FA5-F50BA2FF9DA6}">
      <dsp:nvSpPr>
        <dsp:cNvPr id="0" name=""/>
        <dsp:cNvSpPr/>
      </dsp:nvSpPr>
      <dsp:spPr>
        <a:xfrm>
          <a:off x="1094438" y="1735783"/>
          <a:ext cx="444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4093" y="4572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>
        <a:off x="1305382" y="1770400"/>
        <a:ext cx="22204" cy="22204"/>
      </dsp:txXfrm>
    </dsp:sp>
    <dsp:sp modelId="{9108EA65-535B-4957-954F-DA57F3F9B904}">
      <dsp:nvSpPr>
        <dsp:cNvPr id="0" name=""/>
        <dsp:cNvSpPr/>
      </dsp:nvSpPr>
      <dsp:spPr>
        <a:xfrm>
          <a:off x="1094438" y="935289"/>
          <a:ext cx="444093" cy="846213"/>
        </a:xfrm>
        <a:custGeom>
          <a:avLst/>
          <a:gdLst/>
          <a:ahLst/>
          <a:cxnLst/>
          <a:rect l="0" t="0" r="0" b="0"/>
          <a:pathLst>
            <a:path>
              <a:moveTo>
                <a:pt x="0" y="846213"/>
              </a:moveTo>
              <a:lnTo>
                <a:pt x="222046" y="846213"/>
              </a:lnTo>
              <a:lnTo>
                <a:pt x="222046" y="0"/>
              </a:lnTo>
              <a:lnTo>
                <a:pt x="444093" y="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>
        <a:off x="1292593" y="1334504"/>
        <a:ext cx="47783" cy="47783"/>
      </dsp:txXfrm>
    </dsp:sp>
    <dsp:sp modelId="{10E3F803-EB7B-4971-96B2-15424862851B}">
      <dsp:nvSpPr>
        <dsp:cNvPr id="0" name=""/>
        <dsp:cNvSpPr/>
      </dsp:nvSpPr>
      <dsp:spPr>
        <a:xfrm rot="16200000">
          <a:off x="-1025550" y="1443017"/>
          <a:ext cx="3563006" cy="676971"/>
        </a:xfrm>
        <a:prstGeom prst="rect">
          <a:avLst/>
        </a:prstGeom>
        <a:solidFill>
          <a:schemeClr val="bg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>
              <a:solidFill>
                <a:schemeClr val="tx1"/>
              </a:solidFill>
            </a:rPr>
            <a:t>Gestão VP e Governança TD</a:t>
          </a:r>
          <a:endParaRPr lang="pt-BR" sz="1400" kern="1200" dirty="0">
            <a:solidFill>
              <a:schemeClr val="tx1"/>
            </a:solidFill>
          </a:endParaRPr>
        </a:p>
      </dsp:txBody>
      <dsp:txXfrm>
        <a:off x="-1025550" y="1443017"/>
        <a:ext cx="3563006" cy="676971"/>
      </dsp:txXfrm>
    </dsp:sp>
    <dsp:sp modelId="{C3E0ED10-6FAD-41D5-A833-55BC8A2B0A32}">
      <dsp:nvSpPr>
        <dsp:cNvPr id="0" name=""/>
        <dsp:cNvSpPr/>
      </dsp:nvSpPr>
      <dsp:spPr>
        <a:xfrm>
          <a:off x="1538531" y="596803"/>
          <a:ext cx="2220465" cy="676971"/>
        </a:xfrm>
        <a:prstGeom prst="rect">
          <a:avLst/>
        </a:prstGeom>
        <a:solidFill>
          <a:schemeClr val="accent5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>
              <a:solidFill>
                <a:schemeClr val="tx1"/>
              </a:solidFill>
            </a:rPr>
            <a:t>Arquitetura</a:t>
          </a:r>
          <a:endParaRPr lang="pt-BR" sz="1400" kern="1200" dirty="0">
            <a:solidFill>
              <a:schemeClr val="tx1"/>
            </a:solidFill>
          </a:endParaRPr>
        </a:p>
      </dsp:txBody>
      <dsp:txXfrm>
        <a:off x="1538531" y="596803"/>
        <a:ext cx="2220465" cy="676971"/>
      </dsp:txXfrm>
    </dsp:sp>
    <dsp:sp modelId="{7360FD07-3C24-42FB-8D78-7AB8143F982C}">
      <dsp:nvSpPr>
        <dsp:cNvPr id="0" name=""/>
        <dsp:cNvSpPr/>
      </dsp:nvSpPr>
      <dsp:spPr>
        <a:xfrm>
          <a:off x="1538531" y="1443017"/>
          <a:ext cx="2220465" cy="676971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>
              <a:solidFill>
                <a:schemeClr val="tx1"/>
              </a:solidFill>
            </a:rPr>
            <a:t>Infraestrutura</a:t>
          </a:r>
          <a:endParaRPr lang="pt-BR" sz="1400" kern="1200" dirty="0">
            <a:solidFill>
              <a:schemeClr val="tx1"/>
            </a:solidFill>
          </a:endParaRPr>
        </a:p>
      </dsp:txBody>
      <dsp:txXfrm>
        <a:off x="1538531" y="1443017"/>
        <a:ext cx="2220465" cy="676971"/>
      </dsp:txXfrm>
    </dsp:sp>
    <dsp:sp modelId="{218283E1-793C-4B7F-B800-BD890B0048F2}">
      <dsp:nvSpPr>
        <dsp:cNvPr id="0" name=""/>
        <dsp:cNvSpPr/>
      </dsp:nvSpPr>
      <dsp:spPr>
        <a:xfrm>
          <a:off x="1538531" y="2289231"/>
          <a:ext cx="2220465" cy="676971"/>
        </a:xfrm>
        <a:prstGeom prst="rect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>
              <a:solidFill>
                <a:schemeClr val="tx1"/>
              </a:solidFill>
            </a:rPr>
            <a:t>Aplicações</a:t>
          </a:r>
          <a:endParaRPr lang="pt-BR" sz="1400" kern="1200" dirty="0">
            <a:solidFill>
              <a:schemeClr val="tx1"/>
            </a:solidFill>
          </a:endParaRPr>
        </a:p>
      </dsp:txBody>
      <dsp:txXfrm>
        <a:off x="1538531" y="2289231"/>
        <a:ext cx="2220465" cy="6769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4FC3FA-6B37-41A2-A30B-1504C0D5FFFE}">
      <dsp:nvSpPr>
        <dsp:cNvPr id="0" name=""/>
        <dsp:cNvSpPr/>
      </dsp:nvSpPr>
      <dsp:spPr>
        <a:xfrm>
          <a:off x="2178083" y="893073"/>
          <a:ext cx="2169557" cy="216955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Core Team do Projeto</a:t>
          </a:r>
          <a:endParaRPr lang="pt-BR" sz="1200" kern="1200" dirty="0"/>
        </a:p>
      </dsp:txBody>
      <dsp:txXfrm>
        <a:off x="2495807" y="1210797"/>
        <a:ext cx="1534109" cy="1534109"/>
      </dsp:txXfrm>
    </dsp:sp>
    <dsp:sp modelId="{691F9F07-575E-448D-B206-CDF91AFA6AF9}">
      <dsp:nvSpPr>
        <dsp:cNvPr id="0" name=""/>
        <dsp:cNvSpPr/>
      </dsp:nvSpPr>
      <dsp:spPr>
        <a:xfrm>
          <a:off x="2720473" y="21452"/>
          <a:ext cx="1084778" cy="108477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Gerente do Projeto</a:t>
          </a:r>
          <a:endParaRPr lang="pt-BR" sz="1200" kern="1200" dirty="0"/>
        </a:p>
      </dsp:txBody>
      <dsp:txXfrm>
        <a:off x="2879335" y="180314"/>
        <a:ext cx="767054" cy="767054"/>
      </dsp:txXfrm>
    </dsp:sp>
    <dsp:sp modelId="{58F5EFF3-0071-4636-A4C6-322AA017965A}">
      <dsp:nvSpPr>
        <dsp:cNvPr id="0" name=""/>
        <dsp:cNvSpPr/>
      </dsp:nvSpPr>
      <dsp:spPr>
        <a:xfrm>
          <a:off x="3629382" y="352267"/>
          <a:ext cx="1084778" cy="1084778"/>
        </a:xfrm>
        <a:prstGeom prst="ellipse">
          <a:avLst/>
        </a:prstGeom>
        <a:solidFill>
          <a:schemeClr val="bg1">
            <a:lumMod val="50000"/>
            <a:alpha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GRP</a:t>
          </a:r>
          <a:endParaRPr lang="pt-BR" sz="1200" kern="1200" dirty="0"/>
        </a:p>
      </dsp:txBody>
      <dsp:txXfrm>
        <a:off x="3788244" y="511129"/>
        <a:ext cx="767054" cy="767054"/>
      </dsp:txXfrm>
    </dsp:sp>
    <dsp:sp modelId="{7DD03E72-0627-4C4F-A4FF-C07C41CCDE6A}">
      <dsp:nvSpPr>
        <dsp:cNvPr id="0" name=""/>
        <dsp:cNvSpPr/>
      </dsp:nvSpPr>
      <dsp:spPr>
        <a:xfrm>
          <a:off x="4113002" y="1189922"/>
          <a:ext cx="1084778" cy="108477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 Plataforma 1</a:t>
          </a:r>
          <a:endParaRPr lang="pt-BR" sz="1200" kern="1200" dirty="0"/>
        </a:p>
      </dsp:txBody>
      <dsp:txXfrm>
        <a:off x="4271864" y="1348784"/>
        <a:ext cx="767054" cy="767054"/>
      </dsp:txXfrm>
    </dsp:sp>
    <dsp:sp modelId="{0A0FCFBF-E20A-429E-9BD5-CA9C4319F1A1}">
      <dsp:nvSpPr>
        <dsp:cNvPr id="0" name=""/>
        <dsp:cNvSpPr/>
      </dsp:nvSpPr>
      <dsp:spPr>
        <a:xfrm>
          <a:off x="3945042" y="2142468"/>
          <a:ext cx="1084778" cy="108477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 Plataforma 2</a:t>
          </a:r>
          <a:endParaRPr lang="pt-BR" sz="1200" kern="1200" dirty="0"/>
        </a:p>
      </dsp:txBody>
      <dsp:txXfrm>
        <a:off x="4103904" y="2301330"/>
        <a:ext cx="767054" cy="767054"/>
      </dsp:txXfrm>
    </dsp:sp>
    <dsp:sp modelId="{D3F77C1F-F24D-434F-84FB-F1D64F4CF69B}">
      <dsp:nvSpPr>
        <dsp:cNvPr id="0" name=""/>
        <dsp:cNvSpPr/>
      </dsp:nvSpPr>
      <dsp:spPr>
        <a:xfrm>
          <a:off x="3204093" y="2764199"/>
          <a:ext cx="1084778" cy="108477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Gerente de Infraestrutura</a:t>
          </a:r>
          <a:endParaRPr lang="pt-BR" sz="1100" kern="1200" dirty="0"/>
        </a:p>
      </dsp:txBody>
      <dsp:txXfrm>
        <a:off x="3362955" y="2923061"/>
        <a:ext cx="767054" cy="767054"/>
      </dsp:txXfrm>
    </dsp:sp>
    <dsp:sp modelId="{D1C448CB-C12E-4B5D-B5D3-740FB6970B66}">
      <dsp:nvSpPr>
        <dsp:cNvPr id="0" name=""/>
        <dsp:cNvSpPr/>
      </dsp:nvSpPr>
      <dsp:spPr>
        <a:xfrm>
          <a:off x="2236852" y="2764199"/>
          <a:ext cx="1084778" cy="1084778"/>
        </a:xfrm>
        <a:prstGeom prst="ellipse">
          <a:avLst/>
        </a:prstGeom>
        <a:solidFill>
          <a:schemeClr val="bg1">
            <a:lumMod val="50000"/>
            <a:alpha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Arquitetura Corporativa</a:t>
          </a:r>
          <a:endParaRPr lang="pt-BR" sz="1100" kern="1200" dirty="0"/>
        </a:p>
      </dsp:txBody>
      <dsp:txXfrm>
        <a:off x="2395714" y="2923061"/>
        <a:ext cx="767054" cy="767054"/>
      </dsp:txXfrm>
    </dsp:sp>
    <dsp:sp modelId="{2F1681CA-9955-4375-B462-877614233251}">
      <dsp:nvSpPr>
        <dsp:cNvPr id="0" name=""/>
        <dsp:cNvSpPr/>
      </dsp:nvSpPr>
      <dsp:spPr>
        <a:xfrm>
          <a:off x="1495903" y="2142468"/>
          <a:ext cx="1084778" cy="1084778"/>
        </a:xfrm>
        <a:prstGeom prst="ellipse">
          <a:avLst/>
        </a:prstGeom>
        <a:solidFill>
          <a:schemeClr val="bg1">
            <a:lumMod val="50000"/>
            <a:alpha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Arquitetura Infraestrutura</a:t>
          </a:r>
          <a:endParaRPr lang="pt-BR" sz="1100" kern="1200" dirty="0"/>
        </a:p>
      </dsp:txBody>
      <dsp:txXfrm>
        <a:off x="1654765" y="2301330"/>
        <a:ext cx="767054" cy="767054"/>
      </dsp:txXfrm>
    </dsp:sp>
    <dsp:sp modelId="{A3322A2D-E196-4B03-862E-491C4BD7ABCA}">
      <dsp:nvSpPr>
        <dsp:cNvPr id="0" name=""/>
        <dsp:cNvSpPr/>
      </dsp:nvSpPr>
      <dsp:spPr>
        <a:xfrm>
          <a:off x="1327943" y="1189922"/>
          <a:ext cx="1084778" cy="1084778"/>
        </a:xfrm>
        <a:prstGeom prst="ellipse">
          <a:avLst/>
        </a:prstGeom>
        <a:solidFill>
          <a:schemeClr val="bg1">
            <a:lumMod val="50000"/>
            <a:alpha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Manter</a:t>
          </a:r>
          <a:endParaRPr lang="pt-BR" sz="1200" kern="1200" dirty="0"/>
        </a:p>
      </dsp:txBody>
      <dsp:txXfrm>
        <a:off x="1486805" y="1348784"/>
        <a:ext cx="767054" cy="767054"/>
      </dsp:txXfrm>
    </dsp:sp>
    <dsp:sp modelId="{8BD24B86-67A6-4B55-98E0-86C9FCEE9A83}">
      <dsp:nvSpPr>
        <dsp:cNvPr id="0" name=""/>
        <dsp:cNvSpPr/>
      </dsp:nvSpPr>
      <dsp:spPr>
        <a:xfrm>
          <a:off x="1811564" y="352267"/>
          <a:ext cx="1084778" cy="1084778"/>
        </a:xfrm>
        <a:prstGeom prst="ellipse">
          <a:avLst/>
        </a:prstGeom>
        <a:solidFill>
          <a:schemeClr val="bg1">
            <a:lumMod val="50000"/>
            <a:alpha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Testes</a:t>
          </a:r>
          <a:endParaRPr lang="pt-BR" sz="1200" kern="1200" dirty="0"/>
        </a:p>
      </dsp:txBody>
      <dsp:txXfrm>
        <a:off x="1970426" y="511129"/>
        <a:ext cx="767054" cy="7670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4FC3FA-6B37-41A2-A30B-1504C0D5FFFE}">
      <dsp:nvSpPr>
        <dsp:cNvPr id="0" name=""/>
        <dsp:cNvSpPr/>
      </dsp:nvSpPr>
      <dsp:spPr>
        <a:xfrm>
          <a:off x="1927459" y="896772"/>
          <a:ext cx="2234066" cy="2234066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latin typeface="Gill Sans MT" pitchFamily="34" charset="0"/>
            </a:rPr>
            <a:t>Core Team Projeto</a:t>
          </a:r>
          <a:endParaRPr lang="pt-BR" sz="1600" kern="1200" dirty="0">
            <a:latin typeface="Gill Sans MT" pitchFamily="34" charset="0"/>
          </a:endParaRPr>
        </a:p>
      </dsp:txBody>
      <dsp:txXfrm>
        <a:off x="2254630" y="1223943"/>
        <a:ext cx="1579724" cy="1579724"/>
      </dsp:txXfrm>
    </dsp:sp>
    <dsp:sp modelId="{691F9F07-575E-448D-B206-CDF91AFA6AF9}">
      <dsp:nvSpPr>
        <dsp:cNvPr id="0" name=""/>
        <dsp:cNvSpPr/>
      </dsp:nvSpPr>
      <dsp:spPr>
        <a:xfrm>
          <a:off x="2485976" y="398"/>
          <a:ext cx="1117033" cy="1117033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>
              <a:latin typeface="Gill Sans MT" pitchFamily="34" charset="0"/>
            </a:rPr>
            <a:t>Gerente do Projeto</a:t>
          </a:r>
          <a:endParaRPr lang="pt-BR" sz="1200" kern="1200" dirty="0">
            <a:latin typeface="Gill Sans MT" pitchFamily="34" charset="0"/>
          </a:endParaRPr>
        </a:p>
      </dsp:txBody>
      <dsp:txXfrm>
        <a:off x="2649562" y="163984"/>
        <a:ext cx="789861" cy="789861"/>
      </dsp:txXfrm>
    </dsp:sp>
    <dsp:sp modelId="{58F5EFF3-0071-4636-A4C6-322AA017965A}">
      <dsp:nvSpPr>
        <dsp:cNvPr id="0" name=""/>
        <dsp:cNvSpPr/>
      </dsp:nvSpPr>
      <dsp:spPr>
        <a:xfrm>
          <a:off x="3341139" y="278258"/>
          <a:ext cx="1117033" cy="1117033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>
              <a:latin typeface="Gill Sans MT" pitchFamily="34" charset="0"/>
            </a:rPr>
            <a:t>GRP</a:t>
          </a:r>
          <a:endParaRPr lang="pt-BR" sz="1200" kern="1200" dirty="0">
            <a:latin typeface="Gill Sans MT" pitchFamily="34" charset="0"/>
          </a:endParaRPr>
        </a:p>
      </dsp:txBody>
      <dsp:txXfrm>
        <a:off x="3504725" y="441844"/>
        <a:ext cx="789861" cy="789861"/>
      </dsp:txXfrm>
    </dsp:sp>
    <dsp:sp modelId="{7DD03E72-0627-4C4F-A4FF-C07C41CCDE6A}">
      <dsp:nvSpPr>
        <dsp:cNvPr id="0" name=""/>
        <dsp:cNvSpPr/>
      </dsp:nvSpPr>
      <dsp:spPr>
        <a:xfrm>
          <a:off x="3869659" y="1005703"/>
          <a:ext cx="1117033" cy="1117033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>
              <a:latin typeface="Gill Sans MT" pitchFamily="34" charset="0"/>
            </a:rPr>
            <a:t> Plataforma 1</a:t>
          </a:r>
          <a:endParaRPr lang="pt-BR" sz="1200" kern="1200" dirty="0">
            <a:latin typeface="Gill Sans MT" pitchFamily="34" charset="0"/>
          </a:endParaRPr>
        </a:p>
      </dsp:txBody>
      <dsp:txXfrm>
        <a:off x="4033245" y="1169289"/>
        <a:ext cx="789861" cy="789861"/>
      </dsp:txXfrm>
    </dsp:sp>
    <dsp:sp modelId="{0A0FCFBF-E20A-429E-9BD5-CA9C4319F1A1}">
      <dsp:nvSpPr>
        <dsp:cNvPr id="0" name=""/>
        <dsp:cNvSpPr/>
      </dsp:nvSpPr>
      <dsp:spPr>
        <a:xfrm>
          <a:off x="3869659" y="1904875"/>
          <a:ext cx="1117033" cy="1117033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>
              <a:latin typeface="Gill Sans MT" pitchFamily="34" charset="0"/>
            </a:rPr>
            <a:t> Plataforma 2</a:t>
          </a:r>
          <a:endParaRPr lang="pt-BR" sz="1200" kern="1200" dirty="0">
            <a:latin typeface="Gill Sans MT" pitchFamily="34" charset="0"/>
          </a:endParaRPr>
        </a:p>
      </dsp:txBody>
      <dsp:txXfrm>
        <a:off x="4033245" y="2068461"/>
        <a:ext cx="789861" cy="789861"/>
      </dsp:txXfrm>
    </dsp:sp>
    <dsp:sp modelId="{7A00AF09-B060-48A9-80B7-E4114E2D9124}">
      <dsp:nvSpPr>
        <dsp:cNvPr id="0" name=""/>
        <dsp:cNvSpPr/>
      </dsp:nvSpPr>
      <dsp:spPr>
        <a:xfrm>
          <a:off x="3341139" y="2632320"/>
          <a:ext cx="1117033" cy="1117033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>
              <a:latin typeface="Gill Sans MT" pitchFamily="34" charset="0"/>
            </a:rPr>
            <a:t>Plataforma 3</a:t>
          </a:r>
          <a:endParaRPr lang="pt-BR" sz="1200" kern="1200" dirty="0">
            <a:latin typeface="Gill Sans MT" pitchFamily="34" charset="0"/>
          </a:endParaRPr>
        </a:p>
      </dsp:txBody>
      <dsp:txXfrm>
        <a:off x="3504725" y="2795906"/>
        <a:ext cx="789861" cy="789861"/>
      </dsp:txXfrm>
    </dsp:sp>
    <dsp:sp modelId="{D1C448CB-C12E-4B5D-B5D3-740FB6970B66}">
      <dsp:nvSpPr>
        <dsp:cNvPr id="0" name=""/>
        <dsp:cNvSpPr/>
      </dsp:nvSpPr>
      <dsp:spPr>
        <a:xfrm>
          <a:off x="2485976" y="2910180"/>
          <a:ext cx="1117033" cy="1117033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>
              <a:latin typeface="Gill Sans MT" pitchFamily="34" charset="0"/>
            </a:rPr>
            <a:t>Arquitetura Corporativa</a:t>
          </a:r>
          <a:endParaRPr lang="pt-BR" sz="1200" kern="1200" dirty="0">
            <a:latin typeface="Gill Sans MT" pitchFamily="34" charset="0"/>
          </a:endParaRPr>
        </a:p>
      </dsp:txBody>
      <dsp:txXfrm>
        <a:off x="2649562" y="3073766"/>
        <a:ext cx="789861" cy="789861"/>
      </dsp:txXfrm>
    </dsp:sp>
    <dsp:sp modelId="{2F1681CA-9955-4375-B462-877614233251}">
      <dsp:nvSpPr>
        <dsp:cNvPr id="0" name=""/>
        <dsp:cNvSpPr/>
      </dsp:nvSpPr>
      <dsp:spPr>
        <a:xfrm>
          <a:off x="1630813" y="2632320"/>
          <a:ext cx="1117033" cy="1117033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>
              <a:latin typeface="Gill Sans MT" pitchFamily="34" charset="0"/>
            </a:rPr>
            <a:t>Arquitetura </a:t>
          </a:r>
          <a:r>
            <a:rPr lang="pt-BR" sz="1100" kern="1200" dirty="0" smtClean="0">
              <a:latin typeface="Gill Sans MT" pitchFamily="34" charset="0"/>
            </a:rPr>
            <a:t>Infraestrutura</a:t>
          </a:r>
          <a:endParaRPr lang="pt-BR" sz="1100" kern="1200" dirty="0">
            <a:latin typeface="Gill Sans MT" pitchFamily="34" charset="0"/>
          </a:endParaRPr>
        </a:p>
      </dsp:txBody>
      <dsp:txXfrm>
        <a:off x="1794399" y="2795906"/>
        <a:ext cx="789861" cy="789861"/>
      </dsp:txXfrm>
    </dsp:sp>
    <dsp:sp modelId="{085374FB-D7E1-441F-8B49-77EE04D9E9DD}">
      <dsp:nvSpPr>
        <dsp:cNvPr id="0" name=""/>
        <dsp:cNvSpPr/>
      </dsp:nvSpPr>
      <dsp:spPr>
        <a:xfrm>
          <a:off x="1102293" y="1904875"/>
          <a:ext cx="1117033" cy="1117033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>
              <a:latin typeface="Gill Sans MT" pitchFamily="34" charset="0"/>
            </a:rPr>
            <a:t>Fornecedor 1</a:t>
          </a:r>
          <a:endParaRPr lang="pt-BR" sz="1200" kern="1200" dirty="0">
            <a:latin typeface="Gill Sans MT" pitchFamily="34" charset="0"/>
          </a:endParaRPr>
        </a:p>
      </dsp:txBody>
      <dsp:txXfrm>
        <a:off x="1265879" y="2068461"/>
        <a:ext cx="789861" cy="789861"/>
      </dsp:txXfrm>
    </dsp:sp>
    <dsp:sp modelId="{98F0662F-F4BD-484D-81C0-C160A3E6FE31}">
      <dsp:nvSpPr>
        <dsp:cNvPr id="0" name=""/>
        <dsp:cNvSpPr/>
      </dsp:nvSpPr>
      <dsp:spPr>
        <a:xfrm>
          <a:off x="1102293" y="1005703"/>
          <a:ext cx="1117033" cy="1117033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>
              <a:latin typeface="Gill Sans MT" pitchFamily="34" charset="0"/>
            </a:rPr>
            <a:t>Fornecedor 2</a:t>
          </a:r>
          <a:endParaRPr lang="pt-BR" sz="1200" kern="1200" dirty="0">
            <a:latin typeface="Gill Sans MT" pitchFamily="34" charset="0"/>
          </a:endParaRPr>
        </a:p>
      </dsp:txBody>
      <dsp:txXfrm>
        <a:off x="1265879" y="1169289"/>
        <a:ext cx="789861" cy="789861"/>
      </dsp:txXfrm>
    </dsp:sp>
    <dsp:sp modelId="{2CCC2F4F-EB35-4DB5-B85E-E39FC2C42C86}">
      <dsp:nvSpPr>
        <dsp:cNvPr id="0" name=""/>
        <dsp:cNvSpPr/>
      </dsp:nvSpPr>
      <dsp:spPr>
        <a:xfrm>
          <a:off x="1630813" y="278258"/>
          <a:ext cx="1117033" cy="1117033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>
              <a:latin typeface="Gill Sans MT" pitchFamily="34" charset="0"/>
            </a:rPr>
            <a:t>Fornecedor 3</a:t>
          </a:r>
          <a:endParaRPr lang="pt-BR" sz="1200" kern="1200" dirty="0">
            <a:latin typeface="Gill Sans MT" pitchFamily="34" charset="0"/>
          </a:endParaRPr>
        </a:p>
      </dsp:txBody>
      <dsp:txXfrm>
        <a:off x="1794399" y="441844"/>
        <a:ext cx="789861" cy="78986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5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623373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8ECC7-798C-4DC9-B576-69CA3945C8DE}" type="datetimeFigureOut">
              <a:rPr lang="pt-BR" smtClean="0"/>
              <a:t>03/07/2015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456218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623373" y="6456218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5FC247-2D29-4661-9215-4B079696D7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2375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4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lnSpc>
                <a:spcPct val="150000"/>
              </a:lnSpc>
              <a:buFont typeface="Arial" pitchFamily="34" charset="0"/>
              <a:buChar char="•"/>
            </a:pPr>
            <a:r>
              <a:rPr lang="pt-BR" sz="1200" b="1" dirty="0" smtClean="0">
                <a:solidFill>
                  <a:prstClr val="black"/>
                </a:solidFill>
              </a:rPr>
              <a:t>Apoiar </a:t>
            </a:r>
            <a:r>
              <a:rPr lang="pt-BR" sz="1200" dirty="0" smtClean="0">
                <a:solidFill>
                  <a:prstClr val="black"/>
                </a:solidFill>
              </a:rPr>
              <a:t>a Alta gestão  na tomada de decisão de priorização e aprovação de investimentos, capacidade de execução</a:t>
            </a:r>
          </a:p>
          <a:p>
            <a:pPr marL="171450" indent="-171450" algn="l">
              <a:lnSpc>
                <a:spcPct val="150000"/>
              </a:lnSpc>
              <a:buFont typeface="Arial" pitchFamily="34" charset="0"/>
              <a:buChar char="•"/>
            </a:pPr>
            <a:r>
              <a:rPr lang="pt-BR" sz="1200" b="1" dirty="0" smtClean="0">
                <a:solidFill>
                  <a:prstClr val="black"/>
                </a:solidFill>
              </a:rPr>
              <a:t>Coordenar a Rede</a:t>
            </a:r>
            <a:r>
              <a:rPr lang="pt-BR" sz="1200" dirty="0" smtClean="0">
                <a:solidFill>
                  <a:prstClr val="black"/>
                </a:solidFill>
              </a:rPr>
              <a:t> de Projetos para gerenciar os investimentos e performance dos projetos do portfólio corporativo</a:t>
            </a:r>
          </a:p>
          <a:p>
            <a:pPr marL="171450" indent="-171450" algn="l">
              <a:lnSpc>
                <a:spcPct val="150000"/>
              </a:lnSpc>
              <a:buFont typeface="Arial" pitchFamily="34" charset="0"/>
              <a:buChar char="•"/>
            </a:pPr>
            <a:r>
              <a:rPr lang="pt-BR" sz="1200" smtClean="0">
                <a:solidFill>
                  <a:prstClr val="black"/>
                </a:solidFill>
              </a:rPr>
              <a:t>Facilitador  da Rede com o </a:t>
            </a:r>
            <a:r>
              <a:rPr lang="pt-BR" sz="1200" b="1" smtClean="0">
                <a:solidFill>
                  <a:prstClr val="black"/>
                </a:solidFill>
              </a:rPr>
              <a:t>Direcionamento das Boas Práticas </a:t>
            </a:r>
            <a:r>
              <a:rPr lang="pt-BR" sz="1200" smtClean="0">
                <a:solidFill>
                  <a:prstClr val="black"/>
                </a:solidFill>
              </a:rPr>
              <a:t>de priorização de demandas , geração de valor desde a elaboração ao resultado do Business Case e Eficiência na gestão do portfolio de investimentos da natura em uma rede integrada e colaborativa com racionalização de recursos e qualidade de entregas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6114E7-587C-40C5-8ECB-90C1C9016CE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8701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i="1" dirty="0" smtClean="0">
                <a:latin typeface="Gill Sans Std Light" pitchFamily="34" charset="0"/>
              </a:rPr>
              <a:t>foco em execução dos processos de tecnologia lançados</a:t>
            </a:r>
            <a:r>
              <a:rPr lang="pt-BR" sz="1200" i="1" dirty="0" smtClean="0">
                <a:latin typeface="Gill Sans Std Light" pitchFamily="34" charset="0"/>
              </a:rPr>
              <a:t> em 2014 e </a:t>
            </a:r>
            <a:r>
              <a:rPr lang="pt-BR" sz="1200" b="1" i="1" dirty="0" smtClean="0">
                <a:latin typeface="Gill Sans Std Light" pitchFamily="34" charset="0"/>
              </a:rPr>
              <a:t>novas ferramentas </a:t>
            </a:r>
            <a:r>
              <a:rPr lang="pt-BR" sz="1200" i="1" dirty="0" smtClean="0">
                <a:latin typeface="Gill Sans Std Light" pitchFamily="34" charset="0"/>
              </a:rPr>
              <a:t>para a priorização, gestão integrada e dinâmica de novas demandas. A </a:t>
            </a:r>
            <a:r>
              <a:rPr lang="pt-BR" sz="1200" b="1" i="1" dirty="0" smtClean="0">
                <a:latin typeface="Gill Sans Std Light" pitchFamily="34" charset="0"/>
              </a:rPr>
              <a:t>integração das operações internacionais nos processos de tecnologia</a:t>
            </a:r>
            <a:r>
              <a:rPr lang="pt-BR" sz="1200" i="1" dirty="0" smtClean="0">
                <a:latin typeface="Gill Sans Std Light" pitchFamily="34" charset="0"/>
              </a:rPr>
              <a:t>, será um segundo foco, de forma a construirmos uma base global de operação para os processos de tecnologia.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5FC247-2D29-4661-9215-4B079696D732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534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390C86-FF29-474A-81FF-E0B4A3117F5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43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01675" y="679450"/>
            <a:ext cx="6040438" cy="339883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36EA-C269-473D-81E8-1908FDE54AE5}" type="slidenum">
              <a:rPr lang="pt-BR" smtClean="0">
                <a:solidFill>
                  <a:prstClr val="black"/>
                </a:solidFill>
              </a:rPr>
              <a:pPr/>
              <a:t>10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871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01675" y="679450"/>
            <a:ext cx="6040438" cy="339883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36EA-C269-473D-81E8-1908FDE54AE5}" type="slidenum">
              <a:rPr lang="pt-BR" smtClean="0">
                <a:solidFill>
                  <a:prstClr val="black"/>
                </a:solidFill>
              </a:rPr>
              <a:pPr/>
              <a:t>11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38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/>
            <a:fld id="{B2E5BF41-13C5-4539-B839-5DD2AC3FCDC8}" type="slidenum">
              <a:rPr lang="en-US" sz="1200"/>
              <a:pPr eaLnBrk="1" hangingPunct="1"/>
              <a:t>37</a:t>
            </a:fld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Resumir o objetivo de cada um dos 8 processos, de forma simples.</a:t>
            </a:r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/>
            <a:fld id="{72B7D388-3587-4B42-BF63-7B1F7D16BB0C}" type="slidenum">
              <a:rPr lang="en-US" sz="1200"/>
              <a:pPr eaLnBrk="1" hangingPunct="1"/>
              <a:t>38</a:t>
            </a:fld>
            <a:endParaRPr 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8EF6F4-A443-4851-8437-FCC9F42E1945}" type="slidenum">
              <a:rPr lang="en-US" smtClean="0"/>
              <a:pPr>
                <a:defRPr/>
              </a:pPr>
              <a:t>146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320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8EF6F4-A443-4851-8437-FCC9F42E194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147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3201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6114E7-587C-40C5-8ECB-90C1C9016CE1}" type="slidenum">
              <a:rPr lang="pt-BR" smtClean="0">
                <a:solidFill>
                  <a:prstClr val="black"/>
                </a:solidFill>
              </a:rPr>
              <a:pPr/>
              <a:t>148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701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2.xml"/><Relationship Id="rId7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4.xml"/><Relationship Id="rId10" Type="http://schemas.openxmlformats.org/officeDocument/2006/relationships/image" Target="../media/image3.png"/><Relationship Id="rId4" Type="http://schemas.openxmlformats.org/officeDocument/2006/relationships/tags" Target="../tags/tag3.xml"/><Relationship Id="rId9" Type="http://schemas.openxmlformats.org/officeDocument/2006/relationships/image" Target="../media/image2.jpe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5.xml"/><Relationship Id="rId1" Type="http://schemas.openxmlformats.org/officeDocument/2006/relationships/vmlDrawing" Target="../drawings/vmlDrawing2.v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10" Type="http://schemas.openxmlformats.org/officeDocument/2006/relationships/image" Target="../media/image4.png"/><Relationship Id="rId4" Type="http://schemas.openxmlformats.org/officeDocument/2006/relationships/tags" Target="../tags/tag7.xml"/><Relationship Id="rId9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03/07/2015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5638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03/07/2015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4225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03/07/2015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4308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03/07/2015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9292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03/07/2015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2072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03/07/2015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464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03/07/2015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183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5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03/07/2015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3418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5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4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5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03/07/2015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0821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03/07/2015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1027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03/07/2015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157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" y="19"/>
          <a:ext cx="111622" cy="83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77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" y="19"/>
                        <a:ext cx="111622" cy="837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1" descr="DanielPinheiro_JB_0080.jp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>
            <a:spLocks/>
          </p:cNvSpPr>
          <p:nvPr userDrawn="1">
            <p:custDataLst>
              <p:tags r:id="rId4"/>
            </p:custDataLst>
          </p:nvPr>
        </p:nvSpPr>
        <p:spPr bwMode="auto">
          <a:xfrm>
            <a:off x="500096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FFFFFF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8" descr="NAT_marca_branca_natura-01.png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87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535786" y="635130"/>
            <a:ext cx="8228708" cy="1936622"/>
          </a:xfrm>
          <a:prstGeom prst="rect">
            <a:avLst/>
          </a:prstGeom>
        </p:spPr>
        <p:txBody>
          <a:bodyPr lIns="57010" tIns="28502" rIns="57010" bIns="28502"/>
          <a:lstStyle>
            <a:lvl1pPr algn="l">
              <a:defRPr lang="en-US" sz="6000" kern="12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522395" y="2849696"/>
            <a:ext cx="8238753" cy="433647"/>
          </a:xfrm>
          <a:prstGeom prst="rect">
            <a:avLst/>
          </a:prstGeom>
        </p:spPr>
        <p:txBody>
          <a:bodyPr lIns="57010" tIns="28502" rIns="57010" bIns="28502">
            <a:norm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500" kern="1200" dirty="0" smtClean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7316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" y="19"/>
          <a:ext cx="111622" cy="83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1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" y="19"/>
                        <a:ext cx="111622" cy="837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13" y="214334"/>
            <a:ext cx="6000751" cy="4714875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5" name="Rectangle 15"/>
          <p:cNvSpPr>
            <a:spLocks/>
          </p:cNvSpPr>
          <p:nvPr userDrawn="1">
            <p:custDataLst>
              <p:tags r:id="rId4"/>
            </p:custDataLst>
          </p:nvPr>
        </p:nvSpPr>
        <p:spPr bwMode="auto">
          <a:xfrm>
            <a:off x="500080" y="421944"/>
            <a:ext cx="5402462" cy="408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agenda</a:t>
            </a:r>
          </a:p>
        </p:txBody>
      </p:sp>
      <p:sp>
        <p:nvSpPr>
          <p:cNvPr id="6" name="Rectangle 3"/>
          <p:cNvSpPr>
            <a:spLocks/>
          </p:cNvSpPr>
          <p:nvPr userDrawn="1">
            <p:custDataLst>
              <p:tags r:id="rId5"/>
            </p:custDataLst>
          </p:nvPr>
        </p:nvSpPr>
        <p:spPr bwMode="auto">
          <a:xfrm>
            <a:off x="500096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15" descr="NAT_marca_oficial_natura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87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530375" y="1687714"/>
            <a:ext cx="2510691" cy="388442"/>
          </a:xfrm>
          <a:prstGeom prst="rect">
            <a:avLst/>
          </a:prstGeom>
        </p:spPr>
        <p:txBody>
          <a:bodyPr lIns="57010" tIns="28502" rIns="57010" bIns="28502"/>
          <a:lstStyle>
            <a:lvl1pPr algn="l">
              <a:defRPr lang="en-US" sz="1500" kern="1200" dirty="0" smtClean="0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4302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 userDrawn="1"/>
        </p:nvSpPr>
        <p:spPr bwMode="auto">
          <a:xfrm>
            <a:off x="0" y="5"/>
            <a:ext cx="9144000" cy="5143500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7010" tIns="28502" rIns="57010" bIns="28502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500096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D9D9D6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5" name="Picture 6" descr="NAT_marca_branca_natura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87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669" y="1684967"/>
            <a:ext cx="6516439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84989" bIns="0" anchor="t"/>
          <a:lstStyle>
            <a:lvl1pPr algn="l">
              <a:defRPr lang="pt-BR" sz="6200">
                <a:solidFill>
                  <a:srgbClr val="8F993E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9079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5" y="19"/>
          <a:ext cx="111622" cy="83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5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" y="19"/>
                        <a:ext cx="111622" cy="837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167449" y="407708"/>
            <a:ext cx="8809136" cy="4100401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19041" y="468378"/>
            <a:ext cx="5734534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7851665" y="293383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1081781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319041" y="468378"/>
            <a:ext cx="5734534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7851665" y="293383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3008902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5" y="19"/>
          <a:ext cx="111622" cy="83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9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" y="19"/>
                        <a:ext cx="111622" cy="837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167449" y="407703"/>
            <a:ext cx="8809136" cy="4594324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19034" y="468378"/>
            <a:ext cx="8496000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7851665" y="293383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917586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319034" y="468378"/>
            <a:ext cx="8496000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7851665" y="293383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19792489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/>
          </p:cNvSpPr>
          <p:nvPr userDrawn="1"/>
        </p:nvSpPr>
        <p:spPr bwMode="auto">
          <a:xfrm>
            <a:off x="500096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75787A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17" descr="NAT_marca_oficial_natura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87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535801" y="421958"/>
            <a:ext cx="5402462" cy="289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535798" y="719153"/>
            <a:ext cx="5403578" cy="19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200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535787" y="1664308"/>
            <a:ext cx="7175004" cy="2312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5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06865" indent="0">
              <a:buNone/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27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535786" y="1271647"/>
            <a:ext cx="2518172" cy="388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5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284989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23488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/>
          </p:cNvSpPr>
          <p:nvPr userDrawn="1"/>
        </p:nvSpPr>
        <p:spPr bwMode="auto">
          <a:xfrm>
            <a:off x="46918" y="5027146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75787A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sp>
        <p:nvSpPr>
          <p:cNvPr id="5" name="Rectangle 10"/>
          <p:cNvSpPr>
            <a:spLocks noChangeArrowheads="1"/>
          </p:cNvSpPr>
          <p:nvPr userDrawn="1"/>
        </p:nvSpPr>
        <p:spPr bwMode="auto">
          <a:xfrm>
            <a:off x="0" y="5"/>
            <a:ext cx="9144000" cy="5143500"/>
          </a:xfrm>
          <a:prstGeom prst="rect">
            <a:avLst/>
          </a:prstGeom>
          <a:solidFill>
            <a:srgbClr val="8F993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7019" tIns="28508" rIns="57019" bIns="28508"/>
          <a:lstStyle/>
          <a:p>
            <a:pPr algn="ctr" defTabSz="511487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7" name="Rectangle 5"/>
          <p:cNvSpPr>
            <a:spLocks/>
          </p:cNvSpPr>
          <p:nvPr userDrawn="1"/>
        </p:nvSpPr>
        <p:spPr bwMode="auto">
          <a:xfrm>
            <a:off x="500096" y="4671355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prstClr val="whit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10" name="Picture 8" descr="NAT_marca_branca_natura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87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35801" y="421944"/>
            <a:ext cx="5402462" cy="408534"/>
          </a:xfrm>
          <a:prstGeom prst="rect">
            <a:avLst/>
          </a:prstGeom>
        </p:spPr>
        <p:txBody>
          <a:bodyPr lIns="57019" tIns="28508" rIns="57019" bIns="28508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pt-BR" sz="2200" kern="1200" dirty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222051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>
            <a:spLocks/>
          </p:cNvSpPr>
          <p:nvPr userDrawn="1"/>
        </p:nvSpPr>
        <p:spPr bwMode="auto">
          <a:xfrm>
            <a:off x="500096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75787A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13" name="Picture 17" descr="NAT_marca_oficial_natura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87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0"/>
          <p:cNvSpPr>
            <a:spLocks noGrp="1"/>
          </p:cNvSpPr>
          <p:nvPr>
            <p:ph type="title"/>
          </p:nvPr>
        </p:nvSpPr>
        <p:spPr>
          <a:xfrm>
            <a:off x="535801" y="421958"/>
            <a:ext cx="5402462" cy="289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535798" y="719153"/>
            <a:ext cx="5403578" cy="19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200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535801" y="1670171"/>
            <a:ext cx="4947571" cy="2312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5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06865" indent="0">
              <a:buNone/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27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535786" y="1271647"/>
            <a:ext cx="2518172" cy="388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5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284989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888409" y="1670171"/>
            <a:ext cx="2683372" cy="2312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5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</a:defRPr>
            </a:lvl1pPr>
            <a:lvl2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2pPr>
            <a:lvl3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3pPr>
            <a:lvl4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4pPr>
            <a:lvl5pPr>
              <a:defRPr lang="pt-BR" sz="270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736561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/>
          </p:cNvSpPr>
          <p:nvPr userDrawn="1"/>
        </p:nvSpPr>
        <p:spPr bwMode="auto">
          <a:xfrm>
            <a:off x="-35711" y="214321"/>
            <a:ext cx="5679282" cy="4728270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6" name="Rectangle 2"/>
          <p:cNvSpPr>
            <a:spLocks/>
          </p:cNvSpPr>
          <p:nvPr userDrawn="1"/>
        </p:nvSpPr>
        <p:spPr bwMode="auto">
          <a:xfrm>
            <a:off x="500096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D9D9D6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3" descr="NAT_marca_oficial_natura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87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2"/>
          <p:cNvSpPr>
            <a:spLocks noGrp="1"/>
          </p:cNvSpPr>
          <p:nvPr>
            <p:ph type="title"/>
          </p:nvPr>
        </p:nvSpPr>
        <p:spPr>
          <a:xfrm>
            <a:off x="534671" y="1969037"/>
            <a:ext cx="4138911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84989" bIns="0"/>
          <a:lstStyle>
            <a:lvl1pPr>
              <a:defRPr lang="pt-BR" sz="6200" dirty="0">
                <a:solidFill>
                  <a:srgbClr val="8F993E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6072202" y="2223537"/>
            <a:ext cx="2705695" cy="354955"/>
          </a:xfrm>
          <a:prstGeom prst="rect">
            <a:avLst/>
          </a:prstGeom>
        </p:spPr>
        <p:txBody>
          <a:bodyPr lIns="57010" tIns="28502" rIns="57010" bIns="28502"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21666" algn="l"/>
                <a:tab pos="443318" algn="l"/>
                <a:tab pos="664976" algn="l"/>
                <a:tab pos="886631" algn="l"/>
                <a:tab pos="1108292" algn="l"/>
                <a:tab pos="1329947" algn="l"/>
                <a:tab pos="1551603" algn="l"/>
                <a:tab pos="1773259" algn="l"/>
                <a:tab pos="1994910" algn="l"/>
                <a:tab pos="2216573" algn="l"/>
                <a:tab pos="2438229" algn="l"/>
                <a:tab pos="2659885" algn="l"/>
                <a:tab pos="2849884" algn="l"/>
              </a:tabLst>
              <a:defRPr lang="pt-BR" sz="1400" kern="12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6072202" y="2589654"/>
            <a:ext cx="2705695" cy="1101701"/>
          </a:xfrm>
          <a:prstGeom prst="rect">
            <a:avLst/>
          </a:prstGeom>
        </p:spPr>
        <p:txBody>
          <a:bodyPr lIns="57010" tIns="28502" rIns="57010" bIns="28502"/>
          <a:lstStyle>
            <a:lvl1pPr marL="0" indent="0">
              <a:buNone/>
              <a:defRPr lang="pt-BR" sz="1400" kern="12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01445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/>
          </p:cNvSpPr>
          <p:nvPr userDrawn="1"/>
        </p:nvSpPr>
        <p:spPr bwMode="auto">
          <a:xfrm>
            <a:off x="-35711" y="214321"/>
            <a:ext cx="5679282" cy="4728270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pic>
        <p:nvPicPr>
          <p:cNvPr id="6" name="Picture 2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412" y="4252793"/>
            <a:ext cx="714375" cy="4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>
            <a:spLocks/>
          </p:cNvSpPr>
          <p:nvPr userDrawn="1"/>
        </p:nvSpPr>
        <p:spPr bwMode="auto">
          <a:xfrm>
            <a:off x="500096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D9D9D6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8" name="Picture 10" descr="NAT_marca_oficial_natura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87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2"/>
          <p:cNvSpPr>
            <a:spLocks noGrp="1"/>
          </p:cNvSpPr>
          <p:nvPr>
            <p:ph type="title"/>
          </p:nvPr>
        </p:nvSpPr>
        <p:spPr>
          <a:xfrm>
            <a:off x="534671" y="1969037"/>
            <a:ext cx="4138911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84989" bIns="0"/>
          <a:lstStyle>
            <a:lvl1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pt-BR" sz="6200" kern="1200" dirty="0">
                <a:solidFill>
                  <a:srgbClr val="FFFFFF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6072202" y="2223537"/>
            <a:ext cx="2705695" cy="354955"/>
          </a:xfrm>
          <a:prstGeom prst="rect">
            <a:avLst/>
          </a:prstGeom>
        </p:spPr>
        <p:txBody>
          <a:bodyPr lIns="57010" tIns="28502" rIns="57010" bIns="28502"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21666" algn="l"/>
                <a:tab pos="443318" algn="l"/>
                <a:tab pos="664976" algn="l"/>
                <a:tab pos="886631" algn="l"/>
                <a:tab pos="1108292" algn="l"/>
                <a:tab pos="1329947" algn="l"/>
                <a:tab pos="1551603" algn="l"/>
                <a:tab pos="1773259" algn="l"/>
                <a:tab pos="1994910" algn="l"/>
                <a:tab pos="2216573" algn="l"/>
                <a:tab pos="2438229" algn="l"/>
                <a:tab pos="2659885" algn="l"/>
                <a:tab pos="2849884" algn="l"/>
              </a:tabLst>
              <a:defRPr lang="pt-BR" sz="1400" kern="1200" dirty="0">
                <a:solidFill>
                  <a:srgbClr val="4E3629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6072202" y="2589654"/>
            <a:ext cx="2705695" cy="1101701"/>
          </a:xfrm>
          <a:prstGeom prst="rect">
            <a:avLst/>
          </a:prstGeom>
        </p:spPr>
        <p:txBody>
          <a:bodyPr lIns="57010" tIns="28502" rIns="57010" bIns="28502"/>
          <a:lstStyle>
            <a:lvl1pPr marL="0" indent="0">
              <a:buNone/>
              <a:defRPr lang="pt-BR" sz="1400" kern="12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37299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COMPOSICOES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/>
          </p:cNvSpPr>
          <p:nvPr userDrawn="1"/>
        </p:nvSpPr>
        <p:spPr bwMode="auto">
          <a:xfrm>
            <a:off x="3143263" y="214334"/>
            <a:ext cx="6000751" cy="4714875"/>
          </a:xfrm>
          <a:prstGeom prst="rect">
            <a:avLst/>
          </a:prstGeom>
          <a:solidFill>
            <a:srgbClr val="4E5B31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500096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D9D9D6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6" name="Picture 7" descr="NAT_marca_branca_natura-0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87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429011" y="1024696"/>
            <a:ext cx="5572125" cy="3368724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>
            <a:lvl1pPr>
              <a:defRPr lang="pt-BR" sz="4100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43450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/>
          <p:cNvSpPr>
            <a:spLocks noChangeArrowheads="1"/>
          </p:cNvSpPr>
          <p:nvPr userDrawn="1"/>
        </p:nvSpPr>
        <p:spPr bwMode="auto">
          <a:xfrm>
            <a:off x="0" y="5"/>
            <a:ext cx="9144000" cy="5143500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57010" tIns="28502" rIns="57010" bIns="28502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7" name="Rectangle 3"/>
          <p:cNvSpPr>
            <a:spLocks/>
          </p:cNvSpPr>
          <p:nvPr userDrawn="1"/>
        </p:nvSpPr>
        <p:spPr bwMode="auto">
          <a:xfrm>
            <a:off x="500096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FFFFFF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8" name="Picture 8" descr="NAT_marca_branca_natura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87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itle 10"/>
          <p:cNvSpPr>
            <a:spLocks noGrp="1"/>
          </p:cNvSpPr>
          <p:nvPr>
            <p:ph type="title"/>
          </p:nvPr>
        </p:nvSpPr>
        <p:spPr>
          <a:xfrm>
            <a:off x="535801" y="421958"/>
            <a:ext cx="5402462" cy="289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535798" y="719153"/>
            <a:ext cx="5403578" cy="19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200" dirty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535796" y="1508548"/>
            <a:ext cx="3746251" cy="2467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5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06865" indent="0">
              <a:buNone/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27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4774954" y="1508548"/>
            <a:ext cx="3746251" cy="2467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5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06865" indent="0">
              <a:buNone/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27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59510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ChangeArrowheads="1"/>
          </p:cNvSpPr>
          <p:nvPr userDrawn="1"/>
        </p:nvSpPr>
        <p:spPr bwMode="auto">
          <a:xfrm>
            <a:off x="0" y="5"/>
            <a:ext cx="9144000" cy="5143500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7010" tIns="28502" rIns="57010" bIns="28502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3" name="Rectangle 3"/>
          <p:cNvSpPr>
            <a:spLocks/>
          </p:cNvSpPr>
          <p:nvPr userDrawn="1"/>
        </p:nvSpPr>
        <p:spPr bwMode="auto">
          <a:xfrm>
            <a:off x="535820" y="1580582"/>
            <a:ext cx="7822407" cy="198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defTabSz="569044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100" dirty="0">
                <a:solidFill>
                  <a:srgbClr val="8F993E"/>
                </a:solidFill>
                <a:latin typeface="Gill Sans Std Light" pitchFamily="34" charset="0"/>
                <a:ea typeface="MS PGothic" pitchFamily="34" charset="-128"/>
                <a:sym typeface="Gill Sans Std Light" pitchFamily="34" charset="0"/>
              </a:rPr>
              <a:t>obrigado</a:t>
            </a:r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500096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5" name="Picture 1" descr="NAT_marca_verde_gramado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87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0661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/>
          </p:cNvSpPr>
          <p:nvPr userDrawn="1"/>
        </p:nvSpPr>
        <p:spPr bwMode="auto">
          <a:xfrm>
            <a:off x="167449" y="407708"/>
            <a:ext cx="8809136" cy="4100401"/>
          </a:xfrm>
          <a:prstGeom prst="rect">
            <a:avLst/>
          </a:prstGeom>
          <a:solidFill>
            <a:srgbClr val="4E3629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319041" y="468378"/>
            <a:ext cx="5734534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7851665" y="293383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30356219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/>
          </p:cNvSpPr>
          <p:nvPr userDrawn="1"/>
        </p:nvSpPr>
        <p:spPr bwMode="auto">
          <a:xfrm>
            <a:off x="167449" y="407704"/>
            <a:ext cx="8809136" cy="4595161"/>
          </a:xfrm>
          <a:prstGeom prst="rect">
            <a:avLst/>
          </a:prstGeom>
          <a:solidFill>
            <a:srgbClr val="4E3629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319034" y="468378"/>
            <a:ext cx="8496000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7851665" y="293383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32561622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90490" tIns="45245" rIns="90490" bIns="45245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5"/>
            <a:ext cx="8229600" cy="3394472"/>
          </a:xfrm>
          <a:prstGeom prst="rect">
            <a:avLst/>
          </a:prstGeom>
        </p:spPr>
        <p:txBody>
          <a:bodyPr lIns="90490" tIns="45245" rIns="90490" bIns="45245"/>
          <a:lstStyle>
            <a:lvl1pPr>
              <a:defRPr>
                <a:latin typeface="Gill Sans Std"/>
              </a:defRPr>
            </a:lvl1pPr>
            <a:lvl2pPr>
              <a:defRPr>
                <a:latin typeface="Gill Sans Std"/>
              </a:defRPr>
            </a:lvl2pPr>
            <a:lvl3pPr>
              <a:defRPr>
                <a:latin typeface="Gill Sans Std"/>
              </a:defRPr>
            </a:lvl3pPr>
            <a:lvl4pPr>
              <a:defRPr>
                <a:latin typeface="Gill Sans Std"/>
              </a:defRPr>
            </a:lvl4pPr>
            <a:lvl5pPr>
              <a:defRPr>
                <a:latin typeface="Gill Sans Std"/>
              </a:defRPr>
            </a:lvl5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0490" tIns="45245" rIns="90490" bIns="45245"/>
          <a:lstStyle>
            <a:lvl1pPr>
              <a:defRPr>
                <a:latin typeface="Gill Sans Std"/>
              </a:defRPr>
            </a:lvl1pPr>
          </a:lstStyle>
          <a:p>
            <a:pPr defTabSz="904927"/>
            <a:fld id="{93530B4B-31AB-9F40-8270-0F0B97C35C9C}" type="datetimeFigureOut">
              <a:rPr lang="en-US" smtClean="0">
                <a:solidFill>
                  <a:prstClr val="black"/>
                </a:solidFill>
                <a:ea typeface="MS PGothic" pitchFamily="34" charset="-128"/>
              </a:rPr>
              <a:pPr defTabSz="904927"/>
              <a:t>7/3/2015</a:t>
            </a:fld>
            <a:endParaRPr lang="en-US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5" y="4767264"/>
            <a:ext cx="2895600" cy="273844"/>
          </a:xfrm>
          <a:prstGeom prst="rect">
            <a:avLst/>
          </a:prstGeom>
        </p:spPr>
        <p:txBody>
          <a:bodyPr lIns="90490" tIns="45245" rIns="90490" bIns="45245"/>
          <a:lstStyle>
            <a:lvl1pPr>
              <a:defRPr>
                <a:latin typeface="Gill Sans Std"/>
              </a:defRPr>
            </a:lvl1pPr>
          </a:lstStyle>
          <a:p>
            <a:pPr defTabSz="904927"/>
            <a:endParaRPr lang="en-US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0490" tIns="45245" rIns="90490" bIns="45245"/>
          <a:lstStyle>
            <a:lvl1pPr>
              <a:defRPr>
                <a:latin typeface="Gill Sans Std"/>
              </a:defRPr>
            </a:lvl1pPr>
          </a:lstStyle>
          <a:p>
            <a:pPr defTabSz="904927"/>
            <a:fld id="{9EF76E96-7B87-D64B-8195-7B24F897523F}" type="slidenum">
              <a:rPr lang="en-US" smtClean="0">
                <a:solidFill>
                  <a:prstClr val="black"/>
                </a:solidFill>
                <a:ea typeface="MS PGothic" pitchFamily="34" charset="-128"/>
              </a:rPr>
              <a:pPr defTabSz="904927"/>
              <a:t>‹nº›</a:t>
            </a:fld>
            <a:endParaRPr lang="en-US">
              <a:solidFill>
                <a:prstClr val="black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50779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38" y="342908"/>
            <a:ext cx="8226689" cy="393749"/>
          </a:xfrm>
          <a:prstGeom prst="rect">
            <a:avLst/>
          </a:prstGeom>
        </p:spPr>
        <p:txBody>
          <a:bodyPr lIns="49339" tIns="24745" rIns="49339" bIns="24745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938" y="1362310"/>
            <a:ext cx="8226689" cy="3437333"/>
          </a:xfrm>
          <a:prstGeom prst="rect">
            <a:avLst/>
          </a:prstGeom>
        </p:spPr>
        <p:txBody>
          <a:bodyPr lIns="49339" tIns="24745" rIns="49339" bIns="24745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459586" y="850963"/>
            <a:ext cx="8227220" cy="402389"/>
          </a:xfrm>
          <a:prstGeom prst="rect">
            <a:avLst/>
          </a:prstGeom>
        </p:spPr>
        <p:txBody>
          <a:bodyPr lIns="49339" tIns="24745" rIns="49339" bIns="24745" anchor="t">
            <a:noAutofit/>
          </a:bodyPr>
          <a:lstStyle>
            <a:lvl1pPr marL="0" indent="0">
              <a:buNone/>
              <a:defRPr sz="1200" b="0"/>
            </a:lvl1pPr>
            <a:lvl2pPr marL="392225" indent="0">
              <a:buNone/>
              <a:defRPr sz="1800" b="1"/>
            </a:lvl2pPr>
            <a:lvl3pPr marL="784453" indent="0">
              <a:buNone/>
              <a:defRPr sz="1600" b="1"/>
            </a:lvl3pPr>
            <a:lvl4pPr marL="1176692" indent="0">
              <a:buNone/>
              <a:defRPr sz="1400" b="1"/>
            </a:lvl4pPr>
            <a:lvl5pPr marL="1568922" indent="0">
              <a:buNone/>
              <a:defRPr sz="1400" b="1"/>
            </a:lvl5pPr>
            <a:lvl6pPr marL="1961159" indent="0">
              <a:buNone/>
              <a:defRPr sz="1400" b="1"/>
            </a:lvl6pPr>
            <a:lvl7pPr marL="2353389" indent="0">
              <a:buNone/>
              <a:defRPr sz="1400" b="1"/>
            </a:lvl7pPr>
            <a:lvl8pPr marL="2745615" indent="0">
              <a:buNone/>
              <a:defRPr sz="1400" b="1"/>
            </a:lvl8pPr>
            <a:lvl9pPr marL="3137852" indent="0">
              <a:buNone/>
              <a:defRPr sz="14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grpSp>
        <p:nvGrpSpPr>
          <p:cNvPr id="158" name="Group 157"/>
          <p:cNvGrpSpPr/>
          <p:nvPr userDrawn="1"/>
        </p:nvGrpSpPr>
        <p:grpSpPr>
          <a:xfrm>
            <a:off x="-151301" y="-105687"/>
            <a:ext cx="9439923" cy="5352394"/>
            <a:chOff x="-151325" y="-141165"/>
            <a:chExt cx="9439923" cy="7136527"/>
          </a:xfrm>
        </p:grpSpPr>
        <p:grpSp>
          <p:nvGrpSpPr>
            <p:cNvPr id="159" name="Group 158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8" name="Straight Connector 26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0" name="Group 26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3" name="Straight Connector 23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8" name="Straight Connector 19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Straight Connector 20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3" name="Straight Connector 16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16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1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8792" y="4799414"/>
            <a:ext cx="5438508" cy="34409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en-US" sz="7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00731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9347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3745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3800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9994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423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12853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917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5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165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5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4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5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0672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2496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8550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521"/>
            <a:ext cx="7772400" cy="11028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257162" indent="0" algn="ctr">
              <a:buNone/>
              <a:defRPr/>
            </a:lvl2pPr>
            <a:lvl3pPr marL="514325" indent="0" algn="ctr">
              <a:buNone/>
              <a:defRPr/>
            </a:lvl3pPr>
            <a:lvl4pPr marL="771487" indent="0" algn="ctr">
              <a:buNone/>
              <a:defRPr/>
            </a:lvl4pPr>
            <a:lvl5pPr marL="1028649" indent="0" algn="ctr">
              <a:buNone/>
              <a:defRPr/>
            </a:lvl5pPr>
            <a:lvl6pPr marL="1285811" indent="0" algn="ctr">
              <a:buNone/>
              <a:defRPr/>
            </a:lvl6pPr>
            <a:lvl7pPr marL="1542974" indent="0" algn="ctr">
              <a:buNone/>
              <a:defRPr/>
            </a:lvl7pPr>
            <a:lvl8pPr marL="1800135" indent="0" algn="ctr">
              <a:buNone/>
              <a:defRPr/>
            </a:lvl8pPr>
            <a:lvl9pPr marL="205729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14227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2482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412" y="3304882"/>
            <a:ext cx="7772400" cy="1021556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412" y="2179739"/>
            <a:ext cx="7772400" cy="1125141"/>
          </a:xfrm>
        </p:spPr>
        <p:txBody>
          <a:bodyPr anchor="b"/>
          <a:lstStyle>
            <a:lvl1pPr marL="0" indent="0">
              <a:buNone/>
              <a:defRPr sz="1100"/>
            </a:lvl1pPr>
            <a:lvl2pPr marL="257162" indent="0">
              <a:buNone/>
              <a:defRPr sz="1000"/>
            </a:lvl2pPr>
            <a:lvl3pPr marL="514325" indent="0">
              <a:buNone/>
              <a:defRPr sz="900"/>
            </a:lvl3pPr>
            <a:lvl4pPr marL="771487" indent="0">
              <a:buNone/>
              <a:defRPr sz="800"/>
            </a:lvl4pPr>
            <a:lvl5pPr marL="1028649" indent="0">
              <a:buNone/>
              <a:defRPr sz="800"/>
            </a:lvl5pPr>
            <a:lvl6pPr marL="1285811" indent="0">
              <a:buNone/>
              <a:defRPr sz="800"/>
            </a:lvl6pPr>
            <a:lvl7pPr marL="1542974" indent="0">
              <a:buNone/>
              <a:defRPr sz="800"/>
            </a:lvl7pPr>
            <a:lvl8pPr marL="1800135" indent="0">
              <a:buNone/>
              <a:defRPr sz="800"/>
            </a:lvl8pPr>
            <a:lvl9pPr marL="205729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1137769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081" y="1464471"/>
            <a:ext cx="3875484" cy="3207544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291" y="1464471"/>
            <a:ext cx="3875484" cy="3207544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40817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2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151042"/>
            <a:ext cx="4039791" cy="480417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7162" indent="0">
              <a:buNone/>
              <a:defRPr sz="1100" b="1"/>
            </a:lvl2pPr>
            <a:lvl3pPr marL="514325" indent="0">
              <a:buNone/>
              <a:defRPr sz="1000" b="1"/>
            </a:lvl3pPr>
            <a:lvl4pPr marL="771487" indent="0">
              <a:buNone/>
              <a:defRPr sz="900" b="1"/>
            </a:lvl4pPr>
            <a:lvl5pPr marL="1028649" indent="0">
              <a:buNone/>
              <a:defRPr sz="900" b="1"/>
            </a:lvl5pPr>
            <a:lvl6pPr marL="1285811" indent="0">
              <a:buNone/>
              <a:defRPr sz="900" b="1"/>
            </a:lvl6pPr>
            <a:lvl7pPr marL="1542974" indent="0">
              <a:buNone/>
              <a:defRPr sz="900" b="1"/>
            </a:lvl7pPr>
            <a:lvl8pPr marL="1800135" indent="0">
              <a:buNone/>
              <a:defRPr sz="900" b="1"/>
            </a:lvl8pPr>
            <a:lvl9pPr marL="2057297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1631455"/>
            <a:ext cx="4039791" cy="2962870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227" y="1151042"/>
            <a:ext cx="4041577" cy="480417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7162" indent="0">
              <a:buNone/>
              <a:defRPr sz="1100" b="1"/>
            </a:lvl2pPr>
            <a:lvl3pPr marL="514325" indent="0">
              <a:buNone/>
              <a:defRPr sz="1000" b="1"/>
            </a:lvl3pPr>
            <a:lvl4pPr marL="771487" indent="0">
              <a:buNone/>
              <a:defRPr sz="900" b="1"/>
            </a:lvl4pPr>
            <a:lvl5pPr marL="1028649" indent="0">
              <a:buNone/>
              <a:defRPr sz="900" b="1"/>
            </a:lvl5pPr>
            <a:lvl6pPr marL="1285811" indent="0">
              <a:buNone/>
              <a:defRPr sz="900" b="1"/>
            </a:lvl6pPr>
            <a:lvl7pPr marL="1542974" indent="0">
              <a:buNone/>
              <a:defRPr sz="900" b="1"/>
            </a:lvl7pPr>
            <a:lvl8pPr marL="1800135" indent="0">
              <a:buNone/>
              <a:defRPr sz="900" b="1"/>
            </a:lvl8pPr>
            <a:lvl9pPr marL="2057297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227" y="1631455"/>
            <a:ext cx="4041577" cy="2962870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0060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05606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6188601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490"/>
            <a:ext cx="3008412" cy="871538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449" y="204490"/>
            <a:ext cx="5111353" cy="438983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030"/>
            <a:ext cx="3008412" cy="3518297"/>
          </a:xfrm>
        </p:spPr>
        <p:txBody>
          <a:bodyPr/>
          <a:lstStyle>
            <a:lvl1pPr marL="0" indent="0">
              <a:buNone/>
              <a:defRPr sz="800"/>
            </a:lvl1pPr>
            <a:lvl2pPr marL="257162" indent="0">
              <a:buNone/>
              <a:defRPr sz="700"/>
            </a:lvl2pPr>
            <a:lvl3pPr marL="514325" indent="0">
              <a:buNone/>
              <a:defRPr sz="600"/>
            </a:lvl3pPr>
            <a:lvl4pPr marL="771487" indent="0">
              <a:buNone/>
              <a:defRPr sz="500"/>
            </a:lvl4pPr>
            <a:lvl5pPr marL="1028649" indent="0">
              <a:buNone/>
              <a:defRPr sz="500"/>
            </a:lvl5pPr>
            <a:lvl6pPr marL="1285811" indent="0">
              <a:buNone/>
              <a:defRPr sz="500"/>
            </a:lvl6pPr>
            <a:lvl7pPr marL="1542974" indent="0">
              <a:buNone/>
              <a:defRPr sz="500"/>
            </a:lvl7pPr>
            <a:lvl8pPr marL="1800135" indent="0">
              <a:buNone/>
              <a:defRPr sz="500"/>
            </a:lvl8pPr>
            <a:lvl9pPr marL="2057297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5887304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189" y="3600455"/>
            <a:ext cx="5486400" cy="425053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189" y="459883"/>
            <a:ext cx="5486400" cy="3086100"/>
          </a:xfrm>
        </p:spPr>
        <p:txBody>
          <a:bodyPr/>
          <a:lstStyle>
            <a:lvl1pPr marL="0" indent="0">
              <a:buNone/>
              <a:defRPr sz="1800"/>
            </a:lvl1pPr>
            <a:lvl2pPr marL="257162" indent="0">
              <a:buNone/>
              <a:defRPr sz="1600"/>
            </a:lvl2pPr>
            <a:lvl3pPr marL="514325" indent="0">
              <a:buNone/>
              <a:defRPr sz="1400"/>
            </a:lvl3pPr>
            <a:lvl4pPr marL="771487" indent="0">
              <a:buNone/>
              <a:defRPr sz="1100"/>
            </a:lvl4pPr>
            <a:lvl5pPr marL="1028649" indent="0">
              <a:buNone/>
              <a:defRPr sz="1100"/>
            </a:lvl5pPr>
            <a:lvl6pPr marL="1285811" indent="0">
              <a:buNone/>
              <a:defRPr sz="1100"/>
            </a:lvl6pPr>
            <a:lvl7pPr marL="1542974" indent="0">
              <a:buNone/>
              <a:defRPr sz="1100"/>
            </a:lvl7pPr>
            <a:lvl8pPr marL="1800135" indent="0">
              <a:buNone/>
              <a:defRPr sz="1100"/>
            </a:lvl8pPr>
            <a:lvl9pPr marL="2057297" indent="0">
              <a:buNone/>
              <a:defRPr sz="1100"/>
            </a:lvl9pPr>
          </a:lstStyle>
          <a:p>
            <a:pPr lvl="0"/>
            <a:endParaRPr lang="en-US" noProof="0" smtClean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189" y="4025505"/>
            <a:ext cx="5486400" cy="603647"/>
          </a:xfrm>
        </p:spPr>
        <p:txBody>
          <a:bodyPr/>
          <a:lstStyle>
            <a:lvl1pPr marL="0" indent="0">
              <a:buNone/>
              <a:defRPr sz="800"/>
            </a:lvl1pPr>
            <a:lvl2pPr marL="257162" indent="0">
              <a:buNone/>
              <a:defRPr sz="700"/>
            </a:lvl2pPr>
            <a:lvl3pPr marL="514325" indent="0">
              <a:buNone/>
              <a:defRPr sz="600"/>
            </a:lvl3pPr>
            <a:lvl4pPr marL="771487" indent="0">
              <a:buNone/>
              <a:defRPr sz="500"/>
            </a:lvl4pPr>
            <a:lvl5pPr marL="1028649" indent="0">
              <a:buNone/>
              <a:defRPr sz="500"/>
            </a:lvl5pPr>
            <a:lvl6pPr marL="1285811" indent="0">
              <a:buNone/>
              <a:defRPr sz="500"/>
            </a:lvl6pPr>
            <a:lvl7pPr marL="1542974" indent="0">
              <a:buNone/>
              <a:defRPr sz="500"/>
            </a:lvl7pPr>
            <a:lvl8pPr marL="1800135" indent="0">
              <a:buNone/>
              <a:defRPr sz="500"/>
            </a:lvl8pPr>
            <a:lvl9pPr marL="2057297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4007929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954542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611" y="135737"/>
            <a:ext cx="1959173" cy="453628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084" y="135737"/>
            <a:ext cx="5791795" cy="453628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50195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73369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521"/>
            <a:ext cx="7772400" cy="11028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257162" indent="0" algn="ctr">
              <a:buNone/>
              <a:defRPr/>
            </a:lvl2pPr>
            <a:lvl3pPr marL="514325" indent="0" algn="ctr">
              <a:buNone/>
              <a:defRPr/>
            </a:lvl3pPr>
            <a:lvl4pPr marL="771487" indent="0" algn="ctr">
              <a:buNone/>
              <a:defRPr/>
            </a:lvl4pPr>
            <a:lvl5pPr marL="1028649" indent="0" algn="ctr">
              <a:buNone/>
              <a:defRPr/>
            </a:lvl5pPr>
            <a:lvl6pPr marL="1285811" indent="0" algn="ctr">
              <a:buNone/>
              <a:defRPr/>
            </a:lvl6pPr>
            <a:lvl7pPr marL="1542974" indent="0" algn="ctr">
              <a:buNone/>
              <a:defRPr/>
            </a:lvl7pPr>
            <a:lvl8pPr marL="1800135" indent="0" algn="ctr">
              <a:buNone/>
              <a:defRPr/>
            </a:lvl8pPr>
            <a:lvl9pPr marL="205729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73616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07746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412" y="3304879"/>
            <a:ext cx="7772400" cy="1021556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412" y="2179739"/>
            <a:ext cx="7772400" cy="1125141"/>
          </a:xfrm>
        </p:spPr>
        <p:txBody>
          <a:bodyPr anchor="b"/>
          <a:lstStyle>
            <a:lvl1pPr marL="0" indent="0">
              <a:buNone/>
              <a:defRPr sz="1100"/>
            </a:lvl1pPr>
            <a:lvl2pPr marL="257162" indent="0">
              <a:buNone/>
              <a:defRPr sz="1000"/>
            </a:lvl2pPr>
            <a:lvl3pPr marL="514325" indent="0">
              <a:buNone/>
              <a:defRPr sz="900"/>
            </a:lvl3pPr>
            <a:lvl4pPr marL="771487" indent="0">
              <a:buNone/>
              <a:defRPr sz="800"/>
            </a:lvl4pPr>
            <a:lvl5pPr marL="1028649" indent="0">
              <a:buNone/>
              <a:defRPr sz="800"/>
            </a:lvl5pPr>
            <a:lvl6pPr marL="1285811" indent="0">
              <a:buNone/>
              <a:defRPr sz="800"/>
            </a:lvl6pPr>
            <a:lvl7pPr marL="1542974" indent="0">
              <a:buNone/>
              <a:defRPr sz="800"/>
            </a:lvl7pPr>
            <a:lvl8pPr marL="1800135" indent="0">
              <a:buNone/>
              <a:defRPr sz="800"/>
            </a:lvl8pPr>
            <a:lvl9pPr marL="205729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6165310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081" y="2650332"/>
            <a:ext cx="3875484" cy="59293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291" y="2650332"/>
            <a:ext cx="3875484" cy="59293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375287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276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151039"/>
            <a:ext cx="4039791" cy="480417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7162" indent="0">
              <a:buNone/>
              <a:defRPr sz="1100" b="1"/>
            </a:lvl2pPr>
            <a:lvl3pPr marL="514325" indent="0">
              <a:buNone/>
              <a:defRPr sz="1000" b="1"/>
            </a:lvl3pPr>
            <a:lvl4pPr marL="771487" indent="0">
              <a:buNone/>
              <a:defRPr sz="900" b="1"/>
            </a:lvl4pPr>
            <a:lvl5pPr marL="1028649" indent="0">
              <a:buNone/>
              <a:defRPr sz="900" b="1"/>
            </a:lvl5pPr>
            <a:lvl6pPr marL="1285811" indent="0">
              <a:buNone/>
              <a:defRPr sz="900" b="1"/>
            </a:lvl6pPr>
            <a:lvl7pPr marL="1542974" indent="0">
              <a:buNone/>
              <a:defRPr sz="900" b="1"/>
            </a:lvl7pPr>
            <a:lvl8pPr marL="1800135" indent="0">
              <a:buNone/>
              <a:defRPr sz="900" b="1"/>
            </a:lvl8pPr>
            <a:lvl9pPr marL="2057297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1631455"/>
            <a:ext cx="4039791" cy="2962870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226" y="1151039"/>
            <a:ext cx="4041577" cy="480417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7162" indent="0">
              <a:buNone/>
              <a:defRPr sz="1100" b="1"/>
            </a:lvl2pPr>
            <a:lvl3pPr marL="514325" indent="0">
              <a:buNone/>
              <a:defRPr sz="1000" b="1"/>
            </a:lvl3pPr>
            <a:lvl4pPr marL="771487" indent="0">
              <a:buNone/>
              <a:defRPr sz="900" b="1"/>
            </a:lvl4pPr>
            <a:lvl5pPr marL="1028649" indent="0">
              <a:buNone/>
              <a:defRPr sz="900" b="1"/>
            </a:lvl5pPr>
            <a:lvl6pPr marL="1285811" indent="0">
              <a:buNone/>
              <a:defRPr sz="900" b="1"/>
            </a:lvl6pPr>
            <a:lvl7pPr marL="1542974" indent="0">
              <a:buNone/>
              <a:defRPr sz="900" b="1"/>
            </a:lvl7pPr>
            <a:lvl8pPr marL="1800135" indent="0">
              <a:buNone/>
              <a:defRPr sz="900" b="1"/>
            </a:lvl8pPr>
            <a:lvl9pPr marL="2057297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226" y="1631455"/>
            <a:ext cx="4041577" cy="2962870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95550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0634"/>
      </p:ext>
    </p:extLst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7051757"/>
      </p:ext>
    </p:extLst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490"/>
            <a:ext cx="3008412" cy="871538"/>
          </a:xfrm>
        </p:spPr>
        <p:txBody>
          <a:bodyPr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449" y="204490"/>
            <a:ext cx="5111353" cy="438983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030"/>
            <a:ext cx="3008412" cy="3518297"/>
          </a:xfrm>
        </p:spPr>
        <p:txBody>
          <a:bodyPr/>
          <a:lstStyle>
            <a:lvl1pPr marL="0" indent="0">
              <a:buNone/>
              <a:defRPr sz="800"/>
            </a:lvl1pPr>
            <a:lvl2pPr marL="257162" indent="0">
              <a:buNone/>
              <a:defRPr sz="700"/>
            </a:lvl2pPr>
            <a:lvl3pPr marL="514325" indent="0">
              <a:buNone/>
              <a:defRPr sz="600"/>
            </a:lvl3pPr>
            <a:lvl4pPr marL="771487" indent="0">
              <a:buNone/>
              <a:defRPr sz="500"/>
            </a:lvl4pPr>
            <a:lvl5pPr marL="1028649" indent="0">
              <a:buNone/>
              <a:defRPr sz="500"/>
            </a:lvl5pPr>
            <a:lvl6pPr marL="1285811" indent="0">
              <a:buNone/>
              <a:defRPr sz="500"/>
            </a:lvl6pPr>
            <a:lvl7pPr marL="1542974" indent="0">
              <a:buNone/>
              <a:defRPr sz="500"/>
            </a:lvl7pPr>
            <a:lvl8pPr marL="1800135" indent="0">
              <a:buNone/>
              <a:defRPr sz="500"/>
            </a:lvl8pPr>
            <a:lvl9pPr marL="2057297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0291870"/>
      </p:ext>
    </p:extLst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189" y="3600452"/>
            <a:ext cx="5486400" cy="425053"/>
          </a:xfrm>
        </p:spPr>
        <p:txBody>
          <a:bodyPr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189" y="459879"/>
            <a:ext cx="5486400" cy="3086100"/>
          </a:xfrm>
        </p:spPr>
        <p:txBody>
          <a:bodyPr/>
          <a:lstStyle>
            <a:lvl1pPr marL="0" indent="0">
              <a:buNone/>
              <a:defRPr sz="1800"/>
            </a:lvl1pPr>
            <a:lvl2pPr marL="257162" indent="0">
              <a:buNone/>
              <a:defRPr sz="1600"/>
            </a:lvl2pPr>
            <a:lvl3pPr marL="514325" indent="0">
              <a:buNone/>
              <a:defRPr sz="1400"/>
            </a:lvl3pPr>
            <a:lvl4pPr marL="771487" indent="0">
              <a:buNone/>
              <a:defRPr sz="1100"/>
            </a:lvl4pPr>
            <a:lvl5pPr marL="1028649" indent="0">
              <a:buNone/>
              <a:defRPr sz="1100"/>
            </a:lvl5pPr>
            <a:lvl6pPr marL="1285811" indent="0">
              <a:buNone/>
              <a:defRPr sz="1100"/>
            </a:lvl6pPr>
            <a:lvl7pPr marL="1542974" indent="0">
              <a:buNone/>
              <a:defRPr sz="1100"/>
            </a:lvl7pPr>
            <a:lvl8pPr marL="1800135" indent="0">
              <a:buNone/>
              <a:defRPr sz="1100"/>
            </a:lvl8pPr>
            <a:lvl9pPr marL="2057297" indent="0">
              <a:buNone/>
              <a:defRPr sz="1100"/>
            </a:lvl9pPr>
          </a:lstStyle>
          <a:p>
            <a:pPr lvl="0"/>
            <a:endParaRPr lang="en-US" noProof="0" smtClean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189" y="4025505"/>
            <a:ext cx="5486400" cy="603647"/>
          </a:xfrm>
        </p:spPr>
        <p:txBody>
          <a:bodyPr/>
          <a:lstStyle>
            <a:lvl1pPr marL="0" indent="0">
              <a:buNone/>
              <a:defRPr sz="800"/>
            </a:lvl1pPr>
            <a:lvl2pPr marL="257162" indent="0">
              <a:buNone/>
              <a:defRPr sz="700"/>
            </a:lvl2pPr>
            <a:lvl3pPr marL="514325" indent="0">
              <a:buNone/>
              <a:defRPr sz="600"/>
            </a:lvl3pPr>
            <a:lvl4pPr marL="771487" indent="0">
              <a:buNone/>
              <a:defRPr sz="500"/>
            </a:lvl4pPr>
            <a:lvl5pPr marL="1028649" indent="0">
              <a:buNone/>
              <a:defRPr sz="500"/>
            </a:lvl5pPr>
            <a:lvl6pPr marL="1285811" indent="0">
              <a:buNone/>
              <a:defRPr sz="500"/>
            </a:lvl6pPr>
            <a:lvl7pPr marL="1542974" indent="0">
              <a:buNone/>
              <a:defRPr sz="500"/>
            </a:lvl7pPr>
            <a:lvl8pPr marL="1800135" indent="0">
              <a:buNone/>
              <a:defRPr sz="500"/>
            </a:lvl8pPr>
            <a:lvl9pPr marL="2057297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5365291"/>
      </p:ext>
    </p:extLst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56151"/>
      </p:ext>
    </p:extLst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604" y="864396"/>
            <a:ext cx="1959173" cy="237886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084" y="864396"/>
            <a:ext cx="5791795" cy="237886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40457"/>
      </p:ext>
    </p:extLst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521"/>
            <a:ext cx="7772400" cy="11028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257162" indent="0" algn="ctr">
              <a:buNone/>
              <a:defRPr/>
            </a:lvl2pPr>
            <a:lvl3pPr marL="514325" indent="0" algn="ctr">
              <a:buNone/>
              <a:defRPr/>
            </a:lvl3pPr>
            <a:lvl4pPr marL="771487" indent="0" algn="ctr">
              <a:buNone/>
              <a:defRPr/>
            </a:lvl4pPr>
            <a:lvl5pPr marL="1028649" indent="0" algn="ctr">
              <a:buNone/>
              <a:defRPr/>
            </a:lvl5pPr>
            <a:lvl6pPr marL="1285811" indent="0" algn="ctr">
              <a:buNone/>
              <a:defRPr/>
            </a:lvl6pPr>
            <a:lvl7pPr marL="1542974" indent="0" algn="ctr">
              <a:buNone/>
              <a:defRPr/>
            </a:lvl7pPr>
            <a:lvl8pPr marL="1800135" indent="0" algn="ctr">
              <a:buNone/>
              <a:defRPr/>
            </a:lvl8pPr>
            <a:lvl9pPr marL="205729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45025"/>
      </p:ext>
    </p:extLst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166969"/>
      </p:ext>
    </p:extLst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412" y="3304879"/>
            <a:ext cx="7772400" cy="1021556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412" y="2179739"/>
            <a:ext cx="7772400" cy="1125141"/>
          </a:xfrm>
        </p:spPr>
        <p:txBody>
          <a:bodyPr anchor="b"/>
          <a:lstStyle>
            <a:lvl1pPr marL="0" indent="0">
              <a:buNone/>
              <a:defRPr sz="1100"/>
            </a:lvl1pPr>
            <a:lvl2pPr marL="257162" indent="0">
              <a:buNone/>
              <a:defRPr sz="1000"/>
            </a:lvl2pPr>
            <a:lvl3pPr marL="514325" indent="0">
              <a:buNone/>
              <a:defRPr sz="900"/>
            </a:lvl3pPr>
            <a:lvl4pPr marL="771487" indent="0">
              <a:buNone/>
              <a:defRPr sz="800"/>
            </a:lvl4pPr>
            <a:lvl5pPr marL="1028649" indent="0">
              <a:buNone/>
              <a:defRPr sz="800"/>
            </a:lvl5pPr>
            <a:lvl6pPr marL="1285811" indent="0">
              <a:buNone/>
              <a:defRPr sz="800"/>
            </a:lvl6pPr>
            <a:lvl7pPr marL="1542974" indent="0">
              <a:buNone/>
              <a:defRPr sz="800"/>
            </a:lvl7pPr>
            <a:lvl8pPr marL="1800135" indent="0">
              <a:buNone/>
              <a:defRPr sz="800"/>
            </a:lvl8pPr>
            <a:lvl9pPr marL="205729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6589506"/>
      </p:ext>
    </p:extLst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081" y="2650332"/>
            <a:ext cx="3875484" cy="59293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291" y="2650332"/>
            <a:ext cx="3875484" cy="59293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12580"/>
      </p:ext>
    </p:extLst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276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151039"/>
            <a:ext cx="4039791" cy="480417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7162" indent="0">
              <a:buNone/>
              <a:defRPr sz="1100" b="1"/>
            </a:lvl2pPr>
            <a:lvl3pPr marL="514325" indent="0">
              <a:buNone/>
              <a:defRPr sz="1000" b="1"/>
            </a:lvl3pPr>
            <a:lvl4pPr marL="771487" indent="0">
              <a:buNone/>
              <a:defRPr sz="900" b="1"/>
            </a:lvl4pPr>
            <a:lvl5pPr marL="1028649" indent="0">
              <a:buNone/>
              <a:defRPr sz="900" b="1"/>
            </a:lvl5pPr>
            <a:lvl6pPr marL="1285811" indent="0">
              <a:buNone/>
              <a:defRPr sz="900" b="1"/>
            </a:lvl6pPr>
            <a:lvl7pPr marL="1542974" indent="0">
              <a:buNone/>
              <a:defRPr sz="900" b="1"/>
            </a:lvl7pPr>
            <a:lvl8pPr marL="1800135" indent="0">
              <a:buNone/>
              <a:defRPr sz="900" b="1"/>
            </a:lvl8pPr>
            <a:lvl9pPr marL="2057297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1631455"/>
            <a:ext cx="4039791" cy="2962870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226" y="1151039"/>
            <a:ext cx="4041577" cy="480417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7162" indent="0">
              <a:buNone/>
              <a:defRPr sz="1100" b="1"/>
            </a:lvl2pPr>
            <a:lvl3pPr marL="514325" indent="0">
              <a:buNone/>
              <a:defRPr sz="1000" b="1"/>
            </a:lvl3pPr>
            <a:lvl4pPr marL="771487" indent="0">
              <a:buNone/>
              <a:defRPr sz="900" b="1"/>
            </a:lvl4pPr>
            <a:lvl5pPr marL="1028649" indent="0">
              <a:buNone/>
              <a:defRPr sz="900" b="1"/>
            </a:lvl5pPr>
            <a:lvl6pPr marL="1285811" indent="0">
              <a:buNone/>
              <a:defRPr sz="900" b="1"/>
            </a:lvl6pPr>
            <a:lvl7pPr marL="1542974" indent="0">
              <a:buNone/>
              <a:defRPr sz="900" b="1"/>
            </a:lvl7pPr>
            <a:lvl8pPr marL="1800135" indent="0">
              <a:buNone/>
              <a:defRPr sz="900" b="1"/>
            </a:lvl8pPr>
            <a:lvl9pPr marL="2057297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226" y="1631455"/>
            <a:ext cx="4041577" cy="2962870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52763"/>
      </p:ext>
    </p:extLst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61097"/>
      </p:ext>
    </p:extLst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113352"/>
      </p:ext>
    </p:extLst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490"/>
            <a:ext cx="3008412" cy="871538"/>
          </a:xfrm>
        </p:spPr>
        <p:txBody>
          <a:bodyPr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449" y="204490"/>
            <a:ext cx="5111353" cy="438983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030"/>
            <a:ext cx="3008412" cy="3518297"/>
          </a:xfrm>
        </p:spPr>
        <p:txBody>
          <a:bodyPr/>
          <a:lstStyle>
            <a:lvl1pPr marL="0" indent="0">
              <a:buNone/>
              <a:defRPr sz="800"/>
            </a:lvl1pPr>
            <a:lvl2pPr marL="257162" indent="0">
              <a:buNone/>
              <a:defRPr sz="700"/>
            </a:lvl2pPr>
            <a:lvl3pPr marL="514325" indent="0">
              <a:buNone/>
              <a:defRPr sz="600"/>
            </a:lvl3pPr>
            <a:lvl4pPr marL="771487" indent="0">
              <a:buNone/>
              <a:defRPr sz="500"/>
            </a:lvl4pPr>
            <a:lvl5pPr marL="1028649" indent="0">
              <a:buNone/>
              <a:defRPr sz="500"/>
            </a:lvl5pPr>
            <a:lvl6pPr marL="1285811" indent="0">
              <a:buNone/>
              <a:defRPr sz="500"/>
            </a:lvl6pPr>
            <a:lvl7pPr marL="1542974" indent="0">
              <a:buNone/>
              <a:defRPr sz="500"/>
            </a:lvl7pPr>
            <a:lvl8pPr marL="1800135" indent="0">
              <a:buNone/>
              <a:defRPr sz="500"/>
            </a:lvl8pPr>
            <a:lvl9pPr marL="2057297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5572291"/>
      </p:ext>
    </p:extLst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189" y="3600452"/>
            <a:ext cx="5486400" cy="425053"/>
          </a:xfrm>
        </p:spPr>
        <p:txBody>
          <a:bodyPr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189" y="459879"/>
            <a:ext cx="5486400" cy="3086100"/>
          </a:xfrm>
        </p:spPr>
        <p:txBody>
          <a:bodyPr/>
          <a:lstStyle>
            <a:lvl1pPr marL="0" indent="0">
              <a:buNone/>
              <a:defRPr sz="1800"/>
            </a:lvl1pPr>
            <a:lvl2pPr marL="257162" indent="0">
              <a:buNone/>
              <a:defRPr sz="1600"/>
            </a:lvl2pPr>
            <a:lvl3pPr marL="514325" indent="0">
              <a:buNone/>
              <a:defRPr sz="1400"/>
            </a:lvl3pPr>
            <a:lvl4pPr marL="771487" indent="0">
              <a:buNone/>
              <a:defRPr sz="1100"/>
            </a:lvl4pPr>
            <a:lvl5pPr marL="1028649" indent="0">
              <a:buNone/>
              <a:defRPr sz="1100"/>
            </a:lvl5pPr>
            <a:lvl6pPr marL="1285811" indent="0">
              <a:buNone/>
              <a:defRPr sz="1100"/>
            </a:lvl6pPr>
            <a:lvl7pPr marL="1542974" indent="0">
              <a:buNone/>
              <a:defRPr sz="1100"/>
            </a:lvl7pPr>
            <a:lvl8pPr marL="1800135" indent="0">
              <a:buNone/>
              <a:defRPr sz="1100"/>
            </a:lvl8pPr>
            <a:lvl9pPr marL="2057297" indent="0">
              <a:buNone/>
              <a:defRPr sz="1100"/>
            </a:lvl9pPr>
          </a:lstStyle>
          <a:p>
            <a:pPr lvl="0"/>
            <a:endParaRPr lang="en-US" noProof="0" smtClean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189" y="4025505"/>
            <a:ext cx="5486400" cy="603647"/>
          </a:xfrm>
        </p:spPr>
        <p:txBody>
          <a:bodyPr/>
          <a:lstStyle>
            <a:lvl1pPr marL="0" indent="0">
              <a:buNone/>
              <a:defRPr sz="800"/>
            </a:lvl1pPr>
            <a:lvl2pPr marL="257162" indent="0">
              <a:buNone/>
              <a:defRPr sz="700"/>
            </a:lvl2pPr>
            <a:lvl3pPr marL="514325" indent="0">
              <a:buNone/>
              <a:defRPr sz="600"/>
            </a:lvl3pPr>
            <a:lvl4pPr marL="771487" indent="0">
              <a:buNone/>
              <a:defRPr sz="500"/>
            </a:lvl4pPr>
            <a:lvl5pPr marL="1028649" indent="0">
              <a:buNone/>
              <a:defRPr sz="500"/>
            </a:lvl5pPr>
            <a:lvl6pPr marL="1285811" indent="0">
              <a:buNone/>
              <a:defRPr sz="500"/>
            </a:lvl6pPr>
            <a:lvl7pPr marL="1542974" indent="0">
              <a:buNone/>
              <a:defRPr sz="500"/>
            </a:lvl7pPr>
            <a:lvl8pPr marL="1800135" indent="0">
              <a:buNone/>
              <a:defRPr sz="500"/>
            </a:lvl8pPr>
            <a:lvl9pPr marL="2057297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4705452"/>
      </p:ext>
    </p:extLst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88380"/>
      </p:ext>
    </p:extLst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604" y="864396"/>
            <a:ext cx="1959173" cy="237886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084" y="864396"/>
            <a:ext cx="5791795" cy="237886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896246"/>
      </p:ext>
    </p:extLst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68524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385F-E896-465A-A5C5-78D5E65B06B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4C3C-1D29-48BF-BAEB-BD6BB8505D9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30990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385F-E896-465A-A5C5-78D5E65B06B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4C3C-1D29-48BF-BAEB-BD6BB8505D9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57263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385F-E896-465A-A5C5-78D5E65B06B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4C3C-1D29-48BF-BAEB-BD6BB8505D9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30039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385F-E896-465A-A5C5-78D5E65B06B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4C3C-1D29-48BF-BAEB-BD6BB8505D9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76796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385F-E896-465A-A5C5-78D5E65B06B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4C3C-1D29-48BF-BAEB-BD6BB8505D9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08791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385F-E896-465A-A5C5-78D5E65B06B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4C3C-1D29-48BF-BAEB-BD6BB8505D9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27205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385F-E896-465A-A5C5-78D5E65B06B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4C3C-1D29-48BF-BAEB-BD6BB8505D9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90584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385F-E896-465A-A5C5-78D5E65B06B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4C3C-1D29-48BF-BAEB-BD6BB8505D9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23124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385F-E896-465A-A5C5-78D5E65B06B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4C3C-1D29-48BF-BAEB-BD6BB8505D9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35446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385F-E896-465A-A5C5-78D5E65B06B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4C3C-1D29-48BF-BAEB-BD6BB8505D9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61728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385F-E896-465A-A5C5-78D5E65B06B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4C3C-1D29-48BF-BAEB-BD6BB8505D9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836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4601C-BCAA-4713-AB57-1F2604E67E0C}" type="datetimeFigureOut">
              <a:rPr lang="pt-BR" smtClean="0"/>
              <a:t>03/07/2015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1774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5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4" indent="-342884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6" algn="l" defTabSz="9143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09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5pPr>
      <a:lvl6pPr marL="285006" algn="ctr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6pPr>
      <a:lvl7pPr marL="569998" algn="ctr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7pPr>
      <a:lvl8pPr marL="855011" algn="ctr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8pPr>
      <a:lvl9pPr marL="1140004" algn="ctr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9pPr>
    </p:titleStyle>
    <p:bodyStyle>
      <a:lvl1pPr marL="212779" indent="-21277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62167" indent="-177146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11551" indent="-141524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996573" indent="-141524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1596" indent="-141524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67519" indent="-142507" algn="l" defTabSz="569998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52520" indent="-142507" algn="l" defTabSz="569998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7523" indent="-142507" algn="l" defTabSz="569998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22529" indent="-142507" algn="l" defTabSz="569998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85006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69998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55011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0004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25011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014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95013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80021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87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ctr" defTabSz="91435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4" indent="-342884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6" algn="l" defTabSz="9143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50082" y="135733"/>
            <a:ext cx="7836694" cy="1293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8574" tIns="28574" rIns="28574" bIns="2857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Gill Sans" charset="0"/>
              </a:rPr>
              <a:t>Click to edit Master title style</a:t>
            </a: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0082" y="1464471"/>
            <a:ext cx="7836694" cy="3207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8574" tIns="28574" rIns="28574" bIns="2857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Gill Sans" charset="0"/>
              </a:rPr>
              <a:t>Click to edit Master text styles</a:t>
            </a:r>
          </a:p>
          <a:p>
            <a:pPr lvl="1"/>
            <a:r>
              <a:rPr lang="en-US" smtClean="0">
                <a:sym typeface="Gill Sans" charset="0"/>
              </a:rPr>
              <a:t>Second level</a:t>
            </a:r>
          </a:p>
          <a:p>
            <a:pPr lvl="2"/>
            <a:r>
              <a:rPr lang="en-US" smtClean="0">
                <a:sym typeface="Gill Sans" charset="0"/>
              </a:rPr>
              <a:t>Third level</a:t>
            </a:r>
          </a:p>
          <a:p>
            <a:pPr lvl="3"/>
            <a:r>
              <a:rPr lang="en-US" smtClean="0">
                <a:sym typeface="Gill Sans" charset="0"/>
              </a:rPr>
              <a:t>Fourth level</a:t>
            </a:r>
          </a:p>
          <a:p>
            <a:pPr lvl="4"/>
            <a:r>
              <a:rPr lang="en-US" smtClean="0">
                <a:sym typeface="Gill Sans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643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257162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514325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771487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028649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92888" indent="-300023" algn="l" rtl="0" eaLnBrk="0" fontAlgn="base" hangingPunct="0">
        <a:spcBef>
          <a:spcPts val="1969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557185" indent="-300023" algn="l" rtl="0" eaLnBrk="0" fontAlgn="base" hangingPunct="0">
        <a:spcBef>
          <a:spcPts val="1969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721483" indent="-300023" algn="l" rtl="0" eaLnBrk="0" fontAlgn="base" hangingPunct="0">
        <a:spcBef>
          <a:spcPts val="1969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892925" indent="-300023" algn="l" rtl="0" eaLnBrk="0" fontAlgn="base" hangingPunct="0">
        <a:spcBef>
          <a:spcPts val="1969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1057223" indent="-300023" algn="l" rtl="0" eaLnBrk="0" fontAlgn="base" hangingPunct="0">
        <a:spcBef>
          <a:spcPts val="1969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1314384" indent="-300023" algn="l" rtl="0" fontAlgn="base">
        <a:spcBef>
          <a:spcPts val="1969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1571547" indent="-300023" algn="l" rtl="0" fontAlgn="base">
        <a:spcBef>
          <a:spcPts val="1969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828709" indent="-300023" algn="l" rtl="0" fontAlgn="base">
        <a:spcBef>
          <a:spcPts val="1969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2085871" indent="-300023" algn="l" rtl="0" fontAlgn="base">
        <a:spcBef>
          <a:spcPts val="1969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62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25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487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649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11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2974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135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297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50082" y="864396"/>
            <a:ext cx="7836694" cy="1735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28574" tIns="28574" rIns="28574" bIns="2857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0082" y="2650332"/>
            <a:ext cx="7836694" cy="592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28574" tIns="28574" rIns="28574" bIns="2857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text styles</a:t>
            </a:r>
          </a:p>
          <a:p>
            <a:pPr lvl="1"/>
            <a:r>
              <a:rPr lang="en-US">
                <a:sym typeface="Gill Sans" charset="0"/>
              </a:rPr>
              <a:t>Second level</a:t>
            </a:r>
          </a:p>
          <a:p>
            <a:pPr lvl="2"/>
            <a:r>
              <a:rPr lang="en-US">
                <a:sym typeface="Gill Sans" charset="0"/>
              </a:rPr>
              <a:t>Third level</a:t>
            </a:r>
          </a:p>
          <a:p>
            <a:pPr lvl="3"/>
            <a:r>
              <a:rPr lang="en-US">
                <a:sym typeface="Gill Sans" charset="0"/>
              </a:rPr>
              <a:t>Fourth level</a:t>
            </a:r>
          </a:p>
          <a:p>
            <a:pPr lvl="4"/>
            <a:r>
              <a:rPr lang="en-US">
                <a:sym typeface="Gill Sans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888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257162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514325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771487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028649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192872" indent="-192872"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417889" indent="-160726"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642906" indent="-128582"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900068" indent="-128582"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1157230" indent="-128582"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257162"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514325"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771487"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028649"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62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25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487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649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11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2974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135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297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50082" y="864396"/>
            <a:ext cx="7836694" cy="1735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28574" tIns="28574" rIns="28574" bIns="2857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0082" y="2650332"/>
            <a:ext cx="7836694" cy="592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28574" tIns="28574" rIns="28574" bIns="2857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text styles</a:t>
            </a:r>
          </a:p>
          <a:p>
            <a:pPr lvl="1"/>
            <a:r>
              <a:rPr lang="en-US">
                <a:sym typeface="Gill Sans" charset="0"/>
              </a:rPr>
              <a:t>Second level</a:t>
            </a:r>
          </a:p>
          <a:p>
            <a:pPr lvl="2"/>
            <a:r>
              <a:rPr lang="en-US">
                <a:sym typeface="Gill Sans" charset="0"/>
              </a:rPr>
              <a:t>Third level</a:t>
            </a:r>
          </a:p>
          <a:p>
            <a:pPr lvl="3"/>
            <a:r>
              <a:rPr lang="en-US">
                <a:sym typeface="Gill Sans" charset="0"/>
              </a:rPr>
              <a:t>Fourth level</a:t>
            </a:r>
          </a:p>
          <a:p>
            <a:pPr lvl="4"/>
            <a:r>
              <a:rPr lang="en-US">
                <a:sym typeface="Gill Sans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6714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257162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514325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771487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028649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192872" indent="-192872"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417889" indent="-160726"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642906" indent="-128582"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900068" indent="-128582"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1157230" indent="-128582"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257162"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514325"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771487"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028649"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62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25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487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649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11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2974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135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297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fld id="{9BAA385F-E896-465A-A5C5-78D5E65B06B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685800"/>
              <a:t>03/07/2015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fld id="{8B734C3C-1D29-48BF-BAEB-BD6BB8505D9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685800"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529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://4.bp.blogspot.com/-OFTxOZcxujU/T-toBmzETPI/AAAAAAAABnI/GMYClse5lUE/s1600/arrow1.png" TargetMode="Externa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3.xml"/><Relationship Id="rId7" Type="http://schemas.openxmlformats.org/officeDocument/2006/relationships/image" Target="../media/image18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cppm9011.ondemand.ca.com/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image" Target="../media/image46.pn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45.png"/><Relationship Id="rId2" Type="http://schemas.openxmlformats.org/officeDocument/2006/relationships/tags" Target="../tags/tag15.xml"/><Relationship Id="rId16" Type="http://schemas.openxmlformats.org/officeDocument/2006/relationships/image" Target="../media/image49.png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44.png"/><Relationship Id="rId5" Type="http://schemas.openxmlformats.org/officeDocument/2006/relationships/tags" Target="../tags/tag18.xml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tags" Target="../tags/tag17.xml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2" Type="http://schemas.openxmlformats.org/officeDocument/2006/relationships/tags" Target="../tags/tag22.xml"/><Relationship Id="rId16" Type="http://schemas.microsoft.com/office/2007/relationships/hdphoto" Target="../media/hdphoto2.wdp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image" Target="../media/image50.png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3" Type="http://schemas.openxmlformats.org/officeDocument/2006/relationships/tags" Target="../tags/tag36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tags" Target="../tags/tag53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image" Target="../media/image55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6.xml"/><Relationship Id="rId21" Type="http://schemas.microsoft.com/office/2007/relationships/hdphoto" Target="../media/hdphoto3.wdp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tags" Target="../tags/tag70.xml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20" Type="http://schemas.openxmlformats.org/officeDocument/2006/relationships/image" Target="../media/image64.png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23" Type="http://schemas.openxmlformats.org/officeDocument/2006/relationships/image" Target="../media/image62.png"/><Relationship Id="rId10" Type="http://schemas.openxmlformats.org/officeDocument/2006/relationships/tags" Target="../tags/tag63.xml"/><Relationship Id="rId19" Type="http://schemas.openxmlformats.org/officeDocument/2006/relationships/image" Target="../media/image63.png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Relationship Id="rId22" Type="http://schemas.openxmlformats.org/officeDocument/2006/relationships/image" Target="../media/image6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.xml"/><Relationship Id="rId6" Type="http://schemas.openxmlformats.org/officeDocument/2006/relationships/image" Target="../media/image61.png"/><Relationship Id="rId5" Type="http://schemas.microsoft.com/office/2007/relationships/hdphoto" Target="../media/hdphoto4.wdp"/><Relationship Id="rId4" Type="http://schemas.openxmlformats.org/officeDocument/2006/relationships/image" Target="../media/image65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13" Type="http://schemas.openxmlformats.org/officeDocument/2006/relationships/tags" Target="../tags/tag8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4.xml"/><Relationship Id="rId21" Type="http://schemas.openxmlformats.org/officeDocument/2006/relationships/image" Target="../media/image66.png"/><Relationship Id="rId7" Type="http://schemas.openxmlformats.org/officeDocument/2006/relationships/tags" Target="../tags/tag78.xml"/><Relationship Id="rId12" Type="http://schemas.openxmlformats.org/officeDocument/2006/relationships/tags" Target="../tags/tag83.xml"/><Relationship Id="rId17" Type="http://schemas.openxmlformats.org/officeDocument/2006/relationships/tags" Target="../tags/tag88.xml"/><Relationship Id="rId2" Type="http://schemas.openxmlformats.org/officeDocument/2006/relationships/tags" Target="../tags/tag73.xml"/><Relationship Id="rId16" Type="http://schemas.openxmlformats.org/officeDocument/2006/relationships/tags" Target="../tags/tag87.xml"/><Relationship Id="rId20" Type="http://schemas.openxmlformats.org/officeDocument/2006/relationships/image" Target="../media/image62.png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tags" Target="../tags/tag82.xml"/><Relationship Id="rId5" Type="http://schemas.openxmlformats.org/officeDocument/2006/relationships/tags" Target="../tags/tag76.xml"/><Relationship Id="rId15" Type="http://schemas.openxmlformats.org/officeDocument/2006/relationships/tags" Target="../tags/tag86.xml"/><Relationship Id="rId10" Type="http://schemas.openxmlformats.org/officeDocument/2006/relationships/tags" Target="../tags/tag81.xml"/><Relationship Id="rId19" Type="http://schemas.openxmlformats.org/officeDocument/2006/relationships/image" Target="../media/image61.png"/><Relationship Id="rId4" Type="http://schemas.openxmlformats.org/officeDocument/2006/relationships/tags" Target="../tags/tag75.xml"/><Relationship Id="rId9" Type="http://schemas.openxmlformats.org/officeDocument/2006/relationships/tags" Target="../tags/tag80.xml"/><Relationship Id="rId14" Type="http://schemas.openxmlformats.org/officeDocument/2006/relationships/tags" Target="../tags/tag8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file:///D:\Processos%20DA\N2%20Metro%20Natura\99%20-%20Templates\2.%20MR%20-%20Plan%20Requisitos%20e%20Estimativas%20(uso%20interno%20Natura)%20v4.xlsx" TargetMode="External"/><Relationship Id="rId5" Type="http://schemas.openxmlformats.org/officeDocument/2006/relationships/image" Target="../media/image66.png"/><Relationship Id="rId4" Type="http://schemas.openxmlformats.org/officeDocument/2006/relationships/image" Target="../media/image62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2.png"/><Relationship Id="rId7" Type="http://schemas.openxmlformats.org/officeDocument/2006/relationships/image" Target="../media/image7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6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62.png"/><Relationship Id="rId7" Type="http://schemas.openxmlformats.org/officeDocument/2006/relationships/image" Target="../media/image7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13" Type="http://schemas.openxmlformats.org/officeDocument/2006/relationships/tags" Target="../tags/tag101.xml"/><Relationship Id="rId18" Type="http://schemas.openxmlformats.org/officeDocument/2006/relationships/tags" Target="../tags/tag106.xml"/><Relationship Id="rId26" Type="http://schemas.openxmlformats.org/officeDocument/2006/relationships/tags" Target="../tags/tag114.xml"/><Relationship Id="rId3" Type="http://schemas.openxmlformats.org/officeDocument/2006/relationships/tags" Target="../tags/tag91.xml"/><Relationship Id="rId21" Type="http://schemas.openxmlformats.org/officeDocument/2006/relationships/tags" Target="../tags/tag109.xml"/><Relationship Id="rId7" Type="http://schemas.openxmlformats.org/officeDocument/2006/relationships/tags" Target="../tags/tag95.xml"/><Relationship Id="rId12" Type="http://schemas.openxmlformats.org/officeDocument/2006/relationships/tags" Target="../tags/tag100.xml"/><Relationship Id="rId17" Type="http://schemas.openxmlformats.org/officeDocument/2006/relationships/tags" Target="../tags/tag105.xml"/><Relationship Id="rId25" Type="http://schemas.openxmlformats.org/officeDocument/2006/relationships/tags" Target="../tags/tag113.xml"/><Relationship Id="rId2" Type="http://schemas.openxmlformats.org/officeDocument/2006/relationships/tags" Target="../tags/tag90.xml"/><Relationship Id="rId16" Type="http://schemas.openxmlformats.org/officeDocument/2006/relationships/tags" Target="../tags/tag104.xml"/><Relationship Id="rId20" Type="http://schemas.openxmlformats.org/officeDocument/2006/relationships/tags" Target="../tags/tag108.xml"/><Relationship Id="rId29" Type="http://schemas.openxmlformats.org/officeDocument/2006/relationships/image" Target="../media/image61.png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tags" Target="../tags/tag99.xml"/><Relationship Id="rId24" Type="http://schemas.openxmlformats.org/officeDocument/2006/relationships/tags" Target="../tags/tag112.xml"/><Relationship Id="rId5" Type="http://schemas.openxmlformats.org/officeDocument/2006/relationships/tags" Target="../tags/tag93.xml"/><Relationship Id="rId15" Type="http://schemas.openxmlformats.org/officeDocument/2006/relationships/tags" Target="../tags/tag103.xml"/><Relationship Id="rId23" Type="http://schemas.openxmlformats.org/officeDocument/2006/relationships/tags" Target="../tags/tag111.xml"/><Relationship Id="rId28" Type="http://schemas.openxmlformats.org/officeDocument/2006/relationships/slideLayout" Target="../slideLayouts/slideLayout7.xml"/><Relationship Id="rId10" Type="http://schemas.openxmlformats.org/officeDocument/2006/relationships/tags" Target="../tags/tag98.xml"/><Relationship Id="rId19" Type="http://schemas.openxmlformats.org/officeDocument/2006/relationships/tags" Target="../tags/tag107.xml"/><Relationship Id="rId31" Type="http://schemas.openxmlformats.org/officeDocument/2006/relationships/image" Target="../media/image78.png"/><Relationship Id="rId4" Type="http://schemas.openxmlformats.org/officeDocument/2006/relationships/tags" Target="../tags/tag92.xml"/><Relationship Id="rId9" Type="http://schemas.openxmlformats.org/officeDocument/2006/relationships/tags" Target="../tags/tag97.xml"/><Relationship Id="rId14" Type="http://schemas.openxmlformats.org/officeDocument/2006/relationships/tags" Target="../tags/tag102.xml"/><Relationship Id="rId22" Type="http://schemas.openxmlformats.org/officeDocument/2006/relationships/tags" Target="../tags/tag110.xml"/><Relationship Id="rId27" Type="http://schemas.openxmlformats.org/officeDocument/2006/relationships/tags" Target="../tags/tag115.xml"/><Relationship Id="rId30" Type="http://schemas.openxmlformats.org/officeDocument/2006/relationships/image" Target="../media/image6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7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7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62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tags" Target="../tags/tag128.xml"/><Relationship Id="rId18" Type="http://schemas.openxmlformats.org/officeDocument/2006/relationships/tags" Target="../tags/tag133.xml"/><Relationship Id="rId26" Type="http://schemas.openxmlformats.org/officeDocument/2006/relationships/tags" Target="../tags/tag141.xml"/><Relationship Id="rId3" Type="http://schemas.openxmlformats.org/officeDocument/2006/relationships/tags" Target="../tags/tag118.xml"/><Relationship Id="rId21" Type="http://schemas.openxmlformats.org/officeDocument/2006/relationships/tags" Target="../tags/tag136.xml"/><Relationship Id="rId7" Type="http://schemas.openxmlformats.org/officeDocument/2006/relationships/tags" Target="../tags/tag122.xml"/><Relationship Id="rId12" Type="http://schemas.openxmlformats.org/officeDocument/2006/relationships/tags" Target="../tags/tag127.xml"/><Relationship Id="rId17" Type="http://schemas.openxmlformats.org/officeDocument/2006/relationships/tags" Target="../tags/tag132.xml"/><Relationship Id="rId25" Type="http://schemas.openxmlformats.org/officeDocument/2006/relationships/tags" Target="../tags/tag140.xml"/><Relationship Id="rId2" Type="http://schemas.openxmlformats.org/officeDocument/2006/relationships/tags" Target="../tags/tag117.xml"/><Relationship Id="rId16" Type="http://schemas.openxmlformats.org/officeDocument/2006/relationships/tags" Target="../tags/tag131.xml"/><Relationship Id="rId20" Type="http://schemas.openxmlformats.org/officeDocument/2006/relationships/tags" Target="../tags/tag135.xml"/><Relationship Id="rId29" Type="http://schemas.openxmlformats.org/officeDocument/2006/relationships/slideLayout" Target="../slideLayouts/slideLayout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24" Type="http://schemas.openxmlformats.org/officeDocument/2006/relationships/tags" Target="../tags/tag139.xml"/><Relationship Id="rId32" Type="http://schemas.microsoft.com/office/2007/relationships/hdphoto" Target="../media/hdphoto5.wdp"/><Relationship Id="rId5" Type="http://schemas.openxmlformats.org/officeDocument/2006/relationships/tags" Target="../tags/tag120.xml"/><Relationship Id="rId15" Type="http://schemas.openxmlformats.org/officeDocument/2006/relationships/tags" Target="../tags/tag130.xml"/><Relationship Id="rId23" Type="http://schemas.openxmlformats.org/officeDocument/2006/relationships/tags" Target="../tags/tag138.xml"/><Relationship Id="rId28" Type="http://schemas.openxmlformats.org/officeDocument/2006/relationships/tags" Target="../tags/tag143.xml"/><Relationship Id="rId10" Type="http://schemas.openxmlformats.org/officeDocument/2006/relationships/tags" Target="../tags/tag125.xml"/><Relationship Id="rId19" Type="http://schemas.openxmlformats.org/officeDocument/2006/relationships/tags" Target="../tags/tag134.xml"/><Relationship Id="rId31" Type="http://schemas.openxmlformats.org/officeDocument/2006/relationships/image" Target="../media/image84.png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tags" Target="../tags/tag129.xml"/><Relationship Id="rId22" Type="http://schemas.openxmlformats.org/officeDocument/2006/relationships/tags" Target="../tags/tag137.xml"/><Relationship Id="rId27" Type="http://schemas.openxmlformats.org/officeDocument/2006/relationships/tags" Target="../tags/tag142.xml"/><Relationship Id="rId30" Type="http://schemas.openxmlformats.org/officeDocument/2006/relationships/image" Target="../media/image8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83.png"/><Relationship Id="rId5" Type="http://schemas.openxmlformats.org/officeDocument/2006/relationships/image" Target="../media/image85.wmf"/><Relationship Id="rId4" Type="http://schemas.openxmlformats.org/officeDocument/2006/relationships/package" Target="../embeddings/Microsoft_PowerPoint_Presentation1.pptx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75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73.png"/><Relationship Id="rId4" Type="http://schemas.openxmlformats.org/officeDocument/2006/relationships/image" Target="../media/image87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tags" Target="../tags/tag151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146.xml"/><Relationship Id="rId7" Type="http://schemas.openxmlformats.org/officeDocument/2006/relationships/tags" Target="../tags/tag150.xml"/><Relationship Id="rId12" Type="http://schemas.openxmlformats.org/officeDocument/2006/relationships/tags" Target="../tags/tag155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11" Type="http://schemas.openxmlformats.org/officeDocument/2006/relationships/tags" Target="../tags/tag154.xml"/><Relationship Id="rId5" Type="http://schemas.openxmlformats.org/officeDocument/2006/relationships/tags" Target="../tags/tag148.xml"/><Relationship Id="rId10" Type="http://schemas.openxmlformats.org/officeDocument/2006/relationships/tags" Target="../tags/tag153.xml"/><Relationship Id="rId4" Type="http://schemas.openxmlformats.org/officeDocument/2006/relationships/tags" Target="../tags/tag147.xml"/><Relationship Id="rId9" Type="http://schemas.openxmlformats.org/officeDocument/2006/relationships/tags" Target="../tags/tag152.xml"/><Relationship Id="rId14" Type="http://schemas.openxmlformats.org/officeDocument/2006/relationships/image" Target="../media/image89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11" Type="http://schemas.openxmlformats.org/officeDocument/2006/relationships/image" Target="../media/image94.png"/><Relationship Id="rId5" Type="http://schemas.openxmlformats.org/officeDocument/2006/relationships/diagramColors" Target="../diagrams/colors4.xml"/><Relationship Id="rId10" Type="http://schemas.openxmlformats.org/officeDocument/2006/relationships/image" Target="../media/image93.png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92.png"/><Relationship Id="rId14" Type="http://schemas.openxmlformats.org/officeDocument/2006/relationships/image" Target="../media/image89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90.png"/><Relationship Id="rId7" Type="http://schemas.openxmlformats.org/officeDocument/2006/relationships/image" Target="../media/image93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5" Type="http://schemas.openxmlformats.org/officeDocument/2006/relationships/image" Target="../media/image96.png"/><Relationship Id="rId4" Type="http://schemas.openxmlformats.org/officeDocument/2006/relationships/image" Target="../media/image91.png"/><Relationship Id="rId9" Type="http://schemas.openxmlformats.org/officeDocument/2006/relationships/image" Target="../media/image95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7.xml"/><Relationship Id="rId6" Type="http://schemas.openxmlformats.org/officeDocument/2006/relationships/image" Target="../media/image89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101.png"/><Relationship Id="rId12" Type="http://schemas.openxmlformats.org/officeDocument/2006/relationships/image" Target="../media/image95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7.xml"/><Relationship Id="rId6" Type="http://schemas.microsoft.com/office/2007/relationships/diagramDrawing" Target="../diagrams/drawing5.xml"/><Relationship Id="rId11" Type="http://schemas.openxmlformats.org/officeDocument/2006/relationships/image" Target="../media/image94.png"/><Relationship Id="rId5" Type="http://schemas.openxmlformats.org/officeDocument/2006/relationships/diagramColors" Target="../diagrams/colors5.xml"/><Relationship Id="rId15" Type="http://schemas.openxmlformats.org/officeDocument/2006/relationships/image" Target="../media/image89.png"/><Relationship Id="rId10" Type="http://schemas.openxmlformats.org/officeDocument/2006/relationships/image" Target="../media/image93.png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4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tags" Target="../tags/tag163.xml"/><Relationship Id="rId13" Type="http://schemas.openxmlformats.org/officeDocument/2006/relationships/tags" Target="../tags/tag168.xml"/><Relationship Id="rId18" Type="http://schemas.openxmlformats.org/officeDocument/2006/relationships/tags" Target="../tags/tag173.xml"/><Relationship Id="rId26" Type="http://schemas.openxmlformats.org/officeDocument/2006/relationships/tags" Target="../tags/tag181.xml"/><Relationship Id="rId3" Type="http://schemas.openxmlformats.org/officeDocument/2006/relationships/tags" Target="../tags/tag158.xml"/><Relationship Id="rId21" Type="http://schemas.openxmlformats.org/officeDocument/2006/relationships/tags" Target="../tags/tag176.xml"/><Relationship Id="rId7" Type="http://schemas.openxmlformats.org/officeDocument/2006/relationships/tags" Target="../tags/tag162.xml"/><Relationship Id="rId12" Type="http://schemas.openxmlformats.org/officeDocument/2006/relationships/tags" Target="../tags/tag167.xml"/><Relationship Id="rId17" Type="http://schemas.openxmlformats.org/officeDocument/2006/relationships/tags" Target="../tags/tag172.xml"/><Relationship Id="rId25" Type="http://schemas.openxmlformats.org/officeDocument/2006/relationships/tags" Target="../tags/tag180.xml"/><Relationship Id="rId2" Type="http://schemas.openxmlformats.org/officeDocument/2006/relationships/tags" Target="../tags/tag157.xml"/><Relationship Id="rId16" Type="http://schemas.openxmlformats.org/officeDocument/2006/relationships/tags" Target="../tags/tag171.xml"/><Relationship Id="rId20" Type="http://schemas.openxmlformats.org/officeDocument/2006/relationships/tags" Target="../tags/tag175.xml"/><Relationship Id="rId29" Type="http://schemas.openxmlformats.org/officeDocument/2006/relationships/tags" Target="../tags/tag184.xml"/><Relationship Id="rId1" Type="http://schemas.openxmlformats.org/officeDocument/2006/relationships/tags" Target="../tags/tag156.xml"/><Relationship Id="rId6" Type="http://schemas.openxmlformats.org/officeDocument/2006/relationships/tags" Target="../tags/tag161.xml"/><Relationship Id="rId11" Type="http://schemas.openxmlformats.org/officeDocument/2006/relationships/tags" Target="../tags/tag166.xml"/><Relationship Id="rId24" Type="http://schemas.openxmlformats.org/officeDocument/2006/relationships/tags" Target="../tags/tag179.xml"/><Relationship Id="rId32" Type="http://schemas.openxmlformats.org/officeDocument/2006/relationships/image" Target="../media/image63.png"/><Relationship Id="rId5" Type="http://schemas.openxmlformats.org/officeDocument/2006/relationships/tags" Target="../tags/tag160.xml"/><Relationship Id="rId15" Type="http://schemas.openxmlformats.org/officeDocument/2006/relationships/tags" Target="../tags/tag170.xml"/><Relationship Id="rId23" Type="http://schemas.openxmlformats.org/officeDocument/2006/relationships/tags" Target="../tags/tag178.xml"/><Relationship Id="rId28" Type="http://schemas.openxmlformats.org/officeDocument/2006/relationships/tags" Target="../tags/tag183.xml"/><Relationship Id="rId10" Type="http://schemas.openxmlformats.org/officeDocument/2006/relationships/tags" Target="../tags/tag165.xml"/><Relationship Id="rId19" Type="http://schemas.openxmlformats.org/officeDocument/2006/relationships/tags" Target="../tags/tag174.xml"/><Relationship Id="rId31" Type="http://schemas.openxmlformats.org/officeDocument/2006/relationships/slideLayout" Target="../slideLayouts/slideLayout7.xml"/><Relationship Id="rId4" Type="http://schemas.openxmlformats.org/officeDocument/2006/relationships/tags" Target="../tags/tag159.xml"/><Relationship Id="rId9" Type="http://schemas.openxmlformats.org/officeDocument/2006/relationships/tags" Target="../tags/tag164.xml"/><Relationship Id="rId14" Type="http://schemas.openxmlformats.org/officeDocument/2006/relationships/tags" Target="../tags/tag169.xml"/><Relationship Id="rId22" Type="http://schemas.openxmlformats.org/officeDocument/2006/relationships/tags" Target="../tags/tag177.xml"/><Relationship Id="rId27" Type="http://schemas.openxmlformats.org/officeDocument/2006/relationships/tags" Target="../tags/tag182.xml"/><Relationship Id="rId30" Type="http://schemas.openxmlformats.org/officeDocument/2006/relationships/tags" Target="../tags/tag185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hyperlink" Target="mailto:releasestd@natura.net" TargetMode="Externa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0.png"/><Relationship Id="rId4" Type="http://schemas.openxmlformats.org/officeDocument/2006/relationships/image" Target="../media/image12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tags" Target="../tags/tag193.xml"/><Relationship Id="rId13" Type="http://schemas.openxmlformats.org/officeDocument/2006/relationships/tags" Target="../tags/tag198.xml"/><Relationship Id="rId18" Type="http://schemas.openxmlformats.org/officeDocument/2006/relationships/tags" Target="../tags/tag203.xml"/><Relationship Id="rId3" Type="http://schemas.openxmlformats.org/officeDocument/2006/relationships/tags" Target="../tags/tag188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192.xml"/><Relationship Id="rId12" Type="http://schemas.openxmlformats.org/officeDocument/2006/relationships/tags" Target="../tags/tag197.xml"/><Relationship Id="rId17" Type="http://schemas.openxmlformats.org/officeDocument/2006/relationships/tags" Target="../tags/tag202.xml"/><Relationship Id="rId2" Type="http://schemas.openxmlformats.org/officeDocument/2006/relationships/tags" Target="../tags/tag187.xml"/><Relationship Id="rId16" Type="http://schemas.openxmlformats.org/officeDocument/2006/relationships/tags" Target="../tags/tag201.xml"/><Relationship Id="rId20" Type="http://schemas.openxmlformats.org/officeDocument/2006/relationships/tags" Target="../tags/tag205.xml"/><Relationship Id="rId1" Type="http://schemas.openxmlformats.org/officeDocument/2006/relationships/tags" Target="../tags/tag186.xml"/><Relationship Id="rId6" Type="http://schemas.openxmlformats.org/officeDocument/2006/relationships/tags" Target="../tags/tag191.xml"/><Relationship Id="rId11" Type="http://schemas.openxmlformats.org/officeDocument/2006/relationships/tags" Target="../tags/tag196.xml"/><Relationship Id="rId5" Type="http://schemas.openxmlformats.org/officeDocument/2006/relationships/tags" Target="../tags/tag190.xml"/><Relationship Id="rId15" Type="http://schemas.openxmlformats.org/officeDocument/2006/relationships/tags" Target="../tags/tag200.xml"/><Relationship Id="rId10" Type="http://schemas.openxmlformats.org/officeDocument/2006/relationships/tags" Target="../tags/tag195.xml"/><Relationship Id="rId19" Type="http://schemas.openxmlformats.org/officeDocument/2006/relationships/tags" Target="../tags/tag204.xml"/><Relationship Id="rId4" Type="http://schemas.openxmlformats.org/officeDocument/2006/relationships/tags" Target="../tags/tag189.xml"/><Relationship Id="rId9" Type="http://schemas.openxmlformats.org/officeDocument/2006/relationships/tags" Target="../tags/tag194.xml"/><Relationship Id="rId14" Type="http://schemas.openxmlformats.org/officeDocument/2006/relationships/tags" Target="../tags/tag199.xml"/><Relationship Id="rId22" Type="http://schemas.openxmlformats.org/officeDocument/2006/relationships/image" Target="../media/image125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tags" Target="../tags/tag213.xml"/><Relationship Id="rId13" Type="http://schemas.openxmlformats.org/officeDocument/2006/relationships/tags" Target="../tags/tag218.xml"/><Relationship Id="rId18" Type="http://schemas.openxmlformats.org/officeDocument/2006/relationships/tags" Target="../tags/tag223.xml"/><Relationship Id="rId3" Type="http://schemas.openxmlformats.org/officeDocument/2006/relationships/tags" Target="../tags/tag208.xml"/><Relationship Id="rId21" Type="http://schemas.openxmlformats.org/officeDocument/2006/relationships/tags" Target="../tags/tag226.xml"/><Relationship Id="rId7" Type="http://schemas.openxmlformats.org/officeDocument/2006/relationships/tags" Target="../tags/tag212.xml"/><Relationship Id="rId12" Type="http://schemas.openxmlformats.org/officeDocument/2006/relationships/tags" Target="../tags/tag217.xml"/><Relationship Id="rId17" Type="http://schemas.openxmlformats.org/officeDocument/2006/relationships/tags" Target="../tags/tag222.xml"/><Relationship Id="rId25" Type="http://schemas.openxmlformats.org/officeDocument/2006/relationships/image" Target="../media/image126.png"/><Relationship Id="rId2" Type="http://schemas.openxmlformats.org/officeDocument/2006/relationships/tags" Target="../tags/tag207.xml"/><Relationship Id="rId16" Type="http://schemas.openxmlformats.org/officeDocument/2006/relationships/tags" Target="../tags/tag221.xml"/><Relationship Id="rId20" Type="http://schemas.openxmlformats.org/officeDocument/2006/relationships/tags" Target="../tags/tag225.xml"/><Relationship Id="rId1" Type="http://schemas.openxmlformats.org/officeDocument/2006/relationships/tags" Target="../tags/tag206.xml"/><Relationship Id="rId6" Type="http://schemas.openxmlformats.org/officeDocument/2006/relationships/tags" Target="../tags/tag211.xml"/><Relationship Id="rId11" Type="http://schemas.openxmlformats.org/officeDocument/2006/relationships/tags" Target="../tags/tag216.xml"/><Relationship Id="rId24" Type="http://schemas.openxmlformats.org/officeDocument/2006/relationships/slideLayout" Target="../slideLayouts/slideLayout7.xml"/><Relationship Id="rId5" Type="http://schemas.openxmlformats.org/officeDocument/2006/relationships/tags" Target="../tags/tag210.xml"/><Relationship Id="rId15" Type="http://schemas.openxmlformats.org/officeDocument/2006/relationships/tags" Target="../tags/tag220.xml"/><Relationship Id="rId23" Type="http://schemas.openxmlformats.org/officeDocument/2006/relationships/tags" Target="../tags/tag228.xml"/><Relationship Id="rId10" Type="http://schemas.openxmlformats.org/officeDocument/2006/relationships/tags" Target="../tags/tag215.xml"/><Relationship Id="rId19" Type="http://schemas.openxmlformats.org/officeDocument/2006/relationships/tags" Target="../tags/tag224.xml"/><Relationship Id="rId4" Type="http://schemas.openxmlformats.org/officeDocument/2006/relationships/tags" Target="../tags/tag209.xml"/><Relationship Id="rId9" Type="http://schemas.openxmlformats.org/officeDocument/2006/relationships/tags" Target="../tags/tag214.xml"/><Relationship Id="rId14" Type="http://schemas.openxmlformats.org/officeDocument/2006/relationships/tags" Target="../tags/tag219.xml"/><Relationship Id="rId22" Type="http://schemas.openxmlformats.org/officeDocument/2006/relationships/tags" Target="../tags/tag22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cessos%20DA\N2%20Metro%20Natura\99%20-%20Templates\DAS%20-%20Documento%20de%20Arquitetura%20de%20Solu&#231;&#227;o.docx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26.png"/><Relationship Id="rId4" Type="http://schemas.openxmlformats.org/officeDocument/2006/relationships/image" Target="../media/image127.wmf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28.wmf"/><Relationship Id="rId4" Type="http://schemas.openxmlformats.org/officeDocument/2006/relationships/oleObject" Target="file:///F:\Processos%20DA\N2%20Metro%20Natura\99%20-%20Templates\____Modelo%20de%20Custos.xls" TargetMode="Externa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29.wmf"/><Relationship Id="rId4" Type="http://schemas.openxmlformats.org/officeDocument/2006/relationships/oleObject" Target="file:///D:\Processos%20DA\N2%20Metro%20Natura\99%20-%20Templates\Proposta%20T&#233;cnica%20Fornecedores.pptx" TargetMode="Externa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tags" Target="../tags/tag236.xml"/><Relationship Id="rId13" Type="http://schemas.openxmlformats.org/officeDocument/2006/relationships/tags" Target="../tags/tag241.xml"/><Relationship Id="rId18" Type="http://schemas.openxmlformats.org/officeDocument/2006/relationships/tags" Target="../tags/tag246.xml"/><Relationship Id="rId26" Type="http://schemas.openxmlformats.org/officeDocument/2006/relationships/image" Target="../media/image133.png"/><Relationship Id="rId3" Type="http://schemas.openxmlformats.org/officeDocument/2006/relationships/tags" Target="../tags/tag231.xml"/><Relationship Id="rId21" Type="http://schemas.openxmlformats.org/officeDocument/2006/relationships/tags" Target="../tags/tag249.xml"/><Relationship Id="rId7" Type="http://schemas.openxmlformats.org/officeDocument/2006/relationships/tags" Target="../tags/tag235.xml"/><Relationship Id="rId12" Type="http://schemas.openxmlformats.org/officeDocument/2006/relationships/tags" Target="../tags/tag240.xml"/><Relationship Id="rId17" Type="http://schemas.openxmlformats.org/officeDocument/2006/relationships/tags" Target="../tags/tag245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230.xml"/><Relationship Id="rId16" Type="http://schemas.openxmlformats.org/officeDocument/2006/relationships/tags" Target="../tags/tag244.xml"/><Relationship Id="rId20" Type="http://schemas.openxmlformats.org/officeDocument/2006/relationships/tags" Target="../tags/tag248.xml"/><Relationship Id="rId1" Type="http://schemas.openxmlformats.org/officeDocument/2006/relationships/tags" Target="../tags/tag229.xml"/><Relationship Id="rId6" Type="http://schemas.openxmlformats.org/officeDocument/2006/relationships/tags" Target="../tags/tag234.xml"/><Relationship Id="rId11" Type="http://schemas.openxmlformats.org/officeDocument/2006/relationships/tags" Target="../tags/tag239.xml"/><Relationship Id="rId24" Type="http://schemas.openxmlformats.org/officeDocument/2006/relationships/tags" Target="../tags/tag252.xml"/><Relationship Id="rId5" Type="http://schemas.openxmlformats.org/officeDocument/2006/relationships/tags" Target="../tags/tag233.xml"/><Relationship Id="rId15" Type="http://schemas.openxmlformats.org/officeDocument/2006/relationships/tags" Target="../tags/tag243.xml"/><Relationship Id="rId23" Type="http://schemas.openxmlformats.org/officeDocument/2006/relationships/tags" Target="../tags/tag251.xml"/><Relationship Id="rId10" Type="http://schemas.openxmlformats.org/officeDocument/2006/relationships/tags" Target="../tags/tag238.xml"/><Relationship Id="rId19" Type="http://schemas.openxmlformats.org/officeDocument/2006/relationships/tags" Target="../tags/tag247.xml"/><Relationship Id="rId4" Type="http://schemas.openxmlformats.org/officeDocument/2006/relationships/tags" Target="../tags/tag232.xml"/><Relationship Id="rId9" Type="http://schemas.openxmlformats.org/officeDocument/2006/relationships/tags" Target="../tags/tag237.xml"/><Relationship Id="rId14" Type="http://schemas.openxmlformats.org/officeDocument/2006/relationships/tags" Target="../tags/tag242.xml"/><Relationship Id="rId22" Type="http://schemas.openxmlformats.org/officeDocument/2006/relationships/tags" Target="../tags/tag250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7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8" Type="http://schemas.openxmlformats.org/officeDocument/2006/relationships/tags" Target="../tags/tag260.xml"/><Relationship Id="rId13" Type="http://schemas.openxmlformats.org/officeDocument/2006/relationships/tags" Target="../tags/tag265.xml"/><Relationship Id="rId18" Type="http://schemas.openxmlformats.org/officeDocument/2006/relationships/tags" Target="../tags/tag270.xml"/><Relationship Id="rId3" Type="http://schemas.openxmlformats.org/officeDocument/2006/relationships/tags" Target="../tags/tag255.xml"/><Relationship Id="rId21" Type="http://schemas.openxmlformats.org/officeDocument/2006/relationships/tags" Target="../tags/tag273.xml"/><Relationship Id="rId7" Type="http://schemas.openxmlformats.org/officeDocument/2006/relationships/tags" Target="../tags/tag259.xml"/><Relationship Id="rId12" Type="http://schemas.openxmlformats.org/officeDocument/2006/relationships/tags" Target="../tags/tag264.xml"/><Relationship Id="rId17" Type="http://schemas.openxmlformats.org/officeDocument/2006/relationships/tags" Target="../tags/tag269.xml"/><Relationship Id="rId2" Type="http://schemas.openxmlformats.org/officeDocument/2006/relationships/tags" Target="../tags/tag254.xml"/><Relationship Id="rId16" Type="http://schemas.openxmlformats.org/officeDocument/2006/relationships/tags" Target="../tags/tag268.xml"/><Relationship Id="rId20" Type="http://schemas.openxmlformats.org/officeDocument/2006/relationships/tags" Target="../tags/tag272.xml"/><Relationship Id="rId1" Type="http://schemas.openxmlformats.org/officeDocument/2006/relationships/tags" Target="../tags/tag253.xml"/><Relationship Id="rId6" Type="http://schemas.openxmlformats.org/officeDocument/2006/relationships/tags" Target="../tags/tag258.xml"/><Relationship Id="rId11" Type="http://schemas.openxmlformats.org/officeDocument/2006/relationships/tags" Target="../tags/tag263.xml"/><Relationship Id="rId5" Type="http://schemas.openxmlformats.org/officeDocument/2006/relationships/tags" Target="../tags/tag257.xml"/><Relationship Id="rId15" Type="http://schemas.openxmlformats.org/officeDocument/2006/relationships/tags" Target="../tags/tag267.xml"/><Relationship Id="rId23" Type="http://schemas.openxmlformats.org/officeDocument/2006/relationships/image" Target="../media/image152.png"/><Relationship Id="rId10" Type="http://schemas.openxmlformats.org/officeDocument/2006/relationships/tags" Target="../tags/tag262.xml"/><Relationship Id="rId19" Type="http://schemas.openxmlformats.org/officeDocument/2006/relationships/tags" Target="../tags/tag271.xml"/><Relationship Id="rId4" Type="http://schemas.openxmlformats.org/officeDocument/2006/relationships/tags" Target="../tags/tag256.xml"/><Relationship Id="rId9" Type="http://schemas.openxmlformats.org/officeDocument/2006/relationships/tags" Target="../tags/tag261.xml"/><Relationship Id="rId14" Type="http://schemas.openxmlformats.org/officeDocument/2006/relationships/tags" Target="../tags/tag266.xml"/><Relationship Id="rId22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cessos%20DA\N2%20Metro%20Natura\99%20-%20Templates\Solu&#231;&#227;o_EF.docx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25.png"/><Relationship Id="rId4" Type="http://schemas.openxmlformats.org/officeDocument/2006/relationships/image" Target="../media/image153.wmf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cessos%20DA\N2%20Metro%20Natura\99%20-%20Templates\Solu&#231;&#227;o_ET.docx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52.png"/><Relationship Id="rId4" Type="http://schemas.openxmlformats.org/officeDocument/2006/relationships/image" Target="../media/image154.wmf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55.wmf"/><Relationship Id="rId4" Type="http://schemas.openxmlformats.org/officeDocument/2006/relationships/oleObject" Target="file:///F:\Processos%20DA\N2%20Metro%20Natura\99%20-%20Templates\Natura_ChecklistTestes.xlsx" TargetMode="Externa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56.wmf"/><Relationship Id="rId4" Type="http://schemas.openxmlformats.org/officeDocument/2006/relationships/oleObject" Target="file:///F:\Processos%20DA\N2%20Metro%20Natura\99%20-%20Templates\Natura_ChecklistManter.xlsx" TargetMode="Externa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7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9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2.png"/><Relationship Id="rId4" Type="http://schemas.openxmlformats.org/officeDocument/2006/relationships/image" Target="../media/image161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3.png"/><Relationship Id="rId3" Type="http://schemas.openxmlformats.org/officeDocument/2006/relationships/image" Target="../media/image163.png"/><Relationship Id="rId7" Type="http://schemas.openxmlformats.org/officeDocument/2006/relationships/image" Target="../media/image167.png"/><Relationship Id="rId12" Type="http://schemas.openxmlformats.org/officeDocument/2006/relationships/image" Target="../media/image17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11" Type="http://schemas.openxmlformats.org/officeDocument/2006/relationships/image" Target="../media/image171.png"/><Relationship Id="rId5" Type="http://schemas.openxmlformats.org/officeDocument/2006/relationships/image" Target="../media/image165.png"/><Relationship Id="rId10" Type="http://schemas.openxmlformats.org/officeDocument/2006/relationships/image" Target="../media/image170.png"/><Relationship Id="rId4" Type="http://schemas.openxmlformats.org/officeDocument/2006/relationships/image" Target="../media/image164.png"/><Relationship Id="rId9" Type="http://schemas.openxmlformats.org/officeDocument/2006/relationships/image" Target="../media/image169.png"/><Relationship Id="rId14" Type="http://schemas.openxmlformats.org/officeDocument/2006/relationships/image" Target="../media/image174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8.png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jpeg"/><Relationship Id="rId7" Type="http://schemas.openxmlformats.org/officeDocument/2006/relationships/image" Target="../media/image178.jpeg"/><Relationship Id="rId2" Type="http://schemas.openxmlformats.org/officeDocument/2006/relationships/hyperlink" Target="http://eusou.natura.net/Person.aspx?accountname=naturabr\br92954" TargetMode="External"/><Relationship Id="rId1" Type="http://schemas.openxmlformats.org/officeDocument/2006/relationships/slideLayout" Target="../slideLayouts/slideLayout48.xml"/><Relationship Id="rId6" Type="http://schemas.openxmlformats.org/officeDocument/2006/relationships/hyperlink" Target="http://eusou.natura.net/Person.aspx?accountname=naturabr\br93163" TargetMode="External"/><Relationship Id="rId5" Type="http://schemas.openxmlformats.org/officeDocument/2006/relationships/image" Target="../media/image177.jpeg"/><Relationship Id="rId4" Type="http://schemas.openxmlformats.org/officeDocument/2006/relationships/hyperlink" Target="http://eusou.natura.net/Person.aspx?accountname=naturabr\br92795" TargetMode="Externa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EK_Ciclo13-11_0019capa.jpg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77941" y="3492289"/>
            <a:ext cx="3807249" cy="40011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  <a:latin typeface="Gill Sans Std Light"/>
                <a:cs typeface="Gill Sans Std Light"/>
              </a:rPr>
              <a:t>MARÇO / 2015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4827" y="1496996"/>
            <a:ext cx="4669174" cy="189072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572000" y="1898559"/>
            <a:ext cx="4572000" cy="12741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3200" dirty="0">
                <a:solidFill>
                  <a:srgbClr val="5F5F5F"/>
                </a:solidFill>
                <a:latin typeface="Gill Sans Std ExtraBold"/>
                <a:cs typeface="Gill Sans Std ExtraBold"/>
              </a:rPr>
              <a:t>TREINAMENTO</a:t>
            </a:r>
          </a:p>
          <a:p>
            <a:pPr algn="r">
              <a:lnSpc>
                <a:spcPct val="80000"/>
              </a:lnSpc>
            </a:pPr>
            <a:r>
              <a:rPr lang="en-US" sz="3200" dirty="0">
                <a:solidFill>
                  <a:srgbClr val="5F5F5F"/>
                </a:solidFill>
                <a:latin typeface="Gill Sans Std ExtraBold"/>
                <a:cs typeface="Gill Sans Std Light"/>
              </a:rPr>
              <a:t>GESTÃO DE DEMANDAS VP TD</a:t>
            </a:r>
            <a:endParaRPr lang="en-US" sz="3200" dirty="0">
              <a:solidFill>
                <a:srgbClr val="5F5F5F"/>
              </a:solidFill>
              <a:latin typeface="Gill Sans Std Light"/>
              <a:cs typeface="Gill Sans Std Light"/>
            </a:endParaRPr>
          </a:p>
        </p:txBody>
      </p:sp>
    </p:spTree>
    <p:extLst>
      <p:ext uri="{BB962C8B-B14F-4D97-AF65-F5344CB8AC3E}">
        <p14:creationId xmlns:p14="http://schemas.microsoft.com/office/powerpoint/2010/main" val="2379205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619945" y="2643759"/>
            <a:ext cx="8560568" cy="2016224"/>
          </a:xfrm>
          <a:prstGeom prst="rect">
            <a:avLst/>
          </a:prstGeom>
        </p:spPr>
        <p:txBody>
          <a:bodyPr vert="horz" lIns="91432" tIns="45716" rIns="91432" bIns="45716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ill Sans Std Ligh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endParaRPr lang="pt-BR" sz="1400" dirty="0">
              <a:solidFill>
                <a:prstClr val="black"/>
              </a:solidFill>
            </a:endParaRPr>
          </a:p>
        </p:txBody>
      </p:sp>
      <p:sp>
        <p:nvSpPr>
          <p:cNvPr id="13" name="Título 1"/>
          <p:cNvSpPr txBox="1">
            <a:spLocks/>
          </p:cNvSpPr>
          <p:nvPr/>
        </p:nvSpPr>
        <p:spPr>
          <a:xfrm>
            <a:off x="395538" y="498779"/>
            <a:ext cx="7906072" cy="513263"/>
          </a:xfrm>
          <a:prstGeom prst="rect">
            <a:avLst/>
          </a:prstGeom>
        </p:spPr>
        <p:txBody>
          <a:bodyPr vert="horz" lIns="91432" tIns="45716" rIns="91432" bIns="45716" rtlCol="0" anchor="ctr">
            <a:noAutofit/>
          </a:bodyPr>
          <a:lstStyle>
            <a:lvl1pPr algn="ctr" defTabSz="45718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ill Sans Std Light"/>
                <a:ea typeface="+mj-ea"/>
                <a:cs typeface="+mj-cs"/>
              </a:defRPr>
            </a:lvl1pPr>
          </a:lstStyle>
          <a:p>
            <a:pPr algn="l" defTabSz="913934">
              <a:defRPr/>
            </a:pPr>
            <a:r>
              <a:rPr lang="pt-BR" sz="2800" kern="0" dirty="0">
                <a:solidFill>
                  <a:schemeClr val="tx2"/>
                </a:solidFill>
                <a:latin typeface="Gill Sans Std ExtraBold" pitchFamily="34" charset="0"/>
              </a:rPr>
              <a:t>o</a:t>
            </a:r>
            <a:r>
              <a:rPr lang="pt-BR" sz="2800" kern="0" dirty="0" smtClean="0">
                <a:solidFill>
                  <a:schemeClr val="tx2"/>
                </a:solidFill>
                <a:latin typeface="Gill Sans Std ExtraBold" pitchFamily="34" charset="0"/>
              </a:rPr>
              <a:t>bjetivo </a:t>
            </a:r>
            <a:r>
              <a:rPr lang="pt-BR" sz="2800" kern="0" dirty="0">
                <a:solidFill>
                  <a:schemeClr val="tx2"/>
                </a:solidFill>
                <a:latin typeface="Gill Sans Std ExtraBold" pitchFamily="34" charset="0"/>
              </a:rPr>
              <a:t>do </a:t>
            </a:r>
            <a:r>
              <a:rPr lang="pt-BR" sz="2800" kern="0" dirty="0">
                <a:solidFill>
                  <a:srgbClr val="FFC000"/>
                </a:solidFill>
                <a:latin typeface="Gill Sans Std ExtraBold" pitchFamily="34" charset="0"/>
              </a:rPr>
              <a:t>treinamento</a:t>
            </a:r>
            <a:endParaRPr lang="en-US" sz="2800" kern="0" dirty="0">
              <a:solidFill>
                <a:srgbClr val="FFC000"/>
              </a:solidFill>
              <a:latin typeface="Gill Sans Std ExtraBold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206518" y="1190532"/>
            <a:ext cx="8370928" cy="2813971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marL="285736" indent="-285736">
              <a:lnSpc>
                <a:spcPct val="150000"/>
              </a:lnSpc>
              <a:buFont typeface="Arial" pitchFamily="34" charset="0"/>
              <a:buChar char="•"/>
            </a:pPr>
            <a:r>
              <a:rPr lang="pt-BR" sz="2000" dirty="0">
                <a:solidFill>
                  <a:prstClr val="black"/>
                </a:solidFill>
                <a:latin typeface="Gill Sans Std Light"/>
              </a:rPr>
              <a:t>Criar entendimento das </a:t>
            </a:r>
            <a:r>
              <a:rPr lang="pt-BR" sz="2000" b="1" dirty="0">
                <a:solidFill>
                  <a:prstClr val="black"/>
                </a:solidFill>
                <a:latin typeface="Gill Sans Std Light"/>
              </a:rPr>
              <a:t>melhorias do processo </a:t>
            </a:r>
            <a:r>
              <a:rPr lang="pt-BR" sz="2000" dirty="0">
                <a:solidFill>
                  <a:prstClr val="black"/>
                </a:solidFill>
                <a:latin typeface="Gill Sans Std Light"/>
              </a:rPr>
              <a:t>de </a:t>
            </a:r>
            <a:r>
              <a:rPr lang="pt-BR" sz="2000" dirty="0" smtClean="0">
                <a:solidFill>
                  <a:prstClr val="black"/>
                </a:solidFill>
                <a:latin typeface="Gill Sans Std Light"/>
              </a:rPr>
              <a:t>demandas</a:t>
            </a:r>
          </a:p>
          <a:p>
            <a:pPr marL="285736" indent="-285736">
              <a:lnSpc>
                <a:spcPct val="150000"/>
              </a:lnSpc>
              <a:buFont typeface="Arial" pitchFamily="34" charset="0"/>
              <a:buChar char="•"/>
            </a:pPr>
            <a:r>
              <a:rPr lang="pt-BR" sz="2000" dirty="0" smtClean="0">
                <a:solidFill>
                  <a:prstClr val="black"/>
                </a:solidFill>
                <a:latin typeface="Gill Sans Std Light"/>
              </a:rPr>
              <a:t>Visão </a:t>
            </a:r>
            <a:r>
              <a:rPr lang="pt-BR" sz="2000" b="1" dirty="0" smtClean="0">
                <a:solidFill>
                  <a:prstClr val="black"/>
                </a:solidFill>
                <a:latin typeface="Gill Sans Std Light"/>
              </a:rPr>
              <a:t>geral do fluxo, artefatos e rituais </a:t>
            </a:r>
            <a:r>
              <a:rPr lang="pt-BR" sz="2000" dirty="0" smtClean="0">
                <a:solidFill>
                  <a:prstClr val="black"/>
                </a:solidFill>
                <a:latin typeface="Gill Sans Std Light"/>
              </a:rPr>
              <a:t>de TD</a:t>
            </a:r>
            <a:endParaRPr lang="pt-BR" sz="2000" dirty="0">
              <a:solidFill>
                <a:prstClr val="black"/>
              </a:solidFill>
              <a:latin typeface="Gill Sans Std Light"/>
            </a:endParaRPr>
          </a:p>
          <a:p>
            <a:pPr marL="285736" indent="-285736">
              <a:lnSpc>
                <a:spcPct val="150000"/>
              </a:lnSpc>
              <a:buFont typeface="Arial" pitchFamily="34" charset="0"/>
              <a:buChar char="•"/>
            </a:pPr>
            <a:r>
              <a:rPr lang="pt-BR" sz="2000" dirty="0" smtClean="0">
                <a:solidFill>
                  <a:prstClr val="black"/>
                </a:solidFill>
                <a:latin typeface="Gill Sans Std Light"/>
              </a:rPr>
              <a:t>Capacitar todos os envolvidos no processo de TD na </a:t>
            </a:r>
            <a:r>
              <a:rPr lang="pt-BR" sz="2000" dirty="0">
                <a:solidFill>
                  <a:prstClr val="black"/>
                </a:solidFill>
                <a:latin typeface="Gill Sans Std Light"/>
              </a:rPr>
              <a:t>nova </a:t>
            </a:r>
            <a:r>
              <a:rPr lang="pt-BR" sz="2000" b="1" dirty="0">
                <a:solidFill>
                  <a:prstClr val="black"/>
                </a:solidFill>
                <a:latin typeface="Gill Sans Std Light"/>
              </a:rPr>
              <a:t>ferramenta de </a:t>
            </a:r>
            <a:r>
              <a:rPr lang="pt-BR" sz="2000" b="1" dirty="0" smtClean="0">
                <a:solidFill>
                  <a:prstClr val="black"/>
                </a:solidFill>
                <a:latin typeface="Gill Sans Std Light"/>
              </a:rPr>
              <a:t>gestão </a:t>
            </a:r>
            <a:r>
              <a:rPr lang="pt-BR" sz="2000" dirty="0" smtClean="0">
                <a:solidFill>
                  <a:prstClr val="black"/>
                </a:solidFill>
                <a:latin typeface="Gill Sans Std Light"/>
              </a:rPr>
              <a:t>de portfólio, demandas e projetos : </a:t>
            </a:r>
            <a:r>
              <a:rPr lang="pt-BR" sz="2000" dirty="0" err="1" smtClean="0">
                <a:solidFill>
                  <a:prstClr val="black"/>
                </a:solidFill>
                <a:latin typeface="Gill Sans Std Light"/>
              </a:rPr>
              <a:t>Clarity</a:t>
            </a:r>
            <a:r>
              <a:rPr lang="pt-BR" sz="2000" dirty="0" smtClean="0">
                <a:solidFill>
                  <a:prstClr val="black"/>
                </a:solidFill>
                <a:latin typeface="Gill Sans Std Light"/>
              </a:rPr>
              <a:t> PPM</a:t>
            </a:r>
            <a:endParaRPr lang="pt-BR" sz="2000" dirty="0">
              <a:solidFill>
                <a:prstClr val="black"/>
              </a:solidFill>
              <a:latin typeface="Gill Sans Std Light"/>
            </a:endParaRPr>
          </a:p>
          <a:p>
            <a:pPr>
              <a:lnSpc>
                <a:spcPct val="150000"/>
              </a:lnSpc>
            </a:pPr>
            <a:endParaRPr lang="pt-BR" sz="2000" dirty="0">
              <a:solidFill>
                <a:prstClr val="black"/>
              </a:solidFill>
              <a:latin typeface="Gill Sans Std Light"/>
            </a:endParaRPr>
          </a:p>
          <a:p>
            <a:pPr marL="285736" indent="-285736">
              <a:lnSpc>
                <a:spcPct val="150000"/>
              </a:lnSpc>
              <a:buFont typeface="Arial" pitchFamily="34" charset="0"/>
              <a:buChar char="•"/>
            </a:pPr>
            <a:endParaRPr lang="pt-BR" sz="2000" dirty="0">
              <a:solidFill>
                <a:prstClr val="black"/>
              </a:solidFill>
              <a:latin typeface="Gill Sans Std Light"/>
            </a:endParaRPr>
          </a:p>
        </p:txBody>
      </p:sp>
    </p:spTree>
    <p:extLst>
      <p:ext uri="{BB962C8B-B14F-4D97-AF65-F5344CB8AC3E}">
        <p14:creationId xmlns:p14="http://schemas.microsoft.com/office/powerpoint/2010/main" val="1944387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62002" y="97202"/>
            <a:ext cx="8775483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como foi </a:t>
            </a:r>
            <a:r>
              <a:rPr lang="pt-BR" sz="2400" dirty="0" smtClean="0">
                <a:solidFill>
                  <a:srgbClr val="FFC000"/>
                </a:solidFill>
                <a:latin typeface="Gill Sans Std ExtraBold" pitchFamily="34" charset="0"/>
              </a:rPr>
              <a:t>o plano </a:t>
            </a:r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do projeto 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trabalho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3266444739"/>
              </p:ext>
            </p:extLst>
          </p:nvPr>
        </p:nvGraphicFramePr>
        <p:xfrm>
          <a:off x="296527" y="539752"/>
          <a:ext cx="8595955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8939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B1DCED8-E706-4E44-9BD2-5062E8398E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EB1DCED8-E706-4E44-9BD2-5062E8398E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FDC334E-8FB5-4D7D-B547-C7DBD956DB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EFDC334E-8FB5-4D7D-B547-C7DBD956DB7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CBAD77C-4711-4895-A672-82BE29D6C4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dgm id="{7CBAD77C-4711-4895-A672-82BE29D6C48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A5CA203-57A8-4716-9467-B1C8723F90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graphicEl>
                                              <a:dgm id="{6A5CA203-57A8-4716-9467-B1C8723F90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0AF47E0-622D-435D-BB37-AA62C6D913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dgm id="{00AF47E0-622D-435D-BB37-AA62C6D913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0AD0969-DF00-41D0-8A48-403F5FC87A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graphicEl>
                                              <a:dgm id="{30AD0969-DF00-41D0-8A48-403F5FC87A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15663FE-76C0-46D1-86C5-B11510ADA0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graphicEl>
                                              <a:dgm id="{715663FE-76C0-46D1-86C5-B11510ADA03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62002" y="97202"/>
            <a:ext cx="6047463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Onde </a:t>
            </a:r>
            <a:r>
              <a:rPr lang="pt-BR" sz="2400" dirty="0">
                <a:solidFill>
                  <a:schemeClr val="tx2"/>
                </a:solidFill>
                <a:latin typeface="Gill Sans Std ExtraBold" pitchFamily="34" charset="0"/>
              </a:rPr>
              <a:t>queremos chegar?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206516" y="1029090"/>
            <a:ext cx="8775975" cy="369331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285736" indent="-285736">
              <a:buFont typeface="Wingdings 2" panose="05020102010507070707" pitchFamily="18" charset="2"/>
              <a:buChar char=""/>
            </a:pPr>
            <a:r>
              <a:rPr lang="pt-BR" dirty="0"/>
              <a:t>Melhorar a </a:t>
            </a:r>
            <a:r>
              <a:rPr lang="pt-BR" dirty="0" smtClean="0"/>
              <a:t>gestão</a:t>
            </a:r>
            <a:r>
              <a:rPr lang="pt-BR" dirty="0"/>
              <a:t> </a:t>
            </a:r>
            <a:r>
              <a:rPr lang="pt-BR" dirty="0" smtClean="0"/>
              <a:t>e </a:t>
            </a:r>
            <a:r>
              <a:rPr lang="pt-BR" dirty="0"/>
              <a:t>comunicação  </a:t>
            </a:r>
            <a:r>
              <a:rPr lang="pt-BR" dirty="0" smtClean="0"/>
              <a:t>do </a:t>
            </a:r>
            <a:r>
              <a:rPr lang="pt-BR" dirty="0"/>
              <a:t>portfólio de TD</a:t>
            </a:r>
          </a:p>
          <a:p>
            <a:pPr marL="285736" indent="-285736">
              <a:buFont typeface="Wingdings 2" panose="05020102010507070707" pitchFamily="18" charset="2"/>
              <a:buChar char=""/>
            </a:pPr>
            <a:endParaRPr lang="pt-BR" dirty="0"/>
          </a:p>
          <a:p>
            <a:pPr marL="285736" indent="-285736">
              <a:buFont typeface="Wingdings 2" panose="05020102010507070707" pitchFamily="18" charset="2"/>
              <a:buChar char=""/>
            </a:pPr>
            <a:r>
              <a:rPr lang="pt-BR" dirty="0">
                <a:solidFill>
                  <a:prstClr val="black"/>
                </a:solidFill>
              </a:rPr>
              <a:t>Revitalizar os Rituais de TD e o fluxo do </a:t>
            </a:r>
            <a:r>
              <a:rPr lang="pt-BR" dirty="0" smtClean="0">
                <a:solidFill>
                  <a:prstClr val="black"/>
                </a:solidFill>
              </a:rPr>
              <a:t>processo</a:t>
            </a:r>
          </a:p>
          <a:p>
            <a:pPr marL="285736" indent="-285736">
              <a:buFont typeface="Wingdings 2" panose="05020102010507070707" pitchFamily="18" charset="2"/>
              <a:buChar char=""/>
            </a:pPr>
            <a:endParaRPr lang="pt-BR" dirty="0">
              <a:solidFill>
                <a:prstClr val="black"/>
              </a:solidFill>
            </a:endParaRPr>
          </a:p>
          <a:p>
            <a:pPr marL="285736" indent="-285736">
              <a:buFont typeface="Wingdings 2" panose="05020102010507070707" pitchFamily="18" charset="2"/>
              <a:buChar char=""/>
            </a:pPr>
            <a:r>
              <a:rPr lang="pt-BR" dirty="0">
                <a:solidFill>
                  <a:prstClr val="black"/>
                </a:solidFill>
              </a:rPr>
              <a:t>Operar os nossos </a:t>
            </a:r>
            <a:r>
              <a:rPr lang="pt-BR" dirty="0" smtClean="0">
                <a:solidFill>
                  <a:prstClr val="black"/>
                </a:solidFill>
              </a:rPr>
              <a:t>processos com mais visibilidade </a:t>
            </a:r>
            <a:r>
              <a:rPr lang="pt-BR" dirty="0">
                <a:solidFill>
                  <a:prstClr val="black"/>
                </a:solidFill>
              </a:rPr>
              <a:t>e  garantir os nossos combinados </a:t>
            </a:r>
          </a:p>
          <a:p>
            <a:pPr marL="285736" indent="-285736">
              <a:buFont typeface="Wingdings 2" panose="05020102010507070707" pitchFamily="18" charset="2"/>
              <a:buChar char=""/>
            </a:pPr>
            <a:endParaRPr lang="pt-BR" dirty="0"/>
          </a:p>
          <a:p>
            <a:pPr marL="285736" indent="-285736">
              <a:buFont typeface="Wingdings 2" panose="05020102010507070707" pitchFamily="18" charset="2"/>
              <a:buChar char=""/>
            </a:pPr>
            <a:r>
              <a:rPr lang="pt-BR" dirty="0"/>
              <a:t>Aumentar a eficiência no uso de recursos </a:t>
            </a:r>
          </a:p>
          <a:p>
            <a:pPr marL="285736" indent="-285736">
              <a:buFont typeface="Wingdings 2" panose="05020102010507070707" pitchFamily="18" charset="2"/>
              <a:buChar char=""/>
            </a:pPr>
            <a:endParaRPr lang="pt-BR" dirty="0"/>
          </a:p>
          <a:p>
            <a:pPr marL="285736" indent="-285736">
              <a:buFont typeface="Wingdings 2" panose="05020102010507070707" pitchFamily="18" charset="2"/>
              <a:buChar char=""/>
            </a:pPr>
            <a:r>
              <a:rPr lang="pt-BR" dirty="0"/>
              <a:t>Assertividade na alocação dos times e na gestão da capacidade de execução</a:t>
            </a:r>
          </a:p>
          <a:p>
            <a:pPr marL="285736" indent="-285736">
              <a:buFont typeface="Wingdings 2" panose="05020102010507070707" pitchFamily="18" charset="2"/>
              <a:buChar char=""/>
            </a:pPr>
            <a:endParaRPr lang="pt-BR" dirty="0"/>
          </a:p>
          <a:p>
            <a:pPr marL="285736" indent="-285736">
              <a:buFont typeface="Wingdings 2" panose="05020102010507070707" pitchFamily="18" charset="2"/>
              <a:buChar char=""/>
            </a:pPr>
            <a:r>
              <a:rPr lang="pt-BR" dirty="0"/>
              <a:t>Foco no que é importante e garantir qualidade de entrega</a:t>
            </a:r>
          </a:p>
          <a:p>
            <a:pPr marL="285736" indent="-285736">
              <a:buFont typeface="Wingdings 2" panose="05020102010507070707" pitchFamily="18" charset="2"/>
              <a:buChar char=""/>
            </a:pPr>
            <a:endParaRPr lang="pt-BR" dirty="0"/>
          </a:p>
          <a:p>
            <a:pPr marL="285736" indent="-285736">
              <a:buFont typeface="Wingdings 2" panose="05020102010507070707" pitchFamily="18" charset="2"/>
              <a:buChar char=""/>
            </a:pPr>
            <a:r>
              <a:rPr lang="pt-BR" dirty="0"/>
              <a:t>Redução dos riscos e retrabalhos</a:t>
            </a:r>
          </a:p>
        </p:txBody>
      </p:sp>
    </p:spTree>
    <p:extLst>
      <p:ext uri="{BB962C8B-B14F-4D97-AF65-F5344CB8AC3E}">
        <p14:creationId xmlns:p14="http://schemas.microsoft.com/office/powerpoint/2010/main" val="591816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de cantos arredondados 2"/>
          <p:cNvSpPr/>
          <p:nvPr/>
        </p:nvSpPr>
        <p:spPr>
          <a:xfrm>
            <a:off x="386535" y="726545"/>
            <a:ext cx="2655295" cy="810090"/>
          </a:xfrm>
          <a:prstGeom prst="roundRect">
            <a:avLst/>
          </a:prstGeom>
          <a:solidFill>
            <a:srgbClr val="004F7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1600" dirty="0" smtClean="0">
                <a:latin typeface="Gill Sans Std" pitchFamily="34" charset="0"/>
              </a:rPr>
              <a:t>Foco nos projetos mais importantes</a:t>
            </a:r>
            <a:endParaRPr lang="pt-BR" sz="1600" dirty="0">
              <a:latin typeface="Gill Sans Std" pitchFamily="34" charset="0"/>
            </a:endParaRPr>
          </a:p>
        </p:txBody>
      </p:sp>
      <p:sp>
        <p:nvSpPr>
          <p:cNvPr id="4" name="Retângulo de cantos arredondados 3"/>
          <p:cNvSpPr/>
          <p:nvPr/>
        </p:nvSpPr>
        <p:spPr>
          <a:xfrm>
            <a:off x="3221850" y="726545"/>
            <a:ext cx="2655295" cy="810090"/>
          </a:xfrm>
          <a:prstGeom prst="roundRect">
            <a:avLst/>
          </a:prstGeom>
          <a:solidFill>
            <a:srgbClr val="004F7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1600" dirty="0" smtClean="0">
                <a:latin typeface="Gill Sans Std" pitchFamily="34" charset="0"/>
              </a:rPr>
              <a:t>Readequação dos entregáveis pelos </a:t>
            </a:r>
            <a:r>
              <a:rPr lang="pt-BR" sz="1600" dirty="0" err="1" smtClean="0">
                <a:latin typeface="Gill Sans Std" pitchFamily="34" charset="0"/>
              </a:rPr>
              <a:t>GRPs</a:t>
            </a:r>
            <a:r>
              <a:rPr lang="pt-BR" sz="1600" dirty="0" smtClean="0">
                <a:latin typeface="Gill Sans Std" pitchFamily="34" charset="0"/>
              </a:rPr>
              <a:t> nas etapas iniciais</a:t>
            </a:r>
            <a:endParaRPr lang="pt-BR" sz="1600" dirty="0">
              <a:latin typeface="Gill Sans Std" pitchFamily="34" charset="0"/>
            </a:endParaRPr>
          </a:p>
        </p:txBody>
      </p:sp>
      <p:sp>
        <p:nvSpPr>
          <p:cNvPr id="5" name="Retângulo de cantos arredondados 4"/>
          <p:cNvSpPr/>
          <p:nvPr/>
        </p:nvSpPr>
        <p:spPr>
          <a:xfrm>
            <a:off x="6057165" y="726545"/>
            <a:ext cx="2655295" cy="810090"/>
          </a:xfrm>
          <a:prstGeom prst="roundRect">
            <a:avLst/>
          </a:prstGeom>
          <a:solidFill>
            <a:srgbClr val="004F7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1600" dirty="0" smtClean="0">
                <a:latin typeface="Gill Sans Std" pitchFamily="34" charset="0"/>
              </a:rPr>
              <a:t>Soluções </a:t>
            </a:r>
            <a:r>
              <a:rPr lang="pt-BR" sz="1600" dirty="0">
                <a:latin typeface="Gill Sans Std" pitchFamily="34" charset="0"/>
              </a:rPr>
              <a:t>técnicas – novo modelo</a:t>
            </a:r>
          </a:p>
        </p:txBody>
      </p:sp>
      <p:sp>
        <p:nvSpPr>
          <p:cNvPr id="6" name="Retângulo de cantos arredondados 5"/>
          <p:cNvSpPr/>
          <p:nvPr/>
        </p:nvSpPr>
        <p:spPr>
          <a:xfrm>
            <a:off x="386535" y="1626645"/>
            <a:ext cx="2655295" cy="855095"/>
          </a:xfrm>
          <a:prstGeom prst="roundRect">
            <a:avLst/>
          </a:prstGeom>
          <a:solidFill>
            <a:srgbClr val="004F7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1600" dirty="0" smtClean="0">
                <a:latin typeface="Gill Sans Std" pitchFamily="34" charset="0"/>
              </a:rPr>
              <a:t>Reorganização </a:t>
            </a:r>
            <a:r>
              <a:rPr lang="pt-BR" sz="1600" dirty="0">
                <a:latin typeface="Gill Sans Std" pitchFamily="34" charset="0"/>
              </a:rPr>
              <a:t>de fronteiras de atuação entre as áreas</a:t>
            </a:r>
          </a:p>
        </p:txBody>
      </p:sp>
      <p:sp>
        <p:nvSpPr>
          <p:cNvPr id="7" name="Retângulo de cantos arredondados 6"/>
          <p:cNvSpPr/>
          <p:nvPr/>
        </p:nvSpPr>
        <p:spPr>
          <a:xfrm>
            <a:off x="3221849" y="1626645"/>
            <a:ext cx="2655295" cy="855095"/>
          </a:xfrm>
          <a:prstGeom prst="roundRect">
            <a:avLst/>
          </a:prstGeom>
          <a:solidFill>
            <a:srgbClr val="004F7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1600" dirty="0">
                <a:latin typeface="Gill Sans Std" pitchFamily="34" charset="0"/>
              </a:rPr>
              <a:t>Implantação do conceito de Core Team</a:t>
            </a:r>
          </a:p>
        </p:txBody>
      </p:sp>
      <p:sp>
        <p:nvSpPr>
          <p:cNvPr id="8" name="Retângulo de cantos arredondados 7"/>
          <p:cNvSpPr/>
          <p:nvPr/>
        </p:nvSpPr>
        <p:spPr>
          <a:xfrm>
            <a:off x="6057165" y="1626645"/>
            <a:ext cx="2655295" cy="855095"/>
          </a:xfrm>
          <a:prstGeom prst="roundRect">
            <a:avLst/>
          </a:prstGeom>
          <a:solidFill>
            <a:srgbClr val="004F7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1600" dirty="0">
                <a:latin typeface="Gill Sans Std" pitchFamily="34" charset="0"/>
              </a:rPr>
              <a:t>Otimização na preparação para o Manter</a:t>
            </a:r>
          </a:p>
        </p:txBody>
      </p:sp>
      <p:sp>
        <p:nvSpPr>
          <p:cNvPr id="9" name="Retângulo de cantos arredondados 8"/>
          <p:cNvSpPr/>
          <p:nvPr/>
        </p:nvSpPr>
        <p:spPr>
          <a:xfrm>
            <a:off x="386534" y="2571750"/>
            <a:ext cx="8325926" cy="405045"/>
          </a:xfrm>
          <a:prstGeom prst="roundRect">
            <a:avLst/>
          </a:prstGeom>
          <a:solidFill>
            <a:srgbClr val="004F7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latin typeface="Gill Sans Std Light" pitchFamily="34" charset="0"/>
              </a:rPr>
              <a:t>Ferramenta </a:t>
            </a:r>
            <a:r>
              <a:rPr lang="pt-BR" dirty="0" err="1" smtClean="0">
                <a:latin typeface="Gill Sans Std Light" pitchFamily="34" charset="0"/>
              </a:rPr>
              <a:t>Clarity</a:t>
            </a:r>
            <a:endParaRPr lang="pt-BR" dirty="0">
              <a:latin typeface="Gill Sans Std" pitchFamily="34" charset="0"/>
            </a:endParaRPr>
          </a:p>
        </p:txBody>
      </p:sp>
      <p:pic>
        <p:nvPicPr>
          <p:cNvPr id="10" name="Picture 4" descr="http://www.humansoft.hu/images/b/Projekt_es_Projekt_portfolio_menedzsment_ca_clarity_ppm_masolat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046" y="2526745"/>
            <a:ext cx="661414" cy="503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de cantos arredondados 10"/>
          <p:cNvSpPr/>
          <p:nvPr/>
        </p:nvSpPr>
        <p:spPr>
          <a:xfrm>
            <a:off x="386536" y="3561860"/>
            <a:ext cx="2520280" cy="1080120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dirty="0" smtClean="0">
                <a:solidFill>
                  <a:schemeClr val="bg1"/>
                </a:solidFill>
                <a:latin typeface="Gill Sans Std" pitchFamily="34" charset="0"/>
              </a:rPr>
              <a:t>Maior EFICIÊNCIA na entrega de projetos</a:t>
            </a:r>
            <a:endParaRPr lang="pt-BR" dirty="0">
              <a:solidFill>
                <a:schemeClr val="bg1"/>
              </a:solidFill>
              <a:latin typeface="Gill Sans Std" pitchFamily="34" charset="0"/>
            </a:endParaRPr>
          </a:p>
        </p:txBody>
      </p:sp>
      <p:sp>
        <p:nvSpPr>
          <p:cNvPr id="12" name="Retângulo de cantos arredondados 11"/>
          <p:cNvSpPr/>
          <p:nvPr/>
        </p:nvSpPr>
        <p:spPr>
          <a:xfrm>
            <a:off x="3131840" y="3561860"/>
            <a:ext cx="2925325" cy="1080120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dirty="0" smtClean="0">
                <a:solidFill>
                  <a:schemeClr val="bg1"/>
                </a:solidFill>
                <a:latin typeface="Gill Sans Std" pitchFamily="34" charset="0"/>
              </a:rPr>
              <a:t>Maior AGILIDADE ao negócio e maior CONSISTÊNCIA nas entregas</a:t>
            </a:r>
            <a:endParaRPr lang="pt-BR" dirty="0">
              <a:solidFill>
                <a:schemeClr val="bg1"/>
              </a:solidFill>
              <a:latin typeface="Gill Sans Std" pitchFamily="34" charset="0"/>
            </a:endParaRP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6237185" y="3561860"/>
            <a:ext cx="2430270" cy="1080120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dirty="0" smtClean="0">
                <a:solidFill>
                  <a:schemeClr val="bg1"/>
                </a:solidFill>
                <a:latin typeface="Gill Sans Std" pitchFamily="34" charset="0"/>
              </a:rPr>
              <a:t>GESTÃO !</a:t>
            </a:r>
          </a:p>
          <a:p>
            <a:pPr algn="ctr"/>
            <a:r>
              <a:rPr lang="pt-BR" sz="1600" dirty="0" smtClean="0">
                <a:solidFill>
                  <a:schemeClr val="bg1"/>
                </a:solidFill>
                <a:latin typeface="Gill Sans Std" pitchFamily="34" charset="0"/>
              </a:rPr>
              <a:t>(individual,  gerencias, diretorias, </a:t>
            </a:r>
            <a:r>
              <a:rPr lang="pt-BR" sz="1600" dirty="0" err="1" smtClean="0">
                <a:solidFill>
                  <a:schemeClr val="bg1"/>
                </a:solidFill>
                <a:latin typeface="Gill Sans Std" pitchFamily="34" charset="0"/>
              </a:rPr>
              <a:t>vp</a:t>
            </a:r>
            <a:r>
              <a:rPr lang="pt-BR" dirty="0" smtClean="0">
                <a:solidFill>
                  <a:schemeClr val="bg1"/>
                </a:solidFill>
                <a:latin typeface="Gill Sans Std" pitchFamily="34" charset="0"/>
              </a:rPr>
              <a:t>)</a:t>
            </a:r>
            <a:endParaRPr lang="pt-BR" dirty="0">
              <a:solidFill>
                <a:schemeClr val="bg1"/>
              </a:solidFill>
              <a:latin typeface="Gill Sans Std" pitchFamily="34" charset="0"/>
            </a:endParaRPr>
          </a:p>
        </p:txBody>
      </p:sp>
      <p:sp>
        <p:nvSpPr>
          <p:cNvPr id="14" name="Triângulo isósceles 13"/>
          <p:cNvSpPr/>
          <p:nvPr/>
        </p:nvSpPr>
        <p:spPr>
          <a:xfrm flipV="1">
            <a:off x="386535" y="3111810"/>
            <a:ext cx="8055895" cy="225025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162002" y="97202"/>
            <a:ext cx="6047463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Onde </a:t>
            </a:r>
            <a:r>
              <a:rPr lang="pt-BR" sz="2400" dirty="0">
                <a:solidFill>
                  <a:schemeClr val="tx2"/>
                </a:solidFill>
                <a:latin typeface="Gill Sans Std ExtraBold" pitchFamily="34" charset="0"/>
              </a:rPr>
              <a:t>queremos chegar?</a:t>
            </a:r>
          </a:p>
        </p:txBody>
      </p:sp>
    </p:spTree>
    <p:extLst>
      <p:ext uri="{BB962C8B-B14F-4D97-AF65-F5344CB8AC3E}">
        <p14:creationId xmlns:p14="http://schemas.microsoft.com/office/powerpoint/2010/main" val="41599892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62002" y="97202"/>
            <a:ext cx="6047463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estruturação do </a:t>
            </a:r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treinamento</a:t>
            </a: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2399318174"/>
              </p:ext>
            </p:extLst>
          </p:nvPr>
        </p:nvGraphicFramePr>
        <p:xfrm>
          <a:off x="162003" y="1259830"/>
          <a:ext cx="8775484" cy="26620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8705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5A136F7-3EC3-4F47-AD46-8DA889DC2E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F5A136F7-3EC3-4F47-AD46-8DA889DC2E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12345BE-E8EA-4462-BC26-E56359841C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graphicEl>
                                              <a:dgm id="{512345BE-E8EA-4462-BC26-E56359841C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6B1E4DE-32F4-4EBC-8292-CA1C20CDE8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graphicEl>
                                              <a:dgm id="{96B1E4DE-32F4-4EBC-8292-CA1C20CDE8E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B9ABB1A-C96F-40C7-9074-371270EE7C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graphicEl>
                                              <a:dgm id="{4B9ABB1A-C96F-40C7-9074-371270EE7C9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A2BB3A1-5A48-45AD-8398-952CB94BD1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graphicEl>
                                              <a:dgm id="{BA2BB3A1-5A48-45AD-8398-952CB94BD10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EDD76D6-9DE0-4FF0-A1CF-CCAC082FF4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graphicEl>
                                              <a:dgm id="{7EDD76D6-9DE0-4FF0-A1CF-CCAC082FF43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WIL_0172_Tabela_Ambiental_Ekos_Zoom.jpg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5400" y="818887"/>
            <a:ext cx="7848600" cy="4324612"/>
          </a:xfrm>
          <a:prstGeom prst="rect">
            <a:avLst/>
          </a:prstGeom>
        </p:spPr>
      </p:pic>
      <p:sp>
        <p:nvSpPr>
          <p:cNvPr id="6" name="CaixaDeTexto 7"/>
          <p:cNvSpPr txBox="1">
            <a:spLocks noChangeArrowheads="1"/>
          </p:cNvSpPr>
          <p:nvPr/>
        </p:nvSpPr>
        <p:spPr bwMode="auto">
          <a:xfrm>
            <a:off x="155288" y="120724"/>
            <a:ext cx="5120985" cy="568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>
            <a:spAutoFit/>
          </a:bodyPr>
          <a:lstStyle>
            <a:lvl1pPr marL="177800" indent="-177800" eaLnBrk="0" hangingPunct="0">
              <a:defRPr sz="1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algn="r" eaLnBrk="0" fontAlgn="base" hangingPunct="0">
              <a:spcBef>
                <a:spcPct val="5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algn="r" eaLnBrk="0" fontAlgn="base" hangingPunct="0">
              <a:spcBef>
                <a:spcPct val="5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algn="r" eaLnBrk="0" fontAlgn="base" hangingPunct="0">
              <a:spcBef>
                <a:spcPct val="5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algn="r" eaLnBrk="0" fontAlgn="base" hangingPunct="0">
              <a:spcBef>
                <a:spcPct val="5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marL="92071" indent="-92071" eaLnBrk="1" hangingPunct="1">
              <a:lnSpc>
                <a:spcPct val="70000"/>
              </a:lnSpc>
              <a:spcBef>
                <a:spcPct val="0"/>
              </a:spcBef>
              <a:buSzPct val="80000"/>
            </a:pPr>
            <a:r>
              <a:rPr lang="en-US" sz="4400" dirty="0">
                <a:solidFill>
                  <a:srgbClr val="4F1C40"/>
                </a:solidFill>
                <a:latin typeface="Gill Sans Std ExtraBold"/>
                <a:cs typeface="Gill Sans Std ExtraBold"/>
              </a:rPr>
              <a:t>agenda</a:t>
            </a:r>
            <a:endParaRPr lang="en-US" sz="1800" dirty="0">
              <a:solidFill>
                <a:srgbClr val="4F1C40"/>
              </a:solidFill>
              <a:latin typeface="Gill Sans Std Light"/>
              <a:cs typeface="Gill Sans Std Ligh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6507" y="996577"/>
            <a:ext cx="4433115" cy="3637919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marL="184141" indent="-184141">
              <a:lnSpc>
                <a:spcPct val="80000"/>
              </a:lnSpc>
              <a:spcBef>
                <a:spcPct val="0"/>
              </a:spcBef>
              <a:buClr>
                <a:srgbClr val="4F1C40"/>
              </a:buClr>
              <a:buSzPct val="80000"/>
              <a:buFont typeface="Lucida Grande"/>
              <a:buChar char="_"/>
            </a:pPr>
            <a:r>
              <a:rPr lang="en-US" sz="2400" dirty="0">
                <a:solidFill>
                  <a:srgbClr val="4F1C40"/>
                </a:solidFill>
                <a:latin typeface="Gill Sans Std Light"/>
                <a:cs typeface="Gill Sans Std Light"/>
              </a:rPr>
              <a:t>boas </a:t>
            </a:r>
            <a:r>
              <a:rPr lang="en-US" sz="2400" dirty="0" err="1">
                <a:solidFill>
                  <a:srgbClr val="4F1C40"/>
                </a:solidFill>
                <a:latin typeface="Gill Sans Std Light"/>
                <a:cs typeface="Gill Sans Std Light"/>
              </a:rPr>
              <a:t>vindas</a:t>
            </a:r>
            <a:endParaRPr lang="en-US" sz="2400" dirty="0">
              <a:solidFill>
                <a:srgbClr val="4F1C40"/>
              </a:solidFill>
              <a:latin typeface="Gill Sans Std Light"/>
              <a:cs typeface="Gill Sans Std Light"/>
            </a:endParaRPr>
          </a:p>
          <a:p>
            <a:pPr marL="641318" lvl="1" indent="-184141">
              <a:lnSpc>
                <a:spcPct val="80000"/>
              </a:lnSpc>
              <a:spcBef>
                <a:spcPct val="0"/>
              </a:spcBef>
              <a:buClr>
                <a:srgbClr val="4F1C40"/>
              </a:buClr>
              <a:buSzPct val="80000"/>
              <a:buFont typeface="Lucida Grande"/>
              <a:buChar char="_"/>
            </a:pPr>
            <a:r>
              <a:rPr lang="en-US" sz="2400" dirty="0" err="1">
                <a:solidFill>
                  <a:srgbClr val="4F1C40"/>
                </a:solidFill>
                <a:latin typeface="Gill Sans Std Light"/>
                <a:cs typeface="Gill Sans Std Light"/>
              </a:rPr>
              <a:t>apresentação</a:t>
            </a:r>
            <a:endParaRPr lang="en-US" sz="2400" dirty="0">
              <a:solidFill>
                <a:srgbClr val="4F1C40"/>
              </a:solidFill>
              <a:latin typeface="Gill Sans Std Light"/>
              <a:cs typeface="Gill Sans Std Light"/>
            </a:endParaRPr>
          </a:p>
          <a:p>
            <a:pPr marL="184141" indent="-184141">
              <a:lnSpc>
                <a:spcPct val="80000"/>
              </a:lnSpc>
              <a:spcBef>
                <a:spcPct val="0"/>
              </a:spcBef>
              <a:buClr>
                <a:srgbClr val="4F1C40"/>
              </a:buClr>
              <a:buSzPct val="80000"/>
              <a:buFont typeface="Lucida Grande"/>
              <a:buChar char="_"/>
            </a:pPr>
            <a:endParaRPr lang="en-US" sz="2400" dirty="0">
              <a:solidFill>
                <a:srgbClr val="4F1C40"/>
              </a:solidFill>
              <a:latin typeface="Gill Sans Std Light"/>
              <a:cs typeface="Gill Sans Std Light"/>
            </a:endParaRPr>
          </a:p>
          <a:p>
            <a:pPr marL="184141" indent="-184141">
              <a:lnSpc>
                <a:spcPct val="80000"/>
              </a:lnSpc>
              <a:spcBef>
                <a:spcPct val="0"/>
              </a:spcBef>
              <a:buClr>
                <a:srgbClr val="4F1C40"/>
              </a:buClr>
              <a:buSzPct val="80000"/>
              <a:buFont typeface="Lucida Grande"/>
              <a:buChar char="_"/>
            </a:pPr>
            <a:r>
              <a:rPr lang="en-US" sz="2400" dirty="0" err="1">
                <a:solidFill>
                  <a:srgbClr val="4F1C40"/>
                </a:solidFill>
                <a:latin typeface="Gill Sans Std Light"/>
                <a:cs typeface="Gill Sans Std Light"/>
              </a:rPr>
              <a:t>estratégia</a:t>
            </a:r>
            <a:r>
              <a:rPr lang="en-US" sz="2400" dirty="0">
                <a:solidFill>
                  <a:srgbClr val="4F1C40"/>
                </a:solidFill>
                <a:latin typeface="Gill Sans Std Light"/>
                <a:cs typeface="Gill Sans Std Light"/>
              </a:rPr>
              <a:t> TD</a:t>
            </a:r>
            <a:br>
              <a:rPr lang="en-US" sz="2400" dirty="0">
                <a:solidFill>
                  <a:srgbClr val="4F1C40"/>
                </a:solidFill>
                <a:latin typeface="Gill Sans Std Light"/>
                <a:cs typeface="Gill Sans Std Light"/>
              </a:rPr>
            </a:br>
            <a:endParaRPr lang="en-US" sz="2400" dirty="0">
              <a:solidFill>
                <a:srgbClr val="4F1C40"/>
              </a:solidFill>
              <a:latin typeface="Gill Sans Std Light"/>
              <a:cs typeface="Gill Sans Std Light"/>
            </a:endParaRPr>
          </a:p>
          <a:p>
            <a:pPr marL="184141" indent="-184141">
              <a:lnSpc>
                <a:spcPct val="80000"/>
              </a:lnSpc>
              <a:spcBef>
                <a:spcPct val="0"/>
              </a:spcBef>
              <a:buClr>
                <a:srgbClr val="4F1C40"/>
              </a:buClr>
              <a:buSzPct val="80000"/>
              <a:buFont typeface="Lucida Grande"/>
              <a:buChar char="_"/>
            </a:pPr>
            <a:r>
              <a:rPr lang="en-US" sz="2400" dirty="0">
                <a:solidFill>
                  <a:srgbClr val="4F1C40"/>
                </a:solidFill>
                <a:latin typeface="Gill Sans Std Light"/>
                <a:cs typeface="Gill Sans Std Light"/>
              </a:rPr>
              <a:t>clarity e </a:t>
            </a:r>
            <a:r>
              <a:rPr lang="en-US" sz="2400" dirty="0" err="1">
                <a:solidFill>
                  <a:srgbClr val="4F1C40"/>
                </a:solidFill>
                <a:latin typeface="Gill Sans Std Light"/>
                <a:cs typeface="Gill Sans Std Light"/>
              </a:rPr>
              <a:t>processos</a:t>
            </a:r>
            <a:endParaRPr lang="en-US" sz="2400" dirty="0">
              <a:solidFill>
                <a:srgbClr val="4F1C40"/>
              </a:solidFill>
              <a:latin typeface="Gill Sans Std Light"/>
              <a:cs typeface="Gill Sans Std Light"/>
            </a:endParaRPr>
          </a:p>
          <a:p>
            <a:pPr marL="184141" indent="-184141">
              <a:lnSpc>
                <a:spcPct val="80000"/>
              </a:lnSpc>
              <a:spcBef>
                <a:spcPct val="0"/>
              </a:spcBef>
              <a:buClr>
                <a:srgbClr val="4F1C40"/>
              </a:buClr>
              <a:buSzPct val="80000"/>
              <a:buFont typeface="Lucida Grande"/>
              <a:buChar char="_"/>
            </a:pPr>
            <a:endParaRPr lang="en-US" sz="1600" dirty="0">
              <a:solidFill>
                <a:srgbClr val="4F1C40"/>
              </a:solidFill>
              <a:latin typeface="Gill Sans Std Light"/>
              <a:cs typeface="Gill Sans Std Light"/>
            </a:endParaRPr>
          </a:p>
          <a:p>
            <a:pPr marL="184141" indent="-184141">
              <a:lnSpc>
                <a:spcPct val="80000"/>
              </a:lnSpc>
              <a:spcBef>
                <a:spcPct val="0"/>
              </a:spcBef>
              <a:buClr>
                <a:srgbClr val="4F1C40"/>
              </a:buClr>
              <a:buSzPct val="80000"/>
              <a:buFont typeface="Lucida Grande"/>
              <a:buChar char="_"/>
            </a:pPr>
            <a:r>
              <a:rPr lang="en-US" sz="1600" i="1" dirty="0">
                <a:solidFill>
                  <a:srgbClr val="4F1C40"/>
                </a:solidFill>
                <a:latin typeface="Gill Sans Std Light"/>
                <a:cs typeface="Gill Sans Std Light"/>
              </a:rPr>
              <a:t>12h30 </a:t>
            </a:r>
            <a:r>
              <a:rPr lang="en-US" sz="1600" i="1" dirty="0" err="1">
                <a:solidFill>
                  <a:srgbClr val="4F1C40"/>
                </a:solidFill>
                <a:latin typeface="Gill Sans Std Light"/>
                <a:cs typeface="Gill Sans Std Light"/>
              </a:rPr>
              <a:t>almoço</a:t>
            </a:r>
            <a:r>
              <a:rPr lang="en-US" sz="1600" i="1" dirty="0">
                <a:solidFill>
                  <a:srgbClr val="4F1C40"/>
                </a:solidFill>
                <a:latin typeface="Gill Sans Std Light"/>
                <a:cs typeface="Gill Sans Std Light"/>
              </a:rPr>
              <a:t> (1h)</a:t>
            </a:r>
          </a:p>
          <a:p>
            <a:pPr marL="184141" indent="-184141">
              <a:lnSpc>
                <a:spcPct val="80000"/>
              </a:lnSpc>
              <a:spcBef>
                <a:spcPct val="0"/>
              </a:spcBef>
              <a:buClr>
                <a:srgbClr val="4F1C40"/>
              </a:buClr>
              <a:buSzPct val="80000"/>
              <a:buFont typeface="Lucida Grande"/>
              <a:buChar char="_"/>
            </a:pPr>
            <a:endParaRPr lang="en-US" sz="1600" dirty="0">
              <a:solidFill>
                <a:srgbClr val="4F1C40"/>
              </a:solidFill>
              <a:latin typeface="Gill Sans Std Light"/>
              <a:cs typeface="Gill Sans Std Light"/>
            </a:endParaRPr>
          </a:p>
          <a:p>
            <a:pPr marL="184141" indent="-184141">
              <a:lnSpc>
                <a:spcPct val="80000"/>
              </a:lnSpc>
              <a:spcBef>
                <a:spcPct val="0"/>
              </a:spcBef>
              <a:buClr>
                <a:srgbClr val="4F1C40"/>
              </a:buClr>
              <a:buSzPct val="80000"/>
              <a:buFont typeface="Lucida Grande"/>
              <a:buChar char="_"/>
            </a:pPr>
            <a:r>
              <a:rPr lang="en-US" sz="2400" dirty="0" err="1">
                <a:solidFill>
                  <a:srgbClr val="4F1C40"/>
                </a:solidFill>
                <a:latin typeface="Gill Sans Std Light"/>
                <a:cs typeface="Gill Sans Std Light"/>
              </a:rPr>
              <a:t>processo</a:t>
            </a:r>
            <a:r>
              <a:rPr lang="en-US" sz="2400" dirty="0">
                <a:solidFill>
                  <a:srgbClr val="4F1C40"/>
                </a:solidFill>
                <a:latin typeface="Gill Sans Std Light"/>
                <a:cs typeface="Gill Sans Std Light"/>
              </a:rPr>
              <a:t> de </a:t>
            </a:r>
            <a:r>
              <a:rPr lang="en-US" sz="2400" dirty="0" err="1">
                <a:solidFill>
                  <a:srgbClr val="4F1C40"/>
                </a:solidFill>
                <a:latin typeface="Gill Sans Std Light"/>
                <a:cs typeface="Gill Sans Std Light"/>
              </a:rPr>
              <a:t>demandas</a:t>
            </a:r>
            <a:endParaRPr lang="en-US" sz="2400" dirty="0">
              <a:solidFill>
                <a:srgbClr val="4F1C40"/>
              </a:solidFill>
              <a:latin typeface="Gill Sans Std Light"/>
              <a:cs typeface="Gill Sans Std Light"/>
            </a:endParaRPr>
          </a:p>
          <a:p>
            <a:pPr marL="641318" lvl="1" indent="-184141">
              <a:lnSpc>
                <a:spcPct val="80000"/>
              </a:lnSpc>
              <a:spcBef>
                <a:spcPct val="0"/>
              </a:spcBef>
              <a:buClr>
                <a:srgbClr val="4F1C40"/>
              </a:buClr>
              <a:buSzPct val="80000"/>
              <a:buFont typeface="Lucida Grande"/>
              <a:buChar char="_"/>
            </a:pPr>
            <a:r>
              <a:rPr lang="en-US" sz="2400" dirty="0" err="1">
                <a:solidFill>
                  <a:srgbClr val="4F1C40"/>
                </a:solidFill>
                <a:latin typeface="Gill Sans Std Light"/>
                <a:cs typeface="Gill Sans Std Light"/>
              </a:rPr>
              <a:t>como</a:t>
            </a:r>
            <a:r>
              <a:rPr lang="en-US" sz="2400" dirty="0">
                <a:solidFill>
                  <a:srgbClr val="4F1C40"/>
                </a:solidFill>
                <a:latin typeface="Gill Sans Std Light"/>
                <a:cs typeface="Gill Sans Std Light"/>
              </a:rPr>
              <a:t> </a:t>
            </a:r>
            <a:r>
              <a:rPr lang="en-US" sz="2400" dirty="0" err="1">
                <a:solidFill>
                  <a:srgbClr val="4F1C40"/>
                </a:solidFill>
                <a:latin typeface="Gill Sans Std Light"/>
                <a:cs typeface="Gill Sans Std Light"/>
              </a:rPr>
              <a:t>funciona</a:t>
            </a:r>
            <a:r>
              <a:rPr lang="en-US" sz="2400" dirty="0">
                <a:solidFill>
                  <a:srgbClr val="4F1C40"/>
                </a:solidFill>
                <a:latin typeface="Gill Sans Std Light"/>
                <a:cs typeface="Gill Sans Std Light"/>
              </a:rPr>
              <a:t> </a:t>
            </a:r>
            <a:r>
              <a:rPr lang="en-US" sz="2400" dirty="0" err="1">
                <a:solidFill>
                  <a:srgbClr val="4F1C40"/>
                </a:solidFill>
                <a:latin typeface="Gill Sans Std Light"/>
                <a:cs typeface="Gill Sans Std Light"/>
              </a:rPr>
              <a:t>na</a:t>
            </a:r>
            <a:r>
              <a:rPr lang="en-US" sz="2400" dirty="0">
                <a:solidFill>
                  <a:srgbClr val="4F1C40"/>
                </a:solidFill>
                <a:latin typeface="Gill Sans Std Light"/>
                <a:cs typeface="Gill Sans Std Light"/>
              </a:rPr>
              <a:t> </a:t>
            </a:r>
            <a:r>
              <a:rPr lang="en-US" sz="2400" dirty="0" err="1">
                <a:solidFill>
                  <a:srgbClr val="4F1C40"/>
                </a:solidFill>
                <a:latin typeface="Gill Sans Std Light"/>
                <a:cs typeface="Gill Sans Std Light"/>
              </a:rPr>
              <a:t>ferramenta</a:t>
            </a:r>
            <a:endParaRPr lang="en-US" sz="2400" dirty="0">
              <a:solidFill>
                <a:srgbClr val="4F1C40"/>
              </a:solidFill>
              <a:latin typeface="Gill Sans Std Light"/>
              <a:cs typeface="Gill Sans Std Light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>
                <a:srgbClr val="4F1C40"/>
              </a:buClr>
              <a:buSzPct val="80000"/>
            </a:pPr>
            <a:endParaRPr lang="en-US" sz="2400" dirty="0">
              <a:solidFill>
                <a:srgbClr val="4F1C40"/>
              </a:solidFill>
              <a:latin typeface="Gill Sans Std Light"/>
              <a:cs typeface="Gill Sans Std Light"/>
            </a:endParaRPr>
          </a:p>
          <a:p>
            <a:pPr marL="184141" indent="-184141">
              <a:lnSpc>
                <a:spcPct val="80000"/>
              </a:lnSpc>
              <a:spcBef>
                <a:spcPct val="0"/>
              </a:spcBef>
              <a:buClr>
                <a:srgbClr val="4F1C40"/>
              </a:buClr>
              <a:buSzPct val="80000"/>
              <a:buFont typeface="Lucida Grande"/>
              <a:buChar char="_"/>
            </a:pPr>
            <a:r>
              <a:rPr lang="en-US" sz="2400" dirty="0" err="1">
                <a:solidFill>
                  <a:srgbClr val="4F1C40"/>
                </a:solidFill>
                <a:latin typeface="Gill Sans Std Light"/>
                <a:cs typeface="Gill Sans Std Light"/>
              </a:rPr>
              <a:t>combinados</a:t>
            </a:r>
            <a:r>
              <a:rPr lang="en-US" sz="2400" dirty="0">
                <a:solidFill>
                  <a:srgbClr val="4F1C40"/>
                </a:solidFill>
                <a:latin typeface="Gill Sans Std Light"/>
                <a:cs typeface="Gill Sans Std Light"/>
              </a:rPr>
              <a:t> e </a:t>
            </a:r>
            <a:r>
              <a:rPr lang="en-US" sz="2400" dirty="0" err="1">
                <a:solidFill>
                  <a:srgbClr val="4F1C40"/>
                </a:solidFill>
                <a:latin typeface="Gill Sans Std Light"/>
                <a:cs typeface="Gill Sans Std Light"/>
              </a:rPr>
              <a:t>próximos</a:t>
            </a:r>
            <a:r>
              <a:rPr lang="en-US" sz="2400" dirty="0">
                <a:solidFill>
                  <a:srgbClr val="4F1C40"/>
                </a:solidFill>
                <a:latin typeface="Gill Sans Std Light"/>
                <a:cs typeface="Gill Sans Std Light"/>
              </a:rPr>
              <a:t> </a:t>
            </a:r>
            <a:r>
              <a:rPr lang="en-US" sz="2400" dirty="0" err="1">
                <a:solidFill>
                  <a:srgbClr val="4F1C40"/>
                </a:solidFill>
                <a:latin typeface="Gill Sans Std Light"/>
                <a:cs typeface="Gill Sans Std Light"/>
              </a:rPr>
              <a:t>passos</a:t>
            </a:r>
            <a:endParaRPr lang="en-US" sz="2400" dirty="0">
              <a:solidFill>
                <a:srgbClr val="4F1C40"/>
              </a:solidFill>
              <a:latin typeface="Gill Sans Std Light"/>
              <a:cs typeface="Gill Sans Std Light"/>
            </a:endParaRPr>
          </a:p>
        </p:txBody>
      </p:sp>
    </p:spTree>
    <p:extLst>
      <p:ext uri="{BB962C8B-B14F-4D97-AF65-F5344CB8AC3E}">
        <p14:creationId xmlns:p14="http://schemas.microsoft.com/office/powerpoint/2010/main" val="374750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assarela_edit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9144000" cy="5143500"/>
          </a:xfrm>
          <a:prstGeom prst="rect">
            <a:avLst/>
          </a:prstGeom>
        </p:spPr>
      </p:pic>
      <p:sp>
        <p:nvSpPr>
          <p:cNvPr id="9" name="CaixaDeTexto 1"/>
          <p:cNvSpPr txBox="1"/>
          <p:nvPr/>
        </p:nvSpPr>
        <p:spPr>
          <a:xfrm>
            <a:off x="4346975" y="96477"/>
            <a:ext cx="5400600" cy="76944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indent="-393680">
              <a:tabLst>
                <a:tab pos="1435028" algn="l"/>
              </a:tabLst>
            </a:pPr>
            <a:r>
              <a:rPr lang="en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ExtraBold" pitchFamily="34" charset="0"/>
              </a:rPr>
              <a:t>_apresentações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491882" y="1086587"/>
            <a:ext cx="5615879" cy="347787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342884" indent="-342884">
              <a:spcBef>
                <a:spcPts val="3000"/>
              </a:spcBef>
              <a:buFont typeface="Wingdings" pitchFamily="2" charset="2"/>
              <a:buChar char="ü"/>
            </a:pPr>
            <a:r>
              <a:rPr lang="pt-BR" sz="2000" dirty="0">
                <a:solidFill>
                  <a:srgbClr val="004F71"/>
                </a:solidFill>
                <a:latin typeface="Gill Sans Std ExtraBold" pitchFamily="34" charset="0"/>
              </a:rPr>
              <a:t>Qual o seu </a:t>
            </a:r>
            <a:r>
              <a:rPr lang="pt-BR" sz="2000" dirty="0">
                <a:solidFill>
                  <a:srgbClr val="FFC000"/>
                </a:solidFill>
                <a:latin typeface="Gill Sans Std ExtraBold" pitchFamily="34" charset="0"/>
              </a:rPr>
              <a:t>nome</a:t>
            </a:r>
            <a:r>
              <a:rPr lang="pt-BR" sz="2000" dirty="0">
                <a:solidFill>
                  <a:srgbClr val="004F71"/>
                </a:solidFill>
                <a:latin typeface="Gill Sans Std ExtraBold" pitchFamily="34" charset="0"/>
              </a:rPr>
              <a:t>?</a:t>
            </a:r>
          </a:p>
          <a:p>
            <a:pPr marL="342884" indent="-342884">
              <a:spcBef>
                <a:spcPts val="3000"/>
              </a:spcBef>
              <a:buFont typeface="Wingdings" pitchFamily="2" charset="2"/>
              <a:buChar char="ü"/>
            </a:pPr>
            <a:r>
              <a:rPr lang="pt-BR" sz="2000" dirty="0">
                <a:solidFill>
                  <a:srgbClr val="004F71"/>
                </a:solidFill>
                <a:latin typeface="Gill Sans Std ExtraBold" pitchFamily="34" charset="0"/>
              </a:rPr>
              <a:t>Qual é sua </a:t>
            </a:r>
            <a:r>
              <a:rPr lang="pt-BR" sz="2000" dirty="0">
                <a:solidFill>
                  <a:srgbClr val="FFC000"/>
                </a:solidFill>
                <a:latin typeface="Gill Sans Std ExtraBold" pitchFamily="34" charset="0"/>
              </a:rPr>
              <a:t>área</a:t>
            </a:r>
            <a:r>
              <a:rPr lang="pt-BR" sz="2000" dirty="0">
                <a:solidFill>
                  <a:srgbClr val="004F71"/>
                </a:solidFill>
                <a:latin typeface="Gill Sans Std ExtraBold" pitchFamily="34" charset="0"/>
              </a:rPr>
              <a:t>?</a:t>
            </a:r>
          </a:p>
          <a:p>
            <a:pPr marL="342884" indent="-342884">
              <a:spcBef>
                <a:spcPts val="3000"/>
              </a:spcBef>
              <a:buFont typeface="Wingdings" pitchFamily="2" charset="2"/>
              <a:buChar char="ü"/>
            </a:pPr>
            <a:r>
              <a:rPr lang="pt-BR" sz="2000" dirty="0">
                <a:solidFill>
                  <a:schemeClr val="tx2"/>
                </a:solidFill>
                <a:latin typeface="Gill Sans Std ExtraBold" pitchFamily="34" charset="0"/>
              </a:rPr>
              <a:t>Há</a:t>
            </a:r>
            <a:r>
              <a:rPr lang="pt-BR" sz="2000" dirty="0">
                <a:solidFill>
                  <a:srgbClr val="FFC000"/>
                </a:solidFill>
                <a:latin typeface="Gill Sans Std ExtraBold" pitchFamily="34" charset="0"/>
              </a:rPr>
              <a:t> quanto tempo </a:t>
            </a:r>
            <a:r>
              <a:rPr lang="pt-BR" sz="2000" dirty="0">
                <a:solidFill>
                  <a:srgbClr val="004F71"/>
                </a:solidFill>
                <a:latin typeface="Gill Sans Std ExtraBold" pitchFamily="34" charset="0"/>
              </a:rPr>
              <a:t>está na Natura?</a:t>
            </a:r>
          </a:p>
          <a:p>
            <a:pPr marL="342884" indent="-342884">
              <a:spcBef>
                <a:spcPts val="3000"/>
              </a:spcBef>
              <a:buFont typeface="Wingdings" pitchFamily="2" charset="2"/>
              <a:buChar char="ü"/>
            </a:pPr>
            <a:r>
              <a:rPr lang="pt-BR" sz="2000" dirty="0">
                <a:solidFill>
                  <a:srgbClr val="004F71"/>
                </a:solidFill>
                <a:latin typeface="Gill Sans Std ExtraBold" pitchFamily="34" charset="0"/>
              </a:rPr>
              <a:t>Qual o seu </a:t>
            </a:r>
            <a:r>
              <a:rPr lang="pt-BR" sz="2000" dirty="0">
                <a:solidFill>
                  <a:srgbClr val="FFC000"/>
                </a:solidFill>
                <a:latin typeface="Gill Sans Std ExtraBold" pitchFamily="34" charset="0"/>
              </a:rPr>
              <a:t>papel </a:t>
            </a:r>
            <a:r>
              <a:rPr lang="pt-BR" sz="2000" dirty="0">
                <a:solidFill>
                  <a:srgbClr val="004F71"/>
                </a:solidFill>
                <a:latin typeface="Gill Sans Std ExtraBold" pitchFamily="34" charset="0"/>
              </a:rPr>
              <a:t>em TD?</a:t>
            </a:r>
          </a:p>
          <a:p>
            <a:pPr marL="342884" indent="-342884">
              <a:spcBef>
                <a:spcPts val="3000"/>
              </a:spcBef>
              <a:buFont typeface="Wingdings" pitchFamily="2" charset="2"/>
              <a:buChar char="ü"/>
            </a:pPr>
            <a:r>
              <a:rPr lang="pt-BR" sz="2000" dirty="0">
                <a:solidFill>
                  <a:srgbClr val="004F71"/>
                </a:solidFill>
                <a:latin typeface="Gill Sans Std ExtraBold" pitchFamily="34" charset="0"/>
              </a:rPr>
              <a:t>Como você está envolvido na </a:t>
            </a:r>
            <a:r>
              <a:rPr lang="pt-BR" sz="2000" dirty="0">
                <a:solidFill>
                  <a:srgbClr val="FFC000"/>
                </a:solidFill>
                <a:latin typeface="Gill Sans Std ExtraBold" pitchFamily="34" charset="0"/>
              </a:rPr>
              <a:t>gestão e entrega de projetos e evoluções</a:t>
            </a:r>
            <a:r>
              <a:rPr lang="pt-BR" sz="2000" dirty="0">
                <a:solidFill>
                  <a:srgbClr val="004F71"/>
                </a:solidFill>
                <a:latin typeface="Gill Sans Std ExtraBold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5976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28" y="17"/>
            <a:ext cx="8474426" cy="5143501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55"/>
          <a:stretch/>
        </p:blipFill>
        <p:spPr>
          <a:xfrm>
            <a:off x="6686578" y="-7970"/>
            <a:ext cx="2457450" cy="5151482"/>
          </a:xfrm>
          <a:prstGeom prst="rect">
            <a:avLst/>
          </a:prstGeom>
        </p:spPr>
      </p:pic>
      <p:sp>
        <p:nvSpPr>
          <p:cNvPr id="4" name="TextBox 22"/>
          <p:cNvSpPr txBox="1"/>
          <p:nvPr/>
        </p:nvSpPr>
        <p:spPr>
          <a:xfrm>
            <a:off x="1581592" y="2034787"/>
            <a:ext cx="5104988" cy="569684"/>
          </a:xfrm>
          <a:prstGeom prst="rect">
            <a:avLst/>
          </a:prstGeom>
          <a:noFill/>
        </p:spPr>
        <p:txBody>
          <a:bodyPr wrap="square" lIns="68376" tIns="34181" rIns="68376" bIns="34181" rtlCol="0">
            <a:spAutoFit/>
          </a:bodyPr>
          <a:lstStyle/>
          <a:p>
            <a:pPr algn="r" defTabSz="683757">
              <a:lnSpc>
                <a:spcPct val="80000"/>
              </a:lnSpc>
            </a:pPr>
            <a:r>
              <a:rPr lang="pt-BR" sz="4000" dirty="0">
                <a:solidFill>
                  <a:srgbClr val="612C51"/>
                </a:solidFill>
                <a:latin typeface="Gill Sans Std ExtraBold" pitchFamily="34" charset="0"/>
                <a:cs typeface="Gill Sans Std Light"/>
              </a:rPr>
              <a:t>Tecnologia Digital</a:t>
            </a:r>
          </a:p>
        </p:txBody>
      </p:sp>
      <p:sp>
        <p:nvSpPr>
          <p:cNvPr id="6" name="TextBox 13"/>
          <p:cNvSpPr txBox="1"/>
          <p:nvPr/>
        </p:nvSpPr>
        <p:spPr>
          <a:xfrm>
            <a:off x="4626387" y="3886039"/>
            <a:ext cx="2131846" cy="900030"/>
          </a:xfrm>
          <a:prstGeom prst="rect">
            <a:avLst/>
          </a:prstGeom>
          <a:noFill/>
        </p:spPr>
        <p:txBody>
          <a:bodyPr wrap="none" lIns="68376" tIns="34181" rIns="68376" bIns="34181" rtlCol="0">
            <a:spAutoFit/>
          </a:bodyPr>
          <a:lstStyle/>
          <a:p>
            <a:pPr algn="r" defTabSz="683757"/>
            <a:r>
              <a:rPr lang="en-US" b="1" dirty="0" smtClean="0">
                <a:solidFill>
                  <a:srgbClr val="6E6259"/>
                </a:solidFill>
                <a:latin typeface="Gill Sans Std" pitchFamily="34" charset="0"/>
                <a:cs typeface="Gill Sans Std Light"/>
              </a:rPr>
              <a:t>Governança de TD</a:t>
            </a:r>
            <a:endParaRPr lang="en-US" b="1" dirty="0">
              <a:solidFill>
                <a:srgbClr val="6E6259"/>
              </a:solidFill>
              <a:latin typeface="Gill Sans Std" pitchFamily="34" charset="0"/>
              <a:cs typeface="Gill Sans Std Light"/>
            </a:endParaRPr>
          </a:p>
          <a:p>
            <a:pPr algn="r" defTabSz="683757"/>
            <a:r>
              <a:rPr lang="en-US" b="1" dirty="0">
                <a:solidFill>
                  <a:srgbClr val="6E6259"/>
                </a:solidFill>
                <a:latin typeface="Gill Sans Std" pitchFamily="34" charset="0"/>
                <a:cs typeface="Gill Sans Std Light"/>
              </a:rPr>
              <a:t>Natura</a:t>
            </a:r>
          </a:p>
          <a:p>
            <a:pPr algn="r" defTabSz="683757"/>
            <a:r>
              <a:rPr lang="en-US" b="1" dirty="0" smtClean="0">
                <a:solidFill>
                  <a:srgbClr val="6E6259"/>
                </a:solidFill>
                <a:latin typeface="Gill Sans Std" pitchFamily="34" charset="0"/>
                <a:cs typeface="Gill Sans Std Light"/>
              </a:rPr>
              <a:t>2015</a:t>
            </a:r>
            <a:endParaRPr lang="en-US" b="1" dirty="0">
              <a:solidFill>
                <a:srgbClr val="6E6259"/>
              </a:solidFill>
              <a:latin typeface="Gill Sans Std" pitchFamily="34" charset="0"/>
              <a:cs typeface="Gill Sans Std Light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243631" y="857660"/>
            <a:ext cx="5085835" cy="1177126"/>
          </a:xfrm>
          <a:prstGeom prst="rect">
            <a:avLst/>
          </a:prstGeom>
        </p:spPr>
        <p:txBody>
          <a:bodyPr wrap="square" lIns="68474" tIns="34229" rIns="68474" bIns="34229">
            <a:spAutoFit/>
          </a:bodyPr>
          <a:lstStyle/>
          <a:p>
            <a:r>
              <a:rPr lang="en-US" sz="7200" dirty="0" err="1">
                <a:solidFill>
                  <a:srgbClr val="C8102E"/>
                </a:solidFill>
                <a:latin typeface="Gill Sans Std" pitchFamily="34" charset="0"/>
                <a:cs typeface="Gill Sans Std Light"/>
              </a:rPr>
              <a:t>Estratégia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2821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55458" y="268230"/>
            <a:ext cx="6041587" cy="645874"/>
          </a:xfrm>
          <a:prstGeom prst="rect">
            <a:avLst/>
          </a:prstGeom>
          <a:noFill/>
        </p:spPr>
        <p:txBody>
          <a:bodyPr wrap="square" lIns="90979" tIns="45492" rIns="90979" bIns="45492" rtlCol="0">
            <a:spAutoFit/>
          </a:bodyPr>
          <a:lstStyle/>
          <a:p>
            <a:pPr defTabSz="909836"/>
            <a:r>
              <a:rPr lang="pt-BR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AS REALIDADES DO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46905" y="701925"/>
            <a:ext cx="4600111" cy="645874"/>
          </a:xfrm>
          <a:prstGeom prst="rect">
            <a:avLst/>
          </a:prstGeom>
          <a:noFill/>
        </p:spPr>
        <p:txBody>
          <a:bodyPr wrap="square" lIns="90979" tIns="45492" rIns="90979" bIns="45492" rtlCol="0">
            <a:spAutoFit/>
          </a:bodyPr>
          <a:lstStyle/>
          <a:p>
            <a:pPr defTabSz="909836"/>
            <a:r>
              <a:rPr lang="pt-BR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NOSSO COTIDIANO</a:t>
            </a:r>
          </a:p>
        </p:txBody>
      </p:sp>
      <p:sp>
        <p:nvSpPr>
          <p:cNvPr id="9" name="Rectangle 13"/>
          <p:cNvSpPr/>
          <p:nvPr/>
        </p:nvSpPr>
        <p:spPr>
          <a:xfrm>
            <a:off x="255458" y="1348049"/>
            <a:ext cx="8880211" cy="3793885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979" tIns="45492" rIns="90979" bIns="45492" rtlCol="0" anchor="ctr"/>
          <a:lstStyle/>
          <a:p>
            <a:pPr algn="ctr" defTabSz="909836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496" y="1572117"/>
            <a:ext cx="2262109" cy="3578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tângulo 13"/>
          <p:cNvSpPr/>
          <p:nvPr/>
        </p:nvSpPr>
        <p:spPr>
          <a:xfrm>
            <a:off x="5003261" y="1563661"/>
            <a:ext cx="4025097" cy="3138865"/>
          </a:xfrm>
          <a:prstGeom prst="rect">
            <a:avLst/>
          </a:prstGeom>
        </p:spPr>
        <p:txBody>
          <a:bodyPr wrap="square" lIns="90979" tIns="45492" rIns="90979" bIns="45492">
            <a:spAutoFit/>
          </a:bodyPr>
          <a:lstStyle/>
          <a:p>
            <a:pPr defTabSz="909836"/>
            <a:r>
              <a:rPr lang="pt-BR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" pitchFamily="34" charset="0"/>
                <a:cs typeface="Gill Sans Std"/>
              </a:rPr>
              <a:t>vivemos em um mundo em um </a:t>
            </a:r>
            <a:r>
              <a:rPr lang="pt-BR" b="1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" pitchFamily="34" charset="0"/>
                <a:cs typeface="Gill Sans Std"/>
              </a:rPr>
              <a:t>processo de transformação acelerada</a:t>
            </a:r>
            <a:endParaRPr lang="pt-BR" dirty="0">
              <a:solidFill>
                <a:prstClr val="black">
                  <a:lumMod val="65000"/>
                  <a:lumOff val="35000"/>
                </a:prstClr>
              </a:solidFill>
              <a:latin typeface="Gill Sans Std" pitchFamily="34" charset="0"/>
              <a:cs typeface="Gill Sans Std"/>
            </a:endParaRPr>
          </a:p>
          <a:p>
            <a:pPr defTabSz="909836"/>
            <a:endParaRPr lang="pt-BR" dirty="0">
              <a:solidFill>
                <a:prstClr val="black">
                  <a:lumMod val="65000"/>
                  <a:lumOff val="35000"/>
                </a:prstClr>
              </a:solidFill>
              <a:latin typeface="Gill Sans Std" pitchFamily="34" charset="0"/>
              <a:cs typeface="Gill Sans Std"/>
            </a:endParaRPr>
          </a:p>
          <a:p>
            <a:pPr defTabSz="909836"/>
            <a:r>
              <a:rPr lang="pt-BR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" pitchFamily="34" charset="0"/>
                <a:cs typeface="Gill Sans Std"/>
              </a:rPr>
              <a:t>cada vez mais o digital se insere na nossa realidade e alavanca </a:t>
            </a:r>
            <a:r>
              <a:rPr lang="pt-BR" b="1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" pitchFamily="34" charset="0"/>
                <a:cs typeface="Gill Sans Std"/>
              </a:rPr>
              <a:t>novas formas de interagir </a:t>
            </a:r>
            <a:r>
              <a:rPr lang="pt-BR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" pitchFamily="34" charset="0"/>
                <a:cs typeface="Gill Sans Std"/>
              </a:rPr>
              <a:t>com os outros e com o mundo que nos cerca</a:t>
            </a:r>
          </a:p>
          <a:p>
            <a:pPr defTabSz="909836"/>
            <a:endParaRPr lang="pt-BR" dirty="0">
              <a:solidFill>
                <a:prstClr val="black">
                  <a:lumMod val="65000"/>
                  <a:lumOff val="35000"/>
                </a:prstClr>
              </a:solidFill>
              <a:latin typeface="Gill Sans Std" pitchFamily="34" charset="0"/>
              <a:cs typeface="Gill Sans Std"/>
            </a:endParaRPr>
          </a:p>
          <a:p>
            <a:pPr defTabSz="909836"/>
            <a:r>
              <a:rPr lang="pt-BR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" pitchFamily="34" charset="0"/>
                <a:cs typeface="Gill Sans Std"/>
              </a:rPr>
              <a:t>a tecnologia se torna cada vez mais presente e relevante nas nossas vidas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141872" y="3284660"/>
            <a:ext cx="926994" cy="409023"/>
          </a:xfrm>
          <a:prstGeom prst="roundRect">
            <a:avLst/>
          </a:prstGeom>
          <a:solidFill>
            <a:srgbClr val="92D050">
              <a:alpha val="69000"/>
            </a:srgb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979" tIns="45492" rIns="90979" bIns="45492" rtlCol="0" anchor="ctr"/>
          <a:lstStyle/>
          <a:p>
            <a:pPr algn="ctr" defTabSz="909836"/>
            <a:r>
              <a:rPr lang="pt-BR" dirty="0">
                <a:solidFill>
                  <a:prstClr val="black"/>
                </a:solidFill>
                <a:latin typeface="Gill Sans Std ExtraBold" pitchFamily="34" charset="0"/>
              </a:rPr>
              <a:t>social</a:t>
            </a:r>
          </a:p>
        </p:txBody>
      </p:sp>
      <p:sp>
        <p:nvSpPr>
          <p:cNvPr id="16" name="Retângulo de cantos arredondados 15"/>
          <p:cNvSpPr/>
          <p:nvPr/>
        </p:nvSpPr>
        <p:spPr>
          <a:xfrm>
            <a:off x="2781818" y="4333627"/>
            <a:ext cx="1430801" cy="369332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979" tIns="45492" rIns="90979" bIns="45492" rtlCol="0" anchor="ctr"/>
          <a:lstStyle/>
          <a:p>
            <a:pPr algn="ctr" defTabSz="909836"/>
            <a:r>
              <a:rPr lang="pt-BR" dirty="0">
                <a:solidFill>
                  <a:prstClr val="black"/>
                </a:solidFill>
                <a:latin typeface="Gill Sans Std ExtraBold" pitchFamily="34" charset="0"/>
              </a:rPr>
              <a:t>analógico</a:t>
            </a:r>
          </a:p>
        </p:txBody>
      </p:sp>
      <p:sp>
        <p:nvSpPr>
          <p:cNvPr id="19" name="Retângulo de cantos arredondados 18"/>
          <p:cNvSpPr/>
          <p:nvPr/>
        </p:nvSpPr>
        <p:spPr>
          <a:xfrm>
            <a:off x="578748" y="3846634"/>
            <a:ext cx="1430801" cy="369332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979" tIns="45492" rIns="90979" bIns="45492" rtlCol="0" anchor="ctr"/>
          <a:lstStyle/>
          <a:p>
            <a:pPr algn="ctr" defTabSz="909836"/>
            <a:r>
              <a:rPr lang="pt-BR" dirty="0">
                <a:solidFill>
                  <a:prstClr val="black"/>
                </a:solidFill>
                <a:latin typeface="Gill Sans Std ExtraBold" pitchFamily="34" charset="0"/>
              </a:rPr>
              <a:t>digital</a:t>
            </a:r>
          </a:p>
        </p:txBody>
      </p:sp>
      <p:sp>
        <p:nvSpPr>
          <p:cNvPr id="20" name="Retângulo de cantos arredondados 19"/>
          <p:cNvSpPr/>
          <p:nvPr/>
        </p:nvSpPr>
        <p:spPr>
          <a:xfrm>
            <a:off x="300114" y="2618971"/>
            <a:ext cx="1430801" cy="369332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979" tIns="45492" rIns="90979" bIns="45492" rtlCol="0" anchor="ctr"/>
          <a:lstStyle/>
          <a:p>
            <a:pPr algn="ctr" defTabSz="909836"/>
            <a:r>
              <a:rPr lang="pt-BR" dirty="0">
                <a:solidFill>
                  <a:prstClr val="black"/>
                </a:solidFill>
                <a:latin typeface="Gill Sans Std ExtraBold" pitchFamily="34" charset="0"/>
              </a:rPr>
              <a:t>conexão</a:t>
            </a:r>
          </a:p>
        </p:txBody>
      </p:sp>
      <p:sp>
        <p:nvSpPr>
          <p:cNvPr id="21" name="Retângulo de cantos arredondados 20"/>
          <p:cNvSpPr/>
          <p:nvPr/>
        </p:nvSpPr>
        <p:spPr>
          <a:xfrm>
            <a:off x="3605368" y="1851671"/>
            <a:ext cx="1090195" cy="409023"/>
          </a:xfrm>
          <a:prstGeom prst="roundRect">
            <a:avLst/>
          </a:prstGeom>
          <a:solidFill>
            <a:schemeClr val="accent2">
              <a:lumMod val="60000"/>
              <a:lumOff val="40000"/>
              <a:alpha val="69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979" tIns="45492" rIns="90979" bIns="45492" rtlCol="0" anchor="ctr"/>
          <a:lstStyle/>
          <a:p>
            <a:pPr algn="ctr" defTabSz="909836"/>
            <a:r>
              <a:rPr lang="pt-BR" dirty="0">
                <a:solidFill>
                  <a:prstClr val="black"/>
                </a:solidFill>
                <a:latin typeface="Gill Sans Std ExtraBold" pitchFamily="34" charset="0"/>
              </a:rPr>
              <a:t>virtual</a:t>
            </a:r>
          </a:p>
        </p:txBody>
      </p:sp>
    </p:spTree>
    <p:extLst>
      <p:ext uri="{BB962C8B-B14F-4D97-AF65-F5344CB8AC3E}">
        <p14:creationId xmlns:p14="http://schemas.microsoft.com/office/powerpoint/2010/main" val="1156662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55457" y="268230"/>
            <a:ext cx="5035313" cy="645874"/>
          </a:xfrm>
          <a:prstGeom prst="rect">
            <a:avLst/>
          </a:prstGeom>
          <a:noFill/>
        </p:spPr>
        <p:txBody>
          <a:bodyPr wrap="square" lIns="90979" tIns="45492" rIns="90979" bIns="45492" rtlCol="0">
            <a:spAutoFit/>
          </a:bodyPr>
          <a:lstStyle/>
          <a:p>
            <a:pPr defTabSz="909836"/>
            <a:r>
              <a:rPr lang="pt-BR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OS SINAIS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46905" y="701925"/>
            <a:ext cx="4600111" cy="645874"/>
          </a:xfrm>
          <a:prstGeom prst="rect">
            <a:avLst/>
          </a:prstGeom>
          <a:noFill/>
        </p:spPr>
        <p:txBody>
          <a:bodyPr wrap="square" lIns="90979" tIns="45492" rIns="90979" bIns="45492" rtlCol="0">
            <a:spAutoFit/>
          </a:bodyPr>
          <a:lstStyle/>
          <a:p>
            <a:pPr defTabSz="909836"/>
            <a:r>
              <a:rPr lang="pt-BR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NO COTIDIANO</a:t>
            </a:r>
          </a:p>
        </p:txBody>
      </p:sp>
      <p:sp>
        <p:nvSpPr>
          <p:cNvPr id="9" name="Rectangle 13"/>
          <p:cNvSpPr/>
          <p:nvPr/>
        </p:nvSpPr>
        <p:spPr>
          <a:xfrm>
            <a:off x="255458" y="1348049"/>
            <a:ext cx="8880211" cy="283399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979" tIns="45492" rIns="90979" bIns="45492" rtlCol="0" anchor="ctr"/>
          <a:lstStyle/>
          <a:p>
            <a:pPr algn="ctr" defTabSz="909836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4572879" y="1491633"/>
            <a:ext cx="4562789" cy="2707973"/>
          </a:xfrm>
          <a:prstGeom prst="rect">
            <a:avLst/>
          </a:prstGeom>
        </p:spPr>
        <p:txBody>
          <a:bodyPr wrap="square" lIns="90979" tIns="45492" rIns="90979" bIns="45492">
            <a:spAutoFit/>
          </a:bodyPr>
          <a:lstStyle/>
          <a:p>
            <a:pPr marL="284325" indent="-284325" defTabSz="909836">
              <a:spcAft>
                <a:spcPts val="599"/>
              </a:spcAft>
              <a:buFont typeface="Arial" pitchFamily="34" charset="0"/>
              <a:buChar char="•"/>
            </a:pPr>
            <a:r>
              <a:rPr lang="pt-B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" pitchFamily="34" charset="0"/>
                <a:cs typeface="Gill Sans Std"/>
              </a:rPr>
              <a:t>computação em nuvem quebra uma barreira de entrada na utilização da tecnologia</a:t>
            </a:r>
          </a:p>
          <a:p>
            <a:pPr marL="284325" indent="-284325" defTabSz="909836">
              <a:spcAft>
                <a:spcPts val="599"/>
              </a:spcAft>
              <a:buFont typeface="Arial" pitchFamily="34" charset="0"/>
              <a:buChar char="•"/>
            </a:pPr>
            <a:r>
              <a:rPr lang="pt-B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" pitchFamily="34" charset="0"/>
                <a:cs typeface="Gill Sans Std"/>
              </a:rPr>
              <a:t>barateamento da infraestrutura cria capacidade para a manipulação de grandes volumes de informação</a:t>
            </a:r>
          </a:p>
          <a:p>
            <a:pPr marL="284325" indent="-284325" defTabSz="909836">
              <a:spcAft>
                <a:spcPts val="599"/>
              </a:spcAft>
              <a:buFont typeface="Arial" pitchFamily="34" charset="0"/>
              <a:buChar char="•"/>
            </a:pPr>
            <a:r>
              <a:rPr lang="pt-B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" pitchFamily="34" charset="0"/>
                <a:cs typeface="Gill Sans Std"/>
              </a:rPr>
              <a:t>crescimento acelerado das tecnologias de mobilidade cria um cenário de </a:t>
            </a:r>
            <a:r>
              <a:rPr lang="pt-BR" sz="14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ill Sans Std" pitchFamily="34" charset="0"/>
                <a:cs typeface="Gill Sans Std"/>
              </a:rPr>
              <a:t>hiperconexão</a:t>
            </a:r>
            <a:endParaRPr lang="pt-BR" sz="1400" dirty="0">
              <a:solidFill>
                <a:prstClr val="black">
                  <a:lumMod val="65000"/>
                  <a:lumOff val="35000"/>
                </a:prstClr>
              </a:solidFill>
              <a:latin typeface="Gill Sans Std" pitchFamily="34" charset="0"/>
              <a:cs typeface="Gill Sans Std"/>
            </a:endParaRPr>
          </a:p>
          <a:p>
            <a:pPr marL="284325" indent="-284325" defTabSz="909836">
              <a:spcAft>
                <a:spcPts val="599"/>
              </a:spcAft>
              <a:buFont typeface="Arial" pitchFamily="34" charset="0"/>
              <a:buChar char="•"/>
            </a:pPr>
            <a:r>
              <a:rPr lang="pt-B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" pitchFamily="34" charset="0"/>
                <a:cs typeface="Gill Sans Std"/>
              </a:rPr>
              <a:t>emergem novos comportamentos</a:t>
            </a:r>
          </a:p>
          <a:p>
            <a:pPr defTabSz="909836"/>
            <a:endParaRPr lang="pt-BR" sz="1400" dirty="0">
              <a:solidFill>
                <a:prstClr val="black">
                  <a:lumMod val="65000"/>
                  <a:lumOff val="35000"/>
                </a:prstClr>
              </a:solidFill>
              <a:latin typeface="Gill Sans Std" pitchFamily="34" charset="0"/>
              <a:cs typeface="Gill Sans Std"/>
            </a:endParaRPr>
          </a:p>
          <a:p>
            <a:pPr algn="ctr" defTabSz="909836"/>
            <a:r>
              <a:rPr lang="pt-BR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" pitchFamily="34" charset="0"/>
                <a:cs typeface="Gill Sans Std"/>
              </a:rPr>
              <a:t>a conjunção destas forças cria</a:t>
            </a:r>
            <a:br>
              <a:rPr lang="pt-BR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" pitchFamily="34" charset="0"/>
                <a:cs typeface="Gill Sans Std"/>
              </a:rPr>
            </a:br>
            <a:r>
              <a:rPr lang="pt-BR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 ExtraBold" pitchFamily="34" charset="0"/>
                <a:cs typeface="Gill Sans Std"/>
              </a:rPr>
              <a:t>espaços de disrupção</a:t>
            </a:r>
          </a:p>
        </p:txBody>
      </p:sp>
      <p:grpSp>
        <p:nvGrpSpPr>
          <p:cNvPr id="10" name="Grupo 9"/>
          <p:cNvGrpSpPr/>
          <p:nvPr/>
        </p:nvGrpSpPr>
        <p:grpSpPr>
          <a:xfrm>
            <a:off x="369319" y="1546397"/>
            <a:ext cx="4326242" cy="2437283"/>
            <a:chOff x="361644" y="1546380"/>
            <a:chExt cx="4334142" cy="2437283"/>
          </a:xfrm>
        </p:grpSpPr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644" y="1546380"/>
              <a:ext cx="4334142" cy="2437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Retângulo 5"/>
            <p:cNvSpPr/>
            <p:nvPr/>
          </p:nvSpPr>
          <p:spPr>
            <a:xfrm>
              <a:off x="361644" y="2427734"/>
              <a:ext cx="969996" cy="7920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09836"/>
              <a:endParaRPr lang="pt-BR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6" descr="marrom-ekos.png"/>
          <p:cNvPicPr>
            <a:picLocks noChangeAspect="1"/>
          </p:cNvPicPr>
          <p:nvPr/>
        </p:nvPicPr>
        <p:blipFill>
          <a:blip r:embed="rId4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4219" y="4371394"/>
            <a:ext cx="498262" cy="49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299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890" y="2163942"/>
            <a:ext cx="2851935" cy="2838095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3028542" y="1473040"/>
            <a:ext cx="3225467" cy="749721"/>
          </a:xfrm>
          <a:prstGeom prst="rect">
            <a:avLst/>
          </a:prstGeom>
        </p:spPr>
        <p:txBody>
          <a:bodyPr wrap="square" lIns="90952" tIns="45480" rIns="90952" bIns="45480">
            <a:spAutoFit/>
          </a:bodyPr>
          <a:lstStyle/>
          <a:p>
            <a:pPr algn="ctr" defTabSz="909612"/>
            <a:r>
              <a:rPr lang="en-US" sz="1400" b="1" dirty="0" err="1">
                <a:solidFill>
                  <a:prstClr val="black"/>
                </a:solidFill>
                <a:latin typeface="Gill Sans Std UltraBold" pitchFamily="34" charset="0"/>
              </a:rPr>
              <a:t>conveniência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 – </a:t>
            </a:r>
            <a:r>
              <a:rPr lang="en-US" sz="1400" dirty="0" err="1">
                <a:solidFill>
                  <a:prstClr val="black"/>
                </a:solidFill>
                <a:latin typeface="Gill Sans Std" pitchFamily="34" charset="0"/>
              </a:rPr>
              <a:t>multimarcas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Gill Sans Std" pitchFamily="34" charset="0"/>
              </a:rPr>
              <a:t>diferentes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Gill Sans Std" pitchFamily="34" charset="0"/>
              </a:rPr>
              <a:t>canais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 de </a:t>
            </a:r>
            <a:r>
              <a:rPr lang="en-US" sz="1400" dirty="0" err="1">
                <a:solidFill>
                  <a:prstClr val="black"/>
                </a:solidFill>
                <a:latin typeface="Gill Sans Std" pitchFamily="34" charset="0"/>
              </a:rPr>
              <a:t>compra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Gill Sans Std" pitchFamily="34" charset="0"/>
              </a:rPr>
              <a:t>formas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 de </a:t>
            </a:r>
            <a:r>
              <a:rPr lang="en-US" sz="1400" dirty="0" err="1">
                <a:solidFill>
                  <a:prstClr val="black"/>
                </a:solidFill>
                <a:latin typeface="Gill Sans Std" pitchFamily="34" charset="0"/>
              </a:rPr>
              <a:t>pagamento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Gill Sans Std" pitchFamily="34" charset="0"/>
              </a:rPr>
              <a:t>entrega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 (</a:t>
            </a:r>
            <a:r>
              <a:rPr lang="en-US" sz="1400" i="1" dirty="0">
                <a:solidFill>
                  <a:prstClr val="black"/>
                </a:solidFill>
                <a:latin typeface="Gill Sans Std" pitchFamily="34" charset="0"/>
              </a:rPr>
              <a:t>delivery, pickup point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)</a:t>
            </a:r>
          </a:p>
        </p:txBody>
      </p:sp>
      <p:sp>
        <p:nvSpPr>
          <p:cNvPr id="4" name="Retângulo 3"/>
          <p:cNvSpPr/>
          <p:nvPr/>
        </p:nvSpPr>
        <p:spPr>
          <a:xfrm>
            <a:off x="1312484" y="3822425"/>
            <a:ext cx="2385735" cy="530430"/>
          </a:xfrm>
          <a:prstGeom prst="rect">
            <a:avLst/>
          </a:prstGeom>
        </p:spPr>
        <p:txBody>
          <a:bodyPr wrap="square" lIns="90952" tIns="45480" rIns="90952" bIns="45480">
            <a:spAutoFit/>
          </a:bodyPr>
          <a:lstStyle/>
          <a:p>
            <a:pPr algn="r" defTabSz="909612"/>
            <a:r>
              <a:rPr lang="en-US" sz="1400" b="1" dirty="0" err="1">
                <a:solidFill>
                  <a:prstClr val="black"/>
                </a:solidFill>
                <a:latin typeface="Gill Sans Std UltraBold" pitchFamily="34" charset="0"/>
              </a:rPr>
              <a:t>hiperconexão</a:t>
            </a:r>
            <a:r>
              <a:rPr lang="en-US" sz="1400" b="1" dirty="0">
                <a:solidFill>
                  <a:prstClr val="black"/>
                </a:solidFill>
                <a:latin typeface="Gill Sans Std UltraBold" pitchFamily="34" charset="0"/>
              </a:rPr>
              <a:t> 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– </a:t>
            </a:r>
            <a:r>
              <a:rPr lang="en-US" sz="1400" i="1" dirty="0">
                <a:solidFill>
                  <a:prstClr val="black"/>
                </a:solidFill>
                <a:latin typeface="Gill Sans Std" pitchFamily="34" charset="0"/>
              </a:rPr>
              <a:t>smartphones, web, home devices</a:t>
            </a:r>
            <a:endParaRPr lang="en-US" sz="1400" b="1" dirty="0">
              <a:solidFill>
                <a:prstClr val="black"/>
              </a:solidFill>
              <a:latin typeface="Gill Sans Std UltraBold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5566006" y="3714683"/>
            <a:ext cx="2799409" cy="749721"/>
          </a:xfrm>
          <a:prstGeom prst="rect">
            <a:avLst/>
          </a:prstGeom>
        </p:spPr>
        <p:txBody>
          <a:bodyPr wrap="square" lIns="90952" tIns="45480" rIns="90952" bIns="45480">
            <a:spAutoFit/>
          </a:bodyPr>
          <a:lstStyle/>
          <a:p>
            <a:pPr defTabSz="909612"/>
            <a:r>
              <a:rPr lang="en-US" sz="1400" dirty="0" err="1">
                <a:solidFill>
                  <a:prstClr val="black"/>
                </a:solidFill>
                <a:latin typeface="Gill Sans Std" pitchFamily="34" charset="0"/>
              </a:rPr>
              <a:t>consumidor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 </a:t>
            </a:r>
            <a:r>
              <a:rPr lang="en-US" sz="1400" b="1" dirty="0">
                <a:solidFill>
                  <a:prstClr val="black"/>
                </a:solidFill>
                <a:latin typeface="Gill Sans Std UltraBold" pitchFamily="34" charset="0"/>
              </a:rPr>
              <a:t>social 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– </a:t>
            </a:r>
            <a:r>
              <a:rPr lang="en-US" sz="1400" dirty="0" err="1">
                <a:solidFill>
                  <a:prstClr val="black"/>
                </a:solidFill>
                <a:latin typeface="Gill Sans Std" pitchFamily="34" charset="0"/>
              </a:rPr>
              <a:t>compartilhamento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Gill Sans Std" pitchFamily="34" charset="0"/>
              </a:rPr>
              <a:t>recomendações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Gill Sans Std" pitchFamily="34" charset="0"/>
              </a:rPr>
              <a:t>geração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 de </a:t>
            </a:r>
            <a:r>
              <a:rPr lang="en-US" sz="1400" dirty="0" err="1">
                <a:solidFill>
                  <a:prstClr val="black"/>
                </a:solidFill>
                <a:latin typeface="Gill Sans Std" pitchFamily="34" charset="0"/>
              </a:rPr>
              <a:t>conteúdo</a:t>
            </a:r>
            <a:endParaRPr lang="en-US" sz="1400" dirty="0">
              <a:solidFill>
                <a:prstClr val="black"/>
              </a:solidFill>
              <a:latin typeface="Gill Sans Std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6245025" y="2523959"/>
            <a:ext cx="2659439" cy="749721"/>
          </a:xfrm>
          <a:prstGeom prst="rect">
            <a:avLst/>
          </a:prstGeom>
        </p:spPr>
        <p:txBody>
          <a:bodyPr wrap="square" lIns="90952" tIns="45480" rIns="90952" bIns="45480">
            <a:spAutoFit/>
          </a:bodyPr>
          <a:lstStyle/>
          <a:p>
            <a:pPr defTabSz="909612"/>
            <a:r>
              <a:rPr lang="en-US" sz="1400" b="1" dirty="0" err="1">
                <a:solidFill>
                  <a:prstClr val="black"/>
                </a:solidFill>
                <a:latin typeface="Gill Sans Std UltraBold" pitchFamily="34" charset="0"/>
              </a:rPr>
              <a:t>personalização</a:t>
            </a:r>
            <a:r>
              <a:rPr lang="en-US" sz="1400" b="1" dirty="0">
                <a:solidFill>
                  <a:prstClr val="black"/>
                </a:solidFill>
                <a:latin typeface="Gill Sans Std UltraBold" pitchFamily="34" charset="0"/>
              </a:rPr>
              <a:t> 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– </a:t>
            </a:r>
            <a:r>
              <a:rPr lang="en-US" sz="1400" dirty="0" err="1">
                <a:solidFill>
                  <a:prstClr val="black"/>
                </a:solidFill>
                <a:latin typeface="Gill Sans Std" pitchFamily="34" charset="0"/>
              </a:rPr>
              <a:t>conteúdos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Gill Sans Std" pitchFamily="34" charset="0"/>
              </a:rPr>
              <a:t>ofertas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Gill Sans Std" pitchFamily="34" charset="0"/>
              </a:rPr>
              <a:t>canais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 de </a:t>
            </a:r>
            <a:r>
              <a:rPr lang="en-US" sz="1400" dirty="0" err="1">
                <a:solidFill>
                  <a:prstClr val="black"/>
                </a:solidFill>
                <a:latin typeface="Gill Sans Std" pitchFamily="34" charset="0"/>
              </a:rPr>
              <a:t>interação</a:t>
            </a:r>
            <a:endParaRPr lang="en-US" sz="1400" dirty="0">
              <a:solidFill>
                <a:prstClr val="black"/>
              </a:solidFill>
              <a:latin typeface="Gill Sans Std" pitchFamily="34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683587" y="2523968"/>
            <a:ext cx="2396720" cy="522735"/>
          </a:xfrm>
          <a:prstGeom prst="rect">
            <a:avLst/>
          </a:prstGeom>
        </p:spPr>
        <p:txBody>
          <a:bodyPr wrap="square" lIns="90952" tIns="45480" rIns="90952" bIns="45480">
            <a:spAutoFit/>
          </a:bodyPr>
          <a:lstStyle/>
          <a:p>
            <a:pPr algn="r" defTabSz="909612"/>
            <a:r>
              <a:rPr lang="en-US" sz="1400" b="1" i="1" dirty="0">
                <a:solidFill>
                  <a:prstClr val="black"/>
                </a:solidFill>
                <a:latin typeface="Gill Sans Std UltraBold" pitchFamily="34" charset="0"/>
              </a:rPr>
              <a:t>omnichannel 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- </a:t>
            </a:r>
            <a:r>
              <a:rPr lang="en-US" sz="1400" dirty="0" err="1">
                <a:solidFill>
                  <a:prstClr val="black"/>
                </a:solidFill>
                <a:latin typeface="Gill Sans Std" pitchFamily="34" charset="0"/>
              </a:rPr>
              <a:t>loja</a:t>
            </a:r>
            <a:r>
              <a:rPr lang="en-US" sz="1400" dirty="0">
                <a:solidFill>
                  <a:prstClr val="black"/>
                </a:solidFill>
                <a:latin typeface="Gill Sans Std" pitchFamily="34" charset="0"/>
              </a:rPr>
              <a:t>, web, </a:t>
            </a:r>
            <a:r>
              <a:rPr lang="en-US" sz="1400" i="1" dirty="0">
                <a:solidFill>
                  <a:prstClr val="black"/>
                </a:solidFill>
                <a:latin typeface="Gill Sans Std" pitchFamily="34" charset="0"/>
              </a:rPr>
              <a:t>mobile, smart TV, </a:t>
            </a:r>
            <a:r>
              <a:rPr lang="en-US" sz="1400" i="1" dirty="0" err="1">
                <a:solidFill>
                  <a:prstClr val="black"/>
                </a:solidFill>
                <a:latin typeface="Gill Sans Std" pitchFamily="34" charset="0"/>
              </a:rPr>
              <a:t>wearables</a:t>
            </a:r>
            <a:endParaRPr lang="en-US" sz="1400" i="1" dirty="0">
              <a:solidFill>
                <a:prstClr val="black"/>
              </a:solidFill>
              <a:latin typeface="Gill Sans Std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790579" y="413152"/>
            <a:ext cx="7777177" cy="461184"/>
          </a:xfrm>
          <a:prstGeom prst="rect">
            <a:avLst/>
          </a:prstGeom>
          <a:noFill/>
        </p:spPr>
        <p:txBody>
          <a:bodyPr wrap="none" lIns="90952" tIns="45480" rIns="90952" bIns="45480" rtlCol="0">
            <a:spAutoFit/>
          </a:bodyPr>
          <a:lstStyle/>
          <a:p>
            <a:pPr defTabSz="909612"/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emerge um novo consumidor, hiperconectado</a:t>
            </a:r>
          </a:p>
        </p:txBody>
      </p:sp>
      <p:pic>
        <p:nvPicPr>
          <p:cNvPr id="9" name="Picture 6" descr="marrom-ekos.png"/>
          <p:cNvPicPr>
            <a:picLocks noChangeAspect="1"/>
          </p:cNvPicPr>
          <p:nvPr/>
        </p:nvPicPr>
        <p:blipFill>
          <a:blip r:embed="rId3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4219" y="4371394"/>
            <a:ext cx="498262" cy="49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731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82015" y="39693"/>
            <a:ext cx="5393792" cy="1199836"/>
          </a:xfrm>
          <a:prstGeom prst="rect">
            <a:avLst/>
          </a:prstGeom>
          <a:noFill/>
        </p:spPr>
        <p:txBody>
          <a:bodyPr wrap="square" lIns="90934" tIns="45474" rIns="90934" bIns="45474" rtlCol="0">
            <a:spAutoFit/>
          </a:bodyPr>
          <a:lstStyle/>
          <a:p>
            <a:r>
              <a:rPr lang="pt-BR" sz="3600" dirty="0">
                <a:latin typeface="Gill Sans Std ExtraBold" pitchFamily="34" charset="0"/>
              </a:rPr>
              <a:t>estamos nos transformando!</a:t>
            </a:r>
          </a:p>
        </p:txBody>
      </p:sp>
      <p:sp>
        <p:nvSpPr>
          <p:cNvPr id="2" name="Retângulo 1"/>
          <p:cNvSpPr/>
          <p:nvPr/>
        </p:nvSpPr>
        <p:spPr>
          <a:xfrm>
            <a:off x="791766" y="3012153"/>
            <a:ext cx="3456198" cy="1528993"/>
          </a:xfrm>
          <a:prstGeom prst="rect">
            <a:avLst/>
          </a:prstGeom>
        </p:spPr>
        <p:txBody>
          <a:bodyPr wrap="square" lIns="51162" tIns="25583" rIns="51162" bIns="25583">
            <a:spAutoFit/>
          </a:bodyPr>
          <a:lstStyle/>
          <a:p>
            <a:pPr algn="l"/>
            <a:r>
              <a:rPr lang="pt-BR" sz="2400" dirty="0">
                <a:latin typeface="Gill Sans Std" pitchFamily="34" charset="0"/>
              </a:rPr>
              <a:t>eficiência e produtividade</a:t>
            </a:r>
          </a:p>
          <a:p>
            <a:pPr algn="l"/>
            <a:r>
              <a:rPr lang="pt-BR" sz="2400" dirty="0">
                <a:latin typeface="Gill Sans Std" pitchFamily="34" charset="0"/>
              </a:rPr>
              <a:t>escala e volume</a:t>
            </a:r>
          </a:p>
          <a:p>
            <a:pPr algn="l"/>
            <a:r>
              <a:rPr lang="pt-BR" sz="2400" dirty="0">
                <a:latin typeface="Gill Sans Std" pitchFamily="34" charset="0"/>
              </a:rPr>
              <a:t>excelência em processos</a:t>
            </a:r>
          </a:p>
          <a:p>
            <a:pPr algn="l"/>
            <a:r>
              <a:rPr lang="pt-BR" sz="2400" dirty="0">
                <a:latin typeface="Gill Sans Std" pitchFamily="34" charset="0"/>
              </a:rPr>
              <a:t>otimização</a:t>
            </a:r>
            <a:endParaRPr lang="pt-BR" sz="2400" dirty="0"/>
          </a:p>
        </p:txBody>
      </p:sp>
      <p:sp>
        <p:nvSpPr>
          <p:cNvPr id="6" name="Retângulo 5"/>
          <p:cNvSpPr/>
          <p:nvPr/>
        </p:nvSpPr>
        <p:spPr>
          <a:xfrm>
            <a:off x="683569" y="1977708"/>
            <a:ext cx="2891102" cy="974995"/>
          </a:xfrm>
          <a:prstGeom prst="rect">
            <a:avLst/>
          </a:prstGeom>
        </p:spPr>
        <p:txBody>
          <a:bodyPr wrap="square" lIns="51162" tIns="25583" rIns="51162" bIns="25583">
            <a:spAutoFit/>
          </a:bodyPr>
          <a:lstStyle/>
          <a:p>
            <a:pPr algn="ctr"/>
            <a:r>
              <a:rPr lang="pt-BR" sz="3000" dirty="0">
                <a:solidFill>
                  <a:srgbClr val="00B050"/>
                </a:solidFill>
                <a:latin typeface="Gill Sans Std ExtraBold" pitchFamily="34" charset="0"/>
              </a:rPr>
              <a:t>transações digitais</a:t>
            </a:r>
            <a:endParaRPr lang="pt-BR" sz="3000" dirty="0">
              <a:solidFill>
                <a:srgbClr val="00B050"/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4787535" y="1869673"/>
            <a:ext cx="3780940" cy="1898325"/>
          </a:xfrm>
          <a:prstGeom prst="rect">
            <a:avLst/>
          </a:prstGeom>
        </p:spPr>
        <p:txBody>
          <a:bodyPr wrap="square" lIns="51162" tIns="25583" rIns="51162" bIns="25583">
            <a:spAutoFit/>
          </a:bodyPr>
          <a:lstStyle/>
          <a:p>
            <a:pPr algn="ctr"/>
            <a:r>
              <a:rPr lang="pt-BR" sz="6000" dirty="0">
                <a:solidFill>
                  <a:srgbClr val="00B0F0"/>
                </a:solidFill>
                <a:latin typeface="Gill Sans Std ExtraBold" pitchFamily="34" charset="0"/>
              </a:rPr>
              <a:t>negócios</a:t>
            </a:r>
            <a:br>
              <a:rPr lang="pt-BR" sz="6000" dirty="0">
                <a:solidFill>
                  <a:srgbClr val="00B0F0"/>
                </a:solidFill>
                <a:latin typeface="Gill Sans Std ExtraBold" pitchFamily="34" charset="0"/>
              </a:rPr>
            </a:br>
            <a:r>
              <a:rPr lang="pt-BR" sz="6000" dirty="0">
                <a:solidFill>
                  <a:srgbClr val="00B0F0"/>
                </a:solidFill>
                <a:latin typeface="Gill Sans Std ExtraBold" pitchFamily="34" charset="0"/>
              </a:rPr>
              <a:t>digitais</a:t>
            </a:r>
            <a:endParaRPr lang="pt-BR" sz="6000" dirty="0">
              <a:solidFill>
                <a:srgbClr val="00B0F0"/>
              </a:solidFill>
            </a:endParaRPr>
          </a:p>
        </p:txBody>
      </p:sp>
      <p:pic>
        <p:nvPicPr>
          <p:cNvPr id="7" name="Picture 6" descr="marrom-ekos.png"/>
          <p:cNvPicPr>
            <a:picLocks noChangeAspect="1"/>
          </p:cNvPicPr>
          <p:nvPr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4219" y="4371394"/>
            <a:ext cx="498262" cy="49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44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48" r="21414" b="13924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247593" y="268226"/>
            <a:ext cx="4684477" cy="646121"/>
          </a:xfrm>
          <a:prstGeom prst="rect">
            <a:avLst/>
          </a:prstGeom>
          <a:noFill/>
        </p:spPr>
        <p:txBody>
          <a:bodyPr wrap="square" lIns="91061" tIns="45534" rIns="91061" bIns="45534" rtlCol="0">
            <a:spAutoFit/>
          </a:bodyPr>
          <a:lstStyle/>
          <a:p>
            <a:pPr defTabSz="910662"/>
            <a:r>
              <a:rPr lang="pt-BR" sz="3600" dirty="0">
                <a:solidFill>
                  <a:srgbClr val="595959">
                    <a:alpha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UM NOVO CICLO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04000" y="701915"/>
            <a:ext cx="2376264" cy="646121"/>
          </a:xfrm>
          <a:prstGeom prst="rect">
            <a:avLst/>
          </a:prstGeom>
          <a:noFill/>
        </p:spPr>
        <p:txBody>
          <a:bodyPr wrap="square" lIns="91061" tIns="45534" rIns="91061" bIns="45534" rtlCol="0">
            <a:spAutoFit/>
          </a:bodyPr>
          <a:lstStyle/>
          <a:p>
            <a:pPr defTabSz="910662"/>
            <a:r>
              <a:rPr lang="pt-BR" sz="3600" dirty="0">
                <a:solidFill>
                  <a:srgbClr val="595959">
                    <a:alpha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NATURA</a:t>
            </a:r>
          </a:p>
        </p:txBody>
      </p:sp>
      <p:pic>
        <p:nvPicPr>
          <p:cNvPr id="10" name="Picture 6" descr="marrom-ekos.png"/>
          <p:cNvPicPr>
            <a:picLocks noChangeAspect="1"/>
          </p:cNvPicPr>
          <p:nvPr/>
        </p:nvPicPr>
        <p:blipFill>
          <a:blip r:embed="rId3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4219" y="4371394"/>
            <a:ext cx="498262" cy="498108"/>
          </a:xfrm>
          <a:prstGeom prst="rect">
            <a:avLst/>
          </a:prstGeom>
        </p:spPr>
      </p:pic>
      <p:sp>
        <p:nvSpPr>
          <p:cNvPr id="54" name="Rectangle 13"/>
          <p:cNvSpPr/>
          <p:nvPr/>
        </p:nvSpPr>
        <p:spPr>
          <a:xfrm>
            <a:off x="247572" y="1348049"/>
            <a:ext cx="8896428" cy="283399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61" tIns="45534" rIns="91061" bIns="45534" rtlCol="0" anchor="ctr"/>
          <a:lstStyle/>
          <a:p>
            <a:pPr algn="ctr" defTabSz="910662"/>
            <a:endParaRPr lang="en-US">
              <a:solidFill>
                <a:prstClr val="white"/>
              </a:solidFill>
            </a:endParaRPr>
          </a:p>
        </p:txBody>
      </p:sp>
      <p:sp>
        <p:nvSpPr>
          <p:cNvPr id="50" name="Rectangle 36"/>
          <p:cNvSpPr/>
          <p:nvPr/>
        </p:nvSpPr>
        <p:spPr>
          <a:xfrm>
            <a:off x="263426" y="1563659"/>
            <a:ext cx="4878788" cy="2221169"/>
          </a:xfrm>
          <a:prstGeom prst="rect">
            <a:avLst/>
          </a:prstGeom>
        </p:spPr>
        <p:txBody>
          <a:bodyPr wrap="square" lIns="91061" tIns="45534" rIns="91061" bIns="45534">
            <a:spAutoFit/>
          </a:bodyPr>
          <a:lstStyle/>
          <a:p>
            <a:pPr defTabSz="910662">
              <a:lnSpc>
                <a:spcPct val="90000"/>
              </a:lnSpc>
              <a:spcAft>
                <a:spcPts val="1200"/>
              </a:spcAft>
            </a:pPr>
            <a:r>
              <a:rPr lang="pt-BR" sz="1600" dirty="0">
                <a:solidFill>
                  <a:srgbClr val="910048"/>
                </a:solidFill>
                <a:latin typeface="Gill Sans Std ExtraBold" pitchFamily="34" charset="0"/>
                <a:cs typeface="Gill Sans Std Light"/>
              </a:rPr>
              <a:t>como este novo contexto afeta nossos negócios?</a:t>
            </a:r>
          </a:p>
          <a:p>
            <a:pPr marL="284583" indent="-284583" defTabSz="910662">
              <a:spcAft>
                <a:spcPts val="600"/>
              </a:spcAft>
              <a:buFont typeface="Arial" pitchFamily="34" charset="0"/>
              <a:buChar char="•"/>
            </a:pPr>
            <a:r>
              <a:rPr lang="pt-BR" dirty="0">
                <a:solidFill>
                  <a:srgbClr val="910048"/>
                </a:solidFill>
                <a:latin typeface="Gill Sans Std" pitchFamily="34" charset="0"/>
                <a:cs typeface="Gill Sans Std Light"/>
              </a:rPr>
              <a:t>um novo posicionamento estratégico</a:t>
            </a:r>
          </a:p>
          <a:p>
            <a:pPr marL="284583" indent="-284583" defTabSz="910662">
              <a:spcAft>
                <a:spcPts val="600"/>
              </a:spcAft>
              <a:buFont typeface="Arial" pitchFamily="34" charset="0"/>
              <a:buChar char="•"/>
            </a:pPr>
            <a:r>
              <a:rPr lang="pt-BR" dirty="0">
                <a:solidFill>
                  <a:srgbClr val="910048"/>
                </a:solidFill>
                <a:latin typeface="Gill Sans Std" pitchFamily="34" charset="0"/>
                <a:cs typeface="Gill Sans Std Light"/>
              </a:rPr>
              <a:t>modelo de operação e desenvolvimento focado em qualidade dos serviços e produtividade</a:t>
            </a:r>
          </a:p>
          <a:p>
            <a:pPr marL="284583" indent="-284583" defTabSz="910662">
              <a:spcAft>
                <a:spcPts val="600"/>
              </a:spcAft>
              <a:buFont typeface="Arial" pitchFamily="34" charset="0"/>
              <a:buChar char="•"/>
            </a:pPr>
            <a:r>
              <a:rPr lang="pt-BR" dirty="0">
                <a:solidFill>
                  <a:srgbClr val="910048"/>
                </a:solidFill>
                <a:latin typeface="Gill Sans Std" pitchFamily="34" charset="0"/>
                <a:cs typeface="Gill Sans Std Light"/>
              </a:rPr>
              <a:t>incremento da inovação digital, olhando novas oportunidades em cada iniciativa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5498485" y="1995709"/>
            <a:ext cx="3672408" cy="1569661"/>
          </a:xfrm>
          <a:prstGeom prst="rect">
            <a:avLst/>
          </a:prstGeom>
          <a:noFill/>
        </p:spPr>
        <p:txBody>
          <a:bodyPr wrap="square" lIns="91061" tIns="45534" rIns="91061" bIns="45534" rtlCol="0">
            <a:spAutoFit/>
          </a:bodyPr>
          <a:lstStyle/>
          <a:p>
            <a:pPr defTabSz="910662"/>
            <a:r>
              <a:rPr lang="pt-BR" sz="3200" i="1" dirty="0">
                <a:solidFill>
                  <a:srgbClr val="C0504D">
                    <a:lumMod val="75000"/>
                  </a:srgbClr>
                </a:solidFill>
                <a:latin typeface="Gill Sans Std UltraBold" pitchFamily="34" charset="0"/>
              </a:rPr>
              <a:t>todo negócio é um negócio digital...</a:t>
            </a:r>
          </a:p>
        </p:txBody>
      </p:sp>
    </p:spTree>
    <p:extLst>
      <p:ext uri="{BB962C8B-B14F-4D97-AF65-F5344CB8AC3E}">
        <p14:creationId xmlns:p14="http://schemas.microsoft.com/office/powerpoint/2010/main" val="426539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97516" y="101408"/>
            <a:ext cx="8829981" cy="4940691"/>
            <a:chOff x="351136" y="180306"/>
            <a:chExt cx="15697744" cy="8784976"/>
          </a:xfrm>
        </p:grpSpPr>
        <p:sp>
          <p:nvSpPr>
            <p:cNvPr id="18" name="Seta para a direita 17"/>
            <p:cNvSpPr/>
            <p:nvPr/>
          </p:nvSpPr>
          <p:spPr>
            <a:xfrm>
              <a:off x="1300301" y="2412564"/>
              <a:ext cx="14529540" cy="672171"/>
            </a:xfrm>
            <a:prstGeom prst="rightArrow">
              <a:avLst/>
            </a:prstGeom>
            <a:solidFill>
              <a:schemeClr val="bg2">
                <a:lumMod val="75000"/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813925" fontAlgn="base">
                <a:spcBef>
                  <a:spcPct val="0"/>
                </a:spcBef>
                <a:spcAft>
                  <a:spcPct val="0"/>
                </a:spcAft>
              </a:pPr>
              <a:endParaRPr lang="pt-BR" dirty="0">
                <a:solidFill>
                  <a:prstClr val="white"/>
                </a:solidFill>
              </a:endParaRPr>
            </a:p>
          </p:txBody>
        </p:sp>
        <p:sp>
          <p:nvSpPr>
            <p:cNvPr id="42" name="Folded Corner 51"/>
            <p:cNvSpPr/>
            <p:nvPr/>
          </p:nvSpPr>
          <p:spPr bwMode="auto">
            <a:xfrm>
              <a:off x="2141685" y="2124514"/>
              <a:ext cx="13138825" cy="195931"/>
            </a:xfrm>
            <a:prstGeom prst="foldedCorner">
              <a:avLst/>
            </a:prstGeom>
            <a:solidFill>
              <a:srgbClr val="FFC000">
                <a:alpha val="51000"/>
              </a:srgbClr>
            </a:solidFill>
            <a:ln>
              <a:noFill/>
            </a:ln>
            <a:effectLst/>
            <a:ex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defTabSz="503521" fontAlgn="base">
                <a:spcBef>
                  <a:spcPct val="50000"/>
                </a:spcBef>
                <a:spcAft>
                  <a:spcPct val="0"/>
                </a:spcAft>
                <a:buClr>
                  <a:srgbClr val="1F497D"/>
                </a:buClr>
                <a:buSzPct val="100000"/>
                <a:buFont typeface="Arial" charset="0"/>
                <a:buChar char="•"/>
              </a:pPr>
              <a:endParaRPr lang="en-US" sz="600" dirty="0">
                <a:solidFill>
                  <a:prstClr val="black"/>
                </a:solidFill>
                <a:latin typeface="Arial" charset="0"/>
                <a:ea typeface="MS PGothic" pitchFamily="34" charset="-128"/>
                <a:cs typeface="Arial" charset="0"/>
              </a:endParaRPr>
            </a:p>
          </p:txBody>
        </p:sp>
        <p:sp>
          <p:nvSpPr>
            <p:cNvPr id="36" name="Seta para a direita 35"/>
            <p:cNvSpPr/>
            <p:nvPr/>
          </p:nvSpPr>
          <p:spPr>
            <a:xfrm>
              <a:off x="1300301" y="5268784"/>
              <a:ext cx="14529540" cy="672171"/>
            </a:xfrm>
            <a:prstGeom prst="rightArrow">
              <a:avLst/>
            </a:prstGeom>
            <a:solidFill>
              <a:schemeClr val="bg2">
                <a:lumMod val="75000"/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813925" fontAlgn="base">
                <a:spcBef>
                  <a:spcPct val="0"/>
                </a:spcBef>
                <a:spcAft>
                  <a:spcPct val="0"/>
                </a:spcAft>
              </a:pPr>
              <a:endParaRPr lang="pt-BR" dirty="0">
                <a:solidFill>
                  <a:prstClr val="white"/>
                </a:solidFill>
              </a:endParaRPr>
            </a:p>
          </p:txBody>
        </p:sp>
        <p:sp>
          <p:nvSpPr>
            <p:cNvPr id="24" name="Retângulo 23"/>
            <p:cNvSpPr/>
            <p:nvPr/>
          </p:nvSpPr>
          <p:spPr>
            <a:xfrm>
              <a:off x="2141684" y="252316"/>
              <a:ext cx="13177067" cy="137512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813925" fontAlgn="base">
                <a:spcBef>
                  <a:spcPct val="0"/>
                </a:spcBef>
                <a:spcAft>
                  <a:spcPct val="0"/>
                </a:spcAft>
              </a:pPr>
              <a:endParaRPr lang="pt-BR" dirty="0">
                <a:solidFill>
                  <a:prstClr val="white"/>
                </a:solidFill>
              </a:endParaRPr>
            </a:p>
          </p:txBody>
        </p:sp>
        <p:sp>
          <p:nvSpPr>
            <p:cNvPr id="7" name="Retângulo 6"/>
            <p:cNvSpPr/>
            <p:nvPr/>
          </p:nvSpPr>
          <p:spPr>
            <a:xfrm>
              <a:off x="789213" y="180306"/>
              <a:ext cx="14894603" cy="87849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813925" fontAlgn="base">
                <a:spcBef>
                  <a:spcPct val="0"/>
                </a:spcBef>
                <a:spcAft>
                  <a:spcPct val="0"/>
                </a:spcAft>
              </a:pPr>
              <a:endParaRPr lang="pt-BR" dirty="0">
                <a:solidFill>
                  <a:prstClr val="white"/>
                </a:solidFill>
              </a:endParaRPr>
            </a:p>
          </p:txBody>
        </p:sp>
        <p:sp>
          <p:nvSpPr>
            <p:cNvPr id="20" name="Triângulo isósceles 19"/>
            <p:cNvSpPr/>
            <p:nvPr/>
          </p:nvSpPr>
          <p:spPr>
            <a:xfrm rot="10800000">
              <a:off x="6138265" y="1332432"/>
              <a:ext cx="5183907" cy="648073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813925" fontAlgn="base">
                <a:spcBef>
                  <a:spcPct val="0"/>
                </a:spcBef>
                <a:spcAft>
                  <a:spcPct val="0"/>
                </a:spcAft>
              </a:pPr>
              <a:endParaRPr lang="pt-BR" dirty="0">
                <a:solidFill>
                  <a:prstClr val="white"/>
                </a:solidFill>
              </a:endParaRPr>
            </a:p>
          </p:txBody>
        </p:sp>
        <p:sp>
          <p:nvSpPr>
            <p:cNvPr id="26" name="Retângulo 25"/>
            <p:cNvSpPr/>
            <p:nvPr/>
          </p:nvSpPr>
          <p:spPr>
            <a:xfrm>
              <a:off x="351136" y="180306"/>
              <a:ext cx="15697744" cy="878497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813925" fontAlgn="base">
                <a:spcBef>
                  <a:spcPct val="0"/>
                </a:spcBef>
                <a:spcAft>
                  <a:spcPct val="0"/>
                </a:spcAft>
              </a:pPr>
              <a:endParaRPr lang="pt-BR" dirty="0">
                <a:solidFill>
                  <a:prstClr val="white"/>
                </a:solidFill>
              </a:endParaRPr>
            </a:p>
          </p:txBody>
        </p:sp>
        <p:sp>
          <p:nvSpPr>
            <p:cNvPr id="13" name="Retângulo 12"/>
            <p:cNvSpPr/>
            <p:nvPr/>
          </p:nvSpPr>
          <p:spPr>
            <a:xfrm>
              <a:off x="497162" y="2052514"/>
              <a:ext cx="1168204" cy="5832647"/>
            </a:xfrm>
            <a:prstGeom prst="rect">
              <a:avLst/>
            </a:prstGeom>
            <a:solidFill>
              <a:schemeClr val="bg2">
                <a:lumMod val="75000"/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82" tIns="45689" rIns="91382" bIns="45689" rtlCol="0" anchor="ctr"/>
            <a:lstStyle/>
            <a:p>
              <a:pPr algn="ctr" defTabSz="813925" fontAlgn="base">
                <a:spcBef>
                  <a:spcPct val="0"/>
                </a:spcBef>
                <a:spcAft>
                  <a:spcPct val="0"/>
                </a:spcAft>
              </a:pPr>
              <a:endParaRPr lang="pt-BR" dirty="0">
                <a:solidFill>
                  <a:prstClr val="white"/>
                </a:solidFill>
              </a:endParaRPr>
            </a:p>
          </p:txBody>
        </p:sp>
        <p:pic>
          <p:nvPicPr>
            <p:cNvPr id="37" name="Picture 4" descr="http://4.bp.blogspot.com/-OFTxOZcxujU/T-toBmzETPI/AAAAAAAABnI/GMYClse5lUE/s1600/arrow1.png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426443">
              <a:off x="4305487" y="3926355"/>
              <a:ext cx="503834" cy="948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4" descr="http://4.bp.blogspot.com/-OFTxOZcxujU/T-toBmzETPI/AAAAAAAABnI/GMYClse5lUE/s1600/arrow1.png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9166292">
              <a:off x="12580040" y="3883630"/>
              <a:ext cx="503834" cy="941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riângulo isósceles 31"/>
            <p:cNvSpPr/>
            <p:nvPr/>
          </p:nvSpPr>
          <p:spPr>
            <a:xfrm>
              <a:off x="6174770" y="7805308"/>
              <a:ext cx="5183907" cy="648073"/>
            </a:xfrm>
            <a:prstGeom prst="triangle">
              <a:avLst/>
            </a:prstGeom>
            <a:solidFill>
              <a:schemeClr val="bg2">
                <a:lumMod val="75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82" tIns="45689" rIns="91382" bIns="45689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513884" fontAlgn="base">
                <a:spcBef>
                  <a:spcPct val="0"/>
                </a:spcBef>
                <a:spcAft>
                  <a:spcPct val="0"/>
                </a:spcAft>
              </a:pPr>
              <a:endParaRPr lang="pt-BR" sz="1300" dirty="0">
                <a:solidFill>
                  <a:prstClr val="black"/>
                </a:solidFill>
                <a:latin typeface="Gill Sans Std ExtraBold" pitchFamily="34" charset="0"/>
                <a:ea typeface="MS PGothic" pitchFamily="34" charset="-128"/>
              </a:endParaRPr>
            </a:p>
          </p:txBody>
        </p:sp>
        <p:sp>
          <p:nvSpPr>
            <p:cNvPr id="33" name="Retângulo de cantos arredondados 32"/>
            <p:cNvSpPr/>
            <p:nvPr/>
          </p:nvSpPr>
          <p:spPr bwMode="auto">
            <a:xfrm>
              <a:off x="2141684" y="8013490"/>
              <a:ext cx="13250080" cy="879785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382" tIns="45689" rIns="91382" bIns="45689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513884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1300" dirty="0">
                  <a:solidFill>
                    <a:prstClr val="black"/>
                  </a:solidFill>
                  <a:latin typeface="Gill Sans Std ExtraBold" pitchFamily="34" charset="0"/>
                  <a:ea typeface="MS PGothic" pitchFamily="34" charset="-128"/>
                  <a:sym typeface="GillSans" charset="0"/>
                </a:rPr>
                <a:t>PRIORIDADES ESTRATÉGICAS</a:t>
              </a:r>
            </a:p>
          </p:txBody>
        </p:sp>
        <p:sp>
          <p:nvSpPr>
            <p:cNvPr id="34" name="CaixaDeTexto 33"/>
            <p:cNvSpPr txBox="1"/>
            <p:nvPr/>
          </p:nvSpPr>
          <p:spPr>
            <a:xfrm>
              <a:off x="2103444" y="396329"/>
              <a:ext cx="13177067" cy="492416"/>
            </a:xfrm>
            <a:prstGeom prst="rect">
              <a:avLst/>
            </a:prstGeom>
            <a:noFill/>
          </p:spPr>
          <p:txBody>
            <a:bodyPr wrap="square" lIns="91382" tIns="45689" rIns="91382" bIns="45689" rtlCol="0">
              <a:spAutoFit/>
            </a:bodyPr>
            <a:lstStyle/>
            <a:p>
              <a:pPr algn="just" defTabSz="813925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1200" dirty="0">
                  <a:solidFill>
                    <a:srgbClr val="000000"/>
                  </a:solidFill>
                  <a:latin typeface="Gill Sans Std ExtraBold" pitchFamily="34" charset="0"/>
                  <a:ea typeface="MS PGothic" pitchFamily="34" charset="-128"/>
                </a:rPr>
                <a:t>//VISÃO</a:t>
              </a:r>
              <a:r>
                <a:rPr lang="pt-BR" sz="1000" dirty="0">
                  <a:solidFill>
                    <a:srgbClr val="000000"/>
                  </a:solidFill>
                  <a:latin typeface="Gill Sans Std Light" pitchFamily="34" charset="0"/>
                  <a:ea typeface="MS PGothic" pitchFamily="34" charset="-128"/>
                </a:rPr>
                <a:t>:</a:t>
              </a:r>
            </a:p>
          </p:txBody>
        </p:sp>
        <p:sp>
          <p:nvSpPr>
            <p:cNvPr id="53" name="CaixaDeTexto 52"/>
            <p:cNvSpPr txBox="1"/>
            <p:nvPr/>
          </p:nvSpPr>
          <p:spPr>
            <a:xfrm rot="16200000">
              <a:off x="-1342476" y="4435413"/>
              <a:ext cx="4847482" cy="1066848"/>
            </a:xfrm>
            <a:prstGeom prst="rect">
              <a:avLst/>
            </a:prstGeom>
            <a:noFill/>
          </p:spPr>
          <p:txBody>
            <a:bodyPr wrap="square" lIns="91382" tIns="45689" rIns="91382" bIns="45689" rtlCol="0">
              <a:spAutoFit/>
            </a:bodyPr>
            <a:lstStyle/>
            <a:p>
              <a:pPr algn="ctr" defTabSz="813925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1200" dirty="0">
                  <a:solidFill>
                    <a:prstClr val="black"/>
                  </a:solidFill>
                  <a:latin typeface="Gill Sans Std ExtraBold" pitchFamily="34" charset="0"/>
                  <a:ea typeface="MS PGothic" pitchFamily="34" charset="-128"/>
                </a:rPr>
                <a:t>DIRETRIZES ESTRATÉGICAS</a:t>
              </a:r>
            </a:p>
            <a:p>
              <a:pPr algn="ctr" defTabSz="813925" fontAlgn="base">
                <a:spcBef>
                  <a:spcPct val="0"/>
                </a:spcBef>
                <a:spcAft>
                  <a:spcPct val="0"/>
                </a:spcAft>
              </a:pPr>
              <a:endParaRPr lang="pt-BR" sz="1200" dirty="0">
                <a:solidFill>
                  <a:prstClr val="black"/>
                </a:solidFill>
                <a:latin typeface="Gill Sans Std ExtraBold" pitchFamily="34" charset="0"/>
                <a:ea typeface="MS PGothic" pitchFamily="34" charset="-128"/>
              </a:endParaRPr>
            </a:p>
            <a:p>
              <a:pPr algn="ctr" defTabSz="813925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900" dirty="0">
                  <a:solidFill>
                    <a:prstClr val="black"/>
                  </a:solidFill>
                  <a:latin typeface="Gill Sans MT" pitchFamily="34" charset="0"/>
                  <a:ea typeface="MS PGothic" pitchFamily="34" charset="-128"/>
                </a:rPr>
                <a:t>MARCA, SUSTENTABILIDADE E RELAÇÕES</a:t>
              </a:r>
            </a:p>
          </p:txBody>
        </p:sp>
        <p:sp>
          <p:nvSpPr>
            <p:cNvPr id="43" name="Retângulo 42"/>
            <p:cNvSpPr/>
            <p:nvPr/>
          </p:nvSpPr>
          <p:spPr>
            <a:xfrm>
              <a:off x="3398692" y="337677"/>
              <a:ext cx="11881819" cy="12586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813532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1000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Gill Sans Std Light" pitchFamily="34" charset="0"/>
                  <a:ea typeface="MS PGothic" pitchFamily="34" charset="-128"/>
                </a:rPr>
                <a:t>POR NOSSO COMPORTAMENTO EMPRESARIAL PELA QUALIDADE DAS RELAÇÕES QUE ESTABLECEMOS E POR NOSSOS PRODUTOS E SERVIÇOS, SEREMOS UM CONJUNTO DE MARCAS COM FORTE EXPRESSÃO, LOCAL E MUNDIAL, IDENTIFICADAS COM A COMUNIDADE DE PESSOAS QUE SE COMPROMETEM COM A CONSTRUÇÃO DE UM MUNDO MELHOR, ATRAVÉS DA MELHOR RELAÇÃO CONSIGO MESMAS, COM O OUTRO, COM A NATUREZA DA QUAL FAZEM PARTE, COM O TODO.</a:t>
              </a: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2367360" y="2141070"/>
              <a:ext cx="2471340" cy="985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14477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1000" dirty="0">
                  <a:solidFill>
                    <a:prstClr val="black"/>
                  </a:solidFill>
                  <a:latin typeface="Gill Sans Std ExtraBold" pitchFamily="34" charset="0"/>
                  <a:ea typeface="MS PGothic" pitchFamily="34" charset="-128"/>
                </a:rPr>
                <a:t>FORTALECER O NEGÓCIO ATUAL BRASIL (CFT-VD)</a:t>
              </a:r>
            </a:p>
          </p:txBody>
        </p:sp>
        <p:sp>
          <p:nvSpPr>
            <p:cNvPr id="46" name="CaixaDeTexto 45"/>
            <p:cNvSpPr txBox="1"/>
            <p:nvPr/>
          </p:nvSpPr>
          <p:spPr>
            <a:xfrm>
              <a:off x="4771575" y="2205104"/>
              <a:ext cx="2471340" cy="985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14477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1000" dirty="0">
                  <a:solidFill>
                    <a:prstClr val="black"/>
                  </a:solidFill>
                  <a:latin typeface="Gill Sans Std ExtraBold" pitchFamily="34" charset="0"/>
                  <a:ea typeface="MS PGothic" pitchFamily="34" charset="-128"/>
                </a:rPr>
                <a:t>ALCANÇAR LIDERANÇA NA VD LATAM</a:t>
              </a:r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12329028" y="2124524"/>
              <a:ext cx="2783748" cy="985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14477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1000" dirty="0">
                  <a:solidFill>
                    <a:prstClr val="black"/>
                  </a:solidFill>
                  <a:latin typeface="Gill Sans Std ExtraBold" pitchFamily="34" charset="0"/>
                  <a:ea typeface="MS PGothic" pitchFamily="34" charset="-128"/>
                </a:rPr>
                <a:t>EXPANDIR EM OUTRAS GEOGRAFIAS</a:t>
              </a:r>
            </a:p>
          </p:txBody>
        </p:sp>
        <p:sp>
          <p:nvSpPr>
            <p:cNvPr id="49" name="CaixaDeTexto 48"/>
            <p:cNvSpPr txBox="1"/>
            <p:nvPr/>
          </p:nvSpPr>
          <p:spPr>
            <a:xfrm>
              <a:off x="7119888" y="2122071"/>
              <a:ext cx="3096345" cy="12586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1388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sz="1000" dirty="0">
                  <a:solidFill>
                    <a:prstClr val="black"/>
                  </a:solidFill>
                  <a:latin typeface="Gill Sans Std ExtraBold" pitchFamily="34" charset="0"/>
                  <a:ea typeface="MS PGothic" pitchFamily="34" charset="-128"/>
                </a:rPr>
                <a:t>AMPLIAÇÃO DE CANAIS E MELHORIA NA EXPERIÊNCIA DE COMPRAS</a:t>
              </a: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10193164" y="2156493"/>
              <a:ext cx="2471340" cy="1805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1388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sz="1000" dirty="0">
                  <a:solidFill>
                    <a:prstClr val="black"/>
                  </a:solidFill>
                  <a:latin typeface="Gill Sans Std ExtraBold" pitchFamily="34" charset="0"/>
                  <a:ea typeface="MS PGothic" pitchFamily="34" charset="-128"/>
                </a:rPr>
                <a:t>NOVOS NEGÓCIOS (NOVAS MARCAS E CATEGORIAS ÑCFT)</a:t>
              </a:r>
            </a:p>
          </p:txBody>
        </p:sp>
        <p:grpSp>
          <p:nvGrpSpPr>
            <p:cNvPr id="51" name="Grupo 50"/>
            <p:cNvGrpSpPr/>
            <p:nvPr/>
          </p:nvGrpSpPr>
          <p:grpSpPr>
            <a:xfrm>
              <a:off x="5319688" y="3888778"/>
              <a:ext cx="7081881" cy="3276304"/>
              <a:chOff x="5131614" y="3816770"/>
              <a:chExt cx="7081881" cy="3276304"/>
            </a:xfrm>
          </p:grpSpPr>
          <p:sp>
            <p:nvSpPr>
              <p:cNvPr id="52" name="Retângulo de cantos arredondados 51"/>
              <p:cNvSpPr/>
              <p:nvPr/>
            </p:nvSpPr>
            <p:spPr>
              <a:xfrm>
                <a:off x="5131614" y="3996730"/>
                <a:ext cx="2105565" cy="140409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813925" fontAlgn="base">
                  <a:spcBef>
                    <a:spcPct val="0"/>
                  </a:spcBef>
                  <a:spcAft>
                    <a:spcPct val="0"/>
                  </a:spcAft>
                </a:pPr>
                <a:endParaRPr lang="pt-BR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54" name="Retângulo de cantos arredondados 53"/>
              <p:cNvSpPr/>
              <p:nvPr/>
            </p:nvSpPr>
            <p:spPr>
              <a:xfrm>
                <a:off x="6687840" y="4320769"/>
                <a:ext cx="2105565" cy="1404096"/>
              </a:xfrm>
              <a:prstGeom prst="roundRect">
                <a:avLst/>
              </a:prstGeom>
              <a:solidFill>
                <a:schemeClr val="accent6">
                  <a:lumMod val="75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813925" fontAlgn="base">
                  <a:spcBef>
                    <a:spcPct val="0"/>
                  </a:spcBef>
                  <a:spcAft>
                    <a:spcPct val="0"/>
                  </a:spcAft>
                </a:pPr>
                <a:endParaRPr lang="pt-BR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55" name="Retângulo de cantos arredondados 54"/>
              <p:cNvSpPr/>
              <p:nvPr/>
            </p:nvSpPr>
            <p:spPr>
              <a:xfrm>
                <a:off x="5535710" y="5220866"/>
                <a:ext cx="2405389" cy="1404096"/>
              </a:xfrm>
              <a:prstGeom prst="roundRect">
                <a:avLst/>
              </a:prstGeom>
              <a:solidFill>
                <a:schemeClr val="bg2">
                  <a:lumMod val="75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813925" fontAlgn="base">
                  <a:spcBef>
                    <a:spcPct val="0"/>
                  </a:spcBef>
                  <a:spcAft>
                    <a:spcPct val="0"/>
                  </a:spcAft>
                </a:pPr>
                <a:endParaRPr lang="pt-BR" b="1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56" name="Retângulo de cantos arredondados 55"/>
              <p:cNvSpPr/>
              <p:nvPr/>
            </p:nvSpPr>
            <p:spPr>
              <a:xfrm>
                <a:off x="8299966" y="5220866"/>
                <a:ext cx="2105565" cy="1404096"/>
              </a:xfrm>
              <a:prstGeom prst="roundRect">
                <a:avLst/>
              </a:prstGeom>
              <a:solidFill>
                <a:schemeClr val="accent3">
                  <a:lumMod val="75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813925" fontAlgn="base">
                  <a:spcBef>
                    <a:spcPct val="0"/>
                  </a:spcBef>
                  <a:spcAft>
                    <a:spcPct val="0"/>
                  </a:spcAft>
                </a:pPr>
                <a:endParaRPr lang="pt-BR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Retângulo de cantos arredondados 56"/>
              <p:cNvSpPr/>
              <p:nvPr/>
            </p:nvSpPr>
            <p:spPr>
              <a:xfrm>
                <a:off x="8416032" y="3816770"/>
                <a:ext cx="2105565" cy="1404096"/>
              </a:xfrm>
              <a:prstGeom prst="roundRect">
                <a:avLst/>
              </a:prstGeom>
              <a:solidFill>
                <a:schemeClr val="accent2">
                  <a:lumMod val="75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813925" fontAlgn="base">
                  <a:spcBef>
                    <a:spcPct val="0"/>
                  </a:spcBef>
                  <a:spcAft>
                    <a:spcPct val="0"/>
                  </a:spcAft>
                </a:pPr>
                <a:endParaRPr lang="pt-BR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58" name="Retângulo de cantos arredondados 57"/>
              <p:cNvSpPr/>
              <p:nvPr/>
            </p:nvSpPr>
            <p:spPr>
              <a:xfrm>
                <a:off x="9496152" y="4788818"/>
                <a:ext cx="2105565" cy="1404096"/>
              </a:xfrm>
              <a:prstGeom prst="roundRect">
                <a:avLst/>
              </a:prstGeom>
              <a:solidFill>
                <a:schemeClr val="bg2">
                  <a:lumMod val="25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813925" fontAlgn="base">
                  <a:spcBef>
                    <a:spcPct val="0"/>
                  </a:spcBef>
                  <a:spcAft>
                    <a:spcPct val="0"/>
                  </a:spcAft>
                </a:pPr>
                <a:endParaRPr lang="pt-BR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59" name="CaixaDeTexto 58"/>
              <p:cNvSpPr txBox="1"/>
              <p:nvPr/>
            </p:nvSpPr>
            <p:spPr>
              <a:xfrm>
                <a:off x="5247689" y="4140746"/>
                <a:ext cx="1868030" cy="1149120"/>
              </a:xfrm>
              <a:prstGeom prst="rect">
                <a:avLst/>
              </a:prstGeom>
              <a:noFill/>
            </p:spPr>
            <p:txBody>
              <a:bodyPr wrap="square" lIns="91382" tIns="45689" rIns="91382" bIns="45689" rtlCol="0">
                <a:spAutoFit/>
              </a:bodyPr>
              <a:lstStyle/>
              <a:p>
                <a:pPr defTabSz="81392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pt-BR" sz="900" b="1" dirty="0">
                    <a:solidFill>
                      <a:prstClr val="black"/>
                    </a:solidFill>
                    <a:latin typeface="Gill Sans Std"/>
                    <a:ea typeface="MS PGothic" pitchFamily="34" charset="-128"/>
                    <a:cs typeface="Gill Sans Std"/>
                  </a:rPr>
                  <a:t>Modelos comerciais e relacionamento</a:t>
                </a:r>
              </a:p>
              <a:p>
                <a:pPr defTabSz="813925" fontAlgn="base">
                  <a:spcBef>
                    <a:spcPct val="0"/>
                  </a:spcBef>
                  <a:spcAft>
                    <a:spcPct val="0"/>
                  </a:spcAft>
                </a:pPr>
                <a:endParaRPr lang="pt-BR" sz="900" b="1" dirty="0">
                  <a:solidFill>
                    <a:prstClr val="black"/>
                  </a:solidFill>
                  <a:latin typeface="Arial" charset="0"/>
                  <a:ea typeface="MS PGothic" pitchFamily="34" charset="-128"/>
                </a:endParaRPr>
              </a:p>
            </p:txBody>
          </p:sp>
          <p:sp>
            <p:nvSpPr>
              <p:cNvPr id="60" name="Retângulo 59"/>
              <p:cNvSpPr/>
              <p:nvPr/>
            </p:nvSpPr>
            <p:spPr>
              <a:xfrm>
                <a:off x="7140876" y="4605956"/>
                <a:ext cx="1727495" cy="902857"/>
              </a:xfrm>
              <a:prstGeom prst="rect">
                <a:avLst/>
              </a:prstGeom>
            </p:spPr>
            <p:txBody>
              <a:bodyPr wrap="square" lIns="91382" tIns="45689" rIns="91382" bIns="45689">
                <a:spAutoFit/>
              </a:bodyPr>
              <a:lstStyle/>
              <a:p>
                <a:pPr defTabSz="888617" fontAlgn="base">
                  <a:spcBef>
                    <a:spcPct val="0"/>
                  </a:spcBef>
                  <a:spcAft>
                    <a:spcPts val="500"/>
                  </a:spcAft>
                </a:pPr>
                <a:r>
                  <a:rPr lang="pt-BR" sz="900" b="1" dirty="0">
                    <a:solidFill>
                      <a:prstClr val="black"/>
                    </a:solidFill>
                    <a:latin typeface="Gill Sans Std"/>
                    <a:ea typeface="MS PGothic" pitchFamily="34" charset="-128"/>
                    <a:cs typeface="Gill Sans Std"/>
                  </a:rPr>
                  <a:t>Submarcas, Produtos e Serviços</a:t>
                </a:r>
              </a:p>
            </p:txBody>
          </p:sp>
          <p:sp>
            <p:nvSpPr>
              <p:cNvPr id="61" name="Retângulo 60"/>
              <p:cNvSpPr/>
              <p:nvPr/>
            </p:nvSpPr>
            <p:spPr>
              <a:xfrm>
                <a:off x="8886859" y="4140746"/>
                <a:ext cx="1518672" cy="902857"/>
              </a:xfrm>
              <a:prstGeom prst="rect">
                <a:avLst/>
              </a:prstGeom>
            </p:spPr>
            <p:txBody>
              <a:bodyPr wrap="square" lIns="91382" tIns="45689" rIns="91382" bIns="45689">
                <a:spAutoFit/>
              </a:bodyPr>
              <a:lstStyle/>
              <a:p>
                <a:pPr algn="just" defTabSz="888617" fontAlgn="base">
                  <a:spcBef>
                    <a:spcPct val="0"/>
                  </a:spcBef>
                  <a:spcAft>
                    <a:spcPts val="500"/>
                  </a:spcAft>
                </a:pPr>
                <a:r>
                  <a:rPr lang="pt-BR" sz="900" b="1" dirty="0">
                    <a:solidFill>
                      <a:prstClr val="black"/>
                    </a:solidFill>
                    <a:latin typeface="Gill Sans Std"/>
                    <a:ea typeface="MS PGothic" pitchFamily="34" charset="-128"/>
                    <a:cs typeface="Gill Sans Std"/>
                  </a:rPr>
                  <a:t>Eficiência e Produtividade</a:t>
                </a:r>
              </a:p>
            </p:txBody>
          </p:sp>
          <p:sp>
            <p:nvSpPr>
              <p:cNvPr id="62" name="Retângulo 61"/>
              <p:cNvSpPr/>
              <p:nvPr/>
            </p:nvSpPr>
            <p:spPr>
              <a:xfrm>
                <a:off x="10054830" y="5220866"/>
                <a:ext cx="2158665" cy="410329"/>
              </a:xfrm>
              <a:prstGeom prst="rect">
                <a:avLst/>
              </a:prstGeom>
            </p:spPr>
            <p:txBody>
              <a:bodyPr wrap="square" lIns="91382" tIns="45689" rIns="91382" bIns="45689">
                <a:spAutoFit/>
              </a:bodyPr>
              <a:lstStyle/>
              <a:p>
                <a:pPr algn="just" defTabSz="888617" fontAlgn="base">
                  <a:spcBef>
                    <a:spcPct val="0"/>
                  </a:spcBef>
                  <a:spcAft>
                    <a:spcPts val="500"/>
                  </a:spcAft>
                </a:pPr>
                <a:r>
                  <a:rPr lang="pt-BR" sz="900" b="1" dirty="0">
                    <a:solidFill>
                      <a:prstClr val="black"/>
                    </a:solidFill>
                    <a:latin typeface="Gill Sans Std"/>
                    <a:ea typeface="MS PGothic" pitchFamily="34" charset="-128"/>
                    <a:cs typeface="Gill Sans Std"/>
                  </a:rPr>
                  <a:t>Inovação</a:t>
                </a:r>
              </a:p>
            </p:txBody>
          </p:sp>
          <p:sp>
            <p:nvSpPr>
              <p:cNvPr id="63" name="Retângulo 62"/>
              <p:cNvSpPr/>
              <p:nvPr/>
            </p:nvSpPr>
            <p:spPr>
              <a:xfrm>
                <a:off x="5733079" y="5400885"/>
                <a:ext cx="1803316" cy="902857"/>
              </a:xfrm>
              <a:prstGeom prst="rect">
                <a:avLst/>
              </a:prstGeom>
            </p:spPr>
            <p:txBody>
              <a:bodyPr wrap="square" lIns="91382" tIns="45689" rIns="91382" bIns="45689">
                <a:spAutoFit/>
              </a:bodyPr>
              <a:lstStyle/>
              <a:p>
                <a:pPr defTabSz="888617" fontAlgn="base">
                  <a:spcBef>
                    <a:spcPct val="0"/>
                  </a:spcBef>
                  <a:spcAft>
                    <a:spcPts val="500"/>
                  </a:spcAft>
                </a:pPr>
                <a:r>
                  <a:rPr lang="pt-BR" sz="900" b="1" dirty="0">
                    <a:solidFill>
                      <a:prstClr val="black"/>
                    </a:solidFill>
                    <a:latin typeface="Gill Sans Std"/>
                    <a:ea typeface="MS PGothic" pitchFamily="34" charset="-128"/>
                    <a:cs typeface="Gill Sans Std"/>
                  </a:rPr>
                  <a:t>Pessoas e Cultura Organizacional</a:t>
                </a:r>
              </a:p>
            </p:txBody>
          </p:sp>
          <p:sp>
            <p:nvSpPr>
              <p:cNvPr id="64" name="Retângulo 63"/>
              <p:cNvSpPr/>
              <p:nvPr/>
            </p:nvSpPr>
            <p:spPr>
              <a:xfrm>
                <a:off x="8776073" y="5580906"/>
                <a:ext cx="1861486" cy="656592"/>
              </a:xfrm>
              <a:prstGeom prst="rect">
                <a:avLst/>
              </a:prstGeom>
            </p:spPr>
            <p:txBody>
              <a:bodyPr wrap="square" lIns="91382" tIns="45689" rIns="91382" bIns="45689">
                <a:spAutoFit/>
              </a:bodyPr>
              <a:lstStyle/>
              <a:p>
                <a:pPr algn="just" defTabSz="888617" fontAlgn="base">
                  <a:spcBef>
                    <a:spcPct val="0"/>
                  </a:spcBef>
                  <a:spcAft>
                    <a:spcPts val="500"/>
                  </a:spcAft>
                </a:pPr>
                <a:r>
                  <a:rPr lang="pt-BR" sz="900" b="1" dirty="0">
                    <a:solidFill>
                      <a:prstClr val="black"/>
                    </a:solidFill>
                    <a:latin typeface="Gill Sans Std"/>
                    <a:ea typeface="MS PGothic" pitchFamily="34" charset="-128"/>
                    <a:cs typeface="Gill Sans Std"/>
                  </a:rPr>
                  <a:t>Infraestrutura Física</a:t>
                </a:r>
              </a:p>
            </p:txBody>
          </p:sp>
          <p:sp>
            <p:nvSpPr>
              <p:cNvPr id="65" name="Retângulo de cantos arredondados 64"/>
              <p:cNvSpPr/>
              <p:nvPr/>
            </p:nvSpPr>
            <p:spPr>
              <a:xfrm>
                <a:off x="7030547" y="5688978"/>
                <a:ext cx="2105565" cy="1404096"/>
              </a:xfrm>
              <a:prstGeom prst="roundRect">
                <a:avLst/>
              </a:prstGeom>
              <a:solidFill>
                <a:srgbClr val="FFC000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382" tIns="45689" rIns="91382" bIns="45689" rtlCol="0" anchor="ctr"/>
              <a:lstStyle/>
              <a:p>
                <a:pPr algn="ctr" defTabSz="813925" fontAlgn="base">
                  <a:spcBef>
                    <a:spcPct val="0"/>
                  </a:spcBef>
                  <a:spcAft>
                    <a:spcPct val="0"/>
                  </a:spcAft>
                </a:pPr>
                <a:endParaRPr lang="pt-BR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66" name="Retângulo 65"/>
              <p:cNvSpPr/>
              <p:nvPr/>
            </p:nvSpPr>
            <p:spPr>
              <a:xfrm>
                <a:off x="7534601" y="6076313"/>
                <a:ext cx="1829557" cy="656592"/>
              </a:xfrm>
              <a:prstGeom prst="rect">
                <a:avLst/>
              </a:prstGeom>
            </p:spPr>
            <p:txBody>
              <a:bodyPr wrap="square" lIns="91382" tIns="45689" rIns="91382" bIns="45689">
                <a:spAutoFit/>
              </a:bodyPr>
              <a:lstStyle/>
              <a:p>
                <a:pPr algn="just" defTabSz="888617" fontAlgn="base">
                  <a:spcBef>
                    <a:spcPct val="0"/>
                  </a:spcBef>
                  <a:spcAft>
                    <a:spcPts val="500"/>
                  </a:spcAft>
                </a:pPr>
                <a:r>
                  <a:rPr lang="pt-BR" sz="900" b="1" dirty="0">
                    <a:solidFill>
                      <a:prstClr val="black"/>
                    </a:solidFill>
                    <a:latin typeface="Gill Sans Std"/>
                    <a:ea typeface="MS PGothic" pitchFamily="34" charset="-128"/>
                    <a:cs typeface="Gill Sans Std"/>
                  </a:rPr>
                  <a:t>Infraestrutura  Digital</a:t>
                </a:r>
              </a:p>
            </p:txBody>
          </p:sp>
        </p:grpSp>
      </p:grpSp>
      <p:sp>
        <p:nvSpPr>
          <p:cNvPr id="40" name="Espaço Reservado para Número de Slide 1"/>
          <p:cNvSpPr txBox="1">
            <a:spLocks/>
          </p:cNvSpPr>
          <p:nvPr/>
        </p:nvSpPr>
        <p:spPr>
          <a:xfrm>
            <a:off x="8657941" y="4878199"/>
            <a:ext cx="486061" cy="246752"/>
          </a:xfrm>
          <a:prstGeom prst="rect">
            <a:avLst/>
          </a:prstGeom>
        </p:spPr>
        <p:txBody>
          <a:bodyPr lIns="51127" tIns="25571" rIns="51127" bIns="25571"/>
          <a:lstStyle>
            <a:defPPr>
              <a:defRPr lang="en-US"/>
            </a:defPPr>
            <a:lvl1pPr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721638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2pPr>
            <a:lvl3pPr marL="1443224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3pPr>
            <a:lvl4pPr marL="2164839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4pPr>
            <a:lvl5pPr marL="2886431" algn="l" defTabSz="721638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5pPr>
            <a:lvl6pPr marL="3608070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6pPr>
            <a:lvl7pPr marL="4329687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7pPr>
            <a:lvl8pPr marL="5051305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8pPr>
            <a:lvl9pPr marL="5772902" algn="l" defTabSz="144322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9pPr>
          </a:lstStyle>
          <a:p>
            <a:pPr algn="r" defTabSz="511355" fontAlgn="auto">
              <a:spcBef>
                <a:spcPts val="0"/>
              </a:spcBef>
              <a:spcAft>
                <a:spcPts val="0"/>
              </a:spcAft>
              <a:defRPr/>
            </a:pPr>
            <a:fld id="{AC1111CC-0810-4A21-B97C-A089244C0542}" type="slidenum">
              <a:rPr lang="en-US" sz="1000" kern="0">
                <a:solidFill>
                  <a:prstClr val="black">
                    <a:tint val="75000"/>
                  </a:prstClr>
                </a:solidFill>
              </a:rPr>
              <a:pPr algn="r" defTabSz="511355" fontAlgn="auto">
                <a:spcBef>
                  <a:spcPts val="0"/>
                </a:spcBef>
                <a:spcAft>
                  <a:spcPts val="0"/>
                </a:spcAft>
                <a:defRPr/>
              </a:pPr>
              <a:t>15</a:t>
            </a:fld>
            <a:endParaRPr lang="en-US" sz="1000" kern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85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tângulo 53"/>
          <p:cNvSpPr/>
          <p:nvPr/>
        </p:nvSpPr>
        <p:spPr>
          <a:xfrm>
            <a:off x="-20256" y="4519"/>
            <a:ext cx="9192368" cy="1174022"/>
          </a:xfrm>
          <a:prstGeom prst="rect">
            <a:avLst/>
          </a:prstGeom>
          <a:solidFill>
            <a:srgbClr val="FFFFFF">
              <a:lumMod val="50000"/>
              <a:alpha val="71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51826" tIns="25913" rIns="51826" bIns="25913" rtlCol="0" anchor="ctr"/>
          <a:lstStyle/>
          <a:p>
            <a:pPr algn="ctr">
              <a:defRPr/>
            </a:pPr>
            <a:endParaRPr lang="pt-BR" b="1" kern="0" dirty="0">
              <a:ln w="18000">
                <a:solidFill>
                  <a:srgbClr val="3973AD">
                    <a:satMod val="140000"/>
                  </a:srgb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Gill Sans Std" pitchFamily="34" charset="0"/>
            </a:endParaRPr>
          </a:p>
        </p:txBody>
      </p:sp>
      <p:sp>
        <p:nvSpPr>
          <p:cNvPr id="143" name="CaixaDeTexto 142"/>
          <p:cNvSpPr txBox="1"/>
          <p:nvPr/>
        </p:nvSpPr>
        <p:spPr>
          <a:xfrm>
            <a:off x="5624660" y="2504016"/>
            <a:ext cx="1912257" cy="2460464"/>
          </a:xfrm>
          <a:prstGeom prst="rect">
            <a:avLst/>
          </a:prstGeom>
          <a:noFill/>
        </p:spPr>
        <p:txBody>
          <a:bodyPr wrap="square" lIns="91235" tIns="45617" rIns="91235" bIns="45617" rtlCol="0">
            <a:spAutoFit/>
          </a:bodyPr>
          <a:lstStyle/>
          <a:p>
            <a:pPr algn="ctr" defTabSz="912344">
              <a:lnSpc>
                <a:spcPct val="90000"/>
              </a:lnSpc>
              <a:tabLst>
                <a:tab pos="394400" algn="l"/>
                <a:tab pos="790382" algn="l"/>
                <a:tab pos="1186364" algn="l"/>
                <a:tab pos="1582349" algn="l"/>
                <a:tab pos="1978331" algn="l"/>
                <a:tab pos="2374314" algn="l"/>
                <a:tab pos="2770296" algn="l"/>
                <a:tab pos="3166279" algn="l"/>
                <a:tab pos="3562261" algn="l"/>
                <a:tab pos="3958245" algn="l"/>
                <a:tab pos="4354229" algn="l"/>
                <a:tab pos="4750211" algn="l"/>
                <a:tab pos="5090755" algn="l"/>
              </a:tabLst>
            </a:pPr>
            <a:r>
              <a:rPr lang="pt-BR" sz="1400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viabilizar 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formas de relacionamento individualizadas,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 num ambiente </a:t>
            </a:r>
            <a:r>
              <a:rPr lang="pt-BR" sz="1400" b="1" i="1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omnichannel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, </a:t>
            </a:r>
            <a:r>
              <a:rPr lang="pt-BR" sz="1400" dirty="0" err="1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multidispositivo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 (priorizando o 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mobile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) e segmentado, alinhado às ambições de relacionamento, gerando relevância e diferenciação</a:t>
            </a:r>
          </a:p>
        </p:txBody>
      </p:sp>
      <p:cxnSp>
        <p:nvCxnSpPr>
          <p:cNvPr id="150" name="Conector reto 149"/>
          <p:cNvCxnSpPr/>
          <p:nvPr/>
        </p:nvCxnSpPr>
        <p:spPr>
          <a:xfrm>
            <a:off x="7518947" y="2537223"/>
            <a:ext cx="0" cy="2211389"/>
          </a:xfrm>
          <a:prstGeom prst="line">
            <a:avLst/>
          </a:prstGeom>
          <a:ln w="9525" cap="rnd">
            <a:solidFill>
              <a:srgbClr val="5F5F5F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CaixaDeTexto 150"/>
          <p:cNvSpPr txBox="1"/>
          <p:nvPr/>
        </p:nvSpPr>
        <p:spPr>
          <a:xfrm>
            <a:off x="2093102" y="2504014"/>
            <a:ext cx="1706052" cy="1868380"/>
          </a:xfrm>
          <a:prstGeom prst="rect">
            <a:avLst/>
          </a:prstGeom>
          <a:noFill/>
        </p:spPr>
        <p:txBody>
          <a:bodyPr wrap="square" lIns="91235" tIns="45617" rIns="91235" bIns="45617" rtlCol="0">
            <a:spAutoFit/>
          </a:bodyPr>
          <a:lstStyle/>
          <a:p>
            <a:pPr algn="ctr" defTabSz="912344">
              <a:lnSpc>
                <a:spcPct val="90000"/>
              </a:lnSpc>
              <a:tabLst>
                <a:tab pos="394400" algn="l"/>
                <a:tab pos="790382" algn="l"/>
                <a:tab pos="1186364" algn="l"/>
                <a:tab pos="1582349" algn="l"/>
                <a:tab pos="1978331" algn="l"/>
                <a:tab pos="2374314" algn="l"/>
                <a:tab pos="2770296" algn="l"/>
                <a:tab pos="3166279" algn="l"/>
                <a:tab pos="3562261" algn="l"/>
                <a:tab pos="3958245" algn="l"/>
                <a:tab pos="4354229" algn="l"/>
                <a:tab pos="4750211" algn="l"/>
                <a:tab pos="5090755" algn="l"/>
              </a:tabLst>
            </a:pPr>
            <a:r>
              <a:rPr lang="en-US" sz="1400" dirty="0" err="1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alavancar</a:t>
            </a:r>
            <a:r>
              <a:rPr lang="en-US" sz="1400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 </a:t>
            </a:r>
            <a:r>
              <a:rPr lang="en-US" sz="1400" dirty="0" err="1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inovação</a:t>
            </a:r>
            <a:r>
              <a:rPr lang="en-US" sz="1400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 digital </a:t>
            </a:r>
            <a:r>
              <a:rPr lang="en-US" sz="1400" dirty="0" err="1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para</a:t>
            </a:r>
            <a:r>
              <a:rPr lang="en-US" sz="1400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 </a:t>
            </a:r>
            <a:r>
              <a:rPr lang="en-US" sz="1400" b="1" dirty="0" err="1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criar</a:t>
            </a:r>
            <a:r>
              <a:rPr lang="en-US" sz="1400" b="1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 </a:t>
            </a:r>
            <a:r>
              <a:rPr lang="en-US" sz="1400" b="1" dirty="0" err="1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novas</a:t>
            </a:r>
            <a:r>
              <a:rPr lang="en-US" sz="1400" b="1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 </a:t>
            </a:r>
            <a:r>
              <a:rPr lang="en-US" sz="1400" b="1" dirty="0" err="1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oportunidades</a:t>
            </a:r>
            <a:r>
              <a:rPr lang="en-US" sz="1400" b="1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 de </a:t>
            </a:r>
            <a:r>
              <a:rPr lang="en-US" sz="1400" b="1" dirty="0" err="1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negócio</a:t>
            </a:r>
            <a:r>
              <a:rPr lang="en-US" sz="1400" b="1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 e </a:t>
            </a:r>
            <a:r>
              <a:rPr lang="en-US" sz="1400" b="1" dirty="0" err="1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capacidades</a:t>
            </a:r>
            <a:r>
              <a:rPr lang="en-US" sz="1400" b="1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 </a:t>
            </a:r>
            <a:r>
              <a:rPr lang="en-US" sz="1400" dirty="0" err="1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para</a:t>
            </a:r>
            <a:r>
              <a:rPr lang="en-US" sz="1400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 </a:t>
            </a:r>
            <a:r>
              <a:rPr lang="en-US" sz="1400" dirty="0" err="1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lidar</a:t>
            </a:r>
            <a:r>
              <a:rPr lang="en-US" sz="1400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 com um </a:t>
            </a:r>
            <a:r>
              <a:rPr lang="en-US" sz="1400" dirty="0" err="1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mercado</a:t>
            </a:r>
            <a:r>
              <a:rPr lang="en-US" sz="1400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 </a:t>
            </a:r>
            <a:r>
              <a:rPr lang="en-US" sz="1400" dirty="0" err="1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em</a:t>
            </a:r>
            <a:r>
              <a:rPr lang="en-US" sz="1400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 </a:t>
            </a:r>
            <a:r>
              <a:rPr lang="en-US" sz="1400" dirty="0" err="1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rápida</a:t>
            </a:r>
            <a:r>
              <a:rPr lang="en-US" sz="1400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 </a:t>
            </a:r>
            <a:r>
              <a:rPr lang="en-US" sz="1400" dirty="0" err="1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evolução</a:t>
            </a:r>
            <a:endParaRPr lang="en-US" sz="1400" dirty="0">
              <a:solidFill>
                <a:srgbClr val="5F5F5F"/>
              </a:solidFill>
              <a:latin typeface="Gill Sans Std" pitchFamily="34" charset="0"/>
              <a:sym typeface="Gill Sans Std" pitchFamily="34" charset="0"/>
            </a:endParaRPr>
          </a:p>
        </p:txBody>
      </p:sp>
      <p:cxnSp>
        <p:nvCxnSpPr>
          <p:cNvPr id="152" name="Conector reto 151"/>
          <p:cNvCxnSpPr/>
          <p:nvPr/>
        </p:nvCxnSpPr>
        <p:spPr>
          <a:xfrm>
            <a:off x="3808310" y="2537223"/>
            <a:ext cx="0" cy="2211389"/>
          </a:xfrm>
          <a:prstGeom prst="line">
            <a:avLst/>
          </a:prstGeom>
          <a:ln w="9525" cap="rnd">
            <a:solidFill>
              <a:srgbClr val="5F5F5F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CaixaDeTexto 152"/>
          <p:cNvSpPr txBox="1"/>
          <p:nvPr/>
        </p:nvSpPr>
        <p:spPr>
          <a:xfrm>
            <a:off x="58539" y="2496118"/>
            <a:ext cx="1921175" cy="2460464"/>
          </a:xfrm>
          <a:prstGeom prst="rect">
            <a:avLst/>
          </a:prstGeom>
          <a:noFill/>
        </p:spPr>
        <p:txBody>
          <a:bodyPr wrap="square" lIns="91235" tIns="45617" rIns="91235" bIns="45617" rtlCol="0">
            <a:spAutoFit/>
          </a:bodyPr>
          <a:lstStyle/>
          <a:p>
            <a:pPr algn="ctr" defTabSz="912344">
              <a:lnSpc>
                <a:spcPct val="90000"/>
              </a:lnSpc>
              <a:tabLst>
                <a:tab pos="394400" algn="l"/>
                <a:tab pos="790382" algn="l"/>
                <a:tab pos="1186364" algn="l"/>
                <a:tab pos="1582349" algn="l"/>
                <a:tab pos="1978331" algn="l"/>
                <a:tab pos="2374314" algn="l"/>
                <a:tab pos="2770296" algn="l"/>
                <a:tab pos="3166279" algn="l"/>
                <a:tab pos="3562261" algn="l"/>
                <a:tab pos="3958245" algn="l"/>
                <a:tab pos="4354229" algn="l"/>
                <a:tab pos="4750211" algn="l"/>
                <a:tab pos="5090755" algn="l"/>
              </a:tabLst>
            </a:pPr>
            <a:r>
              <a:rPr lang="pt-BR" sz="1400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habilitar a organização para suas ambições por meio de uma 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infraestrutura de TI, robusta e escalável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, aliada a uma 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arquitetura flexível, 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capaz de promover colaboração, desenvolvimento ágil e resposta rápida às demandas de negócio</a:t>
            </a:r>
          </a:p>
        </p:txBody>
      </p:sp>
      <p:cxnSp>
        <p:nvCxnSpPr>
          <p:cNvPr id="154" name="Conector reto 153"/>
          <p:cNvCxnSpPr/>
          <p:nvPr/>
        </p:nvCxnSpPr>
        <p:spPr>
          <a:xfrm>
            <a:off x="2011392" y="2537223"/>
            <a:ext cx="0" cy="2211389"/>
          </a:xfrm>
          <a:prstGeom prst="line">
            <a:avLst/>
          </a:prstGeom>
          <a:ln w="9525" cap="rnd">
            <a:solidFill>
              <a:srgbClr val="5F5F5F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CaixaDeTexto 154"/>
          <p:cNvSpPr txBox="1"/>
          <p:nvPr/>
        </p:nvSpPr>
        <p:spPr>
          <a:xfrm>
            <a:off x="3890294" y="2504013"/>
            <a:ext cx="1706052" cy="1473656"/>
          </a:xfrm>
          <a:prstGeom prst="rect">
            <a:avLst/>
          </a:prstGeom>
          <a:noFill/>
        </p:spPr>
        <p:txBody>
          <a:bodyPr wrap="square" lIns="91235" tIns="45617" rIns="91235" bIns="45617" rtlCol="0">
            <a:spAutoFit/>
          </a:bodyPr>
          <a:lstStyle/>
          <a:p>
            <a:pPr algn="ctr" defTabSz="912344">
              <a:lnSpc>
                <a:spcPct val="90000"/>
              </a:lnSpc>
              <a:tabLst>
                <a:tab pos="394400" algn="l"/>
                <a:tab pos="790382" algn="l"/>
                <a:tab pos="1186364" algn="l"/>
                <a:tab pos="1582349" algn="l"/>
                <a:tab pos="1978331" algn="l"/>
                <a:tab pos="2374314" algn="l"/>
                <a:tab pos="2770296" algn="l"/>
                <a:tab pos="3166279" algn="l"/>
                <a:tab pos="3562261" algn="l"/>
                <a:tab pos="3958245" algn="l"/>
                <a:tab pos="4354229" algn="l"/>
                <a:tab pos="4750211" algn="l"/>
                <a:tab pos="5090755" algn="l"/>
              </a:tabLst>
            </a:pPr>
            <a:r>
              <a:rPr lang="pt-BR" sz="1400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proporcionar eficiência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 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nos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 processos de negócio 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  <a:sym typeface="Gill Sans Std" pitchFamily="34" charset="0"/>
              </a:rPr>
              <a:t>por meio de soluções tecnológicas adequadas</a:t>
            </a:r>
          </a:p>
        </p:txBody>
      </p:sp>
      <p:cxnSp>
        <p:nvCxnSpPr>
          <p:cNvPr id="156" name="Conector reto 155"/>
          <p:cNvCxnSpPr/>
          <p:nvPr/>
        </p:nvCxnSpPr>
        <p:spPr>
          <a:xfrm>
            <a:off x="5578275" y="2537223"/>
            <a:ext cx="0" cy="2211389"/>
          </a:xfrm>
          <a:prstGeom prst="line">
            <a:avLst/>
          </a:prstGeom>
          <a:ln w="9525" cap="rnd">
            <a:solidFill>
              <a:srgbClr val="5F5F5F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CaixaDeTexto 156"/>
          <p:cNvSpPr txBox="1"/>
          <p:nvPr/>
        </p:nvSpPr>
        <p:spPr>
          <a:xfrm>
            <a:off x="7466060" y="2504021"/>
            <a:ext cx="1706052" cy="1671018"/>
          </a:xfrm>
          <a:prstGeom prst="rect">
            <a:avLst/>
          </a:prstGeom>
          <a:noFill/>
        </p:spPr>
        <p:txBody>
          <a:bodyPr wrap="square" lIns="91235" tIns="45617" rIns="91235" bIns="45617" rtlCol="0">
            <a:spAutoFit/>
          </a:bodyPr>
          <a:lstStyle/>
          <a:p>
            <a:pPr algn="ctr" defTabSz="912344">
              <a:lnSpc>
                <a:spcPct val="90000"/>
              </a:lnSpc>
              <a:tabLst>
                <a:tab pos="394400" algn="l"/>
                <a:tab pos="790382" algn="l"/>
                <a:tab pos="1186364" algn="l"/>
                <a:tab pos="1582349" algn="l"/>
                <a:tab pos="1978331" algn="l"/>
                <a:tab pos="2374314" algn="l"/>
                <a:tab pos="2770296" algn="l"/>
                <a:tab pos="3166279" algn="l"/>
                <a:tab pos="3562261" algn="l"/>
                <a:tab pos="3958245" algn="l"/>
                <a:tab pos="4354229" algn="l"/>
                <a:tab pos="4750211" algn="l"/>
                <a:tab pos="5090755" algn="l"/>
              </a:tabLst>
            </a:pPr>
            <a:r>
              <a:rPr lang="pt-BR" sz="1400" b="1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capacitar as operações internacionais com </a:t>
            </a:r>
            <a:r>
              <a:rPr lang="pt-BR" sz="1400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sistemas</a:t>
            </a:r>
            <a:r>
              <a:rPr lang="pt-BR" sz="1400" b="1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 e soluções </a:t>
            </a:r>
            <a:r>
              <a:rPr lang="pt-BR" sz="1400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corporativas robustas, integradas e escaláveis</a:t>
            </a:r>
            <a:endParaRPr lang="pt-BR" sz="1400" b="1" dirty="0">
              <a:solidFill>
                <a:srgbClr val="666666"/>
              </a:solidFill>
              <a:latin typeface="Gill Sans Std" pitchFamily="34" charset="0"/>
              <a:sym typeface="Gill Sans Std" pitchFamily="34" charset="0"/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1275898" y="1266607"/>
            <a:ext cx="7301549" cy="403753"/>
          </a:xfrm>
          <a:prstGeom prst="rect">
            <a:avLst/>
          </a:prstGeom>
          <a:noFill/>
        </p:spPr>
        <p:txBody>
          <a:bodyPr wrap="square" lIns="91235" tIns="45617" rIns="91235" bIns="45617" rtlCol="0">
            <a:spAutoFit/>
          </a:bodyPr>
          <a:lstStyle/>
          <a:p>
            <a:pPr defTabSz="912344"/>
            <a:r>
              <a:rPr lang="pt-BR" sz="2000" dirty="0">
                <a:solidFill>
                  <a:schemeClr val="tx2"/>
                </a:solidFill>
                <a:latin typeface="Gill Sans Std UltraBold" pitchFamily="34" charset="0"/>
              </a:rPr>
              <a:t>direcionadores estratégicos TD Natura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163411" y="1845695"/>
            <a:ext cx="1503504" cy="399891"/>
          </a:xfrm>
          <a:prstGeom prst="rect">
            <a:avLst/>
          </a:prstGeom>
          <a:noFill/>
        </p:spPr>
        <p:txBody>
          <a:bodyPr wrap="none" lIns="91223" tIns="45611" rIns="91223" bIns="45611" rtlCol="0">
            <a:spAutoFit/>
          </a:bodyPr>
          <a:lstStyle/>
          <a:p>
            <a:r>
              <a:rPr lang="en-US" sz="1000" b="1" dirty="0">
                <a:solidFill>
                  <a:schemeClr val="tx2"/>
                </a:solidFill>
                <a:latin typeface="Gill Sans Std" pitchFamily="34" charset="0"/>
                <a:cs typeface="Arial" pitchFamily="34" charset="0"/>
                <a:sym typeface="Gill Sans Std Light" pitchFamily="34" charset="0"/>
              </a:rPr>
              <a:t>RELACIONAMENTO</a:t>
            </a:r>
            <a:br>
              <a:rPr lang="en-US" sz="1000" b="1" dirty="0">
                <a:solidFill>
                  <a:schemeClr val="tx2"/>
                </a:solidFill>
                <a:latin typeface="Gill Sans Std" pitchFamily="34" charset="0"/>
                <a:cs typeface="Arial" pitchFamily="34" charset="0"/>
                <a:sym typeface="Gill Sans Std Light" pitchFamily="34" charset="0"/>
              </a:rPr>
            </a:br>
            <a:r>
              <a:rPr lang="en-US" sz="1000" b="1" dirty="0">
                <a:solidFill>
                  <a:schemeClr val="tx2"/>
                </a:solidFill>
                <a:latin typeface="Gill Sans Std" pitchFamily="34" charset="0"/>
                <a:cs typeface="Arial" pitchFamily="34" charset="0"/>
                <a:sym typeface="Gill Sans Std Light" pitchFamily="34" charset="0"/>
              </a:rPr>
              <a:t>OMNICHANNEL</a:t>
            </a:r>
          </a:p>
        </p:txBody>
      </p:sp>
      <p:sp>
        <p:nvSpPr>
          <p:cNvPr id="35" name="Freeform 49"/>
          <p:cNvSpPr>
            <a:spLocks noEditPoints="1"/>
          </p:cNvSpPr>
          <p:nvPr/>
        </p:nvSpPr>
        <p:spPr bwMode="auto">
          <a:xfrm>
            <a:off x="2120356" y="1803855"/>
            <a:ext cx="469043" cy="469900"/>
          </a:xfrm>
          <a:custGeom>
            <a:avLst/>
            <a:gdLst>
              <a:gd name="T0" fmla="*/ 188 w 468"/>
              <a:gd name="T1" fmla="*/ 4 h 468"/>
              <a:gd name="T2" fmla="*/ 104 w 468"/>
              <a:gd name="T3" fmla="*/ 40 h 468"/>
              <a:gd name="T4" fmla="*/ 40 w 468"/>
              <a:gd name="T5" fmla="*/ 102 h 468"/>
              <a:gd name="T6" fmla="*/ 6 w 468"/>
              <a:gd name="T7" fmla="*/ 186 h 468"/>
              <a:gd name="T8" fmla="*/ 2 w 468"/>
              <a:gd name="T9" fmla="*/ 258 h 468"/>
              <a:gd name="T10" fmla="*/ 30 w 468"/>
              <a:gd name="T11" fmla="*/ 344 h 468"/>
              <a:gd name="T12" fmla="*/ 86 w 468"/>
              <a:gd name="T13" fmla="*/ 414 h 468"/>
              <a:gd name="T14" fmla="*/ 166 w 468"/>
              <a:gd name="T15" fmla="*/ 456 h 468"/>
              <a:gd name="T16" fmla="*/ 234 w 468"/>
              <a:gd name="T17" fmla="*/ 468 h 468"/>
              <a:gd name="T18" fmla="*/ 326 w 468"/>
              <a:gd name="T19" fmla="*/ 448 h 468"/>
              <a:gd name="T20" fmla="*/ 400 w 468"/>
              <a:gd name="T21" fmla="*/ 398 h 468"/>
              <a:gd name="T22" fmla="*/ 450 w 468"/>
              <a:gd name="T23" fmla="*/ 324 h 468"/>
              <a:gd name="T24" fmla="*/ 468 w 468"/>
              <a:gd name="T25" fmla="*/ 234 h 468"/>
              <a:gd name="T26" fmla="*/ 458 w 468"/>
              <a:gd name="T27" fmla="*/ 164 h 468"/>
              <a:gd name="T28" fmla="*/ 414 w 468"/>
              <a:gd name="T29" fmla="*/ 84 h 468"/>
              <a:gd name="T30" fmla="*/ 346 w 468"/>
              <a:gd name="T31" fmla="*/ 28 h 468"/>
              <a:gd name="T32" fmla="*/ 258 w 468"/>
              <a:gd name="T33" fmla="*/ 0 h 468"/>
              <a:gd name="T34" fmla="*/ 234 w 468"/>
              <a:gd name="T35" fmla="*/ 440 h 468"/>
              <a:gd name="T36" fmla="*/ 150 w 468"/>
              <a:gd name="T37" fmla="*/ 422 h 468"/>
              <a:gd name="T38" fmla="*/ 198 w 468"/>
              <a:gd name="T39" fmla="*/ 366 h 468"/>
              <a:gd name="T40" fmla="*/ 246 w 468"/>
              <a:gd name="T41" fmla="*/ 348 h 468"/>
              <a:gd name="T42" fmla="*/ 258 w 468"/>
              <a:gd name="T43" fmla="*/ 318 h 468"/>
              <a:gd name="T44" fmla="*/ 224 w 468"/>
              <a:gd name="T45" fmla="*/ 306 h 468"/>
              <a:gd name="T46" fmla="*/ 214 w 468"/>
              <a:gd name="T47" fmla="*/ 292 h 468"/>
              <a:gd name="T48" fmla="*/ 240 w 468"/>
              <a:gd name="T49" fmla="*/ 286 h 468"/>
              <a:gd name="T50" fmla="*/ 304 w 468"/>
              <a:gd name="T51" fmla="*/ 262 h 468"/>
              <a:gd name="T52" fmla="*/ 332 w 468"/>
              <a:gd name="T53" fmla="*/ 232 h 468"/>
              <a:gd name="T54" fmla="*/ 272 w 468"/>
              <a:gd name="T55" fmla="*/ 228 h 468"/>
              <a:gd name="T56" fmla="*/ 262 w 468"/>
              <a:gd name="T57" fmla="*/ 212 h 468"/>
              <a:gd name="T58" fmla="*/ 306 w 468"/>
              <a:gd name="T59" fmla="*/ 202 h 468"/>
              <a:gd name="T60" fmla="*/ 358 w 468"/>
              <a:gd name="T61" fmla="*/ 180 h 468"/>
              <a:gd name="T62" fmla="*/ 374 w 468"/>
              <a:gd name="T63" fmla="*/ 150 h 468"/>
              <a:gd name="T64" fmla="*/ 374 w 468"/>
              <a:gd name="T65" fmla="*/ 120 h 468"/>
              <a:gd name="T66" fmla="*/ 322 w 468"/>
              <a:gd name="T67" fmla="*/ 88 h 468"/>
              <a:gd name="T68" fmla="*/ 296 w 468"/>
              <a:gd name="T69" fmla="*/ 86 h 468"/>
              <a:gd name="T70" fmla="*/ 262 w 468"/>
              <a:gd name="T71" fmla="*/ 132 h 468"/>
              <a:gd name="T72" fmla="*/ 230 w 468"/>
              <a:gd name="T73" fmla="*/ 176 h 468"/>
              <a:gd name="T74" fmla="*/ 222 w 468"/>
              <a:gd name="T75" fmla="*/ 160 h 468"/>
              <a:gd name="T76" fmla="*/ 230 w 468"/>
              <a:gd name="T77" fmla="*/ 114 h 468"/>
              <a:gd name="T78" fmla="*/ 200 w 468"/>
              <a:gd name="T79" fmla="*/ 124 h 468"/>
              <a:gd name="T80" fmla="*/ 168 w 468"/>
              <a:gd name="T81" fmla="*/ 160 h 468"/>
              <a:gd name="T82" fmla="*/ 160 w 468"/>
              <a:gd name="T83" fmla="*/ 226 h 468"/>
              <a:gd name="T84" fmla="*/ 164 w 468"/>
              <a:gd name="T85" fmla="*/ 310 h 468"/>
              <a:gd name="T86" fmla="*/ 144 w 468"/>
              <a:gd name="T87" fmla="*/ 286 h 468"/>
              <a:gd name="T88" fmla="*/ 120 w 468"/>
              <a:gd name="T89" fmla="*/ 254 h 468"/>
              <a:gd name="T90" fmla="*/ 120 w 468"/>
              <a:gd name="T91" fmla="*/ 310 h 468"/>
              <a:gd name="T92" fmla="*/ 142 w 468"/>
              <a:gd name="T93" fmla="*/ 358 h 468"/>
              <a:gd name="T94" fmla="*/ 106 w 468"/>
              <a:gd name="T95" fmla="*/ 396 h 468"/>
              <a:gd name="T96" fmla="*/ 44 w 468"/>
              <a:gd name="T97" fmla="*/ 314 h 468"/>
              <a:gd name="T98" fmla="*/ 28 w 468"/>
              <a:gd name="T99" fmla="*/ 234 h 468"/>
              <a:gd name="T100" fmla="*/ 44 w 468"/>
              <a:gd name="T101" fmla="*/ 152 h 468"/>
              <a:gd name="T102" fmla="*/ 88 w 468"/>
              <a:gd name="T103" fmla="*/ 86 h 468"/>
              <a:gd name="T104" fmla="*/ 154 w 468"/>
              <a:gd name="T105" fmla="*/ 42 h 468"/>
              <a:gd name="T106" fmla="*/ 234 w 468"/>
              <a:gd name="T107" fmla="*/ 26 h 468"/>
              <a:gd name="T108" fmla="*/ 296 w 468"/>
              <a:gd name="T109" fmla="*/ 36 h 468"/>
              <a:gd name="T110" fmla="*/ 366 w 468"/>
              <a:gd name="T111" fmla="*/ 74 h 468"/>
              <a:gd name="T112" fmla="*/ 416 w 468"/>
              <a:gd name="T113" fmla="*/ 134 h 468"/>
              <a:gd name="T114" fmla="*/ 440 w 468"/>
              <a:gd name="T115" fmla="*/ 212 h 468"/>
              <a:gd name="T116" fmla="*/ 438 w 468"/>
              <a:gd name="T117" fmla="*/ 276 h 468"/>
              <a:gd name="T118" fmla="*/ 406 w 468"/>
              <a:gd name="T119" fmla="*/ 350 h 468"/>
              <a:gd name="T120" fmla="*/ 350 w 468"/>
              <a:gd name="T121" fmla="*/ 406 h 468"/>
              <a:gd name="T122" fmla="*/ 276 w 468"/>
              <a:gd name="T123" fmla="*/ 436 h 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68" h="468">
                <a:moveTo>
                  <a:pt x="234" y="0"/>
                </a:moveTo>
                <a:lnTo>
                  <a:pt x="234" y="0"/>
                </a:lnTo>
                <a:lnTo>
                  <a:pt x="210" y="0"/>
                </a:lnTo>
                <a:lnTo>
                  <a:pt x="188" y="4"/>
                </a:lnTo>
                <a:lnTo>
                  <a:pt x="166" y="10"/>
                </a:lnTo>
                <a:lnTo>
                  <a:pt x="144" y="18"/>
                </a:lnTo>
                <a:lnTo>
                  <a:pt x="124" y="28"/>
                </a:lnTo>
                <a:lnTo>
                  <a:pt x="104" y="40"/>
                </a:lnTo>
                <a:lnTo>
                  <a:pt x="86" y="54"/>
                </a:lnTo>
                <a:lnTo>
                  <a:pt x="70" y="68"/>
                </a:lnTo>
                <a:lnTo>
                  <a:pt x="54" y="84"/>
                </a:lnTo>
                <a:lnTo>
                  <a:pt x="40" y="102"/>
                </a:lnTo>
                <a:lnTo>
                  <a:pt x="30" y="122"/>
                </a:lnTo>
                <a:lnTo>
                  <a:pt x="20" y="142"/>
                </a:lnTo>
                <a:lnTo>
                  <a:pt x="12" y="164"/>
                </a:lnTo>
                <a:lnTo>
                  <a:pt x="6" y="186"/>
                </a:lnTo>
                <a:lnTo>
                  <a:pt x="2" y="210"/>
                </a:lnTo>
                <a:lnTo>
                  <a:pt x="0" y="234"/>
                </a:lnTo>
                <a:lnTo>
                  <a:pt x="0" y="234"/>
                </a:lnTo>
                <a:lnTo>
                  <a:pt x="2" y="258"/>
                </a:lnTo>
                <a:lnTo>
                  <a:pt x="6" y="280"/>
                </a:lnTo>
                <a:lnTo>
                  <a:pt x="12" y="302"/>
                </a:lnTo>
                <a:lnTo>
                  <a:pt x="20" y="324"/>
                </a:lnTo>
                <a:lnTo>
                  <a:pt x="30" y="344"/>
                </a:lnTo>
                <a:lnTo>
                  <a:pt x="40" y="364"/>
                </a:lnTo>
                <a:lnTo>
                  <a:pt x="54" y="382"/>
                </a:lnTo>
                <a:lnTo>
                  <a:pt x="70" y="398"/>
                </a:lnTo>
                <a:lnTo>
                  <a:pt x="86" y="414"/>
                </a:lnTo>
                <a:lnTo>
                  <a:pt x="104" y="428"/>
                </a:lnTo>
                <a:lnTo>
                  <a:pt x="124" y="438"/>
                </a:lnTo>
                <a:lnTo>
                  <a:pt x="144" y="448"/>
                </a:lnTo>
                <a:lnTo>
                  <a:pt x="166" y="456"/>
                </a:lnTo>
                <a:lnTo>
                  <a:pt x="188" y="462"/>
                </a:lnTo>
                <a:lnTo>
                  <a:pt x="210" y="466"/>
                </a:lnTo>
                <a:lnTo>
                  <a:pt x="234" y="468"/>
                </a:lnTo>
                <a:lnTo>
                  <a:pt x="234" y="468"/>
                </a:lnTo>
                <a:lnTo>
                  <a:pt x="258" y="466"/>
                </a:lnTo>
                <a:lnTo>
                  <a:pt x="282" y="462"/>
                </a:lnTo>
                <a:lnTo>
                  <a:pt x="304" y="456"/>
                </a:lnTo>
                <a:lnTo>
                  <a:pt x="326" y="448"/>
                </a:lnTo>
                <a:lnTo>
                  <a:pt x="346" y="438"/>
                </a:lnTo>
                <a:lnTo>
                  <a:pt x="366" y="428"/>
                </a:lnTo>
                <a:lnTo>
                  <a:pt x="384" y="414"/>
                </a:lnTo>
                <a:lnTo>
                  <a:pt x="400" y="398"/>
                </a:lnTo>
                <a:lnTo>
                  <a:pt x="414" y="382"/>
                </a:lnTo>
                <a:lnTo>
                  <a:pt x="428" y="364"/>
                </a:lnTo>
                <a:lnTo>
                  <a:pt x="440" y="344"/>
                </a:lnTo>
                <a:lnTo>
                  <a:pt x="450" y="324"/>
                </a:lnTo>
                <a:lnTo>
                  <a:pt x="458" y="302"/>
                </a:lnTo>
                <a:lnTo>
                  <a:pt x="464" y="280"/>
                </a:lnTo>
                <a:lnTo>
                  <a:pt x="468" y="258"/>
                </a:lnTo>
                <a:lnTo>
                  <a:pt x="468" y="234"/>
                </a:lnTo>
                <a:lnTo>
                  <a:pt x="468" y="234"/>
                </a:lnTo>
                <a:lnTo>
                  <a:pt x="468" y="210"/>
                </a:lnTo>
                <a:lnTo>
                  <a:pt x="464" y="186"/>
                </a:lnTo>
                <a:lnTo>
                  <a:pt x="458" y="164"/>
                </a:lnTo>
                <a:lnTo>
                  <a:pt x="450" y="142"/>
                </a:lnTo>
                <a:lnTo>
                  <a:pt x="440" y="122"/>
                </a:lnTo>
                <a:lnTo>
                  <a:pt x="428" y="102"/>
                </a:lnTo>
                <a:lnTo>
                  <a:pt x="414" y="84"/>
                </a:lnTo>
                <a:lnTo>
                  <a:pt x="400" y="68"/>
                </a:lnTo>
                <a:lnTo>
                  <a:pt x="384" y="54"/>
                </a:lnTo>
                <a:lnTo>
                  <a:pt x="366" y="40"/>
                </a:lnTo>
                <a:lnTo>
                  <a:pt x="346" y="28"/>
                </a:lnTo>
                <a:lnTo>
                  <a:pt x="326" y="18"/>
                </a:lnTo>
                <a:lnTo>
                  <a:pt x="304" y="10"/>
                </a:lnTo>
                <a:lnTo>
                  <a:pt x="282" y="4"/>
                </a:lnTo>
                <a:lnTo>
                  <a:pt x="258" y="0"/>
                </a:lnTo>
                <a:lnTo>
                  <a:pt x="234" y="0"/>
                </a:lnTo>
                <a:lnTo>
                  <a:pt x="234" y="0"/>
                </a:lnTo>
                <a:close/>
                <a:moveTo>
                  <a:pt x="234" y="440"/>
                </a:moveTo>
                <a:lnTo>
                  <a:pt x="234" y="440"/>
                </a:lnTo>
                <a:lnTo>
                  <a:pt x="212" y="440"/>
                </a:lnTo>
                <a:lnTo>
                  <a:pt x="190" y="436"/>
                </a:lnTo>
                <a:lnTo>
                  <a:pt x="170" y="430"/>
                </a:lnTo>
                <a:lnTo>
                  <a:pt x="150" y="422"/>
                </a:lnTo>
                <a:lnTo>
                  <a:pt x="150" y="422"/>
                </a:lnTo>
                <a:lnTo>
                  <a:pt x="166" y="368"/>
                </a:lnTo>
                <a:lnTo>
                  <a:pt x="166" y="368"/>
                </a:lnTo>
                <a:lnTo>
                  <a:pt x="198" y="366"/>
                </a:lnTo>
                <a:lnTo>
                  <a:pt x="212" y="364"/>
                </a:lnTo>
                <a:lnTo>
                  <a:pt x="224" y="362"/>
                </a:lnTo>
                <a:lnTo>
                  <a:pt x="236" y="356"/>
                </a:lnTo>
                <a:lnTo>
                  <a:pt x="246" y="348"/>
                </a:lnTo>
                <a:lnTo>
                  <a:pt x="256" y="336"/>
                </a:lnTo>
                <a:lnTo>
                  <a:pt x="268" y="318"/>
                </a:lnTo>
                <a:lnTo>
                  <a:pt x="268" y="318"/>
                </a:lnTo>
                <a:lnTo>
                  <a:pt x="258" y="318"/>
                </a:lnTo>
                <a:lnTo>
                  <a:pt x="248" y="318"/>
                </a:lnTo>
                <a:lnTo>
                  <a:pt x="240" y="316"/>
                </a:lnTo>
                <a:lnTo>
                  <a:pt x="230" y="312"/>
                </a:lnTo>
                <a:lnTo>
                  <a:pt x="224" y="306"/>
                </a:lnTo>
                <a:lnTo>
                  <a:pt x="218" y="302"/>
                </a:lnTo>
                <a:lnTo>
                  <a:pt x="214" y="296"/>
                </a:lnTo>
                <a:lnTo>
                  <a:pt x="214" y="292"/>
                </a:lnTo>
                <a:lnTo>
                  <a:pt x="214" y="292"/>
                </a:lnTo>
                <a:lnTo>
                  <a:pt x="214" y="290"/>
                </a:lnTo>
                <a:lnTo>
                  <a:pt x="216" y="290"/>
                </a:lnTo>
                <a:lnTo>
                  <a:pt x="226" y="288"/>
                </a:lnTo>
                <a:lnTo>
                  <a:pt x="240" y="286"/>
                </a:lnTo>
                <a:lnTo>
                  <a:pt x="256" y="284"/>
                </a:lnTo>
                <a:lnTo>
                  <a:pt x="274" y="278"/>
                </a:lnTo>
                <a:lnTo>
                  <a:pt x="294" y="268"/>
                </a:lnTo>
                <a:lnTo>
                  <a:pt x="304" y="262"/>
                </a:lnTo>
                <a:lnTo>
                  <a:pt x="314" y="254"/>
                </a:lnTo>
                <a:lnTo>
                  <a:pt x="322" y="244"/>
                </a:lnTo>
                <a:lnTo>
                  <a:pt x="332" y="232"/>
                </a:lnTo>
                <a:lnTo>
                  <a:pt x="332" y="232"/>
                </a:lnTo>
                <a:lnTo>
                  <a:pt x="312" y="236"/>
                </a:lnTo>
                <a:lnTo>
                  <a:pt x="296" y="236"/>
                </a:lnTo>
                <a:lnTo>
                  <a:pt x="282" y="232"/>
                </a:lnTo>
                <a:lnTo>
                  <a:pt x="272" y="228"/>
                </a:lnTo>
                <a:lnTo>
                  <a:pt x="266" y="224"/>
                </a:lnTo>
                <a:lnTo>
                  <a:pt x="262" y="218"/>
                </a:lnTo>
                <a:lnTo>
                  <a:pt x="260" y="214"/>
                </a:lnTo>
                <a:lnTo>
                  <a:pt x="262" y="212"/>
                </a:lnTo>
                <a:lnTo>
                  <a:pt x="262" y="212"/>
                </a:lnTo>
                <a:lnTo>
                  <a:pt x="270" y="208"/>
                </a:lnTo>
                <a:lnTo>
                  <a:pt x="280" y="206"/>
                </a:lnTo>
                <a:lnTo>
                  <a:pt x="306" y="202"/>
                </a:lnTo>
                <a:lnTo>
                  <a:pt x="320" y="200"/>
                </a:lnTo>
                <a:lnTo>
                  <a:pt x="334" y="196"/>
                </a:lnTo>
                <a:lnTo>
                  <a:pt x="348" y="190"/>
                </a:lnTo>
                <a:lnTo>
                  <a:pt x="358" y="180"/>
                </a:lnTo>
                <a:lnTo>
                  <a:pt x="358" y="180"/>
                </a:lnTo>
                <a:lnTo>
                  <a:pt x="364" y="174"/>
                </a:lnTo>
                <a:lnTo>
                  <a:pt x="368" y="166"/>
                </a:lnTo>
                <a:lnTo>
                  <a:pt x="374" y="150"/>
                </a:lnTo>
                <a:lnTo>
                  <a:pt x="376" y="132"/>
                </a:lnTo>
                <a:lnTo>
                  <a:pt x="376" y="126"/>
                </a:lnTo>
                <a:lnTo>
                  <a:pt x="374" y="120"/>
                </a:lnTo>
                <a:lnTo>
                  <a:pt x="374" y="120"/>
                </a:lnTo>
                <a:lnTo>
                  <a:pt x="370" y="114"/>
                </a:lnTo>
                <a:lnTo>
                  <a:pt x="362" y="108"/>
                </a:lnTo>
                <a:lnTo>
                  <a:pt x="344" y="96"/>
                </a:lnTo>
                <a:lnTo>
                  <a:pt x="322" y="88"/>
                </a:lnTo>
                <a:lnTo>
                  <a:pt x="310" y="86"/>
                </a:lnTo>
                <a:lnTo>
                  <a:pt x="302" y="86"/>
                </a:lnTo>
                <a:lnTo>
                  <a:pt x="302" y="86"/>
                </a:lnTo>
                <a:lnTo>
                  <a:pt x="296" y="86"/>
                </a:lnTo>
                <a:lnTo>
                  <a:pt x="292" y="90"/>
                </a:lnTo>
                <a:lnTo>
                  <a:pt x="282" y="100"/>
                </a:lnTo>
                <a:lnTo>
                  <a:pt x="272" y="114"/>
                </a:lnTo>
                <a:lnTo>
                  <a:pt x="262" y="132"/>
                </a:lnTo>
                <a:lnTo>
                  <a:pt x="244" y="162"/>
                </a:lnTo>
                <a:lnTo>
                  <a:pt x="236" y="172"/>
                </a:lnTo>
                <a:lnTo>
                  <a:pt x="234" y="174"/>
                </a:lnTo>
                <a:lnTo>
                  <a:pt x="230" y="176"/>
                </a:lnTo>
                <a:lnTo>
                  <a:pt x="230" y="176"/>
                </a:lnTo>
                <a:lnTo>
                  <a:pt x="228" y="174"/>
                </a:lnTo>
                <a:lnTo>
                  <a:pt x="224" y="168"/>
                </a:lnTo>
                <a:lnTo>
                  <a:pt x="222" y="160"/>
                </a:lnTo>
                <a:lnTo>
                  <a:pt x="222" y="150"/>
                </a:lnTo>
                <a:lnTo>
                  <a:pt x="224" y="140"/>
                </a:lnTo>
                <a:lnTo>
                  <a:pt x="226" y="126"/>
                </a:lnTo>
                <a:lnTo>
                  <a:pt x="230" y="114"/>
                </a:lnTo>
                <a:lnTo>
                  <a:pt x="236" y="100"/>
                </a:lnTo>
                <a:lnTo>
                  <a:pt x="236" y="100"/>
                </a:lnTo>
                <a:lnTo>
                  <a:pt x="220" y="110"/>
                </a:lnTo>
                <a:lnTo>
                  <a:pt x="200" y="124"/>
                </a:lnTo>
                <a:lnTo>
                  <a:pt x="182" y="142"/>
                </a:lnTo>
                <a:lnTo>
                  <a:pt x="174" y="152"/>
                </a:lnTo>
                <a:lnTo>
                  <a:pt x="168" y="160"/>
                </a:lnTo>
                <a:lnTo>
                  <a:pt x="168" y="160"/>
                </a:lnTo>
                <a:lnTo>
                  <a:pt x="166" y="170"/>
                </a:lnTo>
                <a:lnTo>
                  <a:pt x="162" y="180"/>
                </a:lnTo>
                <a:lnTo>
                  <a:pt x="160" y="202"/>
                </a:lnTo>
                <a:lnTo>
                  <a:pt x="160" y="226"/>
                </a:lnTo>
                <a:lnTo>
                  <a:pt x="160" y="250"/>
                </a:lnTo>
                <a:lnTo>
                  <a:pt x="164" y="292"/>
                </a:lnTo>
                <a:lnTo>
                  <a:pt x="164" y="304"/>
                </a:lnTo>
                <a:lnTo>
                  <a:pt x="164" y="310"/>
                </a:lnTo>
                <a:lnTo>
                  <a:pt x="164" y="310"/>
                </a:lnTo>
                <a:lnTo>
                  <a:pt x="160" y="310"/>
                </a:lnTo>
                <a:lnTo>
                  <a:pt x="154" y="304"/>
                </a:lnTo>
                <a:lnTo>
                  <a:pt x="144" y="286"/>
                </a:lnTo>
                <a:lnTo>
                  <a:pt x="132" y="262"/>
                </a:lnTo>
                <a:lnTo>
                  <a:pt x="122" y="240"/>
                </a:lnTo>
                <a:lnTo>
                  <a:pt x="122" y="240"/>
                </a:lnTo>
                <a:lnTo>
                  <a:pt x="120" y="254"/>
                </a:lnTo>
                <a:lnTo>
                  <a:pt x="118" y="268"/>
                </a:lnTo>
                <a:lnTo>
                  <a:pt x="116" y="282"/>
                </a:lnTo>
                <a:lnTo>
                  <a:pt x="118" y="296"/>
                </a:lnTo>
                <a:lnTo>
                  <a:pt x="120" y="310"/>
                </a:lnTo>
                <a:lnTo>
                  <a:pt x="126" y="324"/>
                </a:lnTo>
                <a:lnTo>
                  <a:pt x="132" y="340"/>
                </a:lnTo>
                <a:lnTo>
                  <a:pt x="142" y="358"/>
                </a:lnTo>
                <a:lnTo>
                  <a:pt x="142" y="358"/>
                </a:lnTo>
                <a:lnTo>
                  <a:pt x="134" y="384"/>
                </a:lnTo>
                <a:lnTo>
                  <a:pt x="128" y="412"/>
                </a:lnTo>
                <a:lnTo>
                  <a:pt x="128" y="412"/>
                </a:lnTo>
                <a:lnTo>
                  <a:pt x="106" y="396"/>
                </a:lnTo>
                <a:lnTo>
                  <a:pt x="86" y="378"/>
                </a:lnTo>
                <a:lnTo>
                  <a:pt x="70" y="358"/>
                </a:lnTo>
                <a:lnTo>
                  <a:pt x="56" y="338"/>
                </a:lnTo>
                <a:lnTo>
                  <a:pt x="44" y="314"/>
                </a:lnTo>
                <a:lnTo>
                  <a:pt x="34" y="288"/>
                </a:lnTo>
                <a:lnTo>
                  <a:pt x="30" y="262"/>
                </a:lnTo>
                <a:lnTo>
                  <a:pt x="28" y="234"/>
                </a:lnTo>
                <a:lnTo>
                  <a:pt x="28" y="234"/>
                </a:lnTo>
                <a:lnTo>
                  <a:pt x="28" y="212"/>
                </a:lnTo>
                <a:lnTo>
                  <a:pt x="32" y="192"/>
                </a:lnTo>
                <a:lnTo>
                  <a:pt x="36" y="172"/>
                </a:lnTo>
                <a:lnTo>
                  <a:pt x="44" y="152"/>
                </a:lnTo>
                <a:lnTo>
                  <a:pt x="52" y="134"/>
                </a:lnTo>
                <a:lnTo>
                  <a:pt x="62" y="118"/>
                </a:lnTo>
                <a:lnTo>
                  <a:pt x="74" y="102"/>
                </a:lnTo>
                <a:lnTo>
                  <a:pt x="88" y="86"/>
                </a:lnTo>
                <a:lnTo>
                  <a:pt x="102" y="74"/>
                </a:lnTo>
                <a:lnTo>
                  <a:pt x="118" y="62"/>
                </a:lnTo>
                <a:lnTo>
                  <a:pt x="136" y="52"/>
                </a:lnTo>
                <a:lnTo>
                  <a:pt x="154" y="42"/>
                </a:lnTo>
                <a:lnTo>
                  <a:pt x="172" y="36"/>
                </a:lnTo>
                <a:lnTo>
                  <a:pt x="192" y="30"/>
                </a:lnTo>
                <a:lnTo>
                  <a:pt x="214" y="28"/>
                </a:lnTo>
                <a:lnTo>
                  <a:pt x="234" y="26"/>
                </a:lnTo>
                <a:lnTo>
                  <a:pt x="234" y="26"/>
                </a:lnTo>
                <a:lnTo>
                  <a:pt x="256" y="28"/>
                </a:lnTo>
                <a:lnTo>
                  <a:pt x="276" y="30"/>
                </a:lnTo>
                <a:lnTo>
                  <a:pt x="296" y="36"/>
                </a:lnTo>
                <a:lnTo>
                  <a:pt x="316" y="42"/>
                </a:lnTo>
                <a:lnTo>
                  <a:pt x="334" y="52"/>
                </a:lnTo>
                <a:lnTo>
                  <a:pt x="350" y="62"/>
                </a:lnTo>
                <a:lnTo>
                  <a:pt x="366" y="74"/>
                </a:lnTo>
                <a:lnTo>
                  <a:pt x="382" y="86"/>
                </a:lnTo>
                <a:lnTo>
                  <a:pt x="394" y="102"/>
                </a:lnTo>
                <a:lnTo>
                  <a:pt x="406" y="118"/>
                </a:lnTo>
                <a:lnTo>
                  <a:pt x="416" y="134"/>
                </a:lnTo>
                <a:lnTo>
                  <a:pt x="426" y="152"/>
                </a:lnTo>
                <a:lnTo>
                  <a:pt x="432" y="172"/>
                </a:lnTo>
                <a:lnTo>
                  <a:pt x="438" y="192"/>
                </a:lnTo>
                <a:lnTo>
                  <a:pt x="440" y="212"/>
                </a:lnTo>
                <a:lnTo>
                  <a:pt x="442" y="234"/>
                </a:lnTo>
                <a:lnTo>
                  <a:pt x="442" y="234"/>
                </a:lnTo>
                <a:lnTo>
                  <a:pt x="440" y="254"/>
                </a:lnTo>
                <a:lnTo>
                  <a:pt x="438" y="276"/>
                </a:lnTo>
                <a:lnTo>
                  <a:pt x="432" y="294"/>
                </a:lnTo>
                <a:lnTo>
                  <a:pt x="426" y="314"/>
                </a:lnTo>
                <a:lnTo>
                  <a:pt x="416" y="332"/>
                </a:lnTo>
                <a:lnTo>
                  <a:pt x="406" y="350"/>
                </a:lnTo>
                <a:lnTo>
                  <a:pt x="394" y="366"/>
                </a:lnTo>
                <a:lnTo>
                  <a:pt x="382" y="380"/>
                </a:lnTo>
                <a:lnTo>
                  <a:pt x="366" y="394"/>
                </a:lnTo>
                <a:lnTo>
                  <a:pt x="350" y="406"/>
                </a:lnTo>
                <a:lnTo>
                  <a:pt x="334" y="416"/>
                </a:lnTo>
                <a:lnTo>
                  <a:pt x="316" y="424"/>
                </a:lnTo>
                <a:lnTo>
                  <a:pt x="296" y="432"/>
                </a:lnTo>
                <a:lnTo>
                  <a:pt x="276" y="436"/>
                </a:lnTo>
                <a:lnTo>
                  <a:pt x="256" y="440"/>
                </a:lnTo>
                <a:lnTo>
                  <a:pt x="234" y="440"/>
                </a:lnTo>
                <a:lnTo>
                  <a:pt x="234" y="440"/>
                </a:lnTo>
                <a:close/>
              </a:path>
            </a:pathLst>
          </a:custGeom>
          <a:solidFill>
            <a:srgbClr val="FBE122"/>
          </a:solidFill>
          <a:ln>
            <a:noFill/>
          </a:ln>
        </p:spPr>
        <p:txBody>
          <a:bodyPr vert="horz" wrap="square" lIns="91223" tIns="45611" rIns="91223" bIns="45611" numCol="1" anchor="t" anchorCtr="0" compatLnSpc="1">
            <a:prstTxWarp prst="textNoShape">
              <a:avLst/>
            </a:prstTxWarp>
          </a:bodyPr>
          <a:lstStyle/>
          <a:p>
            <a:endParaRPr lang="pt-BR" sz="1400"/>
          </a:p>
        </p:txBody>
      </p:sp>
      <p:sp>
        <p:nvSpPr>
          <p:cNvPr id="36" name="CaixaDeTexto 35"/>
          <p:cNvSpPr txBox="1"/>
          <p:nvPr/>
        </p:nvSpPr>
        <p:spPr>
          <a:xfrm>
            <a:off x="2589862" y="1845695"/>
            <a:ext cx="1187580" cy="399891"/>
          </a:xfrm>
          <a:prstGeom prst="rect">
            <a:avLst/>
          </a:prstGeom>
          <a:noFill/>
        </p:spPr>
        <p:txBody>
          <a:bodyPr wrap="square" lIns="91223" tIns="45611" rIns="91223" bIns="45611" rtlCol="0">
            <a:spAutoFit/>
          </a:bodyPr>
          <a:lstStyle/>
          <a:p>
            <a:r>
              <a:rPr lang="en-US" sz="1000" b="1" dirty="0">
                <a:solidFill>
                  <a:schemeClr val="tx2"/>
                </a:solidFill>
                <a:latin typeface="Gill Sans Std" pitchFamily="34" charset="0"/>
                <a:cs typeface="Arial" pitchFamily="34" charset="0"/>
                <a:sym typeface="Gill Sans Std Light" pitchFamily="34" charset="0"/>
              </a:rPr>
              <a:t>INOVAÇÃO</a:t>
            </a:r>
            <a:br>
              <a:rPr lang="en-US" sz="1000" b="1" dirty="0">
                <a:solidFill>
                  <a:schemeClr val="tx2"/>
                </a:solidFill>
                <a:latin typeface="Gill Sans Std" pitchFamily="34" charset="0"/>
                <a:cs typeface="Arial" pitchFamily="34" charset="0"/>
                <a:sym typeface="Gill Sans Std Light" pitchFamily="34" charset="0"/>
              </a:rPr>
            </a:br>
            <a:r>
              <a:rPr lang="en-US" sz="1000" b="1" dirty="0">
                <a:solidFill>
                  <a:schemeClr val="tx2"/>
                </a:solidFill>
                <a:latin typeface="Gill Sans Std" pitchFamily="34" charset="0"/>
                <a:cs typeface="Arial" pitchFamily="34" charset="0"/>
                <a:sym typeface="Gill Sans Std Light" pitchFamily="34" charset="0"/>
              </a:rPr>
              <a:t>DIGITAL</a:t>
            </a:r>
          </a:p>
        </p:txBody>
      </p:sp>
      <p:grpSp>
        <p:nvGrpSpPr>
          <p:cNvPr id="37" name="Grupo 36"/>
          <p:cNvGrpSpPr/>
          <p:nvPr/>
        </p:nvGrpSpPr>
        <p:grpSpPr>
          <a:xfrm>
            <a:off x="3982389" y="1810800"/>
            <a:ext cx="467039" cy="469900"/>
            <a:chOff x="5715000" y="1962150"/>
            <a:chExt cx="739775" cy="742950"/>
          </a:xfrm>
          <a:solidFill>
            <a:srgbClr val="FBE122"/>
          </a:solidFill>
        </p:grpSpPr>
        <p:sp>
          <p:nvSpPr>
            <p:cNvPr id="38" name="Freeform 72"/>
            <p:cNvSpPr>
              <a:spLocks noEditPoints="1"/>
            </p:cNvSpPr>
            <p:nvPr/>
          </p:nvSpPr>
          <p:spPr bwMode="auto">
            <a:xfrm>
              <a:off x="5715000" y="1962150"/>
              <a:ext cx="739775" cy="742950"/>
            </a:xfrm>
            <a:custGeom>
              <a:avLst/>
              <a:gdLst>
                <a:gd name="T0" fmla="*/ 210 w 466"/>
                <a:gd name="T1" fmla="*/ 0 h 468"/>
                <a:gd name="T2" fmla="*/ 142 w 466"/>
                <a:gd name="T3" fmla="*/ 18 h 468"/>
                <a:gd name="T4" fmla="*/ 84 w 466"/>
                <a:gd name="T5" fmla="*/ 54 h 468"/>
                <a:gd name="T6" fmla="*/ 40 w 466"/>
                <a:gd name="T7" fmla="*/ 102 h 468"/>
                <a:gd name="T8" fmla="*/ 10 w 466"/>
                <a:gd name="T9" fmla="*/ 164 h 468"/>
                <a:gd name="T10" fmla="*/ 0 w 466"/>
                <a:gd name="T11" fmla="*/ 234 h 468"/>
                <a:gd name="T12" fmla="*/ 4 w 466"/>
                <a:gd name="T13" fmla="*/ 280 h 468"/>
                <a:gd name="T14" fmla="*/ 28 w 466"/>
                <a:gd name="T15" fmla="*/ 344 h 468"/>
                <a:gd name="T16" fmla="*/ 68 w 466"/>
                <a:gd name="T17" fmla="*/ 398 h 468"/>
                <a:gd name="T18" fmla="*/ 122 w 466"/>
                <a:gd name="T19" fmla="*/ 438 h 468"/>
                <a:gd name="T20" fmla="*/ 186 w 466"/>
                <a:gd name="T21" fmla="*/ 462 h 468"/>
                <a:gd name="T22" fmla="*/ 234 w 466"/>
                <a:gd name="T23" fmla="*/ 468 h 468"/>
                <a:gd name="T24" fmla="*/ 302 w 466"/>
                <a:gd name="T25" fmla="*/ 456 h 468"/>
                <a:gd name="T26" fmla="*/ 364 w 466"/>
                <a:gd name="T27" fmla="*/ 428 h 468"/>
                <a:gd name="T28" fmla="*/ 414 w 466"/>
                <a:gd name="T29" fmla="*/ 382 h 468"/>
                <a:gd name="T30" fmla="*/ 448 w 466"/>
                <a:gd name="T31" fmla="*/ 324 h 468"/>
                <a:gd name="T32" fmla="*/ 466 w 466"/>
                <a:gd name="T33" fmla="*/ 258 h 468"/>
                <a:gd name="T34" fmla="*/ 466 w 466"/>
                <a:gd name="T35" fmla="*/ 210 h 468"/>
                <a:gd name="T36" fmla="*/ 448 w 466"/>
                <a:gd name="T37" fmla="*/ 142 h 468"/>
                <a:gd name="T38" fmla="*/ 414 w 466"/>
                <a:gd name="T39" fmla="*/ 84 h 468"/>
                <a:gd name="T40" fmla="*/ 364 w 466"/>
                <a:gd name="T41" fmla="*/ 40 h 468"/>
                <a:gd name="T42" fmla="*/ 302 w 466"/>
                <a:gd name="T43" fmla="*/ 10 h 468"/>
                <a:gd name="T44" fmla="*/ 234 w 466"/>
                <a:gd name="T45" fmla="*/ 0 h 468"/>
                <a:gd name="T46" fmla="*/ 234 w 466"/>
                <a:gd name="T47" fmla="*/ 440 h 468"/>
                <a:gd name="T48" fmla="*/ 172 w 466"/>
                <a:gd name="T49" fmla="*/ 432 h 468"/>
                <a:gd name="T50" fmla="*/ 118 w 466"/>
                <a:gd name="T51" fmla="*/ 406 h 468"/>
                <a:gd name="T52" fmla="*/ 74 w 466"/>
                <a:gd name="T53" fmla="*/ 366 h 468"/>
                <a:gd name="T54" fmla="*/ 42 w 466"/>
                <a:gd name="T55" fmla="*/ 314 h 468"/>
                <a:gd name="T56" fmla="*/ 26 w 466"/>
                <a:gd name="T57" fmla="*/ 254 h 468"/>
                <a:gd name="T58" fmla="*/ 26 w 466"/>
                <a:gd name="T59" fmla="*/ 212 h 468"/>
                <a:gd name="T60" fmla="*/ 42 w 466"/>
                <a:gd name="T61" fmla="*/ 152 h 468"/>
                <a:gd name="T62" fmla="*/ 74 w 466"/>
                <a:gd name="T63" fmla="*/ 102 h 468"/>
                <a:gd name="T64" fmla="*/ 118 w 466"/>
                <a:gd name="T65" fmla="*/ 62 h 468"/>
                <a:gd name="T66" fmla="*/ 172 w 466"/>
                <a:gd name="T67" fmla="*/ 36 h 468"/>
                <a:gd name="T68" fmla="*/ 234 w 466"/>
                <a:gd name="T69" fmla="*/ 26 h 468"/>
                <a:gd name="T70" fmla="*/ 274 w 466"/>
                <a:gd name="T71" fmla="*/ 30 h 468"/>
                <a:gd name="T72" fmla="*/ 332 w 466"/>
                <a:gd name="T73" fmla="*/ 52 h 468"/>
                <a:gd name="T74" fmla="*/ 380 w 466"/>
                <a:gd name="T75" fmla="*/ 86 h 468"/>
                <a:gd name="T76" fmla="*/ 416 w 466"/>
                <a:gd name="T77" fmla="*/ 134 h 468"/>
                <a:gd name="T78" fmla="*/ 436 w 466"/>
                <a:gd name="T79" fmla="*/ 192 h 468"/>
                <a:gd name="T80" fmla="*/ 440 w 466"/>
                <a:gd name="T81" fmla="*/ 234 h 468"/>
                <a:gd name="T82" fmla="*/ 432 w 466"/>
                <a:gd name="T83" fmla="*/ 294 h 468"/>
                <a:gd name="T84" fmla="*/ 406 w 466"/>
                <a:gd name="T85" fmla="*/ 350 h 468"/>
                <a:gd name="T86" fmla="*/ 364 w 466"/>
                <a:gd name="T87" fmla="*/ 394 h 468"/>
                <a:gd name="T88" fmla="*/ 314 w 466"/>
                <a:gd name="T89" fmla="*/ 424 h 468"/>
                <a:gd name="T90" fmla="*/ 254 w 466"/>
                <a:gd name="T91" fmla="*/ 44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66" h="468">
                  <a:moveTo>
                    <a:pt x="234" y="0"/>
                  </a:moveTo>
                  <a:lnTo>
                    <a:pt x="234" y="0"/>
                  </a:lnTo>
                  <a:lnTo>
                    <a:pt x="210" y="0"/>
                  </a:lnTo>
                  <a:lnTo>
                    <a:pt x="186" y="4"/>
                  </a:lnTo>
                  <a:lnTo>
                    <a:pt x="164" y="10"/>
                  </a:lnTo>
                  <a:lnTo>
                    <a:pt x="142" y="18"/>
                  </a:lnTo>
                  <a:lnTo>
                    <a:pt x="122" y="28"/>
                  </a:lnTo>
                  <a:lnTo>
                    <a:pt x="102" y="40"/>
                  </a:lnTo>
                  <a:lnTo>
                    <a:pt x="84" y="54"/>
                  </a:lnTo>
                  <a:lnTo>
                    <a:pt x="68" y="68"/>
                  </a:lnTo>
                  <a:lnTo>
                    <a:pt x="52" y="84"/>
                  </a:lnTo>
                  <a:lnTo>
                    <a:pt x="40" y="102"/>
                  </a:lnTo>
                  <a:lnTo>
                    <a:pt x="28" y="122"/>
                  </a:lnTo>
                  <a:lnTo>
                    <a:pt x="18" y="142"/>
                  </a:lnTo>
                  <a:lnTo>
                    <a:pt x="10" y="164"/>
                  </a:lnTo>
                  <a:lnTo>
                    <a:pt x="4" y="186"/>
                  </a:lnTo>
                  <a:lnTo>
                    <a:pt x="0" y="210"/>
                  </a:lnTo>
                  <a:lnTo>
                    <a:pt x="0" y="234"/>
                  </a:lnTo>
                  <a:lnTo>
                    <a:pt x="0" y="234"/>
                  </a:lnTo>
                  <a:lnTo>
                    <a:pt x="0" y="258"/>
                  </a:lnTo>
                  <a:lnTo>
                    <a:pt x="4" y="280"/>
                  </a:lnTo>
                  <a:lnTo>
                    <a:pt x="10" y="302"/>
                  </a:lnTo>
                  <a:lnTo>
                    <a:pt x="18" y="324"/>
                  </a:lnTo>
                  <a:lnTo>
                    <a:pt x="28" y="344"/>
                  </a:lnTo>
                  <a:lnTo>
                    <a:pt x="40" y="364"/>
                  </a:lnTo>
                  <a:lnTo>
                    <a:pt x="52" y="382"/>
                  </a:lnTo>
                  <a:lnTo>
                    <a:pt x="68" y="398"/>
                  </a:lnTo>
                  <a:lnTo>
                    <a:pt x="84" y="414"/>
                  </a:lnTo>
                  <a:lnTo>
                    <a:pt x="102" y="428"/>
                  </a:lnTo>
                  <a:lnTo>
                    <a:pt x="122" y="438"/>
                  </a:lnTo>
                  <a:lnTo>
                    <a:pt x="142" y="448"/>
                  </a:lnTo>
                  <a:lnTo>
                    <a:pt x="164" y="456"/>
                  </a:lnTo>
                  <a:lnTo>
                    <a:pt x="186" y="462"/>
                  </a:lnTo>
                  <a:lnTo>
                    <a:pt x="210" y="466"/>
                  </a:lnTo>
                  <a:lnTo>
                    <a:pt x="234" y="468"/>
                  </a:lnTo>
                  <a:lnTo>
                    <a:pt x="234" y="468"/>
                  </a:lnTo>
                  <a:lnTo>
                    <a:pt x="256" y="466"/>
                  </a:lnTo>
                  <a:lnTo>
                    <a:pt x="280" y="462"/>
                  </a:lnTo>
                  <a:lnTo>
                    <a:pt x="302" y="456"/>
                  </a:lnTo>
                  <a:lnTo>
                    <a:pt x="324" y="448"/>
                  </a:lnTo>
                  <a:lnTo>
                    <a:pt x="344" y="438"/>
                  </a:lnTo>
                  <a:lnTo>
                    <a:pt x="364" y="428"/>
                  </a:lnTo>
                  <a:lnTo>
                    <a:pt x="382" y="414"/>
                  </a:lnTo>
                  <a:lnTo>
                    <a:pt x="398" y="398"/>
                  </a:lnTo>
                  <a:lnTo>
                    <a:pt x="414" y="382"/>
                  </a:lnTo>
                  <a:lnTo>
                    <a:pt x="426" y="364"/>
                  </a:lnTo>
                  <a:lnTo>
                    <a:pt x="438" y="344"/>
                  </a:lnTo>
                  <a:lnTo>
                    <a:pt x="448" y="324"/>
                  </a:lnTo>
                  <a:lnTo>
                    <a:pt x="456" y="302"/>
                  </a:lnTo>
                  <a:lnTo>
                    <a:pt x="462" y="280"/>
                  </a:lnTo>
                  <a:lnTo>
                    <a:pt x="466" y="258"/>
                  </a:lnTo>
                  <a:lnTo>
                    <a:pt x="466" y="234"/>
                  </a:lnTo>
                  <a:lnTo>
                    <a:pt x="466" y="234"/>
                  </a:lnTo>
                  <a:lnTo>
                    <a:pt x="466" y="210"/>
                  </a:lnTo>
                  <a:lnTo>
                    <a:pt x="462" y="186"/>
                  </a:lnTo>
                  <a:lnTo>
                    <a:pt x="456" y="164"/>
                  </a:lnTo>
                  <a:lnTo>
                    <a:pt x="448" y="142"/>
                  </a:lnTo>
                  <a:lnTo>
                    <a:pt x="438" y="122"/>
                  </a:lnTo>
                  <a:lnTo>
                    <a:pt x="426" y="102"/>
                  </a:lnTo>
                  <a:lnTo>
                    <a:pt x="414" y="84"/>
                  </a:lnTo>
                  <a:lnTo>
                    <a:pt x="398" y="68"/>
                  </a:lnTo>
                  <a:lnTo>
                    <a:pt x="382" y="54"/>
                  </a:lnTo>
                  <a:lnTo>
                    <a:pt x="364" y="40"/>
                  </a:lnTo>
                  <a:lnTo>
                    <a:pt x="344" y="28"/>
                  </a:lnTo>
                  <a:lnTo>
                    <a:pt x="324" y="18"/>
                  </a:lnTo>
                  <a:lnTo>
                    <a:pt x="302" y="10"/>
                  </a:lnTo>
                  <a:lnTo>
                    <a:pt x="280" y="4"/>
                  </a:lnTo>
                  <a:lnTo>
                    <a:pt x="256" y="0"/>
                  </a:lnTo>
                  <a:lnTo>
                    <a:pt x="234" y="0"/>
                  </a:lnTo>
                  <a:lnTo>
                    <a:pt x="234" y="0"/>
                  </a:lnTo>
                  <a:close/>
                  <a:moveTo>
                    <a:pt x="234" y="440"/>
                  </a:moveTo>
                  <a:lnTo>
                    <a:pt x="234" y="440"/>
                  </a:lnTo>
                  <a:lnTo>
                    <a:pt x="212" y="440"/>
                  </a:lnTo>
                  <a:lnTo>
                    <a:pt x="192" y="436"/>
                  </a:lnTo>
                  <a:lnTo>
                    <a:pt x="172" y="432"/>
                  </a:lnTo>
                  <a:lnTo>
                    <a:pt x="152" y="424"/>
                  </a:lnTo>
                  <a:lnTo>
                    <a:pt x="134" y="416"/>
                  </a:lnTo>
                  <a:lnTo>
                    <a:pt x="118" y="406"/>
                  </a:lnTo>
                  <a:lnTo>
                    <a:pt x="102" y="394"/>
                  </a:lnTo>
                  <a:lnTo>
                    <a:pt x="86" y="380"/>
                  </a:lnTo>
                  <a:lnTo>
                    <a:pt x="74" y="366"/>
                  </a:lnTo>
                  <a:lnTo>
                    <a:pt x="62" y="350"/>
                  </a:lnTo>
                  <a:lnTo>
                    <a:pt x="50" y="332"/>
                  </a:lnTo>
                  <a:lnTo>
                    <a:pt x="42" y="314"/>
                  </a:lnTo>
                  <a:lnTo>
                    <a:pt x="36" y="294"/>
                  </a:lnTo>
                  <a:lnTo>
                    <a:pt x="30" y="276"/>
                  </a:lnTo>
                  <a:lnTo>
                    <a:pt x="26" y="254"/>
                  </a:lnTo>
                  <a:lnTo>
                    <a:pt x="26" y="234"/>
                  </a:lnTo>
                  <a:lnTo>
                    <a:pt x="26" y="234"/>
                  </a:lnTo>
                  <a:lnTo>
                    <a:pt x="26" y="212"/>
                  </a:lnTo>
                  <a:lnTo>
                    <a:pt x="30" y="192"/>
                  </a:lnTo>
                  <a:lnTo>
                    <a:pt x="36" y="172"/>
                  </a:lnTo>
                  <a:lnTo>
                    <a:pt x="42" y="152"/>
                  </a:lnTo>
                  <a:lnTo>
                    <a:pt x="50" y="134"/>
                  </a:lnTo>
                  <a:lnTo>
                    <a:pt x="62" y="118"/>
                  </a:lnTo>
                  <a:lnTo>
                    <a:pt x="74" y="102"/>
                  </a:lnTo>
                  <a:lnTo>
                    <a:pt x="86" y="86"/>
                  </a:lnTo>
                  <a:lnTo>
                    <a:pt x="102" y="74"/>
                  </a:lnTo>
                  <a:lnTo>
                    <a:pt x="118" y="62"/>
                  </a:lnTo>
                  <a:lnTo>
                    <a:pt x="134" y="52"/>
                  </a:lnTo>
                  <a:lnTo>
                    <a:pt x="152" y="42"/>
                  </a:lnTo>
                  <a:lnTo>
                    <a:pt x="172" y="36"/>
                  </a:lnTo>
                  <a:lnTo>
                    <a:pt x="192" y="30"/>
                  </a:lnTo>
                  <a:lnTo>
                    <a:pt x="212" y="28"/>
                  </a:lnTo>
                  <a:lnTo>
                    <a:pt x="234" y="26"/>
                  </a:lnTo>
                  <a:lnTo>
                    <a:pt x="234" y="26"/>
                  </a:lnTo>
                  <a:lnTo>
                    <a:pt x="254" y="28"/>
                  </a:lnTo>
                  <a:lnTo>
                    <a:pt x="274" y="30"/>
                  </a:lnTo>
                  <a:lnTo>
                    <a:pt x="294" y="36"/>
                  </a:lnTo>
                  <a:lnTo>
                    <a:pt x="314" y="42"/>
                  </a:lnTo>
                  <a:lnTo>
                    <a:pt x="332" y="52"/>
                  </a:lnTo>
                  <a:lnTo>
                    <a:pt x="350" y="62"/>
                  </a:lnTo>
                  <a:lnTo>
                    <a:pt x="364" y="74"/>
                  </a:lnTo>
                  <a:lnTo>
                    <a:pt x="380" y="86"/>
                  </a:lnTo>
                  <a:lnTo>
                    <a:pt x="394" y="102"/>
                  </a:lnTo>
                  <a:lnTo>
                    <a:pt x="406" y="118"/>
                  </a:lnTo>
                  <a:lnTo>
                    <a:pt x="416" y="134"/>
                  </a:lnTo>
                  <a:lnTo>
                    <a:pt x="424" y="152"/>
                  </a:lnTo>
                  <a:lnTo>
                    <a:pt x="432" y="172"/>
                  </a:lnTo>
                  <a:lnTo>
                    <a:pt x="436" y="192"/>
                  </a:lnTo>
                  <a:lnTo>
                    <a:pt x="440" y="212"/>
                  </a:lnTo>
                  <a:lnTo>
                    <a:pt x="440" y="234"/>
                  </a:lnTo>
                  <a:lnTo>
                    <a:pt x="440" y="234"/>
                  </a:lnTo>
                  <a:lnTo>
                    <a:pt x="440" y="254"/>
                  </a:lnTo>
                  <a:lnTo>
                    <a:pt x="436" y="276"/>
                  </a:lnTo>
                  <a:lnTo>
                    <a:pt x="432" y="294"/>
                  </a:lnTo>
                  <a:lnTo>
                    <a:pt x="424" y="314"/>
                  </a:lnTo>
                  <a:lnTo>
                    <a:pt x="416" y="332"/>
                  </a:lnTo>
                  <a:lnTo>
                    <a:pt x="406" y="350"/>
                  </a:lnTo>
                  <a:lnTo>
                    <a:pt x="394" y="366"/>
                  </a:lnTo>
                  <a:lnTo>
                    <a:pt x="380" y="380"/>
                  </a:lnTo>
                  <a:lnTo>
                    <a:pt x="364" y="394"/>
                  </a:lnTo>
                  <a:lnTo>
                    <a:pt x="350" y="406"/>
                  </a:lnTo>
                  <a:lnTo>
                    <a:pt x="332" y="416"/>
                  </a:lnTo>
                  <a:lnTo>
                    <a:pt x="314" y="424"/>
                  </a:lnTo>
                  <a:lnTo>
                    <a:pt x="294" y="432"/>
                  </a:lnTo>
                  <a:lnTo>
                    <a:pt x="274" y="436"/>
                  </a:lnTo>
                  <a:lnTo>
                    <a:pt x="254" y="440"/>
                  </a:lnTo>
                  <a:lnTo>
                    <a:pt x="234" y="440"/>
                  </a:lnTo>
                  <a:lnTo>
                    <a:pt x="234" y="4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pt-BR" sz="1400"/>
            </a:p>
          </p:txBody>
        </p:sp>
        <p:sp>
          <p:nvSpPr>
            <p:cNvPr id="39" name="Freeform 73"/>
            <p:cNvSpPr>
              <a:spLocks/>
            </p:cNvSpPr>
            <p:nvPr/>
          </p:nvSpPr>
          <p:spPr bwMode="auto">
            <a:xfrm>
              <a:off x="6080125" y="2324100"/>
              <a:ext cx="101600" cy="107950"/>
            </a:xfrm>
            <a:custGeom>
              <a:avLst/>
              <a:gdLst>
                <a:gd name="T0" fmla="*/ 18 w 64"/>
                <a:gd name="T1" fmla="*/ 66 h 68"/>
                <a:gd name="T2" fmla="*/ 18 w 64"/>
                <a:gd name="T3" fmla="*/ 66 h 68"/>
                <a:gd name="T4" fmla="*/ 20 w 64"/>
                <a:gd name="T5" fmla="*/ 68 h 68"/>
                <a:gd name="T6" fmla="*/ 24 w 64"/>
                <a:gd name="T7" fmla="*/ 68 h 68"/>
                <a:gd name="T8" fmla="*/ 24 w 64"/>
                <a:gd name="T9" fmla="*/ 68 h 68"/>
                <a:gd name="T10" fmla="*/ 24 w 64"/>
                <a:gd name="T11" fmla="*/ 68 h 68"/>
                <a:gd name="T12" fmla="*/ 24 w 64"/>
                <a:gd name="T13" fmla="*/ 68 h 68"/>
                <a:gd name="T14" fmla="*/ 26 w 64"/>
                <a:gd name="T15" fmla="*/ 68 h 68"/>
                <a:gd name="T16" fmla="*/ 30 w 64"/>
                <a:gd name="T17" fmla="*/ 66 h 68"/>
                <a:gd name="T18" fmla="*/ 64 w 64"/>
                <a:gd name="T19" fmla="*/ 10 h 68"/>
                <a:gd name="T20" fmla="*/ 64 w 64"/>
                <a:gd name="T21" fmla="*/ 10 h 68"/>
                <a:gd name="T22" fmla="*/ 64 w 64"/>
                <a:gd name="T23" fmla="*/ 6 h 68"/>
                <a:gd name="T24" fmla="*/ 62 w 64"/>
                <a:gd name="T25" fmla="*/ 2 h 68"/>
                <a:gd name="T26" fmla="*/ 62 w 64"/>
                <a:gd name="T27" fmla="*/ 2 h 68"/>
                <a:gd name="T28" fmla="*/ 56 w 64"/>
                <a:gd name="T29" fmla="*/ 0 h 68"/>
                <a:gd name="T30" fmla="*/ 52 w 64"/>
                <a:gd name="T31" fmla="*/ 4 h 68"/>
                <a:gd name="T32" fmla="*/ 22 w 64"/>
                <a:gd name="T33" fmla="*/ 50 h 68"/>
                <a:gd name="T34" fmla="*/ 12 w 64"/>
                <a:gd name="T35" fmla="*/ 34 h 68"/>
                <a:gd name="T36" fmla="*/ 12 w 64"/>
                <a:gd name="T37" fmla="*/ 34 h 68"/>
                <a:gd name="T38" fmla="*/ 6 w 64"/>
                <a:gd name="T39" fmla="*/ 32 h 68"/>
                <a:gd name="T40" fmla="*/ 2 w 64"/>
                <a:gd name="T41" fmla="*/ 34 h 68"/>
                <a:gd name="T42" fmla="*/ 2 w 64"/>
                <a:gd name="T43" fmla="*/ 34 h 68"/>
                <a:gd name="T44" fmla="*/ 0 w 64"/>
                <a:gd name="T45" fmla="*/ 38 h 68"/>
                <a:gd name="T46" fmla="*/ 0 w 64"/>
                <a:gd name="T47" fmla="*/ 42 h 68"/>
                <a:gd name="T48" fmla="*/ 18 w 64"/>
                <a:gd name="T49" fmla="*/ 6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4" h="68">
                  <a:moveTo>
                    <a:pt x="18" y="66"/>
                  </a:moveTo>
                  <a:lnTo>
                    <a:pt x="18" y="66"/>
                  </a:lnTo>
                  <a:lnTo>
                    <a:pt x="20" y="68"/>
                  </a:lnTo>
                  <a:lnTo>
                    <a:pt x="24" y="68"/>
                  </a:lnTo>
                  <a:lnTo>
                    <a:pt x="24" y="68"/>
                  </a:lnTo>
                  <a:lnTo>
                    <a:pt x="24" y="68"/>
                  </a:lnTo>
                  <a:lnTo>
                    <a:pt x="24" y="68"/>
                  </a:lnTo>
                  <a:lnTo>
                    <a:pt x="26" y="68"/>
                  </a:lnTo>
                  <a:lnTo>
                    <a:pt x="30" y="66"/>
                  </a:lnTo>
                  <a:lnTo>
                    <a:pt x="64" y="10"/>
                  </a:lnTo>
                  <a:lnTo>
                    <a:pt x="64" y="10"/>
                  </a:lnTo>
                  <a:lnTo>
                    <a:pt x="64" y="6"/>
                  </a:lnTo>
                  <a:lnTo>
                    <a:pt x="62" y="2"/>
                  </a:lnTo>
                  <a:lnTo>
                    <a:pt x="62" y="2"/>
                  </a:lnTo>
                  <a:lnTo>
                    <a:pt x="56" y="0"/>
                  </a:lnTo>
                  <a:lnTo>
                    <a:pt x="52" y="4"/>
                  </a:lnTo>
                  <a:lnTo>
                    <a:pt x="22" y="50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6" y="32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18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pt-BR" sz="1400"/>
            </a:p>
          </p:txBody>
        </p:sp>
        <p:sp>
          <p:nvSpPr>
            <p:cNvPr id="40" name="Freeform 74"/>
            <p:cNvSpPr>
              <a:spLocks noEditPoints="1"/>
            </p:cNvSpPr>
            <p:nvPr/>
          </p:nvSpPr>
          <p:spPr bwMode="auto">
            <a:xfrm>
              <a:off x="5927725" y="2139950"/>
              <a:ext cx="314325" cy="384175"/>
            </a:xfrm>
            <a:custGeom>
              <a:avLst/>
              <a:gdLst>
                <a:gd name="T0" fmla="*/ 140 w 198"/>
                <a:gd name="T1" fmla="*/ 60 h 242"/>
                <a:gd name="T2" fmla="*/ 140 w 198"/>
                <a:gd name="T3" fmla="*/ 12 h 242"/>
                <a:gd name="T4" fmla="*/ 136 w 198"/>
                <a:gd name="T5" fmla="*/ 4 h 242"/>
                <a:gd name="T6" fmla="*/ 132 w 198"/>
                <a:gd name="T7" fmla="*/ 2 h 242"/>
                <a:gd name="T8" fmla="*/ 10 w 198"/>
                <a:gd name="T9" fmla="*/ 0 h 242"/>
                <a:gd name="T10" fmla="*/ 6 w 198"/>
                <a:gd name="T11" fmla="*/ 2 h 242"/>
                <a:gd name="T12" fmla="*/ 2 w 198"/>
                <a:gd name="T13" fmla="*/ 6 h 242"/>
                <a:gd name="T14" fmla="*/ 0 w 198"/>
                <a:gd name="T15" fmla="*/ 12 h 242"/>
                <a:gd name="T16" fmla="*/ 0 w 198"/>
                <a:gd name="T17" fmla="*/ 172 h 242"/>
                <a:gd name="T18" fmla="*/ 2 w 198"/>
                <a:gd name="T19" fmla="*/ 180 h 242"/>
                <a:gd name="T20" fmla="*/ 6 w 198"/>
                <a:gd name="T21" fmla="*/ 182 h 242"/>
                <a:gd name="T22" fmla="*/ 58 w 198"/>
                <a:gd name="T23" fmla="*/ 182 h 242"/>
                <a:gd name="T24" fmla="*/ 58 w 198"/>
                <a:gd name="T25" fmla="*/ 230 h 242"/>
                <a:gd name="T26" fmla="*/ 62 w 198"/>
                <a:gd name="T27" fmla="*/ 238 h 242"/>
                <a:gd name="T28" fmla="*/ 66 w 198"/>
                <a:gd name="T29" fmla="*/ 240 h 242"/>
                <a:gd name="T30" fmla="*/ 186 w 198"/>
                <a:gd name="T31" fmla="*/ 242 h 242"/>
                <a:gd name="T32" fmla="*/ 192 w 198"/>
                <a:gd name="T33" fmla="*/ 240 h 242"/>
                <a:gd name="T34" fmla="*/ 196 w 198"/>
                <a:gd name="T35" fmla="*/ 238 h 242"/>
                <a:gd name="T36" fmla="*/ 198 w 198"/>
                <a:gd name="T37" fmla="*/ 230 h 242"/>
                <a:gd name="T38" fmla="*/ 198 w 198"/>
                <a:gd name="T39" fmla="*/ 72 h 242"/>
                <a:gd name="T40" fmla="*/ 196 w 198"/>
                <a:gd name="T41" fmla="*/ 64 h 242"/>
                <a:gd name="T42" fmla="*/ 192 w 198"/>
                <a:gd name="T43" fmla="*/ 60 h 242"/>
                <a:gd name="T44" fmla="*/ 186 w 198"/>
                <a:gd name="T45" fmla="*/ 60 h 242"/>
                <a:gd name="T46" fmla="*/ 68 w 198"/>
                <a:gd name="T47" fmla="*/ 60 h 242"/>
                <a:gd name="T48" fmla="*/ 62 w 198"/>
                <a:gd name="T49" fmla="*/ 64 h 242"/>
                <a:gd name="T50" fmla="*/ 58 w 198"/>
                <a:gd name="T51" fmla="*/ 68 h 242"/>
                <a:gd name="T52" fmla="*/ 58 w 198"/>
                <a:gd name="T53" fmla="*/ 160 h 242"/>
                <a:gd name="T54" fmla="*/ 22 w 198"/>
                <a:gd name="T55" fmla="*/ 24 h 242"/>
                <a:gd name="T56" fmla="*/ 116 w 198"/>
                <a:gd name="T57" fmla="*/ 60 h 242"/>
                <a:gd name="T58" fmla="*/ 176 w 198"/>
                <a:gd name="T59" fmla="*/ 218 h 242"/>
                <a:gd name="T60" fmla="*/ 82 w 198"/>
                <a:gd name="T61" fmla="*/ 84 h 242"/>
                <a:gd name="T62" fmla="*/ 176 w 198"/>
                <a:gd name="T63" fmla="*/ 218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8" h="242">
                  <a:moveTo>
                    <a:pt x="186" y="60"/>
                  </a:moveTo>
                  <a:lnTo>
                    <a:pt x="140" y="60"/>
                  </a:lnTo>
                  <a:lnTo>
                    <a:pt x="140" y="12"/>
                  </a:lnTo>
                  <a:lnTo>
                    <a:pt x="140" y="12"/>
                  </a:lnTo>
                  <a:lnTo>
                    <a:pt x="140" y="8"/>
                  </a:lnTo>
                  <a:lnTo>
                    <a:pt x="136" y="4"/>
                  </a:lnTo>
                  <a:lnTo>
                    <a:pt x="136" y="4"/>
                  </a:lnTo>
                  <a:lnTo>
                    <a:pt x="132" y="2"/>
                  </a:lnTo>
                  <a:lnTo>
                    <a:pt x="128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6" y="2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2"/>
                  </a:lnTo>
                  <a:lnTo>
                    <a:pt x="0" y="172"/>
                  </a:lnTo>
                  <a:lnTo>
                    <a:pt x="0" y="172"/>
                  </a:lnTo>
                  <a:lnTo>
                    <a:pt x="0" y="176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6" y="182"/>
                  </a:lnTo>
                  <a:lnTo>
                    <a:pt x="12" y="182"/>
                  </a:lnTo>
                  <a:lnTo>
                    <a:pt x="58" y="182"/>
                  </a:lnTo>
                  <a:lnTo>
                    <a:pt x="58" y="230"/>
                  </a:lnTo>
                  <a:lnTo>
                    <a:pt x="58" y="230"/>
                  </a:lnTo>
                  <a:lnTo>
                    <a:pt x="58" y="234"/>
                  </a:lnTo>
                  <a:lnTo>
                    <a:pt x="62" y="238"/>
                  </a:lnTo>
                  <a:lnTo>
                    <a:pt x="62" y="238"/>
                  </a:lnTo>
                  <a:lnTo>
                    <a:pt x="66" y="240"/>
                  </a:lnTo>
                  <a:lnTo>
                    <a:pt x="70" y="242"/>
                  </a:lnTo>
                  <a:lnTo>
                    <a:pt x="186" y="242"/>
                  </a:lnTo>
                  <a:lnTo>
                    <a:pt x="186" y="242"/>
                  </a:lnTo>
                  <a:lnTo>
                    <a:pt x="192" y="240"/>
                  </a:lnTo>
                  <a:lnTo>
                    <a:pt x="196" y="238"/>
                  </a:lnTo>
                  <a:lnTo>
                    <a:pt x="196" y="238"/>
                  </a:lnTo>
                  <a:lnTo>
                    <a:pt x="198" y="234"/>
                  </a:lnTo>
                  <a:lnTo>
                    <a:pt x="198" y="230"/>
                  </a:lnTo>
                  <a:lnTo>
                    <a:pt x="198" y="72"/>
                  </a:lnTo>
                  <a:lnTo>
                    <a:pt x="198" y="72"/>
                  </a:lnTo>
                  <a:lnTo>
                    <a:pt x="198" y="68"/>
                  </a:lnTo>
                  <a:lnTo>
                    <a:pt x="196" y="64"/>
                  </a:lnTo>
                  <a:lnTo>
                    <a:pt x="196" y="64"/>
                  </a:lnTo>
                  <a:lnTo>
                    <a:pt x="192" y="60"/>
                  </a:lnTo>
                  <a:lnTo>
                    <a:pt x="186" y="60"/>
                  </a:lnTo>
                  <a:lnTo>
                    <a:pt x="186" y="60"/>
                  </a:lnTo>
                  <a:close/>
                  <a:moveTo>
                    <a:pt x="68" y="60"/>
                  </a:moveTo>
                  <a:lnTo>
                    <a:pt x="68" y="60"/>
                  </a:lnTo>
                  <a:lnTo>
                    <a:pt x="64" y="62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58" y="68"/>
                  </a:lnTo>
                  <a:lnTo>
                    <a:pt x="58" y="72"/>
                  </a:lnTo>
                  <a:lnTo>
                    <a:pt x="58" y="160"/>
                  </a:lnTo>
                  <a:lnTo>
                    <a:pt x="22" y="160"/>
                  </a:lnTo>
                  <a:lnTo>
                    <a:pt x="22" y="24"/>
                  </a:lnTo>
                  <a:lnTo>
                    <a:pt x="116" y="24"/>
                  </a:lnTo>
                  <a:lnTo>
                    <a:pt x="116" y="60"/>
                  </a:lnTo>
                  <a:lnTo>
                    <a:pt x="68" y="60"/>
                  </a:lnTo>
                  <a:close/>
                  <a:moveTo>
                    <a:pt x="176" y="218"/>
                  </a:moveTo>
                  <a:lnTo>
                    <a:pt x="82" y="218"/>
                  </a:lnTo>
                  <a:lnTo>
                    <a:pt x="82" y="84"/>
                  </a:lnTo>
                  <a:lnTo>
                    <a:pt x="176" y="84"/>
                  </a:lnTo>
                  <a:lnTo>
                    <a:pt x="176" y="2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pt-BR" sz="1400"/>
            </a:p>
          </p:txBody>
        </p:sp>
      </p:grpSp>
      <p:sp>
        <p:nvSpPr>
          <p:cNvPr id="41" name="CaixaDeTexto 40"/>
          <p:cNvSpPr txBox="1"/>
          <p:nvPr/>
        </p:nvSpPr>
        <p:spPr>
          <a:xfrm>
            <a:off x="4449427" y="1838003"/>
            <a:ext cx="1210154" cy="399891"/>
          </a:xfrm>
          <a:prstGeom prst="rect">
            <a:avLst/>
          </a:prstGeom>
          <a:noFill/>
        </p:spPr>
        <p:txBody>
          <a:bodyPr wrap="none" lIns="91223" tIns="45611" rIns="91223" bIns="45611" rtlCol="0">
            <a:spAutoFit/>
          </a:bodyPr>
          <a:lstStyle/>
          <a:p>
            <a:r>
              <a:rPr lang="en-US" sz="1000" b="1" dirty="0">
                <a:solidFill>
                  <a:schemeClr val="tx2"/>
                </a:solidFill>
                <a:latin typeface="Gill Sans Std" pitchFamily="34" charset="0"/>
                <a:cs typeface="Arial" pitchFamily="34" charset="0"/>
                <a:sym typeface="Gill Sans Std Light" pitchFamily="34" charset="0"/>
              </a:rPr>
              <a:t>EFICIÊNCIA </a:t>
            </a:r>
            <a:br>
              <a:rPr lang="en-US" sz="1000" b="1" dirty="0">
                <a:solidFill>
                  <a:schemeClr val="tx2"/>
                </a:solidFill>
                <a:latin typeface="Gill Sans Std" pitchFamily="34" charset="0"/>
                <a:cs typeface="Arial" pitchFamily="34" charset="0"/>
                <a:sym typeface="Gill Sans Std Light" pitchFamily="34" charset="0"/>
              </a:rPr>
            </a:br>
            <a:r>
              <a:rPr lang="en-US" sz="1000" b="1" dirty="0">
                <a:solidFill>
                  <a:schemeClr val="tx2"/>
                </a:solidFill>
                <a:latin typeface="Gill Sans Std" pitchFamily="34" charset="0"/>
                <a:cs typeface="Arial" pitchFamily="34" charset="0"/>
                <a:sym typeface="Gill Sans Std Light" pitchFamily="34" charset="0"/>
              </a:rPr>
              <a:t>DE PROCESSOS</a:t>
            </a:r>
          </a:p>
        </p:txBody>
      </p:sp>
      <p:grpSp>
        <p:nvGrpSpPr>
          <p:cNvPr id="42" name="Grupo 41"/>
          <p:cNvGrpSpPr/>
          <p:nvPr/>
        </p:nvGrpSpPr>
        <p:grpSpPr>
          <a:xfrm>
            <a:off x="7698812" y="1810800"/>
            <a:ext cx="469043" cy="469900"/>
            <a:chOff x="7146925" y="1962150"/>
            <a:chExt cx="742950" cy="742950"/>
          </a:xfrm>
          <a:solidFill>
            <a:srgbClr val="FBE122"/>
          </a:solidFill>
        </p:grpSpPr>
        <p:sp>
          <p:nvSpPr>
            <p:cNvPr id="43" name="Freeform 107"/>
            <p:cNvSpPr>
              <a:spLocks noEditPoints="1"/>
            </p:cNvSpPr>
            <p:nvPr/>
          </p:nvSpPr>
          <p:spPr bwMode="auto">
            <a:xfrm>
              <a:off x="7146925" y="1962150"/>
              <a:ext cx="742950" cy="742950"/>
            </a:xfrm>
            <a:custGeom>
              <a:avLst/>
              <a:gdLst>
                <a:gd name="T0" fmla="*/ 210 w 468"/>
                <a:gd name="T1" fmla="*/ 0 h 468"/>
                <a:gd name="T2" fmla="*/ 142 w 468"/>
                <a:gd name="T3" fmla="*/ 18 h 468"/>
                <a:gd name="T4" fmla="*/ 84 w 468"/>
                <a:gd name="T5" fmla="*/ 54 h 468"/>
                <a:gd name="T6" fmla="*/ 40 w 468"/>
                <a:gd name="T7" fmla="*/ 102 h 468"/>
                <a:gd name="T8" fmla="*/ 10 w 468"/>
                <a:gd name="T9" fmla="*/ 164 h 468"/>
                <a:gd name="T10" fmla="*/ 0 w 468"/>
                <a:gd name="T11" fmla="*/ 234 h 468"/>
                <a:gd name="T12" fmla="*/ 4 w 468"/>
                <a:gd name="T13" fmla="*/ 280 h 468"/>
                <a:gd name="T14" fmla="*/ 28 w 468"/>
                <a:gd name="T15" fmla="*/ 344 h 468"/>
                <a:gd name="T16" fmla="*/ 68 w 468"/>
                <a:gd name="T17" fmla="*/ 398 h 468"/>
                <a:gd name="T18" fmla="*/ 122 w 468"/>
                <a:gd name="T19" fmla="*/ 438 h 468"/>
                <a:gd name="T20" fmla="*/ 186 w 468"/>
                <a:gd name="T21" fmla="*/ 462 h 468"/>
                <a:gd name="T22" fmla="*/ 234 w 468"/>
                <a:gd name="T23" fmla="*/ 468 h 468"/>
                <a:gd name="T24" fmla="*/ 302 w 468"/>
                <a:gd name="T25" fmla="*/ 456 h 468"/>
                <a:gd name="T26" fmla="*/ 364 w 468"/>
                <a:gd name="T27" fmla="*/ 428 h 468"/>
                <a:gd name="T28" fmla="*/ 414 w 468"/>
                <a:gd name="T29" fmla="*/ 382 h 468"/>
                <a:gd name="T30" fmla="*/ 448 w 468"/>
                <a:gd name="T31" fmla="*/ 324 h 468"/>
                <a:gd name="T32" fmla="*/ 466 w 468"/>
                <a:gd name="T33" fmla="*/ 258 h 468"/>
                <a:gd name="T34" fmla="*/ 466 w 468"/>
                <a:gd name="T35" fmla="*/ 210 h 468"/>
                <a:gd name="T36" fmla="*/ 448 w 468"/>
                <a:gd name="T37" fmla="*/ 142 h 468"/>
                <a:gd name="T38" fmla="*/ 414 w 468"/>
                <a:gd name="T39" fmla="*/ 84 h 468"/>
                <a:gd name="T40" fmla="*/ 364 w 468"/>
                <a:gd name="T41" fmla="*/ 40 h 468"/>
                <a:gd name="T42" fmla="*/ 302 w 468"/>
                <a:gd name="T43" fmla="*/ 10 h 468"/>
                <a:gd name="T44" fmla="*/ 234 w 468"/>
                <a:gd name="T45" fmla="*/ 0 h 468"/>
                <a:gd name="T46" fmla="*/ 234 w 468"/>
                <a:gd name="T47" fmla="*/ 440 h 468"/>
                <a:gd name="T48" fmla="*/ 172 w 468"/>
                <a:gd name="T49" fmla="*/ 432 h 468"/>
                <a:gd name="T50" fmla="*/ 118 w 468"/>
                <a:gd name="T51" fmla="*/ 406 h 468"/>
                <a:gd name="T52" fmla="*/ 74 w 468"/>
                <a:gd name="T53" fmla="*/ 366 h 468"/>
                <a:gd name="T54" fmla="*/ 42 w 468"/>
                <a:gd name="T55" fmla="*/ 314 h 468"/>
                <a:gd name="T56" fmla="*/ 28 w 468"/>
                <a:gd name="T57" fmla="*/ 254 h 468"/>
                <a:gd name="T58" fmla="*/ 28 w 468"/>
                <a:gd name="T59" fmla="*/ 212 h 468"/>
                <a:gd name="T60" fmla="*/ 42 w 468"/>
                <a:gd name="T61" fmla="*/ 152 h 468"/>
                <a:gd name="T62" fmla="*/ 74 w 468"/>
                <a:gd name="T63" fmla="*/ 102 h 468"/>
                <a:gd name="T64" fmla="*/ 118 w 468"/>
                <a:gd name="T65" fmla="*/ 62 h 468"/>
                <a:gd name="T66" fmla="*/ 172 w 468"/>
                <a:gd name="T67" fmla="*/ 36 h 468"/>
                <a:gd name="T68" fmla="*/ 234 w 468"/>
                <a:gd name="T69" fmla="*/ 26 h 468"/>
                <a:gd name="T70" fmla="*/ 276 w 468"/>
                <a:gd name="T71" fmla="*/ 30 h 468"/>
                <a:gd name="T72" fmla="*/ 332 w 468"/>
                <a:gd name="T73" fmla="*/ 52 h 468"/>
                <a:gd name="T74" fmla="*/ 380 w 468"/>
                <a:gd name="T75" fmla="*/ 86 h 468"/>
                <a:gd name="T76" fmla="*/ 416 w 468"/>
                <a:gd name="T77" fmla="*/ 134 h 468"/>
                <a:gd name="T78" fmla="*/ 436 w 468"/>
                <a:gd name="T79" fmla="*/ 192 h 468"/>
                <a:gd name="T80" fmla="*/ 440 w 468"/>
                <a:gd name="T81" fmla="*/ 234 h 468"/>
                <a:gd name="T82" fmla="*/ 432 w 468"/>
                <a:gd name="T83" fmla="*/ 294 h 468"/>
                <a:gd name="T84" fmla="*/ 406 w 468"/>
                <a:gd name="T85" fmla="*/ 350 h 468"/>
                <a:gd name="T86" fmla="*/ 366 w 468"/>
                <a:gd name="T87" fmla="*/ 394 h 468"/>
                <a:gd name="T88" fmla="*/ 314 w 468"/>
                <a:gd name="T89" fmla="*/ 424 h 468"/>
                <a:gd name="T90" fmla="*/ 254 w 468"/>
                <a:gd name="T91" fmla="*/ 44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68" h="468">
                  <a:moveTo>
                    <a:pt x="234" y="0"/>
                  </a:moveTo>
                  <a:lnTo>
                    <a:pt x="234" y="0"/>
                  </a:lnTo>
                  <a:lnTo>
                    <a:pt x="210" y="0"/>
                  </a:lnTo>
                  <a:lnTo>
                    <a:pt x="186" y="4"/>
                  </a:lnTo>
                  <a:lnTo>
                    <a:pt x="164" y="10"/>
                  </a:lnTo>
                  <a:lnTo>
                    <a:pt x="142" y="18"/>
                  </a:lnTo>
                  <a:lnTo>
                    <a:pt x="122" y="28"/>
                  </a:lnTo>
                  <a:lnTo>
                    <a:pt x="102" y="40"/>
                  </a:lnTo>
                  <a:lnTo>
                    <a:pt x="84" y="54"/>
                  </a:lnTo>
                  <a:lnTo>
                    <a:pt x="68" y="68"/>
                  </a:lnTo>
                  <a:lnTo>
                    <a:pt x="54" y="84"/>
                  </a:lnTo>
                  <a:lnTo>
                    <a:pt x="40" y="102"/>
                  </a:lnTo>
                  <a:lnTo>
                    <a:pt x="28" y="122"/>
                  </a:lnTo>
                  <a:lnTo>
                    <a:pt x="18" y="142"/>
                  </a:lnTo>
                  <a:lnTo>
                    <a:pt x="10" y="164"/>
                  </a:lnTo>
                  <a:lnTo>
                    <a:pt x="4" y="186"/>
                  </a:lnTo>
                  <a:lnTo>
                    <a:pt x="0" y="210"/>
                  </a:lnTo>
                  <a:lnTo>
                    <a:pt x="0" y="234"/>
                  </a:lnTo>
                  <a:lnTo>
                    <a:pt x="0" y="234"/>
                  </a:lnTo>
                  <a:lnTo>
                    <a:pt x="0" y="258"/>
                  </a:lnTo>
                  <a:lnTo>
                    <a:pt x="4" y="280"/>
                  </a:lnTo>
                  <a:lnTo>
                    <a:pt x="10" y="302"/>
                  </a:lnTo>
                  <a:lnTo>
                    <a:pt x="18" y="324"/>
                  </a:lnTo>
                  <a:lnTo>
                    <a:pt x="28" y="344"/>
                  </a:lnTo>
                  <a:lnTo>
                    <a:pt x="40" y="364"/>
                  </a:lnTo>
                  <a:lnTo>
                    <a:pt x="54" y="382"/>
                  </a:lnTo>
                  <a:lnTo>
                    <a:pt x="68" y="398"/>
                  </a:lnTo>
                  <a:lnTo>
                    <a:pt x="84" y="414"/>
                  </a:lnTo>
                  <a:lnTo>
                    <a:pt x="102" y="428"/>
                  </a:lnTo>
                  <a:lnTo>
                    <a:pt x="122" y="438"/>
                  </a:lnTo>
                  <a:lnTo>
                    <a:pt x="142" y="448"/>
                  </a:lnTo>
                  <a:lnTo>
                    <a:pt x="164" y="456"/>
                  </a:lnTo>
                  <a:lnTo>
                    <a:pt x="186" y="462"/>
                  </a:lnTo>
                  <a:lnTo>
                    <a:pt x="210" y="466"/>
                  </a:lnTo>
                  <a:lnTo>
                    <a:pt x="234" y="468"/>
                  </a:lnTo>
                  <a:lnTo>
                    <a:pt x="234" y="468"/>
                  </a:lnTo>
                  <a:lnTo>
                    <a:pt x="258" y="466"/>
                  </a:lnTo>
                  <a:lnTo>
                    <a:pt x="280" y="462"/>
                  </a:lnTo>
                  <a:lnTo>
                    <a:pt x="302" y="456"/>
                  </a:lnTo>
                  <a:lnTo>
                    <a:pt x="324" y="448"/>
                  </a:lnTo>
                  <a:lnTo>
                    <a:pt x="344" y="438"/>
                  </a:lnTo>
                  <a:lnTo>
                    <a:pt x="364" y="428"/>
                  </a:lnTo>
                  <a:lnTo>
                    <a:pt x="382" y="414"/>
                  </a:lnTo>
                  <a:lnTo>
                    <a:pt x="398" y="398"/>
                  </a:lnTo>
                  <a:lnTo>
                    <a:pt x="414" y="382"/>
                  </a:lnTo>
                  <a:lnTo>
                    <a:pt x="428" y="364"/>
                  </a:lnTo>
                  <a:lnTo>
                    <a:pt x="438" y="344"/>
                  </a:lnTo>
                  <a:lnTo>
                    <a:pt x="448" y="324"/>
                  </a:lnTo>
                  <a:lnTo>
                    <a:pt x="456" y="302"/>
                  </a:lnTo>
                  <a:lnTo>
                    <a:pt x="462" y="280"/>
                  </a:lnTo>
                  <a:lnTo>
                    <a:pt x="466" y="258"/>
                  </a:lnTo>
                  <a:lnTo>
                    <a:pt x="468" y="234"/>
                  </a:lnTo>
                  <a:lnTo>
                    <a:pt x="468" y="234"/>
                  </a:lnTo>
                  <a:lnTo>
                    <a:pt x="466" y="210"/>
                  </a:lnTo>
                  <a:lnTo>
                    <a:pt x="462" y="186"/>
                  </a:lnTo>
                  <a:lnTo>
                    <a:pt x="456" y="164"/>
                  </a:lnTo>
                  <a:lnTo>
                    <a:pt x="448" y="142"/>
                  </a:lnTo>
                  <a:lnTo>
                    <a:pt x="438" y="122"/>
                  </a:lnTo>
                  <a:lnTo>
                    <a:pt x="428" y="102"/>
                  </a:lnTo>
                  <a:lnTo>
                    <a:pt x="414" y="84"/>
                  </a:lnTo>
                  <a:lnTo>
                    <a:pt x="398" y="68"/>
                  </a:lnTo>
                  <a:lnTo>
                    <a:pt x="382" y="54"/>
                  </a:lnTo>
                  <a:lnTo>
                    <a:pt x="364" y="40"/>
                  </a:lnTo>
                  <a:lnTo>
                    <a:pt x="344" y="28"/>
                  </a:lnTo>
                  <a:lnTo>
                    <a:pt x="324" y="18"/>
                  </a:lnTo>
                  <a:lnTo>
                    <a:pt x="302" y="10"/>
                  </a:lnTo>
                  <a:lnTo>
                    <a:pt x="280" y="4"/>
                  </a:lnTo>
                  <a:lnTo>
                    <a:pt x="258" y="0"/>
                  </a:lnTo>
                  <a:lnTo>
                    <a:pt x="234" y="0"/>
                  </a:lnTo>
                  <a:lnTo>
                    <a:pt x="234" y="0"/>
                  </a:lnTo>
                  <a:close/>
                  <a:moveTo>
                    <a:pt x="234" y="440"/>
                  </a:moveTo>
                  <a:lnTo>
                    <a:pt x="234" y="440"/>
                  </a:lnTo>
                  <a:lnTo>
                    <a:pt x="212" y="440"/>
                  </a:lnTo>
                  <a:lnTo>
                    <a:pt x="192" y="436"/>
                  </a:lnTo>
                  <a:lnTo>
                    <a:pt x="172" y="432"/>
                  </a:lnTo>
                  <a:lnTo>
                    <a:pt x="152" y="424"/>
                  </a:lnTo>
                  <a:lnTo>
                    <a:pt x="134" y="416"/>
                  </a:lnTo>
                  <a:lnTo>
                    <a:pt x="118" y="406"/>
                  </a:lnTo>
                  <a:lnTo>
                    <a:pt x="102" y="394"/>
                  </a:lnTo>
                  <a:lnTo>
                    <a:pt x="86" y="380"/>
                  </a:lnTo>
                  <a:lnTo>
                    <a:pt x="74" y="366"/>
                  </a:lnTo>
                  <a:lnTo>
                    <a:pt x="62" y="350"/>
                  </a:lnTo>
                  <a:lnTo>
                    <a:pt x="52" y="332"/>
                  </a:lnTo>
                  <a:lnTo>
                    <a:pt x="42" y="314"/>
                  </a:lnTo>
                  <a:lnTo>
                    <a:pt x="36" y="294"/>
                  </a:lnTo>
                  <a:lnTo>
                    <a:pt x="30" y="276"/>
                  </a:lnTo>
                  <a:lnTo>
                    <a:pt x="28" y="254"/>
                  </a:lnTo>
                  <a:lnTo>
                    <a:pt x="26" y="234"/>
                  </a:lnTo>
                  <a:lnTo>
                    <a:pt x="26" y="234"/>
                  </a:lnTo>
                  <a:lnTo>
                    <a:pt x="28" y="212"/>
                  </a:lnTo>
                  <a:lnTo>
                    <a:pt x="30" y="192"/>
                  </a:lnTo>
                  <a:lnTo>
                    <a:pt x="36" y="172"/>
                  </a:lnTo>
                  <a:lnTo>
                    <a:pt x="42" y="152"/>
                  </a:lnTo>
                  <a:lnTo>
                    <a:pt x="52" y="134"/>
                  </a:lnTo>
                  <a:lnTo>
                    <a:pt x="62" y="118"/>
                  </a:lnTo>
                  <a:lnTo>
                    <a:pt x="74" y="102"/>
                  </a:lnTo>
                  <a:lnTo>
                    <a:pt x="86" y="86"/>
                  </a:lnTo>
                  <a:lnTo>
                    <a:pt x="102" y="74"/>
                  </a:lnTo>
                  <a:lnTo>
                    <a:pt x="118" y="62"/>
                  </a:lnTo>
                  <a:lnTo>
                    <a:pt x="134" y="52"/>
                  </a:lnTo>
                  <a:lnTo>
                    <a:pt x="152" y="42"/>
                  </a:lnTo>
                  <a:lnTo>
                    <a:pt x="172" y="36"/>
                  </a:lnTo>
                  <a:lnTo>
                    <a:pt x="192" y="30"/>
                  </a:lnTo>
                  <a:lnTo>
                    <a:pt x="212" y="28"/>
                  </a:lnTo>
                  <a:lnTo>
                    <a:pt x="234" y="26"/>
                  </a:lnTo>
                  <a:lnTo>
                    <a:pt x="234" y="26"/>
                  </a:lnTo>
                  <a:lnTo>
                    <a:pt x="254" y="28"/>
                  </a:lnTo>
                  <a:lnTo>
                    <a:pt x="276" y="30"/>
                  </a:lnTo>
                  <a:lnTo>
                    <a:pt x="296" y="36"/>
                  </a:lnTo>
                  <a:lnTo>
                    <a:pt x="314" y="42"/>
                  </a:lnTo>
                  <a:lnTo>
                    <a:pt x="332" y="52"/>
                  </a:lnTo>
                  <a:lnTo>
                    <a:pt x="350" y="62"/>
                  </a:lnTo>
                  <a:lnTo>
                    <a:pt x="366" y="74"/>
                  </a:lnTo>
                  <a:lnTo>
                    <a:pt x="380" y="86"/>
                  </a:lnTo>
                  <a:lnTo>
                    <a:pt x="394" y="102"/>
                  </a:lnTo>
                  <a:lnTo>
                    <a:pt x="406" y="118"/>
                  </a:lnTo>
                  <a:lnTo>
                    <a:pt x="416" y="134"/>
                  </a:lnTo>
                  <a:lnTo>
                    <a:pt x="424" y="152"/>
                  </a:lnTo>
                  <a:lnTo>
                    <a:pt x="432" y="172"/>
                  </a:lnTo>
                  <a:lnTo>
                    <a:pt x="436" y="192"/>
                  </a:lnTo>
                  <a:lnTo>
                    <a:pt x="440" y="212"/>
                  </a:lnTo>
                  <a:lnTo>
                    <a:pt x="440" y="234"/>
                  </a:lnTo>
                  <a:lnTo>
                    <a:pt x="440" y="234"/>
                  </a:lnTo>
                  <a:lnTo>
                    <a:pt x="440" y="254"/>
                  </a:lnTo>
                  <a:lnTo>
                    <a:pt x="436" y="276"/>
                  </a:lnTo>
                  <a:lnTo>
                    <a:pt x="432" y="294"/>
                  </a:lnTo>
                  <a:lnTo>
                    <a:pt x="424" y="314"/>
                  </a:lnTo>
                  <a:lnTo>
                    <a:pt x="416" y="332"/>
                  </a:lnTo>
                  <a:lnTo>
                    <a:pt x="406" y="350"/>
                  </a:lnTo>
                  <a:lnTo>
                    <a:pt x="394" y="366"/>
                  </a:lnTo>
                  <a:lnTo>
                    <a:pt x="380" y="380"/>
                  </a:lnTo>
                  <a:lnTo>
                    <a:pt x="366" y="394"/>
                  </a:lnTo>
                  <a:lnTo>
                    <a:pt x="350" y="406"/>
                  </a:lnTo>
                  <a:lnTo>
                    <a:pt x="332" y="416"/>
                  </a:lnTo>
                  <a:lnTo>
                    <a:pt x="314" y="424"/>
                  </a:lnTo>
                  <a:lnTo>
                    <a:pt x="296" y="432"/>
                  </a:lnTo>
                  <a:lnTo>
                    <a:pt x="276" y="436"/>
                  </a:lnTo>
                  <a:lnTo>
                    <a:pt x="254" y="440"/>
                  </a:lnTo>
                  <a:lnTo>
                    <a:pt x="234" y="440"/>
                  </a:lnTo>
                  <a:lnTo>
                    <a:pt x="234" y="4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pt-BR" sz="1400"/>
            </a:p>
          </p:txBody>
        </p:sp>
        <p:sp>
          <p:nvSpPr>
            <p:cNvPr id="44" name="Freeform 108"/>
            <p:cNvSpPr>
              <a:spLocks noEditPoints="1"/>
            </p:cNvSpPr>
            <p:nvPr/>
          </p:nvSpPr>
          <p:spPr bwMode="auto">
            <a:xfrm>
              <a:off x="7283450" y="2098675"/>
              <a:ext cx="469900" cy="469900"/>
            </a:xfrm>
            <a:custGeom>
              <a:avLst/>
              <a:gdLst>
                <a:gd name="T0" fmla="*/ 118 w 296"/>
                <a:gd name="T1" fmla="*/ 2 h 296"/>
                <a:gd name="T2" fmla="*/ 64 w 296"/>
                <a:gd name="T3" fmla="*/ 24 h 296"/>
                <a:gd name="T4" fmla="*/ 24 w 296"/>
                <a:gd name="T5" fmla="*/ 64 h 296"/>
                <a:gd name="T6" fmla="*/ 2 w 296"/>
                <a:gd name="T7" fmla="*/ 118 h 296"/>
                <a:gd name="T8" fmla="*/ 0 w 296"/>
                <a:gd name="T9" fmla="*/ 162 h 296"/>
                <a:gd name="T10" fmla="*/ 18 w 296"/>
                <a:gd name="T11" fmla="*/ 218 h 296"/>
                <a:gd name="T12" fmla="*/ 54 w 296"/>
                <a:gd name="T13" fmla="*/ 262 h 296"/>
                <a:gd name="T14" fmla="*/ 104 w 296"/>
                <a:gd name="T15" fmla="*/ 288 h 296"/>
                <a:gd name="T16" fmla="*/ 148 w 296"/>
                <a:gd name="T17" fmla="*/ 296 h 296"/>
                <a:gd name="T18" fmla="*/ 204 w 296"/>
                <a:gd name="T19" fmla="*/ 284 h 296"/>
                <a:gd name="T20" fmla="*/ 252 w 296"/>
                <a:gd name="T21" fmla="*/ 252 h 296"/>
                <a:gd name="T22" fmla="*/ 284 w 296"/>
                <a:gd name="T23" fmla="*/ 204 h 296"/>
                <a:gd name="T24" fmla="*/ 296 w 296"/>
                <a:gd name="T25" fmla="*/ 148 h 296"/>
                <a:gd name="T26" fmla="*/ 288 w 296"/>
                <a:gd name="T27" fmla="*/ 104 h 296"/>
                <a:gd name="T28" fmla="*/ 262 w 296"/>
                <a:gd name="T29" fmla="*/ 54 h 296"/>
                <a:gd name="T30" fmla="*/ 218 w 296"/>
                <a:gd name="T31" fmla="*/ 18 h 296"/>
                <a:gd name="T32" fmla="*/ 162 w 296"/>
                <a:gd name="T33" fmla="*/ 0 h 296"/>
                <a:gd name="T34" fmla="*/ 82 w 296"/>
                <a:gd name="T35" fmla="*/ 210 h 296"/>
                <a:gd name="T36" fmla="*/ 78 w 296"/>
                <a:gd name="T37" fmla="*/ 176 h 296"/>
                <a:gd name="T38" fmla="*/ 58 w 296"/>
                <a:gd name="T39" fmla="*/ 154 h 296"/>
                <a:gd name="T40" fmla="*/ 56 w 296"/>
                <a:gd name="T41" fmla="*/ 132 h 296"/>
                <a:gd name="T42" fmla="*/ 64 w 296"/>
                <a:gd name="T43" fmla="*/ 112 h 296"/>
                <a:gd name="T44" fmla="*/ 50 w 296"/>
                <a:gd name="T45" fmla="*/ 104 h 296"/>
                <a:gd name="T46" fmla="*/ 46 w 296"/>
                <a:gd name="T47" fmla="*/ 72 h 296"/>
                <a:gd name="T48" fmla="*/ 98 w 296"/>
                <a:gd name="T49" fmla="*/ 32 h 296"/>
                <a:gd name="T50" fmla="*/ 126 w 296"/>
                <a:gd name="T51" fmla="*/ 26 h 296"/>
                <a:gd name="T52" fmla="*/ 102 w 296"/>
                <a:gd name="T53" fmla="*/ 44 h 296"/>
                <a:gd name="T54" fmla="*/ 88 w 296"/>
                <a:gd name="T55" fmla="*/ 60 h 296"/>
                <a:gd name="T56" fmla="*/ 70 w 296"/>
                <a:gd name="T57" fmla="*/ 82 h 296"/>
                <a:gd name="T58" fmla="*/ 84 w 296"/>
                <a:gd name="T59" fmla="*/ 94 h 296"/>
                <a:gd name="T60" fmla="*/ 108 w 296"/>
                <a:gd name="T61" fmla="*/ 96 h 296"/>
                <a:gd name="T62" fmla="*/ 146 w 296"/>
                <a:gd name="T63" fmla="*/ 110 h 296"/>
                <a:gd name="T64" fmla="*/ 154 w 296"/>
                <a:gd name="T65" fmla="*/ 138 h 296"/>
                <a:gd name="T66" fmla="*/ 144 w 296"/>
                <a:gd name="T67" fmla="*/ 154 h 296"/>
                <a:gd name="T68" fmla="*/ 116 w 296"/>
                <a:gd name="T69" fmla="*/ 180 h 296"/>
                <a:gd name="T70" fmla="*/ 112 w 296"/>
                <a:gd name="T71" fmla="*/ 224 h 296"/>
                <a:gd name="T72" fmla="*/ 110 w 296"/>
                <a:gd name="T73" fmla="*/ 240 h 296"/>
                <a:gd name="T74" fmla="*/ 86 w 296"/>
                <a:gd name="T75" fmla="*/ 216 h 296"/>
                <a:gd name="T76" fmla="*/ 148 w 296"/>
                <a:gd name="T77" fmla="*/ 274 h 296"/>
                <a:gd name="T78" fmla="*/ 116 w 296"/>
                <a:gd name="T79" fmla="*/ 262 h 296"/>
                <a:gd name="T80" fmla="*/ 134 w 296"/>
                <a:gd name="T81" fmla="*/ 256 h 296"/>
                <a:gd name="T82" fmla="*/ 170 w 296"/>
                <a:gd name="T83" fmla="*/ 244 h 296"/>
                <a:gd name="T84" fmla="*/ 200 w 296"/>
                <a:gd name="T85" fmla="*/ 244 h 296"/>
                <a:gd name="T86" fmla="*/ 218 w 296"/>
                <a:gd name="T87" fmla="*/ 252 h 296"/>
                <a:gd name="T88" fmla="*/ 148 w 296"/>
                <a:gd name="T89" fmla="*/ 274 h 296"/>
                <a:gd name="T90" fmla="*/ 244 w 296"/>
                <a:gd name="T91" fmla="*/ 220 h 296"/>
                <a:gd name="T92" fmla="*/ 242 w 296"/>
                <a:gd name="T93" fmla="*/ 200 h 296"/>
                <a:gd name="T94" fmla="*/ 248 w 296"/>
                <a:gd name="T95" fmla="*/ 158 h 296"/>
                <a:gd name="T96" fmla="*/ 234 w 296"/>
                <a:gd name="T97" fmla="*/ 128 h 296"/>
                <a:gd name="T98" fmla="*/ 212 w 296"/>
                <a:gd name="T99" fmla="*/ 122 h 296"/>
                <a:gd name="T100" fmla="*/ 196 w 296"/>
                <a:gd name="T101" fmla="*/ 96 h 296"/>
                <a:gd name="T102" fmla="*/ 212 w 296"/>
                <a:gd name="T103" fmla="*/ 68 h 296"/>
                <a:gd name="T104" fmla="*/ 214 w 296"/>
                <a:gd name="T105" fmla="*/ 50 h 296"/>
                <a:gd name="T106" fmla="*/ 192 w 296"/>
                <a:gd name="T107" fmla="*/ 56 h 296"/>
                <a:gd name="T108" fmla="*/ 182 w 296"/>
                <a:gd name="T109" fmla="*/ 38 h 296"/>
                <a:gd name="T110" fmla="*/ 206 w 296"/>
                <a:gd name="T111" fmla="*/ 36 h 296"/>
                <a:gd name="T112" fmla="*/ 260 w 296"/>
                <a:gd name="T113" fmla="*/ 90 h 296"/>
                <a:gd name="T114" fmla="*/ 274 w 296"/>
                <a:gd name="T115" fmla="*/ 148 h 296"/>
                <a:gd name="T116" fmla="*/ 248 w 296"/>
                <a:gd name="T117" fmla="*/ 224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96" h="296">
                  <a:moveTo>
                    <a:pt x="148" y="0"/>
                  </a:moveTo>
                  <a:lnTo>
                    <a:pt x="148" y="0"/>
                  </a:lnTo>
                  <a:lnTo>
                    <a:pt x="132" y="0"/>
                  </a:lnTo>
                  <a:lnTo>
                    <a:pt x="118" y="2"/>
                  </a:lnTo>
                  <a:lnTo>
                    <a:pt x="104" y="6"/>
                  </a:lnTo>
                  <a:lnTo>
                    <a:pt x="90" y="10"/>
                  </a:lnTo>
                  <a:lnTo>
                    <a:pt x="76" y="18"/>
                  </a:lnTo>
                  <a:lnTo>
                    <a:pt x="64" y="24"/>
                  </a:lnTo>
                  <a:lnTo>
                    <a:pt x="54" y="34"/>
                  </a:lnTo>
                  <a:lnTo>
                    <a:pt x="42" y="42"/>
                  </a:lnTo>
                  <a:lnTo>
                    <a:pt x="34" y="54"/>
                  </a:lnTo>
                  <a:lnTo>
                    <a:pt x="24" y="64"/>
                  </a:lnTo>
                  <a:lnTo>
                    <a:pt x="18" y="76"/>
                  </a:lnTo>
                  <a:lnTo>
                    <a:pt x="10" y="90"/>
                  </a:lnTo>
                  <a:lnTo>
                    <a:pt x="6" y="104"/>
                  </a:lnTo>
                  <a:lnTo>
                    <a:pt x="2" y="118"/>
                  </a:lnTo>
                  <a:lnTo>
                    <a:pt x="0" y="132"/>
                  </a:lnTo>
                  <a:lnTo>
                    <a:pt x="0" y="148"/>
                  </a:lnTo>
                  <a:lnTo>
                    <a:pt x="0" y="148"/>
                  </a:lnTo>
                  <a:lnTo>
                    <a:pt x="0" y="162"/>
                  </a:lnTo>
                  <a:lnTo>
                    <a:pt x="2" y="178"/>
                  </a:lnTo>
                  <a:lnTo>
                    <a:pt x="6" y="192"/>
                  </a:lnTo>
                  <a:lnTo>
                    <a:pt x="10" y="204"/>
                  </a:lnTo>
                  <a:lnTo>
                    <a:pt x="18" y="218"/>
                  </a:lnTo>
                  <a:lnTo>
                    <a:pt x="24" y="230"/>
                  </a:lnTo>
                  <a:lnTo>
                    <a:pt x="34" y="242"/>
                  </a:lnTo>
                  <a:lnTo>
                    <a:pt x="42" y="252"/>
                  </a:lnTo>
                  <a:lnTo>
                    <a:pt x="54" y="262"/>
                  </a:lnTo>
                  <a:lnTo>
                    <a:pt x="64" y="270"/>
                  </a:lnTo>
                  <a:lnTo>
                    <a:pt x="76" y="278"/>
                  </a:lnTo>
                  <a:lnTo>
                    <a:pt x="90" y="284"/>
                  </a:lnTo>
                  <a:lnTo>
                    <a:pt x="104" y="288"/>
                  </a:lnTo>
                  <a:lnTo>
                    <a:pt x="118" y="292"/>
                  </a:lnTo>
                  <a:lnTo>
                    <a:pt x="132" y="294"/>
                  </a:lnTo>
                  <a:lnTo>
                    <a:pt x="148" y="296"/>
                  </a:lnTo>
                  <a:lnTo>
                    <a:pt x="148" y="296"/>
                  </a:lnTo>
                  <a:lnTo>
                    <a:pt x="162" y="294"/>
                  </a:lnTo>
                  <a:lnTo>
                    <a:pt x="178" y="292"/>
                  </a:lnTo>
                  <a:lnTo>
                    <a:pt x="192" y="288"/>
                  </a:lnTo>
                  <a:lnTo>
                    <a:pt x="204" y="284"/>
                  </a:lnTo>
                  <a:lnTo>
                    <a:pt x="218" y="278"/>
                  </a:lnTo>
                  <a:lnTo>
                    <a:pt x="230" y="270"/>
                  </a:lnTo>
                  <a:lnTo>
                    <a:pt x="242" y="262"/>
                  </a:lnTo>
                  <a:lnTo>
                    <a:pt x="252" y="252"/>
                  </a:lnTo>
                  <a:lnTo>
                    <a:pt x="262" y="242"/>
                  </a:lnTo>
                  <a:lnTo>
                    <a:pt x="270" y="230"/>
                  </a:lnTo>
                  <a:lnTo>
                    <a:pt x="278" y="218"/>
                  </a:lnTo>
                  <a:lnTo>
                    <a:pt x="284" y="204"/>
                  </a:lnTo>
                  <a:lnTo>
                    <a:pt x="288" y="192"/>
                  </a:lnTo>
                  <a:lnTo>
                    <a:pt x="292" y="178"/>
                  </a:lnTo>
                  <a:lnTo>
                    <a:pt x="294" y="162"/>
                  </a:lnTo>
                  <a:lnTo>
                    <a:pt x="296" y="148"/>
                  </a:lnTo>
                  <a:lnTo>
                    <a:pt x="296" y="148"/>
                  </a:lnTo>
                  <a:lnTo>
                    <a:pt x="294" y="132"/>
                  </a:lnTo>
                  <a:lnTo>
                    <a:pt x="292" y="118"/>
                  </a:lnTo>
                  <a:lnTo>
                    <a:pt x="288" y="104"/>
                  </a:lnTo>
                  <a:lnTo>
                    <a:pt x="284" y="90"/>
                  </a:lnTo>
                  <a:lnTo>
                    <a:pt x="278" y="76"/>
                  </a:lnTo>
                  <a:lnTo>
                    <a:pt x="270" y="64"/>
                  </a:lnTo>
                  <a:lnTo>
                    <a:pt x="262" y="54"/>
                  </a:lnTo>
                  <a:lnTo>
                    <a:pt x="252" y="42"/>
                  </a:lnTo>
                  <a:lnTo>
                    <a:pt x="242" y="34"/>
                  </a:lnTo>
                  <a:lnTo>
                    <a:pt x="230" y="24"/>
                  </a:lnTo>
                  <a:lnTo>
                    <a:pt x="218" y="18"/>
                  </a:lnTo>
                  <a:lnTo>
                    <a:pt x="204" y="10"/>
                  </a:lnTo>
                  <a:lnTo>
                    <a:pt x="192" y="6"/>
                  </a:lnTo>
                  <a:lnTo>
                    <a:pt x="178" y="2"/>
                  </a:lnTo>
                  <a:lnTo>
                    <a:pt x="162" y="0"/>
                  </a:lnTo>
                  <a:lnTo>
                    <a:pt x="148" y="0"/>
                  </a:lnTo>
                  <a:lnTo>
                    <a:pt x="148" y="0"/>
                  </a:lnTo>
                  <a:close/>
                  <a:moveTo>
                    <a:pt x="82" y="210"/>
                  </a:moveTo>
                  <a:lnTo>
                    <a:pt x="82" y="210"/>
                  </a:lnTo>
                  <a:lnTo>
                    <a:pt x="80" y="196"/>
                  </a:lnTo>
                  <a:lnTo>
                    <a:pt x="78" y="186"/>
                  </a:lnTo>
                  <a:lnTo>
                    <a:pt x="78" y="176"/>
                  </a:lnTo>
                  <a:lnTo>
                    <a:pt x="78" y="176"/>
                  </a:lnTo>
                  <a:lnTo>
                    <a:pt x="76" y="172"/>
                  </a:lnTo>
                  <a:lnTo>
                    <a:pt x="74" y="168"/>
                  </a:lnTo>
                  <a:lnTo>
                    <a:pt x="66" y="162"/>
                  </a:lnTo>
                  <a:lnTo>
                    <a:pt x="58" y="154"/>
                  </a:lnTo>
                  <a:lnTo>
                    <a:pt x="56" y="150"/>
                  </a:lnTo>
                  <a:lnTo>
                    <a:pt x="54" y="144"/>
                  </a:lnTo>
                  <a:lnTo>
                    <a:pt x="54" y="144"/>
                  </a:lnTo>
                  <a:lnTo>
                    <a:pt x="56" y="132"/>
                  </a:lnTo>
                  <a:lnTo>
                    <a:pt x="60" y="124"/>
                  </a:lnTo>
                  <a:lnTo>
                    <a:pt x="64" y="118"/>
                  </a:lnTo>
                  <a:lnTo>
                    <a:pt x="64" y="114"/>
                  </a:lnTo>
                  <a:lnTo>
                    <a:pt x="64" y="112"/>
                  </a:lnTo>
                  <a:lnTo>
                    <a:pt x="64" y="112"/>
                  </a:lnTo>
                  <a:lnTo>
                    <a:pt x="62" y="108"/>
                  </a:lnTo>
                  <a:lnTo>
                    <a:pt x="58" y="106"/>
                  </a:lnTo>
                  <a:lnTo>
                    <a:pt x="50" y="104"/>
                  </a:lnTo>
                  <a:lnTo>
                    <a:pt x="30" y="102"/>
                  </a:lnTo>
                  <a:lnTo>
                    <a:pt x="30" y="102"/>
                  </a:lnTo>
                  <a:lnTo>
                    <a:pt x="36" y="86"/>
                  </a:lnTo>
                  <a:lnTo>
                    <a:pt x="46" y="72"/>
                  </a:lnTo>
                  <a:lnTo>
                    <a:pt x="56" y="60"/>
                  </a:lnTo>
                  <a:lnTo>
                    <a:pt x="68" y="48"/>
                  </a:lnTo>
                  <a:lnTo>
                    <a:pt x="82" y="40"/>
                  </a:lnTo>
                  <a:lnTo>
                    <a:pt x="98" y="32"/>
                  </a:lnTo>
                  <a:lnTo>
                    <a:pt x="114" y="26"/>
                  </a:lnTo>
                  <a:lnTo>
                    <a:pt x="130" y="22"/>
                  </a:lnTo>
                  <a:lnTo>
                    <a:pt x="130" y="22"/>
                  </a:lnTo>
                  <a:lnTo>
                    <a:pt x="126" y="26"/>
                  </a:lnTo>
                  <a:lnTo>
                    <a:pt x="122" y="30"/>
                  </a:lnTo>
                  <a:lnTo>
                    <a:pt x="114" y="34"/>
                  </a:lnTo>
                  <a:lnTo>
                    <a:pt x="114" y="34"/>
                  </a:lnTo>
                  <a:lnTo>
                    <a:pt x="102" y="44"/>
                  </a:lnTo>
                  <a:lnTo>
                    <a:pt x="98" y="48"/>
                  </a:lnTo>
                  <a:lnTo>
                    <a:pt x="94" y="52"/>
                  </a:lnTo>
                  <a:lnTo>
                    <a:pt x="94" y="52"/>
                  </a:lnTo>
                  <a:lnTo>
                    <a:pt x="88" y="60"/>
                  </a:lnTo>
                  <a:lnTo>
                    <a:pt x="80" y="68"/>
                  </a:lnTo>
                  <a:lnTo>
                    <a:pt x="72" y="76"/>
                  </a:lnTo>
                  <a:lnTo>
                    <a:pt x="70" y="82"/>
                  </a:lnTo>
                  <a:lnTo>
                    <a:pt x="70" y="82"/>
                  </a:lnTo>
                  <a:lnTo>
                    <a:pt x="70" y="86"/>
                  </a:lnTo>
                  <a:lnTo>
                    <a:pt x="74" y="90"/>
                  </a:lnTo>
                  <a:lnTo>
                    <a:pt x="80" y="94"/>
                  </a:lnTo>
                  <a:lnTo>
                    <a:pt x="84" y="94"/>
                  </a:lnTo>
                  <a:lnTo>
                    <a:pt x="84" y="94"/>
                  </a:lnTo>
                  <a:lnTo>
                    <a:pt x="94" y="94"/>
                  </a:lnTo>
                  <a:lnTo>
                    <a:pt x="108" y="96"/>
                  </a:lnTo>
                  <a:lnTo>
                    <a:pt x="108" y="96"/>
                  </a:lnTo>
                  <a:lnTo>
                    <a:pt x="120" y="98"/>
                  </a:lnTo>
                  <a:lnTo>
                    <a:pt x="128" y="100"/>
                  </a:lnTo>
                  <a:lnTo>
                    <a:pt x="138" y="104"/>
                  </a:lnTo>
                  <a:lnTo>
                    <a:pt x="146" y="110"/>
                  </a:lnTo>
                  <a:lnTo>
                    <a:pt x="152" y="118"/>
                  </a:lnTo>
                  <a:lnTo>
                    <a:pt x="154" y="124"/>
                  </a:lnTo>
                  <a:lnTo>
                    <a:pt x="154" y="130"/>
                  </a:lnTo>
                  <a:lnTo>
                    <a:pt x="154" y="138"/>
                  </a:lnTo>
                  <a:lnTo>
                    <a:pt x="150" y="146"/>
                  </a:lnTo>
                  <a:lnTo>
                    <a:pt x="150" y="146"/>
                  </a:lnTo>
                  <a:lnTo>
                    <a:pt x="148" y="150"/>
                  </a:lnTo>
                  <a:lnTo>
                    <a:pt x="144" y="154"/>
                  </a:lnTo>
                  <a:lnTo>
                    <a:pt x="134" y="160"/>
                  </a:lnTo>
                  <a:lnTo>
                    <a:pt x="124" y="168"/>
                  </a:lnTo>
                  <a:lnTo>
                    <a:pt x="118" y="174"/>
                  </a:lnTo>
                  <a:lnTo>
                    <a:pt x="116" y="180"/>
                  </a:lnTo>
                  <a:lnTo>
                    <a:pt x="116" y="180"/>
                  </a:lnTo>
                  <a:lnTo>
                    <a:pt x="112" y="204"/>
                  </a:lnTo>
                  <a:lnTo>
                    <a:pt x="112" y="204"/>
                  </a:lnTo>
                  <a:lnTo>
                    <a:pt x="112" y="224"/>
                  </a:lnTo>
                  <a:lnTo>
                    <a:pt x="112" y="236"/>
                  </a:lnTo>
                  <a:lnTo>
                    <a:pt x="112" y="238"/>
                  </a:lnTo>
                  <a:lnTo>
                    <a:pt x="110" y="240"/>
                  </a:lnTo>
                  <a:lnTo>
                    <a:pt x="110" y="240"/>
                  </a:lnTo>
                  <a:lnTo>
                    <a:pt x="106" y="238"/>
                  </a:lnTo>
                  <a:lnTo>
                    <a:pt x="102" y="236"/>
                  </a:lnTo>
                  <a:lnTo>
                    <a:pt x="94" y="226"/>
                  </a:lnTo>
                  <a:lnTo>
                    <a:pt x="86" y="216"/>
                  </a:lnTo>
                  <a:lnTo>
                    <a:pt x="82" y="210"/>
                  </a:lnTo>
                  <a:lnTo>
                    <a:pt x="82" y="210"/>
                  </a:lnTo>
                  <a:close/>
                  <a:moveTo>
                    <a:pt x="148" y="274"/>
                  </a:moveTo>
                  <a:lnTo>
                    <a:pt x="148" y="274"/>
                  </a:lnTo>
                  <a:lnTo>
                    <a:pt x="128" y="272"/>
                  </a:lnTo>
                  <a:lnTo>
                    <a:pt x="108" y="268"/>
                  </a:lnTo>
                  <a:lnTo>
                    <a:pt x="108" y="268"/>
                  </a:lnTo>
                  <a:lnTo>
                    <a:pt x="116" y="262"/>
                  </a:lnTo>
                  <a:lnTo>
                    <a:pt x="118" y="258"/>
                  </a:lnTo>
                  <a:lnTo>
                    <a:pt x="122" y="258"/>
                  </a:lnTo>
                  <a:lnTo>
                    <a:pt x="122" y="258"/>
                  </a:lnTo>
                  <a:lnTo>
                    <a:pt x="134" y="256"/>
                  </a:lnTo>
                  <a:lnTo>
                    <a:pt x="146" y="252"/>
                  </a:lnTo>
                  <a:lnTo>
                    <a:pt x="146" y="252"/>
                  </a:lnTo>
                  <a:lnTo>
                    <a:pt x="162" y="248"/>
                  </a:lnTo>
                  <a:lnTo>
                    <a:pt x="170" y="244"/>
                  </a:lnTo>
                  <a:lnTo>
                    <a:pt x="180" y="242"/>
                  </a:lnTo>
                  <a:lnTo>
                    <a:pt x="180" y="242"/>
                  </a:lnTo>
                  <a:lnTo>
                    <a:pt x="190" y="242"/>
                  </a:lnTo>
                  <a:lnTo>
                    <a:pt x="200" y="244"/>
                  </a:lnTo>
                  <a:lnTo>
                    <a:pt x="210" y="246"/>
                  </a:lnTo>
                  <a:lnTo>
                    <a:pt x="214" y="250"/>
                  </a:lnTo>
                  <a:lnTo>
                    <a:pt x="218" y="252"/>
                  </a:lnTo>
                  <a:lnTo>
                    <a:pt x="218" y="252"/>
                  </a:lnTo>
                  <a:lnTo>
                    <a:pt x="202" y="262"/>
                  </a:lnTo>
                  <a:lnTo>
                    <a:pt x="184" y="268"/>
                  </a:lnTo>
                  <a:lnTo>
                    <a:pt x="166" y="272"/>
                  </a:lnTo>
                  <a:lnTo>
                    <a:pt x="148" y="274"/>
                  </a:lnTo>
                  <a:lnTo>
                    <a:pt x="148" y="274"/>
                  </a:lnTo>
                  <a:close/>
                  <a:moveTo>
                    <a:pt x="248" y="224"/>
                  </a:moveTo>
                  <a:lnTo>
                    <a:pt x="248" y="224"/>
                  </a:lnTo>
                  <a:lnTo>
                    <a:pt x="244" y="220"/>
                  </a:lnTo>
                  <a:lnTo>
                    <a:pt x="242" y="214"/>
                  </a:lnTo>
                  <a:lnTo>
                    <a:pt x="240" y="208"/>
                  </a:lnTo>
                  <a:lnTo>
                    <a:pt x="242" y="200"/>
                  </a:lnTo>
                  <a:lnTo>
                    <a:pt x="242" y="200"/>
                  </a:lnTo>
                  <a:lnTo>
                    <a:pt x="246" y="190"/>
                  </a:lnTo>
                  <a:lnTo>
                    <a:pt x="248" y="178"/>
                  </a:lnTo>
                  <a:lnTo>
                    <a:pt x="248" y="158"/>
                  </a:lnTo>
                  <a:lnTo>
                    <a:pt x="248" y="158"/>
                  </a:lnTo>
                  <a:lnTo>
                    <a:pt x="246" y="150"/>
                  </a:lnTo>
                  <a:lnTo>
                    <a:pt x="242" y="138"/>
                  </a:lnTo>
                  <a:lnTo>
                    <a:pt x="236" y="130"/>
                  </a:lnTo>
                  <a:lnTo>
                    <a:pt x="234" y="128"/>
                  </a:lnTo>
                  <a:lnTo>
                    <a:pt x="228" y="126"/>
                  </a:lnTo>
                  <a:lnTo>
                    <a:pt x="228" y="126"/>
                  </a:lnTo>
                  <a:lnTo>
                    <a:pt x="220" y="126"/>
                  </a:lnTo>
                  <a:lnTo>
                    <a:pt x="212" y="122"/>
                  </a:lnTo>
                  <a:lnTo>
                    <a:pt x="206" y="116"/>
                  </a:lnTo>
                  <a:lnTo>
                    <a:pt x="200" y="106"/>
                  </a:lnTo>
                  <a:lnTo>
                    <a:pt x="200" y="106"/>
                  </a:lnTo>
                  <a:lnTo>
                    <a:pt x="196" y="96"/>
                  </a:lnTo>
                  <a:lnTo>
                    <a:pt x="196" y="86"/>
                  </a:lnTo>
                  <a:lnTo>
                    <a:pt x="200" y="80"/>
                  </a:lnTo>
                  <a:lnTo>
                    <a:pt x="206" y="74"/>
                  </a:lnTo>
                  <a:lnTo>
                    <a:pt x="212" y="68"/>
                  </a:lnTo>
                  <a:lnTo>
                    <a:pt x="216" y="62"/>
                  </a:lnTo>
                  <a:lnTo>
                    <a:pt x="216" y="56"/>
                  </a:lnTo>
                  <a:lnTo>
                    <a:pt x="214" y="50"/>
                  </a:lnTo>
                  <a:lnTo>
                    <a:pt x="214" y="50"/>
                  </a:lnTo>
                  <a:lnTo>
                    <a:pt x="210" y="50"/>
                  </a:lnTo>
                  <a:lnTo>
                    <a:pt x="206" y="52"/>
                  </a:lnTo>
                  <a:lnTo>
                    <a:pt x="198" y="54"/>
                  </a:lnTo>
                  <a:lnTo>
                    <a:pt x="192" y="56"/>
                  </a:lnTo>
                  <a:lnTo>
                    <a:pt x="188" y="54"/>
                  </a:lnTo>
                  <a:lnTo>
                    <a:pt x="184" y="48"/>
                  </a:lnTo>
                  <a:lnTo>
                    <a:pt x="182" y="38"/>
                  </a:lnTo>
                  <a:lnTo>
                    <a:pt x="182" y="38"/>
                  </a:lnTo>
                  <a:lnTo>
                    <a:pt x="184" y="34"/>
                  </a:lnTo>
                  <a:lnTo>
                    <a:pt x="188" y="28"/>
                  </a:lnTo>
                  <a:lnTo>
                    <a:pt x="188" y="28"/>
                  </a:lnTo>
                  <a:lnTo>
                    <a:pt x="206" y="36"/>
                  </a:lnTo>
                  <a:lnTo>
                    <a:pt x="222" y="46"/>
                  </a:lnTo>
                  <a:lnTo>
                    <a:pt x="236" y="58"/>
                  </a:lnTo>
                  <a:lnTo>
                    <a:pt x="250" y="72"/>
                  </a:lnTo>
                  <a:lnTo>
                    <a:pt x="260" y="90"/>
                  </a:lnTo>
                  <a:lnTo>
                    <a:pt x="268" y="108"/>
                  </a:lnTo>
                  <a:lnTo>
                    <a:pt x="272" y="126"/>
                  </a:lnTo>
                  <a:lnTo>
                    <a:pt x="274" y="148"/>
                  </a:lnTo>
                  <a:lnTo>
                    <a:pt x="274" y="148"/>
                  </a:lnTo>
                  <a:lnTo>
                    <a:pt x="272" y="168"/>
                  </a:lnTo>
                  <a:lnTo>
                    <a:pt x="266" y="188"/>
                  </a:lnTo>
                  <a:lnTo>
                    <a:pt x="258" y="208"/>
                  </a:lnTo>
                  <a:lnTo>
                    <a:pt x="248" y="224"/>
                  </a:lnTo>
                  <a:lnTo>
                    <a:pt x="248" y="2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pt-BR" sz="1400"/>
            </a:p>
          </p:txBody>
        </p:sp>
      </p:grpSp>
      <p:sp>
        <p:nvSpPr>
          <p:cNvPr id="45" name="CaixaDeTexto 44"/>
          <p:cNvSpPr txBox="1"/>
          <p:nvPr/>
        </p:nvSpPr>
        <p:spPr>
          <a:xfrm>
            <a:off x="8124804" y="1760368"/>
            <a:ext cx="746886" cy="399891"/>
          </a:xfrm>
          <a:prstGeom prst="rect">
            <a:avLst/>
          </a:prstGeom>
          <a:noFill/>
        </p:spPr>
        <p:txBody>
          <a:bodyPr wrap="none" lIns="91223" tIns="45611" rIns="91223" bIns="45611" rtlCol="0">
            <a:spAutoFit/>
          </a:bodyPr>
          <a:lstStyle/>
          <a:p>
            <a:r>
              <a:rPr lang="en-US" sz="1000" b="1" dirty="0">
                <a:solidFill>
                  <a:schemeClr val="tx2"/>
                </a:solidFill>
                <a:latin typeface="Gill Sans Std" pitchFamily="34" charset="0"/>
                <a:cs typeface="Arial" pitchFamily="34" charset="0"/>
                <a:sym typeface="Gill Sans Std Light" pitchFamily="34" charset="0"/>
              </a:rPr>
              <a:t>TD</a:t>
            </a:r>
            <a:br>
              <a:rPr lang="en-US" sz="1000" b="1" dirty="0">
                <a:solidFill>
                  <a:schemeClr val="tx2"/>
                </a:solidFill>
                <a:latin typeface="Gill Sans Std" pitchFamily="34" charset="0"/>
                <a:cs typeface="Arial" pitchFamily="34" charset="0"/>
                <a:sym typeface="Gill Sans Std Light" pitchFamily="34" charset="0"/>
              </a:rPr>
            </a:br>
            <a:r>
              <a:rPr lang="en-US" sz="1000" b="1" dirty="0">
                <a:solidFill>
                  <a:schemeClr val="tx2"/>
                </a:solidFill>
                <a:latin typeface="Gill Sans Std" pitchFamily="34" charset="0"/>
                <a:cs typeface="Arial" pitchFamily="34" charset="0"/>
                <a:sym typeface="Gill Sans Std Light" pitchFamily="34" charset="0"/>
              </a:rPr>
              <a:t>GLOBAL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741534" y="1716300"/>
            <a:ext cx="1378829" cy="707668"/>
          </a:xfrm>
          <a:prstGeom prst="rect">
            <a:avLst/>
          </a:prstGeom>
          <a:noFill/>
        </p:spPr>
        <p:txBody>
          <a:bodyPr wrap="square" lIns="91223" tIns="45611" rIns="91223" bIns="45611" rtlCol="0">
            <a:spAutoFit/>
          </a:bodyPr>
          <a:lstStyle/>
          <a:p>
            <a:r>
              <a:rPr lang="en-US" sz="1000" b="1" dirty="0">
                <a:solidFill>
                  <a:schemeClr val="tx2"/>
                </a:solidFill>
                <a:latin typeface="Gill Sans Std" pitchFamily="34" charset="0"/>
                <a:cs typeface="Arial" pitchFamily="34" charset="0"/>
                <a:sym typeface="Gill Sans Std Light" pitchFamily="34" charset="0"/>
              </a:rPr>
              <a:t>INFRAESTRUTURA ROBUSTA/ ARQUITETURA FLEXÍVEL</a:t>
            </a:r>
          </a:p>
        </p:txBody>
      </p:sp>
      <p:grpSp>
        <p:nvGrpSpPr>
          <p:cNvPr id="47" name="Grupo 46"/>
          <p:cNvGrpSpPr/>
          <p:nvPr/>
        </p:nvGrpSpPr>
        <p:grpSpPr>
          <a:xfrm>
            <a:off x="259397" y="1803859"/>
            <a:ext cx="475860" cy="479453"/>
            <a:chOff x="11641138" y="1924050"/>
            <a:chExt cx="555625" cy="558800"/>
          </a:xfrm>
          <a:solidFill>
            <a:srgbClr val="FBE122"/>
          </a:solidFill>
        </p:grpSpPr>
        <p:sp>
          <p:nvSpPr>
            <p:cNvPr id="48" name="Freeform 5"/>
            <p:cNvSpPr>
              <a:spLocks noEditPoints="1"/>
            </p:cNvSpPr>
            <p:nvPr/>
          </p:nvSpPr>
          <p:spPr bwMode="auto">
            <a:xfrm>
              <a:off x="11641138" y="1924050"/>
              <a:ext cx="555625" cy="558800"/>
            </a:xfrm>
            <a:custGeom>
              <a:avLst/>
              <a:gdLst>
                <a:gd name="T0" fmla="*/ 158 w 350"/>
                <a:gd name="T1" fmla="*/ 2 h 352"/>
                <a:gd name="T2" fmla="*/ 108 w 350"/>
                <a:gd name="T3" fmla="*/ 14 h 352"/>
                <a:gd name="T4" fmla="*/ 64 w 350"/>
                <a:gd name="T5" fmla="*/ 40 h 352"/>
                <a:gd name="T6" fmla="*/ 30 w 350"/>
                <a:gd name="T7" fmla="*/ 78 h 352"/>
                <a:gd name="T8" fmla="*/ 8 w 350"/>
                <a:gd name="T9" fmla="*/ 124 h 352"/>
                <a:gd name="T10" fmla="*/ 0 w 350"/>
                <a:gd name="T11" fmla="*/ 176 h 352"/>
                <a:gd name="T12" fmla="*/ 4 w 350"/>
                <a:gd name="T13" fmla="*/ 212 h 352"/>
                <a:gd name="T14" fmla="*/ 22 w 350"/>
                <a:gd name="T15" fmla="*/ 260 h 352"/>
                <a:gd name="T16" fmla="*/ 52 w 350"/>
                <a:gd name="T17" fmla="*/ 300 h 352"/>
                <a:gd name="T18" fmla="*/ 92 w 350"/>
                <a:gd name="T19" fmla="*/ 330 h 352"/>
                <a:gd name="T20" fmla="*/ 140 w 350"/>
                <a:gd name="T21" fmla="*/ 348 h 352"/>
                <a:gd name="T22" fmla="*/ 176 w 350"/>
                <a:gd name="T23" fmla="*/ 352 h 352"/>
                <a:gd name="T24" fmla="*/ 228 w 350"/>
                <a:gd name="T25" fmla="*/ 344 h 352"/>
                <a:gd name="T26" fmla="*/ 274 w 350"/>
                <a:gd name="T27" fmla="*/ 322 h 352"/>
                <a:gd name="T28" fmla="*/ 310 w 350"/>
                <a:gd name="T29" fmla="*/ 288 h 352"/>
                <a:gd name="T30" fmla="*/ 336 w 350"/>
                <a:gd name="T31" fmla="*/ 244 h 352"/>
                <a:gd name="T32" fmla="*/ 350 w 350"/>
                <a:gd name="T33" fmla="*/ 194 h 352"/>
                <a:gd name="T34" fmla="*/ 350 w 350"/>
                <a:gd name="T35" fmla="*/ 158 h 352"/>
                <a:gd name="T36" fmla="*/ 336 w 350"/>
                <a:gd name="T37" fmla="*/ 108 h 352"/>
                <a:gd name="T38" fmla="*/ 310 w 350"/>
                <a:gd name="T39" fmla="*/ 64 h 352"/>
                <a:gd name="T40" fmla="*/ 274 w 350"/>
                <a:gd name="T41" fmla="*/ 30 h 352"/>
                <a:gd name="T42" fmla="*/ 228 w 350"/>
                <a:gd name="T43" fmla="*/ 8 h 352"/>
                <a:gd name="T44" fmla="*/ 176 w 350"/>
                <a:gd name="T45" fmla="*/ 0 h 352"/>
                <a:gd name="T46" fmla="*/ 176 w 350"/>
                <a:gd name="T47" fmla="*/ 332 h 352"/>
                <a:gd name="T48" fmla="*/ 130 w 350"/>
                <a:gd name="T49" fmla="*/ 324 h 352"/>
                <a:gd name="T50" fmla="*/ 88 w 350"/>
                <a:gd name="T51" fmla="*/ 304 h 352"/>
                <a:gd name="T52" fmla="*/ 56 w 350"/>
                <a:gd name="T53" fmla="*/ 274 h 352"/>
                <a:gd name="T54" fmla="*/ 32 w 350"/>
                <a:gd name="T55" fmla="*/ 236 h 352"/>
                <a:gd name="T56" fmla="*/ 20 w 350"/>
                <a:gd name="T57" fmla="*/ 192 h 352"/>
                <a:gd name="T58" fmla="*/ 20 w 350"/>
                <a:gd name="T59" fmla="*/ 160 h 352"/>
                <a:gd name="T60" fmla="*/ 32 w 350"/>
                <a:gd name="T61" fmla="*/ 116 h 352"/>
                <a:gd name="T62" fmla="*/ 56 w 350"/>
                <a:gd name="T63" fmla="*/ 78 h 352"/>
                <a:gd name="T64" fmla="*/ 88 w 350"/>
                <a:gd name="T65" fmla="*/ 48 h 352"/>
                <a:gd name="T66" fmla="*/ 130 w 350"/>
                <a:gd name="T67" fmla="*/ 28 h 352"/>
                <a:gd name="T68" fmla="*/ 176 w 350"/>
                <a:gd name="T69" fmla="*/ 20 h 352"/>
                <a:gd name="T70" fmla="*/ 206 w 350"/>
                <a:gd name="T71" fmla="*/ 24 h 352"/>
                <a:gd name="T72" fmla="*/ 250 w 350"/>
                <a:gd name="T73" fmla="*/ 40 h 352"/>
                <a:gd name="T74" fmla="*/ 286 w 350"/>
                <a:gd name="T75" fmla="*/ 66 h 352"/>
                <a:gd name="T76" fmla="*/ 312 w 350"/>
                <a:gd name="T77" fmla="*/ 102 h 352"/>
                <a:gd name="T78" fmla="*/ 328 w 350"/>
                <a:gd name="T79" fmla="*/ 144 h 352"/>
                <a:gd name="T80" fmla="*/ 330 w 350"/>
                <a:gd name="T81" fmla="*/ 176 h 352"/>
                <a:gd name="T82" fmla="*/ 324 w 350"/>
                <a:gd name="T83" fmla="*/ 222 h 352"/>
                <a:gd name="T84" fmla="*/ 304 w 350"/>
                <a:gd name="T85" fmla="*/ 262 h 352"/>
                <a:gd name="T86" fmla="*/ 274 w 350"/>
                <a:gd name="T87" fmla="*/ 296 h 352"/>
                <a:gd name="T88" fmla="*/ 236 w 350"/>
                <a:gd name="T89" fmla="*/ 320 h 352"/>
                <a:gd name="T90" fmla="*/ 192 w 350"/>
                <a:gd name="T91" fmla="*/ 330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50" h="352">
                  <a:moveTo>
                    <a:pt x="176" y="0"/>
                  </a:moveTo>
                  <a:lnTo>
                    <a:pt x="176" y="0"/>
                  </a:lnTo>
                  <a:lnTo>
                    <a:pt x="158" y="2"/>
                  </a:lnTo>
                  <a:lnTo>
                    <a:pt x="140" y="4"/>
                  </a:lnTo>
                  <a:lnTo>
                    <a:pt x="124" y="8"/>
                  </a:lnTo>
                  <a:lnTo>
                    <a:pt x="108" y="14"/>
                  </a:lnTo>
                  <a:lnTo>
                    <a:pt x="92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2" y="52"/>
                  </a:lnTo>
                  <a:lnTo>
                    <a:pt x="40" y="64"/>
                  </a:lnTo>
                  <a:lnTo>
                    <a:pt x="30" y="78"/>
                  </a:lnTo>
                  <a:lnTo>
                    <a:pt x="22" y="92"/>
                  </a:lnTo>
                  <a:lnTo>
                    <a:pt x="14" y="108"/>
                  </a:lnTo>
                  <a:lnTo>
                    <a:pt x="8" y="124"/>
                  </a:lnTo>
                  <a:lnTo>
                    <a:pt x="4" y="140"/>
                  </a:lnTo>
                  <a:lnTo>
                    <a:pt x="0" y="158"/>
                  </a:lnTo>
                  <a:lnTo>
                    <a:pt x="0" y="176"/>
                  </a:lnTo>
                  <a:lnTo>
                    <a:pt x="0" y="176"/>
                  </a:lnTo>
                  <a:lnTo>
                    <a:pt x="0" y="194"/>
                  </a:lnTo>
                  <a:lnTo>
                    <a:pt x="4" y="212"/>
                  </a:lnTo>
                  <a:lnTo>
                    <a:pt x="8" y="228"/>
                  </a:lnTo>
                  <a:lnTo>
                    <a:pt x="14" y="244"/>
                  </a:lnTo>
                  <a:lnTo>
                    <a:pt x="22" y="260"/>
                  </a:lnTo>
                  <a:lnTo>
                    <a:pt x="30" y="274"/>
                  </a:lnTo>
                  <a:lnTo>
                    <a:pt x="40" y="288"/>
                  </a:lnTo>
                  <a:lnTo>
                    <a:pt x="52" y="300"/>
                  </a:lnTo>
                  <a:lnTo>
                    <a:pt x="64" y="312"/>
                  </a:lnTo>
                  <a:lnTo>
                    <a:pt x="78" y="322"/>
                  </a:lnTo>
                  <a:lnTo>
                    <a:pt x="92" y="330"/>
                  </a:lnTo>
                  <a:lnTo>
                    <a:pt x="108" y="338"/>
                  </a:lnTo>
                  <a:lnTo>
                    <a:pt x="124" y="344"/>
                  </a:lnTo>
                  <a:lnTo>
                    <a:pt x="140" y="348"/>
                  </a:lnTo>
                  <a:lnTo>
                    <a:pt x="158" y="350"/>
                  </a:lnTo>
                  <a:lnTo>
                    <a:pt x="176" y="352"/>
                  </a:lnTo>
                  <a:lnTo>
                    <a:pt x="176" y="352"/>
                  </a:lnTo>
                  <a:lnTo>
                    <a:pt x="194" y="350"/>
                  </a:lnTo>
                  <a:lnTo>
                    <a:pt x="210" y="348"/>
                  </a:lnTo>
                  <a:lnTo>
                    <a:pt x="228" y="344"/>
                  </a:lnTo>
                  <a:lnTo>
                    <a:pt x="244" y="338"/>
                  </a:lnTo>
                  <a:lnTo>
                    <a:pt x="258" y="330"/>
                  </a:lnTo>
                  <a:lnTo>
                    <a:pt x="274" y="322"/>
                  </a:lnTo>
                  <a:lnTo>
                    <a:pt x="286" y="312"/>
                  </a:lnTo>
                  <a:lnTo>
                    <a:pt x="300" y="300"/>
                  </a:lnTo>
                  <a:lnTo>
                    <a:pt x="310" y="288"/>
                  </a:lnTo>
                  <a:lnTo>
                    <a:pt x="320" y="274"/>
                  </a:lnTo>
                  <a:lnTo>
                    <a:pt x="330" y="260"/>
                  </a:lnTo>
                  <a:lnTo>
                    <a:pt x="336" y="244"/>
                  </a:lnTo>
                  <a:lnTo>
                    <a:pt x="342" y="228"/>
                  </a:lnTo>
                  <a:lnTo>
                    <a:pt x="346" y="212"/>
                  </a:lnTo>
                  <a:lnTo>
                    <a:pt x="350" y="194"/>
                  </a:lnTo>
                  <a:lnTo>
                    <a:pt x="350" y="176"/>
                  </a:lnTo>
                  <a:lnTo>
                    <a:pt x="350" y="176"/>
                  </a:lnTo>
                  <a:lnTo>
                    <a:pt x="350" y="158"/>
                  </a:lnTo>
                  <a:lnTo>
                    <a:pt x="346" y="140"/>
                  </a:lnTo>
                  <a:lnTo>
                    <a:pt x="342" y="124"/>
                  </a:lnTo>
                  <a:lnTo>
                    <a:pt x="336" y="108"/>
                  </a:lnTo>
                  <a:lnTo>
                    <a:pt x="330" y="92"/>
                  </a:lnTo>
                  <a:lnTo>
                    <a:pt x="320" y="78"/>
                  </a:lnTo>
                  <a:lnTo>
                    <a:pt x="310" y="64"/>
                  </a:lnTo>
                  <a:lnTo>
                    <a:pt x="300" y="52"/>
                  </a:lnTo>
                  <a:lnTo>
                    <a:pt x="286" y="40"/>
                  </a:lnTo>
                  <a:lnTo>
                    <a:pt x="274" y="30"/>
                  </a:lnTo>
                  <a:lnTo>
                    <a:pt x="258" y="22"/>
                  </a:lnTo>
                  <a:lnTo>
                    <a:pt x="244" y="14"/>
                  </a:lnTo>
                  <a:lnTo>
                    <a:pt x="228" y="8"/>
                  </a:lnTo>
                  <a:lnTo>
                    <a:pt x="210" y="4"/>
                  </a:lnTo>
                  <a:lnTo>
                    <a:pt x="194" y="2"/>
                  </a:lnTo>
                  <a:lnTo>
                    <a:pt x="176" y="0"/>
                  </a:lnTo>
                  <a:lnTo>
                    <a:pt x="176" y="0"/>
                  </a:lnTo>
                  <a:close/>
                  <a:moveTo>
                    <a:pt x="176" y="332"/>
                  </a:moveTo>
                  <a:lnTo>
                    <a:pt x="176" y="332"/>
                  </a:lnTo>
                  <a:lnTo>
                    <a:pt x="160" y="330"/>
                  </a:lnTo>
                  <a:lnTo>
                    <a:pt x="144" y="328"/>
                  </a:lnTo>
                  <a:lnTo>
                    <a:pt x="130" y="324"/>
                  </a:lnTo>
                  <a:lnTo>
                    <a:pt x="114" y="320"/>
                  </a:lnTo>
                  <a:lnTo>
                    <a:pt x="102" y="312"/>
                  </a:lnTo>
                  <a:lnTo>
                    <a:pt x="88" y="304"/>
                  </a:lnTo>
                  <a:lnTo>
                    <a:pt x="76" y="296"/>
                  </a:lnTo>
                  <a:lnTo>
                    <a:pt x="66" y="286"/>
                  </a:lnTo>
                  <a:lnTo>
                    <a:pt x="56" y="274"/>
                  </a:lnTo>
                  <a:lnTo>
                    <a:pt x="46" y="262"/>
                  </a:lnTo>
                  <a:lnTo>
                    <a:pt x="38" y="250"/>
                  </a:lnTo>
                  <a:lnTo>
                    <a:pt x="32" y="236"/>
                  </a:lnTo>
                  <a:lnTo>
                    <a:pt x="26" y="222"/>
                  </a:lnTo>
                  <a:lnTo>
                    <a:pt x="22" y="208"/>
                  </a:lnTo>
                  <a:lnTo>
                    <a:pt x="20" y="192"/>
                  </a:lnTo>
                  <a:lnTo>
                    <a:pt x="20" y="176"/>
                  </a:lnTo>
                  <a:lnTo>
                    <a:pt x="20" y="176"/>
                  </a:lnTo>
                  <a:lnTo>
                    <a:pt x="20" y="160"/>
                  </a:lnTo>
                  <a:lnTo>
                    <a:pt x="22" y="144"/>
                  </a:lnTo>
                  <a:lnTo>
                    <a:pt x="26" y="130"/>
                  </a:lnTo>
                  <a:lnTo>
                    <a:pt x="32" y="116"/>
                  </a:lnTo>
                  <a:lnTo>
                    <a:pt x="38" y="102"/>
                  </a:lnTo>
                  <a:lnTo>
                    <a:pt x="46" y="90"/>
                  </a:lnTo>
                  <a:lnTo>
                    <a:pt x="56" y="78"/>
                  </a:lnTo>
                  <a:lnTo>
                    <a:pt x="66" y="66"/>
                  </a:lnTo>
                  <a:lnTo>
                    <a:pt x="76" y="56"/>
                  </a:lnTo>
                  <a:lnTo>
                    <a:pt x="88" y="48"/>
                  </a:lnTo>
                  <a:lnTo>
                    <a:pt x="102" y="40"/>
                  </a:lnTo>
                  <a:lnTo>
                    <a:pt x="114" y="32"/>
                  </a:lnTo>
                  <a:lnTo>
                    <a:pt x="130" y="28"/>
                  </a:lnTo>
                  <a:lnTo>
                    <a:pt x="144" y="24"/>
                  </a:lnTo>
                  <a:lnTo>
                    <a:pt x="160" y="22"/>
                  </a:lnTo>
                  <a:lnTo>
                    <a:pt x="176" y="20"/>
                  </a:lnTo>
                  <a:lnTo>
                    <a:pt x="176" y="20"/>
                  </a:lnTo>
                  <a:lnTo>
                    <a:pt x="192" y="22"/>
                  </a:lnTo>
                  <a:lnTo>
                    <a:pt x="206" y="24"/>
                  </a:lnTo>
                  <a:lnTo>
                    <a:pt x="222" y="28"/>
                  </a:lnTo>
                  <a:lnTo>
                    <a:pt x="236" y="32"/>
                  </a:lnTo>
                  <a:lnTo>
                    <a:pt x="250" y="40"/>
                  </a:lnTo>
                  <a:lnTo>
                    <a:pt x="262" y="48"/>
                  </a:lnTo>
                  <a:lnTo>
                    <a:pt x="274" y="56"/>
                  </a:lnTo>
                  <a:lnTo>
                    <a:pt x="286" y="66"/>
                  </a:lnTo>
                  <a:lnTo>
                    <a:pt x="296" y="78"/>
                  </a:lnTo>
                  <a:lnTo>
                    <a:pt x="304" y="90"/>
                  </a:lnTo>
                  <a:lnTo>
                    <a:pt x="312" y="102"/>
                  </a:lnTo>
                  <a:lnTo>
                    <a:pt x="318" y="116"/>
                  </a:lnTo>
                  <a:lnTo>
                    <a:pt x="324" y="130"/>
                  </a:lnTo>
                  <a:lnTo>
                    <a:pt x="328" y="144"/>
                  </a:lnTo>
                  <a:lnTo>
                    <a:pt x="330" y="160"/>
                  </a:lnTo>
                  <a:lnTo>
                    <a:pt x="330" y="176"/>
                  </a:lnTo>
                  <a:lnTo>
                    <a:pt x="330" y="176"/>
                  </a:lnTo>
                  <a:lnTo>
                    <a:pt x="330" y="192"/>
                  </a:lnTo>
                  <a:lnTo>
                    <a:pt x="328" y="208"/>
                  </a:lnTo>
                  <a:lnTo>
                    <a:pt x="324" y="222"/>
                  </a:lnTo>
                  <a:lnTo>
                    <a:pt x="318" y="236"/>
                  </a:lnTo>
                  <a:lnTo>
                    <a:pt x="312" y="250"/>
                  </a:lnTo>
                  <a:lnTo>
                    <a:pt x="304" y="262"/>
                  </a:lnTo>
                  <a:lnTo>
                    <a:pt x="296" y="274"/>
                  </a:lnTo>
                  <a:lnTo>
                    <a:pt x="286" y="286"/>
                  </a:lnTo>
                  <a:lnTo>
                    <a:pt x="274" y="296"/>
                  </a:lnTo>
                  <a:lnTo>
                    <a:pt x="262" y="304"/>
                  </a:lnTo>
                  <a:lnTo>
                    <a:pt x="250" y="312"/>
                  </a:lnTo>
                  <a:lnTo>
                    <a:pt x="236" y="320"/>
                  </a:lnTo>
                  <a:lnTo>
                    <a:pt x="222" y="324"/>
                  </a:lnTo>
                  <a:lnTo>
                    <a:pt x="206" y="328"/>
                  </a:lnTo>
                  <a:lnTo>
                    <a:pt x="192" y="330"/>
                  </a:lnTo>
                  <a:lnTo>
                    <a:pt x="176" y="332"/>
                  </a:lnTo>
                  <a:lnTo>
                    <a:pt x="176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pt-BR" sz="1400"/>
            </a:p>
          </p:txBody>
        </p:sp>
        <p:sp>
          <p:nvSpPr>
            <p:cNvPr id="49" name="Freeform 6"/>
            <p:cNvSpPr>
              <a:spLocks noEditPoints="1"/>
            </p:cNvSpPr>
            <p:nvPr/>
          </p:nvSpPr>
          <p:spPr bwMode="auto">
            <a:xfrm>
              <a:off x="11730038" y="2070100"/>
              <a:ext cx="381000" cy="247650"/>
            </a:xfrm>
            <a:custGeom>
              <a:avLst/>
              <a:gdLst>
                <a:gd name="T0" fmla="*/ 182 w 240"/>
                <a:gd name="T1" fmla="*/ 44 h 156"/>
                <a:gd name="T2" fmla="*/ 172 w 240"/>
                <a:gd name="T3" fmla="*/ 44 h 156"/>
                <a:gd name="T4" fmla="*/ 164 w 240"/>
                <a:gd name="T5" fmla="*/ 26 h 156"/>
                <a:gd name="T6" fmla="*/ 150 w 240"/>
                <a:gd name="T7" fmla="*/ 12 h 156"/>
                <a:gd name="T8" fmla="*/ 132 w 240"/>
                <a:gd name="T9" fmla="*/ 2 h 156"/>
                <a:gd name="T10" fmla="*/ 110 w 240"/>
                <a:gd name="T11" fmla="*/ 0 h 156"/>
                <a:gd name="T12" fmla="*/ 98 w 240"/>
                <a:gd name="T13" fmla="*/ 0 h 156"/>
                <a:gd name="T14" fmla="*/ 76 w 240"/>
                <a:gd name="T15" fmla="*/ 10 h 156"/>
                <a:gd name="T16" fmla="*/ 58 w 240"/>
                <a:gd name="T17" fmla="*/ 28 h 156"/>
                <a:gd name="T18" fmla="*/ 48 w 240"/>
                <a:gd name="T19" fmla="*/ 50 h 156"/>
                <a:gd name="T20" fmla="*/ 48 w 240"/>
                <a:gd name="T21" fmla="*/ 62 h 156"/>
                <a:gd name="T22" fmla="*/ 48 w 240"/>
                <a:gd name="T23" fmla="*/ 70 h 156"/>
                <a:gd name="T24" fmla="*/ 42 w 240"/>
                <a:gd name="T25" fmla="*/ 70 h 156"/>
                <a:gd name="T26" fmla="*/ 26 w 240"/>
                <a:gd name="T27" fmla="*/ 74 h 156"/>
                <a:gd name="T28" fmla="*/ 12 w 240"/>
                <a:gd name="T29" fmla="*/ 84 h 156"/>
                <a:gd name="T30" fmla="*/ 2 w 240"/>
                <a:gd name="T31" fmla="*/ 96 h 156"/>
                <a:gd name="T32" fmla="*/ 0 w 240"/>
                <a:gd name="T33" fmla="*/ 112 h 156"/>
                <a:gd name="T34" fmla="*/ 0 w 240"/>
                <a:gd name="T35" fmla="*/ 122 h 156"/>
                <a:gd name="T36" fmla="*/ 6 w 240"/>
                <a:gd name="T37" fmla="*/ 136 h 156"/>
                <a:gd name="T38" fmla="*/ 18 w 240"/>
                <a:gd name="T39" fmla="*/ 148 h 156"/>
                <a:gd name="T40" fmla="*/ 34 w 240"/>
                <a:gd name="T41" fmla="*/ 154 h 156"/>
                <a:gd name="T42" fmla="*/ 182 w 240"/>
                <a:gd name="T43" fmla="*/ 156 h 156"/>
                <a:gd name="T44" fmla="*/ 194 w 240"/>
                <a:gd name="T45" fmla="*/ 154 h 156"/>
                <a:gd name="T46" fmla="*/ 214 w 240"/>
                <a:gd name="T47" fmla="*/ 146 h 156"/>
                <a:gd name="T48" fmla="*/ 230 w 240"/>
                <a:gd name="T49" fmla="*/ 130 h 156"/>
                <a:gd name="T50" fmla="*/ 238 w 240"/>
                <a:gd name="T51" fmla="*/ 110 h 156"/>
                <a:gd name="T52" fmla="*/ 240 w 240"/>
                <a:gd name="T53" fmla="*/ 100 h 156"/>
                <a:gd name="T54" fmla="*/ 234 w 240"/>
                <a:gd name="T55" fmla="*/ 78 h 156"/>
                <a:gd name="T56" fmla="*/ 222 w 240"/>
                <a:gd name="T57" fmla="*/ 60 h 156"/>
                <a:gd name="T58" fmla="*/ 204 w 240"/>
                <a:gd name="T59" fmla="*/ 48 h 156"/>
                <a:gd name="T60" fmla="*/ 182 w 240"/>
                <a:gd name="T61" fmla="*/ 44 h 156"/>
                <a:gd name="T62" fmla="*/ 136 w 240"/>
                <a:gd name="T63" fmla="*/ 94 h 156"/>
                <a:gd name="T64" fmla="*/ 118 w 240"/>
                <a:gd name="T65" fmla="*/ 116 h 156"/>
                <a:gd name="T66" fmla="*/ 104 w 240"/>
                <a:gd name="T67" fmla="*/ 130 h 156"/>
                <a:gd name="T68" fmla="*/ 98 w 240"/>
                <a:gd name="T69" fmla="*/ 134 h 156"/>
                <a:gd name="T70" fmla="*/ 96 w 240"/>
                <a:gd name="T71" fmla="*/ 132 h 156"/>
                <a:gd name="T72" fmla="*/ 94 w 240"/>
                <a:gd name="T73" fmla="*/ 128 h 156"/>
                <a:gd name="T74" fmla="*/ 94 w 240"/>
                <a:gd name="T75" fmla="*/ 124 h 156"/>
                <a:gd name="T76" fmla="*/ 106 w 240"/>
                <a:gd name="T77" fmla="*/ 96 h 156"/>
                <a:gd name="T78" fmla="*/ 96 w 240"/>
                <a:gd name="T79" fmla="*/ 92 h 156"/>
                <a:gd name="T80" fmla="*/ 92 w 240"/>
                <a:gd name="T81" fmla="*/ 90 h 156"/>
                <a:gd name="T82" fmla="*/ 90 w 240"/>
                <a:gd name="T83" fmla="*/ 84 h 156"/>
                <a:gd name="T84" fmla="*/ 92 w 240"/>
                <a:gd name="T85" fmla="*/ 78 h 156"/>
                <a:gd name="T86" fmla="*/ 110 w 240"/>
                <a:gd name="T87" fmla="*/ 56 h 156"/>
                <a:gd name="T88" fmla="*/ 124 w 240"/>
                <a:gd name="T89" fmla="*/ 42 h 156"/>
                <a:gd name="T90" fmla="*/ 130 w 240"/>
                <a:gd name="T91" fmla="*/ 38 h 156"/>
                <a:gd name="T92" fmla="*/ 132 w 240"/>
                <a:gd name="T93" fmla="*/ 40 h 156"/>
                <a:gd name="T94" fmla="*/ 134 w 240"/>
                <a:gd name="T95" fmla="*/ 44 h 156"/>
                <a:gd name="T96" fmla="*/ 134 w 240"/>
                <a:gd name="T97" fmla="*/ 48 h 156"/>
                <a:gd name="T98" fmla="*/ 122 w 240"/>
                <a:gd name="T99" fmla="*/ 76 h 156"/>
                <a:gd name="T100" fmla="*/ 132 w 240"/>
                <a:gd name="T101" fmla="*/ 80 h 156"/>
                <a:gd name="T102" fmla="*/ 136 w 240"/>
                <a:gd name="T103" fmla="*/ 82 h 156"/>
                <a:gd name="T104" fmla="*/ 138 w 240"/>
                <a:gd name="T105" fmla="*/ 88 h 156"/>
                <a:gd name="T106" fmla="*/ 136 w 240"/>
                <a:gd name="T107" fmla="*/ 94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40" h="156">
                  <a:moveTo>
                    <a:pt x="182" y="44"/>
                  </a:moveTo>
                  <a:lnTo>
                    <a:pt x="18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68" y="34"/>
                  </a:lnTo>
                  <a:lnTo>
                    <a:pt x="164" y="26"/>
                  </a:lnTo>
                  <a:lnTo>
                    <a:pt x="156" y="18"/>
                  </a:lnTo>
                  <a:lnTo>
                    <a:pt x="150" y="12"/>
                  </a:lnTo>
                  <a:lnTo>
                    <a:pt x="140" y="6"/>
                  </a:lnTo>
                  <a:lnTo>
                    <a:pt x="132" y="2"/>
                  </a:lnTo>
                  <a:lnTo>
                    <a:pt x="122" y="0"/>
                  </a:lnTo>
                  <a:lnTo>
                    <a:pt x="110" y="0"/>
                  </a:lnTo>
                  <a:lnTo>
                    <a:pt x="110" y="0"/>
                  </a:lnTo>
                  <a:lnTo>
                    <a:pt x="98" y="0"/>
                  </a:lnTo>
                  <a:lnTo>
                    <a:pt x="86" y="4"/>
                  </a:lnTo>
                  <a:lnTo>
                    <a:pt x="76" y="10"/>
                  </a:lnTo>
                  <a:lnTo>
                    <a:pt x="66" y="18"/>
                  </a:lnTo>
                  <a:lnTo>
                    <a:pt x="58" y="28"/>
                  </a:lnTo>
                  <a:lnTo>
                    <a:pt x="52" y="38"/>
                  </a:lnTo>
                  <a:lnTo>
                    <a:pt x="48" y="50"/>
                  </a:lnTo>
                  <a:lnTo>
                    <a:pt x="48" y="62"/>
                  </a:lnTo>
                  <a:lnTo>
                    <a:pt x="48" y="62"/>
                  </a:lnTo>
                  <a:lnTo>
                    <a:pt x="48" y="70"/>
                  </a:lnTo>
                  <a:lnTo>
                    <a:pt x="48" y="70"/>
                  </a:lnTo>
                  <a:lnTo>
                    <a:pt x="42" y="70"/>
                  </a:lnTo>
                  <a:lnTo>
                    <a:pt x="42" y="70"/>
                  </a:lnTo>
                  <a:lnTo>
                    <a:pt x="34" y="72"/>
                  </a:lnTo>
                  <a:lnTo>
                    <a:pt x="26" y="74"/>
                  </a:lnTo>
                  <a:lnTo>
                    <a:pt x="18" y="78"/>
                  </a:lnTo>
                  <a:lnTo>
                    <a:pt x="12" y="84"/>
                  </a:lnTo>
                  <a:lnTo>
                    <a:pt x="6" y="90"/>
                  </a:lnTo>
                  <a:lnTo>
                    <a:pt x="2" y="96"/>
                  </a:lnTo>
                  <a:lnTo>
                    <a:pt x="0" y="104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22"/>
                  </a:lnTo>
                  <a:lnTo>
                    <a:pt x="2" y="130"/>
                  </a:lnTo>
                  <a:lnTo>
                    <a:pt x="6" y="136"/>
                  </a:lnTo>
                  <a:lnTo>
                    <a:pt x="12" y="142"/>
                  </a:lnTo>
                  <a:lnTo>
                    <a:pt x="18" y="148"/>
                  </a:lnTo>
                  <a:lnTo>
                    <a:pt x="26" y="152"/>
                  </a:lnTo>
                  <a:lnTo>
                    <a:pt x="34" y="154"/>
                  </a:lnTo>
                  <a:lnTo>
                    <a:pt x="42" y="156"/>
                  </a:lnTo>
                  <a:lnTo>
                    <a:pt x="182" y="156"/>
                  </a:lnTo>
                  <a:lnTo>
                    <a:pt x="182" y="156"/>
                  </a:lnTo>
                  <a:lnTo>
                    <a:pt x="194" y="154"/>
                  </a:lnTo>
                  <a:lnTo>
                    <a:pt x="204" y="150"/>
                  </a:lnTo>
                  <a:lnTo>
                    <a:pt x="214" y="146"/>
                  </a:lnTo>
                  <a:lnTo>
                    <a:pt x="222" y="138"/>
                  </a:lnTo>
                  <a:lnTo>
                    <a:pt x="230" y="130"/>
                  </a:lnTo>
                  <a:lnTo>
                    <a:pt x="234" y="122"/>
                  </a:lnTo>
                  <a:lnTo>
                    <a:pt x="238" y="110"/>
                  </a:lnTo>
                  <a:lnTo>
                    <a:pt x="240" y="100"/>
                  </a:lnTo>
                  <a:lnTo>
                    <a:pt x="240" y="100"/>
                  </a:lnTo>
                  <a:lnTo>
                    <a:pt x="238" y="88"/>
                  </a:lnTo>
                  <a:lnTo>
                    <a:pt x="234" y="78"/>
                  </a:lnTo>
                  <a:lnTo>
                    <a:pt x="230" y="68"/>
                  </a:lnTo>
                  <a:lnTo>
                    <a:pt x="222" y="60"/>
                  </a:lnTo>
                  <a:lnTo>
                    <a:pt x="214" y="52"/>
                  </a:lnTo>
                  <a:lnTo>
                    <a:pt x="204" y="48"/>
                  </a:lnTo>
                  <a:lnTo>
                    <a:pt x="194" y="44"/>
                  </a:lnTo>
                  <a:lnTo>
                    <a:pt x="182" y="44"/>
                  </a:lnTo>
                  <a:lnTo>
                    <a:pt x="182" y="44"/>
                  </a:lnTo>
                  <a:close/>
                  <a:moveTo>
                    <a:pt x="136" y="94"/>
                  </a:moveTo>
                  <a:lnTo>
                    <a:pt x="136" y="94"/>
                  </a:lnTo>
                  <a:lnTo>
                    <a:pt x="118" y="116"/>
                  </a:lnTo>
                  <a:lnTo>
                    <a:pt x="104" y="130"/>
                  </a:lnTo>
                  <a:lnTo>
                    <a:pt x="104" y="130"/>
                  </a:lnTo>
                  <a:lnTo>
                    <a:pt x="100" y="132"/>
                  </a:lnTo>
                  <a:lnTo>
                    <a:pt x="98" y="134"/>
                  </a:lnTo>
                  <a:lnTo>
                    <a:pt x="96" y="132"/>
                  </a:lnTo>
                  <a:lnTo>
                    <a:pt x="96" y="132"/>
                  </a:lnTo>
                  <a:lnTo>
                    <a:pt x="94" y="132"/>
                  </a:lnTo>
                  <a:lnTo>
                    <a:pt x="94" y="128"/>
                  </a:lnTo>
                  <a:lnTo>
                    <a:pt x="94" y="128"/>
                  </a:lnTo>
                  <a:lnTo>
                    <a:pt x="94" y="124"/>
                  </a:lnTo>
                  <a:lnTo>
                    <a:pt x="106" y="96"/>
                  </a:lnTo>
                  <a:lnTo>
                    <a:pt x="106" y="96"/>
                  </a:lnTo>
                  <a:lnTo>
                    <a:pt x="98" y="92"/>
                  </a:lnTo>
                  <a:lnTo>
                    <a:pt x="96" y="92"/>
                  </a:lnTo>
                  <a:lnTo>
                    <a:pt x="96" y="92"/>
                  </a:lnTo>
                  <a:lnTo>
                    <a:pt x="92" y="90"/>
                  </a:lnTo>
                  <a:lnTo>
                    <a:pt x="90" y="88"/>
                  </a:lnTo>
                  <a:lnTo>
                    <a:pt x="90" y="84"/>
                  </a:lnTo>
                  <a:lnTo>
                    <a:pt x="90" y="84"/>
                  </a:lnTo>
                  <a:lnTo>
                    <a:pt x="92" y="78"/>
                  </a:lnTo>
                  <a:lnTo>
                    <a:pt x="92" y="78"/>
                  </a:lnTo>
                  <a:lnTo>
                    <a:pt x="110" y="56"/>
                  </a:lnTo>
                  <a:lnTo>
                    <a:pt x="124" y="42"/>
                  </a:lnTo>
                  <a:lnTo>
                    <a:pt x="124" y="42"/>
                  </a:lnTo>
                  <a:lnTo>
                    <a:pt x="128" y="40"/>
                  </a:lnTo>
                  <a:lnTo>
                    <a:pt x="130" y="38"/>
                  </a:lnTo>
                  <a:lnTo>
                    <a:pt x="132" y="40"/>
                  </a:lnTo>
                  <a:lnTo>
                    <a:pt x="132" y="40"/>
                  </a:lnTo>
                  <a:lnTo>
                    <a:pt x="134" y="40"/>
                  </a:lnTo>
                  <a:lnTo>
                    <a:pt x="134" y="44"/>
                  </a:lnTo>
                  <a:lnTo>
                    <a:pt x="134" y="44"/>
                  </a:lnTo>
                  <a:lnTo>
                    <a:pt x="134" y="48"/>
                  </a:lnTo>
                  <a:lnTo>
                    <a:pt x="122" y="76"/>
                  </a:lnTo>
                  <a:lnTo>
                    <a:pt x="122" y="76"/>
                  </a:lnTo>
                  <a:lnTo>
                    <a:pt x="130" y="80"/>
                  </a:lnTo>
                  <a:lnTo>
                    <a:pt x="132" y="80"/>
                  </a:lnTo>
                  <a:lnTo>
                    <a:pt x="132" y="80"/>
                  </a:lnTo>
                  <a:lnTo>
                    <a:pt x="136" y="82"/>
                  </a:lnTo>
                  <a:lnTo>
                    <a:pt x="138" y="84"/>
                  </a:lnTo>
                  <a:lnTo>
                    <a:pt x="138" y="88"/>
                  </a:lnTo>
                  <a:lnTo>
                    <a:pt x="138" y="88"/>
                  </a:lnTo>
                  <a:lnTo>
                    <a:pt x="136" y="94"/>
                  </a:lnTo>
                  <a:lnTo>
                    <a:pt x="136" y="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pt-BR" sz="1400"/>
            </a:p>
          </p:txBody>
        </p:sp>
      </p:grpSp>
      <p:sp>
        <p:nvSpPr>
          <p:cNvPr id="50" name="Freeform 7"/>
          <p:cNvSpPr>
            <a:spLocks noEditPoints="1"/>
          </p:cNvSpPr>
          <p:nvPr/>
        </p:nvSpPr>
        <p:spPr bwMode="auto">
          <a:xfrm>
            <a:off x="5695077" y="1809846"/>
            <a:ext cx="465875" cy="469392"/>
          </a:xfrm>
          <a:custGeom>
            <a:avLst/>
            <a:gdLst>
              <a:gd name="T0" fmla="*/ 124 w 350"/>
              <a:gd name="T1" fmla="*/ 8 h 352"/>
              <a:gd name="T2" fmla="*/ 52 w 350"/>
              <a:gd name="T3" fmla="*/ 52 h 352"/>
              <a:gd name="T4" fmla="*/ 8 w 350"/>
              <a:gd name="T5" fmla="*/ 124 h 352"/>
              <a:gd name="T6" fmla="*/ 0 w 350"/>
              <a:gd name="T7" fmla="*/ 194 h 352"/>
              <a:gd name="T8" fmla="*/ 30 w 350"/>
              <a:gd name="T9" fmla="*/ 274 h 352"/>
              <a:gd name="T10" fmla="*/ 92 w 350"/>
              <a:gd name="T11" fmla="*/ 330 h 352"/>
              <a:gd name="T12" fmla="*/ 176 w 350"/>
              <a:gd name="T13" fmla="*/ 352 h 352"/>
              <a:gd name="T14" fmla="*/ 244 w 350"/>
              <a:gd name="T15" fmla="*/ 338 h 352"/>
              <a:gd name="T16" fmla="*/ 310 w 350"/>
              <a:gd name="T17" fmla="*/ 288 h 352"/>
              <a:gd name="T18" fmla="*/ 348 w 350"/>
              <a:gd name="T19" fmla="*/ 212 h 352"/>
              <a:gd name="T20" fmla="*/ 348 w 350"/>
              <a:gd name="T21" fmla="*/ 140 h 352"/>
              <a:gd name="T22" fmla="*/ 310 w 350"/>
              <a:gd name="T23" fmla="*/ 64 h 352"/>
              <a:gd name="T24" fmla="*/ 244 w 350"/>
              <a:gd name="T25" fmla="*/ 14 h 352"/>
              <a:gd name="T26" fmla="*/ 176 w 350"/>
              <a:gd name="T27" fmla="*/ 0 h 352"/>
              <a:gd name="T28" fmla="*/ 156 w 350"/>
              <a:gd name="T29" fmla="*/ 222 h 352"/>
              <a:gd name="T30" fmla="*/ 156 w 350"/>
              <a:gd name="T31" fmla="*/ 192 h 352"/>
              <a:gd name="T32" fmla="*/ 168 w 350"/>
              <a:gd name="T33" fmla="*/ 168 h 352"/>
              <a:gd name="T34" fmla="*/ 170 w 350"/>
              <a:gd name="T35" fmla="*/ 146 h 352"/>
              <a:gd name="T36" fmla="*/ 170 w 350"/>
              <a:gd name="T37" fmla="*/ 110 h 352"/>
              <a:gd name="T38" fmla="*/ 142 w 350"/>
              <a:gd name="T39" fmla="*/ 82 h 352"/>
              <a:gd name="T40" fmla="*/ 100 w 350"/>
              <a:gd name="T41" fmla="*/ 90 h 352"/>
              <a:gd name="T42" fmla="*/ 88 w 350"/>
              <a:gd name="T43" fmla="*/ 122 h 352"/>
              <a:gd name="T44" fmla="*/ 86 w 350"/>
              <a:gd name="T45" fmla="*/ 154 h 352"/>
              <a:gd name="T46" fmla="*/ 96 w 350"/>
              <a:gd name="T47" fmla="*/ 174 h 352"/>
              <a:gd name="T48" fmla="*/ 108 w 350"/>
              <a:gd name="T49" fmla="*/ 204 h 352"/>
              <a:gd name="T50" fmla="*/ 90 w 350"/>
              <a:gd name="T51" fmla="*/ 236 h 352"/>
              <a:gd name="T52" fmla="*/ 54 w 350"/>
              <a:gd name="T53" fmla="*/ 256 h 352"/>
              <a:gd name="T54" fmla="*/ 38 w 350"/>
              <a:gd name="T55" fmla="*/ 248 h 352"/>
              <a:gd name="T56" fmla="*/ 20 w 350"/>
              <a:gd name="T57" fmla="*/ 160 h 352"/>
              <a:gd name="T58" fmla="*/ 46 w 350"/>
              <a:gd name="T59" fmla="*/ 88 h 352"/>
              <a:gd name="T60" fmla="*/ 100 w 350"/>
              <a:gd name="T61" fmla="*/ 40 h 352"/>
              <a:gd name="T62" fmla="*/ 174 w 350"/>
              <a:gd name="T63" fmla="*/ 20 h 352"/>
              <a:gd name="T64" fmla="*/ 236 w 350"/>
              <a:gd name="T65" fmla="*/ 32 h 352"/>
              <a:gd name="T66" fmla="*/ 294 w 350"/>
              <a:gd name="T67" fmla="*/ 76 h 352"/>
              <a:gd name="T68" fmla="*/ 326 w 350"/>
              <a:gd name="T69" fmla="*/ 144 h 352"/>
              <a:gd name="T70" fmla="*/ 324 w 350"/>
              <a:gd name="T71" fmla="*/ 218 h 352"/>
              <a:gd name="T72" fmla="*/ 296 w 350"/>
              <a:gd name="T73" fmla="*/ 246 h 352"/>
              <a:gd name="T74" fmla="*/ 252 w 350"/>
              <a:gd name="T75" fmla="*/ 216 h 352"/>
              <a:gd name="T76" fmla="*/ 256 w 350"/>
              <a:gd name="T77" fmla="*/ 194 h 352"/>
              <a:gd name="T78" fmla="*/ 266 w 350"/>
              <a:gd name="T79" fmla="*/ 176 h 352"/>
              <a:gd name="T80" fmla="*/ 264 w 350"/>
              <a:gd name="T81" fmla="*/ 162 h 352"/>
              <a:gd name="T82" fmla="*/ 256 w 350"/>
              <a:gd name="T83" fmla="*/ 122 h 352"/>
              <a:gd name="T84" fmla="*/ 224 w 350"/>
              <a:gd name="T85" fmla="*/ 114 h 352"/>
              <a:gd name="T86" fmla="*/ 202 w 350"/>
              <a:gd name="T87" fmla="*/ 146 h 352"/>
              <a:gd name="T88" fmla="*/ 202 w 350"/>
              <a:gd name="T89" fmla="*/ 168 h 352"/>
              <a:gd name="T90" fmla="*/ 210 w 350"/>
              <a:gd name="T91" fmla="*/ 184 h 352"/>
              <a:gd name="T92" fmla="*/ 218 w 350"/>
              <a:gd name="T93" fmla="*/ 206 h 352"/>
              <a:gd name="T94" fmla="*/ 206 w 350"/>
              <a:gd name="T95" fmla="*/ 228 h 352"/>
              <a:gd name="T96" fmla="*/ 254 w 350"/>
              <a:gd name="T97" fmla="*/ 260 h 352"/>
              <a:gd name="T98" fmla="*/ 234 w 350"/>
              <a:gd name="T99" fmla="*/ 320 h 352"/>
              <a:gd name="T100" fmla="*/ 220 w 350"/>
              <a:gd name="T101" fmla="*/ 260 h 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50" h="352">
                <a:moveTo>
                  <a:pt x="176" y="0"/>
                </a:moveTo>
                <a:lnTo>
                  <a:pt x="176" y="0"/>
                </a:lnTo>
                <a:lnTo>
                  <a:pt x="158" y="2"/>
                </a:lnTo>
                <a:lnTo>
                  <a:pt x="140" y="4"/>
                </a:lnTo>
                <a:lnTo>
                  <a:pt x="124" y="8"/>
                </a:lnTo>
                <a:lnTo>
                  <a:pt x="108" y="14"/>
                </a:lnTo>
                <a:lnTo>
                  <a:pt x="92" y="22"/>
                </a:lnTo>
                <a:lnTo>
                  <a:pt x="78" y="30"/>
                </a:lnTo>
                <a:lnTo>
                  <a:pt x="64" y="40"/>
                </a:lnTo>
                <a:lnTo>
                  <a:pt x="52" y="52"/>
                </a:lnTo>
                <a:lnTo>
                  <a:pt x="40" y="64"/>
                </a:lnTo>
                <a:lnTo>
                  <a:pt x="30" y="78"/>
                </a:lnTo>
                <a:lnTo>
                  <a:pt x="22" y="92"/>
                </a:lnTo>
                <a:lnTo>
                  <a:pt x="14" y="108"/>
                </a:lnTo>
                <a:lnTo>
                  <a:pt x="8" y="124"/>
                </a:lnTo>
                <a:lnTo>
                  <a:pt x="4" y="140"/>
                </a:lnTo>
                <a:lnTo>
                  <a:pt x="0" y="158"/>
                </a:lnTo>
                <a:lnTo>
                  <a:pt x="0" y="176"/>
                </a:lnTo>
                <a:lnTo>
                  <a:pt x="0" y="176"/>
                </a:lnTo>
                <a:lnTo>
                  <a:pt x="0" y="194"/>
                </a:lnTo>
                <a:lnTo>
                  <a:pt x="4" y="212"/>
                </a:lnTo>
                <a:lnTo>
                  <a:pt x="8" y="228"/>
                </a:lnTo>
                <a:lnTo>
                  <a:pt x="14" y="244"/>
                </a:lnTo>
                <a:lnTo>
                  <a:pt x="22" y="260"/>
                </a:lnTo>
                <a:lnTo>
                  <a:pt x="30" y="274"/>
                </a:lnTo>
                <a:lnTo>
                  <a:pt x="40" y="288"/>
                </a:lnTo>
                <a:lnTo>
                  <a:pt x="52" y="300"/>
                </a:lnTo>
                <a:lnTo>
                  <a:pt x="64" y="310"/>
                </a:lnTo>
                <a:lnTo>
                  <a:pt x="78" y="322"/>
                </a:lnTo>
                <a:lnTo>
                  <a:pt x="92" y="330"/>
                </a:lnTo>
                <a:lnTo>
                  <a:pt x="108" y="338"/>
                </a:lnTo>
                <a:lnTo>
                  <a:pt x="124" y="344"/>
                </a:lnTo>
                <a:lnTo>
                  <a:pt x="140" y="348"/>
                </a:lnTo>
                <a:lnTo>
                  <a:pt x="158" y="350"/>
                </a:lnTo>
                <a:lnTo>
                  <a:pt x="176" y="352"/>
                </a:lnTo>
                <a:lnTo>
                  <a:pt x="176" y="352"/>
                </a:lnTo>
                <a:lnTo>
                  <a:pt x="194" y="350"/>
                </a:lnTo>
                <a:lnTo>
                  <a:pt x="210" y="348"/>
                </a:lnTo>
                <a:lnTo>
                  <a:pt x="228" y="344"/>
                </a:lnTo>
                <a:lnTo>
                  <a:pt x="244" y="338"/>
                </a:lnTo>
                <a:lnTo>
                  <a:pt x="258" y="330"/>
                </a:lnTo>
                <a:lnTo>
                  <a:pt x="274" y="322"/>
                </a:lnTo>
                <a:lnTo>
                  <a:pt x="286" y="310"/>
                </a:lnTo>
                <a:lnTo>
                  <a:pt x="300" y="300"/>
                </a:lnTo>
                <a:lnTo>
                  <a:pt x="310" y="288"/>
                </a:lnTo>
                <a:lnTo>
                  <a:pt x="320" y="274"/>
                </a:lnTo>
                <a:lnTo>
                  <a:pt x="330" y="260"/>
                </a:lnTo>
                <a:lnTo>
                  <a:pt x="336" y="244"/>
                </a:lnTo>
                <a:lnTo>
                  <a:pt x="342" y="228"/>
                </a:lnTo>
                <a:lnTo>
                  <a:pt x="348" y="212"/>
                </a:lnTo>
                <a:lnTo>
                  <a:pt x="350" y="194"/>
                </a:lnTo>
                <a:lnTo>
                  <a:pt x="350" y="176"/>
                </a:lnTo>
                <a:lnTo>
                  <a:pt x="350" y="176"/>
                </a:lnTo>
                <a:lnTo>
                  <a:pt x="350" y="158"/>
                </a:lnTo>
                <a:lnTo>
                  <a:pt x="348" y="140"/>
                </a:lnTo>
                <a:lnTo>
                  <a:pt x="342" y="124"/>
                </a:lnTo>
                <a:lnTo>
                  <a:pt x="336" y="108"/>
                </a:lnTo>
                <a:lnTo>
                  <a:pt x="330" y="92"/>
                </a:lnTo>
                <a:lnTo>
                  <a:pt x="320" y="78"/>
                </a:lnTo>
                <a:lnTo>
                  <a:pt x="310" y="64"/>
                </a:lnTo>
                <a:lnTo>
                  <a:pt x="300" y="52"/>
                </a:lnTo>
                <a:lnTo>
                  <a:pt x="286" y="40"/>
                </a:lnTo>
                <a:lnTo>
                  <a:pt x="274" y="30"/>
                </a:lnTo>
                <a:lnTo>
                  <a:pt x="258" y="22"/>
                </a:lnTo>
                <a:lnTo>
                  <a:pt x="244" y="14"/>
                </a:lnTo>
                <a:lnTo>
                  <a:pt x="228" y="8"/>
                </a:lnTo>
                <a:lnTo>
                  <a:pt x="210" y="4"/>
                </a:lnTo>
                <a:lnTo>
                  <a:pt x="194" y="2"/>
                </a:lnTo>
                <a:lnTo>
                  <a:pt x="176" y="0"/>
                </a:lnTo>
                <a:lnTo>
                  <a:pt x="176" y="0"/>
                </a:lnTo>
                <a:close/>
                <a:moveTo>
                  <a:pt x="186" y="244"/>
                </a:moveTo>
                <a:lnTo>
                  <a:pt x="186" y="244"/>
                </a:lnTo>
                <a:lnTo>
                  <a:pt x="170" y="236"/>
                </a:lnTo>
                <a:lnTo>
                  <a:pt x="158" y="228"/>
                </a:lnTo>
                <a:lnTo>
                  <a:pt x="156" y="222"/>
                </a:lnTo>
                <a:lnTo>
                  <a:pt x="152" y="216"/>
                </a:lnTo>
                <a:lnTo>
                  <a:pt x="152" y="204"/>
                </a:lnTo>
                <a:lnTo>
                  <a:pt x="152" y="204"/>
                </a:lnTo>
                <a:lnTo>
                  <a:pt x="152" y="198"/>
                </a:lnTo>
                <a:lnTo>
                  <a:pt x="156" y="192"/>
                </a:lnTo>
                <a:lnTo>
                  <a:pt x="160" y="186"/>
                </a:lnTo>
                <a:lnTo>
                  <a:pt x="162" y="174"/>
                </a:lnTo>
                <a:lnTo>
                  <a:pt x="162" y="174"/>
                </a:lnTo>
                <a:lnTo>
                  <a:pt x="164" y="170"/>
                </a:lnTo>
                <a:lnTo>
                  <a:pt x="168" y="168"/>
                </a:lnTo>
                <a:lnTo>
                  <a:pt x="170" y="164"/>
                </a:lnTo>
                <a:lnTo>
                  <a:pt x="172" y="154"/>
                </a:lnTo>
                <a:lnTo>
                  <a:pt x="172" y="154"/>
                </a:lnTo>
                <a:lnTo>
                  <a:pt x="172" y="148"/>
                </a:lnTo>
                <a:lnTo>
                  <a:pt x="170" y="146"/>
                </a:lnTo>
                <a:lnTo>
                  <a:pt x="168" y="144"/>
                </a:lnTo>
                <a:lnTo>
                  <a:pt x="168" y="144"/>
                </a:lnTo>
                <a:lnTo>
                  <a:pt x="172" y="122"/>
                </a:lnTo>
                <a:lnTo>
                  <a:pt x="172" y="122"/>
                </a:lnTo>
                <a:lnTo>
                  <a:pt x="170" y="110"/>
                </a:lnTo>
                <a:lnTo>
                  <a:pt x="168" y="104"/>
                </a:lnTo>
                <a:lnTo>
                  <a:pt x="164" y="96"/>
                </a:lnTo>
                <a:lnTo>
                  <a:pt x="158" y="90"/>
                </a:lnTo>
                <a:lnTo>
                  <a:pt x="152" y="86"/>
                </a:lnTo>
                <a:lnTo>
                  <a:pt x="142" y="82"/>
                </a:lnTo>
                <a:lnTo>
                  <a:pt x="130" y="80"/>
                </a:lnTo>
                <a:lnTo>
                  <a:pt x="130" y="80"/>
                </a:lnTo>
                <a:lnTo>
                  <a:pt x="118" y="82"/>
                </a:lnTo>
                <a:lnTo>
                  <a:pt x="108" y="86"/>
                </a:lnTo>
                <a:lnTo>
                  <a:pt x="100" y="90"/>
                </a:lnTo>
                <a:lnTo>
                  <a:pt x="94" y="96"/>
                </a:lnTo>
                <a:lnTo>
                  <a:pt x="90" y="104"/>
                </a:lnTo>
                <a:lnTo>
                  <a:pt x="88" y="110"/>
                </a:lnTo>
                <a:lnTo>
                  <a:pt x="88" y="122"/>
                </a:lnTo>
                <a:lnTo>
                  <a:pt x="88" y="122"/>
                </a:lnTo>
                <a:lnTo>
                  <a:pt x="90" y="144"/>
                </a:lnTo>
                <a:lnTo>
                  <a:pt x="90" y="144"/>
                </a:lnTo>
                <a:lnTo>
                  <a:pt x="88" y="146"/>
                </a:lnTo>
                <a:lnTo>
                  <a:pt x="86" y="148"/>
                </a:lnTo>
                <a:lnTo>
                  <a:pt x="86" y="154"/>
                </a:lnTo>
                <a:lnTo>
                  <a:pt x="86" y="154"/>
                </a:lnTo>
                <a:lnTo>
                  <a:pt x="88" y="164"/>
                </a:lnTo>
                <a:lnTo>
                  <a:pt x="92" y="168"/>
                </a:lnTo>
                <a:lnTo>
                  <a:pt x="94" y="170"/>
                </a:lnTo>
                <a:lnTo>
                  <a:pt x="96" y="174"/>
                </a:lnTo>
                <a:lnTo>
                  <a:pt x="96" y="174"/>
                </a:lnTo>
                <a:lnTo>
                  <a:pt x="100" y="186"/>
                </a:lnTo>
                <a:lnTo>
                  <a:pt x="104" y="192"/>
                </a:lnTo>
                <a:lnTo>
                  <a:pt x="106" y="198"/>
                </a:lnTo>
                <a:lnTo>
                  <a:pt x="108" y="204"/>
                </a:lnTo>
                <a:lnTo>
                  <a:pt x="108" y="204"/>
                </a:lnTo>
                <a:lnTo>
                  <a:pt x="106" y="216"/>
                </a:lnTo>
                <a:lnTo>
                  <a:pt x="104" y="222"/>
                </a:lnTo>
                <a:lnTo>
                  <a:pt x="100" y="228"/>
                </a:lnTo>
                <a:lnTo>
                  <a:pt x="90" y="236"/>
                </a:lnTo>
                <a:lnTo>
                  <a:pt x="74" y="244"/>
                </a:lnTo>
                <a:lnTo>
                  <a:pt x="74" y="244"/>
                </a:lnTo>
                <a:lnTo>
                  <a:pt x="66" y="246"/>
                </a:lnTo>
                <a:lnTo>
                  <a:pt x="58" y="250"/>
                </a:lnTo>
                <a:lnTo>
                  <a:pt x="54" y="256"/>
                </a:lnTo>
                <a:lnTo>
                  <a:pt x="52" y="260"/>
                </a:lnTo>
                <a:lnTo>
                  <a:pt x="50" y="264"/>
                </a:lnTo>
                <a:lnTo>
                  <a:pt x="50" y="270"/>
                </a:lnTo>
                <a:lnTo>
                  <a:pt x="50" y="270"/>
                </a:lnTo>
                <a:lnTo>
                  <a:pt x="38" y="248"/>
                </a:lnTo>
                <a:lnTo>
                  <a:pt x="28" y="226"/>
                </a:lnTo>
                <a:lnTo>
                  <a:pt x="22" y="202"/>
                </a:lnTo>
                <a:lnTo>
                  <a:pt x="20" y="176"/>
                </a:lnTo>
                <a:lnTo>
                  <a:pt x="20" y="176"/>
                </a:lnTo>
                <a:lnTo>
                  <a:pt x="20" y="160"/>
                </a:lnTo>
                <a:lnTo>
                  <a:pt x="22" y="144"/>
                </a:lnTo>
                <a:lnTo>
                  <a:pt x="26" y="130"/>
                </a:lnTo>
                <a:lnTo>
                  <a:pt x="32" y="116"/>
                </a:lnTo>
                <a:lnTo>
                  <a:pt x="38" y="102"/>
                </a:lnTo>
                <a:lnTo>
                  <a:pt x="46" y="88"/>
                </a:lnTo>
                <a:lnTo>
                  <a:pt x="54" y="76"/>
                </a:lnTo>
                <a:lnTo>
                  <a:pt x="64" y="66"/>
                </a:lnTo>
                <a:lnTo>
                  <a:pt x="76" y="56"/>
                </a:lnTo>
                <a:lnTo>
                  <a:pt x="88" y="46"/>
                </a:lnTo>
                <a:lnTo>
                  <a:pt x="100" y="40"/>
                </a:lnTo>
                <a:lnTo>
                  <a:pt x="114" y="32"/>
                </a:lnTo>
                <a:lnTo>
                  <a:pt x="128" y="28"/>
                </a:lnTo>
                <a:lnTo>
                  <a:pt x="144" y="24"/>
                </a:lnTo>
                <a:lnTo>
                  <a:pt x="158" y="22"/>
                </a:lnTo>
                <a:lnTo>
                  <a:pt x="174" y="20"/>
                </a:lnTo>
                <a:lnTo>
                  <a:pt x="174" y="20"/>
                </a:lnTo>
                <a:lnTo>
                  <a:pt x="190" y="22"/>
                </a:lnTo>
                <a:lnTo>
                  <a:pt x="206" y="24"/>
                </a:lnTo>
                <a:lnTo>
                  <a:pt x="220" y="28"/>
                </a:lnTo>
                <a:lnTo>
                  <a:pt x="236" y="32"/>
                </a:lnTo>
                <a:lnTo>
                  <a:pt x="248" y="40"/>
                </a:lnTo>
                <a:lnTo>
                  <a:pt x="262" y="46"/>
                </a:lnTo>
                <a:lnTo>
                  <a:pt x="274" y="56"/>
                </a:lnTo>
                <a:lnTo>
                  <a:pt x="284" y="66"/>
                </a:lnTo>
                <a:lnTo>
                  <a:pt x="294" y="76"/>
                </a:lnTo>
                <a:lnTo>
                  <a:pt x="304" y="88"/>
                </a:lnTo>
                <a:lnTo>
                  <a:pt x="312" y="102"/>
                </a:lnTo>
                <a:lnTo>
                  <a:pt x="318" y="116"/>
                </a:lnTo>
                <a:lnTo>
                  <a:pt x="324" y="130"/>
                </a:lnTo>
                <a:lnTo>
                  <a:pt x="326" y="144"/>
                </a:lnTo>
                <a:lnTo>
                  <a:pt x="330" y="160"/>
                </a:lnTo>
                <a:lnTo>
                  <a:pt x="330" y="176"/>
                </a:lnTo>
                <a:lnTo>
                  <a:pt x="330" y="176"/>
                </a:lnTo>
                <a:lnTo>
                  <a:pt x="328" y="196"/>
                </a:lnTo>
                <a:lnTo>
                  <a:pt x="324" y="218"/>
                </a:lnTo>
                <a:lnTo>
                  <a:pt x="318" y="236"/>
                </a:lnTo>
                <a:lnTo>
                  <a:pt x="308" y="254"/>
                </a:lnTo>
                <a:lnTo>
                  <a:pt x="308" y="254"/>
                </a:lnTo>
                <a:lnTo>
                  <a:pt x="304" y="250"/>
                </a:lnTo>
                <a:lnTo>
                  <a:pt x="296" y="246"/>
                </a:lnTo>
                <a:lnTo>
                  <a:pt x="276" y="236"/>
                </a:lnTo>
                <a:lnTo>
                  <a:pt x="276" y="236"/>
                </a:lnTo>
                <a:lnTo>
                  <a:pt x="264" y="230"/>
                </a:lnTo>
                <a:lnTo>
                  <a:pt x="256" y="224"/>
                </a:lnTo>
                <a:lnTo>
                  <a:pt x="252" y="216"/>
                </a:lnTo>
                <a:lnTo>
                  <a:pt x="250" y="206"/>
                </a:lnTo>
                <a:lnTo>
                  <a:pt x="250" y="206"/>
                </a:lnTo>
                <a:lnTo>
                  <a:pt x="252" y="202"/>
                </a:lnTo>
                <a:lnTo>
                  <a:pt x="254" y="198"/>
                </a:lnTo>
                <a:lnTo>
                  <a:pt x="256" y="194"/>
                </a:lnTo>
                <a:lnTo>
                  <a:pt x="260" y="184"/>
                </a:lnTo>
                <a:lnTo>
                  <a:pt x="260" y="184"/>
                </a:lnTo>
                <a:lnTo>
                  <a:pt x="260" y="182"/>
                </a:lnTo>
                <a:lnTo>
                  <a:pt x="262" y="180"/>
                </a:lnTo>
                <a:lnTo>
                  <a:pt x="266" y="176"/>
                </a:lnTo>
                <a:lnTo>
                  <a:pt x="266" y="168"/>
                </a:lnTo>
                <a:lnTo>
                  <a:pt x="266" y="168"/>
                </a:lnTo>
                <a:lnTo>
                  <a:pt x="266" y="162"/>
                </a:lnTo>
                <a:lnTo>
                  <a:pt x="264" y="162"/>
                </a:lnTo>
                <a:lnTo>
                  <a:pt x="264" y="162"/>
                </a:lnTo>
                <a:lnTo>
                  <a:pt x="266" y="146"/>
                </a:lnTo>
                <a:lnTo>
                  <a:pt x="266" y="146"/>
                </a:lnTo>
                <a:lnTo>
                  <a:pt x="264" y="136"/>
                </a:lnTo>
                <a:lnTo>
                  <a:pt x="260" y="126"/>
                </a:lnTo>
                <a:lnTo>
                  <a:pt x="256" y="122"/>
                </a:lnTo>
                <a:lnTo>
                  <a:pt x="250" y="118"/>
                </a:lnTo>
                <a:lnTo>
                  <a:pt x="244" y="114"/>
                </a:lnTo>
                <a:lnTo>
                  <a:pt x="234" y="114"/>
                </a:lnTo>
                <a:lnTo>
                  <a:pt x="234" y="114"/>
                </a:lnTo>
                <a:lnTo>
                  <a:pt x="224" y="114"/>
                </a:lnTo>
                <a:lnTo>
                  <a:pt x="218" y="118"/>
                </a:lnTo>
                <a:lnTo>
                  <a:pt x="212" y="122"/>
                </a:lnTo>
                <a:lnTo>
                  <a:pt x="208" y="126"/>
                </a:lnTo>
                <a:lnTo>
                  <a:pt x="204" y="136"/>
                </a:lnTo>
                <a:lnTo>
                  <a:pt x="202" y="146"/>
                </a:lnTo>
                <a:lnTo>
                  <a:pt x="202" y="146"/>
                </a:lnTo>
                <a:lnTo>
                  <a:pt x="204" y="162"/>
                </a:lnTo>
                <a:lnTo>
                  <a:pt x="204" y="162"/>
                </a:lnTo>
                <a:lnTo>
                  <a:pt x="204" y="162"/>
                </a:lnTo>
                <a:lnTo>
                  <a:pt x="202" y="168"/>
                </a:lnTo>
                <a:lnTo>
                  <a:pt x="202" y="168"/>
                </a:lnTo>
                <a:lnTo>
                  <a:pt x="204" y="176"/>
                </a:lnTo>
                <a:lnTo>
                  <a:pt x="206" y="180"/>
                </a:lnTo>
                <a:lnTo>
                  <a:pt x="208" y="182"/>
                </a:lnTo>
                <a:lnTo>
                  <a:pt x="210" y="184"/>
                </a:lnTo>
                <a:lnTo>
                  <a:pt x="210" y="184"/>
                </a:lnTo>
                <a:lnTo>
                  <a:pt x="212" y="194"/>
                </a:lnTo>
                <a:lnTo>
                  <a:pt x="214" y="198"/>
                </a:lnTo>
                <a:lnTo>
                  <a:pt x="216" y="202"/>
                </a:lnTo>
                <a:lnTo>
                  <a:pt x="218" y="206"/>
                </a:lnTo>
                <a:lnTo>
                  <a:pt x="218" y="206"/>
                </a:lnTo>
                <a:lnTo>
                  <a:pt x="218" y="214"/>
                </a:lnTo>
                <a:lnTo>
                  <a:pt x="216" y="220"/>
                </a:lnTo>
                <a:lnTo>
                  <a:pt x="212" y="224"/>
                </a:lnTo>
                <a:lnTo>
                  <a:pt x="206" y="228"/>
                </a:lnTo>
                <a:lnTo>
                  <a:pt x="206" y="228"/>
                </a:lnTo>
                <a:lnTo>
                  <a:pt x="232" y="242"/>
                </a:lnTo>
                <a:lnTo>
                  <a:pt x="246" y="252"/>
                </a:lnTo>
                <a:lnTo>
                  <a:pt x="250" y="256"/>
                </a:lnTo>
                <a:lnTo>
                  <a:pt x="254" y="260"/>
                </a:lnTo>
                <a:lnTo>
                  <a:pt x="256" y="274"/>
                </a:lnTo>
                <a:lnTo>
                  <a:pt x="256" y="308"/>
                </a:lnTo>
                <a:lnTo>
                  <a:pt x="256" y="308"/>
                </a:lnTo>
                <a:lnTo>
                  <a:pt x="234" y="320"/>
                </a:lnTo>
                <a:lnTo>
                  <a:pt x="234" y="320"/>
                </a:lnTo>
                <a:lnTo>
                  <a:pt x="234" y="276"/>
                </a:lnTo>
                <a:lnTo>
                  <a:pt x="234" y="276"/>
                </a:lnTo>
                <a:lnTo>
                  <a:pt x="234" y="272"/>
                </a:lnTo>
                <a:lnTo>
                  <a:pt x="230" y="268"/>
                </a:lnTo>
                <a:lnTo>
                  <a:pt x="220" y="260"/>
                </a:lnTo>
                <a:lnTo>
                  <a:pt x="204" y="252"/>
                </a:lnTo>
                <a:lnTo>
                  <a:pt x="186" y="244"/>
                </a:lnTo>
                <a:lnTo>
                  <a:pt x="186" y="244"/>
                </a:lnTo>
                <a:close/>
              </a:path>
            </a:pathLst>
          </a:custGeom>
          <a:solidFill>
            <a:srgbClr val="FBE122"/>
          </a:solidFill>
          <a:ln>
            <a:noFill/>
          </a:ln>
        </p:spPr>
        <p:txBody>
          <a:bodyPr vert="horz" wrap="square" lIns="91223" tIns="45611" rIns="91223" bIns="45611" numCol="1" anchor="t" anchorCtr="0" compatLnSpc="1">
            <a:prstTxWarp prst="textNoShape">
              <a:avLst/>
            </a:prstTxWarp>
          </a:bodyPr>
          <a:lstStyle/>
          <a:p>
            <a:endParaRPr lang="pt-BR" sz="1400"/>
          </a:p>
        </p:txBody>
      </p:sp>
      <p:sp>
        <p:nvSpPr>
          <p:cNvPr id="51" name="Text Placeholder 7"/>
          <p:cNvSpPr txBox="1">
            <a:spLocks/>
          </p:cNvSpPr>
          <p:nvPr/>
        </p:nvSpPr>
        <p:spPr>
          <a:xfrm>
            <a:off x="188513" y="591530"/>
            <a:ext cx="8748972" cy="485970"/>
          </a:xfrm>
          <a:prstGeom prst="rect">
            <a:avLst/>
          </a:prstGeom>
          <a:noFill/>
          <a:ln>
            <a:noFill/>
          </a:ln>
        </p:spPr>
        <p:txBody>
          <a:bodyPr lIns="49515" tIns="24833" rIns="49515" bIns="24833" anchor="t">
            <a:noAutofit/>
          </a:bodyPr>
          <a:lstStyle>
            <a:lvl1pPr marL="342321" indent="-342321" algn="ctr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1pPr>
            <a:lvl2pPr marL="741700" indent="-285283" algn="ctr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2pPr>
            <a:lvl3pPr marL="1141072" indent="-228214" algn="ctr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3pPr>
            <a:lvl4pPr marL="1597520" indent="-228214" algn="ctr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4pPr>
            <a:lvl5pPr marL="2053935" indent="-228214" algn="ctr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5pPr>
            <a:lvl6pPr marL="456428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6pPr>
            <a:lvl7pPr marL="912857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7pPr>
            <a:lvl8pPr marL="1369296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8pPr>
            <a:lvl9pPr marL="1825724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9pPr>
          </a:lstStyle>
          <a:p>
            <a:pPr marL="0" indent="0" defTabSz="496688">
              <a:lnSpc>
                <a:spcPts val="1518"/>
              </a:lnSpc>
              <a:buNone/>
            </a:pPr>
            <a:r>
              <a:rPr lang="pt-BR" sz="1400" b="1" dirty="0">
                <a:solidFill>
                  <a:schemeClr val="bg1"/>
                </a:solidFill>
                <a:latin typeface="Gill Sans Std Light" pitchFamily="34" charset="0"/>
              </a:rPr>
              <a:t>EVOLUIR A INFRAESTRUTURA VISANDO ALAVANCAR A INOVAÇÃO DIGITAL ATENDENDO O MODELO ATUAL E A TRANSFORMAÇÃO PARA O OMNICHANNEL, ATENDENDO ÀS EVOLUÇÕES DO NEGÓCIO.</a:t>
            </a:r>
          </a:p>
          <a:p>
            <a:pPr marL="0" indent="0" defTabSz="496688">
              <a:lnSpc>
                <a:spcPts val="1518"/>
              </a:lnSpc>
              <a:buNone/>
            </a:pPr>
            <a:endParaRPr lang="pt-BR" sz="1400" b="1" dirty="0">
              <a:solidFill>
                <a:schemeClr val="bg1"/>
              </a:solidFill>
              <a:latin typeface="Gill Sans Std Light" pitchFamily="34" charset="0"/>
            </a:endParaRPr>
          </a:p>
        </p:txBody>
      </p:sp>
      <p:sp>
        <p:nvSpPr>
          <p:cNvPr id="52" name="Rectangle 3"/>
          <p:cNvSpPr>
            <a:spLocks/>
          </p:cNvSpPr>
          <p:nvPr/>
        </p:nvSpPr>
        <p:spPr bwMode="auto">
          <a:xfrm>
            <a:off x="188515" y="51472"/>
            <a:ext cx="8109920" cy="487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pPr defTabSz="510479">
              <a:tabLst>
                <a:tab pos="198513" algn="l"/>
                <a:tab pos="397047" algn="l"/>
                <a:tab pos="595558" algn="l"/>
                <a:tab pos="794088" algn="l"/>
                <a:tab pos="992615" algn="l"/>
                <a:tab pos="1191134" algn="l"/>
                <a:tab pos="1389663" algn="l"/>
                <a:tab pos="1588184" algn="l"/>
                <a:tab pos="1786710" algn="l"/>
                <a:tab pos="1985228" algn="l"/>
                <a:tab pos="2183753" algn="l"/>
                <a:tab pos="2382275" algn="l"/>
                <a:tab pos="2552435" algn="l"/>
              </a:tabLst>
            </a:pPr>
            <a:r>
              <a:rPr lang="en-US" dirty="0" smtClean="0">
                <a:solidFill>
                  <a:schemeClr val="tx2"/>
                </a:solidFill>
                <a:latin typeface="Gill Sans Std" charset="0"/>
                <a:ea typeface="ＭＳ Ｐゴシック" charset="0"/>
                <a:cs typeface="ＭＳ Ｐゴシック" charset="0"/>
                <a:sym typeface="Gill Sans Std" charset="0"/>
              </a:rPr>
              <a:t>PRIORIDADES </a:t>
            </a:r>
            <a:r>
              <a:rPr lang="en-US" dirty="0">
                <a:solidFill>
                  <a:schemeClr val="tx2"/>
                </a:solidFill>
                <a:latin typeface="Gill Sans Std" charset="0"/>
                <a:ea typeface="ＭＳ Ｐゴシック" charset="0"/>
                <a:cs typeface="ＭＳ Ｐゴシック" charset="0"/>
                <a:sym typeface="Gill Sans Std" charset="0"/>
              </a:rPr>
              <a:t>ESTRATÉGICAS PEN </a:t>
            </a:r>
            <a:endParaRPr lang="en-US" dirty="0" smtClean="0">
              <a:solidFill>
                <a:schemeClr val="tx2"/>
              </a:solidFill>
              <a:latin typeface="Gill Sans Std" charset="0"/>
              <a:ea typeface="ＭＳ Ｐゴシック" charset="0"/>
              <a:cs typeface="ＭＳ Ｐゴシック" charset="0"/>
              <a:sym typeface="Gill Sans Std" charset="0"/>
            </a:endParaRPr>
          </a:p>
          <a:p>
            <a:pPr defTabSz="510479">
              <a:tabLst>
                <a:tab pos="198513" algn="l"/>
                <a:tab pos="397047" algn="l"/>
                <a:tab pos="595558" algn="l"/>
                <a:tab pos="794088" algn="l"/>
                <a:tab pos="992615" algn="l"/>
                <a:tab pos="1191134" algn="l"/>
                <a:tab pos="1389663" algn="l"/>
                <a:tab pos="1588184" algn="l"/>
                <a:tab pos="1786710" algn="l"/>
                <a:tab pos="1985228" algn="l"/>
                <a:tab pos="2183753" algn="l"/>
                <a:tab pos="2382275" algn="l"/>
                <a:tab pos="2552435" algn="l"/>
              </a:tabLst>
            </a:pPr>
            <a:r>
              <a:rPr lang="en-US" sz="1500" dirty="0">
                <a:solidFill>
                  <a:srgbClr val="FFC000"/>
                </a:solidFill>
                <a:latin typeface="Gill Sans Std ExtraBold" pitchFamily="34" charset="0"/>
                <a:ea typeface="ＭＳ Ｐゴシック" charset="0"/>
                <a:cs typeface="ＭＳ Ｐゴシック" charset="0"/>
                <a:sym typeface="Gill Sans Std" charset="0"/>
              </a:rPr>
              <a:t>HABILITADOR INFRAESTRUTURA DIGITAL</a:t>
            </a:r>
          </a:p>
        </p:txBody>
      </p:sp>
    </p:spTree>
    <p:extLst>
      <p:ext uri="{BB962C8B-B14F-4D97-AF65-F5344CB8AC3E}">
        <p14:creationId xmlns:p14="http://schemas.microsoft.com/office/powerpoint/2010/main" val="264442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2914205261"/>
              </p:ext>
            </p:extLst>
          </p:nvPr>
        </p:nvGraphicFramePr>
        <p:xfrm>
          <a:off x="1403650" y="1168984"/>
          <a:ext cx="4176464" cy="35630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7" name="Grupo 6"/>
          <p:cNvGrpSpPr/>
          <p:nvPr/>
        </p:nvGrpSpPr>
        <p:grpSpPr>
          <a:xfrm>
            <a:off x="5965959" y="1059582"/>
            <a:ext cx="550258" cy="3672408"/>
            <a:chOff x="730195" y="-1"/>
            <a:chExt cx="550258" cy="289609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8" name="Retângulo 7"/>
            <p:cNvSpPr/>
            <p:nvPr/>
          </p:nvSpPr>
          <p:spPr>
            <a:xfrm rot="16200000">
              <a:off x="-442724" y="1172918"/>
              <a:ext cx="2896096" cy="550258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etângulo 8"/>
            <p:cNvSpPr/>
            <p:nvPr/>
          </p:nvSpPr>
          <p:spPr>
            <a:xfrm rot="16200000">
              <a:off x="-442724" y="1172918"/>
              <a:ext cx="2896096" cy="55025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algn="ctr" defTabSz="62227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400" dirty="0" err="1">
                  <a:solidFill>
                    <a:schemeClr val="tx1"/>
                  </a:solidFill>
                </a:rPr>
                <a:t>GRPs</a:t>
              </a:r>
              <a:r>
                <a:rPr lang="pt-BR" sz="1400" dirty="0">
                  <a:solidFill>
                    <a:schemeClr val="tx1"/>
                  </a:solidFill>
                </a:rPr>
                <a:t> – interface com processos de negócio</a:t>
              </a:r>
            </a:p>
          </p:txBody>
        </p:sp>
      </p:grpSp>
      <p:grpSp>
        <p:nvGrpSpPr>
          <p:cNvPr id="23" name="Diagram group"/>
          <p:cNvGrpSpPr/>
          <p:nvPr/>
        </p:nvGrpSpPr>
        <p:grpSpPr>
          <a:xfrm>
            <a:off x="3506430" y="852851"/>
            <a:ext cx="1569629" cy="795273"/>
            <a:chOff x="36069" y="3495057"/>
            <a:chExt cx="1201172" cy="1032436"/>
          </a:xfrm>
          <a:solidFill>
            <a:schemeClr val="accent4">
              <a:lumMod val="40000"/>
              <a:lumOff val="60000"/>
            </a:schemeClr>
          </a:solidFill>
          <a:scene3d>
            <a:camera prst="orthographicFront">
              <a:rot lat="0" lon="0" rev="0"/>
            </a:camera>
            <a:lightRig rig="chilly" dir="t"/>
          </a:scene3d>
        </p:grpSpPr>
        <p:grpSp>
          <p:nvGrpSpPr>
            <p:cNvPr id="24" name="Grupo 23"/>
            <p:cNvGrpSpPr/>
            <p:nvPr/>
          </p:nvGrpSpPr>
          <p:grpSpPr>
            <a:xfrm>
              <a:off x="36069" y="3495057"/>
              <a:ext cx="1201172" cy="1032436"/>
              <a:chOff x="36069" y="3495057"/>
              <a:chExt cx="1201172" cy="1032436"/>
            </a:xfrm>
            <a:grpFill/>
          </p:grpSpPr>
          <p:sp>
            <p:nvSpPr>
              <p:cNvPr id="25" name="Elipse 24"/>
              <p:cNvSpPr/>
              <p:nvPr/>
            </p:nvSpPr>
            <p:spPr>
              <a:xfrm>
                <a:off x="36069" y="3495057"/>
                <a:ext cx="1193036" cy="1032436"/>
              </a:xfrm>
              <a:prstGeom prst="ellipse">
                <a:avLst/>
              </a:prstGeom>
              <a:grpFill/>
              <a:ln w="0">
                <a:prstDash val="sysDot"/>
              </a:ln>
              <a:sp3d>
                <a:bevelT w="127000" h="25400"/>
              </a:sp3d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-9933876"/>
                  <a:satOff val="39811"/>
                  <a:lumOff val="8628"/>
                  <a:alphaOff val="0"/>
                </a:schemeClr>
              </a:fillRef>
              <a:effectRef idx="0">
                <a:schemeClr val="accent5">
                  <a:hueOff val="-9933876"/>
                  <a:satOff val="39811"/>
                  <a:lumOff val="8628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6" name="Elipse 4"/>
              <p:cNvSpPr/>
              <p:nvPr/>
            </p:nvSpPr>
            <p:spPr>
              <a:xfrm>
                <a:off x="77561" y="3704185"/>
                <a:ext cx="1159680" cy="560882"/>
              </a:xfrm>
              <a:prstGeom prst="rect">
                <a:avLst/>
              </a:prstGeom>
              <a:noFill/>
              <a:ln w="0">
                <a:noFill/>
                <a:prstDash val="sysDot"/>
              </a:ln>
              <a:sp3d>
                <a:bevelT w="127000" h="25400"/>
              </a:sp3d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8890" tIns="8890" rIns="8890" bIns="8890" numCol="1" spcCol="1270" anchor="ctr" anchorCtr="0">
                <a:noAutofit/>
              </a:bodyPr>
              <a:lstStyle/>
              <a:p>
                <a:pPr algn="ctr" defTabSz="62227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pt-BR" sz="1400" dirty="0">
                    <a:solidFill>
                      <a:schemeClr val="tx1"/>
                    </a:solidFill>
                  </a:rPr>
                  <a:t>Natura Labs</a:t>
                </a:r>
              </a:p>
            </p:txBody>
          </p:sp>
        </p:grpSp>
      </p:grpSp>
      <p:sp>
        <p:nvSpPr>
          <p:cNvPr id="68" name="CaixaDeTexto 67"/>
          <p:cNvSpPr txBox="1"/>
          <p:nvPr/>
        </p:nvSpPr>
        <p:spPr>
          <a:xfrm>
            <a:off x="323531" y="235121"/>
            <a:ext cx="8568951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estrutura </a:t>
            </a:r>
            <a:r>
              <a:rPr lang="pt-BR" sz="2400" dirty="0">
                <a:solidFill>
                  <a:schemeClr val="tx2"/>
                </a:solidFill>
                <a:latin typeface="Gill Sans Std ExtraBold" pitchFamily="34" charset="0"/>
              </a:rPr>
              <a:t>de Tecnologia Digital Natura</a:t>
            </a:r>
          </a:p>
        </p:txBody>
      </p:sp>
      <p:sp>
        <p:nvSpPr>
          <p:cNvPr id="85" name="Seta para a esquerda e para a direita 84"/>
          <p:cNvSpPr/>
          <p:nvPr/>
        </p:nvSpPr>
        <p:spPr>
          <a:xfrm>
            <a:off x="5580114" y="1995688"/>
            <a:ext cx="360040" cy="141692"/>
          </a:xfrm>
          <a:prstGeom prst="leftRightArrow">
            <a:avLst/>
          </a:prstGeom>
          <a:solidFill>
            <a:srgbClr val="B6A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/>
          </a:p>
        </p:txBody>
      </p:sp>
      <p:sp>
        <p:nvSpPr>
          <p:cNvPr id="86" name="Seta para a esquerda e para a direita 85"/>
          <p:cNvSpPr/>
          <p:nvPr/>
        </p:nvSpPr>
        <p:spPr>
          <a:xfrm>
            <a:off x="5571903" y="2862106"/>
            <a:ext cx="360040" cy="141692"/>
          </a:xfrm>
          <a:prstGeom prst="leftRightArrow">
            <a:avLst/>
          </a:prstGeom>
          <a:solidFill>
            <a:srgbClr val="B6A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/>
          </a:p>
        </p:txBody>
      </p:sp>
      <p:sp>
        <p:nvSpPr>
          <p:cNvPr id="88" name="Seta para a esquerda e para a direita 87"/>
          <p:cNvSpPr/>
          <p:nvPr/>
        </p:nvSpPr>
        <p:spPr>
          <a:xfrm>
            <a:off x="5571903" y="3723880"/>
            <a:ext cx="360040" cy="141692"/>
          </a:xfrm>
          <a:prstGeom prst="leftRightArrow">
            <a:avLst/>
          </a:prstGeom>
          <a:solidFill>
            <a:srgbClr val="B6A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/>
          </a:p>
        </p:txBody>
      </p:sp>
      <p:sp>
        <p:nvSpPr>
          <p:cNvPr id="61" name="Seta para a esquerda e para a direita 60"/>
          <p:cNvSpPr/>
          <p:nvPr/>
        </p:nvSpPr>
        <p:spPr>
          <a:xfrm>
            <a:off x="5564829" y="1203598"/>
            <a:ext cx="360040" cy="141692"/>
          </a:xfrm>
          <a:prstGeom prst="leftRightArrow">
            <a:avLst/>
          </a:prstGeom>
          <a:solidFill>
            <a:srgbClr val="B6A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/>
          </a:p>
        </p:txBody>
      </p:sp>
      <p:grpSp>
        <p:nvGrpSpPr>
          <p:cNvPr id="18" name="Diagram group"/>
          <p:cNvGrpSpPr/>
          <p:nvPr/>
        </p:nvGrpSpPr>
        <p:grpSpPr>
          <a:xfrm>
            <a:off x="3513150" y="4224749"/>
            <a:ext cx="1569629" cy="795273"/>
            <a:chOff x="36069" y="3495057"/>
            <a:chExt cx="1201172" cy="1032436"/>
          </a:xfrm>
          <a:solidFill>
            <a:schemeClr val="accent5">
              <a:lumMod val="20000"/>
              <a:lumOff val="80000"/>
            </a:schemeClr>
          </a:solidFill>
          <a:scene3d>
            <a:camera prst="orthographicFront">
              <a:rot lat="0" lon="0" rev="0"/>
            </a:camera>
            <a:lightRig rig="chilly" dir="t"/>
          </a:scene3d>
        </p:grpSpPr>
        <p:grpSp>
          <p:nvGrpSpPr>
            <p:cNvPr id="19" name="Grupo 18"/>
            <p:cNvGrpSpPr/>
            <p:nvPr/>
          </p:nvGrpSpPr>
          <p:grpSpPr>
            <a:xfrm>
              <a:off x="36069" y="3495057"/>
              <a:ext cx="1201172" cy="1032436"/>
              <a:chOff x="36069" y="3495057"/>
              <a:chExt cx="1201172" cy="1032436"/>
            </a:xfrm>
            <a:grpFill/>
          </p:grpSpPr>
          <p:sp>
            <p:nvSpPr>
              <p:cNvPr id="20" name="Elipse 19"/>
              <p:cNvSpPr/>
              <p:nvPr/>
            </p:nvSpPr>
            <p:spPr>
              <a:xfrm>
                <a:off x="36069" y="3495057"/>
                <a:ext cx="1193036" cy="1032436"/>
              </a:xfrm>
              <a:prstGeom prst="ellipse">
                <a:avLst/>
              </a:prstGeom>
              <a:grpFill/>
              <a:ln w="0">
                <a:prstDash val="sysDot"/>
              </a:ln>
              <a:sp3d>
                <a:bevelT w="127000" h="25400"/>
              </a:sp3d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-9933876"/>
                  <a:satOff val="39811"/>
                  <a:lumOff val="8628"/>
                  <a:alphaOff val="0"/>
                </a:schemeClr>
              </a:fillRef>
              <a:effectRef idx="0">
                <a:schemeClr val="accent5">
                  <a:hueOff val="-9933876"/>
                  <a:satOff val="39811"/>
                  <a:lumOff val="8628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1" name="Elipse 4"/>
              <p:cNvSpPr/>
              <p:nvPr/>
            </p:nvSpPr>
            <p:spPr>
              <a:xfrm>
                <a:off x="77561" y="3704185"/>
                <a:ext cx="1159680" cy="560882"/>
              </a:xfrm>
              <a:prstGeom prst="rect">
                <a:avLst/>
              </a:prstGeom>
              <a:noFill/>
              <a:ln w="0">
                <a:noFill/>
                <a:prstDash val="sysDot"/>
              </a:ln>
              <a:sp3d>
                <a:bevelT w="127000" h="25400"/>
              </a:sp3d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8890" tIns="8890" rIns="8890" bIns="8890" numCol="1" spcCol="1270" anchor="ctr" anchorCtr="0">
                <a:noAutofit/>
              </a:bodyPr>
              <a:lstStyle/>
              <a:p>
                <a:pPr algn="ctr" defTabSz="62227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pt-BR" sz="1400" dirty="0">
                    <a:solidFill>
                      <a:schemeClr val="tx1"/>
                    </a:solidFill>
                  </a:rPr>
                  <a:t>Centro de Excelência Digital</a:t>
                </a:r>
              </a:p>
            </p:txBody>
          </p:sp>
        </p:grpSp>
      </p:grpSp>
      <p:sp>
        <p:nvSpPr>
          <p:cNvPr id="22" name="Seta para a esquerda e para a direita 21"/>
          <p:cNvSpPr/>
          <p:nvPr/>
        </p:nvSpPr>
        <p:spPr>
          <a:xfrm>
            <a:off x="5571549" y="4575499"/>
            <a:ext cx="360040" cy="141692"/>
          </a:xfrm>
          <a:prstGeom prst="leftRightArrow">
            <a:avLst/>
          </a:prstGeom>
          <a:solidFill>
            <a:srgbClr val="B6A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/>
          </a:p>
        </p:txBody>
      </p:sp>
      <p:grpSp>
        <p:nvGrpSpPr>
          <p:cNvPr id="27" name="Grupo 26"/>
          <p:cNvGrpSpPr/>
          <p:nvPr/>
        </p:nvGrpSpPr>
        <p:grpSpPr>
          <a:xfrm>
            <a:off x="6686040" y="1059582"/>
            <a:ext cx="550258" cy="3672408"/>
            <a:chOff x="730195" y="-1"/>
            <a:chExt cx="550258" cy="289609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8" name="Retângulo 27"/>
            <p:cNvSpPr/>
            <p:nvPr/>
          </p:nvSpPr>
          <p:spPr>
            <a:xfrm rot="16200000">
              <a:off x="-442724" y="1172918"/>
              <a:ext cx="2896096" cy="550258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Retângulo 28"/>
            <p:cNvSpPr/>
            <p:nvPr/>
          </p:nvSpPr>
          <p:spPr>
            <a:xfrm rot="16200000">
              <a:off x="-442724" y="1172918"/>
              <a:ext cx="2896096" cy="55025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algn="ctr" defTabSz="62227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400" dirty="0">
                  <a:solidFill>
                    <a:schemeClr val="tx1"/>
                  </a:solidFill>
                </a:rPr>
                <a:t>TD OIs</a:t>
              </a:r>
            </a:p>
          </p:txBody>
        </p:sp>
      </p:grpSp>
      <p:pic>
        <p:nvPicPr>
          <p:cNvPr id="30" name="Picture 6" descr="marrom-ekos.png"/>
          <p:cNvPicPr>
            <a:picLocks noChangeAspect="1"/>
          </p:cNvPicPr>
          <p:nvPr/>
        </p:nvPicPr>
        <p:blipFill>
          <a:blip r:embed="rId7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4219" y="4371394"/>
            <a:ext cx="498262" cy="49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96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 hidden="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80" y="676275"/>
            <a:ext cx="514350" cy="3790950"/>
          </a:xfrm>
          <a:prstGeom prst="rect">
            <a:avLst/>
          </a:prstGeom>
        </p:spPr>
      </p:pic>
      <p:sp>
        <p:nvSpPr>
          <p:cNvPr id="43" name="CaixaDeTexto 42"/>
          <p:cNvSpPr txBox="1"/>
          <p:nvPr/>
        </p:nvSpPr>
        <p:spPr>
          <a:xfrm>
            <a:off x="162000" y="2063919"/>
            <a:ext cx="8982000" cy="1261884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r"/>
            <a:r>
              <a:rPr lang="pt-BR" sz="3200" dirty="0">
                <a:solidFill>
                  <a:srgbClr val="FFFF00"/>
                </a:solidFill>
                <a:latin typeface="Gill Sans Std ExtraBold" pitchFamily="34" charset="0"/>
              </a:rPr>
              <a:t>o processo de</a:t>
            </a:r>
          </a:p>
          <a:p>
            <a:pPr algn="r"/>
            <a:r>
              <a:rPr lang="pt-BR" sz="4400" dirty="0">
                <a:solidFill>
                  <a:srgbClr val="FFFF00"/>
                </a:solidFill>
                <a:latin typeface="Gill Sans Std ExtraBold" pitchFamily="34" charset="0"/>
              </a:rPr>
              <a:t>Gestão de Demandas</a:t>
            </a:r>
          </a:p>
        </p:txBody>
      </p:sp>
    </p:spTree>
    <p:extLst>
      <p:ext uri="{BB962C8B-B14F-4D97-AF65-F5344CB8AC3E}">
        <p14:creationId xmlns:p14="http://schemas.microsoft.com/office/powerpoint/2010/main" val="3966753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62002" y="97202"/>
            <a:ext cx="6047463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a </a:t>
            </a:r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gestão de demandas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TD</a:t>
            </a:r>
            <a:endParaRPr lang="pt-BR" sz="2400" dirty="0">
              <a:solidFill>
                <a:srgbClr val="FFC000"/>
              </a:solidFill>
              <a:latin typeface="Gill Sans Std ExtraBold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206516" y="816557"/>
            <a:ext cx="8775975" cy="4247317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/>
              <a:t>A Gestão de  Portfólio e Demandas para Tecnologia Digital, compreende os processos de:</a:t>
            </a:r>
          </a:p>
          <a:p>
            <a:endParaRPr lang="pt-BR" dirty="0"/>
          </a:p>
          <a:p>
            <a:pPr marL="285736" indent="-285736">
              <a:buFont typeface="Arial" panose="020B0604020202020204" pitchFamily="34" charset="0"/>
              <a:buChar char="•"/>
            </a:pPr>
            <a:r>
              <a:rPr lang="pt-BR" dirty="0" smtClean="0"/>
              <a:t>Captura</a:t>
            </a:r>
          </a:p>
          <a:p>
            <a:pPr marL="285736" indent="-285736">
              <a:buFont typeface="Arial" panose="020B0604020202020204" pitchFamily="34" charset="0"/>
              <a:buChar char="•"/>
            </a:pPr>
            <a:r>
              <a:rPr lang="pt-BR" dirty="0" smtClean="0"/>
              <a:t>Entendimento</a:t>
            </a:r>
          </a:p>
          <a:p>
            <a:pPr marL="285736" indent="-285736">
              <a:buFont typeface="Arial" panose="020B0604020202020204" pitchFamily="34" charset="0"/>
              <a:buChar char="•"/>
            </a:pPr>
            <a:r>
              <a:rPr lang="pt-BR" dirty="0" smtClean="0"/>
              <a:t>Priorização</a:t>
            </a:r>
          </a:p>
          <a:p>
            <a:pPr marL="285736" indent="-285736">
              <a:buFont typeface="Arial" panose="020B0604020202020204" pitchFamily="34" charset="0"/>
              <a:buChar char="•"/>
            </a:pPr>
            <a:r>
              <a:rPr lang="pt-BR" dirty="0" smtClean="0"/>
              <a:t>Estimativa</a:t>
            </a:r>
          </a:p>
          <a:p>
            <a:pPr marL="285736" indent="-285736">
              <a:buFont typeface="Arial" panose="020B0604020202020204" pitchFamily="34" charset="0"/>
              <a:buChar char="•"/>
            </a:pPr>
            <a:r>
              <a:rPr lang="pt-BR" dirty="0" smtClean="0"/>
              <a:t>Planejamento</a:t>
            </a:r>
          </a:p>
          <a:p>
            <a:pPr marL="285736" indent="-285736">
              <a:buFont typeface="Arial" panose="020B0604020202020204" pitchFamily="34" charset="0"/>
              <a:buChar char="•"/>
            </a:pPr>
            <a:r>
              <a:rPr lang="pt-BR" dirty="0" smtClean="0"/>
              <a:t>Aprovação</a:t>
            </a:r>
          </a:p>
          <a:p>
            <a:pPr marL="285736" indent="-285736">
              <a:buFont typeface="Arial" panose="020B0604020202020204" pitchFamily="34" charset="0"/>
              <a:buChar char="•"/>
            </a:pPr>
            <a:r>
              <a:rPr lang="pt-BR" dirty="0" smtClean="0"/>
              <a:t>Execução</a:t>
            </a:r>
          </a:p>
          <a:p>
            <a:pPr marL="285736" indent="-285736">
              <a:buFont typeface="Arial" panose="020B0604020202020204" pitchFamily="34" charset="0"/>
              <a:buChar char="•"/>
            </a:pPr>
            <a:r>
              <a:rPr lang="pt-BR" dirty="0" smtClean="0"/>
              <a:t>Entrega</a:t>
            </a:r>
          </a:p>
          <a:p>
            <a:endParaRPr lang="pt-BR" dirty="0"/>
          </a:p>
          <a:p>
            <a:r>
              <a:rPr lang="pt-BR" dirty="0" smtClean="0"/>
              <a:t>de </a:t>
            </a:r>
            <a:r>
              <a:rPr lang="pt-BR" b="1" dirty="0" smtClean="0"/>
              <a:t>novas soluções </a:t>
            </a:r>
            <a:r>
              <a:rPr lang="pt-BR" b="1" dirty="0"/>
              <a:t> </a:t>
            </a:r>
            <a:r>
              <a:rPr lang="pt-BR" b="1" dirty="0" smtClean="0"/>
              <a:t>e  serviços </a:t>
            </a:r>
            <a:r>
              <a:rPr lang="pt-BR" dirty="0" smtClean="0"/>
              <a:t>de tecnologia da Natura. </a:t>
            </a:r>
          </a:p>
          <a:p>
            <a:endParaRPr lang="pt-BR" dirty="0"/>
          </a:p>
          <a:p>
            <a:r>
              <a:rPr lang="pt-BR" dirty="0" smtClean="0"/>
              <a:t>Ele é importantíssimo, pois é a forma que a Tecnologia Digital viabiliza a execução  das estratégias de negócio da própria TD e da Natura.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496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62002" y="97202"/>
            <a:ext cx="6047463" cy="830997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oportunidade de </a:t>
            </a:r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melhorias nos processos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206516" y="951570"/>
            <a:ext cx="8775975" cy="3970318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/>
              <a:t>A liderança de TD realizou uma análise apurada nesse nosso importante processo e foram identificadas oportunidades para alavancarmos melhorias:</a:t>
            </a:r>
          </a:p>
          <a:p>
            <a:endParaRPr lang="pt-BR" dirty="0"/>
          </a:p>
          <a:p>
            <a:pPr marL="285736" indent="-285736">
              <a:buFontTx/>
              <a:buChar char="-"/>
            </a:pPr>
            <a:r>
              <a:rPr lang="pt-BR" dirty="0" smtClean="0"/>
              <a:t>Possibilidade de termos uma ferramenta unificada de controle de demandas</a:t>
            </a:r>
          </a:p>
          <a:p>
            <a:pPr marL="285736" indent="-285736">
              <a:buFontTx/>
              <a:buChar char="-"/>
            </a:pPr>
            <a:endParaRPr lang="pt-BR" dirty="0"/>
          </a:p>
          <a:p>
            <a:pPr marL="285736" indent="-285736">
              <a:buFontTx/>
              <a:buChar char="-"/>
            </a:pPr>
            <a:r>
              <a:rPr lang="pt-BR" dirty="0" smtClean="0"/>
              <a:t>Implantação de mecanismos de controle do processo</a:t>
            </a:r>
          </a:p>
          <a:p>
            <a:pPr marL="285736" indent="-285736">
              <a:buFontTx/>
              <a:buChar char="-"/>
            </a:pPr>
            <a:endParaRPr lang="pt-BR" dirty="0"/>
          </a:p>
          <a:p>
            <a:pPr marL="285736" indent="-285736">
              <a:buFontTx/>
              <a:buChar char="-"/>
            </a:pPr>
            <a:r>
              <a:rPr lang="pt-BR" dirty="0" smtClean="0"/>
              <a:t>Automação das etapas de execução</a:t>
            </a:r>
          </a:p>
          <a:p>
            <a:pPr marL="285736" indent="-285736">
              <a:buFontTx/>
              <a:buChar char="-"/>
            </a:pPr>
            <a:endParaRPr lang="pt-BR" dirty="0"/>
          </a:p>
          <a:p>
            <a:pPr marL="285736" indent="-285736">
              <a:buFontTx/>
              <a:buChar char="-"/>
            </a:pPr>
            <a:r>
              <a:rPr lang="pt-BR" dirty="0" smtClean="0"/>
              <a:t>Revisão do processo e suas atividades</a:t>
            </a:r>
          </a:p>
          <a:p>
            <a:pPr marL="285736" indent="-285736">
              <a:buFontTx/>
              <a:buChar char="-"/>
            </a:pPr>
            <a:endParaRPr lang="pt-BR" dirty="0"/>
          </a:p>
          <a:p>
            <a:pPr marL="285736" indent="-285736">
              <a:buFontTx/>
              <a:buChar char="-"/>
            </a:pPr>
            <a:r>
              <a:rPr lang="pt-BR" dirty="0" smtClean="0"/>
              <a:t>Esclarecimento dos envolvidos no processo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440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162001" y="2063919"/>
            <a:ext cx="7560350" cy="1261884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3200" dirty="0">
                <a:solidFill>
                  <a:srgbClr val="004F71"/>
                </a:solidFill>
                <a:latin typeface="Gill Sans Std ExtraBold" pitchFamily="34" charset="0"/>
              </a:rPr>
              <a:t>Visão Geral do</a:t>
            </a:r>
          </a:p>
          <a:p>
            <a:r>
              <a:rPr lang="pt-BR" sz="4400" dirty="0">
                <a:solidFill>
                  <a:srgbClr val="FFC000"/>
                </a:solidFill>
                <a:latin typeface="Gill Sans Std ExtraBold" pitchFamily="34" charset="0"/>
              </a:rPr>
              <a:t>Clarity</a:t>
            </a:r>
          </a:p>
        </p:txBody>
      </p:sp>
    </p:spTree>
    <p:extLst>
      <p:ext uri="{BB962C8B-B14F-4D97-AF65-F5344CB8AC3E}">
        <p14:creationId xmlns:p14="http://schemas.microsoft.com/office/powerpoint/2010/main" val="2650242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62002" y="97202"/>
            <a:ext cx="6047463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visão geral do </a:t>
            </a:r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Clarity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18"/>
          <a:stretch/>
        </p:blipFill>
        <p:spPr bwMode="auto">
          <a:xfrm>
            <a:off x="273632" y="816557"/>
            <a:ext cx="3803315" cy="3831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460" y="1136939"/>
            <a:ext cx="4772025" cy="319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tângulo 4"/>
          <p:cNvSpPr/>
          <p:nvPr/>
        </p:nvSpPr>
        <p:spPr>
          <a:xfrm>
            <a:off x="2690677" y="1941681"/>
            <a:ext cx="990110" cy="642190"/>
          </a:xfrm>
          <a:prstGeom prst="rect">
            <a:avLst/>
          </a:prstGeom>
          <a:solidFill>
            <a:schemeClr val="bg1">
              <a:alpha val="0"/>
            </a:schemeClr>
          </a:solidFill>
          <a:ln w="444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spcCol="0"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4163498" y="1896677"/>
            <a:ext cx="4773987" cy="142867"/>
          </a:xfrm>
          <a:prstGeom prst="rect">
            <a:avLst/>
          </a:prstGeom>
          <a:solidFill>
            <a:schemeClr val="bg1">
              <a:alpha val="0"/>
            </a:schemeClr>
          </a:solidFill>
          <a:ln w="444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spcCol="0"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770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681542"/>
            <a:ext cx="7934325" cy="431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162002" y="97202"/>
            <a:ext cx="6047463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visão geral do </a:t>
            </a:r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Clarity</a:t>
            </a:r>
          </a:p>
        </p:txBody>
      </p:sp>
      <p:sp>
        <p:nvSpPr>
          <p:cNvPr id="2" name="Retângulo 1"/>
          <p:cNvSpPr/>
          <p:nvPr/>
        </p:nvSpPr>
        <p:spPr>
          <a:xfrm>
            <a:off x="1916706" y="1749540"/>
            <a:ext cx="4292758" cy="2622410"/>
          </a:xfrm>
          <a:prstGeom prst="rect">
            <a:avLst/>
          </a:prstGeom>
          <a:solidFill>
            <a:schemeClr val="bg1">
              <a:alpha val="0"/>
            </a:schemeClr>
          </a:solidFill>
          <a:ln w="444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spcCol="0"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43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62002" y="97202"/>
            <a:ext cx="6047463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visão geral do </a:t>
            </a:r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Clarity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823913"/>
            <a:ext cx="5810250" cy="3495675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2186735" y="4191930"/>
            <a:ext cx="4564062" cy="120032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pt-BR" sz="2400" dirty="0" smtClean="0"/>
              <a:t>Link produção:</a:t>
            </a:r>
            <a:endParaRPr lang="pt-BR" sz="2400" dirty="0"/>
          </a:p>
          <a:p>
            <a:r>
              <a:rPr lang="pt-BR" sz="2400" u="sng" dirty="0">
                <a:hlinkClick r:id="rId3"/>
              </a:rPr>
              <a:t>https://cppm9011.ondemand.ca.com</a:t>
            </a:r>
            <a:endParaRPr lang="pt-BR" sz="2400" dirty="0"/>
          </a:p>
          <a:p>
            <a:endParaRPr lang="pt-BR" sz="24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3716907" y="2112408"/>
            <a:ext cx="1303883" cy="338554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/>
              <a:t>E-mail Natura</a:t>
            </a:r>
          </a:p>
        </p:txBody>
      </p:sp>
    </p:spTree>
    <p:extLst>
      <p:ext uri="{BB962C8B-B14F-4D97-AF65-F5344CB8AC3E}">
        <p14:creationId xmlns:p14="http://schemas.microsoft.com/office/powerpoint/2010/main" val="250074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62002" y="97202"/>
            <a:ext cx="6047463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visão geral do </a:t>
            </a:r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Clarity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672" y="575761"/>
            <a:ext cx="5720011" cy="42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77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62002" y="97202"/>
            <a:ext cx="6047463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visão geral do </a:t>
            </a:r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Clarity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41531" y="636537"/>
            <a:ext cx="8802470" cy="426270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Menu Principal</a:t>
            </a:r>
          </a:p>
          <a:p>
            <a:endParaRPr lang="pt-BR" dirty="0"/>
          </a:p>
          <a:p>
            <a:pPr fontAlgn="base">
              <a:spcBef>
                <a:spcPts val="600"/>
              </a:spcBef>
            </a:pPr>
            <a:endParaRPr lang="pt-BR" sz="1600" dirty="0">
              <a:latin typeface="+mj-lt"/>
            </a:endParaRPr>
          </a:p>
          <a:p>
            <a:pPr fontAlgn="base">
              <a:spcBef>
                <a:spcPts val="1200"/>
              </a:spcBef>
            </a:pPr>
            <a:r>
              <a:rPr lang="pt-BR" sz="1600" dirty="0">
                <a:latin typeface="+mj-lt"/>
              </a:rPr>
              <a:t>1 – Voltar</a:t>
            </a:r>
            <a:r>
              <a:rPr lang="pt-BR" sz="1600" dirty="0"/>
              <a:t>: Retorna à página anterior. </a:t>
            </a:r>
          </a:p>
          <a:p>
            <a:pPr fontAlgn="base">
              <a:spcBef>
                <a:spcPts val="1200"/>
              </a:spcBef>
            </a:pPr>
            <a:r>
              <a:rPr lang="pt-BR" sz="1600" dirty="0">
                <a:latin typeface="+mj-lt"/>
              </a:rPr>
              <a:t>2 – Páginas recentes (Histórico): </a:t>
            </a:r>
            <a:r>
              <a:rPr lang="pt-BR" sz="1600" dirty="0"/>
              <a:t>Fornece uma lista suspensa com as páginas visitadas mais recentemente. Você pode selecionar uma página na lista para a qual retornar.</a:t>
            </a:r>
          </a:p>
          <a:p>
            <a:pPr fontAlgn="base">
              <a:spcBef>
                <a:spcPts val="1200"/>
              </a:spcBef>
            </a:pPr>
            <a:r>
              <a:rPr lang="pt-BR" sz="1600" dirty="0">
                <a:latin typeface="+mj-lt"/>
              </a:rPr>
              <a:t>3 - Menus Início, Administração e Favoritos: </a:t>
            </a:r>
            <a:r>
              <a:rPr lang="pt-BR" sz="1600" dirty="0"/>
              <a:t>Fornece a navegação para todas as páginas do CA Clarity PPM. Os menus e as opções exibidas dependem de seus direitos de acesso.</a:t>
            </a:r>
          </a:p>
          <a:p>
            <a:pPr fontAlgn="base">
              <a:spcBef>
                <a:spcPts val="1200"/>
              </a:spcBef>
            </a:pPr>
            <a:r>
              <a:rPr lang="pt-BR" sz="1600" dirty="0">
                <a:latin typeface="+mj-lt"/>
              </a:rPr>
              <a:t>4 – Atualizar: </a:t>
            </a:r>
            <a:r>
              <a:rPr lang="pt-BR" sz="1600" dirty="0"/>
              <a:t>Renova os dados em uma página.</a:t>
            </a:r>
          </a:p>
          <a:p>
            <a:pPr fontAlgn="base">
              <a:spcBef>
                <a:spcPts val="1200"/>
              </a:spcBef>
            </a:pPr>
            <a:r>
              <a:rPr lang="pt-BR" sz="1600" dirty="0">
                <a:latin typeface="+mj-lt"/>
              </a:rPr>
              <a:t>5 – Início: </a:t>
            </a:r>
            <a:r>
              <a:rPr lang="pt-BR" sz="1600" dirty="0"/>
              <a:t>Retorna você para a página inicial.</a:t>
            </a:r>
          </a:p>
          <a:p>
            <a:pPr fontAlgn="base">
              <a:spcBef>
                <a:spcPts val="1200"/>
              </a:spcBef>
            </a:pPr>
            <a:r>
              <a:rPr lang="pt-BR" sz="1600" dirty="0">
                <a:latin typeface="+mj-lt"/>
              </a:rPr>
              <a:t>6 – Planilha de horas atual: </a:t>
            </a:r>
            <a:r>
              <a:rPr lang="pt-BR" sz="1600" dirty="0"/>
              <a:t>Leva você até sua planilha de horas atualmente aberta.</a:t>
            </a:r>
          </a:p>
          <a:p>
            <a:pPr fontAlgn="base">
              <a:spcBef>
                <a:spcPts val="1200"/>
              </a:spcBef>
            </a:pPr>
            <a:r>
              <a:rPr lang="pt-BR" sz="1600" dirty="0">
                <a:latin typeface="+mj-lt"/>
              </a:rPr>
              <a:t>7 – Pesquisar: </a:t>
            </a:r>
            <a:r>
              <a:rPr lang="pt-BR" sz="1600" dirty="0"/>
              <a:t>Abre a janela de pesquisa do CA Clarity PPM.</a:t>
            </a:r>
          </a:p>
        </p:txBody>
      </p:sp>
      <p:pic>
        <p:nvPicPr>
          <p:cNvPr id="3074" name="Picture 2" descr="F:\Processos DA\images\o1852005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06"/>
          <a:stretch/>
        </p:blipFill>
        <p:spPr bwMode="auto">
          <a:xfrm>
            <a:off x="2141732" y="1118736"/>
            <a:ext cx="4829175" cy="507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344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62002" y="97202"/>
            <a:ext cx="6047463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visão geral do </a:t>
            </a:r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Clarity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41531" y="636535"/>
            <a:ext cx="8802470" cy="367793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Barra de Ferramentas do Usuário</a:t>
            </a:r>
          </a:p>
          <a:p>
            <a:endParaRPr lang="pt-BR" dirty="0"/>
          </a:p>
          <a:p>
            <a:pPr fontAlgn="base">
              <a:spcBef>
                <a:spcPts val="600"/>
              </a:spcBef>
            </a:pPr>
            <a:endParaRPr lang="pt-BR" sz="1600" dirty="0">
              <a:latin typeface="+mj-lt"/>
            </a:endParaRPr>
          </a:p>
          <a:p>
            <a:pPr fontAlgn="base"/>
            <a:endParaRPr lang="pt-BR" sz="1600" dirty="0"/>
          </a:p>
          <a:p>
            <a:pPr fontAlgn="base"/>
            <a:r>
              <a:rPr lang="pt-BR" sz="1600" dirty="0"/>
              <a:t>A barra de ferramentas do Usuário sempre é exibida na parte superior da página do CA Clarity PPM.</a:t>
            </a:r>
          </a:p>
          <a:p>
            <a:pPr fontAlgn="base"/>
            <a:endParaRPr lang="pt-BR" sz="1600" dirty="0"/>
          </a:p>
          <a:p>
            <a:pPr fontAlgn="base"/>
            <a:r>
              <a:rPr lang="pt-BR" sz="1600" dirty="0"/>
              <a:t>Use os links na barra de ferramentas para acessar o seguinte:</a:t>
            </a:r>
          </a:p>
          <a:p>
            <a:pPr fontAlgn="base"/>
            <a:endParaRPr lang="pt-BR" sz="1600" dirty="0"/>
          </a:p>
          <a:p>
            <a:pPr fontAlgn="base"/>
            <a:r>
              <a:rPr lang="pt-BR" sz="1600" dirty="0" err="1">
                <a:latin typeface="+mj-lt"/>
              </a:rPr>
              <a:t>Logoff</a:t>
            </a:r>
            <a:r>
              <a:rPr lang="pt-BR" sz="1600" dirty="0">
                <a:latin typeface="+mj-lt"/>
              </a:rPr>
              <a:t>: </a:t>
            </a:r>
            <a:r>
              <a:rPr lang="pt-BR" sz="1600" dirty="0"/>
              <a:t>Faz o </a:t>
            </a:r>
            <a:r>
              <a:rPr lang="pt-BR" sz="1600" dirty="0" err="1"/>
              <a:t>logoff</a:t>
            </a:r>
            <a:r>
              <a:rPr lang="pt-BR" sz="1600" dirty="0"/>
              <a:t>, encerra a sessão e exibe a janela de </a:t>
            </a:r>
            <a:r>
              <a:rPr lang="pt-BR" sz="1600" dirty="0" err="1"/>
              <a:t>Logon</a:t>
            </a:r>
            <a:r>
              <a:rPr lang="pt-BR" sz="1600" dirty="0"/>
              <a:t>.</a:t>
            </a:r>
          </a:p>
          <a:p>
            <a:pPr fontAlgn="base"/>
            <a:endParaRPr lang="pt-BR" sz="1600" dirty="0"/>
          </a:p>
          <a:p>
            <a:pPr fontAlgn="base"/>
            <a:r>
              <a:rPr lang="pt-BR" sz="1600" dirty="0">
                <a:latin typeface="+mj-lt"/>
              </a:rPr>
              <a:t>Ajuda: </a:t>
            </a:r>
            <a:r>
              <a:rPr lang="pt-BR" sz="1600" dirty="0"/>
              <a:t>Fornece informações de ajuda online sobre páginas individuais do CA Clarity PPM.</a:t>
            </a:r>
          </a:p>
          <a:p>
            <a:pPr fontAlgn="base"/>
            <a:endParaRPr lang="pt-BR" sz="1600" dirty="0">
              <a:latin typeface="+mj-lt"/>
            </a:endParaRPr>
          </a:p>
          <a:p>
            <a:pPr fontAlgn="base"/>
            <a:r>
              <a:rPr lang="pt-BR" sz="1600" dirty="0">
                <a:latin typeface="+mj-lt"/>
              </a:rPr>
              <a:t>Sobre</a:t>
            </a:r>
            <a:r>
              <a:rPr lang="pt-BR" sz="1600" dirty="0"/>
              <a:t>: Fornece informações sobre a versão do CA Clarity PPM, o usuário que fez </a:t>
            </a:r>
            <a:r>
              <a:rPr lang="pt-BR" sz="1600" dirty="0" err="1"/>
              <a:t>logon</a:t>
            </a:r>
            <a:r>
              <a:rPr lang="pt-BR" sz="1600" dirty="0"/>
              <a:t> e software de terceiros.</a:t>
            </a:r>
          </a:p>
        </p:txBody>
      </p:sp>
      <p:sp>
        <p:nvSpPr>
          <p:cNvPr id="2" name="AutoShape 2" descr="Mostra a barra de ferramentas do usuário a partir da janela principal do Clarity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838" y="1231835"/>
            <a:ext cx="1838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76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62002" y="97202"/>
            <a:ext cx="6047463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visão geral do </a:t>
            </a:r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Clarity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41531" y="636536"/>
            <a:ext cx="8802470" cy="369331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Portlets da Página Visão Geral</a:t>
            </a:r>
          </a:p>
          <a:p>
            <a:pPr fontAlgn="base"/>
            <a:endParaRPr lang="pt-BR" sz="1600" dirty="0"/>
          </a:p>
          <a:p>
            <a:pPr fontAlgn="base"/>
            <a:r>
              <a:rPr lang="pt-BR" sz="1600" dirty="0"/>
              <a:t>Um portlet fornece um instantâneo de dados específicos do CA Clarity PPM. Um portlet pode ser uma lista, um gráfico ou um trecho de HTML. É possível selecionar os dados exibidos em um portlet.</a:t>
            </a:r>
          </a:p>
          <a:p>
            <a:pPr fontAlgn="base"/>
            <a:endParaRPr lang="pt-BR" sz="1600" dirty="0"/>
          </a:p>
          <a:p>
            <a:pPr fontAlgn="base"/>
            <a:r>
              <a:rPr lang="pt-BR" sz="1600" dirty="0"/>
              <a:t>A página </a:t>
            </a:r>
            <a:r>
              <a:rPr lang="pt-BR" sz="1600" i="1" dirty="0"/>
              <a:t>Visão geral </a:t>
            </a:r>
            <a:r>
              <a:rPr lang="pt-BR" sz="1600" dirty="0"/>
              <a:t>contém os seguintes portlets:</a:t>
            </a:r>
          </a:p>
          <a:p>
            <a:pPr fontAlgn="base"/>
            <a:endParaRPr lang="pt-BR" sz="1600" dirty="0"/>
          </a:p>
          <a:p>
            <a:pPr fontAlgn="base">
              <a:spcBef>
                <a:spcPts val="1200"/>
              </a:spcBef>
            </a:pPr>
            <a:r>
              <a:rPr lang="pt-BR" sz="1600" b="1" dirty="0"/>
              <a:t>Itens de ação: </a:t>
            </a:r>
            <a:r>
              <a:rPr lang="pt-BR" sz="1600" dirty="0"/>
              <a:t>Fornece uma lista dos itens de ação atribuídos a você.</a:t>
            </a:r>
          </a:p>
          <a:p>
            <a:pPr fontAlgn="base">
              <a:spcBef>
                <a:spcPts val="1200"/>
              </a:spcBef>
            </a:pPr>
            <a:r>
              <a:rPr lang="pt-BR" sz="1600" b="1" dirty="0"/>
              <a:t>Ideias: </a:t>
            </a:r>
            <a:r>
              <a:rPr lang="pt-BR" sz="1600" dirty="0"/>
              <a:t>Permite o registro de uma nova ideia.</a:t>
            </a:r>
          </a:p>
          <a:p>
            <a:pPr fontAlgn="base">
              <a:spcBef>
                <a:spcPts val="1200"/>
              </a:spcBef>
            </a:pPr>
            <a:r>
              <a:rPr lang="pt-BR" sz="1600" b="1" dirty="0"/>
              <a:t>Meus projetos: </a:t>
            </a:r>
            <a:r>
              <a:rPr lang="pt-BR" sz="1600" dirty="0"/>
              <a:t>Fornece uma lista de projetos selecionados por você para fácil acesso a partir desse portlet.</a:t>
            </a:r>
          </a:p>
          <a:p>
            <a:pPr fontAlgn="base">
              <a:spcBef>
                <a:spcPts val="1200"/>
              </a:spcBef>
            </a:pPr>
            <a:r>
              <a:rPr lang="pt-BR" sz="1600" b="1" dirty="0"/>
              <a:t>Notificações: </a:t>
            </a:r>
            <a:r>
              <a:rPr lang="pt-BR" sz="1600" dirty="0"/>
              <a:t>Fornece uma lista de notificações enviadas a você.</a:t>
            </a:r>
          </a:p>
        </p:txBody>
      </p:sp>
      <p:sp>
        <p:nvSpPr>
          <p:cNvPr id="2" name="AutoShape 2" descr="Mostra a barra de ferramentas do usuário a partir da janela principal do Clarity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0615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62002" y="97202"/>
            <a:ext cx="6047463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visão geral do </a:t>
            </a:r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Clarity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41531" y="636536"/>
            <a:ext cx="8802470" cy="1846659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Menus de Guias</a:t>
            </a:r>
          </a:p>
          <a:p>
            <a:pPr fontAlgn="base"/>
            <a:endParaRPr lang="pt-BR" sz="1600" dirty="0"/>
          </a:p>
          <a:p>
            <a:pPr fontAlgn="base"/>
            <a:r>
              <a:rPr lang="pt-BR" sz="1600" dirty="0"/>
              <a:t>Algumas páginas com guias possuem menus nas guias. Quando você seleciona uma guia na página, se um menu estiver disponível para a guia, uma seta será exibida na guia.</a:t>
            </a:r>
          </a:p>
          <a:p>
            <a:pPr fontAlgn="base"/>
            <a:endParaRPr lang="pt-BR" sz="1600" dirty="0"/>
          </a:p>
          <a:p>
            <a:pPr fontAlgn="base"/>
            <a:r>
              <a:rPr lang="pt-BR" sz="1600" dirty="0"/>
              <a:t>Clique na guia exibida uma vez para abrir o menu e exibir suas opções.</a:t>
            </a:r>
          </a:p>
          <a:p>
            <a:pPr fontAlgn="base"/>
            <a:endParaRPr lang="pt-BR" sz="1600" dirty="0"/>
          </a:p>
        </p:txBody>
      </p:sp>
      <p:sp>
        <p:nvSpPr>
          <p:cNvPr id="2" name="AutoShape 2" descr="Mostra a barra de ferramentas do usuário a partir da janela principal do Clarity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830" y="2436735"/>
            <a:ext cx="310515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19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62002" y="97202"/>
            <a:ext cx="6047463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visão geral do </a:t>
            </a:r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Clarity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41531" y="636537"/>
            <a:ext cx="8802470" cy="3570204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Itens de Ação</a:t>
            </a:r>
          </a:p>
          <a:p>
            <a:pPr fontAlgn="base"/>
            <a:endParaRPr lang="pt-BR" sz="1600" dirty="0"/>
          </a:p>
          <a:p>
            <a:pPr fontAlgn="base"/>
            <a:r>
              <a:rPr lang="pt-BR" sz="1600" dirty="0"/>
              <a:t>Itens de ação </a:t>
            </a:r>
            <a:r>
              <a:rPr lang="pt-BR" sz="1600" i="1" dirty="0" err="1"/>
              <a:t>to</a:t>
            </a:r>
            <a:r>
              <a:rPr lang="pt-BR" sz="1600" i="1" dirty="0"/>
              <a:t> </a:t>
            </a:r>
            <a:r>
              <a:rPr lang="pt-BR" sz="1600" i="1" dirty="0" err="1"/>
              <a:t>do’s</a:t>
            </a:r>
            <a:r>
              <a:rPr lang="pt-BR" sz="1600" dirty="0"/>
              <a:t> que você atribui a si mesmo, que outros atribuem a você ou que o sistema atribui a você. Os itens de ação podem ser usados para acompanhar o andamento de projetos e para ajudar a garantir que um projeto seja concluído no prazo, além de ser utilizado para dar sequência no fluxo de processo.</a:t>
            </a:r>
          </a:p>
          <a:p>
            <a:pPr fontAlgn="base"/>
            <a:endParaRPr lang="pt-BR" sz="1600" dirty="0"/>
          </a:p>
          <a:p>
            <a:pPr fontAlgn="base"/>
            <a:r>
              <a:rPr lang="pt-BR" sz="1600" dirty="0"/>
              <a:t>É possível criar itens de ação pessoais a partir da página</a:t>
            </a:r>
            <a:r>
              <a:rPr lang="pt-BR" sz="1600" i="1" dirty="0"/>
              <a:t> </a:t>
            </a:r>
            <a:r>
              <a:rPr lang="pt-BR" sz="1600" dirty="0"/>
              <a:t>do organizador, bem como itens de ação relacionados ao projeto a partir de um projeto. </a:t>
            </a:r>
          </a:p>
          <a:p>
            <a:pPr fontAlgn="base"/>
            <a:endParaRPr lang="pt-BR" sz="1600" dirty="0"/>
          </a:p>
          <a:p>
            <a:pPr fontAlgn="base"/>
            <a:r>
              <a:rPr lang="pt-BR" sz="1600" dirty="0"/>
              <a:t>A guia Itens de ação na página do organizador</a:t>
            </a:r>
            <a:r>
              <a:rPr lang="pt-BR" sz="1600" i="1" dirty="0"/>
              <a:t> </a:t>
            </a:r>
            <a:r>
              <a:rPr lang="pt-BR" sz="1600" dirty="0"/>
              <a:t>lista todos os itens de ação pessoais e específicos criados por você. A guia Itens de ação também lista os itens de ação que outros (ou o sistema) criam e atribuem a você.</a:t>
            </a:r>
          </a:p>
          <a:p>
            <a:pPr fontAlgn="base"/>
            <a:endParaRPr lang="pt-BR" sz="1600" dirty="0"/>
          </a:p>
        </p:txBody>
      </p:sp>
      <p:sp>
        <p:nvSpPr>
          <p:cNvPr id="2" name="AutoShape 2" descr="Mostra a barra de ferramentas do usuário a partir da janela principal do Clarity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0512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62002" y="97202"/>
            <a:ext cx="6047463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visão geral do </a:t>
            </a:r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Clarity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41531" y="636535"/>
            <a:ext cx="8802470" cy="320087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Processos no Clarity</a:t>
            </a:r>
          </a:p>
          <a:p>
            <a:pPr fontAlgn="base"/>
            <a:endParaRPr lang="pt-BR" sz="1600" dirty="0"/>
          </a:p>
          <a:p>
            <a:pPr fontAlgn="base">
              <a:spcBef>
                <a:spcPts val="1200"/>
              </a:spcBef>
            </a:pPr>
            <a:r>
              <a:rPr lang="pt-BR" sz="1600" dirty="0"/>
              <a:t>Um processo é uma série de ações (etapas) no CA Clarity PPM que resultam em um fim. Todos os processos têm as seguintes características:</a:t>
            </a:r>
          </a:p>
          <a:p>
            <a:pPr marL="285736" indent="-285736" fontAlgn="base">
              <a:spcBef>
                <a:spcPts val="1200"/>
              </a:spcBef>
              <a:buFont typeface="Arial" pitchFamily="34" charset="0"/>
              <a:buChar char="•"/>
            </a:pPr>
            <a:r>
              <a:rPr lang="pt-BR" sz="1600" dirty="0"/>
              <a:t>Uma etapa de início e uma etapa de conclusão.</a:t>
            </a:r>
          </a:p>
          <a:p>
            <a:pPr marL="285736" indent="-285736" fontAlgn="base">
              <a:buFont typeface="Arial" pitchFamily="34" charset="0"/>
              <a:buChar char="•"/>
            </a:pPr>
            <a:r>
              <a:rPr lang="pt-BR" sz="1600" dirty="0"/>
              <a:t>Pós-condições e pré-condições para conectar as etapas.</a:t>
            </a:r>
          </a:p>
          <a:p>
            <a:pPr fontAlgn="base">
              <a:spcBef>
                <a:spcPts val="1200"/>
              </a:spcBef>
            </a:pPr>
            <a:r>
              <a:rPr lang="pt-BR" sz="1600" dirty="0"/>
              <a:t>Cada etapa realiza uma única ação cujo objetivo é impulsionar o processo até sua conclusão.</a:t>
            </a:r>
          </a:p>
          <a:p>
            <a:pPr fontAlgn="base">
              <a:spcBef>
                <a:spcPts val="1200"/>
              </a:spcBef>
            </a:pPr>
            <a:r>
              <a:rPr lang="pt-BR" sz="1600" b="1" dirty="0"/>
              <a:t>Observação:</a:t>
            </a:r>
            <a:r>
              <a:rPr lang="pt-BR" sz="1600" dirty="0"/>
              <a:t> os processos não são marcados explicitamente como concluídos. A conclusão de uma instância do processo depende do status das etapas que ela contém. Quando a etapa Concluir está finalizada, a instância do processo termina.</a:t>
            </a:r>
          </a:p>
        </p:txBody>
      </p:sp>
      <p:sp>
        <p:nvSpPr>
          <p:cNvPr id="2" name="AutoShape 2" descr="Mostra a barra de ferramentas do usuário a partir da janela principal do Clarity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957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62002" y="97202"/>
            <a:ext cx="6047463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visão geral do </a:t>
            </a:r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Clarity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41531" y="636535"/>
            <a:ext cx="8802470" cy="861774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Processos no Clarity</a:t>
            </a:r>
          </a:p>
          <a:p>
            <a:pPr fontAlgn="base"/>
            <a:endParaRPr lang="pt-BR" sz="1600" dirty="0"/>
          </a:p>
          <a:p>
            <a:pPr fontAlgn="base"/>
            <a:endParaRPr lang="pt-BR" sz="1600" dirty="0"/>
          </a:p>
        </p:txBody>
      </p:sp>
      <p:sp>
        <p:nvSpPr>
          <p:cNvPr id="2" name="AutoShape 2" descr="Mostra a barra de ferramentas do usuário a partir da janela principal do Clarity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l="1186" t="1840" r="1645" b="537"/>
          <a:stretch/>
        </p:blipFill>
        <p:spPr>
          <a:xfrm>
            <a:off x="1334339" y="2755640"/>
            <a:ext cx="6570730" cy="2335567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44" y="1210052"/>
            <a:ext cx="7629525" cy="352425"/>
          </a:xfrm>
          <a:prstGeom prst="rect">
            <a:avLst/>
          </a:prstGeom>
        </p:spPr>
      </p:pic>
      <p:sp>
        <p:nvSpPr>
          <p:cNvPr id="7" name="Seta para a direita 6"/>
          <p:cNvSpPr/>
          <p:nvPr/>
        </p:nvSpPr>
        <p:spPr>
          <a:xfrm rot="5400000">
            <a:off x="6314211" y="1065458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6327196" y="1042954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975" y="1665410"/>
            <a:ext cx="8719520" cy="923131"/>
          </a:xfrm>
          <a:prstGeom prst="rect">
            <a:avLst/>
          </a:prstGeom>
        </p:spPr>
      </p:pic>
      <p:sp>
        <p:nvSpPr>
          <p:cNvPr id="10" name="Seta para a direita 9"/>
          <p:cNvSpPr/>
          <p:nvPr/>
        </p:nvSpPr>
        <p:spPr>
          <a:xfrm rot="5400000">
            <a:off x="2803821" y="1822528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2816806" y="1800024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7584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62002" y="97202"/>
            <a:ext cx="6047463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visão geral do </a:t>
            </a:r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Clarity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41531" y="636537"/>
            <a:ext cx="8802470" cy="5139869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Barra de Ferramentas Opções</a:t>
            </a:r>
          </a:p>
          <a:p>
            <a:endParaRPr lang="pt-BR" dirty="0">
              <a:latin typeface="+mj-lt"/>
            </a:endParaRPr>
          </a:p>
          <a:p>
            <a:pPr fontAlgn="base"/>
            <a:r>
              <a:rPr lang="pt-BR" sz="1600" dirty="0"/>
              <a:t>A barra de ferramentas Opções é exibida na parte superior das listas. As opções da barra de ferramentas ajudam você a gerenciar as informações incluídas na lista. A ilustração a seguir mostra:</a:t>
            </a:r>
          </a:p>
          <a:p>
            <a:pPr fontAlgn="base"/>
            <a:endParaRPr lang="pt-BR" sz="1600" dirty="0"/>
          </a:p>
          <a:p>
            <a:pPr fontAlgn="base"/>
            <a:endParaRPr lang="pt-BR" sz="1600" dirty="0"/>
          </a:p>
          <a:p>
            <a:pPr fontAlgn="base"/>
            <a:endParaRPr lang="pt-BR" sz="1600" dirty="0"/>
          </a:p>
          <a:p>
            <a:pPr fontAlgn="base"/>
            <a:endParaRPr lang="pt-BR" sz="1600" dirty="0"/>
          </a:p>
          <a:p>
            <a:pPr marL="285736" indent="-285736" fontAlgn="base">
              <a:buFont typeface="Arial" pitchFamily="34" charset="0"/>
              <a:buChar char="•"/>
            </a:pPr>
            <a:r>
              <a:rPr lang="pt-BR" sz="1600" dirty="0"/>
              <a:t>Opções de filtro</a:t>
            </a:r>
          </a:p>
          <a:p>
            <a:pPr marL="285736" indent="-285736" fontAlgn="base">
              <a:buFont typeface="Arial" pitchFamily="34" charset="0"/>
              <a:buChar char="•"/>
            </a:pPr>
            <a:r>
              <a:rPr lang="pt-BR" sz="1600" dirty="0"/>
              <a:t>Menu Opções (expandido)</a:t>
            </a:r>
          </a:p>
          <a:p>
            <a:endParaRPr lang="pt-BR" dirty="0" smtClean="0">
              <a:latin typeface="+mj-lt"/>
            </a:endParaRPr>
          </a:p>
          <a:p>
            <a:pPr fontAlgn="base"/>
            <a:r>
              <a:rPr lang="pt-BR" sz="1600" dirty="0"/>
              <a:t>As opções da barra de ferramentas permitem fazer o seguinte:</a:t>
            </a:r>
          </a:p>
          <a:p>
            <a:pPr fontAlgn="base"/>
            <a:endParaRPr lang="pt-BR" sz="1600" dirty="0"/>
          </a:p>
          <a:p>
            <a:pPr fontAlgn="base"/>
            <a:r>
              <a:rPr lang="pt-BR" sz="1600" dirty="0"/>
              <a:t>Filtrar: Permite filtrar a lista com os critérios selecionados por você. Você pode expandir ou recolher o filtro clicando duas vezes na barra de ferramentas ou clicando nos ícones (+ ou -) exibidos ao lado do nome do filtro. O filtro em uso é listado no campo do filtro. Clique na seta para baixo para ver uma lista de filtros salvos.</a:t>
            </a:r>
          </a:p>
          <a:p>
            <a:endParaRPr lang="pt-BR" dirty="0" smtClean="0">
              <a:latin typeface="+mj-lt"/>
            </a:endParaRPr>
          </a:p>
          <a:p>
            <a:pPr fontAlgn="base"/>
            <a:endParaRPr lang="pt-BR" sz="1600" dirty="0"/>
          </a:p>
          <a:p>
            <a:pPr fontAlgn="base"/>
            <a:endParaRPr lang="pt-BR" sz="1600" dirty="0"/>
          </a:p>
        </p:txBody>
      </p:sp>
      <p:sp>
        <p:nvSpPr>
          <p:cNvPr id="2" name="AutoShape 2" descr="Mostra a barra de ferramentas do usuário a partir da janela principal do Clarity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713" y="1761660"/>
            <a:ext cx="460057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74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62002" y="97202"/>
            <a:ext cx="6047463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visão geral do </a:t>
            </a:r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Clarity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41531" y="636536"/>
            <a:ext cx="8802470" cy="4585869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Barra de Ferramentas Opções</a:t>
            </a:r>
          </a:p>
          <a:p>
            <a:endParaRPr lang="pt-BR" dirty="0">
              <a:latin typeface="+mj-lt"/>
            </a:endParaRPr>
          </a:p>
          <a:p>
            <a:pPr fontAlgn="base"/>
            <a:r>
              <a:rPr lang="pt-BR" sz="1600" dirty="0">
                <a:latin typeface="+mj-lt"/>
              </a:rPr>
              <a:t>Menu Opções: </a:t>
            </a:r>
            <a:r>
              <a:rPr lang="pt-BR" sz="1600" dirty="0"/>
              <a:t>Esse menu contém opções que se aplicam ao portlet que está sendo visualizado. As opções exibidas podem variar dependendo do portlet. A lista do próximo slide apresenta algumas das opções que podem ser exibidas no menu Opções.</a:t>
            </a:r>
          </a:p>
          <a:p>
            <a:pPr fontAlgn="base"/>
            <a:endParaRPr lang="pt-BR" sz="1600" dirty="0"/>
          </a:p>
          <a:p>
            <a:pPr fontAlgn="base"/>
            <a:r>
              <a:rPr lang="pt-BR" sz="1600" dirty="0">
                <a:latin typeface="+mj-lt"/>
              </a:rPr>
              <a:t>Configurar: </a:t>
            </a:r>
            <a:r>
              <a:rPr lang="pt-BR" sz="1600" dirty="0"/>
              <a:t>Permite fazer o seguinte:</a:t>
            </a:r>
          </a:p>
          <a:p>
            <a:pPr marL="285736" indent="-285736" fontAlgn="base">
              <a:buFont typeface="Arial" pitchFamily="34" charset="0"/>
              <a:buChar char="•"/>
            </a:pPr>
            <a:r>
              <a:rPr lang="pt-BR" sz="1600" dirty="0"/>
              <a:t>Modificar os campos da lista e do filtro</a:t>
            </a:r>
          </a:p>
          <a:p>
            <a:pPr marL="285736" indent="-285736" fontAlgn="base">
              <a:buFont typeface="Arial" pitchFamily="34" charset="0"/>
              <a:buChar char="•"/>
            </a:pPr>
            <a:r>
              <a:rPr lang="pt-BR" sz="1600" dirty="0"/>
              <a:t>Modificar o layout da lista e do filtro</a:t>
            </a:r>
          </a:p>
          <a:p>
            <a:pPr marL="285736" indent="-285736" fontAlgn="base">
              <a:buFont typeface="Arial" pitchFamily="34" charset="0"/>
              <a:buChar char="•"/>
            </a:pPr>
            <a:r>
              <a:rPr lang="pt-BR" sz="1600" dirty="0"/>
              <a:t>Agregar as informações em colunas</a:t>
            </a:r>
          </a:p>
          <a:p>
            <a:pPr marL="285736" indent="-285736" fontAlgn="base">
              <a:buFont typeface="Arial" pitchFamily="34" charset="0"/>
              <a:buChar char="•"/>
            </a:pPr>
            <a:r>
              <a:rPr lang="pt-BR" sz="1600" dirty="0"/>
              <a:t>Definir opções de como a lista é exibida</a:t>
            </a:r>
          </a:p>
          <a:p>
            <a:pPr marL="285736" indent="-285736" fontAlgn="base">
              <a:buFont typeface="Arial" pitchFamily="34" charset="0"/>
              <a:buChar char="•"/>
            </a:pPr>
            <a:r>
              <a:rPr lang="pt-BR" sz="1600" dirty="0"/>
              <a:t>Definir as configurações de exibição de um gráfico de </a:t>
            </a:r>
            <a:r>
              <a:rPr lang="pt-BR" sz="1600" dirty="0" err="1"/>
              <a:t>Gantt</a:t>
            </a:r>
            <a:endParaRPr lang="pt-BR" sz="1600" dirty="0"/>
          </a:p>
          <a:p>
            <a:pPr marL="285736" indent="-285736" fontAlgn="base">
              <a:buFont typeface="Arial" pitchFamily="34" charset="0"/>
              <a:buChar char="•"/>
            </a:pPr>
            <a:r>
              <a:rPr lang="pt-BR" sz="1600" dirty="0"/>
              <a:t>Definir as configurações de período para um valor na escala de tempo</a:t>
            </a:r>
          </a:p>
          <a:p>
            <a:pPr fontAlgn="base"/>
            <a:endParaRPr lang="pt-BR" sz="1600" dirty="0"/>
          </a:p>
          <a:p>
            <a:pPr fontAlgn="base"/>
            <a:r>
              <a:rPr lang="pt-BR" sz="1600" dirty="0"/>
              <a:t>Várias classificações: Permite classificar as informações em uma lista usando várias colunas.</a:t>
            </a:r>
          </a:p>
          <a:p>
            <a:pPr fontAlgn="base"/>
            <a:r>
              <a:rPr lang="pt-BR" sz="1600" dirty="0"/>
              <a:t>Exportar para o Excel (apenas dados)Exporta as informações da lista para o formato do Microsoft Excel. Nenhum gráfico é incluído nessa exportação.</a:t>
            </a:r>
          </a:p>
          <a:p>
            <a:pPr fontAlgn="base"/>
            <a:endParaRPr lang="pt-BR" sz="1600" dirty="0"/>
          </a:p>
        </p:txBody>
      </p:sp>
      <p:sp>
        <p:nvSpPr>
          <p:cNvPr id="2" name="AutoShape 2" descr="Mostra a barra de ferramentas do usuário a partir da janela principal do Clarity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46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62002" y="97202"/>
            <a:ext cx="6047463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visão geral do </a:t>
            </a:r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Clarity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41531" y="636536"/>
            <a:ext cx="8802470" cy="1138773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Guia básico do usuário</a:t>
            </a:r>
          </a:p>
          <a:p>
            <a:endParaRPr lang="pt-BR" dirty="0">
              <a:latin typeface="+mj-lt"/>
            </a:endParaRPr>
          </a:p>
          <a:p>
            <a:pPr fontAlgn="base"/>
            <a:r>
              <a:rPr lang="pt-BR" sz="1600" dirty="0"/>
              <a:t>Para informações mais detalhadas sobre os tópicos tratados até aqui, acesse o Guia Básico do Usuário, através do link ajuda.</a:t>
            </a:r>
          </a:p>
        </p:txBody>
      </p:sp>
      <p:sp>
        <p:nvSpPr>
          <p:cNvPr id="2" name="AutoShape 2" descr="Mostra a barra de ferramentas do usuário a partir da janela principal do Clarity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817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341531" y="996577"/>
            <a:ext cx="8802470" cy="1200329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/>
              <a:t>Atividade 1</a:t>
            </a:r>
          </a:p>
          <a:p>
            <a:endParaRPr lang="pt-BR" dirty="0"/>
          </a:p>
          <a:p>
            <a:r>
              <a:rPr lang="pt-BR" dirty="0" smtClean="0"/>
              <a:t>Desenhe o consenso do grupo sobre o processo atual de Gestão de Demandas de TD, desde o nascimento da demanda até a aprovação da sua execução.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298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0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7" descr="E:\Users\BR92644\Pictures\metro-fotos\metro.frent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1"/>
          <a:stretch>
            <a:fillRect/>
          </a:stretch>
        </p:blipFill>
        <p:spPr bwMode="auto">
          <a:xfrm>
            <a:off x="7144" y="0"/>
            <a:ext cx="6168628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Rectangle 3"/>
          <p:cNvSpPr>
            <a:spLocks/>
          </p:cNvSpPr>
          <p:nvPr/>
        </p:nvSpPr>
        <p:spPr bwMode="auto">
          <a:xfrm>
            <a:off x="6300791" y="4371977"/>
            <a:ext cx="14001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800" dirty="0">
              <a:solidFill>
                <a:srgbClr val="FFFF00"/>
              </a:solidFill>
              <a:latin typeface="Gill Sans Std" pitchFamily="34" charset="0"/>
              <a:ea typeface="MS PGothic" pitchFamily="34" charset="-128"/>
              <a:sym typeface="Gill Sans Std" pitchFamily="34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FFFF00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TECNOLOGIA DIGITAL</a:t>
            </a:r>
            <a:r>
              <a:rPr lang="en-US" sz="900" dirty="0">
                <a:solidFill>
                  <a:srgbClr val="FFFF00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/>
            </a:r>
            <a:br>
              <a:rPr lang="en-US" sz="900" dirty="0">
                <a:solidFill>
                  <a:srgbClr val="FFFF00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</a:br>
            <a:endParaRPr lang="en-US" sz="900" dirty="0">
              <a:solidFill>
                <a:srgbClr val="FFFF00"/>
              </a:solidFill>
              <a:latin typeface="Gill Sans Std" pitchFamily="34" charset="0"/>
              <a:ea typeface="MS PGothic" pitchFamily="34" charset="-128"/>
              <a:sym typeface="Gill Sans Std" pitchFamily="34" charset="0"/>
            </a:endParaRPr>
          </a:p>
        </p:txBody>
      </p:sp>
      <p:sp>
        <p:nvSpPr>
          <p:cNvPr id="14341" name="TextBox 3"/>
          <p:cNvSpPr txBox="1">
            <a:spLocks noChangeArrowheads="1"/>
          </p:cNvSpPr>
          <p:nvPr/>
        </p:nvSpPr>
        <p:spPr bwMode="auto">
          <a:xfrm>
            <a:off x="-367628" y="1585914"/>
            <a:ext cx="103931" cy="605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1431" tIns="25715" rIns="51431" bIns="25715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pt-BR" smtClean="0"/>
          </a:p>
        </p:txBody>
      </p:sp>
      <p:pic>
        <p:nvPicPr>
          <p:cNvPr id="1434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1767" y="4471988"/>
            <a:ext cx="575072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8" descr="E:\Users\BR92644\Pictures\timetd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71590" y="1671639"/>
            <a:ext cx="1414463" cy="50720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</p:pic>
      <p:sp>
        <p:nvSpPr>
          <p:cNvPr id="8" name="CaixaDeTexto 7"/>
          <p:cNvSpPr txBox="1"/>
          <p:nvPr/>
        </p:nvSpPr>
        <p:spPr>
          <a:xfrm>
            <a:off x="6154386" y="1"/>
            <a:ext cx="2989614" cy="193899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Gill Sans Std ExtraBold" pitchFamily="34" charset="0"/>
              </a:rPr>
              <a:t>metro de processos </a:t>
            </a:r>
          </a:p>
          <a:p>
            <a:r>
              <a:rPr lang="pt-BR" sz="3600" dirty="0">
                <a:solidFill>
                  <a:srgbClr val="FFFF00"/>
                </a:solidFill>
                <a:latin typeface="Gill Sans Std ExtraBold" pitchFamily="34" charset="0"/>
              </a:rPr>
              <a:t>Gestão de Demandas</a:t>
            </a:r>
          </a:p>
        </p:txBody>
      </p:sp>
    </p:spTree>
    <p:extLst>
      <p:ext uri="{BB962C8B-B14F-4D97-AF65-F5344CB8AC3E}">
        <p14:creationId xmlns:p14="http://schemas.microsoft.com/office/powerpoint/2010/main" val="17485626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44" t="12759" r="16422" b="6511"/>
          <a:stretch>
            <a:fillRect/>
          </a:stretch>
        </p:blipFill>
        <p:spPr bwMode="auto">
          <a:xfrm>
            <a:off x="885826" y="10716"/>
            <a:ext cx="7329488" cy="5082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7844" t="12759" r="16422" b="6511"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3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3" y="129482"/>
            <a:ext cx="8962853" cy="49640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82304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45" y="1061334"/>
            <a:ext cx="9089567" cy="4030696"/>
          </a:xfrm>
          <a:prstGeom prst="rect">
            <a:avLst/>
          </a:prstGeom>
        </p:spPr>
      </p:pic>
      <p:sp>
        <p:nvSpPr>
          <p:cNvPr id="6" name="CaixaDeTexto 5"/>
          <p:cNvSpPr txBox="1"/>
          <p:nvPr>
            <p:custDataLst>
              <p:tags r:id="rId1"/>
            </p:custDataLst>
          </p:nvPr>
        </p:nvSpPr>
        <p:spPr>
          <a:xfrm>
            <a:off x="1691680" y="3336835"/>
            <a:ext cx="720080" cy="2769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pt-BR" sz="600" dirty="0">
                <a:solidFill>
                  <a:schemeClr val="accent6"/>
                </a:solidFill>
                <a:cs typeface="Arial" pitchFamily="34" charset="0"/>
              </a:rPr>
              <a:t>Comitê de Carteira </a:t>
            </a:r>
            <a:r>
              <a:rPr lang="pt-BR" sz="600" dirty="0" smtClean="0">
                <a:solidFill>
                  <a:schemeClr val="accent6"/>
                </a:solidFill>
                <a:cs typeface="Arial" pitchFamily="34" charset="0"/>
              </a:rPr>
              <a:t>VPTD</a:t>
            </a:r>
            <a:endParaRPr lang="pt-BR" sz="600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8" name="CaixaDeTexto 7"/>
          <p:cNvSpPr txBox="1"/>
          <p:nvPr>
            <p:custDataLst>
              <p:tags r:id="rId2"/>
            </p:custDataLst>
          </p:nvPr>
        </p:nvSpPr>
        <p:spPr>
          <a:xfrm>
            <a:off x="1691680" y="2931790"/>
            <a:ext cx="720079" cy="369328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pt-BR" sz="600" dirty="0">
                <a:solidFill>
                  <a:schemeClr val="accent6"/>
                </a:solidFill>
                <a:cs typeface="Arial" pitchFamily="34" charset="0"/>
              </a:rPr>
              <a:t>Fórum de Priorização de Demandas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735" y="2910929"/>
            <a:ext cx="227890" cy="297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886" y="3335421"/>
            <a:ext cx="182406" cy="278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042" y="2931790"/>
            <a:ext cx="193204" cy="297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5992" y="2028365"/>
            <a:ext cx="197891" cy="297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870" y="2931790"/>
            <a:ext cx="193204" cy="297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CaixaDeTexto 15"/>
          <p:cNvSpPr txBox="1"/>
          <p:nvPr>
            <p:custDataLst>
              <p:tags r:id="rId3"/>
            </p:custDataLst>
          </p:nvPr>
        </p:nvSpPr>
        <p:spPr>
          <a:xfrm>
            <a:off x="2861810" y="2972152"/>
            <a:ext cx="636662" cy="18466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600" dirty="0" err="1" smtClean="0">
                <a:solidFill>
                  <a:schemeClr val="accent6"/>
                </a:solidFill>
                <a:cs typeface="Arial" pitchFamily="34" charset="0"/>
              </a:rPr>
              <a:t>YellowPad</a:t>
            </a:r>
            <a:endParaRPr lang="pt-BR" sz="600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17" name="CaixaDeTexto 16"/>
          <p:cNvSpPr txBox="1"/>
          <p:nvPr>
            <p:custDataLst>
              <p:tags r:id="rId4"/>
            </p:custDataLst>
          </p:nvPr>
        </p:nvSpPr>
        <p:spPr>
          <a:xfrm>
            <a:off x="3536447" y="2969830"/>
            <a:ext cx="706896" cy="369328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600" dirty="0" err="1" smtClean="0">
                <a:solidFill>
                  <a:schemeClr val="accent6"/>
                </a:solidFill>
                <a:cs typeface="Arial" pitchFamily="34" charset="0"/>
              </a:rPr>
              <a:t>Forum</a:t>
            </a:r>
            <a:r>
              <a:rPr lang="pt-BR" sz="600" dirty="0" smtClean="0">
                <a:solidFill>
                  <a:schemeClr val="accent6"/>
                </a:solidFill>
                <a:cs typeface="Arial" pitchFamily="34" charset="0"/>
              </a:rPr>
              <a:t> Executivo de </a:t>
            </a:r>
            <a:r>
              <a:rPr lang="pt-BR" sz="600" dirty="0" err="1" smtClean="0">
                <a:solidFill>
                  <a:schemeClr val="accent6"/>
                </a:solidFill>
                <a:cs typeface="Arial" pitchFamily="34" charset="0"/>
              </a:rPr>
              <a:t>DEmandas</a:t>
            </a:r>
            <a:endParaRPr lang="pt-BR" sz="600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18" name="CaixaDeTexto 17"/>
          <p:cNvSpPr txBox="1"/>
          <p:nvPr>
            <p:custDataLst>
              <p:tags r:id="rId5"/>
            </p:custDataLst>
          </p:nvPr>
        </p:nvSpPr>
        <p:spPr>
          <a:xfrm rot="18882843">
            <a:off x="5696983" y="1809925"/>
            <a:ext cx="720080" cy="2769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pt-BR" sz="600" dirty="0">
                <a:solidFill>
                  <a:schemeClr val="accent6"/>
                </a:solidFill>
                <a:cs typeface="Arial" pitchFamily="34" charset="0"/>
              </a:rPr>
              <a:t>Comitê de Carteira </a:t>
            </a:r>
            <a:r>
              <a:rPr lang="pt-BR" sz="600" dirty="0" smtClean="0">
                <a:solidFill>
                  <a:schemeClr val="accent6"/>
                </a:solidFill>
                <a:cs typeface="Arial" pitchFamily="34" charset="0"/>
              </a:rPr>
              <a:t>VPTD</a:t>
            </a:r>
            <a:endParaRPr lang="pt-BR" sz="600" dirty="0">
              <a:solidFill>
                <a:schemeClr val="accent6"/>
              </a:solidFill>
              <a:cs typeface="Arial" pitchFamily="34" charset="0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341" y="2024852"/>
            <a:ext cx="182406" cy="278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CaixaDeTexto 19"/>
          <p:cNvSpPr txBox="1"/>
          <p:nvPr>
            <p:custDataLst>
              <p:tags r:id="rId6"/>
            </p:custDataLst>
          </p:nvPr>
        </p:nvSpPr>
        <p:spPr>
          <a:xfrm rot="18882843">
            <a:off x="5070946" y="1752397"/>
            <a:ext cx="720080" cy="2769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pt-BR" sz="600" dirty="0" err="1" smtClean="0">
                <a:solidFill>
                  <a:schemeClr val="accent6"/>
                </a:solidFill>
                <a:cs typeface="Arial" pitchFamily="34" charset="0"/>
              </a:rPr>
              <a:t>Forum</a:t>
            </a:r>
            <a:r>
              <a:rPr lang="pt-BR" sz="600" dirty="0" smtClean="0">
                <a:solidFill>
                  <a:schemeClr val="accent6"/>
                </a:solidFill>
                <a:cs typeface="Arial" pitchFamily="34" charset="0"/>
              </a:rPr>
              <a:t> Releases</a:t>
            </a:r>
            <a:endParaRPr lang="pt-BR" sz="600" dirty="0">
              <a:solidFill>
                <a:schemeClr val="accent6"/>
              </a:solidFill>
              <a:cs typeface="Arial" pitchFamily="34" charset="0"/>
            </a:endParaRPr>
          </a:p>
        </p:txBody>
      </p:sp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0997" y="2024851"/>
            <a:ext cx="182406" cy="278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CaixaDeTexto 21"/>
          <p:cNvSpPr txBox="1"/>
          <p:nvPr>
            <p:custDataLst>
              <p:tags r:id="rId7"/>
            </p:custDataLst>
          </p:nvPr>
        </p:nvSpPr>
        <p:spPr>
          <a:xfrm rot="18882843">
            <a:off x="6196071" y="1888573"/>
            <a:ext cx="720080" cy="18466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pt-BR" sz="600" dirty="0" smtClean="0">
                <a:solidFill>
                  <a:schemeClr val="accent6"/>
                </a:solidFill>
                <a:cs typeface="Arial" pitchFamily="34" charset="0"/>
              </a:rPr>
              <a:t>CAD TD</a:t>
            </a:r>
            <a:endParaRPr lang="pt-BR" sz="600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1633886" y="2751770"/>
            <a:ext cx="2083019" cy="900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" dirty="0" smtClean="0">
                <a:latin typeface="Arial Narrow" pitchFamily="34" charset="0"/>
              </a:rPr>
              <a:t>GTD.6.001 – Gestão de Demandas</a:t>
            </a:r>
            <a:endParaRPr lang="pt-BR" sz="600" dirty="0">
              <a:latin typeface="Arial Narrow" pitchFamily="34" charset="0"/>
            </a:endParaRPr>
          </a:p>
        </p:txBody>
      </p:sp>
      <p:sp>
        <p:nvSpPr>
          <p:cNvPr id="25" name="Retângulo 24"/>
          <p:cNvSpPr/>
          <p:nvPr/>
        </p:nvSpPr>
        <p:spPr>
          <a:xfrm>
            <a:off x="926595" y="1086585"/>
            <a:ext cx="2205245" cy="900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 dirty="0" smtClean="0">
                <a:latin typeface="Arial Narrow" pitchFamily="34" charset="0"/>
              </a:rPr>
              <a:t>GTD.1.001 – Consultoria de Tecnologia</a:t>
            </a:r>
            <a:endParaRPr lang="pt-BR" sz="700" dirty="0">
              <a:latin typeface="Arial Narrow" pitchFamily="34" charset="0"/>
            </a:endParaRPr>
          </a:p>
        </p:txBody>
      </p:sp>
      <p:sp>
        <p:nvSpPr>
          <p:cNvPr id="26" name="Retângulo 25"/>
          <p:cNvSpPr/>
          <p:nvPr/>
        </p:nvSpPr>
        <p:spPr>
          <a:xfrm>
            <a:off x="3862155" y="2747808"/>
            <a:ext cx="1609946" cy="9397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" dirty="0" smtClean="0">
                <a:latin typeface="Arial Narrow" pitchFamily="34" charset="0"/>
              </a:rPr>
              <a:t>GTD.6.002 – Gestão de Entregas</a:t>
            </a:r>
            <a:endParaRPr lang="pt-BR" sz="600" dirty="0">
              <a:latin typeface="Arial Narrow" pitchFamily="34" charset="0"/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5676942" y="2748622"/>
            <a:ext cx="2494746" cy="9315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" dirty="0" smtClean="0">
                <a:latin typeface="Arial Narrow" pitchFamily="34" charset="0"/>
              </a:rPr>
              <a:t>GTD.6.003 – Gestão de Portfólio</a:t>
            </a:r>
            <a:endParaRPr lang="pt-BR" sz="600" dirty="0">
              <a:latin typeface="Arial Narrow" pitchFamily="34" charset="0"/>
            </a:endParaRPr>
          </a:p>
        </p:txBody>
      </p:sp>
      <p:pic>
        <p:nvPicPr>
          <p:cNvPr id="41991" name="Picture 7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095" y="2568456"/>
            <a:ext cx="188603" cy="138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992" name="Picture 8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230" y="3696875"/>
            <a:ext cx="168332" cy="131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993" name="Picture 9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469" y="2568457"/>
            <a:ext cx="164906" cy="138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6358412" y="2841779"/>
            <a:ext cx="45719" cy="5850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/>
          <p:cNvSpPr/>
          <p:nvPr/>
        </p:nvSpPr>
        <p:spPr>
          <a:xfrm>
            <a:off x="8171688" y="2751770"/>
            <a:ext cx="45719" cy="6578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9" name="Conector de seta reta 28"/>
          <p:cNvCxnSpPr>
            <a:stCxn id="10" idx="2"/>
          </p:cNvCxnSpPr>
          <p:nvPr/>
        </p:nvCxnSpPr>
        <p:spPr>
          <a:xfrm flipH="1" flipV="1">
            <a:off x="6372200" y="2972152"/>
            <a:ext cx="9072" cy="454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tângulo 42"/>
          <p:cNvSpPr/>
          <p:nvPr/>
        </p:nvSpPr>
        <p:spPr>
          <a:xfrm>
            <a:off x="5093092" y="3966906"/>
            <a:ext cx="1504133" cy="9397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" dirty="0" smtClean="0">
                <a:latin typeface="Arial Narrow" pitchFamily="34" charset="0"/>
              </a:rPr>
              <a:t>GTD.3 – Desenho da Solução e Planejamento</a:t>
            </a:r>
            <a:endParaRPr lang="pt-BR" sz="600" dirty="0">
              <a:latin typeface="Arial Narrow" pitchFamily="34" charset="0"/>
            </a:endParaRPr>
          </a:p>
        </p:txBody>
      </p:sp>
      <p:sp>
        <p:nvSpPr>
          <p:cNvPr id="44" name="Retângulo 43"/>
          <p:cNvSpPr/>
          <p:nvPr/>
        </p:nvSpPr>
        <p:spPr>
          <a:xfrm>
            <a:off x="6642230" y="3966904"/>
            <a:ext cx="1144093" cy="9397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" dirty="0" smtClean="0">
                <a:latin typeface="Arial Narrow" pitchFamily="34" charset="0"/>
              </a:rPr>
              <a:t>GTD.3 – </a:t>
            </a:r>
            <a:r>
              <a:rPr lang="pt-BR" sz="600" dirty="0" err="1" smtClean="0">
                <a:latin typeface="Arial Narrow" pitchFamily="34" charset="0"/>
              </a:rPr>
              <a:t>Desenv</a:t>
            </a:r>
            <a:r>
              <a:rPr lang="pt-BR" sz="600" dirty="0" smtClean="0">
                <a:latin typeface="Arial Narrow" pitchFamily="34" charset="0"/>
              </a:rPr>
              <a:t>. e Execução</a:t>
            </a:r>
            <a:endParaRPr lang="pt-BR" sz="6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703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5" y="1061334"/>
            <a:ext cx="9089567" cy="4030696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881591" y="1176597"/>
            <a:ext cx="495055" cy="4950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82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120719" y="1581641"/>
            <a:ext cx="1503489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ctr"/>
            <a:r>
              <a:rPr lang="pt-BR" sz="1600" dirty="0">
                <a:latin typeface="Gill Sans Std Light" pitchFamily="34" charset="0"/>
              </a:rPr>
              <a:t>Receber ou </a:t>
            </a:r>
          </a:p>
          <a:p>
            <a:pPr algn="ctr"/>
            <a:r>
              <a:rPr lang="pt-BR" sz="1600" dirty="0">
                <a:latin typeface="Gill Sans Std Light" pitchFamily="34" charset="0"/>
              </a:rPr>
              <a:t>escrever briefing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566635" y="804000"/>
            <a:ext cx="720000" cy="720000"/>
            <a:chOff x="566635" y="804000"/>
            <a:chExt cx="720000" cy="720000"/>
          </a:xfrm>
        </p:grpSpPr>
        <p:sp>
          <p:nvSpPr>
            <p:cNvPr id="17" name="Elipse 16"/>
            <p:cNvSpPr/>
            <p:nvPr/>
          </p:nvSpPr>
          <p:spPr bwMode="auto">
            <a:xfrm>
              <a:off x="566635" y="804000"/>
              <a:ext cx="720000" cy="720000"/>
            </a:xfrm>
            <a:prstGeom prst="ellipse">
              <a:avLst/>
            </a:prstGeom>
            <a:solidFill>
              <a:schemeClr val="bg1"/>
            </a:solidFill>
            <a:ln w="762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8" name="Picture 14" descr="E:\Users\br93163\Downloads\Icones\people-6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1000"/>
                      </a14:imgEffect>
                      <a14:imgEffect>
                        <a14:colorTemperature colorTemp="5250"/>
                      </a14:imgEffect>
                      <a14:imgEffect>
                        <a14:saturation sat="0"/>
                      </a14:imgEffect>
                      <a14:imgEffect>
                        <a14:brightnessContrast bright="-2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584" y="920820"/>
              <a:ext cx="445832" cy="4458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630278"/>
              </p:ext>
            </p:extLst>
          </p:nvPr>
        </p:nvGraphicFramePr>
        <p:xfrm>
          <a:off x="1736686" y="636536"/>
          <a:ext cx="7155794" cy="4410489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125124"/>
                <a:gridCol w="6030670"/>
              </a:tblGrid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O que é</a:t>
                      </a:r>
                      <a:endParaRPr lang="pt-BR" sz="1800" dirty="0"/>
                    </a:p>
                  </a:txBody>
                  <a:tcPr>
                    <a:solidFill>
                      <a:srgbClr val="004F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É</a:t>
                      </a:r>
                      <a:r>
                        <a:rPr lang="pt-BR" sz="1800" baseline="0" dirty="0" smtClean="0"/>
                        <a:t> o processo que abrange o entendimento da situação atual, a captura e registro da necessidade de negócio</a:t>
                      </a:r>
                      <a:endParaRPr lang="pt-BR" sz="1800" dirty="0"/>
                    </a:p>
                  </a:txBody>
                  <a:tcPr/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Quem faz</a:t>
                      </a:r>
                      <a:endParaRPr lang="pt-BR" sz="1800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GRP</a:t>
                      </a:r>
                      <a:endParaRPr lang="pt-BR" sz="1800" dirty="0"/>
                    </a:p>
                  </a:txBody>
                  <a:tcPr/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Como faz</a:t>
                      </a:r>
                      <a:endParaRPr lang="pt-BR" sz="18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Registro da ideia através da ferramenta Clarity</a:t>
                      </a:r>
                      <a:endParaRPr lang="pt-BR" sz="1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476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9" name="Retângulo de cantos arredondados 8"/>
          <p:cNvSpPr/>
          <p:nvPr>
            <p:custDataLst>
              <p:tags r:id="rId1"/>
            </p:custDataLst>
          </p:nvPr>
        </p:nvSpPr>
        <p:spPr>
          <a:xfrm>
            <a:off x="239541" y="722780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10" name="Retângulo de cantos arredondados 9"/>
          <p:cNvSpPr/>
          <p:nvPr>
            <p:custDataLst>
              <p:tags r:id="rId2"/>
            </p:custDataLst>
          </p:nvPr>
        </p:nvSpPr>
        <p:spPr>
          <a:xfrm>
            <a:off x="239540" y="722780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cs typeface="Arial" pitchFamily="34" charset="0"/>
              </a:rPr>
              <a:t>GRP</a:t>
            </a:r>
          </a:p>
        </p:txBody>
      </p:sp>
      <p:sp>
        <p:nvSpPr>
          <p:cNvPr id="21" name="Retângulo 20"/>
          <p:cNvSpPr/>
          <p:nvPr>
            <p:custDataLst>
              <p:tags r:id="rId3"/>
            </p:custDataLst>
          </p:nvPr>
        </p:nvSpPr>
        <p:spPr>
          <a:xfrm>
            <a:off x="853166" y="921334"/>
            <a:ext cx="1243560" cy="6005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Identificar a situação atual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7513142" y="63194"/>
            <a:ext cx="1503489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Receber ou </a:t>
            </a:r>
          </a:p>
          <a:p>
            <a:r>
              <a:rPr lang="pt-BR" sz="1600" dirty="0">
                <a:latin typeface="Gill Sans Std Light" pitchFamily="34" charset="0"/>
              </a:rPr>
              <a:t>escrever briefing</a:t>
            </a:r>
          </a:p>
        </p:txBody>
      </p:sp>
      <p:grpSp>
        <p:nvGrpSpPr>
          <p:cNvPr id="61" name="Grupo 60"/>
          <p:cNvGrpSpPr/>
          <p:nvPr/>
        </p:nvGrpSpPr>
        <p:grpSpPr>
          <a:xfrm>
            <a:off x="7065955" y="106970"/>
            <a:ext cx="461462" cy="461095"/>
            <a:chOff x="566635" y="804000"/>
            <a:chExt cx="720000" cy="720000"/>
          </a:xfrm>
        </p:grpSpPr>
        <p:sp>
          <p:nvSpPr>
            <p:cNvPr id="62" name="Elipse 61"/>
            <p:cNvSpPr/>
            <p:nvPr/>
          </p:nvSpPr>
          <p:spPr bwMode="auto">
            <a:xfrm>
              <a:off x="566635" y="804000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66" name="Picture 14" descr="E:\Users\br93163\Downloads\Icones\people-6x.png"/>
            <p:cNvPicPr>
              <a:picLocks noChangeAspect="1" noChangeArrowheads="1"/>
            </p:cNvPicPr>
            <p:nvPr/>
          </p:nvPicPr>
          <p:blipFill>
            <a:blip r:embed="rId1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sharpenSoften amount="-1000"/>
                      </a14:imgEffect>
                      <a14:imgEffect>
                        <a14:colorTemperature colorTemp="5250"/>
                      </a14:imgEffect>
                      <a14:imgEffect>
                        <a14:saturation sat="0"/>
                      </a14:imgEffect>
                      <a14:imgEffect>
                        <a14:brightnessContrast bright="-2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584" y="920820"/>
              <a:ext cx="445832" cy="4458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7" name="Retângulo 66"/>
          <p:cNvSpPr/>
          <p:nvPr>
            <p:custDataLst>
              <p:tags r:id="rId4"/>
            </p:custDataLst>
          </p:nvPr>
        </p:nvSpPr>
        <p:spPr>
          <a:xfrm>
            <a:off x="2411760" y="921334"/>
            <a:ext cx="1243560" cy="6005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Descrever o objetivo da demanda</a:t>
            </a:r>
          </a:p>
        </p:txBody>
      </p:sp>
      <p:sp>
        <p:nvSpPr>
          <p:cNvPr id="69" name="Retângulo 68"/>
          <p:cNvSpPr/>
          <p:nvPr>
            <p:custDataLst>
              <p:tags r:id="rId5"/>
            </p:custDataLst>
          </p:nvPr>
        </p:nvSpPr>
        <p:spPr>
          <a:xfrm>
            <a:off x="3894994" y="921334"/>
            <a:ext cx="1243560" cy="6005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Identificar Benefícios e Importância da Demanda</a:t>
            </a:r>
          </a:p>
        </p:txBody>
      </p:sp>
      <p:sp>
        <p:nvSpPr>
          <p:cNvPr id="71" name="Retângulo 70"/>
          <p:cNvSpPr/>
          <p:nvPr>
            <p:custDataLst>
              <p:tags r:id="rId6"/>
            </p:custDataLst>
          </p:nvPr>
        </p:nvSpPr>
        <p:spPr>
          <a:xfrm>
            <a:off x="5378228" y="921334"/>
            <a:ext cx="1243560" cy="6005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Classificar como Projeto ou Evolução</a:t>
            </a:r>
          </a:p>
        </p:txBody>
      </p:sp>
      <p:cxnSp>
        <p:nvCxnSpPr>
          <p:cNvPr id="72" name="Conector de seta reta 71"/>
          <p:cNvCxnSpPr>
            <a:stCxn id="69" idx="3"/>
            <a:endCxn id="71" idx="1"/>
          </p:cNvCxnSpPr>
          <p:nvPr>
            <p:custDataLst>
              <p:tags r:id="rId7"/>
            </p:custDataLst>
          </p:nvPr>
        </p:nvCxnSpPr>
        <p:spPr>
          <a:xfrm>
            <a:off x="5138556" y="1221600"/>
            <a:ext cx="23967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tângulo 72"/>
          <p:cNvSpPr/>
          <p:nvPr>
            <p:custDataLst>
              <p:tags r:id="rId8"/>
            </p:custDataLst>
          </p:nvPr>
        </p:nvSpPr>
        <p:spPr>
          <a:xfrm>
            <a:off x="6861462" y="925664"/>
            <a:ext cx="1243560" cy="6005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Levantar datas e valores desejados pelo negócio</a:t>
            </a:r>
          </a:p>
        </p:txBody>
      </p:sp>
      <p:cxnSp>
        <p:nvCxnSpPr>
          <p:cNvPr id="74" name="Conector de seta reta 73"/>
          <p:cNvCxnSpPr>
            <a:stCxn id="71" idx="3"/>
            <a:endCxn id="73" idx="1"/>
          </p:cNvCxnSpPr>
          <p:nvPr>
            <p:custDataLst>
              <p:tags r:id="rId9"/>
            </p:custDataLst>
          </p:nvPr>
        </p:nvCxnSpPr>
        <p:spPr>
          <a:xfrm>
            <a:off x="6621789" y="1221600"/>
            <a:ext cx="239674" cy="43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Elipse 74"/>
          <p:cNvSpPr/>
          <p:nvPr>
            <p:custDataLst>
              <p:tags r:id="rId10"/>
            </p:custDataLst>
          </p:nvPr>
        </p:nvSpPr>
        <p:spPr>
          <a:xfrm>
            <a:off x="8442430" y="1113600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2</a:t>
            </a:r>
          </a:p>
        </p:txBody>
      </p:sp>
      <p:cxnSp>
        <p:nvCxnSpPr>
          <p:cNvPr id="76" name="Conector de seta reta 75"/>
          <p:cNvCxnSpPr>
            <a:stCxn id="73" idx="3"/>
            <a:endCxn id="75" idx="2"/>
          </p:cNvCxnSpPr>
          <p:nvPr>
            <p:custDataLst>
              <p:tags r:id="rId11"/>
            </p:custDataLst>
          </p:nvPr>
        </p:nvCxnSpPr>
        <p:spPr>
          <a:xfrm flipV="1">
            <a:off x="8105022" y="1221600"/>
            <a:ext cx="337408" cy="43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/>
          <p:cNvCxnSpPr>
            <a:endCxn id="67" idx="1"/>
          </p:cNvCxnSpPr>
          <p:nvPr>
            <p:custDataLst>
              <p:tags r:id="rId12"/>
            </p:custDataLst>
          </p:nvPr>
        </p:nvCxnSpPr>
        <p:spPr>
          <a:xfrm flipV="1">
            <a:off x="2096727" y="1221600"/>
            <a:ext cx="315034" cy="804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endCxn id="69" idx="1"/>
          </p:cNvCxnSpPr>
          <p:nvPr>
            <p:custDataLst>
              <p:tags r:id="rId13"/>
            </p:custDataLst>
          </p:nvPr>
        </p:nvCxnSpPr>
        <p:spPr>
          <a:xfrm flipV="1">
            <a:off x="3678994" y="1221600"/>
            <a:ext cx="216000" cy="804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3" b="3456"/>
          <a:stretch/>
        </p:blipFill>
        <p:spPr bwMode="auto">
          <a:xfrm>
            <a:off x="162002" y="876609"/>
            <a:ext cx="8838853" cy="3855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eta para a direita 1"/>
          <p:cNvSpPr/>
          <p:nvPr/>
        </p:nvSpPr>
        <p:spPr>
          <a:xfrm rot="5400000">
            <a:off x="734573" y="856312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7" name="Seta para a direita 16"/>
          <p:cNvSpPr/>
          <p:nvPr/>
        </p:nvSpPr>
        <p:spPr>
          <a:xfrm rot="10800000">
            <a:off x="2160857" y="1373869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747559" y="833808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2211616" y="1356616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sp>
        <p:nvSpPr>
          <p:cNvPr id="23" name="Seta para a direita 22"/>
          <p:cNvSpPr/>
          <p:nvPr/>
        </p:nvSpPr>
        <p:spPr>
          <a:xfrm rot="10800000">
            <a:off x="716643" y="2724019"/>
            <a:ext cx="270030" cy="225025"/>
          </a:xfrm>
          <a:prstGeom prst="rightArrow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767404" y="2706766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7513142" y="63194"/>
            <a:ext cx="1503489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Receber ou </a:t>
            </a:r>
          </a:p>
          <a:p>
            <a:r>
              <a:rPr lang="pt-BR" sz="1600" dirty="0">
                <a:latin typeface="Gill Sans Std Light" pitchFamily="34" charset="0"/>
              </a:rPr>
              <a:t>escrever briefing</a:t>
            </a:r>
          </a:p>
        </p:txBody>
      </p:sp>
      <p:grpSp>
        <p:nvGrpSpPr>
          <p:cNvPr id="11" name="Grupo 10"/>
          <p:cNvGrpSpPr/>
          <p:nvPr/>
        </p:nvGrpSpPr>
        <p:grpSpPr>
          <a:xfrm>
            <a:off x="7065955" y="106970"/>
            <a:ext cx="461462" cy="461095"/>
            <a:chOff x="566635" y="804000"/>
            <a:chExt cx="720000" cy="720000"/>
          </a:xfrm>
        </p:grpSpPr>
        <p:sp>
          <p:nvSpPr>
            <p:cNvPr id="12" name="Elipse 11"/>
            <p:cNvSpPr/>
            <p:nvPr/>
          </p:nvSpPr>
          <p:spPr bwMode="auto">
            <a:xfrm>
              <a:off x="566635" y="804000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3" name="Picture 14" descr="E:\Users\br93163\Downloads\Icones\people-6x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"/>
                      </a14:imgEffect>
                      <a14:imgEffect>
                        <a14:colorTemperature colorTemp="5250"/>
                      </a14:imgEffect>
                      <a14:imgEffect>
                        <a14:saturation sat="0"/>
                      </a14:imgEffect>
                      <a14:imgEffect>
                        <a14:brightnessContrast bright="-2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584" y="920820"/>
              <a:ext cx="445832" cy="4458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40728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02" y="633678"/>
            <a:ext cx="8865495" cy="4368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tângulo 3"/>
          <p:cNvSpPr/>
          <p:nvPr/>
        </p:nvSpPr>
        <p:spPr>
          <a:xfrm>
            <a:off x="7159543" y="771550"/>
            <a:ext cx="1867952" cy="540060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Incluir as informações da ideia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7513142" y="63194"/>
            <a:ext cx="1503489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Receber ou </a:t>
            </a:r>
          </a:p>
          <a:p>
            <a:r>
              <a:rPr lang="pt-BR" sz="1600" dirty="0">
                <a:latin typeface="Gill Sans Std Light" pitchFamily="34" charset="0"/>
              </a:rPr>
              <a:t>escrever briefing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7065955" y="106970"/>
            <a:ext cx="461462" cy="461095"/>
            <a:chOff x="566635" y="804000"/>
            <a:chExt cx="720000" cy="720000"/>
          </a:xfrm>
        </p:grpSpPr>
        <p:sp>
          <p:nvSpPr>
            <p:cNvPr id="7" name="Elipse 6"/>
            <p:cNvSpPr/>
            <p:nvPr/>
          </p:nvSpPr>
          <p:spPr bwMode="auto">
            <a:xfrm>
              <a:off x="566635" y="804000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8" name="Picture 14" descr="E:\Users\br93163\Downloads\Icones\people-6x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"/>
                      </a14:imgEffect>
                      <a14:imgEffect>
                        <a14:colorTemperature colorTemp="5250"/>
                      </a14:imgEffect>
                      <a14:imgEffect>
                        <a14:saturation sat="0"/>
                      </a14:imgEffect>
                      <a14:imgEffect>
                        <a14:brightnessContrast bright="-2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584" y="920820"/>
              <a:ext cx="445832" cy="4458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7886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02" y="636537"/>
            <a:ext cx="8865495" cy="4413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tângulo 5"/>
          <p:cNvSpPr/>
          <p:nvPr/>
        </p:nvSpPr>
        <p:spPr>
          <a:xfrm>
            <a:off x="2636785" y="4236935"/>
            <a:ext cx="1867952" cy="540060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Informar de onde sairá o orçamento da ideia</a:t>
            </a:r>
          </a:p>
        </p:txBody>
      </p:sp>
      <p:sp>
        <p:nvSpPr>
          <p:cNvPr id="7" name="Seta para a direita 6"/>
          <p:cNvSpPr/>
          <p:nvPr/>
        </p:nvSpPr>
        <p:spPr>
          <a:xfrm rot="10800000">
            <a:off x="2264374" y="4349982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8" name="Seta para a direita 7"/>
          <p:cNvSpPr/>
          <p:nvPr/>
        </p:nvSpPr>
        <p:spPr>
          <a:xfrm rot="5400000">
            <a:off x="1183641" y="4597510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196626" y="4575006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2311750" y="4334434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7513142" y="63194"/>
            <a:ext cx="1503489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Receber ou </a:t>
            </a:r>
          </a:p>
          <a:p>
            <a:r>
              <a:rPr lang="pt-BR" sz="1600" dirty="0">
                <a:latin typeface="Gill Sans Std Light" pitchFamily="34" charset="0"/>
              </a:rPr>
              <a:t>escrever briefing</a:t>
            </a:r>
          </a:p>
        </p:txBody>
      </p:sp>
      <p:grpSp>
        <p:nvGrpSpPr>
          <p:cNvPr id="12" name="Grupo 11"/>
          <p:cNvGrpSpPr/>
          <p:nvPr/>
        </p:nvGrpSpPr>
        <p:grpSpPr>
          <a:xfrm>
            <a:off x="7065955" y="106970"/>
            <a:ext cx="461462" cy="461095"/>
            <a:chOff x="566635" y="804000"/>
            <a:chExt cx="720000" cy="720000"/>
          </a:xfrm>
        </p:grpSpPr>
        <p:sp>
          <p:nvSpPr>
            <p:cNvPr id="13" name="Elipse 12"/>
            <p:cNvSpPr/>
            <p:nvPr/>
          </p:nvSpPr>
          <p:spPr bwMode="auto">
            <a:xfrm>
              <a:off x="566635" y="804000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4" name="Picture 14" descr="E:\Users\br93163\Downloads\Icones\people-6x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"/>
                      </a14:imgEffect>
                      <a14:imgEffect>
                        <a14:colorTemperature colorTemp="5250"/>
                      </a14:imgEffect>
                      <a14:imgEffect>
                        <a14:saturation sat="0"/>
                      </a14:imgEffect>
                      <a14:imgEffect>
                        <a14:brightnessContrast bright="-2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584" y="920820"/>
              <a:ext cx="445832" cy="4458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60809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de seta reta 65"/>
          <p:cNvCxnSpPr/>
          <p:nvPr/>
        </p:nvCxnSpPr>
        <p:spPr>
          <a:xfrm>
            <a:off x="791580" y="2664673"/>
            <a:ext cx="8352420" cy="0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003956"/>
              </p:ext>
            </p:extLst>
          </p:nvPr>
        </p:nvGraphicFramePr>
        <p:xfrm>
          <a:off x="926601" y="1089500"/>
          <a:ext cx="522058" cy="2830721"/>
        </p:xfrm>
        <a:graphic>
          <a:graphicData uri="http://schemas.openxmlformats.org/drawingml/2006/table">
            <a:tbl>
              <a:tblPr/>
              <a:tblGrid>
                <a:gridCol w="522058"/>
              </a:tblGrid>
              <a:tr h="1572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Briefing </a:t>
                      </a: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58459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66" name="Group 85"/>
          <p:cNvGrpSpPr/>
          <p:nvPr/>
        </p:nvGrpSpPr>
        <p:grpSpPr>
          <a:xfrm>
            <a:off x="1241632" y="456517"/>
            <a:ext cx="405025" cy="587978"/>
            <a:chOff x="2527833" y="678627"/>
            <a:chExt cx="405025" cy="587978"/>
          </a:xfrm>
        </p:grpSpPr>
        <p:sp>
          <p:nvSpPr>
            <p:cNvPr id="70" name="CaixaDeTexto 53"/>
            <p:cNvSpPr txBox="1"/>
            <p:nvPr/>
          </p:nvSpPr>
          <p:spPr>
            <a:xfrm>
              <a:off x="2527833" y="678627"/>
              <a:ext cx="4050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Prior</a:t>
              </a:r>
            </a:p>
            <a:p>
              <a:r>
                <a:rPr lang="pt-BR" sz="800" dirty="0"/>
                <a:t>Dem.</a:t>
              </a:r>
            </a:p>
          </p:txBody>
        </p:sp>
        <p:pic>
          <p:nvPicPr>
            <p:cNvPr id="71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4539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95" name="Grupo 31"/>
          <p:cNvGrpSpPr/>
          <p:nvPr/>
        </p:nvGrpSpPr>
        <p:grpSpPr>
          <a:xfrm>
            <a:off x="73948" y="3166399"/>
            <a:ext cx="9070052" cy="710498"/>
            <a:chOff x="71500" y="2796775"/>
            <a:chExt cx="7811574" cy="710498"/>
          </a:xfrm>
        </p:grpSpPr>
        <p:sp>
          <p:nvSpPr>
            <p:cNvPr id="96" name="CaixaDeTexto 2"/>
            <p:cNvSpPr txBox="1"/>
            <p:nvPr/>
          </p:nvSpPr>
          <p:spPr>
            <a:xfrm>
              <a:off x="71500" y="2873488"/>
              <a:ext cx="6960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rgbClr val="0070C0"/>
                  </a:solidFill>
                </a:rPr>
                <a:t>Atuação</a:t>
              </a:r>
            </a:p>
          </p:txBody>
        </p:sp>
        <p:cxnSp>
          <p:nvCxnSpPr>
            <p:cNvPr id="97" name="Conector reto 25"/>
            <p:cNvCxnSpPr/>
            <p:nvPr/>
          </p:nvCxnSpPr>
          <p:spPr>
            <a:xfrm>
              <a:off x="135801" y="2796775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to 113"/>
            <p:cNvCxnSpPr/>
            <p:nvPr/>
          </p:nvCxnSpPr>
          <p:spPr>
            <a:xfrm>
              <a:off x="161510" y="3507273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CaixaDeTexto 98"/>
          <p:cNvSpPr txBox="1"/>
          <p:nvPr/>
        </p:nvSpPr>
        <p:spPr>
          <a:xfrm>
            <a:off x="959664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</p:spTree>
    <p:extLst>
      <p:ext uri="{BB962C8B-B14F-4D97-AF65-F5344CB8AC3E}">
        <p14:creationId xmlns:p14="http://schemas.microsoft.com/office/powerpoint/2010/main" val="285811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5" y="1061334"/>
            <a:ext cx="9089567" cy="4030696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421652" y="1176597"/>
            <a:ext cx="495055" cy="4950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45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808985"/>
              </p:ext>
            </p:extLst>
          </p:nvPr>
        </p:nvGraphicFramePr>
        <p:xfrm>
          <a:off x="1736686" y="636536"/>
          <a:ext cx="7155794" cy="4410489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125124"/>
                <a:gridCol w="6030670"/>
              </a:tblGrid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O que é</a:t>
                      </a:r>
                      <a:endParaRPr lang="pt-BR" sz="1800" dirty="0"/>
                    </a:p>
                  </a:txBody>
                  <a:tcPr>
                    <a:solidFill>
                      <a:srgbClr val="004F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É</a:t>
                      </a:r>
                      <a:r>
                        <a:rPr lang="pt-BR" sz="1800" baseline="0" dirty="0" smtClean="0"/>
                        <a:t> o processo que abrange a qualificação do briefing através da aplicação dos algoritmos de complexidade e prioridade, bem como a seleção das demandas que devem ser levadas para priorização</a:t>
                      </a:r>
                      <a:endParaRPr lang="pt-BR" sz="1800" dirty="0"/>
                    </a:p>
                  </a:txBody>
                  <a:tcPr/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Quem faz</a:t>
                      </a:r>
                      <a:endParaRPr lang="pt-BR" sz="1800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GRP</a:t>
                      </a:r>
                      <a:endParaRPr lang="pt-BR" sz="1800" dirty="0"/>
                    </a:p>
                  </a:txBody>
                  <a:tcPr/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Como faz</a:t>
                      </a:r>
                      <a:endParaRPr lang="pt-BR" sz="18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Preenchimento da Priorização</a:t>
                      </a:r>
                      <a:r>
                        <a:rPr lang="pt-BR" sz="1800" baseline="0" dirty="0" smtClean="0"/>
                        <a:t> da ideia na ferramenta Clarity e conclusão do item de ação</a:t>
                      </a:r>
                      <a:endParaRPr lang="pt-BR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CaixaDeTexto 7"/>
          <p:cNvSpPr txBox="1"/>
          <p:nvPr/>
        </p:nvSpPr>
        <p:spPr>
          <a:xfrm>
            <a:off x="102583" y="1581932"/>
            <a:ext cx="1526508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ctr"/>
            <a:r>
              <a:rPr lang="pt-BR" sz="1600" dirty="0">
                <a:latin typeface="Gill Sans Std Light" pitchFamily="34" charset="0"/>
              </a:rPr>
              <a:t>Avaliar e </a:t>
            </a:r>
          </a:p>
          <a:p>
            <a:pPr algn="ctr"/>
            <a:r>
              <a:rPr lang="pt-BR" sz="1600" dirty="0">
                <a:latin typeface="Gill Sans Std Light" pitchFamily="34" charset="0"/>
              </a:rPr>
              <a:t>qualificar briefing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566635" y="802800"/>
            <a:ext cx="720000" cy="720000"/>
            <a:chOff x="566635" y="816635"/>
            <a:chExt cx="720000" cy="720000"/>
          </a:xfrm>
        </p:grpSpPr>
        <p:sp>
          <p:nvSpPr>
            <p:cNvPr id="7" name="Elipse 6"/>
            <p:cNvSpPr/>
            <p:nvPr/>
          </p:nvSpPr>
          <p:spPr bwMode="auto">
            <a:xfrm>
              <a:off x="566635" y="816635"/>
              <a:ext cx="720000" cy="720000"/>
            </a:xfrm>
            <a:prstGeom prst="ellipse">
              <a:avLst/>
            </a:prstGeom>
            <a:solidFill>
              <a:schemeClr val="bg1"/>
            </a:solidFill>
            <a:ln w="762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9" name="Picture 9" descr="E:\Users\br93163\Downloads\Icones\questionbook32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3058" y="984255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69054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 de cantos arredondados 59"/>
          <p:cNvSpPr/>
          <p:nvPr>
            <p:custDataLst>
              <p:tags r:id="rId1"/>
            </p:custDataLst>
          </p:nvPr>
        </p:nvSpPr>
        <p:spPr>
          <a:xfrm>
            <a:off x="239538" y="3967025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59" name="Retângulo de cantos arredondados 58"/>
          <p:cNvSpPr/>
          <p:nvPr>
            <p:custDataLst>
              <p:tags r:id="rId2"/>
            </p:custDataLst>
          </p:nvPr>
        </p:nvSpPr>
        <p:spPr>
          <a:xfrm>
            <a:off x="239538" y="2886887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58" name="Retângulo de cantos arredondados 57"/>
          <p:cNvSpPr/>
          <p:nvPr>
            <p:custDataLst>
              <p:tags r:id="rId3"/>
            </p:custDataLst>
          </p:nvPr>
        </p:nvSpPr>
        <p:spPr>
          <a:xfrm>
            <a:off x="239538" y="1811978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9" name="Retângulo de cantos arredondados 8"/>
          <p:cNvSpPr/>
          <p:nvPr>
            <p:custDataLst>
              <p:tags r:id="rId4"/>
            </p:custDataLst>
          </p:nvPr>
        </p:nvSpPr>
        <p:spPr>
          <a:xfrm>
            <a:off x="239541" y="722780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10" name="Retângulo de cantos arredondados 9"/>
          <p:cNvSpPr/>
          <p:nvPr>
            <p:custDataLst>
              <p:tags r:id="rId5"/>
            </p:custDataLst>
          </p:nvPr>
        </p:nvSpPr>
        <p:spPr>
          <a:xfrm>
            <a:off x="239540" y="722780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cs typeface="Arial" pitchFamily="34" charset="0"/>
              </a:rPr>
              <a:t>GRP</a:t>
            </a:r>
          </a:p>
        </p:txBody>
      </p:sp>
      <p:sp>
        <p:nvSpPr>
          <p:cNvPr id="16" name="Retângulo de cantos arredondados 15"/>
          <p:cNvSpPr/>
          <p:nvPr>
            <p:custDataLst>
              <p:tags r:id="rId6"/>
            </p:custDataLst>
          </p:nvPr>
        </p:nvSpPr>
        <p:spPr>
          <a:xfrm>
            <a:off x="239540" y="1814564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FF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cs typeface="Arial" pitchFamily="34" charset="0"/>
              </a:rPr>
              <a:t>DA</a:t>
            </a:r>
          </a:p>
        </p:txBody>
      </p:sp>
      <p:sp>
        <p:nvSpPr>
          <p:cNvPr id="18" name="Retângulo de cantos arredondados 17"/>
          <p:cNvSpPr/>
          <p:nvPr>
            <p:custDataLst>
              <p:tags r:id="rId7"/>
            </p:custDataLst>
          </p:nvPr>
        </p:nvSpPr>
        <p:spPr>
          <a:xfrm>
            <a:off x="239540" y="2892059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00B05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cs typeface="Arial" pitchFamily="34" charset="0"/>
              </a:rPr>
              <a:t>Arquitetura Corporativa</a:t>
            </a:r>
          </a:p>
        </p:txBody>
      </p:sp>
      <p:sp>
        <p:nvSpPr>
          <p:cNvPr id="20" name="Retângulo de cantos arredondados 19"/>
          <p:cNvSpPr/>
          <p:nvPr>
            <p:custDataLst>
              <p:tags r:id="rId8"/>
            </p:custDataLst>
          </p:nvPr>
        </p:nvSpPr>
        <p:spPr>
          <a:xfrm>
            <a:off x="239540" y="3952820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FEEACB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cs typeface="Arial" pitchFamily="34" charset="0"/>
              </a:rPr>
              <a:t>Arquitetura de Infra</a:t>
            </a:r>
          </a:p>
        </p:txBody>
      </p:sp>
      <p:sp>
        <p:nvSpPr>
          <p:cNvPr id="21" name="Retângulo 20"/>
          <p:cNvSpPr/>
          <p:nvPr>
            <p:custDataLst>
              <p:tags r:id="rId9"/>
            </p:custDataLst>
          </p:nvPr>
        </p:nvSpPr>
        <p:spPr>
          <a:xfrm>
            <a:off x="2926834" y="921334"/>
            <a:ext cx="1243560" cy="6005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Aplicar algoritmo de priorização e complexidade de demandas</a:t>
            </a:r>
          </a:p>
        </p:txBody>
      </p:sp>
      <p:sp>
        <p:nvSpPr>
          <p:cNvPr id="67" name="Retângulo 66"/>
          <p:cNvSpPr/>
          <p:nvPr>
            <p:custDataLst>
              <p:tags r:id="rId10"/>
            </p:custDataLst>
          </p:nvPr>
        </p:nvSpPr>
        <p:spPr>
          <a:xfrm>
            <a:off x="6057165" y="921334"/>
            <a:ext cx="1243560" cy="6005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Enviar demanda para Priorização</a:t>
            </a:r>
          </a:p>
        </p:txBody>
      </p:sp>
      <p:sp>
        <p:nvSpPr>
          <p:cNvPr id="28" name="Elipse 27"/>
          <p:cNvSpPr/>
          <p:nvPr>
            <p:custDataLst>
              <p:tags r:id="rId11"/>
            </p:custDataLst>
          </p:nvPr>
        </p:nvSpPr>
        <p:spPr>
          <a:xfrm>
            <a:off x="7587335" y="1120115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3</a:t>
            </a:r>
          </a:p>
        </p:txBody>
      </p:sp>
      <p:sp>
        <p:nvSpPr>
          <p:cNvPr id="37" name="Retângulo 36"/>
          <p:cNvSpPr/>
          <p:nvPr>
            <p:custDataLst>
              <p:tags r:id="rId12"/>
            </p:custDataLst>
          </p:nvPr>
        </p:nvSpPr>
        <p:spPr>
          <a:xfrm>
            <a:off x="1196627" y="921334"/>
            <a:ext cx="1450583" cy="6005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Verificar se há soluções, em desenvolvimento ou já existentes, que atendam a necessidade da demanda</a:t>
            </a:r>
          </a:p>
        </p:txBody>
      </p:sp>
      <p:sp>
        <p:nvSpPr>
          <p:cNvPr id="7" name="Seta para a direita 6"/>
          <p:cNvSpPr/>
          <p:nvPr/>
        </p:nvSpPr>
        <p:spPr>
          <a:xfrm rot="5400000">
            <a:off x="-164176" y="3159190"/>
            <a:ext cx="3494763" cy="280913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/>
          </a:p>
        </p:txBody>
      </p:sp>
      <p:sp>
        <p:nvSpPr>
          <p:cNvPr id="52" name="Seta para a direita 51"/>
          <p:cNvSpPr/>
          <p:nvPr/>
        </p:nvSpPr>
        <p:spPr>
          <a:xfrm rot="16200000">
            <a:off x="549139" y="3151375"/>
            <a:ext cx="3479135" cy="280913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/>
          </a:p>
        </p:txBody>
      </p:sp>
      <p:cxnSp>
        <p:nvCxnSpPr>
          <p:cNvPr id="38" name="Conector de seta reta 37"/>
          <p:cNvCxnSpPr>
            <a:stCxn id="37" idx="3"/>
            <a:endCxn id="21" idx="1"/>
          </p:cNvCxnSpPr>
          <p:nvPr>
            <p:custDataLst>
              <p:tags r:id="rId13"/>
            </p:custDataLst>
          </p:nvPr>
        </p:nvCxnSpPr>
        <p:spPr>
          <a:xfrm>
            <a:off x="2647210" y="1221600"/>
            <a:ext cx="27962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>
            <p:custDataLst>
              <p:tags r:id="rId14"/>
            </p:custDataLst>
          </p:nvPr>
        </p:nvSpPr>
        <p:spPr>
          <a:xfrm>
            <a:off x="1453864" y="2045978"/>
            <a:ext cx="936104" cy="61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40000"/>
                <a:lumOff val="6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Apoiar verificação de soluções disponíveis</a:t>
            </a:r>
          </a:p>
        </p:txBody>
      </p:sp>
      <p:sp>
        <p:nvSpPr>
          <p:cNvPr id="42" name="Retângulo 41"/>
          <p:cNvSpPr/>
          <p:nvPr>
            <p:custDataLst>
              <p:tags r:id="rId15"/>
            </p:custDataLst>
          </p:nvPr>
        </p:nvSpPr>
        <p:spPr>
          <a:xfrm>
            <a:off x="1448308" y="3129880"/>
            <a:ext cx="936104" cy="61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40000"/>
                <a:lumOff val="6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Apoiar verificação de soluções disponíveis</a:t>
            </a:r>
          </a:p>
        </p:txBody>
      </p:sp>
      <p:sp>
        <p:nvSpPr>
          <p:cNvPr id="43" name="Retângulo 42"/>
          <p:cNvSpPr/>
          <p:nvPr>
            <p:custDataLst>
              <p:tags r:id="rId16"/>
            </p:custDataLst>
          </p:nvPr>
        </p:nvSpPr>
        <p:spPr>
          <a:xfrm>
            <a:off x="1442752" y="4213782"/>
            <a:ext cx="936104" cy="61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40000"/>
                <a:lumOff val="6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Apoiar verificação de soluções disponíveis</a:t>
            </a:r>
          </a:p>
        </p:txBody>
      </p:sp>
      <p:grpSp>
        <p:nvGrpSpPr>
          <p:cNvPr id="47" name="Grupo 46"/>
          <p:cNvGrpSpPr/>
          <p:nvPr/>
        </p:nvGrpSpPr>
        <p:grpSpPr>
          <a:xfrm>
            <a:off x="7065955" y="103085"/>
            <a:ext cx="461462" cy="461095"/>
            <a:chOff x="566635" y="816635"/>
            <a:chExt cx="720000" cy="720000"/>
          </a:xfrm>
        </p:grpSpPr>
        <p:sp>
          <p:nvSpPr>
            <p:cNvPr id="48" name="Elipse 47"/>
            <p:cNvSpPr/>
            <p:nvPr/>
          </p:nvSpPr>
          <p:spPr bwMode="auto">
            <a:xfrm>
              <a:off x="566635" y="81663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49" name="Picture 9" descr="E:\Users\br93163\Downloads\Icones\questionbook32.png"/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3058" y="984255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0" name="CaixaDeTexto 49"/>
          <p:cNvSpPr txBox="1"/>
          <p:nvPr/>
        </p:nvSpPr>
        <p:spPr>
          <a:xfrm>
            <a:off x="7487767" y="96767"/>
            <a:ext cx="1526508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Avaliar e </a:t>
            </a:r>
          </a:p>
          <a:p>
            <a:r>
              <a:rPr lang="pt-BR" sz="1600" dirty="0">
                <a:latin typeface="Gill Sans Std Light" pitchFamily="34" charset="0"/>
              </a:rPr>
              <a:t>qualificar briefing</a:t>
            </a:r>
          </a:p>
        </p:txBody>
      </p:sp>
      <p:sp>
        <p:nvSpPr>
          <p:cNvPr id="53" name="Elipse 52"/>
          <p:cNvSpPr/>
          <p:nvPr>
            <p:custDataLst>
              <p:tags r:id="rId17"/>
            </p:custDataLst>
          </p:nvPr>
        </p:nvSpPr>
        <p:spPr>
          <a:xfrm>
            <a:off x="701570" y="1109163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1</a:t>
            </a:r>
          </a:p>
        </p:txBody>
      </p:sp>
      <p:cxnSp>
        <p:nvCxnSpPr>
          <p:cNvPr id="54" name="Conector de seta reta 53"/>
          <p:cNvCxnSpPr>
            <a:stCxn id="53" idx="6"/>
            <a:endCxn id="37" idx="1"/>
          </p:cNvCxnSpPr>
          <p:nvPr>
            <p:custDataLst>
              <p:tags r:id="rId18"/>
            </p:custDataLst>
          </p:nvPr>
        </p:nvCxnSpPr>
        <p:spPr>
          <a:xfrm>
            <a:off x="917572" y="1217165"/>
            <a:ext cx="279055" cy="443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40" idx="3"/>
            <a:endCxn id="67" idx="1"/>
          </p:cNvCxnSpPr>
          <p:nvPr>
            <p:custDataLst>
              <p:tags r:id="rId19"/>
            </p:custDataLst>
          </p:nvPr>
        </p:nvCxnSpPr>
        <p:spPr>
          <a:xfrm>
            <a:off x="5770555" y="1219014"/>
            <a:ext cx="286610" cy="25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de seta reta 2"/>
          <p:cNvCxnSpPr>
            <a:stCxn id="67" idx="3"/>
            <a:endCxn id="28" idx="2"/>
          </p:cNvCxnSpPr>
          <p:nvPr/>
        </p:nvCxnSpPr>
        <p:spPr>
          <a:xfrm>
            <a:off x="7300726" y="1221602"/>
            <a:ext cx="286610" cy="65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tângulo 39"/>
          <p:cNvSpPr/>
          <p:nvPr>
            <p:custDataLst>
              <p:tags r:id="rId20"/>
            </p:custDataLst>
          </p:nvPr>
        </p:nvSpPr>
        <p:spPr>
          <a:xfrm>
            <a:off x="4526995" y="918748"/>
            <a:ext cx="1243560" cy="6005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Definir demandas a serem priorizadas</a:t>
            </a:r>
          </a:p>
        </p:txBody>
      </p:sp>
      <p:cxnSp>
        <p:nvCxnSpPr>
          <p:cNvPr id="6" name="Conector de seta reta 5"/>
          <p:cNvCxnSpPr>
            <a:stCxn id="21" idx="3"/>
            <a:endCxn id="40" idx="1"/>
          </p:cNvCxnSpPr>
          <p:nvPr/>
        </p:nvCxnSpPr>
        <p:spPr>
          <a:xfrm flipV="1">
            <a:off x="4170395" y="1219014"/>
            <a:ext cx="356601" cy="25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79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47" name="Grupo 46"/>
          <p:cNvGrpSpPr/>
          <p:nvPr/>
        </p:nvGrpSpPr>
        <p:grpSpPr>
          <a:xfrm>
            <a:off x="7065955" y="103085"/>
            <a:ext cx="461462" cy="461095"/>
            <a:chOff x="566635" y="816635"/>
            <a:chExt cx="720000" cy="720000"/>
          </a:xfrm>
        </p:grpSpPr>
        <p:sp>
          <p:nvSpPr>
            <p:cNvPr id="48" name="Elipse 47"/>
            <p:cNvSpPr/>
            <p:nvPr/>
          </p:nvSpPr>
          <p:spPr bwMode="auto">
            <a:xfrm>
              <a:off x="566635" y="81663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49" name="Picture 9" descr="E:\Users\br93163\Downloads\Icones\questionbook32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3058" y="984255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0" name="CaixaDeTexto 49"/>
          <p:cNvSpPr txBox="1"/>
          <p:nvPr/>
        </p:nvSpPr>
        <p:spPr>
          <a:xfrm>
            <a:off x="7487767" y="96767"/>
            <a:ext cx="1526508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Avaliar e </a:t>
            </a:r>
          </a:p>
          <a:p>
            <a:r>
              <a:rPr lang="pt-BR" sz="1600" dirty="0">
                <a:latin typeface="Gill Sans Std Light" pitchFamily="34" charset="0"/>
              </a:rPr>
              <a:t>qualificar briefing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206517" y="717253"/>
            <a:ext cx="7335815" cy="36933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Algoritmo de Priorização</a:t>
            </a:r>
            <a:endParaRPr lang="pt-BR" dirty="0">
              <a:latin typeface="+mj-lt"/>
            </a:endParaRPr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119177"/>
              </p:ext>
            </p:extLst>
          </p:nvPr>
        </p:nvGraphicFramePr>
        <p:xfrm>
          <a:off x="71504" y="1129115"/>
          <a:ext cx="8865983" cy="37977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0125"/>
                <a:gridCol w="711088"/>
                <a:gridCol w="1516989"/>
                <a:gridCol w="2275484"/>
                <a:gridCol w="1185147"/>
                <a:gridCol w="1497150"/>
              </a:tblGrid>
              <a:tr h="2275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 smtClean="0">
                          <a:effectLst/>
                          <a:latin typeface="Gill Sans Std UltraBold" pitchFamily="34" charset="0"/>
                        </a:rPr>
                        <a:t>Driver principal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Gill Sans Std UltraBold" pitchFamily="34" charset="0"/>
                      </a:endParaRP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effectLst/>
                          <a:latin typeface="Gill Sans Std UltraBold" pitchFamily="34" charset="0"/>
                        </a:rPr>
                        <a:t>Peso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Gill Sans Std UltraBold" pitchFamily="34" charset="0"/>
                      </a:endParaRP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Gill Sans Std UltraBold" pitchFamily="34" charset="0"/>
                        </a:rPr>
                        <a:t>Fator</a:t>
                      </a:r>
                      <a:r>
                        <a:rPr lang="pt-BR" sz="11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Gill Sans Std UltraBold" pitchFamily="34" charset="0"/>
                        </a:rPr>
                        <a:t> de ponderação do peso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Gill Sans Std UltraBold" pitchFamily="34" charset="0"/>
                      </a:endParaRP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Gill Sans Std UltraBold" pitchFamily="34" charset="0"/>
                      </a:endParaRP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Gill Sans Std UltraBold" pitchFamily="34" charset="0"/>
                      </a:endParaRP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Gill Sans Std UltraBold" pitchFamily="34" charset="0"/>
                      </a:endParaRP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</a:tr>
              <a:tr h="246726">
                <a:tc vMerge="1">
                  <a:txBody>
                    <a:bodyPr/>
                    <a:lstStyle/>
                    <a:p>
                      <a:pPr algn="ctr" fontAlgn="ctr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Std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Std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Gill Sans Std UltraBold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Gill Sans Std UltraBold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Gill Sans Std UltraBold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Gill Sans Std UltraBold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</a:tr>
              <a:tr h="757629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u="none" strike="noStrike" dirty="0" smtClean="0">
                          <a:effectLst/>
                          <a:latin typeface="Gill Sans Std" pitchFamily="34" charset="0"/>
                        </a:rPr>
                        <a:t>Estratégica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Std" pitchFamily="34" charset="0"/>
                      </a:endParaRPr>
                    </a:p>
                  </a:txBody>
                  <a:tcPr marL="3600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u="none" strike="noStrike" dirty="0">
                          <a:effectLst/>
                          <a:latin typeface="Gill Sans Std" pitchFamily="34" charset="0"/>
                        </a:rPr>
                        <a:t>7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Std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u="none" strike="noStrike" dirty="0" err="1">
                          <a:effectLst/>
                          <a:latin typeface="+mn-lt"/>
                        </a:rPr>
                        <a:t>CADs</a:t>
                      </a:r>
                      <a:r>
                        <a:rPr lang="pt-BR" sz="1200" b="0" u="none" strike="noStrike" dirty="0">
                          <a:effectLst/>
                          <a:latin typeface="+mn-lt"/>
                        </a:rPr>
                        <a:t>, </a:t>
                      </a:r>
                      <a:r>
                        <a:rPr lang="pt-BR" sz="1200" b="0" u="none" strike="noStrike" dirty="0" err="1">
                          <a:effectLst/>
                          <a:latin typeface="+mn-lt"/>
                        </a:rPr>
                        <a:t>GGs</a:t>
                      </a:r>
                      <a:r>
                        <a:rPr lang="pt-BR" sz="1200" b="0" u="none" strike="noStrike" dirty="0">
                          <a:effectLst/>
                          <a:latin typeface="+mn-lt"/>
                        </a:rPr>
                        <a:t> e outros </a:t>
                      </a:r>
                      <a:r>
                        <a:rPr lang="pt-BR" sz="1200" b="0" u="none" strike="noStrike" dirty="0" smtClean="0">
                          <a:effectLst/>
                          <a:latin typeface="+mn-lt"/>
                        </a:rPr>
                        <a:t>Fóruns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u="none" strike="noStrike" dirty="0" smtClean="0">
                          <a:effectLst/>
                          <a:latin typeface="+mn-lt"/>
                        </a:rPr>
                        <a:t>Comitês Diretivos:  Projetos, Inovação, Cliente, Marca, Novos Negócios,</a:t>
                      </a:r>
                      <a:r>
                        <a:rPr lang="pt-BR" sz="1200" b="0" u="none" strike="noStrike" baseline="0" dirty="0" smtClean="0">
                          <a:effectLst/>
                          <a:latin typeface="+mn-lt"/>
                        </a:rPr>
                        <a:t>  Canal, Auditoria, </a:t>
                      </a:r>
                      <a:r>
                        <a:rPr lang="pt-BR" sz="1200" b="0" u="none" strike="noStrike" dirty="0" smtClean="0">
                          <a:effectLst/>
                          <a:latin typeface="+mn-lt"/>
                        </a:rPr>
                        <a:t>Risco </a:t>
                      </a:r>
                      <a:r>
                        <a:rPr lang="pt-BR" sz="1200" b="0" u="none" strike="noStrike" dirty="0">
                          <a:effectLst/>
                          <a:latin typeface="+mn-lt"/>
                        </a:rPr>
                        <a:t>de Imagem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u="none" strike="noStrike" dirty="0">
                          <a:effectLst/>
                          <a:latin typeface="+mn-lt"/>
                        </a:rPr>
                        <a:t>Comex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u="none" strike="noStrike" dirty="0">
                          <a:effectLst/>
                          <a:latin typeface="+mn-lt"/>
                        </a:rPr>
                        <a:t>Conselho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2152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u="none" strike="noStrike" dirty="0" smtClean="0">
                          <a:effectLst/>
                          <a:latin typeface="Gill Sans Std" pitchFamily="34" charset="0"/>
                        </a:rPr>
                        <a:t>Demanda Legal/</a:t>
                      </a:r>
                      <a:br>
                        <a:rPr lang="pt-BR" sz="1200" b="1" u="none" strike="noStrike" dirty="0" smtClean="0">
                          <a:effectLst/>
                          <a:latin typeface="Gill Sans Std" pitchFamily="34" charset="0"/>
                        </a:rPr>
                      </a:br>
                      <a:r>
                        <a:rPr lang="pt-BR" sz="1200" b="1" u="none" strike="noStrike" dirty="0" smtClean="0">
                          <a:effectLst/>
                          <a:latin typeface="Gill Sans Std" pitchFamily="34" charset="0"/>
                        </a:rPr>
                        <a:t>Obrigatória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Std" pitchFamily="34" charset="0"/>
                      </a:endParaRPr>
                    </a:p>
                  </a:txBody>
                  <a:tcPr marL="3600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u="none" strike="noStrike" dirty="0">
                          <a:effectLst/>
                          <a:latin typeface="Gill Sans Std" pitchFamily="34" charset="0"/>
                        </a:rPr>
                        <a:t>7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Std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u="none" strike="noStrike" dirty="0" smtClean="0">
                          <a:effectLst/>
                          <a:latin typeface="+mn-lt"/>
                        </a:rPr>
                        <a:t>risco baixo, sem obrigatoriedade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u="none" strike="noStrike" dirty="0">
                          <a:effectLst/>
                          <a:latin typeface="+mn-lt"/>
                        </a:rPr>
                        <a:t>Até 8 MM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u="none" strike="noStrike" dirty="0">
                          <a:effectLst/>
                          <a:latin typeface="+mn-lt"/>
                        </a:rPr>
                        <a:t>8 MM a 24 MM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u="none" strike="noStrike" dirty="0">
                          <a:effectLst/>
                          <a:latin typeface="+mn-lt"/>
                        </a:rPr>
                        <a:t>&gt; 24 MM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0064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u="none" strike="noStrike" dirty="0" smtClean="0">
                          <a:effectLst/>
                          <a:latin typeface="Gill Sans Std" pitchFamily="34" charset="0"/>
                        </a:rPr>
                        <a:t>Geração de </a:t>
                      </a:r>
                      <a:r>
                        <a:rPr lang="pt-BR" sz="1200" b="1" u="none" strike="noStrike" dirty="0">
                          <a:effectLst/>
                          <a:latin typeface="Gill Sans Std" pitchFamily="34" charset="0"/>
                        </a:rPr>
                        <a:t>Receita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Std" pitchFamily="34" charset="0"/>
                      </a:endParaRPr>
                    </a:p>
                  </a:txBody>
                  <a:tcPr marL="3600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u="none" strike="noStrike" dirty="0">
                          <a:effectLst/>
                          <a:latin typeface="Gill Sans Std" pitchFamily="34" charset="0"/>
                        </a:rPr>
                        <a:t>4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Std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u="none" strike="noStrike" dirty="0" smtClean="0">
                          <a:effectLst/>
                          <a:latin typeface="+mn-lt"/>
                        </a:rPr>
                        <a:t>não</a:t>
                      </a:r>
                      <a:r>
                        <a:rPr lang="pt-BR" sz="1200" b="0" u="none" strike="noStrike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pt-BR" sz="1200" b="0" u="none" strike="noStrike" dirty="0" smtClean="0">
                          <a:effectLst/>
                          <a:latin typeface="+mn-lt"/>
                        </a:rPr>
                        <a:t>avaliada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u="none" strike="noStrike" dirty="0">
                          <a:effectLst/>
                          <a:latin typeface="+mn-lt"/>
                        </a:rPr>
                        <a:t>Até 4 MM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u="none" strike="noStrike" dirty="0">
                          <a:effectLst/>
                          <a:latin typeface="+mn-lt"/>
                        </a:rPr>
                        <a:t>4 MM a 16 MM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u="none" strike="noStrike" dirty="0">
                          <a:effectLst/>
                          <a:latin typeface="+mn-lt"/>
                        </a:rPr>
                        <a:t>&gt; 16 MM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0064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u="none" strike="noStrike" dirty="0" smtClean="0">
                          <a:effectLst/>
                          <a:latin typeface="Gill Sans Std" pitchFamily="34" charset="0"/>
                        </a:rPr>
                        <a:t>Eficiência</a:t>
                      </a:r>
                      <a:r>
                        <a:rPr lang="pt-BR" sz="1200" b="1" u="none" strike="noStrike" baseline="0" dirty="0" smtClean="0">
                          <a:effectLst/>
                          <a:latin typeface="Gill Sans Std" pitchFamily="34" charset="0"/>
                        </a:rPr>
                        <a:t> e </a:t>
                      </a:r>
                      <a:r>
                        <a:rPr lang="pt-BR" sz="1200" b="1" u="none" strike="noStrike" dirty="0" smtClean="0">
                          <a:effectLst/>
                          <a:latin typeface="Gill Sans Std" pitchFamily="34" charset="0"/>
                        </a:rPr>
                        <a:t>Produtividade 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Std" pitchFamily="34" charset="0"/>
                      </a:endParaRPr>
                    </a:p>
                  </a:txBody>
                  <a:tcPr marL="3600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u="none" strike="noStrike" dirty="0">
                          <a:effectLst/>
                          <a:latin typeface="Gill Sans Std" pitchFamily="34" charset="0"/>
                        </a:rPr>
                        <a:t>3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Std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u="none" strike="noStrike" dirty="0" smtClean="0">
                          <a:effectLst/>
                          <a:latin typeface="+mn-lt"/>
                        </a:rPr>
                        <a:t>não</a:t>
                      </a:r>
                      <a:r>
                        <a:rPr lang="pt-BR" sz="1200" b="0" u="none" strike="noStrike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pt-BR" sz="1200" b="0" u="none" strike="noStrike" dirty="0" smtClean="0">
                          <a:effectLst/>
                          <a:latin typeface="+mn-lt"/>
                        </a:rPr>
                        <a:t>avaliada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u="none" strike="noStrike">
                          <a:effectLst/>
                          <a:latin typeface="+mn-lt"/>
                        </a:rPr>
                        <a:t>Até 4 MM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u="none" strike="noStrike" dirty="0">
                          <a:effectLst/>
                          <a:latin typeface="+mn-lt"/>
                        </a:rPr>
                        <a:t>4 MM a 16 MM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u="none" strike="noStrike" dirty="0">
                          <a:effectLst/>
                          <a:latin typeface="+mn-lt"/>
                        </a:rPr>
                        <a:t>&gt; 16 MM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2152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u="none" strike="noStrike" dirty="0" smtClean="0">
                          <a:effectLst/>
                          <a:latin typeface="Gill Sans Std" pitchFamily="34" charset="0"/>
                        </a:rPr>
                        <a:t>Ponto de Auditoria Externa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Std" pitchFamily="34" charset="0"/>
                      </a:endParaRPr>
                    </a:p>
                  </a:txBody>
                  <a:tcPr marL="3600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u="none" strike="noStrike" dirty="0">
                          <a:effectLst/>
                          <a:latin typeface="Gill Sans Std" pitchFamily="34" charset="0"/>
                        </a:rPr>
                        <a:t>1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Std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u="none" strike="noStrike" dirty="0">
                          <a:effectLst/>
                          <a:latin typeface="+mn-lt"/>
                        </a:rPr>
                        <a:t>s</a:t>
                      </a:r>
                      <a:r>
                        <a:rPr lang="pt-BR" sz="1200" b="0" u="none" strike="noStrike" dirty="0" smtClean="0">
                          <a:effectLst/>
                          <a:latin typeface="+mn-lt"/>
                        </a:rPr>
                        <a:t>em </a:t>
                      </a:r>
                      <a:r>
                        <a:rPr lang="pt-BR" sz="1200" b="0" u="none" strike="noStrike" dirty="0">
                          <a:effectLst/>
                          <a:latin typeface="+mn-lt"/>
                        </a:rPr>
                        <a:t>rating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u="none" strike="noStrike" dirty="0">
                          <a:effectLst/>
                          <a:latin typeface="+mn-lt"/>
                        </a:rPr>
                        <a:t>rating 2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u="none" strike="noStrike" dirty="0">
                          <a:effectLst/>
                          <a:latin typeface="+mn-lt"/>
                        </a:rPr>
                        <a:t>rating 3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u="none" strike="noStrike" dirty="0">
                          <a:effectLst/>
                          <a:latin typeface="+mn-lt"/>
                        </a:rPr>
                        <a:t>rating 4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2152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Evolução</a:t>
                      </a:r>
                      <a:r>
                        <a:rPr lang="pt-BR" sz="12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 Qualitativa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Std" pitchFamily="34" charset="0"/>
                      </a:endParaRPr>
                    </a:p>
                  </a:txBody>
                  <a:tcPr marL="3600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0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Std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não é ponderada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Std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Std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Std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9867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47" name="Grupo 46"/>
          <p:cNvGrpSpPr/>
          <p:nvPr/>
        </p:nvGrpSpPr>
        <p:grpSpPr>
          <a:xfrm>
            <a:off x="7065955" y="103085"/>
            <a:ext cx="461462" cy="461095"/>
            <a:chOff x="566635" y="816635"/>
            <a:chExt cx="720000" cy="720000"/>
          </a:xfrm>
        </p:grpSpPr>
        <p:sp>
          <p:nvSpPr>
            <p:cNvPr id="48" name="Elipse 47"/>
            <p:cNvSpPr/>
            <p:nvPr/>
          </p:nvSpPr>
          <p:spPr bwMode="auto">
            <a:xfrm>
              <a:off x="566635" y="81663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49" name="Picture 9" descr="E:\Users\br93163\Downloads\Icones\questionbook32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3058" y="984255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0" name="CaixaDeTexto 49"/>
          <p:cNvSpPr txBox="1"/>
          <p:nvPr/>
        </p:nvSpPr>
        <p:spPr>
          <a:xfrm>
            <a:off x="7487767" y="96767"/>
            <a:ext cx="1526508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Avaliar e </a:t>
            </a:r>
          </a:p>
          <a:p>
            <a:r>
              <a:rPr lang="pt-BR" sz="1600" dirty="0">
                <a:latin typeface="Gill Sans Std Light" pitchFamily="34" charset="0"/>
              </a:rPr>
              <a:t>qualificar briefing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206517" y="636535"/>
            <a:ext cx="7335815" cy="36933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Algoritmo de Complexidade</a:t>
            </a:r>
            <a:endParaRPr lang="pt-BR" dirty="0">
              <a:latin typeface="+mj-lt"/>
            </a:endParaRPr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650580"/>
              </p:ext>
            </p:extLst>
          </p:nvPr>
        </p:nvGraphicFramePr>
        <p:xfrm>
          <a:off x="71499" y="1037769"/>
          <a:ext cx="8942776" cy="4631626"/>
        </p:xfrm>
        <a:graphic>
          <a:graphicData uri="http://schemas.openxmlformats.org/drawingml/2006/table">
            <a:tbl>
              <a:tblPr/>
              <a:tblGrid>
                <a:gridCol w="1575176"/>
                <a:gridCol w="1841900"/>
                <a:gridCol w="1841900"/>
                <a:gridCol w="1841900"/>
                <a:gridCol w="1841900"/>
              </a:tblGrid>
              <a:tr h="179333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Gill Sans Std ExtraBold" pitchFamily="34" charset="0"/>
                        </a:rPr>
                        <a:t>Peso</a:t>
                      </a:r>
                      <a:endParaRPr lang="pt-BR" sz="1100" b="1" i="0" u="none" strike="noStrike" dirty="0">
                        <a:solidFill>
                          <a:schemeClr val="tx1"/>
                        </a:solidFill>
                        <a:effectLst/>
                        <a:latin typeface="Gill Sans Std ExtraBold" pitchFamily="34" charset="0"/>
                      </a:endParaRPr>
                    </a:p>
                  </a:txBody>
                  <a:tcPr marL="7883" marR="7883" marT="788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050" b="1" i="0" u="none" strike="noStrike" dirty="0">
                        <a:solidFill>
                          <a:schemeClr val="tx1"/>
                        </a:solidFill>
                        <a:effectLst/>
                        <a:latin typeface="Gill Sans Std ExtraBold" pitchFamily="34" charset="0"/>
                      </a:endParaRPr>
                    </a:p>
                  </a:txBody>
                  <a:tcPr marL="7883" marR="7883" marT="788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050" b="1" i="0" u="none" strike="noStrike" dirty="0">
                        <a:solidFill>
                          <a:schemeClr val="tx1"/>
                        </a:solidFill>
                        <a:effectLst/>
                        <a:latin typeface="Gill Sans Std ExtraBold" pitchFamily="34" charset="0"/>
                      </a:endParaRPr>
                    </a:p>
                  </a:txBody>
                  <a:tcPr marL="7883" marR="7883" marT="788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050" b="1" i="0" u="none" strike="noStrike" dirty="0">
                        <a:solidFill>
                          <a:schemeClr val="tx1"/>
                        </a:solidFill>
                        <a:effectLst/>
                        <a:latin typeface="Gill Sans Std ExtraBold" pitchFamily="34" charset="0"/>
                      </a:endParaRPr>
                    </a:p>
                  </a:txBody>
                  <a:tcPr marL="7883" marR="7883" marT="788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050" b="1" i="0" u="none" strike="noStrike" dirty="0">
                        <a:solidFill>
                          <a:schemeClr val="tx1"/>
                        </a:solidFill>
                        <a:effectLst/>
                        <a:latin typeface="Gill Sans Std ExtraBold" pitchFamily="34" charset="0"/>
                      </a:endParaRPr>
                    </a:p>
                  </a:txBody>
                  <a:tcPr marL="7883" marR="7883" marT="788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23293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Gill Sans Std ExtraBold" pitchFamily="34" charset="0"/>
                        </a:rPr>
                        <a:t>Critérios</a:t>
                      </a:r>
                      <a:endParaRPr lang="pt-BR" sz="1100" b="1" i="0" u="none" strike="noStrike" dirty="0">
                        <a:solidFill>
                          <a:schemeClr val="tx1"/>
                        </a:solidFill>
                        <a:effectLst/>
                        <a:latin typeface="Gill Sans Std ExtraBold" pitchFamily="34" charset="0"/>
                      </a:endParaRPr>
                    </a:p>
                  </a:txBody>
                  <a:tcPr marL="7883" marR="7883" marT="7883" marB="0" anchor="b">
                    <a:lnL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Gill Sans Std ExtraBold" pitchFamily="34" charset="0"/>
                        </a:rPr>
                        <a:t>0</a:t>
                      </a:r>
                    </a:p>
                  </a:txBody>
                  <a:tcPr marL="7883" marR="7883" marT="7883" marB="0" anchor="b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Gill Sans Std ExtraBold" pitchFamily="34" charset="0"/>
                        </a:rPr>
                        <a:t>1</a:t>
                      </a:r>
                    </a:p>
                  </a:txBody>
                  <a:tcPr marL="7883" marR="7883" marT="7883" marB="0" anchor="b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Gill Sans Std ExtraBold" pitchFamily="34" charset="0"/>
                        </a:rPr>
                        <a:t>2</a:t>
                      </a:r>
                    </a:p>
                  </a:txBody>
                  <a:tcPr marL="7883" marR="7883" marT="7883" marB="0" anchor="b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Gill Sans Std ExtraBold" pitchFamily="34" charset="0"/>
                        </a:rPr>
                        <a:t>3</a:t>
                      </a:r>
                    </a:p>
                  </a:txBody>
                  <a:tcPr marL="7883" marR="7883" marT="7883" marB="0" anchor="b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8236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pt-BR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Gill Sans Std" pitchFamily="34" charset="0"/>
                          <a:ea typeface="+mn-ea"/>
                          <a:cs typeface="+mn-cs"/>
                        </a:rPr>
                        <a:t>Recursos Internos (</a:t>
                      </a:r>
                      <a:r>
                        <a:rPr lang="pt-BR" sz="12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Gill Sans Std" pitchFamily="34" charset="0"/>
                          <a:ea typeface="+mn-ea"/>
                          <a:cs typeface="+mn-cs"/>
                        </a:rPr>
                        <a:t>FTEs</a:t>
                      </a:r>
                      <a:r>
                        <a:rPr lang="pt-BR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Gill Sans Std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a 3 recursos internos envolvidos no projeto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a 7 recursos internos envolvidos no projeto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08 a 12 recursos internos envolvidos no projeto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mais que 13 recursos internos envolvidos no projeto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75403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pt-BR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Gill Sans Std" pitchFamily="34" charset="0"/>
                          <a:ea typeface="+mn-ea"/>
                          <a:cs typeface="+mn-cs"/>
                        </a:rPr>
                        <a:t>Gestão da Mudança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 mudança é transparente para os diferentes públicos da Natura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 mudança impacta o público administrativo e/ou OIs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 mudança impacta o público operacional </a:t>
                      </a:r>
                      <a:r>
                        <a:rPr lang="pt-BR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e/ou o público administrativo e OIs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 mudança impacta a Força de Vendas ou CF </a:t>
                      </a:r>
                      <a:r>
                        <a:rPr lang="pt-BR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e/ou os públicos administrativos, </a:t>
                      </a:r>
                      <a:r>
                        <a:rPr lang="pt-BR" sz="12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OIs</a:t>
                      </a:r>
                      <a:r>
                        <a:rPr lang="pt-BR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e operacionais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25224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pt-BR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Gill Sans Std" pitchFamily="34" charset="0"/>
                          <a:ea typeface="+mn-ea"/>
                          <a:cs typeface="+mn-cs"/>
                        </a:rPr>
                        <a:t>Dependências com outros projetos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Não há dependência com outros projetos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Há 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dependência 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 1 a 2 projetos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Há interdependência com 3 a 5 projetos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Há interdependência com 6 ou mais projetos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92523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pt-BR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Gill Sans Std" pitchFamily="34" charset="0"/>
                          <a:ea typeface="+mn-ea"/>
                          <a:cs typeface="+mn-cs"/>
                        </a:rPr>
                        <a:t>Processos Críticos impactados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 projeto não impacta ou altera processos críticos da Natura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 projeto impacta ou altera 1 processo crítico da Natura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 projeto impacta ou altera 2 processos críticos da Natura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 projeto impacta ou altera 3 ou mais processos críticos da Natura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92523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pt-BR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Gill Sans Std" pitchFamily="34" charset="0"/>
                          <a:ea typeface="+mn-ea"/>
                          <a:cs typeface="+mn-cs"/>
                        </a:rPr>
                        <a:t>Prontidão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Todos os recursos estarão disponíveis no início do projeto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Mais de 50% dos recursos estarão disponíveis no início do projeto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menos de 50% dos recursos estarão disponíveis no início do projeto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Não há recursos disponíveis para o início do projeto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75403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pt-BR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Gill Sans Std" pitchFamily="34" charset="0"/>
                          <a:ea typeface="+mn-ea"/>
                          <a:cs typeface="+mn-cs"/>
                        </a:rPr>
                        <a:t>Familiaridade com o assunto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Modelo ou tecnologia já é conhecido e executado na Natura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Modelo ou tecnologia já é conhecido mas não existe na Natura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Modelo ou tecnologia não é conhecido ou executado na Natura, mas conhecido pelo mercado.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Modelo ou tecnologia é novo para o mercado como um todo (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disruptivo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7883" marR="7883" marT="7883" marB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341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99" y="681542"/>
            <a:ext cx="8640471" cy="735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tângulo 10"/>
          <p:cNvSpPr/>
          <p:nvPr/>
        </p:nvSpPr>
        <p:spPr>
          <a:xfrm>
            <a:off x="1476664" y="509935"/>
            <a:ext cx="1867952" cy="540060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O solicitante receberá um novo item de ação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302"/>
          <a:stretch/>
        </p:blipFill>
        <p:spPr bwMode="auto">
          <a:xfrm>
            <a:off x="162002" y="1491632"/>
            <a:ext cx="8640469" cy="3609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Seta para a direita 11"/>
          <p:cNvSpPr/>
          <p:nvPr/>
        </p:nvSpPr>
        <p:spPr>
          <a:xfrm rot="5400000">
            <a:off x="1183641" y="974075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1196626" y="951571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16" name="Seta para a direita 15"/>
          <p:cNvSpPr/>
          <p:nvPr/>
        </p:nvSpPr>
        <p:spPr>
          <a:xfrm rot="10800000">
            <a:off x="1916705" y="4345073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1967464" y="4327819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5967157" y="2256716"/>
            <a:ext cx="1867952" cy="1620181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As instruções do que deve ser feito estação no item de ação. Nesse caso, deve ser realizada a aplicação do algoritmo de priorização.</a:t>
            </a:r>
          </a:p>
        </p:txBody>
      </p:sp>
      <p:grpSp>
        <p:nvGrpSpPr>
          <p:cNvPr id="14" name="Grupo 13"/>
          <p:cNvGrpSpPr/>
          <p:nvPr/>
        </p:nvGrpSpPr>
        <p:grpSpPr>
          <a:xfrm>
            <a:off x="7065955" y="103085"/>
            <a:ext cx="461462" cy="461095"/>
            <a:chOff x="566635" y="816635"/>
            <a:chExt cx="720000" cy="720000"/>
          </a:xfrm>
        </p:grpSpPr>
        <p:sp>
          <p:nvSpPr>
            <p:cNvPr id="15" name="Elipse 14"/>
            <p:cNvSpPr/>
            <p:nvPr/>
          </p:nvSpPr>
          <p:spPr bwMode="auto">
            <a:xfrm>
              <a:off x="566635" y="81663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9" name="Picture 9" descr="E:\Users\br93163\Downloads\Icones\questionbook32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3058" y="984255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CaixaDeTexto 19"/>
          <p:cNvSpPr txBox="1"/>
          <p:nvPr/>
        </p:nvSpPr>
        <p:spPr>
          <a:xfrm>
            <a:off x="7487767" y="96767"/>
            <a:ext cx="1526508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Avaliar e </a:t>
            </a:r>
          </a:p>
          <a:p>
            <a:r>
              <a:rPr lang="pt-BR" sz="1600" dirty="0">
                <a:latin typeface="Gill Sans Std Light" pitchFamily="34" charset="0"/>
              </a:rPr>
              <a:t>qualificar briefing</a:t>
            </a:r>
          </a:p>
        </p:txBody>
      </p:sp>
    </p:spTree>
    <p:extLst>
      <p:ext uri="{BB962C8B-B14F-4D97-AF65-F5344CB8AC3E}">
        <p14:creationId xmlns:p14="http://schemas.microsoft.com/office/powerpoint/2010/main" val="347216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757" y="671514"/>
            <a:ext cx="4275475" cy="1056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Seta para a direita 8"/>
          <p:cNvSpPr/>
          <p:nvPr/>
        </p:nvSpPr>
        <p:spPr>
          <a:xfrm rot="5400000">
            <a:off x="2983841" y="524025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2996826" y="501520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14" name="Seta para a direita 13"/>
          <p:cNvSpPr/>
          <p:nvPr/>
        </p:nvSpPr>
        <p:spPr>
          <a:xfrm rot="10800000">
            <a:off x="3722777" y="1219804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3773536" y="1202550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635" y="1768547"/>
            <a:ext cx="6120680" cy="3374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etângulo 15"/>
          <p:cNvSpPr/>
          <p:nvPr/>
        </p:nvSpPr>
        <p:spPr>
          <a:xfrm>
            <a:off x="5258205" y="3005972"/>
            <a:ext cx="2284126" cy="1500994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Responder o questionário de priorização da demanda. Ao clicar em salvar, o Total de Prioridade e Complexidade é calculado automaticamente</a:t>
            </a:r>
          </a:p>
        </p:txBody>
      </p:sp>
      <p:sp>
        <p:nvSpPr>
          <p:cNvPr id="17" name="Seta para a direita 16"/>
          <p:cNvSpPr/>
          <p:nvPr/>
        </p:nvSpPr>
        <p:spPr>
          <a:xfrm rot="5400000">
            <a:off x="2449594" y="4754494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2462578" y="4731990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3</a:t>
            </a:r>
          </a:p>
        </p:txBody>
      </p:sp>
      <p:grpSp>
        <p:nvGrpSpPr>
          <p:cNvPr id="12" name="Grupo 11"/>
          <p:cNvGrpSpPr/>
          <p:nvPr/>
        </p:nvGrpSpPr>
        <p:grpSpPr>
          <a:xfrm>
            <a:off x="7065955" y="103085"/>
            <a:ext cx="461462" cy="461095"/>
            <a:chOff x="566635" y="816635"/>
            <a:chExt cx="720000" cy="720000"/>
          </a:xfrm>
        </p:grpSpPr>
        <p:sp>
          <p:nvSpPr>
            <p:cNvPr id="13" name="Elipse 12"/>
            <p:cNvSpPr/>
            <p:nvPr/>
          </p:nvSpPr>
          <p:spPr bwMode="auto">
            <a:xfrm>
              <a:off x="566635" y="81663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9" name="Picture 9" descr="E:\Users\br93163\Downloads\Icones\questionbook32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3058" y="984255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CaixaDeTexto 19"/>
          <p:cNvSpPr txBox="1"/>
          <p:nvPr/>
        </p:nvSpPr>
        <p:spPr>
          <a:xfrm>
            <a:off x="7487767" y="96767"/>
            <a:ext cx="1526508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Avaliar e </a:t>
            </a:r>
          </a:p>
          <a:p>
            <a:r>
              <a:rPr lang="pt-BR" sz="1600" dirty="0">
                <a:latin typeface="Gill Sans Std Light" pitchFamily="34" charset="0"/>
              </a:rPr>
              <a:t>qualificar briefing</a:t>
            </a:r>
          </a:p>
        </p:txBody>
      </p:sp>
    </p:spTree>
    <p:extLst>
      <p:ext uri="{BB962C8B-B14F-4D97-AF65-F5344CB8AC3E}">
        <p14:creationId xmlns:p14="http://schemas.microsoft.com/office/powerpoint/2010/main" val="306239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3" t="22857" r="32666" b="12974"/>
          <a:stretch/>
        </p:blipFill>
        <p:spPr bwMode="auto">
          <a:xfrm>
            <a:off x="566557" y="735309"/>
            <a:ext cx="7833626" cy="42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Seta para a direita 12"/>
          <p:cNvSpPr/>
          <p:nvPr/>
        </p:nvSpPr>
        <p:spPr>
          <a:xfrm rot="10800000">
            <a:off x="7314935" y="4521137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9" name="Seta para a direita 18"/>
          <p:cNvSpPr/>
          <p:nvPr/>
        </p:nvSpPr>
        <p:spPr>
          <a:xfrm rot="5400000">
            <a:off x="823601" y="4528093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836587" y="4505589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7362310" y="4505589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6116055" y="2855664"/>
            <a:ext cx="2284126" cy="1500994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O item de ação pode ser concluído uma vez que esses passos foram seguidos. Quando isso for realizado, a ideia será encaminhada para Seleção e Priorização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7065955" y="103085"/>
            <a:ext cx="461462" cy="461095"/>
            <a:chOff x="566635" y="816635"/>
            <a:chExt cx="720000" cy="720000"/>
          </a:xfrm>
        </p:grpSpPr>
        <p:sp>
          <p:nvSpPr>
            <p:cNvPr id="10" name="Elipse 9"/>
            <p:cNvSpPr/>
            <p:nvPr/>
          </p:nvSpPr>
          <p:spPr bwMode="auto">
            <a:xfrm>
              <a:off x="566635" y="81663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1" name="Picture 9" descr="E:\Users\br93163\Downloads\Icones\questionbook32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3058" y="984255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CaixaDeTexto 11"/>
          <p:cNvSpPr txBox="1"/>
          <p:nvPr/>
        </p:nvSpPr>
        <p:spPr>
          <a:xfrm>
            <a:off x="7487767" y="96767"/>
            <a:ext cx="1526508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Avaliar e </a:t>
            </a:r>
          </a:p>
          <a:p>
            <a:r>
              <a:rPr lang="pt-BR" sz="1600" dirty="0">
                <a:latin typeface="Gill Sans Std Light" pitchFamily="34" charset="0"/>
              </a:rPr>
              <a:t>qualificar briefing</a:t>
            </a:r>
          </a:p>
        </p:txBody>
      </p:sp>
    </p:spTree>
    <p:extLst>
      <p:ext uri="{BB962C8B-B14F-4D97-AF65-F5344CB8AC3E}">
        <p14:creationId xmlns:p14="http://schemas.microsoft.com/office/powerpoint/2010/main" val="4053305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de seta reta 65"/>
          <p:cNvCxnSpPr/>
          <p:nvPr/>
        </p:nvCxnSpPr>
        <p:spPr>
          <a:xfrm>
            <a:off x="791580" y="2664673"/>
            <a:ext cx="8352420" cy="0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930130"/>
              </p:ext>
            </p:extLst>
          </p:nvPr>
        </p:nvGraphicFramePr>
        <p:xfrm>
          <a:off x="926601" y="1089500"/>
          <a:ext cx="522058" cy="2830721"/>
        </p:xfrm>
        <a:graphic>
          <a:graphicData uri="http://schemas.openxmlformats.org/drawingml/2006/table">
            <a:tbl>
              <a:tblPr/>
              <a:tblGrid>
                <a:gridCol w="522058"/>
              </a:tblGrid>
              <a:tr h="1572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Briefing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Matriz de 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Priorização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58459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95" name="Grupo 31"/>
          <p:cNvGrpSpPr/>
          <p:nvPr/>
        </p:nvGrpSpPr>
        <p:grpSpPr>
          <a:xfrm>
            <a:off x="73948" y="3166399"/>
            <a:ext cx="9070052" cy="710498"/>
            <a:chOff x="71500" y="2796775"/>
            <a:chExt cx="7811574" cy="710498"/>
          </a:xfrm>
        </p:grpSpPr>
        <p:sp>
          <p:nvSpPr>
            <p:cNvPr id="96" name="CaixaDeTexto 2"/>
            <p:cNvSpPr txBox="1"/>
            <p:nvPr/>
          </p:nvSpPr>
          <p:spPr>
            <a:xfrm>
              <a:off x="71500" y="2873488"/>
              <a:ext cx="6960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rgbClr val="0070C0"/>
                  </a:solidFill>
                </a:rPr>
                <a:t>Atuação</a:t>
              </a:r>
            </a:p>
          </p:txBody>
        </p:sp>
        <p:cxnSp>
          <p:nvCxnSpPr>
            <p:cNvPr id="97" name="Conector reto 25"/>
            <p:cNvCxnSpPr/>
            <p:nvPr/>
          </p:nvCxnSpPr>
          <p:spPr>
            <a:xfrm>
              <a:off x="135801" y="2796775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to 113"/>
            <p:cNvCxnSpPr/>
            <p:nvPr/>
          </p:nvCxnSpPr>
          <p:spPr>
            <a:xfrm>
              <a:off x="161510" y="3507273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CaixaDeTexto 98"/>
          <p:cNvSpPr txBox="1"/>
          <p:nvPr/>
        </p:nvSpPr>
        <p:spPr>
          <a:xfrm>
            <a:off x="959664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</p:spTree>
    <p:extLst>
      <p:ext uri="{BB962C8B-B14F-4D97-AF65-F5344CB8AC3E}">
        <p14:creationId xmlns:p14="http://schemas.microsoft.com/office/powerpoint/2010/main" val="155704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5" y="1061334"/>
            <a:ext cx="9089567" cy="4030696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421652" y="2256717"/>
            <a:ext cx="495055" cy="4950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1314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124945"/>
              </p:ext>
            </p:extLst>
          </p:nvPr>
        </p:nvGraphicFramePr>
        <p:xfrm>
          <a:off x="1736686" y="636536"/>
          <a:ext cx="7155794" cy="4410489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125124"/>
                <a:gridCol w="6030670"/>
              </a:tblGrid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O que é</a:t>
                      </a:r>
                      <a:endParaRPr lang="pt-BR" sz="1800" dirty="0"/>
                    </a:p>
                  </a:txBody>
                  <a:tcPr>
                    <a:solidFill>
                      <a:srgbClr val="004F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É o processo</a:t>
                      </a:r>
                      <a:r>
                        <a:rPr lang="pt-BR" sz="1800" baseline="0" dirty="0" smtClean="0"/>
                        <a:t> de seleção das demandas que o time de Tecnologia Digital deverá ter atuação</a:t>
                      </a:r>
                      <a:endParaRPr lang="pt-BR" sz="1800" dirty="0"/>
                    </a:p>
                  </a:txBody>
                  <a:tcPr/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Quem faz</a:t>
                      </a:r>
                      <a:endParaRPr lang="pt-BR" sz="1800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Liderança de TD</a:t>
                      </a:r>
                      <a:endParaRPr lang="pt-BR" sz="1800" dirty="0"/>
                    </a:p>
                  </a:txBody>
                  <a:tcPr/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Como faz</a:t>
                      </a:r>
                      <a:endParaRPr lang="pt-BR" sz="18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Através do</a:t>
                      </a:r>
                      <a:r>
                        <a:rPr lang="pt-BR" sz="1800" baseline="0" dirty="0" smtClean="0"/>
                        <a:t> Fórum de Priorização de Demandas ou do Comitê de Carteira de TD e posterior aprovação da demanda no Clarity</a:t>
                      </a:r>
                      <a:endParaRPr lang="pt-BR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CaixaDeTexto 11"/>
          <p:cNvSpPr txBox="1"/>
          <p:nvPr/>
        </p:nvSpPr>
        <p:spPr>
          <a:xfrm>
            <a:off x="28409" y="1581932"/>
            <a:ext cx="1663268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pt-BR"/>
            </a:defPPr>
            <a:lvl1pPr algn="r">
              <a:defRPr sz="1600">
                <a:latin typeface="Gill Sans Std Light" pitchFamily="34" charset="0"/>
              </a:defRPr>
            </a:lvl1pPr>
          </a:lstStyle>
          <a:p>
            <a:pPr algn="ctr"/>
            <a:r>
              <a:rPr lang="pt-BR" dirty="0"/>
              <a:t>Selecionar e </a:t>
            </a:r>
          </a:p>
          <a:p>
            <a:pPr algn="ctr"/>
            <a:r>
              <a:rPr lang="pt-BR" dirty="0"/>
              <a:t>Priorizar demanda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565200" y="802800"/>
            <a:ext cx="720000" cy="720000"/>
            <a:chOff x="485163" y="1041660"/>
            <a:chExt cx="720000" cy="720000"/>
          </a:xfrm>
        </p:grpSpPr>
        <p:sp>
          <p:nvSpPr>
            <p:cNvPr id="11" name="Elipse 10"/>
            <p:cNvSpPr/>
            <p:nvPr/>
          </p:nvSpPr>
          <p:spPr bwMode="auto">
            <a:xfrm>
              <a:off x="485163" y="1041660"/>
              <a:ext cx="720000" cy="720000"/>
            </a:xfrm>
            <a:prstGeom prst="ellipse">
              <a:avLst/>
            </a:prstGeom>
            <a:solidFill>
              <a:schemeClr val="bg1"/>
            </a:solidFill>
            <a:ln w="762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3" name="Picture 18" descr="E:\Users\br93163\Downloads\Icones\thumb-down-3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49" y="141502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9" descr="E:\Users\br93163\Downloads\Icones\thumb-up-3x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697" y="111282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3328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tângulo de cantos arredondados 57"/>
          <p:cNvSpPr/>
          <p:nvPr>
            <p:custDataLst>
              <p:tags r:id="rId1"/>
            </p:custDataLst>
          </p:nvPr>
        </p:nvSpPr>
        <p:spPr>
          <a:xfrm>
            <a:off x="239538" y="1811978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9" name="Retângulo de cantos arredondados 8"/>
          <p:cNvSpPr/>
          <p:nvPr>
            <p:custDataLst>
              <p:tags r:id="rId2"/>
            </p:custDataLst>
          </p:nvPr>
        </p:nvSpPr>
        <p:spPr>
          <a:xfrm>
            <a:off x="239541" y="722780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10" name="Retângulo de cantos arredondados 9"/>
          <p:cNvSpPr/>
          <p:nvPr>
            <p:custDataLst>
              <p:tags r:id="rId3"/>
            </p:custDataLst>
          </p:nvPr>
        </p:nvSpPr>
        <p:spPr>
          <a:xfrm>
            <a:off x="239540" y="722780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99336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cs typeface="Arial" pitchFamily="34" charset="0"/>
              </a:rPr>
              <a:t>Governança</a:t>
            </a:r>
          </a:p>
        </p:txBody>
      </p:sp>
      <p:sp>
        <p:nvSpPr>
          <p:cNvPr id="16" name="Retângulo de cantos arredondados 15"/>
          <p:cNvSpPr/>
          <p:nvPr>
            <p:custDataLst>
              <p:tags r:id="rId4"/>
            </p:custDataLst>
          </p:nvPr>
        </p:nvSpPr>
        <p:spPr>
          <a:xfrm>
            <a:off x="239540" y="1814564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FFC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cs typeface="Arial" pitchFamily="34" charset="0"/>
              </a:rPr>
              <a:t>Liderança TD</a:t>
            </a:r>
          </a:p>
        </p:txBody>
      </p:sp>
      <p:sp>
        <p:nvSpPr>
          <p:cNvPr id="30" name="CaixaDeTexto 29"/>
          <p:cNvSpPr txBox="1"/>
          <p:nvPr>
            <p:custDataLst>
              <p:tags r:id="rId5"/>
            </p:custDataLst>
          </p:nvPr>
        </p:nvSpPr>
        <p:spPr>
          <a:xfrm>
            <a:off x="2952647" y="1437334"/>
            <a:ext cx="838305" cy="36933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pt-BR" sz="900" dirty="0">
                <a:cs typeface="Arial" pitchFamily="34" charset="0"/>
              </a:rPr>
              <a:t>Comitê de Carteira TD</a:t>
            </a:r>
          </a:p>
        </p:txBody>
      </p:sp>
      <p:cxnSp>
        <p:nvCxnSpPr>
          <p:cNvPr id="31" name="Conector reto 30"/>
          <p:cNvCxnSpPr>
            <a:stCxn id="32" idx="2"/>
          </p:cNvCxnSpPr>
          <p:nvPr>
            <p:custDataLst>
              <p:tags r:id="rId6"/>
            </p:custDataLst>
          </p:nvPr>
        </p:nvCxnSpPr>
        <p:spPr>
          <a:xfrm>
            <a:off x="2917467" y="1372115"/>
            <a:ext cx="0" cy="74510"/>
          </a:xfrm>
          <a:prstGeom prst="line">
            <a:avLst/>
          </a:prstGeom>
          <a:ln>
            <a:solidFill>
              <a:schemeClr val="accent2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Losango 31"/>
          <p:cNvSpPr/>
          <p:nvPr/>
        </p:nvSpPr>
        <p:spPr>
          <a:xfrm>
            <a:off x="2773467" y="1084115"/>
            <a:ext cx="288000" cy="28800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OU</a:t>
            </a:r>
          </a:p>
        </p:txBody>
      </p:sp>
      <p:pic>
        <p:nvPicPr>
          <p:cNvPr id="34" name="Picture 25" descr="Group icon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27621" y="656571"/>
            <a:ext cx="360040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CaixaDeTexto 34"/>
          <p:cNvSpPr txBox="1"/>
          <p:nvPr>
            <p:custDataLst>
              <p:tags r:id="rId8"/>
            </p:custDataLst>
          </p:nvPr>
        </p:nvSpPr>
        <p:spPr>
          <a:xfrm>
            <a:off x="3014441" y="668765"/>
            <a:ext cx="838305" cy="50783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pt-BR" sz="900" dirty="0">
                <a:cs typeface="Arial" pitchFamily="34" charset="0"/>
              </a:rPr>
              <a:t>Fórum de Priorização de Demandas</a:t>
            </a:r>
          </a:p>
        </p:txBody>
      </p:sp>
      <p:cxnSp>
        <p:nvCxnSpPr>
          <p:cNvPr id="36" name="Conector reto 35"/>
          <p:cNvCxnSpPr>
            <a:stCxn id="32" idx="0"/>
            <a:endCxn id="34" idx="2"/>
          </p:cNvCxnSpPr>
          <p:nvPr>
            <p:custDataLst>
              <p:tags r:id="rId9"/>
            </p:custDataLst>
          </p:nvPr>
        </p:nvCxnSpPr>
        <p:spPr>
          <a:xfrm flipH="1" flipV="1">
            <a:off x="2907642" y="1016612"/>
            <a:ext cx="9827" cy="67505"/>
          </a:xfrm>
          <a:prstGeom prst="line">
            <a:avLst/>
          </a:prstGeom>
          <a:ln>
            <a:solidFill>
              <a:schemeClr val="accent2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tângulo 36"/>
          <p:cNvSpPr/>
          <p:nvPr>
            <p:custDataLst>
              <p:tags r:id="rId10"/>
            </p:custDataLst>
          </p:nvPr>
        </p:nvSpPr>
        <p:spPr>
          <a:xfrm>
            <a:off x="1196625" y="920889"/>
            <a:ext cx="1242000" cy="6005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Direcionar demanda para o Fórum Competente</a:t>
            </a:r>
          </a:p>
        </p:txBody>
      </p:sp>
      <p:cxnSp>
        <p:nvCxnSpPr>
          <p:cNvPr id="38" name="Conector de seta reta 37"/>
          <p:cNvCxnSpPr>
            <a:stCxn id="37" idx="3"/>
            <a:endCxn id="32" idx="1"/>
          </p:cNvCxnSpPr>
          <p:nvPr>
            <p:custDataLst>
              <p:tags r:id="rId11"/>
            </p:custDataLst>
          </p:nvPr>
        </p:nvCxnSpPr>
        <p:spPr>
          <a:xfrm>
            <a:off x="2438625" y="1221155"/>
            <a:ext cx="334842" cy="69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ipse 52"/>
          <p:cNvSpPr/>
          <p:nvPr>
            <p:custDataLst>
              <p:tags r:id="rId12"/>
            </p:custDataLst>
          </p:nvPr>
        </p:nvSpPr>
        <p:spPr>
          <a:xfrm>
            <a:off x="701570" y="1109163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2</a:t>
            </a:r>
          </a:p>
        </p:txBody>
      </p:sp>
      <p:cxnSp>
        <p:nvCxnSpPr>
          <p:cNvPr id="54" name="Conector de seta reta 53"/>
          <p:cNvCxnSpPr>
            <a:stCxn id="53" idx="6"/>
            <a:endCxn id="37" idx="1"/>
          </p:cNvCxnSpPr>
          <p:nvPr>
            <p:custDataLst>
              <p:tags r:id="rId13"/>
            </p:custDataLst>
          </p:nvPr>
        </p:nvCxnSpPr>
        <p:spPr>
          <a:xfrm>
            <a:off x="917572" y="1217164"/>
            <a:ext cx="279055" cy="39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2" descr="http://latinonews.com.br/wp-content/uploads/2014/10/Cifrao.jpg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222" y="1446625"/>
            <a:ext cx="418005" cy="383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etângulo 39"/>
          <p:cNvSpPr/>
          <p:nvPr>
            <p:custDataLst>
              <p:tags r:id="rId14"/>
            </p:custDataLst>
          </p:nvPr>
        </p:nvSpPr>
        <p:spPr>
          <a:xfrm>
            <a:off x="3266855" y="2044818"/>
            <a:ext cx="1243560" cy="6005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Priorizar a execução de demandas</a:t>
            </a:r>
          </a:p>
        </p:txBody>
      </p:sp>
      <p:sp>
        <p:nvSpPr>
          <p:cNvPr id="45" name="Retângulo 44"/>
          <p:cNvSpPr/>
          <p:nvPr>
            <p:custDataLst>
              <p:tags r:id="rId15"/>
            </p:custDataLst>
          </p:nvPr>
        </p:nvSpPr>
        <p:spPr>
          <a:xfrm>
            <a:off x="5832140" y="920889"/>
            <a:ext cx="1243560" cy="6005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Atualizar as demandas para execução</a:t>
            </a:r>
          </a:p>
        </p:txBody>
      </p:sp>
      <p:cxnSp>
        <p:nvCxnSpPr>
          <p:cNvPr id="6" name="Conector angulado 5"/>
          <p:cNvCxnSpPr>
            <a:stCxn id="32" idx="3"/>
            <a:endCxn id="40" idx="0"/>
          </p:cNvCxnSpPr>
          <p:nvPr/>
        </p:nvCxnSpPr>
        <p:spPr>
          <a:xfrm>
            <a:off x="3061468" y="1228117"/>
            <a:ext cx="827168" cy="816701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tângulo 45"/>
          <p:cNvSpPr/>
          <p:nvPr>
            <p:custDataLst>
              <p:tags r:id="rId16"/>
            </p:custDataLst>
          </p:nvPr>
        </p:nvSpPr>
        <p:spPr>
          <a:xfrm>
            <a:off x="4318550" y="920889"/>
            <a:ext cx="1243560" cy="6005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Consolidar e comunicar resultados da priorização</a:t>
            </a:r>
          </a:p>
        </p:txBody>
      </p:sp>
      <p:cxnSp>
        <p:nvCxnSpPr>
          <p:cNvPr id="11" name="Conector angulado 10"/>
          <p:cNvCxnSpPr>
            <a:stCxn id="40" idx="3"/>
            <a:endCxn id="46" idx="2"/>
          </p:cNvCxnSpPr>
          <p:nvPr/>
        </p:nvCxnSpPr>
        <p:spPr>
          <a:xfrm flipV="1">
            <a:off x="4510415" y="1521422"/>
            <a:ext cx="429915" cy="823662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46" idx="3"/>
            <a:endCxn id="45" idx="1"/>
          </p:cNvCxnSpPr>
          <p:nvPr/>
        </p:nvCxnSpPr>
        <p:spPr>
          <a:xfrm>
            <a:off x="5562110" y="1221155"/>
            <a:ext cx="27003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/>
          <p:cNvSpPr/>
          <p:nvPr>
            <p:custDataLst>
              <p:tags r:id="rId17"/>
            </p:custDataLst>
          </p:nvPr>
        </p:nvSpPr>
        <p:spPr>
          <a:xfrm>
            <a:off x="7445739" y="1113154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4</a:t>
            </a:r>
          </a:p>
        </p:txBody>
      </p:sp>
      <p:cxnSp>
        <p:nvCxnSpPr>
          <p:cNvPr id="15" name="Conector de seta reta 14"/>
          <p:cNvCxnSpPr>
            <a:stCxn id="45" idx="3"/>
            <a:endCxn id="51" idx="2"/>
          </p:cNvCxnSpPr>
          <p:nvPr/>
        </p:nvCxnSpPr>
        <p:spPr>
          <a:xfrm flipV="1">
            <a:off x="7075702" y="1221156"/>
            <a:ext cx="370039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7521798" y="29374"/>
            <a:ext cx="1663268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pt-BR"/>
            </a:defPPr>
            <a:lvl1pPr algn="r">
              <a:defRPr sz="1600">
                <a:latin typeface="Gill Sans Std Light" pitchFamily="34" charset="0"/>
              </a:defRPr>
            </a:lvl1pPr>
          </a:lstStyle>
          <a:p>
            <a:pPr algn="l"/>
            <a:r>
              <a:rPr lang="pt-BR" dirty="0"/>
              <a:t>Selecionar e </a:t>
            </a:r>
          </a:p>
          <a:p>
            <a:pPr algn="l"/>
            <a:r>
              <a:rPr lang="pt-BR" dirty="0"/>
              <a:t>Priorizar demanda</a:t>
            </a:r>
          </a:p>
        </p:txBody>
      </p:sp>
      <p:grpSp>
        <p:nvGrpSpPr>
          <p:cNvPr id="52" name="Grupo 51"/>
          <p:cNvGrpSpPr/>
          <p:nvPr/>
        </p:nvGrpSpPr>
        <p:grpSpPr>
          <a:xfrm>
            <a:off x="7060600" y="84655"/>
            <a:ext cx="474212" cy="474212"/>
            <a:chOff x="485163" y="1041660"/>
            <a:chExt cx="720000" cy="720000"/>
          </a:xfrm>
        </p:grpSpPr>
        <p:sp>
          <p:nvSpPr>
            <p:cNvPr id="55" name="Elipse 54"/>
            <p:cNvSpPr/>
            <p:nvPr/>
          </p:nvSpPr>
          <p:spPr bwMode="auto">
            <a:xfrm>
              <a:off x="485163" y="1041660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56" name="Picture 18" descr="E:\Users\br93163\Downloads\Icones\thumb-down-3x.png"/>
            <p:cNvPicPr>
              <a:picLocks noChangeAspect="1" noChangeArrowheads="1"/>
            </p:cNvPicPr>
            <p:nvPr/>
          </p:nvPicPr>
          <p:blipFill>
            <a:blip r:embed="rId2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49" y="141502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Picture 19" descr="E:\Users\br93163\Downloads\Icones\thumb-up-3x.png"/>
            <p:cNvPicPr>
              <a:picLocks noChangeAspect="1" noChangeArrowheads="1"/>
            </p:cNvPicPr>
            <p:nvPr/>
          </p:nvPicPr>
          <p:blipFill>
            <a:blip r:embed="rId2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697" y="111282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82340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8" name="Picture 25" descr="Group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1531" y="2921045"/>
            <a:ext cx="675075" cy="67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/>
          <p:cNvSpPr txBox="1"/>
          <p:nvPr/>
        </p:nvSpPr>
        <p:spPr>
          <a:xfrm>
            <a:off x="1106617" y="2876039"/>
            <a:ext cx="7907660" cy="2123658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b="1" dirty="0" smtClean="0">
                <a:latin typeface="+mj-lt"/>
              </a:rPr>
              <a:t>Fórum de Priorização de Demandas</a:t>
            </a:r>
          </a:p>
          <a:p>
            <a:pPr marL="285736" indent="-285736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1600" dirty="0"/>
              <a:t>O que é: reunião executiva onde são apresentadas as demandas para priorização e avaliação da carteira em andamento</a:t>
            </a:r>
          </a:p>
          <a:p>
            <a:pPr marL="285736" indent="-285736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1600" dirty="0"/>
              <a:t>Quem participa: líderes de DA, líderes GRPs, Arquitetura, Infraestrutura, Governança</a:t>
            </a:r>
          </a:p>
          <a:p>
            <a:pPr marL="285736" indent="-285736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1600" dirty="0"/>
              <a:t>O que é decidido: quais são as demandas que iremos trabalhar, quais as demandas que deverão ser paralisadas e quem irá conduzir as novas demandas.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1016605" y="864752"/>
            <a:ext cx="7907660" cy="181588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b="1" dirty="0" smtClean="0">
                <a:latin typeface="+mj-lt"/>
              </a:rPr>
              <a:t>Comitê de Carteira de TD</a:t>
            </a:r>
          </a:p>
          <a:p>
            <a:pPr marL="285736" indent="-285736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1600" dirty="0"/>
              <a:t>O que é: reunião executiva onde é apresentada a </a:t>
            </a:r>
            <a:r>
              <a:rPr lang="pt-BR" altLang="pt-BR" sz="1600" dirty="0"/>
              <a:t>DO de Investimentos, a priorização da Carteira e acompanhamento do físico e financeiro e benefícios dos projetos</a:t>
            </a:r>
            <a:r>
              <a:rPr lang="pt-BR" sz="1600" dirty="0"/>
              <a:t> </a:t>
            </a:r>
          </a:p>
          <a:p>
            <a:pPr marL="285736" indent="-285736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1600" dirty="0"/>
              <a:t>Quem participa:  VP TD e Diretos </a:t>
            </a:r>
          </a:p>
          <a:p>
            <a:pPr marL="285736" indent="-285736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1600" dirty="0"/>
              <a:t>O que é decidido: priorização dos investimentos que TD deve atuar</a:t>
            </a:r>
          </a:p>
        </p:txBody>
      </p:sp>
      <p:pic>
        <p:nvPicPr>
          <p:cNvPr id="8194" name="Picture 2" descr="http://latinonews.com.br/wp-content/uploads/2014/10/Cifrao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716" y="734310"/>
            <a:ext cx="678880" cy="62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/>
          <p:cNvSpPr/>
          <p:nvPr/>
        </p:nvSpPr>
        <p:spPr>
          <a:xfrm rot="19800000">
            <a:off x="3994357" y="798222"/>
            <a:ext cx="677221" cy="391162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Mensal</a:t>
            </a:r>
          </a:p>
        </p:txBody>
      </p:sp>
      <p:sp>
        <p:nvSpPr>
          <p:cNvPr id="13" name="Retângulo 12"/>
          <p:cNvSpPr/>
          <p:nvPr/>
        </p:nvSpPr>
        <p:spPr>
          <a:xfrm rot="19800000">
            <a:off x="5112705" y="2822289"/>
            <a:ext cx="778364" cy="391162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Semanal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7521798" y="29374"/>
            <a:ext cx="1663268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pt-BR"/>
            </a:defPPr>
            <a:lvl1pPr algn="r">
              <a:defRPr sz="1600">
                <a:latin typeface="Gill Sans Std Light" pitchFamily="34" charset="0"/>
              </a:defRPr>
            </a:lvl1pPr>
          </a:lstStyle>
          <a:p>
            <a:pPr algn="l"/>
            <a:r>
              <a:rPr lang="pt-BR" dirty="0"/>
              <a:t>Selecionar e </a:t>
            </a:r>
          </a:p>
          <a:p>
            <a:pPr algn="l"/>
            <a:r>
              <a:rPr lang="pt-BR" dirty="0"/>
              <a:t>Priorizar demanda</a:t>
            </a:r>
          </a:p>
        </p:txBody>
      </p:sp>
      <p:grpSp>
        <p:nvGrpSpPr>
          <p:cNvPr id="15" name="Grupo 14"/>
          <p:cNvGrpSpPr/>
          <p:nvPr/>
        </p:nvGrpSpPr>
        <p:grpSpPr>
          <a:xfrm>
            <a:off x="7060600" y="84655"/>
            <a:ext cx="474212" cy="474212"/>
            <a:chOff x="485163" y="1041660"/>
            <a:chExt cx="720000" cy="720000"/>
          </a:xfrm>
        </p:grpSpPr>
        <p:sp>
          <p:nvSpPr>
            <p:cNvPr id="16" name="Elipse 15"/>
            <p:cNvSpPr/>
            <p:nvPr/>
          </p:nvSpPr>
          <p:spPr bwMode="auto">
            <a:xfrm>
              <a:off x="485163" y="1041660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7" name="Picture 18" descr="E:\Users\br93163\Downloads\Icones\thumb-down-3x.png"/>
            <p:cNvPicPr>
              <a:picLocks noChangeAspect="1" noChangeArrowheads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49" y="141502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9" descr="E:\Users\br93163\Downloads\Icones\thumb-up-3x.png"/>
            <p:cNvPicPr>
              <a:picLocks noChangeAspect="1" noChangeArrowheads="1"/>
            </p:cNvPicPr>
            <p:nvPr/>
          </p:nvPicPr>
          <p:blipFill>
            <a:blip r:embed="rId7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697" y="111282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24595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de seta reta 65"/>
          <p:cNvCxnSpPr/>
          <p:nvPr/>
        </p:nvCxnSpPr>
        <p:spPr>
          <a:xfrm>
            <a:off x="791580" y="2664673"/>
            <a:ext cx="8352420" cy="0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930130"/>
              </p:ext>
            </p:extLst>
          </p:nvPr>
        </p:nvGraphicFramePr>
        <p:xfrm>
          <a:off x="926601" y="1089500"/>
          <a:ext cx="522058" cy="2830721"/>
        </p:xfrm>
        <a:graphic>
          <a:graphicData uri="http://schemas.openxmlformats.org/drawingml/2006/table">
            <a:tbl>
              <a:tblPr/>
              <a:tblGrid>
                <a:gridCol w="522058"/>
              </a:tblGrid>
              <a:tr h="1572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Briefing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Matriz de 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Priorização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58459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95" name="Grupo 31"/>
          <p:cNvGrpSpPr/>
          <p:nvPr/>
        </p:nvGrpSpPr>
        <p:grpSpPr>
          <a:xfrm>
            <a:off x="73948" y="3166399"/>
            <a:ext cx="9070052" cy="710498"/>
            <a:chOff x="71500" y="2796775"/>
            <a:chExt cx="7811574" cy="710498"/>
          </a:xfrm>
        </p:grpSpPr>
        <p:sp>
          <p:nvSpPr>
            <p:cNvPr id="96" name="CaixaDeTexto 2"/>
            <p:cNvSpPr txBox="1"/>
            <p:nvPr/>
          </p:nvSpPr>
          <p:spPr>
            <a:xfrm>
              <a:off x="71500" y="2873488"/>
              <a:ext cx="6960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rgbClr val="0070C0"/>
                  </a:solidFill>
                </a:rPr>
                <a:t>Atuação</a:t>
              </a:r>
            </a:p>
          </p:txBody>
        </p:sp>
        <p:cxnSp>
          <p:nvCxnSpPr>
            <p:cNvPr id="97" name="Conector reto 25"/>
            <p:cNvCxnSpPr/>
            <p:nvPr/>
          </p:nvCxnSpPr>
          <p:spPr>
            <a:xfrm>
              <a:off x="135801" y="2796775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to 113"/>
            <p:cNvCxnSpPr/>
            <p:nvPr/>
          </p:nvCxnSpPr>
          <p:spPr>
            <a:xfrm>
              <a:off x="161510" y="3507273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CaixaDeTexto 98"/>
          <p:cNvSpPr txBox="1"/>
          <p:nvPr/>
        </p:nvSpPr>
        <p:spPr>
          <a:xfrm>
            <a:off x="959664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grpSp>
        <p:nvGrpSpPr>
          <p:cNvPr id="10" name="Group 85"/>
          <p:cNvGrpSpPr/>
          <p:nvPr/>
        </p:nvGrpSpPr>
        <p:grpSpPr>
          <a:xfrm>
            <a:off x="1252649" y="456517"/>
            <a:ext cx="405025" cy="587978"/>
            <a:chOff x="2527833" y="678627"/>
            <a:chExt cx="405025" cy="587978"/>
          </a:xfrm>
        </p:grpSpPr>
        <p:sp>
          <p:nvSpPr>
            <p:cNvPr id="11" name="CaixaDeTexto 53"/>
            <p:cNvSpPr txBox="1"/>
            <p:nvPr/>
          </p:nvSpPr>
          <p:spPr>
            <a:xfrm>
              <a:off x="2527833" y="678627"/>
              <a:ext cx="4050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Prior</a:t>
              </a:r>
            </a:p>
            <a:p>
              <a:r>
                <a:rPr lang="pt-BR" sz="800" dirty="0"/>
                <a:t>Dem.</a:t>
              </a:r>
            </a:p>
          </p:txBody>
        </p:sp>
        <p:pic>
          <p:nvPicPr>
            <p:cNvPr id="12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4539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95960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5" y="1061334"/>
            <a:ext cx="9089567" cy="4030696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2006717" y="1197538"/>
            <a:ext cx="495055" cy="4950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1941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04651"/>
              </p:ext>
            </p:extLst>
          </p:nvPr>
        </p:nvGraphicFramePr>
        <p:xfrm>
          <a:off x="1736686" y="636536"/>
          <a:ext cx="7155794" cy="4677686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125124"/>
                <a:gridCol w="6030670"/>
              </a:tblGrid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O que é</a:t>
                      </a:r>
                      <a:endParaRPr lang="pt-BR" sz="1800" dirty="0"/>
                    </a:p>
                  </a:txBody>
                  <a:tcPr>
                    <a:solidFill>
                      <a:srgbClr val="004F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Aprofundar</a:t>
                      </a:r>
                      <a:r>
                        <a:rPr lang="pt-BR" sz="1800" baseline="0" dirty="0" smtClean="0"/>
                        <a:t> o entendimento da demanda, escrever o checklist de TD e documentar os requisitos no Documento de Requisitos</a:t>
                      </a:r>
                      <a:endParaRPr lang="pt-BR" sz="1800" dirty="0"/>
                    </a:p>
                  </a:txBody>
                  <a:tcPr/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Quem faz</a:t>
                      </a:r>
                      <a:endParaRPr lang="pt-BR" sz="1800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GRP</a:t>
                      </a:r>
                      <a:endParaRPr lang="pt-BR" sz="1800" dirty="0"/>
                    </a:p>
                  </a:txBody>
                  <a:tcPr/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Como faz</a:t>
                      </a:r>
                      <a:endParaRPr lang="pt-BR" sz="18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Através de entrevistas</a:t>
                      </a:r>
                      <a:r>
                        <a:rPr lang="pt-BR" sz="1800" baseline="0" dirty="0" smtClean="0"/>
                        <a:t> com o solicitante da demanda. O checklist TD é preenchido na ferramenta Clarity. O Documento de Requisitos é preenchido pelo template para este fim, e anexado ao registro da ideia, no Clarity. Uma vez finalizados esses passos, o GRP deve concluir o item de ação para que o fluxo prossiga</a:t>
                      </a:r>
                      <a:endParaRPr lang="pt-BR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CaixaDeTexto 10"/>
          <p:cNvSpPr txBox="1"/>
          <p:nvPr/>
        </p:nvSpPr>
        <p:spPr>
          <a:xfrm>
            <a:off x="17817" y="1536635"/>
            <a:ext cx="1718868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ctr"/>
            <a:r>
              <a:rPr lang="pt-BR" sz="1600" dirty="0">
                <a:latin typeface="Gill Sans Std Light" pitchFamily="34" charset="0"/>
              </a:rPr>
              <a:t>Escrever demanda </a:t>
            </a:r>
          </a:p>
          <a:p>
            <a:pPr algn="ctr"/>
            <a:r>
              <a:rPr lang="pt-BR" sz="1600" dirty="0">
                <a:latin typeface="Gill Sans Std Light" pitchFamily="34" charset="0"/>
              </a:rPr>
              <a:t>e requerimentos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565200" y="802800"/>
            <a:ext cx="720000" cy="720000"/>
            <a:chOff x="522499" y="771550"/>
            <a:chExt cx="720000" cy="720000"/>
          </a:xfrm>
        </p:grpSpPr>
        <p:sp>
          <p:nvSpPr>
            <p:cNvPr id="10" name="Elipse 9"/>
            <p:cNvSpPr/>
            <p:nvPr/>
          </p:nvSpPr>
          <p:spPr bwMode="auto">
            <a:xfrm>
              <a:off x="522499" y="771550"/>
              <a:ext cx="720000" cy="720000"/>
            </a:xfrm>
            <a:prstGeom prst="ellipse">
              <a:avLst/>
            </a:prstGeom>
            <a:solidFill>
              <a:schemeClr val="bg1"/>
            </a:solidFill>
            <a:ln w="762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2" name="Picture 8" descr="E:\Users\br93163\Downloads\Icones\pencil32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922" y="913770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28383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7000843" y="125220"/>
            <a:ext cx="294134" cy="403540"/>
            <a:chOff x="657697" y="1112825"/>
            <a:chExt cx="443952" cy="606995"/>
          </a:xfrm>
        </p:grpSpPr>
        <p:pic>
          <p:nvPicPr>
            <p:cNvPr id="13" name="Picture 18" descr="E:\Users\br93163\Downloads\Icones\thumb-down-3x.png"/>
            <p:cNvPicPr>
              <a:picLocks noChangeAspect="1" noChangeArrowheads="1"/>
            </p:cNvPicPr>
            <p:nvPr/>
          </p:nvPicPr>
          <p:blipFill>
            <a:blip r:embed="rId19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49" y="141502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9" descr="E:\Users\br93163\Downloads\Icones\thumb-up-3x.png"/>
            <p:cNvPicPr>
              <a:picLocks noChangeAspect="1" noChangeArrowheads="1"/>
            </p:cNvPicPr>
            <p:nvPr/>
          </p:nvPicPr>
          <p:blipFill>
            <a:blip r:embed="rId20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697" y="111282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Retângulo de cantos arredondados 8"/>
          <p:cNvSpPr/>
          <p:nvPr>
            <p:custDataLst>
              <p:tags r:id="rId1"/>
            </p:custDataLst>
          </p:nvPr>
        </p:nvSpPr>
        <p:spPr>
          <a:xfrm>
            <a:off x="239541" y="722780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10" name="Retângulo de cantos arredondados 9"/>
          <p:cNvSpPr/>
          <p:nvPr>
            <p:custDataLst>
              <p:tags r:id="rId2"/>
            </p:custDataLst>
          </p:nvPr>
        </p:nvSpPr>
        <p:spPr>
          <a:xfrm>
            <a:off x="239540" y="722780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cs typeface="Arial" pitchFamily="34" charset="0"/>
              </a:rPr>
              <a:t>GRP</a:t>
            </a:r>
          </a:p>
        </p:txBody>
      </p:sp>
      <p:grpSp>
        <p:nvGrpSpPr>
          <p:cNvPr id="29" name="Grupo 28"/>
          <p:cNvGrpSpPr/>
          <p:nvPr/>
        </p:nvGrpSpPr>
        <p:grpSpPr>
          <a:xfrm>
            <a:off x="6886534" y="75323"/>
            <a:ext cx="477026" cy="481253"/>
            <a:chOff x="522499" y="771550"/>
            <a:chExt cx="720000" cy="720000"/>
          </a:xfrm>
        </p:grpSpPr>
        <p:sp>
          <p:nvSpPr>
            <p:cNvPr id="30" name="Elipse 29"/>
            <p:cNvSpPr/>
            <p:nvPr/>
          </p:nvSpPr>
          <p:spPr bwMode="auto">
            <a:xfrm>
              <a:off x="522499" y="771550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31" name="Picture 8" descr="E:\Users\br93163\Downloads\Icones\pencil32.png"/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922" y="913770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CaixaDeTexto 31"/>
          <p:cNvSpPr txBox="1"/>
          <p:nvPr/>
        </p:nvSpPr>
        <p:spPr>
          <a:xfrm>
            <a:off x="7376309" y="59654"/>
            <a:ext cx="1718868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Escrever demanda </a:t>
            </a:r>
          </a:p>
          <a:p>
            <a:r>
              <a:rPr lang="pt-BR" sz="1600" dirty="0">
                <a:latin typeface="Gill Sans Std Light" pitchFamily="34" charset="0"/>
              </a:rPr>
              <a:t>e requerimentos</a:t>
            </a:r>
          </a:p>
        </p:txBody>
      </p:sp>
      <p:sp>
        <p:nvSpPr>
          <p:cNvPr id="33" name="Retângulo 32"/>
          <p:cNvSpPr/>
          <p:nvPr>
            <p:custDataLst>
              <p:tags r:id="rId3"/>
            </p:custDataLst>
          </p:nvPr>
        </p:nvSpPr>
        <p:spPr>
          <a:xfrm>
            <a:off x="5513448" y="934183"/>
            <a:ext cx="1255321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Identificar principais requisitos funcionais e não funcionais</a:t>
            </a:r>
          </a:p>
        </p:txBody>
      </p:sp>
      <p:sp>
        <p:nvSpPr>
          <p:cNvPr id="35" name="Retângulo 34"/>
          <p:cNvSpPr/>
          <p:nvPr>
            <p:custDataLst>
              <p:tags r:id="rId4"/>
            </p:custDataLst>
          </p:nvPr>
        </p:nvSpPr>
        <p:spPr>
          <a:xfrm>
            <a:off x="2630431" y="934183"/>
            <a:ext cx="1214336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Preencher checklist para direcionar demanda</a:t>
            </a:r>
          </a:p>
        </p:txBody>
      </p:sp>
      <p:cxnSp>
        <p:nvCxnSpPr>
          <p:cNvPr id="39" name="Conector de seta reta 38"/>
          <p:cNvCxnSpPr>
            <a:stCxn id="35" idx="3"/>
            <a:endCxn id="53" idx="1"/>
          </p:cNvCxnSpPr>
          <p:nvPr>
            <p:custDataLst>
              <p:tags r:id="rId5"/>
            </p:custDataLst>
          </p:nvPr>
        </p:nvCxnSpPr>
        <p:spPr>
          <a:xfrm flipV="1">
            <a:off x="3844766" y="1212634"/>
            <a:ext cx="213441" cy="5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>
            <p:custDataLst>
              <p:tags r:id="rId6"/>
            </p:custDataLst>
          </p:nvPr>
        </p:nvSpPr>
        <p:spPr>
          <a:xfrm>
            <a:off x="3653870" y="1542312"/>
            <a:ext cx="1053147" cy="34624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800" i="1" dirty="0">
                <a:cs typeface="Arial" pitchFamily="34" charset="0"/>
              </a:rPr>
              <a:t>Checklist </a:t>
            </a:r>
            <a:r>
              <a:rPr lang="pt-BR" sz="800" dirty="0">
                <a:cs typeface="Arial" pitchFamily="34" charset="0"/>
              </a:rPr>
              <a:t>da Demanda</a:t>
            </a:r>
          </a:p>
        </p:txBody>
      </p:sp>
      <p:sp>
        <p:nvSpPr>
          <p:cNvPr id="49" name="Fluxograma: Documento 48"/>
          <p:cNvSpPr/>
          <p:nvPr>
            <p:custDataLst>
              <p:tags r:id="rId7"/>
            </p:custDataLst>
          </p:nvPr>
        </p:nvSpPr>
        <p:spPr>
          <a:xfrm>
            <a:off x="3622758" y="1367586"/>
            <a:ext cx="396000" cy="235079"/>
          </a:xfrm>
          <a:prstGeom prst="flowChartDocumen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  <a:cs typeface="Arial" pitchFamily="34" charset="0"/>
              </a:rPr>
              <a:t>C. D.</a:t>
            </a:r>
          </a:p>
        </p:txBody>
      </p:sp>
      <p:sp>
        <p:nvSpPr>
          <p:cNvPr id="51" name="Elipse 50"/>
          <p:cNvSpPr/>
          <p:nvPr>
            <p:custDataLst>
              <p:tags r:id="rId8"/>
            </p:custDataLst>
          </p:nvPr>
        </p:nvSpPr>
        <p:spPr>
          <a:xfrm>
            <a:off x="701570" y="1109163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3</a:t>
            </a:r>
          </a:p>
        </p:txBody>
      </p:sp>
      <p:cxnSp>
        <p:nvCxnSpPr>
          <p:cNvPr id="52" name="Conector de seta reta 51"/>
          <p:cNvCxnSpPr/>
          <p:nvPr>
            <p:custDataLst>
              <p:tags r:id="rId9"/>
            </p:custDataLst>
          </p:nvPr>
        </p:nvCxnSpPr>
        <p:spPr>
          <a:xfrm>
            <a:off x="2351377" y="1217165"/>
            <a:ext cx="279055" cy="443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tângulo 52"/>
          <p:cNvSpPr/>
          <p:nvPr>
            <p:custDataLst>
              <p:tags r:id="rId10"/>
            </p:custDataLst>
          </p:nvPr>
        </p:nvSpPr>
        <p:spPr>
          <a:xfrm>
            <a:off x="4058207" y="933634"/>
            <a:ext cx="1255321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Entender o Processo de Negócio e desenhar diagrama de sequência</a:t>
            </a:r>
          </a:p>
        </p:txBody>
      </p:sp>
      <p:cxnSp>
        <p:nvCxnSpPr>
          <p:cNvPr id="54" name="Conector de seta reta 53"/>
          <p:cNvCxnSpPr>
            <a:stCxn id="53" idx="3"/>
            <a:endCxn id="33" idx="1"/>
          </p:cNvCxnSpPr>
          <p:nvPr>
            <p:custDataLst>
              <p:tags r:id="rId11"/>
            </p:custDataLst>
          </p:nvPr>
        </p:nvCxnSpPr>
        <p:spPr>
          <a:xfrm>
            <a:off x="5313528" y="1212634"/>
            <a:ext cx="199918" cy="5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ipse 54"/>
          <p:cNvSpPr/>
          <p:nvPr>
            <p:custDataLst>
              <p:tags r:id="rId12"/>
            </p:custDataLst>
          </p:nvPr>
        </p:nvSpPr>
        <p:spPr>
          <a:xfrm>
            <a:off x="8507660" y="1104632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5</a:t>
            </a:r>
          </a:p>
        </p:txBody>
      </p:sp>
      <p:cxnSp>
        <p:nvCxnSpPr>
          <p:cNvPr id="56" name="Conector de seta reta 55"/>
          <p:cNvCxnSpPr>
            <a:stCxn id="33" idx="3"/>
            <a:endCxn id="34" idx="1"/>
          </p:cNvCxnSpPr>
          <p:nvPr>
            <p:custDataLst>
              <p:tags r:id="rId13"/>
            </p:custDataLst>
          </p:nvPr>
        </p:nvCxnSpPr>
        <p:spPr>
          <a:xfrm flipV="1">
            <a:off x="6768769" y="1212634"/>
            <a:ext cx="188498" cy="5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tângulo 33"/>
          <p:cNvSpPr/>
          <p:nvPr>
            <p:custDataLst>
              <p:tags r:id="rId14"/>
            </p:custDataLst>
          </p:nvPr>
        </p:nvSpPr>
        <p:spPr>
          <a:xfrm>
            <a:off x="6957267" y="933634"/>
            <a:ext cx="1255321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Elaborar Matriz de Requisitos</a:t>
            </a:r>
          </a:p>
        </p:txBody>
      </p:sp>
      <p:cxnSp>
        <p:nvCxnSpPr>
          <p:cNvPr id="8" name="Conector de seta reta 7"/>
          <p:cNvCxnSpPr>
            <a:stCxn id="34" idx="3"/>
            <a:endCxn id="55" idx="2"/>
          </p:cNvCxnSpPr>
          <p:nvPr/>
        </p:nvCxnSpPr>
        <p:spPr>
          <a:xfrm>
            <a:off x="8212586" y="1212632"/>
            <a:ext cx="29507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>
            <p:custDataLst>
              <p:tags r:id="rId15"/>
            </p:custDataLst>
          </p:nvPr>
        </p:nvSpPr>
        <p:spPr>
          <a:xfrm>
            <a:off x="8013955" y="1606464"/>
            <a:ext cx="720080" cy="34624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800" dirty="0">
                <a:cs typeface="Arial" pitchFamily="34" charset="0"/>
              </a:rPr>
              <a:t>Matriz de Requisitos</a:t>
            </a:r>
          </a:p>
        </p:txBody>
      </p:sp>
      <p:sp>
        <p:nvSpPr>
          <p:cNvPr id="47" name="Fluxograma: Documento 46"/>
          <p:cNvSpPr/>
          <p:nvPr>
            <p:custDataLst>
              <p:tags r:id="rId16"/>
            </p:custDataLst>
          </p:nvPr>
        </p:nvSpPr>
        <p:spPr>
          <a:xfrm>
            <a:off x="7913570" y="1418574"/>
            <a:ext cx="360000" cy="235079"/>
          </a:xfrm>
          <a:prstGeom prst="flowChartDocumen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  <a:cs typeface="Arial" pitchFamily="34" charset="0"/>
              </a:rPr>
              <a:t>M.R.</a:t>
            </a:r>
          </a:p>
        </p:txBody>
      </p:sp>
      <p:sp>
        <p:nvSpPr>
          <p:cNvPr id="37" name="Retângulo 36"/>
          <p:cNvSpPr/>
          <p:nvPr>
            <p:custDataLst>
              <p:tags r:id="rId17"/>
            </p:custDataLst>
          </p:nvPr>
        </p:nvSpPr>
        <p:spPr>
          <a:xfrm>
            <a:off x="1151620" y="941947"/>
            <a:ext cx="1214336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Identificar GRP que irá conduzir a demanda</a:t>
            </a:r>
          </a:p>
        </p:txBody>
      </p:sp>
      <p:cxnSp>
        <p:nvCxnSpPr>
          <p:cNvPr id="12" name="Conector de seta reta 11"/>
          <p:cNvCxnSpPr>
            <a:stCxn id="51" idx="6"/>
            <a:endCxn id="37" idx="1"/>
          </p:cNvCxnSpPr>
          <p:nvPr/>
        </p:nvCxnSpPr>
        <p:spPr>
          <a:xfrm>
            <a:off x="917572" y="1217163"/>
            <a:ext cx="234050" cy="37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677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7000843" y="125220"/>
            <a:ext cx="294134" cy="403540"/>
            <a:chOff x="657697" y="1112825"/>
            <a:chExt cx="443952" cy="606995"/>
          </a:xfrm>
        </p:grpSpPr>
        <p:pic>
          <p:nvPicPr>
            <p:cNvPr id="13" name="Picture 18" descr="E:\Users\br93163\Downloads\Icones\thumb-down-3x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49" y="141502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9" descr="E:\Users\br93163\Downloads\Icones\thumb-up-3x.png"/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697" y="111282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Grupo 28"/>
          <p:cNvGrpSpPr/>
          <p:nvPr/>
        </p:nvGrpSpPr>
        <p:grpSpPr>
          <a:xfrm>
            <a:off x="6886534" y="75323"/>
            <a:ext cx="477026" cy="481253"/>
            <a:chOff x="522499" y="771550"/>
            <a:chExt cx="720000" cy="720000"/>
          </a:xfrm>
        </p:grpSpPr>
        <p:sp>
          <p:nvSpPr>
            <p:cNvPr id="30" name="Elipse 29"/>
            <p:cNvSpPr/>
            <p:nvPr/>
          </p:nvSpPr>
          <p:spPr bwMode="auto">
            <a:xfrm>
              <a:off x="522499" y="771550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31" name="Picture 8" descr="E:\Users\br93163\Downloads\Icones\pencil32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922" y="913770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CaixaDeTexto 31"/>
          <p:cNvSpPr txBox="1"/>
          <p:nvPr/>
        </p:nvSpPr>
        <p:spPr>
          <a:xfrm>
            <a:off x="7376309" y="59654"/>
            <a:ext cx="1718868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Escrever demanda </a:t>
            </a:r>
          </a:p>
          <a:p>
            <a:r>
              <a:rPr lang="pt-BR" sz="1600" dirty="0">
                <a:latin typeface="Gill Sans Std Light" pitchFamily="34" charset="0"/>
              </a:rPr>
              <a:t>e requerimentos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06515" y="906567"/>
            <a:ext cx="8640960" cy="286232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Matriz de Requisitos</a:t>
            </a:r>
          </a:p>
          <a:p>
            <a:endParaRPr lang="pt-BR" dirty="0"/>
          </a:p>
          <a:p>
            <a:r>
              <a:rPr lang="pt-BR" dirty="0" smtClean="0"/>
              <a:t>Serve para identificar e documentar todas as necessidades do negócio, as transformando em requisitos funcionais e não funcionais. Além disso, explicita aquilo que não está dentro do escopo da demanda.</a:t>
            </a:r>
          </a:p>
          <a:p>
            <a:endParaRPr lang="pt-BR" dirty="0"/>
          </a:p>
          <a:p>
            <a:r>
              <a:rPr lang="pt-BR" dirty="0" smtClean="0"/>
              <a:t>Nesse primeiro preenchimento do documento,  devem ser preenchidas as abas Requisitos Funcionais,  Requisitos Não Funcionais, Fora do Escopo e Diagrama de Sequência.</a:t>
            </a:r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942838"/>
              </p:ext>
            </p:extLst>
          </p:nvPr>
        </p:nvGraphicFramePr>
        <p:xfrm>
          <a:off x="7266048" y="3876896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9" name="Worksheet" showAsIcon="1" r:id="rId6" imgW="914400" imgH="771480" progId="Excel.Sheet.12">
                  <p:link updateAutomatic="1"/>
                </p:oleObj>
              </mc:Choice>
              <mc:Fallback>
                <p:oleObj name="Worksheet" showAsIcon="1" r:id="rId6" imgW="914400" imgH="77148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266048" y="3876896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1933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7000843" y="125220"/>
            <a:ext cx="294134" cy="403540"/>
            <a:chOff x="657697" y="1112825"/>
            <a:chExt cx="443952" cy="606995"/>
          </a:xfrm>
        </p:grpSpPr>
        <p:pic>
          <p:nvPicPr>
            <p:cNvPr id="13" name="Picture 18" descr="E:\Users\br93163\Downloads\Icones\thumb-down-3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49" y="141502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9" descr="E:\Users\br93163\Downloads\Icones\thumb-up-3x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697" y="111282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Grupo 28"/>
          <p:cNvGrpSpPr/>
          <p:nvPr/>
        </p:nvGrpSpPr>
        <p:grpSpPr>
          <a:xfrm>
            <a:off x="6886534" y="75323"/>
            <a:ext cx="477026" cy="481253"/>
            <a:chOff x="522499" y="771550"/>
            <a:chExt cx="720000" cy="720000"/>
          </a:xfrm>
        </p:grpSpPr>
        <p:sp>
          <p:nvSpPr>
            <p:cNvPr id="30" name="Elipse 29"/>
            <p:cNvSpPr/>
            <p:nvPr/>
          </p:nvSpPr>
          <p:spPr bwMode="auto">
            <a:xfrm>
              <a:off x="522499" y="771550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31" name="Picture 8" descr="E:\Users\br93163\Downloads\Icones\pencil32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922" y="913770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CaixaDeTexto 31"/>
          <p:cNvSpPr txBox="1"/>
          <p:nvPr/>
        </p:nvSpPr>
        <p:spPr>
          <a:xfrm>
            <a:off x="7376309" y="59654"/>
            <a:ext cx="1718868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Escrever demanda </a:t>
            </a:r>
          </a:p>
          <a:p>
            <a:r>
              <a:rPr lang="pt-BR" sz="1600" dirty="0">
                <a:latin typeface="Gill Sans Std Light" pitchFamily="34" charset="0"/>
              </a:rPr>
              <a:t>e requerimentos</a:t>
            </a:r>
          </a:p>
        </p:txBody>
      </p:sp>
      <p:pic>
        <p:nvPicPr>
          <p:cNvPr id="1053" name="Picture 2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605" y="2071891"/>
            <a:ext cx="222885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Seta para a direita 16"/>
          <p:cNvSpPr/>
          <p:nvPr/>
        </p:nvSpPr>
        <p:spPr>
          <a:xfrm rot="10800000">
            <a:off x="2700324" y="2906888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2747701" y="2891340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pic>
        <p:nvPicPr>
          <p:cNvPr id="1054" name="Picture 3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48" y="3426845"/>
            <a:ext cx="4229100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Seta para a direita 18"/>
          <p:cNvSpPr/>
          <p:nvPr/>
        </p:nvSpPr>
        <p:spPr>
          <a:xfrm rot="10800000">
            <a:off x="3645543" y="4148228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3692919" y="4132680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pic>
        <p:nvPicPr>
          <p:cNvPr id="1055" name="Picture 3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25" y="608033"/>
            <a:ext cx="4391025" cy="122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56" name="Picture 32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" t="18476" r="30001" b="31454"/>
          <a:stretch/>
        </p:blipFill>
        <p:spPr bwMode="auto">
          <a:xfrm>
            <a:off x="4325259" y="1940854"/>
            <a:ext cx="4769920" cy="2341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Seta para a direita 24"/>
          <p:cNvSpPr/>
          <p:nvPr/>
        </p:nvSpPr>
        <p:spPr>
          <a:xfrm rot="5400000">
            <a:off x="1838548" y="4199216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1851532" y="4176712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3</a:t>
            </a:r>
          </a:p>
        </p:txBody>
      </p:sp>
      <p:sp>
        <p:nvSpPr>
          <p:cNvPr id="27" name="Seta para a direita 26"/>
          <p:cNvSpPr/>
          <p:nvPr/>
        </p:nvSpPr>
        <p:spPr>
          <a:xfrm rot="5400000">
            <a:off x="8699476" y="3431248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8" name="CaixaDeTexto 27"/>
          <p:cNvSpPr txBox="1"/>
          <p:nvPr/>
        </p:nvSpPr>
        <p:spPr>
          <a:xfrm>
            <a:off x="8712460" y="3408744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81774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7000843" y="125220"/>
            <a:ext cx="294134" cy="403540"/>
            <a:chOff x="657697" y="1112825"/>
            <a:chExt cx="443952" cy="606995"/>
          </a:xfrm>
        </p:grpSpPr>
        <p:pic>
          <p:nvPicPr>
            <p:cNvPr id="13" name="Picture 18" descr="E:\Users\br93163\Downloads\Icones\thumb-down-3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49" y="141502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9" descr="E:\Users\br93163\Downloads\Icones\thumb-up-3x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697" y="111282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Grupo 28"/>
          <p:cNvGrpSpPr/>
          <p:nvPr/>
        </p:nvGrpSpPr>
        <p:grpSpPr>
          <a:xfrm>
            <a:off x="6886534" y="75323"/>
            <a:ext cx="477026" cy="481253"/>
            <a:chOff x="522499" y="771550"/>
            <a:chExt cx="720000" cy="720000"/>
          </a:xfrm>
        </p:grpSpPr>
        <p:sp>
          <p:nvSpPr>
            <p:cNvPr id="30" name="Elipse 29"/>
            <p:cNvSpPr/>
            <p:nvPr/>
          </p:nvSpPr>
          <p:spPr bwMode="auto">
            <a:xfrm>
              <a:off x="522499" y="771550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31" name="Picture 8" descr="E:\Users\br93163\Downloads\Icones\pencil32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922" y="913770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CaixaDeTexto 31"/>
          <p:cNvSpPr txBox="1"/>
          <p:nvPr/>
        </p:nvSpPr>
        <p:spPr>
          <a:xfrm>
            <a:off x="7376309" y="59654"/>
            <a:ext cx="1718868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Escrever demanda </a:t>
            </a:r>
          </a:p>
          <a:p>
            <a:r>
              <a:rPr lang="pt-BR" sz="1600" dirty="0">
                <a:latin typeface="Gill Sans Std Light" pitchFamily="34" charset="0"/>
              </a:rPr>
              <a:t>e requerimentos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75" y="726545"/>
            <a:ext cx="3407054" cy="107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8" y="1876181"/>
            <a:ext cx="22764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570" y="795293"/>
            <a:ext cx="5463943" cy="274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Seta para a direita 32"/>
          <p:cNvSpPr/>
          <p:nvPr/>
        </p:nvSpPr>
        <p:spPr>
          <a:xfrm rot="10800000">
            <a:off x="1871700" y="2762938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919077" y="2747389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5293383" y="951572"/>
            <a:ext cx="2284126" cy="1348437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O GRP deve preencher o Checklist TD da demanda e anexar o Documento de Requerimentos para que o processo siga para próxima etapa</a:t>
            </a:r>
          </a:p>
        </p:txBody>
      </p:sp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46" y="3201821"/>
            <a:ext cx="2447925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" name="Retângulo 35"/>
          <p:cNvSpPr/>
          <p:nvPr/>
        </p:nvSpPr>
        <p:spPr>
          <a:xfrm>
            <a:off x="161512" y="3577101"/>
            <a:ext cx="3195355" cy="1379915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Você pode salvar as alterações a qualquer momento enquanto estiver preenchendo o checklist TD. O processo só seguirá quando o item de ação referente ao checklist for concluído.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362" y="3746356"/>
            <a:ext cx="36576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Seta para a direita 19"/>
          <p:cNvSpPr/>
          <p:nvPr/>
        </p:nvSpPr>
        <p:spPr>
          <a:xfrm rot="10800000">
            <a:off x="6388069" y="4022583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6435445" y="4007035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3514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de seta reta 65"/>
          <p:cNvCxnSpPr/>
          <p:nvPr/>
        </p:nvCxnSpPr>
        <p:spPr>
          <a:xfrm>
            <a:off x="791580" y="2664673"/>
            <a:ext cx="8352420" cy="0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841679"/>
              </p:ext>
            </p:extLst>
          </p:nvPr>
        </p:nvGraphicFramePr>
        <p:xfrm>
          <a:off x="926599" y="1089500"/>
          <a:ext cx="1566174" cy="2830721"/>
        </p:xfrm>
        <a:graphic>
          <a:graphicData uri="http://schemas.openxmlformats.org/drawingml/2006/table">
            <a:tbl>
              <a:tblPr/>
              <a:tblGrid>
                <a:gridCol w="522058"/>
                <a:gridCol w="522058"/>
                <a:gridCol w="522058"/>
              </a:tblGrid>
              <a:tr h="1572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Briefing </a:t>
                      </a: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Diagrama de Sequência (Processo Negócio)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Matriz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Requisitos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58459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66" name="Group 85"/>
          <p:cNvGrpSpPr/>
          <p:nvPr/>
        </p:nvGrpSpPr>
        <p:grpSpPr>
          <a:xfrm>
            <a:off x="1241632" y="456517"/>
            <a:ext cx="405025" cy="587978"/>
            <a:chOff x="2527833" y="678627"/>
            <a:chExt cx="405025" cy="587978"/>
          </a:xfrm>
        </p:grpSpPr>
        <p:sp>
          <p:nvSpPr>
            <p:cNvPr id="70" name="CaixaDeTexto 53"/>
            <p:cNvSpPr txBox="1"/>
            <p:nvPr/>
          </p:nvSpPr>
          <p:spPr>
            <a:xfrm>
              <a:off x="2527833" y="678627"/>
              <a:ext cx="4050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Prior</a:t>
              </a:r>
            </a:p>
            <a:p>
              <a:r>
                <a:rPr lang="pt-BR" sz="800" dirty="0"/>
                <a:t>Dem.</a:t>
              </a:r>
            </a:p>
          </p:txBody>
        </p:sp>
        <p:pic>
          <p:nvPicPr>
            <p:cNvPr id="71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4539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40" name="Group 88"/>
          <p:cNvGrpSpPr/>
          <p:nvPr/>
        </p:nvGrpSpPr>
        <p:grpSpPr>
          <a:xfrm>
            <a:off x="2119141" y="2822315"/>
            <a:ext cx="323621" cy="205203"/>
            <a:chOff x="1849113" y="2976795"/>
            <a:chExt cx="323621" cy="205203"/>
          </a:xfrm>
        </p:grpSpPr>
        <p:pic>
          <p:nvPicPr>
            <p:cNvPr id="41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9113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CaixaDeTexto 41"/>
            <p:cNvSpPr txBox="1"/>
            <p:nvPr/>
          </p:nvSpPr>
          <p:spPr>
            <a:xfrm>
              <a:off x="1898300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95" name="Grupo 31"/>
          <p:cNvGrpSpPr/>
          <p:nvPr/>
        </p:nvGrpSpPr>
        <p:grpSpPr>
          <a:xfrm>
            <a:off x="73948" y="3166399"/>
            <a:ext cx="9070052" cy="710498"/>
            <a:chOff x="71500" y="2796775"/>
            <a:chExt cx="7811574" cy="710498"/>
          </a:xfrm>
        </p:grpSpPr>
        <p:sp>
          <p:nvSpPr>
            <p:cNvPr id="96" name="CaixaDeTexto 2"/>
            <p:cNvSpPr txBox="1"/>
            <p:nvPr/>
          </p:nvSpPr>
          <p:spPr>
            <a:xfrm>
              <a:off x="71500" y="2873488"/>
              <a:ext cx="6960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rgbClr val="0070C0"/>
                  </a:solidFill>
                </a:rPr>
                <a:t>Atuação</a:t>
              </a:r>
            </a:p>
          </p:txBody>
        </p:sp>
        <p:cxnSp>
          <p:nvCxnSpPr>
            <p:cNvPr id="97" name="Conector reto 25"/>
            <p:cNvCxnSpPr/>
            <p:nvPr/>
          </p:nvCxnSpPr>
          <p:spPr>
            <a:xfrm>
              <a:off x="135801" y="2796775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to 113"/>
            <p:cNvCxnSpPr/>
            <p:nvPr/>
          </p:nvCxnSpPr>
          <p:spPr>
            <a:xfrm>
              <a:off x="161510" y="3507273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CaixaDeTexto 98"/>
          <p:cNvSpPr txBox="1"/>
          <p:nvPr/>
        </p:nvSpPr>
        <p:spPr>
          <a:xfrm>
            <a:off x="959664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0" name="CaixaDeTexto 99"/>
          <p:cNvSpPr txBox="1"/>
          <p:nvPr/>
        </p:nvSpPr>
        <p:spPr>
          <a:xfrm>
            <a:off x="1499724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1" name="CaixaDeTexto 100"/>
          <p:cNvSpPr txBox="1"/>
          <p:nvPr/>
        </p:nvSpPr>
        <p:spPr>
          <a:xfrm>
            <a:off x="1994781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</p:spTree>
    <p:extLst>
      <p:ext uri="{BB962C8B-B14F-4D97-AF65-F5344CB8AC3E}">
        <p14:creationId xmlns:p14="http://schemas.microsoft.com/office/powerpoint/2010/main" val="130144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5" y="1061334"/>
            <a:ext cx="9089567" cy="4030696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2591782" y="1197538"/>
            <a:ext cx="495055" cy="4950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7394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446369"/>
              </p:ext>
            </p:extLst>
          </p:nvPr>
        </p:nvGraphicFramePr>
        <p:xfrm>
          <a:off x="1736686" y="636536"/>
          <a:ext cx="7155794" cy="4410489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125124"/>
                <a:gridCol w="6030670"/>
              </a:tblGrid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O que é</a:t>
                      </a:r>
                      <a:endParaRPr lang="pt-BR" sz="1800" dirty="0"/>
                    </a:p>
                  </a:txBody>
                  <a:tcPr>
                    <a:solidFill>
                      <a:srgbClr val="004F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Realizar a validação da demanda tanto com</a:t>
                      </a:r>
                      <a:r>
                        <a:rPr lang="pt-BR" sz="1800" baseline="0" dirty="0" smtClean="0"/>
                        <a:t> o solicitante quanto com o time de Tecnologia Digital para avaliar se o entendimento está correto e os requisitos estão claros e bem documentados</a:t>
                      </a:r>
                      <a:endParaRPr lang="pt-BR" sz="1800" dirty="0"/>
                    </a:p>
                  </a:txBody>
                  <a:tcPr/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Quem faz</a:t>
                      </a:r>
                      <a:endParaRPr lang="pt-BR" sz="1800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GRP</a:t>
                      </a:r>
                      <a:r>
                        <a:rPr lang="pt-BR" sz="1800" baseline="0" dirty="0" smtClean="0"/>
                        <a:t> + DA ou Arquitetura ou Infraestrutura</a:t>
                      </a:r>
                      <a:endParaRPr lang="pt-BR" sz="1800" dirty="0"/>
                    </a:p>
                  </a:txBody>
                  <a:tcPr/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Como faz</a:t>
                      </a:r>
                      <a:endParaRPr lang="pt-BR" sz="18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GRP através da validação da Matriz de Requisitos</a:t>
                      </a:r>
                      <a:r>
                        <a:rPr lang="pt-BR" sz="1800" baseline="0" dirty="0" smtClean="0"/>
                        <a:t> com o solicitante da demanda. DA e Arquitetura através da avaliação da Matriz de Requisitos enviada por fluxo no Clarity</a:t>
                      </a:r>
                      <a:endParaRPr lang="pt-BR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CaixaDeTexto 7"/>
          <p:cNvSpPr txBox="1"/>
          <p:nvPr/>
        </p:nvSpPr>
        <p:spPr>
          <a:xfrm>
            <a:off x="404785" y="1581932"/>
            <a:ext cx="926857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r"/>
            <a:r>
              <a:rPr lang="pt-BR" sz="1600" dirty="0">
                <a:latin typeface="Gill Sans Std Light" pitchFamily="34" charset="0"/>
              </a:rPr>
              <a:t>Validar </a:t>
            </a:r>
          </a:p>
          <a:p>
            <a:pPr algn="r"/>
            <a:r>
              <a:rPr lang="pt-BR" sz="1600" dirty="0">
                <a:latin typeface="Gill Sans Std Light" pitchFamily="34" charset="0"/>
              </a:rPr>
              <a:t>demanda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565200" y="802800"/>
            <a:ext cx="720000" cy="720000"/>
            <a:chOff x="499933" y="726545"/>
            <a:chExt cx="720000" cy="720000"/>
          </a:xfrm>
        </p:grpSpPr>
        <p:sp>
          <p:nvSpPr>
            <p:cNvPr id="7" name="Elipse 6"/>
            <p:cNvSpPr/>
            <p:nvPr/>
          </p:nvSpPr>
          <p:spPr bwMode="auto">
            <a:xfrm>
              <a:off x="499933" y="726545"/>
              <a:ext cx="720000" cy="720000"/>
            </a:xfrm>
            <a:prstGeom prst="ellipse">
              <a:avLst/>
            </a:prstGeom>
            <a:solidFill>
              <a:schemeClr val="bg1"/>
            </a:solidFill>
            <a:ln w="762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9" name="Picture 7" descr="E:\Users\br93163\Downloads\Icones\linedpapercheck32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364" y="883345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3633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 de cantos arredondados 59"/>
          <p:cNvSpPr/>
          <p:nvPr>
            <p:custDataLst>
              <p:tags r:id="rId1"/>
            </p:custDataLst>
          </p:nvPr>
        </p:nvSpPr>
        <p:spPr>
          <a:xfrm>
            <a:off x="239538" y="3967025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59" name="Retângulo de cantos arredondados 58"/>
          <p:cNvSpPr/>
          <p:nvPr>
            <p:custDataLst>
              <p:tags r:id="rId2"/>
            </p:custDataLst>
          </p:nvPr>
        </p:nvSpPr>
        <p:spPr>
          <a:xfrm>
            <a:off x="239538" y="2886887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58" name="Retângulo de cantos arredondados 57"/>
          <p:cNvSpPr/>
          <p:nvPr>
            <p:custDataLst>
              <p:tags r:id="rId3"/>
            </p:custDataLst>
          </p:nvPr>
        </p:nvSpPr>
        <p:spPr>
          <a:xfrm>
            <a:off x="239538" y="1811978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7000843" y="125220"/>
            <a:ext cx="294134" cy="403540"/>
            <a:chOff x="657697" y="1112825"/>
            <a:chExt cx="443952" cy="606995"/>
          </a:xfrm>
        </p:grpSpPr>
        <p:pic>
          <p:nvPicPr>
            <p:cNvPr id="13" name="Picture 18" descr="E:\Users\br93163\Downloads\Icones\thumb-down-3x.png"/>
            <p:cNvPicPr>
              <a:picLocks noChangeAspect="1" noChangeArrowheads="1"/>
            </p:cNvPicPr>
            <p:nvPr/>
          </p:nvPicPr>
          <p:blipFill>
            <a:blip r:embed="rId29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49" y="141502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9" descr="E:\Users\br93163\Downloads\Icones\thumb-up-3x.png"/>
            <p:cNvPicPr>
              <a:picLocks noChangeAspect="1" noChangeArrowheads="1"/>
            </p:cNvPicPr>
            <p:nvPr/>
          </p:nvPicPr>
          <p:blipFill>
            <a:blip r:embed="rId30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697" y="111282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Retângulo de cantos arredondados 8"/>
          <p:cNvSpPr/>
          <p:nvPr>
            <p:custDataLst>
              <p:tags r:id="rId4"/>
            </p:custDataLst>
          </p:nvPr>
        </p:nvSpPr>
        <p:spPr>
          <a:xfrm>
            <a:off x="239541" y="722780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10" name="Retângulo de cantos arredondados 9"/>
          <p:cNvSpPr/>
          <p:nvPr>
            <p:custDataLst>
              <p:tags r:id="rId5"/>
            </p:custDataLst>
          </p:nvPr>
        </p:nvSpPr>
        <p:spPr>
          <a:xfrm>
            <a:off x="239540" y="722780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cs typeface="Arial" pitchFamily="34" charset="0"/>
              </a:rPr>
              <a:t>GRP</a:t>
            </a:r>
          </a:p>
        </p:txBody>
      </p:sp>
      <p:sp>
        <p:nvSpPr>
          <p:cNvPr id="16" name="Retângulo de cantos arredondados 15"/>
          <p:cNvSpPr/>
          <p:nvPr>
            <p:custDataLst>
              <p:tags r:id="rId6"/>
            </p:custDataLst>
          </p:nvPr>
        </p:nvSpPr>
        <p:spPr>
          <a:xfrm>
            <a:off x="239540" y="1814564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FF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cs typeface="Arial" pitchFamily="34" charset="0"/>
              </a:rPr>
              <a:t>DA</a:t>
            </a:r>
          </a:p>
        </p:txBody>
      </p:sp>
      <p:sp>
        <p:nvSpPr>
          <p:cNvPr id="18" name="Retângulo de cantos arredondados 17"/>
          <p:cNvSpPr/>
          <p:nvPr>
            <p:custDataLst>
              <p:tags r:id="rId7"/>
            </p:custDataLst>
          </p:nvPr>
        </p:nvSpPr>
        <p:spPr>
          <a:xfrm>
            <a:off x="239540" y="2892059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00B05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cs typeface="Arial" pitchFamily="34" charset="0"/>
              </a:rPr>
              <a:t>Arquitetura Corporativa</a:t>
            </a:r>
          </a:p>
        </p:txBody>
      </p:sp>
      <p:sp>
        <p:nvSpPr>
          <p:cNvPr id="20" name="Retângulo de cantos arredondados 19"/>
          <p:cNvSpPr/>
          <p:nvPr>
            <p:custDataLst>
              <p:tags r:id="rId8"/>
            </p:custDataLst>
          </p:nvPr>
        </p:nvSpPr>
        <p:spPr>
          <a:xfrm>
            <a:off x="239540" y="3952820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FEEACB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cs typeface="Arial" pitchFamily="34" charset="0"/>
              </a:rPr>
              <a:t>Arquitetura de Infra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376309" y="162966"/>
            <a:ext cx="1522533" cy="338554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Validar demanda</a:t>
            </a:r>
          </a:p>
        </p:txBody>
      </p:sp>
      <p:sp>
        <p:nvSpPr>
          <p:cNvPr id="35" name="Retângulo 34"/>
          <p:cNvSpPr/>
          <p:nvPr>
            <p:custDataLst>
              <p:tags r:id="rId9"/>
            </p:custDataLst>
          </p:nvPr>
        </p:nvSpPr>
        <p:spPr>
          <a:xfrm>
            <a:off x="2630431" y="861562"/>
            <a:ext cx="1214336" cy="703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Enviar o Checklist da Demanda e a Matriz de Requisitos para Avaliação.</a:t>
            </a:r>
          </a:p>
        </p:txBody>
      </p:sp>
      <p:cxnSp>
        <p:nvCxnSpPr>
          <p:cNvPr id="39" name="Conector de seta reta 38"/>
          <p:cNvCxnSpPr>
            <a:stCxn id="35" idx="2"/>
            <a:endCxn id="36" idx="0"/>
          </p:cNvCxnSpPr>
          <p:nvPr>
            <p:custDataLst>
              <p:tags r:id="rId10"/>
            </p:custDataLst>
          </p:nvPr>
        </p:nvCxnSpPr>
        <p:spPr>
          <a:xfrm>
            <a:off x="3237598" y="1564798"/>
            <a:ext cx="0" cy="11166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>
            <p:custDataLst>
              <p:tags r:id="rId11"/>
            </p:custDataLst>
          </p:nvPr>
        </p:nvSpPr>
        <p:spPr>
          <a:xfrm>
            <a:off x="3653870" y="1542312"/>
            <a:ext cx="1053147" cy="34624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800" i="1" dirty="0">
                <a:cs typeface="Arial" pitchFamily="34" charset="0"/>
              </a:rPr>
              <a:t>Checklist </a:t>
            </a:r>
            <a:r>
              <a:rPr lang="pt-BR" sz="800" dirty="0">
                <a:cs typeface="Arial" pitchFamily="34" charset="0"/>
              </a:rPr>
              <a:t>da Demanda</a:t>
            </a:r>
          </a:p>
        </p:txBody>
      </p:sp>
      <p:sp>
        <p:nvSpPr>
          <p:cNvPr id="49" name="Fluxograma: Documento 48"/>
          <p:cNvSpPr/>
          <p:nvPr>
            <p:custDataLst>
              <p:tags r:id="rId12"/>
            </p:custDataLst>
          </p:nvPr>
        </p:nvSpPr>
        <p:spPr>
          <a:xfrm>
            <a:off x="3622758" y="1367586"/>
            <a:ext cx="396000" cy="235079"/>
          </a:xfrm>
          <a:prstGeom prst="flowChartDocumen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  <a:cs typeface="Arial" pitchFamily="34" charset="0"/>
              </a:rPr>
              <a:t>C. D.</a:t>
            </a:r>
          </a:p>
        </p:txBody>
      </p:sp>
      <p:sp>
        <p:nvSpPr>
          <p:cNvPr id="51" name="Elipse 50"/>
          <p:cNvSpPr/>
          <p:nvPr>
            <p:custDataLst>
              <p:tags r:id="rId13"/>
            </p:custDataLst>
          </p:nvPr>
        </p:nvSpPr>
        <p:spPr>
          <a:xfrm>
            <a:off x="701570" y="1109163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4</a:t>
            </a:r>
          </a:p>
        </p:txBody>
      </p:sp>
      <p:cxnSp>
        <p:nvCxnSpPr>
          <p:cNvPr id="52" name="Conector de seta reta 51"/>
          <p:cNvCxnSpPr/>
          <p:nvPr>
            <p:custDataLst>
              <p:tags r:id="rId14"/>
            </p:custDataLst>
          </p:nvPr>
        </p:nvCxnSpPr>
        <p:spPr>
          <a:xfrm>
            <a:off x="2351377" y="1217165"/>
            <a:ext cx="279055" cy="443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tângulo 52"/>
          <p:cNvSpPr/>
          <p:nvPr>
            <p:custDataLst>
              <p:tags r:id="rId15"/>
            </p:custDataLst>
          </p:nvPr>
        </p:nvSpPr>
        <p:spPr>
          <a:xfrm>
            <a:off x="2610832" y="2075566"/>
            <a:ext cx="1255321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Definir Responsável Pela Demanda</a:t>
            </a:r>
          </a:p>
        </p:txBody>
      </p:sp>
      <p:sp>
        <p:nvSpPr>
          <p:cNvPr id="55" name="Elipse 54"/>
          <p:cNvSpPr/>
          <p:nvPr>
            <p:custDataLst>
              <p:tags r:id="rId16"/>
            </p:custDataLst>
          </p:nvPr>
        </p:nvSpPr>
        <p:spPr>
          <a:xfrm>
            <a:off x="6259381" y="1703978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6</a:t>
            </a:r>
          </a:p>
        </p:txBody>
      </p:sp>
      <p:sp>
        <p:nvSpPr>
          <p:cNvPr id="48" name="CaixaDeTexto 47"/>
          <p:cNvSpPr txBox="1"/>
          <p:nvPr>
            <p:custDataLst>
              <p:tags r:id="rId17"/>
            </p:custDataLst>
          </p:nvPr>
        </p:nvSpPr>
        <p:spPr>
          <a:xfrm>
            <a:off x="4301098" y="1544505"/>
            <a:ext cx="720080" cy="34624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800" dirty="0">
                <a:cs typeface="Arial" pitchFamily="34" charset="0"/>
              </a:rPr>
              <a:t>Matriz de Requisitos</a:t>
            </a:r>
          </a:p>
        </p:txBody>
      </p:sp>
      <p:sp>
        <p:nvSpPr>
          <p:cNvPr id="47" name="Fluxograma: Documento 46"/>
          <p:cNvSpPr/>
          <p:nvPr>
            <p:custDataLst>
              <p:tags r:id="rId18"/>
            </p:custDataLst>
          </p:nvPr>
        </p:nvSpPr>
        <p:spPr>
          <a:xfrm>
            <a:off x="4200711" y="1356617"/>
            <a:ext cx="360000" cy="235079"/>
          </a:xfrm>
          <a:prstGeom prst="flowChartDocumen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  <a:cs typeface="Arial" pitchFamily="34" charset="0"/>
              </a:rPr>
              <a:t>M.R.</a:t>
            </a:r>
          </a:p>
        </p:txBody>
      </p:sp>
      <p:sp>
        <p:nvSpPr>
          <p:cNvPr id="37" name="Retângulo 36"/>
          <p:cNvSpPr/>
          <p:nvPr>
            <p:custDataLst>
              <p:tags r:id="rId19"/>
            </p:custDataLst>
          </p:nvPr>
        </p:nvSpPr>
        <p:spPr>
          <a:xfrm>
            <a:off x="1151620" y="941947"/>
            <a:ext cx="1214336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Validar Matriz de Requisitos com o Solicitante</a:t>
            </a:r>
          </a:p>
        </p:txBody>
      </p:sp>
      <p:cxnSp>
        <p:nvCxnSpPr>
          <p:cNvPr id="12" name="Conector de seta reta 11"/>
          <p:cNvCxnSpPr>
            <a:stCxn id="51" idx="6"/>
            <a:endCxn id="37" idx="1"/>
          </p:cNvCxnSpPr>
          <p:nvPr/>
        </p:nvCxnSpPr>
        <p:spPr>
          <a:xfrm>
            <a:off x="917572" y="1217163"/>
            <a:ext cx="234050" cy="37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Losango 35"/>
          <p:cNvSpPr/>
          <p:nvPr/>
        </p:nvSpPr>
        <p:spPr>
          <a:xfrm>
            <a:off x="3093598" y="1676460"/>
            <a:ext cx="288000" cy="28800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OU</a:t>
            </a:r>
          </a:p>
        </p:txBody>
      </p:sp>
      <p:cxnSp>
        <p:nvCxnSpPr>
          <p:cNvPr id="22" name="Conector angulado 21"/>
          <p:cNvCxnSpPr>
            <a:endCxn id="44" idx="1"/>
          </p:cNvCxnSpPr>
          <p:nvPr/>
        </p:nvCxnSpPr>
        <p:spPr>
          <a:xfrm rot="5400000">
            <a:off x="2061235" y="2385513"/>
            <a:ext cx="1597417" cy="467314"/>
          </a:xfrm>
          <a:prstGeom prst="bentConnector4">
            <a:avLst>
              <a:gd name="adj1" fmla="val 225"/>
              <a:gd name="adj2" fmla="val 148918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angulado 24"/>
          <p:cNvCxnSpPr>
            <a:stCxn id="36" idx="1"/>
            <a:endCxn id="45" idx="1"/>
          </p:cNvCxnSpPr>
          <p:nvPr/>
        </p:nvCxnSpPr>
        <p:spPr>
          <a:xfrm rot="10800000" flipV="1">
            <a:off x="2641738" y="1820460"/>
            <a:ext cx="451860" cy="2660730"/>
          </a:xfrm>
          <a:prstGeom prst="bentConnector3">
            <a:avLst>
              <a:gd name="adj1" fmla="val 1525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angulado 49"/>
          <p:cNvCxnSpPr>
            <a:endCxn id="53" idx="1"/>
          </p:cNvCxnSpPr>
          <p:nvPr/>
        </p:nvCxnSpPr>
        <p:spPr>
          <a:xfrm rot="5400000">
            <a:off x="2585162" y="1846129"/>
            <a:ext cx="534105" cy="482768"/>
          </a:xfrm>
          <a:prstGeom prst="bentConnector4">
            <a:avLst>
              <a:gd name="adj1" fmla="val -345"/>
              <a:gd name="adj2" fmla="val 145565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/>
          <p:cNvCxnSpPr/>
          <p:nvPr/>
        </p:nvCxnSpPr>
        <p:spPr>
          <a:xfrm>
            <a:off x="4481990" y="2633564"/>
            <a:ext cx="0" cy="505317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de seta reta 65"/>
          <p:cNvCxnSpPr/>
          <p:nvPr/>
        </p:nvCxnSpPr>
        <p:spPr>
          <a:xfrm>
            <a:off x="4481990" y="3700163"/>
            <a:ext cx="0" cy="505317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/>
          <p:nvPr/>
        </p:nvCxnSpPr>
        <p:spPr>
          <a:xfrm rot="10800000">
            <a:off x="5002924" y="3742340"/>
            <a:ext cx="0" cy="505317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tângulo 43"/>
          <p:cNvSpPr/>
          <p:nvPr>
            <p:custDataLst>
              <p:tags r:id="rId20"/>
            </p:custDataLst>
          </p:nvPr>
        </p:nvSpPr>
        <p:spPr>
          <a:xfrm>
            <a:off x="2626286" y="3138880"/>
            <a:ext cx="1255321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Definir Responsável Pela Demanda</a:t>
            </a:r>
          </a:p>
        </p:txBody>
      </p:sp>
      <p:sp>
        <p:nvSpPr>
          <p:cNvPr id="45" name="Retângulo 44"/>
          <p:cNvSpPr/>
          <p:nvPr>
            <p:custDataLst>
              <p:tags r:id="rId21"/>
            </p:custDataLst>
          </p:nvPr>
        </p:nvSpPr>
        <p:spPr>
          <a:xfrm>
            <a:off x="2641740" y="4202194"/>
            <a:ext cx="1255321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Definir Responsável Pela Demanda</a:t>
            </a:r>
          </a:p>
        </p:txBody>
      </p:sp>
      <p:cxnSp>
        <p:nvCxnSpPr>
          <p:cNvPr id="68" name="Conector de seta reta 67"/>
          <p:cNvCxnSpPr/>
          <p:nvPr/>
        </p:nvCxnSpPr>
        <p:spPr>
          <a:xfrm flipH="1" flipV="1">
            <a:off x="5022050" y="2661763"/>
            <a:ext cx="1818" cy="46962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upo 72"/>
          <p:cNvGrpSpPr/>
          <p:nvPr/>
        </p:nvGrpSpPr>
        <p:grpSpPr>
          <a:xfrm>
            <a:off x="6885654" y="78534"/>
            <a:ext cx="474826" cy="474826"/>
            <a:chOff x="499933" y="726545"/>
            <a:chExt cx="720000" cy="720000"/>
          </a:xfrm>
        </p:grpSpPr>
        <p:sp>
          <p:nvSpPr>
            <p:cNvPr id="74" name="Elipse 73"/>
            <p:cNvSpPr/>
            <p:nvPr/>
          </p:nvSpPr>
          <p:spPr bwMode="auto">
            <a:xfrm>
              <a:off x="499933" y="72654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75" name="Picture 7" descr="E:\Users\br93163\Downloads\Icones\linedpapercheck32.png"/>
            <p:cNvPicPr>
              <a:picLocks noChangeAspect="1" noChangeArrowheads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364" y="883345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7" name="Retângulo 76"/>
          <p:cNvSpPr/>
          <p:nvPr>
            <p:custDataLst>
              <p:tags r:id="rId22"/>
            </p:custDataLst>
          </p:nvPr>
        </p:nvSpPr>
        <p:spPr>
          <a:xfrm>
            <a:off x="5112062" y="933319"/>
            <a:ext cx="1255321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Revisar Matriz de Requisitos</a:t>
            </a:r>
          </a:p>
        </p:txBody>
      </p:sp>
      <p:sp>
        <p:nvSpPr>
          <p:cNvPr id="78" name="Losango 77"/>
          <p:cNvSpPr/>
          <p:nvPr/>
        </p:nvSpPr>
        <p:spPr>
          <a:xfrm>
            <a:off x="5595720" y="1656392"/>
            <a:ext cx="288000" cy="28800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OU</a:t>
            </a:r>
          </a:p>
        </p:txBody>
      </p:sp>
      <p:cxnSp>
        <p:nvCxnSpPr>
          <p:cNvPr id="80" name="Conector angulado 79"/>
          <p:cNvCxnSpPr>
            <a:stCxn id="91" idx="3"/>
            <a:endCxn id="78" idx="2"/>
          </p:cNvCxnSpPr>
          <p:nvPr/>
        </p:nvCxnSpPr>
        <p:spPr>
          <a:xfrm flipV="1">
            <a:off x="5377273" y="1944394"/>
            <a:ext cx="362449" cy="411301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angulado 81"/>
          <p:cNvCxnSpPr>
            <a:stCxn id="92" idx="3"/>
            <a:endCxn id="78" idx="2"/>
          </p:cNvCxnSpPr>
          <p:nvPr/>
        </p:nvCxnSpPr>
        <p:spPr>
          <a:xfrm flipV="1">
            <a:off x="5392727" y="1944392"/>
            <a:ext cx="346995" cy="1474614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angulado 83"/>
          <p:cNvCxnSpPr>
            <a:stCxn id="93" idx="3"/>
            <a:endCxn id="78" idx="2"/>
          </p:cNvCxnSpPr>
          <p:nvPr/>
        </p:nvCxnSpPr>
        <p:spPr>
          <a:xfrm flipV="1">
            <a:off x="5408181" y="1944394"/>
            <a:ext cx="331541" cy="2537927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de seta reta 85"/>
          <p:cNvCxnSpPr>
            <a:stCxn id="77" idx="1"/>
            <a:endCxn id="35" idx="3"/>
          </p:cNvCxnSpPr>
          <p:nvPr/>
        </p:nvCxnSpPr>
        <p:spPr>
          <a:xfrm flipH="1">
            <a:off x="3844767" y="1212318"/>
            <a:ext cx="1267294" cy="86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de seta reta 87"/>
          <p:cNvCxnSpPr>
            <a:stCxn id="78" idx="0"/>
            <a:endCxn id="77" idx="2"/>
          </p:cNvCxnSpPr>
          <p:nvPr/>
        </p:nvCxnSpPr>
        <p:spPr>
          <a:xfrm flipV="1">
            <a:off x="5739722" y="1491317"/>
            <a:ext cx="1" cy="1650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de seta reta 89"/>
          <p:cNvCxnSpPr>
            <a:stCxn id="78" idx="3"/>
            <a:endCxn id="55" idx="2"/>
          </p:cNvCxnSpPr>
          <p:nvPr/>
        </p:nvCxnSpPr>
        <p:spPr>
          <a:xfrm>
            <a:off x="5883722" y="1800392"/>
            <a:ext cx="375661" cy="115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tângulo 90"/>
          <p:cNvSpPr/>
          <p:nvPr>
            <p:custDataLst>
              <p:tags r:id="rId23"/>
            </p:custDataLst>
          </p:nvPr>
        </p:nvSpPr>
        <p:spPr>
          <a:xfrm>
            <a:off x="4121952" y="2076697"/>
            <a:ext cx="1255321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Avaliar Matriz de Requisitos</a:t>
            </a:r>
          </a:p>
        </p:txBody>
      </p:sp>
      <p:sp>
        <p:nvSpPr>
          <p:cNvPr id="92" name="Retângulo 91"/>
          <p:cNvSpPr/>
          <p:nvPr>
            <p:custDataLst>
              <p:tags r:id="rId24"/>
            </p:custDataLst>
          </p:nvPr>
        </p:nvSpPr>
        <p:spPr>
          <a:xfrm>
            <a:off x="4137406" y="3140008"/>
            <a:ext cx="1255321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Avaliar Matriz de Requisitos</a:t>
            </a:r>
          </a:p>
        </p:txBody>
      </p:sp>
      <p:sp>
        <p:nvSpPr>
          <p:cNvPr id="93" name="Retângulo 92"/>
          <p:cNvSpPr/>
          <p:nvPr>
            <p:custDataLst>
              <p:tags r:id="rId25"/>
            </p:custDataLst>
          </p:nvPr>
        </p:nvSpPr>
        <p:spPr>
          <a:xfrm>
            <a:off x="4152860" y="4203322"/>
            <a:ext cx="1255321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Avaliar Matriz de Requisitos</a:t>
            </a:r>
          </a:p>
        </p:txBody>
      </p:sp>
      <p:cxnSp>
        <p:nvCxnSpPr>
          <p:cNvPr id="98" name="Conector de seta reta 97"/>
          <p:cNvCxnSpPr>
            <a:stCxn id="53" idx="3"/>
            <a:endCxn id="91" idx="1"/>
          </p:cNvCxnSpPr>
          <p:nvPr/>
        </p:nvCxnSpPr>
        <p:spPr>
          <a:xfrm>
            <a:off x="3866153" y="2354566"/>
            <a:ext cx="255799" cy="11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de seta reta 98"/>
          <p:cNvCxnSpPr>
            <a:stCxn id="44" idx="3"/>
            <a:endCxn id="92" idx="1"/>
          </p:cNvCxnSpPr>
          <p:nvPr/>
        </p:nvCxnSpPr>
        <p:spPr>
          <a:xfrm>
            <a:off x="3881607" y="3417879"/>
            <a:ext cx="255799" cy="11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de seta reta 101"/>
          <p:cNvCxnSpPr>
            <a:stCxn id="45" idx="3"/>
            <a:endCxn id="93" idx="1"/>
          </p:cNvCxnSpPr>
          <p:nvPr/>
        </p:nvCxnSpPr>
        <p:spPr>
          <a:xfrm>
            <a:off x="3897061" y="4481192"/>
            <a:ext cx="255799" cy="11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ixaDeTexto 53"/>
          <p:cNvSpPr txBox="1"/>
          <p:nvPr>
            <p:custDataLst>
              <p:tags r:id="rId26"/>
            </p:custDataLst>
          </p:nvPr>
        </p:nvSpPr>
        <p:spPr>
          <a:xfrm>
            <a:off x="6372202" y="1364484"/>
            <a:ext cx="720080" cy="34624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800" dirty="0">
                <a:cs typeface="Arial" pitchFamily="34" charset="0"/>
              </a:rPr>
              <a:t>Matriz de Requisitos</a:t>
            </a:r>
          </a:p>
        </p:txBody>
      </p:sp>
      <p:sp>
        <p:nvSpPr>
          <p:cNvPr id="56" name="Fluxograma: Documento 55"/>
          <p:cNvSpPr/>
          <p:nvPr>
            <p:custDataLst>
              <p:tags r:id="rId27"/>
            </p:custDataLst>
          </p:nvPr>
        </p:nvSpPr>
        <p:spPr>
          <a:xfrm>
            <a:off x="6271815" y="1176597"/>
            <a:ext cx="360000" cy="235079"/>
          </a:xfrm>
          <a:prstGeom prst="flowChartDocumen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  <a:cs typeface="Arial" pitchFamily="34" charset="0"/>
              </a:rPr>
              <a:t>M.R.</a:t>
            </a:r>
          </a:p>
        </p:txBody>
      </p:sp>
    </p:spTree>
    <p:extLst>
      <p:ext uri="{BB962C8B-B14F-4D97-AF65-F5344CB8AC3E}">
        <p14:creationId xmlns:p14="http://schemas.microsoft.com/office/powerpoint/2010/main" val="11859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14" name="Rectangle 3"/>
          <p:cNvSpPr/>
          <p:nvPr/>
        </p:nvSpPr>
        <p:spPr>
          <a:xfrm>
            <a:off x="251520" y="1073474"/>
            <a:ext cx="4285318" cy="44644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1. Nova </a:t>
            </a:r>
            <a:r>
              <a:rPr lang="pt-BR" sz="1400" dirty="0"/>
              <a:t>Tecnologia</a:t>
            </a:r>
            <a:r>
              <a:rPr lang="en-US" sz="1400" dirty="0"/>
              <a:t> (Software Selection)</a:t>
            </a:r>
          </a:p>
        </p:txBody>
      </p:sp>
      <p:sp>
        <p:nvSpPr>
          <p:cNvPr id="15" name="Rectangle 4"/>
          <p:cNvSpPr/>
          <p:nvPr/>
        </p:nvSpPr>
        <p:spPr>
          <a:xfrm>
            <a:off x="251522" y="1615862"/>
            <a:ext cx="4285317" cy="44644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2. </a:t>
            </a:r>
            <a:r>
              <a:rPr lang="pt-BR" sz="1400" dirty="0"/>
              <a:t>Soluções</a:t>
            </a:r>
            <a:r>
              <a:rPr lang="en-US" sz="1400" dirty="0"/>
              <a:t> </a:t>
            </a:r>
            <a:r>
              <a:rPr lang="pt-BR" sz="1400" dirty="0"/>
              <a:t>que</a:t>
            </a:r>
            <a:r>
              <a:rPr lang="en-US" sz="1400" dirty="0"/>
              <a:t> </a:t>
            </a:r>
            <a:r>
              <a:rPr lang="pt-BR" sz="1400" dirty="0"/>
              <a:t>envolvam</a:t>
            </a:r>
            <a:r>
              <a:rPr lang="en-US" sz="1400" dirty="0"/>
              <a:t> 2 </a:t>
            </a:r>
            <a:r>
              <a:rPr lang="pt-BR" sz="1400" dirty="0"/>
              <a:t>ou</a:t>
            </a:r>
            <a:r>
              <a:rPr lang="en-US" sz="1400" dirty="0"/>
              <a:t> </a:t>
            </a:r>
            <a:r>
              <a:rPr lang="pt-BR" sz="1400" dirty="0"/>
              <a:t>mais</a:t>
            </a:r>
            <a:r>
              <a:rPr lang="en-US" sz="1400" dirty="0"/>
              <a:t> </a:t>
            </a:r>
            <a:r>
              <a:rPr lang="pt-BR" sz="1400" dirty="0"/>
              <a:t>plataformas</a:t>
            </a:r>
          </a:p>
        </p:txBody>
      </p:sp>
      <p:sp>
        <p:nvSpPr>
          <p:cNvPr id="16" name="Rectangle 6"/>
          <p:cNvSpPr/>
          <p:nvPr/>
        </p:nvSpPr>
        <p:spPr>
          <a:xfrm>
            <a:off x="251520" y="2179773"/>
            <a:ext cx="4285318" cy="44644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3. </a:t>
            </a:r>
            <a:r>
              <a:rPr lang="pt-BR" sz="1400" dirty="0"/>
              <a:t>Soluções</a:t>
            </a:r>
            <a:r>
              <a:rPr lang="en-US" sz="1400" dirty="0"/>
              <a:t> </a:t>
            </a:r>
            <a:r>
              <a:rPr lang="pt-BR" sz="1400" dirty="0"/>
              <a:t>que</a:t>
            </a:r>
            <a:r>
              <a:rPr lang="en-US" sz="1400" dirty="0"/>
              <a:t> </a:t>
            </a:r>
            <a:r>
              <a:rPr lang="pt-BR" sz="1400" dirty="0"/>
              <a:t>envolvam</a:t>
            </a:r>
            <a:r>
              <a:rPr lang="en-US" sz="1400" dirty="0"/>
              <a:t> 1 </a:t>
            </a:r>
            <a:r>
              <a:rPr lang="pt-BR" sz="1400" dirty="0"/>
              <a:t>plataforma</a:t>
            </a:r>
          </a:p>
        </p:txBody>
      </p:sp>
      <p:sp>
        <p:nvSpPr>
          <p:cNvPr id="17" name="Rectangle 20"/>
          <p:cNvSpPr/>
          <p:nvPr/>
        </p:nvSpPr>
        <p:spPr>
          <a:xfrm>
            <a:off x="4842032" y="1084763"/>
            <a:ext cx="694423" cy="44644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ARQ</a:t>
            </a:r>
            <a:endParaRPr lang="en-US" dirty="0"/>
          </a:p>
        </p:txBody>
      </p:sp>
      <p:sp>
        <p:nvSpPr>
          <p:cNvPr id="18" name="Rectangle 30"/>
          <p:cNvSpPr/>
          <p:nvPr/>
        </p:nvSpPr>
        <p:spPr>
          <a:xfrm>
            <a:off x="4866514" y="2197551"/>
            <a:ext cx="694423" cy="4464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DA</a:t>
            </a:r>
            <a:endParaRPr lang="en-US" dirty="0"/>
          </a:p>
        </p:txBody>
      </p:sp>
      <p:sp>
        <p:nvSpPr>
          <p:cNvPr id="19" name="Rectangle 39"/>
          <p:cNvSpPr/>
          <p:nvPr/>
        </p:nvSpPr>
        <p:spPr>
          <a:xfrm>
            <a:off x="4866514" y="1608885"/>
            <a:ext cx="694423" cy="44644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ARQ</a:t>
            </a:r>
            <a:endParaRPr lang="en-US" dirty="0"/>
          </a:p>
        </p:txBody>
      </p:sp>
      <p:cxnSp>
        <p:nvCxnSpPr>
          <p:cNvPr id="20" name="Straight Connector 17"/>
          <p:cNvCxnSpPr/>
          <p:nvPr/>
        </p:nvCxnSpPr>
        <p:spPr>
          <a:xfrm>
            <a:off x="4697071" y="938459"/>
            <a:ext cx="9944" cy="22369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4572002" y="550252"/>
            <a:ext cx="1305145" cy="53091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pt-BR" sz="1400" dirty="0"/>
              <a:t>Validação da Demanda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51520" y="3336837"/>
            <a:ext cx="8640960" cy="175432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/>
              <a:t>O que será validado?</a:t>
            </a:r>
          </a:p>
          <a:p>
            <a:pPr marL="285736" indent="-28573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dirty="0" smtClean="0"/>
              <a:t>Está claro aquilo que deve ser feito na demanda?</a:t>
            </a:r>
          </a:p>
          <a:p>
            <a:pPr marL="285736" indent="-28573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dirty="0" smtClean="0"/>
              <a:t>O diagrama de sequencia foi desenhado? Está com o nível de detalhe necessário?</a:t>
            </a:r>
          </a:p>
          <a:p>
            <a:pPr marL="285736" indent="-28573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dirty="0" smtClean="0"/>
              <a:t>Os requisitos de negócio foram levantados? Estão com o nível de detalhe necessário?</a:t>
            </a:r>
          </a:p>
          <a:p>
            <a:pPr algn="r">
              <a:spcBef>
                <a:spcPts val="600"/>
              </a:spcBef>
            </a:pPr>
            <a:r>
              <a:rPr lang="pt-BR" sz="1600" i="1" dirty="0"/>
              <a:t>*nível de detalhe necessário para realizar o esboço da solução</a:t>
            </a:r>
            <a:endParaRPr lang="pt-BR" i="1" dirty="0"/>
          </a:p>
        </p:txBody>
      </p:sp>
      <p:sp>
        <p:nvSpPr>
          <p:cNvPr id="21" name="Rectangle 6"/>
          <p:cNvSpPr/>
          <p:nvPr/>
        </p:nvSpPr>
        <p:spPr>
          <a:xfrm>
            <a:off x="251520" y="2728967"/>
            <a:ext cx="4285318" cy="44644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4. </a:t>
            </a:r>
            <a:r>
              <a:rPr lang="pt-BR" sz="1400" dirty="0"/>
              <a:t>Soluções</a:t>
            </a:r>
            <a:r>
              <a:rPr lang="en-US" sz="1400" dirty="0"/>
              <a:t> </a:t>
            </a:r>
            <a:r>
              <a:rPr lang="pt-BR" sz="1400" dirty="0"/>
              <a:t>que</a:t>
            </a:r>
            <a:r>
              <a:rPr lang="en-US" sz="1400" dirty="0"/>
              <a:t> </a:t>
            </a:r>
            <a:r>
              <a:rPr lang="pt-BR" sz="1400" dirty="0"/>
              <a:t>envolvam</a:t>
            </a:r>
            <a:r>
              <a:rPr lang="en-US" sz="1400" dirty="0"/>
              <a:t> </a:t>
            </a:r>
            <a:r>
              <a:rPr lang="pt-BR" sz="1400" dirty="0"/>
              <a:t>apenas</a:t>
            </a:r>
            <a:r>
              <a:rPr lang="en-US" sz="1400" dirty="0"/>
              <a:t> </a:t>
            </a:r>
            <a:r>
              <a:rPr lang="pt-BR" sz="1400" dirty="0"/>
              <a:t>infraestrutura</a:t>
            </a:r>
          </a:p>
        </p:txBody>
      </p:sp>
      <p:sp>
        <p:nvSpPr>
          <p:cNvPr id="22" name="Rectangle 30"/>
          <p:cNvSpPr/>
          <p:nvPr/>
        </p:nvSpPr>
        <p:spPr>
          <a:xfrm>
            <a:off x="4876536" y="2755373"/>
            <a:ext cx="694423" cy="446449"/>
          </a:xfrm>
          <a:prstGeom prst="rect">
            <a:avLst/>
          </a:prstGeom>
          <a:gradFill flip="none" rotWithShape="1">
            <a:gsLst>
              <a:gs pos="0">
                <a:srgbClr val="004F71">
                  <a:shade val="30000"/>
                  <a:satMod val="115000"/>
                </a:srgbClr>
              </a:gs>
              <a:gs pos="50000">
                <a:srgbClr val="004F71">
                  <a:shade val="67500"/>
                  <a:satMod val="115000"/>
                </a:srgbClr>
              </a:gs>
              <a:gs pos="100000">
                <a:srgbClr val="004F7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4F7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INFRA</a:t>
            </a:r>
            <a:endParaRPr lang="en-US" dirty="0"/>
          </a:p>
        </p:txBody>
      </p:sp>
      <p:grpSp>
        <p:nvGrpSpPr>
          <p:cNvPr id="23" name="Grupo 22"/>
          <p:cNvGrpSpPr/>
          <p:nvPr/>
        </p:nvGrpSpPr>
        <p:grpSpPr>
          <a:xfrm>
            <a:off x="7000843" y="125220"/>
            <a:ext cx="294134" cy="403540"/>
            <a:chOff x="657697" y="1112825"/>
            <a:chExt cx="443952" cy="606995"/>
          </a:xfrm>
        </p:grpSpPr>
        <p:pic>
          <p:nvPicPr>
            <p:cNvPr id="24" name="Picture 18" descr="E:\Users\br93163\Downloads\Icones\thumb-down-3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49" y="141502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9" descr="E:\Users\br93163\Downloads\Icones\thumb-up-3x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697" y="111282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6" name="CaixaDeTexto 25"/>
          <p:cNvSpPr txBox="1"/>
          <p:nvPr/>
        </p:nvSpPr>
        <p:spPr>
          <a:xfrm>
            <a:off x="7376309" y="162966"/>
            <a:ext cx="1522533" cy="338554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Validar demanda</a:t>
            </a:r>
          </a:p>
        </p:txBody>
      </p:sp>
      <p:grpSp>
        <p:nvGrpSpPr>
          <p:cNvPr id="27" name="Grupo 26"/>
          <p:cNvGrpSpPr/>
          <p:nvPr/>
        </p:nvGrpSpPr>
        <p:grpSpPr>
          <a:xfrm>
            <a:off x="6885654" y="78534"/>
            <a:ext cx="474826" cy="474826"/>
            <a:chOff x="499933" y="726545"/>
            <a:chExt cx="720000" cy="720000"/>
          </a:xfrm>
        </p:grpSpPr>
        <p:sp>
          <p:nvSpPr>
            <p:cNvPr id="28" name="Elipse 27"/>
            <p:cNvSpPr/>
            <p:nvPr/>
          </p:nvSpPr>
          <p:spPr bwMode="auto">
            <a:xfrm>
              <a:off x="499933" y="72654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29" name="Picture 7" descr="E:\Users\br93163\Downloads\Icones\linedpapercheck32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364" y="883345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337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31"/>
          <a:stretch/>
        </p:blipFill>
        <p:spPr bwMode="auto">
          <a:xfrm>
            <a:off x="178120" y="636537"/>
            <a:ext cx="3048161" cy="997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Seta para a direita 16"/>
          <p:cNvSpPr/>
          <p:nvPr/>
        </p:nvSpPr>
        <p:spPr>
          <a:xfrm rot="10800000">
            <a:off x="1871700" y="1236062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1919077" y="1220514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02" y="1751769"/>
            <a:ext cx="6615245" cy="3304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6867" y="540077"/>
            <a:ext cx="22764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Seta para a direita 24"/>
          <p:cNvSpPr/>
          <p:nvPr/>
        </p:nvSpPr>
        <p:spPr>
          <a:xfrm rot="10800000">
            <a:off x="5062179" y="1426835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5109556" y="1411287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sp>
        <p:nvSpPr>
          <p:cNvPr id="27" name="Seta para a direita 26"/>
          <p:cNvSpPr/>
          <p:nvPr/>
        </p:nvSpPr>
        <p:spPr>
          <a:xfrm rot="10800000">
            <a:off x="2364385" y="2272264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8" name="CaixaDeTexto 27"/>
          <p:cNvSpPr txBox="1"/>
          <p:nvPr/>
        </p:nvSpPr>
        <p:spPr>
          <a:xfrm>
            <a:off x="2411761" y="2256715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3</a:t>
            </a:r>
          </a:p>
        </p:txBody>
      </p:sp>
      <p:sp>
        <p:nvSpPr>
          <p:cNvPr id="29" name="Seta para a direita 28"/>
          <p:cNvSpPr/>
          <p:nvPr/>
        </p:nvSpPr>
        <p:spPr>
          <a:xfrm>
            <a:off x="5166321" y="3397389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5213697" y="3381841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4</a:t>
            </a:r>
          </a:p>
        </p:txBody>
      </p:sp>
      <p:sp>
        <p:nvSpPr>
          <p:cNvPr id="33" name="Retângulo 32"/>
          <p:cNvSpPr/>
          <p:nvPr/>
        </p:nvSpPr>
        <p:spPr>
          <a:xfrm>
            <a:off x="6886532" y="2661761"/>
            <a:ext cx="2059908" cy="1980219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O item de ação pode ser concluído uma vez que esses passos foram seguidos. Quando isso for realizado, a ideia será encaminhada o Responsável Pela Demanda elaborar o Esboço da Solução</a:t>
            </a:r>
          </a:p>
        </p:txBody>
      </p:sp>
      <p:grpSp>
        <p:nvGrpSpPr>
          <p:cNvPr id="21" name="Grupo 20"/>
          <p:cNvGrpSpPr/>
          <p:nvPr/>
        </p:nvGrpSpPr>
        <p:grpSpPr>
          <a:xfrm>
            <a:off x="7000843" y="125220"/>
            <a:ext cx="294134" cy="403540"/>
            <a:chOff x="657697" y="1112825"/>
            <a:chExt cx="443952" cy="606995"/>
          </a:xfrm>
        </p:grpSpPr>
        <p:pic>
          <p:nvPicPr>
            <p:cNvPr id="22" name="Picture 18" descr="E:\Users\br93163\Downloads\Icones\thumb-down-3x.png"/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49" y="141502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9" descr="E:\Users\br93163\Downloads\Icones\thumb-up-3x.png"/>
            <p:cNvPicPr>
              <a:picLocks noChangeAspect="1" noChangeArrowheads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697" y="111282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4" name="CaixaDeTexto 33"/>
          <p:cNvSpPr txBox="1"/>
          <p:nvPr/>
        </p:nvSpPr>
        <p:spPr>
          <a:xfrm>
            <a:off x="7376309" y="162966"/>
            <a:ext cx="1522533" cy="338554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Validar demanda</a:t>
            </a:r>
          </a:p>
        </p:txBody>
      </p:sp>
      <p:grpSp>
        <p:nvGrpSpPr>
          <p:cNvPr id="35" name="Grupo 34"/>
          <p:cNvGrpSpPr/>
          <p:nvPr/>
        </p:nvGrpSpPr>
        <p:grpSpPr>
          <a:xfrm>
            <a:off x="6885654" y="78534"/>
            <a:ext cx="474826" cy="474826"/>
            <a:chOff x="499933" y="726545"/>
            <a:chExt cx="720000" cy="720000"/>
          </a:xfrm>
        </p:grpSpPr>
        <p:sp>
          <p:nvSpPr>
            <p:cNvPr id="36" name="Elipse 35"/>
            <p:cNvSpPr/>
            <p:nvPr/>
          </p:nvSpPr>
          <p:spPr bwMode="auto">
            <a:xfrm>
              <a:off x="499933" y="72654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37" name="Picture 7" descr="E:\Users\br93163\Downloads\Icones\linedpapercheck32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364" y="883345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61426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2" y="1614691"/>
            <a:ext cx="9072500" cy="221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Retângulo 22"/>
          <p:cNvSpPr/>
          <p:nvPr/>
        </p:nvSpPr>
        <p:spPr>
          <a:xfrm>
            <a:off x="1241631" y="864195"/>
            <a:ext cx="2284126" cy="750497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O Checklist TD define o direcionamento da demanda</a:t>
            </a:r>
          </a:p>
        </p:txBody>
      </p:sp>
      <p:cxnSp>
        <p:nvCxnSpPr>
          <p:cNvPr id="7" name="Conector reto 6"/>
          <p:cNvCxnSpPr/>
          <p:nvPr/>
        </p:nvCxnSpPr>
        <p:spPr>
          <a:xfrm>
            <a:off x="71501" y="3804269"/>
            <a:ext cx="6249645" cy="0"/>
          </a:xfrm>
          <a:prstGeom prst="lin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4572002" y="3201820"/>
            <a:ext cx="1749145" cy="0"/>
          </a:xfrm>
          <a:prstGeom prst="lin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Conector reto 25"/>
          <p:cNvCxnSpPr/>
          <p:nvPr/>
        </p:nvCxnSpPr>
        <p:spPr>
          <a:xfrm>
            <a:off x="6321145" y="3201824"/>
            <a:ext cx="0" cy="602447"/>
          </a:xfrm>
          <a:prstGeom prst="lin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" name="Conector reto 28"/>
          <p:cNvCxnSpPr/>
          <p:nvPr/>
        </p:nvCxnSpPr>
        <p:spPr>
          <a:xfrm>
            <a:off x="71500" y="1716655"/>
            <a:ext cx="4494450" cy="0"/>
          </a:xfrm>
          <a:prstGeom prst="lin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Conector reto 30"/>
          <p:cNvCxnSpPr/>
          <p:nvPr/>
        </p:nvCxnSpPr>
        <p:spPr>
          <a:xfrm>
            <a:off x="4582501" y="1716656"/>
            <a:ext cx="0" cy="1485165"/>
          </a:xfrm>
          <a:prstGeom prst="lin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" name="Conector reto 32"/>
          <p:cNvCxnSpPr/>
          <p:nvPr/>
        </p:nvCxnSpPr>
        <p:spPr>
          <a:xfrm>
            <a:off x="71500" y="1716656"/>
            <a:ext cx="0" cy="2087614"/>
          </a:xfrm>
          <a:prstGeom prst="lin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5" name="Grupo 14"/>
          <p:cNvGrpSpPr/>
          <p:nvPr/>
        </p:nvGrpSpPr>
        <p:grpSpPr>
          <a:xfrm>
            <a:off x="7000843" y="125220"/>
            <a:ext cx="294134" cy="403540"/>
            <a:chOff x="657697" y="1112825"/>
            <a:chExt cx="443952" cy="606995"/>
          </a:xfrm>
        </p:grpSpPr>
        <p:pic>
          <p:nvPicPr>
            <p:cNvPr id="16" name="Picture 18" descr="E:\Users\br93163\Downloads\Icones\thumb-down-3x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49" y="141502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9" descr="E:\Users\br93163\Downloads\Icones\thumb-up-3x.png"/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697" y="111282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CaixaDeTexto 17"/>
          <p:cNvSpPr txBox="1"/>
          <p:nvPr/>
        </p:nvSpPr>
        <p:spPr>
          <a:xfrm>
            <a:off x="7376309" y="162966"/>
            <a:ext cx="1522533" cy="338554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Validar demanda</a:t>
            </a:r>
          </a:p>
        </p:txBody>
      </p:sp>
      <p:grpSp>
        <p:nvGrpSpPr>
          <p:cNvPr id="19" name="Grupo 18"/>
          <p:cNvGrpSpPr/>
          <p:nvPr/>
        </p:nvGrpSpPr>
        <p:grpSpPr>
          <a:xfrm>
            <a:off x="6885654" y="78534"/>
            <a:ext cx="474826" cy="474826"/>
            <a:chOff x="499933" y="726545"/>
            <a:chExt cx="720000" cy="720000"/>
          </a:xfrm>
        </p:grpSpPr>
        <p:sp>
          <p:nvSpPr>
            <p:cNvPr id="20" name="Elipse 19"/>
            <p:cNvSpPr/>
            <p:nvPr/>
          </p:nvSpPr>
          <p:spPr bwMode="auto">
            <a:xfrm>
              <a:off x="499933" y="72654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21" name="Picture 7" descr="E:\Users\br93163\Downloads\Icones\linedpapercheck32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364" y="883345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9248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341531" y="996576"/>
            <a:ext cx="8802470" cy="175432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/>
              <a:t>Atividade 2</a:t>
            </a:r>
          </a:p>
          <a:p>
            <a:endParaRPr lang="pt-BR" dirty="0"/>
          </a:p>
          <a:p>
            <a:r>
              <a:rPr lang="pt-BR" dirty="0" smtClean="0"/>
              <a:t>Com base no case apresentado, escreva o briefing da demanda e os seus requerimentos de negócio, utilizando a ferramenta Clarity, o Documento de Requerimentos e a Matriz de Priorização.  Separe os requisitos funcionais, não funcionais e o que está fora do escopo, e desenhe o diagrama de sequencia.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2622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5" y="1061334"/>
            <a:ext cx="9089567" cy="4030696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2591782" y="2268749"/>
            <a:ext cx="495055" cy="4950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1920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188023"/>
              </p:ext>
            </p:extLst>
          </p:nvPr>
        </p:nvGraphicFramePr>
        <p:xfrm>
          <a:off x="1736686" y="636536"/>
          <a:ext cx="7155794" cy="4410489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125124"/>
                <a:gridCol w="6030670"/>
              </a:tblGrid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O que é</a:t>
                      </a:r>
                      <a:endParaRPr lang="pt-BR" sz="1800" dirty="0"/>
                    </a:p>
                  </a:txBody>
                  <a:tcPr>
                    <a:solidFill>
                      <a:srgbClr val="004F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Compreende</a:t>
                      </a:r>
                      <a:r>
                        <a:rPr lang="pt-BR" sz="1800" baseline="0" dirty="0" smtClean="0"/>
                        <a:t> o processo de elaboração e validação do esboço da solução, ou seja, a primeira visão da arquitetura dos sistemas e daquilo que deve ser entregue pelo time de Tecnologia Digital </a:t>
                      </a:r>
                      <a:endParaRPr lang="pt-BR" sz="1800" dirty="0"/>
                    </a:p>
                  </a:txBody>
                  <a:tcPr/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Quem faz</a:t>
                      </a:r>
                      <a:endParaRPr lang="pt-BR" sz="1800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DA ou Arquitetura ou Infraestrutura</a:t>
                      </a:r>
                      <a:endParaRPr lang="pt-BR" sz="1800" dirty="0"/>
                    </a:p>
                  </a:txBody>
                  <a:tcPr/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Como faz</a:t>
                      </a:r>
                      <a:endParaRPr lang="pt-BR" sz="18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Realiza o preenchimento do Esboço da Solução, conclui</a:t>
                      </a:r>
                      <a:r>
                        <a:rPr lang="pt-BR" sz="1800" baseline="0" dirty="0" smtClean="0"/>
                        <a:t> o item de ação referente a etapa no Clarity, faz apresentação e valida </a:t>
                      </a:r>
                      <a:r>
                        <a:rPr lang="pt-BR" sz="1800" dirty="0" smtClean="0"/>
                        <a:t>a</a:t>
                      </a:r>
                      <a:r>
                        <a:rPr lang="pt-BR" sz="1800" baseline="0" dirty="0" smtClean="0"/>
                        <a:t> demanda no Fórum Yellow Pad</a:t>
                      </a:r>
                      <a:endParaRPr lang="pt-BR" sz="18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5" name="Picture 33" descr="E:\Users\br93163\Downloads\Icones\magnifying-glass-4x.png"/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36" y="958855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162000" y="1625129"/>
            <a:ext cx="1478290" cy="338554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pt-BR" sz="1600" dirty="0">
                <a:latin typeface="Gill Sans Std Light" pitchFamily="34" charset="0"/>
              </a:rPr>
              <a:t>Esboçar solução</a:t>
            </a:r>
          </a:p>
        </p:txBody>
      </p:sp>
      <p:grpSp>
        <p:nvGrpSpPr>
          <p:cNvPr id="13" name="Grupo 12"/>
          <p:cNvGrpSpPr/>
          <p:nvPr/>
        </p:nvGrpSpPr>
        <p:grpSpPr>
          <a:xfrm>
            <a:off x="565200" y="802800"/>
            <a:ext cx="720000" cy="720000"/>
            <a:chOff x="398734" y="3411643"/>
            <a:chExt cx="720000" cy="720000"/>
          </a:xfrm>
        </p:grpSpPr>
        <p:sp>
          <p:nvSpPr>
            <p:cNvPr id="14" name="Elipse 13"/>
            <p:cNvSpPr/>
            <p:nvPr/>
          </p:nvSpPr>
          <p:spPr bwMode="auto">
            <a:xfrm>
              <a:off x="398734" y="3411643"/>
              <a:ext cx="720000" cy="720000"/>
            </a:xfrm>
            <a:prstGeom prst="ellipse">
              <a:avLst/>
            </a:prstGeom>
            <a:solidFill>
              <a:schemeClr val="bg1"/>
            </a:solidFill>
            <a:ln w="762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6" name="Picture 30" descr="E:\Users\br93163\Downloads\Icones\brush-3x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647" y="362280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9943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 de cantos arredondados 59"/>
          <p:cNvSpPr/>
          <p:nvPr>
            <p:custDataLst>
              <p:tags r:id="rId1"/>
            </p:custDataLst>
          </p:nvPr>
        </p:nvSpPr>
        <p:spPr>
          <a:xfrm>
            <a:off x="239538" y="2809952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59" name="Retângulo de cantos arredondados 58"/>
          <p:cNvSpPr/>
          <p:nvPr>
            <p:custDataLst>
              <p:tags r:id="rId2"/>
            </p:custDataLst>
          </p:nvPr>
        </p:nvSpPr>
        <p:spPr>
          <a:xfrm>
            <a:off x="239538" y="1729814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58" name="Retângulo de cantos arredondados 57"/>
          <p:cNvSpPr/>
          <p:nvPr>
            <p:custDataLst>
              <p:tags r:id="rId3"/>
            </p:custDataLst>
          </p:nvPr>
        </p:nvSpPr>
        <p:spPr>
          <a:xfrm>
            <a:off x="239538" y="654905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16" name="Retângulo de cantos arredondados 15"/>
          <p:cNvSpPr/>
          <p:nvPr>
            <p:custDataLst>
              <p:tags r:id="rId4"/>
            </p:custDataLst>
          </p:nvPr>
        </p:nvSpPr>
        <p:spPr>
          <a:xfrm>
            <a:off x="239540" y="657491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FF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cs typeface="Arial" pitchFamily="34" charset="0"/>
              </a:rPr>
              <a:t>DA</a:t>
            </a:r>
          </a:p>
        </p:txBody>
      </p:sp>
      <p:sp>
        <p:nvSpPr>
          <p:cNvPr id="18" name="Retângulo de cantos arredondados 17"/>
          <p:cNvSpPr/>
          <p:nvPr>
            <p:custDataLst>
              <p:tags r:id="rId5"/>
            </p:custDataLst>
          </p:nvPr>
        </p:nvSpPr>
        <p:spPr>
          <a:xfrm>
            <a:off x="239540" y="1734986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00B05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cs typeface="Arial" pitchFamily="34" charset="0"/>
              </a:rPr>
              <a:t>Arquitetura Corporativa</a:t>
            </a:r>
          </a:p>
        </p:txBody>
      </p:sp>
      <p:sp>
        <p:nvSpPr>
          <p:cNvPr id="20" name="Retângulo de cantos arredondados 19"/>
          <p:cNvSpPr/>
          <p:nvPr>
            <p:custDataLst>
              <p:tags r:id="rId6"/>
            </p:custDataLst>
          </p:nvPr>
        </p:nvSpPr>
        <p:spPr>
          <a:xfrm>
            <a:off x="239540" y="2795747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FEEACB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cs typeface="Arial" pitchFamily="34" charset="0"/>
              </a:rPr>
              <a:t>Arquitetura de Infra</a:t>
            </a:r>
          </a:p>
        </p:txBody>
      </p:sp>
      <p:sp>
        <p:nvSpPr>
          <p:cNvPr id="51" name="Elipse 50"/>
          <p:cNvSpPr/>
          <p:nvPr>
            <p:custDataLst>
              <p:tags r:id="rId7"/>
            </p:custDataLst>
          </p:nvPr>
        </p:nvSpPr>
        <p:spPr>
          <a:xfrm>
            <a:off x="656565" y="1090637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5</a:t>
            </a:r>
          </a:p>
        </p:txBody>
      </p:sp>
      <p:sp>
        <p:nvSpPr>
          <p:cNvPr id="53" name="Retângulo 52"/>
          <p:cNvSpPr/>
          <p:nvPr>
            <p:custDataLst>
              <p:tags r:id="rId8"/>
            </p:custDataLst>
          </p:nvPr>
        </p:nvSpPr>
        <p:spPr>
          <a:xfrm>
            <a:off x="1511662" y="856681"/>
            <a:ext cx="1255321" cy="6816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Identificar dependências e sinergia com projetos em andamento</a:t>
            </a:r>
          </a:p>
        </p:txBody>
      </p:sp>
      <p:cxnSp>
        <p:nvCxnSpPr>
          <p:cNvPr id="12" name="Conector de seta reta 11"/>
          <p:cNvCxnSpPr>
            <a:stCxn id="51" idx="6"/>
            <a:endCxn id="54" idx="1"/>
          </p:cNvCxnSpPr>
          <p:nvPr/>
        </p:nvCxnSpPr>
        <p:spPr>
          <a:xfrm>
            <a:off x="872565" y="1198637"/>
            <a:ext cx="14404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angulado 21"/>
          <p:cNvCxnSpPr>
            <a:stCxn id="54" idx="3"/>
            <a:endCxn id="44" idx="1"/>
          </p:cNvCxnSpPr>
          <p:nvPr/>
        </p:nvCxnSpPr>
        <p:spPr>
          <a:xfrm>
            <a:off x="1304607" y="1198639"/>
            <a:ext cx="222509" cy="106216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angulado 24"/>
          <p:cNvCxnSpPr>
            <a:stCxn id="54" idx="3"/>
            <a:endCxn id="45" idx="1"/>
          </p:cNvCxnSpPr>
          <p:nvPr/>
        </p:nvCxnSpPr>
        <p:spPr>
          <a:xfrm>
            <a:off x="1304606" y="1198638"/>
            <a:ext cx="237963" cy="212548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angulado 49"/>
          <p:cNvCxnSpPr>
            <a:stCxn id="54" idx="3"/>
            <a:endCxn id="53" idx="1"/>
          </p:cNvCxnSpPr>
          <p:nvPr/>
        </p:nvCxnSpPr>
        <p:spPr>
          <a:xfrm flipV="1">
            <a:off x="1304607" y="1197491"/>
            <a:ext cx="207055" cy="114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/>
          <p:cNvCxnSpPr/>
          <p:nvPr/>
        </p:nvCxnSpPr>
        <p:spPr>
          <a:xfrm>
            <a:off x="3221850" y="1476490"/>
            <a:ext cx="0" cy="505317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de seta reta 65"/>
          <p:cNvCxnSpPr/>
          <p:nvPr/>
        </p:nvCxnSpPr>
        <p:spPr>
          <a:xfrm>
            <a:off x="3221850" y="2516483"/>
            <a:ext cx="0" cy="505317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/>
          <p:nvPr/>
        </p:nvCxnSpPr>
        <p:spPr>
          <a:xfrm rot="10800000">
            <a:off x="3742784" y="2585267"/>
            <a:ext cx="0" cy="505317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tângulo 43"/>
          <p:cNvSpPr/>
          <p:nvPr>
            <p:custDataLst>
              <p:tags r:id="rId9"/>
            </p:custDataLst>
          </p:nvPr>
        </p:nvSpPr>
        <p:spPr>
          <a:xfrm>
            <a:off x="1527116" y="1919995"/>
            <a:ext cx="1255321" cy="6816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Identificar dependências e sinergia com projetos em andamento</a:t>
            </a:r>
          </a:p>
        </p:txBody>
      </p:sp>
      <p:sp>
        <p:nvSpPr>
          <p:cNvPr id="45" name="Retângulo 44"/>
          <p:cNvSpPr/>
          <p:nvPr>
            <p:custDataLst>
              <p:tags r:id="rId10"/>
            </p:custDataLst>
          </p:nvPr>
        </p:nvSpPr>
        <p:spPr>
          <a:xfrm>
            <a:off x="1542570" y="2983309"/>
            <a:ext cx="1255321" cy="6816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Identificar dependências e sinergia com projetos em andamento</a:t>
            </a:r>
          </a:p>
        </p:txBody>
      </p:sp>
      <p:cxnSp>
        <p:nvCxnSpPr>
          <p:cNvPr id="68" name="Conector de seta reta 67"/>
          <p:cNvCxnSpPr/>
          <p:nvPr/>
        </p:nvCxnSpPr>
        <p:spPr>
          <a:xfrm flipH="1" flipV="1">
            <a:off x="3761910" y="1504690"/>
            <a:ext cx="1818" cy="46962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tângulo 90"/>
          <p:cNvSpPr/>
          <p:nvPr>
            <p:custDataLst>
              <p:tags r:id="rId11"/>
            </p:custDataLst>
          </p:nvPr>
        </p:nvSpPr>
        <p:spPr>
          <a:xfrm>
            <a:off x="4166955" y="919624"/>
            <a:ext cx="850276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Definir Solução Técnica</a:t>
            </a:r>
          </a:p>
        </p:txBody>
      </p:sp>
      <p:sp>
        <p:nvSpPr>
          <p:cNvPr id="92" name="Retângulo 91"/>
          <p:cNvSpPr/>
          <p:nvPr>
            <p:custDataLst>
              <p:tags r:id="rId12"/>
            </p:custDataLst>
          </p:nvPr>
        </p:nvSpPr>
        <p:spPr>
          <a:xfrm>
            <a:off x="4182411" y="1982935"/>
            <a:ext cx="850276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Definir Solução Técnica</a:t>
            </a:r>
          </a:p>
        </p:txBody>
      </p:sp>
      <p:sp>
        <p:nvSpPr>
          <p:cNvPr id="93" name="Retângulo 92"/>
          <p:cNvSpPr/>
          <p:nvPr>
            <p:custDataLst>
              <p:tags r:id="rId13"/>
            </p:custDataLst>
          </p:nvPr>
        </p:nvSpPr>
        <p:spPr>
          <a:xfrm>
            <a:off x="4197864" y="3046249"/>
            <a:ext cx="850276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Definir Solução Técnica</a:t>
            </a:r>
          </a:p>
        </p:txBody>
      </p:sp>
      <p:cxnSp>
        <p:nvCxnSpPr>
          <p:cNvPr id="98" name="Conector de seta reta 97"/>
          <p:cNvCxnSpPr>
            <a:stCxn id="61" idx="3"/>
            <a:endCxn id="91" idx="1"/>
          </p:cNvCxnSpPr>
          <p:nvPr/>
        </p:nvCxnSpPr>
        <p:spPr>
          <a:xfrm>
            <a:off x="3936902" y="1198620"/>
            <a:ext cx="2300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de seta reta 98"/>
          <p:cNvCxnSpPr>
            <a:stCxn id="62" idx="3"/>
            <a:endCxn id="92" idx="1"/>
          </p:cNvCxnSpPr>
          <p:nvPr/>
        </p:nvCxnSpPr>
        <p:spPr>
          <a:xfrm>
            <a:off x="3952355" y="2261933"/>
            <a:ext cx="2300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de seta reta 101"/>
          <p:cNvCxnSpPr>
            <a:stCxn id="64" idx="3"/>
            <a:endCxn id="93" idx="1"/>
          </p:cNvCxnSpPr>
          <p:nvPr/>
        </p:nvCxnSpPr>
        <p:spPr>
          <a:xfrm>
            <a:off x="3967808" y="3325246"/>
            <a:ext cx="2300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Losango 53"/>
          <p:cNvSpPr/>
          <p:nvPr/>
        </p:nvSpPr>
        <p:spPr>
          <a:xfrm>
            <a:off x="1016605" y="1054637"/>
            <a:ext cx="288000" cy="28800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OU</a:t>
            </a:r>
          </a:p>
        </p:txBody>
      </p:sp>
      <p:sp>
        <p:nvSpPr>
          <p:cNvPr id="61" name="Retângulo 60"/>
          <p:cNvSpPr/>
          <p:nvPr>
            <p:custDataLst>
              <p:tags r:id="rId14"/>
            </p:custDataLst>
          </p:nvPr>
        </p:nvSpPr>
        <p:spPr>
          <a:xfrm>
            <a:off x="2970736" y="919624"/>
            <a:ext cx="966164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Avaliar impactos de nova solução</a:t>
            </a:r>
          </a:p>
        </p:txBody>
      </p:sp>
      <p:sp>
        <p:nvSpPr>
          <p:cNvPr id="62" name="Retângulo 61"/>
          <p:cNvSpPr/>
          <p:nvPr>
            <p:custDataLst>
              <p:tags r:id="rId15"/>
            </p:custDataLst>
          </p:nvPr>
        </p:nvSpPr>
        <p:spPr>
          <a:xfrm>
            <a:off x="2986192" y="1982935"/>
            <a:ext cx="966164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Avaliar impactos de nova solução</a:t>
            </a:r>
          </a:p>
        </p:txBody>
      </p:sp>
      <p:sp>
        <p:nvSpPr>
          <p:cNvPr id="64" name="Retângulo 63"/>
          <p:cNvSpPr/>
          <p:nvPr>
            <p:custDataLst>
              <p:tags r:id="rId16"/>
            </p:custDataLst>
          </p:nvPr>
        </p:nvSpPr>
        <p:spPr>
          <a:xfrm>
            <a:off x="3001645" y="3046249"/>
            <a:ext cx="966164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Avaliar impactos de nova solução</a:t>
            </a:r>
          </a:p>
        </p:txBody>
      </p:sp>
      <p:cxnSp>
        <p:nvCxnSpPr>
          <p:cNvPr id="19" name="Conector de seta reta 18"/>
          <p:cNvCxnSpPr>
            <a:stCxn id="53" idx="3"/>
            <a:endCxn id="61" idx="1"/>
          </p:cNvCxnSpPr>
          <p:nvPr/>
        </p:nvCxnSpPr>
        <p:spPr>
          <a:xfrm>
            <a:off x="2766983" y="1197493"/>
            <a:ext cx="203755" cy="11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44" idx="3"/>
            <a:endCxn id="62" idx="1"/>
          </p:cNvCxnSpPr>
          <p:nvPr/>
        </p:nvCxnSpPr>
        <p:spPr>
          <a:xfrm>
            <a:off x="2782437" y="2260806"/>
            <a:ext cx="203755" cy="11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>
            <a:stCxn id="45" idx="3"/>
            <a:endCxn id="64" idx="1"/>
          </p:cNvCxnSpPr>
          <p:nvPr/>
        </p:nvCxnSpPr>
        <p:spPr>
          <a:xfrm>
            <a:off x="2797891" y="3324119"/>
            <a:ext cx="203755" cy="11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tângulo 78"/>
          <p:cNvSpPr/>
          <p:nvPr>
            <p:custDataLst>
              <p:tags r:id="rId17"/>
            </p:custDataLst>
          </p:nvPr>
        </p:nvSpPr>
        <p:spPr>
          <a:xfrm>
            <a:off x="5256715" y="919624"/>
            <a:ext cx="1255321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Validar Demanda no Yellow Pad</a:t>
            </a:r>
          </a:p>
        </p:txBody>
      </p:sp>
      <p:sp>
        <p:nvSpPr>
          <p:cNvPr id="83" name="CaixaDeTexto 82"/>
          <p:cNvSpPr txBox="1"/>
          <p:nvPr/>
        </p:nvSpPr>
        <p:spPr>
          <a:xfrm>
            <a:off x="7359636" y="158754"/>
            <a:ext cx="1478290" cy="338554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pt-BR" sz="1600" dirty="0">
                <a:latin typeface="Gill Sans Std Light" pitchFamily="34" charset="0"/>
              </a:rPr>
              <a:t>Esboçar solução</a:t>
            </a:r>
          </a:p>
        </p:txBody>
      </p:sp>
      <p:grpSp>
        <p:nvGrpSpPr>
          <p:cNvPr id="85" name="Grupo 84"/>
          <p:cNvGrpSpPr/>
          <p:nvPr/>
        </p:nvGrpSpPr>
        <p:grpSpPr>
          <a:xfrm>
            <a:off x="6867255" y="60678"/>
            <a:ext cx="498190" cy="498190"/>
            <a:chOff x="398734" y="3411643"/>
            <a:chExt cx="720000" cy="720000"/>
          </a:xfrm>
        </p:grpSpPr>
        <p:sp>
          <p:nvSpPr>
            <p:cNvPr id="87" name="Elipse 86"/>
            <p:cNvSpPr/>
            <p:nvPr/>
          </p:nvSpPr>
          <p:spPr bwMode="auto">
            <a:xfrm>
              <a:off x="398734" y="3411643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89" name="Picture 30" descr="E:\Users\br93163\Downloads\Icones\brush-3x.png"/>
            <p:cNvPicPr>
              <a:picLocks noChangeAspect="1" noChangeArrowheads="1"/>
            </p:cNvPicPr>
            <p:nvPr/>
          </p:nvPicPr>
          <p:blipFill>
            <a:blip r:embed="rId30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647" y="362280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0" name="Retângulo 109"/>
          <p:cNvSpPr/>
          <p:nvPr>
            <p:custDataLst>
              <p:tags r:id="rId18"/>
            </p:custDataLst>
          </p:nvPr>
        </p:nvSpPr>
        <p:spPr>
          <a:xfrm>
            <a:off x="5251896" y="1981807"/>
            <a:ext cx="1255321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Validar Demanda no Yellow Pad</a:t>
            </a:r>
          </a:p>
        </p:txBody>
      </p:sp>
      <p:sp>
        <p:nvSpPr>
          <p:cNvPr id="111" name="Retângulo 110"/>
          <p:cNvSpPr/>
          <p:nvPr>
            <p:custDataLst>
              <p:tags r:id="rId19"/>
            </p:custDataLst>
          </p:nvPr>
        </p:nvSpPr>
        <p:spPr>
          <a:xfrm>
            <a:off x="5247077" y="3043990"/>
            <a:ext cx="1255321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Validar Demanda no Yellow Pad</a:t>
            </a:r>
          </a:p>
        </p:txBody>
      </p:sp>
      <p:cxnSp>
        <p:nvCxnSpPr>
          <p:cNvPr id="113" name="Conector de seta reta 112"/>
          <p:cNvCxnSpPr>
            <a:stCxn id="91" idx="3"/>
            <a:endCxn id="79" idx="1"/>
          </p:cNvCxnSpPr>
          <p:nvPr/>
        </p:nvCxnSpPr>
        <p:spPr>
          <a:xfrm>
            <a:off x="5017231" y="1198620"/>
            <a:ext cx="23948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/>
          <p:cNvCxnSpPr>
            <a:stCxn id="92" idx="3"/>
            <a:endCxn id="110" idx="1"/>
          </p:cNvCxnSpPr>
          <p:nvPr/>
        </p:nvCxnSpPr>
        <p:spPr>
          <a:xfrm flipV="1">
            <a:off x="5032687" y="2260806"/>
            <a:ext cx="219209" cy="11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de seta reta 116"/>
          <p:cNvCxnSpPr>
            <a:stCxn id="93" idx="3"/>
            <a:endCxn id="111" idx="1"/>
          </p:cNvCxnSpPr>
          <p:nvPr/>
        </p:nvCxnSpPr>
        <p:spPr>
          <a:xfrm flipV="1">
            <a:off x="5048139" y="3322990"/>
            <a:ext cx="198936" cy="22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Losango 117"/>
          <p:cNvSpPr/>
          <p:nvPr/>
        </p:nvSpPr>
        <p:spPr>
          <a:xfrm>
            <a:off x="6755238" y="2113734"/>
            <a:ext cx="288000" cy="28800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OU</a:t>
            </a:r>
          </a:p>
        </p:txBody>
      </p:sp>
      <p:cxnSp>
        <p:nvCxnSpPr>
          <p:cNvPr id="120" name="Conector de seta reta 119"/>
          <p:cNvCxnSpPr>
            <a:stCxn id="110" idx="3"/>
            <a:endCxn id="118" idx="1"/>
          </p:cNvCxnSpPr>
          <p:nvPr/>
        </p:nvCxnSpPr>
        <p:spPr>
          <a:xfrm flipV="1">
            <a:off x="6507217" y="2257734"/>
            <a:ext cx="248023" cy="30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tângulo 120"/>
          <p:cNvSpPr/>
          <p:nvPr>
            <p:custDataLst>
              <p:tags r:id="rId20"/>
            </p:custDataLst>
          </p:nvPr>
        </p:nvSpPr>
        <p:spPr>
          <a:xfrm>
            <a:off x="7277121" y="1819724"/>
            <a:ext cx="1255321" cy="351411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Realizar Software Selection</a:t>
            </a:r>
          </a:p>
        </p:txBody>
      </p:sp>
      <p:sp>
        <p:nvSpPr>
          <p:cNvPr id="122" name="Retângulo 121"/>
          <p:cNvSpPr/>
          <p:nvPr>
            <p:custDataLst>
              <p:tags r:id="rId21"/>
            </p:custDataLst>
          </p:nvPr>
        </p:nvSpPr>
        <p:spPr>
          <a:xfrm>
            <a:off x="7269987" y="2398715"/>
            <a:ext cx="1255321" cy="351411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Realizar PoCs</a:t>
            </a:r>
          </a:p>
        </p:txBody>
      </p:sp>
      <p:cxnSp>
        <p:nvCxnSpPr>
          <p:cNvPr id="124" name="Conector angulado 123"/>
          <p:cNvCxnSpPr>
            <a:endCxn id="122" idx="1"/>
          </p:cNvCxnSpPr>
          <p:nvPr/>
        </p:nvCxnSpPr>
        <p:spPr>
          <a:xfrm rot="16200000" flipH="1">
            <a:off x="7056739" y="2361177"/>
            <a:ext cx="316686" cy="10980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angulado 125"/>
          <p:cNvCxnSpPr>
            <a:stCxn id="118" idx="3"/>
            <a:endCxn id="121" idx="1"/>
          </p:cNvCxnSpPr>
          <p:nvPr/>
        </p:nvCxnSpPr>
        <p:spPr>
          <a:xfrm flipV="1">
            <a:off x="7043240" y="1995429"/>
            <a:ext cx="233881" cy="262306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CaixaDeTexto 128"/>
          <p:cNvSpPr txBox="1"/>
          <p:nvPr>
            <p:custDataLst>
              <p:tags r:id="rId22"/>
            </p:custDataLst>
          </p:nvPr>
        </p:nvSpPr>
        <p:spPr>
          <a:xfrm>
            <a:off x="5679123" y="3552568"/>
            <a:ext cx="648072" cy="36933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pt-BR" sz="900" dirty="0">
                <a:cs typeface="Arial" pitchFamily="34" charset="0"/>
              </a:rPr>
              <a:t>Yellow Pad</a:t>
            </a:r>
          </a:p>
        </p:txBody>
      </p:sp>
      <p:pic>
        <p:nvPicPr>
          <p:cNvPr id="7170" name="Picture 2" descr="http://img.kalunga.com.br/FotosdeProdutos/638613.jpg"/>
          <p:cNvPicPr>
            <a:picLocks noChangeAspect="1" noChangeArrowheads="1"/>
          </p:cNvPicPr>
          <p:nvPr/>
        </p:nvPicPr>
        <p:blipFill>
          <a:blip r:embed="rId31" cstate="print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ackgroundRemoval t="1667" b="100000" l="10000" r="9666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479079">
            <a:off x="5560636" y="3585328"/>
            <a:ext cx="281156" cy="281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" name="CaixaDeTexto 130"/>
          <p:cNvSpPr txBox="1"/>
          <p:nvPr>
            <p:custDataLst>
              <p:tags r:id="rId23"/>
            </p:custDataLst>
          </p:nvPr>
        </p:nvSpPr>
        <p:spPr>
          <a:xfrm>
            <a:off x="5601000" y="1405387"/>
            <a:ext cx="648072" cy="36933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pt-BR" sz="900" dirty="0">
                <a:cs typeface="Arial" pitchFamily="34" charset="0"/>
              </a:rPr>
              <a:t>Yellow Pad</a:t>
            </a:r>
          </a:p>
        </p:txBody>
      </p:sp>
      <p:pic>
        <p:nvPicPr>
          <p:cNvPr id="132" name="Picture 2" descr="http://img.kalunga.com.br/FotosdeProdutos/638613.jpg"/>
          <p:cNvPicPr>
            <a:picLocks noChangeAspect="1" noChangeArrowheads="1"/>
          </p:cNvPicPr>
          <p:nvPr/>
        </p:nvPicPr>
        <p:blipFill>
          <a:blip r:embed="rId31" cstate="print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ackgroundRemoval t="1667" b="100000" l="10000" r="9666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479079">
            <a:off x="5482513" y="1438147"/>
            <a:ext cx="281156" cy="281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" name="CaixaDeTexto 132"/>
          <p:cNvSpPr txBox="1"/>
          <p:nvPr>
            <p:custDataLst>
              <p:tags r:id="rId24"/>
            </p:custDataLst>
          </p:nvPr>
        </p:nvSpPr>
        <p:spPr>
          <a:xfrm>
            <a:off x="5589113" y="2485507"/>
            <a:ext cx="648072" cy="36933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pt-BR" sz="900" dirty="0">
                <a:cs typeface="Arial" pitchFamily="34" charset="0"/>
              </a:rPr>
              <a:t>Yellow Pad</a:t>
            </a:r>
          </a:p>
        </p:txBody>
      </p:sp>
      <p:pic>
        <p:nvPicPr>
          <p:cNvPr id="134" name="Picture 2" descr="http://img.kalunga.com.br/FotosdeProdutos/638613.jpg"/>
          <p:cNvPicPr>
            <a:picLocks noChangeAspect="1" noChangeArrowheads="1"/>
          </p:cNvPicPr>
          <p:nvPr/>
        </p:nvPicPr>
        <p:blipFill>
          <a:blip r:embed="rId31" cstate="print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ackgroundRemoval t="1667" b="100000" l="10000" r="9666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479079">
            <a:off x="5470624" y="2518267"/>
            <a:ext cx="281156" cy="281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5" name="Retângulo 134"/>
          <p:cNvSpPr/>
          <p:nvPr>
            <p:custDataLst>
              <p:tags r:id="rId25"/>
            </p:custDataLst>
          </p:nvPr>
        </p:nvSpPr>
        <p:spPr>
          <a:xfrm>
            <a:off x="7259131" y="908278"/>
            <a:ext cx="1255321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Encaminhar demanda para Fórum Executivo</a:t>
            </a:r>
          </a:p>
        </p:txBody>
      </p:sp>
      <p:cxnSp>
        <p:nvCxnSpPr>
          <p:cNvPr id="7169" name="Conector angulado 7168"/>
          <p:cNvCxnSpPr>
            <a:stCxn id="118" idx="0"/>
            <a:endCxn id="135" idx="2"/>
          </p:cNvCxnSpPr>
          <p:nvPr/>
        </p:nvCxnSpPr>
        <p:spPr>
          <a:xfrm rot="5400000" flipH="1" flipV="1">
            <a:off x="7069285" y="1296227"/>
            <a:ext cx="647462" cy="987552"/>
          </a:xfrm>
          <a:prstGeom prst="bentConnector3">
            <a:avLst>
              <a:gd name="adj1" fmla="val 59326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Elipse 138"/>
          <p:cNvSpPr/>
          <p:nvPr>
            <p:custDataLst>
              <p:tags r:id="rId26"/>
            </p:custDataLst>
          </p:nvPr>
        </p:nvSpPr>
        <p:spPr>
          <a:xfrm>
            <a:off x="8721485" y="1079274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7</a:t>
            </a:r>
          </a:p>
        </p:txBody>
      </p:sp>
      <p:cxnSp>
        <p:nvCxnSpPr>
          <p:cNvPr id="7173" name="Conector de seta reta 7172"/>
          <p:cNvCxnSpPr>
            <a:stCxn id="135" idx="3"/>
            <a:endCxn id="139" idx="2"/>
          </p:cNvCxnSpPr>
          <p:nvPr/>
        </p:nvCxnSpPr>
        <p:spPr>
          <a:xfrm>
            <a:off x="8514452" y="1187274"/>
            <a:ext cx="2070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tângulo 144"/>
          <p:cNvSpPr/>
          <p:nvPr>
            <p:custDataLst>
              <p:tags r:id="rId27"/>
            </p:custDataLst>
          </p:nvPr>
        </p:nvSpPr>
        <p:spPr>
          <a:xfrm>
            <a:off x="7254312" y="3043483"/>
            <a:ext cx="1255321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Definir responsável pela execução da demanda</a:t>
            </a:r>
          </a:p>
        </p:txBody>
      </p:sp>
      <p:cxnSp>
        <p:nvCxnSpPr>
          <p:cNvPr id="7178" name="Conector angulado 7177"/>
          <p:cNvCxnSpPr>
            <a:stCxn id="111" idx="3"/>
            <a:endCxn id="145" idx="1"/>
          </p:cNvCxnSpPr>
          <p:nvPr/>
        </p:nvCxnSpPr>
        <p:spPr>
          <a:xfrm flipV="1">
            <a:off x="6502396" y="3322481"/>
            <a:ext cx="751914" cy="50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lipse 64"/>
          <p:cNvSpPr/>
          <p:nvPr>
            <p:custDataLst>
              <p:tags r:id="rId28"/>
            </p:custDataLst>
          </p:nvPr>
        </p:nvSpPr>
        <p:spPr>
          <a:xfrm>
            <a:off x="8707730" y="3214481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7</a:t>
            </a:r>
          </a:p>
        </p:txBody>
      </p:sp>
      <p:cxnSp>
        <p:nvCxnSpPr>
          <p:cNvPr id="69" name="Conector de seta reta 68"/>
          <p:cNvCxnSpPr>
            <a:stCxn id="145" idx="3"/>
            <a:endCxn id="65" idx="2"/>
          </p:cNvCxnSpPr>
          <p:nvPr/>
        </p:nvCxnSpPr>
        <p:spPr>
          <a:xfrm>
            <a:off x="8509631" y="3322481"/>
            <a:ext cx="19809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459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06517" y="906567"/>
            <a:ext cx="8888662" cy="2308324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Esboço da Solução</a:t>
            </a:r>
          </a:p>
          <a:p>
            <a:endParaRPr lang="pt-BR" dirty="0"/>
          </a:p>
          <a:p>
            <a:r>
              <a:rPr lang="pt-BR" dirty="0" smtClean="0"/>
              <a:t>Serve para apresentar a demanda e definir e orientar, de forma macro, qual é o desenho de solução.</a:t>
            </a:r>
          </a:p>
          <a:p>
            <a:endParaRPr lang="pt-BR" dirty="0"/>
          </a:p>
          <a:p>
            <a:r>
              <a:rPr lang="pt-BR" dirty="0" smtClean="0"/>
              <a:t>Uma vez preenchido, o documento será encaminhado para a aprovação do Fórum Yellow Pad.</a:t>
            </a:r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2" name="Objeto 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412730"/>
              </p:ext>
            </p:extLst>
          </p:nvPr>
        </p:nvGraphicFramePr>
        <p:xfrm>
          <a:off x="7398689" y="4011911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3" name="Apresentação" showAsIcon="1" r:id="rId4" imgW="914400" imgH="771480" progId="PowerPoint.Show.12">
                  <p:embed/>
                </p:oleObj>
              </mc:Choice>
              <mc:Fallback>
                <p:oleObj name="Apresentação" showAsIcon="1" r:id="rId4" imgW="91440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398689" y="4011911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aixaDeTexto 11"/>
          <p:cNvSpPr txBox="1"/>
          <p:nvPr/>
        </p:nvSpPr>
        <p:spPr>
          <a:xfrm>
            <a:off x="7359636" y="158754"/>
            <a:ext cx="1478290" cy="338554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pt-BR" sz="1600" dirty="0">
                <a:latin typeface="Gill Sans Std Light" pitchFamily="34" charset="0"/>
              </a:rPr>
              <a:t>Esboçar solução</a:t>
            </a:r>
          </a:p>
        </p:txBody>
      </p:sp>
      <p:grpSp>
        <p:nvGrpSpPr>
          <p:cNvPr id="15" name="Grupo 14"/>
          <p:cNvGrpSpPr/>
          <p:nvPr/>
        </p:nvGrpSpPr>
        <p:grpSpPr>
          <a:xfrm>
            <a:off x="6867255" y="60678"/>
            <a:ext cx="498190" cy="498190"/>
            <a:chOff x="398734" y="3411643"/>
            <a:chExt cx="720000" cy="720000"/>
          </a:xfrm>
        </p:grpSpPr>
        <p:sp>
          <p:nvSpPr>
            <p:cNvPr id="16" name="Elipse 15"/>
            <p:cNvSpPr/>
            <p:nvPr/>
          </p:nvSpPr>
          <p:spPr bwMode="auto">
            <a:xfrm>
              <a:off x="398734" y="3411643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7" name="Picture 30" descr="E:\Users\br93163\Downloads\Icones\brush-3x.png"/>
            <p:cNvPicPr>
              <a:picLocks noChangeAspect="1" noChangeArrowheads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647" y="362280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27108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06515" y="783158"/>
            <a:ext cx="8640960" cy="406265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Fórum Yellow Pad</a:t>
            </a:r>
          </a:p>
          <a:p>
            <a:endParaRPr lang="pt-BR" dirty="0"/>
          </a:p>
          <a:p>
            <a:r>
              <a:rPr lang="pt-BR" sz="1600" dirty="0"/>
              <a:t>O Fórum Yellow Pad serve para:</a:t>
            </a:r>
          </a:p>
          <a:p>
            <a:endParaRPr lang="pt-BR" sz="1600" dirty="0"/>
          </a:p>
          <a:p>
            <a:pPr marL="742913" lvl="1" indent="-285736">
              <a:buFont typeface="Arial" pitchFamily="34" charset="0"/>
              <a:buChar char="•"/>
            </a:pPr>
            <a:r>
              <a:rPr lang="pt-BR" sz="1600" dirty="0"/>
              <a:t>Nivelar as equipes de TD no conhecimento das demandas que serão trabalhadas</a:t>
            </a:r>
          </a:p>
          <a:p>
            <a:pPr marL="742913" lvl="1" indent="-285736">
              <a:buFont typeface="Arial" pitchFamily="34" charset="0"/>
              <a:buChar char="•"/>
            </a:pPr>
            <a:r>
              <a:rPr lang="pt-BR" sz="1600" dirty="0"/>
              <a:t>Aprovar a arquitetura de solução proposta</a:t>
            </a:r>
          </a:p>
          <a:p>
            <a:pPr marL="742913" lvl="1" indent="-285736">
              <a:buFont typeface="Arial" pitchFamily="34" charset="0"/>
              <a:buChar char="•"/>
            </a:pPr>
            <a:r>
              <a:rPr lang="pt-BR" sz="1600" dirty="0"/>
              <a:t>Fazer indicações de perfil para o Core Team</a:t>
            </a:r>
          </a:p>
          <a:p>
            <a:pPr marL="742913" lvl="1" indent="-285736">
              <a:buFont typeface="Arial" pitchFamily="34" charset="0"/>
              <a:buChar char="•"/>
            </a:pPr>
            <a:r>
              <a:rPr lang="pt-BR" sz="1600" dirty="0"/>
              <a:t>Identificar novas necessidades ou documentação da demanda</a:t>
            </a:r>
          </a:p>
          <a:p>
            <a:pPr>
              <a:spcBef>
                <a:spcPts val="1200"/>
              </a:spcBef>
            </a:pPr>
            <a:r>
              <a:rPr lang="pt-BR" sz="1600" dirty="0"/>
              <a:t>É um encontro multidisciplinar,  com membros fixos das áreas de Arquitetura de Soluções, Arquitetura de Infraestrutura, Sustentação de Aplicações, Segurança da Informação, Governança.</a:t>
            </a:r>
          </a:p>
          <a:p>
            <a:pPr>
              <a:spcBef>
                <a:spcPts val="1200"/>
              </a:spcBef>
            </a:pPr>
            <a:r>
              <a:rPr lang="pt-BR" sz="1600" dirty="0"/>
              <a:t>Cada demanda possui 20 minutos para realizar sua apresentação, e os membros do Fórum passam as orientações nos 10 minutos subsequentes</a:t>
            </a:r>
          </a:p>
          <a:p>
            <a:pPr>
              <a:spcBef>
                <a:spcPts val="1200"/>
              </a:spcBef>
            </a:pPr>
            <a:r>
              <a:rPr lang="pt-BR" sz="1600" dirty="0"/>
              <a:t>O Fórum ocorre semanalmente. As demandas que enviarem o esboço da solução estarão inscritas no próximo fórum.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7359636" y="158754"/>
            <a:ext cx="1478290" cy="338554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pt-BR" sz="1600" dirty="0">
                <a:latin typeface="Gill Sans Std Light" pitchFamily="34" charset="0"/>
              </a:rPr>
              <a:t>Esboçar solução</a:t>
            </a:r>
          </a:p>
        </p:txBody>
      </p:sp>
      <p:grpSp>
        <p:nvGrpSpPr>
          <p:cNvPr id="12" name="Grupo 11"/>
          <p:cNvGrpSpPr/>
          <p:nvPr/>
        </p:nvGrpSpPr>
        <p:grpSpPr>
          <a:xfrm>
            <a:off x="6867255" y="60678"/>
            <a:ext cx="498190" cy="498190"/>
            <a:chOff x="398734" y="3411643"/>
            <a:chExt cx="720000" cy="720000"/>
          </a:xfrm>
        </p:grpSpPr>
        <p:sp>
          <p:nvSpPr>
            <p:cNvPr id="15" name="Elipse 14"/>
            <p:cNvSpPr/>
            <p:nvPr/>
          </p:nvSpPr>
          <p:spPr bwMode="auto">
            <a:xfrm>
              <a:off x="398734" y="3411643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6" name="Picture 30" descr="E:\Users\br93163\Downloads\Icones\brush-3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647" y="362280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46801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14" name="Rectangle 3"/>
          <p:cNvSpPr/>
          <p:nvPr/>
        </p:nvSpPr>
        <p:spPr>
          <a:xfrm>
            <a:off x="251520" y="1073474"/>
            <a:ext cx="4285318" cy="44644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1. Nova </a:t>
            </a:r>
            <a:r>
              <a:rPr lang="pt-BR" sz="1400" dirty="0"/>
              <a:t>Tecnologia</a:t>
            </a:r>
            <a:r>
              <a:rPr lang="en-US" sz="1400" dirty="0"/>
              <a:t> (Software Selection)</a:t>
            </a:r>
          </a:p>
        </p:txBody>
      </p:sp>
      <p:sp>
        <p:nvSpPr>
          <p:cNvPr id="15" name="Rectangle 4"/>
          <p:cNvSpPr/>
          <p:nvPr/>
        </p:nvSpPr>
        <p:spPr>
          <a:xfrm>
            <a:off x="251522" y="1615862"/>
            <a:ext cx="4285317" cy="44644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2. </a:t>
            </a:r>
            <a:r>
              <a:rPr lang="pt-BR" sz="1400" dirty="0"/>
              <a:t>Soluções</a:t>
            </a:r>
            <a:r>
              <a:rPr lang="en-US" sz="1400" dirty="0"/>
              <a:t> </a:t>
            </a:r>
            <a:r>
              <a:rPr lang="pt-BR" sz="1400" dirty="0"/>
              <a:t>que</a:t>
            </a:r>
            <a:r>
              <a:rPr lang="en-US" sz="1400" dirty="0"/>
              <a:t> </a:t>
            </a:r>
            <a:r>
              <a:rPr lang="pt-BR" sz="1400" dirty="0"/>
              <a:t>envolvam</a:t>
            </a:r>
            <a:r>
              <a:rPr lang="en-US" sz="1400" dirty="0"/>
              <a:t> 2 </a:t>
            </a:r>
            <a:r>
              <a:rPr lang="pt-BR" sz="1400" dirty="0"/>
              <a:t>ou</a:t>
            </a:r>
            <a:r>
              <a:rPr lang="en-US" sz="1400" dirty="0"/>
              <a:t> </a:t>
            </a:r>
            <a:r>
              <a:rPr lang="pt-BR" sz="1400" dirty="0"/>
              <a:t>mais</a:t>
            </a:r>
            <a:r>
              <a:rPr lang="en-US" sz="1400" dirty="0"/>
              <a:t> </a:t>
            </a:r>
            <a:r>
              <a:rPr lang="pt-BR" sz="1400" dirty="0"/>
              <a:t>plataformas</a:t>
            </a:r>
          </a:p>
        </p:txBody>
      </p:sp>
      <p:sp>
        <p:nvSpPr>
          <p:cNvPr id="16" name="Rectangle 6"/>
          <p:cNvSpPr/>
          <p:nvPr/>
        </p:nvSpPr>
        <p:spPr>
          <a:xfrm>
            <a:off x="251520" y="2179773"/>
            <a:ext cx="4285318" cy="44644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3. </a:t>
            </a:r>
            <a:r>
              <a:rPr lang="pt-BR" sz="1400" dirty="0"/>
              <a:t>Soluções</a:t>
            </a:r>
            <a:r>
              <a:rPr lang="en-US" sz="1400" dirty="0"/>
              <a:t> </a:t>
            </a:r>
            <a:r>
              <a:rPr lang="pt-BR" sz="1400" dirty="0"/>
              <a:t>que</a:t>
            </a:r>
            <a:r>
              <a:rPr lang="en-US" sz="1400" dirty="0"/>
              <a:t> </a:t>
            </a:r>
            <a:r>
              <a:rPr lang="pt-BR" sz="1400" dirty="0"/>
              <a:t>envolvam</a:t>
            </a:r>
            <a:r>
              <a:rPr lang="en-US" sz="1400" dirty="0"/>
              <a:t> 1 </a:t>
            </a:r>
            <a:r>
              <a:rPr lang="pt-BR" sz="1400" dirty="0"/>
              <a:t>plataforma</a:t>
            </a:r>
          </a:p>
        </p:txBody>
      </p:sp>
      <p:sp>
        <p:nvSpPr>
          <p:cNvPr id="17" name="Rectangle 20"/>
          <p:cNvSpPr/>
          <p:nvPr/>
        </p:nvSpPr>
        <p:spPr>
          <a:xfrm>
            <a:off x="4859284" y="1084763"/>
            <a:ext cx="694423" cy="44644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ARQ</a:t>
            </a:r>
            <a:endParaRPr lang="en-US" dirty="0"/>
          </a:p>
        </p:txBody>
      </p:sp>
      <p:sp>
        <p:nvSpPr>
          <p:cNvPr id="18" name="Rectangle 30"/>
          <p:cNvSpPr/>
          <p:nvPr/>
        </p:nvSpPr>
        <p:spPr>
          <a:xfrm>
            <a:off x="4859284" y="2197551"/>
            <a:ext cx="694423" cy="4464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DA</a:t>
            </a:r>
            <a:endParaRPr lang="en-US" dirty="0"/>
          </a:p>
        </p:txBody>
      </p:sp>
      <p:sp>
        <p:nvSpPr>
          <p:cNvPr id="19" name="Rectangle 39"/>
          <p:cNvSpPr/>
          <p:nvPr/>
        </p:nvSpPr>
        <p:spPr>
          <a:xfrm>
            <a:off x="4859284" y="1608885"/>
            <a:ext cx="694423" cy="44644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ARQ</a:t>
            </a:r>
            <a:endParaRPr lang="en-US" dirty="0"/>
          </a:p>
        </p:txBody>
      </p:sp>
      <p:cxnSp>
        <p:nvCxnSpPr>
          <p:cNvPr id="20" name="Straight Connector 17"/>
          <p:cNvCxnSpPr/>
          <p:nvPr/>
        </p:nvCxnSpPr>
        <p:spPr>
          <a:xfrm>
            <a:off x="4697071" y="938459"/>
            <a:ext cx="9944" cy="22369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4572002" y="550252"/>
            <a:ext cx="1305145" cy="53091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pt-BR" sz="1400" dirty="0"/>
              <a:t>Validação da Demanda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51520" y="3336835"/>
            <a:ext cx="8640960" cy="1477328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/>
              <a:t>De acordo com o tipo da demanda, o esboço da solução deve ser elaborado por um time diferente – que também é o responsável por apresenta-la no Fórum Yellow Pad.</a:t>
            </a:r>
          </a:p>
          <a:p>
            <a:endParaRPr lang="pt-BR" i="1" dirty="0"/>
          </a:p>
          <a:p>
            <a:r>
              <a:rPr lang="pt-BR" dirty="0" smtClean="0"/>
              <a:t>Um membro de DA sempre deve ser indicado para participação do Fórum Yellow Pad, por ser responsável pela implantação da solução.</a:t>
            </a:r>
            <a:endParaRPr lang="pt-BR" dirty="0"/>
          </a:p>
        </p:txBody>
      </p:sp>
      <p:sp>
        <p:nvSpPr>
          <p:cNvPr id="21" name="Rectangle 6"/>
          <p:cNvSpPr/>
          <p:nvPr/>
        </p:nvSpPr>
        <p:spPr>
          <a:xfrm>
            <a:off x="251520" y="2728967"/>
            <a:ext cx="4285318" cy="44644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4. </a:t>
            </a:r>
            <a:r>
              <a:rPr lang="pt-BR" sz="1400" dirty="0"/>
              <a:t>Soluções</a:t>
            </a:r>
            <a:r>
              <a:rPr lang="en-US" sz="1400" dirty="0"/>
              <a:t> </a:t>
            </a:r>
            <a:r>
              <a:rPr lang="pt-BR" sz="1400" dirty="0"/>
              <a:t>que</a:t>
            </a:r>
            <a:r>
              <a:rPr lang="en-US" sz="1400" dirty="0"/>
              <a:t> </a:t>
            </a:r>
            <a:r>
              <a:rPr lang="pt-BR" sz="1400" dirty="0"/>
              <a:t>envolvam</a:t>
            </a:r>
            <a:r>
              <a:rPr lang="en-US" sz="1400" dirty="0"/>
              <a:t> </a:t>
            </a:r>
            <a:r>
              <a:rPr lang="pt-BR" sz="1400" dirty="0"/>
              <a:t>apenas</a:t>
            </a:r>
            <a:r>
              <a:rPr lang="en-US" sz="1400" dirty="0"/>
              <a:t> </a:t>
            </a:r>
            <a:r>
              <a:rPr lang="pt-BR" sz="1400" dirty="0"/>
              <a:t>infraestrutura</a:t>
            </a:r>
          </a:p>
        </p:txBody>
      </p:sp>
      <p:sp>
        <p:nvSpPr>
          <p:cNvPr id="22" name="Rectangle 30"/>
          <p:cNvSpPr/>
          <p:nvPr/>
        </p:nvSpPr>
        <p:spPr>
          <a:xfrm>
            <a:off x="4859284" y="2755373"/>
            <a:ext cx="694423" cy="446449"/>
          </a:xfrm>
          <a:prstGeom prst="rect">
            <a:avLst/>
          </a:prstGeom>
          <a:gradFill flip="none" rotWithShape="1">
            <a:gsLst>
              <a:gs pos="0">
                <a:srgbClr val="004F71">
                  <a:shade val="30000"/>
                  <a:satMod val="115000"/>
                </a:srgbClr>
              </a:gs>
              <a:gs pos="50000">
                <a:srgbClr val="004F71">
                  <a:shade val="67500"/>
                  <a:satMod val="115000"/>
                </a:srgbClr>
              </a:gs>
              <a:gs pos="100000">
                <a:srgbClr val="004F7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4F7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INFRA</a:t>
            </a:r>
            <a:endParaRPr lang="en-US" dirty="0"/>
          </a:p>
        </p:txBody>
      </p:sp>
      <p:sp>
        <p:nvSpPr>
          <p:cNvPr id="30" name="Rectangle 20"/>
          <p:cNvSpPr/>
          <p:nvPr/>
        </p:nvSpPr>
        <p:spPr>
          <a:xfrm>
            <a:off x="5984409" y="1081036"/>
            <a:ext cx="694423" cy="44644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ARQ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5984409" y="2193824"/>
            <a:ext cx="694423" cy="4464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DA</a:t>
            </a:r>
            <a:endParaRPr lang="en-US" dirty="0"/>
          </a:p>
        </p:txBody>
      </p:sp>
      <p:sp>
        <p:nvSpPr>
          <p:cNvPr id="32" name="Rectangle 39"/>
          <p:cNvSpPr/>
          <p:nvPr/>
        </p:nvSpPr>
        <p:spPr>
          <a:xfrm>
            <a:off x="5984409" y="1605158"/>
            <a:ext cx="694423" cy="44644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ARQ</a:t>
            </a:r>
            <a:endParaRPr lang="en-US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5697127" y="546526"/>
            <a:ext cx="1305145" cy="53091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pt-BR" sz="1400" dirty="0"/>
              <a:t>Esboço da Solução</a:t>
            </a:r>
          </a:p>
        </p:txBody>
      </p:sp>
      <p:sp>
        <p:nvSpPr>
          <p:cNvPr id="34" name="Rectangle 30"/>
          <p:cNvSpPr/>
          <p:nvPr/>
        </p:nvSpPr>
        <p:spPr>
          <a:xfrm>
            <a:off x="5984409" y="2751646"/>
            <a:ext cx="694423" cy="446449"/>
          </a:xfrm>
          <a:prstGeom prst="rect">
            <a:avLst/>
          </a:prstGeom>
          <a:gradFill flip="none" rotWithShape="1">
            <a:gsLst>
              <a:gs pos="0">
                <a:srgbClr val="004F71">
                  <a:shade val="30000"/>
                  <a:satMod val="115000"/>
                </a:srgbClr>
              </a:gs>
              <a:gs pos="50000">
                <a:srgbClr val="004F71">
                  <a:shade val="67500"/>
                  <a:satMod val="115000"/>
                </a:srgbClr>
              </a:gs>
              <a:gs pos="100000">
                <a:srgbClr val="004F7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4F7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INFRA</a:t>
            </a:r>
            <a:endParaRPr lang="en-US" dirty="0"/>
          </a:p>
        </p:txBody>
      </p:sp>
      <p:cxnSp>
        <p:nvCxnSpPr>
          <p:cNvPr id="35" name="Straight Connector 17"/>
          <p:cNvCxnSpPr/>
          <p:nvPr/>
        </p:nvCxnSpPr>
        <p:spPr>
          <a:xfrm>
            <a:off x="5822197" y="938459"/>
            <a:ext cx="9944" cy="22369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7359636" y="158754"/>
            <a:ext cx="1478290" cy="338554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pt-BR" sz="1600" dirty="0">
                <a:latin typeface="Gill Sans Std Light" pitchFamily="34" charset="0"/>
              </a:rPr>
              <a:t>Esboçar solução</a:t>
            </a:r>
          </a:p>
        </p:txBody>
      </p:sp>
      <p:grpSp>
        <p:nvGrpSpPr>
          <p:cNvPr id="37" name="Grupo 36"/>
          <p:cNvGrpSpPr/>
          <p:nvPr/>
        </p:nvGrpSpPr>
        <p:grpSpPr>
          <a:xfrm>
            <a:off x="6867255" y="60678"/>
            <a:ext cx="498190" cy="498190"/>
            <a:chOff x="398734" y="3411643"/>
            <a:chExt cx="720000" cy="720000"/>
          </a:xfrm>
        </p:grpSpPr>
        <p:sp>
          <p:nvSpPr>
            <p:cNvPr id="38" name="Elipse 37"/>
            <p:cNvSpPr/>
            <p:nvPr/>
          </p:nvSpPr>
          <p:spPr bwMode="auto">
            <a:xfrm>
              <a:off x="398734" y="3411643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39" name="Picture 30" descr="E:\Users\br93163\Downloads\Icones\brush-3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647" y="362280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719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245"/>
          <a:stretch/>
        </p:blipFill>
        <p:spPr bwMode="auto">
          <a:xfrm>
            <a:off x="165690" y="1806667"/>
            <a:ext cx="4095750" cy="380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83" name="CaixaDeTexto 82"/>
          <p:cNvSpPr txBox="1"/>
          <p:nvPr/>
        </p:nvSpPr>
        <p:spPr>
          <a:xfrm>
            <a:off x="7359636" y="158754"/>
            <a:ext cx="1478290" cy="338554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pt-BR" sz="1600" dirty="0">
                <a:latin typeface="Gill Sans Std Light" pitchFamily="34" charset="0"/>
              </a:rPr>
              <a:t>Esboçar solução</a:t>
            </a:r>
          </a:p>
        </p:txBody>
      </p:sp>
      <p:grpSp>
        <p:nvGrpSpPr>
          <p:cNvPr id="85" name="Grupo 84"/>
          <p:cNvGrpSpPr/>
          <p:nvPr/>
        </p:nvGrpSpPr>
        <p:grpSpPr>
          <a:xfrm>
            <a:off x="6867255" y="60678"/>
            <a:ext cx="498190" cy="498190"/>
            <a:chOff x="398734" y="3411643"/>
            <a:chExt cx="720000" cy="720000"/>
          </a:xfrm>
        </p:grpSpPr>
        <p:sp>
          <p:nvSpPr>
            <p:cNvPr id="87" name="Elipse 86"/>
            <p:cNvSpPr/>
            <p:nvPr/>
          </p:nvSpPr>
          <p:spPr bwMode="auto">
            <a:xfrm>
              <a:off x="398734" y="3411643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89" name="Picture 30" descr="E:\Users\br93163\Downloads\Icones\brush-3x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647" y="362280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150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688"/>
          <a:stretch/>
        </p:blipFill>
        <p:spPr bwMode="auto">
          <a:xfrm>
            <a:off x="251522" y="681542"/>
            <a:ext cx="2681461" cy="855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9" name="Seta para a direita 68"/>
          <p:cNvSpPr/>
          <p:nvPr/>
        </p:nvSpPr>
        <p:spPr>
          <a:xfrm rot="10800000">
            <a:off x="1871700" y="1236062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70" name="CaixaDeTexto 69"/>
          <p:cNvSpPr txBox="1"/>
          <p:nvPr/>
        </p:nvSpPr>
        <p:spPr>
          <a:xfrm>
            <a:off x="1919077" y="1220514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pic>
        <p:nvPicPr>
          <p:cNvPr id="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846" y="540077"/>
            <a:ext cx="22764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2" name="Seta para a direita 71"/>
          <p:cNvSpPr/>
          <p:nvPr/>
        </p:nvSpPr>
        <p:spPr>
          <a:xfrm rot="10800000">
            <a:off x="4882159" y="1426835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73" name="CaixaDeTexto 72"/>
          <p:cNvSpPr txBox="1"/>
          <p:nvPr/>
        </p:nvSpPr>
        <p:spPr>
          <a:xfrm>
            <a:off x="4929535" y="1411287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sp>
        <p:nvSpPr>
          <p:cNvPr id="74" name="Seta para a direita 73"/>
          <p:cNvSpPr/>
          <p:nvPr/>
        </p:nvSpPr>
        <p:spPr>
          <a:xfrm rot="10800000">
            <a:off x="2756404" y="1876158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75" name="CaixaDeTexto 74"/>
          <p:cNvSpPr txBox="1"/>
          <p:nvPr/>
        </p:nvSpPr>
        <p:spPr>
          <a:xfrm>
            <a:off x="2803780" y="1850251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3</a:t>
            </a:r>
          </a:p>
        </p:txBody>
      </p:sp>
      <p:pic>
        <p:nvPicPr>
          <p:cNvPr id="76" name="Picture 6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3" t="18815" r="37143" b="34455"/>
          <a:stretch/>
        </p:blipFill>
        <p:spPr bwMode="auto">
          <a:xfrm>
            <a:off x="1324453" y="2256717"/>
            <a:ext cx="6684955" cy="2847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7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592" y="1897385"/>
            <a:ext cx="2447925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8" name="Seta para a direita 77"/>
          <p:cNvSpPr/>
          <p:nvPr/>
        </p:nvSpPr>
        <p:spPr>
          <a:xfrm rot="5400000">
            <a:off x="5908688" y="1554894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80" name="CaixaDeTexto 79"/>
          <p:cNvSpPr txBox="1"/>
          <p:nvPr/>
        </p:nvSpPr>
        <p:spPr>
          <a:xfrm>
            <a:off x="5922151" y="1539346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4</a:t>
            </a:r>
          </a:p>
        </p:txBody>
      </p:sp>
      <p:sp>
        <p:nvSpPr>
          <p:cNvPr id="81" name="Seta para a direita 80"/>
          <p:cNvSpPr/>
          <p:nvPr/>
        </p:nvSpPr>
        <p:spPr>
          <a:xfrm rot="10800000">
            <a:off x="6868398" y="4567519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82" name="CaixaDeTexto 81"/>
          <p:cNvSpPr txBox="1"/>
          <p:nvPr/>
        </p:nvSpPr>
        <p:spPr>
          <a:xfrm>
            <a:off x="6915775" y="4551970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0343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de seta reta 65"/>
          <p:cNvCxnSpPr/>
          <p:nvPr/>
        </p:nvCxnSpPr>
        <p:spPr>
          <a:xfrm>
            <a:off x="791580" y="2664673"/>
            <a:ext cx="8352420" cy="0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808233"/>
              </p:ext>
            </p:extLst>
          </p:nvPr>
        </p:nvGraphicFramePr>
        <p:xfrm>
          <a:off x="926601" y="1089500"/>
          <a:ext cx="2088232" cy="2830721"/>
        </p:xfrm>
        <a:graphic>
          <a:graphicData uri="http://schemas.openxmlformats.org/drawingml/2006/table">
            <a:tbl>
              <a:tblPr/>
              <a:tblGrid>
                <a:gridCol w="522058"/>
                <a:gridCol w="522058"/>
                <a:gridCol w="522058"/>
                <a:gridCol w="522058"/>
              </a:tblGrid>
              <a:tr h="1572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Briefing </a:t>
                      </a: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Diagrama de Sequência (Processo Negócio)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Matriz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Requisitos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Esboço da Solução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58459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56" name="Group 85"/>
          <p:cNvGrpSpPr/>
          <p:nvPr/>
        </p:nvGrpSpPr>
        <p:grpSpPr>
          <a:xfrm>
            <a:off x="2836692" y="594445"/>
            <a:ext cx="352982" cy="450050"/>
            <a:chOff x="3491880" y="816555"/>
            <a:chExt cx="352981" cy="450050"/>
          </a:xfrm>
        </p:grpSpPr>
        <p:sp>
          <p:nvSpPr>
            <p:cNvPr id="57" name="CaixaDeTexto 53"/>
            <p:cNvSpPr txBox="1"/>
            <p:nvPr/>
          </p:nvSpPr>
          <p:spPr>
            <a:xfrm>
              <a:off x="3491880" y="816555"/>
              <a:ext cx="3529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YP</a:t>
              </a:r>
            </a:p>
          </p:txBody>
        </p:sp>
        <p:pic>
          <p:nvPicPr>
            <p:cNvPr id="60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9664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66" name="Group 85"/>
          <p:cNvGrpSpPr/>
          <p:nvPr/>
        </p:nvGrpSpPr>
        <p:grpSpPr>
          <a:xfrm>
            <a:off x="1241632" y="456517"/>
            <a:ext cx="405025" cy="587978"/>
            <a:chOff x="2527833" y="678627"/>
            <a:chExt cx="405025" cy="587978"/>
          </a:xfrm>
        </p:grpSpPr>
        <p:sp>
          <p:nvSpPr>
            <p:cNvPr id="70" name="CaixaDeTexto 53"/>
            <p:cNvSpPr txBox="1"/>
            <p:nvPr/>
          </p:nvSpPr>
          <p:spPr>
            <a:xfrm>
              <a:off x="2527833" y="678627"/>
              <a:ext cx="4050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Prior</a:t>
              </a:r>
            </a:p>
            <a:p>
              <a:r>
                <a:rPr lang="pt-BR" sz="800" dirty="0"/>
                <a:t>Dem.</a:t>
              </a:r>
            </a:p>
          </p:txBody>
        </p:sp>
        <p:pic>
          <p:nvPicPr>
            <p:cNvPr id="71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4539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40" name="Group 88"/>
          <p:cNvGrpSpPr/>
          <p:nvPr/>
        </p:nvGrpSpPr>
        <p:grpSpPr>
          <a:xfrm>
            <a:off x="2119141" y="2822315"/>
            <a:ext cx="323621" cy="205203"/>
            <a:chOff x="1849113" y="2976795"/>
            <a:chExt cx="323621" cy="205203"/>
          </a:xfrm>
        </p:grpSpPr>
        <p:pic>
          <p:nvPicPr>
            <p:cNvPr id="41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9113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CaixaDeTexto 41"/>
            <p:cNvSpPr txBox="1"/>
            <p:nvPr/>
          </p:nvSpPr>
          <p:spPr>
            <a:xfrm>
              <a:off x="1898300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43" name="Group 92"/>
          <p:cNvGrpSpPr/>
          <p:nvPr/>
        </p:nvGrpSpPr>
        <p:grpSpPr>
          <a:xfrm>
            <a:off x="2640964" y="2822315"/>
            <a:ext cx="323622" cy="205203"/>
            <a:chOff x="2366755" y="2976795"/>
            <a:chExt cx="323622" cy="205203"/>
          </a:xfrm>
        </p:grpSpPr>
        <p:pic>
          <p:nvPicPr>
            <p:cNvPr id="44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675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CaixaDeTexto 87"/>
            <p:cNvSpPr txBox="1"/>
            <p:nvPr/>
          </p:nvSpPr>
          <p:spPr>
            <a:xfrm>
              <a:off x="2415943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95" name="Grupo 31"/>
          <p:cNvGrpSpPr/>
          <p:nvPr/>
        </p:nvGrpSpPr>
        <p:grpSpPr>
          <a:xfrm>
            <a:off x="73948" y="3166399"/>
            <a:ext cx="9070052" cy="710498"/>
            <a:chOff x="71500" y="2796775"/>
            <a:chExt cx="7811574" cy="710498"/>
          </a:xfrm>
        </p:grpSpPr>
        <p:sp>
          <p:nvSpPr>
            <p:cNvPr id="96" name="CaixaDeTexto 2"/>
            <p:cNvSpPr txBox="1"/>
            <p:nvPr/>
          </p:nvSpPr>
          <p:spPr>
            <a:xfrm>
              <a:off x="71500" y="2873488"/>
              <a:ext cx="6960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rgbClr val="0070C0"/>
                  </a:solidFill>
                </a:rPr>
                <a:t>Atuação</a:t>
              </a:r>
            </a:p>
          </p:txBody>
        </p:sp>
        <p:cxnSp>
          <p:nvCxnSpPr>
            <p:cNvPr id="97" name="Conector reto 25"/>
            <p:cNvCxnSpPr/>
            <p:nvPr/>
          </p:nvCxnSpPr>
          <p:spPr>
            <a:xfrm>
              <a:off x="135801" y="2796775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to 113"/>
            <p:cNvCxnSpPr/>
            <p:nvPr/>
          </p:nvCxnSpPr>
          <p:spPr>
            <a:xfrm>
              <a:off x="161510" y="3507273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CaixaDeTexto 98"/>
          <p:cNvSpPr txBox="1"/>
          <p:nvPr/>
        </p:nvSpPr>
        <p:spPr>
          <a:xfrm>
            <a:off x="959664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0" name="CaixaDeTexto 99"/>
          <p:cNvSpPr txBox="1"/>
          <p:nvPr/>
        </p:nvSpPr>
        <p:spPr>
          <a:xfrm>
            <a:off x="1499724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1" name="CaixaDeTexto 100"/>
          <p:cNvSpPr txBox="1"/>
          <p:nvPr/>
        </p:nvSpPr>
        <p:spPr>
          <a:xfrm>
            <a:off x="1994781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2583665" y="3201197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2521566" y="3391658"/>
            <a:ext cx="502061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ARQ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2478190" y="3606242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</p:spTree>
    <p:extLst>
      <p:ext uri="{BB962C8B-B14F-4D97-AF65-F5344CB8AC3E}">
        <p14:creationId xmlns:p14="http://schemas.microsoft.com/office/powerpoint/2010/main" val="2476391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5" y="1061334"/>
            <a:ext cx="9089567" cy="4030696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3221852" y="2268749"/>
            <a:ext cx="495055" cy="4950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686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99697"/>
              </p:ext>
            </p:extLst>
          </p:nvPr>
        </p:nvGraphicFramePr>
        <p:xfrm>
          <a:off x="1736686" y="636536"/>
          <a:ext cx="7155794" cy="4410489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125124"/>
                <a:gridCol w="6030670"/>
              </a:tblGrid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O que é</a:t>
                      </a:r>
                      <a:endParaRPr lang="pt-BR" sz="1800" dirty="0"/>
                    </a:p>
                  </a:txBody>
                  <a:tcPr>
                    <a:solidFill>
                      <a:srgbClr val="004F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Processo de avaliação da capacidade de execução e entrega do time de Tecnologia Digital para atender as novas demandas </a:t>
                      </a:r>
                      <a:endParaRPr lang="pt-BR" sz="1800" dirty="0"/>
                    </a:p>
                  </a:txBody>
                  <a:tcPr/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Quem faz</a:t>
                      </a:r>
                      <a:endParaRPr lang="pt-BR" sz="1800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Fórum Executivo de Demandas</a:t>
                      </a:r>
                      <a:endParaRPr lang="pt-BR" sz="1800" dirty="0"/>
                    </a:p>
                  </a:txBody>
                  <a:tcPr/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Como faz</a:t>
                      </a:r>
                      <a:endParaRPr lang="pt-BR" sz="18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Indica qual é o recurso que será</a:t>
                      </a:r>
                      <a:r>
                        <a:rPr lang="pt-BR" sz="1800" baseline="0" dirty="0" smtClean="0"/>
                        <a:t> responsável pela execução da demanda, os recursos de Core Team que irão auxiliar na condução e o % de alocação de cada um dos recursos do time</a:t>
                      </a:r>
                      <a:endParaRPr lang="pt-BR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CaixaDeTexto 13"/>
          <p:cNvSpPr txBox="1"/>
          <p:nvPr/>
        </p:nvSpPr>
        <p:spPr>
          <a:xfrm>
            <a:off x="156718" y="1581640"/>
            <a:ext cx="1489958" cy="1077218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pt-BR" sz="1600" dirty="0">
                <a:latin typeface="Gill Sans Std Light" pitchFamily="34" charset="0"/>
              </a:rPr>
              <a:t>Planejar e controlar</a:t>
            </a:r>
          </a:p>
          <a:p>
            <a:pPr algn="ctr"/>
            <a:r>
              <a:rPr lang="pt-BR" sz="1600" dirty="0">
                <a:latin typeface="Gill Sans Std Light" pitchFamily="34" charset="0"/>
              </a:rPr>
              <a:t>capacidade de entrega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565200" y="802800"/>
            <a:ext cx="720000" cy="720000"/>
            <a:chOff x="476545" y="996575"/>
            <a:chExt cx="720000" cy="720000"/>
          </a:xfrm>
        </p:grpSpPr>
        <p:sp>
          <p:nvSpPr>
            <p:cNvPr id="15" name="Elipse 14"/>
            <p:cNvSpPr/>
            <p:nvPr/>
          </p:nvSpPr>
          <p:spPr bwMode="auto">
            <a:xfrm>
              <a:off x="476545" y="996575"/>
              <a:ext cx="720000" cy="720000"/>
            </a:xfrm>
            <a:prstGeom prst="ellipse">
              <a:avLst/>
            </a:prstGeom>
            <a:solidFill>
              <a:schemeClr val="bg1"/>
            </a:solidFill>
            <a:ln w="762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u="sng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6" name="Picture 35" descr="E:\Users\br93163\Downloads\Icones\vertical-align-bottom-3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675" y="1207737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48033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tângulo de cantos arredondados 57"/>
          <p:cNvSpPr/>
          <p:nvPr>
            <p:custDataLst>
              <p:tags r:id="rId1"/>
            </p:custDataLst>
          </p:nvPr>
        </p:nvSpPr>
        <p:spPr>
          <a:xfrm>
            <a:off x="239538" y="1811978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9" name="Retângulo de cantos arredondados 8"/>
          <p:cNvSpPr/>
          <p:nvPr>
            <p:custDataLst>
              <p:tags r:id="rId2"/>
            </p:custDataLst>
          </p:nvPr>
        </p:nvSpPr>
        <p:spPr>
          <a:xfrm>
            <a:off x="239541" y="722780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10" name="Retângulo de cantos arredondados 9"/>
          <p:cNvSpPr/>
          <p:nvPr>
            <p:custDataLst>
              <p:tags r:id="rId3"/>
            </p:custDataLst>
          </p:nvPr>
        </p:nvSpPr>
        <p:spPr>
          <a:xfrm>
            <a:off x="239540" y="722780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99336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cs typeface="Arial" pitchFamily="34" charset="0"/>
              </a:rPr>
              <a:t>Governança</a:t>
            </a:r>
          </a:p>
        </p:txBody>
      </p:sp>
      <p:sp>
        <p:nvSpPr>
          <p:cNvPr id="16" name="Retângulo de cantos arredondados 15"/>
          <p:cNvSpPr/>
          <p:nvPr>
            <p:custDataLst>
              <p:tags r:id="rId4"/>
            </p:custDataLst>
          </p:nvPr>
        </p:nvSpPr>
        <p:spPr>
          <a:xfrm>
            <a:off x="239540" y="1814564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FFC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cs typeface="Arial" pitchFamily="34" charset="0"/>
              </a:rPr>
              <a:t>Liderança TD</a:t>
            </a:r>
          </a:p>
        </p:txBody>
      </p:sp>
      <p:sp>
        <p:nvSpPr>
          <p:cNvPr id="37" name="Retângulo 36"/>
          <p:cNvSpPr/>
          <p:nvPr>
            <p:custDataLst>
              <p:tags r:id="rId5"/>
            </p:custDataLst>
          </p:nvPr>
        </p:nvSpPr>
        <p:spPr>
          <a:xfrm>
            <a:off x="2975735" y="920889"/>
            <a:ext cx="1242000" cy="6005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Conduzir Fórum Executivo de Demandas</a:t>
            </a:r>
          </a:p>
        </p:txBody>
      </p:sp>
      <p:sp>
        <p:nvSpPr>
          <p:cNvPr id="53" name="Elipse 52"/>
          <p:cNvSpPr/>
          <p:nvPr>
            <p:custDataLst>
              <p:tags r:id="rId6"/>
            </p:custDataLst>
          </p:nvPr>
        </p:nvSpPr>
        <p:spPr>
          <a:xfrm>
            <a:off x="701570" y="2201685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6</a:t>
            </a:r>
          </a:p>
        </p:txBody>
      </p:sp>
      <p:sp>
        <p:nvSpPr>
          <p:cNvPr id="40" name="Retângulo 39"/>
          <p:cNvSpPr/>
          <p:nvPr>
            <p:custDataLst>
              <p:tags r:id="rId7"/>
            </p:custDataLst>
          </p:nvPr>
        </p:nvSpPr>
        <p:spPr>
          <a:xfrm>
            <a:off x="2974175" y="2008285"/>
            <a:ext cx="1243560" cy="6005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Avaliar Capacidade de atendimento de novas demandas</a:t>
            </a:r>
          </a:p>
        </p:txBody>
      </p:sp>
      <p:sp>
        <p:nvSpPr>
          <p:cNvPr id="46" name="Retângulo 45"/>
          <p:cNvSpPr/>
          <p:nvPr>
            <p:custDataLst>
              <p:tags r:id="rId8"/>
            </p:custDataLst>
          </p:nvPr>
        </p:nvSpPr>
        <p:spPr>
          <a:xfrm>
            <a:off x="4725252" y="2008915"/>
            <a:ext cx="1243560" cy="6005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Indicar Responsáveis pelas demandas  e Core Team</a:t>
            </a:r>
          </a:p>
        </p:txBody>
      </p:sp>
      <p:cxnSp>
        <p:nvCxnSpPr>
          <p:cNvPr id="11" name="Conector angulado 10"/>
          <p:cNvCxnSpPr>
            <a:stCxn id="40" idx="3"/>
            <a:endCxn id="46" idx="1"/>
          </p:cNvCxnSpPr>
          <p:nvPr/>
        </p:nvCxnSpPr>
        <p:spPr>
          <a:xfrm>
            <a:off x="4217737" y="2308551"/>
            <a:ext cx="507517" cy="63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46" idx="0"/>
            <a:endCxn id="39" idx="2"/>
          </p:cNvCxnSpPr>
          <p:nvPr/>
        </p:nvCxnSpPr>
        <p:spPr>
          <a:xfrm flipV="1">
            <a:off x="5347032" y="1518431"/>
            <a:ext cx="0" cy="49048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tângulo 38"/>
          <p:cNvSpPr/>
          <p:nvPr>
            <p:custDataLst>
              <p:tags r:id="rId9"/>
            </p:custDataLst>
          </p:nvPr>
        </p:nvSpPr>
        <p:spPr>
          <a:xfrm>
            <a:off x="4725252" y="917898"/>
            <a:ext cx="1243560" cy="6005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Atualizar as  alocações nas demandas para execução</a:t>
            </a:r>
          </a:p>
        </p:txBody>
      </p:sp>
      <p:sp>
        <p:nvSpPr>
          <p:cNvPr id="41" name="Retângulo 40"/>
          <p:cNvSpPr/>
          <p:nvPr>
            <p:custDataLst>
              <p:tags r:id="rId10"/>
            </p:custDataLst>
          </p:nvPr>
        </p:nvSpPr>
        <p:spPr>
          <a:xfrm>
            <a:off x="1287039" y="2009872"/>
            <a:ext cx="1243560" cy="6005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Atualizar alocações do times nas demandas</a:t>
            </a:r>
          </a:p>
        </p:txBody>
      </p:sp>
      <p:cxnSp>
        <p:nvCxnSpPr>
          <p:cNvPr id="21" name="Conector angulado 20"/>
          <p:cNvCxnSpPr>
            <a:stCxn id="41" idx="0"/>
            <a:endCxn id="37" idx="1"/>
          </p:cNvCxnSpPr>
          <p:nvPr/>
        </p:nvCxnSpPr>
        <p:spPr>
          <a:xfrm rot="5400000" flipH="1" flipV="1">
            <a:off x="2047922" y="1082056"/>
            <a:ext cx="788715" cy="1066916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37" idx="2"/>
            <a:endCxn id="40" idx="0"/>
          </p:cNvCxnSpPr>
          <p:nvPr/>
        </p:nvCxnSpPr>
        <p:spPr>
          <a:xfrm flipH="1">
            <a:off x="3595955" y="1521422"/>
            <a:ext cx="780" cy="4868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stCxn id="53" idx="6"/>
            <a:endCxn id="41" idx="1"/>
          </p:cNvCxnSpPr>
          <p:nvPr/>
        </p:nvCxnSpPr>
        <p:spPr>
          <a:xfrm>
            <a:off x="917572" y="2309687"/>
            <a:ext cx="369469" cy="4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tângulo 51"/>
          <p:cNvSpPr/>
          <p:nvPr>
            <p:custDataLst>
              <p:tags r:id="rId11"/>
            </p:custDataLst>
          </p:nvPr>
        </p:nvSpPr>
        <p:spPr>
          <a:xfrm>
            <a:off x="6441279" y="917898"/>
            <a:ext cx="1243560" cy="6005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Comunicar times sobre as definições</a:t>
            </a:r>
          </a:p>
        </p:txBody>
      </p:sp>
      <p:cxnSp>
        <p:nvCxnSpPr>
          <p:cNvPr id="33" name="Conector de seta reta 32"/>
          <p:cNvCxnSpPr>
            <a:stCxn id="39" idx="3"/>
            <a:endCxn id="52" idx="1"/>
          </p:cNvCxnSpPr>
          <p:nvPr/>
        </p:nvCxnSpPr>
        <p:spPr>
          <a:xfrm>
            <a:off x="5968814" y="1218164"/>
            <a:ext cx="47246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ipse 54"/>
          <p:cNvSpPr/>
          <p:nvPr>
            <p:custDataLst>
              <p:tags r:id="rId12"/>
            </p:custDataLst>
          </p:nvPr>
        </p:nvSpPr>
        <p:spPr>
          <a:xfrm>
            <a:off x="8049306" y="1115881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8</a:t>
            </a:r>
          </a:p>
        </p:txBody>
      </p:sp>
      <p:cxnSp>
        <p:nvCxnSpPr>
          <p:cNvPr id="56" name="Conector de seta reta 55"/>
          <p:cNvCxnSpPr>
            <a:stCxn id="52" idx="3"/>
            <a:endCxn id="55" idx="2"/>
          </p:cNvCxnSpPr>
          <p:nvPr/>
        </p:nvCxnSpPr>
        <p:spPr>
          <a:xfrm>
            <a:off x="7684841" y="1218166"/>
            <a:ext cx="364467" cy="57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7357517" y="51471"/>
            <a:ext cx="2255043" cy="53091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Planejar e controlar</a:t>
            </a:r>
          </a:p>
          <a:p>
            <a:r>
              <a:rPr lang="pt-BR" sz="1400" dirty="0">
                <a:latin typeface="Gill Sans Std Light" pitchFamily="34" charset="0"/>
              </a:rPr>
              <a:t>capacidade de entrega</a:t>
            </a:r>
          </a:p>
        </p:txBody>
      </p:sp>
      <p:grpSp>
        <p:nvGrpSpPr>
          <p:cNvPr id="60" name="Grupo 59"/>
          <p:cNvGrpSpPr/>
          <p:nvPr/>
        </p:nvGrpSpPr>
        <p:grpSpPr>
          <a:xfrm>
            <a:off x="6867257" y="69764"/>
            <a:ext cx="489103" cy="489103"/>
            <a:chOff x="476545" y="996575"/>
            <a:chExt cx="720000" cy="720000"/>
          </a:xfrm>
        </p:grpSpPr>
        <p:sp>
          <p:nvSpPr>
            <p:cNvPr id="61" name="Elipse 60"/>
            <p:cNvSpPr/>
            <p:nvPr/>
          </p:nvSpPr>
          <p:spPr bwMode="auto">
            <a:xfrm>
              <a:off x="476545" y="99657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u="sng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62" name="Picture 35" descr="E:\Users\br93163\Downloads\Icones\vertical-align-bottom-3x.png"/>
            <p:cNvPicPr>
              <a:picLocks noChangeAspect="1" noChangeArrowheads="1"/>
            </p:cNvPicPr>
            <p:nvPr/>
          </p:nvPicPr>
          <p:blipFill>
            <a:blip r:embed="rId1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675" y="1207737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437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06517" y="726545"/>
            <a:ext cx="4905545" cy="433965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Core Team</a:t>
            </a:r>
          </a:p>
          <a:p>
            <a:endParaRPr lang="pt-BR" dirty="0" smtClean="0"/>
          </a:p>
          <a:p>
            <a:r>
              <a:rPr lang="pt-BR" sz="1600" dirty="0"/>
              <a:t>Uma das principais causas de falhas em projeto é a comunicação. De fato, a sinalização atual de pesquisas realizadas por várias entidades (inclusive PMI) é que de a comunicação é a principal causa de falhas em projeto. </a:t>
            </a:r>
          </a:p>
          <a:p>
            <a:endParaRPr lang="pt-BR" sz="1600" dirty="0"/>
          </a:p>
          <a:p>
            <a:r>
              <a:rPr lang="pt-BR" sz="1600" dirty="0"/>
              <a:t>É um instrumento de organização da comunicação.</a:t>
            </a:r>
          </a:p>
          <a:p>
            <a:r>
              <a:rPr lang="pt-BR" sz="1600" dirty="0"/>
              <a:t>Ele permite que os envolvidos em um projeto sejam definidos previamente, facilitando a comunicação, o engajamento e o trabalho conjunto das equipes envolvidas. </a:t>
            </a:r>
          </a:p>
          <a:p>
            <a:endParaRPr lang="pt-BR" sz="1600" dirty="0"/>
          </a:p>
          <a:p>
            <a:r>
              <a:rPr lang="pt-BR" sz="1600" dirty="0"/>
              <a:t>O Core Team considera que seus integrantes são facilitadores do processo de gestão e os responsáveis pelo sucesso do projeto. São facilitadores também no envolvimento de outros atores de suas áreas internas que suportam a evolução do projeto.</a:t>
            </a:r>
          </a:p>
        </p:txBody>
      </p:sp>
      <p:graphicFrame>
        <p:nvGraphicFramePr>
          <p:cNvPr id="8" name="Diagrama 7"/>
          <p:cNvGraphicFramePr/>
          <p:nvPr>
            <p:extLst>
              <p:ext uri="{D42A27DB-BD31-4B8C-83A1-F6EECF244321}">
                <p14:modId xmlns:p14="http://schemas.microsoft.com/office/powerpoint/2010/main" val="1324025097"/>
              </p:ext>
            </p:extLst>
          </p:nvPr>
        </p:nvGraphicFramePr>
        <p:xfrm>
          <a:off x="3626897" y="951573"/>
          <a:ext cx="6525725" cy="3870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9" descr="Office Client Male Dark icon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1788069"/>
            <a:ext cx="367188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Descrição: Office Customer Male Light icon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65803" y="1974204"/>
            <a:ext cx="33853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34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63636" y="2576845"/>
            <a:ext cx="338534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38" descr="Descrição: administrator, man, user icon"/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08078" y="3165870"/>
            <a:ext cx="33853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36" descr="Descrição: user icon"/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49822" y="3579880"/>
            <a:ext cx="33853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2" descr="Descrição: account, avatar, business, human, man, men, person, profile, user icon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02172" y="1996766"/>
            <a:ext cx="338534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Descrição: Person Male Light icon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34146" y="2601965"/>
            <a:ext cx="338534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 descr="Descrição: Office Customer Male Light icon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75712" y="3211242"/>
            <a:ext cx="33853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CaixaDeTexto 22"/>
          <p:cNvSpPr txBox="1"/>
          <p:nvPr/>
        </p:nvSpPr>
        <p:spPr>
          <a:xfrm>
            <a:off x="7357517" y="51471"/>
            <a:ext cx="2255043" cy="53091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Planejar e controlar</a:t>
            </a:r>
          </a:p>
          <a:p>
            <a:r>
              <a:rPr lang="pt-BR" sz="1400" dirty="0">
                <a:latin typeface="Gill Sans Std Light" pitchFamily="34" charset="0"/>
              </a:rPr>
              <a:t>capacidade de entrega</a:t>
            </a:r>
          </a:p>
        </p:txBody>
      </p:sp>
      <p:grpSp>
        <p:nvGrpSpPr>
          <p:cNvPr id="24" name="Grupo 23"/>
          <p:cNvGrpSpPr/>
          <p:nvPr/>
        </p:nvGrpSpPr>
        <p:grpSpPr>
          <a:xfrm>
            <a:off x="6867257" y="69764"/>
            <a:ext cx="489103" cy="489103"/>
            <a:chOff x="476545" y="996575"/>
            <a:chExt cx="720000" cy="720000"/>
          </a:xfrm>
        </p:grpSpPr>
        <p:sp>
          <p:nvSpPr>
            <p:cNvPr id="25" name="Elipse 24"/>
            <p:cNvSpPr/>
            <p:nvPr/>
          </p:nvSpPr>
          <p:spPr bwMode="auto">
            <a:xfrm>
              <a:off x="476545" y="99657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u="sng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26" name="Picture 35" descr="E:\Users\br93163\Downloads\Icones\vertical-align-bottom-3x.png"/>
            <p:cNvPicPr>
              <a:picLocks noChangeAspect="1" noChangeArrowheads="1"/>
            </p:cNvPicPr>
            <p:nvPr/>
          </p:nvPicPr>
          <p:blipFill>
            <a:blip r:embed="rId1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675" y="1207737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9" name="Picture 42" descr="Descrição: account, avatar, business, human, man, men, person, profile, user icon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40704" y="3579880"/>
            <a:ext cx="338534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744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06517" y="726545"/>
            <a:ext cx="8730970" cy="13849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Alocação dos recursos no Core Team</a:t>
            </a:r>
          </a:p>
          <a:p>
            <a:endParaRPr lang="pt-BR" dirty="0" smtClean="0"/>
          </a:p>
          <a:p>
            <a:r>
              <a:rPr lang="pt-BR" sz="1600" dirty="0"/>
              <a:t>Nem todos os membros do Core Team devem ficar alocados o tempo todo na demanda. Os membros devem estar envolvidos de acordo com o momento em que a demanda se encontra. </a:t>
            </a:r>
          </a:p>
          <a:p>
            <a:endParaRPr lang="pt-BR" sz="1600" dirty="0"/>
          </a:p>
        </p:txBody>
      </p:sp>
      <p:sp>
        <p:nvSpPr>
          <p:cNvPr id="23" name="CaixaDeTexto 22"/>
          <p:cNvSpPr txBox="1"/>
          <p:nvPr/>
        </p:nvSpPr>
        <p:spPr>
          <a:xfrm>
            <a:off x="7357517" y="51471"/>
            <a:ext cx="2255043" cy="53091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Planejar e controlar</a:t>
            </a:r>
          </a:p>
          <a:p>
            <a:r>
              <a:rPr lang="pt-BR" sz="1400" dirty="0">
                <a:latin typeface="Gill Sans Std Light" pitchFamily="34" charset="0"/>
              </a:rPr>
              <a:t>capacidade de entrega</a:t>
            </a:r>
          </a:p>
        </p:txBody>
      </p:sp>
      <p:grpSp>
        <p:nvGrpSpPr>
          <p:cNvPr id="24" name="Grupo 23"/>
          <p:cNvGrpSpPr/>
          <p:nvPr/>
        </p:nvGrpSpPr>
        <p:grpSpPr>
          <a:xfrm>
            <a:off x="6867257" y="69764"/>
            <a:ext cx="489103" cy="489103"/>
            <a:chOff x="476545" y="996575"/>
            <a:chExt cx="720000" cy="720000"/>
          </a:xfrm>
        </p:grpSpPr>
        <p:sp>
          <p:nvSpPr>
            <p:cNvPr id="25" name="Elipse 24"/>
            <p:cNvSpPr/>
            <p:nvPr/>
          </p:nvSpPr>
          <p:spPr bwMode="auto">
            <a:xfrm>
              <a:off x="476545" y="99657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u="sng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26" name="Picture 35" descr="E:\Users\br93163\Downloads\Icones\vertical-align-bottom-3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675" y="1207737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Retângulo 26"/>
          <p:cNvSpPr/>
          <p:nvPr/>
        </p:nvSpPr>
        <p:spPr>
          <a:xfrm>
            <a:off x="323530" y="3561143"/>
            <a:ext cx="8280920" cy="287884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20358">
                <a:schemeClr val="tx2">
                  <a:lumMod val="60000"/>
                  <a:lumOff val="40000"/>
                </a:schemeClr>
              </a:gs>
              <a:gs pos="87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Momento</a:t>
            </a:r>
            <a:r>
              <a:rPr lang="pt-BR" sz="1200" dirty="0">
                <a:solidFill>
                  <a:schemeClr val="tx1"/>
                </a:solidFill>
              </a:rPr>
              <a:t> de alocação do Core Team no Projeto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251520" y="3520418"/>
            <a:ext cx="34977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b="1" dirty="0"/>
              <a:t>P0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356428" y="3520418"/>
            <a:ext cx="34977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b="1" dirty="0"/>
              <a:t>P1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956828" y="3520418"/>
            <a:ext cx="34977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b="1" dirty="0"/>
              <a:t>P2</a:t>
            </a:r>
          </a:p>
        </p:txBody>
      </p:sp>
      <p:pic>
        <p:nvPicPr>
          <p:cNvPr id="32" name="Picture 9" descr="Office Client Male Dark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04" y="2545672"/>
            <a:ext cx="367188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3" name="Conector angulado 32"/>
          <p:cNvCxnSpPr/>
          <p:nvPr/>
        </p:nvCxnSpPr>
        <p:spPr>
          <a:xfrm rot="16200000" flipV="1">
            <a:off x="84318" y="3091032"/>
            <a:ext cx="691174" cy="24845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" descr="Descrição: Office Customer Male Light icon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504" y="2545672"/>
            <a:ext cx="33853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Descrição: Office Customer Male Light icon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40982" y="2545820"/>
            <a:ext cx="33853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Descrição: Person Male Light icon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69772" y="2559249"/>
            <a:ext cx="338534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CaixaDeTexto 37"/>
          <p:cNvSpPr txBox="1"/>
          <p:nvPr/>
        </p:nvSpPr>
        <p:spPr>
          <a:xfrm>
            <a:off x="222948" y="3018275"/>
            <a:ext cx="417098" cy="24621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000" dirty="0"/>
              <a:t>GRP</a:t>
            </a:r>
          </a:p>
        </p:txBody>
      </p:sp>
      <p:cxnSp>
        <p:nvCxnSpPr>
          <p:cNvPr id="39" name="Conector angulado 38"/>
          <p:cNvCxnSpPr/>
          <p:nvPr/>
        </p:nvCxnSpPr>
        <p:spPr>
          <a:xfrm rot="16200000" flipV="1">
            <a:off x="400923" y="3098242"/>
            <a:ext cx="691174" cy="24845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539554" y="2883249"/>
            <a:ext cx="612668" cy="40011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000" dirty="0"/>
              <a:t>Gerente</a:t>
            </a:r>
          </a:p>
          <a:p>
            <a:r>
              <a:rPr lang="pt-BR" sz="1000" dirty="0"/>
              <a:t>Projeto</a:t>
            </a:r>
          </a:p>
        </p:txBody>
      </p:sp>
      <p:cxnSp>
        <p:nvCxnSpPr>
          <p:cNvPr id="41" name="Conector angulado 40"/>
          <p:cNvCxnSpPr/>
          <p:nvPr/>
        </p:nvCxnSpPr>
        <p:spPr>
          <a:xfrm rot="16200000" flipV="1">
            <a:off x="912348" y="3091180"/>
            <a:ext cx="691174" cy="24845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/>
          <p:cNvSpPr txBox="1"/>
          <p:nvPr/>
        </p:nvSpPr>
        <p:spPr>
          <a:xfrm>
            <a:off x="1050976" y="2876187"/>
            <a:ext cx="1465466" cy="553998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000" dirty="0"/>
              <a:t>Plataforma1 a N</a:t>
            </a:r>
          </a:p>
          <a:p>
            <a:r>
              <a:rPr lang="pt-BR" sz="1000" dirty="0"/>
              <a:t>Arquitetura Corporativa</a:t>
            </a:r>
          </a:p>
          <a:p>
            <a:r>
              <a:rPr lang="pt-BR" sz="1000" dirty="0"/>
              <a:t>Arquitetura Infraestrutura</a:t>
            </a:r>
          </a:p>
        </p:txBody>
      </p:sp>
      <p:pic>
        <p:nvPicPr>
          <p:cNvPr id="43" name="Imagem 34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2954" y="2545035"/>
            <a:ext cx="338534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Imagem 34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43820" y="2544415"/>
            <a:ext cx="338534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Conector angulado 44"/>
          <p:cNvCxnSpPr/>
          <p:nvPr/>
        </p:nvCxnSpPr>
        <p:spPr>
          <a:xfrm rot="16200000" flipV="1">
            <a:off x="2356116" y="3091180"/>
            <a:ext cx="691174" cy="24845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/>
          <p:cNvSpPr txBox="1"/>
          <p:nvPr/>
        </p:nvSpPr>
        <p:spPr>
          <a:xfrm>
            <a:off x="2494747" y="2876187"/>
            <a:ext cx="809837" cy="40011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000" dirty="0"/>
              <a:t>Gerente do </a:t>
            </a:r>
          </a:p>
          <a:p>
            <a:r>
              <a:rPr lang="pt-BR" sz="1000" dirty="0"/>
              <a:t>Projeto</a:t>
            </a:r>
          </a:p>
        </p:txBody>
      </p:sp>
      <p:pic>
        <p:nvPicPr>
          <p:cNvPr id="47" name="Picture 38" descr="Descrição: administrator, man, user icon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08210" y="2563435"/>
            <a:ext cx="33853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" name="Conector angulado 47"/>
          <p:cNvCxnSpPr/>
          <p:nvPr/>
        </p:nvCxnSpPr>
        <p:spPr>
          <a:xfrm rot="16200000" flipV="1">
            <a:off x="3066708" y="3091180"/>
            <a:ext cx="691174" cy="24845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aixaDeTexto 48"/>
          <p:cNvSpPr txBox="1"/>
          <p:nvPr/>
        </p:nvSpPr>
        <p:spPr>
          <a:xfrm>
            <a:off x="3205337" y="2876187"/>
            <a:ext cx="851515" cy="40011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000" dirty="0"/>
              <a:t>Gerente de </a:t>
            </a:r>
          </a:p>
          <a:p>
            <a:r>
              <a:rPr lang="pt-BR" sz="1000" dirty="0"/>
              <a:t>Infraestrutura</a:t>
            </a:r>
          </a:p>
        </p:txBody>
      </p:sp>
      <p:pic>
        <p:nvPicPr>
          <p:cNvPr id="50" name="Picture 36" descr="Descrição: user icon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18799" y="2563435"/>
            <a:ext cx="33853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" name="Conector angulado 50"/>
          <p:cNvCxnSpPr/>
          <p:nvPr/>
        </p:nvCxnSpPr>
        <p:spPr>
          <a:xfrm rot="16200000" flipV="1">
            <a:off x="4439667" y="3091180"/>
            <a:ext cx="691174" cy="24845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/>
          <p:cNvSpPr txBox="1"/>
          <p:nvPr/>
        </p:nvSpPr>
        <p:spPr>
          <a:xfrm>
            <a:off x="4578297" y="2912922"/>
            <a:ext cx="880369" cy="40011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000" dirty="0"/>
              <a:t>Fornecedor 1</a:t>
            </a:r>
          </a:p>
          <a:p>
            <a:r>
              <a:rPr lang="pt-BR" sz="1000" dirty="0"/>
              <a:t>Fornecedor 2</a:t>
            </a:r>
          </a:p>
        </p:txBody>
      </p:sp>
      <p:cxnSp>
        <p:nvCxnSpPr>
          <p:cNvPr id="53" name="Conector angulado 52"/>
          <p:cNvCxnSpPr/>
          <p:nvPr/>
        </p:nvCxnSpPr>
        <p:spPr>
          <a:xfrm rot="16200000" flipV="1">
            <a:off x="6887940" y="3091180"/>
            <a:ext cx="691174" cy="24845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ixaDeTexto 53"/>
          <p:cNvSpPr txBox="1"/>
          <p:nvPr/>
        </p:nvSpPr>
        <p:spPr>
          <a:xfrm>
            <a:off x="7026568" y="3026743"/>
            <a:ext cx="543735" cy="24621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000" dirty="0"/>
              <a:t>Manter</a:t>
            </a:r>
          </a:p>
        </p:txBody>
      </p:sp>
      <p:cxnSp>
        <p:nvCxnSpPr>
          <p:cNvPr id="55" name="Conector angulado 54"/>
          <p:cNvCxnSpPr/>
          <p:nvPr/>
        </p:nvCxnSpPr>
        <p:spPr>
          <a:xfrm rot="16200000" flipV="1">
            <a:off x="7313691" y="3091180"/>
            <a:ext cx="691174" cy="24845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/>
          <p:cNvSpPr txBox="1"/>
          <p:nvPr/>
        </p:nvSpPr>
        <p:spPr>
          <a:xfrm>
            <a:off x="7452321" y="3026743"/>
            <a:ext cx="508464" cy="24621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000" dirty="0"/>
              <a:t>Testes</a:t>
            </a:r>
          </a:p>
        </p:txBody>
      </p:sp>
      <p:pic>
        <p:nvPicPr>
          <p:cNvPr id="57" name="Picture 42" descr="Descrição: account, avatar, business, human, man, men, person, profile, user icon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67182" y="2552882"/>
            <a:ext cx="338534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4" descr="Descrição: Office Customer Male Light icon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16017" y="2552882"/>
            <a:ext cx="33853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9" name="Conector angulado 58"/>
          <p:cNvCxnSpPr/>
          <p:nvPr/>
        </p:nvCxnSpPr>
        <p:spPr>
          <a:xfrm rot="16200000" flipV="1">
            <a:off x="7749051" y="3073417"/>
            <a:ext cx="691174" cy="24845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/>
          <p:cNvSpPr txBox="1"/>
          <p:nvPr/>
        </p:nvSpPr>
        <p:spPr>
          <a:xfrm>
            <a:off x="7887682" y="2858424"/>
            <a:ext cx="809837" cy="40011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000" dirty="0"/>
              <a:t>Gerente do </a:t>
            </a:r>
          </a:p>
          <a:p>
            <a:r>
              <a:rPr lang="pt-BR" sz="1000" dirty="0"/>
              <a:t>Projeto</a:t>
            </a:r>
          </a:p>
        </p:txBody>
      </p:sp>
      <p:pic>
        <p:nvPicPr>
          <p:cNvPr id="61" name="Picture 38" descr="Descrição: administrator, man, user icon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01144" y="2545672"/>
            <a:ext cx="33853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CaixaDeTexto 61"/>
          <p:cNvSpPr txBox="1"/>
          <p:nvPr/>
        </p:nvSpPr>
        <p:spPr>
          <a:xfrm>
            <a:off x="8204099" y="3560846"/>
            <a:ext cx="34977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b="1" dirty="0"/>
              <a:t>P3</a:t>
            </a:r>
          </a:p>
        </p:txBody>
      </p:sp>
      <p:sp>
        <p:nvSpPr>
          <p:cNvPr id="5" name="Retângulo 4"/>
          <p:cNvSpPr/>
          <p:nvPr/>
        </p:nvSpPr>
        <p:spPr>
          <a:xfrm>
            <a:off x="222947" y="4721418"/>
            <a:ext cx="3025584" cy="21928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lvl="0"/>
            <a:r>
              <a:rPr lang="pt-BR" sz="800" dirty="0">
                <a:solidFill>
                  <a:prstClr val="black"/>
                </a:solidFill>
              </a:rPr>
              <a:t>* Governança de TD acompanha todas as etapas desde ideia até P3</a:t>
            </a:r>
          </a:p>
        </p:txBody>
      </p:sp>
      <p:cxnSp>
        <p:nvCxnSpPr>
          <p:cNvPr id="64" name="Conector angulado 63"/>
          <p:cNvCxnSpPr>
            <a:stCxn id="27" idx="3"/>
            <a:endCxn id="28" idx="1"/>
          </p:cNvCxnSpPr>
          <p:nvPr/>
        </p:nvCxnSpPr>
        <p:spPr>
          <a:xfrm flipH="1" flipV="1">
            <a:off x="251520" y="3658918"/>
            <a:ext cx="8352928" cy="46166"/>
          </a:xfrm>
          <a:prstGeom prst="bentConnector5">
            <a:avLst>
              <a:gd name="adj1" fmla="val -2737"/>
              <a:gd name="adj2" fmla="val -924288"/>
              <a:gd name="adj3" fmla="val 102737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 rot="20871253">
            <a:off x="7612245" y="4747573"/>
            <a:ext cx="1492444" cy="28060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Não Exaustivo</a:t>
            </a:r>
          </a:p>
        </p:txBody>
      </p:sp>
    </p:spTree>
    <p:extLst>
      <p:ext uri="{BB962C8B-B14F-4D97-AF65-F5344CB8AC3E}">
        <p14:creationId xmlns:p14="http://schemas.microsoft.com/office/powerpoint/2010/main" val="140134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aixaDeTexto 25"/>
          <p:cNvSpPr txBox="1"/>
          <p:nvPr/>
        </p:nvSpPr>
        <p:spPr>
          <a:xfrm>
            <a:off x="206517" y="582383"/>
            <a:ext cx="8730970" cy="769437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1100" dirty="0" smtClean="0">
                <a:latin typeface="+mj-lt"/>
              </a:rPr>
              <a:t>Configurações de Core Team</a:t>
            </a:r>
          </a:p>
          <a:p>
            <a:endParaRPr lang="pt-BR" sz="1100" dirty="0" smtClean="0"/>
          </a:p>
          <a:p>
            <a:r>
              <a:rPr lang="pt-BR" sz="1050" dirty="0"/>
              <a:t>Dependendo da demanda em questão, a configuração do Core Team é diferente. </a:t>
            </a:r>
          </a:p>
          <a:p>
            <a:endParaRPr lang="pt-BR" sz="1050" dirty="0"/>
          </a:p>
        </p:txBody>
      </p:sp>
      <p:pic>
        <p:nvPicPr>
          <p:cNvPr id="73" name="Imagem 7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20577">
            <a:off x="1909861" y="4338202"/>
            <a:ext cx="841307" cy="841307"/>
          </a:xfrm>
          <a:prstGeom prst="rect">
            <a:avLst/>
          </a:prstGeom>
        </p:spPr>
      </p:pic>
      <p:pic>
        <p:nvPicPr>
          <p:cNvPr id="74" name="Imagem 7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20577">
            <a:off x="5007751" y="4338202"/>
            <a:ext cx="841307" cy="841307"/>
          </a:xfrm>
          <a:prstGeom prst="rect">
            <a:avLst/>
          </a:prstGeom>
        </p:spPr>
      </p:pic>
      <p:pic>
        <p:nvPicPr>
          <p:cNvPr id="75" name="Imagem 7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20577">
            <a:off x="8105641" y="4338202"/>
            <a:ext cx="841307" cy="841307"/>
          </a:xfrm>
          <a:prstGeom prst="rect">
            <a:avLst/>
          </a:prstGeom>
        </p:spPr>
      </p:pic>
      <p:cxnSp>
        <p:nvCxnSpPr>
          <p:cNvPr id="31" name="Conector reto 30"/>
          <p:cNvCxnSpPr/>
          <p:nvPr/>
        </p:nvCxnSpPr>
        <p:spPr>
          <a:xfrm flipH="1">
            <a:off x="3070136" y="1202099"/>
            <a:ext cx="2226" cy="4204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/>
          <p:nvPr/>
        </p:nvCxnSpPr>
        <p:spPr>
          <a:xfrm flipH="1">
            <a:off x="6178734" y="1202099"/>
            <a:ext cx="742" cy="3918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tângulo de cantos arredondados 66"/>
          <p:cNvSpPr/>
          <p:nvPr/>
        </p:nvSpPr>
        <p:spPr>
          <a:xfrm>
            <a:off x="3692424" y="1137594"/>
            <a:ext cx="2055799" cy="399041"/>
          </a:xfrm>
          <a:prstGeom prst="round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783"/>
            <a:r>
              <a:rPr lang="pt-BR" sz="1400" dirty="0">
                <a:solidFill>
                  <a:schemeClr val="tx2"/>
                </a:solidFill>
              </a:rPr>
              <a:t>Projeto Médio</a:t>
            </a:r>
          </a:p>
        </p:txBody>
      </p:sp>
      <p:sp>
        <p:nvSpPr>
          <p:cNvPr id="68" name="Retângulo de cantos arredondados 67"/>
          <p:cNvSpPr/>
          <p:nvPr/>
        </p:nvSpPr>
        <p:spPr>
          <a:xfrm>
            <a:off x="6566651" y="1137594"/>
            <a:ext cx="2055799" cy="399041"/>
          </a:xfrm>
          <a:prstGeom prst="round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783"/>
            <a:r>
              <a:rPr lang="pt-BR" sz="1400" dirty="0">
                <a:solidFill>
                  <a:schemeClr val="tx2"/>
                </a:solidFill>
              </a:rPr>
              <a:t>Projeto Pequeno/SE</a:t>
            </a:r>
          </a:p>
        </p:txBody>
      </p:sp>
      <p:sp>
        <p:nvSpPr>
          <p:cNvPr id="69" name="Retângulo de cantos arredondados 68"/>
          <p:cNvSpPr/>
          <p:nvPr/>
        </p:nvSpPr>
        <p:spPr>
          <a:xfrm>
            <a:off x="463217" y="1137594"/>
            <a:ext cx="2055799" cy="399041"/>
          </a:xfrm>
          <a:prstGeom prst="round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783"/>
            <a:r>
              <a:rPr lang="pt-BR" sz="1400" dirty="0">
                <a:solidFill>
                  <a:schemeClr val="tx2"/>
                </a:solidFill>
              </a:rPr>
              <a:t>Projeto Grande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264478" y="4650732"/>
            <a:ext cx="2040671" cy="507830"/>
          </a:xfrm>
          <a:prstGeom prst="rect">
            <a:avLst/>
          </a:prstGeom>
          <a:noFill/>
        </p:spPr>
        <p:txBody>
          <a:bodyPr wrap="square" lIns="68579" tIns="34289" rIns="68579" bIns="34289" rtlCol="0">
            <a:spAutoFit/>
          </a:bodyPr>
          <a:lstStyle/>
          <a:p>
            <a:pPr defTabSz="685783"/>
            <a:r>
              <a:rPr lang="pt-BR" sz="1400" dirty="0">
                <a:solidFill>
                  <a:srgbClr val="5B9BD5">
                    <a:lumMod val="50000"/>
                  </a:srgbClr>
                </a:solidFill>
              </a:rPr>
              <a:t>Periodicidade: Semanal</a:t>
            </a:r>
          </a:p>
          <a:p>
            <a:pPr defTabSz="685783"/>
            <a:r>
              <a:rPr lang="pt-BR" sz="1400" dirty="0">
                <a:solidFill>
                  <a:srgbClr val="5B9BD5">
                    <a:lumMod val="50000"/>
                  </a:srgbClr>
                </a:solidFill>
              </a:rPr>
              <a:t>Formato: Presencial</a:t>
            </a:r>
          </a:p>
        </p:txBody>
      </p:sp>
      <p:sp>
        <p:nvSpPr>
          <p:cNvPr id="71" name="CaixaDeTexto 70"/>
          <p:cNvSpPr txBox="1"/>
          <p:nvPr/>
        </p:nvSpPr>
        <p:spPr>
          <a:xfrm>
            <a:off x="3316451" y="4635100"/>
            <a:ext cx="2040671" cy="507830"/>
          </a:xfrm>
          <a:prstGeom prst="rect">
            <a:avLst/>
          </a:prstGeom>
          <a:noFill/>
        </p:spPr>
        <p:txBody>
          <a:bodyPr wrap="square" lIns="68579" tIns="34289" rIns="68579" bIns="34289" rtlCol="0">
            <a:spAutoFit/>
          </a:bodyPr>
          <a:lstStyle/>
          <a:p>
            <a:pPr defTabSz="685783"/>
            <a:r>
              <a:rPr lang="pt-BR" sz="1400" dirty="0">
                <a:solidFill>
                  <a:srgbClr val="5B9BD5">
                    <a:lumMod val="50000"/>
                  </a:srgbClr>
                </a:solidFill>
              </a:rPr>
              <a:t>Periodicidade: Quinzenal</a:t>
            </a:r>
          </a:p>
          <a:p>
            <a:pPr defTabSz="685783"/>
            <a:r>
              <a:rPr lang="pt-BR" sz="1400" dirty="0">
                <a:solidFill>
                  <a:srgbClr val="5B9BD5">
                    <a:lumMod val="50000"/>
                  </a:srgbClr>
                </a:solidFill>
              </a:rPr>
              <a:t>Formato: Presencial</a:t>
            </a:r>
          </a:p>
        </p:txBody>
      </p:sp>
      <p:sp>
        <p:nvSpPr>
          <p:cNvPr id="72" name="CaixaDeTexto 71"/>
          <p:cNvSpPr txBox="1"/>
          <p:nvPr/>
        </p:nvSpPr>
        <p:spPr>
          <a:xfrm>
            <a:off x="6374765" y="4635100"/>
            <a:ext cx="2595606" cy="507830"/>
          </a:xfrm>
          <a:prstGeom prst="rect">
            <a:avLst/>
          </a:prstGeom>
          <a:noFill/>
        </p:spPr>
        <p:txBody>
          <a:bodyPr wrap="square" lIns="68579" tIns="34289" rIns="68579" bIns="34289" rtlCol="0">
            <a:spAutoFit/>
          </a:bodyPr>
          <a:lstStyle/>
          <a:p>
            <a:pPr defTabSz="685783"/>
            <a:r>
              <a:rPr lang="pt-BR" sz="1400" dirty="0">
                <a:solidFill>
                  <a:srgbClr val="5B9BD5">
                    <a:lumMod val="50000"/>
                  </a:srgbClr>
                </a:solidFill>
              </a:rPr>
              <a:t>Periodicidade: Reuniões Pontuais</a:t>
            </a:r>
          </a:p>
          <a:p>
            <a:pPr defTabSz="685783"/>
            <a:r>
              <a:rPr lang="pt-BR" sz="1400" dirty="0">
                <a:solidFill>
                  <a:srgbClr val="5B9BD5">
                    <a:lumMod val="50000"/>
                  </a:srgbClr>
                </a:solidFill>
              </a:rPr>
              <a:t>Formato: Virtual</a:t>
            </a:r>
          </a:p>
        </p:txBody>
      </p:sp>
      <p:pic>
        <p:nvPicPr>
          <p:cNvPr id="81" name="Imagem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810" y="1474780"/>
            <a:ext cx="4036962" cy="2468509"/>
          </a:xfrm>
          <a:prstGeom prst="rect">
            <a:avLst/>
          </a:prstGeom>
        </p:spPr>
      </p:pic>
      <p:pic>
        <p:nvPicPr>
          <p:cNvPr id="90" name="Imagem 8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38258" y="1538500"/>
            <a:ext cx="4540433" cy="2827781"/>
          </a:xfrm>
          <a:prstGeom prst="rect">
            <a:avLst/>
          </a:prstGeom>
        </p:spPr>
      </p:pic>
      <p:pic>
        <p:nvPicPr>
          <p:cNvPr id="97" name="Imagem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9445" y="1462173"/>
            <a:ext cx="4509446" cy="2808482"/>
          </a:xfrm>
          <a:prstGeom prst="rect">
            <a:avLst/>
          </a:prstGeom>
        </p:spPr>
      </p:pic>
      <p:sp>
        <p:nvSpPr>
          <p:cNvPr id="17" name="CaixaDeTexto 16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57517" y="51471"/>
            <a:ext cx="2255043" cy="53091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Planejar e controlar</a:t>
            </a:r>
          </a:p>
          <a:p>
            <a:r>
              <a:rPr lang="pt-BR" sz="1400" dirty="0">
                <a:latin typeface="Gill Sans Std Light" pitchFamily="34" charset="0"/>
              </a:rPr>
              <a:t>capacidade de entrega</a:t>
            </a:r>
          </a:p>
        </p:txBody>
      </p:sp>
      <p:grpSp>
        <p:nvGrpSpPr>
          <p:cNvPr id="19" name="Grupo 18"/>
          <p:cNvGrpSpPr/>
          <p:nvPr/>
        </p:nvGrpSpPr>
        <p:grpSpPr>
          <a:xfrm>
            <a:off x="6867257" y="69764"/>
            <a:ext cx="489103" cy="489103"/>
            <a:chOff x="476545" y="996575"/>
            <a:chExt cx="720000" cy="720000"/>
          </a:xfrm>
        </p:grpSpPr>
        <p:sp>
          <p:nvSpPr>
            <p:cNvPr id="20" name="Elipse 19"/>
            <p:cNvSpPr/>
            <p:nvPr/>
          </p:nvSpPr>
          <p:spPr bwMode="auto">
            <a:xfrm>
              <a:off x="476545" y="99657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u="sng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21" name="Picture 35" descr="E:\Users\br93163\Downloads\Icones\vertical-align-bottom-3x.png"/>
            <p:cNvPicPr>
              <a:picLocks noChangeAspect="1" noChangeArrowheads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675" y="1207737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4809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Diagrama 16"/>
          <p:cNvGraphicFramePr/>
          <p:nvPr>
            <p:extLst>
              <p:ext uri="{D42A27DB-BD31-4B8C-83A1-F6EECF244321}">
                <p14:modId xmlns:p14="http://schemas.microsoft.com/office/powerpoint/2010/main" val="513421546"/>
              </p:ext>
            </p:extLst>
          </p:nvPr>
        </p:nvGraphicFramePr>
        <p:xfrm>
          <a:off x="1086824" y="675168"/>
          <a:ext cx="6088986" cy="4027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8" name="Picture 9" descr="Office Client Male Dark icon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270" y="1459310"/>
            <a:ext cx="326829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Descrição: Office Customer Male Light icon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97070" y="1644531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m 34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2069" y="2190612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m 34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4819" y="2820327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38" descr="Descrição: administrator, man, user icon"/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63646" y="3327735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6" descr="Descrição: user icon"/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6773" y="3539822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Descrição: Office Customer Male Light icon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67012" y="3327735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2" descr="Descrição: account, avatar, business, human, man, men, person, profile, user icon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72465" y="1747443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Descrição: Person Male Light icon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65687" y="2205906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Descrição: Office Customer Male Light icon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2616" y="2798586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Imagem 2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20577">
            <a:off x="7883963" y="788420"/>
            <a:ext cx="841307" cy="841307"/>
          </a:xfrm>
          <a:prstGeom prst="rect">
            <a:avLst/>
          </a:prstGeom>
        </p:spPr>
      </p:pic>
      <p:sp>
        <p:nvSpPr>
          <p:cNvPr id="30" name="CaixaDeTexto 29"/>
          <p:cNvSpPr txBox="1"/>
          <p:nvPr/>
        </p:nvSpPr>
        <p:spPr>
          <a:xfrm>
            <a:off x="6397906" y="671431"/>
            <a:ext cx="2040671" cy="507830"/>
          </a:xfrm>
          <a:prstGeom prst="rect">
            <a:avLst/>
          </a:prstGeom>
          <a:noFill/>
        </p:spPr>
        <p:txBody>
          <a:bodyPr wrap="square" lIns="68579" tIns="34289" rIns="68579" bIns="34289" rtlCol="0">
            <a:spAutoFit/>
          </a:bodyPr>
          <a:lstStyle/>
          <a:p>
            <a:pPr defTabSz="685783"/>
            <a:r>
              <a:rPr lang="pt-BR" sz="1400" dirty="0">
                <a:solidFill>
                  <a:srgbClr val="5B9BD5">
                    <a:lumMod val="50000"/>
                  </a:srgbClr>
                </a:solidFill>
                <a:latin typeface="Gill Sans MT" pitchFamily="34" charset="0"/>
              </a:rPr>
              <a:t>Periodicidade: Semanal</a:t>
            </a:r>
          </a:p>
          <a:p>
            <a:pPr defTabSz="685783"/>
            <a:r>
              <a:rPr lang="pt-BR" sz="1400" dirty="0">
                <a:solidFill>
                  <a:srgbClr val="5B9BD5">
                    <a:lumMod val="50000"/>
                  </a:srgbClr>
                </a:solidFill>
                <a:latin typeface="Gill Sans MT" pitchFamily="34" charset="0"/>
              </a:rPr>
              <a:t>Formato: Presencial</a:t>
            </a:r>
          </a:p>
        </p:txBody>
      </p:sp>
      <p:pic>
        <p:nvPicPr>
          <p:cNvPr id="37" name="Picture 38" descr="Descrição: administrator, man, user icon"/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581" y="3228884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Descrição: Person Male Light icon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18125" y="3142187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2" descr="Descrição: account, avatar, business, human, man, men, person, profile, user icon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24955" y="3526809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Imagem 34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42354" y="1823433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36" descr="Descrição: user icon"/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49754" y="2102223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4" descr="Descrição: Office Customer Male Light icon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6465" y="3471930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4" descr="Descrição: Office Customer Male Light icon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57973" y="2251146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2" descr="Descrição: Person Male Light icon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03159" y="2057994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6" name="Conector reto 45"/>
          <p:cNvCxnSpPr/>
          <p:nvPr/>
        </p:nvCxnSpPr>
        <p:spPr>
          <a:xfrm flipV="1">
            <a:off x="6096581" y="1644530"/>
            <a:ext cx="472207" cy="5460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/>
          <p:nvPr/>
        </p:nvCxnSpPr>
        <p:spPr>
          <a:xfrm>
            <a:off x="6096581" y="2190613"/>
            <a:ext cx="451433" cy="5652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/>
          <p:cNvCxnSpPr/>
          <p:nvPr/>
        </p:nvCxnSpPr>
        <p:spPr>
          <a:xfrm flipV="1">
            <a:off x="6096581" y="2942779"/>
            <a:ext cx="472207" cy="286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/>
          <p:nvPr/>
        </p:nvCxnSpPr>
        <p:spPr>
          <a:xfrm>
            <a:off x="6096580" y="3228885"/>
            <a:ext cx="0" cy="5958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/>
          <p:cNvCxnSpPr/>
          <p:nvPr/>
        </p:nvCxnSpPr>
        <p:spPr>
          <a:xfrm flipH="1" flipV="1">
            <a:off x="1927212" y="1459311"/>
            <a:ext cx="255641" cy="5765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/>
          <p:nvPr/>
        </p:nvCxnSpPr>
        <p:spPr>
          <a:xfrm flipH="1">
            <a:off x="1682025" y="2035831"/>
            <a:ext cx="492254" cy="310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Picture 4" descr="Descrição: Office Customer Male Light icon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12242" y="1459310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2" descr="Descrição: Person Male Light icon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94333" y="1793349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38" descr="Descrição: administrator, man, user icon"/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42239" y="1891637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42" descr="Descrição: account, avatar, business, human, man, men, person, profile, user icon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97271" y="1539633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Imagem 34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2955" y="1747443"/>
            <a:ext cx="301325" cy="2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Elipse 85"/>
          <p:cNvSpPr/>
          <p:nvPr/>
        </p:nvSpPr>
        <p:spPr>
          <a:xfrm>
            <a:off x="200816" y="3142187"/>
            <a:ext cx="1827088" cy="1708595"/>
          </a:xfrm>
          <a:prstGeom prst="ellipse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68579" tIns="34289" rIns="68579" bIns="34289" rtlCol="0" anchor="ctr"/>
          <a:lstStyle/>
          <a:p>
            <a:pPr algn="ctr" defTabSz="685783"/>
            <a:endParaRPr lang="pt-BR" sz="1400">
              <a:solidFill>
                <a:prstClr val="black"/>
              </a:solidFill>
              <a:latin typeface="Gill Sans MT" pitchFamily="34" charset="0"/>
            </a:endParaRPr>
          </a:p>
        </p:txBody>
      </p:sp>
      <p:sp>
        <p:nvSpPr>
          <p:cNvPr id="87" name="Retângulo 86"/>
          <p:cNvSpPr/>
          <p:nvPr/>
        </p:nvSpPr>
        <p:spPr>
          <a:xfrm>
            <a:off x="373857" y="3538199"/>
            <a:ext cx="1657855" cy="288539"/>
          </a:xfrm>
          <a:prstGeom prst="rect">
            <a:avLst/>
          </a:prstGeom>
        </p:spPr>
        <p:txBody>
          <a:bodyPr wrap="none" lIns="68579" tIns="34289" rIns="68579" bIns="34289">
            <a:spAutoFit/>
          </a:bodyPr>
          <a:lstStyle/>
          <a:p>
            <a:pPr defTabSz="685783"/>
            <a:r>
              <a:rPr lang="pt-BR" sz="1400" dirty="0">
                <a:solidFill>
                  <a:srgbClr val="5B9BD5">
                    <a:lumMod val="50000"/>
                  </a:srgbClr>
                </a:solidFill>
                <a:latin typeface="Gill Sans MT" pitchFamily="34" charset="0"/>
              </a:rPr>
              <a:t>Reunião de Trabalho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7357517" y="51471"/>
            <a:ext cx="2255043" cy="53091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Planejar e controlar</a:t>
            </a:r>
          </a:p>
          <a:p>
            <a:r>
              <a:rPr lang="pt-BR" sz="1400" dirty="0">
                <a:latin typeface="Gill Sans Std Light" pitchFamily="34" charset="0"/>
              </a:rPr>
              <a:t>capacidade de entrega</a:t>
            </a:r>
          </a:p>
        </p:txBody>
      </p:sp>
      <p:grpSp>
        <p:nvGrpSpPr>
          <p:cNvPr id="42" name="Grupo 41"/>
          <p:cNvGrpSpPr/>
          <p:nvPr/>
        </p:nvGrpSpPr>
        <p:grpSpPr>
          <a:xfrm>
            <a:off x="6867257" y="69764"/>
            <a:ext cx="489103" cy="489103"/>
            <a:chOff x="476545" y="996575"/>
            <a:chExt cx="720000" cy="720000"/>
          </a:xfrm>
        </p:grpSpPr>
        <p:sp>
          <p:nvSpPr>
            <p:cNvPr id="43" name="Elipse 42"/>
            <p:cNvSpPr/>
            <p:nvPr/>
          </p:nvSpPr>
          <p:spPr bwMode="auto">
            <a:xfrm>
              <a:off x="476545" y="99657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u="sng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44" name="Picture 35" descr="E:\Users\br93163\Downloads\Icones\vertical-align-bottom-3x.png"/>
            <p:cNvPicPr>
              <a:picLocks noChangeAspect="1" noChangeArrowheads="1"/>
            </p:cNvPicPr>
            <p:nvPr/>
          </p:nvPicPr>
          <p:blipFill>
            <a:blip r:embed="rId1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675" y="1207737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4248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4.07407E-6 L -0.06289 0.41598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51" y="2078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7.40741E-7 L -0.6138 0.36852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690" y="1842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2.59259E-6 L -0.52838 0.0687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19" y="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7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06515" y="783159"/>
            <a:ext cx="8640960" cy="34163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Fórum Executivo de Demandas</a:t>
            </a:r>
          </a:p>
          <a:p>
            <a:endParaRPr lang="pt-BR" dirty="0"/>
          </a:p>
          <a:p>
            <a:r>
              <a:rPr lang="pt-BR" sz="1600" dirty="0"/>
              <a:t>O Fórum Executivo de Demandas serve para:</a:t>
            </a:r>
          </a:p>
          <a:p>
            <a:endParaRPr lang="pt-BR" sz="1600" dirty="0"/>
          </a:p>
          <a:p>
            <a:pPr marL="628619" lvl="1" indent="-171442">
              <a:buFont typeface="Arial" pitchFamily="34" charset="0"/>
              <a:buChar char="•"/>
            </a:pPr>
            <a:r>
              <a:rPr lang="pt-BR" sz="1600" dirty="0"/>
              <a:t>Compartilhamento de informações sobre os projetos em andamento</a:t>
            </a:r>
          </a:p>
          <a:p>
            <a:pPr marL="628619" lvl="1" indent="-171442">
              <a:buFont typeface="Arial" pitchFamily="34" charset="0"/>
              <a:buChar char="•"/>
            </a:pPr>
            <a:r>
              <a:rPr lang="pt-BR" sz="1600" dirty="0"/>
              <a:t>Definir a alocação das equipes</a:t>
            </a:r>
          </a:p>
          <a:p>
            <a:pPr marL="628619" lvl="1" indent="-171442" defTabSz="914250">
              <a:buFont typeface="Arial" pitchFamily="34" charset="0"/>
              <a:buChar char="•"/>
              <a:defRPr/>
            </a:pPr>
            <a:r>
              <a:rPr lang="pt-BR" sz="1600" dirty="0"/>
              <a:t>Definição dos integrantes do Core Team.</a:t>
            </a:r>
          </a:p>
          <a:p>
            <a:pPr marL="628619" lvl="1" indent="-171442" defTabSz="914250">
              <a:buFont typeface="Arial" pitchFamily="34" charset="0"/>
              <a:buChar char="•"/>
              <a:defRPr/>
            </a:pPr>
            <a:r>
              <a:rPr lang="pt-BR" sz="1600" dirty="0"/>
              <a:t>Definição de ações e tarefas para a solução</a:t>
            </a:r>
          </a:p>
          <a:p>
            <a:pPr>
              <a:spcBef>
                <a:spcPts val="1200"/>
              </a:spcBef>
            </a:pPr>
            <a:r>
              <a:rPr lang="pt-BR" sz="1600" dirty="0"/>
              <a:t>É um encontro entre os líderes das plataformas de DA,  Arquitetura Corporativa e liderança dos </a:t>
            </a:r>
            <a:r>
              <a:rPr lang="pt-BR" sz="1600" dirty="0" err="1"/>
              <a:t>GRPs</a:t>
            </a:r>
            <a:r>
              <a:rPr lang="pt-BR" sz="1600" dirty="0"/>
              <a:t>. Cada demanda possui 10 minutos para definição do core </a:t>
            </a:r>
            <a:r>
              <a:rPr lang="pt-BR" sz="1600" dirty="0" err="1"/>
              <a:t>team</a:t>
            </a:r>
            <a:r>
              <a:rPr lang="pt-BR" sz="1600" dirty="0"/>
              <a:t> do projeto e % de alocação.</a:t>
            </a:r>
          </a:p>
          <a:p>
            <a:pPr>
              <a:spcBef>
                <a:spcPts val="1200"/>
              </a:spcBef>
            </a:pPr>
            <a:r>
              <a:rPr lang="pt-BR" sz="1600" dirty="0"/>
              <a:t>O Fórum ocorre semanalmente. As demandas que forem convertidas em projetos (passarem do Yellow Pad) estarão automaticamente matriculadas no fórum.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7357517" y="51471"/>
            <a:ext cx="2255043" cy="53091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Planejar e controlar</a:t>
            </a:r>
          </a:p>
          <a:p>
            <a:r>
              <a:rPr lang="pt-BR" sz="1400" dirty="0">
                <a:latin typeface="Gill Sans Std Light" pitchFamily="34" charset="0"/>
              </a:rPr>
              <a:t>capacidade de entrega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6867257" y="69764"/>
            <a:ext cx="489103" cy="489103"/>
            <a:chOff x="476545" y="996575"/>
            <a:chExt cx="720000" cy="720000"/>
          </a:xfrm>
        </p:grpSpPr>
        <p:sp>
          <p:nvSpPr>
            <p:cNvPr id="10" name="Elipse 9"/>
            <p:cNvSpPr/>
            <p:nvPr/>
          </p:nvSpPr>
          <p:spPr bwMode="auto">
            <a:xfrm>
              <a:off x="476545" y="99657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u="sng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3" name="Picture 35" descr="E:\Users\br93163\Downloads\Icones\vertical-align-bottom-3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675" y="1207737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02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7357517" y="51471"/>
            <a:ext cx="2255043" cy="53091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Planejar e controlar</a:t>
            </a:r>
          </a:p>
          <a:p>
            <a:r>
              <a:rPr lang="pt-BR" sz="1400" dirty="0">
                <a:latin typeface="Gill Sans Std Light" pitchFamily="34" charset="0"/>
              </a:rPr>
              <a:t>capacidade de entrega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6867257" y="69764"/>
            <a:ext cx="489103" cy="489103"/>
            <a:chOff x="476545" y="996575"/>
            <a:chExt cx="720000" cy="720000"/>
          </a:xfrm>
        </p:grpSpPr>
        <p:sp>
          <p:nvSpPr>
            <p:cNvPr id="9" name="Elipse 8"/>
            <p:cNvSpPr/>
            <p:nvPr/>
          </p:nvSpPr>
          <p:spPr bwMode="auto">
            <a:xfrm>
              <a:off x="476545" y="99657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u="sng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0" name="Picture 35" descr="E:\Users\br93163\Downloads\Icones\vertical-align-bottom-3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675" y="1207737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/>
          <a:srcRect l="5726" t="8165" r="1229" b="32158"/>
          <a:stretch/>
        </p:blipFill>
        <p:spPr>
          <a:xfrm>
            <a:off x="162000" y="816555"/>
            <a:ext cx="8730970" cy="3148342"/>
          </a:xfrm>
          <a:prstGeom prst="rect">
            <a:avLst/>
          </a:prstGeom>
        </p:spPr>
      </p:pic>
      <p:sp>
        <p:nvSpPr>
          <p:cNvPr id="11" name="Seta para a direita 10"/>
          <p:cNvSpPr/>
          <p:nvPr/>
        </p:nvSpPr>
        <p:spPr>
          <a:xfrm rot="10800000">
            <a:off x="1779320" y="1417169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1826695" y="1401621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13" name="Seta para a direita 12"/>
          <p:cNvSpPr/>
          <p:nvPr/>
        </p:nvSpPr>
        <p:spPr>
          <a:xfrm rot="10800000">
            <a:off x="924225" y="2362274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971602" y="2346726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581889" y="3436597"/>
            <a:ext cx="2835316" cy="1295395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Uma vez aprovado o Esboço da Solução, no Fórum Yellow Pad, a Ideia transforma-se em Projeto e passa a ser acessado pelo menu respectivo. O projeto será configurado por template pelo time do PMO de TD.</a:t>
            </a:r>
          </a:p>
        </p:txBody>
      </p:sp>
    </p:spTree>
    <p:extLst>
      <p:ext uri="{BB962C8B-B14F-4D97-AF65-F5344CB8AC3E}">
        <p14:creationId xmlns:p14="http://schemas.microsoft.com/office/powerpoint/2010/main" val="3924019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7357517" y="51471"/>
            <a:ext cx="2255043" cy="53091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Planejar e controlar</a:t>
            </a:r>
          </a:p>
          <a:p>
            <a:r>
              <a:rPr lang="pt-BR" sz="1400" dirty="0">
                <a:latin typeface="Gill Sans Std Light" pitchFamily="34" charset="0"/>
              </a:rPr>
              <a:t>capacidade de entrega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6867257" y="69764"/>
            <a:ext cx="489103" cy="489103"/>
            <a:chOff x="476545" y="996575"/>
            <a:chExt cx="720000" cy="720000"/>
          </a:xfrm>
        </p:grpSpPr>
        <p:sp>
          <p:nvSpPr>
            <p:cNvPr id="9" name="Elipse 8"/>
            <p:cNvSpPr/>
            <p:nvPr/>
          </p:nvSpPr>
          <p:spPr bwMode="auto">
            <a:xfrm>
              <a:off x="476545" y="99657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u="sng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0" name="Picture 35" descr="E:\Users\br93163\Downloads\Icones\vertical-align-bottom-3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675" y="1207737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02" y="861561"/>
            <a:ext cx="8865495" cy="1122040"/>
          </a:xfrm>
          <a:prstGeom prst="rect">
            <a:avLst/>
          </a:prstGeom>
        </p:spPr>
      </p:pic>
      <p:sp>
        <p:nvSpPr>
          <p:cNvPr id="17" name="Seta para a direita 16"/>
          <p:cNvSpPr/>
          <p:nvPr/>
        </p:nvSpPr>
        <p:spPr>
          <a:xfrm rot="5400000">
            <a:off x="1219127" y="627100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1232113" y="604596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20" name="Seta para a direita 19"/>
          <p:cNvSpPr/>
          <p:nvPr/>
        </p:nvSpPr>
        <p:spPr>
          <a:xfrm rot="5400000">
            <a:off x="463561" y="1514135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476545" y="1491631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77" y="2076697"/>
            <a:ext cx="7847290" cy="2903497"/>
          </a:xfrm>
          <a:prstGeom prst="rect">
            <a:avLst/>
          </a:prstGeom>
        </p:spPr>
      </p:pic>
      <p:sp>
        <p:nvSpPr>
          <p:cNvPr id="22" name="Seta para a direita 21"/>
          <p:cNvSpPr/>
          <p:nvPr/>
        </p:nvSpPr>
        <p:spPr>
          <a:xfrm rot="10800000">
            <a:off x="2274375" y="2542294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2321752" y="2526745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3</a:t>
            </a:r>
          </a:p>
        </p:txBody>
      </p:sp>
      <p:sp>
        <p:nvSpPr>
          <p:cNvPr id="25" name="Seta para a direita 24"/>
          <p:cNvSpPr/>
          <p:nvPr/>
        </p:nvSpPr>
        <p:spPr>
          <a:xfrm rot="5400000">
            <a:off x="710735" y="4169430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723721" y="4146925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4</a:t>
            </a:r>
          </a:p>
        </p:txBody>
      </p:sp>
      <p:sp>
        <p:nvSpPr>
          <p:cNvPr id="28" name="Seta para a direita 27"/>
          <p:cNvSpPr/>
          <p:nvPr/>
        </p:nvSpPr>
        <p:spPr>
          <a:xfrm rot="5400000">
            <a:off x="1228645" y="4574475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1241629" y="4551970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5</a:t>
            </a:r>
          </a:p>
        </p:txBody>
      </p:sp>
      <p:sp>
        <p:nvSpPr>
          <p:cNvPr id="30" name="Seta para a direita 29"/>
          <p:cNvSpPr/>
          <p:nvPr/>
        </p:nvSpPr>
        <p:spPr>
          <a:xfrm rot="5400000">
            <a:off x="1967761" y="4574475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1980745" y="4551970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5</a:t>
            </a:r>
          </a:p>
        </p:txBody>
      </p:sp>
      <p:sp>
        <p:nvSpPr>
          <p:cNvPr id="32" name="Retângulo 31"/>
          <p:cNvSpPr/>
          <p:nvPr/>
        </p:nvSpPr>
        <p:spPr>
          <a:xfrm>
            <a:off x="3086835" y="2286297"/>
            <a:ext cx="2835316" cy="1115375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Para alocar um recurso, ele deve ser localizado através da pesquisa, ser selecionado e adicionado para ser incluído no time do projeto</a:t>
            </a:r>
          </a:p>
        </p:txBody>
      </p:sp>
    </p:spTree>
    <p:extLst>
      <p:ext uri="{BB962C8B-B14F-4D97-AF65-F5344CB8AC3E}">
        <p14:creationId xmlns:p14="http://schemas.microsoft.com/office/powerpoint/2010/main" val="4142836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7357517" y="51471"/>
            <a:ext cx="2255043" cy="53091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Planejar e controlar</a:t>
            </a:r>
          </a:p>
          <a:p>
            <a:r>
              <a:rPr lang="pt-BR" sz="1400" dirty="0">
                <a:latin typeface="Gill Sans Std Light" pitchFamily="34" charset="0"/>
              </a:rPr>
              <a:t>capacidade de entrega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6867257" y="69764"/>
            <a:ext cx="489103" cy="489103"/>
            <a:chOff x="476545" y="996575"/>
            <a:chExt cx="720000" cy="720000"/>
          </a:xfrm>
        </p:grpSpPr>
        <p:sp>
          <p:nvSpPr>
            <p:cNvPr id="9" name="Elipse 8"/>
            <p:cNvSpPr/>
            <p:nvPr/>
          </p:nvSpPr>
          <p:spPr bwMode="auto">
            <a:xfrm>
              <a:off x="476545" y="99657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u="sng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0" name="Picture 35" descr="E:\Users\br93163\Downloads\Icones\vertical-align-bottom-3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675" y="1207737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20" y="616451"/>
            <a:ext cx="8844175" cy="1325231"/>
          </a:xfrm>
          <a:prstGeom prst="rect">
            <a:avLst/>
          </a:prstGeom>
        </p:spPr>
      </p:pic>
      <p:sp>
        <p:nvSpPr>
          <p:cNvPr id="24" name="Seta para a direita 23"/>
          <p:cNvSpPr/>
          <p:nvPr/>
        </p:nvSpPr>
        <p:spPr>
          <a:xfrm rot="5400000">
            <a:off x="409037" y="944833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422023" y="922329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4"/>
          <a:srcRect b="47046"/>
          <a:stretch/>
        </p:blipFill>
        <p:spPr>
          <a:xfrm>
            <a:off x="84287" y="1996918"/>
            <a:ext cx="8925895" cy="1924982"/>
          </a:xfrm>
          <a:prstGeom prst="rect">
            <a:avLst/>
          </a:prstGeom>
        </p:spPr>
      </p:pic>
      <p:sp>
        <p:nvSpPr>
          <p:cNvPr id="33" name="Seta para a direita 32"/>
          <p:cNvSpPr/>
          <p:nvPr/>
        </p:nvSpPr>
        <p:spPr>
          <a:xfrm rot="10800000">
            <a:off x="1914335" y="2677309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961710" y="2661760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3</a:t>
            </a:r>
          </a:p>
        </p:txBody>
      </p:sp>
      <p:sp>
        <p:nvSpPr>
          <p:cNvPr id="35" name="Seta para a direita 34"/>
          <p:cNvSpPr/>
          <p:nvPr/>
        </p:nvSpPr>
        <p:spPr>
          <a:xfrm rot="10800000">
            <a:off x="1914335" y="2931225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1961710" y="2915677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4</a:t>
            </a:r>
          </a:p>
        </p:txBody>
      </p:sp>
      <p:sp>
        <p:nvSpPr>
          <p:cNvPr id="37" name="Seta para a direita 36"/>
          <p:cNvSpPr/>
          <p:nvPr/>
        </p:nvSpPr>
        <p:spPr>
          <a:xfrm rot="10800000">
            <a:off x="1914335" y="3160846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1961710" y="3145297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5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20" y="3888793"/>
            <a:ext cx="2486025" cy="26670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6"/>
          <a:srcRect b="19078"/>
          <a:stretch/>
        </p:blipFill>
        <p:spPr>
          <a:xfrm>
            <a:off x="107719" y="4182546"/>
            <a:ext cx="9009786" cy="954490"/>
          </a:xfrm>
          <a:prstGeom prst="rect">
            <a:avLst/>
          </a:prstGeom>
        </p:spPr>
      </p:pic>
      <p:sp>
        <p:nvSpPr>
          <p:cNvPr id="39" name="Seta para a direita 38"/>
          <p:cNvSpPr/>
          <p:nvPr/>
        </p:nvSpPr>
        <p:spPr>
          <a:xfrm rot="5400000">
            <a:off x="385177" y="3657382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398161" y="3634878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6</a:t>
            </a:r>
          </a:p>
        </p:txBody>
      </p:sp>
      <p:sp>
        <p:nvSpPr>
          <p:cNvPr id="12" name="Elipse 11"/>
          <p:cNvSpPr/>
          <p:nvPr/>
        </p:nvSpPr>
        <p:spPr>
          <a:xfrm>
            <a:off x="6867255" y="4641980"/>
            <a:ext cx="900100" cy="40504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/>
          </a:p>
        </p:txBody>
      </p:sp>
      <p:sp>
        <p:nvSpPr>
          <p:cNvPr id="22" name="Retângulo 21"/>
          <p:cNvSpPr/>
          <p:nvPr/>
        </p:nvSpPr>
        <p:spPr>
          <a:xfrm>
            <a:off x="5939859" y="2270497"/>
            <a:ext cx="2835316" cy="1115375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Os recursos e suas respectivas alocações são realizados pelos gestores das áreas, no Fórum Executivo</a:t>
            </a:r>
          </a:p>
        </p:txBody>
      </p:sp>
    </p:spTree>
    <p:extLst>
      <p:ext uri="{BB962C8B-B14F-4D97-AF65-F5344CB8AC3E}">
        <p14:creationId xmlns:p14="http://schemas.microsoft.com/office/powerpoint/2010/main" val="152209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de seta reta 65"/>
          <p:cNvCxnSpPr/>
          <p:nvPr/>
        </p:nvCxnSpPr>
        <p:spPr>
          <a:xfrm>
            <a:off x="791580" y="2664673"/>
            <a:ext cx="8352420" cy="0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586704"/>
              </p:ext>
            </p:extLst>
          </p:nvPr>
        </p:nvGraphicFramePr>
        <p:xfrm>
          <a:off x="926601" y="1089500"/>
          <a:ext cx="2088232" cy="2830721"/>
        </p:xfrm>
        <a:graphic>
          <a:graphicData uri="http://schemas.openxmlformats.org/drawingml/2006/table">
            <a:tbl>
              <a:tblPr/>
              <a:tblGrid>
                <a:gridCol w="522058"/>
                <a:gridCol w="522058"/>
                <a:gridCol w="522058"/>
                <a:gridCol w="522058"/>
              </a:tblGrid>
              <a:tr h="1572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Briefing </a:t>
                      </a: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Diagrama de Sequência (Processo Negócio)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Matriz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Requisitos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Esboço da Solução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58459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7" name="CaixaDeTexto 53"/>
          <p:cNvSpPr txBox="1"/>
          <p:nvPr/>
        </p:nvSpPr>
        <p:spPr>
          <a:xfrm>
            <a:off x="2726797" y="4317066"/>
            <a:ext cx="579005" cy="46166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CORE</a:t>
            </a:r>
          </a:p>
          <a:p>
            <a:r>
              <a:rPr lang="pt-BR" sz="1200" dirty="0"/>
              <a:t>TEAM</a:t>
            </a:r>
          </a:p>
        </p:txBody>
      </p:sp>
      <p:pic>
        <p:nvPicPr>
          <p:cNvPr id="60" name="Picture 38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912147" y="4011286"/>
            <a:ext cx="207895" cy="264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6" name="Group 85"/>
          <p:cNvGrpSpPr/>
          <p:nvPr/>
        </p:nvGrpSpPr>
        <p:grpSpPr>
          <a:xfrm>
            <a:off x="1241632" y="456517"/>
            <a:ext cx="405025" cy="587978"/>
            <a:chOff x="2527833" y="678627"/>
            <a:chExt cx="405025" cy="587978"/>
          </a:xfrm>
        </p:grpSpPr>
        <p:sp>
          <p:nvSpPr>
            <p:cNvPr id="70" name="CaixaDeTexto 53"/>
            <p:cNvSpPr txBox="1"/>
            <p:nvPr/>
          </p:nvSpPr>
          <p:spPr>
            <a:xfrm>
              <a:off x="2527833" y="678627"/>
              <a:ext cx="4050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Prior</a:t>
              </a:r>
            </a:p>
            <a:p>
              <a:r>
                <a:rPr lang="pt-BR" sz="800" dirty="0"/>
                <a:t>Dem.</a:t>
              </a:r>
            </a:p>
          </p:txBody>
        </p:sp>
        <p:pic>
          <p:nvPicPr>
            <p:cNvPr id="71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4539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40" name="Group 88"/>
          <p:cNvGrpSpPr/>
          <p:nvPr/>
        </p:nvGrpSpPr>
        <p:grpSpPr>
          <a:xfrm>
            <a:off x="2119141" y="2822315"/>
            <a:ext cx="323621" cy="205203"/>
            <a:chOff x="1849113" y="2976795"/>
            <a:chExt cx="323621" cy="205203"/>
          </a:xfrm>
        </p:grpSpPr>
        <p:pic>
          <p:nvPicPr>
            <p:cNvPr id="41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9113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CaixaDeTexto 41"/>
            <p:cNvSpPr txBox="1"/>
            <p:nvPr/>
          </p:nvSpPr>
          <p:spPr>
            <a:xfrm>
              <a:off x="1898300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43" name="Group 92"/>
          <p:cNvGrpSpPr/>
          <p:nvPr/>
        </p:nvGrpSpPr>
        <p:grpSpPr>
          <a:xfrm>
            <a:off x="2640964" y="2822315"/>
            <a:ext cx="323622" cy="205203"/>
            <a:chOff x="2366755" y="2976795"/>
            <a:chExt cx="323622" cy="205203"/>
          </a:xfrm>
        </p:grpSpPr>
        <p:pic>
          <p:nvPicPr>
            <p:cNvPr id="44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675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CaixaDeTexto 87"/>
            <p:cNvSpPr txBox="1"/>
            <p:nvPr/>
          </p:nvSpPr>
          <p:spPr>
            <a:xfrm>
              <a:off x="2415943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95" name="Grupo 31"/>
          <p:cNvGrpSpPr/>
          <p:nvPr/>
        </p:nvGrpSpPr>
        <p:grpSpPr>
          <a:xfrm>
            <a:off x="73948" y="3166399"/>
            <a:ext cx="9070052" cy="710498"/>
            <a:chOff x="71500" y="2796775"/>
            <a:chExt cx="7811574" cy="710498"/>
          </a:xfrm>
        </p:grpSpPr>
        <p:sp>
          <p:nvSpPr>
            <p:cNvPr id="96" name="CaixaDeTexto 2"/>
            <p:cNvSpPr txBox="1"/>
            <p:nvPr/>
          </p:nvSpPr>
          <p:spPr>
            <a:xfrm>
              <a:off x="71500" y="2873488"/>
              <a:ext cx="6960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rgbClr val="0070C0"/>
                  </a:solidFill>
                </a:rPr>
                <a:t>Atuação</a:t>
              </a:r>
            </a:p>
          </p:txBody>
        </p:sp>
        <p:cxnSp>
          <p:nvCxnSpPr>
            <p:cNvPr id="97" name="Conector reto 25"/>
            <p:cNvCxnSpPr/>
            <p:nvPr/>
          </p:nvCxnSpPr>
          <p:spPr>
            <a:xfrm>
              <a:off x="135801" y="2796775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to 113"/>
            <p:cNvCxnSpPr/>
            <p:nvPr/>
          </p:nvCxnSpPr>
          <p:spPr>
            <a:xfrm>
              <a:off x="161510" y="3507273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CaixaDeTexto 98"/>
          <p:cNvSpPr txBox="1"/>
          <p:nvPr/>
        </p:nvSpPr>
        <p:spPr>
          <a:xfrm>
            <a:off x="959664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0" name="CaixaDeTexto 99"/>
          <p:cNvSpPr txBox="1"/>
          <p:nvPr/>
        </p:nvSpPr>
        <p:spPr>
          <a:xfrm>
            <a:off x="1499724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1" name="CaixaDeTexto 100"/>
          <p:cNvSpPr txBox="1"/>
          <p:nvPr/>
        </p:nvSpPr>
        <p:spPr>
          <a:xfrm>
            <a:off x="1994781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2583665" y="3201197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2521566" y="3391658"/>
            <a:ext cx="502061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ARQ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2478190" y="3606242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grpSp>
        <p:nvGrpSpPr>
          <p:cNvPr id="93" name="Group 85"/>
          <p:cNvGrpSpPr/>
          <p:nvPr/>
        </p:nvGrpSpPr>
        <p:grpSpPr>
          <a:xfrm>
            <a:off x="2836692" y="591532"/>
            <a:ext cx="352982" cy="450050"/>
            <a:chOff x="3491880" y="816555"/>
            <a:chExt cx="352981" cy="450050"/>
          </a:xfrm>
        </p:grpSpPr>
        <p:sp>
          <p:nvSpPr>
            <p:cNvPr id="102" name="CaixaDeTexto 53"/>
            <p:cNvSpPr txBox="1"/>
            <p:nvPr/>
          </p:nvSpPr>
          <p:spPr>
            <a:xfrm>
              <a:off x="3491880" y="816555"/>
              <a:ext cx="3529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YP</a:t>
              </a:r>
            </a:p>
          </p:txBody>
        </p:sp>
        <p:pic>
          <p:nvPicPr>
            <p:cNvPr id="113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9664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3851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5" y="1061334"/>
            <a:ext cx="9089567" cy="4030696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3851920" y="2268749"/>
            <a:ext cx="1620180" cy="4950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533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957750"/>
              </p:ext>
            </p:extLst>
          </p:nvPr>
        </p:nvGraphicFramePr>
        <p:xfrm>
          <a:off x="1736686" y="636536"/>
          <a:ext cx="7155794" cy="4410489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125124"/>
                <a:gridCol w="6030670"/>
              </a:tblGrid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O que é</a:t>
                      </a:r>
                      <a:endParaRPr lang="pt-BR" sz="1800" dirty="0"/>
                    </a:p>
                  </a:txBody>
                  <a:tcPr>
                    <a:solidFill>
                      <a:srgbClr val="004F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É o processo de pré-planejamento</a:t>
                      </a:r>
                      <a:r>
                        <a:rPr lang="pt-BR" sz="1800" baseline="0" dirty="0" smtClean="0"/>
                        <a:t> da demanda, ou seja, onde é avaliado o escopo da implantação, identificadas as dependências e impactos nas demais demandas/sistemas e estimado o prazo e custo de implantação</a:t>
                      </a:r>
                      <a:endParaRPr lang="pt-BR" sz="1800" dirty="0"/>
                    </a:p>
                  </a:txBody>
                  <a:tcPr/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Quem faz</a:t>
                      </a:r>
                      <a:endParaRPr lang="pt-BR" sz="1800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Líder da Demanda</a:t>
                      </a:r>
                      <a:endParaRPr lang="pt-BR" sz="1800" dirty="0"/>
                    </a:p>
                  </a:txBody>
                  <a:tcPr/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Como faz</a:t>
                      </a:r>
                      <a:endParaRPr lang="pt-BR" sz="18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Através da elaboração do documento de P0, criação do registro de P0 na ferramenta Clarity e conclusão do item de ação referente</a:t>
                      </a:r>
                      <a:r>
                        <a:rPr lang="pt-BR" sz="1800" baseline="0" dirty="0" smtClean="0"/>
                        <a:t> a essa etapa</a:t>
                      </a:r>
                      <a:endParaRPr lang="pt-BR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tângulo 8"/>
          <p:cNvSpPr/>
          <p:nvPr/>
        </p:nvSpPr>
        <p:spPr bwMode="auto">
          <a:xfrm rot="5400000">
            <a:off x="490360" y="2293110"/>
            <a:ext cx="685800" cy="141514"/>
          </a:xfrm>
          <a:prstGeom prst="rect">
            <a:avLst/>
          </a:prstGeom>
          <a:solidFill>
            <a:srgbClr val="002060"/>
          </a:soli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36" tIns="45718" rIns="91436" bIns="45718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BR" sz="3600" u="sng" dirty="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47311" y="3424289"/>
            <a:ext cx="1654620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ctr"/>
            <a:r>
              <a:rPr lang="pt-BR" sz="1600" dirty="0">
                <a:latin typeface="Gill Sans Std Light" pitchFamily="34" charset="0"/>
              </a:rPr>
              <a:t>Pré-planejar e </a:t>
            </a:r>
          </a:p>
          <a:p>
            <a:pPr algn="ctr"/>
            <a:r>
              <a:rPr lang="pt-BR" sz="1600" dirty="0">
                <a:latin typeface="Gill Sans Std Light" pitchFamily="34" charset="0"/>
              </a:rPr>
              <a:t>analisar viabilidade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29357" y="744089"/>
            <a:ext cx="1455430" cy="830997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pt-BR" sz="1600" dirty="0">
                <a:latin typeface="Gill Sans Std Light" pitchFamily="34" charset="0"/>
              </a:rPr>
              <a:t>Analisar dependências</a:t>
            </a:r>
          </a:p>
          <a:p>
            <a:pPr algn="ctr"/>
            <a:r>
              <a:rPr lang="pt-BR" sz="1600" dirty="0">
                <a:latin typeface="Gill Sans Std Light" pitchFamily="34" charset="0"/>
              </a:rPr>
              <a:t>e impactos</a:t>
            </a:r>
          </a:p>
        </p:txBody>
      </p:sp>
      <p:grpSp>
        <p:nvGrpSpPr>
          <p:cNvPr id="5" name="Grupo 4"/>
          <p:cNvGrpSpPr/>
          <p:nvPr/>
        </p:nvGrpSpPr>
        <p:grpSpPr>
          <a:xfrm>
            <a:off x="497072" y="1569093"/>
            <a:ext cx="720000" cy="720000"/>
            <a:chOff x="476545" y="2706845"/>
            <a:chExt cx="720000" cy="720000"/>
          </a:xfrm>
        </p:grpSpPr>
        <p:sp>
          <p:nvSpPr>
            <p:cNvPr id="12" name="Elipse 11"/>
            <p:cNvSpPr/>
            <p:nvPr/>
          </p:nvSpPr>
          <p:spPr bwMode="auto">
            <a:xfrm>
              <a:off x="476545" y="2706845"/>
              <a:ext cx="720000" cy="720000"/>
            </a:xfrm>
            <a:prstGeom prst="ellipse">
              <a:avLst/>
            </a:prstGeom>
            <a:solidFill>
              <a:schemeClr val="bg1"/>
            </a:solidFill>
            <a:ln w="762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u="sng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8" name="Picture 24" descr="E:\Users\br93163\Downloads\Icones\link-intact-4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872" y="2846422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Grupo 2"/>
          <p:cNvGrpSpPr/>
          <p:nvPr/>
        </p:nvGrpSpPr>
        <p:grpSpPr>
          <a:xfrm>
            <a:off x="473260" y="2584996"/>
            <a:ext cx="720000" cy="720000"/>
            <a:chOff x="473240" y="1401700"/>
            <a:chExt cx="720000" cy="720000"/>
          </a:xfrm>
        </p:grpSpPr>
        <p:sp>
          <p:nvSpPr>
            <p:cNvPr id="10" name="Elipse 9"/>
            <p:cNvSpPr/>
            <p:nvPr/>
          </p:nvSpPr>
          <p:spPr bwMode="auto">
            <a:xfrm>
              <a:off x="473240" y="1401700"/>
              <a:ext cx="720000" cy="720000"/>
            </a:xfrm>
            <a:prstGeom prst="ellipse">
              <a:avLst/>
            </a:prstGeom>
            <a:solidFill>
              <a:schemeClr val="bg1"/>
            </a:solidFill>
            <a:ln w="762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u="sng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9" name="Picture 32" descr="E:\Users\br93163\Downloads\Icones\calculator-4x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1401" y="1554806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48713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479719"/>
              </p:ext>
            </p:extLst>
          </p:nvPr>
        </p:nvGraphicFramePr>
        <p:xfrm>
          <a:off x="1736686" y="636536"/>
          <a:ext cx="7155794" cy="4410489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125124"/>
                <a:gridCol w="6030670"/>
              </a:tblGrid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O que é</a:t>
                      </a:r>
                      <a:endParaRPr lang="pt-BR" sz="1800" dirty="0"/>
                    </a:p>
                  </a:txBody>
                  <a:tcPr>
                    <a:solidFill>
                      <a:srgbClr val="004F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É o</a:t>
                      </a:r>
                      <a:r>
                        <a:rPr lang="pt-BR" sz="1800" baseline="0" dirty="0" smtClean="0"/>
                        <a:t> processo de avaliação das demandas candidatas aos Releases de Sistemas de Tecnologia Digital. Uma vez que os sistemas envolvidos na demanda estiverem dentro do processo de implantação por Release, é necessário que sejam incluídos nos processos de controle de release</a:t>
                      </a:r>
                      <a:endParaRPr lang="pt-BR" sz="1800" dirty="0"/>
                    </a:p>
                  </a:txBody>
                  <a:tcPr/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Quem faz</a:t>
                      </a:r>
                      <a:endParaRPr lang="pt-BR" sz="1800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Líder da Demanda</a:t>
                      </a:r>
                    </a:p>
                    <a:p>
                      <a:r>
                        <a:rPr lang="pt-BR" sz="1800" dirty="0" smtClean="0"/>
                        <a:t>Time de Gestão</a:t>
                      </a:r>
                      <a:r>
                        <a:rPr lang="pt-BR" sz="1800" baseline="0" dirty="0" smtClean="0"/>
                        <a:t> Por Releases</a:t>
                      </a:r>
                      <a:endParaRPr lang="pt-BR" sz="1800" dirty="0"/>
                    </a:p>
                  </a:txBody>
                  <a:tcPr/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Como faz</a:t>
                      </a:r>
                      <a:endParaRPr lang="pt-BR" sz="18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A demanda deve ser cadastrada no Fórum</a:t>
                      </a:r>
                      <a:r>
                        <a:rPr lang="pt-BR" sz="1800" baseline="0" dirty="0" smtClean="0"/>
                        <a:t> de Projetos e Releases, e o seu líder deve participar das reuniões semanais de controle. A data de entrega da demanda deve seguir o cronograma de releases</a:t>
                      </a:r>
                      <a:endParaRPr lang="pt-BR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CaixaDeTexto 7"/>
          <p:cNvSpPr txBox="1"/>
          <p:nvPr/>
        </p:nvSpPr>
        <p:spPr>
          <a:xfrm>
            <a:off x="10348" y="1581932"/>
            <a:ext cx="1712324" cy="58477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ctr"/>
            <a:r>
              <a:rPr lang="pt-BR" sz="1600" dirty="0">
                <a:latin typeface="Gill Sans Std Light" pitchFamily="34" charset="0"/>
              </a:rPr>
              <a:t>Planejar e </a:t>
            </a:r>
          </a:p>
          <a:p>
            <a:pPr algn="ctr"/>
            <a:r>
              <a:rPr lang="pt-BR" sz="1600" dirty="0">
                <a:latin typeface="Gill Sans Std Light" pitchFamily="34" charset="0"/>
              </a:rPr>
              <a:t>Controlar Releases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521630" y="802800"/>
            <a:ext cx="720000" cy="720000"/>
            <a:chOff x="431540" y="3921980"/>
            <a:chExt cx="720000" cy="720000"/>
          </a:xfrm>
        </p:grpSpPr>
        <p:sp>
          <p:nvSpPr>
            <p:cNvPr id="9" name="Elipse 8"/>
            <p:cNvSpPr/>
            <p:nvPr/>
          </p:nvSpPr>
          <p:spPr bwMode="auto">
            <a:xfrm>
              <a:off x="431540" y="3921980"/>
              <a:ext cx="720000" cy="720000"/>
            </a:xfrm>
            <a:prstGeom prst="ellipse">
              <a:avLst/>
            </a:prstGeom>
            <a:solidFill>
              <a:schemeClr val="bg1"/>
            </a:solidFill>
            <a:ln w="762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u="sng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0" name="Picture 31" descr="E:\Users\br93163\Downloads\Icones\calendar-3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018" y="4118628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35967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tângulo de cantos arredondados 60"/>
          <p:cNvSpPr/>
          <p:nvPr>
            <p:custDataLst>
              <p:tags r:id="rId1"/>
            </p:custDataLst>
          </p:nvPr>
        </p:nvSpPr>
        <p:spPr>
          <a:xfrm>
            <a:off x="239538" y="3888210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60" name="Retângulo de cantos arredondados 59"/>
          <p:cNvSpPr/>
          <p:nvPr>
            <p:custDataLst>
              <p:tags r:id="rId2"/>
            </p:custDataLst>
          </p:nvPr>
        </p:nvSpPr>
        <p:spPr>
          <a:xfrm>
            <a:off x="239538" y="2809952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59" name="Retângulo de cantos arredondados 58"/>
          <p:cNvSpPr/>
          <p:nvPr>
            <p:custDataLst>
              <p:tags r:id="rId3"/>
            </p:custDataLst>
          </p:nvPr>
        </p:nvSpPr>
        <p:spPr>
          <a:xfrm>
            <a:off x="239538" y="1729814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58" name="Retângulo de cantos arredondados 57"/>
          <p:cNvSpPr/>
          <p:nvPr>
            <p:custDataLst>
              <p:tags r:id="rId4"/>
            </p:custDataLst>
          </p:nvPr>
        </p:nvSpPr>
        <p:spPr>
          <a:xfrm>
            <a:off x="239538" y="654905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16" name="Retângulo de cantos arredondados 15"/>
          <p:cNvSpPr/>
          <p:nvPr>
            <p:custDataLst>
              <p:tags r:id="rId5"/>
            </p:custDataLst>
          </p:nvPr>
        </p:nvSpPr>
        <p:spPr>
          <a:xfrm>
            <a:off x="239540" y="657491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FF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cs typeface="Arial" pitchFamily="34" charset="0"/>
              </a:rPr>
              <a:t>DA</a:t>
            </a:r>
          </a:p>
        </p:txBody>
      </p:sp>
      <p:sp>
        <p:nvSpPr>
          <p:cNvPr id="18" name="Retângulo de cantos arredondados 17"/>
          <p:cNvSpPr/>
          <p:nvPr>
            <p:custDataLst>
              <p:tags r:id="rId6"/>
            </p:custDataLst>
          </p:nvPr>
        </p:nvSpPr>
        <p:spPr>
          <a:xfrm>
            <a:off x="239540" y="1734986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00B05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cs typeface="Arial" pitchFamily="34" charset="0"/>
              </a:rPr>
              <a:t>Arquitetura Corporativa</a:t>
            </a:r>
          </a:p>
        </p:txBody>
      </p:sp>
      <p:sp>
        <p:nvSpPr>
          <p:cNvPr id="20" name="Retângulo de cantos arredondados 19"/>
          <p:cNvSpPr/>
          <p:nvPr>
            <p:custDataLst>
              <p:tags r:id="rId7"/>
            </p:custDataLst>
          </p:nvPr>
        </p:nvSpPr>
        <p:spPr>
          <a:xfrm>
            <a:off x="239540" y="2795747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FEEACB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cs typeface="Arial" pitchFamily="34" charset="0"/>
              </a:rPr>
              <a:t>Arquitetura de Infra</a:t>
            </a:r>
          </a:p>
        </p:txBody>
      </p:sp>
      <p:sp>
        <p:nvSpPr>
          <p:cNvPr id="51" name="Elipse 50"/>
          <p:cNvSpPr/>
          <p:nvPr>
            <p:custDataLst>
              <p:tags r:id="rId8"/>
            </p:custDataLst>
          </p:nvPr>
        </p:nvSpPr>
        <p:spPr>
          <a:xfrm>
            <a:off x="656565" y="1090620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7</a:t>
            </a:r>
          </a:p>
        </p:txBody>
      </p:sp>
      <p:sp>
        <p:nvSpPr>
          <p:cNvPr id="53" name="Retângulo 52"/>
          <p:cNvSpPr/>
          <p:nvPr>
            <p:custDataLst>
              <p:tags r:id="rId9"/>
            </p:custDataLst>
          </p:nvPr>
        </p:nvSpPr>
        <p:spPr>
          <a:xfrm>
            <a:off x="1478482" y="884899"/>
            <a:ext cx="759944" cy="6274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Enriquecer requisitos da demanda</a:t>
            </a:r>
          </a:p>
        </p:txBody>
      </p:sp>
      <p:cxnSp>
        <p:nvCxnSpPr>
          <p:cNvPr id="12" name="Conector de seta reta 11"/>
          <p:cNvCxnSpPr>
            <a:stCxn id="51" idx="6"/>
            <a:endCxn id="146" idx="1"/>
          </p:cNvCxnSpPr>
          <p:nvPr/>
        </p:nvCxnSpPr>
        <p:spPr>
          <a:xfrm flipV="1">
            <a:off x="872565" y="1192293"/>
            <a:ext cx="144040" cy="63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tângulo 90"/>
          <p:cNvSpPr/>
          <p:nvPr>
            <p:custDataLst>
              <p:tags r:id="rId10"/>
            </p:custDataLst>
          </p:nvPr>
        </p:nvSpPr>
        <p:spPr>
          <a:xfrm>
            <a:off x="5157065" y="852517"/>
            <a:ext cx="1135875" cy="6922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Solicitar estimativas de Desenvolvimento  e Manter para fornecedores</a:t>
            </a:r>
          </a:p>
        </p:txBody>
      </p:sp>
      <p:cxnSp>
        <p:nvCxnSpPr>
          <p:cNvPr id="19" name="Conector de seta reta 18"/>
          <p:cNvCxnSpPr>
            <a:stCxn id="53" idx="3"/>
            <a:endCxn id="97" idx="1"/>
          </p:cNvCxnSpPr>
          <p:nvPr/>
        </p:nvCxnSpPr>
        <p:spPr>
          <a:xfrm>
            <a:off x="2238427" y="1198620"/>
            <a:ext cx="24012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tângulo 134"/>
          <p:cNvSpPr/>
          <p:nvPr>
            <p:custDataLst>
              <p:tags r:id="rId11"/>
            </p:custDataLst>
          </p:nvPr>
        </p:nvSpPr>
        <p:spPr>
          <a:xfrm>
            <a:off x="6517806" y="919624"/>
            <a:ext cx="934516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Refinar estimativa de custo e prazo</a:t>
            </a:r>
          </a:p>
        </p:txBody>
      </p:sp>
      <p:cxnSp>
        <p:nvCxnSpPr>
          <p:cNvPr id="31" name="Conector de seta reta 30"/>
          <p:cNvCxnSpPr>
            <a:stCxn id="91" idx="3"/>
            <a:endCxn id="135" idx="1"/>
          </p:cNvCxnSpPr>
          <p:nvPr/>
        </p:nvCxnSpPr>
        <p:spPr>
          <a:xfrm>
            <a:off x="6292942" y="1198620"/>
            <a:ext cx="2248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tângulo 83"/>
          <p:cNvSpPr/>
          <p:nvPr>
            <p:custDataLst>
              <p:tags r:id="rId12"/>
            </p:custDataLst>
          </p:nvPr>
        </p:nvSpPr>
        <p:spPr>
          <a:xfrm>
            <a:off x="7735314" y="919624"/>
            <a:ext cx="934516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Elaborar Pré-Planejamento da Demanda</a:t>
            </a:r>
          </a:p>
        </p:txBody>
      </p:sp>
      <p:sp>
        <p:nvSpPr>
          <p:cNvPr id="17" name="Seta dobrada para cima 16"/>
          <p:cNvSpPr/>
          <p:nvPr/>
        </p:nvSpPr>
        <p:spPr>
          <a:xfrm>
            <a:off x="7497137" y="1544725"/>
            <a:ext cx="867099" cy="3007245"/>
          </a:xfrm>
          <a:prstGeom prst="bentUpArrow">
            <a:avLst>
              <a:gd name="adj1" fmla="val 11636"/>
              <a:gd name="adj2" fmla="val 17639"/>
              <a:gd name="adj3" fmla="val 25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/>
          </a:p>
        </p:txBody>
      </p:sp>
      <p:sp>
        <p:nvSpPr>
          <p:cNvPr id="86" name="Retângulo 85"/>
          <p:cNvSpPr/>
          <p:nvPr>
            <p:custDataLst>
              <p:tags r:id="rId13"/>
            </p:custDataLst>
          </p:nvPr>
        </p:nvSpPr>
        <p:spPr>
          <a:xfrm>
            <a:off x="7712802" y="1972891"/>
            <a:ext cx="979543" cy="55799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Apoiar a elaboração do Pré-Planejamento</a:t>
            </a:r>
          </a:p>
        </p:txBody>
      </p:sp>
      <p:sp>
        <p:nvSpPr>
          <p:cNvPr id="88" name="Retângulo 87"/>
          <p:cNvSpPr/>
          <p:nvPr>
            <p:custDataLst>
              <p:tags r:id="rId14"/>
            </p:custDataLst>
          </p:nvPr>
        </p:nvSpPr>
        <p:spPr>
          <a:xfrm>
            <a:off x="7702395" y="3027286"/>
            <a:ext cx="1000354" cy="55799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Apoiar a elaboração do Pré-Planejamento</a:t>
            </a:r>
          </a:p>
        </p:txBody>
      </p:sp>
      <p:cxnSp>
        <p:nvCxnSpPr>
          <p:cNvPr id="90" name="Conector de seta reta 89"/>
          <p:cNvCxnSpPr/>
          <p:nvPr/>
        </p:nvCxnSpPr>
        <p:spPr>
          <a:xfrm>
            <a:off x="7925601" y="1476490"/>
            <a:ext cx="0" cy="505317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de seta reta 93"/>
          <p:cNvCxnSpPr/>
          <p:nvPr/>
        </p:nvCxnSpPr>
        <p:spPr>
          <a:xfrm flipH="1" flipV="1">
            <a:off x="8465661" y="1504690"/>
            <a:ext cx="1818" cy="46962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de seta reta 94"/>
          <p:cNvCxnSpPr/>
          <p:nvPr/>
        </p:nvCxnSpPr>
        <p:spPr>
          <a:xfrm>
            <a:off x="7925601" y="2554944"/>
            <a:ext cx="0" cy="47711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/>
          <p:nvPr/>
        </p:nvCxnSpPr>
        <p:spPr>
          <a:xfrm flipH="1" flipV="1">
            <a:off x="8465661" y="2554945"/>
            <a:ext cx="1818" cy="46962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tângulo 96"/>
          <p:cNvSpPr/>
          <p:nvPr>
            <p:custDataLst>
              <p:tags r:id="rId15"/>
            </p:custDataLst>
          </p:nvPr>
        </p:nvSpPr>
        <p:spPr>
          <a:xfrm>
            <a:off x="2478549" y="919624"/>
            <a:ext cx="1010101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Identificar e registrar interdependências</a:t>
            </a:r>
          </a:p>
        </p:txBody>
      </p:sp>
      <p:cxnSp>
        <p:nvCxnSpPr>
          <p:cNvPr id="47" name="Conector de seta reta 46"/>
          <p:cNvCxnSpPr>
            <a:stCxn id="135" idx="3"/>
            <a:endCxn id="84" idx="1"/>
          </p:cNvCxnSpPr>
          <p:nvPr/>
        </p:nvCxnSpPr>
        <p:spPr>
          <a:xfrm>
            <a:off x="7452320" y="1198620"/>
            <a:ext cx="28299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Elipse 105"/>
          <p:cNvSpPr/>
          <p:nvPr>
            <p:custDataLst>
              <p:tags r:id="rId16"/>
            </p:custDataLst>
          </p:nvPr>
        </p:nvSpPr>
        <p:spPr>
          <a:xfrm>
            <a:off x="8901505" y="1090620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9</a:t>
            </a:r>
          </a:p>
        </p:txBody>
      </p:sp>
      <p:cxnSp>
        <p:nvCxnSpPr>
          <p:cNvPr id="49" name="Conector de seta reta 48"/>
          <p:cNvCxnSpPr>
            <a:stCxn id="84" idx="3"/>
            <a:endCxn id="106" idx="2"/>
          </p:cNvCxnSpPr>
          <p:nvPr/>
        </p:nvCxnSpPr>
        <p:spPr>
          <a:xfrm>
            <a:off x="8669829" y="1198620"/>
            <a:ext cx="23167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tângulo 111"/>
          <p:cNvSpPr/>
          <p:nvPr>
            <p:custDataLst>
              <p:tags r:id="rId17"/>
            </p:custDataLst>
          </p:nvPr>
        </p:nvSpPr>
        <p:spPr>
          <a:xfrm>
            <a:off x="3785399" y="872949"/>
            <a:ext cx="723291" cy="6717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Identificar se a demanda é passível de Release</a:t>
            </a:r>
          </a:p>
        </p:txBody>
      </p:sp>
      <p:cxnSp>
        <p:nvCxnSpPr>
          <p:cNvPr id="114" name="Conector de seta reta 113"/>
          <p:cNvCxnSpPr>
            <a:stCxn id="97" idx="3"/>
            <a:endCxn id="112" idx="1"/>
          </p:cNvCxnSpPr>
          <p:nvPr/>
        </p:nvCxnSpPr>
        <p:spPr>
          <a:xfrm>
            <a:off x="3488648" y="1198622"/>
            <a:ext cx="296751" cy="102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Losango 118"/>
          <p:cNvSpPr/>
          <p:nvPr/>
        </p:nvSpPr>
        <p:spPr>
          <a:xfrm>
            <a:off x="4734050" y="1067344"/>
            <a:ext cx="288000" cy="28800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OU</a:t>
            </a:r>
          </a:p>
        </p:txBody>
      </p:sp>
      <p:pic>
        <p:nvPicPr>
          <p:cNvPr id="123" name="Picture 25" descr="Group icon">
            <a:hlinkClick r:id="" action="ppaction://noaction"/>
          </p:cNvPr>
          <p:cNvPicPr>
            <a:picLocks noChangeAspect="1" noChangeArrowheads="1"/>
          </p:cNvPicPr>
          <p:nvPr>
            <p:custDataLst>
              <p:tags r:id="rId18"/>
            </p:custDataLst>
          </p:nvPr>
        </p:nvPicPr>
        <p:blipFill>
          <a:blip r:embed="rId3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1072" y="1559157"/>
            <a:ext cx="360040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" name="CaixaDeTexto 124"/>
          <p:cNvSpPr txBox="1"/>
          <p:nvPr>
            <p:custDataLst>
              <p:tags r:id="rId19"/>
            </p:custDataLst>
          </p:nvPr>
        </p:nvSpPr>
        <p:spPr>
          <a:xfrm>
            <a:off x="4526996" y="1950239"/>
            <a:ext cx="727240" cy="50783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pt-BR" sz="900" dirty="0">
                <a:cs typeface="Arial" pitchFamily="34" charset="0"/>
              </a:rPr>
              <a:t>Fórum de Projetos e Releases</a:t>
            </a:r>
          </a:p>
        </p:txBody>
      </p:sp>
      <p:cxnSp>
        <p:nvCxnSpPr>
          <p:cNvPr id="7179" name="Conector de seta reta 7178"/>
          <p:cNvCxnSpPr>
            <a:stCxn id="112" idx="3"/>
            <a:endCxn id="119" idx="1"/>
          </p:cNvCxnSpPr>
          <p:nvPr/>
        </p:nvCxnSpPr>
        <p:spPr>
          <a:xfrm>
            <a:off x="4508690" y="1208839"/>
            <a:ext cx="225360" cy="25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1" name="Conector de seta reta 7180"/>
          <p:cNvCxnSpPr>
            <a:stCxn id="119" idx="2"/>
            <a:endCxn id="123" idx="0"/>
          </p:cNvCxnSpPr>
          <p:nvPr/>
        </p:nvCxnSpPr>
        <p:spPr>
          <a:xfrm>
            <a:off x="4878050" y="1355345"/>
            <a:ext cx="3040" cy="20381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3" name="Conector angulado 7182"/>
          <p:cNvCxnSpPr>
            <a:stCxn id="123" idx="3"/>
            <a:endCxn id="91" idx="2"/>
          </p:cNvCxnSpPr>
          <p:nvPr/>
        </p:nvCxnSpPr>
        <p:spPr>
          <a:xfrm flipV="1">
            <a:off x="5061112" y="1544725"/>
            <a:ext cx="663893" cy="19445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5" name="Conector de seta reta 7184"/>
          <p:cNvCxnSpPr>
            <a:stCxn id="119" idx="3"/>
            <a:endCxn id="91" idx="1"/>
          </p:cNvCxnSpPr>
          <p:nvPr/>
        </p:nvCxnSpPr>
        <p:spPr>
          <a:xfrm flipV="1">
            <a:off x="5022050" y="1198620"/>
            <a:ext cx="135015" cy="127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tângulo 137"/>
          <p:cNvSpPr/>
          <p:nvPr>
            <p:custDataLst>
              <p:tags r:id="rId20"/>
            </p:custDataLst>
          </p:nvPr>
        </p:nvSpPr>
        <p:spPr>
          <a:xfrm>
            <a:off x="1026130" y="3037048"/>
            <a:ext cx="978284" cy="6274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Enriquecer requisitos da demanda</a:t>
            </a:r>
          </a:p>
        </p:txBody>
      </p:sp>
      <p:sp>
        <p:nvSpPr>
          <p:cNvPr id="140" name="Retângulo 139"/>
          <p:cNvSpPr/>
          <p:nvPr>
            <p:custDataLst>
              <p:tags r:id="rId21"/>
            </p:custDataLst>
          </p:nvPr>
        </p:nvSpPr>
        <p:spPr>
          <a:xfrm>
            <a:off x="4301972" y="3004666"/>
            <a:ext cx="1104841" cy="6922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Solicitar estimativas de Desenvolvimento  e Manter para fornecedores</a:t>
            </a:r>
          </a:p>
        </p:txBody>
      </p:sp>
      <p:sp>
        <p:nvSpPr>
          <p:cNvPr id="141" name="Retângulo 140"/>
          <p:cNvSpPr/>
          <p:nvPr>
            <p:custDataLst>
              <p:tags r:id="rId22"/>
            </p:custDataLst>
          </p:nvPr>
        </p:nvSpPr>
        <p:spPr>
          <a:xfrm>
            <a:off x="2171576" y="3071773"/>
            <a:ext cx="997971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Identificar e registrar interdependências</a:t>
            </a:r>
          </a:p>
        </p:txBody>
      </p:sp>
      <p:sp>
        <p:nvSpPr>
          <p:cNvPr id="142" name="Retângulo 141"/>
          <p:cNvSpPr/>
          <p:nvPr>
            <p:custDataLst>
              <p:tags r:id="rId23"/>
            </p:custDataLst>
          </p:nvPr>
        </p:nvSpPr>
        <p:spPr>
          <a:xfrm>
            <a:off x="3333050" y="3014883"/>
            <a:ext cx="821351" cy="6717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Identificar se a demanda é passível de Release</a:t>
            </a:r>
          </a:p>
        </p:txBody>
      </p:sp>
      <p:sp>
        <p:nvSpPr>
          <p:cNvPr id="143" name="Retângulo 142"/>
          <p:cNvSpPr/>
          <p:nvPr>
            <p:custDataLst>
              <p:tags r:id="rId24"/>
            </p:custDataLst>
          </p:nvPr>
        </p:nvSpPr>
        <p:spPr>
          <a:xfrm>
            <a:off x="5519406" y="3071773"/>
            <a:ext cx="934516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Refinar estimativa de custo e prazo</a:t>
            </a:r>
          </a:p>
        </p:txBody>
      </p:sp>
      <p:sp>
        <p:nvSpPr>
          <p:cNvPr id="146" name="Losango 145"/>
          <p:cNvSpPr/>
          <p:nvPr/>
        </p:nvSpPr>
        <p:spPr>
          <a:xfrm>
            <a:off x="1016605" y="1048291"/>
            <a:ext cx="288000" cy="28800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OU</a:t>
            </a:r>
          </a:p>
        </p:txBody>
      </p:sp>
      <p:cxnSp>
        <p:nvCxnSpPr>
          <p:cNvPr id="7195" name="Conector de seta reta 7194"/>
          <p:cNvCxnSpPr>
            <a:stCxn id="146" idx="3"/>
            <a:endCxn id="53" idx="1"/>
          </p:cNvCxnSpPr>
          <p:nvPr/>
        </p:nvCxnSpPr>
        <p:spPr>
          <a:xfrm>
            <a:off x="1304605" y="1192293"/>
            <a:ext cx="173876" cy="63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7" name="Conector angulado 7196"/>
          <p:cNvCxnSpPr>
            <a:stCxn id="146" idx="2"/>
            <a:endCxn id="138" idx="1"/>
          </p:cNvCxnSpPr>
          <p:nvPr/>
        </p:nvCxnSpPr>
        <p:spPr>
          <a:xfrm rot="5400000">
            <a:off x="86129" y="2276294"/>
            <a:ext cx="2014479" cy="134475"/>
          </a:xfrm>
          <a:prstGeom prst="bentConnector4">
            <a:avLst>
              <a:gd name="adj1" fmla="val 42213"/>
              <a:gd name="adj2" fmla="val 269994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9" name="Conector de seta reta 7198"/>
          <p:cNvCxnSpPr/>
          <p:nvPr/>
        </p:nvCxnSpPr>
        <p:spPr>
          <a:xfrm>
            <a:off x="2004416" y="3350770"/>
            <a:ext cx="16716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1" name="Conector de seta reta 7200"/>
          <p:cNvCxnSpPr/>
          <p:nvPr/>
        </p:nvCxnSpPr>
        <p:spPr>
          <a:xfrm>
            <a:off x="3169546" y="3350770"/>
            <a:ext cx="16350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3" name="Conector de seta reta 7202"/>
          <p:cNvCxnSpPr/>
          <p:nvPr/>
        </p:nvCxnSpPr>
        <p:spPr>
          <a:xfrm>
            <a:off x="4154401" y="3350770"/>
            <a:ext cx="14757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5" name="Conector de seta reta 7204"/>
          <p:cNvCxnSpPr/>
          <p:nvPr/>
        </p:nvCxnSpPr>
        <p:spPr>
          <a:xfrm>
            <a:off x="5406813" y="3350770"/>
            <a:ext cx="11259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tângulo 160"/>
          <p:cNvSpPr/>
          <p:nvPr>
            <p:custDataLst>
              <p:tags r:id="rId25"/>
            </p:custDataLst>
          </p:nvPr>
        </p:nvSpPr>
        <p:spPr>
          <a:xfrm>
            <a:off x="6523130" y="1972891"/>
            <a:ext cx="979543" cy="55799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Apoiar a elaboração do Pré-Planejamento</a:t>
            </a:r>
          </a:p>
        </p:txBody>
      </p:sp>
      <p:cxnSp>
        <p:nvCxnSpPr>
          <p:cNvPr id="162" name="Conector de seta reta 161"/>
          <p:cNvCxnSpPr/>
          <p:nvPr/>
        </p:nvCxnSpPr>
        <p:spPr>
          <a:xfrm>
            <a:off x="6775427" y="2589687"/>
            <a:ext cx="0" cy="47711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ector de seta reta 162"/>
          <p:cNvCxnSpPr/>
          <p:nvPr/>
        </p:nvCxnSpPr>
        <p:spPr>
          <a:xfrm flipH="1" flipV="1">
            <a:off x="7315487" y="2589688"/>
            <a:ext cx="1818" cy="46962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9" name="Conector angulado 7208"/>
          <p:cNvCxnSpPr>
            <a:stCxn id="144" idx="0"/>
            <a:endCxn id="106" idx="4"/>
          </p:cNvCxnSpPr>
          <p:nvPr/>
        </p:nvCxnSpPr>
        <p:spPr>
          <a:xfrm rot="5400000" flipH="1" flipV="1">
            <a:off x="7154418" y="1216687"/>
            <a:ext cx="1765152" cy="1945022"/>
          </a:xfrm>
          <a:prstGeom prst="bentConnector3">
            <a:avLst>
              <a:gd name="adj1" fmla="val 14745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Losango 170"/>
          <p:cNvSpPr/>
          <p:nvPr/>
        </p:nvSpPr>
        <p:spPr>
          <a:xfrm>
            <a:off x="4743575" y="2565563"/>
            <a:ext cx="288000" cy="28800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OU</a:t>
            </a:r>
          </a:p>
        </p:txBody>
      </p:sp>
      <p:cxnSp>
        <p:nvCxnSpPr>
          <p:cNvPr id="7214" name="Conector de seta reta 7213"/>
          <p:cNvCxnSpPr>
            <a:endCxn id="171" idx="2"/>
          </p:cNvCxnSpPr>
          <p:nvPr/>
        </p:nvCxnSpPr>
        <p:spPr>
          <a:xfrm flipV="1">
            <a:off x="4887575" y="2853563"/>
            <a:ext cx="0" cy="1379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6" name="Conector de seta reta 7215"/>
          <p:cNvCxnSpPr>
            <a:endCxn id="125" idx="2"/>
          </p:cNvCxnSpPr>
          <p:nvPr/>
        </p:nvCxnSpPr>
        <p:spPr>
          <a:xfrm flipV="1">
            <a:off x="4887576" y="2458068"/>
            <a:ext cx="3040" cy="9687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8" name="Conector angulado 7217"/>
          <p:cNvCxnSpPr>
            <a:stCxn id="123" idx="3"/>
            <a:endCxn id="143" idx="0"/>
          </p:cNvCxnSpPr>
          <p:nvPr/>
        </p:nvCxnSpPr>
        <p:spPr>
          <a:xfrm>
            <a:off x="5061110" y="1739177"/>
            <a:ext cx="925554" cy="1332597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Fluxograma: Documento 61"/>
          <p:cNvSpPr/>
          <p:nvPr>
            <p:custDataLst>
              <p:tags r:id="rId26"/>
            </p:custDataLst>
          </p:nvPr>
        </p:nvSpPr>
        <p:spPr>
          <a:xfrm>
            <a:off x="8498942" y="743975"/>
            <a:ext cx="360000" cy="235079"/>
          </a:xfrm>
          <a:prstGeom prst="flowChartDocumen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  <a:cs typeface="Arial" pitchFamily="34" charset="0"/>
              </a:rPr>
              <a:t>P0</a:t>
            </a:r>
          </a:p>
        </p:txBody>
      </p:sp>
      <p:sp>
        <p:nvSpPr>
          <p:cNvPr id="64" name="Retângulo de cantos arredondados 63"/>
          <p:cNvSpPr/>
          <p:nvPr>
            <p:custDataLst>
              <p:tags r:id="rId27"/>
            </p:custDataLst>
          </p:nvPr>
        </p:nvSpPr>
        <p:spPr>
          <a:xfrm>
            <a:off x="239540" y="3874005"/>
            <a:ext cx="372021" cy="1080000"/>
          </a:xfrm>
          <a:prstGeom prst="roundRect">
            <a:avLst>
              <a:gd name="adj" fmla="val 8431"/>
            </a:avLst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cs typeface="Arial" pitchFamily="34" charset="0"/>
              </a:rPr>
              <a:t>GFA</a:t>
            </a:r>
          </a:p>
        </p:txBody>
      </p:sp>
      <p:cxnSp>
        <p:nvCxnSpPr>
          <p:cNvPr id="3" name="Conector angulado 2"/>
          <p:cNvCxnSpPr>
            <a:stCxn id="143" idx="3"/>
            <a:endCxn id="144" idx="1"/>
          </p:cNvCxnSpPr>
          <p:nvPr/>
        </p:nvCxnSpPr>
        <p:spPr>
          <a:xfrm>
            <a:off x="6453924" y="3350772"/>
            <a:ext cx="143303" cy="127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baixo 14"/>
          <p:cNvSpPr/>
          <p:nvPr/>
        </p:nvSpPr>
        <p:spPr>
          <a:xfrm rot="10800000">
            <a:off x="6948175" y="3634980"/>
            <a:ext cx="223568" cy="360040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/>
          </a:p>
        </p:txBody>
      </p:sp>
      <p:sp>
        <p:nvSpPr>
          <p:cNvPr id="65" name="Retângulo 64"/>
          <p:cNvSpPr/>
          <p:nvPr>
            <p:custDataLst>
              <p:tags r:id="rId28"/>
            </p:custDataLst>
          </p:nvPr>
        </p:nvSpPr>
        <p:spPr>
          <a:xfrm>
            <a:off x="6642230" y="3964005"/>
            <a:ext cx="828000" cy="9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Validar Business Case dos Projetos</a:t>
            </a:r>
          </a:p>
        </p:txBody>
      </p:sp>
      <p:sp>
        <p:nvSpPr>
          <p:cNvPr id="144" name="Retângulo 143"/>
          <p:cNvSpPr/>
          <p:nvPr>
            <p:custDataLst>
              <p:tags r:id="rId29"/>
            </p:custDataLst>
          </p:nvPr>
        </p:nvSpPr>
        <p:spPr>
          <a:xfrm>
            <a:off x="6597225" y="3071773"/>
            <a:ext cx="934516" cy="55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Elaborar Pré-Planejamento do Projeto</a:t>
            </a:r>
          </a:p>
        </p:txBody>
      </p:sp>
      <p:sp>
        <p:nvSpPr>
          <p:cNvPr id="63" name="Fluxograma: Documento 62"/>
          <p:cNvSpPr/>
          <p:nvPr>
            <p:custDataLst>
              <p:tags r:id="rId30"/>
            </p:custDataLst>
          </p:nvPr>
        </p:nvSpPr>
        <p:spPr>
          <a:xfrm>
            <a:off x="7315487" y="3485808"/>
            <a:ext cx="360000" cy="235079"/>
          </a:xfrm>
          <a:prstGeom prst="flowChartDocumen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  <a:cs typeface="Arial" pitchFamily="34" charset="0"/>
              </a:rPr>
              <a:t>P0</a:t>
            </a:r>
          </a:p>
        </p:txBody>
      </p:sp>
    </p:spTree>
    <p:extLst>
      <p:ext uri="{BB962C8B-B14F-4D97-AF65-F5344CB8AC3E}">
        <p14:creationId xmlns:p14="http://schemas.microsoft.com/office/powerpoint/2010/main" val="658946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14" name="Rectangle 3"/>
          <p:cNvSpPr/>
          <p:nvPr/>
        </p:nvSpPr>
        <p:spPr>
          <a:xfrm>
            <a:off x="251520" y="1073474"/>
            <a:ext cx="4285318" cy="44644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1. Nova </a:t>
            </a:r>
            <a:r>
              <a:rPr lang="pt-BR" sz="1400" dirty="0"/>
              <a:t>Tecnologia</a:t>
            </a:r>
            <a:r>
              <a:rPr lang="en-US" sz="1400" dirty="0"/>
              <a:t> (Software Selection)</a:t>
            </a:r>
          </a:p>
        </p:txBody>
      </p:sp>
      <p:sp>
        <p:nvSpPr>
          <p:cNvPr id="15" name="Rectangle 4"/>
          <p:cNvSpPr/>
          <p:nvPr/>
        </p:nvSpPr>
        <p:spPr>
          <a:xfrm>
            <a:off x="251522" y="1615862"/>
            <a:ext cx="4285317" cy="44644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2. </a:t>
            </a:r>
            <a:r>
              <a:rPr lang="pt-BR" sz="1400" dirty="0"/>
              <a:t>Soluções</a:t>
            </a:r>
            <a:r>
              <a:rPr lang="en-US" sz="1400" dirty="0"/>
              <a:t> </a:t>
            </a:r>
            <a:r>
              <a:rPr lang="pt-BR" sz="1400" dirty="0"/>
              <a:t>que</a:t>
            </a:r>
            <a:r>
              <a:rPr lang="en-US" sz="1400" dirty="0"/>
              <a:t> </a:t>
            </a:r>
            <a:r>
              <a:rPr lang="pt-BR" sz="1400" dirty="0"/>
              <a:t>envolvam</a:t>
            </a:r>
            <a:r>
              <a:rPr lang="en-US" sz="1400" dirty="0"/>
              <a:t> 2 </a:t>
            </a:r>
            <a:r>
              <a:rPr lang="pt-BR" sz="1400" dirty="0"/>
              <a:t>ou</a:t>
            </a:r>
            <a:r>
              <a:rPr lang="en-US" sz="1400" dirty="0"/>
              <a:t> </a:t>
            </a:r>
            <a:r>
              <a:rPr lang="pt-BR" sz="1400" dirty="0"/>
              <a:t>mais</a:t>
            </a:r>
            <a:r>
              <a:rPr lang="en-US" sz="1400" dirty="0"/>
              <a:t> </a:t>
            </a:r>
            <a:r>
              <a:rPr lang="pt-BR" sz="1400" dirty="0"/>
              <a:t>plataformas</a:t>
            </a:r>
          </a:p>
        </p:txBody>
      </p:sp>
      <p:sp>
        <p:nvSpPr>
          <p:cNvPr id="16" name="Rectangle 6"/>
          <p:cNvSpPr/>
          <p:nvPr/>
        </p:nvSpPr>
        <p:spPr>
          <a:xfrm>
            <a:off x="251520" y="2179773"/>
            <a:ext cx="4285318" cy="44644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3. </a:t>
            </a:r>
            <a:r>
              <a:rPr lang="pt-BR" sz="1400" dirty="0"/>
              <a:t>Soluções</a:t>
            </a:r>
            <a:r>
              <a:rPr lang="en-US" sz="1400" dirty="0"/>
              <a:t> </a:t>
            </a:r>
            <a:r>
              <a:rPr lang="pt-BR" sz="1400" dirty="0"/>
              <a:t>que</a:t>
            </a:r>
            <a:r>
              <a:rPr lang="en-US" sz="1400" dirty="0"/>
              <a:t> </a:t>
            </a:r>
            <a:r>
              <a:rPr lang="pt-BR" sz="1400" dirty="0"/>
              <a:t>envolvam</a:t>
            </a:r>
            <a:r>
              <a:rPr lang="en-US" sz="1400" dirty="0"/>
              <a:t> 1 </a:t>
            </a:r>
            <a:r>
              <a:rPr lang="pt-BR" sz="1400" dirty="0"/>
              <a:t>plataforma</a:t>
            </a:r>
          </a:p>
        </p:txBody>
      </p:sp>
      <p:sp>
        <p:nvSpPr>
          <p:cNvPr id="17" name="Rectangle 20"/>
          <p:cNvSpPr/>
          <p:nvPr/>
        </p:nvSpPr>
        <p:spPr>
          <a:xfrm>
            <a:off x="4859284" y="1084763"/>
            <a:ext cx="694423" cy="44644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ARQ</a:t>
            </a:r>
            <a:endParaRPr lang="en-US" dirty="0"/>
          </a:p>
        </p:txBody>
      </p:sp>
      <p:sp>
        <p:nvSpPr>
          <p:cNvPr id="18" name="Rectangle 30"/>
          <p:cNvSpPr/>
          <p:nvPr/>
        </p:nvSpPr>
        <p:spPr>
          <a:xfrm>
            <a:off x="4859284" y="2195688"/>
            <a:ext cx="694423" cy="4464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DA</a:t>
            </a:r>
            <a:endParaRPr lang="en-US" dirty="0"/>
          </a:p>
        </p:txBody>
      </p:sp>
      <p:sp>
        <p:nvSpPr>
          <p:cNvPr id="19" name="Rectangle 39"/>
          <p:cNvSpPr/>
          <p:nvPr/>
        </p:nvSpPr>
        <p:spPr>
          <a:xfrm>
            <a:off x="4859284" y="1605357"/>
            <a:ext cx="694423" cy="44644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ARQ</a:t>
            </a:r>
            <a:endParaRPr lang="en-US" dirty="0"/>
          </a:p>
        </p:txBody>
      </p:sp>
      <p:cxnSp>
        <p:nvCxnSpPr>
          <p:cNvPr id="20" name="Straight Connector 17"/>
          <p:cNvCxnSpPr/>
          <p:nvPr/>
        </p:nvCxnSpPr>
        <p:spPr>
          <a:xfrm>
            <a:off x="4697071" y="938459"/>
            <a:ext cx="9944" cy="22369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4572002" y="550254"/>
            <a:ext cx="130514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pt-BR" sz="1200" dirty="0"/>
              <a:t>Validação da Demanda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51520" y="3336835"/>
            <a:ext cx="8640960" cy="92333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/>
              <a:t>O documento de Pré-Planejamento deve ser elaborado pelo líder da demanda. Nos casos de Aplicações, o líder da demanda será sempre da </a:t>
            </a:r>
            <a:r>
              <a:rPr lang="pt-BR" dirty="0" err="1" smtClean="0"/>
              <a:t>DA</a:t>
            </a:r>
            <a:r>
              <a:rPr lang="pt-BR" dirty="0" smtClean="0"/>
              <a:t>. No caso de Infraestrutura, um gerente de projetos do time de infraestrutura.</a:t>
            </a:r>
            <a:endParaRPr lang="pt-BR" dirty="0"/>
          </a:p>
        </p:txBody>
      </p:sp>
      <p:sp>
        <p:nvSpPr>
          <p:cNvPr id="21" name="Rectangle 6"/>
          <p:cNvSpPr/>
          <p:nvPr/>
        </p:nvSpPr>
        <p:spPr>
          <a:xfrm>
            <a:off x="251520" y="2728967"/>
            <a:ext cx="4285318" cy="44644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4. </a:t>
            </a:r>
            <a:r>
              <a:rPr lang="pt-BR" sz="1400" dirty="0"/>
              <a:t>Soluções</a:t>
            </a:r>
            <a:r>
              <a:rPr lang="en-US" sz="1400" dirty="0"/>
              <a:t> </a:t>
            </a:r>
            <a:r>
              <a:rPr lang="pt-BR" sz="1400" dirty="0"/>
              <a:t>que</a:t>
            </a:r>
            <a:r>
              <a:rPr lang="en-US" sz="1400" dirty="0"/>
              <a:t> </a:t>
            </a:r>
            <a:r>
              <a:rPr lang="pt-BR" sz="1400" dirty="0"/>
              <a:t>envolvam</a:t>
            </a:r>
            <a:r>
              <a:rPr lang="en-US" sz="1400" dirty="0"/>
              <a:t> </a:t>
            </a:r>
            <a:r>
              <a:rPr lang="pt-BR" sz="1400" dirty="0"/>
              <a:t>apenas</a:t>
            </a:r>
            <a:r>
              <a:rPr lang="en-US" sz="1400" dirty="0"/>
              <a:t> </a:t>
            </a:r>
            <a:r>
              <a:rPr lang="pt-BR" sz="1400" dirty="0"/>
              <a:t>infraestrutura</a:t>
            </a:r>
          </a:p>
        </p:txBody>
      </p:sp>
      <p:sp>
        <p:nvSpPr>
          <p:cNvPr id="22" name="Rectangle 30"/>
          <p:cNvSpPr/>
          <p:nvPr/>
        </p:nvSpPr>
        <p:spPr>
          <a:xfrm>
            <a:off x="4859284" y="2755373"/>
            <a:ext cx="694423" cy="446449"/>
          </a:xfrm>
          <a:prstGeom prst="rect">
            <a:avLst/>
          </a:prstGeom>
          <a:gradFill flip="none" rotWithShape="1">
            <a:gsLst>
              <a:gs pos="0">
                <a:srgbClr val="004F71">
                  <a:shade val="30000"/>
                  <a:satMod val="115000"/>
                </a:srgbClr>
              </a:gs>
              <a:gs pos="50000">
                <a:srgbClr val="004F71">
                  <a:shade val="67500"/>
                  <a:satMod val="115000"/>
                </a:srgbClr>
              </a:gs>
              <a:gs pos="100000">
                <a:srgbClr val="004F7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4F7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INFRA</a:t>
            </a:r>
            <a:endParaRPr lang="en-US" dirty="0"/>
          </a:p>
        </p:txBody>
      </p:sp>
      <p:sp>
        <p:nvSpPr>
          <p:cNvPr id="30" name="Rectangle 20"/>
          <p:cNvSpPr/>
          <p:nvPr/>
        </p:nvSpPr>
        <p:spPr>
          <a:xfrm>
            <a:off x="5984409" y="1081036"/>
            <a:ext cx="694423" cy="44644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ARQ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5984409" y="2195688"/>
            <a:ext cx="694423" cy="4464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DA</a:t>
            </a:r>
            <a:endParaRPr lang="en-US" dirty="0"/>
          </a:p>
        </p:txBody>
      </p:sp>
      <p:sp>
        <p:nvSpPr>
          <p:cNvPr id="32" name="Rectangle 39"/>
          <p:cNvSpPr/>
          <p:nvPr/>
        </p:nvSpPr>
        <p:spPr>
          <a:xfrm>
            <a:off x="5984409" y="1605357"/>
            <a:ext cx="694423" cy="44644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ARQ</a:t>
            </a:r>
            <a:endParaRPr lang="en-US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5697127" y="546527"/>
            <a:ext cx="130514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pt-BR" sz="1200" dirty="0"/>
              <a:t>Esboço da Solução</a:t>
            </a:r>
          </a:p>
        </p:txBody>
      </p:sp>
      <p:sp>
        <p:nvSpPr>
          <p:cNvPr id="34" name="Rectangle 30"/>
          <p:cNvSpPr/>
          <p:nvPr/>
        </p:nvSpPr>
        <p:spPr>
          <a:xfrm>
            <a:off x="5984409" y="2751646"/>
            <a:ext cx="694423" cy="446449"/>
          </a:xfrm>
          <a:prstGeom prst="rect">
            <a:avLst/>
          </a:prstGeom>
          <a:gradFill flip="none" rotWithShape="1">
            <a:gsLst>
              <a:gs pos="0">
                <a:srgbClr val="004F71">
                  <a:shade val="30000"/>
                  <a:satMod val="115000"/>
                </a:srgbClr>
              </a:gs>
              <a:gs pos="50000">
                <a:srgbClr val="004F71">
                  <a:shade val="67500"/>
                  <a:satMod val="115000"/>
                </a:srgbClr>
              </a:gs>
              <a:gs pos="100000">
                <a:srgbClr val="004F7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4F7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INFRA</a:t>
            </a:r>
            <a:endParaRPr lang="en-US" dirty="0"/>
          </a:p>
        </p:txBody>
      </p:sp>
      <p:cxnSp>
        <p:nvCxnSpPr>
          <p:cNvPr id="35" name="Straight Connector 17"/>
          <p:cNvCxnSpPr/>
          <p:nvPr/>
        </p:nvCxnSpPr>
        <p:spPr>
          <a:xfrm>
            <a:off x="5822197" y="938459"/>
            <a:ext cx="9944" cy="22369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687237" y="546527"/>
            <a:ext cx="130514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pt-BR" sz="1200" dirty="0"/>
              <a:t>Pré-Planejamento</a:t>
            </a:r>
          </a:p>
          <a:p>
            <a:pPr algn="ctr"/>
            <a:r>
              <a:rPr lang="pt-BR" sz="1200" dirty="0"/>
              <a:t>(P0)</a:t>
            </a:r>
          </a:p>
        </p:txBody>
      </p:sp>
      <p:sp>
        <p:nvSpPr>
          <p:cNvPr id="28" name="Rectangle 30"/>
          <p:cNvSpPr/>
          <p:nvPr/>
        </p:nvSpPr>
        <p:spPr>
          <a:xfrm>
            <a:off x="6929514" y="2751646"/>
            <a:ext cx="694423" cy="446449"/>
          </a:xfrm>
          <a:prstGeom prst="rect">
            <a:avLst/>
          </a:prstGeom>
          <a:gradFill flip="none" rotWithShape="1">
            <a:gsLst>
              <a:gs pos="0">
                <a:srgbClr val="004F71">
                  <a:shade val="30000"/>
                  <a:satMod val="115000"/>
                </a:srgbClr>
              </a:gs>
              <a:gs pos="50000">
                <a:srgbClr val="004F71">
                  <a:shade val="67500"/>
                  <a:satMod val="115000"/>
                </a:srgbClr>
              </a:gs>
              <a:gs pos="100000">
                <a:srgbClr val="004F7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4F7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INFRA</a:t>
            </a:r>
            <a:endParaRPr lang="en-US" dirty="0"/>
          </a:p>
        </p:txBody>
      </p:sp>
      <p:cxnSp>
        <p:nvCxnSpPr>
          <p:cNvPr id="29" name="Straight Connector 17"/>
          <p:cNvCxnSpPr/>
          <p:nvPr/>
        </p:nvCxnSpPr>
        <p:spPr>
          <a:xfrm>
            <a:off x="6812308" y="951572"/>
            <a:ext cx="9944" cy="22369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30"/>
          <p:cNvSpPr/>
          <p:nvPr/>
        </p:nvSpPr>
        <p:spPr>
          <a:xfrm>
            <a:off x="6929514" y="2195688"/>
            <a:ext cx="694423" cy="4464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DA</a:t>
            </a:r>
            <a:endParaRPr lang="en-US" dirty="0"/>
          </a:p>
        </p:txBody>
      </p:sp>
      <p:sp>
        <p:nvSpPr>
          <p:cNvPr id="43" name="Rectangle 30"/>
          <p:cNvSpPr/>
          <p:nvPr/>
        </p:nvSpPr>
        <p:spPr>
          <a:xfrm>
            <a:off x="6929514" y="1605357"/>
            <a:ext cx="694423" cy="4464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DA</a:t>
            </a:r>
            <a:endParaRPr lang="en-US" dirty="0"/>
          </a:p>
        </p:txBody>
      </p:sp>
      <p:sp>
        <p:nvSpPr>
          <p:cNvPr id="44" name="Rectangle 30"/>
          <p:cNvSpPr/>
          <p:nvPr/>
        </p:nvSpPr>
        <p:spPr>
          <a:xfrm>
            <a:off x="6929514" y="1077779"/>
            <a:ext cx="694423" cy="4464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DA</a:t>
            </a:r>
            <a:endParaRPr lang="en-US" dirty="0"/>
          </a:p>
        </p:txBody>
      </p:sp>
      <p:grpSp>
        <p:nvGrpSpPr>
          <p:cNvPr id="45" name="Grupo 44"/>
          <p:cNvGrpSpPr/>
          <p:nvPr/>
        </p:nvGrpSpPr>
        <p:grpSpPr>
          <a:xfrm>
            <a:off x="6912260" y="68408"/>
            <a:ext cx="427263" cy="427263"/>
            <a:chOff x="473240" y="1401700"/>
            <a:chExt cx="720000" cy="720000"/>
          </a:xfrm>
        </p:grpSpPr>
        <p:sp>
          <p:nvSpPr>
            <p:cNvPr id="46" name="Elipse 45"/>
            <p:cNvSpPr/>
            <p:nvPr/>
          </p:nvSpPr>
          <p:spPr bwMode="auto">
            <a:xfrm>
              <a:off x="473240" y="1401700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u="sng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47" name="Picture 32" descr="E:\Users\br93163\Downloads\Icones\calculator-4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1401" y="1554806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8" name="CaixaDeTexto 47"/>
          <p:cNvSpPr txBox="1"/>
          <p:nvPr/>
        </p:nvSpPr>
        <p:spPr>
          <a:xfrm>
            <a:off x="7333215" y="23305"/>
            <a:ext cx="1497521" cy="530912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Pré-planejar e </a:t>
            </a:r>
          </a:p>
          <a:p>
            <a:r>
              <a:rPr lang="pt-BR" sz="1400" dirty="0">
                <a:latin typeface="Gill Sans Std Light" pitchFamily="34" charset="0"/>
              </a:rPr>
              <a:t>analisar viabilidade</a:t>
            </a:r>
          </a:p>
        </p:txBody>
      </p:sp>
    </p:spTree>
    <p:extLst>
      <p:ext uri="{BB962C8B-B14F-4D97-AF65-F5344CB8AC3E}">
        <p14:creationId xmlns:p14="http://schemas.microsoft.com/office/powerpoint/2010/main" val="2149449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06515" y="783159"/>
            <a:ext cx="8640960" cy="34163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Fórum de Projetos e Releases</a:t>
            </a:r>
          </a:p>
          <a:p>
            <a:endParaRPr lang="pt-BR" dirty="0"/>
          </a:p>
          <a:p>
            <a:r>
              <a:rPr lang="pt-BR" sz="1600" dirty="0"/>
              <a:t>O Fórum de Projetos e Releases serve para:</a:t>
            </a:r>
          </a:p>
          <a:p>
            <a:endParaRPr lang="pt-BR" sz="1600" dirty="0"/>
          </a:p>
          <a:p>
            <a:pPr marL="742913" lvl="1" indent="-285736">
              <a:buFont typeface="Arial" pitchFamily="34" charset="0"/>
              <a:buChar char="•"/>
            </a:pPr>
            <a:r>
              <a:rPr lang="pt-BR" sz="1600" dirty="0"/>
              <a:t>Cadastrar novas demandas em releases</a:t>
            </a:r>
          </a:p>
          <a:p>
            <a:pPr marL="742913" lvl="1" indent="-285736">
              <a:buFont typeface="Arial" pitchFamily="34" charset="0"/>
              <a:buChar char="•"/>
            </a:pPr>
            <a:r>
              <a:rPr lang="pt-BR" sz="1600" dirty="0"/>
              <a:t>Orientar sobre o cronograma e atividades do Release</a:t>
            </a:r>
          </a:p>
          <a:p>
            <a:pPr marL="742913" lvl="1" indent="-285736">
              <a:buFont typeface="Arial" pitchFamily="34" charset="0"/>
              <a:buChar char="•"/>
            </a:pPr>
            <a:r>
              <a:rPr lang="pt-BR" sz="1600" dirty="0"/>
              <a:t>Acompanhar o andamento das demandas registradas em releases</a:t>
            </a:r>
          </a:p>
          <a:p>
            <a:pPr marL="742913" lvl="1" indent="-285736">
              <a:buFont typeface="Arial" pitchFamily="34" charset="0"/>
              <a:buChar char="•"/>
            </a:pPr>
            <a:r>
              <a:rPr lang="pt-BR" sz="1600" dirty="0"/>
              <a:t>Compartilhar sinergias e riscos entre as demandas</a:t>
            </a:r>
          </a:p>
          <a:p>
            <a:pPr>
              <a:spcBef>
                <a:spcPts val="1200"/>
              </a:spcBef>
            </a:pPr>
            <a:r>
              <a:rPr lang="pt-BR" sz="1600" dirty="0"/>
              <a:t>É um encontro entre todos os líderes de demandas,  sendo que o Gestor do Release é responsável por sua condução.</a:t>
            </a:r>
          </a:p>
          <a:p>
            <a:pPr>
              <a:spcBef>
                <a:spcPts val="1200"/>
              </a:spcBef>
            </a:pPr>
            <a:r>
              <a:rPr lang="pt-BR" sz="1600" dirty="0"/>
              <a:t>O Fórum ocorre semanalmente, às quartas-feiras. Para se inscrever, você deve enviar um e-mail para </a:t>
            </a:r>
            <a:r>
              <a:rPr lang="pt-BR" sz="1600" dirty="0">
                <a:hlinkClick r:id="rId2"/>
              </a:rPr>
              <a:t>releasestd@natura.net</a:t>
            </a:r>
            <a:r>
              <a:rPr lang="pt-BR" sz="1600" dirty="0"/>
              <a:t> solicitando a participação.</a:t>
            </a:r>
          </a:p>
        </p:txBody>
      </p:sp>
    </p:spTree>
    <p:extLst>
      <p:ext uri="{BB962C8B-B14F-4D97-AF65-F5344CB8AC3E}">
        <p14:creationId xmlns:p14="http://schemas.microsoft.com/office/powerpoint/2010/main" val="102072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" t="15052" r="3250" b="45587"/>
          <a:stretch/>
        </p:blipFill>
        <p:spPr bwMode="auto">
          <a:xfrm>
            <a:off x="141170" y="2886787"/>
            <a:ext cx="8865495" cy="205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02" y="681542"/>
            <a:ext cx="8865495" cy="2019187"/>
          </a:xfrm>
          <a:prstGeom prst="rect">
            <a:avLst/>
          </a:prstGeom>
        </p:spPr>
      </p:pic>
      <p:sp>
        <p:nvSpPr>
          <p:cNvPr id="6" name="Seta para a direita 5"/>
          <p:cNvSpPr/>
          <p:nvPr/>
        </p:nvSpPr>
        <p:spPr>
          <a:xfrm rot="10800000">
            <a:off x="1511660" y="2154007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559035" y="2138458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sp>
        <p:nvSpPr>
          <p:cNvPr id="10" name="Seta para a direita 9"/>
          <p:cNvSpPr/>
          <p:nvPr/>
        </p:nvSpPr>
        <p:spPr>
          <a:xfrm rot="5400000">
            <a:off x="7966112" y="507693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7979098" y="485188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141732" y="2392376"/>
            <a:ext cx="3690411" cy="1115375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 Matriz de Requisitos e o Esboço da Solução podem ser encontrados na área de Colaboração do Projeto, dentro da pasta de Estruturação da Ideia. Para atualizar um arquivo, você deve fazer </a:t>
            </a:r>
            <a:r>
              <a:rPr lang="pt-BR" sz="1400" dirty="0" err="1">
                <a:solidFill>
                  <a:schemeClr val="tx1"/>
                </a:solidFill>
              </a:rPr>
              <a:t>check</a:t>
            </a:r>
            <a:r>
              <a:rPr lang="pt-BR" sz="1400" dirty="0">
                <a:solidFill>
                  <a:schemeClr val="tx1"/>
                </a:solidFill>
              </a:rPr>
              <a:t> out do mesmo</a:t>
            </a:r>
          </a:p>
        </p:txBody>
      </p:sp>
      <p:sp>
        <p:nvSpPr>
          <p:cNvPr id="15" name="Seta para a direita 14"/>
          <p:cNvSpPr/>
          <p:nvPr/>
        </p:nvSpPr>
        <p:spPr>
          <a:xfrm rot="5400000">
            <a:off x="8387896" y="3989410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8400880" y="3966906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3</a:t>
            </a:r>
          </a:p>
        </p:txBody>
      </p:sp>
      <p:sp>
        <p:nvSpPr>
          <p:cNvPr id="3" name="Retângulo 2"/>
          <p:cNvSpPr/>
          <p:nvPr/>
        </p:nvSpPr>
        <p:spPr>
          <a:xfrm>
            <a:off x="8352422" y="4236938"/>
            <a:ext cx="405045" cy="9000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7350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5117874" y="2998510"/>
            <a:ext cx="3375376" cy="1115375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Para atualizar um documento com </a:t>
            </a:r>
            <a:r>
              <a:rPr lang="pt-BR" sz="1400" dirty="0" err="1">
                <a:solidFill>
                  <a:schemeClr val="tx1"/>
                </a:solidFill>
              </a:rPr>
              <a:t>check</a:t>
            </a:r>
            <a:r>
              <a:rPr lang="pt-BR" sz="1400" dirty="0">
                <a:solidFill>
                  <a:schemeClr val="tx1"/>
                </a:solidFill>
              </a:rPr>
              <a:t> out, vc deve selecionar o </a:t>
            </a:r>
            <a:r>
              <a:rPr lang="pt-BR" sz="1400" dirty="0" err="1">
                <a:solidFill>
                  <a:schemeClr val="tx1"/>
                </a:solidFill>
              </a:rPr>
              <a:t>check</a:t>
            </a:r>
            <a:r>
              <a:rPr lang="pt-BR" sz="1400" dirty="0">
                <a:solidFill>
                  <a:schemeClr val="tx1"/>
                </a:solidFill>
              </a:rPr>
              <a:t> in do documento e carregá-lo no Clarity novamente. </a:t>
            </a:r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9" t="18307" r="1809" b="47153"/>
          <a:stretch/>
        </p:blipFill>
        <p:spPr bwMode="auto">
          <a:xfrm>
            <a:off x="162001" y="636535"/>
            <a:ext cx="8982000" cy="1799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Seta para a direita 9"/>
          <p:cNvSpPr/>
          <p:nvPr/>
        </p:nvSpPr>
        <p:spPr>
          <a:xfrm rot="5400000">
            <a:off x="8351062" y="1559139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8364046" y="1536634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352422" y="1806665"/>
            <a:ext cx="405045" cy="9000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/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81" y="2571752"/>
            <a:ext cx="4695825" cy="237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Seta para a direita 17"/>
          <p:cNvSpPr/>
          <p:nvPr/>
        </p:nvSpPr>
        <p:spPr>
          <a:xfrm rot="10800000">
            <a:off x="2769430" y="3317828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2816806" y="3302280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sp>
        <p:nvSpPr>
          <p:cNvPr id="20" name="Seta para a direita 19"/>
          <p:cNvSpPr/>
          <p:nvPr/>
        </p:nvSpPr>
        <p:spPr>
          <a:xfrm rot="5400000">
            <a:off x="688586" y="4243326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701572" y="4220821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454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00" y="698324"/>
            <a:ext cx="2724150" cy="2066925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2126" y="686221"/>
            <a:ext cx="4550214" cy="918469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92" y="2864355"/>
            <a:ext cx="6608855" cy="2189993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 rotWithShape="1">
          <a:blip r:embed="rId5"/>
          <a:srcRect l="14027" t="27852" r="74904" b="40156"/>
          <a:stretch/>
        </p:blipFill>
        <p:spPr>
          <a:xfrm>
            <a:off x="6902874" y="1801171"/>
            <a:ext cx="1308533" cy="2126364"/>
          </a:xfrm>
          <a:prstGeom prst="rect">
            <a:avLst/>
          </a:prstGeom>
        </p:spPr>
      </p:pic>
      <p:sp>
        <p:nvSpPr>
          <p:cNvPr id="20" name="Seta para a direita 19"/>
          <p:cNvSpPr/>
          <p:nvPr/>
        </p:nvSpPr>
        <p:spPr>
          <a:xfrm rot="10800000">
            <a:off x="969230" y="1282154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1016605" y="1266606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22" name="Seta para a direita 21"/>
          <p:cNvSpPr/>
          <p:nvPr/>
        </p:nvSpPr>
        <p:spPr>
          <a:xfrm rot="5400000">
            <a:off x="3427502" y="1087859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3440488" y="1065355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sp>
        <p:nvSpPr>
          <p:cNvPr id="25" name="Seta para a direita 24"/>
          <p:cNvSpPr/>
          <p:nvPr/>
        </p:nvSpPr>
        <p:spPr>
          <a:xfrm rot="5400000">
            <a:off x="450290" y="4619480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463276" y="4596976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4</a:t>
            </a:r>
          </a:p>
        </p:txBody>
      </p:sp>
      <p:sp>
        <p:nvSpPr>
          <p:cNvPr id="27" name="Seta para a direita 26"/>
          <p:cNvSpPr/>
          <p:nvPr/>
        </p:nvSpPr>
        <p:spPr>
          <a:xfrm rot="5400000">
            <a:off x="155406" y="3629370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8" name="CaixaDeTexto 27"/>
          <p:cNvSpPr txBox="1"/>
          <p:nvPr/>
        </p:nvSpPr>
        <p:spPr>
          <a:xfrm>
            <a:off x="168391" y="3606865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3</a:t>
            </a:r>
          </a:p>
        </p:txBody>
      </p:sp>
      <p:sp>
        <p:nvSpPr>
          <p:cNvPr id="29" name="Seta para a direita 28"/>
          <p:cNvSpPr/>
          <p:nvPr/>
        </p:nvSpPr>
        <p:spPr>
          <a:xfrm rot="5400000">
            <a:off x="1262025" y="4619480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1275010" y="4596976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4</a:t>
            </a:r>
          </a:p>
        </p:txBody>
      </p:sp>
      <p:sp>
        <p:nvSpPr>
          <p:cNvPr id="31" name="Seta para a direita 30"/>
          <p:cNvSpPr/>
          <p:nvPr/>
        </p:nvSpPr>
        <p:spPr>
          <a:xfrm>
            <a:off x="1916706" y="3291832"/>
            <a:ext cx="5164942" cy="1833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/>
          </a:p>
        </p:txBody>
      </p:sp>
      <p:sp>
        <p:nvSpPr>
          <p:cNvPr id="32" name="Retângulo 31"/>
          <p:cNvSpPr/>
          <p:nvPr/>
        </p:nvSpPr>
        <p:spPr>
          <a:xfrm>
            <a:off x="6308685" y="4014782"/>
            <a:ext cx="2835316" cy="1115375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Devem ser indicados os aplicativos, ideias ou projetos que possuam interdependência com o projeto em questão. Isso facilita o mapeamento das interdependências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7380821" y="96475"/>
            <a:ext cx="1961709" cy="53091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Analisar dependências</a:t>
            </a:r>
          </a:p>
          <a:p>
            <a:r>
              <a:rPr lang="pt-BR" sz="1400" dirty="0">
                <a:latin typeface="Gill Sans Std Light" pitchFamily="34" charset="0"/>
              </a:rPr>
              <a:t>e impactos</a:t>
            </a:r>
          </a:p>
        </p:txBody>
      </p:sp>
      <p:grpSp>
        <p:nvGrpSpPr>
          <p:cNvPr id="24" name="Grupo 23"/>
          <p:cNvGrpSpPr/>
          <p:nvPr/>
        </p:nvGrpSpPr>
        <p:grpSpPr>
          <a:xfrm>
            <a:off x="6898637" y="97200"/>
            <a:ext cx="492684" cy="492684"/>
            <a:chOff x="476545" y="2706845"/>
            <a:chExt cx="720000" cy="720000"/>
          </a:xfrm>
        </p:grpSpPr>
        <p:sp>
          <p:nvSpPr>
            <p:cNvPr id="33" name="Elipse 32"/>
            <p:cNvSpPr/>
            <p:nvPr/>
          </p:nvSpPr>
          <p:spPr bwMode="auto">
            <a:xfrm>
              <a:off x="476545" y="270684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u="sng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34" name="Picture 24" descr="E:\Users\br93163\Downloads\Icones\link-intact-4x.png"/>
            <p:cNvPicPr>
              <a:picLocks noChangeAspect="1" noChangeArrowheads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872" y="2846422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57209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1" y="558865"/>
            <a:ext cx="9058275" cy="95250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10" y="1626646"/>
            <a:ext cx="2724150" cy="2066925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840" y="1626647"/>
            <a:ext cx="5781675" cy="1133475"/>
          </a:xfrm>
          <a:prstGeom prst="rect">
            <a:avLst/>
          </a:prstGeom>
        </p:spPr>
      </p:pic>
      <p:sp>
        <p:nvSpPr>
          <p:cNvPr id="9" name="Seta para a direita 8"/>
          <p:cNvSpPr/>
          <p:nvPr/>
        </p:nvSpPr>
        <p:spPr>
          <a:xfrm rot="10800000">
            <a:off x="1106615" y="1620304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153990" y="1604755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11" name="Seta para a direita 10"/>
          <p:cNvSpPr/>
          <p:nvPr/>
        </p:nvSpPr>
        <p:spPr>
          <a:xfrm rot="10800000">
            <a:off x="2747183" y="3018299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2794558" y="3002751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sp>
        <p:nvSpPr>
          <p:cNvPr id="13" name="Seta para a direita 12"/>
          <p:cNvSpPr/>
          <p:nvPr/>
        </p:nvSpPr>
        <p:spPr>
          <a:xfrm rot="5400000">
            <a:off x="3433891" y="2279220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3446875" y="2256715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3</a:t>
            </a:r>
          </a:p>
        </p:txBody>
      </p:sp>
      <p:grpSp>
        <p:nvGrpSpPr>
          <p:cNvPr id="15" name="Grupo 14"/>
          <p:cNvGrpSpPr/>
          <p:nvPr/>
        </p:nvGrpSpPr>
        <p:grpSpPr>
          <a:xfrm>
            <a:off x="6912260" y="64178"/>
            <a:ext cx="427263" cy="427263"/>
            <a:chOff x="473240" y="1401700"/>
            <a:chExt cx="720000" cy="720000"/>
          </a:xfrm>
        </p:grpSpPr>
        <p:sp>
          <p:nvSpPr>
            <p:cNvPr id="16" name="Elipse 15"/>
            <p:cNvSpPr/>
            <p:nvPr/>
          </p:nvSpPr>
          <p:spPr bwMode="auto">
            <a:xfrm>
              <a:off x="473240" y="1401700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u="sng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7" name="Picture 32" descr="E:\Users\br93163\Downloads\Icones\calculator-4x.png"/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1401" y="1554806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CaixaDeTexto 17"/>
          <p:cNvSpPr txBox="1"/>
          <p:nvPr/>
        </p:nvSpPr>
        <p:spPr>
          <a:xfrm>
            <a:off x="7333215" y="19075"/>
            <a:ext cx="1497521" cy="530912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Pré-planejar e </a:t>
            </a:r>
          </a:p>
          <a:p>
            <a:r>
              <a:rPr lang="pt-BR" sz="1400" dirty="0">
                <a:latin typeface="Gill Sans Std Light" pitchFamily="34" charset="0"/>
              </a:rPr>
              <a:t>analisar viabilidade</a:t>
            </a:r>
          </a:p>
        </p:txBody>
      </p:sp>
    </p:spTree>
    <p:extLst>
      <p:ext uri="{BB962C8B-B14F-4D97-AF65-F5344CB8AC3E}">
        <p14:creationId xmlns:p14="http://schemas.microsoft.com/office/powerpoint/2010/main" val="135364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02" y="681542"/>
            <a:ext cx="8785633" cy="3447315"/>
          </a:xfrm>
          <a:prstGeom prst="rect">
            <a:avLst/>
          </a:prstGeom>
        </p:spPr>
      </p:pic>
      <p:sp>
        <p:nvSpPr>
          <p:cNvPr id="10" name="Retângulo 9"/>
          <p:cNvSpPr/>
          <p:nvPr/>
        </p:nvSpPr>
        <p:spPr>
          <a:xfrm>
            <a:off x="5562110" y="3471851"/>
            <a:ext cx="3391203" cy="1215135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Os campos de P0 devem ser preenchidos com as informações levantadas e disponíveis, bem como a apresentação de P0 deve ser anexada ao projeto. Uma vez realizadas essas ações, o item de ação deve ser concluído</a:t>
            </a:r>
          </a:p>
        </p:txBody>
      </p:sp>
      <p:grpSp>
        <p:nvGrpSpPr>
          <p:cNvPr id="11" name="Grupo 10"/>
          <p:cNvGrpSpPr/>
          <p:nvPr/>
        </p:nvGrpSpPr>
        <p:grpSpPr>
          <a:xfrm>
            <a:off x="6912260" y="64178"/>
            <a:ext cx="427263" cy="427263"/>
            <a:chOff x="473240" y="1401700"/>
            <a:chExt cx="720000" cy="720000"/>
          </a:xfrm>
        </p:grpSpPr>
        <p:sp>
          <p:nvSpPr>
            <p:cNvPr id="12" name="Elipse 11"/>
            <p:cNvSpPr/>
            <p:nvPr/>
          </p:nvSpPr>
          <p:spPr bwMode="auto">
            <a:xfrm>
              <a:off x="473240" y="1401700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u="sng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3" name="Picture 32" descr="E:\Users\br93163\Downloads\Icones\calculator-4x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1401" y="1554806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CaixaDeTexto 13"/>
          <p:cNvSpPr txBox="1"/>
          <p:nvPr/>
        </p:nvSpPr>
        <p:spPr>
          <a:xfrm>
            <a:off x="7333215" y="19075"/>
            <a:ext cx="1497521" cy="530912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Pré-planejar e </a:t>
            </a:r>
          </a:p>
          <a:p>
            <a:r>
              <a:rPr lang="pt-BR" sz="1400" dirty="0">
                <a:latin typeface="Gill Sans Std Light" pitchFamily="34" charset="0"/>
              </a:rPr>
              <a:t>analisar viabilidade</a:t>
            </a:r>
          </a:p>
        </p:txBody>
      </p:sp>
      <p:sp>
        <p:nvSpPr>
          <p:cNvPr id="9" name="Seta para a direita 8"/>
          <p:cNvSpPr/>
          <p:nvPr/>
        </p:nvSpPr>
        <p:spPr>
          <a:xfrm rot="5400000">
            <a:off x="1093631" y="3674375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1106617" y="3651871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7262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11" name="Grupo 10"/>
          <p:cNvGrpSpPr/>
          <p:nvPr/>
        </p:nvGrpSpPr>
        <p:grpSpPr>
          <a:xfrm>
            <a:off x="6912260" y="64178"/>
            <a:ext cx="427263" cy="427263"/>
            <a:chOff x="473240" y="1401700"/>
            <a:chExt cx="720000" cy="720000"/>
          </a:xfrm>
        </p:grpSpPr>
        <p:sp>
          <p:nvSpPr>
            <p:cNvPr id="12" name="Elipse 11"/>
            <p:cNvSpPr/>
            <p:nvPr/>
          </p:nvSpPr>
          <p:spPr bwMode="auto">
            <a:xfrm>
              <a:off x="473240" y="1401700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u="sng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3" name="Picture 32" descr="E:\Users\br93163\Downloads\Icones\calculator-4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1401" y="1554806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CaixaDeTexto 13"/>
          <p:cNvSpPr txBox="1"/>
          <p:nvPr/>
        </p:nvSpPr>
        <p:spPr>
          <a:xfrm>
            <a:off x="7333215" y="19075"/>
            <a:ext cx="1497521" cy="530912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Pré-planejar e </a:t>
            </a:r>
          </a:p>
          <a:p>
            <a:r>
              <a:rPr lang="pt-BR" sz="1400" dirty="0">
                <a:latin typeface="Gill Sans Std Light" pitchFamily="34" charset="0"/>
              </a:rPr>
              <a:t>analisar viabilidade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3" t="20000" r="26875" b="40000"/>
          <a:stretch/>
        </p:blipFill>
        <p:spPr bwMode="auto">
          <a:xfrm>
            <a:off x="162000" y="726547"/>
            <a:ext cx="8820490" cy="2754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etângulo 15"/>
          <p:cNvSpPr/>
          <p:nvPr/>
        </p:nvSpPr>
        <p:spPr>
          <a:xfrm>
            <a:off x="173720" y="3606866"/>
            <a:ext cx="3633195" cy="1215135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Uma vez preenchido o P0, o item de ação deve ser </a:t>
            </a:r>
            <a:r>
              <a:rPr lang="pt-BR" sz="1400" dirty="0" err="1">
                <a:solidFill>
                  <a:schemeClr val="tx1"/>
                </a:solidFill>
              </a:rPr>
              <a:t>concluído.O</a:t>
            </a:r>
            <a:r>
              <a:rPr lang="pt-BR" sz="1400" dirty="0">
                <a:solidFill>
                  <a:schemeClr val="tx1"/>
                </a:solidFill>
              </a:rPr>
              <a:t> P0 será encaminhado para avaliação do PMO de TD, e será agendada a apresentação no Comitê de Gestão de Carteira para aprovação do documento. </a:t>
            </a:r>
          </a:p>
        </p:txBody>
      </p:sp>
      <p:sp>
        <p:nvSpPr>
          <p:cNvPr id="9" name="Seta para a direita 8"/>
          <p:cNvSpPr/>
          <p:nvPr/>
        </p:nvSpPr>
        <p:spPr>
          <a:xfrm rot="10800000">
            <a:off x="8305045" y="3221804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8352421" y="3206256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57354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11" name="Grupo 10"/>
          <p:cNvGrpSpPr/>
          <p:nvPr/>
        </p:nvGrpSpPr>
        <p:grpSpPr>
          <a:xfrm>
            <a:off x="6912260" y="64178"/>
            <a:ext cx="427263" cy="427263"/>
            <a:chOff x="473240" y="1401700"/>
            <a:chExt cx="720000" cy="720000"/>
          </a:xfrm>
        </p:grpSpPr>
        <p:sp>
          <p:nvSpPr>
            <p:cNvPr id="12" name="Elipse 11"/>
            <p:cNvSpPr/>
            <p:nvPr/>
          </p:nvSpPr>
          <p:spPr bwMode="auto">
            <a:xfrm>
              <a:off x="473240" y="1401700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u="sng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3" name="Picture 32" descr="E:\Users\br93163\Downloads\Icones\calculator-4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1401" y="1554806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CaixaDeTexto 13"/>
          <p:cNvSpPr txBox="1"/>
          <p:nvPr/>
        </p:nvSpPr>
        <p:spPr>
          <a:xfrm>
            <a:off x="7333215" y="19075"/>
            <a:ext cx="1497521" cy="530912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Pré-planejar e </a:t>
            </a:r>
          </a:p>
          <a:p>
            <a:r>
              <a:rPr lang="pt-BR" sz="1400" dirty="0">
                <a:latin typeface="Gill Sans Std Light" pitchFamily="34" charset="0"/>
              </a:rPr>
              <a:t>analisar viabilidade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2966408" y="2211710"/>
            <a:ext cx="3391203" cy="1215135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Em caso de necessidade de </a:t>
            </a:r>
            <a:r>
              <a:rPr lang="pt-BR" sz="1400" dirty="0" err="1">
                <a:solidFill>
                  <a:schemeClr val="tx1"/>
                </a:solidFill>
              </a:rPr>
              <a:t>reaprovação</a:t>
            </a:r>
            <a:r>
              <a:rPr lang="pt-BR" sz="1400" dirty="0">
                <a:solidFill>
                  <a:schemeClr val="tx1"/>
                </a:solidFill>
              </a:rPr>
              <a:t> de P0, basta criar um novo registro no campo correspondente para que o fluxo de aprovação se inicie novamente.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30" y="906567"/>
            <a:ext cx="8640960" cy="1171771"/>
          </a:xfrm>
          <a:prstGeom prst="rect">
            <a:avLst/>
          </a:prstGeom>
        </p:spPr>
      </p:pic>
      <p:sp>
        <p:nvSpPr>
          <p:cNvPr id="9" name="Seta para a direita 8"/>
          <p:cNvSpPr/>
          <p:nvPr/>
        </p:nvSpPr>
        <p:spPr>
          <a:xfrm rot="5400000">
            <a:off x="958616" y="1649150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971602" y="1626646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44364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/>
          <p:cNvGrpSpPr/>
          <p:nvPr/>
        </p:nvGrpSpPr>
        <p:grpSpPr>
          <a:xfrm>
            <a:off x="3551188" y="594445"/>
            <a:ext cx="340158" cy="450050"/>
            <a:chOff x="3814313" y="816555"/>
            <a:chExt cx="340158" cy="450050"/>
          </a:xfrm>
        </p:grpSpPr>
        <p:sp>
          <p:nvSpPr>
            <p:cNvPr id="3" name="CaixaDeTexto 53"/>
            <p:cNvSpPr txBox="1"/>
            <p:nvPr/>
          </p:nvSpPr>
          <p:spPr>
            <a:xfrm>
              <a:off x="3814313" y="81655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P0</a:t>
              </a:r>
            </a:p>
          </p:txBody>
        </p:sp>
        <p:pic>
          <p:nvPicPr>
            <p:cNvPr id="4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2097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5" name="Conector de seta reta 65"/>
          <p:cNvCxnSpPr/>
          <p:nvPr/>
        </p:nvCxnSpPr>
        <p:spPr>
          <a:xfrm>
            <a:off x="791582" y="2664673"/>
            <a:ext cx="8251305" cy="0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090518"/>
              </p:ext>
            </p:extLst>
          </p:nvPr>
        </p:nvGraphicFramePr>
        <p:xfrm>
          <a:off x="926602" y="1089500"/>
          <a:ext cx="2790306" cy="2830721"/>
        </p:xfrm>
        <a:graphic>
          <a:graphicData uri="http://schemas.openxmlformats.org/drawingml/2006/table">
            <a:tbl>
              <a:tblPr/>
              <a:tblGrid>
                <a:gridCol w="465051"/>
                <a:gridCol w="465051"/>
                <a:gridCol w="465051"/>
                <a:gridCol w="465051"/>
                <a:gridCol w="465051"/>
                <a:gridCol w="465051"/>
              </a:tblGrid>
              <a:tr h="1572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Briefing </a:t>
                      </a: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Diagrama de Sequência (Processo Negócio)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Matriz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Requisitos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Esboço da Solução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Matriz de Requisitos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Estimativa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Prazo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e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Custo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P0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58459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noProof="0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56" name="Group 85"/>
          <p:cNvGrpSpPr/>
          <p:nvPr/>
        </p:nvGrpSpPr>
        <p:grpSpPr>
          <a:xfrm>
            <a:off x="2616968" y="594445"/>
            <a:ext cx="352982" cy="450050"/>
            <a:chOff x="3491880" y="816555"/>
            <a:chExt cx="352981" cy="450050"/>
          </a:xfrm>
        </p:grpSpPr>
        <p:sp>
          <p:nvSpPr>
            <p:cNvPr id="57" name="CaixaDeTexto 53"/>
            <p:cNvSpPr txBox="1"/>
            <p:nvPr/>
          </p:nvSpPr>
          <p:spPr>
            <a:xfrm>
              <a:off x="3491880" y="816555"/>
              <a:ext cx="3529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YP</a:t>
              </a:r>
            </a:p>
          </p:txBody>
        </p:sp>
        <p:pic>
          <p:nvPicPr>
            <p:cNvPr id="60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9664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66" name="Group 85"/>
          <p:cNvGrpSpPr/>
          <p:nvPr/>
        </p:nvGrpSpPr>
        <p:grpSpPr>
          <a:xfrm>
            <a:off x="1241632" y="456517"/>
            <a:ext cx="405025" cy="587978"/>
            <a:chOff x="2527833" y="678627"/>
            <a:chExt cx="405025" cy="587978"/>
          </a:xfrm>
        </p:grpSpPr>
        <p:sp>
          <p:nvSpPr>
            <p:cNvPr id="70" name="CaixaDeTexto 53"/>
            <p:cNvSpPr txBox="1"/>
            <p:nvPr/>
          </p:nvSpPr>
          <p:spPr>
            <a:xfrm>
              <a:off x="2527833" y="678627"/>
              <a:ext cx="4050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Prior</a:t>
              </a:r>
            </a:p>
            <a:p>
              <a:r>
                <a:rPr lang="pt-BR" sz="800" dirty="0"/>
                <a:t>Dem.</a:t>
              </a:r>
            </a:p>
          </p:txBody>
        </p:sp>
        <p:pic>
          <p:nvPicPr>
            <p:cNvPr id="71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4539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40" name="Group 88"/>
          <p:cNvGrpSpPr/>
          <p:nvPr/>
        </p:nvGrpSpPr>
        <p:grpSpPr>
          <a:xfrm>
            <a:off x="2006713" y="2754683"/>
            <a:ext cx="323621" cy="205203"/>
            <a:chOff x="1849113" y="2976795"/>
            <a:chExt cx="323621" cy="205203"/>
          </a:xfrm>
        </p:grpSpPr>
        <p:pic>
          <p:nvPicPr>
            <p:cNvPr id="41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9113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CaixaDeTexto 41"/>
            <p:cNvSpPr txBox="1"/>
            <p:nvPr/>
          </p:nvSpPr>
          <p:spPr>
            <a:xfrm>
              <a:off x="1898300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43" name="Group 92"/>
          <p:cNvGrpSpPr/>
          <p:nvPr/>
        </p:nvGrpSpPr>
        <p:grpSpPr>
          <a:xfrm>
            <a:off x="2456771" y="2754683"/>
            <a:ext cx="323622" cy="205203"/>
            <a:chOff x="2366755" y="2976795"/>
            <a:chExt cx="323622" cy="205203"/>
          </a:xfrm>
        </p:grpSpPr>
        <p:pic>
          <p:nvPicPr>
            <p:cNvPr id="44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675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CaixaDeTexto 87"/>
            <p:cNvSpPr txBox="1"/>
            <p:nvPr/>
          </p:nvSpPr>
          <p:spPr>
            <a:xfrm>
              <a:off x="2415943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47" name="Group 90"/>
          <p:cNvGrpSpPr/>
          <p:nvPr/>
        </p:nvGrpSpPr>
        <p:grpSpPr>
          <a:xfrm>
            <a:off x="3401867" y="2771594"/>
            <a:ext cx="323621" cy="205203"/>
            <a:chOff x="3356865" y="2976795"/>
            <a:chExt cx="323621" cy="205203"/>
          </a:xfrm>
        </p:grpSpPr>
        <p:pic>
          <p:nvPicPr>
            <p:cNvPr id="50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54" name="Group 89"/>
          <p:cNvGrpSpPr/>
          <p:nvPr/>
        </p:nvGrpSpPr>
        <p:grpSpPr>
          <a:xfrm>
            <a:off x="2944059" y="2706767"/>
            <a:ext cx="353795" cy="245267"/>
            <a:chOff x="2861810" y="2976795"/>
            <a:chExt cx="353795" cy="245267"/>
          </a:xfrm>
        </p:grpSpPr>
        <p:pic>
          <p:nvPicPr>
            <p:cNvPr id="55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810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327" y="3031789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CaixaDeTexto 83"/>
            <p:cNvSpPr txBox="1"/>
            <p:nvPr/>
          </p:nvSpPr>
          <p:spPr>
            <a:xfrm>
              <a:off x="2941171" y="3022007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V2</a:t>
              </a:r>
            </a:p>
          </p:txBody>
        </p:sp>
      </p:grpSp>
      <p:grpSp>
        <p:nvGrpSpPr>
          <p:cNvPr id="95" name="Grupo 31"/>
          <p:cNvGrpSpPr/>
          <p:nvPr/>
        </p:nvGrpSpPr>
        <p:grpSpPr>
          <a:xfrm>
            <a:off x="73950" y="3166399"/>
            <a:ext cx="8998552" cy="710498"/>
            <a:chOff x="71500" y="2796775"/>
            <a:chExt cx="7811574" cy="710498"/>
          </a:xfrm>
        </p:grpSpPr>
        <p:sp>
          <p:nvSpPr>
            <p:cNvPr id="96" name="CaixaDeTexto 2"/>
            <p:cNvSpPr txBox="1"/>
            <p:nvPr/>
          </p:nvSpPr>
          <p:spPr>
            <a:xfrm>
              <a:off x="71500" y="2873488"/>
              <a:ext cx="7016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rgbClr val="0070C0"/>
                  </a:solidFill>
                </a:rPr>
                <a:t>Atuação</a:t>
              </a:r>
            </a:p>
          </p:txBody>
        </p:sp>
        <p:cxnSp>
          <p:nvCxnSpPr>
            <p:cNvPr id="97" name="Conector reto 25"/>
            <p:cNvCxnSpPr/>
            <p:nvPr/>
          </p:nvCxnSpPr>
          <p:spPr>
            <a:xfrm>
              <a:off x="135801" y="2796775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to 113"/>
            <p:cNvCxnSpPr/>
            <p:nvPr/>
          </p:nvCxnSpPr>
          <p:spPr>
            <a:xfrm>
              <a:off x="161510" y="3507273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CaixaDeTexto 98"/>
          <p:cNvSpPr txBox="1"/>
          <p:nvPr/>
        </p:nvSpPr>
        <p:spPr>
          <a:xfrm>
            <a:off x="913179" y="3246827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0" name="CaixaDeTexto 99"/>
          <p:cNvSpPr txBox="1"/>
          <p:nvPr/>
        </p:nvSpPr>
        <p:spPr>
          <a:xfrm>
            <a:off x="1363227" y="3246827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1" name="CaixaDeTexto 100"/>
          <p:cNvSpPr txBox="1"/>
          <p:nvPr/>
        </p:nvSpPr>
        <p:spPr>
          <a:xfrm>
            <a:off x="1858284" y="3246827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2361058" y="3165176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2298958" y="3390467"/>
            <a:ext cx="502061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ARQ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2255584" y="3600871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2842762" y="3165176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3283891" y="3165176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2722063" y="3600871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198067" y="3600871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48" name="CaixaDeTexto 53"/>
          <p:cNvSpPr txBox="1"/>
          <p:nvPr/>
        </p:nvSpPr>
        <p:spPr>
          <a:xfrm>
            <a:off x="2726797" y="4317066"/>
            <a:ext cx="579005" cy="46166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CORE</a:t>
            </a:r>
          </a:p>
          <a:p>
            <a:r>
              <a:rPr lang="pt-BR" sz="1200" dirty="0"/>
              <a:t>TEAM</a:t>
            </a:r>
          </a:p>
        </p:txBody>
      </p:sp>
      <p:pic>
        <p:nvPicPr>
          <p:cNvPr id="49" name="Picture 38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912147" y="4011286"/>
            <a:ext cx="207895" cy="264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8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/>
          <p:cNvGrpSpPr/>
          <p:nvPr/>
        </p:nvGrpSpPr>
        <p:grpSpPr>
          <a:xfrm>
            <a:off x="3881352" y="594445"/>
            <a:ext cx="340158" cy="450050"/>
            <a:chOff x="3814313" y="816555"/>
            <a:chExt cx="340158" cy="450050"/>
          </a:xfrm>
        </p:grpSpPr>
        <p:sp>
          <p:nvSpPr>
            <p:cNvPr id="3" name="CaixaDeTexto 53"/>
            <p:cNvSpPr txBox="1"/>
            <p:nvPr/>
          </p:nvSpPr>
          <p:spPr>
            <a:xfrm>
              <a:off x="3814313" y="81655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P0</a:t>
              </a:r>
            </a:p>
          </p:txBody>
        </p:sp>
        <p:pic>
          <p:nvPicPr>
            <p:cNvPr id="4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2097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5" name="Conector de seta reta 65"/>
          <p:cNvCxnSpPr/>
          <p:nvPr/>
        </p:nvCxnSpPr>
        <p:spPr>
          <a:xfrm>
            <a:off x="791580" y="2664673"/>
            <a:ext cx="8352420" cy="0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554052"/>
              </p:ext>
            </p:extLst>
          </p:nvPr>
        </p:nvGraphicFramePr>
        <p:xfrm>
          <a:off x="926599" y="1089500"/>
          <a:ext cx="3132348" cy="2830721"/>
        </p:xfrm>
        <a:graphic>
          <a:graphicData uri="http://schemas.openxmlformats.org/drawingml/2006/table">
            <a:tbl>
              <a:tblPr/>
              <a:tblGrid>
                <a:gridCol w="522058"/>
                <a:gridCol w="522058"/>
                <a:gridCol w="522058"/>
                <a:gridCol w="522058"/>
                <a:gridCol w="522058"/>
                <a:gridCol w="522058"/>
              </a:tblGrid>
              <a:tr h="1572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Briefing </a:t>
                      </a: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Diagrama de Sequência (Processo Negócio)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Matriz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Requisitos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Esboço da Solução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Matriz de Requisitos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Estimativa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Prazo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e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Custo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P0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58459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noProof="0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56" name="Group 85"/>
          <p:cNvGrpSpPr/>
          <p:nvPr/>
        </p:nvGrpSpPr>
        <p:grpSpPr>
          <a:xfrm>
            <a:off x="2836692" y="594445"/>
            <a:ext cx="352982" cy="450050"/>
            <a:chOff x="3491880" y="816555"/>
            <a:chExt cx="352981" cy="450050"/>
          </a:xfrm>
        </p:grpSpPr>
        <p:sp>
          <p:nvSpPr>
            <p:cNvPr id="57" name="CaixaDeTexto 53"/>
            <p:cNvSpPr txBox="1"/>
            <p:nvPr/>
          </p:nvSpPr>
          <p:spPr>
            <a:xfrm>
              <a:off x="3491880" y="816555"/>
              <a:ext cx="3529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YP</a:t>
              </a:r>
            </a:p>
          </p:txBody>
        </p:sp>
        <p:pic>
          <p:nvPicPr>
            <p:cNvPr id="60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9664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66" name="Group 85"/>
          <p:cNvGrpSpPr/>
          <p:nvPr/>
        </p:nvGrpSpPr>
        <p:grpSpPr>
          <a:xfrm>
            <a:off x="1241632" y="456517"/>
            <a:ext cx="405025" cy="587978"/>
            <a:chOff x="2527833" y="678627"/>
            <a:chExt cx="405025" cy="587978"/>
          </a:xfrm>
        </p:grpSpPr>
        <p:sp>
          <p:nvSpPr>
            <p:cNvPr id="70" name="CaixaDeTexto 53"/>
            <p:cNvSpPr txBox="1"/>
            <p:nvPr/>
          </p:nvSpPr>
          <p:spPr>
            <a:xfrm>
              <a:off x="2527833" y="678627"/>
              <a:ext cx="4050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Prior</a:t>
              </a:r>
            </a:p>
            <a:p>
              <a:r>
                <a:rPr lang="pt-BR" sz="800" dirty="0"/>
                <a:t>Dem.</a:t>
              </a:r>
            </a:p>
          </p:txBody>
        </p:sp>
        <p:pic>
          <p:nvPicPr>
            <p:cNvPr id="71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4539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40" name="Group 88"/>
          <p:cNvGrpSpPr/>
          <p:nvPr/>
        </p:nvGrpSpPr>
        <p:grpSpPr>
          <a:xfrm>
            <a:off x="2119141" y="2822315"/>
            <a:ext cx="323621" cy="205203"/>
            <a:chOff x="1849113" y="2976795"/>
            <a:chExt cx="323621" cy="205203"/>
          </a:xfrm>
        </p:grpSpPr>
        <p:pic>
          <p:nvPicPr>
            <p:cNvPr id="41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9113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CaixaDeTexto 41"/>
            <p:cNvSpPr txBox="1"/>
            <p:nvPr/>
          </p:nvSpPr>
          <p:spPr>
            <a:xfrm>
              <a:off x="1898300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43" name="Group 92"/>
          <p:cNvGrpSpPr/>
          <p:nvPr/>
        </p:nvGrpSpPr>
        <p:grpSpPr>
          <a:xfrm>
            <a:off x="2640964" y="2822315"/>
            <a:ext cx="323622" cy="205203"/>
            <a:chOff x="2366755" y="2976795"/>
            <a:chExt cx="323622" cy="205203"/>
          </a:xfrm>
        </p:grpSpPr>
        <p:pic>
          <p:nvPicPr>
            <p:cNvPr id="44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675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CaixaDeTexto 87"/>
            <p:cNvSpPr txBox="1"/>
            <p:nvPr/>
          </p:nvSpPr>
          <p:spPr>
            <a:xfrm>
              <a:off x="2415943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47" name="Group 90"/>
          <p:cNvGrpSpPr/>
          <p:nvPr/>
        </p:nvGrpSpPr>
        <p:grpSpPr>
          <a:xfrm>
            <a:off x="3694662" y="2822315"/>
            <a:ext cx="323621" cy="205203"/>
            <a:chOff x="3356865" y="2976795"/>
            <a:chExt cx="323621" cy="205203"/>
          </a:xfrm>
        </p:grpSpPr>
        <p:pic>
          <p:nvPicPr>
            <p:cNvPr id="50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54" name="Group 89"/>
          <p:cNvGrpSpPr/>
          <p:nvPr/>
        </p:nvGrpSpPr>
        <p:grpSpPr>
          <a:xfrm>
            <a:off x="3131592" y="2802283"/>
            <a:ext cx="353795" cy="245267"/>
            <a:chOff x="2861810" y="2976795"/>
            <a:chExt cx="353795" cy="245267"/>
          </a:xfrm>
        </p:grpSpPr>
        <p:pic>
          <p:nvPicPr>
            <p:cNvPr id="55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810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327" y="3031789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CaixaDeTexto 83"/>
            <p:cNvSpPr txBox="1"/>
            <p:nvPr/>
          </p:nvSpPr>
          <p:spPr>
            <a:xfrm>
              <a:off x="2941171" y="3022007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V2</a:t>
              </a:r>
            </a:p>
          </p:txBody>
        </p:sp>
      </p:grpSp>
      <p:grpSp>
        <p:nvGrpSpPr>
          <p:cNvPr id="95" name="Grupo 31"/>
          <p:cNvGrpSpPr/>
          <p:nvPr/>
        </p:nvGrpSpPr>
        <p:grpSpPr>
          <a:xfrm>
            <a:off x="73948" y="3166399"/>
            <a:ext cx="9070052" cy="710498"/>
            <a:chOff x="71500" y="2796775"/>
            <a:chExt cx="7811574" cy="710498"/>
          </a:xfrm>
        </p:grpSpPr>
        <p:sp>
          <p:nvSpPr>
            <p:cNvPr id="96" name="CaixaDeTexto 2"/>
            <p:cNvSpPr txBox="1"/>
            <p:nvPr/>
          </p:nvSpPr>
          <p:spPr>
            <a:xfrm>
              <a:off x="71500" y="2873488"/>
              <a:ext cx="6960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rgbClr val="0070C0"/>
                  </a:solidFill>
                </a:rPr>
                <a:t>Atuação</a:t>
              </a:r>
            </a:p>
          </p:txBody>
        </p:sp>
        <p:cxnSp>
          <p:nvCxnSpPr>
            <p:cNvPr id="97" name="Conector reto 25"/>
            <p:cNvCxnSpPr/>
            <p:nvPr/>
          </p:nvCxnSpPr>
          <p:spPr>
            <a:xfrm>
              <a:off x="135801" y="2796775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to 113"/>
            <p:cNvCxnSpPr/>
            <p:nvPr/>
          </p:nvCxnSpPr>
          <p:spPr>
            <a:xfrm>
              <a:off x="161510" y="3507273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CaixaDeTexto 98"/>
          <p:cNvSpPr txBox="1"/>
          <p:nvPr/>
        </p:nvSpPr>
        <p:spPr>
          <a:xfrm>
            <a:off x="959664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0" name="CaixaDeTexto 99"/>
          <p:cNvSpPr txBox="1"/>
          <p:nvPr/>
        </p:nvSpPr>
        <p:spPr>
          <a:xfrm>
            <a:off x="1499724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1" name="CaixaDeTexto 100"/>
          <p:cNvSpPr txBox="1"/>
          <p:nvPr/>
        </p:nvSpPr>
        <p:spPr>
          <a:xfrm>
            <a:off x="1994781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2583665" y="3201197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2521566" y="3391658"/>
            <a:ext cx="502061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ARQ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2478190" y="3606242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087718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2988460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31" name="CaixaDeTexto 130"/>
          <p:cNvSpPr txBox="1"/>
          <p:nvPr/>
        </p:nvSpPr>
        <p:spPr>
          <a:xfrm>
            <a:off x="3591139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32" name="CaixaDeTexto 131"/>
          <p:cNvSpPr txBox="1"/>
          <p:nvPr/>
        </p:nvSpPr>
        <p:spPr>
          <a:xfrm>
            <a:off x="3491881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47" name="CaixaDeTexto 53"/>
          <p:cNvSpPr txBox="1"/>
          <p:nvPr/>
        </p:nvSpPr>
        <p:spPr>
          <a:xfrm>
            <a:off x="2726797" y="4317066"/>
            <a:ext cx="579005" cy="46166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CORE</a:t>
            </a:r>
          </a:p>
          <a:p>
            <a:r>
              <a:rPr lang="pt-BR" sz="1200" dirty="0"/>
              <a:t>TEAM</a:t>
            </a:r>
          </a:p>
        </p:txBody>
      </p:sp>
      <p:pic>
        <p:nvPicPr>
          <p:cNvPr id="148" name="Picture 38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912147" y="4011286"/>
            <a:ext cx="207895" cy="264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143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5" y="1061334"/>
            <a:ext cx="9089567" cy="4030696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4977046" y="3381842"/>
            <a:ext cx="495055" cy="4950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261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111784"/>
              </p:ext>
            </p:extLst>
          </p:nvPr>
        </p:nvGraphicFramePr>
        <p:xfrm>
          <a:off x="1736686" y="636536"/>
          <a:ext cx="7155794" cy="4410489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125124"/>
                <a:gridCol w="6030670"/>
              </a:tblGrid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O que é</a:t>
                      </a:r>
                      <a:endParaRPr lang="pt-BR" sz="1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É</a:t>
                      </a:r>
                      <a:r>
                        <a:rPr lang="pt-BR" sz="1800" baseline="0" dirty="0" smtClean="0"/>
                        <a:t> o processo de entendimento e detalhamento dos requisitos de negócio - funcional e não funcional</a:t>
                      </a:r>
                      <a:endParaRPr lang="pt-BR" sz="1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Quem faz</a:t>
                      </a:r>
                      <a:endParaRPr lang="pt-BR" sz="1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Líder da Demanda (Aplicações</a:t>
                      </a:r>
                      <a:r>
                        <a:rPr lang="pt-BR" sz="1800" baseline="0" dirty="0" smtClean="0"/>
                        <a:t> ou Infraestrutura)</a:t>
                      </a:r>
                      <a:endParaRPr lang="pt-BR" sz="18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Como faz</a:t>
                      </a:r>
                      <a:endParaRPr lang="pt-BR" sz="1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Atualização da Matriz de Requisitos</a:t>
                      </a:r>
                      <a:r>
                        <a:rPr lang="pt-BR" sz="1800" baseline="0" dirty="0" smtClean="0"/>
                        <a:t> e elaborar a especificação funcional da demanda. </a:t>
                      </a:r>
                      <a:endParaRPr lang="pt-BR" sz="1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" name="CaixaDeTexto 14"/>
          <p:cNvSpPr txBox="1"/>
          <p:nvPr/>
        </p:nvSpPr>
        <p:spPr>
          <a:xfrm>
            <a:off x="33856" y="1626935"/>
            <a:ext cx="1657826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ctr"/>
            <a:r>
              <a:rPr lang="pt-BR" sz="1600" dirty="0">
                <a:latin typeface="Gill Sans Std Light" pitchFamily="34" charset="0"/>
              </a:rPr>
              <a:t>Entender e </a:t>
            </a:r>
          </a:p>
          <a:p>
            <a:pPr algn="ctr"/>
            <a:r>
              <a:rPr lang="pt-BR" sz="1600" dirty="0">
                <a:latin typeface="Gill Sans Std Light" pitchFamily="34" charset="0"/>
              </a:rPr>
              <a:t>detalhar requisitos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476545" y="802800"/>
            <a:ext cx="720000" cy="720000"/>
            <a:chOff x="823473" y="5366386"/>
            <a:chExt cx="720000" cy="720000"/>
          </a:xfrm>
        </p:grpSpPr>
        <p:sp>
          <p:nvSpPr>
            <p:cNvPr id="21" name="Elipse 20"/>
            <p:cNvSpPr/>
            <p:nvPr/>
          </p:nvSpPr>
          <p:spPr bwMode="auto">
            <a:xfrm>
              <a:off x="823473" y="5366386"/>
              <a:ext cx="720000" cy="720000"/>
            </a:xfrm>
            <a:prstGeom prst="ellipse">
              <a:avLst/>
            </a:prstGeom>
            <a:solidFill>
              <a:srgbClr val="FFFFFF"/>
            </a:solidFill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24" name="Picture 11" descr="E:\Users\br93163\Downloads\Icones\notepencil32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303" y="5489486"/>
              <a:ext cx="411162" cy="4111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3035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 de cantos arredondados 59"/>
          <p:cNvSpPr/>
          <p:nvPr>
            <p:custDataLst>
              <p:tags r:id="rId1"/>
            </p:custDataLst>
          </p:nvPr>
        </p:nvSpPr>
        <p:spPr>
          <a:xfrm>
            <a:off x="239538" y="2809952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59" name="Retângulo de cantos arredondados 58"/>
          <p:cNvSpPr/>
          <p:nvPr>
            <p:custDataLst>
              <p:tags r:id="rId2"/>
            </p:custDataLst>
          </p:nvPr>
        </p:nvSpPr>
        <p:spPr>
          <a:xfrm>
            <a:off x="239538" y="1729814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58" name="Retângulo de cantos arredondados 57"/>
          <p:cNvSpPr/>
          <p:nvPr>
            <p:custDataLst>
              <p:tags r:id="rId3"/>
            </p:custDataLst>
          </p:nvPr>
        </p:nvSpPr>
        <p:spPr>
          <a:xfrm>
            <a:off x="239538" y="654905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16" name="Retângulo de cantos arredondados 15"/>
          <p:cNvSpPr/>
          <p:nvPr>
            <p:custDataLst>
              <p:tags r:id="rId4"/>
            </p:custDataLst>
          </p:nvPr>
        </p:nvSpPr>
        <p:spPr>
          <a:xfrm>
            <a:off x="239540" y="657491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FF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cs typeface="Arial" pitchFamily="34" charset="0"/>
              </a:rPr>
              <a:t>DA</a:t>
            </a:r>
          </a:p>
        </p:txBody>
      </p:sp>
      <p:sp>
        <p:nvSpPr>
          <p:cNvPr id="18" name="Retângulo de cantos arredondados 17"/>
          <p:cNvSpPr/>
          <p:nvPr>
            <p:custDataLst>
              <p:tags r:id="rId5"/>
            </p:custDataLst>
          </p:nvPr>
        </p:nvSpPr>
        <p:spPr>
          <a:xfrm>
            <a:off x="239540" y="1734986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00B05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cs typeface="Arial" pitchFamily="34" charset="0"/>
              </a:rPr>
              <a:t>Arquitetura Corporativa</a:t>
            </a:r>
          </a:p>
        </p:txBody>
      </p:sp>
      <p:sp>
        <p:nvSpPr>
          <p:cNvPr id="20" name="Retângulo de cantos arredondados 19"/>
          <p:cNvSpPr/>
          <p:nvPr>
            <p:custDataLst>
              <p:tags r:id="rId6"/>
            </p:custDataLst>
          </p:nvPr>
        </p:nvSpPr>
        <p:spPr>
          <a:xfrm>
            <a:off x="239540" y="2795747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FEEACB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cs typeface="Arial" pitchFamily="34" charset="0"/>
              </a:rPr>
              <a:t>Arquitetura de Infra</a:t>
            </a:r>
          </a:p>
        </p:txBody>
      </p:sp>
      <p:sp>
        <p:nvSpPr>
          <p:cNvPr id="51" name="Elipse 50"/>
          <p:cNvSpPr/>
          <p:nvPr>
            <p:custDataLst>
              <p:tags r:id="rId7"/>
            </p:custDataLst>
          </p:nvPr>
        </p:nvSpPr>
        <p:spPr>
          <a:xfrm>
            <a:off x="656565" y="1090620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8</a:t>
            </a:r>
          </a:p>
        </p:txBody>
      </p:sp>
      <p:sp>
        <p:nvSpPr>
          <p:cNvPr id="53" name="Retângulo 52"/>
          <p:cNvSpPr/>
          <p:nvPr>
            <p:custDataLst>
              <p:tags r:id="rId8"/>
            </p:custDataLst>
          </p:nvPr>
        </p:nvSpPr>
        <p:spPr>
          <a:xfrm>
            <a:off x="1478482" y="813088"/>
            <a:ext cx="1293319" cy="7710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Enriquecer requisitos funcionais e não funcionais e</a:t>
            </a:r>
          </a:p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detalhar funcionalidades críticas</a:t>
            </a:r>
          </a:p>
        </p:txBody>
      </p:sp>
      <p:cxnSp>
        <p:nvCxnSpPr>
          <p:cNvPr id="12" name="Conector de seta reta 11"/>
          <p:cNvCxnSpPr>
            <a:stCxn id="51" idx="6"/>
            <a:endCxn id="146" idx="1"/>
          </p:cNvCxnSpPr>
          <p:nvPr/>
        </p:nvCxnSpPr>
        <p:spPr>
          <a:xfrm flipV="1">
            <a:off x="872565" y="1192293"/>
            <a:ext cx="144040" cy="63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tângulo 137"/>
          <p:cNvSpPr/>
          <p:nvPr>
            <p:custDataLst>
              <p:tags r:id="rId9"/>
            </p:custDataLst>
          </p:nvPr>
        </p:nvSpPr>
        <p:spPr>
          <a:xfrm>
            <a:off x="1433476" y="2957248"/>
            <a:ext cx="1338324" cy="7870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Enriquecer requisitos funcionais e não funcionais e</a:t>
            </a:r>
          </a:p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detalhar funcionalidades críticas</a:t>
            </a:r>
          </a:p>
        </p:txBody>
      </p:sp>
      <p:sp>
        <p:nvSpPr>
          <p:cNvPr id="146" name="Losango 145"/>
          <p:cNvSpPr/>
          <p:nvPr/>
        </p:nvSpPr>
        <p:spPr>
          <a:xfrm>
            <a:off x="1016605" y="1048291"/>
            <a:ext cx="288000" cy="28800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OU</a:t>
            </a:r>
          </a:p>
        </p:txBody>
      </p:sp>
      <p:cxnSp>
        <p:nvCxnSpPr>
          <p:cNvPr id="7195" name="Conector de seta reta 7194"/>
          <p:cNvCxnSpPr>
            <a:stCxn id="146" idx="3"/>
            <a:endCxn id="53" idx="1"/>
          </p:cNvCxnSpPr>
          <p:nvPr/>
        </p:nvCxnSpPr>
        <p:spPr>
          <a:xfrm>
            <a:off x="1304607" y="1192293"/>
            <a:ext cx="173875" cy="63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7" name="Conector angulado 7196"/>
          <p:cNvCxnSpPr>
            <a:stCxn id="146" idx="2"/>
            <a:endCxn id="138" idx="1"/>
          </p:cNvCxnSpPr>
          <p:nvPr/>
        </p:nvCxnSpPr>
        <p:spPr>
          <a:xfrm rot="16200000" flipH="1">
            <a:off x="289801" y="2207096"/>
            <a:ext cx="2014479" cy="272871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upo 60"/>
          <p:cNvGrpSpPr/>
          <p:nvPr/>
        </p:nvGrpSpPr>
        <p:grpSpPr>
          <a:xfrm>
            <a:off x="6892474" y="83245"/>
            <a:ext cx="423014" cy="423014"/>
            <a:chOff x="823473" y="5366386"/>
            <a:chExt cx="720000" cy="720000"/>
          </a:xfrm>
        </p:grpSpPr>
        <p:sp>
          <p:nvSpPr>
            <p:cNvPr id="62" name="Elipse 61"/>
            <p:cNvSpPr/>
            <p:nvPr/>
          </p:nvSpPr>
          <p:spPr bwMode="auto">
            <a:xfrm>
              <a:off x="823473" y="5366386"/>
              <a:ext cx="720000" cy="720000"/>
            </a:xfrm>
            <a:prstGeom prst="ellipse">
              <a:avLst/>
            </a:prstGeom>
            <a:solidFill>
              <a:srgbClr val="FFFFFF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63" name="Picture 11" descr="E:\Users\br93163\Downloads\Icones\notepencil32.png"/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303" y="5489486"/>
              <a:ext cx="411162" cy="4111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4" name="CaixaDeTexto 63"/>
          <p:cNvSpPr txBox="1"/>
          <p:nvPr/>
        </p:nvSpPr>
        <p:spPr>
          <a:xfrm>
            <a:off x="7304518" y="54231"/>
            <a:ext cx="1498724" cy="530912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Entender e </a:t>
            </a:r>
          </a:p>
          <a:p>
            <a:r>
              <a:rPr lang="pt-BR" sz="1400" dirty="0">
                <a:latin typeface="Gill Sans Std Light" pitchFamily="34" charset="0"/>
              </a:rPr>
              <a:t>detalhar requisitos</a:t>
            </a:r>
          </a:p>
        </p:txBody>
      </p:sp>
      <p:sp>
        <p:nvSpPr>
          <p:cNvPr id="66" name="Retângulo 65"/>
          <p:cNvSpPr/>
          <p:nvPr>
            <p:custDataLst>
              <p:tags r:id="rId10"/>
            </p:custDataLst>
          </p:nvPr>
        </p:nvSpPr>
        <p:spPr>
          <a:xfrm>
            <a:off x="3278683" y="905610"/>
            <a:ext cx="1293319" cy="586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Atualizar Matriz de Requisitos</a:t>
            </a:r>
          </a:p>
        </p:txBody>
      </p:sp>
      <p:sp>
        <p:nvSpPr>
          <p:cNvPr id="67" name="Retângulo 66"/>
          <p:cNvSpPr/>
          <p:nvPr>
            <p:custDataLst>
              <p:tags r:id="rId11"/>
            </p:custDataLst>
          </p:nvPr>
        </p:nvSpPr>
        <p:spPr>
          <a:xfrm>
            <a:off x="3285907" y="3066805"/>
            <a:ext cx="1293319" cy="586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Atualizar Matriz de Requisitos</a:t>
            </a:r>
          </a:p>
        </p:txBody>
      </p:sp>
      <p:cxnSp>
        <p:nvCxnSpPr>
          <p:cNvPr id="8" name="Conector de seta reta 7"/>
          <p:cNvCxnSpPr>
            <a:stCxn id="53" idx="3"/>
            <a:endCxn id="66" idx="1"/>
          </p:cNvCxnSpPr>
          <p:nvPr/>
        </p:nvCxnSpPr>
        <p:spPr>
          <a:xfrm>
            <a:off x="2771800" y="1198620"/>
            <a:ext cx="50688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138" idx="3"/>
            <a:endCxn id="67" idx="1"/>
          </p:cNvCxnSpPr>
          <p:nvPr/>
        </p:nvCxnSpPr>
        <p:spPr>
          <a:xfrm>
            <a:off x="2771802" y="3350771"/>
            <a:ext cx="514105" cy="9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Elipse 71"/>
          <p:cNvSpPr/>
          <p:nvPr>
            <p:custDataLst>
              <p:tags r:id="rId12"/>
            </p:custDataLst>
          </p:nvPr>
        </p:nvSpPr>
        <p:spPr>
          <a:xfrm>
            <a:off x="6426230" y="1085857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10</a:t>
            </a:r>
          </a:p>
        </p:txBody>
      </p:sp>
      <p:sp>
        <p:nvSpPr>
          <p:cNvPr id="73" name="Elipse 72"/>
          <p:cNvSpPr/>
          <p:nvPr>
            <p:custDataLst>
              <p:tags r:id="rId13"/>
            </p:custDataLst>
          </p:nvPr>
        </p:nvSpPr>
        <p:spPr>
          <a:xfrm>
            <a:off x="4752020" y="3251815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10</a:t>
            </a:r>
          </a:p>
        </p:txBody>
      </p:sp>
      <p:cxnSp>
        <p:nvCxnSpPr>
          <p:cNvPr id="13" name="Conector de seta reta 12"/>
          <p:cNvCxnSpPr>
            <a:stCxn id="66" idx="3"/>
          </p:cNvCxnSpPr>
          <p:nvPr/>
        </p:nvCxnSpPr>
        <p:spPr>
          <a:xfrm flipV="1">
            <a:off x="4572000" y="1192293"/>
            <a:ext cx="252832" cy="63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7" idx="3"/>
            <a:endCxn id="73" idx="2"/>
          </p:cNvCxnSpPr>
          <p:nvPr/>
        </p:nvCxnSpPr>
        <p:spPr>
          <a:xfrm>
            <a:off x="4579225" y="3359815"/>
            <a:ext cx="17279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ixaDeTexto 77"/>
          <p:cNvSpPr txBox="1"/>
          <p:nvPr>
            <p:custDataLst>
              <p:tags r:id="rId14"/>
            </p:custDataLst>
          </p:nvPr>
        </p:nvSpPr>
        <p:spPr>
          <a:xfrm>
            <a:off x="4388119" y="1488870"/>
            <a:ext cx="720080" cy="34624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800" dirty="0">
                <a:cs typeface="Arial" pitchFamily="34" charset="0"/>
              </a:rPr>
              <a:t>Matriz de Requisitos</a:t>
            </a:r>
          </a:p>
        </p:txBody>
      </p:sp>
      <p:sp>
        <p:nvSpPr>
          <p:cNvPr id="79" name="Fluxograma: Documento 78"/>
          <p:cNvSpPr/>
          <p:nvPr>
            <p:custDataLst>
              <p:tags r:id="rId15"/>
            </p:custDataLst>
          </p:nvPr>
        </p:nvSpPr>
        <p:spPr>
          <a:xfrm>
            <a:off x="4287734" y="1300982"/>
            <a:ext cx="360000" cy="235079"/>
          </a:xfrm>
          <a:prstGeom prst="flowChartDocumen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  <a:cs typeface="Arial" pitchFamily="34" charset="0"/>
              </a:rPr>
              <a:t>M.R.</a:t>
            </a:r>
          </a:p>
        </p:txBody>
      </p:sp>
      <p:sp>
        <p:nvSpPr>
          <p:cNvPr id="80" name="CaixaDeTexto 79"/>
          <p:cNvSpPr txBox="1"/>
          <p:nvPr>
            <p:custDataLst>
              <p:tags r:id="rId16"/>
            </p:custDataLst>
          </p:nvPr>
        </p:nvSpPr>
        <p:spPr>
          <a:xfrm>
            <a:off x="4447360" y="3696057"/>
            <a:ext cx="720080" cy="34624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800" dirty="0">
                <a:cs typeface="Arial" pitchFamily="34" charset="0"/>
              </a:rPr>
              <a:t>Matriz de Requisitos</a:t>
            </a:r>
          </a:p>
        </p:txBody>
      </p:sp>
      <p:sp>
        <p:nvSpPr>
          <p:cNvPr id="81" name="Fluxograma: Documento 80"/>
          <p:cNvSpPr/>
          <p:nvPr>
            <p:custDataLst>
              <p:tags r:id="rId17"/>
            </p:custDataLst>
          </p:nvPr>
        </p:nvSpPr>
        <p:spPr>
          <a:xfrm>
            <a:off x="4346975" y="3508170"/>
            <a:ext cx="360000" cy="235079"/>
          </a:xfrm>
          <a:prstGeom prst="flowChartDocumen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  <a:cs typeface="Arial" pitchFamily="34" charset="0"/>
              </a:rPr>
              <a:t>M.R.</a:t>
            </a:r>
          </a:p>
        </p:txBody>
      </p:sp>
      <p:sp>
        <p:nvSpPr>
          <p:cNvPr id="82" name="Retângulo 81"/>
          <p:cNvSpPr/>
          <p:nvPr>
            <p:custDataLst>
              <p:tags r:id="rId18"/>
            </p:custDataLst>
          </p:nvPr>
        </p:nvSpPr>
        <p:spPr>
          <a:xfrm>
            <a:off x="4824834" y="895746"/>
            <a:ext cx="1293319" cy="586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Elaborar especificação funcional da demanda</a:t>
            </a:r>
          </a:p>
        </p:txBody>
      </p:sp>
      <p:sp>
        <p:nvSpPr>
          <p:cNvPr id="83" name="CaixaDeTexto 82"/>
          <p:cNvSpPr txBox="1"/>
          <p:nvPr>
            <p:custDataLst>
              <p:tags r:id="rId19"/>
            </p:custDataLst>
          </p:nvPr>
        </p:nvSpPr>
        <p:spPr>
          <a:xfrm>
            <a:off x="5967157" y="1499498"/>
            <a:ext cx="720080" cy="34624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800" dirty="0">
                <a:cs typeface="Arial" pitchFamily="34" charset="0"/>
              </a:rPr>
              <a:t>Especificação Funcional</a:t>
            </a:r>
          </a:p>
        </p:txBody>
      </p:sp>
      <p:sp>
        <p:nvSpPr>
          <p:cNvPr id="85" name="Fluxograma: Documento 84"/>
          <p:cNvSpPr/>
          <p:nvPr>
            <p:custDataLst>
              <p:tags r:id="rId20"/>
            </p:custDataLst>
          </p:nvPr>
        </p:nvSpPr>
        <p:spPr>
          <a:xfrm>
            <a:off x="5866770" y="1311612"/>
            <a:ext cx="360000" cy="235079"/>
          </a:xfrm>
          <a:prstGeom prst="flowChartDocumen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  <a:cs typeface="Arial" pitchFamily="34" charset="0"/>
              </a:rPr>
              <a:t>EF</a:t>
            </a:r>
          </a:p>
        </p:txBody>
      </p:sp>
      <p:cxnSp>
        <p:nvCxnSpPr>
          <p:cNvPr id="22" name="Conector de seta reta 21"/>
          <p:cNvCxnSpPr>
            <a:stCxn id="82" idx="3"/>
            <a:endCxn id="72" idx="2"/>
          </p:cNvCxnSpPr>
          <p:nvPr/>
        </p:nvCxnSpPr>
        <p:spPr>
          <a:xfrm>
            <a:off x="6118151" y="1188758"/>
            <a:ext cx="308079" cy="51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4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/>
          <p:cNvGrpSpPr/>
          <p:nvPr/>
        </p:nvGrpSpPr>
        <p:grpSpPr>
          <a:xfrm>
            <a:off x="3881352" y="594445"/>
            <a:ext cx="340158" cy="450050"/>
            <a:chOff x="3814313" y="816555"/>
            <a:chExt cx="340158" cy="450050"/>
          </a:xfrm>
        </p:grpSpPr>
        <p:sp>
          <p:nvSpPr>
            <p:cNvPr id="3" name="CaixaDeTexto 53"/>
            <p:cNvSpPr txBox="1"/>
            <p:nvPr/>
          </p:nvSpPr>
          <p:spPr>
            <a:xfrm>
              <a:off x="3814313" y="81655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P0</a:t>
              </a:r>
            </a:p>
          </p:txBody>
        </p:sp>
        <p:pic>
          <p:nvPicPr>
            <p:cNvPr id="4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2097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5" name="Conector de seta reta 65"/>
          <p:cNvCxnSpPr/>
          <p:nvPr/>
        </p:nvCxnSpPr>
        <p:spPr>
          <a:xfrm>
            <a:off x="791580" y="2664673"/>
            <a:ext cx="8352420" cy="0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067482"/>
              </p:ext>
            </p:extLst>
          </p:nvPr>
        </p:nvGraphicFramePr>
        <p:xfrm>
          <a:off x="926599" y="1089500"/>
          <a:ext cx="3654406" cy="2830721"/>
        </p:xfrm>
        <a:graphic>
          <a:graphicData uri="http://schemas.openxmlformats.org/drawingml/2006/table">
            <a:tbl>
              <a:tblPr/>
              <a:tblGrid>
                <a:gridCol w="522058"/>
                <a:gridCol w="522058"/>
                <a:gridCol w="522058"/>
                <a:gridCol w="522058"/>
                <a:gridCol w="522058"/>
                <a:gridCol w="522058"/>
                <a:gridCol w="522058"/>
              </a:tblGrid>
              <a:tr h="1572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Briefing </a:t>
                      </a: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Diagrama de Sequência (Processo Negócio)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Matriz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Requisitos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Esboço da Solução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Matriz de Requisitos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Estimativa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Prazo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e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Custo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P0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Matriz de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1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Requisitos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e </a:t>
                      </a:r>
                      <a:r>
                        <a:rPr lang="en-US" sz="11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Estimativa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en-US" sz="11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Funcionalidades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58459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noProof="0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56" name="Group 85"/>
          <p:cNvGrpSpPr/>
          <p:nvPr/>
        </p:nvGrpSpPr>
        <p:grpSpPr>
          <a:xfrm>
            <a:off x="2836692" y="594445"/>
            <a:ext cx="352982" cy="450050"/>
            <a:chOff x="3491880" y="816555"/>
            <a:chExt cx="352981" cy="450050"/>
          </a:xfrm>
        </p:grpSpPr>
        <p:sp>
          <p:nvSpPr>
            <p:cNvPr id="57" name="CaixaDeTexto 53"/>
            <p:cNvSpPr txBox="1"/>
            <p:nvPr/>
          </p:nvSpPr>
          <p:spPr>
            <a:xfrm>
              <a:off x="3491880" y="816555"/>
              <a:ext cx="3529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YP</a:t>
              </a:r>
            </a:p>
          </p:txBody>
        </p:sp>
        <p:pic>
          <p:nvPicPr>
            <p:cNvPr id="60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9664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66" name="Group 85"/>
          <p:cNvGrpSpPr/>
          <p:nvPr/>
        </p:nvGrpSpPr>
        <p:grpSpPr>
          <a:xfrm>
            <a:off x="1241632" y="456517"/>
            <a:ext cx="405025" cy="587978"/>
            <a:chOff x="2527833" y="678627"/>
            <a:chExt cx="405025" cy="587978"/>
          </a:xfrm>
        </p:grpSpPr>
        <p:sp>
          <p:nvSpPr>
            <p:cNvPr id="70" name="CaixaDeTexto 53"/>
            <p:cNvSpPr txBox="1"/>
            <p:nvPr/>
          </p:nvSpPr>
          <p:spPr>
            <a:xfrm>
              <a:off x="2527833" y="678627"/>
              <a:ext cx="4050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Prior</a:t>
              </a:r>
            </a:p>
            <a:p>
              <a:r>
                <a:rPr lang="pt-BR" sz="800" dirty="0"/>
                <a:t>Dem.</a:t>
              </a:r>
            </a:p>
          </p:txBody>
        </p:sp>
        <p:pic>
          <p:nvPicPr>
            <p:cNvPr id="71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4539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40" name="Group 88"/>
          <p:cNvGrpSpPr/>
          <p:nvPr/>
        </p:nvGrpSpPr>
        <p:grpSpPr>
          <a:xfrm>
            <a:off x="2119141" y="2822315"/>
            <a:ext cx="323621" cy="205203"/>
            <a:chOff x="1849113" y="2976795"/>
            <a:chExt cx="323621" cy="205203"/>
          </a:xfrm>
        </p:grpSpPr>
        <p:pic>
          <p:nvPicPr>
            <p:cNvPr id="41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9113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CaixaDeTexto 41"/>
            <p:cNvSpPr txBox="1"/>
            <p:nvPr/>
          </p:nvSpPr>
          <p:spPr>
            <a:xfrm>
              <a:off x="1898300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43" name="Group 92"/>
          <p:cNvGrpSpPr/>
          <p:nvPr/>
        </p:nvGrpSpPr>
        <p:grpSpPr>
          <a:xfrm>
            <a:off x="2640964" y="2822315"/>
            <a:ext cx="323622" cy="205203"/>
            <a:chOff x="2366755" y="2976795"/>
            <a:chExt cx="323622" cy="205203"/>
          </a:xfrm>
        </p:grpSpPr>
        <p:pic>
          <p:nvPicPr>
            <p:cNvPr id="44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675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CaixaDeTexto 87"/>
            <p:cNvSpPr txBox="1"/>
            <p:nvPr/>
          </p:nvSpPr>
          <p:spPr>
            <a:xfrm>
              <a:off x="2415943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47" name="Group 90"/>
          <p:cNvGrpSpPr/>
          <p:nvPr/>
        </p:nvGrpSpPr>
        <p:grpSpPr>
          <a:xfrm>
            <a:off x="3694662" y="2822315"/>
            <a:ext cx="323621" cy="205203"/>
            <a:chOff x="3356865" y="2976795"/>
            <a:chExt cx="323621" cy="205203"/>
          </a:xfrm>
        </p:grpSpPr>
        <p:pic>
          <p:nvPicPr>
            <p:cNvPr id="50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54" name="Group 89"/>
          <p:cNvGrpSpPr/>
          <p:nvPr/>
        </p:nvGrpSpPr>
        <p:grpSpPr>
          <a:xfrm>
            <a:off x="3131592" y="2802283"/>
            <a:ext cx="353795" cy="245267"/>
            <a:chOff x="2861810" y="2976795"/>
            <a:chExt cx="353795" cy="245267"/>
          </a:xfrm>
        </p:grpSpPr>
        <p:pic>
          <p:nvPicPr>
            <p:cNvPr id="55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810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327" y="3031789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CaixaDeTexto 83"/>
            <p:cNvSpPr txBox="1"/>
            <p:nvPr/>
          </p:nvSpPr>
          <p:spPr>
            <a:xfrm>
              <a:off x="2941171" y="3022007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V2</a:t>
              </a:r>
            </a:p>
          </p:txBody>
        </p:sp>
      </p:grpSp>
      <p:grpSp>
        <p:nvGrpSpPr>
          <p:cNvPr id="64" name="Group 89"/>
          <p:cNvGrpSpPr/>
          <p:nvPr/>
        </p:nvGrpSpPr>
        <p:grpSpPr>
          <a:xfrm>
            <a:off x="4202083" y="2798219"/>
            <a:ext cx="364792" cy="253395"/>
            <a:chOff x="2861810" y="2973469"/>
            <a:chExt cx="364792" cy="253395"/>
          </a:xfrm>
        </p:grpSpPr>
        <p:pic>
          <p:nvPicPr>
            <p:cNvPr id="65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810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327" y="3031789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CaixaDeTexto 83"/>
            <p:cNvSpPr txBox="1"/>
            <p:nvPr/>
          </p:nvSpPr>
          <p:spPr>
            <a:xfrm>
              <a:off x="2952168" y="2973469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V3</a:t>
              </a:r>
            </a:p>
          </p:txBody>
        </p:sp>
        <p:pic>
          <p:nvPicPr>
            <p:cNvPr id="69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9292" y="3082864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5" name="Grupo 31"/>
          <p:cNvGrpSpPr/>
          <p:nvPr/>
        </p:nvGrpSpPr>
        <p:grpSpPr>
          <a:xfrm>
            <a:off x="73948" y="3166399"/>
            <a:ext cx="9070052" cy="710498"/>
            <a:chOff x="71500" y="2796775"/>
            <a:chExt cx="7811574" cy="710498"/>
          </a:xfrm>
        </p:grpSpPr>
        <p:sp>
          <p:nvSpPr>
            <p:cNvPr id="96" name="CaixaDeTexto 2"/>
            <p:cNvSpPr txBox="1"/>
            <p:nvPr/>
          </p:nvSpPr>
          <p:spPr>
            <a:xfrm>
              <a:off x="71500" y="2873488"/>
              <a:ext cx="6960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rgbClr val="0070C0"/>
                  </a:solidFill>
                </a:rPr>
                <a:t>Atuação</a:t>
              </a:r>
            </a:p>
          </p:txBody>
        </p:sp>
        <p:cxnSp>
          <p:nvCxnSpPr>
            <p:cNvPr id="97" name="Conector reto 25"/>
            <p:cNvCxnSpPr/>
            <p:nvPr/>
          </p:nvCxnSpPr>
          <p:spPr>
            <a:xfrm>
              <a:off x="135801" y="2796775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to 113"/>
            <p:cNvCxnSpPr/>
            <p:nvPr/>
          </p:nvCxnSpPr>
          <p:spPr>
            <a:xfrm>
              <a:off x="161510" y="3507273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CaixaDeTexto 98"/>
          <p:cNvSpPr txBox="1"/>
          <p:nvPr/>
        </p:nvSpPr>
        <p:spPr>
          <a:xfrm>
            <a:off x="959664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0" name="CaixaDeTexto 99"/>
          <p:cNvSpPr txBox="1"/>
          <p:nvPr/>
        </p:nvSpPr>
        <p:spPr>
          <a:xfrm>
            <a:off x="1499724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1" name="CaixaDeTexto 100"/>
          <p:cNvSpPr txBox="1"/>
          <p:nvPr/>
        </p:nvSpPr>
        <p:spPr>
          <a:xfrm>
            <a:off x="1994781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2583665" y="3201197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2521566" y="3391658"/>
            <a:ext cx="502061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ARQ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2478190" y="3606242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087718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2988460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31" name="CaixaDeTexto 130"/>
          <p:cNvSpPr txBox="1"/>
          <p:nvPr/>
        </p:nvSpPr>
        <p:spPr>
          <a:xfrm>
            <a:off x="3591139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32" name="CaixaDeTexto 131"/>
          <p:cNvSpPr txBox="1"/>
          <p:nvPr/>
        </p:nvSpPr>
        <p:spPr>
          <a:xfrm>
            <a:off x="3491881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33" name="CaixaDeTexto 132"/>
          <p:cNvSpPr txBox="1"/>
          <p:nvPr/>
        </p:nvSpPr>
        <p:spPr>
          <a:xfrm>
            <a:off x="4131199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34" name="CaixaDeTexto 133"/>
          <p:cNvSpPr txBox="1"/>
          <p:nvPr/>
        </p:nvSpPr>
        <p:spPr>
          <a:xfrm>
            <a:off x="4031941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93" name="CaixaDeTexto 53"/>
          <p:cNvSpPr txBox="1"/>
          <p:nvPr/>
        </p:nvSpPr>
        <p:spPr>
          <a:xfrm>
            <a:off x="2726797" y="4317690"/>
            <a:ext cx="579005" cy="46166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CORE</a:t>
            </a:r>
          </a:p>
          <a:p>
            <a:r>
              <a:rPr lang="pt-BR" sz="1200" dirty="0"/>
              <a:t>TEAM</a:t>
            </a:r>
          </a:p>
        </p:txBody>
      </p:sp>
      <p:pic>
        <p:nvPicPr>
          <p:cNvPr id="102" name="Picture 38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912147" y="4011910"/>
            <a:ext cx="207895" cy="264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299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5" y="1061334"/>
            <a:ext cx="9089567" cy="4030696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5562112" y="3381842"/>
            <a:ext cx="495055" cy="4950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6253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162000" y="1581932"/>
            <a:ext cx="1390830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ctr"/>
            <a:r>
              <a:rPr lang="pt-BR" sz="1600" dirty="0">
                <a:latin typeface="Gill Sans Std Light" pitchFamily="34" charset="0"/>
              </a:rPr>
              <a:t>Definir solução</a:t>
            </a:r>
          </a:p>
          <a:p>
            <a:pPr algn="ctr"/>
            <a:r>
              <a:rPr lang="pt-BR" sz="1600" dirty="0">
                <a:latin typeface="Gill Sans Std Light" pitchFamily="34" charset="0"/>
              </a:rPr>
              <a:t>técnica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476545" y="816635"/>
            <a:ext cx="720000" cy="720000"/>
            <a:chOff x="476545" y="816635"/>
            <a:chExt cx="720000" cy="720000"/>
          </a:xfrm>
        </p:grpSpPr>
        <p:sp>
          <p:nvSpPr>
            <p:cNvPr id="16" name="Elipse 15"/>
            <p:cNvSpPr/>
            <p:nvPr/>
          </p:nvSpPr>
          <p:spPr bwMode="auto">
            <a:xfrm>
              <a:off x="476545" y="816635"/>
              <a:ext cx="720000" cy="720000"/>
            </a:xfrm>
            <a:prstGeom prst="ellipse">
              <a:avLst/>
            </a:prstGeom>
            <a:solidFill>
              <a:schemeClr val="bg1"/>
            </a:solidFill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26" name="Picture 27" descr="E:\Users\br93163\Downloads\Icones\code-4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451" y="976021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051496"/>
              </p:ext>
            </p:extLst>
          </p:nvPr>
        </p:nvGraphicFramePr>
        <p:xfrm>
          <a:off x="1736686" y="636536"/>
          <a:ext cx="7155794" cy="4410489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125124"/>
                <a:gridCol w="6030670"/>
              </a:tblGrid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O que é</a:t>
                      </a:r>
                      <a:endParaRPr lang="pt-BR" sz="1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É o processo de definição técnica da solução a ser implementada, com base n</a:t>
                      </a:r>
                      <a:r>
                        <a:rPr lang="pt-BR" sz="1800" baseline="0" dirty="0" smtClean="0"/>
                        <a:t>a matriz de requisitos e do documento de especificação funcional da demanda </a:t>
                      </a:r>
                      <a:endParaRPr lang="pt-BR" sz="1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Quem faz</a:t>
                      </a:r>
                      <a:endParaRPr lang="pt-BR" sz="1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Líder da Demanda (Aplicações</a:t>
                      </a:r>
                      <a:r>
                        <a:rPr lang="pt-BR" sz="1800" baseline="0" dirty="0" smtClean="0"/>
                        <a:t> ou Infraestrutura), Arquitetura Corporativa e Arquitetura de Infraestrutura</a:t>
                      </a:r>
                      <a:endParaRPr lang="pt-BR" sz="18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Como faz</a:t>
                      </a:r>
                      <a:endParaRPr lang="pt-BR" sz="1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Através da elaboração dos</a:t>
                      </a:r>
                      <a:r>
                        <a:rPr lang="pt-BR" sz="1800" baseline="0" dirty="0" smtClean="0"/>
                        <a:t> documentos de Especificação Técnica, Documento de Arquitetura de Solução e Modelo de Custos de Infraestrutura</a:t>
                      </a:r>
                      <a:endParaRPr lang="pt-BR" sz="1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621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 de cantos arredondados 59"/>
          <p:cNvSpPr/>
          <p:nvPr>
            <p:custDataLst>
              <p:tags r:id="rId1"/>
            </p:custDataLst>
          </p:nvPr>
        </p:nvSpPr>
        <p:spPr>
          <a:xfrm>
            <a:off x="239538" y="2809952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59" name="Retângulo de cantos arredondados 58"/>
          <p:cNvSpPr/>
          <p:nvPr>
            <p:custDataLst>
              <p:tags r:id="rId2"/>
            </p:custDataLst>
          </p:nvPr>
        </p:nvSpPr>
        <p:spPr>
          <a:xfrm>
            <a:off x="239538" y="1729814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58" name="Retângulo de cantos arredondados 57"/>
          <p:cNvSpPr/>
          <p:nvPr>
            <p:custDataLst>
              <p:tags r:id="rId3"/>
            </p:custDataLst>
          </p:nvPr>
        </p:nvSpPr>
        <p:spPr>
          <a:xfrm>
            <a:off x="239538" y="654905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16" name="Retângulo de cantos arredondados 15"/>
          <p:cNvSpPr/>
          <p:nvPr>
            <p:custDataLst>
              <p:tags r:id="rId4"/>
            </p:custDataLst>
          </p:nvPr>
        </p:nvSpPr>
        <p:spPr>
          <a:xfrm>
            <a:off x="239540" y="657491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FF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cs typeface="Arial" pitchFamily="34" charset="0"/>
              </a:rPr>
              <a:t>DA</a:t>
            </a:r>
          </a:p>
        </p:txBody>
      </p:sp>
      <p:sp>
        <p:nvSpPr>
          <p:cNvPr id="18" name="Retângulo de cantos arredondados 17"/>
          <p:cNvSpPr/>
          <p:nvPr>
            <p:custDataLst>
              <p:tags r:id="rId5"/>
            </p:custDataLst>
          </p:nvPr>
        </p:nvSpPr>
        <p:spPr>
          <a:xfrm>
            <a:off x="239540" y="1734986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00B05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cs typeface="Arial" pitchFamily="34" charset="0"/>
              </a:rPr>
              <a:t>Arquitetura Corporativa</a:t>
            </a:r>
          </a:p>
        </p:txBody>
      </p:sp>
      <p:sp>
        <p:nvSpPr>
          <p:cNvPr id="20" name="Retângulo de cantos arredondados 19"/>
          <p:cNvSpPr/>
          <p:nvPr>
            <p:custDataLst>
              <p:tags r:id="rId6"/>
            </p:custDataLst>
          </p:nvPr>
        </p:nvSpPr>
        <p:spPr>
          <a:xfrm>
            <a:off x="239540" y="2795747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FEEACB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cs typeface="Arial" pitchFamily="34" charset="0"/>
              </a:rPr>
              <a:t>Arquitetura de Infra</a:t>
            </a:r>
          </a:p>
        </p:txBody>
      </p:sp>
      <p:sp>
        <p:nvSpPr>
          <p:cNvPr id="51" name="Elipse 50"/>
          <p:cNvSpPr/>
          <p:nvPr>
            <p:custDataLst>
              <p:tags r:id="rId7"/>
            </p:custDataLst>
          </p:nvPr>
        </p:nvSpPr>
        <p:spPr>
          <a:xfrm>
            <a:off x="656565" y="1090620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9</a:t>
            </a:r>
          </a:p>
        </p:txBody>
      </p:sp>
      <p:sp>
        <p:nvSpPr>
          <p:cNvPr id="53" name="Retângulo 52"/>
          <p:cNvSpPr/>
          <p:nvPr>
            <p:custDataLst>
              <p:tags r:id="rId8"/>
            </p:custDataLst>
          </p:nvPr>
        </p:nvSpPr>
        <p:spPr>
          <a:xfrm>
            <a:off x="1478480" y="813088"/>
            <a:ext cx="952833" cy="7710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Revisar solução funcional definida</a:t>
            </a:r>
          </a:p>
        </p:txBody>
      </p:sp>
      <p:cxnSp>
        <p:nvCxnSpPr>
          <p:cNvPr id="12" name="Conector de seta reta 11"/>
          <p:cNvCxnSpPr>
            <a:stCxn id="51" idx="6"/>
            <a:endCxn id="146" idx="1"/>
          </p:cNvCxnSpPr>
          <p:nvPr/>
        </p:nvCxnSpPr>
        <p:spPr>
          <a:xfrm flipV="1">
            <a:off x="872565" y="1192293"/>
            <a:ext cx="144040" cy="63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tângulo 137"/>
          <p:cNvSpPr/>
          <p:nvPr>
            <p:custDataLst>
              <p:tags r:id="rId9"/>
            </p:custDataLst>
          </p:nvPr>
        </p:nvSpPr>
        <p:spPr>
          <a:xfrm>
            <a:off x="1457130" y="2957248"/>
            <a:ext cx="985990" cy="7870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Revisar solução técnica definida</a:t>
            </a:r>
          </a:p>
        </p:txBody>
      </p:sp>
      <p:sp>
        <p:nvSpPr>
          <p:cNvPr id="146" name="Losango 145"/>
          <p:cNvSpPr/>
          <p:nvPr/>
        </p:nvSpPr>
        <p:spPr>
          <a:xfrm>
            <a:off x="1016605" y="1048291"/>
            <a:ext cx="288000" cy="28800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OU</a:t>
            </a:r>
          </a:p>
        </p:txBody>
      </p:sp>
      <p:cxnSp>
        <p:nvCxnSpPr>
          <p:cNvPr id="7195" name="Conector de seta reta 7194"/>
          <p:cNvCxnSpPr>
            <a:stCxn id="146" idx="3"/>
            <a:endCxn id="53" idx="1"/>
          </p:cNvCxnSpPr>
          <p:nvPr/>
        </p:nvCxnSpPr>
        <p:spPr>
          <a:xfrm>
            <a:off x="1304607" y="1192293"/>
            <a:ext cx="173875" cy="63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7" name="Conector angulado 7196"/>
          <p:cNvCxnSpPr>
            <a:stCxn id="146" idx="2"/>
            <a:endCxn id="138" idx="1"/>
          </p:cNvCxnSpPr>
          <p:nvPr/>
        </p:nvCxnSpPr>
        <p:spPr>
          <a:xfrm rot="16200000" flipH="1">
            <a:off x="301628" y="2195269"/>
            <a:ext cx="2014479" cy="29652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tângulo 65"/>
          <p:cNvSpPr/>
          <p:nvPr>
            <p:custDataLst>
              <p:tags r:id="rId10"/>
            </p:custDataLst>
          </p:nvPr>
        </p:nvSpPr>
        <p:spPr>
          <a:xfrm>
            <a:off x="2572982" y="1986761"/>
            <a:ext cx="952833" cy="586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Detalhar solução de arquitetura corporativa</a:t>
            </a:r>
          </a:p>
        </p:txBody>
      </p:sp>
      <p:sp>
        <p:nvSpPr>
          <p:cNvPr id="67" name="Retângulo 66"/>
          <p:cNvSpPr/>
          <p:nvPr>
            <p:custDataLst>
              <p:tags r:id="rId11"/>
            </p:custDataLst>
          </p:nvPr>
        </p:nvSpPr>
        <p:spPr>
          <a:xfrm>
            <a:off x="4768451" y="3066805"/>
            <a:ext cx="952833" cy="586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Elaborar Modelo de Custos da demanda</a:t>
            </a:r>
          </a:p>
        </p:txBody>
      </p:sp>
      <p:sp>
        <p:nvSpPr>
          <p:cNvPr id="73" name="Elipse 72"/>
          <p:cNvSpPr/>
          <p:nvPr>
            <p:custDataLst>
              <p:tags r:id="rId12"/>
            </p:custDataLst>
          </p:nvPr>
        </p:nvSpPr>
        <p:spPr>
          <a:xfrm>
            <a:off x="7253661" y="3251815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11</a:t>
            </a:r>
          </a:p>
        </p:txBody>
      </p:sp>
      <p:cxnSp>
        <p:nvCxnSpPr>
          <p:cNvPr id="15" name="Conector de seta reta 14"/>
          <p:cNvCxnSpPr>
            <a:stCxn id="67" idx="3"/>
            <a:endCxn id="71" idx="1"/>
          </p:cNvCxnSpPr>
          <p:nvPr/>
        </p:nvCxnSpPr>
        <p:spPr>
          <a:xfrm flipV="1">
            <a:off x="5721285" y="3356399"/>
            <a:ext cx="755389" cy="34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>
            <p:custDataLst>
              <p:tags r:id="rId13"/>
            </p:custDataLst>
          </p:nvPr>
        </p:nvSpPr>
        <p:spPr>
          <a:xfrm>
            <a:off x="2332126" y="1558122"/>
            <a:ext cx="720080" cy="34624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800" dirty="0">
                <a:cs typeface="Arial" pitchFamily="34" charset="0"/>
              </a:rPr>
              <a:t>Especificação Funcional</a:t>
            </a:r>
          </a:p>
        </p:txBody>
      </p:sp>
      <p:sp>
        <p:nvSpPr>
          <p:cNvPr id="39" name="Fluxograma: Documento 38"/>
          <p:cNvSpPr/>
          <p:nvPr>
            <p:custDataLst>
              <p:tags r:id="rId14"/>
            </p:custDataLst>
          </p:nvPr>
        </p:nvSpPr>
        <p:spPr>
          <a:xfrm>
            <a:off x="2231740" y="1370235"/>
            <a:ext cx="360000" cy="235079"/>
          </a:xfrm>
          <a:prstGeom prst="flowChartDocumen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  <a:cs typeface="Arial" pitchFamily="34" charset="0"/>
              </a:rPr>
              <a:t>EF</a:t>
            </a:r>
          </a:p>
        </p:txBody>
      </p:sp>
      <p:sp>
        <p:nvSpPr>
          <p:cNvPr id="40" name="CaixaDeTexto 39"/>
          <p:cNvSpPr txBox="1"/>
          <p:nvPr>
            <p:custDataLst>
              <p:tags r:id="rId15"/>
            </p:custDataLst>
          </p:nvPr>
        </p:nvSpPr>
        <p:spPr>
          <a:xfrm>
            <a:off x="1826697" y="2612888"/>
            <a:ext cx="916781" cy="34624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r"/>
            <a:r>
              <a:rPr lang="pt-BR" sz="800" dirty="0">
                <a:cs typeface="Arial" pitchFamily="34" charset="0"/>
              </a:rPr>
              <a:t>Doc.  Arquitetura de Solução</a:t>
            </a:r>
          </a:p>
        </p:txBody>
      </p:sp>
      <p:sp>
        <p:nvSpPr>
          <p:cNvPr id="41" name="Fluxograma: Documento 40"/>
          <p:cNvSpPr/>
          <p:nvPr>
            <p:custDataLst>
              <p:tags r:id="rId16"/>
            </p:custDataLst>
          </p:nvPr>
        </p:nvSpPr>
        <p:spPr>
          <a:xfrm>
            <a:off x="2376299" y="2425001"/>
            <a:ext cx="360000" cy="235079"/>
          </a:xfrm>
          <a:prstGeom prst="flowChartDocumen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  <a:cs typeface="Arial" pitchFamily="34" charset="0"/>
              </a:rPr>
              <a:t>DAS</a:t>
            </a:r>
          </a:p>
        </p:txBody>
      </p:sp>
      <p:sp>
        <p:nvSpPr>
          <p:cNvPr id="42" name="CaixaDeTexto 41"/>
          <p:cNvSpPr txBox="1"/>
          <p:nvPr>
            <p:custDataLst>
              <p:tags r:id="rId17"/>
            </p:custDataLst>
          </p:nvPr>
        </p:nvSpPr>
        <p:spPr>
          <a:xfrm>
            <a:off x="5640127" y="3723025"/>
            <a:ext cx="957098" cy="219288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800" dirty="0">
                <a:cs typeface="Arial" pitchFamily="34" charset="0"/>
              </a:rPr>
              <a:t>Modelo de Custos</a:t>
            </a:r>
          </a:p>
        </p:txBody>
      </p:sp>
      <p:sp>
        <p:nvSpPr>
          <p:cNvPr id="43" name="Fluxograma: Documento 42"/>
          <p:cNvSpPr/>
          <p:nvPr>
            <p:custDataLst>
              <p:tags r:id="rId18"/>
            </p:custDataLst>
          </p:nvPr>
        </p:nvSpPr>
        <p:spPr>
          <a:xfrm>
            <a:off x="5539745" y="3526110"/>
            <a:ext cx="329211" cy="214572"/>
          </a:xfrm>
          <a:prstGeom prst="flowChartDocumen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  <a:cs typeface="Arial" pitchFamily="34" charset="0"/>
              </a:rPr>
              <a:t>MC</a:t>
            </a:r>
          </a:p>
        </p:txBody>
      </p:sp>
      <p:cxnSp>
        <p:nvCxnSpPr>
          <p:cNvPr id="27" name="Conector de seta reta 26"/>
          <p:cNvCxnSpPr>
            <a:stCxn id="138" idx="3"/>
            <a:endCxn id="88" idx="1"/>
          </p:cNvCxnSpPr>
          <p:nvPr/>
        </p:nvCxnSpPr>
        <p:spPr>
          <a:xfrm>
            <a:off x="2443122" y="3350772"/>
            <a:ext cx="373685" cy="4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>
            <a:stCxn id="53" idx="3"/>
            <a:endCxn id="45" idx="1"/>
          </p:cNvCxnSpPr>
          <p:nvPr/>
        </p:nvCxnSpPr>
        <p:spPr>
          <a:xfrm flipV="1">
            <a:off x="2431315" y="1198452"/>
            <a:ext cx="475502" cy="16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Losango 44"/>
          <p:cNvSpPr/>
          <p:nvPr/>
        </p:nvSpPr>
        <p:spPr>
          <a:xfrm>
            <a:off x="2906815" y="1054452"/>
            <a:ext cx="288000" cy="28800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OU</a:t>
            </a:r>
          </a:p>
        </p:txBody>
      </p:sp>
      <p:cxnSp>
        <p:nvCxnSpPr>
          <p:cNvPr id="9" name="Conector de seta reta 8"/>
          <p:cNvCxnSpPr>
            <a:stCxn id="45" idx="2"/>
            <a:endCxn id="66" idx="0"/>
          </p:cNvCxnSpPr>
          <p:nvPr/>
        </p:nvCxnSpPr>
        <p:spPr>
          <a:xfrm flipH="1">
            <a:off x="3049400" y="1342454"/>
            <a:ext cx="1417" cy="6443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45" idx="3"/>
            <a:endCxn id="49" idx="1"/>
          </p:cNvCxnSpPr>
          <p:nvPr/>
        </p:nvCxnSpPr>
        <p:spPr>
          <a:xfrm>
            <a:off x="3194815" y="1198454"/>
            <a:ext cx="2952360" cy="11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tângulo 48"/>
          <p:cNvSpPr/>
          <p:nvPr>
            <p:custDataLst>
              <p:tags r:id="rId19"/>
            </p:custDataLst>
          </p:nvPr>
        </p:nvSpPr>
        <p:spPr>
          <a:xfrm>
            <a:off x="6147175" y="813087"/>
            <a:ext cx="952833" cy="7729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Solicitar propostas técnicas para Fornecedores de Aplicações</a:t>
            </a:r>
          </a:p>
        </p:txBody>
      </p:sp>
      <p:sp>
        <p:nvSpPr>
          <p:cNvPr id="57" name="CaixaDeTexto 56"/>
          <p:cNvSpPr txBox="1"/>
          <p:nvPr/>
        </p:nvSpPr>
        <p:spPr>
          <a:xfrm>
            <a:off x="7284921" y="68311"/>
            <a:ext cx="1257023" cy="530912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Definir solução</a:t>
            </a:r>
          </a:p>
          <a:p>
            <a:r>
              <a:rPr lang="pt-BR" sz="1400" dirty="0">
                <a:latin typeface="Gill Sans Std Light" pitchFamily="34" charset="0"/>
              </a:rPr>
              <a:t>técnica</a:t>
            </a:r>
          </a:p>
        </p:txBody>
      </p:sp>
      <p:grpSp>
        <p:nvGrpSpPr>
          <p:cNvPr id="65" name="Grupo 64"/>
          <p:cNvGrpSpPr/>
          <p:nvPr/>
        </p:nvGrpSpPr>
        <p:grpSpPr>
          <a:xfrm>
            <a:off x="6847895" y="45848"/>
            <a:ext cx="452820" cy="452820"/>
            <a:chOff x="476545" y="816635"/>
            <a:chExt cx="720000" cy="720000"/>
          </a:xfrm>
        </p:grpSpPr>
        <p:sp>
          <p:nvSpPr>
            <p:cNvPr id="68" name="Elipse 67"/>
            <p:cNvSpPr/>
            <p:nvPr/>
          </p:nvSpPr>
          <p:spPr bwMode="auto">
            <a:xfrm>
              <a:off x="476545" y="81663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69" name="Picture 27" descr="E:\Users\br93163\Downloads\Icones\code-4x.png"/>
            <p:cNvPicPr>
              <a:picLocks noChangeAspect="1" noChangeArrowheads="1"/>
            </p:cNvPicPr>
            <p:nvPr/>
          </p:nvPicPr>
          <p:blipFill>
            <a:blip r:embed="rId2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451" y="976021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8" name="Conector angulado 27"/>
          <p:cNvCxnSpPr>
            <a:stCxn id="66" idx="3"/>
            <a:endCxn id="67" idx="0"/>
          </p:cNvCxnSpPr>
          <p:nvPr/>
        </p:nvCxnSpPr>
        <p:spPr>
          <a:xfrm>
            <a:off x="3525816" y="2279771"/>
            <a:ext cx="1719053" cy="787034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Losango 70"/>
          <p:cNvSpPr/>
          <p:nvPr/>
        </p:nvSpPr>
        <p:spPr>
          <a:xfrm>
            <a:off x="6476672" y="3212398"/>
            <a:ext cx="288000" cy="28800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OU</a:t>
            </a:r>
          </a:p>
        </p:txBody>
      </p:sp>
      <p:cxnSp>
        <p:nvCxnSpPr>
          <p:cNvPr id="34" name="Conector de seta reta 33"/>
          <p:cNvCxnSpPr>
            <a:stCxn id="71" idx="3"/>
            <a:endCxn id="73" idx="2"/>
          </p:cNvCxnSpPr>
          <p:nvPr/>
        </p:nvCxnSpPr>
        <p:spPr>
          <a:xfrm>
            <a:off x="6764674" y="3356399"/>
            <a:ext cx="488989" cy="34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Elipse 84"/>
          <p:cNvSpPr/>
          <p:nvPr>
            <p:custDataLst>
              <p:tags r:id="rId20"/>
            </p:custDataLst>
          </p:nvPr>
        </p:nvSpPr>
        <p:spPr>
          <a:xfrm>
            <a:off x="7253661" y="1096573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11</a:t>
            </a:r>
          </a:p>
        </p:txBody>
      </p:sp>
      <p:cxnSp>
        <p:nvCxnSpPr>
          <p:cNvPr id="86" name="Conector de seta reta 85"/>
          <p:cNvCxnSpPr>
            <a:stCxn id="49" idx="3"/>
            <a:endCxn id="85" idx="2"/>
          </p:cNvCxnSpPr>
          <p:nvPr/>
        </p:nvCxnSpPr>
        <p:spPr>
          <a:xfrm>
            <a:off x="7100010" y="1199575"/>
            <a:ext cx="153653" cy="499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tângulo 87"/>
          <p:cNvSpPr/>
          <p:nvPr>
            <p:custDataLst>
              <p:tags r:id="rId21"/>
            </p:custDataLst>
          </p:nvPr>
        </p:nvSpPr>
        <p:spPr>
          <a:xfrm>
            <a:off x="2816807" y="2951443"/>
            <a:ext cx="952833" cy="7995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Solicitar propostas técnicas para Fornecedores de Infraestrutura</a:t>
            </a:r>
          </a:p>
        </p:txBody>
      </p:sp>
      <p:sp>
        <p:nvSpPr>
          <p:cNvPr id="89" name="CaixaDeTexto 88"/>
          <p:cNvSpPr txBox="1"/>
          <p:nvPr>
            <p:custDataLst>
              <p:tags r:id="rId22"/>
            </p:custDataLst>
          </p:nvPr>
        </p:nvSpPr>
        <p:spPr>
          <a:xfrm>
            <a:off x="3797737" y="3718362"/>
            <a:ext cx="1014146" cy="34624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800" dirty="0">
                <a:cs typeface="Arial" pitchFamily="34" charset="0"/>
              </a:rPr>
              <a:t>Propostas Técnicas dos Fornecedores</a:t>
            </a:r>
          </a:p>
        </p:txBody>
      </p:sp>
      <p:sp>
        <p:nvSpPr>
          <p:cNvPr id="90" name="Fluxograma: Documento 89"/>
          <p:cNvSpPr/>
          <p:nvPr>
            <p:custDataLst>
              <p:tags r:id="rId23"/>
            </p:custDataLst>
          </p:nvPr>
        </p:nvSpPr>
        <p:spPr>
          <a:xfrm>
            <a:off x="3697351" y="3530475"/>
            <a:ext cx="360000" cy="235079"/>
          </a:xfrm>
          <a:prstGeom prst="flowChartDocumen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  <a:cs typeface="Arial" pitchFamily="34" charset="0"/>
              </a:rPr>
              <a:t>PTF</a:t>
            </a:r>
          </a:p>
        </p:txBody>
      </p:sp>
      <p:cxnSp>
        <p:nvCxnSpPr>
          <p:cNvPr id="7175" name="Conector de seta reta 7174"/>
          <p:cNvCxnSpPr>
            <a:stCxn id="88" idx="3"/>
            <a:endCxn id="67" idx="1"/>
          </p:cNvCxnSpPr>
          <p:nvPr/>
        </p:nvCxnSpPr>
        <p:spPr>
          <a:xfrm>
            <a:off x="3769638" y="3351213"/>
            <a:ext cx="998812" cy="860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/>
          <p:cNvCxnSpPr>
            <a:stCxn id="71" idx="0"/>
            <a:endCxn id="49" idx="2"/>
          </p:cNvCxnSpPr>
          <p:nvPr/>
        </p:nvCxnSpPr>
        <p:spPr>
          <a:xfrm flipV="1">
            <a:off x="6620672" y="1586064"/>
            <a:ext cx="2920" cy="162633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15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06517" y="906567"/>
            <a:ext cx="8888662" cy="313932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Documento de Arquitetura de Solução</a:t>
            </a:r>
          </a:p>
          <a:p>
            <a:endParaRPr lang="pt-BR" dirty="0">
              <a:latin typeface="+mj-lt"/>
            </a:endParaRPr>
          </a:p>
          <a:p>
            <a:r>
              <a:rPr lang="pt-BR" dirty="0" smtClean="0"/>
              <a:t>É a documentação da Arquitetura da Solução – substitui a DR. Serve para formalizar os requisitos não funcionais, e a forma que a solução irá atendê-los sob os aspectos de Volumetria e Desempenho, Usabilidade e Performance, Confiabilidade e Disponibilidade, Portabilidade e Segurança e etc.</a:t>
            </a:r>
          </a:p>
          <a:p>
            <a:endParaRPr lang="pt-BR" dirty="0"/>
          </a:p>
          <a:p>
            <a:r>
              <a:rPr lang="pt-BR" dirty="0" smtClean="0"/>
              <a:t>Nele são documentados a solução lógica, suas integrações e o </a:t>
            </a:r>
            <a:r>
              <a:rPr lang="pt-BR" dirty="0" err="1" smtClean="0"/>
              <a:t>landscape</a:t>
            </a:r>
            <a:r>
              <a:rPr lang="pt-BR" dirty="0" smtClean="0"/>
              <a:t> físico da solução. É de responsabilidade de Arquitetura Corporativa e de Arquitetura de Infraestrutura.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723642"/>
              </p:ext>
            </p:extLst>
          </p:nvPr>
        </p:nvGraphicFramePr>
        <p:xfrm>
          <a:off x="7865202" y="4191932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7" name="Document" showAsIcon="1" r:id="rId3" imgW="914400" imgH="771480" progId="Word.Document.12">
                  <p:link updateAutomatic="1"/>
                </p:oleObj>
              </mc:Choice>
              <mc:Fallback>
                <p:oleObj name="Document" showAsIcon="1" r:id="rId3" imgW="914400" imgH="771480" progId="Word.Documen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65202" y="4191932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7284921" y="68311"/>
            <a:ext cx="1257023" cy="530912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Definir solução</a:t>
            </a:r>
          </a:p>
          <a:p>
            <a:r>
              <a:rPr lang="pt-BR" sz="1400" dirty="0">
                <a:latin typeface="Gill Sans Std Light" pitchFamily="34" charset="0"/>
              </a:rPr>
              <a:t>técnica</a:t>
            </a:r>
          </a:p>
        </p:txBody>
      </p:sp>
      <p:grpSp>
        <p:nvGrpSpPr>
          <p:cNvPr id="12" name="Grupo 11"/>
          <p:cNvGrpSpPr/>
          <p:nvPr/>
        </p:nvGrpSpPr>
        <p:grpSpPr>
          <a:xfrm>
            <a:off x="6847895" y="45848"/>
            <a:ext cx="452820" cy="452820"/>
            <a:chOff x="476545" y="816635"/>
            <a:chExt cx="720000" cy="720000"/>
          </a:xfrm>
        </p:grpSpPr>
        <p:sp>
          <p:nvSpPr>
            <p:cNvPr id="15" name="Elipse 14"/>
            <p:cNvSpPr/>
            <p:nvPr/>
          </p:nvSpPr>
          <p:spPr bwMode="auto">
            <a:xfrm>
              <a:off x="476545" y="81663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6" name="Picture 27" descr="E:\Users\br93163\Downloads\Icones\code-4x.png"/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451" y="976021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0280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06517" y="906567"/>
            <a:ext cx="8888662" cy="34163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Modelo de Custos</a:t>
            </a:r>
          </a:p>
          <a:p>
            <a:endParaRPr lang="pt-BR" dirty="0">
              <a:latin typeface="+mj-lt"/>
            </a:endParaRPr>
          </a:p>
          <a:p>
            <a:r>
              <a:rPr lang="pt-BR" dirty="0" smtClean="0"/>
              <a:t>O Modelo de Custos serve para que o time de infraestrutura possa passar aos líderes das demandas todos os custos relacionados à hardware e serviços de implantação que devem ser considerados no planejamento da demanda.</a:t>
            </a:r>
          </a:p>
          <a:p>
            <a:endParaRPr lang="pt-BR" dirty="0"/>
          </a:p>
          <a:p>
            <a:r>
              <a:rPr lang="pt-BR" dirty="0" smtClean="0"/>
              <a:t>O documento é elaborado pela equipe de Arquitetura de Infraestrutura e deve ser disponibilizado ao líder da demanda – nos casos que houver necessidade de um modelo de custos de infraestrutura.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7284921" y="68311"/>
            <a:ext cx="1257023" cy="530912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Definir solução</a:t>
            </a:r>
          </a:p>
          <a:p>
            <a:r>
              <a:rPr lang="pt-BR" sz="1400" dirty="0">
                <a:latin typeface="Gill Sans Std Light" pitchFamily="34" charset="0"/>
              </a:rPr>
              <a:t>técnica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6847895" y="45848"/>
            <a:ext cx="452820" cy="452820"/>
            <a:chOff x="476545" y="816635"/>
            <a:chExt cx="720000" cy="720000"/>
          </a:xfrm>
        </p:grpSpPr>
        <p:sp>
          <p:nvSpPr>
            <p:cNvPr id="12" name="Elipse 11"/>
            <p:cNvSpPr/>
            <p:nvPr/>
          </p:nvSpPr>
          <p:spPr bwMode="auto">
            <a:xfrm>
              <a:off x="476545" y="81663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5" name="Picture 27" descr="E:\Users\br93163\Downloads\Icones\code-4x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451" y="976021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430439"/>
              </p:ext>
            </p:extLst>
          </p:nvPr>
        </p:nvGraphicFramePr>
        <p:xfrm>
          <a:off x="7610563" y="3876896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00" name="Worksheet" showAsIcon="1" r:id="rId4" imgW="914400" imgH="771480" progId="Excel.Sheet.8">
                  <p:link updateAutomatic="1"/>
                </p:oleObj>
              </mc:Choice>
              <mc:Fallback>
                <p:oleObj name="Worksheet" showAsIcon="1" r:id="rId4" imgW="914400" imgH="771480" progId="Excel.Sheet.8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10563" y="3876896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484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06517" y="906567"/>
            <a:ext cx="8888662" cy="313932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Proposta Técnica dos Fornecedores</a:t>
            </a:r>
          </a:p>
          <a:p>
            <a:endParaRPr lang="pt-BR" dirty="0">
              <a:latin typeface="+mj-lt"/>
            </a:endParaRPr>
          </a:p>
          <a:p>
            <a:r>
              <a:rPr lang="pt-BR" dirty="0" smtClean="0"/>
              <a:t>A proposta técnica dos fornecedores serve para formalizar a proposta de implantação solicitada ao fornecedor. Nela constam informações técnicas das demandas, metodologia a ser adotada, cronograma de atividades e estimativa econômica.</a:t>
            </a:r>
          </a:p>
          <a:p>
            <a:endParaRPr lang="pt-BR" dirty="0"/>
          </a:p>
          <a:p>
            <a:r>
              <a:rPr lang="pt-BR" dirty="0" smtClean="0"/>
              <a:t>A responsabilidade de preenchimento e obtenção desse documento é compartilhada entre os líderes das demandas e os fornecedores parceiros da execução.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7284921" y="68311"/>
            <a:ext cx="1257023" cy="530912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Definir solução</a:t>
            </a:r>
          </a:p>
          <a:p>
            <a:r>
              <a:rPr lang="pt-BR" sz="1400" dirty="0">
                <a:latin typeface="Gill Sans Std Light" pitchFamily="34" charset="0"/>
              </a:rPr>
              <a:t>técnica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6847895" y="45848"/>
            <a:ext cx="452820" cy="452820"/>
            <a:chOff x="476545" y="816635"/>
            <a:chExt cx="720000" cy="720000"/>
          </a:xfrm>
        </p:grpSpPr>
        <p:sp>
          <p:nvSpPr>
            <p:cNvPr id="12" name="Elipse 11"/>
            <p:cNvSpPr/>
            <p:nvPr/>
          </p:nvSpPr>
          <p:spPr bwMode="auto">
            <a:xfrm>
              <a:off x="476545" y="81663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5" name="Picture 27" descr="E:\Users\br93163\Downloads\Icones\code-4x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451" y="976021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2" name="Objeto 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5929652"/>
              </p:ext>
            </p:extLst>
          </p:nvPr>
        </p:nvGraphicFramePr>
        <p:xfrm>
          <a:off x="7760205" y="4236935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9" name="Presentation" showAsIcon="1" r:id="rId4" imgW="914400" imgH="771480" progId="PowerPoint.Show.12">
                  <p:link updateAutomatic="1"/>
                </p:oleObj>
              </mc:Choice>
              <mc:Fallback>
                <p:oleObj name="Presentation" showAsIcon="1" r:id="rId4" imgW="914400" imgH="771480" progId="PowerPoint.Show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760205" y="4236935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949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7284921" y="68311"/>
            <a:ext cx="1257023" cy="530912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Definir solução</a:t>
            </a:r>
          </a:p>
          <a:p>
            <a:r>
              <a:rPr lang="pt-BR" sz="1400" dirty="0">
                <a:latin typeface="Gill Sans Std Light" pitchFamily="34" charset="0"/>
              </a:rPr>
              <a:t>técnica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6847895" y="45848"/>
            <a:ext cx="452820" cy="452820"/>
            <a:chOff x="476545" y="816635"/>
            <a:chExt cx="720000" cy="720000"/>
          </a:xfrm>
        </p:grpSpPr>
        <p:sp>
          <p:nvSpPr>
            <p:cNvPr id="12" name="Elipse 11"/>
            <p:cNvSpPr/>
            <p:nvPr/>
          </p:nvSpPr>
          <p:spPr bwMode="auto">
            <a:xfrm>
              <a:off x="476545" y="81663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5" name="Picture 27" descr="E:\Users\br93163\Downloads\Icones\code-4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451" y="976021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00" y="599390"/>
            <a:ext cx="7829550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Seta para a direita 10"/>
          <p:cNvSpPr/>
          <p:nvPr/>
        </p:nvSpPr>
        <p:spPr>
          <a:xfrm rot="10800000">
            <a:off x="1475911" y="1867219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1523287" y="1851670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5" t="18975" b="62125"/>
          <a:stretch/>
        </p:blipFill>
        <p:spPr bwMode="auto">
          <a:xfrm>
            <a:off x="206517" y="2841088"/>
            <a:ext cx="8775976" cy="945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Seta para a direita 13"/>
          <p:cNvSpPr/>
          <p:nvPr/>
        </p:nvSpPr>
        <p:spPr>
          <a:xfrm rot="5400000">
            <a:off x="8255795" y="3434110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8268781" y="3411606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71" y="3921902"/>
            <a:ext cx="4880981" cy="1113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Retângulo 16"/>
          <p:cNvSpPr/>
          <p:nvPr/>
        </p:nvSpPr>
        <p:spPr>
          <a:xfrm>
            <a:off x="5202072" y="3928367"/>
            <a:ext cx="3703246" cy="1215135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Na aprovação do planejamento da demanda, todos os documentos serão validados pelo PMO. Caso algum dos documentos esteja ausente e não haja uma justificativa, o planejamento será rejeitado no momento de aprovação do P1.</a:t>
            </a:r>
          </a:p>
        </p:txBody>
      </p:sp>
    </p:spTree>
    <p:extLst>
      <p:ext uri="{BB962C8B-B14F-4D97-AF65-F5344CB8AC3E}">
        <p14:creationId xmlns:p14="http://schemas.microsoft.com/office/powerpoint/2010/main" val="180460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/>
          <p:cNvGrpSpPr/>
          <p:nvPr/>
        </p:nvGrpSpPr>
        <p:grpSpPr>
          <a:xfrm>
            <a:off x="3881352" y="594445"/>
            <a:ext cx="340158" cy="450050"/>
            <a:chOff x="3814313" y="816555"/>
            <a:chExt cx="340158" cy="450050"/>
          </a:xfrm>
        </p:grpSpPr>
        <p:sp>
          <p:nvSpPr>
            <p:cNvPr id="3" name="CaixaDeTexto 53"/>
            <p:cNvSpPr txBox="1"/>
            <p:nvPr/>
          </p:nvSpPr>
          <p:spPr>
            <a:xfrm>
              <a:off x="3814313" y="81655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P0</a:t>
              </a:r>
            </a:p>
          </p:txBody>
        </p:sp>
        <p:pic>
          <p:nvPicPr>
            <p:cNvPr id="4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2097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5" name="Conector de seta reta 65"/>
          <p:cNvCxnSpPr/>
          <p:nvPr/>
        </p:nvCxnSpPr>
        <p:spPr>
          <a:xfrm>
            <a:off x="791580" y="2664673"/>
            <a:ext cx="8352420" cy="0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87569"/>
              </p:ext>
            </p:extLst>
          </p:nvPr>
        </p:nvGraphicFramePr>
        <p:xfrm>
          <a:off x="926601" y="1089500"/>
          <a:ext cx="5220580" cy="2830721"/>
        </p:xfrm>
        <a:graphic>
          <a:graphicData uri="http://schemas.openxmlformats.org/drawingml/2006/table">
            <a:tbl>
              <a:tblPr/>
              <a:tblGrid>
                <a:gridCol w="522058"/>
                <a:gridCol w="522058"/>
                <a:gridCol w="522058"/>
                <a:gridCol w="522058"/>
                <a:gridCol w="522058"/>
                <a:gridCol w="522058"/>
                <a:gridCol w="522058"/>
                <a:gridCol w="522058"/>
                <a:gridCol w="522058"/>
                <a:gridCol w="522058"/>
              </a:tblGrid>
              <a:tr h="1572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Briefing </a:t>
                      </a: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Diagrama de Sequência (Processo Negócio)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Matriz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Requisitos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Esboço da Solução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Matriz de Requisitos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Estimativa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Prazo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e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Custo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P0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Matriz de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1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Requisitos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e </a:t>
                      </a:r>
                      <a:r>
                        <a:rPr lang="en-US" sz="11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Estimativa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en-US" sz="11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Funcionalidades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Desenho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Arquitetura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da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Solução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(DAS)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Modelo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Custos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Propostas Técnicas Fornecedores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58459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noProof="0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56" name="Group 85"/>
          <p:cNvGrpSpPr/>
          <p:nvPr/>
        </p:nvGrpSpPr>
        <p:grpSpPr>
          <a:xfrm>
            <a:off x="2836692" y="594445"/>
            <a:ext cx="352982" cy="450050"/>
            <a:chOff x="3491880" y="816555"/>
            <a:chExt cx="352981" cy="450050"/>
          </a:xfrm>
        </p:grpSpPr>
        <p:sp>
          <p:nvSpPr>
            <p:cNvPr id="57" name="CaixaDeTexto 53"/>
            <p:cNvSpPr txBox="1"/>
            <p:nvPr/>
          </p:nvSpPr>
          <p:spPr>
            <a:xfrm>
              <a:off x="3491880" y="816555"/>
              <a:ext cx="3529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YP</a:t>
              </a:r>
            </a:p>
          </p:txBody>
        </p:sp>
        <p:pic>
          <p:nvPicPr>
            <p:cNvPr id="60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9664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66" name="Group 85"/>
          <p:cNvGrpSpPr/>
          <p:nvPr/>
        </p:nvGrpSpPr>
        <p:grpSpPr>
          <a:xfrm>
            <a:off x="1241632" y="456517"/>
            <a:ext cx="405025" cy="587978"/>
            <a:chOff x="2527833" y="678627"/>
            <a:chExt cx="405025" cy="587978"/>
          </a:xfrm>
        </p:grpSpPr>
        <p:sp>
          <p:nvSpPr>
            <p:cNvPr id="70" name="CaixaDeTexto 53"/>
            <p:cNvSpPr txBox="1"/>
            <p:nvPr/>
          </p:nvSpPr>
          <p:spPr>
            <a:xfrm>
              <a:off x="2527833" y="678627"/>
              <a:ext cx="4050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Prior</a:t>
              </a:r>
            </a:p>
            <a:p>
              <a:r>
                <a:rPr lang="pt-BR" sz="800" dirty="0"/>
                <a:t>Dem.</a:t>
              </a:r>
            </a:p>
          </p:txBody>
        </p:sp>
        <p:pic>
          <p:nvPicPr>
            <p:cNvPr id="71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4539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40" name="Group 88"/>
          <p:cNvGrpSpPr/>
          <p:nvPr/>
        </p:nvGrpSpPr>
        <p:grpSpPr>
          <a:xfrm>
            <a:off x="2119141" y="2822315"/>
            <a:ext cx="323621" cy="205203"/>
            <a:chOff x="1849113" y="2976795"/>
            <a:chExt cx="323621" cy="205203"/>
          </a:xfrm>
        </p:grpSpPr>
        <p:pic>
          <p:nvPicPr>
            <p:cNvPr id="41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9113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CaixaDeTexto 41"/>
            <p:cNvSpPr txBox="1"/>
            <p:nvPr/>
          </p:nvSpPr>
          <p:spPr>
            <a:xfrm>
              <a:off x="1898300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43" name="Group 92"/>
          <p:cNvGrpSpPr/>
          <p:nvPr/>
        </p:nvGrpSpPr>
        <p:grpSpPr>
          <a:xfrm>
            <a:off x="2640964" y="2822315"/>
            <a:ext cx="323622" cy="205203"/>
            <a:chOff x="2366755" y="2976795"/>
            <a:chExt cx="323622" cy="205203"/>
          </a:xfrm>
        </p:grpSpPr>
        <p:pic>
          <p:nvPicPr>
            <p:cNvPr id="44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675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CaixaDeTexto 87"/>
            <p:cNvSpPr txBox="1"/>
            <p:nvPr/>
          </p:nvSpPr>
          <p:spPr>
            <a:xfrm>
              <a:off x="2415943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47" name="Group 90"/>
          <p:cNvGrpSpPr/>
          <p:nvPr/>
        </p:nvGrpSpPr>
        <p:grpSpPr>
          <a:xfrm>
            <a:off x="3694662" y="2822315"/>
            <a:ext cx="323621" cy="205203"/>
            <a:chOff x="3356865" y="2976795"/>
            <a:chExt cx="323621" cy="205203"/>
          </a:xfrm>
        </p:grpSpPr>
        <p:pic>
          <p:nvPicPr>
            <p:cNvPr id="50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54" name="Group 89"/>
          <p:cNvGrpSpPr/>
          <p:nvPr/>
        </p:nvGrpSpPr>
        <p:grpSpPr>
          <a:xfrm>
            <a:off x="3131592" y="2802283"/>
            <a:ext cx="353795" cy="245267"/>
            <a:chOff x="2861810" y="2976795"/>
            <a:chExt cx="353795" cy="245267"/>
          </a:xfrm>
        </p:grpSpPr>
        <p:pic>
          <p:nvPicPr>
            <p:cNvPr id="55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810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327" y="3031789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CaixaDeTexto 83"/>
            <p:cNvSpPr txBox="1"/>
            <p:nvPr/>
          </p:nvSpPr>
          <p:spPr>
            <a:xfrm>
              <a:off x="2941171" y="3022007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V2</a:t>
              </a:r>
            </a:p>
          </p:txBody>
        </p:sp>
      </p:grpSp>
      <p:grpSp>
        <p:nvGrpSpPr>
          <p:cNvPr id="64" name="Group 89"/>
          <p:cNvGrpSpPr/>
          <p:nvPr/>
        </p:nvGrpSpPr>
        <p:grpSpPr>
          <a:xfrm>
            <a:off x="4202083" y="2798219"/>
            <a:ext cx="364792" cy="253395"/>
            <a:chOff x="2861810" y="2973469"/>
            <a:chExt cx="364792" cy="253395"/>
          </a:xfrm>
        </p:grpSpPr>
        <p:pic>
          <p:nvPicPr>
            <p:cNvPr id="65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810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327" y="3031789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CaixaDeTexto 83"/>
            <p:cNvSpPr txBox="1"/>
            <p:nvPr/>
          </p:nvSpPr>
          <p:spPr>
            <a:xfrm>
              <a:off x="2952168" y="2973469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V3</a:t>
              </a:r>
            </a:p>
          </p:txBody>
        </p:sp>
        <p:pic>
          <p:nvPicPr>
            <p:cNvPr id="69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9292" y="3082864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6" name="Group 90"/>
          <p:cNvGrpSpPr/>
          <p:nvPr/>
        </p:nvGrpSpPr>
        <p:grpSpPr>
          <a:xfrm>
            <a:off x="4735483" y="2822315"/>
            <a:ext cx="323621" cy="205203"/>
            <a:chOff x="3356865" y="2976795"/>
            <a:chExt cx="323621" cy="205203"/>
          </a:xfrm>
        </p:grpSpPr>
        <p:pic>
          <p:nvPicPr>
            <p:cNvPr id="77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8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79" name="Group 90"/>
          <p:cNvGrpSpPr/>
          <p:nvPr/>
        </p:nvGrpSpPr>
        <p:grpSpPr>
          <a:xfrm>
            <a:off x="5235839" y="2822315"/>
            <a:ext cx="323621" cy="205203"/>
            <a:chOff x="3356865" y="2976795"/>
            <a:chExt cx="323621" cy="205203"/>
          </a:xfrm>
        </p:grpSpPr>
        <p:pic>
          <p:nvPicPr>
            <p:cNvPr id="80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1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82" name="Group 90"/>
          <p:cNvGrpSpPr/>
          <p:nvPr/>
        </p:nvGrpSpPr>
        <p:grpSpPr>
          <a:xfrm>
            <a:off x="5815928" y="2822315"/>
            <a:ext cx="323621" cy="205203"/>
            <a:chOff x="3356865" y="2976795"/>
            <a:chExt cx="323621" cy="205203"/>
          </a:xfrm>
        </p:grpSpPr>
        <p:pic>
          <p:nvPicPr>
            <p:cNvPr id="83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4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95" name="Grupo 31"/>
          <p:cNvGrpSpPr/>
          <p:nvPr/>
        </p:nvGrpSpPr>
        <p:grpSpPr>
          <a:xfrm>
            <a:off x="73948" y="3166399"/>
            <a:ext cx="9070052" cy="710498"/>
            <a:chOff x="71500" y="2796775"/>
            <a:chExt cx="7811574" cy="710498"/>
          </a:xfrm>
        </p:grpSpPr>
        <p:sp>
          <p:nvSpPr>
            <p:cNvPr id="96" name="CaixaDeTexto 2"/>
            <p:cNvSpPr txBox="1"/>
            <p:nvPr/>
          </p:nvSpPr>
          <p:spPr>
            <a:xfrm>
              <a:off x="71500" y="2873488"/>
              <a:ext cx="6960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rgbClr val="0070C0"/>
                  </a:solidFill>
                </a:rPr>
                <a:t>Atuação</a:t>
              </a:r>
            </a:p>
          </p:txBody>
        </p:sp>
        <p:cxnSp>
          <p:nvCxnSpPr>
            <p:cNvPr id="97" name="Conector reto 25"/>
            <p:cNvCxnSpPr/>
            <p:nvPr/>
          </p:nvCxnSpPr>
          <p:spPr>
            <a:xfrm>
              <a:off x="135801" y="2796775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to 113"/>
            <p:cNvCxnSpPr/>
            <p:nvPr/>
          </p:nvCxnSpPr>
          <p:spPr>
            <a:xfrm>
              <a:off x="161510" y="3507273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CaixaDeTexto 98"/>
          <p:cNvSpPr txBox="1"/>
          <p:nvPr/>
        </p:nvSpPr>
        <p:spPr>
          <a:xfrm>
            <a:off x="959664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0" name="CaixaDeTexto 99"/>
          <p:cNvSpPr txBox="1"/>
          <p:nvPr/>
        </p:nvSpPr>
        <p:spPr>
          <a:xfrm>
            <a:off x="1499724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1" name="CaixaDeTexto 100"/>
          <p:cNvSpPr txBox="1"/>
          <p:nvPr/>
        </p:nvSpPr>
        <p:spPr>
          <a:xfrm>
            <a:off x="1994781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2583665" y="3201197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2521566" y="3391658"/>
            <a:ext cx="502061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ARQ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2478190" y="3606242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087718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2988460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20" name="CaixaDeTexto 119"/>
          <p:cNvSpPr txBox="1"/>
          <p:nvPr/>
        </p:nvSpPr>
        <p:spPr>
          <a:xfrm>
            <a:off x="4575538" y="3387092"/>
            <a:ext cx="502061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ARQ</a:t>
            </a:r>
          </a:p>
        </p:txBody>
      </p:sp>
      <p:sp>
        <p:nvSpPr>
          <p:cNvPr id="121" name="CaixaDeTexto 120"/>
          <p:cNvSpPr txBox="1"/>
          <p:nvPr/>
        </p:nvSpPr>
        <p:spPr>
          <a:xfrm>
            <a:off x="5086048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31" name="CaixaDeTexto 130"/>
          <p:cNvSpPr txBox="1"/>
          <p:nvPr/>
        </p:nvSpPr>
        <p:spPr>
          <a:xfrm>
            <a:off x="3591139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32" name="CaixaDeTexto 131"/>
          <p:cNvSpPr txBox="1"/>
          <p:nvPr/>
        </p:nvSpPr>
        <p:spPr>
          <a:xfrm>
            <a:off x="3491881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33" name="CaixaDeTexto 132"/>
          <p:cNvSpPr txBox="1"/>
          <p:nvPr/>
        </p:nvSpPr>
        <p:spPr>
          <a:xfrm>
            <a:off x="4131199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34" name="CaixaDeTexto 133"/>
          <p:cNvSpPr txBox="1"/>
          <p:nvPr/>
        </p:nvSpPr>
        <p:spPr>
          <a:xfrm>
            <a:off x="4031941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35" name="CaixaDeTexto 134"/>
          <p:cNvSpPr txBox="1"/>
          <p:nvPr/>
        </p:nvSpPr>
        <p:spPr>
          <a:xfrm>
            <a:off x="5683402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36" name="CaixaDeTexto 135"/>
          <p:cNvSpPr txBox="1"/>
          <p:nvPr/>
        </p:nvSpPr>
        <p:spPr>
          <a:xfrm>
            <a:off x="5584144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38" name="CaixaDeTexto 137"/>
          <p:cNvSpPr txBox="1"/>
          <p:nvPr/>
        </p:nvSpPr>
        <p:spPr>
          <a:xfrm>
            <a:off x="6102172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93" name="CaixaDeTexto 53"/>
          <p:cNvSpPr txBox="1"/>
          <p:nvPr/>
        </p:nvSpPr>
        <p:spPr>
          <a:xfrm>
            <a:off x="2726797" y="4317066"/>
            <a:ext cx="579005" cy="46166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CORE</a:t>
            </a:r>
          </a:p>
          <a:p>
            <a:r>
              <a:rPr lang="pt-BR" sz="1200" dirty="0"/>
              <a:t>TEAM</a:t>
            </a:r>
          </a:p>
        </p:txBody>
      </p:sp>
      <p:pic>
        <p:nvPicPr>
          <p:cNvPr id="102" name="Picture 38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912147" y="4011286"/>
            <a:ext cx="207895" cy="264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787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5" y="1061334"/>
            <a:ext cx="9089567" cy="4030696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6147177" y="3381842"/>
            <a:ext cx="495055" cy="4950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4645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22" name="Elipse 21"/>
          <p:cNvSpPr/>
          <p:nvPr/>
        </p:nvSpPr>
        <p:spPr bwMode="auto">
          <a:xfrm>
            <a:off x="476545" y="906565"/>
            <a:ext cx="720000" cy="720000"/>
          </a:xfrm>
          <a:prstGeom prst="ellipse">
            <a:avLst/>
          </a:prstGeom>
          <a:solidFill>
            <a:schemeClr val="bg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36" tIns="45718" rIns="91436" bIns="45718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BR" sz="3600" dirty="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373117" y="1626566"/>
            <a:ext cx="926856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pt-BR" sz="1600" dirty="0">
                <a:latin typeface="Gill Sans Std Light" pitchFamily="34" charset="0"/>
              </a:rPr>
              <a:t>Planejar </a:t>
            </a:r>
          </a:p>
          <a:p>
            <a:pPr algn="l"/>
            <a:r>
              <a:rPr lang="pt-BR" sz="1600" dirty="0">
                <a:latin typeface="Gill Sans Std Light" pitchFamily="34" charset="0"/>
              </a:rPr>
              <a:t>demanda</a:t>
            </a:r>
          </a:p>
        </p:txBody>
      </p:sp>
      <p:pic>
        <p:nvPicPr>
          <p:cNvPr id="25" name="Picture 16" descr="E:\Users\br93163\Downloads\Icones\project-4x.png"/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872" y="1067923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086632"/>
              </p:ext>
            </p:extLst>
          </p:nvPr>
        </p:nvGraphicFramePr>
        <p:xfrm>
          <a:off x="1736686" y="636536"/>
          <a:ext cx="7155794" cy="4410489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125124"/>
                <a:gridCol w="6030670"/>
              </a:tblGrid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O que é</a:t>
                      </a:r>
                      <a:endParaRPr lang="pt-BR" sz="1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É o processo de planejamento da demanda. Nessa etapa, são definidos:</a:t>
                      </a:r>
                      <a:r>
                        <a:rPr lang="pt-BR" sz="1800" baseline="0" dirty="0" smtClean="0"/>
                        <a:t> os envolvidos, o cronograma, os custos e faseamento de desembolsos, os riscos e impactos, os benefícios financeiros, a estrutura analítica da demanda e o plano de gestão da mudança</a:t>
                      </a:r>
                      <a:endParaRPr lang="pt-BR" sz="1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Quem faz</a:t>
                      </a:r>
                      <a:endParaRPr lang="pt-BR" sz="1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Líder da Demanda (Aplicações</a:t>
                      </a:r>
                      <a:r>
                        <a:rPr lang="pt-BR" sz="1800" baseline="0" dirty="0" smtClean="0"/>
                        <a:t> e Infraestrutura)</a:t>
                      </a:r>
                      <a:endParaRPr lang="pt-BR" sz="18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Como faz</a:t>
                      </a:r>
                      <a:endParaRPr lang="pt-BR" sz="1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Através do planejamento da demanda –</a:t>
                      </a:r>
                      <a:r>
                        <a:rPr lang="pt-BR" sz="1800" baseline="0" dirty="0" smtClean="0"/>
                        <a:t> registro do cronograma, plano financeiro e riscos no Clarity e </a:t>
                      </a:r>
                      <a:r>
                        <a:rPr lang="pt-BR" sz="1800" dirty="0" smtClean="0"/>
                        <a:t>preenchimento</a:t>
                      </a:r>
                      <a:r>
                        <a:rPr lang="pt-BR" sz="1800" baseline="0" dirty="0" smtClean="0"/>
                        <a:t> do P1</a:t>
                      </a:r>
                      <a:endParaRPr lang="pt-BR" sz="1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170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 de cantos arredondados 59"/>
          <p:cNvSpPr/>
          <p:nvPr>
            <p:custDataLst>
              <p:tags r:id="rId1"/>
            </p:custDataLst>
          </p:nvPr>
        </p:nvSpPr>
        <p:spPr>
          <a:xfrm>
            <a:off x="239538" y="1730860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59" name="Retângulo de cantos arredondados 58"/>
          <p:cNvSpPr/>
          <p:nvPr>
            <p:custDataLst>
              <p:tags r:id="rId2"/>
            </p:custDataLst>
          </p:nvPr>
        </p:nvSpPr>
        <p:spPr>
          <a:xfrm>
            <a:off x="239538" y="2797803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58" name="Retângulo de cantos arredondados 57"/>
          <p:cNvSpPr/>
          <p:nvPr>
            <p:custDataLst>
              <p:tags r:id="rId3"/>
            </p:custDataLst>
          </p:nvPr>
        </p:nvSpPr>
        <p:spPr>
          <a:xfrm>
            <a:off x="239538" y="654905"/>
            <a:ext cx="8642350" cy="108000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16" name="Retângulo de cantos arredondados 15"/>
          <p:cNvSpPr/>
          <p:nvPr>
            <p:custDataLst>
              <p:tags r:id="rId4"/>
            </p:custDataLst>
          </p:nvPr>
        </p:nvSpPr>
        <p:spPr>
          <a:xfrm>
            <a:off x="239540" y="657491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FF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cs typeface="Arial" pitchFamily="34" charset="0"/>
              </a:rPr>
              <a:t>DA</a:t>
            </a:r>
          </a:p>
        </p:txBody>
      </p:sp>
      <p:sp>
        <p:nvSpPr>
          <p:cNvPr id="18" name="Retângulo de cantos arredondados 17"/>
          <p:cNvSpPr/>
          <p:nvPr>
            <p:custDataLst>
              <p:tags r:id="rId5"/>
            </p:custDataLst>
          </p:nvPr>
        </p:nvSpPr>
        <p:spPr>
          <a:xfrm>
            <a:off x="239540" y="2802975"/>
            <a:ext cx="372021" cy="1080000"/>
          </a:xfrm>
          <a:prstGeom prst="roundRect">
            <a:avLst>
              <a:gd name="adj" fmla="val 8431"/>
            </a:avLst>
          </a:prstGeom>
          <a:solidFill>
            <a:srgbClr val="FEEACB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cs typeface="Arial" pitchFamily="34" charset="0"/>
              </a:rPr>
              <a:t>Projetos de Infraestrutura</a:t>
            </a:r>
          </a:p>
        </p:txBody>
      </p:sp>
      <p:sp>
        <p:nvSpPr>
          <p:cNvPr id="20" name="Retângulo de cantos arredondados 19"/>
          <p:cNvSpPr/>
          <p:nvPr>
            <p:custDataLst>
              <p:tags r:id="rId6"/>
            </p:custDataLst>
          </p:nvPr>
        </p:nvSpPr>
        <p:spPr>
          <a:xfrm>
            <a:off x="239540" y="1716655"/>
            <a:ext cx="372021" cy="1080000"/>
          </a:xfrm>
          <a:prstGeom prst="roundRect">
            <a:avLst>
              <a:gd name="adj" fmla="val 8431"/>
            </a:avLst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cs typeface="Arial" pitchFamily="34" charset="0"/>
              </a:rPr>
              <a:t>GFA/PMO</a:t>
            </a:r>
          </a:p>
        </p:txBody>
      </p:sp>
      <p:sp>
        <p:nvSpPr>
          <p:cNvPr id="51" name="Elipse 50"/>
          <p:cNvSpPr/>
          <p:nvPr>
            <p:custDataLst>
              <p:tags r:id="rId7"/>
            </p:custDataLst>
          </p:nvPr>
        </p:nvSpPr>
        <p:spPr>
          <a:xfrm>
            <a:off x="656565" y="1082910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9</a:t>
            </a:r>
          </a:p>
        </p:txBody>
      </p:sp>
      <p:sp>
        <p:nvSpPr>
          <p:cNvPr id="53" name="Retângulo 52"/>
          <p:cNvSpPr/>
          <p:nvPr>
            <p:custDataLst>
              <p:tags r:id="rId8"/>
            </p:custDataLst>
          </p:nvPr>
        </p:nvSpPr>
        <p:spPr>
          <a:xfrm>
            <a:off x="1403740" y="729536"/>
            <a:ext cx="828000" cy="9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Definir Envolvidos na Demanda e montar organograma</a:t>
            </a:r>
          </a:p>
        </p:txBody>
      </p:sp>
      <p:sp>
        <p:nvSpPr>
          <p:cNvPr id="30" name="Retângulo 29"/>
          <p:cNvSpPr/>
          <p:nvPr>
            <p:custDataLst>
              <p:tags r:id="rId9"/>
            </p:custDataLst>
          </p:nvPr>
        </p:nvSpPr>
        <p:spPr>
          <a:xfrm>
            <a:off x="2426838" y="729536"/>
            <a:ext cx="828000" cy="9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Elaborar Cronograma da Demanda</a:t>
            </a:r>
          </a:p>
        </p:txBody>
      </p:sp>
      <p:sp>
        <p:nvSpPr>
          <p:cNvPr id="31" name="Retângulo 30"/>
          <p:cNvSpPr/>
          <p:nvPr>
            <p:custDataLst>
              <p:tags r:id="rId10"/>
            </p:custDataLst>
          </p:nvPr>
        </p:nvSpPr>
        <p:spPr>
          <a:xfrm>
            <a:off x="3449936" y="729536"/>
            <a:ext cx="828000" cy="9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Consolidar custos de implantação e elaborar faseamento de desembolsos</a:t>
            </a:r>
          </a:p>
        </p:txBody>
      </p:sp>
      <p:sp>
        <p:nvSpPr>
          <p:cNvPr id="32" name="Retângulo 31"/>
          <p:cNvSpPr/>
          <p:nvPr>
            <p:custDataLst>
              <p:tags r:id="rId11"/>
            </p:custDataLst>
          </p:nvPr>
        </p:nvSpPr>
        <p:spPr>
          <a:xfrm>
            <a:off x="4473034" y="729536"/>
            <a:ext cx="828000" cy="9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Documentar riscos e impactos da demanda</a:t>
            </a:r>
          </a:p>
        </p:txBody>
      </p:sp>
      <p:sp>
        <p:nvSpPr>
          <p:cNvPr id="36" name="Retângulo 35"/>
          <p:cNvSpPr/>
          <p:nvPr>
            <p:custDataLst>
              <p:tags r:id="rId12"/>
            </p:custDataLst>
          </p:nvPr>
        </p:nvSpPr>
        <p:spPr>
          <a:xfrm>
            <a:off x="5490194" y="729536"/>
            <a:ext cx="828000" cy="9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Documentar benefícios financeiros da demanda</a:t>
            </a:r>
          </a:p>
        </p:txBody>
      </p:sp>
      <p:sp>
        <p:nvSpPr>
          <p:cNvPr id="37" name="Retângulo 36"/>
          <p:cNvSpPr/>
          <p:nvPr>
            <p:custDataLst>
              <p:tags r:id="rId13"/>
            </p:custDataLst>
          </p:nvPr>
        </p:nvSpPr>
        <p:spPr>
          <a:xfrm>
            <a:off x="6519230" y="729536"/>
            <a:ext cx="828000" cy="9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Elaborar plano de Gestão da Mudança</a:t>
            </a:r>
          </a:p>
        </p:txBody>
      </p:sp>
      <p:cxnSp>
        <p:nvCxnSpPr>
          <p:cNvPr id="5" name="Conector de seta reta 4"/>
          <p:cNvCxnSpPr>
            <a:stCxn id="53" idx="3"/>
            <a:endCxn id="30" idx="1"/>
          </p:cNvCxnSpPr>
          <p:nvPr/>
        </p:nvCxnSpPr>
        <p:spPr>
          <a:xfrm>
            <a:off x="2231740" y="1179536"/>
            <a:ext cx="19509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>
            <a:stCxn id="30" idx="3"/>
            <a:endCxn id="31" idx="1"/>
          </p:cNvCxnSpPr>
          <p:nvPr/>
        </p:nvCxnSpPr>
        <p:spPr>
          <a:xfrm>
            <a:off x="3254839" y="1179536"/>
            <a:ext cx="19509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31" idx="3"/>
            <a:endCxn id="32" idx="1"/>
          </p:cNvCxnSpPr>
          <p:nvPr/>
        </p:nvCxnSpPr>
        <p:spPr>
          <a:xfrm>
            <a:off x="4277938" y="1179536"/>
            <a:ext cx="19509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36" idx="3"/>
            <a:endCxn id="37" idx="1"/>
          </p:cNvCxnSpPr>
          <p:nvPr/>
        </p:nvCxnSpPr>
        <p:spPr>
          <a:xfrm>
            <a:off x="6318194" y="1179536"/>
            <a:ext cx="20103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51" idx="6"/>
            <a:endCxn id="65" idx="1"/>
          </p:cNvCxnSpPr>
          <p:nvPr/>
        </p:nvCxnSpPr>
        <p:spPr>
          <a:xfrm>
            <a:off x="872565" y="1190912"/>
            <a:ext cx="126070" cy="13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tângulo 51"/>
          <p:cNvSpPr/>
          <p:nvPr>
            <p:custDataLst>
              <p:tags r:id="rId14"/>
            </p:custDataLst>
          </p:nvPr>
        </p:nvSpPr>
        <p:spPr>
          <a:xfrm>
            <a:off x="7542330" y="726545"/>
            <a:ext cx="828000" cy="9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Elaborar documento de planejamento da demanda P1</a:t>
            </a:r>
          </a:p>
        </p:txBody>
      </p:sp>
      <p:cxnSp>
        <p:nvCxnSpPr>
          <p:cNvPr id="54" name="Conector de seta reta 53"/>
          <p:cNvCxnSpPr>
            <a:stCxn id="37" idx="3"/>
            <a:endCxn id="52" idx="1"/>
          </p:cNvCxnSpPr>
          <p:nvPr/>
        </p:nvCxnSpPr>
        <p:spPr>
          <a:xfrm flipV="1">
            <a:off x="7347231" y="1176545"/>
            <a:ext cx="195100" cy="29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ipse 54"/>
          <p:cNvSpPr/>
          <p:nvPr>
            <p:custDataLst>
              <p:tags r:id="rId15"/>
            </p:custDataLst>
          </p:nvPr>
        </p:nvSpPr>
        <p:spPr>
          <a:xfrm>
            <a:off x="8586470" y="1067535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11</a:t>
            </a:r>
          </a:p>
        </p:txBody>
      </p:sp>
      <p:cxnSp>
        <p:nvCxnSpPr>
          <p:cNvPr id="26" name="Conector de seta reta 25"/>
          <p:cNvCxnSpPr>
            <a:stCxn id="52" idx="3"/>
            <a:endCxn id="55" idx="2"/>
          </p:cNvCxnSpPr>
          <p:nvPr/>
        </p:nvCxnSpPr>
        <p:spPr>
          <a:xfrm flipV="1">
            <a:off x="8370331" y="1175536"/>
            <a:ext cx="216140" cy="10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Losango 64"/>
          <p:cNvSpPr/>
          <p:nvPr/>
        </p:nvSpPr>
        <p:spPr>
          <a:xfrm>
            <a:off x="998635" y="1048291"/>
            <a:ext cx="288000" cy="28800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OU</a:t>
            </a:r>
          </a:p>
        </p:txBody>
      </p:sp>
      <p:cxnSp>
        <p:nvCxnSpPr>
          <p:cNvPr id="29" name="Conector de seta reta 28"/>
          <p:cNvCxnSpPr>
            <a:stCxn id="65" idx="3"/>
            <a:endCxn id="53" idx="1"/>
          </p:cNvCxnSpPr>
          <p:nvPr/>
        </p:nvCxnSpPr>
        <p:spPr>
          <a:xfrm flipV="1">
            <a:off x="1286636" y="1179538"/>
            <a:ext cx="117105" cy="127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tângulo 67"/>
          <p:cNvSpPr/>
          <p:nvPr>
            <p:custDataLst>
              <p:tags r:id="rId16"/>
            </p:custDataLst>
          </p:nvPr>
        </p:nvSpPr>
        <p:spPr>
          <a:xfrm>
            <a:off x="1391865" y="2890914"/>
            <a:ext cx="828000" cy="9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Definir Envolvidos na Demanda e montar organograma</a:t>
            </a:r>
          </a:p>
        </p:txBody>
      </p:sp>
      <p:sp>
        <p:nvSpPr>
          <p:cNvPr id="69" name="Retângulo 68"/>
          <p:cNvSpPr/>
          <p:nvPr>
            <p:custDataLst>
              <p:tags r:id="rId17"/>
            </p:custDataLst>
          </p:nvPr>
        </p:nvSpPr>
        <p:spPr>
          <a:xfrm>
            <a:off x="2414963" y="2890914"/>
            <a:ext cx="828000" cy="9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Elaborar Cronograma da Demanda</a:t>
            </a:r>
          </a:p>
        </p:txBody>
      </p:sp>
      <p:sp>
        <p:nvSpPr>
          <p:cNvPr id="70" name="Retângulo 69"/>
          <p:cNvSpPr/>
          <p:nvPr>
            <p:custDataLst>
              <p:tags r:id="rId18"/>
            </p:custDataLst>
          </p:nvPr>
        </p:nvSpPr>
        <p:spPr>
          <a:xfrm>
            <a:off x="3438061" y="2890914"/>
            <a:ext cx="828000" cy="9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Consolidar custos de implantação e elaborar faseamento de desembolsos</a:t>
            </a:r>
          </a:p>
        </p:txBody>
      </p:sp>
      <p:sp>
        <p:nvSpPr>
          <p:cNvPr id="71" name="Retângulo 70"/>
          <p:cNvSpPr/>
          <p:nvPr>
            <p:custDataLst>
              <p:tags r:id="rId19"/>
            </p:custDataLst>
          </p:nvPr>
        </p:nvSpPr>
        <p:spPr>
          <a:xfrm>
            <a:off x="4470684" y="2890914"/>
            <a:ext cx="828000" cy="9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Documentar riscos e impactos da demanda</a:t>
            </a:r>
          </a:p>
        </p:txBody>
      </p:sp>
      <p:sp>
        <p:nvSpPr>
          <p:cNvPr id="72" name="Retângulo 71"/>
          <p:cNvSpPr/>
          <p:nvPr>
            <p:custDataLst>
              <p:tags r:id="rId20"/>
            </p:custDataLst>
          </p:nvPr>
        </p:nvSpPr>
        <p:spPr>
          <a:xfrm>
            <a:off x="5490194" y="2890914"/>
            <a:ext cx="828000" cy="9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Documentar benefícios da demanda</a:t>
            </a:r>
          </a:p>
        </p:txBody>
      </p:sp>
      <p:sp>
        <p:nvSpPr>
          <p:cNvPr id="74" name="Retângulo 73"/>
          <p:cNvSpPr/>
          <p:nvPr>
            <p:custDataLst>
              <p:tags r:id="rId21"/>
            </p:custDataLst>
          </p:nvPr>
        </p:nvSpPr>
        <p:spPr>
          <a:xfrm>
            <a:off x="6507355" y="2890914"/>
            <a:ext cx="828000" cy="9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Elaborar plano de Gestão da Mudança</a:t>
            </a:r>
          </a:p>
        </p:txBody>
      </p:sp>
      <p:cxnSp>
        <p:nvCxnSpPr>
          <p:cNvPr id="75" name="Conector de seta reta 74"/>
          <p:cNvCxnSpPr>
            <a:stCxn id="68" idx="3"/>
            <a:endCxn id="69" idx="1"/>
          </p:cNvCxnSpPr>
          <p:nvPr/>
        </p:nvCxnSpPr>
        <p:spPr>
          <a:xfrm>
            <a:off x="2219866" y="3340914"/>
            <a:ext cx="19509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69" idx="3"/>
            <a:endCxn id="70" idx="1"/>
          </p:cNvCxnSpPr>
          <p:nvPr/>
        </p:nvCxnSpPr>
        <p:spPr>
          <a:xfrm>
            <a:off x="3242965" y="3340914"/>
            <a:ext cx="19509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/>
          <p:cNvCxnSpPr>
            <a:stCxn id="70" idx="3"/>
            <a:endCxn id="71" idx="1"/>
          </p:cNvCxnSpPr>
          <p:nvPr/>
        </p:nvCxnSpPr>
        <p:spPr>
          <a:xfrm>
            <a:off x="4266063" y="3340914"/>
            <a:ext cx="20462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de seta reta 78"/>
          <p:cNvCxnSpPr>
            <a:stCxn id="72" idx="3"/>
            <a:endCxn id="74" idx="1"/>
          </p:cNvCxnSpPr>
          <p:nvPr/>
        </p:nvCxnSpPr>
        <p:spPr>
          <a:xfrm>
            <a:off x="6318196" y="3340914"/>
            <a:ext cx="18916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tângulo 79"/>
          <p:cNvSpPr/>
          <p:nvPr>
            <p:custDataLst>
              <p:tags r:id="rId22"/>
            </p:custDataLst>
          </p:nvPr>
        </p:nvSpPr>
        <p:spPr>
          <a:xfrm>
            <a:off x="7530455" y="2887923"/>
            <a:ext cx="828000" cy="9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Elaborar documento de planejamento da demanda P1</a:t>
            </a:r>
          </a:p>
        </p:txBody>
      </p:sp>
      <p:cxnSp>
        <p:nvCxnSpPr>
          <p:cNvPr id="81" name="Conector de seta reta 80"/>
          <p:cNvCxnSpPr>
            <a:stCxn id="74" idx="3"/>
            <a:endCxn id="80" idx="1"/>
          </p:cNvCxnSpPr>
          <p:nvPr/>
        </p:nvCxnSpPr>
        <p:spPr>
          <a:xfrm flipV="1">
            <a:off x="7335357" y="3337924"/>
            <a:ext cx="195100" cy="29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Elipse 81"/>
          <p:cNvSpPr/>
          <p:nvPr>
            <p:custDataLst>
              <p:tags r:id="rId23"/>
            </p:custDataLst>
          </p:nvPr>
        </p:nvSpPr>
        <p:spPr>
          <a:xfrm>
            <a:off x="8574595" y="3228913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11</a:t>
            </a:r>
          </a:p>
        </p:txBody>
      </p:sp>
      <p:cxnSp>
        <p:nvCxnSpPr>
          <p:cNvPr id="83" name="Conector de seta reta 82"/>
          <p:cNvCxnSpPr>
            <a:stCxn id="80" idx="3"/>
            <a:endCxn id="82" idx="2"/>
          </p:cNvCxnSpPr>
          <p:nvPr/>
        </p:nvCxnSpPr>
        <p:spPr>
          <a:xfrm flipV="1">
            <a:off x="8358457" y="3336913"/>
            <a:ext cx="216140" cy="10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tângulo 83"/>
          <p:cNvSpPr/>
          <p:nvPr>
            <p:custDataLst>
              <p:tags r:id="rId24"/>
            </p:custDataLst>
          </p:nvPr>
        </p:nvSpPr>
        <p:spPr>
          <a:xfrm>
            <a:off x="5490194" y="1806655"/>
            <a:ext cx="828000" cy="9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Validar Business Case das Demandas</a:t>
            </a:r>
          </a:p>
        </p:txBody>
      </p:sp>
      <p:cxnSp>
        <p:nvCxnSpPr>
          <p:cNvPr id="50" name="Conector angulado 49"/>
          <p:cNvCxnSpPr>
            <a:stCxn id="71" idx="0"/>
            <a:endCxn id="84" idx="1"/>
          </p:cNvCxnSpPr>
          <p:nvPr/>
        </p:nvCxnSpPr>
        <p:spPr>
          <a:xfrm rot="5400000" flipH="1" flipV="1">
            <a:off x="4870312" y="2271031"/>
            <a:ext cx="634259" cy="60551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angulado 56"/>
          <p:cNvCxnSpPr>
            <a:stCxn id="32" idx="2"/>
            <a:endCxn id="84" idx="1"/>
          </p:cNvCxnSpPr>
          <p:nvPr/>
        </p:nvCxnSpPr>
        <p:spPr>
          <a:xfrm rot="16200000" flipH="1">
            <a:off x="4875057" y="1641516"/>
            <a:ext cx="627119" cy="60316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9" name="Conector de seta reta 7168"/>
          <p:cNvCxnSpPr>
            <a:stCxn id="84" idx="0"/>
            <a:endCxn id="36" idx="2"/>
          </p:cNvCxnSpPr>
          <p:nvPr/>
        </p:nvCxnSpPr>
        <p:spPr>
          <a:xfrm flipV="1">
            <a:off x="5904194" y="1629538"/>
            <a:ext cx="0" cy="17711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1" name="Conector de seta reta 7170"/>
          <p:cNvCxnSpPr>
            <a:stCxn id="84" idx="2"/>
            <a:endCxn id="72" idx="0"/>
          </p:cNvCxnSpPr>
          <p:nvPr/>
        </p:nvCxnSpPr>
        <p:spPr>
          <a:xfrm>
            <a:off x="5904194" y="2706657"/>
            <a:ext cx="0" cy="18425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3" name="Conector angulado 7172"/>
          <p:cNvCxnSpPr>
            <a:stCxn id="65" idx="2"/>
            <a:endCxn id="68" idx="1"/>
          </p:cNvCxnSpPr>
          <p:nvPr/>
        </p:nvCxnSpPr>
        <p:spPr>
          <a:xfrm rot="16200000" flipH="1">
            <a:off x="264941" y="2213989"/>
            <a:ext cx="2004623" cy="24923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CaixaDeTexto 97"/>
          <p:cNvSpPr txBox="1"/>
          <p:nvPr/>
        </p:nvSpPr>
        <p:spPr>
          <a:xfrm>
            <a:off x="7407315" y="27800"/>
            <a:ext cx="926856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pt-BR" sz="1600" dirty="0">
                <a:latin typeface="Gill Sans Std Light" pitchFamily="34" charset="0"/>
              </a:rPr>
              <a:t>Planejar </a:t>
            </a:r>
          </a:p>
          <a:p>
            <a:pPr algn="l"/>
            <a:r>
              <a:rPr lang="pt-BR" sz="1600" dirty="0">
                <a:latin typeface="Gill Sans Std Light" pitchFamily="34" charset="0"/>
              </a:rPr>
              <a:t>demanda</a:t>
            </a:r>
          </a:p>
        </p:txBody>
      </p:sp>
      <p:grpSp>
        <p:nvGrpSpPr>
          <p:cNvPr id="7174" name="Grupo 7173"/>
          <p:cNvGrpSpPr/>
          <p:nvPr/>
        </p:nvGrpSpPr>
        <p:grpSpPr>
          <a:xfrm>
            <a:off x="6921357" y="62788"/>
            <a:ext cx="450775" cy="450775"/>
            <a:chOff x="6670772" y="-440464"/>
            <a:chExt cx="720000" cy="720000"/>
          </a:xfrm>
        </p:grpSpPr>
        <p:sp>
          <p:nvSpPr>
            <p:cNvPr id="97" name="Elipse 96"/>
            <p:cNvSpPr/>
            <p:nvPr/>
          </p:nvSpPr>
          <p:spPr bwMode="auto">
            <a:xfrm>
              <a:off x="6670772" y="-440464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99" name="Picture 16" descr="E:\Users\br93163\Downloads\Icones\project-4x.png"/>
            <p:cNvPicPr>
              <a:picLocks noChangeAspect="1" noChangeArrowheads="1"/>
            </p:cNvPicPr>
            <p:nvPr/>
          </p:nvPicPr>
          <p:blipFill>
            <a:blip r:embed="rId2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8099" y="-279108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9442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1"/>
            <a:ext cx="8055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  <a:endParaRPr lang="pt-BR" sz="24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sp>
        <p:nvSpPr>
          <p:cNvPr id="14" name="Rectangle 3"/>
          <p:cNvSpPr/>
          <p:nvPr/>
        </p:nvSpPr>
        <p:spPr>
          <a:xfrm>
            <a:off x="251522" y="1275268"/>
            <a:ext cx="3600401" cy="44644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/>
              <a:t>1. Nova </a:t>
            </a:r>
            <a:r>
              <a:rPr lang="pt-BR" sz="1200" dirty="0" smtClean="0"/>
              <a:t>Tecnologia</a:t>
            </a:r>
            <a:r>
              <a:rPr lang="en-US" sz="1200" dirty="0" smtClean="0"/>
              <a:t> (Software Selection)</a:t>
            </a:r>
            <a:endParaRPr lang="en-US" sz="1200" dirty="0"/>
          </a:p>
        </p:txBody>
      </p:sp>
      <p:sp>
        <p:nvSpPr>
          <p:cNvPr id="15" name="Rectangle 4"/>
          <p:cNvSpPr/>
          <p:nvPr/>
        </p:nvSpPr>
        <p:spPr>
          <a:xfrm>
            <a:off x="251521" y="1817656"/>
            <a:ext cx="3600400" cy="44644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2</a:t>
            </a:r>
            <a:r>
              <a:rPr lang="en-US" sz="1200" dirty="0" smtClean="0"/>
              <a:t>. </a:t>
            </a:r>
            <a:r>
              <a:rPr lang="pt-BR" sz="1200" dirty="0" smtClean="0"/>
              <a:t>Soluções</a:t>
            </a:r>
            <a:r>
              <a:rPr lang="en-US" sz="1200" dirty="0" smtClean="0"/>
              <a:t> </a:t>
            </a:r>
            <a:r>
              <a:rPr lang="pt-BR" sz="1200" dirty="0" smtClean="0"/>
              <a:t>que</a:t>
            </a:r>
            <a:r>
              <a:rPr lang="en-US" sz="1200" dirty="0" smtClean="0"/>
              <a:t> </a:t>
            </a:r>
            <a:r>
              <a:rPr lang="pt-BR" sz="1200" dirty="0" smtClean="0"/>
              <a:t>envolvam</a:t>
            </a:r>
            <a:r>
              <a:rPr lang="en-US" sz="1200" dirty="0" smtClean="0"/>
              <a:t> 2 </a:t>
            </a:r>
            <a:r>
              <a:rPr lang="pt-BR" sz="1200" dirty="0" smtClean="0"/>
              <a:t>ou</a:t>
            </a:r>
            <a:r>
              <a:rPr lang="en-US" sz="1200" dirty="0" smtClean="0"/>
              <a:t> </a:t>
            </a:r>
            <a:r>
              <a:rPr lang="pt-BR" sz="1200" dirty="0" smtClean="0"/>
              <a:t>mais</a:t>
            </a:r>
            <a:r>
              <a:rPr lang="en-US" sz="1200" dirty="0" smtClean="0"/>
              <a:t> </a:t>
            </a:r>
            <a:r>
              <a:rPr lang="pt-BR" sz="1200" dirty="0" smtClean="0"/>
              <a:t>plataformas</a:t>
            </a:r>
          </a:p>
        </p:txBody>
      </p:sp>
      <p:sp>
        <p:nvSpPr>
          <p:cNvPr id="16" name="Rectangle 6"/>
          <p:cNvSpPr/>
          <p:nvPr/>
        </p:nvSpPr>
        <p:spPr>
          <a:xfrm>
            <a:off x="251522" y="2381567"/>
            <a:ext cx="3600401" cy="44644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3</a:t>
            </a:r>
            <a:r>
              <a:rPr lang="en-US" sz="1200" dirty="0" smtClean="0"/>
              <a:t>. </a:t>
            </a:r>
            <a:r>
              <a:rPr lang="pt-BR" sz="1200" dirty="0" smtClean="0"/>
              <a:t>Soluções</a:t>
            </a:r>
            <a:r>
              <a:rPr lang="en-US" sz="1200" dirty="0" smtClean="0"/>
              <a:t> </a:t>
            </a:r>
            <a:r>
              <a:rPr lang="pt-BR" sz="1200" dirty="0" smtClean="0"/>
              <a:t>que</a:t>
            </a:r>
            <a:r>
              <a:rPr lang="en-US" sz="1200" dirty="0" smtClean="0"/>
              <a:t> </a:t>
            </a:r>
            <a:r>
              <a:rPr lang="pt-BR" sz="1200" dirty="0" smtClean="0"/>
              <a:t>envolvam</a:t>
            </a:r>
            <a:r>
              <a:rPr lang="en-US" sz="1200" dirty="0" smtClean="0"/>
              <a:t> 1 </a:t>
            </a:r>
            <a:r>
              <a:rPr lang="pt-BR" sz="1200" dirty="0" smtClean="0"/>
              <a:t>plataforma</a:t>
            </a:r>
            <a:endParaRPr lang="pt-BR" sz="1200" dirty="0"/>
          </a:p>
        </p:txBody>
      </p:sp>
      <p:sp>
        <p:nvSpPr>
          <p:cNvPr id="17" name="Rectangle 20"/>
          <p:cNvSpPr/>
          <p:nvPr/>
        </p:nvSpPr>
        <p:spPr>
          <a:xfrm>
            <a:off x="4094199" y="1286557"/>
            <a:ext cx="694423" cy="44644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ARQ</a:t>
            </a:r>
            <a:endParaRPr lang="en-US" dirty="0"/>
          </a:p>
        </p:txBody>
      </p:sp>
      <p:sp>
        <p:nvSpPr>
          <p:cNvPr id="18" name="Rectangle 30"/>
          <p:cNvSpPr/>
          <p:nvPr/>
        </p:nvSpPr>
        <p:spPr>
          <a:xfrm>
            <a:off x="4094199" y="2397482"/>
            <a:ext cx="694423" cy="4464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DA</a:t>
            </a:r>
            <a:endParaRPr lang="en-US" dirty="0"/>
          </a:p>
        </p:txBody>
      </p:sp>
      <p:sp>
        <p:nvSpPr>
          <p:cNvPr id="19" name="Rectangle 39"/>
          <p:cNvSpPr/>
          <p:nvPr/>
        </p:nvSpPr>
        <p:spPr>
          <a:xfrm>
            <a:off x="4094199" y="1807151"/>
            <a:ext cx="694423" cy="44644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ARQ</a:t>
            </a:r>
            <a:endParaRPr lang="en-US" dirty="0"/>
          </a:p>
        </p:txBody>
      </p:sp>
      <p:cxnSp>
        <p:nvCxnSpPr>
          <p:cNvPr id="20" name="Straight Connector 17"/>
          <p:cNvCxnSpPr/>
          <p:nvPr/>
        </p:nvCxnSpPr>
        <p:spPr>
          <a:xfrm>
            <a:off x="3931986" y="1140253"/>
            <a:ext cx="9944" cy="22369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3806917" y="550253"/>
            <a:ext cx="1305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/>
              <a:t>Validação da Demanda</a:t>
            </a:r>
            <a:endParaRPr lang="pt-BR" sz="12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251520" y="3538630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O planejamento da demanda deve ser realizado pelo líder da demanda. Nos casos de Aplicações, o líder da demanda será sempre da </a:t>
            </a:r>
            <a:r>
              <a:rPr lang="pt-BR" dirty="0" err="1" smtClean="0"/>
              <a:t>DA</a:t>
            </a:r>
            <a:r>
              <a:rPr lang="pt-BR" dirty="0" smtClean="0"/>
              <a:t>. No caso de Infraestrutura, um gerente de projetos do time de infraestrutura.</a:t>
            </a:r>
            <a:endParaRPr lang="pt-BR" dirty="0"/>
          </a:p>
        </p:txBody>
      </p:sp>
      <p:sp>
        <p:nvSpPr>
          <p:cNvPr id="21" name="Rectangle 6"/>
          <p:cNvSpPr/>
          <p:nvPr/>
        </p:nvSpPr>
        <p:spPr>
          <a:xfrm>
            <a:off x="251522" y="2930763"/>
            <a:ext cx="3600401" cy="44644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/>
              <a:t>4. </a:t>
            </a:r>
            <a:r>
              <a:rPr lang="pt-BR" sz="1200" dirty="0" smtClean="0"/>
              <a:t>Soluções</a:t>
            </a:r>
            <a:r>
              <a:rPr lang="en-US" sz="1200" dirty="0" smtClean="0"/>
              <a:t> </a:t>
            </a:r>
            <a:r>
              <a:rPr lang="pt-BR" sz="1200" dirty="0" smtClean="0"/>
              <a:t>que</a:t>
            </a:r>
            <a:r>
              <a:rPr lang="en-US" sz="1200" dirty="0" smtClean="0"/>
              <a:t> </a:t>
            </a:r>
            <a:r>
              <a:rPr lang="pt-BR" sz="1200" dirty="0" smtClean="0"/>
              <a:t>envolvam</a:t>
            </a:r>
            <a:r>
              <a:rPr lang="en-US" sz="1200" dirty="0" smtClean="0"/>
              <a:t> </a:t>
            </a:r>
            <a:r>
              <a:rPr lang="pt-BR" sz="1200" dirty="0" smtClean="0"/>
              <a:t>apenas</a:t>
            </a:r>
            <a:r>
              <a:rPr lang="en-US" sz="1200" dirty="0" smtClean="0"/>
              <a:t> </a:t>
            </a:r>
            <a:r>
              <a:rPr lang="pt-BR" sz="1200" dirty="0" smtClean="0"/>
              <a:t>infraestrutura</a:t>
            </a:r>
            <a:endParaRPr lang="pt-BR" sz="1200" dirty="0"/>
          </a:p>
        </p:txBody>
      </p:sp>
      <p:sp>
        <p:nvSpPr>
          <p:cNvPr id="22" name="Rectangle 30"/>
          <p:cNvSpPr/>
          <p:nvPr/>
        </p:nvSpPr>
        <p:spPr>
          <a:xfrm>
            <a:off x="4094199" y="2957167"/>
            <a:ext cx="694423" cy="446449"/>
          </a:xfrm>
          <a:prstGeom prst="rect">
            <a:avLst/>
          </a:prstGeom>
          <a:gradFill flip="none" rotWithShape="1">
            <a:gsLst>
              <a:gs pos="0">
                <a:srgbClr val="004F71">
                  <a:shade val="30000"/>
                  <a:satMod val="115000"/>
                </a:srgbClr>
              </a:gs>
              <a:gs pos="50000">
                <a:srgbClr val="004F71">
                  <a:shade val="67500"/>
                  <a:satMod val="115000"/>
                </a:srgbClr>
              </a:gs>
              <a:gs pos="100000">
                <a:srgbClr val="004F7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4F7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INFRA</a:t>
            </a:r>
            <a:endParaRPr lang="en-US" dirty="0"/>
          </a:p>
        </p:txBody>
      </p:sp>
      <p:sp>
        <p:nvSpPr>
          <p:cNvPr id="30" name="Rectangle 20"/>
          <p:cNvSpPr/>
          <p:nvPr/>
        </p:nvSpPr>
        <p:spPr>
          <a:xfrm>
            <a:off x="5174319" y="1282830"/>
            <a:ext cx="694423" cy="44644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ARQ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5174319" y="2397482"/>
            <a:ext cx="694423" cy="4464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DA</a:t>
            </a:r>
            <a:endParaRPr lang="en-US" dirty="0"/>
          </a:p>
        </p:txBody>
      </p:sp>
      <p:sp>
        <p:nvSpPr>
          <p:cNvPr id="32" name="Rectangle 39"/>
          <p:cNvSpPr/>
          <p:nvPr/>
        </p:nvSpPr>
        <p:spPr>
          <a:xfrm>
            <a:off x="5174319" y="1807151"/>
            <a:ext cx="694423" cy="44644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ARQ</a:t>
            </a:r>
            <a:endParaRPr lang="en-US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4887037" y="546526"/>
            <a:ext cx="1305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/>
              <a:t>Esboço da Solução</a:t>
            </a:r>
            <a:endParaRPr lang="pt-BR" sz="1200" dirty="0"/>
          </a:p>
        </p:txBody>
      </p:sp>
      <p:sp>
        <p:nvSpPr>
          <p:cNvPr id="34" name="Rectangle 30"/>
          <p:cNvSpPr/>
          <p:nvPr/>
        </p:nvSpPr>
        <p:spPr>
          <a:xfrm>
            <a:off x="5174319" y="2953440"/>
            <a:ext cx="694423" cy="446449"/>
          </a:xfrm>
          <a:prstGeom prst="rect">
            <a:avLst/>
          </a:prstGeom>
          <a:gradFill flip="none" rotWithShape="1">
            <a:gsLst>
              <a:gs pos="0">
                <a:srgbClr val="004F71">
                  <a:shade val="30000"/>
                  <a:satMod val="115000"/>
                </a:srgbClr>
              </a:gs>
              <a:gs pos="50000">
                <a:srgbClr val="004F71">
                  <a:shade val="67500"/>
                  <a:satMod val="115000"/>
                </a:srgbClr>
              </a:gs>
              <a:gs pos="100000">
                <a:srgbClr val="004F7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4F7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INFRA</a:t>
            </a:r>
            <a:endParaRPr lang="en-US" dirty="0"/>
          </a:p>
        </p:txBody>
      </p:sp>
      <p:cxnSp>
        <p:nvCxnSpPr>
          <p:cNvPr id="35" name="Straight Connector 17"/>
          <p:cNvCxnSpPr/>
          <p:nvPr/>
        </p:nvCxnSpPr>
        <p:spPr>
          <a:xfrm>
            <a:off x="5057111" y="1140253"/>
            <a:ext cx="9944" cy="22369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5877148" y="546526"/>
            <a:ext cx="1044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/>
              <a:t>Pré-Planejamento</a:t>
            </a:r>
          </a:p>
          <a:p>
            <a:pPr algn="ctr"/>
            <a:r>
              <a:rPr lang="pt-BR" sz="1200" dirty="0" smtClean="0"/>
              <a:t>(P0)</a:t>
            </a:r>
            <a:endParaRPr lang="pt-BR" sz="1200" dirty="0"/>
          </a:p>
        </p:txBody>
      </p:sp>
      <p:sp>
        <p:nvSpPr>
          <p:cNvPr id="28" name="Rectangle 30"/>
          <p:cNvSpPr/>
          <p:nvPr/>
        </p:nvSpPr>
        <p:spPr>
          <a:xfrm>
            <a:off x="6119424" y="2953440"/>
            <a:ext cx="694423" cy="446449"/>
          </a:xfrm>
          <a:prstGeom prst="rect">
            <a:avLst/>
          </a:prstGeom>
          <a:gradFill flip="none" rotWithShape="1">
            <a:gsLst>
              <a:gs pos="0">
                <a:srgbClr val="004F71">
                  <a:shade val="30000"/>
                  <a:satMod val="115000"/>
                </a:srgbClr>
              </a:gs>
              <a:gs pos="50000">
                <a:srgbClr val="004F71">
                  <a:shade val="67500"/>
                  <a:satMod val="115000"/>
                </a:srgbClr>
              </a:gs>
              <a:gs pos="100000">
                <a:srgbClr val="004F7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4F7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INFRA</a:t>
            </a:r>
            <a:endParaRPr lang="en-US" dirty="0"/>
          </a:p>
        </p:txBody>
      </p:sp>
      <p:cxnSp>
        <p:nvCxnSpPr>
          <p:cNvPr id="29" name="Straight Connector 17"/>
          <p:cNvCxnSpPr/>
          <p:nvPr/>
        </p:nvCxnSpPr>
        <p:spPr>
          <a:xfrm>
            <a:off x="6002216" y="1153366"/>
            <a:ext cx="9944" cy="22369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30"/>
          <p:cNvSpPr/>
          <p:nvPr/>
        </p:nvSpPr>
        <p:spPr>
          <a:xfrm>
            <a:off x="6119424" y="2397482"/>
            <a:ext cx="694423" cy="4464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DA</a:t>
            </a:r>
            <a:endParaRPr lang="en-US" dirty="0"/>
          </a:p>
        </p:txBody>
      </p:sp>
      <p:sp>
        <p:nvSpPr>
          <p:cNvPr id="43" name="Rectangle 30"/>
          <p:cNvSpPr/>
          <p:nvPr/>
        </p:nvSpPr>
        <p:spPr>
          <a:xfrm>
            <a:off x="6119424" y="1807151"/>
            <a:ext cx="694423" cy="4464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DA</a:t>
            </a:r>
            <a:endParaRPr lang="en-US" dirty="0"/>
          </a:p>
        </p:txBody>
      </p:sp>
      <p:sp>
        <p:nvSpPr>
          <p:cNvPr id="44" name="Rectangle 30"/>
          <p:cNvSpPr/>
          <p:nvPr/>
        </p:nvSpPr>
        <p:spPr>
          <a:xfrm>
            <a:off x="6119424" y="1279573"/>
            <a:ext cx="694423" cy="4464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DA</a:t>
            </a:r>
            <a:endParaRPr lang="en-US" dirty="0"/>
          </a:p>
        </p:txBody>
      </p:sp>
      <p:sp>
        <p:nvSpPr>
          <p:cNvPr id="36" name="CaixaDeTexto 35"/>
          <p:cNvSpPr txBox="1"/>
          <p:nvPr/>
        </p:nvSpPr>
        <p:spPr>
          <a:xfrm>
            <a:off x="7812362" y="559226"/>
            <a:ext cx="1305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/>
              <a:t>Planejamento</a:t>
            </a:r>
          </a:p>
          <a:p>
            <a:pPr algn="ctr"/>
            <a:r>
              <a:rPr lang="pt-BR" sz="1200" dirty="0" smtClean="0"/>
              <a:t>(P1)</a:t>
            </a:r>
            <a:endParaRPr lang="pt-BR" sz="1200" dirty="0"/>
          </a:p>
        </p:txBody>
      </p:sp>
      <p:sp>
        <p:nvSpPr>
          <p:cNvPr id="37" name="Rectangle 30"/>
          <p:cNvSpPr/>
          <p:nvPr/>
        </p:nvSpPr>
        <p:spPr>
          <a:xfrm>
            <a:off x="8054639" y="2966140"/>
            <a:ext cx="694423" cy="446449"/>
          </a:xfrm>
          <a:prstGeom prst="rect">
            <a:avLst/>
          </a:prstGeom>
          <a:gradFill flip="none" rotWithShape="1">
            <a:gsLst>
              <a:gs pos="0">
                <a:srgbClr val="004F71">
                  <a:shade val="30000"/>
                  <a:satMod val="115000"/>
                </a:srgbClr>
              </a:gs>
              <a:gs pos="50000">
                <a:srgbClr val="004F71">
                  <a:shade val="67500"/>
                  <a:satMod val="115000"/>
                </a:srgbClr>
              </a:gs>
              <a:gs pos="100000">
                <a:srgbClr val="004F7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4F7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INFRA</a:t>
            </a:r>
            <a:endParaRPr lang="en-US" dirty="0"/>
          </a:p>
        </p:txBody>
      </p:sp>
      <p:cxnSp>
        <p:nvCxnSpPr>
          <p:cNvPr id="38" name="Straight Connector 17"/>
          <p:cNvCxnSpPr/>
          <p:nvPr/>
        </p:nvCxnSpPr>
        <p:spPr>
          <a:xfrm>
            <a:off x="6992326" y="1166066"/>
            <a:ext cx="9944" cy="22369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0"/>
          <p:cNvSpPr/>
          <p:nvPr/>
        </p:nvSpPr>
        <p:spPr>
          <a:xfrm>
            <a:off x="8054639" y="2410182"/>
            <a:ext cx="694423" cy="4464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DA</a:t>
            </a:r>
            <a:endParaRPr lang="en-US" dirty="0"/>
          </a:p>
        </p:txBody>
      </p:sp>
      <p:sp>
        <p:nvSpPr>
          <p:cNvPr id="40" name="Rectangle 30"/>
          <p:cNvSpPr/>
          <p:nvPr/>
        </p:nvSpPr>
        <p:spPr>
          <a:xfrm>
            <a:off x="8054639" y="1819851"/>
            <a:ext cx="694423" cy="4464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DA</a:t>
            </a:r>
            <a:endParaRPr lang="en-US" dirty="0"/>
          </a:p>
        </p:txBody>
      </p:sp>
      <p:sp>
        <p:nvSpPr>
          <p:cNvPr id="41" name="Rectangle 30"/>
          <p:cNvSpPr/>
          <p:nvPr/>
        </p:nvSpPr>
        <p:spPr>
          <a:xfrm>
            <a:off x="8054639" y="1292273"/>
            <a:ext cx="694423" cy="4464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DA</a:t>
            </a:r>
            <a:endParaRPr lang="en-US" dirty="0"/>
          </a:p>
        </p:txBody>
      </p:sp>
      <p:sp>
        <p:nvSpPr>
          <p:cNvPr id="49" name="CaixaDeTexto 48"/>
          <p:cNvSpPr txBox="1"/>
          <p:nvPr/>
        </p:nvSpPr>
        <p:spPr>
          <a:xfrm>
            <a:off x="7407316" y="27800"/>
            <a:ext cx="104026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t-BR" sz="1600" dirty="0" smtClean="0">
                <a:latin typeface="Gill Sans Std Light" pitchFamily="34" charset="0"/>
              </a:rPr>
              <a:t>Planejar </a:t>
            </a:r>
          </a:p>
          <a:p>
            <a:pPr algn="l"/>
            <a:r>
              <a:rPr lang="pt-BR" sz="1600" dirty="0" smtClean="0">
                <a:latin typeface="Gill Sans Std Light" pitchFamily="34" charset="0"/>
              </a:rPr>
              <a:t>demanda</a:t>
            </a:r>
            <a:endParaRPr lang="pt-BR" sz="1600" dirty="0">
              <a:latin typeface="Gill Sans Std Light" pitchFamily="34" charset="0"/>
            </a:endParaRPr>
          </a:p>
        </p:txBody>
      </p:sp>
      <p:grpSp>
        <p:nvGrpSpPr>
          <p:cNvPr id="50" name="Grupo 49"/>
          <p:cNvGrpSpPr/>
          <p:nvPr/>
        </p:nvGrpSpPr>
        <p:grpSpPr>
          <a:xfrm>
            <a:off x="6921357" y="62787"/>
            <a:ext cx="450775" cy="450775"/>
            <a:chOff x="6670772" y="-440464"/>
            <a:chExt cx="720000" cy="720000"/>
          </a:xfrm>
        </p:grpSpPr>
        <p:sp>
          <p:nvSpPr>
            <p:cNvPr id="51" name="Elipse 50"/>
            <p:cNvSpPr/>
            <p:nvPr/>
          </p:nvSpPr>
          <p:spPr bwMode="auto">
            <a:xfrm>
              <a:off x="6670772" y="-440464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52" name="Picture 16" descr="E:\Users\br93163\Downloads\Icones\project-4x.png"/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8099" y="-279108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5" name="Rectangle 20"/>
          <p:cNvSpPr/>
          <p:nvPr/>
        </p:nvSpPr>
        <p:spPr>
          <a:xfrm>
            <a:off x="7109534" y="1282830"/>
            <a:ext cx="694423" cy="44644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ARQ</a:t>
            </a:r>
            <a:endParaRPr lang="en-US" dirty="0"/>
          </a:p>
        </p:txBody>
      </p:sp>
      <p:sp>
        <p:nvSpPr>
          <p:cNvPr id="47" name="Rectangle 39"/>
          <p:cNvSpPr/>
          <p:nvPr/>
        </p:nvSpPr>
        <p:spPr>
          <a:xfrm>
            <a:off x="7109534" y="1807151"/>
            <a:ext cx="694423" cy="44644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ARQ</a:t>
            </a:r>
            <a:endParaRPr lang="en-US" dirty="0"/>
          </a:p>
        </p:txBody>
      </p:sp>
      <p:sp>
        <p:nvSpPr>
          <p:cNvPr id="48" name="CaixaDeTexto 32"/>
          <p:cNvSpPr txBox="1"/>
          <p:nvPr/>
        </p:nvSpPr>
        <p:spPr>
          <a:xfrm>
            <a:off x="6822252" y="546526"/>
            <a:ext cx="1305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/>
              <a:t>Desenho da Arquitetura (DAS)</a:t>
            </a:r>
            <a:endParaRPr lang="pt-BR" sz="1200" dirty="0"/>
          </a:p>
        </p:txBody>
      </p:sp>
      <p:cxnSp>
        <p:nvCxnSpPr>
          <p:cNvPr id="55" name="Straight Connector 17"/>
          <p:cNvCxnSpPr/>
          <p:nvPr/>
        </p:nvCxnSpPr>
        <p:spPr>
          <a:xfrm>
            <a:off x="7937431" y="1153366"/>
            <a:ext cx="9944" cy="22369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>
            <a:off x="7109534" y="2645229"/>
            <a:ext cx="70282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7109534" y="3248997"/>
            <a:ext cx="70282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62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02" y="777138"/>
            <a:ext cx="8865495" cy="1794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Seta para a direita 12"/>
          <p:cNvSpPr/>
          <p:nvPr/>
        </p:nvSpPr>
        <p:spPr>
          <a:xfrm rot="5400000">
            <a:off x="1309137" y="596510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1322122" y="574006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15" name="Seta para a direita 14"/>
          <p:cNvSpPr/>
          <p:nvPr/>
        </p:nvSpPr>
        <p:spPr>
          <a:xfrm rot="5400000">
            <a:off x="8371741" y="752325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8384725" y="729820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sp>
        <p:nvSpPr>
          <p:cNvPr id="17" name="Seta para a direita 16"/>
          <p:cNvSpPr/>
          <p:nvPr/>
        </p:nvSpPr>
        <p:spPr>
          <a:xfrm rot="10800000">
            <a:off x="8082390" y="1404327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8129767" y="1388779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3</a:t>
            </a:r>
          </a:p>
        </p:txBody>
      </p:sp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02" y="2661762"/>
            <a:ext cx="9027495" cy="210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Seta para a direita 21"/>
          <p:cNvSpPr/>
          <p:nvPr/>
        </p:nvSpPr>
        <p:spPr>
          <a:xfrm rot="5400000">
            <a:off x="3253871" y="2999299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3266857" y="2976795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4</a:t>
            </a:r>
          </a:p>
        </p:txBody>
      </p:sp>
      <p:sp>
        <p:nvSpPr>
          <p:cNvPr id="24" name="Seta para a direita 23"/>
          <p:cNvSpPr/>
          <p:nvPr/>
        </p:nvSpPr>
        <p:spPr>
          <a:xfrm rot="5400000">
            <a:off x="3748926" y="2999300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3761911" y="2976795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5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5440755" y="2462393"/>
            <a:ext cx="3703246" cy="1954563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No Clarity será só controlado o </a:t>
            </a:r>
            <a:r>
              <a:rPr lang="pt-BR" sz="1400" dirty="0" err="1">
                <a:solidFill>
                  <a:schemeClr val="tx1"/>
                </a:solidFill>
              </a:rPr>
              <a:t>macrocronograma</a:t>
            </a:r>
            <a:r>
              <a:rPr lang="pt-BR" sz="1400" dirty="0">
                <a:solidFill>
                  <a:schemeClr val="tx1"/>
                </a:solidFill>
              </a:rPr>
              <a:t> do projeto, e todos os projetos já virão com as etapas programadas. O gerente de projeto deve apenas atualizar as datas de início e término das fases, bem como o % de conclusão – caso houver. Uma vez que o P1 for aprovado, será salva a linha de base do projeto pelo PMO e o cronograma acompanhado comparativamente com essa linha.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7407317" y="141480"/>
            <a:ext cx="1212511" cy="338554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pt-BR" sz="1600" dirty="0">
                <a:latin typeface="Gill Sans Std Light" pitchFamily="34" charset="0"/>
              </a:rPr>
              <a:t>Cronograma</a:t>
            </a:r>
          </a:p>
        </p:txBody>
      </p:sp>
    </p:spTree>
    <p:extLst>
      <p:ext uri="{BB962C8B-B14F-4D97-AF65-F5344CB8AC3E}">
        <p14:creationId xmlns:p14="http://schemas.microsoft.com/office/powerpoint/2010/main" val="1677068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7407316" y="141480"/>
            <a:ext cx="1503938" cy="338554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pt-BR" sz="1600" dirty="0">
                <a:latin typeface="Gill Sans Std Light" pitchFamily="34" charset="0"/>
              </a:rPr>
              <a:t>Plano Financeiro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t="13562"/>
          <a:stretch/>
        </p:blipFill>
        <p:spPr>
          <a:xfrm>
            <a:off x="162000" y="1356615"/>
            <a:ext cx="8945814" cy="1434222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00" y="723062"/>
            <a:ext cx="3733800" cy="39052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02" y="2931791"/>
            <a:ext cx="2943225" cy="103822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1850" y="2912740"/>
            <a:ext cx="3790950" cy="2114550"/>
          </a:xfrm>
          <a:prstGeom prst="rect">
            <a:avLst/>
          </a:prstGeom>
        </p:spPr>
      </p:pic>
      <p:sp>
        <p:nvSpPr>
          <p:cNvPr id="8" name="Seta para a direita 7"/>
          <p:cNvSpPr/>
          <p:nvPr/>
        </p:nvSpPr>
        <p:spPr>
          <a:xfrm rot="5400000">
            <a:off x="3092241" y="567031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3105226" y="544527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10" name="Seta para a direita 9"/>
          <p:cNvSpPr/>
          <p:nvPr/>
        </p:nvSpPr>
        <p:spPr>
          <a:xfrm rot="10800000">
            <a:off x="1644305" y="1933726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691680" y="1918177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sp>
        <p:nvSpPr>
          <p:cNvPr id="12" name="Seta para a direita 11"/>
          <p:cNvSpPr/>
          <p:nvPr/>
        </p:nvSpPr>
        <p:spPr>
          <a:xfrm rot="5400000">
            <a:off x="544052" y="3418807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557038" y="3396303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3</a:t>
            </a:r>
          </a:p>
        </p:txBody>
      </p:sp>
      <p:sp>
        <p:nvSpPr>
          <p:cNvPr id="14" name="Seta para a direita 13"/>
          <p:cNvSpPr/>
          <p:nvPr/>
        </p:nvSpPr>
        <p:spPr>
          <a:xfrm rot="10800000">
            <a:off x="6789106" y="3350613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6836482" y="3335065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4</a:t>
            </a:r>
          </a:p>
        </p:txBody>
      </p:sp>
      <p:sp>
        <p:nvSpPr>
          <p:cNvPr id="16" name="Seta para a direita 15"/>
          <p:cNvSpPr/>
          <p:nvPr/>
        </p:nvSpPr>
        <p:spPr>
          <a:xfrm rot="10800000">
            <a:off x="6796851" y="3953563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6844228" y="3938014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5</a:t>
            </a:r>
          </a:p>
        </p:txBody>
      </p:sp>
      <p:sp>
        <p:nvSpPr>
          <p:cNvPr id="18" name="Seta para a direita 17"/>
          <p:cNvSpPr/>
          <p:nvPr/>
        </p:nvSpPr>
        <p:spPr>
          <a:xfrm rot="5400000">
            <a:off x="3753614" y="4304445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3766600" y="4281940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6308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7407316" y="141480"/>
            <a:ext cx="1503938" cy="338554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pt-BR" sz="1600" dirty="0">
                <a:latin typeface="Gill Sans Std Light" pitchFamily="34" charset="0"/>
              </a:rPr>
              <a:t>Plano Financeiro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27" y="726547"/>
            <a:ext cx="4152734" cy="382542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255" y="726547"/>
            <a:ext cx="4145915" cy="3825425"/>
          </a:xfrm>
          <a:prstGeom prst="rect">
            <a:avLst/>
          </a:prstGeom>
        </p:spPr>
      </p:pic>
      <p:sp>
        <p:nvSpPr>
          <p:cNvPr id="12" name="Seta para a direita 11"/>
          <p:cNvSpPr/>
          <p:nvPr/>
        </p:nvSpPr>
        <p:spPr>
          <a:xfrm rot="5400000">
            <a:off x="373551" y="2189210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386536" y="2166706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4</a:t>
            </a:r>
          </a:p>
        </p:txBody>
      </p:sp>
      <p:sp>
        <p:nvSpPr>
          <p:cNvPr id="14" name="Seta para a direita 13"/>
          <p:cNvSpPr/>
          <p:nvPr/>
        </p:nvSpPr>
        <p:spPr>
          <a:xfrm rot="10800000">
            <a:off x="7542330" y="2243373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7589707" y="2227825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5</a:t>
            </a:r>
          </a:p>
        </p:txBody>
      </p:sp>
      <p:sp>
        <p:nvSpPr>
          <p:cNvPr id="16" name="Seta para a direita 15"/>
          <p:cNvSpPr/>
          <p:nvPr/>
        </p:nvSpPr>
        <p:spPr>
          <a:xfrm rot="10800000">
            <a:off x="7542330" y="2452284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7589707" y="2436736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5</a:t>
            </a:r>
          </a:p>
        </p:txBody>
      </p:sp>
      <p:sp>
        <p:nvSpPr>
          <p:cNvPr id="18" name="Seta para a direita 17"/>
          <p:cNvSpPr/>
          <p:nvPr/>
        </p:nvSpPr>
        <p:spPr>
          <a:xfrm rot="10800000">
            <a:off x="7542330" y="2661195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7589707" y="2645647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5</a:t>
            </a:r>
          </a:p>
        </p:txBody>
      </p:sp>
      <p:sp>
        <p:nvSpPr>
          <p:cNvPr id="20" name="Seta para a direita 19"/>
          <p:cNvSpPr/>
          <p:nvPr/>
        </p:nvSpPr>
        <p:spPr>
          <a:xfrm rot="10800000">
            <a:off x="7542330" y="2870105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7589707" y="2854558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5</a:t>
            </a:r>
          </a:p>
        </p:txBody>
      </p:sp>
      <p:sp>
        <p:nvSpPr>
          <p:cNvPr id="22" name="Seta para a direita 21"/>
          <p:cNvSpPr/>
          <p:nvPr/>
        </p:nvSpPr>
        <p:spPr>
          <a:xfrm rot="10800000">
            <a:off x="7542330" y="3079017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7589707" y="3063468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5</a:t>
            </a:r>
          </a:p>
        </p:txBody>
      </p:sp>
      <p:sp>
        <p:nvSpPr>
          <p:cNvPr id="24" name="Seta para a direita 23"/>
          <p:cNvSpPr/>
          <p:nvPr/>
        </p:nvSpPr>
        <p:spPr>
          <a:xfrm rot="5400000">
            <a:off x="631955" y="2922065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644941" y="2899563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4</a:t>
            </a:r>
          </a:p>
        </p:txBody>
      </p:sp>
      <p:sp>
        <p:nvSpPr>
          <p:cNvPr id="26" name="Seta para a direita 25"/>
          <p:cNvSpPr/>
          <p:nvPr/>
        </p:nvSpPr>
        <p:spPr>
          <a:xfrm rot="5400000">
            <a:off x="5009066" y="3349197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8" name="CaixaDeTexto 27"/>
          <p:cNvSpPr txBox="1"/>
          <p:nvPr/>
        </p:nvSpPr>
        <p:spPr>
          <a:xfrm>
            <a:off x="5022051" y="3326692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19017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7407316" y="141480"/>
            <a:ext cx="1503938" cy="338554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pt-BR" sz="1600" dirty="0">
                <a:latin typeface="Gill Sans Std Light" pitchFamily="34" charset="0"/>
              </a:rPr>
              <a:t>Plano Financeiro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00" y="726547"/>
            <a:ext cx="8883286" cy="3351355"/>
          </a:xfrm>
          <a:prstGeom prst="rect">
            <a:avLst/>
          </a:prstGeom>
        </p:spPr>
      </p:pic>
      <p:sp>
        <p:nvSpPr>
          <p:cNvPr id="8" name="Seta para a direita 7"/>
          <p:cNvSpPr/>
          <p:nvPr/>
        </p:nvSpPr>
        <p:spPr>
          <a:xfrm rot="5400000">
            <a:off x="8204421" y="894026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8217406" y="871522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10" name="Seta para a direita 9"/>
          <p:cNvSpPr/>
          <p:nvPr/>
        </p:nvSpPr>
        <p:spPr>
          <a:xfrm rot="5400000">
            <a:off x="319027" y="3674375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332011" y="3651871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5208009" y="3905788"/>
            <a:ext cx="3703246" cy="1149395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No Clarity serão controlados os custos nas </a:t>
            </a:r>
            <a:r>
              <a:rPr lang="pt-BR" sz="1400" dirty="0" err="1">
                <a:solidFill>
                  <a:schemeClr val="tx1"/>
                </a:solidFill>
              </a:rPr>
              <a:t>macrolinhas</a:t>
            </a:r>
            <a:r>
              <a:rPr lang="pt-BR" sz="1400" dirty="0">
                <a:solidFill>
                  <a:schemeClr val="tx1"/>
                </a:solidFill>
              </a:rPr>
              <a:t> dos projetos, tanto em </a:t>
            </a:r>
            <a:r>
              <a:rPr lang="pt-BR" sz="1400" dirty="0" err="1">
                <a:solidFill>
                  <a:schemeClr val="tx1"/>
                </a:solidFill>
              </a:rPr>
              <a:t>Capex</a:t>
            </a:r>
            <a:r>
              <a:rPr lang="pt-BR" sz="1400" dirty="0">
                <a:solidFill>
                  <a:schemeClr val="tx1"/>
                </a:solidFill>
              </a:rPr>
              <a:t> quanto em </a:t>
            </a:r>
            <a:r>
              <a:rPr lang="pt-BR" sz="1400" dirty="0" err="1">
                <a:solidFill>
                  <a:schemeClr val="tx1"/>
                </a:solidFill>
              </a:rPr>
              <a:t>Opex</a:t>
            </a:r>
            <a:r>
              <a:rPr lang="pt-BR" sz="1400" dirty="0">
                <a:solidFill>
                  <a:schemeClr val="tx1"/>
                </a:solidFill>
              </a:rPr>
              <a:t>. Para cada linha o líder do projeto deve informar o valor mensal que será desembolsado. Ao finalizar, deve-se clicar em ‘Salvar’.</a:t>
            </a:r>
          </a:p>
        </p:txBody>
      </p:sp>
    </p:spTree>
    <p:extLst>
      <p:ext uri="{BB962C8B-B14F-4D97-AF65-F5344CB8AC3E}">
        <p14:creationId xmlns:p14="http://schemas.microsoft.com/office/powerpoint/2010/main" val="2202271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7407317" y="141480"/>
            <a:ext cx="1617751" cy="338554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pt-BR" sz="1600" dirty="0">
                <a:latin typeface="Gill Sans Std Light" pitchFamily="34" charset="0"/>
              </a:rPr>
              <a:t>Riscos e Impactos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02" y="746425"/>
            <a:ext cx="4448175" cy="1485900"/>
          </a:xfrm>
          <a:prstGeom prst="rect">
            <a:avLst/>
          </a:prstGeom>
        </p:spPr>
      </p:pic>
      <p:sp>
        <p:nvSpPr>
          <p:cNvPr id="13" name="Seta para a direita 12"/>
          <p:cNvSpPr/>
          <p:nvPr/>
        </p:nvSpPr>
        <p:spPr>
          <a:xfrm rot="10800000">
            <a:off x="3119140" y="1016182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3166516" y="1000633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16" name="Seta para a direita 15"/>
          <p:cNvSpPr/>
          <p:nvPr/>
        </p:nvSpPr>
        <p:spPr>
          <a:xfrm rot="5400000">
            <a:off x="463561" y="1793254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476545" y="1770750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00" y="2301399"/>
            <a:ext cx="8863066" cy="2764392"/>
          </a:xfrm>
          <a:prstGeom prst="rect">
            <a:avLst/>
          </a:prstGeom>
        </p:spPr>
      </p:pic>
      <p:sp>
        <p:nvSpPr>
          <p:cNvPr id="18" name="Seta para a direita 17"/>
          <p:cNvSpPr/>
          <p:nvPr/>
        </p:nvSpPr>
        <p:spPr>
          <a:xfrm rot="5400000">
            <a:off x="454042" y="4394455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467026" y="4371951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9511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7047277" y="141480"/>
            <a:ext cx="1990160" cy="338554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pt-BR" sz="1600" dirty="0">
                <a:latin typeface="Gill Sans Std Light" pitchFamily="34" charset="0"/>
              </a:rPr>
              <a:t>Atuação em Aplicação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01" y="681541"/>
            <a:ext cx="2249760" cy="1881332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493" y="681540"/>
            <a:ext cx="5438775" cy="1123950"/>
          </a:xfrm>
          <a:prstGeom prst="rect">
            <a:avLst/>
          </a:prstGeom>
        </p:spPr>
      </p:pic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01" y="2804641"/>
            <a:ext cx="8875434" cy="1424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eta para a direita 6"/>
          <p:cNvSpPr/>
          <p:nvPr/>
        </p:nvSpPr>
        <p:spPr>
          <a:xfrm rot="10800000">
            <a:off x="2235184" y="2324505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2282560" y="2308957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9" name="Seta para a direita 8"/>
          <p:cNvSpPr/>
          <p:nvPr/>
        </p:nvSpPr>
        <p:spPr>
          <a:xfrm rot="5400000">
            <a:off x="2893831" y="1275965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2906815" y="1253461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sp>
        <p:nvSpPr>
          <p:cNvPr id="11" name="Seta para a direita 10"/>
          <p:cNvSpPr/>
          <p:nvPr/>
        </p:nvSpPr>
        <p:spPr>
          <a:xfrm rot="5400000">
            <a:off x="319027" y="3809390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332011" y="3786886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30582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2"/>
          <a:srcRect l="5636" t="16778" r="72573" b="53691"/>
          <a:stretch/>
        </p:blipFill>
        <p:spPr>
          <a:xfrm>
            <a:off x="162002" y="669057"/>
            <a:ext cx="2024735" cy="1542655"/>
          </a:xfrm>
          <a:prstGeom prst="rect">
            <a:avLst/>
          </a:prstGeom>
        </p:spPr>
      </p:pic>
      <p:sp>
        <p:nvSpPr>
          <p:cNvPr id="88" name="Seta para a direita 87"/>
          <p:cNvSpPr/>
          <p:nvPr/>
        </p:nvSpPr>
        <p:spPr>
          <a:xfrm rot="5400000">
            <a:off x="475187" y="553192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89" name="CaixaDeTexto 88"/>
          <p:cNvSpPr txBox="1"/>
          <p:nvPr/>
        </p:nvSpPr>
        <p:spPr>
          <a:xfrm>
            <a:off x="488173" y="530688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91" name="Seta para a direita 90"/>
          <p:cNvSpPr/>
          <p:nvPr/>
        </p:nvSpPr>
        <p:spPr>
          <a:xfrm rot="10800000">
            <a:off x="1916705" y="1878732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93" name="CaixaDeTexto 92"/>
          <p:cNvSpPr txBox="1"/>
          <p:nvPr/>
        </p:nvSpPr>
        <p:spPr>
          <a:xfrm>
            <a:off x="1964080" y="1863184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3"/>
          <a:srcRect r="44313"/>
          <a:stretch/>
        </p:blipFill>
        <p:spPr>
          <a:xfrm>
            <a:off x="3266857" y="639443"/>
            <a:ext cx="5288273" cy="1209675"/>
          </a:xfrm>
          <a:prstGeom prst="rect">
            <a:avLst/>
          </a:prstGeom>
        </p:spPr>
      </p:pic>
      <p:sp>
        <p:nvSpPr>
          <p:cNvPr id="102" name="Seta para a direita 101"/>
          <p:cNvSpPr/>
          <p:nvPr/>
        </p:nvSpPr>
        <p:spPr>
          <a:xfrm rot="5400000">
            <a:off x="3514383" y="1292018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03" name="CaixaDeTexto 102"/>
          <p:cNvSpPr txBox="1"/>
          <p:nvPr/>
        </p:nvSpPr>
        <p:spPr>
          <a:xfrm>
            <a:off x="3527368" y="1269514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3</a:t>
            </a: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052" y="1899585"/>
            <a:ext cx="6753445" cy="193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Seta para a direita 11"/>
          <p:cNvSpPr/>
          <p:nvPr/>
        </p:nvSpPr>
        <p:spPr>
          <a:xfrm rot="5400000">
            <a:off x="2396081" y="3434949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2409067" y="3412444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4</a:t>
            </a:r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95" y="3967590"/>
            <a:ext cx="7121556" cy="1054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Seta para a direita 14"/>
          <p:cNvSpPr/>
          <p:nvPr/>
        </p:nvSpPr>
        <p:spPr>
          <a:xfrm rot="10800000">
            <a:off x="1464285" y="4783398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1511662" y="4767850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5022052" y="3539402"/>
            <a:ext cx="4005445" cy="1571976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Uma vez registrado o P1, Será encaminhado um item de ação para que ele seja enviado para aprovação. O P1 só será enviado para aprovação do PMO quando este item de ação for concluído. Em caso de necessidade de Reaprovação do P1, o processo deve ser refeito. A linha de base do projeto será registrada com base nas informações do P1.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407316" y="141480"/>
            <a:ext cx="391454" cy="338554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pt-BR" sz="1600" dirty="0">
                <a:latin typeface="Gill Sans Std Light" pitchFamily="34" charset="0"/>
              </a:rPr>
              <a:t>P1</a:t>
            </a:r>
          </a:p>
        </p:txBody>
      </p:sp>
    </p:spTree>
    <p:extLst>
      <p:ext uri="{BB962C8B-B14F-4D97-AF65-F5344CB8AC3E}">
        <p14:creationId xmlns:p14="http://schemas.microsoft.com/office/powerpoint/2010/main" val="85521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/>
          <p:cNvGrpSpPr/>
          <p:nvPr/>
        </p:nvGrpSpPr>
        <p:grpSpPr>
          <a:xfrm>
            <a:off x="3881352" y="594445"/>
            <a:ext cx="340158" cy="450050"/>
            <a:chOff x="3814313" y="816555"/>
            <a:chExt cx="340158" cy="450050"/>
          </a:xfrm>
        </p:grpSpPr>
        <p:sp>
          <p:nvSpPr>
            <p:cNvPr id="3" name="CaixaDeTexto 53"/>
            <p:cNvSpPr txBox="1"/>
            <p:nvPr/>
          </p:nvSpPr>
          <p:spPr>
            <a:xfrm>
              <a:off x="3814313" y="81655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P0</a:t>
              </a:r>
            </a:p>
          </p:txBody>
        </p:sp>
        <p:pic>
          <p:nvPicPr>
            <p:cNvPr id="4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2097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5" name="Conector de seta reta 65"/>
          <p:cNvCxnSpPr/>
          <p:nvPr/>
        </p:nvCxnSpPr>
        <p:spPr>
          <a:xfrm>
            <a:off x="791580" y="2664673"/>
            <a:ext cx="8352420" cy="0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02737"/>
              </p:ext>
            </p:extLst>
          </p:nvPr>
        </p:nvGraphicFramePr>
        <p:xfrm>
          <a:off x="926599" y="1089500"/>
          <a:ext cx="5742638" cy="2830721"/>
        </p:xfrm>
        <a:graphic>
          <a:graphicData uri="http://schemas.openxmlformats.org/drawingml/2006/table">
            <a:tbl>
              <a:tblPr/>
              <a:tblGrid>
                <a:gridCol w="522058"/>
                <a:gridCol w="522058"/>
                <a:gridCol w="522058"/>
                <a:gridCol w="522058"/>
                <a:gridCol w="522058"/>
                <a:gridCol w="522058"/>
                <a:gridCol w="522058"/>
                <a:gridCol w="522058"/>
                <a:gridCol w="522058"/>
                <a:gridCol w="522058"/>
                <a:gridCol w="522058"/>
              </a:tblGrid>
              <a:tr h="1572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Briefing </a:t>
                      </a: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Diagrama de Sequência (Processo Negócio)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Matriz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Requisitos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Esboço da Solução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Matriz de Requisitos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Estimativa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Prazo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e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Custo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P0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Matriz de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1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Requisitos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e </a:t>
                      </a:r>
                      <a:r>
                        <a:rPr lang="en-US" sz="11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Estimativa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en-US" sz="11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Funcionalidades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Desenho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Arquitetura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da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Solução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(DAS)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Modelo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Custos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Propostas Técnicas Fornecedores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Estimativa de Prazo e Custo P1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58459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noProof="0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56" name="Group 85"/>
          <p:cNvGrpSpPr/>
          <p:nvPr/>
        </p:nvGrpSpPr>
        <p:grpSpPr>
          <a:xfrm>
            <a:off x="2836692" y="594445"/>
            <a:ext cx="352982" cy="450050"/>
            <a:chOff x="3491880" y="816555"/>
            <a:chExt cx="352981" cy="450050"/>
          </a:xfrm>
        </p:grpSpPr>
        <p:sp>
          <p:nvSpPr>
            <p:cNvPr id="57" name="CaixaDeTexto 53"/>
            <p:cNvSpPr txBox="1"/>
            <p:nvPr/>
          </p:nvSpPr>
          <p:spPr>
            <a:xfrm>
              <a:off x="3491880" y="816555"/>
              <a:ext cx="3529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YP</a:t>
              </a:r>
            </a:p>
          </p:txBody>
        </p:sp>
        <p:pic>
          <p:nvPicPr>
            <p:cNvPr id="60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9664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66" name="Group 85"/>
          <p:cNvGrpSpPr/>
          <p:nvPr/>
        </p:nvGrpSpPr>
        <p:grpSpPr>
          <a:xfrm>
            <a:off x="1241632" y="456517"/>
            <a:ext cx="405025" cy="587978"/>
            <a:chOff x="2527833" y="678627"/>
            <a:chExt cx="405025" cy="587978"/>
          </a:xfrm>
        </p:grpSpPr>
        <p:sp>
          <p:nvSpPr>
            <p:cNvPr id="70" name="CaixaDeTexto 53"/>
            <p:cNvSpPr txBox="1"/>
            <p:nvPr/>
          </p:nvSpPr>
          <p:spPr>
            <a:xfrm>
              <a:off x="2527833" y="678627"/>
              <a:ext cx="4050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Prior</a:t>
              </a:r>
            </a:p>
            <a:p>
              <a:r>
                <a:rPr lang="pt-BR" sz="800" dirty="0"/>
                <a:t>Dem.</a:t>
              </a:r>
            </a:p>
          </p:txBody>
        </p:sp>
        <p:pic>
          <p:nvPicPr>
            <p:cNvPr id="71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4539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40" name="Group 88"/>
          <p:cNvGrpSpPr/>
          <p:nvPr/>
        </p:nvGrpSpPr>
        <p:grpSpPr>
          <a:xfrm>
            <a:off x="2119141" y="2822315"/>
            <a:ext cx="323621" cy="205203"/>
            <a:chOff x="1849113" y="2976795"/>
            <a:chExt cx="323621" cy="205203"/>
          </a:xfrm>
        </p:grpSpPr>
        <p:pic>
          <p:nvPicPr>
            <p:cNvPr id="41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9113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CaixaDeTexto 41"/>
            <p:cNvSpPr txBox="1"/>
            <p:nvPr/>
          </p:nvSpPr>
          <p:spPr>
            <a:xfrm>
              <a:off x="1898300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43" name="Group 92"/>
          <p:cNvGrpSpPr/>
          <p:nvPr/>
        </p:nvGrpSpPr>
        <p:grpSpPr>
          <a:xfrm>
            <a:off x="2640964" y="2822315"/>
            <a:ext cx="323622" cy="205203"/>
            <a:chOff x="2366755" y="2976795"/>
            <a:chExt cx="323622" cy="205203"/>
          </a:xfrm>
        </p:grpSpPr>
        <p:pic>
          <p:nvPicPr>
            <p:cNvPr id="44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675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CaixaDeTexto 87"/>
            <p:cNvSpPr txBox="1"/>
            <p:nvPr/>
          </p:nvSpPr>
          <p:spPr>
            <a:xfrm>
              <a:off x="2415943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47" name="Group 90"/>
          <p:cNvGrpSpPr/>
          <p:nvPr/>
        </p:nvGrpSpPr>
        <p:grpSpPr>
          <a:xfrm>
            <a:off x="3694662" y="2822315"/>
            <a:ext cx="323621" cy="205203"/>
            <a:chOff x="3356865" y="2976795"/>
            <a:chExt cx="323621" cy="205203"/>
          </a:xfrm>
        </p:grpSpPr>
        <p:pic>
          <p:nvPicPr>
            <p:cNvPr id="50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54" name="Group 89"/>
          <p:cNvGrpSpPr/>
          <p:nvPr/>
        </p:nvGrpSpPr>
        <p:grpSpPr>
          <a:xfrm>
            <a:off x="3131592" y="2802283"/>
            <a:ext cx="353795" cy="245267"/>
            <a:chOff x="2861810" y="2976795"/>
            <a:chExt cx="353795" cy="245267"/>
          </a:xfrm>
        </p:grpSpPr>
        <p:pic>
          <p:nvPicPr>
            <p:cNvPr id="55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810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327" y="3031789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CaixaDeTexto 83"/>
            <p:cNvSpPr txBox="1"/>
            <p:nvPr/>
          </p:nvSpPr>
          <p:spPr>
            <a:xfrm>
              <a:off x="2941171" y="3022007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V2</a:t>
              </a:r>
            </a:p>
          </p:txBody>
        </p:sp>
      </p:grpSp>
      <p:grpSp>
        <p:nvGrpSpPr>
          <p:cNvPr id="64" name="Group 89"/>
          <p:cNvGrpSpPr/>
          <p:nvPr/>
        </p:nvGrpSpPr>
        <p:grpSpPr>
          <a:xfrm>
            <a:off x="4202083" y="2798219"/>
            <a:ext cx="364792" cy="253395"/>
            <a:chOff x="2861810" y="2973469"/>
            <a:chExt cx="364792" cy="253395"/>
          </a:xfrm>
        </p:grpSpPr>
        <p:pic>
          <p:nvPicPr>
            <p:cNvPr id="65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810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327" y="3031789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CaixaDeTexto 83"/>
            <p:cNvSpPr txBox="1"/>
            <p:nvPr/>
          </p:nvSpPr>
          <p:spPr>
            <a:xfrm>
              <a:off x="2952168" y="2973469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V3</a:t>
              </a:r>
            </a:p>
          </p:txBody>
        </p:sp>
        <p:pic>
          <p:nvPicPr>
            <p:cNvPr id="69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9292" y="3082864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6" name="Group 90"/>
          <p:cNvGrpSpPr/>
          <p:nvPr/>
        </p:nvGrpSpPr>
        <p:grpSpPr>
          <a:xfrm>
            <a:off x="4735483" y="2822315"/>
            <a:ext cx="323621" cy="205203"/>
            <a:chOff x="3356865" y="2976795"/>
            <a:chExt cx="323621" cy="205203"/>
          </a:xfrm>
        </p:grpSpPr>
        <p:pic>
          <p:nvPicPr>
            <p:cNvPr id="77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8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79" name="Group 90"/>
          <p:cNvGrpSpPr/>
          <p:nvPr/>
        </p:nvGrpSpPr>
        <p:grpSpPr>
          <a:xfrm>
            <a:off x="5235839" y="2822315"/>
            <a:ext cx="323621" cy="205203"/>
            <a:chOff x="3356865" y="2976795"/>
            <a:chExt cx="323621" cy="205203"/>
          </a:xfrm>
        </p:grpSpPr>
        <p:pic>
          <p:nvPicPr>
            <p:cNvPr id="80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1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82" name="Group 90"/>
          <p:cNvGrpSpPr/>
          <p:nvPr/>
        </p:nvGrpSpPr>
        <p:grpSpPr>
          <a:xfrm>
            <a:off x="5815928" y="2822315"/>
            <a:ext cx="323621" cy="205203"/>
            <a:chOff x="3356865" y="2976795"/>
            <a:chExt cx="323621" cy="205203"/>
          </a:xfrm>
        </p:grpSpPr>
        <p:pic>
          <p:nvPicPr>
            <p:cNvPr id="83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4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6293600" y="2822315"/>
            <a:ext cx="323621" cy="205203"/>
            <a:chOff x="3356865" y="2976795"/>
            <a:chExt cx="323621" cy="205203"/>
          </a:xfrm>
        </p:grpSpPr>
        <p:pic>
          <p:nvPicPr>
            <p:cNvPr id="92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4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95" name="Grupo 31"/>
          <p:cNvGrpSpPr/>
          <p:nvPr/>
        </p:nvGrpSpPr>
        <p:grpSpPr>
          <a:xfrm>
            <a:off x="73948" y="3166399"/>
            <a:ext cx="9070052" cy="710498"/>
            <a:chOff x="71500" y="2796775"/>
            <a:chExt cx="7811574" cy="710498"/>
          </a:xfrm>
        </p:grpSpPr>
        <p:sp>
          <p:nvSpPr>
            <p:cNvPr id="96" name="CaixaDeTexto 2"/>
            <p:cNvSpPr txBox="1"/>
            <p:nvPr/>
          </p:nvSpPr>
          <p:spPr>
            <a:xfrm>
              <a:off x="71500" y="2873488"/>
              <a:ext cx="6960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rgbClr val="0070C0"/>
                  </a:solidFill>
                </a:rPr>
                <a:t>Atuação</a:t>
              </a:r>
            </a:p>
          </p:txBody>
        </p:sp>
        <p:cxnSp>
          <p:nvCxnSpPr>
            <p:cNvPr id="97" name="Conector reto 25"/>
            <p:cNvCxnSpPr/>
            <p:nvPr/>
          </p:nvCxnSpPr>
          <p:spPr>
            <a:xfrm>
              <a:off x="135801" y="2796775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to 113"/>
            <p:cNvCxnSpPr/>
            <p:nvPr/>
          </p:nvCxnSpPr>
          <p:spPr>
            <a:xfrm>
              <a:off x="161510" y="3507273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CaixaDeTexto 98"/>
          <p:cNvSpPr txBox="1"/>
          <p:nvPr/>
        </p:nvSpPr>
        <p:spPr>
          <a:xfrm>
            <a:off x="959664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0" name="CaixaDeTexto 99"/>
          <p:cNvSpPr txBox="1"/>
          <p:nvPr/>
        </p:nvSpPr>
        <p:spPr>
          <a:xfrm>
            <a:off x="1499724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1" name="CaixaDeTexto 100"/>
          <p:cNvSpPr txBox="1"/>
          <p:nvPr/>
        </p:nvSpPr>
        <p:spPr>
          <a:xfrm>
            <a:off x="1994781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2583665" y="3201197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2521566" y="3391658"/>
            <a:ext cx="502061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ARQ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2478190" y="3606242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087718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2988460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20" name="CaixaDeTexto 119"/>
          <p:cNvSpPr txBox="1"/>
          <p:nvPr/>
        </p:nvSpPr>
        <p:spPr>
          <a:xfrm>
            <a:off x="4575538" y="3387092"/>
            <a:ext cx="502061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ARQ</a:t>
            </a:r>
          </a:p>
        </p:txBody>
      </p:sp>
      <p:sp>
        <p:nvSpPr>
          <p:cNvPr id="121" name="CaixaDeTexto 120"/>
          <p:cNvSpPr txBox="1"/>
          <p:nvPr/>
        </p:nvSpPr>
        <p:spPr>
          <a:xfrm>
            <a:off x="5086048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grpSp>
        <p:nvGrpSpPr>
          <p:cNvPr id="103" name="Group 86"/>
          <p:cNvGrpSpPr/>
          <p:nvPr/>
        </p:nvGrpSpPr>
        <p:grpSpPr>
          <a:xfrm>
            <a:off x="6507210" y="594445"/>
            <a:ext cx="340158" cy="450050"/>
            <a:chOff x="4941521" y="816555"/>
            <a:chExt cx="340157" cy="450050"/>
          </a:xfrm>
        </p:grpSpPr>
        <p:sp>
          <p:nvSpPr>
            <p:cNvPr id="104" name="CaixaDeTexto 53"/>
            <p:cNvSpPr txBox="1"/>
            <p:nvPr/>
          </p:nvSpPr>
          <p:spPr>
            <a:xfrm>
              <a:off x="4941521" y="816555"/>
              <a:ext cx="3401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P1</a:t>
              </a:r>
            </a:p>
          </p:txBody>
        </p:sp>
        <p:pic>
          <p:nvPicPr>
            <p:cNvPr id="105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9305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31" name="CaixaDeTexto 130"/>
          <p:cNvSpPr txBox="1"/>
          <p:nvPr/>
        </p:nvSpPr>
        <p:spPr>
          <a:xfrm>
            <a:off x="3591139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32" name="CaixaDeTexto 131"/>
          <p:cNvSpPr txBox="1"/>
          <p:nvPr/>
        </p:nvSpPr>
        <p:spPr>
          <a:xfrm>
            <a:off x="3491881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33" name="CaixaDeTexto 132"/>
          <p:cNvSpPr txBox="1"/>
          <p:nvPr/>
        </p:nvSpPr>
        <p:spPr>
          <a:xfrm>
            <a:off x="4131199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34" name="CaixaDeTexto 133"/>
          <p:cNvSpPr txBox="1"/>
          <p:nvPr/>
        </p:nvSpPr>
        <p:spPr>
          <a:xfrm>
            <a:off x="4031941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35" name="CaixaDeTexto 134"/>
          <p:cNvSpPr txBox="1"/>
          <p:nvPr/>
        </p:nvSpPr>
        <p:spPr>
          <a:xfrm>
            <a:off x="5683402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36" name="CaixaDeTexto 135"/>
          <p:cNvSpPr txBox="1"/>
          <p:nvPr/>
        </p:nvSpPr>
        <p:spPr>
          <a:xfrm>
            <a:off x="5584144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37" name="CaixaDeTexto 136"/>
          <p:cNvSpPr txBox="1"/>
          <p:nvPr/>
        </p:nvSpPr>
        <p:spPr>
          <a:xfrm>
            <a:off x="6201430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38" name="CaixaDeTexto 137"/>
          <p:cNvSpPr txBox="1"/>
          <p:nvPr/>
        </p:nvSpPr>
        <p:spPr>
          <a:xfrm>
            <a:off x="6102172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93" name="CaixaDeTexto 53"/>
          <p:cNvSpPr txBox="1"/>
          <p:nvPr/>
        </p:nvSpPr>
        <p:spPr>
          <a:xfrm>
            <a:off x="2726797" y="4317066"/>
            <a:ext cx="579005" cy="46166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CORE</a:t>
            </a:r>
          </a:p>
          <a:p>
            <a:r>
              <a:rPr lang="pt-BR" sz="1200" dirty="0"/>
              <a:t>TEAM</a:t>
            </a:r>
          </a:p>
        </p:txBody>
      </p:sp>
      <p:pic>
        <p:nvPicPr>
          <p:cNvPr id="102" name="Picture 38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912147" y="4011286"/>
            <a:ext cx="207895" cy="264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3788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5" y="1061334"/>
            <a:ext cx="9089567" cy="4030696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6777247" y="3381842"/>
            <a:ext cx="495055" cy="4950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26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760126"/>
              </p:ext>
            </p:extLst>
          </p:nvPr>
        </p:nvGraphicFramePr>
        <p:xfrm>
          <a:off x="1736686" y="636536"/>
          <a:ext cx="7155794" cy="4410489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125124"/>
                <a:gridCol w="6030670"/>
              </a:tblGrid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O que é</a:t>
                      </a:r>
                      <a:endParaRPr lang="pt-BR" sz="1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É o processo de execução da demanda. Nessa</a:t>
                      </a:r>
                      <a:r>
                        <a:rPr lang="pt-BR" sz="1800" baseline="0" dirty="0" smtClean="0"/>
                        <a:t> etapa, efetivamente são criadas as especificações técnicas das demandas e é realizado o processo de construção da solução.</a:t>
                      </a:r>
                      <a:endParaRPr lang="pt-BR" sz="1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Quem faz</a:t>
                      </a:r>
                      <a:endParaRPr lang="pt-BR" sz="1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Líder da Demanda (Aplicações</a:t>
                      </a:r>
                      <a:r>
                        <a:rPr lang="pt-BR" sz="1800" baseline="0" dirty="0" smtClean="0"/>
                        <a:t> e Infraestrutura)</a:t>
                      </a:r>
                      <a:endParaRPr lang="pt-BR" sz="18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1470163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Como faz</a:t>
                      </a:r>
                      <a:endParaRPr lang="pt-BR" sz="1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Através da execução da demanda, atualização do cronograma no Clarity, inclusão</a:t>
                      </a:r>
                      <a:r>
                        <a:rPr lang="pt-BR" sz="1800" baseline="0" dirty="0" smtClean="0"/>
                        <a:t> de relatórios de status</a:t>
                      </a:r>
                      <a:endParaRPr lang="pt-BR" sz="1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Elipse 9"/>
          <p:cNvSpPr/>
          <p:nvPr/>
        </p:nvSpPr>
        <p:spPr bwMode="auto">
          <a:xfrm>
            <a:off x="457219" y="800517"/>
            <a:ext cx="720000" cy="720000"/>
          </a:xfrm>
          <a:prstGeom prst="ellipse">
            <a:avLst/>
          </a:prstGeom>
          <a:solidFill>
            <a:srgbClr val="FFFFFF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36" tIns="45718" rIns="91436" bIns="45718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BR" sz="36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62001" y="1681874"/>
            <a:ext cx="1222514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ctr"/>
            <a:r>
              <a:rPr lang="pt-BR" sz="1600" dirty="0">
                <a:latin typeface="Gill Sans Std Light" pitchFamily="34" charset="0"/>
              </a:rPr>
              <a:t>Especificar e </a:t>
            </a:r>
          </a:p>
          <a:p>
            <a:pPr algn="ctr"/>
            <a:r>
              <a:rPr lang="pt-BR" sz="1600" dirty="0">
                <a:latin typeface="Gill Sans Std Light" pitchFamily="34" charset="0"/>
              </a:rPr>
              <a:t>construir</a:t>
            </a:r>
          </a:p>
        </p:txBody>
      </p:sp>
      <p:pic>
        <p:nvPicPr>
          <p:cNvPr id="12" name="Picture 13" descr="E:\Users\br93163\Downloads\Icones\spanner3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55" y="961873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390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tângulo de cantos arredondados 58"/>
          <p:cNvSpPr/>
          <p:nvPr>
            <p:custDataLst>
              <p:tags r:id="rId1"/>
            </p:custDataLst>
          </p:nvPr>
        </p:nvSpPr>
        <p:spPr>
          <a:xfrm>
            <a:off x="239538" y="2310366"/>
            <a:ext cx="8642350" cy="1791556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58" name="Retângulo de cantos arredondados 57"/>
          <p:cNvSpPr/>
          <p:nvPr>
            <p:custDataLst>
              <p:tags r:id="rId2"/>
            </p:custDataLst>
          </p:nvPr>
        </p:nvSpPr>
        <p:spPr>
          <a:xfrm>
            <a:off x="239538" y="654904"/>
            <a:ext cx="8642350" cy="1655460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16" name="Retângulo de cantos arredondados 15"/>
          <p:cNvSpPr/>
          <p:nvPr>
            <p:custDataLst>
              <p:tags r:id="rId3"/>
            </p:custDataLst>
          </p:nvPr>
        </p:nvSpPr>
        <p:spPr>
          <a:xfrm>
            <a:off x="239540" y="657492"/>
            <a:ext cx="372021" cy="1652873"/>
          </a:xfrm>
          <a:prstGeom prst="roundRect">
            <a:avLst>
              <a:gd name="adj" fmla="val 8431"/>
            </a:avLst>
          </a:prstGeom>
          <a:solidFill>
            <a:srgbClr val="FF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cs typeface="Arial" pitchFamily="34" charset="0"/>
              </a:rPr>
              <a:t>DA</a:t>
            </a:r>
          </a:p>
        </p:txBody>
      </p:sp>
      <p:sp>
        <p:nvSpPr>
          <p:cNvPr id="18" name="Retângulo de cantos arredondados 17"/>
          <p:cNvSpPr/>
          <p:nvPr>
            <p:custDataLst>
              <p:tags r:id="rId4"/>
            </p:custDataLst>
          </p:nvPr>
        </p:nvSpPr>
        <p:spPr>
          <a:xfrm>
            <a:off x="239540" y="2310364"/>
            <a:ext cx="372021" cy="1791557"/>
          </a:xfrm>
          <a:prstGeom prst="roundRect">
            <a:avLst>
              <a:gd name="adj" fmla="val 8431"/>
            </a:avLst>
          </a:prstGeom>
          <a:solidFill>
            <a:srgbClr val="FEEACB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36" tIns="45718" rIns="91436" bIns="45718"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cs typeface="Arial" pitchFamily="34" charset="0"/>
              </a:rPr>
              <a:t>Projetos de Infraestrutura</a:t>
            </a:r>
          </a:p>
        </p:txBody>
      </p:sp>
      <p:sp>
        <p:nvSpPr>
          <p:cNvPr id="51" name="Elipse 50"/>
          <p:cNvSpPr/>
          <p:nvPr>
            <p:custDataLst>
              <p:tags r:id="rId5"/>
            </p:custDataLst>
          </p:nvPr>
        </p:nvSpPr>
        <p:spPr>
          <a:xfrm>
            <a:off x="656565" y="1436239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10</a:t>
            </a:r>
          </a:p>
        </p:txBody>
      </p:sp>
      <p:sp>
        <p:nvSpPr>
          <p:cNvPr id="53" name="Retângulo 52"/>
          <p:cNvSpPr/>
          <p:nvPr>
            <p:custDataLst>
              <p:tags r:id="rId6"/>
            </p:custDataLst>
          </p:nvPr>
        </p:nvSpPr>
        <p:spPr>
          <a:xfrm>
            <a:off x="2057844" y="729536"/>
            <a:ext cx="828000" cy="55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Realizar contratação de fornecedores</a:t>
            </a:r>
          </a:p>
        </p:txBody>
      </p:sp>
      <p:sp>
        <p:nvSpPr>
          <p:cNvPr id="30" name="Retângulo 29"/>
          <p:cNvSpPr/>
          <p:nvPr>
            <p:custDataLst>
              <p:tags r:id="rId7"/>
            </p:custDataLst>
          </p:nvPr>
        </p:nvSpPr>
        <p:spPr>
          <a:xfrm>
            <a:off x="3080942" y="729536"/>
            <a:ext cx="828000" cy="55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Desenvolver especificação técnica</a:t>
            </a:r>
          </a:p>
        </p:txBody>
      </p:sp>
      <p:sp>
        <p:nvSpPr>
          <p:cNvPr id="31" name="Retângulo 30"/>
          <p:cNvSpPr/>
          <p:nvPr>
            <p:custDataLst>
              <p:tags r:id="rId8"/>
            </p:custDataLst>
          </p:nvPr>
        </p:nvSpPr>
        <p:spPr>
          <a:xfrm>
            <a:off x="4104040" y="729536"/>
            <a:ext cx="828000" cy="55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Desenvolver solução</a:t>
            </a:r>
          </a:p>
        </p:txBody>
      </p:sp>
      <p:sp>
        <p:nvSpPr>
          <p:cNvPr id="32" name="Retângulo 31"/>
          <p:cNvSpPr/>
          <p:nvPr>
            <p:custDataLst>
              <p:tags r:id="rId9"/>
            </p:custDataLst>
          </p:nvPr>
        </p:nvSpPr>
        <p:spPr>
          <a:xfrm>
            <a:off x="2067898" y="1364309"/>
            <a:ext cx="4800877" cy="3665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Atualizar cronograma</a:t>
            </a:r>
          </a:p>
        </p:txBody>
      </p:sp>
      <p:cxnSp>
        <p:nvCxnSpPr>
          <p:cNvPr id="5" name="Conector de seta reta 4"/>
          <p:cNvCxnSpPr>
            <a:stCxn id="53" idx="3"/>
            <a:endCxn id="30" idx="1"/>
          </p:cNvCxnSpPr>
          <p:nvPr/>
        </p:nvCxnSpPr>
        <p:spPr>
          <a:xfrm>
            <a:off x="2885845" y="1005199"/>
            <a:ext cx="19509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>
            <a:stCxn id="30" idx="3"/>
            <a:endCxn id="31" idx="1"/>
          </p:cNvCxnSpPr>
          <p:nvPr/>
        </p:nvCxnSpPr>
        <p:spPr>
          <a:xfrm>
            <a:off x="3908944" y="1005199"/>
            <a:ext cx="19509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51" idx="6"/>
            <a:endCxn id="65" idx="1"/>
          </p:cNvCxnSpPr>
          <p:nvPr/>
        </p:nvCxnSpPr>
        <p:spPr>
          <a:xfrm>
            <a:off x="872565" y="1544241"/>
            <a:ext cx="126070" cy="13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ipse 54"/>
          <p:cNvSpPr/>
          <p:nvPr>
            <p:custDataLst>
              <p:tags r:id="rId10"/>
            </p:custDataLst>
          </p:nvPr>
        </p:nvSpPr>
        <p:spPr>
          <a:xfrm>
            <a:off x="7780857" y="1436239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12</a:t>
            </a:r>
          </a:p>
        </p:txBody>
      </p:sp>
      <p:sp>
        <p:nvSpPr>
          <p:cNvPr id="65" name="Losango 64"/>
          <p:cNvSpPr/>
          <p:nvPr/>
        </p:nvSpPr>
        <p:spPr>
          <a:xfrm>
            <a:off x="998635" y="1401620"/>
            <a:ext cx="288000" cy="28800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OU</a:t>
            </a:r>
          </a:p>
        </p:txBody>
      </p:sp>
      <p:cxnSp>
        <p:nvCxnSpPr>
          <p:cNvPr id="7173" name="Conector angulado 7172"/>
          <p:cNvCxnSpPr>
            <a:stCxn id="65" idx="2"/>
          </p:cNvCxnSpPr>
          <p:nvPr/>
        </p:nvCxnSpPr>
        <p:spPr>
          <a:xfrm rot="16200000" flipH="1">
            <a:off x="441603" y="2390653"/>
            <a:ext cx="1651294" cy="24923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>
            <p:custDataLst>
              <p:tags r:id="rId11"/>
            </p:custDataLst>
          </p:nvPr>
        </p:nvSpPr>
        <p:spPr>
          <a:xfrm>
            <a:off x="2067898" y="1822009"/>
            <a:ext cx="4800877" cy="3665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Incluir relatórios de status</a:t>
            </a:r>
          </a:p>
        </p:txBody>
      </p:sp>
      <p:sp>
        <p:nvSpPr>
          <p:cNvPr id="66" name="CaixaDeTexto 65"/>
          <p:cNvSpPr txBox="1"/>
          <p:nvPr/>
        </p:nvSpPr>
        <p:spPr>
          <a:xfrm>
            <a:off x="7444942" y="6755"/>
            <a:ext cx="1222514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Especificar e </a:t>
            </a:r>
          </a:p>
          <a:p>
            <a:r>
              <a:rPr lang="pt-BR" sz="1600" dirty="0">
                <a:latin typeface="Gill Sans Std Light" pitchFamily="34" charset="0"/>
              </a:rPr>
              <a:t>construir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6868775" y="45719"/>
            <a:ext cx="506437" cy="506437"/>
            <a:chOff x="7170455" y="-896676"/>
            <a:chExt cx="720000" cy="720000"/>
          </a:xfrm>
        </p:grpSpPr>
        <p:sp>
          <p:nvSpPr>
            <p:cNvPr id="64" name="Elipse 63"/>
            <p:cNvSpPr/>
            <p:nvPr/>
          </p:nvSpPr>
          <p:spPr bwMode="auto">
            <a:xfrm>
              <a:off x="7170455" y="-896676"/>
              <a:ext cx="720000" cy="720000"/>
            </a:xfrm>
            <a:prstGeom prst="ellipse">
              <a:avLst/>
            </a:prstGeom>
            <a:solidFill>
              <a:srgbClr val="FFFFFF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67" name="Picture 13" descr="E:\Users\br93163\Downloads\Icones\spanner32.png"/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47391" y="-735320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3" name="Losango 72"/>
          <p:cNvSpPr/>
          <p:nvPr/>
        </p:nvSpPr>
        <p:spPr>
          <a:xfrm>
            <a:off x="1448685" y="1401620"/>
            <a:ext cx="288000" cy="28800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E</a:t>
            </a:r>
          </a:p>
        </p:txBody>
      </p:sp>
      <p:cxnSp>
        <p:nvCxnSpPr>
          <p:cNvPr id="12" name="Conector angulado 11"/>
          <p:cNvCxnSpPr>
            <a:stCxn id="73" idx="0"/>
            <a:endCxn id="53" idx="1"/>
          </p:cNvCxnSpPr>
          <p:nvPr/>
        </p:nvCxnSpPr>
        <p:spPr>
          <a:xfrm rot="5400000" flipH="1" flipV="1">
            <a:off x="1627056" y="970832"/>
            <a:ext cx="396421" cy="465159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angulado 14"/>
          <p:cNvCxnSpPr>
            <a:stCxn id="73" idx="3"/>
            <a:endCxn id="32" idx="1"/>
          </p:cNvCxnSpPr>
          <p:nvPr/>
        </p:nvCxnSpPr>
        <p:spPr>
          <a:xfrm>
            <a:off x="1736687" y="1545620"/>
            <a:ext cx="331211" cy="1965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angulado 20"/>
          <p:cNvCxnSpPr>
            <a:stCxn id="73" idx="2"/>
            <a:endCxn id="56" idx="1"/>
          </p:cNvCxnSpPr>
          <p:nvPr/>
        </p:nvCxnSpPr>
        <p:spPr>
          <a:xfrm rot="16200000" flipH="1">
            <a:off x="1672460" y="1609848"/>
            <a:ext cx="315665" cy="475211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65" idx="3"/>
            <a:endCxn id="73" idx="1"/>
          </p:cNvCxnSpPr>
          <p:nvPr/>
        </p:nvCxnSpPr>
        <p:spPr>
          <a:xfrm>
            <a:off x="1286635" y="1545620"/>
            <a:ext cx="1620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Losango 88"/>
          <p:cNvSpPr/>
          <p:nvPr/>
        </p:nvSpPr>
        <p:spPr>
          <a:xfrm>
            <a:off x="7207031" y="1404300"/>
            <a:ext cx="288000" cy="28800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E</a:t>
            </a:r>
          </a:p>
        </p:txBody>
      </p:sp>
      <p:cxnSp>
        <p:nvCxnSpPr>
          <p:cNvPr id="27" name="Conector angulado 26"/>
          <p:cNvCxnSpPr>
            <a:stCxn id="111" idx="3"/>
            <a:endCxn id="89" idx="0"/>
          </p:cNvCxnSpPr>
          <p:nvPr/>
        </p:nvCxnSpPr>
        <p:spPr>
          <a:xfrm>
            <a:off x="6884822" y="980631"/>
            <a:ext cx="466209" cy="423671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angulado 32"/>
          <p:cNvCxnSpPr>
            <a:stCxn id="32" idx="3"/>
            <a:endCxn id="89" idx="1"/>
          </p:cNvCxnSpPr>
          <p:nvPr/>
        </p:nvCxnSpPr>
        <p:spPr>
          <a:xfrm>
            <a:off x="6868774" y="1547587"/>
            <a:ext cx="338258" cy="715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angulado 34"/>
          <p:cNvCxnSpPr>
            <a:stCxn id="56" idx="3"/>
            <a:endCxn id="89" idx="2"/>
          </p:cNvCxnSpPr>
          <p:nvPr/>
        </p:nvCxnSpPr>
        <p:spPr>
          <a:xfrm flipV="1">
            <a:off x="6868774" y="1692302"/>
            <a:ext cx="482258" cy="31298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89" idx="3"/>
            <a:endCxn id="55" idx="2"/>
          </p:cNvCxnSpPr>
          <p:nvPr/>
        </p:nvCxnSpPr>
        <p:spPr>
          <a:xfrm flipV="1">
            <a:off x="7495032" y="1544241"/>
            <a:ext cx="285826" cy="40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tângulo 89"/>
          <p:cNvSpPr/>
          <p:nvPr>
            <p:custDataLst>
              <p:tags r:id="rId12"/>
            </p:custDataLst>
          </p:nvPr>
        </p:nvSpPr>
        <p:spPr>
          <a:xfrm>
            <a:off x="2075814" y="2507882"/>
            <a:ext cx="828000" cy="55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Realizar contratação de fornecedores</a:t>
            </a:r>
          </a:p>
        </p:txBody>
      </p:sp>
      <p:sp>
        <p:nvSpPr>
          <p:cNvPr id="91" name="Retângulo 90"/>
          <p:cNvSpPr/>
          <p:nvPr>
            <p:custDataLst>
              <p:tags r:id="rId13"/>
            </p:custDataLst>
          </p:nvPr>
        </p:nvSpPr>
        <p:spPr>
          <a:xfrm>
            <a:off x="3098912" y="2507882"/>
            <a:ext cx="828000" cy="55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Desenvolver especificação técnica</a:t>
            </a:r>
          </a:p>
        </p:txBody>
      </p:sp>
      <p:sp>
        <p:nvSpPr>
          <p:cNvPr id="92" name="Retângulo 91"/>
          <p:cNvSpPr/>
          <p:nvPr>
            <p:custDataLst>
              <p:tags r:id="rId14"/>
            </p:custDataLst>
          </p:nvPr>
        </p:nvSpPr>
        <p:spPr>
          <a:xfrm>
            <a:off x="4122010" y="2507882"/>
            <a:ext cx="828000" cy="55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Desenvolver solução</a:t>
            </a:r>
          </a:p>
        </p:txBody>
      </p:sp>
      <p:sp>
        <p:nvSpPr>
          <p:cNvPr id="93" name="Retângulo 92"/>
          <p:cNvSpPr/>
          <p:nvPr>
            <p:custDataLst>
              <p:tags r:id="rId15"/>
            </p:custDataLst>
          </p:nvPr>
        </p:nvSpPr>
        <p:spPr>
          <a:xfrm>
            <a:off x="2085868" y="3142653"/>
            <a:ext cx="4782907" cy="3665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Atualizar cronograma</a:t>
            </a:r>
          </a:p>
        </p:txBody>
      </p:sp>
      <p:cxnSp>
        <p:nvCxnSpPr>
          <p:cNvPr id="94" name="Conector de seta reta 93"/>
          <p:cNvCxnSpPr>
            <a:stCxn id="90" idx="3"/>
            <a:endCxn id="91" idx="1"/>
          </p:cNvCxnSpPr>
          <p:nvPr/>
        </p:nvCxnSpPr>
        <p:spPr>
          <a:xfrm>
            <a:off x="2903815" y="2783543"/>
            <a:ext cx="19509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de seta reta 94"/>
          <p:cNvCxnSpPr>
            <a:stCxn id="91" idx="3"/>
            <a:endCxn id="92" idx="1"/>
          </p:cNvCxnSpPr>
          <p:nvPr/>
        </p:nvCxnSpPr>
        <p:spPr>
          <a:xfrm>
            <a:off x="3926914" y="2783543"/>
            <a:ext cx="19509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Elipse 95"/>
          <p:cNvSpPr/>
          <p:nvPr>
            <p:custDataLst>
              <p:tags r:id="rId16"/>
            </p:custDataLst>
          </p:nvPr>
        </p:nvSpPr>
        <p:spPr>
          <a:xfrm>
            <a:off x="7756116" y="3214583"/>
            <a:ext cx="216000" cy="216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12</a:t>
            </a:r>
          </a:p>
        </p:txBody>
      </p:sp>
      <p:sp>
        <p:nvSpPr>
          <p:cNvPr id="100" name="Retângulo 99"/>
          <p:cNvSpPr/>
          <p:nvPr>
            <p:custDataLst>
              <p:tags r:id="rId17"/>
            </p:custDataLst>
          </p:nvPr>
        </p:nvSpPr>
        <p:spPr>
          <a:xfrm>
            <a:off x="2085866" y="3600353"/>
            <a:ext cx="4798956" cy="3665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Incluir relatórios de status</a:t>
            </a:r>
          </a:p>
        </p:txBody>
      </p:sp>
      <p:sp>
        <p:nvSpPr>
          <p:cNvPr id="101" name="Losango 100"/>
          <p:cNvSpPr/>
          <p:nvPr/>
        </p:nvSpPr>
        <p:spPr>
          <a:xfrm>
            <a:off x="1466655" y="3179964"/>
            <a:ext cx="288000" cy="28800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E</a:t>
            </a:r>
          </a:p>
        </p:txBody>
      </p:sp>
      <p:cxnSp>
        <p:nvCxnSpPr>
          <p:cNvPr id="102" name="Conector angulado 101"/>
          <p:cNvCxnSpPr>
            <a:stCxn id="101" idx="0"/>
            <a:endCxn id="90" idx="1"/>
          </p:cNvCxnSpPr>
          <p:nvPr/>
        </p:nvCxnSpPr>
        <p:spPr>
          <a:xfrm rot="5400000" flipH="1" flipV="1">
            <a:off x="1645026" y="2749175"/>
            <a:ext cx="396421" cy="465159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angulado 102"/>
          <p:cNvCxnSpPr>
            <a:stCxn id="101" idx="3"/>
            <a:endCxn id="93" idx="1"/>
          </p:cNvCxnSpPr>
          <p:nvPr/>
        </p:nvCxnSpPr>
        <p:spPr>
          <a:xfrm>
            <a:off x="1754657" y="3323966"/>
            <a:ext cx="331211" cy="1965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angulado 103"/>
          <p:cNvCxnSpPr>
            <a:stCxn id="101" idx="2"/>
            <a:endCxn id="100" idx="1"/>
          </p:cNvCxnSpPr>
          <p:nvPr/>
        </p:nvCxnSpPr>
        <p:spPr>
          <a:xfrm rot="16200000" flipH="1">
            <a:off x="1690430" y="3388192"/>
            <a:ext cx="315665" cy="475211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Losango 104"/>
          <p:cNvSpPr/>
          <p:nvPr/>
        </p:nvSpPr>
        <p:spPr>
          <a:xfrm>
            <a:off x="7182290" y="3182644"/>
            <a:ext cx="288000" cy="28800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  <a:cs typeface="Arial" pitchFamily="34" charset="0"/>
              </a:rPr>
              <a:t>E</a:t>
            </a:r>
          </a:p>
        </p:txBody>
      </p:sp>
      <p:cxnSp>
        <p:nvCxnSpPr>
          <p:cNvPr id="106" name="Conector angulado 105"/>
          <p:cNvCxnSpPr>
            <a:stCxn id="113" idx="3"/>
            <a:endCxn id="105" idx="0"/>
          </p:cNvCxnSpPr>
          <p:nvPr/>
        </p:nvCxnSpPr>
        <p:spPr>
          <a:xfrm>
            <a:off x="6884822" y="2757133"/>
            <a:ext cx="441468" cy="425513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angulado 106"/>
          <p:cNvCxnSpPr>
            <a:stCxn id="93" idx="3"/>
            <a:endCxn id="105" idx="1"/>
          </p:cNvCxnSpPr>
          <p:nvPr/>
        </p:nvCxnSpPr>
        <p:spPr>
          <a:xfrm>
            <a:off x="6868775" y="3325931"/>
            <a:ext cx="313517" cy="715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angulado 107"/>
          <p:cNvCxnSpPr>
            <a:stCxn id="100" idx="3"/>
            <a:endCxn id="105" idx="2"/>
          </p:cNvCxnSpPr>
          <p:nvPr/>
        </p:nvCxnSpPr>
        <p:spPr>
          <a:xfrm flipV="1">
            <a:off x="6884822" y="3470646"/>
            <a:ext cx="441468" cy="31298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105" idx="3"/>
            <a:endCxn id="96" idx="2"/>
          </p:cNvCxnSpPr>
          <p:nvPr/>
        </p:nvCxnSpPr>
        <p:spPr>
          <a:xfrm flipV="1">
            <a:off x="7470291" y="3322585"/>
            <a:ext cx="285826" cy="40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tângulo 109"/>
          <p:cNvSpPr/>
          <p:nvPr>
            <p:custDataLst>
              <p:tags r:id="rId18"/>
            </p:custDataLst>
          </p:nvPr>
        </p:nvSpPr>
        <p:spPr>
          <a:xfrm>
            <a:off x="5080431" y="717251"/>
            <a:ext cx="828000" cy="55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Atualizar Checklist Manter</a:t>
            </a:r>
          </a:p>
        </p:txBody>
      </p:sp>
      <p:sp>
        <p:nvSpPr>
          <p:cNvPr id="111" name="Retângulo 110"/>
          <p:cNvSpPr/>
          <p:nvPr>
            <p:custDataLst>
              <p:tags r:id="rId19"/>
            </p:custDataLst>
          </p:nvPr>
        </p:nvSpPr>
        <p:spPr>
          <a:xfrm>
            <a:off x="6056822" y="704966"/>
            <a:ext cx="828000" cy="55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Atualizar Checklist Testes</a:t>
            </a:r>
          </a:p>
        </p:txBody>
      </p:sp>
      <p:sp>
        <p:nvSpPr>
          <p:cNvPr id="112" name="Retângulo 111"/>
          <p:cNvSpPr/>
          <p:nvPr>
            <p:custDataLst>
              <p:tags r:id="rId20"/>
            </p:custDataLst>
          </p:nvPr>
        </p:nvSpPr>
        <p:spPr>
          <a:xfrm>
            <a:off x="5080431" y="2493755"/>
            <a:ext cx="828000" cy="55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Atualizar Checklist Manter</a:t>
            </a:r>
          </a:p>
        </p:txBody>
      </p:sp>
      <p:sp>
        <p:nvSpPr>
          <p:cNvPr id="113" name="Retângulo 112"/>
          <p:cNvSpPr/>
          <p:nvPr>
            <p:custDataLst>
              <p:tags r:id="rId21"/>
            </p:custDataLst>
          </p:nvPr>
        </p:nvSpPr>
        <p:spPr>
          <a:xfrm>
            <a:off x="6056822" y="2481470"/>
            <a:ext cx="828000" cy="55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8" tIns="35998" rIns="35998" bIns="35998"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cs typeface="Arial" pitchFamily="34" charset="0"/>
              </a:rPr>
              <a:t>Atualizar Checklist Testes</a:t>
            </a:r>
          </a:p>
        </p:txBody>
      </p:sp>
      <p:cxnSp>
        <p:nvCxnSpPr>
          <p:cNvPr id="47" name="Conector de seta reta 46"/>
          <p:cNvCxnSpPr>
            <a:stCxn id="31" idx="3"/>
            <a:endCxn id="110" idx="1"/>
          </p:cNvCxnSpPr>
          <p:nvPr/>
        </p:nvCxnSpPr>
        <p:spPr>
          <a:xfrm flipV="1">
            <a:off x="4932042" y="992915"/>
            <a:ext cx="148391" cy="122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>
            <a:stCxn id="110" idx="3"/>
            <a:endCxn id="111" idx="1"/>
          </p:cNvCxnSpPr>
          <p:nvPr/>
        </p:nvCxnSpPr>
        <p:spPr>
          <a:xfrm flipV="1">
            <a:off x="5908433" y="980630"/>
            <a:ext cx="148391" cy="122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0" name="Conector de seta reta 7169"/>
          <p:cNvCxnSpPr>
            <a:stCxn id="92" idx="3"/>
            <a:endCxn id="112" idx="1"/>
          </p:cNvCxnSpPr>
          <p:nvPr/>
        </p:nvCxnSpPr>
        <p:spPr>
          <a:xfrm flipV="1">
            <a:off x="4950012" y="2769416"/>
            <a:ext cx="130421" cy="141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5" name="Conector de seta reta 7174"/>
          <p:cNvCxnSpPr>
            <a:stCxn id="112" idx="3"/>
            <a:endCxn id="113" idx="1"/>
          </p:cNvCxnSpPr>
          <p:nvPr/>
        </p:nvCxnSpPr>
        <p:spPr>
          <a:xfrm flipV="1">
            <a:off x="5908433" y="2757131"/>
            <a:ext cx="148391" cy="122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48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06517" y="906567"/>
            <a:ext cx="8888662" cy="203132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Especificação Funcional</a:t>
            </a:r>
          </a:p>
          <a:p>
            <a:endParaRPr lang="pt-BR" dirty="0"/>
          </a:p>
          <a:p>
            <a:r>
              <a:rPr lang="pt-BR" dirty="0" smtClean="0"/>
              <a:t>Serve para documentar e especificar os requisitos funcionais da demanda em questão. Serve se insumo para elaboração da especificação técnica, do documento de arquitetura de solução e do modelo de custos da demanda.</a:t>
            </a:r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6416681"/>
              </p:ext>
            </p:extLst>
          </p:nvPr>
        </p:nvGraphicFramePr>
        <p:xfrm>
          <a:off x="7236284" y="410192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3" name="Document" showAsIcon="1" r:id="rId3" imgW="914400" imgH="771480" progId="Word.Document.12">
                  <p:link updateAutomatic="1"/>
                </p:oleObj>
              </mc:Choice>
              <mc:Fallback>
                <p:oleObj name="Document" showAsIcon="1" r:id="rId3" imgW="914400" imgH="771480" progId="Word.Documen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36284" y="410192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upo 9"/>
          <p:cNvGrpSpPr/>
          <p:nvPr/>
        </p:nvGrpSpPr>
        <p:grpSpPr>
          <a:xfrm>
            <a:off x="6892474" y="83245"/>
            <a:ext cx="423014" cy="423014"/>
            <a:chOff x="823473" y="5366386"/>
            <a:chExt cx="720000" cy="720000"/>
          </a:xfrm>
        </p:grpSpPr>
        <p:sp>
          <p:nvSpPr>
            <p:cNvPr id="11" name="Elipse 10"/>
            <p:cNvSpPr/>
            <p:nvPr/>
          </p:nvSpPr>
          <p:spPr bwMode="auto">
            <a:xfrm>
              <a:off x="823473" y="5366386"/>
              <a:ext cx="720000" cy="720000"/>
            </a:xfrm>
            <a:prstGeom prst="ellipse">
              <a:avLst/>
            </a:prstGeom>
            <a:solidFill>
              <a:srgbClr val="FFFFFF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3" name="Picture 11" descr="E:\Users\br93163\Downloads\Icones\notepencil32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303" y="5489486"/>
              <a:ext cx="411162" cy="4111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CaixaDeTexto 13"/>
          <p:cNvSpPr txBox="1"/>
          <p:nvPr/>
        </p:nvSpPr>
        <p:spPr>
          <a:xfrm>
            <a:off x="7304518" y="54231"/>
            <a:ext cx="1498724" cy="530912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Entender e </a:t>
            </a:r>
          </a:p>
          <a:p>
            <a:r>
              <a:rPr lang="pt-BR" sz="1400" dirty="0">
                <a:latin typeface="Gill Sans Std Light" pitchFamily="34" charset="0"/>
              </a:rPr>
              <a:t>detalhar requisitos</a:t>
            </a:r>
          </a:p>
        </p:txBody>
      </p:sp>
    </p:spTree>
    <p:extLst>
      <p:ext uri="{BB962C8B-B14F-4D97-AF65-F5344CB8AC3E}">
        <p14:creationId xmlns:p14="http://schemas.microsoft.com/office/powerpoint/2010/main" val="29084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06517" y="906567"/>
            <a:ext cx="8888662" cy="313932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Especificação Técnica</a:t>
            </a:r>
          </a:p>
          <a:p>
            <a:endParaRPr lang="pt-BR" dirty="0">
              <a:latin typeface="+mj-lt"/>
            </a:endParaRPr>
          </a:p>
          <a:p>
            <a:r>
              <a:rPr lang="pt-BR" dirty="0" smtClean="0"/>
              <a:t>A especificação técnica serve para traduzir as especificações funcionais em componentes técnicos para guiar os desenvolvedores na construção do sistema. </a:t>
            </a:r>
          </a:p>
          <a:p>
            <a:endParaRPr lang="pt-BR" dirty="0"/>
          </a:p>
          <a:p>
            <a:r>
              <a:rPr lang="pt-BR" dirty="0"/>
              <a:t>São contemplados e detalhados os processos desenhados na fase de especificação funcional até um nível de detalhe que permita a construção dos componentes técnicos pelos desenvolvedores.</a:t>
            </a:r>
          </a:p>
          <a:p>
            <a:endParaRPr lang="pt-BR" dirty="0"/>
          </a:p>
          <a:p>
            <a:r>
              <a:rPr lang="pt-BR" dirty="0" smtClean="0"/>
              <a:t>O líder da demanda é o responsável por garantir a elaboração este documento, com apoio do líder técnico dos sistemas envolvidos e/ou dos parceiros fornecedores.</a:t>
            </a:r>
            <a:endParaRPr lang="pt-BR" dirty="0"/>
          </a:p>
        </p:txBody>
      </p: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5001863"/>
              </p:ext>
            </p:extLst>
          </p:nvPr>
        </p:nvGraphicFramePr>
        <p:xfrm>
          <a:off x="7497325" y="4236935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2" name="Document" showAsIcon="1" r:id="rId3" imgW="914400" imgH="771480" progId="Word.Document.12">
                  <p:link updateAutomatic="1"/>
                </p:oleObj>
              </mc:Choice>
              <mc:Fallback>
                <p:oleObj name="Document" showAsIcon="1" r:id="rId3" imgW="914400" imgH="771480" progId="Word.Documen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97325" y="4236935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aixaDeTexto 9"/>
          <p:cNvSpPr txBox="1"/>
          <p:nvPr/>
        </p:nvSpPr>
        <p:spPr>
          <a:xfrm>
            <a:off x="7444942" y="6755"/>
            <a:ext cx="1222514" cy="5847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Especificar e </a:t>
            </a:r>
          </a:p>
          <a:p>
            <a:r>
              <a:rPr lang="pt-BR" sz="1600" dirty="0">
                <a:latin typeface="Gill Sans Std Light" pitchFamily="34" charset="0"/>
              </a:rPr>
              <a:t>construir</a:t>
            </a:r>
          </a:p>
        </p:txBody>
      </p:sp>
      <p:grpSp>
        <p:nvGrpSpPr>
          <p:cNvPr id="11" name="Grupo 10"/>
          <p:cNvGrpSpPr/>
          <p:nvPr/>
        </p:nvGrpSpPr>
        <p:grpSpPr>
          <a:xfrm>
            <a:off x="6868775" y="45719"/>
            <a:ext cx="506437" cy="506437"/>
            <a:chOff x="7170455" y="-896676"/>
            <a:chExt cx="720000" cy="720000"/>
          </a:xfrm>
        </p:grpSpPr>
        <p:sp>
          <p:nvSpPr>
            <p:cNvPr id="13" name="Elipse 12"/>
            <p:cNvSpPr/>
            <p:nvPr/>
          </p:nvSpPr>
          <p:spPr bwMode="auto">
            <a:xfrm>
              <a:off x="7170455" y="-896676"/>
              <a:ext cx="720000" cy="720000"/>
            </a:xfrm>
            <a:prstGeom prst="ellipse">
              <a:avLst/>
            </a:prstGeom>
            <a:solidFill>
              <a:srgbClr val="FFFFFF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4" name="Picture 13" descr="E:\Users\br93163\Downloads\Icones\spanner32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47391" y="-735320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1569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06517" y="906567"/>
            <a:ext cx="8888662" cy="313932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Checklist de Testes</a:t>
            </a:r>
          </a:p>
          <a:p>
            <a:endParaRPr lang="pt-BR" dirty="0">
              <a:latin typeface="+mj-lt"/>
            </a:endParaRPr>
          </a:p>
          <a:p>
            <a:r>
              <a:rPr lang="pt-BR" dirty="0" smtClean="0"/>
              <a:t>O checklist de testes serve para orientar o líder da demanda e o time de Gestão de Testes quanto à contratação e execução dos testes dessa demanda</a:t>
            </a:r>
          </a:p>
          <a:p>
            <a:endParaRPr lang="pt-BR" dirty="0"/>
          </a:p>
          <a:p>
            <a:r>
              <a:rPr lang="pt-BR" dirty="0" smtClean="0"/>
              <a:t>O preenchimento deve ser realizado pelo líder da demanda em conjunto com o time de Gestão de Testes. Ambos avaliarão qual é a melhor solução de testes para a demanda em questão.</a:t>
            </a:r>
          </a:p>
          <a:p>
            <a:endParaRPr lang="pt-BR" dirty="0">
              <a:latin typeface="+mj-lt"/>
            </a:endParaRP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7284921" y="68311"/>
            <a:ext cx="1257023" cy="530912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Definir solução</a:t>
            </a:r>
          </a:p>
          <a:p>
            <a:r>
              <a:rPr lang="pt-BR" sz="1400" dirty="0">
                <a:latin typeface="Gill Sans Std Light" pitchFamily="34" charset="0"/>
              </a:rPr>
              <a:t>técnica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6847895" y="45848"/>
            <a:ext cx="452820" cy="452820"/>
            <a:chOff x="476545" y="816635"/>
            <a:chExt cx="720000" cy="720000"/>
          </a:xfrm>
        </p:grpSpPr>
        <p:sp>
          <p:nvSpPr>
            <p:cNvPr id="12" name="Elipse 11"/>
            <p:cNvSpPr/>
            <p:nvPr/>
          </p:nvSpPr>
          <p:spPr bwMode="auto">
            <a:xfrm>
              <a:off x="476545" y="81663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5" name="Picture 27" descr="E:\Users\br93163\Downloads\Icones\code-4x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451" y="976021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6467013"/>
              </p:ext>
            </p:extLst>
          </p:nvPr>
        </p:nvGraphicFramePr>
        <p:xfrm>
          <a:off x="7882676" y="3921902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65" name="Worksheet" showAsIcon="1" r:id="rId4" imgW="914400" imgH="771480" progId="Excel.Sheet.12">
                  <p:link updateAutomatic="1"/>
                </p:oleObj>
              </mc:Choice>
              <mc:Fallback>
                <p:oleObj name="Worksheet" showAsIcon="1" r:id="rId4" imgW="914400" imgH="77148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882676" y="3921902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5155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06517" y="906567"/>
            <a:ext cx="8888662" cy="34163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>
                <a:latin typeface="+mj-lt"/>
              </a:rPr>
              <a:t>Checklist de Manter</a:t>
            </a:r>
          </a:p>
          <a:p>
            <a:endParaRPr lang="pt-BR" dirty="0">
              <a:latin typeface="+mj-lt"/>
            </a:endParaRPr>
          </a:p>
          <a:p>
            <a:r>
              <a:rPr lang="pt-BR" dirty="0" smtClean="0"/>
              <a:t>O documento serve para verificar se todas as etapas necessárias para que a solução seja transacionada para o time de Manter foram verificadas.</a:t>
            </a:r>
          </a:p>
          <a:p>
            <a:endParaRPr lang="pt-BR" dirty="0"/>
          </a:p>
          <a:p>
            <a:r>
              <a:rPr lang="pt-BR" dirty="0" smtClean="0"/>
              <a:t>O preenchimento deste documento é compartilhado entre o líder da demanda e o time de Manter. A responsabilidade de garantia do preenchimento da documentação é do líder da demanda. </a:t>
            </a:r>
          </a:p>
          <a:p>
            <a:endParaRPr lang="pt-BR" dirty="0">
              <a:latin typeface="+mj-lt"/>
            </a:endParaRP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7284921" y="68311"/>
            <a:ext cx="1257023" cy="530912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400" dirty="0">
                <a:latin typeface="Gill Sans Std Light" pitchFamily="34" charset="0"/>
              </a:rPr>
              <a:t>Definir solução</a:t>
            </a:r>
          </a:p>
          <a:p>
            <a:r>
              <a:rPr lang="pt-BR" sz="1400" dirty="0">
                <a:latin typeface="Gill Sans Std Light" pitchFamily="34" charset="0"/>
              </a:rPr>
              <a:t>técnica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6847895" y="45848"/>
            <a:ext cx="452820" cy="452820"/>
            <a:chOff x="476545" y="816635"/>
            <a:chExt cx="720000" cy="720000"/>
          </a:xfrm>
        </p:grpSpPr>
        <p:sp>
          <p:nvSpPr>
            <p:cNvPr id="12" name="Elipse 11"/>
            <p:cNvSpPr/>
            <p:nvPr/>
          </p:nvSpPr>
          <p:spPr bwMode="auto">
            <a:xfrm>
              <a:off x="476545" y="816635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5" name="Picture 27" descr="E:\Users\br93163\Downloads\Icones\code-4x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451" y="976021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2358087"/>
              </p:ext>
            </p:extLst>
          </p:nvPr>
        </p:nvGraphicFramePr>
        <p:xfrm>
          <a:off x="7612783" y="4056917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9" name="Worksheet" showAsIcon="1" r:id="rId4" imgW="914400" imgH="771480" progId="Excel.Sheet.12">
                  <p:link updateAutomatic="1"/>
                </p:oleObj>
              </mc:Choice>
              <mc:Fallback>
                <p:oleObj name="Worksheet" showAsIcon="1" r:id="rId4" imgW="914400" imgH="77148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12783" y="4056917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178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b="51774"/>
          <a:stretch/>
        </p:blipFill>
        <p:spPr>
          <a:xfrm>
            <a:off x="162002" y="1102918"/>
            <a:ext cx="8865495" cy="973778"/>
          </a:xfrm>
          <a:prstGeom prst="rect">
            <a:avLst/>
          </a:prstGeom>
        </p:spPr>
      </p:pic>
      <p:sp>
        <p:nvSpPr>
          <p:cNvPr id="6" name="Seta para a direita 5"/>
          <p:cNvSpPr/>
          <p:nvPr/>
        </p:nvSpPr>
        <p:spPr>
          <a:xfrm rot="10800000">
            <a:off x="1511660" y="2575384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559035" y="2559835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sp>
        <p:nvSpPr>
          <p:cNvPr id="10" name="Seta para a direita 9"/>
          <p:cNvSpPr/>
          <p:nvPr/>
        </p:nvSpPr>
        <p:spPr>
          <a:xfrm rot="5400000">
            <a:off x="7966112" y="929070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7979098" y="906565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051720" y="3201822"/>
            <a:ext cx="3690411" cy="1115375"/>
          </a:xfrm>
          <a:prstGeom prst="rect">
            <a:avLst/>
          </a:prstGeom>
          <a:solidFill>
            <a:srgbClr val="FDF3A5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Os documentos devem ser salvos dentro da pasta de Execução e Monitoramento. 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7444942" y="6755"/>
            <a:ext cx="1222514" cy="83099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Especificar e </a:t>
            </a:r>
          </a:p>
          <a:p>
            <a:r>
              <a:rPr lang="pt-BR" sz="1600" dirty="0">
                <a:latin typeface="Gill Sans Std Light" pitchFamily="34" charset="0"/>
              </a:rPr>
              <a:t>construir</a:t>
            </a:r>
          </a:p>
          <a:p>
            <a:r>
              <a:rPr lang="pt-BR" sz="1600" i="1" dirty="0">
                <a:latin typeface="Gill Sans Std Light" pitchFamily="34" charset="0"/>
              </a:rPr>
              <a:t>Documentos</a:t>
            </a:r>
          </a:p>
        </p:txBody>
      </p:sp>
      <p:grpSp>
        <p:nvGrpSpPr>
          <p:cNvPr id="14" name="Grupo 13"/>
          <p:cNvGrpSpPr/>
          <p:nvPr/>
        </p:nvGrpSpPr>
        <p:grpSpPr>
          <a:xfrm>
            <a:off x="6868775" y="45719"/>
            <a:ext cx="506437" cy="506437"/>
            <a:chOff x="7170455" y="-896676"/>
            <a:chExt cx="720000" cy="720000"/>
          </a:xfrm>
        </p:grpSpPr>
        <p:sp>
          <p:nvSpPr>
            <p:cNvPr id="17" name="Elipse 16"/>
            <p:cNvSpPr/>
            <p:nvPr/>
          </p:nvSpPr>
          <p:spPr bwMode="auto">
            <a:xfrm>
              <a:off x="7170455" y="-896676"/>
              <a:ext cx="720000" cy="720000"/>
            </a:xfrm>
            <a:prstGeom prst="ellipse">
              <a:avLst/>
            </a:prstGeom>
            <a:solidFill>
              <a:srgbClr val="FFFFFF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18" name="Picture 13" descr="E:\Users\br93163\Downloads\Icones\spanner32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47391" y="-735320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99" y="1311610"/>
            <a:ext cx="8865495" cy="1566566"/>
          </a:xfrm>
          <a:prstGeom prst="rect">
            <a:avLst/>
          </a:prstGeom>
        </p:spPr>
      </p:pic>
      <p:sp>
        <p:nvSpPr>
          <p:cNvPr id="19" name="Seta para a direita 18"/>
          <p:cNvSpPr/>
          <p:nvPr/>
        </p:nvSpPr>
        <p:spPr>
          <a:xfrm rot="5400000">
            <a:off x="1203465" y="2172878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216450" y="2150374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0363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66" name="CaixaDeTexto 65"/>
          <p:cNvSpPr txBox="1"/>
          <p:nvPr/>
        </p:nvSpPr>
        <p:spPr>
          <a:xfrm>
            <a:off x="7444942" y="6755"/>
            <a:ext cx="1222514" cy="83099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Especificar e </a:t>
            </a:r>
          </a:p>
          <a:p>
            <a:r>
              <a:rPr lang="pt-BR" sz="1600" dirty="0">
                <a:latin typeface="Gill Sans Std Light" pitchFamily="34" charset="0"/>
              </a:rPr>
              <a:t>construir</a:t>
            </a:r>
          </a:p>
          <a:p>
            <a:r>
              <a:rPr lang="pt-BR" sz="1600" i="1" dirty="0">
                <a:latin typeface="Gill Sans Std Light" pitchFamily="34" charset="0"/>
              </a:rPr>
              <a:t>Cronograma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6868775" y="45719"/>
            <a:ext cx="506437" cy="506437"/>
            <a:chOff x="7170455" y="-896676"/>
            <a:chExt cx="720000" cy="720000"/>
          </a:xfrm>
        </p:grpSpPr>
        <p:sp>
          <p:nvSpPr>
            <p:cNvPr id="64" name="Elipse 63"/>
            <p:cNvSpPr/>
            <p:nvPr/>
          </p:nvSpPr>
          <p:spPr bwMode="auto">
            <a:xfrm>
              <a:off x="7170455" y="-896676"/>
              <a:ext cx="720000" cy="720000"/>
            </a:xfrm>
            <a:prstGeom prst="ellipse">
              <a:avLst/>
            </a:prstGeom>
            <a:solidFill>
              <a:srgbClr val="FFFFFF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67" name="Picture 13" descr="E:\Users\br93163\Downloads\Icones\spanner32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47391" y="-735320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3"/>
          <a:srcRect b="44181"/>
          <a:stretch/>
        </p:blipFill>
        <p:spPr>
          <a:xfrm>
            <a:off x="141401" y="816557"/>
            <a:ext cx="8955825" cy="1485165"/>
          </a:xfrm>
          <a:prstGeom prst="rect">
            <a:avLst/>
          </a:prstGeom>
        </p:spPr>
      </p:pic>
      <p:sp>
        <p:nvSpPr>
          <p:cNvPr id="52" name="Seta para a direita 51"/>
          <p:cNvSpPr/>
          <p:nvPr/>
        </p:nvSpPr>
        <p:spPr>
          <a:xfrm rot="5400000">
            <a:off x="1984213" y="671379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54" name="CaixaDeTexto 53"/>
          <p:cNvSpPr txBox="1"/>
          <p:nvPr/>
        </p:nvSpPr>
        <p:spPr>
          <a:xfrm>
            <a:off x="1997197" y="648874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sp>
        <p:nvSpPr>
          <p:cNvPr id="57" name="Seta para a direita 56"/>
          <p:cNvSpPr/>
          <p:nvPr/>
        </p:nvSpPr>
        <p:spPr>
          <a:xfrm rot="10800000">
            <a:off x="8225780" y="1867219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8273155" y="1851670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42" y="2546267"/>
            <a:ext cx="8887252" cy="2377281"/>
          </a:xfrm>
          <a:prstGeom prst="rect">
            <a:avLst/>
          </a:prstGeom>
        </p:spPr>
      </p:pic>
      <p:sp>
        <p:nvSpPr>
          <p:cNvPr id="61" name="Seta para a direita 60"/>
          <p:cNvSpPr/>
          <p:nvPr/>
        </p:nvSpPr>
        <p:spPr>
          <a:xfrm rot="5400000">
            <a:off x="4414483" y="2999300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62" name="CaixaDeTexto 61"/>
          <p:cNvSpPr txBox="1"/>
          <p:nvPr/>
        </p:nvSpPr>
        <p:spPr>
          <a:xfrm>
            <a:off x="4427467" y="2976795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3</a:t>
            </a:r>
          </a:p>
        </p:txBody>
      </p:sp>
      <p:sp>
        <p:nvSpPr>
          <p:cNvPr id="63" name="Seta para a direita 62"/>
          <p:cNvSpPr/>
          <p:nvPr/>
        </p:nvSpPr>
        <p:spPr>
          <a:xfrm rot="5400000">
            <a:off x="5009066" y="2999300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68" name="CaixaDeTexto 67"/>
          <p:cNvSpPr txBox="1"/>
          <p:nvPr/>
        </p:nvSpPr>
        <p:spPr>
          <a:xfrm>
            <a:off x="5022051" y="2976795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4</a:t>
            </a:r>
          </a:p>
        </p:txBody>
      </p:sp>
      <p:sp>
        <p:nvSpPr>
          <p:cNvPr id="69" name="Seta para a direita 68"/>
          <p:cNvSpPr/>
          <p:nvPr/>
        </p:nvSpPr>
        <p:spPr>
          <a:xfrm rot="5400000">
            <a:off x="6597385" y="3015415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70" name="CaixaDeTexto 69"/>
          <p:cNvSpPr txBox="1"/>
          <p:nvPr/>
        </p:nvSpPr>
        <p:spPr>
          <a:xfrm>
            <a:off x="6610369" y="2992911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79017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sp>
        <p:nvSpPr>
          <p:cNvPr id="66" name="CaixaDeTexto 65"/>
          <p:cNvSpPr txBox="1"/>
          <p:nvPr/>
        </p:nvSpPr>
        <p:spPr>
          <a:xfrm>
            <a:off x="7444941" y="6755"/>
            <a:ext cx="1379224" cy="83099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600" dirty="0">
                <a:latin typeface="Gill Sans Std Light" pitchFamily="34" charset="0"/>
              </a:rPr>
              <a:t>Especificar e </a:t>
            </a:r>
          </a:p>
          <a:p>
            <a:r>
              <a:rPr lang="pt-BR" sz="1600" dirty="0">
                <a:latin typeface="Gill Sans Std Light" pitchFamily="34" charset="0"/>
              </a:rPr>
              <a:t>construir</a:t>
            </a:r>
          </a:p>
          <a:p>
            <a:r>
              <a:rPr lang="pt-BR" sz="1600" i="1" dirty="0">
                <a:latin typeface="Gill Sans Std Light" pitchFamily="34" charset="0"/>
              </a:rPr>
              <a:t>Relatório Status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6868775" y="45719"/>
            <a:ext cx="506437" cy="506437"/>
            <a:chOff x="7170455" y="-896676"/>
            <a:chExt cx="720000" cy="720000"/>
          </a:xfrm>
        </p:grpSpPr>
        <p:sp>
          <p:nvSpPr>
            <p:cNvPr id="64" name="Elipse 63"/>
            <p:cNvSpPr/>
            <p:nvPr/>
          </p:nvSpPr>
          <p:spPr bwMode="auto">
            <a:xfrm>
              <a:off x="7170455" y="-896676"/>
              <a:ext cx="720000" cy="720000"/>
            </a:xfrm>
            <a:prstGeom prst="ellipse">
              <a:avLst/>
            </a:prstGeom>
            <a:solidFill>
              <a:srgbClr val="FFFFFF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pt-BR"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pic>
          <p:nvPicPr>
            <p:cNvPr id="67" name="Picture 13" descr="E:\Users\br93163\Downloads\Icones\spanner32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47391" y="-735320"/>
              <a:ext cx="406400" cy="40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62" y="654552"/>
            <a:ext cx="1798406" cy="1512154"/>
          </a:xfrm>
          <a:prstGeom prst="rect">
            <a:avLst/>
          </a:prstGeom>
        </p:spPr>
      </p:pic>
      <p:sp>
        <p:nvSpPr>
          <p:cNvPr id="22" name="Seta para a direita 21"/>
          <p:cNvSpPr/>
          <p:nvPr/>
        </p:nvSpPr>
        <p:spPr>
          <a:xfrm rot="10800000">
            <a:off x="1556666" y="1327159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1604041" y="1311610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1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1792" y="681976"/>
            <a:ext cx="4186983" cy="98950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1792" y="1763063"/>
            <a:ext cx="5625625" cy="3295391"/>
          </a:xfrm>
          <a:prstGeom prst="rect">
            <a:avLst/>
          </a:prstGeom>
        </p:spPr>
      </p:pic>
      <p:sp>
        <p:nvSpPr>
          <p:cNvPr id="28" name="Seta para a direita 27"/>
          <p:cNvSpPr/>
          <p:nvPr/>
        </p:nvSpPr>
        <p:spPr>
          <a:xfrm rot="5400000">
            <a:off x="2929012" y="1222704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2941996" y="1200199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2</a:t>
            </a:r>
          </a:p>
        </p:txBody>
      </p:sp>
      <p:sp>
        <p:nvSpPr>
          <p:cNvPr id="30" name="Seta para a direita 29"/>
          <p:cNvSpPr/>
          <p:nvPr/>
        </p:nvSpPr>
        <p:spPr>
          <a:xfrm rot="5400000">
            <a:off x="2799810" y="4664485"/>
            <a:ext cx="270030" cy="225025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2812795" y="4641981"/>
            <a:ext cx="264005" cy="2654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100" b="1" dirty="0">
                <a:latin typeface="+mj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8013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/>
          <p:cNvGrpSpPr/>
          <p:nvPr/>
        </p:nvGrpSpPr>
        <p:grpSpPr>
          <a:xfrm>
            <a:off x="3881352" y="594445"/>
            <a:ext cx="340158" cy="450050"/>
            <a:chOff x="3814313" y="816555"/>
            <a:chExt cx="340158" cy="450050"/>
          </a:xfrm>
        </p:grpSpPr>
        <p:sp>
          <p:nvSpPr>
            <p:cNvPr id="3" name="CaixaDeTexto 53"/>
            <p:cNvSpPr txBox="1"/>
            <p:nvPr/>
          </p:nvSpPr>
          <p:spPr>
            <a:xfrm>
              <a:off x="3814313" y="81655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P0</a:t>
              </a:r>
            </a:p>
          </p:txBody>
        </p:sp>
        <p:pic>
          <p:nvPicPr>
            <p:cNvPr id="4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2097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5" name="Conector de seta reta 65"/>
          <p:cNvCxnSpPr/>
          <p:nvPr/>
        </p:nvCxnSpPr>
        <p:spPr>
          <a:xfrm>
            <a:off x="791580" y="2664673"/>
            <a:ext cx="8352420" cy="0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237019"/>
              </p:ext>
            </p:extLst>
          </p:nvPr>
        </p:nvGraphicFramePr>
        <p:xfrm>
          <a:off x="926599" y="1089500"/>
          <a:ext cx="7830870" cy="2830721"/>
        </p:xfrm>
        <a:graphic>
          <a:graphicData uri="http://schemas.openxmlformats.org/drawingml/2006/table">
            <a:tbl>
              <a:tblPr/>
              <a:tblGrid>
                <a:gridCol w="522058"/>
                <a:gridCol w="522058"/>
                <a:gridCol w="522058"/>
                <a:gridCol w="522058"/>
                <a:gridCol w="522058"/>
                <a:gridCol w="522058"/>
                <a:gridCol w="522058"/>
                <a:gridCol w="522058"/>
                <a:gridCol w="522058"/>
                <a:gridCol w="522058"/>
                <a:gridCol w="522058"/>
                <a:gridCol w="522058"/>
                <a:gridCol w="522058"/>
                <a:gridCol w="522058"/>
                <a:gridCol w="522058"/>
              </a:tblGrid>
              <a:tr h="1572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Briefing </a:t>
                      </a: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Diagrama de Sequência (Processo Negócio)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Matriz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Requisitos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Esboço da Solução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Matriz de Requisitos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Estimativa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Prazo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e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Custo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P0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Matriz de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1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Requisitos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e </a:t>
                      </a:r>
                      <a:r>
                        <a:rPr lang="en-US" sz="11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Estimativa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en-US" sz="11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Funcionalidades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Desenho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Arquitetura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da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Solução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(DAS)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Modelo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Custos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Propostas Técnicas Fornecedores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Planejamento de </a:t>
                      </a:r>
                      <a:b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Prazo e Custo P1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Especificação Funcional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Especificação Técnica</a:t>
                      </a: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noProof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Checklist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Manter e de Testes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noProof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Engregas</a:t>
                      </a:r>
                      <a:r>
                        <a:rPr lang="pt-BR" sz="1100" b="0" i="0" u="none" strike="noStrike" noProof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e Resultados com Benefícios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58459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noProof="0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vert="vert27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56" name="Group 85"/>
          <p:cNvGrpSpPr/>
          <p:nvPr/>
        </p:nvGrpSpPr>
        <p:grpSpPr>
          <a:xfrm>
            <a:off x="2836692" y="594445"/>
            <a:ext cx="352982" cy="450050"/>
            <a:chOff x="3491880" y="816555"/>
            <a:chExt cx="352981" cy="450050"/>
          </a:xfrm>
        </p:grpSpPr>
        <p:sp>
          <p:nvSpPr>
            <p:cNvPr id="57" name="CaixaDeTexto 53"/>
            <p:cNvSpPr txBox="1"/>
            <p:nvPr/>
          </p:nvSpPr>
          <p:spPr>
            <a:xfrm>
              <a:off x="3491880" y="816555"/>
              <a:ext cx="3529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YP</a:t>
              </a:r>
            </a:p>
          </p:txBody>
        </p:sp>
        <p:pic>
          <p:nvPicPr>
            <p:cNvPr id="60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9664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66" name="Group 85"/>
          <p:cNvGrpSpPr/>
          <p:nvPr/>
        </p:nvGrpSpPr>
        <p:grpSpPr>
          <a:xfrm>
            <a:off x="1241632" y="456517"/>
            <a:ext cx="405025" cy="587978"/>
            <a:chOff x="2527833" y="678627"/>
            <a:chExt cx="405025" cy="587978"/>
          </a:xfrm>
        </p:grpSpPr>
        <p:sp>
          <p:nvSpPr>
            <p:cNvPr id="70" name="CaixaDeTexto 53"/>
            <p:cNvSpPr txBox="1"/>
            <p:nvPr/>
          </p:nvSpPr>
          <p:spPr>
            <a:xfrm>
              <a:off x="2527833" y="678627"/>
              <a:ext cx="4050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Prior</a:t>
              </a:r>
            </a:p>
            <a:p>
              <a:r>
                <a:rPr lang="pt-BR" sz="800" dirty="0"/>
                <a:t>Dem.</a:t>
              </a:r>
            </a:p>
          </p:txBody>
        </p:sp>
        <p:pic>
          <p:nvPicPr>
            <p:cNvPr id="71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4539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processo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gestão de demandas de TD</a:t>
            </a:r>
          </a:p>
        </p:txBody>
      </p:sp>
      <p:grpSp>
        <p:nvGrpSpPr>
          <p:cNvPr id="40" name="Group 88"/>
          <p:cNvGrpSpPr/>
          <p:nvPr/>
        </p:nvGrpSpPr>
        <p:grpSpPr>
          <a:xfrm>
            <a:off x="2119141" y="2822315"/>
            <a:ext cx="323621" cy="205203"/>
            <a:chOff x="1849113" y="2976795"/>
            <a:chExt cx="323621" cy="205203"/>
          </a:xfrm>
        </p:grpSpPr>
        <p:pic>
          <p:nvPicPr>
            <p:cNvPr id="41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9113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CaixaDeTexto 41"/>
            <p:cNvSpPr txBox="1"/>
            <p:nvPr/>
          </p:nvSpPr>
          <p:spPr>
            <a:xfrm>
              <a:off x="1898300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43" name="Group 92"/>
          <p:cNvGrpSpPr/>
          <p:nvPr/>
        </p:nvGrpSpPr>
        <p:grpSpPr>
          <a:xfrm>
            <a:off x="2640964" y="2822315"/>
            <a:ext cx="323622" cy="205203"/>
            <a:chOff x="2366755" y="2976795"/>
            <a:chExt cx="323622" cy="205203"/>
          </a:xfrm>
        </p:grpSpPr>
        <p:pic>
          <p:nvPicPr>
            <p:cNvPr id="44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675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CaixaDeTexto 87"/>
            <p:cNvSpPr txBox="1"/>
            <p:nvPr/>
          </p:nvSpPr>
          <p:spPr>
            <a:xfrm>
              <a:off x="2415943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47" name="Group 90"/>
          <p:cNvGrpSpPr/>
          <p:nvPr/>
        </p:nvGrpSpPr>
        <p:grpSpPr>
          <a:xfrm>
            <a:off x="3694662" y="2822315"/>
            <a:ext cx="323621" cy="205203"/>
            <a:chOff x="3356865" y="2976795"/>
            <a:chExt cx="323621" cy="205203"/>
          </a:xfrm>
        </p:grpSpPr>
        <p:pic>
          <p:nvPicPr>
            <p:cNvPr id="50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54" name="Group 89"/>
          <p:cNvGrpSpPr/>
          <p:nvPr/>
        </p:nvGrpSpPr>
        <p:grpSpPr>
          <a:xfrm>
            <a:off x="3131592" y="2802283"/>
            <a:ext cx="353795" cy="245267"/>
            <a:chOff x="2861810" y="2976795"/>
            <a:chExt cx="353795" cy="245267"/>
          </a:xfrm>
        </p:grpSpPr>
        <p:pic>
          <p:nvPicPr>
            <p:cNvPr id="55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810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327" y="3031789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CaixaDeTexto 83"/>
            <p:cNvSpPr txBox="1"/>
            <p:nvPr/>
          </p:nvSpPr>
          <p:spPr>
            <a:xfrm>
              <a:off x="2941171" y="3022007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V2</a:t>
              </a:r>
            </a:p>
          </p:txBody>
        </p:sp>
      </p:grpSp>
      <p:grpSp>
        <p:nvGrpSpPr>
          <p:cNvPr id="64" name="Group 89"/>
          <p:cNvGrpSpPr/>
          <p:nvPr/>
        </p:nvGrpSpPr>
        <p:grpSpPr>
          <a:xfrm>
            <a:off x="4202083" y="2798219"/>
            <a:ext cx="364792" cy="253395"/>
            <a:chOff x="2861810" y="2973469"/>
            <a:chExt cx="364792" cy="253395"/>
          </a:xfrm>
        </p:grpSpPr>
        <p:pic>
          <p:nvPicPr>
            <p:cNvPr id="65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810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327" y="3031789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CaixaDeTexto 83"/>
            <p:cNvSpPr txBox="1"/>
            <p:nvPr/>
          </p:nvSpPr>
          <p:spPr>
            <a:xfrm>
              <a:off x="2952168" y="2973469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V3</a:t>
              </a:r>
            </a:p>
          </p:txBody>
        </p:sp>
        <p:pic>
          <p:nvPicPr>
            <p:cNvPr id="69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9292" y="3082864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6" name="Group 90"/>
          <p:cNvGrpSpPr/>
          <p:nvPr/>
        </p:nvGrpSpPr>
        <p:grpSpPr>
          <a:xfrm>
            <a:off x="4735483" y="2822315"/>
            <a:ext cx="323621" cy="205203"/>
            <a:chOff x="3356865" y="2976795"/>
            <a:chExt cx="323621" cy="205203"/>
          </a:xfrm>
        </p:grpSpPr>
        <p:pic>
          <p:nvPicPr>
            <p:cNvPr id="77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8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79" name="Group 90"/>
          <p:cNvGrpSpPr/>
          <p:nvPr/>
        </p:nvGrpSpPr>
        <p:grpSpPr>
          <a:xfrm>
            <a:off x="5235839" y="2822315"/>
            <a:ext cx="323621" cy="205203"/>
            <a:chOff x="3356865" y="2976795"/>
            <a:chExt cx="323621" cy="205203"/>
          </a:xfrm>
        </p:grpSpPr>
        <p:pic>
          <p:nvPicPr>
            <p:cNvPr id="80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1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82" name="Group 90"/>
          <p:cNvGrpSpPr/>
          <p:nvPr/>
        </p:nvGrpSpPr>
        <p:grpSpPr>
          <a:xfrm>
            <a:off x="5815928" y="2822315"/>
            <a:ext cx="323621" cy="205203"/>
            <a:chOff x="3356865" y="2976795"/>
            <a:chExt cx="323621" cy="205203"/>
          </a:xfrm>
        </p:grpSpPr>
        <p:pic>
          <p:nvPicPr>
            <p:cNvPr id="83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4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6293600" y="2822315"/>
            <a:ext cx="323621" cy="205203"/>
            <a:chOff x="3356865" y="2976795"/>
            <a:chExt cx="323621" cy="205203"/>
          </a:xfrm>
        </p:grpSpPr>
        <p:pic>
          <p:nvPicPr>
            <p:cNvPr id="92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4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95" name="Grupo 31"/>
          <p:cNvGrpSpPr/>
          <p:nvPr/>
        </p:nvGrpSpPr>
        <p:grpSpPr>
          <a:xfrm>
            <a:off x="73948" y="3166399"/>
            <a:ext cx="9070052" cy="710498"/>
            <a:chOff x="71500" y="2796775"/>
            <a:chExt cx="7811574" cy="710498"/>
          </a:xfrm>
        </p:grpSpPr>
        <p:sp>
          <p:nvSpPr>
            <p:cNvPr id="96" name="CaixaDeTexto 2"/>
            <p:cNvSpPr txBox="1"/>
            <p:nvPr/>
          </p:nvSpPr>
          <p:spPr>
            <a:xfrm>
              <a:off x="71500" y="2873488"/>
              <a:ext cx="6960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rgbClr val="0070C0"/>
                  </a:solidFill>
                </a:rPr>
                <a:t>Atuação</a:t>
              </a:r>
            </a:p>
          </p:txBody>
        </p:sp>
        <p:cxnSp>
          <p:nvCxnSpPr>
            <p:cNvPr id="97" name="Conector reto 25"/>
            <p:cNvCxnSpPr/>
            <p:nvPr/>
          </p:nvCxnSpPr>
          <p:spPr>
            <a:xfrm>
              <a:off x="135801" y="2796775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to 113"/>
            <p:cNvCxnSpPr/>
            <p:nvPr/>
          </p:nvCxnSpPr>
          <p:spPr>
            <a:xfrm>
              <a:off x="161510" y="3507273"/>
              <a:ext cx="7721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CaixaDeTexto 98"/>
          <p:cNvSpPr txBox="1"/>
          <p:nvPr/>
        </p:nvSpPr>
        <p:spPr>
          <a:xfrm>
            <a:off x="959664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0" name="CaixaDeTexto 99"/>
          <p:cNvSpPr txBox="1"/>
          <p:nvPr/>
        </p:nvSpPr>
        <p:spPr>
          <a:xfrm>
            <a:off x="1499724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1" name="CaixaDeTexto 100"/>
          <p:cNvSpPr txBox="1"/>
          <p:nvPr/>
        </p:nvSpPr>
        <p:spPr>
          <a:xfrm>
            <a:off x="1994781" y="3336836"/>
            <a:ext cx="46198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GRP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2583665" y="3201197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2521566" y="3391658"/>
            <a:ext cx="502061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ARQ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2478190" y="3606242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087718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2988460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20" name="CaixaDeTexto 119"/>
          <p:cNvSpPr txBox="1"/>
          <p:nvPr/>
        </p:nvSpPr>
        <p:spPr>
          <a:xfrm>
            <a:off x="4575538" y="3387092"/>
            <a:ext cx="502061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ARQ</a:t>
            </a:r>
          </a:p>
        </p:txBody>
      </p:sp>
      <p:sp>
        <p:nvSpPr>
          <p:cNvPr id="121" name="CaixaDeTexto 120"/>
          <p:cNvSpPr txBox="1"/>
          <p:nvPr/>
        </p:nvSpPr>
        <p:spPr>
          <a:xfrm>
            <a:off x="5086048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grpSp>
        <p:nvGrpSpPr>
          <p:cNvPr id="73" name="Group 90"/>
          <p:cNvGrpSpPr/>
          <p:nvPr/>
        </p:nvGrpSpPr>
        <p:grpSpPr>
          <a:xfrm>
            <a:off x="6825738" y="2822315"/>
            <a:ext cx="323621" cy="205203"/>
            <a:chOff x="3356865" y="2976795"/>
            <a:chExt cx="323621" cy="205203"/>
          </a:xfrm>
        </p:grpSpPr>
        <p:pic>
          <p:nvPicPr>
            <p:cNvPr id="74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5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88" name="Group 90"/>
          <p:cNvGrpSpPr/>
          <p:nvPr/>
        </p:nvGrpSpPr>
        <p:grpSpPr>
          <a:xfrm>
            <a:off x="7342274" y="2822315"/>
            <a:ext cx="323621" cy="205203"/>
            <a:chOff x="3356865" y="2976795"/>
            <a:chExt cx="323621" cy="205203"/>
          </a:xfrm>
        </p:grpSpPr>
        <p:pic>
          <p:nvPicPr>
            <p:cNvPr id="89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1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103" name="Group 86"/>
          <p:cNvGrpSpPr/>
          <p:nvPr/>
        </p:nvGrpSpPr>
        <p:grpSpPr>
          <a:xfrm>
            <a:off x="6507210" y="594445"/>
            <a:ext cx="340158" cy="450050"/>
            <a:chOff x="4941521" y="816555"/>
            <a:chExt cx="340157" cy="450050"/>
          </a:xfrm>
        </p:grpSpPr>
        <p:sp>
          <p:nvSpPr>
            <p:cNvPr id="104" name="CaixaDeTexto 53"/>
            <p:cNvSpPr txBox="1"/>
            <p:nvPr/>
          </p:nvSpPr>
          <p:spPr>
            <a:xfrm>
              <a:off x="4941521" y="816555"/>
              <a:ext cx="3401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P1</a:t>
              </a:r>
            </a:p>
          </p:txBody>
        </p:sp>
        <p:pic>
          <p:nvPicPr>
            <p:cNvPr id="105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9305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6" name="Group 90"/>
          <p:cNvGrpSpPr/>
          <p:nvPr/>
        </p:nvGrpSpPr>
        <p:grpSpPr>
          <a:xfrm>
            <a:off x="7893026" y="2822315"/>
            <a:ext cx="323621" cy="205203"/>
            <a:chOff x="3356865" y="2976795"/>
            <a:chExt cx="323621" cy="205203"/>
          </a:xfrm>
        </p:grpSpPr>
        <p:pic>
          <p:nvPicPr>
            <p:cNvPr id="107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8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grpSp>
        <p:nvGrpSpPr>
          <p:cNvPr id="126" name="Group 90"/>
          <p:cNvGrpSpPr/>
          <p:nvPr/>
        </p:nvGrpSpPr>
        <p:grpSpPr>
          <a:xfrm>
            <a:off x="8411298" y="2822315"/>
            <a:ext cx="323621" cy="205203"/>
            <a:chOff x="3356865" y="2976795"/>
            <a:chExt cx="323621" cy="205203"/>
          </a:xfrm>
        </p:grpSpPr>
        <p:pic>
          <p:nvPicPr>
            <p:cNvPr id="127" name="Picture 40" descr="Document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865" y="2976795"/>
              <a:ext cx="147891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8" name="CaixaDeTexto 81"/>
            <p:cNvSpPr txBox="1"/>
            <p:nvPr/>
          </p:nvSpPr>
          <p:spPr>
            <a:xfrm>
              <a:off x="3406052" y="2981943"/>
              <a:ext cx="2744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700" i="1" dirty="0"/>
                <a:t>V1</a:t>
              </a:r>
            </a:p>
          </p:txBody>
        </p:sp>
      </p:grpSp>
      <p:sp>
        <p:nvSpPr>
          <p:cNvPr id="131" name="CaixaDeTexto 130"/>
          <p:cNvSpPr txBox="1"/>
          <p:nvPr/>
        </p:nvSpPr>
        <p:spPr>
          <a:xfrm>
            <a:off x="3591139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32" name="CaixaDeTexto 131"/>
          <p:cNvSpPr txBox="1"/>
          <p:nvPr/>
        </p:nvSpPr>
        <p:spPr>
          <a:xfrm>
            <a:off x="3491881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33" name="CaixaDeTexto 132"/>
          <p:cNvSpPr txBox="1"/>
          <p:nvPr/>
        </p:nvSpPr>
        <p:spPr>
          <a:xfrm>
            <a:off x="4131199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34" name="CaixaDeTexto 133"/>
          <p:cNvSpPr txBox="1"/>
          <p:nvPr/>
        </p:nvSpPr>
        <p:spPr>
          <a:xfrm>
            <a:off x="4031941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35" name="CaixaDeTexto 134"/>
          <p:cNvSpPr txBox="1"/>
          <p:nvPr/>
        </p:nvSpPr>
        <p:spPr>
          <a:xfrm>
            <a:off x="5683402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36" name="CaixaDeTexto 135"/>
          <p:cNvSpPr txBox="1"/>
          <p:nvPr/>
        </p:nvSpPr>
        <p:spPr>
          <a:xfrm>
            <a:off x="5584144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37" name="CaixaDeTexto 136"/>
          <p:cNvSpPr txBox="1"/>
          <p:nvPr/>
        </p:nvSpPr>
        <p:spPr>
          <a:xfrm>
            <a:off x="6201430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38" name="CaixaDeTexto 137"/>
          <p:cNvSpPr txBox="1"/>
          <p:nvPr/>
        </p:nvSpPr>
        <p:spPr>
          <a:xfrm>
            <a:off x="6102172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39" name="CaixaDeTexto 138"/>
          <p:cNvSpPr txBox="1"/>
          <p:nvPr/>
        </p:nvSpPr>
        <p:spPr>
          <a:xfrm>
            <a:off x="6719455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40" name="CaixaDeTexto 139"/>
          <p:cNvSpPr txBox="1"/>
          <p:nvPr/>
        </p:nvSpPr>
        <p:spPr>
          <a:xfrm>
            <a:off x="6620197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41" name="CaixaDeTexto 140"/>
          <p:cNvSpPr txBox="1"/>
          <p:nvPr/>
        </p:nvSpPr>
        <p:spPr>
          <a:xfrm>
            <a:off x="7237480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42" name="CaixaDeTexto 141"/>
          <p:cNvSpPr txBox="1"/>
          <p:nvPr/>
        </p:nvSpPr>
        <p:spPr>
          <a:xfrm>
            <a:off x="7138222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43" name="CaixaDeTexto 142"/>
          <p:cNvSpPr txBox="1"/>
          <p:nvPr/>
        </p:nvSpPr>
        <p:spPr>
          <a:xfrm>
            <a:off x="7777540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44" name="CaixaDeTexto 143"/>
          <p:cNvSpPr txBox="1"/>
          <p:nvPr/>
        </p:nvSpPr>
        <p:spPr>
          <a:xfrm>
            <a:off x="7678282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45" name="CaixaDeTexto 144"/>
          <p:cNvSpPr txBox="1"/>
          <p:nvPr/>
        </p:nvSpPr>
        <p:spPr>
          <a:xfrm>
            <a:off x="8295568" y="3201821"/>
            <a:ext cx="394916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DA</a:t>
            </a:r>
          </a:p>
        </p:txBody>
      </p:sp>
      <p:sp>
        <p:nvSpPr>
          <p:cNvPr id="146" name="CaixaDeTexto 145"/>
          <p:cNvSpPr txBox="1"/>
          <p:nvPr/>
        </p:nvSpPr>
        <p:spPr>
          <a:xfrm>
            <a:off x="8196310" y="3599897"/>
            <a:ext cx="593432" cy="27699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INFRA</a:t>
            </a:r>
          </a:p>
        </p:txBody>
      </p:sp>
      <p:sp>
        <p:nvSpPr>
          <p:cNvPr id="147" name="CaixaDeTexto 53"/>
          <p:cNvSpPr txBox="1"/>
          <p:nvPr/>
        </p:nvSpPr>
        <p:spPr>
          <a:xfrm>
            <a:off x="2726797" y="4317066"/>
            <a:ext cx="579005" cy="46166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pt-BR" sz="1200" dirty="0"/>
              <a:t>CORE</a:t>
            </a:r>
          </a:p>
          <a:p>
            <a:r>
              <a:rPr lang="pt-BR" sz="1200" dirty="0"/>
              <a:t>TEAM</a:t>
            </a:r>
          </a:p>
        </p:txBody>
      </p:sp>
      <p:pic>
        <p:nvPicPr>
          <p:cNvPr id="148" name="Picture 38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912147" y="4011286"/>
            <a:ext cx="207895" cy="264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3" name="Group 86"/>
          <p:cNvGrpSpPr/>
          <p:nvPr/>
        </p:nvGrpSpPr>
        <p:grpSpPr>
          <a:xfrm>
            <a:off x="7854157" y="594445"/>
            <a:ext cx="340158" cy="450050"/>
            <a:chOff x="4941521" y="816555"/>
            <a:chExt cx="340158" cy="450050"/>
          </a:xfrm>
        </p:grpSpPr>
        <p:sp>
          <p:nvSpPr>
            <p:cNvPr id="102" name="CaixaDeTexto 53"/>
            <p:cNvSpPr txBox="1"/>
            <p:nvPr/>
          </p:nvSpPr>
          <p:spPr>
            <a:xfrm>
              <a:off x="4941521" y="81655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P2</a:t>
              </a:r>
            </a:p>
          </p:txBody>
        </p:sp>
        <p:pic>
          <p:nvPicPr>
            <p:cNvPr id="113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9305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15" name="Group 86"/>
          <p:cNvGrpSpPr/>
          <p:nvPr/>
        </p:nvGrpSpPr>
        <p:grpSpPr>
          <a:xfrm>
            <a:off x="8748934" y="591532"/>
            <a:ext cx="340158" cy="450050"/>
            <a:chOff x="4941521" y="816555"/>
            <a:chExt cx="340158" cy="450050"/>
          </a:xfrm>
        </p:grpSpPr>
        <p:sp>
          <p:nvSpPr>
            <p:cNvPr id="116" name="CaixaDeTexto 53"/>
            <p:cNvSpPr txBox="1"/>
            <p:nvPr/>
          </p:nvSpPr>
          <p:spPr>
            <a:xfrm>
              <a:off x="4941521" y="81655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P3</a:t>
              </a:r>
            </a:p>
          </p:txBody>
        </p:sp>
        <p:pic>
          <p:nvPicPr>
            <p:cNvPr id="117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9305" y="1031220"/>
              <a:ext cx="184864" cy="235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6226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092333"/>
              </p:ext>
            </p:extLst>
          </p:nvPr>
        </p:nvGraphicFramePr>
        <p:xfrm>
          <a:off x="171382" y="636535"/>
          <a:ext cx="8811108" cy="4480828"/>
        </p:xfrm>
        <a:graphic>
          <a:graphicData uri="http://schemas.openxmlformats.org/drawingml/2006/table">
            <a:tbl>
              <a:tblPr firstRow="1" bandRow="1"/>
              <a:tblGrid>
                <a:gridCol w="800218"/>
                <a:gridCol w="2340260"/>
                <a:gridCol w="1305145"/>
                <a:gridCol w="2745305"/>
                <a:gridCol w="1620180"/>
              </a:tblGrid>
              <a:tr h="297448">
                <a:tc>
                  <a:txBody>
                    <a:bodyPr/>
                    <a:lstStyle>
                      <a:lvl1pPr marL="0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cs typeface="Arial"/>
                        </a:defRPr>
                      </a:lvl1pPr>
                      <a:lvl2pPr marL="457178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cs typeface="Arial"/>
                        </a:defRPr>
                      </a:lvl2pPr>
                      <a:lvl3pPr marL="914355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cs typeface="Arial"/>
                        </a:defRPr>
                      </a:lvl3pPr>
                      <a:lvl4pPr marL="1371532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cs typeface="Arial"/>
                        </a:defRPr>
                      </a:lvl4pPr>
                      <a:lvl5pPr marL="1828709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cs typeface="Arial"/>
                        </a:defRPr>
                      </a:lvl5pPr>
                      <a:lvl6pPr marL="2285886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cs typeface="Arial"/>
                        </a:defRPr>
                      </a:lvl6pPr>
                      <a:lvl7pPr marL="2743064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cs typeface="Arial"/>
                        </a:defRPr>
                      </a:lvl7pPr>
                      <a:lvl8pPr marL="3200240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cs typeface="Arial"/>
                        </a:defRPr>
                      </a:lvl8pPr>
                      <a:lvl9pPr marL="3657418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cs typeface="Arial"/>
                        </a:defRPr>
                      </a:lvl9pPr>
                    </a:lstStyle>
                    <a:p>
                      <a:pPr algn="l"/>
                      <a:endParaRPr lang="pt-BR" sz="10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cs typeface="Arial"/>
                        </a:defRPr>
                      </a:lvl1pPr>
                      <a:lvl2pPr marL="457178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cs typeface="Arial"/>
                        </a:defRPr>
                      </a:lvl2pPr>
                      <a:lvl3pPr marL="914355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cs typeface="Arial"/>
                        </a:defRPr>
                      </a:lvl3pPr>
                      <a:lvl4pPr marL="1371532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cs typeface="Arial"/>
                        </a:defRPr>
                      </a:lvl4pPr>
                      <a:lvl5pPr marL="1828709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cs typeface="Arial"/>
                        </a:defRPr>
                      </a:lvl5pPr>
                      <a:lvl6pPr marL="2285886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cs typeface="Arial"/>
                        </a:defRPr>
                      </a:lvl6pPr>
                      <a:lvl7pPr marL="2743064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cs typeface="Arial"/>
                        </a:defRPr>
                      </a:lvl7pPr>
                      <a:lvl8pPr marL="3200240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cs typeface="Arial"/>
                        </a:defRPr>
                      </a:lvl8pPr>
                      <a:lvl9pPr marL="3657418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cs typeface="Arial"/>
                        </a:defRPr>
                      </a:lvl9pPr>
                    </a:lstStyle>
                    <a:p>
                      <a:pPr algn="l"/>
                      <a:r>
                        <a:rPr lang="pt-BR" sz="1000" b="0" dirty="0" smtClean="0">
                          <a:solidFill>
                            <a:schemeClr val="bg1"/>
                          </a:solidFill>
                          <a:latin typeface="Gill Sans Std" pitchFamily="34" charset="0"/>
                        </a:rPr>
                        <a:t>STATUS</a:t>
                      </a:r>
                      <a:r>
                        <a:rPr lang="pt-BR" sz="1000" b="0" baseline="0" dirty="0" smtClean="0">
                          <a:solidFill>
                            <a:schemeClr val="bg1"/>
                          </a:solidFill>
                          <a:latin typeface="Gill Sans Std" pitchFamily="34" charset="0"/>
                        </a:rPr>
                        <a:t> NA FERRAMENTA PPM</a:t>
                      </a:r>
                      <a:endParaRPr lang="pt-BR" sz="1000" b="0" dirty="0">
                        <a:solidFill>
                          <a:schemeClr val="bg1"/>
                        </a:solidFill>
                        <a:latin typeface="Gill Sans Std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dirty="0" smtClean="0">
                          <a:solidFill>
                            <a:schemeClr val="bg1"/>
                          </a:solidFill>
                          <a:latin typeface="Gill Sans Std" pitchFamily="34" charset="0"/>
                        </a:rPr>
                        <a:t>GATE</a:t>
                      </a:r>
                      <a:endParaRPr lang="pt-BR" sz="1000" b="0" dirty="0">
                        <a:solidFill>
                          <a:schemeClr val="bg1"/>
                        </a:solidFill>
                        <a:latin typeface="Gill Sans Std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dirty="0" smtClean="0">
                          <a:solidFill>
                            <a:schemeClr val="bg1"/>
                          </a:solidFill>
                          <a:latin typeface="Gill Sans Std" pitchFamily="34" charset="0"/>
                        </a:rPr>
                        <a:t>PROCESSO DE TD - METRÔ</a:t>
                      </a:r>
                      <a:endParaRPr lang="pt-BR" sz="1000" b="0" dirty="0">
                        <a:solidFill>
                          <a:schemeClr val="bg1"/>
                        </a:solidFill>
                        <a:latin typeface="Gill Sans Std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0" dirty="0" smtClean="0">
                          <a:solidFill>
                            <a:schemeClr val="bg1"/>
                          </a:solidFill>
                          <a:latin typeface="Gill Sans Std" pitchFamily="34" charset="0"/>
                        </a:rPr>
                        <a:t>ESTAÇÃO DO METRÔ</a:t>
                      </a:r>
                      <a:endParaRPr lang="pt-BR" sz="1000" b="0" dirty="0">
                        <a:solidFill>
                          <a:schemeClr val="bg1"/>
                        </a:solidFill>
                        <a:latin typeface="Gill Sans Std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</a:tr>
              <a:tr h="743620">
                <a:tc>
                  <a:txBody>
                    <a:bodyPr/>
                    <a:lstStyle>
                      <a:lvl1pPr marL="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1pPr>
                      <a:lvl2pPr marL="457178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2pPr>
                      <a:lvl3pPr marL="914355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3pPr>
                      <a:lvl4pPr marL="1371532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4pPr>
                      <a:lvl5pPr marL="1828709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5pPr>
                      <a:lvl6pPr marL="2285886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6pPr>
                      <a:lvl7pPr marL="2743064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7pPr>
                      <a:lvl8pPr marL="320024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8pPr>
                      <a:lvl9pPr marL="3657418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9pPr>
                    </a:lstStyle>
                    <a:p>
                      <a:pPr algn="ctr"/>
                      <a:r>
                        <a:rPr lang="pt-BR" sz="1050" b="1" dirty="0" smtClean="0">
                          <a:solidFill>
                            <a:srgbClr val="C00000"/>
                          </a:solidFill>
                          <a:latin typeface="Gill Sans Std" pitchFamily="34" charset="0"/>
                        </a:rPr>
                        <a:t>Ideia</a:t>
                      </a:r>
                      <a:r>
                        <a:rPr lang="pt-BR" sz="1050" b="1" baseline="0" dirty="0" smtClean="0">
                          <a:solidFill>
                            <a:srgbClr val="C00000"/>
                          </a:solidFill>
                          <a:latin typeface="Gill Sans Std" pitchFamily="34" charset="0"/>
                        </a:rPr>
                        <a:t> (Briefing) </a:t>
                      </a:r>
                      <a:endParaRPr lang="pt-BR" sz="1050" b="1" dirty="0">
                        <a:solidFill>
                          <a:srgbClr val="C00000"/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1pPr>
                      <a:lvl2pPr marL="457178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2pPr>
                      <a:lvl3pPr marL="914355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3pPr>
                      <a:lvl4pPr marL="1371532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4pPr>
                      <a:lvl5pPr marL="1828709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5pPr>
                      <a:lvl6pPr marL="2285886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6pPr>
                      <a:lvl7pPr marL="2743064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7pPr>
                      <a:lvl8pPr marL="320024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8pPr>
                      <a:lvl9pPr marL="3657418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9pPr>
                    </a:lstStyle>
                    <a:p>
                      <a:pPr marL="285750" marR="0" indent="-2857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b="1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Registrado</a:t>
                      </a:r>
                    </a:p>
                    <a:p>
                      <a:pPr marL="285750" marR="0" indent="-2857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b="1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Enviado para Priorização</a:t>
                      </a:r>
                    </a:p>
                    <a:p>
                      <a:pPr marL="285750" marR="0" indent="-2857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Elaborado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P0 – Estruturação da Ideia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GTD1 – CONSULTORIA DE TECNOLOGIA</a:t>
                      </a:r>
                    </a:p>
                    <a:p>
                      <a:pPr marL="285750" marR="0" indent="-2857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GTD6</a:t>
                      </a:r>
                      <a:r>
                        <a:rPr lang="pt-BR" sz="1050" baseline="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 – GESTÃO DE DEMANDAS</a:t>
                      </a:r>
                      <a:endParaRPr lang="pt-BR" sz="1050" dirty="0" smtClean="0">
                        <a:solidFill>
                          <a:schemeClr val="tx1"/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90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Receber e Escrever Briefing</a:t>
                      </a:r>
                    </a:p>
                    <a:p>
                      <a:pPr marL="285750" marR="0" indent="-2857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90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Avaliar e Qualificar Briefing</a:t>
                      </a:r>
                    </a:p>
                    <a:p>
                      <a:pPr marL="285750" marR="0" indent="-2857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90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Selecionar e Priorizar demanda</a:t>
                      </a:r>
                    </a:p>
                    <a:p>
                      <a:pPr marL="285750" marR="0" indent="-2857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90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Elaborar matriz de requerimentos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</a:tr>
              <a:tr h="403462">
                <a:tc rowSpan="4">
                  <a:txBody>
                    <a:bodyPr/>
                    <a:lstStyle>
                      <a:lvl1pPr marL="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1pPr>
                      <a:lvl2pPr marL="457178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2pPr>
                      <a:lvl3pPr marL="914355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3pPr>
                      <a:lvl4pPr marL="1371532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4pPr>
                      <a:lvl5pPr marL="1828709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5pPr>
                      <a:lvl6pPr marL="2285886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6pPr>
                      <a:lvl7pPr marL="2743064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7pPr>
                      <a:lvl8pPr marL="320024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8pPr>
                      <a:lvl9pPr marL="3657418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9pPr>
                    </a:lstStyle>
                    <a:p>
                      <a:pPr algn="ctr"/>
                      <a:r>
                        <a:rPr lang="pt-BR" sz="1050" b="1" dirty="0" smtClean="0">
                          <a:solidFill>
                            <a:srgbClr val="002060"/>
                          </a:solidFill>
                          <a:latin typeface="Gill Sans Std" pitchFamily="34" charset="0"/>
                        </a:rPr>
                        <a:t>Projeto ou Evolutiva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1pPr>
                      <a:lvl2pPr marL="457178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2pPr>
                      <a:lvl3pPr marL="914355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3pPr>
                      <a:lvl4pPr marL="1371532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4pPr>
                      <a:lvl5pPr marL="1828709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5pPr>
                      <a:lvl6pPr marL="2285886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6pPr>
                      <a:lvl7pPr marL="2743064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7pPr>
                      <a:lvl8pPr marL="320024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8pPr>
                      <a:lvl9pPr marL="3657418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cs typeface="Arial"/>
                        </a:defRPr>
                      </a:lvl9pPr>
                    </a:lstStyle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Em elaboração de requerimentos</a:t>
                      </a: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Em esboço da Solução</a:t>
                      </a: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Em validação do </a:t>
                      </a:r>
                      <a:r>
                        <a:rPr lang="pt-BR" sz="1050" dirty="0" err="1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Yellow</a:t>
                      </a: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 </a:t>
                      </a:r>
                      <a:r>
                        <a:rPr lang="pt-BR" sz="1050" dirty="0" err="1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Pad</a:t>
                      </a:r>
                      <a:endParaRPr lang="pt-BR" sz="1050" dirty="0" smtClean="0">
                        <a:solidFill>
                          <a:schemeClr val="tx1"/>
                        </a:solidFill>
                        <a:latin typeface="Gill Sans Std" pitchFamily="34" charset="0"/>
                      </a:endParaRP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Planejar e Controlar Capacidade</a:t>
                      </a: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err="1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Pré</a:t>
                      </a: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-planejar</a:t>
                      </a:r>
                      <a:r>
                        <a:rPr lang="pt-BR" sz="1050" baseline="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 e analisar viabilidade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5C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P0</a:t>
                      </a:r>
                      <a:r>
                        <a:rPr lang="pt-BR" sz="1050" baseline="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 – Estruturação da Ideia</a:t>
                      </a:r>
                      <a:endParaRPr lang="pt-BR" sz="1050" dirty="0" smtClean="0">
                        <a:solidFill>
                          <a:schemeClr val="tx1"/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5C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GTD6</a:t>
                      </a:r>
                      <a:r>
                        <a:rPr lang="pt-BR" sz="1050" baseline="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 – GESTÃO DE DEMANDAS</a:t>
                      </a:r>
                      <a:endParaRPr lang="pt-BR" sz="1050" dirty="0" smtClean="0">
                        <a:solidFill>
                          <a:schemeClr val="tx1"/>
                        </a:solidFill>
                        <a:latin typeface="Gill Sans Std" pitchFamily="34" charset="0"/>
                      </a:endParaRP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GTD 6 – GESTÃO</a:t>
                      </a:r>
                      <a:r>
                        <a:rPr lang="pt-BR" sz="1050" baseline="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 DE ENTREGAS</a:t>
                      </a:r>
                      <a:endParaRPr lang="pt-BR" sz="1050" dirty="0" smtClean="0">
                        <a:solidFill>
                          <a:schemeClr val="tx1"/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5C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90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Esboçar Solução</a:t>
                      </a: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90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Planejar e Controlar Capacidade de Entrega</a:t>
                      </a: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90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Analisar dependências e impactos</a:t>
                      </a: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900" dirty="0" err="1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Pré</a:t>
                      </a:r>
                      <a:r>
                        <a:rPr lang="pt-BR" sz="90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-planejar</a:t>
                      </a:r>
                      <a:r>
                        <a:rPr lang="pt-BR" sz="900" baseline="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 e Controlar Releases</a:t>
                      </a:r>
                      <a:endParaRPr lang="pt-BR" sz="900" dirty="0" smtClean="0">
                        <a:solidFill>
                          <a:schemeClr val="tx1"/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5CF">
                        <a:tint val="20000"/>
                      </a:srgbClr>
                    </a:solidFill>
                  </a:tcPr>
                </a:tc>
              </a:tr>
              <a:tr h="403462">
                <a:tc vMerge="1">
                  <a:txBody>
                    <a:bodyPr/>
                    <a:lstStyle/>
                    <a:p>
                      <a:pPr algn="l"/>
                      <a:endParaRPr lang="pt-BR" sz="1100" b="1" dirty="0">
                        <a:solidFill>
                          <a:schemeClr val="tx1"/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5C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baseline="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Em Planejamento  </a:t>
                      </a: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pt-BR" sz="1050" dirty="0" smtClean="0">
                        <a:solidFill>
                          <a:schemeClr val="tx1"/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P1 - Planejamento</a:t>
                      </a: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pt-BR" sz="1050" dirty="0" smtClean="0">
                        <a:solidFill>
                          <a:schemeClr val="tx1"/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GTD 3 – DESENHO DE SOLUCAÇÕES E PLANEJAMENTO</a:t>
                      </a: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GTD 6 – GESTÃO DE PORTFÓLIO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90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Entender e Detalhar Requisitos</a:t>
                      </a: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90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Definir Solução Técnica</a:t>
                      </a: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90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Planejar</a:t>
                      </a:r>
                      <a:r>
                        <a:rPr lang="pt-BR" sz="900" baseline="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 </a:t>
                      </a:r>
                      <a:endParaRPr lang="pt-BR" sz="900" dirty="0" smtClean="0">
                        <a:solidFill>
                          <a:schemeClr val="tx1"/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03462">
                <a:tc vMerge="1">
                  <a:txBody>
                    <a:bodyPr/>
                    <a:lstStyle/>
                    <a:p>
                      <a:pPr algn="l"/>
                      <a:endParaRPr lang="pt-BR" sz="1100" b="1" dirty="0">
                        <a:solidFill>
                          <a:schemeClr val="tx1"/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5C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baseline="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Em Execução</a:t>
                      </a: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pt-BR" sz="1050" dirty="0" smtClean="0">
                        <a:solidFill>
                          <a:schemeClr val="tx1"/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5C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P2 - Desenvolvimento e Execução </a:t>
                      </a: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pt-BR" sz="1050" dirty="0" smtClean="0">
                        <a:solidFill>
                          <a:schemeClr val="tx1"/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5C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GTD 3 – DESENVOLVIMENTO E EXECUÇÃO</a:t>
                      </a: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GTD 6 – GESTÃO DE PORTFÓLIO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5C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90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Especificar</a:t>
                      </a:r>
                      <a:r>
                        <a:rPr lang="pt-BR" sz="900" baseline="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 e Construir</a:t>
                      </a: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900" baseline="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Testar a Solução</a:t>
                      </a: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900" baseline="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Implantar e Homologar</a:t>
                      </a:r>
                      <a:endParaRPr lang="pt-BR" sz="900" dirty="0" smtClean="0">
                        <a:solidFill>
                          <a:schemeClr val="tx1"/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5CF">
                        <a:tint val="20000"/>
                      </a:srgbClr>
                    </a:solidFill>
                  </a:tcPr>
                </a:tc>
              </a:tr>
              <a:tr h="403462">
                <a:tc vMerge="1">
                  <a:txBody>
                    <a:bodyPr/>
                    <a:lstStyle/>
                    <a:p>
                      <a:pPr algn="l"/>
                      <a:endParaRPr lang="pt-BR" sz="1100" b="1" dirty="0">
                        <a:solidFill>
                          <a:schemeClr val="tx1"/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5C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baseline="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Concluído </a:t>
                      </a: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pt-BR" sz="1050" dirty="0" smtClean="0">
                        <a:solidFill>
                          <a:schemeClr val="tx1"/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5C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P3 – Medição de Benefícios e Resultados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5C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GTD 3 – DESENVOLVIMENTO E EXECUÇÃO</a:t>
                      </a: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105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GTD 6 – GESTÃO DE PORTFÓLIO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5C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90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Executar QA</a:t>
                      </a:r>
                    </a:p>
                    <a:p>
                      <a:pPr marL="171450" marR="0" indent="-171450" algn="l" defTabSz="1323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pt-BR" sz="90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Medir</a:t>
                      </a:r>
                      <a:r>
                        <a:rPr lang="pt-BR" sz="900" baseline="0" dirty="0" smtClean="0">
                          <a:solidFill>
                            <a:schemeClr val="tx1"/>
                          </a:solidFill>
                          <a:latin typeface="Gill Sans Std" pitchFamily="34" charset="0"/>
                        </a:rPr>
                        <a:t> Desempenho e  Resultados</a:t>
                      </a:r>
                      <a:endParaRPr lang="pt-BR" sz="900" dirty="0" smtClean="0">
                        <a:solidFill>
                          <a:schemeClr val="tx1"/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5CF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 smtClean="0">
                <a:solidFill>
                  <a:srgbClr val="FFC000"/>
                </a:solidFill>
                <a:latin typeface="Gill Sans Std ExtraBold" pitchFamily="34" charset="0"/>
              </a:rPr>
              <a:t>Status </a:t>
            </a:r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das demandas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de TD</a:t>
            </a:r>
          </a:p>
        </p:txBody>
      </p:sp>
    </p:spTree>
    <p:extLst>
      <p:ext uri="{BB962C8B-B14F-4D97-AF65-F5344CB8AC3E}">
        <p14:creationId xmlns:p14="http://schemas.microsoft.com/office/powerpoint/2010/main" val="1496560284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data:image/jpeg;base64,/9j/4AAQSkZJRgABAQAAAQABAAD/2wCEAAkGBhQSERUUEhQVFRQVFBUUFRcWFBQVFRQUFBQVFRQUFBQXHCYeFxolGRUUHzAgIycpLCwsFR8xNTAqNSYrLCkBCQoKDgwOGg8PGCkcHBwpKSkpKSkqKSkpKSkpKSkpKSksKSksKSkpKSkpKSkpKSkpKSkpKSkpKSksKSksKSkpLP/AABEIAM0A9gMBIgACEQEDEQH/xAAcAAACAgMBAQAAAAAAAAAAAAAABQQGAQIDBwj/xABQEAABAwIDBAQJBgoHBwUAAAABAAIDBBEFEiEGEzFBIlFhcQcUMlKBkZKhsRZCYnKCwSMkMzRDRHODstEVU1SEs9LhY2STlKLT8BcldKPC/8QAGQEBAAMBAQAAAAAAAAAAAAAAAAECAwQF/8QAIxEBAQACAwEAAgIDAQAAAAAAAAECEQMSITEyQRNRQmFxBP/aAAwDAQACEQMRAD8A9xQhc5pcoug6IVHx3whOhdlZGx3e5w+CgweE+U8YYx9p6rcpFpja9GQqIPCI8/o2e05doNuJnfome05R3ielXVCo1Xt3OzhDGfS9LD4U5wbbiL2nqe0R0r0xC80d4UZ7aQRe29R3eFuoHGni9t/8k7Q616mheeYR4UHyOAkiY2/U533q9UdaJGghTtGklCEKUBCEIBCEIBCEIBCEIBCEIBCEIBCEIBCEIBCEIBV/avE90w9ysC888JNRZ1vohRfiYo1XU53klDAoO91TPDm5iFhW2JthlBmsrbhuGABLMNhsAnUE9lVvptWYU1wVVxDZ7XRW/wAZUacgptPVRH4eWqFU0/YrjWUwKSVlIolRcYrmWxuF6HsRj1xlcV5/VxlpUzAa/JID2rXGufKPc2uuFsoGEVWeMHsU9bMQhCEAhCEAhCEAhCEAhCEAhCEAhCEAhCEAhCEAvKvClVWny/RavVV434V3/jlv9mz4FVy+Jx+qY2S5VpwKHgqzQQ3cr7gdJYBY5Ojjnp1TR6KUyJZiLQFs6raqRuyWrk8pdi2MPYY2xRtkdIXAZpN21uRuY3OUk6X4BQ3YjV/2aH/mj/2lOjZjUJVUhYkrqo/oIR31LvuiUOWaqP6GAfv5D8IlGi1AxGnuEogdld6U3qW1VtWU4/eSH/8ACr1Tv2u1bEe57x8Wq8YZvZdia7NGArZdeVeDzFZRLHFJGwNkbIWuZI5xBjDSQWlo4h3G69UC3jnrN0XWbLBUoF0XQhAXRdZsiyDF0XQiyAui6zZCDF1q+UNBJIAHEkgAd5KW1tbI6TcQWDg0OkkcLiJriQ2zfnvOV1hwAFzyB1i2ZhveUGd/nTneey09Bv2WhB0n2npGeXUwN75ox966tx2nIuJ4SDwO9jsb9Ruu0eHRNaWtjYGkWIDGgEHkQBqubcGgHCGIfu2fyQd4KprxdjmuHW0hw9YXS6U1GytM7XctY7k+K8Lx2h8ZBuuuFUMsWZr5jMzTdl7RvW8bh722DxwsbA8b3QMkIQgF4/4VaYmqJHmM+BXsC8s8I5/Gj9RnwKpl8Xwm6peEx2NyrZS4kANFW3+Top+GUjnNWWUbYU1qcWNuKVvxl1+K2qMPclElK4FRJF7lTf8ApTNNBc8DL/hWTp9dpxVJex2+hA45nn/63A/EJrWwysbc3smkzIymxVcW4kSkschPFD5ip0jusHjIISHFG9JdGTmy4taXuSRTOrTsFGTVxDzKeV/tyRM+AXq7V5fgmzUM1VEyZgeBSSuAJcC076IBwLSCDxCuPyFpRwE4HUKurt6t6t456sF1lVzYtmRtVHme4RVkrGZ3vkLWZI3tbmeSSLO61Y1KAhCEAhCEAhCEAsFZQgQbOSXmrQ78oKrX9mYYjCR2ZNO8OT9J8UwEvkE8LzDUNblzgZmyMBvu5oyQHtuSRqHC5sRc35Mxapj0npi+3z6Zwkae3dPLXt7hmQPUJO3aZh/RVN+rxWa/8KyzaIONmwVRPbA5nvfYe9A3WMyVmqqX+RC2IedK8OI/dxk39sKRQ4duyXOc58j7ZnusNBezWtGjWi50HXrc6oJqEIQBXnO3lEXVBP0W/BejKpbVMG8v9ELPk+NuH8lFhoBbVNqCENWgYiN1isK6pEmpGiUTU1zwTXOuL3aqu1uqDRYG588LwBZjnl1zydG5ot19ItU7GqCtMeraMDsNQ4+8NsneEZRxU7EpWltleXxHX15EKapBt+APolH3lFFJPIwPEcJBvpvHtOji036B5hWeqgGf0pds/F+Ls75PdK9OynT1AFPUHgyAd8kh+DF0p6CqDhZsHtyn3ZFYYoNUwpKa7wrSqZYnOyGFTiUTz7kBsBhYIjIfKkD3Fwe0W8lo0J4K4lRcPjysA7FKJW8ctV/ZU/ha8dVa7309OR8VYVR/B3BVtmxDxo3HjZDDlDBJZovKB2s3Q006J7Vd7qUMoWMyygEIWLoMoWLrKAQhCAWLLKxdAWVbFcx+KBrHgllNMyRoPkP3sDmgjkbO9Sd1WKRRtzSSxtaNLue0C/VqeKq7fE/H3V0e9lmdC2A7qCWRlg4nPma2xdazePAILiFlJRtbTjy3SR/tIJ4wO9zmAe9MqPEYphmikZI3rY9rh62lBIQhCAVb2jgzP9AVkSrFYbm/YFXL4tjdVU6ujyhLgFZcSp+iqy91isMo6sMtt3OWY4L6qK6TVSKevaOKybbR6ipew6Ifijrarevq2FLHThStuuolzG64bPfkAPNkmae8TSf6LrCQuWzvkPHMVFQD370/cQpUt9N82VrnHg1pce5oufgu2BbPueGGSepzFrS7LKGWcQCbBrdBquWIx/i0pH9WfVpf3XVyoYAHacPuWmE8YZ5NmbKC2lTWD+8vPxW/yUHOprD/AHl4+Fk6j4LZdDlIvkmOVVWD+8vPxuj5K/73Wf8AHt8Gp6hBV8W2c3cEsjamszMike29VJa7WFwuOHEJ9hcpdDG52pdGxx7y0Ernjn5tPfhuZb+w5a7P38Vgvx3EV+/dtQTpHgAkkADUk6AAcSSkkc09V0o3biA+S7KHTSt5OaHjLE08QSHEjWwW21jvwLWHyZainif2skmYHtPYRdv2k6agX0GDCN2YyzyOtb8JK5zdf9mLMvpxsmKEIBCEIMFITH45LI19/F4nbvKCWiaUayF9tSxtw0N4E5r3sE+KRbJSjJMz57KupDxzBfM6RnrjfG70oJcGzVKxwcynha5pBa4RMDmkcwQLg9qZWWUIMWXGKija5z2sa1z7Z3BoDnWvbMQLm1zx613QgEIQgFHqo7qQkuKbXUkDzHNOxjwAS03LgDwJABsoozNT3BCpWLQ5XlWN23OH/wBspx3ytb/FZVLHtqKMu6NVTu7pWH4FZ5zxtx5euJF1zkpCoUW01Lf8vGO0kge0RZWCKPMFzWWOqXZBLTFRzSlWWfDkvfBYq3ZrtBgiIW+zg6dQ3qqCR3Pjid8SVKztBsSAeNiQDbrsVD2YwYU89RJnDhLICwB18rNSQRy6RPoaEnrHK+rtNhbnUcwa0ucYn5WtF3ONtABzKls2liaRmiq29ho6jT0taR70xwKpBanGVdMnjjyvpI3bGG2kdUe6jqv8iz8s4fMqf+Tqv+2noK1kJscoubGwNwCeQJ5K6hCNvKT5z3t1t04Khuo4i5ZZbR7eUJ/Wom/Xdu/47XS/wa1cz6WTfQuhtU1Ng51yS6eR7wNB0Q52UHnlPDRWwsB4i/eEFaxTbOgfBK3xuDpRyNtvWgm7CLalN9nHE0lOTxMEJPeY2qc6EHiB6gtgEEHG8KFTC+IuLc1i17fKjkY4Pjkb2tc1p9CVwbTuhAZXs3LhpvmgupZOWYSfor+bJa3InirGsOag4UtfHILxvY8dbHNcPWCu90qqNlaR5u6nhudcwja13ttsfeufyUpwLEPy9RnnLQO4vsgc5llfL+IbazR4vv6drWCGV0TI2eQ+MPLSHni7MNST2W4L6Ekx8/NaL9RJVblItjhcvh4kmJYG7feMUzxFMWhsgc0uinY3yWytBBDhc2e03FyNRolM22Tvot95965Hahx13hVf5I1/gzOG7SPj0q4JIrfpIwZ4D252DM37bR6V2+V1L/XNPcHH12Gi4bPbRCdzmHymjNccxexv7lJ2nx1tFSTVLhcRMLg29szuDW35XcQL9qvLubjLLG43VDdrKQ/rMPcZGh3sk3PqUqhxIS3LGvyi1nOY5jXX83NYnvtbVaYPXtqIIp2iwljbIARqMwBsbi+h09CnKVWUIQgFjIFlaPfZBznhaRqAe8A/FU3aWBoOjWjuaB9ytNRUKoY3UXKzz+NeP6rs46LurKfgVvg05EMV+O6jv7DVyxA2ik/Zv/hKg11HNJSsbTzbl+RmuUEEZAMt+Le8LDW3R8WI1Sjyaqv0WF1TI2NNXcgdLNC2Q35jOXAuHeFFwmkrGPc6aZro3OcchGZwv1P0DRwNtQo6/wC1u1/pOFJFLLO6WON+WRrG52NdYNiY6wzDTV5WzcBpnH83i9EbR8Ao2HEl03bO/wDhYPuVswXC+ZVpLapbJHfAdj6PTPSwnvYCrM3YPDz+qQehgC4wR5U3oqnkuiOWlzvB9QH9ViH1QWn1tIWo8HtB/Z2nvfI71XdorGEKyqu/+n9F/Uns/DT6d3T09C6bD/mEHHRrhqSTYPcALnUp6Uj2HP8A7fTHriBPeSSffdA9QhCAWCsqLiFc2JhcfQOsomTfkIsexyznMB0b28TzXmPhB8JMrKV1Mwm8hsXX6QZzbftPuFuad4nVklxPFxJPYvItuHXqbfRFvWVyY5XLN3cmEw4iBtSQQ7mvUNk9sXuiLXvJ3dg0k62Iva542XlZXtXgtkiFA2MRRvmkkke50kYcGMuGs4+UbAkDgtc5uOfhysu/rkyt3zssYL3Hk0X9J6lJqKKaJoL2OHvA7yOCuOH4XFA05AAXElxsASTry+C0ranonhZYa07bn2+OHg0jJmlceUYHpc4f5SrF4QcOZNhtUJBcNhklAuR04mOewm3GzgDbsULwfRMDZi0i5eNOYAGnouSmm3D7YbWH/dph64yPvXTx/i4OW7zpnhzrxRk8TGwnvyhSVzp2Wa0dQA9Qsui0ZBCEIBV7HKerLyYaqOJlhZpphI4Hmc5eOPVZWFJMZms63YFFTFZrY65gJFZE79pRgf4coVVmrKxzv1V3beZnu1t61YsZxC/RCWU8PNYZ5OnDApqjVua5pjpjmaW3Eso4gjgWdqZUzMrGtPFrWt9loH3Ls9qhVmIxxAGWRrAbgZja5HUs9tNaSXlR3suonyjpj+sRe2FNosZpL9KpgH7xqmY7LlI4YVg1W178kcD2uke8F8sjTZx0BAjIBAT/AAnEq17CW01NZskkf5zIOlE4scfyR0uF2btJQZC3xuEBzS0lslnAEEEgjUHXiluw2KxQU5ZPXwSPMjyLzR6NLyQ43t0nEl5+sByXRJpy5ZbOvGcQ/qKO3/yZ7/4NltFX4gDpT0vpqpfuhU6DFIXmzJonk8A2RjifQ0lSQpVYhxuut+YxntbWtt/1Rgj1Lf8ApquHHDwfqVkR9eZrVtS4qxr8hewO80uaHa88t7p619xp/NWVVig2tqZTJaged1I6J2WopzZ7Q0kdIt84Jzs7Qbmmijs4ZWDR5aXAm5IcWEtuCeRskXg6jqxFUGsjbG41UxFg4GS7zmkseDD0Q0dTb8wrddBlCxdZQYVDx/GM73A/McWgdVjZXxeVbWx7uqlHInMPtC/81jy706P/AD67FOIVQ1K82xmikrKxscDS55BA6rA6lx5Adat+I7x3RaNTp2m/IK3bG7FeKsdI+2+eOkeNm8cgPfxPMrDj8u3byyZY6UWj8HO4s6QB7+P0R3D+atuC/guxN8TlGt+SrFRXnOGMGZ55ch3nkoyt2Y4STw9rscDRqf8AzqC60OHSzDNJeJh4Ai73DrI+aPet8FwaOO0kvTl6zwb2NHLvTSprBZTMf3Vd/qItBGaKZr2vzMPReDocp4nTjbirHt66+G1NvnRWH2iB96o+I4h1cUzq9oRNhksTtHhsbR9Ju+jb69Vtx5T45ubD/J6OFlYCyt3KEIQgFVtqKjK49w+CtKpm1rSZrfRb8FTO6jTjm8lcipy911MdTWTOiorNW0lNdcrsIpIUnnH40weZDI4/bexrf4X+pWiogSKGmzVMxHzWwx+50h/jUxFd6BgLv9FYIogOAHqUTDsHIN7JpLFYLbCMM76k07rhZlp2u8prT3tB+IUakfqp+VXYq1tZg0ApJniGISNZdjhExr2vzNDS14FwbkKxvZYlKtr2/iUx80Nd7EjHfcnUjbk95RKtYbgcM8lU6WGKS9SWgvjY82ZDE21yL2Bum0GxFEPJp2x/snSQ37xG8XW+y0PQmPXV1N/RJl+DQn3BWipQzYilHkiZt+IbVVQB7xvFk7Gxj8nNVxfVqpnD1SFwTQzLeKYptBNLsq4AllZWNdY6mcPBNtCWvYWj0AJhs3WumpKeR/lvhjc7tcWAuOnbdS6k9B31XfAqpbObQTx0kDTh9S5rYYwHRvpn5gGAZsplBF+o6qRdF5/4RKT8NG4c2EH7J/1Tz5Yu/sFf/wAGL7pVV9tdonSbs+J1jbZh04o23vbh+EWfJ+LXhus4UYI1jJw6TgAbdjuR+Ks9ZiYtoQeqx4rz2qxV/wDZqgeiL/OogxCqfoyCW3XeK/o6a55ufHf5fac4pibnv3cWrjxPJvau+G4YItTq46k8yUow10kNz4rKT1l0IPadX6rNZtK8fq8w9MRHrD1Gq03LFklxQBKq7HLaX49qQS4rNYWgk6XA5ovhmXJuC1L+mYZew5ob+ovTVrPcPY3E6nVa4pUZIsw5SQm3XaeM29yQxz1LDZ1PNYcwAfg4rrPiJla1gjlDt5EdY3AWbI1xueFrApJqqZ2WPoukqmyMa9pu1wBHpXdef7EbRZDuXnoOPQJ+a48u4/HvV/C68cu0cGWPW6ZQhCsqFXsdo80mbsCsKh1sV1XObi+F1SVosFkMCJ4iFrGVyadu0aop7pZTbO1LJJHxy05EkmfLLDISOi1obnZIOAb5qsWVamQrfDHTDPPfkQWsrwLXoPZqv82iX1hr7/qT+wCoj993fBMMRxhkOUPLi598jGMdJI/LxysaOAuLk2AuNVC/pGpf5FE+3XNPDF/0tzlaMCqp2gqKcjewQuvlOWKpIkIdIyIODJI2gjO9oJvpdOqTadxaHGjq8pFw5jIpgQeBG7kJI7glmO4BUVjGtmpYOg8PaW1j2uFiC5t9x5LgLEd3UE3hxuSD85o5YmD58OWpiaBoLiLptA+pYIbQ9ocZE1LNE2CrbJJGWxh1JOA5xIt0g0hvebK4tg1XKgxGOaMSQvbIx3BzHBzTblcc+zipDXKyFbw+vqKcSMNDPJeed+dklLlcJJnvaQHSh3klvEKQdoZTxoKweind7xNYKdimOwwENe4mRwu2KNjpZXAcxGwF1u06dqgt2peTZmH1ztSLmOKJunWZJBp28FCHKk2tD81qStOV7o3WijcA9hs5t2ycipTdpwPKpa1o6/FnO90Zcfckuy9LVUTZWsop5GyTPlbvKunvG1xuIwM54X43uU8+VT2az0VXGObmsjqGjt/APc632VI51m18Qjf+DqmnI7KXUdUAXZTYXyHnbimmBMcylga4WcIYg4HiHBjcwPput8KxqGpZnglbI0Gzsp1afNe3i09hAKmOCDIKQ7bUWelJA1Y5rh67H3FOr2UHHXg00t/MKrlNyrY3WUeVyUpdpbvKkse0cNLcuakOl5DRKcS11Gh7Fy/Pj0pf7R8YxVrAbnU8hxPYq/HHJO4E9FvIKYcMObM+5J6+SZU1mKv/AFr+k3C8JawXdqe3kps1ZYJW/EO1LKvESFO2Z3FPcrrJCw8QPv8AWk1PWjrU2OrHWqoyMaWjaObuzXgvUcHrxLE1wN9AHfWA1uvJmVWiuPg6qy8zi+g3Zt2nMCfcPUteK+6c3NNza7IQhdTkC4SHVd1Gm8r1IIdbEFAYxMqk6KCs7jNtZndaYcVAxOtdG1oY3PJI7JG0nK3NYuLnu5MAaSSNdLDUqfkuouL4e9zGuisZYntlY1xs15Ac10Zd83MxzhfkbHkrK2uWE4IIyZHneTvFpJSLEjiGMb8yMaWaOq5udU5jhS3Ddo4JXbsOMcw8qGUbuZv2HeUO1twetMXPUqugss7xaNaujY1IRYlgRa51TSAR1ABLmjSOqAH5OZo0Lj82S2ZptxGiZjFWeK+Na7vc74D51izMG9+tkYnirYbMaM87wd1ENXE8MzvMjB4vOg79Fu3CGGk8VeSWGHcuINiejlLgeRvqiG+B4YYml8ljPLZ8zhzdbRjT5jBZrR1C/ElMsyr2E446N7aWsIE9rRScGVbR86Pql86PiL3FwdH5UjoFlct5Zc/GFAgYtsvFM7ejNDOBZs8JySi3AOPCRv0XgjsXPBMTl3jqapA38bQ9sjRaOoiJyiVrfmOB0czkSCCQQmFXiLIml0r2xtAvd7g0e9LcPk8YqG1DWubEyJ8cbnAtM28cxznBp1DBkFiQLkkjSxIOnBKsdB8Xlt5jvgmhK4VMYe1zT84FvrFlN+EeUCVcRxueXxWs7XMe5h4tJae8Gy0DiuOu6VxqZwTpy96hvJJt/wCWTLcLQ09hfmVnWvZAkFioE/SNgp9QFikpeahDjSxFnlC46+Nu9M4eF25fUujW2XF7Be4GvWFJay954L0fwcYUY6cyuGsrrj6jbhvrJcfUqVszgZqpww+SOlIfog8O88F7DFGGgBosALADgAOAC24sf25eXPzTdCELpc4UKoks70BTUrxM2d6Ag5TS3Wlgo+ZaF6qsl7wBYM6jNXRoUocq/DYqhuSaNkjeQe0Gx62ni09osoTNkohoyWrYOQZWTgDsAc4psFtdSFrcAcPJrawDqMsb/e+MlZOzrD5dRWP76qRg9UWVTyVgINcOw+KAEQsDcxu43LnvPW97iXO9JU5hXKNq6lyIcsQpI5ozHMxsjDa7XgOFxwOvA9o1CR/JWnb+T30XZFVVLB7O8ITiaRRg9Auds5HymqwesVtR97iPcusWzMZ8uesd31kw/gIU66w56hLpQbPUkTg9kLN5e+8cDJJfr3khLr+lOg+6VUzbpgzgpiGXFcnzgcVu4qJPTAqaPPttIgKkvbwkAJ+sNCkzCrZtjSjdg9Th77qoxusuTk8rr4/cTCOKwufUudQdL+pYikutK1yyaoIizFSY47LWILdx0SDV71xMi0e9S8AoxNUxRu8l0gB7hqR7relXk2zyr0nYTB9zTh5HTls89Yb8werX0qzLVo00Wy65NTTkt2EIQpQ//9k="/>
          <p:cNvSpPr>
            <a:spLocks noChangeAspect="1" noChangeArrowheads="1"/>
          </p:cNvSpPr>
          <p:nvPr/>
        </p:nvSpPr>
        <p:spPr bwMode="auto">
          <a:xfrm>
            <a:off x="35719" y="-91083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51435" tIns="25718" rIns="51435" bIns="25718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080455"/>
              </p:ext>
            </p:extLst>
          </p:nvPr>
        </p:nvGraphicFramePr>
        <p:xfrm>
          <a:off x="521550" y="546525"/>
          <a:ext cx="8486775" cy="4107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968"/>
                <a:gridCol w="1845205"/>
                <a:gridCol w="2584517"/>
                <a:gridCol w="945561"/>
                <a:gridCol w="1330524"/>
              </a:tblGrid>
              <a:tr h="534329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solidFill>
                            <a:srgbClr val="00B0F0"/>
                          </a:solidFill>
                          <a:latin typeface="+mj-lt"/>
                        </a:rPr>
                        <a:t>ENTRADA</a:t>
                      </a:r>
                      <a:endParaRPr lang="pt-BR" sz="1200" dirty="0">
                        <a:solidFill>
                          <a:srgbClr val="00B0F0"/>
                        </a:solidFill>
                        <a:latin typeface="+mj-lt"/>
                      </a:endParaRPr>
                    </a:p>
                  </a:txBody>
                  <a:tcPr marL="51435" marR="51435" marT="25718" marB="25718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solidFill>
                            <a:srgbClr val="00B0F0"/>
                          </a:solidFill>
                          <a:latin typeface="+mj-lt"/>
                        </a:rPr>
                        <a:t>FÓRUM</a:t>
                      </a:r>
                      <a:endParaRPr lang="pt-BR" sz="1200" dirty="0">
                        <a:solidFill>
                          <a:srgbClr val="00B0F0"/>
                        </a:solidFill>
                        <a:latin typeface="+mj-lt"/>
                      </a:endParaRPr>
                    </a:p>
                  </a:txBody>
                  <a:tcPr marL="51435" marR="51435" marT="25718" marB="25718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solidFill>
                            <a:srgbClr val="00B0F0"/>
                          </a:solidFill>
                          <a:latin typeface="+mj-lt"/>
                        </a:rPr>
                        <a:t>SAÍDA</a:t>
                      </a:r>
                      <a:endParaRPr lang="pt-BR" sz="1200" dirty="0">
                        <a:solidFill>
                          <a:srgbClr val="00B0F0"/>
                        </a:solidFill>
                        <a:latin typeface="+mj-lt"/>
                      </a:endParaRPr>
                    </a:p>
                  </a:txBody>
                  <a:tcPr marL="51435" marR="51435" marT="25718" marB="25718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solidFill>
                            <a:srgbClr val="00B0F0"/>
                          </a:solidFill>
                          <a:latin typeface="+mj-lt"/>
                        </a:rPr>
                        <a:t>FREQ.*</a:t>
                      </a:r>
                      <a:endParaRPr lang="pt-BR" sz="1200" dirty="0">
                        <a:solidFill>
                          <a:srgbClr val="00B0F0"/>
                        </a:solidFill>
                        <a:latin typeface="+mj-lt"/>
                      </a:endParaRPr>
                    </a:p>
                  </a:txBody>
                  <a:tcPr marL="51435" marR="51435" marT="25718" marB="25718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solidFill>
                            <a:srgbClr val="00B0F0"/>
                          </a:solidFill>
                          <a:latin typeface="+mj-lt"/>
                        </a:rPr>
                        <a:t>RESP</a:t>
                      </a:r>
                      <a:r>
                        <a:rPr lang="pt-BR" sz="1200" baseline="0" dirty="0" smtClean="0">
                          <a:solidFill>
                            <a:srgbClr val="00B0F0"/>
                          </a:solidFill>
                          <a:latin typeface="+mj-lt"/>
                        </a:rPr>
                        <a:t> + Participantes</a:t>
                      </a:r>
                      <a:endParaRPr lang="pt-BR" sz="1200" dirty="0" smtClean="0">
                        <a:solidFill>
                          <a:srgbClr val="00B0F0"/>
                        </a:solidFill>
                        <a:latin typeface="+mj-lt"/>
                      </a:endParaRPr>
                    </a:p>
                  </a:txBody>
                  <a:tcPr marL="51435" marR="51435" marT="25718" marB="25718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</a:tr>
              <a:tr h="673667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latin typeface="+mj-lt"/>
                        </a:rPr>
                        <a:t>Ideia (Briefing) / Projetos Priorizados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 smtClean="0">
                          <a:latin typeface="+mj-lt"/>
                        </a:rPr>
                        <a:t>COMITE DE CARTEIRA</a:t>
                      </a:r>
                      <a:r>
                        <a:rPr lang="pt-BR" sz="1200" dirty="0" smtClean="0">
                          <a:latin typeface="+mj-lt"/>
                        </a:rPr>
                        <a:t/>
                      </a:r>
                      <a:br>
                        <a:rPr lang="pt-BR" sz="1200" dirty="0" smtClean="0">
                          <a:latin typeface="+mj-lt"/>
                        </a:rPr>
                      </a:br>
                      <a:r>
                        <a:rPr lang="pt-BR" sz="1200" dirty="0" smtClean="0">
                          <a:latin typeface="+mj-lt"/>
                        </a:rPr>
                        <a:t> DE PROJETOS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 smtClean="0">
                          <a:latin typeface="+mj-lt"/>
                        </a:rPr>
                        <a:t>Investimento</a:t>
                      </a:r>
                      <a:r>
                        <a:rPr lang="pt-BR" sz="1200" dirty="0" smtClean="0">
                          <a:latin typeface="+mj-lt"/>
                        </a:rPr>
                        <a:t> Priorizado </a:t>
                      </a:r>
                    </a:p>
                    <a:p>
                      <a:pPr algn="ctr"/>
                      <a:r>
                        <a:rPr lang="pt-BR" sz="1200" dirty="0" smtClean="0">
                          <a:latin typeface="+mj-lt"/>
                        </a:rPr>
                        <a:t>Status da Carteira</a:t>
                      </a:r>
                      <a:br>
                        <a:rPr lang="pt-BR" sz="1200" dirty="0" smtClean="0">
                          <a:latin typeface="+mj-lt"/>
                        </a:rPr>
                      </a:br>
                      <a:r>
                        <a:rPr lang="pt-BR" sz="1200" dirty="0" smtClean="0">
                          <a:latin typeface="+mj-lt"/>
                        </a:rPr>
                        <a:t> (Foco Benefícios e Resultados)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latin typeface="+mj-lt"/>
                        </a:rPr>
                        <a:t>MENSAL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aseline="0" dirty="0" smtClean="0">
                          <a:latin typeface="+mj-lt"/>
                        </a:rPr>
                        <a:t> PMOTD + VP TD e Liderança TD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</a:tr>
              <a:tr h="534329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latin typeface="+mj-lt"/>
                        </a:rPr>
                        <a:t>Demandas de </a:t>
                      </a:r>
                      <a:br>
                        <a:rPr lang="pt-BR" sz="1200" dirty="0" smtClean="0">
                          <a:latin typeface="+mj-lt"/>
                        </a:rPr>
                      </a:br>
                      <a:r>
                        <a:rPr lang="pt-BR" sz="1200" dirty="0" smtClean="0">
                          <a:latin typeface="+mj-lt"/>
                        </a:rPr>
                        <a:t>Projeto Ou Evolutiva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 smtClean="0">
                          <a:latin typeface="+mj-lt"/>
                        </a:rPr>
                        <a:t>Fórum Priorização</a:t>
                      </a:r>
                      <a:r>
                        <a:rPr lang="pt-BR" sz="1200" dirty="0" smtClean="0">
                          <a:latin typeface="+mj-lt"/>
                        </a:rPr>
                        <a:t/>
                      </a:r>
                      <a:br>
                        <a:rPr lang="pt-BR" sz="1200" dirty="0" smtClean="0">
                          <a:latin typeface="+mj-lt"/>
                        </a:rPr>
                      </a:br>
                      <a:r>
                        <a:rPr lang="pt-BR" sz="1200" dirty="0" smtClean="0">
                          <a:latin typeface="+mj-lt"/>
                        </a:rPr>
                        <a:t>de Demandas</a:t>
                      </a:r>
                      <a:endParaRPr lang="pt-BR" sz="12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 smtClean="0">
                          <a:latin typeface="+mj-lt"/>
                        </a:rPr>
                        <a:t>Demanda</a:t>
                      </a:r>
                      <a:r>
                        <a:rPr lang="pt-BR" sz="1200" dirty="0" smtClean="0">
                          <a:latin typeface="+mj-lt"/>
                        </a:rPr>
                        <a:t> e Recursos </a:t>
                      </a:r>
                      <a:br>
                        <a:rPr lang="pt-BR" sz="1200" dirty="0" smtClean="0">
                          <a:latin typeface="+mj-lt"/>
                        </a:rPr>
                      </a:br>
                      <a:r>
                        <a:rPr lang="pt-BR" sz="1200" dirty="0" smtClean="0">
                          <a:latin typeface="+mj-lt"/>
                        </a:rPr>
                        <a:t>Priorizados </a:t>
                      </a:r>
                      <a:br>
                        <a:rPr lang="pt-BR" sz="1200" dirty="0" smtClean="0">
                          <a:latin typeface="+mj-lt"/>
                        </a:rPr>
                      </a:br>
                      <a:r>
                        <a:rPr lang="pt-BR" sz="1200" dirty="0" smtClean="0">
                          <a:latin typeface="+mj-lt"/>
                        </a:rPr>
                        <a:t>(Foco Capacidade)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marL="0" marR="0" lvl="0" indent="0" algn="ctr" defTabSz="914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 smtClean="0">
                          <a:latin typeface="+mj-lt"/>
                        </a:rPr>
                        <a:t>SEMANA</a:t>
                      </a:r>
                      <a:br>
                        <a:rPr lang="pt-BR" sz="1200" dirty="0" smtClean="0">
                          <a:latin typeface="+mj-lt"/>
                        </a:rPr>
                      </a:br>
                      <a:r>
                        <a:rPr kumimoji="0" lang="pt-B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Std"/>
                          <a:ea typeface="+mn-ea"/>
                          <a:cs typeface="+mn-cs"/>
                        </a:rPr>
                        <a:t>sexta-feira</a:t>
                      </a: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latin typeface="+mj-lt"/>
                        </a:rPr>
                        <a:t>PMOTD +</a:t>
                      </a:r>
                      <a:r>
                        <a:rPr lang="pt-BR" sz="1200" dirty="0" err="1" smtClean="0">
                          <a:latin typeface="+mj-lt"/>
                        </a:rPr>
                        <a:t>Arq</a:t>
                      </a:r>
                      <a:r>
                        <a:rPr lang="pt-BR" sz="1200" dirty="0" smtClean="0">
                          <a:latin typeface="+mj-lt"/>
                        </a:rPr>
                        <a:t>, DI, DA, GRP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</a:tr>
              <a:tr h="673667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latin typeface="+mj-lt"/>
                        </a:rPr>
                        <a:t>Demanda Aprovada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baseline="0" dirty="0" smtClean="0">
                          <a:latin typeface="+mj-lt"/>
                        </a:rPr>
                        <a:t>YELLOW PAD</a:t>
                      </a:r>
                      <a:br>
                        <a:rPr lang="pt-BR" sz="1200" b="1" baseline="0" dirty="0" smtClean="0">
                          <a:latin typeface="+mj-lt"/>
                        </a:rPr>
                      </a:br>
                      <a:r>
                        <a:rPr lang="pt-BR" sz="1200" dirty="0" smtClean="0">
                          <a:latin typeface="+mj-lt"/>
                        </a:rPr>
                        <a:t>novas demandas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 smtClean="0">
                          <a:latin typeface="+mj-lt"/>
                        </a:rPr>
                        <a:t>Esboço</a:t>
                      </a:r>
                      <a:r>
                        <a:rPr lang="pt-BR" sz="1200" baseline="0" dirty="0" smtClean="0">
                          <a:latin typeface="+mj-lt"/>
                        </a:rPr>
                        <a:t> da Solução</a:t>
                      </a:r>
                      <a:br>
                        <a:rPr lang="pt-BR" sz="1200" baseline="0" dirty="0" smtClean="0">
                          <a:latin typeface="+mj-lt"/>
                        </a:rPr>
                      </a:br>
                      <a:r>
                        <a:rPr lang="pt-BR" sz="1200" baseline="0" dirty="0" smtClean="0">
                          <a:latin typeface="+mj-lt"/>
                        </a:rPr>
                        <a:t>Validado</a:t>
                      </a:r>
                    </a:p>
                    <a:p>
                      <a:pPr algn="ctr"/>
                      <a:r>
                        <a:rPr lang="pt-BR" sz="1200" baseline="0" dirty="0" smtClean="0">
                          <a:latin typeface="+mj-lt"/>
                        </a:rPr>
                        <a:t>(Foco Técnico)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SEMANAL</a:t>
                      </a:r>
                    </a:p>
                    <a:p>
                      <a:pPr algn="ctr"/>
                      <a:r>
                        <a:rPr lang="pt-BR" sz="12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sexta-feira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 smtClean="0">
                          <a:latin typeface="+mj-lt"/>
                        </a:rPr>
                        <a:t>PMOTD +  DA +</a:t>
                      </a:r>
                      <a:r>
                        <a:rPr lang="pt-BR" sz="1200" baseline="0" dirty="0" smtClean="0">
                          <a:latin typeface="+mj-lt"/>
                        </a:rPr>
                        <a:t> DI + ARQ + SI</a:t>
                      </a:r>
                      <a:endParaRPr lang="pt-BR" sz="1200" dirty="0" smtClean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</a:tr>
              <a:tr h="534329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latin typeface="+mj-lt"/>
                        </a:rPr>
                        <a:t>Demanda com</a:t>
                      </a:r>
                      <a:r>
                        <a:rPr lang="pt-BR" sz="1200" baseline="0" dirty="0" smtClean="0">
                          <a:latin typeface="+mj-lt"/>
                        </a:rPr>
                        <a:t> </a:t>
                      </a:r>
                      <a:br>
                        <a:rPr lang="pt-BR" sz="1200" baseline="0" dirty="0" smtClean="0">
                          <a:latin typeface="+mj-lt"/>
                        </a:rPr>
                      </a:br>
                      <a:r>
                        <a:rPr lang="pt-BR" sz="1200" baseline="0" dirty="0" smtClean="0">
                          <a:latin typeface="+mj-lt"/>
                        </a:rPr>
                        <a:t>Esboço da Solução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 smtClean="0">
                          <a:latin typeface="+mj-lt"/>
                        </a:rPr>
                        <a:t>Fórum Executivo </a:t>
                      </a:r>
                      <a:r>
                        <a:rPr lang="pt-BR" sz="1200" dirty="0" smtClean="0">
                          <a:latin typeface="+mj-lt"/>
                        </a:rPr>
                        <a:t>de Demandas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latin typeface="+mj-lt"/>
                        </a:rPr>
                        <a:t>Alocação dos Recursos</a:t>
                      </a:r>
                      <a:r>
                        <a:rPr lang="pt-BR" sz="1200" baseline="0" dirty="0" smtClean="0">
                          <a:latin typeface="+mj-lt"/>
                        </a:rPr>
                        <a:t> </a:t>
                      </a:r>
                    </a:p>
                    <a:p>
                      <a:pPr algn="ctr"/>
                      <a:r>
                        <a:rPr lang="pt-BR" sz="1200" baseline="0" dirty="0" smtClean="0">
                          <a:latin typeface="+mj-lt"/>
                        </a:rPr>
                        <a:t>e </a:t>
                      </a:r>
                      <a:r>
                        <a:rPr lang="pt-BR" sz="1200" b="1" baseline="0" dirty="0" smtClean="0">
                          <a:latin typeface="+mj-lt"/>
                        </a:rPr>
                        <a:t>Core Team</a:t>
                      </a:r>
                      <a:endParaRPr lang="pt-BR" sz="1200" b="1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SEMANAL</a:t>
                      </a:r>
                      <a:br>
                        <a:rPr lang="pt-BR" sz="12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pt-BR" sz="12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segunda-feira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latin typeface="+mj-lt"/>
                        </a:rPr>
                        <a:t>PMOTD+ DA +ARQ</a:t>
                      </a:r>
                      <a:r>
                        <a:rPr lang="pt-BR" sz="1200" baseline="0" dirty="0" smtClean="0">
                          <a:latin typeface="+mj-lt"/>
                        </a:rPr>
                        <a:t> 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</a:tr>
              <a:tr h="534329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latin typeface="+mj-lt"/>
                        </a:rPr>
                        <a:t>P0 Projeto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 smtClean="0">
                          <a:latin typeface="+mj-lt"/>
                        </a:rPr>
                        <a:t>CAD de TD</a:t>
                      </a:r>
                      <a:endParaRPr lang="pt-BR" sz="1200" b="1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latin typeface="+mj-lt"/>
                        </a:rPr>
                        <a:t>Aprovação de P0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SEMANAL</a:t>
                      </a:r>
                      <a:br>
                        <a:rPr lang="pt-BR" sz="12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pt-BR" sz="12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terça-feira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latin typeface="+mj-lt"/>
                        </a:rPr>
                        <a:t>PMOTD + LIDERANÇA TD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</a:tr>
              <a:tr h="556702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latin typeface="+mj-lt"/>
                        </a:rPr>
                        <a:t>P1</a:t>
                      </a:r>
                      <a:r>
                        <a:rPr lang="pt-BR" sz="1200" baseline="0" dirty="0" smtClean="0">
                          <a:latin typeface="+mj-lt"/>
                        </a:rPr>
                        <a:t> Projeto</a:t>
                      </a:r>
                      <a:r>
                        <a:rPr lang="pt-BR" sz="1200" dirty="0" smtClean="0">
                          <a:latin typeface="+mj-lt"/>
                        </a:rPr>
                        <a:t> + DAS /</a:t>
                      </a:r>
                      <a:r>
                        <a:rPr lang="pt-BR" sz="1200" baseline="0" dirty="0" smtClean="0">
                          <a:latin typeface="+mj-lt"/>
                        </a:rPr>
                        <a:t> </a:t>
                      </a:r>
                      <a:r>
                        <a:rPr lang="pt-BR" sz="1200" dirty="0" smtClean="0">
                          <a:latin typeface="+mj-lt"/>
                        </a:rPr>
                        <a:t> P1 Evolutiva / P3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marL="0" marR="0" lvl="0" indent="0" algn="ctr" defTabSz="914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CAD de TD</a:t>
                      </a:r>
                      <a:endParaRPr kumimoji="0" lang="pt-B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 smtClean="0">
                          <a:latin typeface="+mj-lt"/>
                        </a:rPr>
                        <a:t>Aprovação de </a:t>
                      </a:r>
                      <a:r>
                        <a:rPr lang="pt-BR" sz="1200" b="1" dirty="0" err="1" smtClean="0">
                          <a:latin typeface="+mj-lt"/>
                        </a:rPr>
                        <a:t>P´s</a:t>
                      </a:r>
                      <a:endParaRPr lang="pt-BR" sz="1200" b="1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SEMANAL</a:t>
                      </a:r>
                    </a:p>
                    <a:p>
                      <a:pPr algn="ctr"/>
                      <a:r>
                        <a:rPr lang="pt-BR" sz="1200" dirty="0" smtClean="0">
                          <a:latin typeface="+mj-lt"/>
                        </a:rPr>
                        <a:t>terça-feira</a:t>
                      </a: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latin typeface="+mj-lt"/>
                        </a:rPr>
                        <a:t>PMOTD + LIDERANÇA TD</a:t>
                      </a:r>
                      <a:endParaRPr lang="pt-BR" sz="1200" dirty="0">
                        <a:latin typeface="+mj-lt"/>
                      </a:endParaRPr>
                    </a:p>
                  </a:txBody>
                  <a:tcPr marL="51435" marR="51435" marT="25718" marB="25718" anchor="ctr"/>
                </a:tc>
              </a:tr>
            </a:tbl>
          </a:graphicData>
        </a:graphic>
      </p:graphicFrame>
      <p:pic>
        <p:nvPicPr>
          <p:cNvPr id="60" name="Picture 4" descr="d:\Documents and Settings\tr551768\Desktop\Imagens\Personagens\j043161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639122"/>
            <a:ext cx="219359" cy="218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Picture 31" descr="j043254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145" y="606280"/>
            <a:ext cx="323745" cy="323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890" y="580927"/>
            <a:ext cx="378050" cy="377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CaixaDeTexto 16"/>
          <p:cNvSpPr txBox="1"/>
          <p:nvPr/>
        </p:nvSpPr>
        <p:spPr>
          <a:xfrm>
            <a:off x="238018" y="64783"/>
            <a:ext cx="8649960" cy="461618"/>
          </a:xfrm>
          <a:prstGeom prst="rect">
            <a:avLst/>
          </a:prstGeom>
          <a:noFill/>
        </p:spPr>
        <p:txBody>
          <a:bodyPr wrap="square" lIns="91391" tIns="45695" rIns="91391" bIns="45695" rtlCol="0">
            <a:spAutoFit/>
          </a:bodyPr>
          <a:lstStyle/>
          <a:p>
            <a:pPr defTabSz="913902"/>
            <a:r>
              <a:rPr lang="pt-BR" sz="2400" dirty="0" smtClean="0">
                <a:solidFill>
                  <a:srgbClr val="FFC000"/>
                </a:solidFill>
                <a:latin typeface="Gill Sans Std ExtraBold" pitchFamily="34" charset="0"/>
              </a:rPr>
              <a:t>Rituais </a:t>
            </a:r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de TD para gestão de demandas e portfólio</a:t>
            </a:r>
            <a:endParaRPr lang="pt-BR" sz="24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547384" y="4774168"/>
            <a:ext cx="507703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 dirty="0" smtClean="0"/>
              <a:t>* A coordenação dos fóruns é realizada pela Governança de TD através do </a:t>
            </a:r>
            <a:r>
              <a:rPr lang="pt-BR" sz="1100" dirty="0" err="1" smtClean="0"/>
              <a:t>Clarity</a:t>
            </a:r>
            <a:r>
              <a:rPr lang="pt-BR" sz="1100" dirty="0" smtClean="0"/>
              <a:t> PPM</a:t>
            </a:r>
            <a:endParaRPr lang="pt-BR" sz="1100" dirty="0"/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85237"/>
            <a:ext cx="601766" cy="601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8126" y="948621"/>
            <a:ext cx="1436214" cy="14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9" y="1114475"/>
            <a:ext cx="616125" cy="6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077" y="-1853670"/>
            <a:ext cx="108000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79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913" y="-2272112"/>
            <a:ext cx="108000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8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9" y="2472348"/>
            <a:ext cx="594457" cy="594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86" y="3831890"/>
            <a:ext cx="599608" cy="598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8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9" y="1808992"/>
            <a:ext cx="601766" cy="601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7" descr="E:\Users\cfornaza\Downloads\online5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49002" y="4135079"/>
            <a:ext cx="402758" cy="420220"/>
          </a:xfrm>
          <a:prstGeom prst="rect">
            <a:avLst/>
          </a:prstGeom>
          <a:noFill/>
          <a:extLst/>
        </p:spPr>
      </p:pic>
    </p:spTree>
    <p:extLst>
      <p:ext uri="{BB962C8B-B14F-4D97-AF65-F5344CB8AC3E}">
        <p14:creationId xmlns:p14="http://schemas.microsoft.com/office/powerpoint/2010/main" val="376918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/>
          <p:cNvSpPr/>
          <p:nvPr/>
        </p:nvSpPr>
        <p:spPr>
          <a:xfrm>
            <a:off x="194374" y="4067639"/>
            <a:ext cx="8649960" cy="10693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194374" y="3016757"/>
            <a:ext cx="8649960" cy="10661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210964" y="2071652"/>
            <a:ext cx="8649960" cy="9051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238018" y="1117045"/>
            <a:ext cx="8649960" cy="9051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3" name="Canto dobrado 12"/>
          <p:cNvSpPr/>
          <p:nvPr/>
        </p:nvSpPr>
        <p:spPr>
          <a:xfrm>
            <a:off x="3899176" y="3053206"/>
            <a:ext cx="1620180" cy="885943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FORUM DE </a:t>
            </a:r>
            <a:r>
              <a:rPr lang="pt-BR" sz="1400" b="1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RELEASES</a:t>
            </a:r>
            <a:endParaRPr lang="pt-BR" sz="1400" b="1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238018" y="64783"/>
            <a:ext cx="8649960" cy="461618"/>
          </a:xfrm>
          <a:prstGeom prst="rect">
            <a:avLst/>
          </a:prstGeom>
          <a:noFill/>
        </p:spPr>
        <p:txBody>
          <a:bodyPr wrap="square" lIns="91391" tIns="45695" rIns="91391" bIns="45695" rtlCol="0">
            <a:spAutoFit/>
          </a:bodyPr>
          <a:lstStyle/>
          <a:p>
            <a:pPr defTabSz="913902"/>
            <a:r>
              <a:rPr lang="pt-BR" sz="2400" dirty="0" smtClean="0">
                <a:solidFill>
                  <a:srgbClr val="FFC000"/>
                </a:solidFill>
                <a:latin typeface="Gill Sans Std ExtraBold" pitchFamily="34" charset="0"/>
              </a:rPr>
              <a:t>Rituais </a:t>
            </a:r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VP TD no processo de Demandas</a:t>
            </a:r>
            <a:endParaRPr lang="pt-BR" sz="24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sp>
        <p:nvSpPr>
          <p:cNvPr id="6" name="AutoShape 2" descr="data:image/jpeg;base64,/9j/4AAQSkZJRgABAQAAAQABAAD/2wCEAAkGBhQSERUUEhQVFRQVFBUUFRcWFBQVFRQUFBQVFRQUFBQXHCYeFxolGRUUHzAgIycpLCwsFR8xNTAqNSYrLCkBCQoKDgwOGg8PGCkcHBwpKSkpKSkqKSkpKSkpKSkpKSksKSksKSkpKSkpKSkpKSkpKSkpKSkpKSksKSksKSkpLP/AABEIAM0A9gMBIgACEQEDEQH/xAAcAAACAgMBAQAAAAAAAAAAAAAABQQGAQIDBwj/xABQEAABAwIDBAQJBgoHBwUAAAABAAIDBBEFEiEGEzFBIlFhcQcUMlKBkZKhsRZCYnKCwSMkMzRDRHODstEVU1SEs9LhY2STlKLT8BcldKPC/8QAGQEBAAMBAQAAAAAAAAAAAAAAAAECAwQF/8QAIxEBAQACAwEAAgIDAQAAAAAAAAECEQMSITEyQRNRQmFxBP/aAAwDAQACEQMRAD8A9xQhc5pcoug6IVHx3whOhdlZGx3e5w+CgweE+U8YYx9p6rcpFpja9GQqIPCI8/o2e05doNuJnfome05R3ielXVCo1Xt3OzhDGfS9LD4U5wbbiL2nqe0R0r0xC80d4UZ7aQRe29R3eFuoHGni9t/8k7Q616mheeYR4UHyOAkiY2/U533q9UdaJGghTtGklCEKUBCEIBCEIBCEIBCEIBCEIBCEIBCEIBCEIBCEIBV/avE90w9ysC888JNRZ1vohRfiYo1XU53klDAoO91TPDm5iFhW2JthlBmsrbhuGABLMNhsAnUE9lVvptWYU1wVVxDZ7XRW/wAZUacgptPVRH4eWqFU0/YrjWUwKSVlIolRcYrmWxuF6HsRj1xlcV5/VxlpUzAa/JID2rXGufKPc2uuFsoGEVWeMHsU9bMQhCEAhCEAhCEAhCEAhCEAhCEAhCEAhCEAhCEAvKvClVWny/RavVV434V3/jlv9mz4FVy+Jx+qY2S5VpwKHgqzQQ3cr7gdJYBY5Ojjnp1TR6KUyJZiLQFs6raqRuyWrk8pdi2MPYY2xRtkdIXAZpN21uRuY3OUk6X4BQ3YjV/2aH/mj/2lOjZjUJVUhYkrqo/oIR31LvuiUOWaqP6GAfv5D8IlGi1AxGnuEogdld6U3qW1VtWU4/eSH/8ACr1Tv2u1bEe57x8Wq8YZvZdia7NGArZdeVeDzFZRLHFJGwNkbIWuZI5xBjDSQWlo4h3G69UC3jnrN0XWbLBUoF0XQhAXRdZsiyDF0XQiyAui6zZCDF1q+UNBJIAHEkgAd5KW1tbI6TcQWDg0OkkcLiJriQ2zfnvOV1hwAFzyB1i2ZhveUGd/nTneey09Bv2WhB0n2npGeXUwN75ox966tx2nIuJ4SDwO9jsb9Ruu0eHRNaWtjYGkWIDGgEHkQBqubcGgHCGIfu2fyQd4KprxdjmuHW0hw9YXS6U1GytM7XctY7k+K8Lx2h8ZBuuuFUMsWZr5jMzTdl7RvW8bh722DxwsbA8b3QMkIQgF4/4VaYmqJHmM+BXsC8s8I5/Gj9RnwKpl8Xwm6peEx2NyrZS4kANFW3+Top+GUjnNWWUbYU1qcWNuKVvxl1+K2qMPclElK4FRJF7lTf8ApTNNBc8DL/hWTp9dpxVJex2+hA45nn/63A/EJrWwysbc3smkzIymxVcW4kSkschPFD5ip0jusHjIISHFG9JdGTmy4taXuSRTOrTsFGTVxDzKeV/tyRM+AXq7V5fgmzUM1VEyZgeBSSuAJcC076IBwLSCDxCuPyFpRwE4HUKurt6t6t456sF1lVzYtmRtVHme4RVkrGZ3vkLWZI3tbmeSSLO61Y1KAhCEAhCEAhCEAsFZQgQbOSXmrQ78oKrX9mYYjCR2ZNO8OT9J8UwEvkE8LzDUNblzgZmyMBvu5oyQHtuSRqHC5sRc35Mxapj0npi+3z6Zwkae3dPLXt7hmQPUJO3aZh/RVN+rxWa/8KyzaIONmwVRPbA5nvfYe9A3WMyVmqqX+RC2IedK8OI/dxk39sKRQ4duyXOc58j7ZnusNBezWtGjWi50HXrc6oJqEIQBXnO3lEXVBP0W/BejKpbVMG8v9ELPk+NuH8lFhoBbVNqCENWgYiN1isK6pEmpGiUTU1zwTXOuL3aqu1uqDRYG588LwBZjnl1zydG5ot19ItU7GqCtMeraMDsNQ4+8NsneEZRxU7EpWltleXxHX15EKapBt+APolH3lFFJPIwPEcJBvpvHtOji036B5hWeqgGf0pds/F+Ls75PdK9OynT1AFPUHgyAd8kh+DF0p6CqDhZsHtyn3ZFYYoNUwpKa7wrSqZYnOyGFTiUTz7kBsBhYIjIfKkD3Fwe0W8lo0J4K4lRcPjysA7FKJW8ctV/ZU/ha8dVa7309OR8VYVR/B3BVtmxDxo3HjZDDlDBJZovKB2s3Q006J7Vd7qUMoWMyygEIWLoMoWLrKAQhCAWLLKxdAWVbFcx+KBrHgllNMyRoPkP3sDmgjkbO9Sd1WKRRtzSSxtaNLue0C/VqeKq7fE/H3V0e9lmdC2A7qCWRlg4nPma2xdazePAILiFlJRtbTjy3SR/tIJ4wO9zmAe9MqPEYphmikZI3rY9rh62lBIQhCAVb2jgzP9AVkSrFYbm/YFXL4tjdVU6ujyhLgFZcSp+iqy91isMo6sMtt3OWY4L6qK6TVSKevaOKybbR6ipew6Ifijrarevq2FLHThStuuolzG64bPfkAPNkmae8TSf6LrCQuWzvkPHMVFQD370/cQpUt9N82VrnHg1pce5oufgu2BbPueGGSepzFrS7LKGWcQCbBrdBquWIx/i0pH9WfVpf3XVyoYAHacPuWmE8YZ5NmbKC2lTWD+8vPxW/yUHOprD/AHl4+Fk6j4LZdDlIvkmOVVWD+8vPxuj5K/73Wf8AHt8Gp6hBV8W2c3cEsjamszMike29VJa7WFwuOHEJ9hcpdDG52pdGxx7y0Ernjn5tPfhuZb+w5a7P38Vgvx3EV+/dtQTpHgAkkADUk6AAcSSkkc09V0o3biA+S7KHTSt5OaHjLE08QSHEjWwW21jvwLWHyZainif2skmYHtPYRdv2k6agX0GDCN2YyzyOtb8JK5zdf9mLMvpxsmKEIBCEIMFITH45LI19/F4nbvKCWiaUayF9tSxtw0N4E5r3sE+KRbJSjJMz57KupDxzBfM6RnrjfG70oJcGzVKxwcynha5pBa4RMDmkcwQLg9qZWWUIMWXGKija5z2sa1z7Z3BoDnWvbMQLm1zx613QgEIQgFHqo7qQkuKbXUkDzHNOxjwAS03LgDwJABsoozNT3BCpWLQ5XlWN23OH/wBspx3ytb/FZVLHtqKMu6NVTu7pWH4FZ5zxtx5euJF1zkpCoUW01Lf8vGO0kge0RZWCKPMFzWWOqXZBLTFRzSlWWfDkvfBYq3ZrtBgiIW+zg6dQ3qqCR3Pjid8SVKztBsSAeNiQDbrsVD2YwYU89RJnDhLICwB18rNSQRy6RPoaEnrHK+rtNhbnUcwa0ucYn5WtF3ONtABzKls2liaRmiq29ho6jT0taR70xwKpBanGVdMnjjyvpI3bGG2kdUe6jqv8iz8s4fMqf+Tqv+2noK1kJscoubGwNwCeQJ5K6hCNvKT5z3t1t04Khuo4i5ZZbR7eUJ/Wom/Xdu/47XS/wa1cz6WTfQuhtU1Ng51yS6eR7wNB0Q52UHnlPDRWwsB4i/eEFaxTbOgfBK3xuDpRyNtvWgm7CLalN9nHE0lOTxMEJPeY2qc6EHiB6gtgEEHG8KFTC+IuLc1i17fKjkY4Pjkb2tc1p9CVwbTuhAZXs3LhpvmgupZOWYSfor+bJa3InirGsOag4UtfHILxvY8dbHNcPWCu90qqNlaR5u6nhudcwja13ttsfeufyUpwLEPy9RnnLQO4vsgc5llfL+IbazR4vv6drWCGV0TI2eQ+MPLSHni7MNST2W4L6Ekx8/NaL9RJVblItjhcvh4kmJYG7feMUzxFMWhsgc0uinY3yWytBBDhc2e03FyNRolM22Tvot95965Hahx13hVf5I1/gzOG7SPj0q4JIrfpIwZ4D252DM37bR6V2+V1L/XNPcHH12Gi4bPbRCdzmHymjNccxexv7lJ2nx1tFSTVLhcRMLg29szuDW35XcQL9qvLubjLLG43VDdrKQ/rMPcZGh3sk3PqUqhxIS3LGvyi1nOY5jXX83NYnvtbVaYPXtqIIp2iwljbIARqMwBsbi+h09CnKVWUIQgFjIFlaPfZBznhaRqAe8A/FU3aWBoOjWjuaB9ytNRUKoY3UXKzz+NeP6rs46LurKfgVvg05EMV+O6jv7DVyxA2ik/Zv/hKg11HNJSsbTzbl+RmuUEEZAMt+Le8LDW3R8WI1Sjyaqv0WF1TI2NNXcgdLNC2Q35jOXAuHeFFwmkrGPc6aZro3OcchGZwv1P0DRwNtQo6/wC1u1/pOFJFLLO6WON+WRrG52NdYNiY6wzDTV5WzcBpnH83i9EbR8Ao2HEl03bO/wDhYPuVswXC+ZVpLapbJHfAdj6PTPSwnvYCrM3YPDz+qQehgC4wR5U3oqnkuiOWlzvB9QH9ViH1QWn1tIWo8HtB/Z2nvfI71XdorGEKyqu/+n9F/Uns/DT6d3T09C6bD/mEHHRrhqSTYPcALnUp6Uj2HP8A7fTHriBPeSSffdA9QhCAWCsqLiFc2JhcfQOsomTfkIsexyznMB0b28TzXmPhB8JMrKV1Mwm8hsXX6QZzbftPuFuad4nVklxPFxJPYvItuHXqbfRFvWVyY5XLN3cmEw4iBtSQQ7mvUNk9sXuiLXvJ3dg0k62Iva542XlZXtXgtkiFA2MRRvmkkke50kYcGMuGs4+UbAkDgtc5uOfhysu/rkyt3zssYL3Hk0X9J6lJqKKaJoL2OHvA7yOCuOH4XFA05AAXElxsASTry+C0ranonhZYa07bn2+OHg0jJmlceUYHpc4f5SrF4QcOZNhtUJBcNhklAuR04mOewm3GzgDbsULwfRMDZi0i5eNOYAGnouSmm3D7YbWH/dph64yPvXTx/i4OW7zpnhzrxRk8TGwnvyhSVzp2Wa0dQA9Qsui0ZBCEIBV7HKerLyYaqOJlhZpphI4Hmc5eOPVZWFJMZms63YFFTFZrY65gJFZE79pRgf4coVVmrKxzv1V3beZnu1t61YsZxC/RCWU8PNYZ5OnDApqjVua5pjpjmaW3Eso4gjgWdqZUzMrGtPFrWt9loH3Ls9qhVmIxxAGWRrAbgZja5HUs9tNaSXlR3suonyjpj+sRe2FNosZpL9KpgH7xqmY7LlI4YVg1W178kcD2uke8F8sjTZx0BAjIBAT/AAnEq17CW01NZskkf5zIOlE4scfyR0uF2btJQZC3xuEBzS0lslnAEEEgjUHXiluw2KxQU5ZPXwSPMjyLzR6NLyQ43t0nEl5+sByXRJpy5ZbOvGcQ/qKO3/yZ7/4NltFX4gDpT0vpqpfuhU6DFIXmzJonk8A2RjifQ0lSQpVYhxuut+YxntbWtt/1Rgj1Lf8ApquHHDwfqVkR9eZrVtS4qxr8hewO80uaHa88t7p619xp/NWVVig2tqZTJaged1I6J2WopzZ7Q0kdIt84Jzs7Qbmmijs4ZWDR5aXAm5IcWEtuCeRskXg6jqxFUGsjbG41UxFg4GS7zmkseDD0Q0dTb8wrddBlCxdZQYVDx/GM73A/McWgdVjZXxeVbWx7uqlHInMPtC/81jy706P/AD67FOIVQ1K82xmikrKxscDS55BA6rA6lx5Adat+I7x3RaNTp2m/IK3bG7FeKsdI+2+eOkeNm8cgPfxPMrDj8u3byyZY6UWj8HO4s6QB7+P0R3D+atuC/guxN8TlGt+SrFRXnOGMGZ55ch3nkoyt2Y4STw9rscDRqf8AzqC60OHSzDNJeJh4Ai73DrI+aPet8FwaOO0kvTl6zwb2NHLvTSprBZTMf3Vd/qItBGaKZr2vzMPReDocp4nTjbirHt66+G1NvnRWH2iB96o+I4h1cUzq9oRNhksTtHhsbR9Ju+jb69Vtx5T45ubD/J6OFlYCyt3KEIQgFVtqKjK49w+CtKpm1rSZrfRb8FTO6jTjm8lcipy911MdTWTOiorNW0lNdcrsIpIUnnH40weZDI4/bexrf4X+pWiogSKGmzVMxHzWwx+50h/jUxFd6BgLv9FYIogOAHqUTDsHIN7JpLFYLbCMM76k07rhZlp2u8prT3tB+IUakfqp+VXYq1tZg0ApJniGISNZdjhExr2vzNDS14FwbkKxvZYlKtr2/iUx80Nd7EjHfcnUjbk95RKtYbgcM8lU6WGKS9SWgvjY82ZDE21yL2Bum0GxFEPJp2x/snSQ37xG8XW+y0PQmPXV1N/RJl+DQn3BWipQzYilHkiZt+IbVVQB7xvFk7Gxj8nNVxfVqpnD1SFwTQzLeKYptBNLsq4AllZWNdY6mcPBNtCWvYWj0AJhs3WumpKeR/lvhjc7tcWAuOnbdS6k9B31XfAqpbObQTx0kDTh9S5rYYwHRvpn5gGAZsplBF+o6qRdF5/4RKT8NG4c2EH7J/1Tz5Yu/sFf/wAGL7pVV9tdonSbs+J1jbZh04o23vbh+EWfJ+LXhus4UYI1jJw6TgAbdjuR+Ks9ZiYtoQeqx4rz2qxV/wDZqgeiL/OogxCqfoyCW3XeK/o6a55ufHf5fac4pibnv3cWrjxPJvau+G4YItTq46k8yUow10kNz4rKT1l0IPadX6rNZtK8fq8w9MRHrD1Gq03LFklxQBKq7HLaX49qQS4rNYWgk6XA5ovhmXJuC1L+mYZew5ob+ovTVrPcPY3E6nVa4pUZIsw5SQm3XaeM29yQxz1LDZ1PNYcwAfg4rrPiJla1gjlDt5EdY3AWbI1xueFrApJqqZ2WPoukqmyMa9pu1wBHpXdef7EbRZDuXnoOPQJ+a48u4/HvV/C68cu0cGWPW6ZQhCsqFXsdo80mbsCsKh1sV1XObi+F1SVosFkMCJ4iFrGVyadu0aop7pZTbO1LJJHxy05EkmfLLDISOi1obnZIOAb5qsWVamQrfDHTDPPfkQWsrwLXoPZqv82iX1hr7/qT+wCoj993fBMMRxhkOUPLi598jGMdJI/LxysaOAuLk2AuNVC/pGpf5FE+3XNPDF/0tzlaMCqp2gqKcjewQuvlOWKpIkIdIyIODJI2gjO9oJvpdOqTadxaHGjq8pFw5jIpgQeBG7kJI7glmO4BUVjGtmpYOg8PaW1j2uFiC5t9x5LgLEd3UE3hxuSD85o5YmD58OWpiaBoLiLptA+pYIbQ9ocZE1LNE2CrbJJGWxh1JOA5xIt0g0hvebK4tg1XKgxGOaMSQvbIx3BzHBzTblcc+zipDXKyFbw+vqKcSMNDPJeed+dklLlcJJnvaQHSh3klvEKQdoZTxoKweind7xNYKdimOwwENe4mRwu2KNjpZXAcxGwF1u06dqgt2peTZmH1ztSLmOKJunWZJBp28FCHKk2tD81qStOV7o3WijcA9hs5t2ycipTdpwPKpa1o6/FnO90Zcfckuy9LVUTZWsop5GyTPlbvKunvG1xuIwM54X43uU8+VT2az0VXGObmsjqGjt/APc632VI51m18Qjf+DqmnI7KXUdUAXZTYXyHnbimmBMcylga4WcIYg4HiHBjcwPput8KxqGpZnglbI0Gzsp1afNe3i09hAKmOCDIKQ7bUWelJA1Y5rh67H3FOr2UHHXg00t/MKrlNyrY3WUeVyUpdpbvKkse0cNLcuakOl5DRKcS11Gh7Fy/Pj0pf7R8YxVrAbnU8hxPYq/HHJO4E9FvIKYcMObM+5J6+SZU1mKv/AFr+k3C8JawXdqe3kps1ZYJW/EO1LKvESFO2Z3FPcrrJCw8QPv8AWk1PWjrU2OrHWqoyMaWjaObuzXgvUcHrxLE1wN9AHfWA1uvJmVWiuPg6qy8zi+g3Zt2nMCfcPUteK+6c3NNza7IQhdTkC4SHVd1Gm8r1IIdbEFAYxMqk6KCs7jNtZndaYcVAxOtdG1oY3PJI7JG0nK3NYuLnu5MAaSSNdLDUqfkuouL4e9zGuisZYntlY1xs15Ac10Zd83MxzhfkbHkrK2uWE4IIyZHneTvFpJSLEjiGMb8yMaWaOq5udU5jhS3Ddo4JXbsOMcw8qGUbuZv2HeUO1twetMXPUqugss7xaNaujY1IRYlgRa51TSAR1ABLmjSOqAH5OZo0Lj82S2ZptxGiZjFWeK+Na7vc74D51izMG9+tkYnirYbMaM87wd1ENXE8MzvMjB4vOg79Fu3CGGk8VeSWGHcuINiejlLgeRvqiG+B4YYml8ljPLZ8zhzdbRjT5jBZrR1C/ElMsyr2E446N7aWsIE9rRScGVbR86Pql86PiL3FwdH5UjoFlct5Zc/GFAgYtsvFM7ejNDOBZs8JySi3AOPCRv0XgjsXPBMTl3jqapA38bQ9sjRaOoiJyiVrfmOB0czkSCCQQmFXiLIml0r2xtAvd7g0e9LcPk8YqG1DWubEyJ8cbnAtM28cxznBp1DBkFiQLkkjSxIOnBKsdB8Xlt5jvgmhK4VMYe1zT84FvrFlN+EeUCVcRxueXxWs7XMe5h4tJae8Gy0DiuOu6VxqZwTpy96hvJJt/wCWTLcLQ09hfmVnWvZAkFioE/SNgp9QFikpeahDjSxFnlC46+Nu9M4eF25fUujW2XF7Be4GvWFJay954L0fwcYUY6cyuGsrrj6jbhvrJcfUqVszgZqpww+SOlIfog8O88F7DFGGgBosALADgAOAC24sf25eXPzTdCELpc4UKoks70BTUrxM2d6Ag5TS3Wlgo+ZaF6qsl7wBYM6jNXRoUocq/DYqhuSaNkjeQe0Gx62ni09osoTNkohoyWrYOQZWTgDsAc4psFtdSFrcAcPJrawDqMsb/e+MlZOzrD5dRWP76qRg9UWVTyVgINcOw+KAEQsDcxu43LnvPW97iXO9JU5hXKNq6lyIcsQpI5ozHMxsjDa7XgOFxwOvA9o1CR/JWnb+T30XZFVVLB7O8ITiaRRg9Auds5HymqwesVtR97iPcusWzMZ8uesd31kw/gIU66w56hLpQbPUkTg9kLN5e+8cDJJfr3khLr+lOg+6VUzbpgzgpiGXFcnzgcVu4qJPTAqaPPttIgKkvbwkAJ+sNCkzCrZtjSjdg9Th77qoxusuTk8rr4/cTCOKwufUudQdL+pYikutK1yyaoIizFSY47LWILdx0SDV71xMi0e9S8AoxNUxRu8l0gB7hqR7relXk2zyr0nYTB9zTh5HTls89Yb8werX0qzLVo00Wy65NTTkt2EIQpQ//9k="/>
          <p:cNvSpPr>
            <a:spLocks noChangeAspect="1" noChangeArrowheads="1"/>
          </p:cNvSpPr>
          <p:nvPr/>
        </p:nvSpPr>
        <p:spPr bwMode="auto">
          <a:xfrm>
            <a:off x="35719" y="-91083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51435" tIns="25718" rIns="51435" bIns="25718" numCol="1" anchor="t" anchorCtr="0" compatLnSpc="1">
            <a:prstTxWarp prst="textNoShape">
              <a:avLst/>
            </a:prstTxWarp>
          </a:bodyPr>
          <a:lstStyle/>
          <a:p>
            <a:endParaRPr lang="pt-BR">
              <a:solidFill>
                <a:prstClr val="black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5929149" y="5227045"/>
            <a:ext cx="29151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457200">
              <a:defRPr/>
            </a:pPr>
            <a:r>
              <a:rPr lang="pt-BR" sz="800" i="1" dirty="0" smtClean="0">
                <a:solidFill>
                  <a:prstClr val="black"/>
                </a:solidFill>
                <a:latin typeface="Gill Sans Std" pitchFamily="34" charset="0"/>
              </a:rPr>
              <a:t>* A prévia do CAD TD será realizada segunda-feira a tarde para validação dos benefícios do projeto ou evolutiva e sinergias de contratos e fornecedores</a:t>
            </a:r>
            <a:endParaRPr lang="pt-BR" sz="800" i="1" dirty="0">
              <a:solidFill>
                <a:prstClr val="black"/>
              </a:solidFill>
              <a:latin typeface="Gill Sans Std" pitchFamily="34" charset="0"/>
            </a:endParaRP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138473707"/>
              </p:ext>
            </p:extLst>
          </p:nvPr>
        </p:nvGraphicFramePr>
        <p:xfrm>
          <a:off x="207169" y="726545"/>
          <a:ext cx="8820325" cy="315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anto dobrado 6"/>
          <p:cNvSpPr/>
          <p:nvPr/>
        </p:nvSpPr>
        <p:spPr>
          <a:xfrm>
            <a:off x="7137285" y="1207789"/>
            <a:ext cx="1620180" cy="778896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FORUM DE </a:t>
            </a:r>
            <a:r>
              <a:rPr lang="pt-BR" sz="1400" b="1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PRIORIZAÇÃO</a:t>
            </a:r>
            <a:r>
              <a:rPr lang="pt-BR" sz="140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 DE DEMANDAS</a:t>
            </a:r>
            <a:endParaRPr lang="pt-BR" sz="14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Canto dobrado 10"/>
          <p:cNvSpPr/>
          <p:nvPr/>
        </p:nvSpPr>
        <p:spPr>
          <a:xfrm>
            <a:off x="7135034" y="2089876"/>
            <a:ext cx="1620180" cy="901076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YELLOWPAD</a:t>
            </a:r>
          </a:p>
          <a:p>
            <a:pPr algn="ctr"/>
            <a:r>
              <a:rPr lang="pt-BR" sz="140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Esboço de </a:t>
            </a:r>
            <a:r>
              <a:rPr lang="pt-BR" sz="1400" b="1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Solução</a:t>
            </a:r>
            <a:endParaRPr lang="pt-BR" sz="1400" b="1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2" name="Canto dobrado 11"/>
          <p:cNvSpPr/>
          <p:nvPr/>
        </p:nvSpPr>
        <p:spPr>
          <a:xfrm>
            <a:off x="205075" y="3053207"/>
            <a:ext cx="1824887" cy="958703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FORUM EXECUTIVO DE DEMANDAS</a:t>
            </a:r>
          </a:p>
          <a:p>
            <a:pPr algn="ctr"/>
            <a:r>
              <a:rPr lang="pt-BR" sz="140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(Capacidade) – GGDA/DBI</a:t>
            </a:r>
            <a:endParaRPr lang="pt-BR" sz="14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4" name="Canto dobrado 13"/>
          <p:cNvSpPr/>
          <p:nvPr/>
        </p:nvSpPr>
        <p:spPr>
          <a:xfrm>
            <a:off x="1953523" y="4184621"/>
            <a:ext cx="1620180" cy="920106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Prévia do CAD TD</a:t>
            </a:r>
            <a:endParaRPr lang="pt-BR" sz="1600" b="1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5" name="Canto dobrado 14"/>
          <p:cNvSpPr/>
          <p:nvPr/>
        </p:nvSpPr>
        <p:spPr>
          <a:xfrm>
            <a:off x="3914751" y="4199545"/>
            <a:ext cx="1571179" cy="920106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CAD TD</a:t>
            </a:r>
            <a:endParaRPr lang="pt-BR" sz="1600" b="1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8622450" y="1117045"/>
            <a:ext cx="265528" cy="344810"/>
          </a:xfrm>
          <a:prstGeom prst="ellipse">
            <a:avLst/>
          </a:prstGeom>
          <a:solidFill>
            <a:srgbClr val="99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prstClr val="white"/>
                </a:solidFill>
              </a:rPr>
              <a:t>1</a:t>
            </a:r>
            <a:endParaRPr lang="pt-BR" b="1" dirty="0">
              <a:solidFill>
                <a:prstClr val="white"/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8547165" y="2022188"/>
            <a:ext cx="265528" cy="344810"/>
          </a:xfrm>
          <a:prstGeom prst="ellipse">
            <a:avLst/>
          </a:prstGeom>
          <a:solidFill>
            <a:srgbClr val="99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prstClr val="white"/>
                </a:solidFill>
              </a:rPr>
              <a:t>2</a:t>
            </a:r>
            <a:endParaRPr lang="pt-BR" b="1" dirty="0">
              <a:solidFill>
                <a:prstClr val="white"/>
              </a:solidFill>
            </a:endParaRPr>
          </a:p>
        </p:txBody>
      </p:sp>
      <p:sp>
        <p:nvSpPr>
          <p:cNvPr id="19" name="Elipse 18"/>
          <p:cNvSpPr/>
          <p:nvPr/>
        </p:nvSpPr>
        <p:spPr>
          <a:xfrm>
            <a:off x="1897198" y="3082035"/>
            <a:ext cx="265528" cy="344810"/>
          </a:xfrm>
          <a:prstGeom prst="ellipse">
            <a:avLst/>
          </a:prstGeom>
          <a:solidFill>
            <a:srgbClr val="99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prstClr val="white"/>
                </a:solidFill>
              </a:rPr>
              <a:t>3</a:t>
            </a:r>
            <a:endParaRPr lang="pt-BR" b="1" dirty="0">
              <a:solidFill>
                <a:prstClr val="white"/>
              </a:solidFill>
            </a:endParaRPr>
          </a:p>
        </p:txBody>
      </p:sp>
      <p:sp>
        <p:nvSpPr>
          <p:cNvPr id="20" name="Elipse 19"/>
          <p:cNvSpPr/>
          <p:nvPr/>
        </p:nvSpPr>
        <p:spPr>
          <a:xfrm>
            <a:off x="5386592" y="3082035"/>
            <a:ext cx="265528" cy="344810"/>
          </a:xfrm>
          <a:prstGeom prst="ellipse">
            <a:avLst/>
          </a:prstGeom>
          <a:solidFill>
            <a:srgbClr val="99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prstClr val="white"/>
                </a:solidFill>
              </a:rPr>
              <a:t>4</a:t>
            </a:r>
            <a:endParaRPr lang="pt-BR" b="1" dirty="0">
              <a:solidFill>
                <a:prstClr val="white"/>
              </a:solidFill>
            </a:endParaRPr>
          </a:p>
        </p:txBody>
      </p:sp>
      <p:sp>
        <p:nvSpPr>
          <p:cNvPr id="21" name="Elipse 20"/>
          <p:cNvSpPr/>
          <p:nvPr/>
        </p:nvSpPr>
        <p:spPr>
          <a:xfrm>
            <a:off x="3531695" y="4117150"/>
            <a:ext cx="265528" cy="344810"/>
          </a:xfrm>
          <a:prstGeom prst="ellipse">
            <a:avLst/>
          </a:prstGeom>
          <a:solidFill>
            <a:srgbClr val="99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prstClr val="white"/>
                </a:solidFill>
              </a:rPr>
              <a:t>5</a:t>
            </a:r>
            <a:endParaRPr lang="pt-BR" b="1" dirty="0">
              <a:solidFill>
                <a:prstClr val="white"/>
              </a:solidFill>
            </a:endParaRPr>
          </a:p>
        </p:txBody>
      </p:sp>
      <p:sp>
        <p:nvSpPr>
          <p:cNvPr id="22" name="Elipse 21"/>
          <p:cNvSpPr/>
          <p:nvPr/>
        </p:nvSpPr>
        <p:spPr>
          <a:xfrm>
            <a:off x="5386592" y="4082888"/>
            <a:ext cx="265528" cy="344810"/>
          </a:xfrm>
          <a:prstGeom prst="ellipse">
            <a:avLst/>
          </a:prstGeom>
          <a:solidFill>
            <a:srgbClr val="99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prstClr val="white"/>
                </a:solidFill>
              </a:rPr>
              <a:t>6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844562" y="3660290"/>
            <a:ext cx="5677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 smtClean="0">
                <a:solidFill>
                  <a:srgbClr val="FF0000"/>
                </a:solidFill>
              </a:rPr>
              <a:t>(tarde)</a:t>
            </a:r>
            <a:endParaRPr lang="pt-BR" sz="1100" dirty="0">
              <a:solidFill>
                <a:srgbClr val="FF0000"/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8025196" y="2689485"/>
            <a:ext cx="6463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 smtClean="0">
                <a:solidFill>
                  <a:srgbClr val="FF0000"/>
                </a:solidFill>
              </a:rPr>
              <a:t>(manhã)</a:t>
            </a:r>
            <a:endParaRPr lang="pt-BR" sz="1100" dirty="0">
              <a:solidFill>
                <a:srgbClr val="FF0000"/>
              </a:solidFill>
            </a:endParaRPr>
          </a:p>
        </p:txBody>
      </p:sp>
      <p:sp>
        <p:nvSpPr>
          <p:cNvPr id="28" name="CaixaDeTexto 27"/>
          <p:cNvSpPr txBox="1"/>
          <p:nvPr/>
        </p:nvSpPr>
        <p:spPr>
          <a:xfrm>
            <a:off x="7976119" y="1761660"/>
            <a:ext cx="5677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 smtClean="0">
                <a:solidFill>
                  <a:srgbClr val="FF0000"/>
                </a:solidFill>
              </a:rPr>
              <a:t>(tarde)</a:t>
            </a:r>
            <a:endParaRPr lang="pt-BR" sz="1100" dirty="0">
              <a:solidFill>
                <a:srgbClr val="FF0000"/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1379572" y="3725278"/>
            <a:ext cx="5677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 smtClean="0">
                <a:solidFill>
                  <a:srgbClr val="FF0000"/>
                </a:solidFill>
              </a:rPr>
              <a:t>(tarde)</a:t>
            </a:r>
            <a:endParaRPr lang="pt-BR" sz="1100" dirty="0">
              <a:solidFill>
                <a:srgbClr val="FF0000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2960089" y="4769650"/>
            <a:ext cx="5677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 smtClean="0">
                <a:solidFill>
                  <a:srgbClr val="FF0000"/>
                </a:solidFill>
              </a:rPr>
              <a:t>(tarde)</a:t>
            </a:r>
            <a:endParaRPr lang="pt-BR" sz="1100" dirty="0">
              <a:solidFill>
                <a:srgbClr val="FF0000"/>
              </a:solidFill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4810953" y="4780854"/>
            <a:ext cx="5677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 smtClean="0">
                <a:solidFill>
                  <a:srgbClr val="FF0000"/>
                </a:solidFill>
              </a:rPr>
              <a:t>(tarde)</a:t>
            </a:r>
            <a:endParaRPr lang="pt-BR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96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8" y="411510"/>
            <a:ext cx="9053018" cy="1585913"/>
          </a:xfrm>
          <a:prstGeom prst="rect">
            <a:avLst/>
          </a:prstGeom>
          <a:noFill/>
        </p:spPr>
      </p:pic>
      <p:sp>
        <p:nvSpPr>
          <p:cNvPr id="10" name="CaixaDeTexto 9"/>
          <p:cNvSpPr txBox="1"/>
          <p:nvPr/>
        </p:nvSpPr>
        <p:spPr>
          <a:xfrm>
            <a:off x="76001" y="1978137"/>
            <a:ext cx="1868919" cy="12522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51406" tIns="25703" rIns="51406" bIns="25703" rtlCol="0">
            <a:spAutoFit/>
          </a:bodyPr>
          <a:lstStyle/>
          <a:p>
            <a:pPr defTabSz="913902"/>
            <a:r>
              <a:rPr lang="pt-BR" sz="13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_business case</a:t>
            </a:r>
          </a:p>
          <a:p>
            <a:pPr defTabSz="913902"/>
            <a:r>
              <a:rPr lang="pt-BR" sz="13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_matriz de requisitos</a:t>
            </a:r>
          </a:p>
          <a:p>
            <a:pPr defTabSz="913902"/>
            <a:r>
              <a:rPr lang="pt-BR" sz="13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_esboço da solução</a:t>
            </a:r>
          </a:p>
          <a:p>
            <a:pPr defTabSz="913902"/>
            <a:r>
              <a:rPr lang="pt-BR" sz="13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_P0 do projeto </a:t>
            </a:r>
          </a:p>
          <a:p>
            <a:pPr defTabSz="913902"/>
            <a:r>
              <a:rPr lang="pt-BR" sz="13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_Ata CAD</a:t>
            </a:r>
          </a:p>
          <a:p>
            <a:pPr defTabSz="913902"/>
            <a:endParaRPr lang="pt-BR" sz="1300" dirty="0">
              <a:solidFill>
                <a:prstClr val="white">
                  <a:lumMod val="50000"/>
                </a:prstClr>
              </a:solidFill>
              <a:latin typeface="Gill Sans Std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2110823" y="1964488"/>
            <a:ext cx="1919337" cy="16523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51406" tIns="25703" rIns="51406" bIns="25703" rtlCol="0">
            <a:spAutoFit/>
          </a:bodyPr>
          <a:lstStyle/>
          <a:p>
            <a:pPr defTabSz="913902"/>
            <a:r>
              <a:rPr lang="pt-BR" sz="1300" dirty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_ </a:t>
            </a:r>
            <a:r>
              <a:rPr lang="pt-BR" sz="13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business case </a:t>
            </a:r>
          </a:p>
          <a:p>
            <a:pPr defTabSz="913902"/>
            <a:r>
              <a:rPr lang="pt-BR" sz="13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_matriz de requisitos</a:t>
            </a:r>
          </a:p>
          <a:p>
            <a:pPr defTabSz="913902"/>
            <a:r>
              <a:rPr lang="pt-BR" sz="13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_ DAS</a:t>
            </a:r>
          </a:p>
          <a:p>
            <a:pPr defTabSz="913902"/>
            <a:r>
              <a:rPr lang="pt-BR" sz="13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_modelo de custo Infra</a:t>
            </a:r>
          </a:p>
          <a:p>
            <a:pPr defTabSz="913902"/>
            <a:r>
              <a:rPr lang="pt-BR" sz="13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P1 Projeto</a:t>
            </a:r>
          </a:p>
          <a:p>
            <a:pPr defTabSz="913902"/>
            <a:r>
              <a:rPr lang="pt-BR" sz="13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P1 Evolutiva</a:t>
            </a:r>
          </a:p>
          <a:p>
            <a:pPr defTabSz="913902"/>
            <a:r>
              <a:rPr lang="pt-BR" sz="13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_Ata CAD</a:t>
            </a:r>
          </a:p>
          <a:p>
            <a:pPr defTabSz="913902"/>
            <a:endParaRPr lang="pt-BR" sz="1300" dirty="0">
              <a:solidFill>
                <a:prstClr val="white">
                  <a:lumMod val="50000"/>
                </a:prstClr>
              </a:solidFill>
              <a:latin typeface="Gill Sans Std" pitchFamily="34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4264948" y="1978141"/>
            <a:ext cx="2017242" cy="4520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51406" tIns="25703" rIns="51406" bIns="25703" rtlCol="0">
            <a:spAutoFit/>
          </a:bodyPr>
          <a:lstStyle/>
          <a:p>
            <a:pPr defTabSz="913902"/>
            <a:r>
              <a:rPr lang="pt-BR" sz="13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_Especificação Funcional</a:t>
            </a:r>
          </a:p>
          <a:p>
            <a:pPr defTabSz="913902"/>
            <a:r>
              <a:rPr lang="pt-BR" sz="13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_Especificação Técnica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485042" y="1978138"/>
            <a:ext cx="2318767" cy="8521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51406" tIns="25703" rIns="51406" bIns="25703" rtlCol="0">
            <a:spAutoFit/>
          </a:bodyPr>
          <a:lstStyle/>
          <a:p>
            <a:pPr defTabSz="913902"/>
            <a:r>
              <a:rPr lang="pt-BR" sz="1300" dirty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_ </a:t>
            </a:r>
            <a:r>
              <a:rPr lang="pt-BR" sz="13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resultados business case</a:t>
            </a:r>
          </a:p>
          <a:p>
            <a:pPr defTabSz="913902"/>
            <a:r>
              <a:rPr lang="pt-BR" sz="13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_ evidencias de aceite</a:t>
            </a:r>
          </a:p>
          <a:p>
            <a:pPr defTabSz="913902"/>
            <a:r>
              <a:rPr lang="pt-BR" sz="13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_ </a:t>
            </a:r>
            <a:r>
              <a:rPr lang="pt-BR" sz="1300" dirty="0" err="1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health-check</a:t>
            </a:r>
            <a:r>
              <a:rPr lang="pt-BR" sz="13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 do projeto</a:t>
            </a:r>
          </a:p>
          <a:p>
            <a:pPr defTabSz="913902"/>
            <a:r>
              <a:rPr lang="pt-BR" sz="13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_ P1 do Projeto</a:t>
            </a:r>
            <a:endParaRPr lang="pt-BR" sz="1300" dirty="0">
              <a:solidFill>
                <a:prstClr val="white">
                  <a:lumMod val="50000"/>
                </a:prstClr>
              </a:solidFill>
              <a:latin typeface="Gill Sans Std" pitchFamily="34" charset="0"/>
            </a:endParaRPr>
          </a:p>
        </p:txBody>
      </p:sp>
      <p:pic>
        <p:nvPicPr>
          <p:cNvPr id="11" name="Picture 6" descr="marrom-ekos.png"/>
          <p:cNvPicPr>
            <a:picLocks noChangeAspect="1"/>
          </p:cNvPicPr>
          <p:nvPr/>
        </p:nvPicPr>
        <p:blipFill>
          <a:blip r:embed="rId4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37887" y="7920"/>
            <a:ext cx="374379" cy="373581"/>
          </a:xfrm>
          <a:prstGeom prst="rect">
            <a:avLst/>
          </a:prstGeom>
        </p:spPr>
      </p:pic>
      <p:sp>
        <p:nvSpPr>
          <p:cNvPr id="13" name="CaixaDeTexto 12"/>
          <p:cNvSpPr txBox="1"/>
          <p:nvPr/>
        </p:nvSpPr>
        <p:spPr>
          <a:xfrm>
            <a:off x="238018" y="64783"/>
            <a:ext cx="8649960" cy="461618"/>
          </a:xfrm>
          <a:prstGeom prst="rect">
            <a:avLst/>
          </a:prstGeom>
          <a:noFill/>
        </p:spPr>
        <p:txBody>
          <a:bodyPr wrap="square" lIns="91391" tIns="45695" rIns="91391" bIns="45695" rtlCol="0">
            <a:spAutoFit/>
          </a:bodyPr>
          <a:lstStyle/>
          <a:p>
            <a:pPr defTabSz="913902"/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Artefatos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 </a:t>
            </a:r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para </a:t>
            </a:r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projetos</a:t>
            </a:r>
          </a:p>
        </p:txBody>
      </p:sp>
      <p:sp>
        <p:nvSpPr>
          <p:cNvPr id="3" name="Retângulo 2"/>
          <p:cNvSpPr/>
          <p:nvPr/>
        </p:nvSpPr>
        <p:spPr>
          <a:xfrm>
            <a:off x="4263706" y="2504228"/>
            <a:ext cx="2018484" cy="6924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vl="0" defTabSz="913902"/>
            <a:r>
              <a:rPr lang="pt-BR" sz="1300" dirty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_ </a:t>
            </a:r>
            <a:r>
              <a:rPr lang="pt-BR" sz="1300" dirty="0" err="1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One</a:t>
            </a:r>
            <a:r>
              <a:rPr lang="pt-BR" sz="1300" dirty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 Page Status </a:t>
            </a:r>
            <a:r>
              <a:rPr lang="pt-BR" sz="1300" dirty="0" err="1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Report</a:t>
            </a:r>
            <a:endParaRPr lang="pt-BR" sz="1300" dirty="0">
              <a:solidFill>
                <a:prstClr val="white">
                  <a:lumMod val="50000"/>
                </a:prstClr>
              </a:solidFill>
              <a:latin typeface="Gill Sans Std" pitchFamily="34" charset="0"/>
            </a:endParaRPr>
          </a:p>
          <a:p>
            <a:pPr lvl="0" defTabSz="913902"/>
            <a:r>
              <a:rPr lang="pt-BR" sz="1300" dirty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_ Check-</a:t>
            </a:r>
            <a:r>
              <a:rPr lang="pt-BR" sz="1300" dirty="0" err="1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list</a:t>
            </a:r>
            <a:r>
              <a:rPr lang="pt-BR" sz="1300" dirty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 Testes e Transição para Manter</a:t>
            </a:r>
          </a:p>
        </p:txBody>
      </p:sp>
      <p:sp>
        <p:nvSpPr>
          <p:cNvPr id="4" name="Retângulo 3"/>
          <p:cNvSpPr/>
          <p:nvPr/>
        </p:nvSpPr>
        <p:spPr>
          <a:xfrm>
            <a:off x="228763" y="3606511"/>
            <a:ext cx="85750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b="1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Documentação de Projetos </a:t>
            </a:r>
            <a:r>
              <a:rPr lang="pt-BR" sz="1200" b="1" dirty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 </a:t>
            </a:r>
            <a:r>
              <a:rPr lang="pt-BR" sz="12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utilizar os Artefatos e publicar no  PPM </a:t>
            </a:r>
            <a:r>
              <a:rPr lang="pt-BR" sz="1200" dirty="0" err="1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Clarity</a:t>
            </a:r>
            <a:endParaRPr lang="pt-BR" sz="1200" dirty="0" smtClean="0">
              <a:solidFill>
                <a:prstClr val="white">
                  <a:lumMod val="50000"/>
                </a:prstClr>
              </a:solidFill>
              <a:latin typeface="Gill Sans Std" pitchFamily="34" charset="0"/>
            </a:endParaRPr>
          </a:p>
          <a:p>
            <a:r>
              <a:rPr lang="pt-BR" sz="12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Obs. utilizar o </a:t>
            </a:r>
            <a:r>
              <a:rPr lang="pt-BR" sz="1200" dirty="0" err="1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sharepoint</a:t>
            </a:r>
            <a:r>
              <a:rPr lang="pt-BR" sz="12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 corporativo da natura (</a:t>
            </a:r>
            <a:r>
              <a:rPr lang="pt-BR" sz="1200" dirty="0" err="1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npp</a:t>
            </a:r>
            <a:r>
              <a:rPr lang="pt-BR" sz="12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) para documentação de projeto com área colaborativa com as áreas de negócios</a:t>
            </a:r>
          </a:p>
          <a:p>
            <a:endParaRPr lang="pt-BR" sz="1200" dirty="0">
              <a:solidFill>
                <a:prstClr val="white">
                  <a:lumMod val="50000"/>
                </a:prstClr>
              </a:solidFill>
              <a:latin typeface="Gill Sans Std" pitchFamily="34" charset="0"/>
            </a:endParaRPr>
          </a:p>
          <a:p>
            <a:r>
              <a:rPr lang="pt-BR" sz="1200" b="1" dirty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Documentação de </a:t>
            </a:r>
            <a:r>
              <a:rPr lang="pt-BR" sz="1200" b="1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Produto </a:t>
            </a:r>
            <a:r>
              <a:rPr lang="pt-BR" sz="1200" dirty="0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continua utilizado a ferramenta do </a:t>
            </a:r>
            <a:r>
              <a:rPr lang="pt-BR" sz="1200" dirty="0" err="1" smtClean="0">
                <a:solidFill>
                  <a:prstClr val="white">
                    <a:lumMod val="50000"/>
                  </a:prstClr>
                </a:solidFill>
                <a:latin typeface="Gill Sans Std" pitchFamily="34" charset="0"/>
              </a:rPr>
              <a:t>solman</a:t>
            </a:r>
            <a:endParaRPr lang="pt-BR" sz="1200" dirty="0"/>
          </a:p>
        </p:txBody>
      </p:sp>
      <p:sp>
        <p:nvSpPr>
          <p:cNvPr id="2" name="Retângulo 1"/>
          <p:cNvSpPr/>
          <p:nvPr/>
        </p:nvSpPr>
        <p:spPr>
          <a:xfrm>
            <a:off x="238018" y="4437508"/>
            <a:ext cx="8874248" cy="646331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/>
            <a:r>
              <a:rPr lang="pt-BR" dirty="0"/>
              <a:t>Todos </a:t>
            </a:r>
            <a:r>
              <a:rPr lang="pt-BR" dirty="0" err="1"/>
              <a:t>templates</a:t>
            </a:r>
            <a:r>
              <a:rPr lang="pt-BR" dirty="0"/>
              <a:t> apresentados e utilizados </a:t>
            </a:r>
            <a:r>
              <a:rPr lang="pt-BR" dirty="0" smtClean="0"/>
              <a:t>em TD estão </a:t>
            </a:r>
            <a:r>
              <a:rPr lang="pt-BR" dirty="0"/>
              <a:t>na base de gestão </a:t>
            </a:r>
            <a:r>
              <a:rPr lang="pt-BR" dirty="0" smtClean="0"/>
              <a:t>de conhecimento </a:t>
            </a:r>
            <a:r>
              <a:rPr lang="pt-BR" dirty="0"/>
              <a:t>do </a:t>
            </a:r>
            <a:r>
              <a:rPr lang="pt-BR" dirty="0" err="1" smtClean="0"/>
              <a:t>clarity</a:t>
            </a:r>
            <a:r>
              <a:rPr lang="pt-BR" dirty="0" smtClean="0"/>
              <a:t>  Página Inicial &gt; Organização &gt; Gestão de Conhecimento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2283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162001" y="2063920"/>
            <a:ext cx="7560350" cy="193899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3200" dirty="0">
                <a:solidFill>
                  <a:srgbClr val="004F71"/>
                </a:solidFill>
                <a:latin typeface="Gill Sans Std ExtraBold" pitchFamily="34" charset="0"/>
              </a:rPr>
              <a:t>próximos passos</a:t>
            </a:r>
          </a:p>
          <a:p>
            <a:r>
              <a:rPr lang="pt-BR" sz="4400" dirty="0">
                <a:solidFill>
                  <a:srgbClr val="FFC000"/>
                </a:solidFill>
                <a:latin typeface="Gill Sans Std ExtraBold" pitchFamily="34" charset="0"/>
              </a:rPr>
              <a:t>Combinados e Pontos Focais </a:t>
            </a:r>
          </a:p>
        </p:txBody>
      </p:sp>
    </p:spTree>
    <p:extLst>
      <p:ext uri="{BB962C8B-B14F-4D97-AF65-F5344CB8AC3E}">
        <p14:creationId xmlns:p14="http://schemas.microsoft.com/office/powerpoint/2010/main" val="1857444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aixaDeTexto 71"/>
          <p:cNvSpPr txBox="1"/>
          <p:nvPr/>
        </p:nvSpPr>
        <p:spPr>
          <a:xfrm>
            <a:off x="162002" y="97202"/>
            <a:ext cx="8055405" cy="46166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sz="2400" dirty="0">
                <a:solidFill>
                  <a:srgbClr val="004F71"/>
                </a:solidFill>
                <a:latin typeface="Gill Sans Std ExtraBold" pitchFamily="34" charset="0"/>
              </a:rPr>
              <a:t>próximos </a:t>
            </a:r>
            <a:r>
              <a:rPr lang="pt-BR" sz="2400" dirty="0">
                <a:solidFill>
                  <a:srgbClr val="FFC000"/>
                </a:solidFill>
                <a:latin typeface="Gill Sans Std ExtraBold" pitchFamily="34" charset="0"/>
              </a:rPr>
              <a:t>cominados</a:t>
            </a:r>
            <a:endParaRPr lang="pt-BR" sz="24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476547" y="906566"/>
            <a:ext cx="8145905" cy="3385538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pt-BR" dirty="0" smtClean="0"/>
              <a:t>O ambiente que vocês utilizarão é o de desenvolvimento. O link para o ambiente de produção será disponibilizado no dia 09/03</a:t>
            </a:r>
          </a:p>
          <a:p>
            <a:endParaRPr lang="pt-BR" dirty="0" smtClean="0"/>
          </a:p>
          <a:p>
            <a:r>
              <a:rPr lang="pt-BR" dirty="0" smtClean="0"/>
              <a:t>A carga das demandas que foram indicadas pelos líderes estará em Produção nesta mesma data. Foram subidas em produção as informações disponíveis no Sharepoint de Demandas e Briefings, bem como informações adicionais enviadas pelos Líderes das Demandas. Será necessário que as informações que não estavam disponíveis sejam complementadas pelos donos das demandas e que os cronogramas sejam atualizados.</a:t>
            </a:r>
          </a:p>
          <a:p>
            <a:r>
              <a:rPr lang="pt-BR" sz="1600" b="1" dirty="0">
                <a:latin typeface="+mj-lt"/>
              </a:rPr>
              <a:t>Pedido especial: as informações de Atuação em Sistemas deverão ser priorizadas.</a:t>
            </a:r>
          </a:p>
          <a:p>
            <a:endParaRPr lang="pt-BR" dirty="0"/>
          </a:p>
          <a:p>
            <a:r>
              <a:rPr lang="pt-BR" dirty="0" smtClean="0"/>
              <a:t>À partir do dia 09/03, todo o processo funcionará apenas através da ferramenta.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71351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467420" y="1132036"/>
            <a:ext cx="2980630" cy="646266"/>
          </a:xfrm>
          <a:prstGeom prst="rect">
            <a:avLst/>
          </a:prstGeom>
        </p:spPr>
        <p:txBody>
          <a:bodyPr wrap="square" lIns="91376" tIns="45688" rIns="91376" bIns="45688">
            <a:spAutoFit/>
          </a:bodyPr>
          <a:lstStyle/>
          <a:p>
            <a:r>
              <a:rPr lang="pt-BR" dirty="0" smtClean="0">
                <a:solidFill>
                  <a:srgbClr val="6E6259"/>
                </a:solidFill>
                <a:latin typeface="Gill Sans Std" pitchFamily="34" charset="0"/>
              </a:rPr>
              <a:t>_início da ferramenta em produção  9/03</a:t>
            </a:r>
            <a:endParaRPr lang="pt-BR" b="1" dirty="0" smtClean="0">
              <a:solidFill>
                <a:srgbClr val="6E6259"/>
              </a:solidFill>
              <a:latin typeface="Gill Sans Std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3416929" y="3292753"/>
            <a:ext cx="26548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dirty="0" smtClean="0">
                <a:solidFill>
                  <a:srgbClr val="6E6259"/>
                </a:solidFill>
                <a:latin typeface="Gill Sans Std" pitchFamily="34" charset="0"/>
              </a:rPr>
              <a:t>ThalitaBegliomini@natura.net</a:t>
            </a:r>
            <a:endParaRPr lang="pt-BR" sz="1600" dirty="0"/>
          </a:p>
        </p:txBody>
      </p:sp>
      <p:sp>
        <p:nvSpPr>
          <p:cNvPr id="5" name="Retângulo 4"/>
          <p:cNvSpPr/>
          <p:nvPr/>
        </p:nvSpPr>
        <p:spPr>
          <a:xfrm>
            <a:off x="5826250" y="2715095"/>
            <a:ext cx="27061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dirty="0" smtClean="0">
                <a:solidFill>
                  <a:srgbClr val="6E6259"/>
                </a:solidFill>
                <a:latin typeface="Gill Sans Std" pitchFamily="34" charset="0"/>
              </a:rPr>
              <a:t>WesleyFigueiredo@natura.net</a:t>
            </a:r>
            <a:endParaRPr lang="pt-BR" sz="1600" dirty="0"/>
          </a:p>
        </p:txBody>
      </p:sp>
      <p:sp>
        <p:nvSpPr>
          <p:cNvPr id="7" name="Retângulo 6"/>
          <p:cNvSpPr/>
          <p:nvPr/>
        </p:nvSpPr>
        <p:spPr>
          <a:xfrm>
            <a:off x="5649177" y="4583536"/>
            <a:ext cx="23402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dirty="0" smtClean="0">
                <a:solidFill>
                  <a:srgbClr val="6E6259"/>
                </a:solidFill>
                <a:latin typeface="Gill Sans Std" pitchFamily="34" charset="0"/>
              </a:rPr>
              <a:t>ThiagoLibbos@natura.net</a:t>
            </a:r>
            <a:endParaRPr lang="pt-BR" sz="1600" dirty="0"/>
          </a:p>
        </p:txBody>
      </p:sp>
      <p:sp>
        <p:nvSpPr>
          <p:cNvPr id="2" name="Retângulo 1"/>
          <p:cNvSpPr/>
          <p:nvPr/>
        </p:nvSpPr>
        <p:spPr>
          <a:xfrm>
            <a:off x="1475658" y="2277066"/>
            <a:ext cx="2222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6E6259"/>
                </a:solidFill>
                <a:latin typeface="Gill Sans Std" pitchFamily="34" charset="0"/>
              </a:rPr>
              <a:t>_orientação e dúvidas</a:t>
            </a:r>
          </a:p>
        </p:txBody>
      </p:sp>
      <p:pic>
        <p:nvPicPr>
          <p:cNvPr id="11" name="Picture 2" descr="Foto do Usuário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057" y="2090167"/>
            <a:ext cx="1080000" cy="11619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Foto do Usuário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6602" y="1664449"/>
            <a:ext cx="1152000" cy="10368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Foto do Usuário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168" y="3554103"/>
            <a:ext cx="1080000" cy="10266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tângulo 13"/>
          <p:cNvSpPr/>
          <p:nvPr/>
        </p:nvSpPr>
        <p:spPr>
          <a:xfrm>
            <a:off x="481606" y="1657203"/>
            <a:ext cx="1346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" pitchFamily="34" charset="0"/>
              </a:rPr>
              <a:t>#</a:t>
            </a:r>
            <a:r>
              <a:rPr lang="pt-BR" b="1" dirty="0" err="1" smtClean="0">
                <a:solidFill>
                  <a:srgbClr val="6E6259"/>
                </a:solidFill>
                <a:latin typeface="Gill Sans Std" pitchFamily="34" charset="0"/>
              </a:rPr>
              <a:t>pegaprasi</a:t>
            </a:r>
            <a:endParaRPr lang="pt-BR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sp>
        <p:nvSpPr>
          <p:cNvPr id="15" name="Retângulo 7"/>
          <p:cNvSpPr>
            <a:spLocks noChangeArrowheads="1"/>
          </p:cNvSpPr>
          <p:nvPr/>
        </p:nvSpPr>
        <p:spPr bwMode="auto">
          <a:xfrm>
            <a:off x="-9822" y="514353"/>
            <a:ext cx="9150251" cy="533859"/>
          </a:xfrm>
          <a:prstGeom prst="rect">
            <a:avLst/>
          </a:prstGeom>
          <a:noFill/>
          <a:ln>
            <a:noFill/>
          </a:ln>
          <a:extLst/>
        </p:spPr>
        <p:txBody>
          <a:bodyPr lIns="51431" tIns="25715" rIns="51431" bIns="25715">
            <a:spAutoFit/>
          </a:bodyPr>
          <a:lstStyle/>
          <a:p>
            <a:pPr algn="ctr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sz="3200" dirty="0">
                <a:solidFill>
                  <a:srgbClr val="D0D1CD"/>
                </a:solidFill>
                <a:latin typeface="Gill Sans Std UltraBold" pitchFamily="34" charset="0"/>
                <a:ea typeface="MS PGothic" pitchFamily="34" charset="-128"/>
                <a:sym typeface="Gill Sans Std UltraBold" pitchFamily="34" charset="0"/>
              </a:rPr>
              <a:t>Contato dos Pontos focais</a:t>
            </a:r>
            <a:endParaRPr lang="pt-BR" sz="1600" b="1" dirty="0">
              <a:solidFill>
                <a:srgbClr val="D0D1CD"/>
              </a:solidFill>
              <a:latin typeface="Gill Sans Std UltraBold" pitchFamily="34" charset="0"/>
              <a:ea typeface="MS PGothic" pitchFamily="34" charset="-128"/>
              <a:sym typeface="Gill Sans Std UltraBold" pitchFamily="34" charset="0"/>
            </a:endParaRPr>
          </a:p>
          <a:p>
            <a:pPr algn="ctr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pt-BR" sz="1100" b="1" dirty="0">
              <a:solidFill>
                <a:srgbClr val="FFFFFF">
                  <a:lumMod val="85000"/>
                </a:srgbClr>
              </a:solidFill>
              <a:latin typeface="Gill Sans Std Light" pitchFamily="34" charset="0"/>
              <a:ea typeface="MS PGothic" pitchFamily="34" charset="-128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7435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2" grpId="0"/>
      <p:bldP spid="14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8"/>
          <p:cNvSpPr txBox="1">
            <a:spLocks noChangeArrowheads="1"/>
          </p:cNvSpPr>
          <p:nvPr/>
        </p:nvSpPr>
        <p:spPr bwMode="auto">
          <a:xfrm>
            <a:off x="382191" y="2024361"/>
            <a:ext cx="7308056" cy="930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43" tIns="40821" rIns="81643" bIns="40821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/>
            <a:r>
              <a:rPr lang="en-US" sz="5500" b="1" dirty="0">
                <a:solidFill>
                  <a:srgbClr val="004F71"/>
                </a:solidFill>
                <a:latin typeface="Verdana" pitchFamily="34" charset="0"/>
                <a:ea typeface="MS PGothic" pitchFamily="34" charset="-128"/>
              </a:rPr>
              <a:t>fim. obrigado.</a:t>
            </a:r>
          </a:p>
        </p:txBody>
      </p:sp>
      <p:sp>
        <p:nvSpPr>
          <p:cNvPr id="31747" name="TextBox 9"/>
          <p:cNvSpPr txBox="1">
            <a:spLocks noChangeArrowheads="1"/>
          </p:cNvSpPr>
          <p:nvPr/>
        </p:nvSpPr>
        <p:spPr bwMode="auto">
          <a:xfrm>
            <a:off x="326827" y="4597003"/>
            <a:ext cx="3756720" cy="22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1643" tIns="40821" rIns="81643" bIns="40821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/>
            <a:r>
              <a:rPr lang="en-US" sz="900" b="1" dirty="0">
                <a:solidFill>
                  <a:srgbClr val="FFFFFF"/>
                </a:solidFill>
                <a:latin typeface="Verdana" pitchFamily="34" charset="0"/>
                <a:ea typeface="MS PGothic" pitchFamily="34" charset="-128"/>
              </a:rPr>
              <a:t>GOVERNANÇA DE TECNOLOGIA DIGITAL – JULHO.2013</a:t>
            </a:r>
            <a:endParaRPr lang="en-US" sz="900" dirty="0">
              <a:solidFill>
                <a:srgbClr val="FFFFFF"/>
              </a:solidFill>
              <a:latin typeface="Verdana" pitchFamily="34" charset="0"/>
              <a:ea typeface="MS PGothic" pitchFamily="34" charset="-128"/>
            </a:endParaRPr>
          </a:p>
        </p:txBody>
      </p:sp>
      <p:pic>
        <p:nvPicPr>
          <p:cNvPr id="31748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5978" y="2171700"/>
            <a:ext cx="750094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49442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LwxSTTJz0W_.xCqbnGuK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u89_n4oyk2jQ0XZXRkak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..tTY2_JESzO8hnY2k73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d20_uYcAU6u75Od9W8lS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5C6dX4TZkG0pHWBAf73B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Uh0jwRozE2kxicXj.oQi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Li2d3jnE0e4g5Amg6ok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_41AMJj5USOJvgttnnIS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_41AMJj5USOJvgttnnIS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2pUI7PkOUmAgXqu_GViH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2pUI7PkOUmAgXqu_GViH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2pUI7PkOUmAgXqu_GViH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2pUI7PkOUmAgXqu_GViH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2pUI7PkOUmAgXqu_GViH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2pUI7PkOUmAgXqu_GViH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2pUI7PkOUmAgXqu_GViH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dTUm1UQhkOja.Fu73fDQ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K93rx3cUKE41eD.YuYp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K93rx3cUKE41eD.YuYp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K93rx3cUKE41eD.YuYp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K93rx3cUKE41eD.YuYp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sOrMchalEKNYrVR5dqqA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K93rx3cUKE41eD.YuYp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sOrMchalEKNYrVR5dqqA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CUusV3OrU6V2z_x.R5eg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sOrMchalEKNYrVR5dqqA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sOrMchalEKNYrVR5dqqA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dTUm1UQhkOja.Fu73fDQ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GUXMfGj10azswCSjvpHL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V4O6G57aUaA2DeTScFFR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0DR3WMOpEqIPSsP2griq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K93rx3cUKE41eD.YuYp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K93rx3cUKE41eD.YuYp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K93rx3cUKE41eD.YuYp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sOrMchalEKNYrVR5dqqA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pzkfmQrCUaydsgkZ89sB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pzkfmQrCUaydsgkZ89sB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pzkfmQrCUaydsgkZ89sB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sOrMchalEKNYrVR5dqqA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sOrMchalEKNYrVR5dqqA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K93rx3cUKE41eD.YuYp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dTUm1UQhkOja.Fu73fDQQ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GUXMfGj10azswCSjvpHL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2pUI7PkOUmAgXqu_GViH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S8YgEeFEEq6pAazK8_2l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oKFGGAi9EaFWsEbL9QSm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2pUI7PkOUmAgXqu_GViH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S8YgEeFEEq6pAazK8_2l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K93rx3cUKE41eD.YuYp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sOrMchalEKNYrVR5dqqA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sOrMchalEKNYrVR5dqqA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K93rx3cUKE41eD.YuYp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K93rx3cUKE41eD.YuYp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K93rx3cUKE41eD.YuYp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oKFGGAi9EaFWsEbL9QSm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dTUm1UQhkOja.Fu73fDQ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HBjjC9C60K1x4AoQIVhE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fk_j5__z0a61UCIT4RVn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NAu3j94jEuYj5Z4hTZEq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TAeRWHFoEGEuUoMdIZXU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sOrMchalEKNYrVR5dqqA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fk_j5__z0a61UCIT4RVn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CUusV3OrU6V2z_x.R5eg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oIc5pYNkk.XQo2N26XJf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1MEGLLRc0K.ZJszWS6eC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HBjjC9C60K1x4AoQIVhE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dTUm1UQhkOja.Fu73fDQ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GUXMfGj10azswCSjvpHL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V4O6G57aUaA2DeTScFFR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0DR3WMOpEqIPSsP2griq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HBjjC9C60K1x4AoQIVhEQ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fk_j5__z0a61UCIT4RVn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NAu3j94jEuYj5Z4hTZEq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TAeRWHFoEGEuUoMdIZXU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sOrMchalEKNYrVR5dqqA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oIc5pYNkk.XQo2N26XJf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1MEGLLRc0K.ZJszWS6eC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HBjjC9C60K1x4AoQIVhE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oIc5pYNkk.XQo2N26XJfw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1MEGLLRc0K.ZJszWS6eC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GUXMfGj10azswCSjvpHL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V4O6G57aUaA2DeTScFFRw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0DR3WMOpEqIPSsP2griq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ljK.H_o8ky9Ww9RPayAgQ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ljK.H_o8ky9Ww9RPayAgQ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ljK.H_o8ky9Ww9RPayAg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dTUm1UQhkOja.Fu73fDQQ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GUXMfGj10azswCSjvpHLA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K93rx3cUKE41eD.YuYp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K93rx3cUKE41eD.YuYp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K93rx3cUKE41eD.YuYp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K93rx3cUKE41eD.YuYpA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K93rx3cUKE41eD.YuYpA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K93rx3cUKE41eD.YuYpA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GUXMfGj10azswCSjvpHL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V4O6G57aUaA2DeTScFFRw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0DR3WMOpEqIPSsP2griqQ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ZQKnsM4JEyhaRbDR9H0hQ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g9PBJmAKEORDtPhJgBuew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1MEGLLRc0K.ZJszWS6eCw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0DR3WMOpEqIPSsP2griqQ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1MEGLLRc0K.ZJszWS6eCw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GUXMfGj10azswCSjvpHLA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V4O6G57aUaA2DeTScFFR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0DR3WMOpEqIPSsP2griqQ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oIc5pYNkk.XQo2N26XJfw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1MEGLLRc0K.ZJszWS6eCw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oIc5pYNkk.XQo2N26XJfw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1MEGLLRc0K.ZJszWS6eCw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oIc5pYNkk.XQo2N26XJfw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1MEGLLRc0K.ZJszWS6eCw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GUXMfGj10azswCSjvpHLA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V4O6G57aUaA2DeTScFFRw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0DR3WMOpEqIPSsP2griqQ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oIc5pYNkk.XQo2N26XJfw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1MEGLLRc0K.ZJszWS6eCw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oIc5pYNkk.XQo2N26XJfw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1MEGLLRc0K.ZJszWS6eCw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oIc5pYNkk.XQo2N26XJfw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1MEGLLRc0K.ZJszWS6eCw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oIc5pYNkk.XQo2N26XJfw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1MEGLLRc0K.ZJszWS6eCw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GUXMfGj10azswCSjvpHLA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V4O6G57aUaA2DeTScFFRw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0DR3WMOpEqIPSsP2griqQ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9mlF_niR0uo7pFXHP3.Zw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GUXMfGj10azswCSjvpHLA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V4O6G57aUaA2DeTScFFRw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7XXompxekapK_WK5KoqIw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dPHZnBV_ESB3kKPZwYSkA"/>
</p:tagLst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atura">
      <a:majorFont>
        <a:latin typeface="Gill Sans Std"/>
        <a:ea typeface=""/>
        <a:cs typeface=""/>
      </a:majorFont>
      <a:minorFont>
        <a:latin typeface="Gill Sans Std Light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itle &amp; Bullets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C0037"/>
      </a:accent1>
      <a:accent2>
        <a:srgbClr val="333399"/>
      </a:accent2>
      <a:accent3>
        <a:srgbClr val="FFFFFF"/>
      </a:accent3>
      <a:accent4>
        <a:srgbClr val="000000"/>
      </a:accent4>
      <a:accent5>
        <a:srgbClr val="BFAAAE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Title &amp; Subtitle">
  <a:themeElements>
    <a:clrScheme name="Title &amp; Sub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Subtitle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Title &amp; Subtitle">
  <a:themeElements>
    <a:clrScheme name="Title &amp; Sub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Subtitle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11DEA00474DB3408759FF06A0A12D0A" ma:contentTypeVersion="0" ma:contentTypeDescription="Crie um novo documento." ma:contentTypeScope="" ma:versionID="e13eb7f758565fd8f15308b6c7d6bbd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C355B3-1FBB-4352-B214-E128B659DB7C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4C2B2B5-AD13-4E80-B127-BC28A03B9F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053C19-2D1E-47B5-9B85-2BD51C7F58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24152</TotalTime>
  <Words>8856</Words>
  <Application>Microsoft Office PowerPoint</Application>
  <PresentationFormat>Apresentação na tela (16:9)</PresentationFormat>
  <Paragraphs>1781</Paragraphs>
  <Slides>152</Slides>
  <Notes>10</Notes>
  <HiddenSlides>2</HiddenSlides>
  <MMClips>0</MMClips>
  <ScaleCrop>false</ScaleCrop>
  <HeadingPairs>
    <vt:vector size="8" baseType="variant">
      <vt:variant>
        <vt:lpstr>Tema</vt:lpstr>
      </vt:variant>
      <vt:variant>
        <vt:i4>7</vt:i4>
      </vt:variant>
      <vt:variant>
        <vt:lpstr>Vínculos</vt:lpstr>
      </vt:variant>
      <vt:variant>
        <vt:i4>8</vt:i4>
      </vt:variant>
      <vt:variant>
        <vt:lpstr>Servidores OLE incorporados</vt:lpstr>
      </vt:variant>
      <vt:variant>
        <vt:i4>2</vt:i4>
      </vt:variant>
      <vt:variant>
        <vt:lpstr>Títulos de slides</vt:lpstr>
      </vt:variant>
      <vt:variant>
        <vt:i4>152</vt:i4>
      </vt:variant>
    </vt:vector>
  </HeadingPairs>
  <TitlesOfParts>
    <vt:vector size="169" baseType="lpstr">
      <vt:lpstr>Tema do Office</vt:lpstr>
      <vt:lpstr>4_Custom Design</vt:lpstr>
      <vt:lpstr>1_Tema do Office</vt:lpstr>
      <vt:lpstr>Title &amp; Bullets</vt:lpstr>
      <vt:lpstr>Title &amp; Subtitle</vt:lpstr>
      <vt:lpstr>1_Title &amp; Subtitle</vt:lpstr>
      <vt:lpstr>2_Tema do Office</vt:lpstr>
      <vt:lpstr>D:\Processos DA\N2 Metro Natura\99 - Templates\2. MR - Plan Requisitos e Estimativas (uso interno Natura) v4.xlsx</vt:lpstr>
      <vt:lpstr>D:\Processos DA\N2 Metro Natura\99 - Templates\DAS - Documento de Arquitetura de Solução.docx</vt:lpstr>
      <vt:lpstr>F:\Processos DA\N2 Metro Natura\99 - Templates\____Modelo de Custos.xls</vt:lpstr>
      <vt:lpstr>D:\Processos DA\N2 Metro Natura\99 - Templates\Proposta Técnica Fornecedores.pptx</vt:lpstr>
      <vt:lpstr>D:\Processos DA\N2 Metro Natura\99 - Templates\Solução_EF.docx</vt:lpstr>
      <vt:lpstr>D:\Processos DA\N2 Metro Natura\99 - Templates\Solução_ET.docx</vt:lpstr>
      <vt:lpstr>F:\Processos DA\N2 Metro Natura\99 - Templates\Natura_ChecklistTestes.xlsx</vt:lpstr>
      <vt:lpstr>F:\Processos DA\N2 Metro Natura\99 - Templates\Natura_ChecklistManter.xlsx</vt:lpstr>
      <vt:lpstr>think-cell Slide</vt:lpstr>
      <vt:lpstr>Apresentação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Governança TD</dc:creator>
  <cp:keywords>Natura Cosméticos</cp:keywords>
  <cp:lastModifiedBy>Felipe Alves de Lima</cp:lastModifiedBy>
  <cp:revision>706</cp:revision>
  <cp:lastPrinted>2015-03-24T18:31:58Z</cp:lastPrinted>
  <dcterms:created xsi:type="dcterms:W3CDTF">2014-04-23T18:57:10Z</dcterms:created>
  <dcterms:modified xsi:type="dcterms:W3CDTF">2015-07-03T17:53:42Z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0x010100E11DEA00474DB3408759FF06A0A12D0A</vt:lpwstr>
  </property>
</Properties>
</file>