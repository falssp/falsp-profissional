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xls" ContentType="application/vnd.ms-excel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2.xml" ContentType="application/vnd.openxmlformats-officedocument.presentationml.slide+xml"/>
  <Override PartName="/ppt/presentation.xml" ContentType="application/vnd.openxmlformats-officedocument.presentationml.presentation.main+xml"/>
  <Override PartName="/ppt/slides/slide3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6.xml" ContentType="application/vnd.openxmlformats-officedocument.presentationml.slide+xml"/>
  <Override PartName="/ppt/slides/slide24.xml" ContentType="application/vnd.openxmlformats-officedocument.presentationml.slide+xml"/>
  <Override PartName="/ppt/slides/slide29.xml" ContentType="application/vnd.openxmlformats-officedocument.presentationml.slide+xml"/>
  <Override PartName="/ppt/slides/slide23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5.xml" ContentType="application/vnd.openxmlformats-officedocument.presentationml.slide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6.xml" ContentType="application/vnd.openxmlformats-officedocument.presentationml.slideMaster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slideMasters/slideMaster1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5.xml" ContentType="application/vnd.openxmlformats-officedocument.presentationml.slideMaster+xml"/>
  <Override PartName="/ppt/notesSlides/notesSlide1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slideMasters/slideMaster5.xml" ContentType="application/vnd.openxmlformats-officedocument.presentationml.slideMaster+xml"/>
  <Override PartName="/ppt/notesSlides/notesSlide10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78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11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2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49.xml" ContentType="application/vnd.openxmlformats-officedocument.presentationml.slideLayout+xml"/>
  <Override PartName="/ppt/notesSlides/notesSlide6.xml" ContentType="application/vnd.openxmlformats-officedocument.presentationml.notesSlide+xml"/>
  <Override PartName="/ppt/slideLayouts/slideLayout64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7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46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89.xml" ContentType="application/vnd.openxmlformats-officedocument.presentationml.slideLayout+xml"/>
  <Override PartName="/ppt/notesSlides/notesSlide9.xml" ContentType="application/vnd.openxmlformats-officedocument.presentationml.notesSlide+xml"/>
  <Override PartName="/ppt/slideLayouts/slideLayout8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11.xml" ContentType="application/vnd.openxmlformats-officedocument.theme+xml"/>
  <Override PartName="/ppt/theme/theme14.xml" ContentType="application/vnd.openxmlformats-officedocument.theme+xml"/>
  <Override PartName="/ppt/theme/theme10.xml" ContentType="application/vnd.openxmlformats-officedocument.theme+xml"/>
  <Override PartName="/ppt/theme/theme8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9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4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tags/tag44.xml" ContentType="application/vnd.openxmlformats-officedocument.presentationml.tags+xml"/>
  <Override PartName="/ppt/tags/tag5.xml" ContentType="application/vnd.openxmlformats-officedocument.presentationml.tags+xml"/>
  <Override PartName="/ppt/tags/tag4.xml" ContentType="application/vnd.openxmlformats-officedocument.presentationml.tag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6.xml" ContentType="application/vnd.openxmlformats-officedocument.presentationml.tags+xml"/>
  <Override PartName="/ppt/tags/tag45.xml" ContentType="application/vnd.openxmlformats-officedocument.presentationml.tags+xml"/>
  <Override PartName="/ppt/tags/tag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78.xml" ContentType="application/vnd.openxmlformats-officedocument.presentationml.tags+xml"/>
  <Override PartName="/ppt/tags/tag77.xml" ContentType="application/vnd.openxmlformats-officedocument.presentationml.tags+xml"/>
  <Override PartName="/ppt/tags/tag76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42.xml" ContentType="application/vnd.openxmlformats-officedocument.presentationml.tags+xml"/>
  <Override PartName="/ppt/tags/tag75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3.xml" ContentType="application/vnd.openxmlformats-officedocument.presentationml.tags+xml"/>
  <Override PartName="/ppt/tags/tag92.xml" ContentType="application/vnd.openxmlformats-officedocument.presentationml.tags+xml"/>
  <Override PartName="/ppt/tags/tag91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72.xml" ContentType="application/vnd.openxmlformats-officedocument.presentationml.tags+xml"/>
  <Override PartName="/ppt/tags/tag71.xml" ContentType="application/vnd.openxmlformats-officedocument.presentationml.tags+xml"/>
  <Override PartName="/ppt/tags/tag70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1.xml" ContentType="application/vnd.openxmlformats-officedocument.presentationml.tags+xml"/>
  <Override PartName="/ppt/tags/tag50.xml" ContentType="application/vnd.openxmlformats-officedocument.presentationml.tags+xml"/>
  <Override PartName="/ppt/tags/tag49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3.xml" ContentType="application/vnd.openxmlformats-officedocument.presentationml.tags+xml"/>
  <Override PartName="/ppt/tags/tag48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65.xml" ContentType="application/vnd.openxmlformats-officedocument.presentationml.tags+xml"/>
  <Override PartName="/ppt/tags/tag64.xml" ContentType="application/vnd.openxmlformats-officedocument.presentationml.tags+xml"/>
  <Override PartName="/ppt/tags/tag63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26.xml" ContentType="application/vnd.openxmlformats-officedocument.presentationml.tags+xml"/>
  <Override PartName="/ppt/tags/tag25.xml" ContentType="application/vnd.openxmlformats-officedocument.presentationml.tags+xml"/>
  <Override PartName="/ppt/tags/tag24.xml" ContentType="application/vnd.openxmlformats-officedocument.presentationml.tags+xml"/>
  <Override PartName="/ppt/tags/tag23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3.xml" ContentType="application/vnd.openxmlformats-officedocument.presentationml.tags+xml"/>
  <Override PartName="/ppt/tags/tag32.xml" ContentType="application/vnd.openxmlformats-officedocument.presentationml.tags+xml"/>
  <Override PartName="/ppt/tags/tag31.xml" ContentType="application/vnd.openxmlformats-officedocument.presentationml.tags+xml"/>
  <Override PartName="/ppt/tags/tag30.xml" ContentType="application/vnd.openxmlformats-officedocument.presentationml.tags+xml"/>
  <Override PartName="/ppt/tags/tag22.xml" ContentType="application/vnd.openxmlformats-officedocument.presentationml.tags+xml"/>
  <Override PartName="/ppt/tags/tag21.xml" ContentType="application/vnd.openxmlformats-officedocument.presentationml.tags+xml"/>
  <Override PartName="/ppt/tags/tag20.xml" ContentType="application/vnd.openxmlformats-officedocument.presentationml.tags+xml"/>
  <Override PartName="/ppt/tags/tag12.xml" ContentType="application/vnd.openxmlformats-officedocument.presentationml.tags+xml"/>
  <Override PartName="/ppt/tags/tag11.xml" ContentType="application/vnd.openxmlformats-officedocument.presentationml.tags+xml"/>
  <Override PartName="/ppt/tags/tag10.xml" ContentType="application/vnd.openxmlformats-officedocument.presentationml.tags+xml"/>
  <Override PartName="/ppt/tags/tag9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9.xml" ContentType="application/vnd.openxmlformats-officedocument.presentationml.tags+xml"/>
  <Override PartName="/ppt/tags/tag18.xml" ContentType="application/vnd.openxmlformats-officedocument.presentationml.tags+xml"/>
  <Override PartName="/ppt/tags/tag17.xml" ContentType="application/vnd.openxmlformats-officedocument.presentationml.tags+xml"/>
  <Override PartName="/ppt/tags/tag16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07.xml" ContentType="application/vnd.openxmlformats-officedocument.presentationml.tags+xml"/>
  <Override PartName="/ppt/tags/tag106.xml" ContentType="application/vnd.openxmlformats-officedocument.presentationml.tags+xml"/>
  <Override PartName="/ppt/tags/tag105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41.xml" ContentType="application/vnd.openxmlformats-officedocument.presentationml.tags+xml"/>
  <Override PartName="/ppt/tags/tag7.xml" ContentType="application/vnd.openxmlformats-officedocument.presentationml.tag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6643" r:id="rId1"/>
    <p:sldMasterId id="2147486646" r:id="rId2"/>
    <p:sldMasterId id="2147486647" r:id="rId3"/>
    <p:sldMasterId id="2147486648" r:id="rId4"/>
    <p:sldMasterId id="2147486727" r:id="rId5"/>
    <p:sldMasterId id="2147486729" r:id="rId6"/>
    <p:sldMasterId id="2147486786" r:id="rId7"/>
    <p:sldMasterId id="2147486798" r:id="rId8"/>
    <p:sldMasterId id="2147486805" r:id="rId9"/>
    <p:sldMasterId id="2147486814" r:id="rId10"/>
    <p:sldMasterId id="2147486824" r:id="rId11"/>
    <p:sldMasterId id="2147486832" r:id="rId12"/>
    <p:sldMasterId id="2147486838" r:id="rId13"/>
    <p:sldMasterId id="2147486851" r:id="rId14"/>
    <p:sldMasterId id="2147486863" r:id="rId15"/>
  </p:sldMasterIdLst>
  <p:notesMasterIdLst>
    <p:notesMasterId r:id="rId52"/>
  </p:notesMasterIdLst>
  <p:handoutMasterIdLst>
    <p:handoutMasterId r:id="rId53"/>
  </p:handoutMasterIdLst>
  <p:sldIdLst>
    <p:sldId id="256" r:id="rId16"/>
    <p:sldId id="719" r:id="rId17"/>
    <p:sldId id="679" r:id="rId18"/>
    <p:sldId id="698" r:id="rId19"/>
    <p:sldId id="697" r:id="rId20"/>
    <p:sldId id="699" r:id="rId21"/>
    <p:sldId id="701" r:id="rId22"/>
    <p:sldId id="700" r:id="rId23"/>
    <p:sldId id="727" r:id="rId24"/>
    <p:sldId id="742" r:id="rId25"/>
    <p:sldId id="731" r:id="rId26"/>
    <p:sldId id="732" r:id="rId27"/>
    <p:sldId id="710" r:id="rId28"/>
    <p:sldId id="720" r:id="rId29"/>
    <p:sldId id="723" r:id="rId30"/>
    <p:sldId id="726" r:id="rId31"/>
    <p:sldId id="725" r:id="rId32"/>
    <p:sldId id="721" r:id="rId33"/>
    <p:sldId id="716" r:id="rId34"/>
    <p:sldId id="717" r:id="rId35"/>
    <p:sldId id="711" r:id="rId36"/>
    <p:sldId id="712" r:id="rId37"/>
    <p:sldId id="713" r:id="rId38"/>
    <p:sldId id="714" r:id="rId39"/>
    <p:sldId id="715" r:id="rId40"/>
    <p:sldId id="718" r:id="rId41"/>
    <p:sldId id="729" r:id="rId42"/>
    <p:sldId id="733" r:id="rId43"/>
    <p:sldId id="734" r:id="rId44"/>
    <p:sldId id="741" r:id="rId45"/>
    <p:sldId id="735" r:id="rId46"/>
    <p:sldId id="736" r:id="rId47"/>
    <p:sldId id="737" r:id="rId48"/>
    <p:sldId id="738" r:id="rId49"/>
    <p:sldId id="739" r:id="rId50"/>
    <p:sldId id="740" r:id="rId51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2"/>
        </a:solidFill>
        <a:latin typeface="Verdan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2"/>
        </a:solidFill>
        <a:latin typeface="Verdan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2"/>
        </a:solidFill>
        <a:latin typeface="Verdan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2"/>
        </a:solidFill>
        <a:latin typeface="Verdan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2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2"/>
        </a:solidFill>
        <a:latin typeface="Verdana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2"/>
        </a:solidFill>
        <a:latin typeface="Verdana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2"/>
        </a:solidFill>
        <a:latin typeface="Verdana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2"/>
        </a:solidFill>
        <a:latin typeface="Verdana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FF00"/>
    <a:srgbClr val="FFFF66"/>
    <a:srgbClr val="33CC33"/>
    <a:srgbClr val="FF3300"/>
    <a:srgbClr val="9A0000"/>
    <a:srgbClr val="9FC49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Estilo Claro 2 - Ênfas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55" autoAdjust="0"/>
    <p:restoredTop sz="85968" autoAdjust="0"/>
  </p:normalViewPr>
  <p:slideViewPr>
    <p:cSldViewPr>
      <p:cViewPr>
        <p:scale>
          <a:sx n="80" d="100"/>
          <a:sy n="80" d="100"/>
        </p:scale>
        <p:origin x="-1326" y="96"/>
      </p:cViewPr>
      <p:guideLst>
        <p:guide orient="horz" pos="256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slide" Target="slides/slide24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slide" Target="slides/slide27.xml"/><Relationship Id="rId47" Type="http://schemas.openxmlformats.org/officeDocument/2006/relationships/slide" Target="slides/slide32.xml"/><Relationship Id="rId50" Type="http://schemas.openxmlformats.org/officeDocument/2006/relationships/slide" Target="slides/slide35.xml"/><Relationship Id="rId55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9" Type="http://schemas.openxmlformats.org/officeDocument/2006/relationships/slide" Target="slides/slide14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slide" Target="slides/slide25.xml"/><Relationship Id="rId45" Type="http://schemas.openxmlformats.org/officeDocument/2006/relationships/slide" Target="slides/slide30.xml"/><Relationship Id="rId53" Type="http://schemas.openxmlformats.org/officeDocument/2006/relationships/handoutMaster" Target="handoutMasters/handoutMaster1.xml"/><Relationship Id="rId58" Type="http://schemas.openxmlformats.org/officeDocument/2006/relationships/customXml" Target="../customXml/item1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slide" Target="slides/slide28.xml"/><Relationship Id="rId48" Type="http://schemas.openxmlformats.org/officeDocument/2006/relationships/slide" Target="slides/slide33.xml"/><Relationship Id="rId56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46" Type="http://schemas.openxmlformats.org/officeDocument/2006/relationships/slide" Target="slides/slide31.xml"/><Relationship Id="rId59" Type="http://schemas.openxmlformats.org/officeDocument/2006/relationships/customXml" Target="../customXml/item2.xml"/><Relationship Id="rId20" Type="http://schemas.openxmlformats.org/officeDocument/2006/relationships/slide" Target="slides/slide5.xml"/><Relationship Id="rId41" Type="http://schemas.openxmlformats.org/officeDocument/2006/relationships/slide" Target="slides/slide26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49" Type="http://schemas.openxmlformats.org/officeDocument/2006/relationships/slide" Target="slides/slide34.xml"/><Relationship Id="rId57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6.xml"/><Relationship Id="rId44" Type="http://schemas.openxmlformats.org/officeDocument/2006/relationships/slide" Target="slides/slide29.xml"/><Relationship Id="rId52" Type="http://schemas.openxmlformats.org/officeDocument/2006/relationships/notesMaster" Target="notesMasters/notesMaster1.xml"/><Relationship Id="rId60" Type="http://schemas.openxmlformats.org/officeDocument/2006/relationships/customXml" Target="../customXml/item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NULL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8D70813-8CDB-4C3C-A5D2-3B709D74E4BE}" type="datetimeFigureOut">
              <a:rPr lang="pt-BR"/>
              <a:pPr>
                <a:defRPr/>
              </a:pPr>
              <a:t>06/04/2011</a:t>
            </a:fld>
            <a:endParaRPr lang="pt-BR"/>
          </a:p>
        </p:txBody>
      </p:sp>
      <p:sp>
        <p:nvSpPr>
          <p:cNvPr id="2027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27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00A933-38BE-402E-8078-9575A517009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67024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DA3E4C4-73F3-4CBD-BCF8-8D91C2739259}" type="datetimeFigureOut">
              <a:rPr lang="pt-BR"/>
              <a:pPr>
                <a:defRPr/>
              </a:pPr>
              <a:t>06/04/2011</a:t>
            </a:fld>
            <a:endParaRPr lang="pt-BR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 smtClean="0"/>
              <a:t>Clique para editar os estilos do texto mestre</a:t>
            </a:r>
          </a:p>
          <a:p>
            <a:pPr lvl="0"/>
            <a:r>
              <a:rPr lang="pt-BR" noProof="0" smtClean="0"/>
              <a:t>Segundo nível</a:t>
            </a:r>
          </a:p>
          <a:p>
            <a:pPr lvl="0"/>
            <a:r>
              <a:rPr lang="pt-BR" noProof="0" smtClean="0"/>
              <a:t>Terceiro nível</a:t>
            </a:r>
          </a:p>
          <a:p>
            <a:pPr lvl="0"/>
            <a:r>
              <a:rPr lang="pt-BR" noProof="0" smtClean="0"/>
              <a:t>Quarto nível</a:t>
            </a:r>
          </a:p>
          <a:p>
            <a:pPr lvl="0"/>
            <a:r>
              <a:rPr lang="pt-BR" noProof="0" smtClean="0"/>
              <a:t>Quinto nível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SzTx/>
              <a:buFontTx/>
              <a:buNone/>
              <a:defRPr sz="1200">
                <a:solidFill>
                  <a:schemeClr val="tx1"/>
                </a:solidFill>
                <a:cs typeface="+mn-cs"/>
              </a:defRPr>
            </a:lvl1pPr>
          </a:lstStyle>
          <a:p>
            <a:pPr>
              <a:defRPr/>
            </a:pPr>
            <a:fld id="{8E4095BC-A2A3-4D86-B645-2E40CF6DD53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96055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144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spcBef>
                <a:spcPct val="0"/>
              </a:spcBef>
            </a:pPr>
            <a:endParaRPr lang="en-US" sz="1800" smtClean="0">
              <a:solidFill>
                <a:schemeClr val="tx2"/>
              </a:solidFill>
              <a:latin typeface="Verdana" pitchFamily="34" charset="0"/>
              <a:cs typeface="Arial" charset="0"/>
            </a:endParaRPr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0B8E6D-BE00-40DD-A12A-DC8449F52C75}" type="slidenum">
              <a:rPr lang="pt-BR" smtClean="0"/>
              <a:pPr>
                <a:defRPr/>
              </a:pPr>
              <a:t>1</a:t>
            </a:fld>
            <a:endParaRPr lang="pt-BR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8" tIns="45719" rIns="91438" bIns="45719" anchor="b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r" eaLnBrk="1" hangingPunct="1"/>
            <a:fld id="{DAF4C706-4BD2-4515-B8B4-D119E49FECCD}" type="slidenum">
              <a:rPr lang="pt-BR" sz="1200" smtClean="0">
                <a:solidFill>
                  <a:prstClr val="black"/>
                </a:solidFill>
                <a:latin typeface="Calibri" pitchFamily="34" charset="0"/>
              </a:rPr>
              <a:pPr algn="r" eaLnBrk="1" hangingPunct="1"/>
              <a:t>4</a:t>
            </a:fld>
            <a:endParaRPr lang="pt-BR" sz="1200" smtClean="0">
              <a:solidFill>
                <a:prstClr val="black"/>
              </a:solidFill>
              <a:latin typeface="Calibri" pitchFamily="34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7763" y="690563"/>
            <a:ext cx="4564062" cy="34226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00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228600" indent="-228600">
              <a:buAutoNum type="arabicPeriod"/>
            </a:pPr>
            <a:r>
              <a:rPr lang="en-US" dirty="0" err="1" smtClean="0"/>
              <a:t>Fazemos</a:t>
            </a:r>
            <a:r>
              <a:rPr lang="en-US" dirty="0" smtClean="0"/>
              <a:t> 5 </a:t>
            </a:r>
            <a:r>
              <a:rPr lang="en-US" dirty="0" err="1" smtClean="0"/>
              <a:t>simulações</a:t>
            </a:r>
            <a:r>
              <a:rPr lang="en-US" dirty="0" smtClean="0"/>
              <a:t> antes</a:t>
            </a:r>
            <a:r>
              <a:rPr lang="en-US" baseline="0" dirty="0" smtClean="0"/>
              <a:t> do go-live</a:t>
            </a:r>
          </a:p>
          <a:p>
            <a:pPr marL="228600" indent="-228600">
              <a:buAutoNum type="arabicPeriod"/>
            </a:pPr>
            <a:r>
              <a:rPr lang="en-US" baseline="0" dirty="0" err="1" smtClean="0"/>
              <a:t>Diversidade</a:t>
            </a:r>
            <a:r>
              <a:rPr lang="en-US" baseline="0" dirty="0" smtClean="0"/>
              <a:t> de </a:t>
            </a:r>
            <a:r>
              <a:rPr lang="en-US" baseline="0" dirty="0" err="1" smtClean="0"/>
              <a:t>atividades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paralelo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adicionalmente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aos</a:t>
            </a:r>
            <a:r>
              <a:rPr lang="en-US" baseline="0" dirty="0" smtClean="0"/>
              <a:t> testes</a:t>
            </a:r>
          </a:p>
          <a:p>
            <a:pPr marL="228600" indent="-228600">
              <a:buAutoNum type="arabicPeriod"/>
            </a:pPr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751666-AD72-486A-A79B-ED72551620B6}" type="slidenum">
              <a:rPr lang="pt-BR" smtClean="0"/>
              <a:pPr>
                <a:defRPr/>
              </a:pPr>
              <a:t>6</a:t>
            </a:fld>
            <a:endParaRPr lang="pt-BR" smtClean="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5B1E83-5883-48F0-9FFD-B32E1F6A9CBA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751666-AD72-486A-A79B-ED72551620B6}" type="slidenum">
              <a:rPr lang="pt-BR" smtClean="0"/>
              <a:pPr>
                <a:defRPr/>
              </a:pPr>
              <a:t>8</a:t>
            </a:fld>
            <a:endParaRPr lang="pt-BR" smtClean="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dirty="0" smtClean="0"/>
              <a:t>Legenda de riscos:</a:t>
            </a:r>
          </a:p>
          <a:p>
            <a:pPr eaLnBrk="1" hangingPunct="1"/>
            <a:r>
              <a:rPr lang="pt-BR" dirty="0" smtClean="0"/>
              <a:t>Vermelho</a:t>
            </a:r>
            <a:r>
              <a:rPr lang="pt-BR" baseline="0" dirty="0" smtClean="0"/>
              <a:t> = 	Alto</a:t>
            </a:r>
          </a:p>
          <a:p>
            <a:pPr eaLnBrk="1" hangingPunct="1"/>
            <a:r>
              <a:rPr lang="pt-BR" baseline="0" dirty="0" smtClean="0"/>
              <a:t>Laranja = 	Médio</a:t>
            </a:r>
          </a:p>
          <a:p>
            <a:pPr eaLnBrk="1" hangingPunct="1"/>
            <a:r>
              <a:rPr lang="pt-BR" baseline="0" dirty="0" smtClean="0"/>
              <a:t>Amarelo = 	Baixo</a:t>
            </a:r>
          </a:p>
          <a:p>
            <a:pPr eaLnBrk="1" hangingPunct="1"/>
            <a:endParaRPr lang="pt-BR" baseline="0" dirty="0" smtClean="0"/>
          </a:p>
          <a:p>
            <a:pPr eaLnBrk="1" hangingPunct="1"/>
            <a:endParaRPr lang="pt-BR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751666-AD72-486A-A79B-ED72551620B6}" type="slidenum">
              <a:rPr lang="pt-BR" smtClean="0">
                <a:solidFill>
                  <a:prstClr val="black"/>
                </a:solidFill>
              </a:rPr>
              <a:pPr>
                <a:defRPr/>
              </a:pPr>
              <a:t>9</a:t>
            </a:fld>
            <a:endParaRPr lang="pt-BR" smtClean="0">
              <a:solidFill>
                <a:prstClr val="black"/>
              </a:solidFill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751666-AD72-486A-A79B-ED72551620B6}" type="slidenum">
              <a:rPr lang="pt-BR" smtClean="0">
                <a:solidFill>
                  <a:prstClr val="black"/>
                </a:solidFill>
              </a:rPr>
              <a:pPr>
                <a:defRPr/>
              </a:pPr>
              <a:t>10</a:t>
            </a:fld>
            <a:endParaRPr lang="pt-BR" smtClean="0">
              <a:solidFill>
                <a:prstClr val="black"/>
              </a:solidFill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751666-AD72-486A-A79B-ED72551620B6}" type="slidenum">
              <a:rPr lang="pt-BR" smtClean="0">
                <a:solidFill>
                  <a:prstClr val="black"/>
                </a:solidFill>
              </a:rPr>
              <a:pPr>
                <a:defRPr/>
              </a:pPr>
              <a:t>11</a:t>
            </a:fld>
            <a:endParaRPr lang="pt-BR" smtClean="0">
              <a:solidFill>
                <a:prstClr val="black"/>
              </a:solidFill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751666-AD72-486A-A79B-ED72551620B6}" type="slidenum">
              <a:rPr lang="pt-BR" smtClean="0">
                <a:solidFill>
                  <a:prstClr val="black"/>
                </a:solidFill>
              </a:rPr>
              <a:pPr>
                <a:defRPr/>
              </a:pPr>
              <a:t>12</a:t>
            </a:fld>
            <a:endParaRPr lang="pt-BR" smtClean="0">
              <a:solidFill>
                <a:prstClr val="black"/>
              </a:solidFill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751666-AD72-486A-A79B-ED72551620B6}" type="slidenum">
              <a:rPr lang="pt-BR" smtClean="0">
                <a:solidFill>
                  <a:prstClr val="black"/>
                </a:solidFill>
              </a:rPr>
              <a:pPr>
                <a:defRPr/>
              </a:pPr>
              <a:t>14</a:t>
            </a:fld>
            <a:endParaRPr lang="pt-BR" smtClean="0">
              <a:solidFill>
                <a:prstClr val="black"/>
              </a:solidFill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BA64EE-B003-4131-9067-3EAB439753E0}" type="slidenum">
              <a:rPr lang="pt-BR">
                <a:solidFill>
                  <a:prstClr val="black"/>
                </a:solidFill>
              </a:rPr>
              <a:pPr/>
              <a:t>16</a:t>
            </a:fld>
            <a:endParaRPr lang="pt-BR">
              <a:solidFill>
                <a:prstClr val="black"/>
              </a:solidFill>
            </a:endParaRPr>
          </a:p>
        </p:txBody>
      </p:sp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BA64EE-B003-4131-9067-3EAB439753E0}" type="slidenum">
              <a:rPr lang="pt-BR">
                <a:solidFill>
                  <a:srgbClr val="1F497D"/>
                </a:solidFill>
              </a:rPr>
              <a:pPr/>
              <a:t>17</a:t>
            </a:fld>
            <a:endParaRPr lang="pt-BR">
              <a:solidFill>
                <a:srgbClr val="1F497D"/>
              </a:solidFill>
            </a:endParaRPr>
          </a:p>
        </p:txBody>
      </p:sp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smtClean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A545AB4-E0E7-4384-9239-C04931B43EC5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5B1E83-5883-48F0-9FFD-B32E1F6A9CBA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1450B51-0ABF-477B-81C5-24D236731861}" type="slidenum">
              <a:rPr lang="en-US" smtClean="0">
                <a:ea typeface="MS PGothic" pitchFamily="34" charset="-128"/>
              </a:rPr>
              <a:pPr/>
              <a:t>20</a:t>
            </a:fld>
            <a:endParaRPr lang="en-US" smtClean="0">
              <a:ea typeface="MS PGothic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7107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BR" smtClean="0"/>
          </a:p>
        </p:txBody>
      </p:sp>
      <p:sp>
        <p:nvSpPr>
          <p:cNvPr id="64516" name="Espaço Reservado para Número de Slide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r" eaLnBrk="1" hangingPunct="1">
              <a:defRPr/>
            </a:pPr>
            <a:fld id="{AF32F4D0-DBED-4D18-9C5B-7FA2D94930DB}" type="slidenum">
              <a:rPr lang="pt-BR" smtClean="0">
                <a:solidFill>
                  <a:prstClr val="black"/>
                </a:solidFill>
                <a:cs typeface="+mn-cs"/>
              </a:rPr>
              <a:pPr algn="r" eaLnBrk="1" hangingPunct="1">
                <a:defRPr/>
              </a:pPr>
              <a:t>23</a:t>
            </a:fld>
            <a:endParaRPr lang="pt-BR" smtClean="0">
              <a:solidFill>
                <a:prstClr val="black"/>
              </a:solidFill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8131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BR" smtClean="0"/>
          </a:p>
        </p:txBody>
      </p:sp>
      <p:sp>
        <p:nvSpPr>
          <p:cNvPr id="133124" name="Espaço Reservado para Número de Slide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r" eaLnBrk="1" hangingPunct="1">
              <a:defRPr/>
            </a:pPr>
            <a:fld id="{ADC50D8C-2BC7-4DD0-955A-DB3A128DA518}" type="slidenum">
              <a:rPr lang="pt-BR" smtClean="0">
                <a:solidFill>
                  <a:prstClr val="black"/>
                </a:solidFill>
                <a:cs typeface="+mn-cs"/>
              </a:rPr>
              <a:pPr algn="r" eaLnBrk="1" hangingPunct="1">
                <a:defRPr/>
              </a:pPr>
              <a:t>24</a:t>
            </a:fld>
            <a:endParaRPr lang="pt-BR" smtClean="0">
              <a:solidFill>
                <a:prstClr val="black"/>
              </a:solidFill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915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BR" smtClean="0"/>
          </a:p>
        </p:txBody>
      </p:sp>
      <p:sp>
        <p:nvSpPr>
          <p:cNvPr id="65540" name="Espaço Reservado para Número de Slide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r" eaLnBrk="1" hangingPunct="1">
              <a:defRPr/>
            </a:pPr>
            <a:fld id="{3CB160F7-51D7-49B4-BC4A-29934BFBC00E}" type="slidenum">
              <a:rPr lang="pt-BR" smtClean="0">
                <a:solidFill>
                  <a:prstClr val="black"/>
                </a:solidFill>
                <a:cs typeface="+mn-cs"/>
              </a:rPr>
              <a:pPr algn="r" eaLnBrk="1" hangingPunct="1">
                <a:defRPr/>
              </a:pPr>
              <a:t>25</a:t>
            </a:fld>
            <a:endParaRPr lang="pt-BR" smtClean="0">
              <a:solidFill>
                <a:prstClr val="black"/>
              </a:solidFill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smtClean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23E12291-1B55-42CE-B7BC-853FFFD598D0}" type="slidenum">
              <a:rPr lang="en-US">
                <a:solidFill>
                  <a:prstClr val="black"/>
                </a:solidFill>
              </a:rPr>
              <a:pPr>
                <a:defRPr/>
              </a:pPr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smtClean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A545AB4-E0E7-4384-9239-C04931B43EC5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30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B8EBE6-3FF0-4892-9F04-93A07DE778C3}" type="slidenum">
              <a:rPr lang="pt-BR">
                <a:solidFill>
                  <a:prstClr val="black"/>
                </a:solidFill>
              </a:rPr>
              <a:pPr/>
              <a:t>31</a:t>
            </a:fld>
            <a:endParaRPr lang="pt-BR">
              <a:solidFill>
                <a:prstClr val="black"/>
              </a:solidFill>
            </a:endParaRPr>
          </a:p>
        </p:txBody>
      </p:sp>
      <p:sp>
        <p:nvSpPr>
          <p:cNvPr id="262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62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4095BC-A2A3-4D86-B645-2E40CF6DD538}" type="slidenum">
              <a:rPr lang="pt-BR" smtClean="0"/>
              <a:pPr>
                <a:defRPr/>
              </a:pPr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55838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51E16F-D125-4DE8-BB4F-6E50BAF446A5}" type="slidenum">
              <a:rPr lang="pt-BR">
                <a:solidFill>
                  <a:prstClr val="black"/>
                </a:solidFill>
              </a:rPr>
              <a:pPr/>
              <a:t>35</a:t>
            </a:fld>
            <a:endParaRPr lang="pt-BR">
              <a:solidFill>
                <a:prstClr val="black"/>
              </a:solidFill>
            </a:endParaRPr>
          </a:p>
        </p:txBody>
      </p:sp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C252F5-28A2-4056-B485-FC2F1FE94794}" type="slidenum">
              <a:rPr lang="pt-BR">
                <a:solidFill>
                  <a:prstClr val="black"/>
                </a:solidFill>
              </a:rPr>
              <a:pPr/>
              <a:t>36</a:t>
            </a:fld>
            <a:endParaRPr lang="pt-BR">
              <a:solidFill>
                <a:prstClr val="black"/>
              </a:solidFill>
            </a:endParaRPr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8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9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0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5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64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33" y="153511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19" y="273052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19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63538"/>
            <a:ext cx="2057400" cy="6062663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3538"/>
            <a:ext cx="6019800" cy="6062663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64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33" y="153511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19" y="273052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19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63538"/>
            <a:ext cx="2057400" cy="6062663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3538"/>
            <a:ext cx="6019800" cy="6062663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64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EF0604-C6ED-42B5-B1FD-1A8020F4165F}" type="datetimeFigureOut">
              <a:rPr lang="en-US"/>
              <a:pPr>
                <a:defRPr/>
              </a:pPr>
              <a:t>4/6/2011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A2C40A-6EBB-444E-A64B-F9F2030D1388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A791A6-09B0-465A-9E94-94EF91BF0532}" type="datetimeFigureOut">
              <a:rPr lang="en-US"/>
              <a:pPr>
                <a:defRPr/>
              </a:pPr>
              <a:t>4/6/2011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55B53C-BCBF-473D-9B7D-1ADB5D6C1693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AFFDE7-05B0-48A2-A140-E07069EC1941}" type="datetimeFigureOut">
              <a:rPr lang="en-US"/>
              <a:pPr>
                <a:defRPr/>
              </a:pPr>
              <a:t>4/6/2011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A2FB5D-8747-4DFB-8BE3-6F17A228D6C9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80B334-B684-40E5-80F6-1C0B11E6A310}" type="datetimeFigureOut">
              <a:rPr lang="en-US"/>
              <a:pPr>
                <a:defRPr/>
              </a:pPr>
              <a:t>4/6/2011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0553B8-1F3B-4BD1-970A-CF2DC7FB6BB9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33" y="153511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6AC403-F705-41D4-B99D-FE176BDAFA36}" type="datetimeFigureOut">
              <a:rPr lang="en-US"/>
              <a:pPr>
                <a:defRPr/>
              </a:pPr>
              <a:t>4/6/2011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DAED5C-7B67-4997-8E2D-DD664E2CDC6F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E33BA-A9BD-4E00-AF9A-719A5B15AB1D}" type="datetimeFigureOut">
              <a:rPr lang="en-US"/>
              <a:pPr>
                <a:defRPr/>
              </a:pPr>
              <a:t>4/6/2011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192C32-9CC9-4990-A2EE-24C136C85516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DF8A27-8508-4B19-A50A-B3D26A5B8DC6}" type="datetimeFigureOut">
              <a:rPr lang="en-US"/>
              <a:pPr>
                <a:defRPr/>
              </a:pPr>
              <a:t>4/6/2011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E023FA-390C-47C8-80A8-4C1912C61208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19" y="273052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19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CBC2C6-D3E5-4DB4-96A8-4052DD90C291}" type="datetimeFigureOut">
              <a:rPr lang="en-US"/>
              <a:pPr>
                <a:defRPr/>
              </a:pPr>
              <a:t>4/6/2011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BA0B50-126C-4672-8404-DD27796C91BE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367634-1B6F-436D-B776-8E11622FE43C}" type="datetimeFigureOut">
              <a:rPr lang="en-US"/>
              <a:pPr>
                <a:defRPr/>
              </a:pPr>
              <a:t>4/6/2011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CC4003-2F20-4267-96FB-C73B600DB18A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B8E52B-189D-4919-8A71-F6B417419B86}" type="datetimeFigureOut">
              <a:rPr lang="en-US"/>
              <a:pPr>
                <a:defRPr/>
              </a:pPr>
              <a:t>4/6/2011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E8FE24-F2C0-4710-885F-1A036B5DAA08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63538"/>
            <a:ext cx="2057400" cy="6062663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3538"/>
            <a:ext cx="6019800" cy="6062663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13B326-A7C0-4509-A304-8F24BE2D6580}" type="datetimeFigureOut">
              <a:rPr lang="en-US"/>
              <a:pPr>
                <a:defRPr/>
              </a:pPr>
              <a:t>4/6/2011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C12D76-E068-458A-9D86-A590D1994D1F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64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B87D08-193B-4B82-8092-E1AE514BA15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08E168-1705-4303-826A-C3A01B1D470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44B1B-A291-4177-917E-27495E7449B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E0C3CF-B732-4FBD-A000-6FB91EEB441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33" y="153511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74DA1-EBFD-4492-B716-FAADF811FBA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E52FAB-C6AE-40A0-A765-D6513024628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FD13B4-4A90-4322-B267-BE3EAE9EB0A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19" y="273052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19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AC9210-2129-4BB6-940B-BE02BAE8153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D3090-E209-4447-9876-A5A55986096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E3613D-D31A-414B-9910-BB8CEFF0122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63538"/>
            <a:ext cx="2057400" cy="6062663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3538"/>
            <a:ext cx="6019800" cy="6062663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A08071-FF39-49BB-86C9-F72EA50C4B9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ChangeArrowheads="1"/>
          </p:cNvSpPr>
          <p:nvPr userDrawn="1"/>
        </p:nvSpPr>
        <p:spPr bwMode="auto">
          <a:xfrm>
            <a:off x="0" y="5486400"/>
            <a:ext cx="9144000" cy="1371600"/>
          </a:xfrm>
          <a:prstGeom prst="rect">
            <a:avLst/>
          </a:prstGeom>
          <a:solidFill>
            <a:srgbClr val="90BB8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cs typeface="+mn-cs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74000" y="34926"/>
            <a:ext cx="1174750" cy="955675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  <p:pic>
        <p:nvPicPr>
          <p:cNvPr id="6" name="Picture 7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08500" y="2143125"/>
            <a:ext cx="4635500" cy="2420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0" y="5638800"/>
            <a:ext cx="9144000" cy="1219200"/>
          </a:xfrm>
          <a:prstGeom prst="rect">
            <a:avLst/>
          </a:prstGeom>
          <a:solidFill>
            <a:srgbClr val="8A2003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cs typeface="+mn-cs"/>
            </a:endParaRPr>
          </a:p>
        </p:txBody>
      </p:sp>
      <p:sp>
        <p:nvSpPr>
          <p:cNvPr id="8" name="Line 10"/>
          <p:cNvSpPr>
            <a:spLocks noChangeShapeType="1"/>
          </p:cNvSpPr>
          <p:nvPr userDrawn="1"/>
        </p:nvSpPr>
        <p:spPr bwMode="auto">
          <a:xfrm>
            <a:off x="0" y="1257300"/>
            <a:ext cx="9144000" cy="0"/>
          </a:xfrm>
          <a:prstGeom prst="line">
            <a:avLst/>
          </a:prstGeom>
          <a:noFill/>
          <a:ln w="95250">
            <a:solidFill>
              <a:srgbClr val="70A95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64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4EFE7B-CA23-4BFC-AC26-3E5AB5648307}" type="datetimeFigureOut">
              <a:rPr lang="pt-BR"/>
              <a:pPr>
                <a:defRPr/>
              </a:pPr>
              <a:t>06/04/2011</a:t>
            </a:fld>
            <a:endParaRPr lang="pt-BR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4"/>
          <p:cNvSpPr>
            <a:spLocks noChangeShapeType="1"/>
          </p:cNvSpPr>
          <p:nvPr userDrawn="1"/>
        </p:nvSpPr>
        <p:spPr bwMode="auto">
          <a:xfrm>
            <a:off x="0" y="1285876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cs typeface="+mn-cs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74000" y="71441"/>
            <a:ext cx="1174750" cy="955675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7315200" cy="1143000"/>
          </a:xfrm>
          <a:prstGeom prst="rect">
            <a:avLst/>
          </a:prstGeom>
        </p:spPr>
        <p:txBody>
          <a:bodyPr anchor="b"/>
          <a:lstStyle>
            <a:lvl1pPr algn="l">
              <a:defRPr sz="24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4452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4"/>
          <p:cNvSpPr>
            <a:spLocks noChangeShapeType="1"/>
          </p:cNvSpPr>
          <p:nvPr userDrawn="1"/>
        </p:nvSpPr>
        <p:spPr bwMode="auto">
          <a:xfrm>
            <a:off x="0" y="1285876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cs typeface="+mn-cs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74000" y="71441"/>
            <a:ext cx="1174750" cy="955675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7315200" cy="1143000"/>
          </a:xfrm>
          <a:prstGeom prst="rect">
            <a:avLst/>
          </a:prstGeom>
        </p:spPr>
        <p:txBody>
          <a:bodyPr anchor="b"/>
          <a:lstStyle>
            <a:lvl1pPr algn="l">
              <a:defRPr sz="24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63500"/>
            <a:ext cx="73152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695558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64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4443488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678684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887473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001573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33" y="153511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751687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248603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281322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19" y="273052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19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924155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smtClean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219088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328217"/>
      </p:ext>
    </p:extLst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63538"/>
            <a:ext cx="2057400" cy="6062663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3538"/>
            <a:ext cx="6019800" cy="6062663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8181937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5486400"/>
            <a:ext cx="9144000" cy="1371600"/>
          </a:xfrm>
          <a:prstGeom prst="rect">
            <a:avLst/>
          </a:prstGeom>
          <a:solidFill>
            <a:srgbClr val="90BB8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7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08500" y="2143126"/>
            <a:ext cx="4635500" cy="2421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8"/>
          <p:cNvSpPr>
            <a:spLocks noChangeArrowheads="1"/>
          </p:cNvSpPr>
          <p:nvPr userDrawn="1"/>
        </p:nvSpPr>
        <p:spPr bwMode="auto">
          <a:xfrm>
            <a:off x="0" y="5638800"/>
            <a:ext cx="9144000" cy="1219200"/>
          </a:xfrm>
          <a:prstGeom prst="rect">
            <a:avLst/>
          </a:prstGeom>
          <a:solidFill>
            <a:srgbClr val="8A2003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" y="1549438"/>
            <a:ext cx="3848100" cy="1470025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" y="3048000"/>
            <a:ext cx="3849624" cy="175260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0"/>
              </a:spcBef>
              <a:spcAft>
                <a:spcPct val="0"/>
              </a:spcAft>
              <a:buNone/>
              <a:defRPr lang="en-US" sz="2000">
                <a:solidFill>
                  <a:schemeClr val="tx1"/>
                </a:solidFill>
                <a:latin typeface="Verdana" pitchFamily="34" charset="0"/>
                <a:ea typeface="+mj-ea"/>
                <a:cs typeface="+mj-cs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36710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008"/>
            <a:ext cx="7315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42954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22987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3657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1"/>
          </p:nvPr>
        </p:nvSpPr>
        <p:spPr>
          <a:xfrm>
            <a:off x="4876800" y="1608137"/>
            <a:ext cx="3657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9192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5946778" y="6602730"/>
            <a:ext cx="2798763" cy="25146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4035425" y="6597016"/>
            <a:ext cx="1041400" cy="260984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DE88712F-4F12-42C3-BB8F-EC8D3D02F9E5}" type="slidenum">
              <a:rPr lang="en-U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08588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553200"/>
            <a:ext cx="1905000" cy="1524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781800" y="6400800"/>
            <a:ext cx="1905000" cy="2286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</p:spTree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457200" y="6356376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ＭＳ Ｐゴシック" pitchFamily="-65" charset="-128"/>
                <a:cs typeface="+mn-cs"/>
              </a:defRPr>
            </a:lvl1pPr>
          </a:lstStyle>
          <a:p>
            <a:pPr>
              <a:defRPr/>
            </a:pPr>
            <a:fld id="{38F9695F-CD22-4DA3-BD1B-8E362EE6582F}" type="datetimeFigureOut">
              <a:rPr lang="pt-BR"/>
              <a:pPr>
                <a:defRPr/>
              </a:pPr>
              <a:t>06/04/2011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3124200" y="6356376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ＭＳ Ｐゴシック" pitchFamily="-65" charset="-128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6553200" y="6356376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ＭＳ Ｐゴシック" pitchFamily="-65" charset="-128"/>
                <a:cs typeface="+mn-cs"/>
              </a:defRPr>
            </a:lvl1pPr>
          </a:lstStyle>
          <a:p>
            <a:pPr>
              <a:defRPr/>
            </a:pPr>
            <a:fld id="{104DD006-8F97-4CA9-B621-56598BCE80C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ChangeArrowheads="1"/>
          </p:cNvSpPr>
          <p:nvPr userDrawn="1"/>
        </p:nvSpPr>
        <p:spPr bwMode="auto">
          <a:xfrm>
            <a:off x="0" y="5486400"/>
            <a:ext cx="9144000" cy="1371600"/>
          </a:xfrm>
          <a:prstGeom prst="rect">
            <a:avLst/>
          </a:prstGeom>
          <a:solidFill>
            <a:srgbClr val="90BB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</a:pPr>
            <a:endParaRPr lang="pt-BR" smtClean="0">
              <a:solidFill>
                <a:srgbClr val="000000"/>
              </a:solidFill>
              <a:cs typeface="+mn-cs"/>
            </a:endParaRPr>
          </a:p>
        </p:txBody>
      </p:sp>
      <p:pic>
        <p:nvPicPr>
          <p:cNvPr id="5" name="Picture 7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500" y="2143125"/>
            <a:ext cx="4635500" cy="242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8"/>
          <p:cNvSpPr>
            <a:spLocks noChangeArrowheads="1"/>
          </p:cNvSpPr>
          <p:nvPr userDrawn="1"/>
        </p:nvSpPr>
        <p:spPr bwMode="auto">
          <a:xfrm>
            <a:off x="0" y="5638800"/>
            <a:ext cx="9144000" cy="1219200"/>
          </a:xfrm>
          <a:prstGeom prst="rect">
            <a:avLst/>
          </a:prstGeom>
          <a:solidFill>
            <a:srgbClr val="8A200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</a:pPr>
            <a:endParaRPr lang="pt-BR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" y="1549432"/>
            <a:ext cx="3848100" cy="1470025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" y="3048000"/>
            <a:ext cx="3849624" cy="175260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0"/>
              </a:spcBef>
              <a:spcAft>
                <a:spcPct val="0"/>
              </a:spcAft>
              <a:buNone/>
              <a:defRPr lang="en-US" sz="2000">
                <a:solidFill>
                  <a:schemeClr val="tx1"/>
                </a:solidFill>
                <a:latin typeface="Verdana" pitchFamily="34" charset="0"/>
                <a:ea typeface="+mj-ea"/>
                <a:cs typeface="+mj-cs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39010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008"/>
            <a:ext cx="7315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13865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78537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3657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1"/>
          </p:nvPr>
        </p:nvSpPr>
        <p:spPr>
          <a:xfrm>
            <a:off x="4876800" y="1608137"/>
            <a:ext cx="3657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67497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003591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63500"/>
            <a:ext cx="7315200" cy="1143000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772053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63500"/>
            <a:ext cx="7315200" cy="1143000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84234621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5486400"/>
            <a:ext cx="9144000" cy="1371600"/>
          </a:xfrm>
          <a:prstGeom prst="rect">
            <a:avLst/>
          </a:prstGeom>
          <a:solidFill>
            <a:srgbClr val="90BB8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7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08500" y="2143126"/>
            <a:ext cx="4635500" cy="2421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8"/>
          <p:cNvSpPr>
            <a:spLocks noChangeArrowheads="1"/>
          </p:cNvSpPr>
          <p:nvPr userDrawn="1"/>
        </p:nvSpPr>
        <p:spPr bwMode="auto">
          <a:xfrm>
            <a:off x="0" y="5638800"/>
            <a:ext cx="9144000" cy="1219200"/>
          </a:xfrm>
          <a:prstGeom prst="rect">
            <a:avLst/>
          </a:prstGeom>
          <a:solidFill>
            <a:srgbClr val="8A2003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" y="1549431"/>
            <a:ext cx="3848100" cy="1470025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" y="3048000"/>
            <a:ext cx="3849624" cy="175260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0"/>
              </a:spcBef>
              <a:spcAft>
                <a:spcPct val="0"/>
              </a:spcAft>
              <a:buNone/>
              <a:defRPr lang="en-US" sz="2000">
                <a:solidFill>
                  <a:schemeClr val="tx1"/>
                </a:solidFill>
                <a:latin typeface="Verdana" pitchFamily="34" charset="0"/>
                <a:ea typeface="+mj-ea"/>
                <a:cs typeface="+mj-cs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008"/>
            <a:ext cx="7315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3657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1"/>
          </p:nvPr>
        </p:nvSpPr>
        <p:spPr>
          <a:xfrm>
            <a:off x="4876800" y="1608137"/>
            <a:ext cx="3657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5946778" y="6602730"/>
            <a:ext cx="2798763" cy="25146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4035425" y="6597016"/>
            <a:ext cx="1041400" cy="260984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DE88712F-4F12-42C3-BB8F-EC8D3D02F9E5}" type="slidenum">
              <a:rPr lang="en-U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12016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ChangeArrowheads="1"/>
          </p:cNvSpPr>
          <p:nvPr userDrawn="1"/>
        </p:nvSpPr>
        <p:spPr bwMode="auto">
          <a:xfrm>
            <a:off x="0" y="5486400"/>
            <a:ext cx="9144000" cy="1371600"/>
          </a:xfrm>
          <a:prstGeom prst="rect">
            <a:avLst/>
          </a:prstGeom>
          <a:solidFill>
            <a:srgbClr val="90BB8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pt-BR">
              <a:solidFill>
                <a:srgbClr val="000000"/>
              </a:solidFill>
            </a:endParaRPr>
          </a:p>
        </p:txBody>
      </p:sp>
      <p:pic>
        <p:nvPicPr>
          <p:cNvPr id="5" name="Picture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500" y="2143125"/>
            <a:ext cx="4635500" cy="242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8"/>
          <p:cNvSpPr>
            <a:spLocks noChangeArrowheads="1"/>
          </p:cNvSpPr>
          <p:nvPr userDrawn="1"/>
        </p:nvSpPr>
        <p:spPr bwMode="auto">
          <a:xfrm>
            <a:off x="0" y="5638800"/>
            <a:ext cx="9144000" cy="1219200"/>
          </a:xfrm>
          <a:prstGeom prst="rect">
            <a:avLst/>
          </a:prstGeom>
          <a:solidFill>
            <a:srgbClr val="8A2003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" y="1549425"/>
            <a:ext cx="3848100" cy="1470025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" y="3048000"/>
            <a:ext cx="3849624" cy="175260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0"/>
              </a:spcBef>
              <a:spcAft>
                <a:spcPct val="0"/>
              </a:spcAft>
              <a:buNone/>
              <a:defRPr lang="en-US" sz="2000">
                <a:solidFill>
                  <a:schemeClr val="tx1"/>
                </a:solidFill>
                <a:latin typeface="Verdana" pitchFamily="34" charset="0"/>
                <a:ea typeface="+mj-ea"/>
                <a:cs typeface="+mj-cs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92508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008"/>
            <a:ext cx="7315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3510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92792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3657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1"/>
          </p:nvPr>
        </p:nvSpPr>
        <p:spPr>
          <a:xfrm>
            <a:off x="4876800" y="1608137"/>
            <a:ext cx="3657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31246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075702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63500"/>
            <a:ext cx="7315200" cy="1143000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074068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63500"/>
            <a:ext cx="7315200" cy="1143000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54803353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5486400"/>
            <a:ext cx="9144000" cy="1371600"/>
          </a:xfrm>
          <a:prstGeom prst="rect">
            <a:avLst/>
          </a:prstGeom>
          <a:solidFill>
            <a:srgbClr val="90BB8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7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08500" y="2143126"/>
            <a:ext cx="4635500" cy="2421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8"/>
          <p:cNvSpPr>
            <a:spLocks noChangeArrowheads="1"/>
          </p:cNvSpPr>
          <p:nvPr userDrawn="1"/>
        </p:nvSpPr>
        <p:spPr bwMode="auto">
          <a:xfrm>
            <a:off x="0" y="5638800"/>
            <a:ext cx="9144000" cy="1219200"/>
          </a:xfrm>
          <a:prstGeom prst="rect">
            <a:avLst/>
          </a:prstGeom>
          <a:solidFill>
            <a:srgbClr val="8A2003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" y="1549419"/>
            <a:ext cx="3848100" cy="1470025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" y="3048000"/>
            <a:ext cx="3849624" cy="175260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0"/>
              </a:spcBef>
              <a:spcAft>
                <a:spcPct val="0"/>
              </a:spcAft>
              <a:buNone/>
              <a:defRPr lang="en-US" sz="2000">
                <a:solidFill>
                  <a:schemeClr val="tx1"/>
                </a:solidFill>
                <a:latin typeface="Verdana" pitchFamily="34" charset="0"/>
                <a:ea typeface="+mj-ea"/>
                <a:cs typeface="+mj-cs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91755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008"/>
            <a:ext cx="7315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88083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78851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3657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1"/>
          </p:nvPr>
        </p:nvSpPr>
        <p:spPr>
          <a:xfrm>
            <a:off x="4876800" y="1608137"/>
            <a:ext cx="3657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88565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553200"/>
            <a:ext cx="1905000" cy="1524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s-E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781800" y="6400800"/>
            <a:ext cx="1905000" cy="2286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03281"/>
      </p:ext>
    </p:extLst>
  </p:cSld>
  <p:clrMapOvr>
    <a:masterClrMapping/>
  </p:clrMapOvr>
  <p:transition spd="med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4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444288-1723-4CAC-916A-834D7B46455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4/6/2011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0741CB-6D9E-4FFF-B4D0-E51F0D133BB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04140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3255D2-2744-4003-8F9A-8BF4B5CAB0D7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4/6/2011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2B6D9C-91A7-4741-AA24-E2AF39E69C0D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57289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029AE6-3230-43D6-9789-5AC1637D4297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4/6/2011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48C0F-606F-4F4B-8FF9-C9AB65853C1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70404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5864F-42A2-443A-88FE-97F941E0AF1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4/6/2011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5DE44F-DD57-4582-9BF1-61E9E4ED9D5D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1273599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53511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32FF69-5B10-4F4C-BC1C-578C71EF6C85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4/6/2011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8EDF2A-E326-4C78-9291-51C290DEDD1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87754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F34D4-4BF1-4C12-A410-016F2178399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4/6/2011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C4B801-A50A-4CE3-B525-96845CCED0EC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034093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E49D90-25B5-4907-B87C-5A802ADBCC4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4/6/2011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318E76-32D8-47C6-ABDD-E64630EBEB5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86490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9" y="2730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9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823F79-C732-4D93-AA26-85F26E06FC4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4/6/2011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35095-1F4A-4893-9ED6-B9605373A33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47977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AB6C32-20D9-4A36-B090-4CB5E4FDA0E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4/6/2011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B276E-BFD0-4EED-A6A0-248C0C21B80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44665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132179-608E-445C-BDCB-75299793C65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4/6/2011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E71DD0-DFBB-486D-AC7C-BC63692DD2B9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424163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5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5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35DD1F-5234-4AFA-A844-6FA4F592512E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4/6/2011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7D5A3-CB94-4644-9D58-E866554787F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551704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4"/>
          <p:cNvSpPr>
            <a:spLocks noChangeShapeType="1"/>
          </p:cNvSpPr>
          <p:nvPr userDrawn="1"/>
        </p:nvSpPr>
        <p:spPr bwMode="auto">
          <a:xfrm>
            <a:off x="0" y="1285876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cs typeface="+mn-cs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74000" y="71441"/>
            <a:ext cx="1174750" cy="955675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7315200" cy="1143000"/>
          </a:xfrm>
          <a:prstGeom prst="rect">
            <a:avLst/>
          </a:prstGeom>
        </p:spPr>
        <p:txBody>
          <a:bodyPr anchor="b"/>
          <a:lstStyle>
            <a:lvl1pPr algn="l">
              <a:defRPr sz="24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5446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39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6173926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2968797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1501512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78047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33" y="153511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0303706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5749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44505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19" y="2730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19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9079333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90846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6257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51886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5486400"/>
            <a:ext cx="9144000" cy="1371600"/>
          </a:xfrm>
          <a:prstGeom prst="rect">
            <a:avLst/>
          </a:prstGeom>
          <a:solidFill>
            <a:srgbClr val="90BB8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7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08500" y="2143126"/>
            <a:ext cx="4635500" cy="2421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8"/>
          <p:cNvSpPr>
            <a:spLocks noChangeArrowheads="1"/>
          </p:cNvSpPr>
          <p:nvPr userDrawn="1"/>
        </p:nvSpPr>
        <p:spPr bwMode="auto">
          <a:xfrm>
            <a:off x="0" y="5638800"/>
            <a:ext cx="9144000" cy="1219200"/>
          </a:xfrm>
          <a:prstGeom prst="rect">
            <a:avLst/>
          </a:prstGeom>
          <a:solidFill>
            <a:srgbClr val="8A2003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" y="1549406"/>
            <a:ext cx="3848100" cy="1470025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" y="3048000"/>
            <a:ext cx="3849624" cy="175260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0"/>
              </a:spcBef>
              <a:spcAft>
                <a:spcPct val="0"/>
              </a:spcAft>
              <a:buNone/>
              <a:defRPr lang="en-US" sz="2000">
                <a:solidFill>
                  <a:schemeClr val="tx1"/>
                </a:solidFill>
                <a:latin typeface="Verdana" pitchFamily="34" charset="0"/>
                <a:ea typeface="+mj-ea"/>
                <a:cs typeface="+mj-cs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77285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008"/>
            <a:ext cx="7315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2738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154667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3657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1"/>
          </p:nvPr>
        </p:nvSpPr>
        <p:spPr>
          <a:xfrm>
            <a:off x="4876800" y="1608137"/>
            <a:ext cx="3657600" cy="452596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erdana" pitchFamily="34" charset="0"/>
              </a:defRPr>
            </a:lvl1pPr>
            <a:lvl2pPr>
              <a:defRPr sz="2000">
                <a:latin typeface="Verdana" pitchFamily="34" charset="0"/>
              </a:defRPr>
            </a:lvl2pPr>
            <a:lvl3pPr>
              <a:defRPr sz="1800">
                <a:latin typeface="Verdana" pitchFamily="34" charset="0"/>
              </a:defRPr>
            </a:lvl3pPr>
            <a:lvl4pPr>
              <a:defRPr sz="1600">
                <a:latin typeface="Verdana" pitchFamily="34" charset="0"/>
              </a:defRPr>
            </a:lvl4pPr>
            <a:lvl5pPr>
              <a:defRPr sz="1600"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77232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553200"/>
            <a:ext cx="1905000" cy="1524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s-E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781800" y="6400800"/>
            <a:ext cx="1905000" cy="2286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84044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w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wmf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ags" Target="../tags/tag4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1.wmf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tags" Target="../tags/tag6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ags" Target="../tags/tag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heme" Target="../theme/theme8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4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63.xml"/><Relationship Id="rId9" Type="http://schemas.openxmlformats.org/officeDocument/2006/relationships/image" Target="../media/image1.wmf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theme" Target="../theme/theme9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70.xml"/><Relationship Id="rId9" Type="http://schemas.openxmlformats.org/officeDocument/2006/relationships/image" Target="../media/image1.wmf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76.xml"/><Relationship Id="rId7" Type="http://schemas.openxmlformats.org/officeDocument/2006/relationships/image" Target="../media/image1.wmf"/><Relationship Id="rId2" Type="http://schemas.openxmlformats.org/officeDocument/2006/relationships/slideLayout" Target="../slideLayouts/slideLayout75.xml"/><Relationship Id="rId1" Type="http://schemas.openxmlformats.org/officeDocument/2006/relationships/slideLayout" Target="../slideLayouts/slideLayout74.xml"/><Relationship Id="rId6" Type="http://schemas.openxmlformats.org/officeDocument/2006/relationships/theme" Target="../theme/theme10.xml"/><Relationship Id="rId5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7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1.xml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5" Type="http://schemas.openxmlformats.org/officeDocument/2006/relationships/slideLayout" Target="../slideLayouts/slideLayout83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82.xml"/><Relationship Id="rId9" Type="http://schemas.openxmlformats.org/officeDocument/2006/relationships/image" Target="../media/image1.wmf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88.xml"/><Relationship Id="rId7" Type="http://schemas.openxmlformats.org/officeDocument/2006/relationships/image" Target="../media/image1.wmf"/><Relationship Id="rId2" Type="http://schemas.openxmlformats.org/officeDocument/2006/relationships/slideLayout" Target="../slideLayouts/slideLayout87.xml"/><Relationship Id="rId1" Type="http://schemas.openxmlformats.org/officeDocument/2006/relationships/slideLayout" Target="../slideLayouts/slideLayout86.xml"/><Relationship Id="rId6" Type="http://schemas.openxmlformats.org/officeDocument/2006/relationships/theme" Target="../theme/theme12.xml"/><Relationship Id="rId5" Type="http://schemas.openxmlformats.org/officeDocument/2006/relationships/slideLayout" Target="../slideLayouts/slideLayout90.xml"/><Relationship Id="rId4" Type="http://schemas.openxmlformats.org/officeDocument/2006/relationships/slideLayout" Target="../slideLayouts/slideLayout89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theme" Target="../theme/theme13.xml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109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103.xml"/><Relationship Id="rId6" Type="http://schemas.openxmlformats.org/officeDocument/2006/relationships/slideLayout" Target="../slideLayouts/slideLayout108.xml"/><Relationship Id="rId11" Type="http://schemas.openxmlformats.org/officeDocument/2006/relationships/slideLayout" Target="../slideLayouts/slideLayout113.xml"/><Relationship Id="rId5" Type="http://schemas.openxmlformats.org/officeDocument/2006/relationships/slideLayout" Target="../slideLayouts/slideLayout107.xml"/><Relationship Id="rId10" Type="http://schemas.openxmlformats.org/officeDocument/2006/relationships/slideLayout" Target="../slideLayouts/slideLayout112.xml"/><Relationship Id="rId4" Type="http://schemas.openxmlformats.org/officeDocument/2006/relationships/slideLayout" Target="../slideLayouts/slideLayout106.xml"/><Relationship Id="rId9" Type="http://schemas.openxmlformats.org/officeDocument/2006/relationships/slideLayout" Target="../slideLayouts/slideLayout111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16.xml"/><Relationship Id="rId7" Type="http://schemas.openxmlformats.org/officeDocument/2006/relationships/image" Target="../media/image1.wmf"/><Relationship Id="rId2" Type="http://schemas.openxmlformats.org/officeDocument/2006/relationships/slideLayout" Target="../slideLayouts/slideLayout115.xml"/><Relationship Id="rId1" Type="http://schemas.openxmlformats.org/officeDocument/2006/relationships/slideLayout" Target="../slideLayouts/slideLayout114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118.xml"/><Relationship Id="rId4" Type="http://schemas.openxmlformats.org/officeDocument/2006/relationships/slideLayout" Target="../slideLayouts/slideLayout1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0" y="1285876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 dirty="0">
              <a:solidFill>
                <a:srgbClr val="1F497D"/>
              </a:solidFill>
              <a:cs typeface="+mn-cs"/>
            </a:endParaRPr>
          </a:p>
        </p:txBody>
      </p:sp>
      <p:pic>
        <p:nvPicPr>
          <p:cNvPr id="1027" name="Picture 6"/>
          <p:cNvPicPr>
            <a:picLocks noChangeAspect="1" noChangeArrowheads="1"/>
          </p:cNvPicPr>
          <p:nvPr/>
        </p:nvPicPr>
        <p:blipFill>
          <a:blip r:embed="rId13" cstate="print"/>
          <a:srcRect r="3123"/>
          <a:stretch>
            <a:fillRect/>
          </a:stretch>
        </p:blipFill>
        <p:spPr bwMode="auto">
          <a:xfrm>
            <a:off x="7358063" y="6086477"/>
            <a:ext cx="1739900" cy="752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3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874000" y="71441"/>
            <a:ext cx="1174750" cy="955675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0" y="6596064"/>
            <a:ext cx="457200" cy="261610"/>
          </a:xfrm>
          <a:prstGeom prst="rect">
            <a:avLst/>
          </a:prstGeom>
          <a:noFill/>
        </p:spPr>
        <p:txBody>
          <a:bodyPr lIns="45720" rIns="45720">
            <a:spAutoFit/>
          </a:bodyPr>
          <a:lstStyle/>
          <a:p>
            <a:pPr>
              <a:defRPr/>
            </a:pPr>
            <a:fld id="{6CF86E0E-E406-4570-8CEA-49F48E6FCC56}" type="slidenum">
              <a:rPr lang="en-US" sz="1100">
                <a:solidFill>
                  <a:schemeClr val="tx1"/>
                </a:solidFill>
                <a:cs typeface="+mn-cs"/>
              </a:rPr>
              <a:pPr>
                <a:defRPr/>
              </a:pPr>
              <a:t>‹nº›</a:t>
            </a:fld>
            <a:endParaRPr lang="en-US" sz="1100" dirty="0">
              <a:solidFill>
                <a:schemeClr val="tx1"/>
              </a:solidFill>
              <a:cs typeface="+mn-cs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5486400"/>
            <a:ext cx="9144000" cy="1371600"/>
          </a:xfrm>
          <a:prstGeom prst="rect">
            <a:avLst/>
          </a:prstGeom>
          <a:solidFill>
            <a:srgbClr val="90BB8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08500" y="2143125"/>
            <a:ext cx="4635500" cy="2420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5638800"/>
            <a:ext cx="9144000" cy="1219200"/>
          </a:xfrm>
          <a:prstGeom prst="rect">
            <a:avLst/>
          </a:prstGeom>
          <a:solidFill>
            <a:srgbClr val="8A2003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033" name="Title Placeholder 7"/>
          <p:cNvSpPr>
            <a:spLocks noGrp="1"/>
          </p:cNvSpPr>
          <p:nvPr>
            <p:ph type="title"/>
          </p:nvPr>
        </p:nvSpPr>
        <p:spPr bwMode="auto">
          <a:xfrm>
            <a:off x="457200" y="63500"/>
            <a:ext cx="7315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34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745" r:id="rId1"/>
    <p:sldLayoutId id="2147486744" r:id="rId2"/>
    <p:sldLayoutId id="2147486743" r:id="rId3"/>
    <p:sldLayoutId id="2147486742" r:id="rId4"/>
    <p:sldLayoutId id="2147486741" r:id="rId5"/>
    <p:sldLayoutId id="2147486740" r:id="rId6"/>
    <p:sldLayoutId id="2147486739" r:id="rId7"/>
    <p:sldLayoutId id="2147486738" r:id="rId8"/>
    <p:sldLayoutId id="2147486737" r:id="rId9"/>
    <p:sldLayoutId id="2147486736" r:id="rId10"/>
    <p:sldLayoutId id="2147486735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4"/>
          <p:cNvSpPr>
            <a:spLocks noChangeShapeType="1"/>
          </p:cNvSpPr>
          <p:nvPr userDrawn="1"/>
        </p:nvSpPr>
        <p:spPr bwMode="auto">
          <a:xfrm>
            <a:off x="0" y="1285876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solidFill>
                <a:srgbClr val="1F497D"/>
              </a:solidFill>
              <a:cs typeface="+mn-cs"/>
            </a:endParaRPr>
          </a:p>
        </p:txBody>
      </p:sp>
      <p:pic>
        <p:nvPicPr>
          <p:cNvPr id="13315" name="Picture 6"/>
          <p:cNvPicPr>
            <a:picLocks noChangeAspect="1" noChangeArrowheads="1"/>
          </p:cNvPicPr>
          <p:nvPr userDrawn="1"/>
        </p:nvPicPr>
        <p:blipFill>
          <a:blip r:embed="rId16" cstate="print"/>
          <a:srcRect r="3123"/>
          <a:stretch>
            <a:fillRect/>
          </a:stretch>
        </p:blipFill>
        <p:spPr bwMode="auto">
          <a:xfrm>
            <a:off x="7358063" y="6086477"/>
            <a:ext cx="1739900" cy="752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6" name="Picture 3"/>
          <p:cNvPicPr>
            <a:picLocks noChangeAspect="1" noChangeArrowheads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874000" y="71441"/>
            <a:ext cx="1174750" cy="955675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  <p:sp>
        <p:nvSpPr>
          <p:cNvPr id="13317" name="Title Placeholder 7"/>
          <p:cNvSpPr>
            <a:spLocks noGrp="1"/>
          </p:cNvSpPr>
          <p:nvPr>
            <p:ph type="title"/>
          </p:nvPr>
        </p:nvSpPr>
        <p:spPr bwMode="auto">
          <a:xfrm>
            <a:off x="457200" y="63500"/>
            <a:ext cx="7315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3318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064"/>
            <a:ext cx="457200" cy="261610"/>
          </a:xfrm>
          <a:prstGeom prst="rect">
            <a:avLst/>
          </a:prstGeom>
          <a:noFill/>
        </p:spPr>
        <p:txBody>
          <a:bodyPr lIns="45720" rIns="45720">
            <a:spAutoFit/>
          </a:bodyPr>
          <a:lstStyle/>
          <a:p>
            <a:pPr>
              <a:defRPr/>
            </a:pPr>
            <a:fld id="{65F57546-34DC-4285-B1AF-C2AC3E648946}" type="slidenum">
              <a:rPr lang="en-US" sz="1100">
                <a:solidFill>
                  <a:schemeClr val="tx1"/>
                </a:solidFill>
                <a:cs typeface="+mn-cs"/>
              </a:rPr>
              <a:pPr>
                <a:defRPr/>
              </a:pPr>
              <a:t>‹nº›</a:t>
            </a:fld>
            <a:endParaRPr lang="en-US" sz="1100" dirty="0">
              <a:solidFill>
                <a:schemeClr val="tx1"/>
              </a:solidFill>
              <a:cs typeface="+mn-cs"/>
            </a:endParaRPr>
          </a:p>
        </p:txBody>
      </p:sp>
      <p:sp>
        <p:nvSpPr>
          <p:cNvPr id="9" name="AcnStamp_ID_9" hidden="1"/>
          <p:cNvSpPr/>
          <p:nvPr userDrawn="1">
            <p:custDataLst>
              <p:tags r:id="rId13"/>
            </p:custDataLst>
          </p:nvPr>
        </p:nvSpPr>
        <p:spPr bwMode="gray">
          <a:xfrm>
            <a:off x="6211888" y="-2147483635"/>
            <a:ext cx="1560512" cy="261937"/>
          </a:xfrm>
          <a:prstGeom prst="leftRightArrow">
            <a:avLst>
              <a:gd name="adj1" fmla="val 0"/>
              <a:gd name="adj2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5400" rIns="0" bIns="25400">
            <a:spAutoFit/>
          </a:bodyPr>
          <a:lstStyle/>
          <a:p>
            <a:pPr algn="r">
              <a:defRPr/>
            </a:pPr>
            <a:r>
              <a:rPr lang="en-US" sz="1400" b="1">
                <a:solidFill>
                  <a:schemeClr val="tx1"/>
                </a:solidFill>
              </a:rPr>
              <a:t>MASTER STAMP</a:t>
            </a:r>
          </a:p>
        </p:txBody>
      </p:sp>
      <p:cxnSp>
        <p:nvCxnSpPr>
          <p:cNvPr id="13321" name="AcnStpConnector_ID_10" hidden="1"/>
          <p:cNvCxnSpPr>
            <a:cxnSpLocks noChangeShapeType="1"/>
            <a:stCxn id="9" idx="2"/>
            <a:endCxn id="9" idx="0"/>
          </p:cNvCxnSpPr>
          <p:nvPr userDrawn="1">
            <p:custDataLst>
              <p:tags r:id="rId14"/>
            </p:custDataLst>
          </p:nvPr>
        </p:nvCxnSpPr>
        <p:spPr bwMode="gray">
          <a:xfrm>
            <a:off x="6211888" y="-2147483648"/>
            <a:ext cx="1560512" cy="0"/>
          </a:xfrm>
          <a:prstGeom prst="straightConnector1">
            <a:avLst/>
          </a:prstGeom>
          <a:noFill/>
          <a:ln w="9525" algn="ctr">
            <a:solidFill>
              <a:srgbClr val="4A7EBB"/>
            </a:solidFill>
            <a:round/>
            <a:headEnd/>
            <a:tailEnd/>
          </a:ln>
        </p:spPr>
      </p:cxnSp>
      <p:cxnSp>
        <p:nvCxnSpPr>
          <p:cNvPr id="13322" name="AcnStpConnector_ID_11" hidden="1"/>
          <p:cNvCxnSpPr>
            <a:cxnSpLocks noChangeShapeType="1"/>
            <a:stCxn id="9" idx="4"/>
            <a:endCxn id="9" idx="6"/>
          </p:cNvCxnSpPr>
          <p:nvPr userDrawn="1">
            <p:custDataLst>
              <p:tags r:id="rId15"/>
            </p:custDataLst>
          </p:nvPr>
        </p:nvCxnSpPr>
        <p:spPr bwMode="gray">
          <a:xfrm>
            <a:off x="6211888" y="-2147483648"/>
            <a:ext cx="1560512" cy="0"/>
          </a:xfrm>
          <a:prstGeom prst="straightConnector1">
            <a:avLst/>
          </a:prstGeom>
          <a:noFill/>
          <a:ln w="9525" algn="ctr">
            <a:solidFill>
              <a:srgbClr val="4A7EBB"/>
            </a:solidFill>
            <a:round/>
            <a:headEnd/>
            <a:tailE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6756" r:id="rId1"/>
    <p:sldLayoutId id="2147486755" r:id="rId2"/>
    <p:sldLayoutId id="2147486754" r:id="rId3"/>
    <p:sldLayoutId id="2147486753" r:id="rId4"/>
    <p:sldLayoutId id="2147486752" r:id="rId5"/>
    <p:sldLayoutId id="2147486751" r:id="rId6"/>
    <p:sldLayoutId id="2147486750" r:id="rId7"/>
    <p:sldLayoutId id="2147486749" r:id="rId8"/>
    <p:sldLayoutId id="2147486748" r:id="rId9"/>
    <p:sldLayoutId id="2147486747" r:id="rId10"/>
    <p:sldLayoutId id="2147486746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4"/>
          <p:cNvSpPr>
            <a:spLocks noChangeShapeType="1"/>
          </p:cNvSpPr>
          <p:nvPr userDrawn="1"/>
        </p:nvSpPr>
        <p:spPr bwMode="auto">
          <a:xfrm>
            <a:off x="0" y="1285876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solidFill>
                <a:srgbClr val="1F497D"/>
              </a:solidFill>
              <a:cs typeface="+mn-cs"/>
            </a:endParaRPr>
          </a:p>
        </p:txBody>
      </p:sp>
      <p:pic>
        <p:nvPicPr>
          <p:cNvPr id="25603" name="Picture 6"/>
          <p:cNvPicPr>
            <a:picLocks noChangeAspect="1" noChangeArrowheads="1"/>
          </p:cNvPicPr>
          <p:nvPr userDrawn="1"/>
        </p:nvPicPr>
        <p:blipFill>
          <a:blip r:embed="rId16" cstate="print"/>
          <a:srcRect r="3123"/>
          <a:stretch>
            <a:fillRect/>
          </a:stretch>
        </p:blipFill>
        <p:spPr bwMode="auto">
          <a:xfrm>
            <a:off x="7358063" y="6086477"/>
            <a:ext cx="1739900" cy="752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4" name="Picture 3"/>
          <p:cNvPicPr>
            <a:picLocks noChangeAspect="1" noChangeArrowheads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874000" y="71441"/>
            <a:ext cx="1174750" cy="955675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 userDrawn="1"/>
        </p:nvSpPr>
        <p:spPr>
          <a:xfrm>
            <a:off x="0" y="6596064"/>
            <a:ext cx="457200" cy="261610"/>
          </a:xfrm>
          <a:prstGeom prst="rect">
            <a:avLst/>
          </a:prstGeom>
          <a:noFill/>
        </p:spPr>
        <p:txBody>
          <a:bodyPr lIns="45720" rIns="45720">
            <a:spAutoFit/>
          </a:bodyPr>
          <a:lstStyle/>
          <a:p>
            <a:pPr>
              <a:defRPr/>
            </a:pPr>
            <a:fld id="{15717829-CE61-4816-A932-B9BCBF5CDAC1}" type="slidenum">
              <a:rPr lang="en-US" sz="1100">
                <a:solidFill>
                  <a:schemeClr val="tx1"/>
                </a:solidFill>
                <a:cs typeface="+mn-cs"/>
              </a:rPr>
              <a:pPr>
                <a:defRPr/>
              </a:pPr>
              <a:t>‹nº›</a:t>
            </a:fld>
            <a:endParaRPr lang="en-US" sz="1100" dirty="0">
              <a:solidFill>
                <a:schemeClr val="tx1"/>
              </a:solidFill>
              <a:cs typeface="+mn-cs"/>
            </a:endParaRPr>
          </a:p>
        </p:txBody>
      </p:sp>
      <p:sp>
        <p:nvSpPr>
          <p:cNvPr id="9" name="AcnStamp_ID_9" hidden="1"/>
          <p:cNvSpPr/>
          <p:nvPr userDrawn="1">
            <p:custDataLst>
              <p:tags r:id="rId13"/>
            </p:custDataLst>
          </p:nvPr>
        </p:nvSpPr>
        <p:spPr bwMode="gray">
          <a:xfrm>
            <a:off x="6211888" y="-2147483635"/>
            <a:ext cx="1560512" cy="261937"/>
          </a:xfrm>
          <a:prstGeom prst="leftRightArrow">
            <a:avLst>
              <a:gd name="adj1" fmla="val 0"/>
              <a:gd name="adj2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5400" rIns="0" bIns="25400">
            <a:spAutoFit/>
          </a:bodyPr>
          <a:lstStyle/>
          <a:p>
            <a:pPr algn="r">
              <a:defRPr/>
            </a:pPr>
            <a:r>
              <a:rPr lang="en-US" sz="1400" b="1">
                <a:solidFill>
                  <a:schemeClr val="tx1"/>
                </a:solidFill>
              </a:rPr>
              <a:t>MASTER STAMP</a:t>
            </a:r>
          </a:p>
        </p:txBody>
      </p:sp>
      <p:cxnSp>
        <p:nvCxnSpPr>
          <p:cNvPr id="25607" name="AcnStpConnector_ID_10" hidden="1"/>
          <p:cNvCxnSpPr>
            <a:cxnSpLocks noChangeShapeType="1"/>
            <a:stCxn id="9" idx="2"/>
            <a:endCxn id="9" idx="0"/>
          </p:cNvCxnSpPr>
          <p:nvPr userDrawn="1">
            <p:custDataLst>
              <p:tags r:id="rId14"/>
            </p:custDataLst>
          </p:nvPr>
        </p:nvCxnSpPr>
        <p:spPr bwMode="gray">
          <a:xfrm>
            <a:off x="6211888" y="-2147483648"/>
            <a:ext cx="1560512" cy="0"/>
          </a:xfrm>
          <a:prstGeom prst="straightConnector1">
            <a:avLst/>
          </a:prstGeom>
          <a:noFill/>
          <a:ln w="9525" algn="ctr">
            <a:solidFill>
              <a:srgbClr val="4A7EBB"/>
            </a:solidFill>
            <a:round/>
            <a:headEnd/>
            <a:tailEnd/>
          </a:ln>
        </p:spPr>
      </p:cxnSp>
      <p:cxnSp>
        <p:nvCxnSpPr>
          <p:cNvPr id="25608" name="AcnStpConnector_ID_11" hidden="1"/>
          <p:cNvCxnSpPr>
            <a:cxnSpLocks noChangeShapeType="1"/>
            <a:stCxn id="9" idx="4"/>
            <a:endCxn id="9" idx="6"/>
          </p:cNvCxnSpPr>
          <p:nvPr userDrawn="1">
            <p:custDataLst>
              <p:tags r:id="rId15"/>
            </p:custDataLst>
          </p:nvPr>
        </p:nvCxnSpPr>
        <p:spPr bwMode="gray">
          <a:xfrm>
            <a:off x="6211888" y="-2147483648"/>
            <a:ext cx="1560512" cy="0"/>
          </a:xfrm>
          <a:prstGeom prst="straightConnector1">
            <a:avLst/>
          </a:prstGeom>
          <a:noFill/>
          <a:ln w="9525" algn="ctr">
            <a:solidFill>
              <a:srgbClr val="4A7EBB"/>
            </a:solidFill>
            <a:round/>
            <a:headEnd/>
            <a:tailEnd/>
          </a:ln>
        </p:spPr>
      </p:cxnSp>
      <p:sp>
        <p:nvSpPr>
          <p:cNvPr id="25609" name="Title Placeholder 7"/>
          <p:cNvSpPr>
            <a:spLocks noGrp="1"/>
          </p:cNvSpPr>
          <p:nvPr>
            <p:ph type="title"/>
          </p:nvPr>
        </p:nvSpPr>
        <p:spPr bwMode="auto">
          <a:xfrm>
            <a:off x="457200" y="63500"/>
            <a:ext cx="7315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5610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89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7A677A4B-8CD2-4464-A19E-5D13D629824F}" type="datetimeFigureOut">
              <a:rPr lang="en-US"/>
              <a:pPr>
                <a:defRPr/>
              </a:pPr>
              <a:t>4/6/2011</a:t>
            </a:fld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43250" y="6492914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89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3931D5DC-8886-44F3-886A-200B1C58C918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767" r:id="rId1"/>
    <p:sldLayoutId id="2147486766" r:id="rId2"/>
    <p:sldLayoutId id="2147486765" r:id="rId3"/>
    <p:sldLayoutId id="2147486764" r:id="rId4"/>
    <p:sldLayoutId id="2147486763" r:id="rId5"/>
    <p:sldLayoutId id="2147486762" r:id="rId6"/>
    <p:sldLayoutId id="2147486761" r:id="rId7"/>
    <p:sldLayoutId id="2147486760" r:id="rId8"/>
    <p:sldLayoutId id="2147486759" r:id="rId9"/>
    <p:sldLayoutId id="2147486758" r:id="rId10"/>
    <p:sldLayoutId id="2147486757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 4"/>
          <p:cNvSpPr>
            <a:spLocks noChangeShapeType="1"/>
          </p:cNvSpPr>
          <p:nvPr/>
        </p:nvSpPr>
        <p:spPr bwMode="auto">
          <a:xfrm>
            <a:off x="0" y="1285876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solidFill>
                <a:srgbClr val="1F497D"/>
              </a:solidFill>
              <a:cs typeface="+mn-cs"/>
            </a:endParaRPr>
          </a:p>
        </p:txBody>
      </p:sp>
      <p:pic>
        <p:nvPicPr>
          <p:cNvPr id="37891" name="Picture 6"/>
          <p:cNvPicPr>
            <a:picLocks noChangeAspect="1" noChangeArrowheads="1"/>
          </p:cNvPicPr>
          <p:nvPr/>
        </p:nvPicPr>
        <p:blipFill>
          <a:blip r:embed="rId13" cstate="print"/>
          <a:srcRect r="3123"/>
          <a:stretch>
            <a:fillRect/>
          </a:stretch>
        </p:blipFill>
        <p:spPr bwMode="auto">
          <a:xfrm>
            <a:off x="7358063" y="6086477"/>
            <a:ext cx="1739900" cy="752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2" name="Picture 3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874000" y="71441"/>
            <a:ext cx="1174750" cy="955675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  <p:sp>
        <p:nvSpPr>
          <p:cNvPr id="12" name="TextBox 7"/>
          <p:cNvSpPr txBox="1"/>
          <p:nvPr/>
        </p:nvSpPr>
        <p:spPr>
          <a:xfrm>
            <a:off x="0" y="6596101"/>
            <a:ext cx="457200" cy="346249"/>
          </a:xfrm>
          <a:prstGeom prst="rect">
            <a:avLst/>
          </a:prstGeom>
          <a:noFill/>
        </p:spPr>
        <p:txBody>
          <a:bodyPr lIns="45720" rIns="45720">
            <a:spAutoFit/>
          </a:bodyPr>
          <a:lstStyle/>
          <a:p>
            <a:pPr>
              <a:lnSpc>
                <a:spcPct val="150000"/>
              </a:lnSpc>
              <a:buSzPct val="80000"/>
              <a:defRPr/>
            </a:pPr>
            <a:fld id="{EDA113E0-E47D-4E39-81C6-1D8C48E3D547}" type="slidenum">
              <a:rPr lang="en-US" sz="1100">
                <a:cs typeface="+mn-cs"/>
              </a:rPr>
              <a:pPr>
                <a:lnSpc>
                  <a:spcPct val="150000"/>
                </a:lnSpc>
                <a:buSzPct val="80000"/>
                <a:defRPr/>
              </a:pPr>
              <a:t>‹nº›</a:t>
            </a:fld>
            <a:endParaRPr lang="en-US" sz="1100" dirty="0">
              <a:cs typeface="+mn-cs"/>
            </a:endParaRPr>
          </a:p>
        </p:txBody>
      </p:sp>
      <p:sp>
        <p:nvSpPr>
          <p:cNvPr id="37894" name="Title Placeholder 7"/>
          <p:cNvSpPr>
            <a:spLocks noGrp="1"/>
          </p:cNvSpPr>
          <p:nvPr>
            <p:ph type="title"/>
          </p:nvPr>
        </p:nvSpPr>
        <p:spPr bwMode="auto">
          <a:xfrm>
            <a:off x="457200" y="63500"/>
            <a:ext cx="7315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7895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3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SzPct val="80000"/>
              <a:buFontTx/>
              <a:buChar char="•"/>
              <a:defRPr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SzPct val="80000"/>
              <a:buFontTx/>
              <a:buChar char="•"/>
              <a:defRPr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5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SzPct val="80000"/>
              <a:buFontTx/>
              <a:buChar char="•"/>
              <a:defRPr>
                <a:cs typeface="+mn-cs"/>
              </a:defRPr>
            </a:lvl1pPr>
          </a:lstStyle>
          <a:p>
            <a:pPr>
              <a:defRPr/>
            </a:pPr>
            <a:fld id="{0DDBC2C4-28A7-4B12-BC0C-8DD6017B1EC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778" r:id="rId1"/>
    <p:sldLayoutId id="2147486777" r:id="rId2"/>
    <p:sldLayoutId id="2147486776" r:id="rId3"/>
    <p:sldLayoutId id="2147486775" r:id="rId4"/>
    <p:sldLayoutId id="2147486774" r:id="rId5"/>
    <p:sldLayoutId id="2147486773" r:id="rId6"/>
    <p:sldLayoutId id="2147486772" r:id="rId7"/>
    <p:sldLayoutId id="2147486771" r:id="rId8"/>
    <p:sldLayoutId id="2147486770" r:id="rId9"/>
    <p:sldLayoutId id="2147486769" r:id="rId10"/>
    <p:sldLayoutId id="2147486768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buSzPct val="80000"/>
              <a:buFontTx/>
              <a:buChar char="•"/>
              <a:defRPr/>
            </a:lvl1pPr>
          </a:lstStyle>
          <a:p>
            <a:pPr>
              <a:defRPr/>
            </a:pPr>
            <a:fld id="{E475137C-3052-4708-8F25-D486E9751360}" type="datetimeFigureOut">
              <a:rPr lang="pt-BR"/>
              <a:pPr>
                <a:defRPr/>
              </a:pPr>
              <a:t>06/04/2011</a:t>
            </a:fld>
            <a:endParaRPr lang="pt-BR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buSzPct val="80000"/>
              <a:buFontTx/>
              <a:buChar char="•"/>
              <a:defRPr/>
            </a:lvl1pPr>
          </a:lstStyle>
          <a:p>
            <a:pPr>
              <a:defRPr/>
            </a:pPr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780" r:id="rId1"/>
    <p:sldLayoutId id="2147486822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6782" r:id="rId1"/>
    <p:sldLayoutId id="2147486823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4"/>
          <p:cNvSpPr>
            <a:spLocks noChangeShapeType="1"/>
          </p:cNvSpPr>
          <p:nvPr/>
        </p:nvSpPr>
        <p:spPr bwMode="auto">
          <a:xfrm>
            <a:off x="0" y="685800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smtClean="0">
              <a:solidFill>
                <a:srgbClr val="000000"/>
              </a:solidFill>
              <a:cs typeface="+mn-cs"/>
            </a:endParaRPr>
          </a:p>
        </p:txBody>
      </p:sp>
      <p:pic>
        <p:nvPicPr>
          <p:cNvPr id="4099" name="Picture 6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23"/>
          <a:stretch>
            <a:fillRect/>
          </a:stretch>
        </p:blipFill>
        <p:spPr bwMode="auto">
          <a:xfrm>
            <a:off x="7358063" y="6086477"/>
            <a:ext cx="1739900" cy="752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3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73025"/>
            <a:ext cx="666750" cy="542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1" name="TextBox 7"/>
          <p:cNvSpPr txBox="1">
            <a:spLocks noChangeArrowheads="1"/>
          </p:cNvSpPr>
          <p:nvPr/>
        </p:nvSpPr>
        <p:spPr bwMode="auto">
          <a:xfrm>
            <a:off x="0" y="6597650"/>
            <a:ext cx="4572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fld id="{FE5974F3-17F9-4017-A42F-B07ED254CDE2}" type="slidenum">
              <a:rPr lang="en-US" sz="1100" smtClean="0">
                <a:solidFill>
                  <a:srgbClr val="000000"/>
                </a:solidFill>
                <a:cs typeface="+mn-cs"/>
              </a:rPr>
              <a:pPr eaLnBrk="1" hangingPunct="1"/>
              <a:t>‹nº›</a:t>
            </a:fld>
            <a:endParaRPr lang="en-US" sz="11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4102" name="Title Placeholder 7"/>
          <p:cNvSpPr>
            <a:spLocks noGrp="1"/>
          </p:cNvSpPr>
          <p:nvPr>
            <p:ph type="title"/>
          </p:nvPr>
        </p:nvSpPr>
        <p:spPr bwMode="auto">
          <a:xfrm>
            <a:off x="457200" y="63500"/>
            <a:ext cx="7315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103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553200"/>
            <a:ext cx="1905000" cy="152400"/>
          </a:xfrm>
          <a:prstGeom prst="rect">
            <a:avLst/>
          </a:prstGeom>
        </p:spPr>
        <p:txBody>
          <a:bodyPr/>
          <a:lstStyle>
            <a:lvl1pPr>
              <a:defRPr sz="1800" b="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781800" y="6400800"/>
            <a:ext cx="1905000" cy="228600"/>
          </a:xfrm>
          <a:prstGeom prst="rect">
            <a:avLst/>
          </a:prstGeom>
        </p:spPr>
        <p:txBody>
          <a:bodyPr/>
          <a:lstStyle>
            <a:lvl1pPr>
              <a:defRPr sz="1800" b="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25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787" r:id="rId1"/>
    <p:sldLayoutId id="2147486788" r:id="rId2"/>
    <p:sldLayoutId id="2147486789" r:id="rId3"/>
    <p:sldLayoutId id="2147486790" r:id="rId4"/>
    <p:sldLayoutId id="2147486791" r:id="rId5"/>
    <p:sldLayoutId id="2147486792" r:id="rId6"/>
    <p:sldLayoutId id="2147486793" r:id="rId7"/>
    <p:sldLayoutId id="2147486794" r:id="rId8"/>
    <p:sldLayoutId id="2147486795" r:id="rId9"/>
    <p:sldLayoutId id="2147486796" r:id="rId10"/>
    <p:sldLayoutId id="2147486797" r:id="rId11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0" y="685800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solidFill>
                <a:srgbClr val="1F497D"/>
              </a:solidFill>
            </a:endParaRPr>
          </a:p>
        </p:txBody>
      </p:sp>
      <p:pic>
        <p:nvPicPr>
          <p:cNvPr id="50179" name="Picture 6"/>
          <p:cNvPicPr>
            <a:picLocks noChangeAspect="1" noChangeArrowheads="1"/>
          </p:cNvPicPr>
          <p:nvPr/>
        </p:nvPicPr>
        <p:blipFill>
          <a:blip r:embed="rId9" cstate="print"/>
          <a:srcRect r="3123"/>
          <a:stretch>
            <a:fillRect/>
          </a:stretch>
        </p:blipFill>
        <p:spPr bwMode="auto">
          <a:xfrm>
            <a:off x="7358063" y="6086476"/>
            <a:ext cx="1739900" cy="752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0" name="Picture 3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8382000" y="72390"/>
            <a:ext cx="666750" cy="542926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  <p:sp>
        <p:nvSpPr>
          <p:cNvPr id="50181" name="Title Placeholder 7"/>
          <p:cNvSpPr>
            <a:spLocks noGrp="1"/>
          </p:cNvSpPr>
          <p:nvPr>
            <p:ph type="title"/>
          </p:nvPr>
        </p:nvSpPr>
        <p:spPr bwMode="auto">
          <a:xfrm>
            <a:off x="457200" y="62866"/>
            <a:ext cx="7315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50182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97017"/>
            <a:ext cx="457200" cy="261610"/>
          </a:xfrm>
          <a:prstGeom prst="rect">
            <a:avLst/>
          </a:prstGeom>
          <a:noFill/>
        </p:spPr>
        <p:txBody>
          <a:bodyPr lIns="45720" rIns="45720">
            <a:spAutoFit/>
          </a:bodyPr>
          <a:lstStyle/>
          <a:p>
            <a:pPr>
              <a:defRPr/>
            </a:pPr>
            <a:fld id="{DFAD78E9-6446-4EC6-A6AB-00EA7DF71A91}" type="slidenum">
              <a:rPr lang="en-US" sz="1100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 sz="11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7906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799" r:id="rId1"/>
    <p:sldLayoutId id="2147486800" r:id="rId2"/>
    <p:sldLayoutId id="2147486801" r:id="rId3"/>
    <p:sldLayoutId id="2147486802" r:id="rId4"/>
    <p:sldLayoutId id="2147486803" r:id="rId5"/>
    <p:sldLayoutId id="2147486813" r:id="rId6"/>
    <p:sldLayoutId id="2147486821" r:id="rId7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sz="2400" dirty="0">
          <a:solidFill>
            <a:schemeClr val="tx1"/>
          </a:solidFill>
          <a:latin typeface="Verdana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lang="en-US" sz="2400" kern="12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lang="en-US" sz="2000" kern="1200">
          <a:solidFill>
            <a:schemeClr val="tx1"/>
          </a:solidFill>
          <a:latin typeface="Verdana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lang="en-US" kern="1200">
          <a:solidFill>
            <a:schemeClr val="tx1"/>
          </a:solidFill>
          <a:latin typeface="Verdana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lang="en-US"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lang="en-US"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"/>
          <p:cNvSpPr>
            <a:spLocks noChangeShapeType="1"/>
          </p:cNvSpPr>
          <p:nvPr userDrawn="1"/>
        </p:nvSpPr>
        <p:spPr bwMode="auto">
          <a:xfrm>
            <a:off x="0" y="1285876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smtClean="0">
              <a:solidFill>
                <a:prstClr val="black"/>
              </a:solidFill>
              <a:cs typeface="+mn-cs"/>
            </a:endParaRPr>
          </a:p>
        </p:txBody>
      </p:sp>
      <p:pic>
        <p:nvPicPr>
          <p:cNvPr id="1027" name="Picture 6"/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23"/>
          <a:stretch>
            <a:fillRect/>
          </a:stretch>
        </p:blipFill>
        <p:spPr bwMode="auto">
          <a:xfrm>
            <a:off x="7358063" y="6086477"/>
            <a:ext cx="1739900" cy="752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3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0" y="71441"/>
            <a:ext cx="117475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Title Placeholder 7"/>
          <p:cNvSpPr>
            <a:spLocks noGrp="1"/>
          </p:cNvSpPr>
          <p:nvPr>
            <p:ph type="title"/>
          </p:nvPr>
        </p:nvSpPr>
        <p:spPr bwMode="auto">
          <a:xfrm>
            <a:off x="457200" y="63500"/>
            <a:ext cx="7315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30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31" name="TextBox 7"/>
          <p:cNvSpPr txBox="1">
            <a:spLocks noChangeArrowheads="1"/>
          </p:cNvSpPr>
          <p:nvPr userDrawn="1"/>
        </p:nvSpPr>
        <p:spPr bwMode="auto">
          <a:xfrm>
            <a:off x="0" y="6596064"/>
            <a:ext cx="4572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fld id="{8DCE438C-F330-4694-80BB-92CF42DE73E9}" type="slidenum">
              <a:rPr lang="en-US" sz="1100" smtClean="0">
                <a:solidFill>
                  <a:prstClr val="black"/>
                </a:solidFill>
                <a:cs typeface="+mn-cs"/>
              </a:rPr>
              <a:pPr eaLnBrk="1" hangingPunct="1"/>
              <a:t>‹nº›</a:t>
            </a:fld>
            <a:endParaRPr lang="en-US" sz="1100" smtClean="0">
              <a:solidFill>
                <a:prstClr val="black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9305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806" r:id="rId1"/>
    <p:sldLayoutId id="2147486807" r:id="rId2"/>
    <p:sldLayoutId id="2147486808" r:id="rId3"/>
    <p:sldLayoutId id="2147486809" r:id="rId4"/>
    <p:sldLayoutId id="2147486810" r:id="rId5"/>
    <p:sldLayoutId id="2147486811" r:id="rId6"/>
    <p:sldLayoutId id="2147486812" r:id="rId7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sz="2400" dirty="0">
          <a:solidFill>
            <a:schemeClr val="tx1"/>
          </a:solidFill>
          <a:latin typeface="Verdana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lang="en-US" sz="2400" kern="12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lang="en-US" sz="2000" kern="1200">
          <a:solidFill>
            <a:schemeClr val="tx1"/>
          </a:solidFill>
          <a:latin typeface="Verdana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lang="en-US" sz="2400" kern="1200">
          <a:solidFill>
            <a:schemeClr val="tx1"/>
          </a:solidFill>
          <a:latin typeface="Verdana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lang="en-US"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lang="en-US"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0" y="685800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solidFill>
                <a:srgbClr val="1F497D"/>
              </a:solidFill>
            </a:endParaRPr>
          </a:p>
        </p:txBody>
      </p:sp>
      <p:pic>
        <p:nvPicPr>
          <p:cNvPr id="50179" name="Picture 6"/>
          <p:cNvPicPr>
            <a:picLocks noChangeAspect="1" noChangeArrowheads="1"/>
          </p:cNvPicPr>
          <p:nvPr/>
        </p:nvPicPr>
        <p:blipFill>
          <a:blip r:embed="rId7" cstate="print"/>
          <a:srcRect r="3123"/>
          <a:stretch>
            <a:fillRect/>
          </a:stretch>
        </p:blipFill>
        <p:spPr bwMode="auto">
          <a:xfrm>
            <a:off x="7358063" y="6086476"/>
            <a:ext cx="1739900" cy="752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0" name="Picture 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382000" y="72390"/>
            <a:ext cx="666750" cy="542926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  <p:sp>
        <p:nvSpPr>
          <p:cNvPr id="50181" name="Title Placeholder 7"/>
          <p:cNvSpPr>
            <a:spLocks noGrp="1"/>
          </p:cNvSpPr>
          <p:nvPr>
            <p:ph type="title"/>
          </p:nvPr>
        </p:nvSpPr>
        <p:spPr bwMode="auto">
          <a:xfrm>
            <a:off x="457200" y="62866"/>
            <a:ext cx="7315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50182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97017"/>
            <a:ext cx="457200" cy="261610"/>
          </a:xfrm>
          <a:prstGeom prst="rect">
            <a:avLst/>
          </a:prstGeom>
          <a:noFill/>
        </p:spPr>
        <p:txBody>
          <a:bodyPr lIns="45720" rIns="45720">
            <a:spAutoFit/>
          </a:bodyPr>
          <a:lstStyle/>
          <a:p>
            <a:pPr>
              <a:defRPr/>
            </a:pPr>
            <a:fld id="{DFAD78E9-6446-4EC6-A6AB-00EA7DF71A91}" type="slidenum">
              <a:rPr lang="en-US" sz="1100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 sz="1100" dirty="0">
              <a:solidFill>
                <a:prstClr val="black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815" r:id="rId1"/>
    <p:sldLayoutId id="2147486816" r:id="rId2"/>
    <p:sldLayoutId id="2147486817" r:id="rId3"/>
    <p:sldLayoutId id="2147486818" r:id="rId4"/>
    <p:sldLayoutId id="2147486820" r:id="rId5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sz="2400" dirty="0">
          <a:solidFill>
            <a:schemeClr val="tx1"/>
          </a:solidFill>
          <a:latin typeface="Verdana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lang="en-US" sz="2400" kern="12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lang="en-US" sz="2000" kern="1200">
          <a:solidFill>
            <a:schemeClr val="tx1"/>
          </a:solidFill>
          <a:latin typeface="Verdana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lang="en-US" kern="1200">
          <a:solidFill>
            <a:schemeClr val="tx1"/>
          </a:solidFill>
          <a:latin typeface="Verdana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lang="en-US"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lang="en-US"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"/>
          <p:cNvSpPr>
            <a:spLocks noChangeShapeType="1"/>
          </p:cNvSpPr>
          <p:nvPr userDrawn="1"/>
        </p:nvSpPr>
        <p:spPr bwMode="auto">
          <a:xfrm>
            <a:off x="0" y="1285876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pt-BR">
              <a:solidFill>
                <a:prstClr val="black"/>
              </a:solidFill>
            </a:endParaRPr>
          </a:p>
        </p:txBody>
      </p:sp>
      <p:pic>
        <p:nvPicPr>
          <p:cNvPr id="15363" name="Picture 6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23"/>
          <a:stretch>
            <a:fillRect/>
          </a:stretch>
        </p:blipFill>
        <p:spPr bwMode="auto">
          <a:xfrm>
            <a:off x="7358063" y="6086477"/>
            <a:ext cx="1739900" cy="752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3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0" y="71441"/>
            <a:ext cx="117475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Title Placeholder 7"/>
          <p:cNvSpPr>
            <a:spLocks noGrp="1"/>
          </p:cNvSpPr>
          <p:nvPr>
            <p:ph type="title"/>
          </p:nvPr>
        </p:nvSpPr>
        <p:spPr bwMode="auto">
          <a:xfrm>
            <a:off x="457200" y="63500"/>
            <a:ext cx="7315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5366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31" name="TextBox 7"/>
          <p:cNvSpPr txBox="1">
            <a:spLocks noChangeArrowheads="1"/>
          </p:cNvSpPr>
          <p:nvPr userDrawn="1"/>
        </p:nvSpPr>
        <p:spPr bwMode="auto">
          <a:xfrm>
            <a:off x="0" y="6596064"/>
            <a:ext cx="457200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" rIns="45720">
            <a:spAutoFit/>
          </a:bodyPr>
          <a:lstStyle/>
          <a:p>
            <a:pPr>
              <a:defRPr/>
            </a:pPr>
            <a:fld id="{985FC22C-C035-4AC0-844F-A09046CE37A2}" type="slidenum">
              <a:rPr lang="en-US" sz="1100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 sz="11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675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825" r:id="rId1"/>
    <p:sldLayoutId id="2147486826" r:id="rId2"/>
    <p:sldLayoutId id="2147486827" r:id="rId3"/>
    <p:sldLayoutId id="2147486828" r:id="rId4"/>
    <p:sldLayoutId id="2147486829" r:id="rId5"/>
    <p:sldLayoutId id="2147486830" r:id="rId6"/>
    <p:sldLayoutId id="2147486831" r:id="rId7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sz="2400" dirty="0">
          <a:solidFill>
            <a:schemeClr val="tx1"/>
          </a:solidFill>
          <a:latin typeface="Verdana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lang="en-US" sz="2400" kern="12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lang="en-US" sz="2000" kern="1200">
          <a:solidFill>
            <a:schemeClr val="tx1"/>
          </a:solidFill>
          <a:latin typeface="Verdana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lang="en-US" sz="2400" kern="1200">
          <a:solidFill>
            <a:schemeClr val="tx1"/>
          </a:solidFill>
          <a:latin typeface="Verdana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lang="en-US"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lang="en-US"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0" y="685800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solidFill>
                <a:srgbClr val="1F497D"/>
              </a:solidFill>
            </a:endParaRPr>
          </a:p>
        </p:txBody>
      </p:sp>
      <p:pic>
        <p:nvPicPr>
          <p:cNvPr id="50179" name="Picture 6"/>
          <p:cNvPicPr>
            <a:picLocks noChangeAspect="1" noChangeArrowheads="1"/>
          </p:cNvPicPr>
          <p:nvPr/>
        </p:nvPicPr>
        <p:blipFill>
          <a:blip r:embed="rId7" cstate="print"/>
          <a:srcRect r="3123"/>
          <a:stretch>
            <a:fillRect/>
          </a:stretch>
        </p:blipFill>
        <p:spPr bwMode="auto">
          <a:xfrm>
            <a:off x="7358063" y="6086476"/>
            <a:ext cx="1739900" cy="752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0" name="Picture 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382000" y="72390"/>
            <a:ext cx="666750" cy="542926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  <p:sp>
        <p:nvSpPr>
          <p:cNvPr id="50181" name="Title Placeholder 7"/>
          <p:cNvSpPr>
            <a:spLocks noGrp="1"/>
          </p:cNvSpPr>
          <p:nvPr>
            <p:ph type="title"/>
          </p:nvPr>
        </p:nvSpPr>
        <p:spPr bwMode="auto">
          <a:xfrm>
            <a:off x="457200" y="62866"/>
            <a:ext cx="7315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50182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97017"/>
            <a:ext cx="457200" cy="261610"/>
          </a:xfrm>
          <a:prstGeom prst="rect">
            <a:avLst/>
          </a:prstGeom>
          <a:noFill/>
        </p:spPr>
        <p:txBody>
          <a:bodyPr lIns="45720" rIns="45720">
            <a:spAutoFit/>
          </a:bodyPr>
          <a:lstStyle/>
          <a:p>
            <a:pPr>
              <a:defRPr/>
            </a:pPr>
            <a:fld id="{DFAD78E9-6446-4EC6-A6AB-00EA7DF71A91}" type="slidenum">
              <a:rPr lang="en-US" sz="1100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 sz="11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980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833" r:id="rId1"/>
    <p:sldLayoutId id="2147486834" r:id="rId2"/>
    <p:sldLayoutId id="2147486835" r:id="rId3"/>
    <p:sldLayoutId id="2147486836" r:id="rId4"/>
    <p:sldLayoutId id="2147486837" r:id="rId5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sz="2400" dirty="0">
          <a:solidFill>
            <a:schemeClr val="tx1"/>
          </a:solidFill>
          <a:latin typeface="Verdana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lang="en-US" sz="2400" kern="12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lang="en-US" sz="2000" kern="1200">
          <a:solidFill>
            <a:schemeClr val="tx1"/>
          </a:solidFill>
          <a:latin typeface="Verdana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lang="en-US" kern="1200">
          <a:solidFill>
            <a:schemeClr val="tx1"/>
          </a:solidFill>
          <a:latin typeface="Verdana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lang="en-US"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lang="en-US"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7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7D2E9A8-90CA-40DA-8C32-240D86458C06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4/6/2011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7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7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28B1BF9-2B66-43C5-96F6-B35FE4A2F8C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831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839" r:id="rId1"/>
    <p:sldLayoutId id="2147486840" r:id="rId2"/>
    <p:sldLayoutId id="2147486841" r:id="rId3"/>
    <p:sldLayoutId id="2147486842" r:id="rId4"/>
    <p:sldLayoutId id="2147486843" r:id="rId5"/>
    <p:sldLayoutId id="2147486844" r:id="rId6"/>
    <p:sldLayoutId id="2147486845" r:id="rId7"/>
    <p:sldLayoutId id="2147486846" r:id="rId8"/>
    <p:sldLayoutId id="2147486847" r:id="rId9"/>
    <p:sldLayoutId id="2147486848" r:id="rId10"/>
    <p:sldLayoutId id="2147486849" r:id="rId11"/>
    <p:sldLayoutId id="214748685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pt-BR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endParaRPr lang="pt-BR" smtClean="0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1188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852" r:id="rId1"/>
    <p:sldLayoutId id="2147486853" r:id="rId2"/>
    <p:sldLayoutId id="2147486854" r:id="rId3"/>
    <p:sldLayoutId id="2147486855" r:id="rId4"/>
    <p:sldLayoutId id="2147486856" r:id="rId5"/>
    <p:sldLayoutId id="2147486857" r:id="rId6"/>
    <p:sldLayoutId id="2147486858" r:id="rId7"/>
    <p:sldLayoutId id="2147486859" r:id="rId8"/>
    <p:sldLayoutId id="2147486860" r:id="rId9"/>
    <p:sldLayoutId id="2147486861" r:id="rId10"/>
    <p:sldLayoutId id="2147486862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0" y="685800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  <a:buSzPct val="80000"/>
              <a:buFontTx/>
              <a:buChar char="•"/>
              <a:defRPr/>
            </a:pPr>
            <a:endParaRPr lang="en-US">
              <a:solidFill>
                <a:srgbClr val="1F497D"/>
              </a:solidFill>
            </a:endParaRPr>
          </a:p>
        </p:txBody>
      </p:sp>
      <p:pic>
        <p:nvPicPr>
          <p:cNvPr id="50179" name="Picture 6"/>
          <p:cNvPicPr>
            <a:picLocks noChangeAspect="1" noChangeArrowheads="1"/>
          </p:cNvPicPr>
          <p:nvPr/>
        </p:nvPicPr>
        <p:blipFill>
          <a:blip r:embed="rId7" cstate="print"/>
          <a:srcRect r="3123"/>
          <a:stretch>
            <a:fillRect/>
          </a:stretch>
        </p:blipFill>
        <p:spPr bwMode="auto">
          <a:xfrm>
            <a:off x="7358063" y="6086476"/>
            <a:ext cx="1739900" cy="752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0" name="Picture 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382000" y="72390"/>
            <a:ext cx="666750" cy="542926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  <p:sp>
        <p:nvSpPr>
          <p:cNvPr id="50181" name="Title Placeholder 7"/>
          <p:cNvSpPr>
            <a:spLocks noGrp="1"/>
          </p:cNvSpPr>
          <p:nvPr>
            <p:ph type="title"/>
          </p:nvPr>
        </p:nvSpPr>
        <p:spPr bwMode="auto">
          <a:xfrm>
            <a:off x="457200" y="62866"/>
            <a:ext cx="7315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50182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97016"/>
            <a:ext cx="457200" cy="261610"/>
          </a:xfrm>
          <a:prstGeom prst="rect">
            <a:avLst/>
          </a:prstGeom>
          <a:noFill/>
        </p:spPr>
        <p:txBody>
          <a:bodyPr lIns="45720" rIns="45720">
            <a:spAutoFit/>
          </a:bodyPr>
          <a:lstStyle/>
          <a:p>
            <a:pPr>
              <a:defRPr/>
            </a:pPr>
            <a:fld id="{DFAD78E9-6446-4EC6-A6AB-00EA7DF71A91}" type="slidenum">
              <a:rPr lang="en-US" sz="1100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n-US" sz="11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250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864" r:id="rId1"/>
    <p:sldLayoutId id="2147486865" r:id="rId2"/>
    <p:sldLayoutId id="2147486866" r:id="rId3"/>
    <p:sldLayoutId id="2147486867" r:id="rId4"/>
    <p:sldLayoutId id="2147486868" r:id="rId5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sz="2400" dirty="0">
          <a:solidFill>
            <a:schemeClr val="tx1"/>
          </a:solidFill>
          <a:latin typeface="Verdana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lang="en-US" sz="2400" kern="12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lang="en-US" sz="2000" kern="1200">
          <a:solidFill>
            <a:schemeClr val="tx1"/>
          </a:solidFill>
          <a:latin typeface="Verdana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lang="en-US" kern="1200">
          <a:solidFill>
            <a:schemeClr val="tx1"/>
          </a:solidFill>
          <a:latin typeface="Verdana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lang="en-US"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lang="en-US"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vimeo.com/21360799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6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tags" Target="../tags/tag20.xml"/><Relationship Id="rId18" Type="http://schemas.openxmlformats.org/officeDocument/2006/relationships/tags" Target="../tags/tag25.xml"/><Relationship Id="rId26" Type="http://schemas.openxmlformats.org/officeDocument/2006/relationships/tags" Target="../tags/tag33.xml"/><Relationship Id="rId3" Type="http://schemas.openxmlformats.org/officeDocument/2006/relationships/tags" Target="../tags/tag10.xml"/><Relationship Id="rId21" Type="http://schemas.openxmlformats.org/officeDocument/2006/relationships/tags" Target="../tags/tag28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17" Type="http://schemas.openxmlformats.org/officeDocument/2006/relationships/tags" Target="../tags/tag24.xml"/><Relationship Id="rId25" Type="http://schemas.openxmlformats.org/officeDocument/2006/relationships/tags" Target="../tags/tag32.xml"/><Relationship Id="rId2" Type="http://schemas.openxmlformats.org/officeDocument/2006/relationships/tags" Target="../tags/tag9.xml"/><Relationship Id="rId16" Type="http://schemas.openxmlformats.org/officeDocument/2006/relationships/tags" Target="../tags/tag23.xml"/><Relationship Id="rId20" Type="http://schemas.openxmlformats.org/officeDocument/2006/relationships/tags" Target="../tags/tag27.xml"/><Relationship Id="rId29" Type="http://schemas.openxmlformats.org/officeDocument/2006/relationships/slideLayout" Target="../slideLayouts/slideLayout64.xml"/><Relationship Id="rId1" Type="http://schemas.openxmlformats.org/officeDocument/2006/relationships/vmlDrawing" Target="../drawings/vmlDrawing2.v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24" Type="http://schemas.openxmlformats.org/officeDocument/2006/relationships/tags" Target="../tags/tag31.xml"/><Relationship Id="rId32" Type="http://schemas.openxmlformats.org/officeDocument/2006/relationships/image" Target="../media/image4.png"/><Relationship Id="rId5" Type="http://schemas.openxmlformats.org/officeDocument/2006/relationships/tags" Target="../tags/tag12.xml"/><Relationship Id="rId15" Type="http://schemas.openxmlformats.org/officeDocument/2006/relationships/tags" Target="../tags/tag22.xml"/><Relationship Id="rId23" Type="http://schemas.openxmlformats.org/officeDocument/2006/relationships/tags" Target="../tags/tag30.xml"/><Relationship Id="rId28" Type="http://schemas.openxmlformats.org/officeDocument/2006/relationships/tags" Target="../tags/tag35.xml"/><Relationship Id="rId10" Type="http://schemas.openxmlformats.org/officeDocument/2006/relationships/tags" Target="../tags/tag17.xml"/><Relationship Id="rId19" Type="http://schemas.openxmlformats.org/officeDocument/2006/relationships/tags" Target="../tags/tag26.xml"/><Relationship Id="rId31" Type="http://schemas.openxmlformats.org/officeDocument/2006/relationships/oleObject" Target="../embeddings/oleObject2.bin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tags" Target="../tags/tag21.xml"/><Relationship Id="rId22" Type="http://schemas.openxmlformats.org/officeDocument/2006/relationships/tags" Target="../tags/tag29.xml"/><Relationship Id="rId27" Type="http://schemas.openxmlformats.org/officeDocument/2006/relationships/tags" Target="../tags/tag34.xml"/><Relationship Id="rId30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tags" Target="../tags/tag37.xml"/><Relationship Id="rId7" Type="http://schemas.openxmlformats.org/officeDocument/2006/relationships/package" Target="../embeddings/Planilha_do_Microsoft_Excel1.xlsx"/><Relationship Id="rId2" Type="http://schemas.openxmlformats.org/officeDocument/2006/relationships/tags" Target="../tags/tag3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6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9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9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7.bin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9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8.bin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6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8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7.emf"/><Relationship Id="rId4" Type="http://schemas.openxmlformats.org/officeDocument/2006/relationships/oleObject" Target="file:///E:\Users\ehotta\Documents\Revis&#227;o%20Programa%20Terra%20Mar2011\Comex_Reaprova&#231;&#227;o%20P1%20-%20Implementa&#231;&#227;o%20_v2xlsx.xlsx!Plan2!L3C2:L20C5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8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8.emf"/><Relationship Id="rId4" Type="http://schemas.openxmlformats.org/officeDocument/2006/relationships/oleObject" Target="file:///E:\Users\ehotta\Documents\Revis&#227;o%20Programa%20Terra%20Mar2011\Comex_Reaprova&#231;&#227;o%20P1%20-%20Implementa&#231;&#227;o%20_v2xlsx.xlsx!Plan2!L3C7:L19C10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0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13" Type="http://schemas.openxmlformats.org/officeDocument/2006/relationships/tags" Target="../tags/tag59.xml"/><Relationship Id="rId18" Type="http://schemas.openxmlformats.org/officeDocument/2006/relationships/tags" Target="../tags/tag64.xml"/><Relationship Id="rId26" Type="http://schemas.openxmlformats.org/officeDocument/2006/relationships/tags" Target="../tags/tag72.xml"/><Relationship Id="rId3" Type="http://schemas.openxmlformats.org/officeDocument/2006/relationships/tags" Target="../tags/tag49.xml"/><Relationship Id="rId21" Type="http://schemas.openxmlformats.org/officeDocument/2006/relationships/tags" Target="../tags/tag67.xml"/><Relationship Id="rId7" Type="http://schemas.openxmlformats.org/officeDocument/2006/relationships/tags" Target="../tags/tag53.xml"/><Relationship Id="rId12" Type="http://schemas.openxmlformats.org/officeDocument/2006/relationships/tags" Target="../tags/tag58.xml"/><Relationship Id="rId17" Type="http://schemas.openxmlformats.org/officeDocument/2006/relationships/tags" Target="../tags/tag63.xml"/><Relationship Id="rId25" Type="http://schemas.openxmlformats.org/officeDocument/2006/relationships/tags" Target="../tags/tag71.xml"/><Relationship Id="rId2" Type="http://schemas.openxmlformats.org/officeDocument/2006/relationships/tags" Target="../tags/tag48.xml"/><Relationship Id="rId16" Type="http://schemas.openxmlformats.org/officeDocument/2006/relationships/tags" Target="../tags/tag62.xml"/><Relationship Id="rId20" Type="http://schemas.openxmlformats.org/officeDocument/2006/relationships/tags" Target="../tags/tag66.xml"/><Relationship Id="rId29" Type="http://schemas.openxmlformats.org/officeDocument/2006/relationships/slideLayout" Target="../slideLayouts/slideLayout64.xml"/><Relationship Id="rId1" Type="http://schemas.openxmlformats.org/officeDocument/2006/relationships/vmlDrawing" Target="../drawings/vmlDrawing11.vml"/><Relationship Id="rId6" Type="http://schemas.openxmlformats.org/officeDocument/2006/relationships/tags" Target="../tags/tag52.xml"/><Relationship Id="rId11" Type="http://schemas.openxmlformats.org/officeDocument/2006/relationships/tags" Target="../tags/tag57.xml"/><Relationship Id="rId24" Type="http://schemas.openxmlformats.org/officeDocument/2006/relationships/tags" Target="../tags/tag70.xml"/><Relationship Id="rId32" Type="http://schemas.openxmlformats.org/officeDocument/2006/relationships/image" Target="../media/image4.png"/><Relationship Id="rId5" Type="http://schemas.openxmlformats.org/officeDocument/2006/relationships/tags" Target="../tags/tag51.xml"/><Relationship Id="rId15" Type="http://schemas.openxmlformats.org/officeDocument/2006/relationships/tags" Target="../tags/tag61.xml"/><Relationship Id="rId23" Type="http://schemas.openxmlformats.org/officeDocument/2006/relationships/tags" Target="../tags/tag69.xml"/><Relationship Id="rId28" Type="http://schemas.openxmlformats.org/officeDocument/2006/relationships/tags" Target="../tags/tag74.xml"/><Relationship Id="rId10" Type="http://schemas.openxmlformats.org/officeDocument/2006/relationships/tags" Target="../tags/tag56.xml"/><Relationship Id="rId19" Type="http://schemas.openxmlformats.org/officeDocument/2006/relationships/tags" Target="../tags/tag65.xml"/><Relationship Id="rId31" Type="http://schemas.openxmlformats.org/officeDocument/2006/relationships/oleObject" Target="../embeddings/oleObject9.bin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4" Type="http://schemas.openxmlformats.org/officeDocument/2006/relationships/tags" Target="../tags/tag60.xml"/><Relationship Id="rId22" Type="http://schemas.openxmlformats.org/officeDocument/2006/relationships/tags" Target="../tags/tag68.xml"/><Relationship Id="rId27" Type="http://schemas.openxmlformats.org/officeDocument/2006/relationships/tags" Target="../tags/tag73.xml"/><Relationship Id="rId30" Type="http://schemas.openxmlformats.org/officeDocument/2006/relationships/notesSlide" Target="../notesSlides/notesSlide1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13" Type="http://schemas.openxmlformats.org/officeDocument/2006/relationships/tags" Target="../tags/tag86.xml"/><Relationship Id="rId18" Type="http://schemas.openxmlformats.org/officeDocument/2006/relationships/tags" Target="../tags/tag91.xml"/><Relationship Id="rId26" Type="http://schemas.openxmlformats.org/officeDocument/2006/relationships/tags" Target="../tags/tag99.xml"/><Relationship Id="rId39" Type="http://schemas.openxmlformats.org/officeDocument/2006/relationships/tags" Target="../tags/tag112.xml"/><Relationship Id="rId3" Type="http://schemas.openxmlformats.org/officeDocument/2006/relationships/tags" Target="../tags/tag76.xml"/><Relationship Id="rId21" Type="http://schemas.openxmlformats.org/officeDocument/2006/relationships/tags" Target="../tags/tag94.xml"/><Relationship Id="rId34" Type="http://schemas.openxmlformats.org/officeDocument/2006/relationships/tags" Target="../tags/tag107.xml"/><Relationship Id="rId42" Type="http://schemas.openxmlformats.org/officeDocument/2006/relationships/tags" Target="../tags/tag115.xml"/><Relationship Id="rId47" Type="http://schemas.openxmlformats.org/officeDocument/2006/relationships/oleObject" Target="../embeddings/oleObject10.bin"/><Relationship Id="rId7" Type="http://schemas.openxmlformats.org/officeDocument/2006/relationships/tags" Target="../tags/tag80.xml"/><Relationship Id="rId12" Type="http://schemas.openxmlformats.org/officeDocument/2006/relationships/tags" Target="../tags/tag85.xml"/><Relationship Id="rId17" Type="http://schemas.openxmlformats.org/officeDocument/2006/relationships/tags" Target="../tags/tag90.xml"/><Relationship Id="rId25" Type="http://schemas.openxmlformats.org/officeDocument/2006/relationships/tags" Target="../tags/tag98.xml"/><Relationship Id="rId33" Type="http://schemas.openxmlformats.org/officeDocument/2006/relationships/tags" Target="../tags/tag106.xml"/><Relationship Id="rId38" Type="http://schemas.openxmlformats.org/officeDocument/2006/relationships/tags" Target="../tags/tag111.xml"/><Relationship Id="rId46" Type="http://schemas.openxmlformats.org/officeDocument/2006/relationships/notesSlide" Target="../notesSlides/notesSlide16.xml"/><Relationship Id="rId2" Type="http://schemas.openxmlformats.org/officeDocument/2006/relationships/tags" Target="../tags/tag75.xml"/><Relationship Id="rId16" Type="http://schemas.openxmlformats.org/officeDocument/2006/relationships/tags" Target="../tags/tag89.xml"/><Relationship Id="rId20" Type="http://schemas.openxmlformats.org/officeDocument/2006/relationships/tags" Target="../tags/tag93.xml"/><Relationship Id="rId29" Type="http://schemas.openxmlformats.org/officeDocument/2006/relationships/tags" Target="../tags/tag102.xml"/><Relationship Id="rId41" Type="http://schemas.openxmlformats.org/officeDocument/2006/relationships/tags" Target="../tags/tag114.xml"/><Relationship Id="rId1" Type="http://schemas.openxmlformats.org/officeDocument/2006/relationships/vmlDrawing" Target="../drawings/vmlDrawing12.vml"/><Relationship Id="rId6" Type="http://schemas.openxmlformats.org/officeDocument/2006/relationships/tags" Target="../tags/tag79.xml"/><Relationship Id="rId11" Type="http://schemas.openxmlformats.org/officeDocument/2006/relationships/tags" Target="../tags/tag84.xml"/><Relationship Id="rId24" Type="http://schemas.openxmlformats.org/officeDocument/2006/relationships/tags" Target="../tags/tag97.xml"/><Relationship Id="rId32" Type="http://schemas.openxmlformats.org/officeDocument/2006/relationships/tags" Target="../tags/tag105.xml"/><Relationship Id="rId37" Type="http://schemas.openxmlformats.org/officeDocument/2006/relationships/tags" Target="../tags/tag110.xml"/><Relationship Id="rId40" Type="http://schemas.openxmlformats.org/officeDocument/2006/relationships/tags" Target="../tags/tag113.xml"/><Relationship Id="rId45" Type="http://schemas.openxmlformats.org/officeDocument/2006/relationships/slideLayout" Target="../slideLayouts/slideLayout64.xml"/><Relationship Id="rId5" Type="http://schemas.openxmlformats.org/officeDocument/2006/relationships/tags" Target="../tags/tag78.xml"/><Relationship Id="rId15" Type="http://schemas.openxmlformats.org/officeDocument/2006/relationships/tags" Target="../tags/tag88.xml"/><Relationship Id="rId23" Type="http://schemas.openxmlformats.org/officeDocument/2006/relationships/tags" Target="../tags/tag96.xml"/><Relationship Id="rId28" Type="http://schemas.openxmlformats.org/officeDocument/2006/relationships/tags" Target="../tags/tag101.xml"/><Relationship Id="rId36" Type="http://schemas.openxmlformats.org/officeDocument/2006/relationships/tags" Target="../tags/tag109.xml"/><Relationship Id="rId10" Type="http://schemas.openxmlformats.org/officeDocument/2006/relationships/tags" Target="../tags/tag83.xml"/><Relationship Id="rId19" Type="http://schemas.openxmlformats.org/officeDocument/2006/relationships/tags" Target="../tags/tag92.xml"/><Relationship Id="rId31" Type="http://schemas.openxmlformats.org/officeDocument/2006/relationships/tags" Target="../tags/tag104.xml"/><Relationship Id="rId44" Type="http://schemas.openxmlformats.org/officeDocument/2006/relationships/tags" Target="../tags/tag117.xml"/><Relationship Id="rId4" Type="http://schemas.openxmlformats.org/officeDocument/2006/relationships/tags" Target="../tags/tag77.xml"/><Relationship Id="rId9" Type="http://schemas.openxmlformats.org/officeDocument/2006/relationships/tags" Target="../tags/tag82.xml"/><Relationship Id="rId14" Type="http://schemas.openxmlformats.org/officeDocument/2006/relationships/tags" Target="../tags/tag87.xml"/><Relationship Id="rId22" Type="http://schemas.openxmlformats.org/officeDocument/2006/relationships/tags" Target="../tags/tag95.xml"/><Relationship Id="rId27" Type="http://schemas.openxmlformats.org/officeDocument/2006/relationships/tags" Target="../tags/tag100.xml"/><Relationship Id="rId30" Type="http://schemas.openxmlformats.org/officeDocument/2006/relationships/tags" Target="../tags/tag103.xml"/><Relationship Id="rId35" Type="http://schemas.openxmlformats.org/officeDocument/2006/relationships/tags" Target="../tags/tag108.xml"/><Relationship Id="rId43" Type="http://schemas.openxmlformats.org/officeDocument/2006/relationships/tags" Target="../tags/tag116.xml"/><Relationship Id="rId48" Type="http://schemas.openxmlformats.org/officeDocument/2006/relationships/image" Target="../media/image9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Planilha_do_Microsoft_Excel_97-20031.xls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0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6.xml"/><Relationship Id="rId4" Type="http://schemas.openxmlformats.org/officeDocument/2006/relationships/image" Target="../media/image24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extBox 7"/>
          <p:cNvSpPr txBox="1">
            <a:spLocks noChangeArrowheads="1"/>
          </p:cNvSpPr>
          <p:nvPr/>
        </p:nvSpPr>
        <p:spPr bwMode="auto">
          <a:xfrm>
            <a:off x="285814" y="2214563"/>
            <a:ext cx="3857625" cy="1046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80000"/>
            </a:pPr>
            <a:endParaRPr lang="pt-BR" sz="2400" dirty="0"/>
          </a:p>
          <a:p>
            <a:pPr>
              <a:buSzPct val="80000"/>
            </a:pPr>
            <a:r>
              <a:rPr lang="pt-BR" sz="2400" dirty="0" smtClean="0"/>
              <a:t>COMEX</a:t>
            </a:r>
          </a:p>
          <a:p>
            <a:pPr>
              <a:buSzPct val="80000"/>
            </a:pPr>
            <a:r>
              <a:rPr lang="pt-BR" sz="1400" dirty="0" smtClean="0"/>
              <a:t>28/03/2011</a:t>
            </a:r>
            <a:endParaRPr lang="pt-BR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74000" y="34926"/>
            <a:ext cx="1174750" cy="955675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  <a:effectLst/>
        </p:spPr>
      </p:pic>
      <p:sp>
        <p:nvSpPr>
          <p:cNvPr id="16387" name="Line 3"/>
          <p:cNvSpPr>
            <a:spLocks noChangeShapeType="1"/>
          </p:cNvSpPr>
          <p:nvPr/>
        </p:nvSpPr>
        <p:spPr bwMode="auto">
          <a:xfrm>
            <a:off x="0" y="720726"/>
            <a:ext cx="7956376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101600" y="34926"/>
            <a:ext cx="7772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0" hangingPunct="0"/>
            <a:r>
              <a:rPr lang="pt-BR" sz="2800" dirty="0" smtClean="0">
                <a:solidFill>
                  <a:schemeClr val="tx1"/>
                </a:solidFill>
              </a:rPr>
              <a:t>sumário executivo</a:t>
            </a:r>
            <a:endParaRPr lang="pt-BR" sz="2800" b="1" dirty="0">
              <a:solidFill>
                <a:schemeClr val="tx1"/>
              </a:solidFill>
            </a:endParaRPr>
          </a:p>
        </p:txBody>
      </p:sp>
      <p:sp>
        <p:nvSpPr>
          <p:cNvPr id="2" name="Retângulo 1"/>
          <p:cNvSpPr/>
          <p:nvPr/>
        </p:nvSpPr>
        <p:spPr bwMode="auto">
          <a:xfrm>
            <a:off x="0" y="1124745"/>
            <a:ext cx="9144000" cy="50405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Tx/>
              <a:buChar char="•"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solidFill>
                <a:schemeClr val="tx2"/>
              </a:solidFill>
              <a:effectLst/>
              <a:latin typeface="Verdana" pitchFamily="34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92264" y="838944"/>
            <a:ext cx="8956486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2B2B2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tIns="44450" rIns="45720" bIns="44450"/>
          <a:lstStyle/>
          <a:p>
            <a:pPr marL="342900" indent="-342900" algn="just">
              <a:spcBef>
                <a:spcPct val="65000"/>
              </a:spcBef>
              <a:buClr>
                <a:schemeClr val="tx1"/>
              </a:buClr>
              <a:buSzPct val="80000"/>
              <a:buAutoNum type="arabicPeriod"/>
            </a:pPr>
            <a:r>
              <a:rPr lang="pt-BR" sz="1600" b="1" dirty="0" smtClean="0">
                <a:solidFill>
                  <a:srgbClr val="000000"/>
                </a:solidFill>
                <a:cs typeface="Times New Roman" pitchFamily="18" charset="0"/>
              </a:rPr>
              <a:t>STATUS E IMPLEMENTAÇÃO: </a:t>
            </a:r>
          </a:p>
          <a:p>
            <a:pPr indent="-285750" algn="just">
              <a:spcBef>
                <a:spcPts val="0"/>
              </a:spcBef>
              <a:buClr>
                <a:schemeClr val="tx1"/>
              </a:buClr>
              <a:buSzPct val="80000"/>
              <a:buFontTx/>
              <a:buChar char="-"/>
            </a:pPr>
            <a:r>
              <a:rPr lang="pt-BR" sz="1400" dirty="0" smtClean="0">
                <a:solidFill>
                  <a:srgbClr val="595959"/>
                </a:solidFill>
                <a:cs typeface="Times New Roman" pitchFamily="18" charset="0"/>
              </a:rPr>
              <a:t>Projeto no último ciclo de testes integrados, com </a:t>
            </a:r>
            <a:r>
              <a:rPr lang="pt-BR" sz="1400" b="1" dirty="0" smtClean="0">
                <a:solidFill>
                  <a:srgbClr val="595959"/>
                </a:solidFill>
                <a:cs typeface="Times New Roman" pitchFamily="18" charset="0"/>
              </a:rPr>
              <a:t>SPI=96%</a:t>
            </a:r>
            <a:r>
              <a:rPr lang="pt-BR" sz="1400" dirty="0" smtClean="0">
                <a:solidFill>
                  <a:srgbClr val="595959"/>
                </a:solidFill>
                <a:cs typeface="Times New Roman" pitchFamily="18" charset="0"/>
              </a:rPr>
              <a:t>. Atividades de       </a:t>
            </a:r>
          </a:p>
          <a:p>
            <a:pPr algn="just">
              <a:spcBef>
                <a:spcPts val="0"/>
              </a:spcBef>
              <a:buClr>
                <a:schemeClr val="tx1"/>
              </a:buClr>
              <a:buSzPct val="80000"/>
            </a:pPr>
            <a:r>
              <a:rPr lang="pt-BR" sz="1400" dirty="0">
                <a:solidFill>
                  <a:srgbClr val="595959"/>
                </a:solidFill>
                <a:cs typeface="Times New Roman" pitchFamily="18" charset="0"/>
              </a:rPr>
              <a:t> </a:t>
            </a:r>
            <a:r>
              <a:rPr lang="pt-BR" sz="1400" dirty="0" smtClean="0">
                <a:solidFill>
                  <a:srgbClr val="595959"/>
                </a:solidFill>
                <a:cs typeface="Times New Roman" pitchFamily="18" charset="0"/>
              </a:rPr>
              <a:t>   preparação para a implementação envolvendo as áreas de negócio em andamento.</a:t>
            </a:r>
          </a:p>
          <a:p>
            <a:pPr indent="-285750" algn="just">
              <a:spcBef>
                <a:spcPts val="0"/>
              </a:spcBef>
              <a:buClr>
                <a:schemeClr val="tx1"/>
              </a:buClr>
              <a:buSzPct val="80000"/>
              <a:buFontTx/>
              <a:buChar char="-"/>
            </a:pPr>
            <a:r>
              <a:rPr lang="pt-BR" sz="1400" dirty="0" smtClean="0">
                <a:solidFill>
                  <a:srgbClr val="595959"/>
                </a:solidFill>
                <a:cs typeface="Times New Roman" pitchFamily="18" charset="0"/>
              </a:rPr>
              <a:t>Go-Live do Piloto previsto para </a:t>
            </a:r>
            <a:r>
              <a:rPr lang="pt-BR" sz="1400" b="1" dirty="0" smtClean="0">
                <a:solidFill>
                  <a:srgbClr val="595959"/>
                </a:solidFill>
                <a:cs typeface="Times New Roman" pitchFamily="18" charset="0"/>
              </a:rPr>
              <a:t>CD Canoas</a:t>
            </a:r>
            <a:r>
              <a:rPr lang="pt-BR" sz="1400" dirty="0" smtClean="0">
                <a:solidFill>
                  <a:srgbClr val="595959"/>
                </a:solidFill>
                <a:cs typeface="Times New Roman" pitchFamily="18" charset="0"/>
              </a:rPr>
              <a:t>, </a:t>
            </a:r>
            <a:r>
              <a:rPr lang="pt-BR" sz="1400" b="1" dirty="0" smtClean="0">
                <a:solidFill>
                  <a:srgbClr val="595959"/>
                </a:solidFill>
                <a:cs typeface="Times New Roman" pitchFamily="18" charset="0"/>
              </a:rPr>
              <a:t>GV Sol </a:t>
            </a:r>
            <a:r>
              <a:rPr lang="pt-BR" sz="1400" dirty="0" smtClean="0">
                <a:solidFill>
                  <a:srgbClr val="595959"/>
                </a:solidFill>
                <a:cs typeface="Times New Roman" pitchFamily="18" charset="0"/>
              </a:rPr>
              <a:t>(Curitiba) em </a:t>
            </a:r>
            <a:r>
              <a:rPr lang="pt-BR" sz="1400" b="1" dirty="0" smtClean="0">
                <a:solidFill>
                  <a:srgbClr val="595959"/>
                </a:solidFill>
                <a:cs typeface="Times New Roman" pitchFamily="18" charset="0"/>
              </a:rPr>
              <a:t>16/05</a:t>
            </a:r>
          </a:p>
          <a:p>
            <a:pPr indent="-285750" algn="just">
              <a:spcBef>
                <a:spcPts val="0"/>
              </a:spcBef>
              <a:buClr>
                <a:schemeClr val="tx1"/>
              </a:buClr>
              <a:buSzPct val="80000"/>
              <a:buFontTx/>
              <a:buChar char="-"/>
            </a:pPr>
            <a:r>
              <a:rPr lang="pt-BR" sz="1400" dirty="0" smtClean="0">
                <a:solidFill>
                  <a:srgbClr val="595959"/>
                </a:solidFill>
                <a:cs typeface="Times New Roman" pitchFamily="18" charset="0"/>
              </a:rPr>
              <a:t>Implementação requer parada temporária da captação e do SAP</a:t>
            </a:r>
          </a:p>
          <a:p>
            <a:pPr marL="742950" lvl="1" indent="-285750" algn="just">
              <a:spcBef>
                <a:spcPts val="0"/>
              </a:spcBef>
              <a:buClr>
                <a:schemeClr val="tx1"/>
              </a:buClr>
              <a:buSzPct val="80000"/>
              <a:buFont typeface="Courier New" pitchFamily="49" charset="0"/>
              <a:buChar char="o"/>
            </a:pPr>
            <a:r>
              <a:rPr lang="pt-BR" sz="1200" dirty="0" smtClean="0">
                <a:solidFill>
                  <a:srgbClr val="595959"/>
                </a:solidFill>
                <a:cs typeface="Times New Roman" pitchFamily="18" charset="0"/>
              </a:rPr>
              <a:t>Parada Brasil Captação em </a:t>
            </a:r>
            <a:r>
              <a:rPr lang="pt-BR" sz="1200" b="1" dirty="0" smtClean="0">
                <a:solidFill>
                  <a:srgbClr val="595959"/>
                </a:solidFill>
                <a:cs typeface="Times New Roman" pitchFamily="18" charset="0"/>
              </a:rPr>
              <a:t>07/05</a:t>
            </a:r>
          </a:p>
          <a:p>
            <a:pPr marL="742950" lvl="1" indent="-285750" algn="just">
              <a:spcBef>
                <a:spcPts val="0"/>
              </a:spcBef>
              <a:buClr>
                <a:schemeClr val="tx1"/>
              </a:buClr>
              <a:buSzPct val="80000"/>
              <a:buFont typeface="Courier New" pitchFamily="49" charset="0"/>
              <a:buChar char="o"/>
            </a:pPr>
            <a:r>
              <a:rPr lang="pt-BR" sz="1200" dirty="0" smtClean="0">
                <a:solidFill>
                  <a:srgbClr val="595959"/>
                </a:solidFill>
                <a:cs typeface="Times New Roman" pitchFamily="18" charset="0"/>
              </a:rPr>
              <a:t>Parada Brasil SAP em </a:t>
            </a:r>
            <a:r>
              <a:rPr lang="pt-BR" sz="1200" b="1" dirty="0" smtClean="0">
                <a:solidFill>
                  <a:srgbClr val="595959"/>
                </a:solidFill>
                <a:cs typeface="Times New Roman" pitchFamily="18" charset="0"/>
              </a:rPr>
              <a:t>14 e 15/05 </a:t>
            </a:r>
            <a:r>
              <a:rPr lang="pt-BR" sz="1200" dirty="0" smtClean="0">
                <a:solidFill>
                  <a:srgbClr val="595959"/>
                </a:solidFill>
                <a:cs typeface="Times New Roman" pitchFamily="18" charset="0"/>
              </a:rPr>
              <a:t>(captação opera normalmente)</a:t>
            </a:r>
          </a:p>
          <a:p>
            <a:pPr marL="742950" lvl="1" indent="-285750" algn="just">
              <a:spcBef>
                <a:spcPts val="0"/>
              </a:spcBef>
              <a:buClr>
                <a:schemeClr val="tx1"/>
              </a:buClr>
              <a:buSzPct val="80000"/>
              <a:buFont typeface="Courier New" pitchFamily="49" charset="0"/>
              <a:buChar char="o"/>
            </a:pPr>
            <a:r>
              <a:rPr lang="pt-BR" sz="1200" dirty="0" smtClean="0">
                <a:solidFill>
                  <a:srgbClr val="595959"/>
                </a:solidFill>
                <a:cs typeface="Times New Roman" pitchFamily="18" charset="0"/>
              </a:rPr>
              <a:t>Parada GV Sol em </a:t>
            </a:r>
            <a:r>
              <a:rPr lang="pt-BR" sz="1200" b="1" dirty="0" smtClean="0">
                <a:solidFill>
                  <a:srgbClr val="595959"/>
                </a:solidFill>
                <a:cs typeface="Times New Roman" pitchFamily="18" charset="0"/>
              </a:rPr>
              <a:t>14, 15 e 16/05</a:t>
            </a:r>
          </a:p>
          <a:p>
            <a:pPr marL="342900" indent="-342900" algn="just">
              <a:spcBef>
                <a:spcPct val="65000"/>
              </a:spcBef>
              <a:buClr>
                <a:schemeClr val="tx1"/>
              </a:buClr>
              <a:buSzPct val="80000"/>
              <a:buFont typeface="+mj-lt"/>
              <a:buAutoNum type="arabicPeriod" startAt="2"/>
            </a:pPr>
            <a:r>
              <a:rPr lang="pt-BR" sz="1600" b="1" dirty="0" smtClean="0">
                <a:solidFill>
                  <a:srgbClr val="000000"/>
                </a:solidFill>
                <a:cs typeface="Times New Roman" pitchFamily="18" charset="0"/>
              </a:rPr>
              <a:t>RISCOS INTERNOS AO PROJETO: </a:t>
            </a:r>
            <a:endParaRPr lang="pt-BR" sz="1600" b="1" dirty="0">
              <a:solidFill>
                <a:srgbClr val="000000"/>
              </a:solidFill>
              <a:cs typeface="Times New Roman" pitchFamily="18" charset="0"/>
            </a:endParaRPr>
          </a:p>
          <a:p>
            <a:pPr indent="-285750" algn="just">
              <a:spcBef>
                <a:spcPts val="0"/>
              </a:spcBef>
              <a:buClr>
                <a:schemeClr val="tx1"/>
              </a:buClr>
              <a:buSzPct val="80000"/>
              <a:buFontTx/>
              <a:buChar char="-"/>
            </a:pPr>
            <a:r>
              <a:rPr lang="pt-BR" sz="1400" dirty="0" smtClean="0">
                <a:solidFill>
                  <a:srgbClr val="595959"/>
                </a:solidFill>
                <a:cs typeface="Times New Roman" pitchFamily="18" charset="0"/>
              </a:rPr>
              <a:t>Não cumprimento do prazo de encerramento dos testes integrados e de regressão</a:t>
            </a:r>
          </a:p>
          <a:p>
            <a:pPr indent="-285750" algn="just">
              <a:spcBef>
                <a:spcPts val="0"/>
              </a:spcBef>
              <a:buClr>
                <a:schemeClr val="tx1"/>
              </a:buClr>
              <a:buSzPct val="80000"/>
              <a:buFontTx/>
              <a:buChar char="-"/>
            </a:pPr>
            <a:r>
              <a:rPr lang="pt-BR" sz="1400" dirty="0" smtClean="0">
                <a:solidFill>
                  <a:srgbClr val="595959"/>
                </a:solidFill>
                <a:cs typeface="Times New Roman" pitchFamily="18" charset="0"/>
              </a:rPr>
              <a:t>Redução no volume de testes para o Teste de regressão</a:t>
            </a:r>
          </a:p>
          <a:p>
            <a:pPr indent="-285750" algn="just">
              <a:spcBef>
                <a:spcPts val="0"/>
              </a:spcBef>
              <a:buClr>
                <a:schemeClr val="tx1"/>
              </a:buClr>
              <a:buSzPct val="80000"/>
              <a:buFontTx/>
              <a:buChar char="-"/>
            </a:pPr>
            <a:r>
              <a:rPr lang="pt-BR" sz="1400" dirty="0" smtClean="0">
                <a:solidFill>
                  <a:srgbClr val="595959"/>
                </a:solidFill>
                <a:cs typeface="Times New Roman" pitchFamily="18" charset="0"/>
              </a:rPr>
              <a:t>Performance aquém da meta em alguns processos da solução</a:t>
            </a:r>
          </a:p>
          <a:p>
            <a:pPr indent="-285750" algn="just">
              <a:spcBef>
                <a:spcPts val="0"/>
              </a:spcBef>
              <a:buClr>
                <a:schemeClr val="tx1"/>
              </a:buClr>
              <a:buSzPct val="80000"/>
              <a:buFontTx/>
              <a:buChar char="-"/>
            </a:pPr>
            <a:r>
              <a:rPr lang="pt-BR" sz="1400" dirty="0" smtClean="0">
                <a:solidFill>
                  <a:srgbClr val="595959"/>
                </a:solidFill>
                <a:cs typeface="Times New Roman" pitchFamily="18" charset="0"/>
              </a:rPr>
              <a:t>Resiliência do time do projeto para suportar a estratégia de implementação</a:t>
            </a:r>
          </a:p>
          <a:p>
            <a:pPr marL="342900" indent="-342900" algn="just">
              <a:spcBef>
                <a:spcPct val="65000"/>
              </a:spcBef>
              <a:buClr>
                <a:schemeClr val="tx1"/>
              </a:buClr>
              <a:buSzPct val="80000"/>
              <a:buFont typeface="+mj-lt"/>
              <a:buAutoNum type="arabicPeriod" startAt="3"/>
            </a:pPr>
            <a:r>
              <a:rPr lang="pt-BR" sz="1600" b="1" dirty="0" smtClean="0">
                <a:solidFill>
                  <a:srgbClr val="000000"/>
                </a:solidFill>
                <a:cs typeface="Times New Roman" pitchFamily="18" charset="0"/>
              </a:rPr>
              <a:t>PRINCIPAIS RISCOS NA IMPLANTAÇÃO: </a:t>
            </a:r>
            <a:r>
              <a:rPr lang="pt-BR" sz="1400" dirty="0" smtClean="0">
                <a:solidFill>
                  <a:srgbClr val="000000"/>
                </a:solidFill>
                <a:cs typeface="Times New Roman" pitchFamily="18" charset="0"/>
              </a:rPr>
              <a:t>Principais riscos mapeados e planos de mitigação em andamento</a:t>
            </a:r>
            <a:endParaRPr lang="pt-BR" sz="1400" b="1" dirty="0">
              <a:solidFill>
                <a:srgbClr val="000000"/>
              </a:solidFill>
              <a:cs typeface="Times New Roman" pitchFamily="18" charset="0"/>
            </a:endParaRPr>
          </a:p>
          <a:p>
            <a:pPr marL="342900" indent="-342900" algn="just">
              <a:spcBef>
                <a:spcPct val="65000"/>
              </a:spcBef>
              <a:buClr>
                <a:schemeClr val="tx1"/>
              </a:buClr>
              <a:buSzPct val="80000"/>
              <a:buFont typeface="+mj-lt"/>
              <a:buAutoNum type="arabicPeriod" startAt="3"/>
            </a:pPr>
            <a:r>
              <a:rPr lang="pt-BR" sz="1600" b="1" dirty="0" smtClean="0">
                <a:solidFill>
                  <a:srgbClr val="000000"/>
                </a:solidFill>
                <a:cs typeface="Times New Roman" pitchFamily="18" charset="0"/>
              </a:rPr>
              <a:t>APROVAÇÃO REPLANEJAMENTO DO P1: </a:t>
            </a:r>
            <a:endParaRPr lang="pt-BR" sz="1600" b="1" dirty="0">
              <a:solidFill>
                <a:srgbClr val="000000"/>
              </a:solidFill>
              <a:cs typeface="Times New Roman" pitchFamily="18" charset="0"/>
            </a:endParaRPr>
          </a:p>
          <a:p>
            <a:pPr indent="-285750" algn="just">
              <a:spcBef>
                <a:spcPts val="0"/>
              </a:spcBef>
              <a:buClr>
                <a:schemeClr val="tx1"/>
              </a:buClr>
              <a:buSzPct val="80000"/>
              <a:buFontTx/>
              <a:buChar char="-"/>
            </a:pPr>
            <a:r>
              <a:rPr lang="pt-BR" sz="1400" dirty="0" smtClean="0">
                <a:solidFill>
                  <a:srgbClr val="595959"/>
                </a:solidFill>
                <a:cs typeface="Times New Roman" pitchFamily="18" charset="0"/>
              </a:rPr>
              <a:t>Cálculo do novo VPL (</a:t>
            </a:r>
            <a:r>
              <a:rPr lang="pt-BR" sz="1400" b="1" dirty="0" smtClean="0">
                <a:solidFill>
                  <a:srgbClr val="595959"/>
                </a:solidFill>
                <a:cs typeface="Times New Roman" pitchFamily="18" charset="0"/>
              </a:rPr>
              <a:t>R$34MM</a:t>
            </a:r>
            <a:r>
              <a:rPr lang="pt-BR" sz="1400" dirty="0" smtClean="0">
                <a:solidFill>
                  <a:srgbClr val="595959"/>
                </a:solidFill>
                <a:cs typeface="Times New Roman" pitchFamily="18" charset="0"/>
              </a:rPr>
              <a:t>) considerando revisão do escopo original e variações de custos devido a nova estratégia de implementação: (</a:t>
            </a:r>
            <a:r>
              <a:rPr lang="pt-BR" sz="1400" b="1" dirty="0" smtClean="0">
                <a:solidFill>
                  <a:srgbClr val="595959"/>
                </a:solidFill>
                <a:cs typeface="Times New Roman" pitchFamily="18" charset="0"/>
              </a:rPr>
              <a:t>OPEX: +13,3MM CAPEX: +8MM, TOTAL: +21,3MM em 2011</a:t>
            </a:r>
            <a:r>
              <a:rPr lang="pt-BR" sz="1400" dirty="0">
                <a:solidFill>
                  <a:srgbClr val="595959"/>
                </a:solidFill>
                <a:cs typeface="Times New Roman" pitchFamily="18" charset="0"/>
              </a:rPr>
              <a:t>). Impacto no PNL Natura 2011 = </a:t>
            </a:r>
            <a:r>
              <a:rPr lang="pt-BR" sz="1400" b="1" dirty="0">
                <a:solidFill>
                  <a:srgbClr val="595959"/>
                </a:solidFill>
                <a:cs typeface="Times New Roman" pitchFamily="18" charset="0"/>
              </a:rPr>
              <a:t>+7,9MM</a:t>
            </a:r>
          </a:p>
          <a:p>
            <a:pPr indent="-285750" algn="just">
              <a:spcBef>
                <a:spcPts val="0"/>
              </a:spcBef>
              <a:buClr>
                <a:schemeClr val="tx1"/>
              </a:buClr>
              <a:buSzPct val="80000"/>
              <a:buFontTx/>
              <a:buChar char="-"/>
            </a:pPr>
            <a:endParaRPr lang="pt-BR" sz="1400" dirty="0" smtClean="0">
              <a:solidFill>
                <a:srgbClr val="595959"/>
              </a:solidFill>
              <a:cs typeface="Times New Roman" pitchFamily="18" charset="0"/>
            </a:endParaRPr>
          </a:p>
          <a:p>
            <a:pPr indent="-285750" algn="just">
              <a:spcBef>
                <a:spcPts val="0"/>
              </a:spcBef>
              <a:buClr>
                <a:schemeClr val="tx1"/>
              </a:buClr>
              <a:buSzPct val="80000"/>
              <a:buFontTx/>
              <a:buChar char="-"/>
            </a:pP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Ajuste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nas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metas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de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indicadores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conforme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definições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no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ciclo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do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pedido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:     </a:t>
            </a:r>
          </a:p>
          <a:p>
            <a:pPr indent="-285750" algn="just">
              <a:spcBef>
                <a:spcPts val="0"/>
              </a:spcBef>
              <a:buClr>
                <a:schemeClr val="tx1"/>
              </a:buClr>
              <a:buSzPct val="80000"/>
              <a:buFontTx/>
              <a:buChar char="-"/>
            </a:pP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Custo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do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Pedido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= R$25,76 e  NC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Serviços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= 0,95%</a:t>
            </a:r>
            <a:endParaRPr lang="pt-BR" sz="1400" dirty="0" smtClean="0">
              <a:solidFill>
                <a:srgbClr val="595959"/>
              </a:solidFill>
              <a:cs typeface="Times New Roman" pitchFamily="18" charset="0"/>
            </a:endParaRPr>
          </a:p>
          <a:p>
            <a:pPr indent="-285750" algn="just">
              <a:spcBef>
                <a:spcPts val="0"/>
              </a:spcBef>
              <a:buClr>
                <a:schemeClr val="tx1"/>
              </a:buClr>
              <a:buSzPct val="80000"/>
              <a:buFontTx/>
              <a:buChar char="-"/>
            </a:pP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Período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de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implantação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: </a:t>
            </a:r>
            <a:r>
              <a:rPr lang="en-US" sz="1400" b="1" dirty="0" err="1" smtClean="0">
                <a:solidFill>
                  <a:srgbClr val="595959"/>
                </a:solidFill>
                <a:cs typeface="Times New Roman" pitchFamily="18" charset="0"/>
              </a:rPr>
              <a:t>Maio</a:t>
            </a:r>
            <a:r>
              <a:rPr lang="en-US" sz="1400" b="1" dirty="0" smtClean="0">
                <a:solidFill>
                  <a:srgbClr val="595959"/>
                </a:solidFill>
                <a:cs typeface="Times New Roman" pitchFamily="18" charset="0"/>
              </a:rPr>
              <a:t>/11 – </a:t>
            </a:r>
            <a:r>
              <a:rPr lang="en-US" sz="1400" b="1" dirty="0" err="1" smtClean="0">
                <a:solidFill>
                  <a:srgbClr val="595959"/>
                </a:solidFill>
                <a:cs typeface="Times New Roman" pitchFamily="18" charset="0"/>
              </a:rPr>
              <a:t>Dez</a:t>
            </a:r>
            <a:r>
              <a:rPr lang="en-US" sz="1400" b="1" dirty="0" smtClean="0">
                <a:solidFill>
                  <a:srgbClr val="595959"/>
                </a:solidFill>
                <a:cs typeface="Times New Roman" pitchFamily="18" charset="0"/>
              </a:rPr>
              <a:t>/11</a:t>
            </a:r>
            <a:endParaRPr lang="en-US" sz="1400" b="1" dirty="0">
              <a:solidFill>
                <a:srgbClr val="595959"/>
              </a:solidFill>
              <a:cs typeface="Times New Roman" pitchFamily="18" charset="0"/>
            </a:endParaRPr>
          </a:p>
          <a:p>
            <a:pPr indent="-285750" algn="just">
              <a:spcBef>
                <a:spcPts val="0"/>
              </a:spcBef>
              <a:buClr>
                <a:schemeClr val="tx1"/>
              </a:buClr>
              <a:buSzPct val="80000"/>
              <a:buFontTx/>
              <a:buChar char="-"/>
            </a:pP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Postergação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da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implementação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das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regiões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SPC e SPI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vinculada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ao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CD SP,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não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considerado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</a:t>
            </a:r>
          </a:p>
          <a:p>
            <a:pPr algn="just">
              <a:spcBef>
                <a:spcPts val="0"/>
              </a:spcBef>
              <a:buClr>
                <a:schemeClr val="tx1"/>
              </a:buClr>
              <a:buSzPct val="80000"/>
            </a:pPr>
            <a:r>
              <a:rPr lang="en-US" sz="1400" dirty="0">
                <a:solidFill>
                  <a:srgbClr val="595959"/>
                </a:solidFill>
                <a:cs typeface="Times New Roman" pitchFamily="18" charset="0"/>
              </a:rPr>
              <a:t> 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  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nesta</a:t>
            </a:r>
            <a:r>
              <a:rPr lang="en-US" sz="1400" dirty="0" smtClean="0">
                <a:solidFill>
                  <a:srgbClr val="595959"/>
                </a:solidFill>
                <a:cs typeface="Times New Roman" pitchFamily="18" charset="0"/>
              </a:rPr>
              <a:t> </a:t>
            </a:r>
            <a:r>
              <a:rPr lang="en-US" sz="1400" dirty="0" err="1" smtClean="0">
                <a:solidFill>
                  <a:srgbClr val="595959"/>
                </a:solidFill>
                <a:cs typeface="Times New Roman" pitchFamily="18" charset="0"/>
              </a:rPr>
              <a:t>aprovação</a:t>
            </a:r>
            <a:endParaRPr lang="en-US" sz="1400" dirty="0" smtClean="0">
              <a:solidFill>
                <a:srgbClr val="595959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656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74000" y="34926"/>
            <a:ext cx="1174750" cy="955675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  <a:effectLst/>
        </p:spPr>
      </p:pic>
      <p:sp>
        <p:nvSpPr>
          <p:cNvPr id="16387" name="Line 3"/>
          <p:cNvSpPr>
            <a:spLocks noChangeShapeType="1"/>
          </p:cNvSpPr>
          <p:nvPr/>
        </p:nvSpPr>
        <p:spPr bwMode="auto">
          <a:xfrm>
            <a:off x="0" y="1052513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228600" y="304800"/>
            <a:ext cx="7772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0" hangingPunct="0"/>
            <a:r>
              <a:rPr lang="pt-BR" sz="2800" dirty="0" smtClean="0">
                <a:solidFill>
                  <a:schemeClr val="tx1"/>
                </a:solidFill>
              </a:rPr>
              <a:t>projetos do programa: </a:t>
            </a:r>
            <a:r>
              <a:rPr lang="pt-BR" sz="2800" b="1" dirty="0" smtClean="0">
                <a:solidFill>
                  <a:schemeClr val="tx1"/>
                </a:solidFill>
              </a:rPr>
              <a:t>escopo</a:t>
            </a:r>
            <a:endParaRPr lang="pt-BR" sz="2800" b="1" dirty="0">
              <a:solidFill>
                <a:schemeClr val="tx1"/>
              </a:solidFill>
            </a:endParaRPr>
          </a:p>
        </p:txBody>
      </p:sp>
      <p:sp>
        <p:nvSpPr>
          <p:cNvPr id="16389" name="Line 6"/>
          <p:cNvSpPr>
            <a:spLocks noChangeShapeType="1"/>
          </p:cNvSpPr>
          <p:nvPr/>
        </p:nvSpPr>
        <p:spPr bwMode="auto">
          <a:xfrm>
            <a:off x="438156" y="3016253"/>
            <a:ext cx="7250113" cy="1588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6390" name="Text Box 7"/>
          <p:cNvSpPr txBox="1">
            <a:spLocks noChangeArrowheads="1"/>
          </p:cNvSpPr>
          <p:nvPr/>
        </p:nvSpPr>
        <p:spPr bwMode="auto">
          <a:xfrm>
            <a:off x="209571" y="3017028"/>
            <a:ext cx="7631113" cy="246221"/>
          </a:xfrm>
          <a:prstGeom prst="rect">
            <a:avLst/>
          </a:prstGeom>
          <a:noFill/>
          <a:ln w="127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sz="1600" b="1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– Gestão Comercial do Ciclo –</a:t>
            </a:r>
          </a:p>
        </p:txBody>
      </p:sp>
      <p:sp>
        <p:nvSpPr>
          <p:cNvPr id="16391" name="AutoShape 8"/>
          <p:cNvSpPr>
            <a:spLocks noChangeArrowheads="1"/>
          </p:cNvSpPr>
          <p:nvPr/>
        </p:nvSpPr>
        <p:spPr bwMode="auto">
          <a:xfrm>
            <a:off x="2082801" y="1870113"/>
            <a:ext cx="1044575" cy="582613"/>
          </a:xfrm>
          <a:prstGeom prst="chevron">
            <a:avLst>
              <a:gd name="adj" fmla="val 18344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Promoção, Cota, Estoque</a:t>
            </a:r>
          </a:p>
        </p:txBody>
      </p:sp>
      <p:sp>
        <p:nvSpPr>
          <p:cNvPr id="16392" name="AutoShape 9"/>
          <p:cNvSpPr>
            <a:spLocks noChangeArrowheads="1"/>
          </p:cNvSpPr>
          <p:nvPr/>
        </p:nvSpPr>
        <p:spPr bwMode="auto">
          <a:xfrm>
            <a:off x="1041400" y="1870113"/>
            <a:ext cx="1138238" cy="582613"/>
          </a:xfrm>
          <a:prstGeom prst="chevron">
            <a:avLst>
              <a:gd name="adj" fmla="val 19971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Crédito</a:t>
            </a:r>
          </a:p>
        </p:txBody>
      </p:sp>
      <p:sp>
        <p:nvSpPr>
          <p:cNvPr id="16393" name="AutoShape 10"/>
          <p:cNvSpPr>
            <a:spLocks noChangeArrowheads="1"/>
          </p:cNvSpPr>
          <p:nvPr/>
        </p:nvSpPr>
        <p:spPr bwMode="auto">
          <a:xfrm>
            <a:off x="3032125" y="1870113"/>
            <a:ext cx="1023938" cy="582613"/>
          </a:xfrm>
          <a:prstGeom prst="chevron">
            <a:avLst>
              <a:gd name="adj" fmla="val 18934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Captação</a:t>
            </a:r>
          </a:p>
        </p:txBody>
      </p:sp>
      <p:sp>
        <p:nvSpPr>
          <p:cNvPr id="16394" name="AutoShape 11"/>
          <p:cNvSpPr>
            <a:spLocks noChangeArrowheads="1"/>
          </p:cNvSpPr>
          <p:nvPr/>
        </p:nvSpPr>
        <p:spPr bwMode="auto">
          <a:xfrm>
            <a:off x="8121650" y="1870113"/>
            <a:ext cx="1022350" cy="582613"/>
          </a:xfrm>
          <a:prstGeom prst="chevron">
            <a:avLst>
              <a:gd name="adj" fmla="val 21764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Pós Venda</a:t>
            </a:r>
          </a:p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CN/CNO/GR</a:t>
            </a:r>
          </a:p>
        </p:txBody>
      </p:sp>
      <p:sp>
        <p:nvSpPr>
          <p:cNvPr id="16395" name="AutoShape 12"/>
          <p:cNvSpPr>
            <a:spLocks noChangeArrowheads="1"/>
          </p:cNvSpPr>
          <p:nvPr/>
        </p:nvSpPr>
        <p:spPr bwMode="auto">
          <a:xfrm>
            <a:off x="14288" y="2489200"/>
            <a:ext cx="9040812" cy="141288"/>
          </a:xfrm>
          <a:prstGeom prst="chevron">
            <a:avLst>
              <a:gd name="adj" fmla="val 38808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Business Intelligence</a:t>
            </a:r>
          </a:p>
        </p:txBody>
      </p:sp>
      <p:sp>
        <p:nvSpPr>
          <p:cNvPr id="16396" name="AutoShape 13"/>
          <p:cNvSpPr>
            <a:spLocks noChangeArrowheads="1"/>
          </p:cNvSpPr>
          <p:nvPr/>
        </p:nvSpPr>
        <p:spPr bwMode="auto">
          <a:xfrm>
            <a:off x="3956114" y="1870113"/>
            <a:ext cx="1057275" cy="582613"/>
          </a:xfrm>
          <a:prstGeom prst="chevron">
            <a:avLst>
              <a:gd name="adj" fmla="val 19550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850" dirty="0">
                <a:solidFill>
                  <a:schemeClr val="bg1"/>
                </a:solidFill>
              </a:rPr>
              <a:t>Separação</a:t>
            </a:r>
          </a:p>
        </p:txBody>
      </p:sp>
      <p:sp>
        <p:nvSpPr>
          <p:cNvPr id="16397" name="AutoShape 14"/>
          <p:cNvSpPr>
            <a:spLocks noChangeArrowheads="1"/>
          </p:cNvSpPr>
          <p:nvPr/>
        </p:nvSpPr>
        <p:spPr bwMode="auto">
          <a:xfrm>
            <a:off x="4910138" y="1870113"/>
            <a:ext cx="1174750" cy="582613"/>
          </a:xfrm>
          <a:prstGeom prst="chevron">
            <a:avLst>
              <a:gd name="adj" fmla="val 21722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850" dirty="0">
                <a:solidFill>
                  <a:schemeClr val="bg1"/>
                </a:solidFill>
              </a:rPr>
              <a:t>Faturamento</a:t>
            </a:r>
          </a:p>
        </p:txBody>
      </p:sp>
      <p:sp>
        <p:nvSpPr>
          <p:cNvPr id="16398" name="AutoShape 15"/>
          <p:cNvSpPr>
            <a:spLocks noChangeArrowheads="1"/>
          </p:cNvSpPr>
          <p:nvPr/>
        </p:nvSpPr>
        <p:spPr bwMode="auto">
          <a:xfrm>
            <a:off x="5980138" y="1870113"/>
            <a:ext cx="1177925" cy="582613"/>
          </a:xfrm>
          <a:prstGeom prst="chevron">
            <a:avLst>
              <a:gd name="adj" fmla="val 21781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Transporte</a:t>
            </a:r>
          </a:p>
        </p:txBody>
      </p:sp>
      <p:sp>
        <p:nvSpPr>
          <p:cNvPr id="16399" name="AutoShape 16"/>
          <p:cNvSpPr>
            <a:spLocks noChangeArrowheads="1"/>
          </p:cNvSpPr>
          <p:nvPr/>
        </p:nvSpPr>
        <p:spPr bwMode="auto">
          <a:xfrm>
            <a:off x="7050090" y="1870113"/>
            <a:ext cx="1177925" cy="582613"/>
          </a:xfrm>
          <a:prstGeom prst="chevron">
            <a:avLst>
              <a:gd name="adj" fmla="val 21781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Cobrança</a:t>
            </a:r>
          </a:p>
        </p:txBody>
      </p:sp>
      <p:sp>
        <p:nvSpPr>
          <p:cNvPr id="16400" name="AutoShape 17"/>
          <p:cNvSpPr>
            <a:spLocks noChangeArrowheads="1"/>
          </p:cNvSpPr>
          <p:nvPr/>
        </p:nvSpPr>
        <p:spPr bwMode="auto">
          <a:xfrm>
            <a:off x="64" y="1870113"/>
            <a:ext cx="1139825" cy="582613"/>
          </a:xfrm>
          <a:prstGeom prst="chevron">
            <a:avLst>
              <a:gd name="adj" fmla="val 19999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Cadastro de </a:t>
            </a:r>
          </a:p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 Pessoas</a:t>
            </a:r>
          </a:p>
        </p:txBody>
      </p:sp>
      <p:sp>
        <p:nvSpPr>
          <p:cNvPr id="16401" name="AutoShape 18"/>
          <p:cNvSpPr>
            <a:spLocks noChangeArrowheads="1"/>
          </p:cNvSpPr>
          <p:nvPr/>
        </p:nvSpPr>
        <p:spPr bwMode="auto">
          <a:xfrm>
            <a:off x="2119325" y="3416338"/>
            <a:ext cx="1044575" cy="582613"/>
          </a:xfrm>
          <a:prstGeom prst="chevron">
            <a:avLst>
              <a:gd name="adj" fmla="val 18344"/>
            </a:avLst>
          </a:prstGeom>
          <a:solidFill>
            <a:srgbClr val="FFCC00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/>
            <a:r>
              <a:rPr lang="pt-BR" sz="1000" b="1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Treinamen-to (+EN)</a:t>
            </a:r>
          </a:p>
        </p:txBody>
      </p:sp>
      <p:sp>
        <p:nvSpPr>
          <p:cNvPr id="16402" name="AutoShape 19"/>
          <p:cNvSpPr>
            <a:spLocks noChangeArrowheads="1"/>
          </p:cNvSpPr>
          <p:nvPr/>
        </p:nvSpPr>
        <p:spPr bwMode="auto">
          <a:xfrm>
            <a:off x="1077930" y="3416338"/>
            <a:ext cx="1138237" cy="582613"/>
          </a:xfrm>
          <a:prstGeom prst="chevron">
            <a:avLst>
              <a:gd name="adj" fmla="val 19971"/>
            </a:avLst>
          </a:prstGeom>
          <a:solidFill>
            <a:srgbClr val="FFCC00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/>
            <a:r>
              <a:rPr lang="pt-BR" sz="1000" b="1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Início CN’s</a:t>
            </a:r>
          </a:p>
        </p:txBody>
      </p:sp>
      <p:sp>
        <p:nvSpPr>
          <p:cNvPr id="16403" name="AutoShape 20"/>
          <p:cNvSpPr>
            <a:spLocks noChangeArrowheads="1"/>
          </p:cNvSpPr>
          <p:nvPr/>
        </p:nvSpPr>
        <p:spPr bwMode="auto">
          <a:xfrm>
            <a:off x="3068640" y="3416338"/>
            <a:ext cx="1023937" cy="582613"/>
          </a:xfrm>
          <a:prstGeom prst="chevron">
            <a:avLst>
              <a:gd name="adj" fmla="val 18934"/>
            </a:avLst>
          </a:prstGeom>
          <a:solidFill>
            <a:srgbClr val="FFCC00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/>
            <a:r>
              <a:rPr lang="pt-BR" sz="1000" b="1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Relaciona-</a:t>
            </a:r>
          </a:p>
          <a:p>
            <a:pPr algn="ctr"/>
            <a:r>
              <a:rPr lang="pt-BR" sz="1000" b="1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mento</a:t>
            </a:r>
          </a:p>
        </p:txBody>
      </p:sp>
      <p:sp>
        <p:nvSpPr>
          <p:cNvPr id="16404" name="AutoShape 21"/>
          <p:cNvSpPr>
            <a:spLocks noChangeArrowheads="1"/>
          </p:cNvSpPr>
          <p:nvPr/>
        </p:nvSpPr>
        <p:spPr bwMode="auto">
          <a:xfrm>
            <a:off x="5003800" y="3416338"/>
            <a:ext cx="1174750" cy="582613"/>
          </a:xfrm>
          <a:prstGeom prst="chevron">
            <a:avLst>
              <a:gd name="adj" fmla="val 21722"/>
            </a:avLst>
          </a:prstGeom>
          <a:solidFill>
            <a:srgbClr val="FFCC00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/>
            <a:r>
              <a:rPr lang="pt-BR" sz="1000" b="1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Reconheci-mento</a:t>
            </a:r>
          </a:p>
        </p:txBody>
      </p:sp>
      <p:sp>
        <p:nvSpPr>
          <p:cNvPr id="16405" name="AutoShape 22"/>
          <p:cNvSpPr>
            <a:spLocks noChangeArrowheads="1"/>
          </p:cNvSpPr>
          <p:nvPr/>
        </p:nvSpPr>
        <p:spPr bwMode="auto">
          <a:xfrm>
            <a:off x="6084915" y="3416338"/>
            <a:ext cx="1177925" cy="582613"/>
          </a:xfrm>
          <a:prstGeom prst="chevron">
            <a:avLst>
              <a:gd name="adj" fmla="val 21781"/>
            </a:avLst>
          </a:prstGeom>
          <a:solidFill>
            <a:srgbClr val="FFCC00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/>
            <a:r>
              <a:rPr lang="pt-BR" sz="1000" b="1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Monitoramento Ciclo</a:t>
            </a:r>
          </a:p>
        </p:txBody>
      </p:sp>
      <p:sp>
        <p:nvSpPr>
          <p:cNvPr id="16406" name="AutoShape 23"/>
          <p:cNvSpPr>
            <a:spLocks noChangeArrowheads="1"/>
          </p:cNvSpPr>
          <p:nvPr/>
        </p:nvSpPr>
        <p:spPr bwMode="auto">
          <a:xfrm>
            <a:off x="7164398" y="3416338"/>
            <a:ext cx="1177925" cy="582613"/>
          </a:xfrm>
          <a:prstGeom prst="chevron">
            <a:avLst>
              <a:gd name="adj" fmla="val 21781"/>
            </a:avLst>
          </a:prstGeom>
          <a:solidFill>
            <a:srgbClr val="FFCC00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/>
            <a:r>
              <a:rPr lang="pt-BR" sz="1000" b="1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Análise de Desempenho de Vendas</a:t>
            </a:r>
          </a:p>
        </p:txBody>
      </p:sp>
      <p:sp>
        <p:nvSpPr>
          <p:cNvPr id="16407" name="Line 24"/>
          <p:cNvSpPr>
            <a:spLocks noChangeShapeType="1"/>
          </p:cNvSpPr>
          <p:nvPr/>
        </p:nvSpPr>
        <p:spPr bwMode="auto">
          <a:xfrm>
            <a:off x="468313" y="4357691"/>
            <a:ext cx="7250112" cy="1588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6408" name="Text Box 25"/>
          <p:cNvSpPr txBox="1">
            <a:spLocks noChangeArrowheads="1"/>
          </p:cNvSpPr>
          <p:nvPr/>
        </p:nvSpPr>
        <p:spPr bwMode="auto">
          <a:xfrm>
            <a:off x="254019" y="4401326"/>
            <a:ext cx="7631113" cy="246221"/>
          </a:xfrm>
          <a:prstGeom prst="rect">
            <a:avLst/>
          </a:prstGeom>
          <a:noFill/>
          <a:ln w="127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sz="1600" b="1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– Outros Ciclos de Pedido –</a:t>
            </a:r>
          </a:p>
        </p:txBody>
      </p:sp>
      <p:sp>
        <p:nvSpPr>
          <p:cNvPr id="16409" name="AutoShape 26"/>
          <p:cNvSpPr>
            <a:spLocks noChangeArrowheads="1"/>
          </p:cNvSpPr>
          <p:nvPr/>
        </p:nvSpPr>
        <p:spPr bwMode="auto">
          <a:xfrm>
            <a:off x="2082801" y="4856164"/>
            <a:ext cx="1044575" cy="582612"/>
          </a:xfrm>
          <a:prstGeom prst="chevron">
            <a:avLst>
              <a:gd name="adj" fmla="val 18344"/>
            </a:avLst>
          </a:prstGeom>
          <a:solidFill>
            <a:srgbClr val="FFCC00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/>
            <a:r>
              <a:rPr lang="pt-BR" sz="1000" b="1" dirty="0" smtClean="0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Captação</a:t>
            </a:r>
            <a:endParaRPr lang="pt-BR" sz="1000" b="1" dirty="0">
              <a:solidFill>
                <a:schemeClr val="tx1"/>
              </a:solidFill>
              <a:latin typeface="Arial" charset="0"/>
              <a:ea typeface="ＭＳ Ｐゴシック" pitchFamily="62" charset="-128"/>
            </a:endParaRPr>
          </a:p>
        </p:txBody>
      </p:sp>
      <p:sp>
        <p:nvSpPr>
          <p:cNvPr id="16410" name="AutoShape 27"/>
          <p:cNvSpPr>
            <a:spLocks noChangeArrowheads="1"/>
          </p:cNvSpPr>
          <p:nvPr/>
        </p:nvSpPr>
        <p:spPr bwMode="auto">
          <a:xfrm>
            <a:off x="3032125" y="4856164"/>
            <a:ext cx="1023938" cy="582612"/>
          </a:xfrm>
          <a:prstGeom prst="chevron">
            <a:avLst>
              <a:gd name="adj" fmla="val 18934"/>
            </a:avLst>
          </a:prstGeom>
          <a:solidFill>
            <a:srgbClr val="FFCC00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/>
            <a:r>
              <a:rPr lang="pt-BR" sz="1000" b="1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Separação</a:t>
            </a:r>
          </a:p>
        </p:txBody>
      </p:sp>
      <p:sp>
        <p:nvSpPr>
          <p:cNvPr id="16411" name="AutoShape 28"/>
          <p:cNvSpPr>
            <a:spLocks noChangeArrowheads="1"/>
          </p:cNvSpPr>
          <p:nvPr/>
        </p:nvSpPr>
        <p:spPr bwMode="auto">
          <a:xfrm>
            <a:off x="3956114" y="4856164"/>
            <a:ext cx="1057275" cy="582612"/>
          </a:xfrm>
          <a:prstGeom prst="chevron">
            <a:avLst>
              <a:gd name="adj" fmla="val 19550"/>
            </a:avLst>
          </a:prstGeom>
          <a:solidFill>
            <a:srgbClr val="FFCC00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/>
            <a:r>
              <a:rPr lang="pt-BR" sz="1000" b="1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Faturamento</a:t>
            </a:r>
          </a:p>
        </p:txBody>
      </p:sp>
      <p:sp>
        <p:nvSpPr>
          <p:cNvPr id="16412" name="AutoShape 29"/>
          <p:cNvSpPr>
            <a:spLocks noChangeArrowheads="1"/>
          </p:cNvSpPr>
          <p:nvPr/>
        </p:nvSpPr>
        <p:spPr bwMode="auto">
          <a:xfrm>
            <a:off x="4910138" y="4856164"/>
            <a:ext cx="1174750" cy="582612"/>
          </a:xfrm>
          <a:prstGeom prst="chevron">
            <a:avLst>
              <a:gd name="adj" fmla="val 21722"/>
            </a:avLst>
          </a:prstGeom>
          <a:solidFill>
            <a:srgbClr val="FFCC00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/>
            <a:r>
              <a:rPr lang="pt-BR" sz="1000" b="1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Transporte</a:t>
            </a:r>
          </a:p>
        </p:txBody>
      </p:sp>
      <p:sp>
        <p:nvSpPr>
          <p:cNvPr id="16413" name="AutoShape 30"/>
          <p:cNvSpPr>
            <a:spLocks noChangeArrowheads="1"/>
          </p:cNvSpPr>
          <p:nvPr/>
        </p:nvSpPr>
        <p:spPr bwMode="auto">
          <a:xfrm>
            <a:off x="5989638" y="4862513"/>
            <a:ext cx="1174750" cy="582612"/>
          </a:xfrm>
          <a:prstGeom prst="chevron">
            <a:avLst>
              <a:gd name="adj" fmla="val 21722"/>
            </a:avLst>
          </a:prstGeom>
          <a:solidFill>
            <a:srgbClr val="FFCC00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/>
            <a:r>
              <a:rPr lang="pt-BR" sz="1000" b="1" dirty="0" smtClean="0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SNAC</a:t>
            </a:r>
            <a:endParaRPr lang="pt-BR" sz="1000" b="1" dirty="0">
              <a:solidFill>
                <a:schemeClr val="tx1"/>
              </a:solidFill>
              <a:latin typeface="Arial" charset="0"/>
              <a:ea typeface="ＭＳ Ｐゴシック" pitchFamily="62" charset="-128"/>
            </a:endParaRPr>
          </a:p>
        </p:txBody>
      </p:sp>
      <p:sp>
        <p:nvSpPr>
          <p:cNvPr id="16414" name="Rectangle 31"/>
          <p:cNvSpPr>
            <a:spLocks noChangeArrowheads="1"/>
          </p:cNvSpPr>
          <p:nvPr/>
        </p:nvSpPr>
        <p:spPr bwMode="auto">
          <a:xfrm>
            <a:off x="0" y="1196987"/>
            <a:ext cx="9144000" cy="1649413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6415" name="AutoShape 32"/>
          <p:cNvSpPr>
            <a:spLocks noChangeAspect="1" noChangeArrowheads="1" noTextEdit="1"/>
          </p:cNvSpPr>
          <p:nvPr/>
        </p:nvSpPr>
        <p:spPr bwMode="auto">
          <a:xfrm>
            <a:off x="236538" y="6092825"/>
            <a:ext cx="1674812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6416" name="Rectangle 34"/>
          <p:cNvSpPr>
            <a:spLocks noChangeArrowheads="1"/>
          </p:cNvSpPr>
          <p:nvPr/>
        </p:nvSpPr>
        <p:spPr bwMode="auto">
          <a:xfrm>
            <a:off x="242888" y="6413539"/>
            <a:ext cx="1663700" cy="157163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6417" name="Rectangle 35"/>
          <p:cNvSpPr>
            <a:spLocks noChangeArrowheads="1"/>
          </p:cNvSpPr>
          <p:nvPr/>
        </p:nvSpPr>
        <p:spPr bwMode="auto">
          <a:xfrm>
            <a:off x="242888" y="6570666"/>
            <a:ext cx="1663700" cy="166687"/>
          </a:xfrm>
          <a:prstGeom prst="rect">
            <a:avLst/>
          </a:prstGeom>
          <a:solidFill>
            <a:srgbClr val="FFCC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6418" name="Rectangle 36"/>
          <p:cNvSpPr>
            <a:spLocks noChangeArrowheads="1"/>
          </p:cNvSpPr>
          <p:nvPr/>
        </p:nvSpPr>
        <p:spPr bwMode="auto">
          <a:xfrm>
            <a:off x="1031123" y="6102350"/>
            <a:ext cx="155492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b="1">
                <a:solidFill>
                  <a:srgbClr val="000000"/>
                </a:solidFill>
                <a:latin typeface="Arial" charset="0"/>
                <a:ea typeface="ＭＳ Ｐゴシック" pitchFamily="62" charset="-128"/>
              </a:rPr>
              <a:t>P2</a:t>
            </a:r>
            <a:endParaRPr lang="pt-BR" sz="2000">
              <a:solidFill>
                <a:schemeClr val="tx1"/>
              </a:solidFill>
              <a:latin typeface="Arial" charset="0"/>
              <a:ea typeface="ＭＳ Ｐゴシック" pitchFamily="62" charset="-128"/>
            </a:endParaRPr>
          </a:p>
        </p:txBody>
      </p:sp>
      <p:sp>
        <p:nvSpPr>
          <p:cNvPr id="16419" name="Rectangle 38"/>
          <p:cNvSpPr>
            <a:spLocks noChangeArrowheads="1"/>
          </p:cNvSpPr>
          <p:nvPr/>
        </p:nvSpPr>
        <p:spPr bwMode="auto">
          <a:xfrm>
            <a:off x="583887" y="6419850"/>
            <a:ext cx="1049966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dirty="0">
                <a:solidFill>
                  <a:srgbClr val="FFFFFF"/>
                </a:solidFill>
                <a:latin typeface="Arial" charset="0"/>
                <a:ea typeface="ＭＳ Ｐゴシック" pitchFamily="62" charset="-128"/>
              </a:rPr>
              <a:t>Mai-11 até Dez-11</a:t>
            </a:r>
            <a:endParaRPr lang="pt-BR" sz="2000" dirty="0">
              <a:solidFill>
                <a:schemeClr val="tx1"/>
              </a:solidFill>
              <a:latin typeface="Arial" charset="0"/>
              <a:ea typeface="ＭＳ Ｐゴシック" pitchFamily="62" charset="-128"/>
            </a:endParaRPr>
          </a:p>
        </p:txBody>
      </p:sp>
      <p:sp>
        <p:nvSpPr>
          <p:cNvPr id="16420" name="Rectangle 39"/>
          <p:cNvSpPr>
            <a:spLocks noChangeArrowheads="1"/>
          </p:cNvSpPr>
          <p:nvPr/>
        </p:nvSpPr>
        <p:spPr bwMode="auto">
          <a:xfrm>
            <a:off x="965487" y="6573837"/>
            <a:ext cx="282129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>
                <a:solidFill>
                  <a:srgbClr val="000000"/>
                </a:solidFill>
                <a:latin typeface="Arial" charset="0"/>
                <a:ea typeface="ＭＳ Ｐゴシック" pitchFamily="62" charset="-128"/>
              </a:rPr>
              <a:t>2012</a:t>
            </a:r>
            <a:endParaRPr lang="pt-BR" sz="2000">
              <a:solidFill>
                <a:schemeClr val="tx1"/>
              </a:solidFill>
              <a:latin typeface="Arial" charset="0"/>
              <a:ea typeface="ＭＳ Ｐゴシック" pitchFamily="62" charset="-128"/>
            </a:endParaRPr>
          </a:p>
        </p:txBody>
      </p:sp>
      <p:sp>
        <p:nvSpPr>
          <p:cNvPr id="16421" name="Rectangle 40"/>
          <p:cNvSpPr>
            <a:spLocks noChangeArrowheads="1"/>
          </p:cNvSpPr>
          <p:nvPr/>
        </p:nvSpPr>
        <p:spPr bwMode="auto">
          <a:xfrm>
            <a:off x="230188" y="6086475"/>
            <a:ext cx="25400" cy="66198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6422" name="Rectangle 41"/>
          <p:cNvSpPr>
            <a:spLocks noChangeArrowheads="1"/>
          </p:cNvSpPr>
          <p:nvPr/>
        </p:nvSpPr>
        <p:spPr bwMode="auto">
          <a:xfrm>
            <a:off x="1892300" y="6111875"/>
            <a:ext cx="25400" cy="63658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6423" name="Rectangle 42"/>
          <p:cNvSpPr>
            <a:spLocks noChangeArrowheads="1"/>
          </p:cNvSpPr>
          <p:nvPr/>
        </p:nvSpPr>
        <p:spPr bwMode="auto">
          <a:xfrm>
            <a:off x="255588" y="6086475"/>
            <a:ext cx="1662112" cy="2540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6424" name="Rectangle 44"/>
          <p:cNvSpPr>
            <a:spLocks noChangeArrowheads="1"/>
          </p:cNvSpPr>
          <p:nvPr/>
        </p:nvSpPr>
        <p:spPr bwMode="auto">
          <a:xfrm>
            <a:off x="255588" y="6249989"/>
            <a:ext cx="1636712" cy="1270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6425" name="Rectangle 46"/>
          <p:cNvSpPr>
            <a:spLocks noChangeArrowheads="1"/>
          </p:cNvSpPr>
          <p:nvPr/>
        </p:nvSpPr>
        <p:spPr bwMode="auto">
          <a:xfrm>
            <a:off x="255588" y="6407188"/>
            <a:ext cx="1636712" cy="1111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6426" name="Line 47"/>
          <p:cNvSpPr>
            <a:spLocks noChangeShapeType="1"/>
          </p:cNvSpPr>
          <p:nvPr/>
        </p:nvSpPr>
        <p:spPr bwMode="auto">
          <a:xfrm>
            <a:off x="255588" y="6564317"/>
            <a:ext cx="1636712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6427" name="Rectangle 48"/>
          <p:cNvSpPr>
            <a:spLocks noChangeArrowheads="1"/>
          </p:cNvSpPr>
          <p:nvPr/>
        </p:nvSpPr>
        <p:spPr bwMode="auto">
          <a:xfrm>
            <a:off x="255588" y="6564313"/>
            <a:ext cx="1636712" cy="11112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6428" name="Rectangle 49"/>
          <p:cNvSpPr>
            <a:spLocks noChangeArrowheads="1"/>
          </p:cNvSpPr>
          <p:nvPr/>
        </p:nvSpPr>
        <p:spPr bwMode="auto">
          <a:xfrm>
            <a:off x="255588" y="6723063"/>
            <a:ext cx="1662112" cy="2540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6429" name="Text Box 50"/>
          <p:cNvSpPr txBox="1">
            <a:spLocks noChangeArrowheads="1"/>
          </p:cNvSpPr>
          <p:nvPr/>
        </p:nvSpPr>
        <p:spPr bwMode="auto">
          <a:xfrm>
            <a:off x="425514" y="1267602"/>
            <a:ext cx="7631113" cy="246221"/>
          </a:xfrm>
          <a:prstGeom prst="rect">
            <a:avLst/>
          </a:prstGeom>
          <a:noFill/>
          <a:ln w="127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sz="1600" b="1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– Ciclo do Pedido CN –</a:t>
            </a:r>
          </a:p>
        </p:txBody>
      </p:sp>
      <p:sp>
        <p:nvSpPr>
          <p:cNvPr id="16430" name="AutoShape 51"/>
          <p:cNvSpPr>
            <a:spLocks noChangeArrowheads="1"/>
          </p:cNvSpPr>
          <p:nvPr/>
        </p:nvSpPr>
        <p:spPr bwMode="auto">
          <a:xfrm>
            <a:off x="34989" y="1700238"/>
            <a:ext cx="9040813" cy="141287"/>
          </a:xfrm>
          <a:prstGeom prst="chevron">
            <a:avLst>
              <a:gd name="adj" fmla="val 38808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Planejamento</a:t>
            </a:r>
          </a:p>
        </p:txBody>
      </p:sp>
      <p:sp>
        <p:nvSpPr>
          <p:cNvPr id="16431" name="AutoShape 52"/>
          <p:cNvSpPr>
            <a:spLocks noChangeArrowheads="1"/>
          </p:cNvSpPr>
          <p:nvPr/>
        </p:nvSpPr>
        <p:spPr bwMode="auto">
          <a:xfrm>
            <a:off x="4052952" y="3429023"/>
            <a:ext cx="1023937" cy="582613"/>
          </a:xfrm>
          <a:prstGeom prst="chevron">
            <a:avLst>
              <a:gd name="adj" fmla="val 18934"/>
            </a:avLst>
          </a:prstGeom>
          <a:solidFill>
            <a:srgbClr val="FFCC00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/>
            <a:r>
              <a:rPr lang="pt-BR" sz="1000" b="1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Incentivo</a:t>
            </a:r>
          </a:p>
        </p:txBody>
      </p:sp>
      <p:sp>
        <p:nvSpPr>
          <p:cNvPr id="16432" name="Text Box 53"/>
          <p:cNvSpPr txBox="1">
            <a:spLocks noChangeArrowheads="1"/>
          </p:cNvSpPr>
          <p:nvPr/>
        </p:nvSpPr>
        <p:spPr bwMode="auto">
          <a:xfrm>
            <a:off x="2916239" y="6165889"/>
            <a:ext cx="285656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SzPct val="80000"/>
              <a:buFontTx/>
              <a:buChar char="•"/>
            </a:pPr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Arrow 4"/>
          <p:cNvSpPr/>
          <p:nvPr/>
        </p:nvSpPr>
        <p:spPr>
          <a:xfrm>
            <a:off x="11138" y="503239"/>
            <a:ext cx="9132887" cy="3475037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>
              <a:defRPr/>
            </a:pPr>
            <a:endParaRPr lang="pt-BR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20650" y="1508163"/>
            <a:ext cx="1593850" cy="1463675"/>
            <a:chOff x="359803" y="709107"/>
            <a:chExt cx="1594520" cy="945477"/>
          </a:xfrm>
        </p:grpSpPr>
        <p:sp>
          <p:nvSpPr>
            <p:cNvPr id="22" name="Rounded Rectangle 21"/>
            <p:cNvSpPr/>
            <p:nvPr/>
          </p:nvSpPr>
          <p:spPr>
            <a:xfrm>
              <a:off x="359803" y="709107"/>
              <a:ext cx="1594520" cy="945477"/>
            </a:xfrm>
            <a:prstGeom prst="round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23" name="Rounded Rectangle 4"/>
            <p:cNvSpPr/>
            <p:nvPr/>
          </p:nvSpPr>
          <p:spPr>
            <a:xfrm>
              <a:off x="405860" y="754227"/>
              <a:ext cx="1502406" cy="8552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30480" tIns="30480" rIns="30480" bIns="30480" spcCol="1270" anchor="ctr"/>
            <a:lstStyle/>
            <a:p>
              <a:pPr algn="ctr" defTabSz="3556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800" b="1" dirty="0">
                  <a:solidFill>
                    <a:srgbClr val="FFFFFF"/>
                  </a:solidFill>
                </a:rPr>
                <a:t>PLANEJAMENTO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1762133" y="1508163"/>
            <a:ext cx="1666875" cy="1463675"/>
            <a:chOff x="2027903" y="709107"/>
            <a:chExt cx="1781700" cy="945477"/>
          </a:xfrm>
        </p:grpSpPr>
        <p:sp>
          <p:nvSpPr>
            <p:cNvPr id="20" name="Rounded Rectangle 19"/>
            <p:cNvSpPr/>
            <p:nvPr/>
          </p:nvSpPr>
          <p:spPr>
            <a:xfrm>
              <a:off x="2027903" y="709107"/>
              <a:ext cx="1781700" cy="945477"/>
            </a:xfrm>
            <a:prstGeom prst="round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21" name="Rounded Rectangle 6"/>
            <p:cNvSpPr/>
            <p:nvPr/>
          </p:nvSpPr>
          <p:spPr>
            <a:xfrm>
              <a:off x="2073719" y="754227"/>
              <a:ext cx="1690070" cy="8552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34290" tIns="34290" rIns="34290" bIns="34290" spcCol="1270" anchor="ctr"/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800" b="1" dirty="0">
                  <a:solidFill>
                    <a:srgbClr val="FFFFFF"/>
                  </a:solidFill>
                </a:rPr>
                <a:t>ANÁLISE</a:t>
              </a:r>
            </a:p>
            <a:p>
              <a:pPr algn="ctr" defTabSz="4000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800" b="1" dirty="0">
                  <a:solidFill>
                    <a:srgbClr val="FFFFFF"/>
                  </a:solidFill>
                </a:rPr>
                <a:t>(BLUEPRINT)</a:t>
              </a:r>
            </a:p>
          </p:txBody>
        </p:sp>
      </p:grpSp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3505264" y="1524038"/>
            <a:ext cx="1590675" cy="441325"/>
            <a:chOff x="3874205" y="715570"/>
            <a:chExt cx="1823014" cy="440582"/>
          </a:xfrm>
        </p:grpSpPr>
        <p:sp>
          <p:nvSpPr>
            <p:cNvPr id="18" name="Rounded Rectangle 17"/>
            <p:cNvSpPr/>
            <p:nvPr/>
          </p:nvSpPr>
          <p:spPr>
            <a:xfrm>
              <a:off x="3874205" y="715570"/>
              <a:ext cx="1823014" cy="440582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19" name="Rounded Rectangle 8"/>
            <p:cNvSpPr/>
            <p:nvPr/>
          </p:nvSpPr>
          <p:spPr>
            <a:xfrm>
              <a:off x="3894219" y="737758"/>
              <a:ext cx="1782988" cy="39620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30480" tIns="30480" rIns="30480" bIns="30480" spcCol="1270" anchor="ctr"/>
            <a:lstStyle/>
            <a:p>
              <a:pPr algn="ctr" defTabSz="3556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700" b="1" dirty="0">
                  <a:solidFill>
                    <a:srgbClr val="FFFFFF"/>
                  </a:solidFill>
                </a:rPr>
                <a:t>DESENHO</a:t>
              </a:r>
            </a:p>
          </p:txBody>
        </p:sp>
      </p:grpSp>
      <p:grpSp>
        <p:nvGrpSpPr>
          <p:cNvPr id="6" name="Group 8"/>
          <p:cNvGrpSpPr>
            <a:grpSpLocks/>
          </p:cNvGrpSpPr>
          <p:nvPr/>
        </p:nvGrpSpPr>
        <p:grpSpPr bwMode="auto">
          <a:xfrm>
            <a:off x="3657664" y="2057400"/>
            <a:ext cx="1666875" cy="439738"/>
            <a:chOff x="4038860" y="1204802"/>
            <a:chExt cx="1803107" cy="440592"/>
          </a:xfrm>
        </p:grpSpPr>
        <p:sp>
          <p:nvSpPr>
            <p:cNvPr id="16" name="Rounded Rectangle 15"/>
            <p:cNvSpPr/>
            <p:nvPr/>
          </p:nvSpPr>
          <p:spPr>
            <a:xfrm>
              <a:off x="4038860" y="1204802"/>
              <a:ext cx="1803107" cy="440592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17" name="Rounded Rectangle 10"/>
            <p:cNvSpPr/>
            <p:nvPr/>
          </p:nvSpPr>
          <p:spPr>
            <a:xfrm>
              <a:off x="4059467" y="1227070"/>
              <a:ext cx="1761893" cy="3960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30480" tIns="30480" rIns="30480" bIns="30480" spcCol="1270" anchor="ctr"/>
            <a:lstStyle/>
            <a:p>
              <a:pPr algn="ctr" defTabSz="3556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700" b="1" dirty="0">
                  <a:solidFill>
                    <a:srgbClr val="FFFFFF"/>
                  </a:solidFill>
                </a:rPr>
                <a:t>CONSTRUÇÃO</a:t>
              </a:r>
            </a:p>
          </p:txBody>
        </p:sp>
      </p:grp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5445481" y="1514903"/>
            <a:ext cx="869615" cy="1010812"/>
            <a:chOff x="5885537" y="760504"/>
            <a:chExt cx="690941" cy="839697"/>
          </a:xfrm>
          <a:solidFill>
            <a:srgbClr val="FF0000"/>
          </a:solidFill>
        </p:grpSpPr>
        <p:sp>
          <p:nvSpPr>
            <p:cNvPr id="14" name="Rounded Rectangle 13"/>
            <p:cNvSpPr/>
            <p:nvPr/>
          </p:nvSpPr>
          <p:spPr>
            <a:xfrm>
              <a:off x="5900505" y="760504"/>
              <a:ext cx="675973" cy="839697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15" name="Rounded Rectangle 12"/>
            <p:cNvSpPr/>
            <p:nvPr/>
          </p:nvSpPr>
          <p:spPr>
            <a:xfrm>
              <a:off x="5885537" y="794994"/>
              <a:ext cx="655246" cy="77071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34290" tIns="34290" rIns="34290" bIns="34290" spcCol="1270" anchor="ctr"/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700" b="1" dirty="0">
                  <a:solidFill>
                    <a:srgbClr val="FFFFFF"/>
                  </a:solidFill>
                </a:rPr>
                <a:t>TESTES</a:t>
              </a: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7158059" y="1520829"/>
            <a:ext cx="1004887" cy="1004888"/>
            <a:chOff x="6895783" y="709107"/>
            <a:chExt cx="1643237" cy="945477"/>
          </a:xfrm>
        </p:grpSpPr>
        <p:sp>
          <p:nvSpPr>
            <p:cNvPr id="12" name="Rounded Rectangle 11"/>
            <p:cNvSpPr/>
            <p:nvPr/>
          </p:nvSpPr>
          <p:spPr>
            <a:xfrm>
              <a:off x="6895783" y="709107"/>
              <a:ext cx="1643237" cy="945477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13" name="Rounded Rectangle 14"/>
            <p:cNvSpPr/>
            <p:nvPr/>
          </p:nvSpPr>
          <p:spPr>
            <a:xfrm>
              <a:off x="6942510" y="755410"/>
              <a:ext cx="1549783" cy="85287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34290" tIns="34290" rIns="34290" bIns="34290" spcCol="1270" anchor="ctr"/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700" b="1" dirty="0">
                  <a:solidFill>
                    <a:srgbClr val="FFFFFF"/>
                  </a:solidFill>
                </a:rPr>
                <a:t>IMPLANTAÇÃO</a:t>
              </a:r>
            </a:p>
          </p:txBody>
        </p:sp>
      </p:grpSp>
      <p:grpSp>
        <p:nvGrpSpPr>
          <p:cNvPr id="9" name="Group 41"/>
          <p:cNvGrpSpPr>
            <a:grpSpLocks/>
          </p:cNvGrpSpPr>
          <p:nvPr/>
        </p:nvGrpSpPr>
        <p:grpSpPr bwMode="auto">
          <a:xfrm>
            <a:off x="6362731" y="1520829"/>
            <a:ext cx="752475" cy="1004888"/>
            <a:chOff x="5850077" y="760504"/>
            <a:chExt cx="726404" cy="839697"/>
          </a:xfrm>
        </p:grpSpPr>
        <p:sp>
          <p:nvSpPr>
            <p:cNvPr id="43" name="Rounded Rectangle 42"/>
            <p:cNvSpPr/>
            <p:nvPr/>
          </p:nvSpPr>
          <p:spPr>
            <a:xfrm>
              <a:off x="5850077" y="760504"/>
              <a:ext cx="726404" cy="839697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44" name="Rounded Rectangle 12"/>
            <p:cNvSpPr/>
            <p:nvPr/>
          </p:nvSpPr>
          <p:spPr>
            <a:xfrm>
              <a:off x="5885325" y="794994"/>
              <a:ext cx="655909" cy="77071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34290" tIns="34290" rIns="34290" bIns="34290" spcCol="1270" anchor="ctr"/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700" b="1" dirty="0">
                  <a:solidFill>
                    <a:srgbClr val="FFFFFF"/>
                  </a:solidFill>
                </a:rPr>
                <a:t>TREINAMEN-TO</a:t>
              </a:r>
            </a:p>
          </p:txBody>
        </p:sp>
      </p:grpSp>
      <p:grpSp>
        <p:nvGrpSpPr>
          <p:cNvPr id="10" name="Group 44"/>
          <p:cNvGrpSpPr/>
          <p:nvPr/>
        </p:nvGrpSpPr>
        <p:grpSpPr>
          <a:xfrm>
            <a:off x="4638675" y="2605723"/>
            <a:ext cx="3505200" cy="365758"/>
            <a:chOff x="5850077" y="760504"/>
            <a:chExt cx="726404" cy="839697"/>
          </a:xfrm>
          <a:solidFill>
            <a:srgbClr val="FF0000"/>
          </a:solidFill>
        </p:grpSpPr>
        <p:sp>
          <p:nvSpPr>
            <p:cNvPr id="46" name="Rounded Rectangle 45"/>
            <p:cNvSpPr/>
            <p:nvPr/>
          </p:nvSpPr>
          <p:spPr>
            <a:xfrm>
              <a:off x="5850077" y="760504"/>
              <a:ext cx="726404" cy="839697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pt-BR">
                <a:solidFill>
                  <a:srgbClr val="FFFFFF"/>
                </a:solidFill>
              </a:endParaRPr>
            </a:p>
          </p:txBody>
        </p:sp>
        <p:sp>
          <p:nvSpPr>
            <p:cNvPr id="47" name="Rounded Rectangle 12"/>
            <p:cNvSpPr/>
            <p:nvPr/>
          </p:nvSpPr>
          <p:spPr>
            <a:xfrm>
              <a:off x="5885537" y="970429"/>
              <a:ext cx="655484" cy="59431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34290" tIns="34290" rIns="34290" bIns="34290" spcCol="1270" anchor="ctr"/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700" b="1" dirty="0">
                  <a:solidFill>
                    <a:srgbClr val="FFFFFF"/>
                  </a:solidFill>
                </a:rPr>
                <a:t>CUT OVER</a:t>
              </a:r>
            </a:p>
          </p:txBody>
        </p:sp>
      </p:grpSp>
      <p:sp>
        <p:nvSpPr>
          <p:cNvPr id="16398" name="Title 1"/>
          <p:cNvSpPr>
            <a:spLocks noGrp="1"/>
          </p:cNvSpPr>
          <p:nvPr>
            <p:ph type="title" idx="4294967295"/>
          </p:nvPr>
        </p:nvSpPr>
        <p:spPr>
          <a:xfrm>
            <a:off x="457200" y="63503"/>
            <a:ext cx="7315200" cy="698500"/>
          </a:xfrm>
        </p:spPr>
        <p:txBody>
          <a:bodyPr/>
          <a:lstStyle/>
          <a:p>
            <a:r>
              <a:rPr lang="en-US" b="1" dirty="0" err="1" smtClean="0">
                <a:solidFill>
                  <a:schemeClr val="tx2"/>
                </a:solidFill>
              </a:rPr>
              <a:t>Onde</a:t>
            </a:r>
            <a:r>
              <a:rPr lang="en-US" b="1" dirty="0" smtClean="0">
                <a:solidFill>
                  <a:schemeClr val="tx2"/>
                </a:solidFill>
              </a:rPr>
              <a:t> </a:t>
            </a:r>
            <a:r>
              <a:rPr lang="en-US" b="1" dirty="0" err="1" smtClean="0">
                <a:solidFill>
                  <a:schemeClr val="tx2"/>
                </a:solidFill>
              </a:rPr>
              <a:t>estamos</a:t>
            </a:r>
            <a:endParaRPr lang="en-US" b="1" dirty="0" smtClean="0">
              <a:solidFill>
                <a:schemeClr val="tx2"/>
              </a:solidFill>
            </a:endParaRPr>
          </a:p>
        </p:txBody>
      </p:sp>
      <p:sp>
        <p:nvSpPr>
          <p:cNvPr id="16399" name="Text Box 1031"/>
          <p:cNvSpPr txBox="1">
            <a:spLocks noChangeArrowheads="1"/>
          </p:cNvSpPr>
          <p:nvPr/>
        </p:nvSpPr>
        <p:spPr bwMode="auto">
          <a:xfrm>
            <a:off x="5940183" y="3140967"/>
            <a:ext cx="91757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sz="1000" dirty="0" smtClean="0">
                <a:solidFill>
                  <a:srgbClr val="1F497D"/>
                </a:solidFill>
              </a:rPr>
              <a:t>Estamos aqui  Mar/2011</a:t>
            </a:r>
          </a:p>
        </p:txBody>
      </p:sp>
      <p:sp>
        <p:nvSpPr>
          <p:cNvPr id="30" name="Title 1"/>
          <p:cNvSpPr txBox="1">
            <a:spLocks/>
          </p:cNvSpPr>
          <p:nvPr/>
        </p:nvSpPr>
        <p:spPr bwMode="auto">
          <a:xfrm>
            <a:off x="611548" y="3923769"/>
            <a:ext cx="7315200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Estamos</a:t>
            </a: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a 48</a:t>
            </a:r>
            <a:r>
              <a:rPr kumimoji="0" lang="en-US" sz="2800" b="1" i="0" u="none" strike="noStrike" kern="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2800" b="1" i="0" u="none" strike="noStrike" kern="0" cap="none" spc="0" normalizeH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dias</a:t>
            </a:r>
            <a:r>
              <a:rPr kumimoji="0" lang="en-US" sz="2800" b="1" i="0" u="none" strike="noStrike" kern="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* do GO-LIVE</a:t>
            </a:r>
            <a:endParaRPr kumimoji="0" 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1" name="Retângulo 30"/>
          <p:cNvSpPr/>
          <p:nvPr/>
        </p:nvSpPr>
        <p:spPr>
          <a:xfrm>
            <a:off x="710124" y="6093297"/>
            <a:ext cx="18854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kern="0" dirty="0" smtClean="0">
                <a:solidFill>
                  <a:srgbClr val="FF0000"/>
                </a:solidFill>
              </a:rPr>
              <a:t>* </a:t>
            </a:r>
            <a:r>
              <a:rPr lang="en-US" kern="0" dirty="0" err="1" smtClean="0">
                <a:solidFill>
                  <a:srgbClr val="FF0000"/>
                </a:solidFill>
              </a:rPr>
              <a:t>dias</a:t>
            </a:r>
            <a:r>
              <a:rPr lang="en-US" kern="0" dirty="0" smtClean="0">
                <a:solidFill>
                  <a:srgbClr val="FF0000"/>
                </a:solidFill>
              </a:rPr>
              <a:t> </a:t>
            </a:r>
            <a:r>
              <a:rPr lang="en-US" kern="0" dirty="0" err="1" smtClean="0">
                <a:solidFill>
                  <a:srgbClr val="FF0000"/>
                </a:solidFill>
              </a:rPr>
              <a:t>corridos</a:t>
            </a:r>
            <a:endParaRPr lang="pt-BR" dirty="0"/>
          </a:p>
        </p:txBody>
      </p:sp>
      <p:sp>
        <p:nvSpPr>
          <p:cNvPr id="11" name="Retângulo 10"/>
          <p:cNvSpPr/>
          <p:nvPr/>
        </p:nvSpPr>
        <p:spPr>
          <a:xfrm>
            <a:off x="4707046" y="6231809"/>
            <a:ext cx="24081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hlinkClick r:id="rId3"/>
              </a:rPr>
              <a:t>http://</a:t>
            </a:r>
            <a:r>
              <a:rPr lang="pt-BR" sz="1200" dirty="0" smtClean="0">
                <a:hlinkClick r:id="rId3"/>
              </a:rPr>
              <a:t>vimeo.com/21360799</a:t>
            </a:r>
            <a:endParaRPr lang="pt-BR" sz="1200" dirty="0" smtClean="0"/>
          </a:p>
          <a:p>
            <a:r>
              <a:rPr lang="pt-BR" sz="1200" dirty="0" smtClean="0"/>
              <a:t>garage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42294959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tângulo 50"/>
          <p:cNvSpPr/>
          <p:nvPr/>
        </p:nvSpPr>
        <p:spPr>
          <a:xfrm>
            <a:off x="7092950" y="6021388"/>
            <a:ext cx="2051050" cy="836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prstClr val="white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04786" y="5909945"/>
            <a:ext cx="1081088" cy="6159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i="1" dirty="0">
                <a:solidFill>
                  <a:prstClr val="white"/>
                </a:solidFill>
              </a:rPr>
              <a:t>Gestão do Projeto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1450" y="4408170"/>
            <a:ext cx="1114424" cy="3603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i="1" dirty="0">
                <a:solidFill>
                  <a:prstClr val="white"/>
                </a:solidFill>
              </a:rPr>
              <a:t>Perform.</a:t>
            </a:r>
          </a:p>
        </p:txBody>
      </p:sp>
      <p:sp>
        <p:nvSpPr>
          <p:cNvPr id="24581" name="Title 18"/>
          <p:cNvSpPr>
            <a:spLocks noGrp="1"/>
          </p:cNvSpPr>
          <p:nvPr>
            <p:ph type="title"/>
          </p:nvPr>
        </p:nvSpPr>
        <p:spPr>
          <a:xfrm>
            <a:off x="0" y="-137159"/>
            <a:ext cx="7315200" cy="873125"/>
          </a:xfrm>
        </p:spPr>
        <p:txBody>
          <a:bodyPr/>
          <a:lstStyle/>
          <a:p>
            <a:pPr eaLnBrk="1" hangingPunct="1"/>
            <a:r>
              <a:rPr lang="pt-BR" dirty="0" smtClean="0">
                <a:cs typeface="Arial" charset="0"/>
              </a:rPr>
              <a:t>O que estamos fazendo?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1466" y="4789170"/>
            <a:ext cx="1114425" cy="3603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i="1" dirty="0" smtClean="0">
                <a:solidFill>
                  <a:prstClr val="black"/>
                </a:solidFill>
              </a:rPr>
              <a:t>Contingência</a:t>
            </a:r>
            <a:endParaRPr lang="pt-BR" sz="1200" i="1" dirty="0">
              <a:solidFill>
                <a:prstClr val="black"/>
              </a:solidFill>
            </a:endParaRPr>
          </a:p>
        </p:txBody>
      </p:sp>
      <p:sp>
        <p:nvSpPr>
          <p:cNvPr id="30731" name="Rectangle 27"/>
          <p:cNvSpPr>
            <a:spLocks noChangeArrowheads="1"/>
          </p:cNvSpPr>
          <p:nvPr/>
        </p:nvSpPr>
        <p:spPr bwMode="auto">
          <a:xfrm>
            <a:off x="2984518" y="1143000"/>
            <a:ext cx="1368425" cy="4318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 algn="ctr">
              <a:defRPr/>
            </a:pPr>
            <a:r>
              <a:rPr lang="pt-BR" sz="1100" b="1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Teste Integrado Ciclo 1</a:t>
            </a:r>
          </a:p>
        </p:txBody>
      </p:sp>
      <p:sp>
        <p:nvSpPr>
          <p:cNvPr id="30732" name="Rectangle 28"/>
          <p:cNvSpPr>
            <a:spLocks noChangeArrowheads="1"/>
          </p:cNvSpPr>
          <p:nvPr/>
        </p:nvSpPr>
        <p:spPr bwMode="auto">
          <a:xfrm>
            <a:off x="4829183" y="1143000"/>
            <a:ext cx="1370013" cy="4318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 algn="ctr">
              <a:defRPr/>
            </a:pPr>
            <a:r>
              <a:rPr lang="pt-BR" sz="1100" b="1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Teste Integrado Ciclo 2</a:t>
            </a:r>
          </a:p>
        </p:txBody>
      </p:sp>
      <p:sp>
        <p:nvSpPr>
          <p:cNvPr id="30733" name="Rectangle 29"/>
          <p:cNvSpPr>
            <a:spLocks noChangeArrowheads="1"/>
          </p:cNvSpPr>
          <p:nvPr/>
        </p:nvSpPr>
        <p:spPr bwMode="auto">
          <a:xfrm>
            <a:off x="6678611" y="1143000"/>
            <a:ext cx="1441450" cy="4318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 algn="ctr">
              <a:defRPr/>
            </a:pPr>
            <a:r>
              <a:rPr lang="pt-BR" sz="1100" b="1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Teste Integrado Ciclo 3</a:t>
            </a:r>
          </a:p>
        </p:txBody>
      </p:sp>
      <p:sp>
        <p:nvSpPr>
          <p:cNvPr id="30734" name="Rectangle 30"/>
          <p:cNvSpPr>
            <a:spLocks noChangeArrowheads="1"/>
          </p:cNvSpPr>
          <p:nvPr/>
        </p:nvSpPr>
        <p:spPr bwMode="auto">
          <a:xfrm>
            <a:off x="4784739" y="3052360"/>
            <a:ext cx="1512887" cy="4302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Teste Regressão (C1)</a:t>
            </a:r>
          </a:p>
        </p:txBody>
      </p:sp>
      <p:sp>
        <p:nvSpPr>
          <p:cNvPr id="24587" name="Rectangle 31"/>
          <p:cNvSpPr>
            <a:spLocks noChangeArrowheads="1"/>
          </p:cNvSpPr>
          <p:nvPr/>
        </p:nvSpPr>
        <p:spPr bwMode="auto">
          <a:xfrm>
            <a:off x="4784739" y="3617630"/>
            <a:ext cx="1512887" cy="358775"/>
          </a:xfrm>
          <a:prstGeom prst="rect">
            <a:avLst/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Arial" charset="0"/>
              </a:rPr>
              <a:t>Teste Integrado de Perfis</a:t>
            </a:r>
          </a:p>
        </p:txBody>
      </p:sp>
      <p:sp>
        <p:nvSpPr>
          <p:cNvPr id="24588" name="Rectangle 32"/>
          <p:cNvSpPr>
            <a:spLocks noChangeArrowheads="1"/>
          </p:cNvSpPr>
          <p:nvPr/>
        </p:nvSpPr>
        <p:spPr bwMode="auto">
          <a:xfrm>
            <a:off x="3489324" y="4443095"/>
            <a:ext cx="4595812" cy="360364"/>
          </a:xfrm>
          <a:prstGeom prst="rect">
            <a:avLst/>
          </a:prstGeom>
          <a:solidFill>
            <a:schemeClr val="tx2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Arial" charset="0"/>
              </a:rPr>
              <a:t>Teste de Performance Integrado</a:t>
            </a:r>
          </a:p>
        </p:txBody>
      </p:sp>
      <p:sp>
        <p:nvSpPr>
          <p:cNvPr id="30737" name="Rectangle 33"/>
          <p:cNvSpPr>
            <a:spLocks noChangeArrowheads="1"/>
          </p:cNvSpPr>
          <p:nvPr/>
        </p:nvSpPr>
        <p:spPr bwMode="auto">
          <a:xfrm>
            <a:off x="1398593" y="1950722"/>
            <a:ext cx="1152525" cy="4333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MOCK</a:t>
            </a:r>
            <a:r>
              <a:rPr lang="pt-BR" sz="1100" b="1" i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pt-BR" sz="1100" b="1" i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1</a:t>
            </a:r>
          </a:p>
          <a:p>
            <a:pPr algn="ctr">
              <a:defRPr/>
            </a:pPr>
            <a:r>
              <a:rPr lang="pt-BR" sz="700" b="1" i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13/12 a 07/01</a:t>
            </a:r>
            <a:endParaRPr lang="pt-BR" sz="600" b="1" i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738" name="Rectangle 34"/>
          <p:cNvSpPr>
            <a:spLocks noChangeArrowheads="1"/>
          </p:cNvSpPr>
          <p:nvPr/>
        </p:nvSpPr>
        <p:spPr bwMode="auto">
          <a:xfrm>
            <a:off x="2982911" y="1950722"/>
            <a:ext cx="1081088" cy="4333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MOCK</a:t>
            </a:r>
            <a:r>
              <a:rPr lang="pt-BR" sz="1100" b="1" i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pt-BR" sz="1100" b="1" i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2</a:t>
            </a:r>
          </a:p>
          <a:p>
            <a:pPr algn="ctr">
              <a:defRPr/>
            </a:pPr>
            <a:r>
              <a:rPr lang="pt-BR" sz="800" b="1" i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10/01 a 28/01</a:t>
            </a:r>
          </a:p>
        </p:txBody>
      </p:sp>
      <p:sp>
        <p:nvSpPr>
          <p:cNvPr id="30739" name="Rectangle 35"/>
          <p:cNvSpPr>
            <a:spLocks noChangeArrowheads="1"/>
          </p:cNvSpPr>
          <p:nvPr/>
        </p:nvSpPr>
        <p:spPr bwMode="auto">
          <a:xfrm>
            <a:off x="4968884" y="1950722"/>
            <a:ext cx="1081087" cy="4333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MOCK </a:t>
            </a:r>
            <a:r>
              <a:rPr lang="pt-BR" sz="1100" b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3</a:t>
            </a:r>
          </a:p>
          <a:p>
            <a:pPr algn="ctr">
              <a:defRPr/>
            </a:pPr>
            <a:r>
              <a:rPr lang="pt-BR" sz="800" b="1" i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12/02 a 11/03</a:t>
            </a:r>
          </a:p>
        </p:txBody>
      </p:sp>
      <p:cxnSp>
        <p:nvCxnSpPr>
          <p:cNvPr id="47" name="Elbow Connector 46"/>
          <p:cNvCxnSpPr>
            <a:stCxn id="30737" idx="3"/>
            <a:endCxn id="30731" idx="1"/>
          </p:cNvCxnSpPr>
          <p:nvPr/>
        </p:nvCxnSpPr>
        <p:spPr>
          <a:xfrm flipV="1">
            <a:off x="2551112" y="1358901"/>
            <a:ext cx="433389" cy="808514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0731" idx="3"/>
            <a:endCxn id="30732" idx="1"/>
          </p:cNvCxnSpPr>
          <p:nvPr/>
        </p:nvCxnSpPr>
        <p:spPr>
          <a:xfrm>
            <a:off x="4352925" y="1358900"/>
            <a:ext cx="476248" cy="190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30732" idx="3"/>
            <a:endCxn id="30733" idx="1"/>
          </p:cNvCxnSpPr>
          <p:nvPr/>
        </p:nvCxnSpPr>
        <p:spPr>
          <a:xfrm>
            <a:off x="6199206" y="1358900"/>
            <a:ext cx="479425" cy="190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stCxn id="30739" idx="3"/>
            <a:endCxn id="30733" idx="1"/>
          </p:cNvCxnSpPr>
          <p:nvPr/>
        </p:nvCxnSpPr>
        <p:spPr>
          <a:xfrm flipV="1">
            <a:off x="6049959" y="1358901"/>
            <a:ext cx="628652" cy="808514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30738" idx="3"/>
            <a:endCxn id="30732" idx="1"/>
          </p:cNvCxnSpPr>
          <p:nvPr/>
        </p:nvCxnSpPr>
        <p:spPr>
          <a:xfrm flipV="1">
            <a:off x="4063999" y="1358901"/>
            <a:ext cx="765174" cy="808514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16200000" flipH="1">
            <a:off x="2748764" y="1607028"/>
            <a:ext cx="1588" cy="1549400"/>
          </a:xfrm>
          <a:prstGeom prst="bentConnector3">
            <a:avLst>
              <a:gd name="adj1" fmla="val 8067142"/>
            </a:avLst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206374" y="3616008"/>
            <a:ext cx="1079500" cy="567691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i="1" dirty="0">
                <a:solidFill>
                  <a:prstClr val="white"/>
                </a:solidFill>
              </a:rPr>
              <a:t>Segurança  Informação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6374" y="2093597"/>
            <a:ext cx="1079500" cy="36036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i="1" dirty="0">
                <a:solidFill>
                  <a:prstClr val="black"/>
                </a:solidFill>
              </a:rPr>
              <a:t>Conversão/ Cutover</a:t>
            </a:r>
          </a:p>
        </p:txBody>
      </p:sp>
      <p:sp>
        <p:nvSpPr>
          <p:cNvPr id="64" name="Rectangle 32"/>
          <p:cNvSpPr>
            <a:spLocks noChangeArrowheads="1"/>
          </p:cNvSpPr>
          <p:nvPr/>
        </p:nvSpPr>
        <p:spPr bwMode="auto">
          <a:xfrm>
            <a:off x="5643562" y="4849387"/>
            <a:ext cx="3320926" cy="3798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b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Planos de Contingência</a:t>
            </a:r>
            <a:endParaRPr lang="pt-BR" sz="11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206374" y="3076259"/>
            <a:ext cx="1079500" cy="431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i="1" dirty="0">
                <a:solidFill>
                  <a:prstClr val="white"/>
                </a:solidFill>
              </a:rPr>
              <a:t>Testes de Regressão</a:t>
            </a:r>
          </a:p>
        </p:txBody>
      </p:sp>
      <p:sp>
        <p:nvSpPr>
          <p:cNvPr id="24602" name="Rectangle 32"/>
          <p:cNvSpPr>
            <a:spLocks noChangeArrowheads="1"/>
          </p:cNvSpPr>
          <p:nvPr/>
        </p:nvSpPr>
        <p:spPr bwMode="auto">
          <a:xfrm>
            <a:off x="2108199" y="4443095"/>
            <a:ext cx="1308100" cy="360364"/>
          </a:xfrm>
          <a:prstGeom prst="rect">
            <a:avLst/>
          </a:prstGeom>
          <a:solidFill>
            <a:schemeClr val="tx2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Arial" charset="0"/>
              </a:rPr>
              <a:t>Teste Unit.Perf.</a:t>
            </a:r>
          </a:p>
        </p:txBody>
      </p:sp>
      <p:sp>
        <p:nvSpPr>
          <p:cNvPr id="36" name="Rectangle 32"/>
          <p:cNvSpPr>
            <a:spLocks noChangeArrowheads="1"/>
          </p:cNvSpPr>
          <p:nvPr/>
        </p:nvSpPr>
        <p:spPr bwMode="auto">
          <a:xfrm>
            <a:off x="1544693" y="5282884"/>
            <a:ext cx="1152525" cy="228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>
              <a:defRPr/>
            </a:pPr>
            <a:r>
              <a:rPr lang="pt-BR" sz="11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Treinam.UC</a:t>
            </a:r>
          </a:p>
        </p:txBody>
      </p:sp>
      <p:sp>
        <p:nvSpPr>
          <p:cNvPr id="37" name="Rectangle 32"/>
          <p:cNvSpPr>
            <a:spLocks noChangeArrowheads="1"/>
          </p:cNvSpPr>
          <p:nvPr/>
        </p:nvSpPr>
        <p:spPr bwMode="auto">
          <a:xfrm>
            <a:off x="3763961" y="5295587"/>
            <a:ext cx="2533650" cy="1920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>
              <a:defRPr/>
            </a:pPr>
            <a:r>
              <a:rPr lang="pt-BR" sz="11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Trein.Mult</a:t>
            </a:r>
          </a:p>
        </p:txBody>
      </p:sp>
      <p:sp>
        <p:nvSpPr>
          <p:cNvPr id="38" name="Rectangle 32"/>
          <p:cNvSpPr>
            <a:spLocks noChangeArrowheads="1"/>
          </p:cNvSpPr>
          <p:nvPr/>
        </p:nvSpPr>
        <p:spPr bwMode="auto">
          <a:xfrm>
            <a:off x="6584990" y="5282884"/>
            <a:ext cx="2379523" cy="2343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>
              <a:defRPr/>
            </a:pPr>
            <a:r>
              <a:rPr lang="pt-BR" sz="11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Trein.UF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400174" y="2574609"/>
            <a:ext cx="7313612" cy="311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Detalhamento do Plano de Cutover / Alinhamento com Áreas de Negócio</a:t>
            </a:r>
          </a:p>
        </p:txBody>
      </p:sp>
      <p:sp>
        <p:nvSpPr>
          <p:cNvPr id="24607" name="Rectangle 31"/>
          <p:cNvSpPr>
            <a:spLocks noChangeArrowheads="1"/>
          </p:cNvSpPr>
          <p:nvPr/>
        </p:nvSpPr>
        <p:spPr bwMode="auto">
          <a:xfrm>
            <a:off x="2984499" y="3606168"/>
            <a:ext cx="1439862" cy="358775"/>
          </a:xfrm>
          <a:prstGeom prst="rect">
            <a:avLst/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/>
            <a:r>
              <a:rPr lang="pt-BR" sz="1100" b="1" dirty="0">
                <a:solidFill>
                  <a:srgbClr val="FFFFFF"/>
                </a:solidFill>
                <a:latin typeface="Arial" charset="0"/>
              </a:rPr>
              <a:t>Teste Unitário de Perfis</a:t>
            </a:r>
          </a:p>
        </p:txBody>
      </p:sp>
      <p:cxnSp>
        <p:nvCxnSpPr>
          <p:cNvPr id="81" name="Elbow Connector 80"/>
          <p:cNvCxnSpPr>
            <a:stCxn id="24609" idx="3"/>
            <a:endCxn id="24587" idx="1"/>
          </p:cNvCxnSpPr>
          <p:nvPr/>
        </p:nvCxnSpPr>
        <p:spPr>
          <a:xfrm flipV="1">
            <a:off x="4424361" y="3796984"/>
            <a:ext cx="360364" cy="386714"/>
          </a:xfrm>
          <a:prstGeom prst="bentConnector3">
            <a:avLst>
              <a:gd name="adj1" fmla="val 36784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09" name="Rectangle 31"/>
          <p:cNvSpPr>
            <a:spLocks noChangeArrowheads="1"/>
          </p:cNvSpPr>
          <p:nvPr/>
        </p:nvSpPr>
        <p:spPr bwMode="auto">
          <a:xfrm>
            <a:off x="2984499" y="4023995"/>
            <a:ext cx="1439862" cy="319405"/>
          </a:xfrm>
          <a:prstGeom prst="rect">
            <a:avLst/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/>
            <a:r>
              <a:rPr lang="pt-BR" sz="1100" b="1" dirty="0">
                <a:solidFill>
                  <a:srgbClr val="FFFFFF"/>
                </a:solidFill>
                <a:latin typeface="Arial" charset="0"/>
              </a:rPr>
              <a:t>Planej. Testes Integrados Perfis</a:t>
            </a:r>
          </a:p>
        </p:txBody>
      </p:sp>
      <p:cxnSp>
        <p:nvCxnSpPr>
          <p:cNvPr id="86" name="Elbow Connector 85"/>
          <p:cNvCxnSpPr>
            <a:stCxn id="24607" idx="3"/>
            <a:endCxn id="24587" idx="1"/>
          </p:cNvCxnSpPr>
          <p:nvPr/>
        </p:nvCxnSpPr>
        <p:spPr>
          <a:xfrm>
            <a:off x="4424361" y="3785554"/>
            <a:ext cx="360364" cy="11430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11" name="Rectangle 23"/>
          <p:cNvSpPr>
            <a:spLocks noChangeArrowheads="1"/>
          </p:cNvSpPr>
          <p:nvPr/>
        </p:nvSpPr>
        <p:spPr bwMode="auto">
          <a:xfrm>
            <a:off x="3776691" y="6237004"/>
            <a:ext cx="4321175" cy="288925"/>
          </a:xfrm>
          <a:prstGeom prst="rect">
            <a:avLst/>
          </a:prstGeom>
          <a:solidFill>
            <a:srgbClr val="00B05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Arial" charset="0"/>
              </a:rPr>
              <a:t>Planejamento de Implementação / Suporte Pós-Go Live</a:t>
            </a:r>
          </a:p>
        </p:txBody>
      </p:sp>
      <p:cxnSp>
        <p:nvCxnSpPr>
          <p:cNvPr id="98" name="Straight Connector 97"/>
          <p:cNvCxnSpPr/>
          <p:nvPr/>
        </p:nvCxnSpPr>
        <p:spPr>
          <a:xfrm>
            <a:off x="206386" y="5200333"/>
            <a:ext cx="8785225" cy="0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>
            <a:off x="206386" y="5836920"/>
            <a:ext cx="8785225" cy="0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206386" y="4382770"/>
            <a:ext cx="8785225" cy="0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15" name="Rectangle 31"/>
          <p:cNvSpPr>
            <a:spLocks noChangeArrowheads="1"/>
          </p:cNvSpPr>
          <p:nvPr/>
        </p:nvSpPr>
        <p:spPr bwMode="auto">
          <a:xfrm>
            <a:off x="6584973" y="3616026"/>
            <a:ext cx="1512887" cy="358775"/>
          </a:xfrm>
          <a:prstGeom prst="rect">
            <a:avLst/>
          </a:prstGeom>
          <a:solidFill>
            <a:srgbClr val="FF99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Arial" charset="0"/>
              </a:rPr>
              <a:t>Teste Integrado de Perfis</a:t>
            </a:r>
          </a:p>
        </p:txBody>
      </p:sp>
      <p:cxnSp>
        <p:nvCxnSpPr>
          <p:cNvPr id="109" name="Elbow Connector 108"/>
          <p:cNvCxnSpPr>
            <a:stCxn id="24587" idx="3"/>
            <a:endCxn id="24615" idx="1"/>
          </p:cNvCxnSpPr>
          <p:nvPr/>
        </p:nvCxnSpPr>
        <p:spPr>
          <a:xfrm flipV="1">
            <a:off x="6297611" y="3795395"/>
            <a:ext cx="287338" cy="1588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 30"/>
          <p:cNvSpPr>
            <a:spLocks noChangeArrowheads="1"/>
          </p:cNvSpPr>
          <p:nvPr/>
        </p:nvSpPr>
        <p:spPr bwMode="auto">
          <a:xfrm>
            <a:off x="6584973" y="3053919"/>
            <a:ext cx="1512887" cy="4286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Teste Regressão (C2)</a:t>
            </a:r>
          </a:p>
        </p:txBody>
      </p:sp>
      <p:cxnSp>
        <p:nvCxnSpPr>
          <p:cNvPr id="118" name="Elbow Connector 117"/>
          <p:cNvCxnSpPr>
            <a:stCxn id="30734" idx="3"/>
            <a:endCxn id="113" idx="1"/>
          </p:cNvCxnSpPr>
          <p:nvPr/>
        </p:nvCxnSpPr>
        <p:spPr>
          <a:xfrm>
            <a:off x="6297612" y="3267433"/>
            <a:ext cx="287338" cy="794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30"/>
          <p:cNvSpPr>
            <a:spLocks noChangeArrowheads="1"/>
          </p:cNvSpPr>
          <p:nvPr/>
        </p:nvSpPr>
        <p:spPr bwMode="auto">
          <a:xfrm>
            <a:off x="3055939" y="3052360"/>
            <a:ext cx="1368425" cy="4302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Planej.Testes de Regressão</a:t>
            </a:r>
          </a:p>
        </p:txBody>
      </p:sp>
      <p:cxnSp>
        <p:nvCxnSpPr>
          <p:cNvPr id="124" name="Elbow Connector 123"/>
          <p:cNvCxnSpPr>
            <a:stCxn id="123" idx="3"/>
            <a:endCxn id="30734" idx="1"/>
          </p:cNvCxnSpPr>
          <p:nvPr/>
        </p:nvCxnSpPr>
        <p:spPr>
          <a:xfrm>
            <a:off x="4424386" y="3267433"/>
            <a:ext cx="360363" cy="15240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/>
          <p:nvPr/>
        </p:nvCxnSpPr>
        <p:spPr>
          <a:xfrm>
            <a:off x="206386" y="3555683"/>
            <a:ext cx="8785225" cy="0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/>
          <p:cNvCxnSpPr/>
          <p:nvPr/>
        </p:nvCxnSpPr>
        <p:spPr>
          <a:xfrm>
            <a:off x="171507" y="2969896"/>
            <a:ext cx="8785225" cy="0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>
            <a:off x="206386" y="1866583"/>
            <a:ext cx="8785225" cy="0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ctangle 129"/>
          <p:cNvSpPr/>
          <p:nvPr/>
        </p:nvSpPr>
        <p:spPr>
          <a:xfrm>
            <a:off x="206374" y="5236845"/>
            <a:ext cx="1079500" cy="4341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>
              <a:defRPr/>
            </a:pPr>
            <a:r>
              <a:rPr lang="pt-BR" sz="1100" i="1" dirty="0">
                <a:solidFill>
                  <a:prstClr val="black"/>
                </a:solidFill>
                <a:latin typeface="Arial" pitchFamily="34" charset="0"/>
              </a:rPr>
              <a:t>G.Mudança</a:t>
            </a:r>
          </a:p>
        </p:txBody>
      </p:sp>
      <p:cxnSp>
        <p:nvCxnSpPr>
          <p:cNvPr id="132" name="Straight Connector 131"/>
          <p:cNvCxnSpPr/>
          <p:nvPr/>
        </p:nvCxnSpPr>
        <p:spPr>
          <a:xfrm rot="16200000" flipH="1">
            <a:off x="-1356519" y="3886693"/>
            <a:ext cx="5408612" cy="476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32"/>
          <p:cNvSpPr>
            <a:spLocks noChangeArrowheads="1"/>
          </p:cNvSpPr>
          <p:nvPr/>
        </p:nvSpPr>
        <p:spPr bwMode="auto">
          <a:xfrm>
            <a:off x="3128986" y="5574983"/>
            <a:ext cx="4968875" cy="1920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>
              <a:defRPr/>
            </a:pPr>
            <a:r>
              <a:rPr lang="pt-BR" sz="11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Intensificação da Gestão de Impactos e Comunicação</a:t>
            </a:r>
          </a:p>
        </p:txBody>
      </p:sp>
      <p:sp>
        <p:nvSpPr>
          <p:cNvPr id="24627" name="Rectangle 23"/>
          <p:cNvSpPr>
            <a:spLocks noChangeArrowheads="1"/>
          </p:cNvSpPr>
          <p:nvPr/>
        </p:nvSpPr>
        <p:spPr bwMode="auto">
          <a:xfrm>
            <a:off x="3055936" y="5902042"/>
            <a:ext cx="5041900" cy="261937"/>
          </a:xfrm>
          <a:prstGeom prst="rect">
            <a:avLst/>
          </a:prstGeom>
          <a:solidFill>
            <a:srgbClr val="00B05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Arial" charset="0"/>
              </a:rPr>
              <a:t>Gestão da execução integrada</a:t>
            </a:r>
          </a:p>
        </p:txBody>
      </p:sp>
      <p:cxnSp>
        <p:nvCxnSpPr>
          <p:cNvPr id="55" name="Elbow Connector 60"/>
          <p:cNvCxnSpPr/>
          <p:nvPr/>
        </p:nvCxnSpPr>
        <p:spPr>
          <a:xfrm rot="16200000" flipH="1">
            <a:off x="4656953" y="1608614"/>
            <a:ext cx="1588" cy="1549400"/>
          </a:xfrm>
          <a:prstGeom prst="bentConnector3">
            <a:avLst>
              <a:gd name="adj1" fmla="val 8067142"/>
            </a:avLst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35"/>
          <p:cNvSpPr>
            <a:spLocks noChangeArrowheads="1"/>
          </p:cNvSpPr>
          <p:nvPr/>
        </p:nvSpPr>
        <p:spPr bwMode="auto">
          <a:xfrm>
            <a:off x="6465886" y="1965963"/>
            <a:ext cx="1066800" cy="43338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b="1" dirty="0" smtClean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1ª Simulação </a:t>
            </a:r>
            <a:r>
              <a:rPr lang="pt-BR" sz="1100" b="1" dirty="0" err="1" smtClean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Cutover</a:t>
            </a:r>
            <a:r>
              <a:rPr lang="pt-BR" sz="1100" b="1" dirty="0" smtClean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 </a:t>
            </a:r>
            <a:endParaRPr lang="pt-BR" sz="1100" b="1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56" name="Elbow Connector 55"/>
          <p:cNvCxnSpPr>
            <a:stCxn id="54" idx="0"/>
            <a:endCxn id="30733" idx="2"/>
          </p:cNvCxnSpPr>
          <p:nvPr/>
        </p:nvCxnSpPr>
        <p:spPr>
          <a:xfrm rot="5400000" flipH="1" flipV="1">
            <a:off x="7003736" y="1570355"/>
            <a:ext cx="391160" cy="400050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0"/>
          <p:cNvCxnSpPr/>
          <p:nvPr/>
        </p:nvCxnSpPr>
        <p:spPr>
          <a:xfrm>
            <a:off x="5643562" y="2387281"/>
            <a:ext cx="1317624" cy="12067"/>
          </a:xfrm>
          <a:prstGeom prst="bentConnector4">
            <a:avLst>
              <a:gd name="adj1" fmla="val 120"/>
              <a:gd name="adj2" fmla="val 857757"/>
            </a:avLst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35"/>
          <p:cNvSpPr>
            <a:spLocks noChangeArrowheads="1"/>
          </p:cNvSpPr>
          <p:nvPr/>
        </p:nvSpPr>
        <p:spPr bwMode="auto">
          <a:xfrm>
            <a:off x="7646986" y="1965963"/>
            <a:ext cx="1066800" cy="43338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b="1" dirty="0" smtClean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2ª Simulação </a:t>
            </a:r>
            <a:r>
              <a:rPr lang="pt-BR" sz="1100" b="1" dirty="0" err="1" smtClean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Cutover</a:t>
            </a:r>
            <a:r>
              <a:rPr lang="pt-BR" sz="1100" b="1" dirty="0" smtClean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 </a:t>
            </a:r>
            <a:endParaRPr lang="pt-BR" sz="1100" b="1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74" name="Elbow Connector 60"/>
          <p:cNvCxnSpPr/>
          <p:nvPr/>
        </p:nvCxnSpPr>
        <p:spPr>
          <a:xfrm>
            <a:off x="7227900" y="2387917"/>
            <a:ext cx="952501" cy="953"/>
          </a:xfrm>
          <a:prstGeom prst="bentConnector4">
            <a:avLst>
              <a:gd name="adj1" fmla="val -2000"/>
              <a:gd name="adj2" fmla="val 10896603"/>
            </a:avLst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ângulo 1"/>
          <p:cNvSpPr/>
          <p:nvPr/>
        </p:nvSpPr>
        <p:spPr>
          <a:xfrm>
            <a:off x="1400174" y="996708"/>
            <a:ext cx="7667626" cy="548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2278064" y="713358"/>
            <a:ext cx="1227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prstClr val="black"/>
                </a:solidFill>
                <a:latin typeface="Arial" charset="0"/>
              </a:rPr>
              <a:t>Janeiro</a:t>
            </a:r>
            <a:endParaRPr lang="pt-BR" sz="140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62" name="CaixaDeTexto 61"/>
          <p:cNvSpPr txBox="1"/>
          <p:nvPr/>
        </p:nvSpPr>
        <p:spPr>
          <a:xfrm>
            <a:off x="4390034" y="696114"/>
            <a:ext cx="14011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prstClr val="black"/>
                </a:solidFill>
                <a:latin typeface="Arial" charset="0"/>
              </a:rPr>
              <a:t>Fevereiro</a:t>
            </a:r>
            <a:endParaRPr lang="pt-BR" sz="140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65" name="CaixaDeTexto 64"/>
          <p:cNvSpPr txBox="1"/>
          <p:nvPr/>
        </p:nvSpPr>
        <p:spPr>
          <a:xfrm>
            <a:off x="6233647" y="696114"/>
            <a:ext cx="700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prstClr val="black"/>
                </a:solidFill>
                <a:latin typeface="Arial" charset="0"/>
              </a:rPr>
              <a:t>Março</a:t>
            </a:r>
            <a:endParaRPr lang="pt-BR" sz="140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67" name="CaixaDeTexto 66"/>
          <p:cNvSpPr txBox="1"/>
          <p:nvPr/>
        </p:nvSpPr>
        <p:spPr>
          <a:xfrm>
            <a:off x="7910042" y="687382"/>
            <a:ext cx="700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prstClr val="black"/>
                </a:solidFill>
                <a:latin typeface="Arial" charset="0"/>
              </a:rPr>
              <a:t>Abril</a:t>
            </a:r>
            <a:endParaRPr lang="pt-BR" sz="140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5" name="Estrela de 5 pontas 4"/>
          <p:cNvSpPr/>
          <p:nvPr/>
        </p:nvSpPr>
        <p:spPr>
          <a:xfrm>
            <a:off x="8607559" y="3140968"/>
            <a:ext cx="209847" cy="2159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Estrela de 5 pontas 69"/>
          <p:cNvSpPr/>
          <p:nvPr/>
        </p:nvSpPr>
        <p:spPr>
          <a:xfrm>
            <a:off x="8607559" y="4494004"/>
            <a:ext cx="209847" cy="2159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9144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58" name="think-cell Slide" r:id="rId6" imgW="0" imgH="0" progId="">
                  <p:embed/>
                </p:oleObj>
              </mc:Choice>
              <mc:Fallback>
                <p:oleObj name="think-cell Slide" r:id="rId6" imgW="0" imgH="0" progId="">
                  <p:embed/>
                  <p:pic>
                    <p:nvPicPr>
                      <p:cNvPr id="0" name="AutoShape 2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9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/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52400" y="0"/>
            <a:ext cx="8686800" cy="699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pt-BR" sz="2000" dirty="0" smtClean="0">
                <a:latin typeface="+mn-lt"/>
              </a:rPr>
              <a:t>Visão Geral da </a:t>
            </a:r>
            <a:r>
              <a:rPr lang="pt-BR" sz="2000" b="1" dirty="0" smtClean="0">
                <a:latin typeface="+mn-lt"/>
              </a:rPr>
              <a:t>Estratégia de Implementação</a:t>
            </a:r>
            <a:endParaRPr lang="pt-BR" sz="2000" b="1" dirty="0">
              <a:latin typeface="+mn-lt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52400" y="960144"/>
            <a:ext cx="84582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itchFamily="49" charset="0"/>
              <a:buChar char="o"/>
            </a:pPr>
            <a:r>
              <a:rPr lang="pt-BR" sz="1600" dirty="0" smtClean="0"/>
              <a:t>Implementação “big-</a:t>
            </a:r>
            <a:r>
              <a:rPr lang="pt-BR" sz="1600" dirty="0" err="1" smtClean="0"/>
              <a:t>bang</a:t>
            </a:r>
            <a:r>
              <a:rPr lang="pt-BR" sz="1600" dirty="0" smtClean="0"/>
              <a:t>” de Cotas e parcial do Cadastro para o Brasil com 1 semana de antecedência</a:t>
            </a:r>
          </a:p>
          <a:p>
            <a:pPr lvl="1">
              <a:defRPr/>
            </a:pPr>
            <a:r>
              <a:rPr lang="pt-BR" sz="1600" dirty="0" smtClean="0">
                <a:solidFill>
                  <a:prstClr val="black"/>
                </a:solidFill>
                <a:latin typeface="Calibri"/>
              </a:rPr>
              <a:t>- </a:t>
            </a:r>
            <a:r>
              <a:rPr lang="pt-BR" sz="1600" dirty="0">
                <a:solidFill>
                  <a:prstClr val="black"/>
                </a:solidFill>
                <a:latin typeface="Calibri"/>
              </a:rPr>
              <a:t>Blackout Captação Brasil estimado: sábado 07/05 </a:t>
            </a:r>
            <a:r>
              <a:rPr lang="pt-BR" sz="1600" dirty="0" smtClean="0">
                <a:solidFill>
                  <a:prstClr val="black"/>
                </a:solidFill>
                <a:latin typeface="Calibri"/>
              </a:rPr>
              <a:t>- 22:00 </a:t>
            </a:r>
            <a:r>
              <a:rPr lang="pt-BR" sz="1600" dirty="0">
                <a:solidFill>
                  <a:prstClr val="black"/>
                </a:solidFill>
                <a:latin typeface="Calibri"/>
              </a:rPr>
              <a:t>até segunda </a:t>
            </a:r>
            <a:r>
              <a:rPr lang="pt-BR" sz="1600" dirty="0" smtClean="0">
                <a:solidFill>
                  <a:prstClr val="black"/>
                </a:solidFill>
                <a:latin typeface="Calibri"/>
              </a:rPr>
              <a:t>09/05 - </a:t>
            </a:r>
            <a:r>
              <a:rPr lang="pt-BR" sz="1600" dirty="0">
                <a:solidFill>
                  <a:prstClr val="black"/>
                </a:solidFill>
                <a:latin typeface="Calibri"/>
              </a:rPr>
              <a:t>06:00</a:t>
            </a:r>
          </a:p>
          <a:p>
            <a:pPr marL="285750" indent="-285750">
              <a:buFont typeface="Courier New" pitchFamily="49" charset="0"/>
              <a:buChar char="o"/>
            </a:pPr>
            <a:endParaRPr lang="pt-BR" sz="1600" dirty="0"/>
          </a:p>
          <a:p>
            <a:pPr marL="285750" indent="-285750">
              <a:buFont typeface="Courier New" pitchFamily="49" charset="0"/>
              <a:buChar char="o"/>
            </a:pPr>
            <a:r>
              <a:rPr lang="pt-BR" sz="1600" dirty="0" smtClean="0"/>
              <a:t>Piloto 1 única GV (1,2% receita), com 5,7 sem. de estabilização (2 ciclos)</a:t>
            </a:r>
          </a:p>
          <a:p>
            <a:pPr lvl="1">
              <a:defRPr/>
            </a:pPr>
            <a:r>
              <a:rPr lang="pt-BR" sz="1600" dirty="0">
                <a:solidFill>
                  <a:prstClr val="black"/>
                </a:solidFill>
                <a:latin typeface="Calibri"/>
              </a:rPr>
              <a:t>- Blackout SAP Brasil * estimado: sábado 14/05 - 00:00 até segunda 16/05 - 06:00</a:t>
            </a:r>
          </a:p>
          <a:p>
            <a:pPr lvl="1">
              <a:defRPr/>
            </a:pPr>
            <a:r>
              <a:rPr lang="pt-BR" sz="1600" dirty="0">
                <a:solidFill>
                  <a:prstClr val="black"/>
                </a:solidFill>
                <a:latin typeface="Calibri"/>
              </a:rPr>
              <a:t>- Blackout GV Sol estimado: sábado 14/05 - 00:00 até segunda 16/05 - 23:59</a:t>
            </a:r>
          </a:p>
          <a:p>
            <a:pPr marL="285750" indent="-285750">
              <a:buFont typeface="Courier New" pitchFamily="49" charset="0"/>
              <a:buChar char="o"/>
            </a:pPr>
            <a:endParaRPr lang="pt-BR" sz="1600" dirty="0" smtClean="0"/>
          </a:p>
          <a:p>
            <a:pPr marL="285750" indent="-285750">
              <a:buFont typeface="Courier New" pitchFamily="49" charset="0"/>
              <a:buChar char="o"/>
            </a:pPr>
            <a:r>
              <a:rPr lang="pt-BR" sz="1600" dirty="0" smtClean="0"/>
              <a:t>Equipe de projeto (</a:t>
            </a:r>
            <a:r>
              <a:rPr lang="pt-BR" sz="1600" dirty="0" err="1" smtClean="0"/>
              <a:t>Natura+Accenture</a:t>
            </a:r>
            <a:r>
              <a:rPr lang="pt-BR" sz="1600" dirty="0" smtClean="0"/>
              <a:t>) fará suporte local (regional, CD, Centrais de atendimento) com apoio central </a:t>
            </a:r>
          </a:p>
          <a:p>
            <a:pPr marL="285750" indent="-285750">
              <a:buFont typeface="Courier New" pitchFamily="49" charset="0"/>
              <a:buChar char="o"/>
            </a:pPr>
            <a:endParaRPr lang="pt-BR" sz="1600" dirty="0"/>
          </a:p>
          <a:p>
            <a:pPr marL="285750" indent="-285750">
              <a:buFont typeface="Courier New" pitchFamily="49" charset="0"/>
              <a:buChar char="o"/>
            </a:pPr>
            <a:r>
              <a:rPr lang="pt-BR" sz="1600" dirty="0" smtClean="0"/>
              <a:t>Ilhas de atendimento dedicadas ao Terra, direcionamento automático na web</a:t>
            </a:r>
          </a:p>
          <a:p>
            <a:pPr marL="285750" indent="-285750">
              <a:buFont typeface="Courier New" pitchFamily="49" charset="0"/>
              <a:buChar char="o"/>
            </a:pPr>
            <a:endParaRPr lang="pt-BR" sz="1600" dirty="0" smtClean="0"/>
          </a:p>
          <a:p>
            <a:pPr marL="285750" indent="-285750">
              <a:buFont typeface="Courier New" pitchFamily="49" charset="0"/>
              <a:buChar char="o"/>
            </a:pPr>
            <a:endParaRPr lang="pt-BR" sz="1600" dirty="0" smtClean="0"/>
          </a:p>
          <a:p>
            <a:pPr marL="285750" indent="-285750">
              <a:buFont typeface="Courier New" pitchFamily="49" charset="0"/>
              <a:buChar char="o"/>
            </a:pPr>
            <a:endParaRPr lang="pt-BR" sz="1600" dirty="0" smtClean="0"/>
          </a:p>
          <a:p>
            <a:pPr marL="285750" indent="-285750">
              <a:buFont typeface="Courier New" pitchFamily="49" charset="0"/>
              <a:buChar char="o"/>
            </a:pPr>
            <a:endParaRPr lang="pt-BR" sz="1600" dirty="0"/>
          </a:p>
          <a:p>
            <a:pPr marL="285750" indent="-285750">
              <a:buFont typeface="Courier New" pitchFamily="49" charset="0"/>
              <a:buChar char="o"/>
            </a:pPr>
            <a:endParaRPr lang="pt-BR" sz="1600" dirty="0" smtClean="0"/>
          </a:p>
          <a:p>
            <a:pPr marL="285750" indent="-285750">
              <a:buFont typeface="Courier New" pitchFamily="49" charset="0"/>
              <a:buChar char="o"/>
            </a:pPr>
            <a:endParaRPr lang="pt-BR" sz="1600" dirty="0"/>
          </a:p>
          <a:p>
            <a:pPr marL="285750" indent="-285750">
              <a:buFont typeface="Courier New" pitchFamily="49" charset="0"/>
              <a:buChar char="o"/>
            </a:pPr>
            <a:endParaRPr lang="pt-BR" sz="1600" dirty="0" smtClean="0"/>
          </a:p>
        </p:txBody>
      </p:sp>
      <p:sp>
        <p:nvSpPr>
          <p:cNvPr id="4" name="Retângulo 3"/>
          <p:cNvSpPr/>
          <p:nvPr/>
        </p:nvSpPr>
        <p:spPr>
          <a:xfrm>
            <a:off x="323528" y="6205560"/>
            <a:ext cx="71287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pt-BR" sz="1400" dirty="0" smtClean="0">
                <a:solidFill>
                  <a:prstClr val="black"/>
                </a:solidFill>
                <a:latin typeface="Calibri"/>
              </a:rPr>
              <a:t>* SAP </a:t>
            </a:r>
            <a:r>
              <a:rPr lang="pt-BR" sz="1400" dirty="0">
                <a:solidFill>
                  <a:prstClr val="black"/>
                </a:solidFill>
                <a:latin typeface="Calibri"/>
              </a:rPr>
              <a:t>Brasil = faturamento e </a:t>
            </a:r>
            <a:r>
              <a:rPr lang="pt-BR" sz="1400" dirty="0" err="1">
                <a:solidFill>
                  <a:prstClr val="black"/>
                </a:solidFill>
                <a:latin typeface="Calibri"/>
              </a:rPr>
              <a:t>cross-company</a:t>
            </a:r>
            <a:r>
              <a:rPr lang="pt-BR" sz="1400" dirty="0">
                <a:solidFill>
                  <a:prstClr val="black"/>
                </a:solidFill>
                <a:latin typeface="Calibri"/>
              </a:rPr>
              <a:t>, recebimento, produção, compras, pagamentos, abastecimento, entre outros</a:t>
            </a:r>
          </a:p>
        </p:txBody>
      </p:sp>
    </p:spTree>
    <p:extLst>
      <p:ext uri="{BB962C8B-B14F-4D97-AF65-F5344CB8AC3E}">
        <p14:creationId xmlns:p14="http://schemas.microsoft.com/office/powerpoint/2010/main" val="268304099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tângulo 49"/>
          <p:cNvSpPr/>
          <p:nvPr/>
        </p:nvSpPr>
        <p:spPr>
          <a:xfrm>
            <a:off x="6919236" y="5934766"/>
            <a:ext cx="2195736" cy="9087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8194" name="Rectangle 58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03" name="think-cell Slide" r:id="rId31" imgW="0" imgH="0" progId="">
                  <p:embed/>
                </p:oleObj>
              </mc:Choice>
              <mc:Fallback>
                <p:oleObj name="think-cell Slide" r:id="rId31" imgW="0" imgH="0" progId="">
                  <p:embed/>
                  <p:pic>
                    <p:nvPicPr>
                      <p:cNvPr id="0" name="AutoShape 2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9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429000" y="1352550"/>
            <a:ext cx="2438400" cy="243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hlink">
                <a:gamma/>
                <a:shade val="60000"/>
                <a:invGamma/>
              </a:schemeClr>
            </a:prstShdw>
          </a:effectLst>
        </p:spPr>
        <p:txBody>
          <a:bodyPr anchor="ctr"/>
          <a:lstStyle/>
          <a:p>
            <a:pPr algn="ctr">
              <a:defRPr/>
            </a:pP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Black Out</a:t>
            </a:r>
          </a:p>
        </p:txBody>
      </p:sp>
      <p:sp>
        <p:nvSpPr>
          <p:cNvPr id="67" name="Rectangle 1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943600" y="1367790"/>
            <a:ext cx="1524000" cy="228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hlink">
                <a:gamma/>
                <a:shade val="60000"/>
                <a:invGamma/>
              </a:schemeClr>
            </a:prstShdw>
          </a:effectLst>
        </p:spPr>
        <p:txBody>
          <a:bodyPr anchor="ctr"/>
          <a:lstStyle/>
          <a:p>
            <a:pPr algn="ctr">
              <a:defRPr/>
            </a:pPr>
            <a:r>
              <a:rPr lang="pt-BR" sz="1400" b="1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Ramp</a:t>
            </a: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 </a:t>
            </a:r>
            <a:r>
              <a:rPr lang="pt-BR" sz="1400" b="1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Up</a:t>
            </a:r>
            <a:endParaRPr lang="pt-BR" sz="1400" b="1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+mn-cs"/>
            </a:endParaRPr>
          </a:p>
        </p:txBody>
      </p:sp>
      <p:sp>
        <p:nvSpPr>
          <p:cNvPr id="68" name="Rectangle 1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600200" y="1352550"/>
            <a:ext cx="1752600" cy="243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hlink">
                <a:gamma/>
                <a:shade val="60000"/>
                <a:invGamma/>
              </a:schemeClr>
            </a:prstShdw>
          </a:effectLst>
        </p:spPr>
        <p:txBody>
          <a:bodyPr anchor="ctr"/>
          <a:lstStyle/>
          <a:p>
            <a:pPr algn="ctr">
              <a:defRPr/>
            </a:pP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Restrições Iniciais</a:t>
            </a:r>
          </a:p>
        </p:txBody>
      </p:sp>
      <p:cxnSp>
        <p:nvCxnSpPr>
          <p:cNvPr id="76" name="Straight Connector 39"/>
          <p:cNvCxnSpPr/>
          <p:nvPr>
            <p:custDataLst>
              <p:tags r:id="rId6"/>
            </p:custDataLst>
          </p:nvPr>
        </p:nvCxnSpPr>
        <p:spPr>
          <a:xfrm>
            <a:off x="5886450" y="1619281"/>
            <a:ext cx="0" cy="2266955"/>
          </a:xfrm>
          <a:prstGeom prst="line">
            <a:avLst/>
          </a:prstGeom>
          <a:ln w="158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40"/>
          <p:cNvCxnSpPr/>
          <p:nvPr>
            <p:custDataLst>
              <p:tags r:id="rId7"/>
            </p:custDataLst>
          </p:nvPr>
        </p:nvCxnSpPr>
        <p:spPr>
          <a:xfrm>
            <a:off x="7524757" y="1619281"/>
            <a:ext cx="23813" cy="2266955"/>
          </a:xfrm>
          <a:prstGeom prst="line">
            <a:avLst/>
          </a:prstGeom>
          <a:ln w="158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ight Arrow 63"/>
          <p:cNvSpPr/>
          <p:nvPr>
            <p:custDataLst>
              <p:tags r:id="rId8"/>
            </p:custDataLst>
          </p:nvPr>
        </p:nvSpPr>
        <p:spPr>
          <a:xfrm>
            <a:off x="76251" y="777244"/>
            <a:ext cx="8945563" cy="552450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1200"/>
          </a:p>
        </p:txBody>
      </p:sp>
      <p:sp>
        <p:nvSpPr>
          <p:cNvPr id="79" name="TextBox 67"/>
          <p:cNvSpPr txBox="1"/>
          <p:nvPr>
            <p:custDataLst>
              <p:tags r:id="rId9"/>
            </p:custDataLst>
          </p:nvPr>
        </p:nvSpPr>
        <p:spPr>
          <a:xfrm>
            <a:off x="7400926" y="870587"/>
            <a:ext cx="31290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sz="1200" b="1" i="1" dirty="0" smtClean="0">
                <a:cs typeface="+mn-cs"/>
              </a:rPr>
              <a:t>D</a:t>
            </a:r>
            <a:endParaRPr lang="pt-BR" sz="1200" b="1" i="1" dirty="0">
              <a:cs typeface="+mn-cs"/>
            </a:endParaRPr>
          </a:p>
        </p:txBody>
      </p:sp>
      <p:sp>
        <p:nvSpPr>
          <p:cNvPr id="8202" name="TextBox 103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435851" y="1756410"/>
            <a:ext cx="686406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100"/>
              <a:t>Go-live</a:t>
            </a:r>
          </a:p>
        </p:txBody>
      </p:sp>
      <p:sp>
        <p:nvSpPr>
          <p:cNvPr id="81" name="5-Point Star 102"/>
          <p:cNvSpPr/>
          <p:nvPr>
            <p:custDataLst>
              <p:tags r:id="rId11"/>
            </p:custDataLst>
          </p:nvPr>
        </p:nvSpPr>
        <p:spPr>
          <a:xfrm>
            <a:off x="7423150" y="2007870"/>
            <a:ext cx="228600" cy="276226"/>
          </a:xfrm>
          <a:prstGeom prst="star5">
            <a:avLst/>
          </a:prstGeom>
          <a:solidFill>
            <a:srgbClr val="FFFF00">
              <a:alpha val="3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1000"/>
          </a:p>
        </p:txBody>
      </p:sp>
      <p:sp>
        <p:nvSpPr>
          <p:cNvPr id="82" name="TextBox 93"/>
          <p:cNvSpPr txBox="1"/>
          <p:nvPr/>
        </p:nvSpPr>
        <p:spPr>
          <a:xfrm>
            <a:off x="1464727" y="870587"/>
            <a:ext cx="6046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sz="1200" b="1" i="1" dirty="0" smtClean="0">
                <a:cs typeface="+mn-cs"/>
              </a:rPr>
              <a:t>D-21</a:t>
            </a:r>
            <a:endParaRPr lang="pt-BR" sz="1200" b="1" i="1" dirty="0">
              <a:cs typeface="+mn-cs"/>
            </a:endParaRPr>
          </a:p>
        </p:txBody>
      </p:sp>
      <p:sp>
        <p:nvSpPr>
          <p:cNvPr id="83" name="Retângulo 82"/>
          <p:cNvSpPr/>
          <p:nvPr>
            <p:custDataLst>
              <p:tags r:id="rId12"/>
            </p:custDataLst>
          </p:nvPr>
        </p:nvSpPr>
        <p:spPr>
          <a:xfrm>
            <a:off x="3429023" y="2558998"/>
            <a:ext cx="2390775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>
              <a:defRPr/>
            </a:pPr>
            <a:r>
              <a:rPr lang="pt-BR" sz="1200" dirty="0"/>
              <a:t>Período para atividades que demandam parada parcial ou total da operação. </a:t>
            </a:r>
            <a:endParaRPr lang="pt-BR" sz="1200" dirty="0" smtClean="0"/>
          </a:p>
          <a:p>
            <a:pPr>
              <a:defRPr/>
            </a:pPr>
            <a:endParaRPr lang="pt-BR" sz="1200" dirty="0"/>
          </a:p>
          <a:p>
            <a:pPr>
              <a:defRPr/>
            </a:pPr>
            <a:endParaRPr lang="pt-BR" sz="1200" dirty="0"/>
          </a:p>
        </p:txBody>
      </p:sp>
      <p:sp>
        <p:nvSpPr>
          <p:cNvPr id="84" name="Retângulo 83"/>
          <p:cNvSpPr/>
          <p:nvPr>
            <p:custDataLst>
              <p:tags r:id="rId13"/>
            </p:custDataLst>
          </p:nvPr>
        </p:nvSpPr>
        <p:spPr>
          <a:xfrm>
            <a:off x="5943600" y="2572805"/>
            <a:ext cx="1524000" cy="9387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>
              <a:defRPr/>
            </a:pPr>
            <a:r>
              <a:rPr lang="pt-BR" sz="1100" dirty="0"/>
              <a:t>Período de </a:t>
            </a:r>
            <a:r>
              <a:rPr lang="pt-BR" sz="1100" dirty="0" smtClean="0"/>
              <a:t>reinício </a:t>
            </a:r>
            <a:r>
              <a:rPr lang="pt-BR" sz="1100" dirty="0"/>
              <a:t>das atividades operacionais de maneira </a:t>
            </a:r>
            <a:r>
              <a:rPr lang="pt-BR" sz="1100" dirty="0" smtClean="0"/>
              <a:t>controlada</a:t>
            </a:r>
          </a:p>
        </p:txBody>
      </p:sp>
      <p:sp>
        <p:nvSpPr>
          <p:cNvPr id="85" name="Rectangle 15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7524768" y="1367790"/>
            <a:ext cx="1547813" cy="2266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hlink">
                <a:gamma/>
                <a:shade val="60000"/>
                <a:invGamma/>
              </a:schemeClr>
            </a:prstShdw>
          </a:effectLst>
        </p:spPr>
        <p:txBody>
          <a:bodyPr anchor="ctr"/>
          <a:lstStyle/>
          <a:p>
            <a:pPr algn="ctr">
              <a:defRPr/>
            </a:pP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Pós </a:t>
            </a:r>
            <a:r>
              <a:rPr lang="pt-BR" sz="1400" b="1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Cut</a:t>
            </a: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 Over</a:t>
            </a:r>
          </a:p>
        </p:txBody>
      </p:sp>
      <p:cxnSp>
        <p:nvCxnSpPr>
          <p:cNvPr id="86" name="Straight Connector 15"/>
          <p:cNvCxnSpPr/>
          <p:nvPr>
            <p:custDataLst>
              <p:tags r:id="rId15"/>
            </p:custDataLst>
          </p:nvPr>
        </p:nvCxnSpPr>
        <p:spPr bwMode="auto">
          <a:xfrm>
            <a:off x="3352800" y="2358390"/>
            <a:ext cx="2516188" cy="57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15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76200" y="1352550"/>
            <a:ext cx="1447800" cy="228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hlink">
                <a:gamma/>
                <a:shade val="60000"/>
                <a:invGamma/>
              </a:schemeClr>
            </a:prstShdw>
          </a:effectLst>
        </p:spPr>
        <p:txBody>
          <a:bodyPr anchor="ctr"/>
          <a:lstStyle/>
          <a:p>
            <a:pPr algn="ctr">
              <a:defRPr/>
            </a:pP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Pré </a:t>
            </a:r>
            <a:r>
              <a:rPr lang="pt-BR" sz="1400" b="1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Cut</a:t>
            </a: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 Over</a:t>
            </a:r>
          </a:p>
        </p:txBody>
      </p:sp>
      <p:sp>
        <p:nvSpPr>
          <p:cNvPr id="88" name="Retângulo 87"/>
          <p:cNvSpPr/>
          <p:nvPr>
            <p:custDataLst>
              <p:tags r:id="rId17"/>
            </p:custDataLst>
          </p:nvPr>
        </p:nvSpPr>
        <p:spPr>
          <a:xfrm>
            <a:off x="1737982" y="2563035"/>
            <a:ext cx="1581150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>
              <a:defRPr/>
            </a:pPr>
            <a:r>
              <a:rPr lang="pt-BR" sz="1200" dirty="0"/>
              <a:t>Atividades de restrições e bloqueio de operações e sistemas </a:t>
            </a:r>
          </a:p>
        </p:txBody>
      </p:sp>
      <p:sp>
        <p:nvSpPr>
          <p:cNvPr id="89" name="Retângulo 88"/>
          <p:cNvSpPr/>
          <p:nvPr>
            <p:custDataLst>
              <p:tags r:id="rId18"/>
            </p:custDataLst>
          </p:nvPr>
        </p:nvSpPr>
        <p:spPr>
          <a:xfrm>
            <a:off x="76200" y="2560602"/>
            <a:ext cx="1524000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pt-BR" sz="1200" dirty="0"/>
              <a:t>Atividades preparatórias para o </a:t>
            </a:r>
            <a:r>
              <a:rPr lang="pt-BR" sz="1200" dirty="0" err="1"/>
              <a:t>cut</a:t>
            </a:r>
            <a:r>
              <a:rPr lang="pt-BR" sz="1200" dirty="0"/>
              <a:t> </a:t>
            </a:r>
            <a:r>
              <a:rPr lang="pt-BR" sz="1200" dirty="0" smtClean="0"/>
              <a:t>over</a:t>
            </a:r>
          </a:p>
          <a:p>
            <a:pPr>
              <a:defRPr/>
            </a:pPr>
            <a:endParaRPr lang="pt-BR" sz="1200" dirty="0"/>
          </a:p>
          <a:p>
            <a:pPr>
              <a:defRPr/>
            </a:pPr>
            <a:endParaRPr lang="pt-BR" sz="1200" dirty="0"/>
          </a:p>
        </p:txBody>
      </p:sp>
      <p:sp>
        <p:nvSpPr>
          <p:cNvPr id="90" name="TextBox 93"/>
          <p:cNvSpPr txBox="1"/>
          <p:nvPr>
            <p:custDataLst>
              <p:tags r:id="rId19"/>
            </p:custDataLst>
          </p:nvPr>
        </p:nvSpPr>
        <p:spPr>
          <a:xfrm>
            <a:off x="25400" y="870587"/>
            <a:ext cx="6046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sz="1200" b="1" i="1" dirty="0" smtClean="0">
                <a:cs typeface="+mn-cs"/>
              </a:rPr>
              <a:t>D-90</a:t>
            </a:r>
            <a:endParaRPr lang="pt-BR" sz="1200" b="1" i="1" dirty="0">
              <a:cs typeface="+mn-cs"/>
            </a:endParaRPr>
          </a:p>
        </p:txBody>
      </p:sp>
      <p:sp>
        <p:nvSpPr>
          <p:cNvPr id="92" name="Retângulo 91"/>
          <p:cNvSpPr/>
          <p:nvPr>
            <p:custDataLst>
              <p:tags r:id="rId20"/>
            </p:custDataLst>
          </p:nvPr>
        </p:nvSpPr>
        <p:spPr>
          <a:xfrm>
            <a:off x="7629525" y="2582867"/>
            <a:ext cx="1409700" cy="9387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>
              <a:defRPr/>
            </a:pPr>
            <a:r>
              <a:rPr lang="pt-BR" sz="1100" dirty="0"/>
              <a:t>Período para </a:t>
            </a:r>
            <a:r>
              <a:rPr lang="pt-BR" sz="1100" dirty="0" smtClean="0"/>
              <a:t>acompanhamento</a:t>
            </a:r>
            <a:r>
              <a:rPr lang="pt-BR" sz="1100" dirty="0"/>
              <a:t>, estabilização, </a:t>
            </a:r>
            <a:r>
              <a:rPr lang="pt-BR" sz="1100" dirty="0" smtClean="0"/>
              <a:t>validações da GV piloto</a:t>
            </a:r>
            <a:endParaRPr lang="pt-BR" sz="1200" dirty="0"/>
          </a:p>
        </p:txBody>
      </p:sp>
      <p:cxnSp>
        <p:nvCxnSpPr>
          <p:cNvPr id="69" name="Straight Connector 39"/>
          <p:cNvCxnSpPr/>
          <p:nvPr>
            <p:custDataLst>
              <p:tags r:id="rId21"/>
            </p:custDataLst>
          </p:nvPr>
        </p:nvCxnSpPr>
        <p:spPr>
          <a:xfrm>
            <a:off x="3386468" y="1619281"/>
            <a:ext cx="0" cy="2266955"/>
          </a:xfrm>
          <a:prstGeom prst="line">
            <a:avLst/>
          </a:prstGeom>
          <a:ln w="158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39"/>
          <p:cNvCxnSpPr/>
          <p:nvPr>
            <p:custDataLst>
              <p:tags r:id="rId22"/>
            </p:custDataLst>
          </p:nvPr>
        </p:nvCxnSpPr>
        <p:spPr>
          <a:xfrm>
            <a:off x="1676400" y="1619253"/>
            <a:ext cx="0" cy="2266952"/>
          </a:xfrm>
          <a:prstGeom prst="line">
            <a:avLst/>
          </a:prstGeom>
          <a:ln w="158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65"/>
          <p:cNvGrpSpPr>
            <a:grpSpLocks/>
          </p:cNvGrpSpPr>
          <p:nvPr>
            <p:custDataLst>
              <p:tags r:id="rId23"/>
            </p:custDataLst>
          </p:nvPr>
        </p:nvGrpSpPr>
        <p:grpSpPr bwMode="auto">
          <a:xfrm>
            <a:off x="160368" y="1647826"/>
            <a:ext cx="8893175" cy="725804"/>
            <a:chOff x="160477" y="1504667"/>
            <a:chExt cx="8893675" cy="725197"/>
          </a:xfrm>
        </p:grpSpPr>
        <p:cxnSp>
          <p:nvCxnSpPr>
            <p:cNvPr id="70" name="Straight Connector 15"/>
            <p:cNvCxnSpPr/>
            <p:nvPr/>
          </p:nvCxnSpPr>
          <p:spPr>
            <a:xfrm flipV="1">
              <a:off x="160477" y="1508474"/>
              <a:ext cx="1363739" cy="95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8"/>
            <p:cNvCxnSpPr/>
            <p:nvPr/>
          </p:nvCxnSpPr>
          <p:spPr>
            <a:xfrm flipV="1">
              <a:off x="7468150" y="1504667"/>
              <a:ext cx="1586002" cy="380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24"/>
            <p:cNvCxnSpPr/>
            <p:nvPr/>
          </p:nvCxnSpPr>
          <p:spPr>
            <a:xfrm rot="10800000" flipV="1">
              <a:off x="5867860" y="1508474"/>
              <a:ext cx="1600290" cy="72139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27"/>
            <p:cNvCxnSpPr/>
            <p:nvPr/>
          </p:nvCxnSpPr>
          <p:spPr>
            <a:xfrm>
              <a:off x="1524216" y="1508474"/>
              <a:ext cx="1828903" cy="70616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Retângulo 90"/>
          <p:cNvSpPr/>
          <p:nvPr>
            <p:custDataLst>
              <p:tags r:id="rId24"/>
            </p:custDataLst>
          </p:nvPr>
        </p:nvSpPr>
        <p:spPr>
          <a:xfrm>
            <a:off x="1632099" y="4011005"/>
            <a:ext cx="5895976" cy="276999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pt-BR" sz="1200" b="1" dirty="0"/>
              <a:t>Período de </a:t>
            </a:r>
            <a:r>
              <a:rPr lang="pt-BR" sz="1200" b="1" dirty="0" err="1"/>
              <a:t>cut</a:t>
            </a:r>
            <a:r>
              <a:rPr lang="pt-BR" sz="1200" b="1" dirty="0"/>
              <a:t> over</a:t>
            </a:r>
          </a:p>
        </p:txBody>
      </p:sp>
      <p:sp>
        <p:nvSpPr>
          <p:cNvPr id="36" name="Title 1"/>
          <p:cNvSpPr txBox="1">
            <a:spLocks/>
          </p:cNvSpPr>
          <p:nvPr/>
        </p:nvSpPr>
        <p:spPr bwMode="auto">
          <a:xfrm>
            <a:off x="228600" y="62866"/>
            <a:ext cx="7315200" cy="699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pt-BR" sz="2000" kern="0" dirty="0" smtClean="0">
                <a:latin typeface="Verdana" pitchFamily="34" charset="0"/>
                <a:ea typeface="+mj-ea"/>
              </a:rPr>
              <a:t>Conceito da Estratégia de Implementação</a:t>
            </a:r>
            <a:endParaRPr lang="en-US" sz="2000" kern="0" dirty="0">
              <a:latin typeface="Verdana" pitchFamily="34" charset="0"/>
              <a:ea typeface="+mj-ea"/>
            </a:endParaRPr>
          </a:p>
        </p:txBody>
      </p:sp>
      <p:pic>
        <p:nvPicPr>
          <p:cNvPr id="8222" name="Picture 34"/>
          <p:cNvPicPr>
            <a:picLocks noChangeAspect="1" noChangeArrowheads="1"/>
          </p:cNvPicPr>
          <p:nvPr/>
        </p:nvPicPr>
        <p:blipFill>
          <a:blip r:embed="rId32" cstate="print"/>
          <a:srcRect/>
          <a:stretch>
            <a:fillRect/>
          </a:stretch>
        </p:blipFill>
        <p:spPr bwMode="auto">
          <a:xfrm>
            <a:off x="4191000" y="1649730"/>
            <a:ext cx="990600" cy="67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" name="Right Arrow 33"/>
          <p:cNvSpPr/>
          <p:nvPr/>
        </p:nvSpPr>
        <p:spPr>
          <a:xfrm>
            <a:off x="213982" y="3446256"/>
            <a:ext cx="3048000" cy="76390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855663" eaLnBrk="0" hangingPunct="0">
              <a:defRPr/>
            </a:pPr>
            <a:r>
              <a:rPr lang="en-US" dirty="0" err="1"/>
              <a:t>Pré-operatório</a:t>
            </a:r>
            <a:endParaRPr lang="en-US" dirty="0"/>
          </a:p>
        </p:txBody>
      </p:sp>
      <p:sp>
        <p:nvSpPr>
          <p:cNvPr id="35" name="Right Arrow 34"/>
          <p:cNvSpPr/>
          <p:nvPr/>
        </p:nvSpPr>
        <p:spPr>
          <a:xfrm>
            <a:off x="3430588" y="3426054"/>
            <a:ext cx="2438400" cy="76390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855663" eaLnBrk="0" hangingPunct="0">
              <a:defRPr/>
            </a:pPr>
            <a:r>
              <a:rPr lang="en-US" dirty="0" err="1"/>
              <a:t>Cirurgia</a:t>
            </a:r>
            <a:endParaRPr lang="en-US" dirty="0"/>
          </a:p>
        </p:txBody>
      </p:sp>
      <p:sp>
        <p:nvSpPr>
          <p:cNvPr id="37" name="Right Arrow 36"/>
          <p:cNvSpPr/>
          <p:nvPr/>
        </p:nvSpPr>
        <p:spPr>
          <a:xfrm>
            <a:off x="6010276" y="3426054"/>
            <a:ext cx="2971800" cy="76390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855663" eaLnBrk="0" hangingPunct="0">
              <a:defRPr/>
            </a:pPr>
            <a:r>
              <a:rPr lang="en-US" dirty="0" err="1"/>
              <a:t>Pós-operatório</a:t>
            </a:r>
            <a:endParaRPr lang="en-US" dirty="0"/>
          </a:p>
        </p:txBody>
      </p:sp>
      <p:sp>
        <p:nvSpPr>
          <p:cNvPr id="38" name="TextBox 93"/>
          <p:cNvSpPr txBox="1"/>
          <p:nvPr/>
        </p:nvSpPr>
        <p:spPr>
          <a:xfrm>
            <a:off x="3200411" y="870587"/>
            <a:ext cx="49564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sz="1200" b="1" i="1" dirty="0" smtClean="0">
                <a:cs typeface="+mn-cs"/>
              </a:rPr>
              <a:t>D-3</a:t>
            </a:r>
            <a:endParaRPr lang="pt-BR" sz="1200" b="1" i="1" dirty="0">
              <a:cs typeface="+mn-cs"/>
            </a:endParaRPr>
          </a:p>
        </p:txBody>
      </p:sp>
      <p:sp>
        <p:nvSpPr>
          <p:cNvPr id="40" name="TextBox 93"/>
          <p:cNvSpPr txBox="1"/>
          <p:nvPr/>
        </p:nvSpPr>
        <p:spPr>
          <a:xfrm>
            <a:off x="5664488" y="876527"/>
            <a:ext cx="49564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sz="1200" b="1" i="1" dirty="0" smtClean="0">
                <a:cs typeface="+mn-cs"/>
              </a:rPr>
              <a:t>D-1</a:t>
            </a:r>
            <a:endParaRPr lang="pt-BR" sz="1200" b="1" i="1" dirty="0">
              <a:cs typeface="+mn-cs"/>
            </a:endParaRPr>
          </a:p>
        </p:txBody>
      </p:sp>
      <p:sp>
        <p:nvSpPr>
          <p:cNvPr id="43" name="TextBox 67"/>
          <p:cNvSpPr txBox="1"/>
          <p:nvPr>
            <p:custDataLst>
              <p:tags r:id="rId25"/>
            </p:custDataLst>
          </p:nvPr>
        </p:nvSpPr>
        <p:spPr>
          <a:xfrm>
            <a:off x="8512840" y="868685"/>
            <a:ext cx="66396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sz="1200" b="1" i="1" dirty="0" smtClean="0">
                <a:cs typeface="+mn-cs"/>
              </a:rPr>
              <a:t>D+42</a:t>
            </a:r>
            <a:endParaRPr lang="pt-BR" sz="1200" b="1" i="1" dirty="0">
              <a:cs typeface="+mn-cs"/>
            </a:endParaRPr>
          </a:p>
        </p:txBody>
      </p:sp>
      <p:sp>
        <p:nvSpPr>
          <p:cNvPr id="44" name="Rectangle 111"/>
          <p:cNvSpPr/>
          <p:nvPr>
            <p:custDataLst>
              <p:tags r:id="rId26"/>
            </p:custDataLst>
          </p:nvPr>
        </p:nvSpPr>
        <p:spPr>
          <a:xfrm>
            <a:off x="23247" y="4380614"/>
            <a:ext cx="3339966" cy="2286000"/>
          </a:xfrm>
          <a:prstGeom prst="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Verdana" pitchFamily="34" charset="0"/>
              <a:buChar char="●"/>
            </a:pPr>
            <a:endParaRPr lang="pt-BR" sz="1200" dirty="0" smtClean="0">
              <a:solidFill>
                <a:schemeClr val="tx1"/>
              </a:solidFill>
            </a:endParaRPr>
          </a:p>
          <a:p>
            <a:pPr marL="342900" indent="-342900">
              <a:buFont typeface="Verdana" pitchFamily="34" charset="0"/>
              <a:buChar char="●"/>
            </a:pPr>
            <a:endParaRPr lang="pt-BR" sz="1200" dirty="0" smtClean="0">
              <a:solidFill>
                <a:schemeClr val="tx1"/>
              </a:solidFill>
            </a:endParaRPr>
          </a:p>
          <a:p>
            <a:pPr marL="342900" indent="-342900">
              <a:buFont typeface="Verdana" pitchFamily="34" charset="0"/>
              <a:buChar char="●"/>
            </a:pPr>
            <a:endParaRPr lang="pt-BR" sz="1200" dirty="0" smtClean="0">
              <a:solidFill>
                <a:schemeClr val="tx1"/>
              </a:solidFill>
            </a:endParaRPr>
          </a:p>
          <a:p>
            <a:pPr marL="342900" indent="-342900">
              <a:buFont typeface="Verdana" pitchFamily="34" charset="0"/>
              <a:buChar char="●"/>
            </a:pPr>
            <a:endParaRPr lang="pt-BR" sz="12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endParaRPr lang="pt-BR" sz="1400" dirty="0" smtClean="0">
              <a:solidFill>
                <a:schemeClr val="tx1"/>
              </a:solidFill>
            </a:endParaRPr>
          </a:p>
        </p:txBody>
      </p:sp>
      <p:sp>
        <p:nvSpPr>
          <p:cNvPr id="45" name="Rectangle 124"/>
          <p:cNvSpPr/>
          <p:nvPr>
            <p:custDataLst>
              <p:tags r:id="rId27"/>
            </p:custDataLst>
          </p:nvPr>
        </p:nvSpPr>
        <p:spPr>
          <a:xfrm>
            <a:off x="3429000" y="4380618"/>
            <a:ext cx="2457450" cy="2289187"/>
          </a:xfrm>
          <a:prstGeom prst="rect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pt-BR" sz="1200" dirty="0" smtClean="0">
              <a:solidFill>
                <a:srgbClr val="00B0F0"/>
              </a:solidFill>
            </a:endParaRPr>
          </a:p>
          <a:p>
            <a:endParaRPr lang="pt-BR" sz="1000" dirty="0" smtClean="0">
              <a:solidFill>
                <a:srgbClr val="00B0F0"/>
              </a:solidFill>
            </a:endParaRPr>
          </a:p>
          <a:p>
            <a:endParaRPr lang="pt-BR" sz="1000" dirty="0" smtClean="0">
              <a:solidFill>
                <a:schemeClr val="tx1"/>
              </a:solidFill>
            </a:endParaRPr>
          </a:p>
          <a:p>
            <a:endParaRPr lang="pt-BR" sz="1200" dirty="0" smtClean="0">
              <a:solidFill>
                <a:schemeClr val="tx1"/>
              </a:solidFill>
            </a:endParaRPr>
          </a:p>
          <a:p>
            <a:endParaRPr lang="pt-BR" sz="1200" dirty="0" smtClean="0">
              <a:solidFill>
                <a:schemeClr val="tx1"/>
              </a:solidFill>
            </a:endParaRPr>
          </a:p>
          <a:p>
            <a:endParaRPr lang="pt-BR" sz="1400" dirty="0" smtClean="0">
              <a:solidFill>
                <a:schemeClr val="tx1"/>
              </a:solidFill>
            </a:endParaRPr>
          </a:p>
        </p:txBody>
      </p:sp>
      <p:sp>
        <p:nvSpPr>
          <p:cNvPr id="46" name="Rectangle 126"/>
          <p:cNvSpPr/>
          <p:nvPr>
            <p:custDataLst>
              <p:tags r:id="rId28"/>
            </p:custDataLst>
          </p:nvPr>
        </p:nvSpPr>
        <p:spPr>
          <a:xfrm>
            <a:off x="5943603" y="4380614"/>
            <a:ext cx="3095625" cy="2286000"/>
          </a:xfrm>
          <a:prstGeom prst="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Verdana" pitchFamily="34" charset="0"/>
              <a:buChar char="●"/>
            </a:pPr>
            <a:endParaRPr lang="pt-BR" sz="1200" dirty="0" smtClean="0">
              <a:solidFill>
                <a:schemeClr val="tx1"/>
              </a:solidFill>
            </a:endParaRPr>
          </a:p>
        </p:txBody>
      </p:sp>
      <p:sp>
        <p:nvSpPr>
          <p:cNvPr id="47" name="TextBox 131"/>
          <p:cNvSpPr txBox="1"/>
          <p:nvPr/>
        </p:nvSpPr>
        <p:spPr>
          <a:xfrm>
            <a:off x="25400" y="4395461"/>
            <a:ext cx="3327400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Virada de chave para captação em Cajamar (</a:t>
            </a:r>
            <a:r>
              <a:rPr lang="pt-BR" sz="1100" dirty="0" err="1" smtClean="0">
                <a:latin typeface="+mn-lt"/>
                <a:cs typeface="+mn-cs"/>
              </a:rPr>
              <a:t>GVs</a:t>
            </a:r>
            <a:r>
              <a:rPr lang="pt-BR" sz="1100" dirty="0" smtClean="0">
                <a:latin typeface="+mn-lt"/>
                <a:cs typeface="+mn-cs"/>
              </a:rPr>
              <a:t> de Canoas)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>
                <a:latin typeface="+mn-lt"/>
              </a:rPr>
              <a:t>Interrupção da separação e limpeza das linhas (</a:t>
            </a:r>
            <a:r>
              <a:rPr lang="pt-BR" sz="1100" dirty="0" err="1">
                <a:latin typeface="+mn-lt"/>
              </a:rPr>
              <a:t>GVs</a:t>
            </a:r>
            <a:r>
              <a:rPr lang="pt-BR" sz="1100" dirty="0">
                <a:latin typeface="+mn-lt"/>
              </a:rPr>
              <a:t> que serão migradas</a:t>
            </a:r>
            <a:r>
              <a:rPr lang="pt-BR" sz="1100" dirty="0" smtClean="0">
                <a:latin typeface="+mn-lt"/>
              </a:rPr>
              <a:t>)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>
              <a:latin typeface="+mn-lt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</a:rPr>
              <a:t>Contagem </a:t>
            </a:r>
            <a:r>
              <a:rPr lang="pt-BR" sz="1100" dirty="0">
                <a:latin typeface="+mn-lt"/>
              </a:rPr>
              <a:t>de Inventário em </a:t>
            </a:r>
            <a:r>
              <a:rPr lang="pt-BR" sz="1100" dirty="0" smtClean="0">
                <a:latin typeface="+mn-lt"/>
              </a:rPr>
              <a:t>Canoas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>
                <a:latin typeface="+mn-lt"/>
              </a:rPr>
              <a:t>Análise de pedidos pendentes débito e crédito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200" dirty="0"/>
          </a:p>
          <a:p>
            <a:pPr marL="342900" indent="-342900">
              <a:buFont typeface="Verdana" pitchFamily="34" charset="0"/>
              <a:buChar char="●"/>
            </a:pPr>
            <a:endParaRPr lang="pt-BR" sz="1200" dirty="0" smtClean="0">
              <a:latin typeface="+mn-lt"/>
              <a:cs typeface="+mn-cs"/>
            </a:endParaRPr>
          </a:p>
        </p:txBody>
      </p:sp>
      <p:sp>
        <p:nvSpPr>
          <p:cNvPr id="48" name="TextBox 131"/>
          <p:cNvSpPr txBox="1"/>
          <p:nvPr/>
        </p:nvSpPr>
        <p:spPr>
          <a:xfrm>
            <a:off x="3417752" y="4395489"/>
            <a:ext cx="2451236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Interrupção no Capta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Interrupção nos processos do SAP (faturamento, produção e outros)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Instalação dos sistemas e processos do Terra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Conversão de pedidos, títulos, cotas, </a:t>
            </a:r>
            <a:r>
              <a:rPr lang="pt-BR" sz="1100" dirty="0" err="1" smtClean="0">
                <a:latin typeface="+mn-lt"/>
                <a:cs typeface="+mn-cs"/>
              </a:rPr>
              <a:t>NCs</a:t>
            </a:r>
            <a:r>
              <a:rPr lang="pt-BR" sz="1100" dirty="0" smtClean="0">
                <a:latin typeface="+mn-lt"/>
                <a:cs typeface="+mn-cs"/>
              </a:rPr>
              <a:t> e outros</a:t>
            </a:r>
            <a:endParaRPr lang="pt-BR" sz="1200" dirty="0" smtClean="0">
              <a:latin typeface="+mn-lt"/>
              <a:cs typeface="+mn-cs"/>
            </a:endParaRPr>
          </a:p>
        </p:txBody>
      </p:sp>
      <p:sp>
        <p:nvSpPr>
          <p:cNvPr id="49" name="TextBox 131"/>
          <p:cNvSpPr txBox="1"/>
          <p:nvPr/>
        </p:nvSpPr>
        <p:spPr>
          <a:xfrm>
            <a:off x="5943600" y="4394438"/>
            <a:ext cx="303847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Liberação dos ambientes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Início das operações em Canoas (GV Sol)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Início dos procedimentos e processos para convivência de </a:t>
            </a:r>
            <a:r>
              <a:rPr lang="pt-BR" sz="1100" dirty="0" err="1" smtClean="0">
                <a:latin typeface="+mn-lt"/>
                <a:cs typeface="+mn-cs"/>
              </a:rPr>
              <a:t>GVs</a:t>
            </a:r>
            <a:r>
              <a:rPr lang="pt-BR" sz="1100" dirty="0" smtClean="0">
                <a:latin typeface="+mn-lt"/>
                <a:cs typeface="+mn-cs"/>
              </a:rPr>
              <a:t> no Terra e </a:t>
            </a:r>
            <a:r>
              <a:rPr lang="pt-BR" sz="1100" dirty="0" err="1" smtClean="0">
                <a:latin typeface="+mn-lt"/>
                <a:cs typeface="+mn-cs"/>
              </a:rPr>
              <a:t>GVs</a:t>
            </a:r>
            <a:r>
              <a:rPr lang="pt-BR" sz="1100" dirty="0" smtClean="0">
                <a:latin typeface="+mn-lt"/>
                <a:cs typeface="+mn-cs"/>
              </a:rPr>
              <a:t> fora do Terra</a:t>
            </a:r>
          </a:p>
        </p:txBody>
      </p:sp>
    </p:spTree>
    <p:extLst>
      <p:ext uri="{BB962C8B-B14F-4D97-AF65-F5344CB8AC3E}">
        <p14:creationId xmlns:p14="http://schemas.microsoft.com/office/powerpoint/2010/main" val="17293244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7" grpId="0" animBg="1"/>
      <p:bldP spid="44" grpId="0" animBg="1"/>
      <p:bldP spid="45" grpId="0" animBg="1"/>
      <p:bldP spid="46" grpId="0" animBg="1"/>
      <p:bldP spid="47" grpId="0"/>
      <p:bldP spid="48" grpId="0"/>
      <p:bldP spid="4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60" name="think-cell Slide" r:id="rId6" imgW="0" imgH="0" progId="">
                  <p:embed/>
                </p:oleObj>
              </mc:Choice>
              <mc:Fallback>
                <p:oleObj name="think-cell Slide" r:id="rId6" imgW="0" imgH="0" progId="">
                  <p:embed/>
                  <p:pic>
                    <p:nvPicPr>
                      <p:cNvPr id="0" name="AutoShape 2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9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/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52400" y="0"/>
            <a:ext cx="8686800" cy="699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pt-BR" sz="2000" dirty="0" smtClean="0">
                <a:latin typeface="+mn-lt"/>
              </a:rPr>
              <a:t>Go </a:t>
            </a:r>
            <a:r>
              <a:rPr lang="pt-BR" sz="2000" dirty="0" err="1" smtClean="0">
                <a:latin typeface="+mn-lt"/>
              </a:rPr>
              <a:t>Lives</a:t>
            </a:r>
            <a:r>
              <a:rPr lang="pt-BR" sz="2000" dirty="0" smtClean="0">
                <a:latin typeface="+mn-lt"/>
              </a:rPr>
              <a:t> – </a:t>
            </a:r>
            <a:r>
              <a:rPr lang="pt-BR" sz="2000" dirty="0" err="1" smtClean="0">
                <a:latin typeface="+mn-lt"/>
              </a:rPr>
              <a:t>Seqüência</a:t>
            </a:r>
            <a:r>
              <a:rPr lang="pt-BR" sz="2000" dirty="0" smtClean="0">
                <a:latin typeface="+mn-lt"/>
              </a:rPr>
              <a:t> e Abrangência</a:t>
            </a:r>
            <a:endParaRPr lang="pt-BR" sz="2000" dirty="0">
              <a:latin typeface="+mn-lt"/>
            </a:endParaRPr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3472427"/>
              </p:ext>
            </p:extLst>
          </p:nvPr>
        </p:nvGraphicFramePr>
        <p:xfrm>
          <a:off x="152416" y="868680"/>
          <a:ext cx="8850147" cy="5852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61" name="Planilha" r:id="rId7" imgW="9353451" imgH="5153032" progId="Excel.Sheet.12">
                  <p:embed/>
                </p:oleObj>
              </mc:Choice>
              <mc:Fallback>
                <p:oleObj name="Planilha" r:id="rId7" imgW="9353451" imgH="5153032" progId="Excel.Shee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16" y="868680"/>
                        <a:ext cx="8850147" cy="58521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6995824" y="5790024"/>
            <a:ext cx="2123728" cy="10527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9" name="Object 8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7" name="think-cell Slide" r:id="rId6" imgW="0" imgH="0" progId="">
                  <p:embed/>
                </p:oleObj>
              </mc:Choice>
              <mc:Fallback>
                <p:oleObj name="think-cell Slide" r:id="rId6" imgW="0" imgH="0" progId="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9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/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52400" y="0"/>
            <a:ext cx="8686800" cy="699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pt-BR" sz="2000" kern="0" dirty="0" smtClean="0">
                <a:solidFill>
                  <a:prstClr val="black"/>
                </a:solidFill>
                <a:latin typeface="Arial" charset="0"/>
              </a:rPr>
              <a:t>principais riscos</a:t>
            </a:r>
            <a:endParaRPr lang="pt-BR" sz="2000" kern="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356552" y="1143000"/>
            <a:ext cx="2209800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prstClr val="white"/>
                </a:solidFill>
              </a:rPr>
              <a:t>Quebra da receita</a:t>
            </a:r>
            <a:endParaRPr lang="pt-BR" sz="1200" dirty="0">
              <a:solidFill>
                <a:prstClr val="white"/>
              </a:solidFill>
            </a:endParaRPr>
          </a:p>
        </p:txBody>
      </p:sp>
      <p:sp>
        <p:nvSpPr>
          <p:cNvPr id="13" name="Retângulo de cantos arredondados 12"/>
          <p:cNvSpPr/>
          <p:nvPr/>
        </p:nvSpPr>
        <p:spPr>
          <a:xfrm>
            <a:off x="2718752" y="1143000"/>
            <a:ext cx="6172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algn="just">
              <a:buFont typeface="Arial" pitchFamily="34" charset="0"/>
              <a:buChar char="•"/>
            </a:pPr>
            <a:r>
              <a:rPr lang="pt-BR" sz="1100" dirty="0">
                <a:solidFill>
                  <a:prstClr val="black"/>
                </a:solidFill>
              </a:rPr>
              <a:t>Piloto em uma GV (1,2% da receita) e maior tempo de estabilização (2 ciclos)</a:t>
            </a:r>
          </a:p>
          <a:p>
            <a:pPr marL="285750" lvl="0" indent="-285750" algn="just">
              <a:buFont typeface="Arial" pitchFamily="34" charset="0"/>
              <a:buChar char="•"/>
            </a:pPr>
            <a:r>
              <a:rPr lang="pt-BR" sz="1100" dirty="0">
                <a:solidFill>
                  <a:prstClr val="black"/>
                </a:solidFill>
              </a:rPr>
              <a:t>Influência nos </a:t>
            </a:r>
            <a:r>
              <a:rPr lang="pt-BR" sz="1100" dirty="0" err="1">
                <a:solidFill>
                  <a:prstClr val="black"/>
                </a:solidFill>
              </a:rPr>
              <a:t>CPMs</a:t>
            </a:r>
            <a:r>
              <a:rPr lang="pt-BR" sz="1100" dirty="0">
                <a:solidFill>
                  <a:prstClr val="black"/>
                </a:solidFill>
              </a:rPr>
              <a:t> para evitar picos nas aberturas de ciclos</a:t>
            </a:r>
          </a:p>
          <a:p>
            <a:pPr marL="285750" lvl="0" indent="-285750" algn="just">
              <a:buFont typeface="Arial" pitchFamily="34" charset="0"/>
              <a:buChar char="•"/>
            </a:pPr>
            <a:r>
              <a:rPr lang="pt-BR" sz="1100" dirty="0">
                <a:solidFill>
                  <a:prstClr val="black"/>
                </a:solidFill>
              </a:rPr>
              <a:t>Ajuste nos calendários de ciclos para evitar fechamentos logo após go </a:t>
            </a:r>
            <a:r>
              <a:rPr lang="pt-BR" sz="1100" dirty="0" err="1">
                <a:solidFill>
                  <a:prstClr val="black"/>
                </a:solidFill>
              </a:rPr>
              <a:t>lives</a:t>
            </a:r>
            <a:endParaRPr lang="pt-BR" dirty="0">
              <a:solidFill>
                <a:prstClr val="black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150451" y="766603"/>
            <a:ext cx="838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prstClr val="black"/>
                </a:solidFill>
                <a:latin typeface="Arial" charset="0"/>
              </a:rPr>
              <a:t>Risco</a:t>
            </a:r>
            <a:endParaRPr lang="pt-BR" sz="160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2718752" y="777240"/>
            <a:ext cx="617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prstClr val="black"/>
                </a:solidFill>
                <a:latin typeface="Arial" charset="0"/>
              </a:rPr>
              <a:t>Ações tomadas ou planejadas</a:t>
            </a:r>
            <a:endParaRPr lang="pt-BR" sz="160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361868" y="1965960"/>
            <a:ext cx="2204484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prstClr val="white"/>
                </a:solidFill>
              </a:rPr>
              <a:t>Instabilidade do Capta e do SAP Brasil além do previsto</a:t>
            </a:r>
            <a:endParaRPr lang="pt-BR" sz="1200" dirty="0">
              <a:solidFill>
                <a:prstClr val="white"/>
              </a:solidFill>
            </a:endParaRPr>
          </a:p>
        </p:txBody>
      </p:sp>
      <p:sp>
        <p:nvSpPr>
          <p:cNvPr id="17" name="Retângulo de cantos arredondados 16"/>
          <p:cNvSpPr/>
          <p:nvPr/>
        </p:nvSpPr>
        <p:spPr>
          <a:xfrm>
            <a:off x="2718752" y="1965960"/>
            <a:ext cx="6172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sz="1100" dirty="0" smtClean="0">
                <a:solidFill>
                  <a:prstClr val="black"/>
                </a:solidFill>
              </a:rPr>
              <a:t>Testes </a:t>
            </a:r>
            <a:r>
              <a:rPr lang="en-US" sz="1100" dirty="0" err="1" smtClean="0">
                <a:solidFill>
                  <a:prstClr val="black"/>
                </a:solidFill>
              </a:rPr>
              <a:t>integrados</a:t>
            </a:r>
            <a:r>
              <a:rPr lang="en-US" sz="1100" dirty="0" smtClean="0">
                <a:solidFill>
                  <a:prstClr val="black"/>
                </a:solidFill>
              </a:rPr>
              <a:t> e de </a:t>
            </a:r>
            <a:r>
              <a:rPr lang="en-US" sz="1100" dirty="0" err="1" smtClean="0">
                <a:solidFill>
                  <a:prstClr val="black"/>
                </a:solidFill>
              </a:rPr>
              <a:t>regressão</a:t>
            </a:r>
            <a:r>
              <a:rPr lang="en-US" sz="1100" dirty="0" smtClean="0">
                <a:solidFill>
                  <a:prstClr val="black"/>
                </a:solidFill>
              </a:rPr>
              <a:t>  e </a:t>
            </a:r>
            <a:r>
              <a:rPr lang="en-US" sz="1100" dirty="0" err="1" smtClean="0">
                <a:solidFill>
                  <a:prstClr val="black"/>
                </a:solidFill>
              </a:rPr>
              <a:t>simulações</a:t>
            </a:r>
            <a:r>
              <a:rPr lang="en-US" sz="1100" dirty="0" smtClean="0">
                <a:solidFill>
                  <a:prstClr val="black"/>
                </a:solidFill>
              </a:rPr>
              <a:t> de cutover</a:t>
            </a:r>
            <a:endParaRPr lang="pt-BR" sz="1100" dirty="0" smtClean="0">
              <a:solidFill>
                <a:prstClr val="black"/>
              </a:solidFill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Priorização na liberação do Brasil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Redução e quebra do blackout em dois (Cotas em 8/5 e SAP em 14 e 15/5)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356552" y="2788920"/>
            <a:ext cx="2204484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prstClr val="white"/>
                </a:solidFill>
              </a:rPr>
              <a:t>Aumento de INA por problemas no abastecimento</a:t>
            </a:r>
            <a:endParaRPr lang="pt-BR" sz="1200" dirty="0">
              <a:solidFill>
                <a:prstClr val="white"/>
              </a:solidFill>
            </a:endParaRPr>
          </a:p>
        </p:txBody>
      </p:sp>
      <p:sp>
        <p:nvSpPr>
          <p:cNvPr id="19" name="Retângulo de cantos arredondados 18"/>
          <p:cNvSpPr/>
          <p:nvPr/>
        </p:nvSpPr>
        <p:spPr>
          <a:xfrm>
            <a:off x="2718752" y="2788920"/>
            <a:ext cx="6172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Aumento da cobertura de estoque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Cargas </a:t>
            </a:r>
            <a:r>
              <a:rPr lang="pt-BR" sz="1100" dirty="0" err="1" smtClean="0">
                <a:solidFill>
                  <a:prstClr val="black"/>
                </a:solidFill>
              </a:rPr>
              <a:t>paletizadas</a:t>
            </a:r>
            <a:r>
              <a:rPr lang="pt-BR" sz="1100" dirty="0" smtClean="0">
                <a:solidFill>
                  <a:prstClr val="black"/>
                </a:solidFill>
              </a:rPr>
              <a:t> e entrega expressa como contingência</a:t>
            </a:r>
            <a:endParaRPr lang="pt-BR" dirty="0">
              <a:solidFill>
                <a:prstClr val="black"/>
              </a:solidFill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356552" y="3611880"/>
            <a:ext cx="2204484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prstClr val="white"/>
                </a:solidFill>
              </a:rPr>
              <a:t>Problemas operacionais na distribuição da revista</a:t>
            </a:r>
            <a:endParaRPr lang="pt-BR" sz="1200" dirty="0">
              <a:solidFill>
                <a:prstClr val="white"/>
              </a:solidFill>
            </a:endParaRPr>
          </a:p>
        </p:txBody>
      </p:sp>
      <p:sp>
        <p:nvSpPr>
          <p:cNvPr id="21" name="Retângulo de cantos arredondados 20"/>
          <p:cNvSpPr/>
          <p:nvPr/>
        </p:nvSpPr>
        <p:spPr>
          <a:xfrm>
            <a:off x="2718752" y="3611880"/>
            <a:ext cx="6172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Revista dentro da caixa para as </a:t>
            </a:r>
            <a:r>
              <a:rPr lang="pt-BR" sz="1100" dirty="0" err="1" smtClean="0">
                <a:solidFill>
                  <a:prstClr val="black"/>
                </a:solidFill>
              </a:rPr>
              <a:t>GVs</a:t>
            </a:r>
            <a:r>
              <a:rPr lang="pt-BR" sz="1100" dirty="0" smtClean="0">
                <a:solidFill>
                  <a:prstClr val="black"/>
                </a:solidFill>
              </a:rPr>
              <a:t> atendidas por Cajamar</a:t>
            </a:r>
            <a:endParaRPr lang="pt-BR" dirty="0">
              <a:solidFill>
                <a:prstClr val="black"/>
              </a:solidFill>
            </a:endParaRPr>
          </a:p>
        </p:txBody>
      </p:sp>
      <p:sp>
        <p:nvSpPr>
          <p:cNvPr id="22" name="Retângulo 21"/>
          <p:cNvSpPr/>
          <p:nvPr/>
        </p:nvSpPr>
        <p:spPr>
          <a:xfrm>
            <a:off x="356552" y="4434840"/>
            <a:ext cx="2204484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prstClr val="white"/>
                </a:solidFill>
              </a:rPr>
              <a:t>Baixa aceitação à mudança gerando problemas operacionais</a:t>
            </a:r>
            <a:endParaRPr lang="pt-BR" sz="1200" dirty="0">
              <a:solidFill>
                <a:prstClr val="white"/>
              </a:solidFill>
            </a:endParaRPr>
          </a:p>
        </p:txBody>
      </p:sp>
      <p:sp>
        <p:nvSpPr>
          <p:cNvPr id="23" name="Retângulo de cantos arredondados 22"/>
          <p:cNvSpPr/>
          <p:nvPr/>
        </p:nvSpPr>
        <p:spPr>
          <a:xfrm>
            <a:off x="2718752" y="4434840"/>
            <a:ext cx="6172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Treinamento e gestão dos envolvidos – envolvimento antecipado da FV</a:t>
            </a:r>
            <a:endParaRPr lang="pt-BR" dirty="0">
              <a:solidFill>
                <a:prstClr val="black"/>
              </a:solidFill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Evidência do patrocínio dos donos de processo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Comunicação extensa por diversos canais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356552" y="5257800"/>
            <a:ext cx="2204484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prstClr val="white"/>
                </a:solidFill>
              </a:rPr>
              <a:t>Piora nos níveis de serviço das </a:t>
            </a:r>
            <a:r>
              <a:rPr lang="pt-BR" sz="1200" dirty="0" err="1" smtClean="0">
                <a:solidFill>
                  <a:prstClr val="white"/>
                </a:solidFill>
              </a:rPr>
              <a:t>GVs</a:t>
            </a:r>
            <a:r>
              <a:rPr lang="pt-BR" sz="1200" dirty="0" smtClean="0">
                <a:solidFill>
                  <a:prstClr val="white"/>
                </a:solidFill>
              </a:rPr>
              <a:t> atendidas por Cajamar</a:t>
            </a:r>
            <a:endParaRPr lang="pt-BR" sz="1200" dirty="0">
              <a:solidFill>
                <a:prstClr val="white"/>
              </a:solidFill>
            </a:endParaRPr>
          </a:p>
        </p:txBody>
      </p:sp>
      <p:sp>
        <p:nvSpPr>
          <p:cNvPr id="25" name="Retângulo de cantos arredondados 24"/>
          <p:cNvSpPr/>
          <p:nvPr/>
        </p:nvSpPr>
        <p:spPr>
          <a:xfrm>
            <a:off x="2718752" y="5257800"/>
            <a:ext cx="6172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Manutenção de 3 turnos após Mães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Uso de finais de semana como contingência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356552" y="6080760"/>
            <a:ext cx="2204484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prstClr val="white"/>
                </a:solidFill>
              </a:rPr>
              <a:t>Atraso no go </a:t>
            </a:r>
            <a:r>
              <a:rPr lang="pt-BR" sz="1200" dirty="0" err="1" smtClean="0">
                <a:solidFill>
                  <a:prstClr val="white"/>
                </a:solidFill>
              </a:rPr>
              <a:t>live</a:t>
            </a:r>
            <a:r>
              <a:rPr lang="pt-BR" sz="1200" dirty="0" smtClean="0">
                <a:solidFill>
                  <a:prstClr val="white"/>
                </a:solidFill>
              </a:rPr>
              <a:t> ou demora na estabilização</a:t>
            </a:r>
            <a:endParaRPr lang="pt-BR" sz="1200" dirty="0">
              <a:solidFill>
                <a:prstClr val="white"/>
              </a:solidFill>
            </a:endParaRPr>
          </a:p>
        </p:txBody>
      </p:sp>
      <p:sp>
        <p:nvSpPr>
          <p:cNvPr id="27" name="Retângulo de cantos arredondados 26"/>
          <p:cNvSpPr/>
          <p:nvPr/>
        </p:nvSpPr>
        <p:spPr>
          <a:xfrm>
            <a:off x="2718752" y="6080760"/>
            <a:ext cx="6172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Replanejamento para go </a:t>
            </a:r>
            <a:r>
              <a:rPr lang="pt-BR" sz="1100" dirty="0" err="1" smtClean="0">
                <a:solidFill>
                  <a:prstClr val="black"/>
                </a:solidFill>
              </a:rPr>
              <a:t>live</a:t>
            </a:r>
            <a:r>
              <a:rPr lang="pt-BR" sz="1100" dirty="0" smtClean="0">
                <a:solidFill>
                  <a:prstClr val="black"/>
                </a:solidFill>
              </a:rPr>
              <a:t> no próximo ciclo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Postergação de NENO para 2012 evitando impacto no Natal</a:t>
            </a:r>
          </a:p>
        </p:txBody>
      </p:sp>
      <p:sp>
        <p:nvSpPr>
          <p:cNvPr id="5" name="Elipse 4"/>
          <p:cNvSpPr/>
          <p:nvPr/>
        </p:nvSpPr>
        <p:spPr>
          <a:xfrm>
            <a:off x="67404" y="1279811"/>
            <a:ext cx="395536" cy="360040"/>
          </a:xfrm>
          <a:prstGeom prst="ellipse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Elipse 27"/>
          <p:cNvSpPr/>
          <p:nvPr/>
        </p:nvSpPr>
        <p:spPr>
          <a:xfrm>
            <a:off x="67404" y="2102376"/>
            <a:ext cx="395536" cy="36004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Elipse 28"/>
          <p:cNvSpPr/>
          <p:nvPr/>
        </p:nvSpPr>
        <p:spPr>
          <a:xfrm>
            <a:off x="67404" y="2909705"/>
            <a:ext cx="395536" cy="36004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lipse 29"/>
          <p:cNvSpPr/>
          <p:nvPr/>
        </p:nvSpPr>
        <p:spPr>
          <a:xfrm>
            <a:off x="67404" y="3762755"/>
            <a:ext cx="395536" cy="36004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Elipse 30"/>
          <p:cNvSpPr/>
          <p:nvPr/>
        </p:nvSpPr>
        <p:spPr>
          <a:xfrm>
            <a:off x="35496" y="4554840"/>
            <a:ext cx="395536" cy="36004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Elipse 31"/>
          <p:cNvSpPr/>
          <p:nvPr/>
        </p:nvSpPr>
        <p:spPr>
          <a:xfrm>
            <a:off x="35496" y="5399507"/>
            <a:ext cx="395536" cy="36004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Elipse 32"/>
          <p:cNvSpPr/>
          <p:nvPr/>
        </p:nvSpPr>
        <p:spPr>
          <a:xfrm>
            <a:off x="35496" y="6220781"/>
            <a:ext cx="395536" cy="36004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Elipse 33"/>
          <p:cNvSpPr>
            <a:spLocks noChangeAspect="1"/>
          </p:cNvSpPr>
          <p:nvPr/>
        </p:nvSpPr>
        <p:spPr>
          <a:xfrm>
            <a:off x="5164836" y="55242"/>
            <a:ext cx="1582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7" name="Elipse 36"/>
          <p:cNvSpPr>
            <a:spLocks noChangeAspect="1"/>
          </p:cNvSpPr>
          <p:nvPr/>
        </p:nvSpPr>
        <p:spPr>
          <a:xfrm>
            <a:off x="5164836" y="258341"/>
            <a:ext cx="158216" cy="14401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8" name="Elipse 37"/>
          <p:cNvSpPr>
            <a:spLocks noChangeAspect="1"/>
          </p:cNvSpPr>
          <p:nvPr/>
        </p:nvSpPr>
        <p:spPr>
          <a:xfrm>
            <a:off x="5164836" y="461435"/>
            <a:ext cx="158216" cy="144016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5364107" y="-16578"/>
            <a:ext cx="79861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pt-BR" sz="1200" dirty="0" smtClean="0">
                <a:solidFill>
                  <a:prstClr val="black"/>
                </a:solidFill>
                <a:latin typeface="Arial" charset="0"/>
              </a:rPr>
              <a:t>risco alto</a:t>
            </a:r>
            <a:endParaRPr lang="pt-BR" sz="120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39" name="Retângulo 38"/>
          <p:cNvSpPr/>
          <p:nvPr/>
        </p:nvSpPr>
        <p:spPr>
          <a:xfrm>
            <a:off x="5364089" y="166307"/>
            <a:ext cx="12410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pt-BR" sz="1200" dirty="0" smtClean="0">
                <a:solidFill>
                  <a:prstClr val="black"/>
                </a:solidFill>
                <a:latin typeface="Arial" charset="0"/>
              </a:rPr>
              <a:t>risco moderado</a:t>
            </a:r>
            <a:endParaRPr lang="pt-BR" sz="120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40" name="Retângulo 39"/>
          <p:cNvSpPr/>
          <p:nvPr/>
        </p:nvSpPr>
        <p:spPr>
          <a:xfrm>
            <a:off x="5364110" y="385217"/>
            <a:ext cx="9172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pt-BR" sz="1200" dirty="0" smtClean="0">
                <a:solidFill>
                  <a:prstClr val="black"/>
                </a:solidFill>
                <a:latin typeface="Arial" charset="0"/>
              </a:rPr>
              <a:t>risco baixo</a:t>
            </a:r>
            <a:endParaRPr lang="pt-BR" sz="1200" dirty="0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28176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648" name="think-cell Slide" r:id="rId6" imgW="0" imgH="0" progId="">
                  <p:embed/>
                </p:oleObj>
              </mc:Choice>
              <mc:Fallback>
                <p:oleObj name="think-cell Slide" r:id="rId6" imgW="0" imgH="0" progId="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9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/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52400" y="0"/>
            <a:ext cx="8686800" cy="699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pt-BR" sz="2000" kern="0" dirty="0" smtClean="0">
                <a:solidFill>
                  <a:prstClr val="black"/>
                </a:solidFill>
                <a:latin typeface="Arial" charset="0"/>
              </a:rPr>
              <a:t>principais impactos</a:t>
            </a:r>
            <a:endParaRPr lang="pt-BR" sz="2000" kern="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228600" y="1143000"/>
            <a:ext cx="2209800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prstClr val="white"/>
                </a:solidFill>
              </a:rPr>
              <a:t>Mudança de endereço da CN (Terra x não Terra)</a:t>
            </a:r>
            <a:endParaRPr lang="pt-BR" sz="1200" dirty="0">
              <a:solidFill>
                <a:prstClr val="white"/>
              </a:solidFill>
            </a:endParaRPr>
          </a:p>
        </p:txBody>
      </p:sp>
      <p:sp>
        <p:nvSpPr>
          <p:cNvPr id="13" name="Retângulo de cantos arredondados 12"/>
          <p:cNvSpPr/>
          <p:nvPr/>
        </p:nvSpPr>
        <p:spPr>
          <a:xfrm>
            <a:off x="2590800" y="1143000"/>
            <a:ext cx="6172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Definição de procedimentos para  identificação  e  rápido tratamento desses casos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(menos de 100 casos por ciclo)</a:t>
            </a:r>
            <a:endParaRPr lang="pt-BR" dirty="0">
              <a:solidFill>
                <a:prstClr val="black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838203" y="766603"/>
            <a:ext cx="946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prstClr val="black"/>
                </a:solidFill>
                <a:latin typeface="Arial" charset="0"/>
              </a:rPr>
              <a:t>Impacto</a:t>
            </a:r>
            <a:endParaRPr lang="pt-BR" sz="160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2590800" y="777240"/>
            <a:ext cx="617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prstClr val="black"/>
                </a:solidFill>
                <a:latin typeface="Arial" charset="0"/>
              </a:rPr>
              <a:t>Ações tomadas ou planejadas</a:t>
            </a:r>
            <a:endParaRPr lang="pt-BR" sz="160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233916" y="1965960"/>
            <a:ext cx="2204484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prstClr val="white"/>
                </a:solidFill>
              </a:rPr>
              <a:t>Novo layout do Capta</a:t>
            </a:r>
            <a:endParaRPr lang="pt-BR" sz="1200" dirty="0">
              <a:solidFill>
                <a:prstClr val="white"/>
              </a:solidFill>
            </a:endParaRPr>
          </a:p>
        </p:txBody>
      </p:sp>
      <p:sp>
        <p:nvSpPr>
          <p:cNvPr id="17" name="Retângulo de cantos arredondados 16"/>
          <p:cNvSpPr/>
          <p:nvPr/>
        </p:nvSpPr>
        <p:spPr>
          <a:xfrm>
            <a:off x="2590800" y="1965960"/>
            <a:ext cx="6172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E-</a:t>
            </a:r>
            <a:r>
              <a:rPr lang="pt-BR" sz="1100" dirty="0" err="1" smtClean="0">
                <a:solidFill>
                  <a:prstClr val="black"/>
                </a:solidFill>
              </a:rPr>
              <a:t>learning</a:t>
            </a:r>
            <a:endParaRPr lang="pt-BR" sz="1100" dirty="0">
              <a:solidFill>
                <a:prstClr val="black"/>
              </a:solidFill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Envolvimento da FV para comunicação adequada ao canal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Auxílio online</a:t>
            </a:r>
            <a:endParaRPr lang="pt-BR" dirty="0">
              <a:solidFill>
                <a:prstClr val="black"/>
              </a:solidFill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228600" y="2788920"/>
            <a:ext cx="2204484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prstClr val="white"/>
                </a:solidFill>
              </a:rPr>
              <a:t>Operação simultânea Terra x Não Terra</a:t>
            </a:r>
            <a:endParaRPr lang="pt-BR" sz="1200" dirty="0">
              <a:solidFill>
                <a:prstClr val="white"/>
              </a:solidFill>
            </a:endParaRPr>
          </a:p>
        </p:txBody>
      </p:sp>
      <p:sp>
        <p:nvSpPr>
          <p:cNvPr id="19" name="Retângulo de cantos arredondados 18"/>
          <p:cNvSpPr/>
          <p:nvPr/>
        </p:nvSpPr>
        <p:spPr>
          <a:xfrm>
            <a:off x="2590800" y="2788920"/>
            <a:ext cx="6172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Recursos temporários adicionais para áreas com aumento / duplicação de trabalho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Construção de procedimentos e mapeamento de impactos operacionais</a:t>
            </a:r>
            <a:endParaRPr lang="pt-BR" dirty="0">
              <a:solidFill>
                <a:prstClr val="black"/>
              </a:solidFill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228600" y="3611880"/>
            <a:ext cx="2204484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prstClr val="white"/>
                </a:solidFill>
              </a:rPr>
              <a:t>Blackout de processos operacionais SAP</a:t>
            </a:r>
            <a:endParaRPr lang="pt-BR" sz="1200" dirty="0">
              <a:solidFill>
                <a:prstClr val="white"/>
              </a:solidFill>
            </a:endParaRPr>
          </a:p>
        </p:txBody>
      </p:sp>
      <p:sp>
        <p:nvSpPr>
          <p:cNvPr id="21" name="Retângulo de cantos arredondados 20"/>
          <p:cNvSpPr/>
          <p:nvPr/>
        </p:nvSpPr>
        <p:spPr>
          <a:xfrm>
            <a:off x="2590800" y="3611880"/>
            <a:ext cx="6172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Ações de mitigação (antecipação ou postergação) para atividades do período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Comunicação interna e externa (fornecedores) prevenindo sobre o período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228600" y="4434840"/>
            <a:ext cx="2204484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prstClr val="white"/>
                </a:solidFill>
              </a:rPr>
              <a:t>Blackout de Captação</a:t>
            </a:r>
            <a:endParaRPr lang="pt-BR" sz="1200" dirty="0">
              <a:solidFill>
                <a:prstClr val="white"/>
              </a:solidFill>
            </a:endParaRPr>
          </a:p>
        </p:txBody>
      </p:sp>
      <p:sp>
        <p:nvSpPr>
          <p:cNvPr id="23" name="Retângulo de cantos arredondados 22"/>
          <p:cNvSpPr/>
          <p:nvPr/>
        </p:nvSpPr>
        <p:spPr>
          <a:xfrm>
            <a:off x="2590800" y="4434840"/>
            <a:ext cx="6172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Comunicação para antecipação pedidos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100" dirty="0" smtClean="0">
                <a:solidFill>
                  <a:prstClr val="black"/>
                </a:solidFill>
              </a:rPr>
              <a:t>Preparação de promoções extras como contingência</a:t>
            </a:r>
          </a:p>
        </p:txBody>
      </p:sp>
    </p:spTree>
    <p:extLst>
      <p:ext uri="{BB962C8B-B14F-4D97-AF65-F5344CB8AC3E}">
        <p14:creationId xmlns:p14="http://schemas.microsoft.com/office/powerpoint/2010/main" val="285853498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19" name="think-cell Slide" r:id="rId6" imgW="0" imgH="0" progId="">
                  <p:embed/>
                </p:oleObj>
              </mc:Choice>
              <mc:Fallback>
                <p:oleObj name="think-cell Slide" r:id="rId6" imgW="0" imgH="0" progId="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9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/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52400" y="0"/>
            <a:ext cx="8686800" cy="699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pt-BR" sz="2000" kern="0" dirty="0" smtClean="0">
                <a:solidFill>
                  <a:prstClr val="black"/>
                </a:solidFill>
                <a:latin typeface="Arial" charset="0"/>
              </a:rPr>
              <a:t>contingências</a:t>
            </a:r>
            <a:endParaRPr lang="pt-BR" sz="2000" kern="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4264" y="1124745"/>
            <a:ext cx="8424936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u="sng" dirty="0"/>
              <a:t>Contingências para o 1ª Parada – Sistema de </a:t>
            </a:r>
            <a:r>
              <a:rPr lang="pt-BR" u="sng" dirty="0" smtClean="0"/>
              <a:t>Cotas</a:t>
            </a:r>
          </a:p>
          <a:p>
            <a:endParaRPr lang="pt-BR" dirty="0"/>
          </a:p>
          <a:p>
            <a:pPr lvl="0"/>
            <a:r>
              <a:rPr lang="pt-BR" dirty="0"/>
              <a:t>Problemas técnicos até 06:00 de Segunda (9/5) – retorno ao Sistema de Cotas atual conjuntamente com o Sistema de Captação </a:t>
            </a:r>
            <a:r>
              <a:rPr lang="pt-BR" dirty="0" smtClean="0"/>
              <a:t>atual. Nova tentativa em 14/5.</a:t>
            </a:r>
          </a:p>
          <a:p>
            <a:pPr lvl="0"/>
            <a:endParaRPr lang="pt-BR" dirty="0"/>
          </a:p>
          <a:p>
            <a:pPr lvl="1"/>
            <a:r>
              <a:rPr lang="pt-BR" dirty="0"/>
              <a:t>Problemas técnicos após 06:00 de Segunda (9/5) e até no máximo 06:00 de Sábado (14/5) – </a:t>
            </a:r>
            <a:r>
              <a:rPr lang="pt-BR" dirty="0" err="1"/>
              <a:t>desabilitação</a:t>
            </a:r>
            <a:r>
              <a:rPr lang="pt-BR" dirty="0"/>
              <a:t> do Sistema de Cotas, permitindo a Captação sem checagem de cotas. Em seguida ocorrerão tentativas de correção no Sistema de Cotas para reabilitação do </a:t>
            </a:r>
            <a:r>
              <a:rPr lang="pt-BR" dirty="0" smtClean="0"/>
              <a:t>mesmo</a:t>
            </a:r>
          </a:p>
          <a:p>
            <a:pPr lvl="0"/>
            <a:endParaRPr lang="pt-BR" dirty="0"/>
          </a:p>
          <a:p>
            <a:pPr lvl="2"/>
            <a:r>
              <a:rPr lang="pt-BR" dirty="0"/>
              <a:t>Problemas técnicos a partir de 06:00 de Sábado (14/5)  - retorno ao Sistema de Cotas atual conjuntamente com o Sistema de Captação atual, aplicação de procedimentos manuais para atualização do consumo de cotas e postergação do go </a:t>
            </a:r>
            <a:r>
              <a:rPr lang="pt-BR" dirty="0" err="1"/>
              <a:t>live</a:t>
            </a:r>
            <a:r>
              <a:rPr lang="pt-BR" dirty="0"/>
              <a:t> geral do Terra para o dia 6/6, além de aplicação de procedimentos de contingência de negócio que ainda estão sendo detalhados.</a:t>
            </a:r>
          </a:p>
        </p:txBody>
      </p:sp>
    </p:spTree>
    <p:extLst>
      <p:ext uri="{BB962C8B-B14F-4D97-AF65-F5344CB8AC3E}">
        <p14:creationId xmlns:p14="http://schemas.microsoft.com/office/powerpoint/2010/main" val="311852899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42" name="think-cell Slide" r:id="rId6" imgW="0" imgH="0" progId="">
                  <p:embed/>
                </p:oleObj>
              </mc:Choice>
              <mc:Fallback>
                <p:oleObj name="think-cell Slide" r:id="rId6" imgW="0" imgH="0" progId="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9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/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52400" y="0"/>
            <a:ext cx="8686800" cy="699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pt-BR" sz="2000" kern="0" dirty="0" smtClean="0">
                <a:solidFill>
                  <a:prstClr val="black"/>
                </a:solidFill>
                <a:latin typeface="Arial" charset="0"/>
              </a:rPr>
              <a:t>contingências</a:t>
            </a:r>
            <a:endParaRPr lang="pt-BR" sz="2000" kern="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323528" y="1268760"/>
            <a:ext cx="770485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u="sng" dirty="0"/>
              <a:t>Contingências para a 2ª Parada – Sistema SAP </a:t>
            </a:r>
            <a:r>
              <a:rPr lang="pt-BR" u="sng" dirty="0" smtClean="0"/>
              <a:t>ERP</a:t>
            </a:r>
          </a:p>
          <a:p>
            <a:endParaRPr lang="pt-BR" dirty="0"/>
          </a:p>
          <a:p>
            <a:pPr lvl="0"/>
            <a:r>
              <a:rPr lang="pt-BR" dirty="0"/>
              <a:t>Problemas técnicos até 06:00 de Segunda (16/5) – </a:t>
            </a:r>
            <a:r>
              <a:rPr lang="pt-BR" dirty="0" err="1"/>
              <a:t>desabilitação</a:t>
            </a:r>
            <a:r>
              <a:rPr lang="pt-BR" dirty="0"/>
              <a:t> dos novos processos financeiros e logísticos no SAP ERP e postergação do go </a:t>
            </a:r>
            <a:r>
              <a:rPr lang="pt-BR" dirty="0" err="1"/>
              <a:t>live</a:t>
            </a:r>
            <a:r>
              <a:rPr lang="pt-BR" dirty="0"/>
              <a:t> geral do Terra para o dia 6/6, além de aplicação de procedimentos de contingência de negócio que ainda estão sendo detalhados.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22657709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179388" y="260353"/>
            <a:ext cx="61198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/>
            <a:r>
              <a:rPr lang="pt-BR" sz="2000" dirty="0">
                <a:latin typeface="+mn-lt"/>
              </a:rPr>
              <a:t>Comunicação – Plano Macro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037128"/>
              </p:ext>
            </p:extLst>
          </p:nvPr>
        </p:nvGraphicFramePr>
        <p:xfrm>
          <a:off x="3059832" y="2276873"/>
          <a:ext cx="203988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98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segmentação</a:t>
                      </a:r>
                      <a:endParaRPr lang="pt-BR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dirty="0" smtClean="0"/>
                        <a:t>Publico Interno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dirty="0" smtClean="0"/>
                        <a:t>Fornecedores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dirty="0" smtClean="0"/>
                        <a:t>Força de</a:t>
                      </a:r>
                      <a:r>
                        <a:rPr lang="pt-BR" sz="1600" baseline="0" dirty="0" smtClean="0"/>
                        <a:t> Vendas</a:t>
                      </a:r>
                      <a:endParaRPr lang="pt-BR" sz="1600" dirty="0" smtClean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8" name="Tabela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176873"/>
              </p:ext>
            </p:extLst>
          </p:nvPr>
        </p:nvGraphicFramePr>
        <p:xfrm>
          <a:off x="201524" y="2132856"/>
          <a:ext cx="2039888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9888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conteúdo</a:t>
                      </a:r>
                      <a:endParaRPr lang="pt-BR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benefícios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preparação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acompanhamento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ocorrências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9" name="Tabela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858315"/>
              </p:ext>
            </p:extLst>
          </p:nvPr>
        </p:nvGraphicFramePr>
        <p:xfrm>
          <a:off x="6084168" y="1404392"/>
          <a:ext cx="2039888" cy="391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98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canais</a:t>
                      </a:r>
                      <a:endParaRPr lang="pt-BR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eventos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newsletter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canal natura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intranet / nós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blog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sites</a:t>
                      </a:r>
                      <a:r>
                        <a:rPr lang="pt-BR" sz="1600" baseline="0" dirty="0" smtClean="0"/>
                        <a:t> FV</a:t>
                      </a:r>
                      <a:endParaRPr lang="pt-BR" sz="160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últimas noticias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reuniões FV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v-Learning /</a:t>
                      </a:r>
                    </a:p>
                    <a:p>
                      <a:pPr algn="ctr"/>
                      <a:r>
                        <a:rPr lang="pt-BR" sz="1600" dirty="0" smtClean="0"/>
                        <a:t>e-Learning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Seta para a direita 6"/>
          <p:cNvSpPr/>
          <p:nvPr/>
        </p:nvSpPr>
        <p:spPr>
          <a:xfrm>
            <a:off x="2339752" y="2852936"/>
            <a:ext cx="576064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Seta para a direita 39"/>
          <p:cNvSpPr/>
          <p:nvPr/>
        </p:nvSpPr>
        <p:spPr>
          <a:xfrm>
            <a:off x="5292080" y="2852936"/>
            <a:ext cx="576064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6703212" y="5934766"/>
            <a:ext cx="2411760" cy="9087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9" name="Object 8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508" name="think-cell Slide" r:id="rId6" imgW="0" imgH="0" progId="">
                  <p:embed/>
                </p:oleObj>
              </mc:Choice>
              <mc:Fallback>
                <p:oleObj name="think-cell Slide" r:id="rId6" imgW="0" imgH="0" progId="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9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/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52400" y="0"/>
            <a:ext cx="8686800" cy="699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pt-BR" sz="2000" kern="0" dirty="0">
                <a:ea typeface="+mj-ea"/>
              </a:rPr>
              <a:t>Passos em andamento...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152400" y="960145"/>
            <a:ext cx="845820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itchFamily="49" charset="0"/>
              <a:buChar char="o"/>
            </a:pPr>
            <a:r>
              <a:rPr lang="pt-BR" sz="1600" dirty="0" smtClean="0"/>
              <a:t>Conclusão dos testes integrados</a:t>
            </a:r>
          </a:p>
          <a:p>
            <a:pPr marL="285750" indent="-285750">
              <a:lnSpc>
                <a:spcPct val="150000"/>
              </a:lnSpc>
              <a:buFont typeface="Courier New" pitchFamily="49" charset="0"/>
              <a:buChar char="o"/>
            </a:pPr>
            <a:r>
              <a:rPr lang="pt-BR" sz="1600" dirty="0" smtClean="0"/>
              <a:t>Refinamento e detalhamento dos planos de contingência</a:t>
            </a:r>
          </a:p>
          <a:p>
            <a:pPr marL="285750" indent="-285750">
              <a:lnSpc>
                <a:spcPct val="150000"/>
              </a:lnSpc>
              <a:buFont typeface="Courier New" pitchFamily="49" charset="0"/>
              <a:buChar char="o"/>
            </a:pPr>
            <a:r>
              <a:rPr lang="pt-BR" sz="1600" dirty="0" smtClean="0"/>
              <a:t>Plano hora-a-hora de implantação </a:t>
            </a:r>
          </a:p>
          <a:p>
            <a:pPr marL="285750" indent="-285750">
              <a:lnSpc>
                <a:spcPct val="150000"/>
              </a:lnSpc>
              <a:buFont typeface="Courier New" pitchFamily="49" charset="0"/>
              <a:buChar char="o"/>
            </a:pPr>
            <a:r>
              <a:rPr lang="pt-BR" sz="1600" dirty="0" smtClean="0"/>
              <a:t>Preparação do Suporte Local</a:t>
            </a:r>
          </a:p>
          <a:p>
            <a:pPr marL="285750" indent="-285750">
              <a:lnSpc>
                <a:spcPct val="150000"/>
              </a:lnSpc>
              <a:buFont typeface="Courier New" pitchFamily="49" charset="0"/>
              <a:buChar char="o"/>
            </a:pPr>
            <a:r>
              <a:rPr lang="pt-BR" sz="1600" dirty="0" smtClean="0"/>
              <a:t>Treinamento dos usuários finais</a:t>
            </a:r>
          </a:p>
          <a:p>
            <a:pPr marL="285750" indent="-285750">
              <a:lnSpc>
                <a:spcPct val="150000"/>
              </a:lnSpc>
              <a:buFont typeface="Courier New" pitchFamily="49" charset="0"/>
              <a:buChar char="o"/>
            </a:pPr>
            <a:r>
              <a:rPr lang="pt-BR" sz="1600" dirty="0" smtClean="0"/>
              <a:t>Comunicações de preparação para o </a:t>
            </a:r>
            <a:r>
              <a:rPr lang="pt-BR" sz="1600" dirty="0" err="1" smtClean="0"/>
              <a:t>go-live</a:t>
            </a:r>
            <a:endParaRPr lang="pt-BR" sz="1600" dirty="0" smtClean="0"/>
          </a:p>
          <a:p>
            <a:pPr marL="285750" indent="-285750">
              <a:lnSpc>
                <a:spcPct val="150000"/>
              </a:lnSpc>
              <a:buFont typeface="Courier New" pitchFamily="49" charset="0"/>
              <a:buChar char="o"/>
            </a:pPr>
            <a:r>
              <a:rPr lang="pt-BR" sz="1600" dirty="0" err="1" smtClean="0"/>
              <a:t>Comite</a:t>
            </a:r>
            <a:r>
              <a:rPr lang="pt-BR" sz="1600" dirty="0" smtClean="0"/>
              <a:t> de Implantação + Plano de gestão de crise</a:t>
            </a:r>
          </a:p>
          <a:p>
            <a:pPr marL="285750" indent="-285750">
              <a:lnSpc>
                <a:spcPct val="150000"/>
              </a:lnSpc>
              <a:buFont typeface="Courier New" pitchFamily="49" charset="0"/>
              <a:buChar char="o"/>
            </a:pPr>
            <a:endParaRPr lang="pt-BR" sz="1600" dirty="0" smtClean="0"/>
          </a:p>
          <a:p>
            <a:pPr marL="285750" indent="-285750">
              <a:lnSpc>
                <a:spcPct val="150000"/>
              </a:lnSpc>
              <a:buFont typeface="Courier New" pitchFamily="49" charset="0"/>
              <a:buChar char="o"/>
            </a:pPr>
            <a:endParaRPr lang="pt-BR" sz="1400" dirty="0" smtClean="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pt-BR" sz="1400" dirty="0" smtClean="0"/>
          </a:p>
          <a:p>
            <a:pPr marL="742950" lvl="1" indent="-285750">
              <a:lnSpc>
                <a:spcPct val="150000"/>
              </a:lnSpc>
            </a:pPr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383675755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74000" y="34926"/>
            <a:ext cx="1174750" cy="955675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  <a:effectLst/>
        </p:spPr>
      </p:pic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228600" y="304800"/>
            <a:ext cx="7772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0" hangingPunct="0"/>
            <a:r>
              <a:rPr lang="pt-BR" sz="2800" dirty="0" smtClean="0">
                <a:solidFill>
                  <a:prstClr val="black"/>
                </a:solidFill>
              </a:rPr>
              <a:t>business case: </a:t>
            </a:r>
            <a:r>
              <a:rPr lang="pt-BR" sz="2800" b="1" dirty="0" smtClean="0">
                <a:solidFill>
                  <a:prstClr val="black"/>
                </a:solidFill>
              </a:rPr>
              <a:t>revisado</a:t>
            </a:r>
            <a:endParaRPr lang="pt-BR" sz="2800" b="1" dirty="0">
              <a:solidFill>
                <a:prstClr val="black"/>
              </a:solidFill>
            </a:endParaRPr>
          </a:p>
        </p:txBody>
      </p:sp>
      <p:sp>
        <p:nvSpPr>
          <p:cNvPr id="53" name="Retângulo 52"/>
          <p:cNvSpPr/>
          <p:nvPr/>
        </p:nvSpPr>
        <p:spPr>
          <a:xfrm>
            <a:off x="79497" y="1342511"/>
            <a:ext cx="84478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600" dirty="0" smtClean="0">
                <a:solidFill>
                  <a:prstClr val="black"/>
                </a:solidFill>
              </a:rPr>
              <a:t> considerando variações escopo e custos revisados:</a:t>
            </a:r>
          </a:p>
          <a:p>
            <a:r>
              <a:rPr lang="pt-BR" sz="1600" dirty="0">
                <a:solidFill>
                  <a:prstClr val="black"/>
                </a:solidFill>
              </a:rPr>
              <a:t>	</a:t>
            </a:r>
            <a:endParaRPr lang="pt-BR" sz="1600" dirty="0">
              <a:solidFill>
                <a:srgbClr val="1F497D"/>
              </a:solidFill>
            </a:endParaRPr>
          </a:p>
        </p:txBody>
      </p:sp>
      <p:pic>
        <p:nvPicPr>
          <p:cNvPr id="2334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385" y="1772819"/>
            <a:ext cx="5098528" cy="1872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tângulo 5"/>
          <p:cNvSpPr/>
          <p:nvPr/>
        </p:nvSpPr>
        <p:spPr>
          <a:xfrm>
            <a:off x="79497" y="3869554"/>
            <a:ext cx="84478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600" dirty="0">
                <a:solidFill>
                  <a:prstClr val="black"/>
                </a:solidFill>
              </a:rPr>
              <a:t>r</a:t>
            </a:r>
            <a:r>
              <a:rPr lang="pt-BR" sz="1600" dirty="0" smtClean="0">
                <a:solidFill>
                  <a:prstClr val="black"/>
                </a:solidFill>
              </a:rPr>
              <a:t>edução de escopo com impacto no business case*: </a:t>
            </a:r>
          </a:p>
          <a:p>
            <a:pPr marL="742950" lvl="1" indent="-285750">
              <a:buFont typeface="Courier New" pitchFamily="49" charset="0"/>
              <a:buChar char="o"/>
            </a:pPr>
            <a:r>
              <a:rPr lang="pt-BR" sz="1600" dirty="0" smtClean="0">
                <a:solidFill>
                  <a:prstClr val="black"/>
                </a:solidFill>
              </a:rPr>
              <a:t>aumento de receita: R$ 14,87MM/ano</a:t>
            </a:r>
          </a:p>
          <a:p>
            <a:pPr marL="742950" lvl="1" indent="-285750">
              <a:buFont typeface="Courier New" pitchFamily="49" charset="0"/>
              <a:buChar char="o"/>
            </a:pPr>
            <a:r>
              <a:rPr lang="pt-BR" sz="1600" dirty="0" smtClean="0">
                <a:solidFill>
                  <a:prstClr val="black"/>
                </a:solidFill>
              </a:rPr>
              <a:t>redução de custos:   R$ 11,60MM/ano</a:t>
            </a:r>
            <a:endParaRPr lang="pt-BR" sz="1600" dirty="0">
              <a:solidFill>
                <a:srgbClr val="1F497D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79497" y="5085182"/>
            <a:ext cx="844785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600" dirty="0" smtClean="0">
                <a:solidFill>
                  <a:prstClr val="black"/>
                </a:solidFill>
              </a:rPr>
              <a:t>variação de custos: </a:t>
            </a:r>
          </a:p>
          <a:p>
            <a:pPr marL="742950" lvl="1" indent="-285750">
              <a:buFont typeface="Courier New" pitchFamily="49" charset="0"/>
              <a:buChar char="o"/>
            </a:pPr>
            <a:r>
              <a:rPr lang="pt-BR" sz="1600" dirty="0" smtClean="0">
                <a:solidFill>
                  <a:prstClr val="black"/>
                </a:solidFill>
              </a:rPr>
              <a:t>+13,3MM </a:t>
            </a:r>
            <a:r>
              <a:rPr lang="pt-BR" sz="1600" dirty="0" err="1" smtClean="0">
                <a:solidFill>
                  <a:prstClr val="black"/>
                </a:solidFill>
              </a:rPr>
              <a:t>Opex</a:t>
            </a:r>
            <a:r>
              <a:rPr lang="pt-BR" sz="1600" dirty="0" smtClean="0">
                <a:solidFill>
                  <a:prstClr val="black"/>
                </a:solidFill>
              </a:rPr>
              <a:t> </a:t>
            </a:r>
          </a:p>
          <a:p>
            <a:pPr marL="742950" lvl="1" indent="-285750">
              <a:buFont typeface="Courier New" pitchFamily="49" charset="0"/>
              <a:buChar char="o"/>
            </a:pPr>
            <a:r>
              <a:rPr lang="pt-BR" sz="1600" dirty="0" smtClean="0">
                <a:solidFill>
                  <a:prstClr val="black"/>
                </a:solidFill>
              </a:rPr>
              <a:t>+ 8,0MM </a:t>
            </a:r>
            <a:r>
              <a:rPr lang="pt-BR" sz="1600" dirty="0" err="1" smtClean="0">
                <a:solidFill>
                  <a:prstClr val="black"/>
                </a:solidFill>
              </a:rPr>
              <a:t>Capex</a:t>
            </a:r>
            <a:r>
              <a:rPr lang="pt-BR" sz="1600" dirty="0" smtClean="0">
                <a:solidFill>
                  <a:prstClr val="black"/>
                </a:solidFill>
              </a:rPr>
              <a:t>, Totalizando: R$ 21,3MM</a:t>
            </a:r>
          </a:p>
          <a:p>
            <a:r>
              <a:rPr lang="pt-BR" sz="1600" dirty="0">
                <a:solidFill>
                  <a:prstClr val="black"/>
                </a:solidFill>
              </a:rPr>
              <a:t>		</a:t>
            </a:r>
            <a:endParaRPr lang="pt-BR" sz="1600" dirty="0">
              <a:solidFill>
                <a:srgbClr val="1F497D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228613" y="6309333"/>
            <a:ext cx="71517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 smtClean="0">
                <a:solidFill>
                  <a:prstClr val="black"/>
                </a:solidFill>
              </a:rPr>
              <a:t>* Escopo reduzido:  receita: Cobrança de frete expresso, segmentação CN, red. custos: pontos de retira, novos tamanhos de caixas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00598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Terra: principais variações P1</a:t>
            </a:r>
            <a:endParaRPr lang="pt-BR" dirty="0"/>
          </a:p>
        </p:txBody>
      </p:sp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3030761"/>
              </p:ext>
            </p:extLst>
          </p:nvPr>
        </p:nvGraphicFramePr>
        <p:xfrm>
          <a:off x="631301" y="1617687"/>
          <a:ext cx="6677025" cy="4619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59" name="Planilha" r:id="rId4" imgW="6676987" imgH="4619643" progId="Excel.Sheet.12">
                  <p:link updateAutomatic="1"/>
                </p:oleObj>
              </mc:Choice>
              <mc:Fallback>
                <p:oleObj name="Planilha" r:id="rId4" imgW="6676987" imgH="4619643" progId="Excel.Sheet.12">
                  <p:link updateAutomatic="1"/>
                  <p:pic>
                    <p:nvPicPr>
                      <p:cNvPr id="0" name="Objeto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301" y="1617687"/>
                        <a:ext cx="6677025" cy="46196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/>
        </p:nvSpPr>
        <p:spPr>
          <a:xfrm>
            <a:off x="539552" y="3182496"/>
            <a:ext cx="691276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539552" y="2420888"/>
            <a:ext cx="691276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539552" y="2683024"/>
            <a:ext cx="691276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539552" y="4149080"/>
            <a:ext cx="691276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7194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/>
            <a:r>
              <a:rPr lang="pt-BR" sz="2800" dirty="0">
                <a:latin typeface="Verdana" pitchFamily="34" charset="0"/>
                <a:ea typeface="+mn-ea"/>
                <a:cs typeface="Arial" charset="0"/>
              </a:rPr>
              <a:t>Impacto no Resultado (</a:t>
            </a:r>
            <a:r>
              <a:rPr lang="pt-BR" sz="2800" dirty="0" err="1">
                <a:latin typeface="Verdana" pitchFamily="34" charset="0"/>
                <a:ea typeface="+mn-ea"/>
                <a:cs typeface="Arial" charset="0"/>
              </a:rPr>
              <a:t>OpEx</a:t>
            </a:r>
            <a:r>
              <a:rPr lang="pt-BR" sz="2800" dirty="0">
                <a:latin typeface="Verdana" pitchFamily="34" charset="0"/>
                <a:ea typeface="+mn-ea"/>
                <a:cs typeface="Arial" charset="0"/>
              </a:rPr>
              <a:t>)</a:t>
            </a:r>
          </a:p>
        </p:txBody>
      </p:sp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0016651"/>
              </p:ext>
            </p:extLst>
          </p:nvPr>
        </p:nvGraphicFramePr>
        <p:xfrm>
          <a:off x="568325" y="1446215"/>
          <a:ext cx="6991350" cy="4371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57" name="Planilha" r:id="rId4" imgW="6991469" imgH="4371844" progId="Excel.Sheet.12">
                  <p:link updateAutomatic="1"/>
                </p:oleObj>
              </mc:Choice>
              <mc:Fallback>
                <p:oleObj name="Planilha" r:id="rId4" imgW="6991469" imgH="4371844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8325" y="1446215"/>
                        <a:ext cx="6991350" cy="4371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ângulo 4"/>
          <p:cNvSpPr/>
          <p:nvPr/>
        </p:nvSpPr>
        <p:spPr>
          <a:xfrm>
            <a:off x="6444208" y="5403696"/>
            <a:ext cx="1008112" cy="5151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4797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1744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tângulo 49"/>
          <p:cNvSpPr/>
          <p:nvPr/>
        </p:nvSpPr>
        <p:spPr>
          <a:xfrm>
            <a:off x="6919236" y="5934766"/>
            <a:ext cx="2195736" cy="9087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8194" name="Rectangle 58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479" name="think-cell Slide" r:id="rId31" imgW="0" imgH="0" progId="">
                  <p:embed/>
                </p:oleObj>
              </mc:Choice>
              <mc:Fallback>
                <p:oleObj name="think-cell Slide" r:id="rId31" imgW="0" imgH="0" progId="">
                  <p:embed/>
                  <p:pic>
                    <p:nvPicPr>
                      <p:cNvPr id="0" name="AutoShape 2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9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429000" y="1352550"/>
            <a:ext cx="2438400" cy="243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hlink">
                <a:gamma/>
                <a:shade val="60000"/>
                <a:invGamma/>
              </a:schemeClr>
            </a:prstShdw>
          </a:effectLst>
        </p:spPr>
        <p:txBody>
          <a:bodyPr anchor="ctr"/>
          <a:lstStyle/>
          <a:p>
            <a:pPr algn="ctr">
              <a:defRPr/>
            </a:pP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Black Out</a:t>
            </a:r>
          </a:p>
        </p:txBody>
      </p:sp>
      <p:sp>
        <p:nvSpPr>
          <p:cNvPr id="67" name="Rectangle 1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943600" y="1367790"/>
            <a:ext cx="1524000" cy="228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hlink">
                <a:gamma/>
                <a:shade val="60000"/>
                <a:invGamma/>
              </a:schemeClr>
            </a:prstShdw>
          </a:effectLst>
        </p:spPr>
        <p:txBody>
          <a:bodyPr anchor="ctr"/>
          <a:lstStyle/>
          <a:p>
            <a:pPr algn="ctr">
              <a:defRPr/>
            </a:pPr>
            <a:r>
              <a:rPr lang="pt-BR" sz="1400" b="1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Ramp</a:t>
            </a: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 </a:t>
            </a:r>
            <a:r>
              <a:rPr lang="pt-BR" sz="1400" b="1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Up</a:t>
            </a:r>
            <a:endParaRPr lang="pt-BR" sz="1400" b="1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+mn-cs"/>
            </a:endParaRPr>
          </a:p>
        </p:txBody>
      </p:sp>
      <p:sp>
        <p:nvSpPr>
          <p:cNvPr id="68" name="Rectangle 1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600200" y="1352550"/>
            <a:ext cx="1752600" cy="243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hlink">
                <a:gamma/>
                <a:shade val="60000"/>
                <a:invGamma/>
              </a:schemeClr>
            </a:prstShdw>
          </a:effectLst>
        </p:spPr>
        <p:txBody>
          <a:bodyPr anchor="ctr"/>
          <a:lstStyle/>
          <a:p>
            <a:pPr algn="ctr">
              <a:defRPr/>
            </a:pP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Restrições Iniciais</a:t>
            </a:r>
          </a:p>
        </p:txBody>
      </p:sp>
      <p:cxnSp>
        <p:nvCxnSpPr>
          <p:cNvPr id="76" name="Straight Connector 39"/>
          <p:cNvCxnSpPr/>
          <p:nvPr>
            <p:custDataLst>
              <p:tags r:id="rId6"/>
            </p:custDataLst>
          </p:nvPr>
        </p:nvCxnSpPr>
        <p:spPr>
          <a:xfrm>
            <a:off x="5886450" y="1619281"/>
            <a:ext cx="0" cy="2266955"/>
          </a:xfrm>
          <a:prstGeom prst="line">
            <a:avLst/>
          </a:prstGeom>
          <a:ln w="158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40"/>
          <p:cNvCxnSpPr/>
          <p:nvPr>
            <p:custDataLst>
              <p:tags r:id="rId7"/>
            </p:custDataLst>
          </p:nvPr>
        </p:nvCxnSpPr>
        <p:spPr>
          <a:xfrm>
            <a:off x="7524757" y="1619281"/>
            <a:ext cx="23813" cy="2266955"/>
          </a:xfrm>
          <a:prstGeom prst="line">
            <a:avLst/>
          </a:prstGeom>
          <a:ln w="158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ight Arrow 63"/>
          <p:cNvSpPr/>
          <p:nvPr>
            <p:custDataLst>
              <p:tags r:id="rId8"/>
            </p:custDataLst>
          </p:nvPr>
        </p:nvSpPr>
        <p:spPr>
          <a:xfrm>
            <a:off x="76251" y="777244"/>
            <a:ext cx="8945563" cy="552450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1200"/>
          </a:p>
        </p:txBody>
      </p:sp>
      <p:sp>
        <p:nvSpPr>
          <p:cNvPr id="79" name="TextBox 67"/>
          <p:cNvSpPr txBox="1"/>
          <p:nvPr>
            <p:custDataLst>
              <p:tags r:id="rId9"/>
            </p:custDataLst>
          </p:nvPr>
        </p:nvSpPr>
        <p:spPr>
          <a:xfrm>
            <a:off x="7400926" y="870587"/>
            <a:ext cx="31290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sz="1200" b="1" i="1" dirty="0" smtClean="0">
                <a:cs typeface="+mn-cs"/>
              </a:rPr>
              <a:t>D</a:t>
            </a:r>
            <a:endParaRPr lang="pt-BR" sz="1200" b="1" i="1" dirty="0">
              <a:cs typeface="+mn-cs"/>
            </a:endParaRPr>
          </a:p>
        </p:txBody>
      </p:sp>
      <p:sp>
        <p:nvSpPr>
          <p:cNvPr id="8202" name="TextBox 103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435851" y="1756410"/>
            <a:ext cx="686406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100"/>
              <a:t>Go-live</a:t>
            </a:r>
          </a:p>
        </p:txBody>
      </p:sp>
      <p:sp>
        <p:nvSpPr>
          <p:cNvPr id="81" name="5-Point Star 102"/>
          <p:cNvSpPr/>
          <p:nvPr>
            <p:custDataLst>
              <p:tags r:id="rId11"/>
            </p:custDataLst>
          </p:nvPr>
        </p:nvSpPr>
        <p:spPr>
          <a:xfrm>
            <a:off x="7423150" y="2007870"/>
            <a:ext cx="228600" cy="276226"/>
          </a:xfrm>
          <a:prstGeom prst="star5">
            <a:avLst/>
          </a:prstGeom>
          <a:solidFill>
            <a:srgbClr val="FFFF00">
              <a:alpha val="3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1000"/>
          </a:p>
        </p:txBody>
      </p:sp>
      <p:sp>
        <p:nvSpPr>
          <p:cNvPr id="82" name="TextBox 93"/>
          <p:cNvSpPr txBox="1"/>
          <p:nvPr/>
        </p:nvSpPr>
        <p:spPr>
          <a:xfrm>
            <a:off x="1464727" y="870587"/>
            <a:ext cx="6046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sz="1200" b="1" i="1" dirty="0" smtClean="0">
                <a:cs typeface="+mn-cs"/>
              </a:rPr>
              <a:t>D-21</a:t>
            </a:r>
            <a:endParaRPr lang="pt-BR" sz="1200" b="1" i="1" dirty="0">
              <a:cs typeface="+mn-cs"/>
            </a:endParaRPr>
          </a:p>
        </p:txBody>
      </p:sp>
      <p:sp>
        <p:nvSpPr>
          <p:cNvPr id="83" name="Retângulo 82"/>
          <p:cNvSpPr/>
          <p:nvPr>
            <p:custDataLst>
              <p:tags r:id="rId12"/>
            </p:custDataLst>
          </p:nvPr>
        </p:nvSpPr>
        <p:spPr>
          <a:xfrm>
            <a:off x="3429023" y="2558998"/>
            <a:ext cx="2390775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>
              <a:defRPr/>
            </a:pPr>
            <a:r>
              <a:rPr lang="pt-BR" sz="1200" dirty="0"/>
              <a:t>Período para atividades que demandam parada parcial ou total da operação. </a:t>
            </a:r>
            <a:endParaRPr lang="pt-BR" sz="1200" dirty="0" smtClean="0"/>
          </a:p>
          <a:p>
            <a:pPr>
              <a:defRPr/>
            </a:pPr>
            <a:endParaRPr lang="pt-BR" sz="1200" dirty="0"/>
          </a:p>
          <a:p>
            <a:pPr>
              <a:defRPr/>
            </a:pPr>
            <a:endParaRPr lang="pt-BR" sz="1200" dirty="0"/>
          </a:p>
        </p:txBody>
      </p:sp>
      <p:sp>
        <p:nvSpPr>
          <p:cNvPr id="84" name="Retângulo 83"/>
          <p:cNvSpPr/>
          <p:nvPr>
            <p:custDataLst>
              <p:tags r:id="rId13"/>
            </p:custDataLst>
          </p:nvPr>
        </p:nvSpPr>
        <p:spPr>
          <a:xfrm>
            <a:off x="5943600" y="2572805"/>
            <a:ext cx="1524000" cy="9387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>
              <a:defRPr/>
            </a:pPr>
            <a:r>
              <a:rPr lang="pt-BR" sz="1100" dirty="0"/>
              <a:t>Período de </a:t>
            </a:r>
            <a:r>
              <a:rPr lang="pt-BR" sz="1100" dirty="0" smtClean="0"/>
              <a:t>reinício </a:t>
            </a:r>
            <a:r>
              <a:rPr lang="pt-BR" sz="1100" dirty="0"/>
              <a:t>das atividades operacionais de maneira </a:t>
            </a:r>
            <a:r>
              <a:rPr lang="pt-BR" sz="1100" dirty="0" smtClean="0"/>
              <a:t>controlada</a:t>
            </a:r>
          </a:p>
        </p:txBody>
      </p:sp>
      <p:sp>
        <p:nvSpPr>
          <p:cNvPr id="85" name="Rectangle 15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7524768" y="1367790"/>
            <a:ext cx="1547813" cy="2266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hlink">
                <a:gamma/>
                <a:shade val="60000"/>
                <a:invGamma/>
              </a:schemeClr>
            </a:prstShdw>
          </a:effectLst>
        </p:spPr>
        <p:txBody>
          <a:bodyPr anchor="ctr"/>
          <a:lstStyle/>
          <a:p>
            <a:pPr algn="ctr">
              <a:defRPr/>
            </a:pP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Pós </a:t>
            </a:r>
            <a:r>
              <a:rPr lang="pt-BR" sz="1400" b="1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Cut</a:t>
            </a: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 Over</a:t>
            </a:r>
          </a:p>
        </p:txBody>
      </p:sp>
      <p:cxnSp>
        <p:nvCxnSpPr>
          <p:cNvPr id="86" name="Straight Connector 15"/>
          <p:cNvCxnSpPr/>
          <p:nvPr>
            <p:custDataLst>
              <p:tags r:id="rId15"/>
            </p:custDataLst>
          </p:nvPr>
        </p:nvCxnSpPr>
        <p:spPr bwMode="auto">
          <a:xfrm>
            <a:off x="3352800" y="2358390"/>
            <a:ext cx="2516188" cy="57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15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76200" y="1352550"/>
            <a:ext cx="1447800" cy="228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hlink">
                <a:gamma/>
                <a:shade val="60000"/>
                <a:invGamma/>
              </a:schemeClr>
            </a:prstShdw>
          </a:effectLst>
        </p:spPr>
        <p:txBody>
          <a:bodyPr anchor="ctr"/>
          <a:lstStyle/>
          <a:p>
            <a:pPr algn="ctr">
              <a:defRPr/>
            </a:pP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Pré </a:t>
            </a:r>
            <a:r>
              <a:rPr lang="pt-BR" sz="1400" b="1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Cut</a:t>
            </a:r>
            <a:r>
              <a:rPr lang="pt-BR" sz="14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+mn-cs"/>
              </a:rPr>
              <a:t> Over</a:t>
            </a:r>
          </a:p>
        </p:txBody>
      </p:sp>
      <p:sp>
        <p:nvSpPr>
          <p:cNvPr id="88" name="Retângulo 87"/>
          <p:cNvSpPr/>
          <p:nvPr>
            <p:custDataLst>
              <p:tags r:id="rId17"/>
            </p:custDataLst>
          </p:nvPr>
        </p:nvSpPr>
        <p:spPr>
          <a:xfrm>
            <a:off x="1737982" y="2563035"/>
            <a:ext cx="1581150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>
              <a:defRPr/>
            </a:pPr>
            <a:r>
              <a:rPr lang="pt-BR" sz="1200" dirty="0"/>
              <a:t>Atividades de restrições e bloqueio de operações e sistemas </a:t>
            </a:r>
          </a:p>
        </p:txBody>
      </p:sp>
      <p:sp>
        <p:nvSpPr>
          <p:cNvPr id="89" name="Retângulo 88"/>
          <p:cNvSpPr/>
          <p:nvPr>
            <p:custDataLst>
              <p:tags r:id="rId18"/>
            </p:custDataLst>
          </p:nvPr>
        </p:nvSpPr>
        <p:spPr>
          <a:xfrm>
            <a:off x="76200" y="2560602"/>
            <a:ext cx="1524000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pt-BR" sz="1200" dirty="0"/>
              <a:t>Atividades preparatórias para o </a:t>
            </a:r>
            <a:r>
              <a:rPr lang="pt-BR" sz="1200" dirty="0" err="1"/>
              <a:t>cut</a:t>
            </a:r>
            <a:r>
              <a:rPr lang="pt-BR" sz="1200" dirty="0"/>
              <a:t> </a:t>
            </a:r>
            <a:r>
              <a:rPr lang="pt-BR" sz="1200" dirty="0" smtClean="0"/>
              <a:t>over</a:t>
            </a:r>
          </a:p>
          <a:p>
            <a:pPr>
              <a:defRPr/>
            </a:pPr>
            <a:endParaRPr lang="pt-BR" sz="1200" dirty="0"/>
          </a:p>
          <a:p>
            <a:pPr>
              <a:defRPr/>
            </a:pPr>
            <a:endParaRPr lang="pt-BR" sz="1200" dirty="0"/>
          </a:p>
        </p:txBody>
      </p:sp>
      <p:sp>
        <p:nvSpPr>
          <p:cNvPr id="90" name="TextBox 93"/>
          <p:cNvSpPr txBox="1"/>
          <p:nvPr>
            <p:custDataLst>
              <p:tags r:id="rId19"/>
            </p:custDataLst>
          </p:nvPr>
        </p:nvSpPr>
        <p:spPr>
          <a:xfrm>
            <a:off x="25400" y="870587"/>
            <a:ext cx="6046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sz="1200" b="1" i="1" dirty="0" smtClean="0">
                <a:cs typeface="+mn-cs"/>
              </a:rPr>
              <a:t>D-90</a:t>
            </a:r>
            <a:endParaRPr lang="pt-BR" sz="1200" b="1" i="1" dirty="0">
              <a:cs typeface="+mn-cs"/>
            </a:endParaRPr>
          </a:p>
        </p:txBody>
      </p:sp>
      <p:sp>
        <p:nvSpPr>
          <p:cNvPr id="92" name="Retângulo 91"/>
          <p:cNvSpPr/>
          <p:nvPr>
            <p:custDataLst>
              <p:tags r:id="rId20"/>
            </p:custDataLst>
          </p:nvPr>
        </p:nvSpPr>
        <p:spPr>
          <a:xfrm>
            <a:off x="7629525" y="2582867"/>
            <a:ext cx="1409700" cy="9387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>
              <a:defRPr/>
            </a:pPr>
            <a:r>
              <a:rPr lang="pt-BR" sz="1100" dirty="0"/>
              <a:t>Período para </a:t>
            </a:r>
            <a:r>
              <a:rPr lang="pt-BR" sz="1100" dirty="0" smtClean="0"/>
              <a:t>acompanhamento</a:t>
            </a:r>
            <a:r>
              <a:rPr lang="pt-BR" sz="1100" dirty="0"/>
              <a:t>, estabilização, </a:t>
            </a:r>
            <a:r>
              <a:rPr lang="pt-BR" sz="1100" dirty="0" smtClean="0"/>
              <a:t>validações da GV piloto</a:t>
            </a:r>
            <a:endParaRPr lang="pt-BR" sz="1200" dirty="0"/>
          </a:p>
        </p:txBody>
      </p:sp>
      <p:cxnSp>
        <p:nvCxnSpPr>
          <p:cNvPr id="69" name="Straight Connector 39"/>
          <p:cNvCxnSpPr/>
          <p:nvPr>
            <p:custDataLst>
              <p:tags r:id="rId21"/>
            </p:custDataLst>
          </p:nvPr>
        </p:nvCxnSpPr>
        <p:spPr>
          <a:xfrm>
            <a:off x="3386468" y="1619281"/>
            <a:ext cx="0" cy="2266955"/>
          </a:xfrm>
          <a:prstGeom prst="line">
            <a:avLst/>
          </a:prstGeom>
          <a:ln w="158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39"/>
          <p:cNvCxnSpPr/>
          <p:nvPr>
            <p:custDataLst>
              <p:tags r:id="rId22"/>
            </p:custDataLst>
          </p:nvPr>
        </p:nvCxnSpPr>
        <p:spPr>
          <a:xfrm>
            <a:off x="1676400" y="1619253"/>
            <a:ext cx="0" cy="2266952"/>
          </a:xfrm>
          <a:prstGeom prst="line">
            <a:avLst/>
          </a:prstGeom>
          <a:ln w="158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65"/>
          <p:cNvGrpSpPr>
            <a:grpSpLocks/>
          </p:cNvGrpSpPr>
          <p:nvPr>
            <p:custDataLst>
              <p:tags r:id="rId23"/>
            </p:custDataLst>
          </p:nvPr>
        </p:nvGrpSpPr>
        <p:grpSpPr bwMode="auto">
          <a:xfrm>
            <a:off x="160368" y="1647826"/>
            <a:ext cx="8893175" cy="725804"/>
            <a:chOff x="160477" y="1504667"/>
            <a:chExt cx="8893675" cy="725197"/>
          </a:xfrm>
        </p:grpSpPr>
        <p:cxnSp>
          <p:nvCxnSpPr>
            <p:cNvPr id="70" name="Straight Connector 15"/>
            <p:cNvCxnSpPr/>
            <p:nvPr/>
          </p:nvCxnSpPr>
          <p:spPr>
            <a:xfrm flipV="1">
              <a:off x="160477" y="1508474"/>
              <a:ext cx="1363739" cy="95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8"/>
            <p:cNvCxnSpPr/>
            <p:nvPr/>
          </p:nvCxnSpPr>
          <p:spPr>
            <a:xfrm flipV="1">
              <a:off x="7468150" y="1504667"/>
              <a:ext cx="1586002" cy="380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24"/>
            <p:cNvCxnSpPr/>
            <p:nvPr/>
          </p:nvCxnSpPr>
          <p:spPr>
            <a:xfrm rot="10800000" flipV="1">
              <a:off x="5867860" y="1508474"/>
              <a:ext cx="1600290" cy="72139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27"/>
            <p:cNvCxnSpPr/>
            <p:nvPr/>
          </p:nvCxnSpPr>
          <p:spPr>
            <a:xfrm>
              <a:off x="1524216" y="1508474"/>
              <a:ext cx="1828903" cy="70616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Retângulo 90"/>
          <p:cNvSpPr/>
          <p:nvPr>
            <p:custDataLst>
              <p:tags r:id="rId24"/>
            </p:custDataLst>
          </p:nvPr>
        </p:nvSpPr>
        <p:spPr>
          <a:xfrm>
            <a:off x="1632099" y="4011005"/>
            <a:ext cx="5895976" cy="276999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pt-BR" sz="1200" b="1" dirty="0"/>
              <a:t>Período de </a:t>
            </a:r>
            <a:r>
              <a:rPr lang="pt-BR" sz="1200" b="1" dirty="0" err="1"/>
              <a:t>cut</a:t>
            </a:r>
            <a:r>
              <a:rPr lang="pt-BR" sz="1200" b="1" dirty="0"/>
              <a:t> over</a:t>
            </a:r>
          </a:p>
        </p:txBody>
      </p:sp>
      <p:sp>
        <p:nvSpPr>
          <p:cNvPr id="36" name="Title 1"/>
          <p:cNvSpPr txBox="1">
            <a:spLocks/>
          </p:cNvSpPr>
          <p:nvPr/>
        </p:nvSpPr>
        <p:spPr bwMode="auto">
          <a:xfrm>
            <a:off x="228600" y="62866"/>
            <a:ext cx="7315200" cy="699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pt-BR" sz="2000" kern="0" dirty="0" smtClean="0">
                <a:latin typeface="Verdana" pitchFamily="34" charset="0"/>
                <a:ea typeface="+mj-ea"/>
              </a:rPr>
              <a:t>Conceito da Estratégia de Comunicação</a:t>
            </a:r>
            <a:endParaRPr lang="en-US" sz="2000" kern="0" dirty="0">
              <a:latin typeface="Verdana" pitchFamily="34" charset="0"/>
              <a:ea typeface="+mj-ea"/>
            </a:endParaRPr>
          </a:p>
        </p:txBody>
      </p:sp>
      <p:pic>
        <p:nvPicPr>
          <p:cNvPr id="8222" name="Picture 34"/>
          <p:cNvPicPr>
            <a:picLocks noChangeAspect="1" noChangeArrowheads="1"/>
          </p:cNvPicPr>
          <p:nvPr/>
        </p:nvPicPr>
        <p:blipFill>
          <a:blip r:embed="rId32" cstate="print"/>
          <a:srcRect/>
          <a:stretch>
            <a:fillRect/>
          </a:stretch>
        </p:blipFill>
        <p:spPr bwMode="auto">
          <a:xfrm>
            <a:off x="4191000" y="1649730"/>
            <a:ext cx="990600" cy="67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" name="Right Arrow 33"/>
          <p:cNvSpPr/>
          <p:nvPr/>
        </p:nvSpPr>
        <p:spPr>
          <a:xfrm>
            <a:off x="213982" y="3446256"/>
            <a:ext cx="3048000" cy="76390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855663" eaLnBrk="0" hangingPunct="0">
              <a:defRPr/>
            </a:pPr>
            <a:r>
              <a:rPr lang="en-US" dirty="0" err="1"/>
              <a:t>Pré-operatório</a:t>
            </a:r>
            <a:endParaRPr lang="en-US" dirty="0"/>
          </a:p>
        </p:txBody>
      </p:sp>
      <p:sp>
        <p:nvSpPr>
          <p:cNvPr id="35" name="Right Arrow 34"/>
          <p:cNvSpPr/>
          <p:nvPr/>
        </p:nvSpPr>
        <p:spPr>
          <a:xfrm>
            <a:off x="3430588" y="3426054"/>
            <a:ext cx="2438400" cy="76390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855663" eaLnBrk="0" hangingPunct="0">
              <a:defRPr/>
            </a:pPr>
            <a:r>
              <a:rPr lang="en-US" dirty="0" err="1"/>
              <a:t>Cirurgia</a:t>
            </a:r>
            <a:endParaRPr lang="en-US" dirty="0"/>
          </a:p>
        </p:txBody>
      </p:sp>
      <p:sp>
        <p:nvSpPr>
          <p:cNvPr id="37" name="Right Arrow 36"/>
          <p:cNvSpPr/>
          <p:nvPr/>
        </p:nvSpPr>
        <p:spPr>
          <a:xfrm>
            <a:off x="6010276" y="3426054"/>
            <a:ext cx="2971800" cy="76390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855663" eaLnBrk="0" hangingPunct="0">
              <a:defRPr/>
            </a:pPr>
            <a:r>
              <a:rPr lang="en-US" dirty="0" err="1"/>
              <a:t>Pós-operatório</a:t>
            </a:r>
            <a:endParaRPr lang="en-US" dirty="0"/>
          </a:p>
        </p:txBody>
      </p:sp>
      <p:sp>
        <p:nvSpPr>
          <p:cNvPr id="38" name="TextBox 93"/>
          <p:cNvSpPr txBox="1"/>
          <p:nvPr/>
        </p:nvSpPr>
        <p:spPr>
          <a:xfrm>
            <a:off x="3200411" y="870587"/>
            <a:ext cx="49564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sz="1200" b="1" i="1" dirty="0" smtClean="0">
                <a:cs typeface="+mn-cs"/>
              </a:rPr>
              <a:t>D-3</a:t>
            </a:r>
            <a:endParaRPr lang="pt-BR" sz="1200" b="1" i="1" dirty="0">
              <a:cs typeface="+mn-cs"/>
            </a:endParaRPr>
          </a:p>
        </p:txBody>
      </p:sp>
      <p:sp>
        <p:nvSpPr>
          <p:cNvPr id="40" name="TextBox 93"/>
          <p:cNvSpPr txBox="1"/>
          <p:nvPr/>
        </p:nvSpPr>
        <p:spPr>
          <a:xfrm>
            <a:off x="5664488" y="876527"/>
            <a:ext cx="49564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sz="1200" b="1" i="1" dirty="0" smtClean="0">
                <a:cs typeface="+mn-cs"/>
              </a:rPr>
              <a:t>D-1</a:t>
            </a:r>
            <a:endParaRPr lang="pt-BR" sz="1200" b="1" i="1" dirty="0">
              <a:cs typeface="+mn-cs"/>
            </a:endParaRPr>
          </a:p>
        </p:txBody>
      </p:sp>
      <p:sp>
        <p:nvSpPr>
          <p:cNvPr id="43" name="TextBox 67"/>
          <p:cNvSpPr txBox="1"/>
          <p:nvPr>
            <p:custDataLst>
              <p:tags r:id="rId25"/>
            </p:custDataLst>
          </p:nvPr>
        </p:nvSpPr>
        <p:spPr>
          <a:xfrm>
            <a:off x="8512840" y="868685"/>
            <a:ext cx="66396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sz="1200" b="1" i="1" dirty="0" smtClean="0">
                <a:cs typeface="+mn-cs"/>
              </a:rPr>
              <a:t>D+42</a:t>
            </a:r>
            <a:endParaRPr lang="pt-BR" sz="1200" b="1" i="1" dirty="0">
              <a:cs typeface="+mn-cs"/>
            </a:endParaRPr>
          </a:p>
        </p:txBody>
      </p:sp>
      <p:sp>
        <p:nvSpPr>
          <p:cNvPr id="44" name="Rectangle 111"/>
          <p:cNvSpPr/>
          <p:nvPr>
            <p:custDataLst>
              <p:tags r:id="rId26"/>
            </p:custDataLst>
          </p:nvPr>
        </p:nvSpPr>
        <p:spPr>
          <a:xfrm>
            <a:off x="23247" y="4380614"/>
            <a:ext cx="3339966" cy="2286000"/>
          </a:xfrm>
          <a:prstGeom prst="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Verdana" pitchFamily="34" charset="0"/>
              <a:buChar char="●"/>
            </a:pPr>
            <a:endParaRPr lang="pt-BR" sz="1200" dirty="0" smtClean="0">
              <a:solidFill>
                <a:schemeClr val="tx1"/>
              </a:solidFill>
            </a:endParaRPr>
          </a:p>
          <a:p>
            <a:pPr marL="342900" indent="-342900">
              <a:buFont typeface="Verdana" pitchFamily="34" charset="0"/>
              <a:buChar char="●"/>
            </a:pPr>
            <a:endParaRPr lang="pt-BR" sz="1200" dirty="0" smtClean="0">
              <a:solidFill>
                <a:schemeClr val="tx1"/>
              </a:solidFill>
            </a:endParaRPr>
          </a:p>
          <a:p>
            <a:pPr marL="342900" indent="-342900">
              <a:buFont typeface="Verdana" pitchFamily="34" charset="0"/>
              <a:buChar char="●"/>
            </a:pPr>
            <a:endParaRPr lang="pt-BR" sz="1200" dirty="0" smtClean="0">
              <a:solidFill>
                <a:schemeClr val="tx1"/>
              </a:solidFill>
            </a:endParaRPr>
          </a:p>
          <a:p>
            <a:pPr marL="342900" indent="-342900">
              <a:buFont typeface="Verdana" pitchFamily="34" charset="0"/>
              <a:buChar char="●"/>
            </a:pPr>
            <a:endParaRPr lang="pt-BR" sz="12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endParaRPr lang="pt-BR" sz="1400" dirty="0" smtClean="0">
              <a:solidFill>
                <a:schemeClr val="tx1"/>
              </a:solidFill>
            </a:endParaRPr>
          </a:p>
        </p:txBody>
      </p:sp>
      <p:sp>
        <p:nvSpPr>
          <p:cNvPr id="45" name="Rectangle 124"/>
          <p:cNvSpPr/>
          <p:nvPr>
            <p:custDataLst>
              <p:tags r:id="rId27"/>
            </p:custDataLst>
          </p:nvPr>
        </p:nvSpPr>
        <p:spPr>
          <a:xfrm>
            <a:off x="3429000" y="4380618"/>
            <a:ext cx="2457450" cy="2289187"/>
          </a:xfrm>
          <a:prstGeom prst="rect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pt-BR" sz="1200" dirty="0" smtClean="0">
              <a:solidFill>
                <a:srgbClr val="00B0F0"/>
              </a:solidFill>
            </a:endParaRPr>
          </a:p>
          <a:p>
            <a:endParaRPr lang="pt-BR" sz="1000" dirty="0" smtClean="0">
              <a:solidFill>
                <a:srgbClr val="00B0F0"/>
              </a:solidFill>
            </a:endParaRPr>
          </a:p>
          <a:p>
            <a:endParaRPr lang="pt-BR" sz="1000" dirty="0" smtClean="0">
              <a:solidFill>
                <a:schemeClr val="tx1"/>
              </a:solidFill>
            </a:endParaRPr>
          </a:p>
          <a:p>
            <a:endParaRPr lang="pt-BR" sz="1200" dirty="0" smtClean="0">
              <a:solidFill>
                <a:schemeClr val="tx1"/>
              </a:solidFill>
            </a:endParaRPr>
          </a:p>
          <a:p>
            <a:endParaRPr lang="pt-BR" sz="1200" dirty="0" smtClean="0">
              <a:solidFill>
                <a:schemeClr val="tx1"/>
              </a:solidFill>
            </a:endParaRPr>
          </a:p>
          <a:p>
            <a:endParaRPr lang="pt-BR" sz="1400" dirty="0" smtClean="0">
              <a:solidFill>
                <a:schemeClr val="tx1"/>
              </a:solidFill>
            </a:endParaRPr>
          </a:p>
        </p:txBody>
      </p:sp>
      <p:sp>
        <p:nvSpPr>
          <p:cNvPr id="46" name="Rectangle 126"/>
          <p:cNvSpPr/>
          <p:nvPr>
            <p:custDataLst>
              <p:tags r:id="rId28"/>
            </p:custDataLst>
          </p:nvPr>
        </p:nvSpPr>
        <p:spPr>
          <a:xfrm>
            <a:off x="5943603" y="4380614"/>
            <a:ext cx="3095625" cy="2286000"/>
          </a:xfrm>
          <a:prstGeom prst="rect">
            <a:avLst/>
          </a:prstGeom>
          <a:solidFill>
            <a:schemeClr val="accent1">
              <a:lumMod val="20000"/>
              <a:lumOff val="80000"/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Verdana" pitchFamily="34" charset="0"/>
              <a:buChar char="●"/>
            </a:pPr>
            <a:endParaRPr lang="pt-BR" sz="1200" dirty="0" smtClean="0">
              <a:solidFill>
                <a:schemeClr val="tx1"/>
              </a:solidFill>
            </a:endParaRPr>
          </a:p>
        </p:txBody>
      </p:sp>
      <p:sp>
        <p:nvSpPr>
          <p:cNvPr id="47" name="TextBox 131"/>
          <p:cNvSpPr txBox="1"/>
          <p:nvPr/>
        </p:nvSpPr>
        <p:spPr>
          <a:xfrm>
            <a:off x="25400" y="4395461"/>
            <a:ext cx="33274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Status do projeto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Principais riscos, impactos e contingências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Calendário de Implantação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Parada de sistemas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</a:rPr>
              <a:t>Restrições de Negócio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</a:rPr>
              <a:t>Plano de Suporte durante Implantação</a:t>
            </a:r>
          </a:p>
          <a:p>
            <a:pPr marL="342900" indent="-342900"/>
            <a:endParaRPr lang="pt-BR" sz="1200" dirty="0"/>
          </a:p>
          <a:p>
            <a:pPr marL="342900" indent="-342900">
              <a:buFont typeface="Verdana" pitchFamily="34" charset="0"/>
              <a:buChar char="●"/>
            </a:pPr>
            <a:endParaRPr lang="pt-BR" sz="1200" dirty="0" smtClean="0">
              <a:latin typeface="+mn-lt"/>
              <a:cs typeface="+mn-cs"/>
            </a:endParaRPr>
          </a:p>
        </p:txBody>
      </p:sp>
      <p:sp>
        <p:nvSpPr>
          <p:cNvPr id="48" name="TextBox 131"/>
          <p:cNvSpPr txBox="1"/>
          <p:nvPr/>
        </p:nvSpPr>
        <p:spPr>
          <a:xfrm>
            <a:off x="3417752" y="4395489"/>
            <a:ext cx="245123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Comunicação Interna sob evolução do plano de implantação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Acionamento de planos de contingência</a:t>
            </a:r>
          </a:p>
          <a:p>
            <a:pPr marL="342900" indent="-342900"/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Comunicação de ocorrências críticas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Eventual decisão de </a:t>
            </a:r>
            <a:r>
              <a:rPr lang="pt-BR" sz="1100" dirty="0" err="1" smtClean="0">
                <a:latin typeface="+mn-lt"/>
                <a:cs typeface="+mn-cs"/>
              </a:rPr>
              <a:t>Rollback</a:t>
            </a: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</p:txBody>
      </p:sp>
      <p:sp>
        <p:nvSpPr>
          <p:cNvPr id="49" name="TextBox 131"/>
          <p:cNvSpPr txBox="1"/>
          <p:nvPr/>
        </p:nvSpPr>
        <p:spPr>
          <a:xfrm>
            <a:off x="5943600" y="4394438"/>
            <a:ext cx="303847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Confirmação do </a:t>
            </a:r>
            <a:r>
              <a:rPr lang="pt-BR" sz="1100" dirty="0" err="1" smtClean="0">
                <a:latin typeface="+mn-lt"/>
                <a:cs typeface="+mn-cs"/>
              </a:rPr>
              <a:t>Go-Live</a:t>
            </a:r>
            <a:r>
              <a:rPr lang="pt-BR" sz="1100" dirty="0" smtClean="0">
                <a:latin typeface="+mn-lt"/>
                <a:cs typeface="+mn-cs"/>
              </a:rPr>
              <a:t> / </a:t>
            </a:r>
            <a:r>
              <a:rPr lang="pt-BR" sz="1100" dirty="0" err="1" smtClean="0">
                <a:latin typeface="+mn-lt"/>
                <a:cs typeface="+mn-cs"/>
              </a:rPr>
              <a:t>Rollback</a:t>
            </a: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Acionamento de planos de contingência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Eventuais ajustes no calendário de </a:t>
            </a:r>
            <a:r>
              <a:rPr lang="pt-BR" sz="1100" dirty="0" err="1" smtClean="0">
                <a:latin typeface="+mn-lt"/>
                <a:cs typeface="+mn-cs"/>
              </a:rPr>
              <a:t>Rollout</a:t>
            </a:r>
            <a:endParaRPr lang="pt-BR" sz="1100" dirty="0" smtClean="0">
              <a:latin typeface="+mn-lt"/>
              <a:cs typeface="+mn-cs"/>
            </a:endParaRPr>
          </a:p>
          <a:p>
            <a:pPr marL="342900" indent="-342900"/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r>
              <a:rPr lang="pt-BR" sz="1100" dirty="0" smtClean="0">
                <a:latin typeface="+mn-lt"/>
                <a:cs typeface="+mn-cs"/>
              </a:rPr>
              <a:t>Acompanhamento do piloto</a:t>
            </a: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  <a:p>
            <a:pPr marL="342900" indent="-342900">
              <a:buFont typeface="Verdana" pitchFamily="34" charset="0"/>
              <a:buChar char="●"/>
            </a:pPr>
            <a:endParaRPr lang="pt-BR" sz="1100" dirty="0" smtClean="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93244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7" grpId="0" animBg="1"/>
      <p:bldP spid="44" grpId="0" animBg="1"/>
      <p:bldP spid="45" grpId="0" animBg="1"/>
      <p:bldP spid="46" grpId="0" animBg="1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Rectangle 51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503" name="think-cell Slide" r:id="rId47" imgW="0" imgH="0" progId="TCLayout.ActiveDocument.1">
                  <p:embed/>
                </p:oleObj>
              </mc:Choice>
              <mc:Fallback>
                <p:oleObj name="think-cell Slide" r:id="rId47" imgW="0" imgH="0" progId="TCLayout.ActiveDocument.1">
                  <p:embed/>
                  <p:pic>
                    <p:nvPicPr>
                      <p:cNvPr id="0" name="Rectangle 51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Rectangle 2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381000" y="46038"/>
            <a:ext cx="8001000" cy="595312"/>
          </a:xfrm>
        </p:spPr>
        <p:txBody>
          <a:bodyPr/>
          <a:lstStyle/>
          <a:p>
            <a:pPr algn="ctr"/>
            <a:r>
              <a:rPr lang="en-NZ" sz="1400" smtClean="0">
                <a:cs typeface="Arial" charset="0"/>
              </a:rPr>
              <a:t>Detalhamento do plano comunicação</a:t>
            </a:r>
            <a:br>
              <a:rPr lang="en-NZ" sz="1400" smtClean="0">
                <a:cs typeface="Arial" charset="0"/>
              </a:rPr>
            </a:br>
            <a:r>
              <a:rPr lang="en-NZ" sz="1400" smtClean="0">
                <a:cs typeface="Arial" charset="0"/>
              </a:rPr>
              <a:t> Impactos Diversos</a:t>
            </a:r>
            <a:endParaRPr sz="1400" smtClean="0">
              <a:cs typeface="Arial" charset="0"/>
            </a:endParaRPr>
          </a:p>
        </p:txBody>
      </p:sp>
      <p:cxnSp>
        <p:nvCxnSpPr>
          <p:cNvPr id="39" name="Straight Connector 38"/>
          <p:cNvCxnSpPr/>
          <p:nvPr>
            <p:custDataLst>
              <p:tags r:id="rId4"/>
            </p:custDataLst>
          </p:nvPr>
        </p:nvCxnSpPr>
        <p:spPr>
          <a:xfrm rot="5400000">
            <a:off x="1841500" y="4398964"/>
            <a:ext cx="5029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>
            <p:custDataLst>
              <p:tags r:id="rId5"/>
            </p:custDataLst>
          </p:nvPr>
        </p:nvCxnSpPr>
        <p:spPr>
          <a:xfrm rot="5400000">
            <a:off x="3284538" y="4367213"/>
            <a:ext cx="5029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>
            <p:custDataLst>
              <p:tags r:id="rId6"/>
            </p:custDataLst>
          </p:nvPr>
        </p:nvCxnSpPr>
        <p:spPr>
          <a:xfrm rot="5400000">
            <a:off x="5729288" y="4338638"/>
            <a:ext cx="5029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3" name="TextBox 55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319466" y="2708275"/>
            <a:ext cx="1323975" cy="184666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Parada da captação Brasil</a:t>
            </a:r>
          </a:p>
        </p:txBody>
      </p:sp>
      <p:sp>
        <p:nvSpPr>
          <p:cNvPr id="14344" name="TextBox 42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430721" y="4797425"/>
            <a:ext cx="1036637" cy="369332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Comunicação na URA parada de sistemas</a:t>
            </a:r>
          </a:p>
        </p:txBody>
      </p:sp>
      <p:cxnSp>
        <p:nvCxnSpPr>
          <p:cNvPr id="54" name="Straight Connector 53"/>
          <p:cNvCxnSpPr/>
          <p:nvPr>
            <p:custDataLst>
              <p:tags r:id="rId9"/>
            </p:custDataLst>
          </p:nvPr>
        </p:nvCxnSpPr>
        <p:spPr>
          <a:xfrm rot="16200000" flipH="1">
            <a:off x="309563" y="4370388"/>
            <a:ext cx="5029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>
            <p:custDataLst>
              <p:tags r:id="rId10"/>
            </p:custDataLst>
          </p:nvPr>
        </p:nvCxnSpPr>
        <p:spPr>
          <a:xfrm rot="16200000" flipH="1">
            <a:off x="-820737" y="4370388"/>
            <a:ext cx="5029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347" name="Picture 6"/>
          <p:cNvPicPr>
            <a:picLocks noChangeAspect="1" noChangeArrowheads="1"/>
          </p:cNvPicPr>
          <p:nvPr/>
        </p:nvPicPr>
        <p:blipFill>
          <a:blip r:embed="rId48" cstate="print"/>
          <a:srcRect/>
          <a:stretch>
            <a:fillRect/>
          </a:stretch>
        </p:blipFill>
        <p:spPr bwMode="auto">
          <a:xfrm>
            <a:off x="57160" y="1285879"/>
            <a:ext cx="9123363" cy="976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5" name="Flowchart: Connector 56"/>
          <p:cNvSpPr/>
          <p:nvPr/>
        </p:nvSpPr>
        <p:spPr>
          <a:xfrm>
            <a:off x="137643" y="3037117"/>
            <a:ext cx="792088" cy="365760"/>
          </a:xfrm>
          <a:prstGeom prst="flowChartConnector">
            <a:avLst/>
          </a:prstGeom>
          <a:solidFill>
            <a:srgbClr val="586727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800" b="1" dirty="0" smtClean="0"/>
              <a:t>Áreas </a:t>
            </a:r>
          </a:p>
          <a:p>
            <a:pPr algn="ctr">
              <a:defRPr/>
            </a:pPr>
            <a:r>
              <a:rPr lang="pt-BR" sz="800" b="1" dirty="0" smtClean="0"/>
              <a:t>Internas</a:t>
            </a:r>
            <a:endParaRPr lang="pt-BR" sz="800" b="1" dirty="0"/>
          </a:p>
        </p:txBody>
      </p:sp>
      <p:sp>
        <p:nvSpPr>
          <p:cNvPr id="126" name="Flowchart: Connector 56"/>
          <p:cNvSpPr/>
          <p:nvPr/>
        </p:nvSpPr>
        <p:spPr>
          <a:xfrm>
            <a:off x="107504" y="4519950"/>
            <a:ext cx="792088" cy="365760"/>
          </a:xfrm>
          <a:prstGeom prst="flowChartConnector">
            <a:avLst/>
          </a:prstGeom>
          <a:solidFill>
            <a:srgbClr val="586727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800" b="1" dirty="0" smtClean="0"/>
              <a:t>Força de </a:t>
            </a:r>
          </a:p>
          <a:p>
            <a:pPr algn="ctr">
              <a:defRPr/>
            </a:pPr>
            <a:r>
              <a:rPr lang="pt-BR" sz="800" b="1" dirty="0" smtClean="0"/>
              <a:t>Vendas</a:t>
            </a:r>
            <a:endParaRPr lang="pt-BR" sz="800" b="1" dirty="0"/>
          </a:p>
        </p:txBody>
      </p:sp>
      <p:sp>
        <p:nvSpPr>
          <p:cNvPr id="127" name="Flowchart: Connector 56"/>
          <p:cNvSpPr/>
          <p:nvPr/>
        </p:nvSpPr>
        <p:spPr>
          <a:xfrm>
            <a:off x="107504" y="6159584"/>
            <a:ext cx="792088" cy="365760"/>
          </a:xfrm>
          <a:prstGeom prst="flowChartConnector">
            <a:avLst/>
          </a:prstGeom>
          <a:solidFill>
            <a:srgbClr val="586727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800" b="1" dirty="0" smtClean="0"/>
              <a:t>Terceiros</a:t>
            </a:r>
            <a:endParaRPr lang="pt-BR" sz="800" b="1" dirty="0"/>
          </a:p>
        </p:txBody>
      </p:sp>
      <p:sp>
        <p:nvSpPr>
          <p:cNvPr id="128" name="Flowchart: Connector 56"/>
          <p:cNvSpPr/>
          <p:nvPr/>
        </p:nvSpPr>
        <p:spPr>
          <a:xfrm>
            <a:off x="107504" y="5167351"/>
            <a:ext cx="792088" cy="365760"/>
          </a:xfrm>
          <a:prstGeom prst="flowChartConnector">
            <a:avLst/>
          </a:prstGeom>
          <a:solidFill>
            <a:srgbClr val="586727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800" b="1" dirty="0" smtClean="0"/>
              <a:t>Canal</a:t>
            </a:r>
            <a:endParaRPr lang="pt-BR" sz="800" b="1" dirty="0"/>
          </a:p>
        </p:txBody>
      </p:sp>
      <p:sp>
        <p:nvSpPr>
          <p:cNvPr id="14360" name="TextBox 42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4430721" y="5116517"/>
            <a:ext cx="1036637" cy="276999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Parada captação Sol</a:t>
            </a:r>
          </a:p>
        </p:txBody>
      </p:sp>
      <p:sp>
        <p:nvSpPr>
          <p:cNvPr id="14361" name="TextBox 42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995754" y="5384801"/>
            <a:ext cx="1533525" cy="276999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Possibilidade captação off line e suas implicações</a:t>
            </a:r>
          </a:p>
        </p:txBody>
      </p:sp>
      <p:sp>
        <p:nvSpPr>
          <p:cNvPr id="14362" name="TextBox 42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835186" y="2708279"/>
            <a:ext cx="1439863" cy="276999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Parada SAP – Op. Inter. E Brasil</a:t>
            </a:r>
          </a:p>
        </p:txBody>
      </p:sp>
      <p:sp>
        <p:nvSpPr>
          <p:cNvPr id="14363" name="TextBox 42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987687" y="2997203"/>
            <a:ext cx="1616075" cy="276999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Última atualização estatística e sites</a:t>
            </a:r>
          </a:p>
        </p:txBody>
      </p:sp>
      <p:sp>
        <p:nvSpPr>
          <p:cNvPr id="14364" name="TextBox 42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540125" y="3213101"/>
            <a:ext cx="1036638" cy="276999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Parada SAP RH E BW</a:t>
            </a:r>
          </a:p>
        </p:txBody>
      </p:sp>
      <p:sp>
        <p:nvSpPr>
          <p:cNvPr id="14365" name="TextBox 42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341692" y="3429004"/>
            <a:ext cx="1235075" cy="276999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Parada de sistemas satélites</a:t>
            </a:r>
          </a:p>
        </p:txBody>
      </p:sp>
      <p:sp>
        <p:nvSpPr>
          <p:cNvPr id="14366" name="TextBox 42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74675" y="6551615"/>
            <a:ext cx="1036638" cy="276999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Relacionados ao black out</a:t>
            </a:r>
          </a:p>
        </p:txBody>
      </p:sp>
      <p:sp>
        <p:nvSpPr>
          <p:cNvPr id="14367" name="TextBox 42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1735180" y="4491041"/>
            <a:ext cx="1036637" cy="276999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Congelamento estrutura comercial</a:t>
            </a:r>
          </a:p>
        </p:txBody>
      </p:sp>
      <p:sp>
        <p:nvSpPr>
          <p:cNvPr id="14368" name="TextBox 42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1785946" y="6551615"/>
            <a:ext cx="1036637" cy="276999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Relacionados a Pré implantação</a:t>
            </a:r>
          </a:p>
        </p:txBody>
      </p:sp>
      <p:sp>
        <p:nvSpPr>
          <p:cNvPr id="14369" name="TextBox 42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1732005" y="4810127"/>
            <a:ext cx="1036637" cy="276999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Aumento SLA Gvs Sul</a:t>
            </a:r>
          </a:p>
        </p:txBody>
      </p:sp>
      <p:sp>
        <p:nvSpPr>
          <p:cNvPr id="14370" name="TextBox 42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841625" y="4781555"/>
            <a:ext cx="1036638" cy="276999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Interromper calendarização</a:t>
            </a:r>
          </a:p>
        </p:txBody>
      </p:sp>
      <p:sp>
        <p:nvSpPr>
          <p:cNvPr id="14371" name="TextBox 42"/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1765300" y="3059113"/>
            <a:ext cx="1036638" cy="369332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Limitar realocação de cotas entre GVs Terra e não Terra</a:t>
            </a:r>
          </a:p>
        </p:txBody>
      </p:sp>
      <p:sp>
        <p:nvSpPr>
          <p:cNvPr id="14372" name="TextBox 42"/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2901957" y="4452941"/>
            <a:ext cx="855663" cy="276999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Indisponibilidade dos Siters</a:t>
            </a:r>
          </a:p>
        </p:txBody>
      </p:sp>
      <p:sp>
        <p:nvSpPr>
          <p:cNvPr id="14373" name="TextBox 42"/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3606800" y="3676650"/>
            <a:ext cx="1797050" cy="276999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Equipes e turnos de trabalho no black out</a:t>
            </a:r>
          </a:p>
        </p:txBody>
      </p:sp>
      <p:sp>
        <p:nvSpPr>
          <p:cNvPr id="14374" name="TextBox 42"/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 rot="16200000">
            <a:off x="775494" y="5079208"/>
            <a:ext cx="1555750" cy="277812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Mudança de Regras para pedidos pendentes</a:t>
            </a:r>
          </a:p>
        </p:txBody>
      </p:sp>
      <p:sp>
        <p:nvSpPr>
          <p:cNvPr id="14375" name="TextBox 42"/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 rot="16200000">
            <a:off x="4564857" y="3028177"/>
            <a:ext cx="615950" cy="553998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Faq Hot line dúvidas do black out</a:t>
            </a:r>
          </a:p>
        </p:txBody>
      </p:sp>
      <p:sp>
        <p:nvSpPr>
          <p:cNvPr id="14376" name="TextBox 42"/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3822700" y="4465638"/>
            <a:ext cx="1036638" cy="369332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Milestones de go/no go pré go live</a:t>
            </a:r>
          </a:p>
        </p:txBody>
      </p:sp>
      <p:sp>
        <p:nvSpPr>
          <p:cNvPr id="14377" name="TextBox 42"/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3757618" y="3892553"/>
            <a:ext cx="1646237" cy="276999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Comitê e processo de gestão de crise</a:t>
            </a:r>
          </a:p>
        </p:txBody>
      </p:sp>
      <p:sp>
        <p:nvSpPr>
          <p:cNvPr id="14378" name="TextBox 42"/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2887673" y="5091113"/>
            <a:ext cx="1036637" cy="276999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Alteração no processo de revista</a:t>
            </a:r>
          </a:p>
        </p:txBody>
      </p:sp>
      <p:sp>
        <p:nvSpPr>
          <p:cNvPr id="14379" name="TextBox 42"/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1211263" y="2444753"/>
            <a:ext cx="1631950" cy="276999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Início e fim de treinamento de Usuários </a:t>
            </a:r>
          </a:p>
        </p:txBody>
      </p:sp>
      <p:sp>
        <p:nvSpPr>
          <p:cNvPr id="150" name="Flowchart: Connector 56"/>
          <p:cNvSpPr/>
          <p:nvPr/>
        </p:nvSpPr>
        <p:spPr>
          <a:xfrm>
            <a:off x="89968" y="2223403"/>
            <a:ext cx="792088" cy="365760"/>
          </a:xfrm>
          <a:prstGeom prst="flowChartConnector">
            <a:avLst/>
          </a:prstGeom>
          <a:solidFill>
            <a:srgbClr val="586727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800" b="1" dirty="0" smtClean="0"/>
              <a:t>Geral</a:t>
            </a:r>
            <a:endParaRPr lang="pt-BR" sz="800" b="1" dirty="0"/>
          </a:p>
        </p:txBody>
      </p:sp>
      <p:sp>
        <p:nvSpPr>
          <p:cNvPr id="14383" name="TextBox 42"/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1138280" y="2220913"/>
            <a:ext cx="5089525" cy="184666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Status das fases</a:t>
            </a:r>
          </a:p>
        </p:txBody>
      </p:sp>
      <p:sp>
        <p:nvSpPr>
          <p:cNvPr id="14384" name="TextBox 42"/>
          <p:cNvSpPr txBox="1"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2239963" y="3656015"/>
            <a:ext cx="1323975" cy="276999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Possibilidade de instabilidade dos sistemas</a:t>
            </a:r>
          </a:p>
        </p:txBody>
      </p:sp>
      <p:sp>
        <p:nvSpPr>
          <p:cNvPr id="14385" name="TextBox 42"/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2484460" y="3963989"/>
            <a:ext cx="1036637" cy="184666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Perfil de acesso</a:t>
            </a:r>
          </a:p>
        </p:txBody>
      </p:sp>
      <p:sp>
        <p:nvSpPr>
          <p:cNvPr id="154" name="TextBox 42"/>
          <p:cNvSpPr txBox="1"/>
          <p:nvPr>
            <p:custDataLst>
              <p:tags r:id="rId34"/>
            </p:custDataLst>
          </p:nvPr>
        </p:nvSpPr>
        <p:spPr>
          <a:xfrm>
            <a:off x="2936875" y="6553205"/>
            <a:ext cx="1036638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600" b="1" dirty="0">
                <a:solidFill>
                  <a:schemeClr val="tx2"/>
                </a:solidFill>
                <a:ea typeface="ＭＳ Ｐゴシック" pitchFamily="-65" charset="-128"/>
                <a:cs typeface="+mn-cs"/>
              </a:rPr>
              <a:t>Relacionados ao Pós implantação</a:t>
            </a:r>
          </a:p>
        </p:txBody>
      </p:sp>
      <p:sp>
        <p:nvSpPr>
          <p:cNvPr id="155" name="TextBox 42"/>
          <p:cNvSpPr txBox="1"/>
          <p:nvPr>
            <p:custDataLst>
              <p:tags r:id="rId35"/>
            </p:custDataLst>
          </p:nvPr>
        </p:nvSpPr>
        <p:spPr>
          <a:xfrm>
            <a:off x="3109913" y="2444753"/>
            <a:ext cx="1408112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600" b="1" dirty="0">
                <a:solidFill>
                  <a:schemeClr val="tx2"/>
                </a:solidFill>
                <a:ea typeface="ＭＳ Ｐゴシック" pitchFamily="-65" charset="-128"/>
                <a:cs typeface="+mn-cs"/>
              </a:rPr>
              <a:t>Comunicar Suporte pós go </a:t>
            </a:r>
            <a:r>
              <a:rPr lang="pt-BR" sz="600" b="1" dirty="0" err="1">
                <a:solidFill>
                  <a:schemeClr val="tx2"/>
                </a:solidFill>
                <a:ea typeface="ＭＳ Ｐゴシック" pitchFamily="-65" charset="-128"/>
                <a:cs typeface="+mn-cs"/>
              </a:rPr>
              <a:t>live</a:t>
            </a:r>
            <a:endParaRPr lang="pt-BR" sz="600" b="1" dirty="0">
              <a:solidFill>
                <a:schemeClr val="tx2"/>
              </a:solidFill>
              <a:ea typeface="ＭＳ Ｐゴシック" pitchFamily="-65" charset="-128"/>
              <a:cs typeface="+mn-cs"/>
            </a:endParaRPr>
          </a:p>
        </p:txBody>
      </p:sp>
      <p:sp>
        <p:nvSpPr>
          <p:cNvPr id="14388" name="TextBox 42"/>
          <p:cNvSpPr txBox="1"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3822700" y="4094165"/>
            <a:ext cx="1036638" cy="276999"/>
          </a:xfrm>
          <a:prstGeom prst="rect">
            <a:avLst/>
          </a:prstGeom>
          <a:solidFill>
            <a:srgbClr val="C6CA36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Risco de parada do ERP em 30/04</a:t>
            </a:r>
          </a:p>
        </p:txBody>
      </p:sp>
      <p:sp>
        <p:nvSpPr>
          <p:cNvPr id="158" name="TextBox 42"/>
          <p:cNvSpPr txBox="1"/>
          <p:nvPr>
            <p:custDataLst>
              <p:tags r:id="rId37"/>
            </p:custDataLst>
          </p:nvPr>
        </p:nvSpPr>
        <p:spPr>
          <a:xfrm>
            <a:off x="4681559" y="2659063"/>
            <a:ext cx="82708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600" b="1" dirty="0">
                <a:solidFill>
                  <a:schemeClr val="tx2"/>
                </a:solidFill>
                <a:ea typeface="ＭＳ Ｐゴシック" pitchFamily="-65" charset="-128"/>
                <a:cs typeface="+mn-cs"/>
              </a:rPr>
              <a:t>Comunicar plano de contingência</a:t>
            </a:r>
          </a:p>
        </p:txBody>
      </p:sp>
      <p:sp>
        <p:nvSpPr>
          <p:cNvPr id="159" name="TextBox 42"/>
          <p:cNvSpPr txBox="1"/>
          <p:nvPr>
            <p:custDataLst>
              <p:tags r:id="rId38"/>
            </p:custDataLst>
          </p:nvPr>
        </p:nvSpPr>
        <p:spPr>
          <a:xfrm>
            <a:off x="4140206" y="6103943"/>
            <a:ext cx="1408113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600" b="1" dirty="0">
                <a:solidFill>
                  <a:schemeClr val="tx2"/>
                </a:solidFill>
                <a:ea typeface="ＭＳ Ｐゴシック" pitchFamily="-65" charset="-128"/>
                <a:cs typeface="+mn-cs"/>
              </a:rPr>
              <a:t>Mudança no calendário de pagamento de fornecedores</a:t>
            </a:r>
          </a:p>
        </p:txBody>
      </p:sp>
      <p:sp>
        <p:nvSpPr>
          <p:cNvPr id="160" name="TextBox 42"/>
          <p:cNvSpPr txBox="1"/>
          <p:nvPr>
            <p:custDataLst>
              <p:tags r:id="rId39"/>
            </p:custDataLst>
          </p:nvPr>
        </p:nvSpPr>
        <p:spPr>
          <a:xfrm>
            <a:off x="5094315" y="3182939"/>
            <a:ext cx="1158875" cy="5539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600" b="1" dirty="0">
                <a:solidFill>
                  <a:schemeClr val="tx2"/>
                </a:solidFill>
                <a:ea typeface="ＭＳ Ｐゴシック" pitchFamily="-65" charset="-128"/>
                <a:cs typeface="+mn-cs"/>
              </a:rPr>
              <a:t>Congelamento de estrutura logística – rotas; transportadoras; itinerários</a:t>
            </a:r>
          </a:p>
        </p:txBody>
      </p:sp>
      <p:sp>
        <p:nvSpPr>
          <p:cNvPr id="14392" name="TextBox 42"/>
          <p:cNvSpPr txBox="1">
            <a:spLocks noChangeArrowheads="1"/>
          </p:cNvSpPr>
          <p:nvPr>
            <p:custDataLst>
              <p:tags r:id="rId40"/>
            </p:custDataLst>
          </p:nvPr>
        </p:nvSpPr>
        <p:spPr bwMode="auto">
          <a:xfrm rot="16200000">
            <a:off x="376243" y="4970611"/>
            <a:ext cx="1639888" cy="46166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Indisponibilidade do cadastro de pessoas entre 30/04 e 01/05 e riscos associados a alterações cadastrais</a:t>
            </a:r>
          </a:p>
        </p:txBody>
      </p:sp>
      <p:sp>
        <p:nvSpPr>
          <p:cNvPr id="14393" name="TextBox 42"/>
          <p:cNvSpPr txBox="1"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2878142" y="6135689"/>
            <a:ext cx="1036637" cy="184666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Risco de deploy</a:t>
            </a:r>
          </a:p>
        </p:txBody>
      </p:sp>
      <p:sp>
        <p:nvSpPr>
          <p:cNvPr id="14395" name="TextBox 42"/>
          <p:cNvSpPr txBox="1"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1732005" y="5057800"/>
            <a:ext cx="1036637" cy="46166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Falta de histórico de títulos fechados antes da implementação</a:t>
            </a:r>
          </a:p>
        </p:txBody>
      </p:sp>
      <p:sp>
        <p:nvSpPr>
          <p:cNvPr id="14396" name="TextBox 42"/>
          <p:cNvSpPr txBox="1"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1735180" y="5470550"/>
            <a:ext cx="1036637" cy="46166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Procedimento para tratamento de devolução – antes do Terra</a:t>
            </a:r>
          </a:p>
        </p:txBody>
      </p:sp>
      <p:sp>
        <p:nvSpPr>
          <p:cNvPr id="14397" name="TextBox 42"/>
          <p:cNvSpPr txBox="1"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2887673" y="5454653"/>
            <a:ext cx="1036637" cy="276999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600" b="1">
                <a:solidFill>
                  <a:schemeClr val="tx2"/>
                </a:solidFill>
              </a:rPr>
              <a:t>Impossibilidade de pedido retroativo</a:t>
            </a:r>
          </a:p>
        </p:txBody>
      </p:sp>
      <p:cxnSp>
        <p:nvCxnSpPr>
          <p:cNvPr id="16" name="Conector reto 15"/>
          <p:cNvCxnSpPr/>
          <p:nvPr/>
        </p:nvCxnSpPr>
        <p:spPr>
          <a:xfrm>
            <a:off x="0" y="2974975"/>
            <a:ext cx="91440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ector reto 165"/>
          <p:cNvCxnSpPr/>
          <p:nvPr/>
        </p:nvCxnSpPr>
        <p:spPr>
          <a:xfrm>
            <a:off x="-36513" y="4381500"/>
            <a:ext cx="9144001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ector reto 166"/>
          <p:cNvCxnSpPr/>
          <p:nvPr/>
        </p:nvCxnSpPr>
        <p:spPr>
          <a:xfrm>
            <a:off x="-36513" y="6110288"/>
            <a:ext cx="9144001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ector reto 167"/>
          <p:cNvCxnSpPr/>
          <p:nvPr/>
        </p:nvCxnSpPr>
        <p:spPr>
          <a:xfrm>
            <a:off x="-36513" y="6524626"/>
            <a:ext cx="9144001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5" y="0"/>
            <a:ext cx="7885113" cy="90805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0963" name="CaixaDeTexto 5"/>
          <p:cNvSpPr txBox="1">
            <a:spLocks noChangeArrowheads="1"/>
          </p:cNvSpPr>
          <p:nvPr/>
        </p:nvSpPr>
        <p:spPr bwMode="auto">
          <a:xfrm>
            <a:off x="84170" y="250825"/>
            <a:ext cx="95281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b="1">
                <a:solidFill>
                  <a:schemeClr val="bg1"/>
                </a:solidFill>
                <a:ea typeface="MS PGothic" pitchFamily="34" charset="-128"/>
              </a:rPr>
              <a:t>Grade Resumida – Comunicação FV</a:t>
            </a:r>
          </a:p>
        </p:txBody>
      </p:sp>
      <p:graphicFrame>
        <p:nvGraphicFramePr>
          <p:cNvPr id="40964" name="Objeto 13"/>
          <p:cNvGraphicFramePr>
            <a:graphicFrameLocks noChangeAspect="1"/>
          </p:cNvGraphicFramePr>
          <p:nvPr/>
        </p:nvGraphicFramePr>
        <p:xfrm>
          <a:off x="900113" y="1412875"/>
          <a:ext cx="8145462" cy="135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55" name="Planilha" r:id="rId3" imgW="11487064" imgH="1914639" progId="Excel.Sheet.8">
                  <p:embed/>
                </p:oleObj>
              </mc:Choice>
              <mc:Fallback>
                <p:oleObj name="Planilha" r:id="rId3" imgW="11487064" imgH="1914639" progId="Excel.Sheet.8">
                  <p:embed/>
                  <p:pic>
                    <p:nvPicPr>
                      <p:cNvPr id="0" name="Objeto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412875"/>
                        <a:ext cx="8145462" cy="1357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lowchart: Connector 56"/>
          <p:cNvSpPr/>
          <p:nvPr/>
        </p:nvSpPr>
        <p:spPr>
          <a:xfrm>
            <a:off x="179512" y="3520079"/>
            <a:ext cx="365760" cy="365760"/>
          </a:xfrm>
          <a:prstGeom prst="flowChartConnector">
            <a:avLst/>
          </a:prstGeom>
          <a:solidFill>
            <a:srgbClr val="586727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1050" b="1" dirty="0"/>
              <a:t>GR</a:t>
            </a:r>
          </a:p>
        </p:txBody>
      </p:sp>
      <p:sp>
        <p:nvSpPr>
          <p:cNvPr id="9" name="Flowchart: Connector 57"/>
          <p:cNvSpPr/>
          <p:nvPr/>
        </p:nvSpPr>
        <p:spPr>
          <a:xfrm>
            <a:off x="179512" y="4591958"/>
            <a:ext cx="365760" cy="365760"/>
          </a:xfrm>
          <a:prstGeom prst="flowChartConnector">
            <a:avLst/>
          </a:prstGeom>
          <a:solidFill>
            <a:srgbClr val="98B244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1050" b="1" dirty="0"/>
              <a:t>CNO</a:t>
            </a:r>
          </a:p>
        </p:txBody>
      </p:sp>
      <p:sp>
        <p:nvSpPr>
          <p:cNvPr id="10" name="Flowchart: Connector 60"/>
          <p:cNvSpPr/>
          <p:nvPr/>
        </p:nvSpPr>
        <p:spPr>
          <a:xfrm>
            <a:off x="179512" y="5744086"/>
            <a:ext cx="365760" cy="365760"/>
          </a:xfrm>
          <a:prstGeom prst="flowChartConnector">
            <a:avLst/>
          </a:prstGeom>
          <a:solidFill>
            <a:srgbClr val="C0D288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1050" b="1" dirty="0">
                <a:solidFill>
                  <a:srgbClr val="586727"/>
                </a:solidFill>
              </a:rPr>
              <a:t>CN</a:t>
            </a:r>
          </a:p>
        </p:txBody>
      </p:sp>
      <p:sp>
        <p:nvSpPr>
          <p:cNvPr id="11" name="Flowchart: Connector 56"/>
          <p:cNvSpPr/>
          <p:nvPr/>
        </p:nvSpPr>
        <p:spPr>
          <a:xfrm>
            <a:off x="179512" y="2644373"/>
            <a:ext cx="365760" cy="365760"/>
          </a:xfrm>
          <a:prstGeom prst="flowChartConnector">
            <a:avLst/>
          </a:prstGeom>
          <a:solidFill>
            <a:srgbClr val="586727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1050" b="1" dirty="0" smtClean="0"/>
              <a:t>GV</a:t>
            </a:r>
            <a:endParaRPr lang="pt-BR" sz="1050" b="1" dirty="0"/>
          </a:p>
        </p:txBody>
      </p:sp>
      <p:sp>
        <p:nvSpPr>
          <p:cNvPr id="77" name="TextBox 27"/>
          <p:cNvSpPr txBox="1"/>
          <p:nvPr/>
        </p:nvSpPr>
        <p:spPr bwMode="auto">
          <a:xfrm>
            <a:off x="833469" y="2905150"/>
            <a:ext cx="2160587" cy="307777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Road Show – apresentação da mudança</a:t>
            </a: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Apresentação do Projeto - RT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78" name="TextBox 27"/>
          <p:cNvSpPr txBox="1"/>
          <p:nvPr/>
        </p:nvSpPr>
        <p:spPr bwMode="auto">
          <a:xfrm>
            <a:off x="827101" y="4044950"/>
            <a:ext cx="1806575" cy="415498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Carta – Tomada de consciência.  Comunicar mudança eminente – Daniel/</a:t>
            </a:r>
            <a:r>
              <a:rPr lang="pt-BR" sz="700" dirty="0" err="1" smtClean="0">
                <a:solidFill>
                  <a:srgbClr val="586727"/>
                </a:solidFill>
                <a:latin typeface="+mj-lt"/>
              </a:rPr>
              <a:t>Xandó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79" name="TextBox 27"/>
          <p:cNvSpPr txBox="1"/>
          <p:nvPr/>
        </p:nvSpPr>
        <p:spPr bwMode="auto">
          <a:xfrm>
            <a:off x="833439" y="3381377"/>
            <a:ext cx="835165" cy="200055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Vídeo José Vicente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80" name="TextBox 27"/>
          <p:cNvSpPr txBox="1"/>
          <p:nvPr/>
        </p:nvSpPr>
        <p:spPr bwMode="auto">
          <a:xfrm>
            <a:off x="833438" y="3582989"/>
            <a:ext cx="894476" cy="200055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Roteiro do Encontro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81" name="TextBox 27"/>
          <p:cNvSpPr txBox="1"/>
          <p:nvPr/>
        </p:nvSpPr>
        <p:spPr bwMode="auto">
          <a:xfrm>
            <a:off x="833438" y="4584701"/>
            <a:ext cx="926536" cy="41549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Informações da GR</a:t>
            </a: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E-mail </a:t>
            </a:r>
            <a:r>
              <a:rPr lang="pt-BR" sz="700" dirty="0" err="1" smtClean="0">
                <a:solidFill>
                  <a:srgbClr val="586727"/>
                </a:solidFill>
                <a:latin typeface="+mj-lt"/>
              </a:rPr>
              <a:t>Mkt</a:t>
            </a:r>
            <a:endParaRPr lang="pt-BR" sz="700" dirty="0" smtClean="0">
              <a:solidFill>
                <a:srgbClr val="586727"/>
              </a:solidFill>
              <a:latin typeface="+mj-lt"/>
            </a:endParaRP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Últimas Notícias Site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82" name="TextBox 27"/>
          <p:cNvSpPr txBox="1"/>
          <p:nvPr/>
        </p:nvSpPr>
        <p:spPr bwMode="auto">
          <a:xfrm>
            <a:off x="833459" y="5754689"/>
            <a:ext cx="2016125" cy="523220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err="1" smtClean="0">
                <a:solidFill>
                  <a:srgbClr val="586727"/>
                </a:solidFill>
                <a:latin typeface="+mj-lt"/>
              </a:rPr>
              <a:t>Teaser</a:t>
            </a: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 Mudança – Consultoria</a:t>
            </a: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Últimas Notícias</a:t>
            </a:r>
          </a:p>
          <a:p>
            <a:pPr>
              <a:defRPr/>
            </a:pPr>
            <a:endParaRPr lang="pt-BR" sz="700" dirty="0" smtClean="0">
              <a:solidFill>
                <a:srgbClr val="586727"/>
              </a:solidFill>
              <a:latin typeface="+mj-lt"/>
            </a:endParaRP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Site CN – </a:t>
            </a:r>
            <a:r>
              <a:rPr lang="pt-BR" sz="700" dirty="0" err="1" smtClean="0">
                <a:solidFill>
                  <a:srgbClr val="586727"/>
                </a:solidFill>
                <a:latin typeface="+mj-lt"/>
              </a:rPr>
              <a:t>Teaser</a:t>
            </a: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 sobre novo capta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84" name="TextBox 27"/>
          <p:cNvSpPr txBox="1"/>
          <p:nvPr/>
        </p:nvSpPr>
        <p:spPr bwMode="auto">
          <a:xfrm>
            <a:off x="833469" y="3741763"/>
            <a:ext cx="1577975" cy="307777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Apresentação do Projeto na RT pelo GV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86" name="TextBox 27"/>
          <p:cNvSpPr txBox="1"/>
          <p:nvPr/>
        </p:nvSpPr>
        <p:spPr bwMode="auto">
          <a:xfrm>
            <a:off x="3008335" y="3452813"/>
            <a:ext cx="1692275" cy="523220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WKS </a:t>
            </a:r>
            <a:r>
              <a:rPr lang="pt-BR" sz="700" dirty="0" err="1" smtClean="0">
                <a:solidFill>
                  <a:srgbClr val="586727"/>
                </a:solidFill>
                <a:latin typeface="+mj-lt"/>
              </a:rPr>
              <a:t>GRs</a:t>
            </a: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 representantes de treinamento + Coordenadoras</a:t>
            </a: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Vídeo Sensibilização sobre a mudança – versão 1 do e-</a:t>
            </a:r>
            <a:r>
              <a:rPr lang="pt-BR" sz="700" dirty="0" err="1" smtClean="0">
                <a:solidFill>
                  <a:srgbClr val="586727"/>
                </a:solidFill>
                <a:latin typeface="+mj-lt"/>
              </a:rPr>
              <a:t>learning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87" name="TextBox 27"/>
          <p:cNvSpPr txBox="1"/>
          <p:nvPr/>
        </p:nvSpPr>
        <p:spPr bwMode="auto">
          <a:xfrm>
            <a:off x="3032167" y="4514850"/>
            <a:ext cx="1851025" cy="523220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Ultimas notícias – site – Foco em Cadastro</a:t>
            </a: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Vídeo – Sensibilização– versão 1 e-</a:t>
            </a:r>
            <a:r>
              <a:rPr lang="pt-BR" sz="700" dirty="0" err="1" smtClean="0">
                <a:solidFill>
                  <a:srgbClr val="586727"/>
                </a:solidFill>
                <a:latin typeface="+mj-lt"/>
              </a:rPr>
              <a:t>learning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88" name="TextBox 27"/>
          <p:cNvSpPr txBox="1"/>
          <p:nvPr/>
        </p:nvSpPr>
        <p:spPr bwMode="auto">
          <a:xfrm>
            <a:off x="3057567" y="5749951"/>
            <a:ext cx="1514475" cy="307777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Site – contagem regressiva para a mudança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89" name="TextBox 27"/>
          <p:cNvSpPr txBox="1"/>
          <p:nvPr/>
        </p:nvSpPr>
        <p:spPr bwMode="auto">
          <a:xfrm>
            <a:off x="3008313" y="2905150"/>
            <a:ext cx="1765300" cy="307777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E-mail </a:t>
            </a:r>
            <a:r>
              <a:rPr lang="pt-BR" sz="700" dirty="0" err="1" smtClean="0">
                <a:solidFill>
                  <a:srgbClr val="586727"/>
                </a:solidFill>
                <a:latin typeface="+mj-lt"/>
              </a:rPr>
              <a:t>mkt</a:t>
            </a: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 – atualização sobre a mudança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90" name="TextBox 27"/>
          <p:cNvSpPr txBox="1"/>
          <p:nvPr/>
        </p:nvSpPr>
        <p:spPr bwMode="auto">
          <a:xfrm>
            <a:off x="5148263" y="2870226"/>
            <a:ext cx="1655762" cy="307777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Apresentação detalhada da mudança –Ações de </a:t>
            </a:r>
            <a:r>
              <a:rPr lang="pt-BR" sz="700" dirty="0" err="1" smtClean="0">
                <a:solidFill>
                  <a:srgbClr val="586727"/>
                </a:solidFill>
                <a:latin typeface="+mj-lt"/>
              </a:rPr>
              <a:t>Cut</a:t>
            </a: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 Over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91" name="TextBox 27"/>
          <p:cNvSpPr txBox="1"/>
          <p:nvPr/>
        </p:nvSpPr>
        <p:spPr bwMode="auto">
          <a:xfrm>
            <a:off x="5122893" y="3467100"/>
            <a:ext cx="1825625" cy="738664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Apresentação Detalhada da Mudança  Gr Multiplicadora</a:t>
            </a:r>
          </a:p>
          <a:p>
            <a:pPr>
              <a:defRPr/>
            </a:pPr>
            <a:r>
              <a:rPr lang="pt-BR" sz="700" b="1" dirty="0">
                <a:solidFill>
                  <a:srgbClr val="586727"/>
                </a:solidFill>
              </a:rPr>
              <a:t>Vídeo – </a:t>
            </a:r>
            <a:r>
              <a:rPr lang="pt-BR" sz="700" b="1" dirty="0" smtClean="0">
                <a:solidFill>
                  <a:srgbClr val="586727"/>
                </a:solidFill>
              </a:rPr>
              <a:t>	Conscientização– </a:t>
            </a:r>
            <a:r>
              <a:rPr lang="pt-BR" sz="700" b="1" dirty="0">
                <a:solidFill>
                  <a:srgbClr val="586727"/>
                </a:solidFill>
              </a:rPr>
              <a:t>versão2 e-</a:t>
            </a:r>
            <a:r>
              <a:rPr lang="pt-BR" sz="700" b="1" dirty="0" err="1">
                <a:solidFill>
                  <a:srgbClr val="586727"/>
                </a:solidFill>
              </a:rPr>
              <a:t>learning</a:t>
            </a:r>
            <a:endParaRPr lang="pt-BR" sz="700" b="1" dirty="0">
              <a:solidFill>
                <a:srgbClr val="586727"/>
              </a:solidFill>
            </a:endParaRPr>
          </a:p>
          <a:p>
            <a:pPr>
              <a:defRPr/>
            </a:pPr>
            <a:r>
              <a:rPr lang="pt-BR" sz="700" b="1" dirty="0">
                <a:solidFill>
                  <a:srgbClr val="586727"/>
                </a:solidFill>
              </a:rPr>
              <a:t>Tutorial </a:t>
            </a:r>
            <a:r>
              <a:rPr lang="pt-BR" sz="700" b="1" dirty="0" smtClean="0">
                <a:solidFill>
                  <a:srgbClr val="586727"/>
                </a:solidFill>
              </a:rPr>
              <a:t>aprendizado– </a:t>
            </a:r>
            <a:r>
              <a:rPr lang="pt-BR" sz="700" b="1" dirty="0">
                <a:solidFill>
                  <a:srgbClr val="586727"/>
                </a:solidFill>
              </a:rPr>
              <a:t>Versão 3 e-</a:t>
            </a:r>
            <a:r>
              <a:rPr lang="pt-BR" sz="700" b="1" dirty="0" err="1">
                <a:solidFill>
                  <a:srgbClr val="586727"/>
                </a:solidFill>
              </a:rPr>
              <a:t>learning</a:t>
            </a:r>
            <a:endParaRPr lang="pt-BR" sz="700" b="1" dirty="0">
              <a:solidFill>
                <a:srgbClr val="586727"/>
              </a:solidFill>
            </a:endParaRPr>
          </a:p>
          <a:p>
            <a:pPr>
              <a:defRPr/>
            </a:pPr>
            <a:endParaRPr lang="pt-BR" sz="700" b="1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92" name="TextBox 27"/>
          <p:cNvSpPr txBox="1"/>
          <p:nvPr/>
        </p:nvSpPr>
        <p:spPr bwMode="auto">
          <a:xfrm>
            <a:off x="5192713" y="4543455"/>
            <a:ext cx="1611312" cy="954107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RC especial – apresentação melhorias da navegação novo site e nova tela de cadastro</a:t>
            </a: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Brinde – Mouse </a:t>
            </a:r>
            <a:r>
              <a:rPr lang="pt-BR" sz="700" dirty="0" err="1" smtClean="0">
                <a:solidFill>
                  <a:srgbClr val="586727"/>
                </a:solidFill>
                <a:latin typeface="+mj-lt"/>
              </a:rPr>
              <a:t>Pad</a:t>
            </a: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 – tela nova site</a:t>
            </a: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Vídeo – Conscientização– versão2 e-</a:t>
            </a:r>
            <a:r>
              <a:rPr lang="pt-BR" sz="700" dirty="0" err="1" smtClean="0">
                <a:solidFill>
                  <a:srgbClr val="586727"/>
                </a:solidFill>
                <a:latin typeface="+mj-lt"/>
              </a:rPr>
              <a:t>learning</a:t>
            </a:r>
            <a:endParaRPr lang="pt-BR" sz="700" dirty="0" smtClean="0">
              <a:solidFill>
                <a:srgbClr val="586727"/>
              </a:solidFill>
              <a:latin typeface="+mj-lt"/>
            </a:endParaRP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Tutorial aprendizado– Versão 3 e-</a:t>
            </a:r>
            <a:r>
              <a:rPr lang="pt-BR" sz="700" dirty="0" err="1" smtClean="0">
                <a:solidFill>
                  <a:srgbClr val="586727"/>
                </a:solidFill>
                <a:latin typeface="+mj-lt"/>
              </a:rPr>
              <a:t>learning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93" name="TextBox 27"/>
          <p:cNvSpPr txBox="1"/>
          <p:nvPr/>
        </p:nvSpPr>
        <p:spPr bwMode="auto">
          <a:xfrm>
            <a:off x="5148279" y="5749925"/>
            <a:ext cx="1800225" cy="63094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Mensagem Consultoria</a:t>
            </a: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Guia rápido passo a passo da nova captação – caixa do pedido – Somente GV SOL</a:t>
            </a: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Aproximação da Mudança - Consultoria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94" name="TextBox 27"/>
          <p:cNvSpPr txBox="1"/>
          <p:nvPr/>
        </p:nvSpPr>
        <p:spPr bwMode="auto">
          <a:xfrm>
            <a:off x="7164402" y="2941639"/>
            <a:ext cx="2160587" cy="415498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Atualização e passos definitivos sobre a mudança</a:t>
            </a: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Roteiro da RT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96" name="TextBox 27"/>
          <p:cNvSpPr txBox="1"/>
          <p:nvPr/>
        </p:nvSpPr>
        <p:spPr bwMode="auto">
          <a:xfrm>
            <a:off x="7164394" y="3517901"/>
            <a:ext cx="1944687" cy="200055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Roteiro da RE</a:t>
            </a: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97" name="TextBox 27"/>
          <p:cNvSpPr txBox="1"/>
          <p:nvPr/>
        </p:nvSpPr>
        <p:spPr bwMode="auto">
          <a:xfrm>
            <a:off x="7137418" y="4543426"/>
            <a:ext cx="1755775" cy="630942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RC especial orientações sobre a mudança</a:t>
            </a: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Ultimas noticias – site – estimulo ao capta web</a:t>
            </a:r>
          </a:p>
          <a:p>
            <a:pPr>
              <a:defRPr/>
            </a:pP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sp>
        <p:nvSpPr>
          <p:cNvPr id="98" name="TextBox 27"/>
          <p:cNvSpPr txBox="1"/>
          <p:nvPr/>
        </p:nvSpPr>
        <p:spPr bwMode="auto">
          <a:xfrm>
            <a:off x="7164402" y="5749925"/>
            <a:ext cx="2160587" cy="738664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-65" charset="-128"/>
                <a:cs typeface="+mn-cs"/>
              </a:defRPr>
            </a:lvl9pPr>
          </a:lstStyle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Box carta do Encontro Natura (?)</a:t>
            </a:r>
          </a:p>
          <a:p>
            <a:pPr>
              <a:defRPr/>
            </a:pPr>
            <a:endParaRPr lang="pt-BR" sz="700" dirty="0">
              <a:solidFill>
                <a:srgbClr val="586727"/>
              </a:solidFill>
              <a:latin typeface="+mj-lt"/>
            </a:endParaRP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Vídeo 2 minutos no EM</a:t>
            </a:r>
          </a:p>
          <a:p>
            <a:pPr>
              <a:defRPr/>
            </a:pP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Dicas sobre a mudança e </a:t>
            </a:r>
            <a:r>
              <a:rPr lang="pt-BR" sz="700" dirty="0" err="1" smtClean="0">
                <a:solidFill>
                  <a:srgbClr val="586727"/>
                </a:solidFill>
                <a:latin typeface="+mj-lt"/>
              </a:rPr>
              <a:t>canias</a:t>
            </a:r>
            <a:r>
              <a:rPr lang="pt-BR" sz="700" dirty="0" smtClean="0">
                <a:solidFill>
                  <a:srgbClr val="586727"/>
                </a:solidFill>
                <a:latin typeface="+mj-lt"/>
              </a:rPr>
              <a:t> de apoio - Consultoria</a:t>
            </a:r>
          </a:p>
          <a:p>
            <a:pPr>
              <a:defRPr/>
            </a:pPr>
            <a:endParaRPr lang="pt-BR" sz="700" dirty="0">
              <a:solidFill>
                <a:srgbClr val="586727"/>
              </a:solidFill>
              <a:latin typeface="+mj-lt"/>
            </a:endParaRPr>
          </a:p>
        </p:txBody>
      </p:sp>
      <p:cxnSp>
        <p:nvCxnSpPr>
          <p:cNvPr id="3" name="Conector reto 2"/>
          <p:cNvCxnSpPr/>
          <p:nvPr/>
        </p:nvCxnSpPr>
        <p:spPr>
          <a:xfrm>
            <a:off x="31" y="3357563"/>
            <a:ext cx="9191625" cy="2381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to 98"/>
          <p:cNvCxnSpPr/>
          <p:nvPr/>
        </p:nvCxnSpPr>
        <p:spPr>
          <a:xfrm>
            <a:off x="34941" y="4502150"/>
            <a:ext cx="9191625" cy="2381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to 99"/>
          <p:cNvCxnSpPr/>
          <p:nvPr/>
        </p:nvCxnSpPr>
        <p:spPr>
          <a:xfrm>
            <a:off x="-36513" y="5605463"/>
            <a:ext cx="9191626" cy="2381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73">
            <a:hlinkClick r:id="" action="ppaction://noaction"/>
          </p:cNvPr>
          <p:cNvSpPr txBox="1"/>
          <p:nvPr/>
        </p:nvSpPr>
        <p:spPr>
          <a:xfrm>
            <a:off x="68263" y="2276475"/>
            <a:ext cx="182562" cy="184150"/>
          </a:xfrm>
          <a:prstGeom prst="downArrow">
            <a:avLst/>
          </a:prstGeom>
          <a:solidFill>
            <a:srgbClr val="B1C131"/>
          </a:solidFill>
        </p:spPr>
        <p:txBody>
          <a:bodyPr wrap="none" anchor="ctr"/>
          <a:lstStyle/>
          <a:p>
            <a:pPr indent="119063">
              <a:defRPr/>
            </a:pPr>
            <a:r>
              <a:rPr lang="pt-BR" sz="900" i="1" u="sng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ＭＳ Ｐゴシック" pitchFamily="-65" charset="-128"/>
                <a:cs typeface="+mn-cs"/>
              </a:rPr>
              <a:t>Teaser</a:t>
            </a:r>
            <a:r>
              <a:rPr lang="pt-BR" sz="900" i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ＭＳ Ｐゴシック" pitchFamily="-65" charset="-128"/>
                <a:cs typeface="+mn-cs"/>
              </a:rPr>
              <a:t> sobre a mudança</a:t>
            </a:r>
          </a:p>
          <a:p>
            <a:pPr indent="119063">
              <a:defRPr/>
            </a:pPr>
            <a:r>
              <a:rPr lang="pt-BR" sz="900" i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ＭＳ Ｐゴシック" pitchFamily="-65" charset="-128"/>
                <a:cs typeface="+mn-cs"/>
              </a:rPr>
              <a:t>Consultoria Ciclo 18</a:t>
            </a:r>
          </a:p>
        </p:txBody>
      </p:sp>
      <p:sp>
        <p:nvSpPr>
          <p:cNvPr id="2" name="Botão de ação: Fim 1">
            <a:hlinkClick r:id="" action="ppaction://noaction" highlightClick="1"/>
          </p:cNvPr>
          <p:cNvSpPr/>
          <p:nvPr/>
        </p:nvSpPr>
        <p:spPr>
          <a:xfrm>
            <a:off x="1747838" y="5942013"/>
            <a:ext cx="152400" cy="107950"/>
          </a:xfrm>
          <a:prstGeom prst="actionButtonEnd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7" descr="C:\Documents and Settings\Isabel\Desktop\logo4cores.png"/>
          <p:cNvPicPr>
            <a:picLocks noChangeAspect="1" noChangeArrowheads="1"/>
          </p:cNvPicPr>
          <p:nvPr/>
        </p:nvPicPr>
        <p:blipFill>
          <a:blip r:embed="rId2" cstate="print"/>
          <a:srcRect l="5927" r="5185"/>
          <a:stretch>
            <a:fillRect/>
          </a:stretch>
        </p:blipFill>
        <p:spPr bwMode="auto">
          <a:xfrm>
            <a:off x="47625" y="5776914"/>
            <a:ext cx="1143000" cy="966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8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6513" y="1111275"/>
            <a:ext cx="2622551" cy="25574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14" name="Picture 6"/>
          <p:cNvPicPr>
            <a:picLocks noChangeAspect="1" noChangeArrowheads="1"/>
          </p:cNvPicPr>
          <p:nvPr/>
        </p:nvPicPr>
        <p:blipFill rotWithShape="1">
          <a:blip r:embed="rId4" cstate="print"/>
          <a:srcRect l="18537" t="9711" r="17365" b="6250"/>
          <a:stretch/>
        </p:blipFill>
        <p:spPr bwMode="auto">
          <a:xfrm>
            <a:off x="2555875" y="1081088"/>
            <a:ext cx="3511550" cy="25876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79388" y="260353"/>
            <a:ext cx="6119812" cy="366713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eaLnBrk="0" hangingPunct="0">
              <a:defRPr/>
            </a:pPr>
            <a:r>
              <a:rPr lang="pt-BR" sz="2400" b="1" dirty="0">
                <a:solidFill>
                  <a:srgbClr val="7F7F7F"/>
                </a:solidFill>
                <a:latin typeface="+mj-lt"/>
                <a:ea typeface="+mj-ea"/>
              </a:rPr>
              <a:t>Alguns Exemplos</a:t>
            </a: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 rotWithShape="1">
          <a:blip r:embed="rId5" cstate="print"/>
          <a:srcRect l="5171" t="19180" r="47313" b="9914"/>
          <a:stretch/>
        </p:blipFill>
        <p:spPr bwMode="auto">
          <a:xfrm>
            <a:off x="5972186" y="1008088"/>
            <a:ext cx="3249613" cy="27273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41991" name="CaixaDeTexto 17"/>
          <p:cNvSpPr txBox="1">
            <a:spLocks noChangeArrowheads="1"/>
          </p:cNvSpPr>
          <p:nvPr/>
        </p:nvSpPr>
        <p:spPr bwMode="auto">
          <a:xfrm>
            <a:off x="387350" y="765200"/>
            <a:ext cx="19431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1400"/>
              <a:t>Brasil – Ciclo 18</a:t>
            </a:r>
          </a:p>
        </p:txBody>
      </p:sp>
      <p:pic>
        <p:nvPicPr>
          <p:cNvPr id="19" name="Picture 9"/>
          <p:cNvPicPr>
            <a:picLocks noChangeAspect="1" noChangeArrowheads="1"/>
          </p:cNvPicPr>
          <p:nvPr/>
        </p:nvPicPr>
        <p:blipFill rotWithShape="1">
          <a:blip r:embed="rId6" cstate="print"/>
          <a:srcRect l="17448" t="19828" r="55046" b="14421"/>
          <a:stretch/>
        </p:blipFill>
        <p:spPr bwMode="auto">
          <a:xfrm>
            <a:off x="1546225" y="3735388"/>
            <a:ext cx="2247900" cy="317341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41993" name="CaixaDeTexto 20"/>
          <p:cNvSpPr txBox="1">
            <a:spLocks noChangeArrowheads="1"/>
          </p:cNvSpPr>
          <p:nvPr/>
        </p:nvSpPr>
        <p:spPr bwMode="auto">
          <a:xfrm>
            <a:off x="3013075" y="803300"/>
            <a:ext cx="19431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1400"/>
              <a:t>Sul – Ciclo 5</a:t>
            </a:r>
          </a:p>
        </p:txBody>
      </p:sp>
      <p:sp>
        <p:nvSpPr>
          <p:cNvPr id="41994" name="CaixaDeTexto 21"/>
          <p:cNvSpPr txBox="1">
            <a:spLocks noChangeArrowheads="1"/>
          </p:cNvSpPr>
          <p:nvPr/>
        </p:nvSpPr>
        <p:spPr bwMode="auto">
          <a:xfrm>
            <a:off x="6424633" y="773138"/>
            <a:ext cx="194468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1400"/>
              <a:t>Sul – Ciclo 7</a:t>
            </a:r>
          </a:p>
        </p:txBody>
      </p:sp>
      <p:sp>
        <p:nvSpPr>
          <p:cNvPr id="41995" name="CaixaDeTexto 22"/>
          <p:cNvSpPr txBox="1">
            <a:spLocks noChangeArrowheads="1"/>
          </p:cNvSpPr>
          <p:nvPr/>
        </p:nvSpPr>
        <p:spPr bwMode="auto">
          <a:xfrm rot="-5400000">
            <a:off x="350838" y="4967313"/>
            <a:ext cx="19431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1400"/>
              <a:t>Sul – Ciclo 8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5972175" y="692153"/>
            <a:ext cx="0" cy="431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97" name="CaixaDeTexto 25"/>
          <p:cNvSpPr txBox="1">
            <a:spLocks noChangeArrowheads="1"/>
          </p:cNvSpPr>
          <p:nvPr/>
        </p:nvSpPr>
        <p:spPr bwMode="auto">
          <a:xfrm>
            <a:off x="3984625" y="3740150"/>
            <a:ext cx="194468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1400"/>
              <a:t>Ciclo 6 – Estratégia de Mães – Sem comunicação</a:t>
            </a:r>
          </a:p>
        </p:txBody>
      </p:sp>
      <p:sp>
        <p:nvSpPr>
          <p:cNvPr id="41998" name="CaixaDeTexto 26"/>
          <p:cNvSpPr txBox="1">
            <a:spLocks noChangeArrowheads="1"/>
          </p:cNvSpPr>
          <p:nvPr/>
        </p:nvSpPr>
        <p:spPr bwMode="auto">
          <a:xfrm>
            <a:off x="6072199" y="4478339"/>
            <a:ext cx="3036887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1400"/>
              <a:t>A partir do ciclo 09 – Início de teaser sobre a mudança para a Central do Brasil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228613" y="547691"/>
            <a:ext cx="76565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r>
              <a:rPr lang="pt-BR" sz="2000" dirty="0">
                <a:solidFill>
                  <a:srgbClr val="000000"/>
                </a:solidFill>
                <a:cs typeface="+mn-cs"/>
              </a:rPr>
              <a:t>Comunicação com a empresa</a:t>
            </a:r>
          </a:p>
          <a:p>
            <a:pPr>
              <a:defRPr/>
            </a:pPr>
            <a:endParaRPr lang="pt-BR" sz="2000" b="1" dirty="0" smtClean="0">
              <a:solidFill>
                <a:srgbClr val="000000"/>
              </a:solidFill>
              <a:cs typeface="+mn-cs"/>
            </a:endParaRPr>
          </a:p>
          <a:p>
            <a:pPr>
              <a:defRPr/>
            </a:pPr>
            <a:r>
              <a:rPr lang="pt-BR" sz="2000" b="1" dirty="0" smtClean="0">
                <a:solidFill>
                  <a:srgbClr val="000000"/>
                </a:solidFill>
                <a:cs typeface="+mn-cs"/>
              </a:rPr>
              <a:t>Alguns </a:t>
            </a:r>
            <a:r>
              <a:rPr lang="pt-BR" sz="2000" b="1" dirty="0">
                <a:solidFill>
                  <a:srgbClr val="000000"/>
                </a:solidFill>
                <a:cs typeface="+mn-cs"/>
              </a:rPr>
              <a:t>exemplos</a:t>
            </a:r>
          </a:p>
        </p:txBody>
      </p:sp>
      <p:sp>
        <p:nvSpPr>
          <p:cNvPr id="11" name="Rectangle 35"/>
          <p:cNvSpPr>
            <a:spLocks noChangeArrowheads="1"/>
          </p:cNvSpPr>
          <p:nvPr/>
        </p:nvSpPr>
        <p:spPr bwMode="auto">
          <a:xfrm>
            <a:off x="323867" y="1484316"/>
            <a:ext cx="856932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buFontTx/>
              <a:buChar char="•"/>
              <a:defRPr/>
            </a:pPr>
            <a:r>
              <a:rPr lang="pt-BR" sz="1200" dirty="0">
                <a:solidFill>
                  <a:srgbClr val="777777"/>
                </a:solidFill>
                <a:ea typeface="ＭＳ Ｐゴシック" charset="-128"/>
                <a:cs typeface="+mn-cs"/>
              </a:rPr>
              <a:t>Tendo como insumo a prontidão para a mudança e as pesquisas de comunicação, focamos os trabalhos de comunicação em duas frentes:</a:t>
            </a:r>
          </a:p>
          <a:p>
            <a:pPr>
              <a:buFontTx/>
              <a:buChar char="•"/>
              <a:defRPr/>
            </a:pPr>
            <a:endParaRPr lang="pt-BR" sz="1200" dirty="0">
              <a:solidFill>
                <a:srgbClr val="777777"/>
              </a:solidFill>
              <a:ea typeface="ＭＳ Ｐゴシック" charset="-128"/>
              <a:cs typeface="+mn-cs"/>
            </a:endParaRPr>
          </a:p>
          <a:p>
            <a:pPr>
              <a:buFontTx/>
              <a:buChar char="•"/>
              <a:defRPr/>
            </a:pPr>
            <a:r>
              <a:rPr lang="pt-BR" sz="1200" dirty="0">
                <a:solidFill>
                  <a:srgbClr val="777777"/>
                </a:solidFill>
                <a:ea typeface="ＭＳ Ｐゴシック" charset="-128"/>
                <a:cs typeface="+mn-cs"/>
              </a:rPr>
              <a:t>A primeira foi uma ampliação da capilaridade e granularidade das mídias digitais, ampliando a cobertura da Newsletter com boletins direcionados a públicos específicos.</a:t>
            </a:r>
          </a:p>
        </p:txBody>
      </p:sp>
      <p:pic>
        <p:nvPicPr>
          <p:cNvPr id="8" name="Picture 2" descr="Boletim DE MUDANÇA 30.0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19729" y="2781300"/>
            <a:ext cx="1412875" cy="309880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3" descr="C:\Users\Edson Carli\AppData\Local\Microsoft\Windows\Temporary Internet Files\Content.Outlook\QBCTEEN9\TI_01 (3)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59135" y="2781300"/>
            <a:ext cx="1601787" cy="309562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4" descr="C:\Users\Edson Carli\AppData\Local\Microsoft\Windows\Temporary Internet Files\Content.Outlook\QBCTEEN9\Boletim do Time de Projeto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64388" y="2781300"/>
            <a:ext cx="1574800" cy="314801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3017" name="Imagem 2" descr="News 9 - 30.08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8330" y="2565401"/>
            <a:ext cx="1635125" cy="3571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14" name="CaixaDeTexto 12"/>
          <p:cNvSpPr txBox="1">
            <a:spLocks noChangeArrowheads="1"/>
          </p:cNvSpPr>
          <p:nvPr/>
        </p:nvSpPr>
        <p:spPr bwMode="auto">
          <a:xfrm>
            <a:off x="539760" y="6237318"/>
            <a:ext cx="875561" cy="24622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r>
              <a:rPr lang="pt-BR" sz="1000" smtClean="0">
                <a:solidFill>
                  <a:srgbClr val="000000"/>
                </a:solidFill>
                <a:cs typeface="+mn-cs"/>
              </a:rPr>
              <a:t>Newsletter</a:t>
            </a:r>
          </a:p>
        </p:txBody>
      </p:sp>
      <p:sp>
        <p:nvSpPr>
          <p:cNvPr id="21515" name="CaixaDeTexto 13"/>
          <p:cNvSpPr txBox="1">
            <a:spLocks noChangeArrowheads="1"/>
          </p:cNvSpPr>
          <p:nvPr/>
        </p:nvSpPr>
        <p:spPr bwMode="auto">
          <a:xfrm>
            <a:off x="3132151" y="6092825"/>
            <a:ext cx="1087157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r>
              <a:rPr lang="pt-BR" sz="1000" smtClean="0">
                <a:solidFill>
                  <a:srgbClr val="000000"/>
                </a:solidFill>
                <a:cs typeface="+mn-cs"/>
              </a:rPr>
              <a:t>Boletim de TI</a:t>
            </a:r>
          </a:p>
          <a:p>
            <a:pPr eaLnBrk="1" hangingPunct="1">
              <a:defRPr/>
            </a:pPr>
            <a:r>
              <a:rPr lang="pt-BR" sz="1000" smtClean="0">
                <a:solidFill>
                  <a:srgbClr val="000000"/>
                </a:solidFill>
                <a:cs typeface="+mn-cs"/>
              </a:rPr>
              <a:t>Terra Informa</a:t>
            </a:r>
          </a:p>
        </p:txBody>
      </p:sp>
      <p:sp>
        <p:nvSpPr>
          <p:cNvPr id="21516" name="CaixaDeTexto 14"/>
          <p:cNvSpPr txBox="1">
            <a:spLocks noChangeArrowheads="1"/>
          </p:cNvSpPr>
          <p:nvPr/>
        </p:nvSpPr>
        <p:spPr bwMode="auto">
          <a:xfrm>
            <a:off x="4932367" y="6092825"/>
            <a:ext cx="2116285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r>
              <a:rPr lang="pt-BR" sz="1000" smtClean="0">
                <a:solidFill>
                  <a:srgbClr val="000000"/>
                </a:solidFill>
                <a:cs typeface="+mn-cs"/>
              </a:rPr>
              <a:t>Boletim do time de mudanças</a:t>
            </a:r>
          </a:p>
          <a:p>
            <a:pPr eaLnBrk="1" hangingPunct="1">
              <a:defRPr/>
            </a:pPr>
            <a:r>
              <a:rPr lang="pt-BR" sz="1000" smtClean="0">
                <a:solidFill>
                  <a:srgbClr val="000000"/>
                </a:solidFill>
                <a:cs typeface="+mn-cs"/>
              </a:rPr>
              <a:t>De mudança</a:t>
            </a:r>
          </a:p>
        </p:txBody>
      </p:sp>
      <p:sp>
        <p:nvSpPr>
          <p:cNvPr id="21517" name="CaixaDeTexto 15"/>
          <p:cNvSpPr txBox="1">
            <a:spLocks noChangeArrowheads="1"/>
          </p:cNvSpPr>
          <p:nvPr/>
        </p:nvSpPr>
        <p:spPr bwMode="auto">
          <a:xfrm>
            <a:off x="7164388" y="6092825"/>
            <a:ext cx="1649412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r>
              <a:rPr lang="pt-BR" sz="1000" smtClean="0">
                <a:solidFill>
                  <a:srgbClr val="000000"/>
                </a:solidFill>
                <a:cs typeface="+mn-cs"/>
              </a:rPr>
              <a:t>Boletim da equipe</a:t>
            </a:r>
          </a:p>
          <a:p>
            <a:pPr eaLnBrk="1" hangingPunct="1">
              <a:defRPr/>
            </a:pPr>
            <a:r>
              <a:rPr lang="pt-BR" sz="1000" smtClean="0">
                <a:solidFill>
                  <a:srgbClr val="000000"/>
                </a:solidFill>
                <a:cs typeface="+mn-cs"/>
              </a:rPr>
              <a:t>Por dentro do terra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00" name="Rectangle 4"/>
          <p:cNvSpPr>
            <a:spLocks noChangeArrowheads="1"/>
          </p:cNvSpPr>
          <p:nvPr/>
        </p:nvSpPr>
        <p:spPr bwMode="auto">
          <a:xfrm>
            <a:off x="228613" y="547691"/>
            <a:ext cx="76565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r>
              <a:rPr lang="pt-BR" sz="2000" dirty="0">
                <a:solidFill>
                  <a:srgbClr val="000000"/>
                </a:solidFill>
                <a:cs typeface="+mn-cs"/>
              </a:rPr>
              <a:t>Comunicação com a empresa</a:t>
            </a:r>
          </a:p>
          <a:p>
            <a:pPr>
              <a:defRPr/>
            </a:pPr>
            <a:endParaRPr lang="pt-BR" sz="2000" b="1" dirty="0" smtClean="0">
              <a:solidFill>
                <a:srgbClr val="000000"/>
              </a:solidFill>
              <a:cs typeface="+mn-cs"/>
            </a:endParaRPr>
          </a:p>
          <a:p>
            <a:pPr>
              <a:defRPr/>
            </a:pPr>
            <a:r>
              <a:rPr lang="pt-BR" sz="2000" b="1" dirty="0" smtClean="0">
                <a:solidFill>
                  <a:srgbClr val="000000"/>
                </a:solidFill>
                <a:cs typeface="+mn-cs"/>
              </a:rPr>
              <a:t>Alguns </a:t>
            </a:r>
            <a:r>
              <a:rPr lang="pt-BR" sz="2000" b="1" dirty="0">
                <a:solidFill>
                  <a:srgbClr val="000000"/>
                </a:solidFill>
                <a:cs typeface="+mn-cs"/>
              </a:rPr>
              <a:t>Exemplos</a:t>
            </a:r>
          </a:p>
        </p:txBody>
      </p:sp>
      <p:pic>
        <p:nvPicPr>
          <p:cNvPr id="44037" name="Picture 9"/>
          <p:cNvPicPr>
            <a:picLocks noChangeAspect="1" noChangeArrowheads="1"/>
          </p:cNvPicPr>
          <p:nvPr/>
        </p:nvPicPr>
        <p:blipFill>
          <a:blip r:embed="rId3" cstate="print"/>
          <a:srcRect r="3123"/>
          <a:stretch>
            <a:fillRect/>
          </a:stretch>
        </p:blipFill>
        <p:spPr bwMode="auto">
          <a:xfrm>
            <a:off x="7296150" y="6132515"/>
            <a:ext cx="1739900" cy="752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2107" name="Text Box 10"/>
          <p:cNvSpPr txBox="1">
            <a:spLocks noChangeArrowheads="1"/>
          </p:cNvSpPr>
          <p:nvPr/>
        </p:nvSpPr>
        <p:spPr bwMode="auto">
          <a:xfrm>
            <a:off x="2376492" y="1341463"/>
            <a:ext cx="44354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pt-BR" sz="1400" b="1" dirty="0" smtClean="0">
                <a:solidFill>
                  <a:srgbClr val="777777"/>
                </a:solidFill>
                <a:cs typeface="+mn-cs"/>
              </a:rPr>
              <a:t>Inserções no Canal Natura</a:t>
            </a:r>
          </a:p>
        </p:txBody>
      </p:sp>
      <p:pic>
        <p:nvPicPr>
          <p:cNvPr id="44039" name="Picture 10" descr="Canal Natura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58025" y="1412877"/>
            <a:ext cx="2051050" cy="153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2109" name="Text Box 10"/>
          <p:cNvSpPr txBox="1">
            <a:spLocks noChangeArrowheads="1"/>
          </p:cNvSpPr>
          <p:nvPr/>
        </p:nvSpPr>
        <p:spPr bwMode="auto">
          <a:xfrm>
            <a:off x="2592388" y="1719263"/>
            <a:ext cx="4392612" cy="63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pt-BR" sz="1400" b="1" dirty="0" smtClean="0">
                <a:solidFill>
                  <a:srgbClr val="777777"/>
                </a:solidFill>
                <a:cs typeface="+mn-cs"/>
              </a:rPr>
              <a:t>Inserções no Mural Natura </a:t>
            </a:r>
          </a:p>
          <a:p>
            <a:pPr eaLnBrk="1" hangingPunct="1">
              <a:spcBef>
                <a:spcPct val="50000"/>
              </a:spcBef>
              <a:defRPr/>
            </a:pPr>
            <a:endParaRPr lang="pt-BR" sz="1400" b="1" dirty="0" smtClean="0">
              <a:solidFill>
                <a:srgbClr val="777777"/>
              </a:solidFill>
              <a:cs typeface="+mn-cs"/>
            </a:endParaRPr>
          </a:p>
        </p:txBody>
      </p:sp>
      <p:pic>
        <p:nvPicPr>
          <p:cNvPr id="44041" name="Picture 8" descr="C:\Users\Edson Carli\Desktop\eventos\DSC01565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81588" y="3500439"/>
            <a:ext cx="3359150" cy="252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42" name="Picture 9" descr="G:\DSC01358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23850" y="3933825"/>
            <a:ext cx="3473450" cy="2605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43" name="Picture 10" descr="G:\DSC01353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411413" y="3141666"/>
            <a:ext cx="2305050" cy="172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228615" y="2660676"/>
            <a:ext cx="44354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pt-BR" sz="1400" b="1" dirty="0" smtClean="0">
                <a:solidFill>
                  <a:srgbClr val="777777"/>
                </a:solidFill>
                <a:cs typeface="+mn-cs"/>
              </a:rPr>
              <a:t>Eventos Presenciais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179534" y="542009"/>
            <a:ext cx="76565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r>
              <a:rPr lang="pt-BR" sz="2000" dirty="0">
                <a:solidFill>
                  <a:srgbClr val="000000"/>
                </a:solidFill>
                <a:cs typeface="+mn-cs"/>
              </a:rPr>
              <a:t>Comunicação com a empresa</a:t>
            </a:r>
          </a:p>
          <a:p>
            <a:pPr>
              <a:defRPr/>
            </a:pPr>
            <a:endParaRPr lang="pt-BR" sz="2000" b="1" dirty="0" smtClean="0">
              <a:solidFill>
                <a:srgbClr val="000000"/>
              </a:solidFill>
              <a:cs typeface="+mn-cs"/>
            </a:endParaRPr>
          </a:p>
          <a:p>
            <a:pPr>
              <a:defRPr/>
            </a:pPr>
            <a:r>
              <a:rPr lang="pt-BR" sz="2000" b="1" dirty="0" smtClean="0">
                <a:solidFill>
                  <a:srgbClr val="000000"/>
                </a:solidFill>
                <a:cs typeface="+mn-cs"/>
              </a:rPr>
              <a:t>Cenário </a:t>
            </a:r>
            <a:r>
              <a:rPr lang="pt-BR" sz="2000" b="1" dirty="0">
                <a:solidFill>
                  <a:srgbClr val="000000"/>
                </a:solidFill>
                <a:cs typeface="+mn-cs"/>
              </a:rPr>
              <a:t>atual</a:t>
            </a:r>
          </a:p>
        </p:txBody>
      </p:sp>
      <p:sp>
        <p:nvSpPr>
          <p:cNvPr id="11" name="Rectangle 35"/>
          <p:cNvSpPr>
            <a:spLocks noChangeArrowheads="1"/>
          </p:cNvSpPr>
          <p:nvPr/>
        </p:nvSpPr>
        <p:spPr bwMode="auto">
          <a:xfrm>
            <a:off x="323867" y="1484315"/>
            <a:ext cx="856932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buFontTx/>
              <a:buChar char="•"/>
              <a:defRPr/>
            </a:pPr>
            <a:r>
              <a:rPr lang="pt-BR" sz="1200" dirty="0">
                <a:solidFill>
                  <a:srgbClr val="777777"/>
                </a:solidFill>
                <a:ea typeface="ＭＳ Ｐゴシック" charset="-128"/>
                <a:cs typeface="+mn-cs"/>
              </a:rPr>
              <a:t>Acompanhamento de resultados</a:t>
            </a:r>
          </a:p>
        </p:txBody>
      </p:sp>
      <p:pic>
        <p:nvPicPr>
          <p:cNvPr id="45062" name="Picture 9"/>
          <p:cNvPicPr>
            <a:picLocks noChangeAspect="1" noChangeArrowheads="1"/>
          </p:cNvPicPr>
          <p:nvPr/>
        </p:nvPicPr>
        <p:blipFill>
          <a:blip r:embed="rId3" cstate="print"/>
          <a:srcRect r="3123"/>
          <a:stretch>
            <a:fillRect/>
          </a:stretch>
        </p:blipFill>
        <p:spPr bwMode="auto">
          <a:xfrm>
            <a:off x="7239000" y="6029327"/>
            <a:ext cx="1739900" cy="752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35"/>
          <p:cNvSpPr>
            <a:spLocks noChangeArrowheads="1"/>
          </p:cNvSpPr>
          <p:nvPr/>
        </p:nvSpPr>
        <p:spPr bwMode="auto">
          <a:xfrm>
            <a:off x="2613026" y="1870079"/>
            <a:ext cx="5832475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buFontTx/>
              <a:buChar char="•"/>
              <a:defRPr/>
            </a:pPr>
            <a:r>
              <a:rPr lang="pt-BR" sz="1400" dirty="0">
                <a:solidFill>
                  <a:srgbClr val="777777"/>
                </a:solidFill>
                <a:ea typeface="MS PGothic" pitchFamily="34" charset="-128"/>
                <a:cs typeface="+mn-cs"/>
              </a:rPr>
              <a:t>Identificar como as pessoas se sentem envolvidas em relação ao Programa Terra,</a:t>
            </a:r>
          </a:p>
          <a:p>
            <a:pPr>
              <a:buFontTx/>
              <a:buChar char="•"/>
              <a:defRPr/>
            </a:pPr>
            <a:endParaRPr lang="pt-BR" sz="1400" dirty="0">
              <a:solidFill>
                <a:srgbClr val="777777"/>
              </a:solidFill>
              <a:ea typeface="MS PGothic" pitchFamily="34" charset="-128"/>
              <a:cs typeface="+mn-cs"/>
            </a:endParaRPr>
          </a:p>
          <a:p>
            <a:pPr>
              <a:buFontTx/>
              <a:buChar char="•"/>
              <a:defRPr/>
            </a:pPr>
            <a:r>
              <a:rPr lang="pt-BR" sz="1400" dirty="0">
                <a:solidFill>
                  <a:srgbClr val="777777"/>
                </a:solidFill>
                <a:ea typeface="MS PGothic" pitchFamily="34" charset="-128"/>
                <a:cs typeface="+mn-cs"/>
              </a:rPr>
              <a:t>  Identificar como as pessoas enxergam a mudança em sua área, em sua forma de trabalho e como ficará no futuro, </a:t>
            </a:r>
          </a:p>
          <a:p>
            <a:pPr>
              <a:buFontTx/>
              <a:buChar char="•"/>
              <a:defRPr/>
            </a:pPr>
            <a:endParaRPr lang="pt-BR" sz="1400" dirty="0">
              <a:solidFill>
                <a:srgbClr val="777777"/>
              </a:solidFill>
              <a:ea typeface="MS PGothic" pitchFamily="34" charset="-128"/>
              <a:cs typeface="+mn-cs"/>
            </a:endParaRPr>
          </a:p>
          <a:p>
            <a:pPr>
              <a:buFontTx/>
              <a:buChar char="•"/>
              <a:defRPr/>
            </a:pPr>
            <a:r>
              <a:rPr lang="pt-BR" sz="1400" dirty="0">
                <a:solidFill>
                  <a:srgbClr val="777777"/>
                </a:solidFill>
                <a:ea typeface="MS PGothic" pitchFamily="34" charset="-128"/>
                <a:cs typeface="+mn-cs"/>
              </a:rPr>
              <a:t> Verificar se as pessoas estão cientes em relação as agendas de treinamento,</a:t>
            </a:r>
          </a:p>
          <a:p>
            <a:pPr>
              <a:buFontTx/>
              <a:buChar char="•"/>
              <a:defRPr/>
            </a:pPr>
            <a:endParaRPr lang="pt-BR" sz="1400" dirty="0">
              <a:solidFill>
                <a:srgbClr val="777777"/>
              </a:solidFill>
              <a:ea typeface="MS PGothic" pitchFamily="34" charset="-128"/>
              <a:cs typeface="+mn-cs"/>
            </a:endParaRPr>
          </a:p>
          <a:p>
            <a:pPr>
              <a:buFontTx/>
              <a:buChar char="•"/>
              <a:defRPr/>
            </a:pPr>
            <a:r>
              <a:rPr lang="pt-BR" sz="1400" dirty="0">
                <a:solidFill>
                  <a:srgbClr val="777777"/>
                </a:solidFill>
                <a:ea typeface="MS PGothic" pitchFamily="34" charset="-128"/>
                <a:cs typeface="+mn-cs"/>
              </a:rPr>
              <a:t> Reconhecer quais os meios de comunicação mais utilizados na busca de informação,</a:t>
            </a:r>
          </a:p>
          <a:p>
            <a:pPr>
              <a:buFontTx/>
              <a:buChar char="•"/>
              <a:defRPr/>
            </a:pPr>
            <a:endParaRPr lang="pt-BR" sz="1400" dirty="0">
              <a:solidFill>
                <a:srgbClr val="777777"/>
              </a:solidFill>
              <a:ea typeface="MS PGothic" pitchFamily="34" charset="-128"/>
              <a:cs typeface="+mn-cs"/>
            </a:endParaRPr>
          </a:p>
          <a:p>
            <a:pPr>
              <a:buFontTx/>
              <a:buChar char="•"/>
              <a:defRPr/>
            </a:pPr>
            <a:r>
              <a:rPr lang="pt-BR" sz="1400" dirty="0">
                <a:solidFill>
                  <a:srgbClr val="777777"/>
                </a:solidFill>
                <a:ea typeface="MS PGothic" pitchFamily="34" charset="-128"/>
                <a:cs typeface="+mn-cs"/>
              </a:rPr>
              <a:t>  Constatar o engajamento das pessoas na busca de informação.</a:t>
            </a:r>
          </a:p>
        </p:txBody>
      </p:sp>
      <p:pic>
        <p:nvPicPr>
          <p:cNvPr id="45064" name="Picture 9" descr="G:\hm_tour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183" y="4940301"/>
            <a:ext cx="2674937" cy="187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74000" y="34926"/>
            <a:ext cx="1174750" cy="955675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  <a:effectLst/>
        </p:spPr>
      </p:pic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228600" y="304800"/>
            <a:ext cx="7772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0" hangingPunct="0"/>
            <a:r>
              <a:rPr lang="pt-BR" sz="2800" dirty="0" smtClean="0">
                <a:solidFill>
                  <a:schemeClr val="tx1"/>
                </a:solidFill>
              </a:rPr>
              <a:t>principais benefícios: </a:t>
            </a:r>
            <a:endParaRPr lang="pt-BR" sz="2800" b="1" dirty="0">
              <a:solidFill>
                <a:schemeClr val="tx1"/>
              </a:solidFill>
            </a:endParaRPr>
          </a:p>
        </p:txBody>
      </p:sp>
      <p:sp>
        <p:nvSpPr>
          <p:cNvPr id="16391" name="AutoShape 8"/>
          <p:cNvSpPr>
            <a:spLocks noChangeArrowheads="1"/>
          </p:cNvSpPr>
          <p:nvPr/>
        </p:nvSpPr>
        <p:spPr bwMode="auto">
          <a:xfrm>
            <a:off x="2082801" y="1539121"/>
            <a:ext cx="1044575" cy="582613"/>
          </a:xfrm>
          <a:prstGeom prst="chevron">
            <a:avLst>
              <a:gd name="adj" fmla="val 18344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Promoção, Cota, Estoque</a:t>
            </a:r>
          </a:p>
        </p:txBody>
      </p:sp>
      <p:sp>
        <p:nvSpPr>
          <p:cNvPr id="16392" name="AutoShape 9"/>
          <p:cNvSpPr>
            <a:spLocks noChangeArrowheads="1"/>
          </p:cNvSpPr>
          <p:nvPr/>
        </p:nvSpPr>
        <p:spPr bwMode="auto">
          <a:xfrm>
            <a:off x="1041400" y="1539121"/>
            <a:ext cx="1138238" cy="582613"/>
          </a:xfrm>
          <a:prstGeom prst="chevron">
            <a:avLst>
              <a:gd name="adj" fmla="val 19971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Crédito</a:t>
            </a:r>
          </a:p>
        </p:txBody>
      </p:sp>
      <p:sp>
        <p:nvSpPr>
          <p:cNvPr id="16393" name="AutoShape 10"/>
          <p:cNvSpPr>
            <a:spLocks noChangeArrowheads="1"/>
          </p:cNvSpPr>
          <p:nvPr/>
        </p:nvSpPr>
        <p:spPr bwMode="auto">
          <a:xfrm>
            <a:off x="3032125" y="1539121"/>
            <a:ext cx="1023938" cy="582613"/>
          </a:xfrm>
          <a:prstGeom prst="chevron">
            <a:avLst>
              <a:gd name="adj" fmla="val 18934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Captação</a:t>
            </a:r>
          </a:p>
        </p:txBody>
      </p:sp>
      <p:sp>
        <p:nvSpPr>
          <p:cNvPr id="16394" name="AutoShape 11"/>
          <p:cNvSpPr>
            <a:spLocks noChangeArrowheads="1"/>
          </p:cNvSpPr>
          <p:nvPr/>
        </p:nvSpPr>
        <p:spPr bwMode="auto">
          <a:xfrm>
            <a:off x="8121650" y="1539121"/>
            <a:ext cx="1022350" cy="582613"/>
          </a:xfrm>
          <a:prstGeom prst="chevron">
            <a:avLst>
              <a:gd name="adj" fmla="val 21764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Pós Venda</a:t>
            </a:r>
          </a:p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CN/CNO/GR</a:t>
            </a:r>
          </a:p>
        </p:txBody>
      </p:sp>
      <p:sp>
        <p:nvSpPr>
          <p:cNvPr id="16395" name="AutoShape 12"/>
          <p:cNvSpPr>
            <a:spLocks noChangeArrowheads="1"/>
          </p:cNvSpPr>
          <p:nvPr/>
        </p:nvSpPr>
        <p:spPr bwMode="auto">
          <a:xfrm>
            <a:off x="14288" y="2158207"/>
            <a:ext cx="9040812" cy="141288"/>
          </a:xfrm>
          <a:prstGeom prst="chevron">
            <a:avLst>
              <a:gd name="adj" fmla="val 38808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Business Intelligence</a:t>
            </a:r>
          </a:p>
        </p:txBody>
      </p:sp>
      <p:sp>
        <p:nvSpPr>
          <p:cNvPr id="16396" name="AutoShape 13"/>
          <p:cNvSpPr>
            <a:spLocks noChangeArrowheads="1"/>
          </p:cNvSpPr>
          <p:nvPr/>
        </p:nvSpPr>
        <p:spPr bwMode="auto">
          <a:xfrm>
            <a:off x="3956114" y="1539121"/>
            <a:ext cx="1057275" cy="582613"/>
          </a:xfrm>
          <a:prstGeom prst="chevron">
            <a:avLst>
              <a:gd name="adj" fmla="val 19550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850" dirty="0">
                <a:solidFill>
                  <a:schemeClr val="bg1"/>
                </a:solidFill>
              </a:rPr>
              <a:t>Separação</a:t>
            </a:r>
          </a:p>
        </p:txBody>
      </p:sp>
      <p:sp>
        <p:nvSpPr>
          <p:cNvPr id="16397" name="AutoShape 14"/>
          <p:cNvSpPr>
            <a:spLocks noChangeArrowheads="1"/>
          </p:cNvSpPr>
          <p:nvPr/>
        </p:nvSpPr>
        <p:spPr bwMode="auto">
          <a:xfrm>
            <a:off x="4910138" y="1539121"/>
            <a:ext cx="1174750" cy="582613"/>
          </a:xfrm>
          <a:prstGeom prst="chevron">
            <a:avLst>
              <a:gd name="adj" fmla="val 21722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850" dirty="0">
                <a:solidFill>
                  <a:schemeClr val="bg1"/>
                </a:solidFill>
              </a:rPr>
              <a:t>Faturamento</a:t>
            </a:r>
          </a:p>
        </p:txBody>
      </p:sp>
      <p:sp>
        <p:nvSpPr>
          <p:cNvPr id="16398" name="AutoShape 15"/>
          <p:cNvSpPr>
            <a:spLocks noChangeArrowheads="1"/>
          </p:cNvSpPr>
          <p:nvPr/>
        </p:nvSpPr>
        <p:spPr bwMode="auto">
          <a:xfrm>
            <a:off x="5980138" y="1539121"/>
            <a:ext cx="1177925" cy="582613"/>
          </a:xfrm>
          <a:prstGeom prst="chevron">
            <a:avLst>
              <a:gd name="adj" fmla="val 21781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Transporte</a:t>
            </a:r>
          </a:p>
        </p:txBody>
      </p:sp>
      <p:sp>
        <p:nvSpPr>
          <p:cNvPr id="16399" name="AutoShape 16"/>
          <p:cNvSpPr>
            <a:spLocks noChangeArrowheads="1"/>
          </p:cNvSpPr>
          <p:nvPr/>
        </p:nvSpPr>
        <p:spPr bwMode="auto">
          <a:xfrm>
            <a:off x="7050090" y="1539121"/>
            <a:ext cx="1177925" cy="582613"/>
          </a:xfrm>
          <a:prstGeom prst="chevron">
            <a:avLst>
              <a:gd name="adj" fmla="val 21781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Cobrança</a:t>
            </a:r>
          </a:p>
        </p:txBody>
      </p:sp>
      <p:sp>
        <p:nvSpPr>
          <p:cNvPr id="16400" name="AutoShape 17"/>
          <p:cNvSpPr>
            <a:spLocks noChangeArrowheads="1"/>
          </p:cNvSpPr>
          <p:nvPr/>
        </p:nvSpPr>
        <p:spPr bwMode="auto">
          <a:xfrm>
            <a:off x="64" y="1539121"/>
            <a:ext cx="1139825" cy="582613"/>
          </a:xfrm>
          <a:prstGeom prst="chevron">
            <a:avLst>
              <a:gd name="adj" fmla="val 19999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Cadastro de </a:t>
            </a:r>
          </a:p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 Pessoas</a:t>
            </a:r>
          </a:p>
        </p:txBody>
      </p:sp>
      <p:sp>
        <p:nvSpPr>
          <p:cNvPr id="16429" name="Text Box 50"/>
          <p:cNvSpPr txBox="1">
            <a:spLocks noChangeArrowheads="1"/>
          </p:cNvSpPr>
          <p:nvPr/>
        </p:nvSpPr>
        <p:spPr bwMode="auto">
          <a:xfrm>
            <a:off x="323528" y="868110"/>
            <a:ext cx="3744416" cy="246221"/>
          </a:xfrm>
          <a:prstGeom prst="rect">
            <a:avLst/>
          </a:prstGeom>
          <a:noFill/>
          <a:ln w="1270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sz="1600" b="1">
                <a:solidFill>
                  <a:schemeClr val="tx1"/>
                </a:solidFill>
                <a:latin typeface="Arial" charset="0"/>
                <a:ea typeface="ＭＳ Ｐゴシック" pitchFamily="62" charset="-128"/>
              </a:rPr>
              <a:t>– Ciclo do Pedido CN –</a:t>
            </a:r>
          </a:p>
        </p:txBody>
      </p:sp>
      <p:sp>
        <p:nvSpPr>
          <p:cNvPr id="16430" name="AutoShape 51"/>
          <p:cNvSpPr>
            <a:spLocks noChangeArrowheads="1"/>
          </p:cNvSpPr>
          <p:nvPr/>
        </p:nvSpPr>
        <p:spPr bwMode="auto">
          <a:xfrm>
            <a:off x="34989" y="1369259"/>
            <a:ext cx="9040813" cy="141287"/>
          </a:xfrm>
          <a:prstGeom prst="chevron">
            <a:avLst>
              <a:gd name="adj" fmla="val 38808"/>
            </a:avLst>
          </a:prstGeom>
          <a:solidFill>
            <a:srgbClr val="003399"/>
          </a:solidFill>
          <a:ln w="6350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173004" tIns="72009" rIns="72009" bIns="72009" anchor="ctr"/>
          <a:lstStyle/>
          <a:p>
            <a:pPr algn="ctr" eaLnBrk="0" hangingPunct="0"/>
            <a:r>
              <a:rPr lang="pt-BR" sz="900">
                <a:solidFill>
                  <a:schemeClr val="bg1"/>
                </a:solidFill>
              </a:rPr>
              <a:t>Planejamento</a:t>
            </a:r>
          </a:p>
        </p:txBody>
      </p:sp>
      <p:sp>
        <p:nvSpPr>
          <p:cNvPr id="49" name="Retângulo 48"/>
          <p:cNvSpPr/>
          <p:nvPr/>
        </p:nvSpPr>
        <p:spPr>
          <a:xfrm>
            <a:off x="179512" y="2420355"/>
            <a:ext cx="8352928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Registro de novas consultoras diretamente pela CNO no site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Atualização Cadastral </a:t>
            </a:r>
            <a:r>
              <a:rPr lang="pt-BR" sz="1400" dirty="0" err="1" smtClean="0">
                <a:solidFill>
                  <a:schemeClr val="tx1"/>
                </a:solidFill>
              </a:rPr>
              <a:t>Frequente</a:t>
            </a:r>
            <a:r>
              <a:rPr lang="pt-BR" sz="1400" dirty="0" smtClean="0">
                <a:solidFill>
                  <a:schemeClr val="tx1"/>
                </a:solidFill>
              </a:rPr>
              <a:t> </a:t>
            </a:r>
            <a:r>
              <a:rPr lang="pt-BR" sz="1200" dirty="0" smtClean="0">
                <a:solidFill>
                  <a:schemeClr val="tx1"/>
                </a:solidFill>
              </a:rPr>
              <a:t>(vinculado ao acesso seguro)</a:t>
            </a:r>
          </a:p>
          <a:p>
            <a:pPr marL="228600" indent="-228600">
              <a:buFont typeface="Arial" pitchFamily="34" charset="0"/>
              <a:buChar char="•"/>
            </a:pPr>
            <a:r>
              <a:rPr lang="pt-BR" sz="1200" dirty="0" smtClean="0">
                <a:solidFill>
                  <a:schemeClr val="tx1"/>
                </a:solidFill>
              </a:rPr>
              <a:t>   </a:t>
            </a:r>
            <a:r>
              <a:rPr lang="pt-BR" sz="1400" dirty="0" smtClean="0">
                <a:solidFill>
                  <a:schemeClr val="tx1"/>
                </a:solidFill>
              </a:rPr>
              <a:t>Crédito concedido avaliando potencial de cada candidata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Novas mecânicas promocionais, gerador de mecânicas parametrizável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Possibilidade de controle de cotas por setor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Robô de distribuição de cotas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Fim do estoque telemarketing, Disponibilização do Estoque em Trânsito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Novo fluxo de captação incluindo novos serviços, que garantam o tratamento de desvios imediatamente, sem necessidade de um contato futuro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Incentivos à conectividade </a:t>
            </a:r>
            <a:r>
              <a:rPr lang="pt-BR" sz="1200" dirty="0" smtClean="0">
                <a:solidFill>
                  <a:schemeClr val="tx1"/>
                </a:solidFill>
              </a:rPr>
              <a:t>(possibilidade de pontuação mínima, prazo de pagamento, prazo de entrega, resgate de vale pontos diferenciados através da NET)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Melhorias operacionais na separação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Faturamento: integração com FI e maior </a:t>
            </a:r>
            <a:r>
              <a:rPr lang="pt-BR" sz="1400" dirty="0" err="1" smtClean="0">
                <a:solidFill>
                  <a:schemeClr val="tx1"/>
                </a:solidFill>
              </a:rPr>
              <a:t>rastreabilidade</a:t>
            </a:r>
            <a:endParaRPr lang="pt-BR" sz="14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Pagamento de fretes por pré-fatura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Integração dos processos de devolução (BOT/BOV)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Fim dos problemas de conciliação SAP x GKO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BI: simplificação de indicadores, informações nas mãos dos usuários (BO)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Pós Vendas (CAN, AFV, ATO): Sistema único e integrado, informações online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 </a:t>
            </a:r>
            <a:r>
              <a:rPr lang="pt-BR" sz="1400" dirty="0">
                <a:solidFill>
                  <a:schemeClr val="tx1"/>
                </a:solidFill>
              </a:rPr>
              <a:t>Viabilizar ações pró-ativas, </a:t>
            </a:r>
            <a:r>
              <a:rPr lang="pt-BR" sz="1400" dirty="0" smtClean="0">
                <a:solidFill>
                  <a:schemeClr val="tx1"/>
                </a:solidFill>
              </a:rPr>
              <a:t>redução de </a:t>
            </a:r>
            <a:r>
              <a:rPr lang="pt-BR" sz="1400" dirty="0">
                <a:solidFill>
                  <a:schemeClr val="tx1"/>
                </a:solidFill>
              </a:rPr>
              <a:t>chamadas improdutivas e aumento da satisfação de nossos consultores(as)</a:t>
            </a:r>
          </a:p>
          <a:p>
            <a:pPr marL="342900" indent="-342900">
              <a:buFont typeface="Arial" pitchFamily="34" charset="0"/>
              <a:buChar char="•"/>
            </a:pPr>
            <a:endParaRPr lang="pt-BR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/>
          <p:cNvSpPr txBox="1"/>
          <p:nvPr/>
        </p:nvSpPr>
        <p:spPr>
          <a:xfrm>
            <a:off x="120650" y="152400"/>
            <a:ext cx="266387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Captação Offline</a:t>
            </a:r>
            <a:endParaRPr lang="en-US" sz="2800" b="1" dirty="0">
              <a:solidFill>
                <a:srgbClr val="4F81BD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4800" y="672936"/>
            <a:ext cx="8382000" cy="283154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b="1" dirty="0" smtClean="0">
                <a:solidFill>
                  <a:srgbClr val="FF0000"/>
                </a:solidFill>
                <a:latin typeface="Calibri"/>
              </a:rPr>
              <a:t>Avaliação do Cenário</a:t>
            </a:r>
            <a:endParaRPr lang="pt-BR" b="1" dirty="0">
              <a:solidFill>
                <a:srgbClr val="FF0000"/>
              </a:solidFill>
              <a:latin typeface="Calibri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prstClr val="black"/>
                </a:solidFill>
                <a:latin typeface="Calibri"/>
              </a:rPr>
              <a:t> Implantação antecipada de Cotas (blackout Brasil)  é viável</a:t>
            </a:r>
          </a:p>
          <a:p>
            <a:pPr lvl="1">
              <a:defRPr/>
            </a:pPr>
            <a:r>
              <a:rPr lang="pt-BR" sz="1600" dirty="0" smtClean="0">
                <a:solidFill>
                  <a:prstClr val="black"/>
                </a:solidFill>
                <a:latin typeface="Calibri"/>
              </a:rPr>
              <a:t>- Blackout Captação Brasil estimado: sábado 07/05 22:00 até segunda 09/05 06:00</a:t>
            </a:r>
          </a:p>
          <a:p>
            <a:pPr lvl="1">
              <a:defRPr/>
            </a:pPr>
            <a:r>
              <a:rPr lang="pt-BR" sz="1600" dirty="0" smtClean="0">
                <a:solidFill>
                  <a:prstClr val="black"/>
                </a:solidFill>
                <a:latin typeface="Calibri"/>
              </a:rPr>
              <a:t>- Blackout SAP Brasil * estimado: sábado 14/05 00:00 até segunda 16/05 06:00</a:t>
            </a:r>
          </a:p>
          <a:p>
            <a:pPr lvl="1">
              <a:defRPr/>
            </a:pPr>
            <a:r>
              <a:rPr lang="pt-BR" sz="1600" dirty="0" smtClean="0">
                <a:solidFill>
                  <a:prstClr val="black"/>
                </a:solidFill>
                <a:latin typeface="Calibri"/>
              </a:rPr>
              <a:t>- Blackout GV Sol </a:t>
            </a:r>
            <a:r>
              <a:rPr lang="pt-BR" sz="1600" dirty="0">
                <a:solidFill>
                  <a:prstClr val="black"/>
                </a:solidFill>
                <a:latin typeface="Calibri"/>
              </a:rPr>
              <a:t>estimado: sábado 14/05 00:00 até segunda 16/05 </a:t>
            </a:r>
            <a:r>
              <a:rPr lang="pt-BR" sz="1600" dirty="0" smtClean="0">
                <a:solidFill>
                  <a:prstClr val="black"/>
                </a:solidFill>
                <a:latin typeface="Calibri"/>
              </a:rPr>
              <a:t>23:59</a:t>
            </a:r>
          </a:p>
          <a:p>
            <a:pPr marL="742950" lvl="1" indent="-285750">
              <a:buFontTx/>
              <a:buChar char="-"/>
              <a:defRPr/>
            </a:pPr>
            <a:endParaRPr lang="pt-BR" sz="1600" dirty="0" smtClean="0">
              <a:solidFill>
                <a:prstClr val="black"/>
              </a:solidFill>
              <a:latin typeface="Calibri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pt-BR" sz="1600" dirty="0">
                <a:solidFill>
                  <a:prstClr val="black"/>
                </a:solidFill>
                <a:latin typeface="Calibri"/>
              </a:rPr>
              <a:t> </a:t>
            </a:r>
            <a:r>
              <a:rPr lang="pt-BR" sz="1600" dirty="0" smtClean="0">
                <a:solidFill>
                  <a:prstClr val="black"/>
                </a:solidFill>
                <a:latin typeface="Calibri"/>
              </a:rPr>
              <a:t>Histórico de projetos recentes (</a:t>
            </a:r>
            <a:r>
              <a:rPr lang="pt-BR" sz="1600" dirty="0" err="1" smtClean="0">
                <a:solidFill>
                  <a:prstClr val="black"/>
                </a:solidFill>
                <a:latin typeface="Calibri"/>
              </a:rPr>
              <a:t>ex</a:t>
            </a:r>
            <a:r>
              <a:rPr lang="pt-BR" sz="1600" dirty="0" smtClean="0">
                <a:solidFill>
                  <a:prstClr val="black"/>
                </a:solidFill>
                <a:latin typeface="Calibri"/>
              </a:rPr>
              <a:t>: desconcentração de ciclos) teve períodos de bloqueio semelhantes sem maiores impactos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pt-BR" sz="1600" dirty="0">
                <a:solidFill>
                  <a:prstClr val="black"/>
                </a:solidFill>
                <a:latin typeface="Calibri"/>
              </a:rPr>
              <a:t> </a:t>
            </a:r>
            <a:r>
              <a:rPr lang="pt-BR" sz="1600" dirty="0" smtClean="0">
                <a:solidFill>
                  <a:prstClr val="black"/>
                </a:solidFill>
                <a:latin typeface="Calibri"/>
              </a:rPr>
              <a:t>Análise de volumes não parece justificar esforço, riscos e impactos de desenvolver solução para captação </a:t>
            </a:r>
            <a:r>
              <a:rPr lang="pt-BR" sz="1600" dirty="0" err="1" smtClean="0">
                <a:solidFill>
                  <a:prstClr val="black"/>
                </a:solidFill>
                <a:latin typeface="Calibri"/>
              </a:rPr>
              <a:t>offline</a:t>
            </a:r>
            <a:endParaRPr lang="pt-BR" sz="1600" dirty="0">
              <a:solidFill>
                <a:prstClr val="black"/>
              </a:solidFill>
              <a:latin typeface="Calibri"/>
            </a:endParaRPr>
          </a:p>
          <a:p>
            <a:pPr>
              <a:buFont typeface="Arial" pitchFamily="34" charset="0"/>
              <a:buChar char="•"/>
              <a:defRPr/>
            </a:pPr>
            <a:endParaRPr lang="pt-BR" sz="16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528662"/>
              </p:ext>
            </p:extLst>
          </p:nvPr>
        </p:nvGraphicFramePr>
        <p:xfrm>
          <a:off x="4499992" y="3501008"/>
          <a:ext cx="4061246" cy="1410792"/>
        </p:xfrm>
        <a:graphic>
          <a:graphicData uri="http://schemas.openxmlformats.org/drawingml/2006/table">
            <a:tbl>
              <a:tblPr/>
              <a:tblGrid>
                <a:gridCol w="2088232"/>
                <a:gridCol w="820886"/>
                <a:gridCol w="1152128"/>
              </a:tblGrid>
              <a:tr h="224552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Previsão</a:t>
                      </a:r>
                      <a:r>
                        <a:rPr lang="pt-BR" sz="10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 GV Sol (faturamento) **</a:t>
                      </a:r>
                      <a:endParaRPr lang="pt-BR" sz="1000" b="1" i="0" u="none" strike="noStrike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6" marB="0" anchor="b">
                    <a:lnL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Pedidos</a:t>
                      </a:r>
                    </a:p>
                  </a:txBody>
                  <a:tcPr marL="9525" marR="9525" marT="95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Valor (R$)</a:t>
                      </a:r>
                    </a:p>
                  </a:txBody>
                  <a:tcPr marL="9525" marR="9525" marT="9526" marB="0" anchor="b">
                    <a:lnL>
                      <a:noFill/>
                    </a:lnL>
                    <a:lnR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</a:tr>
              <a:tr h="296560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Subtotal 14/maio/2011 (Sábado)</a:t>
                      </a:r>
                    </a:p>
                  </a:txBody>
                  <a:tcPr marL="9525" marR="9525" marT="9526" marB="0" anchor="b">
                    <a:lnL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533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226.525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6" marB="0" anchor="b">
                    <a:lnL>
                      <a:noFill/>
                    </a:lnL>
                    <a:lnR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</a:tr>
              <a:tr h="296560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Subtotal 15/maio/2011 (Domingo)</a:t>
                      </a:r>
                    </a:p>
                  </a:txBody>
                  <a:tcPr marL="9525" marR="9525" marT="9526" marB="0" anchor="b">
                    <a:lnL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656 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278.800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6" marB="0" anchor="b">
                    <a:lnL>
                      <a:noFill/>
                    </a:lnL>
                    <a:lnR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560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Subtotal 16/maio/2011 (Segunda)</a:t>
                      </a:r>
                    </a:p>
                  </a:txBody>
                  <a:tcPr marL="9525" marR="9525" marT="9526" marB="0" anchor="b">
                    <a:lnL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1.070 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454.750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6" marB="0" anchor="b">
                    <a:lnL>
                      <a:noFill/>
                    </a:lnL>
                    <a:lnR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</a:tr>
              <a:tr h="296560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Total Geral</a:t>
                      </a:r>
                    </a:p>
                  </a:txBody>
                  <a:tcPr marL="9525" marR="9525" marT="9526" marB="0" anchor="b">
                    <a:lnL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     </a:t>
                      </a:r>
                      <a:r>
                        <a:rPr lang="pt-B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2.259</a:t>
                      </a:r>
                      <a:endParaRPr lang="pt-BR" sz="10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          </a:t>
                      </a:r>
                      <a:r>
                        <a:rPr lang="pt-B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960.075 </a:t>
                      </a:r>
                      <a:endParaRPr lang="pt-BR" sz="10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6" marB="0" anchor="b">
                    <a:lnL>
                      <a:noFill/>
                    </a:lnL>
                    <a:lnR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tângulo 7"/>
          <p:cNvSpPr/>
          <p:nvPr/>
        </p:nvSpPr>
        <p:spPr>
          <a:xfrm>
            <a:off x="683568" y="5756483"/>
            <a:ext cx="7632848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prstClr val="black"/>
                </a:solidFill>
                <a:latin typeface="Calibri"/>
              </a:rPr>
              <a:t> Premissas: 25 </a:t>
            </a:r>
            <a:r>
              <a:rPr lang="pt-BR" sz="1600" dirty="0" err="1" smtClean="0">
                <a:solidFill>
                  <a:prstClr val="black"/>
                </a:solidFill>
                <a:latin typeface="Calibri"/>
              </a:rPr>
              <a:t>GRs</a:t>
            </a:r>
            <a:r>
              <a:rPr lang="pt-BR" sz="1600" dirty="0" smtClean="0">
                <a:solidFill>
                  <a:prstClr val="black"/>
                </a:solidFill>
                <a:latin typeface="Calibri"/>
              </a:rPr>
              <a:t>  e 8 </a:t>
            </a:r>
            <a:r>
              <a:rPr lang="pt-BR" sz="1600" dirty="0" err="1" smtClean="0">
                <a:solidFill>
                  <a:prstClr val="black"/>
                </a:solidFill>
                <a:latin typeface="Calibri"/>
              </a:rPr>
              <a:t>CNOs</a:t>
            </a:r>
            <a:r>
              <a:rPr lang="pt-BR" sz="1600" dirty="0" smtClean="0">
                <a:solidFill>
                  <a:prstClr val="black"/>
                </a:solidFill>
                <a:latin typeface="Calibri"/>
              </a:rPr>
              <a:t>/GR</a:t>
            </a:r>
          </a:p>
          <a:p>
            <a:pPr>
              <a:defRPr/>
            </a:pPr>
            <a:r>
              <a:rPr lang="pt-BR" sz="1400" dirty="0" smtClean="0">
                <a:solidFill>
                  <a:prstClr val="black"/>
                </a:solidFill>
                <a:latin typeface="Calibri"/>
              </a:rPr>
              <a:t>* SAP Brasil = faturamento e </a:t>
            </a:r>
            <a:r>
              <a:rPr lang="pt-BR" sz="1400" dirty="0" err="1" smtClean="0">
                <a:solidFill>
                  <a:prstClr val="black"/>
                </a:solidFill>
                <a:latin typeface="Calibri"/>
              </a:rPr>
              <a:t>cross-company</a:t>
            </a:r>
            <a:r>
              <a:rPr lang="pt-BR" sz="1400" dirty="0" smtClean="0">
                <a:solidFill>
                  <a:prstClr val="black"/>
                </a:solidFill>
                <a:latin typeface="Calibri"/>
              </a:rPr>
              <a:t>, recebimento, produção, compras, pagamentos, abastecimento, entre outros</a:t>
            </a:r>
          </a:p>
          <a:p>
            <a:pPr>
              <a:defRPr/>
            </a:pPr>
            <a:r>
              <a:rPr lang="pt-BR" sz="1400" dirty="0" smtClean="0">
                <a:solidFill>
                  <a:prstClr val="black"/>
                </a:solidFill>
                <a:latin typeface="Calibri"/>
              </a:rPr>
              <a:t>** Estimativa sem </a:t>
            </a:r>
            <a:r>
              <a:rPr lang="pt-BR" sz="1400" dirty="0" err="1" smtClean="0">
                <a:solidFill>
                  <a:prstClr val="black"/>
                </a:solidFill>
                <a:latin typeface="Calibri"/>
              </a:rPr>
              <a:t>backlog</a:t>
            </a:r>
            <a:endParaRPr lang="pt-BR" sz="14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212288"/>
              </p:ext>
            </p:extLst>
          </p:nvPr>
        </p:nvGraphicFramePr>
        <p:xfrm>
          <a:off x="179512" y="4365104"/>
          <a:ext cx="4010852" cy="768490"/>
        </p:xfrm>
        <a:graphic>
          <a:graphicData uri="http://schemas.openxmlformats.org/drawingml/2006/table">
            <a:tbl>
              <a:tblPr/>
              <a:tblGrid>
                <a:gridCol w="1346556"/>
                <a:gridCol w="1296144"/>
                <a:gridCol w="1368152"/>
              </a:tblGrid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 </a:t>
                      </a:r>
                    </a:p>
                  </a:txBody>
                  <a:tcPr marL="9525" marR="9525" marT="9526" marB="0" anchor="b">
                    <a:lnL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Pedidos/GR/dia</a:t>
                      </a:r>
                      <a:endParaRPr lang="pt-BR" sz="1000" b="1" i="0" u="none" strike="noStrike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Pedidos/CNO/dia</a:t>
                      </a:r>
                      <a:endParaRPr lang="pt-BR" sz="1000" b="1" i="0" u="none" strike="noStrike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6" marB="0" anchor="ctr">
                    <a:lnL>
                      <a:noFill/>
                    </a:lnL>
                    <a:lnR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</a:tr>
              <a:tr h="240229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Cenário </a:t>
                      </a:r>
                      <a:r>
                        <a:rPr lang="pt-BR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Sáb</a:t>
                      </a:r>
                      <a:r>
                        <a:rPr lang="pt-B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/Dom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6" marB="0" anchor="b">
                    <a:lnL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24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6" marB="0" anchor="b">
                    <a:lnL>
                      <a:noFill/>
                    </a:lnL>
                    <a:lnR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229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Cenário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Sáb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/Dom/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Seg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6" marB="0" anchor="b">
                    <a:lnL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30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4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6" marB="0" anchor="b">
                    <a:lnL>
                      <a:noFill/>
                    </a:lnL>
                    <a:lnR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162531"/>
              </p:ext>
            </p:extLst>
          </p:nvPr>
        </p:nvGraphicFramePr>
        <p:xfrm>
          <a:off x="358253" y="3529667"/>
          <a:ext cx="3709713" cy="521112"/>
        </p:xfrm>
        <a:graphic>
          <a:graphicData uri="http://schemas.openxmlformats.org/drawingml/2006/table">
            <a:tbl>
              <a:tblPr/>
              <a:tblGrid>
                <a:gridCol w="1981521"/>
                <a:gridCol w="720080"/>
                <a:gridCol w="1008112"/>
              </a:tblGrid>
              <a:tr h="224552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Previsão</a:t>
                      </a:r>
                      <a:r>
                        <a:rPr lang="pt-BR" sz="10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 Brasil (captação)</a:t>
                      </a:r>
                      <a:endParaRPr lang="pt-BR" sz="1000" b="1" i="0" u="none" strike="noStrike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6" marB="0" anchor="b">
                    <a:lnL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Pedidos</a:t>
                      </a:r>
                    </a:p>
                  </a:txBody>
                  <a:tcPr marL="9525" marR="9525" marT="95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Valor (R$)</a:t>
                      </a:r>
                    </a:p>
                  </a:txBody>
                  <a:tcPr marL="9525" marR="9525" marT="9526" marB="0" anchor="b">
                    <a:lnL>
                      <a:noFill/>
                    </a:lnL>
                    <a:lnR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</a:tr>
              <a:tr h="296560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Subtotal </a:t>
                      </a:r>
                      <a:r>
                        <a:rPr lang="pt-B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8/maio/2011 (Domingo)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6" marB="0" anchor="b">
                    <a:lnL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      </a:t>
                      </a:r>
                      <a:r>
                        <a:rPr lang="pt-B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12.744 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          </a:t>
                      </a:r>
                      <a:r>
                        <a:rPr lang="pt-B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5.534.102 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6" marB="0" anchor="b">
                    <a:lnL>
                      <a:noFill/>
                    </a:lnL>
                    <a:lnR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9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9661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74000" y="34926"/>
            <a:ext cx="1174750" cy="955675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  <a:effectLst/>
        </p:spPr>
      </p:pic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228600" y="304800"/>
            <a:ext cx="7772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0" hangingPunct="0"/>
            <a:r>
              <a:rPr lang="pt-BR" sz="2800" dirty="0" smtClean="0">
                <a:solidFill>
                  <a:prstClr val="black"/>
                </a:solidFill>
              </a:rPr>
              <a:t>business case: </a:t>
            </a:r>
            <a:r>
              <a:rPr lang="pt-BR" sz="2800" b="1" dirty="0" smtClean="0">
                <a:solidFill>
                  <a:prstClr val="black"/>
                </a:solidFill>
              </a:rPr>
              <a:t>revisado</a:t>
            </a:r>
            <a:endParaRPr lang="pt-BR" sz="2800" b="1" dirty="0">
              <a:solidFill>
                <a:prstClr val="black"/>
              </a:solidFill>
            </a:endParaRPr>
          </a:p>
        </p:txBody>
      </p:sp>
      <p:sp>
        <p:nvSpPr>
          <p:cNvPr id="53" name="Retângulo 52"/>
          <p:cNvSpPr/>
          <p:nvPr/>
        </p:nvSpPr>
        <p:spPr>
          <a:xfrm>
            <a:off x="79497" y="1342511"/>
            <a:ext cx="84478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600" dirty="0" smtClean="0">
                <a:solidFill>
                  <a:prstClr val="black"/>
                </a:solidFill>
              </a:rPr>
              <a:t> considerando variações escopo e custos revisados:</a:t>
            </a:r>
          </a:p>
          <a:p>
            <a:r>
              <a:rPr lang="pt-BR" sz="1600" dirty="0">
                <a:solidFill>
                  <a:prstClr val="black"/>
                </a:solidFill>
              </a:rPr>
              <a:t>	</a:t>
            </a:r>
            <a:endParaRPr lang="pt-BR" sz="1600" dirty="0">
              <a:solidFill>
                <a:srgbClr val="1F497D"/>
              </a:solidFill>
            </a:endParaRPr>
          </a:p>
        </p:txBody>
      </p:sp>
      <p:pic>
        <p:nvPicPr>
          <p:cNvPr id="2334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385" y="1772819"/>
            <a:ext cx="5098528" cy="1872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tângulo 5"/>
          <p:cNvSpPr/>
          <p:nvPr/>
        </p:nvSpPr>
        <p:spPr>
          <a:xfrm>
            <a:off x="79497" y="3717032"/>
            <a:ext cx="84478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600" dirty="0">
                <a:solidFill>
                  <a:prstClr val="black"/>
                </a:solidFill>
              </a:rPr>
              <a:t>r</a:t>
            </a:r>
            <a:r>
              <a:rPr lang="pt-BR" sz="1600" dirty="0" smtClean="0">
                <a:solidFill>
                  <a:prstClr val="black"/>
                </a:solidFill>
              </a:rPr>
              <a:t>edução de escopo com impacto no business case:</a:t>
            </a:r>
            <a:r>
              <a:rPr lang="pt-BR" sz="1600" dirty="0">
                <a:solidFill>
                  <a:prstClr val="black"/>
                </a:solidFill>
              </a:rPr>
              <a:t>	</a:t>
            </a:r>
            <a:endParaRPr lang="pt-BR" sz="1600" dirty="0">
              <a:solidFill>
                <a:srgbClr val="1F497D"/>
              </a:solidFill>
            </a:endParaRP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963964"/>
              </p:ext>
            </p:extLst>
          </p:nvPr>
        </p:nvGraphicFramePr>
        <p:xfrm>
          <a:off x="971601" y="4221087"/>
          <a:ext cx="6379824" cy="1595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956"/>
                <a:gridCol w="1594956"/>
                <a:gridCol w="1594956"/>
                <a:gridCol w="1594956"/>
              </a:tblGrid>
              <a:tr h="420527">
                <a:tc gridSpan="2"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aumento de receita</a:t>
                      </a:r>
                      <a:endParaRPr lang="pt-BR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redução de custos</a:t>
                      </a:r>
                      <a:endParaRPr lang="pt-BR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58758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Cobrança de frete expresso</a:t>
                      </a:r>
                      <a:endParaRPr lang="pt-B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R$ 5,4MM</a:t>
                      </a:r>
                      <a:endParaRPr lang="pt-B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Pontos de retira</a:t>
                      </a:r>
                      <a:endParaRPr lang="pt-B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8,60MM</a:t>
                      </a:r>
                      <a:endParaRPr lang="pt-B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58758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Segmentação CN</a:t>
                      </a:r>
                      <a:endParaRPr lang="pt-B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R$ 9,47MM</a:t>
                      </a:r>
                      <a:endParaRPr lang="pt-B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Novos tamanhos</a:t>
                      </a:r>
                      <a:r>
                        <a:rPr lang="pt-BR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de caixas</a:t>
                      </a:r>
                      <a:endParaRPr lang="pt-B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3,00MM</a:t>
                      </a:r>
                      <a:endParaRPr lang="pt-B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8" name="Retângulo 7"/>
          <p:cNvSpPr/>
          <p:nvPr/>
        </p:nvSpPr>
        <p:spPr>
          <a:xfrm>
            <a:off x="79497" y="6084587"/>
            <a:ext cx="84478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600" dirty="0" smtClean="0">
                <a:solidFill>
                  <a:prstClr val="black"/>
                </a:solidFill>
              </a:rPr>
              <a:t>variação de custos: +13,3MM </a:t>
            </a:r>
            <a:r>
              <a:rPr lang="pt-BR" sz="1600" dirty="0" err="1" smtClean="0">
                <a:solidFill>
                  <a:prstClr val="black"/>
                </a:solidFill>
              </a:rPr>
              <a:t>Opex</a:t>
            </a:r>
            <a:r>
              <a:rPr lang="pt-BR" sz="1600" dirty="0" smtClean="0">
                <a:solidFill>
                  <a:prstClr val="black"/>
                </a:solidFill>
              </a:rPr>
              <a:t> e +8MM </a:t>
            </a:r>
            <a:r>
              <a:rPr lang="pt-BR" sz="1600" dirty="0" err="1" smtClean="0">
                <a:solidFill>
                  <a:prstClr val="black"/>
                </a:solidFill>
              </a:rPr>
              <a:t>Capex</a:t>
            </a:r>
            <a:r>
              <a:rPr lang="pt-BR" sz="1600" dirty="0" smtClean="0">
                <a:solidFill>
                  <a:prstClr val="black"/>
                </a:solidFill>
              </a:rPr>
              <a:t>, Totalizando: R$ 21,3MM</a:t>
            </a:r>
          </a:p>
          <a:p>
            <a:r>
              <a:rPr lang="pt-BR" sz="1600" dirty="0">
                <a:solidFill>
                  <a:prstClr val="black"/>
                </a:solidFill>
              </a:rPr>
              <a:t>		</a:t>
            </a:r>
            <a:endParaRPr lang="pt-BR" sz="1600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417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1026"/>
          <p:cNvSpPr>
            <a:spLocks noChangeArrowheads="1"/>
          </p:cNvSpPr>
          <p:nvPr/>
        </p:nvSpPr>
        <p:spPr bwMode="auto">
          <a:xfrm>
            <a:off x="4826000" y="3302000"/>
            <a:ext cx="1295400" cy="228600"/>
          </a:xfrm>
          <a:prstGeom prst="rect">
            <a:avLst/>
          </a:prstGeom>
          <a:solidFill>
            <a:srgbClr val="BED7B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200" smtClean="0">
                <a:solidFill>
                  <a:srgbClr val="000000"/>
                </a:solidFill>
                <a:cs typeface="+mn-cs"/>
              </a:rPr>
              <a:t> 3 meses</a:t>
            </a:r>
          </a:p>
        </p:txBody>
      </p:sp>
      <p:sp>
        <p:nvSpPr>
          <p:cNvPr id="229379" name="Rectangle 1027"/>
          <p:cNvSpPr>
            <a:spLocks noChangeArrowheads="1"/>
          </p:cNvSpPr>
          <p:nvPr/>
        </p:nvSpPr>
        <p:spPr bwMode="auto">
          <a:xfrm>
            <a:off x="2057400" y="2082800"/>
            <a:ext cx="62484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29380" name="Rectangle 1028"/>
          <p:cNvSpPr>
            <a:spLocks noChangeArrowheads="1"/>
          </p:cNvSpPr>
          <p:nvPr/>
        </p:nvSpPr>
        <p:spPr bwMode="auto">
          <a:xfrm>
            <a:off x="7010400" y="2082803"/>
            <a:ext cx="1143000" cy="2489200"/>
          </a:xfrm>
          <a:prstGeom prst="rect">
            <a:avLst/>
          </a:prstGeom>
          <a:solidFill>
            <a:srgbClr val="DDDDDD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29381" name="Rectangle 1029"/>
          <p:cNvSpPr>
            <a:spLocks noChangeArrowheads="1"/>
          </p:cNvSpPr>
          <p:nvPr/>
        </p:nvSpPr>
        <p:spPr bwMode="auto">
          <a:xfrm>
            <a:off x="3352800" y="2082803"/>
            <a:ext cx="1143000" cy="2489200"/>
          </a:xfrm>
          <a:prstGeom prst="rect">
            <a:avLst/>
          </a:prstGeom>
          <a:solidFill>
            <a:srgbClr val="DDDDDD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pic>
        <p:nvPicPr>
          <p:cNvPr id="229382" name="Picture 103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0" y="34926"/>
            <a:ext cx="1174750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29383" name="Line 1031"/>
          <p:cNvSpPr>
            <a:spLocks noChangeShapeType="1"/>
          </p:cNvSpPr>
          <p:nvPr/>
        </p:nvSpPr>
        <p:spPr bwMode="auto">
          <a:xfrm>
            <a:off x="0" y="1257300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pic>
        <p:nvPicPr>
          <p:cNvPr id="229384" name="Picture 103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23"/>
          <a:stretch>
            <a:fillRect/>
          </a:stretch>
        </p:blipFill>
        <p:spPr bwMode="auto">
          <a:xfrm>
            <a:off x="7239000" y="6029327"/>
            <a:ext cx="1739900" cy="752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9385" name="Rectangle 1033"/>
          <p:cNvSpPr>
            <a:spLocks noChangeArrowheads="1"/>
          </p:cNvSpPr>
          <p:nvPr/>
        </p:nvSpPr>
        <p:spPr bwMode="auto">
          <a:xfrm>
            <a:off x="228600" y="355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pt-BR" sz="2800" smtClean="0">
                <a:solidFill>
                  <a:srgbClr val="000000"/>
                </a:solidFill>
                <a:cs typeface="+mn-cs"/>
              </a:rPr>
              <a:t>estratégia de </a:t>
            </a:r>
            <a:r>
              <a:rPr lang="pt-BR" sz="2800" b="1" smtClean="0">
                <a:solidFill>
                  <a:srgbClr val="000000"/>
                </a:solidFill>
                <a:cs typeface="+mn-cs"/>
              </a:rPr>
              <a:t>implementação</a:t>
            </a:r>
            <a:br>
              <a:rPr lang="pt-BR" sz="2800" b="1" smtClean="0">
                <a:solidFill>
                  <a:srgbClr val="000000"/>
                </a:solidFill>
                <a:cs typeface="+mn-cs"/>
              </a:rPr>
            </a:br>
            <a:r>
              <a:rPr lang="pt-BR" sz="2000" smtClean="0">
                <a:solidFill>
                  <a:srgbClr val="000000"/>
                </a:solidFill>
                <a:cs typeface="+mn-cs"/>
              </a:rPr>
              <a:t>faseamento por CDs</a:t>
            </a:r>
            <a:r>
              <a:rPr lang="pt-BR" sz="2800" smtClean="0">
                <a:solidFill>
                  <a:srgbClr val="000000"/>
                </a:solidFill>
                <a:cs typeface="+mn-cs"/>
              </a:rPr>
              <a:t> </a:t>
            </a:r>
            <a:endParaRPr lang="pt-BR" sz="14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29386" name="Rectangle 1034"/>
          <p:cNvSpPr>
            <a:spLocks noChangeArrowheads="1"/>
          </p:cNvSpPr>
          <p:nvPr/>
        </p:nvSpPr>
        <p:spPr bwMode="auto">
          <a:xfrm>
            <a:off x="5930900" y="3911600"/>
            <a:ext cx="1079500" cy="228600"/>
          </a:xfrm>
          <a:prstGeom prst="rect">
            <a:avLst/>
          </a:prstGeom>
          <a:solidFill>
            <a:srgbClr val="BED7B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200" smtClean="0">
                <a:solidFill>
                  <a:srgbClr val="000000"/>
                </a:solidFill>
                <a:cs typeface="+mn-cs"/>
              </a:rPr>
              <a:t>2 meses</a:t>
            </a:r>
          </a:p>
        </p:txBody>
      </p:sp>
      <p:sp>
        <p:nvSpPr>
          <p:cNvPr id="229387" name="Rectangle 1035"/>
          <p:cNvSpPr>
            <a:spLocks noChangeArrowheads="1"/>
          </p:cNvSpPr>
          <p:nvPr/>
        </p:nvSpPr>
        <p:spPr bwMode="auto">
          <a:xfrm>
            <a:off x="2819400" y="2692400"/>
            <a:ext cx="533400" cy="228600"/>
          </a:xfrm>
          <a:prstGeom prst="rect">
            <a:avLst/>
          </a:prstGeom>
          <a:solidFill>
            <a:srgbClr val="BED7B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800" smtClean="0">
                <a:solidFill>
                  <a:srgbClr val="000000"/>
                </a:solidFill>
                <a:cs typeface="+mn-cs"/>
              </a:rPr>
              <a:t> 1,5 mês</a:t>
            </a:r>
          </a:p>
        </p:txBody>
      </p:sp>
      <p:sp>
        <p:nvSpPr>
          <p:cNvPr id="229388" name="AutoShape 1036"/>
          <p:cNvSpPr>
            <a:spLocks noChangeArrowheads="1"/>
          </p:cNvSpPr>
          <p:nvPr/>
        </p:nvSpPr>
        <p:spPr bwMode="auto">
          <a:xfrm>
            <a:off x="2679700" y="2489200"/>
            <a:ext cx="292100" cy="304800"/>
          </a:xfrm>
          <a:prstGeom prst="diamond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I1</a:t>
            </a:r>
          </a:p>
        </p:txBody>
      </p:sp>
      <p:sp>
        <p:nvSpPr>
          <p:cNvPr id="229389" name="Rectangle 1037"/>
          <p:cNvSpPr>
            <a:spLocks noChangeArrowheads="1"/>
          </p:cNvSpPr>
          <p:nvPr/>
        </p:nvSpPr>
        <p:spPr bwMode="auto">
          <a:xfrm>
            <a:off x="457200" y="2616213"/>
            <a:ext cx="136608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CD CANOAS</a:t>
            </a:r>
          </a:p>
        </p:txBody>
      </p:sp>
      <p:sp>
        <p:nvSpPr>
          <p:cNvPr id="229390" name="Rectangle 1038"/>
          <p:cNvSpPr>
            <a:spLocks noChangeArrowheads="1"/>
          </p:cNvSpPr>
          <p:nvPr/>
        </p:nvSpPr>
        <p:spPr bwMode="auto">
          <a:xfrm>
            <a:off x="4152921" y="2082813"/>
            <a:ext cx="55656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mai</a:t>
            </a:r>
          </a:p>
        </p:txBody>
      </p:sp>
      <p:sp>
        <p:nvSpPr>
          <p:cNvPr id="229391" name="Rectangle 1039"/>
          <p:cNvSpPr>
            <a:spLocks noChangeArrowheads="1"/>
          </p:cNvSpPr>
          <p:nvPr/>
        </p:nvSpPr>
        <p:spPr bwMode="auto">
          <a:xfrm>
            <a:off x="4705350" y="2082813"/>
            <a:ext cx="51328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jun</a:t>
            </a:r>
          </a:p>
        </p:txBody>
      </p:sp>
      <p:sp>
        <p:nvSpPr>
          <p:cNvPr id="229392" name="Rectangle 1040"/>
          <p:cNvSpPr>
            <a:spLocks noChangeArrowheads="1"/>
          </p:cNvSpPr>
          <p:nvPr/>
        </p:nvSpPr>
        <p:spPr bwMode="auto">
          <a:xfrm>
            <a:off x="5216526" y="2082813"/>
            <a:ext cx="44595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jul</a:t>
            </a:r>
          </a:p>
        </p:txBody>
      </p:sp>
      <p:sp>
        <p:nvSpPr>
          <p:cNvPr id="229393" name="Rectangle 1041"/>
          <p:cNvSpPr>
            <a:spLocks noChangeArrowheads="1"/>
          </p:cNvSpPr>
          <p:nvPr/>
        </p:nvSpPr>
        <p:spPr bwMode="auto">
          <a:xfrm>
            <a:off x="5661046" y="2082813"/>
            <a:ext cx="5533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ago</a:t>
            </a:r>
          </a:p>
        </p:txBody>
      </p:sp>
      <p:sp>
        <p:nvSpPr>
          <p:cNvPr id="229394" name="Rectangle 1042"/>
          <p:cNvSpPr>
            <a:spLocks noChangeArrowheads="1"/>
          </p:cNvSpPr>
          <p:nvPr/>
        </p:nvSpPr>
        <p:spPr bwMode="auto">
          <a:xfrm>
            <a:off x="6700844" y="2082813"/>
            <a:ext cx="51809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out</a:t>
            </a:r>
          </a:p>
        </p:txBody>
      </p:sp>
      <p:sp>
        <p:nvSpPr>
          <p:cNvPr id="229395" name="Rectangle 1043"/>
          <p:cNvSpPr>
            <a:spLocks noChangeArrowheads="1"/>
          </p:cNvSpPr>
          <p:nvPr/>
        </p:nvSpPr>
        <p:spPr bwMode="auto">
          <a:xfrm>
            <a:off x="6211888" y="2082813"/>
            <a:ext cx="4908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set</a:t>
            </a:r>
          </a:p>
        </p:txBody>
      </p:sp>
      <p:sp>
        <p:nvSpPr>
          <p:cNvPr id="229396" name="Rectangle 1044"/>
          <p:cNvSpPr>
            <a:spLocks noChangeArrowheads="1"/>
          </p:cNvSpPr>
          <p:nvPr/>
        </p:nvSpPr>
        <p:spPr bwMode="auto">
          <a:xfrm>
            <a:off x="7215209" y="2082813"/>
            <a:ext cx="5533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nov</a:t>
            </a:r>
          </a:p>
        </p:txBody>
      </p:sp>
      <p:sp>
        <p:nvSpPr>
          <p:cNvPr id="229397" name="Rectangle 1045"/>
          <p:cNvSpPr>
            <a:spLocks noChangeArrowheads="1"/>
          </p:cNvSpPr>
          <p:nvPr/>
        </p:nvSpPr>
        <p:spPr bwMode="auto">
          <a:xfrm>
            <a:off x="7766051" y="2082813"/>
            <a:ext cx="53572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dez</a:t>
            </a:r>
          </a:p>
        </p:txBody>
      </p:sp>
      <p:sp>
        <p:nvSpPr>
          <p:cNvPr id="229398" name="Rectangle 1046"/>
          <p:cNvSpPr>
            <a:spLocks noChangeArrowheads="1"/>
          </p:cNvSpPr>
          <p:nvPr/>
        </p:nvSpPr>
        <p:spPr bwMode="auto">
          <a:xfrm>
            <a:off x="2057421" y="2082813"/>
            <a:ext cx="50526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jan</a:t>
            </a:r>
          </a:p>
        </p:txBody>
      </p:sp>
      <p:sp>
        <p:nvSpPr>
          <p:cNvPr id="229399" name="Rectangle 1047"/>
          <p:cNvSpPr>
            <a:spLocks noChangeArrowheads="1"/>
          </p:cNvSpPr>
          <p:nvPr/>
        </p:nvSpPr>
        <p:spPr bwMode="auto">
          <a:xfrm>
            <a:off x="2559051" y="2082813"/>
            <a:ext cx="49564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fev</a:t>
            </a:r>
          </a:p>
        </p:txBody>
      </p:sp>
      <p:sp>
        <p:nvSpPr>
          <p:cNvPr id="229400" name="Rectangle 1048"/>
          <p:cNvSpPr>
            <a:spLocks noChangeArrowheads="1"/>
          </p:cNvSpPr>
          <p:nvPr/>
        </p:nvSpPr>
        <p:spPr bwMode="auto">
          <a:xfrm>
            <a:off x="3635375" y="2082813"/>
            <a:ext cx="51969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abr</a:t>
            </a:r>
          </a:p>
        </p:txBody>
      </p:sp>
      <p:sp>
        <p:nvSpPr>
          <p:cNvPr id="229401" name="Rectangle 1049"/>
          <p:cNvSpPr>
            <a:spLocks noChangeArrowheads="1"/>
          </p:cNvSpPr>
          <p:nvPr/>
        </p:nvSpPr>
        <p:spPr bwMode="auto">
          <a:xfrm>
            <a:off x="3052764" y="2082813"/>
            <a:ext cx="58541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mar</a:t>
            </a:r>
          </a:p>
        </p:txBody>
      </p:sp>
      <p:sp>
        <p:nvSpPr>
          <p:cNvPr id="229402" name="Rectangle 1050"/>
          <p:cNvSpPr>
            <a:spLocks noChangeArrowheads="1"/>
          </p:cNvSpPr>
          <p:nvPr/>
        </p:nvSpPr>
        <p:spPr bwMode="auto">
          <a:xfrm>
            <a:off x="2057422" y="1765312"/>
            <a:ext cx="697627" cy="30777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2011</a:t>
            </a:r>
          </a:p>
        </p:txBody>
      </p:sp>
      <p:sp>
        <p:nvSpPr>
          <p:cNvPr id="229403" name="Rectangle 1051"/>
          <p:cNvSpPr>
            <a:spLocks noChangeArrowheads="1"/>
          </p:cNvSpPr>
          <p:nvPr/>
        </p:nvSpPr>
        <p:spPr bwMode="auto">
          <a:xfrm>
            <a:off x="457200" y="3225813"/>
            <a:ext cx="189186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+ CAJAMAR+PAs</a:t>
            </a:r>
          </a:p>
        </p:txBody>
      </p:sp>
      <p:sp>
        <p:nvSpPr>
          <p:cNvPr id="229404" name="AutoShape 1052"/>
          <p:cNvSpPr>
            <a:spLocks noChangeArrowheads="1"/>
          </p:cNvSpPr>
          <p:nvPr/>
        </p:nvSpPr>
        <p:spPr bwMode="auto">
          <a:xfrm>
            <a:off x="4673600" y="3200400"/>
            <a:ext cx="292100" cy="304800"/>
          </a:xfrm>
          <a:prstGeom prst="diamond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I2</a:t>
            </a:r>
          </a:p>
        </p:txBody>
      </p:sp>
      <p:sp>
        <p:nvSpPr>
          <p:cNvPr id="229405" name="Rectangle 1053"/>
          <p:cNvSpPr>
            <a:spLocks noChangeArrowheads="1"/>
          </p:cNvSpPr>
          <p:nvPr/>
        </p:nvSpPr>
        <p:spPr bwMode="auto">
          <a:xfrm>
            <a:off x="457200" y="3835413"/>
            <a:ext cx="165462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+ DEMAIS CDs</a:t>
            </a:r>
          </a:p>
        </p:txBody>
      </p:sp>
      <p:sp>
        <p:nvSpPr>
          <p:cNvPr id="229406" name="AutoShape 1054"/>
          <p:cNvSpPr>
            <a:spLocks noChangeArrowheads="1"/>
          </p:cNvSpPr>
          <p:nvPr/>
        </p:nvSpPr>
        <p:spPr bwMode="auto">
          <a:xfrm>
            <a:off x="5829300" y="3759200"/>
            <a:ext cx="292100" cy="304800"/>
          </a:xfrm>
          <a:prstGeom prst="diamond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I3</a:t>
            </a:r>
          </a:p>
        </p:txBody>
      </p:sp>
      <p:sp>
        <p:nvSpPr>
          <p:cNvPr id="229407" name="Rectangle 1055"/>
          <p:cNvSpPr>
            <a:spLocks noChangeArrowheads="1"/>
          </p:cNvSpPr>
          <p:nvPr/>
        </p:nvSpPr>
        <p:spPr bwMode="auto">
          <a:xfrm>
            <a:off x="228600" y="5359400"/>
            <a:ext cx="228600" cy="228600"/>
          </a:xfrm>
          <a:prstGeom prst="rect">
            <a:avLst/>
          </a:prstGeom>
          <a:solidFill>
            <a:srgbClr val="BED7B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29408" name="Rectangle 1056"/>
          <p:cNvSpPr>
            <a:spLocks noChangeArrowheads="1"/>
          </p:cNvSpPr>
          <p:nvPr/>
        </p:nvSpPr>
        <p:spPr bwMode="auto">
          <a:xfrm>
            <a:off x="444501" y="5334013"/>
            <a:ext cx="149592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b="1" smtClean="0">
                <a:solidFill>
                  <a:srgbClr val="000000"/>
                </a:solidFill>
                <a:cs typeface="+mn-cs"/>
              </a:rPr>
              <a:t>estabilização</a:t>
            </a:r>
          </a:p>
        </p:txBody>
      </p:sp>
    </p:spTree>
    <p:extLst>
      <p:ext uri="{BB962C8B-B14F-4D97-AF65-F5344CB8AC3E}">
        <p14:creationId xmlns:p14="http://schemas.microsoft.com/office/powerpoint/2010/main" val="634482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/>
        </p:nvSpPr>
        <p:spPr bwMode="auto">
          <a:xfrm>
            <a:off x="285814" y="2214563"/>
            <a:ext cx="3857625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80000"/>
            </a:pPr>
            <a:endParaRPr lang="pt-BR" sz="2400" dirty="0"/>
          </a:p>
          <a:p>
            <a:pPr>
              <a:buSzPct val="80000"/>
            </a:pPr>
            <a:r>
              <a:rPr lang="pt-BR" sz="2400" dirty="0" err="1" smtClean="0"/>
              <a:t>Benef</a:t>
            </a:r>
            <a:r>
              <a:rPr lang="en-US" sz="2400" dirty="0" err="1" smtClean="0"/>
              <a:t>ícios</a:t>
            </a:r>
            <a:r>
              <a:rPr lang="en-US" sz="2400" dirty="0" smtClean="0"/>
              <a:t> e </a:t>
            </a:r>
            <a:r>
              <a:rPr lang="en-US" sz="2400" dirty="0" err="1" smtClean="0"/>
              <a:t>indicadores</a:t>
            </a:r>
            <a:endParaRPr lang="en-US" sz="2400" dirty="0" smtClean="0"/>
          </a:p>
          <a:p>
            <a:pPr>
              <a:buSzPct val="80000"/>
            </a:pPr>
            <a:r>
              <a:rPr lang="en-US" sz="2400" dirty="0" smtClean="0"/>
              <a:t>P1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436307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Text Box 2"/>
          <p:cNvSpPr txBox="1">
            <a:spLocks noChangeArrowheads="1"/>
          </p:cNvSpPr>
          <p:nvPr/>
        </p:nvSpPr>
        <p:spPr bwMode="auto">
          <a:xfrm>
            <a:off x="1403350" y="5648326"/>
            <a:ext cx="7740650" cy="6477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sz="1400" b="1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61123" name="Text Box 3"/>
          <p:cNvSpPr txBox="1">
            <a:spLocks noChangeArrowheads="1"/>
          </p:cNvSpPr>
          <p:nvPr/>
        </p:nvSpPr>
        <p:spPr bwMode="auto">
          <a:xfrm>
            <a:off x="1403350" y="2349513"/>
            <a:ext cx="7740650" cy="995363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sz="1400" b="1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61124" name="Text Box 4"/>
          <p:cNvSpPr txBox="1">
            <a:spLocks noChangeArrowheads="1"/>
          </p:cNvSpPr>
          <p:nvPr/>
        </p:nvSpPr>
        <p:spPr bwMode="auto">
          <a:xfrm>
            <a:off x="1403350" y="3473450"/>
            <a:ext cx="7740650" cy="20574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sz="1400" b="1" smtClean="0">
              <a:solidFill>
                <a:srgbClr val="000000"/>
              </a:solidFill>
              <a:cs typeface="+mn-cs"/>
            </a:endParaRPr>
          </a:p>
        </p:txBody>
      </p:sp>
      <p:pic>
        <p:nvPicPr>
          <p:cNvPr id="2611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0" y="34926"/>
            <a:ext cx="1174750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61126" name="Line 6"/>
          <p:cNvSpPr>
            <a:spLocks noChangeShapeType="1"/>
          </p:cNvSpPr>
          <p:nvPr/>
        </p:nvSpPr>
        <p:spPr bwMode="auto">
          <a:xfrm>
            <a:off x="0" y="1257300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61127" name="Rectangle 7"/>
          <p:cNvSpPr>
            <a:spLocks noChangeArrowheads="1"/>
          </p:cNvSpPr>
          <p:nvPr/>
        </p:nvSpPr>
        <p:spPr bwMode="auto">
          <a:xfrm>
            <a:off x="228600" y="355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pt-BR" sz="2800" smtClean="0">
                <a:solidFill>
                  <a:srgbClr val="000000"/>
                </a:solidFill>
                <a:cs typeface="+mn-cs"/>
              </a:rPr>
              <a:t>Benefícios e indicadores</a:t>
            </a:r>
            <a:br>
              <a:rPr lang="pt-BR" sz="2800" smtClean="0">
                <a:solidFill>
                  <a:srgbClr val="000000"/>
                </a:solidFill>
                <a:cs typeface="+mn-cs"/>
              </a:rPr>
            </a:br>
            <a:r>
              <a:rPr lang="pt-BR" sz="2000" smtClean="0">
                <a:solidFill>
                  <a:srgbClr val="000000"/>
                </a:solidFill>
                <a:cs typeface="+mn-cs"/>
              </a:rPr>
              <a:t>projetos incorporados (R$, anuais)</a:t>
            </a:r>
            <a:r>
              <a:rPr lang="pt-BR" sz="2800" smtClean="0">
                <a:solidFill>
                  <a:srgbClr val="000000"/>
                </a:solidFill>
                <a:cs typeface="+mn-cs"/>
              </a:rPr>
              <a:t> </a:t>
            </a:r>
          </a:p>
        </p:txBody>
      </p:sp>
      <p:sp>
        <p:nvSpPr>
          <p:cNvPr id="261128" name="Text Box 8"/>
          <p:cNvSpPr txBox="1">
            <a:spLocks noChangeArrowheads="1"/>
          </p:cNvSpPr>
          <p:nvPr/>
        </p:nvSpPr>
        <p:spPr bwMode="auto">
          <a:xfrm>
            <a:off x="2124075" y="1628777"/>
            <a:ext cx="17287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pt-BR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Diretos</a:t>
            </a:r>
          </a:p>
          <a:p>
            <a:pPr algn="ctr"/>
            <a:r>
              <a:rPr lang="pt-BR" sz="1400" b="1" smtClean="0">
                <a:solidFill>
                  <a:srgbClr val="000000"/>
                </a:solidFill>
                <a:cs typeface="+mn-cs"/>
              </a:rPr>
              <a:t>(garantidos)</a:t>
            </a:r>
          </a:p>
        </p:txBody>
      </p:sp>
      <p:sp>
        <p:nvSpPr>
          <p:cNvPr id="261129" name="Text Box 9"/>
          <p:cNvSpPr txBox="1">
            <a:spLocks noChangeArrowheads="1"/>
          </p:cNvSpPr>
          <p:nvPr/>
        </p:nvSpPr>
        <p:spPr bwMode="auto">
          <a:xfrm>
            <a:off x="1547813" y="2420952"/>
            <a:ext cx="3744912" cy="2505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  <a:buFontTx/>
              <a:buChar char="•"/>
            </a:pPr>
            <a:r>
              <a:rPr lang="pt-BR" sz="1600" smtClean="0">
                <a:solidFill>
                  <a:srgbClr val="000000"/>
                </a:solidFill>
                <a:cs typeface="+mn-cs"/>
              </a:rPr>
              <a:t> INA Erro Zero* (6,8MM) </a:t>
            </a:r>
          </a:p>
          <a:p>
            <a:pPr>
              <a:lnSpc>
                <a:spcPct val="140000"/>
              </a:lnSpc>
              <a:buFontTx/>
              <a:buChar char="•"/>
            </a:pPr>
            <a:endParaRPr lang="pt-BR" sz="1600" smtClean="0">
              <a:solidFill>
                <a:srgbClr val="000000"/>
              </a:solidFill>
              <a:cs typeface="+mn-cs"/>
            </a:endParaRPr>
          </a:p>
          <a:p>
            <a:pPr>
              <a:lnSpc>
                <a:spcPct val="140000"/>
              </a:lnSpc>
              <a:buFontTx/>
              <a:buChar char="•"/>
            </a:pPr>
            <a:endParaRPr lang="pt-BR" sz="1600" smtClean="0">
              <a:solidFill>
                <a:srgbClr val="000000"/>
              </a:solidFill>
              <a:cs typeface="+mn-cs"/>
            </a:endParaRPr>
          </a:p>
          <a:p>
            <a:pPr>
              <a:lnSpc>
                <a:spcPct val="140000"/>
              </a:lnSpc>
              <a:buFontTx/>
              <a:buChar char="•"/>
            </a:pPr>
            <a:r>
              <a:rPr lang="pt-BR" sz="1600" smtClean="0">
                <a:solidFill>
                  <a:srgbClr val="000000"/>
                </a:solidFill>
                <a:cs typeface="+mn-cs"/>
              </a:rPr>
              <a:t> INA Erro Zero* (0,26MM)</a:t>
            </a:r>
          </a:p>
          <a:p>
            <a:pPr>
              <a:lnSpc>
                <a:spcPct val="140000"/>
              </a:lnSpc>
              <a:buFontTx/>
              <a:buChar char="•"/>
            </a:pPr>
            <a:r>
              <a:rPr lang="pt-BR" sz="1600" smtClean="0">
                <a:solidFill>
                  <a:srgbClr val="000000"/>
                </a:solidFill>
                <a:cs typeface="+mn-cs"/>
              </a:rPr>
              <a:t> Redução Custos e Custos Evitados em TI (1,9MM)</a:t>
            </a:r>
          </a:p>
          <a:p>
            <a:pPr>
              <a:lnSpc>
                <a:spcPct val="140000"/>
              </a:lnSpc>
              <a:buFontTx/>
              <a:buChar char="•"/>
            </a:pPr>
            <a:endParaRPr lang="pt-BR" sz="16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61130" name="Text Box 10"/>
          <p:cNvSpPr txBox="1">
            <a:spLocks noChangeArrowheads="1"/>
          </p:cNvSpPr>
          <p:nvPr/>
        </p:nvSpPr>
        <p:spPr bwMode="auto">
          <a:xfrm>
            <a:off x="5795963" y="1628777"/>
            <a:ext cx="18716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pt-BR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+mn-cs"/>
              </a:rPr>
              <a:t>Indiretos</a:t>
            </a:r>
          </a:p>
          <a:p>
            <a:pPr algn="ctr"/>
            <a:r>
              <a:rPr lang="pt-BR" sz="1400" b="1" smtClean="0">
                <a:solidFill>
                  <a:srgbClr val="000000"/>
                </a:solidFill>
                <a:cs typeface="+mn-cs"/>
              </a:rPr>
              <a:t>(viabilizados)</a:t>
            </a:r>
          </a:p>
        </p:txBody>
      </p:sp>
      <p:sp>
        <p:nvSpPr>
          <p:cNvPr id="261131" name="Text Box 11"/>
          <p:cNvSpPr txBox="1">
            <a:spLocks noChangeArrowheads="1"/>
          </p:cNvSpPr>
          <p:nvPr/>
        </p:nvSpPr>
        <p:spPr bwMode="auto">
          <a:xfrm>
            <a:off x="4716463" y="2349500"/>
            <a:ext cx="4464050" cy="3933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  <a:buFontTx/>
              <a:buChar char="•"/>
            </a:pPr>
            <a:r>
              <a:rPr lang="pt-BR" sz="1600" smtClean="0">
                <a:solidFill>
                  <a:srgbClr val="000000"/>
                </a:solidFill>
                <a:cs typeface="+mn-cs"/>
              </a:rPr>
              <a:t> Segmentação CN (9,47MM)</a:t>
            </a:r>
          </a:p>
          <a:p>
            <a:pPr>
              <a:lnSpc>
                <a:spcPct val="140000"/>
              </a:lnSpc>
              <a:buFontTx/>
              <a:buChar char="•"/>
            </a:pPr>
            <a:r>
              <a:rPr lang="pt-BR" sz="1600" smtClean="0">
                <a:solidFill>
                  <a:srgbClr val="000000"/>
                </a:solidFill>
                <a:cs typeface="+mn-cs"/>
              </a:rPr>
              <a:t> Entrega Expressa (5,40MM)</a:t>
            </a:r>
          </a:p>
          <a:p>
            <a:pPr>
              <a:lnSpc>
                <a:spcPct val="140000"/>
              </a:lnSpc>
              <a:buFontTx/>
              <a:buChar char="•"/>
            </a:pPr>
            <a:endParaRPr lang="pt-BR" sz="1600" smtClean="0">
              <a:solidFill>
                <a:srgbClr val="000000"/>
              </a:solidFill>
              <a:cs typeface="+mn-cs"/>
            </a:endParaRPr>
          </a:p>
          <a:p>
            <a:pPr>
              <a:lnSpc>
                <a:spcPct val="140000"/>
              </a:lnSpc>
              <a:buFontTx/>
              <a:buChar char="•"/>
            </a:pPr>
            <a:r>
              <a:rPr lang="pt-BR" sz="1600" smtClean="0">
                <a:solidFill>
                  <a:srgbClr val="000000"/>
                </a:solidFill>
                <a:cs typeface="+mn-cs"/>
              </a:rPr>
              <a:t> Desconcentração de Ciclos por Setor     (6,27MM)</a:t>
            </a:r>
          </a:p>
          <a:p>
            <a:pPr>
              <a:lnSpc>
                <a:spcPct val="140000"/>
              </a:lnSpc>
              <a:buFontTx/>
              <a:buChar char="•"/>
            </a:pPr>
            <a:r>
              <a:rPr lang="pt-BR" sz="1600" smtClean="0">
                <a:solidFill>
                  <a:srgbClr val="000000"/>
                </a:solidFill>
                <a:cs typeface="+mn-cs"/>
              </a:rPr>
              <a:t> Entrega de Pedidos Leves (5,00MM)</a:t>
            </a:r>
          </a:p>
          <a:p>
            <a:pPr>
              <a:lnSpc>
                <a:spcPct val="140000"/>
              </a:lnSpc>
              <a:buFontTx/>
              <a:buChar char="•"/>
            </a:pPr>
            <a:r>
              <a:rPr lang="pt-BR" sz="1600" smtClean="0">
                <a:solidFill>
                  <a:srgbClr val="000000"/>
                </a:solidFill>
                <a:cs typeface="+mn-cs"/>
              </a:rPr>
              <a:t> Pontos de Retira (8,60MM)</a:t>
            </a:r>
          </a:p>
          <a:p>
            <a:pPr>
              <a:lnSpc>
                <a:spcPct val="140000"/>
              </a:lnSpc>
              <a:buFontTx/>
              <a:buChar char="•"/>
            </a:pPr>
            <a:r>
              <a:rPr lang="pt-BR" sz="1600" smtClean="0">
                <a:solidFill>
                  <a:srgbClr val="000000"/>
                </a:solidFill>
                <a:cs typeface="+mn-cs"/>
              </a:rPr>
              <a:t> Novos Tamanhos de Embalagens </a:t>
            </a:r>
          </a:p>
          <a:p>
            <a:r>
              <a:rPr lang="pt-BR" sz="1600" smtClean="0">
                <a:solidFill>
                  <a:srgbClr val="000000"/>
                </a:solidFill>
                <a:cs typeface="+mn-cs"/>
              </a:rPr>
              <a:t>(15,00MM)</a:t>
            </a:r>
          </a:p>
          <a:p>
            <a:pPr>
              <a:lnSpc>
                <a:spcPct val="140000"/>
              </a:lnSpc>
              <a:buFontTx/>
              <a:buChar char="•"/>
            </a:pPr>
            <a:endParaRPr lang="pt-BR" sz="1600" smtClean="0">
              <a:solidFill>
                <a:srgbClr val="000000"/>
              </a:solidFill>
              <a:cs typeface="+mn-cs"/>
            </a:endParaRPr>
          </a:p>
          <a:p>
            <a:pPr>
              <a:buFontTx/>
              <a:buChar char="•"/>
            </a:pPr>
            <a:r>
              <a:rPr lang="pt-BR" sz="1600" smtClean="0">
                <a:solidFill>
                  <a:srgbClr val="000000"/>
                </a:solidFill>
                <a:cs typeface="+mn-cs"/>
              </a:rPr>
              <a:t> Auditoria: atendimento a 2 pontos R4, 10 pontos R3 e 7 pontos R2</a:t>
            </a:r>
          </a:p>
        </p:txBody>
      </p:sp>
      <p:sp>
        <p:nvSpPr>
          <p:cNvPr id="261132" name="Text Box 12"/>
          <p:cNvSpPr txBox="1">
            <a:spLocks noChangeArrowheads="1"/>
          </p:cNvSpPr>
          <p:nvPr/>
        </p:nvSpPr>
        <p:spPr bwMode="auto">
          <a:xfrm>
            <a:off x="52388" y="2349513"/>
            <a:ext cx="1350962" cy="9953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400" b="1" smtClean="0">
                <a:solidFill>
                  <a:srgbClr val="000000"/>
                </a:solidFill>
                <a:cs typeface="+mn-cs"/>
              </a:rPr>
              <a:t>Aumento</a:t>
            </a:r>
          </a:p>
          <a:p>
            <a:pPr algn="ctr"/>
            <a:r>
              <a:rPr lang="pt-BR" sz="1400" b="1" smtClean="0">
                <a:solidFill>
                  <a:srgbClr val="000000"/>
                </a:solidFill>
                <a:cs typeface="+mn-cs"/>
              </a:rPr>
              <a:t>de Receita</a:t>
            </a:r>
          </a:p>
          <a:p>
            <a:pPr algn="ctr"/>
            <a:r>
              <a:rPr lang="pt-BR" sz="1400" b="1" smtClean="0">
                <a:solidFill>
                  <a:srgbClr val="000000"/>
                </a:solidFill>
                <a:cs typeface="+mn-cs"/>
              </a:rPr>
              <a:t>(21,7MM)</a:t>
            </a:r>
          </a:p>
          <a:p>
            <a:pPr algn="ctr"/>
            <a:r>
              <a:rPr lang="pt-BR" sz="1200" smtClean="0">
                <a:solidFill>
                  <a:srgbClr val="000000"/>
                </a:solidFill>
                <a:cs typeface="+mn-cs"/>
              </a:rPr>
              <a:t>(Lucro: 8,7MM)</a:t>
            </a:r>
          </a:p>
        </p:txBody>
      </p:sp>
      <p:sp>
        <p:nvSpPr>
          <p:cNvPr id="261133" name="Text Box 13"/>
          <p:cNvSpPr txBox="1">
            <a:spLocks noChangeArrowheads="1"/>
          </p:cNvSpPr>
          <p:nvPr/>
        </p:nvSpPr>
        <p:spPr bwMode="auto">
          <a:xfrm>
            <a:off x="52388" y="3473450"/>
            <a:ext cx="1350962" cy="20574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400" b="1" smtClean="0">
                <a:solidFill>
                  <a:srgbClr val="000000"/>
                </a:solidFill>
                <a:cs typeface="+mn-cs"/>
              </a:rPr>
              <a:t>Redução</a:t>
            </a:r>
          </a:p>
          <a:p>
            <a:pPr algn="ctr"/>
            <a:r>
              <a:rPr lang="pt-BR" sz="1400" b="1" smtClean="0">
                <a:solidFill>
                  <a:srgbClr val="000000"/>
                </a:solidFill>
                <a:cs typeface="+mn-cs"/>
              </a:rPr>
              <a:t>de Custo</a:t>
            </a:r>
          </a:p>
          <a:p>
            <a:pPr algn="ctr"/>
            <a:r>
              <a:rPr lang="pt-BR" sz="1400" b="1" smtClean="0">
                <a:solidFill>
                  <a:srgbClr val="000000"/>
                </a:solidFill>
                <a:cs typeface="+mn-cs"/>
              </a:rPr>
              <a:t>(25,0MM)</a:t>
            </a:r>
          </a:p>
        </p:txBody>
      </p:sp>
      <p:sp>
        <p:nvSpPr>
          <p:cNvPr id="261134" name="Text Box 14"/>
          <p:cNvSpPr txBox="1">
            <a:spLocks noChangeArrowheads="1"/>
          </p:cNvSpPr>
          <p:nvPr/>
        </p:nvSpPr>
        <p:spPr bwMode="auto">
          <a:xfrm>
            <a:off x="52388" y="5648326"/>
            <a:ext cx="1350962" cy="6477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pt-BR" sz="1400" b="1" smtClean="0">
                <a:solidFill>
                  <a:srgbClr val="000000"/>
                </a:solidFill>
                <a:cs typeface="+mn-cs"/>
              </a:rPr>
              <a:t>Auditoria</a:t>
            </a:r>
          </a:p>
        </p:txBody>
      </p:sp>
      <p:sp>
        <p:nvSpPr>
          <p:cNvPr id="261135" name="Rectangle 15"/>
          <p:cNvSpPr>
            <a:spLocks noChangeArrowheads="1"/>
          </p:cNvSpPr>
          <p:nvPr/>
        </p:nvSpPr>
        <p:spPr bwMode="auto">
          <a:xfrm>
            <a:off x="101601" y="6540513"/>
            <a:ext cx="403668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1400" smtClean="0">
                <a:solidFill>
                  <a:srgbClr val="000000"/>
                </a:solidFill>
                <a:cs typeface="+mn-cs"/>
              </a:rPr>
              <a:t>* Projeto apresenta dois tipos de benefício</a:t>
            </a:r>
          </a:p>
        </p:txBody>
      </p:sp>
    </p:spTree>
    <p:extLst>
      <p:ext uri="{BB962C8B-B14F-4D97-AF65-F5344CB8AC3E}">
        <p14:creationId xmlns:p14="http://schemas.microsoft.com/office/powerpoint/2010/main" val="1049669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2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0" y="34926"/>
            <a:ext cx="1174750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83299" name="Line 3"/>
          <p:cNvSpPr>
            <a:spLocks noChangeShapeType="1"/>
          </p:cNvSpPr>
          <p:nvPr/>
        </p:nvSpPr>
        <p:spPr bwMode="auto">
          <a:xfrm>
            <a:off x="0" y="1257300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83300" name="Rectangle 4"/>
          <p:cNvSpPr>
            <a:spLocks noChangeArrowheads="1"/>
          </p:cNvSpPr>
          <p:nvPr/>
        </p:nvSpPr>
        <p:spPr bwMode="auto">
          <a:xfrm>
            <a:off x="228600" y="3810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pt-BR" sz="2800" smtClean="0">
                <a:solidFill>
                  <a:srgbClr val="000000"/>
                </a:solidFill>
                <a:cs typeface="+mn-cs"/>
              </a:rPr>
              <a:t>Benefícios e indicadores </a:t>
            </a:r>
            <a:br>
              <a:rPr lang="pt-BR" sz="2800" smtClean="0">
                <a:solidFill>
                  <a:srgbClr val="000000"/>
                </a:solidFill>
                <a:cs typeface="+mn-cs"/>
              </a:rPr>
            </a:br>
            <a:endParaRPr lang="pt-BR" sz="2800" smtClean="0">
              <a:solidFill>
                <a:srgbClr val="000000"/>
              </a:solidFill>
              <a:cs typeface="+mn-cs"/>
            </a:endParaRPr>
          </a:p>
        </p:txBody>
      </p:sp>
      <p:pic>
        <p:nvPicPr>
          <p:cNvPr id="1833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23"/>
          <a:stretch>
            <a:fillRect/>
          </a:stretch>
        </p:blipFill>
        <p:spPr bwMode="auto">
          <a:xfrm>
            <a:off x="7315200" y="6067427"/>
            <a:ext cx="1739900" cy="752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3302" name="Rectangle 6"/>
          <p:cNvSpPr>
            <a:spLocks noChangeArrowheads="1"/>
          </p:cNvSpPr>
          <p:nvPr/>
        </p:nvSpPr>
        <p:spPr bwMode="auto">
          <a:xfrm>
            <a:off x="114300" y="1536700"/>
            <a:ext cx="89154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2B2B2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tIns="44450" rIns="45720" bIns="44450"/>
          <a:lstStyle/>
          <a:p>
            <a:pPr algn="just">
              <a:spcBef>
                <a:spcPct val="65000"/>
              </a:spcBef>
              <a:buClr>
                <a:srgbClr val="000000"/>
              </a:buClr>
              <a:buSzPct val="80000"/>
              <a:buFontTx/>
              <a:buChar char="-"/>
            </a:pP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 Viabilizar </a:t>
            </a:r>
            <a:r>
              <a:rPr lang="pt-BR" sz="1600" b="1" smtClean="0">
                <a:solidFill>
                  <a:srgbClr val="000000"/>
                </a:solidFill>
                <a:cs typeface="Times New Roman" pitchFamily="18" charset="0"/>
              </a:rPr>
              <a:t>redução do custo do pedido</a:t>
            </a: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 de R$ 26 (2010) para R$ 19,87 em 2012</a:t>
            </a:r>
          </a:p>
          <a:p>
            <a:pPr algn="just">
              <a:spcBef>
                <a:spcPct val="65000"/>
              </a:spcBef>
              <a:buClr>
                <a:srgbClr val="000000"/>
              </a:buClr>
              <a:buSzPct val="80000"/>
              <a:buFontTx/>
              <a:buChar char="-"/>
            </a:pP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 Viabilizar </a:t>
            </a:r>
            <a:r>
              <a:rPr lang="pt-BR" sz="1600" b="1" smtClean="0">
                <a:solidFill>
                  <a:srgbClr val="000000"/>
                </a:solidFill>
                <a:cs typeface="Times New Roman" pitchFamily="18" charset="0"/>
              </a:rPr>
              <a:t>redução do índice de notificação de consultoras</a:t>
            </a: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 (NC) de 1% (2010) para 0,5% (2011)</a:t>
            </a:r>
          </a:p>
          <a:p>
            <a:pPr algn="just">
              <a:spcBef>
                <a:spcPct val="65000"/>
              </a:spcBef>
              <a:buClr>
                <a:srgbClr val="000000"/>
              </a:buClr>
              <a:buSzPct val="80000"/>
              <a:buFontTx/>
              <a:buChar char="-"/>
            </a:pP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 Contribuir para </a:t>
            </a:r>
            <a:r>
              <a:rPr lang="pt-BR" sz="1600" b="1" smtClean="0">
                <a:solidFill>
                  <a:srgbClr val="000000"/>
                </a:solidFill>
                <a:cs typeface="Times New Roman" pitchFamily="18" charset="0"/>
              </a:rPr>
              <a:t>redução do ciclo do consumidor</a:t>
            </a: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 via entrega expressa e entrega direta ao consumidor </a:t>
            </a:r>
          </a:p>
          <a:p>
            <a:pPr algn="just">
              <a:spcBef>
                <a:spcPct val="65000"/>
              </a:spcBef>
              <a:buClr>
                <a:srgbClr val="000000"/>
              </a:buClr>
              <a:buSzPct val="80000"/>
              <a:buFontTx/>
              <a:buChar char="-"/>
            </a:pP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 Garantir </a:t>
            </a:r>
            <a:r>
              <a:rPr lang="pt-BR" sz="1600" b="1" smtClean="0">
                <a:solidFill>
                  <a:srgbClr val="000000"/>
                </a:solidFill>
                <a:cs typeface="Times New Roman" pitchFamily="18" charset="0"/>
              </a:rPr>
              <a:t>robustez</a:t>
            </a: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: estabilidade e escalabilidade para o crescimento da Natura </a:t>
            </a:r>
          </a:p>
          <a:p>
            <a:pPr algn="just">
              <a:spcBef>
                <a:spcPct val="65000"/>
              </a:spcBef>
              <a:buClr>
                <a:srgbClr val="000000"/>
              </a:buClr>
              <a:buSzPct val="80000"/>
              <a:buFontTx/>
              <a:buChar char="-"/>
            </a:pP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 Segurança/controle: atendimento a pontos de </a:t>
            </a:r>
            <a:r>
              <a:rPr lang="pt-BR" sz="1600" b="1" smtClean="0">
                <a:solidFill>
                  <a:srgbClr val="000000"/>
                </a:solidFill>
                <a:cs typeface="Times New Roman" pitchFamily="18" charset="0"/>
              </a:rPr>
              <a:t>auditoria </a:t>
            </a: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e</a:t>
            </a:r>
            <a:r>
              <a:rPr lang="pt-BR" sz="1600" b="1" smtClean="0">
                <a:solidFill>
                  <a:srgbClr val="000000"/>
                </a:solidFill>
                <a:cs typeface="Times New Roman" pitchFamily="18" charset="0"/>
              </a:rPr>
              <a:t> SOx</a:t>
            </a:r>
          </a:p>
          <a:p>
            <a:pPr algn="just">
              <a:spcBef>
                <a:spcPct val="65000"/>
              </a:spcBef>
              <a:buClr>
                <a:srgbClr val="000000"/>
              </a:buClr>
              <a:buSzPct val="80000"/>
              <a:buFontTx/>
              <a:buChar char="-"/>
            </a:pP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pt-BR" sz="1600" b="1" smtClean="0">
                <a:solidFill>
                  <a:srgbClr val="000000"/>
                </a:solidFill>
                <a:cs typeface="Times New Roman" pitchFamily="18" charset="0"/>
              </a:rPr>
              <a:t>Integração</a:t>
            </a: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: rastreabilidade do processo do ciclo do pedido</a:t>
            </a:r>
          </a:p>
          <a:p>
            <a:pPr algn="just">
              <a:spcBef>
                <a:spcPct val="65000"/>
              </a:spcBef>
              <a:buClr>
                <a:srgbClr val="000000"/>
              </a:buClr>
              <a:buSzPct val="80000"/>
              <a:buFontTx/>
              <a:buChar char="-"/>
            </a:pP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 Agilizar tomada de decisões com apoio de </a:t>
            </a:r>
            <a:r>
              <a:rPr lang="pt-BR" sz="1600" b="1" smtClean="0">
                <a:solidFill>
                  <a:srgbClr val="000000"/>
                </a:solidFill>
                <a:cs typeface="Times New Roman" pitchFamily="18" charset="0"/>
              </a:rPr>
              <a:t>informações consistentes e confiáveis </a:t>
            </a:r>
          </a:p>
          <a:p>
            <a:pPr algn="just">
              <a:spcBef>
                <a:spcPct val="65000"/>
              </a:spcBef>
              <a:buClr>
                <a:srgbClr val="000000"/>
              </a:buClr>
              <a:buSzPct val="80000"/>
              <a:buFontTx/>
              <a:buChar char="-"/>
            </a:pP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 Aumentar </a:t>
            </a:r>
            <a:r>
              <a:rPr lang="pt-BR" sz="1600" b="1" smtClean="0">
                <a:solidFill>
                  <a:srgbClr val="000000"/>
                </a:solidFill>
                <a:cs typeface="Times New Roman" pitchFamily="18" charset="0"/>
              </a:rPr>
              <a:t>flexibilidade</a:t>
            </a: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 na plataforma de sistemas: regionalização, segmentação</a:t>
            </a:r>
          </a:p>
          <a:p>
            <a:pPr algn="just">
              <a:spcBef>
                <a:spcPct val="65000"/>
              </a:spcBef>
              <a:buClr>
                <a:srgbClr val="000000"/>
              </a:buClr>
              <a:buSzPct val="80000"/>
              <a:buFontTx/>
              <a:buChar char="-"/>
            </a:pP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 Aumentar </a:t>
            </a:r>
            <a:r>
              <a:rPr lang="pt-BR" sz="1600" b="1" smtClean="0">
                <a:solidFill>
                  <a:srgbClr val="000000"/>
                </a:solidFill>
                <a:cs typeface="Times New Roman" pitchFamily="18" charset="0"/>
              </a:rPr>
              <a:t>competitividade em contratos de TI</a:t>
            </a:r>
            <a:r>
              <a:rPr lang="pt-BR" sz="1600" smtClean="0">
                <a:solidFill>
                  <a:srgbClr val="000000"/>
                </a:solidFill>
                <a:cs typeface="Times New Roman" pitchFamily="18" charset="0"/>
              </a:rPr>
              <a:t>, reduzindo os custos de  manutenção/evolução</a:t>
            </a:r>
          </a:p>
          <a:p>
            <a:pPr algn="just">
              <a:spcBef>
                <a:spcPct val="65000"/>
              </a:spcBef>
              <a:buClr>
                <a:srgbClr val="000000"/>
              </a:buClr>
              <a:buSzPct val="80000"/>
              <a:buFontTx/>
              <a:buChar char="-"/>
            </a:pPr>
            <a:endParaRPr lang="pt-BR" sz="1600" smtClean="0">
              <a:solidFill>
                <a:srgbClr val="000000"/>
              </a:solidFill>
              <a:cs typeface="Times New Roman" pitchFamily="18" charset="0"/>
            </a:endParaRPr>
          </a:p>
          <a:p>
            <a:pPr marL="190500" lvl="1">
              <a:spcBef>
                <a:spcPct val="65000"/>
              </a:spcBef>
              <a:buClr>
                <a:srgbClr val="000000"/>
              </a:buClr>
              <a:buSzPct val="80000"/>
              <a:buFont typeface="Wingdings" pitchFamily="2" charset="2"/>
              <a:buNone/>
            </a:pPr>
            <a:endParaRPr lang="pt-BR" sz="1400" smtClean="0">
              <a:solidFill>
                <a:srgbClr val="000000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93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463" name="Picture 3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0" y="34926"/>
            <a:ext cx="1174750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31464" name="Line 40"/>
          <p:cNvSpPr>
            <a:spLocks noChangeShapeType="1"/>
          </p:cNvSpPr>
          <p:nvPr/>
        </p:nvSpPr>
        <p:spPr bwMode="auto">
          <a:xfrm>
            <a:off x="0" y="1257300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1465" name="Rectangle 41"/>
          <p:cNvSpPr>
            <a:spLocks noChangeArrowheads="1"/>
          </p:cNvSpPr>
          <p:nvPr/>
        </p:nvSpPr>
        <p:spPr bwMode="auto">
          <a:xfrm>
            <a:off x="228600" y="3810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pt-BR" sz="2800" smtClean="0">
                <a:solidFill>
                  <a:srgbClr val="000000"/>
                </a:solidFill>
                <a:cs typeface="+mn-cs"/>
              </a:rPr>
              <a:t>Benefícios e indicadores</a:t>
            </a:r>
            <a:br>
              <a:rPr lang="pt-BR" sz="2800" smtClean="0">
                <a:solidFill>
                  <a:srgbClr val="000000"/>
                </a:solidFill>
                <a:cs typeface="+mn-cs"/>
              </a:rPr>
            </a:br>
            <a:r>
              <a:rPr lang="pt-BR" sz="2000" b="1" smtClean="0">
                <a:solidFill>
                  <a:srgbClr val="000000"/>
                </a:solidFill>
                <a:cs typeface="+mn-cs"/>
              </a:rPr>
              <a:t>componentes de avaliação do projeto</a:t>
            </a:r>
          </a:p>
        </p:txBody>
      </p:sp>
      <p:sp>
        <p:nvSpPr>
          <p:cNvPr id="231482" name="Rectangle 58"/>
          <p:cNvSpPr>
            <a:spLocks noChangeArrowheads="1"/>
          </p:cNvSpPr>
          <p:nvPr/>
        </p:nvSpPr>
        <p:spPr bwMode="auto">
          <a:xfrm>
            <a:off x="990608" y="1981204"/>
            <a:ext cx="7350125" cy="4457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923" tIns="12504" rIns="4923" bIns="12504">
            <a:spAutoFit/>
          </a:bodyPr>
          <a:lstStyle/>
          <a:p>
            <a:pPr lvl="1" eaLnBrk="0" hangingPunct="0"/>
            <a:r>
              <a:rPr lang="en-US" sz="2400" b="1" smtClean="0">
                <a:solidFill>
                  <a:srgbClr val="808080"/>
                </a:solidFill>
                <a:cs typeface="+mn-cs"/>
              </a:rPr>
              <a:t>			</a:t>
            </a:r>
          </a:p>
          <a:p>
            <a:pPr eaLnBrk="0" hangingPunct="0"/>
            <a:r>
              <a:rPr lang="en-US" sz="2400" b="1" smtClean="0">
                <a:solidFill>
                  <a:srgbClr val="808080"/>
                </a:solidFill>
                <a:cs typeface="+mn-cs"/>
              </a:rPr>
              <a:t>Benefícios 		   60%</a:t>
            </a:r>
          </a:p>
          <a:p>
            <a:pPr eaLnBrk="0" hangingPunct="0"/>
            <a:endParaRPr lang="en-US" sz="2400" b="1" smtClean="0">
              <a:solidFill>
                <a:srgbClr val="808080"/>
              </a:solidFill>
              <a:cs typeface="+mn-cs"/>
            </a:endParaRPr>
          </a:p>
          <a:p>
            <a:pPr eaLnBrk="0" hangingPunct="0"/>
            <a:r>
              <a:rPr lang="en-US" sz="2400" b="1" smtClean="0">
                <a:solidFill>
                  <a:srgbClr val="808080"/>
                </a:solidFill>
                <a:cs typeface="+mn-cs"/>
              </a:rPr>
              <a:t>Qualidade de TI	            20%</a:t>
            </a:r>
          </a:p>
          <a:p>
            <a:pPr eaLnBrk="0" hangingPunct="0"/>
            <a:endParaRPr lang="en-US" sz="2400" b="1" smtClean="0">
              <a:solidFill>
                <a:srgbClr val="808080"/>
              </a:solidFill>
              <a:cs typeface="+mn-cs"/>
            </a:endParaRPr>
          </a:p>
          <a:p>
            <a:pPr eaLnBrk="0" hangingPunct="0"/>
            <a:r>
              <a:rPr lang="en-US" sz="2400" b="1" smtClean="0">
                <a:solidFill>
                  <a:srgbClr val="808080"/>
                </a:solidFill>
                <a:cs typeface="+mn-cs"/>
              </a:rPr>
              <a:t>Prazo 			   10%</a:t>
            </a:r>
          </a:p>
          <a:p>
            <a:pPr eaLnBrk="0" hangingPunct="0"/>
            <a:endParaRPr lang="en-US" sz="2400" b="1" smtClean="0">
              <a:solidFill>
                <a:srgbClr val="808080"/>
              </a:solidFill>
              <a:cs typeface="+mn-cs"/>
            </a:endParaRPr>
          </a:p>
          <a:p>
            <a:pPr eaLnBrk="0" hangingPunct="0"/>
            <a:r>
              <a:rPr lang="en-US" sz="2400" b="1" smtClean="0">
                <a:solidFill>
                  <a:srgbClr val="808080"/>
                </a:solidFill>
                <a:cs typeface="+mn-cs"/>
              </a:rPr>
              <a:t>Custo 			   10%</a:t>
            </a:r>
          </a:p>
          <a:p>
            <a:pPr eaLnBrk="0" hangingPunct="0"/>
            <a:endParaRPr lang="en-US" sz="2400" b="1" smtClean="0">
              <a:solidFill>
                <a:srgbClr val="808080"/>
              </a:solidFill>
              <a:cs typeface="+mn-cs"/>
            </a:endParaRPr>
          </a:p>
          <a:p>
            <a:pPr eaLnBrk="0" hangingPunct="0"/>
            <a:endParaRPr lang="en-US" sz="2400" b="1" smtClean="0">
              <a:solidFill>
                <a:srgbClr val="808080"/>
              </a:solidFill>
              <a:cs typeface="+mn-cs"/>
            </a:endParaRPr>
          </a:p>
          <a:p>
            <a:pPr lvl="1" eaLnBrk="0" hangingPunct="0"/>
            <a:r>
              <a:rPr lang="en-US" sz="2400" b="1" smtClean="0">
                <a:solidFill>
                  <a:srgbClr val="808080"/>
                </a:solidFill>
                <a:cs typeface="+mn-cs"/>
              </a:rPr>
              <a:t>	</a:t>
            </a:r>
          </a:p>
          <a:p>
            <a:pPr lvl="1" eaLnBrk="0" hangingPunct="0">
              <a:buFontTx/>
              <a:buChar char="-"/>
            </a:pPr>
            <a:endParaRPr lang="pt-BR" sz="2400" b="1" smtClean="0">
              <a:solidFill>
                <a:srgbClr val="80808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98701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AutoShape 2"/>
          <p:cNvSpPr>
            <a:spLocks noChangeArrowheads="1"/>
          </p:cNvSpPr>
          <p:nvPr/>
        </p:nvSpPr>
        <p:spPr bwMode="auto">
          <a:xfrm>
            <a:off x="152422" y="1666875"/>
            <a:ext cx="8812213" cy="3819526"/>
          </a:xfrm>
          <a:prstGeom prst="roundRect">
            <a:avLst>
              <a:gd name="adj" fmla="val 2972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89795" name="Text Box 3"/>
          <p:cNvSpPr txBox="1">
            <a:spLocks noChangeArrowheads="1"/>
          </p:cNvSpPr>
          <p:nvPr/>
        </p:nvSpPr>
        <p:spPr bwMode="auto">
          <a:xfrm>
            <a:off x="228600" y="1514488"/>
            <a:ext cx="762000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Grupo</a:t>
            </a:r>
          </a:p>
        </p:txBody>
      </p:sp>
      <p:sp>
        <p:nvSpPr>
          <p:cNvPr id="289796" name="AutoShape 4"/>
          <p:cNvSpPr>
            <a:spLocks noChangeArrowheads="1"/>
          </p:cNvSpPr>
          <p:nvPr/>
        </p:nvSpPr>
        <p:spPr bwMode="auto">
          <a:xfrm>
            <a:off x="304800" y="1971675"/>
            <a:ext cx="6096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b="1" smtClean="0">
                <a:solidFill>
                  <a:srgbClr val="000000"/>
                </a:solidFill>
                <a:cs typeface="+mn-cs"/>
              </a:rPr>
              <a:t>2</a:t>
            </a:r>
          </a:p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89797" name="Text Box 5"/>
          <p:cNvSpPr txBox="1">
            <a:spLocks noChangeArrowheads="1"/>
          </p:cNvSpPr>
          <p:nvPr/>
        </p:nvSpPr>
        <p:spPr bwMode="auto">
          <a:xfrm>
            <a:off x="2705100" y="2352687"/>
            <a:ext cx="4572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%</a:t>
            </a:r>
          </a:p>
        </p:txBody>
      </p:sp>
      <p:sp>
        <p:nvSpPr>
          <p:cNvPr id="289798" name="Text Box 6"/>
          <p:cNvSpPr txBox="1">
            <a:spLocks noChangeArrowheads="1"/>
          </p:cNvSpPr>
          <p:nvPr/>
        </p:nvSpPr>
        <p:spPr bwMode="auto">
          <a:xfrm>
            <a:off x="990600" y="1514488"/>
            <a:ext cx="1143000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Categoria</a:t>
            </a:r>
          </a:p>
        </p:txBody>
      </p:sp>
      <p:sp>
        <p:nvSpPr>
          <p:cNvPr id="289799" name="AutoShape 7"/>
          <p:cNvSpPr>
            <a:spLocks noChangeArrowheads="1"/>
          </p:cNvSpPr>
          <p:nvPr/>
        </p:nvSpPr>
        <p:spPr bwMode="auto">
          <a:xfrm>
            <a:off x="990600" y="1971675"/>
            <a:ext cx="10668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-Econômico</a:t>
            </a:r>
          </a:p>
          <a:p>
            <a:endParaRPr lang="pt-BR" sz="10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89800" name="Text Box 8"/>
          <p:cNvSpPr txBox="1">
            <a:spLocks noChangeArrowheads="1"/>
          </p:cNvSpPr>
          <p:nvPr/>
        </p:nvSpPr>
        <p:spPr bwMode="auto">
          <a:xfrm>
            <a:off x="2133600" y="1514488"/>
            <a:ext cx="762000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Peso</a:t>
            </a:r>
          </a:p>
        </p:txBody>
      </p:sp>
      <p:sp>
        <p:nvSpPr>
          <p:cNvPr id="289801" name="AutoShape 9"/>
          <p:cNvSpPr>
            <a:spLocks noChangeArrowheads="1"/>
          </p:cNvSpPr>
          <p:nvPr/>
        </p:nvSpPr>
        <p:spPr bwMode="auto">
          <a:xfrm>
            <a:off x="2133600" y="1971675"/>
            <a:ext cx="6096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30</a:t>
            </a:r>
          </a:p>
        </p:txBody>
      </p:sp>
      <p:sp>
        <p:nvSpPr>
          <p:cNvPr id="289802" name="Text Box 10"/>
          <p:cNvSpPr txBox="1">
            <a:spLocks noChangeArrowheads="1"/>
          </p:cNvSpPr>
          <p:nvPr/>
        </p:nvSpPr>
        <p:spPr bwMode="auto">
          <a:xfrm>
            <a:off x="4038600" y="1514488"/>
            <a:ext cx="1295400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Descrição</a:t>
            </a:r>
          </a:p>
        </p:txBody>
      </p:sp>
      <p:sp>
        <p:nvSpPr>
          <p:cNvPr id="289803" name="AutoShape 11"/>
          <p:cNvSpPr>
            <a:spLocks noChangeArrowheads="1"/>
          </p:cNvSpPr>
          <p:nvPr/>
        </p:nvSpPr>
        <p:spPr bwMode="auto">
          <a:xfrm>
            <a:off x="3048000" y="1971675"/>
            <a:ext cx="32766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r>
              <a:rPr lang="pt-BR" sz="1000" smtClean="0">
                <a:solidFill>
                  <a:srgbClr val="000000"/>
                </a:solidFill>
                <a:cs typeface="+mn-cs"/>
              </a:rPr>
              <a:t>Redução do custo do pedido CN de R$26 em 2010 para R$ 22 em 2011</a:t>
            </a:r>
          </a:p>
        </p:txBody>
      </p:sp>
      <p:sp>
        <p:nvSpPr>
          <p:cNvPr id="289804" name="Text Box 12"/>
          <p:cNvSpPr txBox="1">
            <a:spLocks noChangeArrowheads="1"/>
          </p:cNvSpPr>
          <p:nvPr/>
        </p:nvSpPr>
        <p:spPr bwMode="auto">
          <a:xfrm>
            <a:off x="6172200" y="1362076"/>
            <a:ext cx="1219200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Meta Prometida</a:t>
            </a:r>
          </a:p>
        </p:txBody>
      </p:sp>
      <p:sp>
        <p:nvSpPr>
          <p:cNvPr id="289805" name="AutoShape 13"/>
          <p:cNvSpPr>
            <a:spLocks noChangeArrowheads="1"/>
          </p:cNvSpPr>
          <p:nvPr/>
        </p:nvSpPr>
        <p:spPr bwMode="auto">
          <a:xfrm>
            <a:off x="6400800" y="1971675"/>
            <a:ext cx="7620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22,0</a:t>
            </a:r>
          </a:p>
        </p:txBody>
      </p:sp>
      <p:sp>
        <p:nvSpPr>
          <p:cNvPr id="289806" name="Text Box 14"/>
          <p:cNvSpPr txBox="1">
            <a:spLocks noChangeArrowheads="1"/>
          </p:cNvSpPr>
          <p:nvPr/>
        </p:nvSpPr>
        <p:spPr bwMode="auto">
          <a:xfrm>
            <a:off x="7315200" y="1362076"/>
            <a:ext cx="1371600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Forma de Mens./Verif.</a:t>
            </a:r>
          </a:p>
        </p:txBody>
      </p:sp>
      <p:sp>
        <p:nvSpPr>
          <p:cNvPr id="289807" name="AutoShape 15"/>
          <p:cNvSpPr>
            <a:spLocks noChangeArrowheads="1"/>
          </p:cNvSpPr>
          <p:nvPr/>
        </p:nvSpPr>
        <p:spPr bwMode="auto">
          <a:xfrm>
            <a:off x="7239000" y="1971675"/>
            <a:ext cx="16002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DRE</a:t>
            </a:r>
          </a:p>
        </p:txBody>
      </p:sp>
      <p:sp>
        <p:nvSpPr>
          <p:cNvPr id="289808" name="AutoShape 16"/>
          <p:cNvSpPr>
            <a:spLocks noChangeArrowheads="1"/>
          </p:cNvSpPr>
          <p:nvPr/>
        </p:nvSpPr>
        <p:spPr bwMode="auto">
          <a:xfrm>
            <a:off x="304800" y="2819400"/>
            <a:ext cx="6096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b="1" smtClean="0">
                <a:solidFill>
                  <a:srgbClr val="000000"/>
                </a:solidFill>
                <a:cs typeface="+mn-cs"/>
              </a:rPr>
              <a:t>2</a:t>
            </a:r>
            <a:r>
              <a:rPr lang="pt-BR" sz="1000" smtClean="0">
                <a:solidFill>
                  <a:srgbClr val="000000"/>
                </a:solidFill>
                <a:cs typeface="+mn-cs"/>
              </a:rPr>
              <a:t>	</a:t>
            </a:r>
          </a:p>
        </p:txBody>
      </p:sp>
      <p:sp>
        <p:nvSpPr>
          <p:cNvPr id="289809" name="Text Box 17"/>
          <p:cNvSpPr txBox="1">
            <a:spLocks noChangeArrowheads="1"/>
          </p:cNvSpPr>
          <p:nvPr/>
        </p:nvSpPr>
        <p:spPr bwMode="auto">
          <a:xfrm>
            <a:off x="2705100" y="3200413"/>
            <a:ext cx="4572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%</a:t>
            </a:r>
          </a:p>
        </p:txBody>
      </p:sp>
      <p:sp>
        <p:nvSpPr>
          <p:cNvPr id="289810" name="AutoShape 18"/>
          <p:cNvSpPr>
            <a:spLocks noChangeArrowheads="1"/>
          </p:cNvSpPr>
          <p:nvPr/>
        </p:nvSpPr>
        <p:spPr bwMode="auto">
          <a:xfrm>
            <a:off x="990600" y="2819400"/>
            <a:ext cx="10668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-Econômico</a:t>
            </a:r>
          </a:p>
          <a:p>
            <a:r>
              <a:rPr lang="pt-BR" sz="1000" smtClean="0">
                <a:solidFill>
                  <a:srgbClr val="000000"/>
                </a:solidFill>
                <a:cs typeface="+mn-cs"/>
              </a:rPr>
              <a:t>-Social</a:t>
            </a:r>
          </a:p>
          <a:p>
            <a:endParaRPr lang="pt-BR" sz="10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89811" name="AutoShape 19"/>
          <p:cNvSpPr>
            <a:spLocks noChangeArrowheads="1"/>
          </p:cNvSpPr>
          <p:nvPr/>
        </p:nvSpPr>
        <p:spPr bwMode="auto">
          <a:xfrm>
            <a:off x="2133600" y="2819400"/>
            <a:ext cx="6096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20</a:t>
            </a:r>
          </a:p>
        </p:txBody>
      </p:sp>
      <p:sp>
        <p:nvSpPr>
          <p:cNvPr id="289812" name="AutoShape 20"/>
          <p:cNvSpPr>
            <a:spLocks noChangeArrowheads="1"/>
          </p:cNvSpPr>
          <p:nvPr/>
        </p:nvSpPr>
        <p:spPr bwMode="auto">
          <a:xfrm>
            <a:off x="3048000" y="2819400"/>
            <a:ext cx="32766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Redução do índice de notificação de CNs     (NC serviços) de 1% (2010) para 0,5% (2011)</a:t>
            </a:r>
          </a:p>
        </p:txBody>
      </p:sp>
      <p:sp>
        <p:nvSpPr>
          <p:cNvPr id="289813" name="AutoShape 21"/>
          <p:cNvSpPr>
            <a:spLocks noChangeArrowheads="1"/>
          </p:cNvSpPr>
          <p:nvPr/>
        </p:nvSpPr>
        <p:spPr bwMode="auto">
          <a:xfrm>
            <a:off x="6400800" y="2819400"/>
            <a:ext cx="7620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0,5%</a:t>
            </a:r>
          </a:p>
        </p:txBody>
      </p:sp>
      <p:sp>
        <p:nvSpPr>
          <p:cNvPr id="289814" name="AutoShape 22"/>
          <p:cNvSpPr>
            <a:spLocks noChangeArrowheads="1"/>
          </p:cNvSpPr>
          <p:nvPr/>
        </p:nvSpPr>
        <p:spPr bwMode="auto">
          <a:xfrm>
            <a:off x="7239000" y="2819400"/>
            <a:ext cx="16002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Relatório Ciclo do Pedido</a:t>
            </a:r>
          </a:p>
        </p:txBody>
      </p:sp>
      <p:sp>
        <p:nvSpPr>
          <p:cNvPr id="289815" name="AutoShape 23"/>
          <p:cNvSpPr>
            <a:spLocks noChangeArrowheads="1"/>
          </p:cNvSpPr>
          <p:nvPr/>
        </p:nvSpPr>
        <p:spPr bwMode="auto">
          <a:xfrm>
            <a:off x="304800" y="3657600"/>
            <a:ext cx="6096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b="1" smtClean="0">
                <a:solidFill>
                  <a:srgbClr val="000000"/>
                </a:solidFill>
                <a:cs typeface="+mn-cs"/>
              </a:rPr>
              <a:t>1</a:t>
            </a:r>
          </a:p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89816" name="Text Box 24"/>
          <p:cNvSpPr txBox="1">
            <a:spLocks noChangeArrowheads="1"/>
          </p:cNvSpPr>
          <p:nvPr/>
        </p:nvSpPr>
        <p:spPr bwMode="auto">
          <a:xfrm>
            <a:off x="2705100" y="4038613"/>
            <a:ext cx="4572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%</a:t>
            </a:r>
          </a:p>
        </p:txBody>
      </p:sp>
      <p:sp>
        <p:nvSpPr>
          <p:cNvPr id="289817" name="AutoShape 25"/>
          <p:cNvSpPr>
            <a:spLocks noChangeArrowheads="1"/>
          </p:cNvSpPr>
          <p:nvPr/>
        </p:nvSpPr>
        <p:spPr bwMode="auto">
          <a:xfrm>
            <a:off x="990600" y="3657600"/>
            <a:ext cx="10668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-Econômico</a:t>
            </a:r>
          </a:p>
          <a:p>
            <a:endParaRPr lang="pt-BR" sz="10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89818" name="AutoShape 26"/>
          <p:cNvSpPr>
            <a:spLocks noChangeArrowheads="1"/>
          </p:cNvSpPr>
          <p:nvPr/>
        </p:nvSpPr>
        <p:spPr bwMode="auto">
          <a:xfrm>
            <a:off x="2133600" y="3657600"/>
            <a:ext cx="6096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30</a:t>
            </a:r>
          </a:p>
        </p:txBody>
      </p:sp>
      <p:sp>
        <p:nvSpPr>
          <p:cNvPr id="289819" name="AutoShape 27"/>
          <p:cNvSpPr>
            <a:spLocks noChangeArrowheads="1"/>
          </p:cNvSpPr>
          <p:nvPr/>
        </p:nvSpPr>
        <p:spPr bwMode="auto">
          <a:xfrm>
            <a:off x="3048000" y="3657600"/>
            <a:ext cx="32766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Redução do número de incidentes em TI      (na maturidade = 18 meses após go-live)</a:t>
            </a:r>
          </a:p>
        </p:txBody>
      </p:sp>
      <p:sp>
        <p:nvSpPr>
          <p:cNvPr id="289820" name="AutoShape 28"/>
          <p:cNvSpPr>
            <a:spLocks noChangeArrowheads="1"/>
          </p:cNvSpPr>
          <p:nvPr/>
        </p:nvSpPr>
        <p:spPr bwMode="auto">
          <a:xfrm>
            <a:off x="6400800" y="3657600"/>
            <a:ext cx="7620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50%</a:t>
            </a:r>
          </a:p>
        </p:txBody>
      </p:sp>
      <p:sp>
        <p:nvSpPr>
          <p:cNvPr id="289821" name="AutoShape 29"/>
          <p:cNvSpPr>
            <a:spLocks noChangeArrowheads="1"/>
          </p:cNvSpPr>
          <p:nvPr/>
        </p:nvSpPr>
        <p:spPr bwMode="auto">
          <a:xfrm>
            <a:off x="7239000" y="3657600"/>
            <a:ext cx="16002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Relatório de incidentes de sistemas</a:t>
            </a:r>
          </a:p>
        </p:txBody>
      </p:sp>
      <p:pic>
        <p:nvPicPr>
          <p:cNvPr id="289822" name="Picture 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0" y="34926"/>
            <a:ext cx="1174750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89823" name="Line 31"/>
          <p:cNvSpPr>
            <a:spLocks noChangeShapeType="1"/>
          </p:cNvSpPr>
          <p:nvPr/>
        </p:nvSpPr>
        <p:spPr bwMode="auto">
          <a:xfrm>
            <a:off x="0" y="1257300"/>
            <a:ext cx="9144000" cy="0"/>
          </a:xfrm>
          <a:prstGeom prst="line">
            <a:avLst/>
          </a:prstGeom>
          <a:noFill/>
          <a:ln w="38100">
            <a:solidFill>
              <a:srgbClr val="70A95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89824" name="Rectangle 32"/>
          <p:cNvSpPr>
            <a:spLocks noChangeArrowheads="1"/>
          </p:cNvSpPr>
          <p:nvPr/>
        </p:nvSpPr>
        <p:spPr bwMode="auto">
          <a:xfrm>
            <a:off x="228600" y="3810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pt-BR" sz="2800" smtClean="0">
                <a:solidFill>
                  <a:srgbClr val="000000"/>
                </a:solidFill>
                <a:cs typeface="+mn-cs"/>
              </a:rPr>
              <a:t>benefícios</a:t>
            </a:r>
            <a:br>
              <a:rPr lang="pt-BR" sz="2800" smtClean="0">
                <a:solidFill>
                  <a:srgbClr val="000000"/>
                </a:solidFill>
                <a:cs typeface="+mn-cs"/>
              </a:rPr>
            </a:br>
            <a:r>
              <a:rPr lang="pt-BR" sz="2000" smtClean="0">
                <a:solidFill>
                  <a:srgbClr val="000000"/>
                </a:solidFill>
                <a:cs typeface="+mn-cs"/>
              </a:rPr>
              <a:t>metas</a:t>
            </a:r>
          </a:p>
        </p:txBody>
      </p:sp>
      <p:sp>
        <p:nvSpPr>
          <p:cNvPr id="289825" name="AutoShape 33"/>
          <p:cNvSpPr>
            <a:spLocks noChangeArrowheads="1"/>
          </p:cNvSpPr>
          <p:nvPr/>
        </p:nvSpPr>
        <p:spPr bwMode="auto">
          <a:xfrm>
            <a:off x="304800" y="4495800"/>
            <a:ext cx="6096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b="1" smtClean="0">
                <a:solidFill>
                  <a:srgbClr val="000000"/>
                </a:solidFill>
                <a:cs typeface="+mn-cs"/>
              </a:rPr>
              <a:t>3</a:t>
            </a:r>
          </a:p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89826" name="Text Box 34"/>
          <p:cNvSpPr txBox="1">
            <a:spLocks noChangeArrowheads="1"/>
          </p:cNvSpPr>
          <p:nvPr/>
        </p:nvSpPr>
        <p:spPr bwMode="auto">
          <a:xfrm>
            <a:off x="2705100" y="4876813"/>
            <a:ext cx="4572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%</a:t>
            </a:r>
          </a:p>
        </p:txBody>
      </p:sp>
      <p:sp>
        <p:nvSpPr>
          <p:cNvPr id="289827" name="AutoShape 35"/>
          <p:cNvSpPr>
            <a:spLocks noChangeArrowheads="1"/>
          </p:cNvSpPr>
          <p:nvPr/>
        </p:nvSpPr>
        <p:spPr bwMode="auto">
          <a:xfrm>
            <a:off x="990600" y="4495800"/>
            <a:ext cx="10668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-Econômico</a:t>
            </a:r>
          </a:p>
          <a:p>
            <a:endParaRPr lang="pt-BR" sz="10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89828" name="AutoShape 36"/>
          <p:cNvSpPr>
            <a:spLocks noChangeArrowheads="1"/>
          </p:cNvSpPr>
          <p:nvPr/>
        </p:nvSpPr>
        <p:spPr bwMode="auto">
          <a:xfrm>
            <a:off x="2133600" y="4495800"/>
            <a:ext cx="6096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20</a:t>
            </a:r>
          </a:p>
        </p:txBody>
      </p:sp>
      <p:sp>
        <p:nvSpPr>
          <p:cNvPr id="289829" name="AutoShape 37"/>
          <p:cNvSpPr>
            <a:spLocks noChangeArrowheads="1"/>
          </p:cNvSpPr>
          <p:nvPr/>
        </p:nvSpPr>
        <p:spPr bwMode="auto">
          <a:xfrm>
            <a:off x="3048000" y="4495800"/>
            <a:ext cx="32766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Atendimento aos pontos de auditoria incluídos no escopo do projeto</a:t>
            </a: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(# de pontos atendidos total ou parcialmente)</a:t>
            </a:r>
          </a:p>
        </p:txBody>
      </p:sp>
      <p:sp>
        <p:nvSpPr>
          <p:cNvPr id="289830" name="AutoShape 38"/>
          <p:cNvSpPr>
            <a:spLocks noChangeArrowheads="1"/>
          </p:cNvSpPr>
          <p:nvPr/>
        </p:nvSpPr>
        <p:spPr bwMode="auto">
          <a:xfrm>
            <a:off x="6400800" y="4495800"/>
            <a:ext cx="7620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100%</a:t>
            </a:r>
          </a:p>
        </p:txBody>
      </p:sp>
      <p:sp>
        <p:nvSpPr>
          <p:cNvPr id="289831" name="AutoShape 39"/>
          <p:cNvSpPr>
            <a:spLocks noChangeArrowheads="1"/>
          </p:cNvSpPr>
          <p:nvPr/>
        </p:nvSpPr>
        <p:spPr bwMode="auto">
          <a:xfrm>
            <a:off x="7239000" y="4495800"/>
            <a:ext cx="1600200" cy="771526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Relatório de auditoria</a:t>
            </a:r>
          </a:p>
        </p:txBody>
      </p:sp>
      <p:sp>
        <p:nvSpPr>
          <p:cNvPr id="289832" name="Rectangle 40"/>
          <p:cNvSpPr>
            <a:spLocks noChangeArrowheads="1"/>
          </p:cNvSpPr>
          <p:nvPr/>
        </p:nvSpPr>
        <p:spPr bwMode="auto">
          <a:xfrm>
            <a:off x="228600" y="5724538"/>
            <a:ext cx="8351838" cy="1092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-"/>
            </a:pPr>
            <a:r>
              <a:rPr lang="pt-BR" sz="1000" smtClean="0">
                <a:solidFill>
                  <a:srgbClr val="808080"/>
                </a:solidFill>
                <a:cs typeface="+mn-cs"/>
              </a:rPr>
              <a:t> Grupo1: Quantitativos = benefícios diretos (tangíveis, mensuráveis e comprováveis – impacto no caixa verificável </a:t>
            </a:r>
          </a:p>
          <a:p>
            <a:pPr>
              <a:spcBef>
                <a:spcPct val="50000"/>
              </a:spcBef>
            </a:pPr>
            <a:r>
              <a:rPr lang="pt-BR" sz="1000" smtClean="0">
                <a:solidFill>
                  <a:srgbClr val="808080"/>
                </a:solidFill>
                <a:cs typeface="+mn-cs"/>
              </a:rPr>
              <a:t>- Grupo 2: Quantitativos com Premissas = benefícios tangíveis de difícil mensuração ou associados a hipóteses e premissas passíveis de contestação</a:t>
            </a:r>
          </a:p>
          <a:p>
            <a:pPr>
              <a:spcBef>
                <a:spcPct val="50000"/>
              </a:spcBef>
            </a:pPr>
            <a:r>
              <a:rPr lang="pt-BR" sz="1000" smtClean="0">
                <a:solidFill>
                  <a:srgbClr val="808080"/>
                </a:solidFill>
                <a:cs typeface="+mn-cs"/>
              </a:rPr>
              <a:t>- Grupo 3: Qualitativos = benefícios intangíveis e qualitativos, ainda que possam ter uma tradução financeira.</a:t>
            </a:r>
          </a:p>
          <a:p>
            <a:pPr>
              <a:spcBef>
                <a:spcPct val="50000"/>
              </a:spcBef>
            </a:pPr>
            <a:endParaRPr lang="pt-BR" sz="1000" b="1" smtClean="0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17223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295400" y="439595"/>
            <a:ext cx="8229600" cy="492443"/>
          </a:xfrm>
          <a:noFill/>
          <a:ln/>
        </p:spPr>
        <p:txBody>
          <a:bodyPr>
            <a:spAutoFit/>
          </a:bodyPr>
          <a:lstStyle/>
          <a:p>
            <a:pPr algn="l" eaLnBrk="0" hangingPunct="0"/>
            <a:r>
              <a:rPr lang="pt-BR" sz="2600">
                <a:solidFill>
                  <a:srgbClr val="C5DBD7"/>
                </a:solidFill>
                <a:latin typeface="Verdana" pitchFamily="34" charset="0"/>
              </a:rPr>
              <a:t>Metas de Qualidade de TI – parte 1</a:t>
            </a:r>
          </a:p>
        </p:txBody>
      </p:sp>
      <p:sp>
        <p:nvSpPr>
          <p:cNvPr id="233475" name="Rectangle 1027"/>
          <p:cNvSpPr>
            <a:spLocks noChangeArrowheads="1"/>
          </p:cNvSpPr>
          <p:nvPr/>
        </p:nvSpPr>
        <p:spPr bwMode="auto">
          <a:xfrm>
            <a:off x="5459430" y="3795715"/>
            <a:ext cx="579437" cy="7937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476" name="Rectangle 1028"/>
          <p:cNvSpPr>
            <a:spLocks noChangeArrowheads="1"/>
          </p:cNvSpPr>
          <p:nvPr/>
        </p:nvSpPr>
        <p:spPr bwMode="auto">
          <a:xfrm>
            <a:off x="5459430" y="4556128"/>
            <a:ext cx="579437" cy="793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477" name="AutoShape 1029"/>
          <p:cNvSpPr>
            <a:spLocks noChangeArrowheads="1"/>
          </p:cNvSpPr>
          <p:nvPr/>
        </p:nvSpPr>
        <p:spPr bwMode="auto">
          <a:xfrm>
            <a:off x="165122" y="1295400"/>
            <a:ext cx="8812213" cy="5105400"/>
          </a:xfrm>
          <a:prstGeom prst="roundRect">
            <a:avLst>
              <a:gd name="adj" fmla="val 2972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‘	</a:t>
            </a:r>
          </a:p>
        </p:txBody>
      </p:sp>
      <p:sp>
        <p:nvSpPr>
          <p:cNvPr id="233478" name="Text Box 1030"/>
          <p:cNvSpPr txBox="1">
            <a:spLocks noChangeArrowheads="1"/>
          </p:cNvSpPr>
          <p:nvPr/>
        </p:nvSpPr>
        <p:spPr bwMode="auto">
          <a:xfrm>
            <a:off x="685800" y="1143013"/>
            <a:ext cx="762000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Peso</a:t>
            </a:r>
          </a:p>
        </p:txBody>
      </p:sp>
      <p:sp>
        <p:nvSpPr>
          <p:cNvPr id="233479" name="Text Box 1031"/>
          <p:cNvSpPr txBox="1">
            <a:spLocks noChangeArrowheads="1"/>
          </p:cNvSpPr>
          <p:nvPr/>
        </p:nvSpPr>
        <p:spPr bwMode="auto">
          <a:xfrm>
            <a:off x="2590800" y="1143013"/>
            <a:ext cx="1295400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Descrição</a:t>
            </a:r>
          </a:p>
        </p:txBody>
      </p:sp>
      <p:sp>
        <p:nvSpPr>
          <p:cNvPr id="233480" name="Text Box 1032"/>
          <p:cNvSpPr txBox="1">
            <a:spLocks noChangeArrowheads="1"/>
          </p:cNvSpPr>
          <p:nvPr/>
        </p:nvSpPr>
        <p:spPr bwMode="auto">
          <a:xfrm>
            <a:off x="5181600" y="1066800"/>
            <a:ext cx="1219200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Meta Prometida</a:t>
            </a:r>
          </a:p>
        </p:txBody>
      </p:sp>
      <p:sp>
        <p:nvSpPr>
          <p:cNvPr id="233481" name="Text Box 1033"/>
          <p:cNvSpPr txBox="1">
            <a:spLocks noChangeArrowheads="1"/>
          </p:cNvSpPr>
          <p:nvPr/>
        </p:nvSpPr>
        <p:spPr bwMode="auto">
          <a:xfrm>
            <a:off x="6705600" y="1066800"/>
            <a:ext cx="1371600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Forma de Mens./Verif.</a:t>
            </a:r>
          </a:p>
        </p:txBody>
      </p:sp>
      <p:sp>
        <p:nvSpPr>
          <p:cNvPr id="233482" name="Rectangle 1034"/>
          <p:cNvSpPr>
            <a:spLocks noChangeArrowheads="1"/>
          </p:cNvSpPr>
          <p:nvPr/>
        </p:nvSpPr>
        <p:spPr bwMode="auto">
          <a:xfrm>
            <a:off x="152400" y="6384925"/>
            <a:ext cx="87630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pt-BR" sz="800" smtClean="0">
                <a:solidFill>
                  <a:srgbClr val="000000"/>
                </a:solidFill>
                <a:cs typeface="+mn-cs"/>
              </a:rPr>
              <a:t>Quando algum dos quesitos não puder ser apurado, deve ser substituído pela avaliação dos usuários (o questionário para avaliação de usuários propõe questões relacionadas a cada um dos itens acima). </a:t>
            </a:r>
          </a:p>
        </p:txBody>
      </p:sp>
      <p:sp>
        <p:nvSpPr>
          <p:cNvPr id="233483" name="Rectangle 1035"/>
          <p:cNvSpPr>
            <a:spLocks noChangeArrowheads="1"/>
          </p:cNvSpPr>
          <p:nvPr/>
        </p:nvSpPr>
        <p:spPr bwMode="auto">
          <a:xfrm>
            <a:off x="544389" y="6289688"/>
            <a:ext cx="25648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600" b="1" smtClean="0">
                <a:solidFill>
                  <a:srgbClr val="000000"/>
                </a:solidFill>
                <a:cs typeface="+mn-cs"/>
              </a:rPr>
              <a:t> 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84" name="Rectangle 1036"/>
          <p:cNvSpPr>
            <a:spLocks noChangeArrowheads="1"/>
          </p:cNvSpPr>
          <p:nvPr/>
        </p:nvSpPr>
        <p:spPr bwMode="auto">
          <a:xfrm>
            <a:off x="442913" y="1573217"/>
            <a:ext cx="8316912" cy="479107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85" name="Rectangle 1037"/>
          <p:cNvSpPr>
            <a:spLocks noChangeArrowheads="1"/>
          </p:cNvSpPr>
          <p:nvPr/>
        </p:nvSpPr>
        <p:spPr bwMode="auto">
          <a:xfrm>
            <a:off x="901018" y="5691188"/>
            <a:ext cx="141064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latin typeface="Arial" charset="0"/>
                <a:cs typeface="+mn-cs"/>
              </a:rPr>
              <a:t>20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86" name="Rectangle 1038"/>
          <p:cNvSpPr>
            <a:spLocks noChangeArrowheads="1"/>
          </p:cNvSpPr>
          <p:nvPr/>
        </p:nvSpPr>
        <p:spPr bwMode="auto">
          <a:xfrm>
            <a:off x="1225001" y="5691188"/>
            <a:ext cx="113814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b="1" smtClean="0">
                <a:solidFill>
                  <a:srgbClr val="000000"/>
                </a:solidFill>
                <a:latin typeface="Arial" charset="0"/>
                <a:cs typeface="+mn-cs"/>
              </a:rPr>
              <a:t>%</a:t>
            </a:r>
            <a:endParaRPr lang="pt-BR" sz="2400" b="1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87" name="Rectangle 1039"/>
          <p:cNvSpPr>
            <a:spLocks noChangeArrowheads="1"/>
          </p:cNvSpPr>
          <p:nvPr/>
        </p:nvSpPr>
        <p:spPr bwMode="auto">
          <a:xfrm>
            <a:off x="1538462" y="5683250"/>
            <a:ext cx="291906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Avaliação da qualidade da gestão do projeto.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88" name="Rectangle 1040"/>
          <p:cNvSpPr>
            <a:spLocks noChangeArrowheads="1"/>
          </p:cNvSpPr>
          <p:nvPr/>
        </p:nvSpPr>
        <p:spPr bwMode="auto">
          <a:xfrm>
            <a:off x="520252" y="4700601"/>
            <a:ext cx="9297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G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89" name="Rectangle 1041"/>
          <p:cNvSpPr>
            <a:spLocks noChangeArrowheads="1"/>
          </p:cNvSpPr>
          <p:nvPr/>
        </p:nvSpPr>
        <p:spPr bwMode="auto">
          <a:xfrm>
            <a:off x="526670" y="4840301"/>
            <a:ext cx="7854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E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90" name="Rectangle 1042"/>
          <p:cNvSpPr>
            <a:spLocks noChangeArrowheads="1"/>
          </p:cNvSpPr>
          <p:nvPr/>
        </p:nvSpPr>
        <p:spPr bwMode="auto">
          <a:xfrm>
            <a:off x="525067" y="4981588"/>
            <a:ext cx="8175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S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91" name="Rectangle 1043"/>
          <p:cNvSpPr>
            <a:spLocks noChangeArrowheads="1"/>
          </p:cNvSpPr>
          <p:nvPr/>
        </p:nvSpPr>
        <p:spPr bwMode="auto">
          <a:xfrm>
            <a:off x="526670" y="5122876"/>
            <a:ext cx="7854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T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92" name="Rectangle 1044"/>
          <p:cNvSpPr>
            <a:spLocks noChangeArrowheads="1"/>
          </p:cNvSpPr>
          <p:nvPr/>
        </p:nvSpPr>
        <p:spPr bwMode="auto">
          <a:xfrm>
            <a:off x="521854" y="5264163"/>
            <a:ext cx="8976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Ã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93" name="Rectangle 1045"/>
          <p:cNvSpPr>
            <a:spLocks noChangeArrowheads="1"/>
          </p:cNvSpPr>
          <p:nvPr/>
        </p:nvSpPr>
        <p:spPr bwMode="auto">
          <a:xfrm>
            <a:off x="517052" y="5405451"/>
            <a:ext cx="9778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O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94" name="Rectangle 1046"/>
          <p:cNvSpPr>
            <a:spLocks noChangeArrowheads="1"/>
          </p:cNvSpPr>
          <p:nvPr/>
        </p:nvSpPr>
        <p:spPr bwMode="auto">
          <a:xfrm>
            <a:off x="545906" y="5546738"/>
            <a:ext cx="400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 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95" name="Rectangle 1047"/>
          <p:cNvSpPr>
            <a:spLocks noChangeArrowheads="1"/>
          </p:cNvSpPr>
          <p:nvPr/>
        </p:nvSpPr>
        <p:spPr bwMode="auto">
          <a:xfrm>
            <a:off x="518648" y="5688026"/>
            <a:ext cx="9618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D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96" name="Rectangle 1048"/>
          <p:cNvSpPr>
            <a:spLocks noChangeArrowheads="1"/>
          </p:cNvSpPr>
          <p:nvPr/>
        </p:nvSpPr>
        <p:spPr bwMode="auto">
          <a:xfrm>
            <a:off x="526670" y="5829313"/>
            <a:ext cx="7854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E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97" name="Rectangle 1049"/>
          <p:cNvSpPr>
            <a:spLocks noChangeArrowheads="1"/>
          </p:cNvSpPr>
          <p:nvPr/>
        </p:nvSpPr>
        <p:spPr bwMode="auto">
          <a:xfrm>
            <a:off x="545906" y="5970601"/>
            <a:ext cx="4007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 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98" name="Rectangle 1050"/>
          <p:cNvSpPr>
            <a:spLocks noChangeArrowheads="1"/>
          </p:cNvSpPr>
          <p:nvPr/>
        </p:nvSpPr>
        <p:spPr bwMode="auto">
          <a:xfrm>
            <a:off x="653523" y="4770443"/>
            <a:ext cx="10900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M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499" name="Rectangle 1051"/>
          <p:cNvSpPr>
            <a:spLocks noChangeArrowheads="1"/>
          </p:cNvSpPr>
          <p:nvPr/>
        </p:nvSpPr>
        <p:spPr bwMode="auto">
          <a:xfrm>
            <a:off x="661540" y="4911737"/>
            <a:ext cx="9297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U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00" name="Rectangle 1052"/>
          <p:cNvSpPr>
            <a:spLocks noChangeArrowheads="1"/>
          </p:cNvSpPr>
          <p:nvPr/>
        </p:nvSpPr>
        <p:spPr bwMode="auto">
          <a:xfrm>
            <a:off x="659935" y="5053027"/>
            <a:ext cx="9618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D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01" name="Rectangle 1053"/>
          <p:cNvSpPr>
            <a:spLocks noChangeArrowheads="1"/>
          </p:cNvSpPr>
          <p:nvPr/>
        </p:nvSpPr>
        <p:spPr bwMode="auto">
          <a:xfrm>
            <a:off x="663141" y="5194313"/>
            <a:ext cx="8976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A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02" name="Rectangle 1054"/>
          <p:cNvSpPr>
            <a:spLocks noChangeArrowheads="1"/>
          </p:cNvSpPr>
          <p:nvPr/>
        </p:nvSpPr>
        <p:spPr bwMode="auto">
          <a:xfrm>
            <a:off x="659927" y="5335601"/>
            <a:ext cx="9778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N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03" name="Rectangle 1055"/>
          <p:cNvSpPr>
            <a:spLocks noChangeArrowheads="1"/>
          </p:cNvSpPr>
          <p:nvPr/>
        </p:nvSpPr>
        <p:spPr bwMode="auto">
          <a:xfrm>
            <a:off x="666347" y="5476888"/>
            <a:ext cx="8335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Ç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04" name="Rectangle 1056"/>
          <p:cNvSpPr>
            <a:spLocks noChangeArrowheads="1"/>
          </p:cNvSpPr>
          <p:nvPr/>
        </p:nvSpPr>
        <p:spPr bwMode="auto">
          <a:xfrm>
            <a:off x="663141" y="5618176"/>
            <a:ext cx="8976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A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05" name="Rectangle 1057"/>
          <p:cNvSpPr>
            <a:spLocks noChangeArrowheads="1"/>
          </p:cNvSpPr>
          <p:nvPr/>
        </p:nvSpPr>
        <p:spPr bwMode="auto">
          <a:xfrm>
            <a:off x="667942" y="5757877"/>
            <a:ext cx="8175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S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06" name="Rectangle 1058"/>
          <p:cNvSpPr>
            <a:spLocks noChangeArrowheads="1"/>
          </p:cNvSpPr>
          <p:nvPr/>
        </p:nvSpPr>
        <p:spPr bwMode="auto">
          <a:xfrm>
            <a:off x="5580917" y="5675314"/>
            <a:ext cx="48410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400" b="1" smtClean="0">
                <a:solidFill>
                  <a:srgbClr val="000000"/>
                </a:solidFill>
                <a:cs typeface="+mn-cs"/>
              </a:rPr>
              <a:t>75%</a:t>
            </a:r>
            <a:endParaRPr lang="pt-BR" sz="3200" b="1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07" name="Rectangle 1059"/>
          <p:cNvSpPr>
            <a:spLocks noChangeArrowheads="1"/>
          </p:cNvSpPr>
          <p:nvPr/>
        </p:nvSpPr>
        <p:spPr bwMode="auto">
          <a:xfrm>
            <a:off x="1483165" y="4556125"/>
            <a:ext cx="3848810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Quantidade de dúvidas por usuário no sexto período de 21 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08" name="Rectangle 1060"/>
          <p:cNvSpPr>
            <a:spLocks noChangeArrowheads="1"/>
          </p:cNvSpPr>
          <p:nvPr/>
        </p:nvSpPr>
        <p:spPr bwMode="auto">
          <a:xfrm>
            <a:off x="1438042" y="4721225"/>
            <a:ext cx="300402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dias após a implementação do último Go-Live.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09" name="Rectangle 1061"/>
          <p:cNvSpPr>
            <a:spLocks noChangeArrowheads="1"/>
          </p:cNvSpPr>
          <p:nvPr/>
        </p:nvSpPr>
        <p:spPr bwMode="auto">
          <a:xfrm>
            <a:off x="6239338" y="5503863"/>
            <a:ext cx="2531141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O indicador de qualidade da gestão de 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10" name="Rectangle 1062"/>
          <p:cNvSpPr>
            <a:spLocks noChangeArrowheads="1"/>
          </p:cNvSpPr>
          <p:nvPr/>
        </p:nvSpPr>
        <p:spPr bwMode="auto">
          <a:xfrm>
            <a:off x="6248400" y="5715013"/>
            <a:ext cx="2133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pt-BR" sz="1000" smtClean="0">
                <a:solidFill>
                  <a:srgbClr val="000000"/>
                </a:solidFill>
                <a:cs typeface="+mn-cs"/>
              </a:rPr>
              <a:t>projetos apurado pelo </a:t>
            </a:r>
          </a:p>
          <a:p>
            <a:r>
              <a:rPr lang="pt-BR" sz="1000" smtClean="0">
                <a:solidFill>
                  <a:srgbClr val="000000"/>
                </a:solidFill>
                <a:cs typeface="+mn-cs"/>
              </a:rPr>
              <a:t>Healthcheck de TI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12" name="Rectangle 1064"/>
          <p:cNvSpPr>
            <a:spLocks noChangeArrowheads="1"/>
          </p:cNvSpPr>
          <p:nvPr/>
        </p:nvSpPr>
        <p:spPr bwMode="auto">
          <a:xfrm>
            <a:off x="6289488" y="4530725"/>
            <a:ext cx="2337178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Comparar a meta com a quantidade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13" name="Rectangle 1065"/>
          <p:cNvSpPr>
            <a:spLocks noChangeArrowheads="1"/>
          </p:cNvSpPr>
          <p:nvPr/>
        </p:nvSpPr>
        <p:spPr bwMode="auto">
          <a:xfrm>
            <a:off x="6216198" y="4695825"/>
            <a:ext cx="2391680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registrada no mesmo período do ano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14" name="Rectangle 1066"/>
          <p:cNvSpPr>
            <a:spLocks noChangeArrowheads="1"/>
          </p:cNvSpPr>
          <p:nvPr/>
        </p:nvSpPr>
        <p:spPr bwMode="auto">
          <a:xfrm>
            <a:off x="571066" y="1581163"/>
            <a:ext cx="8976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A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15" name="Rectangle 1067"/>
          <p:cNvSpPr>
            <a:spLocks noChangeArrowheads="1"/>
          </p:cNvSpPr>
          <p:nvPr/>
        </p:nvSpPr>
        <p:spPr bwMode="auto">
          <a:xfrm>
            <a:off x="567860" y="1722451"/>
            <a:ext cx="9618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D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16" name="Rectangle 1068"/>
          <p:cNvSpPr>
            <a:spLocks noChangeArrowheads="1"/>
          </p:cNvSpPr>
          <p:nvPr/>
        </p:nvSpPr>
        <p:spPr bwMode="auto">
          <a:xfrm>
            <a:off x="575884" y="1863726"/>
            <a:ext cx="7854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E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17" name="Rectangle 1069"/>
          <p:cNvSpPr>
            <a:spLocks noChangeArrowheads="1"/>
          </p:cNvSpPr>
          <p:nvPr/>
        </p:nvSpPr>
        <p:spPr bwMode="auto">
          <a:xfrm>
            <a:off x="571066" y="2005020"/>
            <a:ext cx="8976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R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18" name="Rectangle 1070"/>
          <p:cNvSpPr>
            <a:spLocks noChangeArrowheads="1"/>
          </p:cNvSpPr>
          <p:nvPr/>
        </p:nvSpPr>
        <p:spPr bwMode="auto">
          <a:xfrm>
            <a:off x="575884" y="2146313"/>
            <a:ext cx="7854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Ê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19" name="Rectangle 1071"/>
          <p:cNvSpPr>
            <a:spLocks noChangeArrowheads="1"/>
          </p:cNvSpPr>
          <p:nvPr/>
        </p:nvSpPr>
        <p:spPr bwMode="auto">
          <a:xfrm>
            <a:off x="567852" y="2287601"/>
            <a:ext cx="9778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N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20" name="Rectangle 1072"/>
          <p:cNvSpPr>
            <a:spLocks noChangeArrowheads="1"/>
          </p:cNvSpPr>
          <p:nvPr/>
        </p:nvSpPr>
        <p:spPr bwMode="auto">
          <a:xfrm>
            <a:off x="574272" y="2427301"/>
            <a:ext cx="8335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C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21" name="Rectangle 1073"/>
          <p:cNvSpPr>
            <a:spLocks noChangeArrowheads="1"/>
          </p:cNvSpPr>
          <p:nvPr/>
        </p:nvSpPr>
        <p:spPr bwMode="auto">
          <a:xfrm>
            <a:off x="583899" y="2570176"/>
            <a:ext cx="6251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I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22" name="Rectangle 1074"/>
          <p:cNvSpPr>
            <a:spLocks noChangeArrowheads="1"/>
          </p:cNvSpPr>
          <p:nvPr/>
        </p:nvSpPr>
        <p:spPr bwMode="auto">
          <a:xfrm>
            <a:off x="571066" y="2709877"/>
            <a:ext cx="8976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A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23" name="Rectangle 1075"/>
          <p:cNvSpPr>
            <a:spLocks noChangeArrowheads="1"/>
          </p:cNvSpPr>
          <p:nvPr/>
        </p:nvSpPr>
        <p:spPr bwMode="auto">
          <a:xfrm>
            <a:off x="583899" y="2940063"/>
            <a:ext cx="6251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I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24" name="Rectangle 1076"/>
          <p:cNvSpPr>
            <a:spLocks noChangeArrowheads="1"/>
          </p:cNvSpPr>
          <p:nvPr/>
        </p:nvSpPr>
        <p:spPr bwMode="auto">
          <a:xfrm>
            <a:off x="567852" y="3081351"/>
            <a:ext cx="9778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N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25" name="Rectangle 1077"/>
          <p:cNvSpPr>
            <a:spLocks noChangeArrowheads="1"/>
          </p:cNvSpPr>
          <p:nvPr/>
        </p:nvSpPr>
        <p:spPr bwMode="auto">
          <a:xfrm>
            <a:off x="575884" y="3222638"/>
            <a:ext cx="7854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T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26" name="Rectangle 1078"/>
          <p:cNvSpPr>
            <a:spLocks noChangeArrowheads="1"/>
          </p:cNvSpPr>
          <p:nvPr/>
        </p:nvSpPr>
        <p:spPr bwMode="auto">
          <a:xfrm>
            <a:off x="575884" y="3363926"/>
            <a:ext cx="7854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E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27" name="Rectangle 1079"/>
          <p:cNvSpPr>
            <a:spLocks noChangeArrowheads="1"/>
          </p:cNvSpPr>
          <p:nvPr/>
        </p:nvSpPr>
        <p:spPr bwMode="auto">
          <a:xfrm>
            <a:off x="571066" y="3505211"/>
            <a:ext cx="8976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R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28" name="Rectangle 1080"/>
          <p:cNvSpPr>
            <a:spLocks noChangeArrowheads="1"/>
          </p:cNvSpPr>
          <p:nvPr/>
        </p:nvSpPr>
        <p:spPr bwMode="auto">
          <a:xfrm>
            <a:off x="577487" y="3646488"/>
            <a:ext cx="7534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F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29" name="Rectangle 1081"/>
          <p:cNvSpPr>
            <a:spLocks noChangeArrowheads="1"/>
          </p:cNvSpPr>
          <p:nvPr/>
        </p:nvSpPr>
        <p:spPr bwMode="auto">
          <a:xfrm>
            <a:off x="571066" y="3786198"/>
            <a:ext cx="8976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A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30" name="Rectangle 1082"/>
          <p:cNvSpPr>
            <a:spLocks noChangeArrowheads="1"/>
          </p:cNvSpPr>
          <p:nvPr/>
        </p:nvSpPr>
        <p:spPr bwMode="auto">
          <a:xfrm>
            <a:off x="574272" y="3929076"/>
            <a:ext cx="8335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C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31" name="Rectangle 1083"/>
          <p:cNvSpPr>
            <a:spLocks noChangeArrowheads="1"/>
          </p:cNvSpPr>
          <p:nvPr/>
        </p:nvSpPr>
        <p:spPr bwMode="auto">
          <a:xfrm>
            <a:off x="575884" y="4068768"/>
            <a:ext cx="7854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E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32" name="Rectangle 1084"/>
          <p:cNvSpPr>
            <a:spLocks noChangeArrowheads="1"/>
          </p:cNvSpPr>
          <p:nvPr/>
        </p:nvSpPr>
        <p:spPr bwMode="auto">
          <a:xfrm>
            <a:off x="6221388" y="3359150"/>
            <a:ext cx="230351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Questões aplicadas na pesquisa de 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33" name="Rectangle 1085"/>
          <p:cNvSpPr>
            <a:spLocks noChangeArrowheads="1"/>
          </p:cNvSpPr>
          <p:nvPr/>
        </p:nvSpPr>
        <p:spPr bwMode="auto">
          <a:xfrm>
            <a:off x="6276554" y="3524250"/>
            <a:ext cx="2385268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satisfação dos usuários. Notas 1 a 5.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34" name="Rectangle 1086"/>
          <p:cNvSpPr>
            <a:spLocks noChangeArrowheads="1"/>
          </p:cNvSpPr>
          <p:nvPr/>
        </p:nvSpPr>
        <p:spPr bwMode="auto">
          <a:xfrm>
            <a:off x="5568198" y="3343277"/>
            <a:ext cx="48410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400" b="1" smtClean="0">
                <a:solidFill>
                  <a:srgbClr val="000000"/>
                </a:solidFill>
                <a:cs typeface="+mn-cs"/>
              </a:rPr>
              <a:t>85%</a:t>
            </a:r>
          </a:p>
          <a:p>
            <a:pPr algn="ctr"/>
            <a:r>
              <a:rPr lang="pt-BR" sz="1200" b="1" smtClean="0">
                <a:solidFill>
                  <a:srgbClr val="000000"/>
                </a:solidFill>
                <a:cs typeface="+mn-cs"/>
              </a:rPr>
              <a:t>Top 2</a:t>
            </a:r>
          </a:p>
          <a:p>
            <a:pPr algn="ctr"/>
            <a:r>
              <a:rPr lang="pt-BR" sz="1200" b="1" smtClean="0">
                <a:solidFill>
                  <a:srgbClr val="000000"/>
                </a:solidFill>
                <a:cs typeface="+mn-cs"/>
              </a:rPr>
              <a:t>Box</a:t>
            </a:r>
          </a:p>
        </p:txBody>
      </p:sp>
      <p:sp>
        <p:nvSpPr>
          <p:cNvPr id="233535" name="Rectangle 1087"/>
          <p:cNvSpPr>
            <a:spLocks noChangeArrowheads="1"/>
          </p:cNvSpPr>
          <p:nvPr/>
        </p:nvSpPr>
        <p:spPr bwMode="auto">
          <a:xfrm>
            <a:off x="1817463" y="3429000"/>
            <a:ext cx="2345193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Pesquisa de Satisfação dos Usuários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38" name="Rectangle 1090"/>
          <p:cNvSpPr>
            <a:spLocks noChangeArrowheads="1"/>
          </p:cNvSpPr>
          <p:nvPr/>
        </p:nvSpPr>
        <p:spPr bwMode="auto">
          <a:xfrm>
            <a:off x="901018" y="4633913"/>
            <a:ext cx="141064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latin typeface="Arial" charset="0"/>
                <a:cs typeface="+mn-cs"/>
              </a:rPr>
              <a:t>15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39" name="Rectangle 1091"/>
          <p:cNvSpPr>
            <a:spLocks noChangeArrowheads="1"/>
          </p:cNvSpPr>
          <p:nvPr/>
        </p:nvSpPr>
        <p:spPr bwMode="auto">
          <a:xfrm>
            <a:off x="1225001" y="3502025"/>
            <a:ext cx="113814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b="1" smtClean="0">
                <a:solidFill>
                  <a:srgbClr val="000000"/>
                </a:solidFill>
                <a:latin typeface="Arial" charset="0"/>
                <a:cs typeface="+mn-cs"/>
              </a:rPr>
              <a:t>%</a:t>
            </a:r>
            <a:endParaRPr lang="pt-BR" sz="2400" b="1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40" name="Rectangle 1092"/>
          <p:cNvSpPr>
            <a:spLocks noChangeArrowheads="1"/>
          </p:cNvSpPr>
          <p:nvPr/>
        </p:nvSpPr>
        <p:spPr bwMode="auto">
          <a:xfrm>
            <a:off x="1225001" y="4633913"/>
            <a:ext cx="113814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b="1" smtClean="0">
                <a:solidFill>
                  <a:srgbClr val="000000"/>
                </a:solidFill>
                <a:latin typeface="Arial" charset="0"/>
                <a:cs typeface="+mn-cs"/>
              </a:rPr>
              <a:t>%</a:t>
            </a:r>
            <a:endParaRPr lang="pt-BR" sz="2400" b="1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41" name="Rectangle 1093"/>
          <p:cNvSpPr>
            <a:spLocks noChangeArrowheads="1"/>
          </p:cNvSpPr>
          <p:nvPr/>
        </p:nvSpPr>
        <p:spPr bwMode="auto">
          <a:xfrm>
            <a:off x="901018" y="2143125"/>
            <a:ext cx="141064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latin typeface="Arial" charset="0"/>
                <a:cs typeface="+mn-cs"/>
              </a:rPr>
              <a:t>20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42" name="Rectangle 1094"/>
          <p:cNvSpPr>
            <a:spLocks noChangeArrowheads="1"/>
          </p:cNvSpPr>
          <p:nvPr/>
        </p:nvSpPr>
        <p:spPr bwMode="auto">
          <a:xfrm>
            <a:off x="901018" y="3502025"/>
            <a:ext cx="141064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latin typeface="Arial" charset="0"/>
                <a:cs typeface="+mn-cs"/>
              </a:rPr>
              <a:t>15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43" name="Rectangle 1095"/>
          <p:cNvSpPr>
            <a:spLocks noChangeArrowheads="1"/>
          </p:cNvSpPr>
          <p:nvPr/>
        </p:nvSpPr>
        <p:spPr bwMode="auto">
          <a:xfrm>
            <a:off x="1225001" y="2143125"/>
            <a:ext cx="113814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b="1" smtClean="0">
                <a:solidFill>
                  <a:srgbClr val="000000"/>
                </a:solidFill>
                <a:latin typeface="Arial" charset="0"/>
                <a:cs typeface="+mn-cs"/>
              </a:rPr>
              <a:t>%</a:t>
            </a:r>
            <a:endParaRPr lang="pt-BR" sz="2400" b="1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544" name="Rectangle 1096"/>
          <p:cNvSpPr>
            <a:spLocks noChangeArrowheads="1"/>
          </p:cNvSpPr>
          <p:nvPr/>
        </p:nvSpPr>
        <p:spPr bwMode="auto">
          <a:xfrm>
            <a:off x="1524000" y="2028838"/>
            <a:ext cx="307776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pt-BR" sz="1000" smtClean="0">
                <a:solidFill>
                  <a:srgbClr val="000000"/>
                </a:solidFill>
                <a:cs typeface="+mn-cs"/>
              </a:rPr>
              <a:t>Quantidade de requisitos funcionais solicitados.</a:t>
            </a:r>
          </a:p>
          <a:p>
            <a:r>
              <a:rPr lang="pt-BR" sz="1100" i="1" smtClean="0">
                <a:solidFill>
                  <a:srgbClr val="000000"/>
                </a:solidFill>
                <a:cs typeface="+mn-cs"/>
              </a:rPr>
              <a:t>Obs: não há flexibilização.</a:t>
            </a:r>
            <a:endParaRPr lang="pt-BR" sz="10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45" name="Rectangle 1097"/>
          <p:cNvSpPr>
            <a:spLocks noChangeArrowheads="1"/>
          </p:cNvSpPr>
          <p:nvPr/>
        </p:nvSpPr>
        <p:spPr bwMode="auto">
          <a:xfrm>
            <a:off x="825522" y="1563688"/>
            <a:ext cx="366713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46" name="Rectangle 1098"/>
          <p:cNvSpPr>
            <a:spLocks noChangeArrowheads="1"/>
          </p:cNvSpPr>
          <p:nvPr/>
        </p:nvSpPr>
        <p:spPr bwMode="auto">
          <a:xfrm>
            <a:off x="1366860" y="1563688"/>
            <a:ext cx="4098925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47" name="Rectangle 1099"/>
          <p:cNvSpPr>
            <a:spLocks noChangeArrowheads="1"/>
          </p:cNvSpPr>
          <p:nvPr/>
        </p:nvSpPr>
        <p:spPr bwMode="auto">
          <a:xfrm>
            <a:off x="5530857" y="1563688"/>
            <a:ext cx="595313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48" name="Rectangle 1100"/>
          <p:cNvSpPr>
            <a:spLocks noChangeArrowheads="1"/>
          </p:cNvSpPr>
          <p:nvPr/>
        </p:nvSpPr>
        <p:spPr bwMode="auto">
          <a:xfrm>
            <a:off x="825522" y="2860679"/>
            <a:ext cx="366713" cy="17464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49" name="Rectangle 1101"/>
          <p:cNvSpPr>
            <a:spLocks noChangeArrowheads="1"/>
          </p:cNvSpPr>
          <p:nvPr/>
        </p:nvSpPr>
        <p:spPr bwMode="auto">
          <a:xfrm>
            <a:off x="1366860" y="2860679"/>
            <a:ext cx="4098925" cy="17464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50" name="Rectangle 1102"/>
          <p:cNvSpPr>
            <a:spLocks noChangeArrowheads="1"/>
          </p:cNvSpPr>
          <p:nvPr/>
        </p:nvSpPr>
        <p:spPr bwMode="auto">
          <a:xfrm>
            <a:off x="5530857" y="2860679"/>
            <a:ext cx="595313" cy="17464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51" name="Rectangle 1103"/>
          <p:cNvSpPr>
            <a:spLocks noChangeArrowheads="1"/>
          </p:cNvSpPr>
          <p:nvPr/>
        </p:nvSpPr>
        <p:spPr bwMode="auto">
          <a:xfrm>
            <a:off x="806450" y="1563688"/>
            <a:ext cx="19050" cy="131445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52" name="Rectangle 1104"/>
          <p:cNvSpPr>
            <a:spLocks noChangeArrowheads="1"/>
          </p:cNvSpPr>
          <p:nvPr/>
        </p:nvSpPr>
        <p:spPr bwMode="auto">
          <a:xfrm>
            <a:off x="1174772" y="1581150"/>
            <a:ext cx="17463" cy="129698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53" name="Rectangle 1105"/>
          <p:cNvSpPr>
            <a:spLocks noChangeArrowheads="1"/>
          </p:cNvSpPr>
          <p:nvPr/>
        </p:nvSpPr>
        <p:spPr bwMode="auto">
          <a:xfrm>
            <a:off x="825522" y="2919413"/>
            <a:ext cx="366713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54" name="Rectangle 1106"/>
          <p:cNvSpPr>
            <a:spLocks noChangeArrowheads="1"/>
          </p:cNvSpPr>
          <p:nvPr/>
        </p:nvSpPr>
        <p:spPr bwMode="auto">
          <a:xfrm>
            <a:off x="1349379" y="1563688"/>
            <a:ext cx="17463" cy="131445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55" name="Rectangle 1107"/>
          <p:cNvSpPr>
            <a:spLocks noChangeArrowheads="1"/>
          </p:cNvSpPr>
          <p:nvPr/>
        </p:nvSpPr>
        <p:spPr bwMode="auto">
          <a:xfrm>
            <a:off x="5448322" y="1581150"/>
            <a:ext cx="17463" cy="129698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56" name="Rectangle 1108"/>
          <p:cNvSpPr>
            <a:spLocks noChangeArrowheads="1"/>
          </p:cNvSpPr>
          <p:nvPr/>
        </p:nvSpPr>
        <p:spPr bwMode="auto">
          <a:xfrm>
            <a:off x="1366860" y="2919413"/>
            <a:ext cx="4098925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57" name="Rectangle 1109"/>
          <p:cNvSpPr>
            <a:spLocks noChangeArrowheads="1"/>
          </p:cNvSpPr>
          <p:nvPr/>
        </p:nvSpPr>
        <p:spPr bwMode="auto">
          <a:xfrm>
            <a:off x="5513388" y="1563688"/>
            <a:ext cx="17462" cy="131445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58" name="Rectangle 1110"/>
          <p:cNvSpPr>
            <a:spLocks noChangeArrowheads="1"/>
          </p:cNvSpPr>
          <p:nvPr/>
        </p:nvSpPr>
        <p:spPr bwMode="auto">
          <a:xfrm>
            <a:off x="6108720" y="1581150"/>
            <a:ext cx="17463" cy="129698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59" name="Rectangle 1111"/>
          <p:cNvSpPr>
            <a:spLocks noChangeArrowheads="1"/>
          </p:cNvSpPr>
          <p:nvPr/>
        </p:nvSpPr>
        <p:spPr bwMode="auto">
          <a:xfrm>
            <a:off x="5530857" y="2919413"/>
            <a:ext cx="595313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60" name="Rectangle 1112"/>
          <p:cNvSpPr>
            <a:spLocks noChangeArrowheads="1"/>
          </p:cNvSpPr>
          <p:nvPr/>
        </p:nvSpPr>
        <p:spPr bwMode="auto">
          <a:xfrm>
            <a:off x="825522" y="4222751"/>
            <a:ext cx="366713" cy="17464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61" name="Rectangle 1113"/>
          <p:cNvSpPr>
            <a:spLocks noChangeArrowheads="1"/>
          </p:cNvSpPr>
          <p:nvPr/>
        </p:nvSpPr>
        <p:spPr bwMode="auto">
          <a:xfrm>
            <a:off x="1366860" y="4222751"/>
            <a:ext cx="4098925" cy="17464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62" name="Rectangle 1114"/>
          <p:cNvSpPr>
            <a:spLocks noChangeArrowheads="1"/>
          </p:cNvSpPr>
          <p:nvPr/>
        </p:nvSpPr>
        <p:spPr bwMode="auto">
          <a:xfrm>
            <a:off x="5530857" y="4222751"/>
            <a:ext cx="595313" cy="17464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63" name="Rectangle 1115"/>
          <p:cNvSpPr>
            <a:spLocks noChangeArrowheads="1"/>
          </p:cNvSpPr>
          <p:nvPr/>
        </p:nvSpPr>
        <p:spPr bwMode="auto">
          <a:xfrm>
            <a:off x="806450" y="2919417"/>
            <a:ext cx="19050" cy="132080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64" name="Rectangle 1116"/>
          <p:cNvSpPr>
            <a:spLocks noChangeArrowheads="1"/>
          </p:cNvSpPr>
          <p:nvPr/>
        </p:nvSpPr>
        <p:spPr bwMode="auto">
          <a:xfrm>
            <a:off x="1174772" y="2936878"/>
            <a:ext cx="17463" cy="130333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65" name="Rectangle 1117"/>
          <p:cNvSpPr>
            <a:spLocks noChangeArrowheads="1"/>
          </p:cNvSpPr>
          <p:nvPr/>
        </p:nvSpPr>
        <p:spPr bwMode="auto">
          <a:xfrm>
            <a:off x="825522" y="4308479"/>
            <a:ext cx="366713" cy="17464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66" name="Rectangle 1118"/>
          <p:cNvSpPr>
            <a:spLocks noChangeArrowheads="1"/>
          </p:cNvSpPr>
          <p:nvPr/>
        </p:nvSpPr>
        <p:spPr bwMode="auto">
          <a:xfrm>
            <a:off x="1349379" y="2919417"/>
            <a:ext cx="17463" cy="132080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67" name="Rectangle 1119"/>
          <p:cNvSpPr>
            <a:spLocks noChangeArrowheads="1"/>
          </p:cNvSpPr>
          <p:nvPr/>
        </p:nvSpPr>
        <p:spPr bwMode="auto">
          <a:xfrm>
            <a:off x="5448322" y="2936878"/>
            <a:ext cx="17463" cy="130333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68" name="Rectangle 1120"/>
          <p:cNvSpPr>
            <a:spLocks noChangeArrowheads="1"/>
          </p:cNvSpPr>
          <p:nvPr/>
        </p:nvSpPr>
        <p:spPr bwMode="auto">
          <a:xfrm>
            <a:off x="1366860" y="4308479"/>
            <a:ext cx="4098925" cy="17464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69" name="Rectangle 1121"/>
          <p:cNvSpPr>
            <a:spLocks noChangeArrowheads="1"/>
          </p:cNvSpPr>
          <p:nvPr/>
        </p:nvSpPr>
        <p:spPr bwMode="auto">
          <a:xfrm>
            <a:off x="5513388" y="2919417"/>
            <a:ext cx="17462" cy="132080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70" name="Rectangle 1122"/>
          <p:cNvSpPr>
            <a:spLocks noChangeArrowheads="1"/>
          </p:cNvSpPr>
          <p:nvPr/>
        </p:nvSpPr>
        <p:spPr bwMode="auto">
          <a:xfrm>
            <a:off x="6108720" y="2936878"/>
            <a:ext cx="17463" cy="130333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71" name="Rectangle 1123"/>
          <p:cNvSpPr>
            <a:spLocks noChangeArrowheads="1"/>
          </p:cNvSpPr>
          <p:nvPr/>
        </p:nvSpPr>
        <p:spPr bwMode="auto">
          <a:xfrm>
            <a:off x="5530857" y="4308479"/>
            <a:ext cx="595313" cy="17464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72" name="Rectangle 1124"/>
          <p:cNvSpPr>
            <a:spLocks noChangeArrowheads="1"/>
          </p:cNvSpPr>
          <p:nvPr/>
        </p:nvSpPr>
        <p:spPr bwMode="auto">
          <a:xfrm>
            <a:off x="6167438" y="2919417"/>
            <a:ext cx="17462" cy="132080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73" name="Rectangle 1125"/>
          <p:cNvSpPr>
            <a:spLocks noChangeArrowheads="1"/>
          </p:cNvSpPr>
          <p:nvPr/>
        </p:nvSpPr>
        <p:spPr bwMode="auto">
          <a:xfrm>
            <a:off x="8750322" y="2936878"/>
            <a:ext cx="17463" cy="130333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74" name="Rectangle 1126"/>
          <p:cNvSpPr>
            <a:spLocks noChangeArrowheads="1"/>
          </p:cNvSpPr>
          <p:nvPr/>
        </p:nvSpPr>
        <p:spPr bwMode="auto">
          <a:xfrm>
            <a:off x="825522" y="5099051"/>
            <a:ext cx="366713" cy="17464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75" name="Rectangle 1127"/>
          <p:cNvSpPr>
            <a:spLocks noChangeArrowheads="1"/>
          </p:cNvSpPr>
          <p:nvPr/>
        </p:nvSpPr>
        <p:spPr bwMode="auto">
          <a:xfrm>
            <a:off x="1366860" y="5099051"/>
            <a:ext cx="4098925" cy="17464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76" name="Rectangle 1128"/>
          <p:cNvSpPr>
            <a:spLocks noChangeArrowheads="1"/>
          </p:cNvSpPr>
          <p:nvPr/>
        </p:nvSpPr>
        <p:spPr bwMode="auto">
          <a:xfrm>
            <a:off x="5530857" y="5099051"/>
            <a:ext cx="595313" cy="17464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77" name="Rectangle 1129"/>
          <p:cNvSpPr>
            <a:spLocks noChangeArrowheads="1"/>
          </p:cNvSpPr>
          <p:nvPr/>
        </p:nvSpPr>
        <p:spPr bwMode="auto">
          <a:xfrm>
            <a:off x="806450" y="4308478"/>
            <a:ext cx="19050" cy="80803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78" name="Rectangle 1130"/>
          <p:cNvSpPr>
            <a:spLocks noChangeArrowheads="1"/>
          </p:cNvSpPr>
          <p:nvPr/>
        </p:nvSpPr>
        <p:spPr bwMode="auto">
          <a:xfrm>
            <a:off x="1174772" y="4325938"/>
            <a:ext cx="17463" cy="790576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79" name="Rectangle 1131"/>
          <p:cNvSpPr>
            <a:spLocks noChangeArrowheads="1"/>
          </p:cNvSpPr>
          <p:nvPr/>
        </p:nvSpPr>
        <p:spPr bwMode="auto">
          <a:xfrm>
            <a:off x="825522" y="5151438"/>
            <a:ext cx="366713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80" name="Rectangle 1132"/>
          <p:cNvSpPr>
            <a:spLocks noChangeArrowheads="1"/>
          </p:cNvSpPr>
          <p:nvPr/>
        </p:nvSpPr>
        <p:spPr bwMode="auto">
          <a:xfrm>
            <a:off x="1349379" y="4308478"/>
            <a:ext cx="17463" cy="80803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81" name="Rectangle 1133"/>
          <p:cNvSpPr>
            <a:spLocks noChangeArrowheads="1"/>
          </p:cNvSpPr>
          <p:nvPr/>
        </p:nvSpPr>
        <p:spPr bwMode="auto">
          <a:xfrm>
            <a:off x="5448322" y="4325938"/>
            <a:ext cx="17463" cy="790576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82" name="Rectangle 1134"/>
          <p:cNvSpPr>
            <a:spLocks noChangeArrowheads="1"/>
          </p:cNvSpPr>
          <p:nvPr/>
        </p:nvSpPr>
        <p:spPr bwMode="auto">
          <a:xfrm>
            <a:off x="1366860" y="5151438"/>
            <a:ext cx="4098925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83" name="Rectangle 1135"/>
          <p:cNvSpPr>
            <a:spLocks noChangeArrowheads="1"/>
          </p:cNvSpPr>
          <p:nvPr/>
        </p:nvSpPr>
        <p:spPr bwMode="auto">
          <a:xfrm>
            <a:off x="5513388" y="4308478"/>
            <a:ext cx="17462" cy="80803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84" name="Rectangle 1136"/>
          <p:cNvSpPr>
            <a:spLocks noChangeArrowheads="1"/>
          </p:cNvSpPr>
          <p:nvPr/>
        </p:nvSpPr>
        <p:spPr bwMode="auto">
          <a:xfrm>
            <a:off x="6108720" y="4325938"/>
            <a:ext cx="17463" cy="790576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85" name="Rectangle 1137"/>
          <p:cNvSpPr>
            <a:spLocks noChangeArrowheads="1"/>
          </p:cNvSpPr>
          <p:nvPr/>
        </p:nvSpPr>
        <p:spPr bwMode="auto">
          <a:xfrm>
            <a:off x="5530857" y="5151438"/>
            <a:ext cx="595313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86" name="Rectangle 1138"/>
          <p:cNvSpPr>
            <a:spLocks noChangeArrowheads="1"/>
          </p:cNvSpPr>
          <p:nvPr/>
        </p:nvSpPr>
        <p:spPr bwMode="auto">
          <a:xfrm>
            <a:off x="6167438" y="4308478"/>
            <a:ext cx="17462" cy="80803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87" name="Rectangle 1139"/>
          <p:cNvSpPr>
            <a:spLocks noChangeArrowheads="1"/>
          </p:cNvSpPr>
          <p:nvPr/>
        </p:nvSpPr>
        <p:spPr bwMode="auto">
          <a:xfrm>
            <a:off x="8750322" y="4325938"/>
            <a:ext cx="17463" cy="790576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88" name="Rectangle 1140"/>
          <p:cNvSpPr>
            <a:spLocks noChangeArrowheads="1"/>
          </p:cNvSpPr>
          <p:nvPr/>
        </p:nvSpPr>
        <p:spPr bwMode="auto">
          <a:xfrm>
            <a:off x="825522" y="6354763"/>
            <a:ext cx="366713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89" name="Rectangle 1141"/>
          <p:cNvSpPr>
            <a:spLocks noChangeArrowheads="1"/>
          </p:cNvSpPr>
          <p:nvPr/>
        </p:nvSpPr>
        <p:spPr bwMode="auto">
          <a:xfrm>
            <a:off x="1366860" y="6354763"/>
            <a:ext cx="4098925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90" name="Rectangle 1142"/>
          <p:cNvSpPr>
            <a:spLocks noChangeArrowheads="1"/>
          </p:cNvSpPr>
          <p:nvPr/>
        </p:nvSpPr>
        <p:spPr bwMode="auto">
          <a:xfrm>
            <a:off x="5530857" y="6354763"/>
            <a:ext cx="595313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91" name="Rectangle 1143"/>
          <p:cNvSpPr>
            <a:spLocks noChangeArrowheads="1"/>
          </p:cNvSpPr>
          <p:nvPr/>
        </p:nvSpPr>
        <p:spPr bwMode="auto">
          <a:xfrm>
            <a:off x="806450" y="5151438"/>
            <a:ext cx="19050" cy="122078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92" name="Rectangle 1144"/>
          <p:cNvSpPr>
            <a:spLocks noChangeArrowheads="1"/>
          </p:cNvSpPr>
          <p:nvPr/>
        </p:nvSpPr>
        <p:spPr bwMode="auto">
          <a:xfrm>
            <a:off x="1174772" y="5168913"/>
            <a:ext cx="17463" cy="120332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93" name="Rectangle 1145"/>
          <p:cNvSpPr>
            <a:spLocks noChangeArrowheads="1"/>
          </p:cNvSpPr>
          <p:nvPr/>
        </p:nvSpPr>
        <p:spPr bwMode="auto">
          <a:xfrm>
            <a:off x="1349379" y="5151438"/>
            <a:ext cx="17463" cy="122078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94" name="Rectangle 1146"/>
          <p:cNvSpPr>
            <a:spLocks noChangeArrowheads="1"/>
          </p:cNvSpPr>
          <p:nvPr/>
        </p:nvSpPr>
        <p:spPr bwMode="auto">
          <a:xfrm>
            <a:off x="5448322" y="5168913"/>
            <a:ext cx="17463" cy="120332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95" name="Rectangle 1147"/>
          <p:cNvSpPr>
            <a:spLocks noChangeArrowheads="1"/>
          </p:cNvSpPr>
          <p:nvPr/>
        </p:nvSpPr>
        <p:spPr bwMode="auto">
          <a:xfrm>
            <a:off x="5513388" y="5151438"/>
            <a:ext cx="17462" cy="122078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96" name="Rectangle 1148"/>
          <p:cNvSpPr>
            <a:spLocks noChangeArrowheads="1"/>
          </p:cNvSpPr>
          <p:nvPr/>
        </p:nvSpPr>
        <p:spPr bwMode="auto">
          <a:xfrm>
            <a:off x="6108720" y="5168913"/>
            <a:ext cx="17463" cy="120332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97" name="Rectangle 1149"/>
          <p:cNvSpPr>
            <a:spLocks noChangeArrowheads="1"/>
          </p:cNvSpPr>
          <p:nvPr/>
        </p:nvSpPr>
        <p:spPr bwMode="auto">
          <a:xfrm>
            <a:off x="6167438" y="5151438"/>
            <a:ext cx="17462" cy="122078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98" name="Rectangle 1150"/>
          <p:cNvSpPr>
            <a:spLocks noChangeArrowheads="1"/>
          </p:cNvSpPr>
          <p:nvPr/>
        </p:nvSpPr>
        <p:spPr bwMode="auto">
          <a:xfrm>
            <a:off x="8750322" y="5168913"/>
            <a:ext cx="17463" cy="120332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599" name="Rectangle 1151"/>
          <p:cNvSpPr>
            <a:spLocks noChangeArrowheads="1"/>
          </p:cNvSpPr>
          <p:nvPr/>
        </p:nvSpPr>
        <p:spPr bwMode="auto">
          <a:xfrm>
            <a:off x="6184910" y="2906713"/>
            <a:ext cx="2582863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600" name="Rectangle 1152"/>
          <p:cNvSpPr>
            <a:spLocks noChangeArrowheads="1"/>
          </p:cNvSpPr>
          <p:nvPr/>
        </p:nvSpPr>
        <p:spPr bwMode="auto">
          <a:xfrm>
            <a:off x="6184910" y="4222751"/>
            <a:ext cx="2582863" cy="17464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601" name="Rectangle 1153"/>
          <p:cNvSpPr>
            <a:spLocks noChangeArrowheads="1"/>
          </p:cNvSpPr>
          <p:nvPr/>
        </p:nvSpPr>
        <p:spPr bwMode="auto">
          <a:xfrm>
            <a:off x="6184910" y="4308479"/>
            <a:ext cx="2582863" cy="17464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602" name="Rectangle 1154"/>
          <p:cNvSpPr>
            <a:spLocks noChangeArrowheads="1"/>
          </p:cNvSpPr>
          <p:nvPr/>
        </p:nvSpPr>
        <p:spPr bwMode="auto">
          <a:xfrm>
            <a:off x="6184910" y="5099051"/>
            <a:ext cx="2582863" cy="17464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603" name="Rectangle 1155"/>
          <p:cNvSpPr>
            <a:spLocks noChangeArrowheads="1"/>
          </p:cNvSpPr>
          <p:nvPr/>
        </p:nvSpPr>
        <p:spPr bwMode="auto">
          <a:xfrm>
            <a:off x="6184910" y="5151438"/>
            <a:ext cx="2582863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3604" name="Text Box 1156"/>
          <p:cNvSpPr txBox="1">
            <a:spLocks noChangeArrowheads="1"/>
          </p:cNvSpPr>
          <p:nvPr/>
        </p:nvSpPr>
        <p:spPr bwMode="auto">
          <a:xfrm>
            <a:off x="5419695" y="2054238"/>
            <a:ext cx="7970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400" b="1" smtClean="0">
                <a:solidFill>
                  <a:srgbClr val="000000"/>
                </a:solidFill>
                <a:cs typeface="+mn-cs"/>
              </a:rPr>
              <a:t>100%</a:t>
            </a:r>
          </a:p>
        </p:txBody>
      </p:sp>
      <p:sp>
        <p:nvSpPr>
          <p:cNvPr id="233605" name="Text Box 1157"/>
          <p:cNvSpPr txBox="1">
            <a:spLocks noChangeArrowheads="1"/>
          </p:cNvSpPr>
          <p:nvPr/>
        </p:nvSpPr>
        <p:spPr bwMode="auto">
          <a:xfrm>
            <a:off x="5405269" y="4462463"/>
            <a:ext cx="8242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1400" b="1" smtClean="0">
                <a:solidFill>
                  <a:srgbClr val="000000"/>
                </a:solidFill>
                <a:cs typeface="+mn-cs"/>
              </a:rPr>
              <a:t>até</a:t>
            </a:r>
          </a:p>
          <a:p>
            <a:pPr algn="ctr"/>
            <a:r>
              <a:rPr lang="pt-BR" sz="1400" b="1" smtClean="0">
                <a:solidFill>
                  <a:srgbClr val="000000"/>
                </a:solidFill>
                <a:cs typeface="+mn-cs"/>
              </a:rPr>
              <a:t>+30%</a:t>
            </a:r>
          </a:p>
        </p:txBody>
      </p:sp>
      <p:sp>
        <p:nvSpPr>
          <p:cNvPr id="233606" name="Rectangle 1158"/>
          <p:cNvSpPr>
            <a:spLocks noChangeArrowheads="1"/>
          </p:cNvSpPr>
          <p:nvPr/>
        </p:nvSpPr>
        <p:spPr bwMode="auto">
          <a:xfrm>
            <a:off x="6181725" y="1570052"/>
            <a:ext cx="2566988" cy="1284287"/>
          </a:xfrm>
          <a:prstGeom prst="rect">
            <a:avLst/>
          </a:prstGeom>
          <a:noFill/>
          <a:ln w="9525" algn="ctr">
            <a:solidFill>
              <a:srgbClr val="00808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/>
          <a:lstStyle/>
          <a:p>
            <a:pPr algn="just">
              <a:lnSpc>
                <a:spcPct val="80000"/>
              </a:lnSpc>
            </a:pPr>
            <a:r>
              <a:rPr lang="pt-BR" sz="1000" smtClean="0">
                <a:solidFill>
                  <a:srgbClr val="000000"/>
                </a:solidFill>
                <a:cs typeface="+mn-cs"/>
              </a:rPr>
              <a:t>Comparar a quantidade de requisitos funcionais da Declaração de Escopo com a quantidade de requisitos atendidos e documentados na Declaração de Escopo vigente no término do Projeto. </a:t>
            </a:r>
            <a:r>
              <a:rPr lang="pt-BR" sz="1000" b="1" smtClean="0">
                <a:solidFill>
                  <a:srgbClr val="000000"/>
                </a:solidFill>
                <a:cs typeface="+mn-cs"/>
              </a:rPr>
              <a:t>Exceção a requisitos que  poderão ser cancelados por risco à robustez (inadequação técnica ou imaturidade do requerimento).</a:t>
            </a:r>
          </a:p>
          <a:p>
            <a:pPr algn="ctr">
              <a:lnSpc>
                <a:spcPct val="80000"/>
              </a:lnSpc>
            </a:pPr>
            <a:endParaRPr lang="pt-BR" sz="10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3607" name="Rectangle 1159"/>
          <p:cNvSpPr>
            <a:spLocks noChangeArrowheads="1"/>
          </p:cNvSpPr>
          <p:nvPr/>
        </p:nvSpPr>
        <p:spPr bwMode="auto">
          <a:xfrm>
            <a:off x="6250713" y="4868863"/>
            <a:ext cx="50975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cs typeface="+mn-cs"/>
              </a:rPr>
              <a:t>anterior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72390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20" name="Rectangle 100"/>
          <p:cNvSpPr>
            <a:spLocks noChangeArrowheads="1"/>
          </p:cNvSpPr>
          <p:nvPr/>
        </p:nvSpPr>
        <p:spPr bwMode="auto">
          <a:xfrm>
            <a:off x="304817" y="1833563"/>
            <a:ext cx="8602663" cy="39306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439595"/>
            <a:ext cx="8229600" cy="492443"/>
          </a:xfrm>
          <a:noFill/>
          <a:ln/>
        </p:spPr>
        <p:txBody>
          <a:bodyPr>
            <a:spAutoFit/>
          </a:bodyPr>
          <a:lstStyle/>
          <a:p>
            <a:pPr algn="l" eaLnBrk="0" hangingPunct="0"/>
            <a:r>
              <a:rPr lang="pt-BR" sz="2600">
                <a:solidFill>
                  <a:srgbClr val="C5DBD7"/>
                </a:solidFill>
                <a:latin typeface="Verdana" pitchFamily="34" charset="0"/>
              </a:rPr>
              <a:t>Metas de Qualidade de TI – parte 2</a:t>
            </a:r>
          </a:p>
        </p:txBody>
      </p:sp>
      <p:sp>
        <p:nvSpPr>
          <p:cNvPr id="235523" name="Rectangle 3"/>
          <p:cNvSpPr>
            <a:spLocks noChangeArrowheads="1"/>
          </p:cNvSpPr>
          <p:nvPr/>
        </p:nvSpPr>
        <p:spPr bwMode="auto">
          <a:xfrm>
            <a:off x="5459430" y="4125913"/>
            <a:ext cx="579437" cy="7937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13" name="AutoShape 93"/>
          <p:cNvSpPr>
            <a:spLocks noChangeArrowheads="1"/>
          </p:cNvSpPr>
          <p:nvPr/>
        </p:nvSpPr>
        <p:spPr bwMode="auto">
          <a:xfrm>
            <a:off x="165122" y="1295400"/>
            <a:ext cx="8812213" cy="5105400"/>
          </a:xfrm>
          <a:prstGeom prst="roundRect">
            <a:avLst>
              <a:gd name="adj" fmla="val 2972"/>
            </a:avLst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pt-BR" sz="10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14" name="Text Box 94"/>
          <p:cNvSpPr txBox="1">
            <a:spLocks noChangeArrowheads="1"/>
          </p:cNvSpPr>
          <p:nvPr/>
        </p:nvSpPr>
        <p:spPr bwMode="auto">
          <a:xfrm>
            <a:off x="685800" y="1143013"/>
            <a:ext cx="762000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Peso</a:t>
            </a:r>
          </a:p>
        </p:txBody>
      </p:sp>
      <p:sp>
        <p:nvSpPr>
          <p:cNvPr id="235615" name="Text Box 95"/>
          <p:cNvSpPr txBox="1">
            <a:spLocks noChangeArrowheads="1"/>
          </p:cNvSpPr>
          <p:nvPr/>
        </p:nvSpPr>
        <p:spPr bwMode="auto">
          <a:xfrm>
            <a:off x="2590800" y="1143013"/>
            <a:ext cx="1295400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Descrição</a:t>
            </a:r>
          </a:p>
        </p:txBody>
      </p:sp>
      <p:sp>
        <p:nvSpPr>
          <p:cNvPr id="235616" name="Text Box 96"/>
          <p:cNvSpPr txBox="1">
            <a:spLocks noChangeArrowheads="1"/>
          </p:cNvSpPr>
          <p:nvPr/>
        </p:nvSpPr>
        <p:spPr bwMode="auto">
          <a:xfrm>
            <a:off x="5181600" y="1066800"/>
            <a:ext cx="1219200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Meta Prometida</a:t>
            </a:r>
          </a:p>
        </p:txBody>
      </p:sp>
      <p:sp>
        <p:nvSpPr>
          <p:cNvPr id="235617" name="Text Box 97"/>
          <p:cNvSpPr txBox="1">
            <a:spLocks noChangeArrowheads="1"/>
          </p:cNvSpPr>
          <p:nvPr/>
        </p:nvSpPr>
        <p:spPr bwMode="auto">
          <a:xfrm>
            <a:off x="6705600" y="1066800"/>
            <a:ext cx="1371600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sz="1400" smtClean="0">
                <a:solidFill>
                  <a:srgbClr val="006666"/>
                </a:solidFill>
                <a:cs typeface="+mn-cs"/>
              </a:rPr>
              <a:t>Forma de Mens./Verif.</a:t>
            </a:r>
          </a:p>
        </p:txBody>
      </p:sp>
      <p:sp>
        <p:nvSpPr>
          <p:cNvPr id="235618" name="Rectangle 98"/>
          <p:cNvSpPr>
            <a:spLocks noChangeArrowheads="1"/>
          </p:cNvSpPr>
          <p:nvPr/>
        </p:nvSpPr>
        <p:spPr bwMode="auto">
          <a:xfrm>
            <a:off x="544389" y="6289688"/>
            <a:ext cx="25648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600" b="1" smtClean="0">
                <a:solidFill>
                  <a:srgbClr val="000000"/>
                </a:solidFill>
                <a:cs typeface="+mn-cs"/>
              </a:rPr>
              <a:t> 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19" name="Rectangle 99"/>
          <p:cNvSpPr>
            <a:spLocks noChangeArrowheads="1"/>
          </p:cNvSpPr>
          <p:nvPr/>
        </p:nvSpPr>
        <p:spPr bwMode="auto">
          <a:xfrm>
            <a:off x="152400" y="6384925"/>
            <a:ext cx="87630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pt-BR" sz="800" smtClean="0">
                <a:solidFill>
                  <a:srgbClr val="000000"/>
                </a:solidFill>
                <a:cs typeface="+mn-cs"/>
              </a:rPr>
              <a:t>Quando algum dos quesitos não puder ser apurado, deve ser substituído pela avaliação dos usuários (o questionário para avaliação de usuários propõe questões relacionadas a cada um dos itens acima). </a:t>
            </a:r>
          </a:p>
        </p:txBody>
      </p:sp>
      <p:sp>
        <p:nvSpPr>
          <p:cNvPr id="235622" name="Rectangle 102"/>
          <p:cNvSpPr>
            <a:spLocks noChangeArrowheads="1"/>
          </p:cNvSpPr>
          <p:nvPr/>
        </p:nvSpPr>
        <p:spPr bwMode="auto">
          <a:xfrm>
            <a:off x="432916" y="2416181"/>
            <a:ext cx="9778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O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23" name="Rectangle 103"/>
          <p:cNvSpPr>
            <a:spLocks noChangeArrowheads="1"/>
          </p:cNvSpPr>
          <p:nvPr/>
        </p:nvSpPr>
        <p:spPr bwMode="auto">
          <a:xfrm>
            <a:off x="437725" y="2562238"/>
            <a:ext cx="8816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B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24" name="Rectangle 104"/>
          <p:cNvSpPr>
            <a:spLocks noChangeArrowheads="1"/>
          </p:cNvSpPr>
          <p:nvPr/>
        </p:nvSpPr>
        <p:spPr bwMode="auto">
          <a:xfrm>
            <a:off x="434527" y="2708288"/>
            <a:ext cx="9297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U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25" name="Rectangle 105"/>
          <p:cNvSpPr>
            <a:spLocks noChangeArrowheads="1"/>
          </p:cNvSpPr>
          <p:nvPr/>
        </p:nvSpPr>
        <p:spPr bwMode="auto">
          <a:xfrm>
            <a:off x="440931" y="2854339"/>
            <a:ext cx="8175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S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26" name="Rectangle 106"/>
          <p:cNvSpPr>
            <a:spLocks noChangeArrowheads="1"/>
          </p:cNvSpPr>
          <p:nvPr/>
        </p:nvSpPr>
        <p:spPr bwMode="auto">
          <a:xfrm>
            <a:off x="440945" y="3000388"/>
            <a:ext cx="7854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T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27" name="Rectangle 107"/>
          <p:cNvSpPr>
            <a:spLocks noChangeArrowheads="1"/>
          </p:cNvSpPr>
          <p:nvPr/>
        </p:nvSpPr>
        <p:spPr bwMode="auto">
          <a:xfrm>
            <a:off x="440945" y="3146438"/>
            <a:ext cx="7854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E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28" name="Rectangle 108"/>
          <p:cNvSpPr>
            <a:spLocks noChangeArrowheads="1"/>
          </p:cNvSpPr>
          <p:nvPr/>
        </p:nvSpPr>
        <p:spPr bwMode="auto">
          <a:xfrm>
            <a:off x="440939" y="3292489"/>
            <a:ext cx="8015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Z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32" name="Rectangle 112"/>
          <p:cNvSpPr>
            <a:spLocks noChangeArrowheads="1"/>
          </p:cNvSpPr>
          <p:nvPr/>
        </p:nvSpPr>
        <p:spPr bwMode="auto">
          <a:xfrm>
            <a:off x="6236604" y="1997091"/>
            <a:ext cx="2768387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100" smtClean="0">
                <a:solidFill>
                  <a:srgbClr val="000000"/>
                </a:solidFill>
                <a:cs typeface="+mn-cs"/>
              </a:rPr>
              <a:t>Comparar a meta de cada função com 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33" name="Rectangle 113"/>
          <p:cNvSpPr>
            <a:spLocks noChangeArrowheads="1"/>
          </p:cNvSpPr>
          <p:nvPr/>
        </p:nvSpPr>
        <p:spPr bwMode="auto">
          <a:xfrm>
            <a:off x="6284055" y="2166952"/>
            <a:ext cx="2479845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100" smtClean="0">
                <a:solidFill>
                  <a:srgbClr val="000000"/>
                </a:solidFill>
                <a:cs typeface="+mn-cs"/>
              </a:rPr>
              <a:t>o índice de performance obtido no 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34" name="Rectangle 114"/>
          <p:cNvSpPr>
            <a:spLocks noChangeArrowheads="1"/>
          </p:cNvSpPr>
          <p:nvPr/>
        </p:nvSpPr>
        <p:spPr bwMode="auto">
          <a:xfrm>
            <a:off x="6282423" y="2336817"/>
            <a:ext cx="2486257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100" smtClean="0">
                <a:solidFill>
                  <a:srgbClr val="000000"/>
                </a:solidFill>
                <a:cs typeface="+mn-cs"/>
              </a:rPr>
              <a:t>período. O resultado final da meta 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35" name="Rectangle 115"/>
          <p:cNvSpPr>
            <a:spLocks noChangeArrowheads="1"/>
          </p:cNvSpPr>
          <p:nvPr/>
        </p:nvSpPr>
        <p:spPr bwMode="auto">
          <a:xfrm>
            <a:off x="6260663" y="2508267"/>
            <a:ext cx="271709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100" smtClean="0">
                <a:solidFill>
                  <a:srgbClr val="000000"/>
                </a:solidFill>
                <a:cs typeface="+mn-cs"/>
              </a:rPr>
              <a:t>deve ser obtido por média ponderada.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37" name="Rectangle 117"/>
          <p:cNvSpPr>
            <a:spLocks noChangeArrowheads="1"/>
          </p:cNvSpPr>
          <p:nvPr/>
        </p:nvSpPr>
        <p:spPr bwMode="auto">
          <a:xfrm>
            <a:off x="1105885" y="2260617"/>
            <a:ext cx="12503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100" smtClean="0">
                <a:solidFill>
                  <a:srgbClr val="000000"/>
                </a:solidFill>
                <a:latin typeface="Arial" charset="0"/>
                <a:cs typeface="+mn-cs"/>
              </a:rPr>
              <a:t>%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38" name="Rectangle 118"/>
          <p:cNvSpPr>
            <a:spLocks noChangeArrowheads="1"/>
          </p:cNvSpPr>
          <p:nvPr/>
        </p:nvSpPr>
        <p:spPr bwMode="auto">
          <a:xfrm>
            <a:off x="1105885" y="3219466"/>
            <a:ext cx="12503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100" smtClean="0">
                <a:solidFill>
                  <a:srgbClr val="000000"/>
                </a:solidFill>
                <a:latin typeface="Arial" charset="0"/>
                <a:cs typeface="+mn-cs"/>
              </a:rPr>
              <a:t>%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39" name="Rectangle 119"/>
          <p:cNvSpPr>
            <a:spLocks noChangeArrowheads="1"/>
          </p:cNvSpPr>
          <p:nvPr/>
        </p:nvSpPr>
        <p:spPr bwMode="auto">
          <a:xfrm>
            <a:off x="5554522" y="3171827"/>
            <a:ext cx="687689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200" b="1" smtClean="0">
                <a:solidFill>
                  <a:srgbClr val="000000"/>
                </a:solidFill>
                <a:cs typeface="+mn-cs"/>
              </a:rPr>
              <a:t>99,83%</a:t>
            </a:r>
            <a:endParaRPr lang="pt-BR" sz="1200" b="1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40" name="Rectangle 120"/>
          <p:cNvSpPr>
            <a:spLocks noChangeArrowheads="1"/>
          </p:cNvSpPr>
          <p:nvPr/>
        </p:nvSpPr>
        <p:spPr bwMode="auto">
          <a:xfrm>
            <a:off x="5615658" y="2252663"/>
            <a:ext cx="522579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200" b="1" smtClean="0">
                <a:solidFill>
                  <a:srgbClr val="000000"/>
                </a:solidFill>
                <a:cs typeface="+mn-cs"/>
              </a:rPr>
              <a:t>100%</a:t>
            </a:r>
          </a:p>
        </p:txBody>
      </p:sp>
      <p:sp>
        <p:nvSpPr>
          <p:cNvPr id="235642" name="Rectangle 122"/>
          <p:cNvSpPr>
            <a:spLocks noChangeArrowheads="1"/>
          </p:cNvSpPr>
          <p:nvPr/>
        </p:nvSpPr>
        <p:spPr bwMode="auto">
          <a:xfrm>
            <a:off x="805768" y="2260599"/>
            <a:ext cx="141064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latin typeface="Arial" charset="0"/>
                <a:cs typeface="+mn-cs"/>
              </a:rPr>
              <a:t>15</a:t>
            </a:r>
            <a:endParaRPr lang="pt-BR" sz="10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43" name="Rectangle 123"/>
          <p:cNvSpPr>
            <a:spLocks noChangeArrowheads="1"/>
          </p:cNvSpPr>
          <p:nvPr/>
        </p:nvSpPr>
        <p:spPr bwMode="auto">
          <a:xfrm>
            <a:off x="805768" y="3219450"/>
            <a:ext cx="141064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000" smtClean="0">
                <a:solidFill>
                  <a:srgbClr val="000000"/>
                </a:solidFill>
                <a:latin typeface="Arial" charset="0"/>
                <a:cs typeface="+mn-cs"/>
              </a:rPr>
              <a:t>15</a:t>
            </a:r>
            <a:endParaRPr lang="pt-BR" sz="10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57" name="Rectangle 137"/>
          <p:cNvSpPr>
            <a:spLocks noChangeArrowheads="1"/>
          </p:cNvSpPr>
          <p:nvPr/>
        </p:nvSpPr>
        <p:spPr bwMode="auto">
          <a:xfrm>
            <a:off x="700088" y="1857375"/>
            <a:ext cx="381000" cy="1905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58" name="Rectangle 138"/>
          <p:cNvSpPr>
            <a:spLocks noChangeArrowheads="1"/>
          </p:cNvSpPr>
          <p:nvPr/>
        </p:nvSpPr>
        <p:spPr bwMode="auto">
          <a:xfrm>
            <a:off x="1260497" y="1857375"/>
            <a:ext cx="4240213" cy="1905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59" name="Rectangle 139"/>
          <p:cNvSpPr>
            <a:spLocks noChangeArrowheads="1"/>
          </p:cNvSpPr>
          <p:nvPr/>
        </p:nvSpPr>
        <p:spPr bwMode="auto">
          <a:xfrm>
            <a:off x="5567363" y="1857375"/>
            <a:ext cx="615950" cy="1905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60" name="Rectangle 140"/>
          <p:cNvSpPr>
            <a:spLocks noChangeArrowheads="1"/>
          </p:cNvSpPr>
          <p:nvPr/>
        </p:nvSpPr>
        <p:spPr bwMode="auto">
          <a:xfrm>
            <a:off x="700088" y="2808288"/>
            <a:ext cx="381000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61" name="Rectangle 141"/>
          <p:cNvSpPr>
            <a:spLocks noChangeArrowheads="1"/>
          </p:cNvSpPr>
          <p:nvPr/>
        </p:nvSpPr>
        <p:spPr bwMode="auto">
          <a:xfrm>
            <a:off x="1260497" y="2808288"/>
            <a:ext cx="4240213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62" name="Rectangle 142"/>
          <p:cNvSpPr>
            <a:spLocks noChangeArrowheads="1"/>
          </p:cNvSpPr>
          <p:nvPr/>
        </p:nvSpPr>
        <p:spPr bwMode="auto">
          <a:xfrm>
            <a:off x="5567363" y="2808288"/>
            <a:ext cx="615950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63" name="Rectangle 143"/>
          <p:cNvSpPr>
            <a:spLocks noChangeArrowheads="1"/>
          </p:cNvSpPr>
          <p:nvPr/>
        </p:nvSpPr>
        <p:spPr bwMode="auto">
          <a:xfrm>
            <a:off x="681038" y="1857388"/>
            <a:ext cx="19050" cy="96837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64" name="Rectangle 144"/>
          <p:cNvSpPr>
            <a:spLocks noChangeArrowheads="1"/>
          </p:cNvSpPr>
          <p:nvPr/>
        </p:nvSpPr>
        <p:spPr bwMode="auto">
          <a:xfrm>
            <a:off x="1062038" y="1876429"/>
            <a:ext cx="19050" cy="94932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65" name="Rectangle 145"/>
          <p:cNvSpPr>
            <a:spLocks noChangeArrowheads="1"/>
          </p:cNvSpPr>
          <p:nvPr/>
        </p:nvSpPr>
        <p:spPr bwMode="auto">
          <a:xfrm>
            <a:off x="700088" y="2862263"/>
            <a:ext cx="381000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66" name="Rectangle 146"/>
          <p:cNvSpPr>
            <a:spLocks noChangeArrowheads="1"/>
          </p:cNvSpPr>
          <p:nvPr/>
        </p:nvSpPr>
        <p:spPr bwMode="auto">
          <a:xfrm>
            <a:off x="1241425" y="1857388"/>
            <a:ext cx="19050" cy="96837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67" name="Rectangle 147"/>
          <p:cNvSpPr>
            <a:spLocks noChangeArrowheads="1"/>
          </p:cNvSpPr>
          <p:nvPr/>
        </p:nvSpPr>
        <p:spPr bwMode="auto">
          <a:xfrm>
            <a:off x="5481638" y="1876429"/>
            <a:ext cx="19050" cy="94932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68" name="Rectangle 148"/>
          <p:cNvSpPr>
            <a:spLocks noChangeArrowheads="1"/>
          </p:cNvSpPr>
          <p:nvPr/>
        </p:nvSpPr>
        <p:spPr bwMode="auto">
          <a:xfrm>
            <a:off x="1260497" y="2862263"/>
            <a:ext cx="4240213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69" name="Rectangle 149"/>
          <p:cNvSpPr>
            <a:spLocks noChangeArrowheads="1"/>
          </p:cNvSpPr>
          <p:nvPr/>
        </p:nvSpPr>
        <p:spPr bwMode="auto">
          <a:xfrm>
            <a:off x="5549906" y="1857388"/>
            <a:ext cx="17463" cy="96837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70" name="Rectangle 150"/>
          <p:cNvSpPr>
            <a:spLocks noChangeArrowheads="1"/>
          </p:cNvSpPr>
          <p:nvPr/>
        </p:nvSpPr>
        <p:spPr bwMode="auto">
          <a:xfrm>
            <a:off x="6164263" y="1876429"/>
            <a:ext cx="19050" cy="94932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71" name="Rectangle 151"/>
          <p:cNvSpPr>
            <a:spLocks noChangeArrowheads="1"/>
          </p:cNvSpPr>
          <p:nvPr/>
        </p:nvSpPr>
        <p:spPr bwMode="auto">
          <a:xfrm>
            <a:off x="5567363" y="2862263"/>
            <a:ext cx="615950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72" name="Rectangle 152"/>
          <p:cNvSpPr>
            <a:spLocks noChangeArrowheads="1"/>
          </p:cNvSpPr>
          <p:nvPr/>
        </p:nvSpPr>
        <p:spPr bwMode="auto">
          <a:xfrm>
            <a:off x="6224588" y="1857388"/>
            <a:ext cx="19050" cy="96837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73" name="Rectangle 153"/>
          <p:cNvSpPr>
            <a:spLocks noChangeArrowheads="1"/>
          </p:cNvSpPr>
          <p:nvPr/>
        </p:nvSpPr>
        <p:spPr bwMode="auto">
          <a:xfrm>
            <a:off x="8896350" y="1876429"/>
            <a:ext cx="19050" cy="94932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74" name="Rectangle 154"/>
          <p:cNvSpPr>
            <a:spLocks noChangeArrowheads="1"/>
          </p:cNvSpPr>
          <p:nvPr/>
        </p:nvSpPr>
        <p:spPr bwMode="auto">
          <a:xfrm>
            <a:off x="700088" y="3721102"/>
            <a:ext cx="381000" cy="1905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75" name="Rectangle 155"/>
          <p:cNvSpPr>
            <a:spLocks noChangeArrowheads="1"/>
          </p:cNvSpPr>
          <p:nvPr/>
        </p:nvSpPr>
        <p:spPr bwMode="auto">
          <a:xfrm>
            <a:off x="1260497" y="3721102"/>
            <a:ext cx="4240213" cy="1905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76" name="Rectangle 156"/>
          <p:cNvSpPr>
            <a:spLocks noChangeArrowheads="1"/>
          </p:cNvSpPr>
          <p:nvPr/>
        </p:nvSpPr>
        <p:spPr bwMode="auto">
          <a:xfrm>
            <a:off x="5567363" y="3721102"/>
            <a:ext cx="615950" cy="1905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77" name="Rectangle 157"/>
          <p:cNvSpPr>
            <a:spLocks noChangeArrowheads="1"/>
          </p:cNvSpPr>
          <p:nvPr/>
        </p:nvSpPr>
        <p:spPr bwMode="auto">
          <a:xfrm>
            <a:off x="681038" y="2862263"/>
            <a:ext cx="19050" cy="87788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78" name="Rectangle 158"/>
          <p:cNvSpPr>
            <a:spLocks noChangeArrowheads="1"/>
          </p:cNvSpPr>
          <p:nvPr/>
        </p:nvSpPr>
        <p:spPr bwMode="auto">
          <a:xfrm>
            <a:off x="1062038" y="2879738"/>
            <a:ext cx="19050" cy="86042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79" name="Rectangle 159"/>
          <p:cNvSpPr>
            <a:spLocks noChangeArrowheads="1"/>
          </p:cNvSpPr>
          <p:nvPr/>
        </p:nvSpPr>
        <p:spPr bwMode="auto">
          <a:xfrm>
            <a:off x="1241425" y="2862263"/>
            <a:ext cx="19050" cy="87788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80" name="Rectangle 160"/>
          <p:cNvSpPr>
            <a:spLocks noChangeArrowheads="1"/>
          </p:cNvSpPr>
          <p:nvPr/>
        </p:nvSpPr>
        <p:spPr bwMode="auto">
          <a:xfrm>
            <a:off x="5481638" y="2879738"/>
            <a:ext cx="19050" cy="86042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81" name="Rectangle 161"/>
          <p:cNvSpPr>
            <a:spLocks noChangeArrowheads="1"/>
          </p:cNvSpPr>
          <p:nvPr/>
        </p:nvSpPr>
        <p:spPr bwMode="auto">
          <a:xfrm>
            <a:off x="6224588" y="2862263"/>
            <a:ext cx="19050" cy="87788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82" name="Rectangle 162"/>
          <p:cNvSpPr>
            <a:spLocks noChangeArrowheads="1"/>
          </p:cNvSpPr>
          <p:nvPr/>
        </p:nvSpPr>
        <p:spPr bwMode="auto">
          <a:xfrm>
            <a:off x="8896350" y="2879738"/>
            <a:ext cx="19050" cy="86042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83" name="Rectangle 163"/>
          <p:cNvSpPr>
            <a:spLocks noChangeArrowheads="1"/>
          </p:cNvSpPr>
          <p:nvPr/>
        </p:nvSpPr>
        <p:spPr bwMode="auto">
          <a:xfrm>
            <a:off x="5549906" y="2862263"/>
            <a:ext cx="17463" cy="877888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84" name="Rectangle 164"/>
          <p:cNvSpPr>
            <a:spLocks noChangeArrowheads="1"/>
          </p:cNvSpPr>
          <p:nvPr/>
        </p:nvSpPr>
        <p:spPr bwMode="auto">
          <a:xfrm>
            <a:off x="6164263" y="2879738"/>
            <a:ext cx="19050" cy="860425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92" name="Rectangle 172"/>
          <p:cNvSpPr>
            <a:spLocks noChangeArrowheads="1"/>
          </p:cNvSpPr>
          <p:nvPr/>
        </p:nvSpPr>
        <p:spPr bwMode="auto">
          <a:xfrm>
            <a:off x="6243638" y="1857375"/>
            <a:ext cx="2671762" cy="1905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93" name="Rectangle 173"/>
          <p:cNvSpPr>
            <a:spLocks noChangeArrowheads="1"/>
          </p:cNvSpPr>
          <p:nvPr/>
        </p:nvSpPr>
        <p:spPr bwMode="auto">
          <a:xfrm>
            <a:off x="6243638" y="2808288"/>
            <a:ext cx="2671762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94" name="Rectangle 174"/>
          <p:cNvSpPr>
            <a:spLocks noChangeArrowheads="1"/>
          </p:cNvSpPr>
          <p:nvPr/>
        </p:nvSpPr>
        <p:spPr bwMode="auto">
          <a:xfrm>
            <a:off x="6243638" y="2862263"/>
            <a:ext cx="2671762" cy="17462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95" name="Rectangle 175"/>
          <p:cNvSpPr>
            <a:spLocks noChangeArrowheads="1"/>
          </p:cNvSpPr>
          <p:nvPr/>
        </p:nvSpPr>
        <p:spPr bwMode="auto">
          <a:xfrm>
            <a:off x="6243638" y="3721102"/>
            <a:ext cx="2671762" cy="1905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sz="12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698" name="Rectangle 178"/>
          <p:cNvSpPr>
            <a:spLocks noChangeArrowheads="1"/>
          </p:cNvSpPr>
          <p:nvPr/>
        </p:nvSpPr>
        <p:spPr bwMode="auto">
          <a:xfrm>
            <a:off x="1303338" y="3052777"/>
            <a:ext cx="40640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r>
              <a:rPr lang="pt-BR" sz="1100" smtClean="0">
                <a:solidFill>
                  <a:srgbClr val="000000"/>
                </a:solidFill>
                <a:cs typeface="+mn-cs"/>
              </a:rPr>
              <a:t>Média da disponibilidade do serviço Capta apresentada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35699" name="Rectangle 179"/>
          <p:cNvSpPr>
            <a:spLocks noChangeArrowheads="1"/>
          </p:cNvSpPr>
          <p:nvPr/>
        </p:nvSpPr>
        <p:spPr bwMode="auto">
          <a:xfrm>
            <a:off x="1354138" y="3208352"/>
            <a:ext cx="305435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r>
              <a:rPr lang="pt-BR" sz="1100" smtClean="0">
                <a:solidFill>
                  <a:srgbClr val="000000"/>
                </a:solidFill>
                <a:cs typeface="+mn-cs"/>
              </a:rPr>
              <a:t>do 4º. ao. 6º. período de  21 dias após último Go-Live</a:t>
            </a:r>
          </a:p>
        </p:txBody>
      </p:sp>
      <p:sp>
        <p:nvSpPr>
          <p:cNvPr id="235700" name="Text Box 180"/>
          <p:cNvSpPr txBox="1">
            <a:spLocks noChangeArrowheads="1"/>
          </p:cNvSpPr>
          <p:nvPr/>
        </p:nvSpPr>
        <p:spPr bwMode="auto">
          <a:xfrm>
            <a:off x="6283325" y="2909888"/>
            <a:ext cx="2592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r>
              <a:rPr lang="pt-BR" sz="1100" smtClean="0">
                <a:solidFill>
                  <a:srgbClr val="000000"/>
                </a:solidFill>
                <a:cs typeface="+mn-cs"/>
              </a:rPr>
              <a:t>Avaliar a disponibilidade do serviço do Capta (não incluindo indisponibilidade de rede externos à Natura) pelo Mercury</a:t>
            </a:r>
          </a:p>
        </p:txBody>
      </p:sp>
      <p:sp>
        <p:nvSpPr>
          <p:cNvPr id="235701" name="Text Box 181"/>
          <p:cNvSpPr txBox="1">
            <a:spLocks noChangeArrowheads="1"/>
          </p:cNvSpPr>
          <p:nvPr/>
        </p:nvSpPr>
        <p:spPr bwMode="auto">
          <a:xfrm>
            <a:off x="1322388" y="2017712"/>
            <a:ext cx="4108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r>
              <a:rPr lang="pt-BR" sz="1100" smtClean="0">
                <a:solidFill>
                  <a:srgbClr val="000000"/>
                </a:solidFill>
                <a:cs typeface="+mn-cs"/>
              </a:rPr>
              <a:t>Média ponderada do atingimento dos 11 indicadores de performance (inclusão de item = peso 2) apresentada do 4º. ao. 6º. período de  21 dias após último Go-Live</a:t>
            </a:r>
          </a:p>
          <a:p>
            <a:endParaRPr lang="pt-BR" sz="2400" i="1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  <a:p>
            <a:endParaRPr lang="pt-BR" sz="1100" smtClean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35703" name="Rectangle 183"/>
          <p:cNvSpPr>
            <a:spLocks noChangeArrowheads="1"/>
          </p:cNvSpPr>
          <p:nvPr/>
        </p:nvSpPr>
        <p:spPr bwMode="auto">
          <a:xfrm>
            <a:off x="444066" y="2247913"/>
            <a:ext cx="8976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900" b="1" smtClean="0">
                <a:solidFill>
                  <a:srgbClr val="000000"/>
                </a:solidFill>
                <a:cs typeface="+mn-cs"/>
              </a:rPr>
              <a:t>R</a:t>
            </a:r>
            <a:endParaRPr lang="pt-BR" sz="2400" smtClean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02331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3/12/2010 9:53:52 A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3/12/2010 9:53:52 AM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3/12/2010 9:53:52 A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3/12/2010 9:53:52 A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3/12/2010 9:53:52 A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3/12/2010 9:53:52 A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jbiHqm2E02RugRWV4S6X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lTxXbf5TkicP7tBaowQb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J6JYbgZZ0efLEGdGaYuR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FefO0BK0uwFmjFLbq.m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2vD_lC_S0KVnnN._Kege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rPkrmPm4EmKB4NqrfwKk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Q.qX9Vi06wZLOkA2vHo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RmagytAAU2A40f4wDs15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m_1YY2E4kCXv_D1SAce3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w3PvD97bEiNtrdxjiwHe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CmbFwbbdky05hMvzSgjF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ZdrKr5yAkyIDpdrVOSXJ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CUrP9P6gEC53uKtERkH.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N6qkQ7kmEyxc3DH.3_cY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ZCXfBUrOEmUAj8zDcXpI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HMEgWkxYU6QSDnrgqLG6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We5TalM50iQa9.cykJf3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bpLgyqEo0SUxsPaRA1Gp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p7FhDQx06tNGJsNFIU_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fTwUulsDUOE6tEkbkMVm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3ZvFFZMNEmW7wkswvzL0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2_6ViXpVk25_1.GAzBQT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hTQPmA8cEOuck5uEq8El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RmagytAAU2A40f4wDs15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QVQNmqKR0Gn8L0_78gvl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iNwJ3pEa0KfKinYAeqF4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bGBevDY3U6zdU2c2Q2EU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jbiHqm2E02RugRWV4S6X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jbiHqm2E02RugRWV4S6X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jbiHqm2E02RugRWV4S6X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jbiHqm2E02RugRWV4S6X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jbiHqm2E02RugRWV4S6X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jbiHqm2E02RugRWV4S6X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lTxXbf5TkicP7tBaowQb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J6JYbgZZ0efLEGdGaYuRQ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FefO0BK0uwFmjFLbq.m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2vD_lC_S0KVnnN._Kege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rPkrmPm4EmKB4NqrfwKkA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Q.qX9Vi06wZLOkA2vHo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RmagytAAU2A40f4wDs15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m_1YY2E4kCXv_D1SAce3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w3PvD97bEiNtrdxjiwHe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CmbFwbbdky05hMvzSgjF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ZdrKr5yAkyIDpdrVOSXJ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CUrP9P6gEC53uKtERkH.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N6qkQ7kmEyxc3DH.3_cY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ZCXfBUrOEmUAj8zDcXpI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HMEgWkxYU6QSDnrgqLG6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We5TalM50iQa9.cykJf3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bpLgyqEo0SUxsPaRA1Gp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p7FhDQx06tNGJsNFIU_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fTwUulsDUOE6tEkbkMVmQ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3ZvFFZMNEmW7wkswvzL0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2_6ViXpVk25_1.GAzBQT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hTQPmA8cEOuck5uEq8El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RmagytAAU2A40f4wDs15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QVQNmqKR0Gn8L0_78gvlQ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iNwJ3pEa0KfKinYAeqF4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bGBevDY3U6zdU2c2Q2EU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1Mkft9WpU6KSowByNtZw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S2bH4Fzcky4adyKqN.BtA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tzzDSrDUEGwm55EnUuvr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i5NBB5W3UmAdR4F60Jv1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VeYsjO8CUySRvIhndlLS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AZRoepJH0O6r6Wd9_TpH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QrGlCguiECl.9WuwzEAS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4EZ59lLAk.wMREO0ZL.9w"/>
</p:tagLst>
</file>

<file path=ppt/theme/theme1.xml><?xml version="1.0" encoding="utf-8"?>
<a:theme xmlns:a="http://schemas.openxmlformats.org/drawingml/2006/main" name="7_Custom Design">
  <a:themeElements>
    <a:clrScheme name="7_Custom Design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7_Custom Design">
      <a:majorFont>
        <a:latin typeface="Verdana"/>
        <a:ea typeface=""/>
        <a:cs typeface="Arial"/>
      </a:majorFont>
      <a:minorFont>
        <a:latin typeface="Verdan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7_Custom Design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Custom Design">
      <a:majorFont>
        <a:latin typeface="Verdana"/>
        <a:ea typeface=""/>
        <a:cs typeface="Arial"/>
      </a:majorFont>
      <a:minorFont>
        <a:latin typeface="Verdan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Custom Design">
      <a:majorFont>
        <a:latin typeface="Verdana"/>
        <a:ea typeface=""/>
        <a:cs typeface="Arial"/>
      </a:majorFont>
      <a:minorFont>
        <a:latin typeface="Verdan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Custom Design">
  <a:themeElements>
    <a:clrScheme name="3_Custom Design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3_Custom Design">
      <a:majorFont>
        <a:latin typeface="Verdana"/>
        <a:ea typeface=""/>
        <a:cs typeface="Arial"/>
      </a:majorFont>
      <a:minorFont>
        <a:latin typeface="Verdan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Estrutura padrão">
  <a:themeElements>
    <a:clrScheme name="Estrutura padrã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4_Estrutura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50000"/>
          </a:lnSpc>
          <a:spcBef>
            <a:spcPct val="0"/>
          </a:spcBef>
          <a:spcAft>
            <a:spcPct val="0"/>
          </a:spcAft>
          <a:buClrTx/>
          <a:buSzPct val="80000"/>
          <a:buFontTx/>
          <a:buChar char="•"/>
          <a:tabLst/>
          <a:defRPr kumimoji="0" lang="pt-BR" sz="18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50000"/>
          </a:lnSpc>
          <a:spcBef>
            <a:spcPct val="0"/>
          </a:spcBef>
          <a:spcAft>
            <a:spcPct val="0"/>
          </a:spcAft>
          <a:buClrTx/>
          <a:buSzPct val="80000"/>
          <a:buFontTx/>
          <a:buChar char="•"/>
          <a:tabLst/>
          <a:defRPr kumimoji="0" lang="pt-BR" sz="18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6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6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solidFill>
          <a:schemeClr val="bg1"/>
        </a:solidFill>
        <a:ln w="12700"/>
      </a:spPr>
      <a:bodyPr anchor="t"/>
      <a:lstStyle>
        <a:defPPr>
          <a:buNone/>
          <a:defRPr sz="1200" dirty="0">
            <a:solidFill>
              <a:schemeClr val="tx1"/>
            </a:solidFill>
            <a:latin typeface="Arial" charset="0"/>
            <a:cs typeface="Arial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</a:theme>
</file>

<file path=ppt/theme/theme7.xml><?xml version="1.0" encoding="utf-8"?>
<a:theme xmlns:a="http://schemas.openxmlformats.org/drawingml/2006/main" name="4_Custom Design">
  <a:themeElements>
    <a:clrScheme name="3_Custom Design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3_Custom Design">
      <a:majorFont>
        <a:latin typeface="Verdana"/>
        <a:ea typeface=""/>
        <a:cs typeface="Arial"/>
      </a:majorFont>
      <a:minorFont>
        <a:latin typeface="Verdan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8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9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Estrutura padrão">
  <a:themeElements>
    <a:clrScheme name="Estrutura padrã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trutura padrã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10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B9326EE571E604C8AC038E2D01DC92C" ma:contentTypeVersion="0" ma:contentTypeDescription="Crie um novo documento." ma:contentTypeScope="" ma:versionID="ffabe632c29059b9fd18628df0b25f7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e078010f886becc52d8153076464f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76409BE-43EE-4850-8AB5-9C423CAF2434}"/>
</file>

<file path=customXml/itemProps2.xml><?xml version="1.0" encoding="utf-8"?>
<ds:datastoreItem xmlns:ds="http://schemas.openxmlformats.org/officeDocument/2006/customXml" ds:itemID="{FE12C26A-81F6-4F0D-9E6B-4EC63A14C344}"/>
</file>

<file path=customXml/itemProps3.xml><?xml version="1.0" encoding="utf-8"?>
<ds:datastoreItem xmlns:ds="http://schemas.openxmlformats.org/officeDocument/2006/customXml" ds:itemID="{6F7B9A8B-F8F1-4591-8680-2AA5854BA702}"/>
</file>

<file path=docProps/app.xml><?xml version="1.0" encoding="utf-8"?>
<Properties xmlns="http://schemas.openxmlformats.org/officeDocument/2006/extended-properties" xmlns:vt="http://schemas.openxmlformats.org/officeDocument/2006/docPropsVTypes">
  <TotalTime>10585</TotalTime>
  <Words>3743</Words>
  <Application>Microsoft Office PowerPoint</Application>
  <PresentationFormat>Apresentação na tela (4:3)</PresentationFormat>
  <Paragraphs>843</Paragraphs>
  <Slides>36</Slides>
  <Notes>25</Notes>
  <HiddenSlides>20</HiddenSlides>
  <MMClips>0</MMClips>
  <ScaleCrop>false</ScaleCrop>
  <HeadingPairs>
    <vt:vector size="8" baseType="variant">
      <vt:variant>
        <vt:lpstr>Tema</vt:lpstr>
      </vt:variant>
      <vt:variant>
        <vt:i4>15</vt:i4>
      </vt:variant>
      <vt:variant>
        <vt:lpstr>Vínculos</vt:lpstr>
      </vt:variant>
      <vt:variant>
        <vt:i4>2</vt:i4>
      </vt:variant>
      <vt:variant>
        <vt:lpstr>Servidores OLE incorporados</vt:lpstr>
      </vt:variant>
      <vt:variant>
        <vt:i4>2</vt:i4>
      </vt:variant>
      <vt:variant>
        <vt:lpstr>Títulos de slides</vt:lpstr>
      </vt:variant>
      <vt:variant>
        <vt:i4>36</vt:i4>
      </vt:variant>
    </vt:vector>
  </HeadingPairs>
  <TitlesOfParts>
    <vt:vector size="55" baseType="lpstr">
      <vt:lpstr>7_Custom Design</vt:lpstr>
      <vt:lpstr>Custom Design</vt:lpstr>
      <vt:lpstr>2_Custom Design</vt:lpstr>
      <vt:lpstr>3_Custom Design</vt:lpstr>
      <vt:lpstr>4_Estrutura padrão</vt:lpstr>
      <vt:lpstr>16_Custom Design</vt:lpstr>
      <vt:lpstr>4_Custom Design</vt:lpstr>
      <vt:lpstr>1_Custom Design</vt:lpstr>
      <vt:lpstr>5_Custom Design</vt:lpstr>
      <vt:lpstr>6_Custom Design</vt:lpstr>
      <vt:lpstr>8_Custom Design</vt:lpstr>
      <vt:lpstr>9_Custom Design</vt:lpstr>
      <vt:lpstr>Office Theme</vt:lpstr>
      <vt:lpstr>Estrutura padrão</vt:lpstr>
      <vt:lpstr>10_Custom Design</vt:lpstr>
      <vt:lpstr>E:\Users\ehotta\Documents\Revisão Programa Terra Mar2011\Comex_Reaprovação P1 - Implementação _v2xlsx.xlsx!Plan2!L3C2:L20C5</vt:lpstr>
      <vt:lpstr>E:\Users\ehotta\Documents\Revisão Programa Terra Mar2011\Comex_Reaprovação P1 - Implementação _v2xlsx.xlsx!Plan2!L3C7:L19C10</vt:lpstr>
      <vt:lpstr>think-cell Slide</vt:lpstr>
      <vt:lpstr>Planilha</vt:lpstr>
      <vt:lpstr>Apresentação do PowerPoint</vt:lpstr>
      <vt:lpstr>Apresentação do PowerPoint</vt:lpstr>
      <vt:lpstr>Apresentação do PowerPoint</vt:lpstr>
      <vt:lpstr>Onde estamos</vt:lpstr>
      <vt:lpstr>O que estamos fazendo?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Terra: principais variações P1</vt:lpstr>
      <vt:lpstr>Impacto no Resultado (OpEx)</vt:lpstr>
      <vt:lpstr>Apresentação do PowerPoint</vt:lpstr>
      <vt:lpstr>Apresentação do PowerPoint</vt:lpstr>
      <vt:lpstr>Detalhamento do plano comunicação  Impactos Diversos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Metas de Qualidade de TI – parte 1</vt:lpstr>
      <vt:lpstr>Metas de Qualidade de TI – parte 2</vt:lpstr>
    </vt:vector>
  </TitlesOfParts>
  <Company>Natura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daniels</dc:creator>
  <cp:lastModifiedBy>PATRICIA SAKAKURA</cp:lastModifiedBy>
  <cp:revision>1277</cp:revision>
  <dcterms:created xsi:type="dcterms:W3CDTF">2009-10-25T13:30:13Z</dcterms:created>
  <dcterms:modified xsi:type="dcterms:W3CDTF">2011-04-06T18:26:51Z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Reunião de Status</vt:lpwstr>
  </property>
  <property fmtid="{D5CDD505-2E9C-101B-9397-08002B2CF9AE}" pid="3" name="ContentTypeId">
    <vt:lpwstr>0x010100BB9326EE571E604C8AC038E2D01DC92C</vt:lpwstr>
  </property>
</Properties>
</file>