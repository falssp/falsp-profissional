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339" r:id="rId3"/>
    <p:sldId id="366" r:id="rId4"/>
    <p:sldId id="368" r:id="rId5"/>
    <p:sldId id="367" r:id="rId6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D0462D"/>
    <a:srgbClr val="EE6829"/>
    <a:srgbClr val="000000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37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BC9910-7855-4942-9912-8EE222772D2E}" type="doc">
      <dgm:prSet loTypeId="urn:microsoft.com/office/officeart/2005/8/layout/hList6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pt-BR"/>
        </a:p>
      </dgm:t>
    </dgm:pt>
    <dgm:pt modelId="{5D8ECB08-DEBF-4D92-BE50-FEB0F15C492B}">
      <dgm:prSet phldrT="[Texto]" custT="1"/>
      <dgm:spPr>
        <a:solidFill>
          <a:srgbClr val="7030A0"/>
        </a:solidFill>
      </dgm:spPr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Dez-2010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1986327-F8A2-446A-B2CD-6733252674E5}" type="parTrans" cxnId="{5F949627-6D95-4211-9959-EBA86F4950D8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72EC94E6-2D05-48EF-BD56-3C4F735ED5E6}" type="sibTrans" cxnId="{5F949627-6D95-4211-9959-EBA86F4950D8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6179FD0C-8E22-4827-9E1F-830EB7018C5C}">
      <dgm:prSet phldrT="[Texto]" custT="1"/>
      <dgm:spPr>
        <a:solidFill>
          <a:srgbClr val="7030A0"/>
        </a:solidFill>
      </dgm:spPr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Dez-2013</a:t>
          </a:r>
          <a:endParaRPr lang="pt-B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C8B84DC-D491-488A-82FD-A69EEE3AD1E9}" type="parTrans" cxnId="{1B0819AB-6533-494C-B7DC-F5916C4D4B69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C7F463F9-0811-4447-8AD4-A3892947CDAD}" type="sibTrans" cxnId="{1B0819AB-6533-494C-B7DC-F5916C4D4B69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C6F0750B-CA28-4F77-BAB1-5519A48D057E}">
      <dgm:prSet phldrT="[Texto]" custT="1"/>
      <dgm:spPr>
        <a:solidFill>
          <a:srgbClr val="7030A0"/>
        </a:solidFill>
      </dgm:spPr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r>
            <a:rPr lang="pt-BR" sz="1200" b="0" i="0" kern="1200" dirty="0"/>
            <a:t>Apesar de existir desde o início, o problema do Saldo Divergente só foi percebido após a expiração das primeiras milhas, 36 meses após a implantação.</a:t>
          </a:r>
          <a:endParaRPr lang="pt-BR" sz="1200" b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/>
            <a:ea typeface="+mn-ea"/>
            <a:cs typeface="+mn-cs"/>
          </a:endParaRPr>
        </a:p>
      </dgm:t>
    </dgm:pt>
    <dgm:pt modelId="{43CBC47B-38F8-477E-8941-79D6DE04B3F9}" type="parTrans" cxnId="{61B1199A-CA27-4DAE-9053-8BB84CCD9AA6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BBD05215-1391-43F0-BC95-6A42018DC437}" type="sibTrans" cxnId="{61B1199A-CA27-4DAE-9053-8BB84CCD9AA6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AB737E9D-7BCB-4844-A14D-DFE5265CD078}">
      <dgm:prSet phldrT="[Texto]" custT="1"/>
      <dgm:spPr>
        <a:solidFill>
          <a:srgbClr val="7030A0"/>
        </a:solidFill>
      </dgm:spPr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r>
            <a:rPr lang="pt-BR" sz="1200" b="0" i="0" kern="1200" dirty="0"/>
            <a:t>Central de Atendimento começou a tratar manualmente casos de saldos divergentes.</a:t>
          </a:r>
          <a:endParaRPr lang="pt-BR" sz="1200" b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/>
            <a:ea typeface="+mn-ea"/>
            <a:cs typeface="+mn-cs"/>
          </a:endParaRPr>
        </a:p>
      </dgm:t>
    </dgm:pt>
    <dgm:pt modelId="{AAA97D8E-EAB0-46BD-AC44-616D6F977D53}" type="parTrans" cxnId="{0EBD8E9A-B187-4EFA-883B-99D36F883CF5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C0D19EC2-3C48-44D7-A6EA-1319F3E8DAE8}" type="sibTrans" cxnId="{0EBD8E9A-B187-4EFA-883B-99D36F883CF5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20DE568D-2D02-4727-8FA7-FADADF4672D3}">
      <dgm:prSet phldrT="[Texto]" custT="1"/>
      <dgm:spPr>
        <a:solidFill>
          <a:srgbClr val="7030A0"/>
        </a:solidFill>
      </dgm:spPr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r>
            <a:rPr lang="pt-BR" sz="1200" b="0" i="0" dirty="0"/>
            <a:t>Migração do AS400, antigo programa de fidelidade Smiles, para o Siebel </a:t>
          </a:r>
          <a:r>
            <a:rPr lang="pt-BR" sz="1200" b="0" i="0" dirty="0" err="1"/>
            <a:t>Loyalty</a:t>
          </a:r>
          <a:r>
            <a:rPr lang="pt-BR" sz="1200" b="0" i="0" dirty="0"/>
            <a:t>.</a:t>
          </a:r>
          <a:endParaRPr lang="pt-BR" sz="1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541EA0A-43AC-4376-A50C-38DFDE77202C}" type="parTrans" cxnId="{F5AB753D-AB8B-40B9-A65E-5C5537A2A901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08DCCAAB-A274-4C2A-8D71-772A4A0A6C66}" type="sibTrans" cxnId="{F5AB753D-AB8B-40B9-A65E-5C5537A2A901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DDAC86A5-6432-4C0C-B3F9-21A3116B33E0}">
      <dgm:prSet phldrT="[Texto]" custT="1"/>
      <dgm:spPr>
        <a:solidFill>
          <a:srgbClr val="7030A0"/>
        </a:solidFill>
      </dgm:spPr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Nov-2015</a:t>
          </a:r>
          <a:endParaRPr lang="pt-B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D0B8990-FDF7-47ED-B7B7-05DA1A7D856B}" type="parTrans" cxnId="{58797F2D-9E23-45B6-9DCB-7FF7E55531A6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7A44BE68-C8F6-405D-A959-1D9D1527F974}" type="sibTrans" cxnId="{58797F2D-9E23-45B6-9DCB-7FF7E55531A6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8C14EEB8-34AE-4EC8-94F7-47967B3EB995}">
      <dgm:prSet phldrT="[Texto]" custT="1"/>
      <dgm:spPr>
        <a:solidFill>
          <a:srgbClr val="7030A0"/>
        </a:solidFill>
      </dgm:spPr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Ago-2015</a:t>
          </a:r>
          <a:endParaRPr lang="pt-B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0FE90E8-8CA7-424A-BB3F-2D7BFE964B16}" type="parTrans" cxnId="{3164CA08-9C6C-4D6E-BDF6-82615B753E6D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1023FA64-3A73-43A9-B81F-2AA647C62FC1}" type="sibTrans" cxnId="{3164CA08-9C6C-4D6E-BDF6-82615B753E6D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FD1BDD64-28F1-4A3F-A4E8-54EF93F14BAA}">
      <dgm:prSet phldrT="[Texto]" custT="1"/>
      <dgm:spPr>
        <a:solidFill>
          <a:srgbClr val="7030A0"/>
        </a:solidFill>
      </dgm:spPr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r>
            <a:rPr lang="pt-BR" sz="1200" b="0" i="0" kern="1200" dirty="0"/>
            <a:t>TI da Smiles começa a evidenciar para a Oracle que o problema era do Produto e não da implantação.</a:t>
          </a:r>
          <a:endParaRPr lang="pt-BR" sz="1200" b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/>
            <a:ea typeface="+mn-ea"/>
            <a:cs typeface="+mn-cs"/>
          </a:endParaRPr>
        </a:p>
      </dgm:t>
    </dgm:pt>
    <dgm:pt modelId="{D97378E1-AFA0-4C8F-9CF7-5651E6DC8DB5}" type="parTrans" cxnId="{26A507EA-F479-4ED5-90BF-D6401518AB8C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6010934F-5F3B-4EA3-9BDD-18A265862DF6}" type="sibTrans" cxnId="{26A507EA-F479-4ED5-90BF-D6401518AB8C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87112644-387C-48BC-9C8C-99AC304A80D7}">
      <dgm:prSet phldrT="[Texto]" custT="1"/>
      <dgm:spPr>
        <a:solidFill>
          <a:srgbClr val="7030A0"/>
        </a:solidFill>
      </dgm:spPr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Fev-2016</a:t>
          </a:r>
          <a:endParaRPr lang="pt-B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5F93922-0852-4C22-9698-196FC16E0C50}" type="parTrans" cxnId="{9BDF686A-BAAA-44B7-BC6D-B885C38ECF25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4F3F8F82-EDD3-4482-BC13-25CD22E45F7B}" type="sibTrans" cxnId="{9BDF686A-BAAA-44B7-BC6D-B885C38ECF25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757DF87B-A238-4B02-B7BC-040C392DB94F}">
      <dgm:prSet phldrT="[Texto]" custT="1"/>
      <dgm:spPr>
        <a:solidFill>
          <a:srgbClr val="7030A0"/>
        </a:solidFill>
      </dgm:spPr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r>
            <a:rPr lang="pt-BR" sz="1200" kern="1200" dirty="0"/>
            <a:t>Oracle assume definitivamente que o problema era de seu Produto e se propõe a corrigi-lo.</a:t>
          </a:r>
          <a:endParaRPr lang="pt-BR" sz="1200" b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/>
            <a:ea typeface="+mn-ea"/>
            <a:cs typeface="+mn-cs"/>
          </a:endParaRPr>
        </a:p>
      </dgm:t>
    </dgm:pt>
    <dgm:pt modelId="{1C16E7EC-3C88-4026-AAA5-283ECDF25547}" type="parTrans" cxnId="{CABCF11C-8C8E-4FE2-BB56-C61F34B36CE7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A8B9A7C2-DB70-43D2-BC37-5C902B99F721}" type="sibTrans" cxnId="{CABCF11C-8C8E-4FE2-BB56-C61F34B36CE7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E43CD0E8-0053-4520-AED7-26A797335A05}">
      <dgm:prSet phldrT="[Texto]" custT="1"/>
      <dgm:spPr>
        <a:solidFill>
          <a:srgbClr val="7030A0"/>
        </a:solidFill>
      </dgm:spPr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r>
            <a:rPr lang="pt-BR" sz="1200" b="0" i="0" kern="1200" dirty="0"/>
            <a:t>Até hoje foram tratados casos de 287 participantes</a:t>
          </a:r>
          <a:r>
            <a:rPr lang="pt-BR" sz="1100" b="0" i="0" kern="1200" dirty="0"/>
            <a:t>.</a:t>
          </a:r>
          <a:endParaRPr lang="pt-BR" sz="1100" b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/>
            <a:ea typeface="+mn-ea"/>
            <a:cs typeface="+mn-cs"/>
          </a:endParaRPr>
        </a:p>
      </dgm:t>
    </dgm:pt>
    <dgm:pt modelId="{EA2B0E24-C635-4B3C-B6E5-514396A27DF5}" type="parTrans" cxnId="{6AD2C3CF-41D0-4DA9-8742-FF0016EC3268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FFAE83E9-8E69-4F4B-B571-4FB90D6CA23E}" type="sibTrans" cxnId="{6AD2C3CF-41D0-4DA9-8742-FF0016EC3268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122F05A3-7B9E-43C4-94E2-4D854C036620}">
      <dgm:prSet phldrT="[Texto]" custT="1"/>
      <dgm:spPr>
        <a:solidFill>
          <a:srgbClr val="7030A0"/>
        </a:solidFill>
      </dgm:spPr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r>
            <a:rPr lang="pt-BR" sz="1200" b="0" kern="1200" dirty="0">
              <a:solidFill>
                <a:prstClr val="white"/>
              </a:solidFill>
              <a:effectLst/>
              <a:latin typeface="Calibri"/>
              <a:ea typeface="+mn-ea"/>
              <a:cs typeface="+mn-cs"/>
            </a:rPr>
            <a:t>TI Smiles cobra correção da Oracle.</a:t>
          </a:r>
        </a:p>
      </dgm:t>
    </dgm:pt>
    <dgm:pt modelId="{F709DD2C-8DA2-4BCC-8FC9-D370F8DF0B0B}" type="parTrans" cxnId="{2425CFD3-F170-4545-9BD9-F76B872893F1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9D8005D4-2B4D-4A99-9C2D-E4CA1829C5A1}" type="sibTrans" cxnId="{2425CFD3-F170-4545-9BD9-F76B872893F1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1D564863-F074-400B-A809-A136A5B86A45}">
      <dgm:prSet phldrT="[Texto]" custT="1"/>
      <dgm:spPr>
        <a:solidFill>
          <a:srgbClr val="7030A0"/>
        </a:solidFill>
      </dgm:spPr>
      <dgm:t>
        <a:bodyPr/>
        <a:lstStyle/>
        <a:p>
          <a:pPr marL="0" lvl="0" indent="0" algn="l" defTabSz="533400">
            <a:lnSpc>
              <a:spcPct val="9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pt-BR" sz="1800" b="1" kern="1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+mn-ea"/>
              <a:cs typeface="+mn-cs"/>
            </a:rPr>
            <a:t>Jul-2016</a:t>
          </a:r>
          <a:endParaRPr lang="pt-BR" sz="16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08031D40-B136-4B95-8757-8FF71C562C31}" type="parTrans" cxnId="{92612700-A730-4FEE-A006-7D3A0D803EAD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D1B3C2AC-365F-4BF7-A7C0-CBC4206234A4}" type="sibTrans" cxnId="{92612700-A730-4FEE-A006-7D3A0D803EAD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5F1F894A-7B93-4778-AEE6-2846FC66C301}">
      <dgm:prSet phldrT="[Texto]" custT="1"/>
      <dgm:spPr>
        <a:solidFill>
          <a:srgbClr val="7030A0"/>
        </a:solidFill>
      </dgm:spPr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ts val="600"/>
            </a:spcBef>
            <a:spcAft>
              <a:spcPts val="600"/>
            </a:spcAft>
            <a:buChar char="•"/>
          </a:pPr>
          <a:r>
            <a:rPr lang="pt-BR" sz="1200" b="0" i="0" kern="1200" dirty="0"/>
            <a:t>Oracle aplicou uma correção (</a:t>
          </a:r>
          <a:r>
            <a:rPr lang="pt-BR" sz="1200" b="0" i="0" kern="1200" dirty="0" err="1"/>
            <a:t>Patchset</a:t>
          </a:r>
          <a:r>
            <a:rPr lang="pt-BR" sz="1200" b="0" i="0" kern="1200" dirty="0"/>
            <a:t>) no Siebel, eliminando o Problema.</a:t>
          </a:r>
          <a:endParaRPr lang="pt-BR" sz="12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4EF483FC-AFC9-4BFE-A506-4D34F10164F7}" type="parTrans" cxnId="{E9C74367-B7CF-419E-9164-5EEBA9287A59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DDD7EEB3-CD67-4B03-94B7-5D0D658661D6}" type="sibTrans" cxnId="{E9C74367-B7CF-419E-9164-5EEBA9287A59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BCBFBE6F-8C47-4390-BE4C-E3B3600C3EB4}">
      <dgm:prSet phldrT="[Texto]" custT="1"/>
      <dgm:spPr>
        <a:solidFill>
          <a:srgbClr val="7030A0"/>
        </a:solidFill>
      </dgm:spPr>
      <dgm:t>
        <a:bodyPr/>
        <a:lstStyle/>
        <a:p>
          <a:pPr marL="0" lvl="0" algn="l" defTabSz="622300">
            <a:lnSpc>
              <a:spcPct val="9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pt-BR" sz="1800" b="1" kern="1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+mn-ea"/>
              <a:cs typeface="+mn-cs"/>
            </a:rPr>
            <a:t>Out-2016</a:t>
          </a:r>
          <a:endParaRPr lang="pt-BR" sz="16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B7792381-1238-4B6B-BFDF-83A9F2BEA5E4}" type="parTrans" cxnId="{5F9223FD-11C4-479E-ACDF-997FA8D50A33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7E275CB8-6E86-419E-B135-54D2679CCF55}" type="sibTrans" cxnId="{5F9223FD-11C4-479E-ACDF-997FA8D50A33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F79827D7-BDD0-468B-A946-EE0C9BAC6956}">
      <dgm:prSet phldrT="[Texto]" custT="1"/>
      <dgm:spPr>
        <a:solidFill>
          <a:srgbClr val="7030A0"/>
        </a:solidFill>
      </dgm:spPr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ts val="600"/>
            </a:spcBef>
            <a:spcAft>
              <a:spcPts val="600"/>
            </a:spcAft>
            <a:buChar char="•"/>
          </a:pPr>
          <a:r>
            <a:rPr lang="pt-BR" sz="12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Colocado em produção o processo automático que  que permite ajustar os antigos casos de saldo divergente.</a:t>
          </a:r>
        </a:p>
      </dgm:t>
    </dgm:pt>
    <dgm:pt modelId="{047C9C7B-67E9-419E-80EC-1232AF063426}" type="parTrans" cxnId="{80808CF1-4F81-4AC7-BC61-DF988FA290D0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7DF60C7C-B2A3-478C-8088-591126DEE8D0}" type="sibTrans" cxnId="{80808CF1-4F81-4AC7-BC61-DF988FA290D0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 sz="1100"/>
        </a:p>
      </dgm:t>
    </dgm:pt>
    <dgm:pt modelId="{75D131B3-310C-4DCC-B2D0-9D41150B1FDC}">
      <dgm:prSet phldrT="[Texto]" custT="1"/>
      <dgm:spPr>
        <a:solidFill>
          <a:srgbClr val="7030A0"/>
        </a:solidFill>
      </dgm:spPr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ts val="600"/>
            </a:spcBef>
            <a:spcAft>
              <a:spcPts val="600"/>
            </a:spcAft>
            <a:buChar char="•"/>
          </a:pPr>
          <a:r>
            <a:rPr lang="pt-BR" sz="12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Nenhum caso novo de saldo divergente é identificado.</a:t>
          </a:r>
        </a:p>
      </dgm:t>
    </dgm:pt>
    <dgm:pt modelId="{B5A6E304-82AF-4872-A82A-7CF4C6C54AC8}" type="parTrans" cxnId="{9DE39C87-081C-4EFF-B8D0-242F3D53DE32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/>
        </a:p>
      </dgm:t>
    </dgm:pt>
    <dgm:pt modelId="{32EB752C-36A0-4B09-9931-9F8DBEF41889}" type="sibTrans" cxnId="{9DE39C87-081C-4EFF-B8D0-242F3D53DE32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/>
        </a:p>
      </dgm:t>
    </dgm:pt>
    <dgm:pt modelId="{550E3FD7-29C8-471C-AC67-2EEA523768C0}">
      <dgm:prSet phldrT="[Texto]" custT="1"/>
      <dgm:spPr>
        <a:solidFill>
          <a:srgbClr val="7030A0"/>
        </a:solidFill>
      </dgm:spPr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ts val="600"/>
            </a:spcBef>
            <a:spcAft>
              <a:spcPts val="600"/>
            </a:spcAft>
            <a:buChar char="•"/>
          </a:pPr>
          <a:r>
            <a:rPr lang="pt-BR" sz="12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Há casos antigos a serem corrigidos (</a:t>
          </a:r>
          <a:r>
            <a:rPr lang="pt-BR" sz="1200" i="1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backlog</a:t>
          </a:r>
          <a:r>
            <a:rPr lang="pt-BR" sz="12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).</a:t>
          </a:r>
        </a:p>
      </dgm:t>
    </dgm:pt>
    <dgm:pt modelId="{BCBAE22E-BF9D-4B77-9F0A-2D85A50EBC69}" type="parTrans" cxnId="{2D2D3CDF-5FB2-4018-BD7C-AA4E7397AD64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/>
        </a:p>
      </dgm:t>
    </dgm:pt>
    <dgm:pt modelId="{8075AA69-0ACE-49F6-BF8D-C47D7C82AD89}" type="sibTrans" cxnId="{2D2D3CDF-5FB2-4018-BD7C-AA4E7397AD64}">
      <dgm:prSet/>
      <dgm:spPr/>
      <dgm:t>
        <a:bodyPr/>
        <a:lstStyle/>
        <a:p>
          <a:pPr>
            <a:spcBef>
              <a:spcPts val="600"/>
            </a:spcBef>
            <a:spcAft>
              <a:spcPts val="600"/>
            </a:spcAft>
          </a:pPr>
          <a:endParaRPr lang="pt-BR"/>
        </a:p>
      </dgm:t>
    </dgm:pt>
    <dgm:pt modelId="{4038A191-C20C-4039-9B6D-DD2B9D926DCF}" type="pres">
      <dgm:prSet presAssocID="{CBBC9910-7855-4942-9912-8EE222772D2E}" presName="Name0" presStyleCnt="0">
        <dgm:presLayoutVars>
          <dgm:dir/>
          <dgm:resizeHandles val="exact"/>
        </dgm:presLayoutVars>
      </dgm:prSet>
      <dgm:spPr/>
    </dgm:pt>
    <dgm:pt modelId="{36323F63-DE87-4CBD-8F47-F1AFDBA3BDB8}" type="pres">
      <dgm:prSet presAssocID="{5D8ECB08-DEBF-4D92-BE50-FEB0F15C492B}" presName="node" presStyleLbl="node1" presStyleIdx="0" presStyleCnt="7">
        <dgm:presLayoutVars>
          <dgm:bulletEnabled val="1"/>
        </dgm:presLayoutVars>
      </dgm:prSet>
      <dgm:spPr/>
    </dgm:pt>
    <dgm:pt modelId="{67BEB817-F3CE-4E8F-88E9-0722AA6FE943}" type="pres">
      <dgm:prSet presAssocID="{72EC94E6-2D05-48EF-BD56-3C4F735ED5E6}" presName="sibTrans" presStyleCnt="0"/>
      <dgm:spPr/>
    </dgm:pt>
    <dgm:pt modelId="{5AFA41F5-839C-43B1-B945-7E9AE96D1EC0}" type="pres">
      <dgm:prSet presAssocID="{6179FD0C-8E22-4827-9E1F-830EB7018C5C}" presName="node" presStyleLbl="node1" presStyleIdx="1" presStyleCnt="7">
        <dgm:presLayoutVars>
          <dgm:bulletEnabled val="1"/>
        </dgm:presLayoutVars>
      </dgm:prSet>
      <dgm:spPr/>
    </dgm:pt>
    <dgm:pt modelId="{E4F393EC-C9A2-4A9D-84D3-26706F42BA89}" type="pres">
      <dgm:prSet presAssocID="{C7F463F9-0811-4447-8AD4-A3892947CDAD}" presName="sibTrans" presStyleCnt="0"/>
      <dgm:spPr/>
    </dgm:pt>
    <dgm:pt modelId="{23D1D477-0277-43DC-92FB-E34DA0D59FD1}" type="pres">
      <dgm:prSet presAssocID="{DDAC86A5-6432-4C0C-B3F9-21A3116B33E0}" presName="node" presStyleLbl="node1" presStyleIdx="2" presStyleCnt="7">
        <dgm:presLayoutVars>
          <dgm:bulletEnabled val="1"/>
        </dgm:presLayoutVars>
      </dgm:prSet>
      <dgm:spPr/>
    </dgm:pt>
    <dgm:pt modelId="{43E14F8C-CD12-4866-ADC4-E82FA1147064}" type="pres">
      <dgm:prSet presAssocID="{7A44BE68-C8F6-405D-A959-1D9D1527F974}" presName="sibTrans" presStyleCnt="0"/>
      <dgm:spPr/>
    </dgm:pt>
    <dgm:pt modelId="{3A5CBB95-DC36-4BB7-B6A3-0FDCC5D21A16}" type="pres">
      <dgm:prSet presAssocID="{8C14EEB8-34AE-4EC8-94F7-47967B3EB995}" presName="node" presStyleLbl="node1" presStyleIdx="3" presStyleCnt="7">
        <dgm:presLayoutVars>
          <dgm:bulletEnabled val="1"/>
        </dgm:presLayoutVars>
      </dgm:prSet>
      <dgm:spPr/>
    </dgm:pt>
    <dgm:pt modelId="{891FE8D1-6F08-4BAB-8A24-BF7467BF8419}" type="pres">
      <dgm:prSet presAssocID="{1023FA64-3A73-43A9-B81F-2AA647C62FC1}" presName="sibTrans" presStyleCnt="0"/>
      <dgm:spPr/>
    </dgm:pt>
    <dgm:pt modelId="{92184C95-BDBA-4ED5-ACD2-EDECE1D578BF}" type="pres">
      <dgm:prSet presAssocID="{87112644-387C-48BC-9C8C-99AC304A80D7}" presName="node" presStyleLbl="node1" presStyleIdx="4" presStyleCnt="7">
        <dgm:presLayoutVars>
          <dgm:bulletEnabled val="1"/>
        </dgm:presLayoutVars>
      </dgm:prSet>
      <dgm:spPr/>
    </dgm:pt>
    <dgm:pt modelId="{15E70062-7BEF-4629-A53E-FBFDD212E5DB}" type="pres">
      <dgm:prSet presAssocID="{4F3F8F82-EDD3-4482-BC13-25CD22E45F7B}" presName="sibTrans" presStyleCnt="0"/>
      <dgm:spPr/>
    </dgm:pt>
    <dgm:pt modelId="{6922E3D9-B98A-408A-BE52-D1085D48EE5B}" type="pres">
      <dgm:prSet presAssocID="{1D564863-F074-400B-A809-A136A5B86A45}" presName="node" presStyleLbl="node1" presStyleIdx="5" presStyleCnt="7">
        <dgm:presLayoutVars>
          <dgm:bulletEnabled val="1"/>
        </dgm:presLayoutVars>
      </dgm:prSet>
      <dgm:spPr/>
    </dgm:pt>
    <dgm:pt modelId="{6B0DDB6A-CFD3-484A-8BB5-01645E5FF10C}" type="pres">
      <dgm:prSet presAssocID="{D1B3C2AC-365F-4BF7-A7C0-CBC4206234A4}" presName="sibTrans" presStyleCnt="0"/>
      <dgm:spPr/>
    </dgm:pt>
    <dgm:pt modelId="{8C2BD207-EF71-497F-A00D-E7F95DED8164}" type="pres">
      <dgm:prSet presAssocID="{BCBFBE6F-8C47-4390-BE4C-E3B3600C3EB4}" presName="node" presStyleLbl="node1" presStyleIdx="6" presStyleCnt="7">
        <dgm:presLayoutVars>
          <dgm:bulletEnabled val="1"/>
        </dgm:presLayoutVars>
      </dgm:prSet>
      <dgm:spPr/>
    </dgm:pt>
  </dgm:ptLst>
  <dgm:cxnLst>
    <dgm:cxn modelId="{DFEA9EA0-D715-46A2-AA77-012D9DF47E66}" type="presOf" srcId="{CBBC9910-7855-4942-9912-8EE222772D2E}" destId="{4038A191-C20C-4039-9B6D-DD2B9D926DCF}" srcOrd="0" destOrd="0" presId="urn:microsoft.com/office/officeart/2005/8/layout/hList6"/>
    <dgm:cxn modelId="{6DE67D28-7FE7-4C42-9AD5-65C4F4A64E49}" type="presOf" srcId="{AB737E9D-7BCB-4844-A14D-DFE5265CD078}" destId="{23D1D477-0277-43DC-92FB-E34DA0D59FD1}" srcOrd="0" destOrd="1" presId="urn:microsoft.com/office/officeart/2005/8/layout/hList6"/>
    <dgm:cxn modelId="{61B1199A-CA27-4DAE-9053-8BB84CCD9AA6}" srcId="{6179FD0C-8E22-4827-9E1F-830EB7018C5C}" destId="{C6F0750B-CA28-4F77-BAB1-5519A48D057E}" srcOrd="0" destOrd="0" parTransId="{43CBC47B-38F8-477E-8941-79D6DE04B3F9}" sibTransId="{BBD05215-1391-43F0-BC95-6A42018DC437}"/>
    <dgm:cxn modelId="{F5AB753D-AB8B-40B9-A65E-5C5537A2A901}" srcId="{5D8ECB08-DEBF-4D92-BE50-FEB0F15C492B}" destId="{20DE568D-2D02-4727-8FA7-FADADF4672D3}" srcOrd="0" destOrd="0" parTransId="{4541EA0A-43AC-4376-A50C-38DFDE77202C}" sibTransId="{08DCCAAB-A274-4C2A-8D71-772A4A0A6C66}"/>
    <dgm:cxn modelId="{FB816E8C-73B0-4411-817A-1EF3D8D7FE61}" type="presOf" srcId="{DDAC86A5-6432-4C0C-B3F9-21A3116B33E0}" destId="{23D1D477-0277-43DC-92FB-E34DA0D59FD1}" srcOrd="0" destOrd="0" presId="urn:microsoft.com/office/officeart/2005/8/layout/hList6"/>
    <dgm:cxn modelId="{EC6C812D-80F9-4B3C-A300-D7A46074BCF8}" type="presOf" srcId="{75D131B3-310C-4DCC-B2D0-9D41150B1FDC}" destId="{6922E3D9-B98A-408A-BE52-D1085D48EE5B}" srcOrd="0" destOrd="2" presId="urn:microsoft.com/office/officeart/2005/8/layout/hList6"/>
    <dgm:cxn modelId="{2D2D3CDF-5FB2-4018-BD7C-AA4E7397AD64}" srcId="{1D564863-F074-400B-A809-A136A5B86A45}" destId="{550E3FD7-29C8-471C-AC67-2EEA523768C0}" srcOrd="2" destOrd="0" parTransId="{BCBAE22E-BF9D-4B77-9F0A-2D85A50EBC69}" sibTransId="{8075AA69-0ACE-49F6-BF8D-C47D7C82AD89}"/>
    <dgm:cxn modelId="{80808CF1-4F81-4AC7-BC61-DF988FA290D0}" srcId="{BCBFBE6F-8C47-4390-BE4C-E3B3600C3EB4}" destId="{F79827D7-BDD0-468B-A946-EE0C9BAC6956}" srcOrd="0" destOrd="0" parTransId="{047C9C7B-67E9-419E-80EC-1232AF063426}" sibTransId="{7DF60C7C-B2A3-478C-8088-591126DEE8D0}"/>
    <dgm:cxn modelId="{9DE39C87-081C-4EFF-B8D0-242F3D53DE32}" srcId="{1D564863-F074-400B-A809-A136A5B86A45}" destId="{75D131B3-310C-4DCC-B2D0-9D41150B1FDC}" srcOrd="1" destOrd="0" parTransId="{B5A6E304-82AF-4872-A82A-7CF4C6C54AC8}" sibTransId="{32EB752C-36A0-4B09-9931-9F8DBEF41889}"/>
    <dgm:cxn modelId="{51166AD1-92B0-4E55-B563-6095004026AD}" type="presOf" srcId="{1D564863-F074-400B-A809-A136A5B86A45}" destId="{6922E3D9-B98A-408A-BE52-D1085D48EE5B}" srcOrd="0" destOrd="0" presId="urn:microsoft.com/office/officeart/2005/8/layout/hList6"/>
    <dgm:cxn modelId="{5F949627-6D95-4211-9959-EBA86F4950D8}" srcId="{CBBC9910-7855-4942-9912-8EE222772D2E}" destId="{5D8ECB08-DEBF-4D92-BE50-FEB0F15C492B}" srcOrd="0" destOrd="0" parTransId="{41986327-F8A2-446A-B2CD-6733252674E5}" sibTransId="{72EC94E6-2D05-48EF-BD56-3C4F735ED5E6}"/>
    <dgm:cxn modelId="{90DA3C4D-7CF4-43FD-BFC3-227D8EB71988}" type="presOf" srcId="{8C14EEB8-34AE-4EC8-94F7-47967B3EB995}" destId="{3A5CBB95-DC36-4BB7-B6A3-0FDCC5D21A16}" srcOrd="0" destOrd="0" presId="urn:microsoft.com/office/officeart/2005/8/layout/hList6"/>
    <dgm:cxn modelId="{C23AC8E5-7F08-4C7B-9B09-F59F7582DC0C}" type="presOf" srcId="{C6F0750B-CA28-4F77-BAB1-5519A48D057E}" destId="{5AFA41F5-839C-43B1-B945-7E9AE96D1EC0}" srcOrd="0" destOrd="1" presId="urn:microsoft.com/office/officeart/2005/8/layout/hList6"/>
    <dgm:cxn modelId="{2425CFD3-F170-4545-9BD9-F76B872893F1}" srcId="{8C14EEB8-34AE-4EC8-94F7-47967B3EB995}" destId="{122F05A3-7B9E-43C4-94E2-4D854C036620}" srcOrd="1" destOrd="0" parTransId="{F709DD2C-8DA2-4BCC-8FC9-D370F8DF0B0B}" sibTransId="{9D8005D4-2B4D-4A99-9C2D-E4CA1829C5A1}"/>
    <dgm:cxn modelId="{CABCF11C-8C8E-4FE2-BB56-C61F34B36CE7}" srcId="{87112644-387C-48BC-9C8C-99AC304A80D7}" destId="{757DF87B-A238-4B02-B7BC-040C392DB94F}" srcOrd="0" destOrd="0" parTransId="{1C16E7EC-3C88-4026-AAA5-283ECDF25547}" sibTransId="{A8B9A7C2-DB70-43D2-BC37-5C902B99F721}"/>
    <dgm:cxn modelId="{3FE09321-04D1-4D01-BE6E-75283E3821DF}" type="presOf" srcId="{E43CD0E8-0053-4520-AED7-26A797335A05}" destId="{23D1D477-0277-43DC-92FB-E34DA0D59FD1}" srcOrd="0" destOrd="2" presId="urn:microsoft.com/office/officeart/2005/8/layout/hList6"/>
    <dgm:cxn modelId="{0266176F-53A1-440D-AAE0-8E0BF1398895}" type="presOf" srcId="{757DF87B-A238-4B02-B7BC-040C392DB94F}" destId="{92184C95-BDBA-4ED5-ACD2-EDECE1D578BF}" srcOrd="0" destOrd="1" presId="urn:microsoft.com/office/officeart/2005/8/layout/hList6"/>
    <dgm:cxn modelId="{6AD2C3CF-41D0-4DA9-8742-FF0016EC3268}" srcId="{DDAC86A5-6432-4C0C-B3F9-21A3116B33E0}" destId="{E43CD0E8-0053-4520-AED7-26A797335A05}" srcOrd="1" destOrd="0" parTransId="{EA2B0E24-C635-4B3C-B6E5-514396A27DF5}" sibTransId="{FFAE83E9-8E69-4F4B-B571-4FB90D6CA23E}"/>
    <dgm:cxn modelId="{F3A81F08-468E-42D1-8750-AA4DEEDBB624}" type="presOf" srcId="{5F1F894A-7B93-4778-AEE6-2846FC66C301}" destId="{6922E3D9-B98A-408A-BE52-D1085D48EE5B}" srcOrd="0" destOrd="1" presId="urn:microsoft.com/office/officeart/2005/8/layout/hList6"/>
    <dgm:cxn modelId="{84AA4B05-1692-4924-967B-A493CB1F3745}" type="presOf" srcId="{550E3FD7-29C8-471C-AC67-2EEA523768C0}" destId="{6922E3D9-B98A-408A-BE52-D1085D48EE5B}" srcOrd="0" destOrd="3" presId="urn:microsoft.com/office/officeart/2005/8/layout/hList6"/>
    <dgm:cxn modelId="{9BDF686A-BAAA-44B7-BC6D-B885C38ECF25}" srcId="{CBBC9910-7855-4942-9912-8EE222772D2E}" destId="{87112644-387C-48BC-9C8C-99AC304A80D7}" srcOrd="4" destOrd="0" parTransId="{45F93922-0852-4C22-9698-196FC16E0C50}" sibTransId="{4F3F8F82-EDD3-4482-BC13-25CD22E45F7B}"/>
    <dgm:cxn modelId="{5F9223FD-11C4-479E-ACDF-997FA8D50A33}" srcId="{CBBC9910-7855-4942-9912-8EE222772D2E}" destId="{BCBFBE6F-8C47-4390-BE4C-E3B3600C3EB4}" srcOrd="6" destOrd="0" parTransId="{B7792381-1238-4B6B-BFDF-83A9F2BEA5E4}" sibTransId="{7E275CB8-6E86-419E-B135-54D2679CCF55}"/>
    <dgm:cxn modelId="{58797F2D-9E23-45B6-9DCB-7FF7E55531A6}" srcId="{CBBC9910-7855-4942-9912-8EE222772D2E}" destId="{DDAC86A5-6432-4C0C-B3F9-21A3116B33E0}" srcOrd="2" destOrd="0" parTransId="{4D0B8990-FDF7-47ED-B7B7-05DA1A7D856B}" sibTransId="{7A44BE68-C8F6-405D-A959-1D9D1527F974}"/>
    <dgm:cxn modelId="{26A507EA-F479-4ED5-90BF-D6401518AB8C}" srcId="{8C14EEB8-34AE-4EC8-94F7-47967B3EB995}" destId="{FD1BDD64-28F1-4A3F-A4E8-54EF93F14BAA}" srcOrd="0" destOrd="0" parTransId="{D97378E1-AFA0-4C8F-9CF7-5651E6DC8DB5}" sibTransId="{6010934F-5F3B-4EA3-9BDD-18A265862DF6}"/>
    <dgm:cxn modelId="{0EBD8E9A-B187-4EFA-883B-99D36F883CF5}" srcId="{DDAC86A5-6432-4C0C-B3F9-21A3116B33E0}" destId="{AB737E9D-7BCB-4844-A14D-DFE5265CD078}" srcOrd="0" destOrd="0" parTransId="{AAA97D8E-EAB0-46BD-AC44-616D6F977D53}" sibTransId="{C0D19EC2-3C48-44D7-A6EA-1319F3E8DAE8}"/>
    <dgm:cxn modelId="{597FB89B-F51C-4B91-80D1-B93635C8A217}" type="presOf" srcId="{6179FD0C-8E22-4827-9E1F-830EB7018C5C}" destId="{5AFA41F5-839C-43B1-B945-7E9AE96D1EC0}" srcOrd="0" destOrd="0" presId="urn:microsoft.com/office/officeart/2005/8/layout/hList6"/>
    <dgm:cxn modelId="{084C31A2-FBF1-4193-A8F7-A42C88BF6DB1}" type="presOf" srcId="{5D8ECB08-DEBF-4D92-BE50-FEB0F15C492B}" destId="{36323F63-DE87-4CBD-8F47-F1AFDBA3BDB8}" srcOrd="0" destOrd="0" presId="urn:microsoft.com/office/officeart/2005/8/layout/hList6"/>
    <dgm:cxn modelId="{7953966B-D6F2-4E8F-968F-9923ED58CD27}" type="presOf" srcId="{BCBFBE6F-8C47-4390-BE4C-E3B3600C3EB4}" destId="{8C2BD207-EF71-497F-A00D-E7F95DED8164}" srcOrd="0" destOrd="0" presId="urn:microsoft.com/office/officeart/2005/8/layout/hList6"/>
    <dgm:cxn modelId="{3164CA08-9C6C-4D6E-BDF6-82615B753E6D}" srcId="{CBBC9910-7855-4942-9912-8EE222772D2E}" destId="{8C14EEB8-34AE-4EC8-94F7-47967B3EB995}" srcOrd="3" destOrd="0" parTransId="{50FE90E8-8CA7-424A-BB3F-2D7BFE964B16}" sibTransId="{1023FA64-3A73-43A9-B81F-2AA647C62FC1}"/>
    <dgm:cxn modelId="{66B5A03F-2646-4A0C-87A9-0DA32096D13D}" type="presOf" srcId="{F79827D7-BDD0-468B-A946-EE0C9BAC6956}" destId="{8C2BD207-EF71-497F-A00D-E7F95DED8164}" srcOrd="0" destOrd="1" presId="urn:microsoft.com/office/officeart/2005/8/layout/hList6"/>
    <dgm:cxn modelId="{E9C74367-B7CF-419E-9164-5EEBA9287A59}" srcId="{1D564863-F074-400B-A809-A136A5B86A45}" destId="{5F1F894A-7B93-4778-AEE6-2846FC66C301}" srcOrd="0" destOrd="0" parTransId="{4EF483FC-AFC9-4BFE-A506-4D34F10164F7}" sibTransId="{DDD7EEB3-CD67-4B03-94B7-5D0D658661D6}"/>
    <dgm:cxn modelId="{639AF096-E22D-4758-BCBE-54CC557C0EF2}" type="presOf" srcId="{87112644-387C-48BC-9C8C-99AC304A80D7}" destId="{92184C95-BDBA-4ED5-ACD2-EDECE1D578BF}" srcOrd="0" destOrd="0" presId="urn:microsoft.com/office/officeart/2005/8/layout/hList6"/>
    <dgm:cxn modelId="{079D85D6-F009-42AA-9C7A-69AD179E5481}" type="presOf" srcId="{FD1BDD64-28F1-4A3F-A4E8-54EF93F14BAA}" destId="{3A5CBB95-DC36-4BB7-B6A3-0FDCC5D21A16}" srcOrd="0" destOrd="1" presId="urn:microsoft.com/office/officeart/2005/8/layout/hList6"/>
    <dgm:cxn modelId="{1B0819AB-6533-494C-B7DC-F5916C4D4B69}" srcId="{CBBC9910-7855-4942-9912-8EE222772D2E}" destId="{6179FD0C-8E22-4827-9E1F-830EB7018C5C}" srcOrd="1" destOrd="0" parTransId="{1C8B84DC-D491-488A-82FD-A69EEE3AD1E9}" sibTransId="{C7F463F9-0811-4447-8AD4-A3892947CDAD}"/>
    <dgm:cxn modelId="{41C6E083-5F62-476B-AB3C-0417FE5335F8}" type="presOf" srcId="{122F05A3-7B9E-43C4-94E2-4D854C036620}" destId="{3A5CBB95-DC36-4BB7-B6A3-0FDCC5D21A16}" srcOrd="0" destOrd="2" presId="urn:microsoft.com/office/officeart/2005/8/layout/hList6"/>
    <dgm:cxn modelId="{92612700-A730-4FEE-A006-7D3A0D803EAD}" srcId="{CBBC9910-7855-4942-9912-8EE222772D2E}" destId="{1D564863-F074-400B-A809-A136A5B86A45}" srcOrd="5" destOrd="0" parTransId="{08031D40-B136-4B95-8757-8FF71C562C31}" sibTransId="{D1B3C2AC-365F-4BF7-A7C0-CBC4206234A4}"/>
    <dgm:cxn modelId="{F8EA3F60-204D-4522-81B6-5490F948C004}" type="presOf" srcId="{20DE568D-2D02-4727-8FA7-FADADF4672D3}" destId="{36323F63-DE87-4CBD-8F47-F1AFDBA3BDB8}" srcOrd="0" destOrd="1" presId="urn:microsoft.com/office/officeart/2005/8/layout/hList6"/>
    <dgm:cxn modelId="{A94F9825-FB96-4E8A-98B8-F42EA76C9BB9}" type="presParOf" srcId="{4038A191-C20C-4039-9B6D-DD2B9D926DCF}" destId="{36323F63-DE87-4CBD-8F47-F1AFDBA3BDB8}" srcOrd="0" destOrd="0" presId="urn:microsoft.com/office/officeart/2005/8/layout/hList6"/>
    <dgm:cxn modelId="{2B67AB10-6229-4842-B9B5-2631345C8879}" type="presParOf" srcId="{4038A191-C20C-4039-9B6D-DD2B9D926DCF}" destId="{67BEB817-F3CE-4E8F-88E9-0722AA6FE943}" srcOrd="1" destOrd="0" presId="urn:microsoft.com/office/officeart/2005/8/layout/hList6"/>
    <dgm:cxn modelId="{64BC0804-D59E-4E8A-8052-E567B25043DA}" type="presParOf" srcId="{4038A191-C20C-4039-9B6D-DD2B9D926DCF}" destId="{5AFA41F5-839C-43B1-B945-7E9AE96D1EC0}" srcOrd="2" destOrd="0" presId="urn:microsoft.com/office/officeart/2005/8/layout/hList6"/>
    <dgm:cxn modelId="{32659E0B-FF9E-4ECE-9D59-8EA8A5E3BD26}" type="presParOf" srcId="{4038A191-C20C-4039-9B6D-DD2B9D926DCF}" destId="{E4F393EC-C9A2-4A9D-84D3-26706F42BA89}" srcOrd="3" destOrd="0" presId="urn:microsoft.com/office/officeart/2005/8/layout/hList6"/>
    <dgm:cxn modelId="{423E5516-26AB-4DA6-9EA0-B2A7F3F8563A}" type="presParOf" srcId="{4038A191-C20C-4039-9B6D-DD2B9D926DCF}" destId="{23D1D477-0277-43DC-92FB-E34DA0D59FD1}" srcOrd="4" destOrd="0" presId="urn:microsoft.com/office/officeart/2005/8/layout/hList6"/>
    <dgm:cxn modelId="{DFA5C672-74CF-4311-A71B-8B603F18A720}" type="presParOf" srcId="{4038A191-C20C-4039-9B6D-DD2B9D926DCF}" destId="{43E14F8C-CD12-4866-ADC4-E82FA1147064}" srcOrd="5" destOrd="0" presId="urn:microsoft.com/office/officeart/2005/8/layout/hList6"/>
    <dgm:cxn modelId="{FB768BD2-A29E-44B1-848B-905FF7CE987C}" type="presParOf" srcId="{4038A191-C20C-4039-9B6D-DD2B9D926DCF}" destId="{3A5CBB95-DC36-4BB7-B6A3-0FDCC5D21A16}" srcOrd="6" destOrd="0" presId="urn:microsoft.com/office/officeart/2005/8/layout/hList6"/>
    <dgm:cxn modelId="{462704C0-0D56-4C0F-9155-2C7D6FCE5F89}" type="presParOf" srcId="{4038A191-C20C-4039-9B6D-DD2B9D926DCF}" destId="{891FE8D1-6F08-4BAB-8A24-BF7467BF8419}" srcOrd="7" destOrd="0" presId="urn:microsoft.com/office/officeart/2005/8/layout/hList6"/>
    <dgm:cxn modelId="{4E8278B8-BA5F-4125-9926-05D5A75404F0}" type="presParOf" srcId="{4038A191-C20C-4039-9B6D-DD2B9D926DCF}" destId="{92184C95-BDBA-4ED5-ACD2-EDECE1D578BF}" srcOrd="8" destOrd="0" presId="urn:microsoft.com/office/officeart/2005/8/layout/hList6"/>
    <dgm:cxn modelId="{93079963-8AB6-45E2-8B8C-69E71CD6D78A}" type="presParOf" srcId="{4038A191-C20C-4039-9B6D-DD2B9D926DCF}" destId="{15E70062-7BEF-4629-A53E-FBFDD212E5DB}" srcOrd="9" destOrd="0" presId="urn:microsoft.com/office/officeart/2005/8/layout/hList6"/>
    <dgm:cxn modelId="{B157D44D-1FCA-4C7E-87F4-92056C790E08}" type="presParOf" srcId="{4038A191-C20C-4039-9B6D-DD2B9D926DCF}" destId="{6922E3D9-B98A-408A-BE52-D1085D48EE5B}" srcOrd="10" destOrd="0" presId="urn:microsoft.com/office/officeart/2005/8/layout/hList6"/>
    <dgm:cxn modelId="{BE86238F-CA20-46B2-96E2-D87A562D6589}" type="presParOf" srcId="{4038A191-C20C-4039-9B6D-DD2B9D926DCF}" destId="{6B0DDB6A-CFD3-484A-8BB5-01645E5FF10C}" srcOrd="11" destOrd="0" presId="urn:microsoft.com/office/officeart/2005/8/layout/hList6"/>
    <dgm:cxn modelId="{B2652D90-A18E-401C-B3E5-07A2FD09C73B}" type="presParOf" srcId="{4038A191-C20C-4039-9B6D-DD2B9D926DCF}" destId="{8C2BD207-EF71-497F-A00D-E7F95DED8164}" srcOrd="1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323F63-DE87-4CBD-8F47-F1AFDBA3BDB8}">
      <dsp:nvSpPr>
        <dsp:cNvPr id="0" name=""/>
        <dsp:cNvSpPr/>
      </dsp:nvSpPr>
      <dsp:spPr>
        <a:xfrm rot="16200000">
          <a:off x="-1563653" y="1570889"/>
          <a:ext cx="4477063" cy="1335284"/>
        </a:xfrm>
        <a:prstGeom prst="flowChartManualOperati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Dez-2010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b="0" i="0" kern="1200" dirty="0"/>
            <a:t>Migração do AS400, antigo programa de fidelidade Smiles, para o Siebel </a:t>
          </a:r>
          <a:r>
            <a:rPr lang="pt-BR" sz="1200" b="0" i="0" kern="1200" dirty="0" err="1"/>
            <a:t>Loyalty</a:t>
          </a:r>
          <a:r>
            <a:rPr lang="pt-BR" sz="1200" b="0" i="0" kern="1200" dirty="0"/>
            <a:t>.</a:t>
          </a:r>
          <a:endParaRPr lang="pt-BR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7236" y="895413"/>
        <a:ext cx="1335284" cy="2686237"/>
      </dsp:txXfrm>
    </dsp:sp>
    <dsp:sp modelId="{5AFA41F5-839C-43B1-B945-7E9AE96D1EC0}">
      <dsp:nvSpPr>
        <dsp:cNvPr id="0" name=""/>
        <dsp:cNvSpPr/>
      </dsp:nvSpPr>
      <dsp:spPr>
        <a:xfrm rot="16200000">
          <a:off x="-128222" y="1570889"/>
          <a:ext cx="4477063" cy="1335284"/>
        </a:xfrm>
        <a:prstGeom prst="flowChartManualOperati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Dez-2013</a:t>
          </a:r>
          <a:endParaRPr lang="pt-B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b="0" i="0" kern="1200" dirty="0"/>
            <a:t>Apesar de existir desde o início, o problema do Saldo Divergente só foi percebido após a expiração das primeiras milhas, 36 meses após a implantação.</a:t>
          </a:r>
          <a:endParaRPr lang="pt-BR" sz="1200" b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/>
            <a:ea typeface="+mn-ea"/>
            <a:cs typeface="+mn-cs"/>
          </a:endParaRPr>
        </a:p>
      </dsp:txBody>
      <dsp:txXfrm rot="5400000">
        <a:off x="1442667" y="895413"/>
        <a:ext cx="1335284" cy="2686237"/>
      </dsp:txXfrm>
    </dsp:sp>
    <dsp:sp modelId="{23D1D477-0277-43DC-92FB-E34DA0D59FD1}">
      <dsp:nvSpPr>
        <dsp:cNvPr id="0" name=""/>
        <dsp:cNvSpPr/>
      </dsp:nvSpPr>
      <dsp:spPr>
        <a:xfrm rot="16200000">
          <a:off x="1307207" y="1570889"/>
          <a:ext cx="4477063" cy="1335284"/>
        </a:xfrm>
        <a:prstGeom prst="flowChartManualOperati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Nov-2015</a:t>
          </a:r>
          <a:endParaRPr lang="pt-B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b="0" i="0" kern="1200" dirty="0"/>
            <a:t>Central de Atendimento começou a tratar manualmente casos de saldos divergentes.</a:t>
          </a:r>
          <a:endParaRPr lang="pt-BR" sz="1200" b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b="0" i="0" kern="1200" dirty="0"/>
            <a:t>Até hoje foram tratados casos de 287 participantes</a:t>
          </a:r>
          <a:r>
            <a:rPr lang="pt-BR" sz="1100" b="0" i="0" kern="1200" dirty="0"/>
            <a:t>.</a:t>
          </a:r>
          <a:endParaRPr lang="pt-BR" sz="1100" b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/>
            <a:ea typeface="+mn-ea"/>
            <a:cs typeface="+mn-cs"/>
          </a:endParaRPr>
        </a:p>
      </dsp:txBody>
      <dsp:txXfrm rot="5400000">
        <a:off x="2878096" y="895413"/>
        <a:ext cx="1335284" cy="2686237"/>
      </dsp:txXfrm>
    </dsp:sp>
    <dsp:sp modelId="{3A5CBB95-DC36-4BB7-B6A3-0FDCC5D21A16}">
      <dsp:nvSpPr>
        <dsp:cNvPr id="0" name=""/>
        <dsp:cNvSpPr/>
      </dsp:nvSpPr>
      <dsp:spPr>
        <a:xfrm rot="16200000">
          <a:off x="2742638" y="1570889"/>
          <a:ext cx="4477063" cy="1335284"/>
        </a:xfrm>
        <a:prstGeom prst="flowChartManualOperati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Ago-2015</a:t>
          </a:r>
          <a:endParaRPr lang="pt-B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b="0" i="0" kern="1200" dirty="0"/>
            <a:t>TI da Smiles começa a evidenciar para a Oracle que o problema era do Produto e não da implantação.</a:t>
          </a:r>
          <a:endParaRPr lang="pt-BR" sz="1200" b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b="0" kern="1200" dirty="0">
              <a:solidFill>
                <a:prstClr val="white"/>
              </a:solidFill>
              <a:effectLst/>
              <a:latin typeface="Calibri"/>
              <a:ea typeface="+mn-ea"/>
              <a:cs typeface="+mn-cs"/>
            </a:rPr>
            <a:t>TI Smiles cobra correção da Oracle.</a:t>
          </a:r>
        </a:p>
      </dsp:txBody>
      <dsp:txXfrm rot="5400000">
        <a:off x="4313527" y="895413"/>
        <a:ext cx="1335284" cy="2686237"/>
      </dsp:txXfrm>
    </dsp:sp>
    <dsp:sp modelId="{92184C95-BDBA-4ED5-ACD2-EDECE1D578BF}">
      <dsp:nvSpPr>
        <dsp:cNvPr id="0" name=""/>
        <dsp:cNvSpPr/>
      </dsp:nvSpPr>
      <dsp:spPr>
        <a:xfrm rot="16200000">
          <a:off x="4178069" y="1570889"/>
          <a:ext cx="4477063" cy="1335284"/>
        </a:xfrm>
        <a:prstGeom prst="flowChartManualOperati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Fev-2016</a:t>
          </a:r>
          <a:endParaRPr lang="pt-B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/>
            <a:t>Oracle assume definitivamente que o problema era de seu Produto e se propõe a corrigi-lo.</a:t>
          </a:r>
          <a:endParaRPr lang="pt-BR" sz="1200" b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/>
            <a:ea typeface="+mn-ea"/>
            <a:cs typeface="+mn-cs"/>
          </a:endParaRPr>
        </a:p>
      </dsp:txBody>
      <dsp:txXfrm rot="5400000">
        <a:off x="5748958" y="895413"/>
        <a:ext cx="1335284" cy="2686237"/>
      </dsp:txXfrm>
    </dsp:sp>
    <dsp:sp modelId="{6922E3D9-B98A-408A-BE52-D1085D48EE5B}">
      <dsp:nvSpPr>
        <dsp:cNvPr id="0" name=""/>
        <dsp:cNvSpPr/>
      </dsp:nvSpPr>
      <dsp:spPr>
        <a:xfrm rot="16200000">
          <a:off x="5613499" y="1570889"/>
          <a:ext cx="4477063" cy="1335284"/>
        </a:xfrm>
        <a:prstGeom prst="flowChartManualOperati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800" b="1" kern="1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+mn-ea"/>
              <a:cs typeface="+mn-cs"/>
            </a:rPr>
            <a:t>Jul-2016</a:t>
          </a:r>
          <a:endParaRPr lang="pt-BR" sz="16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b="0" i="0" kern="1200" dirty="0"/>
            <a:t>Oracle aplicou uma correção (</a:t>
          </a:r>
          <a:r>
            <a:rPr lang="pt-BR" sz="1200" b="0" i="0" kern="1200" dirty="0" err="1"/>
            <a:t>Patchset</a:t>
          </a:r>
          <a:r>
            <a:rPr lang="pt-BR" sz="1200" b="0" i="0" kern="1200" dirty="0"/>
            <a:t>) no Siebel, eliminando o Problema.</a:t>
          </a:r>
          <a:endParaRPr lang="pt-BR" sz="12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Nenhum caso novo de saldo divergente é identificado.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Há casos antigos a serem corrigidos (</a:t>
          </a:r>
          <a:r>
            <a:rPr lang="pt-BR" sz="1200" i="1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backlog</a:t>
          </a:r>
          <a:r>
            <a:rPr lang="pt-BR" sz="12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).</a:t>
          </a:r>
        </a:p>
      </dsp:txBody>
      <dsp:txXfrm rot="5400000">
        <a:off x="7184388" y="895413"/>
        <a:ext cx="1335284" cy="2686237"/>
      </dsp:txXfrm>
    </dsp:sp>
    <dsp:sp modelId="{8C2BD207-EF71-497F-A00D-E7F95DED8164}">
      <dsp:nvSpPr>
        <dsp:cNvPr id="0" name=""/>
        <dsp:cNvSpPr/>
      </dsp:nvSpPr>
      <dsp:spPr>
        <a:xfrm rot="16200000">
          <a:off x="7048930" y="1570889"/>
          <a:ext cx="4477063" cy="1335284"/>
        </a:xfrm>
        <a:prstGeom prst="flowChartManualOperati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800" b="1" kern="1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+mn-ea"/>
              <a:cs typeface="+mn-cs"/>
            </a:rPr>
            <a:t>Out-2016</a:t>
          </a:r>
          <a:endParaRPr lang="pt-BR" sz="16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Colocado em produção o processo automático que  que permite ajustar os antigos casos de saldo divergente.</a:t>
          </a:r>
        </a:p>
      </dsp:txBody>
      <dsp:txXfrm rot="5400000">
        <a:off x="8619819" y="895413"/>
        <a:ext cx="1335284" cy="2686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05/10/2016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10/5/2016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10/5/2016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10/5/2016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10/5/2016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10/5/2016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10/5/2016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26504" y="-27000"/>
            <a:ext cx="6408000" cy="6912000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322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449" y="2825872"/>
            <a:ext cx="5959283" cy="393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Saldo Divergente Siebel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Resumo Executivo</a:t>
            </a: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05.Out.2016</a:t>
            </a: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Saldo Divergente Siebel</a:t>
            </a:r>
          </a:p>
        </p:txBody>
      </p:sp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2734743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Histórico e Contexto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376786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Ações e Impactos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Saldo Divergente Siebel – Histórico e Contexto</a:t>
            </a:r>
          </a:p>
        </p:txBody>
      </p:sp>
      <p:graphicFrame>
        <p:nvGraphicFramePr>
          <p:cNvPr id="36" name="Diagrama 35"/>
          <p:cNvGraphicFramePr/>
          <p:nvPr>
            <p:extLst>
              <p:ext uri="{D42A27DB-BD31-4B8C-83A1-F6EECF244321}">
                <p14:modId xmlns:p14="http://schemas.microsoft.com/office/powerpoint/2010/main" val="1800490526"/>
              </p:ext>
            </p:extLst>
          </p:nvPr>
        </p:nvGraphicFramePr>
        <p:xfrm>
          <a:off x="77399" y="1858297"/>
          <a:ext cx="9962340" cy="4477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http://www.seriosoft.com/sites/default/files/feature-icons/incident_management.pn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90" t="15794" r="17986" b="30869"/>
          <a:stretch/>
        </p:blipFill>
        <p:spPr bwMode="auto">
          <a:xfrm>
            <a:off x="8719929" y="774293"/>
            <a:ext cx="1272209" cy="106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tângulo 29"/>
          <p:cNvSpPr/>
          <p:nvPr/>
        </p:nvSpPr>
        <p:spPr>
          <a:xfrm>
            <a:off x="170212" y="1058349"/>
            <a:ext cx="6495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Breve resumo do caso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4404" y="1079631"/>
            <a:ext cx="229552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85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Saldo Divergente Siebel</a:t>
            </a:r>
          </a:p>
        </p:txBody>
      </p:sp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273474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Histórico e Contexto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3767860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Ações e Impactos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73591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Saldo Divergente Siebel – Impactos e Ações</a:t>
            </a:r>
          </a:p>
        </p:txBody>
      </p:sp>
      <p:pic>
        <p:nvPicPr>
          <p:cNvPr id="1026" name="Picture 2" descr="http://www.seriosoft.com/sites/default/files/feature-icons/incident_management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90" t="15794" r="17986" b="30869"/>
          <a:stretch/>
        </p:blipFill>
        <p:spPr bwMode="auto">
          <a:xfrm>
            <a:off x="8719929" y="774293"/>
            <a:ext cx="1272209" cy="106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404" y="1079631"/>
            <a:ext cx="2295525" cy="419100"/>
          </a:xfrm>
          <a:prstGeom prst="rect">
            <a:avLst/>
          </a:prstGeom>
        </p:spPr>
      </p:pic>
      <p:grpSp>
        <p:nvGrpSpPr>
          <p:cNvPr id="11" name="Agrupar 10"/>
          <p:cNvGrpSpPr/>
          <p:nvPr/>
        </p:nvGrpSpPr>
        <p:grpSpPr>
          <a:xfrm>
            <a:off x="455404" y="3685699"/>
            <a:ext cx="9231937" cy="1080000"/>
            <a:chOff x="372984" y="1165964"/>
            <a:chExt cx="9231937" cy="1080000"/>
          </a:xfrm>
        </p:grpSpPr>
        <p:sp>
          <p:nvSpPr>
            <p:cNvPr id="12" name="Retângulo 11"/>
            <p:cNvSpPr/>
            <p:nvPr/>
          </p:nvSpPr>
          <p:spPr>
            <a:xfrm>
              <a:off x="1653996" y="1165964"/>
              <a:ext cx="7950925" cy="10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8000" lvl="1" indent="-28800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TI Smiles 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deve executar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processo automatizado 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até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21/10/2016.</a:t>
              </a:r>
            </a:p>
            <a:p>
              <a:pPr marL="288000" lvl="1" indent="-28800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Central de Atendimento 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deverá executar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processo manual 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para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corrigir 100 casos em que o processo automatizado não será efetivo 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até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31/10/2016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</p:txBody>
        </p:sp>
        <p:sp>
          <p:nvSpPr>
            <p:cNvPr id="13" name="Retângulo de cantos arredondados 14"/>
            <p:cNvSpPr/>
            <p:nvPr/>
          </p:nvSpPr>
          <p:spPr>
            <a:xfrm>
              <a:off x="372984" y="1165964"/>
              <a:ext cx="1281013" cy="108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Ações para Correção</a:t>
              </a:r>
            </a:p>
          </p:txBody>
        </p:sp>
      </p:grpSp>
      <p:sp>
        <p:nvSpPr>
          <p:cNvPr id="14" name="Seta: para a Direita 13"/>
          <p:cNvSpPr/>
          <p:nvPr/>
        </p:nvSpPr>
        <p:spPr>
          <a:xfrm rot="5400000">
            <a:off x="4856472" y="3138775"/>
            <a:ext cx="404194" cy="490330"/>
          </a:xfrm>
          <a:prstGeom prst="rightArrow">
            <a:avLst/>
          </a:prstGeom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/>
          <p:cNvGrpSpPr/>
          <p:nvPr/>
        </p:nvGrpSpPr>
        <p:grpSpPr>
          <a:xfrm>
            <a:off x="455404" y="1989132"/>
            <a:ext cx="9231937" cy="1080000"/>
            <a:chOff x="1653996" y="2480605"/>
            <a:chExt cx="9231937" cy="1080000"/>
          </a:xfrm>
        </p:grpSpPr>
        <p:sp>
          <p:nvSpPr>
            <p:cNvPr id="16" name="Retângulo 15"/>
            <p:cNvSpPr/>
            <p:nvPr/>
          </p:nvSpPr>
          <p:spPr>
            <a:xfrm>
              <a:off x="2935008" y="2480605"/>
              <a:ext cx="7950925" cy="10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Ainda existem </a:t>
              </a:r>
              <a:r>
                <a:rPr lang="pt-B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5.162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contas de Participantes que apresentam Saldo Divergente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</p:txBody>
        </p:sp>
        <p:sp>
          <p:nvSpPr>
            <p:cNvPr id="17" name="Retângulo de cantos arredondados 14"/>
            <p:cNvSpPr/>
            <p:nvPr/>
          </p:nvSpPr>
          <p:spPr>
            <a:xfrm>
              <a:off x="1653996" y="2480605"/>
              <a:ext cx="1281013" cy="108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F57124">
                    <a:shade val="30000"/>
                    <a:satMod val="115000"/>
                  </a:srgbClr>
                </a:gs>
                <a:gs pos="50000">
                  <a:srgbClr val="F57124">
                    <a:shade val="67500"/>
                    <a:satMod val="115000"/>
                  </a:srgbClr>
                </a:gs>
                <a:gs pos="100000">
                  <a:srgbClr val="F57124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Casos a Corrigir</a:t>
              </a:r>
            </a:p>
            <a:p>
              <a:pPr algn="ctr"/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</a:t>
              </a:r>
              <a:r>
                <a:rPr lang="pt-BR" sz="16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Backlog</a:t>
              </a:r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)</a:t>
              </a:r>
              <a:endParaRPr lang="pt-BR" sz="1600" dirty="0"/>
            </a:p>
          </p:txBody>
        </p:sp>
      </p:grpSp>
      <p:grpSp>
        <p:nvGrpSpPr>
          <p:cNvPr id="18" name="Agrupar 17"/>
          <p:cNvGrpSpPr/>
          <p:nvPr/>
        </p:nvGrpSpPr>
        <p:grpSpPr>
          <a:xfrm>
            <a:off x="455404" y="5350730"/>
            <a:ext cx="9231937" cy="1080000"/>
            <a:chOff x="372984" y="1165964"/>
            <a:chExt cx="9231937" cy="1080000"/>
          </a:xfrm>
        </p:grpSpPr>
        <p:sp>
          <p:nvSpPr>
            <p:cNvPr id="19" name="Retângulo 18"/>
            <p:cNvSpPr/>
            <p:nvPr/>
          </p:nvSpPr>
          <p:spPr>
            <a:xfrm>
              <a:off x="1653996" y="1165964"/>
              <a:ext cx="7950925" cy="10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8000" lvl="1" indent="-28800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Total de Milhas afetadas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 </a:t>
              </a:r>
              <a:r>
                <a:rPr lang="pt-B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81.752.922</a:t>
              </a:r>
            </a:p>
            <a:p>
              <a:pPr marL="288000" lvl="1" indent="-28800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Prejuízo Potencial aferido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 </a:t>
              </a:r>
              <a:r>
                <a:rPr lang="pt-B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R$ 1.131.133,43</a:t>
              </a:r>
              <a:r>
                <a:rPr lang="pt-BR" sz="2000" baseline="30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(*)</a:t>
              </a:r>
              <a:endParaRPr lang="pt-BR" sz="1600" baseline="300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0" name="Retângulo de cantos arredondados 14"/>
            <p:cNvSpPr/>
            <p:nvPr/>
          </p:nvSpPr>
          <p:spPr>
            <a:xfrm>
              <a:off x="372984" y="1165964"/>
              <a:ext cx="1281013" cy="108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Impactos</a:t>
              </a:r>
            </a:p>
          </p:txBody>
        </p:sp>
      </p:grpSp>
      <p:sp>
        <p:nvSpPr>
          <p:cNvPr id="21" name="Seta: para a Direita 20"/>
          <p:cNvSpPr/>
          <p:nvPr/>
        </p:nvSpPr>
        <p:spPr>
          <a:xfrm rot="5400000">
            <a:off x="4856472" y="4813049"/>
            <a:ext cx="404194" cy="490330"/>
          </a:xfrm>
          <a:prstGeom prst="rightArrow">
            <a:avLst/>
          </a:prstGeom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1736416" y="6521149"/>
            <a:ext cx="34229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rgbClr val="000000"/>
                </a:solidFill>
                <a:latin typeface="+mj-lt"/>
              </a:rPr>
              <a:t>(*) Custo/Milha de R$ 0,013836. Referência Ago-16.</a:t>
            </a:r>
            <a:endParaRPr lang="pt-B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956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3774</TotalTime>
  <Words>289</Words>
  <Application>Microsoft Office PowerPoint</Application>
  <PresentationFormat>Personalizar</PresentationFormat>
  <Paragraphs>57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Filho</dc:creator>
  <cp:lastModifiedBy>Jorge Filho</cp:lastModifiedBy>
  <cp:revision>49</cp:revision>
  <dcterms:created xsi:type="dcterms:W3CDTF">2014-01-24T21:35:00Z</dcterms:created>
  <dcterms:modified xsi:type="dcterms:W3CDTF">2016-10-05T20:56:10Z</dcterms:modified>
</cp:coreProperties>
</file>