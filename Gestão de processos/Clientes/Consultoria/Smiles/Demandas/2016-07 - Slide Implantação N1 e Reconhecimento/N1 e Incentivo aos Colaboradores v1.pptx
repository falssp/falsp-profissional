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341" r:id="rId2"/>
  </p:sldIdLst>
  <p:sldSz cx="1011713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8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F57124"/>
    <a:srgbClr val="F68E1E"/>
    <a:srgbClr val="99CCFF"/>
    <a:srgbClr val="000000"/>
    <a:srgbClr val="FF6600"/>
    <a:srgbClr val="EE6829"/>
    <a:srgbClr val="E28734"/>
    <a:srgbClr val="F4BC71"/>
    <a:srgbClr val="D046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29" autoAdjust="0"/>
    <p:restoredTop sz="94660"/>
  </p:normalViewPr>
  <p:slideViewPr>
    <p:cSldViewPr snapToGrid="0" snapToObjects="1">
      <p:cViewPr varScale="1">
        <p:scale>
          <a:sx n="72" d="100"/>
          <a:sy n="72" d="100"/>
        </p:scale>
        <p:origin x="1092" y="72"/>
      </p:cViewPr>
      <p:guideLst>
        <p:guide orient="horz" pos="2160"/>
        <p:guide pos="318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05/07/2016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900113" y="685800"/>
            <a:ext cx="50577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8786" y="2130428"/>
            <a:ext cx="8599567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7571" y="3886200"/>
            <a:ext cx="7081997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7/5/2016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7/5/2016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184" y="4406903"/>
            <a:ext cx="8599567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9184" y="2906713"/>
            <a:ext cx="8599567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7/5/2016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5857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2878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7/5/2016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535113"/>
            <a:ext cx="447016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5857" y="2174875"/>
            <a:ext cx="44701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39367" y="1535113"/>
            <a:ext cx="447191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39367" y="2174875"/>
            <a:ext cx="447191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7/5/2016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7/5/2016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7/5/2016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857" y="273050"/>
            <a:ext cx="332846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521" y="273053"/>
            <a:ext cx="565576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5857" y="1435103"/>
            <a:ext cx="332846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7/5/2016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030" y="4800600"/>
            <a:ext cx="6070283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83030" y="612775"/>
            <a:ext cx="6070283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030" y="5367338"/>
            <a:ext cx="6070283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7/5/2016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7/5/2016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34925" y="274641"/>
            <a:ext cx="227635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5857" y="274641"/>
            <a:ext cx="6660449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7/5/2016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5857" y="274638"/>
            <a:ext cx="910542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600203"/>
            <a:ext cx="910542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5857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4C65E-0501-3244-B235-0438CC858404}" type="datetimeFigureOut">
              <a:rPr lang="en-US" smtClean="0"/>
              <a:pPr/>
              <a:t>7/5/2016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6689" y="6356353"/>
            <a:ext cx="32037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50615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Implantação N1 - Reconhecimento</a:t>
            </a:r>
          </a:p>
        </p:txBody>
      </p:sp>
      <p:sp>
        <p:nvSpPr>
          <p:cNvPr id="144" name="Fluxograma: Processo 143"/>
          <p:cNvSpPr/>
          <p:nvPr/>
        </p:nvSpPr>
        <p:spPr>
          <a:xfrm>
            <a:off x="2736676" y="1095217"/>
            <a:ext cx="7096436" cy="5556307"/>
          </a:xfrm>
          <a:prstGeom prst="flowChartProcess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 implantação de uma unidade de suporte em primeiro nível (N1) permitirá aos colaboradores do time de Operações e Infraestrutura de TI:</a:t>
            </a:r>
          </a:p>
          <a:p>
            <a:pPr marL="720000" indent="-32400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pt-BR" sz="14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Reduzir o tempo utilizado em atividades rotineiras e operacionais</a:t>
            </a:r>
            <a:r>
              <a:rPr lang="pt-BR" sz="14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consideradas menos “nobres”;</a:t>
            </a:r>
          </a:p>
          <a:p>
            <a:pPr marL="720000" indent="-32400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pt-BR" sz="14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Ampliar o tempo dedicado para a análise de </a:t>
            </a:r>
            <a:r>
              <a:rPr lang="pt-BR" sz="1400" b="1" dirty="0" err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BUGs</a:t>
            </a:r>
            <a:r>
              <a:rPr lang="pt-BR" sz="14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buscando soluções definitivas e consistentes que resolvam os problemas completamente;</a:t>
            </a:r>
          </a:p>
          <a:p>
            <a:pPr marL="720000" indent="-32400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pt-BR" sz="14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Avaliar possíveis </a:t>
            </a:r>
            <a:r>
              <a:rPr lang="pt-BR" sz="14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automatizações de atividades/processos </a:t>
            </a:r>
            <a:r>
              <a:rPr lang="pt-BR" sz="14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relacionados a Incidentes ou Requisições recorrentes;</a:t>
            </a:r>
          </a:p>
          <a:p>
            <a:pPr marL="720000" indent="-32400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pt-BR" sz="14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Aumentar a produtividade </a:t>
            </a:r>
            <a:r>
              <a:rPr lang="pt-BR" sz="14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devido a menor quantidade de interrupções motivadas por interações operacionais com usuários.</a:t>
            </a:r>
          </a:p>
          <a:p>
            <a:pPr marL="285750" indent="-285750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Alinhado à iniciativa de implantação do N1 e de forma a aumentar a satisfação da equipe, pode ser considerada a </a:t>
            </a:r>
            <a:r>
              <a:rPr lang="pt-BR" sz="1400" u="sng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implantação de mecanismos de reconhecimento</a:t>
            </a:r>
            <a:r>
              <a:rPr lang="pt-BR" sz="14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aos colaboradores que mais se destacarem na análise de </a:t>
            </a:r>
            <a:r>
              <a:rPr lang="pt-BR" sz="1400" dirty="0" err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BUGs</a:t>
            </a:r>
            <a:r>
              <a:rPr lang="pt-BR" sz="14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tais como:</a:t>
            </a:r>
          </a:p>
          <a:p>
            <a:pPr marL="720000" lvl="0" indent="-32400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pt-BR" sz="14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Inscrição em </a:t>
            </a:r>
            <a:r>
              <a:rPr lang="pt-BR" sz="14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treinamentos pertinentes ao plano de carreira </a:t>
            </a:r>
            <a:r>
              <a:rPr lang="pt-BR" sz="14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do colaborador a ser premiado;</a:t>
            </a:r>
          </a:p>
          <a:p>
            <a:pPr marL="720000" lvl="0" indent="-32400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pt-BR" sz="14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Premiação em </a:t>
            </a:r>
            <a:r>
              <a:rPr lang="pt-BR" sz="14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milhas</a:t>
            </a:r>
            <a:r>
              <a:rPr lang="pt-BR" sz="14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;</a:t>
            </a:r>
          </a:p>
          <a:p>
            <a:pPr marL="720000" lvl="0" indent="-32400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pt-BR" sz="14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Premiação em formato de </a:t>
            </a:r>
            <a:r>
              <a:rPr lang="pt-BR" sz="14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“vale-presente” </a:t>
            </a:r>
            <a:r>
              <a:rPr lang="pt-BR" sz="14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junto a algum parceiro Smiles;</a:t>
            </a:r>
          </a:p>
          <a:p>
            <a:pPr marL="720000" lvl="0" indent="-32400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pt-BR" sz="14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Almoço com o </a:t>
            </a:r>
            <a:r>
              <a:rPr lang="pt-BR" sz="1400" b="1" i="1" dirty="0" err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Board</a:t>
            </a:r>
            <a:r>
              <a:rPr lang="pt-BR" sz="14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t-BR" sz="14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 Smiles (da empresa ou da TI).</a:t>
            </a:r>
          </a:p>
        </p:txBody>
      </p:sp>
      <p:pic>
        <p:nvPicPr>
          <p:cNvPr id="1026" name="Picture 2" descr="http://www.aquarelaconsultoria.com.br/wp-content/uploads/2015/01/reconhecimento-dos-funcionarios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63" r="35761"/>
          <a:stretch/>
        </p:blipFill>
        <p:spPr bwMode="auto">
          <a:xfrm>
            <a:off x="316396" y="1095217"/>
            <a:ext cx="2130464" cy="2230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74494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2703</TotalTime>
  <Words>177</Words>
  <Application>Microsoft Office PowerPoint</Application>
  <PresentationFormat>Personalizar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Calibri</vt:lpstr>
      <vt:lpstr>Segoe UI</vt:lpstr>
      <vt:lpstr>Wingdings</vt:lpstr>
      <vt:lpstr>Office Theme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fred</dc:creator>
  <cp:lastModifiedBy>Jorge Filho</cp:lastModifiedBy>
  <cp:revision>234</cp:revision>
  <dcterms:created xsi:type="dcterms:W3CDTF">2014-01-24T21:35:00Z</dcterms:created>
  <dcterms:modified xsi:type="dcterms:W3CDTF">2016-07-05T20:41:01Z</dcterms:modified>
</cp:coreProperties>
</file>