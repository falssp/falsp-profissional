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31"/>
  </p:notesMasterIdLst>
  <p:sldIdLst>
    <p:sldId id="257" r:id="rId2"/>
    <p:sldId id="339" r:id="rId3"/>
    <p:sldId id="384" r:id="rId4"/>
    <p:sldId id="382" r:id="rId5"/>
    <p:sldId id="413" r:id="rId6"/>
    <p:sldId id="383" r:id="rId7"/>
    <p:sldId id="388" r:id="rId8"/>
    <p:sldId id="385" r:id="rId9"/>
    <p:sldId id="411" r:id="rId10"/>
    <p:sldId id="415" r:id="rId11"/>
    <p:sldId id="412" r:id="rId12"/>
    <p:sldId id="414" r:id="rId13"/>
    <p:sldId id="389" r:id="rId14"/>
    <p:sldId id="408" r:id="rId15"/>
    <p:sldId id="410" r:id="rId16"/>
    <p:sldId id="416" r:id="rId17"/>
    <p:sldId id="417" r:id="rId18"/>
    <p:sldId id="409" r:id="rId19"/>
    <p:sldId id="418" r:id="rId20"/>
    <p:sldId id="424" r:id="rId21"/>
    <p:sldId id="425" r:id="rId22"/>
    <p:sldId id="426" r:id="rId23"/>
    <p:sldId id="427" r:id="rId24"/>
    <p:sldId id="428" r:id="rId25"/>
    <p:sldId id="420" r:id="rId26"/>
    <p:sldId id="421" r:id="rId27"/>
    <p:sldId id="422" r:id="rId28"/>
    <p:sldId id="423" r:id="rId29"/>
    <p:sldId id="406" r:id="rId30"/>
  </p:sldIdLst>
  <p:sldSz cx="10117138"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2" userDrawn="1">
          <p15:clr>
            <a:srgbClr val="A4A3A4"/>
          </p15:clr>
        </p15:guide>
        <p15:guide id="2" pos="318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7124"/>
    <a:srgbClr val="99CCFF"/>
    <a:srgbClr val="00FF00"/>
    <a:srgbClr val="D0462D"/>
    <a:srgbClr val="EE6829"/>
    <a:srgbClr val="000000"/>
    <a:srgbClr val="F68E1E"/>
    <a:srgbClr val="FF9900"/>
    <a:srgbClr val="FF6600"/>
    <a:srgbClr val="E2873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Estilo Claro 2 - Ênfase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2DE63D5-997A-4646-A377-4702673A728D}" styleName="Estilo Claro 2 - Ênfase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Estilo Médio 2 - Ênfas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Estilo com Tema 1 - Ênfase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38B1855-1B75-4FBE-930C-398BA8C253C6}" styleName="Estilo com Tema 2 - Ênfase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0A1B5D5-9B99-4C35-A422-299274C87663}" styleName="Estilo Médio 1 - Ênfas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8FB837D-C827-4EFA-A057-4D05807E0F7C}" styleName="Estilo com Tema 1 - Ênfase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8D230F3-CF80-4859-8CE7-A43EE81993B5}" styleName="Estilo Claro 1 - Ênfas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A488322-F2BA-4B5B-9748-0D474271808F}" styleName="Estilo Médio 3 - Ênfase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6D9F66E-5EB9-4882-86FB-DCBF35E3C3E4}" styleName="Estilo Médio 4 - Ênfas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Estilo com Tema 1 - Ênfas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Estilo com Tema 1 - Ênfase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Estilo com Tema 1 - Ênfase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Estilo com Tema 1 - Ênfase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0"/>
  </p:normalViewPr>
  <p:slideViewPr>
    <p:cSldViewPr snapToGrid="0" snapToObjects="1">
      <p:cViewPr varScale="1">
        <p:scale>
          <a:sx n="68" d="100"/>
          <a:sy n="68" d="100"/>
        </p:scale>
        <p:origin x="1236" y="72"/>
      </p:cViewPr>
      <p:guideLst>
        <p:guide orient="horz" pos="2092"/>
        <p:guide pos="3187"/>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124.27184" units="1/cm"/>
          <inkml:channelProperty channel="Y" name="resolution" value="62.06897" units="1/cm"/>
          <inkml:channelProperty channel="T" name="resolution" value="1" units="1/dev"/>
        </inkml:channelProperties>
      </inkml:inkSource>
      <inkml:timestamp xml:id="ts0" timeString="2017-01-20T18:32:51.369"/>
    </inkml:context>
    <inkml:brush xml:id="br0">
      <inkml:brushProperty name="width" value="0.05292" units="cm"/>
      <inkml:brushProperty name="height" value="0.05292" units="cm"/>
      <inkml:brushProperty name="color" value="#C00000"/>
    </inkml:brush>
  </inkml:definitions>
  <inkml:trace contextRef="#ctx0" brushRef="#br0">10186 9365 0,'-30'0'63,"1"0"-17,29 29-30,0 117 0,0 59-16,-58-59 15,28 88 1,30 30-16,0-30 16,0 0-1,0-59-15,0 60 16,0-1-1,0-88-15,0 88 16,0-58 0,30-59-16,-30 29 15,0-58-15,0 0 16,0-59 0,0 0-16,0 0 15,0 1 1</inkml:trace>
  <inkml:trace contextRef="#ctx0" brushRef="#br0" timeOffset="2676.8567">7434 6204 0,'0'-29'187,"88"87"-156,88-28-31,146 175 16,117 58 0,-59-58-16,176 87 15,-58 1 1,-30 0-16,-29-30 16,117-29-1,-58 59-15,146 87 16,88 176-1,117 29-15,146 176 16,-117 88-16,263 116 16,-585-409-1,118 117-15,-235-263 16,87 58 0,-145-146-16,-1 88 15,-28-30 1,28 1-16,-87-59 15,29 0 1,-59-88-16,-58-30 16,-88-86-1,-58-31-15,-30-57 16,0-1-16</inkml:trace>
  <inkml:trace contextRef="#ctx0" brushRef="#br0" timeOffset="4955.3755">19376 6906 0,'-29'0'141,"-30"30"-125,-28-1-1,28-29-15,-87 59 16,-1-1 0,-57 30-16,-31 0 15,31 29 1,-60 58-16,59-58 15,0 0 1,-58 30-16,-1 28 16,60-58-1,28 88-15,-87 29 16,-1-29-16,-29 29 16,30 30-1,-59 116-15,29-87 16,-29 28-1,0-28-15,30 29 16,-30 0 0,88-59-16,-30 30 15,59-147 1,30 88-16,-1-29 16,30-59-1,-59 30-15,29-30 16,-29 147-1,-29-88-15,29 0 16,-29 87-16,29-28 16,30-60-1,-60 60-15,-87 116 16,88-58 0,0-88-16,29-29 15,0-29 1,147-89-16,-59 30 15,58-58 1,30 0-16,0-30 16,-1-29-1,1 0 63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B2CD1B9-1777-43A0-8DF4-B945C46147BD}" type="datetimeFigureOut">
              <a:rPr lang="pt-BR" smtClean="0"/>
              <a:t>23/01/2017</a:t>
            </a:fld>
            <a:endParaRPr lang="pt-BR"/>
          </a:p>
        </p:txBody>
      </p:sp>
      <p:sp>
        <p:nvSpPr>
          <p:cNvPr id="4" name="Espaço Reservado para Imagem de Slide 3"/>
          <p:cNvSpPr>
            <a:spLocks noGrp="1" noRot="1" noChangeAspect="1"/>
          </p:cNvSpPr>
          <p:nvPr>
            <p:ph type="sldImg" idx="2"/>
          </p:nvPr>
        </p:nvSpPr>
        <p:spPr>
          <a:xfrm>
            <a:off x="900113" y="685800"/>
            <a:ext cx="5057775"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245040-EFBE-493F-96A2-B5DCAE3ADE4E}" type="slidenum">
              <a:rPr lang="pt-BR" smtClean="0"/>
              <a:t>‹nº›</a:t>
            </a:fld>
            <a:endParaRPr lang="pt-BR"/>
          </a:p>
        </p:txBody>
      </p:sp>
    </p:spTree>
    <p:extLst>
      <p:ext uri="{BB962C8B-B14F-4D97-AF65-F5344CB8AC3E}">
        <p14:creationId xmlns:p14="http://schemas.microsoft.com/office/powerpoint/2010/main" val="2186681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D245040-EFBE-493F-96A2-B5DCAE3ADE4E}" type="slidenum">
              <a:rPr lang="pt-BR" smtClean="0"/>
              <a:t>2</a:t>
            </a:fld>
            <a:endParaRPr lang="pt-BR"/>
          </a:p>
        </p:txBody>
      </p:sp>
    </p:spTree>
    <p:extLst>
      <p:ext uri="{BB962C8B-B14F-4D97-AF65-F5344CB8AC3E}">
        <p14:creationId xmlns:p14="http://schemas.microsoft.com/office/powerpoint/2010/main" val="2314425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1/23/2017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3</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1852719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1/23/2017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6</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1026553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1/23/2017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7</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2252001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1/23/2017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8</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3493423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1/23/2017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13</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717537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1/23/2017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14</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810366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1/23/2017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15</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393843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1/23/2017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18</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18809190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1/23/2017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29</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3624177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8786" y="2130428"/>
            <a:ext cx="8599567" cy="1470025"/>
          </a:xfrm>
        </p:spPr>
        <p:txBody>
          <a:bodyPr/>
          <a:lstStyle/>
          <a:p>
            <a:r>
              <a:rPr lang="en-US"/>
              <a:t>Click to edit Master title style</a:t>
            </a:r>
          </a:p>
        </p:txBody>
      </p:sp>
      <p:sp>
        <p:nvSpPr>
          <p:cNvPr id="3" name="Subtitle 2"/>
          <p:cNvSpPr>
            <a:spLocks noGrp="1"/>
          </p:cNvSpPr>
          <p:nvPr>
            <p:ph type="subTitle" idx="1"/>
          </p:nvPr>
        </p:nvSpPr>
        <p:spPr>
          <a:xfrm>
            <a:off x="1517571" y="3886200"/>
            <a:ext cx="7081997"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5F959D4-6A11-486D-B749-87BCA07FF591}" type="datetime1">
              <a:rPr lang="en-US" smtClean="0"/>
              <a:t>1/23/2017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1241989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474088-60D5-4C27-8C26-4C55B0AE93BE}" type="datetime1">
              <a:rPr lang="en-US" smtClean="0"/>
              <a:t>1/23/2017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843307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9184" y="4406903"/>
            <a:ext cx="8599567"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99184" y="2906713"/>
            <a:ext cx="8599567"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5A53C5-BA6F-42EE-B848-F3D0057EDAD5}" type="datetime1">
              <a:rPr lang="en-US" smtClean="0"/>
              <a:t>1/23/2017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408574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5857" y="1600203"/>
            <a:ext cx="446840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2878" y="1600203"/>
            <a:ext cx="446840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958837-4952-4B11-B021-471393E3D5C6}" type="datetime1">
              <a:rPr lang="en-US" smtClean="0"/>
              <a:t>1/23/2017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753154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5857" y="1535113"/>
            <a:ext cx="447016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5857" y="2174875"/>
            <a:ext cx="44701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39367" y="1535113"/>
            <a:ext cx="447191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39367" y="2174875"/>
            <a:ext cx="447191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FF5B09A-A573-467A-B71C-8123B5A168C3}" type="datetime1">
              <a:rPr lang="en-US" smtClean="0"/>
              <a:t>1/23/2017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45974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956A762-4D7A-4A60-B361-0561C4BAA8C1}" type="datetime1">
              <a:rPr lang="en-US" smtClean="0"/>
              <a:t>1/23/2017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563801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4E7812-A9AF-4509-8267-EE36D97F6170}" type="datetime1">
              <a:rPr lang="en-US" smtClean="0"/>
              <a:t>1/23/2017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293948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5857" y="273050"/>
            <a:ext cx="3328469"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55521" y="273053"/>
            <a:ext cx="565576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5857" y="1435103"/>
            <a:ext cx="332846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3C3899E-D0AF-4934-8DE7-BA875A98DCEA}" type="datetime1">
              <a:rPr lang="en-US" smtClean="0"/>
              <a:t>1/23/2017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088056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030" y="4800600"/>
            <a:ext cx="6070283"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83030" y="612775"/>
            <a:ext cx="6070283"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983030" y="5367338"/>
            <a:ext cx="6070283"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452944-44B7-41D7-AD1A-FD6903581FEF}" type="datetime1">
              <a:rPr lang="en-US" smtClean="0"/>
              <a:t>1/23/2017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06701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5AA64C-69FA-480F-B7E3-FE744768567F}" type="datetime1">
              <a:rPr lang="en-US" smtClean="0"/>
              <a:t>1/23/2017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1833005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34925" y="274641"/>
            <a:ext cx="2276356"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5857" y="274641"/>
            <a:ext cx="6660449"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18FE86-EFE7-4175-8137-78DEB5E572A3}" type="datetime1">
              <a:rPr lang="en-US" smtClean="0"/>
              <a:t>1/23/2017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7686421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0892" y="228608"/>
            <a:ext cx="9254058" cy="609399"/>
          </a:xfrm>
        </p:spPr>
        <p:txBody>
          <a:bodyPr/>
          <a:lstStyle>
            <a:lvl1pPr>
              <a:defRPr/>
            </a:lvl1pPr>
          </a:lstStyle>
          <a:p>
            <a:r>
              <a:rPr lang="en-US"/>
              <a:t>Click to edit Master title style</a:t>
            </a:r>
            <a:endParaRPr lang="en-US" dirty="0"/>
          </a:p>
        </p:txBody>
      </p:sp>
      <p:sp>
        <p:nvSpPr>
          <p:cNvPr id="7" name="Text Placeholder 6"/>
          <p:cNvSpPr>
            <a:spLocks noGrp="1"/>
          </p:cNvSpPr>
          <p:nvPr>
            <p:ph type="body" sz="quarter" idx="10"/>
          </p:nvPr>
        </p:nvSpPr>
        <p:spPr>
          <a:xfrm>
            <a:off x="430883" y="1447802"/>
            <a:ext cx="9254058" cy="2283702"/>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051449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5857" y="274638"/>
            <a:ext cx="9105424"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05857" y="1600203"/>
            <a:ext cx="9105424"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05857" y="6356353"/>
            <a:ext cx="236066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D29DC0-6BD0-4B46-B6AE-0379CA6F938C}" type="datetime1">
              <a:rPr lang="en-US" smtClean="0"/>
              <a:t>1/23/2017</a:t>
            </a:fld>
            <a:endParaRPr lang="en-US" dirty="0"/>
          </a:p>
        </p:txBody>
      </p:sp>
      <p:sp>
        <p:nvSpPr>
          <p:cNvPr id="5" name="Footer Placeholder 4"/>
          <p:cNvSpPr>
            <a:spLocks noGrp="1"/>
          </p:cNvSpPr>
          <p:nvPr>
            <p:ph type="ftr" sz="quarter" idx="3"/>
          </p:nvPr>
        </p:nvSpPr>
        <p:spPr>
          <a:xfrm>
            <a:off x="3456689" y="6356353"/>
            <a:ext cx="320376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250615" y="6356353"/>
            <a:ext cx="236066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455292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slide" Target="slide4.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6.emf"/><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jpe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emf"/><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6.emf"/><Relationship Id="rId4" Type="http://schemas.openxmlformats.org/officeDocument/2006/relationships/image" Target="../media/image20.jpe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4.xml"/><Relationship Id="rId7" Type="http://schemas.microsoft.com/office/2007/relationships/hdphoto" Target="../media/hdphoto1.wdp"/><Relationship Id="rId2" Type="http://schemas.openxmlformats.org/officeDocument/2006/relationships/slideLayout" Target="../slideLayouts/slideLayout12.xml"/><Relationship Id="rId1" Type="http://schemas.openxmlformats.org/officeDocument/2006/relationships/tags" Target="../tags/tag1.xml"/><Relationship Id="rId6" Type="http://schemas.openxmlformats.org/officeDocument/2006/relationships/image" Target="../media/image21.jpeg"/><Relationship Id="rId5" Type="http://schemas.openxmlformats.org/officeDocument/2006/relationships/image" Target="../media/image6.emf"/><Relationship Id="rId4" Type="http://schemas.openxmlformats.org/officeDocument/2006/relationships/image" Target="../media/image19.jpeg"/><Relationship Id="rId9" Type="http://schemas.microsoft.com/office/2007/relationships/hdphoto" Target="../media/hdphoto2.wdp"/></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6.emf"/><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notesSlide" Target="../notesSlides/notesSlide5.xml"/><Relationship Id="rId16" Type="http://schemas.openxmlformats.org/officeDocument/2006/relationships/image" Target="../media/image36.png"/><Relationship Id="rId1" Type="http://schemas.openxmlformats.org/officeDocument/2006/relationships/slideLayout" Target="../slideLayouts/slideLayout1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2.xml"/><Relationship Id="rId5" Type="http://schemas.openxmlformats.org/officeDocument/2006/relationships/image" Target="../media/image6.emf"/><Relationship Id="rId4" Type="http://schemas.openxmlformats.org/officeDocument/2006/relationships/image" Target="../media/image40.png"/></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41.jp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notesSlide" Target="../notesSlides/notesSlide6.xml"/><Relationship Id="rId7" Type="http://schemas.openxmlformats.org/officeDocument/2006/relationships/image" Target="../media/image22.png"/><Relationship Id="rId2" Type="http://schemas.openxmlformats.org/officeDocument/2006/relationships/slideLayout" Target="../slideLayouts/slideLayout12.xml"/><Relationship Id="rId1" Type="http://schemas.openxmlformats.org/officeDocument/2006/relationships/tags" Target="../tags/tag2.xml"/><Relationship Id="rId6" Type="http://schemas.openxmlformats.org/officeDocument/2006/relationships/image" Target="../media/image44.png"/><Relationship Id="rId5" Type="http://schemas.openxmlformats.org/officeDocument/2006/relationships/image" Target="../media/image6.emf"/><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46.png"/><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2.xml"/><Relationship Id="rId4" Type="http://schemas.openxmlformats.org/officeDocument/2006/relationships/image" Target="../media/image6.emf"/></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2.xml"/><Relationship Id="rId4" Type="http://schemas.openxmlformats.org/officeDocument/2006/relationships/image" Target="../media/image6.emf"/></Relationships>
</file>

<file path=ppt/slides/_rels/slide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51.png"/></Relationships>
</file>

<file path=ppt/slides/_rels/slide1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slide" Target="slide20.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52.jpeg"/><Relationship Id="rId7" Type="http://schemas.openxmlformats.org/officeDocument/2006/relationships/slide" Target="slide19.xml"/><Relationship Id="rId2" Type="http://schemas.openxmlformats.org/officeDocument/2006/relationships/image" Target="../media/image6.emf"/><Relationship Id="rId1" Type="http://schemas.openxmlformats.org/officeDocument/2006/relationships/slideLayout" Target="../slideLayouts/slideLayout1.xml"/><Relationship Id="rId6" Type="http://schemas.openxmlformats.org/officeDocument/2006/relationships/slide" Target="slide23.xml"/><Relationship Id="rId5" Type="http://schemas.openxmlformats.org/officeDocument/2006/relationships/slide" Target="slide22.xml"/><Relationship Id="rId4" Type="http://schemas.openxmlformats.org/officeDocument/2006/relationships/slide" Target="slide21.xml"/></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6.emf"/><Relationship Id="rId1" Type="http://schemas.openxmlformats.org/officeDocument/2006/relationships/slideLayout" Target="../slideLayouts/slideLayout1.xml"/><Relationship Id="rId6" Type="http://schemas.openxmlformats.org/officeDocument/2006/relationships/slide" Target="slide20.xml"/><Relationship Id="rId5" Type="http://schemas.openxmlformats.org/officeDocument/2006/relationships/image" Target="../media/image54.png"/><Relationship Id="rId4" Type="http://schemas.openxmlformats.org/officeDocument/2006/relationships/hyperlink" Target="https://smiles.atlassian.net/servicedesk/customer/portals"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6.emf"/><Relationship Id="rId1" Type="http://schemas.openxmlformats.org/officeDocument/2006/relationships/slideLayout" Target="../slideLayouts/slideLayout1.xml"/><Relationship Id="rId5" Type="http://schemas.openxmlformats.org/officeDocument/2006/relationships/slide" Target="slide20.xml"/><Relationship Id="rId4" Type="http://schemas.openxmlformats.org/officeDocument/2006/relationships/image" Target="../media/image55.jpg"/></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6.emf"/><Relationship Id="rId1" Type="http://schemas.openxmlformats.org/officeDocument/2006/relationships/slideLayout" Target="../slideLayouts/slideLayout1.xml"/><Relationship Id="rId5" Type="http://schemas.openxmlformats.org/officeDocument/2006/relationships/slide" Target="slide20.xml"/><Relationship Id="rId4" Type="http://schemas.openxmlformats.org/officeDocument/2006/relationships/image" Target="../media/image56.jpg"/></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6.emf"/><Relationship Id="rId1" Type="http://schemas.openxmlformats.org/officeDocument/2006/relationships/slideLayout" Target="../slideLayouts/slideLayout1.xml"/><Relationship Id="rId5" Type="http://schemas.openxmlformats.org/officeDocument/2006/relationships/slide" Target="slide20.xml"/><Relationship Id="rId4" Type="http://schemas.openxmlformats.org/officeDocument/2006/relationships/image" Target="../media/image56.jpg"/></Relationships>
</file>

<file path=ppt/slides/_rels/slide2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8.png"/><Relationship Id="rId1" Type="http://schemas.openxmlformats.org/officeDocument/2006/relationships/slideLayout" Target="../slideLayouts/slideLayout12.xml"/><Relationship Id="rId4" Type="http://schemas.openxmlformats.org/officeDocument/2006/relationships/image" Target="../media/image55.emf"/></Relationships>
</file>

<file path=ppt/slides/_rels/slide2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8" Type="http://schemas.openxmlformats.org/officeDocument/2006/relationships/hyperlink" Target="https://support.office.com/pt-br/article/Centro-de-Treinamento-do-Office-b8f02f81-ec85-4493-a39b-4c48e6bc4bfb?ui=pt-BR&amp;rs=pt-BR&amp;ad=BR" TargetMode="External"/><Relationship Id="rId3" Type="http://schemas.openxmlformats.org/officeDocument/2006/relationships/image" Target="../media/image19.jpeg"/><Relationship Id="rId7" Type="http://schemas.openxmlformats.org/officeDocument/2006/relationships/hyperlink" Target="mailto:infra@smiles.com.br"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hyperlink" Target="http://aka.ms/office-2016-training" TargetMode="External"/><Relationship Id="rId5" Type="http://schemas.openxmlformats.org/officeDocument/2006/relationships/image" Target="../media/image62.jpeg"/><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2"/>
          <p:cNvSpPr/>
          <p:nvPr/>
        </p:nvSpPr>
        <p:spPr>
          <a:xfrm>
            <a:off x="1" y="1"/>
            <a:ext cx="6375313" cy="6857999"/>
          </a:xfrm>
          <a:custGeom>
            <a:avLst/>
            <a:gdLst/>
            <a:ahLst/>
            <a:cxnLst/>
            <a:rect l="l" t="t" r="r" b="b"/>
            <a:pathLst>
              <a:path w="5762090" h="6857999">
                <a:moveTo>
                  <a:pt x="0" y="0"/>
                </a:moveTo>
                <a:lnTo>
                  <a:pt x="1920697" y="0"/>
                </a:lnTo>
                <a:lnTo>
                  <a:pt x="3279881" y="0"/>
                </a:lnTo>
                <a:lnTo>
                  <a:pt x="5200578" y="0"/>
                </a:lnTo>
                <a:lnTo>
                  <a:pt x="5255041" y="148787"/>
                </a:lnTo>
                <a:cubicBezTo>
                  <a:pt x="5571805" y="1057108"/>
                  <a:pt x="5762090" y="2221597"/>
                  <a:pt x="5762090" y="3491260"/>
                </a:cubicBezTo>
                <a:cubicBezTo>
                  <a:pt x="5762090" y="4760923"/>
                  <a:pt x="5571805" y="5925412"/>
                  <a:pt x="5255041" y="6833733"/>
                </a:cubicBezTo>
                <a:lnTo>
                  <a:pt x="5246158" y="6857999"/>
                </a:lnTo>
                <a:lnTo>
                  <a:pt x="3325461" y="6857999"/>
                </a:lnTo>
                <a:lnTo>
                  <a:pt x="1920697" y="6857999"/>
                </a:lnTo>
                <a:lnTo>
                  <a:pt x="0" y="6857999"/>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2"/>
          <a:stretch>
            <a:fillRect/>
          </a:stretch>
        </p:blipFill>
        <p:spPr>
          <a:xfrm>
            <a:off x="7111303" y="1749124"/>
            <a:ext cx="2206288" cy="787514"/>
          </a:xfrm>
          <a:prstGeom prst="rect">
            <a:avLst/>
          </a:prstGeom>
        </p:spPr>
      </p:pic>
      <p:sp>
        <p:nvSpPr>
          <p:cNvPr id="7" name="TextBox 6"/>
          <p:cNvSpPr txBox="1"/>
          <p:nvPr/>
        </p:nvSpPr>
        <p:spPr>
          <a:xfrm>
            <a:off x="1" y="1695350"/>
            <a:ext cx="5688627" cy="4439677"/>
          </a:xfrm>
          <a:prstGeom prst="rect">
            <a:avLst/>
          </a:prstGeom>
          <a:noFill/>
        </p:spPr>
        <p:txBody>
          <a:bodyPr wrap="square" rtlCol="0">
            <a:spAutoFit/>
          </a:bodyPr>
          <a:lstStyle/>
          <a:p>
            <a:pPr algn="r"/>
            <a:r>
              <a:rPr lang="pt-BR" sz="3200" b="1" dirty="0">
                <a:solidFill>
                  <a:schemeClr val="bg1"/>
                </a:solidFill>
                <a:effectLst>
                  <a:outerShdw blurRad="50800" dist="38100" dir="5400000" algn="t" rotWithShape="0">
                    <a:srgbClr val="C00000"/>
                  </a:outerShdw>
                </a:effectLst>
                <a:cs typeface="Gotham Rounded Book"/>
              </a:rPr>
              <a:t>Workshop Office 365</a:t>
            </a:r>
          </a:p>
          <a:p>
            <a:pPr algn="r"/>
            <a:r>
              <a:rPr lang="pt-BR" sz="3200" b="1" i="1" dirty="0">
                <a:solidFill>
                  <a:schemeClr val="bg1"/>
                </a:solidFill>
                <a:effectLst>
                  <a:outerShdw blurRad="50800" dist="38100" dir="5400000" algn="t" rotWithShape="0">
                    <a:srgbClr val="C00000"/>
                  </a:outerShdw>
                </a:effectLst>
                <a:latin typeface="Gotham Rounded Book"/>
                <a:cs typeface="Gotham Rounded Book"/>
              </a:rPr>
              <a:t>OneDrive e SharePoint</a:t>
            </a:r>
            <a:endParaRPr lang="en-US" sz="3200" i="1" dirty="0">
              <a:solidFill>
                <a:schemeClr val="bg1"/>
              </a:solidFill>
              <a:effectLst>
                <a:outerShdw blurRad="38100" dist="38100" dir="2700000" algn="tl">
                  <a:srgbClr val="000000">
                    <a:alpha val="43137"/>
                  </a:srgbClr>
                </a:outerShdw>
              </a:effectLst>
              <a:latin typeface="Gotham Rounded Book"/>
              <a:cs typeface="Gotham Rounded Book"/>
            </a:endParaRPr>
          </a:p>
          <a:p>
            <a:pPr algn="r"/>
            <a:endParaRPr lang="pt-BR" sz="2000" i="1"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r>
              <a:rPr lang="pt-BR" sz="2000" dirty="0">
                <a:solidFill>
                  <a:schemeClr val="bg1"/>
                </a:solidFill>
                <a:effectLst>
                  <a:outerShdw blurRad="50800" dist="38100" dir="5400000" algn="t" rotWithShape="0">
                    <a:srgbClr val="C00000"/>
                  </a:outerShdw>
                </a:effectLst>
                <a:cs typeface="Gotham Rounded Book"/>
              </a:rPr>
              <a:t>Gerência de Infraestrutura </a:t>
            </a:r>
          </a:p>
          <a:p>
            <a:pPr algn="r"/>
            <a:r>
              <a:rPr lang="pt-BR" sz="2000" dirty="0">
                <a:solidFill>
                  <a:schemeClr val="bg1"/>
                </a:solidFill>
                <a:effectLst>
                  <a:outerShdw blurRad="50800" dist="38100" dir="5400000" algn="t" rotWithShape="0">
                    <a:srgbClr val="C00000"/>
                  </a:outerShdw>
                </a:effectLst>
                <a:cs typeface="Gotham Rounded Book"/>
              </a:rPr>
              <a:t>e Operações de TI</a:t>
            </a:r>
          </a:p>
          <a:p>
            <a:pPr algn="r"/>
            <a:endParaRPr lang="en-US" sz="1600" dirty="0">
              <a:solidFill>
                <a:schemeClr val="bg1"/>
              </a:solidFill>
              <a:effectLst>
                <a:outerShdw blurRad="50800" dist="38100" dir="5400000" algn="t" rotWithShape="0">
                  <a:srgbClr val="C00000"/>
                </a:outerShdw>
              </a:effectLst>
              <a:latin typeface="Gotham Rounded Book"/>
              <a:cs typeface="Gotham Rounded Book"/>
            </a:endParaRPr>
          </a:p>
          <a:p>
            <a:pPr algn="r"/>
            <a:endParaRPr lang="en-US" sz="1600" dirty="0">
              <a:solidFill>
                <a:schemeClr val="bg1"/>
              </a:solidFill>
              <a:effectLst>
                <a:outerShdw blurRad="50800" dist="38100" dir="5400000" algn="t" rotWithShape="0">
                  <a:srgbClr val="C00000"/>
                </a:outerShdw>
              </a:effectLst>
              <a:latin typeface="Gotham Rounded Book"/>
              <a:cs typeface="Gotham Rounded Book"/>
            </a:endParaRPr>
          </a:p>
          <a:p>
            <a:pPr algn="r"/>
            <a:r>
              <a:rPr lang="en-US" sz="1600" dirty="0">
                <a:solidFill>
                  <a:schemeClr val="bg1"/>
                </a:solidFill>
                <a:effectLst>
                  <a:outerShdw blurRad="50800" dist="38100" dir="5400000" algn="t" rotWithShape="0">
                    <a:srgbClr val="C00000"/>
                  </a:outerShdw>
                </a:effectLst>
                <a:latin typeface="Gotham Rounded Book"/>
                <a:cs typeface="Gotham Rounded Book"/>
              </a:rPr>
              <a:t>Jan/2017</a:t>
            </a:r>
          </a:p>
          <a:p>
            <a:pPr algn="r"/>
            <a:r>
              <a:rPr lang="en-US" sz="1050" dirty="0" err="1">
                <a:solidFill>
                  <a:schemeClr val="bg1"/>
                </a:solidFill>
                <a:effectLst>
                  <a:outerShdw blurRad="50800" dist="38100" dir="5400000" algn="t" rotWithShape="0">
                    <a:srgbClr val="C00000"/>
                  </a:outerShdw>
                </a:effectLst>
                <a:latin typeface="Gotham Rounded Book"/>
                <a:cs typeface="Gotham Rounded Book"/>
              </a:rPr>
              <a:t>versão</a:t>
            </a:r>
            <a:r>
              <a:rPr lang="en-US" sz="1050" dirty="0">
                <a:solidFill>
                  <a:schemeClr val="bg1"/>
                </a:solidFill>
                <a:effectLst>
                  <a:outerShdw blurRad="50800" dist="38100" dir="5400000" algn="t" rotWithShape="0">
                    <a:srgbClr val="C00000"/>
                  </a:outerShdw>
                </a:effectLst>
                <a:latin typeface="Gotham Rounded Book"/>
                <a:cs typeface="Gotham Rounded Book"/>
              </a:rPr>
              <a:t> 2.0</a:t>
            </a:r>
          </a:p>
        </p:txBody>
      </p:sp>
      <p:pic>
        <p:nvPicPr>
          <p:cNvPr id="5" name="Imagem 4"/>
          <p:cNvPicPr>
            <a:picLocks noChangeAspect="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24585" y="4029095"/>
            <a:ext cx="1518363" cy="1518363"/>
          </a:xfrm>
          <a:prstGeom prst="rect">
            <a:avLst/>
          </a:prstGeom>
        </p:spPr>
      </p:pic>
      <p:pic>
        <p:nvPicPr>
          <p:cNvPr id="8" name="Picture 2" descr="http://www.miami.edu/EE/images/uploads/it/logophotos/o365-logo.jpg"/>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75367" y="3235949"/>
            <a:ext cx="1491987" cy="149198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http://www.schudio.com/wp-content/uploads/2015/01/one-drive.png">
            <a:hlinkClick r:id="rId5" action="ppaction://hlinksldjump"/>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44649" y="5158859"/>
            <a:ext cx="1265039" cy="1051186"/>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026" name="Picture 2" descr="Resultado de imagem para sharepoin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43669" y="4853236"/>
            <a:ext cx="1518472" cy="1518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535993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3"/>
            <a:stretch>
              <a:fillRect/>
            </a:stretch>
          </p:blipFill>
          <p:spPr>
            <a:xfrm>
              <a:off x="8218106" y="129598"/>
              <a:ext cx="843390" cy="334448"/>
            </a:xfrm>
            <a:prstGeom prst="rect">
              <a:avLst/>
            </a:prstGeom>
          </p:spPr>
        </p:pic>
      </p:grpSp>
      <p:sp>
        <p:nvSpPr>
          <p:cNvPr id="8" name="TextBox 8"/>
          <p:cNvSpPr txBox="1"/>
          <p:nvPr/>
        </p:nvSpPr>
        <p:spPr>
          <a:xfrm>
            <a:off x="2328020" y="92680"/>
            <a:ext cx="5461099"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Agenda</a:t>
            </a:r>
          </a:p>
        </p:txBody>
      </p:sp>
      <p:pic>
        <p:nvPicPr>
          <p:cNvPr id="2050" name="Picture 2" descr="Resultado de imagem para icone agend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323512"/>
            <a:ext cx="4876800" cy="4876800"/>
          </a:xfrm>
          <a:prstGeom prst="rect">
            <a:avLst/>
          </a:prstGeom>
          <a:noFill/>
          <a:extLst>
            <a:ext uri="{909E8E84-426E-40DD-AFC4-6F175D3DCCD1}">
              <a14:hiddenFill xmlns:a14="http://schemas.microsoft.com/office/drawing/2010/main">
                <a:solidFill>
                  <a:srgbClr val="FFFFFF"/>
                </a:solidFill>
              </a14:hiddenFill>
            </a:ext>
          </a:extLst>
        </p:spPr>
      </p:pic>
      <p:sp>
        <p:nvSpPr>
          <p:cNvPr id="3" name="CaixaDeTexto 2"/>
          <p:cNvSpPr txBox="1"/>
          <p:nvPr/>
        </p:nvSpPr>
        <p:spPr>
          <a:xfrm>
            <a:off x="5028462" y="2538045"/>
            <a:ext cx="4937015" cy="3647152"/>
          </a:xfrm>
          <a:prstGeom prst="rect">
            <a:avLst/>
          </a:prstGeom>
          <a:noFill/>
        </p:spPr>
        <p:txBody>
          <a:bodyPr wrap="square" rtlCol="0">
            <a:spAutoFit/>
          </a:bodyPr>
          <a:lstStyle/>
          <a:p>
            <a:pPr marL="180000" lvl="1" indent="360000" algn="just">
              <a:spcBef>
                <a:spcPts val="600"/>
              </a:spcBef>
              <a:spcAft>
                <a:spcPts val="600"/>
              </a:spcAft>
              <a:buFont typeface="Wingdings" panose="05000000000000000000" pitchFamily="2" charset="2"/>
              <a:buChar char="q"/>
            </a:pPr>
            <a:r>
              <a:rPr lang="pt-BR" sz="2800" dirty="0">
                <a:solidFill>
                  <a:schemeClr val="tx1">
                    <a:lumMod val="95000"/>
                    <a:lumOff val="5000"/>
                  </a:schemeClr>
                </a:solidFill>
              </a:rPr>
              <a:t>Tendências que impactam nossa forma de trabalhar </a:t>
            </a:r>
          </a:p>
          <a:p>
            <a:pPr marL="180000" lvl="1" indent="360000" algn="just">
              <a:spcBef>
                <a:spcPts val="600"/>
              </a:spcBef>
              <a:spcAft>
                <a:spcPts val="600"/>
              </a:spcAft>
              <a:buFont typeface="Wingdings" panose="05000000000000000000" pitchFamily="2" charset="2"/>
              <a:buChar char="q"/>
            </a:pPr>
            <a:r>
              <a:rPr lang="pt-BR" sz="2800" i="1" dirty="0" err="1">
                <a:solidFill>
                  <a:schemeClr val="tx1">
                    <a:lumMod val="95000"/>
                    <a:lumOff val="5000"/>
                  </a:schemeClr>
                </a:solidFill>
              </a:rPr>
              <a:t>RoadMap</a:t>
            </a:r>
            <a:r>
              <a:rPr lang="pt-BR" sz="2800" i="1" dirty="0">
                <a:solidFill>
                  <a:schemeClr val="tx1">
                    <a:lumMod val="95000"/>
                    <a:lumOff val="5000"/>
                  </a:schemeClr>
                </a:solidFill>
              </a:rPr>
              <a:t> do Projeto</a:t>
            </a:r>
            <a:endParaRPr lang="pt-BR" sz="2800" dirty="0">
              <a:solidFill>
                <a:schemeClr val="tx1">
                  <a:lumMod val="95000"/>
                  <a:lumOff val="5000"/>
                </a:schemeClr>
              </a:solidFill>
            </a:endParaRPr>
          </a:p>
          <a:p>
            <a:pPr marL="180000" lvl="1" indent="360000" algn="just">
              <a:spcBef>
                <a:spcPts val="600"/>
              </a:spcBef>
              <a:spcAft>
                <a:spcPts val="600"/>
              </a:spcAft>
              <a:buFont typeface="Wingdings" panose="05000000000000000000" pitchFamily="2" charset="2"/>
              <a:buChar char="q"/>
            </a:pPr>
            <a:r>
              <a:rPr lang="pt-BR" sz="2800" i="1" dirty="0">
                <a:solidFill>
                  <a:schemeClr val="tx1">
                    <a:lumMod val="95000"/>
                    <a:lumOff val="5000"/>
                  </a:schemeClr>
                </a:solidFill>
              </a:rPr>
              <a:t>Visão Geral</a:t>
            </a:r>
          </a:p>
          <a:p>
            <a:pPr marL="637200" lvl="2" indent="360000" algn="just">
              <a:spcBef>
                <a:spcPts val="600"/>
              </a:spcBef>
              <a:spcAft>
                <a:spcPts val="600"/>
              </a:spcAft>
              <a:buFont typeface="Wingdings" panose="05000000000000000000" pitchFamily="2" charset="2"/>
              <a:buChar char="q"/>
            </a:pPr>
            <a:r>
              <a:rPr lang="pt-BR" sz="2800" dirty="0">
                <a:solidFill>
                  <a:schemeClr val="tx1">
                    <a:lumMod val="95000"/>
                    <a:lumOff val="5000"/>
                  </a:schemeClr>
                </a:solidFill>
              </a:rPr>
              <a:t>OneDrive</a:t>
            </a:r>
          </a:p>
          <a:p>
            <a:pPr marL="637200" lvl="2" indent="360000" algn="just">
              <a:spcBef>
                <a:spcPts val="600"/>
              </a:spcBef>
              <a:spcAft>
                <a:spcPts val="600"/>
              </a:spcAft>
              <a:buFont typeface="Wingdings" panose="05000000000000000000" pitchFamily="2" charset="2"/>
              <a:buChar char="q"/>
            </a:pPr>
            <a:r>
              <a:rPr lang="pt-BR" sz="2800" dirty="0">
                <a:solidFill>
                  <a:schemeClr val="tx1">
                    <a:lumMod val="95000"/>
                    <a:lumOff val="5000"/>
                  </a:schemeClr>
                </a:solidFill>
              </a:rPr>
              <a:t>SharePoint</a:t>
            </a:r>
          </a:p>
          <a:p>
            <a:endParaRPr lang="pt-BR" dirty="0"/>
          </a:p>
        </p:txBody>
      </p:sp>
    </p:spTree>
    <p:extLst>
      <p:ext uri="{BB962C8B-B14F-4D97-AF65-F5344CB8AC3E}">
        <p14:creationId xmlns:p14="http://schemas.microsoft.com/office/powerpoint/2010/main" val="109260205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96686" y="942986"/>
            <a:ext cx="8708571" cy="384373"/>
          </a:xfrm>
          <a:prstGeom prst="rect">
            <a:avLst/>
          </a:prstGeom>
        </p:spPr>
        <p:txBody>
          <a:bodyPr wrap="square" lIns="75848" tIns="37928" rIns="75848" bIns="37928">
            <a:spAutoFit/>
          </a:bodyPr>
          <a:lstStyle/>
          <a:p>
            <a:pPr defTabSz="758379"/>
            <a:r>
              <a:rPr lang="pt-BR" sz="2000" b="1" spc="-83" dirty="0">
                <a:ln w="3175">
                  <a:noFill/>
                </a:ln>
                <a:solidFill>
                  <a:schemeClr val="accent6"/>
                </a:solidFill>
                <a:cs typeface="Lucida Sans Unicode" panose="020B0602030504020204" pitchFamily="34" charset="0"/>
              </a:rPr>
              <a:t>Tendências que impactam a nossa forma de trabalhar!!!</a:t>
            </a:r>
            <a:endParaRPr lang="en-US" sz="2000" b="1" spc="-83" dirty="0">
              <a:ln w="3175">
                <a:noFill/>
              </a:ln>
              <a:solidFill>
                <a:schemeClr val="accent6"/>
              </a:solidFill>
              <a:cs typeface="Lucida Sans Unicode" panose="020B0602030504020204" pitchFamily="34" charset="0"/>
            </a:endParaRPr>
          </a:p>
        </p:txBody>
      </p:sp>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Active Directory e Office 365</a:t>
            </a:r>
          </a:p>
        </p:txBody>
      </p:sp>
      <p:pic>
        <p:nvPicPr>
          <p:cNvPr id="15" name="Picture 5"/>
          <p:cNvPicPr>
            <a:picLocks noChangeAspect="1"/>
          </p:cNvPicPr>
          <p:nvPr/>
        </p:nvPicPr>
        <p:blipFill>
          <a:blip r:embed="rId3"/>
          <a:stretch>
            <a:fillRect/>
          </a:stretch>
        </p:blipFill>
        <p:spPr>
          <a:xfrm>
            <a:off x="9092707" y="129598"/>
            <a:ext cx="933147" cy="334448"/>
          </a:xfrm>
          <a:prstGeom prst="rect">
            <a:avLst/>
          </a:prstGeom>
        </p:spPr>
      </p:pic>
      <p:grpSp>
        <p:nvGrpSpPr>
          <p:cNvPr id="14" name="Group 4"/>
          <p:cNvGrpSpPr/>
          <p:nvPr/>
        </p:nvGrpSpPr>
        <p:grpSpPr>
          <a:xfrm>
            <a:off x="136133" y="2135323"/>
            <a:ext cx="2880000" cy="4241791"/>
            <a:chOff x="435149" y="1516385"/>
            <a:chExt cx="3588433" cy="4242344"/>
          </a:xfrm>
        </p:grpSpPr>
        <p:sp>
          <p:nvSpPr>
            <p:cNvPr id="17" name="Rectangle 18"/>
            <p:cNvSpPr/>
            <p:nvPr/>
          </p:nvSpPr>
          <p:spPr>
            <a:xfrm>
              <a:off x="488938" y="1516385"/>
              <a:ext cx="3453088" cy="430943"/>
            </a:xfrm>
            <a:prstGeom prst="rect">
              <a:avLst/>
            </a:prstGeom>
          </p:spPr>
          <p:txBody>
            <a:bodyPr wrap="square" lIns="0" tIns="0" rIns="0" bIns="0">
              <a:spAutoFit/>
            </a:bodyPr>
            <a:lstStyle/>
            <a:p>
              <a:pPr algn="ctr" defTabSz="1218814"/>
              <a:r>
                <a:rPr lang="en-US" sz="2800" dirty="0" err="1">
                  <a:solidFill>
                    <a:srgbClr val="EB3C00">
                      <a:alpha val="99000"/>
                    </a:srgbClr>
                  </a:solidFill>
                </a:rPr>
                <a:t>Dispositivos</a:t>
              </a:r>
              <a:endParaRPr lang="en-US" sz="2800" dirty="0">
                <a:solidFill>
                  <a:srgbClr val="EB3C00">
                    <a:alpha val="99000"/>
                  </a:srgbClr>
                </a:solidFill>
              </a:endParaRPr>
            </a:p>
          </p:txBody>
        </p:sp>
        <p:sp>
          <p:nvSpPr>
            <p:cNvPr id="18" name="Rectangle 26"/>
            <p:cNvSpPr/>
            <p:nvPr/>
          </p:nvSpPr>
          <p:spPr>
            <a:xfrm>
              <a:off x="435149" y="3706190"/>
              <a:ext cx="3534644" cy="831105"/>
            </a:xfrm>
            <a:prstGeom prst="rect">
              <a:avLst/>
            </a:prstGeom>
          </p:spPr>
          <p:txBody>
            <a:bodyPr wrap="square" lIns="182856" tIns="0" rIns="0" bIns="0">
              <a:spAutoFit/>
            </a:bodyPr>
            <a:lstStyle/>
            <a:p>
              <a:pPr algn="ctr" defTabSz="1949444" fontAlgn="base">
                <a:spcBef>
                  <a:spcPct val="0"/>
                </a:spcBef>
                <a:spcAft>
                  <a:spcPct val="0"/>
                </a:spcAft>
              </a:pPr>
              <a:r>
                <a:rPr lang="en-US" sz="5400" b="1" spc="-200" dirty="0">
                  <a:ln w="3175">
                    <a:noFill/>
                  </a:ln>
                  <a:solidFill>
                    <a:srgbClr val="000000">
                      <a:lumMod val="65000"/>
                      <a:lumOff val="35000"/>
                    </a:srgbClr>
                  </a:solidFill>
                  <a:cs typeface="Arial" charset="0"/>
                </a:rPr>
                <a:t>1</a:t>
              </a:r>
              <a:r>
                <a:rPr lang="en-US" sz="3600" spc="-200" dirty="0">
                  <a:ln w="3175">
                    <a:noFill/>
                  </a:ln>
                  <a:solidFill>
                    <a:srgbClr val="000000">
                      <a:lumMod val="65000"/>
                      <a:lumOff val="35000"/>
                    </a:srgbClr>
                  </a:solidFill>
                  <a:cs typeface="Arial" charset="0"/>
                </a:rPr>
                <a:t> </a:t>
              </a:r>
              <a:r>
                <a:rPr lang="en-US" sz="4000" spc="-200" dirty="0" err="1">
                  <a:ln w="3175">
                    <a:noFill/>
                  </a:ln>
                  <a:solidFill>
                    <a:srgbClr val="000000">
                      <a:lumMod val="65000"/>
                      <a:lumOff val="35000"/>
                    </a:srgbClr>
                  </a:solidFill>
                  <a:cs typeface="Arial" charset="0"/>
                </a:rPr>
                <a:t>bilhão</a:t>
              </a:r>
              <a:endParaRPr lang="en-US" sz="7200" spc="-200" dirty="0">
                <a:ln w="3175">
                  <a:noFill/>
                </a:ln>
                <a:solidFill>
                  <a:srgbClr val="000000">
                    <a:lumMod val="65000"/>
                    <a:lumOff val="35000"/>
                  </a:srgbClr>
                </a:solidFill>
                <a:cs typeface="Arial" charset="0"/>
              </a:endParaRPr>
            </a:p>
          </p:txBody>
        </p:sp>
        <p:grpSp>
          <p:nvGrpSpPr>
            <p:cNvPr id="20" name="Group 8"/>
            <p:cNvGrpSpPr/>
            <p:nvPr/>
          </p:nvGrpSpPr>
          <p:grpSpPr>
            <a:xfrm>
              <a:off x="488824" y="2113978"/>
              <a:ext cx="3534758" cy="1500589"/>
              <a:chOff x="366713" y="1585482"/>
              <a:chExt cx="2651760" cy="1125442"/>
            </a:xfrm>
          </p:grpSpPr>
          <p:sp>
            <p:nvSpPr>
              <p:cNvPr id="23" name="Rectangle 41"/>
              <p:cNvSpPr/>
              <p:nvPr/>
            </p:nvSpPr>
            <p:spPr>
              <a:xfrm>
                <a:off x="366713" y="1585482"/>
                <a:ext cx="2651760" cy="1125442"/>
              </a:xfrm>
              <a:prstGeom prst="rect">
                <a:avLst/>
              </a:prstGeom>
              <a:solidFill>
                <a:schemeClr val="bg1">
                  <a:lumMod val="95000"/>
                </a:schemeClr>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defTabSz="1218814"/>
                <a:endParaRPr lang="en-US" sz="1400">
                  <a:solidFill>
                    <a:prstClr val="white"/>
                  </a:solidFill>
                </a:endParaRPr>
              </a:p>
            </p:txBody>
          </p:sp>
          <p:pic>
            <p:nvPicPr>
              <p:cNvPr id="24" name="Picture 3"/>
              <p:cNvPicPr>
                <a:picLocks noChangeAspect="1" noChangeArrowheads="1"/>
              </p:cNvPicPr>
              <p:nvPr/>
            </p:nvPicPr>
            <p:blipFill rotWithShape="1">
              <a:blip r:embed="rId4" cstate="email">
                <a:extLst>
                  <a:ext uri="{28A0092B-C50C-407E-A947-70E740481C1C}">
                    <a14:useLocalDpi xmlns:a14="http://schemas.microsoft.com/office/drawing/2010/main" val="0"/>
                  </a:ext>
                </a:extLst>
              </a:blip>
              <a:stretch/>
            </p:blipFill>
            <p:spPr bwMode="auto">
              <a:xfrm>
                <a:off x="1951451" y="1851117"/>
                <a:ext cx="1005840" cy="6479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4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3546" y="1871449"/>
                <a:ext cx="365760" cy="578940"/>
              </a:xfrm>
              <a:prstGeom prst="rect">
                <a:avLst/>
              </a:prstGeom>
            </p:spPr>
          </p:pic>
          <p:grpSp>
            <p:nvGrpSpPr>
              <p:cNvPr id="26" name="Group 7"/>
              <p:cNvGrpSpPr/>
              <p:nvPr/>
            </p:nvGrpSpPr>
            <p:grpSpPr>
              <a:xfrm>
                <a:off x="945833" y="1787841"/>
                <a:ext cx="1234440" cy="720726"/>
                <a:chOff x="1010608" y="1787841"/>
                <a:chExt cx="1234440" cy="720726"/>
              </a:xfrm>
            </p:grpSpPr>
            <p:pic>
              <p:nvPicPr>
                <p:cNvPr id="27" name="Picture 51"/>
                <p:cNvPicPr>
                  <a:picLocks noChangeAspect="1"/>
                </p:cNvPicPr>
                <p:nvPr/>
              </p:nvPicPr>
              <p:blipFill rotWithShape="1">
                <a:blip r:embed="rId6" cstate="print">
                  <a:extLst>
                    <a:ext uri="{28A0092B-C50C-407E-A947-70E740481C1C}">
                      <a14:useLocalDpi xmlns:a14="http://schemas.microsoft.com/office/drawing/2010/main" val="0"/>
                    </a:ext>
                  </a:extLst>
                </a:blip>
                <a:srcRect t="7638" b="12231"/>
                <a:stretch/>
              </p:blipFill>
              <p:spPr>
                <a:xfrm>
                  <a:off x="1010608" y="1787841"/>
                  <a:ext cx="1234440" cy="720726"/>
                </a:xfrm>
                <a:prstGeom prst="rect">
                  <a:avLst/>
                </a:prstGeom>
                <a:noFill/>
                <a:ln>
                  <a:noFill/>
                </a:ln>
              </p:spPr>
            </p:pic>
            <p:pic>
              <p:nvPicPr>
                <p:cNvPr id="28" name="Picture 2"/>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t="2" b="1954"/>
                <a:stretch/>
              </p:blipFill>
              <p:spPr bwMode="auto">
                <a:xfrm>
                  <a:off x="1215923" y="1843900"/>
                  <a:ext cx="822960" cy="457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21" name="Rectangle 2"/>
            <p:cNvSpPr/>
            <p:nvPr/>
          </p:nvSpPr>
          <p:spPr>
            <a:xfrm>
              <a:off x="478066" y="4650589"/>
              <a:ext cx="3237787" cy="1108140"/>
            </a:xfrm>
            <a:prstGeom prst="rect">
              <a:avLst/>
            </a:prstGeom>
          </p:spPr>
          <p:txBody>
            <a:bodyPr wrap="square" lIns="182856" tIns="0" bIns="0">
              <a:spAutoFit/>
            </a:bodyPr>
            <a:lstStyle/>
            <a:p>
              <a:pPr algn="ctr" defTabSz="1949444" fontAlgn="base">
                <a:spcBef>
                  <a:spcPct val="0"/>
                </a:spcBef>
                <a:spcAft>
                  <a:spcPct val="0"/>
                </a:spcAft>
              </a:pPr>
              <a:r>
                <a:rPr lang="en-US" dirty="0">
                  <a:solidFill>
                    <a:prstClr val="black">
                      <a:lumMod val="65000"/>
                      <a:lumOff val="35000"/>
                    </a:prstClr>
                  </a:solidFill>
                </a:rPr>
                <a:t>de</a:t>
              </a:r>
              <a:r>
                <a:rPr lang="en-US" dirty="0">
                  <a:solidFill>
                    <a:prstClr val="black">
                      <a:lumMod val="65000"/>
                      <a:lumOff val="35000"/>
                    </a:prstClr>
                  </a:solidFill>
                  <a:cs typeface="Segoe UI Semibold" pitchFamily="34" charset="0"/>
                </a:rPr>
                <a:t> </a:t>
              </a:r>
              <a:r>
                <a:rPr lang="en-US" i="1" dirty="0">
                  <a:solidFill>
                    <a:prstClr val="black">
                      <a:lumMod val="65000"/>
                      <a:lumOff val="35000"/>
                    </a:prstClr>
                  </a:solidFill>
                  <a:cs typeface="Segoe UI Semibold" pitchFamily="34" charset="0"/>
                </a:rPr>
                <a:t>smartphones</a:t>
              </a:r>
              <a:r>
                <a:rPr lang="en-US" dirty="0">
                  <a:solidFill>
                    <a:prstClr val="black">
                      <a:lumMod val="65000"/>
                      <a:lumOff val="35000"/>
                    </a:prstClr>
                  </a:solidFill>
                </a:rPr>
                <a:t> </a:t>
              </a:r>
              <a:r>
                <a:rPr lang="pt-BR" dirty="0">
                  <a:solidFill>
                    <a:prstClr val="black">
                      <a:lumMod val="65000"/>
                      <a:lumOff val="35000"/>
                    </a:prstClr>
                  </a:solidFill>
                </a:rPr>
                <a:t>até 2016 (350 milhões de pessoas usando no trabalho)</a:t>
              </a:r>
              <a:endParaRPr lang="en-US" dirty="0">
                <a:solidFill>
                  <a:prstClr val="black">
                    <a:lumMod val="65000"/>
                    <a:lumOff val="35000"/>
                  </a:prstClr>
                </a:solidFill>
                <a:ea typeface="Segoe UI" pitchFamily="34" charset="0"/>
                <a:cs typeface="Segoe UI" pitchFamily="34" charset="0"/>
              </a:endParaRPr>
            </a:p>
          </p:txBody>
        </p:sp>
      </p:grpSp>
      <p:grpSp>
        <p:nvGrpSpPr>
          <p:cNvPr id="30" name="Group 6"/>
          <p:cNvGrpSpPr/>
          <p:nvPr/>
        </p:nvGrpSpPr>
        <p:grpSpPr>
          <a:xfrm>
            <a:off x="3611707" y="2135318"/>
            <a:ext cx="2880000" cy="3964792"/>
            <a:chOff x="4172467" y="1516385"/>
            <a:chExt cx="3534876" cy="3965308"/>
          </a:xfrm>
        </p:grpSpPr>
        <p:pic>
          <p:nvPicPr>
            <p:cNvPr id="31" name="Picture 4" descr="C:\Users\v-junyo\Documents\Jun_Mesh\Microsoft Files\DesignTools\Brand Photos\Windows 7\Commercial\COMMERCIAL\WIN12_Claudia_04.png"/>
            <p:cNvPicPr>
              <a:picLocks noChangeAspect="1" noChangeArrowheads="1"/>
            </p:cNvPicPr>
            <p:nvPr/>
          </p:nvPicPr>
          <p:blipFill rotWithShape="1">
            <a:blip r:embed="rId8">
              <a:extLst>
                <a:ext uri="{28A0092B-C50C-407E-A947-70E740481C1C}">
                  <a14:useLocalDpi xmlns:a14="http://schemas.microsoft.com/office/drawing/2010/main" val="0"/>
                </a:ext>
              </a:extLst>
            </a:blip>
            <a:srcRect/>
            <a:stretch/>
          </p:blipFill>
          <p:spPr bwMode="auto">
            <a:xfrm>
              <a:off x="4172467" y="2113980"/>
              <a:ext cx="3534757" cy="1500589"/>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19"/>
            <p:cNvSpPr/>
            <p:nvPr/>
          </p:nvSpPr>
          <p:spPr>
            <a:xfrm>
              <a:off x="4172584" y="1516385"/>
              <a:ext cx="3534640" cy="430943"/>
            </a:xfrm>
            <a:prstGeom prst="rect">
              <a:avLst/>
            </a:prstGeom>
          </p:spPr>
          <p:txBody>
            <a:bodyPr wrap="square" lIns="0" tIns="0" rIns="0" bIns="0">
              <a:spAutoFit/>
            </a:bodyPr>
            <a:lstStyle/>
            <a:p>
              <a:pPr algn="ctr" defTabSz="1218814"/>
              <a:r>
                <a:rPr lang="en-US" sz="2800" dirty="0" err="1">
                  <a:solidFill>
                    <a:srgbClr val="EB3C00">
                      <a:alpha val="99000"/>
                    </a:srgbClr>
                  </a:solidFill>
                </a:rPr>
                <a:t>Pessoas</a:t>
              </a:r>
              <a:endParaRPr lang="en-US" sz="2800" dirty="0">
                <a:solidFill>
                  <a:srgbClr val="EB3C00">
                    <a:alpha val="99000"/>
                  </a:srgbClr>
                </a:solidFill>
              </a:endParaRPr>
            </a:p>
          </p:txBody>
        </p:sp>
        <p:sp>
          <p:nvSpPr>
            <p:cNvPr id="33" name="Rectangle 28"/>
            <p:cNvSpPr/>
            <p:nvPr/>
          </p:nvSpPr>
          <p:spPr>
            <a:xfrm>
              <a:off x="4172467" y="3706190"/>
              <a:ext cx="3534757" cy="831105"/>
            </a:xfrm>
            <a:prstGeom prst="rect">
              <a:avLst/>
            </a:prstGeom>
          </p:spPr>
          <p:txBody>
            <a:bodyPr wrap="square" lIns="182856" tIns="0" rIns="0" bIns="0">
              <a:spAutoFit/>
            </a:bodyPr>
            <a:lstStyle/>
            <a:p>
              <a:pPr algn="ctr" defTabSz="1949444" fontAlgn="base">
                <a:spcBef>
                  <a:spcPct val="0"/>
                </a:spcBef>
                <a:spcAft>
                  <a:spcPct val="0"/>
                </a:spcAft>
              </a:pPr>
              <a:r>
                <a:rPr lang="en-US" sz="5400" b="1" spc="-200" dirty="0">
                  <a:ln w="3175">
                    <a:noFill/>
                  </a:ln>
                  <a:solidFill>
                    <a:srgbClr val="000000">
                      <a:lumMod val="65000"/>
                      <a:lumOff val="35000"/>
                    </a:srgbClr>
                  </a:solidFill>
                  <a:cs typeface="Arial" charset="0"/>
                </a:rPr>
                <a:t>82</a:t>
              </a:r>
              <a:r>
                <a:rPr lang="en-US" sz="4000" spc="-200" dirty="0">
                  <a:ln w="3175">
                    <a:noFill/>
                  </a:ln>
                  <a:solidFill>
                    <a:srgbClr val="000000">
                      <a:lumMod val="65000"/>
                      <a:lumOff val="35000"/>
                    </a:srgbClr>
                  </a:solidFill>
                  <a:cs typeface="Arial" charset="0"/>
                </a:rPr>
                <a:t>% </a:t>
              </a:r>
              <a:endParaRPr lang="en-US" sz="5400" spc="800" dirty="0">
                <a:ln w="3175">
                  <a:noFill/>
                </a:ln>
                <a:solidFill>
                  <a:srgbClr val="000000">
                    <a:lumMod val="65000"/>
                    <a:lumOff val="35000"/>
                  </a:srgbClr>
                </a:solidFill>
                <a:cs typeface="Arial" charset="0"/>
              </a:endParaRPr>
            </a:p>
          </p:txBody>
        </p:sp>
        <p:sp>
          <p:nvSpPr>
            <p:cNvPr id="34" name="Rectangle 5"/>
            <p:cNvSpPr/>
            <p:nvPr/>
          </p:nvSpPr>
          <p:spPr>
            <a:xfrm>
              <a:off x="4192924" y="4650588"/>
              <a:ext cx="3514419" cy="831105"/>
            </a:xfrm>
            <a:prstGeom prst="rect">
              <a:avLst/>
            </a:prstGeom>
          </p:spPr>
          <p:txBody>
            <a:bodyPr wrap="square" lIns="182856" tIns="0" rIns="0" bIns="0">
              <a:spAutoFit/>
            </a:bodyPr>
            <a:lstStyle/>
            <a:p>
              <a:pPr algn="ctr" defTabSz="1949444" fontAlgn="base">
                <a:spcBef>
                  <a:spcPct val="0"/>
                </a:spcBef>
                <a:spcAft>
                  <a:spcPct val="0"/>
                </a:spcAft>
              </a:pPr>
              <a:r>
                <a:rPr lang="pt-BR" dirty="0">
                  <a:solidFill>
                    <a:prstClr val="black">
                      <a:lumMod val="65000"/>
                      <a:lumOff val="35000"/>
                    </a:prstClr>
                  </a:solidFill>
                  <a:ea typeface="Segoe UI" pitchFamily="34" charset="0"/>
                  <a:cs typeface="Segoe UI" pitchFamily="34" charset="0"/>
                </a:rPr>
                <a:t>da população online do mundo utilizando </a:t>
              </a:r>
              <a:r>
                <a:rPr lang="en-US" dirty="0" err="1">
                  <a:solidFill>
                    <a:prstClr val="black">
                      <a:lumMod val="65000"/>
                      <a:lumOff val="35000"/>
                    </a:prstClr>
                  </a:solidFill>
                  <a:cs typeface="Segoe UI Semibold" pitchFamily="34" charset="0"/>
                </a:rPr>
                <a:t>redes</a:t>
              </a:r>
              <a:r>
                <a:rPr lang="en-US" dirty="0">
                  <a:solidFill>
                    <a:prstClr val="black">
                      <a:lumMod val="65000"/>
                      <a:lumOff val="35000"/>
                    </a:prstClr>
                  </a:solidFill>
                  <a:cs typeface="Segoe UI Semibold" pitchFamily="34" charset="0"/>
                </a:rPr>
                <a:t> </a:t>
              </a:r>
              <a:r>
                <a:rPr lang="en-US" dirty="0" err="1">
                  <a:solidFill>
                    <a:prstClr val="black">
                      <a:lumMod val="65000"/>
                      <a:lumOff val="35000"/>
                    </a:prstClr>
                  </a:solidFill>
                  <a:cs typeface="Segoe UI Semibold" pitchFamily="34" charset="0"/>
                </a:rPr>
                <a:t>sociais</a:t>
              </a:r>
              <a:endParaRPr lang="en-US" dirty="0">
                <a:solidFill>
                  <a:prstClr val="black">
                    <a:lumMod val="65000"/>
                    <a:lumOff val="35000"/>
                  </a:prstClr>
                </a:solidFill>
                <a:cs typeface="Segoe UI Semibold" pitchFamily="34" charset="0"/>
              </a:endParaRPr>
            </a:p>
          </p:txBody>
        </p:sp>
      </p:grpSp>
      <p:grpSp>
        <p:nvGrpSpPr>
          <p:cNvPr id="35" name="Group 1"/>
          <p:cNvGrpSpPr/>
          <p:nvPr/>
        </p:nvGrpSpPr>
        <p:grpSpPr>
          <a:xfrm>
            <a:off x="7033741" y="2135323"/>
            <a:ext cx="2880000" cy="3717480"/>
            <a:chOff x="7992708" y="1516385"/>
            <a:chExt cx="3534759" cy="3717964"/>
          </a:xfrm>
        </p:grpSpPr>
        <p:pic>
          <p:nvPicPr>
            <p:cNvPr id="36" name="Picture 2" descr="\\sfp\Public\Mitchell\iStock_000008114474Medium.jpg"/>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a:stretch/>
          </p:blipFill>
          <p:spPr bwMode="auto">
            <a:xfrm>
              <a:off x="7992708" y="2113979"/>
              <a:ext cx="3534759" cy="1500587"/>
            </a:xfrm>
            <a:prstGeom prst="rect">
              <a:avLst/>
            </a:prstGeom>
            <a:noFill/>
            <a:extLst>
              <a:ext uri="{909E8E84-426E-40DD-AFC4-6F175D3DCCD1}">
                <a14:hiddenFill xmlns:a14="http://schemas.microsoft.com/office/drawing/2010/main">
                  <a:solidFill>
                    <a:srgbClr val="FFFFFF"/>
                  </a:solidFill>
                </a14:hiddenFill>
              </a:ext>
            </a:extLst>
          </p:spPr>
        </p:pic>
        <p:grpSp>
          <p:nvGrpSpPr>
            <p:cNvPr id="37" name="Group 14"/>
            <p:cNvGrpSpPr/>
            <p:nvPr/>
          </p:nvGrpSpPr>
          <p:grpSpPr>
            <a:xfrm>
              <a:off x="7992708" y="1516385"/>
              <a:ext cx="3534759" cy="3717964"/>
              <a:chOff x="7856228" y="1516385"/>
              <a:chExt cx="3534759" cy="3717964"/>
            </a:xfrm>
          </p:grpSpPr>
          <p:sp>
            <p:nvSpPr>
              <p:cNvPr id="38" name="Rectangle 22"/>
              <p:cNvSpPr/>
              <p:nvPr/>
            </p:nvSpPr>
            <p:spPr>
              <a:xfrm>
                <a:off x="7856228" y="1516385"/>
                <a:ext cx="3534759" cy="430943"/>
              </a:xfrm>
              <a:prstGeom prst="rect">
                <a:avLst/>
              </a:prstGeom>
            </p:spPr>
            <p:txBody>
              <a:bodyPr wrap="square" lIns="0" tIns="0" rIns="0" bIns="0">
                <a:spAutoFit/>
              </a:bodyPr>
              <a:lstStyle/>
              <a:p>
                <a:pPr algn="ctr" defTabSz="1218814"/>
                <a:r>
                  <a:rPr lang="en-US" sz="2800" dirty="0" err="1">
                    <a:solidFill>
                      <a:srgbClr val="EB3C00">
                        <a:alpha val="99000"/>
                      </a:srgbClr>
                    </a:solidFill>
                  </a:rPr>
                  <a:t>Nuvem</a:t>
                </a:r>
                <a:endParaRPr lang="en-US" sz="2800" dirty="0">
                  <a:solidFill>
                    <a:srgbClr val="EB3C00">
                      <a:alpha val="99000"/>
                    </a:srgbClr>
                  </a:solidFill>
                </a:endParaRPr>
              </a:p>
            </p:txBody>
          </p:sp>
          <p:sp>
            <p:nvSpPr>
              <p:cNvPr id="39" name="Rectangle 31"/>
              <p:cNvSpPr/>
              <p:nvPr/>
            </p:nvSpPr>
            <p:spPr>
              <a:xfrm>
                <a:off x="7920417" y="3706190"/>
                <a:ext cx="2388241" cy="831105"/>
              </a:xfrm>
              <a:prstGeom prst="rect">
                <a:avLst/>
              </a:prstGeom>
            </p:spPr>
            <p:txBody>
              <a:bodyPr wrap="square" lIns="182856" tIns="0" rIns="0" bIns="0">
                <a:spAutoFit/>
              </a:bodyPr>
              <a:lstStyle/>
              <a:p>
                <a:pPr algn="ctr" defTabSz="1949444" fontAlgn="base">
                  <a:spcBef>
                    <a:spcPct val="0"/>
                  </a:spcBef>
                  <a:spcAft>
                    <a:spcPct val="0"/>
                  </a:spcAft>
                </a:pPr>
                <a:r>
                  <a:rPr lang="en-US" sz="5400" b="1" spc="-200" dirty="0">
                    <a:ln w="3175">
                      <a:noFill/>
                    </a:ln>
                    <a:solidFill>
                      <a:srgbClr val="000000">
                        <a:lumMod val="65000"/>
                        <a:lumOff val="35000"/>
                      </a:srgbClr>
                    </a:solidFill>
                    <a:cs typeface="Arial" charset="0"/>
                  </a:rPr>
                  <a:t>50</a:t>
                </a:r>
                <a:r>
                  <a:rPr lang="en-US" sz="4000" spc="-200" dirty="0">
                    <a:ln w="3175">
                      <a:noFill/>
                    </a:ln>
                    <a:solidFill>
                      <a:srgbClr val="000000">
                        <a:lumMod val="65000"/>
                        <a:lumOff val="35000"/>
                      </a:srgbClr>
                    </a:solidFill>
                    <a:cs typeface="Arial" charset="0"/>
                  </a:rPr>
                  <a:t>%</a:t>
                </a:r>
                <a:endParaRPr lang="en-US" sz="4400" spc="-400" dirty="0">
                  <a:ln w="3175">
                    <a:noFill/>
                  </a:ln>
                  <a:solidFill>
                    <a:srgbClr val="000000">
                      <a:lumMod val="65000"/>
                      <a:lumOff val="35000"/>
                    </a:srgbClr>
                  </a:solidFill>
                  <a:cs typeface="Arial" charset="0"/>
                </a:endParaRPr>
              </a:p>
            </p:txBody>
          </p:sp>
          <p:sp>
            <p:nvSpPr>
              <p:cNvPr id="40" name="Rectangle 13"/>
              <p:cNvSpPr/>
              <p:nvPr/>
            </p:nvSpPr>
            <p:spPr>
              <a:xfrm>
                <a:off x="7941359" y="4680279"/>
                <a:ext cx="3140493" cy="554070"/>
              </a:xfrm>
              <a:prstGeom prst="rect">
                <a:avLst/>
              </a:prstGeom>
            </p:spPr>
            <p:txBody>
              <a:bodyPr wrap="square" lIns="182856" tIns="0" rIns="0" bIns="0">
                <a:spAutoFit/>
              </a:bodyPr>
              <a:lstStyle/>
              <a:p>
                <a:pPr algn="ctr" defTabSz="1949444" fontAlgn="base">
                  <a:spcBef>
                    <a:spcPct val="0"/>
                  </a:spcBef>
                  <a:spcAft>
                    <a:spcPct val="0"/>
                  </a:spcAft>
                </a:pPr>
                <a:r>
                  <a:rPr lang="en-US" dirty="0">
                    <a:solidFill>
                      <a:prstClr val="black">
                        <a:lumMod val="65000"/>
                        <a:lumOff val="35000"/>
                      </a:prstClr>
                    </a:solidFill>
                    <a:ea typeface="Segoe UI" pitchFamily="34" charset="0"/>
                    <a:cs typeface="Segoe UI" pitchFamily="34" charset="0"/>
                  </a:rPr>
                  <a:t>de </a:t>
                </a:r>
                <a:r>
                  <a:rPr lang="en-US" dirty="0" err="1">
                    <a:solidFill>
                      <a:prstClr val="black">
                        <a:lumMod val="65000"/>
                        <a:lumOff val="35000"/>
                      </a:prstClr>
                    </a:solidFill>
                    <a:ea typeface="Segoe UI" pitchFamily="34" charset="0"/>
                    <a:cs typeface="Segoe UI" pitchFamily="34" charset="0"/>
                  </a:rPr>
                  <a:t>clientes</a:t>
                </a:r>
                <a:r>
                  <a:rPr lang="en-US" dirty="0">
                    <a:solidFill>
                      <a:prstClr val="black">
                        <a:lumMod val="65000"/>
                        <a:lumOff val="35000"/>
                      </a:prstClr>
                    </a:solidFill>
                    <a:ea typeface="Segoe UI" pitchFamily="34" charset="0"/>
                    <a:cs typeface="Segoe UI" pitchFamily="34" charset="0"/>
                  </a:rPr>
                  <a:t> </a:t>
                </a:r>
                <a:r>
                  <a:rPr lang="en-US" dirty="0" err="1">
                    <a:solidFill>
                      <a:prstClr val="black">
                        <a:lumMod val="65000"/>
                        <a:lumOff val="35000"/>
                      </a:prstClr>
                    </a:solidFill>
                    <a:ea typeface="Segoe UI" pitchFamily="34" charset="0"/>
                    <a:cs typeface="Segoe UI" pitchFamily="34" charset="0"/>
                  </a:rPr>
                  <a:t>corporativos</a:t>
                </a:r>
                <a:r>
                  <a:rPr lang="en-US" dirty="0">
                    <a:solidFill>
                      <a:prstClr val="black">
                        <a:lumMod val="65000"/>
                        <a:lumOff val="35000"/>
                      </a:prstClr>
                    </a:solidFill>
                    <a:ea typeface="Segoe UI" pitchFamily="34" charset="0"/>
                    <a:cs typeface="Segoe UI" pitchFamily="34" charset="0"/>
                  </a:rPr>
                  <a:t> </a:t>
                </a:r>
                <a:r>
                  <a:rPr lang="en-US" b="1" dirty="0">
                    <a:solidFill>
                      <a:prstClr val="black">
                        <a:lumMod val="65000"/>
                        <a:lumOff val="35000"/>
                      </a:prstClr>
                    </a:solidFill>
                    <a:ea typeface="Segoe UI" pitchFamily="34" charset="0"/>
                    <a:cs typeface="Segoe UI" pitchFamily="34" charset="0"/>
                  </a:rPr>
                  <a:t>“</a:t>
                </a:r>
                <a:r>
                  <a:rPr lang="en-US" dirty="0">
                    <a:solidFill>
                      <a:prstClr val="black">
                        <a:lumMod val="65000"/>
                        <a:lumOff val="35000"/>
                      </a:prstClr>
                    </a:solidFill>
                    <a:ea typeface="Segoe UI" pitchFamily="34" charset="0"/>
                    <a:cs typeface="Segoe UI" pitchFamily="34" charset="0"/>
                  </a:rPr>
                  <a:t>n</a:t>
                </a:r>
                <a:r>
                  <a:rPr lang="en-US" dirty="0">
                    <a:solidFill>
                      <a:prstClr val="black">
                        <a:lumMod val="65000"/>
                        <a:lumOff val="35000"/>
                      </a:prstClr>
                    </a:solidFill>
                    <a:ea typeface="Segoe UI" pitchFamily="34" charset="0"/>
                    <a:cs typeface="Segoe UI Semibold" pitchFamily="34" charset="0"/>
                  </a:rPr>
                  <a:t>o </a:t>
                </a:r>
                <a:r>
                  <a:rPr lang="en-US" dirty="0" err="1">
                    <a:solidFill>
                      <a:prstClr val="black">
                        <a:lumMod val="65000"/>
                        <a:lumOff val="35000"/>
                      </a:prstClr>
                    </a:solidFill>
                    <a:ea typeface="Segoe UI" pitchFamily="34" charset="0"/>
                    <a:cs typeface="Segoe UI Semibold" pitchFamily="34" charset="0"/>
                  </a:rPr>
                  <a:t>caminho</a:t>
                </a:r>
                <a:r>
                  <a:rPr lang="en-US" b="1" dirty="0">
                    <a:solidFill>
                      <a:prstClr val="black">
                        <a:lumMod val="65000"/>
                        <a:lumOff val="35000"/>
                      </a:prstClr>
                    </a:solidFill>
                    <a:ea typeface="Segoe UI" pitchFamily="34" charset="0"/>
                    <a:cs typeface="Segoe UI" pitchFamily="34" charset="0"/>
                  </a:rPr>
                  <a:t>” </a:t>
                </a:r>
                <a:r>
                  <a:rPr lang="en-US" dirty="0">
                    <a:solidFill>
                      <a:prstClr val="black">
                        <a:lumMod val="65000"/>
                        <a:lumOff val="35000"/>
                      </a:prstClr>
                    </a:solidFill>
                    <a:ea typeface="Segoe UI" pitchFamily="34" charset="0"/>
                    <a:cs typeface="Segoe UI" pitchFamily="34" charset="0"/>
                  </a:rPr>
                  <a:t>à </a:t>
                </a:r>
                <a:r>
                  <a:rPr lang="en-US" dirty="0" err="1">
                    <a:solidFill>
                      <a:prstClr val="black">
                        <a:lumMod val="65000"/>
                        <a:lumOff val="35000"/>
                      </a:prstClr>
                    </a:solidFill>
                    <a:ea typeface="Segoe UI" pitchFamily="34" charset="0"/>
                    <a:cs typeface="Segoe UI" pitchFamily="34" charset="0"/>
                  </a:rPr>
                  <a:t>nuvem</a:t>
                </a:r>
                <a:endParaRPr lang="en-US" dirty="0">
                  <a:solidFill>
                    <a:prstClr val="black">
                      <a:lumMod val="65000"/>
                      <a:lumOff val="35000"/>
                    </a:prstClr>
                  </a:solidFill>
                  <a:ea typeface="Segoe UI" pitchFamily="34" charset="0"/>
                  <a:cs typeface="Segoe UI" pitchFamily="34" charset="0"/>
                </a:endParaRPr>
              </a:p>
            </p:txBody>
          </p:sp>
        </p:grpSp>
      </p:grpSp>
    </p:spTree>
    <p:extLst>
      <p:ext uri="{BB962C8B-B14F-4D97-AF65-F5344CB8AC3E}">
        <p14:creationId xmlns:p14="http://schemas.microsoft.com/office/powerpoint/2010/main" val="421718456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2" presetClass="entr" presetSubtype="2" decel="10000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750" fill="hold"/>
                                        <p:tgtEl>
                                          <p:spTgt spid="14"/>
                                        </p:tgtEl>
                                        <p:attrNameLst>
                                          <p:attrName>ppt_x</p:attrName>
                                        </p:attrNameLst>
                                      </p:cBhvr>
                                      <p:tavLst>
                                        <p:tav tm="0">
                                          <p:val>
                                            <p:strVal val="1+#ppt_w/2"/>
                                          </p:val>
                                        </p:tav>
                                        <p:tav tm="100000">
                                          <p:val>
                                            <p:strVal val="#ppt_x"/>
                                          </p:val>
                                        </p:tav>
                                      </p:tavLst>
                                    </p:anim>
                                    <p:anim calcmode="lin" valueType="num">
                                      <p:cBhvr additive="base">
                                        <p:cTn id="13" dur="750" fill="hold"/>
                                        <p:tgtEl>
                                          <p:spTgt spid="14"/>
                                        </p:tgtEl>
                                        <p:attrNameLst>
                                          <p:attrName>ppt_y</p:attrName>
                                        </p:attrNameLst>
                                      </p:cBhvr>
                                      <p:tavLst>
                                        <p:tav tm="0">
                                          <p:val>
                                            <p:strVal val="#ppt_y"/>
                                          </p:val>
                                        </p:tav>
                                        <p:tav tm="100000">
                                          <p:val>
                                            <p:strVal val="#ppt_y"/>
                                          </p:val>
                                        </p:tav>
                                      </p:tavLst>
                                    </p:anim>
                                  </p:childTnLst>
                                </p:cTn>
                              </p:par>
                              <p:par>
                                <p:cTn id="14" presetID="2" presetClass="entr" presetSubtype="2" decel="100000" fill="hold" nodeType="withEffect">
                                  <p:stCondLst>
                                    <p:cond delay="250"/>
                                  </p:stCondLst>
                                  <p:childTnLst>
                                    <p:set>
                                      <p:cBhvr>
                                        <p:cTn id="15" dur="1" fill="hold">
                                          <p:stCondLst>
                                            <p:cond delay="0"/>
                                          </p:stCondLst>
                                        </p:cTn>
                                        <p:tgtEl>
                                          <p:spTgt spid="30"/>
                                        </p:tgtEl>
                                        <p:attrNameLst>
                                          <p:attrName>style.visibility</p:attrName>
                                        </p:attrNameLst>
                                      </p:cBhvr>
                                      <p:to>
                                        <p:strVal val="visible"/>
                                      </p:to>
                                    </p:set>
                                    <p:anim calcmode="lin" valueType="num">
                                      <p:cBhvr additive="base">
                                        <p:cTn id="16" dur="750" fill="hold"/>
                                        <p:tgtEl>
                                          <p:spTgt spid="30"/>
                                        </p:tgtEl>
                                        <p:attrNameLst>
                                          <p:attrName>ppt_x</p:attrName>
                                        </p:attrNameLst>
                                      </p:cBhvr>
                                      <p:tavLst>
                                        <p:tav tm="0">
                                          <p:val>
                                            <p:strVal val="1+#ppt_w/2"/>
                                          </p:val>
                                        </p:tav>
                                        <p:tav tm="100000">
                                          <p:val>
                                            <p:strVal val="#ppt_x"/>
                                          </p:val>
                                        </p:tav>
                                      </p:tavLst>
                                    </p:anim>
                                    <p:anim calcmode="lin" valueType="num">
                                      <p:cBhvr additive="base">
                                        <p:cTn id="17" dur="750" fill="hold"/>
                                        <p:tgtEl>
                                          <p:spTgt spid="30"/>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stCondLst>
                                    <p:cond delay="250"/>
                                  </p:stCondLst>
                                  <p:childTnLst>
                                    <p:set>
                                      <p:cBhvr>
                                        <p:cTn id="19" dur="1" fill="hold">
                                          <p:stCondLst>
                                            <p:cond delay="0"/>
                                          </p:stCondLst>
                                        </p:cTn>
                                        <p:tgtEl>
                                          <p:spTgt spid="35"/>
                                        </p:tgtEl>
                                        <p:attrNameLst>
                                          <p:attrName>style.visibility</p:attrName>
                                        </p:attrNameLst>
                                      </p:cBhvr>
                                      <p:to>
                                        <p:strVal val="visible"/>
                                      </p:to>
                                    </p:set>
                                    <p:anim calcmode="lin" valueType="num">
                                      <p:cBhvr additive="base">
                                        <p:cTn id="20" dur="750" fill="hold"/>
                                        <p:tgtEl>
                                          <p:spTgt spid="35"/>
                                        </p:tgtEl>
                                        <p:attrNameLst>
                                          <p:attrName>ppt_x</p:attrName>
                                        </p:attrNameLst>
                                      </p:cBhvr>
                                      <p:tavLst>
                                        <p:tav tm="0">
                                          <p:val>
                                            <p:strVal val="1+#ppt_w/2"/>
                                          </p:val>
                                        </p:tav>
                                        <p:tav tm="100000">
                                          <p:val>
                                            <p:strVal val="#ppt_x"/>
                                          </p:val>
                                        </p:tav>
                                      </p:tavLst>
                                    </p:anim>
                                    <p:anim calcmode="lin" valueType="num">
                                      <p:cBhvr additive="base">
                                        <p:cTn id="21" dur="750" fill="hold"/>
                                        <p:tgtEl>
                                          <p:spTgt spid="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grpSp>
        <p:nvGrpSpPr>
          <p:cNvPr id="9" name="Agrupar 8"/>
          <p:cNvGrpSpPr/>
          <p:nvPr/>
        </p:nvGrpSpPr>
        <p:grpSpPr>
          <a:xfrm>
            <a:off x="186489" y="1434670"/>
            <a:ext cx="2340001" cy="5218462"/>
            <a:chOff x="186489" y="1434670"/>
            <a:chExt cx="2340001" cy="5218462"/>
          </a:xfrm>
        </p:grpSpPr>
        <p:grpSp>
          <p:nvGrpSpPr>
            <p:cNvPr id="8" name="Agrupar 7"/>
            <p:cNvGrpSpPr/>
            <p:nvPr/>
          </p:nvGrpSpPr>
          <p:grpSpPr>
            <a:xfrm>
              <a:off x="186489" y="1434670"/>
              <a:ext cx="2340001" cy="5218462"/>
              <a:chOff x="186489" y="880228"/>
              <a:chExt cx="2340001" cy="5218462"/>
            </a:xfrm>
          </p:grpSpPr>
          <p:sp>
            <p:nvSpPr>
              <p:cNvPr id="43" name="Retângulo 42"/>
              <p:cNvSpPr/>
              <p:nvPr/>
            </p:nvSpPr>
            <p:spPr>
              <a:xfrm>
                <a:off x="186490" y="1418690"/>
                <a:ext cx="2340000" cy="46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216000" indent="-216000" algn="just">
                  <a:spcBef>
                    <a:spcPts val="200"/>
                  </a:spcBef>
                  <a:spcAft>
                    <a:spcPts val="200"/>
                  </a:spcAft>
                  <a:buFont typeface="Wingdings" panose="05000000000000000000" pitchFamily="2" charset="2"/>
                  <a:buChar char="q"/>
                </a:pPr>
                <a:endParaRPr lang="pt-BR" sz="1400" b="1" dirty="0">
                  <a:solidFill>
                    <a:schemeClr val="tx1">
                      <a:lumMod val="95000"/>
                      <a:lumOff val="5000"/>
                    </a:schemeClr>
                  </a:solidFill>
                </a:endParaRPr>
              </a:p>
              <a:p>
                <a:pPr marL="216000" indent="-216000" algn="just">
                  <a:spcBef>
                    <a:spcPts val="200"/>
                  </a:spcBef>
                  <a:spcAft>
                    <a:spcPts val="200"/>
                  </a:spcAft>
                  <a:buFont typeface="Wingdings" panose="05000000000000000000" pitchFamily="2" charset="2"/>
                  <a:buChar char="q"/>
                </a:pPr>
                <a:endParaRPr lang="pt-BR" sz="1400" b="1" dirty="0">
                  <a:solidFill>
                    <a:schemeClr val="tx1">
                      <a:lumMod val="95000"/>
                      <a:lumOff val="5000"/>
                    </a:schemeClr>
                  </a:solidFill>
                </a:endParaRPr>
              </a:p>
              <a:p>
                <a:pPr marL="216000" indent="-216000" algn="just">
                  <a:spcBef>
                    <a:spcPts val="200"/>
                  </a:spcBef>
                  <a:spcAft>
                    <a:spcPts val="200"/>
                  </a:spcAft>
                  <a:buFont typeface="Wingdings" panose="05000000000000000000" pitchFamily="2" charset="2"/>
                  <a:buChar char="q"/>
                </a:pPr>
                <a:r>
                  <a:rPr lang="pt-BR" sz="1300" dirty="0">
                    <a:solidFill>
                      <a:schemeClr val="tx1">
                        <a:lumMod val="95000"/>
                        <a:lumOff val="5000"/>
                      </a:schemeClr>
                    </a:solidFill>
                  </a:rPr>
                  <a:t>AD GOL</a:t>
                </a:r>
              </a:p>
              <a:p>
                <a:pPr marL="216000" indent="-216000" algn="just">
                  <a:spcBef>
                    <a:spcPts val="200"/>
                  </a:spcBef>
                  <a:spcAft>
                    <a:spcPts val="200"/>
                  </a:spcAft>
                  <a:buFont typeface="Wingdings" panose="05000000000000000000" pitchFamily="2" charset="2"/>
                  <a:buChar char="q"/>
                </a:pPr>
                <a:r>
                  <a:rPr lang="pt-BR" sz="1300" i="1" dirty="0">
                    <a:solidFill>
                      <a:schemeClr val="tx1">
                        <a:lumMod val="95000"/>
                        <a:lumOff val="5000"/>
                      </a:schemeClr>
                    </a:solidFill>
                  </a:rPr>
                  <a:t>File Server </a:t>
                </a:r>
                <a:r>
                  <a:rPr lang="pt-BR" sz="1300" dirty="0">
                    <a:solidFill>
                      <a:schemeClr val="tx1">
                        <a:lumMod val="95000"/>
                        <a:lumOff val="5000"/>
                      </a:schemeClr>
                    </a:solidFill>
                  </a:rPr>
                  <a:t>GOL</a:t>
                </a:r>
              </a:p>
              <a:p>
                <a:pPr marL="216000" indent="-216000" algn="just">
                  <a:spcBef>
                    <a:spcPts val="200"/>
                  </a:spcBef>
                  <a:spcAft>
                    <a:spcPts val="200"/>
                  </a:spcAft>
                  <a:buFont typeface="Wingdings" panose="05000000000000000000" pitchFamily="2" charset="2"/>
                  <a:buChar char="q"/>
                </a:pPr>
                <a:r>
                  <a:rPr lang="pt-BR" sz="1300" dirty="0">
                    <a:solidFill>
                      <a:schemeClr val="tx1">
                        <a:lumMod val="95000"/>
                        <a:lumOff val="5000"/>
                      </a:schemeClr>
                    </a:solidFill>
                  </a:rPr>
                  <a:t>Gestão de Acessos GOL</a:t>
                </a:r>
              </a:p>
              <a:p>
                <a:pPr marL="216000" indent="-216000" algn="just">
                  <a:spcBef>
                    <a:spcPts val="200"/>
                  </a:spcBef>
                  <a:spcAft>
                    <a:spcPts val="200"/>
                  </a:spcAft>
                  <a:buFont typeface="Wingdings" panose="05000000000000000000" pitchFamily="2" charset="2"/>
                  <a:buChar char="q"/>
                </a:pPr>
                <a:r>
                  <a:rPr lang="pt-BR" sz="1300" dirty="0">
                    <a:solidFill>
                      <a:schemeClr val="tx1">
                        <a:lumMod val="95000"/>
                        <a:lumOff val="5000"/>
                      </a:schemeClr>
                    </a:solidFill>
                  </a:rPr>
                  <a:t>Operação dos ambientes AD e FS GOL (Incidentes, Problemas, Mudanças)</a:t>
                </a:r>
              </a:p>
            </p:txBody>
          </p:sp>
          <p:sp>
            <p:nvSpPr>
              <p:cNvPr id="45" name="Retângulo de cantos arredondados 13"/>
              <p:cNvSpPr/>
              <p:nvPr/>
            </p:nvSpPr>
            <p:spPr>
              <a:xfrm>
                <a:off x="186489" y="880228"/>
                <a:ext cx="2340000" cy="900000"/>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pPr algn="just"/>
                <a:r>
                  <a:rPr lang="pt-BR" sz="1600" b="1" dirty="0">
                    <a:effectLst>
                      <a:outerShdw blurRad="38100" dist="38100" dir="2700000" algn="tl">
                        <a:srgbClr val="000000">
                          <a:alpha val="43137"/>
                        </a:srgbClr>
                      </a:outerShdw>
                    </a:effectLst>
                  </a:rPr>
                  <a:t>Cenário </a:t>
                </a:r>
              </a:p>
              <a:p>
                <a:pPr algn="just"/>
                <a:r>
                  <a:rPr lang="pt-BR" sz="1600" b="1" dirty="0">
                    <a:effectLst>
                      <a:outerShdw blurRad="38100" dist="38100" dir="2700000" algn="tl">
                        <a:srgbClr val="000000">
                          <a:alpha val="43137"/>
                        </a:srgbClr>
                      </a:outerShdw>
                    </a:effectLst>
                  </a:rPr>
                  <a:t>Anterior</a:t>
                </a:r>
              </a:p>
            </p:txBody>
          </p:sp>
        </p:grpSp>
        <p:pic>
          <p:nvPicPr>
            <p:cNvPr id="10" name="Imagem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0861" y="1542670"/>
              <a:ext cx="684000" cy="684000"/>
            </a:xfrm>
            <a:prstGeom prst="rect">
              <a:avLst/>
            </a:prstGeom>
            <a:effectLst>
              <a:glow rad="101600">
                <a:schemeClr val="bg1">
                  <a:alpha val="60000"/>
                </a:schemeClr>
              </a:glow>
            </a:effectLst>
          </p:spPr>
        </p:pic>
      </p:grpSp>
      <p:grpSp>
        <p:nvGrpSpPr>
          <p:cNvPr id="11" name="Agrupar 10"/>
          <p:cNvGrpSpPr/>
          <p:nvPr/>
        </p:nvGrpSpPr>
        <p:grpSpPr>
          <a:xfrm>
            <a:off x="2625978" y="1434670"/>
            <a:ext cx="2340000" cy="5218462"/>
            <a:chOff x="2625978" y="1434670"/>
            <a:chExt cx="2340000" cy="5218462"/>
          </a:xfrm>
        </p:grpSpPr>
        <p:grpSp>
          <p:nvGrpSpPr>
            <p:cNvPr id="3" name="Agrupar 2"/>
            <p:cNvGrpSpPr/>
            <p:nvPr/>
          </p:nvGrpSpPr>
          <p:grpSpPr>
            <a:xfrm>
              <a:off x="2625978" y="1434670"/>
              <a:ext cx="2340000" cy="5218462"/>
              <a:chOff x="2991739" y="880228"/>
              <a:chExt cx="2340000" cy="5218462"/>
            </a:xfrm>
          </p:grpSpPr>
          <p:sp>
            <p:nvSpPr>
              <p:cNvPr id="47" name="Retângulo 46"/>
              <p:cNvSpPr/>
              <p:nvPr/>
            </p:nvSpPr>
            <p:spPr>
              <a:xfrm>
                <a:off x="2991739" y="1418690"/>
                <a:ext cx="2340000" cy="46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216000" indent="-216000">
                  <a:spcBef>
                    <a:spcPts val="200"/>
                  </a:spcBef>
                  <a:spcAft>
                    <a:spcPts val="200"/>
                  </a:spcAft>
                  <a:buFont typeface="Wingdings" panose="05000000000000000000" pitchFamily="2" charset="2"/>
                  <a:buChar char="q"/>
                </a:pPr>
                <a:endParaRPr lang="pt-BR" sz="1200"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endParaRPr lang="pt-BR" sz="1200" dirty="0">
                  <a:solidFill>
                    <a:schemeClr val="tx1">
                      <a:lumMod val="95000"/>
                      <a:lumOff val="5000"/>
                    </a:schemeClr>
                  </a:solidFill>
                </a:endParaRPr>
              </a:p>
              <a:p>
                <a:pPr marL="216000" indent="-216000" algn="just">
                  <a:spcBef>
                    <a:spcPts val="200"/>
                  </a:spcBef>
                  <a:spcAft>
                    <a:spcPts val="200"/>
                  </a:spcAft>
                  <a:buFont typeface="Wingdings" panose="05000000000000000000" pitchFamily="2" charset="2"/>
                  <a:buChar char="q"/>
                </a:pPr>
                <a:r>
                  <a:rPr lang="pt-BR" sz="1300" b="1" i="1" dirty="0" err="1">
                    <a:solidFill>
                      <a:schemeClr val="tx1">
                        <a:lumMod val="95000"/>
                        <a:lumOff val="5000"/>
                      </a:schemeClr>
                    </a:solidFill>
                  </a:rPr>
                  <a:t>Logon</a:t>
                </a:r>
                <a:r>
                  <a:rPr lang="pt-BR" sz="1300" b="1" dirty="0">
                    <a:solidFill>
                      <a:schemeClr val="tx1">
                        <a:lumMod val="95000"/>
                        <a:lumOff val="5000"/>
                      </a:schemeClr>
                    </a:solidFill>
                  </a:rPr>
                  <a:t> lento</a:t>
                </a:r>
              </a:p>
              <a:p>
                <a:pPr marL="216000" indent="-216000" algn="just">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Pouca agilidade </a:t>
                </a:r>
                <a:r>
                  <a:rPr lang="pt-BR" sz="1300" dirty="0">
                    <a:solidFill>
                      <a:schemeClr val="tx1">
                        <a:lumMod val="95000"/>
                        <a:lumOff val="5000"/>
                      </a:schemeClr>
                    </a:solidFill>
                  </a:rPr>
                  <a:t>na Gestão de Acessos </a:t>
                </a:r>
              </a:p>
              <a:p>
                <a:pPr marL="216000" indent="-216000" algn="just">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Prazos estendidos e retrabalho</a:t>
                </a:r>
              </a:p>
              <a:p>
                <a:pPr marL="216000" indent="-216000" algn="just">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Infraestrutura não adequada </a:t>
                </a:r>
                <a:r>
                  <a:rPr lang="pt-BR" sz="1300" dirty="0">
                    <a:solidFill>
                      <a:schemeClr val="tx1">
                        <a:lumMod val="95000"/>
                        <a:lumOff val="5000"/>
                      </a:schemeClr>
                    </a:solidFill>
                  </a:rPr>
                  <a:t>às necessidades da </a:t>
                </a:r>
                <a:r>
                  <a:rPr lang="pt-BR" sz="1300" dirty="0" err="1">
                    <a:solidFill>
                      <a:schemeClr val="tx1">
                        <a:lumMod val="95000"/>
                        <a:lumOff val="5000"/>
                      </a:schemeClr>
                    </a:solidFill>
                  </a:rPr>
                  <a:t>Smiles</a:t>
                </a:r>
                <a:endParaRPr lang="pt-BR" sz="1300" dirty="0">
                  <a:solidFill>
                    <a:schemeClr val="tx1">
                      <a:lumMod val="95000"/>
                      <a:lumOff val="5000"/>
                    </a:schemeClr>
                  </a:solidFill>
                </a:endParaRPr>
              </a:p>
              <a:p>
                <a:pPr marL="216000" indent="-216000" algn="just">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Falta de padronização</a:t>
                </a:r>
                <a:r>
                  <a:rPr lang="pt-BR" sz="1300" dirty="0">
                    <a:solidFill>
                      <a:schemeClr val="tx1">
                        <a:lumMod val="95000"/>
                        <a:lumOff val="5000"/>
                      </a:schemeClr>
                    </a:solidFill>
                  </a:rPr>
                  <a:t> na estrutura do </a:t>
                </a:r>
                <a:r>
                  <a:rPr lang="pt-BR" sz="1300" i="1" dirty="0">
                    <a:solidFill>
                      <a:schemeClr val="tx1">
                        <a:lumMod val="95000"/>
                        <a:lumOff val="5000"/>
                      </a:schemeClr>
                    </a:solidFill>
                  </a:rPr>
                  <a:t>File Server</a:t>
                </a:r>
              </a:p>
              <a:p>
                <a:pPr marL="216000" indent="-216000" algn="just">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Inexistência de controle de cotas </a:t>
                </a:r>
                <a:r>
                  <a:rPr lang="pt-BR" sz="1300" dirty="0">
                    <a:solidFill>
                      <a:schemeClr val="tx1">
                        <a:lumMod val="95000"/>
                        <a:lumOff val="5000"/>
                      </a:schemeClr>
                    </a:solidFill>
                  </a:rPr>
                  <a:t>por área e usuário</a:t>
                </a:r>
              </a:p>
              <a:p>
                <a:pPr marL="216000" indent="-216000" algn="just">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Pacote Office desatualizado</a:t>
                </a:r>
              </a:p>
              <a:p>
                <a:pPr marL="216000" indent="-216000">
                  <a:spcBef>
                    <a:spcPts val="200"/>
                  </a:spcBef>
                  <a:spcAft>
                    <a:spcPts val="200"/>
                  </a:spcAft>
                  <a:buFont typeface="Wingdings" panose="05000000000000000000" pitchFamily="2" charset="2"/>
                  <a:buChar char="q"/>
                </a:pPr>
                <a:endParaRPr lang="pt-BR" sz="1300" b="1" dirty="0">
                  <a:solidFill>
                    <a:schemeClr val="tx1">
                      <a:lumMod val="95000"/>
                      <a:lumOff val="5000"/>
                    </a:schemeClr>
                  </a:solidFill>
                </a:endParaRPr>
              </a:p>
            </p:txBody>
          </p:sp>
          <p:sp>
            <p:nvSpPr>
              <p:cNvPr id="52" name="Retângulo de cantos arredondados 16"/>
              <p:cNvSpPr/>
              <p:nvPr/>
            </p:nvSpPr>
            <p:spPr>
              <a:xfrm>
                <a:off x="2991739" y="880228"/>
                <a:ext cx="2340000" cy="900000"/>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600" b="1" dirty="0">
                    <a:effectLst>
                      <a:outerShdw blurRad="38100" dist="38100" dir="2700000" algn="tl">
                        <a:srgbClr val="000000">
                          <a:alpha val="43137"/>
                        </a:srgbClr>
                      </a:outerShdw>
                    </a:effectLst>
                  </a:rPr>
                  <a:t>Principais </a:t>
                </a:r>
              </a:p>
              <a:p>
                <a:r>
                  <a:rPr lang="pt-BR" sz="1600" b="1" dirty="0">
                    <a:effectLst>
                      <a:outerShdw blurRad="38100" dist="38100" dir="2700000" algn="tl">
                        <a:srgbClr val="000000">
                          <a:alpha val="43137"/>
                        </a:srgbClr>
                      </a:outerShdw>
                    </a:effectLst>
                  </a:rPr>
                  <a:t>Dificuldades</a:t>
                </a:r>
              </a:p>
            </p:txBody>
          </p:sp>
        </p:grpSp>
        <p:pic>
          <p:nvPicPr>
            <p:cNvPr id="14" name="Imagem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81664" y="1474197"/>
              <a:ext cx="828000" cy="828000"/>
            </a:xfrm>
            <a:prstGeom prst="rect">
              <a:avLst/>
            </a:prstGeom>
            <a:effectLst>
              <a:glow rad="101600">
                <a:schemeClr val="bg1">
                  <a:alpha val="60000"/>
                </a:schemeClr>
              </a:glow>
            </a:effectLst>
          </p:spPr>
        </p:pic>
      </p:grpSp>
      <p:grpSp>
        <p:nvGrpSpPr>
          <p:cNvPr id="13" name="Agrupar 12"/>
          <p:cNvGrpSpPr/>
          <p:nvPr/>
        </p:nvGrpSpPr>
        <p:grpSpPr>
          <a:xfrm>
            <a:off x="7504954" y="1434670"/>
            <a:ext cx="2340001" cy="5218462"/>
            <a:chOff x="7504954" y="1434670"/>
            <a:chExt cx="2340001" cy="5218462"/>
          </a:xfrm>
        </p:grpSpPr>
        <p:grpSp>
          <p:nvGrpSpPr>
            <p:cNvPr id="5" name="Agrupar 4"/>
            <p:cNvGrpSpPr/>
            <p:nvPr/>
          </p:nvGrpSpPr>
          <p:grpSpPr>
            <a:xfrm>
              <a:off x="7504954" y="1434670"/>
              <a:ext cx="2340001" cy="5218462"/>
              <a:chOff x="8445479" y="880228"/>
              <a:chExt cx="2340001" cy="5218462"/>
            </a:xfrm>
          </p:grpSpPr>
          <p:sp>
            <p:nvSpPr>
              <p:cNvPr id="56" name="Retângulo 55"/>
              <p:cNvSpPr/>
              <p:nvPr/>
            </p:nvSpPr>
            <p:spPr>
              <a:xfrm>
                <a:off x="8445479" y="1418690"/>
                <a:ext cx="2340000" cy="46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a:p>
                <a:pPr marL="216000" indent="-216000" algn="just">
                  <a:spcBef>
                    <a:spcPts val="200"/>
                  </a:spcBef>
                  <a:spcAft>
                    <a:spcPts val="200"/>
                  </a:spcAft>
                  <a:buFont typeface="Wingdings" panose="05000000000000000000" pitchFamily="2" charset="2"/>
                  <a:buChar char="q"/>
                </a:pPr>
                <a:r>
                  <a:rPr lang="pt-BR" sz="1300" b="1" i="1" dirty="0" err="1">
                    <a:solidFill>
                      <a:schemeClr val="tx1">
                        <a:lumMod val="95000"/>
                        <a:lumOff val="5000"/>
                      </a:schemeClr>
                    </a:solidFill>
                  </a:rPr>
                  <a:t>Logon</a:t>
                </a:r>
                <a:r>
                  <a:rPr lang="pt-BR" sz="1300" b="1" dirty="0">
                    <a:solidFill>
                      <a:schemeClr val="tx1">
                        <a:lumMod val="95000"/>
                        <a:lumOff val="5000"/>
                      </a:schemeClr>
                    </a:solidFill>
                  </a:rPr>
                  <a:t> mais rápido</a:t>
                </a:r>
              </a:p>
              <a:p>
                <a:pPr marL="216000" indent="-216000" algn="just">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Maior agilidade </a:t>
                </a:r>
                <a:r>
                  <a:rPr lang="pt-BR" sz="1300" dirty="0">
                    <a:solidFill>
                      <a:schemeClr val="tx1">
                        <a:lumMod val="95000"/>
                        <a:lumOff val="5000"/>
                      </a:schemeClr>
                    </a:solidFill>
                  </a:rPr>
                  <a:t>na Gestão de Acessos</a:t>
                </a:r>
              </a:p>
              <a:p>
                <a:pPr marL="216000" indent="-216000" algn="just">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Ambiente escalável e redundante </a:t>
                </a:r>
              </a:p>
              <a:p>
                <a:pPr marL="216000" indent="-216000" algn="just">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Maior eficiência na Gestão </a:t>
                </a:r>
                <a:r>
                  <a:rPr lang="pt-BR" sz="1300" dirty="0">
                    <a:solidFill>
                      <a:schemeClr val="tx1">
                        <a:lumMod val="95000"/>
                        <a:lumOff val="5000"/>
                      </a:schemeClr>
                    </a:solidFill>
                  </a:rPr>
                  <a:t>(gestão interna permite maior </a:t>
                </a:r>
                <a:r>
                  <a:rPr lang="pt-BR" sz="1300" b="1" dirty="0">
                    <a:solidFill>
                      <a:schemeClr val="tx1">
                        <a:lumMod val="95000"/>
                        <a:lumOff val="5000"/>
                      </a:schemeClr>
                    </a:solidFill>
                  </a:rPr>
                  <a:t>rastreabilidade e visibilidade</a:t>
                </a:r>
                <a:r>
                  <a:rPr lang="pt-BR" sz="1300" dirty="0">
                    <a:solidFill>
                      <a:schemeClr val="tx1">
                        <a:lumMod val="95000"/>
                        <a:lumOff val="5000"/>
                      </a:schemeClr>
                    </a:solidFill>
                  </a:rPr>
                  <a:t>)</a:t>
                </a:r>
              </a:p>
              <a:p>
                <a:pPr marL="216000" indent="-216000" algn="just">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Padronização</a:t>
                </a:r>
                <a:r>
                  <a:rPr lang="pt-BR" sz="1300" dirty="0">
                    <a:solidFill>
                      <a:schemeClr val="tx1">
                        <a:lumMod val="95000"/>
                        <a:lumOff val="5000"/>
                      </a:schemeClr>
                    </a:solidFill>
                  </a:rPr>
                  <a:t> de Diretórios e Pastas na rede com uso de cotas por área e usuário</a:t>
                </a:r>
              </a:p>
              <a:p>
                <a:pPr marL="216000" indent="-216000" algn="just">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Independência da estrutura de TI da GOL</a:t>
                </a:r>
              </a:p>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p:txBody>
          </p:sp>
          <p:sp>
            <p:nvSpPr>
              <p:cNvPr id="57" name="Retângulo de cantos arredondados 17"/>
              <p:cNvSpPr/>
              <p:nvPr/>
            </p:nvSpPr>
            <p:spPr>
              <a:xfrm>
                <a:off x="8445480" y="880228"/>
                <a:ext cx="2340000" cy="900000"/>
              </a:xfrm>
              <a:prstGeom prst="round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600" b="1" dirty="0">
                    <a:effectLst>
                      <a:outerShdw blurRad="38100" dist="38100" dir="2700000" algn="tl">
                        <a:srgbClr val="000000">
                          <a:alpha val="43137"/>
                        </a:srgbClr>
                      </a:outerShdw>
                    </a:effectLst>
                  </a:rPr>
                  <a:t>Benefícios</a:t>
                </a:r>
              </a:p>
            </p:txBody>
          </p:sp>
        </p:grpSp>
        <p:pic>
          <p:nvPicPr>
            <p:cNvPr id="16" name="Imagem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05153" y="1556950"/>
              <a:ext cx="684000" cy="684000"/>
            </a:xfrm>
            <a:prstGeom prst="rect">
              <a:avLst/>
            </a:prstGeom>
            <a:effectLst>
              <a:glow rad="101600">
                <a:schemeClr val="bg1">
                  <a:alpha val="60000"/>
                </a:schemeClr>
              </a:glow>
            </a:effectLst>
          </p:spPr>
        </p:pic>
      </p:grpSp>
      <p:grpSp>
        <p:nvGrpSpPr>
          <p:cNvPr id="12" name="Agrupar 11"/>
          <p:cNvGrpSpPr/>
          <p:nvPr/>
        </p:nvGrpSpPr>
        <p:grpSpPr>
          <a:xfrm>
            <a:off x="5065466" y="1434670"/>
            <a:ext cx="2340000" cy="5218462"/>
            <a:chOff x="5065466" y="1434670"/>
            <a:chExt cx="2340000" cy="5218462"/>
          </a:xfrm>
        </p:grpSpPr>
        <p:grpSp>
          <p:nvGrpSpPr>
            <p:cNvPr id="4" name="Agrupar 3"/>
            <p:cNvGrpSpPr/>
            <p:nvPr/>
          </p:nvGrpSpPr>
          <p:grpSpPr>
            <a:xfrm>
              <a:off x="5065466" y="1434670"/>
              <a:ext cx="2340000" cy="5218462"/>
              <a:chOff x="5718609" y="880228"/>
              <a:chExt cx="2340000" cy="5218462"/>
            </a:xfrm>
          </p:grpSpPr>
          <p:sp>
            <p:nvSpPr>
              <p:cNvPr id="49" name="Retângulo 48"/>
              <p:cNvSpPr/>
              <p:nvPr/>
            </p:nvSpPr>
            <p:spPr>
              <a:xfrm>
                <a:off x="5718609" y="1418690"/>
                <a:ext cx="2340000" cy="46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a:p>
                <a:pPr marL="216000" indent="-216000" algn="just">
                  <a:spcBef>
                    <a:spcPts val="200"/>
                  </a:spcBef>
                  <a:spcAft>
                    <a:spcPts val="200"/>
                  </a:spcAft>
                  <a:buFont typeface="Wingdings" panose="05000000000000000000" pitchFamily="2" charset="2"/>
                  <a:buChar char="q"/>
                </a:pPr>
                <a:r>
                  <a:rPr lang="pt-BR" sz="1300" dirty="0">
                    <a:solidFill>
                      <a:schemeClr val="tx1">
                        <a:lumMod val="95000"/>
                        <a:lumOff val="5000"/>
                      </a:schemeClr>
                    </a:solidFill>
                  </a:rPr>
                  <a:t>Implementação de um </a:t>
                </a:r>
                <a:r>
                  <a:rPr lang="pt-BR" sz="1300" b="1" dirty="0">
                    <a:solidFill>
                      <a:schemeClr val="tx1">
                        <a:lumMod val="95000"/>
                        <a:lumOff val="5000"/>
                      </a:schemeClr>
                    </a:solidFill>
                  </a:rPr>
                  <a:t>AD específico para Smiles</a:t>
                </a:r>
              </a:p>
              <a:p>
                <a:pPr marL="216000" indent="-216000" algn="just">
                  <a:spcBef>
                    <a:spcPts val="200"/>
                  </a:spcBef>
                  <a:spcAft>
                    <a:spcPts val="200"/>
                  </a:spcAft>
                  <a:buFont typeface="Wingdings" panose="05000000000000000000" pitchFamily="2" charset="2"/>
                  <a:buChar char="q"/>
                </a:pPr>
                <a:r>
                  <a:rPr lang="pt-BR" sz="1300" dirty="0">
                    <a:solidFill>
                      <a:schemeClr val="tx1">
                        <a:lumMod val="95000"/>
                        <a:lumOff val="5000"/>
                      </a:schemeClr>
                    </a:solidFill>
                  </a:rPr>
                  <a:t>Implementação de uma </a:t>
                </a:r>
                <a:r>
                  <a:rPr lang="pt-BR" sz="1300" b="1" dirty="0">
                    <a:solidFill>
                      <a:schemeClr val="tx1">
                        <a:lumMod val="95000"/>
                        <a:lumOff val="5000"/>
                      </a:schemeClr>
                    </a:solidFill>
                  </a:rPr>
                  <a:t>Solução de Colaboração e Produtividade para a Smiles (Office 365, OneDrive e SharePoint)</a:t>
                </a:r>
              </a:p>
            </p:txBody>
          </p:sp>
          <p:sp>
            <p:nvSpPr>
              <p:cNvPr id="53" name="Retângulo de cantos arredondados 17"/>
              <p:cNvSpPr/>
              <p:nvPr/>
            </p:nvSpPr>
            <p:spPr>
              <a:xfrm>
                <a:off x="5718609" y="880228"/>
                <a:ext cx="2340000" cy="900000"/>
              </a:xfrm>
              <a:prstGeom prst="round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600" b="1" dirty="0">
                    <a:effectLst>
                      <a:outerShdw blurRad="38100" dist="38100" dir="2700000" algn="tl">
                        <a:srgbClr val="000000">
                          <a:alpha val="43137"/>
                        </a:srgbClr>
                      </a:outerShdw>
                    </a:effectLst>
                  </a:rPr>
                  <a:t>Solução</a:t>
                </a:r>
              </a:p>
              <a:p>
                <a:r>
                  <a:rPr lang="pt-BR" sz="1600" b="1" dirty="0">
                    <a:effectLst>
                      <a:outerShdw blurRad="38100" dist="38100" dir="2700000" algn="tl">
                        <a:srgbClr val="000000">
                          <a:alpha val="43137"/>
                        </a:srgbClr>
                      </a:outerShdw>
                    </a:effectLst>
                  </a:rPr>
                  <a:t>Definida </a:t>
                </a:r>
              </a:p>
            </p:txBody>
          </p:sp>
        </p:grpSp>
        <p:pic>
          <p:nvPicPr>
            <p:cNvPr id="17" name="Imagem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86472" y="1547604"/>
              <a:ext cx="684000" cy="684000"/>
            </a:xfrm>
            <a:prstGeom prst="rect">
              <a:avLst/>
            </a:prstGeom>
            <a:effectLst>
              <a:glow rad="101600">
                <a:schemeClr val="bg1">
                  <a:alpha val="40000"/>
                </a:schemeClr>
              </a:glow>
            </a:effectLst>
          </p:spPr>
        </p:pic>
      </p:grpSp>
      <p:sp>
        <p:nvSpPr>
          <p:cNvPr id="22"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Active Directory e Office 365</a:t>
            </a:r>
          </a:p>
        </p:txBody>
      </p:sp>
      <p:sp>
        <p:nvSpPr>
          <p:cNvPr id="23" name="Rectangle 2"/>
          <p:cNvSpPr/>
          <p:nvPr/>
        </p:nvSpPr>
        <p:spPr>
          <a:xfrm>
            <a:off x="711200" y="942986"/>
            <a:ext cx="8694057" cy="384373"/>
          </a:xfrm>
          <a:prstGeom prst="rect">
            <a:avLst/>
          </a:prstGeom>
        </p:spPr>
        <p:txBody>
          <a:bodyPr wrap="square" lIns="75848" tIns="37928" rIns="75848" bIns="37928">
            <a:spAutoFit/>
          </a:bodyPr>
          <a:lstStyle/>
          <a:p>
            <a:pPr defTabSz="758379"/>
            <a:r>
              <a:rPr lang="en-US" sz="2000" b="1" i="1" spc="-83" dirty="0" err="1">
                <a:ln w="3175">
                  <a:noFill/>
                </a:ln>
                <a:solidFill>
                  <a:schemeClr val="accent6"/>
                </a:solidFill>
                <a:cs typeface="Arial" charset="0"/>
              </a:rPr>
              <a:t>RoadMap</a:t>
            </a:r>
            <a:endParaRPr lang="en-US" sz="2000" i="1" dirty="0">
              <a:solidFill>
                <a:schemeClr val="accent6"/>
              </a:solidFill>
            </a:endParaRPr>
          </a:p>
        </p:txBody>
      </p:sp>
    </p:spTree>
    <p:extLst>
      <p:ext uri="{BB962C8B-B14F-4D97-AF65-F5344CB8AC3E}">
        <p14:creationId xmlns:p14="http://schemas.microsoft.com/office/powerpoint/2010/main" val="248871321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8218106" y="129598"/>
              <a:ext cx="843390" cy="334448"/>
            </a:xfrm>
            <a:prstGeom prst="rect">
              <a:avLst/>
            </a:prstGeom>
          </p:spPr>
        </p:pic>
      </p:grpSp>
      <p:pic>
        <p:nvPicPr>
          <p:cNvPr id="9" name="Content Placeholder 3"/>
          <p:cNvPicPr>
            <a:picLocks noGrp="1" noChangeAspect="1"/>
          </p:cNvPicPr>
          <p:nvPr/>
        </p:nvPicPr>
        <p:blipFill rotWithShape="1">
          <a:blip r:embed="rId3">
            <a:extLst>
              <a:ext uri="{28A0092B-C50C-407E-A947-70E740481C1C}">
                <a14:useLocalDpi xmlns:a14="http://schemas.microsoft.com/office/drawing/2010/main" val="0"/>
              </a:ext>
            </a:extLst>
          </a:blip>
          <a:srcRect l="8977"/>
          <a:stretch/>
        </p:blipFill>
        <p:spPr bwMode="auto">
          <a:xfrm>
            <a:off x="1" y="990059"/>
            <a:ext cx="10117137" cy="5627644"/>
          </a:xfrm>
          <a:prstGeom prst="rect">
            <a:avLst/>
          </a:prstGeom>
          <a:noFill/>
          <a:ln w="9525">
            <a:noFill/>
            <a:miter lim="800000"/>
            <a:headEnd/>
            <a:tailEnd/>
          </a:ln>
        </p:spPr>
      </p:pic>
      <p:sp>
        <p:nvSpPr>
          <p:cNvPr id="2" name="CaixaDeTexto 1"/>
          <p:cNvSpPr txBox="1"/>
          <p:nvPr/>
        </p:nvSpPr>
        <p:spPr>
          <a:xfrm>
            <a:off x="3313059" y="106238"/>
            <a:ext cx="3491020" cy="523220"/>
          </a:xfrm>
          <a:prstGeom prst="rect">
            <a:avLst/>
          </a:prstGeom>
          <a:noFill/>
        </p:spPr>
        <p:txBody>
          <a:bodyPr wrap="none" rtlCol="0">
            <a:spAutoFit/>
          </a:bodyPr>
          <a:lstStyle/>
          <a:p>
            <a:r>
              <a:rPr lang="pt-BR" sz="2800" dirty="0">
                <a:ln w="0"/>
                <a:solidFill>
                  <a:schemeClr val="bg1"/>
                </a:solidFill>
                <a:effectLst>
                  <a:outerShdw blurRad="38100" dist="19050" dir="2700000" algn="tl" rotWithShape="0">
                    <a:schemeClr val="dk1">
                      <a:alpha val="40000"/>
                    </a:schemeClr>
                  </a:outerShdw>
                </a:effectLst>
              </a:rPr>
              <a:t>Visão Geral - Produtos</a:t>
            </a:r>
          </a:p>
        </p:txBody>
      </p:sp>
    </p:spTree>
    <p:extLst>
      <p:ext uri="{BB962C8B-B14F-4D97-AF65-F5344CB8AC3E}">
        <p14:creationId xmlns:p14="http://schemas.microsoft.com/office/powerpoint/2010/main" val="2045244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6" descr="http://sharepoint/sites/gfspublic/Shared%20Documents/Chicago%20DC%20Photoshare/CH1-495.jpg"/>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6428264" y="1994726"/>
            <a:ext cx="3543053" cy="3915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558530" y="942986"/>
            <a:ext cx="8846727" cy="1246148"/>
          </a:xfrm>
          <a:prstGeom prst="rect">
            <a:avLst/>
          </a:prstGeom>
        </p:spPr>
        <p:txBody>
          <a:bodyPr wrap="square" lIns="75848" tIns="37928" rIns="75848" bIns="37928">
            <a:spAutoFit/>
          </a:bodyPr>
          <a:lstStyle/>
          <a:p>
            <a:pPr defTabSz="758379"/>
            <a:r>
              <a:rPr lang="en-US" sz="3200" b="1" spc="-83" dirty="0">
                <a:ln w="3175">
                  <a:noFill/>
                </a:ln>
                <a:cs typeface="Arial" charset="0"/>
              </a:rPr>
              <a:t>O que é OneDrive e SharePoint?</a:t>
            </a:r>
          </a:p>
          <a:p>
            <a:pPr defTabSz="758379"/>
            <a:endParaRPr lang="en-US" sz="1600" b="1" spc="-83" dirty="0">
              <a:ln w="3175">
                <a:noFill/>
              </a:ln>
              <a:cs typeface="Arial" charset="0"/>
            </a:endParaRPr>
          </a:p>
          <a:p>
            <a:pPr defTabSz="758379"/>
            <a:r>
              <a:rPr lang="en-US" sz="2800" spc="-83" dirty="0" err="1">
                <a:ln w="3175">
                  <a:noFill/>
                </a:ln>
                <a:cs typeface="Arial" charset="0"/>
              </a:rPr>
              <a:t>Serviços</a:t>
            </a:r>
            <a:r>
              <a:rPr lang="en-US" sz="2800" spc="-83" dirty="0">
                <a:ln w="3175">
                  <a:noFill/>
                </a:ln>
                <a:cs typeface="Arial" charset="0"/>
              </a:rPr>
              <a:t> da Microsoft para </a:t>
            </a:r>
            <a:r>
              <a:rPr lang="en-US" sz="2800" spc="-83" dirty="0" err="1">
                <a:ln w="3175">
                  <a:noFill/>
                </a:ln>
                <a:cs typeface="Arial" charset="0"/>
              </a:rPr>
              <a:t>nuvem</a:t>
            </a:r>
            <a:r>
              <a:rPr lang="en-US" sz="2800" spc="-83" dirty="0">
                <a:ln w="3175">
                  <a:noFill/>
                </a:ln>
                <a:cs typeface="Arial" charset="0"/>
              </a:rPr>
              <a:t> </a:t>
            </a:r>
            <a:r>
              <a:rPr lang="en-US" sz="2800" spc="-83" dirty="0" err="1">
                <a:ln w="3175">
                  <a:noFill/>
                </a:ln>
                <a:cs typeface="Arial" charset="0"/>
              </a:rPr>
              <a:t>pública</a:t>
            </a:r>
            <a:r>
              <a:rPr lang="en-US" sz="2800" spc="-83" dirty="0">
                <a:ln w="3175">
                  <a:noFill/>
                </a:ln>
                <a:cs typeface="Arial" charset="0"/>
              </a:rPr>
              <a:t>.</a:t>
            </a:r>
            <a:endParaRPr lang="en-US" sz="2800" dirty="0"/>
          </a:p>
        </p:txBody>
      </p:sp>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5" name="Picture 5"/>
          <p:cNvPicPr>
            <a:picLocks noChangeAspect="1"/>
          </p:cNvPicPr>
          <p:nvPr/>
        </p:nvPicPr>
        <p:blipFill>
          <a:blip r:embed="rId5"/>
          <a:stretch>
            <a:fillRect/>
          </a:stretch>
        </p:blipFill>
        <p:spPr>
          <a:xfrm>
            <a:off x="9092707" y="129598"/>
            <a:ext cx="933147" cy="334448"/>
          </a:xfrm>
          <a:prstGeom prst="rect">
            <a:avLst/>
          </a:prstGeom>
        </p:spPr>
      </p:pic>
      <p:sp>
        <p:nvSpPr>
          <p:cNvPr id="2" name="Retângulo 1"/>
          <p:cNvSpPr/>
          <p:nvPr/>
        </p:nvSpPr>
        <p:spPr>
          <a:xfrm>
            <a:off x="6428264" y="1994726"/>
            <a:ext cx="3543053" cy="3912197"/>
          </a:xfrm>
          <a:prstGeom prst="rect">
            <a:avLst/>
          </a:prstGeom>
          <a:no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7" name="CaixaDeTexto 16"/>
          <p:cNvSpPr txBox="1"/>
          <p:nvPr/>
        </p:nvSpPr>
        <p:spPr>
          <a:xfrm>
            <a:off x="3313059" y="106238"/>
            <a:ext cx="3491020" cy="523220"/>
          </a:xfrm>
          <a:prstGeom prst="rect">
            <a:avLst/>
          </a:prstGeom>
          <a:noFill/>
        </p:spPr>
        <p:txBody>
          <a:bodyPr wrap="none" rtlCol="0">
            <a:spAutoFit/>
          </a:bodyPr>
          <a:lstStyle/>
          <a:p>
            <a:r>
              <a:rPr lang="pt-BR" sz="2800" dirty="0">
                <a:ln w="0"/>
                <a:solidFill>
                  <a:schemeClr val="bg1"/>
                </a:solidFill>
                <a:effectLst>
                  <a:outerShdw blurRad="38100" dist="19050" dir="2700000" algn="tl" rotWithShape="0">
                    <a:schemeClr val="dk1">
                      <a:alpha val="40000"/>
                    </a:schemeClr>
                  </a:outerShdw>
                </a:effectLst>
              </a:rPr>
              <a:t>Visão Geral - Produtos</a:t>
            </a:r>
          </a:p>
        </p:txBody>
      </p:sp>
    </p:spTree>
    <p:extLst>
      <p:ext uri="{BB962C8B-B14F-4D97-AF65-F5344CB8AC3E}">
        <p14:creationId xmlns:p14="http://schemas.microsoft.com/office/powerpoint/2010/main" val="158677337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5" name="Picture 5"/>
          <p:cNvPicPr>
            <a:picLocks noChangeAspect="1"/>
          </p:cNvPicPr>
          <p:nvPr/>
        </p:nvPicPr>
        <p:blipFill>
          <a:blip r:embed="rId5"/>
          <a:stretch>
            <a:fillRect/>
          </a:stretch>
        </p:blipFill>
        <p:spPr>
          <a:xfrm>
            <a:off x="9092707" y="129598"/>
            <a:ext cx="933147" cy="334448"/>
          </a:xfrm>
          <a:prstGeom prst="rect">
            <a:avLst/>
          </a:prstGeom>
        </p:spPr>
      </p:pic>
      <p:grpSp>
        <p:nvGrpSpPr>
          <p:cNvPr id="24" name="Group 4"/>
          <p:cNvGrpSpPr/>
          <p:nvPr/>
        </p:nvGrpSpPr>
        <p:grpSpPr>
          <a:xfrm>
            <a:off x="6459526" y="1993529"/>
            <a:ext cx="3511791" cy="3913394"/>
            <a:chOff x="3365076" y="1232597"/>
            <a:chExt cx="2745941" cy="3568877"/>
          </a:xfrm>
        </p:grpSpPr>
        <p:pic>
          <p:nvPicPr>
            <p:cNvPr id="25" name="Picture 4" descr="http://farm7.staticflickr.com/6198/6149648253_a3f453cb9e_z.jpg"/>
            <p:cNvPicPr>
              <a:picLocks noChangeAspect="1" noChangeArrowheads="1"/>
            </p:cNvPicPr>
            <p:nvPr/>
          </p:nvPicPr>
          <p:blipFill rotWithShape="1">
            <a:blip r:embed="rId6">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val="0"/>
                </a:ext>
              </a:extLst>
            </a:blip>
            <a:srcRect l="1" t="5733" r="18331" b="39762"/>
            <a:stretch/>
          </p:blipFill>
          <p:spPr bwMode="auto">
            <a:xfrm>
              <a:off x="3365076" y="1232597"/>
              <a:ext cx="2745941" cy="2746738"/>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 8"/>
            <p:cNvGrpSpPr/>
            <p:nvPr/>
          </p:nvGrpSpPr>
          <p:grpSpPr>
            <a:xfrm>
              <a:off x="3365076" y="3979336"/>
              <a:ext cx="2745941" cy="822138"/>
              <a:chOff x="3346615" y="4451875"/>
              <a:chExt cx="2745941" cy="822138"/>
            </a:xfrm>
          </p:grpSpPr>
          <p:sp>
            <p:nvSpPr>
              <p:cNvPr id="27" name="Rectangle 52"/>
              <p:cNvSpPr/>
              <p:nvPr/>
            </p:nvSpPr>
            <p:spPr bwMode="auto">
              <a:xfrm>
                <a:off x="3346615" y="4451875"/>
                <a:ext cx="2745941" cy="822138"/>
              </a:xfrm>
              <a:prstGeom prst="rect">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ctr" anchorCtr="0" compatLnSpc="1">
                <a:prstTxWarp prst="textNoShape">
                  <a:avLst/>
                </a:prstTxWarp>
              </a:bodyPr>
              <a:lstStyle/>
              <a:p>
                <a:pPr defTabSz="914008" fontAlgn="base">
                  <a:lnSpc>
                    <a:spcPct val="90000"/>
                  </a:lnSpc>
                  <a:spcBef>
                    <a:spcPct val="0"/>
                  </a:spcBef>
                  <a:spcAft>
                    <a:spcPct val="0"/>
                  </a:spcAft>
                </a:pPr>
                <a:r>
                  <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OneDrive</a:t>
                </a:r>
              </a:p>
            </p:txBody>
          </p:sp>
          <p:pic>
            <p:nvPicPr>
              <p:cNvPr id="28" name="Picture 71" descr="C:\Users\chrisw\Desktop\Cloud Services 3.png"/>
              <p:cNvPicPr>
                <a:picLocks noChangeAspect="1" noChangeArrowheads="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black">
              <a:xfrm>
                <a:off x="4936006" y="4538785"/>
                <a:ext cx="904219" cy="623474"/>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8" name="CaixaDeTexto 17"/>
          <p:cNvSpPr txBox="1"/>
          <p:nvPr/>
        </p:nvSpPr>
        <p:spPr>
          <a:xfrm>
            <a:off x="3313059" y="106238"/>
            <a:ext cx="3491020" cy="523220"/>
          </a:xfrm>
          <a:prstGeom prst="rect">
            <a:avLst/>
          </a:prstGeom>
          <a:noFill/>
        </p:spPr>
        <p:txBody>
          <a:bodyPr wrap="none" rtlCol="0">
            <a:spAutoFit/>
          </a:bodyPr>
          <a:lstStyle/>
          <a:p>
            <a:r>
              <a:rPr lang="pt-BR" sz="2800" dirty="0">
                <a:ln w="0"/>
                <a:solidFill>
                  <a:schemeClr val="bg1"/>
                </a:solidFill>
                <a:effectLst>
                  <a:outerShdw blurRad="38100" dist="19050" dir="2700000" algn="tl" rotWithShape="0">
                    <a:schemeClr val="dk1">
                      <a:alpha val="40000"/>
                    </a:schemeClr>
                  </a:outerShdw>
                </a:effectLst>
              </a:rPr>
              <a:t>Visão Geral - Produtos</a:t>
            </a:r>
          </a:p>
        </p:txBody>
      </p:sp>
      <p:sp>
        <p:nvSpPr>
          <p:cNvPr id="20" name="Rectangle 3"/>
          <p:cNvSpPr/>
          <p:nvPr>
            <p:custDataLst>
              <p:tags r:id="rId1"/>
            </p:custDataLst>
          </p:nvPr>
        </p:nvSpPr>
        <p:spPr bwMode="auto">
          <a:xfrm>
            <a:off x="413388" y="3176414"/>
            <a:ext cx="1896963" cy="1896963"/>
          </a:xfrm>
          <a:prstGeom prst="rect">
            <a:avLst/>
          </a:prstGeom>
          <a:solidFill>
            <a:schemeClr val="accent6"/>
          </a:solidFill>
          <a:ln>
            <a:solidFill>
              <a:schemeClr val="accent6"/>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OneDrive </a:t>
            </a:r>
          </a:p>
        </p:txBody>
      </p:sp>
      <p:sp>
        <p:nvSpPr>
          <p:cNvPr id="21" name="Rectangle 44"/>
          <p:cNvSpPr/>
          <p:nvPr/>
        </p:nvSpPr>
        <p:spPr bwMode="auto">
          <a:xfrm>
            <a:off x="3149859" y="3176414"/>
            <a:ext cx="1896963" cy="1896963"/>
          </a:xfrm>
          <a:prstGeom prst="rect">
            <a:avLst/>
          </a:prstGeom>
          <a:solidFill>
            <a:schemeClr val="bg1">
              <a:lumMod val="75000"/>
            </a:scheme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SharePoint</a:t>
            </a:r>
          </a:p>
        </p:txBody>
      </p:sp>
    </p:spTree>
    <p:extLst>
      <p:ext uri="{BB962C8B-B14F-4D97-AF65-F5344CB8AC3E}">
        <p14:creationId xmlns:p14="http://schemas.microsoft.com/office/powerpoint/2010/main" val="178244153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Effect transition="in" filter="fade">
                                      <p:cBhvr>
                                        <p:cTn id="9" dur="500"/>
                                        <p:tgtEl>
                                          <p:spTgt spid="24"/>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p:cTn id="13" dur="500" fill="hold"/>
                                        <p:tgtEl>
                                          <p:spTgt spid="21"/>
                                        </p:tgtEl>
                                        <p:attrNameLst>
                                          <p:attrName>ppt_w</p:attrName>
                                        </p:attrNameLst>
                                      </p:cBhvr>
                                      <p:tavLst>
                                        <p:tav tm="0">
                                          <p:val>
                                            <p:fltVal val="0"/>
                                          </p:val>
                                        </p:tav>
                                        <p:tav tm="100000">
                                          <p:val>
                                            <p:strVal val="#ppt_w"/>
                                          </p:val>
                                        </p:tav>
                                      </p:tavLst>
                                    </p:anim>
                                    <p:anim calcmode="lin" valueType="num">
                                      <p:cBhvr>
                                        <p:cTn id="14" dur="500" fill="hold"/>
                                        <p:tgtEl>
                                          <p:spTgt spid="21"/>
                                        </p:tgtEl>
                                        <p:attrNameLst>
                                          <p:attrName>ppt_h</p:attrName>
                                        </p:attrNameLst>
                                      </p:cBhvr>
                                      <p:tavLst>
                                        <p:tav tm="0">
                                          <p:val>
                                            <p:fltVal val="0"/>
                                          </p:val>
                                        </p:tav>
                                        <p:tav tm="100000">
                                          <p:val>
                                            <p:strVal val="#ppt_h"/>
                                          </p:val>
                                        </p:tav>
                                      </p:tavLst>
                                    </p:anim>
                                    <p:animEffect transition="in" filter="fade">
                                      <p:cBhvr>
                                        <p:cTn id="1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m 13"/>
          <p:cNvPicPr>
            <a:picLocks noChangeAspect="1"/>
          </p:cNvPicPr>
          <p:nvPr/>
        </p:nvPicPr>
        <p:blipFill>
          <a:blip r:embed="rId3"/>
          <a:stretch>
            <a:fillRect/>
          </a:stretch>
        </p:blipFill>
        <p:spPr>
          <a:xfrm>
            <a:off x="1996821" y="2904433"/>
            <a:ext cx="2696539" cy="2088964"/>
          </a:xfrm>
          <a:prstGeom prst="rect">
            <a:avLst/>
          </a:prstGeom>
        </p:spPr>
      </p:pic>
      <p:pic>
        <p:nvPicPr>
          <p:cNvPr id="17" name="Imagem 16"/>
          <p:cNvPicPr>
            <a:picLocks noChangeAspect="1"/>
          </p:cNvPicPr>
          <p:nvPr/>
        </p:nvPicPr>
        <p:blipFill>
          <a:blip r:embed="rId4"/>
          <a:stretch>
            <a:fillRect/>
          </a:stretch>
        </p:blipFill>
        <p:spPr>
          <a:xfrm>
            <a:off x="3037288" y="5087155"/>
            <a:ext cx="253849" cy="1007930"/>
          </a:xfrm>
          <a:prstGeom prst="rect">
            <a:avLst/>
          </a:prstGeom>
        </p:spPr>
      </p:pic>
      <p:pic>
        <p:nvPicPr>
          <p:cNvPr id="18" name="Imagem 17"/>
          <p:cNvPicPr>
            <a:picLocks noChangeAspect="1"/>
          </p:cNvPicPr>
          <p:nvPr/>
        </p:nvPicPr>
        <p:blipFill>
          <a:blip r:embed="rId4"/>
          <a:stretch>
            <a:fillRect/>
          </a:stretch>
        </p:blipFill>
        <p:spPr>
          <a:xfrm rot="10800000">
            <a:off x="2686816" y="5047361"/>
            <a:ext cx="253849" cy="1007930"/>
          </a:xfrm>
          <a:prstGeom prst="rect">
            <a:avLst/>
          </a:prstGeom>
        </p:spPr>
      </p:pic>
      <p:sp>
        <p:nvSpPr>
          <p:cNvPr id="20" name="CaixaDeTexto 19"/>
          <p:cNvSpPr txBox="1"/>
          <p:nvPr/>
        </p:nvSpPr>
        <p:spPr>
          <a:xfrm>
            <a:off x="2418322" y="3844092"/>
            <a:ext cx="1758955" cy="461665"/>
          </a:xfrm>
          <a:prstGeom prst="rect">
            <a:avLst/>
          </a:prstGeom>
          <a:noFill/>
        </p:spPr>
        <p:txBody>
          <a:bodyPr wrap="square" rtlCol="0">
            <a:spAutoFit/>
          </a:bodyPr>
          <a:lstStyle/>
          <a:p>
            <a:pPr algn="ctr"/>
            <a:r>
              <a:rPr lang="pt-BR" sz="1200" dirty="0"/>
              <a:t>Como um </a:t>
            </a:r>
            <a:r>
              <a:rPr lang="pt-BR" sz="1200" i="1" dirty="0" err="1"/>
              <a:t>Pendrive</a:t>
            </a:r>
            <a:r>
              <a:rPr lang="pt-BR" sz="1200" dirty="0"/>
              <a:t> </a:t>
            </a:r>
          </a:p>
          <a:p>
            <a:pPr algn="ctr"/>
            <a:r>
              <a:rPr lang="pt-BR" sz="1200" dirty="0"/>
              <a:t>Na nuvem</a:t>
            </a:r>
            <a:endParaRPr lang="en-US" sz="1200" dirty="0"/>
          </a:p>
        </p:txBody>
      </p:sp>
      <p:sp>
        <p:nvSpPr>
          <p:cNvPr id="21" name="CaixaDeTexto 20"/>
          <p:cNvSpPr txBox="1"/>
          <p:nvPr/>
        </p:nvSpPr>
        <p:spPr>
          <a:xfrm>
            <a:off x="327976" y="3481337"/>
            <a:ext cx="1692868" cy="461665"/>
          </a:xfrm>
          <a:prstGeom prst="rect">
            <a:avLst/>
          </a:prstGeom>
          <a:noFill/>
        </p:spPr>
        <p:txBody>
          <a:bodyPr wrap="square" rtlCol="0">
            <a:spAutoFit/>
          </a:bodyPr>
          <a:lstStyle/>
          <a:p>
            <a:pPr algn="ctr"/>
            <a:r>
              <a:rPr lang="pt-BR" sz="1200" dirty="0"/>
              <a:t>Pode armazenar coisas</a:t>
            </a:r>
          </a:p>
          <a:p>
            <a:pPr algn="ctr"/>
            <a:r>
              <a:rPr lang="pt-BR" sz="1200" dirty="0"/>
              <a:t>Como quiser...</a:t>
            </a:r>
            <a:endParaRPr lang="en-US" sz="1200" dirty="0"/>
          </a:p>
        </p:txBody>
      </p:sp>
      <p:pic>
        <p:nvPicPr>
          <p:cNvPr id="23" name="Imagem 22"/>
          <p:cNvPicPr>
            <a:picLocks noChangeAspect="1"/>
          </p:cNvPicPr>
          <p:nvPr/>
        </p:nvPicPr>
        <p:blipFill>
          <a:blip r:embed="rId5"/>
          <a:stretch>
            <a:fillRect/>
          </a:stretch>
        </p:blipFill>
        <p:spPr>
          <a:xfrm>
            <a:off x="786022" y="2295276"/>
            <a:ext cx="1078616" cy="771415"/>
          </a:xfrm>
          <a:prstGeom prst="rect">
            <a:avLst/>
          </a:prstGeom>
        </p:spPr>
      </p:pic>
      <p:pic>
        <p:nvPicPr>
          <p:cNvPr id="24" name="Imagem 23"/>
          <p:cNvPicPr>
            <a:picLocks noChangeAspect="1"/>
          </p:cNvPicPr>
          <p:nvPr/>
        </p:nvPicPr>
        <p:blipFill>
          <a:blip r:embed="rId6"/>
          <a:stretch>
            <a:fillRect/>
          </a:stretch>
        </p:blipFill>
        <p:spPr>
          <a:xfrm>
            <a:off x="2784002" y="1704694"/>
            <a:ext cx="716802" cy="839682"/>
          </a:xfrm>
          <a:prstGeom prst="rect">
            <a:avLst/>
          </a:prstGeom>
        </p:spPr>
      </p:pic>
      <p:pic>
        <p:nvPicPr>
          <p:cNvPr id="25" name="Imagem 24"/>
          <p:cNvPicPr>
            <a:picLocks noChangeAspect="1"/>
          </p:cNvPicPr>
          <p:nvPr/>
        </p:nvPicPr>
        <p:blipFill>
          <a:blip r:embed="rId7"/>
          <a:stretch>
            <a:fillRect/>
          </a:stretch>
        </p:blipFill>
        <p:spPr>
          <a:xfrm>
            <a:off x="4213922" y="2264683"/>
            <a:ext cx="662188" cy="689495"/>
          </a:xfrm>
          <a:prstGeom prst="rect">
            <a:avLst/>
          </a:prstGeom>
        </p:spPr>
      </p:pic>
      <p:pic>
        <p:nvPicPr>
          <p:cNvPr id="26" name="Imagem 25"/>
          <p:cNvPicPr>
            <a:picLocks noChangeAspect="1"/>
          </p:cNvPicPr>
          <p:nvPr/>
        </p:nvPicPr>
        <p:blipFill>
          <a:blip r:embed="rId8"/>
          <a:stretch>
            <a:fillRect/>
          </a:stretch>
        </p:blipFill>
        <p:spPr>
          <a:xfrm>
            <a:off x="1531736" y="2840411"/>
            <a:ext cx="525654" cy="505174"/>
          </a:xfrm>
          <a:prstGeom prst="rect">
            <a:avLst/>
          </a:prstGeom>
        </p:spPr>
      </p:pic>
      <p:pic>
        <p:nvPicPr>
          <p:cNvPr id="27" name="Imagem 26"/>
          <p:cNvPicPr>
            <a:picLocks noChangeAspect="1"/>
          </p:cNvPicPr>
          <p:nvPr/>
        </p:nvPicPr>
        <p:blipFill>
          <a:blip r:embed="rId9"/>
          <a:stretch>
            <a:fillRect/>
          </a:stretch>
        </p:blipFill>
        <p:spPr>
          <a:xfrm>
            <a:off x="2985118" y="2455188"/>
            <a:ext cx="279894" cy="587095"/>
          </a:xfrm>
          <a:prstGeom prst="rect">
            <a:avLst/>
          </a:prstGeom>
        </p:spPr>
      </p:pic>
      <p:pic>
        <p:nvPicPr>
          <p:cNvPr id="28" name="Imagem 27"/>
          <p:cNvPicPr>
            <a:picLocks noChangeAspect="1"/>
          </p:cNvPicPr>
          <p:nvPr/>
        </p:nvPicPr>
        <p:blipFill>
          <a:blip r:embed="rId10"/>
          <a:stretch>
            <a:fillRect/>
          </a:stretch>
        </p:blipFill>
        <p:spPr>
          <a:xfrm>
            <a:off x="4177278" y="2830578"/>
            <a:ext cx="416428" cy="539308"/>
          </a:xfrm>
          <a:prstGeom prst="rect">
            <a:avLst/>
          </a:prstGeom>
        </p:spPr>
      </p:pic>
      <p:sp>
        <p:nvSpPr>
          <p:cNvPr id="30" name="CaixaDeTexto 29"/>
          <p:cNvSpPr txBox="1"/>
          <p:nvPr/>
        </p:nvSpPr>
        <p:spPr>
          <a:xfrm rot="20388185">
            <a:off x="806199" y="2178377"/>
            <a:ext cx="699211" cy="246221"/>
          </a:xfrm>
          <a:prstGeom prst="rect">
            <a:avLst/>
          </a:prstGeom>
          <a:noFill/>
        </p:spPr>
        <p:txBody>
          <a:bodyPr wrap="square" rtlCol="0">
            <a:spAutoFit/>
          </a:bodyPr>
          <a:lstStyle/>
          <a:p>
            <a:pPr algn="ctr"/>
            <a:r>
              <a:rPr lang="pt-BR" sz="1000" dirty="0"/>
              <a:t>PASTAS</a:t>
            </a:r>
            <a:endParaRPr lang="en-US" sz="1000" dirty="0"/>
          </a:p>
        </p:txBody>
      </p:sp>
      <p:sp>
        <p:nvSpPr>
          <p:cNvPr id="31" name="CaixaDeTexto 30"/>
          <p:cNvSpPr txBox="1"/>
          <p:nvPr/>
        </p:nvSpPr>
        <p:spPr>
          <a:xfrm rot="21079820">
            <a:off x="2583590" y="1467589"/>
            <a:ext cx="968871" cy="246221"/>
          </a:xfrm>
          <a:prstGeom prst="rect">
            <a:avLst/>
          </a:prstGeom>
          <a:noFill/>
        </p:spPr>
        <p:txBody>
          <a:bodyPr wrap="square" rtlCol="0">
            <a:spAutoFit/>
          </a:bodyPr>
          <a:lstStyle/>
          <a:p>
            <a:pPr algn="ctr"/>
            <a:r>
              <a:rPr lang="pt-BR" sz="1000" dirty="0"/>
              <a:t>DOCUMENTOS</a:t>
            </a:r>
            <a:endParaRPr lang="en-US" sz="1000" dirty="0"/>
          </a:p>
        </p:txBody>
      </p:sp>
      <p:sp>
        <p:nvSpPr>
          <p:cNvPr id="32" name="CaixaDeTexto 31"/>
          <p:cNvSpPr txBox="1"/>
          <p:nvPr/>
        </p:nvSpPr>
        <p:spPr>
          <a:xfrm rot="801430">
            <a:off x="4386595" y="2165764"/>
            <a:ext cx="738615" cy="246221"/>
          </a:xfrm>
          <a:prstGeom prst="rect">
            <a:avLst/>
          </a:prstGeom>
          <a:noFill/>
        </p:spPr>
        <p:txBody>
          <a:bodyPr wrap="square" rtlCol="0">
            <a:spAutoFit/>
          </a:bodyPr>
          <a:lstStyle/>
          <a:p>
            <a:pPr algn="ctr"/>
            <a:r>
              <a:rPr lang="pt-BR" sz="1000" dirty="0"/>
              <a:t>FOTOS</a:t>
            </a:r>
            <a:endParaRPr lang="en-US" sz="1000" dirty="0"/>
          </a:p>
        </p:txBody>
      </p:sp>
      <p:sp>
        <p:nvSpPr>
          <p:cNvPr id="33" name="CaixaDeTexto 32"/>
          <p:cNvSpPr txBox="1"/>
          <p:nvPr/>
        </p:nvSpPr>
        <p:spPr>
          <a:xfrm>
            <a:off x="3320088" y="5353987"/>
            <a:ext cx="824384" cy="246221"/>
          </a:xfrm>
          <a:prstGeom prst="rect">
            <a:avLst/>
          </a:prstGeom>
          <a:noFill/>
        </p:spPr>
        <p:txBody>
          <a:bodyPr wrap="square" rtlCol="0">
            <a:spAutoFit/>
          </a:bodyPr>
          <a:lstStyle/>
          <a:p>
            <a:pPr algn="ctr"/>
            <a:r>
              <a:rPr lang="pt-BR" sz="1000" dirty="0"/>
              <a:t>COPIAR</a:t>
            </a:r>
            <a:endParaRPr lang="en-US" sz="1000" dirty="0"/>
          </a:p>
        </p:txBody>
      </p:sp>
      <p:pic>
        <p:nvPicPr>
          <p:cNvPr id="34" name="Imagem 33"/>
          <p:cNvPicPr>
            <a:picLocks noChangeAspect="1"/>
          </p:cNvPicPr>
          <p:nvPr/>
        </p:nvPicPr>
        <p:blipFill>
          <a:blip r:embed="rId5"/>
          <a:stretch>
            <a:fillRect/>
          </a:stretch>
        </p:blipFill>
        <p:spPr>
          <a:xfrm rot="1192862">
            <a:off x="2742675" y="6039658"/>
            <a:ext cx="712764" cy="509762"/>
          </a:xfrm>
          <a:prstGeom prst="rect">
            <a:avLst/>
          </a:prstGeom>
        </p:spPr>
      </p:pic>
      <p:sp>
        <p:nvSpPr>
          <p:cNvPr id="35" name="CaixaDeTexto 34"/>
          <p:cNvSpPr txBox="1"/>
          <p:nvPr/>
        </p:nvSpPr>
        <p:spPr>
          <a:xfrm>
            <a:off x="2951112" y="6140355"/>
            <a:ext cx="1329531" cy="400110"/>
          </a:xfrm>
          <a:prstGeom prst="rect">
            <a:avLst/>
          </a:prstGeom>
          <a:noFill/>
        </p:spPr>
        <p:txBody>
          <a:bodyPr wrap="square" rtlCol="0">
            <a:spAutoFit/>
          </a:bodyPr>
          <a:lstStyle/>
          <a:p>
            <a:pPr algn="ctr"/>
            <a:r>
              <a:rPr lang="pt-BR" sz="1000" dirty="0"/>
              <a:t>PASTAS</a:t>
            </a:r>
          </a:p>
          <a:p>
            <a:pPr algn="ctr"/>
            <a:r>
              <a:rPr lang="pt-BR" sz="1000" dirty="0"/>
              <a:t>LOCAIS</a:t>
            </a:r>
            <a:endParaRPr lang="en-US" sz="1000" dirty="0"/>
          </a:p>
        </p:txBody>
      </p:sp>
      <p:pic>
        <p:nvPicPr>
          <p:cNvPr id="36" name="Imagem 35"/>
          <p:cNvPicPr>
            <a:picLocks noChangeAspect="1"/>
          </p:cNvPicPr>
          <p:nvPr/>
        </p:nvPicPr>
        <p:blipFill>
          <a:blip r:embed="rId11"/>
          <a:stretch>
            <a:fillRect/>
          </a:stretch>
        </p:blipFill>
        <p:spPr>
          <a:xfrm>
            <a:off x="1654079" y="5831826"/>
            <a:ext cx="832855" cy="675841"/>
          </a:xfrm>
          <a:prstGeom prst="rect">
            <a:avLst/>
          </a:prstGeom>
        </p:spPr>
      </p:pic>
      <p:sp>
        <p:nvSpPr>
          <p:cNvPr id="37" name="CaixaDeTexto 36"/>
          <p:cNvSpPr txBox="1"/>
          <p:nvPr/>
        </p:nvSpPr>
        <p:spPr>
          <a:xfrm>
            <a:off x="842516" y="5942443"/>
            <a:ext cx="1051975" cy="400110"/>
          </a:xfrm>
          <a:prstGeom prst="rect">
            <a:avLst/>
          </a:prstGeom>
          <a:noFill/>
        </p:spPr>
        <p:txBody>
          <a:bodyPr wrap="square" rtlCol="0">
            <a:spAutoFit/>
          </a:bodyPr>
          <a:lstStyle/>
          <a:p>
            <a:pPr algn="ctr"/>
            <a:r>
              <a:rPr lang="pt-BR" sz="1000" i="1" dirty="0" err="1"/>
              <a:t>Client</a:t>
            </a:r>
            <a:r>
              <a:rPr lang="pt-BR" sz="1000" dirty="0"/>
              <a:t> do </a:t>
            </a:r>
          </a:p>
          <a:p>
            <a:pPr algn="ctr"/>
            <a:r>
              <a:rPr lang="pt-BR" sz="1000" dirty="0"/>
              <a:t>ONEDRIVE</a:t>
            </a:r>
            <a:endParaRPr lang="en-US" sz="1000" dirty="0"/>
          </a:p>
        </p:txBody>
      </p:sp>
      <p:sp>
        <p:nvSpPr>
          <p:cNvPr id="38" name="CaixaDeTexto 37"/>
          <p:cNvSpPr txBox="1"/>
          <p:nvPr/>
        </p:nvSpPr>
        <p:spPr>
          <a:xfrm>
            <a:off x="2411589" y="4712188"/>
            <a:ext cx="1497490" cy="246221"/>
          </a:xfrm>
          <a:prstGeom prst="rect">
            <a:avLst/>
          </a:prstGeom>
          <a:noFill/>
        </p:spPr>
        <p:txBody>
          <a:bodyPr wrap="square" rtlCol="0">
            <a:spAutoFit/>
          </a:bodyPr>
          <a:lstStyle/>
          <a:p>
            <a:pPr algn="ctr"/>
            <a:r>
              <a:rPr lang="pt-BR" sz="1000" dirty="0"/>
              <a:t>HTTP://ONEDRIVE.COM</a:t>
            </a:r>
            <a:endParaRPr lang="en-US" sz="1000" dirty="0"/>
          </a:p>
        </p:txBody>
      </p:sp>
      <p:sp>
        <p:nvSpPr>
          <p:cNvPr id="39" name="CaixaDeTexto 38"/>
          <p:cNvSpPr txBox="1"/>
          <p:nvPr/>
        </p:nvSpPr>
        <p:spPr>
          <a:xfrm>
            <a:off x="1426487" y="5119352"/>
            <a:ext cx="1214471" cy="553998"/>
          </a:xfrm>
          <a:prstGeom prst="rect">
            <a:avLst/>
          </a:prstGeom>
          <a:noFill/>
        </p:spPr>
        <p:txBody>
          <a:bodyPr wrap="square" rtlCol="0">
            <a:spAutoFit/>
          </a:bodyPr>
          <a:lstStyle/>
          <a:p>
            <a:pPr algn="ctr"/>
            <a:r>
              <a:rPr lang="pt-BR" sz="1000" dirty="0"/>
              <a:t>Sincroniza as alterações</a:t>
            </a:r>
          </a:p>
          <a:p>
            <a:pPr algn="ctr"/>
            <a:r>
              <a:rPr lang="pt-BR" sz="1000" dirty="0"/>
              <a:t>bidireccionalmente</a:t>
            </a:r>
            <a:endParaRPr lang="en-US" sz="1000" dirty="0"/>
          </a:p>
        </p:txBody>
      </p:sp>
      <p:pic>
        <p:nvPicPr>
          <p:cNvPr id="40" name="Imagem 39"/>
          <p:cNvPicPr>
            <a:picLocks noChangeAspect="1"/>
          </p:cNvPicPr>
          <p:nvPr/>
        </p:nvPicPr>
        <p:blipFill>
          <a:blip r:embed="rId12"/>
          <a:stretch>
            <a:fillRect/>
          </a:stretch>
        </p:blipFill>
        <p:spPr>
          <a:xfrm>
            <a:off x="4995665" y="3263688"/>
            <a:ext cx="1467737" cy="730455"/>
          </a:xfrm>
          <a:prstGeom prst="rect">
            <a:avLst/>
          </a:prstGeom>
        </p:spPr>
      </p:pic>
      <p:sp>
        <p:nvSpPr>
          <p:cNvPr id="41" name="CaixaDeTexto 40"/>
          <p:cNvSpPr txBox="1"/>
          <p:nvPr/>
        </p:nvSpPr>
        <p:spPr>
          <a:xfrm>
            <a:off x="5091783" y="4120374"/>
            <a:ext cx="1546101" cy="400110"/>
          </a:xfrm>
          <a:prstGeom prst="rect">
            <a:avLst/>
          </a:prstGeom>
          <a:noFill/>
        </p:spPr>
        <p:txBody>
          <a:bodyPr wrap="square" rtlCol="0">
            <a:spAutoFit/>
          </a:bodyPr>
          <a:lstStyle/>
          <a:p>
            <a:pPr algn="ctr"/>
            <a:r>
              <a:rPr lang="pt-BR" sz="1000" dirty="0"/>
              <a:t>Mais sobre o</a:t>
            </a:r>
          </a:p>
          <a:p>
            <a:pPr algn="ctr"/>
            <a:r>
              <a:rPr lang="pt-BR" sz="1000" dirty="0"/>
              <a:t>ONEDRIVE...</a:t>
            </a:r>
            <a:endParaRPr lang="en-US" sz="1000" dirty="0"/>
          </a:p>
        </p:txBody>
      </p:sp>
      <p:grpSp>
        <p:nvGrpSpPr>
          <p:cNvPr id="42" name="Grupo 41"/>
          <p:cNvGrpSpPr/>
          <p:nvPr/>
        </p:nvGrpSpPr>
        <p:grpSpPr>
          <a:xfrm>
            <a:off x="6292186" y="2370240"/>
            <a:ext cx="966931" cy="961400"/>
            <a:chOff x="7079630" y="309093"/>
            <a:chExt cx="1349121" cy="2191240"/>
          </a:xfrm>
        </p:grpSpPr>
        <p:pic>
          <p:nvPicPr>
            <p:cNvPr id="43" name="Imagem 42"/>
            <p:cNvPicPr>
              <a:picLocks noChangeAspect="1"/>
            </p:cNvPicPr>
            <p:nvPr/>
          </p:nvPicPr>
          <p:blipFill>
            <a:blip r:embed="rId13"/>
            <a:stretch>
              <a:fillRect/>
            </a:stretch>
          </p:blipFill>
          <p:spPr>
            <a:xfrm>
              <a:off x="7336865" y="309093"/>
              <a:ext cx="866775" cy="1371600"/>
            </a:xfrm>
            <a:prstGeom prst="rect">
              <a:avLst/>
            </a:prstGeom>
          </p:spPr>
        </p:pic>
        <p:sp>
          <p:nvSpPr>
            <p:cNvPr id="44" name="CaixaDeTexto 43"/>
            <p:cNvSpPr txBox="1"/>
            <p:nvPr/>
          </p:nvSpPr>
          <p:spPr>
            <a:xfrm>
              <a:off x="7079630" y="1588395"/>
              <a:ext cx="1349121" cy="911938"/>
            </a:xfrm>
            <a:prstGeom prst="rect">
              <a:avLst/>
            </a:prstGeom>
            <a:noFill/>
          </p:spPr>
          <p:txBody>
            <a:bodyPr wrap="none" rtlCol="0">
              <a:spAutoFit/>
            </a:bodyPr>
            <a:lstStyle/>
            <a:p>
              <a:pPr algn="ctr"/>
              <a:r>
                <a:rPr lang="pt-BR" sz="1000" dirty="0"/>
                <a:t>Destinado aos </a:t>
              </a:r>
            </a:p>
            <a:p>
              <a:pPr algn="ctr"/>
              <a:r>
                <a:rPr lang="pt-BR" sz="1000" dirty="0"/>
                <a:t>consumidores</a:t>
              </a:r>
              <a:endParaRPr lang="en-US" sz="1000" dirty="0"/>
            </a:p>
          </p:txBody>
        </p:sp>
      </p:grpSp>
      <p:grpSp>
        <p:nvGrpSpPr>
          <p:cNvPr id="46" name="Grupo 45"/>
          <p:cNvGrpSpPr/>
          <p:nvPr/>
        </p:nvGrpSpPr>
        <p:grpSpPr>
          <a:xfrm>
            <a:off x="7669473" y="2599911"/>
            <a:ext cx="1369286" cy="665187"/>
            <a:chOff x="8599834" y="917686"/>
            <a:chExt cx="1910513" cy="1516106"/>
          </a:xfrm>
        </p:grpSpPr>
        <p:pic>
          <p:nvPicPr>
            <p:cNvPr id="47" name="Imagem 46"/>
            <p:cNvPicPr>
              <a:picLocks noChangeAspect="1"/>
            </p:cNvPicPr>
            <p:nvPr/>
          </p:nvPicPr>
          <p:blipFill>
            <a:blip r:embed="rId14"/>
            <a:stretch>
              <a:fillRect/>
            </a:stretch>
          </p:blipFill>
          <p:spPr>
            <a:xfrm>
              <a:off x="8849731" y="917686"/>
              <a:ext cx="1266825" cy="695325"/>
            </a:xfrm>
            <a:prstGeom prst="rect">
              <a:avLst/>
            </a:prstGeom>
          </p:spPr>
        </p:pic>
        <p:sp>
          <p:nvSpPr>
            <p:cNvPr id="48" name="CaixaDeTexto 47"/>
            <p:cNvSpPr txBox="1"/>
            <p:nvPr/>
          </p:nvSpPr>
          <p:spPr>
            <a:xfrm>
              <a:off x="8599834" y="1521854"/>
              <a:ext cx="1910513" cy="911938"/>
            </a:xfrm>
            <a:prstGeom prst="rect">
              <a:avLst/>
            </a:prstGeom>
            <a:noFill/>
          </p:spPr>
          <p:txBody>
            <a:bodyPr wrap="none" rtlCol="0">
              <a:spAutoFit/>
            </a:bodyPr>
            <a:lstStyle/>
            <a:p>
              <a:pPr algn="ctr"/>
              <a:r>
                <a:rPr lang="pt-BR" sz="1000" dirty="0"/>
                <a:t>Você pode armazenar </a:t>
              </a:r>
            </a:p>
            <a:p>
              <a:pPr algn="ctr"/>
              <a:r>
                <a:rPr lang="pt-BR" sz="1000" dirty="0"/>
                <a:t>1TB </a:t>
              </a:r>
              <a:endParaRPr lang="en-US" sz="1000" dirty="0"/>
            </a:p>
          </p:txBody>
        </p:sp>
      </p:grpSp>
      <p:grpSp>
        <p:nvGrpSpPr>
          <p:cNvPr id="52" name="Grupo 51"/>
          <p:cNvGrpSpPr/>
          <p:nvPr/>
        </p:nvGrpSpPr>
        <p:grpSpPr>
          <a:xfrm>
            <a:off x="4794651" y="5237486"/>
            <a:ext cx="1374094" cy="786556"/>
            <a:chOff x="6767682" y="3603200"/>
            <a:chExt cx="1917219" cy="1792731"/>
          </a:xfrm>
        </p:grpSpPr>
        <p:pic>
          <p:nvPicPr>
            <p:cNvPr id="53" name="Imagem 52"/>
            <p:cNvPicPr>
              <a:picLocks noChangeAspect="1"/>
            </p:cNvPicPr>
            <p:nvPr/>
          </p:nvPicPr>
          <p:blipFill>
            <a:blip r:embed="rId15"/>
            <a:stretch>
              <a:fillRect/>
            </a:stretch>
          </p:blipFill>
          <p:spPr>
            <a:xfrm>
              <a:off x="7205797" y="3603200"/>
              <a:ext cx="1000125" cy="733425"/>
            </a:xfrm>
            <a:prstGeom prst="rect">
              <a:avLst/>
            </a:prstGeom>
          </p:spPr>
        </p:pic>
        <p:sp>
          <p:nvSpPr>
            <p:cNvPr id="54" name="CaixaDeTexto 53"/>
            <p:cNvSpPr txBox="1"/>
            <p:nvPr/>
          </p:nvSpPr>
          <p:spPr>
            <a:xfrm>
              <a:off x="6767682" y="4483994"/>
              <a:ext cx="1917219" cy="911937"/>
            </a:xfrm>
            <a:prstGeom prst="rect">
              <a:avLst/>
            </a:prstGeom>
            <a:noFill/>
          </p:spPr>
          <p:txBody>
            <a:bodyPr wrap="none" rtlCol="0">
              <a:spAutoFit/>
            </a:bodyPr>
            <a:lstStyle/>
            <a:p>
              <a:pPr algn="ctr"/>
              <a:r>
                <a:rPr lang="pt-BR" sz="1000" dirty="0"/>
                <a:t>Pode facilmente</a:t>
              </a:r>
            </a:p>
            <a:p>
              <a:pPr algn="ctr"/>
              <a:r>
                <a:rPr lang="pt-BR" sz="1000" dirty="0"/>
                <a:t>Compartilhar arquivos</a:t>
              </a:r>
              <a:endParaRPr lang="en-US" sz="1000" dirty="0"/>
            </a:p>
          </p:txBody>
        </p:sp>
      </p:grpSp>
      <p:grpSp>
        <p:nvGrpSpPr>
          <p:cNvPr id="55" name="Grupo 54"/>
          <p:cNvGrpSpPr/>
          <p:nvPr/>
        </p:nvGrpSpPr>
        <p:grpSpPr>
          <a:xfrm>
            <a:off x="6637884" y="5176105"/>
            <a:ext cx="1713932" cy="1051808"/>
            <a:chOff x="8486045" y="3295717"/>
            <a:chExt cx="2391382" cy="2397297"/>
          </a:xfrm>
        </p:grpSpPr>
        <p:pic>
          <p:nvPicPr>
            <p:cNvPr id="56" name="Imagem 55"/>
            <p:cNvPicPr>
              <a:picLocks noChangeAspect="1"/>
            </p:cNvPicPr>
            <p:nvPr/>
          </p:nvPicPr>
          <p:blipFill>
            <a:blip r:embed="rId16"/>
            <a:stretch>
              <a:fillRect/>
            </a:stretch>
          </p:blipFill>
          <p:spPr>
            <a:xfrm>
              <a:off x="9153323" y="3295717"/>
              <a:ext cx="942975" cy="962025"/>
            </a:xfrm>
            <a:prstGeom prst="rect">
              <a:avLst/>
            </a:prstGeom>
          </p:spPr>
        </p:pic>
        <p:sp>
          <p:nvSpPr>
            <p:cNvPr id="57" name="CaixaDeTexto 56"/>
            <p:cNvSpPr txBox="1"/>
            <p:nvPr/>
          </p:nvSpPr>
          <p:spPr>
            <a:xfrm>
              <a:off x="8486045" y="4430333"/>
              <a:ext cx="2391382" cy="1262681"/>
            </a:xfrm>
            <a:prstGeom prst="rect">
              <a:avLst/>
            </a:prstGeom>
            <a:noFill/>
          </p:spPr>
          <p:txBody>
            <a:bodyPr wrap="none" rtlCol="0">
              <a:spAutoFit/>
            </a:bodyPr>
            <a:lstStyle/>
            <a:p>
              <a:pPr algn="ctr"/>
              <a:r>
                <a:rPr lang="pt-BR" sz="1000" dirty="0"/>
                <a:t>Pode utilizar o ONEDRIVE</a:t>
              </a:r>
            </a:p>
            <a:p>
              <a:pPr algn="ctr"/>
              <a:r>
                <a:rPr lang="pt-BR" sz="1000" dirty="0"/>
                <a:t>APP em qualquer dispositivo</a:t>
              </a:r>
              <a:br>
                <a:rPr lang="pt-BR" sz="1000" dirty="0"/>
              </a:br>
              <a:r>
                <a:rPr lang="pt-BR" sz="1000" dirty="0"/>
                <a:t>móvel</a:t>
              </a:r>
              <a:endParaRPr lang="en-US" sz="1000" dirty="0"/>
            </a:p>
          </p:txBody>
        </p:sp>
      </p:grpSp>
      <p:grpSp>
        <p:nvGrpSpPr>
          <p:cNvPr id="58" name="Grupo 57"/>
          <p:cNvGrpSpPr/>
          <p:nvPr/>
        </p:nvGrpSpPr>
        <p:grpSpPr>
          <a:xfrm>
            <a:off x="8709914" y="5362767"/>
            <a:ext cx="1058303" cy="1094774"/>
            <a:chOff x="10784440" y="3520628"/>
            <a:chExt cx="1476607" cy="2495225"/>
          </a:xfrm>
        </p:grpSpPr>
        <p:pic>
          <p:nvPicPr>
            <p:cNvPr id="59" name="Imagem 58"/>
            <p:cNvPicPr>
              <a:picLocks noChangeAspect="1"/>
            </p:cNvPicPr>
            <p:nvPr/>
          </p:nvPicPr>
          <p:blipFill>
            <a:blip r:embed="rId17"/>
            <a:stretch>
              <a:fillRect/>
            </a:stretch>
          </p:blipFill>
          <p:spPr>
            <a:xfrm>
              <a:off x="11030286" y="3520628"/>
              <a:ext cx="923925" cy="666750"/>
            </a:xfrm>
            <a:prstGeom prst="rect">
              <a:avLst/>
            </a:prstGeom>
          </p:spPr>
        </p:pic>
        <p:sp>
          <p:nvSpPr>
            <p:cNvPr id="60" name="CaixaDeTexto 59"/>
            <p:cNvSpPr txBox="1"/>
            <p:nvPr/>
          </p:nvSpPr>
          <p:spPr>
            <a:xfrm>
              <a:off x="10784440" y="4402429"/>
              <a:ext cx="1476607" cy="1613424"/>
            </a:xfrm>
            <a:prstGeom prst="rect">
              <a:avLst/>
            </a:prstGeom>
            <a:noFill/>
          </p:spPr>
          <p:txBody>
            <a:bodyPr wrap="none" rtlCol="0">
              <a:spAutoFit/>
            </a:bodyPr>
            <a:lstStyle/>
            <a:p>
              <a:pPr algn="ctr"/>
              <a:r>
                <a:rPr lang="pt-BR" sz="1000" dirty="0"/>
                <a:t>Pode escolher as</a:t>
              </a:r>
            </a:p>
            <a:p>
              <a:pPr algn="ctr"/>
              <a:r>
                <a:rPr lang="pt-BR" sz="1000" dirty="0"/>
                <a:t>pastas à serem</a:t>
              </a:r>
            </a:p>
            <a:p>
              <a:pPr algn="ctr"/>
              <a:r>
                <a:rPr lang="pt-BR" sz="1000" dirty="0"/>
                <a:t>sincronizadas</a:t>
              </a:r>
            </a:p>
            <a:p>
              <a:pPr algn="ctr"/>
              <a:r>
                <a:rPr lang="pt-BR" sz="1000" dirty="0"/>
                <a:t>localmente</a:t>
              </a:r>
              <a:endParaRPr lang="en-US" sz="1000" dirty="0"/>
            </a:p>
          </p:txBody>
        </p:sp>
      </p:grpSp>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3" name="Picture 5"/>
          <p:cNvPicPr>
            <a:picLocks noChangeAspect="1"/>
          </p:cNvPicPr>
          <p:nvPr/>
        </p:nvPicPr>
        <p:blipFill>
          <a:blip r:embed="rId18"/>
          <a:stretch>
            <a:fillRect/>
          </a:stretch>
        </p:blipFill>
        <p:spPr>
          <a:xfrm>
            <a:off x="9092707" y="129598"/>
            <a:ext cx="933147" cy="334448"/>
          </a:xfrm>
          <a:prstGeom prst="rect">
            <a:avLst/>
          </a:prstGeom>
        </p:spPr>
      </p:pic>
      <p:sp>
        <p:nvSpPr>
          <p:cNvPr id="64" name="Rectangle 2"/>
          <p:cNvSpPr/>
          <p:nvPr/>
        </p:nvSpPr>
        <p:spPr>
          <a:xfrm>
            <a:off x="558530" y="942986"/>
            <a:ext cx="8846727" cy="384373"/>
          </a:xfrm>
          <a:prstGeom prst="rect">
            <a:avLst/>
          </a:prstGeom>
        </p:spPr>
        <p:txBody>
          <a:bodyPr wrap="square" lIns="75848" tIns="37928" rIns="75848" bIns="37928">
            <a:spAutoFit/>
          </a:bodyPr>
          <a:lstStyle/>
          <a:p>
            <a:pPr defTabSz="758379"/>
            <a:r>
              <a:rPr lang="en-US" sz="2000" b="1" spc="-83" dirty="0">
                <a:ln w="3175">
                  <a:noFill/>
                </a:ln>
                <a:solidFill>
                  <a:schemeClr val="accent6"/>
                </a:solidFill>
                <a:cs typeface="Arial" charset="0"/>
              </a:rPr>
              <a:t>O que é OneDrive?</a:t>
            </a:r>
            <a:endParaRPr lang="en-US" sz="2000" dirty="0">
              <a:solidFill>
                <a:schemeClr val="accent6"/>
              </a:solidFill>
            </a:endParaRPr>
          </a:p>
        </p:txBody>
      </p:sp>
      <p:sp>
        <p:nvSpPr>
          <p:cNvPr id="45" name="CaixaDeTexto 44"/>
          <p:cNvSpPr txBox="1"/>
          <p:nvPr/>
        </p:nvSpPr>
        <p:spPr>
          <a:xfrm>
            <a:off x="2967933" y="106238"/>
            <a:ext cx="4991495" cy="523220"/>
          </a:xfrm>
          <a:prstGeom prst="rect">
            <a:avLst/>
          </a:prstGeom>
          <a:noFill/>
        </p:spPr>
        <p:txBody>
          <a:bodyPr wrap="none" rtlCol="0">
            <a:spAutoFit/>
          </a:bodyPr>
          <a:lstStyle/>
          <a:p>
            <a:r>
              <a:rPr lang="pt-BR" sz="2800" dirty="0">
                <a:ln w="0"/>
                <a:solidFill>
                  <a:schemeClr val="bg1"/>
                </a:solidFill>
                <a:effectLst>
                  <a:outerShdw blurRad="38100" dist="19050" dir="2700000" algn="tl" rotWithShape="0">
                    <a:schemeClr val="dk1">
                      <a:alpha val="40000"/>
                    </a:schemeClr>
                  </a:outerShdw>
                </a:effectLst>
              </a:rPr>
              <a:t>Visão Geral OneDrive e utilização</a:t>
            </a:r>
          </a:p>
        </p:txBody>
      </p:sp>
    </p:spTree>
    <p:extLst>
      <p:ext uri="{BB962C8B-B14F-4D97-AF65-F5344CB8AC3E}">
        <p14:creationId xmlns:p14="http://schemas.microsoft.com/office/powerpoint/2010/main" val="151781337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7"/>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20"/>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23"/>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25"/>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27"/>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nodeType="after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30"/>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grpId="0" nodeType="after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33"/>
                                        </p:tgtEl>
                                        <p:attrNameLst>
                                          <p:attrName>style.visibility</p:attrName>
                                        </p:attrNameLst>
                                      </p:cBhvr>
                                      <p:to>
                                        <p:strVal val="visible"/>
                                      </p:to>
                                    </p:set>
                                  </p:childTnLst>
                                </p:cTn>
                              </p:par>
                            </p:childTnLst>
                          </p:cTn>
                        </p:par>
                        <p:par>
                          <p:cTn id="46" fill="hold">
                            <p:stCondLst>
                              <p:cond delay="0"/>
                            </p:stCondLst>
                            <p:childTnLst>
                              <p:par>
                                <p:cTn id="47" presetID="1" presetClass="entr" presetSubtype="0" fill="hold" nodeType="after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grpId="0" nodeType="afterEffect">
                                  <p:stCondLst>
                                    <p:cond delay="0"/>
                                  </p:stCondLst>
                                  <p:childTnLst>
                                    <p:set>
                                      <p:cBhvr>
                                        <p:cTn id="51" dur="1" fill="hold">
                                          <p:stCondLst>
                                            <p:cond delay="0"/>
                                          </p:stCondLst>
                                        </p:cTn>
                                        <p:tgtEl>
                                          <p:spTgt spid="35"/>
                                        </p:tgtEl>
                                        <p:attrNameLst>
                                          <p:attrName>style.visibility</p:attrName>
                                        </p:attrNameLst>
                                      </p:cBhvr>
                                      <p:to>
                                        <p:strVal val="visible"/>
                                      </p:to>
                                    </p:set>
                                  </p:childTnLst>
                                </p:cTn>
                              </p:par>
                            </p:childTnLst>
                          </p:cTn>
                        </p:par>
                        <p:par>
                          <p:cTn id="52" fill="hold">
                            <p:stCondLst>
                              <p:cond delay="0"/>
                            </p:stCondLst>
                            <p:childTnLst>
                              <p:par>
                                <p:cTn id="53" presetID="1" presetClass="entr" presetSubtype="0" fill="hold" nodeType="after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childTnLst>
                          </p:cTn>
                        </p:par>
                        <p:par>
                          <p:cTn id="55" fill="hold">
                            <p:stCondLst>
                              <p:cond delay="0"/>
                            </p:stCondLst>
                            <p:childTnLst>
                              <p:par>
                                <p:cTn id="56" presetID="1" presetClass="entr" presetSubtype="0" fill="hold" grpId="0" nodeType="afterEffect">
                                  <p:stCondLst>
                                    <p:cond delay="0"/>
                                  </p:stCondLst>
                                  <p:childTnLst>
                                    <p:set>
                                      <p:cBhvr>
                                        <p:cTn id="57" dur="1" fill="hold">
                                          <p:stCondLst>
                                            <p:cond delay="0"/>
                                          </p:stCondLst>
                                        </p:cTn>
                                        <p:tgtEl>
                                          <p:spTgt spid="37"/>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grpId="0" nodeType="after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childTnLst>
                          </p:cTn>
                        </p:par>
                        <p:par>
                          <p:cTn id="61" fill="hold">
                            <p:stCondLst>
                              <p:cond delay="0"/>
                            </p:stCondLst>
                            <p:childTnLst>
                              <p:par>
                                <p:cTn id="62" presetID="1" presetClass="entr" presetSubtype="0" fill="hold" grpId="0" nodeType="afterEffect">
                                  <p:stCondLst>
                                    <p:cond delay="0"/>
                                  </p:stCondLst>
                                  <p:childTnLst>
                                    <p:set>
                                      <p:cBhvr>
                                        <p:cTn id="63" dur="1" fill="hold">
                                          <p:stCondLst>
                                            <p:cond delay="0"/>
                                          </p:stCondLst>
                                        </p:cTn>
                                        <p:tgtEl>
                                          <p:spTgt spid="39"/>
                                        </p:tgtEl>
                                        <p:attrNameLst>
                                          <p:attrName>style.visibility</p:attrName>
                                        </p:attrNameLst>
                                      </p:cBhvr>
                                      <p:to>
                                        <p:strVal val="visible"/>
                                      </p:to>
                                    </p:set>
                                  </p:childTnLst>
                                </p:cTn>
                              </p:par>
                            </p:childTnLst>
                          </p:cTn>
                        </p:par>
                        <p:par>
                          <p:cTn id="64" fill="hold">
                            <p:stCondLst>
                              <p:cond delay="0"/>
                            </p:stCondLst>
                            <p:childTnLst>
                              <p:par>
                                <p:cTn id="65" presetID="1" presetClass="entr" presetSubtype="0" fill="hold" grpId="0" nodeType="after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childTnLst>
                          </p:cTn>
                        </p:par>
                        <p:par>
                          <p:cTn id="67" fill="hold">
                            <p:stCondLst>
                              <p:cond delay="0"/>
                            </p:stCondLst>
                            <p:childTnLst>
                              <p:par>
                                <p:cTn id="68" presetID="53" presetClass="entr" presetSubtype="16" fill="hold" nodeType="afterEffect">
                                  <p:stCondLst>
                                    <p:cond delay="0"/>
                                  </p:stCondLst>
                                  <p:childTnLst>
                                    <p:set>
                                      <p:cBhvr>
                                        <p:cTn id="69" dur="1" fill="hold">
                                          <p:stCondLst>
                                            <p:cond delay="0"/>
                                          </p:stCondLst>
                                        </p:cTn>
                                        <p:tgtEl>
                                          <p:spTgt spid="40"/>
                                        </p:tgtEl>
                                        <p:attrNameLst>
                                          <p:attrName>style.visibility</p:attrName>
                                        </p:attrNameLst>
                                      </p:cBhvr>
                                      <p:to>
                                        <p:strVal val="visible"/>
                                      </p:to>
                                    </p:set>
                                    <p:anim calcmode="lin" valueType="num">
                                      <p:cBhvr>
                                        <p:cTn id="70" dur="250" fill="hold"/>
                                        <p:tgtEl>
                                          <p:spTgt spid="40"/>
                                        </p:tgtEl>
                                        <p:attrNameLst>
                                          <p:attrName>ppt_w</p:attrName>
                                        </p:attrNameLst>
                                      </p:cBhvr>
                                      <p:tavLst>
                                        <p:tav tm="0">
                                          <p:val>
                                            <p:fltVal val="0"/>
                                          </p:val>
                                        </p:tav>
                                        <p:tav tm="100000">
                                          <p:val>
                                            <p:strVal val="#ppt_w"/>
                                          </p:val>
                                        </p:tav>
                                      </p:tavLst>
                                    </p:anim>
                                    <p:anim calcmode="lin" valueType="num">
                                      <p:cBhvr>
                                        <p:cTn id="71" dur="250" fill="hold"/>
                                        <p:tgtEl>
                                          <p:spTgt spid="40"/>
                                        </p:tgtEl>
                                        <p:attrNameLst>
                                          <p:attrName>ppt_h</p:attrName>
                                        </p:attrNameLst>
                                      </p:cBhvr>
                                      <p:tavLst>
                                        <p:tav tm="0">
                                          <p:val>
                                            <p:fltVal val="0"/>
                                          </p:val>
                                        </p:tav>
                                        <p:tav tm="100000">
                                          <p:val>
                                            <p:strVal val="#ppt_h"/>
                                          </p:val>
                                        </p:tav>
                                      </p:tavLst>
                                    </p:anim>
                                    <p:animEffect transition="in" filter="fade">
                                      <p:cBhvr>
                                        <p:cTn id="72" dur="250"/>
                                        <p:tgtEl>
                                          <p:spTgt spid="40"/>
                                        </p:tgtEl>
                                      </p:cBhvr>
                                    </p:animEffect>
                                  </p:childTnLst>
                                </p:cTn>
                              </p:par>
                            </p:childTnLst>
                          </p:cTn>
                        </p:par>
                        <p:par>
                          <p:cTn id="73" fill="hold">
                            <p:stCondLst>
                              <p:cond delay="250"/>
                            </p:stCondLst>
                            <p:childTnLst>
                              <p:par>
                                <p:cTn id="74" presetID="53" presetClass="entr" presetSubtype="16" fill="hold" grpId="0" nodeType="afterEffect">
                                  <p:stCondLst>
                                    <p:cond delay="0"/>
                                  </p:stCondLst>
                                  <p:childTnLst>
                                    <p:set>
                                      <p:cBhvr>
                                        <p:cTn id="75" dur="1" fill="hold">
                                          <p:stCondLst>
                                            <p:cond delay="0"/>
                                          </p:stCondLst>
                                        </p:cTn>
                                        <p:tgtEl>
                                          <p:spTgt spid="41"/>
                                        </p:tgtEl>
                                        <p:attrNameLst>
                                          <p:attrName>style.visibility</p:attrName>
                                        </p:attrNameLst>
                                      </p:cBhvr>
                                      <p:to>
                                        <p:strVal val="visible"/>
                                      </p:to>
                                    </p:set>
                                    <p:anim calcmode="lin" valueType="num">
                                      <p:cBhvr>
                                        <p:cTn id="76" dur="250" fill="hold"/>
                                        <p:tgtEl>
                                          <p:spTgt spid="41"/>
                                        </p:tgtEl>
                                        <p:attrNameLst>
                                          <p:attrName>ppt_w</p:attrName>
                                        </p:attrNameLst>
                                      </p:cBhvr>
                                      <p:tavLst>
                                        <p:tav tm="0">
                                          <p:val>
                                            <p:fltVal val="0"/>
                                          </p:val>
                                        </p:tav>
                                        <p:tav tm="100000">
                                          <p:val>
                                            <p:strVal val="#ppt_w"/>
                                          </p:val>
                                        </p:tav>
                                      </p:tavLst>
                                    </p:anim>
                                    <p:anim calcmode="lin" valueType="num">
                                      <p:cBhvr>
                                        <p:cTn id="77" dur="250" fill="hold"/>
                                        <p:tgtEl>
                                          <p:spTgt spid="41"/>
                                        </p:tgtEl>
                                        <p:attrNameLst>
                                          <p:attrName>ppt_h</p:attrName>
                                        </p:attrNameLst>
                                      </p:cBhvr>
                                      <p:tavLst>
                                        <p:tav tm="0">
                                          <p:val>
                                            <p:fltVal val="0"/>
                                          </p:val>
                                        </p:tav>
                                        <p:tav tm="100000">
                                          <p:val>
                                            <p:strVal val="#ppt_h"/>
                                          </p:val>
                                        </p:tav>
                                      </p:tavLst>
                                    </p:anim>
                                    <p:animEffect transition="in" filter="fade">
                                      <p:cBhvr>
                                        <p:cTn id="78" dur="250"/>
                                        <p:tgtEl>
                                          <p:spTgt spid="41"/>
                                        </p:tgtEl>
                                      </p:cBhvr>
                                    </p:animEffect>
                                  </p:childTnLst>
                                </p:cTn>
                              </p:par>
                            </p:childTnLst>
                          </p:cTn>
                        </p:par>
                        <p:par>
                          <p:cTn id="79" fill="hold">
                            <p:stCondLst>
                              <p:cond delay="500"/>
                            </p:stCondLst>
                            <p:childTnLst>
                              <p:par>
                                <p:cTn id="80" presetID="53" presetClass="entr" presetSubtype="16" fill="hold" nodeType="afterEffect">
                                  <p:stCondLst>
                                    <p:cond delay="0"/>
                                  </p:stCondLst>
                                  <p:childTnLst>
                                    <p:set>
                                      <p:cBhvr>
                                        <p:cTn id="81" dur="1" fill="hold">
                                          <p:stCondLst>
                                            <p:cond delay="0"/>
                                          </p:stCondLst>
                                        </p:cTn>
                                        <p:tgtEl>
                                          <p:spTgt spid="42"/>
                                        </p:tgtEl>
                                        <p:attrNameLst>
                                          <p:attrName>style.visibility</p:attrName>
                                        </p:attrNameLst>
                                      </p:cBhvr>
                                      <p:to>
                                        <p:strVal val="visible"/>
                                      </p:to>
                                    </p:set>
                                    <p:anim calcmode="lin" valueType="num">
                                      <p:cBhvr>
                                        <p:cTn id="82" dur="500" fill="hold"/>
                                        <p:tgtEl>
                                          <p:spTgt spid="42"/>
                                        </p:tgtEl>
                                        <p:attrNameLst>
                                          <p:attrName>ppt_w</p:attrName>
                                        </p:attrNameLst>
                                      </p:cBhvr>
                                      <p:tavLst>
                                        <p:tav tm="0">
                                          <p:val>
                                            <p:fltVal val="0"/>
                                          </p:val>
                                        </p:tav>
                                        <p:tav tm="100000">
                                          <p:val>
                                            <p:strVal val="#ppt_w"/>
                                          </p:val>
                                        </p:tav>
                                      </p:tavLst>
                                    </p:anim>
                                    <p:anim calcmode="lin" valueType="num">
                                      <p:cBhvr>
                                        <p:cTn id="83" dur="500" fill="hold"/>
                                        <p:tgtEl>
                                          <p:spTgt spid="42"/>
                                        </p:tgtEl>
                                        <p:attrNameLst>
                                          <p:attrName>ppt_h</p:attrName>
                                        </p:attrNameLst>
                                      </p:cBhvr>
                                      <p:tavLst>
                                        <p:tav tm="0">
                                          <p:val>
                                            <p:fltVal val="0"/>
                                          </p:val>
                                        </p:tav>
                                        <p:tav tm="100000">
                                          <p:val>
                                            <p:strVal val="#ppt_h"/>
                                          </p:val>
                                        </p:tav>
                                      </p:tavLst>
                                    </p:anim>
                                    <p:animEffect transition="in" filter="fade">
                                      <p:cBhvr>
                                        <p:cTn id="84" dur="500"/>
                                        <p:tgtEl>
                                          <p:spTgt spid="42"/>
                                        </p:tgtEl>
                                      </p:cBhvr>
                                    </p:animEffect>
                                  </p:childTnLst>
                                </p:cTn>
                              </p:par>
                            </p:childTnLst>
                          </p:cTn>
                        </p:par>
                        <p:par>
                          <p:cTn id="85" fill="hold">
                            <p:stCondLst>
                              <p:cond delay="1000"/>
                            </p:stCondLst>
                            <p:childTnLst>
                              <p:par>
                                <p:cTn id="86" presetID="53" presetClass="entr" presetSubtype="16" fill="hold" nodeType="afterEffect">
                                  <p:stCondLst>
                                    <p:cond delay="0"/>
                                  </p:stCondLst>
                                  <p:childTnLst>
                                    <p:set>
                                      <p:cBhvr>
                                        <p:cTn id="87" dur="1" fill="hold">
                                          <p:stCondLst>
                                            <p:cond delay="0"/>
                                          </p:stCondLst>
                                        </p:cTn>
                                        <p:tgtEl>
                                          <p:spTgt spid="46"/>
                                        </p:tgtEl>
                                        <p:attrNameLst>
                                          <p:attrName>style.visibility</p:attrName>
                                        </p:attrNameLst>
                                      </p:cBhvr>
                                      <p:to>
                                        <p:strVal val="visible"/>
                                      </p:to>
                                    </p:set>
                                    <p:anim calcmode="lin" valueType="num">
                                      <p:cBhvr>
                                        <p:cTn id="88" dur="500" fill="hold"/>
                                        <p:tgtEl>
                                          <p:spTgt spid="46"/>
                                        </p:tgtEl>
                                        <p:attrNameLst>
                                          <p:attrName>ppt_w</p:attrName>
                                        </p:attrNameLst>
                                      </p:cBhvr>
                                      <p:tavLst>
                                        <p:tav tm="0">
                                          <p:val>
                                            <p:fltVal val="0"/>
                                          </p:val>
                                        </p:tav>
                                        <p:tav tm="100000">
                                          <p:val>
                                            <p:strVal val="#ppt_w"/>
                                          </p:val>
                                        </p:tav>
                                      </p:tavLst>
                                    </p:anim>
                                    <p:anim calcmode="lin" valueType="num">
                                      <p:cBhvr>
                                        <p:cTn id="89" dur="500" fill="hold"/>
                                        <p:tgtEl>
                                          <p:spTgt spid="46"/>
                                        </p:tgtEl>
                                        <p:attrNameLst>
                                          <p:attrName>ppt_h</p:attrName>
                                        </p:attrNameLst>
                                      </p:cBhvr>
                                      <p:tavLst>
                                        <p:tav tm="0">
                                          <p:val>
                                            <p:fltVal val="0"/>
                                          </p:val>
                                        </p:tav>
                                        <p:tav tm="100000">
                                          <p:val>
                                            <p:strVal val="#ppt_h"/>
                                          </p:val>
                                        </p:tav>
                                      </p:tavLst>
                                    </p:anim>
                                    <p:animEffect transition="in" filter="fade">
                                      <p:cBhvr>
                                        <p:cTn id="90" dur="500"/>
                                        <p:tgtEl>
                                          <p:spTgt spid="46"/>
                                        </p:tgtEl>
                                      </p:cBhvr>
                                    </p:animEffect>
                                  </p:childTnLst>
                                </p:cTn>
                              </p:par>
                            </p:childTnLst>
                          </p:cTn>
                        </p:par>
                        <p:par>
                          <p:cTn id="91" fill="hold">
                            <p:stCondLst>
                              <p:cond delay="1500"/>
                            </p:stCondLst>
                            <p:childTnLst>
                              <p:par>
                                <p:cTn id="92" presetID="53" presetClass="entr" presetSubtype="16" fill="hold" nodeType="afterEffect">
                                  <p:stCondLst>
                                    <p:cond delay="0"/>
                                  </p:stCondLst>
                                  <p:childTnLst>
                                    <p:set>
                                      <p:cBhvr>
                                        <p:cTn id="93" dur="1" fill="hold">
                                          <p:stCondLst>
                                            <p:cond delay="0"/>
                                          </p:stCondLst>
                                        </p:cTn>
                                        <p:tgtEl>
                                          <p:spTgt spid="58"/>
                                        </p:tgtEl>
                                        <p:attrNameLst>
                                          <p:attrName>style.visibility</p:attrName>
                                        </p:attrNameLst>
                                      </p:cBhvr>
                                      <p:to>
                                        <p:strVal val="visible"/>
                                      </p:to>
                                    </p:set>
                                    <p:anim calcmode="lin" valueType="num">
                                      <p:cBhvr>
                                        <p:cTn id="94" dur="500" fill="hold"/>
                                        <p:tgtEl>
                                          <p:spTgt spid="58"/>
                                        </p:tgtEl>
                                        <p:attrNameLst>
                                          <p:attrName>ppt_w</p:attrName>
                                        </p:attrNameLst>
                                      </p:cBhvr>
                                      <p:tavLst>
                                        <p:tav tm="0">
                                          <p:val>
                                            <p:fltVal val="0"/>
                                          </p:val>
                                        </p:tav>
                                        <p:tav tm="100000">
                                          <p:val>
                                            <p:strVal val="#ppt_w"/>
                                          </p:val>
                                        </p:tav>
                                      </p:tavLst>
                                    </p:anim>
                                    <p:anim calcmode="lin" valueType="num">
                                      <p:cBhvr>
                                        <p:cTn id="95" dur="500" fill="hold"/>
                                        <p:tgtEl>
                                          <p:spTgt spid="58"/>
                                        </p:tgtEl>
                                        <p:attrNameLst>
                                          <p:attrName>ppt_h</p:attrName>
                                        </p:attrNameLst>
                                      </p:cBhvr>
                                      <p:tavLst>
                                        <p:tav tm="0">
                                          <p:val>
                                            <p:fltVal val="0"/>
                                          </p:val>
                                        </p:tav>
                                        <p:tav tm="100000">
                                          <p:val>
                                            <p:strVal val="#ppt_h"/>
                                          </p:val>
                                        </p:tav>
                                      </p:tavLst>
                                    </p:anim>
                                    <p:animEffect transition="in" filter="fade">
                                      <p:cBhvr>
                                        <p:cTn id="96" dur="500"/>
                                        <p:tgtEl>
                                          <p:spTgt spid="58"/>
                                        </p:tgtEl>
                                      </p:cBhvr>
                                    </p:animEffect>
                                  </p:childTnLst>
                                </p:cTn>
                              </p:par>
                            </p:childTnLst>
                          </p:cTn>
                        </p:par>
                        <p:par>
                          <p:cTn id="97" fill="hold">
                            <p:stCondLst>
                              <p:cond delay="2000"/>
                            </p:stCondLst>
                            <p:childTnLst>
                              <p:par>
                                <p:cTn id="98" presetID="53" presetClass="entr" presetSubtype="16" fill="hold" nodeType="afterEffect">
                                  <p:stCondLst>
                                    <p:cond delay="0"/>
                                  </p:stCondLst>
                                  <p:childTnLst>
                                    <p:set>
                                      <p:cBhvr>
                                        <p:cTn id="99" dur="1" fill="hold">
                                          <p:stCondLst>
                                            <p:cond delay="0"/>
                                          </p:stCondLst>
                                        </p:cTn>
                                        <p:tgtEl>
                                          <p:spTgt spid="55"/>
                                        </p:tgtEl>
                                        <p:attrNameLst>
                                          <p:attrName>style.visibility</p:attrName>
                                        </p:attrNameLst>
                                      </p:cBhvr>
                                      <p:to>
                                        <p:strVal val="visible"/>
                                      </p:to>
                                    </p:set>
                                    <p:anim calcmode="lin" valueType="num">
                                      <p:cBhvr>
                                        <p:cTn id="100" dur="500" fill="hold"/>
                                        <p:tgtEl>
                                          <p:spTgt spid="55"/>
                                        </p:tgtEl>
                                        <p:attrNameLst>
                                          <p:attrName>ppt_w</p:attrName>
                                        </p:attrNameLst>
                                      </p:cBhvr>
                                      <p:tavLst>
                                        <p:tav tm="0">
                                          <p:val>
                                            <p:fltVal val="0"/>
                                          </p:val>
                                        </p:tav>
                                        <p:tav tm="100000">
                                          <p:val>
                                            <p:strVal val="#ppt_w"/>
                                          </p:val>
                                        </p:tav>
                                      </p:tavLst>
                                    </p:anim>
                                    <p:anim calcmode="lin" valueType="num">
                                      <p:cBhvr>
                                        <p:cTn id="101" dur="500" fill="hold"/>
                                        <p:tgtEl>
                                          <p:spTgt spid="55"/>
                                        </p:tgtEl>
                                        <p:attrNameLst>
                                          <p:attrName>ppt_h</p:attrName>
                                        </p:attrNameLst>
                                      </p:cBhvr>
                                      <p:tavLst>
                                        <p:tav tm="0">
                                          <p:val>
                                            <p:fltVal val="0"/>
                                          </p:val>
                                        </p:tav>
                                        <p:tav tm="100000">
                                          <p:val>
                                            <p:strVal val="#ppt_h"/>
                                          </p:val>
                                        </p:tav>
                                      </p:tavLst>
                                    </p:anim>
                                    <p:animEffect transition="in" filter="fade">
                                      <p:cBhvr>
                                        <p:cTn id="102" dur="500"/>
                                        <p:tgtEl>
                                          <p:spTgt spid="55"/>
                                        </p:tgtEl>
                                      </p:cBhvr>
                                    </p:animEffect>
                                  </p:childTnLst>
                                </p:cTn>
                              </p:par>
                            </p:childTnLst>
                          </p:cTn>
                        </p:par>
                        <p:par>
                          <p:cTn id="103" fill="hold">
                            <p:stCondLst>
                              <p:cond delay="2500"/>
                            </p:stCondLst>
                            <p:childTnLst>
                              <p:par>
                                <p:cTn id="104" presetID="53" presetClass="entr" presetSubtype="16" fill="hold" nodeType="afterEffect">
                                  <p:stCondLst>
                                    <p:cond delay="0"/>
                                  </p:stCondLst>
                                  <p:childTnLst>
                                    <p:set>
                                      <p:cBhvr>
                                        <p:cTn id="105" dur="1" fill="hold">
                                          <p:stCondLst>
                                            <p:cond delay="0"/>
                                          </p:stCondLst>
                                        </p:cTn>
                                        <p:tgtEl>
                                          <p:spTgt spid="52"/>
                                        </p:tgtEl>
                                        <p:attrNameLst>
                                          <p:attrName>style.visibility</p:attrName>
                                        </p:attrNameLst>
                                      </p:cBhvr>
                                      <p:to>
                                        <p:strVal val="visible"/>
                                      </p:to>
                                    </p:set>
                                    <p:anim calcmode="lin" valueType="num">
                                      <p:cBhvr>
                                        <p:cTn id="106" dur="500" fill="hold"/>
                                        <p:tgtEl>
                                          <p:spTgt spid="52"/>
                                        </p:tgtEl>
                                        <p:attrNameLst>
                                          <p:attrName>ppt_w</p:attrName>
                                        </p:attrNameLst>
                                      </p:cBhvr>
                                      <p:tavLst>
                                        <p:tav tm="0">
                                          <p:val>
                                            <p:fltVal val="0"/>
                                          </p:val>
                                        </p:tav>
                                        <p:tav tm="100000">
                                          <p:val>
                                            <p:strVal val="#ppt_w"/>
                                          </p:val>
                                        </p:tav>
                                      </p:tavLst>
                                    </p:anim>
                                    <p:anim calcmode="lin" valueType="num">
                                      <p:cBhvr>
                                        <p:cTn id="107" dur="500" fill="hold"/>
                                        <p:tgtEl>
                                          <p:spTgt spid="52"/>
                                        </p:tgtEl>
                                        <p:attrNameLst>
                                          <p:attrName>ppt_h</p:attrName>
                                        </p:attrNameLst>
                                      </p:cBhvr>
                                      <p:tavLst>
                                        <p:tav tm="0">
                                          <p:val>
                                            <p:fltVal val="0"/>
                                          </p:val>
                                        </p:tav>
                                        <p:tav tm="100000">
                                          <p:val>
                                            <p:strVal val="#ppt_h"/>
                                          </p:val>
                                        </p:tav>
                                      </p:tavLst>
                                    </p:anim>
                                    <p:animEffect transition="in" filter="fade">
                                      <p:cBhvr>
                                        <p:cTn id="108"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30" grpId="0"/>
      <p:bldP spid="31" grpId="0"/>
      <p:bldP spid="32" grpId="0"/>
      <p:bldP spid="33" grpId="0"/>
      <p:bldP spid="35" grpId="0"/>
      <p:bldP spid="37" grpId="0"/>
      <p:bldP spid="38" grpId="0"/>
      <p:bldP spid="39" grpId="0"/>
      <p:bldP spid="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CaixaDeTexto 5"/>
          <p:cNvSpPr txBox="1"/>
          <p:nvPr/>
        </p:nvSpPr>
        <p:spPr>
          <a:xfrm>
            <a:off x="154745" y="759654"/>
            <a:ext cx="2487219" cy="369332"/>
          </a:xfrm>
          <a:prstGeom prst="rect">
            <a:avLst/>
          </a:prstGeom>
          <a:noFill/>
        </p:spPr>
        <p:txBody>
          <a:bodyPr wrap="none" rtlCol="0">
            <a:spAutoFit/>
          </a:bodyPr>
          <a:lstStyle/>
          <a:p>
            <a:r>
              <a:rPr lang="pt-BR" dirty="0"/>
              <a:t>Iniciando com </a:t>
            </a:r>
            <a:r>
              <a:rPr lang="pt-BR" dirty="0" err="1"/>
              <a:t>One</a:t>
            </a:r>
            <a:r>
              <a:rPr lang="pt-BR" dirty="0"/>
              <a:t> Drive</a:t>
            </a:r>
          </a:p>
        </p:txBody>
      </p:sp>
      <p:sp>
        <p:nvSpPr>
          <p:cNvPr id="13" name="CaixaDeTexto 12"/>
          <p:cNvSpPr txBox="1"/>
          <p:nvPr/>
        </p:nvSpPr>
        <p:spPr>
          <a:xfrm>
            <a:off x="267286" y="1645920"/>
            <a:ext cx="5143139" cy="1200329"/>
          </a:xfrm>
          <a:prstGeom prst="rect">
            <a:avLst/>
          </a:prstGeom>
          <a:noFill/>
        </p:spPr>
        <p:txBody>
          <a:bodyPr wrap="none" rtlCol="0">
            <a:spAutoFit/>
          </a:bodyPr>
          <a:lstStyle/>
          <a:p>
            <a:r>
              <a:rPr lang="pt-BR" dirty="0"/>
              <a:t>Há duas formas de encontrar o aplicativo do </a:t>
            </a:r>
            <a:r>
              <a:rPr lang="pt-BR" dirty="0" err="1"/>
              <a:t>OnDrive</a:t>
            </a:r>
            <a:endParaRPr lang="pt-BR" dirty="0"/>
          </a:p>
          <a:p>
            <a:r>
              <a:rPr lang="pt-BR" dirty="0"/>
              <a:t>	1 – Menu Iniciar &gt; Programas &gt; </a:t>
            </a:r>
            <a:r>
              <a:rPr lang="pt-BR" dirty="0" err="1"/>
              <a:t>OnDrive</a:t>
            </a:r>
            <a:endParaRPr lang="pt-BR" dirty="0"/>
          </a:p>
          <a:p>
            <a:r>
              <a:rPr lang="pt-BR" dirty="0"/>
              <a:t>	2 – No menu Executar, digitar </a:t>
            </a:r>
            <a:r>
              <a:rPr lang="pt-BR" dirty="0" err="1"/>
              <a:t>OnDrive</a:t>
            </a:r>
            <a:endParaRPr lang="pt-BR" dirty="0"/>
          </a:p>
          <a:p>
            <a:r>
              <a:rPr lang="pt-BR" dirty="0"/>
              <a:t> </a:t>
            </a:r>
          </a:p>
        </p:txBody>
      </p:sp>
      <p:pic>
        <p:nvPicPr>
          <p:cNvPr id="9" name="Imagem 8"/>
          <p:cNvPicPr>
            <a:picLocks noChangeAspect="1"/>
          </p:cNvPicPr>
          <p:nvPr/>
        </p:nvPicPr>
        <p:blipFill>
          <a:blip r:embed="rId2"/>
          <a:stretch>
            <a:fillRect/>
          </a:stretch>
        </p:blipFill>
        <p:spPr>
          <a:xfrm>
            <a:off x="64222" y="757166"/>
            <a:ext cx="4724260" cy="4053980"/>
          </a:xfrm>
          <a:prstGeom prst="rect">
            <a:avLst/>
          </a:prstGeom>
        </p:spPr>
      </p:pic>
      <p:pic>
        <p:nvPicPr>
          <p:cNvPr id="10" name="Imagem 9"/>
          <p:cNvPicPr>
            <a:picLocks noChangeAspect="1"/>
          </p:cNvPicPr>
          <p:nvPr/>
        </p:nvPicPr>
        <p:blipFill>
          <a:blip r:embed="rId3"/>
          <a:stretch>
            <a:fillRect/>
          </a:stretch>
        </p:blipFill>
        <p:spPr>
          <a:xfrm>
            <a:off x="2642364" y="1348011"/>
            <a:ext cx="5648325" cy="4791075"/>
          </a:xfrm>
          <a:prstGeom prst="rect">
            <a:avLst/>
          </a:prstGeom>
        </p:spPr>
      </p:pic>
      <p:pic>
        <p:nvPicPr>
          <p:cNvPr id="11" name="Imagem 10"/>
          <p:cNvPicPr>
            <a:picLocks noChangeAspect="1"/>
          </p:cNvPicPr>
          <p:nvPr/>
        </p:nvPicPr>
        <p:blipFill>
          <a:blip r:embed="rId4"/>
          <a:stretch>
            <a:fillRect/>
          </a:stretch>
        </p:blipFill>
        <p:spPr>
          <a:xfrm>
            <a:off x="4316017" y="1924794"/>
            <a:ext cx="5648325" cy="4791075"/>
          </a:xfrm>
          <a:prstGeom prst="rect">
            <a:avLst/>
          </a:prstGeom>
        </p:spPr>
      </p:pic>
      <p:pic>
        <p:nvPicPr>
          <p:cNvPr id="8" name="Picture 5"/>
          <p:cNvPicPr>
            <a:picLocks noChangeAspect="1"/>
          </p:cNvPicPr>
          <p:nvPr/>
        </p:nvPicPr>
        <p:blipFill>
          <a:blip r:embed="rId5"/>
          <a:stretch>
            <a:fillRect/>
          </a:stretch>
        </p:blipFill>
        <p:spPr>
          <a:xfrm>
            <a:off x="9092707" y="129598"/>
            <a:ext cx="933147" cy="334448"/>
          </a:xfrm>
          <a:prstGeom prst="rect">
            <a:avLst/>
          </a:prstGeom>
        </p:spPr>
      </p:pic>
      <p:sp>
        <p:nvSpPr>
          <p:cNvPr id="14" name="CaixaDeTexto 13"/>
          <p:cNvSpPr txBox="1"/>
          <p:nvPr/>
        </p:nvSpPr>
        <p:spPr>
          <a:xfrm>
            <a:off x="2967933" y="106238"/>
            <a:ext cx="4991495" cy="523220"/>
          </a:xfrm>
          <a:prstGeom prst="rect">
            <a:avLst/>
          </a:prstGeom>
          <a:noFill/>
        </p:spPr>
        <p:txBody>
          <a:bodyPr wrap="none" rtlCol="0">
            <a:spAutoFit/>
          </a:bodyPr>
          <a:lstStyle/>
          <a:p>
            <a:pPr algn="ctr"/>
            <a:r>
              <a:rPr lang="pt-BR" sz="2800" dirty="0">
                <a:ln w="0"/>
                <a:solidFill>
                  <a:schemeClr val="bg1"/>
                </a:solidFill>
                <a:effectLst>
                  <a:outerShdw blurRad="38100" dist="19050" dir="2700000" algn="tl" rotWithShape="0">
                    <a:schemeClr val="dk1">
                      <a:alpha val="40000"/>
                    </a:schemeClr>
                  </a:outerShdw>
                </a:effectLst>
              </a:rPr>
              <a:t>Visão Geral OneDrive e utilização</a:t>
            </a:r>
          </a:p>
        </p:txBody>
      </p:sp>
    </p:spTree>
    <p:extLst>
      <p:ext uri="{BB962C8B-B14F-4D97-AF65-F5344CB8AC3E}">
        <p14:creationId xmlns:p14="http://schemas.microsoft.com/office/powerpoint/2010/main" val="3323502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624" y="1339025"/>
            <a:ext cx="8479240" cy="4683041"/>
          </a:xfrm>
          <a:prstGeom prst="rect">
            <a:avLst/>
          </a:prstGeom>
        </p:spPr>
      </p:pic>
      <p:sp>
        <p:nvSpPr>
          <p:cNvPr id="5"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CaixaDeTexto 5"/>
          <p:cNvSpPr txBox="1"/>
          <p:nvPr/>
        </p:nvSpPr>
        <p:spPr>
          <a:xfrm>
            <a:off x="253218" y="956603"/>
            <a:ext cx="1639744" cy="369332"/>
          </a:xfrm>
          <a:prstGeom prst="rect">
            <a:avLst/>
          </a:prstGeom>
          <a:noFill/>
        </p:spPr>
        <p:txBody>
          <a:bodyPr wrap="none" rtlCol="0">
            <a:spAutoFit/>
          </a:bodyPr>
          <a:lstStyle/>
          <a:p>
            <a:r>
              <a:rPr lang="pt-BR" dirty="0"/>
              <a:t>Acesso via Web</a:t>
            </a:r>
          </a:p>
        </p:txBody>
      </p:sp>
      <p:pic>
        <p:nvPicPr>
          <p:cNvPr id="7" name="Picture 5"/>
          <p:cNvPicPr>
            <a:picLocks noChangeAspect="1"/>
          </p:cNvPicPr>
          <p:nvPr/>
        </p:nvPicPr>
        <p:blipFill>
          <a:blip r:embed="rId3"/>
          <a:stretch>
            <a:fillRect/>
          </a:stretch>
        </p:blipFill>
        <p:spPr>
          <a:xfrm>
            <a:off x="9092707" y="129598"/>
            <a:ext cx="933147" cy="334448"/>
          </a:xfrm>
          <a:prstGeom prst="rect">
            <a:avLst/>
          </a:prstGeom>
        </p:spPr>
      </p:pic>
      <p:sp>
        <p:nvSpPr>
          <p:cNvPr id="9" name="CaixaDeTexto 8"/>
          <p:cNvSpPr txBox="1"/>
          <p:nvPr/>
        </p:nvSpPr>
        <p:spPr>
          <a:xfrm>
            <a:off x="2967933" y="106238"/>
            <a:ext cx="4991495" cy="523220"/>
          </a:xfrm>
          <a:prstGeom prst="rect">
            <a:avLst/>
          </a:prstGeom>
          <a:noFill/>
        </p:spPr>
        <p:txBody>
          <a:bodyPr wrap="none" rtlCol="0">
            <a:spAutoFit/>
          </a:bodyPr>
          <a:lstStyle/>
          <a:p>
            <a:r>
              <a:rPr lang="pt-BR" sz="2800" dirty="0">
                <a:ln w="0"/>
                <a:solidFill>
                  <a:schemeClr val="bg1"/>
                </a:solidFill>
                <a:effectLst>
                  <a:outerShdw blurRad="38100" dist="19050" dir="2700000" algn="tl" rotWithShape="0">
                    <a:schemeClr val="dk1">
                      <a:alpha val="40000"/>
                    </a:schemeClr>
                  </a:outerShdw>
                </a:effectLst>
              </a:rPr>
              <a:t>Visão Geral OneDrive e utilização</a:t>
            </a:r>
          </a:p>
        </p:txBody>
      </p:sp>
    </p:spTree>
    <p:extLst>
      <p:ext uri="{BB962C8B-B14F-4D97-AF65-F5344CB8AC3E}">
        <p14:creationId xmlns:p14="http://schemas.microsoft.com/office/powerpoint/2010/main" val="195697031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CaixaDeTexto 4"/>
          <p:cNvSpPr txBox="1"/>
          <p:nvPr/>
        </p:nvSpPr>
        <p:spPr>
          <a:xfrm>
            <a:off x="365760" y="1041009"/>
            <a:ext cx="3898568" cy="369332"/>
          </a:xfrm>
          <a:prstGeom prst="rect">
            <a:avLst/>
          </a:prstGeom>
          <a:noFill/>
        </p:spPr>
        <p:txBody>
          <a:bodyPr wrap="none" rtlCol="0">
            <a:spAutoFit/>
          </a:bodyPr>
          <a:lstStyle/>
          <a:p>
            <a:r>
              <a:rPr lang="pt-BR" dirty="0"/>
              <a:t>Tela Inicial dentro do Windows Explorer</a:t>
            </a:r>
          </a:p>
        </p:txBody>
      </p:sp>
      <p:pic>
        <p:nvPicPr>
          <p:cNvPr id="6" name="Imagem 5"/>
          <p:cNvPicPr>
            <a:picLocks noChangeAspect="1"/>
          </p:cNvPicPr>
          <p:nvPr/>
        </p:nvPicPr>
        <p:blipFill>
          <a:blip r:embed="rId2"/>
          <a:stretch>
            <a:fillRect/>
          </a:stretch>
        </p:blipFill>
        <p:spPr>
          <a:xfrm>
            <a:off x="239151" y="1410341"/>
            <a:ext cx="9214338" cy="4856980"/>
          </a:xfrm>
          <a:prstGeom prst="rect">
            <a:avLst/>
          </a:prstGeom>
        </p:spPr>
      </p:pic>
      <p:pic>
        <p:nvPicPr>
          <p:cNvPr id="7" name="Picture 5"/>
          <p:cNvPicPr>
            <a:picLocks noChangeAspect="1"/>
          </p:cNvPicPr>
          <p:nvPr/>
        </p:nvPicPr>
        <p:blipFill>
          <a:blip r:embed="rId3"/>
          <a:stretch>
            <a:fillRect/>
          </a:stretch>
        </p:blipFill>
        <p:spPr>
          <a:xfrm>
            <a:off x="9092707" y="129598"/>
            <a:ext cx="933147" cy="334448"/>
          </a:xfrm>
          <a:prstGeom prst="rect">
            <a:avLst/>
          </a:prstGeom>
        </p:spPr>
      </p:pic>
      <p:sp>
        <p:nvSpPr>
          <p:cNvPr id="9" name="CaixaDeTexto 8"/>
          <p:cNvSpPr txBox="1"/>
          <p:nvPr/>
        </p:nvSpPr>
        <p:spPr>
          <a:xfrm>
            <a:off x="2967933" y="106238"/>
            <a:ext cx="4991495" cy="523220"/>
          </a:xfrm>
          <a:prstGeom prst="rect">
            <a:avLst/>
          </a:prstGeom>
          <a:noFill/>
        </p:spPr>
        <p:txBody>
          <a:bodyPr wrap="none" rtlCol="0">
            <a:spAutoFit/>
          </a:bodyPr>
          <a:lstStyle/>
          <a:p>
            <a:r>
              <a:rPr lang="pt-BR" sz="2800" dirty="0">
                <a:ln w="0"/>
                <a:solidFill>
                  <a:schemeClr val="bg1"/>
                </a:solidFill>
                <a:effectLst>
                  <a:outerShdw blurRad="38100" dist="19050" dir="2700000" algn="tl" rotWithShape="0">
                    <a:schemeClr val="dk1">
                      <a:alpha val="40000"/>
                    </a:schemeClr>
                  </a:outerShdw>
                </a:effectLst>
              </a:rPr>
              <a:t>Visão Geral OneDrive e utilização</a:t>
            </a:r>
          </a:p>
        </p:txBody>
      </p:sp>
    </p:spTree>
    <p:extLst>
      <p:ext uri="{BB962C8B-B14F-4D97-AF65-F5344CB8AC3E}">
        <p14:creationId xmlns:p14="http://schemas.microsoft.com/office/powerpoint/2010/main" val="398542180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CaixaDeTexto 5"/>
          <p:cNvSpPr txBox="1"/>
          <p:nvPr/>
        </p:nvSpPr>
        <p:spPr>
          <a:xfrm>
            <a:off x="3324944" y="1443841"/>
            <a:ext cx="6679650" cy="3970318"/>
          </a:xfrm>
          <a:prstGeom prst="rect">
            <a:avLst/>
          </a:prstGeom>
          <a:noFill/>
        </p:spPr>
        <p:txBody>
          <a:bodyPr wrap="square" rtlCol="0">
            <a:spAutoFit/>
          </a:bodyPr>
          <a:lstStyle/>
          <a:p>
            <a:pPr algn="just"/>
            <a:r>
              <a:rPr lang="pt-BR" sz="3600" dirty="0"/>
              <a:t>OneDrive - Politica de Uso</a:t>
            </a:r>
          </a:p>
          <a:p>
            <a:pPr algn="just"/>
            <a:endParaRPr lang="pt-BR" dirty="0"/>
          </a:p>
          <a:p>
            <a:pPr marL="285750" indent="-285750" algn="just">
              <a:buFont typeface="Arial" panose="020B0604020202020204" pitchFamily="34" charset="0"/>
              <a:buChar char="•"/>
            </a:pPr>
            <a:r>
              <a:rPr lang="pt-BR" dirty="0"/>
              <a:t>Toda a informação pertinente a SMILES deve ser salva dentro do OneDrive. Neste local é garantido o </a:t>
            </a:r>
            <a:r>
              <a:rPr lang="pt-BR" i="1" dirty="0"/>
              <a:t>backup</a:t>
            </a:r>
            <a:r>
              <a:rPr lang="pt-BR" dirty="0"/>
              <a:t> das informações, mesmo em caso de perda, extravio ou falha do sistema operacional.</a:t>
            </a:r>
          </a:p>
          <a:p>
            <a:pPr marL="285750" indent="-285750" algn="just">
              <a:buFont typeface="Arial" panose="020B0604020202020204" pitchFamily="34" charset="0"/>
              <a:buChar char="•"/>
            </a:pPr>
            <a:endParaRPr lang="pt-BR" dirty="0"/>
          </a:p>
          <a:p>
            <a:pPr marL="285750" indent="-285750" algn="just">
              <a:buFont typeface="Arial" panose="020B0604020202020204" pitchFamily="34" charset="0"/>
              <a:buChar char="•"/>
            </a:pPr>
            <a:r>
              <a:rPr lang="pt-BR" dirty="0"/>
              <a:t>Toda a informação pode ser deletada, porém ao realizar essa ação ela vai para a lixeira do Windows. Mesmo excluindo o arquivo ele ainda se encontra na lixeira do acesso web.</a:t>
            </a:r>
          </a:p>
          <a:p>
            <a:pPr marL="285750" indent="-285750" algn="just">
              <a:buFont typeface="Arial" panose="020B0604020202020204" pitchFamily="34" charset="0"/>
              <a:buChar char="•"/>
            </a:pPr>
            <a:endParaRPr lang="pt-BR" dirty="0"/>
          </a:p>
          <a:p>
            <a:pPr marL="285750" indent="-285750" algn="just">
              <a:buFont typeface="Arial" panose="020B0604020202020204" pitchFamily="34" charset="0"/>
              <a:buChar char="•"/>
            </a:pPr>
            <a:r>
              <a:rPr lang="pt-BR" dirty="0"/>
              <a:t>Para recuperar o arquivo deletado, ele fica disponível por 30 dias. Após esse período não é possível recuperar o arquivo.</a:t>
            </a:r>
          </a:p>
        </p:txBody>
      </p:sp>
      <p:pic>
        <p:nvPicPr>
          <p:cNvPr id="7" name="Picture 5"/>
          <p:cNvPicPr>
            <a:picLocks noChangeAspect="1"/>
          </p:cNvPicPr>
          <p:nvPr/>
        </p:nvPicPr>
        <p:blipFill>
          <a:blip r:embed="rId2"/>
          <a:stretch>
            <a:fillRect/>
          </a:stretch>
        </p:blipFill>
        <p:spPr>
          <a:xfrm>
            <a:off x="9092707" y="129598"/>
            <a:ext cx="933147" cy="334448"/>
          </a:xfrm>
          <a:prstGeom prst="rect">
            <a:avLst/>
          </a:prstGeom>
        </p:spPr>
      </p:pic>
      <p:sp>
        <p:nvSpPr>
          <p:cNvPr id="8" name="CaixaDeTexto 7"/>
          <p:cNvSpPr txBox="1"/>
          <p:nvPr/>
        </p:nvSpPr>
        <p:spPr>
          <a:xfrm>
            <a:off x="2967933" y="106238"/>
            <a:ext cx="4991495" cy="523220"/>
          </a:xfrm>
          <a:prstGeom prst="rect">
            <a:avLst/>
          </a:prstGeom>
          <a:noFill/>
        </p:spPr>
        <p:txBody>
          <a:bodyPr wrap="none" rtlCol="0">
            <a:spAutoFit/>
          </a:bodyPr>
          <a:lstStyle/>
          <a:p>
            <a:pPr algn="ctr"/>
            <a:r>
              <a:rPr lang="pt-BR" sz="2800" dirty="0">
                <a:ln w="0"/>
                <a:solidFill>
                  <a:schemeClr val="bg1"/>
                </a:solidFill>
                <a:effectLst>
                  <a:outerShdw blurRad="38100" dist="19050" dir="2700000" algn="tl" rotWithShape="0">
                    <a:schemeClr val="dk1">
                      <a:alpha val="40000"/>
                    </a:schemeClr>
                  </a:outerShdw>
                </a:effectLst>
              </a:rPr>
              <a:t>Visão Geral OneDrive e utilização</a:t>
            </a:r>
          </a:p>
        </p:txBody>
      </p:sp>
      <p:pic>
        <p:nvPicPr>
          <p:cNvPr id="3074" name="Picture 2" descr="Resultado de imagem para Politica de us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153" y="2319704"/>
            <a:ext cx="2057400" cy="278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346763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custDataLst>
              <p:tags r:id="rId1"/>
            </p:custDataLst>
          </p:nvPr>
        </p:nvSpPr>
        <p:spPr bwMode="auto">
          <a:xfrm>
            <a:off x="413388" y="3176414"/>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OneDrive </a:t>
            </a:r>
          </a:p>
        </p:txBody>
      </p:sp>
      <p:sp>
        <p:nvSpPr>
          <p:cNvPr id="45" name="Rectangle 44"/>
          <p:cNvSpPr/>
          <p:nvPr/>
        </p:nvSpPr>
        <p:spPr bwMode="auto">
          <a:xfrm>
            <a:off x="3149859" y="3176414"/>
            <a:ext cx="1896963" cy="1896963"/>
          </a:xfrm>
          <a:prstGeom prst="rect">
            <a:avLst/>
          </a:prstGeom>
          <a:solidFill>
            <a:schemeClr val="accent6"/>
          </a:solidFill>
          <a:ln>
            <a:solidFill>
              <a:schemeClr val="accent6"/>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SharePoint</a:t>
            </a:r>
          </a:p>
        </p:txBody>
      </p:sp>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5" name="Picture 5"/>
          <p:cNvPicPr>
            <a:picLocks noChangeAspect="1"/>
          </p:cNvPicPr>
          <p:nvPr/>
        </p:nvPicPr>
        <p:blipFill>
          <a:blip r:embed="rId5"/>
          <a:stretch>
            <a:fillRect/>
          </a:stretch>
        </p:blipFill>
        <p:spPr>
          <a:xfrm>
            <a:off x="9092707" y="129598"/>
            <a:ext cx="933147" cy="334448"/>
          </a:xfrm>
          <a:prstGeom prst="rect">
            <a:avLst/>
          </a:prstGeom>
        </p:spPr>
      </p:pic>
      <p:grpSp>
        <p:nvGrpSpPr>
          <p:cNvPr id="28" name="Group 7"/>
          <p:cNvGrpSpPr/>
          <p:nvPr/>
        </p:nvGrpSpPr>
        <p:grpSpPr>
          <a:xfrm>
            <a:off x="6438599" y="2021304"/>
            <a:ext cx="3532717" cy="3888138"/>
            <a:chOff x="6219568" y="1711216"/>
            <a:chExt cx="2745942" cy="3570259"/>
          </a:xfrm>
        </p:grpSpPr>
        <p:sp>
          <p:nvSpPr>
            <p:cNvPr id="30" name="Rectangle 58"/>
            <p:cNvSpPr/>
            <p:nvPr/>
          </p:nvSpPr>
          <p:spPr bwMode="auto">
            <a:xfrm>
              <a:off x="6219569" y="4451874"/>
              <a:ext cx="2745941" cy="829601"/>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ctr" anchorCtr="0" compatLnSpc="1">
              <a:prstTxWarp prst="textNoShape">
                <a:avLst/>
              </a:prstTxWarp>
            </a:bodyPr>
            <a:lstStyle/>
            <a:p>
              <a:pPr defTabSz="914008" fontAlgn="base">
                <a:lnSpc>
                  <a:spcPct val="90000"/>
                </a:lnSpc>
                <a:spcBef>
                  <a:spcPct val="0"/>
                </a:spcBef>
                <a:spcAft>
                  <a:spcPct val="0"/>
                </a:spcAft>
              </a:pPr>
              <a:r>
                <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SharePoint</a:t>
              </a:r>
            </a:p>
          </p:txBody>
        </p:sp>
        <p:pic>
          <p:nvPicPr>
            <p:cNvPr id="32" name="Picture 2" descr="C:\Users\v-junyo\Documents\Jun_Mesh\Microsoft Files\DesignTools\Brand Photos\Office Brand - No_exp\NEW\OFF12_Joi_01.png"/>
            <p:cNvPicPr>
              <a:picLocks noChangeAspect="1" noChangeArrowheads="1"/>
            </p:cNvPicPr>
            <p:nvPr/>
          </p:nvPicPr>
          <p:blipFill rotWithShape="1">
            <a:blip r:embed="rId6">
              <a:extLst>
                <a:ext uri="{28A0092B-C50C-407E-A947-70E740481C1C}">
                  <a14:useLocalDpi xmlns:a14="http://schemas.microsoft.com/office/drawing/2010/main" val="0"/>
                </a:ext>
              </a:extLst>
            </a:blip>
            <a:srcRect/>
            <a:stretch/>
          </p:blipFill>
          <p:spPr bwMode="auto">
            <a:xfrm>
              <a:off x="6219568" y="1711216"/>
              <a:ext cx="2745941" cy="2740658"/>
            </a:xfrm>
            <a:prstGeom prst="rect">
              <a:avLst/>
            </a:prstGeom>
            <a:noFill/>
            <a:extLst>
              <a:ext uri="{909E8E84-426E-40DD-AFC4-6F175D3DCCD1}">
                <a14:hiddenFill xmlns:a14="http://schemas.microsoft.com/office/drawing/2010/main">
                  <a:solidFill>
                    <a:srgbClr val="FFFFFF"/>
                  </a:solidFill>
                </a14:hiddenFill>
              </a:ext>
            </a:extLst>
          </p:spPr>
        </p:pic>
      </p:grpSp>
      <p:pic>
        <p:nvPicPr>
          <p:cNvPr id="17" name="Picture 71" descr="C:\Users\chrisw\Desktop\Cloud Services 3.png"/>
          <p:cNvPicPr>
            <a:picLocks noChangeAspect="1" noChangeArrowheads="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black">
          <a:xfrm>
            <a:off x="8492202" y="5100721"/>
            <a:ext cx="1156408" cy="683660"/>
          </a:xfrm>
          <a:prstGeom prst="rect">
            <a:avLst/>
          </a:prstGeom>
          <a:noFill/>
          <a:extLst>
            <a:ext uri="{909E8E84-426E-40DD-AFC4-6F175D3DCCD1}">
              <a14:hiddenFill xmlns:a14="http://schemas.microsoft.com/office/drawing/2010/main">
                <a:solidFill>
                  <a:srgbClr val="FFFFFF"/>
                </a:solidFill>
              </a14:hiddenFill>
            </a:ext>
          </a:extLst>
        </p:spPr>
      </p:pic>
      <p:sp>
        <p:nvSpPr>
          <p:cNvPr id="20" name="CaixaDeTexto 19"/>
          <p:cNvSpPr txBox="1"/>
          <p:nvPr/>
        </p:nvSpPr>
        <p:spPr>
          <a:xfrm>
            <a:off x="3313059" y="106238"/>
            <a:ext cx="3491020" cy="523220"/>
          </a:xfrm>
          <a:prstGeom prst="rect">
            <a:avLst/>
          </a:prstGeom>
          <a:noFill/>
        </p:spPr>
        <p:txBody>
          <a:bodyPr wrap="none" rtlCol="0">
            <a:spAutoFit/>
          </a:bodyPr>
          <a:lstStyle/>
          <a:p>
            <a:r>
              <a:rPr lang="pt-BR" sz="2800" dirty="0">
                <a:ln w="0"/>
                <a:solidFill>
                  <a:schemeClr val="bg1"/>
                </a:solidFill>
                <a:effectLst>
                  <a:outerShdw blurRad="38100" dist="19050" dir="2700000" algn="tl" rotWithShape="0">
                    <a:schemeClr val="dk1">
                      <a:alpha val="40000"/>
                    </a:schemeClr>
                  </a:outerShdw>
                </a:effectLst>
              </a:rPr>
              <a:t>Visão Geral - Produtos</a:t>
            </a:r>
          </a:p>
        </p:txBody>
      </p:sp>
    </p:spTree>
    <p:extLst>
      <p:ext uri="{BB962C8B-B14F-4D97-AF65-F5344CB8AC3E}">
        <p14:creationId xmlns:p14="http://schemas.microsoft.com/office/powerpoint/2010/main" val="50240335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ppt_w</p:attrName>
                                        </p:attrNameLst>
                                      </p:cBhvr>
                                      <p:tavLst>
                                        <p:tav tm="0">
                                          <p:val>
                                            <p:fltVal val="0"/>
                                          </p:val>
                                        </p:tav>
                                        <p:tav tm="100000">
                                          <p:val>
                                            <p:strVal val="#ppt_w"/>
                                          </p:val>
                                        </p:tav>
                                      </p:tavLst>
                                    </p:anim>
                                    <p:anim calcmode="lin" valueType="num">
                                      <p:cBhvr>
                                        <p:cTn id="8" dur="500" fill="hold"/>
                                        <p:tgtEl>
                                          <p:spTgt spid="45"/>
                                        </p:tgtEl>
                                        <p:attrNameLst>
                                          <p:attrName>ppt_h</p:attrName>
                                        </p:attrNameLst>
                                      </p:cBhvr>
                                      <p:tavLst>
                                        <p:tav tm="0">
                                          <p:val>
                                            <p:fltVal val="0"/>
                                          </p:val>
                                        </p:tav>
                                        <p:tav tm="100000">
                                          <p:val>
                                            <p:strVal val="#ppt_h"/>
                                          </p:val>
                                        </p:tav>
                                      </p:tavLst>
                                    </p:anim>
                                    <p:animEffect transition="in" filter="fade">
                                      <p:cBhvr>
                                        <p:cTn id="9" dur="500"/>
                                        <p:tgtEl>
                                          <p:spTgt spid="45"/>
                                        </p:tgtEl>
                                      </p:cBhvr>
                                    </p:animEffect>
                                  </p:childTnLst>
                                </p:cTn>
                              </p:par>
                              <p:par>
                                <p:cTn id="10" presetID="53" presetClass="entr" presetSubtype="16" fill="hold" nodeType="with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p:cTn id="12" dur="500" fill="hold"/>
                                        <p:tgtEl>
                                          <p:spTgt spid="28"/>
                                        </p:tgtEl>
                                        <p:attrNameLst>
                                          <p:attrName>ppt_w</p:attrName>
                                        </p:attrNameLst>
                                      </p:cBhvr>
                                      <p:tavLst>
                                        <p:tav tm="0">
                                          <p:val>
                                            <p:fltVal val="0"/>
                                          </p:val>
                                        </p:tav>
                                        <p:tav tm="100000">
                                          <p:val>
                                            <p:strVal val="#ppt_w"/>
                                          </p:val>
                                        </p:tav>
                                      </p:tavLst>
                                    </p:anim>
                                    <p:anim calcmode="lin" valueType="num">
                                      <p:cBhvr>
                                        <p:cTn id="13" dur="500" fill="hold"/>
                                        <p:tgtEl>
                                          <p:spTgt spid="28"/>
                                        </p:tgtEl>
                                        <p:attrNameLst>
                                          <p:attrName>ppt_h</p:attrName>
                                        </p:attrNameLst>
                                      </p:cBhvr>
                                      <p:tavLst>
                                        <p:tav tm="0">
                                          <p:val>
                                            <p:fltVal val="0"/>
                                          </p:val>
                                        </p:tav>
                                        <p:tav tm="100000">
                                          <p:val>
                                            <p:strVal val="#ppt_h"/>
                                          </p:val>
                                        </p:tav>
                                      </p:tavLst>
                                    </p:anim>
                                    <p:animEffect transition="in" filter="fade">
                                      <p:cBhvr>
                                        <p:cTn id="14" dur="500"/>
                                        <p:tgtEl>
                                          <p:spTgt spid="28"/>
                                        </p:tgtEl>
                                      </p:cBhvr>
                                    </p:animEffect>
                                  </p:childTnLst>
                                </p:cTn>
                              </p:par>
                              <p:par>
                                <p:cTn id="15" presetID="53" presetClass="entr" presetSubtype="16"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500" fill="hold"/>
                                        <p:tgtEl>
                                          <p:spTgt spid="17"/>
                                        </p:tgtEl>
                                        <p:attrNameLst>
                                          <p:attrName>ppt_w</p:attrName>
                                        </p:attrNameLst>
                                      </p:cBhvr>
                                      <p:tavLst>
                                        <p:tav tm="0">
                                          <p:val>
                                            <p:fltVal val="0"/>
                                          </p:val>
                                        </p:tav>
                                        <p:tav tm="100000">
                                          <p:val>
                                            <p:strVal val="#ppt_w"/>
                                          </p:val>
                                        </p:tav>
                                      </p:tavLst>
                                    </p:anim>
                                    <p:anim calcmode="lin" valueType="num">
                                      <p:cBhvr>
                                        <p:cTn id="18" dur="500" fill="hold"/>
                                        <p:tgtEl>
                                          <p:spTgt spid="17"/>
                                        </p:tgtEl>
                                        <p:attrNameLst>
                                          <p:attrName>ppt_h</p:attrName>
                                        </p:attrNameLst>
                                      </p:cBhvr>
                                      <p:tavLst>
                                        <p:tav tm="0">
                                          <p:val>
                                            <p:fltVal val="0"/>
                                          </p:val>
                                        </p:tav>
                                        <p:tav tm="100000">
                                          <p:val>
                                            <p:strVal val="#ppt_h"/>
                                          </p:val>
                                        </p:tav>
                                      </p:tavLst>
                                    </p:anim>
                                    <p:animEffect transition="in" filter="fade">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3" name="Picture 5"/>
          <p:cNvPicPr>
            <a:picLocks noChangeAspect="1"/>
          </p:cNvPicPr>
          <p:nvPr/>
        </p:nvPicPr>
        <p:blipFill>
          <a:blip r:embed="rId3"/>
          <a:stretch>
            <a:fillRect/>
          </a:stretch>
        </p:blipFill>
        <p:spPr>
          <a:xfrm>
            <a:off x="9092707" y="129598"/>
            <a:ext cx="933147" cy="334448"/>
          </a:xfrm>
          <a:prstGeom prst="rect">
            <a:avLst/>
          </a:prstGeom>
        </p:spPr>
      </p:pic>
      <p:sp>
        <p:nvSpPr>
          <p:cNvPr id="13" name="Title 1"/>
          <p:cNvSpPr>
            <a:spLocks noGrp="1"/>
          </p:cNvSpPr>
          <p:nvPr/>
        </p:nvSpPr>
        <p:spPr bwMode="auto">
          <a:xfrm>
            <a:off x="120789" y="1029762"/>
            <a:ext cx="9996349" cy="853440"/>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lgn="l" rtl="0" eaLnBrk="1" fontAlgn="base" hangingPunct="1">
              <a:lnSpc>
                <a:spcPct val="90000"/>
              </a:lnSpc>
              <a:spcBef>
                <a:spcPct val="0"/>
              </a:spcBef>
              <a:spcAft>
                <a:spcPct val="0"/>
              </a:spcAft>
              <a:defRPr sz="3733" b="0" cap="none" baseline="0">
                <a:solidFill>
                  <a:schemeClr val="bg1"/>
                </a:solidFill>
                <a:latin typeface="Museo Sans For Dell" panose="02000000000000000000" pitchFamily="2" charset="0"/>
                <a:ea typeface="Museo Sans For Dell" panose="02000000000000000000" pitchFamily="2" charset="0"/>
                <a:cs typeface="+mj-cs"/>
              </a:defRPr>
            </a:lvl1pPr>
            <a:lvl2pPr algn="l" rtl="0" eaLnBrk="1" fontAlgn="base" hangingPunct="1">
              <a:lnSpc>
                <a:spcPct val="80000"/>
              </a:lnSpc>
              <a:spcBef>
                <a:spcPct val="0"/>
              </a:spcBef>
              <a:spcAft>
                <a:spcPct val="0"/>
              </a:spcAft>
              <a:defRPr sz="4267" b="1">
                <a:solidFill>
                  <a:schemeClr val="accent1"/>
                </a:solidFill>
                <a:latin typeface="Arial Black" pitchFamily="34" charset="0"/>
              </a:defRPr>
            </a:lvl2pPr>
            <a:lvl3pPr algn="l" rtl="0" eaLnBrk="1" fontAlgn="base" hangingPunct="1">
              <a:lnSpc>
                <a:spcPct val="80000"/>
              </a:lnSpc>
              <a:spcBef>
                <a:spcPct val="0"/>
              </a:spcBef>
              <a:spcAft>
                <a:spcPct val="0"/>
              </a:spcAft>
              <a:defRPr sz="4267" b="1">
                <a:solidFill>
                  <a:schemeClr val="accent1"/>
                </a:solidFill>
                <a:latin typeface="Arial Black" pitchFamily="34" charset="0"/>
              </a:defRPr>
            </a:lvl3pPr>
            <a:lvl4pPr algn="l" rtl="0" eaLnBrk="1" fontAlgn="base" hangingPunct="1">
              <a:lnSpc>
                <a:spcPct val="80000"/>
              </a:lnSpc>
              <a:spcBef>
                <a:spcPct val="0"/>
              </a:spcBef>
              <a:spcAft>
                <a:spcPct val="0"/>
              </a:spcAft>
              <a:defRPr sz="4267" b="1">
                <a:solidFill>
                  <a:schemeClr val="accent1"/>
                </a:solidFill>
                <a:latin typeface="Arial Black" pitchFamily="34" charset="0"/>
              </a:defRPr>
            </a:lvl4pPr>
            <a:lvl5pPr algn="l" rtl="0" eaLnBrk="1" fontAlgn="base" hangingPunct="1">
              <a:lnSpc>
                <a:spcPct val="80000"/>
              </a:lnSpc>
              <a:spcBef>
                <a:spcPct val="0"/>
              </a:spcBef>
              <a:spcAft>
                <a:spcPct val="0"/>
              </a:spcAft>
              <a:defRPr sz="4267" b="1">
                <a:solidFill>
                  <a:schemeClr val="accent1"/>
                </a:solidFill>
                <a:latin typeface="Arial Black" pitchFamily="34" charset="0"/>
              </a:defRPr>
            </a:lvl5pPr>
            <a:lvl6pPr marL="609585" algn="l" rtl="0" eaLnBrk="1" fontAlgn="base" hangingPunct="1">
              <a:lnSpc>
                <a:spcPct val="70000"/>
              </a:lnSpc>
              <a:spcBef>
                <a:spcPct val="0"/>
              </a:spcBef>
              <a:spcAft>
                <a:spcPct val="0"/>
              </a:spcAft>
              <a:defRPr sz="5867" b="1">
                <a:solidFill>
                  <a:schemeClr val="accent1"/>
                </a:solidFill>
                <a:latin typeface="Arial Black" pitchFamily="34" charset="0"/>
              </a:defRPr>
            </a:lvl6pPr>
            <a:lvl7pPr marL="1219170" algn="l" rtl="0" eaLnBrk="1" fontAlgn="base" hangingPunct="1">
              <a:lnSpc>
                <a:spcPct val="70000"/>
              </a:lnSpc>
              <a:spcBef>
                <a:spcPct val="0"/>
              </a:spcBef>
              <a:spcAft>
                <a:spcPct val="0"/>
              </a:spcAft>
              <a:defRPr sz="5867" b="1">
                <a:solidFill>
                  <a:schemeClr val="accent1"/>
                </a:solidFill>
                <a:latin typeface="Arial Black" pitchFamily="34" charset="0"/>
              </a:defRPr>
            </a:lvl7pPr>
            <a:lvl8pPr marL="1828754" algn="l" rtl="0" eaLnBrk="1" fontAlgn="base" hangingPunct="1">
              <a:lnSpc>
                <a:spcPct val="70000"/>
              </a:lnSpc>
              <a:spcBef>
                <a:spcPct val="0"/>
              </a:spcBef>
              <a:spcAft>
                <a:spcPct val="0"/>
              </a:spcAft>
              <a:defRPr sz="5867" b="1">
                <a:solidFill>
                  <a:schemeClr val="accent1"/>
                </a:solidFill>
                <a:latin typeface="Arial Black" pitchFamily="34" charset="0"/>
              </a:defRPr>
            </a:lvl8pPr>
            <a:lvl9pPr marL="2438339" algn="l" rtl="0" eaLnBrk="1" fontAlgn="base" hangingPunct="1">
              <a:lnSpc>
                <a:spcPct val="70000"/>
              </a:lnSpc>
              <a:spcBef>
                <a:spcPct val="0"/>
              </a:spcBef>
              <a:spcAft>
                <a:spcPct val="0"/>
              </a:spcAft>
              <a:defRPr sz="5867" b="1">
                <a:solidFill>
                  <a:schemeClr val="accent1"/>
                </a:solidFill>
                <a:latin typeface="Arial Black" pitchFamily="34" charset="0"/>
              </a:defRPr>
            </a:lvl9pPr>
          </a:lstStyle>
          <a:p>
            <a:r>
              <a:rPr lang="en-US" sz="2800" dirty="0">
                <a:solidFill>
                  <a:srgbClr val="FF0000"/>
                </a:solidFill>
              </a:rPr>
              <a:t>SharePoint - </a:t>
            </a:r>
            <a:r>
              <a:rPr lang="en-US" sz="2800" dirty="0" err="1">
                <a:solidFill>
                  <a:srgbClr val="FF0000"/>
                </a:solidFill>
              </a:rPr>
              <a:t>Compartilhamento</a:t>
            </a:r>
            <a:r>
              <a:rPr lang="en-US" sz="2800" dirty="0">
                <a:solidFill>
                  <a:srgbClr val="FF0000"/>
                </a:solidFill>
              </a:rPr>
              <a:t> e </a:t>
            </a:r>
            <a:r>
              <a:rPr lang="en-US" sz="2800" dirty="0" err="1">
                <a:solidFill>
                  <a:srgbClr val="FF0000"/>
                </a:solidFill>
              </a:rPr>
              <a:t>Sincronismo</a:t>
            </a:r>
            <a:r>
              <a:rPr lang="en-US" sz="2800" dirty="0">
                <a:solidFill>
                  <a:srgbClr val="FF0000"/>
                </a:solidFill>
              </a:rPr>
              <a:t> de </a:t>
            </a:r>
            <a:r>
              <a:rPr lang="en-US" sz="2800" dirty="0" err="1">
                <a:solidFill>
                  <a:srgbClr val="FF0000"/>
                </a:solidFill>
              </a:rPr>
              <a:t>Arquivos</a:t>
            </a:r>
            <a:r>
              <a:rPr lang="en-US" sz="2800" dirty="0">
                <a:solidFill>
                  <a:srgbClr val="FF0000"/>
                </a:solidFill>
              </a:rPr>
              <a:t> </a:t>
            </a:r>
            <a:r>
              <a:rPr lang="en-US" sz="2800" dirty="0" err="1">
                <a:solidFill>
                  <a:srgbClr val="FF0000"/>
                </a:solidFill>
              </a:rPr>
              <a:t>Corporativos</a:t>
            </a:r>
            <a:endParaRPr lang="en-US" sz="2800" dirty="0">
              <a:solidFill>
                <a:srgbClr val="FF0000"/>
              </a:solidFill>
            </a:endParaRPr>
          </a:p>
        </p:txBody>
      </p:sp>
      <p:sp>
        <p:nvSpPr>
          <p:cNvPr id="14" name="Rectangle 17"/>
          <p:cNvSpPr/>
          <p:nvPr/>
        </p:nvSpPr>
        <p:spPr bwMode="auto">
          <a:xfrm>
            <a:off x="213551" y="1949070"/>
            <a:ext cx="9796865" cy="1299816"/>
          </a:xfrm>
          <a:prstGeom prst="rect">
            <a:avLst/>
          </a:prstGeom>
          <a:solidFill>
            <a:sysClr val="window" lastClr="FFFFFF">
              <a:lumMod val="95000"/>
            </a:sysClr>
          </a:solidFill>
          <a:ln w="6350" cap="flat" cmpd="sng" algn="ctr">
            <a:noFill/>
            <a:prstDash val="solid"/>
            <a:miter lim="800000"/>
            <a:headEnd type="none" w="med" len="med"/>
            <a:tailEnd type="none" w="med" len="med"/>
          </a:ln>
          <a:effectLst/>
        </p:spPr>
        <p:txBody>
          <a:bodyPr rot="0" spcFirstLastPara="0" vert="horz" wrap="square" lIns="179285" tIns="143428" rIns="179285" bIns="14342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896091" eaLnBrk="1" fontAlgn="base" latinLnBrk="0" hangingPunct="1">
              <a:lnSpc>
                <a:spcPct val="100000"/>
              </a:lnSpc>
              <a:spcBef>
                <a:spcPct val="0"/>
              </a:spcBef>
              <a:spcAft>
                <a:spcPct val="0"/>
              </a:spcAft>
              <a:buClrTx/>
              <a:buSzTx/>
              <a:buFontTx/>
              <a:buNone/>
              <a:tabLst/>
              <a:defRPr/>
            </a:pPr>
            <a:r>
              <a:rPr kumimoji="0" lang="en-US" sz="3529" b="0" i="0" u="none" strike="noStrike" kern="0" cap="none" spc="-70" normalizeH="0" baseline="0" noProof="0" dirty="0" err="1">
                <a:ln>
                  <a:noFill/>
                </a:ln>
                <a:solidFill>
                  <a:prstClr val="black"/>
                </a:solidFill>
                <a:effectLst/>
                <a:uLnTx/>
                <a:uFillTx/>
                <a:latin typeface="Calibri Light" panose="020F0302020204030204"/>
                <a:ea typeface="+mn-ea"/>
                <a:cs typeface="+mn-cs"/>
              </a:rPr>
              <a:t>Acesso</a:t>
            </a:r>
            <a:r>
              <a:rPr kumimoji="0" lang="en-US" sz="3529" b="0" i="0" u="none" strike="noStrike" kern="0" cap="none" spc="-70" normalizeH="0" baseline="0" noProof="0" dirty="0">
                <a:ln>
                  <a:noFill/>
                </a:ln>
                <a:solidFill>
                  <a:prstClr val="black"/>
                </a:solidFill>
                <a:effectLst/>
                <a:uLnTx/>
                <a:uFillTx/>
                <a:latin typeface="Calibri Light" panose="020F0302020204030204"/>
                <a:ea typeface="+mn-ea"/>
                <a:cs typeface="+mn-cs"/>
              </a:rPr>
              <a:t> </a:t>
            </a:r>
            <a:r>
              <a:rPr kumimoji="0" lang="en-US" sz="3529" b="0" i="0" u="none" strike="noStrike" kern="0" cap="none" spc="-70" normalizeH="0" baseline="0" noProof="0" dirty="0" err="1">
                <a:ln>
                  <a:noFill/>
                </a:ln>
                <a:solidFill>
                  <a:prstClr val="black"/>
                </a:solidFill>
                <a:effectLst/>
                <a:uLnTx/>
                <a:uFillTx/>
                <a:latin typeface="Calibri Light" panose="020F0302020204030204"/>
                <a:ea typeface="+mn-ea"/>
                <a:cs typeface="+mn-cs"/>
              </a:rPr>
              <a:t>disponível</a:t>
            </a:r>
            <a:r>
              <a:rPr kumimoji="0" lang="en-US" sz="3529" b="0" i="0" u="none" strike="noStrike" kern="0" cap="none" spc="-70" normalizeH="0" baseline="0" noProof="0" dirty="0">
                <a:ln>
                  <a:noFill/>
                </a:ln>
                <a:solidFill>
                  <a:prstClr val="black"/>
                </a:solidFill>
                <a:effectLst/>
                <a:uLnTx/>
                <a:uFillTx/>
                <a:latin typeface="Calibri Light" panose="020F0302020204030204"/>
                <a:ea typeface="+mn-ea"/>
                <a:cs typeface="+mn-cs"/>
              </a:rPr>
              <a:t> de </a:t>
            </a:r>
            <a:r>
              <a:rPr kumimoji="0" lang="en-US" sz="3529" b="0" i="0" u="none" strike="noStrike" kern="0" cap="none" spc="-70" normalizeH="0" baseline="0" noProof="0" dirty="0" err="1">
                <a:ln>
                  <a:noFill/>
                </a:ln>
                <a:solidFill>
                  <a:prstClr val="black"/>
                </a:solidFill>
                <a:effectLst/>
                <a:uLnTx/>
                <a:uFillTx/>
                <a:latin typeface="Calibri Light" panose="020F0302020204030204"/>
                <a:ea typeface="+mn-ea"/>
                <a:cs typeface="+mn-cs"/>
              </a:rPr>
              <a:t>qualquer</a:t>
            </a:r>
            <a:r>
              <a:rPr kumimoji="0" lang="en-US" sz="3529" b="0" i="0" u="none" strike="noStrike" kern="0" cap="none" spc="-70" normalizeH="0" baseline="0" noProof="0" dirty="0">
                <a:ln>
                  <a:noFill/>
                </a:ln>
                <a:solidFill>
                  <a:prstClr val="black"/>
                </a:solidFill>
                <a:effectLst/>
                <a:uLnTx/>
                <a:uFillTx/>
                <a:latin typeface="Calibri Light" panose="020F0302020204030204"/>
                <a:ea typeface="+mn-ea"/>
                <a:cs typeface="+mn-cs"/>
              </a:rPr>
              <a:t> </a:t>
            </a:r>
            <a:r>
              <a:rPr kumimoji="0" lang="en-US" sz="3529" b="0" i="0" u="none" strike="noStrike" kern="0" cap="none" spc="-70" normalizeH="0" baseline="0" noProof="0" dirty="0" err="1">
                <a:ln>
                  <a:noFill/>
                </a:ln>
                <a:solidFill>
                  <a:prstClr val="black"/>
                </a:solidFill>
                <a:effectLst/>
                <a:uLnTx/>
                <a:uFillTx/>
                <a:latin typeface="Calibri Light" panose="020F0302020204030204"/>
                <a:ea typeface="+mn-ea"/>
                <a:cs typeface="+mn-cs"/>
              </a:rPr>
              <a:t>lugar</a:t>
            </a:r>
            <a:r>
              <a:rPr kumimoji="0" lang="en-US" sz="3529" b="0" i="0" u="none" strike="noStrike" kern="0" cap="none" spc="-70" normalizeH="0" baseline="0" noProof="0" dirty="0">
                <a:ln>
                  <a:noFill/>
                </a:ln>
                <a:solidFill>
                  <a:prstClr val="black"/>
                </a:solidFill>
                <a:effectLst/>
                <a:uLnTx/>
                <a:uFillTx/>
                <a:latin typeface="Calibri Light" panose="020F0302020204030204"/>
                <a:ea typeface="+mn-ea"/>
                <a:cs typeface="+mn-cs"/>
              </a:rPr>
              <a:t> e a </a:t>
            </a:r>
            <a:r>
              <a:rPr kumimoji="0" lang="en-US" sz="3529" b="0" i="0" u="none" strike="noStrike" kern="0" cap="none" spc="-70" normalizeH="0" baseline="0" noProof="0" dirty="0" err="1">
                <a:ln>
                  <a:noFill/>
                </a:ln>
                <a:solidFill>
                  <a:prstClr val="black"/>
                </a:solidFill>
                <a:effectLst/>
                <a:uLnTx/>
                <a:uFillTx/>
                <a:latin typeface="Calibri Light" panose="020F0302020204030204"/>
                <a:ea typeface="+mn-ea"/>
                <a:cs typeface="+mn-cs"/>
              </a:rPr>
              <a:t>qualquer</a:t>
            </a:r>
            <a:r>
              <a:rPr kumimoji="0" lang="en-US" sz="3529" b="0" i="0" u="none" strike="noStrike" kern="0" cap="none" spc="-70" normalizeH="0" baseline="0" noProof="0" dirty="0">
                <a:ln>
                  <a:noFill/>
                </a:ln>
                <a:solidFill>
                  <a:prstClr val="black"/>
                </a:solidFill>
                <a:effectLst/>
                <a:uLnTx/>
                <a:uFillTx/>
                <a:latin typeface="Calibri Light" panose="020F0302020204030204"/>
                <a:ea typeface="+mn-ea"/>
                <a:cs typeface="+mn-cs"/>
              </a:rPr>
              <a:t> hora</a:t>
            </a:r>
          </a:p>
        </p:txBody>
      </p:sp>
      <p:sp>
        <p:nvSpPr>
          <p:cNvPr id="15" name="Rectangle 18"/>
          <p:cNvSpPr/>
          <p:nvPr/>
        </p:nvSpPr>
        <p:spPr bwMode="auto">
          <a:xfrm>
            <a:off x="213551" y="3293707"/>
            <a:ext cx="9796865" cy="1299816"/>
          </a:xfrm>
          <a:prstGeom prst="rect">
            <a:avLst/>
          </a:prstGeom>
          <a:solidFill>
            <a:sysClr val="window" lastClr="FFFFFF">
              <a:lumMod val="95000"/>
            </a:sysClr>
          </a:solidFill>
          <a:ln w="6350" cap="flat" cmpd="sng" algn="ctr">
            <a:noFill/>
            <a:prstDash val="solid"/>
            <a:miter lim="800000"/>
            <a:headEnd type="none" w="med" len="med"/>
            <a:tailEnd type="none" w="med" len="med"/>
          </a:ln>
          <a:effectLst/>
        </p:spPr>
        <p:txBody>
          <a:bodyPr rot="0" spcFirstLastPara="0" vert="horz" wrap="square" lIns="179285" tIns="143428" rIns="179285" bIns="14342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896091" eaLnBrk="1" fontAlgn="base" latinLnBrk="0" hangingPunct="1">
              <a:lnSpc>
                <a:spcPct val="100000"/>
              </a:lnSpc>
              <a:spcBef>
                <a:spcPct val="0"/>
              </a:spcBef>
              <a:spcAft>
                <a:spcPct val="0"/>
              </a:spcAft>
              <a:buClrTx/>
              <a:buSzTx/>
              <a:buFontTx/>
              <a:buNone/>
              <a:tabLst/>
              <a:defRPr/>
            </a:pPr>
            <a:r>
              <a:rPr kumimoji="0" lang="en-US" sz="3529" b="0" i="0" u="none" strike="noStrike" kern="0" cap="none" spc="-70" normalizeH="0" baseline="0" noProof="0" dirty="0" err="1">
                <a:ln>
                  <a:noFill/>
                </a:ln>
                <a:solidFill>
                  <a:prstClr val="black"/>
                </a:solidFill>
                <a:effectLst/>
                <a:uLnTx/>
                <a:uFillTx/>
                <a:latin typeface="Calibri Light" panose="020F0302020204030204"/>
                <a:ea typeface="+mn-ea"/>
                <a:cs typeface="+mn-cs"/>
              </a:rPr>
              <a:t>Integração</a:t>
            </a:r>
            <a:r>
              <a:rPr kumimoji="0" lang="en-US" sz="3529" b="0" i="0" u="none" strike="noStrike" kern="0" cap="none" spc="-70" normalizeH="0" baseline="0" noProof="0" dirty="0">
                <a:ln>
                  <a:noFill/>
                </a:ln>
                <a:solidFill>
                  <a:prstClr val="black"/>
                </a:solidFill>
                <a:effectLst/>
                <a:uLnTx/>
                <a:uFillTx/>
                <a:latin typeface="Calibri Light" panose="020F0302020204030204"/>
                <a:ea typeface="+mn-ea"/>
                <a:cs typeface="+mn-cs"/>
              </a:rPr>
              <a:t> com </a:t>
            </a:r>
            <a:r>
              <a:rPr kumimoji="0" lang="en-US" sz="3529" b="0" i="0" u="none" strike="noStrike" kern="0" cap="none" spc="-70" normalizeH="0" baseline="0" noProof="0" dirty="0" err="1">
                <a:ln>
                  <a:noFill/>
                </a:ln>
                <a:solidFill>
                  <a:prstClr val="black"/>
                </a:solidFill>
                <a:effectLst/>
                <a:uLnTx/>
                <a:uFillTx/>
                <a:latin typeface="Calibri Light" panose="020F0302020204030204"/>
                <a:ea typeface="+mn-ea"/>
                <a:cs typeface="+mn-cs"/>
              </a:rPr>
              <a:t>aplicativos</a:t>
            </a:r>
            <a:r>
              <a:rPr kumimoji="0" lang="en-US" sz="3529" b="0" i="0" u="none" strike="noStrike" kern="0" cap="none" spc="-70" normalizeH="0" noProof="0" dirty="0">
                <a:ln>
                  <a:noFill/>
                </a:ln>
                <a:solidFill>
                  <a:prstClr val="black"/>
                </a:solidFill>
                <a:effectLst/>
                <a:uLnTx/>
                <a:uFillTx/>
                <a:latin typeface="Calibri Light" panose="020F0302020204030204"/>
                <a:ea typeface="+mn-ea"/>
                <a:cs typeface="+mn-cs"/>
              </a:rPr>
              <a:t> </a:t>
            </a:r>
            <a:r>
              <a:rPr kumimoji="0" lang="en-US" sz="3529" b="0" i="0" u="none" strike="noStrike" kern="0" cap="none" spc="-70" normalizeH="0" noProof="0" dirty="0" err="1">
                <a:ln>
                  <a:noFill/>
                </a:ln>
                <a:solidFill>
                  <a:prstClr val="black"/>
                </a:solidFill>
                <a:effectLst/>
                <a:uLnTx/>
                <a:uFillTx/>
                <a:latin typeface="Calibri Light" panose="020F0302020204030204"/>
                <a:ea typeface="+mn-ea"/>
                <a:cs typeface="+mn-cs"/>
              </a:rPr>
              <a:t>conhecidos</a:t>
            </a:r>
            <a:r>
              <a:rPr kumimoji="0" lang="en-US" sz="3529" b="0" i="0" u="none" strike="noStrike" kern="0" cap="none" spc="-70" normalizeH="0" noProof="0" dirty="0">
                <a:ln>
                  <a:noFill/>
                </a:ln>
                <a:solidFill>
                  <a:prstClr val="black"/>
                </a:solidFill>
                <a:effectLst/>
                <a:uLnTx/>
                <a:uFillTx/>
                <a:latin typeface="Calibri Light" panose="020F0302020204030204"/>
                <a:ea typeface="+mn-ea"/>
                <a:cs typeface="+mn-cs"/>
              </a:rPr>
              <a:t> (Office 365)</a:t>
            </a:r>
            <a:endParaRPr kumimoji="0" lang="en-US" sz="3529" b="0" i="0" u="none" strike="noStrike" kern="0" cap="none" spc="-70" normalizeH="0" baseline="0" noProof="0" dirty="0">
              <a:ln>
                <a:noFill/>
              </a:ln>
              <a:solidFill>
                <a:prstClr val="black"/>
              </a:solidFill>
              <a:effectLst/>
              <a:uLnTx/>
              <a:uFillTx/>
              <a:latin typeface="Calibri Light" panose="020F0302020204030204"/>
              <a:ea typeface="+mn-ea"/>
              <a:cs typeface="+mn-cs"/>
            </a:endParaRPr>
          </a:p>
        </p:txBody>
      </p:sp>
      <p:sp>
        <p:nvSpPr>
          <p:cNvPr id="16" name="Rectangle 19"/>
          <p:cNvSpPr/>
          <p:nvPr/>
        </p:nvSpPr>
        <p:spPr bwMode="auto">
          <a:xfrm>
            <a:off x="213551" y="4638345"/>
            <a:ext cx="9796865" cy="1344637"/>
          </a:xfrm>
          <a:prstGeom prst="rect">
            <a:avLst/>
          </a:prstGeom>
          <a:solidFill>
            <a:sysClr val="window" lastClr="FFFFFF">
              <a:lumMod val="95000"/>
            </a:sysClr>
          </a:solidFill>
          <a:ln w="6350" cap="flat" cmpd="sng" algn="ctr">
            <a:noFill/>
            <a:prstDash val="solid"/>
            <a:miter lim="800000"/>
            <a:headEnd type="none" w="med" len="med"/>
            <a:tailEnd type="none" w="med" len="med"/>
          </a:ln>
          <a:effectLst/>
        </p:spPr>
        <p:txBody>
          <a:bodyPr rot="0" spcFirstLastPara="0" vert="horz" wrap="square" lIns="179285" tIns="143428" rIns="179285" bIns="14342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896091" eaLnBrk="1" fontAlgn="base" latinLnBrk="0" hangingPunct="1">
              <a:lnSpc>
                <a:spcPct val="100000"/>
              </a:lnSpc>
              <a:spcBef>
                <a:spcPct val="0"/>
              </a:spcBef>
              <a:spcAft>
                <a:spcPct val="0"/>
              </a:spcAft>
              <a:buClrTx/>
              <a:buSzTx/>
              <a:buFontTx/>
              <a:buNone/>
              <a:tabLst/>
              <a:defRPr/>
            </a:pPr>
            <a:r>
              <a:rPr kumimoji="0" lang="en-US" sz="3529" b="0" i="0" u="none" strike="noStrike" kern="0" cap="none" spc="-70" normalizeH="0" baseline="0" noProof="0" dirty="0" err="1">
                <a:ln>
                  <a:noFill/>
                </a:ln>
                <a:solidFill>
                  <a:prstClr val="black"/>
                </a:solidFill>
                <a:effectLst/>
                <a:uLnTx/>
                <a:uFillTx/>
                <a:latin typeface="Calibri Light" panose="020F0302020204030204"/>
                <a:ea typeface="+mn-ea"/>
                <a:cs typeface="+mn-cs"/>
              </a:rPr>
              <a:t>Segurança</a:t>
            </a:r>
            <a:r>
              <a:rPr lang="en-US" sz="3529" kern="0" spc="-70" dirty="0">
                <a:solidFill>
                  <a:prstClr val="black"/>
                </a:solidFill>
                <a:latin typeface="Calibri Light" panose="020F0302020204030204"/>
              </a:rPr>
              <a:t>, </a:t>
            </a:r>
            <a:r>
              <a:rPr lang="en-US" sz="3529" i="1" kern="0" spc="-70" dirty="0">
                <a:solidFill>
                  <a:prstClr val="black"/>
                </a:solidFill>
                <a:latin typeface="Calibri Light" panose="020F0302020204030204"/>
              </a:rPr>
              <a:t>compliance</a:t>
            </a:r>
            <a:r>
              <a:rPr lang="en-US" sz="3529" kern="0" spc="-70" dirty="0">
                <a:solidFill>
                  <a:prstClr val="black"/>
                </a:solidFill>
                <a:latin typeface="Calibri Light" panose="020F0302020204030204"/>
              </a:rPr>
              <a:t> e auditoria</a:t>
            </a:r>
            <a:endParaRPr kumimoji="0" lang="en-US" sz="3529" b="0" i="0" u="none" strike="noStrike" kern="0" cap="none" spc="-70" normalizeH="0" baseline="0" noProof="0" dirty="0">
              <a:ln>
                <a:noFill/>
              </a:ln>
              <a:solidFill>
                <a:prstClr val="black"/>
              </a:solidFill>
              <a:effectLst/>
              <a:uLnTx/>
              <a:uFillTx/>
              <a:latin typeface="Calibri Light" panose="020F0302020204030204"/>
              <a:ea typeface="+mn-ea"/>
              <a:cs typeface="+mn-cs"/>
            </a:endParaRPr>
          </a:p>
        </p:txBody>
      </p:sp>
      <p:sp>
        <p:nvSpPr>
          <p:cNvPr id="9" name="CaixaDeTexto 8"/>
          <p:cNvSpPr txBox="1"/>
          <p:nvPr/>
        </p:nvSpPr>
        <p:spPr>
          <a:xfrm>
            <a:off x="2857197" y="106238"/>
            <a:ext cx="5202578" cy="523220"/>
          </a:xfrm>
          <a:prstGeom prst="rect">
            <a:avLst/>
          </a:prstGeom>
          <a:noFill/>
        </p:spPr>
        <p:txBody>
          <a:bodyPr wrap="none" rtlCol="0">
            <a:spAutoFit/>
          </a:bodyPr>
          <a:lstStyle/>
          <a:p>
            <a:r>
              <a:rPr lang="pt-BR" sz="2800" dirty="0">
                <a:ln w="0"/>
                <a:solidFill>
                  <a:schemeClr val="bg1"/>
                </a:solidFill>
                <a:effectLst>
                  <a:outerShdw blurRad="38100" dist="19050" dir="2700000" algn="tl" rotWithShape="0">
                    <a:schemeClr val="dk1">
                      <a:alpha val="40000"/>
                    </a:schemeClr>
                  </a:outerShdw>
                </a:effectLst>
              </a:rPr>
              <a:t>Visão Geral SharePoint e utilização</a:t>
            </a:r>
          </a:p>
        </p:txBody>
      </p:sp>
    </p:spTree>
    <p:extLst>
      <p:ext uri="{BB962C8B-B14F-4D97-AF65-F5344CB8AC3E}">
        <p14:creationId xmlns:p14="http://schemas.microsoft.com/office/powerpoint/2010/main" val="408031942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3" name="Picture 5"/>
          <p:cNvPicPr>
            <a:picLocks noChangeAspect="1"/>
          </p:cNvPicPr>
          <p:nvPr/>
        </p:nvPicPr>
        <p:blipFill>
          <a:blip r:embed="rId3"/>
          <a:stretch>
            <a:fillRect/>
          </a:stretch>
        </p:blipFill>
        <p:spPr>
          <a:xfrm>
            <a:off x="9092707" y="129598"/>
            <a:ext cx="933147" cy="334448"/>
          </a:xfrm>
          <a:prstGeom prst="rect">
            <a:avLst/>
          </a:prstGeom>
        </p:spPr>
      </p:pic>
      <p:sp>
        <p:nvSpPr>
          <p:cNvPr id="2" name="CaixaDeTexto 1"/>
          <p:cNvSpPr txBox="1"/>
          <p:nvPr/>
        </p:nvSpPr>
        <p:spPr>
          <a:xfrm>
            <a:off x="506437" y="872195"/>
            <a:ext cx="9242474" cy="369332"/>
          </a:xfrm>
          <a:prstGeom prst="rect">
            <a:avLst/>
          </a:prstGeom>
          <a:noFill/>
        </p:spPr>
        <p:txBody>
          <a:bodyPr wrap="square" rtlCol="0">
            <a:spAutoFit/>
          </a:bodyPr>
          <a:lstStyle/>
          <a:p>
            <a:pPr algn="just"/>
            <a:r>
              <a:rPr lang="pt-BR" dirty="0"/>
              <a:t>Todos os usuários receberão um e-mail para acesso ao SharePoint</a:t>
            </a:r>
          </a:p>
        </p:txBody>
      </p:sp>
      <p:pic>
        <p:nvPicPr>
          <p:cNvPr id="3" name="Imagem 2"/>
          <p:cNvPicPr>
            <a:picLocks noChangeAspect="1"/>
          </p:cNvPicPr>
          <p:nvPr/>
        </p:nvPicPr>
        <p:blipFill rotWithShape="1">
          <a:blip r:embed="rId4"/>
          <a:srcRect b="34404"/>
          <a:stretch/>
        </p:blipFill>
        <p:spPr>
          <a:xfrm>
            <a:off x="112542" y="1363096"/>
            <a:ext cx="8681233" cy="3068228"/>
          </a:xfrm>
          <a:prstGeom prst="rect">
            <a:avLst/>
          </a:prstGeom>
        </p:spPr>
      </p:pic>
      <p:sp>
        <p:nvSpPr>
          <p:cNvPr id="4" name="Elipse 3"/>
          <p:cNvSpPr/>
          <p:nvPr/>
        </p:nvSpPr>
        <p:spPr>
          <a:xfrm>
            <a:off x="1" y="3390313"/>
            <a:ext cx="2110153" cy="703385"/>
          </a:xfrm>
          <a:prstGeom prst="ellipse">
            <a:avLst/>
          </a:prstGeom>
          <a:noFill/>
          <a:ln>
            <a:solidFill>
              <a:srgbClr val="F57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5" name="CaixaDeTexto 4"/>
          <p:cNvSpPr txBox="1"/>
          <p:nvPr/>
        </p:nvSpPr>
        <p:spPr>
          <a:xfrm>
            <a:off x="647116" y="4951828"/>
            <a:ext cx="5120640" cy="646331"/>
          </a:xfrm>
          <a:prstGeom prst="rect">
            <a:avLst/>
          </a:prstGeom>
          <a:noFill/>
        </p:spPr>
        <p:txBody>
          <a:bodyPr wrap="square" rtlCol="0">
            <a:spAutoFit/>
          </a:bodyPr>
          <a:lstStyle/>
          <a:p>
            <a:pPr algn="just"/>
            <a:r>
              <a:rPr lang="pt-BR" dirty="0"/>
              <a:t>Após clicar no link em destaque será transferido para tela de autenticação do Portal do Office 365:</a:t>
            </a:r>
          </a:p>
        </p:txBody>
      </p:sp>
      <p:pic>
        <p:nvPicPr>
          <p:cNvPr id="6" name="Imagem 5"/>
          <p:cNvPicPr>
            <a:picLocks noChangeAspect="1"/>
          </p:cNvPicPr>
          <p:nvPr/>
        </p:nvPicPr>
        <p:blipFill>
          <a:blip r:embed="rId5"/>
          <a:stretch>
            <a:fillRect/>
          </a:stretch>
        </p:blipFill>
        <p:spPr>
          <a:xfrm>
            <a:off x="5947398" y="2813222"/>
            <a:ext cx="3933825" cy="3552825"/>
          </a:xfrm>
          <a:prstGeom prst="rect">
            <a:avLst/>
          </a:prstGeom>
        </p:spPr>
      </p:pic>
      <p:sp>
        <p:nvSpPr>
          <p:cNvPr id="10" name="CaixaDeTexto 9"/>
          <p:cNvSpPr txBox="1"/>
          <p:nvPr/>
        </p:nvSpPr>
        <p:spPr>
          <a:xfrm>
            <a:off x="2857197" y="106238"/>
            <a:ext cx="5202578" cy="523220"/>
          </a:xfrm>
          <a:prstGeom prst="rect">
            <a:avLst/>
          </a:prstGeom>
          <a:noFill/>
        </p:spPr>
        <p:txBody>
          <a:bodyPr wrap="none" rtlCol="0">
            <a:spAutoFit/>
          </a:bodyPr>
          <a:lstStyle/>
          <a:p>
            <a:r>
              <a:rPr lang="pt-BR" sz="2800" dirty="0">
                <a:ln w="0"/>
                <a:solidFill>
                  <a:schemeClr val="bg1"/>
                </a:solidFill>
                <a:effectLst>
                  <a:outerShdw blurRad="38100" dist="19050" dir="2700000" algn="tl" rotWithShape="0">
                    <a:schemeClr val="dk1">
                      <a:alpha val="40000"/>
                    </a:schemeClr>
                  </a:outerShdw>
                </a:effectLst>
              </a:rPr>
              <a:t>Visão Geral SharePoint e utilização</a:t>
            </a:r>
          </a:p>
        </p:txBody>
      </p:sp>
    </p:spTree>
    <p:extLst>
      <p:ext uri="{BB962C8B-B14F-4D97-AF65-F5344CB8AC3E}">
        <p14:creationId xmlns:p14="http://schemas.microsoft.com/office/powerpoint/2010/main" val="222700243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CaixaDeTexto 4"/>
          <p:cNvSpPr txBox="1"/>
          <p:nvPr/>
        </p:nvSpPr>
        <p:spPr>
          <a:xfrm>
            <a:off x="751740" y="787790"/>
            <a:ext cx="8754128" cy="369332"/>
          </a:xfrm>
          <a:prstGeom prst="rect">
            <a:avLst/>
          </a:prstGeom>
          <a:noFill/>
        </p:spPr>
        <p:txBody>
          <a:bodyPr wrap="none" rtlCol="0">
            <a:spAutoFit/>
          </a:bodyPr>
          <a:lstStyle/>
          <a:p>
            <a:pPr algn="just"/>
            <a:r>
              <a:rPr lang="pt-BR" dirty="0"/>
              <a:t>Na tela vão aparecer apenas as pastas (grupos) que o usuário tem permissão para visualizar</a:t>
            </a:r>
          </a:p>
        </p:txBody>
      </p:sp>
      <p:pic>
        <p:nvPicPr>
          <p:cNvPr id="6" name="Imagem 5"/>
          <p:cNvPicPr>
            <a:picLocks noChangeAspect="1"/>
          </p:cNvPicPr>
          <p:nvPr/>
        </p:nvPicPr>
        <p:blipFill>
          <a:blip r:embed="rId2"/>
          <a:stretch>
            <a:fillRect/>
          </a:stretch>
        </p:blipFill>
        <p:spPr>
          <a:xfrm>
            <a:off x="154744" y="1176819"/>
            <a:ext cx="9819249" cy="3716363"/>
          </a:xfrm>
          <a:prstGeom prst="rect">
            <a:avLst/>
          </a:prstGeom>
        </p:spPr>
      </p:pic>
      <p:sp>
        <p:nvSpPr>
          <p:cNvPr id="7" name="CaixaDeTexto 6"/>
          <p:cNvSpPr txBox="1"/>
          <p:nvPr/>
        </p:nvSpPr>
        <p:spPr>
          <a:xfrm>
            <a:off x="154745" y="5141649"/>
            <a:ext cx="4501662" cy="923330"/>
          </a:xfrm>
          <a:prstGeom prst="rect">
            <a:avLst/>
          </a:prstGeom>
          <a:noFill/>
        </p:spPr>
        <p:txBody>
          <a:bodyPr wrap="square" rtlCol="0">
            <a:spAutoFit/>
          </a:bodyPr>
          <a:lstStyle/>
          <a:p>
            <a:pPr algn="just"/>
            <a:r>
              <a:rPr lang="pt-BR" dirty="0"/>
              <a:t>Clique em “Sincronizar” e depois no botão “Sincronizar Agora” para que o aplicativo apareça</a:t>
            </a:r>
          </a:p>
        </p:txBody>
      </p:sp>
      <p:pic>
        <p:nvPicPr>
          <p:cNvPr id="8" name="Imagem 7"/>
          <p:cNvPicPr>
            <a:picLocks noChangeAspect="1"/>
          </p:cNvPicPr>
          <p:nvPr/>
        </p:nvPicPr>
        <p:blipFill>
          <a:blip r:embed="rId3"/>
          <a:stretch>
            <a:fillRect/>
          </a:stretch>
        </p:blipFill>
        <p:spPr>
          <a:xfrm>
            <a:off x="5710884" y="4233770"/>
            <a:ext cx="3590925" cy="2371725"/>
          </a:xfrm>
          <a:prstGeom prst="rect">
            <a:avLst/>
          </a:prstGeom>
        </p:spPr>
      </p:pic>
      <p:cxnSp>
        <p:nvCxnSpPr>
          <p:cNvPr id="10" name="Conector de Seta Reta 9"/>
          <p:cNvCxnSpPr/>
          <p:nvPr/>
        </p:nvCxnSpPr>
        <p:spPr>
          <a:xfrm>
            <a:off x="4628270" y="5613009"/>
            <a:ext cx="1223889" cy="0"/>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sp>
        <p:nvSpPr>
          <p:cNvPr id="13" name="Elipse 12"/>
          <p:cNvSpPr/>
          <p:nvPr/>
        </p:nvSpPr>
        <p:spPr>
          <a:xfrm>
            <a:off x="3080825" y="3527963"/>
            <a:ext cx="998806" cy="461666"/>
          </a:xfrm>
          <a:prstGeom prst="ellipse">
            <a:avLst/>
          </a:prstGeom>
          <a:noFill/>
          <a:ln w="28575">
            <a:solidFill>
              <a:srgbClr val="F57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4" name="CaixaDeTexto 13"/>
          <p:cNvSpPr txBox="1"/>
          <p:nvPr/>
        </p:nvSpPr>
        <p:spPr>
          <a:xfrm>
            <a:off x="153212" y="6281934"/>
            <a:ext cx="5445730" cy="646331"/>
          </a:xfrm>
          <a:prstGeom prst="rect">
            <a:avLst/>
          </a:prstGeom>
          <a:noFill/>
        </p:spPr>
        <p:txBody>
          <a:bodyPr wrap="square" rtlCol="0">
            <a:spAutoFit/>
          </a:bodyPr>
          <a:lstStyle/>
          <a:p>
            <a:r>
              <a:rPr lang="pt-BR" dirty="0"/>
              <a:t>OBS: Todas os computadores já estão com o aplicativo instalado</a:t>
            </a:r>
          </a:p>
        </p:txBody>
      </p:sp>
      <p:pic>
        <p:nvPicPr>
          <p:cNvPr id="15" name="Picture 5"/>
          <p:cNvPicPr>
            <a:picLocks noChangeAspect="1"/>
          </p:cNvPicPr>
          <p:nvPr/>
        </p:nvPicPr>
        <p:blipFill>
          <a:blip r:embed="rId4"/>
          <a:stretch>
            <a:fillRect/>
          </a:stretch>
        </p:blipFill>
        <p:spPr>
          <a:xfrm>
            <a:off x="9092707" y="129598"/>
            <a:ext cx="933147" cy="334448"/>
          </a:xfrm>
          <a:prstGeom prst="rect">
            <a:avLst/>
          </a:prstGeom>
        </p:spPr>
      </p:pic>
      <p:sp>
        <p:nvSpPr>
          <p:cNvPr id="16" name="CaixaDeTexto 15"/>
          <p:cNvSpPr txBox="1"/>
          <p:nvPr/>
        </p:nvSpPr>
        <p:spPr>
          <a:xfrm>
            <a:off x="2857197" y="106238"/>
            <a:ext cx="5202578" cy="523220"/>
          </a:xfrm>
          <a:prstGeom prst="rect">
            <a:avLst/>
          </a:prstGeom>
          <a:noFill/>
        </p:spPr>
        <p:txBody>
          <a:bodyPr wrap="none" rtlCol="0">
            <a:spAutoFit/>
          </a:bodyPr>
          <a:lstStyle/>
          <a:p>
            <a:r>
              <a:rPr lang="pt-BR" sz="2800" dirty="0">
                <a:ln w="0"/>
                <a:solidFill>
                  <a:schemeClr val="bg1"/>
                </a:solidFill>
                <a:effectLst>
                  <a:outerShdw blurRad="38100" dist="19050" dir="2700000" algn="tl" rotWithShape="0">
                    <a:schemeClr val="dk1">
                      <a:alpha val="40000"/>
                    </a:schemeClr>
                  </a:outerShdw>
                </a:effectLst>
              </a:rPr>
              <a:t>Visão Geral SharePoint e utilização</a:t>
            </a:r>
          </a:p>
        </p:txBody>
      </p:sp>
    </p:spTree>
    <p:extLst>
      <p:ext uri="{BB962C8B-B14F-4D97-AF65-F5344CB8AC3E}">
        <p14:creationId xmlns:p14="http://schemas.microsoft.com/office/powerpoint/2010/main" val="34881220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0-#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7" name="Imagem 6"/>
          <p:cNvPicPr>
            <a:picLocks noChangeAspect="1"/>
          </p:cNvPicPr>
          <p:nvPr/>
        </p:nvPicPr>
        <p:blipFill>
          <a:blip r:embed="rId2"/>
          <a:stretch>
            <a:fillRect/>
          </a:stretch>
        </p:blipFill>
        <p:spPr>
          <a:xfrm>
            <a:off x="283394" y="1237518"/>
            <a:ext cx="5076825" cy="3257550"/>
          </a:xfrm>
          <a:prstGeom prst="rect">
            <a:avLst/>
          </a:prstGeom>
        </p:spPr>
      </p:pic>
      <p:pic>
        <p:nvPicPr>
          <p:cNvPr id="8" name="Imagem 7"/>
          <p:cNvPicPr>
            <a:picLocks noChangeAspect="1"/>
          </p:cNvPicPr>
          <p:nvPr/>
        </p:nvPicPr>
        <p:blipFill>
          <a:blip r:embed="rId3"/>
          <a:stretch>
            <a:fillRect/>
          </a:stretch>
        </p:blipFill>
        <p:spPr>
          <a:xfrm>
            <a:off x="4011332" y="2264460"/>
            <a:ext cx="5076825" cy="3257550"/>
          </a:xfrm>
          <a:prstGeom prst="rect">
            <a:avLst/>
          </a:prstGeom>
        </p:spPr>
      </p:pic>
      <p:pic>
        <p:nvPicPr>
          <p:cNvPr id="10" name="Picture 5"/>
          <p:cNvPicPr>
            <a:picLocks noChangeAspect="1"/>
          </p:cNvPicPr>
          <p:nvPr/>
        </p:nvPicPr>
        <p:blipFill>
          <a:blip r:embed="rId4"/>
          <a:stretch>
            <a:fillRect/>
          </a:stretch>
        </p:blipFill>
        <p:spPr>
          <a:xfrm>
            <a:off x="9092707" y="129598"/>
            <a:ext cx="933147" cy="334448"/>
          </a:xfrm>
          <a:prstGeom prst="rect">
            <a:avLst/>
          </a:prstGeom>
        </p:spPr>
      </p:pic>
      <p:sp>
        <p:nvSpPr>
          <p:cNvPr id="11" name="CaixaDeTexto 10"/>
          <p:cNvSpPr txBox="1"/>
          <p:nvPr/>
        </p:nvSpPr>
        <p:spPr>
          <a:xfrm>
            <a:off x="2857197" y="106238"/>
            <a:ext cx="5202578" cy="523220"/>
          </a:xfrm>
          <a:prstGeom prst="rect">
            <a:avLst/>
          </a:prstGeom>
          <a:noFill/>
        </p:spPr>
        <p:txBody>
          <a:bodyPr wrap="none" rtlCol="0">
            <a:spAutoFit/>
          </a:bodyPr>
          <a:lstStyle/>
          <a:p>
            <a:r>
              <a:rPr lang="pt-BR" sz="2800" dirty="0">
                <a:ln w="0"/>
                <a:solidFill>
                  <a:schemeClr val="bg1"/>
                </a:solidFill>
                <a:effectLst>
                  <a:outerShdw blurRad="38100" dist="19050" dir="2700000" algn="tl" rotWithShape="0">
                    <a:schemeClr val="dk1">
                      <a:alpha val="40000"/>
                    </a:schemeClr>
                  </a:outerShdw>
                </a:effectLst>
              </a:rPr>
              <a:t>Visão Geral SharePoint e utilização</a:t>
            </a:r>
          </a:p>
        </p:txBody>
      </p:sp>
    </p:spTree>
    <p:extLst>
      <p:ext uri="{BB962C8B-B14F-4D97-AF65-F5344CB8AC3E}">
        <p14:creationId xmlns:p14="http://schemas.microsoft.com/office/powerpoint/2010/main" val="30196731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down)">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3" name="Picture 5"/>
          <p:cNvPicPr>
            <a:picLocks noChangeAspect="1"/>
          </p:cNvPicPr>
          <p:nvPr/>
        </p:nvPicPr>
        <p:blipFill>
          <a:blip r:embed="rId3"/>
          <a:stretch>
            <a:fillRect/>
          </a:stretch>
        </p:blipFill>
        <p:spPr>
          <a:xfrm>
            <a:off x="9092707" y="129598"/>
            <a:ext cx="933147" cy="334448"/>
          </a:xfrm>
          <a:prstGeom prst="rect">
            <a:avLst/>
          </a:prstGeom>
        </p:spPr>
      </p:pic>
      <p:pic>
        <p:nvPicPr>
          <p:cNvPr id="11" name="Imagem 10"/>
          <p:cNvPicPr>
            <a:picLocks noChangeAspect="1"/>
          </p:cNvPicPr>
          <p:nvPr/>
        </p:nvPicPr>
        <p:blipFill>
          <a:blip r:embed="rId4"/>
          <a:stretch>
            <a:fillRect/>
          </a:stretch>
        </p:blipFill>
        <p:spPr>
          <a:xfrm>
            <a:off x="182880" y="1854698"/>
            <a:ext cx="9626531" cy="2942385"/>
          </a:xfrm>
          <a:prstGeom prst="rect">
            <a:avLst/>
          </a:prstGeom>
        </p:spPr>
      </p:pic>
      <p:sp>
        <p:nvSpPr>
          <p:cNvPr id="13" name="CaixaDeTexto 12"/>
          <p:cNvSpPr txBox="1"/>
          <p:nvPr/>
        </p:nvSpPr>
        <p:spPr>
          <a:xfrm>
            <a:off x="2857197" y="106238"/>
            <a:ext cx="5202578" cy="523220"/>
          </a:xfrm>
          <a:prstGeom prst="rect">
            <a:avLst/>
          </a:prstGeom>
          <a:noFill/>
        </p:spPr>
        <p:txBody>
          <a:bodyPr wrap="none" rtlCol="0">
            <a:spAutoFit/>
          </a:bodyPr>
          <a:lstStyle/>
          <a:p>
            <a:r>
              <a:rPr lang="pt-BR" sz="2800" dirty="0">
                <a:ln w="0"/>
                <a:solidFill>
                  <a:schemeClr val="bg1"/>
                </a:solidFill>
                <a:effectLst>
                  <a:outerShdw blurRad="38100" dist="19050" dir="2700000" algn="tl" rotWithShape="0">
                    <a:schemeClr val="dk1">
                      <a:alpha val="40000"/>
                    </a:schemeClr>
                  </a:outerShdw>
                </a:effectLst>
              </a:rPr>
              <a:t>Visão Geral SharePoint e utilização</a:t>
            </a:r>
          </a:p>
        </p:txBody>
      </p:sp>
    </p:spTree>
    <p:extLst>
      <p:ext uri="{BB962C8B-B14F-4D97-AF65-F5344CB8AC3E}">
        <p14:creationId xmlns:p14="http://schemas.microsoft.com/office/powerpoint/2010/main" val="113516690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CaixaDeTexto 6"/>
          <p:cNvSpPr txBox="1"/>
          <p:nvPr/>
        </p:nvSpPr>
        <p:spPr>
          <a:xfrm>
            <a:off x="3324944" y="1176556"/>
            <a:ext cx="6679650" cy="4247317"/>
          </a:xfrm>
          <a:prstGeom prst="rect">
            <a:avLst/>
          </a:prstGeom>
          <a:noFill/>
        </p:spPr>
        <p:txBody>
          <a:bodyPr wrap="square" rtlCol="0">
            <a:spAutoFit/>
          </a:bodyPr>
          <a:lstStyle/>
          <a:p>
            <a:r>
              <a:rPr lang="pt-BR" sz="3600" dirty="0"/>
              <a:t>SharePoint - Política de Uso</a:t>
            </a:r>
          </a:p>
          <a:p>
            <a:endParaRPr lang="pt-BR" dirty="0"/>
          </a:p>
          <a:p>
            <a:pPr marL="285750" indent="-285750" algn="just">
              <a:buFont typeface="Arial" panose="020B0604020202020204" pitchFamily="34" charset="0"/>
              <a:buChar char="•"/>
            </a:pPr>
            <a:r>
              <a:rPr lang="pt-BR" dirty="0"/>
              <a:t>Toda a informação pertinente a SMILES (Departamental) e de uso em comum deve ser salva dentro do SharePoint. Em caso de perda, extravio ou falha do sistema operacional neste local é possível a recuperação.</a:t>
            </a:r>
          </a:p>
          <a:p>
            <a:pPr marL="285750" indent="-285750" algn="just">
              <a:buFont typeface="Arial" panose="020B0604020202020204" pitchFamily="34" charset="0"/>
              <a:buChar char="•"/>
            </a:pPr>
            <a:endParaRPr lang="pt-BR" dirty="0"/>
          </a:p>
          <a:p>
            <a:pPr marL="285750" indent="-285750" algn="just">
              <a:buFont typeface="Arial" panose="020B0604020202020204" pitchFamily="34" charset="0"/>
              <a:buChar char="•"/>
            </a:pPr>
            <a:r>
              <a:rPr lang="pt-BR" dirty="0"/>
              <a:t>Para cada Grupo de Pastas Departamentais existe um responsável. Este pode incluir e excluir acessos via chamado na ferramenta “</a:t>
            </a:r>
            <a:r>
              <a:rPr lang="pt-BR" dirty="0">
                <a:hlinkClick r:id="rId2" action="ppaction://hlinksldjump"/>
              </a:rPr>
              <a:t>Jira</a:t>
            </a:r>
            <a:r>
              <a:rPr lang="pt-BR" dirty="0"/>
              <a:t>” na categoria “Central de Acessos”. </a:t>
            </a:r>
          </a:p>
          <a:p>
            <a:pPr marL="285750" indent="-285750" algn="just">
              <a:buFont typeface="Arial" panose="020B0604020202020204" pitchFamily="34" charset="0"/>
              <a:buChar char="•"/>
            </a:pPr>
            <a:endParaRPr lang="pt-BR" dirty="0"/>
          </a:p>
          <a:p>
            <a:pPr marL="285750" indent="-285750" algn="just">
              <a:buFont typeface="Arial" panose="020B0604020202020204" pitchFamily="34" charset="0"/>
              <a:buChar char="•"/>
            </a:pPr>
            <a:r>
              <a:rPr lang="pt-BR" dirty="0"/>
              <a:t>Caso queira recuperar o arquivo deletado, o mesmo fica disponível via </a:t>
            </a:r>
            <a:r>
              <a:rPr lang="pt-BR" i="1" dirty="0"/>
              <a:t>web</a:t>
            </a:r>
            <a:r>
              <a:rPr lang="pt-BR" dirty="0"/>
              <a:t> por 30 dias. Após esse período não é possível recuperar a informação.</a:t>
            </a:r>
          </a:p>
        </p:txBody>
      </p:sp>
      <p:pic>
        <p:nvPicPr>
          <p:cNvPr id="8" name="Picture 2" descr="Resultado de imagem para Politica de us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153" y="2319704"/>
            <a:ext cx="2057400" cy="2781300"/>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p:cNvSpPr txBox="1"/>
          <p:nvPr/>
        </p:nvSpPr>
        <p:spPr>
          <a:xfrm>
            <a:off x="2857197" y="106238"/>
            <a:ext cx="5202578" cy="523220"/>
          </a:xfrm>
          <a:prstGeom prst="rect">
            <a:avLst/>
          </a:prstGeom>
          <a:noFill/>
        </p:spPr>
        <p:txBody>
          <a:bodyPr wrap="none" rtlCol="0">
            <a:spAutoFit/>
          </a:bodyPr>
          <a:lstStyle/>
          <a:p>
            <a:r>
              <a:rPr lang="pt-BR" sz="2800" dirty="0">
                <a:ln w="0"/>
                <a:solidFill>
                  <a:schemeClr val="bg1"/>
                </a:solidFill>
                <a:effectLst>
                  <a:outerShdw blurRad="38100" dist="19050" dir="2700000" algn="tl" rotWithShape="0">
                    <a:schemeClr val="dk1">
                      <a:alpha val="40000"/>
                    </a:schemeClr>
                  </a:outerShdw>
                </a:effectLst>
              </a:rPr>
              <a:t>Visão Geral SharePoint e utilização</a:t>
            </a:r>
          </a:p>
        </p:txBody>
      </p:sp>
    </p:spTree>
    <p:extLst>
      <p:ext uri="{BB962C8B-B14F-4D97-AF65-F5344CB8AC3E}">
        <p14:creationId xmlns:p14="http://schemas.microsoft.com/office/powerpoint/2010/main" val="183915183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Segoe UI" panose="020B0502040204020203" pitchFamily="34" charset="0"/>
                <a:cs typeface="Segoe UI" panose="020B0502040204020203" pitchFamily="34" charset="0"/>
              </a:endParaRPr>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9" name="TextBox 8"/>
          <p:cNvSpPr txBox="1"/>
          <p:nvPr/>
        </p:nvSpPr>
        <p:spPr>
          <a:xfrm>
            <a:off x="2328020" y="130780"/>
            <a:ext cx="5461099" cy="461665"/>
          </a:xfrm>
          <a:prstGeom prst="rect">
            <a:avLst/>
          </a:prstGeom>
          <a:noFill/>
        </p:spPr>
        <p:txBody>
          <a:bodyPr wrap="square" rtlCol="0">
            <a:spAutoFit/>
          </a:bodyPr>
          <a:lstStyle/>
          <a:p>
            <a:pPr algn="ctr"/>
            <a:r>
              <a:rPr lang="pt-BR" sz="2400" dirty="0">
                <a:solidFill>
                  <a:schemeClr val="bg1"/>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Central de Serviços de TI</a:t>
            </a:r>
          </a:p>
        </p:txBody>
      </p:sp>
      <p:pic>
        <p:nvPicPr>
          <p:cNvPr id="1026" name="Picture 2" descr="http://www.umkc.edu/hr/images/how-do-i.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906" y="1008834"/>
            <a:ext cx="4783232" cy="292308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0" name="Retângulo 19"/>
          <p:cNvSpPr/>
          <p:nvPr/>
        </p:nvSpPr>
        <p:spPr>
          <a:xfrm>
            <a:off x="348457" y="1675610"/>
            <a:ext cx="4985449" cy="2123658"/>
          </a:xfrm>
          <a:prstGeom prst="rect">
            <a:avLst/>
          </a:prstGeom>
        </p:spPr>
        <p:txBody>
          <a:bodyPr wrap="square">
            <a:spAutoFit/>
          </a:bodyPr>
          <a:lstStyle/>
          <a:p>
            <a:pPr marL="342900" indent="-342900">
              <a:spcBef>
                <a:spcPts val="600"/>
              </a:spcBef>
              <a:spcAft>
                <a:spcPts val="1800"/>
              </a:spcAft>
              <a:buFont typeface="+mj-lt"/>
              <a:buAutoNum type="arabicPeriod"/>
            </a:pPr>
            <a:r>
              <a:rPr lang="pt-BR" b="1" dirty="0">
                <a:solidFill>
                  <a:srgbClr val="7030A0"/>
                </a:solidFill>
                <a:latin typeface="Segoe UI" panose="020B0502040204020203" pitchFamily="34" charset="0"/>
                <a:cs typeface="Segoe UI" panose="020B0502040204020203" pitchFamily="34" charset="0"/>
                <a:hlinkClick r:id="rId4" action="ppaction://hlinksldjump"/>
              </a:rPr>
              <a:t>Como acessar o JIRA Service Desk?</a:t>
            </a:r>
            <a:endParaRPr lang="pt-BR" b="1" dirty="0">
              <a:solidFill>
                <a:srgbClr val="7030A0"/>
              </a:solidFill>
              <a:latin typeface="Segoe UI" panose="020B0502040204020203" pitchFamily="34" charset="0"/>
              <a:cs typeface="Segoe UI" panose="020B0502040204020203" pitchFamily="34" charset="0"/>
            </a:endParaRPr>
          </a:p>
          <a:p>
            <a:pPr marL="342900" indent="-342900">
              <a:spcBef>
                <a:spcPts val="600"/>
              </a:spcBef>
              <a:spcAft>
                <a:spcPts val="1800"/>
              </a:spcAft>
              <a:buFont typeface="+mj-lt"/>
              <a:buAutoNum type="arabicPeriod"/>
            </a:pPr>
            <a:r>
              <a:rPr lang="pt-BR" b="1" dirty="0">
                <a:solidFill>
                  <a:srgbClr val="7030A0"/>
                </a:solidFill>
                <a:latin typeface="Segoe UI" panose="020B0502040204020203" pitchFamily="34" charset="0"/>
                <a:cs typeface="Segoe UI" panose="020B0502040204020203" pitchFamily="34" charset="0"/>
                <a:hlinkClick r:id="rId5" action="ppaction://hlinksldjump"/>
              </a:rPr>
              <a:t>Como solicitar acesso ao SharePoint?</a:t>
            </a:r>
            <a:endParaRPr lang="pt-BR" b="1" dirty="0">
              <a:solidFill>
                <a:srgbClr val="7030A0"/>
              </a:solidFill>
              <a:latin typeface="Segoe UI" panose="020B0502040204020203" pitchFamily="34" charset="0"/>
              <a:cs typeface="Segoe UI" panose="020B0502040204020203" pitchFamily="34" charset="0"/>
            </a:endParaRPr>
          </a:p>
          <a:p>
            <a:pPr marL="342900" indent="-342900">
              <a:spcBef>
                <a:spcPts val="600"/>
              </a:spcBef>
              <a:spcAft>
                <a:spcPts val="1800"/>
              </a:spcAft>
              <a:buFont typeface="+mj-lt"/>
              <a:buAutoNum type="arabicPeriod"/>
            </a:pPr>
            <a:r>
              <a:rPr lang="pt-BR" b="1" dirty="0">
                <a:solidFill>
                  <a:srgbClr val="7030A0"/>
                </a:solidFill>
                <a:latin typeface="Segoe UI" panose="020B0502040204020203" pitchFamily="34" charset="0"/>
                <a:cs typeface="Segoe UI" panose="020B0502040204020203" pitchFamily="34" charset="0"/>
                <a:hlinkClick r:id="rId6" action="ppaction://hlinksldjump"/>
              </a:rPr>
              <a:t>Como criar pasta no SharePoint?</a:t>
            </a:r>
            <a:endParaRPr lang="pt-BR" b="1" dirty="0">
              <a:solidFill>
                <a:srgbClr val="7030A0"/>
              </a:solidFill>
              <a:latin typeface="Segoe UI" panose="020B0502040204020203" pitchFamily="34" charset="0"/>
              <a:cs typeface="Segoe UI" panose="020B0502040204020203" pitchFamily="34" charset="0"/>
            </a:endParaRPr>
          </a:p>
          <a:p>
            <a:pPr marL="342900" indent="-342900">
              <a:spcBef>
                <a:spcPts val="600"/>
              </a:spcBef>
              <a:spcAft>
                <a:spcPts val="1800"/>
              </a:spcAft>
              <a:buFont typeface="+mj-lt"/>
              <a:buAutoNum type="arabicPeriod"/>
            </a:pPr>
            <a:endParaRPr lang="pt-BR" b="1" dirty="0">
              <a:solidFill>
                <a:srgbClr val="7030A0"/>
              </a:solidFill>
              <a:latin typeface="Segoe UI" panose="020B0502040204020203" pitchFamily="34" charset="0"/>
              <a:cs typeface="Segoe UI" panose="020B0502040204020203" pitchFamily="34" charset="0"/>
            </a:endParaRPr>
          </a:p>
        </p:txBody>
      </p:sp>
      <p:sp>
        <p:nvSpPr>
          <p:cNvPr id="3" name="Seta: para a Esquerda 2">
            <a:hlinkClick r:id="rId7" action="ppaction://hlinksldjump"/>
          </p:cNvPr>
          <p:cNvSpPr/>
          <p:nvPr/>
        </p:nvSpPr>
        <p:spPr>
          <a:xfrm>
            <a:off x="8426548" y="6077241"/>
            <a:ext cx="1491176" cy="668215"/>
          </a:xfrm>
          <a:prstGeom prst="leftArrow">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1242691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Segoe UI" panose="020B0502040204020203" pitchFamily="34" charset="0"/>
                <a:cs typeface="Segoe UI" panose="020B0502040204020203" pitchFamily="34" charset="0"/>
              </a:endParaRPr>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9" name="TextBox 8"/>
          <p:cNvSpPr txBox="1"/>
          <p:nvPr/>
        </p:nvSpPr>
        <p:spPr>
          <a:xfrm>
            <a:off x="2328020" y="130780"/>
            <a:ext cx="5461099" cy="461665"/>
          </a:xfrm>
          <a:prstGeom prst="rect">
            <a:avLst/>
          </a:prstGeom>
          <a:noFill/>
        </p:spPr>
        <p:txBody>
          <a:bodyPr wrap="square" rtlCol="0">
            <a:spAutoFit/>
          </a:bodyPr>
          <a:lstStyle/>
          <a:p>
            <a:pPr algn="ctr"/>
            <a:r>
              <a:rPr lang="pt-BR" sz="2400" dirty="0">
                <a:solidFill>
                  <a:schemeClr val="bg1"/>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Central de Serviços de TI</a:t>
            </a:r>
          </a:p>
        </p:txBody>
      </p:sp>
      <p:grpSp>
        <p:nvGrpSpPr>
          <p:cNvPr id="10" name="Agrupar 9"/>
          <p:cNvGrpSpPr/>
          <p:nvPr/>
        </p:nvGrpSpPr>
        <p:grpSpPr>
          <a:xfrm>
            <a:off x="348619" y="1035532"/>
            <a:ext cx="9419901" cy="720000"/>
            <a:chOff x="351116" y="1061658"/>
            <a:chExt cx="9419901" cy="720000"/>
          </a:xfrm>
        </p:grpSpPr>
        <p:sp>
          <p:nvSpPr>
            <p:cNvPr id="48" name="Retângulo de cantos arredondados 17"/>
            <p:cNvSpPr/>
            <p:nvPr/>
          </p:nvSpPr>
          <p:spPr>
            <a:xfrm>
              <a:off x="351116" y="1061658"/>
              <a:ext cx="9419901" cy="720000"/>
            </a:xfrm>
            <a:prstGeom prst="roundRect">
              <a:avLst>
                <a:gd name="adj" fmla="val 7081"/>
              </a:avLst>
            </a:prstGeom>
            <a:solidFill>
              <a:srgbClr val="7030A0"/>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pPr marL="720000"/>
              <a:r>
                <a:rPr lang="pt-BR" sz="2000" b="1" dirty="0">
                  <a:solidFill>
                    <a:schemeClr val="bg1">
                      <a:lumMod val="95000"/>
                    </a:schemeClr>
                  </a:solidFill>
                  <a:latin typeface="Segoe UI" panose="020B0502040204020203" pitchFamily="34" charset="0"/>
                  <a:cs typeface="Segoe UI" panose="020B0502040204020203" pitchFamily="34" charset="0"/>
                </a:rPr>
                <a:t>Como acessar o JIRA Service Desk</a:t>
              </a:r>
            </a:p>
          </p:txBody>
        </p:sp>
        <p:pic>
          <p:nvPicPr>
            <p:cNvPr id="8" name="Imagem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009" y="1169658"/>
              <a:ext cx="504000" cy="504000"/>
            </a:xfrm>
            <a:prstGeom prst="rect">
              <a:avLst/>
            </a:prstGeom>
          </p:spPr>
        </p:pic>
      </p:grpSp>
      <p:sp>
        <p:nvSpPr>
          <p:cNvPr id="44" name="Retângulo 43"/>
          <p:cNvSpPr/>
          <p:nvPr/>
        </p:nvSpPr>
        <p:spPr>
          <a:xfrm>
            <a:off x="348457" y="2040437"/>
            <a:ext cx="9420063" cy="2246769"/>
          </a:xfrm>
          <a:prstGeom prst="rect">
            <a:avLst/>
          </a:prstGeom>
        </p:spPr>
        <p:txBody>
          <a:bodyPr wrap="square">
            <a:spAutoFit/>
          </a:bodyPr>
          <a:lstStyle/>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Acesse o link </a:t>
            </a:r>
            <a:r>
              <a:rPr lang="pt-BR" b="1" dirty="0">
                <a:solidFill>
                  <a:schemeClr val="tx1">
                    <a:lumMod val="75000"/>
                    <a:lumOff val="25000"/>
                  </a:schemeClr>
                </a:solidFill>
                <a:latin typeface="Segoe UI" panose="020B0502040204020203" pitchFamily="34" charset="0"/>
                <a:cs typeface="Segoe UI" panose="020B0502040204020203" pitchFamily="34" charset="0"/>
                <a:hlinkClick r:id="rId4"/>
              </a:rPr>
              <a:t>https://smiles.atlassian.net/servicedesk/customer/portals</a:t>
            </a:r>
            <a:endParaRPr lang="pt-BR" b="1" dirty="0">
              <a:solidFill>
                <a:schemeClr val="tx1">
                  <a:lumMod val="75000"/>
                  <a:lumOff val="25000"/>
                </a:schemeClr>
              </a:solidFill>
              <a:latin typeface="Segoe UI" panose="020B0502040204020203" pitchFamily="34" charset="0"/>
              <a:cs typeface="Segoe UI" panose="020B0502040204020203" pitchFamily="34" charset="0"/>
            </a:endParaRPr>
          </a:p>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Entre com seu </a:t>
            </a:r>
            <a:r>
              <a:rPr lang="pt-BR" b="1" dirty="0">
                <a:solidFill>
                  <a:schemeClr val="tx1">
                    <a:lumMod val="75000"/>
                    <a:lumOff val="25000"/>
                  </a:schemeClr>
                </a:solidFill>
                <a:latin typeface="Segoe UI" panose="020B0502040204020203" pitchFamily="34" charset="0"/>
                <a:cs typeface="Segoe UI" panose="020B0502040204020203" pitchFamily="34" charset="0"/>
              </a:rPr>
              <a:t>usuário e senha </a:t>
            </a:r>
            <a:r>
              <a:rPr lang="pt-BR" dirty="0">
                <a:solidFill>
                  <a:schemeClr val="tx1">
                    <a:lumMod val="75000"/>
                    <a:lumOff val="25000"/>
                  </a:schemeClr>
                </a:solidFill>
                <a:latin typeface="Segoe UI" panose="020B0502040204020203" pitchFamily="34" charset="0"/>
                <a:cs typeface="Segoe UI" panose="020B0502040204020203" pitchFamily="34" charset="0"/>
              </a:rPr>
              <a:t>(</a:t>
            </a:r>
            <a:r>
              <a:rPr lang="pt-BR" i="1" dirty="0">
                <a:solidFill>
                  <a:schemeClr val="tx1">
                    <a:lumMod val="75000"/>
                    <a:lumOff val="25000"/>
                  </a:schemeClr>
                </a:solidFill>
                <a:latin typeface="Segoe UI" panose="020B0502040204020203" pitchFamily="34" charset="0"/>
                <a:cs typeface="Segoe UI" panose="020B0502040204020203" pitchFamily="34" charset="0"/>
              </a:rPr>
              <a:t>o mesmo que você já utilizava para acessar o JIRA</a:t>
            </a:r>
            <a:r>
              <a:rPr lang="pt-BR" dirty="0">
                <a:solidFill>
                  <a:schemeClr val="tx1">
                    <a:lumMod val="75000"/>
                    <a:lumOff val="25000"/>
                  </a:schemeClr>
                </a:solidFill>
                <a:latin typeface="Segoe UI" panose="020B0502040204020203" pitchFamily="34" charset="0"/>
                <a:cs typeface="Segoe UI" panose="020B0502040204020203" pitchFamily="34" charset="0"/>
              </a:rPr>
              <a:t>).</a:t>
            </a:r>
          </a:p>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Navegue e localize a opção mais adequada para abertura de seu chamado.</a:t>
            </a:r>
          </a:p>
          <a:p>
            <a:pPr>
              <a:spcBef>
                <a:spcPts val="1800"/>
              </a:spcBef>
              <a:spcAft>
                <a:spcPts val="1800"/>
              </a:spcAft>
            </a:pPr>
            <a:r>
              <a:rPr lang="pt-BR" sz="1600" b="1" dirty="0">
                <a:solidFill>
                  <a:srgbClr val="7030A0"/>
                </a:solidFill>
                <a:latin typeface="Segoe UI" panose="020B0502040204020203" pitchFamily="34" charset="0"/>
                <a:cs typeface="Segoe UI" panose="020B0502040204020203" pitchFamily="34" charset="0"/>
              </a:rPr>
              <a:t>Obs.: se você já estiver </a:t>
            </a:r>
            <a:r>
              <a:rPr lang="pt-BR" sz="1600" b="1" i="1" dirty="0" err="1">
                <a:solidFill>
                  <a:srgbClr val="7030A0"/>
                </a:solidFill>
                <a:latin typeface="Segoe UI" panose="020B0502040204020203" pitchFamily="34" charset="0"/>
                <a:cs typeface="Segoe UI" panose="020B0502040204020203" pitchFamily="34" charset="0"/>
              </a:rPr>
              <a:t>logado</a:t>
            </a:r>
            <a:r>
              <a:rPr lang="pt-BR" sz="1600" b="1" dirty="0">
                <a:solidFill>
                  <a:srgbClr val="7030A0"/>
                </a:solidFill>
                <a:latin typeface="Segoe UI" panose="020B0502040204020203" pitchFamily="34" charset="0"/>
                <a:cs typeface="Segoe UI" panose="020B0502040204020203" pitchFamily="34" charset="0"/>
              </a:rPr>
              <a:t> no JIRA, utilize o atalho abaixo (no menu superior esquerdo).</a:t>
            </a:r>
          </a:p>
        </p:txBody>
      </p:sp>
      <p:pic>
        <p:nvPicPr>
          <p:cNvPr id="3" name="Imagem 2"/>
          <p:cNvPicPr>
            <a:picLocks noChangeAspect="1"/>
          </p:cNvPicPr>
          <p:nvPr/>
        </p:nvPicPr>
        <p:blipFill>
          <a:blip r:embed="rId5"/>
          <a:stretch>
            <a:fillRect/>
          </a:stretch>
        </p:blipFill>
        <p:spPr>
          <a:xfrm>
            <a:off x="2195056" y="4596453"/>
            <a:ext cx="6619875" cy="1743075"/>
          </a:xfrm>
          <a:prstGeom prst="rect">
            <a:avLst/>
          </a:prstGeom>
          <a:ln>
            <a:noFill/>
          </a:ln>
          <a:effectLst>
            <a:outerShdw blurRad="292100" dist="139700" dir="2700000" algn="tl" rotWithShape="0">
              <a:srgbClr val="333333">
                <a:alpha val="65000"/>
              </a:srgbClr>
            </a:outerShdw>
          </a:effectLst>
        </p:spPr>
      </p:pic>
      <p:sp>
        <p:nvSpPr>
          <p:cNvPr id="12" name="Seta Dobrada 11"/>
          <p:cNvSpPr/>
          <p:nvPr/>
        </p:nvSpPr>
        <p:spPr>
          <a:xfrm rot="10800000" flipH="1">
            <a:off x="1426018" y="4350737"/>
            <a:ext cx="807150" cy="1721523"/>
          </a:xfrm>
          <a:prstGeom prst="bentArrow">
            <a:avLst>
              <a:gd name="adj1" fmla="val 25000"/>
              <a:gd name="adj2" fmla="val 23640"/>
              <a:gd name="adj3" fmla="val 25000"/>
              <a:gd name="adj4" fmla="val 43750"/>
            </a:avLst>
          </a:prstGeom>
          <a:ln>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ffectLst>
                <a:glow rad="228600">
                  <a:schemeClr val="accent1">
                    <a:satMod val="175000"/>
                    <a:alpha val="40000"/>
                  </a:schemeClr>
                </a:glow>
              </a:effectLst>
            </a:endParaRPr>
          </a:p>
        </p:txBody>
      </p:sp>
      <p:sp>
        <p:nvSpPr>
          <p:cNvPr id="13" name="Seta: para a Esquerda 12">
            <a:hlinkClick r:id="rId6" action="ppaction://hlinksldjump"/>
          </p:cNvPr>
          <p:cNvSpPr/>
          <p:nvPr/>
        </p:nvSpPr>
        <p:spPr>
          <a:xfrm>
            <a:off x="8899338" y="6077241"/>
            <a:ext cx="1102793" cy="668215"/>
          </a:xfrm>
          <a:prstGeom prst="leftArrow">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408005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Segoe UI" panose="020B0502040204020203" pitchFamily="34" charset="0"/>
                <a:cs typeface="Segoe UI" panose="020B0502040204020203" pitchFamily="34" charset="0"/>
              </a:endParaRPr>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9" name="TextBox 8"/>
          <p:cNvSpPr txBox="1"/>
          <p:nvPr/>
        </p:nvSpPr>
        <p:spPr>
          <a:xfrm>
            <a:off x="2328020" y="130780"/>
            <a:ext cx="5461099" cy="461665"/>
          </a:xfrm>
          <a:prstGeom prst="rect">
            <a:avLst/>
          </a:prstGeom>
          <a:noFill/>
        </p:spPr>
        <p:txBody>
          <a:bodyPr wrap="square" rtlCol="0">
            <a:spAutoFit/>
          </a:bodyPr>
          <a:lstStyle/>
          <a:p>
            <a:pPr algn="ctr"/>
            <a:r>
              <a:rPr lang="pt-BR" sz="2400" dirty="0">
                <a:solidFill>
                  <a:schemeClr val="bg1"/>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Central de Serviços de TI</a:t>
            </a:r>
          </a:p>
        </p:txBody>
      </p:sp>
      <p:grpSp>
        <p:nvGrpSpPr>
          <p:cNvPr id="10" name="Agrupar 9"/>
          <p:cNvGrpSpPr/>
          <p:nvPr/>
        </p:nvGrpSpPr>
        <p:grpSpPr>
          <a:xfrm>
            <a:off x="348619" y="1035532"/>
            <a:ext cx="9419901" cy="720000"/>
            <a:chOff x="351116" y="1061658"/>
            <a:chExt cx="9419901" cy="720000"/>
          </a:xfrm>
        </p:grpSpPr>
        <p:sp>
          <p:nvSpPr>
            <p:cNvPr id="48" name="Retângulo de cantos arredondados 17"/>
            <p:cNvSpPr/>
            <p:nvPr/>
          </p:nvSpPr>
          <p:spPr>
            <a:xfrm>
              <a:off x="351116" y="1061658"/>
              <a:ext cx="9419901" cy="720000"/>
            </a:xfrm>
            <a:prstGeom prst="roundRect">
              <a:avLst>
                <a:gd name="adj" fmla="val 7081"/>
              </a:avLst>
            </a:prstGeom>
            <a:solidFill>
              <a:srgbClr val="7030A0"/>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pPr marL="720000"/>
              <a:r>
                <a:rPr lang="pt-BR" sz="2000" b="1" dirty="0">
                  <a:solidFill>
                    <a:schemeClr val="bg1">
                      <a:lumMod val="95000"/>
                    </a:schemeClr>
                  </a:solidFill>
                  <a:latin typeface="Segoe UI" panose="020B0502040204020203" pitchFamily="34" charset="0"/>
                  <a:cs typeface="Segoe UI" panose="020B0502040204020203" pitchFamily="34" charset="0"/>
                </a:rPr>
                <a:t>Como solicitar acesso ao SharePoint?</a:t>
              </a:r>
            </a:p>
          </p:txBody>
        </p:sp>
        <p:pic>
          <p:nvPicPr>
            <p:cNvPr id="8" name="Imagem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009" y="1169658"/>
              <a:ext cx="504000" cy="504000"/>
            </a:xfrm>
            <a:prstGeom prst="rect">
              <a:avLst/>
            </a:prstGeom>
          </p:spPr>
        </p:pic>
      </p:grpSp>
      <p:sp>
        <p:nvSpPr>
          <p:cNvPr id="44" name="Retângulo 43"/>
          <p:cNvSpPr/>
          <p:nvPr/>
        </p:nvSpPr>
        <p:spPr>
          <a:xfrm>
            <a:off x="348457" y="2040437"/>
            <a:ext cx="3465897" cy="3724096"/>
          </a:xfrm>
          <a:prstGeom prst="rect">
            <a:avLst/>
          </a:prstGeom>
        </p:spPr>
        <p:txBody>
          <a:bodyPr wrap="square">
            <a:spAutoFit/>
          </a:bodyPr>
          <a:lstStyle/>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Peça para seu gestor abrir um chamado </a:t>
            </a:r>
            <a:r>
              <a:rPr lang="pt-BR" b="1" dirty="0">
                <a:solidFill>
                  <a:schemeClr val="tx1">
                    <a:lumMod val="75000"/>
                    <a:lumOff val="25000"/>
                  </a:schemeClr>
                </a:solidFill>
                <a:latin typeface="Segoe UI" panose="020B0502040204020203" pitchFamily="34" charset="0"/>
                <a:cs typeface="Segoe UI" panose="020B0502040204020203" pitchFamily="34" charset="0"/>
              </a:rPr>
              <a:t>através do próprio JIRA Service Desk</a:t>
            </a:r>
            <a:r>
              <a:rPr lang="pt-BR" dirty="0">
                <a:solidFill>
                  <a:schemeClr val="tx1">
                    <a:lumMod val="75000"/>
                    <a:lumOff val="25000"/>
                  </a:schemeClr>
                </a:solidFill>
                <a:latin typeface="Segoe UI" panose="020B0502040204020203" pitchFamily="34" charset="0"/>
                <a:cs typeface="Segoe UI" panose="020B0502040204020203" pitchFamily="34" charset="0"/>
              </a:rPr>
              <a:t>, solicitando a criação de seu usuário.</a:t>
            </a:r>
          </a:p>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A categoria em que o chamado deverá ser aberto é “</a:t>
            </a:r>
            <a:r>
              <a:rPr lang="pt-BR" b="1" dirty="0">
                <a:solidFill>
                  <a:srgbClr val="7030A0"/>
                </a:solidFill>
                <a:latin typeface="Segoe UI" panose="020B0502040204020203" pitchFamily="34" charset="0"/>
                <a:cs typeface="Segoe UI" panose="020B0502040204020203" pitchFamily="34" charset="0"/>
              </a:rPr>
              <a:t>Conceder Acesso à Pasta ou Diretório de Rede (SharePoint)</a:t>
            </a:r>
            <a:r>
              <a:rPr lang="pt-BR" dirty="0">
                <a:solidFill>
                  <a:schemeClr val="tx1">
                    <a:lumMod val="75000"/>
                    <a:lumOff val="25000"/>
                  </a:schemeClr>
                </a:solidFill>
                <a:latin typeface="Segoe UI" panose="020B0502040204020203" pitchFamily="34" charset="0"/>
                <a:cs typeface="Segoe UI" panose="020B0502040204020203" pitchFamily="34" charset="0"/>
              </a:rPr>
              <a:t>” em Gestão de Acessos &gt; Concessão de Acesso.</a:t>
            </a:r>
          </a:p>
        </p:txBody>
      </p:sp>
      <p:grpSp>
        <p:nvGrpSpPr>
          <p:cNvPr id="12" name="Agrupar 11"/>
          <p:cNvGrpSpPr/>
          <p:nvPr/>
        </p:nvGrpSpPr>
        <p:grpSpPr>
          <a:xfrm>
            <a:off x="4263221" y="2451489"/>
            <a:ext cx="5296059" cy="2500285"/>
            <a:chOff x="4263221" y="2451489"/>
            <a:chExt cx="5296059" cy="2500285"/>
          </a:xfrm>
        </p:grpSpPr>
        <p:pic>
          <p:nvPicPr>
            <p:cNvPr id="3" name="Imagem 2"/>
            <p:cNvPicPr>
              <a:picLocks noChangeAspect="1"/>
            </p:cNvPicPr>
            <p:nvPr/>
          </p:nvPicPr>
          <p:blipFill>
            <a:blip r:embed="rId4"/>
            <a:stretch>
              <a:fillRect/>
            </a:stretch>
          </p:blipFill>
          <p:spPr>
            <a:xfrm>
              <a:off x="4263221" y="2451489"/>
              <a:ext cx="5296059" cy="2500285"/>
            </a:xfrm>
            <a:prstGeom prst="rect">
              <a:avLst/>
            </a:prstGeom>
            <a:ln>
              <a:noFill/>
            </a:ln>
            <a:effectLst>
              <a:outerShdw blurRad="292100" dist="139700" dir="2700000" algn="tl" rotWithShape="0">
                <a:srgbClr val="333333">
                  <a:alpha val="65000"/>
                </a:srgbClr>
              </a:outerShdw>
            </a:effectLst>
          </p:spPr>
        </p:pic>
        <p:sp>
          <p:nvSpPr>
            <p:cNvPr id="11" name="Retângulo Arredondado 10"/>
            <p:cNvSpPr/>
            <p:nvPr/>
          </p:nvSpPr>
          <p:spPr>
            <a:xfrm>
              <a:off x="6008914" y="4164039"/>
              <a:ext cx="3461658" cy="703384"/>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5" name="Seta: para a Esquerda 14">
            <a:hlinkClick r:id="rId5" action="ppaction://hlinksldjump"/>
          </p:cNvPr>
          <p:cNvSpPr/>
          <p:nvPr/>
        </p:nvSpPr>
        <p:spPr>
          <a:xfrm>
            <a:off x="8426548" y="6077241"/>
            <a:ext cx="1491176" cy="668215"/>
          </a:xfrm>
          <a:prstGeom prst="leftArrow">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1829471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Segoe UI" panose="020B0502040204020203" pitchFamily="34" charset="0"/>
                <a:cs typeface="Segoe UI" panose="020B0502040204020203" pitchFamily="34" charset="0"/>
              </a:endParaRPr>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9" name="TextBox 8"/>
          <p:cNvSpPr txBox="1"/>
          <p:nvPr/>
        </p:nvSpPr>
        <p:spPr>
          <a:xfrm>
            <a:off x="2328020" y="130780"/>
            <a:ext cx="5461099" cy="461665"/>
          </a:xfrm>
          <a:prstGeom prst="rect">
            <a:avLst/>
          </a:prstGeom>
          <a:noFill/>
        </p:spPr>
        <p:txBody>
          <a:bodyPr wrap="square" rtlCol="0">
            <a:spAutoFit/>
          </a:bodyPr>
          <a:lstStyle/>
          <a:p>
            <a:pPr algn="ctr"/>
            <a:r>
              <a:rPr lang="pt-BR" sz="2400" dirty="0">
                <a:solidFill>
                  <a:schemeClr val="bg1"/>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Central de Serviços de TI</a:t>
            </a:r>
          </a:p>
        </p:txBody>
      </p:sp>
      <p:grpSp>
        <p:nvGrpSpPr>
          <p:cNvPr id="10" name="Agrupar 9"/>
          <p:cNvGrpSpPr/>
          <p:nvPr/>
        </p:nvGrpSpPr>
        <p:grpSpPr>
          <a:xfrm>
            <a:off x="348619" y="1035532"/>
            <a:ext cx="9419901" cy="720000"/>
            <a:chOff x="351116" y="1061658"/>
            <a:chExt cx="9419901" cy="720000"/>
          </a:xfrm>
        </p:grpSpPr>
        <p:sp>
          <p:nvSpPr>
            <p:cNvPr id="48" name="Retângulo de cantos arredondados 17"/>
            <p:cNvSpPr/>
            <p:nvPr/>
          </p:nvSpPr>
          <p:spPr>
            <a:xfrm>
              <a:off x="351116" y="1061658"/>
              <a:ext cx="9419901" cy="720000"/>
            </a:xfrm>
            <a:prstGeom prst="roundRect">
              <a:avLst>
                <a:gd name="adj" fmla="val 7081"/>
              </a:avLst>
            </a:prstGeom>
            <a:solidFill>
              <a:srgbClr val="7030A0"/>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pPr marL="720000"/>
              <a:r>
                <a:rPr lang="pt-BR" sz="2000" b="1" dirty="0">
                  <a:solidFill>
                    <a:schemeClr val="bg1">
                      <a:lumMod val="95000"/>
                    </a:schemeClr>
                  </a:solidFill>
                  <a:latin typeface="Segoe UI" panose="020B0502040204020203" pitchFamily="34" charset="0"/>
                  <a:cs typeface="Segoe UI" panose="020B0502040204020203" pitchFamily="34" charset="0"/>
                </a:rPr>
                <a:t>Como criar pasta no SharePoint?</a:t>
              </a:r>
            </a:p>
          </p:txBody>
        </p:sp>
        <p:pic>
          <p:nvPicPr>
            <p:cNvPr id="8" name="Imagem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009" y="1169658"/>
              <a:ext cx="504000" cy="504000"/>
            </a:xfrm>
            <a:prstGeom prst="rect">
              <a:avLst/>
            </a:prstGeom>
          </p:spPr>
        </p:pic>
      </p:grpSp>
      <p:sp>
        <p:nvSpPr>
          <p:cNvPr id="44" name="Retângulo 43"/>
          <p:cNvSpPr/>
          <p:nvPr/>
        </p:nvSpPr>
        <p:spPr>
          <a:xfrm>
            <a:off x="348457" y="2040437"/>
            <a:ext cx="3465897" cy="3447098"/>
          </a:xfrm>
          <a:prstGeom prst="rect">
            <a:avLst/>
          </a:prstGeom>
        </p:spPr>
        <p:txBody>
          <a:bodyPr wrap="square">
            <a:spAutoFit/>
          </a:bodyPr>
          <a:lstStyle/>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Peça para seu gestor abrir um chamado </a:t>
            </a:r>
            <a:r>
              <a:rPr lang="pt-BR" b="1" dirty="0">
                <a:solidFill>
                  <a:schemeClr val="tx1">
                    <a:lumMod val="75000"/>
                    <a:lumOff val="25000"/>
                  </a:schemeClr>
                </a:solidFill>
                <a:latin typeface="Segoe UI" panose="020B0502040204020203" pitchFamily="34" charset="0"/>
                <a:cs typeface="Segoe UI" panose="020B0502040204020203" pitchFamily="34" charset="0"/>
              </a:rPr>
              <a:t>através do próprio JIRA Service Desk</a:t>
            </a:r>
            <a:r>
              <a:rPr lang="pt-BR" dirty="0">
                <a:solidFill>
                  <a:schemeClr val="tx1">
                    <a:lumMod val="75000"/>
                    <a:lumOff val="25000"/>
                  </a:schemeClr>
                </a:solidFill>
                <a:latin typeface="Segoe UI" panose="020B0502040204020203" pitchFamily="34" charset="0"/>
                <a:cs typeface="Segoe UI" panose="020B0502040204020203" pitchFamily="34" charset="0"/>
              </a:rPr>
              <a:t>, solicitando a criação de seu usuário.</a:t>
            </a:r>
          </a:p>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A categoria em que o chamado deverá ser aberto é “</a:t>
            </a:r>
            <a:r>
              <a:rPr lang="pt-BR" b="1" dirty="0">
                <a:solidFill>
                  <a:srgbClr val="7030A0"/>
                </a:solidFill>
                <a:latin typeface="Segoe UI" panose="020B0502040204020203" pitchFamily="34" charset="0"/>
                <a:cs typeface="Segoe UI" panose="020B0502040204020203" pitchFamily="34" charset="0"/>
              </a:rPr>
              <a:t>Criar pasta/diretório de rede (SharePoint)</a:t>
            </a:r>
            <a:r>
              <a:rPr lang="pt-BR" dirty="0">
                <a:solidFill>
                  <a:schemeClr val="tx1">
                    <a:lumMod val="75000"/>
                    <a:lumOff val="25000"/>
                  </a:schemeClr>
                </a:solidFill>
                <a:latin typeface="Segoe UI" panose="020B0502040204020203" pitchFamily="34" charset="0"/>
                <a:cs typeface="Segoe UI" panose="020B0502040204020203" pitchFamily="34" charset="0"/>
              </a:rPr>
              <a:t>” em Escritório / Informática &gt; Pasta/Diretório.</a:t>
            </a:r>
          </a:p>
        </p:txBody>
      </p:sp>
      <p:pic>
        <p:nvPicPr>
          <p:cNvPr id="3" name="Imagem 2"/>
          <p:cNvPicPr>
            <a:picLocks noChangeAspect="1"/>
          </p:cNvPicPr>
          <p:nvPr/>
        </p:nvPicPr>
        <p:blipFill>
          <a:blip r:embed="rId4"/>
          <a:stretch>
            <a:fillRect/>
          </a:stretch>
        </p:blipFill>
        <p:spPr>
          <a:xfrm>
            <a:off x="5073920" y="2451489"/>
            <a:ext cx="4694600" cy="3194264"/>
          </a:xfrm>
          <a:prstGeom prst="rect">
            <a:avLst/>
          </a:prstGeom>
          <a:ln>
            <a:noFill/>
          </a:ln>
          <a:effectLst>
            <a:outerShdw blurRad="292100" dist="139700" dir="2700000" algn="tl" rotWithShape="0">
              <a:srgbClr val="333333">
                <a:alpha val="65000"/>
              </a:srgbClr>
            </a:outerShdw>
          </a:effectLst>
        </p:spPr>
      </p:pic>
      <p:sp>
        <p:nvSpPr>
          <p:cNvPr id="11" name="Retângulo Arredondado 10"/>
          <p:cNvSpPr/>
          <p:nvPr/>
        </p:nvSpPr>
        <p:spPr>
          <a:xfrm>
            <a:off x="6682154" y="2494268"/>
            <a:ext cx="2929127" cy="459948"/>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Seta: para a Esquerda 13">
            <a:hlinkClick r:id="rId5" action="ppaction://hlinksldjump"/>
          </p:cNvPr>
          <p:cNvSpPr/>
          <p:nvPr/>
        </p:nvSpPr>
        <p:spPr>
          <a:xfrm>
            <a:off x="8426548" y="6077241"/>
            <a:ext cx="1491176" cy="668215"/>
          </a:xfrm>
          <a:prstGeom prst="leftArrow">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432047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Segoe UI" panose="020B0502040204020203" pitchFamily="34" charset="0"/>
                <a:cs typeface="Segoe UI" panose="020B0502040204020203" pitchFamily="34" charset="0"/>
              </a:endParaRPr>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9" name="TextBox 8"/>
          <p:cNvSpPr txBox="1"/>
          <p:nvPr/>
        </p:nvSpPr>
        <p:spPr>
          <a:xfrm>
            <a:off x="2328020" y="130780"/>
            <a:ext cx="5461099" cy="461665"/>
          </a:xfrm>
          <a:prstGeom prst="rect">
            <a:avLst/>
          </a:prstGeom>
          <a:noFill/>
        </p:spPr>
        <p:txBody>
          <a:bodyPr wrap="square" rtlCol="0">
            <a:spAutoFit/>
          </a:bodyPr>
          <a:lstStyle/>
          <a:p>
            <a:pPr algn="ctr"/>
            <a:r>
              <a:rPr lang="pt-BR" sz="2400" dirty="0">
                <a:solidFill>
                  <a:schemeClr val="bg1"/>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Central de Serviços de TI</a:t>
            </a:r>
          </a:p>
        </p:txBody>
      </p:sp>
      <p:grpSp>
        <p:nvGrpSpPr>
          <p:cNvPr id="10" name="Agrupar 9"/>
          <p:cNvGrpSpPr/>
          <p:nvPr/>
        </p:nvGrpSpPr>
        <p:grpSpPr>
          <a:xfrm>
            <a:off x="348619" y="1035532"/>
            <a:ext cx="9419901" cy="720000"/>
            <a:chOff x="351116" y="1061658"/>
            <a:chExt cx="9419901" cy="720000"/>
          </a:xfrm>
        </p:grpSpPr>
        <p:sp>
          <p:nvSpPr>
            <p:cNvPr id="48" name="Retângulo de cantos arredondados 17"/>
            <p:cNvSpPr/>
            <p:nvPr/>
          </p:nvSpPr>
          <p:spPr>
            <a:xfrm>
              <a:off x="351116" y="1061658"/>
              <a:ext cx="9419901" cy="720000"/>
            </a:xfrm>
            <a:prstGeom prst="roundRect">
              <a:avLst>
                <a:gd name="adj" fmla="val 7081"/>
              </a:avLst>
            </a:prstGeom>
            <a:solidFill>
              <a:srgbClr val="7030A0"/>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pPr marL="720000"/>
              <a:r>
                <a:rPr lang="pt-BR" sz="2000" b="1" dirty="0">
                  <a:solidFill>
                    <a:schemeClr val="bg1">
                      <a:lumMod val="95000"/>
                    </a:schemeClr>
                  </a:solidFill>
                  <a:latin typeface="Segoe UI" panose="020B0502040204020203" pitchFamily="34" charset="0"/>
                  <a:cs typeface="Segoe UI" panose="020B0502040204020203" pitchFamily="34" charset="0"/>
                </a:rPr>
                <a:t>Como criar pasta no SharePoint?</a:t>
              </a:r>
            </a:p>
          </p:txBody>
        </p:sp>
        <p:pic>
          <p:nvPicPr>
            <p:cNvPr id="8" name="Imagem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009" y="1169658"/>
              <a:ext cx="504000" cy="504000"/>
            </a:xfrm>
            <a:prstGeom prst="rect">
              <a:avLst/>
            </a:prstGeom>
          </p:spPr>
        </p:pic>
      </p:grpSp>
      <p:sp>
        <p:nvSpPr>
          <p:cNvPr id="44" name="Retângulo 43"/>
          <p:cNvSpPr/>
          <p:nvPr/>
        </p:nvSpPr>
        <p:spPr>
          <a:xfrm>
            <a:off x="348457" y="2040437"/>
            <a:ext cx="3465897" cy="3447098"/>
          </a:xfrm>
          <a:prstGeom prst="rect">
            <a:avLst/>
          </a:prstGeom>
        </p:spPr>
        <p:txBody>
          <a:bodyPr wrap="square">
            <a:spAutoFit/>
          </a:bodyPr>
          <a:lstStyle/>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Peça para seu gestor abrir um chamado </a:t>
            </a:r>
            <a:r>
              <a:rPr lang="pt-BR" b="1" dirty="0">
                <a:solidFill>
                  <a:schemeClr val="tx1">
                    <a:lumMod val="75000"/>
                    <a:lumOff val="25000"/>
                  </a:schemeClr>
                </a:solidFill>
                <a:latin typeface="Segoe UI" panose="020B0502040204020203" pitchFamily="34" charset="0"/>
                <a:cs typeface="Segoe UI" panose="020B0502040204020203" pitchFamily="34" charset="0"/>
              </a:rPr>
              <a:t>através do próprio JIRA Service Desk</a:t>
            </a:r>
            <a:r>
              <a:rPr lang="pt-BR" dirty="0">
                <a:solidFill>
                  <a:schemeClr val="tx1">
                    <a:lumMod val="75000"/>
                    <a:lumOff val="25000"/>
                  </a:schemeClr>
                </a:solidFill>
                <a:latin typeface="Segoe UI" panose="020B0502040204020203" pitchFamily="34" charset="0"/>
                <a:cs typeface="Segoe UI" panose="020B0502040204020203" pitchFamily="34" charset="0"/>
              </a:rPr>
              <a:t>, solicitando a criação de seu usuário.</a:t>
            </a:r>
          </a:p>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A categoria em que o chamado deverá ser aberto é “</a:t>
            </a:r>
            <a:r>
              <a:rPr lang="pt-BR" b="1" dirty="0">
                <a:solidFill>
                  <a:srgbClr val="7030A0"/>
                </a:solidFill>
                <a:latin typeface="Segoe UI" panose="020B0502040204020203" pitchFamily="34" charset="0"/>
                <a:cs typeface="Segoe UI" panose="020B0502040204020203" pitchFamily="34" charset="0"/>
              </a:rPr>
              <a:t>Criar pasta/diretório de rede (SharePoint)</a:t>
            </a:r>
            <a:r>
              <a:rPr lang="pt-BR" dirty="0">
                <a:solidFill>
                  <a:schemeClr val="tx1">
                    <a:lumMod val="75000"/>
                    <a:lumOff val="25000"/>
                  </a:schemeClr>
                </a:solidFill>
                <a:latin typeface="Segoe UI" panose="020B0502040204020203" pitchFamily="34" charset="0"/>
                <a:cs typeface="Segoe UI" panose="020B0502040204020203" pitchFamily="34" charset="0"/>
              </a:rPr>
              <a:t>” em Escritório / Informática &gt; Pasta/Diretório.</a:t>
            </a:r>
          </a:p>
        </p:txBody>
      </p:sp>
      <p:grpSp>
        <p:nvGrpSpPr>
          <p:cNvPr id="4" name="Agrupar 3"/>
          <p:cNvGrpSpPr/>
          <p:nvPr/>
        </p:nvGrpSpPr>
        <p:grpSpPr>
          <a:xfrm>
            <a:off x="5073920" y="2451489"/>
            <a:ext cx="4694600" cy="3194264"/>
            <a:chOff x="5073920" y="2451489"/>
            <a:chExt cx="4694600" cy="3194264"/>
          </a:xfrm>
        </p:grpSpPr>
        <p:pic>
          <p:nvPicPr>
            <p:cNvPr id="3" name="Imagem 2"/>
            <p:cNvPicPr>
              <a:picLocks noChangeAspect="1"/>
            </p:cNvPicPr>
            <p:nvPr/>
          </p:nvPicPr>
          <p:blipFill>
            <a:blip r:embed="rId4"/>
            <a:stretch>
              <a:fillRect/>
            </a:stretch>
          </p:blipFill>
          <p:spPr>
            <a:xfrm>
              <a:off x="5073920" y="2451489"/>
              <a:ext cx="4694600" cy="3194264"/>
            </a:xfrm>
            <a:prstGeom prst="rect">
              <a:avLst/>
            </a:prstGeom>
            <a:ln>
              <a:noFill/>
            </a:ln>
            <a:effectLst>
              <a:outerShdw blurRad="292100" dist="139700" dir="2700000" algn="tl" rotWithShape="0">
                <a:srgbClr val="333333">
                  <a:alpha val="65000"/>
                </a:srgbClr>
              </a:outerShdw>
            </a:effectLst>
          </p:spPr>
        </p:pic>
        <p:sp>
          <p:nvSpPr>
            <p:cNvPr id="11" name="Retângulo Arredondado 10"/>
            <p:cNvSpPr/>
            <p:nvPr/>
          </p:nvSpPr>
          <p:spPr>
            <a:xfrm>
              <a:off x="6682154" y="2494268"/>
              <a:ext cx="2929127" cy="459948"/>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4" name="Seta: para a Esquerda 13">
            <a:hlinkClick r:id="rId5" action="ppaction://hlinksldjump"/>
          </p:cNvPr>
          <p:cNvSpPr/>
          <p:nvPr/>
        </p:nvSpPr>
        <p:spPr>
          <a:xfrm>
            <a:off x="8426548" y="6077241"/>
            <a:ext cx="1491176" cy="668215"/>
          </a:xfrm>
          <a:prstGeom prst="leftArrow">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47765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CaixaDeTexto 4"/>
          <p:cNvSpPr txBox="1"/>
          <p:nvPr/>
        </p:nvSpPr>
        <p:spPr>
          <a:xfrm>
            <a:off x="214935" y="15226"/>
            <a:ext cx="9687267" cy="523220"/>
          </a:xfrm>
          <a:prstGeom prst="rect">
            <a:avLst/>
          </a:prstGeom>
          <a:noFill/>
        </p:spPr>
        <p:txBody>
          <a:bodyPr wrap="none" rtlCol="0">
            <a:spAutoFit/>
          </a:bodyPr>
          <a:lstStyle/>
          <a:p>
            <a:pPr algn="ctr"/>
            <a:r>
              <a:rPr lang="pt-BR" sz="2800" dirty="0">
                <a:ln w="0"/>
                <a:solidFill>
                  <a:schemeClr val="bg1"/>
                </a:solidFill>
                <a:effectLst>
                  <a:outerShdw blurRad="38100" dist="19050" dir="2700000" algn="tl" rotWithShape="0">
                    <a:schemeClr val="dk1">
                      <a:alpha val="40000"/>
                    </a:schemeClr>
                  </a:outerShdw>
                </a:effectLst>
              </a:rPr>
              <a:t>Compartilhar um documento usando o SharePoint ou o OneDrive</a:t>
            </a:r>
          </a:p>
        </p:txBody>
      </p:sp>
      <p:sp>
        <p:nvSpPr>
          <p:cNvPr id="3" name="Retângulo 2"/>
          <p:cNvSpPr/>
          <p:nvPr/>
        </p:nvSpPr>
        <p:spPr>
          <a:xfrm>
            <a:off x="110330" y="802756"/>
            <a:ext cx="4023730" cy="369332"/>
          </a:xfrm>
          <a:prstGeom prst="rect">
            <a:avLst/>
          </a:prstGeom>
        </p:spPr>
        <p:txBody>
          <a:bodyPr wrap="none">
            <a:spAutoFit/>
          </a:bodyPr>
          <a:lstStyle/>
          <a:p>
            <a:r>
              <a:rPr lang="pt-BR" b="1" dirty="0"/>
              <a:t>Salvar em seu novo lugar e compartilhar</a:t>
            </a:r>
          </a:p>
        </p:txBody>
      </p:sp>
      <p:sp>
        <p:nvSpPr>
          <p:cNvPr id="11" name="Retângulo 10"/>
          <p:cNvSpPr/>
          <p:nvPr/>
        </p:nvSpPr>
        <p:spPr>
          <a:xfrm>
            <a:off x="214935" y="1252785"/>
            <a:ext cx="3794357" cy="3970318"/>
          </a:xfrm>
          <a:prstGeom prst="rect">
            <a:avLst/>
          </a:prstGeom>
        </p:spPr>
        <p:txBody>
          <a:bodyPr wrap="square">
            <a:spAutoFit/>
          </a:bodyPr>
          <a:lstStyle/>
          <a:p>
            <a:endParaRPr lang="pt-BR" dirty="0"/>
          </a:p>
          <a:p>
            <a:endParaRPr lang="pt-BR" dirty="0"/>
          </a:p>
          <a:p>
            <a:r>
              <a:rPr lang="pt-BR" dirty="0"/>
              <a:t>Clique em </a:t>
            </a:r>
            <a:r>
              <a:rPr lang="pt-BR" b="1" dirty="0"/>
              <a:t>Arquivo </a:t>
            </a:r>
            <a:r>
              <a:rPr lang="pt-BR" dirty="0"/>
              <a:t>&gt; </a:t>
            </a:r>
            <a:r>
              <a:rPr lang="pt-BR" b="1" dirty="0"/>
              <a:t>Salvar como</a:t>
            </a:r>
            <a:r>
              <a:rPr lang="pt-BR" dirty="0"/>
              <a:t>.</a:t>
            </a:r>
          </a:p>
          <a:p>
            <a:pPr algn="just"/>
            <a:endParaRPr lang="pt-BR" dirty="0"/>
          </a:p>
          <a:p>
            <a:pPr algn="just"/>
            <a:r>
              <a:rPr lang="pt-BR" dirty="0"/>
              <a:t>Na página Salvar como, clique duas vezes no local que deseja usar - como na </a:t>
            </a:r>
            <a:r>
              <a:rPr lang="pt-BR" b="1" dirty="0"/>
              <a:t>biblioteca de documentos do Sharepoint</a:t>
            </a:r>
            <a:r>
              <a:rPr lang="pt-BR" dirty="0"/>
              <a:t>, em um local no seu computador ou no seu </a:t>
            </a:r>
            <a:r>
              <a:rPr lang="pt-BR" b="1" dirty="0"/>
              <a:t>OneDrive.</a:t>
            </a:r>
          </a:p>
          <a:p>
            <a:pPr algn="just"/>
            <a:endParaRPr lang="pt-BR" dirty="0"/>
          </a:p>
          <a:p>
            <a:pPr algn="just"/>
            <a:r>
              <a:rPr lang="pt-BR" dirty="0"/>
              <a:t>Dê um nome ao arquivo e clique em Salvar. Se você for levado de volta à guia Informações, clique novamente em Compartilhar.</a:t>
            </a:r>
          </a:p>
        </p:txBody>
      </p:sp>
      <p:pic>
        <p:nvPicPr>
          <p:cNvPr id="12" name="Imagem 11"/>
          <p:cNvPicPr>
            <a:picLocks noChangeAspect="1"/>
          </p:cNvPicPr>
          <p:nvPr/>
        </p:nvPicPr>
        <p:blipFill>
          <a:blip r:embed="rId2"/>
          <a:stretch>
            <a:fillRect/>
          </a:stretch>
        </p:blipFill>
        <p:spPr>
          <a:xfrm>
            <a:off x="4009292" y="1420837"/>
            <a:ext cx="5997514" cy="3854548"/>
          </a:xfrm>
          <a:prstGeom prst="rect">
            <a:avLst/>
          </a:prstGeom>
        </p:spPr>
      </p:pic>
      <p:sp>
        <p:nvSpPr>
          <p:cNvPr id="13" name="Retângulo: Cantos Arredondados 12"/>
          <p:cNvSpPr/>
          <p:nvPr/>
        </p:nvSpPr>
        <p:spPr>
          <a:xfrm>
            <a:off x="4019703" y="3010486"/>
            <a:ext cx="636706" cy="33762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sp>
        <p:nvSpPr>
          <p:cNvPr id="15" name="Retângulo: Cantos Arredondados 14"/>
          <p:cNvSpPr/>
          <p:nvPr/>
        </p:nvSpPr>
        <p:spPr>
          <a:xfrm>
            <a:off x="4824622" y="3739661"/>
            <a:ext cx="1744991" cy="522850"/>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sp>
        <p:nvSpPr>
          <p:cNvPr id="16" name="Retângulo: Cantos Arredondados 15"/>
          <p:cNvSpPr/>
          <p:nvPr/>
        </p:nvSpPr>
        <p:spPr>
          <a:xfrm>
            <a:off x="4824621" y="2838535"/>
            <a:ext cx="1744991" cy="522850"/>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sp>
        <p:nvSpPr>
          <p:cNvPr id="17" name="Retângulo: Cantos Arredondados 16"/>
          <p:cNvSpPr/>
          <p:nvPr/>
        </p:nvSpPr>
        <p:spPr>
          <a:xfrm>
            <a:off x="6723756" y="2534906"/>
            <a:ext cx="3220650" cy="433376"/>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spTree>
    <p:extLst>
      <p:ext uri="{BB962C8B-B14F-4D97-AF65-F5344CB8AC3E}">
        <p14:creationId xmlns:p14="http://schemas.microsoft.com/office/powerpoint/2010/main" val="15522686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1000"/>
                                        <p:tgtEl>
                                          <p:spTgt spid="17"/>
                                        </p:tgtEl>
                                      </p:cBhvr>
                                    </p:animEffect>
                                    <p:anim calcmode="lin" valueType="num">
                                      <p:cBhvr>
                                        <p:cTn id="24" dur="1000" fill="hold"/>
                                        <p:tgtEl>
                                          <p:spTgt spid="17"/>
                                        </p:tgtEl>
                                        <p:attrNameLst>
                                          <p:attrName>ppt_x</p:attrName>
                                        </p:attrNameLst>
                                      </p:cBhvr>
                                      <p:tavLst>
                                        <p:tav tm="0">
                                          <p:val>
                                            <p:strVal val="#ppt_x"/>
                                          </p:val>
                                        </p:tav>
                                        <p:tav tm="100000">
                                          <p:val>
                                            <p:strVal val="#ppt_x"/>
                                          </p:val>
                                        </p:tav>
                                      </p:tavLst>
                                    </p:anim>
                                    <p:anim calcmode="lin" valueType="num">
                                      <p:cBhvr>
                                        <p:cTn id="2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Imagem 6"/>
          <p:cNvPicPr>
            <a:picLocks noChangeAspect="1"/>
          </p:cNvPicPr>
          <p:nvPr/>
        </p:nvPicPr>
        <p:blipFill>
          <a:blip r:embed="rId2"/>
          <a:stretch>
            <a:fillRect/>
          </a:stretch>
        </p:blipFill>
        <p:spPr>
          <a:xfrm>
            <a:off x="4209755" y="1102482"/>
            <a:ext cx="5750171" cy="4505325"/>
          </a:xfrm>
          <a:prstGeom prst="rect">
            <a:avLst/>
          </a:prstGeom>
        </p:spPr>
      </p:pic>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CaixaDeTexto 4"/>
          <p:cNvSpPr txBox="1"/>
          <p:nvPr/>
        </p:nvSpPr>
        <p:spPr>
          <a:xfrm>
            <a:off x="214935" y="15226"/>
            <a:ext cx="9687267" cy="523220"/>
          </a:xfrm>
          <a:prstGeom prst="rect">
            <a:avLst/>
          </a:prstGeom>
          <a:noFill/>
        </p:spPr>
        <p:txBody>
          <a:bodyPr wrap="none" rtlCol="0">
            <a:spAutoFit/>
          </a:bodyPr>
          <a:lstStyle/>
          <a:p>
            <a:pPr algn="ctr"/>
            <a:r>
              <a:rPr lang="pt-BR" sz="2800" dirty="0">
                <a:ln w="0"/>
                <a:solidFill>
                  <a:schemeClr val="bg1"/>
                </a:solidFill>
                <a:effectLst>
                  <a:outerShdw blurRad="38100" dist="19050" dir="2700000" algn="tl" rotWithShape="0">
                    <a:schemeClr val="dk1">
                      <a:alpha val="40000"/>
                    </a:schemeClr>
                  </a:outerShdw>
                </a:effectLst>
              </a:rPr>
              <a:t>Compartilhar um documento usando o SharePoint ou o OneDrive</a:t>
            </a:r>
          </a:p>
        </p:txBody>
      </p:sp>
      <p:sp>
        <p:nvSpPr>
          <p:cNvPr id="3" name="Retângulo 2"/>
          <p:cNvSpPr/>
          <p:nvPr/>
        </p:nvSpPr>
        <p:spPr>
          <a:xfrm>
            <a:off x="110330" y="802756"/>
            <a:ext cx="4023730" cy="369332"/>
          </a:xfrm>
          <a:prstGeom prst="rect">
            <a:avLst/>
          </a:prstGeom>
        </p:spPr>
        <p:txBody>
          <a:bodyPr wrap="none">
            <a:spAutoFit/>
          </a:bodyPr>
          <a:lstStyle/>
          <a:p>
            <a:r>
              <a:rPr lang="pt-BR" b="1" dirty="0"/>
              <a:t>Salvar em seu novo lugar e compartilhar</a:t>
            </a:r>
          </a:p>
        </p:txBody>
      </p:sp>
      <p:sp>
        <p:nvSpPr>
          <p:cNvPr id="11" name="Retângulo 10"/>
          <p:cNvSpPr/>
          <p:nvPr/>
        </p:nvSpPr>
        <p:spPr>
          <a:xfrm>
            <a:off x="214935" y="1252785"/>
            <a:ext cx="3794357" cy="5078313"/>
          </a:xfrm>
          <a:prstGeom prst="rect">
            <a:avLst/>
          </a:prstGeom>
        </p:spPr>
        <p:txBody>
          <a:bodyPr wrap="square">
            <a:spAutoFit/>
          </a:bodyPr>
          <a:lstStyle/>
          <a:p>
            <a:r>
              <a:rPr lang="pt-BR" dirty="0"/>
              <a:t>    Abra o documento que você deseja compartilhar.</a:t>
            </a:r>
          </a:p>
          <a:p>
            <a:endParaRPr lang="pt-BR" dirty="0"/>
          </a:p>
          <a:p>
            <a:r>
              <a:rPr lang="pt-BR" dirty="0"/>
              <a:t>Clique em </a:t>
            </a:r>
            <a:r>
              <a:rPr lang="pt-BR" b="1" dirty="0"/>
              <a:t>Arquivo</a:t>
            </a:r>
            <a:r>
              <a:rPr lang="pt-BR" dirty="0"/>
              <a:t> &gt; </a:t>
            </a:r>
            <a:r>
              <a:rPr lang="pt-BR" b="1" dirty="0"/>
              <a:t>Compartilhar</a:t>
            </a:r>
            <a:r>
              <a:rPr lang="pt-BR" dirty="0"/>
              <a:t> </a:t>
            </a:r>
          </a:p>
          <a:p>
            <a:endParaRPr lang="pt-BR" dirty="0"/>
          </a:p>
          <a:p>
            <a:pPr algn="just"/>
            <a:r>
              <a:rPr lang="pt-BR" dirty="0"/>
              <a:t>Insira os nomes ou endereços de </a:t>
            </a:r>
            <a:r>
              <a:rPr lang="pt-BR" dirty="0" err="1"/>
              <a:t>email</a:t>
            </a:r>
            <a:r>
              <a:rPr lang="pt-BR" dirty="0"/>
              <a:t> das pessoas com quem você quer compartilhar.</a:t>
            </a:r>
          </a:p>
          <a:p>
            <a:endParaRPr lang="pt-BR" dirty="0"/>
          </a:p>
          <a:p>
            <a:pPr algn="just"/>
            <a:r>
              <a:rPr lang="pt-BR" dirty="0"/>
              <a:t>Se preferir, clique em Pode Editar ou Pode Exibir. A primeira opção permite que os seus colegas de trabalho alterem o arquivo. A segunda mantém o arquivo mais seguro.</a:t>
            </a:r>
          </a:p>
          <a:p>
            <a:pPr algn="just"/>
            <a:endParaRPr lang="pt-BR" dirty="0"/>
          </a:p>
          <a:p>
            <a:pPr algn="just"/>
            <a:r>
              <a:rPr lang="pt-BR" dirty="0"/>
              <a:t>Insira uma mensagem na caixa abaixo da linha do endereço, se desejar, e clique em Compartilhar.</a:t>
            </a:r>
          </a:p>
        </p:txBody>
      </p:sp>
      <p:sp>
        <p:nvSpPr>
          <p:cNvPr id="13" name="Retângulo: Cantos Arredondados 12"/>
          <p:cNvSpPr/>
          <p:nvPr/>
        </p:nvSpPr>
        <p:spPr>
          <a:xfrm>
            <a:off x="7730262" y="1331834"/>
            <a:ext cx="1090181" cy="454763"/>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sp>
        <p:nvSpPr>
          <p:cNvPr id="14" name="Retângulo: Cantos Arredondados 13"/>
          <p:cNvSpPr/>
          <p:nvPr/>
        </p:nvSpPr>
        <p:spPr>
          <a:xfrm>
            <a:off x="4234375" y="6170312"/>
            <a:ext cx="45719" cy="13201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7" name="Retângulo: Cantos Arredondados 16"/>
          <p:cNvSpPr/>
          <p:nvPr/>
        </p:nvSpPr>
        <p:spPr>
          <a:xfrm>
            <a:off x="7132314" y="2729132"/>
            <a:ext cx="2769888" cy="1856936"/>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mc:AlternateContent xmlns:mc="http://schemas.openxmlformats.org/markup-compatibility/2006" xmlns:p14="http://schemas.microsoft.com/office/powerpoint/2010/main">
        <mc:Choice Requires="p14">
          <p:contentPart p14:bwMode="auto" r:id="rId3">
            <p14:nvContentPartPr>
              <p14:cNvPr id="2" name="Tinta 1"/>
              <p14:cNvContentPartPr/>
              <p14:nvPr/>
            </p14:nvContentPartPr>
            <p14:xfrm>
              <a:off x="2676240" y="2223000"/>
              <a:ext cx="5279400" cy="4129920"/>
            </p14:xfrm>
          </p:contentPart>
        </mc:Choice>
        <mc:Fallback xmlns="">
          <p:pic>
            <p:nvPicPr>
              <p:cNvPr id="2" name="Tinta 1"/>
              <p:cNvPicPr/>
              <p:nvPr/>
            </p:nvPicPr>
            <p:blipFill>
              <a:blip r:embed="rId4"/>
              <a:stretch>
                <a:fillRect/>
              </a:stretch>
            </p:blipFill>
            <p:spPr>
              <a:xfrm>
                <a:off x="2666880" y="2213640"/>
                <a:ext cx="5298120" cy="4148640"/>
              </a:xfrm>
              <a:prstGeom prst="rect">
                <a:avLst/>
              </a:prstGeom>
            </p:spPr>
          </p:pic>
        </mc:Fallback>
      </mc:AlternateContent>
    </p:spTree>
    <p:extLst>
      <p:ext uri="{BB962C8B-B14F-4D97-AF65-F5344CB8AC3E}">
        <p14:creationId xmlns:p14="http://schemas.microsoft.com/office/powerpoint/2010/main" val="34886921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000"/>
                                        <p:tgtEl>
                                          <p:spTgt spid="17"/>
                                        </p:tgtEl>
                                      </p:cBhvr>
                                    </p:animEffect>
                                    <p:anim calcmode="lin" valueType="num">
                                      <p:cBhvr>
                                        <p:cTn id="15" dur="1000" fill="hold"/>
                                        <p:tgtEl>
                                          <p:spTgt spid="17"/>
                                        </p:tgtEl>
                                        <p:attrNameLst>
                                          <p:attrName>ppt_x</p:attrName>
                                        </p:attrNameLst>
                                      </p:cBhvr>
                                      <p:tavLst>
                                        <p:tav tm="0">
                                          <p:val>
                                            <p:strVal val="#ppt_x"/>
                                          </p:val>
                                        </p:tav>
                                        <p:tav tm="100000">
                                          <p:val>
                                            <p:strVal val="#ppt_x"/>
                                          </p:val>
                                        </p:tav>
                                      </p:tavLst>
                                    </p:anim>
                                    <p:anim calcmode="lin" valueType="num">
                                      <p:cBhvr>
                                        <p:cTn id="1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CaixaDeTexto 4"/>
          <p:cNvSpPr txBox="1"/>
          <p:nvPr/>
        </p:nvSpPr>
        <p:spPr>
          <a:xfrm>
            <a:off x="688815" y="15226"/>
            <a:ext cx="8739508" cy="523220"/>
          </a:xfrm>
          <a:prstGeom prst="rect">
            <a:avLst/>
          </a:prstGeom>
          <a:noFill/>
        </p:spPr>
        <p:txBody>
          <a:bodyPr wrap="none" rtlCol="0">
            <a:spAutoFit/>
          </a:bodyPr>
          <a:lstStyle/>
          <a:p>
            <a:pPr algn="ctr"/>
            <a:r>
              <a:rPr lang="pt-BR" sz="2800" dirty="0" err="1">
                <a:ln w="0"/>
                <a:solidFill>
                  <a:schemeClr val="bg1"/>
                </a:solidFill>
                <a:effectLst>
                  <a:outerShdw blurRad="38100" dist="19050" dir="2700000" algn="tl" rotWithShape="0">
                    <a:schemeClr val="dk1">
                      <a:alpha val="40000"/>
                    </a:schemeClr>
                  </a:outerShdw>
                </a:effectLst>
              </a:rPr>
              <a:t>Check</a:t>
            </a:r>
            <a:r>
              <a:rPr lang="pt-BR" sz="2800" dirty="0">
                <a:ln w="0"/>
                <a:solidFill>
                  <a:schemeClr val="bg1"/>
                </a:solidFill>
                <a:effectLst>
                  <a:outerShdw blurRad="38100" dist="19050" dir="2700000" algn="tl" rotWithShape="0">
                    <a:schemeClr val="dk1">
                      <a:alpha val="40000"/>
                    </a:schemeClr>
                  </a:outerShdw>
                </a:effectLst>
              </a:rPr>
              <a:t>-out, check-in ou descarte de alterações em arquivos</a:t>
            </a:r>
          </a:p>
        </p:txBody>
      </p:sp>
      <p:sp>
        <p:nvSpPr>
          <p:cNvPr id="3" name="Retângulo 2"/>
          <p:cNvSpPr/>
          <p:nvPr/>
        </p:nvSpPr>
        <p:spPr>
          <a:xfrm>
            <a:off x="110330" y="802756"/>
            <a:ext cx="1181734" cy="369332"/>
          </a:xfrm>
          <a:prstGeom prst="rect">
            <a:avLst/>
          </a:prstGeom>
        </p:spPr>
        <p:txBody>
          <a:bodyPr wrap="none">
            <a:spAutoFit/>
          </a:bodyPr>
          <a:lstStyle/>
          <a:p>
            <a:r>
              <a:rPr lang="pt-BR" b="1" dirty="0" err="1"/>
              <a:t>Check</a:t>
            </a:r>
            <a:r>
              <a:rPr lang="pt-BR" b="1" dirty="0"/>
              <a:t>-Out</a:t>
            </a:r>
          </a:p>
        </p:txBody>
      </p:sp>
      <p:sp>
        <p:nvSpPr>
          <p:cNvPr id="11" name="Retângulo 10"/>
          <p:cNvSpPr/>
          <p:nvPr/>
        </p:nvSpPr>
        <p:spPr>
          <a:xfrm>
            <a:off x="214935" y="1252785"/>
            <a:ext cx="4357066" cy="3139321"/>
          </a:xfrm>
          <a:prstGeom prst="rect">
            <a:avLst/>
          </a:prstGeom>
        </p:spPr>
        <p:txBody>
          <a:bodyPr wrap="square">
            <a:spAutoFit/>
          </a:bodyPr>
          <a:lstStyle/>
          <a:p>
            <a:pPr algn="just"/>
            <a:r>
              <a:rPr lang="pt-BR" dirty="0"/>
              <a:t>Caso queira fazer alterações em um arquivo e se certificar de que ninguém mais possa editá-lo, você precisa fazer o </a:t>
            </a:r>
            <a:r>
              <a:rPr lang="pt-BR" i="1" dirty="0" err="1"/>
              <a:t>Check</a:t>
            </a:r>
            <a:r>
              <a:rPr lang="pt-BR" i="1" dirty="0"/>
              <a:t> Out</a:t>
            </a:r>
            <a:r>
              <a:rPr lang="pt-BR" dirty="0"/>
              <a:t> do arquivo na página do SharePoint. Feito isso, é possível editá-lo e salvá-lo.</a:t>
            </a:r>
          </a:p>
          <a:p>
            <a:endParaRPr lang="pt-BR" dirty="0"/>
          </a:p>
          <a:p>
            <a:r>
              <a:rPr lang="pt-BR" dirty="0"/>
              <a:t>Para realizar o </a:t>
            </a:r>
            <a:r>
              <a:rPr lang="pt-BR" dirty="0" err="1"/>
              <a:t>Check</a:t>
            </a:r>
            <a:r>
              <a:rPr lang="pt-BR" dirty="0"/>
              <a:t>-Out clique em </a:t>
            </a:r>
            <a:r>
              <a:rPr lang="pt-BR" b="1" dirty="0"/>
              <a:t>Arquivo </a:t>
            </a:r>
            <a:r>
              <a:rPr lang="pt-BR" dirty="0"/>
              <a:t>&gt; </a:t>
            </a:r>
            <a:r>
              <a:rPr lang="pt-BR" b="1" dirty="0"/>
              <a:t>Informações </a:t>
            </a:r>
            <a:r>
              <a:rPr lang="pt-BR" dirty="0"/>
              <a:t>&gt; </a:t>
            </a:r>
            <a:r>
              <a:rPr lang="pt-BR" b="1" dirty="0"/>
              <a:t>Controle de Versão </a:t>
            </a:r>
            <a:r>
              <a:rPr lang="pt-BR" dirty="0"/>
              <a:t>&gt; </a:t>
            </a:r>
            <a:r>
              <a:rPr lang="pt-BR" b="1" dirty="0" err="1"/>
              <a:t>Check</a:t>
            </a:r>
            <a:r>
              <a:rPr lang="pt-BR" b="1" dirty="0"/>
              <a:t>-Out</a:t>
            </a:r>
          </a:p>
          <a:p>
            <a:endParaRPr lang="pt-BR" b="1" dirty="0"/>
          </a:p>
          <a:p>
            <a:endParaRPr lang="pt-BR" b="1" dirty="0"/>
          </a:p>
        </p:txBody>
      </p:sp>
      <p:pic>
        <p:nvPicPr>
          <p:cNvPr id="6" name="Imagem 5"/>
          <p:cNvPicPr>
            <a:picLocks noChangeAspect="1"/>
          </p:cNvPicPr>
          <p:nvPr/>
        </p:nvPicPr>
        <p:blipFill rotWithShape="1">
          <a:blip r:embed="rId2"/>
          <a:srcRect t="5008" r="1598"/>
          <a:stretch/>
        </p:blipFill>
        <p:spPr>
          <a:xfrm>
            <a:off x="4702187" y="1172088"/>
            <a:ext cx="4798864" cy="5130238"/>
          </a:xfrm>
          <a:prstGeom prst="rect">
            <a:avLst/>
          </a:prstGeom>
        </p:spPr>
      </p:pic>
    </p:spTree>
    <p:extLst>
      <p:ext uri="{BB962C8B-B14F-4D97-AF65-F5344CB8AC3E}">
        <p14:creationId xmlns:p14="http://schemas.microsoft.com/office/powerpoint/2010/main" val="4263155066"/>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CaixaDeTexto 4"/>
          <p:cNvSpPr txBox="1"/>
          <p:nvPr/>
        </p:nvSpPr>
        <p:spPr>
          <a:xfrm>
            <a:off x="688815" y="15226"/>
            <a:ext cx="8739508" cy="523220"/>
          </a:xfrm>
          <a:prstGeom prst="rect">
            <a:avLst/>
          </a:prstGeom>
          <a:noFill/>
        </p:spPr>
        <p:txBody>
          <a:bodyPr wrap="none" rtlCol="0">
            <a:spAutoFit/>
          </a:bodyPr>
          <a:lstStyle/>
          <a:p>
            <a:pPr algn="ctr"/>
            <a:r>
              <a:rPr lang="pt-BR" sz="2800" dirty="0" err="1">
                <a:ln w="0"/>
                <a:solidFill>
                  <a:schemeClr val="bg1"/>
                </a:solidFill>
                <a:effectLst>
                  <a:outerShdw blurRad="38100" dist="19050" dir="2700000" algn="tl" rotWithShape="0">
                    <a:schemeClr val="dk1">
                      <a:alpha val="40000"/>
                    </a:schemeClr>
                  </a:outerShdw>
                </a:effectLst>
              </a:rPr>
              <a:t>Check</a:t>
            </a:r>
            <a:r>
              <a:rPr lang="pt-BR" sz="2800" dirty="0">
                <a:ln w="0"/>
                <a:solidFill>
                  <a:schemeClr val="bg1"/>
                </a:solidFill>
                <a:effectLst>
                  <a:outerShdw blurRad="38100" dist="19050" dir="2700000" algn="tl" rotWithShape="0">
                    <a:schemeClr val="dk1">
                      <a:alpha val="40000"/>
                    </a:schemeClr>
                  </a:outerShdw>
                </a:effectLst>
              </a:rPr>
              <a:t>-out, check-in ou descarte de alterações em arquivos</a:t>
            </a:r>
          </a:p>
        </p:txBody>
      </p:sp>
      <p:sp>
        <p:nvSpPr>
          <p:cNvPr id="3" name="Retângulo 2"/>
          <p:cNvSpPr/>
          <p:nvPr/>
        </p:nvSpPr>
        <p:spPr>
          <a:xfrm>
            <a:off x="110330" y="802756"/>
            <a:ext cx="1007007" cy="369332"/>
          </a:xfrm>
          <a:prstGeom prst="rect">
            <a:avLst/>
          </a:prstGeom>
        </p:spPr>
        <p:txBody>
          <a:bodyPr wrap="none">
            <a:spAutoFit/>
          </a:bodyPr>
          <a:lstStyle/>
          <a:p>
            <a:r>
              <a:rPr lang="pt-BR" b="1" dirty="0"/>
              <a:t>Check-in</a:t>
            </a:r>
          </a:p>
        </p:txBody>
      </p:sp>
      <p:sp>
        <p:nvSpPr>
          <p:cNvPr id="11" name="Retângulo 10"/>
          <p:cNvSpPr/>
          <p:nvPr/>
        </p:nvSpPr>
        <p:spPr>
          <a:xfrm>
            <a:off x="214935" y="1252785"/>
            <a:ext cx="4357066" cy="4801314"/>
          </a:xfrm>
          <a:prstGeom prst="rect">
            <a:avLst/>
          </a:prstGeom>
        </p:spPr>
        <p:txBody>
          <a:bodyPr wrap="square">
            <a:spAutoFit/>
          </a:bodyPr>
          <a:lstStyle/>
          <a:p>
            <a:pPr algn="just"/>
            <a:r>
              <a:rPr lang="pt-BR" dirty="0"/>
              <a:t>Quando terminar de editar o arquivo e realizar o check-in na biblioteca novamente, outras pessoas poderão ver as alterações e editar o arquivo, se tiver permissão. E, caso decidir não realizar nenhuma alteração no arquivo, simplesmente descarte o </a:t>
            </a:r>
            <a:r>
              <a:rPr lang="pt-BR" dirty="0" err="1"/>
              <a:t>check</a:t>
            </a:r>
            <a:r>
              <a:rPr lang="pt-BR" dirty="0"/>
              <a:t>-out para não afetar o histórico de versões.</a:t>
            </a:r>
          </a:p>
          <a:p>
            <a:pPr algn="just"/>
            <a:endParaRPr lang="pt-BR" dirty="0"/>
          </a:p>
          <a:p>
            <a:r>
              <a:rPr lang="pt-BR" dirty="0"/>
              <a:t>Para realizar o Check-In clique em </a:t>
            </a:r>
            <a:r>
              <a:rPr lang="pt-BR" b="1" dirty="0"/>
              <a:t>Arquivo </a:t>
            </a:r>
            <a:r>
              <a:rPr lang="pt-BR" dirty="0"/>
              <a:t>&gt; </a:t>
            </a:r>
            <a:r>
              <a:rPr lang="pt-BR" b="1" dirty="0"/>
              <a:t>Informações </a:t>
            </a:r>
            <a:r>
              <a:rPr lang="pt-BR" dirty="0"/>
              <a:t>&gt; </a:t>
            </a:r>
            <a:r>
              <a:rPr lang="pt-BR" b="1" dirty="0"/>
              <a:t>Controle de Versão </a:t>
            </a:r>
            <a:r>
              <a:rPr lang="pt-BR" dirty="0"/>
              <a:t>&gt; </a:t>
            </a:r>
            <a:r>
              <a:rPr lang="pt-BR" b="1" dirty="0"/>
              <a:t>Check-In</a:t>
            </a:r>
          </a:p>
          <a:p>
            <a:endParaRPr lang="pt-BR" b="1" dirty="0"/>
          </a:p>
          <a:p>
            <a:pPr algn="just"/>
            <a:r>
              <a:rPr lang="pt-BR" dirty="0"/>
              <a:t>Obs.: Você consegue verificar se um arquivos está em uso</a:t>
            </a:r>
            <a:r>
              <a:rPr lang="pt-BR" b="1" dirty="0"/>
              <a:t> </a:t>
            </a:r>
            <a:r>
              <a:rPr lang="pt-BR" dirty="0"/>
              <a:t>quando estiver marcado com uma seta verde apontado para baixo.</a:t>
            </a:r>
          </a:p>
          <a:p>
            <a:endParaRPr lang="pt-BR" b="1" dirty="0"/>
          </a:p>
        </p:txBody>
      </p:sp>
      <p:pic>
        <p:nvPicPr>
          <p:cNvPr id="2" name="Imagem 1"/>
          <p:cNvPicPr>
            <a:picLocks noChangeAspect="1"/>
          </p:cNvPicPr>
          <p:nvPr/>
        </p:nvPicPr>
        <p:blipFill>
          <a:blip r:embed="rId2"/>
          <a:stretch>
            <a:fillRect/>
          </a:stretch>
        </p:blipFill>
        <p:spPr>
          <a:xfrm>
            <a:off x="508210" y="5892544"/>
            <a:ext cx="3595979" cy="561454"/>
          </a:xfrm>
          <a:prstGeom prst="rect">
            <a:avLst/>
          </a:prstGeom>
        </p:spPr>
      </p:pic>
      <p:pic>
        <p:nvPicPr>
          <p:cNvPr id="7" name="Imagem 6"/>
          <p:cNvPicPr>
            <a:picLocks noChangeAspect="1"/>
          </p:cNvPicPr>
          <p:nvPr/>
        </p:nvPicPr>
        <p:blipFill>
          <a:blip r:embed="rId3"/>
          <a:stretch>
            <a:fillRect/>
          </a:stretch>
        </p:blipFill>
        <p:spPr>
          <a:xfrm>
            <a:off x="4572001" y="2809874"/>
            <a:ext cx="5489697" cy="1762125"/>
          </a:xfrm>
          <a:prstGeom prst="rect">
            <a:avLst/>
          </a:prstGeom>
        </p:spPr>
      </p:pic>
      <p:sp>
        <p:nvSpPr>
          <p:cNvPr id="10" name="Retângulo: Cantos Arredondados 9"/>
          <p:cNvSpPr/>
          <p:nvPr/>
        </p:nvSpPr>
        <p:spPr>
          <a:xfrm>
            <a:off x="8096022" y="3564559"/>
            <a:ext cx="1863904" cy="768290"/>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spTree>
    <p:extLst>
      <p:ext uri="{BB962C8B-B14F-4D97-AF65-F5344CB8AC3E}">
        <p14:creationId xmlns:p14="http://schemas.microsoft.com/office/powerpoint/2010/main" val="2951938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Active Directory e Office 365</a:t>
            </a:r>
          </a:p>
        </p:txBody>
      </p:sp>
      <p:pic>
        <p:nvPicPr>
          <p:cNvPr id="15" name="Picture 5"/>
          <p:cNvPicPr>
            <a:picLocks noChangeAspect="1"/>
          </p:cNvPicPr>
          <p:nvPr/>
        </p:nvPicPr>
        <p:blipFill>
          <a:blip r:embed="rId4"/>
          <a:stretch>
            <a:fillRect/>
          </a:stretch>
        </p:blipFill>
        <p:spPr>
          <a:xfrm>
            <a:off x="9092707" y="129598"/>
            <a:ext cx="933147" cy="334448"/>
          </a:xfrm>
          <a:prstGeom prst="rect">
            <a:avLst/>
          </a:prstGeom>
        </p:spPr>
      </p:pic>
      <p:pic>
        <p:nvPicPr>
          <p:cNvPr id="4103" name="Picture 7" descr="http://queconceito.com.br/wp-content/uploads/duvida.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0453" y="1994728"/>
            <a:ext cx="4680863" cy="3011250"/>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58"/>
          <p:cNvSpPr/>
          <p:nvPr/>
        </p:nvSpPr>
        <p:spPr bwMode="auto">
          <a:xfrm>
            <a:off x="5290453" y="5005977"/>
            <a:ext cx="4680863" cy="903465"/>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ctr" anchorCtr="0" compatLnSpc="1">
            <a:prstTxWarp prst="textNoShape">
              <a:avLst/>
            </a:prstTxWarp>
          </a:bodyPr>
          <a:lstStyle/>
          <a:p>
            <a:pPr defTabSz="914008" fontAlgn="base">
              <a:lnSpc>
                <a:spcPct val="90000"/>
              </a:lnSpc>
              <a:spcBef>
                <a:spcPct val="0"/>
              </a:spcBef>
              <a:spcAft>
                <a:spcPct val="0"/>
              </a:spcAft>
            </a:pPr>
            <a:r>
              <a:rPr lang="en-US" sz="2800" b="1" dirty="0" err="1">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Dúvidas</a:t>
            </a:r>
            <a:r>
              <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a:t>
            </a:r>
          </a:p>
        </p:txBody>
      </p:sp>
      <p:sp>
        <p:nvSpPr>
          <p:cNvPr id="8" name="Retângulo 7">
            <a:hlinkClick r:id="rId6"/>
          </p:cNvPr>
          <p:cNvSpPr/>
          <p:nvPr/>
        </p:nvSpPr>
        <p:spPr>
          <a:xfrm>
            <a:off x="140677" y="1994729"/>
            <a:ext cx="4821022" cy="3914714"/>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pt-BR" sz="1600" dirty="0">
                <a:solidFill>
                  <a:schemeClr val="tx1"/>
                </a:solidFill>
                <a:ea typeface="Segoe UI" pitchFamily="34" charset="0"/>
                <a:cs typeface="Segoe UI" pitchFamily="34" charset="0"/>
              </a:rPr>
              <a:t>Entre em contato através do e-mail: </a:t>
            </a:r>
            <a:r>
              <a:rPr lang="pt-BR" sz="1600" dirty="0">
                <a:solidFill>
                  <a:schemeClr val="tx1"/>
                </a:solidFill>
                <a:ea typeface="Segoe UI" pitchFamily="34" charset="0"/>
                <a:cs typeface="Segoe UI" pitchFamily="34" charset="0"/>
                <a:hlinkClick r:id="rId7"/>
              </a:rPr>
              <a:t>infra@smiles.com.br</a:t>
            </a:r>
            <a:endParaRPr lang="pt-BR" sz="1600" dirty="0">
              <a:solidFill>
                <a:schemeClr val="tx1"/>
              </a:solidFill>
              <a:ea typeface="Segoe UI" pitchFamily="34" charset="0"/>
              <a:cs typeface="Segoe UI" pitchFamily="34" charset="0"/>
            </a:endParaRPr>
          </a:p>
          <a:p>
            <a:pPr algn="ctr" defTabSz="758158" fontAlgn="base">
              <a:spcBef>
                <a:spcPct val="0"/>
              </a:spcBef>
              <a:spcAft>
                <a:spcPct val="0"/>
              </a:spcAft>
            </a:pPr>
            <a:endParaRPr lang="pt-BR" sz="1600" dirty="0">
              <a:solidFill>
                <a:schemeClr val="tx1"/>
              </a:solidFill>
              <a:ea typeface="Segoe UI" pitchFamily="34" charset="0"/>
              <a:cs typeface="Segoe UI" pitchFamily="34" charset="0"/>
            </a:endParaRPr>
          </a:p>
          <a:p>
            <a:pPr algn="ctr" defTabSz="758158" fontAlgn="base">
              <a:spcBef>
                <a:spcPct val="0"/>
              </a:spcBef>
              <a:spcAft>
                <a:spcPct val="0"/>
              </a:spcAft>
            </a:pPr>
            <a:r>
              <a:rPr lang="pt-BR" sz="1600" dirty="0">
                <a:solidFill>
                  <a:schemeClr val="tx1"/>
                </a:solidFill>
                <a:ea typeface="Segoe UI" pitchFamily="34" charset="0"/>
                <a:cs typeface="Segoe UI" pitchFamily="34" charset="0"/>
              </a:rPr>
              <a:t>ou</a:t>
            </a:r>
          </a:p>
          <a:p>
            <a:pPr algn="ctr" defTabSz="758158" fontAlgn="base">
              <a:spcBef>
                <a:spcPct val="0"/>
              </a:spcBef>
              <a:spcAft>
                <a:spcPct val="0"/>
              </a:spcAft>
            </a:pPr>
            <a:endParaRPr lang="pt-BR" sz="1600" dirty="0">
              <a:solidFill>
                <a:schemeClr val="tx1"/>
              </a:solidFill>
              <a:ea typeface="Segoe UI" pitchFamily="34" charset="0"/>
              <a:cs typeface="Segoe UI" pitchFamily="34" charset="0"/>
            </a:endParaRPr>
          </a:p>
          <a:p>
            <a:pPr algn="ctr" defTabSz="758158" fontAlgn="base">
              <a:spcBef>
                <a:spcPct val="0"/>
              </a:spcBef>
              <a:spcAft>
                <a:spcPct val="0"/>
              </a:spcAft>
            </a:pPr>
            <a:r>
              <a:rPr lang="pt-BR" sz="1600" dirty="0">
                <a:solidFill>
                  <a:schemeClr val="tx1"/>
                </a:solidFill>
                <a:ea typeface="Segoe UI" pitchFamily="34" charset="0"/>
                <a:cs typeface="Segoe UI" pitchFamily="34" charset="0"/>
              </a:rPr>
              <a:t>Acesse </a:t>
            </a:r>
            <a:r>
              <a:rPr lang="pt-BR" sz="1600" b="1" dirty="0">
                <a:solidFill>
                  <a:schemeClr val="tx1"/>
                </a:solidFill>
                <a:ea typeface="Segoe UI" pitchFamily="34" charset="0"/>
                <a:cs typeface="Segoe UI" pitchFamily="34" charset="0"/>
                <a:hlinkClick r:id="rId8"/>
              </a:rPr>
              <a:t>https://support.office.com/pt-br/article/Centro-de-Treinamento-do-Office</a:t>
            </a:r>
            <a:r>
              <a:rPr lang="pt-BR" sz="1600" b="1" dirty="0">
                <a:solidFill>
                  <a:schemeClr val="tx1"/>
                </a:solidFill>
                <a:ea typeface="Segoe UI" pitchFamily="34" charset="0"/>
                <a:cs typeface="Segoe UI" pitchFamily="34" charset="0"/>
              </a:rPr>
              <a:t>  </a:t>
            </a:r>
            <a:r>
              <a:rPr lang="pt-BR" sz="1600" dirty="0">
                <a:solidFill>
                  <a:schemeClr val="tx1"/>
                </a:solidFill>
                <a:ea typeface="Segoe UI" pitchFamily="34" charset="0"/>
                <a:cs typeface="Segoe UI" pitchFamily="34" charset="0"/>
              </a:rPr>
              <a:t>para explorar outras opções de treinamento gratuitas.</a:t>
            </a:r>
          </a:p>
        </p:txBody>
      </p:sp>
    </p:spTree>
    <p:extLst>
      <p:ext uri="{BB962C8B-B14F-4D97-AF65-F5344CB8AC3E}">
        <p14:creationId xmlns:p14="http://schemas.microsoft.com/office/powerpoint/2010/main" val="169163032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103"/>
                                        </p:tgtEl>
                                        <p:attrNameLst>
                                          <p:attrName>style.visibility</p:attrName>
                                        </p:attrNameLst>
                                      </p:cBhvr>
                                      <p:to>
                                        <p:strVal val="visible"/>
                                      </p:to>
                                    </p:set>
                                    <p:anim calcmode="lin" valueType="num">
                                      <p:cBhvr>
                                        <p:cTn id="7" dur="500" fill="hold"/>
                                        <p:tgtEl>
                                          <p:spTgt spid="4103"/>
                                        </p:tgtEl>
                                        <p:attrNameLst>
                                          <p:attrName>ppt_w</p:attrName>
                                        </p:attrNameLst>
                                      </p:cBhvr>
                                      <p:tavLst>
                                        <p:tav tm="0">
                                          <p:val>
                                            <p:fltVal val="0"/>
                                          </p:val>
                                        </p:tav>
                                        <p:tav tm="100000">
                                          <p:val>
                                            <p:strVal val="#ppt_w"/>
                                          </p:val>
                                        </p:tav>
                                      </p:tavLst>
                                    </p:anim>
                                    <p:anim calcmode="lin" valueType="num">
                                      <p:cBhvr>
                                        <p:cTn id="8" dur="500" fill="hold"/>
                                        <p:tgtEl>
                                          <p:spTgt spid="4103"/>
                                        </p:tgtEl>
                                        <p:attrNameLst>
                                          <p:attrName>ppt_h</p:attrName>
                                        </p:attrNameLst>
                                      </p:cBhvr>
                                      <p:tavLst>
                                        <p:tav tm="0">
                                          <p:val>
                                            <p:fltVal val="0"/>
                                          </p:val>
                                        </p:tav>
                                        <p:tav tm="100000">
                                          <p:val>
                                            <p:strVal val="#ppt_h"/>
                                          </p:val>
                                        </p:tav>
                                      </p:tavLst>
                                    </p:anim>
                                    <p:animEffect transition="in" filter="fade">
                                      <p:cBhvr>
                                        <p:cTn id="9" dur="500"/>
                                        <p:tgtEl>
                                          <p:spTgt spid="410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MT_TILE" val="YES"/>
</p:tagLst>
</file>

<file path=ppt/tags/tag2.xml><?xml version="1.0" encoding="utf-8"?>
<p:tagLst xmlns:a="http://schemas.openxmlformats.org/drawingml/2006/main" xmlns:r="http://schemas.openxmlformats.org/officeDocument/2006/relationships" xmlns:p="http://schemas.openxmlformats.org/presentationml/2006/main">
  <p:tag name="MT_TILE" val="YES"/>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TM04033917[[fn=Berlim]]</Template>
  <TotalTime>0</TotalTime>
  <Words>2544</Words>
  <Application>Microsoft Office PowerPoint</Application>
  <PresentationFormat>Personalizar</PresentationFormat>
  <Paragraphs>258</Paragraphs>
  <Slides>29</Slides>
  <Notes>10</Notes>
  <HiddenSlides>6</HiddenSlides>
  <MMClips>0</MMClips>
  <ScaleCrop>false</ScaleCrop>
  <HeadingPairs>
    <vt:vector size="6" baseType="variant">
      <vt:variant>
        <vt:lpstr>Fontes usadas</vt:lpstr>
      </vt:variant>
      <vt:variant>
        <vt:i4>10</vt:i4>
      </vt:variant>
      <vt:variant>
        <vt:lpstr>Tema</vt:lpstr>
      </vt:variant>
      <vt:variant>
        <vt:i4>1</vt:i4>
      </vt:variant>
      <vt:variant>
        <vt:lpstr>Títulos de slides</vt:lpstr>
      </vt:variant>
      <vt:variant>
        <vt:i4>29</vt:i4>
      </vt:variant>
    </vt:vector>
  </HeadingPairs>
  <TitlesOfParts>
    <vt:vector size="40" baseType="lpstr">
      <vt:lpstr>Arial</vt:lpstr>
      <vt:lpstr>Calibri</vt:lpstr>
      <vt:lpstr>Calibri Light</vt:lpstr>
      <vt:lpstr>Gotham Rounded Book</vt:lpstr>
      <vt:lpstr>Lucida Sans Unicode</vt:lpstr>
      <vt:lpstr>Museo Sans For Dell</vt:lpstr>
      <vt:lpstr>Segoe UI</vt:lpstr>
      <vt:lpstr>Segoe UI Light</vt:lpstr>
      <vt:lpstr>Segoe UI Semibold</vt:lpstr>
      <vt:lpstr>Wingdings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2016-08-19T13:34:39Z</dcterms:created>
  <dcterms:modified xsi:type="dcterms:W3CDTF">2017-01-23T17:49:40Z</dcterms:modified>
</cp:coreProperties>
</file>