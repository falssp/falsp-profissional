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7" r:id="rId2"/>
    <p:sldId id="339" r:id="rId3"/>
    <p:sldId id="338" r:id="rId4"/>
    <p:sldId id="340" r:id="rId5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D0462D"/>
    <a:srgbClr val="F57124"/>
    <a:srgbClr val="F68E1E"/>
    <a:srgbClr val="99CCFF"/>
    <a:srgbClr val="FF9900"/>
    <a:srgbClr val="000000"/>
    <a:srgbClr val="EE6829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534" y="72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10/03/2016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3/10/2016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3/10/2016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3/10/2016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3/10/2016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3/10/2016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3/10/2016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3/10/2016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3/10/2016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3/10/2016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3/10/2016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3/10/2016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3/10/2016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1393" y="3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303" y="3276362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1949" y="2194505"/>
            <a:ext cx="568862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 </a:t>
            </a:r>
            <a:r>
              <a:rPr lang="pt-BR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Arquitetura Corporativa de TI</a:t>
            </a:r>
          </a:p>
          <a:p>
            <a:endParaRPr lang="pt-BR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Papel e Atividades Principais</a:t>
            </a:r>
          </a:p>
          <a:p>
            <a:endParaRPr 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en-US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Março</a:t>
            </a: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/2016</a:t>
            </a:r>
          </a:p>
        </p:txBody>
      </p:sp>
      <p:pic>
        <p:nvPicPr>
          <p:cNvPr id="1026" name="Picture 2" descr="http://live.icmgworld.com/architectureworld2013/images/Keynotes_01.pn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0EFE7"/>
              </a:clrFrom>
              <a:clrTo>
                <a:srgbClr val="F0EFE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448" y="4437517"/>
            <a:ext cx="3510485" cy="2267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Arquitetura Corporativa de TI</a:t>
            </a:r>
          </a:p>
        </p:txBody>
      </p:sp>
      <p:grpSp>
        <p:nvGrpSpPr>
          <p:cNvPr id="26" name="Agrupar 25"/>
          <p:cNvGrpSpPr/>
          <p:nvPr/>
        </p:nvGrpSpPr>
        <p:grpSpPr>
          <a:xfrm>
            <a:off x="3759798" y="2782439"/>
            <a:ext cx="2700000" cy="3044910"/>
            <a:chOff x="3801446" y="1120595"/>
            <a:chExt cx="2700000" cy="3044910"/>
          </a:xfrm>
        </p:grpSpPr>
        <p:sp>
          <p:nvSpPr>
            <p:cNvPr id="24" name="Retângulo de cantos arredondados 17"/>
            <p:cNvSpPr/>
            <p:nvPr/>
          </p:nvSpPr>
          <p:spPr>
            <a:xfrm>
              <a:off x="3801446" y="1120595"/>
              <a:ext cx="2700000" cy="720000"/>
            </a:xfrm>
            <a:prstGeom prst="roundRect">
              <a:avLst>
                <a:gd name="adj" fmla="val 7081"/>
              </a:avLst>
            </a:prstGeom>
            <a:solidFill>
              <a:srgbClr val="7030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900000"/>
              <a:r>
                <a:rPr lang="pt-BR" sz="1600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Estrutura da Área</a:t>
              </a:r>
            </a:p>
          </p:txBody>
        </p:sp>
        <p:pic>
          <p:nvPicPr>
            <p:cNvPr id="11" name="Imagem 10"/>
            <p:cNvPicPr>
              <a:picLocks noChangeAspect="1"/>
            </p:cNvPicPr>
            <p:nvPr/>
          </p:nvPicPr>
          <p:blipFill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5069" y="1210595"/>
              <a:ext cx="540000" cy="540000"/>
            </a:xfrm>
            <a:prstGeom prst="rect">
              <a:avLst/>
            </a:prstGeom>
            <a:effectLst/>
          </p:spPr>
        </p:pic>
        <p:sp>
          <p:nvSpPr>
            <p:cNvPr id="30" name="Retângulo 29"/>
            <p:cNvSpPr/>
            <p:nvPr/>
          </p:nvSpPr>
          <p:spPr>
            <a:xfrm>
              <a:off x="3801446" y="2011069"/>
              <a:ext cx="2700000" cy="21544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pt-B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Gerente</a:t>
              </a:r>
            </a:p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pt-B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  Adriano Barbosa</a:t>
              </a:r>
            </a:p>
            <a:p>
              <a:pPr>
                <a:spcBef>
                  <a:spcPts val="600"/>
                </a:spcBef>
                <a:spcAft>
                  <a:spcPts val="600"/>
                </a:spcAft>
              </a:pPr>
              <a:endParaRPr lang="pt-B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pt-B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Arquitetos de TI</a:t>
              </a:r>
            </a:p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pt-B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  Leonardo </a:t>
              </a:r>
              <a:r>
                <a:rPr lang="pt-BR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Cestarolli</a:t>
              </a:r>
              <a:endParaRPr lang="pt-B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pt-B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  Guilherme Affonso</a:t>
              </a:r>
            </a:p>
          </p:txBody>
        </p:sp>
      </p:grpSp>
      <p:sp>
        <p:nvSpPr>
          <p:cNvPr id="44" name="Retângulo 43"/>
          <p:cNvSpPr/>
          <p:nvPr/>
        </p:nvSpPr>
        <p:spPr>
          <a:xfrm>
            <a:off x="175591" y="974765"/>
            <a:ext cx="9765957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1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garantia da confiabilidade e disponibilidade dos Serviços de TI</a:t>
            </a:r>
            <a:r>
              <a:rPr lang="pt-BR" sz="17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requer que as soluções implantadas (Melhorias ou Projetos) possuam uma </a:t>
            </a:r>
            <a:r>
              <a:rPr lang="pt-BR" sz="1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arquitetura muito bem definida e adequada </a:t>
            </a:r>
            <a:r>
              <a:rPr lang="pt-BR" sz="17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às necessidades dos negócios da SMILES, promovendo maior escalabilidade, resiliência e segurança.</a:t>
            </a:r>
          </a:p>
          <a:p>
            <a:pPr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17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Neste cenário é necessário esclarecer a </a:t>
            </a:r>
            <a:r>
              <a:rPr lang="pt-BR" sz="1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importância e objetivos da área de Arquitetura Corporativa de TI</a:t>
            </a:r>
            <a:r>
              <a:rPr lang="pt-BR" sz="17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grpSp>
        <p:nvGrpSpPr>
          <p:cNvPr id="38" name="Agrupar 37"/>
          <p:cNvGrpSpPr/>
          <p:nvPr/>
        </p:nvGrpSpPr>
        <p:grpSpPr>
          <a:xfrm>
            <a:off x="635503" y="2782439"/>
            <a:ext cx="2700000" cy="3916106"/>
            <a:chOff x="674155" y="2072901"/>
            <a:chExt cx="2700000" cy="3916106"/>
          </a:xfrm>
        </p:grpSpPr>
        <p:grpSp>
          <p:nvGrpSpPr>
            <p:cNvPr id="27" name="Agrupar 26"/>
            <p:cNvGrpSpPr/>
            <p:nvPr/>
          </p:nvGrpSpPr>
          <p:grpSpPr>
            <a:xfrm>
              <a:off x="674155" y="2072901"/>
              <a:ext cx="2700000" cy="3916106"/>
              <a:chOff x="7099572" y="2011759"/>
              <a:chExt cx="2700000" cy="3916106"/>
            </a:xfrm>
          </p:grpSpPr>
          <p:sp>
            <p:nvSpPr>
              <p:cNvPr id="35" name="Retângulo de cantos arredondados 17"/>
              <p:cNvSpPr/>
              <p:nvPr/>
            </p:nvSpPr>
            <p:spPr>
              <a:xfrm>
                <a:off x="7099572" y="2011759"/>
                <a:ext cx="2700000" cy="720000"/>
              </a:xfrm>
              <a:prstGeom prst="roundRect">
                <a:avLst>
                  <a:gd name="adj" fmla="val 7081"/>
                </a:avLst>
              </a:prstGeom>
              <a:solidFill>
                <a:srgbClr val="7030A0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900000"/>
                <a:r>
                  <a:rPr lang="pt-BR" sz="1600" b="1" dirty="0">
                    <a:solidFill>
                      <a:schemeClr val="bg1">
                        <a:lumMod val="9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Objetivos da Área</a:t>
                </a:r>
                <a:endParaRPr lang="pt-BR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7" name="Retângulo 36"/>
              <p:cNvSpPr/>
              <p:nvPr/>
            </p:nvSpPr>
            <p:spPr>
              <a:xfrm>
                <a:off x="7099572" y="2911655"/>
                <a:ext cx="2700000" cy="30162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pt-BR" sz="1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Estabelecer os Padrões Tecnológicos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pt-BR" sz="1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Estimar o esforço técnico </a:t>
                </a:r>
                <a:r>
                  <a:rPr lang="pt-BR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para materializar Ideias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pt-BR" sz="1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Desenhar as Soluções </a:t>
                </a:r>
                <a:r>
                  <a:rPr lang="pt-BR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Técnicas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pt-BR" sz="1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Analisar e Validar </a:t>
                </a:r>
                <a:r>
                  <a:rPr lang="pt-BR" sz="1400" b="1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EFs</a:t>
                </a:r>
                <a:r>
                  <a:rPr lang="pt-BR" sz="1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e ETs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pt-BR" sz="1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Estudar tendências </a:t>
                </a:r>
                <a:r>
                  <a:rPr lang="pt-BR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tecnológicas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pt-BR" sz="1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Último nível de suporte técnico </a:t>
                </a:r>
                <a:r>
                  <a:rPr lang="pt-BR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da companhia</a:t>
                </a:r>
                <a:endParaRPr lang="pt-B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pic>
          <p:nvPicPr>
            <p:cNvPr id="29" name="Imagem 28"/>
            <p:cNvPicPr>
              <a:picLocks noChangeAspect="1"/>
            </p:cNvPicPr>
            <p:nvPr/>
          </p:nvPicPr>
          <p:blipFill>
            <a:blip r:embed="rId4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4955" y="2108901"/>
              <a:ext cx="648000" cy="648000"/>
            </a:xfrm>
            <a:prstGeom prst="rect">
              <a:avLst/>
            </a:prstGeom>
            <a:effectLst/>
          </p:spPr>
        </p:pic>
      </p:grpSp>
      <p:grpSp>
        <p:nvGrpSpPr>
          <p:cNvPr id="41" name="Agrupar 40"/>
          <p:cNvGrpSpPr/>
          <p:nvPr/>
        </p:nvGrpSpPr>
        <p:grpSpPr>
          <a:xfrm>
            <a:off x="6884093" y="2782439"/>
            <a:ext cx="2700000" cy="3506575"/>
            <a:chOff x="6922745" y="2078561"/>
            <a:chExt cx="2700000" cy="3506575"/>
          </a:xfrm>
        </p:grpSpPr>
        <p:sp>
          <p:nvSpPr>
            <p:cNvPr id="48" name="Retângulo de cantos arredondados 17"/>
            <p:cNvSpPr/>
            <p:nvPr/>
          </p:nvSpPr>
          <p:spPr>
            <a:xfrm>
              <a:off x="6922745" y="2078561"/>
              <a:ext cx="2700000" cy="720000"/>
            </a:xfrm>
            <a:prstGeom prst="roundRect">
              <a:avLst>
                <a:gd name="adj" fmla="val 7081"/>
              </a:avLst>
            </a:prstGeom>
            <a:solidFill>
              <a:srgbClr val="7030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900000"/>
              <a:r>
                <a:rPr lang="pt-BR" sz="1600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Dinâmica de Trabalho</a:t>
              </a:r>
              <a:endParaRPr lang="pt-BR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1" name="Retângulo 50"/>
            <p:cNvSpPr/>
            <p:nvPr/>
          </p:nvSpPr>
          <p:spPr>
            <a:xfrm>
              <a:off x="6922745" y="2969035"/>
              <a:ext cx="2700000" cy="261610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pt-B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Papel definido nos Processos de Gestão de Ideias e </a:t>
              </a:r>
              <a:r>
                <a:rPr lang="pt-BR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Desenv</a:t>
              </a:r>
              <a:r>
                <a:rPr lang="pt-B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. de Melhorias e Projetos</a:t>
              </a:r>
              <a:r>
                <a:rPr lang="pt-B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, com entregáveis claros e tempos de atendimento estabelecidos.</a:t>
              </a:r>
            </a:p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pt-B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Acionamento pontual pelos times de desenvolvimento </a:t>
              </a:r>
              <a:r>
                <a:rPr lang="pt-B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para suporte ao desenho das Soluções Técnicas durante as fases de elaboração das </a:t>
              </a:r>
              <a:r>
                <a:rPr lang="pt-BR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EFs</a:t>
              </a:r>
              <a:r>
                <a:rPr lang="pt-B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e ETs.</a:t>
              </a:r>
            </a:p>
          </p:txBody>
        </p:sp>
        <p:pic>
          <p:nvPicPr>
            <p:cNvPr id="39" name="Imagem 38"/>
            <p:cNvPicPr>
              <a:picLocks noChangeAspect="1"/>
            </p:cNvPicPr>
            <p:nvPr/>
          </p:nvPicPr>
          <p:blipFill>
            <a:blip r:embed="rId5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41784" y="2150561"/>
              <a:ext cx="545125" cy="576000"/>
            </a:xfrm>
            <a:prstGeom prst="rect">
              <a:avLst/>
            </a:prstGeom>
            <a:effectLst/>
          </p:spPr>
        </p:pic>
      </p:grpSp>
    </p:spTree>
    <p:extLst>
      <p:ext uri="{BB962C8B-B14F-4D97-AF65-F5344CB8AC3E}">
        <p14:creationId xmlns:p14="http://schemas.microsoft.com/office/powerpoint/2010/main" val="1242691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Arquitetura Corporativa de TI</a:t>
            </a:r>
          </a:p>
        </p:txBody>
      </p:sp>
      <p:sp>
        <p:nvSpPr>
          <p:cNvPr id="48" name="Retângulo de cantos arredondados 17"/>
          <p:cNvSpPr/>
          <p:nvPr/>
        </p:nvSpPr>
        <p:spPr>
          <a:xfrm>
            <a:off x="173004" y="993283"/>
            <a:ext cx="9771130" cy="720000"/>
          </a:xfrm>
          <a:prstGeom prst="roundRect">
            <a:avLst>
              <a:gd name="adj" fmla="val 7081"/>
            </a:avLst>
          </a:prstGeom>
          <a:solidFill>
            <a:srgbClr val="7030A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00000"/>
            <a:r>
              <a:rPr lang="pt-BR" sz="20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Macro Processo: Gestão de Ideias </a:t>
            </a:r>
            <a:r>
              <a:rPr lang="pt-BR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</a:t>
            </a:r>
            <a:r>
              <a:rPr lang="pt-BR" sz="20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Melhorias / Projetos</a:t>
            </a:r>
            <a:endParaRPr lang="pt-BR" sz="2400" b="1" dirty="0">
              <a:solidFill>
                <a:schemeClr val="bg1">
                  <a:lumMod val="9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4" name="Imagem 53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743" y="1048571"/>
            <a:ext cx="647920" cy="613752"/>
          </a:xfrm>
          <a:prstGeom prst="rect">
            <a:avLst/>
          </a:prstGeom>
          <a:effectLst/>
        </p:spPr>
      </p:pic>
      <p:grpSp>
        <p:nvGrpSpPr>
          <p:cNvPr id="8" name="Agrupar 7"/>
          <p:cNvGrpSpPr/>
          <p:nvPr/>
        </p:nvGrpSpPr>
        <p:grpSpPr>
          <a:xfrm>
            <a:off x="504488" y="1975479"/>
            <a:ext cx="655949" cy="1104410"/>
            <a:chOff x="343971" y="2279531"/>
            <a:chExt cx="655949" cy="1104410"/>
          </a:xfrm>
        </p:grpSpPr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4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362140" y="2279531"/>
              <a:ext cx="619610" cy="786615"/>
            </a:xfrm>
            <a:prstGeom prst="rect">
              <a:avLst/>
            </a:prstGeom>
          </p:spPr>
        </p:pic>
        <p:sp>
          <p:nvSpPr>
            <p:cNvPr id="5" name="Retângulo 4"/>
            <p:cNvSpPr/>
            <p:nvPr/>
          </p:nvSpPr>
          <p:spPr>
            <a:xfrm>
              <a:off x="343971" y="3045387"/>
              <a:ext cx="655949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sz="1600" b="1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Ideia</a:t>
              </a:r>
              <a:endParaRPr lang="pt-BR" sz="1600" dirty="0">
                <a:solidFill>
                  <a:srgbClr val="7030A0"/>
                </a:solidFill>
              </a:endParaRPr>
            </a:p>
          </p:txBody>
        </p:sp>
      </p:grpSp>
      <p:grpSp>
        <p:nvGrpSpPr>
          <p:cNvPr id="85" name="Agrupar 84"/>
          <p:cNvGrpSpPr/>
          <p:nvPr/>
        </p:nvGrpSpPr>
        <p:grpSpPr>
          <a:xfrm>
            <a:off x="304561" y="3079889"/>
            <a:ext cx="1055802" cy="986513"/>
            <a:chOff x="304561" y="3079889"/>
            <a:chExt cx="1055802" cy="986513"/>
          </a:xfrm>
        </p:grpSpPr>
        <p:cxnSp>
          <p:nvCxnSpPr>
            <p:cNvPr id="44" name="Conector de Seta Reta 43"/>
            <p:cNvCxnSpPr>
              <a:stCxn id="5" idx="2"/>
              <a:endCxn id="10" idx="2"/>
            </p:cNvCxnSpPr>
            <p:nvPr/>
          </p:nvCxnSpPr>
          <p:spPr>
            <a:xfrm flipH="1">
              <a:off x="832462" y="3079889"/>
              <a:ext cx="1" cy="392180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Agrupar 16"/>
            <p:cNvGrpSpPr/>
            <p:nvPr/>
          </p:nvGrpSpPr>
          <p:grpSpPr>
            <a:xfrm>
              <a:off x="304561" y="3472069"/>
              <a:ext cx="1055802" cy="594333"/>
              <a:chOff x="324378" y="3472069"/>
              <a:chExt cx="1055802" cy="594333"/>
            </a:xfrm>
          </p:grpSpPr>
          <p:sp>
            <p:nvSpPr>
              <p:cNvPr id="10" name="Trapezoide 9"/>
              <p:cNvSpPr/>
              <p:nvPr/>
            </p:nvSpPr>
            <p:spPr>
              <a:xfrm rot="10800000">
                <a:off x="324378" y="3472069"/>
                <a:ext cx="1055802" cy="594333"/>
              </a:xfrm>
              <a:prstGeom prst="trapezoid">
                <a:avLst>
                  <a:gd name="adj" fmla="val 51756"/>
                </a:avLst>
              </a:prstGeom>
              <a:solidFill>
                <a:srgbClr val="FF6600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200" b="1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0" name="Retângulo 49"/>
              <p:cNvSpPr/>
              <p:nvPr/>
            </p:nvSpPr>
            <p:spPr>
              <a:xfrm>
                <a:off x="532308" y="3605830"/>
                <a:ext cx="631198" cy="30777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200" b="1" dirty="0">
                    <a:solidFill>
                      <a:schemeClr val="bg1">
                        <a:lumMod val="9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egoe UI" panose="020B0502040204020203" pitchFamily="34" charset="0"/>
                    <a:cs typeface="Segoe UI" panose="020B0502040204020203" pitchFamily="34" charset="0"/>
                  </a:rPr>
                  <a:t>Filtro de Ideias</a:t>
                </a:r>
              </a:p>
            </p:txBody>
          </p:sp>
        </p:grpSp>
      </p:grpSp>
      <p:grpSp>
        <p:nvGrpSpPr>
          <p:cNvPr id="86" name="Agrupar 85"/>
          <p:cNvGrpSpPr/>
          <p:nvPr/>
        </p:nvGrpSpPr>
        <p:grpSpPr>
          <a:xfrm>
            <a:off x="256462" y="4066402"/>
            <a:ext cx="1152000" cy="983583"/>
            <a:chOff x="256462" y="4066402"/>
            <a:chExt cx="1152000" cy="983583"/>
          </a:xfrm>
        </p:grpSpPr>
        <p:cxnSp>
          <p:nvCxnSpPr>
            <p:cNvPr id="53" name="Conector de Seta Reta 52"/>
            <p:cNvCxnSpPr>
              <a:stCxn id="10" idx="0"/>
              <a:endCxn id="52" idx="0"/>
            </p:cNvCxnSpPr>
            <p:nvPr/>
          </p:nvCxnSpPr>
          <p:spPr>
            <a:xfrm>
              <a:off x="832462" y="4066402"/>
              <a:ext cx="0" cy="445188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Fluxograma: Processo 51"/>
            <p:cNvSpPr/>
            <p:nvPr/>
          </p:nvSpPr>
          <p:spPr>
            <a:xfrm>
              <a:off x="256462" y="4511590"/>
              <a:ext cx="1152000" cy="538395"/>
            </a:xfrm>
            <a:prstGeom prst="flowChartProcess">
              <a:avLst/>
            </a:prstGeom>
            <a:solidFill>
              <a:srgbClr val="FF66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b="1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rPr>
                <a:t>Estimar Briefing</a:t>
              </a:r>
              <a:endParaRPr lang="en-US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90" name="Agrupar 89"/>
          <p:cNvGrpSpPr/>
          <p:nvPr/>
        </p:nvGrpSpPr>
        <p:grpSpPr>
          <a:xfrm>
            <a:off x="1667573" y="3565198"/>
            <a:ext cx="1152000" cy="2449662"/>
            <a:chOff x="1667573" y="3565198"/>
            <a:chExt cx="1152000" cy="2449662"/>
          </a:xfrm>
        </p:grpSpPr>
        <p:cxnSp>
          <p:nvCxnSpPr>
            <p:cNvPr id="57" name="Conector de Seta Reta 56"/>
            <p:cNvCxnSpPr>
              <a:stCxn id="56" idx="0"/>
              <a:endCxn id="62" idx="2"/>
            </p:cNvCxnSpPr>
            <p:nvPr/>
          </p:nvCxnSpPr>
          <p:spPr>
            <a:xfrm flipH="1" flipV="1">
              <a:off x="2243573" y="4103593"/>
              <a:ext cx="1" cy="293624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Fluxograma: Processo 61"/>
            <p:cNvSpPr/>
            <p:nvPr/>
          </p:nvSpPr>
          <p:spPr>
            <a:xfrm>
              <a:off x="1667573" y="3565198"/>
              <a:ext cx="1152000" cy="538395"/>
            </a:xfrm>
            <a:prstGeom prst="flowChartProcess">
              <a:avLst/>
            </a:prstGeom>
            <a:solidFill>
              <a:srgbClr val="FF66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b="1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rPr>
                <a:t>Projeto</a:t>
              </a:r>
            </a:p>
            <a:p>
              <a:pPr algn="ctr"/>
              <a:r>
                <a:rPr lang="pt-BR" sz="1200" b="1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rPr>
                <a:t>(aprovado)</a:t>
              </a:r>
              <a:endParaRPr lang="en-US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5" name="Fluxograma: Processo 64"/>
            <p:cNvSpPr/>
            <p:nvPr/>
          </p:nvSpPr>
          <p:spPr>
            <a:xfrm>
              <a:off x="1667573" y="5476465"/>
              <a:ext cx="1152000" cy="538395"/>
            </a:xfrm>
            <a:prstGeom prst="flowChartProcess">
              <a:avLst/>
            </a:prstGeom>
            <a:solidFill>
              <a:srgbClr val="FF66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b="1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rPr>
                <a:t>Melhoria</a:t>
              </a:r>
            </a:p>
            <a:p>
              <a:pPr algn="ctr"/>
              <a:r>
                <a:rPr lang="pt-BR" sz="1200" b="1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rPr>
                <a:t>(priorizada)</a:t>
              </a:r>
              <a:endParaRPr lang="en-US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66" name="Conector de Seta Reta 65"/>
            <p:cNvCxnSpPr>
              <a:stCxn id="56" idx="2"/>
              <a:endCxn id="65" idx="0"/>
            </p:cNvCxnSpPr>
            <p:nvPr/>
          </p:nvCxnSpPr>
          <p:spPr>
            <a:xfrm flipH="1">
              <a:off x="2243573" y="5164356"/>
              <a:ext cx="1" cy="312109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7" name="Agrupar 86"/>
          <p:cNvGrpSpPr/>
          <p:nvPr/>
        </p:nvGrpSpPr>
        <p:grpSpPr>
          <a:xfrm>
            <a:off x="1408462" y="4397217"/>
            <a:ext cx="1372925" cy="767139"/>
            <a:chOff x="1408462" y="4397217"/>
            <a:chExt cx="1372925" cy="767139"/>
          </a:xfrm>
        </p:grpSpPr>
        <p:sp>
          <p:nvSpPr>
            <p:cNvPr id="56" name="Losango 55"/>
            <p:cNvSpPr/>
            <p:nvPr/>
          </p:nvSpPr>
          <p:spPr>
            <a:xfrm>
              <a:off x="1705760" y="4397217"/>
              <a:ext cx="1075627" cy="767139"/>
            </a:xfrm>
            <a:prstGeom prst="diamond">
              <a:avLst/>
            </a:prstGeom>
            <a:solidFill>
              <a:srgbClr val="FF66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 err="1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rPr>
                <a:t>Proj</a:t>
              </a:r>
              <a:r>
                <a:rPr lang="en-US" sz="1100" b="1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en-US" sz="1100" b="1" dirty="0" err="1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rPr>
                <a:t>ou</a:t>
              </a:r>
              <a:r>
                <a:rPr lang="en-US" sz="1100" b="1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en-US" sz="1100" b="1" dirty="0" err="1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rPr>
                <a:t>Melh</a:t>
              </a:r>
              <a:endParaRPr lang="en-US" sz="11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71" name="Conector de Seta Reta 70"/>
            <p:cNvCxnSpPr>
              <a:stCxn id="52" idx="3"/>
              <a:endCxn id="56" idx="1"/>
            </p:cNvCxnSpPr>
            <p:nvPr/>
          </p:nvCxnSpPr>
          <p:spPr>
            <a:xfrm flipV="1">
              <a:off x="1408462" y="4780787"/>
              <a:ext cx="297298" cy="1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2" name="Agrupar 121"/>
          <p:cNvGrpSpPr/>
          <p:nvPr/>
        </p:nvGrpSpPr>
        <p:grpSpPr>
          <a:xfrm>
            <a:off x="2819573" y="2478153"/>
            <a:ext cx="2681795" cy="4280451"/>
            <a:chOff x="2819573" y="2478153"/>
            <a:chExt cx="2681795" cy="4280451"/>
          </a:xfrm>
        </p:grpSpPr>
        <p:sp>
          <p:nvSpPr>
            <p:cNvPr id="107" name="Fluxograma: Processo 106"/>
            <p:cNvSpPr/>
            <p:nvPr/>
          </p:nvSpPr>
          <p:spPr>
            <a:xfrm>
              <a:off x="3045635" y="2478153"/>
              <a:ext cx="2454628" cy="4280451"/>
            </a:xfrm>
            <a:prstGeom prst="flowChartProcess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4" name="Retângulo 73"/>
            <p:cNvSpPr/>
            <p:nvPr/>
          </p:nvSpPr>
          <p:spPr>
            <a:xfrm>
              <a:off x="3044530" y="2569885"/>
              <a:ext cx="2456838" cy="61555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b="1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(EF)</a:t>
              </a:r>
            </a:p>
            <a:p>
              <a:pPr algn="ctr"/>
              <a:r>
                <a:rPr lang="pt-BR" sz="1600" b="1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Especificação Funcional</a:t>
              </a:r>
            </a:p>
          </p:txBody>
        </p:sp>
        <p:sp>
          <p:nvSpPr>
            <p:cNvPr id="77" name="Fluxograma: Processo 76"/>
            <p:cNvSpPr/>
            <p:nvPr/>
          </p:nvSpPr>
          <p:spPr>
            <a:xfrm>
              <a:off x="3312703" y="3565198"/>
              <a:ext cx="845985" cy="538395"/>
            </a:xfrm>
            <a:prstGeom prst="flowChartProcess">
              <a:avLst/>
            </a:prstGeom>
            <a:solidFill>
              <a:srgbClr val="FF66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b="1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rPr>
                <a:t>Elaborar</a:t>
              </a:r>
              <a:endParaRPr lang="en-US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9" name="Fluxograma: Processo 78"/>
            <p:cNvSpPr/>
            <p:nvPr/>
          </p:nvSpPr>
          <p:spPr>
            <a:xfrm>
              <a:off x="4466289" y="3565198"/>
              <a:ext cx="845985" cy="538395"/>
            </a:xfrm>
            <a:prstGeom prst="flowChartProcess">
              <a:avLst/>
            </a:prstGeom>
            <a:solidFill>
              <a:srgbClr val="FF66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b="1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rPr>
                <a:t>Analisar e Validar</a:t>
              </a:r>
              <a:endParaRPr lang="en-US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83" name="Conector de Seta Reta 82"/>
            <p:cNvCxnSpPr>
              <a:stCxn id="62" idx="3"/>
              <a:endCxn id="77" idx="1"/>
            </p:cNvCxnSpPr>
            <p:nvPr/>
          </p:nvCxnSpPr>
          <p:spPr>
            <a:xfrm>
              <a:off x="2819573" y="3834396"/>
              <a:ext cx="493130" cy="0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ector de Seta Reta 83"/>
            <p:cNvCxnSpPr>
              <a:stCxn id="77" idx="3"/>
              <a:endCxn id="79" idx="1"/>
            </p:cNvCxnSpPr>
            <p:nvPr/>
          </p:nvCxnSpPr>
          <p:spPr>
            <a:xfrm>
              <a:off x="4158688" y="3834396"/>
              <a:ext cx="307601" cy="0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4" name="Agrupar 123"/>
          <p:cNvGrpSpPr/>
          <p:nvPr/>
        </p:nvGrpSpPr>
        <p:grpSpPr>
          <a:xfrm>
            <a:off x="7003790" y="2478153"/>
            <a:ext cx="2764888" cy="4280451"/>
            <a:chOff x="7003790" y="2478153"/>
            <a:chExt cx="2764888" cy="4280451"/>
          </a:xfrm>
        </p:grpSpPr>
        <p:sp>
          <p:nvSpPr>
            <p:cNvPr id="108" name="Fluxograma: Processo 107"/>
            <p:cNvSpPr/>
            <p:nvPr/>
          </p:nvSpPr>
          <p:spPr>
            <a:xfrm>
              <a:off x="7314050" y="2478153"/>
              <a:ext cx="2454628" cy="4280451"/>
            </a:xfrm>
            <a:prstGeom prst="flowChartProcess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4" name="Fluxograma: Processo 93"/>
            <p:cNvSpPr/>
            <p:nvPr/>
          </p:nvSpPr>
          <p:spPr>
            <a:xfrm>
              <a:off x="7543306" y="3565198"/>
              <a:ext cx="845985" cy="538395"/>
            </a:xfrm>
            <a:prstGeom prst="flowChartProcess">
              <a:avLst/>
            </a:prstGeom>
            <a:solidFill>
              <a:srgbClr val="FF66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b="1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rPr>
                <a:t>Elaborar</a:t>
              </a:r>
              <a:endParaRPr lang="en-US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6" name="Fluxograma: Processo 95"/>
            <p:cNvSpPr/>
            <p:nvPr/>
          </p:nvSpPr>
          <p:spPr>
            <a:xfrm>
              <a:off x="8696894" y="3565198"/>
              <a:ext cx="845985" cy="538395"/>
            </a:xfrm>
            <a:prstGeom prst="flowChartProcess">
              <a:avLst/>
            </a:prstGeom>
            <a:solidFill>
              <a:srgbClr val="FF66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b="1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rPr>
                <a:t>Analisar e Validar</a:t>
              </a:r>
              <a:endParaRPr lang="en-US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102" name="Conector de Seta Reta 101"/>
            <p:cNvCxnSpPr>
              <a:stCxn id="91" idx="3"/>
              <a:endCxn id="94" idx="1"/>
            </p:cNvCxnSpPr>
            <p:nvPr/>
          </p:nvCxnSpPr>
          <p:spPr>
            <a:xfrm>
              <a:off x="7003790" y="3834396"/>
              <a:ext cx="539516" cy="0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ector de Seta Reta 104"/>
            <p:cNvCxnSpPr>
              <a:stCxn id="94" idx="3"/>
              <a:endCxn id="96" idx="1"/>
            </p:cNvCxnSpPr>
            <p:nvPr/>
          </p:nvCxnSpPr>
          <p:spPr>
            <a:xfrm>
              <a:off x="8389291" y="3834396"/>
              <a:ext cx="307603" cy="0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Retângulo 110"/>
            <p:cNvSpPr/>
            <p:nvPr/>
          </p:nvSpPr>
          <p:spPr>
            <a:xfrm>
              <a:off x="7360901" y="2536447"/>
              <a:ext cx="2360927" cy="61555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b="1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(ET)</a:t>
              </a:r>
            </a:p>
            <a:p>
              <a:pPr algn="ctr"/>
              <a:r>
                <a:rPr lang="pt-BR" sz="1600" b="1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Especificação Técnica</a:t>
              </a:r>
            </a:p>
          </p:txBody>
        </p:sp>
        <p:sp>
          <p:nvSpPr>
            <p:cNvPr id="117" name="Fluxograma: Processo 116"/>
            <p:cNvSpPr/>
            <p:nvPr/>
          </p:nvSpPr>
          <p:spPr>
            <a:xfrm>
              <a:off x="7543306" y="5476465"/>
              <a:ext cx="845985" cy="538395"/>
            </a:xfrm>
            <a:prstGeom prst="flowChartProcess">
              <a:avLst/>
            </a:prstGeom>
            <a:solidFill>
              <a:srgbClr val="FF66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b="1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rPr>
                <a:t>Elaborar</a:t>
              </a:r>
              <a:endParaRPr lang="en-US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8" name="Fluxograma: Processo 117"/>
            <p:cNvSpPr/>
            <p:nvPr/>
          </p:nvSpPr>
          <p:spPr>
            <a:xfrm>
              <a:off x="8696894" y="5476465"/>
              <a:ext cx="845985" cy="538395"/>
            </a:xfrm>
            <a:prstGeom prst="flowChartProcess">
              <a:avLst/>
            </a:prstGeom>
            <a:solidFill>
              <a:srgbClr val="FF66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b="1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rPr>
                <a:t>Analisar e Validar</a:t>
              </a:r>
              <a:endParaRPr lang="en-US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119" name="Conector de Seta Reta 118"/>
            <p:cNvCxnSpPr>
              <a:stCxn id="116" idx="3"/>
              <a:endCxn id="117" idx="1"/>
            </p:cNvCxnSpPr>
            <p:nvPr/>
          </p:nvCxnSpPr>
          <p:spPr>
            <a:xfrm>
              <a:off x="7003790" y="5745663"/>
              <a:ext cx="539516" cy="0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Conector de Seta Reta 119"/>
            <p:cNvCxnSpPr>
              <a:stCxn id="117" idx="3"/>
              <a:endCxn id="118" idx="1"/>
            </p:cNvCxnSpPr>
            <p:nvPr/>
          </p:nvCxnSpPr>
          <p:spPr>
            <a:xfrm>
              <a:off x="8389291" y="5745663"/>
              <a:ext cx="307603" cy="0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3" name="Agrupar 122"/>
          <p:cNvGrpSpPr/>
          <p:nvPr/>
        </p:nvGrpSpPr>
        <p:grpSpPr>
          <a:xfrm>
            <a:off x="2819573" y="2478153"/>
            <a:ext cx="4300499" cy="4280451"/>
            <a:chOff x="2819573" y="2478153"/>
            <a:chExt cx="4300499" cy="4280451"/>
          </a:xfrm>
        </p:grpSpPr>
        <p:sp>
          <p:nvSpPr>
            <p:cNvPr id="110" name="Fluxograma: Processo 109"/>
            <p:cNvSpPr/>
            <p:nvPr/>
          </p:nvSpPr>
          <p:spPr>
            <a:xfrm>
              <a:off x="5698410" y="2478153"/>
              <a:ext cx="1421662" cy="4280451"/>
            </a:xfrm>
            <a:prstGeom prst="flowChartProcess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5" name="Retângulo 74"/>
            <p:cNvSpPr/>
            <p:nvPr/>
          </p:nvSpPr>
          <p:spPr>
            <a:xfrm>
              <a:off x="5814367" y="2576215"/>
              <a:ext cx="1189749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pt-BR" b="1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Desenho </a:t>
              </a:r>
            </a:p>
            <a:p>
              <a:pPr algn="ctr"/>
              <a:r>
                <a:rPr lang="pt-BR" b="1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Solução</a:t>
              </a:r>
              <a:endParaRPr lang="pt-BR" dirty="0">
                <a:solidFill>
                  <a:srgbClr val="7030A0"/>
                </a:solidFill>
              </a:endParaRPr>
            </a:p>
          </p:txBody>
        </p:sp>
        <p:sp>
          <p:nvSpPr>
            <p:cNvPr id="91" name="Fluxograma: Processo 90"/>
            <p:cNvSpPr/>
            <p:nvPr/>
          </p:nvSpPr>
          <p:spPr>
            <a:xfrm>
              <a:off x="5851790" y="3565198"/>
              <a:ext cx="1152000" cy="538395"/>
            </a:xfrm>
            <a:prstGeom prst="flowChartProcess">
              <a:avLst/>
            </a:prstGeom>
            <a:solidFill>
              <a:srgbClr val="FF66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b="1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rPr>
                <a:t>Desenhar Solução</a:t>
              </a:r>
              <a:endParaRPr lang="en-US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106" name="Conector de Seta Reta 105"/>
            <p:cNvCxnSpPr>
              <a:stCxn id="79" idx="3"/>
              <a:endCxn id="91" idx="1"/>
            </p:cNvCxnSpPr>
            <p:nvPr/>
          </p:nvCxnSpPr>
          <p:spPr>
            <a:xfrm>
              <a:off x="5312274" y="3834396"/>
              <a:ext cx="539516" cy="0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Fluxograma: Processo 115"/>
            <p:cNvSpPr/>
            <p:nvPr/>
          </p:nvSpPr>
          <p:spPr>
            <a:xfrm>
              <a:off x="5851790" y="5476465"/>
              <a:ext cx="1152000" cy="538395"/>
            </a:xfrm>
            <a:prstGeom prst="flowChartProcess">
              <a:avLst/>
            </a:prstGeom>
            <a:solidFill>
              <a:srgbClr val="FF66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b="1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rPr>
                <a:t>Desenhar Solução</a:t>
              </a:r>
              <a:endParaRPr lang="en-US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121" name="Conector de Seta Reta 120"/>
            <p:cNvCxnSpPr>
              <a:stCxn id="65" idx="3"/>
              <a:endCxn id="116" idx="1"/>
            </p:cNvCxnSpPr>
            <p:nvPr/>
          </p:nvCxnSpPr>
          <p:spPr>
            <a:xfrm>
              <a:off x="2819573" y="5745663"/>
              <a:ext cx="3032217" cy="0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8005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Arquitetura Corporativa de TI</a:t>
            </a:r>
          </a:p>
        </p:txBody>
      </p:sp>
      <p:sp>
        <p:nvSpPr>
          <p:cNvPr id="48" name="Retângulo de cantos arredondados 17"/>
          <p:cNvSpPr/>
          <p:nvPr/>
        </p:nvSpPr>
        <p:spPr>
          <a:xfrm>
            <a:off x="173004" y="993283"/>
            <a:ext cx="9771130" cy="720000"/>
          </a:xfrm>
          <a:prstGeom prst="roundRect">
            <a:avLst>
              <a:gd name="adj" fmla="val 7081"/>
            </a:avLst>
          </a:prstGeom>
          <a:solidFill>
            <a:srgbClr val="7030A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00000"/>
            <a:r>
              <a:rPr lang="pt-BR" sz="20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Macro Processo: Gestão de Ideias </a:t>
            </a:r>
            <a:r>
              <a:rPr lang="pt-BR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</a:t>
            </a:r>
            <a:r>
              <a:rPr lang="pt-BR" sz="20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Melhorias / Projetos</a:t>
            </a:r>
            <a:endParaRPr lang="pt-BR" sz="2400" b="1" dirty="0">
              <a:solidFill>
                <a:schemeClr val="bg1">
                  <a:lumMod val="9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4" name="Imagem 53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743" y="1048571"/>
            <a:ext cx="647920" cy="613752"/>
          </a:xfrm>
          <a:prstGeom prst="rect">
            <a:avLst/>
          </a:prstGeom>
          <a:effectLst/>
        </p:spPr>
      </p:pic>
      <p:grpSp>
        <p:nvGrpSpPr>
          <p:cNvPr id="8" name="Agrupar 7"/>
          <p:cNvGrpSpPr/>
          <p:nvPr/>
        </p:nvGrpSpPr>
        <p:grpSpPr>
          <a:xfrm>
            <a:off x="504488" y="1975479"/>
            <a:ext cx="655949" cy="1104410"/>
            <a:chOff x="343971" y="2279531"/>
            <a:chExt cx="655949" cy="1104410"/>
          </a:xfrm>
        </p:grpSpPr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4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362140" y="2279531"/>
              <a:ext cx="619610" cy="786615"/>
            </a:xfrm>
            <a:prstGeom prst="rect">
              <a:avLst/>
            </a:prstGeom>
          </p:spPr>
        </p:pic>
        <p:sp>
          <p:nvSpPr>
            <p:cNvPr id="5" name="Retângulo 4"/>
            <p:cNvSpPr/>
            <p:nvPr/>
          </p:nvSpPr>
          <p:spPr>
            <a:xfrm>
              <a:off x="343971" y="3045387"/>
              <a:ext cx="655949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sz="1600" b="1" dirty="0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Ideia</a:t>
              </a:r>
              <a:endParaRPr lang="pt-BR" sz="16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grpSp>
        <p:nvGrpSpPr>
          <p:cNvPr id="85" name="Agrupar 84"/>
          <p:cNvGrpSpPr/>
          <p:nvPr/>
        </p:nvGrpSpPr>
        <p:grpSpPr>
          <a:xfrm>
            <a:off x="304561" y="3079889"/>
            <a:ext cx="1055802" cy="986513"/>
            <a:chOff x="304561" y="3079889"/>
            <a:chExt cx="1055802" cy="986513"/>
          </a:xfrm>
        </p:grpSpPr>
        <p:cxnSp>
          <p:nvCxnSpPr>
            <p:cNvPr id="44" name="Conector de Seta Reta 43"/>
            <p:cNvCxnSpPr>
              <a:stCxn id="5" idx="2"/>
              <a:endCxn id="10" idx="2"/>
            </p:cNvCxnSpPr>
            <p:nvPr/>
          </p:nvCxnSpPr>
          <p:spPr>
            <a:xfrm flipH="1">
              <a:off x="832462" y="3079889"/>
              <a:ext cx="1" cy="392180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Agrupar 16"/>
            <p:cNvGrpSpPr/>
            <p:nvPr/>
          </p:nvGrpSpPr>
          <p:grpSpPr>
            <a:xfrm>
              <a:off x="304561" y="3472069"/>
              <a:ext cx="1055802" cy="594333"/>
              <a:chOff x="324378" y="3472069"/>
              <a:chExt cx="1055802" cy="594333"/>
            </a:xfrm>
          </p:grpSpPr>
          <p:sp>
            <p:nvSpPr>
              <p:cNvPr id="10" name="Trapezoide 9"/>
              <p:cNvSpPr/>
              <p:nvPr/>
            </p:nvSpPr>
            <p:spPr>
              <a:xfrm rot="10800000">
                <a:off x="324378" y="3472069"/>
                <a:ext cx="1055802" cy="594333"/>
              </a:xfrm>
              <a:prstGeom prst="trapezoid">
                <a:avLst>
                  <a:gd name="adj" fmla="val 51756"/>
                </a:avLst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200" b="1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0" name="Retângulo 49"/>
              <p:cNvSpPr/>
              <p:nvPr/>
            </p:nvSpPr>
            <p:spPr>
              <a:xfrm>
                <a:off x="532308" y="3605830"/>
                <a:ext cx="631198" cy="30777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200" b="1" dirty="0">
                    <a:solidFill>
                      <a:schemeClr val="bg1">
                        <a:lumMod val="9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egoe UI" panose="020B0502040204020203" pitchFamily="34" charset="0"/>
                    <a:cs typeface="Segoe UI" panose="020B0502040204020203" pitchFamily="34" charset="0"/>
                  </a:rPr>
                  <a:t>Filtro de Ideias</a:t>
                </a:r>
              </a:p>
            </p:txBody>
          </p:sp>
        </p:grpSp>
      </p:grpSp>
      <p:grpSp>
        <p:nvGrpSpPr>
          <p:cNvPr id="86" name="Agrupar 85"/>
          <p:cNvGrpSpPr/>
          <p:nvPr/>
        </p:nvGrpSpPr>
        <p:grpSpPr>
          <a:xfrm>
            <a:off x="256462" y="4066402"/>
            <a:ext cx="1152000" cy="983583"/>
            <a:chOff x="256462" y="4066402"/>
            <a:chExt cx="1152000" cy="983583"/>
          </a:xfrm>
        </p:grpSpPr>
        <p:cxnSp>
          <p:nvCxnSpPr>
            <p:cNvPr id="53" name="Conector de Seta Reta 52"/>
            <p:cNvCxnSpPr>
              <a:stCxn id="10" idx="0"/>
              <a:endCxn id="52" idx="0"/>
            </p:cNvCxnSpPr>
            <p:nvPr/>
          </p:nvCxnSpPr>
          <p:spPr>
            <a:xfrm>
              <a:off x="832462" y="4066402"/>
              <a:ext cx="0" cy="445188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Fluxograma: Processo 51"/>
            <p:cNvSpPr/>
            <p:nvPr/>
          </p:nvSpPr>
          <p:spPr>
            <a:xfrm>
              <a:off x="256462" y="4511590"/>
              <a:ext cx="1152000" cy="538395"/>
            </a:xfrm>
            <a:prstGeom prst="flowChartProcess">
              <a:avLst/>
            </a:prstGeom>
            <a:solidFill>
              <a:srgbClr val="FF66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b="1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rPr>
                <a:t>Estimar Briefing</a:t>
              </a:r>
              <a:endParaRPr lang="en-US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90" name="Agrupar 89"/>
          <p:cNvGrpSpPr/>
          <p:nvPr/>
        </p:nvGrpSpPr>
        <p:grpSpPr>
          <a:xfrm>
            <a:off x="1667573" y="3565198"/>
            <a:ext cx="1152000" cy="2449662"/>
            <a:chOff x="1667573" y="3565198"/>
            <a:chExt cx="1152000" cy="2449662"/>
          </a:xfrm>
        </p:grpSpPr>
        <p:cxnSp>
          <p:nvCxnSpPr>
            <p:cNvPr id="57" name="Conector de Seta Reta 56"/>
            <p:cNvCxnSpPr>
              <a:stCxn id="56" idx="0"/>
              <a:endCxn id="62" idx="2"/>
            </p:cNvCxnSpPr>
            <p:nvPr/>
          </p:nvCxnSpPr>
          <p:spPr>
            <a:xfrm flipH="1" flipV="1">
              <a:off x="2243573" y="4103593"/>
              <a:ext cx="1" cy="293624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Fluxograma: Processo 61"/>
            <p:cNvSpPr/>
            <p:nvPr/>
          </p:nvSpPr>
          <p:spPr>
            <a:xfrm>
              <a:off x="1667573" y="3565198"/>
              <a:ext cx="1152000" cy="538395"/>
            </a:xfrm>
            <a:prstGeom prst="flowChartProcess">
              <a:avLst/>
            </a:prstGeom>
            <a:solidFill>
              <a:srgbClr val="FF66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b="1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rPr>
                <a:t>Projeto</a:t>
              </a:r>
            </a:p>
            <a:p>
              <a:pPr algn="ctr"/>
              <a:r>
                <a:rPr lang="pt-BR" sz="1200" b="1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rPr>
                <a:t>(aprovado)</a:t>
              </a:r>
              <a:endParaRPr lang="en-US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5" name="Fluxograma: Processo 64"/>
            <p:cNvSpPr/>
            <p:nvPr/>
          </p:nvSpPr>
          <p:spPr>
            <a:xfrm>
              <a:off x="1667573" y="5476465"/>
              <a:ext cx="1152000" cy="538395"/>
            </a:xfrm>
            <a:prstGeom prst="flowChartProcess">
              <a:avLst/>
            </a:prstGeom>
            <a:solidFill>
              <a:srgbClr val="FF66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b="1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rPr>
                <a:t>Melhoria</a:t>
              </a:r>
            </a:p>
            <a:p>
              <a:pPr algn="ctr"/>
              <a:r>
                <a:rPr lang="pt-BR" sz="1200" b="1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rPr>
                <a:t>(priorizada)</a:t>
              </a:r>
              <a:endParaRPr lang="en-US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66" name="Conector de Seta Reta 65"/>
            <p:cNvCxnSpPr>
              <a:stCxn id="56" idx="2"/>
              <a:endCxn id="65" idx="0"/>
            </p:cNvCxnSpPr>
            <p:nvPr/>
          </p:nvCxnSpPr>
          <p:spPr>
            <a:xfrm flipH="1">
              <a:off x="2243573" y="5164356"/>
              <a:ext cx="1" cy="312109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7" name="Agrupar 86"/>
          <p:cNvGrpSpPr/>
          <p:nvPr/>
        </p:nvGrpSpPr>
        <p:grpSpPr>
          <a:xfrm>
            <a:off x="1408462" y="4397217"/>
            <a:ext cx="1372925" cy="767139"/>
            <a:chOff x="1408462" y="4397217"/>
            <a:chExt cx="1372925" cy="767139"/>
          </a:xfrm>
        </p:grpSpPr>
        <p:sp>
          <p:nvSpPr>
            <p:cNvPr id="56" name="Losango 55"/>
            <p:cNvSpPr/>
            <p:nvPr/>
          </p:nvSpPr>
          <p:spPr>
            <a:xfrm>
              <a:off x="1705760" y="4397217"/>
              <a:ext cx="1075627" cy="767139"/>
            </a:xfrm>
            <a:prstGeom prst="diamond">
              <a:avLst/>
            </a:prstGeom>
            <a:solidFill>
              <a:srgbClr val="FF66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 err="1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rPr>
                <a:t>Proj</a:t>
              </a:r>
              <a:r>
                <a:rPr lang="en-US" sz="1100" b="1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en-US" sz="1100" b="1" dirty="0" err="1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rPr>
                <a:t>ou</a:t>
              </a:r>
              <a:r>
                <a:rPr lang="en-US" sz="1100" b="1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en-US" sz="1100" b="1" dirty="0" err="1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rPr>
                <a:t>Melh</a:t>
              </a:r>
              <a:endParaRPr lang="en-US" sz="11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71" name="Conector de Seta Reta 70"/>
            <p:cNvCxnSpPr>
              <a:stCxn id="52" idx="3"/>
              <a:endCxn id="56" idx="1"/>
            </p:cNvCxnSpPr>
            <p:nvPr/>
          </p:nvCxnSpPr>
          <p:spPr>
            <a:xfrm flipV="1">
              <a:off x="1408462" y="4780787"/>
              <a:ext cx="297298" cy="1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2" name="Agrupar 121"/>
          <p:cNvGrpSpPr/>
          <p:nvPr/>
        </p:nvGrpSpPr>
        <p:grpSpPr>
          <a:xfrm>
            <a:off x="2819573" y="2478153"/>
            <a:ext cx="2681795" cy="4280451"/>
            <a:chOff x="2819573" y="2478153"/>
            <a:chExt cx="2681795" cy="4280451"/>
          </a:xfrm>
        </p:grpSpPr>
        <p:sp>
          <p:nvSpPr>
            <p:cNvPr id="107" name="Fluxograma: Processo 106"/>
            <p:cNvSpPr/>
            <p:nvPr/>
          </p:nvSpPr>
          <p:spPr>
            <a:xfrm>
              <a:off x="3045635" y="2478153"/>
              <a:ext cx="2454628" cy="4280451"/>
            </a:xfrm>
            <a:prstGeom prst="flowChartProcess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4" name="Retângulo 73"/>
            <p:cNvSpPr/>
            <p:nvPr/>
          </p:nvSpPr>
          <p:spPr>
            <a:xfrm>
              <a:off x="3044530" y="2569885"/>
              <a:ext cx="2456838" cy="61555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b="1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(EF)</a:t>
              </a:r>
            </a:p>
            <a:p>
              <a:pPr algn="ctr"/>
              <a:r>
                <a:rPr lang="pt-BR" sz="1600" b="1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Especificação Funcional</a:t>
              </a:r>
            </a:p>
          </p:txBody>
        </p:sp>
        <p:sp>
          <p:nvSpPr>
            <p:cNvPr id="77" name="Fluxograma: Processo 76"/>
            <p:cNvSpPr/>
            <p:nvPr/>
          </p:nvSpPr>
          <p:spPr>
            <a:xfrm>
              <a:off x="3312703" y="3565198"/>
              <a:ext cx="845985" cy="538395"/>
            </a:xfrm>
            <a:prstGeom prst="flowChartProcess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b="1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rPr>
                <a:t>Elaborar</a:t>
              </a:r>
              <a:endParaRPr lang="en-US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9" name="Fluxograma: Processo 78"/>
            <p:cNvSpPr/>
            <p:nvPr/>
          </p:nvSpPr>
          <p:spPr>
            <a:xfrm>
              <a:off x="4466289" y="3565198"/>
              <a:ext cx="845985" cy="538395"/>
            </a:xfrm>
            <a:prstGeom prst="flowChartProcess">
              <a:avLst/>
            </a:prstGeom>
            <a:solidFill>
              <a:srgbClr val="FF66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b="1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rPr>
                <a:t>Analisar e Validar</a:t>
              </a:r>
              <a:endParaRPr lang="en-US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83" name="Conector de Seta Reta 82"/>
            <p:cNvCxnSpPr>
              <a:stCxn id="62" idx="3"/>
              <a:endCxn id="77" idx="1"/>
            </p:cNvCxnSpPr>
            <p:nvPr/>
          </p:nvCxnSpPr>
          <p:spPr>
            <a:xfrm>
              <a:off x="2819573" y="3834396"/>
              <a:ext cx="493130" cy="0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ector de Seta Reta 83"/>
            <p:cNvCxnSpPr>
              <a:stCxn id="77" idx="3"/>
              <a:endCxn id="79" idx="1"/>
            </p:cNvCxnSpPr>
            <p:nvPr/>
          </p:nvCxnSpPr>
          <p:spPr>
            <a:xfrm>
              <a:off x="4158688" y="3834396"/>
              <a:ext cx="307601" cy="0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Fluxograma: Processo 111"/>
            <p:cNvSpPr/>
            <p:nvPr/>
          </p:nvSpPr>
          <p:spPr>
            <a:xfrm>
              <a:off x="3312703" y="5476465"/>
              <a:ext cx="845985" cy="538395"/>
            </a:xfrm>
            <a:prstGeom prst="flowChartProcess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b="1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rPr>
                <a:t>Elaborar</a:t>
              </a:r>
              <a:endParaRPr lang="en-US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3" name="Fluxograma: Processo 112"/>
            <p:cNvSpPr/>
            <p:nvPr/>
          </p:nvSpPr>
          <p:spPr>
            <a:xfrm>
              <a:off x="4466289" y="5476465"/>
              <a:ext cx="845985" cy="538395"/>
            </a:xfrm>
            <a:prstGeom prst="flowChartProcess">
              <a:avLst/>
            </a:prstGeom>
            <a:solidFill>
              <a:srgbClr val="FF66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b="1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rPr>
                <a:t>Analisar e Validar</a:t>
              </a:r>
              <a:endParaRPr lang="en-US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114" name="Conector de Seta Reta 113"/>
            <p:cNvCxnSpPr>
              <a:stCxn id="65" idx="3"/>
              <a:endCxn id="112" idx="1"/>
            </p:cNvCxnSpPr>
            <p:nvPr/>
          </p:nvCxnSpPr>
          <p:spPr>
            <a:xfrm>
              <a:off x="2819573" y="5745663"/>
              <a:ext cx="493130" cy="0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Conector de Seta Reta 114"/>
            <p:cNvCxnSpPr>
              <a:stCxn id="112" idx="3"/>
              <a:endCxn id="113" idx="1"/>
            </p:cNvCxnSpPr>
            <p:nvPr/>
          </p:nvCxnSpPr>
          <p:spPr>
            <a:xfrm>
              <a:off x="4158688" y="5745663"/>
              <a:ext cx="307601" cy="0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4" name="Agrupar 123"/>
          <p:cNvGrpSpPr/>
          <p:nvPr/>
        </p:nvGrpSpPr>
        <p:grpSpPr>
          <a:xfrm>
            <a:off x="7003790" y="2478153"/>
            <a:ext cx="2764888" cy="4280451"/>
            <a:chOff x="7003790" y="2478153"/>
            <a:chExt cx="2764888" cy="4280451"/>
          </a:xfrm>
        </p:grpSpPr>
        <p:sp>
          <p:nvSpPr>
            <p:cNvPr id="108" name="Fluxograma: Processo 107"/>
            <p:cNvSpPr/>
            <p:nvPr/>
          </p:nvSpPr>
          <p:spPr>
            <a:xfrm>
              <a:off x="7314050" y="2478153"/>
              <a:ext cx="2454628" cy="4280451"/>
            </a:xfrm>
            <a:prstGeom prst="flowChartProcess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4" name="Fluxograma: Processo 93"/>
            <p:cNvSpPr/>
            <p:nvPr/>
          </p:nvSpPr>
          <p:spPr>
            <a:xfrm>
              <a:off x="7543306" y="3565198"/>
              <a:ext cx="845985" cy="538395"/>
            </a:xfrm>
            <a:prstGeom prst="flowChartProcess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b="1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rPr>
                <a:t>Elaborar</a:t>
              </a:r>
              <a:endParaRPr lang="en-US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6" name="Fluxograma: Processo 95"/>
            <p:cNvSpPr/>
            <p:nvPr/>
          </p:nvSpPr>
          <p:spPr>
            <a:xfrm>
              <a:off x="8696894" y="3565198"/>
              <a:ext cx="845985" cy="538395"/>
            </a:xfrm>
            <a:prstGeom prst="flowChartProcess">
              <a:avLst/>
            </a:prstGeom>
            <a:solidFill>
              <a:srgbClr val="FF66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b="1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rPr>
                <a:t>Analisar e Validar</a:t>
              </a:r>
              <a:endParaRPr lang="en-US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102" name="Conector de Seta Reta 101"/>
            <p:cNvCxnSpPr>
              <a:stCxn id="91" idx="3"/>
              <a:endCxn id="94" idx="1"/>
            </p:cNvCxnSpPr>
            <p:nvPr/>
          </p:nvCxnSpPr>
          <p:spPr>
            <a:xfrm>
              <a:off x="7003790" y="3834396"/>
              <a:ext cx="539516" cy="0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ector de Seta Reta 104"/>
            <p:cNvCxnSpPr>
              <a:stCxn id="94" idx="3"/>
              <a:endCxn id="96" idx="1"/>
            </p:cNvCxnSpPr>
            <p:nvPr/>
          </p:nvCxnSpPr>
          <p:spPr>
            <a:xfrm>
              <a:off x="8389291" y="3834396"/>
              <a:ext cx="307603" cy="0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Retângulo 110"/>
            <p:cNvSpPr/>
            <p:nvPr/>
          </p:nvSpPr>
          <p:spPr>
            <a:xfrm>
              <a:off x="7360901" y="2536447"/>
              <a:ext cx="2360927" cy="61555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b="1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(ET)</a:t>
              </a:r>
            </a:p>
            <a:p>
              <a:pPr algn="ctr"/>
              <a:r>
                <a:rPr lang="pt-BR" sz="1600" b="1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Especificação Técnica</a:t>
              </a:r>
            </a:p>
          </p:txBody>
        </p:sp>
        <p:sp>
          <p:nvSpPr>
            <p:cNvPr id="117" name="Fluxograma: Processo 116"/>
            <p:cNvSpPr/>
            <p:nvPr/>
          </p:nvSpPr>
          <p:spPr>
            <a:xfrm>
              <a:off x="7543306" y="5476465"/>
              <a:ext cx="845985" cy="538395"/>
            </a:xfrm>
            <a:prstGeom prst="flowChartProcess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b="1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rPr>
                <a:t>Elaborar</a:t>
              </a:r>
              <a:endParaRPr lang="en-US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8" name="Fluxograma: Processo 117"/>
            <p:cNvSpPr/>
            <p:nvPr/>
          </p:nvSpPr>
          <p:spPr>
            <a:xfrm>
              <a:off x="8696894" y="5476465"/>
              <a:ext cx="845985" cy="538395"/>
            </a:xfrm>
            <a:prstGeom prst="flowChartProcess">
              <a:avLst/>
            </a:prstGeom>
            <a:solidFill>
              <a:srgbClr val="FF66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b="1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rPr>
                <a:t>Analisar e Validar</a:t>
              </a:r>
              <a:endParaRPr lang="en-US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119" name="Conector de Seta Reta 118"/>
            <p:cNvCxnSpPr>
              <a:stCxn id="116" idx="3"/>
              <a:endCxn id="117" idx="1"/>
            </p:cNvCxnSpPr>
            <p:nvPr/>
          </p:nvCxnSpPr>
          <p:spPr>
            <a:xfrm>
              <a:off x="7003790" y="5745663"/>
              <a:ext cx="539516" cy="0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Conector de Seta Reta 119"/>
            <p:cNvCxnSpPr>
              <a:stCxn id="117" idx="3"/>
              <a:endCxn id="118" idx="1"/>
            </p:cNvCxnSpPr>
            <p:nvPr/>
          </p:nvCxnSpPr>
          <p:spPr>
            <a:xfrm>
              <a:off x="8389291" y="5745663"/>
              <a:ext cx="307603" cy="0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3" name="Agrupar 122"/>
          <p:cNvGrpSpPr/>
          <p:nvPr/>
        </p:nvGrpSpPr>
        <p:grpSpPr>
          <a:xfrm>
            <a:off x="5312274" y="2478153"/>
            <a:ext cx="1807798" cy="4280451"/>
            <a:chOff x="5312274" y="2478153"/>
            <a:chExt cx="1807798" cy="4280451"/>
          </a:xfrm>
        </p:grpSpPr>
        <p:sp>
          <p:nvSpPr>
            <p:cNvPr id="110" name="Fluxograma: Processo 109"/>
            <p:cNvSpPr/>
            <p:nvPr/>
          </p:nvSpPr>
          <p:spPr>
            <a:xfrm>
              <a:off x="5698410" y="2478153"/>
              <a:ext cx="1421662" cy="4280451"/>
            </a:xfrm>
            <a:prstGeom prst="flowChartProcess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5" name="Retângulo 74"/>
            <p:cNvSpPr/>
            <p:nvPr/>
          </p:nvSpPr>
          <p:spPr>
            <a:xfrm>
              <a:off x="5814367" y="2576215"/>
              <a:ext cx="1189749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pt-BR" b="1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Desenho </a:t>
              </a:r>
            </a:p>
            <a:p>
              <a:pPr algn="ctr"/>
              <a:r>
                <a:rPr lang="pt-BR" b="1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Solução</a:t>
              </a:r>
              <a:endParaRPr lang="pt-BR" dirty="0">
                <a:solidFill>
                  <a:srgbClr val="7030A0"/>
                </a:solidFill>
              </a:endParaRPr>
            </a:p>
          </p:txBody>
        </p:sp>
        <p:sp>
          <p:nvSpPr>
            <p:cNvPr id="91" name="Fluxograma: Processo 90"/>
            <p:cNvSpPr/>
            <p:nvPr/>
          </p:nvSpPr>
          <p:spPr>
            <a:xfrm>
              <a:off x="5851790" y="3565198"/>
              <a:ext cx="1152000" cy="538395"/>
            </a:xfrm>
            <a:prstGeom prst="flowChartProcess">
              <a:avLst/>
            </a:prstGeom>
            <a:solidFill>
              <a:srgbClr val="FF66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b="1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rPr>
                <a:t>Desenhar Solução</a:t>
              </a:r>
              <a:endParaRPr lang="en-US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106" name="Conector de Seta Reta 105"/>
            <p:cNvCxnSpPr>
              <a:stCxn id="79" idx="3"/>
              <a:endCxn id="91" idx="1"/>
            </p:cNvCxnSpPr>
            <p:nvPr/>
          </p:nvCxnSpPr>
          <p:spPr>
            <a:xfrm>
              <a:off x="5312274" y="3834396"/>
              <a:ext cx="539516" cy="0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Fluxograma: Processo 115"/>
            <p:cNvSpPr/>
            <p:nvPr/>
          </p:nvSpPr>
          <p:spPr>
            <a:xfrm>
              <a:off x="5851790" y="5476465"/>
              <a:ext cx="1152000" cy="538395"/>
            </a:xfrm>
            <a:prstGeom prst="flowChartProcess">
              <a:avLst/>
            </a:prstGeom>
            <a:solidFill>
              <a:srgbClr val="FF66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b="1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rPr>
                <a:t>Desenhar Solução</a:t>
              </a:r>
              <a:endParaRPr lang="en-US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121" name="Conector de Seta Reta 120"/>
            <p:cNvCxnSpPr>
              <a:stCxn id="113" idx="3"/>
              <a:endCxn id="116" idx="1"/>
            </p:cNvCxnSpPr>
            <p:nvPr/>
          </p:nvCxnSpPr>
          <p:spPr>
            <a:xfrm>
              <a:off x="5312274" y="5745663"/>
              <a:ext cx="539516" cy="0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65666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3323</TotalTime>
  <Words>297</Words>
  <Application>Microsoft Office PowerPoint</Application>
  <PresentationFormat>Personalizar</PresentationFormat>
  <Paragraphs>79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1" baseType="lpstr">
      <vt:lpstr>Arial</vt:lpstr>
      <vt:lpstr>Calibri</vt:lpstr>
      <vt:lpstr>Gotham Rounded Book</vt:lpstr>
      <vt:lpstr>Segoe UI</vt:lpstr>
      <vt:lpstr>Trebuchet MS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Jorge Filho</cp:lastModifiedBy>
  <cp:revision>276</cp:revision>
  <dcterms:created xsi:type="dcterms:W3CDTF">2014-01-24T21:35:00Z</dcterms:created>
  <dcterms:modified xsi:type="dcterms:W3CDTF">2016-03-10T23:21:21Z</dcterms:modified>
</cp:coreProperties>
</file>