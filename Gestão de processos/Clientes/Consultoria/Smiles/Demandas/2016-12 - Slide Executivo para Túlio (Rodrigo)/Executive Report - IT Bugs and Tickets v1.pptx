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373" r:id="rId3"/>
    <p:sldId id="374" r:id="rId4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D0462D"/>
    <a:srgbClr val="FFFF66"/>
    <a:srgbClr val="00CC00"/>
    <a:srgbClr val="F68E1E"/>
    <a:srgbClr val="FF6600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534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Pasta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Pasta1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oleObject" Target="Pasta1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Pasta1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Planilha1!$A$1:$A$12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Planilha1!$B$1:$B$12</c:f>
              <c:numCache>
                <c:formatCode>General</c:formatCode>
                <c:ptCount val="12"/>
                <c:pt idx="0">
                  <c:v>464</c:v>
                </c:pt>
                <c:pt idx="1">
                  <c:v>911</c:v>
                </c:pt>
                <c:pt idx="2">
                  <c:v>1213</c:v>
                </c:pt>
                <c:pt idx="3">
                  <c:v>1520</c:v>
                </c:pt>
                <c:pt idx="4">
                  <c:v>1791</c:v>
                </c:pt>
                <c:pt idx="5">
                  <c:v>2073</c:v>
                </c:pt>
                <c:pt idx="6">
                  <c:v>2391</c:v>
                </c:pt>
                <c:pt idx="7">
                  <c:v>2651</c:v>
                </c:pt>
                <c:pt idx="8">
                  <c:v>2958</c:v>
                </c:pt>
                <c:pt idx="9">
                  <c:v>3261</c:v>
                </c:pt>
                <c:pt idx="10">
                  <c:v>3606</c:v>
                </c:pt>
                <c:pt idx="11">
                  <c:v>3836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A3B-43FD-9760-D148B99F0030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Planilha1!$A$15:$A$26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Planilha1!$B$15:$B$26</c:f>
              <c:numCache>
                <c:formatCode>0.00%</c:formatCode>
                <c:ptCount val="12"/>
                <c:pt idx="0">
                  <c:v>0.9012</c:v>
                </c:pt>
                <c:pt idx="1">
                  <c:v>0.85750000000000004</c:v>
                </c:pt>
                <c:pt idx="2">
                  <c:v>0.86119999999999997</c:v>
                </c:pt>
                <c:pt idx="3">
                  <c:v>0.86780000000000002</c:v>
                </c:pt>
                <c:pt idx="4">
                  <c:v>0.82950000000000002</c:v>
                </c:pt>
                <c:pt idx="5">
                  <c:v>0.92930000000000001</c:v>
                </c:pt>
                <c:pt idx="6">
                  <c:v>0.87460000000000004</c:v>
                </c:pt>
                <c:pt idx="7">
                  <c:v>0.89190000000000003</c:v>
                </c:pt>
                <c:pt idx="8">
                  <c:v>0.90549999999999997</c:v>
                </c:pt>
                <c:pt idx="9">
                  <c:v>0.95050000000000001</c:v>
                </c:pt>
                <c:pt idx="10">
                  <c:v>0.9597</c:v>
                </c:pt>
                <c:pt idx="11">
                  <c:v>0.95220000000000005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F39-4C08-8902-274A0342BD6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  <c:min val="0.5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Planilha1!$A$30:$A$41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Planilha1!$B$30:$B$41</c:f>
              <c:numCache>
                <c:formatCode>General</c:formatCode>
                <c:ptCount val="12"/>
                <c:pt idx="0">
                  <c:v>85</c:v>
                </c:pt>
                <c:pt idx="1">
                  <c:v>72</c:v>
                </c:pt>
                <c:pt idx="2">
                  <c:v>54</c:v>
                </c:pt>
                <c:pt idx="3">
                  <c:v>55</c:v>
                </c:pt>
                <c:pt idx="4">
                  <c:v>59</c:v>
                </c:pt>
                <c:pt idx="5">
                  <c:v>64</c:v>
                </c:pt>
                <c:pt idx="6">
                  <c:v>75</c:v>
                </c:pt>
                <c:pt idx="7">
                  <c:v>56</c:v>
                </c:pt>
                <c:pt idx="8">
                  <c:v>64</c:v>
                </c:pt>
                <c:pt idx="9">
                  <c:v>56</c:v>
                </c:pt>
                <c:pt idx="10">
                  <c:v>35</c:v>
                </c:pt>
                <c:pt idx="11">
                  <c:v>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728-4D35-9AB0-3EBC1A344B6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6600"/>
              </a:solidFill>
              <a:ln w="9525">
                <a:solidFill>
                  <a:srgbClr val="FF66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Planilha1!$A$59:$A$70</c:f>
              <c:strCache>
                <c:ptCount val="12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  <c:pt idx="7">
                  <c:v>Ago</c:v>
                </c:pt>
                <c:pt idx="8">
                  <c:v>Set</c:v>
                </c:pt>
                <c:pt idx="9">
                  <c:v>Out</c:v>
                </c:pt>
                <c:pt idx="10">
                  <c:v>Nov</c:v>
                </c:pt>
                <c:pt idx="11">
                  <c:v>Dez</c:v>
                </c:pt>
              </c:strCache>
            </c:strRef>
          </c:cat>
          <c:val>
            <c:numRef>
              <c:f>Planilha1!$B$59:$B$70</c:f>
              <c:numCache>
                <c:formatCode>General</c:formatCode>
                <c:ptCount val="12"/>
                <c:pt idx="0">
                  <c:v>46</c:v>
                </c:pt>
                <c:pt idx="1">
                  <c:v>77</c:v>
                </c:pt>
                <c:pt idx="2">
                  <c:v>97</c:v>
                </c:pt>
                <c:pt idx="3">
                  <c:v>134</c:v>
                </c:pt>
                <c:pt idx="4">
                  <c:v>151</c:v>
                </c:pt>
                <c:pt idx="5">
                  <c:v>197</c:v>
                </c:pt>
                <c:pt idx="6">
                  <c:v>221</c:v>
                </c:pt>
                <c:pt idx="7">
                  <c:v>254</c:v>
                </c:pt>
                <c:pt idx="8">
                  <c:v>290</c:v>
                </c:pt>
                <c:pt idx="9">
                  <c:v>308</c:v>
                </c:pt>
                <c:pt idx="10">
                  <c:v>339</c:v>
                </c:pt>
                <c:pt idx="11">
                  <c:v>367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2A-4AC8-B46C-F2D74D30777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32279584"/>
        <c:axId val="332279912"/>
      </c:lineChart>
      <c:catAx>
        <c:axId val="332279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912"/>
        <c:crosses val="autoZero"/>
        <c:auto val="1"/>
        <c:lblAlgn val="ctr"/>
        <c:lblOffset val="100"/>
        <c:noMultiLvlLbl val="0"/>
      </c:catAx>
      <c:valAx>
        <c:axId val="332279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9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322795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21/12/2016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12/21/2016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2794037"/>
            <a:ext cx="5688627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IT Tickets &amp; Bugs</a:t>
            </a:r>
          </a:p>
          <a:p>
            <a:r>
              <a:rPr lang="pt-BR" sz="36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Executive</a:t>
            </a:r>
            <a:r>
              <a:rPr lang="pt-BR" sz="3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 </a:t>
            </a:r>
            <a:r>
              <a:rPr lang="pt-BR" sz="3600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Report</a:t>
            </a:r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21-12-2016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436962" y="5114833"/>
            <a:ext cx="1554970" cy="1618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IT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Tickets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&amp; Bugs–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Executive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Report</a:t>
            </a:r>
            <a:endParaRPr lang="pt-BR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283765" y="976731"/>
            <a:ext cx="9637674" cy="1800000"/>
            <a:chOff x="283765" y="976731"/>
            <a:chExt cx="9637674" cy="1800000"/>
          </a:xfrm>
        </p:grpSpPr>
        <p:graphicFrame>
          <p:nvGraphicFramePr>
            <p:cNvPr id="12" name="Gráfico 11">
              <a:extLst>
                <a:ext uri="{FF2B5EF4-FFF2-40B4-BE49-F238E27FC236}">
                  <a16:creationId xmlns:a16="http://schemas.microsoft.com/office/drawing/2014/main" id="{91741545-E543-407F-AD8F-E735DEDE9424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745286105"/>
                </p:ext>
              </p:extLst>
            </p:nvPr>
          </p:nvGraphicFramePr>
          <p:xfrm>
            <a:off x="4701439" y="976731"/>
            <a:ext cx="5220000" cy="18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5" name="Retângulo 14"/>
            <p:cNvSpPr/>
            <p:nvPr/>
          </p:nvSpPr>
          <p:spPr>
            <a:xfrm>
              <a:off x="283765" y="976731"/>
              <a:ext cx="4241854" cy="18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marL="180000" algn="r"/>
              <a:r>
                <a:rPr lang="pt-B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&gt; 3.800 Chamados </a:t>
              </a:r>
            </a:p>
            <a:p>
              <a:pPr marL="180000" algn="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resolvidos (Acumulado YTD)</a:t>
              </a:r>
            </a:p>
          </p:txBody>
        </p:sp>
      </p:grpSp>
      <p:grpSp>
        <p:nvGrpSpPr>
          <p:cNvPr id="8" name="Agrupar 7"/>
          <p:cNvGrpSpPr/>
          <p:nvPr/>
        </p:nvGrpSpPr>
        <p:grpSpPr>
          <a:xfrm>
            <a:off x="283765" y="2904723"/>
            <a:ext cx="9637674" cy="1800000"/>
            <a:chOff x="283765" y="2904723"/>
            <a:chExt cx="9637674" cy="1800000"/>
          </a:xfrm>
        </p:grpSpPr>
        <p:graphicFrame>
          <p:nvGraphicFramePr>
            <p:cNvPr id="13" name="Gráfico 12">
              <a:extLst>
                <a:ext uri="{FF2B5EF4-FFF2-40B4-BE49-F238E27FC236}">
                  <a16:creationId xmlns:a16="http://schemas.microsoft.com/office/drawing/2014/main" id="{877998FC-B484-4E65-BB07-C33CE15E4E97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387878447"/>
                </p:ext>
              </p:extLst>
            </p:nvPr>
          </p:nvGraphicFramePr>
          <p:xfrm>
            <a:off x="4701439" y="2904723"/>
            <a:ext cx="5220000" cy="18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6" name="Retângulo 15"/>
            <p:cNvSpPr/>
            <p:nvPr/>
          </p:nvSpPr>
          <p:spPr>
            <a:xfrm>
              <a:off x="283765" y="2904723"/>
              <a:ext cx="4241854" cy="18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marL="180000" algn="r"/>
              <a:r>
                <a:rPr lang="pt-B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~ 89,74% SLA </a:t>
              </a:r>
            </a:p>
            <a:p>
              <a:pPr marL="180000" algn="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 resolução de chamados (Média YTD)</a:t>
              </a:r>
            </a:p>
          </p:txBody>
        </p:sp>
      </p:grpSp>
      <p:grpSp>
        <p:nvGrpSpPr>
          <p:cNvPr id="18" name="Agrupar 17"/>
          <p:cNvGrpSpPr/>
          <p:nvPr/>
        </p:nvGrpSpPr>
        <p:grpSpPr>
          <a:xfrm>
            <a:off x="283765" y="4832715"/>
            <a:ext cx="9637674" cy="1800000"/>
            <a:chOff x="283765" y="4832715"/>
            <a:chExt cx="9637674" cy="1800000"/>
          </a:xfrm>
        </p:grpSpPr>
        <p:graphicFrame>
          <p:nvGraphicFramePr>
            <p:cNvPr id="14" name="Gráfico 13">
              <a:extLst>
                <a:ext uri="{FF2B5EF4-FFF2-40B4-BE49-F238E27FC236}">
                  <a16:creationId xmlns:a16="http://schemas.microsoft.com/office/drawing/2014/main" id="{C7742862-A742-4B85-9B4C-DC0566D4782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472457147"/>
                </p:ext>
              </p:extLst>
            </p:nvPr>
          </p:nvGraphicFramePr>
          <p:xfrm>
            <a:off x="4701439" y="4832715"/>
            <a:ext cx="5220000" cy="18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5"/>
            </a:graphicData>
          </a:graphic>
        </p:graphicFrame>
        <p:sp>
          <p:nvSpPr>
            <p:cNvPr id="17" name="Retângulo 16"/>
            <p:cNvSpPr/>
            <p:nvPr/>
          </p:nvSpPr>
          <p:spPr>
            <a:xfrm>
              <a:off x="283765" y="4832715"/>
              <a:ext cx="4241854" cy="18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marL="180000" algn="r"/>
              <a:r>
                <a:rPr lang="pt-B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~ 58 Chamados </a:t>
              </a:r>
            </a:p>
            <a:p>
              <a:pPr marL="180000" algn="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em </a:t>
              </a:r>
              <a:r>
                <a:rPr lang="pt-BR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Backlog</a:t>
              </a:r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Líquido* (Média YTD)</a:t>
              </a:r>
            </a:p>
            <a:p>
              <a:pPr marL="180000" algn="r"/>
              <a:endPara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  <a:p>
              <a:pPr marL="180000" algn="r"/>
              <a:r>
                <a:rPr lang="pt-BR" sz="14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*</a:t>
              </a:r>
              <a:r>
                <a:rPr lang="pt-BR" sz="1400" i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Backlog</a:t>
              </a:r>
              <a:r>
                <a:rPr lang="pt-BR" sz="14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 Líquido não depende de desenvolvimento</a:t>
              </a:r>
              <a:endPara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0552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IT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Tickets 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&amp; Bugs–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Executive</a:t>
            </a:r>
            <a:r>
              <a:rPr lang="pt-BR" sz="2400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Report</a:t>
            </a:r>
            <a:endParaRPr lang="pt-BR" sz="2400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" name="Agrupar 2"/>
          <p:cNvGrpSpPr/>
          <p:nvPr/>
        </p:nvGrpSpPr>
        <p:grpSpPr>
          <a:xfrm>
            <a:off x="303643" y="1054800"/>
            <a:ext cx="9707957" cy="1800235"/>
            <a:chOff x="303643" y="1054800"/>
            <a:chExt cx="9707957" cy="1800235"/>
          </a:xfrm>
        </p:grpSpPr>
        <p:sp>
          <p:nvSpPr>
            <p:cNvPr id="37" name="Retângulo 36"/>
            <p:cNvSpPr/>
            <p:nvPr/>
          </p:nvSpPr>
          <p:spPr>
            <a:xfrm>
              <a:off x="303643" y="1055035"/>
              <a:ext cx="4241854" cy="1800000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marL="180000" algn="r"/>
              <a:r>
                <a:rPr lang="pt-BR" sz="36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&gt; 360 Bugs </a:t>
              </a:r>
            </a:p>
            <a:p>
              <a:pPr marL="180000" algn="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resolvidos (Acumulado YTD)</a:t>
              </a:r>
            </a:p>
          </p:txBody>
        </p:sp>
        <p:graphicFrame>
          <p:nvGraphicFramePr>
            <p:cNvPr id="10" name="Gráfico 9">
              <a:extLst>
                <a:ext uri="{FF2B5EF4-FFF2-40B4-BE49-F238E27FC236}">
                  <a16:creationId xmlns:a16="http://schemas.microsoft.com/office/drawing/2014/main" id="{782C54F5-C066-4072-832D-6EC70C9DC1A6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202314182"/>
                </p:ext>
              </p:extLst>
            </p:nvPr>
          </p:nvGraphicFramePr>
          <p:xfrm>
            <a:off x="4791600" y="1054800"/>
            <a:ext cx="5220000" cy="18000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32824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8403</TotalTime>
  <Words>70</Words>
  <Application>Microsoft Office PowerPoint</Application>
  <PresentationFormat>Personalizar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9" baseType="lpstr">
      <vt:lpstr>Arial</vt:lpstr>
      <vt:lpstr>Calibri</vt:lpstr>
      <vt:lpstr>Gotham Rounded Book</vt:lpstr>
      <vt:lpstr>Segoe UI</vt:lpstr>
      <vt:lpstr>Trebuchet MS</vt:lpstr>
      <vt:lpstr>Office Theme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78</cp:revision>
  <dcterms:created xsi:type="dcterms:W3CDTF">2014-01-24T21:35:00Z</dcterms:created>
  <dcterms:modified xsi:type="dcterms:W3CDTF">2016-12-21T14:29:07Z</dcterms:modified>
</cp:coreProperties>
</file>