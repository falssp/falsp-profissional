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354" r:id="rId3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CC00"/>
    <a:srgbClr val="D0462D"/>
    <a:srgbClr val="F57124"/>
    <a:srgbClr val="F68E1E"/>
    <a:srgbClr val="99CCFF"/>
    <a:srgbClr val="FF9900"/>
    <a:srgbClr val="000000"/>
    <a:srgbClr val="EE6829"/>
    <a:srgbClr val="E287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092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06/09/2016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9/6/2016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9/6/2016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9/6/2016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9/6/2016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8784" y="2515742"/>
            <a:ext cx="568862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Macro </a:t>
            </a:r>
            <a:r>
              <a:rPr lang="pt-BR" sz="4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Road-</a:t>
            </a:r>
            <a:r>
              <a:rPr lang="pt-BR" sz="40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Map</a:t>
            </a:r>
            <a:r>
              <a:rPr lang="pt-BR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 de Evolução de Processos </a:t>
            </a:r>
          </a:p>
          <a:p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06-Set-2016</a:t>
            </a:r>
          </a:p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2</a:t>
            </a:r>
          </a:p>
        </p:txBody>
      </p:sp>
      <p:pic>
        <p:nvPicPr>
          <p:cNvPr id="1028" name="Picture 4" descr="Resultado de imagem para processos de t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772" y="4071333"/>
            <a:ext cx="2748560" cy="253783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s://static.wixstatic.com/media/f6f17c_c391bc643597d982af83383799c61f90.png/v1/fill/w_210,h_90,al_c,usm_0.66_1.00_0.01/f6f17c_c391bc643597d982af83383799c61f9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6381" y="5976730"/>
            <a:ext cx="1734516" cy="74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graphicFrame>
        <p:nvGraphicFramePr>
          <p:cNvPr id="9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938596"/>
              </p:ext>
            </p:extLst>
          </p:nvPr>
        </p:nvGraphicFramePr>
        <p:xfrm>
          <a:off x="272120" y="999230"/>
          <a:ext cx="9335910" cy="551682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67182">
                  <a:extLst>
                    <a:ext uri="{9D8B030D-6E8A-4147-A177-3AD203B41FA5}">
                      <a16:colId xmlns:a16="http://schemas.microsoft.com/office/drawing/2014/main" val="1989880496"/>
                    </a:ext>
                  </a:extLst>
                </a:gridCol>
                <a:gridCol w="1867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7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71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7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36">
                <a:tc gridSpan="5">
                  <a:txBody>
                    <a:bodyPr/>
                    <a:lstStyle/>
                    <a:p>
                      <a:pPr algn="ctr"/>
                      <a:r>
                        <a:rPr lang="pt-BR" sz="1800" b="1" i="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Projeto</a:t>
                      </a:r>
                      <a:r>
                        <a:rPr lang="pt-BR" sz="1800" b="1" i="0" baseline="0" dirty="0">
                          <a:solidFill>
                            <a:schemeClr val="lt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 Evolução de Processos - EDP</a:t>
                      </a:r>
                      <a:endParaRPr lang="en-US" sz="1800" b="1" i="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/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pPr algn="ctr"/>
                      <a:endParaRPr lang="en-US" sz="1600" b="0" dirty="0">
                        <a:solidFill>
                          <a:schemeClr val="bg1"/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>
                    <a:lnL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lumMod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prstClr val="white">
                          <a:lumMod val="7500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73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</a:rPr>
                        <a:t>Setembro</a:t>
                      </a:r>
                      <a:r>
                        <a:rPr lang="en-US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</a:rPr>
                        <a:t> / 2016</a:t>
                      </a:r>
                    </a:p>
                  </a:txBody>
                  <a:tcPr marL="91446" marR="91446" marT="45713" marB="45713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Outubro</a:t>
                      </a:r>
                      <a:r>
                        <a:rPr lang="en-US" sz="16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/ 2016</a:t>
                      </a:r>
                    </a:p>
                  </a:txBody>
                  <a:tcPr marL="91446" marR="91446" marT="45713" marB="4571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7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</a:rPr>
                        <a:t>05/09 a</a:t>
                      </a:r>
                      <a:r>
                        <a:rPr lang="en-US" sz="16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</a:rPr>
                        <a:t> </a:t>
                      </a:r>
                      <a:r>
                        <a:rPr lang="en-US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</a:rPr>
                        <a:t>09/06</a:t>
                      </a:r>
                    </a:p>
                  </a:txBody>
                  <a:tcPr marL="91446" marR="91446" marT="45713" marB="45713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12/09 a 16/09</a:t>
                      </a:r>
                    </a:p>
                  </a:txBody>
                  <a:tcPr marL="91446" marR="91446" marT="45713" marB="45713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19/09 a</a:t>
                      </a:r>
                      <a:r>
                        <a:rPr lang="en-US" sz="1600" b="1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23/09</a:t>
                      </a:r>
                      <a:endParaRPr lang="en-US" sz="1600" b="1" kern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26/09 a 30/09</a:t>
                      </a:r>
                    </a:p>
                  </a:txBody>
                  <a:tcPr marL="91446" marR="91446" marT="45713" marB="45713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elvetic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 </a:t>
                      </a:r>
                      <a:r>
                        <a:rPr lang="en-US" sz="1600" b="1" kern="12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partir</a:t>
                      </a:r>
                      <a:r>
                        <a:rPr lang="en-US" sz="16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de 03/10</a:t>
                      </a:r>
                    </a:p>
                  </a:txBody>
                  <a:tcPr marL="91446" marR="91446" marT="45713" marB="4571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7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" panose="02040503050406030204" pitchFamily="18" charset="0"/>
                      </a:endParaRPr>
                    </a:p>
                  </a:txBody>
                  <a:tcPr marL="91446" marR="91446" marT="45713" marB="4571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13" marB="4571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8"/>
          <p:cNvSpPr txBox="1"/>
          <p:nvPr/>
        </p:nvSpPr>
        <p:spPr>
          <a:xfrm>
            <a:off x="883687" y="130780"/>
            <a:ext cx="8349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</a:t>
            </a:r>
            <a:r>
              <a:rPr lang="pt-BR" sz="2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Road-</a:t>
            </a:r>
            <a:r>
              <a:rPr lang="pt-BR" sz="24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Map</a:t>
            </a:r>
            <a:r>
              <a:rPr lang="pt-BR" sz="2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 Evolução de Processos</a:t>
            </a:r>
          </a:p>
        </p:txBody>
      </p:sp>
      <p:sp>
        <p:nvSpPr>
          <p:cNvPr id="16" name="Rectangle 107"/>
          <p:cNvSpPr>
            <a:spLocks/>
          </p:cNvSpPr>
          <p:nvPr/>
        </p:nvSpPr>
        <p:spPr bwMode="auto">
          <a:xfrm>
            <a:off x="354931" y="2205947"/>
            <a:ext cx="1728000" cy="540000"/>
          </a:xfrm>
          <a:prstGeom prst="homePlate">
            <a:avLst/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108000" defTabSz="914400"/>
            <a:r>
              <a:rPr lang="pt-BR" sz="1200" b="1" kern="0" dirty="0" err="1">
                <a:solidFill>
                  <a:schemeClr val="bg1"/>
                </a:solidFill>
              </a:rPr>
              <a:t>Assesment</a:t>
            </a:r>
            <a:r>
              <a:rPr lang="pt-BR" sz="1200" b="1" kern="0" dirty="0">
                <a:solidFill>
                  <a:schemeClr val="bg1"/>
                </a:solidFill>
              </a:rPr>
              <a:t> N1 </a:t>
            </a:r>
          </a:p>
          <a:p>
            <a:pPr marL="108000" defTabSz="914400"/>
            <a:r>
              <a:rPr lang="pt-BR" sz="1200" kern="0" dirty="0">
                <a:solidFill>
                  <a:schemeClr val="bg1"/>
                </a:solidFill>
              </a:rPr>
              <a:t>(Double-</a:t>
            </a:r>
            <a:r>
              <a:rPr lang="pt-BR" sz="1200" kern="0" dirty="0" err="1">
                <a:solidFill>
                  <a:schemeClr val="bg1"/>
                </a:solidFill>
              </a:rPr>
              <a:t>Check</a:t>
            </a:r>
            <a:r>
              <a:rPr lang="pt-BR" sz="1200" kern="0" dirty="0">
                <a:solidFill>
                  <a:schemeClr val="bg1"/>
                </a:solidFill>
              </a:rPr>
              <a:t> </a:t>
            </a:r>
            <a:r>
              <a:rPr lang="pt-BR" sz="1200" kern="0" dirty="0" err="1">
                <a:solidFill>
                  <a:schemeClr val="bg1"/>
                </a:solidFill>
              </a:rPr>
              <a:t>valid</a:t>
            </a:r>
            <a:r>
              <a:rPr lang="pt-BR" sz="1200" kern="0" dirty="0">
                <a:solidFill>
                  <a:schemeClr val="bg1"/>
                </a:solidFill>
              </a:rPr>
              <a:t>.)</a:t>
            </a:r>
          </a:p>
        </p:txBody>
      </p:sp>
      <p:sp>
        <p:nvSpPr>
          <p:cNvPr id="18" name="Rectangle 107"/>
          <p:cNvSpPr>
            <a:spLocks/>
          </p:cNvSpPr>
          <p:nvPr/>
        </p:nvSpPr>
        <p:spPr bwMode="auto">
          <a:xfrm>
            <a:off x="353420" y="3625853"/>
            <a:ext cx="3600000" cy="540000"/>
          </a:xfrm>
          <a:prstGeom prst="homePlate">
            <a:avLst/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108000" defTabSz="914400"/>
            <a:r>
              <a:rPr lang="pt-BR" sz="1200" b="1" kern="0" dirty="0">
                <a:solidFill>
                  <a:schemeClr val="bg1"/>
                </a:solidFill>
              </a:rPr>
              <a:t>Arquitetura </a:t>
            </a:r>
          </a:p>
          <a:p>
            <a:pPr marL="108000" defTabSz="914400"/>
            <a:r>
              <a:rPr lang="pt-BR" sz="1200" kern="0" dirty="0">
                <a:solidFill>
                  <a:schemeClr val="bg1"/>
                </a:solidFill>
              </a:rPr>
              <a:t>(</a:t>
            </a:r>
            <a:r>
              <a:rPr lang="pt-BR" sz="1200" kern="0" dirty="0" err="1">
                <a:solidFill>
                  <a:schemeClr val="bg1"/>
                </a:solidFill>
              </a:rPr>
              <a:t>Dashboard</a:t>
            </a:r>
            <a:r>
              <a:rPr lang="pt-BR" sz="1200" kern="0" dirty="0">
                <a:solidFill>
                  <a:schemeClr val="bg1"/>
                </a:solidFill>
              </a:rPr>
              <a:t> e </a:t>
            </a:r>
            <a:r>
              <a:rPr lang="pt-BR" sz="1200" kern="0" dirty="0" err="1">
                <a:solidFill>
                  <a:schemeClr val="bg1"/>
                </a:solidFill>
              </a:rPr>
              <a:t>Sprints</a:t>
            </a:r>
            <a:r>
              <a:rPr lang="pt-BR" sz="1200" kern="0" dirty="0">
                <a:solidFill>
                  <a:schemeClr val="bg1"/>
                </a:solidFill>
              </a:rPr>
              <a:t> criadas)</a:t>
            </a:r>
          </a:p>
        </p:txBody>
      </p:sp>
      <p:sp>
        <p:nvSpPr>
          <p:cNvPr id="19" name="Rectangle 107"/>
          <p:cNvSpPr>
            <a:spLocks/>
          </p:cNvSpPr>
          <p:nvPr/>
        </p:nvSpPr>
        <p:spPr bwMode="auto">
          <a:xfrm>
            <a:off x="353420" y="4335806"/>
            <a:ext cx="3600000" cy="540000"/>
          </a:xfrm>
          <a:prstGeom prst="homePlate">
            <a:avLst/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108000" defTabSz="914400"/>
            <a:r>
              <a:rPr lang="pt-BR" sz="1200" b="1" kern="0" dirty="0">
                <a:solidFill>
                  <a:schemeClr val="bg1"/>
                </a:solidFill>
              </a:rPr>
              <a:t>Projeto Suporte N1 </a:t>
            </a:r>
          </a:p>
          <a:p>
            <a:pPr marL="108000" defTabSz="914400"/>
            <a:r>
              <a:rPr lang="pt-BR" sz="1200" kern="0" dirty="0">
                <a:solidFill>
                  <a:schemeClr val="bg1"/>
                </a:solidFill>
              </a:rPr>
              <a:t>(Versão final da RFP validada)</a:t>
            </a:r>
          </a:p>
        </p:txBody>
      </p:sp>
      <p:sp>
        <p:nvSpPr>
          <p:cNvPr id="20" name="Rectangle 107"/>
          <p:cNvSpPr>
            <a:spLocks/>
          </p:cNvSpPr>
          <p:nvPr/>
        </p:nvSpPr>
        <p:spPr bwMode="auto">
          <a:xfrm>
            <a:off x="2129908" y="5755710"/>
            <a:ext cx="7895946" cy="540000"/>
          </a:xfrm>
          <a:prstGeom prst="homePlate">
            <a:avLst/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108000" defTabSz="914400"/>
            <a:r>
              <a:rPr lang="pt-BR" sz="1200" b="1" kern="0" dirty="0">
                <a:solidFill>
                  <a:schemeClr val="bg1"/>
                </a:solidFill>
              </a:rPr>
              <a:t>Processos de Auditoria e SI  </a:t>
            </a:r>
          </a:p>
          <a:p>
            <a:pPr marL="108000" defTabSz="914400"/>
            <a:r>
              <a:rPr lang="pt-BR" sz="1200" kern="0" dirty="0">
                <a:solidFill>
                  <a:schemeClr val="bg1"/>
                </a:solidFill>
              </a:rPr>
              <a:t>(Elaboração das documentações para atendimento à Auditoria até 16.Dez)</a:t>
            </a:r>
          </a:p>
        </p:txBody>
      </p:sp>
      <p:sp>
        <p:nvSpPr>
          <p:cNvPr id="21" name="Rectangle 107"/>
          <p:cNvSpPr>
            <a:spLocks/>
          </p:cNvSpPr>
          <p:nvPr/>
        </p:nvSpPr>
        <p:spPr bwMode="auto">
          <a:xfrm>
            <a:off x="2129908" y="5045759"/>
            <a:ext cx="3744000" cy="540000"/>
          </a:xfrm>
          <a:prstGeom prst="homePlate">
            <a:avLst/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108000" defTabSz="914400"/>
            <a:r>
              <a:rPr lang="pt-BR" sz="1200" b="1" kern="0" dirty="0">
                <a:solidFill>
                  <a:schemeClr val="bg1"/>
                </a:solidFill>
              </a:rPr>
              <a:t>Processo de Ger. de Incidentes de SI</a:t>
            </a:r>
          </a:p>
        </p:txBody>
      </p:sp>
      <p:sp>
        <p:nvSpPr>
          <p:cNvPr id="22" name="Rectangle 107"/>
          <p:cNvSpPr>
            <a:spLocks/>
          </p:cNvSpPr>
          <p:nvPr/>
        </p:nvSpPr>
        <p:spPr bwMode="auto">
          <a:xfrm>
            <a:off x="357204" y="2915900"/>
            <a:ext cx="1728000" cy="540000"/>
          </a:xfrm>
          <a:prstGeom prst="homePlate">
            <a:avLst/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108000" defTabSz="914400"/>
            <a:r>
              <a:rPr lang="pt-BR" sz="1200" b="1" kern="0" dirty="0">
                <a:solidFill>
                  <a:schemeClr val="bg1"/>
                </a:solidFill>
              </a:rPr>
              <a:t>Fornecedores Críticos </a:t>
            </a:r>
            <a:r>
              <a:rPr lang="pt-BR" sz="1200" kern="0" dirty="0">
                <a:solidFill>
                  <a:schemeClr val="bg1"/>
                </a:solidFill>
              </a:rPr>
              <a:t>(Mapeados)</a:t>
            </a:r>
          </a:p>
        </p:txBody>
      </p:sp>
      <p:sp>
        <p:nvSpPr>
          <p:cNvPr id="23" name="Rectangle 107"/>
          <p:cNvSpPr>
            <a:spLocks/>
          </p:cNvSpPr>
          <p:nvPr/>
        </p:nvSpPr>
        <p:spPr bwMode="auto">
          <a:xfrm>
            <a:off x="7759280" y="5045759"/>
            <a:ext cx="2266574" cy="540000"/>
          </a:xfrm>
          <a:prstGeom prst="homePlate">
            <a:avLst/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108000" defTabSz="914400"/>
            <a:r>
              <a:rPr lang="pt-BR" sz="1200" b="1" kern="0" dirty="0">
                <a:solidFill>
                  <a:schemeClr val="bg1"/>
                </a:solidFill>
              </a:rPr>
              <a:t>Proc. GMUD</a:t>
            </a:r>
          </a:p>
          <a:p>
            <a:pPr marL="108000" defTabSz="914400"/>
            <a:r>
              <a:rPr lang="pt-BR" sz="1200" kern="0" dirty="0">
                <a:solidFill>
                  <a:schemeClr val="bg1"/>
                </a:solidFill>
              </a:rPr>
              <a:t>(Revisão completa)</a:t>
            </a:r>
          </a:p>
        </p:txBody>
      </p:sp>
      <p:sp>
        <p:nvSpPr>
          <p:cNvPr id="14" name="Rectangle 107"/>
          <p:cNvSpPr>
            <a:spLocks/>
          </p:cNvSpPr>
          <p:nvPr/>
        </p:nvSpPr>
        <p:spPr bwMode="auto">
          <a:xfrm>
            <a:off x="365458" y="5755710"/>
            <a:ext cx="1728000" cy="540000"/>
          </a:xfrm>
          <a:prstGeom prst="homePlate">
            <a:avLst/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marL="108000" defTabSz="914400"/>
            <a:r>
              <a:rPr lang="pt-BR" sz="1200" b="1" kern="0" dirty="0">
                <a:solidFill>
                  <a:schemeClr val="bg1"/>
                </a:solidFill>
              </a:rPr>
              <a:t>Proc. de Auditoria e SI  </a:t>
            </a:r>
            <a:r>
              <a:rPr lang="pt-BR" sz="1200" kern="0" dirty="0">
                <a:solidFill>
                  <a:schemeClr val="bg1"/>
                </a:solidFill>
              </a:rPr>
              <a:t>(Planning)</a:t>
            </a:r>
          </a:p>
        </p:txBody>
      </p:sp>
    </p:spTree>
    <p:extLst>
      <p:ext uri="{BB962C8B-B14F-4D97-AF65-F5344CB8AC3E}">
        <p14:creationId xmlns:p14="http://schemas.microsoft.com/office/powerpoint/2010/main" val="88146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5776</TotalTime>
  <Words>111</Words>
  <Application>Microsoft Office PowerPoint</Application>
  <PresentationFormat>Personalizar</PresentationFormat>
  <Paragraphs>49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9" baseType="lpstr">
      <vt:lpstr>Arial</vt:lpstr>
      <vt:lpstr>Calibri</vt:lpstr>
      <vt:lpstr>Cambria</vt:lpstr>
      <vt:lpstr>Gotham Rounded Book</vt:lpstr>
      <vt:lpstr>Segoe UI</vt:lpstr>
      <vt:lpstr>Trebuchet MS</vt:lpstr>
      <vt:lpstr>Office Theme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Jorge Filho</dc:creator>
  <cp:lastModifiedBy>Jorge Filho</cp:lastModifiedBy>
  <cp:revision>5</cp:revision>
  <dcterms:created xsi:type="dcterms:W3CDTF">2014-01-24T21:35:00Z</dcterms:created>
  <dcterms:modified xsi:type="dcterms:W3CDTF">2016-09-06T12:38:58Z</dcterms:modified>
</cp:coreProperties>
</file>