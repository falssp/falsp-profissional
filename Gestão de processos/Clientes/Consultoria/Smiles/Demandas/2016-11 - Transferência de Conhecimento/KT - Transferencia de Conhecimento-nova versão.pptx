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9" r:id="rId2"/>
    <p:sldId id="294" r:id="rId3"/>
    <p:sldId id="295" r:id="rId4"/>
    <p:sldId id="314" r:id="rId5"/>
    <p:sldId id="298" r:id="rId6"/>
    <p:sldId id="315" r:id="rId7"/>
    <p:sldId id="299" r:id="rId8"/>
    <p:sldId id="316" r:id="rId9"/>
    <p:sldId id="300" r:id="rId10"/>
    <p:sldId id="317" r:id="rId11"/>
    <p:sldId id="301" r:id="rId12"/>
    <p:sldId id="318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E28734"/>
    <a:srgbClr val="F4BC71"/>
    <a:srgbClr val="D0462D"/>
    <a:srgbClr val="C3432A"/>
    <a:srgbClr val="FFFFFF"/>
    <a:srgbClr val="7D1A1D"/>
    <a:srgbClr val="A33922"/>
    <a:srgbClr val="903D17"/>
    <a:srgbClr val="EE68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71" autoAdjust="0"/>
  </p:normalViewPr>
  <p:slideViewPr>
    <p:cSldViewPr snapToGrid="0" snapToObjects="1">
      <p:cViewPr varScale="1">
        <p:scale>
          <a:sx n="66" d="100"/>
          <a:sy n="66" d="100"/>
        </p:scale>
        <p:origin x="1518" y="7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78A217-9E2D-4695-B082-5A8EC238B90C}" type="doc">
      <dgm:prSet loTypeId="urn:microsoft.com/office/officeart/2005/8/layout/process1" loCatId="process" qsTypeId="urn:microsoft.com/office/officeart/2005/8/quickstyle/simple1" qsCatId="simple" csTypeId="urn:microsoft.com/office/officeart/2005/8/colors/accent4_5" csCatId="accent4" phldr="1"/>
      <dgm:spPr/>
    </dgm:pt>
    <dgm:pt modelId="{143725E8-7758-4A54-92CA-ACC7A8FF3C7A}">
      <dgm:prSet phldrT="[Texto]"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Agendar Treinamento</a:t>
          </a:r>
          <a:endParaRPr lang="pt-BR" sz="1600" dirty="0">
            <a:solidFill>
              <a:schemeClr val="tx1"/>
            </a:solidFill>
          </a:endParaRPr>
        </a:p>
      </dgm:t>
    </dgm:pt>
    <dgm:pt modelId="{EC831172-73BC-4C5C-8F9A-8B7ED0243339}" type="parTrans" cxnId="{EABAD706-69E9-4CE5-9234-1DC052EDA518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E1873D02-C9CF-43A8-BAD7-85FA9814A20C}" type="sibTrans" cxnId="{EABAD706-69E9-4CE5-9234-1DC052EDA518}">
      <dgm:prSet custT="1"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0BF2DACB-2C24-4EFC-B919-873020B493FE}">
      <dgm:prSet phldrT="[Texto]"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Entregar o Procedimento</a:t>
          </a:r>
          <a:endParaRPr lang="pt-BR" sz="1600" dirty="0">
            <a:solidFill>
              <a:schemeClr val="tx1"/>
            </a:solidFill>
          </a:endParaRPr>
        </a:p>
      </dgm:t>
    </dgm:pt>
    <dgm:pt modelId="{9548037F-9B56-4E37-925F-88DAF77F46A0}" type="parTrans" cxnId="{AAF5676C-C04C-47BD-849F-625F1936B3CF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AFEB5103-CBE1-4946-8A9A-E27369DB289D}" type="sibTrans" cxnId="{AAF5676C-C04C-47BD-849F-625F1936B3CF}">
      <dgm:prSet custT="1"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E884EB16-EFCD-4057-BE46-0A1C4E369D80}">
      <dgm:prSet phldrT="[Texto]"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Realizar </a:t>
          </a:r>
          <a:r>
            <a:rPr lang="pt-BR" sz="1600" dirty="0" smtClean="0">
              <a:solidFill>
                <a:schemeClr val="tx1"/>
              </a:solidFill>
            </a:rPr>
            <a:t>a Transferência de Conhecimento</a:t>
          </a:r>
          <a:endParaRPr lang="pt-BR" sz="1600" dirty="0">
            <a:solidFill>
              <a:schemeClr val="tx1"/>
            </a:solidFill>
          </a:endParaRPr>
        </a:p>
      </dgm:t>
    </dgm:pt>
    <dgm:pt modelId="{7DC03D77-8C72-40EF-A2BA-07E9203A3C6D}" type="parTrans" cxnId="{EA2D81C4-D821-43B4-B7EB-F2193EE7DE7B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BFCA82AF-5D9B-4DC2-8BA3-FE42C0541EA9}" type="sibTrans" cxnId="{EA2D81C4-D821-43B4-B7EB-F2193EE7DE7B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255ABFB3-7EBB-46A7-9373-1667F10CB6A7}" type="pres">
      <dgm:prSet presAssocID="{7E78A217-9E2D-4695-B082-5A8EC238B90C}" presName="Name0" presStyleCnt="0">
        <dgm:presLayoutVars>
          <dgm:dir/>
          <dgm:resizeHandles val="exact"/>
        </dgm:presLayoutVars>
      </dgm:prSet>
      <dgm:spPr/>
    </dgm:pt>
    <dgm:pt modelId="{9126C4A6-A53D-43C7-B8DA-866D7F34FF9D}" type="pres">
      <dgm:prSet presAssocID="{143725E8-7758-4A54-92CA-ACC7A8FF3C7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74226EF-CAC3-473F-BF9A-376481090F43}" type="pres">
      <dgm:prSet presAssocID="{E1873D02-C9CF-43A8-BAD7-85FA9814A20C}" presName="sibTrans" presStyleLbl="sibTrans2D1" presStyleIdx="0" presStyleCnt="2"/>
      <dgm:spPr/>
      <dgm:t>
        <a:bodyPr/>
        <a:lstStyle/>
        <a:p>
          <a:endParaRPr lang="pt-BR"/>
        </a:p>
      </dgm:t>
    </dgm:pt>
    <dgm:pt modelId="{3FAE23C5-A1CB-42A9-BC41-EFFC71CF3650}" type="pres">
      <dgm:prSet presAssocID="{E1873D02-C9CF-43A8-BAD7-85FA9814A20C}" presName="connectorText" presStyleLbl="sibTrans2D1" presStyleIdx="0" presStyleCnt="2"/>
      <dgm:spPr/>
      <dgm:t>
        <a:bodyPr/>
        <a:lstStyle/>
        <a:p>
          <a:endParaRPr lang="pt-BR"/>
        </a:p>
      </dgm:t>
    </dgm:pt>
    <dgm:pt modelId="{37A42FAF-115C-4913-A178-8B5865F5D11C}" type="pres">
      <dgm:prSet presAssocID="{0BF2DACB-2C24-4EFC-B919-873020B493FE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AE98FC7-0295-4C1E-B7F0-39B38BF1AE49}" type="pres">
      <dgm:prSet presAssocID="{AFEB5103-CBE1-4946-8A9A-E27369DB289D}" presName="sibTrans" presStyleLbl="sibTrans2D1" presStyleIdx="1" presStyleCnt="2"/>
      <dgm:spPr/>
      <dgm:t>
        <a:bodyPr/>
        <a:lstStyle/>
        <a:p>
          <a:endParaRPr lang="pt-BR"/>
        </a:p>
      </dgm:t>
    </dgm:pt>
    <dgm:pt modelId="{E6DE990F-281D-4659-99B4-6C275549643E}" type="pres">
      <dgm:prSet presAssocID="{AFEB5103-CBE1-4946-8A9A-E27369DB289D}" presName="connectorText" presStyleLbl="sibTrans2D1" presStyleIdx="1" presStyleCnt="2"/>
      <dgm:spPr/>
      <dgm:t>
        <a:bodyPr/>
        <a:lstStyle/>
        <a:p>
          <a:endParaRPr lang="pt-BR"/>
        </a:p>
      </dgm:t>
    </dgm:pt>
    <dgm:pt modelId="{D3138E2B-3D08-4FFF-A688-C6D3820B6C44}" type="pres">
      <dgm:prSet presAssocID="{E884EB16-EFCD-4057-BE46-0A1C4E369D8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726539D-4046-4E9D-97C7-3F12936AA91C}" type="presOf" srcId="{0BF2DACB-2C24-4EFC-B919-873020B493FE}" destId="{37A42FAF-115C-4913-A178-8B5865F5D11C}" srcOrd="0" destOrd="0" presId="urn:microsoft.com/office/officeart/2005/8/layout/process1"/>
    <dgm:cxn modelId="{E5A2139A-3513-4EA1-A047-7A0F845301BE}" type="presOf" srcId="{E1873D02-C9CF-43A8-BAD7-85FA9814A20C}" destId="{774226EF-CAC3-473F-BF9A-376481090F43}" srcOrd="0" destOrd="0" presId="urn:microsoft.com/office/officeart/2005/8/layout/process1"/>
    <dgm:cxn modelId="{EA2D81C4-D821-43B4-B7EB-F2193EE7DE7B}" srcId="{7E78A217-9E2D-4695-B082-5A8EC238B90C}" destId="{E884EB16-EFCD-4057-BE46-0A1C4E369D80}" srcOrd="2" destOrd="0" parTransId="{7DC03D77-8C72-40EF-A2BA-07E9203A3C6D}" sibTransId="{BFCA82AF-5D9B-4DC2-8BA3-FE42C0541EA9}"/>
    <dgm:cxn modelId="{BE5670A3-58DA-4177-A151-FC83FC09009C}" type="presOf" srcId="{E884EB16-EFCD-4057-BE46-0A1C4E369D80}" destId="{D3138E2B-3D08-4FFF-A688-C6D3820B6C44}" srcOrd="0" destOrd="0" presId="urn:microsoft.com/office/officeart/2005/8/layout/process1"/>
    <dgm:cxn modelId="{913AFBC5-BB2A-4C2B-8ABB-C98E31E83840}" type="presOf" srcId="{AFEB5103-CBE1-4946-8A9A-E27369DB289D}" destId="{E6DE990F-281D-4659-99B4-6C275549643E}" srcOrd="1" destOrd="0" presId="urn:microsoft.com/office/officeart/2005/8/layout/process1"/>
    <dgm:cxn modelId="{C6763728-BF7B-4256-BAAB-5EA0FF042F82}" type="presOf" srcId="{143725E8-7758-4A54-92CA-ACC7A8FF3C7A}" destId="{9126C4A6-A53D-43C7-B8DA-866D7F34FF9D}" srcOrd="0" destOrd="0" presId="urn:microsoft.com/office/officeart/2005/8/layout/process1"/>
    <dgm:cxn modelId="{7891E32C-F0D1-4678-82D7-53690BDF92E2}" type="presOf" srcId="{7E78A217-9E2D-4695-B082-5A8EC238B90C}" destId="{255ABFB3-7EBB-46A7-9373-1667F10CB6A7}" srcOrd="0" destOrd="0" presId="urn:microsoft.com/office/officeart/2005/8/layout/process1"/>
    <dgm:cxn modelId="{98D50B1A-B440-4C96-A5B2-F657168FBFBC}" type="presOf" srcId="{AFEB5103-CBE1-4946-8A9A-E27369DB289D}" destId="{BAE98FC7-0295-4C1E-B7F0-39B38BF1AE49}" srcOrd="0" destOrd="0" presId="urn:microsoft.com/office/officeart/2005/8/layout/process1"/>
    <dgm:cxn modelId="{EC89ECAA-77C3-42EE-BDF5-F95F6FCF0789}" type="presOf" srcId="{E1873D02-C9CF-43A8-BAD7-85FA9814A20C}" destId="{3FAE23C5-A1CB-42A9-BC41-EFFC71CF3650}" srcOrd="1" destOrd="0" presId="urn:microsoft.com/office/officeart/2005/8/layout/process1"/>
    <dgm:cxn modelId="{AAF5676C-C04C-47BD-849F-625F1936B3CF}" srcId="{7E78A217-9E2D-4695-B082-5A8EC238B90C}" destId="{0BF2DACB-2C24-4EFC-B919-873020B493FE}" srcOrd="1" destOrd="0" parTransId="{9548037F-9B56-4E37-925F-88DAF77F46A0}" sibTransId="{AFEB5103-CBE1-4946-8A9A-E27369DB289D}"/>
    <dgm:cxn modelId="{EABAD706-69E9-4CE5-9234-1DC052EDA518}" srcId="{7E78A217-9E2D-4695-B082-5A8EC238B90C}" destId="{143725E8-7758-4A54-92CA-ACC7A8FF3C7A}" srcOrd="0" destOrd="0" parTransId="{EC831172-73BC-4C5C-8F9A-8B7ED0243339}" sibTransId="{E1873D02-C9CF-43A8-BAD7-85FA9814A20C}"/>
    <dgm:cxn modelId="{1B434832-80EE-4D75-933F-7802D1A9D9B0}" type="presParOf" srcId="{255ABFB3-7EBB-46A7-9373-1667F10CB6A7}" destId="{9126C4A6-A53D-43C7-B8DA-866D7F34FF9D}" srcOrd="0" destOrd="0" presId="urn:microsoft.com/office/officeart/2005/8/layout/process1"/>
    <dgm:cxn modelId="{4D5D005C-F36A-4595-BAFE-5C27214E16F5}" type="presParOf" srcId="{255ABFB3-7EBB-46A7-9373-1667F10CB6A7}" destId="{774226EF-CAC3-473F-BF9A-376481090F43}" srcOrd="1" destOrd="0" presId="urn:microsoft.com/office/officeart/2005/8/layout/process1"/>
    <dgm:cxn modelId="{0339B196-25D7-4F60-84D7-DE8BBABD21EB}" type="presParOf" srcId="{774226EF-CAC3-473F-BF9A-376481090F43}" destId="{3FAE23C5-A1CB-42A9-BC41-EFFC71CF3650}" srcOrd="0" destOrd="0" presId="urn:microsoft.com/office/officeart/2005/8/layout/process1"/>
    <dgm:cxn modelId="{58DE53C5-7F06-4DF7-A9CF-6E40678736BF}" type="presParOf" srcId="{255ABFB3-7EBB-46A7-9373-1667F10CB6A7}" destId="{37A42FAF-115C-4913-A178-8B5865F5D11C}" srcOrd="2" destOrd="0" presId="urn:microsoft.com/office/officeart/2005/8/layout/process1"/>
    <dgm:cxn modelId="{648E1EEC-3C76-459A-B45C-04B2662F3C00}" type="presParOf" srcId="{255ABFB3-7EBB-46A7-9373-1667F10CB6A7}" destId="{BAE98FC7-0295-4C1E-B7F0-39B38BF1AE49}" srcOrd="3" destOrd="0" presId="urn:microsoft.com/office/officeart/2005/8/layout/process1"/>
    <dgm:cxn modelId="{977DFE4F-8033-4B3A-AE3B-4867AFB56DE0}" type="presParOf" srcId="{BAE98FC7-0295-4C1E-B7F0-39B38BF1AE49}" destId="{E6DE990F-281D-4659-99B4-6C275549643E}" srcOrd="0" destOrd="0" presId="urn:microsoft.com/office/officeart/2005/8/layout/process1"/>
    <dgm:cxn modelId="{38DC331A-6547-4D39-A6DB-64A5C024BDBF}" type="presParOf" srcId="{255ABFB3-7EBB-46A7-9373-1667F10CB6A7}" destId="{D3138E2B-3D08-4FFF-A688-C6D3820B6C4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78A217-9E2D-4695-B082-5A8EC238B90C}" type="doc">
      <dgm:prSet loTypeId="urn:microsoft.com/office/officeart/2005/8/layout/process1" loCatId="process" qsTypeId="urn:microsoft.com/office/officeart/2005/8/quickstyle/simple1" qsCatId="simple" csTypeId="urn:microsoft.com/office/officeart/2005/8/colors/accent4_5" csCatId="accent4" phldr="1"/>
      <dgm:spPr/>
    </dgm:pt>
    <dgm:pt modelId="{143725E8-7758-4A54-92CA-ACC7A8FF3C7A}">
      <dgm:prSet phldrT="[Texto]"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Agendar Treinamento</a:t>
          </a:r>
          <a:endParaRPr lang="pt-BR" sz="1600" dirty="0">
            <a:solidFill>
              <a:schemeClr val="tx1"/>
            </a:solidFill>
          </a:endParaRPr>
        </a:p>
      </dgm:t>
    </dgm:pt>
    <dgm:pt modelId="{EC831172-73BC-4C5C-8F9A-8B7ED0243339}" type="parTrans" cxnId="{EABAD706-69E9-4CE5-9234-1DC052EDA518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E1873D02-C9CF-43A8-BAD7-85FA9814A20C}" type="sibTrans" cxnId="{EABAD706-69E9-4CE5-9234-1DC052EDA518}">
      <dgm:prSet custT="1"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0BF2DACB-2C24-4EFC-B919-873020B493FE}">
      <dgm:prSet phldrT="[Texto]"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Entregar o Procedimento</a:t>
          </a:r>
          <a:endParaRPr lang="pt-BR" sz="1600" dirty="0">
            <a:solidFill>
              <a:schemeClr val="tx1"/>
            </a:solidFill>
          </a:endParaRPr>
        </a:p>
      </dgm:t>
    </dgm:pt>
    <dgm:pt modelId="{9548037F-9B56-4E37-925F-88DAF77F46A0}" type="parTrans" cxnId="{AAF5676C-C04C-47BD-849F-625F1936B3CF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AFEB5103-CBE1-4946-8A9A-E27369DB289D}" type="sibTrans" cxnId="{AAF5676C-C04C-47BD-849F-625F1936B3CF}">
      <dgm:prSet custT="1"/>
      <dgm:spPr/>
      <dgm:t>
        <a:bodyPr/>
        <a:lstStyle/>
        <a:p>
          <a:endParaRPr lang="pt-BR" sz="1400">
            <a:solidFill>
              <a:schemeClr val="tx1"/>
            </a:solidFill>
          </a:endParaRPr>
        </a:p>
      </dgm:t>
    </dgm:pt>
    <dgm:pt modelId="{E884EB16-EFCD-4057-BE46-0A1C4E369D80}">
      <dgm:prSet phldrT="[Texto]" custT="1"/>
      <dgm:spPr/>
      <dgm:t>
        <a:bodyPr/>
        <a:lstStyle/>
        <a:p>
          <a:r>
            <a:rPr lang="pt-BR" sz="1600" dirty="0" smtClean="0">
              <a:solidFill>
                <a:schemeClr val="tx1"/>
              </a:solidFill>
            </a:rPr>
            <a:t>Realizar </a:t>
          </a:r>
          <a:r>
            <a:rPr lang="pt-BR" sz="1600" dirty="0" smtClean="0">
              <a:solidFill>
                <a:schemeClr val="tx1"/>
              </a:solidFill>
            </a:rPr>
            <a:t>a Transferência de Conhecimento</a:t>
          </a:r>
          <a:endParaRPr lang="pt-BR" sz="1600" dirty="0">
            <a:solidFill>
              <a:schemeClr val="tx1"/>
            </a:solidFill>
          </a:endParaRPr>
        </a:p>
      </dgm:t>
    </dgm:pt>
    <dgm:pt modelId="{7DC03D77-8C72-40EF-A2BA-07E9203A3C6D}" type="parTrans" cxnId="{EA2D81C4-D821-43B4-B7EB-F2193EE7DE7B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BFCA82AF-5D9B-4DC2-8BA3-FE42C0541EA9}" type="sibTrans" cxnId="{EA2D81C4-D821-43B4-B7EB-F2193EE7DE7B}">
      <dgm:prSet/>
      <dgm:spPr/>
      <dgm:t>
        <a:bodyPr/>
        <a:lstStyle/>
        <a:p>
          <a:endParaRPr lang="pt-BR" sz="1200">
            <a:solidFill>
              <a:schemeClr val="tx1"/>
            </a:solidFill>
          </a:endParaRPr>
        </a:p>
      </dgm:t>
    </dgm:pt>
    <dgm:pt modelId="{255ABFB3-7EBB-46A7-9373-1667F10CB6A7}" type="pres">
      <dgm:prSet presAssocID="{7E78A217-9E2D-4695-B082-5A8EC238B90C}" presName="Name0" presStyleCnt="0">
        <dgm:presLayoutVars>
          <dgm:dir/>
          <dgm:resizeHandles val="exact"/>
        </dgm:presLayoutVars>
      </dgm:prSet>
      <dgm:spPr/>
    </dgm:pt>
    <dgm:pt modelId="{9126C4A6-A53D-43C7-B8DA-866D7F34FF9D}" type="pres">
      <dgm:prSet presAssocID="{143725E8-7758-4A54-92CA-ACC7A8FF3C7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74226EF-CAC3-473F-BF9A-376481090F43}" type="pres">
      <dgm:prSet presAssocID="{E1873D02-C9CF-43A8-BAD7-85FA9814A20C}" presName="sibTrans" presStyleLbl="sibTrans2D1" presStyleIdx="0" presStyleCnt="2"/>
      <dgm:spPr/>
      <dgm:t>
        <a:bodyPr/>
        <a:lstStyle/>
        <a:p>
          <a:endParaRPr lang="pt-BR"/>
        </a:p>
      </dgm:t>
    </dgm:pt>
    <dgm:pt modelId="{3FAE23C5-A1CB-42A9-BC41-EFFC71CF3650}" type="pres">
      <dgm:prSet presAssocID="{E1873D02-C9CF-43A8-BAD7-85FA9814A20C}" presName="connectorText" presStyleLbl="sibTrans2D1" presStyleIdx="0" presStyleCnt="2"/>
      <dgm:spPr/>
      <dgm:t>
        <a:bodyPr/>
        <a:lstStyle/>
        <a:p>
          <a:endParaRPr lang="pt-BR"/>
        </a:p>
      </dgm:t>
    </dgm:pt>
    <dgm:pt modelId="{37A42FAF-115C-4913-A178-8B5865F5D11C}" type="pres">
      <dgm:prSet presAssocID="{0BF2DACB-2C24-4EFC-B919-873020B493FE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AE98FC7-0295-4C1E-B7F0-39B38BF1AE49}" type="pres">
      <dgm:prSet presAssocID="{AFEB5103-CBE1-4946-8A9A-E27369DB289D}" presName="sibTrans" presStyleLbl="sibTrans2D1" presStyleIdx="1" presStyleCnt="2"/>
      <dgm:spPr/>
      <dgm:t>
        <a:bodyPr/>
        <a:lstStyle/>
        <a:p>
          <a:endParaRPr lang="pt-BR"/>
        </a:p>
      </dgm:t>
    </dgm:pt>
    <dgm:pt modelId="{E6DE990F-281D-4659-99B4-6C275549643E}" type="pres">
      <dgm:prSet presAssocID="{AFEB5103-CBE1-4946-8A9A-E27369DB289D}" presName="connectorText" presStyleLbl="sibTrans2D1" presStyleIdx="1" presStyleCnt="2"/>
      <dgm:spPr/>
      <dgm:t>
        <a:bodyPr/>
        <a:lstStyle/>
        <a:p>
          <a:endParaRPr lang="pt-BR"/>
        </a:p>
      </dgm:t>
    </dgm:pt>
    <dgm:pt modelId="{D3138E2B-3D08-4FFF-A688-C6D3820B6C44}" type="pres">
      <dgm:prSet presAssocID="{E884EB16-EFCD-4057-BE46-0A1C4E369D8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D73337B-64D9-4891-B6A9-66E512401414}" type="presOf" srcId="{7E78A217-9E2D-4695-B082-5A8EC238B90C}" destId="{255ABFB3-7EBB-46A7-9373-1667F10CB6A7}" srcOrd="0" destOrd="0" presId="urn:microsoft.com/office/officeart/2005/8/layout/process1"/>
    <dgm:cxn modelId="{86F25C4E-00B9-4F24-978A-A62C417103DF}" type="presOf" srcId="{E884EB16-EFCD-4057-BE46-0A1C4E369D80}" destId="{D3138E2B-3D08-4FFF-A688-C6D3820B6C44}" srcOrd="0" destOrd="0" presId="urn:microsoft.com/office/officeart/2005/8/layout/process1"/>
    <dgm:cxn modelId="{C47DC080-0F99-4896-BB0C-00FDAF448F03}" type="presOf" srcId="{0BF2DACB-2C24-4EFC-B919-873020B493FE}" destId="{37A42FAF-115C-4913-A178-8B5865F5D11C}" srcOrd="0" destOrd="0" presId="urn:microsoft.com/office/officeart/2005/8/layout/process1"/>
    <dgm:cxn modelId="{000DB237-0C47-43F7-A656-6FFABABF4EAC}" type="presOf" srcId="{AFEB5103-CBE1-4946-8A9A-E27369DB289D}" destId="{E6DE990F-281D-4659-99B4-6C275549643E}" srcOrd="1" destOrd="0" presId="urn:microsoft.com/office/officeart/2005/8/layout/process1"/>
    <dgm:cxn modelId="{EA2D81C4-D821-43B4-B7EB-F2193EE7DE7B}" srcId="{7E78A217-9E2D-4695-B082-5A8EC238B90C}" destId="{E884EB16-EFCD-4057-BE46-0A1C4E369D80}" srcOrd="2" destOrd="0" parTransId="{7DC03D77-8C72-40EF-A2BA-07E9203A3C6D}" sibTransId="{BFCA82AF-5D9B-4DC2-8BA3-FE42C0541EA9}"/>
    <dgm:cxn modelId="{D82467D1-86A1-4F1A-A59A-694EB37A6958}" type="presOf" srcId="{E1873D02-C9CF-43A8-BAD7-85FA9814A20C}" destId="{774226EF-CAC3-473F-BF9A-376481090F43}" srcOrd="0" destOrd="0" presId="urn:microsoft.com/office/officeart/2005/8/layout/process1"/>
    <dgm:cxn modelId="{A72EBF7F-2F58-4150-B45D-B54525C9EE93}" type="presOf" srcId="{E1873D02-C9CF-43A8-BAD7-85FA9814A20C}" destId="{3FAE23C5-A1CB-42A9-BC41-EFFC71CF3650}" srcOrd="1" destOrd="0" presId="urn:microsoft.com/office/officeart/2005/8/layout/process1"/>
    <dgm:cxn modelId="{9483B85E-DD70-4437-82C4-D5FA5E520D5E}" type="presOf" srcId="{AFEB5103-CBE1-4946-8A9A-E27369DB289D}" destId="{BAE98FC7-0295-4C1E-B7F0-39B38BF1AE49}" srcOrd="0" destOrd="0" presId="urn:microsoft.com/office/officeart/2005/8/layout/process1"/>
    <dgm:cxn modelId="{1C2E079A-A8F4-4E1C-A75D-7AC4BC31D213}" type="presOf" srcId="{143725E8-7758-4A54-92CA-ACC7A8FF3C7A}" destId="{9126C4A6-A53D-43C7-B8DA-866D7F34FF9D}" srcOrd="0" destOrd="0" presId="urn:microsoft.com/office/officeart/2005/8/layout/process1"/>
    <dgm:cxn modelId="{AAF5676C-C04C-47BD-849F-625F1936B3CF}" srcId="{7E78A217-9E2D-4695-B082-5A8EC238B90C}" destId="{0BF2DACB-2C24-4EFC-B919-873020B493FE}" srcOrd="1" destOrd="0" parTransId="{9548037F-9B56-4E37-925F-88DAF77F46A0}" sibTransId="{AFEB5103-CBE1-4946-8A9A-E27369DB289D}"/>
    <dgm:cxn modelId="{EABAD706-69E9-4CE5-9234-1DC052EDA518}" srcId="{7E78A217-9E2D-4695-B082-5A8EC238B90C}" destId="{143725E8-7758-4A54-92CA-ACC7A8FF3C7A}" srcOrd="0" destOrd="0" parTransId="{EC831172-73BC-4C5C-8F9A-8B7ED0243339}" sibTransId="{E1873D02-C9CF-43A8-BAD7-85FA9814A20C}"/>
    <dgm:cxn modelId="{3686ACEB-C137-4499-B51D-659A10F597D9}" type="presParOf" srcId="{255ABFB3-7EBB-46A7-9373-1667F10CB6A7}" destId="{9126C4A6-A53D-43C7-B8DA-866D7F34FF9D}" srcOrd="0" destOrd="0" presId="urn:microsoft.com/office/officeart/2005/8/layout/process1"/>
    <dgm:cxn modelId="{2B868C04-3F1A-47DD-B664-C2C99B2F69FC}" type="presParOf" srcId="{255ABFB3-7EBB-46A7-9373-1667F10CB6A7}" destId="{774226EF-CAC3-473F-BF9A-376481090F43}" srcOrd="1" destOrd="0" presId="urn:microsoft.com/office/officeart/2005/8/layout/process1"/>
    <dgm:cxn modelId="{D3C5F157-A79B-452F-B980-27B93E4D31D8}" type="presParOf" srcId="{774226EF-CAC3-473F-BF9A-376481090F43}" destId="{3FAE23C5-A1CB-42A9-BC41-EFFC71CF3650}" srcOrd="0" destOrd="0" presId="urn:microsoft.com/office/officeart/2005/8/layout/process1"/>
    <dgm:cxn modelId="{01C94CA9-BB14-4EC9-A530-FA8F88C5FA82}" type="presParOf" srcId="{255ABFB3-7EBB-46A7-9373-1667F10CB6A7}" destId="{37A42FAF-115C-4913-A178-8B5865F5D11C}" srcOrd="2" destOrd="0" presId="urn:microsoft.com/office/officeart/2005/8/layout/process1"/>
    <dgm:cxn modelId="{37B2F53E-6B6D-442B-8D16-E8E249B33C06}" type="presParOf" srcId="{255ABFB3-7EBB-46A7-9373-1667F10CB6A7}" destId="{BAE98FC7-0295-4C1E-B7F0-39B38BF1AE49}" srcOrd="3" destOrd="0" presId="urn:microsoft.com/office/officeart/2005/8/layout/process1"/>
    <dgm:cxn modelId="{38572430-7C47-41C2-A919-291D1791E783}" type="presParOf" srcId="{BAE98FC7-0295-4C1E-B7F0-39B38BF1AE49}" destId="{E6DE990F-281D-4659-99B4-6C275549643E}" srcOrd="0" destOrd="0" presId="urn:microsoft.com/office/officeart/2005/8/layout/process1"/>
    <dgm:cxn modelId="{0D440C29-1953-47EA-981E-7A8C72C784DD}" type="presParOf" srcId="{255ABFB3-7EBB-46A7-9373-1667F10CB6A7}" destId="{D3138E2B-3D08-4FFF-A688-C6D3820B6C4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6C4A6-A53D-43C7-B8DA-866D7F34FF9D}">
      <dsp:nvSpPr>
        <dsp:cNvPr id="0" name=""/>
        <dsp:cNvSpPr/>
      </dsp:nvSpPr>
      <dsp:spPr>
        <a:xfrm>
          <a:off x="7184" y="0"/>
          <a:ext cx="2147436" cy="62872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Agendar Treinamento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25599" y="18415"/>
        <a:ext cx="2110606" cy="591890"/>
      </dsp:txXfrm>
    </dsp:sp>
    <dsp:sp modelId="{774226EF-CAC3-473F-BF9A-376481090F43}">
      <dsp:nvSpPr>
        <dsp:cNvPr id="0" name=""/>
        <dsp:cNvSpPr/>
      </dsp:nvSpPr>
      <dsp:spPr>
        <a:xfrm>
          <a:off x="2369364" y="48077"/>
          <a:ext cx="455256" cy="532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>
            <a:solidFill>
              <a:schemeClr val="tx1"/>
            </a:solidFill>
          </a:endParaRPr>
        </a:p>
      </dsp:txBody>
      <dsp:txXfrm>
        <a:off x="2369364" y="154590"/>
        <a:ext cx="318679" cy="319538"/>
      </dsp:txXfrm>
    </dsp:sp>
    <dsp:sp modelId="{37A42FAF-115C-4913-A178-8B5865F5D11C}">
      <dsp:nvSpPr>
        <dsp:cNvPr id="0" name=""/>
        <dsp:cNvSpPr/>
      </dsp:nvSpPr>
      <dsp:spPr>
        <a:xfrm>
          <a:off x="3013595" y="0"/>
          <a:ext cx="2147436" cy="62872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Entregar o Procedimento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3032010" y="18415"/>
        <a:ext cx="2110606" cy="591890"/>
      </dsp:txXfrm>
    </dsp:sp>
    <dsp:sp modelId="{BAE98FC7-0295-4C1E-B7F0-39B38BF1AE49}">
      <dsp:nvSpPr>
        <dsp:cNvPr id="0" name=""/>
        <dsp:cNvSpPr/>
      </dsp:nvSpPr>
      <dsp:spPr>
        <a:xfrm>
          <a:off x="5375775" y="48077"/>
          <a:ext cx="455256" cy="532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-217566"/>
            <a:satOff val="-5929"/>
            <a:lumOff val="320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>
            <a:solidFill>
              <a:schemeClr val="tx1"/>
            </a:solidFill>
          </a:endParaRPr>
        </a:p>
      </dsp:txBody>
      <dsp:txXfrm>
        <a:off x="5375775" y="154590"/>
        <a:ext cx="318679" cy="319538"/>
      </dsp:txXfrm>
    </dsp:sp>
    <dsp:sp modelId="{D3138E2B-3D08-4FFF-A688-C6D3820B6C44}">
      <dsp:nvSpPr>
        <dsp:cNvPr id="0" name=""/>
        <dsp:cNvSpPr/>
      </dsp:nvSpPr>
      <dsp:spPr>
        <a:xfrm>
          <a:off x="6020006" y="0"/>
          <a:ext cx="2147436" cy="62872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Realizar </a:t>
          </a:r>
          <a:r>
            <a:rPr lang="pt-BR" sz="1600" kern="1200" dirty="0" smtClean="0">
              <a:solidFill>
                <a:schemeClr val="tx1"/>
              </a:solidFill>
            </a:rPr>
            <a:t>a Transferência de Conhecimento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6038421" y="18415"/>
        <a:ext cx="2110606" cy="591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6C4A6-A53D-43C7-B8DA-866D7F34FF9D}">
      <dsp:nvSpPr>
        <dsp:cNvPr id="0" name=""/>
        <dsp:cNvSpPr/>
      </dsp:nvSpPr>
      <dsp:spPr>
        <a:xfrm>
          <a:off x="7184" y="0"/>
          <a:ext cx="2147436" cy="62872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Agendar Treinamento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25599" y="18415"/>
        <a:ext cx="2110606" cy="591890"/>
      </dsp:txXfrm>
    </dsp:sp>
    <dsp:sp modelId="{774226EF-CAC3-473F-BF9A-376481090F43}">
      <dsp:nvSpPr>
        <dsp:cNvPr id="0" name=""/>
        <dsp:cNvSpPr/>
      </dsp:nvSpPr>
      <dsp:spPr>
        <a:xfrm>
          <a:off x="2369364" y="48077"/>
          <a:ext cx="455256" cy="532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>
            <a:solidFill>
              <a:schemeClr val="tx1"/>
            </a:solidFill>
          </a:endParaRPr>
        </a:p>
      </dsp:txBody>
      <dsp:txXfrm>
        <a:off x="2369364" y="154590"/>
        <a:ext cx="318679" cy="319538"/>
      </dsp:txXfrm>
    </dsp:sp>
    <dsp:sp modelId="{37A42FAF-115C-4913-A178-8B5865F5D11C}">
      <dsp:nvSpPr>
        <dsp:cNvPr id="0" name=""/>
        <dsp:cNvSpPr/>
      </dsp:nvSpPr>
      <dsp:spPr>
        <a:xfrm>
          <a:off x="3013595" y="0"/>
          <a:ext cx="2147436" cy="62872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Entregar o Procedimento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3032010" y="18415"/>
        <a:ext cx="2110606" cy="591890"/>
      </dsp:txXfrm>
    </dsp:sp>
    <dsp:sp modelId="{BAE98FC7-0295-4C1E-B7F0-39B38BF1AE49}">
      <dsp:nvSpPr>
        <dsp:cNvPr id="0" name=""/>
        <dsp:cNvSpPr/>
      </dsp:nvSpPr>
      <dsp:spPr>
        <a:xfrm>
          <a:off x="5375775" y="48077"/>
          <a:ext cx="455256" cy="532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-217566"/>
            <a:satOff val="-5929"/>
            <a:lumOff val="320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400" kern="1200">
            <a:solidFill>
              <a:schemeClr val="tx1"/>
            </a:solidFill>
          </a:endParaRPr>
        </a:p>
      </dsp:txBody>
      <dsp:txXfrm>
        <a:off x="5375775" y="154590"/>
        <a:ext cx="318679" cy="319538"/>
      </dsp:txXfrm>
    </dsp:sp>
    <dsp:sp modelId="{D3138E2B-3D08-4FFF-A688-C6D3820B6C44}">
      <dsp:nvSpPr>
        <dsp:cNvPr id="0" name=""/>
        <dsp:cNvSpPr/>
      </dsp:nvSpPr>
      <dsp:spPr>
        <a:xfrm>
          <a:off x="6020006" y="0"/>
          <a:ext cx="2147436" cy="62872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>
              <a:solidFill>
                <a:schemeClr val="tx1"/>
              </a:solidFill>
            </a:rPr>
            <a:t>Realizar </a:t>
          </a:r>
          <a:r>
            <a:rPr lang="pt-BR" sz="1600" kern="1200" dirty="0" smtClean="0">
              <a:solidFill>
                <a:schemeClr val="tx1"/>
              </a:solidFill>
            </a:rPr>
            <a:t>a Transferência de Conhecimento</a:t>
          </a:r>
          <a:endParaRPr lang="pt-BR" sz="1600" kern="1200" dirty="0">
            <a:solidFill>
              <a:schemeClr val="tx1"/>
            </a:solidFill>
          </a:endParaRPr>
        </a:p>
      </dsp:txBody>
      <dsp:txXfrm>
        <a:off x="6038421" y="18415"/>
        <a:ext cx="2110606" cy="591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295DE-75AE-4726-9F6E-139FDEE712F1}" type="datetimeFigureOut">
              <a:rPr lang="pt-BR" smtClean="0"/>
              <a:t>21/11/2016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A573A-2955-4B78-88F6-99A7D4FDE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34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/>
          <p:nvPr/>
        </p:nvSpPr>
        <p:spPr>
          <a:xfrm>
            <a:off x="-1259" y="-1"/>
            <a:ext cx="5762090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287" y="3276362"/>
            <a:ext cx="1994072" cy="78751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8157" y="1799397"/>
            <a:ext cx="583624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KT</a:t>
            </a:r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Transferência </a:t>
            </a:r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 Conhecimento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</a:t>
            </a:r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de </a:t>
            </a:r>
            <a:r>
              <a:rPr lang="pt-BR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TI e </a:t>
            </a:r>
            <a:r>
              <a:rPr lang="pt-BR" sz="2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Infraestutura</a:t>
            </a:r>
            <a:endParaRPr lang="pt-B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</a:t>
            </a:r>
            <a:r>
              <a:rPr lang="pt-BR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21-11-2016</a:t>
            </a:r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1026" name="Picture 2" descr="Resultado de imagem para passagem de conhecimen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06" y="4746172"/>
            <a:ext cx="3536194" cy="20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609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62947" y="413591"/>
            <a:ext cx="821810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169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6553199" y="6074780"/>
            <a:ext cx="2133601" cy="33000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3785622" y="1350094"/>
            <a:ext cx="5531335" cy="650745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1" name="Retângulo de cantos arredondados 8"/>
          <p:cNvSpPr/>
          <p:nvPr/>
        </p:nvSpPr>
        <p:spPr>
          <a:xfrm>
            <a:off x="3785622" y="2283838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e Premissas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83" y="2713950"/>
            <a:ext cx="2351340" cy="211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72484" y="2616557"/>
            <a:ext cx="1347677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92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2892" dirty="0"/>
          </a:p>
        </p:txBody>
      </p:sp>
      <p:sp>
        <p:nvSpPr>
          <p:cNvPr id="12" name="Retângulo de cantos arredondados 8"/>
          <p:cNvSpPr/>
          <p:nvPr/>
        </p:nvSpPr>
        <p:spPr>
          <a:xfrm>
            <a:off x="3792882" y="316195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- Projeto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8"/>
          <p:cNvSpPr/>
          <p:nvPr/>
        </p:nvSpPr>
        <p:spPr>
          <a:xfrm>
            <a:off x="3778362" y="3965099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– Melhoria ou BUG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3785622" y="4843215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Publicação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3821910" y="5648756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Estrutura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122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93300" y="2210970"/>
            <a:ext cx="3716787" cy="341290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0294" lvl="1" indent="-260294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Wingdings" panose="05000000000000000000" pitchFamily="2" charset="2"/>
              <a:buChar char="q"/>
            </a:pP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446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</a:t>
            </a:r>
            <a:r>
              <a:rPr lang="pt-BR" sz="1446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</a:t>
            </a:r>
            <a:r>
              <a:rPr lang="pt-BR" sz="1446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Transferência </a:t>
            </a:r>
            <a:r>
              <a:rPr lang="pt-BR" sz="1446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Conhecimento dos Projetos e Melhorias para a equipe de Operações de TI.</a:t>
            </a:r>
            <a:endParaRPr lang="pt-BR" sz="1446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0294" lvl="1" indent="-260294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Wingdings" panose="05000000000000000000" pitchFamily="2" charset="2"/>
              <a:buChar char="q"/>
            </a:pP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446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39401" y="1684131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446" i="1" dirty="0"/>
          </a:p>
        </p:txBody>
      </p:sp>
      <p:sp>
        <p:nvSpPr>
          <p:cNvPr id="16" name="Retângulo 15"/>
          <p:cNvSpPr/>
          <p:nvPr/>
        </p:nvSpPr>
        <p:spPr>
          <a:xfrm>
            <a:off x="4960901" y="3033465"/>
            <a:ext cx="3716787" cy="218272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0294" lvl="1" indent="-260294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Wingdings" panose="05000000000000000000" pitchFamily="2" charset="2"/>
              <a:buChar char="q"/>
            </a:pPr>
            <a:r>
              <a:rPr lang="pt-BR" sz="1446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Redução do </a:t>
            </a:r>
            <a:r>
              <a:rPr lang="pt-BR" sz="1446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446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446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446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60294" lvl="1" indent="-260294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Wingdings" panose="05000000000000000000" pitchFamily="2" charset="2"/>
              <a:buChar char="q"/>
            </a:pPr>
            <a:r>
              <a:rPr lang="pt-BR" sz="1446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</a:t>
            </a:r>
            <a:r>
              <a:rPr lang="pt-BR" sz="1446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</a:t>
            </a:r>
            <a:r>
              <a:rPr lang="pt-BR" sz="1446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Transferência </a:t>
            </a:r>
            <a:r>
              <a:rPr lang="pt-BR" sz="1446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Conhecimento (KT)</a:t>
            </a:r>
            <a:r>
              <a:rPr lang="pt-BR" sz="1446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como parte do caminho que resultará no </a:t>
            </a:r>
            <a:r>
              <a:rPr lang="pt-BR" sz="1446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446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4907003" y="2506626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402835" y="3833240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</p:spTree>
    <p:extLst>
      <p:ext uri="{BB962C8B-B14F-4D97-AF65-F5344CB8AC3E}">
        <p14:creationId xmlns:p14="http://schemas.microsoft.com/office/powerpoint/2010/main" val="1109932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62947" y="413591"/>
            <a:ext cx="821810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169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6553199" y="6074780"/>
            <a:ext cx="2133601" cy="33000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3785622" y="135009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1" name="Retângulo de cantos arredondados 8"/>
          <p:cNvSpPr/>
          <p:nvPr/>
        </p:nvSpPr>
        <p:spPr>
          <a:xfrm>
            <a:off x="3785622" y="2283838"/>
            <a:ext cx="5531335" cy="650745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e Premissas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83" y="2713950"/>
            <a:ext cx="2351340" cy="211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72484" y="2616557"/>
            <a:ext cx="1347677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92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2892" dirty="0"/>
          </a:p>
        </p:txBody>
      </p:sp>
      <p:sp>
        <p:nvSpPr>
          <p:cNvPr id="12" name="Retângulo de cantos arredondados 8"/>
          <p:cNvSpPr/>
          <p:nvPr/>
        </p:nvSpPr>
        <p:spPr>
          <a:xfrm>
            <a:off x="3792882" y="316195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- Projeto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8"/>
          <p:cNvSpPr/>
          <p:nvPr/>
        </p:nvSpPr>
        <p:spPr>
          <a:xfrm>
            <a:off x="3778362" y="3965099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– Melhoria ou BUG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3785622" y="4843215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Publicação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3821910" y="5648756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Estrutura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078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104095" y="448026"/>
            <a:ext cx="4935812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Benefícios e Premissas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4" name="Fluxograma: Processo 143"/>
          <p:cNvSpPr/>
          <p:nvPr/>
        </p:nvSpPr>
        <p:spPr>
          <a:xfrm>
            <a:off x="671431" y="1371868"/>
            <a:ext cx="3676396" cy="4826927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258261" indent="-258261">
              <a:spcAft>
                <a:spcPts val="1627"/>
              </a:spcAft>
              <a:buFont typeface="Arial" panose="020B0604020202020204" pitchFamily="34" charset="0"/>
              <a:buChar char="•"/>
            </a:pPr>
            <a:endParaRPr lang="pt-BR" sz="1627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8261" indent="-258261">
              <a:spcAft>
                <a:spcPts val="1627"/>
              </a:spcAft>
              <a:buFont typeface="Arial" panose="020B0604020202020204" pitchFamily="34" charset="0"/>
              <a:buChar char="•"/>
            </a:pPr>
            <a:endParaRPr lang="pt-BR" sz="1627" b="1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8261" indent="-258261">
              <a:spcAft>
                <a:spcPts val="1627"/>
              </a:spcAft>
              <a:buFont typeface="Arial" panose="020B0604020202020204" pitchFamily="34" charset="0"/>
              <a:buChar char="•"/>
            </a:pPr>
            <a:r>
              <a:rPr lang="pt-BR" sz="1627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Melhorar </a:t>
            </a:r>
            <a:r>
              <a:rPr lang="pt-BR" sz="1627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627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Comunicação </a:t>
            </a: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as equipes de Projetos e Operações de TI.</a:t>
            </a:r>
            <a:endParaRPr lang="pt-BR" sz="1627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8261" indent="-258261">
              <a:spcAft>
                <a:spcPts val="1627"/>
              </a:spcAft>
              <a:buFont typeface="Arial" panose="020B0604020202020204" pitchFamily="34" charset="0"/>
              <a:buChar char="•"/>
            </a:pP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Melhorar a </a:t>
            </a:r>
            <a:r>
              <a:rPr lang="pt-BR" sz="1627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pt-BR" sz="1627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atisfação </a:t>
            </a: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usuários e clientes da </a:t>
            </a:r>
            <a:r>
              <a:rPr lang="pt-BR" sz="1627" dirty="0" err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58261" indent="-258261">
              <a:spcAft>
                <a:spcPts val="1627"/>
              </a:spcAft>
              <a:buFont typeface="Arial" panose="020B0604020202020204" pitchFamily="34" charset="0"/>
              <a:buChar char="•"/>
            </a:pP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Garantir que o </a:t>
            </a:r>
            <a:r>
              <a:rPr lang="pt-BR" sz="1627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Conhecimento</a:t>
            </a: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seja repassado para a equipe de Operações de TI, </a:t>
            </a:r>
            <a:r>
              <a:rPr lang="pt-BR" sz="1627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aumentando a agilidade no atendimento </a:t>
            </a: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dos chamados e </a:t>
            </a:r>
            <a:r>
              <a:rPr lang="pt-BR" sz="1627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reduzindo o tempo de indisponibilidade</a:t>
            </a:r>
            <a:r>
              <a:rPr lang="pt-BR" sz="1627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dos serviços e sistemas.</a:t>
            </a:r>
            <a:endParaRPr lang="pt-BR" sz="1627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627"/>
              </a:spcAft>
            </a:pPr>
            <a:endParaRPr lang="pt-BR" sz="1627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Fluxograma: Processo 7"/>
          <p:cNvSpPr/>
          <p:nvPr/>
        </p:nvSpPr>
        <p:spPr>
          <a:xfrm>
            <a:off x="4976645" y="1371868"/>
            <a:ext cx="3676396" cy="4826927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Realizar </a:t>
            </a:r>
            <a:r>
              <a:rPr lang="pt-BR" sz="1600" dirty="0" smtClean="0">
                <a:solidFill>
                  <a:schemeClr val="tx1"/>
                </a:solidFill>
              </a:rPr>
              <a:t>a </a:t>
            </a:r>
            <a:r>
              <a:rPr lang="pt-BR" sz="1600" b="1" dirty="0" smtClean="0">
                <a:solidFill>
                  <a:schemeClr val="tx1"/>
                </a:solidFill>
              </a:rPr>
              <a:t>Transferência </a:t>
            </a:r>
            <a:r>
              <a:rPr lang="pt-BR" sz="1600" b="1" dirty="0" smtClean="0">
                <a:solidFill>
                  <a:schemeClr val="tx1"/>
                </a:solidFill>
              </a:rPr>
              <a:t>de Conhecimento </a:t>
            </a:r>
            <a:r>
              <a:rPr lang="pt-BR" sz="1600" dirty="0" smtClean="0">
                <a:solidFill>
                  <a:schemeClr val="tx1"/>
                </a:solidFill>
              </a:rPr>
              <a:t>(treinamento e procedimento) </a:t>
            </a:r>
            <a:r>
              <a:rPr lang="pt-BR" sz="1600" b="1" dirty="0" smtClean="0">
                <a:solidFill>
                  <a:schemeClr val="tx1"/>
                </a:solidFill>
              </a:rPr>
              <a:t>de </a:t>
            </a:r>
            <a:r>
              <a:rPr lang="pt-BR" sz="1600" b="1" dirty="0" smtClean="0">
                <a:solidFill>
                  <a:schemeClr val="tx1"/>
                </a:solidFill>
              </a:rPr>
              <a:t>todas </a:t>
            </a:r>
            <a:r>
              <a:rPr lang="pt-BR" sz="1600" b="1" dirty="0">
                <a:solidFill>
                  <a:schemeClr val="tx1"/>
                </a:solidFill>
              </a:rPr>
              <a:t>as </a:t>
            </a:r>
            <a:r>
              <a:rPr lang="pt-BR" sz="1600" b="1" dirty="0" smtClean="0">
                <a:solidFill>
                  <a:schemeClr val="tx1"/>
                </a:solidFill>
              </a:rPr>
              <a:t>tecnologias</a:t>
            </a:r>
            <a:r>
              <a:rPr lang="pt-BR" sz="16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tx1"/>
                </a:solidFill>
              </a:rPr>
              <a:t>A </a:t>
            </a:r>
            <a:r>
              <a:rPr lang="pt-BR" sz="1600" b="1" dirty="0" smtClean="0">
                <a:solidFill>
                  <a:schemeClr val="tx1"/>
                </a:solidFill>
              </a:rPr>
              <a:t>equipe de Operações de TI irá realizar aceite do procedimento</a:t>
            </a:r>
            <a:r>
              <a:rPr lang="pt-BR" sz="1600" dirty="0" smtClean="0">
                <a:solidFill>
                  <a:schemeClr val="tx1"/>
                </a:solidFill>
              </a:rPr>
              <a:t>. Caso não seja aceito, poderá impactar na data da equipe de Operações de TI assumir a Sustentação.</a:t>
            </a:r>
            <a:endParaRPr lang="pt-BR" sz="1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b="1" dirty="0" smtClean="0">
                <a:solidFill>
                  <a:schemeClr val="tx1"/>
                </a:solidFill>
              </a:rPr>
              <a:t>Todas as exceções devem ser negociadas</a:t>
            </a:r>
            <a:r>
              <a:rPr lang="pt-BR" sz="1600" dirty="0" smtClean="0">
                <a:solidFill>
                  <a:schemeClr val="tx1"/>
                </a:solidFill>
              </a:rPr>
              <a:t> previamente entre as equipes.</a:t>
            </a:r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618" y="1388605"/>
            <a:ext cx="618208" cy="618208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684" y="1371868"/>
            <a:ext cx="748357" cy="748357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48117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62947" y="413591"/>
            <a:ext cx="821810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169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6553199" y="6074780"/>
            <a:ext cx="2133601" cy="33000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3785622" y="135009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1" name="Retângulo de cantos arredondados 8"/>
          <p:cNvSpPr/>
          <p:nvPr/>
        </p:nvSpPr>
        <p:spPr>
          <a:xfrm>
            <a:off x="3785622" y="2283838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e Premissas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83" y="2713950"/>
            <a:ext cx="2351340" cy="211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72484" y="2616557"/>
            <a:ext cx="1347677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92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2892" dirty="0"/>
          </a:p>
        </p:txBody>
      </p:sp>
      <p:sp>
        <p:nvSpPr>
          <p:cNvPr id="12" name="Retângulo de cantos arredondados 8"/>
          <p:cNvSpPr/>
          <p:nvPr/>
        </p:nvSpPr>
        <p:spPr>
          <a:xfrm>
            <a:off x="3792882" y="3161954"/>
            <a:ext cx="5531335" cy="650745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- Projeto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8"/>
          <p:cNvSpPr/>
          <p:nvPr/>
        </p:nvSpPr>
        <p:spPr>
          <a:xfrm>
            <a:off x="3778362" y="3965099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– Melhoria ou BUG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3785622" y="4843215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Publicação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3821910" y="5648756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Estrutura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025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104095" y="448026"/>
            <a:ext cx="4935812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KT - Projeto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407543768"/>
              </p:ext>
            </p:extLst>
          </p:nvPr>
        </p:nvGraphicFramePr>
        <p:xfrm>
          <a:off x="319314" y="2598057"/>
          <a:ext cx="8174628" cy="628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" name="Grupo 5"/>
          <p:cNvGrpSpPr/>
          <p:nvPr/>
        </p:nvGrpSpPr>
        <p:grpSpPr>
          <a:xfrm>
            <a:off x="650057" y="1008252"/>
            <a:ext cx="7843885" cy="1241462"/>
            <a:chOff x="511644" y="4149080"/>
            <a:chExt cx="8678660" cy="1800200"/>
          </a:xfrm>
        </p:grpSpPr>
        <p:sp>
          <p:nvSpPr>
            <p:cNvPr id="10" name="Rechteck 51"/>
            <p:cNvSpPr/>
            <p:nvPr/>
          </p:nvSpPr>
          <p:spPr bwMode="gray">
            <a:xfrm>
              <a:off x="1245771" y="4217320"/>
              <a:ext cx="794453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95224" tIns="32537" rIns="195224" bIns="32537" anchor="ctr"/>
            <a:lstStyle/>
            <a:p>
              <a:pPr marL="65074"/>
              <a:r>
                <a:rPr lang="pt-BR" sz="1627" dirty="0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Realizar a Transferência de Conhecimento (treinamento e procedimento), com</a:t>
              </a:r>
              <a:r>
                <a:rPr lang="pt-BR" sz="1627" b="1" dirty="0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15 dias corridos antes </a:t>
              </a:r>
              <a:r>
                <a:rPr lang="pt-BR" sz="1627" dirty="0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da equipe de Operações de TI assumir a Sustentação.</a:t>
              </a:r>
              <a:endParaRPr lang="en-US" sz="1627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1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7030A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sz="1400" b="1" dirty="0" err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Projeto</a:t>
              </a:r>
              <a:endPara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" name="Retângulo 11"/>
          <p:cNvSpPr/>
          <p:nvPr/>
        </p:nvSpPr>
        <p:spPr>
          <a:xfrm>
            <a:off x="203200" y="3443687"/>
            <a:ext cx="7333121" cy="2686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KT </a:t>
            </a:r>
            <a:r>
              <a:rPr lang="pt-BR" sz="1627" b="1" dirty="0">
                <a:latin typeface="Trebuchet MS" panose="020B0603020202020204" pitchFamily="34" charset="0"/>
              </a:rPr>
              <a:t>– Rituais de </a:t>
            </a:r>
            <a:r>
              <a:rPr lang="pt-BR" sz="1627" b="1" dirty="0" smtClean="0">
                <a:latin typeface="Trebuchet MS" panose="020B0603020202020204" pitchFamily="34" charset="0"/>
              </a:rPr>
              <a:t>Transferência de Conhecimento para </a:t>
            </a:r>
            <a:r>
              <a:rPr lang="pt-BR" sz="2000" b="1" dirty="0" smtClean="0">
                <a:solidFill>
                  <a:schemeClr val="accent6"/>
                </a:solidFill>
                <a:latin typeface="Trebuchet MS" panose="020B0603020202020204" pitchFamily="34" charset="0"/>
              </a:rPr>
              <a:t>Projeto</a:t>
            </a:r>
            <a:endParaRPr lang="pt-BR" sz="2000" b="1" dirty="0">
              <a:solidFill>
                <a:schemeClr val="accent6"/>
              </a:solidFill>
              <a:latin typeface="Trebuchet MS" panose="020B0603020202020204" pitchFamily="34" charset="0"/>
            </a:endParaRPr>
          </a:p>
          <a:p>
            <a:pPr marL="258261" indent="-258261">
              <a:buFont typeface="Wingdings" panose="05000000000000000000" pitchFamily="2" charset="2"/>
              <a:buChar char="q"/>
            </a:pPr>
            <a:endParaRPr lang="pt-BR" sz="1356" b="1" dirty="0">
              <a:latin typeface="Trebuchet MS" panose="020B0603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500" dirty="0" smtClean="0">
                <a:ea typeface="Calibri"/>
                <a:cs typeface="Times New Roman"/>
              </a:rPr>
              <a:t>Enviar o </a:t>
            </a:r>
            <a:r>
              <a:rPr lang="pt-BR" sz="1500" b="1" dirty="0" smtClean="0">
                <a:ea typeface="Calibri"/>
                <a:cs typeface="Times New Roman"/>
              </a:rPr>
              <a:t>convite do treinamento com 20 </a:t>
            </a:r>
            <a:r>
              <a:rPr lang="pt-BR" sz="1500" b="1" dirty="0">
                <a:ea typeface="Calibri"/>
                <a:cs typeface="Times New Roman"/>
              </a:rPr>
              <a:t>dias corridos </a:t>
            </a:r>
            <a:r>
              <a:rPr lang="pt-BR" sz="1500" dirty="0">
                <a:ea typeface="Calibri"/>
                <a:cs typeface="Times New Roman"/>
              </a:rPr>
              <a:t>antes da equipe de Operações de TI assumir a </a:t>
            </a:r>
            <a:r>
              <a:rPr lang="pt-BR" sz="1500" dirty="0" smtClean="0">
                <a:ea typeface="Calibri"/>
                <a:cs typeface="Times New Roman"/>
              </a:rPr>
              <a:t>Sustentação;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500" dirty="0">
              <a:ea typeface="Calibri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500" dirty="0" smtClean="0">
                <a:ea typeface="Calibri"/>
                <a:cs typeface="Times New Roman"/>
              </a:rPr>
              <a:t>Realizar </a:t>
            </a:r>
            <a:r>
              <a:rPr lang="pt-BR" sz="1500" dirty="0">
                <a:ea typeface="Calibri"/>
                <a:cs typeface="Times New Roman"/>
              </a:rPr>
              <a:t>o </a:t>
            </a:r>
            <a:r>
              <a:rPr lang="pt-BR" sz="1500" b="1" dirty="0">
                <a:ea typeface="Calibri"/>
                <a:cs typeface="Times New Roman"/>
              </a:rPr>
              <a:t>treinamento em até 15 dias corridos</a:t>
            </a:r>
            <a:r>
              <a:rPr lang="pt-BR" sz="1500" dirty="0">
                <a:ea typeface="Calibri"/>
                <a:cs typeface="Times New Roman"/>
              </a:rPr>
              <a:t> antes da equipe de Operações de TI assumir a </a:t>
            </a:r>
            <a:r>
              <a:rPr lang="pt-BR" sz="1500" dirty="0" smtClean="0">
                <a:ea typeface="Calibri"/>
                <a:cs typeface="Times New Roman"/>
              </a:rPr>
              <a:t>Sustentação. No </a:t>
            </a:r>
            <a:r>
              <a:rPr lang="pt-BR" sz="1500" b="1" dirty="0">
                <a:ea typeface="Calibri"/>
                <a:cs typeface="Times New Roman"/>
              </a:rPr>
              <a:t>convite do treinamento deve conter em anexo procedimento</a:t>
            </a:r>
            <a:r>
              <a:rPr lang="pt-BR" sz="1500" dirty="0" smtClean="0">
                <a:ea typeface="Calibri"/>
                <a:cs typeface="Times New Roman"/>
              </a:rPr>
              <a:t>;</a:t>
            </a:r>
            <a:endParaRPr lang="pt-BR" sz="1500" dirty="0">
              <a:ea typeface="Calibri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500" dirty="0" smtClean="0">
              <a:ea typeface="Calibri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500" dirty="0" smtClean="0">
                <a:ea typeface="Calibri"/>
                <a:cs typeface="Times New Roman"/>
              </a:rPr>
              <a:t>A equipe de Operações de TI realizar o </a:t>
            </a:r>
            <a:r>
              <a:rPr lang="pt-BR" sz="1500" b="1" dirty="0" smtClean="0">
                <a:ea typeface="Calibri"/>
                <a:cs typeface="Times New Roman"/>
              </a:rPr>
              <a:t>aceite do procedimento até 10 dias corridos, após o envio do procedimento</a:t>
            </a:r>
            <a:r>
              <a:rPr lang="pt-BR" sz="1500" dirty="0" smtClean="0">
                <a:ea typeface="Calibri"/>
                <a:cs typeface="Times New Roman"/>
              </a:rPr>
              <a:t>.</a:t>
            </a:r>
          </a:p>
        </p:txBody>
      </p:sp>
      <p:sp>
        <p:nvSpPr>
          <p:cNvPr id="13" name="Lágrima 12"/>
          <p:cNvSpPr/>
          <p:nvPr/>
        </p:nvSpPr>
        <p:spPr>
          <a:xfrm>
            <a:off x="7536321" y="3559799"/>
            <a:ext cx="1203879" cy="1203879"/>
          </a:xfrm>
          <a:prstGeom prst="teardrop">
            <a:avLst/>
          </a:prstGeom>
          <a:blipFill>
            <a:blip r:embed="rId8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</p:spTree>
    <p:extLst>
      <p:ext uri="{BB962C8B-B14F-4D97-AF65-F5344CB8AC3E}">
        <p14:creationId xmlns:p14="http://schemas.microsoft.com/office/powerpoint/2010/main" val="1734645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62947" y="413591"/>
            <a:ext cx="821810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169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6553199" y="6074780"/>
            <a:ext cx="2133601" cy="33000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3785622" y="135009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1" name="Retângulo de cantos arredondados 8"/>
          <p:cNvSpPr/>
          <p:nvPr/>
        </p:nvSpPr>
        <p:spPr>
          <a:xfrm>
            <a:off x="3785622" y="2283838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e Premissas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83" y="2713950"/>
            <a:ext cx="2351340" cy="211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72484" y="2616557"/>
            <a:ext cx="1347677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92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2892" dirty="0"/>
          </a:p>
        </p:txBody>
      </p:sp>
      <p:sp>
        <p:nvSpPr>
          <p:cNvPr id="12" name="Retângulo de cantos arredondados 8"/>
          <p:cNvSpPr/>
          <p:nvPr/>
        </p:nvSpPr>
        <p:spPr>
          <a:xfrm>
            <a:off x="3792882" y="316195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- Projeto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8"/>
          <p:cNvSpPr/>
          <p:nvPr/>
        </p:nvSpPr>
        <p:spPr>
          <a:xfrm>
            <a:off x="3778362" y="3965099"/>
            <a:ext cx="5531335" cy="650745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– Melhoria ou BUG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3785622" y="4843215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Publicação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3821910" y="5648756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Estrutura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1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104095" y="448026"/>
            <a:ext cx="4935812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KT – Melhoria ou Bugs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" name="Diagrama 2"/>
          <p:cNvGraphicFramePr/>
          <p:nvPr>
            <p:extLst/>
          </p:nvPr>
        </p:nvGraphicFramePr>
        <p:xfrm>
          <a:off x="319314" y="2598057"/>
          <a:ext cx="8174628" cy="628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" name="Grupo 5"/>
          <p:cNvGrpSpPr/>
          <p:nvPr/>
        </p:nvGrpSpPr>
        <p:grpSpPr>
          <a:xfrm>
            <a:off x="650057" y="1008252"/>
            <a:ext cx="7843885" cy="1241462"/>
            <a:chOff x="511644" y="4149080"/>
            <a:chExt cx="8678660" cy="1800200"/>
          </a:xfrm>
        </p:grpSpPr>
        <p:sp>
          <p:nvSpPr>
            <p:cNvPr id="10" name="Rechteck 51"/>
            <p:cNvSpPr/>
            <p:nvPr/>
          </p:nvSpPr>
          <p:spPr bwMode="gray">
            <a:xfrm>
              <a:off x="1245771" y="4217320"/>
              <a:ext cx="794453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95224" tIns="32537" rIns="195224" bIns="32537" anchor="ctr"/>
            <a:lstStyle/>
            <a:p>
              <a:pPr marL="65074"/>
              <a:r>
                <a:rPr lang="pt-BR" sz="1627" dirty="0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Realizar a Transferência de Conhecimento (treinamento e procedimento), com</a:t>
              </a:r>
              <a:r>
                <a:rPr lang="pt-BR" sz="1627" b="1" dirty="0">
                  <a:solidFill>
                    <a:srgbClr val="404040"/>
                  </a:solidFill>
                  <a:latin typeface="Trebuchet MS" panose="020B0603020202020204" pitchFamily="34" charset="0"/>
                </a:rPr>
                <a:t>7</a:t>
              </a:r>
              <a:r>
                <a:rPr lang="pt-BR" sz="1627" b="1" dirty="0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dias corridos antes </a:t>
              </a:r>
              <a:r>
                <a:rPr lang="pt-BR" sz="1627" dirty="0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da equipe de Operações de TI assumir a Sustentação.</a:t>
              </a:r>
              <a:endParaRPr lang="en-US" sz="1627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1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7030A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sz="1400" b="1" dirty="0" err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Melhoria</a:t>
              </a:r>
              <a:endParaRPr lang="en-US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US" sz="1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Bugs</a:t>
              </a:r>
              <a:endPara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" name="Retângulo 11"/>
          <p:cNvSpPr/>
          <p:nvPr/>
        </p:nvSpPr>
        <p:spPr>
          <a:xfrm>
            <a:off x="203200" y="3458201"/>
            <a:ext cx="7376663" cy="33787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KT </a:t>
            </a:r>
            <a:r>
              <a:rPr lang="pt-BR" sz="1627" b="1" dirty="0">
                <a:latin typeface="Trebuchet MS" panose="020B0603020202020204" pitchFamily="34" charset="0"/>
              </a:rPr>
              <a:t>– Rituais de </a:t>
            </a:r>
            <a:r>
              <a:rPr lang="pt-BR" sz="1627" b="1" dirty="0" smtClean="0">
                <a:latin typeface="Trebuchet MS" panose="020B0603020202020204" pitchFamily="34" charset="0"/>
              </a:rPr>
              <a:t>Transferência de Conhecimento para </a:t>
            </a:r>
            <a:r>
              <a:rPr lang="pt-BR" sz="2000" b="1" dirty="0" smtClean="0">
                <a:solidFill>
                  <a:schemeClr val="accent6"/>
                </a:solidFill>
                <a:latin typeface="Trebuchet MS" panose="020B0603020202020204" pitchFamily="34" charset="0"/>
              </a:rPr>
              <a:t>Melhoria </a:t>
            </a:r>
            <a:r>
              <a:rPr lang="pt-BR" sz="1627" b="1" dirty="0">
                <a:latin typeface="Trebuchet MS" panose="020B0603020202020204" pitchFamily="34" charset="0"/>
              </a:rPr>
              <a:t>e</a:t>
            </a:r>
            <a:r>
              <a:rPr lang="pt-BR" sz="2000" b="1" dirty="0" smtClean="0">
                <a:solidFill>
                  <a:schemeClr val="accent6"/>
                </a:solidFill>
                <a:latin typeface="Trebuchet MS" panose="020B0603020202020204" pitchFamily="34" charset="0"/>
              </a:rPr>
              <a:t> </a:t>
            </a:r>
            <a:r>
              <a:rPr lang="pt-BR" sz="2000" b="1" dirty="0" err="1" smtClean="0">
                <a:solidFill>
                  <a:schemeClr val="accent6"/>
                </a:solidFill>
                <a:latin typeface="Trebuchet MS" panose="020B0603020202020204" pitchFamily="34" charset="0"/>
              </a:rPr>
              <a:t>BUGs</a:t>
            </a:r>
            <a:endParaRPr lang="pt-BR" sz="2000" b="1" dirty="0">
              <a:solidFill>
                <a:schemeClr val="accent6"/>
              </a:solidFill>
              <a:latin typeface="Trebuchet MS" panose="020B0603020202020204" pitchFamily="34" charset="0"/>
            </a:endParaRPr>
          </a:p>
          <a:p>
            <a:pPr marL="258261" indent="-258261">
              <a:buFont typeface="Wingdings" panose="05000000000000000000" pitchFamily="2" charset="2"/>
              <a:buChar char="q"/>
            </a:pPr>
            <a:endParaRPr lang="pt-BR" sz="1356" b="1" dirty="0">
              <a:latin typeface="Trebuchet MS" panose="020B0603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500" dirty="0" smtClean="0">
                <a:ea typeface="Calibri"/>
                <a:cs typeface="Times New Roman"/>
              </a:rPr>
              <a:t>Enviar o </a:t>
            </a:r>
            <a:r>
              <a:rPr lang="pt-BR" sz="1500" b="1" dirty="0" smtClean="0">
                <a:ea typeface="Calibri"/>
                <a:cs typeface="Times New Roman"/>
              </a:rPr>
              <a:t>convite do treinamento com 15 </a:t>
            </a:r>
            <a:r>
              <a:rPr lang="pt-BR" sz="1500" b="1" dirty="0">
                <a:ea typeface="Calibri"/>
                <a:cs typeface="Times New Roman"/>
              </a:rPr>
              <a:t>dias corridos </a:t>
            </a:r>
            <a:r>
              <a:rPr lang="pt-BR" sz="1500" dirty="0">
                <a:ea typeface="Calibri"/>
                <a:cs typeface="Times New Roman"/>
              </a:rPr>
              <a:t>antes da equipe de Operações de TI assumir a </a:t>
            </a:r>
            <a:r>
              <a:rPr lang="pt-BR" sz="1500" dirty="0" smtClean="0">
                <a:ea typeface="Calibri"/>
                <a:cs typeface="Times New Roman"/>
              </a:rPr>
              <a:t>Sustentação;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500" dirty="0">
              <a:ea typeface="Calibri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500" dirty="0" smtClean="0">
                <a:ea typeface="Calibri"/>
                <a:cs typeface="Times New Roman"/>
              </a:rPr>
              <a:t>Realizar </a:t>
            </a:r>
            <a:r>
              <a:rPr lang="pt-BR" sz="1500" dirty="0">
                <a:ea typeface="Calibri"/>
                <a:cs typeface="Times New Roman"/>
              </a:rPr>
              <a:t>o </a:t>
            </a:r>
            <a:r>
              <a:rPr lang="pt-BR" sz="1500" b="1" dirty="0">
                <a:ea typeface="Calibri"/>
                <a:cs typeface="Times New Roman"/>
              </a:rPr>
              <a:t>treinamento em até </a:t>
            </a:r>
            <a:r>
              <a:rPr lang="pt-BR" sz="1500" b="1" dirty="0" smtClean="0">
                <a:ea typeface="Calibri"/>
                <a:cs typeface="Times New Roman"/>
              </a:rPr>
              <a:t>7 </a:t>
            </a:r>
            <a:r>
              <a:rPr lang="pt-BR" sz="1500" b="1" dirty="0">
                <a:ea typeface="Calibri"/>
                <a:cs typeface="Times New Roman"/>
              </a:rPr>
              <a:t>dias corridos</a:t>
            </a:r>
            <a:r>
              <a:rPr lang="pt-BR" sz="1500" dirty="0">
                <a:ea typeface="Calibri"/>
                <a:cs typeface="Times New Roman"/>
              </a:rPr>
              <a:t> antes da equipe de Operações de TI assumir a </a:t>
            </a:r>
            <a:r>
              <a:rPr lang="pt-BR" sz="1500" dirty="0" smtClean="0">
                <a:ea typeface="Calibri"/>
                <a:cs typeface="Times New Roman"/>
              </a:rPr>
              <a:t>Sustentação. No </a:t>
            </a:r>
            <a:r>
              <a:rPr lang="pt-BR" sz="1500" b="1" dirty="0">
                <a:ea typeface="Calibri"/>
                <a:cs typeface="Times New Roman"/>
              </a:rPr>
              <a:t>convite do treinamento deve conter em anexo procedimento</a:t>
            </a:r>
            <a:r>
              <a:rPr lang="pt-BR" sz="1500" dirty="0" smtClean="0">
                <a:ea typeface="Calibri"/>
                <a:cs typeface="Times New Roman"/>
              </a:rPr>
              <a:t>;</a:t>
            </a:r>
            <a:endParaRPr lang="pt-BR" sz="1500" dirty="0">
              <a:ea typeface="Calibri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500" dirty="0" smtClean="0">
              <a:ea typeface="Calibri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pt-BR" sz="1500" dirty="0" smtClean="0">
                <a:ea typeface="Calibri"/>
                <a:cs typeface="Times New Roman"/>
              </a:rPr>
              <a:t>A equipe de Operações de TI realizar o </a:t>
            </a:r>
            <a:r>
              <a:rPr lang="pt-BR" sz="1500" b="1" dirty="0" smtClean="0">
                <a:ea typeface="Calibri"/>
                <a:cs typeface="Times New Roman"/>
              </a:rPr>
              <a:t>aceite do procedimento até 5 dias corridos, após o envio do procedimento</a:t>
            </a:r>
            <a:r>
              <a:rPr lang="pt-BR" sz="1500" dirty="0">
                <a:ea typeface="Calibri"/>
                <a:cs typeface="Times New Roman"/>
              </a:rPr>
              <a:t>;</a:t>
            </a:r>
            <a:endParaRPr lang="pt-BR" sz="1500" dirty="0" smtClean="0">
              <a:ea typeface="Calibri"/>
              <a:cs typeface="Times New Roman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500" dirty="0">
              <a:ea typeface="Calibri"/>
              <a:cs typeface="Times New Roman"/>
            </a:endParaRP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r>
              <a:rPr lang="pt-BR" sz="1500" dirty="0">
                <a:ea typeface="Calibri"/>
                <a:cs typeface="Times New Roman"/>
              </a:rPr>
              <a:t>Equipe de </a:t>
            </a:r>
            <a:r>
              <a:rPr lang="pt-BR" sz="1500" dirty="0" smtClean="0">
                <a:ea typeface="Calibri"/>
                <a:cs typeface="Times New Roman"/>
              </a:rPr>
              <a:t>Operações de TI </a:t>
            </a:r>
            <a:r>
              <a:rPr lang="pt-BR" sz="1500" b="1" dirty="0" smtClean="0">
                <a:ea typeface="Calibri"/>
                <a:cs typeface="Times New Roman"/>
              </a:rPr>
              <a:t>não irá assumir a Sustentação dos </a:t>
            </a:r>
            <a:r>
              <a:rPr lang="pt-BR" sz="1500" b="1" dirty="0" err="1">
                <a:ea typeface="Calibri"/>
                <a:cs typeface="Times New Roman"/>
              </a:rPr>
              <a:t>BUGs</a:t>
            </a:r>
            <a:r>
              <a:rPr lang="pt-BR" sz="1500" b="1" dirty="0">
                <a:ea typeface="Calibri"/>
                <a:cs typeface="Times New Roman"/>
              </a:rPr>
              <a:t> </a:t>
            </a:r>
            <a:r>
              <a:rPr lang="pt-BR" sz="1500" b="1" dirty="0" smtClean="0">
                <a:ea typeface="Calibri"/>
                <a:cs typeface="Times New Roman"/>
              </a:rPr>
              <a:t>que não estiverem </a:t>
            </a:r>
            <a:r>
              <a:rPr lang="pt-BR" sz="1500" b="1" dirty="0">
                <a:ea typeface="Calibri"/>
                <a:cs typeface="Times New Roman"/>
              </a:rPr>
              <a:t>corrigidos </a:t>
            </a:r>
            <a:r>
              <a:rPr lang="pt-BR" sz="1500" b="1" dirty="0" smtClean="0">
                <a:ea typeface="Calibri"/>
                <a:cs typeface="Times New Roman"/>
              </a:rPr>
              <a:t>em ambiente de Produção</a:t>
            </a:r>
            <a:r>
              <a:rPr lang="pt-BR" sz="1500" dirty="0" smtClean="0">
                <a:ea typeface="Calibri"/>
                <a:cs typeface="Times New Roman"/>
              </a:rPr>
              <a:t>.</a:t>
            </a:r>
            <a:endParaRPr lang="pt-BR" sz="1500" dirty="0">
              <a:ea typeface="Calibri"/>
              <a:cs typeface="Times New Roman"/>
            </a:endParaRPr>
          </a:p>
        </p:txBody>
      </p:sp>
      <p:sp>
        <p:nvSpPr>
          <p:cNvPr id="13" name="Lágrima 12"/>
          <p:cNvSpPr/>
          <p:nvPr/>
        </p:nvSpPr>
        <p:spPr>
          <a:xfrm>
            <a:off x="7579863" y="3559799"/>
            <a:ext cx="1203879" cy="1203879"/>
          </a:xfrm>
          <a:prstGeom prst="teardrop">
            <a:avLst/>
          </a:prstGeom>
          <a:blipFill>
            <a:blip r:embed="rId8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</p:spTree>
    <p:extLst>
      <p:ext uri="{BB962C8B-B14F-4D97-AF65-F5344CB8AC3E}">
        <p14:creationId xmlns:p14="http://schemas.microsoft.com/office/powerpoint/2010/main" val="585307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62947" y="413591"/>
            <a:ext cx="821810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169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6553199" y="6074780"/>
            <a:ext cx="2133601" cy="33000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3785622" y="135009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1" name="Retângulo de cantos arredondados 8"/>
          <p:cNvSpPr/>
          <p:nvPr/>
        </p:nvSpPr>
        <p:spPr>
          <a:xfrm>
            <a:off x="3785622" y="2283838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e Premissas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83" y="2713950"/>
            <a:ext cx="2351340" cy="211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72484" y="2616557"/>
            <a:ext cx="1347677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92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2892" dirty="0"/>
          </a:p>
        </p:txBody>
      </p:sp>
      <p:sp>
        <p:nvSpPr>
          <p:cNvPr id="12" name="Retângulo de cantos arredondados 8"/>
          <p:cNvSpPr/>
          <p:nvPr/>
        </p:nvSpPr>
        <p:spPr>
          <a:xfrm>
            <a:off x="3792882" y="316195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- Projeto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8"/>
          <p:cNvSpPr/>
          <p:nvPr/>
        </p:nvSpPr>
        <p:spPr>
          <a:xfrm>
            <a:off x="3778362" y="3965099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– Melhoria ou BUG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3785622" y="4843215"/>
            <a:ext cx="5531335" cy="650745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Publicação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3821910" y="5648756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Estrutura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047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Publicação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60257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0294" lvl="1" indent="-260294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Wingdings" panose="05000000000000000000" pitchFamily="2" charset="2"/>
              <a:buChar char="q"/>
            </a:pPr>
            <a:r>
              <a: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Facilitar a pesquisa e atualização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o procedimento deve ser publicado no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Confluence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IT.</a:t>
            </a:r>
          </a:p>
          <a:p>
            <a:pPr marL="260294" lvl="1" indent="-260294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Wingdings" panose="05000000000000000000" pitchFamily="2" charset="2"/>
              <a:buChar char="q"/>
            </a:pPr>
            <a:r>
              <a: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Estrutura do KT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Transferência de 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Conhecimento: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&lt;ano do projeto&gt; - Exemplo: 2016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&lt;ano –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quarter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entrega do projeto&gt;: Exemplo: 2016 – Q3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&lt;projeto  - outra informação relevante&gt; - Amadeus F3 – Alteração 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Involuntária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publicar no </a:t>
            </a:r>
            <a:r>
              <a:rPr lang="pt-BR" sz="1627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Confluence</a:t>
            </a:r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689" y="1261262"/>
            <a:ext cx="9144000" cy="509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52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462947" y="413591"/>
            <a:ext cx="8218106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169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6553199" y="6074780"/>
            <a:ext cx="2133601" cy="33000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3785622" y="135009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1" name="Retângulo de cantos arredondados 8"/>
          <p:cNvSpPr/>
          <p:nvPr/>
        </p:nvSpPr>
        <p:spPr>
          <a:xfrm>
            <a:off x="3785622" y="2283838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e Premissas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83" y="2713950"/>
            <a:ext cx="2351340" cy="211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372484" y="2616557"/>
            <a:ext cx="1347677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92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2892" dirty="0"/>
          </a:p>
        </p:txBody>
      </p:sp>
      <p:sp>
        <p:nvSpPr>
          <p:cNvPr id="12" name="Retângulo de cantos arredondados 8"/>
          <p:cNvSpPr/>
          <p:nvPr/>
        </p:nvSpPr>
        <p:spPr>
          <a:xfrm>
            <a:off x="3792882" y="3161954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- Projeto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8"/>
          <p:cNvSpPr/>
          <p:nvPr/>
        </p:nvSpPr>
        <p:spPr>
          <a:xfrm>
            <a:off x="3778362" y="3965099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do KT – Melhoria ou BUG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3785622" y="4843215"/>
            <a:ext cx="5531335" cy="650745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Publicação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3821910" y="5648756"/>
            <a:ext cx="5531335" cy="650745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25368"/>
            <a:r>
              <a:rPr lang="pt-BR" sz="2169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Estrutura do Procedimento</a:t>
            </a:r>
            <a:endParaRPr lang="pt-BR" sz="2169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71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692394"/>
            <a:ext cx="4489496" cy="15626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1. Objetivo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de forma </a:t>
            </a:r>
            <a:r>
              <a:rPr lang="pt-BR" sz="1600" dirty="0"/>
              <a:t>resumida </a:t>
            </a:r>
            <a:r>
              <a:rPr lang="pt-BR" sz="1600" dirty="0" smtClean="0"/>
              <a:t>qual é o </a:t>
            </a:r>
            <a:r>
              <a:rPr lang="pt-BR" sz="1600" b="1" dirty="0"/>
              <a:t>objetivo</a:t>
            </a:r>
            <a:r>
              <a:rPr lang="pt-BR" sz="1600" dirty="0"/>
              <a:t> do projeto / </a:t>
            </a:r>
            <a:r>
              <a:rPr lang="pt-BR" sz="1600" dirty="0" smtClean="0"/>
              <a:t>melhoria / bug.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1339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bg1">
                  <a:lumMod val="50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182915"/>
            <a:ext cx="4489496" cy="45172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2. Solução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Tecnologias: </a:t>
            </a:r>
            <a:r>
              <a:rPr lang="pt-BR" sz="1600" dirty="0" smtClean="0"/>
              <a:t>Caso envolva várias </a:t>
            </a:r>
            <a:r>
              <a:rPr lang="pt-BR" sz="1600" dirty="0"/>
              <a:t>tecnologias (Java, Siebel, SOA, </a:t>
            </a:r>
            <a:r>
              <a:rPr lang="pt-BR" sz="1600" dirty="0" err="1"/>
              <a:t>etc</a:t>
            </a:r>
            <a:r>
              <a:rPr lang="pt-BR" sz="1600" dirty="0" smtClean="0"/>
              <a:t>), descreva </a:t>
            </a:r>
            <a:r>
              <a:rPr lang="pt-BR" sz="1600" dirty="0"/>
              <a:t>cada uma </a:t>
            </a:r>
            <a:r>
              <a:rPr lang="pt-BR" sz="1600" dirty="0" smtClean="0"/>
              <a:t>dessas tecnologias envolvidas;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Sistemas de terceiros: </a:t>
            </a:r>
            <a:r>
              <a:rPr lang="pt-BR" sz="1600" dirty="0"/>
              <a:t>Caso </a:t>
            </a:r>
            <a:r>
              <a:rPr lang="pt-BR" sz="1600" dirty="0" smtClean="0"/>
              <a:t>envolva sistemas de terceiros (B2E</a:t>
            </a:r>
            <a:r>
              <a:rPr lang="pt-BR" sz="1600" dirty="0"/>
              <a:t>, Gateway de Pagamentos, </a:t>
            </a:r>
            <a:r>
              <a:rPr lang="pt-BR" sz="1600" dirty="0" err="1"/>
              <a:t>ClearSale</a:t>
            </a:r>
            <a:r>
              <a:rPr lang="pt-BR" sz="1600" dirty="0"/>
              <a:t>, </a:t>
            </a:r>
            <a:r>
              <a:rPr lang="pt-BR" sz="1600" dirty="0" err="1"/>
              <a:t>etc</a:t>
            </a:r>
            <a:r>
              <a:rPr lang="pt-BR" sz="1600" dirty="0"/>
              <a:t>), </a:t>
            </a:r>
            <a:r>
              <a:rPr lang="pt-BR" sz="1600" dirty="0" smtClean="0"/>
              <a:t>descreva cada um desses sistemas de terceiros envolvidos;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Integração: </a:t>
            </a:r>
            <a:r>
              <a:rPr lang="pt-BR" sz="1600" dirty="0" smtClean="0"/>
              <a:t>Caso envolva integração, descreva a solução aplicada de integração;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Fluxo: </a:t>
            </a:r>
            <a:r>
              <a:rPr lang="pt-BR" sz="1600" dirty="0"/>
              <a:t>Caso </a:t>
            </a:r>
            <a:r>
              <a:rPr lang="pt-BR" sz="1600" dirty="0" smtClean="0"/>
              <a:t>contenha fluxos, adicione.</a:t>
            </a:r>
            <a:endParaRPr lang="pt-BR" sz="1600" dirty="0"/>
          </a:p>
          <a:p>
            <a:pPr lvl="1"/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2705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721420"/>
            <a:ext cx="4489496" cy="1316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3</a:t>
            </a:r>
            <a:r>
              <a:rPr lang="pt-BR" sz="1627" b="1" dirty="0" smtClean="0">
                <a:latin typeface="Trebuchet MS" panose="020B0603020202020204" pitchFamily="34" charset="0"/>
              </a:rPr>
              <a:t>. Benefícios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quais são os </a:t>
            </a:r>
            <a:r>
              <a:rPr lang="pt-BR" sz="1600" b="1" dirty="0" smtClean="0"/>
              <a:t>benefícios para o negócio da </a:t>
            </a:r>
            <a:r>
              <a:rPr lang="pt-BR" sz="1600" b="1" dirty="0" err="1" smtClean="0"/>
              <a:t>Smiles</a:t>
            </a:r>
            <a:r>
              <a:rPr lang="pt-BR" sz="1600" dirty="0" smtClean="0"/>
              <a:t>.</a:t>
            </a:r>
            <a:endParaRPr lang="pt-BR" sz="1600" dirty="0"/>
          </a:p>
          <a:p>
            <a:pPr lvl="1"/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711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923136"/>
            <a:ext cx="4489496" cy="30399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4. </a:t>
            </a:r>
            <a:r>
              <a:rPr lang="pt-BR" sz="1627" b="1" dirty="0" smtClean="0">
                <a:latin typeface="Trebuchet MS" panose="020B0603020202020204" pitchFamily="34" charset="0"/>
              </a:rPr>
              <a:t>Impactos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quais são os </a:t>
            </a:r>
            <a:r>
              <a:rPr lang="pt-BR" sz="1600" b="1" dirty="0" smtClean="0"/>
              <a:t>Impactos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as </a:t>
            </a:r>
            <a:r>
              <a:rPr lang="pt-BR" sz="1600" b="1" dirty="0"/>
              <a:t>atividades / </a:t>
            </a:r>
            <a:r>
              <a:rPr lang="pt-BR" sz="1600" b="1" dirty="0" smtClean="0"/>
              <a:t>processos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Importante descrever quais são os </a:t>
            </a:r>
            <a:r>
              <a:rPr lang="pt-BR" sz="1600" b="1" dirty="0" smtClean="0"/>
              <a:t>itens </a:t>
            </a:r>
            <a:r>
              <a:rPr lang="pt-BR" sz="1600" b="1" dirty="0"/>
              <a:t>que não sofreram impactos</a:t>
            </a:r>
            <a:r>
              <a:rPr lang="pt-BR" sz="1600" dirty="0"/>
              <a:t>, mas que foram considerados ou podem gerar </a:t>
            </a:r>
            <a:r>
              <a:rPr lang="pt-BR" sz="1600" dirty="0" smtClean="0"/>
              <a:t>dúvida de entendimento.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6773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Fluxo de </a:t>
            </a:r>
            <a:r>
              <a:rPr lang="pt-BR" b="1" dirty="0" err="1" smtClean="0">
                <a:solidFill>
                  <a:schemeClr val="accent6">
                    <a:lumMod val="75000"/>
                  </a:schemeClr>
                </a:solidFill>
              </a:rPr>
              <a:t>Rollback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792507"/>
            <a:ext cx="4489496" cy="33057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5</a:t>
            </a:r>
            <a:r>
              <a:rPr lang="pt-BR" sz="1627" b="1" dirty="0" smtClean="0">
                <a:latin typeface="Trebuchet MS" panose="020B0603020202020204" pitchFamily="34" charset="0"/>
              </a:rPr>
              <a:t>. </a:t>
            </a:r>
            <a:r>
              <a:rPr lang="pt-BR" sz="1627" b="1" dirty="0" smtClean="0">
                <a:latin typeface="Trebuchet MS" panose="020B0603020202020204" pitchFamily="34" charset="0"/>
              </a:rPr>
              <a:t>Fluxo de </a:t>
            </a:r>
            <a:r>
              <a:rPr lang="pt-BR" sz="1627" b="1" i="1" dirty="0" err="1" smtClean="0">
                <a:latin typeface="Trebuchet MS" panose="020B0603020202020204" pitchFamily="34" charset="0"/>
              </a:rPr>
              <a:t>Rollback</a:t>
            </a:r>
            <a:r>
              <a:rPr lang="pt-BR" sz="1627" b="1" dirty="0" smtClean="0">
                <a:latin typeface="Trebuchet MS" panose="020B0603020202020204" pitchFamily="34" charset="0"/>
              </a:rPr>
              <a:t> / Estorno / Cancelamento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o </a:t>
            </a:r>
            <a:r>
              <a:rPr lang="pt-BR" sz="1600" b="1" dirty="0" smtClean="0"/>
              <a:t>Fluxo de </a:t>
            </a:r>
            <a:r>
              <a:rPr lang="pt-BR" sz="1600" b="1" i="1" dirty="0" err="1"/>
              <a:t>Rollback</a:t>
            </a:r>
            <a:r>
              <a:rPr lang="pt-BR" sz="1600" b="1" i="1" dirty="0"/>
              <a:t> </a:t>
            </a:r>
            <a:r>
              <a:rPr lang="pt-BR" sz="1600" dirty="0"/>
              <a:t>em caso de </a:t>
            </a:r>
            <a:r>
              <a:rPr lang="pt-BR" sz="1600" dirty="0" smtClean="0"/>
              <a:t>erro;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o </a:t>
            </a:r>
            <a:r>
              <a:rPr lang="pt-BR" sz="1600" b="1" dirty="0" smtClean="0"/>
              <a:t>Fluxo de Estorno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o </a:t>
            </a:r>
            <a:r>
              <a:rPr lang="pt-BR" sz="1600" b="1" dirty="0" smtClean="0"/>
              <a:t>Fluxo de Cancelamento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como será a </a:t>
            </a:r>
            <a:r>
              <a:rPr lang="pt-BR" sz="1600" b="1" dirty="0" smtClean="0"/>
              <a:t>Execução </a:t>
            </a:r>
            <a:r>
              <a:rPr lang="pt-BR" sz="1600" b="1" dirty="0"/>
              <a:t>manual do processo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45939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285991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6. </a:t>
            </a:r>
            <a:r>
              <a:rPr lang="pt-BR" sz="1627" b="1" dirty="0" smtClean="0">
                <a:latin typeface="Trebuchet MS" panose="020B0603020202020204" pitchFamily="34" charset="0"/>
              </a:rPr>
              <a:t>Documentação do projeto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a Referência </a:t>
            </a:r>
            <a:r>
              <a:rPr lang="pt-BR" sz="1600" b="1" dirty="0" smtClean="0"/>
              <a:t>(link do </a:t>
            </a:r>
            <a:r>
              <a:rPr lang="pt-BR" sz="1600" b="1" dirty="0" err="1" smtClean="0"/>
              <a:t>Jira</a:t>
            </a:r>
            <a:r>
              <a:rPr lang="pt-BR" sz="1600" b="1" dirty="0" smtClean="0"/>
              <a:t>) do PMO, Melhoria ou Bug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Informe a Referência dos </a:t>
            </a:r>
            <a:r>
              <a:rPr lang="pt-BR" sz="1600" dirty="0"/>
              <a:t>documentos obrigatórios (EF, ET e TA) que estejam </a:t>
            </a:r>
            <a:r>
              <a:rPr lang="pt-BR" sz="1600" dirty="0" err="1" smtClean="0"/>
              <a:t>versionados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11125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663364"/>
            <a:ext cx="4489496" cy="157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7</a:t>
            </a:r>
            <a:r>
              <a:rPr lang="pt-BR" sz="1627" b="1" dirty="0" smtClean="0">
                <a:latin typeface="Trebuchet MS" panose="020B0603020202020204" pitchFamily="34" charset="0"/>
              </a:rPr>
              <a:t>. </a:t>
            </a:r>
            <a:r>
              <a:rPr lang="pt-BR" sz="1627" b="1" dirty="0" smtClean="0">
                <a:latin typeface="Trebuchet MS" panose="020B0603020202020204" pitchFamily="34" charset="0"/>
              </a:rPr>
              <a:t>Guia técnico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os </a:t>
            </a:r>
            <a:r>
              <a:rPr lang="pt-BR" sz="1600" b="1" dirty="0" smtClean="0"/>
              <a:t>documentos </a:t>
            </a:r>
            <a:r>
              <a:rPr lang="pt-BR" sz="1600" b="1" dirty="0"/>
              <a:t>de alterações</a:t>
            </a:r>
            <a:r>
              <a:rPr lang="pt-BR" sz="1600" dirty="0"/>
              <a:t> do Siebel onde constam os itens modificados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827086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764962"/>
            <a:ext cx="4489496" cy="1331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8. </a:t>
            </a:r>
            <a:r>
              <a:rPr lang="pt-BR" sz="1627" b="1" dirty="0" smtClean="0">
                <a:latin typeface="Trebuchet MS" panose="020B0603020202020204" pitchFamily="34" charset="0"/>
              </a:rPr>
              <a:t>Outros documentos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outros </a:t>
            </a:r>
            <a:r>
              <a:rPr lang="pt-BR" sz="1600" b="1" dirty="0"/>
              <a:t>documentos que auxiliaram no desenvolvimento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3715718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300504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9</a:t>
            </a:r>
            <a:r>
              <a:rPr lang="pt-BR" sz="1627" b="1" dirty="0" smtClean="0">
                <a:latin typeface="Trebuchet MS" panose="020B0603020202020204" pitchFamily="34" charset="0"/>
              </a:rPr>
              <a:t>. </a:t>
            </a:r>
            <a:r>
              <a:rPr lang="pt-BR" sz="1627" b="1" dirty="0" smtClean="0">
                <a:latin typeface="Trebuchet MS" panose="020B0603020202020204" pitchFamily="34" charset="0"/>
              </a:rPr>
              <a:t>Contatos / Envolvidos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a </a:t>
            </a:r>
            <a:r>
              <a:rPr lang="pt-BR" sz="1600" b="1" dirty="0" smtClean="0"/>
              <a:t>listagem </a:t>
            </a:r>
            <a:r>
              <a:rPr lang="pt-BR" sz="1600" b="1" dirty="0"/>
              <a:t>de pessoas, empresa, função e e-mail </a:t>
            </a:r>
            <a:r>
              <a:rPr lang="pt-BR" sz="1600" dirty="0"/>
              <a:t>dos envolvidos no </a:t>
            </a:r>
            <a:r>
              <a:rPr lang="pt-BR" sz="1600" dirty="0" smtClean="0"/>
              <a:t>projeto, melhoria ou bug;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Informe o </a:t>
            </a:r>
            <a:r>
              <a:rPr lang="pt-BR" sz="1600" b="1" dirty="0"/>
              <a:t>fluxo de </a:t>
            </a:r>
            <a:r>
              <a:rPr lang="pt-BR" sz="1600" b="1" dirty="0" smtClean="0"/>
              <a:t>escalonamento </a:t>
            </a:r>
            <a:r>
              <a:rPr lang="pt-BR" sz="1600" dirty="0" smtClean="0"/>
              <a:t>de fornecedores terceiros e prazos (</a:t>
            </a:r>
            <a:r>
              <a:rPr lang="pt-BR" sz="1600" dirty="0" err="1" smtClean="0"/>
              <a:t>SLAs</a:t>
            </a:r>
            <a:r>
              <a:rPr lang="pt-BR" sz="1600" dirty="0" smtClean="0"/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4303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700" b="1" dirty="0" smtClean="0">
                <a:solidFill>
                  <a:schemeClr val="accent6">
                    <a:lumMod val="75000"/>
                  </a:schemeClr>
                </a:solidFill>
              </a:rPr>
              <a:t>Catálogo de Serviços de </a:t>
            </a:r>
            <a:r>
              <a:rPr lang="pt-BR" sz="1700" b="1" dirty="0">
                <a:solidFill>
                  <a:schemeClr val="accent6">
                    <a:lumMod val="7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285990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10. </a:t>
            </a:r>
            <a:r>
              <a:rPr lang="pt-BR" sz="1627" b="1" dirty="0" smtClean="0">
                <a:latin typeface="Trebuchet MS" panose="020B0603020202020204" pitchFamily="34" charset="0"/>
              </a:rPr>
              <a:t>Catálogo de Serviços de Operações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o </a:t>
            </a:r>
            <a:r>
              <a:rPr lang="pt-BR" sz="1600" b="1" dirty="0" smtClean="0"/>
              <a:t>nome do serviço ou sistema</a:t>
            </a:r>
            <a:r>
              <a:rPr lang="pt-BR" sz="1600" dirty="0" smtClean="0"/>
              <a:t>, caso não exista no catálogo de serviços;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Informe passo-a-passo a </a:t>
            </a:r>
            <a:r>
              <a:rPr lang="pt-BR" sz="1600" b="1" dirty="0" smtClean="0"/>
              <a:t>estimativa de prazo (</a:t>
            </a:r>
            <a:r>
              <a:rPr lang="pt-BR" sz="1600" b="1" dirty="0" err="1" smtClean="0"/>
              <a:t>SLA´s</a:t>
            </a:r>
            <a:r>
              <a:rPr lang="pt-BR" sz="1600" b="1" dirty="0" smtClean="0"/>
              <a:t>) de resolução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6211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700" dirty="0" smtClean="0">
                <a:solidFill>
                  <a:schemeClr val="bg1">
                    <a:lumMod val="65000"/>
                  </a:schemeClr>
                </a:solidFill>
              </a:rPr>
              <a:t>Catálogo de Serviços de </a:t>
            </a:r>
            <a:r>
              <a:rPr lang="pt-BR" sz="1700" dirty="0">
                <a:solidFill>
                  <a:schemeClr val="bg1">
                    <a:lumMod val="6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Monitoramento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285990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11. </a:t>
            </a:r>
            <a:r>
              <a:rPr lang="pt-BR" sz="1627" b="1" dirty="0" smtClean="0">
                <a:latin typeface="Trebuchet MS" panose="020B0603020202020204" pitchFamily="34" charset="0"/>
              </a:rPr>
              <a:t>Monitoramento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se </a:t>
            </a:r>
            <a:r>
              <a:rPr lang="pt-BR" sz="1600" b="1" dirty="0" smtClean="0"/>
              <a:t>será necessário ou não monitoramento</a:t>
            </a:r>
            <a:r>
              <a:rPr lang="pt-BR" sz="1600" dirty="0" smtClean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Caso seja necessário, informe </a:t>
            </a:r>
            <a:r>
              <a:rPr lang="pt-BR" sz="1600" b="1" dirty="0" smtClean="0"/>
              <a:t>o que monitorar</a:t>
            </a:r>
            <a:r>
              <a:rPr lang="pt-BR" sz="1600" dirty="0" smtClean="0"/>
              <a:t>, </a:t>
            </a:r>
            <a:r>
              <a:rPr lang="pt-BR" sz="1600" b="1" dirty="0" smtClean="0"/>
              <a:t>como capturar os dados </a:t>
            </a:r>
            <a:r>
              <a:rPr lang="pt-BR" sz="1600" dirty="0" smtClean="0"/>
              <a:t>e o </a:t>
            </a:r>
            <a:r>
              <a:rPr lang="pt-BR" sz="1600" b="1" dirty="0" smtClean="0"/>
              <a:t>que deve ser realizado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0520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 </a:t>
            </a:r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Monitoramento</a:t>
            </a:r>
            <a:endParaRPr lang="pt-BR" sz="1600" dirty="0">
              <a:solidFill>
                <a:schemeClr val="bg1">
                  <a:lumMod val="6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937647"/>
            <a:ext cx="4489496" cy="3055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12. </a:t>
            </a:r>
            <a:r>
              <a:rPr lang="pt-BR" sz="1627" b="1" dirty="0" smtClean="0">
                <a:latin typeface="Trebuchet MS" panose="020B0603020202020204" pitchFamily="34" charset="0"/>
              </a:rPr>
              <a:t>Outras Informações</a:t>
            </a:r>
            <a:endParaRPr lang="pt-BR" sz="1627" b="1" dirty="0" smtClean="0">
              <a:latin typeface="Trebuchet MS" panose="020B0603020202020204" pitchFamily="34" charset="0"/>
            </a:endParaRP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</a:t>
            </a:r>
            <a:r>
              <a:rPr lang="pt-BR" sz="1600" b="1" dirty="0" smtClean="0"/>
              <a:t>outras informações </a:t>
            </a:r>
            <a:r>
              <a:rPr lang="pt-BR" sz="1600" dirty="0"/>
              <a:t>que não foram contempladas nos itens </a:t>
            </a:r>
            <a:r>
              <a:rPr lang="pt-BR" sz="1600" dirty="0" smtClean="0"/>
              <a:t>anteriores. Como por exemplos: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1600" dirty="0"/>
              <a:t>Como serão abertos os chamados no </a:t>
            </a:r>
            <a:r>
              <a:rPr lang="pt-BR" sz="1600" dirty="0" smtClean="0"/>
              <a:t>JIRA?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Haverá automática </a:t>
            </a:r>
            <a:r>
              <a:rPr lang="pt-BR" sz="1600" dirty="0"/>
              <a:t>de </a:t>
            </a:r>
            <a:r>
              <a:rPr lang="pt-BR" sz="1600" dirty="0" err="1"/>
              <a:t>JIRAs</a:t>
            </a:r>
            <a:r>
              <a:rPr lang="pt-BR" sz="1600" dirty="0"/>
              <a:t> pela funcionalidade</a:t>
            </a:r>
            <a:r>
              <a:rPr lang="pt-BR" sz="1600" dirty="0" smtClean="0"/>
              <a:t>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56297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KT – Transferência de Conhecimento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888094" y="2998113"/>
            <a:ext cx="744106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Obrigado</a:t>
            </a:r>
            <a:endParaRPr lang="pt-BR" sz="5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664194" y="6314627"/>
            <a:ext cx="78992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Gerência de Operações de TI e Infraestrutura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78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3197</TotalTime>
  <Words>1581</Words>
  <PresentationFormat>Apresentação na tela (4:3)</PresentationFormat>
  <Paragraphs>373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Arial</vt:lpstr>
      <vt:lpstr>Calibri</vt:lpstr>
      <vt:lpstr>Gotham Rounded Book</vt:lpstr>
      <vt:lpstr>Segoe UI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2016-11-21T13:10:19Z</dcterms:modified>
</cp:coreProperties>
</file>