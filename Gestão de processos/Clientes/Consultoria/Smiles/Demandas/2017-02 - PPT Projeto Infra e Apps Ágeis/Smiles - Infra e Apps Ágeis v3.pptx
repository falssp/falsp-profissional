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7" r:id="rId2"/>
    <p:sldId id="375" r:id="rId3"/>
    <p:sldId id="376" r:id="rId4"/>
    <p:sldId id="377" r:id="rId5"/>
    <p:sldId id="378" r:id="rId6"/>
    <p:sldId id="379" r:id="rId7"/>
  </p:sldIdLst>
  <p:sldSz cx="101171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8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99"/>
    <a:srgbClr val="D0462D"/>
    <a:srgbClr val="FFFF66"/>
    <a:srgbClr val="00CC00"/>
    <a:srgbClr val="F68E1E"/>
    <a:srgbClr val="FF6600"/>
    <a:srgbClr val="F57124"/>
    <a:srgbClr val="99CCFF"/>
    <a:srgbClr val="FF99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Estilo Claro 2 - Ênfase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2DE63D5-997A-4646-A377-4702673A728D}" styleName="Estilo Claro 2 - Ênfase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29" autoAdjust="0"/>
    <p:restoredTop sz="94660"/>
  </p:normalViewPr>
  <p:slideViewPr>
    <p:cSldViewPr snapToGrid="0" snapToObjects="1">
      <p:cViewPr varScale="1">
        <p:scale>
          <a:sx n="87" d="100"/>
          <a:sy n="87" d="100"/>
        </p:scale>
        <p:origin x="1051" y="62"/>
      </p:cViewPr>
      <p:guideLst>
        <p:guide orient="horz" pos="2160"/>
        <p:guide pos="318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2CD1B9-1777-43A0-8DF4-B945C46147BD}" type="datetimeFigureOut">
              <a:rPr lang="pt-BR" smtClean="0"/>
              <a:t>21/02/2017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900113" y="685800"/>
            <a:ext cx="505777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245040-EFBE-493F-96A2-B5DCAE3ADE4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6681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8786" y="2130428"/>
            <a:ext cx="8599567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17571" y="3886200"/>
            <a:ext cx="7081997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1989970"/>
      </p:ext>
    </p:extLst>
  </p:cSld>
  <p:clrMapOvr>
    <a:masterClrMapping/>
  </p:clrMapOvr>
  <p:transition spd="slow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307934"/>
      </p:ext>
    </p:extLst>
  </p:cSld>
  <p:clrMapOvr>
    <a:masterClrMapping/>
  </p:clrMapOvr>
  <p:transition spd="slow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9184" y="4406903"/>
            <a:ext cx="8599567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9184" y="2906713"/>
            <a:ext cx="8599567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574767"/>
      </p:ext>
    </p:extLst>
  </p:cSld>
  <p:clrMapOvr>
    <a:masterClrMapping/>
  </p:clrMapOvr>
  <p:transition spd="slow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5857" y="1600203"/>
            <a:ext cx="446840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42878" y="1600203"/>
            <a:ext cx="446840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154841"/>
      </p:ext>
    </p:extLst>
  </p:cSld>
  <p:clrMapOvr>
    <a:masterClrMapping/>
  </p:clrMapOvr>
  <p:transition spd="slow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5857" y="1535113"/>
            <a:ext cx="447016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5857" y="2174875"/>
            <a:ext cx="447016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39367" y="1535113"/>
            <a:ext cx="447191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39367" y="2174875"/>
            <a:ext cx="447191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74183"/>
      </p:ext>
    </p:extLst>
  </p:cSld>
  <p:clrMapOvr>
    <a:masterClrMapping/>
  </p:clrMapOvr>
  <p:transition spd="slow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3801401"/>
      </p:ext>
    </p:extLst>
  </p:cSld>
  <p:clrMapOvr>
    <a:masterClrMapping/>
  </p:clrMapOvr>
  <p:transition spd="slow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3948944"/>
      </p:ext>
    </p:extLst>
  </p:cSld>
  <p:clrMapOvr>
    <a:masterClrMapping/>
  </p:clrMapOvr>
  <p:transition spd="slow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5857" y="273050"/>
            <a:ext cx="3328469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5521" y="273053"/>
            <a:ext cx="5655761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5857" y="1435103"/>
            <a:ext cx="3328469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8056668"/>
      </p:ext>
    </p:extLst>
  </p:cSld>
  <p:clrMapOvr>
    <a:masterClrMapping/>
  </p:clrMapOvr>
  <p:transition spd="slow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030" y="4800600"/>
            <a:ext cx="6070283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83030" y="612775"/>
            <a:ext cx="6070283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83030" y="5367338"/>
            <a:ext cx="6070283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7010150"/>
      </p:ext>
    </p:extLst>
  </p:cSld>
  <p:clrMapOvr>
    <a:masterClrMapping/>
  </p:clrMapOvr>
  <p:transition spd="slow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3005980"/>
      </p:ext>
    </p:extLst>
  </p:cSld>
  <p:clrMapOvr>
    <a:masterClrMapping/>
  </p:clrMapOvr>
  <p:transition spd="slow"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34925" y="274641"/>
            <a:ext cx="227635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5857" y="274641"/>
            <a:ext cx="6660449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642135"/>
      </p:ext>
    </p:extLst>
  </p:cSld>
  <p:clrMapOvr>
    <a:masterClrMapping/>
  </p:clrMapOvr>
  <p:transition spd="slow"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5857" y="274638"/>
            <a:ext cx="910542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5857" y="1600203"/>
            <a:ext cx="910542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05857" y="6356353"/>
            <a:ext cx="236066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6689" y="6356353"/>
            <a:ext cx="32037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50615" y="6356353"/>
            <a:ext cx="236066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5292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fade/>
  </p:transition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/>
          <p:nvPr/>
        </p:nvSpPr>
        <p:spPr>
          <a:xfrm>
            <a:off x="-1393" y="3"/>
            <a:ext cx="6375313" cy="6857999"/>
          </a:xfrm>
          <a:custGeom>
            <a:avLst/>
            <a:gdLst/>
            <a:ahLst/>
            <a:cxnLst/>
            <a:rect l="l" t="t" r="r" b="b"/>
            <a:pathLst>
              <a:path w="5762090" h="6857999">
                <a:moveTo>
                  <a:pt x="0" y="0"/>
                </a:moveTo>
                <a:lnTo>
                  <a:pt x="1920697" y="0"/>
                </a:lnTo>
                <a:lnTo>
                  <a:pt x="3279881" y="0"/>
                </a:lnTo>
                <a:lnTo>
                  <a:pt x="5200578" y="0"/>
                </a:lnTo>
                <a:lnTo>
                  <a:pt x="5255041" y="148787"/>
                </a:lnTo>
                <a:cubicBezTo>
                  <a:pt x="5571805" y="1057108"/>
                  <a:pt x="5762090" y="2221597"/>
                  <a:pt x="5762090" y="3491260"/>
                </a:cubicBezTo>
                <a:cubicBezTo>
                  <a:pt x="5762090" y="4760923"/>
                  <a:pt x="5571805" y="5925412"/>
                  <a:pt x="5255041" y="6833733"/>
                </a:cubicBezTo>
                <a:lnTo>
                  <a:pt x="5246158" y="6857999"/>
                </a:lnTo>
                <a:lnTo>
                  <a:pt x="3325461" y="6857999"/>
                </a:lnTo>
                <a:lnTo>
                  <a:pt x="1920697" y="6857999"/>
                </a:lnTo>
                <a:lnTo>
                  <a:pt x="0" y="6857999"/>
                </a:lnTo>
                <a:close/>
              </a:path>
            </a:pathLst>
          </a:custGeom>
          <a:solidFill>
            <a:srgbClr val="FF8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1303" y="3276362"/>
            <a:ext cx="2206288" cy="7875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1949" y="688550"/>
            <a:ext cx="5688627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Projeto </a:t>
            </a:r>
          </a:p>
          <a:p>
            <a:r>
              <a:rPr lang="pt-BR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Infra &amp; </a:t>
            </a:r>
            <a:r>
              <a:rPr lang="pt-BR" sz="36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Apps</a:t>
            </a:r>
            <a:r>
              <a:rPr lang="pt-BR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 Ágeis</a:t>
            </a:r>
          </a:p>
          <a:p>
            <a:endParaRPr lang="pt-BR" sz="3600" b="1" i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r>
              <a:rPr lang="pt-BR" sz="2800" b="1" i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Visão, Princípios e </a:t>
            </a:r>
            <a:r>
              <a:rPr lang="pt-BR" sz="2800" b="1" i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RoadMap</a:t>
            </a:r>
            <a:endParaRPr lang="pt-BR" sz="2800" b="1" i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r>
              <a:rPr lang="pt-BR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Versão 1 – 21-02-2017</a:t>
            </a:r>
          </a:p>
        </p:txBody>
      </p:sp>
      <p:pic>
        <p:nvPicPr>
          <p:cNvPr id="1026" name="Picture 2" descr="https://media.licdn.com/mpr/mpr/shrinknp_800_800/AAEAAQAAAAAAAAaSAAAAJGM1OGMzMzA5LTkxYWItNDcyZi04MWI2LTA5ZmIzY2ZkNzFhOQ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992"/>
          <a:stretch/>
        </p:blipFill>
        <p:spPr bwMode="auto">
          <a:xfrm>
            <a:off x="972346" y="3429002"/>
            <a:ext cx="4427832" cy="214462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5359936"/>
      </p:ext>
    </p:extLst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/>
          <p:cNvSpPr/>
          <p:nvPr/>
        </p:nvSpPr>
        <p:spPr>
          <a:xfrm>
            <a:off x="0" y="0"/>
            <a:ext cx="10181492" cy="692833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2707" y="129598"/>
            <a:ext cx="933147" cy="334448"/>
          </a:xfrm>
          <a:prstGeom prst="rect">
            <a:avLst/>
          </a:prstGeom>
        </p:spPr>
      </p:pic>
      <p:sp>
        <p:nvSpPr>
          <p:cNvPr id="5" name="Retângulo 4"/>
          <p:cNvSpPr/>
          <p:nvPr/>
        </p:nvSpPr>
        <p:spPr>
          <a:xfrm>
            <a:off x="1097316" y="2010439"/>
            <a:ext cx="7922507" cy="28371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“In software,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when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something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is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painful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the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way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to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reduce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the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pain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is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to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b="1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do it more </a:t>
            </a:r>
            <a:r>
              <a:rPr lang="pt-BR" sz="3200" b="1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frequently</a:t>
            </a:r>
            <a:r>
              <a:rPr lang="pt-BR" sz="3200" b="1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pt-BR" sz="3200" b="1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not</a:t>
            </a:r>
            <a:r>
              <a:rPr lang="pt-BR" sz="3200" b="1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b="1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less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.” </a:t>
            </a:r>
          </a:p>
          <a:p>
            <a:pPr>
              <a:lnSpc>
                <a:spcPct val="107000"/>
              </a:lnSpc>
              <a:spcBef>
                <a:spcPts val="600"/>
              </a:spcBef>
              <a:spcAft>
                <a:spcPts val="600"/>
              </a:spcAft>
            </a:pPr>
            <a:endParaRPr lang="pt-BR" sz="2400" dirty="0">
              <a:solidFill>
                <a:schemeClr val="bg1"/>
              </a:solidFill>
              <a:latin typeface="Georgia" panose="02040502050405020303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r">
              <a:lnSpc>
                <a:spcPct val="107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1400" b="1" dirty="0">
                <a:solidFill>
                  <a:schemeClr val="bg1"/>
                </a:solidFill>
                <a:latin typeface="Helvetica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David </a:t>
            </a:r>
            <a:r>
              <a:rPr lang="pt-BR" sz="1400" b="1" dirty="0" err="1">
                <a:solidFill>
                  <a:schemeClr val="bg1"/>
                </a:solidFill>
                <a:latin typeface="Helvetica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Farley</a:t>
            </a:r>
            <a:r>
              <a:rPr lang="pt-BR" sz="14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 </a:t>
            </a:r>
            <a:r>
              <a:rPr lang="pt-BR" sz="1400" b="1" dirty="0" err="1">
                <a:solidFill>
                  <a:schemeClr val="bg1"/>
                </a:solidFill>
                <a:latin typeface="Helvetica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Continuous</a:t>
            </a:r>
            <a:r>
              <a:rPr lang="pt-BR" sz="1400" b="1" dirty="0">
                <a:solidFill>
                  <a:schemeClr val="bg1"/>
                </a:solidFill>
                <a:latin typeface="Helvetica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Delivery: </a:t>
            </a:r>
            <a:r>
              <a:rPr lang="pt-BR" sz="1400" b="1" dirty="0" err="1">
                <a:solidFill>
                  <a:schemeClr val="bg1"/>
                </a:solidFill>
                <a:latin typeface="Helvetica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Reliable</a:t>
            </a:r>
            <a:r>
              <a:rPr lang="pt-BR" sz="1400" b="1" dirty="0">
                <a:solidFill>
                  <a:schemeClr val="bg1"/>
                </a:solidFill>
                <a:latin typeface="Helvetica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Software Releases </a:t>
            </a:r>
            <a:r>
              <a:rPr lang="pt-BR" sz="1400" b="1" dirty="0" err="1">
                <a:solidFill>
                  <a:schemeClr val="bg1"/>
                </a:solidFill>
                <a:latin typeface="Helvetica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through</a:t>
            </a:r>
            <a:r>
              <a:rPr lang="pt-BR" sz="1400" b="1" dirty="0">
                <a:solidFill>
                  <a:schemeClr val="bg1"/>
                </a:solidFill>
                <a:latin typeface="Helvetica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Build, Test, </a:t>
            </a:r>
            <a:r>
              <a:rPr lang="pt-BR" sz="1400" b="1" dirty="0" err="1">
                <a:solidFill>
                  <a:schemeClr val="bg1"/>
                </a:solidFill>
                <a:latin typeface="Helvetica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lang="pt-BR" sz="1400" b="1" dirty="0">
                <a:solidFill>
                  <a:schemeClr val="bg1"/>
                </a:solidFill>
                <a:latin typeface="Helvetica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Deployment Automation</a:t>
            </a:r>
            <a:endParaRPr lang="pt-BR" sz="20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0961886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2" y="-3"/>
            <a:ext cx="10117136" cy="750629"/>
            <a:chOff x="2" y="-3"/>
            <a:chExt cx="9143998" cy="750629"/>
          </a:xfrm>
        </p:grpSpPr>
        <p:sp>
          <p:nvSpPr>
            <p:cNvPr id="7" name="Rectangle 2"/>
            <p:cNvSpPr/>
            <p:nvPr/>
          </p:nvSpPr>
          <p:spPr>
            <a:xfrm rot="5400000">
              <a:off x="4196686" y="-4196687"/>
              <a:ext cx="750629" cy="9143998"/>
            </a:xfrm>
            <a:custGeom>
              <a:avLst/>
              <a:gdLst/>
              <a:ahLst/>
              <a:cxnLst/>
              <a:rect l="l" t="t" r="r" b="b"/>
              <a:pathLst>
                <a:path w="1045586" h="9143998">
                  <a:moveTo>
                    <a:pt x="0" y="9143998"/>
                  </a:moveTo>
                  <a:lnTo>
                    <a:pt x="0" y="0"/>
                  </a:lnTo>
                  <a:lnTo>
                    <a:pt x="725309" y="0"/>
                  </a:lnTo>
                  <a:lnTo>
                    <a:pt x="756374" y="198383"/>
                  </a:lnTo>
                  <a:cubicBezTo>
                    <a:pt x="937051" y="1409478"/>
                    <a:pt x="1045586" y="2962131"/>
                    <a:pt x="1045586" y="4655015"/>
                  </a:cubicBezTo>
                  <a:cubicBezTo>
                    <a:pt x="1045586" y="6347900"/>
                    <a:pt x="937051" y="7900553"/>
                    <a:pt x="756374" y="9111648"/>
                  </a:cubicBezTo>
                  <a:lnTo>
                    <a:pt x="751308" y="9143998"/>
                  </a:lnTo>
                  <a:close/>
                </a:path>
              </a:pathLst>
            </a:custGeom>
            <a:solidFill>
              <a:srgbClr val="FF8E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18106" y="129598"/>
              <a:ext cx="843390" cy="334448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860233" y="130780"/>
            <a:ext cx="8396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Projeto Infra &amp; </a:t>
            </a:r>
            <a:r>
              <a:rPr lang="pt-BR" sz="24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Apps</a:t>
            </a:r>
            <a:r>
              <a:rPr lang="pt-BR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 Ágeis</a:t>
            </a:r>
          </a:p>
        </p:txBody>
      </p:sp>
      <p:sp>
        <p:nvSpPr>
          <p:cNvPr id="79" name="Retângulo de cantos arredondados 6"/>
          <p:cNvSpPr/>
          <p:nvPr/>
        </p:nvSpPr>
        <p:spPr>
          <a:xfrm>
            <a:off x="-367338" y="1365233"/>
            <a:ext cx="6480000" cy="720000"/>
          </a:xfrm>
          <a:prstGeom prst="roundRect">
            <a:avLst>
              <a:gd name="adj" fmla="val 21097"/>
            </a:avLst>
          </a:prstGeom>
          <a:solidFill>
            <a:srgbClr val="F68E1E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720000"/>
            <a:r>
              <a:rPr lang="pt-BR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</a:rPr>
              <a:t>Dinâmica Atual de DEV</a:t>
            </a:r>
            <a:endParaRPr lang="pt-BR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</a:endParaRPr>
          </a:p>
        </p:txBody>
      </p:sp>
      <p:pic>
        <p:nvPicPr>
          <p:cNvPr id="88" name="Picture 2" descr="http://intranet.reynosa.gob.mx/directorio/images/agenda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0485" y="2443898"/>
            <a:ext cx="2611245" cy="2347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tângulo de cantos arredondados 6"/>
          <p:cNvSpPr/>
          <p:nvPr/>
        </p:nvSpPr>
        <p:spPr>
          <a:xfrm>
            <a:off x="-367338" y="3402187"/>
            <a:ext cx="6480000" cy="720000"/>
          </a:xfrm>
          <a:prstGeom prst="roundRect">
            <a:avLst>
              <a:gd name="adj" fmla="val 21097"/>
            </a:avLst>
          </a:prstGeom>
          <a:solidFill>
            <a:schemeClr val="bg1">
              <a:lumMod val="75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720000"/>
            <a:r>
              <a:rPr lang="pt-BR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</a:rPr>
              <a:t>Visão </a:t>
            </a:r>
            <a:r>
              <a:rPr lang="pt-BR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</a:rPr>
              <a:t>DevOps</a:t>
            </a:r>
            <a:r>
              <a:rPr lang="pt-BR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</a:rPr>
              <a:t> e Princípios Smiles</a:t>
            </a:r>
          </a:p>
        </p:txBody>
      </p:sp>
      <p:sp>
        <p:nvSpPr>
          <p:cNvPr id="15" name="Retângulo de cantos arredondados 6"/>
          <p:cNvSpPr/>
          <p:nvPr/>
        </p:nvSpPr>
        <p:spPr>
          <a:xfrm>
            <a:off x="-367338" y="4420664"/>
            <a:ext cx="6480000" cy="720000"/>
          </a:xfrm>
          <a:prstGeom prst="roundRect">
            <a:avLst>
              <a:gd name="adj" fmla="val 21097"/>
            </a:avLst>
          </a:prstGeom>
          <a:solidFill>
            <a:schemeClr val="bg1">
              <a:lumMod val="75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720000"/>
            <a:r>
              <a:rPr lang="pt-BR" sz="2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</a:rPr>
              <a:t>RoadMap</a:t>
            </a:r>
            <a:r>
              <a:rPr lang="pt-BR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</a:rPr>
              <a:t> 2017-2018</a:t>
            </a:r>
          </a:p>
        </p:txBody>
      </p:sp>
      <p:sp>
        <p:nvSpPr>
          <p:cNvPr id="16" name="Retângulo de cantos arredondados 6"/>
          <p:cNvSpPr/>
          <p:nvPr/>
        </p:nvSpPr>
        <p:spPr>
          <a:xfrm>
            <a:off x="-367338" y="5439141"/>
            <a:ext cx="6480000" cy="720000"/>
          </a:xfrm>
          <a:prstGeom prst="roundRect">
            <a:avLst>
              <a:gd name="adj" fmla="val 21097"/>
            </a:avLst>
          </a:prstGeom>
          <a:solidFill>
            <a:schemeClr val="bg1">
              <a:lumMod val="75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720000"/>
            <a:r>
              <a:rPr lang="pt-BR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</a:rPr>
              <a:t>Cenário Atual vs. Entregas Q1-2017</a:t>
            </a:r>
          </a:p>
        </p:txBody>
      </p:sp>
      <p:sp>
        <p:nvSpPr>
          <p:cNvPr id="12" name="Retângulo de cantos arredondados 6"/>
          <p:cNvSpPr/>
          <p:nvPr/>
        </p:nvSpPr>
        <p:spPr>
          <a:xfrm>
            <a:off x="-367338" y="2383710"/>
            <a:ext cx="6480000" cy="720000"/>
          </a:xfrm>
          <a:prstGeom prst="roundRect">
            <a:avLst>
              <a:gd name="adj" fmla="val 21097"/>
            </a:avLst>
          </a:prstGeom>
          <a:solidFill>
            <a:schemeClr val="bg1">
              <a:lumMod val="75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720000"/>
            <a:r>
              <a:rPr lang="pt-BR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</a:rPr>
              <a:t>Principais Problemas Identificados</a:t>
            </a:r>
          </a:p>
        </p:txBody>
      </p:sp>
    </p:spTree>
    <p:extLst>
      <p:ext uri="{BB962C8B-B14F-4D97-AF65-F5344CB8AC3E}">
        <p14:creationId xmlns:p14="http://schemas.microsoft.com/office/powerpoint/2010/main" val="2413853271"/>
      </p:ext>
    </p:extLst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2" y="-3"/>
            <a:ext cx="10117136" cy="750629"/>
            <a:chOff x="2" y="-3"/>
            <a:chExt cx="9143998" cy="750629"/>
          </a:xfrm>
        </p:grpSpPr>
        <p:sp>
          <p:nvSpPr>
            <p:cNvPr id="7" name="Rectangle 2"/>
            <p:cNvSpPr/>
            <p:nvPr/>
          </p:nvSpPr>
          <p:spPr>
            <a:xfrm rot="5400000">
              <a:off x="4196686" y="-4196687"/>
              <a:ext cx="750629" cy="9143998"/>
            </a:xfrm>
            <a:custGeom>
              <a:avLst/>
              <a:gdLst/>
              <a:ahLst/>
              <a:cxnLst/>
              <a:rect l="l" t="t" r="r" b="b"/>
              <a:pathLst>
                <a:path w="1045586" h="9143998">
                  <a:moveTo>
                    <a:pt x="0" y="9143998"/>
                  </a:moveTo>
                  <a:lnTo>
                    <a:pt x="0" y="0"/>
                  </a:lnTo>
                  <a:lnTo>
                    <a:pt x="725309" y="0"/>
                  </a:lnTo>
                  <a:lnTo>
                    <a:pt x="756374" y="198383"/>
                  </a:lnTo>
                  <a:cubicBezTo>
                    <a:pt x="937051" y="1409478"/>
                    <a:pt x="1045586" y="2962131"/>
                    <a:pt x="1045586" y="4655015"/>
                  </a:cubicBezTo>
                  <a:cubicBezTo>
                    <a:pt x="1045586" y="6347900"/>
                    <a:pt x="937051" y="7900553"/>
                    <a:pt x="756374" y="9111648"/>
                  </a:cubicBezTo>
                  <a:lnTo>
                    <a:pt x="751308" y="9143998"/>
                  </a:lnTo>
                  <a:close/>
                </a:path>
              </a:pathLst>
            </a:custGeom>
            <a:solidFill>
              <a:srgbClr val="FF8E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18106" y="129598"/>
              <a:ext cx="843390" cy="334448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860233" y="130780"/>
            <a:ext cx="8396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Dinâmica Atual de DEV</a:t>
            </a:r>
          </a:p>
        </p:txBody>
      </p:sp>
      <p:grpSp>
        <p:nvGrpSpPr>
          <p:cNvPr id="18" name="Agrupar 17"/>
          <p:cNvGrpSpPr/>
          <p:nvPr/>
        </p:nvGrpSpPr>
        <p:grpSpPr>
          <a:xfrm>
            <a:off x="90350" y="1507880"/>
            <a:ext cx="1800000" cy="4387361"/>
            <a:chOff x="90350" y="1507880"/>
            <a:chExt cx="1800000" cy="4387361"/>
          </a:xfrm>
        </p:grpSpPr>
        <p:sp>
          <p:nvSpPr>
            <p:cNvPr id="3" name="Seta: Pentágono 2"/>
            <p:cNvSpPr/>
            <p:nvPr/>
          </p:nvSpPr>
          <p:spPr>
            <a:xfrm>
              <a:off x="90350" y="1507880"/>
              <a:ext cx="1800000" cy="606670"/>
            </a:xfrm>
            <a:prstGeom prst="homePlat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3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cs typeface="Arial" panose="020B0604020202020204" pitchFamily="34" charset="0"/>
                </a:rPr>
                <a:t>Entendimento e </a:t>
              </a:r>
              <a:r>
                <a:rPr lang="pt-BR" sz="1300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cs typeface="Arial" panose="020B0604020202020204" pitchFamily="34" charset="0"/>
                </a:rPr>
                <a:t>Prepararação</a:t>
              </a:r>
              <a:endParaRPr lang="pt-BR" sz="13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" name="Retângulo 4"/>
            <p:cNvSpPr/>
            <p:nvPr/>
          </p:nvSpPr>
          <p:spPr>
            <a:xfrm>
              <a:off x="90350" y="2220056"/>
              <a:ext cx="1527441" cy="3675185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Entende desenho e solução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Verifica Tecnologia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Busca acessos para trabalhar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Desenvolvedor precisa “montar” ambiente de DEV local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Definir apontamentos (Ambiente)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Pede para criar </a:t>
              </a:r>
              <a:r>
                <a:rPr lang="pt-BR" sz="900" dirty="0" err="1"/>
                <a:t>Branch</a:t>
              </a:r>
              <a:endParaRPr lang="pt-BR" sz="900" dirty="0"/>
            </a:p>
          </p:txBody>
        </p:sp>
      </p:grpSp>
      <p:grpSp>
        <p:nvGrpSpPr>
          <p:cNvPr id="19" name="Agrupar 18"/>
          <p:cNvGrpSpPr/>
          <p:nvPr/>
        </p:nvGrpSpPr>
        <p:grpSpPr>
          <a:xfrm>
            <a:off x="1724765" y="1507880"/>
            <a:ext cx="1800000" cy="4387361"/>
            <a:chOff x="1724765" y="1507880"/>
            <a:chExt cx="1800000" cy="4387361"/>
          </a:xfrm>
        </p:grpSpPr>
        <p:sp>
          <p:nvSpPr>
            <p:cNvPr id="4" name="Seta: Divisa 3"/>
            <p:cNvSpPr/>
            <p:nvPr/>
          </p:nvSpPr>
          <p:spPr>
            <a:xfrm>
              <a:off x="1724765" y="1507880"/>
              <a:ext cx="1800000" cy="606670"/>
            </a:xfrm>
            <a:prstGeom prst="chevron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3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cs typeface="Arial" panose="020B0604020202020204" pitchFamily="34" charset="0"/>
                </a:rPr>
                <a:t>Codificação e Teste Local</a:t>
              </a:r>
            </a:p>
          </p:txBody>
        </p:sp>
        <p:sp>
          <p:nvSpPr>
            <p:cNvPr id="12" name="Retângulo 11"/>
            <p:cNvSpPr/>
            <p:nvPr/>
          </p:nvSpPr>
          <p:spPr>
            <a:xfrm>
              <a:off x="1724765" y="2220056"/>
              <a:ext cx="1527441" cy="3675185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7"/>
              </a:pPr>
              <a:r>
                <a:rPr lang="pt-BR" sz="900" dirty="0"/>
                <a:t>Entende desenho e solução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7"/>
              </a:pPr>
              <a:r>
                <a:rPr lang="pt-BR" sz="900" dirty="0"/>
                <a:t>Verifica Tecnologia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7"/>
              </a:pPr>
              <a:r>
                <a:rPr lang="pt-BR" sz="900" dirty="0"/>
                <a:t>Busca acessos para trabalhar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7"/>
              </a:pPr>
              <a:r>
                <a:rPr lang="pt-BR" sz="900" dirty="0"/>
                <a:t>Desenvolvedor precisa “montar” ambiente de DEV local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7"/>
              </a:pPr>
              <a:r>
                <a:rPr lang="pt-BR" sz="900" dirty="0"/>
                <a:t>Definir apontamentos (Ambiente)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7"/>
              </a:pPr>
              <a:r>
                <a:rPr lang="pt-BR" sz="900" dirty="0"/>
                <a:t>Pede para criar </a:t>
              </a:r>
              <a:r>
                <a:rPr lang="pt-BR" sz="900" dirty="0" err="1"/>
                <a:t>Branch</a:t>
              </a:r>
              <a:endParaRPr lang="pt-BR" sz="900" dirty="0"/>
            </a:p>
          </p:txBody>
        </p:sp>
      </p:grpSp>
      <p:grpSp>
        <p:nvGrpSpPr>
          <p:cNvPr id="20" name="Agrupar 19"/>
          <p:cNvGrpSpPr/>
          <p:nvPr/>
        </p:nvGrpSpPr>
        <p:grpSpPr>
          <a:xfrm>
            <a:off x="3359180" y="1507880"/>
            <a:ext cx="1800000" cy="4387361"/>
            <a:chOff x="3359180" y="1507880"/>
            <a:chExt cx="1800000" cy="4387361"/>
          </a:xfrm>
        </p:grpSpPr>
        <p:sp>
          <p:nvSpPr>
            <p:cNvPr id="8" name="Seta: Divisa 7"/>
            <p:cNvSpPr/>
            <p:nvPr/>
          </p:nvSpPr>
          <p:spPr>
            <a:xfrm>
              <a:off x="3359180" y="1507880"/>
              <a:ext cx="1800000" cy="606670"/>
            </a:xfrm>
            <a:prstGeom prst="chevron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3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cs typeface="Arial" panose="020B0604020202020204" pitchFamily="34" charset="0"/>
                </a:rPr>
                <a:t>Build/</a:t>
              </a:r>
              <a:r>
                <a:rPr lang="pt-BR" sz="1300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cs typeface="Arial" panose="020B0604020202020204" pitchFamily="34" charset="0"/>
                </a:rPr>
                <a:t>Deploy</a:t>
              </a:r>
              <a:endParaRPr lang="pt-BR" sz="13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pt-BR" sz="13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cs typeface="Arial" panose="020B0604020202020204" pitchFamily="34" charset="0"/>
                </a:rPr>
                <a:t>(Pré-Teste)</a:t>
              </a:r>
            </a:p>
          </p:txBody>
        </p:sp>
        <p:sp>
          <p:nvSpPr>
            <p:cNvPr id="13" name="Retângulo 12"/>
            <p:cNvSpPr/>
            <p:nvPr/>
          </p:nvSpPr>
          <p:spPr>
            <a:xfrm>
              <a:off x="3359180" y="2220056"/>
              <a:ext cx="1527441" cy="3675185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Entende desenho e solução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Verifica Tecnologia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Busca acessos para trabalhar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Desenvolvedor precisa “montar” ambiente de DEV local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Definir apontamentos (Ambiente)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Pede para criar </a:t>
              </a:r>
              <a:r>
                <a:rPr lang="pt-BR" sz="900" dirty="0" err="1"/>
                <a:t>Branch</a:t>
              </a:r>
              <a:endParaRPr lang="pt-BR" sz="900" dirty="0"/>
            </a:p>
          </p:txBody>
        </p:sp>
      </p:grpSp>
      <p:grpSp>
        <p:nvGrpSpPr>
          <p:cNvPr id="21" name="Agrupar 20"/>
          <p:cNvGrpSpPr/>
          <p:nvPr/>
        </p:nvGrpSpPr>
        <p:grpSpPr>
          <a:xfrm>
            <a:off x="4993595" y="1507880"/>
            <a:ext cx="1800000" cy="4412271"/>
            <a:chOff x="4993595" y="1507880"/>
            <a:chExt cx="1800000" cy="4412271"/>
          </a:xfrm>
        </p:grpSpPr>
        <p:sp>
          <p:nvSpPr>
            <p:cNvPr id="11" name="Seta: Divisa 10"/>
            <p:cNvSpPr/>
            <p:nvPr/>
          </p:nvSpPr>
          <p:spPr>
            <a:xfrm>
              <a:off x="4993595" y="1507880"/>
              <a:ext cx="1800000" cy="606670"/>
            </a:xfrm>
            <a:prstGeom prst="chevron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3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cs typeface="Arial" panose="020B0604020202020204" pitchFamily="34" charset="0"/>
                </a:rPr>
                <a:t>Build/</a:t>
              </a:r>
              <a:r>
                <a:rPr lang="pt-BR" sz="1300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cs typeface="Arial" panose="020B0604020202020204" pitchFamily="34" charset="0"/>
                </a:rPr>
                <a:t>Deploy</a:t>
              </a:r>
              <a:r>
                <a:rPr lang="pt-BR" sz="13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cs typeface="Arial" panose="020B0604020202020204" pitchFamily="34" charset="0"/>
                </a:rPr>
                <a:t> em UAT (QA)</a:t>
              </a:r>
            </a:p>
          </p:txBody>
        </p:sp>
        <p:sp>
          <p:nvSpPr>
            <p:cNvPr id="14" name="Retângulo 13"/>
            <p:cNvSpPr/>
            <p:nvPr/>
          </p:nvSpPr>
          <p:spPr>
            <a:xfrm>
              <a:off x="4993595" y="2244966"/>
              <a:ext cx="1527441" cy="3675185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Entende desenho e solução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Verifica Tecnologia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Busca acessos para trabalhar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Desenvolvedor precisa “montar” ambiente de DEV local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Definir apontamentos (Ambiente)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Pede para criar </a:t>
              </a:r>
              <a:r>
                <a:rPr lang="pt-BR" sz="900" dirty="0" err="1"/>
                <a:t>Branch</a:t>
              </a:r>
              <a:endParaRPr lang="pt-BR" sz="900" dirty="0"/>
            </a:p>
          </p:txBody>
        </p:sp>
      </p:grpSp>
      <p:grpSp>
        <p:nvGrpSpPr>
          <p:cNvPr id="22" name="Agrupar 21"/>
          <p:cNvGrpSpPr/>
          <p:nvPr/>
        </p:nvGrpSpPr>
        <p:grpSpPr>
          <a:xfrm>
            <a:off x="6628010" y="1507880"/>
            <a:ext cx="1800000" cy="4387361"/>
            <a:chOff x="6628010" y="1507880"/>
            <a:chExt cx="1800000" cy="4387361"/>
          </a:xfrm>
        </p:grpSpPr>
        <p:sp>
          <p:nvSpPr>
            <p:cNvPr id="10" name="Seta: Divisa 9"/>
            <p:cNvSpPr/>
            <p:nvPr/>
          </p:nvSpPr>
          <p:spPr>
            <a:xfrm>
              <a:off x="6628010" y="1507880"/>
              <a:ext cx="1800000" cy="606670"/>
            </a:xfrm>
            <a:prstGeom prst="chevron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3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cs typeface="Arial" panose="020B0604020202020204" pitchFamily="34" charset="0"/>
                </a:rPr>
                <a:t>GMUD e Implantação</a:t>
              </a:r>
            </a:p>
          </p:txBody>
        </p:sp>
        <p:sp>
          <p:nvSpPr>
            <p:cNvPr id="15" name="Retângulo 14"/>
            <p:cNvSpPr/>
            <p:nvPr/>
          </p:nvSpPr>
          <p:spPr>
            <a:xfrm>
              <a:off x="6628010" y="2220056"/>
              <a:ext cx="1527441" cy="3675185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Entende desenho e solução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Verifica Tecnologia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Busca acessos para trabalhar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Desenvolvedor precisa “montar” ambiente de DEV local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Definir apontamentos (Ambiente)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Pede para criar </a:t>
              </a:r>
              <a:r>
                <a:rPr lang="pt-BR" sz="900" dirty="0" err="1"/>
                <a:t>Branch</a:t>
              </a:r>
              <a:endParaRPr lang="pt-BR" sz="900" dirty="0"/>
            </a:p>
          </p:txBody>
        </p:sp>
      </p:grpSp>
      <p:grpSp>
        <p:nvGrpSpPr>
          <p:cNvPr id="23" name="Agrupar 22"/>
          <p:cNvGrpSpPr/>
          <p:nvPr/>
        </p:nvGrpSpPr>
        <p:grpSpPr>
          <a:xfrm>
            <a:off x="8262425" y="1507880"/>
            <a:ext cx="1800000" cy="4387360"/>
            <a:chOff x="8262425" y="1507880"/>
            <a:chExt cx="1800000" cy="4387360"/>
          </a:xfrm>
        </p:grpSpPr>
        <p:sp>
          <p:nvSpPr>
            <p:cNvPr id="16" name="Seta: Divisa 15"/>
            <p:cNvSpPr/>
            <p:nvPr/>
          </p:nvSpPr>
          <p:spPr>
            <a:xfrm>
              <a:off x="8262425" y="1507880"/>
              <a:ext cx="1800000" cy="606670"/>
            </a:xfrm>
            <a:prstGeom prst="chevron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3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cs typeface="Arial" panose="020B0604020202020204" pitchFamily="34" charset="0"/>
                </a:rPr>
                <a:t>Chaveamento e Produção FULL</a:t>
              </a:r>
            </a:p>
          </p:txBody>
        </p:sp>
        <p:sp>
          <p:nvSpPr>
            <p:cNvPr id="17" name="Retângulo 16"/>
            <p:cNvSpPr/>
            <p:nvPr/>
          </p:nvSpPr>
          <p:spPr>
            <a:xfrm>
              <a:off x="8262425" y="2220055"/>
              <a:ext cx="1527441" cy="3675185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Entende desenho e solução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Verifica Tecnologia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Busca acessos para trabalhar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Desenvolvedor precisa “montar” ambiente de DEV local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Definir apontamentos (Ambiente)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Pede para criar </a:t>
              </a:r>
              <a:r>
                <a:rPr lang="pt-BR" sz="900" dirty="0" err="1"/>
                <a:t>Branch</a:t>
              </a:r>
              <a:endParaRPr lang="pt-BR" sz="900" dirty="0"/>
            </a:p>
          </p:txBody>
        </p:sp>
      </p:grpSp>
      <p:sp>
        <p:nvSpPr>
          <p:cNvPr id="24" name="Retângulo 23"/>
          <p:cNvSpPr/>
          <p:nvPr/>
        </p:nvSpPr>
        <p:spPr>
          <a:xfrm rot="20868314">
            <a:off x="2126336" y="4689352"/>
            <a:ext cx="5864465" cy="111662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NINGUÉM SABE QUE EXISTE</a:t>
            </a:r>
          </a:p>
        </p:txBody>
      </p:sp>
    </p:spTree>
    <p:extLst>
      <p:ext uri="{BB962C8B-B14F-4D97-AF65-F5344CB8AC3E}">
        <p14:creationId xmlns:p14="http://schemas.microsoft.com/office/powerpoint/2010/main" val="2435075221"/>
      </p:ext>
    </p:extLst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/>
          <p:cNvSpPr>
            <a:spLocks noChangeAspect="1"/>
          </p:cNvSpPr>
          <p:nvPr/>
        </p:nvSpPr>
        <p:spPr>
          <a:xfrm flipH="1">
            <a:off x="415269" y="1341059"/>
            <a:ext cx="3437794" cy="4752010"/>
          </a:xfrm>
          <a:prstGeom prst="rect">
            <a:avLst/>
          </a:prstGeom>
          <a:blipFill dpi="0" rotWithShape="1">
            <a:blip r:embed="rId2"/>
            <a:srcRect/>
            <a:stretch>
              <a:fillRect l="-38617" r="-52323" b="-1850"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2" name="Grupo 1"/>
          <p:cNvGrpSpPr/>
          <p:nvPr/>
        </p:nvGrpSpPr>
        <p:grpSpPr>
          <a:xfrm>
            <a:off x="2" y="-3"/>
            <a:ext cx="10117136" cy="750629"/>
            <a:chOff x="2" y="-3"/>
            <a:chExt cx="9143998" cy="750629"/>
          </a:xfrm>
        </p:grpSpPr>
        <p:sp>
          <p:nvSpPr>
            <p:cNvPr id="7" name="Rectangle 2"/>
            <p:cNvSpPr/>
            <p:nvPr/>
          </p:nvSpPr>
          <p:spPr>
            <a:xfrm rot="5400000">
              <a:off x="4196686" y="-4196687"/>
              <a:ext cx="750629" cy="9143998"/>
            </a:xfrm>
            <a:custGeom>
              <a:avLst/>
              <a:gdLst/>
              <a:ahLst/>
              <a:cxnLst/>
              <a:rect l="l" t="t" r="r" b="b"/>
              <a:pathLst>
                <a:path w="1045586" h="9143998">
                  <a:moveTo>
                    <a:pt x="0" y="9143998"/>
                  </a:moveTo>
                  <a:lnTo>
                    <a:pt x="0" y="0"/>
                  </a:lnTo>
                  <a:lnTo>
                    <a:pt x="725309" y="0"/>
                  </a:lnTo>
                  <a:lnTo>
                    <a:pt x="756374" y="198383"/>
                  </a:lnTo>
                  <a:cubicBezTo>
                    <a:pt x="937051" y="1409478"/>
                    <a:pt x="1045586" y="2962131"/>
                    <a:pt x="1045586" y="4655015"/>
                  </a:cubicBezTo>
                  <a:cubicBezTo>
                    <a:pt x="1045586" y="6347900"/>
                    <a:pt x="937051" y="7900553"/>
                    <a:pt x="756374" y="9111648"/>
                  </a:cubicBezTo>
                  <a:lnTo>
                    <a:pt x="751308" y="9143998"/>
                  </a:lnTo>
                  <a:close/>
                </a:path>
              </a:pathLst>
            </a:custGeom>
            <a:solidFill>
              <a:srgbClr val="FF8E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18106" y="129598"/>
              <a:ext cx="843390" cy="334448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860233" y="130780"/>
            <a:ext cx="8396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Principais Problemas Identificados</a:t>
            </a:r>
          </a:p>
        </p:txBody>
      </p:sp>
      <p:sp>
        <p:nvSpPr>
          <p:cNvPr id="8" name="Retângulo 7"/>
          <p:cNvSpPr/>
          <p:nvPr/>
        </p:nvSpPr>
        <p:spPr>
          <a:xfrm>
            <a:off x="4225844" y="1341059"/>
            <a:ext cx="5497275" cy="475201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pPr marL="360000" indent="-2880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Baixa Qualidade </a:t>
            </a:r>
            <a:r>
              <a:rPr lang="pt-BR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de Entrega</a:t>
            </a:r>
          </a:p>
          <a:p>
            <a:pPr marL="360000" indent="-2880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Alto Esforço </a:t>
            </a:r>
            <a:r>
              <a:rPr lang="pt-BR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Operacional</a:t>
            </a:r>
          </a:p>
          <a:p>
            <a:pPr marL="360000" indent="-2880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Baixo </a:t>
            </a:r>
            <a:r>
              <a:rPr lang="pt-BR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Time </a:t>
            </a:r>
            <a:r>
              <a:rPr lang="pt-BR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to</a:t>
            </a:r>
            <a:r>
              <a:rPr lang="pt-BR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 Market </a:t>
            </a:r>
            <a:r>
              <a:rPr lang="pt-BR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(velocidade de entrada)</a:t>
            </a:r>
          </a:p>
          <a:p>
            <a:pPr marL="360000" indent="-2880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Deploys</a:t>
            </a: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 muito espaçados</a:t>
            </a:r>
          </a:p>
          <a:p>
            <a:pPr marL="360000" indent="-2880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Testes manuais e precários </a:t>
            </a:r>
            <a:r>
              <a:rPr lang="pt-BR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(há poucos testes automatizados)</a:t>
            </a:r>
          </a:p>
          <a:p>
            <a:pPr marL="360000" indent="-2880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Controle de versão pouco eficiente</a:t>
            </a:r>
          </a:p>
          <a:p>
            <a:pPr marL="360000" indent="-2880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Falta de Padronização </a:t>
            </a:r>
            <a:r>
              <a:rPr lang="pt-BR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(versionamento, documentação, rastreabilidade)</a:t>
            </a:r>
          </a:p>
        </p:txBody>
      </p:sp>
    </p:spTree>
    <p:extLst>
      <p:ext uri="{BB962C8B-B14F-4D97-AF65-F5344CB8AC3E}">
        <p14:creationId xmlns:p14="http://schemas.microsoft.com/office/powerpoint/2010/main" val="1680481988"/>
      </p:ext>
    </p:extLst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/>
          <p:nvPr/>
        </p:nvSpPr>
        <p:spPr>
          <a:xfrm flipH="1">
            <a:off x="0" y="464046"/>
            <a:ext cx="10117138" cy="6393954"/>
          </a:xfrm>
          <a:prstGeom prst="rect">
            <a:avLst/>
          </a:prstGeom>
          <a:blipFill dpi="0" rotWithShape="1">
            <a:blip r:embed="rId2"/>
            <a:srcRect/>
            <a:stretch>
              <a:fillRect t="-1" b="-1"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pSp>
        <p:nvGrpSpPr>
          <p:cNvPr id="2" name="Grupo 1"/>
          <p:cNvGrpSpPr/>
          <p:nvPr/>
        </p:nvGrpSpPr>
        <p:grpSpPr>
          <a:xfrm>
            <a:off x="2" y="-3"/>
            <a:ext cx="10117136" cy="750629"/>
            <a:chOff x="2" y="-3"/>
            <a:chExt cx="9143998" cy="750629"/>
          </a:xfrm>
        </p:grpSpPr>
        <p:sp>
          <p:nvSpPr>
            <p:cNvPr id="7" name="Rectangle 2"/>
            <p:cNvSpPr/>
            <p:nvPr/>
          </p:nvSpPr>
          <p:spPr>
            <a:xfrm rot="5400000">
              <a:off x="4196686" y="-4196687"/>
              <a:ext cx="750629" cy="9143998"/>
            </a:xfrm>
            <a:custGeom>
              <a:avLst/>
              <a:gdLst/>
              <a:ahLst/>
              <a:cxnLst/>
              <a:rect l="l" t="t" r="r" b="b"/>
              <a:pathLst>
                <a:path w="1045586" h="9143998">
                  <a:moveTo>
                    <a:pt x="0" y="9143998"/>
                  </a:moveTo>
                  <a:lnTo>
                    <a:pt x="0" y="0"/>
                  </a:lnTo>
                  <a:lnTo>
                    <a:pt x="725309" y="0"/>
                  </a:lnTo>
                  <a:lnTo>
                    <a:pt x="756374" y="198383"/>
                  </a:lnTo>
                  <a:cubicBezTo>
                    <a:pt x="937051" y="1409478"/>
                    <a:pt x="1045586" y="2962131"/>
                    <a:pt x="1045586" y="4655015"/>
                  </a:cubicBezTo>
                  <a:cubicBezTo>
                    <a:pt x="1045586" y="6347900"/>
                    <a:pt x="937051" y="7900553"/>
                    <a:pt x="756374" y="9111648"/>
                  </a:cubicBezTo>
                  <a:lnTo>
                    <a:pt x="751308" y="9143998"/>
                  </a:lnTo>
                  <a:close/>
                </a:path>
              </a:pathLst>
            </a:custGeom>
            <a:solidFill>
              <a:srgbClr val="FF8E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18106" y="129598"/>
              <a:ext cx="843390" cy="334448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860233" y="130780"/>
            <a:ext cx="8396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Principais Problemas Identificados</a:t>
            </a:r>
          </a:p>
        </p:txBody>
      </p:sp>
      <p:sp>
        <p:nvSpPr>
          <p:cNvPr id="10" name="CaixaDeTexto 9"/>
          <p:cNvSpPr txBox="1"/>
          <p:nvPr/>
        </p:nvSpPr>
        <p:spPr>
          <a:xfrm>
            <a:off x="1309776" y="1627690"/>
            <a:ext cx="7497587" cy="3602621"/>
          </a:xfrm>
          <a:prstGeom prst="rect">
            <a:avLst/>
          </a:prstGeom>
          <a:solidFill>
            <a:schemeClr val="tx1">
              <a:lumMod val="75000"/>
              <a:lumOff val="25000"/>
              <a:alpha val="88000"/>
            </a:schemeClr>
          </a:solidFill>
        </p:spPr>
        <p:txBody>
          <a:bodyPr wrap="square" rtlCol="0" anchor="ctr">
            <a:noAutofit/>
          </a:bodyPr>
          <a:lstStyle/>
          <a:p>
            <a:pPr marL="360000" indent="-3240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b="1" dirty="0">
                <a:solidFill>
                  <a:schemeClr val="bg1"/>
                </a:solidFill>
                <a:effectLst>
                  <a:outerShdw blurRad="50800" dist="63500" dir="2700000" algn="tl" rotWithShape="0">
                    <a:schemeClr val="tx1">
                      <a:alpha val="85000"/>
                    </a:schemeClr>
                  </a:outerShdw>
                </a:effectLst>
              </a:rPr>
              <a:t>Baixa Qualidade </a:t>
            </a:r>
            <a:r>
              <a:rPr lang="pt-BR" dirty="0">
                <a:solidFill>
                  <a:schemeClr val="bg1"/>
                </a:solidFill>
                <a:effectLst>
                  <a:outerShdw blurRad="50800" dist="63500" dir="2700000" algn="tl" rotWithShape="0">
                    <a:schemeClr val="tx1">
                      <a:alpha val="85000"/>
                    </a:schemeClr>
                  </a:outerShdw>
                </a:effectLst>
              </a:rPr>
              <a:t>de Entrega</a:t>
            </a:r>
          </a:p>
          <a:p>
            <a:pPr marL="360000" indent="-3240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b="1" dirty="0">
                <a:solidFill>
                  <a:schemeClr val="bg1"/>
                </a:solidFill>
                <a:effectLst>
                  <a:outerShdw blurRad="50800" dist="63500" dir="2700000" algn="tl" rotWithShape="0">
                    <a:schemeClr val="tx1">
                      <a:alpha val="85000"/>
                    </a:schemeClr>
                  </a:outerShdw>
                </a:effectLst>
              </a:rPr>
              <a:t>Alto Esforço </a:t>
            </a:r>
            <a:r>
              <a:rPr lang="pt-BR" dirty="0">
                <a:solidFill>
                  <a:schemeClr val="bg1"/>
                </a:solidFill>
                <a:effectLst>
                  <a:outerShdw blurRad="50800" dist="63500" dir="2700000" algn="tl" rotWithShape="0">
                    <a:schemeClr val="tx1">
                      <a:alpha val="85000"/>
                    </a:schemeClr>
                  </a:outerShdw>
                </a:effectLst>
              </a:rPr>
              <a:t>Operacional</a:t>
            </a:r>
          </a:p>
          <a:p>
            <a:pPr marL="360000" indent="-3240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b="1" dirty="0">
                <a:solidFill>
                  <a:schemeClr val="bg1"/>
                </a:solidFill>
                <a:effectLst>
                  <a:outerShdw blurRad="50800" dist="63500" dir="2700000" algn="tl" rotWithShape="0">
                    <a:schemeClr val="tx1">
                      <a:alpha val="85000"/>
                    </a:schemeClr>
                  </a:outerShdw>
                </a:effectLst>
              </a:rPr>
              <a:t>Baixo </a:t>
            </a:r>
            <a:r>
              <a:rPr lang="pt-BR" b="1" i="1" dirty="0">
                <a:solidFill>
                  <a:schemeClr val="bg1"/>
                </a:solidFill>
                <a:effectLst>
                  <a:outerShdw blurRad="50800" dist="63500" dir="2700000" algn="tl" rotWithShape="0">
                    <a:schemeClr val="tx1">
                      <a:alpha val="85000"/>
                    </a:schemeClr>
                  </a:outerShdw>
                </a:effectLst>
              </a:rPr>
              <a:t>Time </a:t>
            </a:r>
            <a:r>
              <a:rPr lang="pt-BR" b="1" i="1" dirty="0" err="1">
                <a:solidFill>
                  <a:schemeClr val="bg1"/>
                </a:solidFill>
                <a:effectLst>
                  <a:outerShdw blurRad="50800" dist="63500" dir="2700000" algn="tl" rotWithShape="0">
                    <a:schemeClr val="tx1">
                      <a:alpha val="85000"/>
                    </a:schemeClr>
                  </a:outerShdw>
                </a:effectLst>
              </a:rPr>
              <a:t>to</a:t>
            </a:r>
            <a:r>
              <a:rPr lang="pt-BR" b="1" i="1" dirty="0">
                <a:solidFill>
                  <a:schemeClr val="bg1"/>
                </a:solidFill>
                <a:effectLst>
                  <a:outerShdw blurRad="50800" dist="63500" dir="2700000" algn="tl" rotWithShape="0">
                    <a:schemeClr val="tx1">
                      <a:alpha val="85000"/>
                    </a:schemeClr>
                  </a:outerShdw>
                </a:effectLst>
              </a:rPr>
              <a:t> Market </a:t>
            </a:r>
            <a:r>
              <a:rPr lang="pt-BR" dirty="0">
                <a:solidFill>
                  <a:schemeClr val="bg1"/>
                </a:solidFill>
                <a:effectLst>
                  <a:outerShdw blurRad="50800" dist="63500" dir="2700000" algn="tl" rotWithShape="0">
                    <a:schemeClr val="tx1">
                      <a:alpha val="85000"/>
                    </a:schemeClr>
                  </a:outerShdw>
                </a:effectLst>
              </a:rPr>
              <a:t>(velocidade de entrada)</a:t>
            </a:r>
          </a:p>
          <a:p>
            <a:pPr marL="360000" indent="-3240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b="1" i="1" dirty="0" err="1">
                <a:solidFill>
                  <a:schemeClr val="bg1"/>
                </a:solidFill>
                <a:effectLst>
                  <a:outerShdw blurRad="50800" dist="63500" dir="2700000" algn="tl" rotWithShape="0">
                    <a:schemeClr val="tx1">
                      <a:alpha val="85000"/>
                    </a:schemeClr>
                  </a:outerShdw>
                </a:effectLst>
              </a:rPr>
              <a:t>Deploys</a:t>
            </a:r>
            <a:r>
              <a:rPr lang="pt-BR" b="1" dirty="0">
                <a:solidFill>
                  <a:schemeClr val="bg1"/>
                </a:solidFill>
                <a:effectLst>
                  <a:outerShdw blurRad="50800" dist="63500" dir="2700000" algn="tl" rotWithShape="0">
                    <a:schemeClr val="tx1">
                      <a:alpha val="85000"/>
                    </a:schemeClr>
                  </a:outerShdw>
                </a:effectLst>
              </a:rPr>
              <a:t> muito espaçados</a:t>
            </a:r>
          </a:p>
          <a:p>
            <a:pPr marL="360000" indent="-3240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b="1" dirty="0">
                <a:solidFill>
                  <a:schemeClr val="bg1"/>
                </a:solidFill>
                <a:effectLst>
                  <a:outerShdw blurRad="50800" dist="63500" dir="2700000" algn="tl" rotWithShape="0">
                    <a:schemeClr val="tx1">
                      <a:alpha val="85000"/>
                    </a:schemeClr>
                  </a:outerShdw>
                </a:effectLst>
              </a:rPr>
              <a:t>Testes manuais e precários </a:t>
            </a:r>
            <a:r>
              <a:rPr lang="pt-BR" dirty="0">
                <a:solidFill>
                  <a:schemeClr val="bg1"/>
                </a:solidFill>
                <a:effectLst>
                  <a:outerShdw blurRad="50800" dist="63500" dir="2700000" algn="tl" rotWithShape="0">
                    <a:schemeClr val="tx1">
                      <a:alpha val="85000"/>
                    </a:schemeClr>
                  </a:outerShdw>
                </a:effectLst>
              </a:rPr>
              <a:t>(há poucos testes automatizados)</a:t>
            </a:r>
          </a:p>
          <a:p>
            <a:pPr marL="360000" indent="-3240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b="1" dirty="0">
                <a:solidFill>
                  <a:schemeClr val="bg1"/>
                </a:solidFill>
                <a:effectLst>
                  <a:outerShdw blurRad="50800" dist="63500" dir="2700000" algn="tl" rotWithShape="0">
                    <a:schemeClr val="tx1">
                      <a:alpha val="85000"/>
                    </a:schemeClr>
                  </a:outerShdw>
                </a:effectLst>
              </a:rPr>
              <a:t>Controle de versão pouco eficiente</a:t>
            </a:r>
          </a:p>
          <a:p>
            <a:pPr marL="360000" indent="-3240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b="1" dirty="0">
                <a:solidFill>
                  <a:schemeClr val="bg1"/>
                </a:solidFill>
                <a:effectLst>
                  <a:outerShdw blurRad="50800" dist="63500" dir="2700000" algn="tl" rotWithShape="0">
                    <a:schemeClr val="tx1">
                      <a:alpha val="85000"/>
                    </a:schemeClr>
                  </a:outerShdw>
                </a:effectLst>
              </a:rPr>
              <a:t>Falta de Padronização </a:t>
            </a:r>
            <a:r>
              <a:rPr lang="pt-BR" dirty="0">
                <a:solidFill>
                  <a:schemeClr val="bg1"/>
                </a:solidFill>
                <a:effectLst>
                  <a:outerShdw blurRad="50800" dist="63500" dir="2700000" algn="tl" rotWithShape="0">
                    <a:schemeClr val="tx1">
                      <a:alpha val="85000"/>
                    </a:schemeClr>
                  </a:outerShdw>
                </a:effectLst>
              </a:rPr>
              <a:t>(versionamento, documentação, rastreabilidade)</a:t>
            </a:r>
          </a:p>
        </p:txBody>
      </p:sp>
    </p:spTree>
    <p:extLst>
      <p:ext uri="{BB962C8B-B14F-4D97-AF65-F5344CB8AC3E}">
        <p14:creationId xmlns:p14="http://schemas.microsoft.com/office/powerpoint/2010/main" val="1434161707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8589</TotalTime>
  <Words>362</Words>
  <Application>Microsoft Office PowerPoint</Application>
  <PresentationFormat>Personalizar</PresentationFormat>
  <Paragraphs>89</Paragraphs>
  <Slides>6</Slides>
  <Notes>0</Notes>
  <HiddenSlides>1</HiddenSlides>
  <MMClips>0</MMClips>
  <ScaleCrop>false</ScaleCrop>
  <HeadingPairs>
    <vt:vector size="6" baseType="variant">
      <vt:variant>
        <vt:lpstr>Fontes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7" baseType="lpstr">
      <vt:lpstr>Arial</vt:lpstr>
      <vt:lpstr>Calibri</vt:lpstr>
      <vt:lpstr>Candara</vt:lpstr>
      <vt:lpstr>Georgia</vt:lpstr>
      <vt:lpstr>Gotham Rounded Book</vt:lpstr>
      <vt:lpstr>Helvetica</vt:lpstr>
      <vt:lpstr>Segoe UI</vt:lpstr>
      <vt:lpstr>Times New Roman</vt:lpstr>
      <vt:lpstr>Trebuchet MS</vt:lpstr>
      <vt:lpstr>Wingdings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Plano de Ação</dc:title>
  <dc:subject>Operações de TI</dc:subject>
  <dc:creator>Nei Henckes</dc:creator>
  <cp:lastModifiedBy>Jorge Filho</cp:lastModifiedBy>
  <cp:revision>99</cp:revision>
  <dcterms:created xsi:type="dcterms:W3CDTF">2014-01-24T21:35:00Z</dcterms:created>
  <dcterms:modified xsi:type="dcterms:W3CDTF">2017-02-21T12:01:44Z</dcterms:modified>
</cp:coreProperties>
</file>