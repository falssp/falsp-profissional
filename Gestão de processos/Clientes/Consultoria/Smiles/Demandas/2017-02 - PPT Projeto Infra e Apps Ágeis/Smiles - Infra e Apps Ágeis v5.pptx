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375" r:id="rId3"/>
    <p:sldId id="376" r:id="rId4"/>
    <p:sldId id="380" r:id="rId5"/>
    <p:sldId id="377" r:id="rId6"/>
    <p:sldId id="382" r:id="rId7"/>
    <p:sldId id="381" r:id="rId8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FFF99"/>
    <a:srgbClr val="D0462D"/>
    <a:srgbClr val="FFFF66"/>
    <a:srgbClr val="00CC00"/>
    <a:srgbClr val="F68E1E"/>
    <a:srgbClr val="FF6600"/>
    <a:srgbClr val="F57124"/>
    <a:srgbClr val="99CC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051" y="6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688550"/>
            <a:ext cx="568862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Projeto </a:t>
            </a: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Infra &amp;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Apps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Ágeis</a:t>
            </a:r>
          </a:p>
          <a:p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Visão, Princípios e Road-</a:t>
            </a:r>
            <a:r>
              <a:rPr lang="pt-BR" sz="28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Map</a:t>
            </a:r>
            <a:endParaRPr lang="pt-BR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21-02-2017</a:t>
            </a:r>
          </a:p>
        </p:txBody>
      </p:sp>
      <p:pic>
        <p:nvPicPr>
          <p:cNvPr id="1026" name="Picture 2" descr="https://media.licdn.com/mpr/mpr/shrinknp_800_800/AAEAAQAAAAAAAAaSAAAAJGM1OGMzMzA5LTkxYWItNDcyZi04MWI2LTA5ZmIzY2ZkNzFhO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92"/>
          <a:stretch/>
        </p:blipFill>
        <p:spPr bwMode="auto">
          <a:xfrm>
            <a:off x="972346" y="3429002"/>
            <a:ext cx="4427832" cy="214462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0" y="0"/>
            <a:ext cx="10181492" cy="69283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707" y="129598"/>
            <a:ext cx="933147" cy="334448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097316" y="2010439"/>
            <a:ext cx="7922507" cy="2837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“In software,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something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painful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way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it more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frequently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.” 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pt-BR" sz="2400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David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Farley</a:t>
            </a:r>
            <a:r>
              <a:rPr lang="pt-BR" sz="14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Delivery: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Reliable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Software Releases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through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Build, Test,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Deployment Automation</a:t>
            </a:r>
            <a:endParaRPr lang="pt-BR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Projeto Infra &amp;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Apps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Ágeis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1365233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Atual de DEV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485" y="2443898"/>
            <a:ext cx="2611245" cy="23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ângulo de cantos arredondados 6"/>
          <p:cNvSpPr/>
          <p:nvPr/>
        </p:nvSpPr>
        <p:spPr>
          <a:xfrm>
            <a:off x="-367338" y="3402187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2018 e Princípios</a:t>
            </a:r>
          </a:p>
        </p:txBody>
      </p:sp>
      <p:sp>
        <p:nvSpPr>
          <p:cNvPr id="15" name="Retângulo de cantos arredondados 6"/>
          <p:cNvSpPr/>
          <p:nvPr/>
        </p:nvSpPr>
        <p:spPr>
          <a:xfrm>
            <a:off x="-367338" y="4420664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Road-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Map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2017-2018</a:t>
            </a:r>
          </a:p>
        </p:txBody>
      </p:sp>
      <p:sp>
        <p:nvSpPr>
          <p:cNvPr id="16" name="Retângulo de cantos arredondados 6"/>
          <p:cNvSpPr/>
          <p:nvPr/>
        </p:nvSpPr>
        <p:spPr>
          <a:xfrm>
            <a:off x="-367338" y="5439141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Cenário Atual vs. Entregas Q1-2017</a:t>
            </a:r>
          </a:p>
        </p:txBody>
      </p:sp>
      <p:sp>
        <p:nvSpPr>
          <p:cNvPr id="12" name="Retângulo de cantos arredondados 6"/>
          <p:cNvSpPr/>
          <p:nvPr/>
        </p:nvSpPr>
        <p:spPr>
          <a:xfrm>
            <a:off x="-367338" y="2383710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Principais Problemas Identificados</a:t>
            </a:r>
          </a:p>
        </p:txBody>
      </p:sp>
      <p:sp>
        <p:nvSpPr>
          <p:cNvPr id="13" name="CaixaDeTexto 12"/>
          <p:cNvSpPr txBox="1"/>
          <p:nvPr/>
        </p:nvSpPr>
        <p:spPr>
          <a:xfrm rot="20326838">
            <a:off x="2004644" y="3131957"/>
            <a:ext cx="5930043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rgbClr val="C00000"/>
                </a:solidFill>
                <a:latin typeface="Candara" panose="020E0502030303020204" pitchFamily="34" charset="0"/>
              </a:rPr>
              <a:t>REVISAR NO FINAL</a:t>
            </a:r>
          </a:p>
        </p:txBody>
      </p:sp>
    </p:spTree>
    <p:extLst>
      <p:ext uri="{BB962C8B-B14F-4D97-AF65-F5344CB8AC3E}">
        <p14:creationId xmlns:p14="http://schemas.microsoft.com/office/powerpoint/2010/main" val="241385327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 flipH="1">
            <a:off x="0" y="-1"/>
            <a:ext cx="10117138" cy="6858001"/>
          </a:xfrm>
          <a:prstGeom prst="rect">
            <a:avLst/>
          </a:prstGeom>
          <a:blipFill dpi="0" rotWithShape="1">
            <a:blip r:embed="rId2"/>
            <a:srcRect/>
            <a:stretch>
              <a:fillRect l="-10001" t="-5941" r="-9999" b="-16369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" name="Agrupar 2"/>
          <p:cNvGrpSpPr/>
          <p:nvPr/>
        </p:nvGrpSpPr>
        <p:grpSpPr>
          <a:xfrm>
            <a:off x="262189" y="773160"/>
            <a:ext cx="4428000" cy="5082564"/>
            <a:chOff x="262189" y="773160"/>
            <a:chExt cx="4428000" cy="5082564"/>
          </a:xfrm>
        </p:grpSpPr>
        <p:sp>
          <p:nvSpPr>
            <p:cNvPr id="9" name="TextBox 8"/>
            <p:cNvSpPr txBox="1"/>
            <p:nvPr/>
          </p:nvSpPr>
          <p:spPr>
            <a:xfrm>
              <a:off x="607117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Missão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262189" y="1427724"/>
              <a:ext cx="4428000" cy="4428000"/>
            </a:xfrm>
            <a:prstGeom prst="rect">
              <a:avLst/>
            </a:prstGeom>
            <a:solidFill>
              <a:schemeClr val="tx2">
                <a:lumMod val="75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“Habilitar os desenvolvedores 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entregar </a:t>
              </a:r>
              <a:r>
                <a:rPr lang="pt-BR" sz="2400" b="1" i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software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com qualidade e funcionando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no primeiro dia de trabalho na Smiles.”</a:t>
              </a:r>
            </a:p>
          </p:txBody>
        </p:sp>
      </p:grpSp>
      <p:pic>
        <p:nvPicPr>
          <p:cNvPr id="1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5" y="227799"/>
            <a:ext cx="933147" cy="334448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471017" y="773160"/>
            <a:ext cx="4428000" cy="5082564"/>
            <a:chOff x="5471017" y="773160"/>
            <a:chExt cx="4428000" cy="5082564"/>
          </a:xfrm>
        </p:grpSpPr>
        <p:sp>
          <p:nvSpPr>
            <p:cNvPr id="6" name="CaixaDeTexto 5"/>
            <p:cNvSpPr txBox="1"/>
            <p:nvPr/>
          </p:nvSpPr>
          <p:spPr>
            <a:xfrm>
              <a:off x="5471017" y="1427724"/>
              <a:ext cx="4428000" cy="4428000"/>
            </a:xfrm>
            <a:prstGeom prst="rect">
              <a:avLst/>
            </a:prstGeom>
            <a:solidFill>
              <a:schemeClr val="tx2">
                <a:lumMod val="75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“Promover um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ambiente de inovação constante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onde a Tecnologia seja de fato um habilitador que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impulsiona os negócios da Smiles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, através de uma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cultura de desenvolvimento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que permita evoluções rápidas, contínuas e com alta resiliência.”</a:t>
              </a:r>
            </a:p>
          </p:txBody>
        </p:sp>
        <p:sp>
          <p:nvSpPr>
            <p:cNvPr id="7" name="TextBox 8"/>
            <p:cNvSpPr txBox="1"/>
            <p:nvPr/>
          </p:nvSpPr>
          <p:spPr>
            <a:xfrm>
              <a:off x="5815945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Visão</a:t>
              </a:r>
            </a:p>
          </p:txBody>
        </p:sp>
      </p:grpSp>
      <p:sp>
        <p:nvSpPr>
          <p:cNvPr id="2" name="Retângulo 1"/>
          <p:cNvSpPr/>
          <p:nvPr/>
        </p:nvSpPr>
        <p:spPr>
          <a:xfrm>
            <a:off x="4448487" y="6434914"/>
            <a:ext cx="45448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“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Think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big,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Act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small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Fail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fast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Learn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rapidly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.”</a:t>
            </a:r>
            <a:r>
              <a:rPr lang="pt-BR" sz="16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84681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Atual de DEV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90350" y="1455128"/>
            <a:ext cx="1800000" cy="4672175"/>
            <a:chOff x="90350" y="1507880"/>
            <a:chExt cx="1800000" cy="4672175"/>
          </a:xfrm>
        </p:grpSpPr>
        <p:sp>
          <p:nvSpPr>
            <p:cNvPr id="3" name="Seta: Pentágono 2"/>
            <p:cNvSpPr/>
            <p:nvPr/>
          </p:nvSpPr>
          <p:spPr>
            <a:xfrm>
              <a:off x="90350" y="1507880"/>
              <a:ext cx="1800000" cy="606670"/>
            </a:xfrm>
            <a:prstGeom prst="homePlat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Entendimento e Preparação</a:t>
              </a:r>
            </a:p>
          </p:txBody>
        </p:sp>
        <p:sp>
          <p:nvSpPr>
            <p:cNvPr id="5" name="Retângulo 4"/>
            <p:cNvSpPr/>
            <p:nvPr/>
          </p:nvSpPr>
          <p:spPr>
            <a:xfrm>
              <a:off x="9035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entende Desenho de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qual é a Tecnologia a ser usada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necessários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“monta” seu ambiente de DEV e Teste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Realiza definição de apontamentos (ambientes)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1724765" y="1455128"/>
            <a:ext cx="1800000" cy="4672175"/>
            <a:chOff x="1724765" y="1507880"/>
            <a:chExt cx="1800000" cy="4672175"/>
          </a:xfrm>
        </p:grpSpPr>
        <p:sp>
          <p:nvSpPr>
            <p:cNvPr id="4" name="Seta: Divisa 3"/>
            <p:cNvSpPr/>
            <p:nvPr/>
          </p:nvSpPr>
          <p:spPr>
            <a:xfrm>
              <a:off x="172476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Codificação e Teste Local</a:t>
              </a: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1724765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checkout</a:t>
              </a:r>
              <a:r>
                <a:rPr lang="pt-BR" sz="900" dirty="0"/>
                <a:t> e roda código AS-IS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Começa o desenvolvimento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Funcionalidade / Correção desenvolvida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Realiza teste mínimo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Commit</a:t>
              </a:r>
              <a:r>
                <a:rPr lang="pt-BR" sz="900" dirty="0"/>
                <a:t> na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0" name="Agrupar 19"/>
          <p:cNvGrpSpPr/>
          <p:nvPr/>
        </p:nvGrpSpPr>
        <p:grpSpPr>
          <a:xfrm>
            <a:off x="3359180" y="1455128"/>
            <a:ext cx="1800000" cy="4672175"/>
            <a:chOff x="3359180" y="1507880"/>
            <a:chExt cx="1800000" cy="4672175"/>
          </a:xfrm>
        </p:grpSpPr>
        <p:sp>
          <p:nvSpPr>
            <p:cNvPr id="8" name="Seta: Divisa 7"/>
            <p:cNvSpPr/>
            <p:nvPr/>
          </p:nvSpPr>
          <p:spPr>
            <a:xfrm>
              <a:off x="335918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(Pré-Teste)</a:t>
              </a:r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335918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Faz Build do Pacote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 (volta p/ passo 9)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Libera para QA (Pré-Teste)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Pré-Teste OK, segue. Pré-Teste NOK, volta p/ passo 9</a:t>
              </a:r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4993595" y="1455128"/>
            <a:ext cx="1800000" cy="4697085"/>
            <a:chOff x="4993595" y="1507880"/>
            <a:chExt cx="1800000" cy="4697085"/>
          </a:xfrm>
        </p:grpSpPr>
        <p:sp>
          <p:nvSpPr>
            <p:cNvPr id="11" name="Seta: Divisa 10"/>
            <p:cNvSpPr/>
            <p:nvPr/>
          </p:nvSpPr>
          <p:spPr>
            <a:xfrm>
              <a:off x="499359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 em UAT (QA)</a:t>
              </a: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4993595" y="224496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 ordem de entradas do </a:t>
              </a:r>
              <a:r>
                <a:rPr lang="pt-BR" sz="900" dirty="0" err="1"/>
                <a:t>Quarter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das Merges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 e Definição da Merge Master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Faz Build de todos os pacotes em produção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 + Arquivos </a:t>
              </a:r>
              <a:r>
                <a:rPr lang="pt-BR" sz="900" dirty="0" err="1"/>
                <a:t>Properties</a:t>
              </a:r>
              <a:r>
                <a:rPr lang="pt-BR" sz="900" dirty="0"/>
                <a:t> (Apontamentos)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Libera </a:t>
              </a:r>
              <a:r>
                <a:rPr lang="pt-BR" sz="900" dirty="0" err="1"/>
                <a:t>Deploy</a:t>
              </a:r>
              <a:r>
                <a:rPr lang="pt-BR" sz="900" dirty="0"/>
                <a:t> para QA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QA faz Regressivo FULL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Regressivo OK, segue. Regressivo NOK, volta p/  passo 9</a:t>
              </a:r>
            </a:p>
          </p:txBody>
        </p:sp>
      </p:grpSp>
      <p:grpSp>
        <p:nvGrpSpPr>
          <p:cNvPr id="22" name="Agrupar 21"/>
          <p:cNvGrpSpPr/>
          <p:nvPr/>
        </p:nvGrpSpPr>
        <p:grpSpPr>
          <a:xfrm>
            <a:off x="6628010" y="1455128"/>
            <a:ext cx="1800000" cy="4672175"/>
            <a:chOff x="6628010" y="1507880"/>
            <a:chExt cx="1800000" cy="4672175"/>
          </a:xfrm>
        </p:grpSpPr>
        <p:sp>
          <p:nvSpPr>
            <p:cNvPr id="10" name="Seta: Divisa 9"/>
            <p:cNvSpPr/>
            <p:nvPr/>
          </p:nvSpPr>
          <p:spPr>
            <a:xfrm>
              <a:off x="662801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GMUD e Implantação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662801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Abre GMUD e estabelece Blue/Green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Implantação GMUD na data acordada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Deploy</a:t>
              </a:r>
              <a:r>
                <a:rPr lang="pt-BR" sz="900" dirty="0"/>
                <a:t> em  Ambiente de Produção </a:t>
              </a:r>
              <a:r>
                <a:rPr lang="pt-BR" sz="900" dirty="0" err="1"/>
                <a:t>Standby</a:t>
              </a:r>
              <a:r>
                <a:rPr lang="pt-BR" sz="900" dirty="0"/>
                <a:t>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Configurar Máquinas locais para enxergar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ajustes na  monitoração (</a:t>
              </a:r>
              <a:r>
                <a:rPr lang="pt-BR" sz="900" dirty="0" err="1"/>
                <a:t>Dynatrace</a:t>
              </a:r>
              <a:r>
                <a:rPr lang="pt-BR" sz="900" dirty="0"/>
                <a:t>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Smoke</a:t>
              </a:r>
              <a:r>
                <a:rPr lang="pt-BR" sz="900" dirty="0"/>
                <a:t> Test no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 err="1"/>
                <a:t>Smoke</a:t>
              </a:r>
              <a:r>
                <a:rPr lang="pt-BR" sz="900" dirty="0"/>
                <a:t> Test OK, segue. </a:t>
              </a:r>
              <a:r>
                <a:rPr lang="pt-BR" sz="900" dirty="0" err="1"/>
                <a:t>Smoke</a:t>
              </a:r>
              <a:r>
                <a:rPr lang="pt-BR" sz="900" dirty="0"/>
                <a:t> Test NOK, volta para passo 9.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endParaRPr lang="pt-BR" sz="900" dirty="0"/>
            </a:p>
          </p:txBody>
        </p:sp>
      </p:grpSp>
      <p:grpSp>
        <p:nvGrpSpPr>
          <p:cNvPr id="23" name="Agrupar 22"/>
          <p:cNvGrpSpPr/>
          <p:nvPr/>
        </p:nvGrpSpPr>
        <p:grpSpPr>
          <a:xfrm>
            <a:off x="8262425" y="1455128"/>
            <a:ext cx="1800000" cy="4672174"/>
            <a:chOff x="8262425" y="1507880"/>
            <a:chExt cx="1800000" cy="4672174"/>
          </a:xfrm>
        </p:grpSpPr>
        <p:sp>
          <p:nvSpPr>
            <p:cNvPr id="16" name="Seta: Divisa 15"/>
            <p:cNvSpPr/>
            <p:nvPr/>
          </p:nvSpPr>
          <p:spPr>
            <a:xfrm>
              <a:off x="826242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Chaveamento e Produção FULL</a:t>
              </a: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8262425" y="2220054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Parcial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Acompanhamento do chaveamento parcial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Total 100%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KT para Operações (opcional)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Merge do </a:t>
              </a:r>
              <a:r>
                <a:rPr lang="pt-BR" sz="900" dirty="0" err="1"/>
                <a:t>Branch</a:t>
              </a:r>
              <a:r>
                <a:rPr lang="pt-BR" sz="900" dirty="0"/>
                <a:t> na </a:t>
              </a:r>
              <a:r>
                <a:rPr lang="pt-BR" sz="900" dirty="0" err="1"/>
                <a:t>master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Release do próximo projeto do </a:t>
              </a:r>
              <a:r>
                <a:rPr lang="pt-BR" sz="900" dirty="0" err="1"/>
                <a:t>Quarter</a:t>
              </a:r>
              <a:r>
                <a:rPr lang="pt-BR" sz="900" dirty="0"/>
                <a:t> (volta para passo 19)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Operação Assistida em Produção</a:t>
              </a:r>
            </a:p>
          </p:txBody>
        </p:sp>
      </p:grpSp>
      <p:sp>
        <p:nvSpPr>
          <p:cNvPr id="24" name="Retângulo: Cantos Arredondados 23"/>
          <p:cNvSpPr/>
          <p:nvPr/>
        </p:nvSpPr>
        <p:spPr>
          <a:xfrm>
            <a:off x="9035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5" name="Retângulo: Cantos Arredondados 24"/>
          <p:cNvSpPr/>
          <p:nvPr/>
        </p:nvSpPr>
        <p:spPr>
          <a:xfrm>
            <a:off x="8262425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5 dias </a:t>
            </a:r>
          </a:p>
        </p:txBody>
      </p:sp>
      <p:sp>
        <p:nvSpPr>
          <p:cNvPr id="26" name="Retângulo: Cantos Arredondados 25"/>
          <p:cNvSpPr/>
          <p:nvPr/>
        </p:nvSpPr>
        <p:spPr>
          <a:xfrm>
            <a:off x="172476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7" name="Retângulo: Cantos Arredondados 26"/>
          <p:cNvSpPr/>
          <p:nvPr/>
        </p:nvSpPr>
        <p:spPr>
          <a:xfrm>
            <a:off x="335918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2 dias </a:t>
            </a:r>
          </a:p>
        </p:txBody>
      </p:sp>
      <p:sp>
        <p:nvSpPr>
          <p:cNvPr id="28" name="Retângulo: Cantos Arredondados 27"/>
          <p:cNvSpPr/>
          <p:nvPr/>
        </p:nvSpPr>
        <p:spPr>
          <a:xfrm>
            <a:off x="499359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7 dias </a:t>
            </a:r>
          </a:p>
        </p:txBody>
      </p:sp>
      <p:sp>
        <p:nvSpPr>
          <p:cNvPr id="29" name="Retângulo: Cantos Arredondados 28"/>
          <p:cNvSpPr/>
          <p:nvPr/>
        </p:nvSpPr>
        <p:spPr>
          <a:xfrm>
            <a:off x="662801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6 dias </a:t>
            </a:r>
          </a:p>
        </p:txBody>
      </p:sp>
      <p:sp>
        <p:nvSpPr>
          <p:cNvPr id="30" name="Retângulo: Cantos Arredondados 29"/>
          <p:cNvSpPr/>
          <p:nvPr/>
        </p:nvSpPr>
        <p:spPr>
          <a:xfrm>
            <a:off x="90350" y="819553"/>
            <a:ext cx="1923088" cy="180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ndara" panose="020E0502030303020204" pitchFamily="34" charset="0"/>
                <a:cs typeface="Arial" panose="020B0604020202020204" pitchFamily="34" charset="0"/>
              </a:rPr>
              <a:t>Tempos médios estimados</a:t>
            </a:r>
            <a:endParaRPr lang="pt-BR" sz="1300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743949" y="4986285"/>
            <a:ext cx="3515231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C00000"/>
                </a:solidFill>
                <a:latin typeface="Candara" panose="020E0502030303020204" pitchFamily="34" charset="0"/>
              </a:rPr>
              <a:t>Importante: poucos desenvolvedores conhecem o processo todo!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90350" y="6327003"/>
            <a:ext cx="9972075" cy="324000"/>
          </a:xfrm>
          <a:prstGeom prst="homePlat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3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360000" algn="l"/>
            <a:r>
              <a:rPr lang="pt-BR" dirty="0"/>
              <a:t>Considerando o “caminho feliz”, sem a ocorrência de falhas (incidentes) ou crises!</a:t>
            </a:r>
          </a:p>
        </p:txBody>
      </p:sp>
      <p:pic>
        <p:nvPicPr>
          <p:cNvPr id="32" name="Gráfico 31" descr="Rosto Sorridente sem Preenchimento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347" y="6363003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7522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spect="1"/>
          </p:cNvSpPr>
          <p:nvPr/>
        </p:nvSpPr>
        <p:spPr>
          <a:xfrm flipH="1">
            <a:off x="415269" y="1217967"/>
            <a:ext cx="3437794" cy="5220000"/>
          </a:xfrm>
          <a:prstGeom prst="rect">
            <a:avLst/>
          </a:prstGeom>
          <a:blipFill dpi="0" rotWithShape="1">
            <a:blip r:embed="rId2"/>
            <a:srcRect/>
            <a:stretch>
              <a:fillRect l="-38617" r="-52323" b="-1850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Principais Problemas Identificados</a:t>
            </a:r>
          </a:p>
        </p:txBody>
      </p:sp>
      <p:sp>
        <p:nvSpPr>
          <p:cNvPr id="10" name="Retângulo 9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Baixa Qualidade de Entrega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Alto Esforço Operacional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Baixo </a:t>
            </a: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Time </a:t>
            </a: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to</a:t>
            </a: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Market 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(velocidade de entrada de novas funcionalidades)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Deploys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muito espaçados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Testes manuais e precários (há poucos testes automatizados)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Controle de versão pouco eficiente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Falta de Padronização (versionamento, documentação, rastreabilidade)</a:t>
            </a:r>
          </a:p>
        </p:txBody>
      </p:sp>
    </p:spTree>
    <p:extLst>
      <p:ext uri="{BB962C8B-B14F-4D97-AF65-F5344CB8AC3E}">
        <p14:creationId xmlns:p14="http://schemas.microsoft.com/office/powerpoint/2010/main" val="285835975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spect="1"/>
          </p:cNvSpPr>
          <p:nvPr/>
        </p:nvSpPr>
        <p:spPr>
          <a:xfrm flipH="1">
            <a:off x="415269" y="1217967"/>
            <a:ext cx="3437794" cy="5220000"/>
          </a:xfrm>
          <a:prstGeom prst="rect">
            <a:avLst/>
          </a:prstGeom>
          <a:blipFill dpi="0" rotWithShape="1">
            <a:blip r:embed="rId2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rcRect/>
            <a:stretch>
              <a:fillRect l="-18610" t="-1850" r="-16938" b="-1478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Princípios Smiles</a:t>
            </a:r>
          </a:p>
        </p:txBody>
      </p:sp>
      <p:sp>
        <p:nvSpPr>
          <p:cNvPr id="8" name="Retângulo 7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Simplicidade em toda a cadeia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Jornada com mudanças constantes - não tem fim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Teste faz parte do desenvolvimento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Entregas menores e mais frequentes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não é release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Tudo é versionável e rastreável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Pipeline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quebrado equivale a “produção parada”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Done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significa em Produção</a:t>
            </a:r>
          </a:p>
        </p:txBody>
      </p:sp>
    </p:spTree>
    <p:extLst>
      <p:ext uri="{BB962C8B-B14F-4D97-AF65-F5344CB8AC3E}">
        <p14:creationId xmlns:p14="http://schemas.microsoft.com/office/powerpoint/2010/main" val="247737880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8669</TotalTime>
  <Words>605</Words>
  <Application>Microsoft Office PowerPoint</Application>
  <PresentationFormat>Personalizar</PresentationFormat>
  <Paragraphs>108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9" baseType="lpstr">
      <vt:lpstr>Arial</vt:lpstr>
      <vt:lpstr>Calibri</vt:lpstr>
      <vt:lpstr>Candara</vt:lpstr>
      <vt:lpstr>Georgia</vt:lpstr>
      <vt:lpstr>Gotham Rounded Book</vt:lpstr>
      <vt:lpstr>Helvetica</vt:lpstr>
      <vt:lpstr>Segoe UI</vt:lpstr>
      <vt:lpstr>Segoe UI Light</vt:lpstr>
      <vt:lpstr>Times New Roman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113</cp:revision>
  <dcterms:created xsi:type="dcterms:W3CDTF">2014-01-24T21:35:00Z</dcterms:created>
  <dcterms:modified xsi:type="dcterms:W3CDTF">2017-02-21T13:33:54Z</dcterms:modified>
</cp:coreProperties>
</file>