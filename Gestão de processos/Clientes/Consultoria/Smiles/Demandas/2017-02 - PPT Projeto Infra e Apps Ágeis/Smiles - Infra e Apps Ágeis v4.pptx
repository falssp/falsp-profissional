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375" r:id="rId3"/>
    <p:sldId id="376" r:id="rId4"/>
    <p:sldId id="380" r:id="rId5"/>
    <p:sldId id="377" r:id="rId6"/>
    <p:sldId id="378" r:id="rId7"/>
  </p:sldIdLst>
  <p:sldSz cx="101171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8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D0462D"/>
    <a:srgbClr val="FFFF66"/>
    <a:srgbClr val="00CC00"/>
    <a:srgbClr val="F68E1E"/>
    <a:srgbClr val="FF6600"/>
    <a:srgbClr val="F57124"/>
    <a:srgbClr val="99CCFF"/>
    <a:srgbClr val="FF99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29" autoAdjust="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494" y="62"/>
      </p:cViewPr>
      <p:guideLst>
        <p:guide orient="horz" pos="2160"/>
        <p:guide pos="318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21/02/2017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685800"/>
            <a:ext cx="505777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786" y="2130428"/>
            <a:ext cx="8599567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571" y="3886200"/>
            <a:ext cx="708199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  <p:transition spd="slow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  <p:transition spd="slow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184" y="4406903"/>
            <a:ext cx="8599567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9184" y="2906713"/>
            <a:ext cx="8599567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  <p:transition spd="slow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5857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2878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  <p:transition spd="slow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535113"/>
            <a:ext cx="447016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5857" y="2174875"/>
            <a:ext cx="44701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39367" y="1535113"/>
            <a:ext cx="447191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39367" y="2174875"/>
            <a:ext cx="447191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  <p:transition spd="slow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  <p:transition spd="slow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  <p:transition spd="slow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857" y="273050"/>
            <a:ext cx="332846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521" y="273053"/>
            <a:ext cx="565576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5857" y="1435103"/>
            <a:ext cx="332846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  <p:transition spd="slow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030" y="4800600"/>
            <a:ext cx="607028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83030" y="612775"/>
            <a:ext cx="607028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030" y="5367338"/>
            <a:ext cx="607028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  <p:transition spd="slow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  <p:transition spd="slow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34925" y="274641"/>
            <a:ext cx="227635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5857" y="274641"/>
            <a:ext cx="6660449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  <p:transition spd="slow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5857" y="274638"/>
            <a:ext cx="910542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600203"/>
            <a:ext cx="910542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5857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2/21/2017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6689" y="6356353"/>
            <a:ext cx="32037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50615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fade/>
  </p:transition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/>
          <p:nvPr/>
        </p:nvSpPr>
        <p:spPr>
          <a:xfrm>
            <a:off x="-1393" y="3"/>
            <a:ext cx="6375313" cy="6857999"/>
          </a:xfrm>
          <a:custGeom>
            <a:avLst/>
            <a:gdLst/>
            <a:ahLst/>
            <a:cxnLst/>
            <a:rect l="l" t="t" r="r" b="b"/>
            <a:pathLst>
              <a:path w="5762090" h="6857999">
                <a:moveTo>
                  <a:pt x="0" y="0"/>
                </a:moveTo>
                <a:lnTo>
                  <a:pt x="1920697" y="0"/>
                </a:lnTo>
                <a:lnTo>
                  <a:pt x="3279881" y="0"/>
                </a:lnTo>
                <a:lnTo>
                  <a:pt x="5200578" y="0"/>
                </a:lnTo>
                <a:lnTo>
                  <a:pt x="5255041" y="148787"/>
                </a:lnTo>
                <a:cubicBezTo>
                  <a:pt x="5571805" y="1057108"/>
                  <a:pt x="5762090" y="2221597"/>
                  <a:pt x="5762090" y="3491260"/>
                </a:cubicBezTo>
                <a:cubicBezTo>
                  <a:pt x="5762090" y="4760923"/>
                  <a:pt x="5571805" y="5925412"/>
                  <a:pt x="5255041" y="6833733"/>
                </a:cubicBezTo>
                <a:lnTo>
                  <a:pt x="5246158" y="6857999"/>
                </a:lnTo>
                <a:lnTo>
                  <a:pt x="3325461" y="6857999"/>
                </a:lnTo>
                <a:lnTo>
                  <a:pt x="1920697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FF8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303" y="3276362"/>
            <a:ext cx="2206288" cy="787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1949" y="688550"/>
            <a:ext cx="5688627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Projeto </a:t>
            </a:r>
          </a:p>
          <a:p>
            <a:r>
              <a:rPr lang="pt-BR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Infra &amp; </a:t>
            </a:r>
            <a:r>
              <a:rPr lang="pt-BR" sz="36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Apps</a:t>
            </a:r>
            <a:r>
              <a:rPr lang="pt-BR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 Ágeis</a:t>
            </a:r>
          </a:p>
          <a:p>
            <a:endParaRPr lang="pt-BR" sz="3600" b="1" i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2800" b="1" i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Visão, Princípios e Road-</a:t>
            </a:r>
            <a:r>
              <a:rPr lang="pt-BR" sz="2800" b="1" i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Map</a:t>
            </a:r>
            <a:endParaRPr lang="pt-BR" sz="2800" b="1" i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Versão 1 – 21-02-2017</a:t>
            </a:r>
          </a:p>
        </p:txBody>
      </p:sp>
      <p:pic>
        <p:nvPicPr>
          <p:cNvPr id="1026" name="Picture 2" descr="https://media.licdn.com/mpr/mpr/shrinknp_800_800/AAEAAQAAAAAAAAaSAAAAJGM1OGMzMzA5LTkxYWItNDcyZi04MWI2LTA5ZmIzY2ZkNzFhOQ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992"/>
          <a:stretch/>
        </p:blipFill>
        <p:spPr bwMode="auto">
          <a:xfrm>
            <a:off x="972346" y="3429002"/>
            <a:ext cx="4427832" cy="214462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5359936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0" y="0"/>
            <a:ext cx="10181492" cy="69283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2707" y="129598"/>
            <a:ext cx="933147" cy="334448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1097316" y="2010439"/>
            <a:ext cx="7922507" cy="28371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“In software,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when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something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painful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way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reduce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pain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b="1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 it more </a:t>
            </a:r>
            <a:r>
              <a:rPr lang="pt-BR" sz="3200" b="1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frequently</a:t>
            </a:r>
            <a:r>
              <a:rPr lang="pt-BR" sz="3200" b="1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pt-BR" sz="3200" b="1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not</a:t>
            </a:r>
            <a:r>
              <a:rPr lang="pt-BR" sz="3200" b="1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b="1" dirty="0" err="1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less</a:t>
            </a:r>
            <a:r>
              <a:rPr lang="pt-BR" sz="32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.” </a:t>
            </a:r>
          </a:p>
          <a:p>
            <a:pPr>
              <a:lnSpc>
                <a:spcPct val="107000"/>
              </a:lnSpc>
              <a:spcBef>
                <a:spcPts val="600"/>
              </a:spcBef>
              <a:spcAft>
                <a:spcPts val="600"/>
              </a:spcAft>
            </a:pPr>
            <a:endParaRPr lang="pt-BR" sz="2400" dirty="0">
              <a:solidFill>
                <a:schemeClr val="bg1"/>
              </a:solidFill>
              <a:latin typeface="Georgia" panose="02040502050405020303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r">
              <a:lnSpc>
                <a:spcPct val="107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David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Farley</a:t>
            </a:r>
            <a:r>
              <a:rPr lang="pt-BR" sz="1400" dirty="0">
                <a:solidFill>
                  <a:schemeClr val="bg1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 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Continuous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Delivery: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Reliable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Software Releases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through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Build, Test, </a:t>
            </a:r>
            <a:r>
              <a:rPr lang="pt-BR" sz="1400" b="1" dirty="0" err="1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pt-BR" sz="1400" b="1" dirty="0">
                <a:solidFill>
                  <a:schemeClr val="bg1"/>
                </a:solidFill>
                <a:latin typeface="Helvetica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Deployment Automation</a:t>
            </a:r>
            <a:endParaRPr lang="pt-BR" sz="20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096188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860233" y="130780"/>
            <a:ext cx="8396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Projeto Infra &amp; </a:t>
            </a:r>
            <a:r>
              <a:rPr lang="pt-BR" sz="24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Apps</a:t>
            </a:r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 Ágeis</a:t>
            </a:r>
          </a:p>
        </p:txBody>
      </p:sp>
      <p:sp>
        <p:nvSpPr>
          <p:cNvPr id="79" name="Retângulo de cantos arredondados 6"/>
          <p:cNvSpPr/>
          <p:nvPr/>
        </p:nvSpPr>
        <p:spPr>
          <a:xfrm>
            <a:off x="-367338" y="1365233"/>
            <a:ext cx="6480000" cy="720000"/>
          </a:xfrm>
          <a:prstGeom prst="roundRect">
            <a:avLst>
              <a:gd name="adj" fmla="val 21097"/>
            </a:avLst>
          </a:prstGeom>
          <a:solidFill>
            <a:srgbClr val="F68E1E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Dinâmica Atual de DEV</a:t>
            </a: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</a:endParaRPr>
          </a:p>
        </p:txBody>
      </p:sp>
      <p:pic>
        <p:nvPicPr>
          <p:cNvPr id="88" name="Picture 2" descr="http://intranet.reynosa.gob.mx/directorio/images/agenda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485" y="2443898"/>
            <a:ext cx="2611245" cy="234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tângulo de cantos arredondados 6"/>
          <p:cNvSpPr/>
          <p:nvPr/>
        </p:nvSpPr>
        <p:spPr>
          <a:xfrm>
            <a:off x="-367338" y="3402187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Visão 2018 e Princípios</a:t>
            </a:r>
          </a:p>
        </p:txBody>
      </p:sp>
      <p:sp>
        <p:nvSpPr>
          <p:cNvPr id="15" name="Retângulo de cantos arredondados 6"/>
          <p:cNvSpPr/>
          <p:nvPr/>
        </p:nvSpPr>
        <p:spPr>
          <a:xfrm>
            <a:off x="-367338" y="4420664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Road-</a:t>
            </a:r>
            <a:r>
              <a:rPr lang="pt-BR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Map</a:t>
            </a:r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 2017-2018</a:t>
            </a:r>
          </a:p>
        </p:txBody>
      </p:sp>
      <p:sp>
        <p:nvSpPr>
          <p:cNvPr id="16" name="Retângulo de cantos arredondados 6"/>
          <p:cNvSpPr/>
          <p:nvPr/>
        </p:nvSpPr>
        <p:spPr>
          <a:xfrm>
            <a:off x="-367338" y="5439141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Cenário Atual vs. Entregas Q1-2017</a:t>
            </a:r>
          </a:p>
        </p:txBody>
      </p:sp>
      <p:sp>
        <p:nvSpPr>
          <p:cNvPr id="12" name="Retângulo de cantos arredondados 6"/>
          <p:cNvSpPr/>
          <p:nvPr/>
        </p:nvSpPr>
        <p:spPr>
          <a:xfrm>
            <a:off x="-367338" y="2383710"/>
            <a:ext cx="6480000" cy="720000"/>
          </a:xfrm>
          <a:prstGeom prst="roundRect">
            <a:avLst>
              <a:gd name="adj" fmla="val 21097"/>
            </a:avLst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720000"/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Principais Problemas Identificados</a:t>
            </a:r>
          </a:p>
        </p:txBody>
      </p:sp>
      <p:sp>
        <p:nvSpPr>
          <p:cNvPr id="13" name="CaixaDeTexto 12"/>
          <p:cNvSpPr txBox="1"/>
          <p:nvPr/>
        </p:nvSpPr>
        <p:spPr>
          <a:xfrm rot="20326838">
            <a:off x="2004644" y="3131957"/>
            <a:ext cx="5930043" cy="76944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rgbClr val="C00000"/>
                </a:solidFill>
                <a:latin typeface="Candara" panose="020E0502030303020204" pitchFamily="34" charset="0"/>
              </a:rPr>
              <a:t>REVISAR NO FINAL</a:t>
            </a:r>
          </a:p>
        </p:txBody>
      </p:sp>
    </p:spTree>
    <p:extLst>
      <p:ext uri="{BB962C8B-B14F-4D97-AF65-F5344CB8AC3E}">
        <p14:creationId xmlns:p14="http://schemas.microsoft.com/office/powerpoint/2010/main" val="2413853271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 flipH="1">
            <a:off x="0" y="-1"/>
            <a:ext cx="10117138" cy="6858001"/>
          </a:xfrm>
          <a:prstGeom prst="rect">
            <a:avLst/>
          </a:prstGeom>
          <a:blipFill dpi="0" rotWithShape="1">
            <a:blip r:embed="rId2"/>
            <a:srcRect/>
            <a:stretch>
              <a:fillRect l="-10001" t="-5941" r="-9999" b="-16369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pSp>
        <p:nvGrpSpPr>
          <p:cNvPr id="3" name="Agrupar 2"/>
          <p:cNvGrpSpPr/>
          <p:nvPr/>
        </p:nvGrpSpPr>
        <p:grpSpPr>
          <a:xfrm>
            <a:off x="262189" y="773160"/>
            <a:ext cx="4428000" cy="5082564"/>
            <a:chOff x="262189" y="773160"/>
            <a:chExt cx="4428000" cy="5082564"/>
          </a:xfrm>
        </p:grpSpPr>
        <p:sp>
          <p:nvSpPr>
            <p:cNvPr id="9" name="TextBox 8"/>
            <p:cNvSpPr txBox="1"/>
            <p:nvPr/>
          </p:nvSpPr>
          <p:spPr>
            <a:xfrm>
              <a:off x="607117" y="773160"/>
              <a:ext cx="3738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cs typeface="Segoe UI" panose="020B0502040204020203" pitchFamily="34" charset="0"/>
                </a:rPr>
                <a:t>Missão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262189" y="1427724"/>
              <a:ext cx="4428000" cy="4428000"/>
            </a:xfrm>
            <a:prstGeom prst="rect">
              <a:avLst/>
            </a:prstGeom>
            <a:solidFill>
              <a:schemeClr val="tx2">
                <a:lumMod val="75000"/>
                <a:alpha val="88000"/>
              </a:schemeClr>
            </a:solidFill>
          </p:spPr>
          <p:txBody>
            <a:bodyPr wrap="square" rtlCol="0" anchor="ctr">
              <a:noAutofit/>
            </a:bodyPr>
            <a:lstStyle/>
            <a:p>
              <a:pPr marL="36000">
                <a:lnSpc>
                  <a:spcPts val="35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“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Habilitar os desenvolvedores a </a:t>
              </a:r>
              <a:r>
                <a:rPr lang="pt-BR" sz="2400" b="1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entregar </a:t>
              </a:r>
              <a:r>
                <a:rPr lang="pt-BR" sz="2400" b="1" i="1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software</a:t>
              </a:r>
              <a:r>
                <a:rPr lang="pt-BR" sz="2400" b="1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 com qualidade e funcionando 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no primeiro dia de trabalho na Smiles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.”</a:t>
              </a:r>
            </a:p>
          </p:txBody>
        </p:sp>
      </p:grpSp>
      <p:pic>
        <p:nvPicPr>
          <p:cNvPr id="12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5" y="227799"/>
            <a:ext cx="933147" cy="334448"/>
          </a:xfrm>
          <a:prstGeom prst="rect">
            <a:avLst/>
          </a:prstGeom>
        </p:spPr>
      </p:pic>
      <p:grpSp>
        <p:nvGrpSpPr>
          <p:cNvPr id="4" name="Agrupar 3"/>
          <p:cNvGrpSpPr/>
          <p:nvPr/>
        </p:nvGrpSpPr>
        <p:grpSpPr>
          <a:xfrm>
            <a:off x="5471017" y="773160"/>
            <a:ext cx="4428000" cy="5082564"/>
            <a:chOff x="5471017" y="773160"/>
            <a:chExt cx="4428000" cy="5082564"/>
          </a:xfrm>
        </p:grpSpPr>
        <p:sp>
          <p:nvSpPr>
            <p:cNvPr id="6" name="CaixaDeTexto 5"/>
            <p:cNvSpPr txBox="1"/>
            <p:nvPr/>
          </p:nvSpPr>
          <p:spPr>
            <a:xfrm>
              <a:off x="5471017" y="1427724"/>
              <a:ext cx="4428000" cy="4428000"/>
            </a:xfrm>
            <a:prstGeom prst="rect">
              <a:avLst/>
            </a:prstGeom>
            <a:solidFill>
              <a:schemeClr val="tx2">
                <a:lumMod val="75000"/>
                <a:alpha val="88000"/>
              </a:schemeClr>
            </a:solidFill>
          </p:spPr>
          <p:txBody>
            <a:bodyPr wrap="square" rtlCol="0" anchor="ctr">
              <a:noAutofit/>
            </a:bodyPr>
            <a:lstStyle/>
            <a:p>
              <a:pPr marL="36000">
                <a:lnSpc>
                  <a:spcPts val="35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“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Promover um </a:t>
              </a:r>
              <a:r>
                <a:rPr lang="pt-BR" sz="2400" b="1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ambiente de inovação constante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 onde a Tecnologia seja de fato um habilitador que </a:t>
              </a:r>
              <a:r>
                <a:rPr lang="pt-BR" sz="2400" b="1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impulsiona os negócios da Smiles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, através de uma </a:t>
              </a:r>
              <a:r>
                <a:rPr lang="pt-BR" sz="2400" b="1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cultura de desenvolvimento 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que permita evoluções rápidas, contínuas e com alta resiliência</a:t>
              </a:r>
              <a:r>
                <a:rPr lang="pt-BR" sz="2400" dirty="0">
                  <a:solidFill>
                    <a:schemeClr val="bg1"/>
                  </a:solidFill>
                  <a:effectLst>
                    <a:outerShdw blurRad="50800" dist="63500" dir="2700000" algn="tl" rotWithShape="0">
                      <a:schemeClr val="tx1">
                        <a:alpha val="85000"/>
                      </a:schemeClr>
                    </a:outerShdw>
                  </a:effectLst>
                  <a:latin typeface="Segoe UI Light" panose="020B0502040204020203" pitchFamily="34" charset="0"/>
                  <a:cs typeface="Segoe UI Light" panose="020B0502040204020203" pitchFamily="34" charset="0"/>
                </a:rPr>
                <a:t>.”</a:t>
              </a:r>
            </a:p>
          </p:txBody>
        </p:sp>
        <p:sp>
          <p:nvSpPr>
            <p:cNvPr id="7" name="TextBox 8"/>
            <p:cNvSpPr txBox="1"/>
            <p:nvPr/>
          </p:nvSpPr>
          <p:spPr>
            <a:xfrm>
              <a:off x="5815945" y="773160"/>
              <a:ext cx="3738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cs typeface="Segoe UI" panose="020B0502040204020203" pitchFamily="34" charset="0"/>
                </a:rPr>
                <a:t>Visão</a:t>
              </a:r>
            </a:p>
          </p:txBody>
        </p:sp>
      </p:grpSp>
      <p:sp>
        <p:nvSpPr>
          <p:cNvPr id="2" name="Retângulo 1"/>
          <p:cNvSpPr/>
          <p:nvPr/>
        </p:nvSpPr>
        <p:spPr>
          <a:xfrm>
            <a:off x="4448487" y="6434914"/>
            <a:ext cx="45448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“</a:t>
            </a:r>
            <a:r>
              <a:rPr lang="pt-BR" sz="1600" i="1" dirty="0" err="1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Think</a:t>
            </a:r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 big, </a:t>
            </a:r>
            <a:r>
              <a:rPr lang="pt-BR" sz="1600" i="1" dirty="0" err="1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Act</a:t>
            </a:r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 </a:t>
            </a:r>
            <a:r>
              <a:rPr lang="pt-BR" sz="1600" i="1" dirty="0" err="1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small</a:t>
            </a:r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, </a:t>
            </a:r>
            <a:r>
              <a:rPr lang="pt-BR" sz="1600" i="1" dirty="0" err="1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Fail</a:t>
            </a:r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 </a:t>
            </a:r>
            <a:r>
              <a:rPr lang="pt-BR" sz="1600" i="1" dirty="0" err="1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fast</a:t>
            </a:r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, </a:t>
            </a:r>
            <a:r>
              <a:rPr lang="pt-BR" sz="1600" i="1" dirty="0" err="1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Learn</a:t>
            </a:r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 </a:t>
            </a:r>
            <a:r>
              <a:rPr lang="pt-BR" sz="1600" i="1" dirty="0" err="1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rapidly</a:t>
            </a:r>
            <a:r>
              <a:rPr lang="pt-BR" sz="1600" i="1" dirty="0">
                <a:solidFill>
                  <a:schemeClr val="bg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.”</a:t>
            </a:r>
            <a:r>
              <a:rPr lang="pt-BR" sz="1600" i="1" dirty="0"/>
              <a:t>.</a:t>
            </a:r>
            <a:endParaRPr lang="pt-BR" sz="1600" i="1" dirty="0"/>
          </a:p>
        </p:txBody>
      </p:sp>
    </p:spTree>
    <p:extLst>
      <p:ext uri="{BB962C8B-B14F-4D97-AF65-F5344CB8AC3E}">
        <p14:creationId xmlns:p14="http://schemas.microsoft.com/office/powerpoint/2010/main" val="346846811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860233" y="130780"/>
            <a:ext cx="8396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Dinâmica Atual de DEV</a:t>
            </a:r>
          </a:p>
        </p:txBody>
      </p:sp>
      <p:grpSp>
        <p:nvGrpSpPr>
          <p:cNvPr id="18" name="Agrupar 17"/>
          <p:cNvGrpSpPr/>
          <p:nvPr/>
        </p:nvGrpSpPr>
        <p:grpSpPr>
          <a:xfrm>
            <a:off x="90350" y="1455128"/>
            <a:ext cx="1800000" cy="4672175"/>
            <a:chOff x="90350" y="1507880"/>
            <a:chExt cx="1800000" cy="4672175"/>
          </a:xfrm>
        </p:grpSpPr>
        <p:sp>
          <p:nvSpPr>
            <p:cNvPr id="3" name="Seta: Pentágono 2"/>
            <p:cNvSpPr/>
            <p:nvPr/>
          </p:nvSpPr>
          <p:spPr>
            <a:xfrm>
              <a:off x="90350" y="1507880"/>
              <a:ext cx="1800000" cy="606670"/>
            </a:xfrm>
            <a:prstGeom prst="homePlat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Entendimento e Preparação</a:t>
              </a:r>
            </a:p>
          </p:txBody>
        </p:sp>
        <p:sp>
          <p:nvSpPr>
            <p:cNvPr id="5" name="Retângulo 4"/>
            <p:cNvSpPr/>
            <p:nvPr/>
          </p:nvSpPr>
          <p:spPr>
            <a:xfrm>
              <a:off x="90350" y="2220055"/>
              <a:ext cx="1527441" cy="3960000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Desenvolvedor entende Desenho de Solução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Verifica qual é a Tecnologia a ser usada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Busca acessos necessários para trabalhar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Desenvolvedor “monta” seu ambiente de DEV e Teste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Realiza definição de apontamentos (ambientes)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/>
              </a:pPr>
              <a:r>
                <a:rPr lang="pt-BR" sz="900" dirty="0"/>
                <a:t>Pede para criar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grpSp>
        <p:nvGrpSpPr>
          <p:cNvPr id="19" name="Agrupar 18"/>
          <p:cNvGrpSpPr/>
          <p:nvPr/>
        </p:nvGrpSpPr>
        <p:grpSpPr>
          <a:xfrm>
            <a:off x="1724765" y="1455128"/>
            <a:ext cx="1800000" cy="4672175"/>
            <a:chOff x="1724765" y="1507880"/>
            <a:chExt cx="1800000" cy="4672175"/>
          </a:xfrm>
        </p:grpSpPr>
        <p:sp>
          <p:nvSpPr>
            <p:cNvPr id="4" name="Seta: Divisa 3"/>
            <p:cNvSpPr/>
            <p:nvPr/>
          </p:nvSpPr>
          <p:spPr>
            <a:xfrm>
              <a:off x="1724765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Codificação e Teste Local</a:t>
              </a:r>
            </a:p>
          </p:txBody>
        </p:sp>
        <p:sp>
          <p:nvSpPr>
            <p:cNvPr id="12" name="Retângulo 11"/>
            <p:cNvSpPr/>
            <p:nvPr/>
          </p:nvSpPr>
          <p:spPr>
            <a:xfrm>
              <a:off x="1724765" y="2220055"/>
              <a:ext cx="1527441" cy="3960000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Faz </a:t>
              </a:r>
              <a:r>
                <a:rPr lang="pt-BR" sz="900" dirty="0" err="1"/>
                <a:t>checkout</a:t>
              </a:r>
              <a:r>
                <a:rPr lang="pt-BR" sz="900" dirty="0"/>
                <a:t> e roda código AS-IS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Começa o desenvolvimento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Funcionalidade / Correção desenvolvida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Realiza teste mínimo local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7"/>
              </a:pPr>
              <a:r>
                <a:rPr lang="pt-BR" sz="900" dirty="0"/>
                <a:t>Faz </a:t>
              </a:r>
              <a:r>
                <a:rPr lang="pt-BR" sz="900" dirty="0" err="1"/>
                <a:t>Commit</a:t>
              </a:r>
              <a:r>
                <a:rPr lang="pt-BR" sz="900" dirty="0"/>
                <a:t> na </a:t>
              </a:r>
              <a:r>
                <a:rPr lang="pt-BR" sz="900" dirty="0" err="1"/>
                <a:t>Branch</a:t>
              </a:r>
              <a:endParaRPr lang="pt-BR" sz="900" dirty="0"/>
            </a:p>
          </p:txBody>
        </p:sp>
      </p:grpSp>
      <p:grpSp>
        <p:nvGrpSpPr>
          <p:cNvPr id="20" name="Agrupar 19"/>
          <p:cNvGrpSpPr/>
          <p:nvPr/>
        </p:nvGrpSpPr>
        <p:grpSpPr>
          <a:xfrm>
            <a:off x="3359180" y="1455128"/>
            <a:ext cx="1800000" cy="4672175"/>
            <a:chOff x="3359180" y="1507880"/>
            <a:chExt cx="1800000" cy="4672175"/>
          </a:xfrm>
        </p:grpSpPr>
        <p:sp>
          <p:nvSpPr>
            <p:cNvPr id="8" name="Seta: Divisa 7"/>
            <p:cNvSpPr/>
            <p:nvPr/>
          </p:nvSpPr>
          <p:spPr>
            <a:xfrm>
              <a:off x="3359180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Build/</a:t>
              </a:r>
              <a:r>
                <a:rPr lang="pt-BR" sz="13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Deploy</a:t>
              </a:r>
              <a:endParaRPr lang="pt-BR" sz="13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(Pré-Teste)</a:t>
              </a:r>
            </a:p>
          </p:txBody>
        </p:sp>
        <p:sp>
          <p:nvSpPr>
            <p:cNvPr id="13" name="Retângulo 12"/>
            <p:cNvSpPr/>
            <p:nvPr/>
          </p:nvSpPr>
          <p:spPr>
            <a:xfrm>
              <a:off x="3359180" y="2220055"/>
              <a:ext cx="1527441" cy="3960000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2"/>
              </a:pPr>
              <a:r>
                <a:rPr lang="pt-BR" sz="900" dirty="0"/>
                <a:t>Faz Build do Pacote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2"/>
              </a:pPr>
              <a:r>
                <a:rPr lang="pt-BR" sz="900" dirty="0"/>
                <a:t>Solicita </a:t>
              </a:r>
              <a:r>
                <a:rPr lang="pt-BR" sz="900" dirty="0" err="1"/>
                <a:t>Deploy</a:t>
              </a:r>
              <a:r>
                <a:rPr lang="pt-BR" sz="900" dirty="0"/>
                <a:t> em UAT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2"/>
              </a:pPr>
              <a:r>
                <a:rPr lang="pt-BR" sz="900" dirty="0"/>
                <a:t>Aguarda </a:t>
              </a:r>
              <a:r>
                <a:rPr lang="pt-BR" sz="900" dirty="0" err="1"/>
                <a:t>Deploy</a:t>
              </a:r>
              <a:r>
                <a:rPr lang="pt-BR" sz="900" dirty="0"/>
                <a:t> em UAT</a:t>
              </a:r>
            </a:p>
            <a:p>
              <a:pPr marL="22860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2"/>
              </a:pPr>
              <a:r>
                <a:rPr lang="pt-BR" sz="900" dirty="0" err="1"/>
                <a:t>Deploy</a:t>
              </a:r>
              <a:r>
                <a:rPr lang="pt-BR" sz="900" dirty="0"/>
                <a:t> OK, segue. </a:t>
              </a:r>
              <a:r>
                <a:rPr lang="pt-BR" sz="900" dirty="0" err="1"/>
                <a:t>Deploy</a:t>
              </a:r>
              <a:r>
                <a:rPr lang="pt-BR" sz="900" dirty="0"/>
                <a:t> NOK (volta p/ passo 9)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2"/>
              </a:pPr>
              <a:r>
                <a:rPr lang="pt-BR" sz="900" dirty="0"/>
                <a:t>Libera para QA (Pré-Teste)</a:t>
              </a:r>
            </a:p>
            <a:p>
              <a:pPr marL="22860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2"/>
              </a:pPr>
              <a:r>
                <a:rPr lang="pt-BR" sz="900" dirty="0"/>
                <a:t>Pré-Teste OK, segue. Pré-Teste NOK, volta p/ passo 9</a:t>
              </a:r>
            </a:p>
          </p:txBody>
        </p:sp>
      </p:grpSp>
      <p:grpSp>
        <p:nvGrpSpPr>
          <p:cNvPr id="21" name="Agrupar 20"/>
          <p:cNvGrpSpPr/>
          <p:nvPr/>
        </p:nvGrpSpPr>
        <p:grpSpPr>
          <a:xfrm>
            <a:off x="4993595" y="1455128"/>
            <a:ext cx="1800000" cy="4697085"/>
            <a:chOff x="4993595" y="1507880"/>
            <a:chExt cx="1800000" cy="4697085"/>
          </a:xfrm>
        </p:grpSpPr>
        <p:sp>
          <p:nvSpPr>
            <p:cNvPr id="11" name="Seta: Divisa 10"/>
            <p:cNvSpPr/>
            <p:nvPr/>
          </p:nvSpPr>
          <p:spPr>
            <a:xfrm>
              <a:off x="4993595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Build/</a:t>
              </a:r>
              <a:r>
                <a:rPr lang="pt-BR" sz="13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Deploy</a:t>
              </a:r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 em UAT (QA)</a:t>
              </a:r>
            </a:p>
          </p:txBody>
        </p:sp>
        <p:sp>
          <p:nvSpPr>
            <p:cNvPr id="14" name="Retângulo 13"/>
            <p:cNvSpPr/>
            <p:nvPr/>
          </p:nvSpPr>
          <p:spPr>
            <a:xfrm>
              <a:off x="4993595" y="2244965"/>
              <a:ext cx="1527441" cy="3960000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Definição da ordem de entradas do </a:t>
              </a:r>
              <a:r>
                <a:rPr lang="pt-BR" sz="900" dirty="0" err="1"/>
                <a:t>Quarter</a:t>
              </a:r>
              <a:endParaRPr lang="pt-BR" sz="900" dirty="0"/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Definição das Merges das </a:t>
              </a:r>
              <a:r>
                <a:rPr lang="pt-BR" sz="900" dirty="0" err="1"/>
                <a:t>Branchs</a:t>
              </a:r>
              <a:r>
                <a:rPr lang="pt-BR" sz="900" dirty="0"/>
                <a:t> que entram juntas e Definição da Merge Master das </a:t>
              </a:r>
              <a:r>
                <a:rPr lang="pt-BR" sz="900" dirty="0" err="1"/>
                <a:t>Branchs</a:t>
              </a:r>
              <a:r>
                <a:rPr lang="pt-BR" sz="900" dirty="0"/>
                <a:t> que entram juntas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Faz Build de todos os pacotes em produção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Solicita </a:t>
              </a:r>
              <a:r>
                <a:rPr lang="pt-BR" sz="900" dirty="0" err="1"/>
                <a:t>Deploy</a:t>
              </a:r>
              <a:r>
                <a:rPr lang="pt-BR" sz="900" dirty="0"/>
                <a:t> em UAT + Arquivos </a:t>
              </a:r>
              <a:r>
                <a:rPr lang="pt-BR" sz="900" dirty="0" err="1"/>
                <a:t>Properties</a:t>
              </a:r>
              <a:r>
                <a:rPr lang="pt-BR" sz="900" dirty="0"/>
                <a:t> (Apontamentos)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Aguarda </a:t>
              </a:r>
              <a:r>
                <a:rPr lang="pt-BR" sz="900" dirty="0" err="1"/>
                <a:t>Deploy</a:t>
              </a:r>
              <a:r>
                <a:rPr lang="pt-BR" sz="900" dirty="0"/>
                <a:t>  em UAT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 err="1"/>
                <a:t>Deploy</a:t>
              </a:r>
              <a:r>
                <a:rPr lang="pt-BR" sz="900" dirty="0"/>
                <a:t> OK, segue. </a:t>
              </a:r>
              <a:r>
                <a:rPr lang="pt-BR" sz="900" dirty="0" err="1"/>
                <a:t>Deploy</a:t>
              </a:r>
              <a:r>
                <a:rPr lang="pt-BR" sz="900" dirty="0"/>
                <a:t> NOK, volta p/ passo 9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Libera </a:t>
              </a:r>
              <a:r>
                <a:rPr lang="pt-BR" sz="900" dirty="0" err="1"/>
                <a:t>Deploy</a:t>
              </a:r>
              <a:r>
                <a:rPr lang="pt-BR" sz="900" dirty="0"/>
                <a:t> para QA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QA faz Regressivo FULL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18"/>
              </a:pPr>
              <a:r>
                <a:rPr lang="pt-BR" sz="900" dirty="0"/>
                <a:t>Regressivo OK, segue. Regressivo NOK, volta p/  passo 9</a:t>
              </a:r>
              <a:endParaRPr lang="pt-BR" sz="900" dirty="0"/>
            </a:p>
          </p:txBody>
        </p:sp>
      </p:grpSp>
      <p:grpSp>
        <p:nvGrpSpPr>
          <p:cNvPr id="22" name="Agrupar 21"/>
          <p:cNvGrpSpPr/>
          <p:nvPr/>
        </p:nvGrpSpPr>
        <p:grpSpPr>
          <a:xfrm>
            <a:off x="6628010" y="1455128"/>
            <a:ext cx="1800000" cy="4672175"/>
            <a:chOff x="6628010" y="1507880"/>
            <a:chExt cx="1800000" cy="4672175"/>
          </a:xfrm>
        </p:grpSpPr>
        <p:sp>
          <p:nvSpPr>
            <p:cNvPr id="10" name="Seta: Divisa 9"/>
            <p:cNvSpPr/>
            <p:nvPr/>
          </p:nvSpPr>
          <p:spPr>
            <a:xfrm>
              <a:off x="6628010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GMUD e Implantação</a:t>
              </a:r>
            </a:p>
          </p:txBody>
        </p:sp>
        <p:sp>
          <p:nvSpPr>
            <p:cNvPr id="15" name="Retângulo 14"/>
            <p:cNvSpPr/>
            <p:nvPr/>
          </p:nvSpPr>
          <p:spPr>
            <a:xfrm>
              <a:off x="6628010" y="2220055"/>
              <a:ext cx="1527441" cy="3960000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r>
                <a:rPr lang="pt-BR" sz="900" dirty="0"/>
                <a:t>Abre GMUD e estabelece Blue/Green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r>
                <a:rPr lang="pt-BR" sz="900" dirty="0"/>
                <a:t>Implantação GMUD na data acordada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r>
                <a:rPr lang="pt-BR" sz="900" dirty="0"/>
                <a:t>Realiza </a:t>
              </a:r>
              <a:r>
                <a:rPr lang="pt-BR" sz="900" dirty="0" err="1"/>
                <a:t>Deploy</a:t>
              </a:r>
              <a:r>
                <a:rPr lang="pt-BR" sz="900" dirty="0"/>
                <a:t> em  Ambiente de Produção </a:t>
              </a:r>
              <a:r>
                <a:rPr lang="pt-BR" sz="900" dirty="0" err="1"/>
                <a:t>Standby</a:t>
              </a:r>
              <a:r>
                <a:rPr lang="pt-BR" sz="900" dirty="0"/>
                <a:t> (Blue/Green)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r>
                <a:rPr lang="pt-BR" sz="900" dirty="0"/>
                <a:t>Configurar Máquinas locais para enxergar ambiente de Produção </a:t>
              </a:r>
              <a:r>
                <a:rPr lang="pt-BR" sz="900" dirty="0" err="1"/>
                <a:t>Standby</a:t>
              </a:r>
              <a:endParaRPr lang="pt-BR" sz="900" dirty="0"/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r>
                <a:rPr lang="pt-BR" sz="900" dirty="0"/>
                <a:t>Realiza ajustes na  </a:t>
              </a:r>
              <a:r>
                <a:rPr lang="pt-BR" sz="900" dirty="0"/>
                <a:t>m</a:t>
              </a:r>
              <a:r>
                <a:rPr lang="pt-BR" sz="900" dirty="0"/>
                <a:t>onitoração (</a:t>
              </a:r>
              <a:r>
                <a:rPr lang="pt-BR" sz="900" dirty="0" err="1"/>
                <a:t>Dynatrace</a:t>
              </a:r>
              <a:r>
                <a:rPr lang="pt-BR" sz="900" dirty="0"/>
                <a:t>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r>
                <a:rPr lang="pt-BR" sz="900" dirty="0"/>
                <a:t>Realiza </a:t>
              </a:r>
              <a:r>
                <a:rPr lang="pt-BR" sz="900" dirty="0" err="1"/>
                <a:t>Smoke</a:t>
              </a:r>
              <a:r>
                <a:rPr lang="pt-BR" sz="900" dirty="0"/>
                <a:t> Test no Ambiente de Produção </a:t>
              </a:r>
              <a:r>
                <a:rPr lang="pt-BR" sz="900" dirty="0" err="1"/>
                <a:t>Standby</a:t>
              </a:r>
              <a:endParaRPr lang="pt-BR" sz="900" dirty="0"/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r>
                <a:rPr lang="pt-BR" sz="900" dirty="0" err="1"/>
                <a:t>Smoke</a:t>
              </a:r>
              <a:r>
                <a:rPr lang="pt-BR" sz="900" dirty="0"/>
                <a:t> Test OK, segue. </a:t>
              </a:r>
              <a:r>
                <a:rPr lang="pt-BR" sz="900" dirty="0" err="1"/>
                <a:t>Smoke</a:t>
              </a:r>
              <a:r>
                <a:rPr lang="pt-BR" sz="900" dirty="0"/>
                <a:t> Test NOK, volta para passo 9.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27"/>
              </a:pPr>
              <a:endParaRPr lang="pt-BR" sz="900" dirty="0"/>
            </a:p>
          </p:txBody>
        </p:sp>
      </p:grpSp>
      <p:grpSp>
        <p:nvGrpSpPr>
          <p:cNvPr id="23" name="Agrupar 22"/>
          <p:cNvGrpSpPr/>
          <p:nvPr/>
        </p:nvGrpSpPr>
        <p:grpSpPr>
          <a:xfrm>
            <a:off x="8262425" y="1455128"/>
            <a:ext cx="1800000" cy="4672174"/>
            <a:chOff x="8262425" y="1507880"/>
            <a:chExt cx="1800000" cy="4672174"/>
          </a:xfrm>
        </p:grpSpPr>
        <p:sp>
          <p:nvSpPr>
            <p:cNvPr id="16" name="Seta: Divisa 15"/>
            <p:cNvSpPr/>
            <p:nvPr/>
          </p:nvSpPr>
          <p:spPr>
            <a:xfrm>
              <a:off x="8262425" y="1507880"/>
              <a:ext cx="1800000" cy="606670"/>
            </a:xfrm>
            <a:prstGeom prst="chevron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3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cs typeface="Arial" panose="020B0604020202020204" pitchFamily="34" charset="0"/>
                </a:rPr>
                <a:t>Chaveamento e Produção FULL</a:t>
              </a:r>
            </a:p>
          </p:txBody>
        </p:sp>
        <p:sp>
          <p:nvSpPr>
            <p:cNvPr id="17" name="Retângulo 16"/>
            <p:cNvSpPr/>
            <p:nvPr/>
          </p:nvSpPr>
          <p:spPr>
            <a:xfrm>
              <a:off x="8262425" y="2220054"/>
              <a:ext cx="1527441" cy="3960000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34"/>
              </a:pPr>
              <a:r>
                <a:rPr lang="pt-BR" sz="900" dirty="0"/>
                <a:t>Chaveamento Parcial (Blue/Green)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34"/>
              </a:pPr>
              <a:r>
                <a:rPr lang="pt-BR" sz="900" dirty="0"/>
                <a:t>Acompanhamento do chaveamento parcial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34"/>
              </a:pPr>
              <a:r>
                <a:rPr lang="pt-BR" sz="900" dirty="0"/>
                <a:t>Chaveamento Total 100% (Blue/Green)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34"/>
              </a:pPr>
              <a:r>
                <a:rPr lang="pt-BR" sz="900" dirty="0"/>
                <a:t>KT para Operações (opcional)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34"/>
              </a:pPr>
              <a:r>
                <a:rPr lang="pt-BR" sz="900" dirty="0"/>
                <a:t>Merge do </a:t>
              </a:r>
              <a:r>
                <a:rPr lang="pt-BR" sz="900" dirty="0" err="1"/>
                <a:t>Branch</a:t>
              </a:r>
              <a:r>
                <a:rPr lang="pt-BR" sz="900" dirty="0"/>
                <a:t> na </a:t>
              </a:r>
              <a:r>
                <a:rPr lang="pt-BR" sz="900" dirty="0" err="1"/>
                <a:t>master</a:t>
              </a:r>
              <a:endParaRPr lang="pt-BR" sz="900" dirty="0"/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34"/>
              </a:pPr>
              <a:r>
                <a:rPr lang="pt-BR" sz="900" dirty="0"/>
                <a:t>Release do próximo projeto do </a:t>
              </a:r>
              <a:r>
                <a:rPr lang="pt-BR" sz="900" dirty="0" err="1"/>
                <a:t>Quarter</a:t>
              </a:r>
              <a:r>
                <a:rPr lang="pt-BR" sz="900" dirty="0"/>
                <a:t> (volta para passo 19)</a:t>
              </a:r>
            </a:p>
            <a:p>
              <a:pPr marL="228600" lvl="0" indent="-228600">
                <a:spcBef>
                  <a:spcPts val="300"/>
                </a:spcBef>
                <a:spcAft>
                  <a:spcPts val="300"/>
                </a:spcAft>
                <a:buFont typeface="+mj-lt"/>
                <a:buAutoNum type="arabicPeriod" startAt="34"/>
              </a:pPr>
              <a:r>
                <a:rPr lang="pt-BR" sz="900" dirty="0"/>
                <a:t>Operação Assistida em Produção</a:t>
              </a:r>
            </a:p>
          </p:txBody>
        </p:sp>
      </p:grpSp>
      <p:sp>
        <p:nvSpPr>
          <p:cNvPr id="24" name="Retângulo: Cantos Arredondados 23"/>
          <p:cNvSpPr/>
          <p:nvPr/>
        </p:nvSpPr>
        <p:spPr>
          <a:xfrm>
            <a:off x="90351" y="1107826"/>
            <a:ext cx="1237288" cy="252000"/>
          </a:xfrm>
          <a:prstGeom prst="roundRect">
            <a:avLst>
              <a:gd name="adj" fmla="val 7971"/>
            </a:avLst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Candara" panose="020E0502030303020204" pitchFamily="34" charset="0"/>
                <a:cs typeface="Arial" panose="020B0604020202020204" pitchFamily="34" charset="0"/>
              </a:rPr>
              <a:t>10 dias </a:t>
            </a:r>
          </a:p>
        </p:txBody>
      </p:sp>
      <p:sp>
        <p:nvSpPr>
          <p:cNvPr id="25" name="Retângulo: Cantos Arredondados 24"/>
          <p:cNvSpPr/>
          <p:nvPr/>
        </p:nvSpPr>
        <p:spPr>
          <a:xfrm>
            <a:off x="8262425" y="1107826"/>
            <a:ext cx="1237288" cy="252000"/>
          </a:xfrm>
          <a:prstGeom prst="roundRect">
            <a:avLst>
              <a:gd name="adj" fmla="val 7971"/>
            </a:avLst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Candara" panose="020E0502030303020204" pitchFamily="34" charset="0"/>
                <a:cs typeface="Arial" panose="020B0604020202020204" pitchFamily="34" charset="0"/>
              </a:rPr>
              <a:t>5 dias </a:t>
            </a:r>
          </a:p>
        </p:txBody>
      </p:sp>
      <p:sp>
        <p:nvSpPr>
          <p:cNvPr id="26" name="Retângulo: Cantos Arredondados 25"/>
          <p:cNvSpPr/>
          <p:nvPr/>
        </p:nvSpPr>
        <p:spPr>
          <a:xfrm>
            <a:off x="1724766" y="1107826"/>
            <a:ext cx="1237288" cy="252000"/>
          </a:xfrm>
          <a:prstGeom prst="roundRect">
            <a:avLst>
              <a:gd name="adj" fmla="val 7971"/>
            </a:avLst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Candara" panose="020E0502030303020204" pitchFamily="34" charset="0"/>
                <a:cs typeface="Arial" panose="020B0604020202020204" pitchFamily="34" charset="0"/>
              </a:rPr>
              <a:t>10 dias </a:t>
            </a:r>
          </a:p>
        </p:txBody>
      </p:sp>
      <p:sp>
        <p:nvSpPr>
          <p:cNvPr id="27" name="Retângulo: Cantos Arredondados 26"/>
          <p:cNvSpPr/>
          <p:nvPr/>
        </p:nvSpPr>
        <p:spPr>
          <a:xfrm>
            <a:off x="3359181" y="1107826"/>
            <a:ext cx="1237288" cy="252000"/>
          </a:xfrm>
          <a:prstGeom prst="roundRect">
            <a:avLst>
              <a:gd name="adj" fmla="val 7971"/>
            </a:avLst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Candara" panose="020E0502030303020204" pitchFamily="34" charset="0"/>
                <a:cs typeface="Arial" panose="020B0604020202020204" pitchFamily="34" charset="0"/>
              </a:rPr>
              <a:t>2 dias </a:t>
            </a:r>
          </a:p>
        </p:txBody>
      </p:sp>
      <p:sp>
        <p:nvSpPr>
          <p:cNvPr id="28" name="Retângulo: Cantos Arredondados 27"/>
          <p:cNvSpPr/>
          <p:nvPr/>
        </p:nvSpPr>
        <p:spPr>
          <a:xfrm>
            <a:off x="4993596" y="1107826"/>
            <a:ext cx="1237288" cy="252000"/>
          </a:xfrm>
          <a:prstGeom prst="roundRect">
            <a:avLst>
              <a:gd name="adj" fmla="val 7971"/>
            </a:avLst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Candara" panose="020E0502030303020204" pitchFamily="34" charset="0"/>
                <a:cs typeface="Arial" panose="020B0604020202020204" pitchFamily="34" charset="0"/>
              </a:rPr>
              <a:t>7 dias </a:t>
            </a:r>
          </a:p>
        </p:txBody>
      </p:sp>
      <p:sp>
        <p:nvSpPr>
          <p:cNvPr id="29" name="Retângulo: Cantos Arredondados 28"/>
          <p:cNvSpPr/>
          <p:nvPr/>
        </p:nvSpPr>
        <p:spPr>
          <a:xfrm>
            <a:off x="6628011" y="1107826"/>
            <a:ext cx="1237288" cy="252000"/>
          </a:xfrm>
          <a:prstGeom prst="roundRect">
            <a:avLst>
              <a:gd name="adj" fmla="val 7971"/>
            </a:avLst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Candara" panose="020E0502030303020204" pitchFamily="34" charset="0"/>
                <a:cs typeface="Arial" panose="020B0604020202020204" pitchFamily="34" charset="0"/>
              </a:rPr>
              <a:t>6 dias </a:t>
            </a:r>
          </a:p>
        </p:txBody>
      </p:sp>
      <p:sp>
        <p:nvSpPr>
          <p:cNvPr id="30" name="Retângulo: Cantos Arredondados 29"/>
          <p:cNvSpPr/>
          <p:nvPr/>
        </p:nvSpPr>
        <p:spPr>
          <a:xfrm>
            <a:off x="90350" y="819553"/>
            <a:ext cx="1923088" cy="180000"/>
          </a:xfrm>
          <a:prstGeom prst="roundRect">
            <a:avLst>
              <a:gd name="adj" fmla="val 7971"/>
            </a:avLst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latin typeface="Candara" panose="020E0502030303020204" pitchFamily="34" charset="0"/>
                <a:cs typeface="Arial" panose="020B0604020202020204" pitchFamily="34" charset="0"/>
              </a:rPr>
              <a:t>Tempos médios estimados</a:t>
            </a:r>
            <a:endParaRPr lang="pt-BR" sz="1300" dirty="0">
              <a:latin typeface="Candara" panose="020E0502030303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3859822" y="6313924"/>
            <a:ext cx="5930043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C00000"/>
                </a:solidFill>
                <a:latin typeface="Candara" panose="020E0502030303020204" pitchFamily="34" charset="0"/>
              </a:rPr>
              <a:t>Importante: poucos desenvolvedores conhecem o processo todo!</a:t>
            </a:r>
          </a:p>
        </p:txBody>
      </p:sp>
    </p:spTree>
    <p:extLst>
      <p:ext uri="{BB962C8B-B14F-4D97-AF65-F5344CB8AC3E}">
        <p14:creationId xmlns:p14="http://schemas.microsoft.com/office/powerpoint/2010/main" val="2435075221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>
            <a:spLocks noChangeAspect="1"/>
          </p:cNvSpPr>
          <p:nvPr/>
        </p:nvSpPr>
        <p:spPr>
          <a:xfrm flipH="1">
            <a:off x="415269" y="1341059"/>
            <a:ext cx="3437794" cy="4752010"/>
          </a:xfrm>
          <a:prstGeom prst="rect">
            <a:avLst/>
          </a:prstGeom>
          <a:blipFill dpi="0" rotWithShape="1">
            <a:blip r:embed="rId2"/>
            <a:srcRect/>
            <a:stretch>
              <a:fillRect l="-38617" r="-52323" b="-1850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860233" y="130780"/>
            <a:ext cx="8396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Principais Problemas Identificados</a:t>
            </a:r>
          </a:p>
        </p:txBody>
      </p:sp>
      <p:sp>
        <p:nvSpPr>
          <p:cNvPr id="8" name="Retângulo 7"/>
          <p:cNvSpPr/>
          <p:nvPr/>
        </p:nvSpPr>
        <p:spPr>
          <a:xfrm>
            <a:off x="4225844" y="1341059"/>
            <a:ext cx="5497275" cy="475201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marL="360000" indent="-288000">
              <a:lnSpc>
                <a:spcPts val="23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Baixa Qualidade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de Entrega</a:t>
            </a:r>
          </a:p>
          <a:p>
            <a:pPr marL="360000" indent="-288000">
              <a:lnSpc>
                <a:spcPts val="23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Alto Esforço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Operacional</a:t>
            </a:r>
          </a:p>
          <a:p>
            <a:pPr marL="360000" indent="-288000">
              <a:lnSpc>
                <a:spcPts val="23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Baixo </a:t>
            </a:r>
            <a:r>
              <a:rPr lang="pt-BR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Time </a:t>
            </a:r>
            <a:r>
              <a:rPr lang="pt-BR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to</a:t>
            </a:r>
            <a:r>
              <a:rPr lang="pt-BR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 Market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(velocidade de entrada de novas funcionalidades)</a:t>
            </a:r>
          </a:p>
          <a:p>
            <a:pPr marL="360000" indent="-288000">
              <a:lnSpc>
                <a:spcPts val="23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Deploys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 muito espaçados</a:t>
            </a:r>
          </a:p>
          <a:p>
            <a:pPr marL="360000" indent="-288000">
              <a:lnSpc>
                <a:spcPts val="23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Testes manuais e precários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(há poucos testes automatizados)</a:t>
            </a:r>
            <a:endParaRPr lang="pt-BR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eorgia" panose="02040502050405020303" pitchFamily="18" charset="0"/>
            </a:endParaRPr>
          </a:p>
          <a:p>
            <a:pPr marL="360000" indent="-288000">
              <a:lnSpc>
                <a:spcPts val="23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Controle de versão pouco eficiente</a:t>
            </a:r>
          </a:p>
          <a:p>
            <a:pPr marL="360000" indent="-288000">
              <a:lnSpc>
                <a:spcPts val="23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Falta de Padronização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20303" pitchFamily="18" charset="0"/>
              </a:rPr>
              <a:t>(versionamento, documentação, rastreabilidade)</a:t>
            </a:r>
            <a:endParaRPr lang="pt-BR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481988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8638</TotalTime>
  <Words>542</Words>
  <Application>Microsoft Office PowerPoint</Application>
  <PresentationFormat>Personalizar</PresentationFormat>
  <Paragraphs>98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8" baseType="lpstr">
      <vt:lpstr>Arial</vt:lpstr>
      <vt:lpstr>Calibri</vt:lpstr>
      <vt:lpstr>Candara</vt:lpstr>
      <vt:lpstr>Georgia</vt:lpstr>
      <vt:lpstr>Gotham Rounded Book</vt:lpstr>
      <vt:lpstr>Helvetica</vt:lpstr>
      <vt:lpstr>Segoe UI</vt:lpstr>
      <vt:lpstr>Segoe UI Light</vt:lpstr>
      <vt:lpstr>Times New Roman</vt:lpstr>
      <vt:lpstr>Trebuchet MS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Plano de Ação</dc:title>
  <dc:subject>Operações de TI</dc:subject>
  <dc:creator>Nei Henckes</dc:creator>
  <cp:lastModifiedBy>Jorge Filho</cp:lastModifiedBy>
  <cp:revision>108</cp:revision>
  <dcterms:created xsi:type="dcterms:W3CDTF">2014-01-24T21:35:00Z</dcterms:created>
  <dcterms:modified xsi:type="dcterms:W3CDTF">2017-02-21T12:59:57Z</dcterms:modified>
</cp:coreProperties>
</file>