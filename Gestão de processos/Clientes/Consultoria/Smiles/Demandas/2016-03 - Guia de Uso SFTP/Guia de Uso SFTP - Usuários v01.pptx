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7" r:id="rId2"/>
    <p:sldId id="339" r:id="rId3"/>
    <p:sldId id="355" r:id="rId4"/>
    <p:sldId id="338" r:id="rId5"/>
    <p:sldId id="344" r:id="rId6"/>
    <p:sldId id="356" r:id="rId7"/>
    <p:sldId id="345" r:id="rId8"/>
    <p:sldId id="347" r:id="rId9"/>
    <p:sldId id="357" r:id="rId10"/>
    <p:sldId id="358" r:id="rId11"/>
    <p:sldId id="359" r:id="rId12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D0462D"/>
    <a:srgbClr val="F57124"/>
    <a:srgbClr val="F68E1E"/>
    <a:srgbClr val="99CCFF"/>
    <a:srgbClr val="FF9900"/>
    <a:srgbClr val="000000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24" autoAdjust="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522" y="72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01/03/2016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026D4-BB22-405D-8A03-AF2F8CBC4919}" type="datetime1">
              <a:rPr lang="en-US" smtClean="0"/>
              <a:t>3/1/2016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68D0-CE47-4877-9BD0-C46BE2BB9CD5}" type="datetime1">
              <a:rPr lang="en-US" smtClean="0"/>
              <a:t>3/1/2016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8497E-30E6-4C08-9D14-E070002978BF}" type="datetime1">
              <a:rPr lang="en-US" smtClean="0"/>
              <a:t>3/1/2016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97FF6-005E-4BA2-9305-A7C647913EA8}" type="datetime1">
              <a:rPr lang="en-US" smtClean="0"/>
              <a:t>3/1/2016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8140B-6EC9-48F1-A41F-43DC9AE4C8DD}" type="datetime1">
              <a:rPr lang="en-US" smtClean="0"/>
              <a:t>3/1/2016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7E8AD-DEA3-4297-ADE0-9CC2DDD1F23C}" type="datetime1">
              <a:rPr lang="en-US" smtClean="0"/>
              <a:t>3/1/2016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87650-0C5D-40AD-AA5D-CFE5562FEFB0}" type="datetime1">
              <a:rPr lang="en-US" smtClean="0"/>
              <a:t>3/1/2016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45CB6-874E-4B63-BC1B-0A4BE32AD0E9}" type="datetime1">
              <a:rPr lang="en-US" smtClean="0"/>
              <a:t>3/1/2016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BBB69-9F2C-4EC9-881E-974CA77666E8}" type="datetime1">
              <a:rPr lang="en-US" smtClean="0"/>
              <a:t>3/1/2016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ADA57-9F36-4D1E-9409-51BB29037D99}" type="datetime1">
              <a:rPr lang="en-US" smtClean="0"/>
              <a:t>3/1/2016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ACA03-ADFA-416A-94F6-0D8DF22E4FC0}" type="datetime1">
              <a:rPr lang="en-US" smtClean="0"/>
              <a:t>3/1/2016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06757D-D130-4BC6-B1D1-6E22D1418CA3}" type="datetime1">
              <a:rPr lang="en-US" smtClean="0"/>
              <a:t>3/1/2016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hyperlink" Target="https://sftp.smiles.com.br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3376" y="1440192"/>
            <a:ext cx="637889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Central de Serviços de TI</a:t>
            </a:r>
          </a:p>
          <a:p>
            <a:endParaRPr lang="pt-BR" sz="3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Guia de Uso do SFTP</a:t>
            </a:r>
          </a:p>
          <a:p>
            <a:endParaRPr lang="pt-BR" sz="3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3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en-US" sz="16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Março</a:t>
            </a: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/2016 - </a:t>
            </a:r>
            <a:r>
              <a:rPr lang="pt-BR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v01</a:t>
            </a:r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</a:t>
            </a:fld>
            <a:endParaRPr lang="en-US" dirty="0"/>
          </a:p>
        </p:txBody>
      </p:sp>
      <p:grpSp>
        <p:nvGrpSpPr>
          <p:cNvPr id="8" name="Agrupar 7"/>
          <p:cNvGrpSpPr/>
          <p:nvPr/>
        </p:nvGrpSpPr>
        <p:grpSpPr>
          <a:xfrm>
            <a:off x="1021791" y="3887015"/>
            <a:ext cx="4068000" cy="1548000"/>
            <a:chOff x="1367739" y="3761286"/>
            <a:chExt cx="4328944" cy="1650624"/>
          </a:xfrm>
        </p:grpSpPr>
        <p:pic>
          <p:nvPicPr>
            <p:cNvPr id="3" name="Imagem 2"/>
            <p:cNvPicPr>
              <a:picLocks noChangeAspect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2706899" y="3761286"/>
              <a:ext cx="1650624" cy="1650624"/>
            </a:xfrm>
            <a:prstGeom prst="rect">
              <a:avLst/>
            </a:prstGeom>
          </p:spPr>
        </p:pic>
        <p:pic>
          <p:nvPicPr>
            <p:cNvPr id="5" name="Imagem 4"/>
            <p:cNvPicPr>
              <a:picLocks noChangeAspect="1"/>
            </p:cNvPicPr>
            <p:nvPr/>
          </p:nvPicPr>
          <p:blipFill>
            <a:blip r:embed="rId4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493130" y="3984820"/>
              <a:ext cx="1203553" cy="1203553"/>
            </a:xfrm>
            <a:prstGeom prst="rect">
              <a:avLst/>
            </a:prstGeom>
          </p:spPr>
        </p:pic>
        <p:pic>
          <p:nvPicPr>
            <p:cNvPr id="10" name="Imagem 9"/>
            <p:cNvPicPr>
              <a:picLocks noChangeAspect="1"/>
            </p:cNvPicPr>
            <p:nvPr/>
          </p:nvPicPr>
          <p:blipFill>
            <a:blip r:embed="rId4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367739" y="3984821"/>
              <a:ext cx="1203553" cy="12035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Guia de uso do SFTP</a:t>
            </a:r>
          </a:p>
        </p:txBody>
      </p:sp>
      <p:pic>
        <p:nvPicPr>
          <p:cNvPr id="1026" name="Picture 2" descr="http://www.umkc.edu/hr/images/how-do-i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906" y="1008834"/>
            <a:ext cx="4783232" cy="292308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tângulo 19"/>
          <p:cNvSpPr/>
          <p:nvPr/>
        </p:nvSpPr>
        <p:spPr>
          <a:xfrm>
            <a:off x="348457" y="1675610"/>
            <a:ext cx="9210823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 que é o SFTP</a:t>
            </a: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Como acessar o SFTP</a:t>
            </a: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Como solicitar seu usuário no SFTP</a:t>
            </a: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Como solicitar usuário para um Parceiro no SFTP</a:t>
            </a: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Como enviar e receber arquivos através do SFTP</a:t>
            </a: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Principais Regras relacionadas ao SFTP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691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Guia de uso do SFTP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3</a:t>
            </a:fld>
            <a:endParaRPr lang="en-US" dirty="0"/>
          </a:p>
        </p:txBody>
      </p:sp>
      <p:grpSp>
        <p:nvGrpSpPr>
          <p:cNvPr id="10" name="Agrupar 9"/>
          <p:cNvGrpSpPr/>
          <p:nvPr/>
        </p:nvGrpSpPr>
        <p:grpSpPr>
          <a:xfrm>
            <a:off x="348619" y="1035532"/>
            <a:ext cx="9419901" cy="720000"/>
            <a:chOff x="351116" y="1061658"/>
            <a:chExt cx="9419901" cy="720000"/>
          </a:xfrm>
        </p:grpSpPr>
        <p:sp>
          <p:nvSpPr>
            <p:cNvPr id="48" name="Retângulo de cantos arredondados 17"/>
            <p:cNvSpPr/>
            <p:nvPr/>
          </p:nvSpPr>
          <p:spPr>
            <a:xfrm>
              <a:off x="351116" y="1061658"/>
              <a:ext cx="9419901" cy="720000"/>
            </a:xfrm>
            <a:prstGeom prst="roundRect">
              <a:avLst>
                <a:gd name="adj" fmla="val 7081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0"/>
              <a:r>
                <a:rPr lang="pt-BR" sz="20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O que é o SFTP</a:t>
              </a:r>
            </a:p>
          </p:txBody>
        </p:sp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009" y="1169658"/>
              <a:ext cx="504000" cy="504000"/>
            </a:xfrm>
            <a:prstGeom prst="rect">
              <a:avLst/>
            </a:prstGeom>
          </p:spPr>
        </p:pic>
      </p:grpSp>
      <p:sp>
        <p:nvSpPr>
          <p:cNvPr id="44" name="Retângulo 43"/>
          <p:cNvSpPr/>
          <p:nvPr/>
        </p:nvSpPr>
        <p:spPr>
          <a:xfrm>
            <a:off x="348457" y="2040437"/>
            <a:ext cx="9420063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 SFTP é um serviço provido pela Central de Serviços de TI com a finalidade de possibilitar a </a:t>
            </a:r>
            <a:r>
              <a:rPr lang="pt-BR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transferência </a:t>
            </a:r>
            <a:r>
              <a:rPr lang="pt-BR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temporária</a:t>
            </a:r>
            <a:r>
              <a:rPr lang="pt-BR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de arquivos entre a SMILES e seus PARCEIROS DE NEGÓCIOS</a:t>
            </a: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Este serviço deve ser utilizado somente por Colaboradores da SMILES e por representantes dos Parceiros de Negócios, os quais necessitarão de seus respectivos usuários e senhas para poderem efetuar </a:t>
            </a:r>
            <a:r>
              <a:rPr lang="pt-BR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login</a:t>
            </a: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na página web do SFTP.</a:t>
            </a:r>
          </a:p>
        </p:txBody>
      </p:sp>
    </p:spTree>
    <p:extLst>
      <p:ext uri="{BB962C8B-B14F-4D97-AF65-F5344CB8AC3E}">
        <p14:creationId xmlns:p14="http://schemas.microsoft.com/office/powerpoint/2010/main" val="977912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Guia de uso do SFTP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4</a:t>
            </a:fld>
            <a:endParaRPr lang="en-US" dirty="0"/>
          </a:p>
        </p:txBody>
      </p:sp>
      <p:grpSp>
        <p:nvGrpSpPr>
          <p:cNvPr id="10" name="Agrupar 9"/>
          <p:cNvGrpSpPr/>
          <p:nvPr/>
        </p:nvGrpSpPr>
        <p:grpSpPr>
          <a:xfrm>
            <a:off x="348619" y="1035532"/>
            <a:ext cx="9419901" cy="720000"/>
            <a:chOff x="351116" y="1061658"/>
            <a:chExt cx="9419901" cy="720000"/>
          </a:xfrm>
        </p:grpSpPr>
        <p:sp>
          <p:nvSpPr>
            <p:cNvPr id="48" name="Retângulo de cantos arredondados 17"/>
            <p:cNvSpPr/>
            <p:nvPr/>
          </p:nvSpPr>
          <p:spPr>
            <a:xfrm>
              <a:off x="351116" y="1061658"/>
              <a:ext cx="9419901" cy="720000"/>
            </a:xfrm>
            <a:prstGeom prst="roundRect">
              <a:avLst>
                <a:gd name="adj" fmla="val 7081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0"/>
              <a:r>
                <a:rPr lang="pt-BR" sz="20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Como acessar o SFTP</a:t>
              </a:r>
            </a:p>
          </p:txBody>
        </p:sp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009" y="1169658"/>
              <a:ext cx="504000" cy="504000"/>
            </a:xfrm>
            <a:prstGeom prst="rect">
              <a:avLst/>
            </a:prstGeom>
          </p:spPr>
        </p:pic>
      </p:grpSp>
      <p:sp>
        <p:nvSpPr>
          <p:cNvPr id="44" name="Retângulo 43"/>
          <p:cNvSpPr/>
          <p:nvPr/>
        </p:nvSpPr>
        <p:spPr>
          <a:xfrm>
            <a:off x="348457" y="2040437"/>
            <a:ext cx="942006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Acesse o link </a:t>
            </a:r>
            <a:r>
              <a:rPr lang="pt-BR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4"/>
              </a:rPr>
              <a:t>https://sftp.smiles.com.br</a:t>
            </a:r>
            <a:endParaRPr lang="pt-BR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Entre com seu </a:t>
            </a:r>
            <a:r>
              <a:rPr lang="pt-BR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usuário e senha</a:t>
            </a: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12" name="Seta Dobrada 11"/>
          <p:cNvSpPr/>
          <p:nvPr/>
        </p:nvSpPr>
        <p:spPr>
          <a:xfrm flipV="1">
            <a:off x="2328020" y="3279449"/>
            <a:ext cx="914400" cy="2083951"/>
          </a:xfrm>
          <a:prstGeom prst="bentArrow">
            <a:avLst>
              <a:gd name="adj1" fmla="val 25000"/>
              <a:gd name="adj2" fmla="val 23640"/>
              <a:gd name="adj3" fmla="val 25000"/>
              <a:gd name="adj4" fmla="val 43750"/>
            </a:avLst>
          </a:prstGeom>
          <a:ln>
            <a:solidFill>
              <a:schemeClr val="bg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9057" y="3279449"/>
            <a:ext cx="4190062" cy="30944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800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Guia de uso do SFTP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5</a:t>
            </a:fld>
            <a:endParaRPr lang="en-US" dirty="0"/>
          </a:p>
        </p:txBody>
      </p:sp>
      <p:grpSp>
        <p:nvGrpSpPr>
          <p:cNvPr id="10" name="Agrupar 9"/>
          <p:cNvGrpSpPr/>
          <p:nvPr/>
        </p:nvGrpSpPr>
        <p:grpSpPr>
          <a:xfrm>
            <a:off x="348619" y="1035532"/>
            <a:ext cx="9419901" cy="720000"/>
            <a:chOff x="351116" y="1061658"/>
            <a:chExt cx="9419901" cy="720000"/>
          </a:xfrm>
        </p:grpSpPr>
        <p:sp>
          <p:nvSpPr>
            <p:cNvPr id="48" name="Retângulo de cantos arredondados 17"/>
            <p:cNvSpPr/>
            <p:nvPr/>
          </p:nvSpPr>
          <p:spPr>
            <a:xfrm>
              <a:off x="351116" y="1061658"/>
              <a:ext cx="9419901" cy="720000"/>
            </a:xfrm>
            <a:prstGeom prst="roundRect">
              <a:avLst>
                <a:gd name="adj" fmla="val 7081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0"/>
              <a:r>
                <a:rPr lang="pt-BR" sz="20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Como solicitar seu usuário no SFTP</a:t>
              </a:r>
            </a:p>
          </p:txBody>
        </p:sp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009" y="1169658"/>
              <a:ext cx="504000" cy="504000"/>
            </a:xfrm>
            <a:prstGeom prst="rect">
              <a:avLst/>
            </a:prstGeom>
          </p:spPr>
        </p:pic>
      </p:grpSp>
      <p:sp>
        <p:nvSpPr>
          <p:cNvPr id="44" name="Retângulo 43"/>
          <p:cNvSpPr/>
          <p:nvPr/>
        </p:nvSpPr>
        <p:spPr>
          <a:xfrm>
            <a:off x="348457" y="2040437"/>
            <a:ext cx="3465897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Abra um chamado </a:t>
            </a:r>
            <a:r>
              <a:rPr lang="pt-BR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através do JIRA Service Desk</a:t>
            </a: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solicitando a criação de seu usuário.</a:t>
            </a: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categoria em que o chamado deverá ser aberto é “</a:t>
            </a:r>
            <a:r>
              <a:rPr lang="pt-BR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Conceder Acesso ao Siebel ou Outras Ferramentas</a:t>
            </a: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” em Gestão de Acessos &gt; Concessão de Acesso.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3221" y="2301694"/>
            <a:ext cx="5296059" cy="27998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Retângulo Arredondado 10"/>
          <p:cNvSpPr/>
          <p:nvPr/>
        </p:nvSpPr>
        <p:spPr>
          <a:xfrm>
            <a:off x="6008914" y="4545874"/>
            <a:ext cx="3461658" cy="44413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471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Guia de uso do SFTP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6</a:t>
            </a:fld>
            <a:endParaRPr lang="en-US" dirty="0"/>
          </a:p>
        </p:txBody>
      </p:sp>
      <p:grpSp>
        <p:nvGrpSpPr>
          <p:cNvPr id="10" name="Agrupar 9"/>
          <p:cNvGrpSpPr/>
          <p:nvPr/>
        </p:nvGrpSpPr>
        <p:grpSpPr>
          <a:xfrm>
            <a:off x="348619" y="1035532"/>
            <a:ext cx="9419901" cy="720000"/>
            <a:chOff x="351116" y="1061658"/>
            <a:chExt cx="9419901" cy="720000"/>
          </a:xfrm>
        </p:grpSpPr>
        <p:sp>
          <p:nvSpPr>
            <p:cNvPr id="48" name="Retângulo de cantos arredondados 17"/>
            <p:cNvSpPr/>
            <p:nvPr/>
          </p:nvSpPr>
          <p:spPr>
            <a:xfrm>
              <a:off x="351116" y="1061658"/>
              <a:ext cx="9419901" cy="720000"/>
            </a:xfrm>
            <a:prstGeom prst="roundRect">
              <a:avLst>
                <a:gd name="adj" fmla="val 7081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0"/>
              <a:r>
                <a:rPr lang="pt-BR" sz="20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Como solicitar seu usuário para um Parceiro no SFTP</a:t>
              </a:r>
            </a:p>
          </p:txBody>
        </p:sp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009" y="1169658"/>
              <a:ext cx="504000" cy="504000"/>
            </a:xfrm>
            <a:prstGeom prst="rect">
              <a:avLst/>
            </a:prstGeom>
          </p:spPr>
        </p:pic>
      </p:grpSp>
      <p:sp>
        <p:nvSpPr>
          <p:cNvPr id="44" name="Retângulo 43"/>
          <p:cNvSpPr/>
          <p:nvPr/>
        </p:nvSpPr>
        <p:spPr>
          <a:xfrm>
            <a:off x="348457" y="2040437"/>
            <a:ext cx="3465897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Abra um chamado </a:t>
            </a:r>
            <a:r>
              <a:rPr lang="pt-BR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através do JIRA Service Desk</a:t>
            </a: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solicitando a criação do </a:t>
            </a:r>
            <a:r>
              <a:rPr lang="pt-BR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usuário e informe qual é o Parceiro de Negócios e o nome do representante do parceiro </a:t>
            </a: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que fará o envio e recebimento dos arquivos.</a:t>
            </a: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categoria em que o chamado deverá ser aberto é “</a:t>
            </a:r>
            <a:r>
              <a:rPr lang="pt-BR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Conceder Acesso ao Siebel ou Outras Ferramentas</a:t>
            </a: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” em Gestão de Acessos &gt; Concessão de Acesso.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3221" y="2301694"/>
            <a:ext cx="5296059" cy="27998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Retângulo Arredondado 10"/>
          <p:cNvSpPr/>
          <p:nvPr/>
        </p:nvSpPr>
        <p:spPr>
          <a:xfrm>
            <a:off x="6008914" y="4545874"/>
            <a:ext cx="3461658" cy="44413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259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Guia de uso do SFTP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7</a:t>
            </a:fld>
            <a:endParaRPr lang="en-US" dirty="0"/>
          </a:p>
        </p:txBody>
      </p:sp>
      <p:grpSp>
        <p:nvGrpSpPr>
          <p:cNvPr id="10" name="Agrupar 9"/>
          <p:cNvGrpSpPr/>
          <p:nvPr/>
        </p:nvGrpSpPr>
        <p:grpSpPr>
          <a:xfrm>
            <a:off x="348619" y="1035532"/>
            <a:ext cx="9419901" cy="720000"/>
            <a:chOff x="351116" y="1061658"/>
            <a:chExt cx="9419901" cy="720000"/>
          </a:xfrm>
        </p:grpSpPr>
        <p:sp>
          <p:nvSpPr>
            <p:cNvPr id="48" name="Retângulo de cantos arredondados 17"/>
            <p:cNvSpPr/>
            <p:nvPr/>
          </p:nvSpPr>
          <p:spPr>
            <a:xfrm>
              <a:off x="351116" y="1061658"/>
              <a:ext cx="9419901" cy="720000"/>
            </a:xfrm>
            <a:prstGeom prst="roundRect">
              <a:avLst>
                <a:gd name="adj" fmla="val 7081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0"/>
              <a:r>
                <a:rPr lang="pt-BR" sz="20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Como enviar e receber arquivos através do SFTP</a:t>
              </a:r>
            </a:p>
          </p:txBody>
        </p:sp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009" y="1169658"/>
              <a:ext cx="504000" cy="504000"/>
            </a:xfrm>
            <a:prstGeom prst="rect">
              <a:avLst/>
            </a:prstGeom>
          </p:spPr>
        </p:pic>
      </p:grpSp>
      <p:sp>
        <p:nvSpPr>
          <p:cNvPr id="44" name="Retângulo 43"/>
          <p:cNvSpPr/>
          <p:nvPr/>
        </p:nvSpPr>
        <p:spPr>
          <a:xfrm>
            <a:off x="348457" y="2040437"/>
            <a:ext cx="9420063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1800"/>
              </a:spcAft>
            </a:pP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Ao efetuar </a:t>
            </a:r>
            <a:r>
              <a:rPr lang="pt-BR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login</a:t>
            </a:r>
            <a:r>
              <a:rPr lang="pt-BR" i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 SFTP, você poderá verificar uma estrutura com duas subpastas associadas à pasta principal (INCOMING e OUTCOMING). </a:t>
            </a:r>
          </a:p>
          <a:p>
            <a:pPr lvl="1">
              <a:spcBef>
                <a:spcPts val="600"/>
              </a:spcBef>
              <a:spcAft>
                <a:spcPts val="1800"/>
              </a:spcAft>
            </a:pP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subpasta </a:t>
            </a:r>
            <a:r>
              <a:rPr lang="pt-BR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INCOMING </a:t>
            </a: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deve ser </a:t>
            </a:r>
            <a:r>
              <a:rPr lang="pt-BR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utilizada pelos PARCEIROS </a:t>
            </a: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quando quiserem enviar arquivos para a SMILES.</a:t>
            </a:r>
          </a:p>
          <a:p>
            <a:pPr lvl="1">
              <a:spcBef>
                <a:spcPts val="600"/>
              </a:spcBef>
              <a:spcAft>
                <a:spcPts val="1800"/>
              </a:spcAft>
            </a:pP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subpasta </a:t>
            </a:r>
            <a:r>
              <a:rPr lang="pt-BR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OUTCOMING </a:t>
            </a: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deve ser </a:t>
            </a:r>
            <a:r>
              <a:rPr lang="pt-BR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utilizada pelos Colaboradores SMILES </a:t>
            </a: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quando quiserem enviar arquivos para os PARCEIROS.</a:t>
            </a:r>
          </a:p>
          <a:p>
            <a:pPr lvl="1" algn="just"/>
            <a:endParaRPr lang="pt-BR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2" algn="just">
              <a:spcBef>
                <a:spcPts val="600"/>
              </a:spcBef>
              <a:spcAft>
                <a:spcPts val="1800"/>
              </a:spcAft>
            </a:pPr>
            <a:r>
              <a:rPr lang="pt-BR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Atenção</a:t>
            </a:r>
            <a:r>
              <a:rPr lang="pt-BR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é importante informar que os arquivos somente estarão disponíveis nessas pastas pelo período de uma semana (07 dias). Após este período, os mesmos serão deletados.</a:t>
            </a: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026" name="Picture 2" descr="http://www.femergs.com.br/wp-content/uploads/2015/10/aten%C3%A7%C3%A3o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512" y="4930774"/>
            <a:ext cx="756000" cy="75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Arredondado 2"/>
          <p:cNvSpPr/>
          <p:nvPr/>
        </p:nvSpPr>
        <p:spPr>
          <a:xfrm>
            <a:off x="414717" y="4762950"/>
            <a:ext cx="9420063" cy="1168602"/>
          </a:xfrm>
          <a:prstGeom prst="roundRect">
            <a:avLst>
              <a:gd name="adj" fmla="val 10481"/>
            </a:avLst>
          </a:prstGeom>
          <a:noFill/>
          <a:ln w="190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9946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570" y="2694674"/>
            <a:ext cx="6105525" cy="37909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Guia de uso do SFTP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8</a:t>
            </a:fld>
            <a:endParaRPr lang="en-US" dirty="0"/>
          </a:p>
        </p:txBody>
      </p:sp>
      <p:grpSp>
        <p:nvGrpSpPr>
          <p:cNvPr id="10" name="Agrupar 9"/>
          <p:cNvGrpSpPr/>
          <p:nvPr/>
        </p:nvGrpSpPr>
        <p:grpSpPr>
          <a:xfrm>
            <a:off x="348619" y="1035532"/>
            <a:ext cx="9419901" cy="720000"/>
            <a:chOff x="351116" y="1061658"/>
            <a:chExt cx="9419901" cy="720000"/>
          </a:xfrm>
        </p:grpSpPr>
        <p:sp>
          <p:nvSpPr>
            <p:cNvPr id="48" name="Retângulo de cantos arredondados 17"/>
            <p:cNvSpPr/>
            <p:nvPr/>
          </p:nvSpPr>
          <p:spPr>
            <a:xfrm>
              <a:off x="351116" y="1061658"/>
              <a:ext cx="9419901" cy="720000"/>
            </a:xfrm>
            <a:prstGeom prst="roundRect">
              <a:avLst>
                <a:gd name="adj" fmla="val 7081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0"/>
              <a:r>
                <a:rPr lang="pt-BR" sz="20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Como enviar e receber arquivos através do SFTP</a:t>
              </a:r>
            </a:p>
          </p:txBody>
        </p:sp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009" y="1169658"/>
              <a:ext cx="504000" cy="504000"/>
            </a:xfrm>
            <a:prstGeom prst="rect">
              <a:avLst/>
            </a:prstGeom>
          </p:spPr>
        </p:pic>
      </p:grpSp>
      <p:sp>
        <p:nvSpPr>
          <p:cNvPr id="44" name="Retângulo 43"/>
          <p:cNvSpPr/>
          <p:nvPr/>
        </p:nvSpPr>
        <p:spPr>
          <a:xfrm>
            <a:off x="348457" y="2040437"/>
            <a:ext cx="94200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Esta é a tela inicial do SFTP após o </a:t>
            </a:r>
            <a:r>
              <a:rPr lang="pt-BR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login</a:t>
            </a: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1509360" y="3864525"/>
            <a:ext cx="915788" cy="4039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 anchor="b">
            <a:noAutofit/>
          </a:bodyPr>
          <a:lstStyle/>
          <a:p>
            <a:pPr algn="r"/>
            <a:endParaRPr lang="pt-BR" b="1" dirty="0">
              <a:solidFill>
                <a:srgbClr val="FF0000"/>
              </a:solidFill>
            </a:endParaRPr>
          </a:p>
          <a:p>
            <a:pPr algn="r"/>
            <a:endParaRPr lang="pt-BR" b="1" dirty="0">
              <a:solidFill>
                <a:srgbClr val="FF0000"/>
              </a:solidFill>
            </a:endParaRPr>
          </a:p>
          <a:p>
            <a:pPr algn="r"/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7354957" y="4186648"/>
            <a:ext cx="2580602" cy="1892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lang="pt-BR" sz="1400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ENVIAR um arquivo, </a:t>
            </a:r>
            <a:r>
              <a:rPr lang="pt-BR" sz="14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clique primeiro na pasta que deseja utilizar </a:t>
            </a:r>
            <a:r>
              <a:rPr lang="pt-BR" sz="1400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(conforme regra exibida anteriormente).</a:t>
            </a:r>
          </a:p>
          <a:p>
            <a:pPr algn="r">
              <a:spcAft>
                <a:spcPts val="600"/>
              </a:spcAft>
            </a:pPr>
            <a:r>
              <a:rPr lang="pt-BR" sz="14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Depois disso clique no botão “Enviar Arquivo” </a:t>
            </a:r>
            <a:r>
              <a:rPr lang="pt-BR" sz="1400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 selecione em seu computador o arquivo que deseja enviar.</a:t>
            </a:r>
            <a:endParaRPr lang="pt-BR" sz="14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eta Dobrada 2"/>
          <p:cNvSpPr/>
          <p:nvPr/>
        </p:nvSpPr>
        <p:spPr>
          <a:xfrm rot="16200000">
            <a:off x="4361165" y="2338544"/>
            <a:ext cx="610582" cy="5589036"/>
          </a:xfrm>
          <a:prstGeom prst="bentArrow">
            <a:avLst>
              <a:gd name="adj1" fmla="val 25000"/>
              <a:gd name="adj2" fmla="val 23640"/>
              <a:gd name="adj3" fmla="val 25000"/>
              <a:gd name="adj4" fmla="val 43750"/>
            </a:avLst>
          </a:prstGeom>
          <a:ln>
            <a:solidFill>
              <a:schemeClr val="bg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1" name="Retângulo 10"/>
          <p:cNvSpPr/>
          <p:nvPr/>
        </p:nvSpPr>
        <p:spPr>
          <a:xfrm>
            <a:off x="1345451" y="4284202"/>
            <a:ext cx="12723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b="1" dirty="0">
                <a:solidFill>
                  <a:srgbClr val="FF0000"/>
                </a:solidFill>
              </a:rPr>
              <a:t>SUBPASTAS</a:t>
            </a:r>
            <a:endParaRPr lang="pt-BR" sz="2800" b="1" dirty="0">
              <a:solidFill>
                <a:srgbClr val="FF0000"/>
              </a:solidFill>
            </a:endParaRPr>
          </a:p>
        </p:txBody>
      </p:sp>
      <p:sp>
        <p:nvSpPr>
          <p:cNvPr id="18" name="CaixaDeTexto 17"/>
          <p:cNvSpPr txBox="1"/>
          <p:nvPr/>
        </p:nvSpPr>
        <p:spPr>
          <a:xfrm>
            <a:off x="3246422" y="3324846"/>
            <a:ext cx="915788" cy="4039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 anchor="b">
            <a:noAutofit/>
          </a:bodyPr>
          <a:lstStyle/>
          <a:p>
            <a:pPr algn="r"/>
            <a:endParaRPr lang="pt-BR" b="1" dirty="0">
              <a:solidFill>
                <a:srgbClr val="FF0000"/>
              </a:solidFill>
            </a:endParaRPr>
          </a:p>
          <a:p>
            <a:pPr algn="r"/>
            <a:endParaRPr lang="pt-BR" b="1" dirty="0">
              <a:solidFill>
                <a:srgbClr val="FF0000"/>
              </a:solidFill>
            </a:endParaRPr>
          </a:p>
          <a:p>
            <a:pPr algn="r"/>
            <a:endParaRPr lang="pt-BR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3531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Guia de uso do SFTP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9</a:t>
            </a:fld>
            <a:endParaRPr lang="en-US" dirty="0"/>
          </a:p>
        </p:txBody>
      </p:sp>
      <p:grpSp>
        <p:nvGrpSpPr>
          <p:cNvPr id="10" name="Agrupar 9"/>
          <p:cNvGrpSpPr/>
          <p:nvPr/>
        </p:nvGrpSpPr>
        <p:grpSpPr>
          <a:xfrm>
            <a:off x="348619" y="1035532"/>
            <a:ext cx="9419901" cy="720000"/>
            <a:chOff x="351116" y="1061658"/>
            <a:chExt cx="9419901" cy="720000"/>
          </a:xfrm>
        </p:grpSpPr>
        <p:sp>
          <p:nvSpPr>
            <p:cNvPr id="48" name="Retângulo de cantos arredondados 17"/>
            <p:cNvSpPr/>
            <p:nvPr/>
          </p:nvSpPr>
          <p:spPr>
            <a:xfrm>
              <a:off x="351116" y="1061658"/>
              <a:ext cx="9419901" cy="720000"/>
            </a:xfrm>
            <a:prstGeom prst="roundRect">
              <a:avLst>
                <a:gd name="adj" fmla="val 7081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0"/>
              <a:r>
                <a:rPr lang="pt-BR" sz="20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Como enviar e receber arquivos através do SFTP</a:t>
              </a:r>
            </a:p>
          </p:txBody>
        </p:sp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009" y="1169658"/>
              <a:ext cx="504000" cy="504000"/>
            </a:xfrm>
            <a:prstGeom prst="rect">
              <a:avLst/>
            </a:prstGeom>
          </p:spPr>
        </p:pic>
      </p:grpSp>
      <p:sp>
        <p:nvSpPr>
          <p:cNvPr id="44" name="Retângulo 43"/>
          <p:cNvSpPr/>
          <p:nvPr/>
        </p:nvSpPr>
        <p:spPr>
          <a:xfrm>
            <a:off x="348457" y="2040437"/>
            <a:ext cx="94200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Tela do SFTP com arquivos já inseridos.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7250615" y="3208146"/>
            <a:ext cx="2684944" cy="1892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lang="pt-BR" sz="1400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RECEBER um arquivo, </a:t>
            </a:r>
            <a:r>
              <a:rPr lang="pt-BR" sz="14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clique primeiro na pasta que deseja utilizar </a:t>
            </a:r>
            <a:r>
              <a:rPr lang="pt-BR" sz="1400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(conforme regra exibida anteriormente).</a:t>
            </a:r>
          </a:p>
          <a:p>
            <a:pPr algn="r">
              <a:spcAft>
                <a:spcPts val="600"/>
              </a:spcAft>
            </a:pPr>
            <a:r>
              <a:rPr lang="pt-BR" sz="14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Depois disso clique com o botão direito sobre o arquivo que deseja baixar </a:t>
            </a:r>
            <a:r>
              <a:rPr lang="pt-BR" sz="1400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 selecione a opção “Download”.</a:t>
            </a:r>
            <a:endParaRPr lang="pt-BR" sz="14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991" y="2694674"/>
            <a:ext cx="6172200" cy="3505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Seta Dobrada 2"/>
          <p:cNvSpPr/>
          <p:nvPr/>
        </p:nvSpPr>
        <p:spPr>
          <a:xfrm rot="16200000" flipH="1">
            <a:off x="5021273" y="2145563"/>
            <a:ext cx="612000" cy="4320000"/>
          </a:xfrm>
          <a:prstGeom prst="bentArrow">
            <a:avLst>
              <a:gd name="adj1" fmla="val 25000"/>
              <a:gd name="adj2" fmla="val 23640"/>
              <a:gd name="adj3" fmla="val 25000"/>
              <a:gd name="adj4" fmla="val 43750"/>
            </a:avLst>
          </a:prstGeom>
          <a:ln>
            <a:solidFill>
              <a:schemeClr val="bg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1010354" y="3835806"/>
            <a:ext cx="915788" cy="4039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 anchor="b">
            <a:noAutofit/>
          </a:bodyPr>
          <a:lstStyle/>
          <a:p>
            <a:pPr algn="r"/>
            <a:endParaRPr lang="pt-BR" b="1" dirty="0">
              <a:solidFill>
                <a:srgbClr val="FF0000"/>
              </a:solidFill>
            </a:endParaRPr>
          </a:p>
          <a:p>
            <a:pPr algn="r"/>
            <a:endParaRPr lang="pt-BR" b="1" dirty="0">
              <a:solidFill>
                <a:srgbClr val="FF0000"/>
              </a:solidFill>
            </a:endParaRPr>
          </a:p>
          <a:p>
            <a:pPr algn="r"/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1" name="Retângulo 10"/>
          <p:cNvSpPr/>
          <p:nvPr/>
        </p:nvSpPr>
        <p:spPr>
          <a:xfrm>
            <a:off x="846445" y="4255483"/>
            <a:ext cx="12723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b="1" dirty="0">
                <a:solidFill>
                  <a:srgbClr val="FF0000"/>
                </a:solidFill>
              </a:rPr>
              <a:t>SUBPASTAS</a:t>
            </a:r>
            <a:endParaRPr lang="pt-BR" sz="2800" b="1" dirty="0">
              <a:solidFill>
                <a:srgbClr val="FF0000"/>
              </a:solidFill>
            </a:endParaRPr>
          </a:p>
        </p:txBody>
      </p:sp>
      <p:sp>
        <p:nvSpPr>
          <p:cNvPr id="18" name="CaixaDeTexto 17"/>
          <p:cNvSpPr txBox="1"/>
          <p:nvPr/>
        </p:nvSpPr>
        <p:spPr>
          <a:xfrm>
            <a:off x="2620258" y="4255483"/>
            <a:ext cx="2892645" cy="178039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 anchor="b">
            <a:noAutofit/>
          </a:bodyPr>
          <a:lstStyle/>
          <a:p>
            <a:pPr algn="r"/>
            <a:endParaRPr lang="pt-BR" b="1" dirty="0">
              <a:solidFill>
                <a:srgbClr val="FF0000"/>
              </a:solidFill>
            </a:endParaRPr>
          </a:p>
          <a:p>
            <a:pPr algn="r"/>
            <a:endParaRPr lang="pt-BR" b="1" dirty="0">
              <a:solidFill>
                <a:srgbClr val="FF0000"/>
              </a:solidFill>
            </a:endParaRPr>
          </a:p>
          <a:p>
            <a:pPr algn="r"/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9" name="Retângulo 18"/>
          <p:cNvSpPr/>
          <p:nvPr/>
        </p:nvSpPr>
        <p:spPr>
          <a:xfrm>
            <a:off x="5509030" y="4324231"/>
            <a:ext cx="124656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600" b="1" dirty="0">
                <a:solidFill>
                  <a:srgbClr val="FF0000"/>
                </a:solidFill>
              </a:rPr>
              <a:t>ARQUIVO</a:t>
            </a:r>
          </a:p>
          <a:p>
            <a:r>
              <a:rPr lang="pt-BR" sz="1600" b="1" dirty="0">
                <a:solidFill>
                  <a:srgbClr val="FF0000"/>
                </a:solidFill>
              </a:rPr>
              <a:t>PARA </a:t>
            </a:r>
          </a:p>
          <a:p>
            <a:r>
              <a:rPr lang="pt-BR" sz="1600" b="1" dirty="0">
                <a:solidFill>
                  <a:srgbClr val="FF0000"/>
                </a:solidFill>
              </a:rPr>
              <a:t>DOWNLOAD</a:t>
            </a:r>
          </a:p>
        </p:txBody>
      </p:sp>
    </p:spTree>
    <p:extLst>
      <p:ext uri="{BB962C8B-B14F-4D97-AF65-F5344CB8AC3E}">
        <p14:creationId xmlns:p14="http://schemas.microsoft.com/office/powerpoint/2010/main" val="1222170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Guia de uso do SFTP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10</a:t>
            </a:fld>
            <a:endParaRPr lang="en-US" dirty="0"/>
          </a:p>
        </p:txBody>
      </p:sp>
      <p:grpSp>
        <p:nvGrpSpPr>
          <p:cNvPr id="10" name="Agrupar 9"/>
          <p:cNvGrpSpPr/>
          <p:nvPr/>
        </p:nvGrpSpPr>
        <p:grpSpPr>
          <a:xfrm>
            <a:off x="348619" y="1035532"/>
            <a:ext cx="9419901" cy="720000"/>
            <a:chOff x="351116" y="1061658"/>
            <a:chExt cx="9419901" cy="720000"/>
          </a:xfrm>
        </p:grpSpPr>
        <p:sp>
          <p:nvSpPr>
            <p:cNvPr id="48" name="Retângulo de cantos arredondados 17"/>
            <p:cNvSpPr/>
            <p:nvPr/>
          </p:nvSpPr>
          <p:spPr>
            <a:xfrm>
              <a:off x="351116" y="1061658"/>
              <a:ext cx="9419901" cy="720000"/>
            </a:xfrm>
            <a:prstGeom prst="roundRect">
              <a:avLst>
                <a:gd name="adj" fmla="val 7081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0"/>
              <a:r>
                <a:rPr lang="pt-BR" sz="20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Principais Regras relacionadas ao SFTP</a:t>
              </a:r>
            </a:p>
          </p:txBody>
        </p:sp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009" y="1169658"/>
              <a:ext cx="504000" cy="504000"/>
            </a:xfrm>
            <a:prstGeom prst="rect">
              <a:avLst/>
            </a:prstGeom>
          </p:spPr>
        </p:pic>
      </p:grpSp>
      <p:sp>
        <p:nvSpPr>
          <p:cNvPr id="44" name="Retângulo 43"/>
          <p:cNvSpPr/>
          <p:nvPr/>
        </p:nvSpPr>
        <p:spPr>
          <a:xfrm>
            <a:off x="348456" y="2040437"/>
            <a:ext cx="9540000" cy="43704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Por ser um serviço de transferência de arquivos em caráter temporário, os arquivos contidos no SFTP possuem um </a:t>
            </a:r>
            <a:r>
              <a:rPr lang="pt-BR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prazo automático de expiração de 07 dias (uma semana).</a:t>
            </a: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 SFTP </a:t>
            </a:r>
            <a:r>
              <a:rPr lang="pt-BR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NÃO deve ser utilizado sob qualquer hipótese ou justificativa para transferência ou armazenamento, ainda que temporário, de arquivos pessoais</a:t>
            </a: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 SFTP não é um diretório de rede, ou seja, </a:t>
            </a:r>
            <a:r>
              <a:rPr lang="pt-BR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não deve ser utilizado para armazenamento permanente de arquivos corporativos. </a:t>
            </a: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 Colaborador SMILES que for responsável pelo Parceiro de Negócios, também será responsável pelo uso efetivo do(s) representante(s) do Parceiro no SFTP.</a:t>
            </a: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Por padrão, o limite máximo de armazenamento do SFTP é de 1TB. Exceções deverão ser tratadas junto ao Gerente de Operações e Infraestrutura de TI.</a:t>
            </a:r>
          </a:p>
        </p:txBody>
      </p:sp>
    </p:spTree>
    <p:extLst>
      <p:ext uri="{BB962C8B-B14F-4D97-AF65-F5344CB8AC3E}">
        <p14:creationId xmlns:p14="http://schemas.microsoft.com/office/powerpoint/2010/main" val="2258289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Guia de uso do SFTP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11</a:t>
            </a:fld>
            <a:endParaRPr lang="en-US" dirty="0"/>
          </a:p>
        </p:txBody>
      </p:sp>
      <p:grpSp>
        <p:nvGrpSpPr>
          <p:cNvPr id="10" name="Agrupar 9"/>
          <p:cNvGrpSpPr/>
          <p:nvPr/>
        </p:nvGrpSpPr>
        <p:grpSpPr>
          <a:xfrm>
            <a:off x="348619" y="1035532"/>
            <a:ext cx="9419901" cy="720000"/>
            <a:chOff x="351116" y="1061658"/>
            <a:chExt cx="9419901" cy="720000"/>
          </a:xfrm>
        </p:grpSpPr>
        <p:sp>
          <p:nvSpPr>
            <p:cNvPr id="48" name="Retângulo de cantos arredondados 17"/>
            <p:cNvSpPr/>
            <p:nvPr/>
          </p:nvSpPr>
          <p:spPr>
            <a:xfrm>
              <a:off x="351116" y="1061658"/>
              <a:ext cx="9419901" cy="720000"/>
            </a:xfrm>
            <a:prstGeom prst="roundRect">
              <a:avLst>
                <a:gd name="adj" fmla="val 7081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0"/>
              <a:r>
                <a:rPr lang="pt-BR" sz="20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Principais Regras relacionadas ao SFTP</a:t>
              </a:r>
            </a:p>
          </p:txBody>
        </p:sp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009" y="1169658"/>
              <a:ext cx="504000" cy="504000"/>
            </a:xfrm>
            <a:prstGeom prst="rect">
              <a:avLst/>
            </a:prstGeom>
          </p:spPr>
        </p:pic>
      </p:grpSp>
      <p:sp>
        <p:nvSpPr>
          <p:cNvPr id="44" name="Retângulo 43"/>
          <p:cNvSpPr/>
          <p:nvPr/>
        </p:nvSpPr>
        <p:spPr>
          <a:xfrm>
            <a:off x="348456" y="2040437"/>
            <a:ext cx="9540000" cy="2646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6"/>
            </a:pP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As senhas de acesso ao SFTP são integradas com o AD, portanto, caso você altere sua senha de rede, a nova senha também deverá ser utilizada para efetuar </a:t>
            </a:r>
            <a:r>
              <a:rPr lang="pt-BR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login</a:t>
            </a:r>
            <a:r>
              <a:rPr lang="pt-BR" i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 SFTP. </a:t>
            </a: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6"/>
            </a:pP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Caso algum parceiro necessite ter sua senha alterada ou tenha esquecido sua senha do SFTP, o Colaborador SMILES responsável pelo mesmo deverá abrir um chamado na ferramenta da Central de Serviços de TI (JIRA Service Desk) solicitando o </a:t>
            </a:r>
            <a:r>
              <a:rPr lang="pt-BR" i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reset </a:t>
            </a: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 senha.</a:t>
            </a: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6"/>
            </a:pP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 SFTP </a:t>
            </a:r>
            <a:r>
              <a:rPr lang="pt-BR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não poderá ser utilizado para transferência de arquivos de acúmulo de milhas.</a:t>
            </a:r>
          </a:p>
        </p:txBody>
      </p:sp>
    </p:spTree>
    <p:extLst>
      <p:ext uri="{BB962C8B-B14F-4D97-AF65-F5344CB8AC3E}">
        <p14:creationId xmlns:p14="http://schemas.microsoft.com/office/powerpoint/2010/main" val="380635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3773</TotalTime>
  <Words>772</Words>
  <Application>Microsoft Office PowerPoint</Application>
  <PresentationFormat>Personalizar</PresentationFormat>
  <Paragraphs>85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7" baseType="lpstr">
      <vt:lpstr>Arial</vt:lpstr>
      <vt:lpstr>Calibri</vt:lpstr>
      <vt:lpstr>Gotham Rounded Book</vt:lpstr>
      <vt:lpstr>Segoe UI</vt:lpstr>
      <vt:lpstr>Trebuchet MS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Jorge Filho</cp:lastModifiedBy>
  <cp:revision>306</cp:revision>
  <dcterms:created xsi:type="dcterms:W3CDTF">2014-01-24T21:35:00Z</dcterms:created>
  <dcterms:modified xsi:type="dcterms:W3CDTF">2016-03-01T22:15:08Z</dcterms:modified>
</cp:coreProperties>
</file>