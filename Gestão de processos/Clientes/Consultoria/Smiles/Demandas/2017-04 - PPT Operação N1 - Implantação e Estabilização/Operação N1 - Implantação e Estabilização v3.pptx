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376" r:id="rId3"/>
    <p:sldId id="381" r:id="rId4"/>
    <p:sldId id="382" r:id="rId5"/>
    <p:sldId id="392" r:id="rId6"/>
    <p:sldId id="393" r:id="rId7"/>
    <p:sldId id="394" r:id="rId8"/>
    <p:sldId id="395" r:id="rId9"/>
    <p:sldId id="396" r:id="rId10"/>
    <p:sldId id="397" r:id="rId11"/>
    <p:sldId id="400" r:id="rId12"/>
    <p:sldId id="398" r:id="rId13"/>
    <p:sldId id="399" r:id="rId14"/>
    <p:sldId id="401" r:id="rId1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68E1E"/>
    <a:srgbClr val="FFFF99"/>
    <a:srgbClr val="DEDEDE"/>
    <a:srgbClr val="99CCFF"/>
    <a:srgbClr val="8064A2"/>
    <a:srgbClr val="D0462D"/>
    <a:srgbClr val="FFFF66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tulio.oliveira@smiles.com.br" TargetMode="External"/><Relationship Id="rId7" Type="http://schemas.openxmlformats.org/officeDocument/2006/relationships/hyperlink" Target="mailto:gr-ti-operacoes@smiles.com.br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gr-infraestrutura@smiles.com.br" TargetMode="External"/><Relationship Id="rId5" Type="http://schemas.openxmlformats.org/officeDocument/2006/relationships/hyperlink" Target="mailto:nei.henckes@smiles.com.br" TargetMode="External"/><Relationship Id="rId4" Type="http://schemas.openxmlformats.org/officeDocument/2006/relationships/hyperlink" Target="mailto:adriano.barbosa@smiles.com.br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941316"/>
            <a:ext cx="568862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Operação N1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Implantação e Estabilização</a:t>
            </a:r>
          </a:p>
          <a:p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– 05-04-2017</a:t>
            </a:r>
          </a:p>
        </p:txBody>
      </p:sp>
      <p:pic>
        <p:nvPicPr>
          <p:cNvPr id="2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44" y="4371194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Operação N1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090913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Implantação N1 – Ações Realizadas</a:t>
            </a:r>
            <a:endParaRPr lang="pt-B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2972369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Macro Processo N1/N2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3913097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Indicadores e Métricas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4853825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Estabilização – 60 dias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031641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Go-Live – Ações na Semana 1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504" y="1090913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" name="Retângulo de cantos arredondados 6"/>
          <p:cNvSpPr/>
          <p:nvPr/>
        </p:nvSpPr>
        <p:spPr>
          <a:xfrm>
            <a:off x="4494807" y="5794554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Escalation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List</a:t>
            </a:r>
            <a:endParaRPr lang="pt-BR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799986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Implantação N1 – Ações Realizadas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Revisões/Atualizações dos Procedimentos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Workshop sobre JIRA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Dashboard no JIRA (acompanhamento)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Revisões/Ajustes nas Monitorações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Visita à Cluster2Go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Chaves e Acessos AWS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Acessos a Ferramentas e Sistemas (JIRA, Siebel, outros)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Presença da Cluster2Go On-site 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shadow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3" name="AutoShape 2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5057775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://www.arcitsolutions.co.uk/wp-content/uploads/2014/10/24-hou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1" y="2482744"/>
            <a:ext cx="322897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GO Live – Ações na Semana 1</a:t>
            </a:r>
          </a:p>
        </p:txBody>
      </p:sp>
      <p:pic>
        <p:nvPicPr>
          <p:cNvPr id="2050" name="Picture 2" descr="https://marketing.enterprisestudy.com/wp-content/uploads/2016/05/go-liv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90" y="592445"/>
            <a:ext cx="5771248" cy="36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318052" y="2690191"/>
            <a:ext cx="7805531" cy="3747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Report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Diário do Serviço via Dashboard no JIRA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Daily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Call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(participação no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Quality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Check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 e Raul Souza on-site na Cluster2Go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Divulgação do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Escalation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List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Reunião Executiva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18052" y="2798235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03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323583" y="2798234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07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cxnSpLocks/>
            <a:stCxn id="12" idx="3"/>
            <a:endCxn id="13" idx="1"/>
          </p:cNvCxnSpPr>
          <p:nvPr/>
        </p:nvCxnSpPr>
        <p:spPr>
          <a:xfrm flipV="1">
            <a:off x="2118052" y="3059844"/>
            <a:ext cx="4205531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N2 – Smiles</a:t>
            </a:r>
            <a:endParaRPr lang="pt-BR" sz="900" b="1" dirty="0"/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N1 – Cluster2Go</a:t>
            </a:r>
            <a:endParaRPr lang="pt-BR" sz="900" b="1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N1 – N2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9" name="Agrupar 88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87" name="Chave Esquerda 86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tângulo 87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Agrupar 90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52" name="Retângulo 51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Chave Esquerda 52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33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N1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5981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34" name="Chave Esquerda 33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Resolução do Chamado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6" name="Agrupar 35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37" name="Retângulo 36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Chave Esquerda 37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tângulo: Canto Dobrado 2"/>
          <p:cNvSpPr/>
          <p:nvPr/>
        </p:nvSpPr>
        <p:spPr>
          <a:xfrm>
            <a:off x="7352948" y="5434788"/>
            <a:ext cx="2294635" cy="786302"/>
          </a:xfrm>
          <a:prstGeom prst="foldedCorner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Nota</a:t>
            </a:r>
            <a:r>
              <a:rPr lang="pt-BR" sz="1000" dirty="0"/>
              <a:t>:</a:t>
            </a:r>
          </a:p>
          <a:p>
            <a:pPr marL="72000" algn="just"/>
            <a:r>
              <a:rPr lang="pt-BR" sz="1000" dirty="0"/>
              <a:t>Há distinção no contador de chamados para apontar os Resolvidos por N1 e Resolvidos por N2.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9628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  <a:endParaRPr lang="pt-BR" sz="1100" dirty="0"/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028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Incorreto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83047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Estabilização – 60 dias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1" y="974806"/>
            <a:ext cx="10117137" cy="4114032"/>
            <a:chOff x="1" y="1107326"/>
            <a:chExt cx="10117137" cy="4114032"/>
          </a:xfrm>
        </p:grpSpPr>
        <p:grpSp>
          <p:nvGrpSpPr>
            <p:cNvPr id="4" name="Agrupar 3"/>
            <p:cNvGrpSpPr/>
            <p:nvPr/>
          </p:nvGrpSpPr>
          <p:grpSpPr>
            <a:xfrm>
              <a:off x="1" y="1107326"/>
              <a:ext cx="10117137" cy="4114032"/>
              <a:chOff x="1" y="1120578"/>
              <a:chExt cx="10117137" cy="4114032"/>
            </a:xfrm>
          </p:grpSpPr>
          <p:sp>
            <p:nvSpPr>
              <p:cNvPr id="34" name="Retângulo 33"/>
              <p:cNvSpPr/>
              <p:nvPr/>
            </p:nvSpPr>
            <p:spPr>
              <a:xfrm>
                <a:off x="1" y="1120578"/>
                <a:ext cx="10117137" cy="41140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lvl="0">
                  <a:spcBef>
                    <a:spcPts val="300"/>
                  </a:spcBef>
                  <a:spcAft>
                    <a:spcPts val="300"/>
                  </a:spcAft>
                </a:pPr>
                <a:endParaRPr lang="pt-BR" sz="900" dirty="0"/>
              </a:p>
            </p:txBody>
          </p:sp>
          <p:sp>
            <p:nvSpPr>
              <p:cNvPr id="3" name="Seta: Pentágono 2"/>
              <p:cNvSpPr/>
              <p:nvPr/>
            </p:nvSpPr>
            <p:spPr>
              <a:xfrm>
                <a:off x="90349" y="1221690"/>
                <a:ext cx="5040000" cy="606670"/>
              </a:xfrm>
              <a:prstGeom prst="homePlat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Abril</a:t>
                </a:r>
              </a:p>
            </p:txBody>
          </p:sp>
          <p:sp>
            <p:nvSpPr>
              <p:cNvPr id="16" name="Seta: Divisa 15"/>
              <p:cNvSpPr/>
              <p:nvPr/>
            </p:nvSpPr>
            <p:spPr>
              <a:xfrm>
                <a:off x="5009321" y="1221690"/>
                <a:ext cx="5040000" cy="606670"/>
              </a:xfrm>
              <a:prstGeom prst="chevron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Maio</a:t>
                </a:r>
              </a:p>
            </p:txBody>
          </p:sp>
          <p:cxnSp>
            <p:nvCxnSpPr>
              <p:cNvPr id="36" name="Conector reto 35"/>
              <p:cNvCxnSpPr>
                <a:cxnSpLocks/>
              </p:cNvCxnSpPr>
              <p:nvPr/>
            </p:nvCxnSpPr>
            <p:spPr>
              <a:xfrm>
                <a:off x="120251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8" name="Conector reto 37"/>
              <p:cNvCxnSpPr>
                <a:cxnSpLocks/>
              </p:cNvCxnSpPr>
              <p:nvPr/>
            </p:nvCxnSpPr>
            <p:spPr>
              <a:xfrm>
                <a:off x="8784918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" name="Conector reto 38"/>
              <p:cNvCxnSpPr>
                <a:cxnSpLocks/>
              </p:cNvCxnSpPr>
              <p:nvPr/>
            </p:nvCxnSpPr>
            <p:spPr>
              <a:xfrm>
                <a:off x="625745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" name="Conector reto 39"/>
              <p:cNvCxnSpPr>
                <a:cxnSpLocks/>
              </p:cNvCxnSpPr>
              <p:nvPr/>
            </p:nvCxnSpPr>
            <p:spPr>
              <a:xfrm>
                <a:off x="752118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>
                <a:cxnSpLocks/>
              </p:cNvCxnSpPr>
              <p:nvPr/>
            </p:nvCxnSpPr>
            <p:spPr>
              <a:xfrm>
                <a:off x="246624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>
                <a:cxnSpLocks/>
              </p:cNvCxnSpPr>
              <p:nvPr/>
            </p:nvCxnSpPr>
            <p:spPr>
              <a:xfrm>
                <a:off x="499371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>
                <a:cxnSpLocks/>
              </p:cNvCxnSpPr>
              <p:nvPr/>
            </p:nvCxnSpPr>
            <p:spPr>
              <a:xfrm>
                <a:off x="372998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32" name="Retângulo: Cantos Arredondados 31"/>
            <p:cNvSpPr/>
            <p:nvPr/>
          </p:nvSpPr>
          <p:spPr>
            <a:xfrm>
              <a:off x="45406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1</a:t>
              </a:r>
            </a:p>
          </p:txBody>
        </p:sp>
        <p:sp>
          <p:nvSpPr>
            <p:cNvPr id="33" name="Retângulo: Cantos Arredondados 32"/>
            <p:cNvSpPr/>
            <p:nvPr/>
          </p:nvSpPr>
          <p:spPr>
            <a:xfrm>
              <a:off x="1304813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2</a:t>
              </a:r>
            </a:p>
          </p:txBody>
        </p:sp>
        <p:sp>
          <p:nvSpPr>
            <p:cNvPr id="35" name="Retângulo: Cantos Arredondados 34"/>
            <p:cNvSpPr/>
            <p:nvPr/>
          </p:nvSpPr>
          <p:spPr>
            <a:xfrm>
              <a:off x="2564220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3</a:t>
              </a:r>
            </a:p>
          </p:txBody>
        </p:sp>
        <p:sp>
          <p:nvSpPr>
            <p:cNvPr id="37" name="Retângulo: Cantos Arredondados 36"/>
            <p:cNvSpPr/>
            <p:nvPr/>
          </p:nvSpPr>
          <p:spPr>
            <a:xfrm>
              <a:off x="3823627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4</a:t>
              </a:r>
            </a:p>
          </p:txBody>
        </p:sp>
        <p:sp>
          <p:nvSpPr>
            <p:cNvPr id="42" name="Retângulo: Cantos Arredondados 41"/>
            <p:cNvSpPr/>
            <p:nvPr/>
          </p:nvSpPr>
          <p:spPr>
            <a:xfrm>
              <a:off x="5083034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1</a:t>
              </a:r>
            </a:p>
          </p:txBody>
        </p:sp>
        <p:sp>
          <p:nvSpPr>
            <p:cNvPr id="56" name="Retângulo: Cantos Arredondados 55"/>
            <p:cNvSpPr/>
            <p:nvPr/>
          </p:nvSpPr>
          <p:spPr>
            <a:xfrm>
              <a:off x="6342441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2</a:t>
              </a:r>
            </a:p>
          </p:txBody>
        </p:sp>
        <p:sp>
          <p:nvSpPr>
            <p:cNvPr id="57" name="Retângulo: Cantos Arredondados 56"/>
            <p:cNvSpPr/>
            <p:nvPr/>
          </p:nvSpPr>
          <p:spPr>
            <a:xfrm>
              <a:off x="7601848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3</a:t>
              </a:r>
            </a:p>
          </p:txBody>
        </p:sp>
        <p:sp>
          <p:nvSpPr>
            <p:cNvPr id="58" name="Retângulo: Cantos Arredondados 57"/>
            <p:cNvSpPr/>
            <p:nvPr/>
          </p:nvSpPr>
          <p:spPr>
            <a:xfrm>
              <a:off x="8861258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4</a:t>
              </a:r>
            </a:p>
          </p:txBody>
        </p:sp>
      </p:grpSp>
      <p:sp>
        <p:nvSpPr>
          <p:cNvPr id="31" name="Seta: Pentágono 30"/>
          <p:cNvSpPr/>
          <p:nvPr/>
        </p:nvSpPr>
        <p:spPr>
          <a:xfrm>
            <a:off x="45406" y="2346947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Go-Live e Reunião Executiva</a:t>
            </a:r>
          </a:p>
        </p:txBody>
      </p:sp>
      <p:sp>
        <p:nvSpPr>
          <p:cNvPr id="59" name="Seta: Pentágono 58"/>
          <p:cNvSpPr/>
          <p:nvPr/>
        </p:nvSpPr>
        <p:spPr>
          <a:xfrm>
            <a:off x="7631446" y="3366730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Executiva</a:t>
            </a:r>
          </a:p>
        </p:txBody>
      </p:sp>
      <p:sp>
        <p:nvSpPr>
          <p:cNvPr id="60" name="Seta: Pentágono 59"/>
          <p:cNvSpPr/>
          <p:nvPr/>
        </p:nvSpPr>
        <p:spPr>
          <a:xfrm>
            <a:off x="45406" y="3009696"/>
            <a:ext cx="9980448" cy="253172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Acompanhamento Diário</a:t>
            </a:r>
          </a:p>
        </p:txBody>
      </p:sp>
      <p:sp>
        <p:nvSpPr>
          <p:cNvPr id="61" name="Seta: Pentágono 60"/>
          <p:cNvSpPr/>
          <p:nvPr/>
        </p:nvSpPr>
        <p:spPr>
          <a:xfrm>
            <a:off x="6367711" y="3925617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Fornecedor Crítico de TI</a:t>
            </a:r>
          </a:p>
        </p:txBody>
      </p:sp>
      <p:sp>
        <p:nvSpPr>
          <p:cNvPr id="62" name="Retângulo 61"/>
          <p:cNvSpPr/>
          <p:nvPr/>
        </p:nvSpPr>
        <p:spPr>
          <a:xfrm>
            <a:off x="1304813" y="5216454"/>
            <a:ext cx="8694649" cy="15421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Acompanhamentos via Dashboard no JIRA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Daily </a:t>
            </a:r>
            <a:r>
              <a:rPr lang="pt-B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Calls</a:t>
            </a: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Atenção Especial nos Feriados (14 e 21 de Abril)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Executiva (após Primeiro Mês)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Fornecedores Críticos de TI (após Primeiro Mês)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101546" y="5216454"/>
            <a:ext cx="1080000" cy="15421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Ações no </a:t>
            </a:r>
          </a:p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Período</a:t>
            </a:r>
          </a:p>
        </p:txBody>
      </p:sp>
      <p:sp>
        <p:nvSpPr>
          <p:cNvPr id="65" name="Fluxograma: Processo 64"/>
          <p:cNvSpPr/>
          <p:nvPr/>
        </p:nvSpPr>
        <p:spPr>
          <a:xfrm rot="20714565">
            <a:off x="1783934" y="3548500"/>
            <a:ext cx="4333460" cy="795131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9000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Validar e inserir ações adicionais</a:t>
            </a:r>
          </a:p>
        </p:txBody>
      </p:sp>
    </p:spTree>
    <p:extLst>
      <p:ext uri="{BB962C8B-B14F-4D97-AF65-F5344CB8AC3E}">
        <p14:creationId xmlns:p14="http://schemas.microsoft.com/office/powerpoint/2010/main" val="274396046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Escalation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3"/>
          <a:srcRect l="36005"/>
          <a:stretch/>
        </p:blipFill>
        <p:spPr>
          <a:xfrm flipH="1">
            <a:off x="238540" y="1931593"/>
            <a:ext cx="2224881" cy="3267075"/>
          </a:xfrm>
          <a:prstGeom prst="rect">
            <a:avLst/>
          </a:prstGeom>
        </p:spPr>
      </p:pic>
      <p:sp>
        <p:nvSpPr>
          <p:cNvPr id="61" name="Retângulo 60"/>
          <p:cNvSpPr/>
          <p:nvPr/>
        </p:nvSpPr>
        <p:spPr>
          <a:xfrm>
            <a:off x="2807920" y="1497482"/>
            <a:ext cx="3327895" cy="37011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Túlio Oliveira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Adriano Barbosa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Nei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Henckes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Plantão Siebel, Site, Infra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480314" y="1497482"/>
            <a:ext cx="3327895" cy="37011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Diego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Rodolfo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Anderson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Suporte N1</a:t>
            </a:r>
          </a:p>
        </p:txBody>
      </p:sp>
      <p:pic>
        <p:nvPicPr>
          <p:cNvPr id="6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248" y="5656786"/>
            <a:ext cx="2206288" cy="787514"/>
          </a:xfrm>
          <a:prstGeom prst="rect">
            <a:avLst/>
          </a:prstGeom>
        </p:spPr>
      </p:pic>
      <p:pic>
        <p:nvPicPr>
          <p:cNvPr id="65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8" b="32158"/>
          <a:stretch/>
        </p:blipFill>
        <p:spPr bwMode="auto">
          <a:xfrm>
            <a:off x="6900858" y="5550939"/>
            <a:ext cx="2486806" cy="89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4584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Contact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113528"/>
              </p:ext>
            </p:extLst>
          </p:nvPr>
        </p:nvGraphicFramePr>
        <p:xfrm>
          <a:off x="225287" y="1028488"/>
          <a:ext cx="9660832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2296">
                  <a:extLst>
                    <a:ext uri="{9D8B030D-6E8A-4147-A177-3AD203B41FA5}">
                      <a16:colId xmlns:a16="http://schemas.microsoft.com/office/drawing/2014/main" val="3558171781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2576169665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546960074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771555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Função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E-mail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Telefone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56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Túlio Oliveira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Diretor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3"/>
                        </a:rPr>
                        <a:t>tulio.oliveira@smiles.com.br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99822-1812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921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Adriano Barbosa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Ger. Arquitetura, Infra e Operações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4"/>
                        </a:rPr>
                        <a:t>adriano.barbosa@smiles.com.br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98696-5557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405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Nei Henckes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Coordenador Operações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5"/>
                        </a:rPr>
                        <a:t>nei.henckes@smiles.com.br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95497-7879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367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Infra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6"/>
                        </a:rPr>
                        <a:t>gr-infraestrutura@smiles.com.br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98136-2537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349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Siebel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7"/>
                        </a:rPr>
                        <a:t>gr-ti-operacoes@smiles.com.br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98685-2453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58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Site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7"/>
                        </a:rPr>
                        <a:t>gr-ti-operacoes@smiles.com.br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98146-9275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945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Diego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519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Rodolfo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41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Anderson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943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Suporte N1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0008327"/>
                  </a:ext>
                </a:extLst>
              </a:tr>
            </a:tbl>
          </a:graphicData>
        </a:graphic>
      </p:graphicFrame>
      <p:sp>
        <p:nvSpPr>
          <p:cNvPr id="5" name="Fluxograma: Processo 4"/>
          <p:cNvSpPr/>
          <p:nvPr/>
        </p:nvSpPr>
        <p:spPr>
          <a:xfrm rot="20714565">
            <a:off x="4492489" y="4988023"/>
            <a:ext cx="4333460" cy="795131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9000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Preencher nomes Cluster</a:t>
            </a:r>
          </a:p>
        </p:txBody>
      </p:sp>
    </p:spTree>
    <p:extLst>
      <p:ext uri="{BB962C8B-B14F-4D97-AF65-F5344CB8AC3E}">
        <p14:creationId xmlns:p14="http://schemas.microsoft.com/office/powerpoint/2010/main" val="261652175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Estabilização – 60 dias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1" y="1120577"/>
            <a:ext cx="10117137" cy="5102516"/>
            <a:chOff x="1" y="1120577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120577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49" y="1221690"/>
              <a:ext cx="504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Abril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5009321" y="1221690"/>
              <a:ext cx="504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Maio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20251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784918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625745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752118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>
              <a:cxnSpLocks/>
            </p:cNvCxnSpPr>
            <p:nvPr/>
          </p:nvCxnSpPr>
          <p:spPr>
            <a:xfrm>
              <a:off x="246624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Conector reto 27"/>
            <p:cNvCxnSpPr>
              <a:cxnSpLocks/>
            </p:cNvCxnSpPr>
            <p:nvPr/>
          </p:nvCxnSpPr>
          <p:spPr>
            <a:xfrm>
              <a:off x="499371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Conector reto 28"/>
            <p:cNvCxnSpPr>
              <a:cxnSpLocks/>
            </p:cNvCxnSpPr>
            <p:nvPr/>
          </p:nvCxnSpPr>
          <p:spPr>
            <a:xfrm>
              <a:off x="372998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621171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9340</TotalTime>
  <Words>741</Words>
  <Application>Microsoft Office PowerPoint</Application>
  <PresentationFormat>Personalizar</PresentationFormat>
  <Paragraphs>213</Paragraphs>
  <Slides>14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5" baseType="lpstr">
      <vt:lpstr>Agency FB</vt:lpstr>
      <vt:lpstr>Arial</vt:lpstr>
      <vt:lpstr>Arial Black</vt:lpstr>
      <vt:lpstr>Calibri</vt:lpstr>
      <vt:lpstr>Georgia</vt:lpstr>
      <vt:lpstr>Gotham Rounded Book</vt:lpstr>
      <vt:lpstr>Segoe UI</vt:lpstr>
      <vt:lpstr>Segoe UI Semibold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171</cp:revision>
  <dcterms:created xsi:type="dcterms:W3CDTF">2014-01-24T21:35:00Z</dcterms:created>
  <dcterms:modified xsi:type="dcterms:W3CDTF">2017-04-05T12:52:23Z</dcterms:modified>
</cp:coreProperties>
</file>