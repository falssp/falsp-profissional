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376" r:id="rId3"/>
    <p:sldId id="381" r:id="rId4"/>
    <p:sldId id="382" r:id="rId5"/>
    <p:sldId id="392" r:id="rId6"/>
    <p:sldId id="393" r:id="rId7"/>
    <p:sldId id="394" r:id="rId8"/>
    <p:sldId id="395" r:id="rId9"/>
    <p:sldId id="396" r:id="rId10"/>
    <p:sldId id="397" r:id="rId11"/>
    <p:sldId id="380" r:id="rId12"/>
    <p:sldId id="377" r:id="rId13"/>
    <p:sldId id="383" r:id="rId14"/>
    <p:sldId id="384" r:id="rId15"/>
    <p:sldId id="387" r:id="rId16"/>
    <p:sldId id="388" r:id="rId17"/>
    <p:sldId id="390" r:id="rId18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E1E"/>
    <a:srgbClr val="FFFF99"/>
    <a:srgbClr val="DEDEDE"/>
    <a:srgbClr val="99CCFF"/>
    <a:srgbClr val="8064A2"/>
    <a:srgbClr val="990000"/>
    <a:srgbClr val="D0462D"/>
    <a:srgbClr val="FFFF66"/>
    <a:srgbClr val="00CC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534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05/04/2017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jpeg"/><Relationship Id="rId10" Type="http://schemas.openxmlformats.org/officeDocument/2006/relationships/image" Target="../media/image18.png"/><Relationship Id="rId4" Type="http://schemas.openxmlformats.org/officeDocument/2006/relationships/image" Target="../media/image12.jpe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2596764"/>
            <a:ext cx="568862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Operação N1</a:t>
            </a:r>
          </a:p>
          <a:p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Road-Map para estabilização</a:t>
            </a:r>
          </a:p>
          <a:p>
            <a:endParaRPr lang="pt-BR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3 </a:t>
            </a:r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– 05-04-2017</a:t>
            </a:r>
          </a:p>
        </p:txBody>
      </p:sp>
      <p:pic>
        <p:nvPicPr>
          <p:cNvPr id="2" name="Picture 2" descr="https://media.licdn.com/mpr/mpr/shrink_200_200/AAEAAQAAAAAAAAeqAAAAJDEzY2JjMzVhLTM3MTItNDg5OC1iZmQzLWRlNGRhOWFhNWY0N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1044" y="4371194"/>
            <a:ext cx="2486806" cy="248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Operação N1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4494807" y="1090913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e Missão da Iniciativa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4" name="Retângulo de cantos arredondados 6"/>
          <p:cNvSpPr/>
          <p:nvPr/>
        </p:nvSpPr>
        <p:spPr>
          <a:xfrm>
            <a:off x="4494807" y="2972369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Principais Problemas Identificados</a:t>
            </a:r>
          </a:p>
        </p:txBody>
      </p:sp>
      <p:sp>
        <p:nvSpPr>
          <p:cNvPr id="15" name="Retângulo de cantos arredondados 6"/>
          <p:cNvSpPr/>
          <p:nvPr/>
        </p:nvSpPr>
        <p:spPr>
          <a:xfrm>
            <a:off x="4494807" y="3913097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Princípios de 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DevOps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Smiles</a:t>
            </a:r>
          </a:p>
        </p:txBody>
      </p:sp>
      <p:sp>
        <p:nvSpPr>
          <p:cNvPr id="16" name="Retângulo de cantos arredondados 6"/>
          <p:cNvSpPr/>
          <p:nvPr/>
        </p:nvSpPr>
        <p:spPr>
          <a:xfrm>
            <a:off x="4494807" y="4853825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Roadmap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2017-2018 (Ênfase Q1 e Q2)</a:t>
            </a:r>
          </a:p>
        </p:txBody>
      </p:sp>
      <p:sp>
        <p:nvSpPr>
          <p:cNvPr id="12" name="Retângulo de cantos arredondados 6"/>
          <p:cNvSpPr/>
          <p:nvPr/>
        </p:nvSpPr>
        <p:spPr>
          <a:xfrm>
            <a:off x="4494807" y="2031641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Atual de DEV</a:t>
            </a:r>
          </a:p>
        </p:txBody>
      </p:sp>
      <p:pic>
        <p:nvPicPr>
          <p:cNvPr id="2050" name="Picture 2" descr="https://t3.ftcdn.net/jpg/01/36/54/24/240_F_136542440_JOPFSUpwIY7fyE14ri7Dv2ab5dEupVw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504" y="1090913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sp>
        <p:nvSpPr>
          <p:cNvPr id="13" name="Retângulo de cantos arredondados 6"/>
          <p:cNvSpPr/>
          <p:nvPr/>
        </p:nvSpPr>
        <p:spPr>
          <a:xfrm>
            <a:off x="4494807" y="5794554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Macro Processo 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To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-Be para Q1</a:t>
            </a:r>
          </a:p>
        </p:txBody>
      </p:sp>
    </p:spTree>
    <p:extLst>
      <p:ext uri="{BB962C8B-B14F-4D97-AF65-F5344CB8AC3E}">
        <p14:creationId xmlns:p14="http://schemas.microsoft.com/office/powerpoint/2010/main" val="2413853271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s://media.licdn.com/mpr/mpr/shrink_200_200/AAEAAQAAAAAAAAeqAAAAJDEzY2JjMzVhLTM3MTItNDg5OC1iZmQzLWRlNGRhOWFhNWY0N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15" y="799986"/>
            <a:ext cx="2486806" cy="248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Implantação N1 – Ações Realizadas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Revisões/Atualizações dos Procedimentos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Workshop sobre JIRA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Dashboard no JIRA (acompanhamento)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Revisões/Ajustes nas Monitorações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Visita à Cluster2Go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Concessão de Chaves e Acessos AWS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Concessão de Acessos a Ferramentas e Sistemas (JIRA, Siebel, outros)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Presença da Cluster2Go On-site (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shadow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)</a:t>
            </a:r>
          </a:p>
        </p:txBody>
      </p:sp>
      <p:sp>
        <p:nvSpPr>
          <p:cNvPr id="3" name="AutoShape 2" descr="https://agsft.com/wp-content/uploads/2016/09/Application-Help-Desk-Support.png"/>
          <p:cNvSpPr>
            <a:spLocks noChangeAspect="1" noChangeArrowheads="1"/>
          </p:cNvSpPr>
          <p:nvPr/>
        </p:nvSpPr>
        <p:spPr bwMode="auto">
          <a:xfrm>
            <a:off x="490537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https://agsft.com/wp-content/uploads/2016/09/Application-Help-Desk-Support.png"/>
          <p:cNvSpPr>
            <a:spLocks noChangeAspect="1" noChangeArrowheads="1"/>
          </p:cNvSpPr>
          <p:nvPr/>
        </p:nvSpPr>
        <p:spPr bwMode="auto">
          <a:xfrm>
            <a:off x="5057775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http://www.arcitsolutions.co.uk/wp-content/uploads/2014/10/24-hour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1" y="2482744"/>
            <a:ext cx="322897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37880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GO Live – Ações na Semana 1</a:t>
            </a:r>
          </a:p>
        </p:txBody>
      </p:sp>
      <p:pic>
        <p:nvPicPr>
          <p:cNvPr id="2050" name="Picture 2" descr="https://marketing.enterprisestudy.com/wp-content/uploads/2016/05/go-liv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890" y="592445"/>
            <a:ext cx="5771248" cy="361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318052" y="2690191"/>
            <a:ext cx="7805531" cy="3747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Report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Diário do Serviço via Dashboard no JIRA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Daily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Call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(participação no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Quality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Check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)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Luis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Savioli e Raul Souza on-site na Cluster2Go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Divulgação do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Escalation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List</a:t>
            </a:r>
            <a:endParaRPr lang="pt-BR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Reunião Executiva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18052" y="2798235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Segoe UI" panose="020B0502040204020203" pitchFamily="34" charset="0"/>
              </a:rPr>
              <a:t>03 de Abril</a:t>
            </a:r>
            <a:endParaRPr lang="pt-BR" sz="105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323583" y="2798234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Segoe UI" panose="020B0502040204020203" pitchFamily="34" charset="0"/>
              </a:rPr>
              <a:t>07 de Abril</a:t>
            </a:r>
            <a:endParaRPr lang="pt-BR" sz="105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14" name="Conector de Seta Reta 13"/>
          <p:cNvCxnSpPr>
            <a:cxnSpLocks/>
            <a:stCxn id="12" idx="3"/>
            <a:endCxn id="13" idx="1"/>
          </p:cNvCxnSpPr>
          <p:nvPr/>
        </p:nvCxnSpPr>
        <p:spPr>
          <a:xfrm flipV="1">
            <a:off x="2118052" y="3059844"/>
            <a:ext cx="4205531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/>
              <a:t>N2 – Smiles</a:t>
            </a:r>
            <a:endParaRPr lang="pt-BR" sz="900" b="1" dirty="0"/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/>
              <a:t>N1 – Cluster2Go</a:t>
            </a:r>
            <a:endParaRPr lang="pt-BR" sz="900" b="1" dirty="0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Processo N1 – N2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Processo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Agrupar 89"/>
          <p:cNvGrpSpPr/>
          <p:nvPr/>
        </p:nvGrpSpPr>
        <p:grpSpPr>
          <a:xfrm>
            <a:off x="1136987" y="5331300"/>
            <a:ext cx="2448000" cy="419500"/>
            <a:chOff x="1136987" y="5331300"/>
            <a:chExt cx="2448000" cy="419500"/>
          </a:xfrm>
        </p:grpSpPr>
        <p:sp>
          <p:nvSpPr>
            <p:cNvPr id="44" name="Retângulo 43"/>
            <p:cNvSpPr/>
            <p:nvPr/>
          </p:nvSpPr>
          <p:spPr>
            <a:xfrm>
              <a:off x="1225558" y="5489190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N1 (24x7)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Chave Esquerda 50"/>
            <p:cNvSpPr/>
            <p:nvPr/>
          </p:nvSpPr>
          <p:spPr>
            <a:xfrm rot="16200000">
              <a:off x="2273254" y="4195033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9" name="Agrupar 88"/>
          <p:cNvGrpSpPr/>
          <p:nvPr/>
        </p:nvGrpSpPr>
        <p:grpSpPr>
          <a:xfrm>
            <a:off x="2986018" y="5849794"/>
            <a:ext cx="2448000" cy="424752"/>
            <a:chOff x="2986018" y="5986274"/>
            <a:chExt cx="2448000" cy="424752"/>
          </a:xfrm>
        </p:grpSpPr>
        <p:sp>
          <p:nvSpPr>
            <p:cNvPr id="87" name="Chave Esquerda 86"/>
            <p:cNvSpPr/>
            <p:nvPr/>
          </p:nvSpPr>
          <p:spPr>
            <a:xfrm rot="16200000">
              <a:off x="4122285" y="4850007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tângulo 87"/>
            <p:cNvSpPr/>
            <p:nvPr/>
          </p:nvSpPr>
          <p:spPr>
            <a:xfrm>
              <a:off x="3081553" y="6149416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N2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1" name="Agrupar 90"/>
          <p:cNvGrpSpPr/>
          <p:nvPr/>
        </p:nvGrpSpPr>
        <p:grpSpPr>
          <a:xfrm>
            <a:off x="1136988" y="6368630"/>
            <a:ext cx="7920000" cy="430850"/>
            <a:chOff x="1136988" y="6423222"/>
            <a:chExt cx="5184000" cy="430850"/>
          </a:xfrm>
        </p:grpSpPr>
        <p:sp>
          <p:nvSpPr>
            <p:cNvPr id="52" name="Retângulo 51"/>
            <p:cNvSpPr/>
            <p:nvPr/>
          </p:nvSpPr>
          <p:spPr>
            <a:xfrm>
              <a:off x="1304838" y="6592462"/>
              <a:ext cx="484632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Resolução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3" name="Chave Esquerda 52"/>
            <p:cNvSpPr/>
            <p:nvPr/>
          </p:nvSpPr>
          <p:spPr>
            <a:xfrm rot="16200000">
              <a:off x="3641255" y="3918955"/>
              <a:ext cx="175465" cy="5184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339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Resposta do N1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Agrupar 89"/>
          <p:cNvGrpSpPr/>
          <p:nvPr/>
        </p:nvGrpSpPr>
        <p:grpSpPr>
          <a:xfrm>
            <a:off x="1136987" y="5331300"/>
            <a:ext cx="2448000" cy="419500"/>
            <a:chOff x="1136987" y="5331300"/>
            <a:chExt cx="2448000" cy="419500"/>
          </a:xfrm>
        </p:grpSpPr>
        <p:sp>
          <p:nvSpPr>
            <p:cNvPr id="44" name="Retângulo 43"/>
            <p:cNvSpPr/>
            <p:nvPr/>
          </p:nvSpPr>
          <p:spPr>
            <a:xfrm>
              <a:off x="1225558" y="5489190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N1 (24x7)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Chave Esquerda 50"/>
            <p:cNvSpPr/>
            <p:nvPr/>
          </p:nvSpPr>
          <p:spPr>
            <a:xfrm rot="16200000">
              <a:off x="2273254" y="4195033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255981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Resposta do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grpSp>
        <p:nvGrpSpPr>
          <p:cNvPr id="33" name="Agrupar 32"/>
          <p:cNvGrpSpPr/>
          <p:nvPr/>
        </p:nvGrpSpPr>
        <p:grpSpPr>
          <a:xfrm>
            <a:off x="2986018" y="5849794"/>
            <a:ext cx="2448000" cy="424752"/>
            <a:chOff x="2986018" y="5986274"/>
            <a:chExt cx="2448000" cy="424752"/>
          </a:xfrm>
        </p:grpSpPr>
        <p:sp>
          <p:nvSpPr>
            <p:cNvPr id="34" name="Chave Esquerda 33"/>
            <p:cNvSpPr/>
            <p:nvPr/>
          </p:nvSpPr>
          <p:spPr>
            <a:xfrm rot="16200000">
              <a:off x="4122285" y="4850007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tângulo 34"/>
            <p:cNvSpPr/>
            <p:nvPr/>
          </p:nvSpPr>
          <p:spPr>
            <a:xfrm>
              <a:off x="3081553" y="6149416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N2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36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Resolução do Chamado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grpSp>
        <p:nvGrpSpPr>
          <p:cNvPr id="36" name="Agrupar 35"/>
          <p:cNvGrpSpPr/>
          <p:nvPr/>
        </p:nvGrpSpPr>
        <p:grpSpPr>
          <a:xfrm>
            <a:off x="1136988" y="6368630"/>
            <a:ext cx="7920000" cy="430850"/>
            <a:chOff x="1136988" y="6423222"/>
            <a:chExt cx="5184000" cy="430850"/>
          </a:xfrm>
        </p:grpSpPr>
        <p:sp>
          <p:nvSpPr>
            <p:cNvPr id="37" name="Retângulo 36"/>
            <p:cNvSpPr/>
            <p:nvPr/>
          </p:nvSpPr>
          <p:spPr>
            <a:xfrm>
              <a:off x="1304838" y="6592462"/>
              <a:ext cx="484632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Resolução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" name="Chave Esquerda 37"/>
            <p:cNvSpPr/>
            <p:nvPr/>
          </p:nvSpPr>
          <p:spPr>
            <a:xfrm rot="16200000">
              <a:off x="3641255" y="3918955"/>
              <a:ext cx="175465" cy="5184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tângulo: Canto Dobrado 2"/>
          <p:cNvSpPr/>
          <p:nvPr/>
        </p:nvSpPr>
        <p:spPr>
          <a:xfrm>
            <a:off x="6995139" y="5326944"/>
            <a:ext cx="2685194" cy="910596"/>
          </a:xfrm>
          <a:prstGeom prst="foldedCorner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200" b="1" dirty="0"/>
              <a:t>Nota</a:t>
            </a:r>
            <a:r>
              <a:rPr lang="pt-BR" sz="1200" dirty="0"/>
              <a:t>:</a:t>
            </a:r>
          </a:p>
          <a:p>
            <a:pPr marL="72000" algn="just"/>
            <a:r>
              <a:rPr lang="pt-BR" sz="1200" dirty="0"/>
              <a:t>Há distinção no contador de chamados para apontar os  Resolvidos por N1 e Resolvidos por N2.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282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Direcionamento para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/>
              <a:t>Não</a:t>
            </a:r>
            <a:endParaRPr lang="pt-BR" sz="1100" dirty="0"/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250285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Direcionamento Incorreto para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/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83047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 flipH="1">
            <a:off x="0" y="-1"/>
            <a:ext cx="10117138" cy="685800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" name="Agrupar 2"/>
          <p:cNvGrpSpPr/>
          <p:nvPr/>
        </p:nvGrpSpPr>
        <p:grpSpPr>
          <a:xfrm>
            <a:off x="262189" y="773160"/>
            <a:ext cx="4428000" cy="5082564"/>
            <a:chOff x="262189" y="773160"/>
            <a:chExt cx="4428000" cy="5082564"/>
          </a:xfrm>
        </p:grpSpPr>
        <p:sp>
          <p:nvSpPr>
            <p:cNvPr id="9" name="TextBox 8"/>
            <p:cNvSpPr txBox="1"/>
            <p:nvPr/>
          </p:nvSpPr>
          <p:spPr>
            <a:xfrm>
              <a:off x="607117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Missão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262189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“Habilitar os desenvolvedores 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entregar </a:t>
              </a:r>
              <a:r>
                <a:rPr lang="pt-BR" sz="2400" b="1" i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software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com qualidade e funcionando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no primeiro dia de trabalho na Smiles.”</a:t>
              </a:r>
            </a:p>
          </p:txBody>
        </p:sp>
      </p:grpSp>
      <p:pic>
        <p:nvPicPr>
          <p:cNvPr id="1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5" y="227799"/>
            <a:ext cx="933147" cy="334448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471017" y="773160"/>
            <a:ext cx="4428000" cy="5082564"/>
            <a:chOff x="5471017" y="773160"/>
            <a:chExt cx="4428000" cy="5082564"/>
          </a:xfrm>
        </p:grpSpPr>
        <p:sp>
          <p:nvSpPr>
            <p:cNvPr id="6" name="CaixaDeTexto 5"/>
            <p:cNvSpPr txBox="1"/>
            <p:nvPr/>
          </p:nvSpPr>
          <p:spPr>
            <a:xfrm>
              <a:off x="5471017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“Promover um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ambiente de inovação constante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onde a Tecnologia seja de fato um habilitador que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impulsiona os negócios da Smiles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, através de uma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cultura de desenvolvimento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que permita evoluções rápidas, contínuas e com alta resiliência.”</a:t>
              </a:r>
            </a:p>
          </p:txBody>
        </p:sp>
        <p:sp>
          <p:nvSpPr>
            <p:cNvPr id="7" name="TextBox 8"/>
            <p:cNvSpPr txBox="1"/>
            <p:nvPr/>
          </p:nvSpPr>
          <p:spPr>
            <a:xfrm>
              <a:off x="5815945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Visão</a:t>
              </a:r>
            </a:p>
          </p:txBody>
        </p:sp>
      </p:grpSp>
      <p:sp>
        <p:nvSpPr>
          <p:cNvPr id="2" name="Retângulo 1"/>
          <p:cNvSpPr/>
          <p:nvPr/>
        </p:nvSpPr>
        <p:spPr>
          <a:xfrm>
            <a:off x="4448487" y="6434914"/>
            <a:ext cx="45448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“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Think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big,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Act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small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Fail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fast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Learn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rapidly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.”</a:t>
            </a:r>
            <a:r>
              <a:rPr lang="pt-BR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84681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Atual de DEV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90350" y="1455128"/>
            <a:ext cx="1800000" cy="4672175"/>
            <a:chOff x="90350" y="1507880"/>
            <a:chExt cx="1800000" cy="4672175"/>
          </a:xfrm>
        </p:grpSpPr>
        <p:sp>
          <p:nvSpPr>
            <p:cNvPr id="3" name="Seta: Pentágono 2"/>
            <p:cNvSpPr/>
            <p:nvPr/>
          </p:nvSpPr>
          <p:spPr>
            <a:xfrm>
              <a:off x="90350" y="1507880"/>
              <a:ext cx="1800000" cy="606670"/>
            </a:xfrm>
            <a:prstGeom prst="homePlat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Entendimento e Preparação</a:t>
              </a:r>
            </a:p>
          </p:txBody>
        </p:sp>
        <p:sp>
          <p:nvSpPr>
            <p:cNvPr id="5" name="Retângulo 4"/>
            <p:cNvSpPr/>
            <p:nvPr/>
          </p:nvSpPr>
          <p:spPr>
            <a:xfrm>
              <a:off x="9035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entende Desenho de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qual é a Tecnologia a ser usada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necessários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“monta” seu ambiente de DEV e Teste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Realiza definição de apontamentos (ambientes)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1724765" y="1455128"/>
            <a:ext cx="1800000" cy="4672175"/>
            <a:chOff x="1724765" y="1507880"/>
            <a:chExt cx="1800000" cy="4672175"/>
          </a:xfrm>
        </p:grpSpPr>
        <p:sp>
          <p:nvSpPr>
            <p:cNvPr id="4" name="Seta: Divisa 3"/>
            <p:cNvSpPr/>
            <p:nvPr/>
          </p:nvSpPr>
          <p:spPr>
            <a:xfrm>
              <a:off x="172476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Codificação e Teste Local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1724765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checkout</a:t>
              </a:r>
              <a:r>
                <a:rPr lang="pt-BR" sz="900" dirty="0"/>
                <a:t> e roda código AS-IS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Começa o desenvolvimento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Funcionalidade / Correção desenvolvida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Realiza teste mínimo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Commit</a:t>
              </a:r>
              <a:r>
                <a:rPr lang="pt-BR" sz="900" dirty="0"/>
                <a:t> na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0" name="Agrupar 19"/>
          <p:cNvGrpSpPr/>
          <p:nvPr/>
        </p:nvGrpSpPr>
        <p:grpSpPr>
          <a:xfrm>
            <a:off x="3359180" y="1455128"/>
            <a:ext cx="1800000" cy="4672175"/>
            <a:chOff x="3359180" y="1507880"/>
            <a:chExt cx="1800000" cy="4672175"/>
          </a:xfrm>
        </p:grpSpPr>
        <p:sp>
          <p:nvSpPr>
            <p:cNvPr id="8" name="Seta: Divisa 7"/>
            <p:cNvSpPr/>
            <p:nvPr/>
          </p:nvSpPr>
          <p:spPr>
            <a:xfrm>
              <a:off x="335918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(Pré-Teste)</a:t>
              </a: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335918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Faz Build do Pacote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Libera para QA (Pré-Teste)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Pré-Teste OK, segue. Pré-Teste NOK, volta p/ passo 9</a:t>
              </a:r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4993595" y="1455128"/>
            <a:ext cx="1800000" cy="4697085"/>
            <a:chOff x="4993595" y="1507880"/>
            <a:chExt cx="1800000" cy="4697085"/>
          </a:xfrm>
        </p:grpSpPr>
        <p:sp>
          <p:nvSpPr>
            <p:cNvPr id="11" name="Seta: Divisa 10"/>
            <p:cNvSpPr/>
            <p:nvPr/>
          </p:nvSpPr>
          <p:spPr>
            <a:xfrm>
              <a:off x="499359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 em UAT (QA)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4993595" y="224496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 ordem de entradas do </a:t>
              </a:r>
              <a:r>
                <a:rPr lang="pt-BR" sz="900" dirty="0" err="1"/>
                <a:t>Quarter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das Merges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 e Definição da Merge Master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Faz Build de todos os pacotes em produção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 + Arquivos </a:t>
              </a:r>
              <a:r>
                <a:rPr lang="pt-BR" sz="900" dirty="0" err="1"/>
                <a:t>Properties</a:t>
              </a:r>
              <a:r>
                <a:rPr lang="pt-BR" sz="900" dirty="0"/>
                <a:t> (Apontamentos)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Libera </a:t>
              </a:r>
              <a:r>
                <a:rPr lang="pt-BR" sz="900" dirty="0" err="1"/>
                <a:t>Deploy</a:t>
              </a:r>
              <a:r>
                <a:rPr lang="pt-BR" sz="900" dirty="0"/>
                <a:t> para QA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QA faz Regressivo FULL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Regressivo OK, segue. Regressivo NOK, volta p/  passo 9</a:t>
              </a:r>
            </a:p>
          </p:txBody>
        </p:sp>
      </p:grpSp>
      <p:grpSp>
        <p:nvGrpSpPr>
          <p:cNvPr id="22" name="Agrupar 21"/>
          <p:cNvGrpSpPr/>
          <p:nvPr/>
        </p:nvGrpSpPr>
        <p:grpSpPr>
          <a:xfrm>
            <a:off x="6628010" y="1455128"/>
            <a:ext cx="1800000" cy="4672175"/>
            <a:chOff x="6628010" y="1507880"/>
            <a:chExt cx="1800000" cy="4672175"/>
          </a:xfrm>
        </p:grpSpPr>
        <p:sp>
          <p:nvSpPr>
            <p:cNvPr id="10" name="Seta: Divisa 9"/>
            <p:cNvSpPr/>
            <p:nvPr/>
          </p:nvSpPr>
          <p:spPr>
            <a:xfrm>
              <a:off x="662801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GMUD e Implantação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662801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Abre GMUD e estabelece Blue/Green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Implantação GMUD na data acordada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Deploy</a:t>
              </a:r>
              <a:r>
                <a:rPr lang="pt-BR" sz="900" dirty="0"/>
                <a:t> em  Ambiente de Produção </a:t>
              </a:r>
              <a:r>
                <a:rPr lang="pt-BR" sz="900" dirty="0" err="1"/>
                <a:t>Standby</a:t>
              </a:r>
              <a:r>
                <a:rPr lang="pt-BR" sz="900" dirty="0"/>
                <a:t>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Configurar Máquinas locais para enxergar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ajustes na  monitoração (</a:t>
              </a:r>
              <a:r>
                <a:rPr lang="pt-BR" sz="900" dirty="0" err="1"/>
                <a:t>Dynatrace</a:t>
              </a:r>
              <a:r>
                <a:rPr lang="pt-BR" sz="900" dirty="0"/>
                <a:t>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Smoke</a:t>
              </a:r>
              <a:r>
                <a:rPr lang="pt-BR" sz="900" dirty="0"/>
                <a:t> Test no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 err="1"/>
                <a:t>Smoke</a:t>
              </a:r>
              <a:r>
                <a:rPr lang="pt-BR" sz="900" dirty="0"/>
                <a:t> Test OK, segue. </a:t>
              </a:r>
              <a:r>
                <a:rPr lang="pt-BR" sz="900" dirty="0" err="1"/>
                <a:t>Smoke</a:t>
              </a:r>
              <a:r>
                <a:rPr lang="pt-BR" sz="900" dirty="0"/>
                <a:t> Test NOK, volta para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endParaRPr lang="pt-BR" sz="900" dirty="0"/>
            </a:p>
          </p:txBody>
        </p:sp>
      </p:grpSp>
      <p:grpSp>
        <p:nvGrpSpPr>
          <p:cNvPr id="23" name="Agrupar 22"/>
          <p:cNvGrpSpPr/>
          <p:nvPr/>
        </p:nvGrpSpPr>
        <p:grpSpPr>
          <a:xfrm>
            <a:off x="8262425" y="1455128"/>
            <a:ext cx="1800000" cy="4672174"/>
            <a:chOff x="8262425" y="1507880"/>
            <a:chExt cx="1800000" cy="4672174"/>
          </a:xfrm>
        </p:grpSpPr>
        <p:sp>
          <p:nvSpPr>
            <p:cNvPr id="16" name="Seta: Divisa 15"/>
            <p:cNvSpPr/>
            <p:nvPr/>
          </p:nvSpPr>
          <p:spPr>
            <a:xfrm>
              <a:off x="826242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Chaveamento e Produção FULL</a:t>
              </a: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8262425" y="2220054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Parcial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Acompanhamento do chaveamento parcial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Total 100%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KT para Operações (opcional)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Merge do </a:t>
              </a:r>
              <a:r>
                <a:rPr lang="pt-BR" sz="900" dirty="0" err="1"/>
                <a:t>Branch</a:t>
              </a:r>
              <a:r>
                <a:rPr lang="pt-BR" sz="900" dirty="0"/>
                <a:t> na </a:t>
              </a:r>
              <a:r>
                <a:rPr lang="pt-BR" sz="900" dirty="0" err="1"/>
                <a:t>master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Release do próximo projeto do </a:t>
              </a:r>
              <a:r>
                <a:rPr lang="pt-BR" sz="900" dirty="0" err="1"/>
                <a:t>Quarter</a:t>
              </a:r>
              <a:r>
                <a:rPr lang="pt-BR" sz="900" dirty="0"/>
                <a:t> (volta para passo 19)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Operação Assistida em Produção</a:t>
              </a:r>
            </a:p>
          </p:txBody>
        </p:sp>
      </p:grpSp>
      <p:sp>
        <p:nvSpPr>
          <p:cNvPr id="24" name="Retângulo: Cantos Arredondados 23"/>
          <p:cNvSpPr/>
          <p:nvPr/>
        </p:nvSpPr>
        <p:spPr>
          <a:xfrm>
            <a:off x="9035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5" name="Retângulo: Cantos Arredondados 24"/>
          <p:cNvSpPr/>
          <p:nvPr/>
        </p:nvSpPr>
        <p:spPr>
          <a:xfrm>
            <a:off x="8262425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5 dias </a:t>
            </a:r>
          </a:p>
        </p:txBody>
      </p:sp>
      <p:sp>
        <p:nvSpPr>
          <p:cNvPr id="26" name="Retângulo: Cantos Arredondados 25"/>
          <p:cNvSpPr/>
          <p:nvPr/>
        </p:nvSpPr>
        <p:spPr>
          <a:xfrm>
            <a:off x="172476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7" name="Retângulo: Cantos Arredondados 26"/>
          <p:cNvSpPr/>
          <p:nvPr/>
        </p:nvSpPr>
        <p:spPr>
          <a:xfrm>
            <a:off x="335918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2 dias </a:t>
            </a:r>
          </a:p>
        </p:txBody>
      </p:sp>
      <p:sp>
        <p:nvSpPr>
          <p:cNvPr id="28" name="Retângulo: Cantos Arredondados 27"/>
          <p:cNvSpPr/>
          <p:nvPr/>
        </p:nvSpPr>
        <p:spPr>
          <a:xfrm>
            <a:off x="499359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7 dias </a:t>
            </a:r>
          </a:p>
        </p:txBody>
      </p:sp>
      <p:sp>
        <p:nvSpPr>
          <p:cNvPr id="29" name="Retângulo: Cantos Arredondados 28"/>
          <p:cNvSpPr/>
          <p:nvPr/>
        </p:nvSpPr>
        <p:spPr>
          <a:xfrm>
            <a:off x="662801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6 dias </a:t>
            </a:r>
          </a:p>
        </p:txBody>
      </p:sp>
      <p:sp>
        <p:nvSpPr>
          <p:cNvPr id="30" name="Retângulo: Cantos Arredondados 29"/>
          <p:cNvSpPr/>
          <p:nvPr/>
        </p:nvSpPr>
        <p:spPr>
          <a:xfrm>
            <a:off x="90350" y="819553"/>
            <a:ext cx="1923088" cy="180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ndara" panose="020E0502030303020204" pitchFamily="34" charset="0"/>
                <a:cs typeface="Arial" panose="020B0604020202020204" pitchFamily="34" charset="0"/>
              </a:rPr>
              <a:t>Tempos médios estimados</a:t>
            </a:r>
            <a:endParaRPr lang="pt-BR" sz="1300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743949" y="4986285"/>
            <a:ext cx="3515231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  <a:latin typeface="Candara" panose="020E0502030303020204" pitchFamily="34" charset="0"/>
              </a:rPr>
              <a:t>Importante: poucos desenvolvedores conhecem o processo todo!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90350" y="6327003"/>
            <a:ext cx="9972075" cy="324000"/>
          </a:xfrm>
          <a:prstGeom prst="homePlat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3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360000" algn="l"/>
            <a:r>
              <a:rPr lang="pt-BR" dirty="0"/>
              <a:t>Considerando o “caminho feliz”, sem a ocorrência de falhas (incidentes) ou crises!</a:t>
            </a:r>
          </a:p>
        </p:txBody>
      </p:sp>
      <p:pic>
        <p:nvPicPr>
          <p:cNvPr id="32" name="Gráfico 31" descr="Rosto Sorridente sem Preenchimento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347" y="6363003"/>
            <a:ext cx="252000" cy="252000"/>
          </a:xfrm>
          <a:prstGeom prst="rect">
            <a:avLst/>
          </a:prstGeom>
        </p:spPr>
      </p:pic>
      <p:sp>
        <p:nvSpPr>
          <p:cNvPr id="34" name="Retângulo: Cantos Arredondados 33"/>
          <p:cNvSpPr/>
          <p:nvPr/>
        </p:nvSpPr>
        <p:spPr>
          <a:xfrm>
            <a:off x="7123713" y="819553"/>
            <a:ext cx="2376000" cy="180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ndara" panose="020E0502030303020204" pitchFamily="34" charset="0"/>
                <a:cs typeface="Arial" panose="020B0604020202020204" pitchFamily="34" charset="0"/>
              </a:rPr>
              <a:t>Tempo total estimado: 40 dias úteis</a:t>
            </a:r>
          </a:p>
        </p:txBody>
      </p:sp>
    </p:spTree>
    <p:extLst>
      <p:ext uri="{BB962C8B-B14F-4D97-AF65-F5344CB8AC3E}">
        <p14:creationId xmlns:p14="http://schemas.microsoft.com/office/powerpoint/2010/main" val="2435075221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Roadmap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2017-2018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6" name="Seta: Pentágono 45"/>
          <p:cNvSpPr/>
          <p:nvPr/>
        </p:nvSpPr>
        <p:spPr>
          <a:xfrm>
            <a:off x="3307044" y="5102535"/>
            <a:ext cx="486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7" name="Seta: Pentágono 46"/>
          <p:cNvSpPr/>
          <p:nvPr/>
        </p:nvSpPr>
        <p:spPr>
          <a:xfrm>
            <a:off x="3300450" y="2369843"/>
            <a:ext cx="6725403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Automatizados (Completos)</a:t>
            </a:r>
          </a:p>
        </p:txBody>
      </p:sp>
      <p:sp>
        <p:nvSpPr>
          <p:cNvPr id="48" name="Seta: Pentágono 47"/>
          <p:cNvSpPr/>
          <p:nvPr/>
        </p:nvSpPr>
        <p:spPr>
          <a:xfrm>
            <a:off x="6575129" y="5785708"/>
            <a:ext cx="3450724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</p:spTree>
    <p:extLst>
      <p:ext uri="{BB962C8B-B14F-4D97-AF65-F5344CB8AC3E}">
        <p14:creationId xmlns:p14="http://schemas.microsoft.com/office/powerpoint/2010/main" val="4213180206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Q1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rgbClr val="8064A2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1724766" y="2369843"/>
            <a:ext cx="8219334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Q1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repetitividade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confiabilidade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rastreabilidade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Controle de versão completo e eficiente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Base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TODOS os trabalhos futuros (alicerce)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Resolução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problema de “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merge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perdido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(perda de correções e funcionalidades)</a:t>
            </a:r>
          </a:p>
        </p:txBody>
      </p:sp>
    </p:spTree>
    <p:extLst>
      <p:ext uri="{BB962C8B-B14F-4D97-AF65-F5344CB8AC3E}">
        <p14:creationId xmlns:p14="http://schemas.microsoft.com/office/powerpoint/2010/main" val="2973856791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Q2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3359180" y="2369843"/>
            <a:ext cx="6584920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Q2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Antecipação de problemas através de testes unitários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Entregar código com melhor qualidade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FT: aumentar a frequência dos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deploys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sem expor de imediato as funcionalidades para o cliente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IaC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reduzir problemas de configuração de ambientes (apontamentos)</a:t>
            </a:r>
          </a:p>
        </p:txBody>
      </p:sp>
    </p:spTree>
    <p:extLst>
      <p:ext uri="{BB962C8B-B14F-4D97-AF65-F5344CB8AC3E}">
        <p14:creationId xmlns:p14="http://schemas.microsoft.com/office/powerpoint/2010/main" val="3346223621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/>
          <p:cNvSpPr/>
          <p:nvPr/>
        </p:nvSpPr>
        <p:spPr>
          <a:xfrm>
            <a:off x="3452237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Retorna para Desenvolvedor em caso de Build quebrado</a:t>
            </a:r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Em caso de Build OK, o pacote  vai para o </a:t>
            </a:r>
            <a:r>
              <a:rPr lang="pt-BR" sz="900" dirty="0" err="1"/>
              <a:t>Nexus</a:t>
            </a: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sp>
        <p:nvSpPr>
          <p:cNvPr id="41" name="Retângulo 40"/>
          <p:cNvSpPr/>
          <p:nvPr/>
        </p:nvSpPr>
        <p:spPr>
          <a:xfrm>
            <a:off x="6712121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b="1" dirty="0"/>
              <a:t>Analista de Operação </a:t>
            </a:r>
            <a:r>
              <a:rPr lang="pt-BR" sz="900" dirty="0"/>
              <a:t>executa o </a:t>
            </a:r>
            <a:r>
              <a:rPr lang="pt-BR" sz="900" dirty="0" err="1"/>
              <a:t>Deploy</a:t>
            </a:r>
            <a:r>
              <a:rPr lang="pt-BR" sz="900" dirty="0"/>
              <a:t> através do </a:t>
            </a:r>
            <a:r>
              <a:rPr lang="pt-BR" sz="900" dirty="0" err="1"/>
              <a:t>Rundeck</a:t>
            </a:r>
            <a:r>
              <a:rPr lang="pt-BR" sz="900" dirty="0"/>
              <a:t>. </a:t>
            </a:r>
            <a:r>
              <a:rPr lang="pt-BR" sz="900" dirty="0" err="1"/>
              <a:t>Rundeck</a:t>
            </a:r>
            <a:r>
              <a:rPr lang="pt-BR" sz="900" dirty="0"/>
              <a:t> busca o pacote no </a:t>
            </a:r>
            <a:r>
              <a:rPr lang="pt-BR" sz="900" dirty="0" err="1"/>
              <a:t>Nexus</a:t>
            </a:r>
            <a:r>
              <a:rPr lang="pt-BR" sz="900" dirty="0"/>
              <a:t> para poder fazer o </a:t>
            </a:r>
            <a:r>
              <a:rPr lang="pt-BR" sz="900" dirty="0" err="1"/>
              <a:t>Deploy</a:t>
            </a:r>
            <a:r>
              <a:rPr lang="pt-BR" sz="900" dirty="0"/>
              <a:t>.</a:t>
            </a:r>
          </a:p>
        </p:txBody>
      </p:sp>
      <p:sp>
        <p:nvSpPr>
          <p:cNvPr id="42" name="Retângulo 41"/>
          <p:cNvSpPr/>
          <p:nvPr/>
        </p:nvSpPr>
        <p:spPr>
          <a:xfrm>
            <a:off x="8342063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sp>
        <p:nvSpPr>
          <p:cNvPr id="46" name="Retângulo 45"/>
          <p:cNvSpPr/>
          <p:nvPr/>
        </p:nvSpPr>
        <p:spPr>
          <a:xfrm>
            <a:off x="1818609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b="1" dirty="0"/>
              <a:t>Desenvolvedor</a:t>
            </a:r>
            <a:r>
              <a:rPr lang="pt-BR" sz="900" dirty="0"/>
              <a:t> codifica e faz “</a:t>
            </a:r>
            <a:r>
              <a:rPr lang="pt-BR" sz="900" dirty="0" err="1"/>
              <a:t>commit</a:t>
            </a:r>
            <a:r>
              <a:rPr lang="pt-BR" sz="900" dirty="0"/>
              <a:t>” no GitHub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192353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Planejamento das tarefas e  atividades no JIRA</a:t>
            </a:r>
          </a:p>
        </p:txBody>
      </p:sp>
      <p:sp>
        <p:nvSpPr>
          <p:cNvPr id="48" name="Retângulo 47"/>
          <p:cNvSpPr/>
          <p:nvPr/>
        </p:nvSpPr>
        <p:spPr>
          <a:xfrm>
            <a:off x="5082179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Processo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-Be para Q1</a:t>
            </a:r>
          </a:p>
        </p:txBody>
      </p:sp>
      <p:sp>
        <p:nvSpPr>
          <p:cNvPr id="26" name="Divisa 11"/>
          <p:cNvSpPr/>
          <p:nvPr/>
        </p:nvSpPr>
        <p:spPr>
          <a:xfrm>
            <a:off x="51465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PLAN</a:t>
            </a:r>
          </a:p>
        </p:txBody>
      </p:sp>
      <p:sp>
        <p:nvSpPr>
          <p:cNvPr id="27" name="Divisa 16"/>
          <p:cNvSpPr/>
          <p:nvPr/>
        </p:nvSpPr>
        <p:spPr>
          <a:xfrm>
            <a:off x="1682329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DEVELOP</a:t>
            </a:r>
          </a:p>
        </p:txBody>
      </p:sp>
      <p:sp>
        <p:nvSpPr>
          <p:cNvPr id="28" name="Divisa 17"/>
          <p:cNvSpPr/>
          <p:nvPr/>
        </p:nvSpPr>
        <p:spPr>
          <a:xfrm>
            <a:off x="331319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BUILD</a:t>
            </a:r>
          </a:p>
        </p:txBody>
      </p:sp>
      <p:sp>
        <p:nvSpPr>
          <p:cNvPr id="29" name="Divisa 18"/>
          <p:cNvSpPr/>
          <p:nvPr/>
        </p:nvSpPr>
        <p:spPr>
          <a:xfrm>
            <a:off x="4944057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</a:t>
            </a:r>
          </a:p>
        </p:txBody>
      </p:sp>
      <p:sp>
        <p:nvSpPr>
          <p:cNvPr id="30" name="Divisa 19"/>
          <p:cNvSpPr/>
          <p:nvPr/>
        </p:nvSpPr>
        <p:spPr>
          <a:xfrm>
            <a:off x="6574921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DEPLOY</a:t>
            </a:r>
          </a:p>
        </p:txBody>
      </p:sp>
      <p:sp>
        <p:nvSpPr>
          <p:cNvPr id="31" name="Divisa 21"/>
          <p:cNvSpPr/>
          <p:nvPr/>
        </p:nvSpPr>
        <p:spPr>
          <a:xfrm>
            <a:off x="820578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RELEASE</a:t>
            </a:r>
          </a:p>
        </p:txBody>
      </p:sp>
      <p:sp>
        <p:nvSpPr>
          <p:cNvPr id="33" name="Divisa 25"/>
          <p:cNvSpPr/>
          <p:nvPr/>
        </p:nvSpPr>
        <p:spPr>
          <a:xfrm>
            <a:off x="58953" y="1360923"/>
            <a:ext cx="3427739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Development</a:t>
            </a:r>
            <a:endParaRPr lang="pt-BR" sz="1600" b="1" i="1" dirty="0">
              <a:solidFill>
                <a:schemeClr val="bg1">
                  <a:lumMod val="9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5" name="Divisa 26"/>
          <p:cNvSpPr/>
          <p:nvPr/>
        </p:nvSpPr>
        <p:spPr>
          <a:xfrm>
            <a:off x="3204222" y="1360923"/>
            <a:ext cx="6850777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600" b="1" i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37" name="Divisa 27"/>
          <p:cNvSpPr/>
          <p:nvPr/>
        </p:nvSpPr>
        <p:spPr>
          <a:xfrm>
            <a:off x="3576838" y="1723776"/>
            <a:ext cx="3190229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600" b="1" i="1" dirty="0">
              <a:solidFill>
                <a:schemeClr val="accent4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3" name="Divisa 28"/>
          <p:cNvSpPr/>
          <p:nvPr/>
        </p:nvSpPr>
        <p:spPr>
          <a:xfrm>
            <a:off x="6709319" y="1723776"/>
            <a:ext cx="3069305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Deployment</a:t>
            </a:r>
          </a:p>
        </p:txBody>
      </p:sp>
      <p:sp>
        <p:nvSpPr>
          <p:cNvPr id="44" name="Retângulo Arredondado 39"/>
          <p:cNvSpPr/>
          <p:nvPr/>
        </p:nvSpPr>
        <p:spPr>
          <a:xfrm>
            <a:off x="58953" y="972802"/>
            <a:ext cx="9946830" cy="322876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ALM -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Aplication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Lifecycle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Management</a:t>
            </a:r>
          </a:p>
        </p:txBody>
      </p:sp>
      <p:sp>
        <p:nvSpPr>
          <p:cNvPr id="5" name="AutoShape 4" descr="https://www.shareicon.net/data/128x128/2015/09/02/94531_logo_512x512.png"/>
          <p:cNvSpPr>
            <a:spLocks noChangeAspect="1" noChangeArrowheads="1"/>
          </p:cNvSpPr>
          <p:nvPr/>
        </p:nvSpPr>
        <p:spPr bwMode="auto">
          <a:xfrm>
            <a:off x="490537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https://www.shareicon.net/data/128x128/2015/09/02/94531_logo_512x51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658" b="32274"/>
          <a:stretch/>
        </p:blipFill>
        <p:spPr bwMode="auto">
          <a:xfrm>
            <a:off x="1976415" y="3952286"/>
            <a:ext cx="1219200" cy="51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i.forbesimg.com/media/lists/companies/slack_416x416.jp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777936" y="3419899"/>
            <a:ext cx="870514" cy="32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cdn.xebialabs.com/assets/files/plugins/rundeck.jpg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44057" y="4583875"/>
            <a:ext cx="1474093" cy="28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design.atlassian.com/images/brand/logo-25.pn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770" t="20923" r="25308" b="25539"/>
          <a:stretch/>
        </p:blipFill>
        <p:spPr bwMode="auto">
          <a:xfrm>
            <a:off x="307318" y="2962777"/>
            <a:ext cx="1306390" cy="571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http://www.sonatype.org/nexus/content/uploads/2015/12/Jenkins-and-Nexus-Featured-Image.jpg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492621" y="5674590"/>
            <a:ext cx="1446672" cy="35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sonatype.org/nexus/content/uploads/2015/12/Jenkins-and-Nexus-Featured-Image.jpg"/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00616" y="4847017"/>
            <a:ext cx="1425154" cy="44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s://i0.wp.com/www.naturalborncoder.com/wp-content/uploads/2015/05/sonarqube_logo_720.png?fit=720%2C20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95993" y="4125052"/>
            <a:ext cx="1234401" cy="34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Usuári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39470" y="2902159"/>
            <a:ext cx="693090" cy="693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9" name="Conector de Seta Reta 9"/>
          <p:cNvCxnSpPr>
            <a:cxnSpLocks/>
            <a:stCxn id="12" idx="2"/>
            <a:endCxn id="1030" idx="0"/>
          </p:cNvCxnSpPr>
          <p:nvPr/>
        </p:nvCxnSpPr>
        <p:spPr>
          <a:xfrm>
            <a:off x="2586015" y="3595249"/>
            <a:ext cx="0" cy="35703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inal de Adição 18"/>
          <p:cNvSpPr/>
          <p:nvPr/>
        </p:nvSpPr>
        <p:spPr>
          <a:xfrm>
            <a:off x="4033193" y="3755515"/>
            <a:ext cx="360000" cy="360000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1" name="Sinal de Adição 50"/>
          <p:cNvSpPr/>
          <p:nvPr/>
        </p:nvSpPr>
        <p:spPr>
          <a:xfrm>
            <a:off x="4033193" y="4477478"/>
            <a:ext cx="360000" cy="360000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2" name="Conector de Seta Reta 9"/>
          <p:cNvCxnSpPr>
            <a:cxnSpLocks/>
            <a:stCxn id="1030" idx="2"/>
            <a:endCxn id="45" idx="1"/>
          </p:cNvCxnSpPr>
          <p:nvPr/>
        </p:nvCxnSpPr>
        <p:spPr>
          <a:xfrm rot="16200000" flipH="1">
            <a:off x="2740268" y="4310917"/>
            <a:ext cx="606095" cy="914601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9"/>
          <p:cNvCxnSpPr>
            <a:cxnSpLocks/>
            <a:stCxn id="1032" idx="0"/>
            <a:endCxn id="12" idx="3"/>
          </p:cNvCxnSpPr>
          <p:nvPr/>
        </p:nvCxnSpPr>
        <p:spPr>
          <a:xfrm rot="16200000" flipV="1">
            <a:off x="3487280" y="2693985"/>
            <a:ext cx="171195" cy="1280633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9"/>
          <p:cNvCxnSpPr>
            <a:cxnSpLocks/>
            <a:stCxn id="45" idx="2"/>
            <a:endCxn id="36" idx="0"/>
          </p:cNvCxnSpPr>
          <p:nvPr/>
        </p:nvCxnSpPr>
        <p:spPr>
          <a:xfrm>
            <a:off x="4213193" y="5295514"/>
            <a:ext cx="2764" cy="37907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9"/>
          <p:cNvCxnSpPr>
            <a:cxnSpLocks/>
            <a:stCxn id="3" idx="2"/>
            <a:endCxn id="36" idx="3"/>
          </p:cNvCxnSpPr>
          <p:nvPr/>
        </p:nvCxnSpPr>
        <p:spPr>
          <a:xfrm rot="5400000">
            <a:off x="5716376" y="4087452"/>
            <a:ext cx="987646" cy="2541811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Gráfico 64" descr="Usuári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28376" y="3464868"/>
            <a:ext cx="693090" cy="693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6" name="Conector de Seta Reta 9"/>
          <p:cNvCxnSpPr>
            <a:cxnSpLocks/>
            <a:stCxn id="65" idx="2"/>
            <a:endCxn id="3" idx="0"/>
          </p:cNvCxnSpPr>
          <p:nvPr/>
        </p:nvCxnSpPr>
        <p:spPr>
          <a:xfrm>
            <a:off x="7474921" y="4157958"/>
            <a:ext cx="6183" cy="4259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754044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Conector de Seta Reta 90"/>
          <p:cNvCxnSpPr>
            <a:cxnSpLocks/>
            <a:stCxn id="16" idx="6"/>
            <a:endCxn id="60" idx="1"/>
          </p:cNvCxnSpPr>
          <p:nvPr/>
        </p:nvCxnSpPr>
        <p:spPr>
          <a:xfrm>
            <a:off x="5252820" y="1909200"/>
            <a:ext cx="2735820" cy="356448"/>
          </a:xfrm>
          <a:prstGeom prst="straightConnector1">
            <a:avLst/>
          </a:prstGeom>
          <a:ln w="9525"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Flow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GitHub</a:t>
            </a:r>
          </a:p>
        </p:txBody>
      </p:sp>
      <p:cxnSp>
        <p:nvCxnSpPr>
          <p:cNvPr id="4" name="Conector de Seta Reta 3"/>
          <p:cNvCxnSpPr/>
          <p:nvPr/>
        </p:nvCxnSpPr>
        <p:spPr>
          <a:xfrm>
            <a:off x="5018532" y="1328928"/>
            <a:ext cx="36576" cy="52920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cxnSpLocks/>
          </p:cNvCxnSpPr>
          <p:nvPr/>
        </p:nvCxnSpPr>
        <p:spPr>
          <a:xfrm flipH="1">
            <a:off x="3405287" y="2097024"/>
            <a:ext cx="5425" cy="183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cxnSpLocks/>
            <a:stCxn id="18" idx="0"/>
            <a:endCxn id="26" idx="4"/>
          </p:cNvCxnSpPr>
          <p:nvPr/>
        </p:nvCxnSpPr>
        <p:spPr>
          <a:xfrm>
            <a:off x="6644640" y="2079552"/>
            <a:ext cx="0" cy="37813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tângulo: Cantos Arredondados 12"/>
          <p:cNvSpPr/>
          <p:nvPr/>
        </p:nvSpPr>
        <p:spPr>
          <a:xfrm>
            <a:off x="2870712" y="987339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Hot </a:t>
            </a:r>
            <a:r>
              <a:rPr lang="pt-BR" sz="1100" b="1" dirty="0" err="1">
                <a:latin typeface="Candara" panose="020E0502030303020204" pitchFamily="34" charset="0"/>
                <a:cs typeface="Arial" panose="020B0604020202020204" pitchFamily="34" charset="0"/>
              </a:rPr>
              <a:t>Fix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ângulo: Cantos Arredondados 13"/>
          <p:cNvSpPr/>
          <p:nvPr/>
        </p:nvSpPr>
        <p:spPr>
          <a:xfrm>
            <a:off x="4496820" y="987339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Master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tângulo: Cantos Arredondados 14"/>
          <p:cNvSpPr/>
          <p:nvPr/>
        </p:nvSpPr>
        <p:spPr>
          <a:xfrm>
            <a:off x="6104640" y="959739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Release 1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225480" y="2079552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16" name="Elipse 15"/>
          <p:cNvSpPr/>
          <p:nvPr/>
        </p:nvSpPr>
        <p:spPr>
          <a:xfrm>
            <a:off x="4820820" y="1693200"/>
            <a:ext cx="432000" cy="432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/>
          <p:cNvSpPr/>
          <p:nvPr/>
        </p:nvSpPr>
        <p:spPr>
          <a:xfrm>
            <a:off x="4590635" y="1779593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V1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6464640" y="2079552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de Seta Reta 18"/>
          <p:cNvCxnSpPr>
            <a:cxnSpLocks/>
            <a:stCxn id="16" idx="6"/>
            <a:endCxn id="18" idx="1"/>
          </p:cNvCxnSpPr>
          <p:nvPr/>
        </p:nvCxnSpPr>
        <p:spPr>
          <a:xfrm>
            <a:off x="5252820" y="1909200"/>
            <a:ext cx="1211820" cy="350352"/>
          </a:xfrm>
          <a:prstGeom prst="straightConnector1">
            <a:avLst/>
          </a:prstGeom>
          <a:ln w="9525"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tângulo: Cantos Arredondados 21"/>
          <p:cNvSpPr/>
          <p:nvPr/>
        </p:nvSpPr>
        <p:spPr>
          <a:xfrm>
            <a:off x="5305797" y="2108384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3" name="Elipse 22"/>
          <p:cNvSpPr/>
          <p:nvPr/>
        </p:nvSpPr>
        <p:spPr>
          <a:xfrm>
            <a:off x="6464640" y="2825160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4" name="Elipse 23"/>
          <p:cNvSpPr/>
          <p:nvPr/>
        </p:nvSpPr>
        <p:spPr>
          <a:xfrm>
            <a:off x="6464640" y="357076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6464640" y="4755288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26" name="Elipse 25"/>
          <p:cNvSpPr/>
          <p:nvPr/>
        </p:nvSpPr>
        <p:spPr>
          <a:xfrm>
            <a:off x="6464640" y="5500896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9" name="Retângulo: Cantos Arredondados 28"/>
          <p:cNvSpPr/>
          <p:nvPr/>
        </p:nvSpPr>
        <p:spPr>
          <a:xfrm>
            <a:off x="650495" y="5102405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Start </a:t>
            </a:r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0" name="Retângulo: Cantos Arredondados 29"/>
          <p:cNvSpPr/>
          <p:nvPr/>
        </p:nvSpPr>
        <p:spPr>
          <a:xfrm>
            <a:off x="650495" y="5649056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Commit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1" name="Elipse 30"/>
          <p:cNvSpPr/>
          <p:nvPr/>
        </p:nvSpPr>
        <p:spPr>
          <a:xfrm>
            <a:off x="3225480" y="2825160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Elipse 31"/>
          <p:cNvSpPr/>
          <p:nvPr/>
        </p:nvSpPr>
        <p:spPr>
          <a:xfrm>
            <a:off x="3225480" y="3668181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3" name="Conector de Seta Reta 32"/>
          <p:cNvCxnSpPr>
            <a:cxnSpLocks/>
            <a:stCxn id="16" idx="2"/>
            <a:endCxn id="5" idx="3"/>
          </p:cNvCxnSpPr>
          <p:nvPr/>
        </p:nvCxnSpPr>
        <p:spPr>
          <a:xfrm flipH="1">
            <a:off x="3585480" y="1909200"/>
            <a:ext cx="1235340" cy="350352"/>
          </a:xfrm>
          <a:prstGeom prst="straightConnector1">
            <a:avLst/>
          </a:prstGeom>
          <a:ln w="9525"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etângulo: Cantos Arredondados 36"/>
          <p:cNvSpPr/>
          <p:nvPr/>
        </p:nvSpPr>
        <p:spPr>
          <a:xfrm>
            <a:off x="3668693" y="1745352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38" name="Conector de Seta Reta 37"/>
          <p:cNvCxnSpPr>
            <a:cxnSpLocks/>
            <a:stCxn id="32" idx="6"/>
            <a:endCxn id="39" idx="2"/>
          </p:cNvCxnSpPr>
          <p:nvPr/>
        </p:nvCxnSpPr>
        <p:spPr>
          <a:xfrm>
            <a:off x="3585480" y="3848181"/>
            <a:ext cx="1235340" cy="684195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4820820" y="4316376"/>
            <a:ext cx="432000" cy="432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/>
          <p:cNvSpPr/>
          <p:nvPr/>
        </p:nvSpPr>
        <p:spPr>
          <a:xfrm>
            <a:off x="3504431" y="4168392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Pull</a:t>
            </a:r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Request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3" name="Conector de Seta Reta 42"/>
          <p:cNvCxnSpPr>
            <a:cxnSpLocks/>
            <a:stCxn id="26" idx="2"/>
            <a:endCxn id="44" idx="6"/>
          </p:cNvCxnSpPr>
          <p:nvPr/>
        </p:nvCxnSpPr>
        <p:spPr>
          <a:xfrm flipH="1">
            <a:off x="5252820" y="5680896"/>
            <a:ext cx="1211820" cy="421200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Elipse 43"/>
          <p:cNvSpPr/>
          <p:nvPr/>
        </p:nvSpPr>
        <p:spPr>
          <a:xfrm>
            <a:off x="4820820" y="5886096"/>
            <a:ext cx="432000" cy="432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/>
          <p:cNvSpPr/>
          <p:nvPr/>
        </p:nvSpPr>
        <p:spPr>
          <a:xfrm>
            <a:off x="5295033" y="5490705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Pull</a:t>
            </a:r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Request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39" idx="6"/>
            <a:endCxn id="25" idx="2"/>
          </p:cNvCxnSpPr>
          <p:nvPr/>
        </p:nvCxnSpPr>
        <p:spPr>
          <a:xfrm>
            <a:off x="5252820" y="4532376"/>
            <a:ext cx="1211820" cy="402912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Retângulo: Cantos Arredondados 51"/>
          <p:cNvSpPr/>
          <p:nvPr/>
        </p:nvSpPr>
        <p:spPr>
          <a:xfrm>
            <a:off x="5269816" y="4783805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 Back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Retângulo: Cantos Arredondados 52"/>
          <p:cNvSpPr/>
          <p:nvPr/>
        </p:nvSpPr>
        <p:spPr>
          <a:xfrm>
            <a:off x="4589538" y="4390812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V1.1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4" name="Retângulo: Cantos Arredondados 53"/>
          <p:cNvSpPr/>
          <p:nvPr/>
        </p:nvSpPr>
        <p:spPr>
          <a:xfrm>
            <a:off x="4589859" y="5967168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V2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60" idx="0"/>
            <a:endCxn id="64" idx="4"/>
          </p:cNvCxnSpPr>
          <p:nvPr/>
        </p:nvCxnSpPr>
        <p:spPr>
          <a:xfrm>
            <a:off x="8168640" y="2085648"/>
            <a:ext cx="0" cy="453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Retângulo 59"/>
          <p:cNvSpPr/>
          <p:nvPr/>
        </p:nvSpPr>
        <p:spPr>
          <a:xfrm>
            <a:off x="7988640" y="2085648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7988640" y="287345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7988640" y="366126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7988640" y="4449078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64" name="Elipse 63"/>
          <p:cNvSpPr/>
          <p:nvPr/>
        </p:nvSpPr>
        <p:spPr>
          <a:xfrm>
            <a:off x="7988640" y="523688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5" name="Retângulo: Cantos Arredondados 64"/>
          <p:cNvSpPr/>
          <p:nvPr/>
        </p:nvSpPr>
        <p:spPr>
          <a:xfrm>
            <a:off x="7628640" y="957342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Release 2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Conector de Seta Reta 65"/>
          <p:cNvCxnSpPr>
            <a:cxnSpLocks/>
            <a:endCxn id="63" idx="2"/>
          </p:cNvCxnSpPr>
          <p:nvPr/>
        </p:nvCxnSpPr>
        <p:spPr>
          <a:xfrm>
            <a:off x="5223225" y="4496376"/>
            <a:ext cx="2765415" cy="132702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Retângulo: Cantos Arredondados 69"/>
          <p:cNvSpPr/>
          <p:nvPr/>
        </p:nvSpPr>
        <p:spPr>
          <a:xfrm>
            <a:off x="6916755" y="4665695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 Back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73" name="Conector de Seta Reta 72"/>
          <p:cNvCxnSpPr>
            <a:cxnSpLocks/>
            <a:stCxn id="44" idx="6"/>
            <a:endCxn id="78" idx="2"/>
          </p:cNvCxnSpPr>
          <p:nvPr/>
        </p:nvCxnSpPr>
        <p:spPr>
          <a:xfrm>
            <a:off x="5252820" y="6102096"/>
            <a:ext cx="2731248" cy="102600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984068" y="6024696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81" name="Retângulo: Cantos Arredondados 80"/>
          <p:cNvSpPr/>
          <p:nvPr/>
        </p:nvSpPr>
        <p:spPr>
          <a:xfrm>
            <a:off x="6685787" y="6243079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 Back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4" name="Retângulo 83"/>
          <p:cNvSpPr/>
          <p:nvPr/>
        </p:nvSpPr>
        <p:spPr>
          <a:xfrm>
            <a:off x="248282" y="5061005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85" name="Elipse 84"/>
          <p:cNvSpPr/>
          <p:nvPr/>
        </p:nvSpPr>
        <p:spPr>
          <a:xfrm>
            <a:off x="248282" y="5607656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6" name="Elipse 85"/>
          <p:cNvSpPr/>
          <p:nvPr/>
        </p:nvSpPr>
        <p:spPr>
          <a:xfrm>
            <a:off x="248282" y="6154307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7" name="Retângulo: Cantos Arredondados 86"/>
          <p:cNvSpPr/>
          <p:nvPr/>
        </p:nvSpPr>
        <p:spPr>
          <a:xfrm>
            <a:off x="642579" y="6195707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8" name="Retângulo: Cantos Arredondados 87"/>
          <p:cNvSpPr/>
          <p:nvPr/>
        </p:nvSpPr>
        <p:spPr>
          <a:xfrm>
            <a:off x="148068" y="4926180"/>
            <a:ext cx="1559220" cy="1695468"/>
          </a:xfrm>
          <a:prstGeom prst="roundRect">
            <a:avLst>
              <a:gd name="adj" fmla="val 7971"/>
            </a:avLst>
          </a:prstGeom>
          <a:noFill/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Retângulo: Cantos Arredondados 88"/>
          <p:cNvSpPr/>
          <p:nvPr/>
        </p:nvSpPr>
        <p:spPr>
          <a:xfrm>
            <a:off x="136515" y="4652954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Legenda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4" name="Retângulo: Cantos Arredondados 93"/>
          <p:cNvSpPr/>
          <p:nvPr/>
        </p:nvSpPr>
        <p:spPr>
          <a:xfrm>
            <a:off x="6860640" y="1856124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88241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9284</TotalTime>
  <Words>1317</Words>
  <Application>Microsoft Office PowerPoint</Application>
  <PresentationFormat>Personalizar</PresentationFormat>
  <Paragraphs>321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30" baseType="lpstr">
      <vt:lpstr>Agency FB</vt:lpstr>
      <vt:lpstr>Arial</vt:lpstr>
      <vt:lpstr>Calibri</vt:lpstr>
      <vt:lpstr>Candara</vt:lpstr>
      <vt:lpstr>Georgia</vt:lpstr>
      <vt:lpstr>Gotham Rounded Book</vt:lpstr>
      <vt:lpstr>Segoe UI</vt:lpstr>
      <vt:lpstr>Segoe UI Light</vt:lpstr>
      <vt:lpstr>Segoe UI Semibold</vt:lpstr>
      <vt:lpstr>Times New Roman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161</cp:revision>
  <dcterms:created xsi:type="dcterms:W3CDTF">2014-01-24T21:35:00Z</dcterms:created>
  <dcterms:modified xsi:type="dcterms:W3CDTF">2017-04-05T11:56:11Z</dcterms:modified>
</cp:coreProperties>
</file>