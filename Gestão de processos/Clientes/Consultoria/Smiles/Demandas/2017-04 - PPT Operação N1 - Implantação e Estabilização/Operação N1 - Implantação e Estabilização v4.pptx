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7" r:id="rId2"/>
    <p:sldId id="376" r:id="rId3"/>
    <p:sldId id="402" r:id="rId4"/>
    <p:sldId id="403" r:id="rId5"/>
    <p:sldId id="381" r:id="rId6"/>
    <p:sldId id="382" r:id="rId7"/>
    <p:sldId id="392" r:id="rId8"/>
    <p:sldId id="393" r:id="rId9"/>
    <p:sldId id="394" r:id="rId10"/>
    <p:sldId id="395" r:id="rId11"/>
    <p:sldId id="396" r:id="rId12"/>
    <p:sldId id="397" r:id="rId13"/>
    <p:sldId id="400" r:id="rId14"/>
    <p:sldId id="398" r:id="rId15"/>
    <p:sldId id="399" r:id="rId16"/>
    <p:sldId id="404" r:id="rId17"/>
    <p:sldId id="405" r:id="rId18"/>
    <p:sldId id="406" r:id="rId19"/>
    <p:sldId id="407" r:id="rId20"/>
    <p:sldId id="408" r:id="rId21"/>
    <p:sldId id="409" r:id="rId22"/>
    <p:sldId id="410" r:id="rId23"/>
    <p:sldId id="401" r:id="rId24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F68E1E"/>
    <a:srgbClr val="FFFF99"/>
    <a:srgbClr val="DEDEDE"/>
    <a:srgbClr val="99CCFF"/>
    <a:srgbClr val="8064A2"/>
    <a:srgbClr val="D0462D"/>
    <a:srgbClr val="FFFF66"/>
    <a:srgbClr val="00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051" y="6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 err="1"/>
              <a:t>Atividades</a:t>
            </a:r>
            <a:r>
              <a:rPr lang="en-US" sz="1600" b="1" dirty="0"/>
              <a:t> </a:t>
            </a:r>
            <a:r>
              <a:rPr lang="en-US" sz="1600" b="1" dirty="0" err="1"/>
              <a:t>por</a:t>
            </a:r>
            <a:r>
              <a:rPr lang="en-US" sz="1600" b="1" dirty="0"/>
              <a:t> </a:t>
            </a:r>
          </a:p>
          <a:p>
            <a:pPr>
              <a:defRPr sz="1600" b="1"/>
            </a:pPr>
            <a:r>
              <a:rPr lang="en-US" sz="1600" b="1" dirty="0" err="1"/>
              <a:t>Nível</a:t>
            </a:r>
            <a:r>
              <a:rPr lang="en-US" sz="1600" b="1" dirty="0"/>
              <a:t> de </a:t>
            </a:r>
            <a:r>
              <a:rPr lang="en-US" sz="1600" b="1" dirty="0" err="1"/>
              <a:t>Suporte</a:t>
            </a:r>
            <a:endParaRPr lang="en-US" sz="1600" b="1" dirty="0"/>
          </a:p>
        </c:rich>
      </c:tx>
      <c:layout>
        <c:manualLayout>
          <c:xMode val="edge"/>
          <c:yMode val="edge"/>
          <c:x val="0.28651828671589696"/>
          <c:y val="2.70595246668930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Categorias</c:v>
                </c:pt>
              </c:strCache>
            </c:strRef>
          </c:tx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41-46E9-ACB5-CF00A5F1BAB7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41-46E9-ACB5-CF00A5F1BAB7}"/>
              </c:ext>
            </c:extLst>
          </c:dPt>
          <c:dPt>
            <c:idx val="2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A41-46E9-ACB5-CF00A5F1BAB7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A41-46E9-ACB5-CF00A5F1BAB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A41-46E9-ACB5-CF00A5F1BAB7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A41-46E9-ACB5-CF00A5F1BAB7}"/>
              </c:ext>
            </c:extLst>
          </c:dPt>
          <c:dLbls>
            <c:dLbl>
              <c:idx val="0"/>
              <c:layout>
                <c:manualLayout>
                  <c:x val="-0.11797499842080711"/>
                  <c:y val="2.1777177746353609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049299530836148"/>
                      <c:h val="0.1372446135303529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A41-46E9-ACB5-CF00A5F1BAB7}"/>
                </c:ext>
              </c:extLst>
            </c:dLbl>
            <c:dLbl>
              <c:idx val="1"/>
              <c:layout>
                <c:manualLayout>
                  <c:x val="-0.10081499865050797"/>
                  <c:y val="-1.693780491383058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0540509591190029"/>
                      <c:h val="0.1372446135303529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A41-46E9-ACB5-CF00A5F1BAB7}"/>
                </c:ext>
              </c:extLst>
            </c:dLbl>
            <c:dLbl>
              <c:idx val="2"/>
              <c:layout>
                <c:manualLayout>
                  <c:x val="0.17159999770299217"/>
                  <c:y val="-8.4689024569152921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963509665842784"/>
                      <c:h val="0.1372446135303529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3A41-46E9-ACB5-CF00A5F1BAB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Plan1!$A$2:$A$4</c:f>
              <c:strCache>
                <c:ptCount val="3"/>
                <c:pt idx="0">
                  <c:v>Field Service</c:v>
                </c:pt>
                <c:pt idx="1">
                  <c:v>Suporte N1</c:v>
                </c:pt>
                <c:pt idx="2">
                  <c:v>Suporte N2</c:v>
                </c:pt>
              </c:strCache>
            </c:strRef>
          </c:cat>
          <c:val>
            <c:numRef>
              <c:f>Plan1!$B$2:$B$4</c:f>
              <c:numCache>
                <c:formatCode>General</c:formatCode>
                <c:ptCount val="3"/>
                <c:pt idx="0">
                  <c:v>21</c:v>
                </c:pt>
                <c:pt idx="1">
                  <c:v>58</c:v>
                </c:pt>
                <c:pt idx="2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A41-46E9-ACB5-CF00A5F1BAB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Atividades</a:t>
            </a:r>
            <a:r>
              <a:rPr lang="en-US" dirty="0"/>
              <a:t> N1</a:t>
            </a:r>
          </a:p>
          <a:p>
            <a:pPr>
              <a:defRPr sz="1600" b="1"/>
            </a:pPr>
            <a:r>
              <a:rPr lang="en-US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Frente</a:t>
            </a:r>
            <a:endParaRPr lang="en-US" dirty="0"/>
          </a:p>
        </c:rich>
      </c:tx>
      <c:layout>
        <c:manualLayout>
          <c:xMode val="edge"/>
          <c:yMode val="edge"/>
          <c:x val="0.37492124884449241"/>
          <c:y val="2.23735213956443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22058985200053841"/>
          <c:y val="0.16437725830227248"/>
          <c:w val="0.65115334799294033"/>
          <c:h val="0.66863098809236177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Por frentes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AC-4B5C-840E-9BDC8C2416E2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AC-4B5C-840E-9BDC8C2416E2}"/>
              </c:ext>
            </c:extLst>
          </c:dPt>
          <c:dPt>
            <c:idx val="2"/>
            <c:bubble3D val="0"/>
            <c:spPr>
              <a:solidFill>
                <a:schemeClr val="accent3">
                  <a:tint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AC-4B5C-840E-9BDC8C2416E2}"/>
              </c:ext>
            </c:extLst>
          </c:dPt>
          <c:dPt>
            <c:idx val="3"/>
            <c:bubble3D val="0"/>
            <c:spPr>
              <a:solidFill>
                <a:schemeClr val="accent3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6AC-4B5C-840E-9BDC8C2416E2}"/>
              </c:ext>
            </c:extLst>
          </c:dPt>
          <c:dPt>
            <c:idx val="4"/>
            <c:bubble3D val="0"/>
            <c:spPr>
              <a:solidFill>
                <a:schemeClr val="accent3">
                  <a:tint val="9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6AC-4B5C-840E-9BDC8C2416E2}"/>
              </c:ext>
            </c:extLst>
          </c:dPt>
          <c:dPt>
            <c:idx val="5"/>
            <c:bubble3D val="0"/>
            <c:spPr>
              <a:solidFill>
                <a:schemeClr val="accent3">
                  <a:tint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6AC-4B5C-840E-9BDC8C2416E2}"/>
              </c:ext>
            </c:extLst>
          </c:dPt>
          <c:dPt>
            <c:idx val="6"/>
            <c:bubble3D val="0"/>
            <c:spPr>
              <a:solidFill>
                <a:schemeClr val="accent3">
                  <a:tint val="4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8448-440D-A848-621B2351A0C5}"/>
              </c:ext>
            </c:extLst>
          </c:dPt>
          <c:dLbls>
            <c:dLbl>
              <c:idx val="0"/>
              <c:layout>
                <c:manualLayout>
                  <c:x val="4.0640175748372975E-2"/>
                  <c:y val="-1.0397028549436376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6AC-4B5C-840E-9BDC8C2416E2}"/>
                </c:ext>
              </c:extLst>
            </c:dLbl>
            <c:dLbl>
              <c:idx val="1"/>
              <c:layout>
                <c:manualLayout>
                  <c:x val="-1.3767959025193233E-3"/>
                  <c:y val="-1.0260802135421509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19349199796669914"/>
                      <c:h val="0.1623609275970898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6AC-4B5C-840E-9BDC8C2416E2}"/>
                </c:ext>
              </c:extLst>
            </c:dLbl>
            <c:dLbl>
              <c:idx val="2"/>
              <c:layout>
                <c:manualLayout>
                  <c:x val="3.6054202106771488E-2"/>
                  <c:y val="-1.194021477003209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1603566519620896"/>
                      <c:h val="0.1253881262009120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6AC-4B5C-840E-9BDC8C2416E2}"/>
                </c:ext>
              </c:extLst>
            </c:dLbl>
            <c:dLbl>
              <c:idx val="3"/>
              <c:layout>
                <c:manualLayout>
                  <c:x val="8.217496395952209E-2"/>
                  <c:y val="-2.097345179336832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8011342783253921"/>
                      <c:h val="0.1687929101296246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76AC-4B5C-840E-9BDC8C2416E2}"/>
                </c:ext>
              </c:extLst>
            </c:dLbl>
            <c:dLbl>
              <c:idx val="4"/>
              <c:layout>
                <c:manualLayout>
                  <c:x val="-8.5754833287425888E-3"/>
                  <c:y val="-5.101715789407006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6AC-4B5C-840E-9BDC8C2416E2}"/>
                </c:ext>
              </c:extLst>
            </c:dLbl>
            <c:dLbl>
              <c:idx val="5"/>
              <c:layout>
                <c:manualLayout>
                  <c:x val="-7.187208260906258E-3"/>
                  <c:y val="2.8508282661235305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6AC-4B5C-840E-9BDC8C2416E2}"/>
                </c:ext>
              </c:extLst>
            </c:dLbl>
            <c:dLbl>
              <c:idx val="6"/>
              <c:layout>
                <c:manualLayout>
                  <c:x val="-5.4270377210805382E-3"/>
                  <c:y val="3.7052898001880392E-2"/>
                </c:manualLayout>
              </c:layout>
              <c:tx>
                <c:rich>
                  <a:bodyPr/>
                  <a:lstStyle/>
                  <a:p>
                    <a:fld id="{4BFD8548-DD1E-4E76-9742-129097D7F2FB}" type="CATEGORYNAME">
                      <a:rPr lang="en-US" smtClean="0"/>
                      <a:pPr/>
                      <a:t>[NOME DA CATEGORIA]</a:t>
                    </a:fld>
                    <a:r>
                      <a:rPr lang="en-US" baseline="0" dirty="0"/>
                      <a:t>
</a:t>
                    </a:r>
                    <a:fld id="{563512A5-8CD9-4956-A5D8-DB902AD92A68}" type="VALUE">
                      <a:rPr lang="en-US" baseline="0"/>
                      <a:pPr/>
                      <a:t>[VALOR]</a:t>
                    </a:fld>
                    <a:r>
                      <a:rPr lang="en-US" baseline="0" dirty="0"/>
                      <a:t>
</a:t>
                    </a:r>
                    <a:fld id="{B8A4E537-3AB3-419F-BF98-170F069657A1}" type="PERCENTAGE">
                      <a:rPr lang="en-US" baseline="0"/>
                      <a:pPr/>
                      <a:t>[PORCENTAGEM]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3629468208084919"/>
                      <c:h val="0.1253881262009120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8448-440D-A848-621B2351A0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Plan1!$A$2:$A$8</c:f>
              <c:strCache>
                <c:ptCount val="7"/>
                <c:pt idx="0">
                  <c:v>EDI</c:v>
                </c:pt>
                <c:pt idx="1">
                  <c:v>SI</c:v>
                </c:pt>
                <c:pt idx="2">
                  <c:v>Infraestrutura</c:v>
                </c:pt>
                <c:pt idx="3">
                  <c:v>Microinformática</c:v>
                </c:pt>
                <c:pt idx="4">
                  <c:v>Siebel</c:v>
                </c:pt>
                <c:pt idx="5">
                  <c:v>Site</c:v>
                </c:pt>
                <c:pt idx="6">
                  <c:v>Promoção</c:v>
                </c:pt>
              </c:strCache>
            </c:strRef>
          </c:cat>
          <c:val>
            <c:numRef>
              <c:f>Plan1!$B$2:$B$8</c:f>
              <c:numCache>
                <c:formatCode>General</c:formatCode>
                <c:ptCount val="7"/>
                <c:pt idx="0">
                  <c:v>11</c:v>
                </c:pt>
                <c:pt idx="1">
                  <c:v>8</c:v>
                </c:pt>
                <c:pt idx="2">
                  <c:v>12</c:v>
                </c:pt>
                <c:pt idx="3">
                  <c:v>5</c:v>
                </c:pt>
                <c:pt idx="4">
                  <c:v>9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6AC-4B5C-840E-9BDC8C2416E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BR" dirty="0"/>
              <a:t>Esforço - FTE</a:t>
            </a:r>
          </a:p>
        </c:rich>
      </c:tx>
      <c:layout>
        <c:manualLayout>
          <c:xMode val="edge"/>
          <c:yMode val="edge"/>
          <c:x val="0.37492124884449241"/>
          <c:y val="2.23735213956443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22058985200053841"/>
          <c:y val="0.16437725830227248"/>
          <c:w val="0.65115334799294033"/>
          <c:h val="0.66863098809236177"/>
        </c:manualLayout>
      </c:layout>
      <c:pie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Esfoço - FTE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AC-4B5C-840E-9BDC8C2416E2}"/>
              </c:ext>
            </c:extLst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AC-4B5C-840E-9BDC8C2416E2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6AC-4B5C-840E-9BDC8C2416E2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6AC-4B5C-840E-9BDC8C2416E2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6AC-4B5C-840E-9BDC8C2416E2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6AC-4B5C-840E-9BDC8C2416E2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C-8448-440D-A848-621B2351A0C5}"/>
              </c:ext>
            </c:extLst>
          </c:dPt>
          <c:dLbls>
            <c:dLbl>
              <c:idx val="0"/>
              <c:layout>
                <c:manualLayout>
                  <c:x val="-0.15251228452604398"/>
                  <c:y val="0.1332528676612782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97922343346532"/>
                      <c:h val="0.1756692003509497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6AC-4B5C-840E-9BDC8C2416E2}"/>
                </c:ext>
              </c:extLst>
            </c:dLbl>
            <c:dLbl>
              <c:idx val="1"/>
              <c:layout>
                <c:manualLayout>
                  <c:x val="0.17945499293774683"/>
                  <c:y val="-0.1534663906573448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7521335593428795"/>
                      <c:h val="0.1490526548432300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6AC-4B5C-840E-9BDC8C2416E2}"/>
                </c:ext>
              </c:extLst>
            </c:dLbl>
            <c:dLbl>
              <c:idx val="2"/>
              <c:layout>
                <c:manualLayout>
                  <c:x val="3.6054202106771488E-2"/>
                  <c:y val="-1.194021477003209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1603566519620896"/>
                      <c:h val="0.1253881262009120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6AC-4B5C-840E-9BDC8C2416E2}"/>
                </c:ext>
              </c:extLst>
            </c:dLbl>
            <c:dLbl>
              <c:idx val="3"/>
              <c:layout>
                <c:manualLayout>
                  <c:x val="8.217496395952209E-2"/>
                  <c:y val="-2.097345179336832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8011342783253921"/>
                      <c:h val="0.1687929101296246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76AC-4B5C-840E-9BDC8C2416E2}"/>
                </c:ext>
              </c:extLst>
            </c:dLbl>
            <c:dLbl>
              <c:idx val="4"/>
              <c:layout>
                <c:manualLayout>
                  <c:x val="-8.5754833287425888E-3"/>
                  <c:y val="-5.1017157894070068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6AC-4B5C-840E-9BDC8C2416E2}"/>
                </c:ext>
              </c:extLst>
            </c:dLbl>
            <c:dLbl>
              <c:idx val="5"/>
              <c:layout>
                <c:manualLayout>
                  <c:x val="-7.1872705047976975E-3"/>
                  <c:y val="6.7223318664831527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6AC-4B5C-840E-9BDC8C2416E2}"/>
                </c:ext>
              </c:extLst>
            </c:dLbl>
            <c:dLbl>
              <c:idx val="6"/>
              <c:layout>
                <c:manualLayout>
                  <c:x val="-3.450690365930037E-2"/>
                  <c:y val="3.7052898001880392E-2"/>
                </c:manualLayout>
              </c:layout>
              <c:tx>
                <c:rich>
                  <a:bodyPr/>
                  <a:lstStyle/>
                  <a:p>
                    <a:fld id="{4BFD8548-DD1E-4E76-9742-129097D7F2FB}" type="CATEGORYNAME">
                      <a:rPr lang="en-US" smtClean="0"/>
                      <a:pPr/>
                      <a:t>[NOME DA CATEGORIA]</a:t>
                    </a:fld>
                    <a:r>
                      <a:rPr lang="en-US" baseline="0" dirty="0"/>
                      <a:t>
</a:t>
                    </a:r>
                    <a:fld id="{563512A5-8CD9-4956-A5D8-DB902AD92A68}" type="VALUE">
                      <a:rPr lang="en-US" baseline="0"/>
                      <a:pPr/>
                      <a:t>[VALOR]</a:t>
                    </a:fld>
                    <a:r>
                      <a:rPr lang="en-US" baseline="0" dirty="0"/>
                      <a:t>
</a:t>
                    </a:r>
                    <a:fld id="{B8A4E537-3AB3-419F-BF98-170F069657A1}" type="PERCENTAGE">
                      <a:rPr lang="en-US" baseline="0"/>
                      <a:pPr/>
                      <a:t>[PORCENTAGEM]</a:t>
                    </a:fld>
                    <a:endParaRPr lang="en-US" baseline="0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8448-440D-A848-621B2351A0C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estFit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Plan1!$A$2:$A$3</c:f>
              <c:strCache>
                <c:ptCount val="2"/>
                <c:pt idx="0">
                  <c:v>Suporte N1</c:v>
                </c:pt>
                <c:pt idx="1">
                  <c:v>Suporte N2</c:v>
                </c:pt>
              </c:strCache>
            </c:strRef>
          </c:cat>
          <c:val>
            <c:numRef>
              <c:f>Plan1!$B$2:$B$3</c:f>
              <c:numCache>
                <c:formatCode>General</c:formatCode>
                <c:ptCount val="2"/>
                <c:pt idx="0">
                  <c:v>521</c:v>
                </c:pt>
                <c:pt idx="1">
                  <c:v>1371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6AC-4B5C-840E-9BDC8C2416E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05/04/2017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tulio.oliveira@smiles.com.br" TargetMode="External"/><Relationship Id="rId7" Type="http://schemas.openxmlformats.org/officeDocument/2006/relationships/hyperlink" Target="mailto:gr-ti-operacoes@smiles.com.br" TargetMode="Externa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gr-infraestrutura@smiles.com.br" TargetMode="External"/><Relationship Id="rId5" Type="http://schemas.openxmlformats.org/officeDocument/2006/relationships/hyperlink" Target="mailto:nei.henckes@smiles.com.br" TargetMode="External"/><Relationship Id="rId4" Type="http://schemas.openxmlformats.org/officeDocument/2006/relationships/hyperlink" Target="mailto:adriano.barbosa@smiles.com.br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941316"/>
            <a:ext cx="568862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Operação N1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Implantação e Estabilização</a:t>
            </a:r>
          </a:p>
          <a:p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4 – 05-04-2017</a:t>
            </a:r>
          </a:p>
        </p:txBody>
      </p:sp>
      <p:pic>
        <p:nvPicPr>
          <p:cNvPr id="2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044" y="4371194"/>
            <a:ext cx="2486806" cy="248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Operação N1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4494807" y="1090913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Implantação N1 – Ações Realizadas</a:t>
            </a:r>
            <a:endParaRPr lang="pt-B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4" name="Retângulo de cantos arredondados 6"/>
          <p:cNvSpPr/>
          <p:nvPr/>
        </p:nvSpPr>
        <p:spPr>
          <a:xfrm>
            <a:off x="4494807" y="2972369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Macro Processo N1/N2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4494807" y="3913097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Indicadores e Métricas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4494807" y="4853825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Estabilização – 60 dias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4494807" y="2031641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Go-Live – Ações na Semana 1</a:t>
            </a:r>
          </a:p>
        </p:txBody>
      </p:sp>
      <p:pic>
        <p:nvPicPr>
          <p:cNvPr id="2050" name="Picture 2" descr="https://t3.ftcdn.net/jpg/01/36/54/24/240_F_136542440_JOPFSUpwIY7fyE14ri7Dv2ab5dEupVw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504" y="1090913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sp>
        <p:nvSpPr>
          <p:cNvPr id="13" name="Retângulo de cantos arredondados 6"/>
          <p:cNvSpPr/>
          <p:nvPr/>
        </p:nvSpPr>
        <p:spPr>
          <a:xfrm>
            <a:off x="4494807" y="5794554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Escalation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</a:t>
            </a:r>
            <a:r>
              <a:rPr lang="pt-BR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List</a:t>
            </a:r>
            <a:endParaRPr lang="pt-BR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186490" y="977176"/>
            <a:ext cx="9513564" cy="5372109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12" name="Gráfico 11"/>
          <p:cNvGraphicFramePr/>
          <p:nvPr>
            <p:extLst/>
          </p:nvPr>
        </p:nvGraphicFramePr>
        <p:xfrm>
          <a:off x="186490" y="1100671"/>
          <a:ext cx="2960373" cy="524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3" name="Conector reto 12"/>
          <p:cNvCxnSpPr/>
          <p:nvPr/>
        </p:nvCxnSpPr>
        <p:spPr>
          <a:xfrm flipV="1">
            <a:off x="2425139" y="2798122"/>
            <a:ext cx="2633430" cy="389538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2306752" y="4812324"/>
            <a:ext cx="2751817" cy="108592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aphicFrame>
        <p:nvGraphicFramePr>
          <p:cNvPr id="15" name="Gráfico 14"/>
          <p:cNvGraphicFramePr/>
          <p:nvPr>
            <p:extLst/>
          </p:nvPr>
        </p:nvGraphicFramePr>
        <p:xfrm>
          <a:off x="3366360" y="1173458"/>
          <a:ext cx="3057098" cy="524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7" name="Conector reto 16"/>
          <p:cNvCxnSpPr/>
          <p:nvPr/>
        </p:nvCxnSpPr>
        <p:spPr>
          <a:xfrm flipH="1">
            <a:off x="6496335" y="977176"/>
            <a:ext cx="20310" cy="537917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Gráfico 18"/>
          <p:cNvGraphicFramePr/>
          <p:nvPr>
            <p:extLst/>
          </p:nvPr>
        </p:nvGraphicFramePr>
        <p:xfrm>
          <a:off x="6502182" y="1238923"/>
          <a:ext cx="3057098" cy="5248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8"/>
          <p:cNvSpPr txBox="1"/>
          <p:nvPr/>
        </p:nvSpPr>
        <p:spPr>
          <a:xfrm>
            <a:off x="6599676" y="5307285"/>
            <a:ext cx="31834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cs typeface="Gotham Rounded Book"/>
              </a:rPr>
              <a:t>9 Analistas, 1 Estagiário e 2 Especialistas </a:t>
            </a:r>
          </a:p>
          <a:p>
            <a:pPr algn="ctr"/>
            <a:r>
              <a:rPr lang="pt-BR" sz="1100" dirty="0"/>
              <a:t>1.892 horas / mês</a:t>
            </a:r>
            <a:endParaRPr lang="pt-BR" sz="1100" dirty="0">
              <a:cs typeface="Gotham Rounded Book"/>
            </a:endParaRPr>
          </a:p>
        </p:txBody>
      </p:sp>
      <p:sp>
        <p:nvSpPr>
          <p:cNvPr id="21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Resultados Quantitativos</a:t>
            </a:r>
          </a:p>
        </p:txBody>
      </p:sp>
      <p:sp>
        <p:nvSpPr>
          <p:cNvPr id="22" name="TextBox 8"/>
          <p:cNvSpPr txBox="1"/>
          <p:nvPr/>
        </p:nvSpPr>
        <p:spPr>
          <a:xfrm>
            <a:off x="785149" y="5276507"/>
            <a:ext cx="1819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cs typeface="Gotham Rounded Book"/>
              </a:rPr>
              <a:t>Total de Atividades: </a:t>
            </a:r>
          </a:p>
          <a:p>
            <a:pPr algn="ctr"/>
            <a:r>
              <a:rPr lang="pt-BR" sz="1200" dirty="0">
                <a:cs typeface="Gotham Rounded Book"/>
              </a:rPr>
              <a:t>195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8836799" y="2567290"/>
            <a:ext cx="748481" cy="46166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cs typeface="Gotham Rounded Book"/>
              </a:rPr>
              <a:t>Aprox. </a:t>
            </a:r>
          </a:p>
          <a:p>
            <a:pPr algn="ctr"/>
            <a:r>
              <a:rPr lang="pt-BR" sz="1200" dirty="0">
                <a:cs typeface="Gotham Rounded Book"/>
              </a:rPr>
              <a:t>3 FTE</a:t>
            </a:r>
          </a:p>
        </p:txBody>
      </p:sp>
    </p:spTree>
    <p:extLst>
      <p:ext uri="{BB962C8B-B14F-4D97-AF65-F5344CB8AC3E}">
        <p14:creationId xmlns:p14="http://schemas.microsoft.com/office/powerpoint/2010/main" val="279713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TextBox 8"/>
          <p:cNvSpPr txBox="1"/>
          <p:nvPr/>
        </p:nvSpPr>
        <p:spPr>
          <a:xfrm>
            <a:off x="1668297" y="92680"/>
            <a:ext cx="678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Resultados Quantitativos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875507"/>
              </p:ext>
            </p:extLst>
          </p:nvPr>
        </p:nvGraphicFramePr>
        <p:xfrm>
          <a:off x="301786" y="1130560"/>
          <a:ext cx="9513567" cy="561878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1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5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9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9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90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421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Frente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Estagiário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Analista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Especialista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FTE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Horas por Estagiário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Analista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Especialista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Total de </a:t>
                      </a:r>
                    </a:p>
                    <a:p>
                      <a:pPr algn="ctr"/>
                      <a:r>
                        <a:rPr lang="pt-BR" sz="1400" dirty="0"/>
                        <a:t>Horas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Horas para N1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% para N1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60">
                <a:tc rowSpan="2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EDI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Raul Souza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211,20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200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95%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881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/>
                        <a:t>Bruno </a:t>
                      </a:r>
                      <a:r>
                        <a:rPr lang="pt-BR" sz="1400" dirty="0" err="1"/>
                        <a:t>Serpeloni</a:t>
                      </a:r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35,20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60">
                <a:tc rowSpan="2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Siebel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 err="1"/>
                        <a:t>Luis</a:t>
                      </a:r>
                      <a:r>
                        <a:rPr lang="pt-BR" sz="1400" dirty="0"/>
                        <a:t> Savioli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316,80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26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8%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81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Bruno </a:t>
                      </a:r>
                      <a:r>
                        <a:rPr lang="pt-BR" sz="1400" dirty="0" err="1"/>
                        <a:t>Serpeloni</a:t>
                      </a:r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140,80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881">
                <a:tc rowSpan="3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Site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Jonathas Souza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418</a:t>
                      </a:r>
                      <a:r>
                        <a:rPr lang="pt-BR" sz="1400" b="1" baseline="0" dirty="0"/>
                        <a:t> </a:t>
                      </a:r>
                      <a:r>
                        <a:rPr lang="pt-BR" sz="1400" b="1" dirty="0"/>
                        <a:t>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73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17%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Adolfo Nunes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Raul Ferreira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0,5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66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Infraestrutura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Marcelo Caio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159,30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91%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66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Microinformática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José Adailson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5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3%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660">
                <a:tc rowSpan="3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Gestão de Acesso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Claudio Cunha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0,5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88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246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35 /</a:t>
                      </a:r>
                      <a:r>
                        <a:rPr lang="pt-BR" sz="1400" b="1" baseline="0" dirty="0"/>
                        <a:t> horas</a:t>
                      </a:r>
                      <a:endParaRPr lang="pt-BR" sz="1400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14%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Daniel Borges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88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b="1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Raul Ferreira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0,5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66 / horas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7660">
                <a:tc rowSpan="2">
                  <a:txBody>
                    <a:bodyPr/>
                    <a:lstStyle/>
                    <a:p>
                      <a:pPr algn="l"/>
                      <a:r>
                        <a:rPr lang="pt-BR" sz="1400" b="1" dirty="0"/>
                        <a:t>Promoção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André Morais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i="0" dirty="0"/>
                        <a:t>352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i="0" dirty="0"/>
                        <a:t>22,30</a:t>
                      </a:r>
                      <a:r>
                        <a:rPr lang="pt-BR" sz="1400" b="1" i="0" baseline="0" dirty="0"/>
                        <a:t> / horas</a:t>
                      </a:r>
                      <a:endParaRPr lang="pt-BR" sz="1400" b="1" i="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BR" sz="1400" b="1" i="0" dirty="0"/>
                        <a:t>6%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7660"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Caio </a:t>
                      </a:r>
                      <a:r>
                        <a:rPr lang="pt-BR" sz="1400" dirty="0" err="1"/>
                        <a:t>Francolin</a:t>
                      </a:r>
                      <a:endParaRPr lang="pt-BR" sz="1400" dirty="0"/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176 / horas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0" name="TextBox 8">
            <a:hlinkClick r:id="rId3" action="ppaction://hlinksldjump"/>
          </p:cNvPr>
          <p:cNvSpPr txBox="1"/>
          <p:nvPr/>
        </p:nvSpPr>
        <p:spPr>
          <a:xfrm>
            <a:off x="8670359" y="745879"/>
            <a:ext cx="111810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cs typeface="Gotham Rounded Book"/>
              </a:rPr>
              <a:t>Detalhamento</a:t>
            </a:r>
          </a:p>
        </p:txBody>
      </p:sp>
    </p:spTree>
    <p:extLst>
      <p:ext uri="{BB962C8B-B14F-4D97-AF65-F5344CB8AC3E}">
        <p14:creationId xmlns:p14="http://schemas.microsoft.com/office/powerpoint/2010/main" val="361757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15" y="799986"/>
            <a:ext cx="2486806" cy="248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Implantação N1 – Ações Realizadas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Revisões/Atualizações dos Procedimentos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Workshop sobre JIRA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Dashboard no JIRA (acompanhamento)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Revisões/Ajustes nas Monitorações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Visita à Cluster2Go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Concessão de Chaves e Acessos AWS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Concessão de Acessos a Ferramentas e Sistemas (JIRA, Siebel, outros)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Presença da Cluster2Go On-site (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shadow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3" name="AutoShape 2" descr="https://agsft.com/wp-content/uploads/2016/09/Application-Help-Desk-Support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https://agsft.com/wp-content/uploads/2016/09/Application-Help-Desk-Support.png"/>
          <p:cNvSpPr>
            <a:spLocks noChangeAspect="1" noChangeArrowheads="1"/>
          </p:cNvSpPr>
          <p:nvPr/>
        </p:nvSpPr>
        <p:spPr bwMode="auto">
          <a:xfrm>
            <a:off x="5057775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://www.arcitsolutions.co.uk/wp-content/uploads/2014/10/24-hour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1" y="2482744"/>
            <a:ext cx="322897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GO Live – Ações na Semana 1</a:t>
            </a:r>
          </a:p>
        </p:txBody>
      </p:sp>
      <p:pic>
        <p:nvPicPr>
          <p:cNvPr id="2050" name="Picture 2" descr="https://marketing.enterprisestudy.com/wp-content/uploads/2016/05/go-liv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890" y="592445"/>
            <a:ext cx="5771248" cy="361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318052" y="2690191"/>
            <a:ext cx="7805531" cy="3747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Report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Diário do Serviço via Dashboard no JIRA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Daily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Call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(participação no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Quality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Check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)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Luis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Savioli e Raul Souza on-site na Cluster2Go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Divulgação do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Escalation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List</a:t>
            </a:r>
            <a:endParaRPr lang="pt-B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Reunião Executiva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18052" y="2798235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Segoe UI" panose="020B0502040204020203" pitchFamily="34" charset="0"/>
              </a:rPr>
              <a:t>06 de Abril</a:t>
            </a:r>
            <a:endParaRPr lang="pt-BR" sz="105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323583" y="2798234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Segoe UI" panose="020B0502040204020203" pitchFamily="34" charset="0"/>
              </a:rPr>
              <a:t>14 de Abril</a:t>
            </a:r>
            <a:endParaRPr lang="pt-BR" sz="105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Conector de Seta Reta 13"/>
          <p:cNvCxnSpPr>
            <a:cxnSpLocks/>
            <a:stCxn id="12" idx="3"/>
            <a:endCxn id="13" idx="1"/>
          </p:cNvCxnSpPr>
          <p:nvPr/>
        </p:nvCxnSpPr>
        <p:spPr>
          <a:xfrm flipV="1">
            <a:off x="2118052" y="3059844"/>
            <a:ext cx="4205531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/>
              <a:t>N2 – Smiles</a:t>
            </a:r>
            <a:endParaRPr lang="pt-BR" sz="900" b="1" dirty="0"/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/>
              <a:t>N1 – Cluster2Go</a:t>
            </a:r>
            <a:endParaRPr lang="pt-BR" sz="900" b="1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N1 – N2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Macro Processo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Agrupar 89"/>
          <p:cNvGrpSpPr/>
          <p:nvPr/>
        </p:nvGrpSpPr>
        <p:grpSpPr>
          <a:xfrm>
            <a:off x="1136987" y="5331300"/>
            <a:ext cx="2448000" cy="419500"/>
            <a:chOff x="1136987" y="5331300"/>
            <a:chExt cx="2448000" cy="419500"/>
          </a:xfrm>
        </p:grpSpPr>
        <p:sp>
          <p:nvSpPr>
            <p:cNvPr id="44" name="Retângulo 43"/>
            <p:cNvSpPr/>
            <p:nvPr/>
          </p:nvSpPr>
          <p:spPr>
            <a:xfrm>
              <a:off x="1225558" y="5489190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N1 (24x7)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Chave Esquerda 50"/>
            <p:cNvSpPr/>
            <p:nvPr/>
          </p:nvSpPr>
          <p:spPr>
            <a:xfrm rot="16200000">
              <a:off x="2273254" y="4195033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9" name="Agrupar 88"/>
          <p:cNvGrpSpPr/>
          <p:nvPr/>
        </p:nvGrpSpPr>
        <p:grpSpPr>
          <a:xfrm>
            <a:off x="2986018" y="5849794"/>
            <a:ext cx="2448000" cy="424752"/>
            <a:chOff x="2986018" y="5986274"/>
            <a:chExt cx="2448000" cy="424752"/>
          </a:xfrm>
        </p:grpSpPr>
        <p:sp>
          <p:nvSpPr>
            <p:cNvPr id="87" name="Chave Esquerda 86"/>
            <p:cNvSpPr/>
            <p:nvPr/>
          </p:nvSpPr>
          <p:spPr>
            <a:xfrm rot="16200000">
              <a:off x="4122285" y="4850007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tângulo 87"/>
            <p:cNvSpPr/>
            <p:nvPr/>
          </p:nvSpPr>
          <p:spPr>
            <a:xfrm>
              <a:off x="3081553" y="6149416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N2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1" name="Agrupar 90"/>
          <p:cNvGrpSpPr/>
          <p:nvPr/>
        </p:nvGrpSpPr>
        <p:grpSpPr>
          <a:xfrm>
            <a:off x="1136988" y="6368630"/>
            <a:ext cx="7920000" cy="430850"/>
            <a:chOff x="1136988" y="6423222"/>
            <a:chExt cx="5184000" cy="430850"/>
          </a:xfrm>
        </p:grpSpPr>
        <p:sp>
          <p:nvSpPr>
            <p:cNvPr id="52" name="Retângulo 51"/>
            <p:cNvSpPr/>
            <p:nvPr/>
          </p:nvSpPr>
          <p:spPr>
            <a:xfrm>
              <a:off x="1304838" y="6592462"/>
              <a:ext cx="484632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Chave Esquerda 52"/>
            <p:cNvSpPr/>
            <p:nvPr/>
          </p:nvSpPr>
          <p:spPr>
            <a:xfrm rot="16200000">
              <a:off x="3641255" y="3918955"/>
              <a:ext cx="175465" cy="5184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339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Resposta do N1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Agrupar 89"/>
          <p:cNvGrpSpPr/>
          <p:nvPr/>
        </p:nvGrpSpPr>
        <p:grpSpPr>
          <a:xfrm>
            <a:off x="1136987" y="5331300"/>
            <a:ext cx="2448000" cy="419500"/>
            <a:chOff x="1136987" y="5331300"/>
            <a:chExt cx="2448000" cy="419500"/>
          </a:xfrm>
        </p:grpSpPr>
        <p:sp>
          <p:nvSpPr>
            <p:cNvPr id="44" name="Retângulo 43"/>
            <p:cNvSpPr/>
            <p:nvPr/>
          </p:nvSpPr>
          <p:spPr>
            <a:xfrm>
              <a:off x="1225558" y="5489190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N1 (24x7)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Chave Esquerda 50"/>
            <p:cNvSpPr/>
            <p:nvPr/>
          </p:nvSpPr>
          <p:spPr>
            <a:xfrm rot="16200000">
              <a:off x="2273254" y="4195033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55981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Resposta do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grpSp>
        <p:nvGrpSpPr>
          <p:cNvPr id="33" name="Agrupar 32"/>
          <p:cNvGrpSpPr/>
          <p:nvPr/>
        </p:nvGrpSpPr>
        <p:grpSpPr>
          <a:xfrm>
            <a:off x="2986018" y="5849794"/>
            <a:ext cx="2448000" cy="424752"/>
            <a:chOff x="2986018" y="5986274"/>
            <a:chExt cx="2448000" cy="424752"/>
          </a:xfrm>
        </p:grpSpPr>
        <p:sp>
          <p:nvSpPr>
            <p:cNvPr id="34" name="Chave Esquerda 33"/>
            <p:cNvSpPr/>
            <p:nvPr/>
          </p:nvSpPr>
          <p:spPr>
            <a:xfrm rot="16200000">
              <a:off x="4122285" y="4850007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tângulo 34"/>
            <p:cNvSpPr/>
            <p:nvPr/>
          </p:nvSpPr>
          <p:spPr>
            <a:xfrm>
              <a:off x="3081553" y="6149416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N2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36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Resolução do Chamado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grpSp>
        <p:nvGrpSpPr>
          <p:cNvPr id="36" name="Agrupar 35"/>
          <p:cNvGrpSpPr/>
          <p:nvPr/>
        </p:nvGrpSpPr>
        <p:grpSpPr>
          <a:xfrm>
            <a:off x="1136988" y="6368630"/>
            <a:ext cx="7920000" cy="430850"/>
            <a:chOff x="1136988" y="6423222"/>
            <a:chExt cx="5184000" cy="430850"/>
          </a:xfrm>
        </p:grpSpPr>
        <p:sp>
          <p:nvSpPr>
            <p:cNvPr id="37" name="Retângulo 36"/>
            <p:cNvSpPr/>
            <p:nvPr/>
          </p:nvSpPr>
          <p:spPr>
            <a:xfrm>
              <a:off x="1304838" y="6592462"/>
              <a:ext cx="484632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" name="Chave Esquerda 37"/>
            <p:cNvSpPr/>
            <p:nvPr/>
          </p:nvSpPr>
          <p:spPr>
            <a:xfrm rot="16200000">
              <a:off x="3641255" y="3918955"/>
              <a:ext cx="175465" cy="5184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tângulo: Canto Dobrado 2"/>
          <p:cNvSpPr/>
          <p:nvPr/>
        </p:nvSpPr>
        <p:spPr>
          <a:xfrm>
            <a:off x="7352948" y="5434788"/>
            <a:ext cx="2294635" cy="786302"/>
          </a:xfrm>
          <a:prstGeom prst="foldedCorner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000" b="1" dirty="0"/>
              <a:t>Nota</a:t>
            </a:r>
            <a:r>
              <a:rPr lang="pt-BR" sz="1000" dirty="0"/>
              <a:t>:</a:t>
            </a:r>
          </a:p>
          <a:p>
            <a:pPr marL="72000" algn="just"/>
            <a:r>
              <a:rPr lang="pt-BR" sz="1000" dirty="0"/>
              <a:t>Há distinção no contador de chamados para apontar os Resolvidos por N1 e Resolvidos por N2.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96282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Direcionamento para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/>
              <a:t>Não</a:t>
            </a:r>
            <a:endParaRPr lang="pt-BR" sz="1100" dirty="0"/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50285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Direcionamento Incorreto para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/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83047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Estabilização – 60 dias</a:t>
            </a:r>
          </a:p>
        </p:txBody>
      </p:sp>
      <p:grpSp>
        <p:nvGrpSpPr>
          <p:cNvPr id="5" name="Agrupar 4"/>
          <p:cNvGrpSpPr/>
          <p:nvPr/>
        </p:nvGrpSpPr>
        <p:grpSpPr>
          <a:xfrm>
            <a:off x="1" y="974806"/>
            <a:ext cx="10117137" cy="4114032"/>
            <a:chOff x="1" y="1107326"/>
            <a:chExt cx="10117137" cy="4114032"/>
          </a:xfrm>
        </p:grpSpPr>
        <p:grpSp>
          <p:nvGrpSpPr>
            <p:cNvPr id="4" name="Agrupar 3"/>
            <p:cNvGrpSpPr/>
            <p:nvPr/>
          </p:nvGrpSpPr>
          <p:grpSpPr>
            <a:xfrm>
              <a:off x="1" y="1107326"/>
              <a:ext cx="10117137" cy="4114032"/>
              <a:chOff x="1" y="1120578"/>
              <a:chExt cx="10117137" cy="4114032"/>
            </a:xfrm>
          </p:grpSpPr>
          <p:sp>
            <p:nvSpPr>
              <p:cNvPr id="34" name="Retângulo 33"/>
              <p:cNvSpPr/>
              <p:nvPr/>
            </p:nvSpPr>
            <p:spPr>
              <a:xfrm>
                <a:off x="1" y="1120578"/>
                <a:ext cx="10117137" cy="411403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lvl="0">
                  <a:spcBef>
                    <a:spcPts val="300"/>
                  </a:spcBef>
                  <a:spcAft>
                    <a:spcPts val="300"/>
                  </a:spcAft>
                </a:pPr>
                <a:endParaRPr lang="pt-BR" sz="900" dirty="0"/>
              </a:p>
            </p:txBody>
          </p:sp>
          <p:sp>
            <p:nvSpPr>
              <p:cNvPr id="3" name="Seta: Pentágono 2"/>
              <p:cNvSpPr/>
              <p:nvPr/>
            </p:nvSpPr>
            <p:spPr>
              <a:xfrm>
                <a:off x="90349" y="1221690"/>
                <a:ext cx="5040000" cy="606670"/>
              </a:xfrm>
              <a:prstGeom prst="homePlate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Abril</a:t>
                </a:r>
              </a:p>
            </p:txBody>
          </p:sp>
          <p:sp>
            <p:nvSpPr>
              <p:cNvPr id="16" name="Seta: Divisa 15"/>
              <p:cNvSpPr/>
              <p:nvPr/>
            </p:nvSpPr>
            <p:spPr>
              <a:xfrm>
                <a:off x="5009321" y="1221690"/>
                <a:ext cx="5040000" cy="606670"/>
              </a:xfrm>
              <a:prstGeom prst="chevron">
                <a:avLst/>
              </a:prstGeom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Maio</a:t>
                </a:r>
              </a:p>
            </p:txBody>
          </p:sp>
          <p:cxnSp>
            <p:nvCxnSpPr>
              <p:cNvPr id="36" name="Conector reto 35"/>
              <p:cNvCxnSpPr>
                <a:cxnSpLocks/>
              </p:cNvCxnSpPr>
              <p:nvPr/>
            </p:nvCxnSpPr>
            <p:spPr>
              <a:xfrm>
                <a:off x="1202511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8" name="Conector reto 37"/>
              <p:cNvCxnSpPr>
                <a:cxnSpLocks/>
              </p:cNvCxnSpPr>
              <p:nvPr/>
            </p:nvCxnSpPr>
            <p:spPr>
              <a:xfrm>
                <a:off x="8784918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9" name="Conector reto 38"/>
              <p:cNvCxnSpPr>
                <a:cxnSpLocks/>
              </p:cNvCxnSpPr>
              <p:nvPr/>
            </p:nvCxnSpPr>
            <p:spPr>
              <a:xfrm>
                <a:off x="6257451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0" name="Conector reto 39"/>
              <p:cNvCxnSpPr>
                <a:cxnSpLocks/>
              </p:cNvCxnSpPr>
              <p:nvPr/>
            </p:nvCxnSpPr>
            <p:spPr>
              <a:xfrm>
                <a:off x="7521186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7" name="Conector reto 26"/>
              <p:cNvCxnSpPr>
                <a:cxnSpLocks/>
              </p:cNvCxnSpPr>
              <p:nvPr/>
            </p:nvCxnSpPr>
            <p:spPr>
              <a:xfrm>
                <a:off x="2466246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8" name="Conector reto 27"/>
              <p:cNvCxnSpPr>
                <a:cxnSpLocks/>
              </p:cNvCxnSpPr>
              <p:nvPr/>
            </p:nvCxnSpPr>
            <p:spPr>
              <a:xfrm>
                <a:off x="4993716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/>
              <p:cNvCxnSpPr>
                <a:cxnSpLocks/>
              </p:cNvCxnSpPr>
              <p:nvPr/>
            </p:nvCxnSpPr>
            <p:spPr>
              <a:xfrm>
                <a:off x="3729981" y="1903093"/>
                <a:ext cx="0" cy="3312000"/>
              </a:xfrm>
              <a:prstGeom prst="line">
                <a:avLst/>
              </a:prstGeom>
              <a:ln w="12700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32" name="Retângulo: Cantos Arredondados 31"/>
            <p:cNvSpPr/>
            <p:nvPr/>
          </p:nvSpPr>
          <p:spPr>
            <a:xfrm>
              <a:off x="45406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1</a:t>
              </a:r>
            </a:p>
          </p:txBody>
        </p:sp>
        <p:sp>
          <p:nvSpPr>
            <p:cNvPr id="33" name="Retângulo: Cantos Arredondados 32"/>
            <p:cNvSpPr/>
            <p:nvPr/>
          </p:nvSpPr>
          <p:spPr>
            <a:xfrm>
              <a:off x="1304813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2</a:t>
              </a:r>
            </a:p>
          </p:txBody>
        </p:sp>
        <p:sp>
          <p:nvSpPr>
            <p:cNvPr id="35" name="Retângulo: Cantos Arredondados 34"/>
            <p:cNvSpPr/>
            <p:nvPr/>
          </p:nvSpPr>
          <p:spPr>
            <a:xfrm>
              <a:off x="2564220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3</a:t>
              </a:r>
            </a:p>
          </p:txBody>
        </p:sp>
        <p:sp>
          <p:nvSpPr>
            <p:cNvPr id="37" name="Retângulo: Cantos Arredondados 36"/>
            <p:cNvSpPr/>
            <p:nvPr/>
          </p:nvSpPr>
          <p:spPr>
            <a:xfrm>
              <a:off x="3823627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4</a:t>
              </a:r>
            </a:p>
          </p:txBody>
        </p:sp>
        <p:sp>
          <p:nvSpPr>
            <p:cNvPr id="42" name="Retângulo: Cantos Arredondados 41"/>
            <p:cNvSpPr/>
            <p:nvPr/>
          </p:nvSpPr>
          <p:spPr>
            <a:xfrm>
              <a:off x="5083034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1</a:t>
              </a:r>
            </a:p>
          </p:txBody>
        </p:sp>
        <p:sp>
          <p:nvSpPr>
            <p:cNvPr id="56" name="Retângulo: Cantos Arredondados 55"/>
            <p:cNvSpPr/>
            <p:nvPr/>
          </p:nvSpPr>
          <p:spPr>
            <a:xfrm>
              <a:off x="6342441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2</a:t>
              </a:r>
            </a:p>
          </p:txBody>
        </p:sp>
        <p:sp>
          <p:nvSpPr>
            <p:cNvPr id="57" name="Retângulo: Cantos Arredondados 56"/>
            <p:cNvSpPr/>
            <p:nvPr/>
          </p:nvSpPr>
          <p:spPr>
            <a:xfrm>
              <a:off x="7601848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3</a:t>
              </a:r>
            </a:p>
          </p:txBody>
        </p:sp>
        <p:sp>
          <p:nvSpPr>
            <p:cNvPr id="58" name="Retângulo: Cantos Arredondados 57"/>
            <p:cNvSpPr/>
            <p:nvPr/>
          </p:nvSpPr>
          <p:spPr>
            <a:xfrm>
              <a:off x="8861258" y="1952310"/>
              <a:ext cx="1111700" cy="263669"/>
            </a:xfrm>
            <a:prstGeom prst="round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Semana 4</a:t>
              </a:r>
            </a:p>
          </p:txBody>
        </p:sp>
      </p:grpSp>
      <p:sp>
        <p:nvSpPr>
          <p:cNvPr id="31" name="Seta: Pentágono 30"/>
          <p:cNvSpPr/>
          <p:nvPr/>
        </p:nvSpPr>
        <p:spPr>
          <a:xfrm>
            <a:off x="45406" y="2346947"/>
            <a:ext cx="1111700" cy="558887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Go-Live e Reunião Executiva</a:t>
            </a:r>
          </a:p>
        </p:txBody>
      </p:sp>
      <p:sp>
        <p:nvSpPr>
          <p:cNvPr id="59" name="Seta: Pentágono 58"/>
          <p:cNvSpPr/>
          <p:nvPr/>
        </p:nvSpPr>
        <p:spPr>
          <a:xfrm>
            <a:off x="7631446" y="3366730"/>
            <a:ext cx="1111700" cy="558887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Executiva</a:t>
            </a:r>
          </a:p>
        </p:txBody>
      </p:sp>
      <p:sp>
        <p:nvSpPr>
          <p:cNvPr id="60" name="Seta: Pentágono 59"/>
          <p:cNvSpPr/>
          <p:nvPr/>
        </p:nvSpPr>
        <p:spPr>
          <a:xfrm>
            <a:off x="45406" y="3009696"/>
            <a:ext cx="9980448" cy="253172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Acompanhamento Diário</a:t>
            </a:r>
          </a:p>
        </p:txBody>
      </p:sp>
      <p:sp>
        <p:nvSpPr>
          <p:cNvPr id="61" name="Seta: Pentágono 60"/>
          <p:cNvSpPr/>
          <p:nvPr/>
        </p:nvSpPr>
        <p:spPr>
          <a:xfrm>
            <a:off x="6367711" y="3925617"/>
            <a:ext cx="1111700" cy="558887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Fornecedor Crítico de TI</a:t>
            </a:r>
          </a:p>
        </p:txBody>
      </p:sp>
      <p:sp>
        <p:nvSpPr>
          <p:cNvPr id="62" name="Retângulo 61"/>
          <p:cNvSpPr/>
          <p:nvPr/>
        </p:nvSpPr>
        <p:spPr>
          <a:xfrm>
            <a:off x="1304813" y="5216454"/>
            <a:ext cx="8694649" cy="154215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Acompanhamentos via Dashboard no JIRA</a:t>
            </a:r>
          </a:p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Daily </a:t>
            </a:r>
            <a:r>
              <a:rPr lang="pt-B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Calls</a:t>
            </a:r>
            <a:endParaRPr lang="pt-BR" sz="1200" dirty="0">
              <a:solidFill>
                <a:schemeClr val="tx1">
                  <a:lumMod val="75000"/>
                  <a:lumOff val="2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Atenção Especial nos Feriados (14 e 21 de Abril)</a:t>
            </a:r>
          </a:p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Executiva (após Primeiro Mês)</a:t>
            </a:r>
          </a:p>
          <a:p>
            <a:pPr marL="5040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Reunião de Fornecedores Críticos de TI (após Primeiro Mês)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101546" y="5216454"/>
            <a:ext cx="1080000" cy="15421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Ações no </a:t>
            </a:r>
          </a:p>
          <a:p>
            <a:r>
              <a:rPr lang="pt-BR" sz="1400" dirty="0">
                <a:solidFill>
                  <a:schemeClr val="bg1">
                    <a:lumMod val="8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Período</a:t>
            </a:r>
          </a:p>
        </p:txBody>
      </p:sp>
      <p:sp>
        <p:nvSpPr>
          <p:cNvPr id="65" name="Fluxograma: Processo 64"/>
          <p:cNvSpPr/>
          <p:nvPr/>
        </p:nvSpPr>
        <p:spPr>
          <a:xfrm rot="20714565">
            <a:off x="1783934" y="3548500"/>
            <a:ext cx="4333460" cy="795131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99000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Validar e inserir ações adicionais</a:t>
            </a:r>
          </a:p>
        </p:txBody>
      </p:sp>
    </p:spTree>
    <p:extLst>
      <p:ext uri="{BB962C8B-B14F-4D97-AF65-F5344CB8AC3E}">
        <p14:creationId xmlns:p14="http://schemas.microsoft.com/office/powerpoint/2010/main" val="2743960464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Escalation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 rotWithShape="1">
          <a:blip r:embed="rId3"/>
          <a:srcRect l="36005"/>
          <a:stretch/>
        </p:blipFill>
        <p:spPr>
          <a:xfrm flipH="1">
            <a:off x="238540" y="1931593"/>
            <a:ext cx="2224881" cy="3267075"/>
          </a:xfrm>
          <a:prstGeom prst="rect">
            <a:avLst/>
          </a:prstGeom>
        </p:spPr>
      </p:pic>
      <p:sp>
        <p:nvSpPr>
          <p:cNvPr id="61" name="Retângulo 60"/>
          <p:cNvSpPr/>
          <p:nvPr/>
        </p:nvSpPr>
        <p:spPr>
          <a:xfrm>
            <a:off x="2807920" y="1497482"/>
            <a:ext cx="3327895" cy="37011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Túlio Oliveira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Adriano Barbosa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Nei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Henckes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Luis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Savioli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Plantão Siebel, Site, Infra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6480314" y="1497482"/>
            <a:ext cx="3327895" cy="370118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Diego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Rodolfo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Anderson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Suporte N1</a:t>
            </a:r>
          </a:p>
        </p:txBody>
      </p:sp>
      <p:pic>
        <p:nvPicPr>
          <p:cNvPr id="6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248" y="5656786"/>
            <a:ext cx="2206288" cy="787514"/>
          </a:xfrm>
          <a:prstGeom prst="rect">
            <a:avLst/>
          </a:prstGeom>
        </p:spPr>
      </p:pic>
      <p:pic>
        <p:nvPicPr>
          <p:cNvPr id="65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18" b="32158"/>
          <a:stretch/>
        </p:blipFill>
        <p:spPr bwMode="auto">
          <a:xfrm>
            <a:off x="6900858" y="5550939"/>
            <a:ext cx="2486806" cy="89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45840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Contact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List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113528"/>
              </p:ext>
            </p:extLst>
          </p:nvPr>
        </p:nvGraphicFramePr>
        <p:xfrm>
          <a:off x="225287" y="1028488"/>
          <a:ext cx="9660832" cy="40792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02296">
                  <a:extLst>
                    <a:ext uri="{9D8B030D-6E8A-4147-A177-3AD203B41FA5}">
                      <a16:colId xmlns:a16="http://schemas.microsoft.com/office/drawing/2014/main" val="3558171781"/>
                    </a:ext>
                  </a:extLst>
                </a:gridCol>
                <a:gridCol w="2619512">
                  <a:extLst>
                    <a:ext uri="{9D8B030D-6E8A-4147-A177-3AD203B41FA5}">
                      <a16:colId xmlns:a16="http://schemas.microsoft.com/office/drawing/2014/main" val="2576169665"/>
                    </a:ext>
                  </a:extLst>
                </a:gridCol>
                <a:gridCol w="2619512">
                  <a:extLst>
                    <a:ext uri="{9D8B030D-6E8A-4147-A177-3AD203B41FA5}">
                      <a16:colId xmlns:a16="http://schemas.microsoft.com/office/drawing/2014/main" val="546960074"/>
                    </a:ext>
                  </a:extLst>
                </a:gridCol>
                <a:gridCol w="2619512">
                  <a:extLst>
                    <a:ext uri="{9D8B030D-6E8A-4147-A177-3AD203B41FA5}">
                      <a16:colId xmlns:a16="http://schemas.microsoft.com/office/drawing/2014/main" val="7715551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72000" algn="ctr"/>
                      <a:r>
                        <a:rPr lang="pt-BR" sz="11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sz="11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Função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sz="11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E-mail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sz="1100" b="0" i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Telefone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563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Túlio Oliveira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Diretor de TI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3"/>
                        </a:rPr>
                        <a:t>tulio.oliveira@smiles.com.br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99822-1812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921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Adriano Barbosa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Ger. Arquitetura, Infra e Operações de TI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4"/>
                        </a:rPr>
                        <a:t>adriano.barbosa@smiles.com.br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98696-5557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54056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Nei Henckes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Coordenador Operações de TI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5"/>
                        </a:rPr>
                        <a:t>nei.henckes@smiles.com.br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95497-7879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367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Plantão Infra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6"/>
                        </a:rPr>
                        <a:t>gr-infraestrutura@smiles.com.br 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98136-2537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2349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Plantão Siebel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7"/>
                        </a:rPr>
                        <a:t>gr-ti-operacoes@smiles.com.br 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98685-2453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8587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Plantão Site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sng" strike="noStrike" dirty="0">
                          <a:solidFill>
                            <a:srgbClr val="0563C1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  <a:hlinkClick r:id="rId7"/>
                        </a:rPr>
                        <a:t>gr-ti-operacoes@smiles.com.br </a:t>
                      </a:r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(11) 98146-9275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9453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Diego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5195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Rodolfo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9641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Anderson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9432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72000" algn="l" fontAlgn="b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Suporte N1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fontAlgn="b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sng" strike="noStrike" dirty="0">
                        <a:solidFill>
                          <a:srgbClr val="0563C1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2000" algn="l" rtl="0" fontAlgn="ctr"/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40008327"/>
                  </a:ext>
                </a:extLst>
              </a:tr>
            </a:tbl>
          </a:graphicData>
        </a:graphic>
      </p:graphicFrame>
      <p:sp>
        <p:nvSpPr>
          <p:cNvPr id="5" name="Fluxograma: Processo 4"/>
          <p:cNvSpPr/>
          <p:nvPr/>
        </p:nvSpPr>
        <p:spPr>
          <a:xfrm rot="20714565">
            <a:off x="4492489" y="4988023"/>
            <a:ext cx="4333460" cy="795131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990000"/>
                </a:solidFill>
                <a:highlight>
                  <a:srgbClr val="FFFF00"/>
                </a:highlight>
                <a:latin typeface="Arial Black" panose="020B0A04020102020204" pitchFamily="34" charset="0"/>
              </a:rPr>
              <a:t>Preencher nomes Cluster</a:t>
            </a:r>
          </a:p>
        </p:txBody>
      </p:sp>
    </p:spTree>
    <p:extLst>
      <p:ext uri="{BB962C8B-B14F-4D97-AF65-F5344CB8AC3E}">
        <p14:creationId xmlns:p14="http://schemas.microsoft.com/office/powerpoint/2010/main" val="2616521756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N1 - Procedimentos EDI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/>
          </p:nvPr>
        </p:nvGraphicFramePr>
        <p:xfrm>
          <a:off x="505856" y="1180747"/>
          <a:ext cx="8586852" cy="501823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96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5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50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- Parceiros Críticos.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125-Arquivo EDI - Parceiros Críticos.doc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- Parceiros Críticos.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126-Atraso no Arquivo EDI - Parceiros Críticos.doc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EDI – Outros.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128-Arquivo EDI - Outros.doc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Atraso no Arquivo EDI – Outros.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129-Atraso no Arquivo EDI - Outros.doc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Represar o arquivo EDI de algum parceiro.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134- Represar o arquivo EDI de algum parceiro.doc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93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Arquivo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co-branded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136-Arquivo co-branded.doc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Enviar um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diário para os diretores.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180-Enviar </a:t>
                      </a:r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Status </a:t>
                      </a:r>
                      <a:r>
                        <a:rPr lang="pt-BR" sz="12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Report</a:t>
                      </a:r>
                      <a:r>
                        <a:rPr lang="pt-BR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diário para os Diretores.doc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Liberar o arquivo EDI de algum parceiro.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185- Liberar o arquivo EDI de algum parceiro.doc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88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Enviar arquivo EDI.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186-Enviar arquivo EDI.doc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arquivos de cartões.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189-Disponibilizar arquivos de cartões.doc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300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Monitorar o retro crédito dos clientes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194-Monitoramento Retro Crédito.doc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TextBox 8">
            <a:hlinkClick r:id="rId3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4277157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 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/>
          </p:nvPr>
        </p:nvGraphicFramePr>
        <p:xfrm>
          <a:off x="505856" y="1180747"/>
          <a:ext cx="8897452" cy="406944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9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90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71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31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153-Criar usuário no Jira.doc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Desativar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154-Desativar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Conceder Acesso ao Siebel</a:t>
                      </a:r>
                      <a:r>
                        <a:rPr lang="pt-B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171-Conceder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Revogar Acesso VPN.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173-Revogar Acesso VPN.doc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9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Revogar Acesso ao Siebel</a:t>
                      </a:r>
                      <a:r>
                        <a:rPr lang="pt-B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174-Revogação de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Perfil de Acesso ao Siebel</a:t>
                      </a:r>
                      <a:r>
                        <a:rPr lang="pt-BR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ambiente de teste.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175-Alterar Perfil de Acesso ao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acesso de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188-Alterar acesso de usuário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Jira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do perfil no BI.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206-Alterar perfil de usuário no BI.doc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980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Gestão de Acesso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uma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012-Criar uma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TextBox 8">
            <a:hlinkClick r:id="rId3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70397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903146" y="92680"/>
            <a:ext cx="778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Infraestrutura 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/>
          </p:nvPr>
        </p:nvGraphicFramePr>
        <p:xfrm>
          <a:off x="505856" y="1180747"/>
          <a:ext cx="8897452" cy="4557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8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Aplicação (Bus, Portal 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Microserviços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 via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Rundeck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ambiente de DEV / HOM.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03-Executar Deploy de Aplicação.doc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05-Executar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Scritps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em Banco de Dados.doc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da aplicação.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07-Monitoração de integração.doc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 de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011-Erro de Conexão na VPN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client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site (open VPN).doc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de Certificado.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015-Monitoramento de Certificado.doc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agendamento de start-stop de Ambiente.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017-Alterar agendamento de start-stop de Ambiente.doc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03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Disponibilizar Log.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028-Disponibilizar Log.doc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Sincronizar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Bucket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037-Sincronizar Bucket.doc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Falha de acesso a internet escritório.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046-Falha de acesso a internet escritório.doc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Problemas entre a conexão Smiles de rede (tivit, aws e oracle).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063-Problemas entre a conexão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de rede (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escritório e oracle).doc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Infraestrutura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 novo certificado digital.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193-Criar um novo certificado digital.doc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4" name="TextBox 8">
            <a:hlinkClick r:id="rId3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1678937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903146" y="92680"/>
            <a:ext cx="81895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Microinformática 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/>
          </p:nvPr>
        </p:nvGraphicFramePr>
        <p:xfrm>
          <a:off x="505856" y="1180747"/>
          <a:ext cx="8897452" cy="237667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48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10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Solicitar ramal para o usuário (funcionário ou terceiro)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038-Solicitar ramal para o usuário.doc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um grupo de recebimento de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039-Alterar um grupo de recebimento.doc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Usuário não consegue navegar em um site específico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047-Usuário não consegue navegar em um site específico.doc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Criar um grupo de recebimento de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195-Criar um grupo de recebimento.doc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Microinformática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o display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name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ramal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196-Alterar o display name.doc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8">
            <a:hlinkClick r:id="rId3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832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Promoção 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/>
          </p:nvPr>
        </p:nvGraphicFramePr>
        <p:xfrm>
          <a:off x="505856" y="1180747"/>
          <a:ext cx="8897452" cy="31990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1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072-Cadastrar Novo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vigência de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073-Alterar vigência de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Novo Parceiro (Não Aéreo)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076-Cadastrar Novo Parceiro (Não Aéreo).doc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Manutenção de Parceiro (Não Aéreo)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077-Manutenção de Parceiro (Não Aéreo).doc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Víncular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Novo Parceiro (Não Aéreo) x Novo Produto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104-Víncular Novo Parceiro (Não Aéreo) x Novo Produto.doc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a vigência de Produto para um Parceiro específico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184-Alterar a vigência de Produto para um Parceiro específico.doc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Promoção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Cadastrar mapa de distância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pt-BR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200-Cadastrar mapa de distância.doc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8">
            <a:hlinkClick r:id="rId3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85916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Siebel 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/>
          </p:nvPr>
        </p:nvGraphicFramePr>
        <p:xfrm>
          <a:off x="505856" y="1180747"/>
          <a:ext cx="8897452" cy="39911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32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5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43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5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Double </a:t>
                      </a:r>
                      <a:r>
                        <a:rPr lang="pt-BR" sz="1400" b="1" i="1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check</a:t>
                      </a:r>
                      <a:r>
                        <a:rPr lang="pt-BR" sz="1400" b="1" i="1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na execução do procedimento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Dificuldades na utilização do Portal de Parceiros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082-Dificuldades na utilização do Portal de Parceiros.doc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no Portal de Parceiros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082-Dificuldades na utilização do Portal de Parceiros.doc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Monitoramento da recorrência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088-Monitoramento da recorrência.doc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Clube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102-Erros relacionados ao Club Smiles.doc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Erros relacionados ao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Pay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(MENOS indisponibilidade)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107-Erros relacionados ao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Pay.doc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Indisponibilidade Siebel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108-Indisponibilidade Siebel.doc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Participante cancelou 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efetuar o cancelamento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143-Participante cancelou o clube smiles.doc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Criação de responsabilidade de usuário no Siebel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190-Criação de responsabilidade de usuário.doc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Siebel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Alterar data de voucher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207-Alterar data de voucher.doc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8">
            <a:hlinkClick r:id="rId3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341919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903146" y="92680"/>
            <a:ext cx="6347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Assessment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N1 – Procedimentos Site 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/>
          </p:nvPr>
        </p:nvGraphicFramePr>
        <p:xfrm>
          <a:off x="505856" y="1180747"/>
          <a:ext cx="8897451" cy="180647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4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8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28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FRENTE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Item de Catálogo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Nome Procedimento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Bounce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Princing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095-Bounce do Princing.doc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shopping.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159-Monitoração de Shopping.doc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de promoção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gift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nas redes sociais.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160-Monitoração de promoção no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gift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nas redes sociais.doc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Monitoração do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club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smiles</a:t>
                      </a: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</a:p>
                  </a:txBody>
                  <a:tcPr marL="10800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161-Monitoração do clube smiles.doc</a:t>
                      </a:r>
                    </a:p>
                  </a:txBody>
                  <a:tcPr marL="10800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8">
            <a:hlinkClick r:id="rId3" action="ppaction://hlinksldjump"/>
          </p:cNvPr>
          <p:cNvSpPr txBox="1"/>
          <p:nvPr/>
        </p:nvSpPr>
        <p:spPr>
          <a:xfrm>
            <a:off x="9085941" y="788833"/>
            <a:ext cx="635665" cy="2539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>
                <a:cs typeface="Gotham Rounded Book"/>
              </a:defRPr>
            </a:lvl1pPr>
          </a:lstStyle>
          <a:p>
            <a:pPr algn="ctr"/>
            <a:r>
              <a:rPr lang="pt-BR" sz="1050" dirty="0"/>
              <a:t>Voltar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84296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Estabilização – 60 dias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1" y="1120577"/>
            <a:ext cx="10117137" cy="5102516"/>
            <a:chOff x="1" y="1120577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120577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49" y="1221690"/>
              <a:ext cx="5040000" cy="606670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Abril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5009321" y="1221690"/>
              <a:ext cx="504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Maio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202511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784918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6257451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7521186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Conector reto 26"/>
            <p:cNvCxnSpPr>
              <a:cxnSpLocks/>
            </p:cNvCxnSpPr>
            <p:nvPr/>
          </p:nvCxnSpPr>
          <p:spPr>
            <a:xfrm>
              <a:off x="2466246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Conector reto 27"/>
            <p:cNvCxnSpPr>
              <a:cxnSpLocks/>
            </p:cNvCxnSpPr>
            <p:nvPr/>
          </p:nvCxnSpPr>
          <p:spPr>
            <a:xfrm>
              <a:off x="4993716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9" name="Conector reto 28"/>
            <p:cNvCxnSpPr>
              <a:cxnSpLocks/>
            </p:cNvCxnSpPr>
            <p:nvPr/>
          </p:nvCxnSpPr>
          <p:spPr>
            <a:xfrm>
              <a:off x="3729981" y="1903093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621171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9394</TotalTime>
  <Words>2008</Words>
  <Application>Microsoft Office PowerPoint</Application>
  <PresentationFormat>Personalizar</PresentationFormat>
  <Paragraphs>588</Paragraphs>
  <Slides>23</Slides>
  <Notes>0</Notes>
  <HiddenSlides>8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4" baseType="lpstr">
      <vt:lpstr>Agency FB</vt:lpstr>
      <vt:lpstr>Arial</vt:lpstr>
      <vt:lpstr>Arial Black</vt:lpstr>
      <vt:lpstr>Calibri</vt:lpstr>
      <vt:lpstr>Georgia</vt:lpstr>
      <vt:lpstr>Gotham Rounded Book</vt:lpstr>
      <vt:lpstr>Segoe UI</vt:lpstr>
      <vt:lpstr>Segoe UI Semibold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176</cp:revision>
  <dcterms:created xsi:type="dcterms:W3CDTF">2014-01-24T21:35:00Z</dcterms:created>
  <dcterms:modified xsi:type="dcterms:W3CDTF">2017-04-05T18:24:03Z</dcterms:modified>
</cp:coreProperties>
</file>