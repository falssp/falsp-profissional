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357" r:id="rId3"/>
    <p:sldId id="356" r:id="rId4"/>
    <p:sldId id="358" r:id="rId5"/>
    <p:sldId id="354" r:id="rId6"/>
    <p:sldId id="362" r:id="rId7"/>
    <p:sldId id="363" r:id="rId8"/>
    <p:sldId id="359" r:id="rId9"/>
    <p:sldId id="360" r:id="rId10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FF66"/>
    <a:srgbClr val="00CC00"/>
    <a:srgbClr val="F68E1E"/>
    <a:srgbClr val="FF6600"/>
    <a:srgbClr val="D0462D"/>
    <a:srgbClr val="F57124"/>
    <a:srgbClr val="99CCFF"/>
    <a:srgbClr val="FF99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942" y="66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30/09/2016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9/30/2016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9/30/2016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9/30/2016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9/30/2016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9/30/2016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9/30/2016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9/30/2016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84" y="1256786"/>
            <a:ext cx="5688627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Plano de Ação Q4</a:t>
            </a:r>
          </a:p>
          <a:p>
            <a:endParaRPr lang="pt-BR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Operações de TI</a:t>
            </a:r>
          </a:p>
          <a:p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Nei </a:t>
            </a:r>
            <a:r>
              <a:rPr lang="pt-BR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Henckes</a:t>
            </a:r>
            <a:endParaRPr lang="pt-BR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 – 26-09-2016</a:t>
            </a:r>
          </a:p>
        </p:txBody>
      </p:sp>
      <p:pic>
        <p:nvPicPr>
          <p:cNvPr id="2" name="Picture 2" descr="http://www.dynamicbusiness.com.au/wp-content/uploads/2016/01/iStock_000029542540_Large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438" y="4466208"/>
            <a:ext cx="4996017" cy="2391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Plano de Ação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0961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Contexto e Objetivo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545798" y="2081342"/>
            <a:ext cx="4112341" cy="37761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Após a implantação e consolidação da Central de Serviços de TI, o atingimento dos 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acordados passou a ser exigido com maior rigor, fato que motiva a ampliação das práticas de gestão dos chamados e dos controles relacionados aos mesmos.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Nesse contexto está considerado o foco da área no cumprimento de seus 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 melhoria contínua na prestação de serviços para as áreas de negócios da Smiles.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486164" y="1498436"/>
            <a:ext cx="4231608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Contexto</a:t>
            </a:r>
            <a:endParaRPr lang="pt-BR" sz="1600" i="1" dirty="0"/>
          </a:p>
        </p:txBody>
      </p:sp>
      <p:sp>
        <p:nvSpPr>
          <p:cNvPr id="16" name="Retângulo 15"/>
          <p:cNvSpPr/>
          <p:nvPr/>
        </p:nvSpPr>
        <p:spPr>
          <a:xfrm>
            <a:off x="5488858" y="2705620"/>
            <a:ext cx="4112341" cy="315184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Proposição de Indicadores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acompanhamento mais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focado na redução do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Backlog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e, consequentemente,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melhoria nos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 CSTI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Proposição de um Plano de Ação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eleve o patamar da prestação de serviços da CSTI, o qual resulte no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atingimento das metas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dos indicadores propostos.</a:t>
            </a:r>
          </a:p>
        </p:txBody>
      </p:sp>
      <p:sp>
        <p:nvSpPr>
          <p:cNvPr id="17" name="Retângulo de cantos arredondados 14"/>
          <p:cNvSpPr/>
          <p:nvPr/>
        </p:nvSpPr>
        <p:spPr>
          <a:xfrm>
            <a:off x="5429224" y="2122714"/>
            <a:ext cx="4231608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</a:t>
            </a:r>
            <a:endParaRPr lang="pt-BR" sz="1600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871401" y="3876261"/>
            <a:ext cx="404194" cy="49033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76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Plano de Ação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730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KPIs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– Indicadores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393684"/>
              </p:ext>
            </p:extLst>
          </p:nvPr>
        </p:nvGraphicFramePr>
        <p:xfrm>
          <a:off x="378569" y="1230902"/>
          <a:ext cx="9360000" cy="4860000"/>
        </p:xfrm>
        <a:graphic>
          <a:graphicData uri="http://schemas.openxmlformats.org/drawingml/2006/table">
            <a:tbl>
              <a:tblPr/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180000" algn="l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Indicador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Outubro</a:t>
                      </a:r>
                      <a:r>
                        <a:rPr lang="pt-BR" sz="14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- 2016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Novembro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Dezembro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[BSC]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Quantidade de </a:t>
                      </a:r>
                      <a:r>
                        <a:rPr lang="pt-BR" sz="14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BUG</a:t>
                      </a:r>
                      <a:r>
                        <a:rPr lang="pt-BR" sz="14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em </a:t>
                      </a:r>
                      <a:r>
                        <a:rPr lang="pt-BR" sz="14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endParaRPr lang="pt-BR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30 (superou)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Quantidade de </a:t>
                      </a:r>
                      <a:r>
                        <a:rPr lang="pt-BR" sz="14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BUGs</a:t>
                      </a:r>
                      <a:r>
                        <a:rPr lang="pt-B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“A Fazer” </a:t>
                      </a: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(pendente de análise de causa-raiz)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- 3 bugs/mês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BRUTO CSTI </a:t>
                      </a:r>
                      <a:r>
                        <a:rPr lang="pt-BR" sz="14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(todos os chamados a serem resolvidos)</a:t>
                      </a:r>
                      <a:endParaRPr lang="pt-BR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587986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4498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LÍQUIDO CSTI </a:t>
                      </a:r>
                      <a:r>
                        <a:rPr lang="pt-BR" sz="14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(menos Pendente Desenvolvimento, Promoções e Operação Assistida)</a:t>
                      </a:r>
                      <a:endParaRPr lang="pt-BR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55916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099992"/>
                  </a:ext>
                </a:extLst>
              </a:tr>
            </a:tbl>
          </a:graphicData>
        </a:graphic>
      </p:graphicFrame>
      <p:sp>
        <p:nvSpPr>
          <p:cNvPr id="3" name="Retângulo 2"/>
          <p:cNvSpPr/>
          <p:nvPr/>
        </p:nvSpPr>
        <p:spPr>
          <a:xfrm>
            <a:off x="2433363" y="799612"/>
            <a:ext cx="5250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Painel para Acompanhamento Mensal de Indicadores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Seta: para a Direita 9">
            <a:hlinkClick r:id="rId3" action="ppaction://hlinksldjump"/>
          </p:cNvPr>
          <p:cNvSpPr/>
          <p:nvPr/>
        </p:nvSpPr>
        <p:spPr>
          <a:xfrm>
            <a:off x="8998226" y="6342693"/>
            <a:ext cx="874644" cy="415916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exemplo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383118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KPIs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– Indicadores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510138"/>
              </p:ext>
            </p:extLst>
          </p:nvPr>
        </p:nvGraphicFramePr>
        <p:xfrm>
          <a:off x="378569" y="1230902"/>
          <a:ext cx="9360000" cy="4860000"/>
        </p:xfrm>
        <a:graphic>
          <a:graphicData uri="http://schemas.openxmlformats.org/drawingml/2006/table">
            <a:tbl>
              <a:tblPr/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180000" algn="l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Indicador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Outubro</a:t>
                      </a:r>
                      <a:r>
                        <a:rPr lang="pt-BR" sz="14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- 2016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Novembro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Dezembro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[BSC]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 Tempo de Resolução de BLOCKERS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 CSTI (% YTD)</a:t>
                      </a:r>
                      <a:endParaRPr lang="pt-BR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Calculada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96,76%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96,90%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97,90%</a:t>
                      </a:r>
                      <a:r>
                        <a:rPr lang="pt-BR" sz="14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(superou)</a:t>
                      </a:r>
                      <a:endParaRPr lang="pt-BR" sz="14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 Tempo de Resolução de BLOCKERS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 CSTI (Mensal)</a:t>
                      </a:r>
                      <a:endParaRPr lang="pt-BR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Calculada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95,00%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96,00%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97,00%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865488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42124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 Tempo de Resolução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 CSTI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(% YTD)</a:t>
                      </a:r>
                      <a:endParaRPr lang="pt-BR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Calculada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88,65% YTD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89,41% YTD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90,04% YTD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801506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4815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 Tempo de Resolução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 CSTI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(Mensal)</a:t>
                      </a:r>
                      <a:endParaRPr lang="pt-BR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Calculada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96,00%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97,00%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97,00%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66540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293400"/>
                  </a:ext>
                </a:extLst>
              </a:tr>
            </a:tbl>
          </a:graphicData>
        </a:graphic>
      </p:graphicFrame>
      <p:sp>
        <p:nvSpPr>
          <p:cNvPr id="3" name="Retângulo 2"/>
          <p:cNvSpPr/>
          <p:nvPr/>
        </p:nvSpPr>
        <p:spPr>
          <a:xfrm>
            <a:off x="2433363" y="799612"/>
            <a:ext cx="5250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Painel para Acompanhamento Mensal de Indicadores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014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KPIs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– Indicadores (EXEMPLO)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72649"/>
              </p:ext>
            </p:extLst>
          </p:nvPr>
        </p:nvGraphicFramePr>
        <p:xfrm>
          <a:off x="350158" y="1482693"/>
          <a:ext cx="8090755" cy="4860000"/>
        </p:xfrm>
        <a:graphic>
          <a:graphicData uri="http://schemas.openxmlformats.org/drawingml/2006/table">
            <a:tbl>
              <a:tblPr/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8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180000" algn="l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Indicador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Outubro</a:t>
                      </a:r>
                      <a:r>
                        <a:rPr lang="pt-BR" sz="14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- 2016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Novembro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Dezembro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[BSC]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Quantidade de </a:t>
                      </a:r>
                      <a:r>
                        <a:rPr lang="pt-BR" sz="12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BUG</a:t>
                      </a:r>
                      <a:r>
                        <a:rPr lang="pt-BR" sz="12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pt-BR" sz="1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em </a:t>
                      </a:r>
                      <a:r>
                        <a:rPr lang="pt-BR" sz="12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endParaRPr lang="pt-BR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30 (superou)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Quantidade de </a:t>
                      </a:r>
                      <a:r>
                        <a:rPr lang="pt-BR" sz="12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BUGs</a:t>
                      </a:r>
                      <a:r>
                        <a:rPr lang="pt-BR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“A Fazer” </a:t>
                      </a: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(pendente de análise de causa-raiz)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- 3 bugs/mês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r>
                        <a:rPr lang="pt-BR" sz="1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BRUTO CSTI </a:t>
                      </a:r>
                      <a:r>
                        <a:rPr lang="pt-BR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(todos os chamados a serem resolvidos)</a:t>
                      </a:r>
                      <a:endParaRPr lang="pt-BR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587986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4498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r>
                        <a:rPr lang="pt-BR" sz="1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LÍQUIDO CSTI </a:t>
                      </a:r>
                      <a:r>
                        <a:rPr lang="pt-BR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(menos Pendente Desenvolvimento, Promoções e Operação Assistida)</a:t>
                      </a:r>
                      <a:endParaRPr lang="pt-BR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55916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099992"/>
                  </a:ext>
                </a:extLst>
              </a:tr>
            </a:tbl>
          </a:graphicData>
        </a:graphic>
      </p:graphicFrame>
      <p:sp>
        <p:nvSpPr>
          <p:cNvPr id="3" name="Retângulo 2"/>
          <p:cNvSpPr/>
          <p:nvPr/>
        </p:nvSpPr>
        <p:spPr>
          <a:xfrm>
            <a:off x="1770329" y="997688"/>
            <a:ext cx="5250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Painel para Acompanhamento Mensal de Indicadores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26" name="Picture 2" descr="http://us.123rf.com/450wm/aquir/aquir1504/aquir150401107/39120040-exemplo-da-fita-do-grunge-selo-vermelho-retro-isolado.jpg?ver=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269" y="3127608"/>
            <a:ext cx="1564585" cy="1230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eta: para a Esquerda 3">
            <a:hlinkClick r:id="rId4" action="ppaction://hlinksldjump"/>
          </p:cNvPr>
          <p:cNvSpPr/>
          <p:nvPr/>
        </p:nvSpPr>
        <p:spPr>
          <a:xfrm>
            <a:off x="8998226" y="6342693"/>
            <a:ext cx="874644" cy="415916"/>
          </a:xfrm>
          <a:prstGeom prst="leftArrow">
            <a:avLst>
              <a:gd name="adj1" fmla="val 50000"/>
              <a:gd name="adj2" fmla="val 5955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voltar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529853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Plano de Ação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353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Plano de Ação</a:t>
            </a:r>
          </a:p>
        </p:txBody>
      </p:sp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646389"/>
              </p:ext>
            </p:extLst>
          </p:nvPr>
        </p:nvGraphicFramePr>
        <p:xfrm>
          <a:off x="198569" y="982626"/>
          <a:ext cx="9757779" cy="5688000"/>
        </p:xfrm>
        <a:graphic>
          <a:graphicData uri="http://schemas.openxmlformats.org/drawingml/2006/table">
            <a:tbl>
              <a:tblPr/>
              <a:tblGrid>
                <a:gridCol w="397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Ação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ID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Motivador/Necessidade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O Que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Quem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Quando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Status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Reduzir o </a:t>
                      </a:r>
                      <a:r>
                        <a:rPr lang="pt-BR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Backlog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de chamados.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Implantar método de acompanhamento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diário do </a:t>
                      </a:r>
                      <a:r>
                        <a:rPr lang="pt-BR" sz="13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Backlog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junto aos analistas (GEROT – Gestão da Rotina).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Nei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07/10/16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Em </a:t>
                      </a:r>
                    </a:p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Andamento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Reduzir o </a:t>
                      </a:r>
                      <a:r>
                        <a:rPr lang="pt-BR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Backlog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de chamados.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Promover um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treinamento de reciclagem aos analistas (importância de usar corretamente o JIRA).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Nei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07/10/16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Em </a:t>
                      </a:r>
                    </a:p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Andamento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Reduzir o </a:t>
                      </a:r>
                      <a:r>
                        <a:rPr lang="pt-BR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Backlog</a:t>
                      </a: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de chamados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Documentar e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publicar uma regra de fechamento de chamados “Pendente Usuário” sem retorno há 5 dias úteis.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Nei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07/10/16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Em </a:t>
                      </a:r>
                    </a:p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Andamento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Melhorar os </a:t>
                      </a:r>
                      <a:r>
                        <a:rPr lang="pt-BR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SLAs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da CSTI (aumentar o atingimento mensal).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Analisar todos os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chamados que violaram os </a:t>
                      </a:r>
                      <a:r>
                        <a:rPr lang="pt-BR" sz="13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SLAs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nos últimos meses, um a um, identificando o desvio / ofensor.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Nei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07/10/16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Em </a:t>
                      </a:r>
                    </a:p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Andamento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Reduzir a quantidade de </a:t>
                      </a:r>
                      <a:r>
                        <a:rPr lang="pt-BR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BUGs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“A Fazer” (pendentes de análise de causa-raiz).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Promover sessões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semanais de análise de causa-raiz com a finalidade de diminuir a </a:t>
                      </a:r>
                      <a:r>
                        <a:rPr lang="pt-BR" sz="13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qtd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. de </a:t>
                      </a:r>
                      <a:r>
                        <a:rPr lang="pt-BR" sz="13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BUGs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com análise pendente.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Nei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07/10/16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Em </a:t>
                      </a:r>
                    </a:p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Andamento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939721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Reduzir a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quantidade de </a:t>
                      </a:r>
                      <a:r>
                        <a:rPr lang="pt-BR" sz="13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BUGs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em </a:t>
                      </a:r>
                      <a:r>
                        <a:rPr lang="pt-BR" sz="13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backlog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(geral).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Promover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reunião semanal para revisão rápida de todos os </a:t>
                      </a:r>
                      <a:r>
                        <a:rPr lang="pt-BR" sz="13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BUGs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em </a:t>
                      </a:r>
                      <a:r>
                        <a:rPr lang="pt-BR" sz="13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Backlog</a:t>
                      </a:r>
                      <a:r>
                        <a:rPr lang="pt-BR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junto aos seus responsáveis.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Nei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07/10/16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Em </a:t>
                      </a:r>
                    </a:p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Andamento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943970"/>
                  </a:ext>
                </a:extLst>
              </a:tr>
            </a:tbl>
          </a:graphicData>
        </a:graphic>
      </p:graphicFrame>
      <p:sp>
        <p:nvSpPr>
          <p:cNvPr id="3" name="Retângulo: Canto Dobrado 2"/>
          <p:cNvSpPr/>
          <p:nvPr/>
        </p:nvSpPr>
        <p:spPr>
          <a:xfrm>
            <a:off x="198570" y="214337"/>
            <a:ext cx="2306092" cy="861391"/>
          </a:xfrm>
          <a:prstGeom prst="foldedCorner">
            <a:avLst>
              <a:gd name="adj" fmla="val 15129"/>
            </a:avLst>
          </a:prstGeom>
          <a:solidFill>
            <a:srgbClr val="FFFF99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Obs.: O Plano de ação é “vivo”, novas ações serão incluídas no dia-a-dia conforme necessidade ou por influência dos resultados dos indicadores.</a:t>
            </a:r>
          </a:p>
        </p:txBody>
      </p:sp>
    </p:spTree>
    <p:extLst>
      <p:ext uri="{BB962C8B-B14F-4D97-AF65-F5344CB8AC3E}">
        <p14:creationId xmlns:p14="http://schemas.microsoft.com/office/powerpoint/2010/main" val="2385403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6842</TotalTime>
  <Words>758</Words>
  <Application>Microsoft Office PowerPoint</Application>
  <PresentationFormat>Personalizar</PresentationFormat>
  <Paragraphs>221</Paragraphs>
  <Slides>9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Arial</vt:lpstr>
      <vt:lpstr>Calibri</vt:lpstr>
      <vt:lpstr>Gotham Rounded Book</vt:lpstr>
      <vt:lpstr>Segoe UI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Jorge Filho</dc:creator>
  <cp:lastModifiedBy>Andre Santos</cp:lastModifiedBy>
  <cp:revision>30</cp:revision>
  <dcterms:created xsi:type="dcterms:W3CDTF">2014-01-24T21:35:00Z</dcterms:created>
  <dcterms:modified xsi:type="dcterms:W3CDTF">2016-09-30T19:48:35Z</dcterms:modified>
</cp:coreProperties>
</file>