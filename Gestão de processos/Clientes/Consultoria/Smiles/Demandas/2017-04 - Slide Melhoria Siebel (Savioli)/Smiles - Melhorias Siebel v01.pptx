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81" r:id="rId3"/>
    <p:sldId id="282" r:id="rId4"/>
    <p:sldId id="267" r:id="rId5"/>
  </p:sldIdLst>
  <p:sldSz cx="9144000" cy="5143500" type="screen16x9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88" autoAdjust="0"/>
    <p:restoredTop sz="94280" autoAdjust="0"/>
  </p:normalViewPr>
  <p:slideViewPr>
    <p:cSldViewPr>
      <p:cViewPr>
        <p:scale>
          <a:sx n="108" d="100"/>
          <a:sy n="108" d="100"/>
        </p:scale>
        <p:origin x="1147" y="67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432578-ECD4-4743-8701-DC01EA1C043C}" type="datetimeFigureOut">
              <a:rPr lang="pt-BR" smtClean="0"/>
              <a:t>25/04/2017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D90639-6999-4C89-9048-178018A166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0031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D90639-6999-4C89-9048-178018A166C4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38449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Processo de Gestão de Demandas e Desenvolvimento de Sistemas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AI1 – Identificar Soluções Automatizadas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AI2 - Adquirir e manter aplicações de software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AI3 - Adquirir e manter infraestrutura tecnológica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AI4 - Desenvolver e manter manuais de Sistemas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Processo de Gestão da Segurança de Sistemas (política de senhas, segregação de funções em sistemas, práticas de desenvolvimento seguro)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DS5.5 - Assegurar Segurança de Sistemas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SPO4 - Segregação de Função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Processo de Gestão de Infraestrutura para Segurança da Informação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DS5.8 - Gestão de chaves criptográficas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DS5.10 - Administração de Firewall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DS5.11 - Gestão de Certificados Digitais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DS11 - Gerenciar Copias de Segurança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Processo de Gestão de Instalações Físicas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DS12 - Gerenciar Instalações Físicas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D90639-6999-4C89-9048-178018A166C4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0568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Processo de Gestão de Demandas e Desenvolvimento de Sistemas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AI1 – Identificar Soluções Automatizadas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AI2 - Adquirir e manter aplicações de software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AI3 - Adquirir e manter infraestrutura tecnológica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AI4 - Desenvolver e manter manuais de Sistemas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Processo de Gestão da Segurança de Sistemas (política de senhas, segregação de funções em sistemas, práticas de desenvolvimento seguro)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DS5.5 - Assegurar Segurança de Sistemas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SPO4 - Segregação de Função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Processo de Gestão de Infraestrutura para Segurança da Informação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DS5.8 - Gestão de chaves criptográficas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DS5.10 - Administração de Firewall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DS5.11 - Gestão de Certificados Digitais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DS11 - Gerenciar Copias de Segurança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Processo de Gestão de Instalações Físicas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DS12 - Gerenciar Instalações Físicas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D90639-6999-4C89-9048-178018A166C4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8456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7B8A-66F7-46B2-AE17-BEC38B2EE158}" type="datetimeFigureOut">
              <a:rPr lang="pt-BR" smtClean="0"/>
              <a:t>25/04/2017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69C44-A1C2-4999-B939-351D3449FD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817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7B8A-66F7-46B2-AE17-BEC38B2EE158}" type="datetimeFigureOut">
              <a:rPr lang="pt-BR" smtClean="0"/>
              <a:t>25/04/2017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69C44-A1C2-4999-B939-351D3449FD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6558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7B8A-66F7-46B2-AE17-BEC38B2EE158}" type="datetimeFigureOut">
              <a:rPr lang="pt-BR" smtClean="0"/>
              <a:t>25/04/2017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69C44-A1C2-4999-B939-351D3449FD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3730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7B8A-66F7-46B2-AE17-BEC38B2EE158}" type="datetimeFigureOut">
              <a:rPr lang="pt-BR" smtClean="0"/>
              <a:t>25/04/2017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69C44-A1C2-4999-B939-351D3449FD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4685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7B8A-66F7-46B2-AE17-BEC38B2EE158}" type="datetimeFigureOut">
              <a:rPr lang="pt-BR" smtClean="0"/>
              <a:t>25/04/2017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69C44-A1C2-4999-B939-351D3449FD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2947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7B8A-66F7-46B2-AE17-BEC38B2EE158}" type="datetimeFigureOut">
              <a:rPr lang="pt-BR" smtClean="0"/>
              <a:t>25/04/2017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69C44-A1C2-4999-B939-351D3449FD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7122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7B8A-66F7-46B2-AE17-BEC38B2EE158}" type="datetimeFigureOut">
              <a:rPr lang="pt-BR" smtClean="0"/>
              <a:t>25/04/2017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69C44-A1C2-4999-B939-351D3449FD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1022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7B8A-66F7-46B2-AE17-BEC38B2EE158}" type="datetimeFigureOut">
              <a:rPr lang="pt-BR" smtClean="0"/>
              <a:t>25/04/2017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69C44-A1C2-4999-B939-351D3449FD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1805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7B8A-66F7-46B2-AE17-BEC38B2EE158}" type="datetimeFigureOut">
              <a:rPr lang="pt-BR" smtClean="0"/>
              <a:t>25/04/2017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69C44-A1C2-4999-B939-351D3449FD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8298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7B8A-66F7-46B2-AE17-BEC38B2EE158}" type="datetimeFigureOut">
              <a:rPr lang="pt-BR" smtClean="0"/>
              <a:t>25/04/2017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69C44-A1C2-4999-B939-351D3449FD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0669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7B8A-66F7-46B2-AE17-BEC38B2EE158}" type="datetimeFigureOut">
              <a:rPr lang="pt-BR" smtClean="0"/>
              <a:t>25/04/2017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69C44-A1C2-4999-B939-351D3449FD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1848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307B8A-66F7-46B2-AE17-BEC38B2EE158}" type="datetimeFigureOut">
              <a:rPr lang="pt-BR" smtClean="0"/>
              <a:t>25/04/2017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D69C44-A1C2-4999-B939-351D3449FD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3545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hutterstock_392439580.jpg"/>
          <p:cNvPicPr>
            <a:picLocks noChangeAspect="1"/>
          </p:cNvPicPr>
          <p:nvPr/>
        </p:nvPicPr>
        <p:blipFill>
          <a:blip r:embed="rId3">
            <a:extLst/>
          </a:blip>
          <a:srcRect l="29914" t="32232" r="29308" b="32233"/>
          <a:stretch>
            <a:fillRect/>
          </a:stretch>
        </p:blipFill>
        <p:spPr>
          <a:xfrm rot="127485">
            <a:off x="-616922" y="-188765"/>
            <a:ext cx="10493402" cy="60925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352"/>
                </a:moveTo>
                <a:lnTo>
                  <a:pt x="436" y="21600"/>
                </a:lnTo>
                <a:lnTo>
                  <a:pt x="21600" y="20248"/>
                </a:lnTo>
                <a:lnTo>
                  <a:pt x="21164" y="0"/>
                </a:lnTo>
                <a:lnTo>
                  <a:pt x="0" y="1352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91" t="6110" r="19124" b="1945"/>
          <a:stretch/>
        </p:blipFill>
        <p:spPr>
          <a:xfrm rot="16200000">
            <a:off x="2513814" y="-282078"/>
            <a:ext cx="4116373" cy="4680519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69" t="31011" r="59843" b="28084"/>
          <a:stretch/>
        </p:blipFill>
        <p:spPr>
          <a:xfrm>
            <a:off x="3043175" y="1942232"/>
            <a:ext cx="3057654" cy="1259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850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nodeType="withEffect" p14:presetBounceEnd="75000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1" dur="1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12" dur="1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52"/>
          <p:cNvSpPr txBox="1"/>
          <p:nvPr/>
        </p:nvSpPr>
        <p:spPr>
          <a:xfrm>
            <a:off x="0" y="0"/>
            <a:ext cx="9144000" cy="461255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buClr>
                <a:srgbClr val="595959"/>
              </a:buClr>
              <a:buSzPct val="25000"/>
            </a:pP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unito"/>
                <a:ea typeface="Calibri"/>
                <a:cs typeface="Calibri"/>
                <a:sym typeface="Calibri"/>
              </a:rPr>
              <a:t>Melhorias Siebel – </a:t>
            </a:r>
            <a:r>
              <a:rPr lang="en-US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unito"/>
                <a:ea typeface="Calibri"/>
                <a:cs typeface="Calibri"/>
                <a:sym typeface="Calibri"/>
              </a:rPr>
              <a:t>Fato</a:t>
            </a: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unito"/>
                <a:ea typeface="Calibri"/>
                <a:cs typeface="Calibri"/>
                <a:sym typeface="Calibri"/>
              </a:rPr>
              <a:t>, </a:t>
            </a:r>
            <a:r>
              <a:rPr lang="en-US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unito"/>
                <a:ea typeface="Calibri"/>
                <a:cs typeface="Calibri"/>
                <a:sym typeface="Calibri"/>
              </a:rPr>
              <a:t>Causas</a:t>
            </a: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unito"/>
                <a:ea typeface="Calibri"/>
                <a:cs typeface="Calibri"/>
                <a:sym typeface="Calibri"/>
              </a:rPr>
              <a:t> e </a:t>
            </a:r>
            <a:r>
              <a:rPr lang="en-US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unito"/>
                <a:ea typeface="Calibri"/>
                <a:cs typeface="Calibri"/>
                <a:sym typeface="Calibri"/>
              </a:rPr>
              <a:t>Ações</a:t>
            </a:r>
            <a:endParaRPr 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unito"/>
              <a:ea typeface="Calibri"/>
              <a:cs typeface="Calibri"/>
              <a:sym typeface="Calibri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72000"/>
            <a:ext cx="9144000" cy="571500"/>
          </a:xfrm>
          <a:prstGeom prst="rect">
            <a:avLst/>
          </a:prstGeom>
        </p:spPr>
      </p:pic>
      <p:sp>
        <p:nvSpPr>
          <p:cNvPr id="9" name="Retângulo 8"/>
          <p:cNvSpPr/>
          <p:nvPr/>
        </p:nvSpPr>
        <p:spPr>
          <a:xfrm>
            <a:off x="2555776" y="628662"/>
            <a:ext cx="6480400" cy="540000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180000" lvl="0" indent="-18000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000" b="1" dirty="0">
                <a:latin typeface="Segoe UI" panose="020B0502040204020203" pitchFamily="34" charset="0"/>
                <a:cs typeface="Segoe UI" panose="020B0502040204020203" pitchFamily="34" charset="0"/>
              </a:rPr>
              <a:t>Alto tempo de resposta no EAI</a:t>
            </a:r>
            <a:r>
              <a:rPr lang="pt-BR" sz="1000" dirty="0">
                <a:latin typeface="Segoe UI" panose="020B0502040204020203" pitchFamily="34" charset="0"/>
                <a:cs typeface="Segoe UI" panose="020B0502040204020203" pitchFamily="34" charset="0"/>
              </a:rPr>
              <a:t>, gerando impactos como </a:t>
            </a:r>
            <a:r>
              <a:rPr lang="pt-BR" sz="1000" b="1" dirty="0">
                <a:latin typeface="Segoe UI" panose="020B0502040204020203" pitchFamily="34" charset="0"/>
                <a:cs typeface="Segoe UI" panose="020B0502040204020203" pitchFamily="34" charset="0"/>
              </a:rPr>
              <a:t>lentidão</a:t>
            </a:r>
            <a:r>
              <a:rPr lang="pt-BR" sz="1000" dirty="0">
                <a:latin typeface="Segoe UI" panose="020B0502040204020203" pitchFamily="34" charset="0"/>
                <a:cs typeface="Segoe UI" panose="020B0502040204020203" pitchFamily="34" charset="0"/>
              </a:rPr>
              <a:t> e/ou </a:t>
            </a:r>
            <a:r>
              <a:rPr lang="pt-BR" sz="1000" b="1" dirty="0">
                <a:latin typeface="Segoe UI" panose="020B0502040204020203" pitchFamily="34" charset="0"/>
                <a:cs typeface="Segoe UI" panose="020B0502040204020203" pitchFamily="34" charset="0"/>
              </a:rPr>
              <a:t>indisponibilidade</a:t>
            </a:r>
            <a:r>
              <a:rPr lang="pt-BR" sz="1000" dirty="0">
                <a:latin typeface="Segoe UI" panose="020B0502040204020203" pitchFamily="34" charset="0"/>
                <a:cs typeface="Segoe UI" panose="020B0502040204020203" pitchFamily="34" charset="0"/>
              </a:rPr>
              <a:t> no Site Smiles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2555776" y="1304902"/>
            <a:ext cx="6480400" cy="895281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180000" lvl="0" indent="-18000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000" b="1" dirty="0">
                <a:latin typeface="Segoe UI" panose="020B0502040204020203" pitchFamily="34" charset="0"/>
                <a:cs typeface="Segoe UI" panose="020B0502040204020203" pitchFamily="34" charset="0"/>
              </a:rPr>
              <a:t>Dimensionamento de Infraestrutura do Banco de Dados do Siebel não acompanhou o crescimento da demanda</a:t>
            </a:r>
            <a:r>
              <a:rPr lang="pt-BR" sz="1000" dirty="0">
                <a:latin typeface="Segoe UI" panose="020B0502040204020203" pitchFamily="34" charset="0"/>
                <a:cs typeface="Segoe UI" panose="020B0502040204020203" pitchFamily="34" charset="0"/>
              </a:rPr>
              <a:t>, ocasionando Problema de I/O</a:t>
            </a:r>
          </a:p>
          <a:p>
            <a:pPr marL="180000" lvl="0" indent="-18000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000" b="1" dirty="0">
                <a:latin typeface="Segoe UI" panose="020B0502040204020203" pitchFamily="34" charset="0"/>
                <a:cs typeface="Segoe UI" panose="020B0502040204020203" pitchFamily="34" charset="0"/>
              </a:rPr>
              <a:t>Falta de Manutenção adequada </a:t>
            </a:r>
            <a:r>
              <a:rPr lang="pt-BR" sz="1000" dirty="0">
                <a:latin typeface="Segoe UI" panose="020B0502040204020203" pitchFamily="34" charset="0"/>
                <a:cs typeface="Segoe UI" panose="020B0502040204020203" pitchFamily="34" charset="0"/>
              </a:rPr>
              <a:t>por parte da OMCS (Oracle)</a:t>
            </a:r>
          </a:p>
          <a:p>
            <a:pPr marL="180000" lvl="0" indent="-18000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000" b="1" dirty="0">
                <a:latin typeface="Segoe UI" panose="020B0502040204020203" pitchFamily="34" charset="0"/>
                <a:cs typeface="Segoe UI" panose="020B0502040204020203" pitchFamily="34" charset="0"/>
              </a:rPr>
              <a:t>Configurações inadequadas </a:t>
            </a:r>
            <a:r>
              <a:rPr lang="pt-BR" sz="1000" dirty="0">
                <a:latin typeface="Segoe UI" panose="020B0502040204020203" pitchFamily="34" charset="0"/>
                <a:cs typeface="Segoe UI" panose="020B0502040204020203" pitchFamily="34" charset="0"/>
              </a:rPr>
              <a:t>no Siebel 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2555776" y="2336421"/>
            <a:ext cx="6480400" cy="2159920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180000" lvl="0" indent="-18000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000" b="1" dirty="0">
                <a:latin typeface="Segoe UI" panose="020B0502040204020203" pitchFamily="34" charset="0"/>
                <a:cs typeface="Segoe UI" panose="020B0502040204020203" pitchFamily="34" charset="0"/>
              </a:rPr>
              <a:t>Adequação da coleta de estatísticas </a:t>
            </a:r>
            <a:r>
              <a:rPr lang="pt-BR" sz="1000" dirty="0">
                <a:latin typeface="Segoe UI" panose="020B0502040204020203" pitchFamily="34" charset="0"/>
                <a:cs typeface="Segoe UI" panose="020B0502040204020203" pitchFamily="34" charset="0"/>
              </a:rPr>
              <a:t>de acordo com recomendação da Oracle (Siebel Performance </a:t>
            </a:r>
            <a:r>
              <a:rPr lang="pt-BR" sz="1000" dirty="0" err="1">
                <a:latin typeface="Segoe UI" panose="020B0502040204020203" pitchFamily="34" charset="0"/>
                <a:cs typeface="Segoe UI" panose="020B0502040204020203" pitchFamily="34" charset="0"/>
              </a:rPr>
              <a:t>Tuning</a:t>
            </a:r>
            <a:r>
              <a:rPr lang="pt-BR" sz="1000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pPr marL="180000" lvl="0" indent="-18000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000" b="1" dirty="0">
                <a:latin typeface="Segoe UI" panose="020B0502040204020203" pitchFamily="34" charset="0"/>
                <a:cs typeface="Segoe UI" panose="020B0502040204020203" pitchFamily="34" charset="0"/>
              </a:rPr>
              <a:t>Desabilitadas sessões irrelevantes </a:t>
            </a:r>
            <a:r>
              <a:rPr lang="pt-BR" sz="1000" dirty="0">
                <a:latin typeface="Segoe UI" panose="020B0502040204020203" pitchFamily="34" charset="0"/>
                <a:cs typeface="Segoe UI" panose="020B0502040204020203" pitchFamily="34" charset="0"/>
              </a:rPr>
              <a:t>do </a:t>
            </a:r>
            <a:r>
              <a:rPr lang="pt-BR" sz="1000" dirty="0" err="1">
                <a:latin typeface="Segoe UI" panose="020B0502040204020203" pitchFamily="34" charset="0"/>
                <a:cs typeface="Segoe UI" panose="020B0502040204020203" pitchFamily="34" charset="0"/>
              </a:rPr>
              <a:t>db</a:t>
            </a:r>
            <a:r>
              <a:rPr lang="pt-BR" sz="1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1000" dirty="0" err="1">
                <a:latin typeface="Segoe UI" panose="020B0502040204020203" pitchFamily="34" charset="0"/>
                <a:cs typeface="Segoe UI" panose="020B0502040204020203" pitchFamily="34" charset="0"/>
              </a:rPr>
              <a:t>vault</a:t>
            </a:r>
            <a:r>
              <a:rPr lang="pt-BR" sz="1000" dirty="0">
                <a:latin typeface="Segoe UI" panose="020B0502040204020203" pitchFamily="34" charset="0"/>
                <a:cs typeface="Segoe UI" panose="020B0502040204020203" pitchFamily="34" charset="0"/>
              </a:rPr>
              <a:t> no Siebel</a:t>
            </a:r>
          </a:p>
          <a:p>
            <a:pPr marL="180000" lvl="0" indent="-18000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000" b="1" dirty="0">
                <a:latin typeface="Segoe UI" panose="020B0502040204020203" pitchFamily="34" charset="0"/>
                <a:cs typeface="Segoe UI" panose="020B0502040204020203" pitchFamily="34" charset="0"/>
              </a:rPr>
              <a:t>Revisão do Serviço '</a:t>
            </a:r>
            <a:r>
              <a:rPr lang="pt-BR" sz="1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GetAllTransactions</a:t>
            </a:r>
            <a:r>
              <a:rPr lang="pt-BR" sz="1000" b="1" dirty="0">
                <a:latin typeface="Segoe UI" panose="020B0502040204020203" pitchFamily="34" charset="0"/>
                <a:cs typeface="Segoe UI" panose="020B0502040204020203" pitchFamily="34" charset="0"/>
              </a:rPr>
              <a:t>‘ </a:t>
            </a:r>
            <a:r>
              <a:rPr lang="pt-BR" sz="1000" dirty="0">
                <a:latin typeface="Segoe UI" panose="020B0502040204020203" pitchFamily="34" charset="0"/>
                <a:cs typeface="Segoe UI" panose="020B0502040204020203" pitchFamily="34" charset="0"/>
              </a:rPr>
              <a:t>para melhoria de performance</a:t>
            </a:r>
          </a:p>
          <a:p>
            <a:pPr marL="180000" lvl="0" indent="-18000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000" b="1" dirty="0">
                <a:latin typeface="Segoe UI" panose="020B0502040204020203" pitchFamily="34" charset="0"/>
                <a:cs typeface="Segoe UI" panose="020B0502040204020203" pitchFamily="34" charset="0"/>
              </a:rPr>
              <a:t>Ajuste do processo de “</a:t>
            </a:r>
            <a:r>
              <a:rPr lang="pt-BR" sz="1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Report</a:t>
            </a:r>
            <a:r>
              <a:rPr lang="pt-BR" sz="1000" b="1" dirty="0">
                <a:latin typeface="Segoe UI" panose="020B0502040204020203" pitchFamily="34" charset="0"/>
                <a:cs typeface="Segoe UI" panose="020B0502040204020203" pitchFamily="34" charset="0"/>
              </a:rPr>
              <a:t> Contábil“ </a:t>
            </a:r>
            <a:r>
              <a:rPr lang="pt-BR" sz="1000" dirty="0">
                <a:latin typeface="Segoe UI" panose="020B0502040204020203" pitchFamily="34" charset="0"/>
                <a:cs typeface="Segoe UI" panose="020B0502040204020203" pitchFamily="34" charset="0"/>
              </a:rPr>
              <a:t>para evitar impactos ao Banco de Dados quando executado</a:t>
            </a:r>
          </a:p>
          <a:p>
            <a:pPr marL="180000" lvl="0" indent="-18000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000" b="1" dirty="0">
                <a:latin typeface="Segoe UI" panose="020B0502040204020203" pitchFamily="34" charset="0"/>
                <a:cs typeface="Segoe UI" panose="020B0502040204020203" pitchFamily="34" charset="0"/>
              </a:rPr>
              <a:t>Melhoria/</a:t>
            </a:r>
            <a:r>
              <a:rPr lang="pt-BR" sz="1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Tuning</a:t>
            </a:r>
            <a:r>
              <a:rPr lang="pt-BR" sz="1000" b="1" dirty="0">
                <a:latin typeface="Segoe UI" panose="020B0502040204020203" pitchFamily="34" charset="0"/>
                <a:cs typeface="Segoe UI" panose="020B0502040204020203" pitchFamily="34" charset="0"/>
              </a:rPr>
              <a:t> nas </a:t>
            </a:r>
            <a:r>
              <a:rPr lang="pt-BR" sz="1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querys</a:t>
            </a:r>
            <a:r>
              <a:rPr lang="pt-BR" sz="10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1000" dirty="0">
                <a:latin typeface="Segoe UI" panose="020B0502040204020203" pitchFamily="34" charset="0"/>
                <a:cs typeface="Segoe UI" panose="020B0502040204020203" pitchFamily="34" charset="0"/>
              </a:rPr>
              <a:t>que mais impactavam o Banco de Dados</a:t>
            </a:r>
          </a:p>
          <a:p>
            <a:pPr marL="180000" lvl="0" indent="-18000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Tuning</a:t>
            </a:r>
            <a:r>
              <a:rPr lang="pt-BR" sz="1000" b="1" dirty="0">
                <a:latin typeface="Segoe UI" panose="020B0502040204020203" pitchFamily="34" charset="0"/>
                <a:cs typeface="Segoe UI" panose="020B0502040204020203" pitchFamily="34" charset="0"/>
              </a:rPr>
              <a:t> de parâmetros do Siebel</a:t>
            </a:r>
          </a:p>
          <a:p>
            <a:pPr marL="180000" lvl="0" indent="-18000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000" b="1" dirty="0">
                <a:latin typeface="Segoe UI" panose="020B0502040204020203" pitchFamily="34" charset="0"/>
                <a:cs typeface="Segoe UI" panose="020B0502040204020203" pitchFamily="34" charset="0"/>
              </a:rPr>
              <a:t>Aplicado parâmetro de reciclagem automática de memória </a:t>
            </a:r>
            <a:r>
              <a:rPr lang="pt-BR" sz="1000" dirty="0">
                <a:latin typeface="Segoe UI" panose="020B0502040204020203" pitchFamily="34" charset="0"/>
                <a:cs typeface="Segoe UI" panose="020B0502040204020203" pitchFamily="34" charset="0"/>
              </a:rPr>
              <a:t>do componente EAI</a:t>
            </a:r>
          </a:p>
          <a:p>
            <a:pPr marL="180000" lvl="0" indent="-18000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000" b="1" dirty="0">
                <a:latin typeface="Segoe UI" panose="020B0502040204020203" pitchFamily="34" charset="0"/>
                <a:cs typeface="Segoe UI" panose="020B0502040204020203" pitchFamily="34" charset="0"/>
              </a:rPr>
              <a:t>Criação de 5 novos índices em tabelas importantes </a:t>
            </a:r>
            <a:r>
              <a:rPr lang="pt-BR" sz="1000" dirty="0">
                <a:latin typeface="Segoe UI" panose="020B0502040204020203" pitchFamily="34" charset="0"/>
                <a:cs typeface="Segoe UI" panose="020B0502040204020203" pitchFamily="34" charset="0"/>
              </a:rPr>
              <a:t>do Siebel para melhor indexação</a:t>
            </a:r>
          </a:p>
          <a:p>
            <a:pPr marL="180000" lvl="0" indent="-18000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000" b="1" dirty="0">
                <a:latin typeface="Segoe UI" panose="020B0502040204020203" pitchFamily="34" charset="0"/>
                <a:cs typeface="Segoe UI" panose="020B0502040204020203" pitchFamily="34" charset="0"/>
              </a:rPr>
              <a:t>Acompanhamento Diário </a:t>
            </a:r>
            <a:r>
              <a:rPr lang="pt-BR" sz="1000" dirty="0">
                <a:latin typeface="Segoe UI" panose="020B0502040204020203" pitchFamily="34" charset="0"/>
                <a:cs typeface="Segoe UI" panose="020B0502040204020203" pitchFamily="34" charset="0"/>
              </a:rPr>
              <a:t>do desempenho do Banco de Dados e identificação de erros em geral</a:t>
            </a:r>
          </a:p>
        </p:txBody>
      </p:sp>
      <p:sp>
        <p:nvSpPr>
          <p:cNvPr id="16" name="Retângulo de cantos arredondados 17"/>
          <p:cNvSpPr/>
          <p:nvPr/>
        </p:nvSpPr>
        <p:spPr>
          <a:xfrm>
            <a:off x="107504" y="2336421"/>
            <a:ext cx="2340000" cy="2159920"/>
          </a:xfrm>
          <a:prstGeom prst="rect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40000"/>
            <a:r>
              <a:rPr lang="pt-BR" sz="14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Ações</a:t>
            </a:r>
          </a:p>
        </p:txBody>
      </p:sp>
      <p:pic>
        <p:nvPicPr>
          <p:cNvPr id="18" name="Gráfico 17" descr="Engrenagens"/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1296" y="3199599"/>
            <a:ext cx="432000" cy="432000"/>
          </a:xfrm>
          <a:prstGeom prst="rect">
            <a:avLst/>
          </a:prstGeom>
        </p:spPr>
      </p:pic>
      <p:sp>
        <p:nvSpPr>
          <p:cNvPr id="14" name="Retângulo de cantos arredondados 17"/>
          <p:cNvSpPr/>
          <p:nvPr/>
        </p:nvSpPr>
        <p:spPr>
          <a:xfrm>
            <a:off x="107504" y="1304901"/>
            <a:ext cx="2340000" cy="895281"/>
          </a:xfrm>
          <a:prstGeom prst="rect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40000"/>
            <a:r>
              <a:rPr lang="pt-BR" sz="14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Causas</a:t>
            </a:r>
          </a:p>
        </p:txBody>
      </p:sp>
      <p:pic>
        <p:nvPicPr>
          <p:cNvPr id="20" name="Gráfico 19" descr="Lupa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1296" y="1529895"/>
            <a:ext cx="432000" cy="432000"/>
          </a:xfrm>
          <a:prstGeom prst="rect">
            <a:avLst/>
          </a:prstGeom>
        </p:spPr>
      </p:pic>
      <p:sp>
        <p:nvSpPr>
          <p:cNvPr id="10" name="Retângulo de cantos arredondados 17"/>
          <p:cNvSpPr/>
          <p:nvPr/>
        </p:nvSpPr>
        <p:spPr>
          <a:xfrm>
            <a:off x="107504" y="628662"/>
            <a:ext cx="2340000" cy="540000"/>
          </a:xfrm>
          <a:prstGeom prst="rect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40000"/>
            <a:r>
              <a:rPr lang="pt-BR" sz="14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Fato/Problema</a:t>
            </a:r>
          </a:p>
        </p:txBody>
      </p:sp>
      <p:pic>
        <p:nvPicPr>
          <p:cNvPr id="22" name="Gráfico 21" descr="Nenhum sinal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1296" y="682662"/>
            <a:ext cx="432000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813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72000"/>
            <a:ext cx="9144000" cy="571500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99542"/>
            <a:ext cx="9144000" cy="2572104"/>
          </a:xfrm>
          <a:prstGeom prst="rect">
            <a:avLst/>
          </a:prstGeom>
        </p:spPr>
      </p:pic>
      <p:sp>
        <p:nvSpPr>
          <p:cNvPr id="2" name="Retângulo: Cantos Arredondados 1"/>
          <p:cNvSpPr/>
          <p:nvPr/>
        </p:nvSpPr>
        <p:spPr>
          <a:xfrm>
            <a:off x="8035472" y="2355726"/>
            <a:ext cx="338776" cy="864096"/>
          </a:xfrm>
          <a:prstGeom prst="roundRect">
            <a:avLst/>
          </a:prstGeom>
          <a:noFill/>
          <a:ln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/>
          <p:cNvSpPr txBox="1"/>
          <p:nvPr/>
        </p:nvSpPr>
        <p:spPr>
          <a:xfrm>
            <a:off x="107758" y="3384609"/>
            <a:ext cx="8928484" cy="116955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Com base nas ações realizadas, </a:t>
            </a:r>
            <a:r>
              <a:rPr lang="pt-BR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a melhora no tempo de resposta do EAI passou a ser percebida na segunda semana de Abril</a:t>
            </a:r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A partir desse momento, tivemos apenas dois picos (alta) no Tempo de Resposta do EAI, a saber: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Pico 1: relacionado às estatísticas do Bando de Dados e também ao alto volume de transações manuais pela Central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Pico 2: erro ocorrido em Mudança da Oracle</a:t>
            </a:r>
          </a:p>
        </p:txBody>
      </p:sp>
      <p:sp>
        <p:nvSpPr>
          <p:cNvPr id="12" name="Shape 552"/>
          <p:cNvSpPr txBox="1"/>
          <p:nvPr/>
        </p:nvSpPr>
        <p:spPr>
          <a:xfrm>
            <a:off x="0" y="0"/>
            <a:ext cx="9144000" cy="461255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buClr>
                <a:srgbClr val="595959"/>
              </a:buClr>
              <a:buSzPct val="25000"/>
            </a:pP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unito"/>
                <a:ea typeface="Calibri"/>
                <a:cs typeface="Calibri"/>
                <a:sym typeface="Calibri"/>
              </a:rPr>
              <a:t>Melhorias Siebel – </a:t>
            </a:r>
            <a:r>
              <a:rPr lang="en-US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unito"/>
                <a:ea typeface="Calibri"/>
                <a:cs typeface="Calibri"/>
                <a:sym typeface="Calibri"/>
              </a:rPr>
              <a:t>Visão</a:t>
            </a: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unito"/>
                <a:ea typeface="Calibri"/>
                <a:cs typeface="Calibri"/>
                <a:sym typeface="Calibri"/>
              </a:rPr>
              <a:t> dos Últimos 90 Dias</a:t>
            </a:r>
            <a:endParaRPr 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unito"/>
              <a:ea typeface="Calibri"/>
              <a:cs typeface="Calibri"/>
              <a:sym typeface="Calibri"/>
            </a:endParaRPr>
          </a:p>
        </p:txBody>
      </p:sp>
      <p:sp>
        <p:nvSpPr>
          <p:cNvPr id="13" name="Retângulo: Cantos Arredondados 12"/>
          <p:cNvSpPr/>
          <p:nvPr/>
        </p:nvSpPr>
        <p:spPr>
          <a:xfrm>
            <a:off x="8820472" y="2643758"/>
            <a:ext cx="244404" cy="576064"/>
          </a:xfrm>
          <a:prstGeom prst="roundRect">
            <a:avLst/>
          </a:prstGeom>
          <a:noFill/>
          <a:ln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/>
          <p:cNvSpPr txBox="1"/>
          <p:nvPr/>
        </p:nvSpPr>
        <p:spPr>
          <a:xfrm>
            <a:off x="7992223" y="2135927"/>
            <a:ext cx="115177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bg1"/>
                </a:solidFill>
              </a:rPr>
              <a:t>Pico 1     </a:t>
            </a:r>
          </a:p>
          <a:p>
            <a:r>
              <a:rPr lang="pt-BR" sz="900" b="1" dirty="0">
                <a:solidFill>
                  <a:schemeClr val="bg1"/>
                </a:solidFill>
              </a:rPr>
              <a:t>                   </a:t>
            </a:r>
          </a:p>
          <a:p>
            <a:r>
              <a:rPr lang="pt-BR" sz="900" b="1" dirty="0">
                <a:solidFill>
                  <a:schemeClr val="bg1"/>
                </a:solidFill>
              </a:rPr>
              <a:t>                           Pico 2</a:t>
            </a:r>
          </a:p>
        </p:txBody>
      </p:sp>
      <p:sp>
        <p:nvSpPr>
          <p:cNvPr id="6" name="Seta: Pentágono 5"/>
          <p:cNvSpPr/>
          <p:nvPr/>
        </p:nvSpPr>
        <p:spPr>
          <a:xfrm>
            <a:off x="7164288" y="1635646"/>
            <a:ext cx="1900588" cy="336952"/>
          </a:xfrm>
          <a:prstGeom prst="homePlate">
            <a:avLst/>
          </a:prstGeom>
          <a:noFill/>
          <a:ln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900" dirty="0"/>
              <a:t>Percepção da melhora no tempo de resposta</a:t>
            </a:r>
            <a:endParaRPr lang="pt-BR" dirty="0"/>
          </a:p>
        </p:txBody>
      </p:sp>
      <p:cxnSp>
        <p:nvCxnSpPr>
          <p:cNvPr id="8" name="Conector reto 7"/>
          <p:cNvCxnSpPr/>
          <p:nvPr/>
        </p:nvCxnSpPr>
        <p:spPr>
          <a:xfrm>
            <a:off x="7164288" y="2029594"/>
            <a:ext cx="0" cy="936104"/>
          </a:xfrm>
          <a:prstGeom prst="line">
            <a:avLst/>
          </a:prstGeom>
          <a:ln w="127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2800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shutterstock_392439580.jpg"/>
          <p:cNvPicPr>
            <a:picLocks noChangeAspect="1"/>
          </p:cNvPicPr>
          <p:nvPr/>
        </p:nvPicPr>
        <p:blipFill>
          <a:blip r:embed="rId2">
            <a:extLst/>
          </a:blip>
          <a:srcRect l="29914" t="32232" r="29308" b="32233"/>
          <a:stretch>
            <a:fillRect/>
          </a:stretch>
        </p:blipFill>
        <p:spPr>
          <a:xfrm rot="127485">
            <a:off x="-616922" y="-188765"/>
            <a:ext cx="10493402" cy="60925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352"/>
                </a:moveTo>
                <a:lnTo>
                  <a:pt x="436" y="21600"/>
                </a:lnTo>
                <a:lnTo>
                  <a:pt x="21600" y="20248"/>
                </a:lnTo>
                <a:lnTo>
                  <a:pt x="21164" y="0"/>
                </a:lnTo>
                <a:lnTo>
                  <a:pt x="0" y="1352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91" t="6110" r="19124" b="1945"/>
          <a:stretch/>
        </p:blipFill>
        <p:spPr>
          <a:xfrm rot="16200000">
            <a:off x="2513814" y="-282078"/>
            <a:ext cx="4116373" cy="4680519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3470647" y="1735015"/>
            <a:ext cx="2318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</a:rPr>
              <a:t>OBRIGADO</a:t>
            </a:r>
          </a:p>
        </p:txBody>
      </p:sp>
    </p:spTree>
    <p:extLst>
      <p:ext uri="{BB962C8B-B14F-4D97-AF65-F5344CB8AC3E}">
        <p14:creationId xmlns:p14="http://schemas.microsoft.com/office/powerpoint/2010/main" val="2979553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3841</TotalTime>
  <Words>272</Words>
  <Application>Microsoft Office PowerPoint</Application>
  <PresentationFormat>Apresentação na tela (16:9)</PresentationFormat>
  <Paragraphs>68</Paragraphs>
  <Slides>4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Arial</vt:lpstr>
      <vt:lpstr>Calibri</vt:lpstr>
      <vt:lpstr>Nunito</vt:lpstr>
      <vt:lpstr>Segoe UI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Karina Bernardo</dc:creator>
  <cp:lastModifiedBy>Jorge Filho</cp:lastModifiedBy>
  <cp:revision>56</cp:revision>
  <dcterms:created xsi:type="dcterms:W3CDTF">2016-08-09T16:16:53Z</dcterms:created>
  <dcterms:modified xsi:type="dcterms:W3CDTF">2017-04-25T20:13:20Z</dcterms:modified>
</cp:coreProperties>
</file>