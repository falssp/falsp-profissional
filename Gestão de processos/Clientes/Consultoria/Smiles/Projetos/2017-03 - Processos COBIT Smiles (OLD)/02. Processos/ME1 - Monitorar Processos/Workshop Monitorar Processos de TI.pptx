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403" r:id="rId3"/>
    <p:sldId id="340" r:id="rId4"/>
    <p:sldId id="370" r:id="rId5"/>
    <p:sldId id="402" r:id="rId6"/>
    <p:sldId id="375" r:id="rId7"/>
    <p:sldId id="401" r:id="rId8"/>
    <p:sldId id="371" r:id="rId9"/>
    <p:sldId id="380" r:id="rId10"/>
    <p:sldId id="351" r:id="rId11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2" userDrawn="1">
          <p15:clr>
            <a:srgbClr val="A4A3A4"/>
          </p15:clr>
        </p15:guide>
        <p15:guide id="2" pos="32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462D"/>
    <a:srgbClr val="EE6829"/>
    <a:srgbClr val="000000"/>
    <a:srgbClr val="F57124"/>
    <a:srgbClr val="F68E1E"/>
    <a:srgbClr val="99CCFF"/>
    <a:srgbClr val="FF9900"/>
    <a:srgbClr val="FF6600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Estilo Médio 4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24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40" y="78"/>
      </p:cViewPr>
      <p:guideLst>
        <p:guide orient="horz" pos="3022"/>
        <p:guide pos="320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B6C1BA-4DD5-4F5D-B649-1899D4898AB9}" type="doc">
      <dgm:prSet loTypeId="urn:microsoft.com/office/officeart/2005/8/layout/list1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pt-BR"/>
        </a:p>
      </dgm:t>
    </dgm:pt>
    <dgm:pt modelId="{9BCCE3DD-07D7-455A-AE6D-C9869313C302}">
      <dgm:prSet custT="1"/>
      <dgm:spPr/>
      <dgm:t>
        <a:bodyPr/>
        <a:lstStyle/>
        <a:p>
          <a:r>
            <a:rPr lang="pt-BR" sz="1600" dirty="0" smtClean="0"/>
            <a:t>Quantidade de plano de melhorias executados anualmente</a:t>
          </a:r>
          <a:endParaRPr lang="pt-BR" sz="1600" dirty="0"/>
        </a:p>
      </dgm:t>
    </dgm:pt>
    <dgm:pt modelId="{6BF077D8-E9FB-4773-9989-C491AA6A8FCB}" type="parTrans" cxnId="{0FD41319-F5D7-4A20-A9E2-D6F8D4F5BDEA}">
      <dgm:prSet/>
      <dgm:spPr/>
      <dgm:t>
        <a:bodyPr/>
        <a:lstStyle/>
        <a:p>
          <a:endParaRPr lang="pt-BR" sz="1600"/>
        </a:p>
      </dgm:t>
    </dgm:pt>
    <dgm:pt modelId="{2031BE1F-94C6-4C96-88B5-42FC7F51A239}" type="sibTrans" cxnId="{0FD41319-F5D7-4A20-A9E2-D6F8D4F5BDEA}">
      <dgm:prSet/>
      <dgm:spPr/>
      <dgm:t>
        <a:bodyPr/>
        <a:lstStyle/>
        <a:p>
          <a:endParaRPr lang="pt-BR" sz="1600"/>
        </a:p>
      </dgm:t>
    </dgm:pt>
    <dgm:pt modelId="{2C6C4C29-BA2E-4CD0-A892-634CFB040E97}" type="pres">
      <dgm:prSet presAssocID="{48B6C1BA-4DD5-4F5D-B649-1899D4898AB9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D945BE3D-B5AB-4EDD-9B8B-90B4B522BBDE}" type="pres">
      <dgm:prSet presAssocID="{9BCCE3DD-07D7-455A-AE6D-C9869313C302}" presName="parentLin" presStyleCnt="0"/>
      <dgm:spPr/>
    </dgm:pt>
    <dgm:pt modelId="{ED2634FC-8B8D-4F30-813B-A502D2CDB586}" type="pres">
      <dgm:prSet presAssocID="{9BCCE3DD-07D7-455A-AE6D-C9869313C302}" presName="parentLeftMargin" presStyleLbl="node1" presStyleIdx="0" presStyleCnt="1"/>
      <dgm:spPr/>
      <dgm:t>
        <a:bodyPr/>
        <a:lstStyle/>
        <a:p>
          <a:endParaRPr lang="pt-BR"/>
        </a:p>
      </dgm:t>
    </dgm:pt>
    <dgm:pt modelId="{5EED9F32-72AF-4B19-B144-8BB9A40316E3}" type="pres">
      <dgm:prSet presAssocID="{9BCCE3DD-07D7-455A-AE6D-C9869313C302}" presName="parentText" presStyleLbl="node1" presStyleIdx="0" presStyleCnt="1" custScaleY="44296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75DD6A9-13A6-46E2-9DE2-1645F0577916}" type="pres">
      <dgm:prSet presAssocID="{9BCCE3DD-07D7-455A-AE6D-C9869313C302}" presName="negativeSpace" presStyleCnt="0"/>
      <dgm:spPr/>
    </dgm:pt>
    <dgm:pt modelId="{C4C25958-55B8-4181-AAE8-A4BE46818BC1}" type="pres">
      <dgm:prSet presAssocID="{9BCCE3DD-07D7-455A-AE6D-C9869313C302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5898FC8C-455B-4462-8CBF-1BF28245ACA8}" type="presOf" srcId="{9BCCE3DD-07D7-455A-AE6D-C9869313C302}" destId="{5EED9F32-72AF-4B19-B144-8BB9A40316E3}" srcOrd="1" destOrd="0" presId="urn:microsoft.com/office/officeart/2005/8/layout/list1"/>
    <dgm:cxn modelId="{0FD41319-F5D7-4A20-A9E2-D6F8D4F5BDEA}" srcId="{48B6C1BA-4DD5-4F5D-B649-1899D4898AB9}" destId="{9BCCE3DD-07D7-455A-AE6D-C9869313C302}" srcOrd="0" destOrd="0" parTransId="{6BF077D8-E9FB-4773-9989-C491AA6A8FCB}" sibTransId="{2031BE1F-94C6-4C96-88B5-42FC7F51A239}"/>
    <dgm:cxn modelId="{BFC63F49-F883-4831-BC75-22AF2020B425}" type="presOf" srcId="{9BCCE3DD-07D7-455A-AE6D-C9869313C302}" destId="{ED2634FC-8B8D-4F30-813B-A502D2CDB586}" srcOrd="0" destOrd="0" presId="urn:microsoft.com/office/officeart/2005/8/layout/list1"/>
    <dgm:cxn modelId="{0293C65D-6C75-47FA-BF82-8F52CB0320B1}" type="presOf" srcId="{48B6C1BA-4DD5-4F5D-B649-1899D4898AB9}" destId="{2C6C4C29-BA2E-4CD0-A892-634CFB040E97}" srcOrd="0" destOrd="0" presId="urn:microsoft.com/office/officeart/2005/8/layout/list1"/>
    <dgm:cxn modelId="{F37D949D-4A5B-4826-B7C4-113C04C621D2}" type="presParOf" srcId="{2C6C4C29-BA2E-4CD0-A892-634CFB040E97}" destId="{D945BE3D-B5AB-4EDD-9B8B-90B4B522BBDE}" srcOrd="0" destOrd="0" presId="urn:microsoft.com/office/officeart/2005/8/layout/list1"/>
    <dgm:cxn modelId="{3E34D751-D2F7-4501-9A05-26733C48483D}" type="presParOf" srcId="{D945BE3D-B5AB-4EDD-9B8B-90B4B522BBDE}" destId="{ED2634FC-8B8D-4F30-813B-A502D2CDB586}" srcOrd="0" destOrd="0" presId="urn:microsoft.com/office/officeart/2005/8/layout/list1"/>
    <dgm:cxn modelId="{1399EC7B-394B-4E13-B9E6-DCAB281D857F}" type="presParOf" srcId="{D945BE3D-B5AB-4EDD-9B8B-90B4B522BBDE}" destId="{5EED9F32-72AF-4B19-B144-8BB9A40316E3}" srcOrd="1" destOrd="0" presId="urn:microsoft.com/office/officeart/2005/8/layout/list1"/>
    <dgm:cxn modelId="{6AFD0EE6-EF2B-4294-929A-EA8B61918B52}" type="presParOf" srcId="{2C6C4C29-BA2E-4CD0-A892-634CFB040E97}" destId="{E75DD6A9-13A6-46E2-9DE2-1645F0577916}" srcOrd="1" destOrd="0" presId="urn:microsoft.com/office/officeart/2005/8/layout/list1"/>
    <dgm:cxn modelId="{7B236CAE-53AF-46C2-B404-1CC2DDAA6494}" type="presParOf" srcId="{2C6C4C29-BA2E-4CD0-A892-634CFB040E97}" destId="{C4C25958-55B8-4181-AAE8-A4BE46818BC1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09/12/2016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959D4-6A11-486D-B749-87BCA07FF591}" type="datetime1">
              <a:rPr lang="en-US" smtClean="0"/>
              <a:t>12/9/2016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4088-60D5-4C27-8C26-4C55B0AE93BE}" type="datetime1">
              <a:rPr lang="en-US" smtClean="0"/>
              <a:t>12/9/2016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53C5-BA6F-42EE-B848-F3D0057EDAD5}" type="datetime1">
              <a:rPr lang="en-US" smtClean="0"/>
              <a:t>12/9/2016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58837-4952-4B11-B021-471393E3D5C6}" type="datetime1">
              <a:rPr lang="en-US" smtClean="0"/>
              <a:t>12/9/2016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B09A-A573-467A-B71C-8123B5A168C3}" type="datetime1">
              <a:rPr lang="en-US" smtClean="0"/>
              <a:t>12/9/2016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A762-4D7A-4A60-B361-0561C4BAA8C1}" type="datetime1">
              <a:rPr lang="en-US" smtClean="0"/>
              <a:t>12/9/2016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E7812-A9AF-4509-8267-EE36D97F6170}" type="datetime1">
              <a:rPr lang="en-US" smtClean="0"/>
              <a:t>12/9/2016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3899E-D0AF-4934-8DE7-BA875A98DCEA}" type="datetime1">
              <a:rPr lang="en-US" smtClean="0"/>
              <a:t>12/9/2016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2944-44B7-41D7-AD1A-FD6903581FEF}" type="datetime1">
              <a:rPr lang="en-US" smtClean="0"/>
              <a:t>12/9/2016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AA64C-69FA-480F-B7E3-FE744768567F}" type="datetime1">
              <a:rPr lang="en-US" smtClean="0"/>
              <a:t>12/9/2016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FE86-EFE7-4175-8137-78DEB5E572A3}" type="datetime1">
              <a:rPr lang="en-US" smtClean="0"/>
              <a:t>12/9/2016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29DC0-6BD0-4B46-B6AE-0379CA6F938C}" type="datetime1">
              <a:rPr lang="en-US" smtClean="0"/>
              <a:t>12/9/2016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4.emf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5.png"/><Relationship Id="rId9" Type="http://schemas.microsoft.com/office/2007/relationships/diagramDrawing" Target="../diagrams/drawin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.emf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26504" y="-27000"/>
            <a:ext cx="6408000" cy="6912000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 w="190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322" y="2910000"/>
            <a:ext cx="2412841" cy="8612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8449" y="2560832"/>
            <a:ext cx="5959283" cy="3439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/>
            <a:r>
              <a:rPr lang="pt-BR" sz="4000" b="1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Monitorar Processos de TI</a:t>
            </a:r>
          </a:p>
          <a:p>
            <a:pPr marL="72000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marL="72000"/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Workshop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 para implantação do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processo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marL="72000"/>
            <a:endParaRPr lang="en-US" sz="1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r>
              <a:rPr lang="en-US" sz="16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09.Dez.2016</a:t>
            </a:r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r>
              <a:rPr lang="en-US" sz="105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Versão</a:t>
            </a:r>
            <a:r>
              <a:rPr lang="en-US" sz="105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en-US" sz="105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1</a:t>
            </a:r>
            <a:endParaRPr lang="en-US" sz="105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759" y="140070"/>
            <a:ext cx="1591323" cy="8406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790" y="4025794"/>
            <a:ext cx="3318348" cy="28592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Indicadores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Processo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Diretrizes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4124753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Envolvidos</a:t>
            </a:r>
          </a:p>
        </p:txBody>
      </p:sp>
    </p:spTree>
    <p:extLst>
      <p:ext uri="{BB962C8B-B14F-4D97-AF65-F5344CB8AC3E}">
        <p14:creationId xmlns:p14="http://schemas.microsoft.com/office/powerpoint/2010/main" val="3755064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997" y="6664320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Objetivo e Escopo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grpSp>
        <p:nvGrpSpPr>
          <p:cNvPr id="5" name="Agrupar 4"/>
          <p:cNvGrpSpPr/>
          <p:nvPr/>
        </p:nvGrpSpPr>
        <p:grpSpPr>
          <a:xfrm>
            <a:off x="412741" y="1273484"/>
            <a:ext cx="9231937" cy="1193297"/>
            <a:chOff x="372984" y="1165964"/>
            <a:chExt cx="9231937" cy="900000"/>
          </a:xfrm>
        </p:grpSpPr>
        <p:sp>
          <p:nvSpPr>
            <p:cNvPr id="14" name="Retângulo 13"/>
            <p:cNvSpPr/>
            <p:nvPr/>
          </p:nvSpPr>
          <p:spPr>
            <a:xfrm>
              <a:off x="1653996" y="1165964"/>
              <a:ext cx="7950925" cy="90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chemeClr val="tx1"/>
                  </a:solidFill>
                </a:rPr>
                <a:t>Este processo acompanhar os indicadores de desempenho relevantes dos processos publicados de TI. Também tem como objetivo criar, priorizar e acompanhar a evolução do plano de melhoria para os desvios encontrados.</a:t>
              </a:r>
            </a:p>
          </p:txBody>
        </p:sp>
        <p:sp>
          <p:nvSpPr>
            <p:cNvPr id="15" name="Retângulo de cantos arredondados 14"/>
            <p:cNvSpPr/>
            <p:nvPr/>
          </p:nvSpPr>
          <p:spPr>
            <a:xfrm>
              <a:off x="372984" y="1165964"/>
              <a:ext cx="1281013" cy="90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Objetivo</a:t>
              </a:r>
              <a:endParaRPr lang="pt-BR" sz="1600" i="1" dirty="0"/>
            </a:p>
          </p:txBody>
        </p:sp>
      </p:grpSp>
      <p:sp>
        <p:nvSpPr>
          <p:cNvPr id="16" name="Seta: para a Direita 15"/>
          <p:cNvSpPr/>
          <p:nvPr/>
        </p:nvSpPr>
        <p:spPr>
          <a:xfrm rot="5400000">
            <a:off x="9197416" y="2453334"/>
            <a:ext cx="404194" cy="490330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" name="Agrupar 3"/>
          <p:cNvGrpSpPr/>
          <p:nvPr/>
        </p:nvGrpSpPr>
        <p:grpSpPr>
          <a:xfrm>
            <a:off x="1693753" y="2942720"/>
            <a:ext cx="7950925" cy="2775691"/>
            <a:chOff x="1653996" y="2480605"/>
            <a:chExt cx="7950925" cy="1080000"/>
          </a:xfrm>
        </p:grpSpPr>
        <p:sp>
          <p:nvSpPr>
            <p:cNvPr id="18" name="Retângulo 17"/>
            <p:cNvSpPr/>
            <p:nvPr/>
          </p:nvSpPr>
          <p:spPr>
            <a:xfrm>
              <a:off x="2935008" y="2480605"/>
              <a:ext cx="6669913" cy="108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chemeClr val="tx1"/>
                  </a:solidFill>
                </a:rPr>
                <a:t>O processo de Monitorar Processos de TI tem como escopo acompanhar os indicadores de desempenho dos processos publicados de TI da </a:t>
              </a:r>
              <a:r>
                <a:rPr lang="pt-BR" sz="1400" dirty="0" err="1">
                  <a:solidFill>
                    <a:schemeClr val="tx1"/>
                  </a:solidFill>
                </a:rPr>
                <a:t>Smiles</a:t>
              </a:r>
              <a:r>
                <a:rPr lang="pt-BR" sz="1400" dirty="0">
                  <a:solidFill>
                    <a:schemeClr val="tx1"/>
                  </a:solidFill>
                </a:rPr>
                <a:t>. Sendo eles:</a:t>
              </a:r>
            </a:p>
            <a:p>
              <a:pPr marL="285750" lvl="0" indent="-285750">
                <a:buFont typeface="Courier New" panose="02070309020205020404" pitchFamily="49" charset="0"/>
                <a:buChar char="o"/>
              </a:pPr>
              <a:r>
                <a:rPr lang="pt-BR" sz="1400" dirty="0">
                  <a:solidFill>
                    <a:schemeClr val="tx1"/>
                  </a:solidFill>
                </a:rPr>
                <a:t>Gerenciamento de Fornecedores Críticos de TI</a:t>
              </a:r>
            </a:p>
            <a:p>
              <a:pPr marL="285750" lvl="0" indent="-285750">
                <a:buFont typeface="Courier New" panose="02070309020205020404" pitchFamily="49" charset="0"/>
                <a:buChar char="o"/>
              </a:pPr>
              <a:r>
                <a:rPr lang="pt-BR" sz="1400" dirty="0">
                  <a:solidFill>
                    <a:schemeClr val="tx1"/>
                  </a:solidFill>
                </a:rPr>
                <a:t>Gerenciamento de Incidentes de TI</a:t>
              </a:r>
            </a:p>
            <a:p>
              <a:pPr marL="285750" lvl="0" indent="-285750">
                <a:buFont typeface="Courier New" panose="02070309020205020404" pitchFamily="49" charset="0"/>
                <a:buChar char="o"/>
              </a:pPr>
              <a:r>
                <a:rPr lang="pt-BR" sz="1400" dirty="0">
                  <a:solidFill>
                    <a:schemeClr val="tx1"/>
                  </a:solidFill>
                </a:rPr>
                <a:t>Gerenciamento de Mudanças</a:t>
              </a:r>
            </a:p>
            <a:p>
              <a:pPr marL="285750" lvl="0" indent="-285750">
                <a:buFont typeface="Courier New" panose="02070309020205020404" pitchFamily="49" charset="0"/>
                <a:buChar char="o"/>
              </a:pPr>
              <a:r>
                <a:rPr lang="pt-BR" sz="1400" dirty="0">
                  <a:solidFill>
                    <a:schemeClr val="tx1"/>
                  </a:solidFill>
                </a:rPr>
                <a:t>Gerenciamento de Patches</a:t>
              </a:r>
            </a:p>
            <a:p>
              <a:pPr marL="285750" lvl="0" indent="-285750">
                <a:buFont typeface="Courier New" panose="02070309020205020404" pitchFamily="49" charset="0"/>
                <a:buChar char="o"/>
              </a:pPr>
              <a:r>
                <a:rPr lang="pt-BR" sz="1400" dirty="0">
                  <a:solidFill>
                    <a:schemeClr val="tx1"/>
                  </a:solidFill>
                </a:rPr>
                <a:t>Gerenciamento de Antivírus</a:t>
              </a:r>
            </a:p>
            <a:p>
              <a:r>
                <a:rPr lang="pt-BR" sz="1400" dirty="0">
                  <a:solidFill>
                    <a:schemeClr val="tx1"/>
                  </a:solidFill>
                </a:rPr>
                <a:t> </a:t>
              </a:r>
            </a:p>
            <a:p>
              <a:r>
                <a:rPr lang="pt-BR" sz="1400" dirty="0">
                  <a:solidFill>
                    <a:schemeClr val="tx1"/>
                  </a:solidFill>
                </a:rPr>
                <a:t>Vale ressaltar, que o processo de Gerenciamento de Incidentes de Segurança da Informação somente a Gerência de Segurança da Informação e o CIO devem ter acesso aos Eventos de Segurança da Informação, Incidentes de Segurança da Informação e o seu tratamento na ferramenta </a:t>
              </a:r>
              <a:r>
                <a:rPr lang="pt-BR" sz="1400" dirty="0" err="1">
                  <a:solidFill>
                    <a:schemeClr val="tx1"/>
                  </a:solidFill>
                </a:rPr>
                <a:t>Jira</a:t>
              </a:r>
              <a:r>
                <a:rPr lang="pt-BR" sz="1400" dirty="0">
                  <a:solidFill>
                    <a:schemeClr val="tx1"/>
                  </a:solidFill>
                </a:rPr>
                <a:t>, bem como os seus indicadores de desempenho.</a:t>
              </a:r>
            </a:p>
          </p:txBody>
        </p:sp>
        <p:sp>
          <p:nvSpPr>
            <p:cNvPr id="19" name="Retângulo de cantos arredondados 14"/>
            <p:cNvSpPr/>
            <p:nvPr/>
          </p:nvSpPr>
          <p:spPr>
            <a:xfrm>
              <a:off x="1653996" y="2480605"/>
              <a:ext cx="1281013" cy="108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Escopo</a:t>
              </a:r>
              <a:endParaRPr lang="pt-BR" sz="1600" i="1" dirty="0"/>
            </a:p>
          </p:txBody>
        </p:sp>
      </p:grpSp>
      <p:pic>
        <p:nvPicPr>
          <p:cNvPr id="2050" name="Picture 2" descr="http://lanuevaeconomia.com/wp-content/uploads/2012/05/Objetivos-de-una-empresa.jp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2878" y="4964430"/>
            <a:ext cx="3111500" cy="1893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0080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Resultado de imagem para indicador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07470"/>
            <a:ext cx="2149642" cy="3297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Indicadores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12" name="Retângulo de cantos arredondados 14"/>
          <p:cNvSpPr/>
          <p:nvPr/>
        </p:nvSpPr>
        <p:spPr>
          <a:xfrm>
            <a:off x="4191196" y="1035537"/>
            <a:ext cx="5420085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Indicadores de Desempenho</a:t>
            </a:r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aphicFrame>
        <p:nvGraphicFramePr>
          <p:cNvPr id="5" name="Diagrama 4"/>
          <p:cNvGraphicFramePr/>
          <p:nvPr>
            <p:extLst>
              <p:ext uri="{D42A27DB-BD31-4B8C-83A1-F6EECF244321}">
                <p14:modId xmlns:p14="http://schemas.microsoft.com/office/powerpoint/2010/main" val="131840428"/>
              </p:ext>
            </p:extLst>
          </p:nvPr>
        </p:nvGraphicFramePr>
        <p:xfrm>
          <a:off x="1694947" y="2251881"/>
          <a:ext cx="7909976" cy="40397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96174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Indicadores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Processo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Diretrizes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4124753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Envolvidos</a:t>
            </a:r>
          </a:p>
        </p:txBody>
      </p:sp>
    </p:spTree>
    <p:extLst>
      <p:ext uri="{BB962C8B-B14F-4D97-AF65-F5344CB8AC3E}">
        <p14:creationId xmlns:p14="http://schemas.microsoft.com/office/powerpoint/2010/main" val="292310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Processo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304102" y="1035537"/>
            <a:ext cx="4790185" cy="382446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Processo</a:t>
            </a:r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pic>
        <p:nvPicPr>
          <p:cNvPr id="12" name="Imagem 11"/>
          <p:cNvPicPr/>
          <p:nvPr/>
        </p:nvPicPr>
        <p:blipFill rotWithShape="1">
          <a:blip r:embed="rId4"/>
          <a:srcRect b="15940"/>
          <a:stretch/>
        </p:blipFill>
        <p:spPr bwMode="auto">
          <a:xfrm>
            <a:off x="143727" y="1464859"/>
            <a:ext cx="8580490" cy="431576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79001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Indicadores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Processo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Diretrizes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4124753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Envolvidos</a:t>
            </a:r>
          </a:p>
        </p:txBody>
      </p:sp>
    </p:spTree>
    <p:extLst>
      <p:ext uri="{BB962C8B-B14F-4D97-AF65-F5344CB8AC3E}">
        <p14:creationId xmlns:p14="http://schemas.microsoft.com/office/powerpoint/2010/main" val="3481759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Diretrizes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grpSp>
        <p:nvGrpSpPr>
          <p:cNvPr id="32" name="Agrupar 4"/>
          <p:cNvGrpSpPr/>
          <p:nvPr/>
        </p:nvGrpSpPr>
        <p:grpSpPr>
          <a:xfrm>
            <a:off x="412741" y="880229"/>
            <a:ext cx="9231937" cy="1248822"/>
            <a:chOff x="372984" y="1165964"/>
            <a:chExt cx="9231937" cy="1500719"/>
          </a:xfrm>
        </p:grpSpPr>
        <p:sp>
          <p:nvSpPr>
            <p:cNvPr id="33" name="Retângulo 32"/>
            <p:cNvSpPr/>
            <p:nvPr/>
          </p:nvSpPr>
          <p:spPr>
            <a:xfrm>
              <a:off x="1653996" y="1165964"/>
              <a:ext cx="7950925" cy="1500719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1600" dirty="0">
                  <a:solidFill>
                    <a:schemeClr val="tx1"/>
                  </a:solidFill>
                </a:rPr>
                <a:t>Haverá apenas um processo de Monitorar Processos de TI para toda organização, sob a responsabilidade da equipe de Governança de TI.</a:t>
              </a:r>
            </a:p>
          </p:txBody>
        </p:sp>
        <p:sp>
          <p:nvSpPr>
            <p:cNvPr id="34" name="Retângulo de cantos arredondados 33"/>
            <p:cNvSpPr/>
            <p:nvPr/>
          </p:nvSpPr>
          <p:spPr>
            <a:xfrm>
              <a:off x="372984" y="1165964"/>
              <a:ext cx="1281013" cy="1500719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/>
                <a:t>Monitorar Processos de TI</a:t>
              </a:r>
              <a:endParaRPr lang="pt-BR" i="1" dirty="0"/>
            </a:p>
          </p:txBody>
        </p:sp>
      </p:grp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pSp>
        <p:nvGrpSpPr>
          <p:cNvPr id="15" name="Agrupar 4"/>
          <p:cNvGrpSpPr/>
          <p:nvPr/>
        </p:nvGrpSpPr>
        <p:grpSpPr>
          <a:xfrm>
            <a:off x="412741" y="3753133"/>
            <a:ext cx="9231937" cy="1678675"/>
            <a:chOff x="372984" y="758862"/>
            <a:chExt cx="9231937" cy="4007102"/>
          </a:xfrm>
        </p:grpSpPr>
        <p:sp>
          <p:nvSpPr>
            <p:cNvPr id="16" name="Retângulo 15"/>
            <p:cNvSpPr/>
            <p:nvPr/>
          </p:nvSpPr>
          <p:spPr>
            <a:xfrm>
              <a:off x="1653996" y="758862"/>
              <a:ext cx="7950925" cy="4007102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r>
                <a:rPr lang="pt-BR" sz="1600" dirty="0">
                  <a:solidFill>
                    <a:schemeClr val="tx1"/>
                  </a:solidFill>
                </a:rPr>
                <a:t>A equipe de Governança de TI deverá monitorar semestralmente as tendências de comportamento de todos os processos publicados de TI da </a:t>
              </a:r>
              <a:r>
                <a:rPr lang="pt-BR" sz="1600" dirty="0" err="1">
                  <a:solidFill>
                    <a:schemeClr val="tx1"/>
                  </a:solidFill>
                </a:rPr>
                <a:t>Smiles</a:t>
              </a:r>
              <a:r>
                <a:rPr lang="pt-BR" sz="1600" dirty="0">
                  <a:solidFill>
                    <a:schemeClr val="tx1"/>
                  </a:solidFill>
                </a:rPr>
                <a:t>, e caso ocorra algum desvio deverá criar um plano de melhoria, priorizar e acompanhar a sua execução. </a:t>
              </a:r>
              <a:endParaRPr lang="pt-BR" sz="1600" dirty="0" smtClean="0">
                <a:solidFill>
                  <a:schemeClr val="tx1"/>
                </a:solidFill>
              </a:endParaRPr>
            </a:p>
            <a:p>
              <a:pPr lvl="0"/>
              <a:endParaRPr lang="pt-BR" sz="1600" dirty="0">
                <a:solidFill>
                  <a:schemeClr val="tx1"/>
                </a:solidFill>
              </a:endParaRPr>
            </a:p>
            <a:p>
              <a:r>
                <a:rPr lang="pt-BR" sz="1600" dirty="0">
                  <a:solidFill>
                    <a:schemeClr val="tx1"/>
                  </a:solidFill>
                </a:rPr>
                <a:t>Vale ressaltar que o primeiro (1º) acompanhamento dos indicadores de desempenho deverá ocorrer em junho / 2017, após os processos terem 6 meses de </a:t>
              </a:r>
              <a:r>
                <a:rPr lang="pt-BR" sz="1600" dirty="0" smtClean="0">
                  <a:solidFill>
                    <a:schemeClr val="tx1"/>
                  </a:solidFill>
                </a:rPr>
                <a:t>execução.</a:t>
              </a:r>
              <a:endParaRPr lang="pt-BR" sz="1600" dirty="0">
                <a:solidFill>
                  <a:schemeClr val="tx1"/>
                </a:solidFill>
              </a:endParaRPr>
            </a:p>
          </p:txBody>
        </p:sp>
        <p:sp>
          <p:nvSpPr>
            <p:cNvPr id="17" name="Retângulo de cantos arredondados 16"/>
            <p:cNvSpPr/>
            <p:nvPr/>
          </p:nvSpPr>
          <p:spPr>
            <a:xfrm>
              <a:off x="372984" y="758862"/>
              <a:ext cx="1281013" cy="4007102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/>
                <a:t>Monitoramento</a:t>
              </a:r>
            </a:p>
          </p:txBody>
        </p:sp>
      </p:grpSp>
      <p:grpSp>
        <p:nvGrpSpPr>
          <p:cNvPr id="13" name="Agrupar 4"/>
          <p:cNvGrpSpPr/>
          <p:nvPr/>
        </p:nvGrpSpPr>
        <p:grpSpPr>
          <a:xfrm>
            <a:off x="412741" y="2306391"/>
            <a:ext cx="9231937" cy="1248822"/>
            <a:chOff x="372984" y="1165964"/>
            <a:chExt cx="9231937" cy="1500719"/>
          </a:xfrm>
        </p:grpSpPr>
        <p:sp>
          <p:nvSpPr>
            <p:cNvPr id="14" name="Retângulo 13"/>
            <p:cNvSpPr/>
            <p:nvPr/>
          </p:nvSpPr>
          <p:spPr>
            <a:xfrm>
              <a:off x="1653996" y="1165964"/>
              <a:ext cx="7950925" cy="1500719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/>
              <a:r>
                <a:rPr lang="pt-BR" sz="1600" dirty="0">
                  <a:solidFill>
                    <a:schemeClr val="tx1"/>
                  </a:solidFill>
                </a:rPr>
                <a:t>S</a:t>
              </a:r>
              <a:r>
                <a:rPr lang="pt-BR" sz="1600" dirty="0" smtClean="0">
                  <a:solidFill>
                    <a:schemeClr val="tx1"/>
                  </a:solidFill>
                </a:rPr>
                <a:t>omente </a:t>
              </a:r>
              <a:r>
                <a:rPr lang="pt-BR" sz="1600" dirty="0">
                  <a:solidFill>
                    <a:schemeClr val="tx1"/>
                  </a:solidFill>
                </a:rPr>
                <a:t>a Gerência de Segurança da Informação e o CIO devem ter acesso a este processo, ou seja, o processo de Monitorar Processos de TI não deve ter acesso devido a confidencialidade das informações contidas.</a:t>
              </a:r>
            </a:p>
          </p:txBody>
        </p:sp>
        <p:sp>
          <p:nvSpPr>
            <p:cNvPr id="18" name="Retângulo de cantos arredondados 17"/>
            <p:cNvSpPr/>
            <p:nvPr/>
          </p:nvSpPr>
          <p:spPr>
            <a:xfrm>
              <a:off x="372984" y="1165964"/>
              <a:ext cx="1281013" cy="1500719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/>
                <a:t>Ger. de Incidentes de SI</a:t>
              </a:r>
              <a:endParaRPr lang="pt-BR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950696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Indicadores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Processo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Diretrizes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4070161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Envolvidos</a:t>
            </a:r>
          </a:p>
        </p:txBody>
      </p:sp>
    </p:spTree>
    <p:extLst>
      <p:ext uri="{BB962C8B-B14F-4D97-AF65-F5344CB8AC3E}">
        <p14:creationId xmlns:p14="http://schemas.microsoft.com/office/powerpoint/2010/main" val="1271888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Monitorar Processos de TI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pSp>
        <p:nvGrpSpPr>
          <p:cNvPr id="4" name="Agrupar 3"/>
          <p:cNvGrpSpPr/>
          <p:nvPr/>
        </p:nvGrpSpPr>
        <p:grpSpPr>
          <a:xfrm>
            <a:off x="5074387" y="1837420"/>
            <a:ext cx="4584404" cy="4336730"/>
            <a:chOff x="304103" y="1786891"/>
            <a:chExt cx="4584404" cy="4336730"/>
          </a:xfrm>
        </p:grpSpPr>
        <p:sp>
          <p:nvSpPr>
            <p:cNvPr id="14" name="Retângulo 13"/>
            <p:cNvSpPr/>
            <p:nvPr/>
          </p:nvSpPr>
          <p:spPr>
            <a:xfrm>
              <a:off x="1856710" y="1786891"/>
              <a:ext cx="3031797" cy="159541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Execução: </a:t>
              </a:r>
              <a:r>
                <a:rPr lang="pt-BR" sz="1400" dirty="0">
                  <a:solidFill>
                    <a:schemeClr val="tx1"/>
                  </a:solidFill>
                </a:rPr>
                <a:t>Tânia Ferro</a:t>
              </a:r>
            </a:p>
            <a:p>
              <a:pPr marL="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Publicação: </a:t>
              </a:r>
              <a:r>
                <a:rPr lang="pt-BR" sz="1400" dirty="0">
                  <a:solidFill>
                    <a:schemeClr val="tx1"/>
                  </a:solidFill>
                </a:rPr>
                <a:t>André </a:t>
              </a:r>
              <a:r>
                <a:rPr lang="pt-BR" sz="1400" dirty="0" smtClean="0">
                  <a:solidFill>
                    <a:schemeClr val="tx1"/>
                  </a:solidFill>
                </a:rPr>
                <a:t>Santos / Felipe 		         Lima</a:t>
              </a:r>
              <a:endParaRPr lang="pt-BR" sz="1400" dirty="0">
                <a:solidFill>
                  <a:schemeClr val="tx1"/>
                </a:solidFill>
              </a:endParaRPr>
            </a:p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QA: </a:t>
              </a:r>
              <a:r>
                <a:rPr lang="pt-BR" sz="16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Jorge Maluf</a:t>
              </a:r>
              <a:endPara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pic>
          <p:nvPicPr>
            <p:cNvPr id="17" name="Imagem 16"/>
            <p:cNvPicPr>
              <a:picLocks noChangeAspect="1"/>
            </p:cNvPicPr>
            <p:nvPr/>
          </p:nvPicPr>
          <p:blipFill rotWithShape="1">
            <a:blip r:embed="rId4"/>
            <a:srcRect b="20107"/>
            <a:stretch/>
          </p:blipFill>
          <p:spPr>
            <a:xfrm>
              <a:off x="304103" y="2136647"/>
              <a:ext cx="1449811" cy="611926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19" name="Retângulo 18"/>
            <p:cNvSpPr/>
            <p:nvPr/>
          </p:nvSpPr>
          <p:spPr>
            <a:xfrm>
              <a:off x="1856710" y="4435004"/>
              <a:ext cx="3031797" cy="168861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i="1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Sponsors</a:t>
              </a: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: </a:t>
              </a:r>
              <a:r>
                <a:rPr lang="pt-B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Rodrigo </a:t>
              </a:r>
              <a:r>
                <a:rPr lang="pt-BR" sz="16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Rothstein</a:t>
              </a:r>
              <a:r>
                <a:rPr lang="pt-B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endParaRPr lang="pt-BR" sz="1600" b="1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Ponto </a:t>
              </a: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Focal Auditoria: </a:t>
              </a:r>
              <a:r>
                <a:rPr lang="pt-B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Marcela </a:t>
              </a:r>
              <a:r>
                <a:rPr lang="pt-BR" sz="16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Dias</a:t>
              </a:r>
              <a:endPara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pic>
          <p:nvPicPr>
            <p:cNvPr id="16" name="Picture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4066" y="5005200"/>
              <a:ext cx="1389848" cy="548224"/>
            </a:xfrm>
            <a:prstGeom prst="rect">
              <a:avLst/>
            </a:prstGeom>
          </p:spPr>
        </p:pic>
      </p:grpSp>
      <p:sp>
        <p:nvSpPr>
          <p:cNvPr id="13" name="Retângulo 12"/>
          <p:cNvSpPr/>
          <p:nvPr/>
        </p:nvSpPr>
        <p:spPr>
          <a:xfrm>
            <a:off x="304103" y="1067389"/>
            <a:ext cx="17792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Envolvidos</a:t>
            </a:r>
          </a:p>
        </p:txBody>
      </p:sp>
      <p:grpSp>
        <p:nvGrpSpPr>
          <p:cNvPr id="3" name="Agrupar 2"/>
          <p:cNvGrpSpPr/>
          <p:nvPr/>
        </p:nvGrpSpPr>
        <p:grpSpPr>
          <a:xfrm>
            <a:off x="643007" y="1837420"/>
            <a:ext cx="3834369" cy="4336730"/>
            <a:chOff x="5665580" y="1786891"/>
            <a:chExt cx="3834369" cy="4336730"/>
          </a:xfrm>
        </p:grpSpPr>
        <p:sp>
          <p:nvSpPr>
            <p:cNvPr id="15" name="Retângulo 14"/>
            <p:cNvSpPr/>
            <p:nvPr/>
          </p:nvSpPr>
          <p:spPr>
            <a:xfrm>
              <a:off x="5665580" y="2409552"/>
              <a:ext cx="3829870" cy="3714069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972000" lvl="1">
                <a:lnSpc>
                  <a:spcPts val="2100"/>
                </a:lnSpc>
              </a:pPr>
              <a:endPara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pic>
          <p:nvPicPr>
            <p:cNvPr id="20" name="Picture 2" descr="http://www.atsconline.com/images/icon-employee.png"/>
            <p:cNvPicPr>
              <a:picLocks noChangeAspect="1" noChangeArrowheads="1"/>
            </p:cNvPicPr>
            <p:nvPr/>
          </p:nvPicPr>
          <p:blipFill rotWithShape="1"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24032"/>
            <a:stretch/>
          </p:blipFill>
          <p:spPr bwMode="auto">
            <a:xfrm>
              <a:off x="5810684" y="2613676"/>
              <a:ext cx="845458" cy="7686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Retângulo de cantos arredondados 14"/>
            <p:cNvSpPr/>
            <p:nvPr/>
          </p:nvSpPr>
          <p:spPr>
            <a:xfrm>
              <a:off x="5665581" y="1786891"/>
              <a:ext cx="3834368" cy="624278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Papéis x Pessoas/Empresas</a:t>
              </a:r>
            </a:p>
          </p:txBody>
        </p:sp>
        <p:pic>
          <p:nvPicPr>
            <p:cNvPr id="22" name="Picture 2" descr="http://www.atsconline.com/images/icon-employee.png"/>
            <p:cNvPicPr>
              <a:picLocks noChangeAspect="1" noChangeArrowheads="1"/>
            </p:cNvPicPr>
            <p:nvPr/>
          </p:nvPicPr>
          <p:blipFill rotWithShape="1"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24032"/>
            <a:stretch/>
          </p:blipFill>
          <p:spPr bwMode="auto">
            <a:xfrm>
              <a:off x="5810684" y="3848473"/>
              <a:ext cx="845458" cy="7686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CaixaDeTexto 24"/>
            <p:cNvSpPr txBox="1"/>
            <p:nvPr/>
          </p:nvSpPr>
          <p:spPr>
            <a:xfrm>
              <a:off x="6729147" y="2628657"/>
              <a:ext cx="266664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b="1" dirty="0" smtClean="0"/>
                <a:t>Responsáveis pelo processo (</a:t>
              </a:r>
              <a:r>
                <a:rPr lang="pt-BR" sz="1400" b="1" dirty="0" err="1" smtClean="0"/>
                <a:t>Smiles</a:t>
              </a:r>
              <a:r>
                <a:rPr lang="pt-BR" sz="1400" b="1" dirty="0"/>
                <a:t>)</a:t>
              </a:r>
              <a:r>
                <a:rPr lang="pt-BR" sz="1400" dirty="0"/>
                <a:t> </a:t>
              </a:r>
            </a:p>
            <a:p>
              <a:r>
                <a:rPr lang="pt-BR" sz="1400" dirty="0" smtClean="0"/>
                <a:t>Marcela Dias</a:t>
              </a:r>
              <a:endParaRPr lang="pt-BR" sz="1400" dirty="0"/>
            </a:p>
          </p:txBody>
        </p:sp>
        <p:sp>
          <p:nvSpPr>
            <p:cNvPr id="26" name="CaixaDeTexto 25"/>
            <p:cNvSpPr txBox="1"/>
            <p:nvPr/>
          </p:nvSpPr>
          <p:spPr>
            <a:xfrm>
              <a:off x="6742473" y="3910249"/>
              <a:ext cx="266664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b="1" dirty="0" smtClean="0"/>
                <a:t>Gerente de Governança de TI (</a:t>
              </a:r>
              <a:r>
                <a:rPr lang="pt-BR" sz="1400" b="1" dirty="0" err="1" smtClean="0"/>
                <a:t>Smiles</a:t>
              </a:r>
              <a:r>
                <a:rPr lang="pt-BR" sz="1400" b="1" dirty="0"/>
                <a:t>)</a:t>
              </a:r>
            </a:p>
            <a:p>
              <a:r>
                <a:rPr lang="pt-BR" sz="1400" dirty="0" smtClean="0"/>
                <a:t>Rodrigo </a:t>
              </a:r>
              <a:r>
                <a:rPr lang="pt-BR" sz="1400" dirty="0" err="1" smtClean="0"/>
                <a:t>Rothstein</a:t>
              </a:r>
              <a:endParaRPr lang="pt-BR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01343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TM04033917[[fn=Berlim]]</Template>
  <TotalTime>5082</TotalTime>
  <Words>346</Words>
  <PresentationFormat>Personalizar</PresentationFormat>
  <Paragraphs>80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Courier New</vt:lpstr>
      <vt:lpstr>Gotham Rounded Book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2014-01-24T21:35:00Z</dcterms:created>
  <dcterms:modified xsi:type="dcterms:W3CDTF">2016-12-09T12:33:46Z</dcterms:modified>
</cp:coreProperties>
</file>