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403" r:id="rId3"/>
    <p:sldId id="340" r:id="rId4"/>
    <p:sldId id="370" r:id="rId5"/>
    <p:sldId id="402" r:id="rId6"/>
    <p:sldId id="375" r:id="rId7"/>
    <p:sldId id="401" r:id="rId8"/>
    <p:sldId id="371" r:id="rId9"/>
    <p:sldId id="404" r:id="rId10"/>
    <p:sldId id="380" r:id="rId11"/>
    <p:sldId id="351" r:id="rId12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2" userDrawn="1">
          <p15:clr>
            <a:srgbClr val="A4A3A4"/>
          </p15:clr>
        </p15:guide>
        <p15:guide id="2" pos="32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462D"/>
    <a:srgbClr val="EE6829"/>
    <a:srgbClr val="000000"/>
    <a:srgbClr val="F57124"/>
    <a:srgbClr val="F68E1E"/>
    <a:srgbClr val="99CCFF"/>
    <a:srgbClr val="FF9900"/>
    <a:srgbClr val="FF6600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Estilo Médio 4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24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40" y="78"/>
      </p:cViewPr>
      <p:guideLst>
        <p:guide orient="horz" pos="3022"/>
        <p:guide pos="320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B6C1BA-4DD5-4F5D-B649-1899D4898AB9}" type="doc">
      <dgm:prSet loTypeId="urn:microsoft.com/office/officeart/2005/8/layout/list1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pt-BR"/>
        </a:p>
      </dgm:t>
    </dgm:pt>
    <dgm:pt modelId="{3AE9EE03-4ADD-4590-8956-E63F754AC432}">
      <dgm:prSet custT="1"/>
      <dgm:spPr/>
      <dgm:t>
        <a:bodyPr/>
        <a:lstStyle/>
        <a:p>
          <a:r>
            <a:rPr lang="pt-BR" sz="1600" dirty="0" err="1" smtClean="0"/>
            <a:t>Qtd</a:t>
          </a:r>
          <a:r>
            <a:rPr lang="pt-BR" sz="1600" dirty="0" smtClean="0"/>
            <a:t>. / % de incidentes abertos automaticamente pela ferramenta de monitoração </a:t>
          </a:r>
          <a:endParaRPr lang="pt-BR" sz="1600" dirty="0"/>
        </a:p>
      </dgm:t>
    </dgm:pt>
    <dgm:pt modelId="{2A2D5D39-C863-494D-9157-93D47273F932}" type="parTrans" cxnId="{CFCD913F-34EF-40D5-8F79-36F9FF6E039D}">
      <dgm:prSet/>
      <dgm:spPr/>
      <dgm:t>
        <a:bodyPr/>
        <a:lstStyle/>
        <a:p>
          <a:endParaRPr lang="pt-BR" sz="1600"/>
        </a:p>
      </dgm:t>
    </dgm:pt>
    <dgm:pt modelId="{756EC10C-967E-4DD7-91BB-D792434A38AF}" type="sibTrans" cxnId="{CFCD913F-34EF-40D5-8F79-36F9FF6E039D}">
      <dgm:prSet/>
      <dgm:spPr/>
      <dgm:t>
        <a:bodyPr/>
        <a:lstStyle/>
        <a:p>
          <a:endParaRPr lang="pt-BR" sz="1600"/>
        </a:p>
      </dgm:t>
    </dgm:pt>
    <dgm:pt modelId="{D3D9F56A-2BAD-4B03-B675-FD569C0D20BB}">
      <dgm:prSet custT="1"/>
      <dgm:spPr/>
      <dgm:t>
        <a:bodyPr/>
        <a:lstStyle/>
        <a:p>
          <a:r>
            <a:rPr lang="pt-BR" sz="1600" dirty="0" err="1" smtClean="0"/>
            <a:t>Qtd</a:t>
          </a:r>
          <a:r>
            <a:rPr lang="pt-BR" sz="1600" dirty="0" smtClean="0"/>
            <a:t>. / % de incidentes abertos automaticamente pela ferramenta de monitoração por grupo solucionador responsável</a:t>
          </a:r>
          <a:endParaRPr lang="pt-BR" sz="1600" dirty="0"/>
        </a:p>
      </dgm:t>
    </dgm:pt>
    <dgm:pt modelId="{41D29FAB-2929-425C-90E7-446D50937C03}" type="parTrans" cxnId="{D19853EE-2D77-4D15-917B-63EFE9B82F95}">
      <dgm:prSet/>
      <dgm:spPr/>
      <dgm:t>
        <a:bodyPr/>
        <a:lstStyle/>
        <a:p>
          <a:endParaRPr lang="pt-BR" sz="1600"/>
        </a:p>
      </dgm:t>
    </dgm:pt>
    <dgm:pt modelId="{9B2611DB-2D6C-4594-8FD7-C747E5D9C2DA}" type="sibTrans" cxnId="{D19853EE-2D77-4D15-917B-63EFE9B82F95}">
      <dgm:prSet/>
      <dgm:spPr/>
      <dgm:t>
        <a:bodyPr/>
        <a:lstStyle/>
        <a:p>
          <a:endParaRPr lang="pt-BR" sz="1600"/>
        </a:p>
      </dgm:t>
    </dgm:pt>
    <dgm:pt modelId="{2C6C4C29-BA2E-4CD0-A892-634CFB040E97}" type="pres">
      <dgm:prSet presAssocID="{48B6C1BA-4DD5-4F5D-B649-1899D4898AB9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63CCD32C-3174-4E5F-A13D-5A820AACB275}" type="pres">
      <dgm:prSet presAssocID="{3AE9EE03-4ADD-4590-8956-E63F754AC432}" presName="parentLin" presStyleCnt="0"/>
      <dgm:spPr/>
    </dgm:pt>
    <dgm:pt modelId="{7D703312-488B-42CA-A5AB-1A3B249E4CCD}" type="pres">
      <dgm:prSet presAssocID="{3AE9EE03-4ADD-4590-8956-E63F754AC432}" presName="parentLeftMargin" presStyleLbl="node1" presStyleIdx="0" presStyleCnt="2"/>
      <dgm:spPr/>
      <dgm:t>
        <a:bodyPr/>
        <a:lstStyle/>
        <a:p>
          <a:endParaRPr lang="pt-BR"/>
        </a:p>
      </dgm:t>
    </dgm:pt>
    <dgm:pt modelId="{352FAF39-799F-437E-B652-051E9E96EAC4}" type="pres">
      <dgm:prSet presAssocID="{3AE9EE03-4ADD-4590-8956-E63F754AC432}" presName="parentText" presStyleLbl="node1" presStyleIdx="0" presStyleCnt="2" custScaleY="335323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28F28D8-03F4-4BD0-B082-E3CDE4DA4432}" type="pres">
      <dgm:prSet presAssocID="{3AE9EE03-4ADD-4590-8956-E63F754AC432}" presName="negativeSpace" presStyleCnt="0"/>
      <dgm:spPr/>
    </dgm:pt>
    <dgm:pt modelId="{388C74D7-24A3-4843-A879-7A58A112CE9F}" type="pres">
      <dgm:prSet presAssocID="{3AE9EE03-4ADD-4590-8956-E63F754AC432}" presName="childText" presStyleLbl="conFgAcc1" presStyleIdx="0" presStyleCnt="2">
        <dgm:presLayoutVars>
          <dgm:bulletEnabled val="1"/>
        </dgm:presLayoutVars>
      </dgm:prSet>
      <dgm:spPr/>
    </dgm:pt>
    <dgm:pt modelId="{C6D1A2E8-F218-401C-A52B-C6A3EDD19717}" type="pres">
      <dgm:prSet presAssocID="{756EC10C-967E-4DD7-91BB-D792434A38AF}" presName="spaceBetweenRectangles" presStyleCnt="0"/>
      <dgm:spPr/>
    </dgm:pt>
    <dgm:pt modelId="{3EE55F02-2D49-4FB8-A650-677EADC5AA43}" type="pres">
      <dgm:prSet presAssocID="{D3D9F56A-2BAD-4B03-B675-FD569C0D20BB}" presName="parentLin" presStyleCnt="0"/>
      <dgm:spPr/>
    </dgm:pt>
    <dgm:pt modelId="{CB1EF600-2627-421E-A236-6B772C8EF94D}" type="pres">
      <dgm:prSet presAssocID="{D3D9F56A-2BAD-4B03-B675-FD569C0D20BB}" presName="parentLeftMargin" presStyleLbl="node1" presStyleIdx="0" presStyleCnt="2"/>
      <dgm:spPr/>
      <dgm:t>
        <a:bodyPr/>
        <a:lstStyle/>
        <a:p>
          <a:endParaRPr lang="pt-BR"/>
        </a:p>
      </dgm:t>
    </dgm:pt>
    <dgm:pt modelId="{4FC4AE04-C8B0-47FD-A7B4-CC8DB165A267}" type="pres">
      <dgm:prSet presAssocID="{D3D9F56A-2BAD-4B03-B675-FD569C0D20BB}" presName="parentText" presStyleLbl="node1" presStyleIdx="1" presStyleCnt="2" custScaleY="347451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FB2DDAC-297F-4D00-9CD3-5DC1555E96A7}" type="pres">
      <dgm:prSet presAssocID="{D3D9F56A-2BAD-4B03-B675-FD569C0D20BB}" presName="negativeSpace" presStyleCnt="0"/>
      <dgm:spPr/>
    </dgm:pt>
    <dgm:pt modelId="{6A5BC3E2-0141-4E89-9CF7-71F99A5B75CB}" type="pres">
      <dgm:prSet presAssocID="{D3D9F56A-2BAD-4B03-B675-FD569C0D20BB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D19853EE-2D77-4D15-917B-63EFE9B82F95}" srcId="{48B6C1BA-4DD5-4F5D-B649-1899D4898AB9}" destId="{D3D9F56A-2BAD-4B03-B675-FD569C0D20BB}" srcOrd="1" destOrd="0" parTransId="{41D29FAB-2929-425C-90E7-446D50937C03}" sibTransId="{9B2611DB-2D6C-4594-8FD7-C747E5D9C2DA}"/>
    <dgm:cxn modelId="{0293C65D-6C75-47FA-BF82-8F52CB0320B1}" type="presOf" srcId="{48B6C1BA-4DD5-4F5D-B649-1899D4898AB9}" destId="{2C6C4C29-BA2E-4CD0-A892-634CFB040E97}" srcOrd="0" destOrd="0" presId="urn:microsoft.com/office/officeart/2005/8/layout/list1"/>
    <dgm:cxn modelId="{CC8A5DE1-3357-47B3-8927-6AA2B1BED2D7}" type="presOf" srcId="{3AE9EE03-4ADD-4590-8956-E63F754AC432}" destId="{7D703312-488B-42CA-A5AB-1A3B249E4CCD}" srcOrd="0" destOrd="0" presId="urn:microsoft.com/office/officeart/2005/8/layout/list1"/>
    <dgm:cxn modelId="{B6297515-D5E5-4E3B-8114-E2935D481633}" type="presOf" srcId="{D3D9F56A-2BAD-4B03-B675-FD569C0D20BB}" destId="{CB1EF600-2627-421E-A236-6B772C8EF94D}" srcOrd="0" destOrd="0" presId="urn:microsoft.com/office/officeart/2005/8/layout/list1"/>
    <dgm:cxn modelId="{CFCD913F-34EF-40D5-8F79-36F9FF6E039D}" srcId="{48B6C1BA-4DD5-4F5D-B649-1899D4898AB9}" destId="{3AE9EE03-4ADD-4590-8956-E63F754AC432}" srcOrd="0" destOrd="0" parTransId="{2A2D5D39-C863-494D-9157-93D47273F932}" sibTransId="{756EC10C-967E-4DD7-91BB-D792434A38AF}"/>
    <dgm:cxn modelId="{4BF4FA4E-F41A-4894-B87B-57C3F91C80BA}" type="presOf" srcId="{D3D9F56A-2BAD-4B03-B675-FD569C0D20BB}" destId="{4FC4AE04-C8B0-47FD-A7B4-CC8DB165A267}" srcOrd="1" destOrd="0" presId="urn:microsoft.com/office/officeart/2005/8/layout/list1"/>
    <dgm:cxn modelId="{21BD2A48-3480-4B7D-90EC-71DC236C99F2}" type="presOf" srcId="{3AE9EE03-4ADD-4590-8956-E63F754AC432}" destId="{352FAF39-799F-437E-B652-051E9E96EAC4}" srcOrd="1" destOrd="0" presId="urn:microsoft.com/office/officeart/2005/8/layout/list1"/>
    <dgm:cxn modelId="{4750B958-3D93-4785-94D2-0FB781B2E06F}" type="presParOf" srcId="{2C6C4C29-BA2E-4CD0-A892-634CFB040E97}" destId="{63CCD32C-3174-4E5F-A13D-5A820AACB275}" srcOrd="0" destOrd="0" presId="urn:microsoft.com/office/officeart/2005/8/layout/list1"/>
    <dgm:cxn modelId="{DCF7282E-9C4D-4918-A7AF-FD581FB04C9D}" type="presParOf" srcId="{63CCD32C-3174-4E5F-A13D-5A820AACB275}" destId="{7D703312-488B-42CA-A5AB-1A3B249E4CCD}" srcOrd="0" destOrd="0" presId="urn:microsoft.com/office/officeart/2005/8/layout/list1"/>
    <dgm:cxn modelId="{3B13CC43-F02A-4EDE-88CB-D87B173D835E}" type="presParOf" srcId="{63CCD32C-3174-4E5F-A13D-5A820AACB275}" destId="{352FAF39-799F-437E-B652-051E9E96EAC4}" srcOrd="1" destOrd="0" presId="urn:microsoft.com/office/officeart/2005/8/layout/list1"/>
    <dgm:cxn modelId="{29D0C0E6-5C5D-4D64-8C2A-32F90BBA613A}" type="presParOf" srcId="{2C6C4C29-BA2E-4CD0-A892-634CFB040E97}" destId="{D28F28D8-03F4-4BD0-B082-E3CDE4DA4432}" srcOrd="1" destOrd="0" presId="urn:microsoft.com/office/officeart/2005/8/layout/list1"/>
    <dgm:cxn modelId="{D9C0A89D-E160-4020-987F-5BF901BDC060}" type="presParOf" srcId="{2C6C4C29-BA2E-4CD0-A892-634CFB040E97}" destId="{388C74D7-24A3-4843-A879-7A58A112CE9F}" srcOrd="2" destOrd="0" presId="urn:microsoft.com/office/officeart/2005/8/layout/list1"/>
    <dgm:cxn modelId="{85EFDEA1-7265-4CCE-85F9-61B046E63F1D}" type="presParOf" srcId="{2C6C4C29-BA2E-4CD0-A892-634CFB040E97}" destId="{C6D1A2E8-F218-401C-A52B-C6A3EDD19717}" srcOrd="3" destOrd="0" presId="urn:microsoft.com/office/officeart/2005/8/layout/list1"/>
    <dgm:cxn modelId="{BB4E1FAB-22D8-4EEF-AD80-33A95B4A90BB}" type="presParOf" srcId="{2C6C4C29-BA2E-4CD0-A892-634CFB040E97}" destId="{3EE55F02-2D49-4FB8-A650-677EADC5AA43}" srcOrd="4" destOrd="0" presId="urn:microsoft.com/office/officeart/2005/8/layout/list1"/>
    <dgm:cxn modelId="{95D2DE45-53CF-4020-9265-F86EFD9F18C8}" type="presParOf" srcId="{3EE55F02-2D49-4FB8-A650-677EADC5AA43}" destId="{CB1EF600-2627-421E-A236-6B772C8EF94D}" srcOrd="0" destOrd="0" presId="urn:microsoft.com/office/officeart/2005/8/layout/list1"/>
    <dgm:cxn modelId="{CDD6AC59-C317-427D-8CAB-02CEAD3C907E}" type="presParOf" srcId="{3EE55F02-2D49-4FB8-A650-677EADC5AA43}" destId="{4FC4AE04-C8B0-47FD-A7B4-CC8DB165A267}" srcOrd="1" destOrd="0" presId="urn:microsoft.com/office/officeart/2005/8/layout/list1"/>
    <dgm:cxn modelId="{B0FADEC2-AC35-4D5C-9071-09317F7647FF}" type="presParOf" srcId="{2C6C4C29-BA2E-4CD0-A892-634CFB040E97}" destId="{CFB2DDAC-297F-4D00-9CD3-5DC1555E96A7}" srcOrd="5" destOrd="0" presId="urn:microsoft.com/office/officeart/2005/8/layout/list1"/>
    <dgm:cxn modelId="{7C7B0F89-EB34-4E77-8140-90CED86AB871}" type="presParOf" srcId="{2C6C4C29-BA2E-4CD0-A892-634CFB040E97}" destId="{6A5BC3E2-0141-4E89-9CF7-71F99A5B75CB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09/12/2016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959D4-6A11-486D-B749-87BCA07FF591}" type="datetime1">
              <a:rPr lang="en-US" smtClean="0"/>
              <a:t>12/9/2016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4088-60D5-4C27-8C26-4C55B0AE93BE}" type="datetime1">
              <a:rPr lang="en-US" smtClean="0"/>
              <a:t>12/9/2016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53C5-BA6F-42EE-B848-F3D0057EDAD5}" type="datetime1">
              <a:rPr lang="en-US" smtClean="0"/>
              <a:t>12/9/2016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58837-4952-4B11-B021-471393E3D5C6}" type="datetime1">
              <a:rPr lang="en-US" smtClean="0"/>
              <a:t>12/9/2016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B09A-A573-467A-B71C-8123B5A168C3}" type="datetime1">
              <a:rPr lang="en-US" smtClean="0"/>
              <a:t>12/9/2016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A762-4D7A-4A60-B361-0561C4BAA8C1}" type="datetime1">
              <a:rPr lang="en-US" smtClean="0"/>
              <a:t>12/9/2016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E7812-A9AF-4509-8267-EE36D97F6170}" type="datetime1">
              <a:rPr lang="en-US" smtClean="0"/>
              <a:t>12/9/2016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3899E-D0AF-4934-8DE7-BA875A98DCEA}" type="datetime1">
              <a:rPr lang="en-US" smtClean="0"/>
              <a:t>12/9/2016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2944-44B7-41D7-AD1A-FD6903581FEF}" type="datetime1">
              <a:rPr lang="en-US" smtClean="0"/>
              <a:t>12/9/2016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AA64C-69FA-480F-B7E3-FE744768567F}" type="datetime1">
              <a:rPr lang="en-US" smtClean="0"/>
              <a:t>12/9/2016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FE86-EFE7-4175-8137-78DEB5E572A3}" type="datetime1">
              <a:rPr lang="en-US" smtClean="0"/>
              <a:t>12/9/2016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29DC0-6BD0-4B46-B6AE-0379CA6F938C}" type="datetime1">
              <a:rPr lang="en-US" smtClean="0"/>
              <a:t>12/9/2016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4.emf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5.png"/><Relationship Id="rId9" Type="http://schemas.microsoft.com/office/2007/relationships/diagramDrawing" Target="../diagrams/drawin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.emf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26504" y="-27000"/>
            <a:ext cx="6408000" cy="6912000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 w="190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322" y="2910000"/>
            <a:ext cx="2412841" cy="8612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8449" y="2124101"/>
            <a:ext cx="5959283" cy="4670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/>
            <a:r>
              <a:rPr lang="pt-BR" sz="4000" b="1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Gerenciamento de Desempenho e Capacidade</a:t>
            </a:r>
          </a:p>
          <a:p>
            <a:pPr marL="72000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marL="72000"/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Workshop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 para implantação do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processo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marL="72000"/>
            <a:endParaRPr lang="en-US" sz="1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r>
              <a:rPr lang="en-US" sz="16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09.Dez.2016</a:t>
            </a:r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r>
              <a:rPr lang="en-US" sz="105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Versão</a:t>
            </a:r>
            <a:r>
              <a:rPr lang="en-US" sz="105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en-US" sz="105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1</a:t>
            </a:r>
            <a:endParaRPr lang="en-US" sz="105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759" y="140070"/>
            <a:ext cx="1591323" cy="8406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8" name="Imagem 7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3322" y="4653887"/>
            <a:ext cx="3053816" cy="223111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Indicadores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Processo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Diretrizes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4124753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Envolvidos</a:t>
            </a:r>
          </a:p>
        </p:txBody>
      </p:sp>
    </p:spTree>
    <p:extLst>
      <p:ext uri="{BB962C8B-B14F-4D97-AF65-F5344CB8AC3E}">
        <p14:creationId xmlns:p14="http://schemas.microsoft.com/office/powerpoint/2010/main" val="3755064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997" y="6664320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Objetivo e Escopo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grpSp>
        <p:nvGrpSpPr>
          <p:cNvPr id="5" name="Agrupar 4"/>
          <p:cNvGrpSpPr/>
          <p:nvPr/>
        </p:nvGrpSpPr>
        <p:grpSpPr>
          <a:xfrm>
            <a:off x="412741" y="1273484"/>
            <a:ext cx="9231937" cy="1193297"/>
            <a:chOff x="372984" y="1165964"/>
            <a:chExt cx="9231937" cy="900000"/>
          </a:xfrm>
        </p:grpSpPr>
        <p:sp>
          <p:nvSpPr>
            <p:cNvPr id="14" name="Retângulo 13"/>
            <p:cNvSpPr/>
            <p:nvPr/>
          </p:nvSpPr>
          <p:spPr>
            <a:xfrm>
              <a:off x="1653996" y="1165964"/>
              <a:ext cx="7950925" cy="90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chemeClr val="tx1"/>
                  </a:solidFill>
                </a:rPr>
                <a:t>Este processo tem como objetivo gerenciar o desempenho e capacidade dos recursos de TI realizar análises críticas periódicas do desempenho e da capacidade atuais dos recursos de TI</a:t>
              </a:r>
              <a:r>
                <a:rPr lang="pt-BR" sz="1400" dirty="0" smtClean="0">
                  <a:solidFill>
                    <a:schemeClr val="tx1"/>
                  </a:solidFill>
                </a:rPr>
                <a:t>.</a:t>
              </a:r>
              <a:endParaRPr lang="pt-BR" sz="1400" dirty="0">
                <a:solidFill>
                  <a:schemeClr val="tx1"/>
                </a:solidFill>
              </a:endParaRPr>
            </a:p>
          </p:txBody>
        </p:sp>
        <p:sp>
          <p:nvSpPr>
            <p:cNvPr id="15" name="Retângulo de cantos arredondados 14"/>
            <p:cNvSpPr/>
            <p:nvPr/>
          </p:nvSpPr>
          <p:spPr>
            <a:xfrm>
              <a:off x="372984" y="1165964"/>
              <a:ext cx="1281013" cy="90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Objetivo</a:t>
              </a:r>
              <a:endParaRPr lang="pt-BR" sz="1600" i="1" dirty="0"/>
            </a:p>
          </p:txBody>
        </p:sp>
      </p:grpSp>
      <p:sp>
        <p:nvSpPr>
          <p:cNvPr id="16" name="Seta: para a Direita 15"/>
          <p:cNvSpPr/>
          <p:nvPr/>
        </p:nvSpPr>
        <p:spPr>
          <a:xfrm rot="5400000">
            <a:off x="9197416" y="2453334"/>
            <a:ext cx="404194" cy="490330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" name="Agrupar 3"/>
          <p:cNvGrpSpPr/>
          <p:nvPr/>
        </p:nvGrpSpPr>
        <p:grpSpPr>
          <a:xfrm>
            <a:off x="1693753" y="2942720"/>
            <a:ext cx="7950925" cy="2257077"/>
            <a:chOff x="1653996" y="2480605"/>
            <a:chExt cx="7950925" cy="1080000"/>
          </a:xfrm>
        </p:grpSpPr>
        <p:sp>
          <p:nvSpPr>
            <p:cNvPr id="18" name="Retângulo 17"/>
            <p:cNvSpPr/>
            <p:nvPr/>
          </p:nvSpPr>
          <p:spPr>
            <a:xfrm>
              <a:off x="2935008" y="2480605"/>
              <a:ext cx="6669913" cy="108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chemeClr val="tx1"/>
                  </a:solidFill>
                </a:rPr>
                <a:t>O processo tem como escopo realizar o acompanhamento do desempenho e capacidade dos serviços ou sistemas críticos para o negócio da </a:t>
              </a:r>
              <a:r>
                <a:rPr lang="pt-BR" sz="1400" dirty="0" err="1">
                  <a:solidFill>
                    <a:schemeClr val="tx1"/>
                  </a:solidFill>
                </a:rPr>
                <a:t>Smiles</a:t>
              </a:r>
              <a:r>
                <a:rPr lang="pt-BR" sz="1400" dirty="0">
                  <a:solidFill>
                    <a:schemeClr val="tx1"/>
                  </a:solidFill>
                </a:rPr>
                <a:t>.</a:t>
              </a:r>
            </a:p>
            <a:p>
              <a:r>
                <a:rPr lang="pt-BR" sz="1400" dirty="0">
                  <a:solidFill>
                    <a:schemeClr val="tx1"/>
                  </a:solidFill>
                </a:rPr>
                <a:t> </a:t>
              </a:r>
            </a:p>
            <a:p>
              <a:r>
                <a:rPr lang="pt-BR" sz="1400" dirty="0">
                  <a:solidFill>
                    <a:schemeClr val="tx1"/>
                  </a:solidFill>
                </a:rPr>
                <a:t>Vale ressaltar, que todo o gerenciamento, acompanhamento e manutenção dos serviços de TI relacionados ao Datacenter da Oracle, Datacenter da </a:t>
              </a:r>
              <a:r>
                <a:rPr lang="pt-BR" sz="1400" dirty="0" err="1">
                  <a:solidFill>
                    <a:schemeClr val="tx1"/>
                  </a:solidFill>
                </a:rPr>
                <a:t>Amazon</a:t>
              </a:r>
              <a:r>
                <a:rPr lang="pt-BR" sz="1400" dirty="0">
                  <a:solidFill>
                    <a:schemeClr val="tx1"/>
                  </a:solidFill>
                </a:rPr>
                <a:t> e links de dados é efetuado pelo próprio fornecedor conforme estabelecido em contrato e executado pelo processo de Gerenciamento de Fornecedores.</a:t>
              </a:r>
            </a:p>
          </p:txBody>
        </p:sp>
        <p:sp>
          <p:nvSpPr>
            <p:cNvPr id="19" name="Retângulo de cantos arredondados 14"/>
            <p:cNvSpPr/>
            <p:nvPr/>
          </p:nvSpPr>
          <p:spPr>
            <a:xfrm>
              <a:off x="1653996" y="2480605"/>
              <a:ext cx="1281013" cy="108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Escopo</a:t>
              </a:r>
              <a:endParaRPr lang="pt-BR" sz="1600" i="1" dirty="0"/>
            </a:p>
          </p:txBody>
        </p:sp>
      </p:grpSp>
      <p:pic>
        <p:nvPicPr>
          <p:cNvPr id="2050" name="Picture 2" descr="http://lanuevaeconomia.com/wp-content/uploads/2012/05/Objetivos-de-una-empresa.jp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2878" y="4964430"/>
            <a:ext cx="3111500" cy="1893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0080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Resultado de imagem para indicador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07470"/>
            <a:ext cx="2149642" cy="3297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Indicadores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12" name="Retângulo de cantos arredondados 14"/>
          <p:cNvSpPr/>
          <p:nvPr/>
        </p:nvSpPr>
        <p:spPr>
          <a:xfrm>
            <a:off x="4191196" y="1035537"/>
            <a:ext cx="5420085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Indicadores de Desempenho</a:t>
            </a:r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aphicFrame>
        <p:nvGraphicFramePr>
          <p:cNvPr id="5" name="Diagrama 4"/>
          <p:cNvGraphicFramePr/>
          <p:nvPr>
            <p:extLst>
              <p:ext uri="{D42A27DB-BD31-4B8C-83A1-F6EECF244321}">
                <p14:modId xmlns:p14="http://schemas.microsoft.com/office/powerpoint/2010/main" val="1549376789"/>
              </p:ext>
            </p:extLst>
          </p:nvPr>
        </p:nvGraphicFramePr>
        <p:xfrm>
          <a:off x="1694947" y="2251881"/>
          <a:ext cx="7909976" cy="40397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96174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Indicadores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Processo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Diretrizes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4124753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Envolvidos</a:t>
            </a:r>
          </a:p>
        </p:txBody>
      </p:sp>
    </p:spTree>
    <p:extLst>
      <p:ext uri="{BB962C8B-B14F-4D97-AF65-F5344CB8AC3E}">
        <p14:creationId xmlns:p14="http://schemas.microsoft.com/office/powerpoint/2010/main" val="292310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Processo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304102" y="1035537"/>
            <a:ext cx="4790185" cy="382446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Processo</a:t>
            </a:r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pic>
        <p:nvPicPr>
          <p:cNvPr id="11" name="Imagem 10"/>
          <p:cNvPicPr/>
          <p:nvPr/>
        </p:nvPicPr>
        <p:blipFill rotWithShape="1">
          <a:blip r:embed="rId4"/>
          <a:srcRect b="12327"/>
          <a:stretch/>
        </p:blipFill>
        <p:spPr bwMode="auto">
          <a:xfrm>
            <a:off x="304102" y="1857375"/>
            <a:ext cx="8143861" cy="39701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79001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Indicadores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Processo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Diretrizes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4124753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Envolvidos</a:t>
            </a:r>
          </a:p>
        </p:txBody>
      </p:sp>
    </p:spTree>
    <p:extLst>
      <p:ext uri="{BB962C8B-B14F-4D97-AF65-F5344CB8AC3E}">
        <p14:creationId xmlns:p14="http://schemas.microsoft.com/office/powerpoint/2010/main" val="3481759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Diretrizes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grpSp>
        <p:nvGrpSpPr>
          <p:cNvPr id="32" name="Agrupar 4"/>
          <p:cNvGrpSpPr/>
          <p:nvPr/>
        </p:nvGrpSpPr>
        <p:grpSpPr>
          <a:xfrm>
            <a:off x="480981" y="1330607"/>
            <a:ext cx="9231937" cy="1248822"/>
            <a:chOff x="372984" y="1165964"/>
            <a:chExt cx="9231937" cy="1500719"/>
          </a:xfrm>
        </p:grpSpPr>
        <p:sp>
          <p:nvSpPr>
            <p:cNvPr id="33" name="Retângulo 32"/>
            <p:cNvSpPr/>
            <p:nvPr/>
          </p:nvSpPr>
          <p:spPr>
            <a:xfrm>
              <a:off x="1653996" y="1165964"/>
              <a:ext cx="7950925" cy="1500719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just"/>
              <a:r>
                <a:rPr lang="pt-BR" sz="1600" dirty="0">
                  <a:solidFill>
                    <a:schemeClr val="tx1"/>
                  </a:solidFill>
                </a:rPr>
                <a:t>F</a:t>
              </a:r>
              <a:r>
                <a:rPr lang="pt-BR" sz="1600" dirty="0" smtClean="0">
                  <a:solidFill>
                    <a:schemeClr val="tx1"/>
                  </a:solidFill>
                </a:rPr>
                <a:t>erramenta </a:t>
              </a:r>
              <a:r>
                <a:rPr lang="pt-BR" sz="1600" dirty="0">
                  <a:solidFill>
                    <a:schemeClr val="tx1"/>
                  </a:solidFill>
                </a:rPr>
                <a:t>de monitoração oficial da </a:t>
              </a:r>
              <a:r>
                <a:rPr lang="pt-BR" sz="1600" dirty="0" err="1">
                  <a:solidFill>
                    <a:schemeClr val="tx1"/>
                  </a:solidFill>
                </a:rPr>
                <a:t>Smiles</a:t>
              </a:r>
              <a:r>
                <a:rPr lang="pt-BR" sz="1600" dirty="0">
                  <a:solidFill>
                    <a:schemeClr val="tx1"/>
                  </a:solidFill>
                </a:rPr>
                <a:t> para abertura de eventos e incidentes do processo de Gerenciamento de Desempenho e Capacidade é o </a:t>
              </a:r>
              <a:r>
                <a:rPr lang="pt-BR" sz="1600" dirty="0" err="1">
                  <a:solidFill>
                    <a:schemeClr val="tx1"/>
                  </a:solidFill>
                </a:rPr>
                <a:t>Dynatrace</a:t>
              </a:r>
              <a:r>
                <a:rPr lang="pt-BR" sz="1600" dirty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34" name="Retângulo de cantos arredondados 33"/>
            <p:cNvSpPr/>
            <p:nvPr/>
          </p:nvSpPr>
          <p:spPr>
            <a:xfrm>
              <a:off x="372984" y="1165964"/>
              <a:ext cx="1281013" cy="1500719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/>
                <a:t>Ferramenta de Monitoração</a:t>
              </a:r>
              <a:endParaRPr lang="pt-BR" i="1" dirty="0"/>
            </a:p>
          </p:txBody>
        </p:sp>
      </p:grp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pSp>
        <p:nvGrpSpPr>
          <p:cNvPr id="13" name="Agrupar 4"/>
          <p:cNvGrpSpPr/>
          <p:nvPr/>
        </p:nvGrpSpPr>
        <p:grpSpPr>
          <a:xfrm>
            <a:off x="480981" y="2947840"/>
            <a:ext cx="9231937" cy="1248822"/>
            <a:chOff x="372984" y="1165964"/>
            <a:chExt cx="9231937" cy="1500719"/>
          </a:xfrm>
        </p:grpSpPr>
        <p:sp>
          <p:nvSpPr>
            <p:cNvPr id="14" name="Retângulo 13"/>
            <p:cNvSpPr/>
            <p:nvPr/>
          </p:nvSpPr>
          <p:spPr>
            <a:xfrm>
              <a:off x="1653996" y="1165964"/>
              <a:ext cx="7950925" cy="1500719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r>
                <a:rPr lang="pt-BR" sz="1600" dirty="0">
                  <a:solidFill>
                    <a:schemeClr val="tx1"/>
                  </a:solidFill>
                </a:rPr>
                <a:t>A</a:t>
              </a:r>
              <a:r>
                <a:rPr lang="pt-BR" sz="1600" dirty="0" smtClean="0">
                  <a:solidFill>
                    <a:schemeClr val="tx1"/>
                  </a:solidFill>
                </a:rPr>
                <a:t> </a:t>
              </a:r>
              <a:r>
                <a:rPr lang="pt-BR" sz="1600" dirty="0">
                  <a:solidFill>
                    <a:schemeClr val="tx1"/>
                  </a:solidFill>
                </a:rPr>
                <a:t>responsabilidade de manter atualizada a ferramenta de monitoração é da área de Infraestrutura.</a:t>
              </a:r>
            </a:p>
          </p:txBody>
        </p:sp>
        <p:sp>
          <p:nvSpPr>
            <p:cNvPr id="18" name="Retângulo de cantos arredondados 17"/>
            <p:cNvSpPr/>
            <p:nvPr/>
          </p:nvSpPr>
          <p:spPr>
            <a:xfrm>
              <a:off x="372984" y="1165964"/>
              <a:ext cx="1281013" cy="1500719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/>
                <a:t>Responsabilidade da ferramenta</a:t>
              </a:r>
              <a:endParaRPr lang="pt-BR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950696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Diretrizes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grpSp>
        <p:nvGrpSpPr>
          <p:cNvPr id="32" name="Agrupar 4"/>
          <p:cNvGrpSpPr/>
          <p:nvPr/>
        </p:nvGrpSpPr>
        <p:grpSpPr>
          <a:xfrm>
            <a:off x="480981" y="1330607"/>
            <a:ext cx="9231937" cy="1248822"/>
            <a:chOff x="372984" y="1165964"/>
            <a:chExt cx="9231937" cy="1500719"/>
          </a:xfrm>
        </p:grpSpPr>
        <p:sp>
          <p:nvSpPr>
            <p:cNvPr id="33" name="Retângulo 32"/>
            <p:cNvSpPr/>
            <p:nvPr/>
          </p:nvSpPr>
          <p:spPr>
            <a:xfrm>
              <a:off x="1653996" y="1165964"/>
              <a:ext cx="7950925" cy="1500719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>
                  <a:solidFill>
                    <a:schemeClr val="tx1"/>
                  </a:solidFill>
                </a:rPr>
                <a:t>A emissão de relatórios de Capacidade dos serviços críticos de TI é realizada pelo fornecedor, conforme definido no processo de Gerenciamento de Fornecedores de Críticos de TI para as respectivas áreas responsáveis na reunião de prestação de contas.</a:t>
              </a:r>
            </a:p>
          </p:txBody>
        </p:sp>
        <p:sp>
          <p:nvSpPr>
            <p:cNvPr id="34" name="Retângulo de cantos arredondados 33"/>
            <p:cNvSpPr/>
            <p:nvPr/>
          </p:nvSpPr>
          <p:spPr>
            <a:xfrm>
              <a:off x="372984" y="1165964"/>
              <a:ext cx="1281013" cy="1500719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/>
                <a:t>Emissão de Relatórios de Capacidade</a:t>
              </a:r>
              <a:endParaRPr lang="pt-BR" i="1" dirty="0"/>
            </a:p>
          </p:txBody>
        </p:sp>
      </p:grp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pSp>
        <p:nvGrpSpPr>
          <p:cNvPr id="13" name="Agrupar 4"/>
          <p:cNvGrpSpPr/>
          <p:nvPr/>
        </p:nvGrpSpPr>
        <p:grpSpPr>
          <a:xfrm>
            <a:off x="480981" y="2947840"/>
            <a:ext cx="9231937" cy="1248822"/>
            <a:chOff x="372984" y="1165964"/>
            <a:chExt cx="9231937" cy="1500719"/>
          </a:xfrm>
        </p:grpSpPr>
        <p:sp>
          <p:nvSpPr>
            <p:cNvPr id="14" name="Retângulo 13"/>
            <p:cNvSpPr/>
            <p:nvPr/>
          </p:nvSpPr>
          <p:spPr>
            <a:xfrm>
              <a:off x="1653996" y="1165964"/>
              <a:ext cx="7950925" cy="1500719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r>
                <a:rPr lang="pt-BR" sz="1600" dirty="0">
                  <a:solidFill>
                    <a:schemeClr val="tx1"/>
                  </a:solidFill>
                </a:rPr>
                <a:t>A emissão de relatórios de Disponibilidade dos serviços críticos de TI é realizada pelo fornecedor, conforme definido no processo de Gerenciamento de Fornecedores de Críticos de TI para as respectivas áreas responsáveis na reunião de prestação de contas.</a:t>
              </a:r>
            </a:p>
          </p:txBody>
        </p:sp>
        <p:sp>
          <p:nvSpPr>
            <p:cNvPr id="18" name="Retângulo de cantos arredondados 17"/>
            <p:cNvSpPr/>
            <p:nvPr/>
          </p:nvSpPr>
          <p:spPr>
            <a:xfrm>
              <a:off x="372984" y="1165964"/>
              <a:ext cx="1281013" cy="1500719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/>
                <a:t>Emissão de Relatórios de Disponibilidade</a:t>
              </a:r>
              <a:endParaRPr lang="pt-BR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810153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Indicadores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Processo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Diretrizes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4070161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Envolvidos</a:t>
            </a:r>
          </a:p>
        </p:txBody>
      </p:sp>
    </p:spTree>
    <p:extLst>
      <p:ext uri="{BB962C8B-B14F-4D97-AF65-F5344CB8AC3E}">
        <p14:creationId xmlns:p14="http://schemas.microsoft.com/office/powerpoint/2010/main" val="1271888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Gerenciamento de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Desempenho e Capacidade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pSp>
        <p:nvGrpSpPr>
          <p:cNvPr id="4" name="Agrupar 3"/>
          <p:cNvGrpSpPr/>
          <p:nvPr/>
        </p:nvGrpSpPr>
        <p:grpSpPr>
          <a:xfrm>
            <a:off x="5074387" y="1837420"/>
            <a:ext cx="4584404" cy="4336730"/>
            <a:chOff x="304103" y="1786891"/>
            <a:chExt cx="4584404" cy="4336730"/>
          </a:xfrm>
        </p:grpSpPr>
        <p:sp>
          <p:nvSpPr>
            <p:cNvPr id="14" name="Retângulo 13"/>
            <p:cNvSpPr/>
            <p:nvPr/>
          </p:nvSpPr>
          <p:spPr>
            <a:xfrm>
              <a:off x="1856710" y="1786891"/>
              <a:ext cx="3031797" cy="159541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Execução: </a:t>
              </a:r>
              <a:r>
                <a:rPr lang="pt-BR" sz="1400" dirty="0">
                  <a:solidFill>
                    <a:schemeClr val="tx1"/>
                  </a:solidFill>
                </a:rPr>
                <a:t>Tânia Ferro</a:t>
              </a:r>
            </a:p>
            <a:p>
              <a:pPr marL="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Publicação: </a:t>
              </a:r>
              <a:r>
                <a:rPr lang="pt-BR" sz="1400" dirty="0">
                  <a:solidFill>
                    <a:schemeClr val="tx1"/>
                  </a:solidFill>
                </a:rPr>
                <a:t>André </a:t>
              </a:r>
              <a:r>
                <a:rPr lang="pt-BR" sz="1400" dirty="0" smtClean="0">
                  <a:solidFill>
                    <a:schemeClr val="tx1"/>
                  </a:solidFill>
                </a:rPr>
                <a:t>Santos / Felipe 		         Lima</a:t>
              </a:r>
              <a:endParaRPr lang="pt-BR" sz="1400" dirty="0">
                <a:solidFill>
                  <a:schemeClr val="tx1"/>
                </a:solidFill>
              </a:endParaRPr>
            </a:p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QA: </a:t>
              </a:r>
              <a:r>
                <a:rPr lang="pt-BR" sz="16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Jorge Maluf</a:t>
              </a:r>
              <a:endPara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pic>
          <p:nvPicPr>
            <p:cNvPr id="17" name="Imagem 16"/>
            <p:cNvPicPr>
              <a:picLocks noChangeAspect="1"/>
            </p:cNvPicPr>
            <p:nvPr/>
          </p:nvPicPr>
          <p:blipFill rotWithShape="1">
            <a:blip r:embed="rId4"/>
            <a:srcRect b="20107"/>
            <a:stretch/>
          </p:blipFill>
          <p:spPr>
            <a:xfrm>
              <a:off x="304103" y="2136647"/>
              <a:ext cx="1449811" cy="611926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19" name="Retângulo 18"/>
            <p:cNvSpPr/>
            <p:nvPr/>
          </p:nvSpPr>
          <p:spPr>
            <a:xfrm>
              <a:off x="1856710" y="4435004"/>
              <a:ext cx="3031797" cy="168861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i="1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Sponsors</a:t>
              </a: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: </a:t>
              </a:r>
              <a:r>
                <a:rPr lang="pt-B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Rodrigo </a:t>
              </a:r>
              <a:r>
                <a:rPr lang="pt-BR" sz="16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Rothstein</a:t>
              </a:r>
              <a:r>
                <a:rPr lang="pt-B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endParaRPr lang="pt-BR" sz="1600" b="1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Ponto </a:t>
              </a: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Focal Auditoria: </a:t>
              </a:r>
              <a:r>
                <a:rPr lang="pt-B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Marcela </a:t>
              </a:r>
              <a:r>
                <a:rPr lang="pt-BR" sz="16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Dias</a:t>
              </a:r>
              <a:endPara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pic>
          <p:nvPicPr>
            <p:cNvPr id="16" name="Picture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4066" y="5005200"/>
              <a:ext cx="1389848" cy="548224"/>
            </a:xfrm>
            <a:prstGeom prst="rect">
              <a:avLst/>
            </a:prstGeom>
          </p:spPr>
        </p:pic>
      </p:grpSp>
      <p:sp>
        <p:nvSpPr>
          <p:cNvPr id="13" name="Retângulo 12"/>
          <p:cNvSpPr/>
          <p:nvPr/>
        </p:nvSpPr>
        <p:spPr>
          <a:xfrm>
            <a:off x="304103" y="1067389"/>
            <a:ext cx="17792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Envolvidos</a:t>
            </a:r>
          </a:p>
        </p:txBody>
      </p:sp>
      <p:grpSp>
        <p:nvGrpSpPr>
          <p:cNvPr id="3" name="Agrupar 2"/>
          <p:cNvGrpSpPr/>
          <p:nvPr/>
        </p:nvGrpSpPr>
        <p:grpSpPr>
          <a:xfrm>
            <a:off x="643007" y="1837420"/>
            <a:ext cx="3834369" cy="4336730"/>
            <a:chOff x="5665580" y="1786891"/>
            <a:chExt cx="3834369" cy="4336730"/>
          </a:xfrm>
        </p:grpSpPr>
        <p:sp>
          <p:nvSpPr>
            <p:cNvPr id="15" name="Retângulo 14"/>
            <p:cNvSpPr/>
            <p:nvPr/>
          </p:nvSpPr>
          <p:spPr>
            <a:xfrm>
              <a:off x="5665580" y="2409552"/>
              <a:ext cx="3829870" cy="3714069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972000" lvl="1">
                <a:lnSpc>
                  <a:spcPts val="2100"/>
                </a:lnSpc>
              </a:pPr>
              <a:endPara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pic>
          <p:nvPicPr>
            <p:cNvPr id="20" name="Picture 2" descr="http://www.atsconline.com/images/icon-employee.png"/>
            <p:cNvPicPr>
              <a:picLocks noChangeAspect="1" noChangeArrowheads="1"/>
            </p:cNvPicPr>
            <p:nvPr/>
          </p:nvPicPr>
          <p:blipFill rotWithShape="1"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24032"/>
            <a:stretch/>
          </p:blipFill>
          <p:spPr bwMode="auto">
            <a:xfrm>
              <a:off x="5810684" y="2613676"/>
              <a:ext cx="845458" cy="7686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Retângulo de cantos arredondados 14"/>
            <p:cNvSpPr/>
            <p:nvPr/>
          </p:nvSpPr>
          <p:spPr>
            <a:xfrm>
              <a:off x="5665581" y="1786891"/>
              <a:ext cx="3834368" cy="624278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Papéis x Pessoas/Empresas</a:t>
              </a:r>
            </a:p>
          </p:txBody>
        </p:sp>
        <p:pic>
          <p:nvPicPr>
            <p:cNvPr id="22" name="Picture 2" descr="http://www.atsconline.com/images/icon-employee.png"/>
            <p:cNvPicPr>
              <a:picLocks noChangeAspect="1" noChangeArrowheads="1"/>
            </p:cNvPicPr>
            <p:nvPr/>
          </p:nvPicPr>
          <p:blipFill rotWithShape="1"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24032"/>
            <a:stretch/>
          </p:blipFill>
          <p:spPr bwMode="auto">
            <a:xfrm>
              <a:off x="5810684" y="3848473"/>
              <a:ext cx="845458" cy="7686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CaixaDeTexto 24"/>
            <p:cNvSpPr txBox="1"/>
            <p:nvPr/>
          </p:nvSpPr>
          <p:spPr>
            <a:xfrm>
              <a:off x="6729147" y="2628657"/>
              <a:ext cx="2666646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b="1" dirty="0" smtClean="0"/>
                <a:t>Responsáveis pelo processo (</a:t>
              </a:r>
              <a:r>
                <a:rPr lang="pt-BR" sz="1400" b="1" dirty="0" err="1" smtClean="0"/>
                <a:t>Smiles</a:t>
              </a:r>
              <a:r>
                <a:rPr lang="pt-BR" sz="1400" b="1" dirty="0"/>
                <a:t>)</a:t>
              </a:r>
              <a:r>
                <a:rPr lang="pt-BR" sz="1400" dirty="0"/>
                <a:t> </a:t>
              </a:r>
            </a:p>
            <a:p>
              <a:r>
                <a:rPr lang="pt-BR" sz="1400" dirty="0" smtClean="0"/>
                <a:t>Marcela Dias</a:t>
              </a:r>
            </a:p>
            <a:p>
              <a:r>
                <a:rPr lang="pt-BR" sz="1400" dirty="0" smtClean="0"/>
                <a:t>Claudio Cunha</a:t>
              </a:r>
            </a:p>
            <a:p>
              <a:r>
                <a:rPr lang="pt-BR" sz="1400" dirty="0" smtClean="0"/>
                <a:t>Daniel Borges</a:t>
              </a:r>
              <a:endParaRPr lang="pt-BR" sz="1400" dirty="0"/>
            </a:p>
          </p:txBody>
        </p:sp>
        <p:sp>
          <p:nvSpPr>
            <p:cNvPr id="26" name="CaixaDeTexto 25"/>
            <p:cNvSpPr txBox="1"/>
            <p:nvPr/>
          </p:nvSpPr>
          <p:spPr>
            <a:xfrm>
              <a:off x="6742473" y="3910249"/>
              <a:ext cx="266664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b="1" dirty="0" smtClean="0"/>
                <a:t>Gerente de Governança de TI (</a:t>
              </a:r>
              <a:r>
                <a:rPr lang="pt-BR" sz="1400" b="1" dirty="0" err="1" smtClean="0"/>
                <a:t>Smiles</a:t>
              </a:r>
              <a:r>
                <a:rPr lang="pt-BR" sz="1400" b="1" dirty="0"/>
                <a:t>)</a:t>
              </a:r>
            </a:p>
            <a:p>
              <a:r>
                <a:rPr lang="pt-BR" sz="1400" dirty="0" smtClean="0"/>
                <a:t>Rodrigo </a:t>
              </a:r>
              <a:r>
                <a:rPr lang="pt-BR" sz="1400" dirty="0" err="1" smtClean="0"/>
                <a:t>Rothstein</a:t>
              </a:r>
              <a:endParaRPr lang="pt-BR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01343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TM04033917[[fn=Berlim]]</Template>
  <TotalTime>5094</TotalTime>
  <Words>338</Words>
  <PresentationFormat>Personalizar</PresentationFormat>
  <Paragraphs>79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Arial</vt:lpstr>
      <vt:lpstr>Calibri</vt:lpstr>
      <vt:lpstr>Gotham Rounded Book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2014-01-24T21:35:00Z</dcterms:created>
  <dcterms:modified xsi:type="dcterms:W3CDTF">2016-12-09T12:34:08Z</dcterms:modified>
</cp:coreProperties>
</file>