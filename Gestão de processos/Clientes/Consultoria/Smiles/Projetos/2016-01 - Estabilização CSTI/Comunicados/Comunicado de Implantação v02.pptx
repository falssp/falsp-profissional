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9601200" cy="16200438"/>
  <p:notesSz cx="6858000" cy="9144000"/>
  <p:defaultTextStyle>
    <a:defPPr>
      <a:defRPr lang="en-US"/>
    </a:defPPr>
    <a:lvl1pPr marL="0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03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FF6600"/>
    <a:srgbClr val="F57124"/>
    <a:srgbClr val="FF9900"/>
    <a:srgbClr val="FF8E2D"/>
    <a:srgbClr val="F68E1E"/>
    <a:srgbClr val="99CCFF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 snapToObjects="1">
      <p:cViewPr varScale="1">
        <p:scale>
          <a:sx n="31" d="100"/>
          <a:sy n="31" d="100"/>
        </p:scale>
        <p:origin x="2418" y="102"/>
      </p:cViewPr>
      <p:guideLst>
        <p:guide orient="horz" pos="5103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29/01/2016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13000" y="685800"/>
            <a:ext cx="203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5032646"/>
            <a:ext cx="8161020" cy="347259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9180248"/>
            <a:ext cx="6720840" cy="41401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2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10410290"/>
            <a:ext cx="8161020" cy="3217587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6866441"/>
            <a:ext cx="8161020" cy="3543845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68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35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03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47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3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06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574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294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3780111"/>
            <a:ext cx="4240530" cy="10691540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3780111"/>
            <a:ext cx="4240530" cy="10691540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3" y="3626352"/>
            <a:ext cx="4242197" cy="1511290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8" indent="0">
              <a:buNone/>
              <a:defRPr sz="2889" b="1"/>
            </a:lvl2pPr>
            <a:lvl3pPr marL="1320735" indent="0">
              <a:buNone/>
              <a:defRPr sz="2600" b="1"/>
            </a:lvl3pPr>
            <a:lvl4pPr marL="1981103" indent="0">
              <a:buNone/>
              <a:defRPr sz="2311" b="1"/>
            </a:lvl4pPr>
            <a:lvl5pPr marL="2641471" indent="0">
              <a:buNone/>
              <a:defRPr sz="2311" b="1"/>
            </a:lvl5pPr>
            <a:lvl6pPr marL="3301838" indent="0">
              <a:buNone/>
              <a:defRPr sz="2311" b="1"/>
            </a:lvl6pPr>
            <a:lvl7pPr marL="3962206" indent="0">
              <a:buNone/>
              <a:defRPr sz="2311" b="1"/>
            </a:lvl7pPr>
            <a:lvl8pPr marL="4622574" indent="0">
              <a:buNone/>
              <a:defRPr sz="2311" b="1"/>
            </a:lvl8pPr>
            <a:lvl9pPr marL="5282941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3" y="5137638"/>
            <a:ext cx="4242197" cy="9334004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79" y="3626352"/>
            <a:ext cx="4243865" cy="1511290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8" indent="0">
              <a:buNone/>
              <a:defRPr sz="2889" b="1"/>
            </a:lvl2pPr>
            <a:lvl3pPr marL="1320735" indent="0">
              <a:buNone/>
              <a:defRPr sz="2600" b="1"/>
            </a:lvl3pPr>
            <a:lvl4pPr marL="1981103" indent="0">
              <a:buNone/>
              <a:defRPr sz="2311" b="1"/>
            </a:lvl4pPr>
            <a:lvl5pPr marL="2641471" indent="0">
              <a:buNone/>
              <a:defRPr sz="2311" b="1"/>
            </a:lvl5pPr>
            <a:lvl6pPr marL="3301838" indent="0">
              <a:buNone/>
              <a:defRPr sz="2311" b="1"/>
            </a:lvl6pPr>
            <a:lvl7pPr marL="3962206" indent="0">
              <a:buNone/>
              <a:defRPr sz="2311" b="1"/>
            </a:lvl7pPr>
            <a:lvl8pPr marL="4622574" indent="0">
              <a:buNone/>
              <a:defRPr sz="2311" b="1"/>
            </a:lvl8pPr>
            <a:lvl9pPr marL="5282941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79" y="5137638"/>
            <a:ext cx="4243865" cy="9334004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645017"/>
            <a:ext cx="3158729" cy="2745074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07" y="645025"/>
            <a:ext cx="5367337" cy="13826626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3390102"/>
            <a:ext cx="3158729" cy="11081551"/>
          </a:xfrm>
        </p:spPr>
        <p:txBody>
          <a:bodyPr/>
          <a:lstStyle>
            <a:lvl1pPr marL="0" indent="0">
              <a:buNone/>
              <a:defRPr sz="2022"/>
            </a:lvl1pPr>
            <a:lvl2pPr marL="660368" indent="0">
              <a:buNone/>
              <a:defRPr sz="1733"/>
            </a:lvl2pPr>
            <a:lvl3pPr marL="1320735" indent="0">
              <a:buNone/>
              <a:defRPr sz="1444"/>
            </a:lvl3pPr>
            <a:lvl4pPr marL="1981103" indent="0">
              <a:buNone/>
              <a:defRPr sz="1300"/>
            </a:lvl4pPr>
            <a:lvl5pPr marL="2641471" indent="0">
              <a:buNone/>
              <a:defRPr sz="1300"/>
            </a:lvl5pPr>
            <a:lvl6pPr marL="3301838" indent="0">
              <a:buNone/>
              <a:defRPr sz="1300"/>
            </a:lvl6pPr>
            <a:lvl7pPr marL="3962206" indent="0">
              <a:buNone/>
              <a:defRPr sz="1300"/>
            </a:lvl7pPr>
            <a:lvl8pPr marL="4622574" indent="0">
              <a:buNone/>
              <a:defRPr sz="1300"/>
            </a:lvl8pPr>
            <a:lvl9pPr marL="5282941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11340306"/>
            <a:ext cx="5760720" cy="1338789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447538"/>
            <a:ext cx="5760720" cy="9720263"/>
          </a:xfrm>
        </p:spPr>
        <p:txBody>
          <a:bodyPr/>
          <a:lstStyle>
            <a:lvl1pPr marL="0" indent="0">
              <a:buNone/>
              <a:defRPr sz="4622"/>
            </a:lvl1pPr>
            <a:lvl2pPr marL="660368" indent="0">
              <a:buNone/>
              <a:defRPr sz="4044"/>
            </a:lvl2pPr>
            <a:lvl3pPr marL="1320735" indent="0">
              <a:buNone/>
              <a:defRPr sz="3467"/>
            </a:lvl3pPr>
            <a:lvl4pPr marL="1981103" indent="0">
              <a:buNone/>
              <a:defRPr sz="2889"/>
            </a:lvl4pPr>
            <a:lvl5pPr marL="2641471" indent="0">
              <a:buNone/>
              <a:defRPr sz="2889"/>
            </a:lvl5pPr>
            <a:lvl6pPr marL="3301838" indent="0">
              <a:buNone/>
              <a:defRPr sz="2889"/>
            </a:lvl6pPr>
            <a:lvl7pPr marL="3962206" indent="0">
              <a:buNone/>
              <a:defRPr sz="2889"/>
            </a:lvl7pPr>
            <a:lvl8pPr marL="4622574" indent="0">
              <a:buNone/>
              <a:defRPr sz="2889"/>
            </a:lvl8pPr>
            <a:lvl9pPr marL="5282941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2679095"/>
            <a:ext cx="5760720" cy="1901299"/>
          </a:xfrm>
        </p:spPr>
        <p:txBody>
          <a:bodyPr/>
          <a:lstStyle>
            <a:lvl1pPr marL="0" indent="0">
              <a:buNone/>
              <a:defRPr sz="2022"/>
            </a:lvl1pPr>
            <a:lvl2pPr marL="660368" indent="0">
              <a:buNone/>
              <a:defRPr sz="1733"/>
            </a:lvl2pPr>
            <a:lvl3pPr marL="1320735" indent="0">
              <a:buNone/>
              <a:defRPr sz="1444"/>
            </a:lvl3pPr>
            <a:lvl4pPr marL="1981103" indent="0">
              <a:buNone/>
              <a:defRPr sz="1300"/>
            </a:lvl4pPr>
            <a:lvl5pPr marL="2641471" indent="0">
              <a:buNone/>
              <a:defRPr sz="1300"/>
            </a:lvl5pPr>
            <a:lvl6pPr marL="3301838" indent="0">
              <a:buNone/>
              <a:defRPr sz="1300"/>
            </a:lvl6pPr>
            <a:lvl7pPr marL="3962206" indent="0">
              <a:buNone/>
              <a:defRPr sz="1300"/>
            </a:lvl7pPr>
            <a:lvl8pPr marL="4622574" indent="0">
              <a:buNone/>
              <a:defRPr sz="1300"/>
            </a:lvl8pPr>
            <a:lvl9pPr marL="5282941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648780"/>
            <a:ext cx="2160270" cy="1382287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648780"/>
            <a:ext cx="6320790" cy="1382287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648768"/>
            <a:ext cx="8641080" cy="2700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3780111"/>
            <a:ext cx="8641080" cy="10691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5015416"/>
            <a:ext cx="22402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1/29/2016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5015416"/>
            <a:ext cx="30403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5015416"/>
            <a:ext cx="22402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68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76" indent="-495276" algn="l" defTabSz="660368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097" indent="-412729" algn="l" defTabSz="660368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19" indent="-330184" algn="l" defTabSz="660368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286" indent="-330184" algn="l" defTabSz="660368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655" indent="-330184" algn="l" defTabSz="660368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21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389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757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124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68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35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03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471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38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6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574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2941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/>
          <p:cNvGrpSpPr/>
          <p:nvPr/>
        </p:nvGrpSpPr>
        <p:grpSpPr>
          <a:xfrm>
            <a:off x="170793" y="232239"/>
            <a:ext cx="9287180" cy="1581150"/>
            <a:chOff x="139262" y="109370"/>
            <a:chExt cx="9287180" cy="1581150"/>
          </a:xfrm>
        </p:grpSpPr>
        <p:pic>
          <p:nvPicPr>
            <p:cNvPr id="26" name="Imagem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262" y="109370"/>
              <a:ext cx="9287180" cy="1581150"/>
            </a:xfrm>
            <a:prstGeom prst="rect">
              <a:avLst/>
            </a:prstGeom>
          </p:spPr>
        </p:pic>
        <p:pic>
          <p:nvPicPr>
            <p:cNvPr id="27" name="Imagem 26"/>
            <p:cNvPicPr>
              <a:picLocks noChangeAspect="1"/>
            </p:cNvPicPr>
            <p:nvPr/>
          </p:nvPicPr>
          <p:blipFill rotWithShape="1">
            <a:blip r:embed="rId2"/>
            <a:srcRect l="28752" t="13835" r="28782" b="16159"/>
            <a:stretch/>
          </p:blipFill>
          <p:spPr>
            <a:xfrm>
              <a:off x="3074418" y="251945"/>
              <a:ext cx="3416868" cy="1332000"/>
            </a:xfrm>
            <a:prstGeom prst="rect">
              <a:avLst/>
            </a:prstGeom>
          </p:spPr>
        </p:pic>
      </p:grpSp>
      <p:sp>
        <p:nvSpPr>
          <p:cNvPr id="16" name="Retângulo 15"/>
          <p:cNvSpPr/>
          <p:nvPr/>
        </p:nvSpPr>
        <p:spPr>
          <a:xfrm>
            <a:off x="170793" y="232239"/>
            <a:ext cx="9287180" cy="15732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5"/>
          </a:p>
        </p:txBody>
      </p:sp>
      <p:sp>
        <p:nvSpPr>
          <p:cNvPr id="18" name="CaixaDeTexto 17"/>
          <p:cNvSpPr txBox="1"/>
          <p:nvPr/>
        </p:nvSpPr>
        <p:spPr>
          <a:xfrm>
            <a:off x="369311" y="2020800"/>
            <a:ext cx="882843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3200" b="1" dirty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Comunicado de Implantação</a:t>
            </a:r>
          </a:p>
          <a:p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6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pt-BR" sz="18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1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Informamos </a:t>
            </a:r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abaixo os itens contemplados na implantação, ocorrida com sucesso.</a:t>
            </a:r>
            <a:endParaRPr 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3540600" y="15248506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2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Diretoria de TI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8103477" y="362816"/>
            <a:ext cx="1260076" cy="462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2405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29.Jan</a:t>
            </a:r>
            <a:endParaRPr lang="pt-BR" sz="2405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19756" y="1628128"/>
            <a:ext cx="2160000" cy="2160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graphicFrame>
        <p:nvGraphicFramePr>
          <p:cNvPr id="19" name="Tabe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09179"/>
              </p:ext>
            </p:extLst>
          </p:nvPr>
        </p:nvGraphicFramePr>
        <p:xfrm>
          <a:off x="451321" y="2904151"/>
          <a:ext cx="6507976" cy="731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37607">
                  <a:extLst>
                    <a:ext uri="{9D8B030D-6E8A-4147-A177-3AD203B41FA5}">
                      <a16:colId xmlns:a16="http://schemas.microsoft.com/office/drawing/2014/main" val="12600644"/>
                    </a:ext>
                  </a:extLst>
                </a:gridCol>
                <a:gridCol w="1137607">
                  <a:extLst>
                    <a:ext uri="{9D8B030D-6E8A-4147-A177-3AD203B41FA5}">
                      <a16:colId xmlns:a16="http://schemas.microsoft.com/office/drawing/2014/main" val="3081711037"/>
                    </a:ext>
                  </a:extLst>
                </a:gridCol>
                <a:gridCol w="4232762">
                  <a:extLst>
                    <a:ext uri="{9D8B030D-6E8A-4147-A177-3AD203B41FA5}">
                      <a16:colId xmlns:a16="http://schemas.microsoft.com/office/drawing/2014/main" val="352658527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Build</a:t>
                      </a:r>
                      <a:endParaRPr lang="pt-BR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</a:t>
                      </a:r>
                      <a:endParaRPr lang="pt-BR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Sistemas Afetados</a:t>
                      </a:r>
                      <a:endParaRPr lang="pt-BR" sz="18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Q4</a:t>
                      </a:r>
                      <a:endParaRPr lang="pt-BR" sz="18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29/01/16</a:t>
                      </a:r>
                      <a:endParaRPr lang="pt-BR" sz="18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Siebel, Portal, APP</a:t>
                      </a:r>
                      <a:endParaRPr lang="pt-BR" sz="1800" b="1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040599"/>
                  </a:ext>
                </a:extLst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209344"/>
              </p:ext>
            </p:extLst>
          </p:nvPr>
        </p:nvGraphicFramePr>
        <p:xfrm>
          <a:off x="1649839" y="4622830"/>
          <a:ext cx="7547906" cy="3168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003">
                  <a:extLst>
                    <a:ext uri="{9D8B030D-6E8A-4147-A177-3AD203B41FA5}">
                      <a16:colId xmlns:a16="http://schemas.microsoft.com/office/drawing/2014/main" val="1649539305"/>
                    </a:ext>
                  </a:extLst>
                </a:gridCol>
                <a:gridCol w="2315460">
                  <a:extLst>
                    <a:ext uri="{9D8B030D-6E8A-4147-A177-3AD203B41FA5}">
                      <a16:colId xmlns:a16="http://schemas.microsoft.com/office/drawing/2014/main" val="954512111"/>
                    </a:ext>
                  </a:extLst>
                </a:gridCol>
                <a:gridCol w="4318443">
                  <a:extLst>
                    <a:ext uri="{9D8B030D-6E8A-4147-A177-3AD203B41FA5}">
                      <a16:colId xmlns:a16="http://schemas.microsoft.com/office/drawing/2014/main" val="163373932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JIRA</a:t>
                      </a:r>
                      <a:endParaRPr lang="pt-BR" sz="12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Melhoria</a:t>
                      </a:r>
                      <a:endParaRPr lang="pt-BR" sz="12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Descrição</a:t>
                      </a:r>
                      <a:endParaRPr lang="pt-BR" sz="12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MLS-0004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Nome</a:t>
                      </a:r>
                      <a:r>
                        <a:rPr lang="pt-BR" sz="1200" baseline="0" dirty="0" smtClean="0"/>
                        <a:t> da Melhoria no </a:t>
                      </a:r>
                      <a:r>
                        <a:rPr lang="pt-BR" sz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da Melhoria.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04059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DSBL-0584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da Melhoria 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da Melhoria.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1692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MLS-0004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da Melhoria 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da Melhoria.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8101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DSBL-0584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da Melhoria 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da Melhoria.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8353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MLS-0004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da Melhoria 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da Melhoria.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7386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1262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3366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290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77929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896544"/>
                  </a:ext>
                </a:extLst>
              </a:tr>
            </a:tbl>
          </a:graphicData>
        </a:graphic>
      </p:graphicFrame>
      <p:grpSp>
        <p:nvGrpSpPr>
          <p:cNvPr id="20" name="Agrupar 19"/>
          <p:cNvGrpSpPr/>
          <p:nvPr/>
        </p:nvGrpSpPr>
        <p:grpSpPr>
          <a:xfrm>
            <a:off x="466269" y="12544971"/>
            <a:ext cx="1074333" cy="1425677"/>
            <a:chOff x="5312744" y="4489523"/>
            <a:chExt cx="1125643" cy="1504172"/>
          </a:xfrm>
        </p:grpSpPr>
        <p:pic>
          <p:nvPicPr>
            <p:cNvPr id="21" name="Imagem 20"/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328405" y="4489523"/>
              <a:ext cx="1109982" cy="1088301"/>
            </a:xfrm>
            <a:prstGeom prst="rect">
              <a:avLst/>
            </a:prstGeom>
          </p:spPr>
        </p:pic>
        <p:sp>
          <p:nvSpPr>
            <p:cNvPr id="22" name="Retângulo 21"/>
            <p:cNvSpPr/>
            <p:nvPr/>
          </p:nvSpPr>
          <p:spPr>
            <a:xfrm>
              <a:off x="5312744" y="5604028"/>
              <a:ext cx="892183" cy="3896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800" dirty="0">
                  <a:solidFill>
                    <a:srgbClr val="A20000"/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Bug Fix</a:t>
              </a:r>
            </a:p>
          </p:txBody>
        </p:sp>
      </p:grpSp>
      <p:grpSp>
        <p:nvGrpSpPr>
          <p:cNvPr id="9" name="Agrupar 8"/>
          <p:cNvGrpSpPr/>
          <p:nvPr/>
        </p:nvGrpSpPr>
        <p:grpSpPr>
          <a:xfrm>
            <a:off x="394515" y="8959929"/>
            <a:ext cx="1208257" cy="1591333"/>
            <a:chOff x="10231575" y="3447780"/>
            <a:chExt cx="1208257" cy="1591333"/>
          </a:xfrm>
        </p:grpSpPr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231575" y="3447780"/>
              <a:ext cx="1208257" cy="1224000"/>
            </a:xfrm>
            <a:prstGeom prst="rect">
              <a:avLst/>
            </a:prstGeom>
          </p:spPr>
        </p:pic>
        <p:sp>
          <p:nvSpPr>
            <p:cNvPr id="23" name="Retângulo 22"/>
            <p:cNvSpPr/>
            <p:nvPr/>
          </p:nvSpPr>
          <p:spPr>
            <a:xfrm>
              <a:off x="10259433" y="4669781"/>
              <a:ext cx="95654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800" dirty="0">
                  <a:solidFill>
                    <a:schemeClr val="accent1">
                      <a:lumMod val="75000"/>
                    </a:schemeClr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Projetos</a:t>
              </a:r>
            </a:p>
          </p:txBody>
        </p:sp>
      </p:grpSp>
      <p:grpSp>
        <p:nvGrpSpPr>
          <p:cNvPr id="11" name="Agrupar 10"/>
          <p:cNvGrpSpPr/>
          <p:nvPr/>
        </p:nvGrpSpPr>
        <p:grpSpPr>
          <a:xfrm>
            <a:off x="247124" y="5373231"/>
            <a:ext cx="1260000" cy="1667198"/>
            <a:chOff x="11679747" y="3327136"/>
            <a:chExt cx="1260000" cy="1667198"/>
          </a:xfrm>
        </p:grpSpPr>
        <p:pic>
          <p:nvPicPr>
            <p:cNvPr id="6" name="Imagem 5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1679747" y="3327136"/>
              <a:ext cx="1260000" cy="1260000"/>
            </a:xfrm>
            <a:prstGeom prst="rect">
              <a:avLst/>
            </a:prstGeom>
          </p:spPr>
        </p:pic>
        <p:sp>
          <p:nvSpPr>
            <p:cNvPr id="24" name="Retângulo 23"/>
            <p:cNvSpPr/>
            <p:nvPr/>
          </p:nvSpPr>
          <p:spPr>
            <a:xfrm>
              <a:off x="11746131" y="4625002"/>
              <a:ext cx="112723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800" dirty="0">
                  <a:solidFill>
                    <a:schemeClr val="accent3">
                      <a:lumMod val="50000"/>
                    </a:schemeClr>
                  </a:solidFill>
                  <a:latin typeface="+mj-lt"/>
                  <a:ea typeface="Tahoma" panose="020B0604030504040204" pitchFamily="34" charset="0"/>
                  <a:cs typeface="Tahoma" panose="020B0604030504040204" pitchFamily="34" charset="0"/>
                </a:rPr>
                <a:t>Melhorias</a:t>
              </a:r>
            </a:p>
          </p:txBody>
        </p:sp>
      </p:grpSp>
      <p:graphicFrame>
        <p:nvGraphicFramePr>
          <p:cNvPr id="28" name="Tabela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055442"/>
              </p:ext>
            </p:extLst>
          </p:nvPr>
        </p:nvGraphicFramePr>
        <p:xfrm>
          <a:off x="1649839" y="8171595"/>
          <a:ext cx="7547906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003">
                  <a:extLst>
                    <a:ext uri="{9D8B030D-6E8A-4147-A177-3AD203B41FA5}">
                      <a16:colId xmlns:a16="http://schemas.microsoft.com/office/drawing/2014/main" val="1649539305"/>
                    </a:ext>
                  </a:extLst>
                </a:gridCol>
                <a:gridCol w="2315460">
                  <a:extLst>
                    <a:ext uri="{9D8B030D-6E8A-4147-A177-3AD203B41FA5}">
                      <a16:colId xmlns:a16="http://schemas.microsoft.com/office/drawing/2014/main" val="954512111"/>
                    </a:ext>
                  </a:extLst>
                </a:gridCol>
                <a:gridCol w="4318443">
                  <a:extLst>
                    <a:ext uri="{9D8B030D-6E8A-4147-A177-3AD203B41FA5}">
                      <a16:colId xmlns:a16="http://schemas.microsoft.com/office/drawing/2014/main" val="163373932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JIRA</a:t>
                      </a:r>
                      <a:endParaRPr lang="pt-BR" sz="12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>
                          <a:latin typeface="+mn-lt"/>
                          <a:cs typeface="+mn-cs"/>
                        </a:rPr>
                        <a:t>Projeto</a:t>
                      </a:r>
                      <a:endParaRPr lang="pt-BR" sz="12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Descrição</a:t>
                      </a:r>
                      <a:endParaRPr lang="pt-BR" sz="12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MLS-0004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Nome</a:t>
                      </a:r>
                      <a:r>
                        <a:rPr lang="pt-BR" sz="1200" baseline="0" dirty="0" smtClean="0"/>
                        <a:t> </a:t>
                      </a:r>
                      <a:r>
                        <a:rPr lang="pt-BR" sz="1200" dirty="0" smtClean="0"/>
                        <a:t>do Projeto</a:t>
                      </a:r>
                      <a:r>
                        <a:rPr lang="pt-BR" sz="1200" baseline="0" dirty="0" smtClean="0"/>
                        <a:t> no </a:t>
                      </a:r>
                      <a:r>
                        <a:rPr lang="pt-BR" sz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do Projeto.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04059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DSBL-0584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</a:t>
                      </a:r>
                      <a:r>
                        <a:rPr lang="pt-BR" sz="1200" dirty="0" smtClean="0"/>
                        <a:t>do Projeto</a:t>
                      </a:r>
                      <a:r>
                        <a:rPr lang="pt-BR" sz="1200" kern="1200" baseline="0" dirty="0" smtClean="0"/>
                        <a:t> 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do Projeto.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1692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MLS-0004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</a:t>
                      </a:r>
                      <a:r>
                        <a:rPr lang="pt-BR" sz="1200" dirty="0" smtClean="0"/>
                        <a:t>do Projeto</a:t>
                      </a:r>
                      <a:r>
                        <a:rPr lang="pt-BR" sz="1200" kern="1200" baseline="0" dirty="0" smtClean="0"/>
                        <a:t> 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do Projeto.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8101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DSBL-0584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</a:t>
                      </a:r>
                      <a:r>
                        <a:rPr lang="pt-BR" sz="1200" dirty="0" smtClean="0"/>
                        <a:t>do Projeto</a:t>
                      </a:r>
                      <a:r>
                        <a:rPr lang="pt-BR" sz="1200" kern="1200" baseline="0" dirty="0" smtClean="0"/>
                        <a:t> 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do Projeto.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8353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MLS-0004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</a:t>
                      </a:r>
                      <a:r>
                        <a:rPr lang="pt-BR" sz="1200" dirty="0" smtClean="0"/>
                        <a:t>do Projeto</a:t>
                      </a:r>
                      <a:r>
                        <a:rPr lang="pt-BR" sz="1200" kern="1200" baseline="0" dirty="0" smtClean="0"/>
                        <a:t> 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do Projeto.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7386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1262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3366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290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77929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896544"/>
                  </a:ext>
                </a:extLst>
              </a:tr>
            </a:tbl>
          </a:graphicData>
        </a:graphic>
      </p:graphicFrame>
      <p:graphicFrame>
        <p:nvGraphicFramePr>
          <p:cNvPr id="29" name="Tabela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95960"/>
              </p:ext>
            </p:extLst>
          </p:nvPr>
        </p:nvGraphicFramePr>
        <p:xfrm>
          <a:off x="1645713" y="11720360"/>
          <a:ext cx="7547906" cy="3168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914003">
                  <a:extLst>
                    <a:ext uri="{9D8B030D-6E8A-4147-A177-3AD203B41FA5}">
                      <a16:colId xmlns:a16="http://schemas.microsoft.com/office/drawing/2014/main" val="1649539305"/>
                    </a:ext>
                  </a:extLst>
                </a:gridCol>
                <a:gridCol w="2315460">
                  <a:extLst>
                    <a:ext uri="{9D8B030D-6E8A-4147-A177-3AD203B41FA5}">
                      <a16:colId xmlns:a16="http://schemas.microsoft.com/office/drawing/2014/main" val="954512111"/>
                    </a:ext>
                  </a:extLst>
                </a:gridCol>
                <a:gridCol w="4318443">
                  <a:extLst>
                    <a:ext uri="{9D8B030D-6E8A-4147-A177-3AD203B41FA5}">
                      <a16:colId xmlns:a16="http://schemas.microsoft.com/office/drawing/2014/main" val="1633739320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JIRA</a:t>
                      </a:r>
                      <a:endParaRPr lang="pt-BR" sz="12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Bug</a:t>
                      </a:r>
                      <a:endParaRPr lang="pt-BR" sz="12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Descrição</a:t>
                      </a:r>
                      <a:endParaRPr lang="pt-BR" sz="1200" dirty="0"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MLS-0004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Nome</a:t>
                      </a:r>
                      <a:r>
                        <a:rPr lang="pt-BR" sz="1200" baseline="0" dirty="0" smtClean="0"/>
                        <a:t> </a:t>
                      </a:r>
                      <a:r>
                        <a:rPr lang="pt-BR" sz="1200" dirty="0" smtClean="0"/>
                        <a:t>do bug</a:t>
                      </a:r>
                      <a:r>
                        <a:rPr lang="pt-BR" sz="1200" baseline="0" dirty="0" smtClean="0"/>
                        <a:t> no </a:t>
                      </a:r>
                      <a:r>
                        <a:rPr lang="pt-BR" sz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do bug.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04059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DSBL-0584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</a:t>
                      </a:r>
                      <a:r>
                        <a:rPr lang="pt-BR" sz="1200" dirty="0" smtClean="0"/>
                        <a:t>do bug </a:t>
                      </a:r>
                      <a:r>
                        <a:rPr lang="pt-BR" sz="1200" kern="1200" baseline="0" dirty="0" smtClean="0"/>
                        <a:t>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do bug.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1692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MLS-0004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</a:t>
                      </a:r>
                      <a:r>
                        <a:rPr lang="pt-BR" sz="1200" dirty="0" smtClean="0"/>
                        <a:t>do bug</a:t>
                      </a:r>
                      <a:r>
                        <a:rPr lang="pt-BR" sz="1200" kern="1200" baseline="0" dirty="0" smtClean="0"/>
                        <a:t> 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do bug.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381016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DSBL-0584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</a:t>
                      </a:r>
                      <a:r>
                        <a:rPr lang="pt-BR" sz="1200" dirty="0" smtClean="0"/>
                        <a:t>do bug</a:t>
                      </a:r>
                      <a:r>
                        <a:rPr lang="pt-BR" sz="1200" kern="1200" baseline="0" dirty="0" smtClean="0"/>
                        <a:t> 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do bug.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83535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MLS-0004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kern="1200" dirty="0" smtClean="0"/>
                        <a:t>Nome</a:t>
                      </a:r>
                      <a:r>
                        <a:rPr lang="pt-BR" sz="1200" kern="1200" baseline="0" dirty="0" smtClean="0"/>
                        <a:t> </a:t>
                      </a:r>
                      <a:r>
                        <a:rPr lang="pt-BR" sz="1200" dirty="0" smtClean="0"/>
                        <a:t>do bug</a:t>
                      </a:r>
                      <a:r>
                        <a:rPr lang="pt-BR" sz="1200" kern="1200" baseline="0" dirty="0" smtClean="0"/>
                        <a:t> no </a:t>
                      </a:r>
                      <a:r>
                        <a:rPr lang="pt-BR" sz="1200" kern="1200" baseline="0" dirty="0" err="1" smtClean="0"/>
                        <a:t>Jira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r>
                        <a:rPr lang="pt-BR" sz="1200" dirty="0" smtClean="0"/>
                        <a:t>Explicação resumida do bug.</a:t>
                      </a:r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7386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1262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433661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2901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77929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/>
                      <a:endParaRPr lang="pt-BR" sz="12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8965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10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3499</TotalTime>
  <Words>208</Words>
  <Application>Microsoft Office PowerPoint</Application>
  <PresentationFormat>Personalizar</PresentationFormat>
  <Paragraphs>72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Tahoma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287</cp:revision>
  <dcterms:created xsi:type="dcterms:W3CDTF">2014-01-24T21:35:00Z</dcterms:created>
  <dcterms:modified xsi:type="dcterms:W3CDTF">2016-01-29T22:40:56Z</dcterms:modified>
</cp:coreProperties>
</file>