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339" r:id="rId2"/>
    <p:sldId id="341" r:id="rId3"/>
    <p:sldId id="342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57124"/>
    <a:srgbClr val="FF9900"/>
    <a:srgbClr val="FF8E2D"/>
    <a:srgbClr val="F68E1E"/>
    <a:srgbClr val="99CCFF"/>
    <a:srgbClr val="0000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51" d="100"/>
          <a:sy n="51" d="100"/>
        </p:scale>
        <p:origin x="2298" y="90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16/12/2015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077286"/>
            <a:ext cx="5829300" cy="212336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12/16/2015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12/16/2015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7"/>
            <a:ext cx="5829300" cy="1967442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12/16/2015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12/16/2015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2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2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12/16/2015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12/16/2015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12/16/2015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394410"/>
            <a:ext cx="3833812" cy="8454497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72927"/>
            <a:ext cx="2256235" cy="6775980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12/16/2015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6934200"/>
            <a:ext cx="4114800" cy="818622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885119"/>
            <a:ext cx="4114800" cy="5943600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7752822"/>
            <a:ext cx="4114800" cy="1162578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12/16/2015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12/16/2015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4"/>
            <a:ext cx="1543050" cy="845220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4"/>
            <a:ext cx="4514850" cy="845220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12/16/2015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5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12/16/2015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9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80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85" indent="-495285" algn="l" defTabSz="66038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17" indent="-412737" algn="l" defTabSz="66038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66038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66038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66038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756000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50588" y="1857828"/>
            <a:ext cx="4769757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pt-BR" sz="2200" b="1" dirty="0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Vem aí a Central de Serviços de TI!</a:t>
            </a:r>
          </a:p>
          <a:p>
            <a:pPr algn="ctr"/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 21 de Dezembro a Diretoria de TI </a:t>
            </a:r>
          </a:p>
          <a:p>
            <a:pPr algn="ctr"/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fará o lançamento de seu novo modelo de atendimento aos colaboradores</a:t>
            </a: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26" name="Picture 2" descr="http://milldesk.com/wp-content/uploads/2012/10/helpdesk1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821652" y="1577522"/>
            <a:ext cx="2031902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CaixaDeTexto 19"/>
          <p:cNvSpPr txBox="1"/>
          <p:nvPr/>
        </p:nvSpPr>
        <p:spPr>
          <a:xfrm>
            <a:off x="236314" y="3646708"/>
            <a:ext cx="3060000" cy="272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Objetivos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Aumentar a satisfação dos 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colaboradores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Permitir controle de todas as ocorrências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Maior conformidade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Aumentar a eficiência na gestão através de indicadores e </a:t>
            </a:r>
            <a:r>
              <a:rPr lang="pt-B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SLAs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definidos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3478218" y="3646708"/>
            <a:ext cx="316193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 que estamos fazendo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Elaboração do Catálogo de Serviços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Novos fluxos de Atendimento</a:t>
            </a:r>
            <a:endParaRPr lang="en-US" sz="1600" b="1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Nova </a:t>
            </a:r>
            <a:r>
              <a:rPr lang="pt-BR" sz="16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interface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para abertura de chamados no JIRA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Definições de Prioridades e </a:t>
            </a:r>
            <a:r>
              <a:rPr lang="pt-B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SLAs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de atendimento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Materiais de Consulta e orientação aos colaboradores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5" name="Imagem 24"/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70314" y="3599520"/>
            <a:ext cx="396000" cy="3960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6" name="Imagem 25"/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9410">
            <a:off x="6111290" y="3542056"/>
            <a:ext cx="504000" cy="504000"/>
          </a:xfrm>
          <a:prstGeom prst="rect">
            <a:avLst/>
          </a:prstGeom>
        </p:spPr>
      </p:pic>
      <p:sp>
        <p:nvSpPr>
          <p:cNvPr id="30" name="CaixaDeTexto 29"/>
          <p:cNvSpPr txBox="1"/>
          <p:nvPr/>
        </p:nvSpPr>
        <p:spPr>
          <a:xfrm>
            <a:off x="236313" y="6718145"/>
            <a:ext cx="640383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Principais Benefícios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Abertura de chamados fácil e mais intuitiva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Agilidade nos atendimentos 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Rastreabilidade de todas as ocorrências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236313" y="7917406"/>
            <a:ext cx="640383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 que vem por aí</a:t>
            </a:r>
          </a:p>
          <a:p>
            <a:pPr algn="r">
              <a:spcAft>
                <a:spcPts val="600"/>
              </a:spcAft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 decorrer desta semana ocorrerão sessões de </a:t>
            </a:r>
            <a:r>
              <a:rPr lang="pt-BR" sz="16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workshops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algn="r">
              <a:spcAft>
                <a:spcPts val="600"/>
              </a:spcAft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Fique atento às convocações, datas e horários e compareça! Sua presença é fundamental. </a:t>
            </a:r>
          </a:p>
        </p:txBody>
      </p:sp>
      <p:pic>
        <p:nvPicPr>
          <p:cNvPr id="27" name="Imagem 26"/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1548" y="6582606"/>
            <a:ext cx="504000" cy="504000"/>
          </a:xfrm>
          <a:prstGeom prst="rect">
            <a:avLst/>
          </a:prstGeom>
        </p:spPr>
      </p:pic>
      <p:pic>
        <p:nvPicPr>
          <p:cNvPr id="1024" name="Imagem 1023"/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700" y="7377041"/>
            <a:ext cx="553682" cy="553682"/>
          </a:xfrm>
          <a:prstGeom prst="rect">
            <a:avLst/>
          </a:prstGeom>
        </p:spPr>
      </p:pic>
      <p:sp>
        <p:nvSpPr>
          <p:cNvPr id="34" name="CaixaDeTexto 33"/>
          <p:cNvSpPr txBox="1"/>
          <p:nvPr/>
        </p:nvSpPr>
        <p:spPr>
          <a:xfrm>
            <a:off x="1206800" y="9437712"/>
            <a:ext cx="444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Obrigado! Central de Serviços de TI</a:t>
            </a:r>
            <a:endParaRPr lang="pt-BR" sz="12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5737286" y="122702"/>
            <a:ext cx="1033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15.Dez</a:t>
            </a:r>
          </a:p>
        </p:txBody>
      </p:sp>
      <p:sp>
        <p:nvSpPr>
          <p:cNvPr id="2" name="CaixaDeTexto 1"/>
          <p:cNvSpPr txBox="1"/>
          <p:nvPr/>
        </p:nvSpPr>
        <p:spPr>
          <a:xfrm rot="20716652">
            <a:off x="2062825" y="4942968"/>
            <a:ext cx="2466975" cy="1323439"/>
          </a:xfrm>
          <a:prstGeom prst="rect">
            <a:avLst/>
          </a:prstGeom>
          <a:solidFill>
            <a:schemeClr val="bg1">
              <a:alpha val="74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 smtClean="0">
                <a:solidFill>
                  <a:srgbClr val="FF6600"/>
                </a:solidFill>
              </a:rPr>
              <a:t>Publicado em 15.Dez</a:t>
            </a:r>
            <a:endParaRPr lang="en-US" sz="4000" b="1" dirty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329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756000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891328" y="1895928"/>
            <a:ext cx="4769757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pt-BR" sz="2200" b="1" dirty="0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Boletim - Central de Serviços de TI</a:t>
            </a:r>
          </a:p>
          <a:p>
            <a:pPr algn="ctr"/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Algumas informações sobre nosso novo modelo de atendimento aos colaboradores</a:t>
            </a: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195542" y="3740748"/>
            <a:ext cx="640383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Modelo de Atendimento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Abertura de chamados será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sempre pelo JIRA Service Desk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Você poderá analisar o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status do chamado on-line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incluir comentários e até novos anexos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Você poderá realizar a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Avaliação de Satisfação 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após a resolução do chamado com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apenas dois cliques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Abaixo, demostramos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nossos </a:t>
            </a:r>
            <a:r>
              <a:rPr lang="pt-BR" sz="16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SLAs</a:t>
            </a:r>
            <a:endParaRPr lang="pt-BR" sz="1600" b="1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155192" y="8818138"/>
            <a:ext cx="640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Aguarde. Começa dia 21, está perto!</a:t>
            </a:r>
            <a:endParaRPr lang="pt-BR" sz="16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1206800" y="9437712"/>
            <a:ext cx="444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Central de Serviços de TI  |  Diretoria de TI</a:t>
            </a:r>
            <a:endParaRPr lang="pt-BR" sz="12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5737286" y="122702"/>
            <a:ext cx="1033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16.Dez</a:t>
            </a:r>
          </a:p>
        </p:txBody>
      </p:sp>
      <p:grpSp>
        <p:nvGrpSpPr>
          <p:cNvPr id="4" name="Agrupar 3"/>
          <p:cNvGrpSpPr>
            <a:grpSpLocks noChangeAspect="1"/>
          </p:cNvGrpSpPr>
          <p:nvPr/>
        </p:nvGrpSpPr>
        <p:grpSpPr>
          <a:xfrm>
            <a:off x="5353908" y="3064107"/>
            <a:ext cx="1260000" cy="1260000"/>
            <a:chOff x="-4743968" y="795076"/>
            <a:chExt cx="6858000" cy="6858000"/>
          </a:xfrm>
        </p:grpSpPr>
        <p:pic>
          <p:nvPicPr>
            <p:cNvPr id="2" name="Imagem 1"/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743968" y="795076"/>
              <a:ext cx="6858000" cy="6858000"/>
            </a:xfrm>
            <a:prstGeom prst="rect">
              <a:avLst/>
            </a:prstGeom>
          </p:spPr>
        </p:pic>
        <p:pic>
          <p:nvPicPr>
            <p:cNvPr id="3" name="Picture 2" descr="https://jira.atlassian.com/images/atlassian-jira-logo-large.png"/>
            <p:cNvPicPr>
              <a:picLocks noChangeAspect="1" noChangeArrowheads="1"/>
            </p:cNvPicPr>
            <p:nvPr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3155804" y="3111645"/>
              <a:ext cx="3686629" cy="14457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" name="Imagem 5"/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67" y="1564715"/>
            <a:ext cx="1546930" cy="1546930"/>
          </a:xfrm>
          <a:prstGeom prst="rect">
            <a:avLst/>
          </a:prstGeom>
        </p:spPr>
      </p:pic>
      <p:grpSp>
        <p:nvGrpSpPr>
          <p:cNvPr id="11" name="Agrupar 10"/>
          <p:cNvGrpSpPr>
            <a:grpSpLocks noChangeAspect="1"/>
          </p:cNvGrpSpPr>
          <p:nvPr/>
        </p:nvGrpSpPr>
        <p:grpSpPr>
          <a:xfrm>
            <a:off x="547029" y="6431282"/>
            <a:ext cx="6012000" cy="2065080"/>
            <a:chOff x="145909" y="1950781"/>
            <a:chExt cx="6564831" cy="2254977"/>
          </a:xfrm>
        </p:grpSpPr>
        <p:pic>
          <p:nvPicPr>
            <p:cNvPr id="10" name="Imagem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5909" y="1950781"/>
              <a:ext cx="6564831" cy="2254977"/>
            </a:xfrm>
            <a:prstGeom prst="rect">
              <a:avLst/>
            </a:prstGeom>
          </p:spPr>
        </p:pic>
        <p:pic>
          <p:nvPicPr>
            <p:cNvPr id="7" name="Imagem 6"/>
            <p:cNvPicPr>
              <a:picLocks noChangeAspect="1"/>
            </p:cNvPicPr>
            <p:nvPr/>
          </p:nvPicPr>
          <p:blipFill>
            <a:blip r:embed="rId7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85030" y="2036607"/>
              <a:ext cx="614349" cy="6143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28742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756000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891328" y="1895928"/>
            <a:ext cx="4769757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pt-BR" sz="2200" b="1" dirty="0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Boletim - Central de Serviços de TI</a:t>
            </a:r>
          </a:p>
          <a:p>
            <a:pPr algn="ctr"/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Algumas informações sobre nosso novo modelo de atendimento aos colaboradores</a:t>
            </a: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214592" y="3378798"/>
            <a:ext cx="6110008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Preciso de prioridade no meu chamado.</a:t>
            </a:r>
          </a:p>
          <a:p>
            <a:pPr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 agora?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Agora que você já sabe quais são os nossos </a:t>
            </a:r>
            <a:r>
              <a:rPr lang="pt-B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SLAs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apresentados em nosso último Boletim, pode surgir a dúvida: </a:t>
            </a:r>
          </a:p>
          <a:p>
            <a:pPr algn="ctr">
              <a:spcAft>
                <a:spcPts val="1200"/>
              </a:spcAft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“</a:t>
            </a:r>
            <a:r>
              <a:rPr lang="pt-BR" sz="1600" b="1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Como faço para pedir prioridade do meu chamado, caso seja uma “emergência”?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 definição, a Central de Serviços de TI trabalha orientada aos </a:t>
            </a:r>
            <a:r>
              <a:rPr lang="pt-B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SLAs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estabelecidos, porém, temos ciência que algumas  situações exigem uma dedicação diferenciada (urgência), o que deve ser tratado caso-a-caso.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 conta disso,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apresentamos abaixo nosso modelo de escalonamento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para que você possa requisitar a priorização de seu chamado, sempre </a:t>
            </a:r>
            <a:r>
              <a:rPr lang="pt-BR" sz="1600" u="sng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justificando com argumentação adequada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 sua necessidade.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2435774" y="7786931"/>
            <a:ext cx="422531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3º Em caso negativo, acionar </a:t>
            </a:r>
            <a:r>
              <a:rPr lang="pt-BR" sz="1400" b="1" u="sng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TÚLIO</a:t>
            </a: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Oliveira</a:t>
            </a:r>
          </a:p>
          <a:p>
            <a:pPr>
              <a:spcAft>
                <a:spcPts val="1200"/>
              </a:spcAft>
            </a:pP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2º Em caso negativo, acionar </a:t>
            </a:r>
            <a:r>
              <a:rPr lang="pt-BR" sz="1400" b="1" u="sng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ADRIANO</a:t>
            </a: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Barbosa</a:t>
            </a:r>
          </a:p>
          <a:p>
            <a:pPr>
              <a:spcAft>
                <a:spcPts val="1200"/>
              </a:spcAft>
            </a:pP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1º Acionar </a:t>
            </a:r>
            <a:r>
              <a:rPr lang="pt-BR" sz="1400" b="1" u="sng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NEI</a:t>
            </a: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400" b="1" dirty="0" err="1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Henckes</a:t>
            </a:r>
            <a:endParaRPr lang="pt-BR" sz="12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1206800" y="9447237"/>
            <a:ext cx="444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Central de Serviços de TI  |  Diretoria de TI</a:t>
            </a:r>
            <a:endParaRPr lang="pt-BR" sz="12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5737286" y="122702"/>
            <a:ext cx="1033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17.Dez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67" y="1564715"/>
            <a:ext cx="1546930" cy="154693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9976" y="3161799"/>
            <a:ext cx="1308043" cy="1308043"/>
          </a:xfrm>
          <a:prstGeom prst="rect">
            <a:avLst/>
          </a:prstGeom>
        </p:spPr>
      </p:pic>
      <p:pic>
        <p:nvPicPr>
          <p:cNvPr id="1026" name="Picture 2" descr="http://cdn.mysitemyway.com/etc-mysitemyway/icons/legacy-previews/icons/3d-transparent-glass-icons-people-things/059562-3d-transparent-glass-icon-people-things-stairs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75" y="7323040"/>
            <a:ext cx="2586015" cy="2586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Conector de Seta Reta 16"/>
          <p:cNvCxnSpPr/>
          <p:nvPr/>
        </p:nvCxnSpPr>
        <p:spPr>
          <a:xfrm flipV="1">
            <a:off x="292567" y="8103616"/>
            <a:ext cx="457200" cy="57150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3050237" y="8919888"/>
            <a:ext cx="3297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200" b="1" dirty="0" smtClean="0">
                <a:solidFill>
                  <a:srgbClr val="FF660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Pedimos sua colaboração no sentido de respeitar a ordem de escalonamento</a:t>
            </a:r>
            <a:endParaRPr lang="pt-BR" sz="1100" dirty="0" smtClean="0">
              <a:solidFill>
                <a:srgbClr val="FF66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32" name="Picture 8" descr="http://i.huffpost.com/gen/1853989/thumbs/o-WINKY-FACE-570.jpg?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7933" y="9018833"/>
            <a:ext cx="288000" cy="291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8263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3285</TotalTime>
  <Words>402</Words>
  <Application>Microsoft Office PowerPoint</Application>
  <PresentationFormat>Papel A4 (210 x 297 mm)</PresentationFormat>
  <Paragraphs>48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9" baseType="lpstr">
      <vt:lpstr>Arial</vt:lpstr>
      <vt:lpstr>Calibri</vt:lpstr>
      <vt:lpstr>Segoe UI</vt:lpstr>
      <vt:lpstr>Segoe UI Semibold</vt:lpstr>
      <vt:lpstr>Wingdings</vt:lpstr>
      <vt:lpstr>Office Theme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262</cp:revision>
  <dcterms:created xsi:type="dcterms:W3CDTF">2014-01-24T21:35:00Z</dcterms:created>
  <dcterms:modified xsi:type="dcterms:W3CDTF">2015-12-16T18:26:20Z</dcterms:modified>
</cp:coreProperties>
</file>